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59" r:id="rId5"/>
    <p:sldId id="260" r:id="rId6"/>
    <p:sldId id="274" r:id="rId7"/>
    <p:sldId id="299" r:id="rId8"/>
    <p:sldId id="276" r:id="rId9"/>
    <p:sldId id="300" r:id="rId10"/>
    <p:sldId id="261" r:id="rId11"/>
    <p:sldId id="278" r:id="rId12"/>
    <p:sldId id="301" r:id="rId13"/>
    <p:sldId id="302" r:id="rId14"/>
    <p:sldId id="265" r:id="rId15"/>
    <p:sldId id="303" r:id="rId16"/>
    <p:sldId id="304" r:id="rId17"/>
    <p:sldId id="277" r:id="rId18"/>
    <p:sldId id="279" r:id="rId19"/>
    <p:sldId id="281" r:id="rId20"/>
    <p:sldId id="282" r:id="rId21"/>
    <p:sldId id="280" r:id="rId22"/>
    <p:sldId id="283" r:id="rId23"/>
    <p:sldId id="284" r:id="rId24"/>
    <p:sldId id="285" r:id="rId25"/>
    <p:sldId id="286" r:id="rId26"/>
    <p:sldId id="305" r:id="rId27"/>
    <p:sldId id="287" r:id="rId28"/>
    <p:sldId id="267" r:id="rId29"/>
    <p:sldId id="268" r:id="rId30"/>
    <p:sldId id="288" r:id="rId31"/>
    <p:sldId id="269" r:id="rId32"/>
    <p:sldId id="289" r:id="rId33"/>
    <p:sldId id="297" r:id="rId34"/>
    <p:sldId id="290" r:id="rId35"/>
    <p:sldId id="291" r:id="rId36"/>
    <p:sldId id="292" r:id="rId37"/>
    <p:sldId id="293" r:id="rId38"/>
    <p:sldId id="294" r:id="rId39"/>
    <p:sldId id="270" r:id="rId40"/>
    <p:sldId id="295" r:id="rId41"/>
    <p:sldId id="271" r:id="rId42"/>
    <p:sldId id="296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51" autoAdjust="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6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02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6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5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4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1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30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8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304FC-4A1B-42AC-88A9-7F861520EA03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160E6-084B-4779-9014-DE9E2FF238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44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jpeg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.jpeg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9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0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.jpeg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2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5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6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30.wmf"/><Relationship Id="rId3" Type="http://schemas.openxmlformats.org/officeDocument/2006/relationships/image" Target="../media/image1.jpeg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8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2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11113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692696"/>
            <a:ext cx="8066584" cy="4793704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zh-CN" altLang="en-US" sz="7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7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黑体" pitchFamily="49" charset="-122"/>
                <a:ea typeface="黑体" pitchFamily="49" charset="-122"/>
              </a:rPr>
              <a:t>20</a:t>
            </a:r>
            <a:r>
              <a:rPr lang="zh-CN" altLang="en-US" sz="7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黑体" pitchFamily="49" charset="-122"/>
                <a:ea typeface="黑体" pitchFamily="49" charset="-122"/>
              </a:rPr>
              <a:t>章</a:t>
            </a:r>
            <a:r>
              <a:rPr lang="en-US" altLang="zh-CN" sz="7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7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黑体" pitchFamily="49" charset="-122"/>
                <a:ea typeface="黑体" pitchFamily="49" charset="-122"/>
              </a:rPr>
            </a:br>
            <a:r>
              <a:rPr lang="zh-CN" altLang="en-US" sz="7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黑体" pitchFamily="49" charset="-122"/>
                <a:ea typeface="黑体" pitchFamily="49" charset="-122"/>
              </a:rPr>
              <a:t>化学反应速率</a:t>
            </a:r>
            <a:r>
              <a:rPr lang="en-US" altLang="zh-CN" sz="7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7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黑体" pitchFamily="49" charset="-122"/>
                <a:ea typeface="黑体" pitchFamily="49" charset="-122"/>
              </a:rPr>
            </a:br>
            <a:endParaRPr lang="en-US" sz="72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61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11113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534400" cy="13541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20.1 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化学反应速率的意义及其表示法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zh-CN" altLang="en-US" sz="2800" dirty="0" smtClean="0">
                <a:ea typeface="方正兰亭超细黑简体" pitchFamily="2" charset="-122"/>
              </a:rPr>
              <a:t>研究化学反应速率的重要性</a:t>
            </a:r>
            <a:endParaRPr lang="en-US" altLang="zh-CN" sz="2800" dirty="0" smtClean="0">
              <a:ea typeface="方正兰亭超细黑简体" pitchFamily="2" charset="-122"/>
            </a:endParaRP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ea typeface="方正兰亭超细黑简体" pitchFamily="2" charset="-122"/>
              </a:rPr>
              <a:t>对发展生产及处理生活中的实际问题具重要意义。</a:t>
            </a:r>
            <a:endParaRPr lang="en-US" altLang="zh-CN" sz="2800" dirty="0" smtClean="0">
              <a:ea typeface="方正兰亭超细黑简体" pitchFamily="2" charset="-122"/>
            </a:endParaRPr>
          </a:p>
          <a:p>
            <a:pPr marL="514350" lvl="1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ea typeface="方正兰亭超细黑简体" pitchFamily="2" charset="-122"/>
              </a:rPr>
              <a:t>研究如何把反</a:t>
            </a:r>
            <a:r>
              <a:rPr lang="zh-CN" altLang="en-US" dirty="0" smtClean="0">
                <a:ea typeface="方正兰亭超细黑简体" pitchFamily="2" charset="-122"/>
              </a:rPr>
              <a:t>应快</a:t>
            </a:r>
            <a:r>
              <a:rPr lang="en-US" altLang="zh-CN" dirty="0" smtClean="0">
                <a:ea typeface="方正兰亭超细黑简体" pitchFamily="2" charset="-122"/>
                <a:sym typeface="Wingdings" pitchFamily="2" charset="2"/>
              </a:rPr>
              <a:t></a:t>
            </a:r>
            <a:r>
              <a:rPr lang="zh-CN" altLang="en-US" dirty="0" smtClean="0">
                <a:ea typeface="方正兰亭超细黑简体" pitchFamily="2" charset="-122"/>
                <a:sym typeface="Wingdings" pitchFamily="2" charset="2"/>
              </a:rPr>
              <a:t>慢</a:t>
            </a:r>
            <a:endParaRPr lang="en-US" altLang="zh-CN" dirty="0" smtClean="0">
              <a:ea typeface="方正兰亭超细黑简体" pitchFamily="2" charset="-122"/>
              <a:sym typeface="Wingdings" pitchFamily="2" charset="2"/>
            </a:endParaRPr>
          </a:p>
          <a:p>
            <a:pPr marL="914400" lvl="2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 smtClean="0">
                <a:ea typeface="方正兰亭超细黑简体" pitchFamily="2" charset="-122"/>
                <a:sym typeface="Wingdings" pitchFamily="2" charset="2"/>
              </a:rPr>
              <a:t>铁生锈、橡胶老化、食物腐烂</a:t>
            </a:r>
            <a:endParaRPr lang="en-US" altLang="zh-CN" sz="2800" dirty="0" smtClean="0">
              <a:ea typeface="方正兰亭超细黑简体" pitchFamily="2" charset="-122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ea typeface="方正兰亭超细黑简体" pitchFamily="2" charset="-122"/>
                <a:sym typeface="Wingdings" pitchFamily="2" charset="2"/>
              </a:rPr>
              <a:t>研究如何把反应慢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</a:t>
            </a:r>
            <a:r>
              <a:rPr lang="zh-CN" altLang="en-US" sz="2800" dirty="0" smtClean="0">
                <a:ea typeface="方正兰亭超细黑简体" pitchFamily="2" charset="-122"/>
                <a:sym typeface="Wingdings" pitchFamily="2" charset="2"/>
              </a:rPr>
              <a:t>快</a:t>
            </a:r>
            <a:endParaRPr lang="en-US" altLang="zh-CN" sz="2800" dirty="0" smtClean="0">
              <a:ea typeface="方正兰亭超细黑简体" pitchFamily="2" charset="-122"/>
              <a:sym typeface="Wingdings" pitchFamily="2" charset="2"/>
            </a:endParaRPr>
          </a:p>
          <a:p>
            <a:pPr marL="914400" lvl="1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ea typeface="方正兰亭超细黑简体" pitchFamily="2" charset="-122"/>
                <a:sym typeface="Wingdings" pitchFamily="2" charset="2"/>
              </a:rPr>
              <a:t>合成氨气、炼铁炼钢、促进消化</a:t>
            </a:r>
            <a:endParaRPr lang="en-US" altLang="zh-CN" sz="2400" dirty="0" smtClean="0">
              <a:ea typeface="方正兰亭超细黑简体" pitchFamily="2" charset="-122"/>
              <a:sym typeface="Wingdings" pitchFamily="2" charset="2"/>
            </a:endParaRPr>
          </a:p>
          <a:p>
            <a:pPr marL="914400" lvl="1" indent="-514350">
              <a:lnSpc>
                <a:spcPct val="150000"/>
              </a:lnSpc>
              <a:buNone/>
            </a:pPr>
            <a:endParaRPr lang="en-US" altLang="zh-CN" sz="2400" dirty="0" smtClean="0">
              <a:ea typeface="方正兰亭超细黑简体" pitchFamily="2" charset="-122"/>
            </a:endParaRP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800" dirty="0" smtClean="0"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 smtClean="0"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530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0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ea typeface="方正兰亭超细黑简体" pitchFamily="2" charset="-122"/>
              </a:rPr>
              <a:t>化学反应速率：</a:t>
            </a:r>
            <a:endParaRPr lang="en-US" altLang="zh-CN" sz="2800" dirty="0" smtClean="0">
              <a:ea typeface="方正兰亭超细黑简体" pitchFamily="2" charset="-122"/>
            </a:endParaRPr>
          </a:p>
          <a:p>
            <a:pPr marL="514350" indent="-514350">
              <a:lnSpc>
                <a:spcPct val="150000"/>
              </a:lnSpc>
              <a:buNone/>
            </a:pPr>
            <a:r>
              <a:rPr lang="zh-CN" altLang="en-US" sz="2800" b="1" dirty="0" smtClean="0">
                <a:ea typeface="方正兰亭超细黑简体" pitchFamily="2" charset="-122"/>
              </a:rPr>
              <a:t>在一定条件下</a:t>
            </a:r>
            <a:r>
              <a:rPr lang="zh-CN" altLang="en-US" sz="2800" dirty="0" smtClean="0">
                <a:ea typeface="方正兰亭超细黑简体" pitchFamily="2" charset="-122"/>
              </a:rPr>
              <a:t>，反应物转化成生成物的速率。</a:t>
            </a:r>
            <a:endParaRPr lang="en-US" altLang="zh-CN" sz="2800" dirty="0" smtClean="0">
              <a:ea typeface="方正兰亭超细黑简体" pitchFamily="2" charset="-122"/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zh-CN" altLang="en-US" sz="2800" dirty="0" smtClean="0">
                <a:ea typeface="方正兰亭超细黑简体" pitchFamily="2" charset="-122"/>
              </a:rPr>
              <a:t>单位时间内某一反应物减少程度；</a:t>
            </a:r>
            <a:endParaRPr lang="en-US" altLang="zh-CN" sz="2800" dirty="0" smtClean="0">
              <a:ea typeface="方正兰亭超细黑简体" pitchFamily="2" charset="-122"/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zh-CN" altLang="en-US" sz="2800" dirty="0" smtClean="0">
                <a:ea typeface="方正兰亭超细黑简体" pitchFamily="2" charset="-122"/>
              </a:rPr>
              <a:t>单位时间内某一生成物增加程度。</a:t>
            </a:r>
            <a:endParaRPr lang="en-US" altLang="zh-CN" sz="2800" dirty="0" smtClean="0">
              <a:ea typeface="方正兰亭超细黑简体" pitchFamily="2" charset="-122"/>
            </a:endParaRPr>
          </a:p>
          <a:p>
            <a:pPr marL="514350" indent="-514350">
              <a:buFont typeface="Wingdings" pitchFamily="2" charset="2"/>
              <a:buChar char="Ø"/>
            </a:pPr>
            <a:endParaRPr lang="en-US" altLang="zh-CN" sz="2800" dirty="0" smtClean="0">
              <a:ea typeface="方正兰亭超细黑简体" pitchFamily="2" charset="-122"/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en-US" altLang="zh-CN" sz="2800" dirty="0" smtClean="0">
                <a:ea typeface="方正兰亭超细黑简体" pitchFamily="2" charset="-122"/>
              </a:rPr>
              <a:t>R=		  = 	    =		= </a:t>
            </a:r>
          </a:p>
          <a:p>
            <a:pPr marL="514350" indent="-514350">
              <a:buNone/>
            </a:pPr>
            <a:endParaRPr lang="en-US" altLang="zh-CN" sz="2800" dirty="0" smtClean="0">
              <a:ea typeface="方正兰亭超细黑简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4262735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∆m</a:t>
            </a:r>
            <a:endParaRPr lang="en-US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1807070" y="4567535"/>
            <a:ext cx="460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∆t</a:t>
            </a:r>
            <a:endParaRPr lang="en-US" sz="22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828800" y="4642147"/>
            <a:ext cx="64008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93720" y="4262735"/>
            <a:ext cx="519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∆n</a:t>
            </a:r>
            <a:endParaRPr lang="en-US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3071990" y="4567535"/>
            <a:ext cx="460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∆t</a:t>
            </a:r>
            <a:endParaRPr lang="en-US" sz="22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3093720" y="4642147"/>
            <a:ext cx="64008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12920" y="4191000"/>
            <a:ext cx="705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∆C</a:t>
            </a:r>
            <a:r>
              <a:rPr lang="en-US" altLang="zh-CN" sz="2400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endParaRPr lang="en-US" sz="2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1190" y="4567535"/>
            <a:ext cx="47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∆t</a:t>
            </a:r>
            <a:endParaRPr lang="en-US" sz="2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4312920" y="4642147"/>
            <a:ext cx="731520" cy="0"/>
          </a:xfrm>
          <a:prstGeom prst="line">
            <a:avLst/>
          </a:prstGeom>
          <a:ln w="9525" cmpd="sng">
            <a:solidFill>
              <a:srgbClr val="FF0000">
                <a:alpha val="99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11082" y="4262735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∆V</a:t>
            </a:r>
            <a:endParaRPr lang="en-US" sz="2200" dirty="0"/>
          </a:p>
        </p:txBody>
      </p:sp>
      <p:sp>
        <p:nvSpPr>
          <p:cNvPr id="15" name="TextBox 14"/>
          <p:cNvSpPr txBox="1"/>
          <p:nvPr/>
        </p:nvSpPr>
        <p:spPr>
          <a:xfrm>
            <a:off x="5407018" y="4567535"/>
            <a:ext cx="460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∆t</a:t>
            </a:r>
            <a:endParaRPr lang="en-US" sz="22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5379720" y="4642147"/>
            <a:ext cx="64008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534400" cy="13541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20.1 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化学反应速率的意义及其表示法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530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0"/>
            <a:ext cx="7571184" cy="1354162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公式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兰亭超细黑简体" pitchFamily="2" charset="-122"/>
              <a:ea typeface="方正兰亭超细黑简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229600" cy="5400600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zh-CN" altLang="en-US" dirty="0" smtClean="0">
                    <a:latin typeface="方正兰亭超细黑简体" pitchFamily="2" charset="-122"/>
                    <a:ea typeface="方正兰亭超细黑简体" pitchFamily="2" charset="-122"/>
                  </a:rPr>
                  <a:t>化学反应：</a:t>
                </a: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A+B      C</a:t>
                </a:r>
                <a:endParaRPr lang="en-US" altLang="zh-CN" dirty="0">
                  <a:latin typeface="方正兰亭超细黑简体" pitchFamily="2" charset="-122"/>
                  <a:ea typeface="方正兰亭超细黑简体" pitchFamily="2" charset="-122"/>
                </a:endParaRPr>
              </a:p>
              <a:p>
                <a:pPr marL="0" indent="0">
                  <a:buNone/>
                </a:pPr>
                <a:r>
                  <a:rPr lang="zh-CN" altLang="en-US" dirty="0" smtClean="0">
                    <a:latin typeface="方正兰亭超细黑简体" pitchFamily="2" charset="-122"/>
                    <a:ea typeface="方正兰亭超细黑简体" pitchFamily="2" charset="-122"/>
                  </a:rPr>
                  <a:t>设</a:t>
                </a: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t</a:t>
                </a:r>
                <a:r>
                  <a:rPr lang="en-US" altLang="zh-CN" baseline="-25000" dirty="0" smtClean="0">
                    <a:latin typeface="方正兰亭超细黑简体" pitchFamily="2" charset="-122"/>
                    <a:ea typeface="方正兰亭超细黑简体" pitchFamily="2" charset="-122"/>
                  </a:rPr>
                  <a:t>1</a:t>
                </a:r>
                <a:r>
                  <a:rPr lang="zh-CN" altLang="en-US" dirty="0" smtClean="0">
                    <a:latin typeface="方正兰亭超细黑简体" pitchFamily="2" charset="-122"/>
                    <a:ea typeface="方正兰亭超细黑简体" pitchFamily="2" charset="-122"/>
                  </a:rPr>
                  <a:t>时各物质浓度为：</a:t>
                </a: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[A]</a:t>
                </a:r>
                <a:r>
                  <a:rPr lang="en-US" altLang="zh-CN" baseline="-25000" dirty="0" smtClean="0">
                    <a:latin typeface="方正兰亭超细黑简体" pitchFamily="2" charset="-122"/>
                    <a:ea typeface="方正兰亭超细黑简体" pitchFamily="2" charset="-122"/>
                  </a:rPr>
                  <a:t>1</a:t>
                </a: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  [B]</a:t>
                </a:r>
                <a:r>
                  <a:rPr lang="en-US" altLang="zh-CN" baseline="-25000" dirty="0" smtClean="0">
                    <a:latin typeface="方正兰亭超细黑简体" pitchFamily="2" charset="-122"/>
                    <a:ea typeface="方正兰亭超细黑简体" pitchFamily="2" charset="-122"/>
                  </a:rPr>
                  <a:t>1</a:t>
                </a: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  [C]</a:t>
                </a:r>
                <a:r>
                  <a:rPr lang="en-US" altLang="zh-CN" baseline="-25000" dirty="0" smtClean="0">
                    <a:latin typeface="方正兰亭超细黑简体" pitchFamily="2" charset="-122"/>
                    <a:ea typeface="方正兰亭超细黑简体" pitchFamily="2" charset="-122"/>
                  </a:rPr>
                  <a:t>1</a:t>
                </a:r>
                <a:endParaRPr lang="en-US" altLang="zh-CN" dirty="0" smtClean="0">
                  <a:latin typeface="方正兰亭超细黑简体" pitchFamily="2" charset="-122"/>
                  <a:ea typeface="方正兰亭超细黑简体" pitchFamily="2" charset="-122"/>
                </a:endParaRPr>
              </a:p>
              <a:p>
                <a:pPr marL="0" indent="0">
                  <a:buNone/>
                </a:pP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t</a:t>
                </a:r>
                <a:r>
                  <a:rPr lang="en-US" altLang="zh-CN" baseline="-25000" dirty="0" smtClean="0">
                    <a:latin typeface="方正兰亭超细黑简体" pitchFamily="2" charset="-122"/>
                    <a:ea typeface="方正兰亭超细黑简体" pitchFamily="2" charset="-122"/>
                  </a:rPr>
                  <a:t>2</a:t>
                </a:r>
                <a:r>
                  <a:rPr lang="zh-CN" altLang="en-US" dirty="0" smtClean="0">
                    <a:latin typeface="方正兰亭超细黑简体" pitchFamily="2" charset="-122"/>
                    <a:ea typeface="方正兰亭超细黑简体" pitchFamily="2" charset="-122"/>
                  </a:rPr>
                  <a:t>时各物质浓度为：</a:t>
                </a: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[A]</a:t>
                </a:r>
                <a:r>
                  <a:rPr lang="en-US" altLang="zh-CN" baseline="-25000" dirty="0">
                    <a:latin typeface="方正兰亭超细黑简体" pitchFamily="2" charset="-122"/>
                    <a:ea typeface="方正兰亭超细黑简体" pitchFamily="2" charset="-122"/>
                  </a:rPr>
                  <a:t>2</a:t>
                </a: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  [B]</a:t>
                </a:r>
                <a:r>
                  <a:rPr lang="en-US" altLang="zh-CN" baseline="-25000" dirty="0">
                    <a:latin typeface="方正兰亭超细黑简体" pitchFamily="2" charset="-122"/>
                    <a:ea typeface="方正兰亭超细黑简体" pitchFamily="2" charset="-122"/>
                  </a:rPr>
                  <a:t>2</a:t>
                </a: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  [C]</a:t>
                </a:r>
                <a:r>
                  <a:rPr lang="en-US" altLang="zh-CN" baseline="-25000" dirty="0" smtClean="0">
                    <a:latin typeface="方正兰亭超细黑简体" pitchFamily="2" charset="-122"/>
                    <a:ea typeface="方正兰亭超细黑简体" pitchFamily="2" charset="-122"/>
                  </a:rPr>
                  <a:t>2</a:t>
                </a:r>
              </a:p>
              <a:p>
                <a:pPr marL="0" indent="0">
                  <a:buNone/>
                </a:pP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    R</a:t>
                </a:r>
                <a:r>
                  <a:rPr lang="zh-CN" altLang="en-US" dirty="0" smtClean="0">
                    <a:latin typeface="方正兰亭超细黑简体" pitchFamily="2" charset="-122"/>
                    <a:ea typeface="方正兰亭超细黑简体" pitchFamily="2" charset="-122"/>
                  </a:rPr>
                  <a:t>为反应从</a:t>
                </a: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t</a:t>
                </a:r>
                <a:r>
                  <a:rPr lang="en-US" altLang="zh-CN" baseline="-25000" dirty="0" smtClean="0">
                    <a:latin typeface="方正兰亭超细黑简体" pitchFamily="2" charset="-122"/>
                    <a:ea typeface="方正兰亭超细黑简体" pitchFamily="2" charset="-122"/>
                  </a:rPr>
                  <a:t>1</a:t>
                </a:r>
                <a:r>
                  <a:rPr lang="zh-CN" altLang="en-US" dirty="0" smtClean="0">
                    <a:latin typeface="方正兰亭超细黑简体" pitchFamily="2" charset="-122"/>
                    <a:ea typeface="方正兰亭超细黑简体" pitchFamily="2" charset="-122"/>
                  </a:rPr>
                  <a:t>时至</a:t>
                </a: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t</a:t>
                </a:r>
                <a:r>
                  <a:rPr lang="en-US" altLang="zh-CN" baseline="-25000" dirty="0" smtClean="0">
                    <a:latin typeface="方正兰亭超细黑简体" pitchFamily="2" charset="-122"/>
                    <a:ea typeface="方正兰亭超细黑简体" pitchFamily="2" charset="-122"/>
                  </a:rPr>
                  <a:t>2</a:t>
                </a:r>
                <a:r>
                  <a:rPr lang="zh-CN" altLang="en-US" dirty="0" smtClean="0">
                    <a:latin typeface="方正兰亭超细黑简体" pitchFamily="2" charset="-122"/>
                    <a:ea typeface="方正兰亭超细黑简体" pitchFamily="2" charset="-122"/>
                  </a:rPr>
                  <a:t>时的平均反应速率。</a:t>
                </a:r>
                <a:endParaRPr lang="en-US" altLang="zh-CN" dirty="0" smtClean="0">
                  <a:latin typeface="方正兰亭超细黑简体" pitchFamily="2" charset="-122"/>
                  <a:ea typeface="方正兰亭超细黑简体" pitchFamily="2" charset="-122"/>
                </a:endParaRPr>
              </a:p>
              <a:p>
                <a:pPr marL="0" indent="0">
                  <a:buNone/>
                </a:pPr>
                <a:endParaRPr lang="en-US" altLang="zh-CN" dirty="0" smtClean="0">
                  <a:latin typeface="方正兰亭超细黑简体" pitchFamily="2" charset="-122"/>
                  <a:ea typeface="方正兰亭超细黑简体" pitchFamily="2" charset="-122"/>
                </a:endParaRPr>
              </a:p>
              <a:p>
                <a:pPr marL="0" indent="0">
                  <a:buNone/>
                </a:pP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1.</a:t>
                </a:r>
                <a:r>
                  <a:rPr lang="zh-CN" altLang="en-US" dirty="0" smtClean="0">
                    <a:latin typeface="方正兰亭超细黑简体" pitchFamily="2" charset="-122"/>
                    <a:ea typeface="方正兰亭超细黑简体" pitchFamily="2" charset="-122"/>
                  </a:rPr>
                  <a:t>单位时间内某一种生成物浓度增加程度</a:t>
                </a:r>
                <a:endParaRPr lang="en-US" altLang="zh-CN" dirty="0">
                  <a:latin typeface="方正兰亭超细黑简体" pitchFamily="2" charset="-122"/>
                  <a:ea typeface="方正兰亭超细黑简体" pitchFamily="2" charset="-122"/>
                </a:endParaRPr>
              </a:p>
              <a:p>
                <a:pPr marL="0" indent="0" algn="ctr">
                  <a:buNone/>
                </a:pPr>
                <a:r>
                  <a:rPr lang="en-US" altLang="zh-CN" sz="4000" b="1" dirty="0" smtClean="0">
                    <a:solidFill>
                      <a:srgbClr val="FF0000"/>
                    </a:solidFill>
                    <a:effectLst/>
                    <a:latin typeface="方正兰亭超细黑简体" pitchFamily="2" charset="-122"/>
                    <a:ea typeface="方正兰亭超细黑简体" pitchFamily="2" charset="-122"/>
                  </a:rPr>
                  <a:t>R</a:t>
                </a:r>
                <a:r>
                  <a:rPr lang="en-US" altLang="zh-CN" sz="4000" b="1" baseline="-25000" dirty="0" smtClean="0">
                    <a:solidFill>
                      <a:srgbClr val="FF0000"/>
                    </a:solidFill>
                    <a:effectLst/>
                    <a:latin typeface="方正兰亭超细黑简体" pitchFamily="2" charset="-122"/>
                    <a:ea typeface="方正兰亭超细黑简体" pitchFamily="2" charset="-122"/>
                  </a:rPr>
                  <a:t>c</a:t>
                </a:r>
                <a:r>
                  <a:rPr lang="en-US" altLang="zh-CN" sz="4000" b="1" dirty="0" smtClean="0">
                    <a:solidFill>
                      <a:srgbClr val="FF0000"/>
                    </a:solidFill>
                    <a:effectLst/>
                    <a:latin typeface="方正兰亭超细黑简体" pitchFamily="2" charset="-122"/>
                    <a:ea typeface="方正兰亭超细黑简体" pitchFamily="2" charset="-122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  <m:t>𝑪</m:t>
                            </m:r>
                          </m:e>
                        </m:d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𝟐</m:t>
                        </m:r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  <m:t>𝑪</m:t>
                            </m:r>
                          </m:e>
                        </m:d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𝒕</m:t>
                        </m:r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𝟐</m:t>
                        </m:r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−</m:t>
                        </m:r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𝒕</m:t>
                        </m:r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𝟏</m:t>
                        </m:r>
                      </m:den>
                    </m:f>
                  </m:oMath>
                </a14:m>
                <a:endParaRPr lang="en-US" altLang="zh-CN" sz="4000" b="1" dirty="0" smtClean="0">
                  <a:solidFill>
                    <a:srgbClr val="FF0000"/>
                  </a:solidFill>
                  <a:latin typeface="方正兰亭超细黑简体" pitchFamily="2" charset="-122"/>
                  <a:ea typeface="方正兰亭超细黑简体" pitchFamily="2" charset="-12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229600" cy="5400600"/>
              </a:xfrm>
              <a:blipFill rotWithShape="1">
                <a:blip r:embed="rId2"/>
                <a:stretch>
                  <a:fillRect l="-1852" t="-1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5580112" y="1340768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19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0"/>
            <a:ext cx="7571184" cy="1354162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公式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兰亭超细黑简体" pitchFamily="2" charset="-122"/>
              <a:ea typeface="方正兰亭超细黑简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229600" cy="5400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 smtClean="0">
                    <a:latin typeface="方正兰亭超细黑简体" pitchFamily="2" charset="-122"/>
                    <a:ea typeface="方正兰亭超细黑简体" pitchFamily="2" charset="-122"/>
                  </a:rPr>
                  <a:t>2.</a:t>
                </a:r>
                <a:r>
                  <a:rPr lang="zh-CN" altLang="en-US" dirty="0" smtClean="0">
                    <a:latin typeface="方正兰亭超细黑简体" pitchFamily="2" charset="-122"/>
                    <a:ea typeface="方正兰亭超细黑简体" pitchFamily="2" charset="-122"/>
                  </a:rPr>
                  <a:t>单位时间内某一种反应物浓度减少程度</a:t>
                </a:r>
                <a:endParaRPr lang="en-US" altLang="zh-CN" sz="4000" b="1" dirty="0" smtClean="0">
                  <a:solidFill>
                    <a:srgbClr val="FF0000"/>
                  </a:solidFill>
                  <a:effectLst/>
                  <a:latin typeface="方正兰亭超细黑简体" pitchFamily="2" charset="-122"/>
                  <a:ea typeface="方正兰亭超细黑简体" pitchFamily="2" charset="-122"/>
                </a:endParaRPr>
              </a:p>
              <a:p>
                <a:pPr marL="0" indent="0" algn="ctr">
                  <a:buNone/>
                </a:pPr>
                <a:endParaRPr lang="en-US" altLang="zh-CN" sz="4000" b="1" dirty="0" smtClean="0">
                  <a:solidFill>
                    <a:srgbClr val="FF0000"/>
                  </a:solidFill>
                  <a:effectLst/>
                  <a:latin typeface="方正兰亭超细黑简体" pitchFamily="2" charset="-122"/>
                  <a:ea typeface="方正兰亭超细黑简体" pitchFamily="2" charset="-122"/>
                </a:endParaRPr>
              </a:p>
              <a:p>
                <a:pPr marL="0" indent="0" algn="ctr">
                  <a:buNone/>
                </a:pPr>
                <a:r>
                  <a:rPr lang="en-US" altLang="zh-CN" sz="4000" b="1" dirty="0" smtClean="0">
                    <a:solidFill>
                      <a:srgbClr val="FF0000"/>
                    </a:solidFill>
                    <a:effectLst/>
                    <a:latin typeface="方正兰亭超细黑简体" pitchFamily="2" charset="-122"/>
                    <a:ea typeface="方正兰亭超细黑简体" pitchFamily="2" charset="-122"/>
                  </a:rPr>
                  <a:t>R</a:t>
                </a:r>
                <a:r>
                  <a:rPr lang="en-US" altLang="zh-CN" sz="4000" b="1" baseline="-25000" dirty="0" smtClean="0">
                    <a:solidFill>
                      <a:srgbClr val="FF0000"/>
                    </a:solidFill>
                    <a:latin typeface="方正兰亭超细黑简体" pitchFamily="2" charset="-122"/>
                    <a:ea typeface="方正兰亭超细黑简体" pitchFamily="2" charset="-122"/>
                  </a:rPr>
                  <a:t>A</a:t>
                </a:r>
                <a:r>
                  <a:rPr lang="en-US" altLang="zh-CN" sz="4000" b="1" dirty="0" smtClean="0">
                    <a:solidFill>
                      <a:srgbClr val="FF0000"/>
                    </a:solidFill>
                    <a:effectLst/>
                    <a:latin typeface="方正兰亭超细黑简体" pitchFamily="2" charset="-122"/>
                    <a:ea typeface="方正兰亭超细黑简体" pitchFamily="2" charset="-122"/>
                  </a:rPr>
                  <a:t>=-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  <m:t>𝑨</m:t>
                            </m:r>
                          </m:e>
                        </m:d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𝟐</m:t>
                        </m:r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  <m:t>𝑨</m:t>
                            </m:r>
                          </m:e>
                        </m:d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𝒕</m:t>
                        </m:r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𝟐</m:t>
                        </m:r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−</m:t>
                        </m:r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𝒕</m:t>
                        </m:r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𝟏</m:t>
                        </m:r>
                      </m:den>
                    </m:f>
                  </m:oMath>
                </a14:m>
                <a:endParaRPr lang="en-US" altLang="zh-CN" sz="4000" b="1" dirty="0" smtClean="0">
                  <a:solidFill>
                    <a:srgbClr val="FF0000"/>
                  </a:solidFill>
                  <a:latin typeface="方正兰亭超细黑简体" pitchFamily="2" charset="-122"/>
                  <a:ea typeface="方正兰亭超细黑简体" pitchFamily="2" charset="-122"/>
                </a:endParaRPr>
              </a:p>
              <a:p>
                <a:pPr marL="0" indent="0" algn="ctr">
                  <a:buNone/>
                </a:pPr>
                <a:endParaRPr lang="en-US" altLang="zh-CN" sz="4000" b="1" dirty="0" smtClean="0">
                  <a:solidFill>
                    <a:srgbClr val="FF0000"/>
                  </a:solidFill>
                  <a:effectLst/>
                  <a:latin typeface="方正兰亭超细黑简体" pitchFamily="2" charset="-122"/>
                  <a:ea typeface="方正兰亭超细黑简体" pitchFamily="2" charset="-122"/>
                </a:endParaRPr>
              </a:p>
              <a:p>
                <a:pPr marL="0" indent="0" algn="ctr">
                  <a:buNone/>
                </a:pPr>
                <a:r>
                  <a:rPr lang="en-US" altLang="zh-CN" sz="4000" b="1" dirty="0" smtClean="0">
                    <a:solidFill>
                      <a:srgbClr val="FF0000"/>
                    </a:solidFill>
                    <a:effectLst/>
                    <a:latin typeface="方正兰亭超细黑简体" pitchFamily="2" charset="-122"/>
                    <a:ea typeface="方正兰亭超细黑简体" pitchFamily="2" charset="-122"/>
                  </a:rPr>
                  <a:t>R</a:t>
                </a:r>
                <a:r>
                  <a:rPr lang="en-US" altLang="zh-CN" sz="4000" b="1" baseline="-25000" dirty="0" smtClean="0">
                    <a:solidFill>
                      <a:srgbClr val="FF0000"/>
                    </a:solidFill>
                    <a:latin typeface="方正兰亭超细黑简体" pitchFamily="2" charset="-122"/>
                    <a:ea typeface="方正兰亭超细黑简体" pitchFamily="2" charset="-122"/>
                  </a:rPr>
                  <a:t>B</a:t>
                </a:r>
                <a:r>
                  <a:rPr lang="en-US" altLang="zh-CN" sz="4000" b="1" dirty="0" smtClean="0">
                    <a:solidFill>
                      <a:srgbClr val="FF0000"/>
                    </a:solidFill>
                    <a:effectLst/>
                    <a:latin typeface="方正兰亭超细黑简体" pitchFamily="2" charset="-122"/>
                    <a:ea typeface="方正兰亭超细黑简体" pitchFamily="2" charset="-122"/>
                  </a:rPr>
                  <a:t>=-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  <m:t>𝑩</m:t>
                            </m:r>
                          </m:e>
                        </m:d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𝟐</m:t>
                        </m:r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40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/>
                                <a:ea typeface="方正兰亭超细黑简体" pitchFamily="2" charset="-122"/>
                              </a:rPr>
                              <m:t>𝑩</m:t>
                            </m:r>
                          </m:e>
                        </m:d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𝒕</m:t>
                        </m:r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𝟐</m:t>
                        </m:r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−</m:t>
                        </m:r>
                        <m:r>
                          <a:rPr lang="en-US" altLang="zh-CN" sz="4000" b="1" i="1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𝒕</m:t>
                        </m:r>
                        <m:r>
                          <a:rPr lang="en-US" altLang="zh-CN" sz="4000" b="1" i="1" baseline="-25000" smtClean="0">
                            <a:solidFill>
                              <a:srgbClr val="FF0000"/>
                            </a:solidFill>
                            <a:effectLst/>
                            <a:latin typeface="Cambria Math"/>
                            <a:ea typeface="方正兰亭超细黑简体" pitchFamily="2" charset="-122"/>
                          </a:rPr>
                          <m:t>𝟏</m:t>
                        </m:r>
                      </m:den>
                    </m:f>
                  </m:oMath>
                </a14:m>
                <a:endParaRPr lang="en-US" altLang="zh-CN" sz="4000" b="1" dirty="0" smtClean="0">
                  <a:solidFill>
                    <a:srgbClr val="FF0000"/>
                  </a:solidFill>
                  <a:latin typeface="方正兰亭超细黑简体" pitchFamily="2" charset="-122"/>
                  <a:ea typeface="方正兰亭超细黑简体" pitchFamily="2" charset="-12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229600" cy="5400600"/>
              </a:xfrm>
              <a:blipFill rotWithShape="1">
                <a:blip r:embed="rId2"/>
                <a:stretch>
                  <a:fillRect l="-1852" t="-1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23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0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0762"/>
            <a:ext cx="8382000" cy="5532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ea typeface="方正兰亭超细黑简体" pitchFamily="2" charset="-122"/>
              </a:rPr>
              <a:t>例</a:t>
            </a:r>
            <a:r>
              <a:rPr lang="en-US" altLang="zh-CN" sz="2800" dirty="0" smtClean="0">
                <a:ea typeface="方正兰亭超细黑简体" pitchFamily="2" charset="-122"/>
              </a:rPr>
              <a:t>1</a:t>
            </a:r>
            <a:r>
              <a:rPr lang="zh-CN" altLang="en-US" sz="2800" dirty="0" smtClean="0">
                <a:ea typeface="方正兰亭超细黑简体" pitchFamily="2" charset="-122"/>
              </a:rPr>
              <a:t>：在</a:t>
            </a:r>
            <a:r>
              <a:rPr lang="en-US" altLang="zh-CN" sz="2800" dirty="0" smtClean="0">
                <a:ea typeface="方正兰亭超细黑简体" pitchFamily="2" charset="-122"/>
              </a:rPr>
              <a:t>2L</a:t>
            </a:r>
            <a:r>
              <a:rPr lang="zh-CN" altLang="en-US" sz="2800" dirty="0" smtClean="0">
                <a:ea typeface="方正兰亭超细黑简体" pitchFamily="2" charset="-122"/>
              </a:rPr>
              <a:t>密闭容器里充满</a:t>
            </a:r>
            <a:r>
              <a:rPr lang="en-US" altLang="zh-CN" sz="2800" dirty="0" smtClean="0">
                <a:ea typeface="方正兰亭超细黑简体" pitchFamily="2" charset="-122"/>
              </a:rPr>
              <a:t>0.1molN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2</a:t>
            </a:r>
            <a:r>
              <a:rPr lang="en-US" altLang="zh-CN" sz="2800" dirty="0" smtClean="0">
                <a:ea typeface="方正兰亭超细黑简体" pitchFamily="2" charset="-122"/>
              </a:rPr>
              <a:t> </a:t>
            </a:r>
            <a:r>
              <a:rPr lang="zh-CN" altLang="en-US" sz="2800" dirty="0" smtClean="0">
                <a:ea typeface="方正兰亭超细黑简体" pitchFamily="2" charset="-122"/>
              </a:rPr>
              <a:t>和 </a:t>
            </a:r>
            <a:r>
              <a:rPr lang="en-US" altLang="zh-CN" sz="2800" dirty="0" smtClean="0">
                <a:ea typeface="方正兰亭超细黑简体" pitchFamily="2" charset="-122"/>
              </a:rPr>
              <a:t>0.3molH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2</a:t>
            </a:r>
            <a:r>
              <a:rPr lang="zh-CN" altLang="en-US" sz="2800" baseline="-25000" dirty="0" smtClean="0">
                <a:ea typeface="方正兰亭超细黑简体" pitchFamily="2" charset="-122"/>
              </a:rPr>
              <a:t>，</a:t>
            </a:r>
            <a:r>
              <a:rPr lang="zh-CN" altLang="en-US" sz="2800" dirty="0" smtClean="0">
                <a:ea typeface="方正兰亭超细黑简体" pitchFamily="2" charset="-122"/>
              </a:rPr>
              <a:t>  反应生成了</a:t>
            </a:r>
            <a:r>
              <a:rPr lang="en-US" altLang="zh-CN" sz="2800" dirty="0" smtClean="0">
                <a:ea typeface="方正兰亭超细黑简体" pitchFamily="2" charset="-122"/>
              </a:rPr>
              <a:t>NH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3</a:t>
            </a:r>
            <a:r>
              <a:rPr lang="zh-CN" altLang="en-US" sz="2800" dirty="0" smtClean="0">
                <a:ea typeface="方正兰亭超细黑简体" pitchFamily="2" charset="-122"/>
              </a:rPr>
              <a:t>，</a:t>
            </a:r>
            <a:r>
              <a:rPr lang="en-US" altLang="zh-CN" sz="2800" dirty="0" smtClean="0">
                <a:ea typeface="方正兰亭超细黑简体" pitchFamily="2" charset="-122"/>
              </a:rPr>
              <a:t>10</a:t>
            </a:r>
            <a:r>
              <a:rPr lang="zh-CN" altLang="en-US" sz="2800" dirty="0" smtClean="0">
                <a:ea typeface="方正兰亭超细黑简体" pitchFamily="2" charset="-122"/>
              </a:rPr>
              <a:t>分钟后，容器里余下了</a:t>
            </a:r>
            <a:r>
              <a:rPr lang="en-US" altLang="zh-CN" sz="2800" dirty="0" smtClean="0">
                <a:ea typeface="方正兰亭超细黑简体" pitchFamily="2" charset="-122"/>
              </a:rPr>
              <a:t>0.22molH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2</a:t>
            </a:r>
            <a:r>
              <a:rPr lang="zh-CN" altLang="en-US" sz="2800" baseline="-25000" dirty="0" smtClean="0">
                <a:ea typeface="方正兰亭超细黑简体" pitchFamily="2" charset="-122"/>
              </a:rPr>
              <a:t>。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 </a:t>
            </a:r>
            <a:r>
              <a:rPr lang="zh-CN" altLang="en-US" sz="2800" dirty="0" smtClean="0">
                <a:ea typeface="方正兰亭超细黑简体" pitchFamily="2" charset="-122"/>
              </a:rPr>
              <a:t>求</a:t>
            </a:r>
            <a:r>
              <a:rPr lang="en-US" altLang="zh-CN" sz="2800" dirty="0" smtClean="0">
                <a:ea typeface="方正兰亭超细黑简体" pitchFamily="2" charset="-122"/>
              </a:rPr>
              <a:t>H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2</a:t>
            </a:r>
            <a:r>
              <a:rPr lang="zh-CN" altLang="en-US" sz="2800" dirty="0" smtClean="0">
                <a:ea typeface="方正兰亭超细黑简体" pitchFamily="2" charset="-122"/>
              </a:rPr>
              <a:t>的平均反应速率。</a:t>
            </a:r>
            <a:endParaRPr lang="en-US" altLang="zh-CN" sz="2800" dirty="0" smtClean="0"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ea typeface="方正兰亭超细黑简体" pitchFamily="2" charset="-122"/>
              </a:rPr>
              <a:t>		N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2</a:t>
            </a:r>
            <a:r>
              <a:rPr lang="en-US" altLang="zh-CN" sz="2800" dirty="0" smtClean="0">
                <a:ea typeface="方正兰亭超细黑简体" pitchFamily="2" charset="-122"/>
              </a:rPr>
              <a:t> + 	     3 H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2</a:t>
            </a:r>
            <a:r>
              <a:rPr lang="en-US" altLang="zh-CN" sz="2800" dirty="0" smtClean="0">
                <a:ea typeface="方正兰亭超细黑简体" pitchFamily="2" charset="-122"/>
              </a:rPr>
              <a:t>  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 	 2 NH</a:t>
            </a:r>
            <a:r>
              <a:rPr lang="en-US" altLang="zh-CN" sz="2800" baseline="-25000" dirty="0" smtClean="0">
                <a:ea typeface="方正兰亭超细黑简体" pitchFamily="2" charset="-122"/>
                <a:sym typeface="Wingdings" pitchFamily="2" charset="2"/>
              </a:rPr>
              <a:t>3</a:t>
            </a:r>
          </a:p>
          <a:p>
            <a:pPr marL="0" indent="0">
              <a:buNone/>
            </a:pPr>
            <a:r>
              <a:rPr lang="zh-CN" altLang="en-US" sz="2800" dirty="0" smtClean="0"/>
              <a:t>氢气</a:t>
            </a:r>
            <a:r>
              <a:rPr lang="en-US" altLang="zh-CN" sz="2800" dirty="0" smtClean="0"/>
              <a:t>∆n=0.3mol-0.22mol</a:t>
            </a:r>
          </a:p>
          <a:p>
            <a:pPr marL="0" indent="0">
              <a:buNone/>
            </a:pPr>
            <a:r>
              <a:rPr lang="en-US" altLang="zh-CN" sz="2800" dirty="0" smtClean="0"/>
              <a:t>	   = 0.08mol </a:t>
            </a:r>
          </a:p>
          <a:p>
            <a:pPr marL="0" indent="0">
              <a:buNone/>
            </a:pPr>
            <a:endParaRPr lang="en-US" altLang="zh-CN" sz="2800" dirty="0" smtClean="0">
              <a:ea typeface="方正兰亭超细黑简体" pitchFamily="2" charset="-122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		  			</a:t>
            </a:r>
          </a:p>
          <a:p>
            <a:pPr marL="0" indent="0">
              <a:buNone/>
            </a:pP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   </a:t>
            </a:r>
          </a:p>
          <a:p>
            <a:pPr marL="0" indent="0">
              <a:buNone/>
            </a:pPr>
            <a:endParaRPr lang="en-US" altLang="zh-CN" sz="2800" baseline="-25000" dirty="0" smtClean="0">
              <a:ea typeface="方正兰亭超细黑简体" pitchFamily="2" charset="-122"/>
              <a:sym typeface="Wingdings" pitchFamily="2" charset="2"/>
            </a:endParaRPr>
          </a:p>
          <a:p>
            <a:pPr marL="0" indent="0">
              <a:buNone/>
            </a:pPr>
            <a:endParaRPr lang="en-US" altLang="zh-CN" sz="2800" dirty="0" smtClean="0">
              <a:ea typeface="方正兰亭超细黑简体" pitchFamily="2" charset="-122"/>
            </a:endParaRPr>
          </a:p>
          <a:p>
            <a:pPr marL="514350" indent="-514350">
              <a:buNone/>
            </a:pPr>
            <a:endParaRPr lang="en-US" altLang="zh-CN" sz="2800" dirty="0" smtClean="0">
              <a:ea typeface="方正兰亭超细黑简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48840" y="4007207"/>
            <a:ext cx="1205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0.08mol</a:t>
            </a:r>
            <a:endParaRPr lang="en-US" sz="2200" dirty="0"/>
          </a:p>
        </p:txBody>
      </p:sp>
      <p:sp>
        <p:nvSpPr>
          <p:cNvPr id="27" name="TextBox 26"/>
          <p:cNvSpPr txBox="1"/>
          <p:nvPr/>
        </p:nvSpPr>
        <p:spPr>
          <a:xfrm>
            <a:off x="2547520" y="4312007"/>
            <a:ext cx="47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2L</a:t>
            </a:r>
            <a:endParaRPr lang="en-US" sz="2200" dirty="0"/>
          </a:p>
        </p:txBody>
      </p:sp>
      <p:cxnSp>
        <p:nvCxnSpPr>
          <p:cNvPr id="28" name="Straight Connector 27"/>
          <p:cNvCxnSpPr/>
          <p:nvPr/>
        </p:nvCxnSpPr>
        <p:spPr>
          <a:xfrm>
            <a:off x="2148840" y="4391084"/>
            <a:ext cx="146304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72777" y="4697472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10</a:t>
            </a:r>
            <a:r>
              <a:rPr lang="en-US" altLang="zh-CN" sz="2400" dirty="0" smtClean="0"/>
              <a:t>min</a:t>
            </a:r>
            <a:endParaRPr lang="en-US" sz="2200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1950720" y="4697472"/>
            <a:ext cx="201168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24000" y="5267980"/>
            <a:ext cx="2355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= 0.004 M/min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" y="4464407"/>
            <a:ext cx="1124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R(H</a:t>
            </a:r>
            <a:r>
              <a:rPr lang="en-US" altLang="zh-CN" sz="2800" baseline="-25000" dirty="0" smtClean="0"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)=</a:t>
            </a:r>
            <a:endParaRPr lang="en-US" sz="2800" dirty="0"/>
          </a:p>
        </p:txBody>
      </p: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228600" y="-30162"/>
            <a:ext cx="8534400" cy="13541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20.1 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化学反应速率的意义及其表示法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530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/>
      <p:bldP spid="27" grpId="0"/>
      <p:bldP spid="29" grpId="0"/>
      <p:bldP spid="3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938" y="0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686800" cy="60960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2800" dirty="0" smtClean="0"/>
              <a:t>(1) ∆</a:t>
            </a:r>
            <a:r>
              <a:rPr lang="en-US" altLang="zh-CN" sz="2800" dirty="0" err="1" smtClean="0"/>
              <a:t>n</a:t>
            </a:r>
            <a:r>
              <a:rPr lang="en-US" altLang="zh-CN" sz="2800" baseline="-25000" dirty="0" err="1" smtClean="0"/>
              <a:t>A</a:t>
            </a:r>
            <a:r>
              <a:rPr lang="en-US" altLang="zh-CN" sz="2800" dirty="0" smtClean="0"/>
              <a:t> = 0.4mol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/>
              <a:t>		R</a:t>
            </a:r>
            <a:r>
              <a:rPr lang="en-US" altLang="zh-CN" sz="2800" baseline="-25000" dirty="0" smtClean="0"/>
              <a:t>A</a:t>
            </a:r>
            <a:r>
              <a:rPr lang="en-US" altLang="zh-CN" sz="2800" dirty="0" smtClean="0"/>
              <a:t> =		= 0.05Ms</a:t>
            </a:r>
            <a:r>
              <a:rPr lang="en-US" altLang="zh-CN" sz="2800" baseline="30000" dirty="0" smtClean="0"/>
              <a:t>-1</a:t>
            </a:r>
            <a:r>
              <a:rPr lang="en-US" altLang="zh-CN" sz="2800" dirty="0" smtClean="0"/>
              <a:t>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/>
              <a:t>(2) ∆</a:t>
            </a:r>
            <a:r>
              <a:rPr lang="en-US" altLang="zh-CN" sz="2800" dirty="0" err="1" smtClean="0"/>
              <a:t>n</a:t>
            </a:r>
            <a:r>
              <a:rPr lang="en-US" altLang="zh-CN" sz="2800" baseline="-25000" dirty="0" err="1" smtClean="0"/>
              <a:t>B</a:t>
            </a:r>
            <a:r>
              <a:rPr lang="en-US" altLang="zh-CN" sz="2800" dirty="0" smtClean="0"/>
              <a:t>= 0.1mol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/>
              <a:t>	   R</a:t>
            </a:r>
            <a:r>
              <a:rPr lang="en-US" altLang="zh-CN" sz="2800" baseline="-25000" dirty="0" smtClean="0"/>
              <a:t>B</a:t>
            </a:r>
            <a:r>
              <a:rPr lang="en-US" altLang="zh-CN" sz="2800" dirty="0" smtClean="0"/>
              <a:t> =	         = 0.0125Ms</a:t>
            </a:r>
            <a:r>
              <a:rPr lang="en-US" altLang="zh-CN" sz="2800" baseline="30000" dirty="0" smtClean="0"/>
              <a:t>-1</a:t>
            </a:r>
            <a:r>
              <a:rPr lang="en-US" altLang="zh-CN" sz="2800" dirty="0" smtClean="0"/>
              <a:t>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/>
              <a:t>(3) ∆</a:t>
            </a:r>
            <a:r>
              <a:rPr lang="en-US" altLang="zh-CN" sz="2800" dirty="0" err="1" smtClean="0"/>
              <a:t>n</a:t>
            </a:r>
            <a:r>
              <a:rPr lang="en-US" altLang="zh-CN" sz="2800" baseline="-25000" dirty="0" err="1" smtClean="0"/>
              <a:t>c</a:t>
            </a:r>
            <a:r>
              <a:rPr lang="en-US" altLang="zh-CN" sz="2800" dirty="0" smtClean="0"/>
              <a:t> = 0.2mol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/>
              <a:t>	  </a:t>
            </a:r>
            <a:r>
              <a:rPr lang="en-US" altLang="zh-CN" sz="2800" dirty="0" err="1" smtClean="0"/>
              <a:t>R</a:t>
            </a:r>
            <a:r>
              <a:rPr lang="en-US" altLang="zh-CN" sz="2800" baseline="-25000" dirty="0" err="1" smtClean="0"/>
              <a:t>c</a:t>
            </a:r>
            <a:r>
              <a:rPr lang="en-US" altLang="zh-CN" sz="2800" dirty="0" smtClean="0"/>
              <a:t> =	         = 0.025Ms</a:t>
            </a:r>
            <a:r>
              <a:rPr lang="en-US" altLang="zh-CN" sz="2800" baseline="30000" dirty="0" smtClean="0"/>
              <a:t>-1</a:t>
            </a:r>
            <a:r>
              <a:rPr lang="en-US" altLang="zh-CN" sz="2800" dirty="0" smtClean="0"/>
              <a:t>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/>
              <a:t>2. 	R</a:t>
            </a:r>
            <a:r>
              <a:rPr lang="en-US" altLang="zh-CN" sz="2800" baseline="-25000" dirty="0" smtClean="0"/>
              <a:t>A</a:t>
            </a:r>
            <a:r>
              <a:rPr lang="en-US" altLang="zh-CN" sz="2800" dirty="0" smtClean="0"/>
              <a:t> : R</a:t>
            </a:r>
            <a:r>
              <a:rPr lang="en-US" altLang="zh-CN" sz="2800" baseline="-25000" dirty="0" smtClean="0"/>
              <a:t>B</a:t>
            </a:r>
            <a:r>
              <a:rPr lang="en-US" altLang="zh-CN" sz="2800" dirty="0" smtClean="0"/>
              <a:t> :R</a:t>
            </a:r>
            <a:r>
              <a:rPr lang="en-US" altLang="zh-CN" sz="2800" baseline="-25000" dirty="0" smtClean="0"/>
              <a:t>C</a:t>
            </a:r>
            <a:r>
              <a:rPr lang="en-US" altLang="zh-CN" sz="2800" dirty="0" smtClean="0"/>
              <a:t> = 0.05: 0.0125:0.025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/>
              <a:t>			  = 4:1:2(</a:t>
            </a:r>
            <a:r>
              <a:rPr lang="zh-CN" altLang="en-US" sz="2800" dirty="0" smtClean="0"/>
              <a:t>与反应式中各物质的系数比相同</a:t>
            </a:r>
            <a:r>
              <a:rPr lang="en-US" altLang="zh-CN" sz="2800" dirty="0" smtClean="0"/>
              <a:t>)</a:t>
            </a:r>
          </a:p>
          <a:p>
            <a:pPr marL="514350" indent="-514350">
              <a:lnSpc>
                <a:spcPct val="150000"/>
              </a:lnSpc>
              <a:buFont typeface="Arial" pitchFamily="34" charset="0"/>
              <a:buAutoNum type="arabicPeriod"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534400" cy="838200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问题解决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133600" y="1143000"/>
          <a:ext cx="1024043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4" imgW="520560" imgH="571320" progId="Equation.3">
                  <p:embed/>
                </p:oleObj>
              </mc:Choice>
              <mc:Fallback>
                <p:oleObj name="Equation" r:id="rId4" imgW="520560" imgH="5713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143000"/>
                        <a:ext cx="1024043" cy="1123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505200" y="1447800"/>
            <a:ext cx="13716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1981200" y="2590800"/>
          <a:ext cx="1024044" cy="1123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6" imgW="520560" imgH="571320" progId="Equation.3">
                  <p:embed/>
                </p:oleObj>
              </mc:Choice>
              <mc:Fallback>
                <p:oleObj name="Equation" r:id="rId6" imgW="520560" imgH="5713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590800"/>
                        <a:ext cx="1024044" cy="11239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276600" y="2895600"/>
            <a:ext cx="17526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3352800" y="4343400"/>
            <a:ext cx="17526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1905000" y="4038600"/>
          <a:ext cx="1024044" cy="1123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8" imgW="520560" imgH="571320" progId="Equation.3">
                  <p:embed/>
                </p:oleObj>
              </mc:Choice>
              <mc:Fallback>
                <p:oleObj name="Equation" r:id="rId8" imgW="520560" imgH="5713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038600"/>
                        <a:ext cx="1024044" cy="11239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530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938" y="0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800" dirty="0" smtClean="0"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ea typeface="方正兰亭超细黑简体" pitchFamily="2" charset="-122"/>
              </a:rPr>
              <a:t>若 </a:t>
            </a:r>
            <a:r>
              <a:rPr lang="en-US" altLang="zh-CN" sz="2800" dirty="0" smtClean="0">
                <a:ea typeface="方正兰亭超细黑简体" pitchFamily="2" charset="-122"/>
              </a:rPr>
              <a:t>3A + 4B 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 2C </a:t>
            </a:r>
            <a:r>
              <a:rPr lang="zh-CN" altLang="en-US" sz="2800" dirty="0" smtClean="0">
                <a:ea typeface="方正兰亭超细黑简体" pitchFamily="2" charset="-122"/>
                <a:sym typeface="Wingdings" pitchFamily="2" charset="2"/>
              </a:rPr>
              <a:t>中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C</a:t>
            </a:r>
            <a:r>
              <a:rPr lang="zh-CN" altLang="en-US" sz="2800" dirty="0" smtClean="0">
                <a:ea typeface="方正兰亭超细黑简体" pitchFamily="2" charset="-122"/>
                <a:sym typeface="Wingdings" pitchFamily="2" charset="2"/>
              </a:rPr>
              <a:t>的反应速率为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ymolL</a:t>
            </a:r>
            <a:r>
              <a:rPr lang="en-US" altLang="zh-CN" sz="2800" baseline="30000" dirty="0" smtClean="0">
                <a:ea typeface="方正兰亭超细黑简体" pitchFamily="2" charset="-122"/>
                <a:sym typeface="Wingdings" pitchFamily="2" charset="2"/>
              </a:rPr>
              <a:t>-1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min</a:t>
            </a:r>
            <a:r>
              <a:rPr lang="en-US" altLang="zh-CN" sz="2800" baseline="30000" dirty="0" smtClean="0">
                <a:ea typeface="方正兰亭超细黑简体" pitchFamily="2" charset="-122"/>
                <a:sym typeface="Wingdings" pitchFamily="2" charset="2"/>
              </a:rPr>
              <a:t>-1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 </a:t>
            </a:r>
            <a:r>
              <a:rPr lang="zh-CN" altLang="en-US" sz="2800" dirty="0" smtClean="0">
                <a:ea typeface="方正兰亭超细黑简体" pitchFamily="2" charset="-122"/>
                <a:sym typeface="Wingdings" pitchFamily="2" charset="2"/>
              </a:rPr>
              <a:t>。则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A</a:t>
            </a:r>
            <a:r>
              <a:rPr lang="zh-CN" altLang="en-US" sz="2800" dirty="0" smtClean="0">
                <a:ea typeface="方正兰亭超细黑简体" pitchFamily="2" charset="-122"/>
                <a:sym typeface="Wingdings" pitchFamily="2" charset="2"/>
              </a:rPr>
              <a:t>与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B</a:t>
            </a:r>
            <a:r>
              <a:rPr lang="zh-CN" altLang="en-US" sz="2800" dirty="0" smtClean="0">
                <a:ea typeface="方正兰亭超细黑简体" pitchFamily="2" charset="-122"/>
                <a:sym typeface="Wingdings" pitchFamily="2" charset="2"/>
              </a:rPr>
              <a:t>的反应速率是多少？（答案以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y</a:t>
            </a:r>
            <a:r>
              <a:rPr lang="zh-CN" altLang="en-US" sz="2800" dirty="0" smtClean="0">
                <a:ea typeface="方正兰亭超细黑简体" pitchFamily="2" charset="-122"/>
                <a:sym typeface="Wingdings" pitchFamily="2" charset="2"/>
              </a:rPr>
              <a:t>表示）</a:t>
            </a:r>
            <a:endParaRPr lang="en-US" altLang="zh-CN" sz="2800" dirty="0" smtClean="0">
              <a:ea typeface="方正兰亭超细黑简体" pitchFamily="2" charset="-122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    	     =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	Ra=  1.5y molL</a:t>
            </a:r>
            <a:r>
              <a:rPr lang="en-US" altLang="zh-CN" sz="2800" baseline="30000" dirty="0" smtClean="0">
                <a:ea typeface="方正兰亭超细黑简体" pitchFamily="2" charset="-122"/>
                <a:sym typeface="Wingdings" pitchFamily="2" charset="2"/>
              </a:rPr>
              <a:t>-1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min</a:t>
            </a:r>
            <a:r>
              <a:rPr lang="en-US" altLang="zh-CN" sz="2800" baseline="30000" dirty="0" smtClean="0">
                <a:ea typeface="方正兰亭超细黑简体" pitchFamily="2" charset="-122"/>
                <a:sym typeface="Wingdings" pitchFamily="2" charset="2"/>
              </a:rPr>
              <a:t>-1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                =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	</a:t>
            </a:r>
            <a:r>
              <a:rPr lang="en-US" altLang="zh-CN" sz="2800" dirty="0" err="1" smtClean="0">
                <a:ea typeface="方正兰亭超细黑简体" pitchFamily="2" charset="-122"/>
                <a:sym typeface="Wingdings" pitchFamily="2" charset="2"/>
              </a:rPr>
              <a:t>Rb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= 2y molL</a:t>
            </a:r>
            <a:r>
              <a:rPr lang="en-US" altLang="zh-CN" sz="2800" baseline="30000" dirty="0" smtClean="0">
                <a:ea typeface="方正兰亭超细黑简体" pitchFamily="2" charset="-122"/>
                <a:sym typeface="Wingdings" pitchFamily="2" charset="2"/>
              </a:rPr>
              <a:t>-1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min</a:t>
            </a:r>
            <a:r>
              <a:rPr lang="en-US" altLang="zh-CN" sz="2800" baseline="30000" dirty="0" smtClean="0">
                <a:ea typeface="方正兰亭超细黑简体" pitchFamily="2" charset="-122"/>
                <a:sym typeface="Wingdings" pitchFamily="2" charset="2"/>
              </a:rPr>
              <a:t>-1</a:t>
            </a:r>
            <a:r>
              <a:rPr lang="en-US" altLang="zh-CN" sz="2800" dirty="0" smtClean="0">
                <a:ea typeface="方正兰亭超细黑简体" pitchFamily="2" charset="-122"/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endParaRPr lang="en-US" altLang="zh-CN" sz="2800" dirty="0" smtClean="0">
              <a:ea typeface="方正兰亭超细黑简体" pitchFamily="2" charset="-122"/>
              <a:sym typeface="Wingdings" pitchFamily="2" charset="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168400" y="2089150"/>
          <a:ext cx="6604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4" imgW="253800" imgH="393480" progId="Equation.3">
                  <p:embed/>
                </p:oleObj>
              </mc:Choice>
              <mc:Fallback>
                <p:oleObj name="Equation" r:id="rId4" imgW="25380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2089150"/>
                        <a:ext cx="6604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057400" y="1981200"/>
          <a:ext cx="457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6" imgW="152280" imgH="393480" progId="Equation.3">
                  <p:embed/>
                </p:oleObj>
              </mc:Choice>
              <mc:Fallback>
                <p:oleObj name="Equation" r:id="rId6" imgW="15228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81200"/>
                        <a:ext cx="457200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219200" y="3505200"/>
          <a:ext cx="584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8" imgW="253800" imgH="393480" progId="Equation.3">
                  <p:embed/>
                </p:oleObj>
              </mc:Choice>
              <mc:Fallback>
                <p:oleObj name="Equation" r:id="rId8" imgW="25380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05200"/>
                        <a:ext cx="584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981200" y="3429000"/>
          <a:ext cx="533400" cy="940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10" imgW="152280" imgH="393480" progId="Equation.3">
                  <p:embed/>
                </p:oleObj>
              </mc:Choice>
              <mc:Fallback>
                <p:oleObj name="Equation" r:id="rId10" imgW="15228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29000"/>
                        <a:ext cx="533400" cy="9408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534400" cy="1354162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补充题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530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938" y="0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408" y="-304800"/>
            <a:ext cx="7571184" cy="1521771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思考题</a:t>
            </a: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20a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0762"/>
            <a:ext cx="8229600" cy="6065837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sz="2800" dirty="0" smtClean="0">
                <a:ea typeface="方正兰亭超细黑简体" pitchFamily="2" charset="-122"/>
              </a:rPr>
              <a:t>全部换成同一物质的反应速率才能进行比较</a:t>
            </a:r>
            <a:endParaRPr lang="en-US" altLang="zh-CN" sz="2800" dirty="0" smtClean="0">
              <a:ea typeface="方正兰亭超细黑简体" pitchFamily="2" charset="-122"/>
            </a:endParaRPr>
          </a:p>
          <a:p>
            <a:pPr marL="514350" indent="-514350">
              <a:buNone/>
            </a:pPr>
            <a:r>
              <a:rPr lang="en-US" altLang="zh-CN" sz="2800" dirty="0" smtClean="0">
                <a:ea typeface="方正兰亭超细黑简体" pitchFamily="2" charset="-122"/>
              </a:rPr>
              <a:t>	(1) R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A</a:t>
            </a:r>
            <a:r>
              <a:rPr lang="en-US" altLang="zh-CN" sz="2800" dirty="0" smtClean="0">
                <a:ea typeface="方正兰亭超细黑简体" pitchFamily="2" charset="-122"/>
              </a:rPr>
              <a:t> =0.15Ms</a:t>
            </a:r>
            <a:r>
              <a:rPr lang="en-US" altLang="zh-CN" sz="2800" baseline="30000" dirty="0" smtClean="0">
                <a:ea typeface="方正兰亭超细黑简体" pitchFamily="2" charset="-122"/>
              </a:rPr>
              <a:t>-1 </a:t>
            </a:r>
            <a:r>
              <a:rPr lang="en-US" altLang="zh-CN" sz="2800" dirty="0" smtClean="0">
                <a:ea typeface="方正兰亭超细黑简体" pitchFamily="2" charset="-122"/>
              </a:rPr>
              <a:t> </a:t>
            </a:r>
          </a:p>
          <a:p>
            <a:pPr marL="514350" indent="-514350">
              <a:buNone/>
            </a:pPr>
            <a:r>
              <a:rPr lang="en-US" altLang="zh-CN" sz="2800" dirty="0" smtClean="0">
                <a:ea typeface="方正兰亭超细黑简体" pitchFamily="2" charset="-122"/>
              </a:rPr>
              <a:t>	(2) R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A</a:t>
            </a:r>
            <a:r>
              <a:rPr lang="en-US" altLang="zh-CN" sz="2800" dirty="0" smtClean="0">
                <a:ea typeface="方正兰亭超细黑简体" pitchFamily="2" charset="-122"/>
              </a:rPr>
              <a:t> =0.2Ms</a:t>
            </a:r>
            <a:r>
              <a:rPr lang="en-US" altLang="zh-CN" sz="2800" baseline="30000" dirty="0" smtClean="0">
                <a:ea typeface="方正兰亭超细黑简体" pitchFamily="2" charset="-122"/>
              </a:rPr>
              <a:t>-1 </a:t>
            </a:r>
            <a:endParaRPr lang="en-US" altLang="zh-CN" sz="2800" dirty="0" smtClean="0">
              <a:ea typeface="方正兰亭超细黑简体" pitchFamily="2" charset="-122"/>
            </a:endParaRPr>
          </a:p>
          <a:p>
            <a:pPr marL="514350" indent="-514350">
              <a:buNone/>
            </a:pPr>
            <a:r>
              <a:rPr lang="en-US" altLang="zh-CN" sz="2800" dirty="0" smtClean="0">
                <a:ea typeface="方正兰亭超细黑简体" pitchFamily="2" charset="-122"/>
              </a:rPr>
              <a:t>	(3) R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A</a:t>
            </a:r>
            <a:r>
              <a:rPr lang="en-US" altLang="zh-CN" sz="2800" dirty="0" smtClean="0">
                <a:ea typeface="方正兰亭超细黑简体" pitchFamily="2" charset="-122"/>
              </a:rPr>
              <a:t> =0.2Ms</a:t>
            </a:r>
            <a:r>
              <a:rPr lang="en-US" altLang="zh-CN" sz="2800" baseline="30000" dirty="0" smtClean="0">
                <a:ea typeface="方正兰亭超细黑简体" pitchFamily="2" charset="-122"/>
              </a:rPr>
              <a:t>-1 </a:t>
            </a:r>
            <a:endParaRPr lang="en-US" altLang="zh-CN" sz="2800" dirty="0" smtClean="0">
              <a:ea typeface="方正兰亭超细黑简体" pitchFamily="2" charset="-122"/>
            </a:endParaRPr>
          </a:p>
          <a:p>
            <a:pPr marL="514350" indent="-514350">
              <a:buNone/>
            </a:pPr>
            <a:r>
              <a:rPr lang="en-US" altLang="zh-CN" sz="2800" dirty="0" smtClean="0">
                <a:ea typeface="方正兰亭超细黑简体" pitchFamily="2" charset="-122"/>
              </a:rPr>
              <a:t>	(4) R</a:t>
            </a:r>
            <a:r>
              <a:rPr lang="en-US" altLang="zh-CN" sz="2800" baseline="-25000" dirty="0" smtClean="0">
                <a:ea typeface="方正兰亭超细黑简体" pitchFamily="2" charset="-122"/>
              </a:rPr>
              <a:t>A</a:t>
            </a:r>
            <a:r>
              <a:rPr lang="en-US" altLang="zh-CN" sz="2800" dirty="0" smtClean="0">
                <a:ea typeface="方正兰亭超细黑简体" pitchFamily="2" charset="-122"/>
              </a:rPr>
              <a:t> =0.225Ms</a:t>
            </a:r>
            <a:r>
              <a:rPr lang="en-US" altLang="zh-CN" sz="2800" baseline="30000" dirty="0" smtClean="0">
                <a:ea typeface="方正兰亭超细黑简体" pitchFamily="2" charset="-122"/>
              </a:rPr>
              <a:t>-1 </a:t>
            </a:r>
          </a:p>
          <a:p>
            <a:pPr marL="514350" indent="-514350">
              <a:buNone/>
            </a:pPr>
            <a:r>
              <a:rPr lang="en-US" altLang="zh-CN" sz="2800" baseline="30000" dirty="0" smtClean="0">
                <a:ea typeface="方正兰亭超细黑简体" pitchFamily="2" charset="-122"/>
              </a:rPr>
              <a:t> </a:t>
            </a:r>
            <a:r>
              <a:rPr lang="en-US" altLang="zh-CN" sz="2800" dirty="0" smtClean="0">
                <a:ea typeface="方正兰亭超细黑简体" pitchFamily="2" charset="-122"/>
              </a:rPr>
              <a:t> </a:t>
            </a:r>
            <a:r>
              <a:rPr lang="en-US" altLang="zh-CN" sz="2800" dirty="0" err="1" smtClean="0">
                <a:ea typeface="方正兰亭超细黑简体" pitchFamily="2" charset="-122"/>
              </a:rPr>
              <a:t>Ans:B</a:t>
            </a:r>
            <a:r>
              <a:rPr lang="en-US" altLang="zh-CN" sz="2800" dirty="0" smtClean="0">
                <a:ea typeface="方正兰亭超细黑简体" pitchFamily="2" charset="-122"/>
              </a:rPr>
              <a:t> </a:t>
            </a:r>
          </a:p>
          <a:p>
            <a:pPr marL="514350" indent="-514350">
              <a:buNone/>
            </a:pPr>
            <a:r>
              <a:rPr lang="en-US" altLang="zh-CN" sz="2800" dirty="0" smtClean="0">
                <a:ea typeface="方正兰亭超细黑简体" pitchFamily="2" charset="-122"/>
              </a:rPr>
              <a:t>2. </a:t>
            </a:r>
            <a:r>
              <a:rPr lang="en-US" altLang="zh-CN" sz="2800" dirty="0" smtClean="0"/>
              <a:t>∆n(NH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) = 0.4mol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/>
              <a:t>     R(NH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) =		= 0.1Ms</a:t>
            </a:r>
            <a:r>
              <a:rPr lang="en-US" altLang="zh-CN" sz="2800" baseline="30000" dirty="0" smtClean="0"/>
              <a:t>-1</a:t>
            </a:r>
            <a:r>
              <a:rPr lang="en-US" altLang="zh-CN" sz="2800" dirty="0" smtClean="0"/>
              <a:t> </a:t>
            </a:r>
          </a:p>
          <a:p>
            <a:pPr marL="514350" indent="-514350">
              <a:buNone/>
            </a:pPr>
            <a:r>
              <a:rPr lang="zh-CN" altLang="en-US" sz="2800" dirty="0" smtClean="0">
                <a:ea typeface="方正兰亭超细黑简体" pitchFamily="2" charset="-122"/>
              </a:rPr>
              <a:t>则</a:t>
            </a:r>
            <a:r>
              <a:rPr lang="en-US" altLang="zh-CN" sz="2800" dirty="0" smtClean="0">
                <a:ea typeface="方正兰亭超细黑简体" pitchFamily="2" charset="-122"/>
              </a:rPr>
              <a:t>	</a:t>
            </a:r>
            <a:r>
              <a:rPr lang="en-US" altLang="zh-CN" sz="2800" dirty="0" smtClean="0"/>
              <a:t>R(N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) = 0.05Ms</a:t>
            </a:r>
            <a:r>
              <a:rPr lang="en-US" altLang="zh-CN" sz="2800" baseline="30000" dirty="0" smtClean="0"/>
              <a:t>-1</a:t>
            </a:r>
            <a:r>
              <a:rPr lang="en-US" altLang="zh-CN" sz="2800" dirty="0" smtClean="0"/>
              <a:t> </a:t>
            </a:r>
          </a:p>
          <a:p>
            <a:pPr marL="514350" indent="-514350">
              <a:buNone/>
            </a:pPr>
            <a:r>
              <a:rPr lang="en-US" altLang="zh-CN" sz="2800" dirty="0" smtClean="0"/>
              <a:t>	R(H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) =0.15Ms</a:t>
            </a:r>
            <a:r>
              <a:rPr lang="en-US" altLang="zh-CN" sz="2800" baseline="30000" dirty="0" smtClean="0"/>
              <a:t>-1</a:t>
            </a:r>
            <a:endParaRPr lang="en-US" altLang="zh-CN" sz="2800" dirty="0" smtClean="0">
              <a:ea typeface="方正兰亭超细黑简体" pitchFamily="2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86000" y="4495800"/>
          <a:ext cx="1024043" cy="835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4" imgW="520560" imgH="571320" progId="Equation.3">
                  <p:embed/>
                </p:oleObj>
              </mc:Choice>
              <mc:Fallback>
                <p:oleObj name="Equation" r:id="rId4" imgW="52056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95800"/>
                        <a:ext cx="1024043" cy="8358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505200" y="4802907"/>
            <a:ext cx="11430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8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0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408" y="-2307"/>
            <a:ext cx="7571184" cy="1521771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20</a:t>
            </a:r>
            <a:r>
              <a:rPr 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.2 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影响化学反应速率的因素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3256"/>
            <a:ext cx="8229600" cy="55347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反应物本性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固体反应物表面积大小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反应物浓度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压强影响气体反应物的浓度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温度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催化剂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光、扩散速率等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408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0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307"/>
            <a:ext cx="9144000" cy="1521771"/>
          </a:xfrm>
        </p:spPr>
        <p:txBody>
          <a:bodyPr>
            <a:normAutofit/>
          </a:bodyPr>
          <a:lstStyle/>
          <a:p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20.2.1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反应物的本性和</a:t>
            </a: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/>
            </a:r>
            <a:b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</a:b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表面积大小与化学反应速率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3256"/>
            <a:ext cx="8229600" cy="5534744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化合物：离子化合物、共价化合物。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破坏化学键需要能量；形成化学键则会稀放能量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因共价键较难被破坏，所以</a:t>
            </a:r>
            <a:r>
              <a:rPr lang="zh-CN" altLang="en-US" sz="2800" b="1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共价化合物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（有机化合物）参与的反应速率</a:t>
            </a:r>
            <a:r>
              <a:rPr lang="zh-CN" altLang="en-US" sz="2800" b="1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较慢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400050" lvl="1" indent="0">
              <a:buFont typeface="Wingdings" pitchFamily="2" charset="2"/>
              <a:buChar char="Ø"/>
            </a:pPr>
            <a:r>
              <a:rPr lang="zh-CN" altLang="en-US" sz="2400" dirty="0" smtClean="0">
                <a:latin typeface="方正兰亭超细黑简体" pitchFamily="2" charset="-122"/>
                <a:ea typeface="方正兰亭超细黑简体" pitchFamily="2" charset="-122"/>
              </a:rPr>
              <a:t>淀粉发酵</a:t>
            </a:r>
            <a:endParaRPr lang="en-US" altLang="zh-CN" sz="24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可溶于水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的</a:t>
            </a:r>
            <a:r>
              <a:rPr lang="zh-CN" altLang="en-US" sz="2800" b="1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离子化合物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在水中以离子形式存在，不需断键，</a:t>
            </a:r>
            <a:r>
              <a:rPr lang="zh-CN" altLang="en-US" sz="2800" b="1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反应极快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400050" lvl="1" indent="0">
              <a:buFont typeface="Wingdings" pitchFamily="2" charset="2"/>
              <a:buChar char="Ø"/>
            </a:pPr>
            <a:r>
              <a:rPr lang="zh-CN" altLang="en-US" sz="2400" dirty="0" smtClean="0">
                <a:latin typeface="方正兰亭超细黑简体" pitchFamily="2" charset="-122"/>
                <a:ea typeface="方正兰亭超细黑简体" pitchFamily="2" charset="-122"/>
              </a:rPr>
              <a:t>中和反应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反应物之间的</a:t>
            </a:r>
            <a:r>
              <a:rPr lang="zh-CN" altLang="en-US" sz="2800" b="1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接触面积越大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，反应速率</a:t>
            </a:r>
            <a:r>
              <a:rPr lang="zh-CN" altLang="en-US" sz="2800" b="1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越快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反应物本性是内在不变的因素。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Font typeface="Wingdings" pitchFamily="2" charset="2"/>
              <a:buChar char="Ø"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408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0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307"/>
            <a:ext cx="9144000" cy="992907"/>
          </a:xfrm>
        </p:spPr>
        <p:txBody>
          <a:bodyPr>
            <a:noAutofit/>
          </a:bodyPr>
          <a:lstStyle/>
          <a:p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20.2.1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反应物的本性和</a:t>
            </a: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/>
            </a:r>
            <a:b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</a:b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表面积大小与化学反应速率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34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u="sng" dirty="0" smtClean="0">
                <a:latin typeface="+mn-ea"/>
              </a:rPr>
              <a:t>交流分享</a:t>
            </a:r>
            <a:endParaRPr lang="en-US" altLang="zh-CN" sz="2800" b="1" u="sng" dirty="0" smtClean="0">
              <a:latin typeface="+mn-ea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+mn-ea"/>
              </a:rPr>
              <a:t>影响化学反应的主要因素是反应物的本性。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+mn-ea"/>
              </a:rPr>
              <a:t>反应物本性差异取决于其结构的不同。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zh-CN" altLang="en-US" sz="2800" b="1" u="sng" dirty="0" smtClean="0">
                <a:latin typeface="+mn-ea"/>
              </a:rPr>
              <a:t>问题解决</a:t>
            </a:r>
            <a:endParaRPr lang="en-US" altLang="zh-CN" sz="2800" b="1" u="sng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(1)</a:t>
            </a:r>
            <a:r>
              <a:rPr lang="zh-CN" altLang="en-US" sz="2800" dirty="0" smtClean="0">
                <a:latin typeface="+mn-ea"/>
              </a:rPr>
              <a:t>反应物本性影响反应速率，</a:t>
            </a:r>
            <a:r>
              <a:rPr lang="en-US" altLang="zh-CN" sz="2800" dirty="0" smtClean="0">
                <a:latin typeface="+mn-ea"/>
              </a:rPr>
              <a:t>Mg</a:t>
            </a:r>
            <a:r>
              <a:rPr lang="zh-CN" altLang="en-US" sz="2800" dirty="0" smtClean="0">
                <a:latin typeface="+mn-ea"/>
              </a:rPr>
              <a:t>比</a:t>
            </a:r>
            <a:r>
              <a:rPr lang="en-US" altLang="zh-CN" sz="2800" dirty="0" smtClean="0">
                <a:latin typeface="+mn-ea"/>
              </a:rPr>
              <a:t>Fe</a:t>
            </a:r>
            <a:r>
              <a:rPr lang="zh-CN" altLang="en-US" sz="2800" dirty="0" smtClean="0">
                <a:latin typeface="+mn-ea"/>
              </a:rPr>
              <a:t>活泼，因此</a:t>
            </a:r>
            <a:r>
              <a:rPr lang="en-US" altLang="zh-CN" sz="2800" dirty="0" smtClean="0">
                <a:latin typeface="+mn-ea"/>
              </a:rPr>
              <a:t>Mg</a:t>
            </a:r>
            <a:r>
              <a:rPr lang="zh-CN" altLang="en-US" sz="2800" dirty="0" smtClean="0">
                <a:latin typeface="+mn-ea"/>
              </a:rPr>
              <a:t>与稀盐酸反应较快。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(2)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反应物之间的接触面积越大，反应速率越快。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(3)</a:t>
            </a:r>
            <a:r>
              <a:rPr lang="zh-CN" altLang="en-US" sz="2800" dirty="0" smtClean="0">
                <a:latin typeface="+mn-ea"/>
              </a:rPr>
              <a:t>固体反应物颗粒越小，表面积越大，反应速率越快；氧气浓度越大，反应速率越快。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(4)</a:t>
            </a:r>
            <a:r>
              <a:rPr lang="zh-CN" altLang="en-US" sz="2800" dirty="0" smtClean="0">
                <a:latin typeface="+mn-ea"/>
              </a:rPr>
              <a:t>空气中有许多面粉小颗粒，与空气接触面积大，如果发生反应，反应速率快，容易发生爆炸。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408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0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307"/>
            <a:ext cx="9144000" cy="992907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思考题</a:t>
            </a: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</a:rPr>
              <a:t>20b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34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1.</a:t>
            </a:r>
            <a:r>
              <a:rPr lang="zh-CN" altLang="en-US" sz="2800" dirty="0" smtClean="0">
                <a:latin typeface="+mn-ea"/>
              </a:rPr>
              <a:t>实线：</a:t>
            </a:r>
            <a:r>
              <a:rPr lang="en-US" altLang="zh-CN" sz="2800" dirty="0" smtClean="0">
                <a:latin typeface="+mn-ea"/>
              </a:rPr>
              <a:t>CaCO</a:t>
            </a:r>
            <a:r>
              <a:rPr lang="en-US" altLang="zh-CN" sz="2800" baseline="-25000" dirty="0" smtClean="0">
                <a:latin typeface="+mn-ea"/>
              </a:rPr>
              <a:t>3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zh-CN" altLang="en-US" sz="2800" dirty="0" smtClean="0">
                <a:latin typeface="+mn-ea"/>
              </a:rPr>
              <a:t>块状，质量较大，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		</a:t>
            </a:r>
            <a:r>
              <a:rPr lang="zh-CN" altLang="en-US" sz="2800" dirty="0" smtClean="0">
                <a:latin typeface="+mn-ea"/>
              </a:rPr>
              <a:t>反应速率较慢，损失量较高</a:t>
            </a:r>
            <a:r>
              <a:rPr lang="en-US" altLang="zh-CN" sz="2800" dirty="0" smtClean="0">
                <a:latin typeface="+mn-ea"/>
              </a:rPr>
              <a:t>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</a:t>
            </a:r>
            <a:r>
              <a:rPr lang="zh-CN" altLang="en-US" sz="2800" dirty="0" smtClean="0">
                <a:latin typeface="+mn-ea"/>
              </a:rPr>
              <a:t>虚线：</a:t>
            </a:r>
            <a:r>
              <a:rPr lang="en-US" altLang="zh-CN" sz="2800" dirty="0" smtClean="0">
                <a:latin typeface="+mn-ea"/>
              </a:rPr>
              <a:t>CaCO</a:t>
            </a:r>
            <a:r>
              <a:rPr lang="en-US" altLang="zh-CN" sz="2800" baseline="-25000" dirty="0" smtClean="0">
                <a:latin typeface="+mn-ea"/>
              </a:rPr>
              <a:t>3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zh-CN" altLang="en-US" sz="2800" dirty="0" smtClean="0">
                <a:latin typeface="+mn-ea"/>
              </a:rPr>
              <a:t>粉状，质量较小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		</a:t>
            </a:r>
            <a:r>
              <a:rPr lang="zh-CN" altLang="en-US" sz="2800" dirty="0" smtClean="0">
                <a:latin typeface="+mn-ea"/>
              </a:rPr>
              <a:t>反应速率较快，损失量较低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</a:t>
            </a:r>
            <a:r>
              <a:rPr lang="en-US" altLang="zh-CN" sz="2800" dirty="0" err="1" smtClean="0">
                <a:latin typeface="+mn-ea"/>
              </a:rPr>
              <a:t>Ans</a:t>
            </a:r>
            <a:r>
              <a:rPr lang="en-US" altLang="zh-CN" sz="2800" dirty="0" smtClean="0">
                <a:latin typeface="+mn-ea"/>
              </a:rPr>
              <a:t>: C</a:t>
            </a: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0" y="1524000"/>
            <a:ext cx="5334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114800" y="2590800"/>
            <a:ext cx="5334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248400" y="1524000"/>
            <a:ext cx="5334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248400" y="2590800"/>
            <a:ext cx="5334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8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539728" cy="541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786408" y="0"/>
            <a:ext cx="7571184" cy="152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.2.2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反应物浓度与化学反应速率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16680" y="3200400"/>
            <a:ext cx="731520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67400" y="3200400"/>
            <a:ext cx="731520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0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1521771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20</a:t>
            </a:r>
            <a:r>
              <a:rPr 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.2.2 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反应物浓度与化学反应速率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5562"/>
            <a:ext cx="8229600" cy="5761037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为能发生化学反应，普通分子必须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吸收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足够的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能量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先变成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活化分子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，然后才能进一步转变为生成物分子。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800" dirty="0" smtClean="0">
                <a:latin typeface="+mn-ea"/>
              </a:rPr>
              <a:t>活化分子：高能量、可能发生有效碰撞的分子。</a:t>
            </a:r>
            <a:endParaRPr lang="en-US" altLang="zh-CN" sz="2800" dirty="0" smtClean="0">
              <a:latin typeface="+mn-ea"/>
            </a:endParaRPr>
          </a:p>
          <a:p>
            <a:pPr marL="0" indent="0"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活化能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E</a:t>
            </a:r>
            <a:r>
              <a:rPr lang="en-US" altLang="zh-CN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a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：</a:t>
            </a:r>
            <a:r>
              <a:rPr lang="zh-CN" altLang="en-US" sz="2800" dirty="0" smtClean="0">
                <a:solidFill>
                  <a:srgbClr val="FF0000"/>
                </a:solidFill>
                <a:latin typeface="方正兰亭超细黑简体" pitchFamily="2" charset="-122"/>
                <a:ea typeface="方正兰亭超细黑简体" pitchFamily="2" charset="-122"/>
              </a:rPr>
              <a:t>活化分子具有的最低能量与所有分子的平均能量之差。</a:t>
            </a:r>
            <a:endParaRPr lang="en-US" altLang="zh-CN" sz="2800" dirty="0" smtClean="0">
              <a:solidFill>
                <a:srgbClr val="FF0000"/>
              </a:solidFill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增加反应物浓度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时，单位体积内活化分子数增加，发生有效碰撞次数增加，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化学反应速率增大。</a:t>
            </a:r>
            <a:endParaRPr lang="en-US" altLang="zh-CN" sz="2800" dirty="0" smtClean="0">
              <a:latin typeface="+mn-ea"/>
            </a:endParaRPr>
          </a:p>
          <a:p>
            <a:pPr marL="0" indent="0">
              <a:spcAft>
                <a:spcPts val="600"/>
              </a:spcAft>
              <a:buFont typeface="Wingdings" pitchFamily="2" charset="2"/>
              <a:buChar char="Ø"/>
            </a:pPr>
            <a:endParaRPr lang="en-US" altLang="zh-CN" sz="28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408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1521771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问题解决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5562"/>
            <a:ext cx="8229600" cy="5761037"/>
          </a:xfrm>
        </p:spPr>
        <p:txBody>
          <a:bodyPr>
            <a:normAutofit/>
          </a:bodyPr>
          <a:lstStyle/>
          <a:p>
            <a:pPr marL="514350" indent="-514350">
              <a:spcAft>
                <a:spcPts val="600"/>
              </a:spcAft>
              <a:buAutoNum type="arabicPeriod"/>
            </a:pPr>
            <a:r>
              <a:rPr lang="zh-CN" altLang="en-US" sz="2800" dirty="0" smtClean="0">
                <a:latin typeface="+mn-ea"/>
              </a:rPr>
              <a:t>氧气浓度高，反应速率快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spcAft>
                <a:spcPts val="600"/>
              </a:spcAft>
              <a:buAutoNum type="arabicPeriod"/>
            </a:pPr>
            <a:r>
              <a:rPr lang="en-US" altLang="zh-CN" sz="2800" dirty="0" smtClean="0">
                <a:latin typeface="+mn-ea"/>
              </a:rPr>
              <a:t>(1)</a:t>
            </a:r>
            <a:r>
              <a:rPr lang="zh-CN" altLang="en-US" sz="2800" dirty="0" smtClean="0">
                <a:latin typeface="+mn-ea"/>
              </a:rPr>
              <a:t>反应速率增大。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单位体积内活化分子数增加，发生有效碰撞次数增加，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化学反应速率增大。</a:t>
            </a:r>
            <a:endParaRPr lang="en-US" altLang="zh-CN" sz="2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spcAft>
                <a:spcPts val="600"/>
              </a:spcAft>
              <a:buNone/>
            </a:pPr>
            <a:r>
              <a:rPr lang="en-US" altLang="zh-CN" sz="2800" dirty="0" smtClean="0">
                <a:latin typeface="+mn-ea"/>
                <a:ea typeface="方正兰亭超细黑简体" pitchFamily="2" charset="-122"/>
              </a:rPr>
              <a:t>	(2)</a:t>
            </a:r>
            <a:r>
              <a:rPr lang="zh-CN" altLang="en-US" sz="2800" dirty="0" smtClean="0">
                <a:latin typeface="+mn-ea"/>
                <a:ea typeface="方正兰亭超细黑简体" pitchFamily="2" charset="-122"/>
              </a:rPr>
              <a:t>反应速率不受影响。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活化分子浓度没改变。</a:t>
            </a:r>
            <a:endParaRPr lang="en-US" altLang="zh-CN" sz="28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408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408" y="-228600"/>
            <a:ext cx="7571184" cy="1521771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20</a:t>
            </a:r>
            <a:r>
              <a:rPr 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.2.2 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反应物浓度与化学反应速率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1037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一个化学反应的反应速率与反应物浓度有关。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反应物浓度越大，反应速率越快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化学反应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:		</a:t>
            </a:r>
            <a:r>
              <a:rPr lang="en-US" altLang="zh-CN" sz="2800" dirty="0" err="1" smtClean="0">
                <a:latin typeface="方正兰亭超细黑简体" pitchFamily="2" charset="-122"/>
                <a:ea typeface="方正兰亭超细黑简体" pitchFamily="2" charset="-122"/>
              </a:rPr>
              <a:t>aA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+ </a:t>
            </a:r>
            <a:r>
              <a:rPr lang="en-US" altLang="zh-CN" sz="2800" dirty="0" err="1" smtClean="0">
                <a:latin typeface="方正兰亭超细黑简体" pitchFamily="2" charset="-122"/>
                <a:ea typeface="方正兰亭超细黑简体" pitchFamily="2" charset="-122"/>
              </a:rPr>
              <a:t>bB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 </a:t>
            </a:r>
            <a:r>
              <a:rPr lang="en-US" altLang="zh-CN" sz="2800" dirty="0" err="1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cC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  <a:sym typeface="Wingdings" pitchFamily="2" charset="2"/>
            </a:endParaRPr>
          </a:p>
          <a:p>
            <a:pPr marL="0" indent="0"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在温度、压强保持不变的情况下，反应速率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R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跟反应物的某个次方的浓度的乘积成正比。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  <a:sym typeface="Wingdings" pitchFamily="2" charset="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		R </a:t>
            </a:r>
            <a:r>
              <a:rPr lang="el-GR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α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[A]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m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[B]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n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反应速率方程式：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R = k [A]</a:t>
            </a:r>
            <a:r>
              <a:rPr lang="en-US" altLang="zh-CN" sz="2800" b="1" baseline="30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m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[B]</a:t>
            </a:r>
            <a:r>
              <a:rPr lang="en-US" altLang="zh-CN" sz="2800" b="1" baseline="30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n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k: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反应速率常数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（一般上随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温度、催化剂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而改变，不受浓度影响）</a:t>
            </a:r>
            <a:endParaRPr lang="en-US" altLang="zh-CN" sz="2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兰亭超细黑简体" pitchFamily="2" charset="-122"/>
              <a:ea typeface="方正兰亭超细黑简体" pitchFamily="2" charset="-122"/>
              <a:sym typeface="Wingdings" pitchFamily="2" charset="2"/>
            </a:endParaRPr>
          </a:p>
          <a:p>
            <a:pPr marL="0" indent="0"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纯固体、纯液体的浓度次方为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零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。</a:t>
            </a:r>
            <a:endParaRPr lang="en-US" altLang="zh-CN" sz="2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38800" y="2775843"/>
            <a:ext cx="3274412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若该反应为一步完成的反应</a:t>
            </a:r>
            <a:endParaRPr lang="en-US" altLang="zh-CN" sz="2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兰亭超细黑简体" pitchFamily="2" charset="-122"/>
              <a:ea typeface="方正兰亭超细黑简体" pitchFamily="2" charset="-122"/>
              <a:sym typeface="Wingdings" pitchFamily="2" charset="2"/>
            </a:endParaRPr>
          </a:p>
          <a:p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R = k [A]</a:t>
            </a:r>
            <a:r>
              <a:rPr lang="en-US" altLang="zh-CN" sz="2800" b="1" baseline="30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a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[B]</a:t>
            </a:r>
            <a:r>
              <a:rPr lang="en-US" altLang="zh-CN" sz="2800" b="1" baseline="30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b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3408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93914"/>
            <a:ext cx="8382000" cy="59640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反应机理：反应物变成生成物的过程。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＊反应机理只能从实验结果推导而得。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例：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2NO+2H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N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+2H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O</a:t>
            </a: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设：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R=k[NO]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x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[H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y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得：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=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   2 = 2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y</a:t>
            </a:r>
          </a:p>
          <a:p>
            <a:pPr marL="0" indent="0">
              <a:buNone/>
            </a:pP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	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 y = 1</a:t>
            </a: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 得：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	=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   4 = 2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x</a:t>
            </a:r>
          </a:p>
          <a:p>
            <a:pPr marL="0" indent="0">
              <a:buNone/>
            </a:pP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	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 x = 2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R=k[NO]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[H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endParaRPr lang="en-US" altLang="zh-CN" sz="2800" dirty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86408" y="-228600"/>
            <a:ext cx="7571184" cy="152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.2.2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反应物浓度与化学反应速率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pic>
        <p:nvPicPr>
          <p:cNvPr id="6" name="Picture 4" descr="C:\Users\user\Desktop\IMG_20180619_202824.jpg"/>
          <p:cNvPicPr>
            <a:picLocks noChangeAspect="1" noChangeArrowheads="1"/>
          </p:cNvPicPr>
          <p:nvPr/>
        </p:nvPicPr>
        <p:blipFill>
          <a:blip r:embed="rId3" cstate="print"/>
          <a:srcRect l="12364" t="24316" r="6719" b="27592"/>
          <a:stretch>
            <a:fillRect/>
          </a:stretch>
        </p:blipFill>
        <p:spPr bwMode="auto">
          <a:xfrm>
            <a:off x="4038600" y="1897912"/>
            <a:ext cx="5105400" cy="4045688"/>
          </a:xfrm>
          <a:prstGeom prst="rect">
            <a:avLst/>
          </a:prstGeom>
          <a:noFill/>
        </p:spPr>
      </p:pic>
      <p:grpSp>
        <p:nvGrpSpPr>
          <p:cNvPr id="10" name="Group 9"/>
          <p:cNvGrpSpPr/>
          <p:nvPr/>
        </p:nvGrpSpPr>
        <p:grpSpPr>
          <a:xfrm>
            <a:off x="328790" y="3119735"/>
            <a:ext cx="387490" cy="766465"/>
            <a:chOff x="1807070" y="3881735"/>
            <a:chExt cx="387490" cy="766465"/>
          </a:xfrm>
        </p:grpSpPr>
        <p:sp>
          <p:nvSpPr>
            <p:cNvPr id="7" name="TextBox 6"/>
            <p:cNvSpPr txBox="1"/>
            <p:nvPr/>
          </p:nvSpPr>
          <p:spPr>
            <a:xfrm>
              <a:off x="1828800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2</a:t>
              </a:r>
              <a:endParaRPr lang="en-US" sz="22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07070" y="41865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1</a:t>
              </a:r>
              <a:endParaRPr lang="en-US" sz="2200" dirty="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828800" y="4261147"/>
              <a:ext cx="36576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304150" y="3119735"/>
            <a:ext cx="936130" cy="766465"/>
            <a:chOff x="1807070" y="3881735"/>
            <a:chExt cx="936130" cy="766465"/>
          </a:xfrm>
        </p:grpSpPr>
        <p:sp>
          <p:nvSpPr>
            <p:cNvPr id="12" name="TextBox 11"/>
            <p:cNvSpPr txBox="1"/>
            <p:nvPr/>
          </p:nvSpPr>
          <p:spPr>
            <a:xfrm>
              <a:off x="1828800" y="3881735"/>
              <a:ext cx="7280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3.52</a:t>
              </a:r>
              <a:endParaRPr lang="en-US" sz="22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07070" y="4186535"/>
              <a:ext cx="7280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1.76</a:t>
              </a:r>
              <a:endParaRPr lang="en-US" sz="2200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1828800" y="4261147"/>
              <a:ext cx="9144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538590" y="3115270"/>
            <a:ext cx="1576210" cy="766465"/>
            <a:chOff x="1807070" y="3881735"/>
            <a:chExt cx="1576210" cy="766465"/>
          </a:xfrm>
        </p:grpSpPr>
        <p:sp>
          <p:nvSpPr>
            <p:cNvPr id="16" name="TextBox 15"/>
            <p:cNvSpPr txBox="1"/>
            <p:nvPr/>
          </p:nvSpPr>
          <p:spPr>
            <a:xfrm>
              <a:off x="1828800" y="3881735"/>
              <a:ext cx="1511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(k)(6</a:t>
              </a:r>
              <a:r>
                <a:rPr lang="en-US" sz="2400" baseline="30000" dirty="0" smtClean="0"/>
                <a:t>x</a:t>
              </a:r>
              <a:r>
                <a:rPr lang="en-US" sz="2400" dirty="0" smtClean="0"/>
                <a:t> )(2</a:t>
              </a:r>
              <a:r>
                <a:rPr lang="en-US" sz="2400" baseline="30000" dirty="0" smtClean="0"/>
                <a:t>y</a:t>
              </a:r>
              <a:r>
                <a:rPr lang="en-US" sz="2400" dirty="0" smtClean="0"/>
                <a:t>) </a:t>
              </a:r>
              <a:endParaRPr lang="en-US" sz="22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07070" y="4186535"/>
              <a:ext cx="1511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(k)(6</a:t>
              </a:r>
              <a:r>
                <a:rPr lang="en-US" sz="2400" baseline="30000" dirty="0" smtClean="0"/>
                <a:t>x</a:t>
              </a:r>
              <a:r>
                <a:rPr lang="en-US" sz="2400" dirty="0" smtClean="0"/>
                <a:t> )(1</a:t>
              </a:r>
              <a:r>
                <a:rPr lang="en-US" sz="2400" baseline="30000" dirty="0" smtClean="0"/>
                <a:t>y</a:t>
              </a:r>
              <a:r>
                <a:rPr lang="en-US" sz="2400" dirty="0" smtClean="0"/>
                <a:t>) </a:t>
              </a:r>
              <a:endParaRPr lang="en-US" sz="2200" dirty="0"/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1828800" y="4261147"/>
              <a:ext cx="155448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222110" y="4491335"/>
            <a:ext cx="387490" cy="766465"/>
            <a:chOff x="1807070" y="3881735"/>
            <a:chExt cx="387490" cy="766465"/>
          </a:xfrm>
        </p:grpSpPr>
        <p:sp>
          <p:nvSpPr>
            <p:cNvPr id="20" name="TextBox 19"/>
            <p:cNvSpPr txBox="1"/>
            <p:nvPr/>
          </p:nvSpPr>
          <p:spPr>
            <a:xfrm>
              <a:off x="1828800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4</a:t>
              </a:r>
              <a:endParaRPr lang="en-US" sz="22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07070" y="41865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3</a:t>
              </a:r>
              <a:endParaRPr lang="en-US" sz="2200" dirty="0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1828800" y="4261147"/>
              <a:ext cx="36576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151750" y="4491335"/>
            <a:ext cx="936130" cy="766465"/>
            <a:chOff x="1807070" y="3881735"/>
            <a:chExt cx="936130" cy="766465"/>
          </a:xfrm>
        </p:grpSpPr>
        <p:sp>
          <p:nvSpPr>
            <p:cNvPr id="24" name="TextBox 23"/>
            <p:cNvSpPr txBox="1"/>
            <p:nvPr/>
          </p:nvSpPr>
          <p:spPr>
            <a:xfrm>
              <a:off x="1828800" y="3881735"/>
              <a:ext cx="7280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1.16</a:t>
              </a:r>
              <a:endParaRPr lang="en-US" sz="22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807070" y="4186535"/>
              <a:ext cx="7280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0.29</a:t>
              </a:r>
              <a:endParaRPr lang="en-US" sz="2200" dirty="0"/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1828800" y="4261147"/>
              <a:ext cx="9144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2386190" y="4486870"/>
            <a:ext cx="1576210" cy="766465"/>
            <a:chOff x="1807070" y="3881735"/>
            <a:chExt cx="1576210" cy="766465"/>
          </a:xfrm>
        </p:grpSpPr>
        <p:sp>
          <p:nvSpPr>
            <p:cNvPr id="28" name="TextBox 27"/>
            <p:cNvSpPr txBox="1"/>
            <p:nvPr/>
          </p:nvSpPr>
          <p:spPr>
            <a:xfrm>
              <a:off x="1828800" y="3881735"/>
              <a:ext cx="1511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(k)(2</a:t>
              </a:r>
              <a:r>
                <a:rPr lang="en-US" sz="2400" baseline="30000" dirty="0" smtClean="0"/>
                <a:t>x</a:t>
              </a:r>
              <a:r>
                <a:rPr lang="en-US" sz="2400" dirty="0" smtClean="0"/>
                <a:t> )(6</a:t>
              </a:r>
              <a:r>
                <a:rPr lang="en-US" sz="2400" baseline="30000" dirty="0" smtClean="0"/>
                <a:t>y</a:t>
              </a:r>
              <a:r>
                <a:rPr lang="en-US" sz="2400" dirty="0" smtClean="0"/>
                <a:t>) </a:t>
              </a:r>
              <a:endParaRPr lang="en-US" sz="22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807070" y="4186535"/>
              <a:ext cx="1511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(k)(1</a:t>
              </a:r>
              <a:r>
                <a:rPr lang="en-US" sz="2400" baseline="30000" dirty="0" smtClean="0"/>
                <a:t>x</a:t>
              </a:r>
              <a:r>
                <a:rPr lang="en-US" sz="2400" dirty="0" smtClean="0"/>
                <a:t> )(6</a:t>
              </a:r>
              <a:r>
                <a:rPr lang="en-US" sz="2400" baseline="30000" dirty="0" smtClean="0"/>
                <a:t>y</a:t>
              </a:r>
              <a:r>
                <a:rPr lang="en-US" sz="2400" dirty="0" smtClean="0"/>
                <a:t>) </a:t>
              </a:r>
              <a:endParaRPr lang="en-US" sz="2200" dirty="0"/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1828800" y="4261147"/>
              <a:ext cx="155448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4038600" y="1905000"/>
            <a:ext cx="5105400" cy="6648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</a:rPr>
              <a:t>如果是一步完成</a:t>
            </a:r>
            <a:r>
              <a:rPr lang="en-US" altLang="zh-CN" sz="2800" b="1" dirty="0" smtClean="0">
                <a:solidFill>
                  <a:srgbClr val="002060"/>
                </a:solidFill>
              </a:rPr>
              <a:t>R=</a:t>
            </a:r>
            <a:r>
              <a:rPr lang="zh-CN" altLang="en-US" sz="2800" b="1" dirty="0" smtClean="0">
                <a:solidFill>
                  <a:srgbClr val="002060"/>
                </a:solidFill>
              </a:rPr>
              <a:t>？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38600" y="2590800"/>
            <a:ext cx="5105400" cy="6648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002060"/>
                </a:solidFill>
              </a:rPr>
              <a:t>R=</a:t>
            </a: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=k[NO]</a:t>
            </a:r>
            <a:r>
              <a:rPr lang="en-US" altLang="zh-CN" sz="2800" baseline="300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[H</a:t>
            </a:r>
            <a:r>
              <a:rPr lang="en-US" altLang="zh-CN" sz="2800" baseline="-250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8600" y="3221338"/>
            <a:ext cx="51054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002060"/>
                </a:solidFill>
              </a:rPr>
              <a:t>根据实验数据推得</a:t>
            </a:r>
            <a:endParaRPr lang="en-US" altLang="zh-CN" sz="2800" dirty="0" smtClean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R=k[NO]</a:t>
            </a:r>
            <a:r>
              <a:rPr lang="en-US" altLang="zh-CN" sz="2800" baseline="300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[H</a:t>
            </a:r>
            <a:r>
              <a:rPr lang="en-US" altLang="zh-CN" sz="2800" baseline="-250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1</a:t>
            </a: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</a:t>
            </a:r>
            <a:endParaRPr lang="en-US" altLang="zh-CN" sz="2800" dirty="0" smtClean="0"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38600" y="4495800"/>
            <a:ext cx="51054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所以此反应不是一步完成的。</a:t>
            </a:r>
            <a:endParaRPr lang="en-US" altLang="zh-CN" sz="2800" dirty="0" smtClean="0"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9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1" grpId="0" animBg="1"/>
      <p:bldP spid="32" grpId="0" animBg="1"/>
      <p:bldP spid="33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733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反应机理：反应物变成生成物的过程。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2NO + H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 N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 + H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 	(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慢的步骤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N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O N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+ </a:t>
            </a:r>
            <a:r>
              <a:rPr lang="en-US" sz="2800" dirty="0" smtClean="0">
                <a:ea typeface="方正兰亭超细黑简体"/>
                <a:sym typeface="Wingdings" pitchFamily="2" charset="2"/>
              </a:rPr>
              <a:t> ½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		(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快的步骤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)</a:t>
            </a:r>
            <a:endParaRPr lang="en-US" altLang="zh-CN" sz="2800" baseline="-250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H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+ </a:t>
            </a:r>
            <a:r>
              <a:rPr lang="en-US" sz="2800" dirty="0" smtClean="0">
                <a:ea typeface="方正兰亭超细黑简体"/>
                <a:sym typeface="Wingdings" pitchFamily="2" charset="2"/>
              </a:rPr>
              <a:t>½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 H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		(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快的步骤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决定整个反应速率的步骤是哪个？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反应速率与所需时间有关，慢的步骤消耗时间多，快的步骤消耗时间极少。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86408" y="2229"/>
            <a:ext cx="7571184" cy="152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.2.2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反应物浓度与反应速率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2209800"/>
            <a:ext cx="64770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715000" y="3429000"/>
            <a:ext cx="31242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002060"/>
                </a:solidFill>
              </a:rPr>
              <a:t>根据实验数据推得</a:t>
            </a:r>
            <a:endParaRPr lang="en-US" altLang="zh-CN" sz="2800" dirty="0" smtClean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R=k[NO]</a:t>
            </a:r>
            <a:r>
              <a:rPr lang="en-US" altLang="zh-CN" sz="2800" baseline="300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[H</a:t>
            </a:r>
            <a:r>
              <a:rPr lang="en-US" altLang="zh-CN" sz="2800" baseline="-250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1</a:t>
            </a:r>
            <a:r>
              <a:rPr lang="en-US" altLang="zh-CN" sz="2800" dirty="0" smtClean="0">
                <a:solidFill>
                  <a:srgbClr val="002060"/>
                </a:solidFill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</a:t>
            </a:r>
            <a:endParaRPr lang="en-US" altLang="zh-CN" sz="2800" dirty="0" smtClean="0">
              <a:solidFill>
                <a:srgbClr val="002060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9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一个反应速率方程式必须根据实验数据推导出来，不能简单地依据配平好的化学方程式写出。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根据反应机理的不同，化学反应可分为：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简单反应：一步完成的反应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复杂反应：两个步骤以上完成的反应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86408" y="2229"/>
            <a:ext cx="7571184" cy="152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.2.2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反应物浓度与反应速率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9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反应级数可分为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:</a:t>
            </a:r>
            <a:b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</a:b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１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.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零级反应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2KClO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3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(s)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 2KCl(s) + 3O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 (g)</a:t>
            </a:r>
            <a:endParaRPr lang="en-US" altLang="zh-CN" sz="2800" baseline="-25000" dirty="0" smtClean="0">
              <a:latin typeface="方正兰亭超细黑简体" pitchFamily="2" charset="-122"/>
              <a:ea typeface="方正兰亭超细黑简体" pitchFamily="2" charset="-122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	R =k[KClO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3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0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**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纯固体浓度的次方为零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**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零级反应的反应速率与浓度无关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２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.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一级反应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N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5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(g)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 2NO(g) +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r>
              <a:rPr lang="en-US" sz="2800" dirty="0" smtClean="0">
                <a:ea typeface="方正兰亭超细黑简体"/>
                <a:sym typeface="Wingdings" pitchFamily="2" charset="2"/>
              </a:rPr>
              <a:t> ½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(g)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		R = k[N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5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1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86408" y="2229"/>
            <a:ext cx="7571184" cy="152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.2.2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反应物浓度与化学反应速率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9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反应级数可分为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:</a:t>
            </a:r>
          </a:p>
          <a:p>
            <a:pPr marL="514350" indent="-51435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3.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二级反应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</a:rPr>
              <a:t>CH</a:t>
            </a:r>
            <a:r>
              <a:rPr lang="en-US" altLang="zh-CN" sz="2600" baseline="-25000" dirty="0" smtClean="0">
                <a:latin typeface="方正兰亭超细黑简体" pitchFamily="2" charset="-122"/>
                <a:ea typeface="方正兰亭超细黑简体" pitchFamily="2" charset="-122"/>
              </a:rPr>
              <a:t>3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</a:rPr>
              <a:t>COOC</a:t>
            </a:r>
            <a:r>
              <a:rPr lang="en-US" altLang="zh-CN" sz="2600" baseline="-250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</a:rPr>
              <a:t>H</a:t>
            </a:r>
            <a:r>
              <a:rPr lang="en-US" altLang="zh-CN" sz="2600" baseline="-25000" dirty="0" smtClean="0">
                <a:latin typeface="方正兰亭超细黑简体" pitchFamily="2" charset="-122"/>
                <a:ea typeface="方正兰亭超细黑简体" pitchFamily="2" charset="-122"/>
              </a:rPr>
              <a:t>5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</a:rPr>
              <a:t> (</a:t>
            </a:r>
            <a:r>
              <a:rPr lang="en-US" altLang="zh-CN" sz="2600" dirty="0" err="1" smtClean="0">
                <a:latin typeface="方正兰亭超细黑简体" pitchFamily="2" charset="-122"/>
                <a:ea typeface="方正兰亭超细黑简体" pitchFamily="2" charset="-122"/>
              </a:rPr>
              <a:t>aq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</a:rPr>
              <a:t>)+ </a:t>
            </a:r>
            <a:r>
              <a:rPr lang="en-US" altLang="zh-CN" sz="2600" dirty="0" err="1" smtClean="0">
                <a:latin typeface="方正兰亭超细黑简体" pitchFamily="2" charset="-122"/>
                <a:ea typeface="方正兰亭超细黑简体" pitchFamily="2" charset="-122"/>
              </a:rPr>
              <a:t>NaOH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</a:rPr>
              <a:t>(</a:t>
            </a:r>
            <a:r>
              <a:rPr lang="en-US" altLang="zh-CN" sz="2600" dirty="0" err="1" smtClean="0">
                <a:latin typeface="方正兰亭超细黑简体" pitchFamily="2" charset="-122"/>
                <a:ea typeface="方正兰亭超细黑简体" pitchFamily="2" charset="-122"/>
              </a:rPr>
              <a:t>aq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</a:rPr>
              <a:t>)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 CH</a:t>
            </a:r>
            <a:r>
              <a:rPr lang="en-US" altLang="zh-CN" sz="2600" baseline="-25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3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COONa(</a:t>
            </a:r>
            <a:r>
              <a:rPr lang="en-US" altLang="zh-CN" sz="2600" dirty="0" err="1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aq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)+C</a:t>
            </a:r>
            <a:r>
              <a:rPr lang="en-US" altLang="zh-CN" sz="2600" baseline="-25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H</a:t>
            </a:r>
            <a:r>
              <a:rPr lang="en-US" altLang="zh-CN" sz="2600" baseline="-250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5</a:t>
            </a:r>
            <a:r>
              <a:rPr lang="en-US" altLang="zh-CN" sz="26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OH (l)</a:t>
            </a:r>
            <a:endParaRPr lang="en-US" altLang="zh-CN" sz="2600" baseline="-25000" dirty="0" smtClean="0">
              <a:latin typeface="方正兰亭超细黑简体" pitchFamily="2" charset="-122"/>
              <a:ea typeface="方正兰亭超细黑简体" pitchFamily="2" charset="-122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	R =k[CH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3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COOC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H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5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[</a:t>
            </a:r>
            <a:r>
              <a:rPr lang="en-US" altLang="zh-CN" sz="2800" dirty="0" err="1" smtClean="0">
                <a:latin typeface="方正兰亭超细黑简体" pitchFamily="2" charset="-122"/>
                <a:ea typeface="方正兰亭超细黑简体" pitchFamily="2" charset="-122"/>
              </a:rPr>
              <a:t>NaOH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1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4.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三级反应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2NO(g) +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(g) 2 NO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		R = k[NO]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[O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1</a:t>
            </a:r>
          </a:p>
          <a:p>
            <a:pPr marL="0" indent="0">
              <a:buNone/>
            </a:pP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/>
                <a:sym typeface="Wingdings" pitchFamily="2" charset="2"/>
              </a:rPr>
              <a:t>反应级数不一定是整数，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完全是根据实验结果测得。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反应级数作为推测反应机理的根据，还可用来计算和控制化学反应速率。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buNone/>
            </a:pPr>
            <a:endParaRPr lang="en-US" altLang="zh-CN" sz="2800" b="1" dirty="0" smtClean="0">
              <a:solidFill>
                <a:srgbClr val="002060"/>
              </a:solidFill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86408" y="2229"/>
            <a:ext cx="7571184" cy="152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.2.2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反应物浓度与化学反应速率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9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例： 若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3A(g) + B(g)  2 C(g)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为一步完成的反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	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应，则此反应的级数是多少？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答：四级反应。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例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：设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R= k[HgCl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x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[C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4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2-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y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得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y=2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得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x=1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(a)R= k[HgCl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[C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4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2-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(b)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三级反应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(c)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将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1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的数据代入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得：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7.62 x 10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-3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M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min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-1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86408" y="2229"/>
            <a:ext cx="7571184" cy="152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.2.2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反应物浓度与化学反应速率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84110" y="3200400"/>
            <a:ext cx="387490" cy="766465"/>
            <a:chOff x="1807070" y="3881735"/>
            <a:chExt cx="387490" cy="766465"/>
          </a:xfrm>
        </p:grpSpPr>
        <p:sp>
          <p:nvSpPr>
            <p:cNvPr id="7" name="TextBox 6"/>
            <p:cNvSpPr txBox="1"/>
            <p:nvPr/>
          </p:nvSpPr>
          <p:spPr>
            <a:xfrm>
              <a:off x="1828800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2</a:t>
              </a:r>
              <a:endParaRPr lang="en-US" sz="22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07070" y="41865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1</a:t>
              </a:r>
              <a:endParaRPr lang="en-US" sz="2200" dirty="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828800" y="4261147"/>
              <a:ext cx="36576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984110" y="3962400"/>
            <a:ext cx="387490" cy="766465"/>
            <a:chOff x="1807070" y="3881735"/>
            <a:chExt cx="387490" cy="766465"/>
          </a:xfrm>
        </p:grpSpPr>
        <p:sp>
          <p:nvSpPr>
            <p:cNvPr id="11" name="TextBox 10"/>
            <p:cNvSpPr txBox="1"/>
            <p:nvPr/>
          </p:nvSpPr>
          <p:spPr>
            <a:xfrm>
              <a:off x="1828800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2</a:t>
              </a:r>
              <a:endParaRPr lang="en-US" sz="22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07070" y="41865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3</a:t>
              </a:r>
              <a:endParaRPr lang="en-US" sz="2200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828800" y="4261147"/>
              <a:ext cx="36576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9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例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2:(d)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在相同条件下，当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[HgCl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=[C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4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2-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]=0.1M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时，求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/>
                <a:sym typeface="Wingdings" pitchFamily="2" charset="2"/>
              </a:rPr>
              <a:t>HgCl</a:t>
            </a:r>
            <a:r>
              <a:rPr lang="en-US" altLang="zh-CN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的</a:t>
            </a:r>
            <a:r>
              <a:rPr lang="zh-CN" altLang="en-US" sz="2800" dirty="0" smtClean="0">
                <a:solidFill>
                  <a:srgbClr val="FF0000"/>
                </a:solidFill>
                <a:latin typeface="方正兰亭超细黑简体" pitchFamily="2" charset="-122"/>
                <a:ea typeface="方正兰亭超细黑简体"/>
                <a:sym typeface="Wingdings" pitchFamily="2" charset="2"/>
              </a:rPr>
              <a:t>消失速率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R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/>
                <a:sym typeface="Wingdings" pitchFamily="2" charset="2"/>
              </a:rPr>
              <a:t>（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/>
                <a:sym typeface="Wingdings" pitchFamily="2" charset="2"/>
              </a:rPr>
              <a:t>Hg</a:t>
            </a:r>
            <a:r>
              <a:rPr lang="en-US" altLang="zh-CN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/>
                <a:sym typeface="Wingdings" pitchFamily="2" charset="2"/>
              </a:rPr>
              <a:t>Cl</a:t>
            </a:r>
            <a:r>
              <a:rPr lang="en-US" altLang="zh-CN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/>
                <a:sym typeface="Wingdings" pitchFamily="2" charset="2"/>
              </a:rPr>
              <a:t>）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= k[HgCl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[C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4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2-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		= (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7.62 x 10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-3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)(0.1)(0.1)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endParaRPr lang="en-US" altLang="zh-CN" sz="2800" baseline="300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 		= 7.62 x 10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-6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Mmin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根据化学方程式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2HgCl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+ C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4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2-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 2 </a:t>
            </a:r>
            <a:r>
              <a:rPr lang="en-US" altLang="zh-CN" sz="2800" dirty="0" err="1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Cl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+ 2 CO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+ Hg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Cl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R(HgCl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) = 2R(Hg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Cl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)</a:t>
            </a:r>
          </a:p>
          <a:p>
            <a:pPr marL="0" indent="0">
              <a:buNone/>
            </a:pP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	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   = 15.24 x 10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-6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Mmin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	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   = 1.52 x 10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-5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Mmin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endParaRPr lang="en-US" altLang="zh-CN" sz="2800" baseline="300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endParaRPr lang="en-US" altLang="zh-CN" sz="2800" baseline="300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86408" y="2229"/>
            <a:ext cx="7571184" cy="152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.2.2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反应物浓度与化学反应速率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9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问题解决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设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R= k[A]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x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[B]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y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得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x=1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得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y=2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(a)R= k[A]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[B]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(b)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三级反应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(c)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将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1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的数据代入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得：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3.75 x 10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M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s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-1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86408" y="2229"/>
            <a:ext cx="7571184" cy="152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.2.2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反应物浓度与化学反应速率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914400" y="2133600"/>
            <a:ext cx="387490" cy="766465"/>
            <a:chOff x="1807070" y="3881735"/>
            <a:chExt cx="387490" cy="766465"/>
          </a:xfrm>
        </p:grpSpPr>
        <p:sp>
          <p:nvSpPr>
            <p:cNvPr id="7" name="TextBox 6"/>
            <p:cNvSpPr txBox="1"/>
            <p:nvPr/>
          </p:nvSpPr>
          <p:spPr>
            <a:xfrm>
              <a:off x="1828800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3</a:t>
              </a:r>
              <a:endParaRPr lang="en-US" sz="22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07070" y="41865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1</a:t>
              </a:r>
              <a:endParaRPr lang="en-US" sz="2200" dirty="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828800" y="4261147"/>
              <a:ext cx="36576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"/>
          <p:cNvGrpSpPr/>
          <p:nvPr/>
        </p:nvGrpSpPr>
        <p:grpSpPr>
          <a:xfrm>
            <a:off x="907910" y="2891135"/>
            <a:ext cx="387490" cy="766465"/>
            <a:chOff x="1807070" y="3881735"/>
            <a:chExt cx="387490" cy="766465"/>
          </a:xfrm>
        </p:grpSpPr>
        <p:sp>
          <p:nvSpPr>
            <p:cNvPr id="11" name="TextBox 10"/>
            <p:cNvSpPr txBox="1"/>
            <p:nvPr/>
          </p:nvSpPr>
          <p:spPr>
            <a:xfrm>
              <a:off x="1828800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2</a:t>
              </a:r>
              <a:endParaRPr lang="en-US" sz="22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07070" y="41865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3</a:t>
              </a:r>
              <a:endParaRPr lang="en-US" sz="2200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828800" y="4261147"/>
              <a:ext cx="36576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9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设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R= k[NO]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x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[O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y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得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x=2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得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y=1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	R= k[NO]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[O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1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三级反应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86408" y="2229"/>
            <a:ext cx="7571184" cy="152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思考题</a:t>
            </a:r>
            <a:r>
              <a:rPr kumimoji="0" lang="en-US" altLang="zh-CN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20c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914400" y="1600200"/>
            <a:ext cx="387490" cy="766465"/>
            <a:chOff x="1807070" y="3881735"/>
            <a:chExt cx="387490" cy="766465"/>
          </a:xfrm>
        </p:grpSpPr>
        <p:sp>
          <p:nvSpPr>
            <p:cNvPr id="7" name="TextBox 6"/>
            <p:cNvSpPr txBox="1"/>
            <p:nvPr/>
          </p:nvSpPr>
          <p:spPr>
            <a:xfrm>
              <a:off x="1828800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3</a:t>
              </a:r>
              <a:endParaRPr lang="en-US" sz="22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07070" y="41865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2</a:t>
              </a:r>
              <a:endParaRPr lang="en-US" sz="2200" dirty="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828800" y="4261147"/>
              <a:ext cx="36576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"/>
          <p:cNvGrpSpPr/>
          <p:nvPr/>
        </p:nvGrpSpPr>
        <p:grpSpPr>
          <a:xfrm>
            <a:off x="907910" y="2286000"/>
            <a:ext cx="387490" cy="766465"/>
            <a:chOff x="1807070" y="3881735"/>
            <a:chExt cx="387490" cy="766465"/>
          </a:xfrm>
        </p:grpSpPr>
        <p:sp>
          <p:nvSpPr>
            <p:cNvPr id="11" name="TextBox 10"/>
            <p:cNvSpPr txBox="1"/>
            <p:nvPr/>
          </p:nvSpPr>
          <p:spPr>
            <a:xfrm>
              <a:off x="1828800" y="38817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2</a:t>
              </a:r>
              <a:endParaRPr lang="en-US" sz="22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07070" y="41865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</a:t>
              </a:r>
              <a:endParaRPr lang="en-US" sz="2200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828800" y="4261147"/>
              <a:ext cx="36576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9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1600"/>
            <a:ext cx="8229600" cy="58578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补充：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1.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问零级反应的反应速率常数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k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的单位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=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？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设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R= k[A]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k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的单位为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Mmin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2.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问一级反应的反应速率常数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k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的单位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=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？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设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R= k[A]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k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的单位为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min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3.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问二级反应的反应速率常数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k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的单位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=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？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设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R= k[A]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k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的单位为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min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4.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三级反应的反应速率常数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k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的单位为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min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-1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5.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四级反应的反应速率常数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k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的单位为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-3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min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/>
                <a:sym typeface="Wingdings" pitchFamily="2" charset="2"/>
              </a:rPr>
              <a:t>-1</a:t>
            </a:r>
            <a:endParaRPr lang="en-US" altLang="zh-CN" sz="2800" dirty="0" smtClean="0">
              <a:latin typeface="方正兰亭超细黑简体" pitchFamily="2" charset="-122"/>
              <a:ea typeface="方正兰亭超细黑简体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86408" y="2229"/>
            <a:ext cx="7571184" cy="1064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.2.2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反应物浓度与化学反应速率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29400" y="5105400"/>
            <a:ext cx="1447800" cy="381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629400" y="5715000"/>
            <a:ext cx="1447800" cy="381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408" y="274638"/>
            <a:ext cx="7571184" cy="922114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20</a:t>
            </a:r>
            <a:r>
              <a:rPr 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.2.3 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反应温度与化学反应速率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一般上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，化学反应的温度越高，反应速率越大。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升高温度能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增加高能量的分子、增加有效碰撞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有效碰撞：碰撞的粒子要有足够的能量及适当的碰撞位置和方向，才会引起反应。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pic>
        <p:nvPicPr>
          <p:cNvPr id="4098" name="Picture 2" descr="C:\Users\user\Desktop\factor-affecting-reactionrate-7-72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79"/>
          <a:stretch>
            <a:fillRect/>
          </a:stretch>
        </p:blipFill>
        <p:spPr bwMode="auto">
          <a:xfrm>
            <a:off x="1981200" y="3124200"/>
            <a:ext cx="573601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user\Desktop\IMG_20180620_103313.jpg"/>
          <p:cNvPicPr>
            <a:picLocks noChangeAspect="1" noChangeArrowheads="1"/>
          </p:cNvPicPr>
          <p:nvPr/>
        </p:nvPicPr>
        <p:blipFill>
          <a:blip r:embed="rId4" cstate="print"/>
          <a:srcRect l="6662" t="24450" r="36765" b="46656"/>
          <a:stretch>
            <a:fillRect/>
          </a:stretch>
        </p:blipFill>
        <p:spPr bwMode="auto">
          <a:xfrm>
            <a:off x="2057400" y="3124200"/>
            <a:ext cx="5486400" cy="35284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411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24000"/>
            <a:ext cx="82296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活化能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E</a:t>
            </a:r>
            <a:r>
              <a:rPr lang="en-US" altLang="zh-CN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a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：使反应物分子变成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活化分子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(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高能量的分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		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子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)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所需的最低能量值。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pic>
        <p:nvPicPr>
          <p:cNvPr id="5122" name="Picture 2" descr="C:\Users\user\Desktop\201105241032231273530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057400"/>
            <a:ext cx="6459472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38808" y="0"/>
            <a:ext cx="7571184" cy="922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.2.3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反应温度与化学反应速率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67400" y="3581400"/>
            <a:ext cx="3057247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正反应：放热反应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5867400" y="4495800"/>
            <a:ext cx="3057247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逆反应：吸热反应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6329786" y="2057400"/>
            <a:ext cx="151881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E</a:t>
            </a:r>
            <a:r>
              <a:rPr lang="en-US" altLang="zh-CN" sz="2800" baseline="-25000" dirty="0" smtClean="0"/>
              <a:t>a</a:t>
            </a:r>
            <a:r>
              <a:rPr lang="en-US" altLang="zh-CN" sz="2800" dirty="0" smtClean="0"/>
              <a:t> </a:t>
            </a:r>
            <a:r>
              <a:rPr lang="zh-CN" altLang="en-US" sz="2800" baseline="-25000" dirty="0" smtClean="0"/>
              <a:t>正  </a:t>
            </a:r>
            <a:r>
              <a:rPr lang="en-US" altLang="zh-CN" sz="2800" dirty="0" smtClean="0"/>
              <a:t>= </a:t>
            </a:r>
            <a:r>
              <a:rPr lang="zh-CN" altLang="en-US" sz="2800" dirty="0" smtClean="0"/>
              <a:t>？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6405986" y="2590800"/>
            <a:ext cx="151881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E</a:t>
            </a:r>
            <a:r>
              <a:rPr lang="en-US" altLang="zh-CN" sz="2800" baseline="-25000" dirty="0" smtClean="0"/>
              <a:t>a</a:t>
            </a:r>
            <a:r>
              <a:rPr lang="en-US" altLang="zh-CN" sz="2800" dirty="0" smtClean="0"/>
              <a:t> </a:t>
            </a:r>
            <a:r>
              <a:rPr lang="zh-CN" altLang="en-US" sz="2800" baseline="-25000" dirty="0" smtClean="0"/>
              <a:t>逆  </a:t>
            </a:r>
            <a:r>
              <a:rPr lang="en-US" altLang="zh-CN" sz="2800" dirty="0" smtClean="0"/>
              <a:t>= </a:t>
            </a:r>
            <a:r>
              <a:rPr lang="zh-CN" altLang="en-US" sz="2800" dirty="0" smtClean="0"/>
              <a:t>？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772307" y="2895600"/>
            <a:ext cx="732893" cy="523220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72307" y="3972580"/>
            <a:ext cx="550151" cy="523220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02649" y="5191780"/>
            <a:ext cx="550151" cy="523220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20386" y="2057400"/>
            <a:ext cx="827471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40kJ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7402129" y="2600980"/>
            <a:ext cx="827471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90kJ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2057400" y="6029980"/>
            <a:ext cx="6109493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一般上，吸热反应的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Ea&gt;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放热反应的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Ea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3124200"/>
            <a:ext cx="1524776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∆H</a:t>
            </a:r>
            <a:r>
              <a:rPr lang="zh-CN" altLang="en-US" sz="2800" baseline="-25000" dirty="0" smtClean="0"/>
              <a:t>正 </a:t>
            </a:r>
            <a:r>
              <a:rPr lang="en-US" altLang="zh-CN" sz="2800" dirty="0" smtClean="0"/>
              <a:t>= </a:t>
            </a:r>
            <a:r>
              <a:rPr lang="zh-CN" altLang="en-US" sz="2800" dirty="0" smtClean="0"/>
              <a:t>？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7396943" y="3134380"/>
            <a:ext cx="938077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-50kJ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0" y="4038600"/>
            <a:ext cx="1524776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∆H</a:t>
            </a:r>
            <a:r>
              <a:rPr lang="zh-CN" altLang="en-US" sz="2800" baseline="-25000" dirty="0" smtClean="0"/>
              <a:t>逆 </a:t>
            </a:r>
            <a:r>
              <a:rPr lang="en-US" altLang="zh-CN" sz="2800" dirty="0" smtClean="0"/>
              <a:t>= </a:t>
            </a:r>
            <a:r>
              <a:rPr lang="zh-CN" altLang="en-US" sz="2800" dirty="0" smtClean="0"/>
              <a:t>？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7396943" y="4048780"/>
            <a:ext cx="827471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50kJ</a:t>
            </a:r>
            <a:endParaRPr lang="en-US" sz="2800" dirty="0"/>
          </a:p>
        </p:txBody>
      </p:sp>
      <p:sp>
        <p:nvSpPr>
          <p:cNvPr id="21" name="Rounded Rectangle 20"/>
          <p:cNvSpPr/>
          <p:nvPr/>
        </p:nvSpPr>
        <p:spPr>
          <a:xfrm>
            <a:off x="7391400" y="3581400"/>
            <a:ext cx="1447800" cy="533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391400" y="4495800"/>
            <a:ext cx="1447800" cy="533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4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81000" y="924000"/>
            <a:ext cx="8229600" cy="54006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活化能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E</a:t>
            </a:r>
            <a:r>
              <a:rPr lang="en-US" altLang="zh-CN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a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：使反应物分子变成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活化分子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(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高能量的分子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)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所需的最低能量值。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吸热反应或放热反应都有一个活化过程。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普通分子进入活化状态所需的时间决定一个化学反应的反应速率；即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Ea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越高，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越小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38808" y="0"/>
            <a:ext cx="7571184" cy="922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.2.3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反应温度与化学反应速率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408" y="274638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分子动能分布曲线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兰亭超细黑简体" pitchFamily="2" charset="-122"/>
              <a:ea typeface="方正兰亭超细黑简体" pitchFamily="2" charset="-122"/>
            </a:endParaRPr>
          </a:p>
        </p:txBody>
      </p:sp>
      <p:pic>
        <p:nvPicPr>
          <p:cNvPr id="6146" name="Picture 2" descr="C:\Users\user\Desktop\yuxi51.gif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057"/>
          <a:stretch/>
        </p:blipFill>
        <p:spPr bwMode="auto">
          <a:xfrm>
            <a:off x="1295400" y="838200"/>
            <a:ext cx="69342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71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0" y="1076400"/>
            <a:ext cx="4419600" cy="56292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这两条曲线下的面积是一样的，即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分子总数相同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Ea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不随温度而改变。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温度越高，含高能量的分子越多。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因此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温度越高，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itchFamily="2" charset="-122"/>
                <a:ea typeface="方正兰亭超细黑简体" pitchFamily="2" charset="-122"/>
              </a:rPr>
              <a:t>越快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当温度升高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10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时，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 n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=2n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pic>
        <p:nvPicPr>
          <p:cNvPr id="7" name="Picture 6" descr="IMG_20180620_105427.jpg"/>
          <p:cNvPicPr>
            <a:picLocks noChangeAspect="1"/>
          </p:cNvPicPr>
          <p:nvPr/>
        </p:nvPicPr>
        <p:blipFill>
          <a:blip r:embed="rId3" cstate="print"/>
          <a:srcRect l="11096" t="46245" r="22771" b="20000"/>
          <a:stretch>
            <a:fillRect/>
          </a:stretch>
        </p:blipFill>
        <p:spPr>
          <a:xfrm>
            <a:off x="152400" y="1295400"/>
            <a:ext cx="4343400" cy="487680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38808" y="0"/>
            <a:ext cx="7571184" cy="922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.2.3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反应温度与化学反应速率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819400" y="3733800"/>
            <a:ext cx="152400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1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9600" y="1076400"/>
            <a:ext cx="8382000" cy="56292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温度每升高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10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可增加到原来的约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倍。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	</a:t>
            </a:r>
            <a:r>
              <a:rPr lang="en-US" altLang="zh-CN" sz="44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en-US" altLang="zh-CN" sz="4400" baseline="-250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r>
              <a:rPr lang="en-US" altLang="zh-CN" sz="4400" dirty="0" smtClean="0">
                <a:latin typeface="方正兰亭超细黑简体" pitchFamily="2" charset="-122"/>
                <a:ea typeface="方正兰亭超细黑简体" pitchFamily="2" charset="-122"/>
              </a:rPr>
              <a:t> = 2  R</a:t>
            </a:r>
            <a:r>
              <a:rPr lang="en-US" altLang="zh-CN" sz="4400" baseline="-25000" dirty="0" smtClean="0">
                <a:latin typeface="方正兰亭超细黑简体" pitchFamily="2" charset="-122"/>
                <a:ea typeface="方正兰亭超细黑简体" pitchFamily="2" charset="-122"/>
              </a:rPr>
              <a:t>1</a:t>
            </a: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例：某反应在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30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时反应速率为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，求在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55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时其反应速率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=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？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/>
              <a:t>			∆T= 55-30</a:t>
            </a:r>
          </a:p>
          <a:p>
            <a:pPr marL="0" indent="0">
              <a:buNone/>
            </a:pPr>
            <a:r>
              <a:rPr lang="en-US" altLang="zh-CN" sz="2800" dirty="0" smtClean="0"/>
              <a:t>			     =25</a:t>
            </a:r>
          </a:p>
          <a:p>
            <a:pPr marL="0" indent="0">
              <a:buNone/>
            </a:pPr>
            <a:r>
              <a:rPr lang="en-US" altLang="zh-CN" sz="2800" dirty="0" smtClean="0"/>
              <a:t>			R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 = 2</a:t>
            </a:r>
            <a:r>
              <a:rPr lang="en-US" altLang="zh-CN" sz="2800" baseline="30000" dirty="0" smtClean="0"/>
              <a:t>2.5</a:t>
            </a:r>
            <a:r>
              <a:rPr lang="en-US" altLang="zh-CN" sz="2800" dirty="0" smtClean="0"/>
              <a:t> R</a:t>
            </a:r>
          </a:p>
          <a:p>
            <a:pPr marL="0" indent="0">
              <a:buNone/>
            </a:pPr>
            <a:r>
              <a:rPr lang="en-US" sz="2800" dirty="0" smtClean="0"/>
              <a:t>    			     </a:t>
            </a:r>
            <a:r>
              <a:rPr lang="en-US" altLang="zh-CN" sz="2800" dirty="0" smtClean="0"/>
              <a:t>= 5.66R</a:t>
            </a:r>
            <a:endParaRPr lang="en-US" sz="2800" dirty="0" smtClean="0"/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938808" y="0"/>
            <a:ext cx="7571184" cy="922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.2.3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反应温度与化学反应速率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3986390" y="1748135"/>
            <a:ext cx="661810" cy="766465"/>
            <a:chOff x="1807070" y="3729335"/>
            <a:chExt cx="661810" cy="766465"/>
          </a:xfrm>
        </p:grpSpPr>
        <p:sp>
          <p:nvSpPr>
            <p:cNvPr id="8" name="TextBox 7"/>
            <p:cNvSpPr txBox="1"/>
            <p:nvPr/>
          </p:nvSpPr>
          <p:spPr>
            <a:xfrm>
              <a:off x="1828800" y="3729335"/>
              <a:ext cx="508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endParaRPr lang="en-US" sz="2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200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828800" y="4108747"/>
              <a:ext cx="64008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371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9600" y="1076400"/>
            <a:ext cx="8382000" cy="56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400" baseline="-25000" dirty="0" smtClean="0">
                <a:latin typeface="方正兰亭超细黑简体" pitchFamily="2" charset="-122"/>
                <a:ea typeface="方正兰亭超细黑简体" pitchFamily="2" charset="-122"/>
              </a:rPr>
              <a:t>补充题：</a:t>
            </a:r>
            <a:endParaRPr lang="en-US" altLang="zh-CN" sz="4400" baseline="-250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某反应在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25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时反应速率为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，求在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5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时其反应速率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=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？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/>
              <a:t>			∆T= -20</a:t>
            </a:r>
          </a:p>
          <a:p>
            <a:pPr marL="0" indent="0">
              <a:buNone/>
            </a:pPr>
            <a:r>
              <a:rPr lang="en-US" altLang="zh-CN" sz="2800" dirty="0" smtClean="0"/>
              <a:t>			</a:t>
            </a:r>
            <a:r>
              <a:rPr lang="en-US" altLang="zh-CN" sz="4000" dirty="0" smtClean="0"/>
              <a:t>R</a:t>
            </a:r>
            <a:r>
              <a:rPr lang="en-US" altLang="zh-CN" sz="4000" baseline="-25000" dirty="0" smtClean="0"/>
              <a:t>2</a:t>
            </a:r>
            <a:r>
              <a:rPr lang="en-US" altLang="zh-CN" sz="4000" dirty="0" smtClean="0"/>
              <a:t> = 2</a:t>
            </a:r>
            <a:r>
              <a:rPr lang="en-US" altLang="zh-CN" sz="4000" baseline="30000" dirty="0" smtClean="0"/>
              <a:t> </a:t>
            </a:r>
            <a:r>
              <a:rPr lang="en-US" altLang="zh-CN" sz="4000" dirty="0" smtClean="0"/>
              <a:t>   R</a:t>
            </a:r>
          </a:p>
          <a:p>
            <a:pPr marL="0" indent="0">
              <a:buNone/>
            </a:pPr>
            <a:r>
              <a:rPr lang="en-US" altLang="zh-CN" sz="4000" dirty="0" smtClean="0"/>
              <a:t>			R</a:t>
            </a:r>
            <a:r>
              <a:rPr lang="en-US" altLang="zh-CN" sz="4000" baseline="-25000" dirty="0" smtClean="0"/>
              <a:t>2</a:t>
            </a:r>
            <a:r>
              <a:rPr lang="en-US" altLang="zh-CN" sz="4000" dirty="0" smtClean="0"/>
              <a:t> = 2</a:t>
            </a:r>
            <a:r>
              <a:rPr lang="en-US" altLang="zh-CN" sz="4000" baseline="30000" dirty="0" smtClean="0"/>
              <a:t>-2</a:t>
            </a:r>
            <a:r>
              <a:rPr lang="en-US" altLang="zh-CN" sz="4000" dirty="0" smtClean="0"/>
              <a:t> R</a:t>
            </a:r>
            <a:r>
              <a:rPr lang="en-US" sz="4000" dirty="0" smtClean="0"/>
              <a:t>    			    </a:t>
            </a:r>
          </a:p>
          <a:p>
            <a:pPr marL="0" indent="0">
              <a:buNone/>
            </a:pPr>
            <a:r>
              <a:rPr lang="en-US" sz="4000" dirty="0" smtClean="0"/>
              <a:t> 			     </a:t>
            </a:r>
            <a:r>
              <a:rPr lang="en-US" altLang="zh-CN" sz="4000" dirty="0" smtClean="0"/>
              <a:t>=       R</a:t>
            </a:r>
            <a:endParaRPr lang="en-US" sz="4000" dirty="0" smtClean="0"/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938808" y="0"/>
            <a:ext cx="7571184" cy="922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.2.3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反应温度与化学反应速率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519790" y="2814935"/>
            <a:ext cx="530203" cy="766465"/>
            <a:chOff x="1807070" y="3729335"/>
            <a:chExt cx="530203" cy="766465"/>
          </a:xfrm>
        </p:grpSpPr>
        <p:sp>
          <p:nvSpPr>
            <p:cNvPr id="8" name="TextBox 7"/>
            <p:cNvSpPr txBox="1"/>
            <p:nvPr/>
          </p:nvSpPr>
          <p:spPr>
            <a:xfrm>
              <a:off x="1828800" y="3729335"/>
              <a:ext cx="508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endParaRPr lang="en-US" sz="2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200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3"/>
          <p:cNvGrpSpPr/>
          <p:nvPr/>
        </p:nvGrpSpPr>
        <p:grpSpPr>
          <a:xfrm>
            <a:off x="4419603" y="4419600"/>
            <a:ext cx="685797" cy="904220"/>
            <a:chOff x="2950713" y="1366479"/>
            <a:chExt cx="483072" cy="904220"/>
          </a:xfrm>
        </p:grpSpPr>
        <p:grpSp>
          <p:nvGrpSpPr>
            <p:cNvPr id="15" name="Group 24"/>
            <p:cNvGrpSpPr/>
            <p:nvPr/>
          </p:nvGrpSpPr>
          <p:grpSpPr>
            <a:xfrm>
              <a:off x="2950713" y="1366479"/>
              <a:ext cx="448084" cy="523220"/>
              <a:chOff x="2950713" y="1366479"/>
              <a:chExt cx="448084" cy="523220"/>
            </a:xfrm>
          </p:grpSpPr>
          <p:cxnSp>
            <p:nvCxnSpPr>
              <p:cNvPr id="17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3004383" y="1366479"/>
                <a:ext cx="3944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/>
                  <a:t>1</a:t>
                </a:r>
                <a:endParaRPr lang="en-US" sz="2800" dirty="0"/>
              </a:p>
            </p:txBody>
          </p:sp>
        </p:grpSp>
        <p:sp>
          <p:nvSpPr>
            <p:cNvPr id="16" name="TextBox 5"/>
            <p:cNvSpPr txBox="1"/>
            <p:nvPr/>
          </p:nvSpPr>
          <p:spPr>
            <a:xfrm>
              <a:off x="3004386" y="1747479"/>
              <a:ext cx="4293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4038600" y="25146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1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382000" cy="62484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补充题：</a:t>
            </a:r>
            <a:endParaRPr lang="en-US" altLang="zh-CN" sz="4400" baseline="-250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某反应在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25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时反应速率为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0.02Ms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，欲使其反应速率增加至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0.16Ms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-1</a:t>
            </a:r>
            <a:r>
              <a:rPr lang="zh-CN" altLang="en-US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 ，则温度至少需增加至多少</a:t>
            </a:r>
            <a:r>
              <a:rPr lang="en-US" altLang="zh-CN" sz="2800" baseline="30000" dirty="0" err="1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err="1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？</a:t>
            </a:r>
            <a:endParaRPr lang="en-US" altLang="zh-CN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/>
              <a:t>			</a:t>
            </a:r>
            <a:r>
              <a:rPr lang="en-US" altLang="zh-CN" sz="4000" dirty="0" smtClean="0"/>
              <a:t>R</a:t>
            </a:r>
            <a:r>
              <a:rPr lang="en-US" altLang="zh-CN" sz="4000" baseline="-25000" dirty="0" smtClean="0"/>
              <a:t>2</a:t>
            </a:r>
            <a:r>
              <a:rPr lang="en-US" altLang="zh-CN" sz="4000" dirty="0" smtClean="0"/>
              <a:t>    = 2   R</a:t>
            </a:r>
            <a:r>
              <a:rPr lang="en-US" altLang="zh-CN" sz="4000" baseline="-25000" dirty="0" smtClean="0"/>
              <a:t>1</a:t>
            </a:r>
            <a:endParaRPr lang="en-US" altLang="zh-CN" sz="40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4000" dirty="0" smtClean="0"/>
              <a:t>    		       2      </a:t>
            </a:r>
            <a:r>
              <a:rPr lang="en-US" altLang="zh-CN" sz="4000" dirty="0" smtClean="0"/>
              <a:t>= 	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000" dirty="0" smtClean="0"/>
              <a:t>		       2      </a:t>
            </a:r>
            <a:r>
              <a:rPr lang="en-US" altLang="zh-CN" sz="4000" dirty="0" smtClean="0"/>
              <a:t>= 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4000" dirty="0" smtClean="0"/>
              <a:t>			       =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dirty="0" smtClean="0"/>
              <a:t>			∆T</a:t>
            </a:r>
            <a:r>
              <a:rPr lang="en-US" sz="2800" dirty="0" smtClean="0"/>
              <a:t>      </a:t>
            </a:r>
            <a:r>
              <a:rPr lang="en-US" altLang="zh-CN" sz="2800" dirty="0" smtClean="0"/>
              <a:t>= 30 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 smtClean="0"/>
              <a:t>答：温度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至少需增加至</a:t>
            </a:r>
            <a:r>
              <a:rPr lang="en-US" altLang="zh-CN" sz="2800" b="1" dirty="0" smtClean="0">
                <a:solidFill>
                  <a:srgbClr val="FF0000"/>
                </a:solidFill>
                <a:latin typeface="方正兰亭超细黑简体" pitchFamily="2" charset="-122"/>
                <a:ea typeface="方正兰亭超细黑简体" pitchFamily="2" charset="-122"/>
              </a:rPr>
              <a:t>55</a:t>
            </a:r>
            <a:r>
              <a:rPr lang="en-US" altLang="zh-CN" sz="2800" b="1" baseline="30000" dirty="0" smtClean="0">
                <a:solidFill>
                  <a:srgbClr val="FF0000"/>
                </a:solidFill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b="1" dirty="0" smtClean="0">
                <a:solidFill>
                  <a:srgbClr val="FF0000"/>
                </a:solidFill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。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</a:t>
            </a:r>
            <a:r>
              <a:rPr lang="en-US" altLang="zh-CN" sz="4000" dirty="0" smtClean="0"/>
              <a:t>	 </a:t>
            </a:r>
            <a:endParaRPr lang="en-US" sz="4000" dirty="0" smtClean="0"/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938808" y="0"/>
            <a:ext cx="7571184" cy="922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.2.3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反应温度与化学反应速率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4519790" y="2205335"/>
            <a:ext cx="530203" cy="766465"/>
            <a:chOff x="1807070" y="3729335"/>
            <a:chExt cx="530203" cy="766465"/>
          </a:xfrm>
        </p:grpSpPr>
        <p:sp>
          <p:nvSpPr>
            <p:cNvPr id="8" name="TextBox 7"/>
            <p:cNvSpPr txBox="1"/>
            <p:nvPr/>
          </p:nvSpPr>
          <p:spPr>
            <a:xfrm>
              <a:off x="1828800" y="3729335"/>
              <a:ext cx="508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endParaRPr lang="en-US" sz="2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200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"/>
          <p:cNvGrpSpPr/>
          <p:nvPr/>
        </p:nvGrpSpPr>
        <p:grpSpPr>
          <a:xfrm>
            <a:off x="4495800" y="3352800"/>
            <a:ext cx="609600" cy="1041975"/>
            <a:chOff x="2950713" y="1290279"/>
            <a:chExt cx="429399" cy="1041975"/>
          </a:xfrm>
        </p:grpSpPr>
        <p:grpSp>
          <p:nvGrpSpPr>
            <p:cNvPr id="4" name="Group 24"/>
            <p:cNvGrpSpPr/>
            <p:nvPr/>
          </p:nvGrpSpPr>
          <p:grpSpPr>
            <a:xfrm>
              <a:off x="2950713" y="1290279"/>
              <a:ext cx="394414" cy="584775"/>
              <a:chOff x="2950713" y="1290279"/>
              <a:chExt cx="394414" cy="584775"/>
            </a:xfrm>
          </p:grpSpPr>
          <p:cxnSp>
            <p:nvCxnSpPr>
              <p:cNvPr id="17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2950713" y="1290279"/>
                <a:ext cx="3944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R</a:t>
                </a:r>
                <a:r>
                  <a:rPr lang="en-US" sz="3200" baseline="-25000" dirty="0" smtClean="0"/>
                  <a:t>2</a:t>
                </a:r>
                <a:endParaRPr lang="en-US" sz="3200" dirty="0"/>
              </a:p>
            </p:txBody>
          </p:sp>
        </p:grpSp>
        <p:sp>
          <p:nvSpPr>
            <p:cNvPr id="16" name="TextBox 5"/>
            <p:cNvSpPr txBox="1"/>
            <p:nvPr/>
          </p:nvSpPr>
          <p:spPr>
            <a:xfrm>
              <a:off x="2950713" y="1747479"/>
              <a:ext cx="4293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</a:t>
              </a:r>
              <a:r>
                <a:rPr lang="en-US" sz="3200" baseline="-25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4" name="Group 12"/>
          <p:cNvGrpSpPr/>
          <p:nvPr/>
        </p:nvGrpSpPr>
        <p:grpSpPr>
          <a:xfrm>
            <a:off x="3124200" y="3195935"/>
            <a:ext cx="530203" cy="766465"/>
            <a:chOff x="1807070" y="3729335"/>
            <a:chExt cx="530203" cy="766465"/>
          </a:xfrm>
        </p:grpSpPr>
        <p:sp>
          <p:nvSpPr>
            <p:cNvPr id="15" name="TextBox 14"/>
            <p:cNvSpPr txBox="1"/>
            <p:nvPr/>
          </p:nvSpPr>
          <p:spPr>
            <a:xfrm>
              <a:off x="1828800" y="3729335"/>
              <a:ext cx="508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endParaRPr lang="en-US" sz="22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200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12"/>
          <p:cNvGrpSpPr/>
          <p:nvPr/>
        </p:nvGrpSpPr>
        <p:grpSpPr>
          <a:xfrm>
            <a:off x="3224390" y="4034135"/>
            <a:ext cx="599132" cy="766465"/>
            <a:chOff x="1807070" y="3729335"/>
            <a:chExt cx="599132" cy="766465"/>
          </a:xfrm>
        </p:grpSpPr>
        <p:sp>
          <p:nvSpPr>
            <p:cNvPr id="22" name="TextBox 21"/>
            <p:cNvSpPr txBox="1"/>
            <p:nvPr/>
          </p:nvSpPr>
          <p:spPr>
            <a:xfrm>
              <a:off x="1828800" y="3729335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r>
                <a:rPr lang="en-US" sz="2400" dirty="0" smtClean="0"/>
                <a:t> </a:t>
              </a:r>
              <a:endParaRPr lang="en-US" sz="2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200" dirty="0"/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12"/>
          <p:cNvGrpSpPr/>
          <p:nvPr/>
        </p:nvGrpSpPr>
        <p:grpSpPr>
          <a:xfrm>
            <a:off x="3200400" y="4800600"/>
            <a:ext cx="599132" cy="766465"/>
            <a:chOff x="1807070" y="3729335"/>
            <a:chExt cx="599132" cy="766465"/>
          </a:xfrm>
        </p:grpSpPr>
        <p:sp>
          <p:nvSpPr>
            <p:cNvPr id="26" name="TextBox 25"/>
            <p:cNvSpPr txBox="1"/>
            <p:nvPr/>
          </p:nvSpPr>
          <p:spPr>
            <a:xfrm>
              <a:off x="1828800" y="3729335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r>
                <a:rPr lang="en-US" sz="2400" dirty="0" smtClean="0"/>
                <a:t> </a:t>
              </a:r>
              <a:endParaRPr lang="en-US" sz="22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200" dirty="0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371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382000" cy="62484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补充题：</a:t>
            </a:r>
            <a:endParaRPr lang="en-US" altLang="zh-CN" sz="4400" baseline="-250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某反应在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60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时反应速率为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0.02Ms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，问在多少</a:t>
            </a:r>
            <a:r>
              <a:rPr lang="en-US" altLang="zh-CN" sz="2800" baseline="30000" dirty="0" err="1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err="1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时其反应速率是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0.004Ms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-1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？</a:t>
            </a:r>
            <a:endParaRPr lang="en-US" altLang="zh-CN" sz="40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4000" dirty="0" smtClean="0"/>
              <a:t>    		       2      </a:t>
            </a:r>
            <a:r>
              <a:rPr lang="en-US" altLang="zh-CN" sz="4000" dirty="0" smtClean="0"/>
              <a:t>= 	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000" dirty="0" smtClean="0"/>
              <a:t>		       2      </a:t>
            </a:r>
            <a:r>
              <a:rPr lang="en-US" altLang="zh-CN" sz="4000" dirty="0" smtClean="0"/>
              <a:t>= 0.2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4000" dirty="0" smtClean="0"/>
              <a:t>	</a:t>
            </a:r>
            <a:r>
              <a:rPr lang="en-US" altLang="zh-CN" sz="3600" dirty="0" smtClean="0"/>
              <a:t>         log</a:t>
            </a:r>
            <a:r>
              <a:rPr lang="en-US" altLang="zh-CN" sz="3600" baseline="-25000" dirty="0" smtClean="0"/>
              <a:t>2</a:t>
            </a:r>
            <a:r>
              <a:rPr lang="en-US" altLang="zh-CN" sz="3600" dirty="0" smtClean="0"/>
              <a:t> 0.2   =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600" dirty="0" smtClean="0"/>
              <a:t>			        =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dirty="0" smtClean="0"/>
              <a:t>			∆T</a:t>
            </a:r>
            <a:r>
              <a:rPr lang="en-US" sz="2800" dirty="0" smtClean="0"/>
              <a:t>      </a:t>
            </a:r>
            <a:r>
              <a:rPr lang="en-US" altLang="zh-CN" sz="2800" dirty="0" smtClean="0"/>
              <a:t>= -23.22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dirty="0" smtClean="0"/>
              <a:t>	      </a:t>
            </a:r>
            <a:r>
              <a:rPr lang="en-US" altLang="zh-CN" sz="2800" dirty="0" smtClean="0">
                <a:solidFill>
                  <a:srgbClr val="002060"/>
                </a:solidFill>
              </a:rPr>
              <a:t>∆T = T</a:t>
            </a:r>
            <a:r>
              <a:rPr lang="en-US" altLang="zh-CN" sz="2800" baseline="-25000" dirty="0" smtClean="0">
                <a:solidFill>
                  <a:srgbClr val="002060"/>
                </a:solidFill>
              </a:rPr>
              <a:t>2</a:t>
            </a:r>
            <a:r>
              <a:rPr lang="en-US" altLang="zh-CN" sz="2800" dirty="0" smtClean="0">
                <a:solidFill>
                  <a:srgbClr val="002060"/>
                </a:solidFill>
              </a:rPr>
              <a:t> - </a:t>
            </a:r>
            <a:r>
              <a:rPr lang="en-US" altLang="zh-CN" sz="2800" baseline="-25000" dirty="0" smtClean="0">
                <a:solidFill>
                  <a:srgbClr val="002060"/>
                </a:solidFill>
              </a:rPr>
              <a:t> </a:t>
            </a:r>
            <a:r>
              <a:rPr lang="en-US" altLang="zh-CN" sz="2800" dirty="0" smtClean="0">
                <a:solidFill>
                  <a:srgbClr val="002060"/>
                </a:solidFill>
              </a:rPr>
              <a:t> T</a:t>
            </a:r>
            <a:r>
              <a:rPr lang="en-US" altLang="zh-CN" sz="2800" baseline="-25000" dirty="0" smtClean="0">
                <a:solidFill>
                  <a:srgbClr val="002060"/>
                </a:solidFill>
              </a:rPr>
              <a:t>1</a:t>
            </a:r>
            <a:r>
              <a:rPr lang="en-US" altLang="zh-CN" sz="2800" dirty="0" smtClean="0">
                <a:solidFill>
                  <a:srgbClr val="002060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 smtClean="0">
                <a:solidFill>
                  <a:srgbClr val="002060"/>
                </a:solidFill>
              </a:rPr>
              <a:t>	      T</a:t>
            </a:r>
            <a:r>
              <a:rPr lang="en-US" sz="2800" baseline="-25000" dirty="0" smtClean="0">
                <a:solidFill>
                  <a:srgbClr val="002060"/>
                </a:solidFill>
              </a:rPr>
              <a:t>2</a:t>
            </a:r>
            <a:r>
              <a:rPr lang="en-US" sz="2800" dirty="0" smtClean="0">
                <a:solidFill>
                  <a:srgbClr val="002060"/>
                </a:solidFill>
              </a:rPr>
              <a:t>  = </a:t>
            </a:r>
            <a:r>
              <a:rPr lang="en-US" altLang="zh-CN" sz="2800" dirty="0" smtClean="0">
                <a:solidFill>
                  <a:srgbClr val="002060"/>
                </a:solidFill>
              </a:rPr>
              <a:t>-23.22 + 60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dirty="0" smtClean="0">
                <a:solidFill>
                  <a:srgbClr val="002060"/>
                </a:solidFill>
              </a:rPr>
              <a:t>		= 36.78</a:t>
            </a:r>
            <a:r>
              <a:rPr lang="en-US" altLang="zh-CN" sz="2800" baseline="30000" dirty="0" smtClean="0">
                <a:solidFill>
                  <a:srgbClr val="002060"/>
                </a:solidFill>
              </a:rPr>
              <a:t>o </a:t>
            </a:r>
            <a:r>
              <a:rPr lang="en-US" altLang="zh-CN" sz="2800" dirty="0" smtClean="0">
                <a:solidFill>
                  <a:srgbClr val="002060"/>
                </a:solidFill>
              </a:rPr>
              <a:t>C</a:t>
            </a:r>
            <a:endParaRPr lang="en-US" sz="2800" dirty="0" smtClean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938808" y="0"/>
            <a:ext cx="7571184" cy="922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.2.3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反应温度与化学反应速率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495800" y="2234625"/>
            <a:ext cx="609600" cy="1041975"/>
            <a:chOff x="2950713" y="1290279"/>
            <a:chExt cx="429399" cy="1041975"/>
          </a:xfrm>
        </p:grpSpPr>
        <p:grpSp>
          <p:nvGrpSpPr>
            <p:cNvPr id="4" name="Group 24"/>
            <p:cNvGrpSpPr/>
            <p:nvPr/>
          </p:nvGrpSpPr>
          <p:grpSpPr>
            <a:xfrm>
              <a:off x="2950713" y="1290279"/>
              <a:ext cx="394414" cy="584775"/>
              <a:chOff x="2950713" y="1290279"/>
              <a:chExt cx="394414" cy="584775"/>
            </a:xfrm>
          </p:grpSpPr>
          <p:cxnSp>
            <p:nvCxnSpPr>
              <p:cNvPr id="17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2950713" y="1290279"/>
                <a:ext cx="3944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R</a:t>
                </a:r>
                <a:r>
                  <a:rPr lang="en-US" sz="3200" baseline="-25000" dirty="0" smtClean="0"/>
                  <a:t>2</a:t>
                </a:r>
                <a:endParaRPr lang="en-US" sz="3200" dirty="0"/>
              </a:p>
            </p:txBody>
          </p:sp>
        </p:grpSp>
        <p:sp>
          <p:nvSpPr>
            <p:cNvPr id="16" name="TextBox 5"/>
            <p:cNvSpPr txBox="1"/>
            <p:nvPr/>
          </p:nvSpPr>
          <p:spPr>
            <a:xfrm>
              <a:off x="2950713" y="1747479"/>
              <a:ext cx="4293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</a:t>
              </a:r>
              <a:r>
                <a:rPr lang="en-US" sz="3200" baseline="-25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7" name="Group 12"/>
          <p:cNvGrpSpPr/>
          <p:nvPr/>
        </p:nvGrpSpPr>
        <p:grpSpPr>
          <a:xfrm>
            <a:off x="3124200" y="2209800"/>
            <a:ext cx="530203" cy="766465"/>
            <a:chOff x="1807070" y="3729335"/>
            <a:chExt cx="530203" cy="766465"/>
          </a:xfrm>
        </p:grpSpPr>
        <p:sp>
          <p:nvSpPr>
            <p:cNvPr id="15" name="TextBox 14"/>
            <p:cNvSpPr txBox="1"/>
            <p:nvPr/>
          </p:nvSpPr>
          <p:spPr>
            <a:xfrm>
              <a:off x="1828800" y="3729335"/>
              <a:ext cx="508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endParaRPr lang="en-US" sz="22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200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12"/>
          <p:cNvGrpSpPr/>
          <p:nvPr/>
        </p:nvGrpSpPr>
        <p:grpSpPr>
          <a:xfrm>
            <a:off x="3224390" y="2891135"/>
            <a:ext cx="599132" cy="766465"/>
            <a:chOff x="1807070" y="3729335"/>
            <a:chExt cx="599132" cy="766465"/>
          </a:xfrm>
        </p:grpSpPr>
        <p:sp>
          <p:nvSpPr>
            <p:cNvPr id="22" name="TextBox 21"/>
            <p:cNvSpPr txBox="1"/>
            <p:nvPr/>
          </p:nvSpPr>
          <p:spPr>
            <a:xfrm>
              <a:off x="1828800" y="3729335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r>
                <a:rPr lang="en-US" sz="2400" dirty="0" smtClean="0"/>
                <a:t> </a:t>
              </a:r>
              <a:endParaRPr lang="en-US" sz="2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200" dirty="0"/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4267200" y="3733800"/>
            <a:ext cx="599132" cy="766465"/>
            <a:chOff x="1807070" y="3729335"/>
            <a:chExt cx="599132" cy="766465"/>
          </a:xfrm>
        </p:grpSpPr>
        <p:sp>
          <p:nvSpPr>
            <p:cNvPr id="26" name="TextBox 25"/>
            <p:cNvSpPr txBox="1"/>
            <p:nvPr/>
          </p:nvSpPr>
          <p:spPr>
            <a:xfrm>
              <a:off x="1828800" y="3729335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r>
                <a:rPr lang="en-US" sz="2400" dirty="0" smtClean="0"/>
                <a:t> </a:t>
              </a:r>
              <a:endParaRPr lang="en-US" sz="22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200" dirty="0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4267200" y="4338935"/>
            <a:ext cx="599132" cy="838200"/>
            <a:chOff x="1807070" y="3657600"/>
            <a:chExt cx="599132" cy="838200"/>
          </a:xfrm>
        </p:grpSpPr>
        <p:sp>
          <p:nvSpPr>
            <p:cNvPr id="30" name="TextBox 29"/>
            <p:cNvSpPr txBox="1"/>
            <p:nvPr/>
          </p:nvSpPr>
          <p:spPr>
            <a:xfrm>
              <a:off x="1828800" y="365760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r>
                <a:rPr lang="en-US" sz="2400" dirty="0" smtClean="0"/>
                <a:t> </a:t>
              </a:r>
              <a:endParaRPr lang="en-US" sz="20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000" dirty="0"/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2895600" y="4338935"/>
            <a:ext cx="1087157" cy="842665"/>
            <a:chOff x="1807070" y="3653135"/>
            <a:chExt cx="1087157" cy="842665"/>
          </a:xfrm>
        </p:grpSpPr>
        <p:sp>
          <p:nvSpPr>
            <p:cNvPr id="34" name="TextBox 33"/>
            <p:cNvSpPr txBox="1"/>
            <p:nvPr/>
          </p:nvSpPr>
          <p:spPr>
            <a:xfrm>
              <a:off x="1807070" y="3653135"/>
              <a:ext cx="10871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log 0.2 </a:t>
              </a:r>
              <a:endParaRPr lang="en-US" sz="20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807070" y="4034135"/>
              <a:ext cx="7857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log 2</a:t>
              </a:r>
              <a:endParaRPr lang="en-US" sz="2000" dirty="0"/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1828800" y="4108747"/>
              <a:ext cx="100584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371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382000" cy="62484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补充题：</a:t>
            </a:r>
            <a:endParaRPr lang="en-US" altLang="zh-CN" sz="2800" baseline="-250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A + 2B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 3C + D </a:t>
            </a:r>
          </a:p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在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20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B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=0.02Ms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，问在多少</a:t>
            </a:r>
            <a:r>
              <a:rPr lang="en-US" altLang="zh-CN" sz="2800" baseline="30000" dirty="0" err="1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err="1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=0.9Ms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-1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？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lang="zh-CN" altLang="en-US" sz="2800" dirty="0" smtClean="0"/>
              <a:t>根据化学方程式 </a:t>
            </a:r>
            <a:r>
              <a:rPr lang="en-US" altLang="zh-CN" sz="2800" dirty="0" smtClean="0"/>
              <a:t>R</a:t>
            </a:r>
            <a:r>
              <a:rPr lang="en-US" altLang="zh-CN" sz="2800" baseline="-25000" dirty="0" smtClean="0"/>
              <a:t>B</a:t>
            </a:r>
            <a:r>
              <a:rPr lang="en-US" altLang="zh-CN" sz="2800" dirty="0" smtClean="0"/>
              <a:t> = </a:t>
            </a:r>
            <a:r>
              <a:rPr lang="en-US" sz="2800" dirty="0" smtClean="0"/>
              <a:t>   	   </a:t>
            </a:r>
            <a:r>
              <a:rPr lang="en-US" sz="2800" dirty="0" err="1" smtClean="0"/>
              <a:t>R</a:t>
            </a:r>
            <a:r>
              <a:rPr lang="en-US" sz="2800" baseline="-25000" dirty="0" err="1" smtClean="0"/>
              <a:t>c</a:t>
            </a:r>
            <a:r>
              <a:rPr lang="en-US" sz="2800" baseline="-25000" dirty="0" smtClean="0"/>
              <a:t> </a:t>
            </a:r>
            <a:r>
              <a:rPr lang="en-US" sz="2800" dirty="0" smtClean="0"/>
              <a:t> ,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 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T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时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en-US" altLang="zh-CN" sz="2800" baseline="-25000" dirty="0" smtClean="0">
                <a:latin typeface="方正兰亭超细黑简体" pitchFamily="2" charset="-122"/>
                <a:ea typeface="方正兰亭超细黑简体" pitchFamily="2" charset="-122"/>
              </a:rPr>
              <a:t>B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’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= 0.6Ms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-1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 </a:t>
            </a:r>
            <a:endParaRPr lang="en-US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/>
              <a:t>       			2      </a:t>
            </a:r>
            <a:r>
              <a:rPr lang="en-US" altLang="zh-CN" sz="2800" dirty="0" smtClean="0"/>
              <a:t>= 	  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 dirty="0" smtClean="0"/>
              <a:t>		            2     </a:t>
            </a:r>
            <a:r>
              <a:rPr lang="en-US" altLang="zh-CN" sz="2800" dirty="0" smtClean="0"/>
              <a:t>= 30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/>
              <a:t>	                 log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 30 = </a:t>
            </a:r>
            <a:r>
              <a:rPr lang="en-US" sz="2800" dirty="0" smtClean="0"/>
              <a:t> </a:t>
            </a:r>
            <a:endParaRPr lang="en-US" altLang="zh-CN" sz="2800" dirty="0" smtClean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/>
              <a:t>			 ∆T  = 49.07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/>
              <a:t>	      </a:t>
            </a:r>
            <a:r>
              <a:rPr lang="en-US" altLang="zh-CN" sz="2800" dirty="0" smtClean="0">
                <a:solidFill>
                  <a:srgbClr val="002060"/>
                </a:solidFill>
              </a:rPr>
              <a:t> T</a:t>
            </a:r>
            <a:r>
              <a:rPr lang="en-US" altLang="zh-CN" sz="2800" baseline="-25000" dirty="0" smtClean="0">
                <a:solidFill>
                  <a:srgbClr val="002060"/>
                </a:solidFill>
              </a:rPr>
              <a:t>2</a:t>
            </a:r>
            <a:r>
              <a:rPr lang="en-US" altLang="zh-CN" sz="2800" dirty="0" smtClean="0">
                <a:solidFill>
                  <a:srgbClr val="002060"/>
                </a:solidFill>
              </a:rPr>
              <a:t> = 69.07</a:t>
            </a:r>
            <a:r>
              <a:rPr lang="en-US" altLang="zh-CN" sz="2800" baseline="30000" dirty="0" smtClean="0">
                <a:solidFill>
                  <a:srgbClr val="002060"/>
                </a:solidFill>
              </a:rPr>
              <a:t>o </a:t>
            </a:r>
            <a:r>
              <a:rPr lang="en-US" altLang="zh-CN" sz="2800" dirty="0" smtClean="0">
                <a:solidFill>
                  <a:srgbClr val="002060"/>
                </a:solidFill>
              </a:rPr>
              <a:t>C</a:t>
            </a:r>
            <a:endParaRPr lang="en-US" sz="2800" dirty="0" smtClean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938808" y="0"/>
            <a:ext cx="7571184" cy="922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</a:t>
            </a:r>
            <a:r>
              <a:rPr kumimoji="0" 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.2.3 </a:t>
            </a:r>
            <a:r>
              <a:rPr kumimoji="0" lang="zh-CN" altLang="en-US" sz="3600" b="1" i="0" u="none" strike="noStrike" kern="1200" cap="none" spc="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方正兰亭超细黑简体" pitchFamily="2" charset="-122"/>
                <a:ea typeface="方正兰亭超细黑简体" pitchFamily="2" charset="-122"/>
                <a:cs typeface="+mj-cs"/>
              </a:rPr>
              <a:t>反应温度与化学反应速率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267200" y="3276600"/>
            <a:ext cx="609600" cy="842665"/>
            <a:chOff x="2950713" y="1366479"/>
            <a:chExt cx="429399" cy="842665"/>
          </a:xfrm>
        </p:grpSpPr>
        <p:grpSp>
          <p:nvGrpSpPr>
            <p:cNvPr id="3" name="Group 24"/>
            <p:cNvGrpSpPr/>
            <p:nvPr/>
          </p:nvGrpSpPr>
          <p:grpSpPr>
            <a:xfrm>
              <a:off x="2950713" y="1366479"/>
              <a:ext cx="394414" cy="461665"/>
              <a:chOff x="2950713" y="1366479"/>
              <a:chExt cx="394414" cy="461665"/>
            </a:xfrm>
          </p:grpSpPr>
          <p:cxnSp>
            <p:nvCxnSpPr>
              <p:cNvPr id="17" name="Straight Connector 8"/>
              <p:cNvCxnSpPr/>
              <p:nvPr/>
            </p:nvCxnSpPr>
            <p:spPr>
              <a:xfrm>
                <a:off x="2950713" y="1823679"/>
                <a:ext cx="32205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2950713" y="1366479"/>
                <a:ext cx="3944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R</a:t>
                </a:r>
                <a:r>
                  <a:rPr lang="en-US" sz="2400" baseline="-25000" dirty="0" smtClean="0"/>
                  <a:t>B</a:t>
                </a:r>
                <a:r>
                  <a:rPr lang="en-US" sz="2400" baseline="30000" dirty="0" smtClean="0"/>
                  <a:t>’</a:t>
                </a:r>
                <a:endParaRPr lang="en-US" sz="2400" dirty="0"/>
              </a:p>
            </p:txBody>
          </p:sp>
        </p:grpSp>
        <p:sp>
          <p:nvSpPr>
            <p:cNvPr id="16" name="TextBox 5"/>
            <p:cNvSpPr txBox="1"/>
            <p:nvPr/>
          </p:nvSpPr>
          <p:spPr>
            <a:xfrm>
              <a:off x="2950713" y="1747479"/>
              <a:ext cx="4293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</a:t>
              </a:r>
              <a:r>
                <a:rPr lang="en-US" sz="2400" baseline="-25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  <a:endPara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3733800" y="2281535"/>
            <a:ext cx="478930" cy="766465"/>
            <a:chOff x="1807070" y="3729335"/>
            <a:chExt cx="478930" cy="766465"/>
          </a:xfrm>
        </p:grpSpPr>
        <p:sp>
          <p:nvSpPr>
            <p:cNvPr id="15" name="TextBox 14"/>
            <p:cNvSpPr txBox="1"/>
            <p:nvPr/>
          </p:nvSpPr>
          <p:spPr>
            <a:xfrm>
              <a:off x="1828800" y="37293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2</a:t>
              </a:r>
              <a:endParaRPr lang="en-US" sz="22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07070" y="40341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3</a:t>
              </a:r>
              <a:endParaRPr lang="en-US" sz="2200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12"/>
          <p:cNvGrpSpPr/>
          <p:nvPr/>
        </p:nvGrpSpPr>
        <p:grpSpPr>
          <a:xfrm>
            <a:off x="3331070" y="3352800"/>
            <a:ext cx="501348" cy="555486"/>
            <a:chOff x="1807070" y="3847981"/>
            <a:chExt cx="501348" cy="555486"/>
          </a:xfrm>
        </p:grpSpPr>
        <p:sp>
          <p:nvSpPr>
            <p:cNvPr id="22" name="TextBox 21"/>
            <p:cNvSpPr txBox="1"/>
            <p:nvPr/>
          </p:nvSpPr>
          <p:spPr>
            <a:xfrm>
              <a:off x="1828800" y="3847981"/>
              <a:ext cx="479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∆T</a:t>
              </a:r>
              <a:r>
                <a:rPr lang="en-US" dirty="0" smtClean="0"/>
                <a:t> 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07070" y="403413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12"/>
          <p:cNvGrpSpPr/>
          <p:nvPr/>
        </p:nvGrpSpPr>
        <p:grpSpPr>
          <a:xfrm>
            <a:off x="3276600" y="3886200"/>
            <a:ext cx="501348" cy="555486"/>
            <a:chOff x="1807070" y="3847981"/>
            <a:chExt cx="501348" cy="555486"/>
          </a:xfrm>
        </p:grpSpPr>
        <p:sp>
          <p:nvSpPr>
            <p:cNvPr id="26" name="TextBox 25"/>
            <p:cNvSpPr txBox="1"/>
            <p:nvPr/>
          </p:nvSpPr>
          <p:spPr>
            <a:xfrm>
              <a:off x="1828800" y="3847981"/>
              <a:ext cx="479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∆T</a:t>
              </a:r>
              <a:r>
                <a:rPr lang="en-US" dirty="0" smtClean="0"/>
                <a:t> 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07070" y="403413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28"/>
          <p:cNvGrpSpPr/>
          <p:nvPr/>
        </p:nvGrpSpPr>
        <p:grpSpPr>
          <a:xfrm>
            <a:off x="4125268" y="4731603"/>
            <a:ext cx="599132" cy="754797"/>
            <a:chOff x="1807070" y="3741003"/>
            <a:chExt cx="599132" cy="754797"/>
          </a:xfrm>
        </p:grpSpPr>
        <p:sp>
          <p:nvSpPr>
            <p:cNvPr id="30" name="TextBox 29"/>
            <p:cNvSpPr txBox="1"/>
            <p:nvPr/>
          </p:nvSpPr>
          <p:spPr>
            <a:xfrm>
              <a:off x="1828800" y="3741003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/>
                <a:t>∆T</a:t>
              </a:r>
              <a:r>
                <a:rPr lang="en-US" sz="2400" dirty="0" smtClean="0"/>
                <a:t> </a:t>
              </a:r>
              <a:endParaRPr lang="en-US" sz="20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000" dirty="0"/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371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33400" y="762000"/>
            <a:ext cx="8305800" cy="56292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buNone/>
            </a:pPr>
            <a:r>
              <a:rPr lang="zh-CN" altLang="en-US" sz="2800" u="sng" dirty="0" smtClean="0">
                <a:latin typeface="方正兰亭超细黑简体" pitchFamily="2" charset="-122"/>
                <a:ea typeface="方正兰亭超细黑简体" pitchFamily="2" charset="-122"/>
              </a:rPr>
              <a:t>交流分享</a:t>
            </a:r>
            <a:endParaRPr lang="en-US" altLang="zh-CN" sz="2800" u="sng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lnSpc>
                <a:spcPct val="11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设常温为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24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C,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则温度上升了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20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o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C,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反应速率加快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4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倍。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lnSpc>
                <a:spcPct val="11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可保存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天。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(1)Ea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不随温度而改变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lnSpc>
                <a:spcPct val="11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(2)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一般上温度越高，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k(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反应速率常数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)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越大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lnSpc>
                <a:spcPct val="11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(3)Ea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越大，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k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越小，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R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越小。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lnSpc>
                <a:spcPct val="11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2. 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温度高，化学反应速率增大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lnSpc>
                <a:spcPct val="110000"/>
              </a:lnSpc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</a:t>
            </a:r>
            <a:r>
              <a:rPr lang="en-US" altLang="zh-CN" sz="2800" dirty="0" err="1" smtClean="0">
                <a:latin typeface="方正兰亭超细黑简体" pitchFamily="2" charset="-122"/>
                <a:ea typeface="方正兰亭超细黑简体" pitchFamily="2" charset="-122"/>
              </a:rPr>
              <a:t>Ans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: B</a:t>
            </a:r>
          </a:p>
          <a:p>
            <a:pPr marL="514350" indent="-514350">
              <a:lnSpc>
                <a:spcPct val="110000"/>
              </a:lnSpc>
              <a:buNone/>
            </a:pP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938808" y="0"/>
            <a:ext cx="7571184" cy="922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思考题</a:t>
            </a: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  <a:cs typeface="+mj-cs"/>
              </a:rPr>
              <a:t>20d</a:t>
            </a:r>
            <a:endParaRPr kumimoji="0" lang="en-US" sz="3600" b="1" i="0" u="none" strike="noStrike" kern="1200" cap="none" spc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uLnTx/>
              <a:uFillTx/>
              <a:latin typeface="方正兰亭超细黑简体" pitchFamily="2" charset="-122"/>
              <a:ea typeface="方正兰亭超细黑简体" pitchFamily="2" charset="-122"/>
              <a:cs typeface="+mj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0" y="1819200"/>
            <a:ext cx="6858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715000" y="1895400"/>
            <a:ext cx="685800" cy="457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828800" y="2352600"/>
          <a:ext cx="3810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4" imgW="152280" imgH="393480" progId="Equation.3">
                  <p:embed/>
                </p:oleObj>
              </mc:Choice>
              <mc:Fallback>
                <p:oleObj name="Equation" r:id="rId4" imgW="15228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352600"/>
                        <a:ext cx="381000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371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408" y="274638"/>
            <a:ext cx="7571184" cy="922114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20.2.4 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催化剂与化学反应速率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催化剂：能增加化学反应的速率，而本身在反应前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/>
            </a:r>
            <a:b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</a:b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　　　　后，化学组成和质量不改变的物质成为催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/>
            </a:r>
            <a:b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</a:b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　　　　化剂，也叫作触媒。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 algn="r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反应物：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A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B</a:t>
            </a:r>
          </a:p>
          <a:p>
            <a:pPr marL="0" indent="0" algn="r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生成物：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D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，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E</a:t>
            </a:r>
          </a:p>
          <a:p>
            <a:pPr marL="0" indent="0" algn="r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催化剂：  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C</a:t>
            </a:r>
          </a:p>
          <a:p>
            <a:pPr marL="0" indent="0" algn="r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Ea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 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= 50kJ</a:t>
            </a:r>
          </a:p>
          <a:p>
            <a:pPr marL="0" indent="0" algn="r">
              <a:buNone/>
            </a:pPr>
            <a:r>
              <a:rPr lang="en-US" altLang="zh-CN" sz="2800" dirty="0" err="1" smtClean="0">
                <a:latin typeface="方正兰亭超细黑简体" pitchFamily="2" charset="-122"/>
                <a:ea typeface="方正兰亭超细黑简体" pitchFamily="2" charset="-122"/>
              </a:rPr>
              <a:t>E</a:t>
            </a:r>
            <a:r>
              <a:rPr lang="en-US" altLang="zh-CN" sz="2800" baseline="-25000" dirty="0" err="1" smtClean="0">
                <a:latin typeface="方正兰亭超细黑简体" pitchFamily="2" charset="-122"/>
                <a:ea typeface="方正兰亭超细黑简体" pitchFamily="2" charset="-122"/>
              </a:rPr>
              <a:t>cat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= 20kJ</a:t>
            </a:r>
          </a:p>
          <a:p>
            <a:pPr marL="0" indent="0" algn="r">
              <a:buNone/>
            </a:pPr>
            <a:r>
              <a:rPr lang="en-US" altLang="zh-CN" sz="2800" dirty="0" smtClean="0"/>
              <a:t> ∆H   =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-30kJ</a:t>
            </a:r>
          </a:p>
          <a:p>
            <a:pPr marL="0" indent="0" algn="r"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反应机理：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A+B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D+E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 </a:t>
            </a:r>
          </a:p>
        </p:txBody>
      </p:sp>
      <p:pic>
        <p:nvPicPr>
          <p:cNvPr id="6" name="Picture 5" descr="IMG_20180620_115441.jpg"/>
          <p:cNvPicPr>
            <a:picLocks noChangeAspect="1"/>
          </p:cNvPicPr>
          <p:nvPr/>
        </p:nvPicPr>
        <p:blipFill>
          <a:blip r:embed="rId3" cstate="print"/>
          <a:srcRect l="21852" t="33333" r="18889" b="36667"/>
          <a:stretch>
            <a:fillRect/>
          </a:stretch>
        </p:blipFill>
        <p:spPr>
          <a:xfrm>
            <a:off x="152400" y="2438400"/>
            <a:ext cx="502920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0" y="541020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96200" y="25146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7696200" y="30480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7696200" y="35814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7696200" y="41148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7696200" y="45720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7620000" y="50292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7010400" y="5486400"/>
            <a:ext cx="1981200" cy="533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3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62034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催化剂的作用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１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.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改变反应途径（</a:t>
            </a:r>
            <a:r>
              <a:rPr lang="zh-CN" altLang="en-US" sz="2800" dirty="0" smtClean="0">
                <a:solidFill>
                  <a:srgbClr val="FF0000"/>
                </a:solidFill>
                <a:latin typeface="方正兰亭超细黑简体" pitchFamily="2" charset="-122"/>
                <a:ea typeface="方正兰亭超细黑简体" pitchFamily="2" charset="-122"/>
              </a:rPr>
              <a:t>高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能量途径</a:t>
            </a:r>
            <a:r>
              <a:rPr lang="zh-CN" altLang="en-US" sz="2800" dirty="0" smtClean="0">
                <a:solidFill>
                  <a:srgbClr val="FF0000"/>
                </a:solidFill>
                <a:latin typeface="方正兰亭超细黑简体" pitchFamily="2" charset="-122"/>
                <a:ea typeface="方正兰亭超细黑简体" pitchFamily="2" charset="-122"/>
              </a:rPr>
              <a:t>变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为</a:t>
            </a:r>
            <a:r>
              <a:rPr lang="zh-CN" altLang="en-US" sz="2800" dirty="0" smtClean="0">
                <a:solidFill>
                  <a:srgbClr val="FF0000"/>
                </a:solidFill>
                <a:latin typeface="方正兰亭超细黑简体" pitchFamily="2" charset="-122"/>
                <a:ea typeface="方正兰亭超细黑简体" pitchFamily="2" charset="-122"/>
              </a:rPr>
              <a:t>低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能量途径）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２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.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降低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Ea,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增加活化分子，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k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增大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,R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增大。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不影响：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反应热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生成物的量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20.2.4 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催化剂与化学反应速率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方正兰亭超细黑简体" pitchFamily="2" charset="-122"/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催化剂的特征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１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.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催化剂的</a:t>
            </a:r>
            <a:r>
              <a:rPr lang="zh-CN" altLang="en-US" sz="2800" dirty="0" smtClean="0">
                <a:solidFill>
                  <a:srgbClr val="FF0000"/>
                </a:solidFill>
                <a:latin typeface="方正兰亭超细黑简体" pitchFamily="2" charset="-122"/>
                <a:ea typeface="方正兰亭超细黑简体" pitchFamily="2" charset="-122"/>
              </a:rPr>
              <a:t>量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与其催化能力不成正比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２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.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催化剂有特殊的</a:t>
            </a:r>
            <a:r>
              <a:rPr lang="zh-CN" altLang="en-US" sz="2800" dirty="0" smtClean="0">
                <a:solidFill>
                  <a:srgbClr val="FF0000"/>
                </a:solidFill>
                <a:latin typeface="方正兰亭超细黑简体" pitchFamily="2" charset="-122"/>
                <a:ea typeface="方正兰亭超细黑简体" pitchFamily="2" charset="-122"/>
              </a:rPr>
              <a:t>选择性</a:t>
            </a:r>
            <a:endParaRPr lang="en-US" altLang="zh-CN" sz="2800" dirty="0" smtClean="0">
              <a:solidFill>
                <a:srgbClr val="FF0000"/>
              </a:solidFill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３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.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不能进行的化学反应，即便加了催化剂也没用。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４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.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催化剂不能改变一个化学反应的反应热。对可逆反应来说，催化剂对正反应和逆反应有相同程度的催化作用。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20.2.4 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催化剂与化学反应速率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方正兰亭超细黑简体" pitchFamily="2" charset="-122"/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0"/>
            <a:ext cx="9161463" cy="68818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384" y="0"/>
            <a:ext cx="9171384" cy="533400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方正兰亭超细黑简体" pitchFamily="2" charset="-122"/>
                <a:ea typeface="方正兰亭超细黑简体" pitchFamily="2" charset="-122"/>
              </a:rPr>
              <a:t>补充题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反应理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		2A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 C</a:t>
            </a:r>
          </a:p>
          <a:p>
            <a:pPr marL="514350" indent="-51435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					CD</a:t>
            </a:r>
          </a:p>
          <a:p>
            <a:pPr marL="514350" indent="-514350">
              <a:buNone/>
            </a:pP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					DE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总反应式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	2A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 E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AutoNum type="arabicPeriod" startAt="2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催化剂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		B</a:t>
            </a:r>
          </a:p>
          <a:p>
            <a:pPr marL="514350" indent="-514350">
              <a:buAutoNum type="arabicPeriod" startAt="2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中间产物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	C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、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D</a:t>
            </a:r>
          </a:p>
          <a:p>
            <a:pPr marL="514350" indent="-514350">
              <a:buAutoNum type="arabicPeriod" startAt="2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活化分子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	x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、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y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、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z</a:t>
            </a:r>
          </a:p>
          <a:p>
            <a:pPr marL="514350" indent="-514350">
              <a:buAutoNum type="arabicPeriod" startAt="2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决定反应速率的步骤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 2A 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  <a:sym typeface="Wingdings" pitchFamily="2" charset="2"/>
              </a:rPr>
              <a:t> C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AutoNum type="arabicPeriod" startAt="2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反应速率方程式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R=k[A]</a:t>
            </a:r>
            <a:r>
              <a:rPr lang="en-US" altLang="zh-CN" sz="2800" baseline="30000" dirty="0" smtClean="0">
                <a:latin typeface="方正兰亭超细黑简体" pitchFamily="2" charset="-122"/>
                <a:ea typeface="方正兰亭超细黑简体" pitchFamily="2" charset="-122"/>
              </a:rPr>
              <a:t>2</a:t>
            </a:r>
            <a:endParaRPr lang="en-US" altLang="zh-CN" sz="2800" dirty="0" smtClean="0">
              <a:latin typeface="方正兰亭超细黑简体" pitchFamily="2" charset="-122"/>
              <a:ea typeface="方正兰亭超细黑简体" pitchFamily="2" charset="-122"/>
            </a:endParaRPr>
          </a:p>
          <a:p>
            <a:pPr marL="514350" indent="-514350">
              <a:buAutoNum type="arabicPeriod" startAt="2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反应级数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	2</a:t>
            </a:r>
          </a:p>
          <a:p>
            <a:pPr marL="514350" indent="-514350">
              <a:buAutoNum type="arabicPeriod" startAt="2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正、逆反应的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Ea	55kJ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、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75kJ</a:t>
            </a:r>
          </a:p>
          <a:p>
            <a:pPr marL="514350" indent="-514350">
              <a:buAutoNum type="arabicPeriod" startAt="2"/>
            </a:pP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正、逆反应的反应热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	-20kJ</a:t>
            </a:r>
            <a:r>
              <a:rPr lang="zh-CN" altLang="en-US" sz="2800" dirty="0" smtClean="0">
                <a:latin typeface="方正兰亭超细黑简体" pitchFamily="2" charset="-122"/>
                <a:ea typeface="方正兰亭超细黑简体" pitchFamily="2" charset="-122"/>
              </a:rPr>
              <a:t>、</a:t>
            </a:r>
            <a:r>
              <a:rPr lang="en-US" altLang="zh-CN" sz="2800" dirty="0" smtClean="0">
                <a:latin typeface="方正兰亭超细黑简体" pitchFamily="2" charset="-122"/>
                <a:ea typeface="方正兰亭超细黑简体" pitchFamily="2" charset="-122"/>
              </a:rPr>
              <a:t>20kJ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5210" y="2281535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14800" y="10668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4114800" y="15240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4114800" y="19812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114800" y="2362200"/>
            <a:ext cx="1219200" cy="533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4038600" y="28194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4191000" y="37338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4038600" y="32766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4343400" y="41910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4191000" y="45720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4114800" y="5029200"/>
            <a:ext cx="1219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4114800" y="5486400"/>
            <a:ext cx="1981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4114800" y="5943600"/>
            <a:ext cx="19812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1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2.(1)I</a:t>
            </a:r>
            <a:r>
              <a:rPr lang="zh-CN" altLang="en-US" sz="2800" dirty="0" smtClean="0">
                <a:latin typeface="+mn-ea"/>
              </a:rPr>
              <a:t>、</a:t>
            </a:r>
            <a:r>
              <a:rPr lang="en-US" altLang="zh-CN" sz="2800" dirty="0" smtClean="0">
                <a:latin typeface="+mn-ea"/>
              </a:rPr>
              <a:t>II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	I</a:t>
            </a:r>
            <a:r>
              <a:rPr lang="zh-CN" altLang="en-US" sz="2800" dirty="0" smtClean="0">
                <a:latin typeface="+mn-ea"/>
              </a:rPr>
              <a:t>、</a:t>
            </a:r>
            <a:r>
              <a:rPr lang="en-US" altLang="zh-CN" sz="2800" dirty="0" smtClean="0">
                <a:latin typeface="+mn-ea"/>
              </a:rPr>
              <a:t>III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(2)</a:t>
            </a:r>
            <a:r>
              <a:rPr lang="zh-CN" altLang="en-US" sz="2800" dirty="0" smtClean="0">
                <a:latin typeface="+mn-ea"/>
              </a:rPr>
              <a:t>浓度、稀释硫酸</a:t>
            </a:r>
            <a:endParaRPr lang="en-US" altLang="zh-CN" sz="280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3. </a:t>
            </a:r>
            <a:r>
              <a:rPr lang="zh-CN" altLang="en-US" sz="2800" dirty="0" smtClean="0">
                <a:latin typeface="+mn-ea"/>
              </a:rPr>
              <a:t>镁和稀盐酸反应为放热反应，</a:t>
            </a:r>
            <a:r>
              <a:rPr lang="en-US" altLang="zh-CN" sz="2800" dirty="0" smtClean="0">
                <a:latin typeface="+mn-ea"/>
              </a:rPr>
              <a:t>0</a:t>
            </a:r>
            <a:r>
              <a:rPr lang="zh-CN" altLang="en-US" sz="2800" dirty="0" smtClean="0">
                <a:latin typeface="+mn-ea"/>
              </a:rPr>
              <a:t>～</a:t>
            </a:r>
            <a:r>
              <a:rPr lang="en-US" altLang="zh-CN" sz="2800" dirty="0" smtClean="0">
                <a:latin typeface="+mn-ea"/>
              </a:rPr>
              <a:t>t</a:t>
            </a:r>
            <a:r>
              <a:rPr lang="en-US" altLang="zh-CN" sz="2800" baseline="-250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随着反应的进行体系温度升高，</a:t>
            </a:r>
            <a:r>
              <a:rPr lang="en-US" altLang="zh-CN" sz="2800" dirty="0" smtClean="0">
                <a:latin typeface="+mn-ea"/>
              </a:rPr>
              <a:t>R</a:t>
            </a:r>
            <a:r>
              <a:rPr lang="zh-CN" altLang="en-US" sz="2800" dirty="0" smtClean="0">
                <a:latin typeface="+mn-ea"/>
              </a:rPr>
              <a:t>增大。</a:t>
            </a:r>
            <a:endParaRPr lang="en-US" altLang="zh-CN" sz="280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t</a:t>
            </a:r>
            <a:r>
              <a:rPr lang="en-US" altLang="zh-CN" sz="2800" baseline="-250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以后随着反应进行，反应物浓度降低，</a:t>
            </a:r>
            <a:r>
              <a:rPr lang="en-US" altLang="zh-CN" sz="2800" dirty="0" smtClean="0">
                <a:latin typeface="+mn-ea"/>
              </a:rPr>
              <a:t>R</a:t>
            </a:r>
            <a:r>
              <a:rPr lang="zh-CN" altLang="en-US" sz="2800" dirty="0" smtClean="0">
                <a:latin typeface="+mn-ea"/>
              </a:rPr>
              <a:t>减小。</a:t>
            </a:r>
            <a:endParaRPr lang="en-US" altLang="zh-CN" sz="2800" dirty="0" smtClean="0">
              <a:latin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思考题</a:t>
            </a: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20e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2800" dirty="0" smtClean="0">
                <a:latin typeface="+mn-ea"/>
              </a:rPr>
              <a:t>D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2800" dirty="0" smtClean="0">
                <a:latin typeface="+mn-ea"/>
              </a:rPr>
              <a:t>C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2800" dirty="0" smtClean="0">
                <a:latin typeface="+mn-ea"/>
              </a:rPr>
              <a:t>B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2800" dirty="0" smtClean="0">
                <a:latin typeface="+mn-ea"/>
              </a:rPr>
              <a:t>A R</a:t>
            </a:r>
            <a:r>
              <a:rPr lang="en-US" altLang="zh-CN" sz="2800" baseline="-25000" dirty="0" smtClean="0">
                <a:latin typeface="+mn-ea"/>
              </a:rPr>
              <a:t>B</a:t>
            </a:r>
            <a:r>
              <a:rPr lang="en-US" altLang="zh-CN" sz="2800" dirty="0" smtClean="0">
                <a:latin typeface="+mn-ea"/>
              </a:rPr>
              <a:t>= 0.25Ms</a:t>
            </a:r>
            <a:r>
              <a:rPr lang="en-US" altLang="zh-CN" sz="2800" baseline="30000" dirty="0" smtClean="0">
                <a:latin typeface="+mn-ea"/>
              </a:rPr>
              <a:t>-1</a:t>
            </a:r>
            <a:r>
              <a:rPr lang="en-US" altLang="zh-CN" sz="2800" dirty="0" smtClean="0">
                <a:latin typeface="+mn-ea"/>
              </a:rPr>
              <a:t> 	B	R</a:t>
            </a:r>
            <a:r>
              <a:rPr lang="en-US" altLang="zh-CN" sz="2800" baseline="-25000" dirty="0" smtClean="0">
                <a:latin typeface="+mn-ea"/>
              </a:rPr>
              <a:t>B</a:t>
            </a:r>
            <a:r>
              <a:rPr lang="en-US" altLang="zh-CN" sz="2800" dirty="0" smtClean="0">
                <a:latin typeface="+mn-ea"/>
              </a:rPr>
              <a:t> =0.3Ms</a:t>
            </a:r>
            <a:r>
              <a:rPr lang="en-US" altLang="zh-CN" sz="2800" baseline="30000" dirty="0" smtClean="0">
                <a:latin typeface="+mn-ea"/>
              </a:rPr>
              <a:t>-1 </a:t>
            </a:r>
            <a:r>
              <a:rPr lang="en-US" altLang="zh-CN" sz="2800" dirty="0" smtClean="0">
                <a:latin typeface="+mn-ea"/>
              </a:rPr>
              <a:t>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	C R</a:t>
            </a:r>
            <a:r>
              <a:rPr lang="en-US" altLang="zh-CN" sz="2800" baseline="-25000" dirty="0" smtClean="0">
                <a:latin typeface="+mn-ea"/>
              </a:rPr>
              <a:t>B</a:t>
            </a:r>
            <a:r>
              <a:rPr lang="en-US" altLang="zh-CN" sz="2800" dirty="0" smtClean="0">
                <a:latin typeface="+mn-ea"/>
              </a:rPr>
              <a:t>= 0.27Ms</a:t>
            </a:r>
            <a:r>
              <a:rPr lang="en-US" altLang="zh-CN" sz="2800" baseline="30000" dirty="0" smtClean="0">
                <a:latin typeface="+mn-ea"/>
              </a:rPr>
              <a:t>-1</a:t>
            </a:r>
            <a:r>
              <a:rPr lang="en-US" altLang="zh-CN" sz="2800" dirty="0" smtClean="0">
                <a:latin typeface="+mn-ea"/>
              </a:rPr>
              <a:t> 	B	R</a:t>
            </a:r>
            <a:r>
              <a:rPr lang="en-US" altLang="zh-CN" sz="2800" baseline="-25000" dirty="0" smtClean="0">
                <a:latin typeface="+mn-ea"/>
              </a:rPr>
              <a:t>B</a:t>
            </a:r>
            <a:r>
              <a:rPr lang="en-US" altLang="zh-CN" sz="2800" dirty="0" smtClean="0">
                <a:latin typeface="+mn-ea"/>
              </a:rPr>
              <a:t> =0.25Ms</a:t>
            </a:r>
            <a:r>
              <a:rPr lang="en-US" altLang="zh-CN" sz="2800" baseline="30000" dirty="0" smtClean="0">
                <a:latin typeface="+mn-ea"/>
              </a:rPr>
              <a:t>-1</a:t>
            </a:r>
            <a:r>
              <a:rPr lang="en-US" altLang="zh-CN" sz="2800" dirty="0" smtClean="0">
                <a:latin typeface="+mn-ea"/>
              </a:rPr>
              <a:t>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 </a:t>
            </a:r>
            <a:r>
              <a:rPr lang="en-US" altLang="zh-CN" sz="2800" dirty="0" err="1" smtClean="0">
                <a:latin typeface="+mn-ea"/>
              </a:rPr>
              <a:t>Ans:B</a:t>
            </a:r>
            <a:r>
              <a:rPr lang="en-US" altLang="zh-CN" sz="2800" dirty="0" smtClean="0">
                <a:latin typeface="+mn-ea"/>
              </a:rPr>
              <a:t>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5. C</a:t>
            </a:r>
            <a:endParaRPr lang="en-US" altLang="zh-CN" sz="2800" baseline="30000" dirty="0" smtClean="0">
              <a:latin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选择题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6. A </a:t>
            </a:r>
            <a:r>
              <a:rPr lang="zh-CN" altLang="en-US" sz="2800" dirty="0" smtClean="0">
                <a:latin typeface="+mn-ea"/>
              </a:rPr>
              <a:t>反应变慢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baseline="30000" dirty="0" smtClean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	B </a:t>
            </a:r>
            <a:r>
              <a:rPr lang="zh-CN" altLang="en-US" sz="2800" dirty="0" smtClean="0">
                <a:latin typeface="+mn-ea"/>
              </a:rPr>
              <a:t>钝化作用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	D </a:t>
            </a:r>
            <a:r>
              <a:rPr lang="zh-CN" altLang="en-US" sz="2800" dirty="0" smtClean="0">
                <a:latin typeface="+mn-ea"/>
              </a:rPr>
              <a:t>纯液体浓度次方为零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baseline="30000" dirty="0" smtClean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en-US" altLang="zh-CN" sz="2800" dirty="0" err="1" smtClean="0">
                <a:latin typeface="+mn-ea"/>
              </a:rPr>
              <a:t>Ans:C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7. </a:t>
            </a:r>
            <a:r>
              <a:rPr lang="en-US" altLang="zh-CN" sz="2800" dirty="0" smtClean="0"/>
              <a:t>R(NH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) =		= 0.2Mmin</a:t>
            </a:r>
            <a:r>
              <a:rPr lang="en-US" altLang="zh-CN" sz="2800" baseline="30000" dirty="0" smtClean="0"/>
              <a:t>-1</a:t>
            </a:r>
            <a:r>
              <a:rPr lang="en-US" altLang="zh-CN" sz="2800" dirty="0" smtClean="0"/>
              <a:t> </a:t>
            </a:r>
          </a:p>
          <a:p>
            <a:pPr marL="514350" indent="-514350">
              <a:buNone/>
            </a:pPr>
            <a:r>
              <a:rPr lang="zh-CN" altLang="en-US" sz="2800" dirty="0" smtClean="0">
                <a:ea typeface="方正兰亭超细黑简体" pitchFamily="2" charset="-122"/>
              </a:rPr>
              <a:t>则</a:t>
            </a:r>
            <a:r>
              <a:rPr lang="en-US" altLang="zh-CN" sz="2800" dirty="0" smtClean="0">
                <a:ea typeface="方正兰亭超细黑简体" pitchFamily="2" charset="-122"/>
              </a:rPr>
              <a:t>	</a:t>
            </a:r>
            <a:r>
              <a:rPr lang="en-US" altLang="zh-CN" sz="2800" dirty="0" smtClean="0"/>
              <a:t>R(N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) = 0.1Mmin</a:t>
            </a:r>
            <a:r>
              <a:rPr lang="en-US" altLang="zh-CN" sz="2800" baseline="30000" dirty="0" smtClean="0"/>
              <a:t>-1</a:t>
            </a:r>
            <a:r>
              <a:rPr lang="en-US" altLang="zh-CN" sz="2800" dirty="0" smtClean="0"/>
              <a:t> </a:t>
            </a:r>
          </a:p>
          <a:p>
            <a:pPr marL="514350" indent="-514350">
              <a:buNone/>
            </a:pPr>
            <a:r>
              <a:rPr lang="en-US" altLang="zh-CN" sz="2800" dirty="0" smtClean="0"/>
              <a:t>	R(H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) =0.3Mmin</a:t>
            </a:r>
            <a:r>
              <a:rPr lang="en-US" altLang="zh-CN" sz="2800" baseline="30000" dirty="0" smtClean="0"/>
              <a:t>-1</a:t>
            </a:r>
            <a:r>
              <a:rPr lang="en-US" altLang="zh-CN" sz="2800" dirty="0" smtClean="0"/>
              <a:t> </a:t>
            </a:r>
          </a:p>
          <a:p>
            <a:pPr marL="514350" indent="-514350">
              <a:buNone/>
            </a:pPr>
            <a:r>
              <a:rPr lang="en-US" altLang="zh-CN" sz="2800" dirty="0" smtClean="0">
                <a:latin typeface="+mn-ea"/>
              </a:rPr>
              <a:t> </a:t>
            </a:r>
            <a:r>
              <a:rPr lang="en-US" altLang="zh-CN" sz="2800" dirty="0" err="1" smtClean="0">
                <a:latin typeface="+mn-ea"/>
              </a:rPr>
              <a:t>Ans</a:t>
            </a:r>
            <a:r>
              <a:rPr lang="en-US" altLang="zh-CN" sz="2800" dirty="0" smtClean="0">
                <a:latin typeface="+mn-ea"/>
              </a:rPr>
              <a:t>: D </a:t>
            </a:r>
            <a:endParaRPr lang="en-US" altLang="zh-CN" sz="2800" baseline="30000" dirty="0" smtClean="0">
              <a:latin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选择题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362200" y="3807114"/>
          <a:ext cx="895350" cy="841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4" imgW="419040" imgH="393480" progId="Equation.3">
                  <p:embed/>
                </p:oleObj>
              </mc:Choice>
              <mc:Fallback>
                <p:oleObj name="Equation" r:id="rId4" imgW="41904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807114"/>
                        <a:ext cx="895350" cy="8410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505200" y="4114800"/>
            <a:ext cx="16764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8.  A </a:t>
            </a:r>
            <a:r>
              <a:rPr lang="en-US" altLang="zh-CN" sz="2800" dirty="0" err="1" smtClean="0">
                <a:latin typeface="+mn-ea"/>
              </a:rPr>
              <a:t>Rw</a:t>
            </a:r>
            <a:r>
              <a:rPr lang="en-US" altLang="zh-CN" sz="2800" baseline="-25000" dirty="0" smtClean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= </a:t>
            </a:r>
            <a:r>
              <a:rPr lang="en-US" altLang="zh-CN" sz="2800" dirty="0" err="1" smtClean="0">
                <a:latin typeface="+mn-ea"/>
              </a:rPr>
              <a:t>Rz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baseline="30000" dirty="0" smtClean="0">
                <a:latin typeface="+mn-ea"/>
              </a:rPr>
              <a:t>	 </a:t>
            </a:r>
            <a:r>
              <a:rPr lang="en-US" altLang="zh-CN" sz="2800" dirty="0" smtClean="0">
                <a:latin typeface="+mn-ea"/>
              </a:rPr>
              <a:t>B	    =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baseline="30000" dirty="0" smtClean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 		3Rx=2Rz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baseline="30000" dirty="0" smtClean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  D	    = 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baseline="30000" dirty="0" smtClean="0">
                <a:latin typeface="+mn-ea"/>
              </a:rPr>
              <a:t>  </a:t>
            </a:r>
            <a:r>
              <a:rPr lang="en-US" altLang="zh-CN" sz="2800" dirty="0" smtClean="0">
                <a:latin typeface="+mn-ea"/>
              </a:rPr>
              <a:t> 		  2Rw=3Rx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baseline="30000" dirty="0" smtClean="0">
                <a:latin typeface="+mn-ea"/>
              </a:rPr>
              <a:t>  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en-US" altLang="zh-CN" sz="2800" dirty="0" err="1" smtClean="0">
                <a:latin typeface="+mn-ea"/>
              </a:rPr>
              <a:t>Ans:C</a:t>
            </a:r>
            <a:endParaRPr lang="en-US" altLang="zh-CN" sz="2800" dirty="0" smtClean="0">
              <a:latin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选择题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524000" y="1676400"/>
          <a:ext cx="457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4" imgW="241200" imgH="393480" progId="Equation.3">
                  <p:embed/>
                </p:oleObj>
              </mc:Choice>
              <mc:Fallback>
                <p:oleObj name="Equation" r:id="rId4" imgW="24120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76400"/>
                        <a:ext cx="457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38400" y="1676400"/>
          <a:ext cx="4572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6" imgW="152280" imgH="393480" progId="Equation.3">
                  <p:embed/>
                </p:oleObj>
              </mc:Choice>
              <mc:Fallback>
                <p:oleObj name="Equation" r:id="rId6" imgW="15228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76400"/>
                        <a:ext cx="457200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524000" y="3200401"/>
          <a:ext cx="60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8" imgW="266400" imgH="393480" progId="Equation.3">
                  <p:embed/>
                </p:oleObj>
              </mc:Choice>
              <mc:Fallback>
                <p:oleObj name="Equation" r:id="rId8" imgW="26640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00401"/>
                        <a:ext cx="6096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514600" y="3200400"/>
          <a:ext cx="53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Equation" r:id="rId10" imgW="152280" imgH="393480" progId="Equation.3">
                  <p:embed/>
                </p:oleObj>
              </mc:Choice>
              <mc:Fallback>
                <p:oleObj name="Equation" r:id="rId10" imgW="15228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200400"/>
                        <a:ext cx="53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9. [O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] =</a:t>
            </a: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	   =0.04M</a:t>
            </a:r>
          </a:p>
          <a:p>
            <a:pPr marL="0" indent="0">
              <a:buNone/>
            </a:pPr>
            <a:r>
              <a:rPr lang="zh-CN" altLang="en-US" sz="2800" dirty="0" smtClean="0">
                <a:latin typeface="+mn-ea"/>
              </a:rPr>
              <a:t>反应速率为</a:t>
            </a:r>
            <a:r>
              <a:rPr lang="en-US" altLang="zh-CN" sz="2800" dirty="0" smtClean="0">
                <a:latin typeface="+mn-ea"/>
              </a:rPr>
              <a:t>0.01Mmin</a:t>
            </a:r>
            <a:r>
              <a:rPr lang="en-US" altLang="zh-CN" sz="2800" baseline="30000" dirty="0" smtClean="0">
                <a:latin typeface="+mn-ea"/>
              </a:rPr>
              <a:t>-1</a:t>
            </a:r>
            <a:r>
              <a:rPr lang="en-US" altLang="zh-CN" sz="2800" dirty="0" smtClean="0">
                <a:latin typeface="+mn-ea"/>
              </a:rPr>
              <a:t>  4</a:t>
            </a:r>
            <a:r>
              <a:rPr lang="zh-CN" altLang="en-US" sz="2800" dirty="0" smtClean="0">
                <a:latin typeface="+mn-ea"/>
              </a:rPr>
              <a:t>分钟能得</a:t>
            </a:r>
            <a:r>
              <a:rPr lang="en-US" altLang="zh-CN" sz="2800" dirty="0" smtClean="0">
                <a:latin typeface="+mn-ea"/>
              </a:rPr>
              <a:t>1L 0.04M</a:t>
            </a:r>
            <a:r>
              <a:rPr lang="zh-CN" altLang="en-US" sz="2800" dirty="0" smtClean="0">
                <a:latin typeface="+mn-ea"/>
              </a:rPr>
              <a:t>的氧气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+mn-ea"/>
              </a:rPr>
              <a:t>则收集</a:t>
            </a:r>
            <a:r>
              <a:rPr lang="en-US" altLang="zh-CN" sz="2800" dirty="0" smtClean="0">
                <a:latin typeface="+mn-ea"/>
              </a:rPr>
              <a:t>500mL 0.04M</a:t>
            </a:r>
            <a:r>
              <a:rPr lang="zh-CN" altLang="en-US" sz="2800" dirty="0" smtClean="0">
                <a:latin typeface="+mn-ea"/>
              </a:rPr>
              <a:t>的氧气需</a:t>
            </a:r>
            <a:r>
              <a:rPr lang="en-US" altLang="zh-CN" sz="2800" dirty="0" smtClean="0">
                <a:latin typeface="+mn-ea"/>
              </a:rPr>
              <a:t>2min</a:t>
            </a:r>
          </a:p>
          <a:p>
            <a:pPr marL="0" indent="0">
              <a:buNone/>
            </a:pPr>
            <a:r>
              <a:rPr lang="en-US" altLang="zh-CN" sz="2800" dirty="0" err="1" smtClean="0">
                <a:latin typeface="+mn-ea"/>
              </a:rPr>
              <a:t>Ans:B</a:t>
            </a:r>
            <a:endParaRPr lang="en-US" altLang="zh-CN" sz="280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smtClean="0">
                <a:latin typeface="+mn-ea"/>
              </a:rPr>
              <a:t>10. </a:t>
            </a:r>
            <a:r>
              <a:rPr lang="zh-CN" altLang="en-US" sz="2800" dirty="0" smtClean="0">
                <a:latin typeface="+mn-ea"/>
              </a:rPr>
              <a:t>温度高，浓度高</a:t>
            </a:r>
            <a:endParaRPr lang="en-US" altLang="zh-CN" sz="280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 err="1" smtClean="0">
                <a:latin typeface="+mn-ea"/>
              </a:rPr>
              <a:t>Ans</a:t>
            </a:r>
            <a:r>
              <a:rPr lang="en-US" altLang="zh-CN" sz="2800" dirty="0" smtClean="0">
                <a:latin typeface="+mn-ea"/>
              </a:rPr>
              <a:t>:	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选择题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286000" y="990600"/>
          <a:ext cx="1501486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4" imgW="647640" imgH="419040" progId="Equation.3">
                  <p:embed/>
                </p:oleObj>
              </mc:Choice>
              <mc:Fallback>
                <p:oleObj name="Equation" r:id="rId4" imgW="64764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990600"/>
                        <a:ext cx="1501486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1.</a:t>
            </a:r>
            <a:r>
              <a:rPr lang="zh-CN" altLang="en-US" sz="2800" dirty="0" smtClean="0">
                <a:latin typeface="+mn-ea"/>
              </a:rPr>
              <a:t>夏天：温度高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S	 </a:t>
            </a:r>
            <a:r>
              <a:rPr lang="zh-CN" altLang="en-US" sz="2800" dirty="0" smtClean="0">
                <a:latin typeface="+mn-ea"/>
              </a:rPr>
              <a:t>：浓度高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H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O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zh-CN" altLang="en-US" sz="2800" dirty="0" smtClean="0">
                <a:latin typeface="+mn-ea"/>
              </a:rPr>
              <a:t>：催化剂 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</a:t>
            </a:r>
            <a:r>
              <a:rPr lang="zh-CN" altLang="en-US" sz="2800" dirty="0" smtClean="0">
                <a:latin typeface="+mn-ea"/>
              </a:rPr>
              <a:t>氨</a:t>
            </a:r>
            <a:r>
              <a:rPr lang="en-US" altLang="zh-CN" sz="2800" dirty="0" smtClean="0">
                <a:latin typeface="+mn-ea"/>
              </a:rPr>
              <a:t>	 </a:t>
            </a:r>
            <a:r>
              <a:rPr lang="zh-CN" altLang="en-US" sz="2800" dirty="0" smtClean="0">
                <a:latin typeface="+mn-ea"/>
              </a:rPr>
              <a:t>： 压强增大，气体浓度增加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2. (1) R=k[N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O</a:t>
            </a:r>
            <a:r>
              <a:rPr lang="en-US" altLang="zh-CN" sz="2800" baseline="-25000" dirty="0" smtClean="0">
                <a:latin typeface="+mn-ea"/>
              </a:rPr>
              <a:t>4</a:t>
            </a:r>
            <a:r>
              <a:rPr lang="en-US" altLang="zh-CN" sz="2800" dirty="0" smtClean="0">
                <a:latin typeface="+mn-ea"/>
              </a:rPr>
              <a:t>] </a:t>
            </a:r>
          </a:p>
          <a:p>
            <a:pPr marL="514350" indent="-514350">
              <a:buNone/>
            </a:pPr>
            <a:r>
              <a:rPr lang="en-US" altLang="zh-CN" sz="2800" dirty="0" smtClean="0">
                <a:latin typeface="+mn-ea"/>
              </a:rPr>
              <a:t>	(2) R=k[N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][O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]</a:t>
            </a:r>
          </a:p>
          <a:p>
            <a:pPr marL="514350" indent="-514350">
              <a:buNone/>
            </a:pPr>
            <a:r>
              <a:rPr lang="en-US" altLang="zh-CN" sz="2800" dirty="0" smtClean="0">
                <a:latin typeface="+mn-ea"/>
              </a:rPr>
              <a:t>	(3) R=k[HI]</a:t>
            </a:r>
            <a:r>
              <a:rPr lang="en-US" altLang="zh-CN" sz="2800" baseline="30000" dirty="0" smtClean="0">
                <a:latin typeface="+mn-ea"/>
              </a:rPr>
              <a:t>2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buNone/>
            </a:pPr>
            <a:r>
              <a:rPr lang="en-US" altLang="zh-CN" sz="2800" dirty="0" smtClean="0">
                <a:latin typeface="+mn-ea"/>
              </a:rPr>
              <a:t>	(4) R=k[NO]</a:t>
            </a:r>
            <a:r>
              <a:rPr lang="en-US" altLang="zh-CN" sz="2800" baseline="30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[Cl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]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作答题</a:t>
            </a: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2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、</a:t>
            </a: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3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、</a:t>
            </a: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6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、</a:t>
            </a: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7</a:t>
            </a:r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、</a:t>
            </a:r>
            <a:r>
              <a:rPr lang="en-US" altLang="zh-CN" sz="3600" b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9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3.(1) M</a:t>
            </a:r>
            <a:r>
              <a:rPr lang="en-US" altLang="zh-CN" sz="2800" baseline="30000" dirty="0" smtClean="0">
                <a:latin typeface="+mn-ea"/>
              </a:rPr>
              <a:t>-2</a:t>
            </a:r>
            <a:r>
              <a:rPr lang="en-US" altLang="zh-CN" sz="2800" dirty="0" smtClean="0">
                <a:latin typeface="+mn-ea"/>
              </a:rPr>
              <a:t>min</a:t>
            </a:r>
            <a:r>
              <a:rPr lang="en-US" altLang="zh-CN" sz="2800" baseline="30000" dirty="0" smtClean="0">
                <a:latin typeface="+mn-ea"/>
              </a:rPr>
              <a:t>-1</a:t>
            </a:r>
            <a:r>
              <a:rPr lang="en-US" altLang="zh-CN" sz="2800" dirty="0" smtClean="0">
                <a:latin typeface="+mn-ea"/>
              </a:rPr>
              <a:t>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(2) </a:t>
            </a:r>
            <a:r>
              <a:rPr lang="zh-CN" altLang="en-US" sz="2800" dirty="0" smtClean="0">
                <a:latin typeface="+mn-ea"/>
              </a:rPr>
              <a:t>设原反应速率为</a:t>
            </a:r>
            <a:r>
              <a:rPr lang="en-US" altLang="zh-CN" sz="2800" dirty="0" smtClean="0">
                <a:latin typeface="+mn-ea"/>
              </a:rPr>
              <a:t>R=k[NO]</a:t>
            </a:r>
            <a:r>
              <a:rPr lang="en-US" altLang="zh-CN" sz="2800" baseline="30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[O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]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a) </a:t>
            </a:r>
            <a:r>
              <a:rPr lang="zh-CN" altLang="en-US" sz="2800" dirty="0" smtClean="0">
                <a:latin typeface="+mn-ea"/>
              </a:rPr>
              <a:t>氧气压强加倍，则氧气浓度加倍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R</a:t>
            </a:r>
            <a:r>
              <a:rPr lang="en-US" altLang="zh-CN" sz="2800" baseline="-25000" dirty="0" smtClean="0">
                <a:latin typeface="+mn-ea"/>
              </a:rPr>
              <a:t>1</a:t>
            </a:r>
            <a:r>
              <a:rPr lang="en-US" altLang="zh-CN" sz="2800" dirty="0" smtClean="0">
                <a:latin typeface="+mn-ea"/>
              </a:rPr>
              <a:t> = k [NO]</a:t>
            </a:r>
            <a:r>
              <a:rPr lang="en-US" altLang="zh-CN" sz="2800" baseline="30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 [2O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]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 = 2 k[NO]</a:t>
            </a:r>
            <a:r>
              <a:rPr lang="en-US" altLang="zh-CN" sz="2800" baseline="30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[O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]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 = 2R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b) R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	=k[2NO]</a:t>
            </a:r>
            <a:r>
              <a:rPr lang="en-US" altLang="zh-CN" sz="2800" baseline="30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[2O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]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	= 8 R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c) </a:t>
            </a:r>
            <a:r>
              <a:rPr lang="zh-CN" altLang="en-US" sz="2800" dirty="0" smtClean="0">
                <a:latin typeface="+mn-ea"/>
              </a:rPr>
              <a:t>体积增加，浓度减小</a:t>
            </a:r>
            <a:r>
              <a:rPr lang="en-US" altLang="zh-CN" sz="2800" dirty="0" smtClean="0">
                <a:latin typeface="+mn-ea"/>
              </a:rPr>
              <a:t>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 R</a:t>
            </a:r>
            <a:r>
              <a:rPr lang="en-US" altLang="zh-CN" sz="2800" baseline="-25000" dirty="0" smtClean="0">
                <a:latin typeface="+mn-ea"/>
              </a:rPr>
              <a:t>3</a:t>
            </a:r>
            <a:r>
              <a:rPr lang="en-US" altLang="zh-CN" sz="2800" dirty="0" smtClean="0">
                <a:latin typeface="+mn-ea"/>
              </a:rPr>
              <a:t>= k[½NO]</a:t>
            </a:r>
            <a:r>
              <a:rPr lang="en-US" altLang="zh-CN" sz="2800" baseline="30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[½O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]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   =  R</a:t>
            </a: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762000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作答题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600200" y="5562600"/>
          <a:ext cx="381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4" imgW="139680" imgH="393480" progId="Equation.3">
                  <p:embed/>
                </p:oleObj>
              </mc:Choice>
              <mc:Fallback>
                <p:oleObj name="Equation" r:id="rId4" imgW="13968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562600"/>
                        <a:ext cx="3810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4. R</a:t>
            </a:r>
            <a:r>
              <a:rPr lang="en-US" altLang="zh-CN" sz="2800" baseline="-25000" dirty="0" smtClean="0">
                <a:latin typeface="+mn-ea"/>
              </a:rPr>
              <a:t>D</a:t>
            </a:r>
            <a:r>
              <a:rPr lang="en-US" altLang="zh-CN" sz="2800" dirty="0" smtClean="0">
                <a:latin typeface="+mn-ea"/>
              </a:rPr>
              <a:t> = 	   = 0.1Mmin</a:t>
            </a:r>
            <a:r>
              <a:rPr lang="en-US" altLang="zh-CN" sz="2800" baseline="30000" dirty="0" smtClean="0">
                <a:latin typeface="+mn-ea"/>
              </a:rPr>
              <a:t>-1 </a:t>
            </a:r>
          </a:p>
          <a:p>
            <a:pPr marL="0" indent="0">
              <a:buNone/>
            </a:pPr>
            <a:r>
              <a:rPr lang="en-US" altLang="zh-CN" sz="2800" baseline="30000" dirty="0" smtClean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 </a:t>
            </a:r>
            <a:r>
              <a:rPr lang="zh-CN" altLang="en-US" sz="2800" dirty="0" smtClean="0">
                <a:latin typeface="+mn-ea"/>
              </a:rPr>
              <a:t>已知</a:t>
            </a:r>
            <a:r>
              <a:rPr lang="en-US" altLang="zh-CN" sz="2800" dirty="0" smtClean="0">
                <a:latin typeface="+mn-ea"/>
              </a:rPr>
              <a:t>R</a:t>
            </a:r>
            <a:r>
              <a:rPr lang="en-US" altLang="zh-CN" sz="2800" baseline="-25000" dirty="0" smtClean="0">
                <a:latin typeface="+mn-ea"/>
              </a:rPr>
              <a:t>B</a:t>
            </a:r>
            <a:r>
              <a:rPr lang="en-US" altLang="zh-CN" sz="2800" dirty="0" smtClean="0">
                <a:latin typeface="+mn-ea"/>
              </a:rPr>
              <a:t> = 0.1Mmin</a:t>
            </a:r>
            <a:r>
              <a:rPr lang="en-US" altLang="zh-CN" sz="2800" baseline="30000" dirty="0" smtClean="0">
                <a:latin typeface="+mn-ea"/>
              </a:rPr>
              <a:t>-1</a:t>
            </a:r>
            <a:r>
              <a:rPr lang="en-US" altLang="zh-CN" sz="2800" dirty="0" smtClean="0">
                <a:latin typeface="+mn-ea"/>
              </a:rPr>
              <a:t> =R</a:t>
            </a:r>
            <a:r>
              <a:rPr lang="en-US" altLang="zh-CN" sz="2800" baseline="-25000" dirty="0" smtClean="0">
                <a:latin typeface="+mn-ea"/>
              </a:rPr>
              <a:t>D</a:t>
            </a:r>
            <a:r>
              <a:rPr lang="en-US" altLang="zh-CN" sz="2800" dirty="0" smtClean="0">
                <a:latin typeface="+mn-ea"/>
              </a:rPr>
              <a:t> ,</a:t>
            </a:r>
          </a:p>
          <a:p>
            <a:pPr marL="0" indent="0">
              <a:buNone/>
            </a:pPr>
            <a:r>
              <a:rPr lang="zh-CN" altLang="en-US" sz="2800" dirty="0" smtClean="0">
                <a:latin typeface="+mn-ea"/>
              </a:rPr>
              <a:t>则反应式中</a:t>
            </a:r>
            <a:r>
              <a:rPr lang="en-US" altLang="zh-CN" sz="2800" dirty="0" smtClean="0">
                <a:latin typeface="+mn-ea"/>
              </a:rPr>
              <a:t>B</a:t>
            </a:r>
            <a:r>
              <a:rPr lang="zh-CN" altLang="en-US" sz="2800" dirty="0" smtClean="0">
                <a:latin typeface="+mn-ea"/>
              </a:rPr>
              <a:t>与</a:t>
            </a:r>
            <a:r>
              <a:rPr lang="en-US" altLang="zh-CN" sz="2800" dirty="0" smtClean="0">
                <a:latin typeface="+mn-ea"/>
              </a:rPr>
              <a:t>D</a:t>
            </a:r>
            <a:r>
              <a:rPr lang="zh-CN" altLang="en-US" sz="2800" dirty="0" smtClean="0">
                <a:latin typeface="+mn-ea"/>
              </a:rPr>
              <a:t>的系数相同，</a:t>
            </a:r>
            <a:r>
              <a:rPr lang="en-US" altLang="zh-CN" sz="2800" dirty="0" smtClean="0">
                <a:latin typeface="+mn-ea"/>
              </a:rPr>
              <a:t>x=2</a:t>
            </a:r>
            <a:r>
              <a:rPr lang="zh-CN" altLang="en-US" sz="2800" dirty="0" smtClean="0">
                <a:latin typeface="+mn-ea"/>
              </a:rPr>
              <a:t>。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	  =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  Ra = 0.15Mmin</a:t>
            </a:r>
            <a:r>
              <a:rPr lang="en-US" altLang="zh-CN" sz="2800" baseline="30000" dirty="0" smtClean="0">
                <a:latin typeface="+mn-ea"/>
              </a:rPr>
              <a:t>-1</a:t>
            </a:r>
            <a:r>
              <a:rPr lang="en-US" altLang="zh-CN" sz="2800" dirty="0" smtClean="0">
                <a:latin typeface="+mn-ea"/>
              </a:rPr>
              <a:t>  </a:t>
            </a:r>
          </a:p>
          <a:p>
            <a:pPr marL="0" indent="0">
              <a:buNone/>
            </a:pPr>
            <a:r>
              <a:rPr lang="zh-CN" altLang="en-US" sz="2800" dirty="0" smtClean="0">
                <a:latin typeface="+mn-ea"/>
              </a:rPr>
              <a:t>设开始时</a:t>
            </a:r>
            <a:r>
              <a:rPr lang="en-US" altLang="zh-CN" sz="2800" dirty="0" smtClean="0">
                <a:latin typeface="+mn-ea"/>
              </a:rPr>
              <a:t>[A]=[B]=x M </a:t>
            </a:r>
          </a:p>
          <a:p>
            <a:pPr marL="0" indent="0">
              <a:buNone/>
            </a:pPr>
            <a:r>
              <a:rPr lang="en-US" altLang="zh-CN" sz="2800" dirty="0" smtClean="0"/>
              <a:t>∆[A]= 0.15Mmin</a:t>
            </a:r>
            <a:r>
              <a:rPr lang="en-US" altLang="zh-CN" sz="2800" baseline="30000" dirty="0" smtClean="0"/>
              <a:t>-1</a:t>
            </a:r>
            <a:r>
              <a:rPr lang="en-US" altLang="zh-CN" sz="2800" dirty="0" smtClean="0"/>
              <a:t> x 5min = 0.75M</a:t>
            </a:r>
          </a:p>
          <a:p>
            <a:pPr marL="0" indent="0">
              <a:buNone/>
            </a:pPr>
            <a:r>
              <a:rPr lang="en-US" altLang="zh-CN" sz="2800" dirty="0" smtClean="0"/>
              <a:t>∆[B]=0.1Mmin</a:t>
            </a:r>
            <a:r>
              <a:rPr lang="en-US" altLang="zh-CN" sz="2800" baseline="30000" dirty="0" smtClean="0"/>
              <a:t>-1</a:t>
            </a:r>
            <a:r>
              <a:rPr lang="en-US" altLang="zh-CN" sz="2800" dirty="0" smtClean="0"/>
              <a:t> x 5min = 0.5M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							x= 1.125M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</a:t>
            </a: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作答题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828800" y="838200"/>
          <a:ext cx="858479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4" imgW="419040" imgH="393480" progId="Equation.3">
                  <p:embed/>
                </p:oleObj>
              </mc:Choice>
              <mc:Fallback>
                <p:oleObj name="Equation" r:id="rId4" imgW="41904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838200"/>
                        <a:ext cx="858479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276600" y="1066800"/>
            <a:ext cx="16764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209800" y="2438400"/>
          <a:ext cx="381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Equation" r:id="rId6" imgW="152280" imgH="393480" progId="Equation.3">
                  <p:embed/>
                </p:oleObj>
              </mc:Choice>
              <mc:Fallback>
                <p:oleObj name="Equation" r:id="rId6" imgW="15228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38400"/>
                        <a:ext cx="3810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066800" y="2438400"/>
          <a:ext cx="590550" cy="674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Equation" r:id="rId8" imgW="266400" imgH="393480" progId="Equation.3">
                  <p:embed/>
                </p:oleObj>
              </mc:Choice>
              <mc:Fallback>
                <p:oleObj name="Equation" r:id="rId8" imgW="26640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438400"/>
                        <a:ext cx="590550" cy="6749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Equation" r:id="rId10" imgW="114120" imgH="215640" progId="Equation.3">
                  <p:embed/>
                </p:oleObj>
              </mc:Choice>
              <mc:Fallback>
                <p:oleObj name="Equation" r:id="rId10" imgW="11412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371600" y="4191000"/>
            <a:ext cx="28194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4495800" y="4114800"/>
            <a:ext cx="12954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295400" y="4648200"/>
            <a:ext cx="25908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191000" y="4648200"/>
            <a:ext cx="12954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6096000" y="3886200"/>
          <a:ext cx="22098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Equation" r:id="rId12" imgW="787320" imgH="393480" progId="Equation.3">
                  <p:embed/>
                </p:oleObj>
              </mc:Choice>
              <mc:Fallback>
                <p:oleObj name="Equation" r:id="rId12" imgW="78732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886200"/>
                        <a:ext cx="2209800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5. </a:t>
            </a:r>
            <a:r>
              <a:rPr lang="zh-CN" altLang="en-US" sz="2800" dirty="0" smtClean="0">
                <a:latin typeface="+mn-ea"/>
              </a:rPr>
              <a:t>斜率大，反应速率快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buAutoNum type="arabicParenBoth"/>
            </a:pPr>
            <a:r>
              <a:rPr lang="en-US" altLang="zh-CN" sz="2800" dirty="0" smtClean="0">
                <a:latin typeface="+mn-ea"/>
              </a:rPr>
              <a:t>EF</a:t>
            </a:r>
            <a:r>
              <a:rPr lang="zh-CN" altLang="en-US" sz="2800" dirty="0" smtClean="0">
                <a:latin typeface="+mn-ea"/>
              </a:rPr>
              <a:t>、</a:t>
            </a:r>
            <a:r>
              <a:rPr lang="en-US" altLang="zh-CN" sz="2800" dirty="0" smtClean="0">
                <a:latin typeface="+mn-ea"/>
              </a:rPr>
              <a:t>EF</a:t>
            </a:r>
          </a:p>
          <a:p>
            <a:pPr marL="514350" indent="-514350">
              <a:buAutoNum type="arabicParenBoth"/>
            </a:pPr>
            <a:r>
              <a:rPr lang="en-US" altLang="zh-CN" sz="2800" dirty="0" smtClean="0">
                <a:latin typeface="+mn-ea"/>
              </a:rPr>
              <a:t>OE</a:t>
            </a:r>
            <a:r>
              <a:rPr lang="zh-CN" altLang="en-US" sz="2800" dirty="0" smtClean="0">
                <a:latin typeface="+mn-ea"/>
              </a:rPr>
              <a:t>：盐酸浓度大，</a:t>
            </a:r>
            <a:r>
              <a:rPr lang="en-US" altLang="zh-CN" sz="2800" dirty="0" smtClean="0">
                <a:latin typeface="+mn-ea"/>
              </a:rPr>
              <a:t>R</a:t>
            </a:r>
            <a:r>
              <a:rPr lang="zh-CN" altLang="en-US" sz="2800" dirty="0" smtClean="0">
                <a:latin typeface="+mn-ea"/>
              </a:rPr>
              <a:t>快；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buNone/>
            </a:pPr>
            <a:r>
              <a:rPr lang="en-US" altLang="zh-CN" sz="2800" dirty="0" smtClean="0">
                <a:latin typeface="+mn-ea"/>
              </a:rPr>
              <a:t>	EF</a:t>
            </a:r>
            <a:r>
              <a:rPr lang="zh-CN" altLang="en-US" sz="2800" dirty="0" smtClean="0">
                <a:latin typeface="+mn-ea"/>
              </a:rPr>
              <a:t>：反应为放热反应，随着反应的进行体系温度升高，</a:t>
            </a:r>
            <a:r>
              <a:rPr lang="en-US" altLang="zh-CN" sz="2800" dirty="0" smtClean="0">
                <a:latin typeface="+mn-ea"/>
              </a:rPr>
              <a:t>R</a:t>
            </a:r>
            <a:r>
              <a:rPr lang="zh-CN" altLang="en-US" sz="2800" dirty="0" smtClean="0">
                <a:latin typeface="+mn-ea"/>
              </a:rPr>
              <a:t>加快。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buNone/>
            </a:pPr>
            <a:r>
              <a:rPr lang="en-US" altLang="zh-CN" sz="2800" dirty="0" smtClean="0">
                <a:latin typeface="+mn-ea"/>
              </a:rPr>
              <a:t>	FG</a:t>
            </a:r>
            <a:r>
              <a:rPr lang="zh-CN" altLang="en-US" sz="2800" dirty="0" smtClean="0">
                <a:latin typeface="+mn-ea"/>
              </a:rPr>
              <a:t>：盐酸浓度降低，</a:t>
            </a:r>
            <a:r>
              <a:rPr lang="en-US" altLang="zh-CN" sz="2800" dirty="0" smtClean="0">
                <a:latin typeface="+mn-ea"/>
              </a:rPr>
              <a:t>R</a:t>
            </a:r>
            <a:r>
              <a:rPr lang="zh-CN" altLang="en-US" sz="2800" dirty="0" smtClean="0">
                <a:latin typeface="+mn-ea"/>
              </a:rPr>
              <a:t>减小。</a:t>
            </a:r>
            <a:endParaRPr lang="en-US" altLang="zh-CN" sz="2800" dirty="0" smtClean="0">
              <a:latin typeface="+mn-ea"/>
            </a:endParaRPr>
          </a:p>
          <a:p>
            <a:pPr marL="514350" indent="-514350">
              <a:buNone/>
            </a:pPr>
            <a:r>
              <a:rPr lang="en-US" altLang="zh-CN" sz="2800" dirty="0" smtClean="0">
                <a:latin typeface="+mn-ea"/>
              </a:rPr>
              <a:t>(3)A &amp; C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作答题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6.</a:t>
            </a:r>
            <a:r>
              <a:rPr lang="zh-CN" altLang="en-US" sz="2800" dirty="0" smtClean="0">
                <a:latin typeface="+mn-ea"/>
              </a:rPr>
              <a:t>放热反应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/>
              <a:t>∆H=E1 – E2 </a:t>
            </a:r>
          </a:p>
          <a:p>
            <a:pPr marL="0" indent="0">
              <a:buNone/>
            </a:pPr>
            <a:r>
              <a:rPr lang="en-US" altLang="zh-CN" sz="2800" dirty="0" smtClean="0"/>
              <a:t>Ea(</a:t>
            </a:r>
            <a:r>
              <a:rPr lang="zh-CN" altLang="en-US" sz="2800" dirty="0" smtClean="0"/>
              <a:t>正</a:t>
            </a:r>
            <a:r>
              <a:rPr lang="en-US" altLang="zh-CN" sz="2800" dirty="0" smtClean="0"/>
              <a:t>)=E3-E2 </a:t>
            </a:r>
          </a:p>
          <a:p>
            <a:pPr marL="0" indent="0">
              <a:buNone/>
            </a:pPr>
            <a:r>
              <a:rPr lang="en-US" altLang="zh-CN" sz="2800" dirty="0" smtClean="0"/>
              <a:t>Ea(</a:t>
            </a:r>
            <a:r>
              <a:rPr lang="zh-CN" altLang="en-US" sz="2800" dirty="0" smtClean="0"/>
              <a:t>逆</a:t>
            </a:r>
            <a:r>
              <a:rPr lang="en-US" altLang="zh-CN" sz="2800" dirty="0" smtClean="0"/>
              <a:t>)=E3-E1</a:t>
            </a:r>
          </a:p>
          <a:p>
            <a:pPr marL="0" indent="0">
              <a:buNone/>
            </a:pPr>
            <a:r>
              <a:rPr lang="zh-CN" altLang="en-US" sz="2800" dirty="0" smtClean="0">
                <a:latin typeface="+mn-ea"/>
              </a:rPr>
              <a:t>使用催化剂后</a:t>
            </a:r>
            <a:r>
              <a:rPr lang="en-US" altLang="zh-CN" sz="2800" dirty="0" smtClean="0"/>
              <a:t>∆H</a:t>
            </a:r>
            <a:r>
              <a:rPr lang="zh-CN" altLang="en-US" sz="2800" dirty="0" smtClean="0"/>
              <a:t>不变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7. R(NO)= 			= 0.12Mmin</a:t>
            </a:r>
            <a:r>
              <a:rPr lang="en-US" altLang="zh-CN" sz="2800" baseline="30000" dirty="0" smtClean="0">
                <a:latin typeface="+mn-ea"/>
              </a:rPr>
              <a:t>-1</a:t>
            </a:r>
            <a:r>
              <a:rPr lang="en-US" altLang="zh-CN" sz="2800" dirty="0" smtClean="0">
                <a:latin typeface="+mn-ea"/>
              </a:rPr>
              <a:t> = R(NH</a:t>
            </a:r>
            <a:r>
              <a:rPr lang="en-US" altLang="zh-CN" sz="2800" baseline="-25000" dirty="0" smtClean="0">
                <a:latin typeface="+mn-ea"/>
              </a:rPr>
              <a:t>3</a:t>
            </a:r>
            <a:r>
              <a:rPr lang="en-US" altLang="zh-CN" sz="2800" dirty="0" smtClean="0">
                <a:latin typeface="+mn-ea"/>
              </a:rPr>
              <a:t>)</a:t>
            </a: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	    R(O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)=0.15Mmin</a:t>
            </a:r>
            <a:r>
              <a:rPr lang="en-US" altLang="zh-CN" sz="2800" baseline="30000" dirty="0" smtClean="0">
                <a:latin typeface="+mn-ea"/>
              </a:rPr>
              <a:t>-1 </a:t>
            </a: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作答题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514600" y="3505200"/>
          <a:ext cx="1250950" cy="1372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4" imgW="520560" imgH="571320" progId="Equation.3">
                  <p:embed/>
                </p:oleObj>
              </mc:Choice>
              <mc:Fallback>
                <p:oleObj name="Equation" r:id="rId4" imgW="52056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05200"/>
                        <a:ext cx="1250950" cy="13729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495800" y="4114800"/>
            <a:ext cx="17526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629400" y="4114800"/>
            <a:ext cx="1143000" cy="45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990600" y="4876800"/>
          <a:ext cx="2743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6" imgW="876240" imgH="406080" progId="Equation.3">
                  <p:embed/>
                </p:oleObj>
              </mc:Choice>
              <mc:Fallback>
                <p:oleObj name="Equation" r:id="rId6" imgW="876240" imgH="4060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876800"/>
                        <a:ext cx="2743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第16章 溶液\背景图\Picture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2307"/>
            <a:ext cx="9161463" cy="688181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8. </a:t>
            </a:r>
            <a:r>
              <a:rPr lang="zh-CN" altLang="en-US" sz="2800" dirty="0" smtClean="0">
                <a:latin typeface="+mn-ea"/>
              </a:rPr>
              <a:t>因为活化分子具有比较高的能量，只有活化分子的碰撞才是有效碰撞；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+mn-ea"/>
              </a:rPr>
              <a:t>升高温度、使用催化剂。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9. </a:t>
            </a:r>
            <a:r>
              <a:rPr lang="zh-CN" altLang="en-US" sz="2800" dirty="0" smtClean="0">
                <a:latin typeface="+mn-ea"/>
              </a:rPr>
              <a:t>催化剂能将高能量途径变成低能量途径，降低反应的活化能。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10. </a:t>
            </a:r>
            <a:r>
              <a:rPr lang="en-US" altLang="zh-CN" sz="2800" dirty="0" smtClean="0"/>
              <a:t>∆T=30</a:t>
            </a:r>
            <a:r>
              <a:rPr lang="en-US" altLang="zh-CN" sz="2800" baseline="30000" dirty="0" smtClean="0"/>
              <a:t>o</a:t>
            </a:r>
            <a:r>
              <a:rPr lang="en-US" altLang="zh-CN" sz="2800" dirty="0" smtClean="0"/>
              <a:t>C </a:t>
            </a:r>
          </a:p>
          <a:p>
            <a:pPr marL="0" indent="0">
              <a:buNone/>
            </a:pPr>
            <a:r>
              <a:rPr lang="en-US" altLang="zh-CN" sz="2800" dirty="0" smtClean="0"/>
              <a:t>		</a:t>
            </a:r>
            <a:r>
              <a:rPr lang="en-US" altLang="zh-CN" dirty="0" smtClean="0"/>
              <a:t>	R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= 2</a:t>
            </a:r>
            <a:r>
              <a:rPr lang="en-US" altLang="zh-CN" baseline="30000" dirty="0" smtClean="0"/>
              <a:t> </a:t>
            </a:r>
            <a:r>
              <a:rPr lang="en-US" altLang="zh-CN" dirty="0" smtClean="0"/>
              <a:t>   R</a:t>
            </a:r>
          </a:p>
          <a:p>
            <a:pPr marL="0" indent="0">
              <a:buNone/>
            </a:pPr>
            <a:r>
              <a:rPr lang="en-US" altLang="zh-CN" dirty="0" smtClean="0"/>
              <a:t>			R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= 2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 R</a:t>
            </a:r>
            <a:r>
              <a:rPr lang="en-US" dirty="0" smtClean="0"/>
              <a:t>    			    </a:t>
            </a:r>
          </a:p>
          <a:p>
            <a:pPr marL="0" indent="0">
              <a:buNone/>
            </a:pPr>
            <a:r>
              <a:rPr lang="en-US" dirty="0" smtClean="0"/>
              <a:t> 			     </a:t>
            </a:r>
            <a:r>
              <a:rPr lang="en-US" altLang="zh-CN" dirty="0" smtClean="0"/>
              <a:t>= 8R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endParaRPr lang="en-US" altLang="zh-CN" sz="2800" dirty="0" smtClean="0">
              <a:latin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6408" y="0"/>
            <a:ext cx="7571184" cy="922114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ea"/>
                <a:ea typeface="+mn-ea"/>
              </a:rPr>
              <a:t>作答题</a:t>
            </a:r>
            <a:endParaRPr lang="en-US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latin typeface="+mn-ea"/>
              <a:ea typeface="+mn-ea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117997" y="3424535"/>
            <a:ext cx="517379" cy="766465"/>
            <a:chOff x="1807070" y="3729335"/>
            <a:chExt cx="517379" cy="766465"/>
          </a:xfrm>
        </p:grpSpPr>
        <p:sp>
          <p:nvSpPr>
            <p:cNvPr id="7" name="TextBox 6"/>
            <p:cNvSpPr txBox="1"/>
            <p:nvPr/>
          </p:nvSpPr>
          <p:spPr>
            <a:xfrm>
              <a:off x="1828800" y="37293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30</a:t>
              </a:r>
              <a:endParaRPr lang="en-US" sz="22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07070" y="4034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10</a:t>
              </a:r>
              <a:endParaRPr lang="en-US" sz="2200" dirty="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828800" y="4108747"/>
              <a:ext cx="457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160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3003</Words>
  <Application>Microsoft Office PowerPoint</Application>
  <PresentationFormat>On-screen Show (4:3)</PresentationFormat>
  <Paragraphs>521</Paragraphs>
  <Slides>53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5" baseType="lpstr">
      <vt:lpstr>Office Theme</vt:lpstr>
      <vt:lpstr>Equation</vt:lpstr>
      <vt:lpstr>第20章 化学反应速率 </vt:lpstr>
      <vt:lpstr>20.1 化学反应速率的意义及其表示法</vt:lpstr>
      <vt:lpstr>20.1 化学反应速率的意义及其表示法</vt:lpstr>
      <vt:lpstr>公式</vt:lpstr>
      <vt:lpstr>公式</vt:lpstr>
      <vt:lpstr>20.1 化学反应速率的意义及其表示法</vt:lpstr>
      <vt:lpstr>问题解决</vt:lpstr>
      <vt:lpstr>补充题</vt:lpstr>
      <vt:lpstr>思考题20a</vt:lpstr>
      <vt:lpstr>20.2 影响化学反应速率的因素</vt:lpstr>
      <vt:lpstr>20.2.1反应物的本性和 表面积大小与化学反应速率</vt:lpstr>
      <vt:lpstr>20.2.1反应物的本性和 表面积大小与化学反应速率</vt:lpstr>
      <vt:lpstr>思考题20b</vt:lpstr>
      <vt:lpstr>PowerPoint Presentation</vt:lpstr>
      <vt:lpstr>20.2.2 反应物浓度与化学反应速率</vt:lpstr>
      <vt:lpstr>问题解决</vt:lpstr>
      <vt:lpstr>20.2.2 反应物浓度与化学反应速率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20.2.3 反应温度与化学反应速率</vt:lpstr>
      <vt:lpstr>PowerPoint Presentation</vt:lpstr>
      <vt:lpstr>PowerPoint Presentation</vt:lpstr>
      <vt:lpstr>分子动能分布曲线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20.2.4 催化剂与化学反应速率</vt:lpstr>
      <vt:lpstr>20.2.4 催化剂与化学反应速率</vt:lpstr>
      <vt:lpstr>20.2.4 催化剂与化学反应速率</vt:lpstr>
      <vt:lpstr>补充题</vt:lpstr>
      <vt:lpstr>思考题20e</vt:lpstr>
      <vt:lpstr>选择题</vt:lpstr>
      <vt:lpstr>选择题</vt:lpstr>
      <vt:lpstr>选择题</vt:lpstr>
      <vt:lpstr>选择题</vt:lpstr>
      <vt:lpstr>作答题2、3、6、7、9</vt:lpstr>
      <vt:lpstr>作答题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commonuser</cp:lastModifiedBy>
  <cp:revision>202</cp:revision>
  <dcterms:created xsi:type="dcterms:W3CDTF">2016-03-27T02:57:22Z</dcterms:created>
  <dcterms:modified xsi:type="dcterms:W3CDTF">2025-07-20T12:49:18Z</dcterms:modified>
</cp:coreProperties>
</file>