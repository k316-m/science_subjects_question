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9" r:id="rId5"/>
    <p:sldId id="260" r:id="rId6"/>
    <p:sldId id="271" r:id="rId7"/>
    <p:sldId id="272" r:id="rId8"/>
    <p:sldId id="273" r:id="rId9"/>
    <p:sldId id="274" r:id="rId10"/>
    <p:sldId id="277" r:id="rId11"/>
    <p:sldId id="278" r:id="rId12"/>
    <p:sldId id="279" r:id="rId13"/>
    <p:sldId id="280" r:id="rId14"/>
    <p:sldId id="281" r:id="rId15"/>
    <p:sldId id="282" r:id="rId16"/>
    <p:sldId id="262" r:id="rId17"/>
    <p:sldId id="275" r:id="rId18"/>
    <p:sldId id="258" r:id="rId19"/>
    <p:sldId id="263" r:id="rId20"/>
    <p:sldId id="267" r:id="rId21"/>
    <p:sldId id="261" r:id="rId22"/>
    <p:sldId id="266" r:id="rId23"/>
    <p:sldId id="276" r:id="rId24"/>
    <p:sldId id="26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5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BB7D-F919-4C26-B7FA-61E298840746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110-A00C-42E3-9229-E3C3BF9F20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BB7D-F919-4C26-B7FA-61E298840746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110-A00C-42E3-9229-E3C3BF9F20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BB7D-F919-4C26-B7FA-61E298840746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110-A00C-42E3-9229-E3C3BF9F20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BB7D-F919-4C26-B7FA-61E298840746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110-A00C-42E3-9229-E3C3BF9F20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BB7D-F919-4C26-B7FA-61E298840746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110-A00C-42E3-9229-E3C3BF9F20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BB7D-F919-4C26-B7FA-61E298840746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110-A00C-42E3-9229-E3C3BF9F20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BB7D-F919-4C26-B7FA-61E298840746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110-A00C-42E3-9229-E3C3BF9F20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BB7D-F919-4C26-B7FA-61E298840746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110-A00C-42E3-9229-E3C3BF9F20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BB7D-F919-4C26-B7FA-61E298840746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110-A00C-42E3-9229-E3C3BF9F20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BB7D-F919-4C26-B7FA-61E298840746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110-A00C-42E3-9229-E3C3BF9F20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BB7D-F919-4C26-B7FA-61E298840746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110-A00C-42E3-9229-E3C3BF9F20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2BB7D-F919-4C26-B7FA-61E298840746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ED110-A00C-42E3-9229-E3C3BF9F205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第三章 原子与分子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1. C</a:t>
            </a:r>
          </a:p>
          <a:p>
            <a:pPr>
              <a:buNone/>
            </a:pPr>
            <a:r>
              <a:rPr lang="en-US" dirty="0"/>
              <a:t>2. D 	</a:t>
            </a:r>
            <a:r>
              <a:rPr lang="zh-CN" altLang="en-US" dirty="0"/>
              <a:t>质子数</a:t>
            </a:r>
            <a:r>
              <a:rPr lang="en-US" altLang="zh-CN" dirty="0"/>
              <a:t>=</a:t>
            </a:r>
            <a:r>
              <a:rPr lang="zh-CN" altLang="en-US" dirty="0"/>
              <a:t>电子数，所以原子不带电</a:t>
            </a:r>
            <a:endParaRPr lang="en-MY" altLang="zh-CN" dirty="0"/>
          </a:p>
          <a:p>
            <a:pPr>
              <a:buNone/>
            </a:pPr>
            <a:r>
              <a:rPr lang="en-US" altLang="zh-CN" dirty="0"/>
              <a:t>3. A 	</a:t>
            </a:r>
            <a:r>
              <a:rPr lang="zh-CN" altLang="en-US" dirty="0"/>
              <a:t>原子质量是指</a:t>
            </a:r>
            <a:r>
              <a:rPr lang="zh-CN" altLang="en-US" dirty="0">
                <a:solidFill>
                  <a:srgbClr val="FF0000"/>
                </a:solidFill>
              </a:rPr>
              <a:t>实际</a:t>
            </a:r>
            <a:r>
              <a:rPr lang="zh-CN" altLang="en-US" dirty="0"/>
              <a:t>质量</a:t>
            </a:r>
            <a:endParaRPr lang="en-US" altLang="zh-CN" dirty="0"/>
          </a:p>
          <a:p>
            <a:pPr>
              <a:buNone/>
            </a:pPr>
            <a:r>
              <a:rPr lang="en-US" dirty="0"/>
              <a:t>		</a:t>
            </a:r>
            <a:r>
              <a:rPr lang="zh-CN" altLang="en-US" dirty="0"/>
              <a:t>相对原子质量只是一个比值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4. B </a:t>
            </a:r>
            <a:r>
              <a:rPr lang="zh-CN" altLang="en-US" dirty="0"/>
              <a:t>相对原子质量没单位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5. D </a:t>
            </a:r>
            <a:r>
              <a:rPr lang="zh-CN" altLang="en-US" dirty="0"/>
              <a:t>原子：质子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	 </a:t>
            </a:r>
            <a:r>
              <a:rPr lang="zh-CN" altLang="en-US" dirty="0"/>
              <a:t>中子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	 </a:t>
            </a:r>
            <a:r>
              <a:rPr lang="zh-CN" altLang="en-US" dirty="0"/>
              <a:t>电子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	  </a:t>
            </a:r>
          </a:p>
          <a:p>
            <a:pPr>
              <a:buNone/>
            </a:pPr>
            <a:endParaRPr lang="en-US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3657600" y="4596825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14</a:t>
            </a:r>
            <a:endParaRPr lang="en-MY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3695087" y="586740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40</a:t>
            </a:r>
            <a:endParaRPr lang="en-MY" sz="32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209800" y="5791200"/>
            <a:ext cx="297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95700" y="4012050"/>
            <a:ext cx="362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x</a:t>
            </a:r>
            <a:endParaRPr lang="en-MY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3777023" y="5181600"/>
            <a:ext cx="362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x</a:t>
            </a:r>
            <a:endParaRPr lang="en-MY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610600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6. D </a:t>
            </a:r>
          </a:p>
          <a:p>
            <a:pPr>
              <a:buNone/>
            </a:pPr>
            <a:r>
              <a:rPr lang="en-US" altLang="zh-CN" dirty="0"/>
              <a:t>	   </a:t>
            </a:r>
            <a:r>
              <a:rPr lang="zh-CN" altLang="en-US" sz="2800" dirty="0"/>
              <a:t>物质不灭定律：</a:t>
            </a:r>
            <a:r>
              <a:rPr lang="zh-CN" altLang="en-US" sz="2800" b="1" dirty="0">
                <a:solidFill>
                  <a:srgbClr val="FF0000"/>
                </a:solidFill>
              </a:rPr>
              <a:t>在化学反应中</a:t>
            </a:r>
            <a:r>
              <a:rPr lang="zh-CN" altLang="en-US" sz="2800" dirty="0"/>
              <a:t>，物质即不能被消灭，也不能被创造，参与化学反应的各物质的质量总和，等于反应后的各生成物的质量总和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都是物理变化。</a:t>
            </a:r>
            <a:endParaRPr lang="en-US" altLang="zh-CN" dirty="0"/>
          </a:p>
          <a:p>
            <a:pPr marL="514350" indent="-514350">
              <a:buAutoNum type="arabicPeriod" startAt="7"/>
            </a:pPr>
            <a:r>
              <a:rPr lang="en-US" altLang="zh-CN" dirty="0"/>
              <a:t>X </a:t>
            </a:r>
            <a:r>
              <a:rPr lang="zh-CN" altLang="en-US" dirty="0"/>
              <a:t>是一氧化碳</a:t>
            </a:r>
            <a:r>
              <a:rPr lang="en-US" altLang="zh-CN" dirty="0"/>
              <a:t>	a=2.8g	</a:t>
            </a:r>
          </a:p>
          <a:p>
            <a:pPr marL="514350" indent="-514350">
              <a:buNone/>
            </a:pPr>
            <a:r>
              <a:rPr lang="en-US" altLang="zh-CN" dirty="0"/>
              <a:t>C</a:t>
            </a:r>
            <a:r>
              <a:rPr lang="en-US" altLang="zh-CN" baseline="-25000" dirty="0"/>
              <a:t>2</a:t>
            </a:r>
            <a:r>
              <a:rPr lang="en-US" altLang="zh-CN" dirty="0"/>
              <a:t>H</a:t>
            </a:r>
            <a:r>
              <a:rPr lang="en-US" altLang="zh-CN" baseline="-25000" dirty="0"/>
              <a:t>6</a:t>
            </a:r>
            <a:r>
              <a:rPr lang="en-US" altLang="zh-CN" dirty="0"/>
              <a:t>O + 2.5  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3 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O  + CO</a:t>
            </a:r>
            <a:r>
              <a:rPr lang="en-US" altLang="zh-CN" baseline="-25000" dirty="0">
                <a:sym typeface="Wingdings" pitchFamily="2" charset="2"/>
              </a:rPr>
              <a:t>2     </a:t>
            </a:r>
            <a:r>
              <a:rPr lang="en-US" altLang="zh-CN" dirty="0">
                <a:sym typeface="Wingdings" pitchFamily="2" charset="2"/>
              </a:rPr>
              <a:t>+  CO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 46g	       80g	    54g	44g	    28g</a:t>
            </a:r>
            <a:endParaRPr lang="en-US" altLang="zh-CN" dirty="0"/>
          </a:p>
          <a:p>
            <a:pPr marL="514350" indent="-514350">
              <a:buNone/>
            </a:pPr>
            <a:endParaRPr lang="en-US" altLang="zh-CN" dirty="0"/>
          </a:p>
          <a:p>
            <a:pPr marL="514350" indent="-514350">
              <a:buNone/>
            </a:pPr>
            <a:r>
              <a:rPr lang="en-US" altLang="zh-CN" dirty="0"/>
              <a:t>C</a:t>
            </a:r>
            <a:r>
              <a:rPr lang="en-US" altLang="zh-CN" baseline="-25000" dirty="0"/>
              <a:t>2</a:t>
            </a:r>
            <a:r>
              <a:rPr lang="en-US" altLang="zh-CN" dirty="0"/>
              <a:t>H</a:t>
            </a:r>
            <a:r>
              <a:rPr lang="en-US" altLang="zh-CN" baseline="-25000" dirty="0"/>
              <a:t>6</a:t>
            </a:r>
            <a:r>
              <a:rPr lang="en-US" altLang="zh-CN" dirty="0"/>
              <a:t>O + 3	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3 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O  +  2 CO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endParaRPr lang="en-US" altLang="zh-CN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 46g	       96g	    54g	88g		</a:t>
            </a:r>
            <a:r>
              <a:rPr lang="en-US" altLang="zh-CN" dirty="0" err="1">
                <a:sym typeface="Wingdings" pitchFamily="2" charset="2"/>
              </a:rPr>
              <a:t>Ans:D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8696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71800"/>
            <a:ext cx="8229600" cy="3581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/>
              <a:t>10</a:t>
            </a:r>
            <a:r>
              <a:rPr lang="en-US" sz="2800" dirty="0"/>
              <a:t>.  </a:t>
            </a:r>
            <a:r>
              <a:rPr lang="en-US" altLang="zh-CN" sz="3000" dirty="0" err="1"/>
              <a:t>A</a:t>
            </a:r>
            <a:r>
              <a:rPr lang="en-US" altLang="zh-CN" sz="3000" baseline="-25000" dirty="0" err="1"/>
              <a:t>r</a:t>
            </a:r>
            <a:r>
              <a:rPr lang="en-US" altLang="zh-CN" sz="3000" baseline="-25000" dirty="0"/>
              <a:t> </a:t>
            </a:r>
            <a:r>
              <a:rPr lang="en-US" altLang="zh-CN" sz="3000" dirty="0"/>
              <a:t>(Mg)=24</a:t>
            </a:r>
            <a:r>
              <a:rPr lang="zh-CN" altLang="en-US" sz="3000" dirty="0"/>
              <a:t>，</a:t>
            </a:r>
            <a:r>
              <a:rPr lang="en-US" altLang="zh-CN" sz="3000" dirty="0"/>
              <a:t> </a:t>
            </a:r>
            <a:r>
              <a:rPr lang="en-US" altLang="zh-CN" sz="3000" dirty="0" err="1"/>
              <a:t>A</a:t>
            </a:r>
            <a:r>
              <a:rPr lang="en-US" altLang="zh-CN" sz="3000" baseline="-25000" dirty="0" err="1"/>
              <a:t>r</a:t>
            </a:r>
            <a:r>
              <a:rPr lang="en-US" altLang="zh-CN" sz="3000" baseline="-25000" dirty="0"/>
              <a:t> </a:t>
            </a:r>
            <a:r>
              <a:rPr lang="en-US" altLang="zh-CN" sz="3000" dirty="0"/>
              <a:t>(N)=14</a:t>
            </a:r>
          </a:p>
          <a:p>
            <a:pPr>
              <a:buNone/>
            </a:pPr>
            <a:r>
              <a:rPr lang="zh-CN" altLang="en-US" sz="2800" dirty="0"/>
              <a:t>镁和氮的原子个数比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CN" sz="3000" dirty="0"/>
              <a:t>=                    </a:t>
            </a:r>
            <a:r>
              <a:rPr lang="zh-CN" altLang="en-US" sz="3000" dirty="0"/>
              <a:t>：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CN" sz="3000" dirty="0"/>
              <a:t>= 3</a:t>
            </a:r>
            <a:r>
              <a:rPr lang="zh-CN" altLang="en-US" sz="3000" dirty="0"/>
              <a:t>：</a:t>
            </a:r>
            <a:r>
              <a:rPr lang="en-US" altLang="zh-CN" sz="3000" dirty="0"/>
              <a:t>2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3000" dirty="0"/>
              <a:t>氮化镁化学式为</a:t>
            </a:r>
            <a:r>
              <a:rPr lang="en-US" altLang="zh-CN" sz="3000" dirty="0"/>
              <a:t>Mg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N</a:t>
            </a:r>
            <a:r>
              <a:rPr lang="en-US" altLang="zh-CN" sz="3000" baseline="-25000" dirty="0"/>
              <a:t>2 </a:t>
            </a:r>
            <a:r>
              <a:rPr lang="en-US" altLang="zh-CN" sz="3000" dirty="0"/>
              <a:t>   (</a:t>
            </a:r>
            <a:r>
              <a:rPr lang="en-US" altLang="zh-CN" sz="3000" dirty="0" err="1"/>
              <a:t>Ans</a:t>
            </a:r>
            <a:r>
              <a:rPr lang="en-US" altLang="zh-CN" sz="3000" dirty="0"/>
              <a:t>: </a:t>
            </a:r>
            <a:r>
              <a:rPr lang="en-US" altLang="zh-CN" sz="3000" dirty="0">
                <a:solidFill>
                  <a:srgbClr val="FF0000"/>
                </a:solidFill>
              </a:rPr>
              <a:t>B</a:t>
            </a:r>
            <a:r>
              <a:rPr lang="en-US" altLang="zh-CN" sz="3000" dirty="0"/>
              <a:t>)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295400" y="4572000"/>
            <a:ext cx="1143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200400" y="4572000"/>
            <a:ext cx="990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14619" y="4191001"/>
            <a:ext cx="7601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72%</a:t>
            </a:r>
            <a:endParaRPr lang="en-US" sz="2600" dirty="0"/>
          </a:p>
        </p:txBody>
      </p:sp>
      <p:sp>
        <p:nvSpPr>
          <p:cNvPr id="10" name="TextBox 9"/>
          <p:cNvSpPr txBox="1"/>
          <p:nvPr/>
        </p:nvSpPr>
        <p:spPr>
          <a:xfrm>
            <a:off x="1447800" y="4495801"/>
            <a:ext cx="52129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24</a:t>
            </a:r>
            <a:endParaRPr lang="en-US" sz="2600" dirty="0"/>
          </a:p>
        </p:txBody>
      </p:sp>
      <p:sp>
        <p:nvSpPr>
          <p:cNvPr id="11" name="TextBox 10"/>
          <p:cNvSpPr txBox="1"/>
          <p:nvPr/>
        </p:nvSpPr>
        <p:spPr>
          <a:xfrm>
            <a:off x="3276600" y="4191001"/>
            <a:ext cx="7601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28%</a:t>
            </a:r>
            <a:endParaRPr lang="en-US" sz="2600" dirty="0"/>
          </a:p>
        </p:txBody>
      </p:sp>
      <p:sp>
        <p:nvSpPr>
          <p:cNvPr id="12" name="TextBox 11"/>
          <p:cNvSpPr txBox="1"/>
          <p:nvPr/>
        </p:nvSpPr>
        <p:spPr>
          <a:xfrm>
            <a:off x="3364903" y="4495801"/>
            <a:ext cx="52129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14</a:t>
            </a:r>
            <a:endParaRPr lang="en-US" sz="26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57200" y="533400"/>
            <a:ext cx="8610600" cy="259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8. C  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ZnCl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在化合物中，元素的正负化合价的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代数和为零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+3		B +2		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 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 		D +3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uiExpand="1" build="p"/>
      <p:bldP spid="9" grpId="0"/>
      <p:bldP spid="10" grpId="0"/>
      <p:bldP spid="11" grpId="0"/>
      <p:bldP spid="12" grpId="0"/>
      <p:bldP spid="1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5943600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None/>
            </a:pPr>
            <a:r>
              <a:rPr lang="en-US" altLang="zh-CN" dirty="0"/>
              <a:t>11. 		N=14,O=16,C=12,S=32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A 		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N</a:t>
            </a:r>
            <a:r>
              <a:rPr lang="en-US" altLang="zh-CN" baseline="-25000" dirty="0"/>
              <a:t> </a:t>
            </a:r>
            <a:r>
              <a:rPr lang="en-US" altLang="zh-CN" dirty="0"/>
              <a:t> : 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O</a:t>
            </a:r>
            <a:r>
              <a:rPr lang="en-US" altLang="zh-CN" dirty="0"/>
              <a:t> = 14:16 = 7:8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B 		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S</a:t>
            </a:r>
            <a:r>
              <a:rPr lang="en-US" altLang="zh-CN" baseline="-25000" dirty="0"/>
              <a:t> </a:t>
            </a:r>
            <a:r>
              <a:rPr lang="en-US" altLang="zh-CN" dirty="0"/>
              <a:t> : 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O</a:t>
            </a:r>
            <a:r>
              <a:rPr lang="en-US" altLang="zh-CN" dirty="0"/>
              <a:t> = 32:16x2 = 1:1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		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C</a:t>
            </a:r>
            <a:r>
              <a:rPr lang="en-US" altLang="zh-CN" baseline="-25000" dirty="0"/>
              <a:t> </a:t>
            </a:r>
            <a:r>
              <a:rPr lang="en-US" altLang="zh-CN" dirty="0"/>
              <a:t> : 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O</a:t>
            </a:r>
            <a:r>
              <a:rPr lang="en-US" altLang="zh-CN" dirty="0"/>
              <a:t> = 12:16 = 3:4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D		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C</a:t>
            </a:r>
            <a:r>
              <a:rPr lang="en-US" altLang="zh-CN" baseline="-25000" dirty="0"/>
              <a:t> </a:t>
            </a:r>
            <a:r>
              <a:rPr lang="en-US" altLang="zh-CN" dirty="0"/>
              <a:t> : 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O</a:t>
            </a:r>
            <a:r>
              <a:rPr lang="en-US" altLang="zh-CN" dirty="0"/>
              <a:t> = 12:16x2 = 3:8</a:t>
            </a:r>
          </a:p>
          <a:p>
            <a:pPr>
              <a:buClr>
                <a:schemeClr val="bg1"/>
              </a:buClr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12. 		O=16,Fe=56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 (A) 77.78%    </a:t>
            </a:r>
            <a:r>
              <a:rPr lang="en-US" altLang="zh-CN" dirty="0">
                <a:solidFill>
                  <a:srgbClr val="FF0000"/>
                </a:solidFill>
              </a:rPr>
              <a:t>(B) </a:t>
            </a:r>
            <a:r>
              <a:rPr lang="en-US" altLang="zh-CN" dirty="0"/>
              <a:t>87.5%      (C) 72.41%    (D) 70%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 dirty="0"/>
              <a:t>13.  </a:t>
            </a:r>
            <a:endParaRPr lang="en-US" altLang="zh-CN" sz="3000" dirty="0"/>
          </a:p>
          <a:p>
            <a:pPr>
              <a:buNone/>
            </a:pPr>
            <a:r>
              <a:rPr lang="en-US" altLang="zh-CN" sz="2800" dirty="0"/>
              <a:t>X</a:t>
            </a:r>
            <a:r>
              <a:rPr lang="zh-CN" altLang="en-US" sz="2800" dirty="0"/>
              <a:t>和</a:t>
            </a:r>
            <a:r>
              <a:rPr lang="en-US" altLang="zh-CN" sz="2800" dirty="0"/>
              <a:t>Y</a:t>
            </a:r>
            <a:r>
              <a:rPr lang="zh-CN" altLang="en-US" sz="2800" dirty="0"/>
              <a:t>的原子个数比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CN" sz="3000" dirty="0"/>
              <a:t>=                    </a:t>
            </a:r>
            <a:r>
              <a:rPr lang="zh-CN" altLang="en-US" sz="3000" dirty="0"/>
              <a:t>：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CN" sz="3000" dirty="0"/>
              <a:t>= 1 : 0.5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CN" sz="3000" dirty="0"/>
              <a:t>= 2:1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000" dirty="0" err="1"/>
              <a:t>Ans</a:t>
            </a:r>
            <a:r>
              <a:rPr lang="en-US" altLang="zh-CN" sz="3000" dirty="0"/>
              <a:t>: </a:t>
            </a:r>
            <a:r>
              <a:rPr lang="en-US" altLang="zh-CN" sz="3000" dirty="0">
                <a:solidFill>
                  <a:srgbClr val="FF0000"/>
                </a:solidFill>
              </a:rPr>
              <a:t>B </a:t>
            </a:r>
            <a:r>
              <a:rPr lang="en-US" altLang="zh-CN" sz="3000" dirty="0"/>
              <a:t>X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Y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295400" y="2667000"/>
            <a:ext cx="1143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200400" y="2667000"/>
            <a:ext cx="990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52018" y="2286000"/>
            <a:ext cx="35298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7</a:t>
            </a:r>
            <a:endParaRPr lang="en-US" sz="2600" dirty="0"/>
          </a:p>
        </p:txBody>
      </p:sp>
      <p:sp>
        <p:nvSpPr>
          <p:cNvPr id="10" name="TextBox 9"/>
          <p:cNvSpPr txBox="1"/>
          <p:nvPr/>
        </p:nvSpPr>
        <p:spPr>
          <a:xfrm>
            <a:off x="1447800" y="2590800"/>
            <a:ext cx="35298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7018" y="2286000"/>
            <a:ext cx="35298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90800"/>
            <a:ext cx="35298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3774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14. 		N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3</a:t>
            </a:r>
          </a:p>
          <a:p>
            <a:pPr marL="0" indent="0">
              <a:buNone/>
            </a:pPr>
            <a:r>
              <a:rPr lang="en-US" dirty="0"/>
              <a:t>		NO</a:t>
            </a:r>
            <a:r>
              <a:rPr lang="en-US" baseline="-25000" dirty="0"/>
              <a:t>2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m(N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3</a:t>
            </a:r>
            <a:r>
              <a:rPr lang="en-US" dirty="0"/>
              <a:t>): m(2 NO</a:t>
            </a:r>
            <a:r>
              <a:rPr lang="en-US" baseline="-25000" dirty="0"/>
              <a:t>2</a:t>
            </a:r>
            <a:r>
              <a:rPr lang="en-US" dirty="0"/>
              <a:t> )</a:t>
            </a:r>
          </a:p>
          <a:p>
            <a:pPr marL="0" indent="0">
              <a:buNone/>
            </a:pPr>
            <a:r>
              <a:rPr lang="en-US" altLang="zh-CN" dirty="0"/>
              <a:t>= (14x2+16x3)</a:t>
            </a:r>
            <a:r>
              <a:rPr lang="en-US" altLang="zh-CN" dirty="0">
                <a:sym typeface="Wingdings" pitchFamily="2" charset="2"/>
              </a:rPr>
              <a:t>: ( 2x14+4x16 )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= 76: 92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=19:23   </a:t>
            </a:r>
          </a:p>
          <a:p>
            <a:pPr marL="0" indent="0">
              <a:buNone/>
            </a:pPr>
            <a:r>
              <a:rPr lang="en-US" dirty="0" err="1">
                <a:sym typeface="Wingdings" pitchFamily="2" charset="2"/>
              </a:rPr>
              <a:t>Ans:C</a:t>
            </a:r>
            <a:endParaRPr lang="en-MY" dirty="0"/>
          </a:p>
        </p:txBody>
      </p:sp>
      <p:sp>
        <p:nvSpPr>
          <p:cNvPr id="4" name="TextBox 3"/>
          <p:cNvSpPr txBox="1"/>
          <p:nvPr/>
        </p:nvSpPr>
        <p:spPr>
          <a:xfrm>
            <a:off x="1994792" y="99060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2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4114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5943600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None/>
            </a:pPr>
            <a:r>
              <a:rPr lang="en-US" altLang="zh-CN" dirty="0"/>
              <a:t>15. A </a:t>
            </a:r>
            <a:r>
              <a:rPr lang="zh-CN" altLang="en-US" dirty="0"/>
              <a:t>物质的量</a:t>
            </a:r>
            <a:r>
              <a:rPr lang="en-US" altLang="zh-CN" dirty="0" err="1"/>
              <a:t>mol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</a:t>
            </a:r>
            <a:r>
              <a:rPr lang="zh-CN" altLang="en-US" dirty="0"/>
              <a:t>物质的质量 </a:t>
            </a:r>
            <a:r>
              <a:rPr lang="en-US" altLang="zh-CN" dirty="0"/>
              <a:t>g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16. 	A 64g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   	B 2g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   	C 16g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D 	22.4ml=22.4cm</a:t>
            </a:r>
            <a:r>
              <a:rPr lang="en-US" altLang="zh-CN" baseline="30000" dirty="0"/>
              <a:t>3</a:t>
            </a:r>
            <a:r>
              <a:rPr lang="en-US" altLang="zh-CN" dirty="0"/>
              <a:t> 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	1gcm</a:t>
            </a:r>
            <a:r>
              <a:rPr lang="en-US" altLang="zh-CN" baseline="30000" dirty="0"/>
              <a:t>-3 </a:t>
            </a:r>
            <a:r>
              <a:rPr lang="en-US" altLang="zh-CN" dirty="0"/>
              <a:t> 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	m=  22.4cm</a:t>
            </a:r>
            <a:r>
              <a:rPr lang="en-US" altLang="zh-CN" baseline="30000" dirty="0"/>
              <a:t>3</a:t>
            </a:r>
            <a:r>
              <a:rPr lang="en-US" altLang="zh-CN" dirty="0"/>
              <a:t>  x 1gcm</a:t>
            </a:r>
            <a:r>
              <a:rPr lang="en-US" altLang="zh-CN" baseline="30000" dirty="0"/>
              <a:t>-3 </a:t>
            </a:r>
            <a:r>
              <a:rPr lang="en-US" altLang="zh-CN" dirty="0"/>
              <a:t> 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    	    = 22.4g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Ans</a:t>
            </a:r>
            <a:r>
              <a:rPr lang="en-US" altLang="zh-CN" dirty="0"/>
              <a:t>: A </a:t>
            </a:r>
          </a:p>
        </p:txBody>
      </p:sp>
    </p:spTree>
    <p:extLst>
      <p:ext uri="{BB962C8B-B14F-4D97-AF65-F5344CB8AC3E}">
        <p14:creationId xmlns:p14="http://schemas.microsoft.com/office/powerpoint/2010/main" val="28225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5943600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None/>
            </a:pPr>
            <a:r>
              <a:rPr lang="en-US" altLang="zh-CN" dirty="0"/>
              <a:t>17	A 1mol </a:t>
            </a:r>
            <a:r>
              <a:rPr lang="zh-CN" altLang="en-US" dirty="0"/>
              <a:t>氢气质量是 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en-US" altLang="zh-CN" dirty="0"/>
              <a:t>g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   	B 1mol </a:t>
            </a:r>
            <a:r>
              <a:rPr lang="en-US" altLang="zh-CN" dirty="0" err="1"/>
              <a:t>HCl</a:t>
            </a:r>
            <a:r>
              <a:rPr lang="en-US" altLang="zh-CN" dirty="0"/>
              <a:t> </a:t>
            </a:r>
            <a:r>
              <a:rPr lang="zh-CN" altLang="en-US" dirty="0"/>
              <a:t>质量是</a:t>
            </a:r>
            <a:r>
              <a:rPr lang="en-US" altLang="zh-CN" dirty="0"/>
              <a:t>36.5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   	C </a:t>
            </a:r>
            <a:r>
              <a:rPr lang="zh-CN" altLang="en-US" dirty="0"/>
              <a:t>摩尔质量</a:t>
            </a:r>
            <a:r>
              <a:rPr lang="en-US" altLang="zh-CN" dirty="0">
                <a:solidFill>
                  <a:srgbClr val="FF0000"/>
                </a:solidFill>
              </a:rPr>
              <a:t>gmol</a:t>
            </a:r>
            <a:r>
              <a:rPr lang="en-US" altLang="zh-CN" baseline="30000" dirty="0">
                <a:solidFill>
                  <a:srgbClr val="FF0000"/>
                </a:solidFill>
              </a:rPr>
              <a:t>-1 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baseline="30000" dirty="0"/>
              <a:t> </a:t>
            </a:r>
            <a:r>
              <a:rPr lang="en-US" altLang="zh-CN" dirty="0"/>
              <a:t> 		   </a:t>
            </a:r>
            <a:r>
              <a:rPr lang="zh-CN" altLang="en-US" dirty="0"/>
              <a:t>式量 </a:t>
            </a:r>
            <a:r>
              <a:rPr lang="zh-CN" altLang="en-US" dirty="0">
                <a:solidFill>
                  <a:srgbClr val="FF0000"/>
                </a:solidFill>
              </a:rPr>
              <a:t>没单位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</a:t>
            </a:r>
            <a:r>
              <a:rPr lang="en-US" altLang="zh-CN" dirty="0">
                <a:solidFill>
                  <a:srgbClr val="FF0000"/>
                </a:solidFill>
              </a:rPr>
              <a:t>D 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405156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5943600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None/>
            </a:pPr>
            <a:r>
              <a:rPr lang="zh-CN" altLang="en-US" dirty="0"/>
              <a:t>作答题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1.</a:t>
            </a:r>
            <a:r>
              <a:rPr lang="zh-CN" altLang="en-US" dirty="0"/>
              <a:t>两种化合物中，氧的质量都是</a:t>
            </a:r>
            <a:r>
              <a:rPr lang="en-US" altLang="zh-CN" dirty="0"/>
              <a:t>1.5g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   </a:t>
            </a:r>
            <a:r>
              <a:rPr lang="zh-CN" altLang="en-US" dirty="0"/>
              <a:t>其氮的质量比</a:t>
            </a:r>
            <a:r>
              <a:rPr lang="en-US" altLang="zh-CN" dirty="0"/>
              <a:t>	= 2.62 : 0.655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		= 4 : 1(</a:t>
            </a:r>
            <a:r>
              <a:rPr lang="zh-CN" altLang="en-US" dirty="0"/>
              <a:t>整数比</a:t>
            </a:r>
            <a:r>
              <a:rPr lang="en-US" altLang="zh-CN" dirty="0"/>
              <a:t>)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</a:t>
            </a:r>
            <a:r>
              <a:rPr lang="zh-CN" altLang="en-US" dirty="0"/>
              <a:t>这两种化合物都是由氮元素和氧元素化合而成的。在这两种化合物中，与一定量</a:t>
            </a:r>
            <a:r>
              <a:rPr lang="en-US" altLang="zh-CN" dirty="0"/>
              <a:t>(1.5g)</a:t>
            </a:r>
            <a:r>
              <a:rPr lang="zh-CN" altLang="en-US" dirty="0"/>
              <a:t>的氧元素相化合的氮元素的质量，互成简单的整数比</a:t>
            </a:r>
            <a:r>
              <a:rPr lang="en-US" altLang="zh-CN" dirty="0"/>
              <a:t>(4:1)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7912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5943600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None/>
            </a:pPr>
            <a:r>
              <a:rPr lang="zh-CN" altLang="en-US" dirty="0"/>
              <a:t>作答题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2. M(CO</a:t>
            </a:r>
            <a:r>
              <a:rPr lang="en-US" altLang="zh-CN" baseline="-25000" dirty="0"/>
              <a:t>2</a:t>
            </a:r>
            <a:r>
              <a:rPr lang="en-US" altLang="zh-CN" dirty="0"/>
              <a:t>) = 44gmol</a:t>
            </a:r>
            <a:r>
              <a:rPr lang="en-US" altLang="zh-CN" baseline="30000" dirty="0"/>
              <a:t>-1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 m(CO</a:t>
            </a:r>
            <a:r>
              <a:rPr lang="en-US" altLang="zh-CN" baseline="-25000" dirty="0"/>
              <a:t>2</a:t>
            </a:r>
            <a:r>
              <a:rPr lang="en-US" altLang="zh-CN" dirty="0"/>
              <a:t>)= 0.5mol x 44gmol</a:t>
            </a:r>
            <a:r>
              <a:rPr lang="en-US" altLang="zh-CN" baseline="30000" dirty="0"/>
              <a:t>-1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    = 22g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N(CO</a:t>
            </a:r>
            <a:r>
              <a:rPr lang="en-US" altLang="zh-CN" baseline="-25000" dirty="0"/>
              <a:t>2</a:t>
            </a:r>
            <a:r>
              <a:rPr lang="en-US" altLang="zh-CN" dirty="0"/>
              <a:t>) = 0.5molx 6.02 x 10</a:t>
            </a:r>
            <a:r>
              <a:rPr lang="en-US" altLang="zh-CN" baseline="30000" dirty="0"/>
              <a:t>23 </a:t>
            </a:r>
            <a:r>
              <a:rPr lang="en-US" altLang="zh-CN" dirty="0"/>
              <a:t> mol</a:t>
            </a:r>
            <a:r>
              <a:rPr lang="en-US" altLang="zh-CN" baseline="30000" dirty="0"/>
              <a:t>-1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</a:t>
            </a:r>
            <a:r>
              <a:rPr lang="zh-CN" altLang="en-US" dirty="0"/>
              <a:t>  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3.01 x 10</a:t>
            </a:r>
            <a:r>
              <a:rPr lang="en-US" altLang="zh-CN" baseline="30000" dirty="0"/>
              <a:t>23  </a:t>
            </a:r>
            <a:r>
              <a:rPr lang="en-US" altLang="zh-CN" dirty="0"/>
              <a:t> </a:t>
            </a:r>
            <a:r>
              <a:rPr lang="zh-CN" altLang="en-US" dirty="0"/>
              <a:t>个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N(O) = 0.5mol x 2 x 6.02 x 10</a:t>
            </a:r>
            <a:r>
              <a:rPr lang="en-US" altLang="zh-CN" baseline="30000" dirty="0"/>
              <a:t>23 </a:t>
            </a:r>
            <a:r>
              <a:rPr lang="en-US" altLang="zh-CN" dirty="0"/>
              <a:t> mol</a:t>
            </a:r>
            <a:r>
              <a:rPr lang="en-US" altLang="zh-CN" baseline="30000" dirty="0"/>
              <a:t>-1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      = 6.02 x 10</a:t>
            </a:r>
            <a:r>
              <a:rPr lang="en-US" altLang="zh-CN" baseline="30000" dirty="0"/>
              <a:t>23 </a:t>
            </a:r>
            <a:r>
              <a:rPr lang="en-US" altLang="zh-CN" dirty="0"/>
              <a:t> </a:t>
            </a:r>
            <a:r>
              <a:rPr lang="zh-CN" altLang="en-US" dirty="0"/>
              <a:t>个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N(e</a:t>
            </a:r>
            <a:r>
              <a:rPr lang="en-US" altLang="zh-CN" baseline="30000" dirty="0"/>
              <a:t>-</a:t>
            </a:r>
            <a:r>
              <a:rPr lang="en-US" altLang="zh-CN" dirty="0"/>
              <a:t> )=( 0.5x 6 + 0.5 x 2 x 8)mol x6.02 x 10</a:t>
            </a:r>
            <a:r>
              <a:rPr lang="en-US" altLang="zh-CN" baseline="30000" dirty="0"/>
              <a:t>23 </a:t>
            </a:r>
            <a:r>
              <a:rPr lang="en-US" altLang="zh-CN" dirty="0"/>
              <a:t> mol</a:t>
            </a:r>
            <a:r>
              <a:rPr lang="en-US" altLang="zh-CN" baseline="30000" dirty="0"/>
              <a:t>-1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= 6.62 x 10</a:t>
            </a:r>
            <a:r>
              <a:rPr lang="en-US" altLang="zh-CN" baseline="30000" dirty="0"/>
              <a:t>24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7912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5943600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None/>
            </a:pPr>
            <a:r>
              <a:rPr lang="zh-CN" altLang="en-US" dirty="0"/>
              <a:t>作答题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3. n(CO</a:t>
            </a:r>
            <a:r>
              <a:rPr lang="en-US" altLang="zh-CN" baseline="-25000" dirty="0"/>
              <a:t>2</a:t>
            </a:r>
            <a:r>
              <a:rPr lang="en-US" altLang="zh-CN" dirty="0"/>
              <a:t>) : n (SO</a:t>
            </a:r>
            <a:r>
              <a:rPr lang="en-US" altLang="zh-CN" baseline="-25000" dirty="0"/>
              <a:t>2</a:t>
            </a:r>
            <a:r>
              <a:rPr lang="en-US" altLang="zh-CN" dirty="0"/>
              <a:t>) = 5:8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     CO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与</a:t>
            </a:r>
            <a:r>
              <a:rPr lang="en-US" altLang="zh-CN" dirty="0"/>
              <a:t>SO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原子数之比 </a:t>
            </a:r>
            <a:r>
              <a:rPr lang="en-US" altLang="zh-CN" dirty="0"/>
              <a:t>= 5x3 : 8x3 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			        = 5:8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m(5CO</a:t>
            </a:r>
            <a:r>
              <a:rPr lang="en-US" altLang="zh-CN" baseline="-25000" dirty="0"/>
              <a:t>2</a:t>
            </a:r>
            <a:r>
              <a:rPr lang="en-US" altLang="zh-CN" dirty="0"/>
              <a:t>) : m (8SO</a:t>
            </a:r>
            <a:r>
              <a:rPr lang="en-US" altLang="zh-CN" baseline="-25000" dirty="0"/>
              <a:t>2</a:t>
            </a:r>
            <a:r>
              <a:rPr lang="en-US" altLang="zh-CN" dirty="0"/>
              <a:t>)= 5x44 : 8x 64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		    = 55:128</a:t>
            </a:r>
          </a:p>
          <a:p>
            <a:pPr>
              <a:buClr>
                <a:schemeClr val="bg1"/>
              </a:buClr>
              <a:buNone/>
            </a:pPr>
            <a:endParaRPr lang="en-US" altLang="zh-CN" baseline="30000" dirty="0"/>
          </a:p>
        </p:txBody>
      </p:sp>
    </p:spTree>
    <p:extLst>
      <p:ext uri="{BB962C8B-B14F-4D97-AF65-F5344CB8AC3E}">
        <p14:creationId xmlns:p14="http://schemas.microsoft.com/office/powerpoint/2010/main" val="427912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6096000"/>
          </a:xfrm>
        </p:spPr>
        <p:txBody>
          <a:bodyPr>
            <a:normAutofit lnSpcReduction="10000"/>
          </a:bodyPr>
          <a:lstStyle/>
          <a:p>
            <a:pPr>
              <a:buClr>
                <a:schemeClr val="bg1"/>
              </a:buClr>
              <a:buNone/>
            </a:pPr>
            <a:r>
              <a:rPr lang="zh-CN" altLang="en-US" dirty="0"/>
              <a:t>作答题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4. n(H</a:t>
            </a:r>
            <a:r>
              <a:rPr lang="en-US" altLang="zh-CN" baseline="-25000" dirty="0"/>
              <a:t>2</a:t>
            </a:r>
            <a:r>
              <a:rPr lang="en-US" altLang="zh-CN" dirty="0"/>
              <a:t>O)= 4.5g / 18gmol</a:t>
            </a:r>
            <a:r>
              <a:rPr lang="en-US" altLang="zh-CN" baseline="30000" dirty="0"/>
              <a:t>-1</a:t>
            </a:r>
            <a:r>
              <a:rPr lang="en-US" altLang="zh-CN" dirty="0"/>
              <a:t> 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      = 0.25mol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    m(H</a:t>
            </a:r>
            <a:r>
              <a:rPr lang="en-US" altLang="zh-CN" baseline="-25000" dirty="0"/>
              <a:t>2</a:t>
            </a:r>
            <a:r>
              <a:rPr lang="en-US" altLang="zh-CN" dirty="0"/>
              <a:t>SO</a:t>
            </a:r>
            <a:r>
              <a:rPr lang="en-US" altLang="zh-CN" baseline="-25000" dirty="0"/>
              <a:t>4</a:t>
            </a:r>
            <a:r>
              <a:rPr lang="en-US" altLang="zh-CN" dirty="0"/>
              <a:t>) = 0.25mol x 98gmol</a:t>
            </a:r>
            <a:r>
              <a:rPr lang="en-US" altLang="zh-CN" baseline="30000" dirty="0"/>
              <a:t>-1 </a:t>
            </a:r>
            <a:r>
              <a:rPr lang="en-US" altLang="zh-CN" dirty="0"/>
              <a:t> 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	  = 24.5g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baseline="30000" dirty="0"/>
              <a:t> </a:t>
            </a:r>
            <a:r>
              <a:rPr lang="en-US" altLang="zh-CN" dirty="0"/>
              <a:t> 0.25mol</a:t>
            </a:r>
            <a:r>
              <a:rPr lang="zh-CN" altLang="en-US" dirty="0"/>
              <a:t>水与</a:t>
            </a:r>
            <a:r>
              <a:rPr lang="en-US" altLang="zh-CN" dirty="0"/>
              <a:t>0.25mol</a:t>
            </a:r>
            <a:r>
              <a:rPr lang="zh-CN" altLang="en-US" dirty="0"/>
              <a:t>硫酸分子中</a:t>
            </a:r>
            <a:r>
              <a:rPr lang="en-US" altLang="zh-CN" dirty="0"/>
              <a:t>O</a:t>
            </a:r>
            <a:r>
              <a:rPr lang="zh-CN" altLang="en-US" dirty="0"/>
              <a:t>原子数之比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baseline="30000" dirty="0"/>
              <a:t> </a:t>
            </a:r>
            <a:r>
              <a:rPr lang="en-US" altLang="zh-CN" dirty="0"/>
              <a:t> = 0.25 </a:t>
            </a:r>
            <a:r>
              <a:rPr lang="zh-CN" altLang="en-US" dirty="0"/>
              <a:t>： </a:t>
            </a:r>
            <a:r>
              <a:rPr lang="en-US" altLang="zh-CN" dirty="0"/>
              <a:t>0.25x4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  = 1:4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 0.25mol</a:t>
            </a:r>
            <a:r>
              <a:rPr lang="zh-CN" altLang="en-US" dirty="0"/>
              <a:t>水与</a:t>
            </a:r>
            <a:r>
              <a:rPr lang="en-US" altLang="zh-CN" dirty="0"/>
              <a:t>0.25mol</a:t>
            </a:r>
            <a:r>
              <a:rPr lang="zh-CN" altLang="en-US" dirty="0"/>
              <a:t>硫酸分子中</a:t>
            </a:r>
            <a:r>
              <a:rPr lang="en-US" altLang="zh-CN" dirty="0"/>
              <a:t>H</a:t>
            </a:r>
            <a:r>
              <a:rPr lang="zh-CN" altLang="en-US" dirty="0"/>
              <a:t>原子数之比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baseline="30000" dirty="0"/>
              <a:t> </a:t>
            </a:r>
            <a:r>
              <a:rPr lang="en-US" altLang="zh-CN" dirty="0"/>
              <a:t> = 0.25x2 </a:t>
            </a:r>
            <a:r>
              <a:rPr lang="zh-CN" altLang="en-US" dirty="0"/>
              <a:t>： </a:t>
            </a:r>
            <a:r>
              <a:rPr lang="en-US" altLang="zh-CN" dirty="0"/>
              <a:t>0.25x2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  = 1:1</a:t>
            </a:r>
            <a:endParaRPr lang="en-US" altLang="zh-CN" baseline="30000" dirty="0"/>
          </a:p>
        </p:txBody>
      </p:sp>
    </p:spTree>
    <p:extLst>
      <p:ext uri="{BB962C8B-B14F-4D97-AF65-F5344CB8AC3E}">
        <p14:creationId xmlns:p14="http://schemas.microsoft.com/office/powerpoint/2010/main" val="427912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7010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600" dirty="0"/>
              <a:t>5.</a:t>
            </a:r>
            <a:r>
              <a:rPr lang="zh-CN" altLang="en-US" sz="2600" dirty="0"/>
              <a:t>化肥尿素和硫酸铵中，哪种化肥中所含氮元素的质量百分比较大？</a:t>
            </a:r>
            <a:endParaRPr lang="en-US" altLang="zh-CN" sz="2600" dirty="0"/>
          </a:p>
          <a:p>
            <a:r>
              <a:rPr lang="en-US" altLang="zh-CN" sz="2600" dirty="0" err="1"/>
              <a:t>A</a:t>
            </a:r>
            <a:r>
              <a:rPr lang="en-US" altLang="zh-CN" sz="2600" baseline="-25000" dirty="0" err="1"/>
              <a:t>r</a:t>
            </a:r>
            <a:r>
              <a:rPr lang="zh-CN" altLang="en-US" sz="2600" baseline="-25000" dirty="0"/>
              <a:t> </a:t>
            </a:r>
            <a:r>
              <a:rPr lang="en-US" altLang="zh-CN" sz="2600" dirty="0"/>
              <a:t>(H) =1; </a:t>
            </a:r>
            <a:r>
              <a:rPr lang="en-US" altLang="zh-CN" sz="2600" dirty="0" err="1"/>
              <a:t>A</a:t>
            </a:r>
            <a:r>
              <a:rPr lang="en-US" altLang="zh-CN" sz="2600" baseline="-25000" dirty="0" err="1"/>
              <a:t>r</a:t>
            </a:r>
            <a:r>
              <a:rPr lang="zh-CN" altLang="en-US" sz="2600" baseline="-25000" dirty="0"/>
              <a:t> </a:t>
            </a:r>
            <a:r>
              <a:rPr lang="en-US" altLang="zh-CN" sz="2600" dirty="0"/>
              <a:t>(C) =12; </a:t>
            </a:r>
            <a:r>
              <a:rPr lang="en-US" altLang="zh-CN" sz="2600" dirty="0" err="1"/>
              <a:t>A</a:t>
            </a:r>
            <a:r>
              <a:rPr lang="en-US" altLang="zh-CN" sz="2600" baseline="-25000" dirty="0" err="1"/>
              <a:t>r</a:t>
            </a:r>
            <a:r>
              <a:rPr lang="zh-CN" altLang="en-US" sz="2600" baseline="-25000" dirty="0"/>
              <a:t> </a:t>
            </a:r>
            <a:r>
              <a:rPr lang="en-US" altLang="zh-CN" sz="2600" dirty="0"/>
              <a:t>(N) =14; </a:t>
            </a:r>
            <a:r>
              <a:rPr lang="en-US" altLang="zh-CN" sz="2600" dirty="0" err="1"/>
              <a:t>A</a:t>
            </a:r>
            <a:r>
              <a:rPr lang="en-US" altLang="zh-CN" sz="2600" baseline="-25000" dirty="0" err="1"/>
              <a:t>r</a:t>
            </a:r>
            <a:r>
              <a:rPr lang="zh-CN" altLang="en-US" sz="2600" baseline="-25000" dirty="0"/>
              <a:t> </a:t>
            </a:r>
            <a:r>
              <a:rPr lang="en-US" altLang="zh-CN" sz="2600" dirty="0"/>
              <a:t>(O) =16;	 </a:t>
            </a:r>
            <a:r>
              <a:rPr lang="en-US" altLang="zh-CN" sz="2600" dirty="0" err="1"/>
              <a:t>A</a:t>
            </a:r>
            <a:r>
              <a:rPr lang="en-US" altLang="zh-CN" sz="2600" baseline="-25000" dirty="0" err="1"/>
              <a:t>r</a:t>
            </a:r>
            <a:r>
              <a:rPr lang="zh-CN" altLang="en-US" sz="2600" baseline="-25000" dirty="0"/>
              <a:t> </a:t>
            </a:r>
            <a:r>
              <a:rPr lang="en-US" altLang="zh-CN" sz="2600" dirty="0"/>
              <a:t>(S) =32; </a:t>
            </a:r>
          </a:p>
          <a:p>
            <a:r>
              <a:rPr lang="en-US" altLang="zh-CN" sz="2600" dirty="0" err="1"/>
              <a:t>M</a:t>
            </a:r>
            <a:r>
              <a:rPr lang="en-US" altLang="zh-CN" sz="2600" baseline="-25000" dirty="0" err="1"/>
              <a:t>r</a:t>
            </a:r>
            <a:r>
              <a:rPr lang="en-US" altLang="zh-CN" sz="2600" dirty="0"/>
              <a:t> [CO(NH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]= 12+16+2x14+1x4 = 60</a:t>
            </a:r>
          </a:p>
          <a:p>
            <a:r>
              <a:rPr lang="en-US" altLang="zh-CN" sz="2600" dirty="0" err="1"/>
              <a:t>M</a:t>
            </a:r>
            <a:r>
              <a:rPr lang="en-US" altLang="zh-CN" sz="2600" baseline="-25000" dirty="0" err="1"/>
              <a:t>r</a:t>
            </a:r>
            <a:r>
              <a:rPr lang="en-US" altLang="zh-CN" sz="2600" dirty="0"/>
              <a:t> [(NH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)</a:t>
            </a:r>
            <a:r>
              <a:rPr lang="en-US" altLang="zh-CN" sz="2600" baseline="-25000" dirty="0"/>
              <a:t>2 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 ]= 14x2+1x8+32+16x4 = 132</a:t>
            </a:r>
          </a:p>
          <a:p>
            <a:pPr>
              <a:buClr>
                <a:schemeClr val="bg1"/>
              </a:buClr>
            </a:pPr>
            <a:r>
              <a:rPr lang="zh-CN" altLang="en-US" sz="2600" dirty="0"/>
              <a:t>尿素中</a:t>
            </a:r>
            <a:r>
              <a:rPr lang="en-US" altLang="zh-CN" sz="2600" dirty="0"/>
              <a:t>N</a:t>
            </a:r>
            <a:r>
              <a:rPr lang="zh-CN" altLang="en-US" sz="2600" dirty="0"/>
              <a:t>的质量百分比</a:t>
            </a:r>
            <a:endParaRPr lang="en-US" altLang="zh-CN" sz="2600" dirty="0"/>
          </a:p>
          <a:p>
            <a:pPr>
              <a:buClr>
                <a:schemeClr val="bg1"/>
              </a:buClr>
            </a:pPr>
            <a:r>
              <a:rPr lang="en-US" altLang="zh-CN" sz="2600" dirty="0"/>
              <a:t>= 			             </a:t>
            </a:r>
          </a:p>
          <a:p>
            <a:pPr>
              <a:buClr>
                <a:schemeClr val="bg1"/>
              </a:buClr>
            </a:pPr>
            <a:r>
              <a:rPr lang="en-US" altLang="zh-CN" sz="2600" dirty="0"/>
              <a:t>=  28/60  x 100%</a:t>
            </a:r>
          </a:p>
          <a:p>
            <a:pPr>
              <a:buClr>
                <a:schemeClr val="bg1"/>
              </a:buClr>
            </a:pPr>
            <a:r>
              <a:rPr lang="en-US" altLang="zh-CN" sz="2600" dirty="0"/>
              <a:t>=46.67%</a:t>
            </a:r>
          </a:p>
          <a:p>
            <a:pPr>
              <a:buClr>
                <a:schemeClr val="bg1"/>
              </a:buClr>
            </a:pPr>
            <a:r>
              <a:rPr lang="zh-CN" altLang="en-US" sz="2600" dirty="0"/>
              <a:t>硫酸铵中</a:t>
            </a:r>
            <a:r>
              <a:rPr lang="en-US" altLang="zh-CN" sz="2600" dirty="0"/>
              <a:t>N</a:t>
            </a:r>
            <a:r>
              <a:rPr lang="zh-CN" altLang="en-US" sz="2600" dirty="0"/>
              <a:t>的质量百分比</a:t>
            </a:r>
            <a:endParaRPr lang="en-US" altLang="zh-CN" sz="2600" dirty="0"/>
          </a:p>
          <a:p>
            <a:pPr>
              <a:buClr>
                <a:schemeClr val="bg1"/>
              </a:buClr>
            </a:pPr>
            <a:r>
              <a:rPr lang="en-US" altLang="zh-CN" sz="2600" dirty="0"/>
              <a:t>=</a:t>
            </a:r>
          </a:p>
          <a:p>
            <a:pPr>
              <a:buClr>
                <a:schemeClr val="bg1"/>
              </a:buClr>
            </a:pPr>
            <a:r>
              <a:rPr lang="en-US" altLang="zh-CN" sz="2600" dirty="0"/>
              <a:t>= 28/132   x100%</a:t>
            </a:r>
          </a:p>
          <a:p>
            <a:pPr>
              <a:buClr>
                <a:schemeClr val="bg1"/>
              </a:buClr>
            </a:pPr>
            <a:r>
              <a:rPr lang="en-US" altLang="zh-CN" sz="2600" dirty="0"/>
              <a:t>=21.21%</a:t>
            </a:r>
          </a:p>
          <a:p>
            <a:pPr>
              <a:buClr>
                <a:schemeClr val="bg1"/>
              </a:buClr>
            </a:pPr>
            <a:r>
              <a:rPr lang="zh-CN" altLang="en-US" sz="2600" dirty="0"/>
              <a:t>答：尿素中氮元素的质量百分含量较大。</a:t>
            </a:r>
            <a:endParaRPr lang="en-US" altLang="zh-CN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3276600" y="3048000"/>
            <a:ext cx="1168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 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2004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M</a:t>
            </a:r>
            <a:r>
              <a:rPr lang="en-US" altLang="zh-CN" sz="2400" baseline="-25000" dirty="0" err="1"/>
              <a:t>r</a:t>
            </a:r>
            <a:r>
              <a:rPr lang="en-US" altLang="zh-CN" sz="2400" dirty="0"/>
              <a:t> [CO(NH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]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2895600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2x 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r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(N)</a:t>
            </a:r>
            <a:endParaRPr lang="en-US" sz="24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219200" y="3276600"/>
            <a:ext cx="1752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71600" y="5105400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M</a:t>
            </a:r>
            <a:r>
              <a:rPr lang="en-US" altLang="zh-CN" sz="2400" baseline="-25000" dirty="0" err="1"/>
              <a:t>r</a:t>
            </a:r>
            <a:r>
              <a:rPr lang="en-US" altLang="zh-CN" sz="2400" dirty="0"/>
              <a:t> [(NH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)</a:t>
            </a:r>
            <a:r>
              <a:rPr lang="en-US" altLang="zh-CN" sz="2400" baseline="-25000" dirty="0"/>
              <a:t>2 </a:t>
            </a:r>
            <a:r>
              <a:rPr lang="en-US" altLang="zh-CN" sz="2400" dirty="0"/>
              <a:t>SO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 ]</a:t>
            </a:r>
            <a:endParaRPr lang="en-US" sz="24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00" y="5181600"/>
            <a:ext cx="2438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28800" y="4800600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2x 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r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(N)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886200" y="4953000"/>
            <a:ext cx="1168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  100%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4" grpId="0"/>
      <p:bldP spid="5" grpId="0"/>
      <p:bldP spid="6" grpId="0"/>
      <p:bldP spid="7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6096000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None/>
            </a:pPr>
            <a:r>
              <a:rPr lang="zh-CN" altLang="en-US" dirty="0"/>
              <a:t>作答题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6. (1) </a:t>
            </a:r>
            <a:r>
              <a:rPr lang="zh-CN" altLang="en-US" dirty="0"/>
              <a:t>现象：产生白色沉淀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</a:t>
            </a:r>
            <a:r>
              <a:rPr lang="zh-CN" altLang="en-US" dirty="0"/>
              <a:t>结论： 物质发生化学反应后总质量不改变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(2) 2Mg + O</a:t>
            </a:r>
            <a:r>
              <a:rPr lang="en-US" altLang="zh-CN" baseline="-25000" dirty="0"/>
              <a:t>2 </a:t>
            </a:r>
            <a:r>
              <a:rPr lang="en-US" altLang="zh-CN" dirty="0"/>
              <a:t>  </a:t>
            </a:r>
            <a:r>
              <a:rPr lang="en-US" altLang="zh-CN" dirty="0">
                <a:sym typeface="Wingdings" pitchFamily="2" charset="2"/>
              </a:rPr>
              <a:t> 2MgO 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>
                <a:sym typeface="Wingdings" pitchFamily="2" charset="2"/>
              </a:rPr>
              <a:t>		</a:t>
            </a:r>
            <a:r>
              <a:rPr lang="zh-CN" altLang="en-US">
                <a:sym typeface="Wingdings" pitchFamily="2" charset="2"/>
              </a:rPr>
              <a:t>部分生成物以白烟的形式散逸到空气中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7912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534400" cy="5897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补充题</a:t>
            </a:r>
            <a:endParaRPr lang="en-US" altLang="zh-CN" sz="28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某元素的相对原子质量是</a:t>
            </a:r>
            <a:r>
              <a:rPr lang="en-US" altLang="zh-CN" sz="2800" dirty="0"/>
              <a:t>24</a:t>
            </a:r>
            <a:r>
              <a:rPr lang="zh-CN" altLang="en-US" sz="2800" dirty="0"/>
              <a:t>，化合价为</a:t>
            </a:r>
            <a:r>
              <a:rPr lang="en-US" altLang="zh-CN" sz="2800" dirty="0"/>
              <a:t>+2</a:t>
            </a:r>
            <a:r>
              <a:rPr lang="zh-CN" altLang="en-US" sz="2800" dirty="0"/>
              <a:t>，则其氧化物中氧元素的百分含量是多少？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设某元素为</a:t>
            </a:r>
            <a:r>
              <a:rPr lang="en-US" altLang="zh-CN" sz="2800" dirty="0"/>
              <a:t>M</a:t>
            </a:r>
            <a:r>
              <a:rPr lang="zh-CN" altLang="en-US" sz="2800" dirty="0"/>
              <a:t>元素，其化合价为</a:t>
            </a:r>
            <a:r>
              <a:rPr lang="en-US" altLang="zh-CN" sz="2800" dirty="0"/>
              <a:t>+2</a:t>
            </a:r>
            <a:r>
              <a:rPr lang="zh-CN" altLang="en-US" sz="2800" dirty="0"/>
              <a:t>，则氧化物化学式为</a:t>
            </a:r>
            <a:r>
              <a:rPr lang="en-US" altLang="zh-CN" sz="2800" dirty="0"/>
              <a:t>MO</a:t>
            </a:r>
            <a:r>
              <a:rPr lang="zh-CN" altLang="en-US" sz="2800" dirty="0"/>
              <a:t>。</a:t>
            </a:r>
            <a:r>
              <a:rPr lang="en-US" altLang="zh-CN" sz="2800" dirty="0"/>
              <a:t>   </a:t>
            </a:r>
          </a:p>
          <a:p>
            <a:pPr>
              <a:buNone/>
            </a:pPr>
            <a:r>
              <a:rPr lang="zh-CN" altLang="en-US" sz="2800" dirty="0"/>
              <a:t>已知：</a:t>
            </a:r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r</a:t>
            </a:r>
            <a:r>
              <a:rPr lang="zh-CN" altLang="en-US" sz="2800" baseline="-25000" dirty="0"/>
              <a:t> </a:t>
            </a:r>
            <a:r>
              <a:rPr lang="en-US" altLang="zh-CN" sz="2800" dirty="0"/>
              <a:t>(O) =16</a:t>
            </a:r>
            <a:r>
              <a:rPr lang="zh-CN" altLang="en-US" sz="2800" dirty="0"/>
              <a:t>，</a:t>
            </a:r>
            <a:r>
              <a:rPr lang="en-US" altLang="zh-CN" sz="2800" dirty="0"/>
              <a:t> </a:t>
            </a:r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r</a:t>
            </a:r>
            <a:r>
              <a:rPr lang="zh-CN" altLang="en-US" sz="2800" baseline="-25000" dirty="0"/>
              <a:t> </a:t>
            </a:r>
            <a:r>
              <a:rPr lang="en-US" altLang="zh-CN" sz="2800" dirty="0"/>
              <a:t>(M) =24</a:t>
            </a:r>
          </a:p>
          <a:p>
            <a:pPr>
              <a:buNone/>
            </a:pPr>
            <a:r>
              <a:rPr lang="en-US" altLang="zh-CN" sz="2800" dirty="0" err="1"/>
              <a:t>M</a:t>
            </a:r>
            <a:r>
              <a:rPr lang="en-US" altLang="zh-CN" sz="2800" baseline="-25000" dirty="0" err="1"/>
              <a:t>r</a:t>
            </a:r>
            <a:r>
              <a:rPr lang="en-US" altLang="zh-CN" sz="2800" dirty="0"/>
              <a:t> (MO)= 24+16=40 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sz="2800" dirty="0"/>
              <a:t>     MO</a:t>
            </a:r>
            <a:r>
              <a:rPr lang="zh-CN" altLang="en-US" sz="2800" dirty="0"/>
              <a:t>中氧的百分含量</a:t>
            </a:r>
            <a:endParaRPr lang="en-US" altLang="zh-CN" sz="2800" dirty="0"/>
          </a:p>
          <a:p>
            <a:pPr>
              <a:buClr>
                <a:schemeClr val="bg1"/>
              </a:buClr>
            </a:pPr>
            <a:r>
              <a:rPr lang="en-US" altLang="zh-CN" sz="2800" dirty="0"/>
              <a:t>= 			             </a:t>
            </a:r>
          </a:p>
          <a:p>
            <a:pPr>
              <a:buClr>
                <a:schemeClr val="bg1"/>
              </a:buClr>
            </a:pPr>
            <a:r>
              <a:rPr lang="en-US" altLang="zh-CN" sz="2800" dirty="0"/>
              <a:t>=  16/40  x 100%</a:t>
            </a:r>
          </a:p>
          <a:p>
            <a:pPr>
              <a:buClr>
                <a:schemeClr val="bg1"/>
              </a:buClr>
            </a:pPr>
            <a:r>
              <a:rPr lang="en-US" altLang="zh-CN" sz="2800" dirty="0"/>
              <a:t>= 40%      </a:t>
            </a:r>
          </a:p>
          <a:p>
            <a:pPr>
              <a:buClr>
                <a:schemeClr val="bg1"/>
              </a:buClr>
              <a:buNone/>
            </a:pPr>
            <a:endParaRPr lang="en-US" altLang="zh-CN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430878" y="4114800"/>
            <a:ext cx="1617122" cy="1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r</a:t>
            </a:r>
            <a:r>
              <a:rPr lang="en-US" altLang="zh-CN" sz="2400" dirty="0"/>
              <a:t> (O)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971800" y="4289209"/>
            <a:ext cx="1524000" cy="20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dirty="0"/>
              <a:t>X 100%</a:t>
            </a:r>
            <a:endParaRPr lang="en-US" sz="2500"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4424065"/>
            <a:ext cx="1371600" cy="1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</a:t>
            </a:r>
            <a:r>
              <a:rPr lang="en-US" altLang="zh-CN" sz="2400" dirty="0" err="1"/>
              <a:t>M</a:t>
            </a:r>
            <a:r>
              <a:rPr lang="en-US" altLang="zh-CN" sz="2400" baseline="-25000" dirty="0" err="1"/>
              <a:t>r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(MO)</a:t>
            </a:r>
            <a:endParaRPr lang="en-US" sz="24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219200" y="4443943"/>
            <a:ext cx="1600200" cy="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uiExpand="1" build="p"/>
      <p:bldP spid="4" grpId="0"/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5943600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None/>
            </a:pPr>
            <a:r>
              <a:rPr lang="en-US" altLang="zh-CN" dirty="0"/>
              <a:t>2. </a:t>
            </a:r>
            <a:r>
              <a:rPr lang="zh-CN" altLang="en-US" dirty="0"/>
              <a:t>计算一个水分子的质量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N = n x N</a:t>
            </a:r>
            <a:r>
              <a:rPr lang="en-US" altLang="zh-CN" baseline="-25000" dirty="0"/>
              <a:t>A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baseline="-25000" dirty="0"/>
              <a:t> </a:t>
            </a:r>
            <a:r>
              <a:rPr lang="en-US" altLang="zh-CN" dirty="0"/>
              <a:t>            =  m/M   x N</a:t>
            </a:r>
            <a:r>
              <a:rPr lang="en-US" altLang="zh-CN" baseline="-25000" dirty="0"/>
              <a:t>A</a:t>
            </a:r>
            <a:r>
              <a:rPr lang="en-US" altLang="zh-CN" dirty="0"/>
              <a:t>  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      m = NM/N</a:t>
            </a:r>
            <a:r>
              <a:rPr lang="en-US" altLang="zh-CN" baseline="-25000" dirty="0"/>
              <a:t>A</a:t>
            </a:r>
            <a:endParaRPr lang="en-US" altLang="zh-CN" dirty="0"/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</a:t>
            </a:r>
          </a:p>
          <a:p>
            <a:pPr>
              <a:buClr>
                <a:schemeClr val="bg1"/>
              </a:buClr>
              <a:buNone/>
            </a:pPr>
            <a:r>
              <a:rPr lang="en-US" altLang="zh-CN" dirty="0"/>
              <a:t>		= </a:t>
            </a:r>
          </a:p>
          <a:p>
            <a:pPr>
              <a:buClr>
                <a:schemeClr val="bg1"/>
              </a:buClr>
              <a:buNone/>
            </a:pPr>
            <a:endParaRPr lang="en-US" altLang="zh-CN" dirty="0"/>
          </a:p>
          <a:p>
            <a:pPr>
              <a:buClr>
                <a:schemeClr val="bg1"/>
              </a:buClr>
              <a:buNone/>
            </a:pPr>
            <a:endParaRPr lang="en-US" altLang="zh-CN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906200" y="3657532"/>
            <a:ext cx="2916000" cy="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 rot="10800000" flipV="1">
            <a:off x="1905000" y="3591579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 6.02 x10</a:t>
            </a:r>
            <a:r>
              <a:rPr lang="en-US" altLang="zh-CN" sz="3200" baseline="30000" dirty="0"/>
              <a:t>23</a:t>
            </a:r>
            <a:r>
              <a:rPr lang="en-US" altLang="zh-CN" sz="3200" dirty="0"/>
              <a:t> mol</a:t>
            </a:r>
            <a:r>
              <a:rPr lang="en-US" altLang="zh-CN" sz="3200" baseline="30000" dirty="0"/>
              <a:t>-1</a:t>
            </a:r>
            <a:r>
              <a:rPr lang="en-US" altLang="zh-CN" sz="3200" dirty="0"/>
              <a:t> 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 rot="10800000" flipV="1">
            <a:off x="1981200" y="3129915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1x 18gmol</a:t>
            </a:r>
            <a:r>
              <a:rPr lang="en-US" altLang="zh-CN" sz="3200" baseline="30000" dirty="0"/>
              <a:t>-1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5156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458200" cy="57451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sz="2800" dirty="0"/>
              <a:t>3</a:t>
            </a:r>
            <a:r>
              <a:rPr lang="en-US" sz="2800" dirty="0"/>
              <a:t>.</a:t>
            </a:r>
            <a:r>
              <a:rPr lang="zh-CN" altLang="en-US" sz="2800" dirty="0"/>
              <a:t>按原子个数多到少排列。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① 0.5mol</a:t>
            </a:r>
            <a:r>
              <a:rPr lang="zh-CN" altLang="en-US" sz="2800" dirty="0"/>
              <a:t>氨分子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</a:t>
            </a:r>
            <a:r>
              <a:rPr lang="en-US" altLang="zh-CN" sz="2800" dirty="0"/>
              <a:t>② 1mol</a:t>
            </a:r>
            <a:r>
              <a:rPr lang="zh-CN" altLang="en-US" sz="2800" dirty="0"/>
              <a:t>氦原子</a:t>
            </a:r>
            <a:r>
              <a:rPr lang="en-US" altLang="zh-CN" sz="2800" dirty="0"/>
              <a:t> </a:t>
            </a:r>
          </a:p>
          <a:p>
            <a:pPr>
              <a:buNone/>
            </a:pPr>
            <a:r>
              <a:rPr lang="en-US" sz="2800" dirty="0"/>
              <a:t>	</a:t>
            </a:r>
            <a:r>
              <a:rPr lang="en-US" altLang="zh-CN" sz="2800" dirty="0"/>
              <a:t>③ 9g </a:t>
            </a:r>
            <a:r>
              <a:rPr lang="zh-CN" altLang="en-US" sz="2800" dirty="0"/>
              <a:t>水分子 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</a:t>
            </a:r>
            <a:r>
              <a:rPr lang="en-US" altLang="zh-CN" sz="2800" dirty="0"/>
              <a:t>④ 0.2mol </a:t>
            </a:r>
            <a:r>
              <a:rPr lang="zh-CN" altLang="en-US" sz="2800" dirty="0"/>
              <a:t>磷酸钠</a:t>
            </a: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解： </a:t>
            </a:r>
            <a:r>
              <a:rPr lang="en-US" altLang="zh-CN" sz="2800" dirty="0"/>
              <a:t>① 0.5mol</a:t>
            </a:r>
            <a:r>
              <a:rPr lang="zh-CN" altLang="en-US" sz="2800" dirty="0"/>
              <a:t>氨分子</a:t>
            </a:r>
            <a:r>
              <a:rPr lang="en-US" altLang="zh-CN" sz="2800" dirty="0"/>
              <a:t>x4 = 2mol</a:t>
            </a:r>
            <a:r>
              <a:rPr lang="zh-CN" altLang="en-US" sz="2800" dirty="0"/>
              <a:t>个原子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	</a:t>
            </a:r>
            <a:r>
              <a:rPr lang="en-US" altLang="zh-CN" sz="2800" dirty="0"/>
              <a:t>② 1mol</a:t>
            </a:r>
            <a:r>
              <a:rPr lang="zh-CN" altLang="en-US" sz="2800" dirty="0"/>
              <a:t>氦原子</a:t>
            </a:r>
            <a:r>
              <a:rPr lang="en-US" altLang="zh-CN" sz="2800" dirty="0"/>
              <a:t> = 1mol</a:t>
            </a:r>
            <a:r>
              <a:rPr lang="zh-CN" altLang="en-US" sz="2800" dirty="0"/>
              <a:t>个原子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	</a:t>
            </a:r>
            <a:r>
              <a:rPr lang="en-US" altLang="zh-CN" sz="2800" dirty="0"/>
              <a:t>③ 9g/18gmol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 </a:t>
            </a:r>
            <a:r>
              <a:rPr lang="zh-CN" altLang="en-US" sz="2800" dirty="0"/>
              <a:t>水分子 </a:t>
            </a:r>
            <a:r>
              <a:rPr lang="en-US" altLang="zh-CN" sz="2800" dirty="0"/>
              <a:t>x 3  = 1.5mol</a:t>
            </a:r>
            <a:r>
              <a:rPr lang="zh-CN" altLang="en-US" sz="2800" dirty="0"/>
              <a:t>个原子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	</a:t>
            </a:r>
            <a:r>
              <a:rPr lang="en-US" altLang="zh-CN" sz="2800" dirty="0"/>
              <a:t>④ 0.2mol </a:t>
            </a:r>
            <a:r>
              <a:rPr lang="zh-CN" altLang="en-US" sz="2800" dirty="0"/>
              <a:t>磷酸钠</a:t>
            </a:r>
            <a:r>
              <a:rPr lang="en-US" altLang="zh-CN" sz="2800" dirty="0"/>
              <a:t>x 8 = 1.6mol</a:t>
            </a:r>
            <a:r>
              <a:rPr lang="zh-CN" altLang="en-US" sz="2800" dirty="0"/>
              <a:t>个原子</a:t>
            </a: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en-US" altLang="zh-CN" sz="2800" dirty="0" err="1"/>
              <a:t>Ans</a:t>
            </a:r>
            <a:r>
              <a:rPr lang="zh-CN" altLang="en-US" sz="2800" dirty="0"/>
              <a:t>：</a:t>
            </a:r>
            <a:r>
              <a:rPr lang="en-US" altLang="zh-CN" sz="2800" dirty="0"/>
              <a:t>①</a:t>
            </a:r>
            <a:r>
              <a:rPr lang="zh-CN" altLang="en-US" sz="2800" dirty="0"/>
              <a:t>、</a:t>
            </a:r>
            <a:r>
              <a:rPr lang="en-US" altLang="zh-CN" sz="2800" dirty="0"/>
              <a:t> ④</a:t>
            </a:r>
            <a:r>
              <a:rPr lang="zh-CN" altLang="en-US" sz="2800" dirty="0"/>
              <a:t>、</a:t>
            </a:r>
            <a:r>
              <a:rPr lang="en-US" altLang="zh-CN" sz="2800" dirty="0"/>
              <a:t> ③</a:t>
            </a:r>
            <a:r>
              <a:rPr lang="zh-CN" altLang="en-US" sz="2800" dirty="0"/>
              <a:t>、</a:t>
            </a:r>
            <a:r>
              <a:rPr lang="en-US" altLang="zh-CN" sz="2800" dirty="0"/>
              <a:t> ②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524000" y="2362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534400" cy="6324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 dirty="0"/>
              <a:t>4. </a:t>
            </a:r>
            <a:r>
              <a:rPr lang="zh-CN" altLang="en-US" sz="2800" dirty="0"/>
              <a:t>下列说法正确的是？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A 2.3g</a:t>
            </a:r>
            <a:r>
              <a:rPr lang="zh-CN" altLang="en-US" sz="2800" dirty="0"/>
              <a:t>钠变成</a:t>
            </a:r>
            <a:r>
              <a:rPr lang="en-US" altLang="zh-CN" sz="2800" dirty="0"/>
              <a:t>+1</a:t>
            </a:r>
            <a:r>
              <a:rPr lang="zh-CN" altLang="en-US" sz="2800" dirty="0"/>
              <a:t>价钠离子时失去的电子数目为</a:t>
            </a:r>
            <a:r>
              <a:rPr lang="en-US" altLang="zh-CN" sz="2800" dirty="0"/>
              <a:t>1mol</a:t>
            </a:r>
          </a:p>
          <a:p>
            <a:pPr marL="0" indent="0">
              <a:buNone/>
            </a:pPr>
            <a:r>
              <a:rPr lang="en-US" altLang="zh-CN" sz="2800" dirty="0"/>
              <a:t>B </a:t>
            </a:r>
            <a:r>
              <a:rPr lang="en-US" sz="2800" dirty="0"/>
              <a:t>32g</a:t>
            </a:r>
            <a:r>
              <a:rPr lang="zh-CN" altLang="en-US" sz="2800" dirty="0"/>
              <a:t>硫变成</a:t>
            </a:r>
            <a:r>
              <a:rPr lang="en-US" altLang="zh-CN" sz="2800" dirty="0"/>
              <a:t>-2</a:t>
            </a:r>
            <a:r>
              <a:rPr lang="zh-CN" altLang="en-US" sz="2800" dirty="0"/>
              <a:t>价硫离子时得到的电子数目为</a:t>
            </a:r>
            <a:r>
              <a:rPr lang="en-US" altLang="zh-CN" sz="2800" dirty="0"/>
              <a:t>1mol</a:t>
            </a:r>
          </a:p>
          <a:p>
            <a:pPr marL="0" indent="0">
              <a:buNone/>
            </a:pPr>
            <a:r>
              <a:rPr lang="en-US" altLang="zh-CN" sz="2800" dirty="0"/>
              <a:t>C 35.5g</a:t>
            </a:r>
            <a:r>
              <a:rPr lang="zh-CN" altLang="en-US" sz="2800" dirty="0"/>
              <a:t>氯气所含的原子数是</a:t>
            </a:r>
            <a:r>
              <a:rPr lang="en-US" altLang="zh-CN" sz="2800" dirty="0"/>
              <a:t>1mol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/>
              <a:t>D </a:t>
            </a:r>
            <a:r>
              <a:rPr lang="en-US" sz="2800" dirty="0"/>
              <a:t>32</a:t>
            </a:r>
            <a:r>
              <a:rPr lang="en-US" altLang="zh-CN" sz="2800" dirty="0"/>
              <a:t>g</a:t>
            </a:r>
            <a:r>
              <a:rPr lang="zh-CN" altLang="en-US" sz="2800" dirty="0"/>
              <a:t>氧气所含的原子数目为</a:t>
            </a:r>
            <a:r>
              <a:rPr lang="en-US" altLang="zh-CN" sz="2800" dirty="0"/>
              <a:t>1mol</a:t>
            </a:r>
          </a:p>
          <a:p>
            <a:pPr marL="0" indent="0">
              <a:buNone/>
            </a:pPr>
            <a:r>
              <a:rPr lang="zh-CN" altLang="en-US" sz="2800" dirty="0"/>
              <a:t>解</a:t>
            </a:r>
            <a:r>
              <a:rPr lang="en-US" altLang="zh-CN" sz="2800" dirty="0"/>
              <a:t>    A 	1</a:t>
            </a:r>
            <a:r>
              <a:rPr lang="zh-CN" altLang="en-US" sz="2800" dirty="0"/>
              <a:t>个钠原子失去</a:t>
            </a:r>
            <a:r>
              <a:rPr lang="en-US" altLang="zh-CN" sz="2800" dirty="0"/>
              <a:t>1</a:t>
            </a:r>
            <a:r>
              <a:rPr lang="zh-CN" altLang="en-US" sz="2800" dirty="0"/>
              <a:t>个电子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		1mol</a:t>
            </a:r>
            <a:r>
              <a:rPr lang="zh-CN" altLang="en-US" sz="2800" dirty="0"/>
              <a:t>的钠原子失去</a:t>
            </a:r>
            <a:r>
              <a:rPr lang="en-US" altLang="zh-CN" sz="2800" dirty="0"/>
              <a:t>1mol</a:t>
            </a:r>
            <a:r>
              <a:rPr lang="zh-CN" altLang="en-US" sz="2800" dirty="0"/>
              <a:t>的电子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sz="2800" dirty="0"/>
              <a:t>	  B		</a:t>
            </a:r>
            <a:r>
              <a:rPr lang="en-US" altLang="zh-CN" sz="2800" dirty="0"/>
              <a:t>1</a:t>
            </a:r>
            <a:r>
              <a:rPr lang="zh-CN" altLang="en-US" sz="2800" dirty="0"/>
              <a:t>个硫原子得到</a:t>
            </a:r>
            <a:r>
              <a:rPr lang="en-US" altLang="zh-CN" sz="2800" dirty="0"/>
              <a:t>2</a:t>
            </a:r>
            <a:r>
              <a:rPr lang="zh-CN" altLang="en-US" sz="2800" dirty="0"/>
              <a:t>个电子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		1mol</a:t>
            </a:r>
            <a:r>
              <a:rPr lang="zh-CN" altLang="en-US" sz="2800" dirty="0"/>
              <a:t>的硫原子得到</a:t>
            </a:r>
            <a:r>
              <a:rPr lang="en-US" altLang="zh-CN" sz="2800" dirty="0"/>
              <a:t>2mol</a:t>
            </a:r>
            <a:r>
              <a:rPr lang="zh-CN" altLang="en-US" sz="2800" dirty="0"/>
              <a:t>的电子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sz="2800" dirty="0"/>
              <a:t>	  D 	</a:t>
            </a:r>
            <a:r>
              <a:rPr lang="en-US" altLang="zh-CN" sz="2800" dirty="0"/>
              <a:t>32g</a:t>
            </a:r>
            <a:r>
              <a:rPr lang="zh-CN" altLang="en-US" sz="2800" dirty="0"/>
              <a:t>氧气所含的分子数目为</a:t>
            </a:r>
            <a:r>
              <a:rPr lang="en-US" altLang="zh-CN" sz="2800" dirty="0"/>
              <a:t>1mol</a:t>
            </a:r>
          </a:p>
          <a:p>
            <a:pPr marL="514350" indent="-514350">
              <a:buNone/>
            </a:pPr>
            <a:r>
              <a:rPr lang="en-US" sz="2800" dirty="0"/>
              <a:t>			</a:t>
            </a:r>
            <a:r>
              <a:rPr lang="zh-CN" altLang="en-US" sz="2800" dirty="0"/>
              <a:t>原子数目</a:t>
            </a:r>
            <a:r>
              <a:rPr lang="en-US" altLang="zh-CN" sz="2800" dirty="0"/>
              <a:t>=1molx2=2mol</a:t>
            </a:r>
          </a:p>
          <a:p>
            <a:pPr marL="514350" indent="-514350">
              <a:buNone/>
            </a:pPr>
            <a:r>
              <a:rPr lang="en-US" altLang="zh-CN" sz="2800" dirty="0" err="1"/>
              <a:t>Ans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rgbClr val="FF0000"/>
                </a:solidFill>
              </a:rPr>
              <a:t>C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553200"/>
          </a:xfrm>
        </p:spPr>
        <p:txBody>
          <a:bodyPr>
            <a:normAutofit lnSpcReduction="10000"/>
          </a:bodyPr>
          <a:lstStyle/>
          <a:p>
            <a:pPr marL="342900" lvl="1" indent="-342900">
              <a:spcBef>
                <a:spcPts val="0"/>
              </a:spcBef>
              <a:buNone/>
            </a:pPr>
            <a:r>
              <a:rPr lang="en-US" altLang="zh-CN" sz="3000" dirty="0"/>
              <a:t>5. </a:t>
            </a:r>
            <a:r>
              <a:rPr lang="zh-CN" altLang="en-US" sz="3000" dirty="0"/>
              <a:t>某碳氢化合物其碳的质量百分比是</a:t>
            </a:r>
            <a:r>
              <a:rPr lang="en-US" altLang="zh-CN" sz="3000" dirty="0"/>
              <a:t>86%</a:t>
            </a:r>
          </a:p>
          <a:p>
            <a:pPr marL="514350" lvl="1" indent="-514350">
              <a:spcBef>
                <a:spcPts val="0"/>
              </a:spcBef>
              <a:buAutoNum type="alphaLcParenBoth"/>
            </a:pPr>
            <a:r>
              <a:rPr lang="zh-CN" altLang="en-US" sz="3000" dirty="0"/>
              <a:t>求此碳氢化合物的实验式</a:t>
            </a:r>
            <a:endParaRPr lang="en-US" altLang="zh-CN" sz="3000" dirty="0"/>
          </a:p>
          <a:p>
            <a:pPr marL="514350" lvl="1" indent="-514350">
              <a:spcBef>
                <a:spcPts val="0"/>
              </a:spcBef>
              <a:buAutoNum type="alphaLcParenBoth"/>
            </a:pPr>
            <a:r>
              <a:rPr lang="zh-CN" altLang="en-US" sz="3000" dirty="0"/>
              <a:t>如果该化合物的式量是</a:t>
            </a:r>
            <a:r>
              <a:rPr lang="en-US" altLang="zh-CN" sz="3000" dirty="0"/>
              <a:t>56,</a:t>
            </a:r>
            <a:r>
              <a:rPr lang="zh-CN" altLang="en-US" sz="3000" dirty="0"/>
              <a:t>求其化学式。</a:t>
            </a:r>
            <a:endParaRPr lang="en-US" altLang="zh-CN" sz="3000" dirty="0"/>
          </a:p>
          <a:p>
            <a:pPr marL="0" lvl="1" indent="0">
              <a:spcBef>
                <a:spcPts val="0"/>
              </a:spcBef>
              <a:buNone/>
            </a:pPr>
            <a:endParaRPr lang="en-US" altLang="zh-CN" sz="3000" dirty="0"/>
          </a:p>
          <a:p>
            <a:pPr marL="0" lvl="1" indent="0">
              <a:spcBef>
                <a:spcPts val="0"/>
              </a:spcBef>
              <a:buNone/>
            </a:pPr>
            <a:r>
              <a:rPr lang="zh-CN" altLang="en-US" sz="3000" dirty="0"/>
              <a:t>解 </a:t>
            </a:r>
            <a:r>
              <a:rPr lang="en-US" altLang="zh-CN" sz="3000" dirty="0" err="1"/>
              <a:t>A</a:t>
            </a:r>
            <a:r>
              <a:rPr lang="en-US" altLang="zh-CN" sz="3000" baseline="-25000" dirty="0" err="1"/>
              <a:t>r</a:t>
            </a:r>
            <a:r>
              <a:rPr lang="en-US" altLang="zh-CN" sz="3000" baseline="-25000" dirty="0"/>
              <a:t> </a:t>
            </a:r>
            <a:r>
              <a:rPr lang="en-US" altLang="zh-CN" sz="3000" dirty="0"/>
              <a:t>(H)=1</a:t>
            </a:r>
            <a:r>
              <a:rPr lang="zh-CN" altLang="en-US" sz="3000" dirty="0"/>
              <a:t>，</a:t>
            </a:r>
            <a:r>
              <a:rPr lang="en-US" altLang="zh-CN" sz="3000" dirty="0" err="1"/>
              <a:t>A</a:t>
            </a:r>
            <a:r>
              <a:rPr lang="en-US" altLang="zh-CN" sz="3000" baseline="-25000" dirty="0" err="1"/>
              <a:t>r</a:t>
            </a:r>
            <a:r>
              <a:rPr lang="en-US" altLang="zh-CN" sz="3000" baseline="-25000" dirty="0"/>
              <a:t> </a:t>
            </a:r>
            <a:r>
              <a:rPr lang="en-US" altLang="zh-CN" sz="3000" dirty="0"/>
              <a:t>(C)=12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000" dirty="0"/>
              <a:t>	           N(C)  </a:t>
            </a:r>
            <a:r>
              <a:rPr lang="zh-CN" altLang="en-US" sz="3000" dirty="0"/>
              <a:t>： </a:t>
            </a:r>
            <a:r>
              <a:rPr lang="en-US" altLang="zh-CN" sz="3000" dirty="0"/>
              <a:t>N(H)</a:t>
            </a:r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 altLang="zh-CN" sz="3000" dirty="0"/>
              <a:t>=                    </a:t>
            </a:r>
            <a:r>
              <a:rPr lang="zh-CN" altLang="en-US" sz="3000" dirty="0"/>
              <a:t>：</a:t>
            </a:r>
            <a:endParaRPr lang="en-US" altLang="zh-CN" sz="3000" dirty="0"/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 altLang="zh-CN" sz="3000" dirty="0"/>
              <a:t>= 7.17 : 14</a:t>
            </a:r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 altLang="zh-CN" sz="3000" dirty="0"/>
              <a:t>= 1:2</a:t>
            </a:r>
          </a:p>
          <a:p>
            <a:pPr>
              <a:spcBef>
                <a:spcPts val="0"/>
              </a:spcBef>
            </a:pPr>
            <a:r>
              <a:rPr lang="zh-CN" altLang="en-US" sz="3000" dirty="0"/>
              <a:t>实验式为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endParaRPr lang="en-US" altLang="zh-CN" sz="3000" dirty="0"/>
          </a:p>
          <a:p>
            <a:pPr>
              <a:spcBef>
                <a:spcPts val="0"/>
              </a:spcBef>
              <a:buNone/>
            </a:pPr>
            <a:r>
              <a:rPr lang="en-US" sz="3000" dirty="0"/>
              <a:t>(b)		</a:t>
            </a:r>
            <a:r>
              <a:rPr lang="en-US" sz="3000" dirty="0" err="1"/>
              <a:t>M</a:t>
            </a:r>
            <a:r>
              <a:rPr lang="en-US" sz="3000" baseline="-25000" dirty="0" err="1"/>
              <a:t>r</a:t>
            </a:r>
            <a:r>
              <a:rPr lang="en-US" sz="3000" dirty="0"/>
              <a:t> (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</a:t>
            </a:r>
            <a:r>
              <a:rPr lang="en-US" sz="3000" dirty="0"/>
              <a:t>) = 56</a:t>
            </a:r>
          </a:p>
          <a:p>
            <a:pPr>
              <a:spcBef>
                <a:spcPts val="0"/>
              </a:spcBef>
              <a:buNone/>
            </a:pPr>
            <a:r>
              <a:rPr lang="en-US" sz="3000" dirty="0"/>
              <a:t>			12</a:t>
            </a:r>
            <a:r>
              <a:rPr lang="en-US" altLang="zh-CN" sz="3000" dirty="0"/>
              <a:t>n + 2n   = 56</a:t>
            </a:r>
          </a:p>
          <a:p>
            <a:pPr>
              <a:spcBef>
                <a:spcPts val="0"/>
              </a:spcBef>
              <a:buNone/>
            </a:pPr>
            <a:r>
              <a:rPr lang="en-US" sz="3000" dirty="0"/>
              <a:t>				14n = 56</a:t>
            </a:r>
          </a:p>
          <a:p>
            <a:pPr>
              <a:spcBef>
                <a:spcPts val="0"/>
              </a:spcBef>
              <a:buNone/>
            </a:pPr>
            <a:r>
              <a:rPr lang="en-US" sz="3000" dirty="0"/>
              <a:t>				    n = 4</a:t>
            </a:r>
          </a:p>
          <a:p>
            <a:pPr>
              <a:spcBef>
                <a:spcPts val="0"/>
              </a:spcBef>
            </a:pPr>
            <a:r>
              <a:rPr lang="zh-CN" altLang="en-US" sz="3000" dirty="0"/>
              <a:t>此碳氢化合物的化学式为 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8</a:t>
            </a:r>
            <a:r>
              <a:rPr lang="zh-CN" altLang="en-US" sz="3000" baseline="-25000" dirty="0"/>
              <a:t> </a:t>
            </a:r>
            <a:endParaRPr lang="en-US" sz="30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00" y="2967335"/>
            <a:ext cx="1143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200400" y="2967335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90819" y="2586335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86%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524000" y="289113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12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276600" y="258187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 14%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469842" y="289113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711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  <p:bldP spid="9" grpId="0"/>
      <p:bldP spid="10" grpId="0"/>
      <p:bldP spid="11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82000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600" dirty="0"/>
              <a:t>6.) 100kgNH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NO</a:t>
            </a:r>
            <a:r>
              <a:rPr lang="en-US" altLang="zh-CN" sz="2600" baseline="-25000" dirty="0"/>
              <a:t>3 </a:t>
            </a:r>
            <a:r>
              <a:rPr lang="en-US" altLang="zh-CN" sz="2600" dirty="0"/>
              <a:t> </a:t>
            </a:r>
            <a:r>
              <a:rPr lang="zh-CN" altLang="en-US" sz="2600" dirty="0"/>
              <a:t>的含氮量相当于多少</a:t>
            </a:r>
            <a:r>
              <a:rPr lang="en-US" altLang="zh-CN" sz="2600" dirty="0"/>
              <a:t>kg(NH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)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 </a:t>
            </a:r>
            <a:r>
              <a:rPr lang="zh-CN" altLang="en-US" sz="2600" dirty="0"/>
              <a:t>的含氮量。</a:t>
            </a:r>
            <a:endParaRPr lang="en-US" altLang="zh-CN" sz="2600" dirty="0"/>
          </a:p>
          <a:p>
            <a:pPr>
              <a:buNone/>
            </a:pPr>
            <a:r>
              <a:rPr lang="en-US" altLang="zh-CN" sz="2600" dirty="0" err="1"/>
              <a:t>A</a:t>
            </a:r>
            <a:r>
              <a:rPr lang="en-US" altLang="zh-CN" sz="2600" baseline="-25000" dirty="0" err="1"/>
              <a:t>r</a:t>
            </a:r>
            <a:r>
              <a:rPr lang="zh-CN" altLang="en-US" sz="2600" baseline="-25000" dirty="0"/>
              <a:t> </a:t>
            </a:r>
            <a:r>
              <a:rPr lang="en-US" altLang="zh-CN" sz="2600" dirty="0"/>
              <a:t>(H) =1; </a:t>
            </a:r>
            <a:r>
              <a:rPr lang="en-US" altLang="zh-CN" sz="2600" dirty="0" err="1"/>
              <a:t>A</a:t>
            </a:r>
            <a:r>
              <a:rPr lang="en-US" altLang="zh-CN" sz="2600" baseline="-25000" dirty="0" err="1"/>
              <a:t>r</a:t>
            </a:r>
            <a:r>
              <a:rPr lang="zh-CN" altLang="en-US" sz="2600" baseline="-25000" dirty="0"/>
              <a:t> </a:t>
            </a:r>
            <a:r>
              <a:rPr lang="en-US" altLang="zh-CN" sz="2600" dirty="0"/>
              <a:t>(N) =14; </a:t>
            </a:r>
            <a:r>
              <a:rPr lang="en-US" altLang="zh-CN" sz="2600" dirty="0" err="1"/>
              <a:t>A</a:t>
            </a:r>
            <a:r>
              <a:rPr lang="en-US" altLang="zh-CN" sz="2600" baseline="-25000" dirty="0" err="1"/>
              <a:t>r</a:t>
            </a:r>
            <a:r>
              <a:rPr lang="zh-CN" altLang="en-US" sz="2600" baseline="-25000" dirty="0"/>
              <a:t> </a:t>
            </a:r>
            <a:r>
              <a:rPr lang="en-US" altLang="zh-CN" sz="2600" dirty="0"/>
              <a:t>(O) =16;A</a:t>
            </a:r>
            <a:r>
              <a:rPr lang="en-US" altLang="zh-CN" sz="2600" baseline="-25000" dirty="0"/>
              <a:t>r</a:t>
            </a:r>
            <a:r>
              <a:rPr lang="zh-CN" altLang="en-US" sz="2600" baseline="-25000" dirty="0"/>
              <a:t> </a:t>
            </a:r>
            <a:r>
              <a:rPr lang="en-US" altLang="zh-CN" sz="2600" dirty="0"/>
              <a:t>(S) =32; </a:t>
            </a:r>
          </a:p>
          <a:p>
            <a:r>
              <a:rPr lang="en-US" altLang="zh-CN" sz="2600" dirty="0" err="1"/>
              <a:t>M</a:t>
            </a:r>
            <a:r>
              <a:rPr lang="en-US" altLang="zh-CN" sz="2600" baseline="-25000" dirty="0" err="1"/>
              <a:t>r</a:t>
            </a:r>
            <a:r>
              <a:rPr lang="en-US" altLang="zh-CN" sz="2600" dirty="0"/>
              <a:t> (NH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NO</a:t>
            </a:r>
            <a:r>
              <a:rPr lang="en-US" altLang="zh-CN" sz="2600" baseline="-25000" dirty="0"/>
              <a:t>3</a:t>
            </a:r>
            <a:r>
              <a:rPr lang="en-US" altLang="zh-CN" sz="2600" dirty="0"/>
              <a:t>)= 14+1x4+14+16x3 = 80</a:t>
            </a:r>
          </a:p>
          <a:p>
            <a:r>
              <a:rPr lang="en-US" altLang="zh-CN" sz="2600" dirty="0" err="1"/>
              <a:t>M</a:t>
            </a:r>
            <a:r>
              <a:rPr lang="en-US" altLang="zh-CN" sz="2600" baseline="-25000" dirty="0" err="1"/>
              <a:t>r</a:t>
            </a:r>
            <a:r>
              <a:rPr lang="en-US" altLang="zh-CN" sz="2600" dirty="0"/>
              <a:t> [(NH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)</a:t>
            </a:r>
            <a:r>
              <a:rPr lang="en-US" altLang="zh-CN" sz="2600" baseline="-25000" dirty="0"/>
              <a:t>2 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 ]= 14x2+1x8+32+16x4 = 132</a:t>
            </a:r>
          </a:p>
          <a:p>
            <a:pPr>
              <a:buClr>
                <a:schemeClr val="bg1"/>
              </a:buClr>
            </a:pPr>
            <a:r>
              <a:rPr lang="en-US" altLang="zh-CN" sz="2600" dirty="0"/>
              <a:t>100kg NH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NO</a:t>
            </a:r>
            <a:r>
              <a:rPr lang="en-US" altLang="zh-CN" sz="2600" baseline="-25000" dirty="0"/>
              <a:t>3</a:t>
            </a:r>
            <a:r>
              <a:rPr lang="zh-CN" altLang="en-US" sz="2600" dirty="0"/>
              <a:t>的含氮量</a:t>
            </a:r>
            <a:endParaRPr lang="en-US" altLang="zh-CN" sz="2600" dirty="0"/>
          </a:p>
          <a:p>
            <a:pPr>
              <a:buClr>
                <a:schemeClr val="bg1"/>
              </a:buClr>
            </a:pPr>
            <a:r>
              <a:rPr lang="en-US" altLang="zh-CN" sz="2600" dirty="0"/>
              <a:t>= 			             </a:t>
            </a:r>
          </a:p>
          <a:p>
            <a:pPr>
              <a:buClr>
                <a:schemeClr val="bg1"/>
              </a:buClr>
            </a:pPr>
            <a:r>
              <a:rPr lang="en-US" altLang="zh-CN" sz="2600" dirty="0"/>
              <a:t>=  28/80  x 100kg</a:t>
            </a:r>
          </a:p>
          <a:p>
            <a:pPr>
              <a:buClr>
                <a:schemeClr val="bg1"/>
              </a:buClr>
            </a:pPr>
            <a:r>
              <a:rPr lang="en-US" altLang="zh-CN" sz="2600" dirty="0"/>
              <a:t>=35kg</a:t>
            </a:r>
          </a:p>
          <a:p>
            <a:pPr>
              <a:buClr>
                <a:schemeClr val="bg1"/>
              </a:buClr>
            </a:pPr>
            <a:r>
              <a:rPr lang="en-US" altLang="zh-CN" sz="2600" dirty="0" err="1"/>
              <a:t>Xkg</a:t>
            </a:r>
            <a:r>
              <a:rPr lang="zh-CN" altLang="en-US" sz="2600" dirty="0"/>
              <a:t>的硫酸铵含氮量为</a:t>
            </a:r>
            <a:r>
              <a:rPr lang="en-US" altLang="zh-CN" sz="2600" dirty="0"/>
              <a:t>35kg</a:t>
            </a:r>
          </a:p>
          <a:p>
            <a:pPr>
              <a:buClr>
                <a:schemeClr val="bg1"/>
              </a:buClr>
            </a:pPr>
            <a:r>
              <a:rPr lang="en-US" altLang="zh-CN" sz="2600" dirty="0"/>
              <a:t>                                  ·                =  35kg</a:t>
            </a:r>
          </a:p>
          <a:p>
            <a:pPr>
              <a:buClr>
                <a:schemeClr val="bg1"/>
              </a:buClr>
            </a:pPr>
            <a:r>
              <a:rPr lang="en-US" altLang="zh-CN" sz="2600" dirty="0"/>
              <a:t>                    28/132 ·   X kg      = 35kg</a:t>
            </a:r>
          </a:p>
          <a:p>
            <a:pPr>
              <a:buClr>
                <a:schemeClr val="bg1"/>
              </a:buClr>
            </a:pPr>
            <a:r>
              <a:rPr lang="en-US" altLang="zh-CN" sz="2600" dirty="0"/>
              <a:t>                                         X        = 165    </a:t>
            </a:r>
            <a:endParaRPr lang="en-US" altLang="zh-CN" sz="26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00200" y="2971800"/>
            <a:ext cx="1223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2x 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r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(N)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200400" y="3119735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  100kg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721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M</a:t>
            </a:r>
            <a:r>
              <a:rPr lang="en-US" altLang="zh-CN" sz="2400" baseline="-25000" dirty="0" err="1"/>
              <a:t>r</a:t>
            </a:r>
            <a:r>
              <a:rPr lang="en-US" altLang="zh-CN" sz="2400" dirty="0"/>
              <a:t> (NH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NO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)</a:t>
            </a:r>
            <a:endParaRPr lang="en-US" sz="24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219200" y="3352800"/>
            <a:ext cx="1752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05200" y="5029200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  </a:t>
            </a:r>
            <a:r>
              <a:rPr lang="en-US" altLang="zh-CN" sz="2400" dirty="0"/>
              <a:t>kg</a:t>
            </a:r>
            <a:endParaRPr lang="en-US" sz="24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762000" y="5257800"/>
            <a:ext cx="2438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0600" y="5177135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M</a:t>
            </a:r>
            <a:r>
              <a:rPr lang="en-US" altLang="zh-CN" sz="2400" baseline="-25000" dirty="0" err="1"/>
              <a:t>r</a:t>
            </a:r>
            <a:r>
              <a:rPr lang="en-US" altLang="zh-CN" sz="2400" dirty="0"/>
              <a:t> [(NH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)</a:t>
            </a:r>
            <a:r>
              <a:rPr lang="en-US" altLang="zh-CN" sz="2400" baseline="-25000" dirty="0"/>
              <a:t>2 </a:t>
            </a:r>
            <a:r>
              <a:rPr lang="en-US" altLang="zh-CN" sz="2400" dirty="0"/>
              <a:t>SO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 ]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367388" y="4876800"/>
            <a:ext cx="1223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2x 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r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(N)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  <p:bldP spid="3" grpId="2" build="p"/>
      <p:bldP spid="4" grpId="0"/>
      <p:bldP spid="5" grpId="0"/>
      <p:bldP spid="6" grpId="0"/>
      <p:bldP spid="7" grpId="0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pPr marL="514350" indent="-514350">
              <a:buAutoNum type="arabicPeriod" startAt="7"/>
            </a:pPr>
            <a:r>
              <a:rPr lang="zh-CN" altLang="en-US" sz="3000" dirty="0"/>
              <a:t>已知下列化合物中各成分元素的质量百分比，由此确定它们的化学式</a:t>
            </a:r>
            <a:endParaRPr lang="en-US" altLang="zh-CN" sz="3000" dirty="0"/>
          </a:p>
          <a:p>
            <a:pPr marL="0" indent="0">
              <a:buNone/>
            </a:pPr>
            <a:r>
              <a:rPr lang="en-US" sz="3000" dirty="0"/>
              <a:t>(a) </a:t>
            </a:r>
            <a:r>
              <a:rPr lang="en-US" altLang="zh-CN" sz="3000" dirty="0"/>
              <a:t>32.4% Na </a:t>
            </a:r>
            <a:r>
              <a:rPr lang="zh-CN" altLang="en-US" sz="3000" dirty="0"/>
              <a:t>，</a:t>
            </a:r>
            <a:r>
              <a:rPr lang="en-US" altLang="zh-CN" sz="3000" dirty="0"/>
              <a:t>22.6% S </a:t>
            </a:r>
            <a:r>
              <a:rPr lang="zh-CN" altLang="en-US" sz="3000" dirty="0"/>
              <a:t>，</a:t>
            </a:r>
            <a:r>
              <a:rPr lang="en-US" altLang="zh-CN" sz="3000" dirty="0"/>
              <a:t>45% O</a:t>
            </a:r>
            <a:r>
              <a:rPr lang="en-US" sz="3000" baseline="-25000" dirty="0"/>
              <a:t> </a:t>
            </a:r>
            <a:r>
              <a:rPr lang="en-US" sz="3000" dirty="0"/>
              <a:t> </a:t>
            </a:r>
          </a:p>
          <a:p>
            <a:pPr>
              <a:buNone/>
            </a:pPr>
            <a:r>
              <a:rPr lang="en-US" sz="3000" dirty="0"/>
              <a:t>(b) 29.1</a:t>
            </a:r>
            <a:r>
              <a:rPr lang="en-US" altLang="zh-CN" sz="3000" dirty="0"/>
              <a:t>% Na </a:t>
            </a:r>
            <a:r>
              <a:rPr lang="zh-CN" altLang="en-US" sz="3000" dirty="0"/>
              <a:t>，</a:t>
            </a:r>
            <a:r>
              <a:rPr lang="en-US" altLang="zh-CN" sz="3000" dirty="0"/>
              <a:t>40.5% S </a:t>
            </a:r>
            <a:r>
              <a:rPr lang="zh-CN" altLang="en-US" sz="3000" dirty="0"/>
              <a:t>，</a:t>
            </a:r>
            <a:r>
              <a:rPr lang="en-US" altLang="zh-CN" sz="3000" dirty="0"/>
              <a:t>30.4% O</a:t>
            </a:r>
            <a:r>
              <a:rPr lang="en-US" sz="3000" baseline="-25000" dirty="0"/>
              <a:t> </a:t>
            </a:r>
            <a:r>
              <a:rPr lang="en-US" sz="3000" dirty="0"/>
              <a:t> </a:t>
            </a:r>
          </a:p>
          <a:p>
            <a:pPr>
              <a:buNone/>
            </a:pPr>
            <a:r>
              <a:rPr lang="en-US" altLang="zh-CN" sz="3000" dirty="0" err="1"/>
              <a:t>Ans</a:t>
            </a:r>
            <a:r>
              <a:rPr lang="zh-CN" altLang="en-US" sz="3000" dirty="0">
                <a:sym typeface="Wingdings" pitchFamily="2" charset="2"/>
              </a:rPr>
              <a:t>：</a:t>
            </a:r>
            <a:r>
              <a:rPr lang="en-US" altLang="zh-CN" sz="3000" dirty="0">
                <a:sym typeface="Wingdings" pitchFamily="2" charset="2"/>
              </a:rPr>
              <a:t>(a)  </a:t>
            </a:r>
            <a:r>
              <a:rPr lang="en-US" sz="3000" dirty="0"/>
              <a:t>Na</a:t>
            </a:r>
            <a:r>
              <a:rPr lang="en-US" sz="3000" baseline="-25000" dirty="0"/>
              <a:t>2</a:t>
            </a:r>
            <a:r>
              <a:rPr lang="en-US" sz="3000" dirty="0"/>
              <a:t>SO</a:t>
            </a:r>
            <a:r>
              <a:rPr lang="en-US" sz="3000" baseline="-25000" dirty="0"/>
              <a:t>4</a:t>
            </a:r>
            <a:r>
              <a:rPr lang="en-US" sz="3000" dirty="0"/>
              <a:t> </a:t>
            </a:r>
          </a:p>
          <a:p>
            <a:pPr>
              <a:buNone/>
            </a:pPr>
            <a:r>
              <a:rPr lang="en-US" sz="3000" dirty="0"/>
              <a:t> 		(b) Na</a:t>
            </a:r>
            <a:r>
              <a:rPr lang="en-US" sz="3000" baseline="-25000" dirty="0"/>
              <a:t>2</a:t>
            </a:r>
            <a:r>
              <a:rPr lang="en-US" sz="3000" dirty="0"/>
              <a:t>S</a:t>
            </a:r>
            <a:r>
              <a:rPr lang="en-US" sz="3000" baseline="-25000" dirty="0"/>
              <a:t>2</a:t>
            </a:r>
            <a:r>
              <a:rPr lang="en-US" sz="3000" dirty="0"/>
              <a:t>O</a:t>
            </a:r>
            <a:r>
              <a:rPr lang="en-US" sz="3000" baseline="-25000" dirty="0"/>
              <a:t>3</a:t>
            </a:r>
            <a:r>
              <a:rPr lang="en-US" sz="3000" dirty="0"/>
              <a:t> </a:t>
            </a:r>
            <a:r>
              <a:rPr lang="zh-CN" altLang="en-US" sz="3000" dirty="0"/>
              <a:t>硫代硫酸钠</a:t>
            </a:r>
            <a:endParaRPr lang="en-US" sz="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67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dirty="0"/>
              <a:t>8. </a:t>
            </a:r>
            <a:r>
              <a:rPr lang="zh-CN" altLang="en-US" sz="3000" dirty="0"/>
              <a:t>确定下列晶体的化学式。</a:t>
            </a:r>
            <a:endParaRPr lang="en-US" sz="3000" dirty="0"/>
          </a:p>
          <a:p>
            <a:pPr>
              <a:buNone/>
            </a:pPr>
            <a:r>
              <a:rPr lang="en-US" altLang="zh-CN" sz="3000" dirty="0"/>
              <a:t>(a) 0.94g MgSO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• x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</a:t>
            </a:r>
            <a:r>
              <a:rPr lang="zh-CN" altLang="en-US" sz="3000" dirty="0"/>
              <a:t>加热后得到</a:t>
            </a:r>
            <a:r>
              <a:rPr lang="en-US" altLang="zh-CN" sz="3000" dirty="0"/>
              <a:t>0.461g MgSO</a:t>
            </a:r>
            <a:r>
              <a:rPr lang="en-US" altLang="zh-CN" sz="3000" baseline="-25000" dirty="0"/>
              <a:t>4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(b) 1.124g CaSO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• y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</a:t>
            </a:r>
            <a:r>
              <a:rPr lang="zh-CN" altLang="en-US" sz="3000" dirty="0"/>
              <a:t>加热后得到</a:t>
            </a:r>
            <a:r>
              <a:rPr lang="en-US" altLang="zh-CN" sz="3000" dirty="0"/>
              <a:t>0.889g CaSO</a:t>
            </a:r>
            <a:r>
              <a:rPr lang="en-US" altLang="zh-CN" sz="3000" baseline="-25000" dirty="0"/>
              <a:t>4</a:t>
            </a:r>
            <a:endParaRPr lang="en-US" altLang="zh-CN" sz="3000" dirty="0"/>
          </a:p>
          <a:p>
            <a:pPr>
              <a:buNone/>
            </a:pPr>
            <a:r>
              <a:rPr lang="zh-CN" altLang="en-US" sz="3000" dirty="0"/>
              <a:t>解： </a:t>
            </a:r>
            <a:r>
              <a:rPr lang="en-US" altLang="zh-CN" sz="3000" dirty="0"/>
              <a:t>MgSO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与 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</a:t>
            </a:r>
            <a:r>
              <a:rPr lang="zh-CN" altLang="en-US" sz="3000" dirty="0"/>
              <a:t>分子个数比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=			     </a:t>
            </a:r>
            <a:r>
              <a:rPr lang="zh-CN" altLang="en-US" sz="3000" dirty="0"/>
              <a:t>：</a:t>
            </a: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= 1:7</a:t>
            </a:r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r>
              <a:rPr lang="en-US" altLang="zh-CN" sz="3000" dirty="0" err="1"/>
              <a:t>Ans</a:t>
            </a:r>
            <a:r>
              <a:rPr lang="en-US" altLang="zh-CN" sz="3000" dirty="0"/>
              <a:t>:</a:t>
            </a:r>
            <a:r>
              <a:rPr lang="en-US" sz="3000" dirty="0"/>
              <a:t>	(a)</a:t>
            </a:r>
            <a:r>
              <a:rPr lang="en-US" altLang="zh-CN" sz="3000" dirty="0"/>
              <a:t> MgSO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• 7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</a:t>
            </a:r>
          </a:p>
          <a:p>
            <a:pPr>
              <a:buNone/>
            </a:pPr>
            <a:r>
              <a:rPr lang="en-US" sz="3000" dirty="0"/>
              <a:t>		(b)</a:t>
            </a:r>
            <a:r>
              <a:rPr lang="en-US" altLang="zh-CN" sz="3000" dirty="0"/>
              <a:t> CaSO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• 2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</a:t>
            </a:r>
            <a:endParaRPr lang="en-US" sz="30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295400" y="3012757"/>
            <a:ext cx="2088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114800" y="3012757"/>
            <a:ext cx="2438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948019" y="2555557"/>
            <a:ext cx="109998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0.461g</a:t>
            </a: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1600200" y="2936557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err="1"/>
              <a:t>Mr</a:t>
            </a:r>
            <a:r>
              <a:rPr lang="en-US" sz="2600" dirty="0"/>
              <a:t>(</a:t>
            </a:r>
            <a:r>
              <a:rPr lang="en-US" altLang="zh-CN" sz="2800" dirty="0"/>
              <a:t>MgSO</a:t>
            </a:r>
            <a:r>
              <a:rPr lang="en-US" altLang="zh-CN" sz="2800" baseline="-25000" dirty="0"/>
              <a:t>4</a:t>
            </a:r>
            <a:r>
              <a:rPr lang="en-US" sz="2600"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0" y="2596514"/>
            <a:ext cx="194957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0.94g-0.461g</a:t>
            </a:r>
            <a:endParaRPr lang="en-US" sz="2600" dirty="0"/>
          </a:p>
        </p:txBody>
      </p:sp>
      <p:sp>
        <p:nvSpPr>
          <p:cNvPr id="9" name="TextBox 8"/>
          <p:cNvSpPr txBox="1"/>
          <p:nvPr/>
        </p:nvSpPr>
        <p:spPr>
          <a:xfrm>
            <a:off x="4648200" y="2895600"/>
            <a:ext cx="137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 err="1"/>
              <a:t>Mr</a:t>
            </a:r>
            <a:r>
              <a:rPr lang="en-US" altLang="zh-CN" sz="2600" dirty="0"/>
              <a:t>(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600" dirty="0"/>
              <a:t>)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32722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000" dirty="0"/>
              <a:t>9. </a:t>
            </a:r>
            <a:r>
              <a:rPr lang="zh-CN" altLang="en-US" sz="3000" dirty="0"/>
              <a:t>计算下列物质的摩尔质量。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N=14; Na=23; Al= 27; S=32;</a:t>
            </a:r>
            <a:r>
              <a:rPr lang="zh-CN" altLang="en-US" sz="3000" baseline="-25000" dirty="0"/>
              <a:t> </a:t>
            </a:r>
            <a:r>
              <a:rPr lang="en-US" altLang="zh-CN" sz="3000" dirty="0"/>
              <a:t>K =39; </a:t>
            </a:r>
            <a:r>
              <a:rPr lang="en-US" altLang="zh-CN" sz="3000" dirty="0" err="1"/>
              <a:t>Cl</a:t>
            </a:r>
            <a:r>
              <a:rPr lang="en-US" altLang="zh-CN" sz="3000" dirty="0"/>
              <a:t>= 35.5</a:t>
            </a:r>
          </a:p>
          <a:p>
            <a:pPr>
              <a:buNone/>
            </a:pPr>
            <a:r>
              <a:rPr lang="en-US" altLang="zh-CN" sz="3000" dirty="0"/>
              <a:t>	(a)</a:t>
            </a:r>
            <a:r>
              <a:rPr lang="zh-CN" altLang="en-US" sz="3000" dirty="0"/>
              <a:t>氢氧化钠</a:t>
            </a:r>
            <a:endParaRPr lang="en-US" altLang="zh-CN" sz="3000" dirty="0"/>
          </a:p>
          <a:p>
            <a:pPr>
              <a:buNone/>
            </a:pPr>
            <a:r>
              <a:rPr lang="en-US" sz="3000" dirty="0"/>
              <a:t>	</a:t>
            </a:r>
            <a:r>
              <a:rPr lang="en-US" altLang="zh-CN" sz="3000" dirty="0"/>
              <a:t>(b)</a:t>
            </a:r>
            <a:r>
              <a:rPr lang="zh-CN" altLang="en-US" sz="3000" dirty="0"/>
              <a:t>硝酸</a:t>
            </a:r>
            <a:endParaRPr lang="en-US" altLang="zh-CN" sz="3000" dirty="0"/>
          </a:p>
          <a:p>
            <a:pPr>
              <a:buNone/>
            </a:pPr>
            <a:r>
              <a:rPr lang="en-US" sz="3000" dirty="0"/>
              <a:t>	</a:t>
            </a:r>
            <a:r>
              <a:rPr lang="en-US" altLang="zh-CN" sz="3000" dirty="0"/>
              <a:t>(c)</a:t>
            </a:r>
            <a:r>
              <a:rPr lang="zh-CN" altLang="en-US" sz="3000" dirty="0"/>
              <a:t>碳酸钠</a:t>
            </a:r>
            <a:endParaRPr lang="en-US" altLang="zh-CN" sz="3000" dirty="0"/>
          </a:p>
          <a:p>
            <a:pPr>
              <a:buNone/>
            </a:pPr>
            <a:r>
              <a:rPr lang="en-US" sz="3000" dirty="0"/>
              <a:t>	</a:t>
            </a:r>
            <a:r>
              <a:rPr lang="en-US" altLang="zh-CN" sz="3000" dirty="0"/>
              <a:t>(d)</a:t>
            </a:r>
            <a:r>
              <a:rPr lang="zh-CN" altLang="en-US" sz="3000" dirty="0"/>
              <a:t>硫酸铝</a:t>
            </a:r>
            <a:endParaRPr lang="en-US" altLang="zh-CN" sz="3000" dirty="0"/>
          </a:p>
          <a:p>
            <a:pPr>
              <a:buNone/>
            </a:pPr>
            <a:r>
              <a:rPr lang="en-US" altLang="zh-CN" sz="2800" dirty="0" err="1"/>
              <a:t>Ans</a:t>
            </a:r>
            <a:r>
              <a:rPr lang="en-US" altLang="zh-CN" sz="2800" dirty="0"/>
              <a:t>:  	(a)40gmol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</a:t>
            </a:r>
          </a:p>
          <a:p>
            <a:pPr>
              <a:buNone/>
            </a:pPr>
            <a:r>
              <a:rPr lang="en-US" sz="2800" dirty="0"/>
              <a:t>		</a:t>
            </a:r>
            <a:r>
              <a:rPr lang="en-US" altLang="zh-CN" sz="2800" dirty="0"/>
              <a:t>(b)63gmol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</a:t>
            </a:r>
          </a:p>
          <a:p>
            <a:pPr>
              <a:buNone/>
            </a:pPr>
            <a:r>
              <a:rPr lang="en-US" sz="2800" dirty="0"/>
              <a:t>		</a:t>
            </a:r>
            <a:r>
              <a:rPr lang="en-US" altLang="zh-CN" sz="2800" dirty="0"/>
              <a:t>(c)106gmol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</a:t>
            </a:r>
          </a:p>
          <a:p>
            <a:pPr>
              <a:buNone/>
            </a:pPr>
            <a:r>
              <a:rPr lang="en-US" sz="2800" dirty="0"/>
              <a:t>		</a:t>
            </a:r>
            <a:r>
              <a:rPr lang="en-US" altLang="zh-CN" sz="2800" dirty="0"/>
              <a:t>(d)342gmol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</a:t>
            </a:r>
          </a:p>
          <a:p>
            <a:pPr>
              <a:buNone/>
            </a:pPr>
            <a:endParaRPr lang="en-US" sz="3000" dirty="0"/>
          </a:p>
        </p:txBody>
      </p:sp>
      <p:sp>
        <p:nvSpPr>
          <p:cNvPr id="2" name="TextBox 1"/>
          <p:cNvSpPr txBox="1"/>
          <p:nvPr/>
        </p:nvSpPr>
        <p:spPr>
          <a:xfrm>
            <a:off x="4800600" y="2514600"/>
            <a:ext cx="11079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3200" dirty="0"/>
              <a:t>	</a:t>
            </a:r>
          </a:p>
          <a:p>
            <a:endParaRPr lang="en-MY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2120</Words>
  <Application>Microsoft Office PowerPoint</Application>
  <PresentationFormat>On-screen Show (4:3)</PresentationFormat>
  <Paragraphs>247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第三章 原子与分子</vt:lpstr>
      <vt:lpstr>选择题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原子与分子</dc:title>
  <dc:creator>user</dc:creator>
  <cp:lastModifiedBy>User</cp:lastModifiedBy>
  <cp:revision>62</cp:revision>
  <dcterms:created xsi:type="dcterms:W3CDTF">2016-02-11T03:40:37Z</dcterms:created>
  <dcterms:modified xsi:type="dcterms:W3CDTF">2020-02-26T12:38:19Z</dcterms:modified>
</cp:coreProperties>
</file>