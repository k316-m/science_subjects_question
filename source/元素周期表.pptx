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notesMasterIdLst>
    <p:notesMasterId r:id="rId31"/>
  </p:notesMasterIdLst>
  <p:sldIdLst>
    <p:sldId id="256" r:id="rId2"/>
    <p:sldId id="257" r:id="rId3"/>
    <p:sldId id="258" r:id="rId4"/>
    <p:sldId id="259" r:id="rId5"/>
    <p:sldId id="273" r:id="rId6"/>
    <p:sldId id="260" r:id="rId7"/>
    <p:sldId id="261" r:id="rId8"/>
    <p:sldId id="262" r:id="rId9"/>
    <p:sldId id="263" r:id="rId10"/>
    <p:sldId id="283" r:id="rId11"/>
    <p:sldId id="281" r:id="rId12"/>
    <p:sldId id="282" r:id="rId13"/>
    <p:sldId id="264" r:id="rId14"/>
    <p:sldId id="265" r:id="rId15"/>
    <p:sldId id="266" r:id="rId16"/>
    <p:sldId id="272" r:id="rId17"/>
    <p:sldId id="267" r:id="rId18"/>
    <p:sldId id="275" r:id="rId19"/>
    <p:sldId id="276" r:id="rId20"/>
    <p:sldId id="284" r:id="rId21"/>
    <p:sldId id="277" r:id="rId22"/>
    <p:sldId id="268" r:id="rId23"/>
    <p:sldId id="274" r:id="rId24"/>
    <p:sldId id="269" r:id="rId25"/>
    <p:sldId id="270" r:id="rId26"/>
    <p:sldId id="271" r:id="rId27"/>
    <p:sldId id="278" r:id="rId28"/>
    <p:sldId id="279" r:id="rId29"/>
    <p:sldId id="280"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93CC"/>
    <a:srgbClr val="E8128C"/>
    <a:srgbClr val="F5FDA9"/>
    <a:srgbClr val="EFFC74"/>
    <a:srgbClr val="07D30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4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483D52F-001D-4740-915E-ACE5B926A38E}" type="datetimeFigureOut">
              <a:rPr lang="en-US" smtClean="0"/>
              <a:pPr/>
              <a:t>6/11/2020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6F3A976-3FB2-405E-8EA7-361F32AE0509}" type="slidenum">
              <a:rPr lang="en-US" smtClean="0"/>
              <a:pPr/>
              <a:t>‹#›</a:t>
            </a:fld>
            <a:endParaRPr lang="en-US"/>
          </a:p>
        </p:txBody>
      </p:sp>
    </p:spTree>
    <p:extLst>
      <p:ext uri="{BB962C8B-B14F-4D97-AF65-F5344CB8AC3E}">
        <p14:creationId xmlns:p14="http://schemas.microsoft.com/office/powerpoint/2010/main" val="16158279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6F3A976-3FB2-405E-8EA7-361F32AE0509}" type="slidenum">
              <a:rPr lang="en-US" smtClean="0"/>
              <a:pPr/>
              <a:t>2</a:t>
            </a:fld>
            <a:endParaRPr lang="en-US"/>
          </a:p>
        </p:txBody>
      </p:sp>
    </p:spTree>
    <p:extLst>
      <p:ext uri="{BB962C8B-B14F-4D97-AF65-F5344CB8AC3E}">
        <p14:creationId xmlns:p14="http://schemas.microsoft.com/office/powerpoint/2010/main" val="29910943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Straight Connector 6"/>
          <p:cNvSpPr>
            <a:spLocks noChangeShapeType="1"/>
          </p:cNvSpPr>
          <p:nvPr/>
        </p:nvSpPr>
        <p:spPr bwMode="auto">
          <a:xfrm>
            <a:off x="514350" y="5349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9" name="Title 28"/>
          <p:cNvSpPr>
            <a:spLocks noGrp="1"/>
          </p:cNvSpPr>
          <p:nvPr>
            <p:ph type="ctrTitle"/>
          </p:nvPr>
        </p:nvSpPr>
        <p:spPr>
          <a:xfrm>
            <a:off x="381000" y="4853411"/>
            <a:ext cx="8458200" cy="1222375"/>
          </a:xfrm>
        </p:spPr>
        <p:txBody>
          <a:bodyPr anchor="t"/>
          <a:lstStyle/>
          <a:p>
            <a:r>
              <a:rPr kumimoji="0" lang="en-US"/>
              <a:t>Click to edit Master title style</a:t>
            </a:r>
          </a:p>
        </p:txBody>
      </p:sp>
      <p:sp>
        <p:nvSpPr>
          <p:cNvPr id="9" name="Subtitle 8"/>
          <p:cNvSpPr>
            <a:spLocks noGrp="1"/>
          </p:cNvSpPr>
          <p:nvPr>
            <p:ph type="subTitle" idx="1"/>
          </p:nvPr>
        </p:nvSpPr>
        <p:spPr>
          <a:xfrm>
            <a:off x="381000" y="3886200"/>
            <a:ext cx="8458200" cy="914400"/>
          </a:xfrm>
        </p:spPr>
        <p:txBody>
          <a:bodyPr anchor="b"/>
          <a:lstStyle>
            <a:lvl1pPr marL="0" indent="0" algn="l">
              <a:buNone/>
              <a:defRPr sz="2400">
                <a:solidFill>
                  <a:schemeClr val="tx2">
                    <a:shade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16" name="Date Placeholder 15"/>
          <p:cNvSpPr>
            <a:spLocks noGrp="1"/>
          </p:cNvSpPr>
          <p:nvPr>
            <p:ph type="dt" sz="half" idx="10"/>
          </p:nvPr>
        </p:nvSpPr>
        <p:spPr/>
        <p:txBody>
          <a:bodyPr/>
          <a:lstStyle/>
          <a:p>
            <a:fld id="{5332CDB8-670F-427A-892D-090C01882B35}" type="datetimeFigureOut">
              <a:rPr lang="en-US" smtClean="0"/>
              <a:pPr/>
              <a:t>6/11/2020</a:t>
            </a:fld>
            <a:endParaRPr lang="en-US"/>
          </a:p>
        </p:txBody>
      </p:sp>
      <p:sp>
        <p:nvSpPr>
          <p:cNvPr id="2" name="Footer Placeholder 1"/>
          <p:cNvSpPr>
            <a:spLocks noGrp="1"/>
          </p:cNvSpPr>
          <p:nvPr>
            <p:ph type="ftr" sz="quarter" idx="11"/>
          </p:nvPr>
        </p:nvSpPr>
        <p:spPr/>
        <p:txBody>
          <a:bodyPr/>
          <a:lstStyle/>
          <a:p>
            <a:endParaRPr lang="en-US"/>
          </a:p>
        </p:txBody>
      </p:sp>
      <p:sp>
        <p:nvSpPr>
          <p:cNvPr id="15" name="Slide Number Placeholder 14"/>
          <p:cNvSpPr>
            <a:spLocks noGrp="1"/>
          </p:cNvSpPr>
          <p:nvPr>
            <p:ph type="sldNum" sz="quarter" idx="12"/>
          </p:nvPr>
        </p:nvSpPr>
        <p:spPr>
          <a:xfrm>
            <a:off x="8229600" y="6473952"/>
            <a:ext cx="758952" cy="246888"/>
          </a:xfrm>
        </p:spPr>
        <p:txBody>
          <a:bodyPr/>
          <a:lstStyle/>
          <a:p>
            <a:fld id="{B1306763-1322-4492-B22E-B1D82B78815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2" name="Title 21"/>
          <p:cNvSpPr>
            <a:spLocks noGrp="1"/>
          </p:cNvSpPr>
          <p:nvPr>
            <p:ph type="title"/>
          </p:nvPr>
        </p:nvSpPr>
        <p:spPr/>
        <p:txBody>
          <a:bodyPr/>
          <a:lstStyle/>
          <a:p>
            <a:r>
              <a:rPr kumimoji="0" lang="en-US"/>
              <a:t>Click to edit Master title style</a:t>
            </a:r>
          </a:p>
        </p:txBody>
      </p:sp>
      <p:sp>
        <p:nvSpPr>
          <p:cNvPr id="27" name="Content Placeholder 26"/>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5" name="Date Placeholder 24"/>
          <p:cNvSpPr>
            <a:spLocks noGrp="1"/>
          </p:cNvSpPr>
          <p:nvPr>
            <p:ph type="dt" sz="half" idx="10"/>
          </p:nvPr>
        </p:nvSpPr>
        <p:spPr/>
        <p:txBody>
          <a:bodyPr/>
          <a:lstStyle/>
          <a:p>
            <a:fld id="{5332CDB8-670F-427A-892D-090C01882B35}" type="datetimeFigureOut">
              <a:rPr lang="en-US" smtClean="0"/>
              <a:pPr/>
              <a:t>6/11/2020</a:t>
            </a:fld>
            <a:endParaRPr lang="en-US"/>
          </a:p>
        </p:txBody>
      </p:sp>
      <p:sp>
        <p:nvSpPr>
          <p:cNvPr id="19" name="Footer Placeholder 18"/>
          <p:cNvSpPr>
            <a:spLocks noGrp="1"/>
          </p:cNvSpPr>
          <p:nvPr>
            <p:ph type="ftr" sz="quarter" idx="11"/>
          </p:nvPr>
        </p:nvSpPr>
        <p:spPr>
          <a:xfrm>
            <a:off x="3581400" y="76200"/>
            <a:ext cx="2895600" cy="288925"/>
          </a:xfrm>
        </p:spPr>
        <p:txBody>
          <a:bodyPr/>
          <a:lstStyle/>
          <a:p>
            <a:endParaRPr lang="en-US"/>
          </a:p>
        </p:txBody>
      </p:sp>
      <p:sp>
        <p:nvSpPr>
          <p:cNvPr id="16" name="Slide Number Placeholder 15"/>
          <p:cNvSpPr>
            <a:spLocks noGrp="1"/>
          </p:cNvSpPr>
          <p:nvPr>
            <p:ph type="sldNum" sz="quarter" idx="12"/>
          </p:nvPr>
        </p:nvSpPr>
        <p:spPr>
          <a:xfrm>
            <a:off x="8229600" y="6473952"/>
            <a:ext cx="758952" cy="246888"/>
          </a:xfrm>
        </p:spPr>
        <p:txBody>
          <a:bodyPr/>
          <a:lstStyle/>
          <a:p>
            <a:fld id="{B1306763-1322-4492-B22E-B1D82B78815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2"/>
      </p:bgRef>
    </p:bg>
    <p:spTree>
      <p:nvGrpSpPr>
        <p:cNvPr id="1" name=""/>
        <p:cNvGrpSpPr/>
        <p:nvPr/>
      </p:nvGrpSpPr>
      <p:grpSpPr>
        <a:xfrm>
          <a:off x="0" y="0"/>
          <a:ext cx="0" cy="0"/>
          <a:chOff x="0" y="0"/>
          <a:chExt cx="0" cy="0"/>
        </a:xfrm>
      </p:grpSpPr>
      <p:sp>
        <p:nvSpPr>
          <p:cNvPr id="7" name="Straight Connector 6"/>
          <p:cNvSpPr>
            <a:spLocks noChangeShapeType="1"/>
          </p:cNvSpPr>
          <p:nvPr/>
        </p:nvSpPr>
        <p:spPr bwMode="auto">
          <a:xfrm>
            <a:off x="514350" y="3444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Text Placeholder 5"/>
          <p:cNvSpPr>
            <a:spLocks noGrp="1"/>
          </p:cNvSpPr>
          <p:nvPr>
            <p:ph type="body" idx="1"/>
          </p:nvPr>
        </p:nvSpPr>
        <p:spPr>
          <a:xfrm>
            <a:off x="381000" y="1676400"/>
            <a:ext cx="8458200" cy="1219200"/>
          </a:xfrm>
        </p:spPr>
        <p:txBody>
          <a:bodyPr anchor="b"/>
          <a:lstStyle>
            <a:lvl1pPr marL="0" indent="0" algn="r">
              <a:buNone/>
              <a:defRPr sz="2000">
                <a:solidFill>
                  <a:schemeClr val="tx2">
                    <a:shade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19" name="Date Placeholder 18"/>
          <p:cNvSpPr>
            <a:spLocks noGrp="1"/>
          </p:cNvSpPr>
          <p:nvPr>
            <p:ph type="dt" sz="half" idx="10"/>
          </p:nvPr>
        </p:nvSpPr>
        <p:spPr/>
        <p:txBody>
          <a:bodyPr/>
          <a:lstStyle/>
          <a:p>
            <a:fld id="{5332CDB8-670F-427A-892D-090C01882B35}" type="datetimeFigureOut">
              <a:rPr lang="en-US" smtClean="0"/>
              <a:pPr/>
              <a:t>6/11/2020</a:t>
            </a:fld>
            <a:endParaRPr lang="en-US"/>
          </a:p>
        </p:txBody>
      </p:sp>
      <p:sp>
        <p:nvSpPr>
          <p:cNvPr id="11" name="Footer Placeholder 10"/>
          <p:cNvSpPr>
            <a:spLocks noGrp="1"/>
          </p:cNvSpPr>
          <p:nvPr>
            <p:ph type="ftr" sz="quarter" idx="11"/>
          </p:nvPr>
        </p:nvSpPr>
        <p:spPr/>
        <p:txBody>
          <a:bodyPr/>
          <a:lstStyle/>
          <a:p>
            <a:endParaRPr lang="en-US"/>
          </a:p>
        </p:txBody>
      </p:sp>
      <p:sp>
        <p:nvSpPr>
          <p:cNvPr id="16" name="Slide Number Placeholder 15"/>
          <p:cNvSpPr>
            <a:spLocks noGrp="1"/>
          </p:cNvSpPr>
          <p:nvPr>
            <p:ph type="sldNum" sz="quarter" idx="12"/>
          </p:nvPr>
        </p:nvSpPr>
        <p:spPr/>
        <p:txBody>
          <a:bodyPr/>
          <a:lstStyle/>
          <a:p>
            <a:fld id="{B1306763-1322-4492-B22E-B1D82B788157}" type="slidenum">
              <a:rPr lang="en-US" smtClean="0"/>
              <a:pPr/>
              <a:t>‹#›</a:t>
            </a:fld>
            <a:endParaRPr lang="en-US"/>
          </a:p>
        </p:txBody>
      </p:sp>
      <p:sp>
        <p:nvSpPr>
          <p:cNvPr id="8" name="Title 7"/>
          <p:cNvSpPr>
            <a:spLocks noGrp="1"/>
          </p:cNvSpPr>
          <p:nvPr>
            <p:ph type="title"/>
          </p:nvPr>
        </p:nvSpPr>
        <p:spPr>
          <a:xfrm>
            <a:off x="180475" y="2947085"/>
            <a:ext cx="8686800" cy="1184825"/>
          </a:xfrm>
        </p:spPr>
        <p:txBody>
          <a:bodyPr rtlCol="0" anchor="t"/>
          <a:lstStyle>
            <a:lvl1pPr algn="r">
              <a:defRPr/>
            </a:lvl1pPr>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0" name="Title 19"/>
          <p:cNvSpPr>
            <a:spLocks noGrp="1"/>
          </p:cNvSpPr>
          <p:nvPr>
            <p:ph type="title"/>
          </p:nvPr>
        </p:nvSpPr>
        <p:spPr>
          <a:xfrm>
            <a:off x="301752" y="457200"/>
            <a:ext cx="8686800" cy="841248"/>
          </a:xfrm>
        </p:spPr>
        <p:txBody>
          <a:bodyPr/>
          <a:lstStyle/>
          <a:p>
            <a:r>
              <a:rPr kumimoji="0" lang="en-US"/>
              <a:t>Click to edit Master title style</a:t>
            </a:r>
          </a:p>
        </p:txBody>
      </p:sp>
      <p:sp>
        <p:nvSpPr>
          <p:cNvPr id="14" name="Content Placeholder 13"/>
          <p:cNvSpPr>
            <a:spLocks noGrp="1"/>
          </p:cNvSpPr>
          <p:nvPr>
            <p:ph sz="half" idx="1"/>
          </p:nvPr>
        </p:nvSpPr>
        <p:spPr>
          <a:xfrm>
            <a:off x="304800" y="1600200"/>
            <a:ext cx="4191000" cy="4724400"/>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2"/>
          </p:nvPr>
        </p:nvSpPr>
        <p:spPr>
          <a:xfrm>
            <a:off x="4648200" y="1600200"/>
            <a:ext cx="4343400" cy="4724400"/>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1" name="Date Placeholder 20"/>
          <p:cNvSpPr>
            <a:spLocks noGrp="1"/>
          </p:cNvSpPr>
          <p:nvPr>
            <p:ph type="dt" sz="half" idx="10"/>
          </p:nvPr>
        </p:nvSpPr>
        <p:spPr/>
        <p:txBody>
          <a:bodyPr/>
          <a:lstStyle/>
          <a:p>
            <a:fld id="{5332CDB8-670F-427A-892D-090C01882B35}" type="datetimeFigureOut">
              <a:rPr lang="en-US" smtClean="0"/>
              <a:pPr/>
              <a:t>6/11/2020</a:t>
            </a:fld>
            <a:endParaRPr lang="en-US"/>
          </a:p>
        </p:txBody>
      </p:sp>
      <p:sp>
        <p:nvSpPr>
          <p:cNvPr id="10" name="Footer Placeholder 9"/>
          <p:cNvSpPr>
            <a:spLocks noGrp="1"/>
          </p:cNvSpPr>
          <p:nvPr>
            <p:ph type="ftr" sz="quarter" idx="11"/>
          </p:nvPr>
        </p:nvSpPr>
        <p:spPr/>
        <p:txBody>
          <a:bodyPr/>
          <a:lstStyle/>
          <a:p>
            <a:endParaRPr lang="en-US"/>
          </a:p>
        </p:txBody>
      </p:sp>
      <p:sp>
        <p:nvSpPr>
          <p:cNvPr id="31" name="Slide Number Placeholder 30"/>
          <p:cNvSpPr>
            <a:spLocks noGrp="1"/>
          </p:cNvSpPr>
          <p:nvPr>
            <p:ph type="sldNum" sz="quarter" idx="12"/>
          </p:nvPr>
        </p:nvSpPr>
        <p:spPr/>
        <p:txBody>
          <a:bodyPr/>
          <a:lstStyle/>
          <a:p>
            <a:fld id="{B1306763-1322-4492-B22E-B1D82B78815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9" name="Title 28"/>
          <p:cNvSpPr>
            <a:spLocks noGrp="1"/>
          </p:cNvSpPr>
          <p:nvPr>
            <p:ph type="title"/>
          </p:nvPr>
        </p:nvSpPr>
        <p:spPr>
          <a:xfrm>
            <a:off x="304800" y="5410200"/>
            <a:ext cx="8610600" cy="882650"/>
          </a:xfrm>
        </p:spPr>
        <p:txBody>
          <a:bodyPr anchor="ctr"/>
          <a:lstStyle>
            <a:lvl1pPr>
              <a:defRPr/>
            </a:lvl1pPr>
          </a:lstStyle>
          <a:p>
            <a:r>
              <a:rPr kumimoji="0" lang="en-US"/>
              <a:t>Click to edit Master title style</a:t>
            </a:r>
          </a:p>
        </p:txBody>
      </p:sp>
      <p:sp>
        <p:nvSpPr>
          <p:cNvPr id="13" name="Text Placeholder 12"/>
          <p:cNvSpPr>
            <a:spLocks noGrp="1"/>
          </p:cNvSpPr>
          <p:nvPr>
            <p:ph type="body" idx="1"/>
          </p:nvPr>
        </p:nvSpPr>
        <p:spPr>
          <a:xfrm>
            <a:off x="281444" y="666750"/>
            <a:ext cx="4290556"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25" name="Text Placeholder 24"/>
          <p:cNvSpPr>
            <a:spLocks noGrp="1"/>
          </p:cNvSpPr>
          <p:nvPr>
            <p:ph type="body" sz="half" idx="3"/>
          </p:nvPr>
        </p:nvSpPr>
        <p:spPr>
          <a:xfrm>
            <a:off x="4645025" y="666750"/>
            <a:ext cx="4292241"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Content Placeholder 3"/>
          <p:cNvSpPr>
            <a:spLocks noGrp="1"/>
          </p:cNvSpPr>
          <p:nvPr>
            <p:ph sz="quarter" idx="2"/>
          </p:nvPr>
        </p:nvSpPr>
        <p:spPr>
          <a:xfrm>
            <a:off x="281444" y="1316037"/>
            <a:ext cx="4290556"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8" name="Content Placeholder 27"/>
          <p:cNvSpPr>
            <a:spLocks noGrp="1"/>
          </p:cNvSpPr>
          <p:nvPr>
            <p:ph sz="quarter" idx="4"/>
          </p:nvPr>
        </p:nvSpPr>
        <p:spPr>
          <a:xfrm>
            <a:off x="4648730" y="1316037"/>
            <a:ext cx="4288536"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0"/>
          </p:nvPr>
        </p:nvSpPr>
        <p:spPr/>
        <p:txBody>
          <a:bodyPr/>
          <a:lstStyle/>
          <a:p>
            <a:fld id="{5332CDB8-670F-427A-892D-090C01882B35}" type="datetimeFigureOut">
              <a:rPr lang="en-US" smtClean="0"/>
              <a:pPr/>
              <a:t>6/11/2020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229600" y="6477000"/>
            <a:ext cx="762000" cy="246888"/>
          </a:xfrm>
        </p:spPr>
        <p:txBody>
          <a:bodyPr/>
          <a:lstStyle/>
          <a:p>
            <a:fld id="{B1306763-1322-4492-B22E-B1D82B788157}" type="slidenum">
              <a:rPr lang="en-US" smtClean="0"/>
              <a:pPr/>
              <a:t>‹#›</a:t>
            </a:fld>
            <a:endParaRPr lang="en-US"/>
          </a:p>
        </p:txBody>
      </p:sp>
      <p:sp>
        <p:nvSpPr>
          <p:cNvPr id="11" name="Straight Connector 10"/>
          <p:cNvSpPr>
            <a:spLocks noChangeShapeType="1"/>
          </p:cNvSpPr>
          <p:nvPr/>
        </p:nvSpPr>
        <p:spPr bwMode="auto">
          <a:xfrm>
            <a:off x="514350" y="6019800"/>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0" name="Title 29"/>
          <p:cNvSpPr>
            <a:spLocks noGrp="1"/>
          </p:cNvSpPr>
          <p:nvPr>
            <p:ph type="title"/>
          </p:nvPr>
        </p:nvSpPr>
        <p:spPr>
          <a:xfrm>
            <a:off x="301752" y="457200"/>
            <a:ext cx="8686800" cy="841248"/>
          </a:xfrm>
        </p:spPr>
        <p:txBody>
          <a:bodyPr/>
          <a:lstStyle/>
          <a:p>
            <a:r>
              <a:rPr kumimoji="0" lang="en-US"/>
              <a:t>Click to edit Master title style</a:t>
            </a:r>
          </a:p>
        </p:txBody>
      </p:sp>
      <p:sp>
        <p:nvSpPr>
          <p:cNvPr id="12" name="Date Placeholder 11"/>
          <p:cNvSpPr>
            <a:spLocks noGrp="1"/>
          </p:cNvSpPr>
          <p:nvPr>
            <p:ph type="dt" sz="half" idx="10"/>
          </p:nvPr>
        </p:nvSpPr>
        <p:spPr/>
        <p:txBody>
          <a:bodyPr/>
          <a:lstStyle/>
          <a:p>
            <a:fld id="{5332CDB8-670F-427A-892D-090C01882B35}" type="datetimeFigureOut">
              <a:rPr lang="en-US" smtClean="0"/>
              <a:pPr/>
              <a:t>6/11/2020</a:t>
            </a:fld>
            <a:endParaRPr lang="en-US"/>
          </a:p>
        </p:txBody>
      </p:sp>
      <p:sp>
        <p:nvSpPr>
          <p:cNvPr id="21" name="Footer Placeholder 20"/>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306763-1322-4492-B22E-B1D82B78815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332CDB8-670F-427A-892D-090C01882B35}" type="datetimeFigureOut">
              <a:rPr lang="en-US" smtClean="0"/>
              <a:pPr/>
              <a:t>6/11/2020</a:t>
            </a:fld>
            <a:endParaRPr lang="en-US"/>
          </a:p>
        </p:txBody>
      </p:sp>
      <p:sp>
        <p:nvSpPr>
          <p:cNvPr id="24" name="Footer Placeholder 23"/>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306763-1322-4492-B22E-B1D82B78815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Straight Connector 7"/>
          <p:cNvSpPr>
            <a:spLocks noChangeShapeType="1"/>
          </p:cNvSpPr>
          <p:nvPr/>
        </p:nvSpPr>
        <p:spPr bwMode="auto">
          <a:xfrm>
            <a:off x="514350" y="5849117"/>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Title 11"/>
          <p:cNvSpPr>
            <a:spLocks noGrp="1"/>
          </p:cNvSpPr>
          <p:nvPr>
            <p:ph type="title"/>
          </p:nvPr>
        </p:nvSpPr>
        <p:spPr>
          <a:xfrm>
            <a:off x="457200" y="5486400"/>
            <a:ext cx="8458200" cy="520700"/>
          </a:xfrm>
        </p:spPr>
        <p:txBody>
          <a:bodyPr anchor="ctr"/>
          <a:lstStyle>
            <a:lvl1pPr algn="l">
              <a:buNone/>
              <a:defRPr sz="2000" b="1"/>
            </a:lvl1pPr>
          </a:lstStyle>
          <a:p>
            <a:r>
              <a:rPr kumimoji="0" lang="en-US"/>
              <a:t>Click to edit Master title style</a:t>
            </a:r>
          </a:p>
        </p:txBody>
      </p:sp>
      <p:sp>
        <p:nvSpPr>
          <p:cNvPr id="26" name="Text Placeholder 25"/>
          <p:cNvSpPr>
            <a:spLocks noGrp="1"/>
          </p:cNvSpPr>
          <p:nvPr>
            <p:ph type="body" idx="2"/>
          </p:nvPr>
        </p:nvSpPr>
        <p:spPr>
          <a:xfrm>
            <a:off x="457200" y="609600"/>
            <a:ext cx="3008313" cy="4800600"/>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14" name="Content Placeholder 13"/>
          <p:cNvSpPr>
            <a:spLocks noGrp="1"/>
          </p:cNvSpPr>
          <p:nvPr>
            <p:ph sz="half" idx="1"/>
          </p:nvPr>
        </p:nvSpPr>
        <p:spPr>
          <a:xfrm>
            <a:off x="3575050" y="609600"/>
            <a:ext cx="5340350" cy="480060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5" name="Date Placeholder 24"/>
          <p:cNvSpPr>
            <a:spLocks noGrp="1"/>
          </p:cNvSpPr>
          <p:nvPr>
            <p:ph type="dt" sz="half" idx="10"/>
          </p:nvPr>
        </p:nvSpPr>
        <p:spPr/>
        <p:txBody>
          <a:bodyPr/>
          <a:lstStyle/>
          <a:p>
            <a:fld id="{5332CDB8-670F-427A-892D-090C01882B35}" type="datetimeFigureOut">
              <a:rPr lang="en-US" smtClean="0"/>
              <a:pPr/>
              <a:t>6/11/2020</a:t>
            </a:fld>
            <a:endParaRPr lang="en-US"/>
          </a:p>
        </p:txBody>
      </p:sp>
      <p:sp>
        <p:nvSpPr>
          <p:cNvPr id="29" name="Footer Placeholder 28"/>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306763-1322-4492-B22E-B1D82B78815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3" name="Picture Placeholder 12"/>
          <p:cNvSpPr>
            <a:spLocks noGrp="1"/>
          </p:cNvSpPr>
          <p:nvPr>
            <p:ph type="pic" idx="1"/>
          </p:nvPr>
        </p:nvSpPr>
        <p:spPr>
          <a:xfrm>
            <a:off x="3505200" y="616634"/>
            <a:ext cx="5029200" cy="3657600"/>
          </a:xfrm>
          <a:solidFill>
            <a:schemeClr val="bg1"/>
          </a:solidFill>
          <a:ln w="6350">
            <a:solidFill>
              <a:schemeClr val="accent1"/>
            </a:solidFill>
          </a:ln>
          <a:effectLst>
            <a:reflection blurRad="1000" stA="49000" endA="500" endPos="10000" dist="900" dir="5400000" sy="-90000" algn="bl" rotWithShape="0"/>
          </a:effectLst>
        </p:spPr>
        <p:txBody>
          <a:bodyPr/>
          <a:lstStyle>
            <a:lvl1pPr marL="0" indent="0">
              <a:buNone/>
              <a:defRPr sz="3200"/>
            </a:lvl1pPr>
          </a:lstStyle>
          <a:p>
            <a:r>
              <a:rPr kumimoji="0" lang="en-US"/>
              <a:t>Click icon to add picture</a:t>
            </a:r>
            <a:endParaRPr kumimoji="0" lang="en-US" dirty="0"/>
          </a:p>
        </p:txBody>
      </p:sp>
      <p:sp>
        <p:nvSpPr>
          <p:cNvPr id="7" name="Date Placeholder 6"/>
          <p:cNvSpPr>
            <a:spLocks noGrp="1"/>
          </p:cNvSpPr>
          <p:nvPr>
            <p:ph type="dt" sz="half" idx="10"/>
          </p:nvPr>
        </p:nvSpPr>
        <p:spPr/>
        <p:txBody>
          <a:bodyPr/>
          <a:lstStyle/>
          <a:p>
            <a:fld id="{5332CDB8-670F-427A-892D-090C01882B35}" type="datetimeFigureOut">
              <a:rPr lang="en-US" smtClean="0"/>
              <a:pPr/>
              <a:t>6/11/2020</a:t>
            </a:fld>
            <a:endParaRPr lang="en-US"/>
          </a:p>
        </p:txBody>
      </p:sp>
      <p:sp>
        <p:nvSpPr>
          <p:cNvPr id="5" name="Footer Placeholder 4"/>
          <p:cNvSpPr>
            <a:spLocks noGrp="1"/>
          </p:cNvSpPr>
          <p:nvPr>
            <p:ph type="ftr" sz="quarter" idx="11"/>
          </p:nvPr>
        </p:nvSpPr>
        <p:spPr/>
        <p:txBody>
          <a:bodyPr/>
          <a:lstStyle/>
          <a:p>
            <a:endParaRPr lang="en-US"/>
          </a:p>
        </p:txBody>
      </p:sp>
      <p:sp>
        <p:nvSpPr>
          <p:cNvPr id="31" name="Slide Number Placeholder 30"/>
          <p:cNvSpPr>
            <a:spLocks noGrp="1"/>
          </p:cNvSpPr>
          <p:nvPr>
            <p:ph type="sldNum" sz="quarter" idx="12"/>
          </p:nvPr>
        </p:nvSpPr>
        <p:spPr/>
        <p:txBody>
          <a:bodyPr/>
          <a:lstStyle/>
          <a:p>
            <a:fld id="{B1306763-1322-4492-B22E-B1D82B788157}" type="slidenum">
              <a:rPr lang="en-US" smtClean="0"/>
              <a:pPr/>
              <a:t>‹#›</a:t>
            </a:fld>
            <a:endParaRPr lang="en-US"/>
          </a:p>
        </p:txBody>
      </p:sp>
      <p:sp>
        <p:nvSpPr>
          <p:cNvPr id="17" name="Title 16"/>
          <p:cNvSpPr>
            <a:spLocks noGrp="1"/>
          </p:cNvSpPr>
          <p:nvPr>
            <p:ph type="title"/>
          </p:nvPr>
        </p:nvSpPr>
        <p:spPr>
          <a:xfrm>
            <a:off x="381000" y="4993760"/>
            <a:ext cx="5867400" cy="522288"/>
          </a:xfrm>
        </p:spPr>
        <p:txBody>
          <a:bodyPr anchor="ctr"/>
          <a:lstStyle>
            <a:lvl1pPr algn="l">
              <a:buNone/>
              <a:defRPr sz="2000" b="1"/>
            </a:lvl1pPr>
          </a:lstStyle>
          <a:p>
            <a:r>
              <a:rPr kumimoji="0" lang="en-US"/>
              <a:t>Click to edit Master title style</a:t>
            </a:r>
          </a:p>
        </p:txBody>
      </p:sp>
      <p:sp>
        <p:nvSpPr>
          <p:cNvPr id="26" name="Text Placeholder 25"/>
          <p:cNvSpPr>
            <a:spLocks noGrp="1"/>
          </p:cNvSpPr>
          <p:nvPr>
            <p:ph type="body" sz="half" idx="2"/>
          </p:nvPr>
        </p:nvSpPr>
        <p:spPr>
          <a:xfrm>
            <a:off x="381000" y="5533218"/>
            <a:ext cx="5867400" cy="768350"/>
          </a:xfrm>
        </p:spPr>
        <p:txBody>
          <a:bodyPr lIns="109728" tIns="0"/>
          <a:lstStyle>
            <a:lvl1pPr marL="0" indent="0">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5332CDB8-670F-427A-892D-090C01882B35}" type="datetimeFigureOut">
              <a:rPr lang="en-US" smtClean="0"/>
              <a:pPr/>
              <a:t>6/11/2020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306763-1322-4492-B22E-B1D82B78815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549276"/>
            <a:ext cx="18288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549276"/>
            <a:ext cx="6248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5332CDB8-670F-427A-892D-090C01882B35}" type="datetimeFigureOut">
              <a:rPr lang="en-US" smtClean="0"/>
              <a:pPr/>
              <a:t>6/11/2020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306763-1322-4492-B22E-B1D82B788157}"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Straight Connector 6"/>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Text Placeholder 7"/>
          <p:cNvSpPr>
            <a:spLocks noGrp="1"/>
          </p:cNvSpPr>
          <p:nvPr>
            <p:ph type="body" idx="1"/>
          </p:nvPr>
        </p:nvSpPr>
        <p:spPr>
          <a:xfrm>
            <a:off x="304800" y="1554162"/>
            <a:ext cx="86868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1" name="Date Placeholder 10"/>
          <p:cNvSpPr>
            <a:spLocks noGrp="1"/>
          </p:cNvSpPr>
          <p:nvPr>
            <p:ph type="dt" sz="half" idx="2"/>
          </p:nvPr>
        </p:nvSpPr>
        <p:spPr>
          <a:xfrm>
            <a:off x="6477000" y="76200"/>
            <a:ext cx="2514600" cy="288925"/>
          </a:xfrm>
          <a:prstGeom prst="rect">
            <a:avLst/>
          </a:prstGeom>
        </p:spPr>
        <p:txBody>
          <a:bodyPr vert="horz"/>
          <a:lstStyle>
            <a:lvl1pPr algn="l" eaLnBrk="1" latinLnBrk="0" hangingPunct="1">
              <a:defRPr kumimoji="0" sz="1200">
                <a:solidFill>
                  <a:schemeClr val="accent1">
                    <a:shade val="75000"/>
                  </a:schemeClr>
                </a:solidFill>
              </a:defRPr>
            </a:lvl1pPr>
          </a:lstStyle>
          <a:p>
            <a:fld id="{5332CDB8-670F-427A-892D-090C01882B35}" type="datetimeFigureOut">
              <a:rPr lang="en-US" smtClean="0"/>
              <a:pPr/>
              <a:t>6/11/2020</a:t>
            </a:fld>
            <a:endParaRPr lang="en-US"/>
          </a:p>
        </p:txBody>
      </p:sp>
      <p:sp>
        <p:nvSpPr>
          <p:cNvPr id="28" name="Footer Placeholder 27"/>
          <p:cNvSpPr>
            <a:spLocks noGrp="1"/>
          </p:cNvSpPr>
          <p:nvPr>
            <p:ph type="ftr" sz="quarter" idx="3"/>
          </p:nvPr>
        </p:nvSpPr>
        <p:spPr>
          <a:xfrm>
            <a:off x="3124200" y="76200"/>
            <a:ext cx="3352800" cy="288925"/>
          </a:xfrm>
          <a:prstGeom prst="rect">
            <a:avLst/>
          </a:prstGeom>
        </p:spPr>
        <p:txBody>
          <a:bodyPr vert="horz"/>
          <a:lstStyle>
            <a:lvl1pPr algn="r" eaLnBrk="1" latinLnBrk="0" hangingPunct="1">
              <a:defRPr kumimoji="0" sz="1200">
                <a:solidFill>
                  <a:schemeClr val="accent1">
                    <a:shade val="75000"/>
                  </a:schemeClr>
                </a:solidFill>
              </a:defRPr>
            </a:lvl1pPr>
          </a:lstStyle>
          <a:p>
            <a:endParaRPr lang="en-US"/>
          </a:p>
        </p:txBody>
      </p:sp>
      <p:sp>
        <p:nvSpPr>
          <p:cNvPr id="5" name="Slide Number Placeholder 4"/>
          <p:cNvSpPr>
            <a:spLocks noGrp="1"/>
          </p:cNvSpPr>
          <p:nvPr>
            <p:ph type="sldNum" sz="quarter" idx="4"/>
          </p:nvPr>
        </p:nvSpPr>
        <p:spPr>
          <a:xfrm>
            <a:off x="8229600" y="6477000"/>
            <a:ext cx="762000" cy="244475"/>
          </a:xfrm>
          <a:prstGeom prst="rect">
            <a:avLst/>
          </a:prstGeom>
        </p:spPr>
        <p:txBody>
          <a:bodyPr vert="horz"/>
          <a:lstStyle>
            <a:lvl1pPr algn="r" eaLnBrk="1" latinLnBrk="0" hangingPunct="1">
              <a:defRPr kumimoji="0" sz="1200">
                <a:solidFill>
                  <a:schemeClr val="accent1">
                    <a:shade val="75000"/>
                  </a:schemeClr>
                </a:solidFill>
              </a:defRPr>
            </a:lvl1pPr>
          </a:lstStyle>
          <a:p>
            <a:fld id="{B1306763-1322-4492-B22E-B1D82B788157}" type="slidenum">
              <a:rPr lang="en-US" smtClean="0"/>
              <a:pPr/>
              <a:t>‹#›</a:t>
            </a:fld>
            <a:endParaRPr lang="en-US"/>
          </a:p>
        </p:txBody>
      </p:sp>
      <p:sp>
        <p:nvSpPr>
          <p:cNvPr id="10" name="Title Placeholder 9"/>
          <p:cNvSpPr>
            <a:spLocks noGrp="1"/>
          </p:cNvSpPr>
          <p:nvPr>
            <p:ph type="title"/>
          </p:nvPr>
        </p:nvSpPr>
        <p:spPr>
          <a:xfrm>
            <a:off x="304800" y="457200"/>
            <a:ext cx="8686800" cy="838200"/>
          </a:xfrm>
          <a:prstGeom prst="rect">
            <a:avLst/>
          </a:prstGeom>
        </p:spPr>
        <p:txBody>
          <a:bodyPr vert="horz" anchor="ctr">
            <a:normAutofit/>
          </a:bodyPr>
          <a:lstStyle/>
          <a:p>
            <a:r>
              <a:rPr kumimoji="0" lang="en-US"/>
              <a:t>Click to edit Master title style</a:t>
            </a:r>
          </a:p>
        </p:txBody>
      </p:sp>
      <p:sp>
        <p:nvSpPr>
          <p:cNvPr id="9" name="Straight Connector 8"/>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Straight Connector 11"/>
          <p:cNvSpPr>
            <a:spLocks noChangeShapeType="1"/>
          </p:cNvSpPr>
          <p:nvPr/>
        </p:nvSpPr>
        <p:spPr bwMode="auto">
          <a:xfrm>
            <a:off x="514350" y="1057986"/>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xStyles>
    <p:titleStyle>
      <a:lvl1pPr algn="l" rtl="0" eaLnBrk="1" latinLnBrk="0" hangingPunct="1">
        <a:spcBef>
          <a:spcPct val="0"/>
        </a:spcBef>
        <a:buNone/>
        <a:defRPr kumimoji="0" sz="3600" kern="1200" cap="all" baseline="0">
          <a:solidFill>
            <a:schemeClr val="tx2"/>
          </a:solidFill>
          <a:effectLst>
            <a:reflection blurRad="12700" stA="48000" endA="300" endPos="55000" dir="5400000" sy="-90000" algn="bl" rotWithShape="0"/>
          </a:effectLst>
          <a:latin typeface="+mj-lt"/>
          <a:ea typeface="+mj-ea"/>
          <a:cs typeface="+mj-cs"/>
        </a:defRPr>
      </a:lvl1pPr>
    </p:titleStyle>
    <p:bodyStyle>
      <a:lvl1pPr marL="342900" indent="-342900" algn="l" rtl="0" eaLnBrk="1" latinLnBrk="0" hangingPunct="1">
        <a:spcBef>
          <a:spcPct val="20000"/>
        </a:spcBef>
        <a:buClr>
          <a:schemeClr val="accent1"/>
        </a:buClr>
        <a:buSzPct val="70000"/>
        <a:buFont typeface="Wingdings 2"/>
        <a:buChar char=""/>
        <a:defRPr kumimoji="0" sz="3200" kern="1200">
          <a:solidFill>
            <a:schemeClr val="tx2"/>
          </a:solidFill>
          <a:latin typeface="+mn-lt"/>
          <a:ea typeface="+mn-ea"/>
          <a:cs typeface="+mn-cs"/>
        </a:defRPr>
      </a:lvl1pPr>
      <a:lvl2pPr marL="742950" indent="-285750" algn="l" rtl="0" eaLnBrk="1" latinLnBrk="0" hangingPunct="1">
        <a:spcBef>
          <a:spcPct val="20000"/>
        </a:spcBef>
        <a:buClr>
          <a:schemeClr val="accent1"/>
        </a:buClr>
        <a:buSzPct val="70000"/>
        <a:buFont typeface="Wingdings 2"/>
        <a:buChar char=""/>
        <a:defRPr kumimoji="0" sz="2800" kern="1200">
          <a:solidFill>
            <a:schemeClr val="tx2"/>
          </a:solidFill>
          <a:latin typeface="+mn-lt"/>
          <a:ea typeface="+mn-ea"/>
          <a:cs typeface="+mn-cs"/>
        </a:defRPr>
      </a:lvl2pPr>
      <a:lvl3pPr marL="1143000" indent="-228600" algn="l" rtl="0" eaLnBrk="1" latinLnBrk="0" hangingPunct="1">
        <a:spcBef>
          <a:spcPct val="20000"/>
        </a:spcBef>
        <a:buClr>
          <a:schemeClr val="accent1"/>
        </a:buClr>
        <a:buSzPct val="70000"/>
        <a:buFont typeface="Wingdings 2"/>
        <a:buChar char=""/>
        <a:defRPr kumimoji="0" sz="2400" kern="1200">
          <a:solidFill>
            <a:schemeClr val="tx2"/>
          </a:solidFill>
          <a:latin typeface="+mn-lt"/>
          <a:ea typeface="+mn-ea"/>
          <a:cs typeface="+mn-cs"/>
        </a:defRPr>
      </a:lvl3pPr>
      <a:lvl4pPr marL="1600200" indent="-228600" algn="l" rtl="0" eaLnBrk="1" latinLnBrk="0" hangingPunct="1">
        <a:spcBef>
          <a:spcPct val="20000"/>
        </a:spcBef>
        <a:buClr>
          <a:schemeClr val="accent1"/>
        </a:buClr>
        <a:buSzPct val="70000"/>
        <a:buFont typeface="Wingdings 2"/>
        <a:buChar char=""/>
        <a:defRPr kumimoji="0" sz="2000" kern="1200">
          <a:solidFill>
            <a:schemeClr val="tx2"/>
          </a:solidFill>
          <a:latin typeface="+mn-lt"/>
          <a:ea typeface="+mn-ea"/>
          <a:cs typeface="+mn-cs"/>
        </a:defRPr>
      </a:lvl4pPr>
      <a:lvl5pPr marL="2057400" indent="-228600"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5pPr>
      <a:lvl6pPr marL="2514600" indent="-228600"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800" indent="-228600" algn="l" rtl="0" eaLnBrk="1" latinLnBrk="0"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9000" indent="-228600" algn="l" rtl="0" eaLnBrk="1" latinLnBrk="0"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6200" indent="-228600" algn="l" rtl="0" eaLnBrk="1" latinLnBrk="0"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4267200"/>
            <a:ext cx="8458200" cy="1222375"/>
          </a:xfrm>
        </p:spPr>
        <p:txBody>
          <a:bodyPr>
            <a:normAutofit fontScale="90000"/>
          </a:bodyPr>
          <a:lstStyle/>
          <a:p>
            <a:r>
              <a:rPr lang="zh-CN" altLang="en-US" sz="7200" b="1" dirty="0"/>
              <a:t>第六章</a:t>
            </a:r>
            <a:br>
              <a:rPr lang="en-US" altLang="zh-CN" sz="7200" b="1" dirty="0"/>
            </a:br>
            <a:r>
              <a:rPr lang="zh-CN" altLang="en-US" sz="7200" b="1" dirty="0"/>
              <a:t>元素周期表</a:t>
            </a:r>
            <a:endParaRPr lang="en-US" sz="7200" b="1" dirty="0"/>
          </a:p>
        </p:txBody>
      </p:sp>
    </p:spTree>
    <p:extLst>
      <p:ext uri="{BB962C8B-B14F-4D97-AF65-F5344CB8AC3E}">
        <p14:creationId xmlns:p14="http://schemas.microsoft.com/office/powerpoint/2010/main" val="34666061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6.1</a:t>
            </a:r>
            <a:r>
              <a:rPr lang="zh-CN" altLang="en-US" b="1" dirty="0"/>
              <a:t>元素周期表的发展简史</a:t>
            </a:r>
            <a:endParaRPr lang="en-US" b="1" dirty="0"/>
          </a:p>
        </p:txBody>
      </p:sp>
      <p:pic>
        <p:nvPicPr>
          <p:cNvPr id="1026" name="Picture 2" descr="C:\Users\User\Desktop\嘿哟家怡在这里\化学-06\德贝莱纳.jpg"/>
          <p:cNvPicPr>
            <a:picLocks noChangeAspect="1" noChangeArrowheads="1"/>
          </p:cNvPicPr>
          <p:nvPr/>
        </p:nvPicPr>
        <p:blipFill>
          <a:blip r:embed="rId3">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381000" y="1905000"/>
            <a:ext cx="2380436" cy="2590800"/>
          </a:xfrm>
          <a:prstGeom prst="rect">
            <a:avLst/>
          </a:prstGeom>
          <a:noFill/>
          <a:extLst>
            <a:ext uri="{909E8E84-426E-40DD-AFC4-6F175D3DCCD1}">
              <a14:hiddenFill xmlns:a14="http://schemas.microsoft.com/office/drawing/2010/main">
                <a:solidFill>
                  <a:srgbClr val="FFFFFF"/>
                </a:solidFill>
              </a14:hiddenFill>
            </a:ext>
          </a:extLst>
        </p:spPr>
      </p:pic>
      <p:sp>
        <p:nvSpPr>
          <p:cNvPr id="5" name="Right Arrow 4"/>
          <p:cNvSpPr/>
          <p:nvPr/>
        </p:nvSpPr>
        <p:spPr>
          <a:xfrm>
            <a:off x="2971800" y="2999505"/>
            <a:ext cx="762000" cy="3524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4045527" y="2883329"/>
            <a:ext cx="2514600" cy="584775"/>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3200" b="1" dirty="0">
                <a:solidFill>
                  <a:schemeClr val="accent6">
                    <a:lumMod val="75000"/>
                  </a:schemeClr>
                </a:solidFill>
              </a:rPr>
              <a:t>“三元素组”</a:t>
            </a:r>
            <a:endParaRPr lang="en-US" sz="3200" b="1" dirty="0">
              <a:solidFill>
                <a:schemeClr val="accent6">
                  <a:lumMod val="75000"/>
                </a:schemeClr>
              </a:solidFill>
            </a:endParaRPr>
          </a:p>
        </p:txBody>
      </p:sp>
      <p:sp>
        <p:nvSpPr>
          <p:cNvPr id="7" name="TextBox 6"/>
          <p:cNvSpPr txBox="1"/>
          <p:nvPr/>
        </p:nvSpPr>
        <p:spPr>
          <a:xfrm>
            <a:off x="733018" y="3540152"/>
            <a:ext cx="1676400" cy="523220"/>
          </a:xfrm>
          <a:prstGeom prst="rect">
            <a:avLst/>
          </a:prstGeom>
          <a:noFill/>
        </p:spPr>
        <p:txBody>
          <a:bodyPr wrap="square" rtlCol="0">
            <a:spAutoFit/>
          </a:bodyPr>
          <a:lstStyle/>
          <a:p>
            <a:r>
              <a:rPr lang="zh-CN" altLang="en-US" sz="2800" b="1" dirty="0">
                <a:solidFill>
                  <a:schemeClr val="bg1"/>
                </a:solidFill>
              </a:rPr>
              <a:t>德贝莱纳</a:t>
            </a:r>
            <a:endParaRPr lang="en-US" sz="2800" b="1" dirty="0">
              <a:solidFill>
                <a:schemeClr val="bg1"/>
              </a:solidFill>
            </a:endParaRPr>
          </a:p>
        </p:txBody>
      </p:sp>
      <p:graphicFrame>
        <p:nvGraphicFramePr>
          <p:cNvPr id="9" name="Table 8"/>
          <p:cNvGraphicFramePr>
            <a:graphicFrameLocks noGrp="1"/>
          </p:cNvGraphicFramePr>
          <p:nvPr>
            <p:extLst>
              <p:ext uri="{D42A27DB-BD31-4B8C-83A1-F6EECF244321}">
                <p14:modId xmlns:p14="http://schemas.microsoft.com/office/powerpoint/2010/main" val="4146795909"/>
              </p:ext>
            </p:extLst>
          </p:nvPr>
        </p:nvGraphicFramePr>
        <p:xfrm>
          <a:off x="3387436" y="4267200"/>
          <a:ext cx="803564" cy="1408695"/>
        </p:xfrm>
        <a:graphic>
          <a:graphicData uri="http://schemas.openxmlformats.org/drawingml/2006/table">
            <a:tbl>
              <a:tblPr firstRow="1" bandRow="1">
                <a:tableStyleId>{5C22544A-7EE6-4342-B048-85BDC9FD1C3A}</a:tableStyleId>
              </a:tblPr>
              <a:tblGrid>
                <a:gridCol w="803564">
                  <a:extLst>
                    <a:ext uri="{9D8B030D-6E8A-4147-A177-3AD203B41FA5}">
                      <a16:colId xmlns:a16="http://schemas.microsoft.com/office/drawing/2014/main" val="20000"/>
                    </a:ext>
                  </a:extLst>
                </a:gridCol>
              </a:tblGrid>
              <a:tr h="469565">
                <a:tc>
                  <a:txBody>
                    <a:bodyPr/>
                    <a:lstStyle/>
                    <a:p>
                      <a:pPr algn="ctr"/>
                      <a:r>
                        <a:rPr lang="en-US" dirty="0">
                          <a:solidFill>
                            <a:schemeClr val="tx1">
                              <a:lumMod val="95000"/>
                              <a:lumOff val="5000"/>
                            </a:schemeClr>
                          </a:solidFill>
                        </a:rPr>
                        <a:t>Li</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469565">
                <a:tc>
                  <a:txBody>
                    <a:bodyPr/>
                    <a:lstStyle/>
                    <a:p>
                      <a:pPr algn="ctr"/>
                      <a:r>
                        <a:rPr lang="en-US" b="1" dirty="0"/>
                        <a:t>Na</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469565">
                <a:tc>
                  <a:txBody>
                    <a:bodyPr/>
                    <a:lstStyle/>
                    <a:p>
                      <a:pPr algn="ctr"/>
                      <a:r>
                        <a:rPr lang="en-US" b="1" dirty="0"/>
                        <a:t>K</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3767199618"/>
              </p:ext>
            </p:extLst>
          </p:nvPr>
        </p:nvGraphicFramePr>
        <p:xfrm>
          <a:off x="5486400" y="4267200"/>
          <a:ext cx="803564" cy="1408695"/>
        </p:xfrm>
        <a:graphic>
          <a:graphicData uri="http://schemas.openxmlformats.org/drawingml/2006/table">
            <a:tbl>
              <a:tblPr firstRow="1" bandRow="1">
                <a:tableStyleId>{5C22544A-7EE6-4342-B048-85BDC9FD1C3A}</a:tableStyleId>
              </a:tblPr>
              <a:tblGrid>
                <a:gridCol w="803564">
                  <a:extLst>
                    <a:ext uri="{9D8B030D-6E8A-4147-A177-3AD203B41FA5}">
                      <a16:colId xmlns:a16="http://schemas.microsoft.com/office/drawing/2014/main" val="20000"/>
                    </a:ext>
                  </a:extLst>
                </a:gridCol>
              </a:tblGrid>
              <a:tr h="469565">
                <a:tc>
                  <a:txBody>
                    <a:bodyPr/>
                    <a:lstStyle/>
                    <a:p>
                      <a:pPr algn="ctr"/>
                      <a:r>
                        <a:rPr lang="en-US" dirty="0">
                          <a:solidFill>
                            <a:schemeClr val="tx1">
                              <a:lumMod val="95000"/>
                              <a:lumOff val="5000"/>
                            </a:schemeClr>
                          </a:solidFill>
                        </a:rPr>
                        <a:t>P</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469565">
                <a:tc>
                  <a:txBody>
                    <a:bodyPr/>
                    <a:lstStyle/>
                    <a:p>
                      <a:pPr algn="ctr"/>
                      <a:r>
                        <a:rPr lang="en-US" b="1" dirty="0"/>
                        <a:t>As</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469565">
                <a:tc>
                  <a:txBody>
                    <a:bodyPr/>
                    <a:lstStyle/>
                    <a:p>
                      <a:pPr algn="ctr"/>
                      <a:r>
                        <a:rPr lang="en-US" b="1" dirty="0" err="1"/>
                        <a:t>Sb</a:t>
                      </a:r>
                      <a:endParaRPr 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graphicFrame>
        <p:nvGraphicFramePr>
          <p:cNvPr id="13" name="Table 12"/>
          <p:cNvGraphicFramePr>
            <a:graphicFrameLocks noGrp="1"/>
          </p:cNvGraphicFramePr>
          <p:nvPr>
            <p:extLst>
              <p:ext uri="{D42A27DB-BD31-4B8C-83A1-F6EECF244321}">
                <p14:modId xmlns:p14="http://schemas.microsoft.com/office/powerpoint/2010/main" val="494846721"/>
              </p:ext>
            </p:extLst>
          </p:nvPr>
        </p:nvGraphicFramePr>
        <p:xfrm>
          <a:off x="6560127" y="4267200"/>
          <a:ext cx="803564" cy="1408695"/>
        </p:xfrm>
        <a:graphic>
          <a:graphicData uri="http://schemas.openxmlformats.org/drawingml/2006/table">
            <a:tbl>
              <a:tblPr firstRow="1" bandRow="1">
                <a:tableStyleId>{5C22544A-7EE6-4342-B048-85BDC9FD1C3A}</a:tableStyleId>
              </a:tblPr>
              <a:tblGrid>
                <a:gridCol w="803564">
                  <a:extLst>
                    <a:ext uri="{9D8B030D-6E8A-4147-A177-3AD203B41FA5}">
                      <a16:colId xmlns:a16="http://schemas.microsoft.com/office/drawing/2014/main" val="20000"/>
                    </a:ext>
                  </a:extLst>
                </a:gridCol>
              </a:tblGrid>
              <a:tr h="469565">
                <a:tc>
                  <a:txBody>
                    <a:bodyPr/>
                    <a:lstStyle/>
                    <a:p>
                      <a:pPr algn="ctr"/>
                      <a:r>
                        <a:rPr lang="en-US" dirty="0">
                          <a:solidFill>
                            <a:schemeClr val="tx1">
                              <a:lumMod val="95000"/>
                              <a:lumOff val="5000"/>
                            </a:schemeClr>
                          </a:solidFill>
                        </a:rPr>
                        <a:t>S</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469565">
                <a:tc>
                  <a:txBody>
                    <a:bodyPr/>
                    <a:lstStyle/>
                    <a:p>
                      <a:pPr algn="ctr"/>
                      <a:r>
                        <a:rPr lang="en-US" b="1" dirty="0"/>
                        <a:t>Se</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469565">
                <a:tc>
                  <a:txBody>
                    <a:bodyPr/>
                    <a:lstStyle/>
                    <a:p>
                      <a:pPr algn="ctr"/>
                      <a:r>
                        <a:rPr lang="en-US" b="1" dirty="0" err="1"/>
                        <a:t>Te</a:t>
                      </a:r>
                      <a:endParaRPr 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2056311135"/>
              </p:ext>
            </p:extLst>
          </p:nvPr>
        </p:nvGraphicFramePr>
        <p:xfrm>
          <a:off x="7620000" y="4267200"/>
          <a:ext cx="803564" cy="1408695"/>
        </p:xfrm>
        <a:graphic>
          <a:graphicData uri="http://schemas.openxmlformats.org/drawingml/2006/table">
            <a:tbl>
              <a:tblPr firstRow="1" bandRow="1">
                <a:tableStyleId>{5C22544A-7EE6-4342-B048-85BDC9FD1C3A}</a:tableStyleId>
              </a:tblPr>
              <a:tblGrid>
                <a:gridCol w="803564">
                  <a:extLst>
                    <a:ext uri="{9D8B030D-6E8A-4147-A177-3AD203B41FA5}">
                      <a16:colId xmlns:a16="http://schemas.microsoft.com/office/drawing/2014/main" val="20000"/>
                    </a:ext>
                  </a:extLst>
                </a:gridCol>
              </a:tblGrid>
              <a:tr h="469565">
                <a:tc>
                  <a:txBody>
                    <a:bodyPr/>
                    <a:lstStyle/>
                    <a:p>
                      <a:pPr algn="ctr"/>
                      <a:r>
                        <a:rPr lang="en-US" dirty="0" err="1">
                          <a:solidFill>
                            <a:schemeClr val="tx1">
                              <a:lumMod val="95000"/>
                              <a:lumOff val="5000"/>
                            </a:schemeClr>
                          </a:solidFill>
                        </a:rPr>
                        <a:t>Cl</a:t>
                      </a:r>
                      <a:endParaRPr lang="en-US" dirty="0">
                        <a:solidFill>
                          <a:schemeClr val="tx1">
                            <a:lumMod val="95000"/>
                            <a:lumOff val="5000"/>
                          </a:schemeClr>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469565">
                <a:tc>
                  <a:txBody>
                    <a:bodyPr/>
                    <a:lstStyle/>
                    <a:p>
                      <a:pPr algn="ctr"/>
                      <a:r>
                        <a:rPr lang="en-US" b="1" dirty="0"/>
                        <a:t>Br</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469565">
                <a:tc>
                  <a:txBody>
                    <a:bodyPr/>
                    <a:lstStyle/>
                    <a:p>
                      <a:pPr algn="ctr"/>
                      <a:r>
                        <a:rPr lang="en-US" b="1" dirty="0"/>
                        <a:t>I</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458450222"/>
              </p:ext>
            </p:extLst>
          </p:nvPr>
        </p:nvGraphicFramePr>
        <p:xfrm>
          <a:off x="4419600" y="4267200"/>
          <a:ext cx="803564" cy="1408695"/>
        </p:xfrm>
        <a:graphic>
          <a:graphicData uri="http://schemas.openxmlformats.org/drawingml/2006/table">
            <a:tbl>
              <a:tblPr firstRow="1" bandRow="1">
                <a:tableStyleId>{5C22544A-7EE6-4342-B048-85BDC9FD1C3A}</a:tableStyleId>
              </a:tblPr>
              <a:tblGrid>
                <a:gridCol w="803564">
                  <a:extLst>
                    <a:ext uri="{9D8B030D-6E8A-4147-A177-3AD203B41FA5}">
                      <a16:colId xmlns:a16="http://schemas.microsoft.com/office/drawing/2014/main" val="20000"/>
                    </a:ext>
                  </a:extLst>
                </a:gridCol>
              </a:tblGrid>
              <a:tr h="469565">
                <a:tc>
                  <a:txBody>
                    <a:bodyPr/>
                    <a:lstStyle/>
                    <a:p>
                      <a:pPr algn="ctr"/>
                      <a:r>
                        <a:rPr lang="en-US" altLang="zh-CN" dirty="0" err="1">
                          <a:solidFill>
                            <a:schemeClr val="tx1">
                              <a:lumMod val="95000"/>
                              <a:lumOff val="5000"/>
                            </a:schemeClr>
                          </a:solidFill>
                        </a:rPr>
                        <a:t>Ca</a:t>
                      </a:r>
                      <a:endParaRPr lang="en-US" dirty="0">
                        <a:solidFill>
                          <a:schemeClr val="tx1">
                            <a:lumMod val="95000"/>
                            <a:lumOff val="5000"/>
                          </a:schemeClr>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469565">
                <a:tc>
                  <a:txBody>
                    <a:bodyPr/>
                    <a:lstStyle/>
                    <a:p>
                      <a:pPr algn="ctr"/>
                      <a:r>
                        <a:rPr lang="en-US" altLang="zh-CN" b="1" dirty="0" err="1"/>
                        <a:t>Sr</a:t>
                      </a:r>
                      <a:endParaRPr lang="en-US" b="1"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469565">
                <a:tc>
                  <a:txBody>
                    <a:bodyPr/>
                    <a:lstStyle/>
                    <a:p>
                      <a:pPr algn="ctr"/>
                      <a:r>
                        <a:rPr lang="en-US" altLang="zh-CN" b="1" dirty="0"/>
                        <a:t>Ba</a:t>
                      </a:r>
                      <a:endParaRPr 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115523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1000"/>
                                        <p:tgtEl>
                                          <p:spTgt spid="1026"/>
                                        </p:tgtEl>
                                      </p:cBhvr>
                                    </p:animEffect>
                                    <p:anim calcmode="lin" valueType="num">
                                      <p:cBhvr>
                                        <p:cTn id="8" dur="1000" fill="hold"/>
                                        <p:tgtEl>
                                          <p:spTgt spid="1026"/>
                                        </p:tgtEl>
                                        <p:attrNameLst>
                                          <p:attrName>ppt_x</p:attrName>
                                        </p:attrNameLst>
                                      </p:cBhvr>
                                      <p:tavLst>
                                        <p:tav tm="0">
                                          <p:val>
                                            <p:strVal val="#ppt_x"/>
                                          </p:val>
                                        </p:tav>
                                        <p:tav tm="100000">
                                          <p:val>
                                            <p:strVal val="#ppt_x"/>
                                          </p:val>
                                        </p:tav>
                                      </p:tavLst>
                                    </p:anim>
                                    <p:anim calcmode="lin" valueType="num">
                                      <p:cBhvr>
                                        <p:cTn id="9" dur="1000" fill="hold"/>
                                        <p:tgtEl>
                                          <p:spTgt spid="102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1000"/>
                                        <p:tgtEl>
                                          <p:spTgt spid="6"/>
                                        </p:tgtEl>
                                      </p:cBhvr>
                                    </p:animEffect>
                                    <p:anim calcmode="lin" valueType="num">
                                      <p:cBhvr>
                                        <p:cTn id="27" dur="1000" fill="hold"/>
                                        <p:tgtEl>
                                          <p:spTgt spid="6"/>
                                        </p:tgtEl>
                                        <p:attrNameLst>
                                          <p:attrName>ppt_x</p:attrName>
                                        </p:attrNameLst>
                                      </p:cBhvr>
                                      <p:tavLst>
                                        <p:tav tm="0">
                                          <p:val>
                                            <p:strVal val="#ppt_x"/>
                                          </p:val>
                                        </p:tav>
                                        <p:tav tm="100000">
                                          <p:val>
                                            <p:strVal val="#ppt_x"/>
                                          </p:val>
                                        </p:tav>
                                      </p:tavLst>
                                    </p:anim>
                                    <p:anim calcmode="lin" valueType="num">
                                      <p:cBhvr>
                                        <p:cTn id="28"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wipe(down)">
                                      <p:cBhvr>
                                        <p:cTn id="33" dur="500"/>
                                        <p:tgtEl>
                                          <p:spTgt spid="9"/>
                                        </p:tgtEl>
                                      </p:cBhvr>
                                    </p:animEffect>
                                  </p:childTnLst>
                                </p:cTn>
                              </p:par>
                              <p:par>
                                <p:cTn id="34" presetID="22" presetClass="entr" presetSubtype="4" fill="hold"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down)">
                                      <p:cBhvr>
                                        <p:cTn id="36" dur="500"/>
                                        <p:tgtEl>
                                          <p:spTgt spid="15"/>
                                        </p:tgtEl>
                                      </p:cBhvr>
                                    </p:animEffect>
                                  </p:childTnLst>
                                </p:cTn>
                              </p:par>
                              <p:par>
                                <p:cTn id="37" presetID="22" presetClass="entr" presetSubtype="4" fill="hold"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wipe(down)">
                                      <p:cBhvr>
                                        <p:cTn id="39" dur="500"/>
                                        <p:tgtEl>
                                          <p:spTgt spid="12"/>
                                        </p:tgtEl>
                                      </p:cBhvr>
                                    </p:animEffect>
                                  </p:childTnLst>
                                </p:cTn>
                              </p:par>
                              <p:par>
                                <p:cTn id="40" presetID="22" presetClass="entr" presetSubtype="4" fill="hold" nodeType="with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down)">
                                      <p:cBhvr>
                                        <p:cTn id="42" dur="500"/>
                                        <p:tgtEl>
                                          <p:spTgt spid="13"/>
                                        </p:tgtEl>
                                      </p:cBhvr>
                                    </p:animEffect>
                                  </p:childTnLst>
                                </p:cTn>
                              </p:par>
                              <p:par>
                                <p:cTn id="43" presetID="22" presetClass="entr" presetSubtype="4" fill="hold" nodeType="with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wipe(down)">
                                      <p:cBhvr>
                                        <p:cTn id="4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User\Desktop\嘿哟家怡在这里\化学-06\迈尔.jpg"/>
          <p:cNvPicPr>
            <a:picLocks noChangeAspect="1" noChangeArrowheads="1"/>
          </p:cNvPicPr>
          <p:nvPr/>
        </p:nvPicPr>
        <p:blipFill>
          <a:blip r:embed="rId2">
            <a:duotone>
              <a:prstClr val="black"/>
              <a:schemeClr val="tx2">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762000" y="457200"/>
            <a:ext cx="2286000" cy="292429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447800" y="2189018"/>
            <a:ext cx="1066800" cy="523220"/>
          </a:xfrm>
          <a:prstGeom prst="rect">
            <a:avLst/>
          </a:prstGeom>
          <a:noFill/>
        </p:spPr>
        <p:txBody>
          <a:bodyPr wrap="square" rtlCol="0">
            <a:spAutoFit/>
          </a:bodyPr>
          <a:lstStyle/>
          <a:p>
            <a:r>
              <a:rPr lang="zh-CN" altLang="en-US" sz="2800" b="1" dirty="0">
                <a:solidFill>
                  <a:schemeClr val="bg1"/>
                </a:solidFill>
              </a:rPr>
              <a:t>迈耳</a:t>
            </a:r>
            <a:endParaRPr lang="en-US" sz="2800" b="1" dirty="0">
              <a:solidFill>
                <a:schemeClr val="bg1"/>
              </a:solidFill>
            </a:endParaRPr>
          </a:p>
        </p:txBody>
      </p:sp>
      <p:sp>
        <p:nvSpPr>
          <p:cNvPr id="5" name="Right Arrow 4"/>
          <p:cNvSpPr/>
          <p:nvPr/>
        </p:nvSpPr>
        <p:spPr>
          <a:xfrm>
            <a:off x="3733800" y="1743136"/>
            <a:ext cx="762000" cy="3524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334000" y="1604243"/>
            <a:ext cx="2514600" cy="584775"/>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3200" b="1" dirty="0">
                <a:solidFill>
                  <a:schemeClr val="accent6">
                    <a:lumMod val="75000"/>
                  </a:schemeClr>
                </a:solidFill>
              </a:rPr>
              <a:t>“六元素表”</a:t>
            </a:r>
            <a:endParaRPr lang="en-US" sz="3200" b="1" dirty="0">
              <a:solidFill>
                <a:schemeClr val="accent6">
                  <a:lumMod val="75000"/>
                </a:schemeClr>
              </a:solidFill>
            </a:endParaRPr>
          </a:p>
        </p:txBody>
      </p:sp>
      <p:pic>
        <p:nvPicPr>
          <p:cNvPr id="2051" name="Picture 3" descr="C:\Users\User\Desktop\嘿哟家怡在这里\化学-06\纽兰兹.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41758" y="3327380"/>
            <a:ext cx="2079191" cy="278940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6068291" y="5410200"/>
            <a:ext cx="1323109" cy="523220"/>
          </a:xfrm>
          <a:prstGeom prst="rect">
            <a:avLst/>
          </a:prstGeom>
          <a:noFill/>
        </p:spPr>
        <p:txBody>
          <a:bodyPr wrap="square" rtlCol="0">
            <a:spAutoFit/>
          </a:bodyPr>
          <a:lstStyle/>
          <a:p>
            <a:r>
              <a:rPr lang="zh-CN" altLang="en-US" sz="2800" b="1" dirty="0">
                <a:solidFill>
                  <a:schemeClr val="bg1"/>
                </a:solidFill>
              </a:rPr>
              <a:t>纽兰兹</a:t>
            </a:r>
            <a:endParaRPr lang="en-US" sz="2800" b="1" dirty="0">
              <a:solidFill>
                <a:schemeClr val="bg1"/>
              </a:solidFill>
            </a:endParaRPr>
          </a:p>
        </p:txBody>
      </p:sp>
      <p:sp>
        <p:nvSpPr>
          <p:cNvPr id="9" name="Right Arrow 8"/>
          <p:cNvSpPr/>
          <p:nvPr/>
        </p:nvSpPr>
        <p:spPr>
          <a:xfrm rot="10800000">
            <a:off x="3810001" y="4683809"/>
            <a:ext cx="762000" cy="3524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879764" y="4573946"/>
            <a:ext cx="2168236" cy="584775"/>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3200" b="1" dirty="0">
                <a:solidFill>
                  <a:schemeClr val="accent6">
                    <a:lumMod val="75000"/>
                  </a:schemeClr>
                </a:solidFill>
              </a:rPr>
              <a:t>“八音律”</a:t>
            </a:r>
            <a:endParaRPr lang="en-US" sz="3200" b="1" dirty="0">
              <a:solidFill>
                <a:schemeClr val="accent6">
                  <a:lumMod val="75000"/>
                </a:schemeClr>
              </a:solidFill>
            </a:endParaRPr>
          </a:p>
        </p:txBody>
      </p:sp>
    </p:spTree>
    <p:extLst>
      <p:ext uri="{BB962C8B-B14F-4D97-AF65-F5344CB8AC3E}">
        <p14:creationId xmlns:p14="http://schemas.microsoft.com/office/powerpoint/2010/main" val="2684838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fade">
                                      <p:cBhvr>
                                        <p:cTn id="7" dur="1000"/>
                                        <p:tgtEl>
                                          <p:spTgt spid="2050"/>
                                        </p:tgtEl>
                                      </p:cBhvr>
                                    </p:animEffect>
                                    <p:anim calcmode="lin" valueType="num">
                                      <p:cBhvr>
                                        <p:cTn id="8" dur="1000" fill="hold"/>
                                        <p:tgtEl>
                                          <p:spTgt spid="2050"/>
                                        </p:tgtEl>
                                        <p:attrNameLst>
                                          <p:attrName>ppt_x</p:attrName>
                                        </p:attrNameLst>
                                      </p:cBhvr>
                                      <p:tavLst>
                                        <p:tav tm="0">
                                          <p:val>
                                            <p:strVal val="#ppt_x"/>
                                          </p:val>
                                        </p:tav>
                                        <p:tav tm="100000">
                                          <p:val>
                                            <p:strVal val="#ppt_x"/>
                                          </p:val>
                                        </p:tav>
                                      </p:tavLst>
                                    </p:anim>
                                    <p:anim calcmode="lin" valueType="num">
                                      <p:cBhvr>
                                        <p:cTn id="9" dur="1000" fill="hold"/>
                                        <p:tgtEl>
                                          <p:spTgt spid="205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1000"/>
                                        <p:tgtEl>
                                          <p:spTgt spid="6"/>
                                        </p:tgtEl>
                                      </p:cBhvr>
                                    </p:animEffect>
                                    <p:anim calcmode="lin" valueType="num">
                                      <p:cBhvr>
                                        <p:cTn id="27" dur="1000" fill="hold"/>
                                        <p:tgtEl>
                                          <p:spTgt spid="6"/>
                                        </p:tgtEl>
                                        <p:attrNameLst>
                                          <p:attrName>ppt_x</p:attrName>
                                        </p:attrNameLst>
                                      </p:cBhvr>
                                      <p:tavLst>
                                        <p:tav tm="0">
                                          <p:val>
                                            <p:strVal val="#ppt_x"/>
                                          </p:val>
                                        </p:tav>
                                        <p:tav tm="100000">
                                          <p:val>
                                            <p:strVal val="#ppt_x"/>
                                          </p:val>
                                        </p:tav>
                                      </p:tavLst>
                                    </p:anim>
                                    <p:anim calcmode="lin" valueType="num">
                                      <p:cBhvr>
                                        <p:cTn id="28"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2051"/>
                                        </p:tgtEl>
                                        <p:attrNameLst>
                                          <p:attrName>style.visibility</p:attrName>
                                        </p:attrNameLst>
                                      </p:cBhvr>
                                      <p:to>
                                        <p:strVal val="visible"/>
                                      </p:to>
                                    </p:set>
                                    <p:animEffect transition="in" filter="fade">
                                      <p:cBhvr>
                                        <p:cTn id="33" dur="1000"/>
                                        <p:tgtEl>
                                          <p:spTgt spid="2051"/>
                                        </p:tgtEl>
                                      </p:cBhvr>
                                    </p:animEffect>
                                    <p:anim calcmode="lin" valueType="num">
                                      <p:cBhvr>
                                        <p:cTn id="34" dur="1000" fill="hold"/>
                                        <p:tgtEl>
                                          <p:spTgt spid="2051"/>
                                        </p:tgtEl>
                                        <p:attrNameLst>
                                          <p:attrName>ppt_x</p:attrName>
                                        </p:attrNameLst>
                                      </p:cBhvr>
                                      <p:tavLst>
                                        <p:tav tm="0">
                                          <p:val>
                                            <p:strVal val="#ppt_x"/>
                                          </p:val>
                                        </p:tav>
                                        <p:tav tm="100000">
                                          <p:val>
                                            <p:strVal val="#ppt_x"/>
                                          </p:val>
                                        </p:tav>
                                      </p:tavLst>
                                    </p:anim>
                                    <p:anim calcmode="lin" valueType="num">
                                      <p:cBhvr>
                                        <p:cTn id="35" dur="1000" fill="hold"/>
                                        <p:tgtEl>
                                          <p:spTgt spid="2051"/>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1000"/>
                                        <p:tgtEl>
                                          <p:spTgt spid="8"/>
                                        </p:tgtEl>
                                      </p:cBhvr>
                                    </p:animEffect>
                                    <p:anim calcmode="lin" valueType="num">
                                      <p:cBhvr>
                                        <p:cTn id="39" dur="1000" fill="hold"/>
                                        <p:tgtEl>
                                          <p:spTgt spid="8"/>
                                        </p:tgtEl>
                                        <p:attrNameLst>
                                          <p:attrName>ppt_x</p:attrName>
                                        </p:attrNameLst>
                                      </p:cBhvr>
                                      <p:tavLst>
                                        <p:tav tm="0">
                                          <p:val>
                                            <p:strVal val="#ppt_x"/>
                                          </p:val>
                                        </p:tav>
                                        <p:tav tm="100000">
                                          <p:val>
                                            <p:strVal val="#ppt_x"/>
                                          </p:val>
                                        </p:tav>
                                      </p:tavLst>
                                    </p:anim>
                                    <p:anim calcmode="lin" valueType="num">
                                      <p:cBhvr>
                                        <p:cTn id="4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fade">
                                      <p:cBhvr>
                                        <p:cTn id="45" dur="1000"/>
                                        <p:tgtEl>
                                          <p:spTgt spid="9"/>
                                        </p:tgtEl>
                                      </p:cBhvr>
                                    </p:animEffect>
                                    <p:anim calcmode="lin" valueType="num">
                                      <p:cBhvr>
                                        <p:cTn id="46" dur="1000" fill="hold"/>
                                        <p:tgtEl>
                                          <p:spTgt spid="9"/>
                                        </p:tgtEl>
                                        <p:attrNameLst>
                                          <p:attrName>ppt_x</p:attrName>
                                        </p:attrNameLst>
                                      </p:cBhvr>
                                      <p:tavLst>
                                        <p:tav tm="0">
                                          <p:val>
                                            <p:strVal val="#ppt_x"/>
                                          </p:val>
                                        </p:tav>
                                        <p:tav tm="100000">
                                          <p:val>
                                            <p:strVal val="#ppt_x"/>
                                          </p:val>
                                        </p:tav>
                                      </p:tavLst>
                                    </p:anim>
                                    <p:anim calcmode="lin" valueType="num">
                                      <p:cBhvr>
                                        <p:cTn id="47"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grpId="0" nodeType="click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fade">
                                      <p:cBhvr>
                                        <p:cTn id="52" dur="1000"/>
                                        <p:tgtEl>
                                          <p:spTgt spid="10"/>
                                        </p:tgtEl>
                                      </p:cBhvr>
                                    </p:animEffect>
                                    <p:anim calcmode="lin" valueType="num">
                                      <p:cBhvr>
                                        <p:cTn id="53" dur="1000" fill="hold"/>
                                        <p:tgtEl>
                                          <p:spTgt spid="10"/>
                                        </p:tgtEl>
                                        <p:attrNameLst>
                                          <p:attrName>ppt_x</p:attrName>
                                        </p:attrNameLst>
                                      </p:cBhvr>
                                      <p:tavLst>
                                        <p:tav tm="0">
                                          <p:val>
                                            <p:strVal val="#ppt_x"/>
                                          </p:val>
                                        </p:tav>
                                        <p:tav tm="100000">
                                          <p:val>
                                            <p:strVal val="#ppt_x"/>
                                          </p:val>
                                        </p:tav>
                                      </p:tavLst>
                                    </p:anim>
                                    <p:anim calcmode="lin" valueType="num">
                                      <p:cBhvr>
                                        <p:cTn id="5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animBg="1"/>
      <p:bldP spid="6" grpId="0" animBg="1"/>
      <p:bldP spid="8" grpId="0"/>
      <p:bldP spid="9" grpId="0" animBg="1"/>
      <p:bldP spid="1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User\Desktop\嘿哟家怡在这里\化学-06\门捷列夫.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77741" y="542166"/>
            <a:ext cx="2095500" cy="25146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ular Callout 2"/>
          <p:cNvSpPr/>
          <p:nvPr/>
        </p:nvSpPr>
        <p:spPr>
          <a:xfrm rot="16200000">
            <a:off x="1994135" y="-1261468"/>
            <a:ext cx="1040930" cy="4648200"/>
          </a:xfrm>
          <a:prstGeom prst="wedgeRectCallou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6" name="TextBox 5"/>
          <p:cNvSpPr txBox="1"/>
          <p:nvPr/>
        </p:nvSpPr>
        <p:spPr>
          <a:xfrm>
            <a:off x="285720" y="644604"/>
            <a:ext cx="4362480" cy="1107996"/>
          </a:xfrm>
          <a:prstGeom prst="rect">
            <a:avLst/>
          </a:prstGeom>
          <a:noFill/>
        </p:spPr>
        <p:txBody>
          <a:bodyPr wrap="square" rtlCol="0">
            <a:spAutoFit/>
          </a:bodyPr>
          <a:lstStyle/>
          <a:p>
            <a:r>
              <a:rPr lang="zh-CN" altLang="en-US" sz="2400" b="1" dirty="0">
                <a:solidFill>
                  <a:schemeClr val="accent6">
                    <a:lumMod val="75000"/>
                  </a:schemeClr>
                </a:solidFill>
              </a:rPr>
              <a:t>元素的性质随着</a:t>
            </a:r>
            <a:r>
              <a:rPr lang="zh-CN" altLang="en-US" sz="2400" b="1" dirty="0">
                <a:solidFill>
                  <a:srgbClr val="C00000"/>
                </a:solidFill>
              </a:rPr>
              <a:t>相对原子质量</a:t>
            </a:r>
            <a:r>
              <a:rPr lang="zh-CN" altLang="en-US" sz="2400" b="1" dirty="0">
                <a:solidFill>
                  <a:schemeClr val="accent6">
                    <a:lumMod val="75000"/>
                  </a:schemeClr>
                </a:solidFill>
              </a:rPr>
              <a:t>的递增而呈周期性的变化</a:t>
            </a:r>
            <a:endParaRPr lang="en-US" sz="2400" b="1" dirty="0">
              <a:solidFill>
                <a:schemeClr val="accent6">
                  <a:lumMod val="75000"/>
                </a:schemeClr>
              </a:solidFill>
            </a:endParaRPr>
          </a:p>
          <a:p>
            <a:endParaRPr lang="en-US" dirty="0"/>
          </a:p>
        </p:txBody>
      </p:sp>
      <p:sp>
        <p:nvSpPr>
          <p:cNvPr id="8" name="Rectangular Callout 7"/>
          <p:cNvSpPr/>
          <p:nvPr/>
        </p:nvSpPr>
        <p:spPr>
          <a:xfrm rot="16200000">
            <a:off x="2046926" y="-46718"/>
            <a:ext cx="982912" cy="4648200"/>
          </a:xfrm>
          <a:prstGeom prst="wedgeRectCallou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14" name="TextBox 13"/>
          <p:cNvSpPr txBox="1"/>
          <p:nvPr/>
        </p:nvSpPr>
        <p:spPr>
          <a:xfrm>
            <a:off x="7767935" y="685800"/>
            <a:ext cx="1147465" cy="5638800"/>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vert="eaVert" wrap="square" rtlCol="0">
            <a:spAutoFit/>
          </a:bodyPr>
          <a:lstStyle/>
          <a:p>
            <a:endParaRPr lang="en-US" dirty="0"/>
          </a:p>
        </p:txBody>
      </p:sp>
      <p:sp>
        <p:nvSpPr>
          <p:cNvPr id="16" name="Vertical Title 6"/>
          <p:cNvSpPr txBox="1">
            <a:spLocks/>
          </p:cNvSpPr>
          <p:nvPr/>
        </p:nvSpPr>
        <p:spPr>
          <a:xfrm>
            <a:off x="7010401" y="381000"/>
            <a:ext cx="1066799" cy="5788981"/>
          </a:xfrm>
          <a:prstGeom prst="rect">
            <a:avLst/>
          </a:prstGeom>
        </p:spPr>
        <p:txBody>
          <a:bodyPr>
            <a:noAutofit/>
          </a:bodyPr>
          <a:lstStyle>
            <a:lvl1pPr algn="ctr" defTabSz="914400" rtl="0" eaLnBrk="1" latinLnBrk="0" hangingPunct="1">
              <a:spcBef>
                <a:spcPct val="0"/>
              </a:spcBef>
              <a:buNone/>
              <a:defRPr sz="3500" kern="1200" cap="all" baseline="0">
                <a:solidFill>
                  <a:schemeClr val="accent1">
                    <a:lumMod val="75000"/>
                  </a:schemeClr>
                </a:solidFill>
                <a:latin typeface="+mj-lt"/>
                <a:ea typeface="+mj-ea"/>
                <a:cs typeface="+mj-cs"/>
              </a:defRPr>
            </a:lvl1pPr>
          </a:lstStyle>
          <a:p>
            <a:br>
              <a:rPr lang="en-US" sz="4000" b="1" dirty="0">
                <a:solidFill>
                  <a:schemeClr val="accent6">
                    <a:lumMod val="75000"/>
                  </a:schemeClr>
                </a:solidFill>
              </a:rPr>
            </a:br>
            <a:endParaRPr lang="en-US" sz="4000" dirty="0"/>
          </a:p>
        </p:txBody>
      </p:sp>
      <p:sp>
        <p:nvSpPr>
          <p:cNvPr id="15" name="TextBox 14"/>
          <p:cNvSpPr txBox="1"/>
          <p:nvPr/>
        </p:nvSpPr>
        <p:spPr>
          <a:xfrm>
            <a:off x="7972335" y="974471"/>
            <a:ext cx="738664" cy="5128456"/>
          </a:xfrm>
          <a:prstGeom prst="rect">
            <a:avLst/>
          </a:prstGeom>
          <a:noFill/>
        </p:spPr>
        <p:txBody>
          <a:bodyPr vert="eaVert" wrap="square" rtlCol="0">
            <a:spAutoFit/>
          </a:bodyPr>
          <a:lstStyle/>
          <a:p>
            <a:r>
              <a:rPr lang="zh-CN" altLang="en-US" sz="3600" b="1" dirty="0">
                <a:solidFill>
                  <a:schemeClr val="accent6">
                    <a:lumMod val="75000"/>
                  </a:schemeClr>
                </a:solidFill>
              </a:rPr>
              <a:t>门捷列夫与元素周期表</a:t>
            </a:r>
            <a:endParaRPr lang="en-US" sz="3600" dirty="0"/>
          </a:p>
        </p:txBody>
      </p:sp>
      <p:sp>
        <p:nvSpPr>
          <p:cNvPr id="35" name="TextBox 34"/>
          <p:cNvSpPr txBox="1"/>
          <p:nvPr/>
        </p:nvSpPr>
        <p:spPr>
          <a:xfrm>
            <a:off x="990600" y="3733800"/>
            <a:ext cx="5943600" cy="830997"/>
          </a:xfrm>
          <a:prstGeom prst="rect">
            <a:avLst/>
          </a:prstGeom>
          <a:ln>
            <a:solidFill>
              <a:schemeClr val="accent1"/>
            </a:solid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2400" b="1" dirty="0">
                <a:solidFill>
                  <a:schemeClr val="accent6">
                    <a:lumMod val="75000"/>
                  </a:schemeClr>
                </a:solidFill>
              </a:rPr>
              <a:t>元素周期律   </a:t>
            </a:r>
            <a:r>
              <a:rPr lang="en-US" altLang="zh-CN" sz="2400" b="1" dirty="0">
                <a:solidFill>
                  <a:schemeClr val="accent6">
                    <a:lumMod val="75000"/>
                  </a:schemeClr>
                </a:solidFill>
              </a:rPr>
              <a:t>=   </a:t>
            </a:r>
            <a:r>
              <a:rPr lang="zh-CN" altLang="en-US" sz="2400" b="1" dirty="0">
                <a:solidFill>
                  <a:schemeClr val="accent6">
                    <a:lumMod val="75000"/>
                  </a:schemeClr>
                </a:solidFill>
              </a:rPr>
              <a:t>门捷列夫元素周期律</a:t>
            </a:r>
            <a:endParaRPr lang="en-US" altLang="zh-CN" sz="2400" b="1" dirty="0">
              <a:solidFill>
                <a:schemeClr val="accent6">
                  <a:lumMod val="75000"/>
                </a:schemeClr>
              </a:solidFill>
            </a:endParaRPr>
          </a:p>
          <a:p>
            <a:pPr algn="ctr"/>
            <a:r>
              <a:rPr lang="zh-CN" altLang="en-US" sz="2400" b="1" dirty="0">
                <a:solidFill>
                  <a:schemeClr val="accent6">
                    <a:lumMod val="75000"/>
                  </a:schemeClr>
                </a:solidFill>
              </a:rPr>
              <a:t>元素周期表   </a:t>
            </a:r>
            <a:r>
              <a:rPr lang="en-US" altLang="zh-CN" sz="2400" b="1" dirty="0">
                <a:solidFill>
                  <a:schemeClr val="accent6">
                    <a:lumMod val="75000"/>
                  </a:schemeClr>
                </a:solidFill>
              </a:rPr>
              <a:t>=  </a:t>
            </a:r>
            <a:r>
              <a:rPr lang="zh-CN" altLang="en-US" sz="2400" b="1" dirty="0">
                <a:solidFill>
                  <a:schemeClr val="accent6">
                    <a:lumMod val="75000"/>
                  </a:schemeClr>
                </a:solidFill>
              </a:rPr>
              <a:t>门捷列夫元素周期表</a:t>
            </a:r>
            <a:endParaRPr lang="en-US" sz="3200" b="1" dirty="0">
              <a:solidFill>
                <a:schemeClr val="accent6">
                  <a:lumMod val="75000"/>
                </a:schemeClr>
              </a:solidFill>
            </a:endParaRPr>
          </a:p>
        </p:txBody>
      </p:sp>
      <p:sp>
        <p:nvSpPr>
          <p:cNvPr id="36" name="TextBox 35"/>
          <p:cNvSpPr txBox="1"/>
          <p:nvPr/>
        </p:nvSpPr>
        <p:spPr>
          <a:xfrm>
            <a:off x="419100" y="4919099"/>
            <a:ext cx="6934200" cy="1384995"/>
          </a:xfrm>
          <a:prstGeom prst="rect">
            <a:avLst/>
          </a:prstGeom>
          <a:ln>
            <a:solidFill>
              <a:schemeClr val="accent1"/>
            </a:solid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sz="2800" b="1" dirty="0">
                <a:solidFill>
                  <a:schemeClr val="accent6">
                    <a:lumMod val="75000"/>
                  </a:schemeClr>
                </a:solidFill>
              </a:rPr>
              <a:t>正确：</a:t>
            </a:r>
            <a:endParaRPr lang="en-US" altLang="zh-CN" sz="2800" b="1" dirty="0">
              <a:solidFill>
                <a:schemeClr val="accent6">
                  <a:lumMod val="75000"/>
                </a:schemeClr>
              </a:solidFill>
            </a:endParaRPr>
          </a:p>
          <a:p>
            <a:r>
              <a:rPr lang="zh-CN" altLang="en-US" sz="2800" b="1" dirty="0">
                <a:solidFill>
                  <a:schemeClr val="accent6">
                    <a:lumMod val="75000"/>
                  </a:schemeClr>
                </a:solidFill>
              </a:rPr>
              <a:t>元素的性质随着</a:t>
            </a:r>
            <a:r>
              <a:rPr lang="zh-CN" altLang="en-US" sz="2800" b="1" dirty="0">
                <a:solidFill>
                  <a:srgbClr val="C00000"/>
                </a:solidFill>
              </a:rPr>
              <a:t>核电荷数</a:t>
            </a:r>
            <a:r>
              <a:rPr lang="en-US" altLang="zh-CN" sz="2800" b="1" dirty="0">
                <a:solidFill>
                  <a:srgbClr val="C00000"/>
                </a:solidFill>
              </a:rPr>
              <a:t>(</a:t>
            </a:r>
            <a:r>
              <a:rPr lang="zh-CN" altLang="en-US" sz="2800" b="1" dirty="0">
                <a:solidFill>
                  <a:srgbClr val="C00000"/>
                </a:solidFill>
              </a:rPr>
              <a:t>原子序数</a:t>
            </a:r>
            <a:r>
              <a:rPr lang="en-US" altLang="zh-CN" sz="2800" b="1" dirty="0">
                <a:solidFill>
                  <a:srgbClr val="C00000"/>
                </a:solidFill>
              </a:rPr>
              <a:t>)</a:t>
            </a:r>
            <a:r>
              <a:rPr lang="zh-CN" altLang="en-US" sz="2800" b="1" dirty="0">
                <a:solidFill>
                  <a:schemeClr val="accent6">
                    <a:lumMod val="75000"/>
                  </a:schemeClr>
                </a:solidFill>
              </a:rPr>
              <a:t>的递增而呈周期性的变化</a:t>
            </a:r>
            <a:endParaRPr lang="en-US" sz="2800" b="1" dirty="0">
              <a:solidFill>
                <a:schemeClr val="accent6">
                  <a:lumMod val="75000"/>
                </a:schemeClr>
              </a:solidFill>
            </a:endParaRPr>
          </a:p>
        </p:txBody>
      </p:sp>
      <p:cxnSp>
        <p:nvCxnSpPr>
          <p:cNvPr id="22" name="Straight Connector 21"/>
          <p:cNvCxnSpPr/>
          <p:nvPr/>
        </p:nvCxnSpPr>
        <p:spPr>
          <a:xfrm flipV="1">
            <a:off x="2857488" y="714356"/>
            <a:ext cx="1143008" cy="35719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2857488" y="714356"/>
            <a:ext cx="1214446" cy="35719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285720" y="1785926"/>
            <a:ext cx="4572032" cy="830997"/>
          </a:xfrm>
          <a:prstGeom prst="rect">
            <a:avLst/>
          </a:prstGeom>
          <a:noFill/>
        </p:spPr>
        <p:txBody>
          <a:bodyPr wrap="square" rtlCol="0">
            <a:spAutoFit/>
          </a:bodyPr>
          <a:lstStyle/>
          <a:p>
            <a:r>
              <a:rPr lang="zh-CN" altLang="en-US" sz="2400" b="1" dirty="0">
                <a:solidFill>
                  <a:schemeClr val="accent6">
                    <a:lumMod val="75000"/>
                  </a:schemeClr>
                </a:solidFill>
              </a:rPr>
              <a:t>局限：门捷列夫没有认识到造成元素性质周期性变化的根本原因</a:t>
            </a:r>
            <a:endParaRPr lang="en-US" sz="2400" b="1" dirty="0">
              <a:solidFill>
                <a:schemeClr val="accent6">
                  <a:lumMod val="75000"/>
                </a:schemeClr>
              </a:solidFill>
            </a:endParaRPr>
          </a:p>
        </p:txBody>
      </p:sp>
    </p:spTree>
    <p:extLst>
      <p:ext uri="{BB962C8B-B14F-4D97-AF65-F5344CB8AC3E}">
        <p14:creationId xmlns:p14="http://schemas.microsoft.com/office/powerpoint/2010/main" val="968995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fade">
                                      <p:cBhvr>
                                        <p:cTn id="7" dur="1000"/>
                                        <p:tgtEl>
                                          <p:spTgt spid="3074"/>
                                        </p:tgtEl>
                                      </p:cBhvr>
                                    </p:animEffect>
                                    <p:anim calcmode="lin" valueType="num">
                                      <p:cBhvr>
                                        <p:cTn id="8" dur="1000" fill="hold"/>
                                        <p:tgtEl>
                                          <p:spTgt spid="3074"/>
                                        </p:tgtEl>
                                        <p:attrNameLst>
                                          <p:attrName>ppt_x</p:attrName>
                                        </p:attrNameLst>
                                      </p:cBhvr>
                                      <p:tavLst>
                                        <p:tav tm="0">
                                          <p:val>
                                            <p:strVal val="#ppt_x"/>
                                          </p:val>
                                        </p:tav>
                                        <p:tav tm="100000">
                                          <p:val>
                                            <p:strVal val="#ppt_x"/>
                                          </p:val>
                                        </p:tav>
                                      </p:tavLst>
                                    </p:anim>
                                    <p:anim calcmode="lin" valueType="num">
                                      <p:cBhvr>
                                        <p:cTn id="9" dur="1000" fill="hold"/>
                                        <p:tgtEl>
                                          <p:spTgt spid="307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1000"/>
                                        <p:tgtEl>
                                          <p:spTgt spid="3"/>
                                        </p:tgtEl>
                                      </p:cBhvr>
                                    </p:animEffect>
                                    <p:anim calcmode="lin" valueType="num">
                                      <p:cBhvr>
                                        <p:cTn id="20" dur="1000" fill="hold"/>
                                        <p:tgtEl>
                                          <p:spTgt spid="3"/>
                                        </p:tgtEl>
                                        <p:attrNameLst>
                                          <p:attrName>ppt_x</p:attrName>
                                        </p:attrNameLst>
                                      </p:cBhvr>
                                      <p:tavLst>
                                        <p:tav tm="0">
                                          <p:val>
                                            <p:strVal val="#ppt_x"/>
                                          </p:val>
                                        </p:tav>
                                        <p:tav tm="100000">
                                          <p:val>
                                            <p:strVal val="#ppt_x"/>
                                          </p:val>
                                        </p:tav>
                                      </p:tavLst>
                                    </p:anim>
                                    <p:anim calcmode="lin" valueType="num">
                                      <p:cBhvr>
                                        <p:cTn id="21"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26"/>
                                        </p:tgtEl>
                                        <p:attrNameLst>
                                          <p:attrName>style.visibility</p:attrName>
                                        </p:attrNameLst>
                                      </p:cBhvr>
                                      <p:to>
                                        <p:strVal val="visible"/>
                                      </p:to>
                                    </p:set>
                                    <p:anim calcmode="lin" valueType="num">
                                      <p:cBhvr additive="base">
                                        <p:cTn id="26" dur="500" fill="hold"/>
                                        <p:tgtEl>
                                          <p:spTgt spid="26"/>
                                        </p:tgtEl>
                                        <p:attrNameLst>
                                          <p:attrName>ppt_x</p:attrName>
                                        </p:attrNameLst>
                                      </p:cBhvr>
                                      <p:tavLst>
                                        <p:tav tm="0">
                                          <p:val>
                                            <p:strVal val="#ppt_x"/>
                                          </p:val>
                                        </p:tav>
                                        <p:tav tm="100000">
                                          <p:val>
                                            <p:strVal val="#ppt_x"/>
                                          </p:val>
                                        </p:tav>
                                      </p:tavLst>
                                    </p:anim>
                                    <p:anim calcmode="lin" valueType="num">
                                      <p:cBhvr additive="base">
                                        <p:cTn id="27" dur="500" fill="hold"/>
                                        <p:tgtEl>
                                          <p:spTgt spid="26"/>
                                        </p:tgtEl>
                                        <p:attrNameLst>
                                          <p:attrName>ppt_y</p:attrName>
                                        </p:attrNameLst>
                                      </p:cBhvr>
                                      <p:tavLst>
                                        <p:tav tm="0">
                                          <p:val>
                                            <p:strVal val="1+#ppt_h/2"/>
                                          </p:val>
                                        </p:tav>
                                        <p:tav tm="100000">
                                          <p:val>
                                            <p:strVal val="#ppt_y"/>
                                          </p:val>
                                        </p:tav>
                                      </p:tavLst>
                                    </p:anim>
                                  </p:childTnLst>
                                </p:cTn>
                              </p:par>
                              <p:par>
                                <p:cTn id="28" presetID="2" presetClass="entr" presetSubtype="4" fill="hold" nodeType="withEffect">
                                  <p:stCondLst>
                                    <p:cond delay="0"/>
                                  </p:stCondLst>
                                  <p:childTnLst>
                                    <p:set>
                                      <p:cBhvr>
                                        <p:cTn id="29" dur="1" fill="hold">
                                          <p:stCondLst>
                                            <p:cond delay="0"/>
                                          </p:stCondLst>
                                        </p:cTn>
                                        <p:tgtEl>
                                          <p:spTgt spid="22"/>
                                        </p:tgtEl>
                                        <p:attrNameLst>
                                          <p:attrName>style.visibility</p:attrName>
                                        </p:attrNameLst>
                                      </p:cBhvr>
                                      <p:to>
                                        <p:strVal val="visible"/>
                                      </p:to>
                                    </p:set>
                                    <p:anim calcmode="lin" valueType="num">
                                      <p:cBhvr additive="base">
                                        <p:cTn id="30" dur="500" fill="hold"/>
                                        <p:tgtEl>
                                          <p:spTgt spid="22"/>
                                        </p:tgtEl>
                                        <p:attrNameLst>
                                          <p:attrName>ppt_x</p:attrName>
                                        </p:attrNameLst>
                                      </p:cBhvr>
                                      <p:tavLst>
                                        <p:tav tm="0">
                                          <p:val>
                                            <p:strVal val="#ppt_x"/>
                                          </p:val>
                                        </p:tav>
                                        <p:tav tm="100000">
                                          <p:val>
                                            <p:strVal val="#ppt_x"/>
                                          </p:val>
                                        </p:tav>
                                      </p:tavLst>
                                    </p:anim>
                                    <p:anim calcmode="lin" valueType="num">
                                      <p:cBhvr additive="base">
                                        <p:cTn id="31"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45"/>
                                        </p:tgtEl>
                                        <p:attrNameLst>
                                          <p:attrName>style.visibility</p:attrName>
                                        </p:attrNameLst>
                                      </p:cBhvr>
                                      <p:to>
                                        <p:strVal val="visible"/>
                                      </p:to>
                                    </p:set>
                                    <p:animEffect transition="in" filter="fade">
                                      <p:cBhvr>
                                        <p:cTn id="36" dur="1000"/>
                                        <p:tgtEl>
                                          <p:spTgt spid="45"/>
                                        </p:tgtEl>
                                      </p:cBhvr>
                                    </p:animEffect>
                                    <p:anim calcmode="lin" valueType="num">
                                      <p:cBhvr>
                                        <p:cTn id="37" dur="1000" fill="hold"/>
                                        <p:tgtEl>
                                          <p:spTgt spid="45"/>
                                        </p:tgtEl>
                                        <p:attrNameLst>
                                          <p:attrName>ppt_x</p:attrName>
                                        </p:attrNameLst>
                                      </p:cBhvr>
                                      <p:tavLst>
                                        <p:tav tm="0">
                                          <p:val>
                                            <p:strVal val="#ppt_x"/>
                                          </p:val>
                                        </p:tav>
                                        <p:tav tm="100000">
                                          <p:val>
                                            <p:strVal val="#ppt_x"/>
                                          </p:val>
                                        </p:tav>
                                      </p:tavLst>
                                    </p:anim>
                                    <p:anim calcmode="lin" valueType="num">
                                      <p:cBhvr>
                                        <p:cTn id="38" dur="1000" fill="hold"/>
                                        <p:tgtEl>
                                          <p:spTgt spid="45"/>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fade">
                                      <p:cBhvr>
                                        <p:cTn id="41" dur="1000"/>
                                        <p:tgtEl>
                                          <p:spTgt spid="8"/>
                                        </p:tgtEl>
                                      </p:cBhvr>
                                    </p:animEffect>
                                    <p:anim calcmode="lin" valueType="num">
                                      <p:cBhvr>
                                        <p:cTn id="42" dur="1000" fill="hold"/>
                                        <p:tgtEl>
                                          <p:spTgt spid="8"/>
                                        </p:tgtEl>
                                        <p:attrNameLst>
                                          <p:attrName>ppt_x</p:attrName>
                                        </p:attrNameLst>
                                      </p:cBhvr>
                                      <p:tavLst>
                                        <p:tav tm="0">
                                          <p:val>
                                            <p:strVal val="#ppt_x"/>
                                          </p:val>
                                        </p:tav>
                                        <p:tav tm="100000">
                                          <p:val>
                                            <p:strVal val="#ppt_x"/>
                                          </p:val>
                                        </p:tav>
                                      </p:tavLst>
                                    </p:anim>
                                    <p:anim calcmode="lin" valueType="num">
                                      <p:cBhvr>
                                        <p:cTn id="4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35"/>
                                        </p:tgtEl>
                                        <p:attrNameLst>
                                          <p:attrName>style.visibility</p:attrName>
                                        </p:attrNameLst>
                                      </p:cBhvr>
                                      <p:to>
                                        <p:strVal val="visible"/>
                                      </p:to>
                                    </p:set>
                                    <p:animEffect transition="in" filter="fade">
                                      <p:cBhvr>
                                        <p:cTn id="48" dur="1000"/>
                                        <p:tgtEl>
                                          <p:spTgt spid="35"/>
                                        </p:tgtEl>
                                      </p:cBhvr>
                                    </p:animEffect>
                                    <p:anim calcmode="lin" valueType="num">
                                      <p:cBhvr>
                                        <p:cTn id="49" dur="1000" fill="hold"/>
                                        <p:tgtEl>
                                          <p:spTgt spid="35"/>
                                        </p:tgtEl>
                                        <p:attrNameLst>
                                          <p:attrName>ppt_x</p:attrName>
                                        </p:attrNameLst>
                                      </p:cBhvr>
                                      <p:tavLst>
                                        <p:tav tm="0">
                                          <p:val>
                                            <p:strVal val="#ppt_x"/>
                                          </p:val>
                                        </p:tav>
                                        <p:tav tm="100000">
                                          <p:val>
                                            <p:strVal val="#ppt_x"/>
                                          </p:val>
                                        </p:tav>
                                      </p:tavLst>
                                    </p:anim>
                                    <p:anim calcmode="lin" valueType="num">
                                      <p:cBhvr>
                                        <p:cTn id="50"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nodeType="clickEffect">
                                  <p:stCondLst>
                                    <p:cond delay="0"/>
                                  </p:stCondLst>
                                  <p:childTnLst>
                                    <p:set>
                                      <p:cBhvr>
                                        <p:cTn id="54" dur="1" fill="hold">
                                          <p:stCondLst>
                                            <p:cond delay="0"/>
                                          </p:stCondLst>
                                        </p:cTn>
                                        <p:tgtEl>
                                          <p:spTgt spid="36"/>
                                        </p:tgtEl>
                                        <p:attrNameLst>
                                          <p:attrName>style.visibility</p:attrName>
                                        </p:attrNameLst>
                                      </p:cBhvr>
                                      <p:to>
                                        <p:strVal val="visible"/>
                                      </p:to>
                                    </p:set>
                                    <p:animEffect transition="in" filter="fade">
                                      <p:cBhvr>
                                        <p:cTn id="55" dur="1000"/>
                                        <p:tgtEl>
                                          <p:spTgt spid="36"/>
                                        </p:tgtEl>
                                      </p:cBhvr>
                                    </p:animEffect>
                                    <p:anim calcmode="lin" valueType="num">
                                      <p:cBhvr>
                                        <p:cTn id="56" dur="1000" fill="hold"/>
                                        <p:tgtEl>
                                          <p:spTgt spid="36"/>
                                        </p:tgtEl>
                                        <p:attrNameLst>
                                          <p:attrName>ppt_x</p:attrName>
                                        </p:attrNameLst>
                                      </p:cBhvr>
                                      <p:tavLst>
                                        <p:tav tm="0">
                                          <p:val>
                                            <p:strVal val="#ppt_x"/>
                                          </p:val>
                                        </p:tav>
                                        <p:tav tm="100000">
                                          <p:val>
                                            <p:strVal val="#ppt_x"/>
                                          </p:val>
                                        </p:tav>
                                      </p:tavLst>
                                    </p:anim>
                                    <p:anim calcmode="lin" valueType="num">
                                      <p:cBhvr>
                                        <p:cTn id="57"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p:bldP spid="8" grpId="0" animBg="1"/>
      <p:bldP spid="35" grpId="0" animBg="1"/>
      <p:bldP spid="4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28662" y="1928802"/>
            <a:ext cx="7643866" cy="2554545"/>
          </a:xfrm>
          <a:prstGeom prst="rect">
            <a:avLst/>
          </a:prstGeom>
          <a:noFill/>
        </p:spPr>
        <p:txBody>
          <a:bodyPr wrap="square" rtlCol="0">
            <a:spAutoFit/>
          </a:bodyPr>
          <a:lstStyle/>
          <a:p>
            <a:r>
              <a:rPr lang="zh-CN" altLang="en-US" sz="3200" b="1" dirty="0">
                <a:solidFill>
                  <a:schemeClr val="accent6">
                    <a:lumMod val="75000"/>
                  </a:schemeClr>
                </a:solidFill>
              </a:rPr>
              <a:t>将已知元素中</a:t>
            </a:r>
            <a:r>
              <a:rPr lang="zh-CN" altLang="en-US" sz="3200" b="1" dirty="0">
                <a:solidFill>
                  <a:srgbClr val="C00000"/>
                </a:solidFill>
              </a:rPr>
              <a:t>电子层数相同</a:t>
            </a:r>
            <a:r>
              <a:rPr lang="zh-CN" altLang="en-US" sz="3200" b="1" dirty="0">
                <a:solidFill>
                  <a:schemeClr val="accent6">
                    <a:lumMod val="75000"/>
                  </a:schemeClr>
                </a:solidFill>
              </a:rPr>
              <a:t>的各种元素，按</a:t>
            </a:r>
            <a:r>
              <a:rPr lang="zh-CN" altLang="en-US" sz="3200" b="1" dirty="0">
                <a:solidFill>
                  <a:srgbClr val="C00000"/>
                </a:solidFill>
              </a:rPr>
              <a:t>原子序数递增</a:t>
            </a:r>
            <a:r>
              <a:rPr lang="zh-CN" altLang="en-US" sz="3200" b="1" dirty="0">
                <a:solidFill>
                  <a:schemeClr val="accent6">
                    <a:lumMod val="75000"/>
                  </a:schemeClr>
                </a:solidFill>
              </a:rPr>
              <a:t>的顺序</a:t>
            </a:r>
            <a:r>
              <a:rPr lang="zh-CN" altLang="en-US" sz="3200" b="1" dirty="0">
                <a:solidFill>
                  <a:srgbClr val="C00000"/>
                </a:solidFill>
              </a:rPr>
              <a:t>从左到右</a:t>
            </a:r>
            <a:r>
              <a:rPr lang="zh-CN" altLang="en-US" sz="3200" b="1" dirty="0">
                <a:solidFill>
                  <a:schemeClr val="accent6">
                    <a:lumMod val="75000"/>
                  </a:schemeClr>
                </a:solidFill>
              </a:rPr>
              <a:t>排成横行，再把</a:t>
            </a:r>
            <a:r>
              <a:rPr lang="zh-CN" altLang="en-US" sz="3200" b="1" dirty="0">
                <a:solidFill>
                  <a:srgbClr val="002060"/>
                </a:solidFill>
              </a:rPr>
              <a:t>最外层电子数相同</a:t>
            </a:r>
            <a:r>
              <a:rPr lang="zh-CN" altLang="en-US" sz="3200" b="1" dirty="0">
                <a:solidFill>
                  <a:schemeClr val="accent6">
                    <a:lumMod val="75000"/>
                  </a:schemeClr>
                </a:solidFill>
              </a:rPr>
              <a:t>的元素，按</a:t>
            </a:r>
            <a:r>
              <a:rPr lang="zh-CN" altLang="en-US" sz="3200" b="1" dirty="0">
                <a:solidFill>
                  <a:srgbClr val="002060"/>
                </a:solidFill>
              </a:rPr>
              <a:t>电子层数递增</a:t>
            </a:r>
            <a:r>
              <a:rPr lang="zh-CN" altLang="en-US" sz="3200" b="1" dirty="0">
                <a:solidFill>
                  <a:schemeClr val="accent6">
                    <a:lumMod val="75000"/>
                  </a:schemeClr>
                </a:solidFill>
              </a:rPr>
              <a:t>的顺序</a:t>
            </a:r>
            <a:r>
              <a:rPr lang="zh-CN" altLang="en-US" sz="3200" b="1" dirty="0">
                <a:solidFill>
                  <a:srgbClr val="002060"/>
                </a:solidFill>
              </a:rPr>
              <a:t>由上到下</a:t>
            </a:r>
            <a:r>
              <a:rPr lang="zh-CN" altLang="en-US" sz="3200" b="1" dirty="0">
                <a:solidFill>
                  <a:schemeClr val="accent6">
                    <a:lumMod val="75000"/>
                  </a:schemeClr>
                </a:solidFill>
              </a:rPr>
              <a:t>排成纵列，这样得到一个表。</a:t>
            </a:r>
            <a:endParaRPr lang="en-US" sz="3200" b="1" dirty="0">
              <a:solidFill>
                <a:srgbClr val="C00000"/>
              </a:solidFill>
            </a:endParaRPr>
          </a:p>
        </p:txBody>
      </p:sp>
      <p:sp>
        <p:nvSpPr>
          <p:cNvPr id="3" name="Rectangle 2"/>
          <p:cNvSpPr/>
          <p:nvPr/>
        </p:nvSpPr>
        <p:spPr>
          <a:xfrm>
            <a:off x="2857488" y="642918"/>
            <a:ext cx="3530942" cy="769441"/>
          </a:xfrm>
          <a:prstGeom prst="rect">
            <a:avLst/>
          </a:prstGeom>
        </p:spPr>
        <p:txBody>
          <a:bodyPr wrap="square">
            <a:spAutoFit/>
          </a:bodyPr>
          <a:lstStyle/>
          <a:p>
            <a:r>
              <a:rPr lang="zh-CN" altLang="en-US" sz="4400" b="1" dirty="0">
                <a:solidFill>
                  <a:schemeClr val="accent6">
                    <a:lumMod val="75000"/>
                  </a:schemeClr>
                </a:solidFill>
              </a:rPr>
              <a:t>元素周期表</a:t>
            </a:r>
            <a:endParaRPr lang="en-US" sz="4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3" descr="periodic table of the elements.jpg"/>
          <p:cNvPicPr>
            <a:picLocks noGrp="1" noChangeAspect="1"/>
          </p:cNvPicPr>
          <p:nvPr>
            <p:ph idx="1"/>
          </p:nvPr>
        </p:nvPicPr>
        <p:blipFill>
          <a:blip r:embed="rId2"/>
          <a:stretch>
            <a:fillRect/>
          </a:stretch>
        </p:blipFill>
        <p:spPr>
          <a:xfrm>
            <a:off x="990600" y="762000"/>
            <a:ext cx="8001000" cy="5982056"/>
          </a:xfrm>
        </p:spPr>
      </p:pic>
      <p:sp>
        <p:nvSpPr>
          <p:cNvPr id="2" name="Title 1"/>
          <p:cNvSpPr>
            <a:spLocks noGrp="1"/>
          </p:cNvSpPr>
          <p:nvPr>
            <p:ph type="title"/>
          </p:nvPr>
        </p:nvSpPr>
        <p:spPr>
          <a:xfrm>
            <a:off x="304800" y="76200"/>
            <a:ext cx="8686800" cy="838200"/>
          </a:xfrm>
        </p:spPr>
        <p:txBody>
          <a:bodyPr/>
          <a:lstStyle/>
          <a:p>
            <a:r>
              <a:rPr lang="en-US" b="1" dirty="0"/>
              <a:t>6.2</a:t>
            </a:r>
            <a:r>
              <a:rPr lang="zh-CN" altLang="en-US" b="1" dirty="0"/>
              <a:t>元素周期表的结构</a:t>
            </a:r>
            <a:endParaRPr lang="en-US" dirty="0"/>
          </a:p>
        </p:txBody>
      </p:sp>
      <p:cxnSp>
        <p:nvCxnSpPr>
          <p:cNvPr id="5" name="Straight Arrow Connector 4"/>
          <p:cNvCxnSpPr/>
          <p:nvPr/>
        </p:nvCxnSpPr>
        <p:spPr>
          <a:xfrm>
            <a:off x="381001" y="2161309"/>
            <a:ext cx="1066800" cy="0"/>
          </a:xfrm>
          <a:prstGeom prst="straightConnector1">
            <a:avLst/>
          </a:prstGeom>
          <a:ln w="381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04800" y="1399309"/>
            <a:ext cx="1219201" cy="584775"/>
          </a:xfrm>
          <a:prstGeom prst="rect">
            <a:avLst/>
          </a:prstGeom>
          <a:ln>
            <a:solidFill>
              <a:schemeClr val="accent6">
                <a:lumMod val="75000"/>
              </a:schemeClr>
            </a:solid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3200" b="1" dirty="0">
                <a:solidFill>
                  <a:schemeClr val="accent6">
                    <a:lumMod val="75000"/>
                  </a:schemeClr>
                </a:solidFill>
              </a:rPr>
              <a:t>周期</a:t>
            </a:r>
            <a:endParaRPr lang="en-US" sz="3200" b="1" dirty="0">
              <a:solidFill>
                <a:schemeClr val="accent6">
                  <a:lumMod val="75000"/>
                </a:schemeClr>
              </a:solidFill>
            </a:endParaRPr>
          </a:p>
        </p:txBody>
      </p:sp>
      <p:sp>
        <p:nvSpPr>
          <p:cNvPr id="13" name="TextBox 12"/>
          <p:cNvSpPr txBox="1"/>
          <p:nvPr/>
        </p:nvSpPr>
        <p:spPr>
          <a:xfrm>
            <a:off x="235527" y="838200"/>
            <a:ext cx="8832273" cy="430887"/>
          </a:xfrm>
          <a:prstGeom prst="rect">
            <a:avLst/>
          </a:prstGeom>
          <a:ln>
            <a:solidFill>
              <a:schemeClr val="accent6">
                <a:lumMod val="75000"/>
              </a:schemeClr>
            </a:solid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sz="2200" b="1" dirty="0">
                <a:solidFill>
                  <a:schemeClr val="accent6">
                    <a:lumMod val="75000"/>
                  </a:schemeClr>
                </a:solidFill>
              </a:rPr>
              <a:t>具有相同的电子层数而又按照原子序数递增的顺序排列的一系列元素</a:t>
            </a:r>
            <a:endParaRPr lang="en-US" sz="2200" b="1" dirty="0">
              <a:solidFill>
                <a:schemeClr val="accent6">
                  <a:lumMod val="75000"/>
                </a:schemeClr>
              </a:solidFill>
            </a:endParaRPr>
          </a:p>
        </p:txBody>
      </p:sp>
    </p:spTree>
    <p:extLst>
      <p:ext uri="{BB962C8B-B14F-4D97-AF65-F5344CB8AC3E}">
        <p14:creationId xmlns:p14="http://schemas.microsoft.com/office/powerpoint/2010/main" val="1588853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1000"/>
                                        <p:tgtEl>
                                          <p:spTgt spid="13"/>
                                        </p:tgtEl>
                                      </p:cBhvr>
                                    </p:animEffect>
                                    <p:anim calcmode="lin" valueType="num">
                                      <p:cBhvr>
                                        <p:cTn id="18" dur="1000" fill="hold"/>
                                        <p:tgtEl>
                                          <p:spTgt spid="13"/>
                                        </p:tgtEl>
                                        <p:attrNameLst>
                                          <p:attrName>ppt_x</p:attrName>
                                        </p:attrNameLst>
                                      </p:cBhvr>
                                      <p:tavLst>
                                        <p:tav tm="0">
                                          <p:val>
                                            <p:strVal val="#ppt_x"/>
                                          </p:val>
                                        </p:tav>
                                        <p:tav tm="100000">
                                          <p:val>
                                            <p:strVal val="#ppt_x"/>
                                          </p:val>
                                        </p:tav>
                                      </p:tavLst>
                                    </p:anim>
                                    <p:anim calcmode="lin" valueType="num">
                                      <p:cBhvr>
                                        <p:cTn id="1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Content Placeholder 3" descr="periodic table of the elements.jpg"/>
          <p:cNvPicPr>
            <a:picLocks noChangeAspect="1"/>
          </p:cNvPicPr>
          <p:nvPr/>
        </p:nvPicPr>
        <p:blipFill>
          <a:blip r:embed="rId2"/>
          <a:stretch>
            <a:fillRect/>
          </a:stretch>
        </p:blipFill>
        <p:spPr>
          <a:xfrm>
            <a:off x="685800" y="304800"/>
            <a:ext cx="6553200" cy="4914900"/>
          </a:xfrm>
          <a:prstGeom prst="rect">
            <a:avLst/>
          </a:prstGeom>
        </p:spPr>
      </p:pic>
      <p:grpSp>
        <p:nvGrpSpPr>
          <p:cNvPr id="84" name="Group 83"/>
          <p:cNvGrpSpPr/>
          <p:nvPr/>
        </p:nvGrpSpPr>
        <p:grpSpPr>
          <a:xfrm>
            <a:off x="7086600" y="1295400"/>
            <a:ext cx="1828800" cy="838200"/>
            <a:chOff x="7086600" y="1143000"/>
            <a:chExt cx="1828800" cy="838200"/>
          </a:xfrm>
        </p:grpSpPr>
        <p:cxnSp>
          <p:nvCxnSpPr>
            <p:cNvPr id="8" name="Straight Connector 7"/>
            <p:cNvCxnSpPr/>
            <p:nvPr/>
          </p:nvCxnSpPr>
          <p:spPr>
            <a:xfrm>
              <a:off x="7086600" y="1981200"/>
              <a:ext cx="152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0" name="Group 49"/>
            <p:cNvGrpSpPr/>
            <p:nvPr/>
          </p:nvGrpSpPr>
          <p:grpSpPr>
            <a:xfrm>
              <a:off x="7086600" y="1143000"/>
              <a:ext cx="1828800" cy="838200"/>
              <a:chOff x="7086600" y="1143000"/>
              <a:chExt cx="1828800" cy="838200"/>
            </a:xfrm>
          </p:grpSpPr>
          <p:cxnSp>
            <p:nvCxnSpPr>
              <p:cNvPr id="5" name="Straight Connector 4"/>
              <p:cNvCxnSpPr/>
              <p:nvPr/>
            </p:nvCxnSpPr>
            <p:spPr>
              <a:xfrm>
                <a:off x="7086600" y="1143000"/>
                <a:ext cx="152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7239000" y="1143000"/>
                <a:ext cx="0" cy="838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7239000" y="1600200"/>
                <a:ext cx="152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7467600" y="1371600"/>
                <a:ext cx="1447800" cy="430887"/>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2200" b="1" dirty="0">
                    <a:solidFill>
                      <a:schemeClr val="accent6">
                        <a:lumMod val="75000"/>
                      </a:schemeClr>
                    </a:solidFill>
                  </a:rPr>
                  <a:t>短周期</a:t>
                </a:r>
                <a:endParaRPr lang="en-US" sz="2200" b="1" dirty="0">
                  <a:solidFill>
                    <a:schemeClr val="accent6">
                      <a:lumMod val="75000"/>
                    </a:schemeClr>
                  </a:solidFill>
                </a:endParaRPr>
              </a:p>
            </p:txBody>
          </p:sp>
        </p:grpSp>
      </p:grpSp>
      <p:grpSp>
        <p:nvGrpSpPr>
          <p:cNvPr id="51" name="Group 50"/>
          <p:cNvGrpSpPr/>
          <p:nvPr/>
        </p:nvGrpSpPr>
        <p:grpSpPr>
          <a:xfrm>
            <a:off x="7086600" y="2524939"/>
            <a:ext cx="1828800" cy="827861"/>
            <a:chOff x="7086600" y="2220139"/>
            <a:chExt cx="1828800" cy="827861"/>
          </a:xfrm>
        </p:grpSpPr>
        <p:cxnSp>
          <p:nvCxnSpPr>
            <p:cNvPr id="17" name="Straight Connector 16"/>
            <p:cNvCxnSpPr/>
            <p:nvPr/>
          </p:nvCxnSpPr>
          <p:spPr>
            <a:xfrm>
              <a:off x="7086600" y="2220139"/>
              <a:ext cx="152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7086600" y="3048000"/>
              <a:ext cx="152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7239000" y="2220139"/>
              <a:ext cx="0" cy="8278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7239000" y="2667000"/>
              <a:ext cx="152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7467600" y="2438400"/>
              <a:ext cx="1447800" cy="430887"/>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2200" b="1" dirty="0">
                  <a:solidFill>
                    <a:schemeClr val="accent6">
                      <a:lumMod val="75000"/>
                    </a:schemeClr>
                  </a:solidFill>
                </a:rPr>
                <a:t>长周期</a:t>
              </a:r>
              <a:endParaRPr lang="en-US" sz="2200" b="1" dirty="0">
                <a:solidFill>
                  <a:schemeClr val="accent6">
                    <a:lumMod val="75000"/>
                  </a:schemeClr>
                </a:solidFill>
              </a:endParaRPr>
            </a:p>
          </p:txBody>
        </p:sp>
      </p:grpSp>
      <p:grpSp>
        <p:nvGrpSpPr>
          <p:cNvPr id="52" name="Group 51"/>
          <p:cNvGrpSpPr/>
          <p:nvPr/>
        </p:nvGrpSpPr>
        <p:grpSpPr>
          <a:xfrm>
            <a:off x="6934200" y="3581400"/>
            <a:ext cx="2057400" cy="430887"/>
            <a:chOff x="7086600" y="3226713"/>
            <a:chExt cx="2057400" cy="430887"/>
          </a:xfrm>
        </p:grpSpPr>
        <p:cxnSp>
          <p:nvCxnSpPr>
            <p:cNvPr id="24" name="Straight Connector 23"/>
            <p:cNvCxnSpPr/>
            <p:nvPr/>
          </p:nvCxnSpPr>
          <p:spPr>
            <a:xfrm>
              <a:off x="7086600" y="3429000"/>
              <a:ext cx="152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7239000" y="3429000"/>
              <a:ext cx="152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7467600" y="3226713"/>
              <a:ext cx="1676400" cy="430887"/>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2200" b="1" dirty="0">
                  <a:solidFill>
                    <a:schemeClr val="accent6">
                      <a:lumMod val="75000"/>
                    </a:schemeClr>
                  </a:solidFill>
                </a:rPr>
                <a:t>不完全周期</a:t>
              </a:r>
              <a:endParaRPr lang="en-US" sz="2200" b="1" dirty="0">
                <a:solidFill>
                  <a:schemeClr val="accent6">
                    <a:lumMod val="75000"/>
                  </a:schemeClr>
                </a:solidFill>
              </a:endParaRPr>
            </a:p>
          </p:txBody>
        </p:sp>
      </p:grpSp>
      <p:grpSp>
        <p:nvGrpSpPr>
          <p:cNvPr id="83" name="Group 82"/>
          <p:cNvGrpSpPr/>
          <p:nvPr/>
        </p:nvGrpSpPr>
        <p:grpSpPr>
          <a:xfrm>
            <a:off x="457200" y="1447800"/>
            <a:ext cx="2209800" cy="5224159"/>
            <a:chOff x="457200" y="1447800"/>
            <a:chExt cx="2209800" cy="5224159"/>
          </a:xfrm>
        </p:grpSpPr>
        <p:cxnSp>
          <p:nvCxnSpPr>
            <p:cNvPr id="29" name="Straight Arrow Connector 28"/>
            <p:cNvCxnSpPr/>
            <p:nvPr/>
          </p:nvCxnSpPr>
          <p:spPr>
            <a:xfrm rot="5400000">
              <a:off x="683707" y="4646107"/>
              <a:ext cx="1223386" cy="1588"/>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800100" y="5334000"/>
              <a:ext cx="1181100" cy="456140"/>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2200" b="1" dirty="0">
                  <a:solidFill>
                    <a:schemeClr val="accent6">
                      <a:lumMod val="75000"/>
                    </a:schemeClr>
                  </a:solidFill>
                </a:rPr>
                <a:t>碱金属</a:t>
              </a:r>
              <a:endParaRPr lang="en-US" sz="2200" b="1" dirty="0">
                <a:solidFill>
                  <a:schemeClr val="accent6">
                    <a:lumMod val="75000"/>
                  </a:schemeClr>
                </a:solidFill>
              </a:endParaRPr>
            </a:p>
          </p:txBody>
        </p:sp>
        <p:cxnSp>
          <p:nvCxnSpPr>
            <p:cNvPr id="32" name="Straight Arrow Connector 31"/>
            <p:cNvCxnSpPr/>
            <p:nvPr/>
          </p:nvCxnSpPr>
          <p:spPr>
            <a:xfrm>
              <a:off x="1295400" y="5715000"/>
              <a:ext cx="0" cy="511850"/>
            </a:xfrm>
            <a:prstGeom prst="straightConnector1">
              <a:avLst/>
            </a:prstGeom>
            <a:ln w="1905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457200" y="6248400"/>
              <a:ext cx="2209800" cy="423559"/>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2000" b="1" dirty="0">
                  <a:solidFill>
                    <a:schemeClr val="accent6">
                      <a:lumMod val="75000"/>
                    </a:schemeClr>
                  </a:solidFill>
                </a:rPr>
                <a:t>活泼的金属元素</a:t>
              </a:r>
              <a:endParaRPr lang="en-US" sz="2000" b="1" dirty="0">
                <a:solidFill>
                  <a:schemeClr val="accent6">
                    <a:lumMod val="75000"/>
                  </a:schemeClr>
                </a:solidFill>
              </a:endParaRPr>
            </a:p>
          </p:txBody>
        </p:sp>
        <p:sp>
          <p:nvSpPr>
            <p:cNvPr id="34" name="Rectangle 33"/>
            <p:cNvSpPr/>
            <p:nvPr/>
          </p:nvSpPr>
          <p:spPr>
            <a:xfrm>
              <a:off x="1143000" y="1447800"/>
              <a:ext cx="304800" cy="259080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0" name="Group 89"/>
          <p:cNvGrpSpPr/>
          <p:nvPr/>
        </p:nvGrpSpPr>
        <p:grpSpPr>
          <a:xfrm>
            <a:off x="6248400" y="990600"/>
            <a:ext cx="1676400" cy="4850487"/>
            <a:chOff x="6248400" y="990600"/>
            <a:chExt cx="1676400" cy="4850487"/>
          </a:xfrm>
        </p:grpSpPr>
        <p:cxnSp>
          <p:nvCxnSpPr>
            <p:cNvPr id="39" name="Straight Arrow Connector 38"/>
            <p:cNvCxnSpPr/>
            <p:nvPr/>
          </p:nvCxnSpPr>
          <p:spPr>
            <a:xfrm>
              <a:off x="6400800" y="3581400"/>
              <a:ext cx="0" cy="1802487"/>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6248400" y="990600"/>
              <a:ext cx="304800" cy="2590799"/>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p:cNvSpPr txBox="1"/>
            <p:nvPr/>
          </p:nvSpPr>
          <p:spPr>
            <a:xfrm>
              <a:off x="6324600" y="5410200"/>
              <a:ext cx="1600200" cy="430887"/>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2200" b="1" dirty="0">
                  <a:solidFill>
                    <a:schemeClr val="accent6">
                      <a:lumMod val="75000"/>
                    </a:schemeClr>
                  </a:solidFill>
                </a:rPr>
                <a:t>稀有气体</a:t>
              </a:r>
              <a:endParaRPr lang="en-US" sz="2200" b="1" dirty="0">
                <a:solidFill>
                  <a:schemeClr val="accent6">
                    <a:lumMod val="75000"/>
                  </a:schemeClr>
                </a:solidFill>
              </a:endParaRPr>
            </a:p>
          </p:txBody>
        </p:sp>
      </p:grpSp>
      <p:grpSp>
        <p:nvGrpSpPr>
          <p:cNvPr id="72" name="Group 71"/>
          <p:cNvGrpSpPr/>
          <p:nvPr/>
        </p:nvGrpSpPr>
        <p:grpSpPr>
          <a:xfrm>
            <a:off x="1066800" y="4038600"/>
            <a:ext cx="7696200" cy="484176"/>
            <a:chOff x="1066800" y="4038600"/>
            <a:chExt cx="7696200" cy="484176"/>
          </a:xfrm>
        </p:grpSpPr>
        <p:cxnSp>
          <p:nvCxnSpPr>
            <p:cNvPr id="44" name="Straight Arrow Connector 43"/>
            <p:cNvCxnSpPr>
              <a:stCxn id="42" idx="3"/>
            </p:cNvCxnSpPr>
            <p:nvPr/>
          </p:nvCxnSpPr>
          <p:spPr>
            <a:xfrm flipV="1">
              <a:off x="6096000" y="4267200"/>
              <a:ext cx="1295400" cy="13488"/>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68" name="Group 67"/>
            <p:cNvGrpSpPr/>
            <p:nvPr/>
          </p:nvGrpSpPr>
          <p:grpSpPr>
            <a:xfrm>
              <a:off x="1066800" y="4038600"/>
              <a:ext cx="7696200" cy="484176"/>
              <a:chOff x="1066800" y="4038600"/>
              <a:chExt cx="7696200" cy="484176"/>
            </a:xfrm>
          </p:grpSpPr>
          <p:sp>
            <p:nvSpPr>
              <p:cNvPr id="42" name="Rectangle 41"/>
              <p:cNvSpPr/>
              <p:nvPr/>
            </p:nvSpPr>
            <p:spPr>
              <a:xfrm>
                <a:off x="1066800" y="4038600"/>
                <a:ext cx="5029200" cy="48417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p:cNvSpPr txBox="1"/>
              <p:nvPr/>
            </p:nvSpPr>
            <p:spPr>
              <a:xfrm>
                <a:off x="7354824" y="4078287"/>
                <a:ext cx="1408176" cy="430887"/>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2200" b="1" dirty="0">
                    <a:solidFill>
                      <a:schemeClr val="accent6">
                        <a:lumMod val="75000"/>
                      </a:schemeClr>
                    </a:solidFill>
                  </a:rPr>
                  <a:t>镧系元素</a:t>
                </a:r>
                <a:endParaRPr lang="en-US" sz="2200" b="1" dirty="0">
                  <a:solidFill>
                    <a:schemeClr val="accent6">
                      <a:lumMod val="75000"/>
                    </a:schemeClr>
                  </a:solidFill>
                </a:endParaRPr>
              </a:p>
            </p:txBody>
          </p:sp>
        </p:grpSp>
      </p:grpSp>
      <p:grpSp>
        <p:nvGrpSpPr>
          <p:cNvPr id="88" name="Group 87"/>
          <p:cNvGrpSpPr/>
          <p:nvPr/>
        </p:nvGrpSpPr>
        <p:grpSpPr>
          <a:xfrm>
            <a:off x="3886200" y="1447800"/>
            <a:ext cx="2514600" cy="5124510"/>
            <a:chOff x="3886200" y="1447800"/>
            <a:chExt cx="2514600" cy="5124510"/>
          </a:xfrm>
        </p:grpSpPr>
        <p:cxnSp>
          <p:nvCxnSpPr>
            <p:cNvPr id="37" name="Straight Arrow Connector 36"/>
            <p:cNvCxnSpPr/>
            <p:nvPr/>
          </p:nvCxnSpPr>
          <p:spPr>
            <a:xfrm>
              <a:off x="5943600" y="5638800"/>
              <a:ext cx="0" cy="483513"/>
            </a:xfrm>
            <a:prstGeom prst="straightConnector1">
              <a:avLst/>
            </a:prstGeom>
            <a:ln w="1905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3886200" y="6172200"/>
              <a:ext cx="2514600" cy="400110"/>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2000" b="1" dirty="0">
                  <a:solidFill>
                    <a:schemeClr val="accent6">
                      <a:lumMod val="75000"/>
                    </a:schemeClr>
                  </a:solidFill>
                </a:rPr>
                <a:t>活泼的非金属元素</a:t>
              </a:r>
              <a:endParaRPr lang="en-US" sz="2000" b="1" dirty="0">
                <a:solidFill>
                  <a:schemeClr val="accent6">
                    <a:lumMod val="75000"/>
                  </a:schemeClr>
                </a:solidFill>
              </a:endParaRPr>
            </a:p>
          </p:txBody>
        </p:sp>
        <p:grpSp>
          <p:nvGrpSpPr>
            <p:cNvPr id="87" name="Group 86"/>
            <p:cNvGrpSpPr/>
            <p:nvPr/>
          </p:nvGrpSpPr>
          <p:grpSpPr>
            <a:xfrm>
              <a:off x="5379720" y="1447800"/>
              <a:ext cx="944880" cy="4164687"/>
              <a:chOff x="5379720" y="1447800"/>
              <a:chExt cx="944880" cy="4164687"/>
            </a:xfrm>
          </p:grpSpPr>
          <p:sp>
            <p:nvSpPr>
              <p:cNvPr id="27" name="Rectangle 26"/>
              <p:cNvSpPr/>
              <p:nvPr/>
            </p:nvSpPr>
            <p:spPr>
              <a:xfrm>
                <a:off x="5943600" y="1447800"/>
                <a:ext cx="304800" cy="213360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p:nvPr/>
            </p:nvSpPr>
            <p:spPr>
              <a:xfrm>
                <a:off x="5379720" y="5181600"/>
                <a:ext cx="944880" cy="430887"/>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2200" b="1" dirty="0">
                    <a:solidFill>
                      <a:schemeClr val="accent6">
                        <a:lumMod val="75000"/>
                      </a:schemeClr>
                    </a:solidFill>
                  </a:rPr>
                  <a:t>卤素</a:t>
                </a:r>
                <a:endParaRPr lang="en-US" sz="2200" b="1" dirty="0">
                  <a:solidFill>
                    <a:schemeClr val="accent6">
                      <a:lumMod val="75000"/>
                    </a:schemeClr>
                  </a:solidFill>
                </a:endParaRPr>
              </a:p>
            </p:txBody>
          </p:sp>
          <p:cxnSp>
            <p:nvCxnSpPr>
              <p:cNvPr id="57" name="Straight Arrow Connector 56"/>
              <p:cNvCxnSpPr/>
              <p:nvPr/>
            </p:nvCxnSpPr>
            <p:spPr>
              <a:xfrm rot="5400000">
                <a:off x="5279720" y="4320690"/>
                <a:ext cx="1631768" cy="793"/>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pSp>
      <p:grpSp>
        <p:nvGrpSpPr>
          <p:cNvPr id="73" name="Group 72"/>
          <p:cNvGrpSpPr/>
          <p:nvPr/>
        </p:nvGrpSpPr>
        <p:grpSpPr>
          <a:xfrm>
            <a:off x="1066800" y="4495800"/>
            <a:ext cx="7696200" cy="484176"/>
            <a:chOff x="1066800" y="4038600"/>
            <a:chExt cx="7696200" cy="484176"/>
          </a:xfrm>
        </p:grpSpPr>
        <p:cxnSp>
          <p:nvCxnSpPr>
            <p:cNvPr id="74" name="Straight Arrow Connector 73"/>
            <p:cNvCxnSpPr>
              <a:stCxn id="76" idx="3"/>
            </p:cNvCxnSpPr>
            <p:nvPr/>
          </p:nvCxnSpPr>
          <p:spPr>
            <a:xfrm flipV="1">
              <a:off x="6096000" y="4267200"/>
              <a:ext cx="1295400" cy="13488"/>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75" name="Group 67"/>
            <p:cNvGrpSpPr/>
            <p:nvPr/>
          </p:nvGrpSpPr>
          <p:grpSpPr>
            <a:xfrm>
              <a:off x="1066800" y="4038600"/>
              <a:ext cx="7696200" cy="484176"/>
              <a:chOff x="1066800" y="4038600"/>
              <a:chExt cx="7696200" cy="484176"/>
            </a:xfrm>
          </p:grpSpPr>
          <p:sp>
            <p:nvSpPr>
              <p:cNvPr id="76" name="Rectangle 75"/>
              <p:cNvSpPr/>
              <p:nvPr/>
            </p:nvSpPr>
            <p:spPr>
              <a:xfrm>
                <a:off x="1066800" y="4038600"/>
                <a:ext cx="5029200" cy="48417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TextBox 76"/>
              <p:cNvSpPr txBox="1"/>
              <p:nvPr/>
            </p:nvSpPr>
            <p:spPr>
              <a:xfrm>
                <a:off x="7354824" y="4078287"/>
                <a:ext cx="1408176" cy="430887"/>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2200" b="1" dirty="0">
                    <a:solidFill>
                      <a:schemeClr val="accent6">
                        <a:lumMod val="75000"/>
                      </a:schemeClr>
                    </a:solidFill>
                  </a:rPr>
                  <a:t>锕系元素</a:t>
                </a:r>
                <a:endParaRPr lang="en-US" sz="2200" b="1" dirty="0">
                  <a:solidFill>
                    <a:schemeClr val="accent6">
                      <a:lumMod val="75000"/>
                    </a:schemeClr>
                  </a:solidFill>
                </a:endParaRPr>
              </a:p>
            </p:txBody>
          </p:sp>
        </p:grpSp>
      </p:grpSp>
    </p:spTree>
    <p:extLst>
      <p:ext uri="{BB962C8B-B14F-4D97-AF65-F5344CB8AC3E}">
        <p14:creationId xmlns:p14="http://schemas.microsoft.com/office/powerpoint/2010/main" val="3252433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4"/>
                                        </p:tgtEl>
                                        <p:attrNameLst>
                                          <p:attrName>style.visibility</p:attrName>
                                        </p:attrNameLst>
                                      </p:cBhvr>
                                      <p:to>
                                        <p:strVal val="visible"/>
                                      </p:to>
                                    </p:set>
                                    <p:anim calcmode="lin" valueType="num">
                                      <p:cBhvr additive="base">
                                        <p:cTn id="7" dur="500" fill="hold"/>
                                        <p:tgtEl>
                                          <p:spTgt spid="84"/>
                                        </p:tgtEl>
                                        <p:attrNameLst>
                                          <p:attrName>ppt_x</p:attrName>
                                        </p:attrNameLst>
                                      </p:cBhvr>
                                      <p:tavLst>
                                        <p:tav tm="0">
                                          <p:val>
                                            <p:strVal val="#ppt_x"/>
                                          </p:val>
                                        </p:tav>
                                        <p:tav tm="100000">
                                          <p:val>
                                            <p:strVal val="#ppt_x"/>
                                          </p:val>
                                        </p:tav>
                                      </p:tavLst>
                                    </p:anim>
                                    <p:anim calcmode="lin" valueType="num">
                                      <p:cBhvr additive="base">
                                        <p:cTn id="8" dur="500" fill="hold"/>
                                        <p:tgtEl>
                                          <p:spTgt spid="8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1"/>
                                        </p:tgtEl>
                                        <p:attrNameLst>
                                          <p:attrName>style.visibility</p:attrName>
                                        </p:attrNameLst>
                                      </p:cBhvr>
                                      <p:to>
                                        <p:strVal val="visible"/>
                                      </p:to>
                                    </p:set>
                                    <p:anim calcmode="lin" valueType="num">
                                      <p:cBhvr additive="base">
                                        <p:cTn id="13" dur="500" fill="hold"/>
                                        <p:tgtEl>
                                          <p:spTgt spid="51"/>
                                        </p:tgtEl>
                                        <p:attrNameLst>
                                          <p:attrName>ppt_x</p:attrName>
                                        </p:attrNameLst>
                                      </p:cBhvr>
                                      <p:tavLst>
                                        <p:tav tm="0">
                                          <p:val>
                                            <p:strVal val="#ppt_x"/>
                                          </p:val>
                                        </p:tav>
                                        <p:tav tm="100000">
                                          <p:val>
                                            <p:strVal val="#ppt_x"/>
                                          </p:val>
                                        </p:tav>
                                      </p:tavLst>
                                    </p:anim>
                                    <p:anim calcmode="lin" valueType="num">
                                      <p:cBhvr additive="base">
                                        <p:cTn id="14"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2"/>
                                        </p:tgtEl>
                                        <p:attrNameLst>
                                          <p:attrName>style.visibility</p:attrName>
                                        </p:attrNameLst>
                                      </p:cBhvr>
                                      <p:to>
                                        <p:strVal val="visible"/>
                                      </p:to>
                                    </p:set>
                                    <p:anim calcmode="lin" valueType="num">
                                      <p:cBhvr additive="base">
                                        <p:cTn id="19" dur="500" fill="hold"/>
                                        <p:tgtEl>
                                          <p:spTgt spid="52"/>
                                        </p:tgtEl>
                                        <p:attrNameLst>
                                          <p:attrName>ppt_x</p:attrName>
                                        </p:attrNameLst>
                                      </p:cBhvr>
                                      <p:tavLst>
                                        <p:tav tm="0">
                                          <p:val>
                                            <p:strVal val="#ppt_x"/>
                                          </p:val>
                                        </p:tav>
                                        <p:tav tm="100000">
                                          <p:val>
                                            <p:strVal val="#ppt_x"/>
                                          </p:val>
                                        </p:tav>
                                      </p:tavLst>
                                    </p:anim>
                                    <p:anim calcmode="lin" valueType="num">
                                      <p:cBhvr additive="base">
                                        <p:cTn id="20"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xit" presetSubtype="4" fill="hold" nodeType="clickEffect">
                                  <p:stCondLst>
                                    <p:cond delay="0"/>
                                  </p:stCondLst>
                                  <p:childTnLst>
                                    <p:anim calcmode="lin" valueType="num">
                                      <p:cBhvr additive="base">
                                        <p:cTn id="24" dur="500"/>
                                        <p:tgtEl>
                                          <p:spTgt spid="84"/>
                                        </p:tgtEl>
                                        <p:attrNameLst>
                                          <p:attrName>ppt_x</p:attrName>
                                        </p:attrNameLst>
                                      </p:cBhvr>
                                      <p:tavLst>
                                        <p:tav tm="0">
                                          <p:val>
                                            <p:strVal val="ppt_x"/>
                                          </p:val>
                                        </p:tav>
                                        <p:tav tm="100000">
                                          <p:val>
                                            <p:strVal val="ppt_x"/>
                                          </p:val>
                                        </p:tav>
                                      </p:tavLst>
                                    </p:anim>
                                    <p:anim calcmode="lin" valueType="num">
                                      <p:cBhvr additive="base">
                                        <p:cTn id="25" dur="500"/>
                                        <p:tgtEl>
                                          <p:spTgt spid="84"/>
                                        </p:tgtEl>
                                        <p:attrNameLst>
                                          <p:attrName>ppt_y</p:attrName>
                                        </p:attrNameLst>
                                      </p:cBhvr>
                                      <p:tavLst>
                                        <p:tav tm="0">
                                          <p:val>
                                            <p:strVal val="ppt_y"/>
                                          </p:val>
                                        </p:tav>
                                        <p:tav tm="100000">
                                          <p:val>
                                            <p:strVal val="1+ppt_h/2"/>
                                          </p:val>
                                        </p:tav>
                                      </p:tavLst>
                                    </p:anim>
                                    <p:set>
                                      <p:cBhvr>
                                        <p:cTn id="26" dur="1" fill="hold">
                                          <p:stCondLst>
                                            <p:cond delay="499"/>
                                          </p:stCondLst>
                                        </p:cTn>
                                        <p:tgtEl>
                                          <p:spTgt spid="84"/>
                                        </p:tgtEl>
                                        <p:attrNameLst>
                                          <p:attrName>style.visibility</p:attrName>
                                        </p:attrNameLst>
                                      </p:cBhvr>
                                      <p:to>
                                        <p:strVal val="hidden"/>
                                      </p:to>
                                    </p:set>
                                  </p:childTnLst>
                                </p:cTn>
                              </p:par>
                              <p:par>
                                <p:cTn id="27" presetID="2" presetClass="exit" presetSubtype="4" fill="hold" nodeType="withEffect">
                                  <p:stCondLst>
                                    <p:cond delay="0"/>
                                  </p:stCondLst>
                                  <p:childTnLst>
                                    <p:anim calcmode="lin" valueType="num">
                                      <p:cBhvr additive="base">
                                        <p:cTn id="28" dur="500"/>
                                        <p:tgtEl>
                                          <p:spTgt spid="51"/>
                                        </p:tgtEl>
                                        <p:attrNameLst>
                                          <p:attrName>ppt_x</p:attrName>
                                        </p:attrNameLst>
                                      </p:cBhvr>
                                      <p:tavLst>
                                        <p:tav tm="0">
                                          <p:val>
                                            <p:strVal val="ppt_x"/>
                                          </p:val>
                                        </p:tav>
                                        <p:tav tm="100000">
                                          <p:val>
                                            <p:strVal val="ppt_x"/>
                                          </p:val>
                                        </p:tav>
                                      </p:tavLst>
                                    </p:anim>
                                    <p:anim calcmode="lin" valueType="num">
                                      <p:cBhvr additive="base">
                                        <p:cTn id="29" dur="500"/>
                                        <p:tgtEl>
                                          <p:spTgt spid="51"/>
                                        </p:tgtEl>
                                        <p:attrNameLst>
                                          <p:attrName>ppt_y</p:attrName>
                                        </p:attrNameLst>
                                      </p:cBhvr>
                                      <p:tavLst>
                                        <p:tav tm="0">
                                          <p:val>
                                            <p:strVal val="ppt_y"/>
                                          </p:val>
                                        </p:tav>
                                        <p:tav tm="100000">
                                          <p:val>
                                            <p:strVal val="1+ppt_h/2"/>
                                          </p:val>
                                        </p:tav>
                                      </p:tavLst>
                                    </p:anim>
                                    <p:set>
                                      <p:cBhvr>
                                        <p:cTn id="30" dur="1" fill="hold">
                                          <p:stCondLst>
                                            <p:cond delay="499"/>
                                          </p:stCondLst>
                                        </p:cTn>
                                        <p:tgtEl>
                                          <p:spTgt spid="51"/>
                                        </p:tgtEl>
                                        <p:attrNameLst>
                                          <p:attrName>style.visibility</p:attrName>
                                        </p:attrNameLst>
                                      </p:cBhvr>
                                      <p:to>
                                        <p:strVal val="hidden"/>
                                      </p:to>
                                    </p:set>
                                  </p:childTnLst>
                                </p:cTn>
                              </p:par>
                              <p:par>
                                <p:cTn id="31" presetID="2" presetClass="exit" presetSubtype="4" fill="hold" nodeType="withEffect">
                                  <p:stCondLst>
                                    <p:cond delay="0"/>
                                  </p:stCondLst>
                                  <p:childTnLst>
                                    <p:anim calcmode="lin" valueType="num">
                                      <p:cBhvr additive="base">
                                        <p:cTn id="32" dur="500"/>
                                        <p:tgtEl>
                                          <p:spTgt spid="52"/>
                                        </p:tgtEl>
                                        <p:attrNameLst>
                                          <p:attrName>ppt_x</p:attrName>
                                        </p:attrNameLst>
                                      </p:cBhvr>
                                      <p:tavLst>
                                        <p:tav tm="0">
                                          <p:val>
                                            <p:strVal val="ppt_x"/>
                                          </p:val>
                                        </p:tav>
                                        <p:tav tm="100000">
                                          <p:val>
                                            <p:strVal val="ppt_x"/>
                                          </p:val>
                                        </p:tav>
                                      </p:tavLst>
                                    </p:anim>
                                    <p:anim calcmode="lin" valueType="num">
                                      <p:cBhvr additive="base">
                                        <p:cTn id="33" dur="500"/>
                                        <p:tgtEl>
                                          <p:spTgt spid="52"/>
                                        </p:tgtEl>
                                        <p:attrNameLst>
                                          <p:attrName>ppt_y</p:attrName>
                                        </p:attrNameLst>
                                      </p:cBhvr>
                                      <p:tavLst>
                                        <p:tav tm="0">
                                          <p:val>
                                            <p:strVal val="ppt_y"/>
                                          </p:val>
                                        </p:tav>
                                        <p:tav tm="100000">
                                          <p:val>
                                            <p:strVal val="1+ppt_h/2"/>
                                          </p:val>
                                        </p:tav>
                                      </p:tavLst>
                                    </p:anim>
                                    <p:set>
                                      <p:cBhvr>
                                        <p:cTn id="34" dur="1" fill="hold">
                                          <p:stCondLst>
                                            <p:cond delay="499"/>
                                          </p:stCondLst>
                                        </p:cTn>
                                        <p:tgtEl>
                                          <p:spTgt spid="52"/>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72"/>
                                        </p:tgtEl>
                                        <p:attrNameLst>
                                          <p:attrName>style.visibility</p:attrName>
                                        </p:attrNameLst>
                                      </p:cBhvr>
                                      <p:to>
                                        <p:strVal val="visible"/>
                                      </p:to>
                                    </p:set>
                                    <p:anim calcmode="lin" valueType="num">
                                      <p:cBhvr additive="base">
                                        <p:cTn id="39" dur="500" fill="hold"/>
                                        <p:tgtEl>
                                          <p:spTgt spid="72"/>
                                        </p:tgtEl>
                                        <p:attrNameLst>
                                          <p:attrName>ppt_x</p:attrName>
                                        </p:attrNameLst>
                                      </p:cBhvr>
                                      <p:tavLst>
                                        <p:tav tm="0">
                                          <p:val>
                                            <p:strVal val="#ppt_x"/>
                                          </p:val>
                                        </p:tav>
                                        <p:tav tm="100000">
                                          <p:val>
                                            <p:strVal val="#ppt_x"/>
                                          </p:val>
                                        </p:tav>
                                      </p:tavLst>
                                    </p:anim>
                                    <p:anim calcmode="lin" valueType="num">
                                      <p:cBhvr additive="base">
                                        <p:cTn id="40" dur="500" fill="hold"/>
                                        <p:tgtEl>
                                          <p:spTgt spid="72"/>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73"/>
                                        </p:tgtEl>
                                        <p:attrNameLst>
                                          <p:attrName>style.visibility</p:attrName>
                                        </p:attrNameLst>
                                      </p:cBhvr>
                                      <p:to>
                                        <p:strVal val="visible"/>
                                      </p:to>
                                    </p:set>
                                    <p:anim calcmode="lin" valueType="num">
                                      <p:cBhvr additive="base">
                                        <p:cTn id="45" dur="500" fill="hold"/>
                                        <p:tgtEl>
                                          <p:spTgt spid="73"/>
                                        </p:tgtEl>
                                        <p:attrNameLst>
                                          <p:attrName>ppt_x</p:attrName>
                                        </p:attrNameLst>
                                      </p:cBhvr>
                                      <p:tavLst>
                                        <p:tav tm="0">
                                          <p:val>
                                            <p:strVal val="#ppt_x"/>
                                          </p:val>
                                        </p:tav>
                                        <p:tav tm="100000">
                                          <p:val>
                                            <p:strVal val="#ppt_x"/>
                                          </p:val>
                                        </p:tav>
                                      </p:tavLst>
                                    </p:anim>
                                    <p:anim calcmode="lin" valueType="num">
                                      <p:cBhvr additive="base">
                                        <p:cTn id="46" dur="500" fill="hold"/>
                                        <p:tgtEl>
                                          <p:spTgt spid="73"/>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xit" presetSubtype="4" fill="hold" nodeType="clickEffect">
                                  <p:stCondLst>
                                    <p:cond delay="0"/>
                                  </p:stCondLst>
                                  <p:childTnLst>
                                    <p:anim calcmode="lin" valueType="num">
                                      <p:cBhvr additive="base">
                                        <p:cTn id="50" dur="500"/>
                                        <p:tgtEl>
                                          <p:spTgt spid="73"/>
                                        </p:tgtEl>
                                        <p:attrNameLst>
                                          <p:attrName>ppt_x</p:attrName>
                                        </p:attrNameLst>
                                      </p:cBhvr>
                                      <p:tavLst>
                                        <p:tav tm="0">
                                          <p:val>
                                            <p:strVal val="ppt_x"/>
                                          </p:val>
                                        </p:tav>
                                        <p:tav tm="100000">
                                          <p:val>
                                            <p:strVal val="ppt_x"/>
                                          </p:val>
                                        </p:tav>
                                      </p:tavLst>
                                    </p:anim>
                                    <p:anim calcmode="lin" valueType="num">
                                      <p:cBhvr additive="base">
                                        <p:cTn id="51" dur="500"/>
                                        <p:tgtEl>
                                          <p:spTgt spid="73"/>
                                        </p:tgtEl>
                                        <p:attrNameLst>
                                          <p:attrName>ppt_y</p:attrName>
                                        </p:attrNameLst>
                                      </p:cBhvr>
                                      <p:tavLst>
                                        <p:tav tm="0">
                                          <p:val>
                                            <p:strVal val="ppt_y"/>
                                          </p:val>
                                        </p:tav>
                                        <p:tav tm="100000">
                                          <p:val>
                                            <p:strVal val="1+ppt_h/2"/>
                                          </p:val>
                                        </p:tav>
                                      </p:tavLst>
                                    </p:anim>
                                    <p:set>
                                      <p:cBhvr>
                                        <p:cTn id="52" dur="1" fill="hold">
                                          <p:stCondLst>
                                            <p:cond delay="499"/>
                                          </p:stCondLst>
                                        </p:cTn>
                                        <p:tgtEl>
                                          <p:spTgt spid="73"/>
                                        </p:tgtEl>
                                        <p:attrNameLst>
                                          <p:attrName>style.visibility</p:attrName>
                                        </p:attrNameLst>
                                      </p:cBhvr>
                                      <p:to>
                                        <p:strVal val="hidden"/>
                                      </p:to>
                                    </p:set>
                                  </p:childTnLst>
                                </p:cTn>
                              </p:par>
                              <p:par>
                                <p:cTn id="53" presetID="2" presetClass="exit" presetSubtype="4" fill="hold" nodeType="withEffect">
                                  <p:stCondLst>
                                    <p:cond delay="0"/>
                                  </p:stCondLst>
                                  <p:childTnLst>
                                    <p:anim calcmode="lin" valueType="num">
                                      <p:cBhvr additive="base">
                                        <p:cTn id="54" dur="500"/>
                                        <p:tgtEl>
                                          <p:spTgt spid="72"/>
                                        </p:tgtEl>
                                        <p:attrNameLst>
                                          <p:attrName>ppt_x</p:attrName>
                                        </p:attrNameLst>
                                      </p:cBhvr>
                                      <p:tavLst>
                                        <p:tav tm="0">
                                          <p:val>
                                            <p:strVal val="ppt_x"/>
                                          </p:val>
                                        </p:tav>
                                        <p:tav tm="100000">
                                          <p:val>
                                            <p:strVal val="ppt_x"/>
                                          </p:val>
                                        </p:tav>
                                      </p:tavLst>
                                    </p:anim>
                                    <p:anim calcmode="lin" valueType="num">
                                      <p:cBhvr additive="base">
                                        <p:cTn id="55" dur="500"/>
                                        <p:tgtEl>
                                          <p:spTgt spid="72"/>
                                        </p:tgtEl>
                                        <p:attrNameLst>
                                          <p:attrName>ppt_y</p:attrName>
                                        </p:attrNameLst>
                                      </p:cBhvr>
                                      <p:tavLst>
                                        <p:tav tm="0">
                                          <p:val>
                                            <p:strVal val="ppt_y"/>
                                          </p:val>
                                        </p:tav>
                                        <p:tav tm="100000">
                                          <p:val>
                                            <p:strVal val="1+ppt_h/2"/>
                                          </p:val>
                                        </p:tav>
                                      </p:tavLst>
                                    </p:anim>
                                    <p:set>
                                      <p:cBhvr>
                                        <p:cTn id="56" dur="1" fill="hold">
                                          <p:stCondLst>
                                            <p:cond delay="499"/>
                                          </p:stCondLst>
                                        </p:cTn>
                                        <p:tgtEl>
                                          <p:spTgt spid="72"/>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83"/>
                                        </p:tgtEl>
                                        <p:attrNameLst>
                                          <p:attrName>style.visibility</p:attrName>
                                        </p:attrNameLst>
                                      </p:cBhvr>
                                      <p:to>
                                        <p:strVal val="visible"/>
                                      </p:to>
                                    </p:set>
                                    <p:anim calcmode="lin" valueType="num">
                                      <p:cBhvr additive="base">
                                        <p:cTn id="61" dur="500" fill="hold"/>
                                        <p:tgtEl>
                                          <p:spTgt spid="83"/>
                                        </p:tgtEl>
                                        <p:attrNameLst>
                                          <p:attrName>ppt_x</p:attrName>
                                        </p:attrNameLst>
                                      </p:cBhvr>
                                      <p:tavLst>
                                        <p:tav tm="0">
                                          <p:val>
                                            <p:strVal val="#ppt_x"/>
                                          </p:val>
                                        </p:tav>
                                        <p:tav tm="100000">
                                          <p:val>
                                            <p:strVal val="#ppt_x"/>
                                          </p:val>
                                        </p:tav>
                                      </p:tavLst>
                                    </p:anim>
                                    <p:anim calcmode="lin" valueType="num">
                                      <p:cBhvr additive="base">
                                        <p:cTn id="62" dur="500" fill="hold"/>
                                        <p:tgtEl>
                                          <p:spTgt spid="83"/>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88"/>
                                        </p:tgtEl>
                                        <p:attrNameLst>
                                          <p:attrName>style.visibility</p:attrName>
                                        </p:attrNameLst>
                                      </p:cBhvr>
                                      <p:to>
                                        <p:strVal val="visible"/>
                                      </p:to>
                                    </p:set>
                                    <p:anim calcmode="lin" valueType="num">
                                      <p:cBhvr additive="base">
                                        <p:cTn id="67" dur="500" fill="hold"/>
                                        <p:tgtEl>
                                          <p:spTgt spid="88"/>
                                        </p:tgtEl>
                                        <p:attrNameLst>
                                          <p:attrName>ppt_x</p:attrName>
                                        </p:attrNameLst>
                                      </p:cBhvr>
                                      <p:tavLst>
                                        <p:tav tm="0">
                                          <p:val>
                                            <p:strVal val="#ppt_x"/>
                                          </p:val>
                                        </p:tav>
                                        <p:tav tm="100000">
                                          <p:val>
                                            <p:strVal val="#ppt_x"/>
                                          </p:val>
                                        </p:tav>
                                      </p:tavLst>
                                    </p:anim>
                                    <p:anim calcmode="lin" valueType="num">
                                      <p:cBhvr additive="base">
                                        <p:cTn id="68" dur="500" fill="hold"/>
                                        <p:tgtEl>
                                          <p:spTgt spid="88"/>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90"/>
                                        </p:tgtEl>
                                        <p:attrNameLst>
                                          <p:attrName>style.visibility</p:attrName>
                                        </p:attrNameLst>
                                      </p:cBhvr>
                                      <p:to>
                                        <p:strVal val="visible"/>
                                      </p:to>
                                    </p:set>
                                    <p:anim calcmode="lin" valueType="num">
                                      <p:cBhvr additive="base">
                                        <p:cTn id="73" dur="500" fill="hold"/>
                                        <p:tgtEl>
                                          <p:spTgt spid="90"/>
                                        </p:tgtEl>
                                        <p:attrNameLst>
                                          <p:attrName>ppt_x</p:attrName>
                                        </p:attrNameLst>
                                      </p:cBhvr>
                                      <p:tavLst>
                                        <p:tav tm="0">
                                          <p:val>
                                            <p:strVal val="#ppt_x"/>
                                          </p:val>
                                        </p:tav>
                                        <p:tav tm="100000">
                                          <p:val>
                                            <p:strVal val="#ppt_x"/>
                                          </p:val>
                                        </p:tav>
                                      </p:tavLst>
                                    </p:anim>
                                    <p:anim calcmode="lin" valueType="num">
                                      <p:cBhvr additive="base">
                                        <p:cTn id="74" dur="500" fill="hold"/>
                                        <p:tgtEl>
                                          <p:spTgt spid="9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C:\Users\User\Desktop\嘿哟家怡在这里\化学-06\14c58PICx9u.jpg"/>
          <p:cNvPicPr>
            <a:picLocks noChangeAspect="1" noChangeArrowheads="1"/>
          </p:cNvPicPr>
          <p:nvPr/>
        </p:nvPicPr>
        <p:blipFill rotWithShape="1">
          <a:blip r:embed="rId2">
            <a:extLst>
              <a:ext uri="{28A0092B-C50C-407E-A947-70E740481C1C}">
                <a14:useLocalDpi xmlns:a14="http://schemas.microsoft.com/office/drawing/2010/main" val="0"/>
              </a:ext>
            </a:extLst>
          </a:blip>
          <a:srcRect l="8819" t="3918" r="6226" b="2351"/>
          <a:stretch/>
        </p:blipFill>
        <p:spPr bwMode="auto">
          <a:xfrm>
            <a:off x="277091" y="1600200"/>
            <a:ext cx="8534400" cy="4879131"/>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Arrow Connector 3"/>
          <p:cNvCxnSpPr/>
          <p:nvPr/>
        </p:nvCxnSpPr>
        <p:spPr>
          <a:xfrm>
            <a:off x="8839200" y="1828800"/>
            <a:ext cx="0" cy="990600"/>
          </a:xfrm>
          <a:prstGeom prst="straightConnector1">
            <a:avLst/>
          </a:prstGeom>
          <a:ln w="381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8506691" y="2971799"/>
            <a:ext cx="609600" cy="584775"/>
          </a:xfrm>
          <a:prstGeom prst="rect">
            <a:avLst/>
          </a:prstGeom>
          <a:ln>
            <a:solidFill>
              <a:schemeClr val="accent6">
                <a:lumMod val="75000"/>
              </a:schemeClr>
            </a:solid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3200" b="1" dirty="0">
                <a:solidFill>
                  <a:schemeClr val="accent6">
                    <a:lumMod val="75000"/>
                  </a:schemeClr>
                </a:solidFill>
              </a:rPr>
              <a:t>族</a:t>
            </a:r>
            <a:endParaRPr lang="en-US" sz="3200" b="1" dirty="0">
              <a:solidFill>
                <a:schemeClr val="accent6">
                  <a:lumMod val="75000"/>
                </a:schemeClr>
              </a:solidFill>
            </a:endParaRPr>
          </a:p>
        </p:txBody>
      </p:sp>
      <p:sp>
        <p:nvSpPr>
          <p:cNvPr id="7" name="Rectangle 6"/>
          <p:cNvSpPr/>
          <p:nvPr/>
        </p:nvSpPr>
        <p:spPr>
          <a:xfrm>
            <a:off x="457200" y="381000"/>
            <a:ext cx="381000" cy="304800"/>
          </a:xfrm>
          <a:prstGeom prst="rect">
            <a:avLst/>
          </a:prstGeom>
          <a:solidFill>
            <a:srgbClr val="07D3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83673" y="381000"/>
            <a:ext cx="381000" cy="30480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1524000" y="381000"/>
            <a:ext cx="381000" cy="3048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2057400" y="381000"/>
            <a:ext cx="381000" cy="304800"/>
          </a:xfrm>
          <a:prstGeom prst="rect">
            <a:avLst/>
          </a:prstGeom>
          <a:solidFill>
            <a:srgbClr val="F5FD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1524000" y="990600"/>
            <a:ext cx="381000" cy="304800"/>
          </a:xfrm>
          <a:prstGeom prst="rect">
            <a:avLst/>
          </a:prstGeom>
          <a:solidFill>
            <a:srgbClr val="E812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2057400" y="990600"/>
            <a:ext cx="381000" cy="304800"/>
          </a:xfrm>
          <a:prstGeom prst="rect">
            <a:avLst/>
          </a:prstGeom>
          <a:solidFill>
            <a:srgbClr val="F793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5715000" y="990600"/>
            <a:ext cx="381000" cy="304800"/>
          </a:xfrm>
          <a:prstGeom prst="rect">
            <a:avLst/>
          </a:prstGeom>
          <a:solidFill>
            <a:srgbClr val="F793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5715000" y="381000"/>
            <a:ext cx="381000" cy="304800"/>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2535382" y="317956"/>
            <a:ext cx="2874818" cy="430887"/>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2200" b="1" dirty="0">
                <a:solidFill>
                  <a:schemeClr val="accent6">
                    <a:lumMod val="75000"/>
                  </a:schemeClr>
                </a:solidFill>
              </a:rPr>
              <a:t>主族元素</a:t>
            </a:r>
            <a:r>
              <a:rPr lang="en-US" altLang="zh-CN" sz="2200" b="1" dirty="0">
                <a:solidFill>
                  <a:schemeClr val="accent6">
                    <a:lumMod val="75000"/>
                  </a:schemeClr>
                </a:solidFill>
              </a:rPr>
              <a:t>(</a:t>
            </a:r>
            <a:r>
              <a:rPr lang="zh-CN" altLang="en-US" sz="2200" b="1" dirty="0">
                <a:solidFill>
                  <a:schemeClr val="accent6">
                    <a:lumMod val="75000"/>
                  </a:schemeClr>
                </a:solidFill>
              </a:rPr>
              <a:t>典型元素</a:t>
            </a:r>
            <a:r>
              <a:rPr lang="en-US" altLang="zh-CN" sz="2200" b="1" dirty="0">
                <a:solidFill>
                  <a:schemeClr val="accent6">
                    <a:lumMod val="75000"/>
                  </a:schemeClr>
                </a:solidFill>
              </a:rPr>
              <a:t>)</a:t>
            </a:r>
            <a:endParaRPr lang="en-US" sz="2200" b="1" dirty="0">
              <a:solidFill>
                <a:schemeClr val="accent6">
                  <a:lumMod val="75000"/>
                </a:schemeClr>
              </a:solidFill>
            </a:endParaRPr>
          </a:p>
        </p:txBody>
      </p:sp>
      <p:sp>
        <p:nvSpPr>
          <p:cNvPr id="17" name="TextBox 16"/>
          <p:cNvSpPr txBox="1"/>
          <p:nvPr/>
        </p:nvSpPr>
        <p:spPr>
          <a:xfrm>
            <a:off x="2535382" y="927556"/>
            <a:ext cx="2874818" cy="430887"/>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2200" b="1" dirty="0">
                <a:solidFill>
                  <a:schemeClr val="accent6">
                    <a:lumMod val="75000"/>
                  </a:schemeClr>
                </a:solidFill>
              </a:rPr>
              <a:t>副族元素</a:t>
            </a:r>
            <a:r>
              <a:rPr lang="en-US" altLang="zh-CN" sz="2200" b="1" dirty="0">
                <a:solidFill>
                  <a:schemeClr val="accent6">
                    <a:lumMod val="75000"/>
                  </a:schemeClr>
                </a:solidFill>
              </a:rPr>
              <a:t>(</a:t>
            </a:r>
            <a:r>
              <a:rPr lang="zh-CN" altLang="en-US" sz="2200" b="1" dirty="0">
                <a:solidFill>
                  <a:schemeClr val="accent6">
                    <a:lumMod val="75000"/>
                  </a:schemeClr>
                </a:solidFill>
              </a:rPr>
              <a:t>过渡元素</a:t>
            </a:r>
            <a:r>
              <a:rPr lang="en-US" altLang="zh-CN" sz="2200" b="1" dirty="0">
                <a:solidFill>
                  <a:schemeClr val="accent6">
                    <a:lumMod val="75000"/>
                  </a:schemeClr>
                </a:solidFill>
              </a:rPr>
              <a:t>)</a:t>
            </a:r>
            <a:endParaRPr lang="en-US" sz="2200" b="1" dirty="0">
              <a:solidFill>
                <a:schemeClr val="accent6">
                  <a:lumMod val="75000"/>
                </a:schemeClr>
              </a:solidFill>
            </a:endParaRPr>
          </a:p>
        </p:txBody>
      </p:sp>
      <p:sp>
        <p:nvSpPr>
          <p:cNvPr id="18" name="TextBox 17"/>
          <p:cNvSpPr txBox="1"/>
          <p:nvPr/>
        </p:nvSpPr>
        <p:spPr>
          <a:xfrm>
            <a:off x="6324600" y="380301"/>
            <a:ext cx="1731818" cy="430887"/>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2200" b="1" dirty="0">
                <a:solidFill>
                  <a:schemeClr val="accent6">
                    <a:lumMod val="75000"/>
                  </a:schemeClr>
                </a:solidFill>
              </a:rPr>
              <a:t>稀有气体</a:t>
            </a:r>
            <a:endParaRPr lang="en-US" sz="2200" b="1" dirty="0">
              <a:solidFill>
                <a:schemeClr val="accent6">
                  <a:lumMod val="75000"/>
                </a:schemeClr>
              </a:solidFill>
            </a:endParaRPr>
          </a:p>
        </p:txBody>
      </p:sp>
      <p:sp>
        <p:nvSpPr>
          <p:cNvPr id="19" name="TextBox 18"/>
          <p:cNvSpPr txBox="1"/>
          <p:nvPr/>
        </p:nvSpPr>
        <p:spPr>
          <a:xfrm>
            <a:off x="6324600" y="914400"/>
            <a:ext cx="1731818" cy="430887"/>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2200" b="1" dirty="0">
                <a:solidFill>
                  <a:schemeClr val="accent6">
                    <a:lumMod val="75000"/>
                  </a:schemeClr>
                </a:solidFill>
              </a:rPr>
              <a:t>内过渡元素</a:t>
            </a:r>
            <a:endParaRPr lang="en-US" sz="2200" b="1" dirty="0">
              <a:solidFill>
                <a:schemeClr val="accent6">
                  <a:lumMod val="75000"/>
                </a:schemeClr>
              </a:solidFill>
            </a:endParaRPr>
          </a:p>
        </p:txBody>
      </p:sp>
      <p:sp>
        <p:nvSpPr>
          <p:cNvPr id="20" name="TextBox 19"/>
          <p:cNvSpPr txBox="1"/>
          <p:nvPr/>
        </p:nvSpPr>
        <p:spPr>
          <a:xfrm>
            <a:off x="8001024" y="1714488"/>
            <a:ext cx="642910" cy="261610"/>
          </a:xfrm>
          <a:prstGeom prst="rect">
            <a:avLst/>
          </a:prstGeom>
          <a:noFill/>
        </p:spPr>
        <p:txBody>
          <a:bodyPr wrap="square" rtlCol="0">
            <a:spAutoFit/>
          </a:bodyPr>
          <a:lstStyle/>
          <a:p>
            <a:r>
              <a:rPr lang="en-US" altLang="zh-CN" sz="1100" dirty="0">
                <a:latin typeface="Times New Roman" pitchFamily="18" charset="0"/>
                <a:cs typeface="Times New Roman" pitchFamily="18" charset="0"/>
              </a:rPr>
              <a:t>VIII</a:t>
            </a:r>
            <a:r>
              <a:rPr lang="zh-CN" altLang="en-US" sz="1100" dirty="0">
                <a:latin typeface="Times New Roman" pitchFamily="18" charset="0"/>
                <a:cs typeface="Times New Roman" pitchFamily="18" charset="0"/>
              </a:rPr>
              <a:t> </a:t>
            </a:r>
            <a:r>
              <a:rPr lang="en-US" altLang="zh-CN" sz="1100" dirty="0">
                <a:latin typeface="Times New Roman" pitchFamily="18" charset="0"/>
                <a:cs typeface="Times New Roman" pitchFamily="18" charset="0"/>
              </a:rPr>
              <a:t>A</a:t>
            </a:r>
            <a:endParaRPr lang="en-US" sz="1100" dirty="0">
              <a:latin typeface="Times New Roman" pitchFamily="18" charset="0"/>
              <a:cs typeface="Times New Roman" pitchFamily="18" charset="0"/>
            </a:endParaRPr>
          </a:p>
        </p:txBody>
      </p:sp>
    </p:spTree>
    <p:extLst>
      <p:ext uri="{BB962C8B-B14F-4D97-AF65-F5344CB8AC3E}">
        <p14:creationId xmlns:p14="http://schemas.microsoft.com/office/powerpoint/2010/main" val="560794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6.3</a:t>
            </a:r>
            <a:r>
              <a:rPr lang="zh-CN" altLang="en-US" b="1" dirty="0"/>
              <a:t>解读元素周期表</a:t>
            </a:r>
            <a:endParaRPr lang="en-US" dirty="0"/>
          </a:p>
        </p:txBody>
      </p:sp>
      <p:pic>
        <p:nvPicPr>
          <p:cNvPr id="5122" name="Picture 2" descr="C:\Users\User\Desktop\嘿哟家怡在这里\化学-06\元素週期表結構.sv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828800"/>
            <a:ext cx="8458200" cy="44958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76200" y="1964591"/>
            <a:ext cx="811441" cy="3293209"/>
          </a:xfrm>
          <a:prstGeom prst="rect">
            <a:avLst/>
          </a:prstGeom>
          <a:solidFill>
            <a:schemeClr val="bg1"/>
          </a:solidFill>
        </p:spPr>
        <p:txBody>
          <a:bodyPr wrap="none" rtlCol="0">
            <a:spAutoFit/>
          </a:bodyPr>
          <a:lstStyle/>
          <a:p>
            <a:r>
              <a:rPr lang="en-US" altLang="zh-CN" sz="2400" dirty="0">
                <a:solidFill>
                  <a:srgbClr val="002060"/>
                </a:solidFill>
              </a:rPr>
              <a:t>I A</a:t>
            </a:r>
            <a:r>
              <a:rPr lang="zh-CN" altLang="en-US" sz="2400" dirty="0">
                <a:solidFill>
                  <a:srgbClr val="002060"/>
                </a:solidFill>
              </a:rPr>
              <a:t>族</a:t>
            </a:r>
            <a:endParaRPr lang="en-US" altLang="zh-CN" sz="2400" dirty="0">
              <a:solidFill>
                <a:srgbClr val="002060"/>
              </a:solidFill>
            </a:endParaRPr>
          </a:p>
          <a:p>
            <a:r>
              <a:rPr lang="en-US" altLang="zh-CN" sz="2400" dirty="0">
                <a:solidFill>
                  <a:srgbClr val="002060"/>
                </a:solidFill>
              </a:rPr>
              <a:t>1s</a:t>
            </a:r>
            <a:r>
              <a:rPr lang="en-US" altLang="zh-CN" sz="2400" baseline="30000" dirty="0">
                <a:solidFill>
                  <a:srgbClr val="002060"/>
                </a:solidFill>
              </a:rPr>
              <a:t>1</a:t>
            </a:r>
            <a:endParaRPr lang="en-US" altLang="zh-CN" sz="2400" dirty="0">
              <a:solidFill>
                <a:srgbClr val="002060"/>
              </a:solidFill>
            </a:endParaRPr>
          </a:p>
          <a:p>
            <a:r>
              <a:rPr lang="en-US" altLang="zh-CN" sz="2400" dirty="0">
                <a:solidFill>
                  <a:srgbClr val="002060"/>
                </a:solidFill>
              </a:rPr>
              <a:t>2s</a:t>
            </a:r>
            <a:r>
              <a:rPr lang="en-US" altLang="zh-CN" sz="2400" baseline="30000" dirty="0">
                <a:solidFill>
                  <a:srgbClr val="002060"/>
                </a:solidFill>
              </a:rPr>
              <a:t>1</a:t>
            </a:r>
          </a:p>
          <a:p>
            <a:r>
              <a:rPr lang="en-US" altLang="zh-CN" sz="2400" dirty="0">
                <a:solidFill>
                  <a:srgbClr val="002060"/>
                </a:solidFill>
              </a:rPr>
              <a:t>3s</a:t>
            </a:r>
            <a:r>
              <a:rPr lang="en-US" altLang="zh-CN" sz="2400" baseline="30000" dirty="0">
                <a:solidFill>
                  <a:srgbClr val="002060"/>
                </a:solidFill>
              </a:rPr>
              <a:t>1</a:t>
            </a:r>
            <a:r>
              <a:rPr lang="en-US" altLang="zh-CN" sz="2400" dirty="0">
                <a:solidFill>
                  <a:srgbClr val="002060"/>
                </a:solidFill>
              </a:rPr>
              <a:t> </a:t>
            </a:r>
          </a:p>
          <a:p>
            <a:r>
              <a:rPr lang="en-US" altLang="zh-CN" sz="2400" dirty="0">
                <a:solidFill>
                  <a:srgbClr val="002060"/>
                </a:solidFill>
              </a:rPr>
              <a:t>4s</a:t>
            </a:r>
            <a:r>
              <a:rPr lang="en-US" altLang="zh-CN" sz="2400" baseline="30000" dirty="0">
                <a:solidFill>
                  <a:srgbClr val="002060"/>
                </a:solidFill>
              </a:rPr>
              <a:t>1</a:t>
            </a:r>
            <a:r>
              <a:rPr lang="en-US" altLang="zh-CN" sz="2400" dirty="0">
                <a:solidFill>
                  <a:srgbClr val="002060"/>
                </a:solidFill>
              </a:rPr>
              <a:t> </a:t>
            </a:r>
          </a:p>
          <a:p>
            <a:r>
              <a:rPr lang="en-US" altLang="zh-CN" sz="2400" dirty="0">
                <a:solidFill>
                  <a:srgbClr val="002060"/>
                </a:solidFill>
              </a:rPr>
              <a:t>5s</a:t>
            </a:r>
            <a:r>
              <a:rPr lang="en-US" altLang="zh-CN" sz="2400" baseline="30000" dirty="0">
                <a:solidFill>
                  <a:srgbClr val="002060"/>
                </a:solidFill>
              </a:rPr>
              <a:t>1</a:t>
            </a:r>
            <a:r>
              <a:rPr lang="en-US" altLang="zh-CN" sz="2400" dirty="0">
                <a:solidFill>
                  <a:srgbClr val="002060"/>
                </a:solidFill>
              </a:rPr>
              <a:t> </a:t>
            </a:r>
          </a:p>
          <a:p>
            <a:r>
              <a:rPr lang="en-US" altLang="zh-CN" sz="2400" dirty="0">
                <a:solidFill>
                  <a:srgbClr val="002060"/>
                </a:solidFill>
              </a:rPr>
              <a:t>6s</a:t>
            </a:r>
            <a:r>
              <a:rPr lang="en-US" altLang="zh-CN" sz="2400" baseline="30000" dirty="0">
                <a:solidFill>
                  <a:srgbClr val="002060"/>
                </a:solidFill>
              </a:rPr>
              <a:t>1</a:t>
            </a:r>
            <a:r>
              <a:rPr lang="en-US" altLang="zh-CN" sz="2400" dirty="0">
                <a:solidFill>
                  <a:srgbClr val="002060"/>
                </a:solidFill>
              </a:rPr>
              <a:t> </a:t>
            </a:r>
          </a:p>
          <a:p>
            <a:r>
              <a:rPr lang="en-US" altLang="zh-CN" sz="2400" dirty="0">
                <a:solidFill>
                  <a:srgbClr val="002060"/>
                </a:solidFill>
              </a:rPr>
              <a:t>7s</a:t>
            </a:r>
            <a:r>
              <a:rPr lang="en-US" altLang="zh-CN" sz="2400" baseline="30000" dirty="0">
                <a:solidFill>
                  <a:srgbClr val="002060"/>
                </a:solidFill>
              </a:rPr>
              <a:t>1</a:t>
            </a:r>
          </a:p>
          <a:p>
            <a:endParaRPr lang="en-US" altLang="zh-CN" sz="2400" baseline="30000" dirty="0">
              <a:solidFill>
                <a:srgbClr val="002060"/>
              </a:solidFill>
            </a:endParaRPr>
          </a:p>
        </p:txBody>
      </p:sp>
      <p:sp>
        <p:nvSpPr>
          <p:cNvPr id="5" name="TextBox 4"/>
          <p:cNvSpPr txBox="1"/>
          <p:nvPr/>
        </p:nvSpPr>
        <p:spPr>
          <a:xfrm>
            <a:off x="76200" y="1371600"/>
            <a:ext cx="1625766" cy="461665"/>
          </a:xfrm>
          <a:prstGeom prst="rect">
            <a:avLst/>
          </a:prstGeom>
          <a:solidFill>
            <a:schemeClr val="accent1"/>
          </a:solidFill>
        </p:spPr>
        <p:txBody>
          <a:bodyPr wrap="none" rtlCol="0">
            <a:spAutoFit/>
          </a:bodyPr>
          <a:lstStyle/>
          <a:p>
            <a:r>
              <a:rPr lang="en-US" sz="2400" b="1" dirty="0">
                <a:solidFill>
                  <a:srgbClr val="002060"/>
                </a:solidFill>
              </a:rPr>
              <a:t>I A </a:t>
            </a:r>
            <a:r>
              <a:rPr lang="zh-CN" altLang="en-US" sz="2400" b="1" dirty="0">
                <a:solidFill>
                  <a:srgbClr val="002060"/>
                </a:solidFill>
              </a:rPr>
              <a:t>族：</a:t>
            </a:r>
            <a:r>
              <a:rPr lang="en-US" altLang="zh-CN" sz="2400" b="1" dirty="0">
                <a:solidFill>
                  <a:srgbClr val="002060"/>
                </a:solidFill>
              </a:rPr>
              <a:t>ns</a:t>
            </a:r>
            <a:r>
              <a:rPr lang="en-US" altLang="zh-CN" sz="2400" b="1" baseline="30000" dirty="0">
                <a:solidFill>
                  <a:srgbClr val="002060"/>
                </a:solidFill>
              </a:rPr>
              <a:t>1</a:t>
            </a:r>
            <a:endParaRPr lang="en-US" sz="2400" b="1" dirty="0">
              <a:solidFill>
                <a:srgbClr val="002060"/>
              </a:solidFill>
            </a:endParaRPr>
          </a:p>
        </p:txBody>
      </p:sp>
      <p:sp>
        <p:nvSpPr>
          <p:cNvPr id="6" name="TextBox 5"/>
          <p:cNvSpPr txBox="1"/>
          <p:nvPr/>
        </p:nvSpPr>
        <p:spPr>
          <a:xfrm>
            <a:off x="762000" y="1964591"/>
            <a:ext cx="888385" cy="3293209"/>
          </a:xfrm>
          <a:prstGeom prst="rect">
            <a:avLst/>
          </a:prstGeom>
          <a:solidFill>
            <a:schemeClr val="bg1"/>
          </a:solidFill>
        </p:spPr>
        <p:txBody>
          <a:bodyPr wrap="none" rtlCol="0">
            <a:spAutoFit/>
          </a:bodyPr>
          <a:lstStyle/>
          <a:p>
            <a:r>
              <a:rPr lang="en-US" altLang="zh-CN" sz="2400" dirty="0">
                <a:solidFill>
                  <a:srgbClr val="002060"/>
                </a:solidFill>
              </a:rPr>
              <a:t>II A</a:t>
            </a:r>
            <a:r>
              <a:rPr lang="zh-CN" altLang="en-US" sz="2400" dirty="0">
                <a:solidFill>
                  <a:srgbClr val="002060"/>
                </a:solidFill>
              </a:rPr>
              <a:t>族</a:t>
            </a:r>
            <a:endParaRPr lang="en-US" altLang="zh-CN" sz="2400" dirty="0">
              <a:solidFill>
                <a:srgbClr val="002060"/>
              </a:solidFill>
            </a:endParaRPr>
          </a:p>
          <a:p>
            <a:endParaRPr lang="en-US" altLang="zh-CN" sz="2400" dirty="0">
              <a:solidFill>
                <a:srgbClr val="002060"/>
              </a:solidFill>
            </a:endParaRPr>
          </a:p>
          <a:p>
            <a:r>
              <a:rPr lang="en-US" altLang="zh-CN" sz="2400" dirty="0">
                <a:solidFill>
                  <a:srgbClr val="002060"/>
                </a:solidFill>
              </a:rPr>
              <a:t>2s</a:t>
            </a:r>
            <a:r>
              <a:rPr lang="en-US" altLang="zh-CN" sz="2400" baseline="30000" dirty="0">
                <a:solidFill>
                  <a:srgbClr val="002060"/>
                </a:solidFill>
              </a:rPr>
              <a:t>2</a:t>
            </a:r>
          </a:p>
          <a:p>
            <a:r>
              <a:rPr lang="en-US" altLang="zh-CN" sz="2400" dirty="0">
                <a:solidFill>
                  <a:srgbClr val="002060"/>
                </a:solidFill>
              </a:rPr>
              <a:t>3s</a:t>
            </a:r>
            <a:r>
              <a:rPr lang="en-US" altLang="zh-CN" sz="2400" baseline="30000" dirty="0">
                <a:solidFill>
                  <a:srgbClr val="002060"/>
                </a:solidFill>
              </a:rPr>
              <a:t>2</a:t>
            </a:r>
            <a:r>
              <a:rPr lang="en-US" altLang="zh-CN" sz="2400" dirty="0">
                <a:solidFill>
                  <a:srgbClr val="002060"/>
                </a:solidFill>
              </a:rPr>
              <a:t> </a:t>
            </a:r>
          </a:p>
          <a:p>
            <a:r>
              <a:rPr lang="en-US" altLang="zh-CN" sz="2400" dirty="0">
                <a:solidFill>
                  <a:srgbClr val="002060"/>
                </a:solidFill>
              </a:rPr>
              <a:t>4s</a:t>
            </a:r>
            <a:r>
              <a:rPr lang="en-US" altLang="zh-CN" sz="2400" baseline="30000" dirty="0">
                <a:solidFill>
                  <a:srgbClr val="002060"/>
                </a:solidFill>
              </a:rPr>
              <a:t>2</a:t>
            </a:r>
            <a:r>
              <a:rPr lang="en-US" altLang="zh-CN" sz="2400" dirty="0">
                <a:solidFill>
                  <a:srgbClr val="002060"/>
                </a:solidFill>
              </a:rPr>
              <a:t> </a:t>
            </a:r>
          </a:p>
          <a:p>
            <a:r>
              <a:rPr lang="en-US" altLang="zh-CN" sz="2400" dirty="0">
                <a:solidFill>
                  <a:srgbClr val="002060"/>
                </a:solidFill>
              </a:rPr>
              <a:t>5s</a:t>
            </a:r>
            <a:r>
              <a:rPr lang="en-US" altLang="zh-CN" sz="2400" baseline="30000" dirty="0">
                <a:solidFill>
                  <a:srgbClr val="002060"/>
                </a:solidFill>
              </a:rPr>
              <a:t>2</a:t>
            </a:r>
            <a:r>
              <a:rPr lang="en-US" altLang="zh-CN" sz="2400" dirty="0">
                <a:solidFill>
                  <a:srgbClr val="002060"/>
                </a:solidFill>
              </a:rPr>
              <a:t> </a:t>
            </a:r>
          </a:p>
          <a:p>
            <a:r>
              <a:rPr lang="en-US" altLang="zh-CN" sz="2400" dirty="0">
                <a:solidFill>
                  <a:srgbClr val="002060"/>
                </a:solidFill>
              </a:rPr>
              <a:t>6s</a:t>
            </a:r>
            <a:r>
              <a:rPr lang="en-US" altLang="zh-CN" sz="2400" baseline="30000" dirty="0">
                <a:solidFill>
                  <a:srgbClr val="002060"/>
                </a:solidFill>
              </a:rPr>
              <a:t>2</a:t>
            </a:r>
            <a:r>
              <a:rPr lang="en-US" altLang="zh-CN" sz="2400" dirty="0">
                <a:solidFill>
                  <a:srgbClr val="002060"/>
                </a:solidFill>
              </a:rPr>
              <a:t> </a:t>
            </a:r>
          </a:p>
          <a:p>
            <a:r>
              <a:rPr lang="en-US" altLang="zh-CN" sz="2400" dirty="0">
                <a:solidFill>
                  <a:srgbClr val="002060"/>
                </a:solidFill>
              </a:rPr>
              <a:t>7s</a:t>
            </a:r>
            <a:r>
              <a:rPr lang="en-US" altLang="zh-CN" sz="2400" baseline="30000" dirty="0">
                <a:solidFill>
                  <a:srgbClr val="002060"/>
                </a:solidFill>
              </a:rPr>
              <a:t>2</a:t>
            </a:r>
          </a:p>
          <a:p>
            <a:endParaRPr lang="en-US" altLang="zh-CN" sz="2400" baseline="30000" dirty="0">
              <a:solidFill>
                <a:srgbClr val="002060"/>
              </a:solidFill>
            </a:endParaRPr>
          </a:p>
        </p:txBody>
      </p:sp>
      <p:sp>
        <p:nvSpPr>
          <p:cNvPr id="7" name="TextBox 6"/>
          <p:cNvSpPr txBox="1"/>
          <p:nvPr/>
        </p:nvSpPr>
        <p:spPr>
          <a:xfrm>
            <a:off x="762000" y="1371600"/>
            <a:ext cx="1702710" cy="461665"/>
          </a:xfrm>
          <a:prstGeom prst="rect">
            <a:avLst/>
          </a:prstGeom>
          <a:solidFill>
            <a:schemeClr val="accent1"/>
          </a:solidFill>
        </p:spPr>
        <p:txBody>
          <a:bodyPr wrap="none" rtlCol="0">
            <a:spAutoFit/>
          </a:bodyPr>
          <a:lstStyle/>
          <a:p>
            <a:r>
              <a:rPr lang="en-US" sz="2400" b="1" dirty="0">
                <a:solidFill>
                  <a:srgbClr val="002060"/>
                </a:solidFill>
              </a:rPr>
              <a:t>I</a:t>
            </a:r>
            <a:r>
              <a:rPr lang="en-US" altLang="zh-CN" sz="2400" b="1" dirty="0">
                <a:solidFill>
                  <a:srgbClr val="002060"/>
                </a:solidFill>
              </a:rPr>
              <a:t>I </a:t>
            </a:r>
            <a:r>
              <a:rPr lang="en-US" sz="2400" b="1" dirty="0">
                <a:solidFill>
                  <a:srgbClr val="002060"/>
                </a:solidFill>
              </a:rPr>
              <a:t>A </a:t>
            </a:r>
            <a:r>
              <a:rPr lang="zh-CN" altLang="en-US" sz="2400" b="1" dirty="0">
                <a:solidFill>
                  <a:srgbClr val="002060"/>
                </a:solidFill>
              </a:rPr>
              <a:t>族：</a:t>
            </a:r>
            <a:r>
              <a:rPr lang="en-US" altLang="zh-CN" sz="2400" b="1" dirty="0">
                <a:solidFill>
                  <a:srgbClr val="002060"/>
                </a:solidFill>
              </a:rPr>
              <a:t>ns</a:t>
            </a:r>
            <a:r>
              <a:rPr lang="en-US" altLang="zh-CN" sz="2400" b="1" baseline="30000" dirty="0">
                <a:solidFill>
                  <a:srgbClr val="002060"/>
                </a:solidFill>
              </a:rPr>
              <a:t>2</a:t>
            </a:r>
            <a:endParaRPr lang="en-US" sz="2400" b="1" dirty="0">
              <a:solidFill>
                <a:srgbClr val="002060"/>
              </a:solidFill>
            </a:endParaRPr>
          </a:p>
        </p:txBody>
      </p:sp>
      <p:sp>
        <p:nvSpPr>
          <p:cNvPr id="8" name="TextBox 7"/>
          <p:cNvSpPr txBox="1"/>
          <p:nvPr/>
        </p:nvSpPr>
        <p:spPr>
          <a:xfrm>
            <a:off x="4771484" y="2339876"/>
            <a:ext cx="1172116" cy="2308324"/>
          </a:xfrm>
          <a:prstGeom prst="rect">
            <a:avLst/>
          </a:prstGeom>
          <a:solidFill>
            <a:schemeClr val="bg1"/>
          </a:solidFill>
        </p:spPr>
        <p:txBody>
          <a:bodyPr wrap="none" rtlCol="0">
            <a:spAutoFit/>
          </a:bodyPr>
          <a:lstStyle/>
          <a:p>
            <a:r>
              <a:rPr lang="en-US" altLang="zh-CN" sz="2400" dirty="0">
                <a:solidFill>
                  <a:srgbClr val="002060"/>
                </a:solidFill>
              </a:rPr>
              <a:t>III A</a:t>
            </a:r>
            <a:r>
              <a:rPr lang="zh-CN" altLang="en-US" sz="2400" dirty="0">
                <a:solidFill>
                  <a:srgbClr val="002060"/>
                </a:solidFill>
              </a:rPr>
              <a:t>族</a:t>
            </a:r>
            <a:endParaRPr lang="en-US" altLang="zh-CN" sz="2400" dirty="0">
              <a:solidFill>
                <a:srgbClr val="002060"/>
              </a:solidFill>
            </a:endParaRPr>
          </a:p>
          <a:p>
            <a:r>
              <a:rPr lang="en-US" altLang="zh-CN" sz="2400" dirty="0">
                <a:solidFill>
                  <a:srgbClr val="002060"/>
                </a:solidFill>
              </a:rPr>
              <a:t>2s</a:t>
            </a:r>
            <a:r>
              <a:rPr lang="en-US" altLang="zh-CN" sz="2400" baseline="30000" dirty="0">
                <a:solidFill>
                  <a:srgbClr val="002060"/>
                </a:solidFill>
              </a:rPr>
              <a:t>2</a:t>
            </a:r>
            <a:r>
              <a:rPr lang="en-US" altLang="zh-CN" sz="2400" dirty="0">
                <a:solidFill>
                  <a:srgbClr val="002060"/>
                </a:solidFill>
              </a:rPr>
              <a:t> 2p</a:t>
            </a:r>
            <a:r>
              <a:rPr lang="en-US" altLang="zh-CN" sz="2400" baseline="30000" dirty="0">
                <a:solidFill>
                  <a:srgbClr val="002060"/>
                </a:solidFill>
              </a:rPr>
              <a:t>1</a:t>
            </a:r>
          </a:p>
          <a:p>
            <a:r>
              <a:rPr lang="en-US" altLang="zh-CN" sz="2400" dirty="0">
                <a:solidFill>
                  <a:srgbClr val="002060"/>
                </a:solidFill>
              </a:rPr>
              <a:t>3s</a:t>
            </a:r>
            <a:r>
              <a:rPr lang="en-US" altLang="zh-CN" sz="2400" baseline="30000" dirty="0">
                <a:solidFill>
                  <a:srgbClr val="002060"/>
                </a:solidFill>
              </a:rPr>
              <a:t>2</a:t>
            </a:r>
            <a:r>
              <a:rPr lang="en-US" altLang="zh-CN" sz="2400" dirty="0">
                <a:solidFill>
                  <a:srgbClr val="002060"/>
                </a:solidFill>
              </a:rPr>
              <a:t> 3p</a:t>
            </a:r>
            <a:r>
              <a:rPr lang="en-US" altLang="zh-CN" sz="2400" baseline="30000" dirty="0">
                <a:solidFill>
                  <a:srgbClr val="002060"/>
                </a:solidFill>
              </a:rPr>
              <a:t>1</a:t>
            </a:r>
            <a:endParaRPr lang="en-US" altLang="zh-CN" sz="2400" dirty="0">
              <a:solidFill>
                <a:srgbClr val="002060"/>
              </a:solidFill>
            </a:endParaRPr>
          </a:p>
          <a:p>
            <a:r>
              <a:rPr lang="en-US" altLang="zh-CN" sz="2400" dirty="0">
                <a:solidFill>
                  <a:srgbClr val="002060"/>
                </a:solidFill>
              </a:rPr>
              <a:t>4s</a:t>
            </a:r>
            <a:r>
              <a:rPr lang="en-US" altLang="zh-CN" sz="2400" baseline="30000" dirty="0">
                <a:solidFill>
                  <a:srgbClr val="002060"/>
                </a:solidFill>
              </a:rPr>
              <a:t>2</a:t>
            </a:r>
            <a:r>
              <a:rPr lang="en-US" altLang="zh-CN" sz="2400" dirty="0">
                <a:solidFill>
                  <a:srgbClr val="002060"/>
                </a:solidFill>
              </a:rPr>
              <a:t> 4p</a:t>
            </a:r>
            <a:r>
              <a:rPr lang="en-US" altLang="zh-CN" sz="2400" baseline="30000" dirty="0">
                <a:solidFill>
                  <a:srgbClr val="002060"/>
                </a:solidFill>
              </a:rPr>
              <a:t>1</a:t>
            </a:r>
            <a:endParaRPr lang="en-US" altLang="zh-CN" sz="2400" dirty="0">
              <a:solidFill>
                <a:srgbClr val="002060"/>
              </a:solidFill>
            </a:endParaRPr>
          </a:p>
          <a:p>
            <a:r>
              <a:rPr lang="en-US" altLang="zh-CN" sz="2400" dirty="0">
                <a:solidFill>
                  <a:srgbClr val="002060"/>
                </a:solidFill>
              </a:rPr>
              <a:t>5s</a:t>
            </a:r>
            <a:r>
              <a:rPr lang="en-US" altLang="zh-CN" sz="2400" baseline="30000" dirty="0">
                <a:solidFill>
                  <a:srgbClr val="002060"/>
                </a:solidFill>
              </a:rPr>
              <a:t>2</a:t>
            </a:r>
            <a:r>
              <a:rPr lang="en-US" altLang="zh-CN" sz="2400" dirty="0">
                <a:solidFill>
                  <a:srgbClr val="002060"/>
                </a:solidFill>
              </a:rPr>
              <a:t> 5p</a:t>
            </a:r>
            <a:r>
              <a:rPr lang="en-US" altLang="zh-CN" sz="2400" baseline="30000" dirty="0">
                <a:solidFill>
                  <a:srgbClr val="002060"/>
                </a:solidFill>
              </a:rPr>
              <a:t>1</a:t>
            </a:r>
            <a:endParaRPr lang="en-US" altLang="zh-CN" sz="2400" dirty="0">
              <a:solidFill>
                <a:srgbClr val="002060"/>
              </a:solidFill>
            </a:endParaRPr>
          </a:p>
          <a:p>
            <a:r>
              <a:rPr lang="en-US" altLang="zh-CN" sz="2400" dirty="0">
                <a:solidFill>
                  <a:srgbClr val="002060"/>
                </a:solidFill>
              </a:rPr>
              <a:t>6s</a:t>
            </a:r>
            <a:r>
              <a:rPr lang="en-US" altLang="zh-CN" sz="2400" baseline="30000" dirty="0">
                <a:solidFill>
                  <a:srgbClr val="002060"/>
                </a:solidFill>
              </a:rPr>
              <a:t>2</a:t>
            </a:r>
            <a:r>
              <a:rPr lang="en-US" altLang="zh-CN" sz="2400" dirty="0">
                <a:solidFill>
                  <a:srgbClr val="002060"/>
                </a:solidFill>
              </a:rPr>
              <a:t> 6p</a:t>
            </a:r>
            <a:r>
              <a:rPr lang="en-US" altLang="zh-CN" sz="2400" baseline="30000" dirty="0">
                <a:solidFill>
                  <a:srgbClr val="002060"/>
                </a:solidFill>
              </a:rPr>
              <a:t>1</a:t>
            </a:r>
            <a:endParaRPr lang="en-US" altLang="zh-CN" sz="2400" dirty="0">
              <a:solidFill>
                <a:srgbClr val="002060"/>
              </a:solidFill>
            </a:endParaRPr>
          </a:p>
        </p:txBody>
      </p:sp>
      <p:sp>
        <p:nvSpPr>
          <p:cNvPr id="9" name="TextBox 8"/>
          <p:cNvSpPr txBox="1"/>
          <p:nvPr/>
        </p:nvSpPr>
        <p:spPr>
          <a:xfrm>
            <a:off x="4780969" y="1676400"/>
            <a:ext cx="2305631" cy="461665"/>
          </a:xfrm>
          <a:prstGeom prst="rect">
            <a:avLst/>
          </a:prstGeom>
          <a:solidFill>
            <a:schemeClr val="accent1"/>
          </a:solidFill>
        </p:spPr>
        <p:txBody>
          <a:bodyPr wrap="none" rtlCol="0">
            <a:spAutoFit/>
          </a:bodyPr>
          <a:lstStyle/>
          <a:p>
            <a:r>
              <a:rPr lang="en-US" sz="2400" b="1" dirty="0">
                <a:solidFill>
                  <a:srgbClr val="002060"/>
                </a:solidFill>
              </a:rPr>
              <a:t>I</a:t>
            </a:r>
            <a:r>
              <a:rPr lang="en-US" altLang="zh-CN" sz="2400" b="1" dirty="0">
                <a:solidFill>
                  <a:srgbClr val="002060"/>
                </a:solidFill>
              </a:rPr>
              <a:t>II</a:t>
            </a:r>
            <a:r>
              <a:rPr lang="en-US" sz="2400" b="1" dirty="0">
                <a:solidFill>
                  <a:srgbClr val="002060"/>
                </a:solidFill>
              </a:rPr>
              <a:t> A </a:t>
            </a:r>
            <a:r>
              <a:rPr lang="zh-CN" altLang="en-US" sz="2400" b="1" dirty="0">
                <a:solidFill>
                  <a:srgbClr val="002060"/>
                </a:solidFill>
              </a:rPr>
              <a:t>族：</a:t>
            </a:r>
            <a:r>
              <a:rPr lang="en-US" altLang="zh-CN" sz="2400" b="1" dirty="0">
                <a:solidFill>
                  <a:srgbClr val="002060"/>
                </a:solidFill>
              </a:rPr>
              <a:t>ns</a:t>
            </a:r>
            <a:r>
              <a:rPr lang="en-US" altLang="zh-CN" sz="2400" b="1" baseline="30000" dirty="0">
                <a:solidFill>
                  <a:srgbClr val="002060"/>
                </a:solidFill>
              </a:rPr>
              <a:t>2</a:t>
            </a:r>
            <a:r>
              <a:rPr lang="en-US" altLang="zh-CN" sz="2400" b="1" dirty="0">
                <a:solidFill>
                  <a:srgbClr val="002060"/>
                </a:solidFill>
              </a:rPr>
              <a:t> np</a:t>
            </a:r>
            <a:r>
              <a:rPr lang="en-US" altLang="zh-CN" sz="2400" b="1" baseline="30000" dirty="0">
                <a:solidFill>
                  <a:srgbClr val="002060"/>
                </a:solidFill>
              </a:rPr>
              <a:t>1</a:t>
            </a:r>
            <a:endParaRPr lang="en-US" sz="2400" b="1" dirty="0">
              <a:solidFill>
                <a:srgbClr val="002060"/>
              </a:solidFill>
            </a:endParaRPr>
          </a:p>
        </p:txBody>
      </p:sp>
      <p:sp>
        <p:nvSpPr>
          <p:cNvPr id="10" name="TextBox 9"/>
          <p:cNvSpPr txBox="1"/>
          <p:nvPr/>
        </p:nvSpPr>
        <p:spPr>
          <a:xfrm>
            <a:off x="6553200" y="2339876"/>
            <a:ext cx="1172116" cy="2308324"/>
          </a:xfrm>
          <a:prstGeom prst="rect">
            <a:avLst/>
          </a:prstGeom>
          <a:solidFill>
            <a:schemeClr val="bg1"/>
          </a:solidFill>
        </p:spPr>
        <p:txBody>
          <a:bodyPr wrap="none" rtlCol="0">
            <a:spAutoFit/>
          </a:bodyPr>
          <a:lstStyle/>
          <a:p>
            <a:r>
              <a:rPr lang="en-US" altLang="zh-CN" sz="2400" dirty="0">
                <a:solidFill>
                  <a:srgbClr val="002060"/>
                </a:solidFill>
              </a:rPr>
              <a:t>VII A</a:t>
            </a:r>
            <a:r>
              <a:rPr lang="zh-CN" altLang="en-US" sz="2400" dirty="0">
                <a:solidFill>
                  <a:srgbClr val="002060"/>
                </a:solidFill>
              </a:rPr>
              <a:t>族</a:t>
            </a:r>
            <a:endParaRPr lang="en-US" altLang="zh-CN" sz="2400" dirty="0">
              <a:solidFill>
                <a:srgbClr val="002060"/>
              </a:solidFill>
            </a:endParaRPr>
          </a:p>
          <a:p>
            <a:r>
              <a:rPr lang="en-US" altLang="zh-CN" sz="2400" dirty="0">
                <a:solidFill>
                  <a:srgbClr val="002060"/>
                </a:solidFill>
              </a:rPr>
              <a:t>2s</a:t>
            </a:r>
            <a:r>
              <a:rPr lang="en-US" altLang="zh-CN" sz="2400" baseline="30000" dirty="0">
                <a:solidFill>
                  <a:srgbClr val="002060"/>
                </a:solidFill>
              </a:rPr>
              <a:t>2</a:t>
            </a:r>
            <a:r>
              <a:rPr lang="en-US" altLang="zh-CN" sz="2400" dirty="0">
                <a:solidFill>
                  <a:srgbClr val="002060"/>
                </a:solidFill>
              </a:rPr>
              <a:t> 2p</a:t>
            </a:r>
            <a:r>
              <a:rPr lang="en-US" altLang="zh-CN" sz="2400" baseline="30000" dirty="0">
                <a:solidFill>
                  <a:srgbClr val="002060"/>
                </a:solidFill>
              </a:rPr>
              <a:t>5</a:t>
            </a:r>
          </a:p>
          <a:p>
            <a:r>
              <a:rPr lang="en-US" altLang="zh-CN" sz="2400" dirty="0">
                <a:solidFill>
                  <a:srgbClr val="002060"/>
                </a:solidFill>
              </a:rPr>
              <a:t>3s</a:t>
            </a:r>
            <a:r>
              <a:rPr lang="en-US" altLang="zh-CN" sz="2400" baseline="30000" dirty="0">
                <a:solidFill>
                  <a:srgbClr val="002060"/>
                </a:solidFill>
              </a:rPr>
              <a:t>2</a:t>
            </a:r>
            <a:r>
              <a:rPr lang="en-US" altLang="zh-CN" sz="2400" dirty="0">
                <a:solidFill>
                  <a:srgbClr val="002060"/>
                </a:solidFill>
              </a:rPr>
              <a:t> 3p</a:t>
            </a:r>
            <a:r>
              <a:rPr lang="en-US" altLang="zh-CN" sz="2400" baseline="30000" dirty="0">
                <a:solidFill>
                  <a:srgbClr val="002060"/>
                </a:solidFill>
              </a:rPr>
              <a:t>5</a:t>
            </a:r>
            <a:endParaRPr lang="en-US" altLang="zh-CN" sz="2400" dirty="0">
              <a:solidFill>
                <a:srgbClr val="002060"/>
              </a:solidFill>
            </a:endParaRPr>
          </a:p>
          <a:p>
            <a:r>
              <a:rPr lang="en-US" altLang="zh-CN" sz="2400" dirty="0">
                <a:solidFill>
                  <a:srgbClr val="002060"/>
                </a:solidFill>
              </a:rPr>
              <a:t>4s</a:t>
            </a:r>
            <a:r>
              <a:rPr lang="en-US" altLang="zh-CN" sz="2400" baseline="30000" dirty="0">
                <a:solidFill>
                  <a:srgbClr val="002060"/>
                </a:solidFill>
              </a:rPr>
              <a:t>2</a:t>
            </a:r>
            <a:r>
              <a:rPr lang="en-US" altLang="zh-CN" sz="2400" dirty="0">
                <a:solidFill>
                  <a:srgbClr val="002060"/>
                </a:solidFill>
              </a:rPr>
              <a:t> 4p</a:t>
            </a:r>
            <a:r>
              <a:rPr lang="en-US" altLang="zh-CN" sz="2400" baseline="30000" dirty="0">
                <a:solidFill>
                  <a:srgbClr val="002060"/>
                </a:solidFill>
              </a:rPr>
              <a:t>5</a:t>
            </a:r>
            <a:endParaRPr lang="en-US" altLang="zh-CN" sz="2400" dirty="0">
              <a:solidFill>
                <a:srgbClr val="002060"/>
              </a:solidFill>
            </a:endParaRPr>
          </a:p>
          <a:p>
            <a:r>
              <a:rPr lang="en-US" altLang="zh-CN" sz="2400" dirty="0">
                <a:solidFill>
                  <a:srgbClr val="002060"/>
                </a:solidFill>
              </a:rPr>
              <a:t>5s</a:t>
            </a:r>
            <a:r>
              <a:rPr lang="en-US" altLang="zh-CN" sz="2400" baseline="30000" dirty="0">
                <a:solidFill>
                  <a:srgbClr val="002060"/>
                </a:solidFill>
              </a:rPr>
              <a:t>2</a:t>
            </a:r>
            <a:r>
              <a:rPr lang="en-US" altLang="zh-CN" sz="2400" dirty="0">
                <a:solidFill>
                  <a:srgbClr val="002060"/>
                </a:solidFill>
              </a:rPr>
              <a:t> 5p</a:t>
            </a:r>
            <a:r>
              <a:rPr lang="en-US" altLang="zh-CN" sz="2400" baseline="30000" dirty="0">
                <a:solidFill>
                  <a:srgbClr val="002060"/>
                </a:solidFill>
              </a:rPr>
              <a:t>5</a:t>
            </a:r>
            <a:endParaRPr lang="en-US" altLang="zh-CN" sz="2400" dirty="0">
              <a:solidFill>
                <a:srgbClr val="002060"/>
              </a:solidFill>
            </a:endParaRPr>
          </a:p>
          <a:p>
            <a:r>
              <a:rPr lang="en-US" altLang="zh-CN" sz="2400" dirty="0">
                <a:solidFill>
                  <a:srgbClr val="002060"/>
                </a:solidFill>
              </a:rPr>
              <a:t>6s</a:t>
            </a:r>
            <a:r>
              <a:rPr lang="en-US" altLang="zh-CN" sz="2400" baseline="30000" dirty="0">
                <a:solidFill>
                  <a:srgbClr val="002060"/>
                </a:solidFill>
              </a:rPr>
              <a:t>2</a:t>
            </a:r>
            <a:r>
              <a:rPr lang="en-US" altLang="zh-CN" sz="2400" dirty="0">
                <a:solidFill>
                  <a:srgbClr val="002060"/>
                </a:solidFill>
              </a:rPr>
              <a:t> 6p</a:t>
            </a:r>
            <a:r>
              <a:rPr lang="en-US" altLang="zh-CN" sz="2400" baseline="30000" dirty="0">
                <a:solidFill>
                  <a:srgbClr val="002060"/>
                </a:solidFill>
              </a:rPr>
              <a:t>5</a:t>
            </a:r>
            <a:endParaRPr lang="en-US" altLang="zh-CN" sz="2400" dirty="0">
              <a:solidFill>
                <a:srgbClr val="002060"/>
              </a:solidFill>
            </a:endParaRPr>
          </a:p>
        </p:txBody>
      </p:sp>
      <p:sp>
        <p:nvSpPr>
          <p:cNvPr id="11" name="TextBox 10"/>
          <p:cNvSpPr txBox="1"/>
          <p:nvPr/>
        </p:nvSpPr>
        <p:spPr>
          <a:xfrm>
            <a:off x="6562685" y="1676400"/>
            <a:ext cx="2393797" cy="461665"/>
          </a:xfrm>
          <a:prstGeom prst="rect">
            <a:avLst/>
          </a:prstGeom>
          <a:solidFill>
            <a:schemeClr val="accent1"/>
          </a:solidFill>
        </p:spPr>
        <p:txBody>
          <a:bodyPr wrap="none" rtlCol="0">
            <a:spAutoFit/>
          </a:bodyPr>
          <a:lstStyle/>
          <a:p>
            <a:r>
              <a:rPr lang="en-US" altLang="zh-CN" sz="2400" b="1" dirty="0">
                <a:solidFill>
                  <a:srgbClr val="002060"/>
                </a:solidFill>
              </a:rPr>
              <a:t>VII</a:t>
            </a:r>
            <a:r>
              <a:rPr lang="en-US" sz="2400" b="1" dirty="0">
                <a:solidFill>
                  <a:srgbClr val="002060"/>
                </a:solidFill>
              </a:rPr>
              <a:t> A </a:t>
            </a:r>
            <a:r>
              <a:rPr lang="zh-CN" altLang="en-US" sz="2400" b="1" dirty="0">
                <a:solidFill>
                  <a:srgbClr val="002060"/>
                </a:solidFill>
              </a:rPr>
              <a:t>族：</a:t>
            </a:r>
            <a:r>
              <a:rPr lang="en-US" altLang="zh-CN" sz="2400" b="1" dirty="0">
                <a:solidFill>
                  <a:srgbClr val="002060"/>
                </a:solidFill>
              </a:rPr>
              <a:t>ns</a:t>
            </a:r>
            <a:r>
              <a:rPr lang="en-US" altLang="zh-CN" sz="2400" b="1" baseline="30000" dirty="0">
                <a:solidFill>
                  <a:srgbClr val="002060"/>
                </a:solidFill>
              </a:rPr>
              <a:t>2</a:t>
            </a:r>
            <a:r>
              <a:rPr lang="en-US" altLang="zh-CN" sz="2400" b="1" dirty="0">
                <a:solidFill>
                  <a:srgbClr val="002060"/>
                </a:solidFill>
              </a:rPr>
              <a:t> np</a:t>
            </a:r>
            <a:r>
              <a:rPr lang="en-US" altLang="zh-CN" sz="2400" b="1" baseline="30000" dirty="0">
                <a:solidFill>
                  <a:srgbClr val="002060"/>
                </a:solidFill>
              </a:rPr>
              <a:t>5</a:t>
            </a:r>
            <a:endParaRPr lang="en-US" sz="2400" b="1" dirty="0">
              <a:solidFill>
                <a:srgbClr val="002060"/>
              </a:solidFill>
            </a:endParaRPr>
          </a:p>
        </p:txBody>
      </p:sp>
      <p:sp>
        <p:nvSpPr>
          <p:cNvPr id="12" name="TextBox 11"/>
          <p:cNvSpPr txBox="1"/>
          <p:nvPr/>
        </p:nvSpPr>
        <p:spPr>
          <a:xfrm>
            <a:off x="7286084" y="2209800"/>
            <a:ext cx="1172116" cy="2677656"/>
          </a:xfrm>
          <a:prstGeom prst="rect">
            <a:avLst/>
          </a:prstGeom>
          <a:solidFill>
            <a:schemeClr val="bg1"/>
          </a:solidFill>
        </p:spPr>
        <p:txBody>
          <a:bodyPr wrap="none" rtlCol="0">
            <a:spAutoFit/>
          </a:bodyPr>
          <a:lstStyle/>
          <a:p>
            <a:r>
              <a:rPr lang="en-US" altLang="zh-CN" sz="2400" dirty="0">
                <a:solidFill>
                  <a:srgbClr val="002060"/>
                </a:solidFill>
              </a:rPr>
              <a:t>VIII A</a:t>
            </a:r>
            <a:r>
              <a:rPr lang="zh-CN" altLang="en-US" sz="2400" dirty="0">
                <a:solidFill>
                  <a:srgbClr val="002060"/>
                </a:solidFill>
              </a:rPr>
              <a:t>族</a:t>
            </a:r>
            <a:endParaRPr lang="en-US" altLang="zh-CN" sz="2400" dirty="0">
              <a:solidFill>
                <a:srgbClr val="002060"/>
              </a:solidFill>
            </a:endParaRPr>
          </a:p>
          <a:p>
            <a:r>
              <a:rPr lang="en-US" altLang="zh-CN" sz="2400" dirty="0">
                <a:solidFill>
                  <a:srgbClr val="002060"/>
                </a:solidFill>
              </a:rPr>
              <a:t>1s</a:t>
            </a:r>
            <a:r>
              <a:rPr lang="en-US" altLang="zh-CN" sz="2400" baseline="30000" dirty="0">
                <a:solidFill>
                  <a:srgbClr val="002060"/>
                </a:solidFill>
              </a:rPr>
              <a:t>2</a:t>
            </a:r>
            <a:endParaRPr lang="en-US" altLang="zh-CN" sz="2400" dirty="0">
              <a:solidFill>
                <a:srgbClr val="002060"/>
              </a:solidFill>
            </a:endParaRPr>
          </a:p>
          <a:p>
            <a:r>
              <a:rPr lang="en-US" altLang="zh-CN" sz="2400" dirty="0">
                <a:solidFill>
                  <a:srgbClr val="002060"/>
                </a:solidFill>
              </a:rPr>
              <a:t>2s</a:t>
            </a:r>
            <a:r>
              <a:rPr lang="en-US" altLang="zh-CN" sz="2400" baseline="30000" dirty="0">
                <a:solidFill>
                  <a:srgbClr val="002060"/>
                </a:solidFill>
              </a:rPr>
              <a:t>2</a:t>
            </a:r>
            <a:r>
              <a:rPr lang="en-US" altLang="zh-CN" sz="2400" dirty="0">
                <a:solidFill>
                  <a:srgbClr val="002060"/>
                </a:solidFill>
              </a:rPr>
              <a:t> 2p</a:t>
            </a:r>
            <a:r>
              <a:rPr lang="en-US" altLang="zh-CN" sz="2400" baseline="30000" dirty="0">
                <a:solidFill>
                  <a:srgbClr val="002060"/>
                </a:solidFill>
              </a:rPr>
              <a:t>6</a:t>
            </a:r>
          </a:p>
          <a:p>
            <a:r>
              <a:rPr lang="en-US" altLang="zh-CN" sz="2400" dirty="0">
                <a:solidFill>
                  <a:srgbClr val="002060"/>
                </a:solidFill>
              </a:rPr>
              <a:t>3s</a:t>
            </a:r>
            <a:r>
              <a:rPr lang="en-US" altLang="zh-CN" sz="2400" baseline="30000" dirty="0">
                <a:solidFill>
                  <a:srgbClr val="002060"/>
                </a:solidFill>
              </a:rPr>
              <a:t>2</a:t>
            </a:r>
            <a:r>
              <a:rPr lang="en-US" altLang="zh-CN" sz="2400" dirty="0">
                <a:solidFill>
                  <a:srgbClr val="002060"/>
                </a:solidFill>
              </a:rPr>
              <a:t> 3p</a:t>
            </a:r>
            <a:r>
              <a:rPr lang="en-US" altLang="zh-CN" sz="2400" baseline="30000" dirty="0">
                <a:solidFill>
                  <a:srgbClr val="002060"/>
                </a:solidFill>
              </a:rPr>
              <a:t>6</a:t>
            </a:r>
            <a:endParaRPr lang="en-US" altLang="zh-CN" sz="2400" dirty="0">
              <a:solidFill>
                <a:srgbClr val="002060"/>
              </a:solidFill>
            </a:endParaRPr>
          </a:p>
          <a:p>
            <a:r>
              <a:rPr lang="en-US" altLang="zh-CN" sz="2400" dirty="0">
                <a:solidFill>
                  <a:srgbClr val="002060"/>
                </a:solidFill>
              </a:rPr>
              <a:t>4s</a:t>
            </a:r>
            <a:r>
              <a:rPr lang="en-US" altLang="zh-CN" sz="2400" baseline="30000" dirty="0">
                <a:solidFill>
                  <a:srgbClr val="002060"/>
                </a:solidFill>
              </a:rPr>
              <a:t>2</a:t>
            </a:r>
            <a:r>
              <a:rPr lang="en-US" altLang="zh-CN" sz="2400" dirty="0">
                <a:solidFill>
                  <a:srgbClr val="002060"/>
                </a:solidFill>
              </a:rPr>
              <a:t> 4p</a:t>
            </a:r>
            <a:r>
              <a:rPr lang="en-US" altLang="zh-CN" sz="2400" baseline="30000" dirty="0">
                <a:solidFill>
                  <a:srgbClr val="002060"/>
                </a:solidFill>
              </a:rPr>
              <a:t>6</a:t>
            </a:r>
            <a:endParaRPr lang="en-US" altLang="zh-CN" sz="2400" dirty="0">
              <a:solidFill>
                <a:srgbClr val="002060"/>
              </a:solidFill>
            </a:endParaRPr>
          </a:p>
          <a:p>
            <a:r>
              <a:rPr lang="en-US" altLang="zh-CN" sz="2400" dirty="0">
                <a:solidFill>
                  <a:srgbClr val="002060"/>
                </a:solidFill>
              </a:rPr>
              <a:t>5s</a:t>
            </a:r>
            <a:r>
              <a:rPr lang="en-US" altLang="zh-CN" sz="2400" baseline="30000" dirty="0">
                <a:solidFill>
                  <a:srgbClr val="002060"/>
                </a:solidFill>
              </a:rPr>
              <a:t>2</a:t>
            </a:r>
            <a:r>
              <a:rPr lang="en-US" altLang="zh-CN" sz="2400" dirty="0">
                <a:solidFill>
                  <a:srgbClr val="002060"/>
                </a:solidFill>
              </a:rPr>
              <a:t> 5p</a:t>
            </a:r>
            <a:r>
              <a:rPr lang="en-US" altLang="zh-CN" sz="2400" baseline="30000" dirty="0">
                <a:solidFill>
                  <a:srgbClr val="002060"/>
                </a:solidFill>
              </a:rPr>
              <a:t>6</a:t>
            </a:r>
            <a:endParaRPr lang="en-US" altLang="zh-CN" sz="2400" dirty="0">
              <a:solidFill>
                <a:srgbClr val="002060"/>
              </a:solidFill>
            </a:endParaRPr>
          </a:p>
          <a:p>
            <a:r>
              <a:rPr lang="en-US" altLang="zh-CN" sz="2400" dirty="0">
                <a:solidFill>
                  <a:srgbClr val="002060"/>
                </a:solidFill>
              </a:rPr>
              <a:t>6s</a:t>
            </a:r>
            <a:r>
              <a:rPr lang="en-US" altLang="zh-CN" sz="2400" baseline="30000" dirty="0">
                <a:solidFill>
                  <a:srgbClr val="002060"/>
                </a:solidFill>
              </a:rPr>
              <a:t>2</a:t>
            </a:r>
            <a:r>
              <a:rPr lang="en-US" altLang="zh-CN" sz="2400" dirty="0">
                <a:solidFill>
                  <a:srgbClr val="002060"/>
                </a:solidFill>
              </a:rPr>
              <a:t> 6p</a:t>
            </a:r>
            <a:r>
              <a:rPr lang="en-US" altLang="zh-CN" sz="2400" baseline="30000" dirty="0">
                <a:solidFill>
                  <a:srgbClr val="002060"/>
                </a:solidFill>
              </a:rPr>
              <a:t>6</a:t>
            </a:r>
            <a:endParaRPr lang="en-US" altLang="zh-CN" sz="2400" dirty="0">
              <a:solidFill>
                <a:srgbClr val="002060"/>
              </a:solidFill>
            </a:endParaRPr>
          </a:p>
        </p:txBody>
      </p:sp>
      <p:sp>
        <p:nvSpPr>
          <p:cNvPr id="13" name="TextBox 12"/>
          <p:cNvSpPr txBox="1"/>
          <p:nvPr/>
        </p:nvSpPr>
        <p:spPr>
          <a:xfrm>
            <a:off x="6562685" y="1226403"/>
            <a:ext cx="2470741" cy="830997"/>
          </a:xfrm>
          <a:prstGeom prst="rect">
            <a:avLst/>
          </a:prstGeom>
          <a:solidFill>
            <a:schemeClr val="accent1"/>
          </a:solidFill>
        </p:spPr>
        <p:txBody>
          <a:bodyPr wrap="none" rtlCol="0">
            <a:spAutoFit/>
          </a:bodyPr>
          <a:lstStyle/>
          <a:p>
            <a:r>
              <a:rPr lang="en-US" altLang="zh-CN" sz="2400" b="1" dirty="0">
                <a:solidFill>
                  <a:srgbClr val="002060"/>
                </a:solidFill>
              </a:rPr>
              <a:t>VIII</a:t>
            </a:r>
            <a:r>
              <a:rPr lang="en-US" sz="2400" b="1" dirty="0">
                <a:solidFill>
                  <a:srgbClr val="002060"/>
                </a:solidFill>
              </a:rPr>
              <a:t> A </a:t>
            </a:r>
            <a:r>
              <a:rPr lang="zh-CN" altLang="en-US" sz="2400" b="1" dirty="0">
                <a:solidFill>
                  <a:srgbClr val="002060"/>
                </a:solidFill>
              </a:rPr>
              <a:t>族：</a:t>
            </a:r>
            <a:r>
              <a:rPr lang="en-US" altLang="zh-CN" sz="2400" b="1" dirty="0">
                <a:solidFill>
                  <a:srgbClr val="002060"/>
                </a:solidFill>
              </a:rPr>
              <a:t>ns</a:t>
            </a:r>
            <a:r>
              <a:rPr lang="en-US" altLang="zh-CN" sz="2400" b="1" baseline="30000" dirty="0">
                <a:solidFill>
                  <a:srgbClr val="002060"/>
                </a:solidFill>
              </a:rPr>
              <a:t>2</a:t>
            </a:r>
            <a:r>
              <a:rPr lang="en-US" altLang="zh-CN" sz="2400" b="1" dirty="0">
                <a:solidFill>
                  <a:srgbClr val="002060"/>
                </a:solidFill>
              </a:rPr>
              <a:t> np</a:t>
            </a:r>
            <a:r>
              <a:rPr lang="en-US" altLang="zh-CN" sz="2400" b="1" baseline="30000" dirty="0">
                <a:solidFill>
                  <a:srgbClr val="002060"/>
                </a:solidFill>
              </a:rPr>
              <a:t>6</a:t>
            </a:r>
          </a:p>
          <a:p>
            <a:r>
              <a:rPr lang="en-US" sz="2400" b="1" dirty="0">
                <a:solidFill>
                  <a:srgbClr val="002060"/>
                </a:solidFill>
              </a:rPr>
              <a:t> 	     </a:t>
            </a:r>
            <a:r>
              <a:rPr lang="zh-CN" altLang="en-US" sz="2400" b="1" dirty="0">
                <a:solidFill>
                  <a:srgbClr val="C00000"/>
                </a:solidFill>
              </a:rPr>
              <a:t>除了</a:t>
            </a:r>
            <a:r>
              <a:rPr lang="en-US" altLang="zh-CN" sz="2400" b="1" dirty="0">
                <a:solidFill>
                  <a:srgbClr val="C00000"/>
                </a:solidFill>
              </a:rPr>
              <a:t>He</a:t>
            </a:r>
            <a:endParaRPr lang="en-US" sz="2400" b="1" dirty="0">
              <a:solidFill>
                <a:srgbClr val="C00000"/>
              </a:solidFill>
            </a:endParaRPr>
          </a:p>
        </p:txBody>
      </p:sp>
    </p:spTree>
    <p:extLst>
      <p:ext uri="{BB962C8B-B14F-4D97-AF65-F5344CB8AC3E}">
        <p14:creationId xmlns:p14="http://schemas.microsoft.com/office/powerpoint/2010/main" val="841459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xit" presetSubtype="4" fill="hold" grpId="1" nodeType="clickEffect">
                                  <p:stCondLst>
                                    <p:cond delay="0"/>
                                  </p:stCondLst>
                                  <p:childTnLst>
                                    <p:anim calcmode="lin" valueType="num">
                                      <p:cBhvr additive="base">
                                        <p:cTn id="18" dur="500"/>
                                        <p:tgtEl>
                                          <p:spTgt spid="4"/>
                                        </p:tgtEl>
                                        <p:attrNameLst>
                                          <p:attrName>ppt_x</p:attrName>
                                        </p:attrNameLst>
                                      </p:cBhvr>
                                      <p:tavLst>
                                        <p:tav tm="0">
                                          <p:val>
                                            <p:strVal val="ppt_x"/>
                                          </p:val>
                                        </p:tav>
                                        <p:tav tm="100000">
                                          <p:val>
                                            <p:strVal val="ppt_x"/>
                                          </p:val>
                                        </p:tav>
                                      </p:tavLst>
                                    </p:anim>
                                    <p:anim calcmode="lin" valueType="num">
                                      <p:cBhvr additive="base">
                                        <p:cTn id="19" dur="500"/>
                                        <p:tgtEl>
                                          <p:spTgt spid="4"/>
                                        </p:tgtEl>
                                        <p:attrNameLst>
                                          <p:attrName>ppt_y</p:attrName>
                                        </p:attrNameLst>
                                      </p:cBhvr>
                                      <p:tavLst>
                                        <p:tav tm="0">
                                          <p:val>
                                            <p:strVal val="ppt_y"/>
                                          </p:val>
                                        </p:tav>
                                        <p:tav tm="100000">
                                          <p:val>
                                            <p:strVal val="1+ppt_h/2"/>
                                          </p:val>
                                        </p:tav>
                                      </p:tavLst>
                                    </p:anim>
                                    <p:set>
                                      <p:cBhvr>
                                        <p:cTn id="20" dur="1" fill="hold">
                                          <p:stCondLst>
                                            <p:cond delay="499"/>
                                          </p:stCondLst>
                                        </p:cTn>
                                        <p:tgtEl>
                                          <p:spTgt spid="4"/>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2" presetClass="exit" presetSubtype="4" fill="hold" grpId="1" nodeType="clickEffect">
                                  <p:stCondLst>
                                    <p:cond delay="0"/>
                                  </p:stCondLst>
                                  <p:childTnLst>
                                    <p:anim calcmode="lin" valueType="num">
                                      <p:cBhvr additive="base">
                                        <p:cTn id="24" dur="500"/>
                                        <p:tgtEl>
                                          <p:spTgt spid="5"/>
                                        </p:tgtEl>
                                        <p:attrNameLst>
                                          <p:attrName>ppt_x</p:attrName>
                                        </p:attrNameLst>
                                      </p:cBhvr>
                                      <p:tavLst>
                                        <p:tav tm="0">
                                          <p:val>
                                            <p:strVal val="ppt_x"/>
                                          </p:val>
                                        </p:tav>
                                        <p:tav tm="100000">
                                          <p:val>
                                            <p:strVal val="ppt_x"/>
                                          </p:val>
                                        </p:tav>
                                      </p:tavLst>
                                    </p:anim>
                                    <p:anim calcmode="lin" valueType="num">
                                      <p:cBhvr additive="base">
                                        <p:cTn id="25" dur="500"/>
                                        <p:tgtEl>
                                          <p:spTgt spid="5"/>
                                        </p:tgtEl>
                                        <p:attrNameLst>
                                          <p:attrName>ppt_y</p:attrName>
                                        </p:attrNameLst>
                                      </p:cBhvr>
                                      <p:tavLst>
                                        <p:tav tm="0">
                                          <p:val>
                                            <p:strVal val="ppt_y"/>
                                          </p:val>
                                        </p:tav>
                                        <p:tav tm="100000">
                                          <p:val>
                                            <p:strVal val="1+ppt_h/2"/>
                                          </p:val>
                                        </p:tav>
                                      </p:tavLst>
                                    </p:anim>
                                    <p:set>
                                      <p:cBhvr>
                                        <p:cTn id="26" dur="1" fill="hold">
                                          <p:stCondLst>
                                            <p:cond delay="499"/>
                                          </p:stCondLst>
                                        </p:cTn>
                                        <p:tgtEl>
                                          <p:spTgt spid="5"/>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ppt_x"/>
                                          </p:val>
                                        </p:tav>
                                        <p:tav tm="100000">
                                          <p:val>
                                            <p:strVal val="#ppt_x"/>
                                          </p:val>
                                        </p:tav>
                                      </p:tavLst>
                                    </p:anim>
                                    <p:anim calcmode="lin" valueType="num">
                                      <p:cBhvr additive="base">
                                        <p:cTn id="3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additive="base">
                                        <p:cTn id="37" dur="500" fill="hold"/>
                                        <p:tgtEl>
                                          <p:spTgt spid="7"/>
                                        </p:tgtEl>
                                        <p:attrNameLst>
                                          <p:attrName>ppt_x</p:attrName>
                                        </p:attrNameLst>
                                      </p:cBhvr>
                                      <p:tavLst>
                                        <p:tav tm="0">
                                          <p:val>
                                            <p:strVal val="#ppt_x"/>
                                          </p:val>
                                        </p:tav>
                                        <p:tav tm="100000">
                                          <p:val>
                                            <p:strVal val="#ppt_x"/>
                                          </p:val>
                                        </p:tav>
                                      </p:tavLst>
                                    </p:anim>
                                    <p:anim calcmode="lin" valueType="num">
                                      <p:cBhvr additive="base">
                                        <p:cTn id="3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xit" presetSubtype="4" fill="hold" grpId="1" nodeType="clickEffect">
                                  <p:stCondLst>
                                    <p:cond delay="0"/>
                                  </p:stCondLst>
                                  <p:childTnLst>
                                    <p:anim calcmode="lin" valueType="num">
                                      <p:cBhvr additive="base">
                                        <p:cTn id="42" dur="500"/>
                                        <p:tgtEl>
                                          <p:spTgt spid="6"/>
                                        </p:tgtEl>
                                        <p:attrNameLst>
                                          <p:attrName>ppt_x</p:attrName>
                                        </p:attrNameLst>
                                      </p:cBhvr>
                                      <p:tavLst>
                                        <p:tav tm="0">
                                          <p:val>
                                            <p:strVal val="ppt_x"/>
                                          </p:val>
                                        </p:tav>
                                        <p:tav tm="100000">
                                          <p:val>
                                            <p:strVal val="ppt_x"/>
                                          </p:val>
                                        </p:tav>
                                      </p:tavLst>
                                    </p:anim>
                                    <p:anim calcmode="lin" valueType="num">
                                      <p:cBhvr additive="base">
                                        <p:cTn id="43" dur="500"/>
                                        <p:tgtEl>
                                          <p:spTgt spid="6"/>
                                        </p:tgtEl>
                                        <p:attrNameLst>
                                          <p:attrName>ppt_y</p:attrName>
                                        </p:attrNameLst>
                                      </p:cBhvr>
                                      <p:tavLst>
                                        <p:tav tm="0">
                                          <p:val>
                                            <p:strVal val="ppt_y"/>
                                          </p:val>
                                        </p:tav>
                                        <p:tav tm="100000">
                                          <p:val>
                                            <p:strVal val="1+ppt_h/2"/>
                                          </p:val>
                                        </p:tav>
                                      </p:tavLst>
                                    </p:anim>
                                    <p:set>
                                      <p:cBhvr>
                                        <p:cTn id="44" dur="1" fill="hold">
                                          <p:stCondLst>
                                            <p:cond delay="499"/>
                                          </p:stCondLst>
                                        </p:cTn>
                                        <p:tgtEl>
                                          <p:spTgt spid="6"/>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2" presetClass="exit" presetSubtype="4" fill="hold" grpId="1" nodeType="clickEffect">
                                  <p:stCondLst>
                                    <p:cond delay="0"/>
                                  </p:stCondLst>
                                  <p:childTnLst>
                                    <p:anim calcmode="lin" valueType="num">
                                      <p:cBhvr additive="base">
                                        <p:cTn id="48" dur="500"/>
                                        <p:tgtEl>
                                          <p:spTgt spid="7"/>
                                        </p:tgtEl>
                                        <p:attrNameLst>
                                          <p:attrName>ppt_x</p:attrName>
                                        </p:attrNameLst>
                                      </p:cBhvr>
                                      <p:tavLst>
                                        <p:tav tm="0">
                                          <p:val>
                                            <p:strVal val="ppt_x"/>
                                          </p:val>
                                        </p:tav>
                                        <p:tav tm="100000">
                                          <p:val>
                                            <p:strVal val="ppt_x"/>
                                          </p:val>
                                        </p:tav>
                                      </p:tavLst>
                                    </p:anim>
                                    <p:anim calcmode="lin" valueType="num">
                                      <p:cBhvr additive="base">
                                        <p:cTn id="49" dur="500"/>
                                        <p:tgtEl>
                                          <p:spTgt spid="7"/>
                                        </p:tgtEl>
                                        <p:attrNameLst>
                                          <p:attrName>ppt_y</p:attrName>
                                        </p:attrNameLst>
                                      </p:cBhvr>
                                      <p:tavLst>
                                        <p:tav tm="0">
                                          <p:val>
                                            <p:strVal val="ppt_y"/>
                                          </p:val>
                                        </p:tav>
                                        <p:tav tm="100000">
                                          <p:val>
                                            <p:strVal val="1+ppt_h/2"/>
                                          </p:val>
                                        </p:tav>
                                      </p:tavLst>
                                    </p:anim>
                                    <p:set>
                                      <p:cBhvr>
                                        <p:cTn id="50" dur="1" fill="hold">
                                          <p:stCondLst>
                                            <p:cond delay="499"/>
                                          </p:stCondLst>
                                        </p:cTn>
                                        <p:tgtEl>
                                          <p:spTgt spid="7"/>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8"/>
                                        </p:tgtEl>
                                        <p:attrNameLst>
                                          <p:attrName>style.visibility</p:attrName>
                                        </p:attrNameLst>
                                      </p:cBhvr>
                                      <p:to>
                                        <p:strVal val="visible"/>
                                      </p:to>
                                    </p:set>
                                    <p:anim calcmode="lin" valueType="num">
                                      <p:cBhvr additive="base">
                                        <p:cTn id="55" dur="500" fill="hold"/>
                                        <p:tgtEl>
                                          <p:spTgt spid="8"/>
                                        </p:tgtEl>
                                        <p:attrNameLst>
                                          <p:attrName>ppt_x</p:attrName>
                                        </p:attrNameLst>
                                      </p:cBhvr>
                                      <p:tavLst>
                                        <p:tav tm="0">
                                          <p:val>
                                            <p:strVal val="#ppt_x"/>
                                          </p:val>
                                        </p:tav>
                                        <p:tav tm="100000">
                                          <p:val>
                                            <p:strVal val="#ppt_x"/>
                                          </p:val>
                                        </p:tav>
                                      </p:tavLst>
                                    </p:anim>
                                    <p:anim calcmode="lin" valueType="num">
                                      <p:cBhvr additive="base">
                                        <p:cTn id="5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9"/>
                                        </p:tgtEl>
                                        <p:attrNameLst>
                                          <p:attrName>style.visibility</p:attrName>
                                        </p:attrNameLst>
                                      </p:cBhvr>
                                      <p:to>
                                        <p:strVal val="visible"/>
                                      </p:to>
                                    </p:set>
                                    <p:anim calcmode="lin" valueType="num">
                                      <p:cBhvr additive="base">
                                        <p:cTn id="61" dur="500" fill="hold"/>
                                        <p:tgtEl>
                                          <p:spTgt spid="9"/>
                                        </p:tgtEl>
                                        <p:attrNameLst>
                                          <p:attrName>ppt_x</p:attrName>
                                        </p:attrNameLst>
                                      </p:cBhvr>
                                      <p:tavLst>
                                        <p:tav tm="0">
                                          <p:val>
                                            <p:strVal val="#ppt_x"/>
                                          </p:val>
                                        </p:tav>
                                        <p:tav tm="100000">
                                          <p:val>
                                            <p:strVal val="#ppt_x"/>
                                          </p:val>
                                        </p:tav>
                                      </p:tavLst>
                                    </p:anim>
                                    <p:anim calcmode="lin" valueType="num">
                                      <p:cBhvr additive="base">
                                        <p:cTn id="6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xit" presetSubtype="4" fill="hold" grpId="1" nodeType="clickEffect">
                                  <p:stCondLst>
                                    <p:cond delay="0"/>
                                  </p:stCondLst>
                                  <p:childTnLst>
                                    <p:anim calcmode="lin" valueType="num">
                                      <p:cBhvr additive="base">
                                        <p:cTn id="66" dur="500"/>
                                        <p:tgtEl>
                                          <p:spTgt spid="8"/>
                                        </p:tgtEl>
                                        <p:attrNameLst>
                                          <p:attrName>ppt_x</p:attrName>
                                        </p:attrNameLst>
                                      </p:cBhvr>
                                      <p:tavLst>
                                        <p:tav tm="0">
                                          <p:val>
                                            <p:strVal val="ppt_x"/>
                                          </p:val>
                                        </p:tav>
                                        <p:tav tm="100000">
                                          <p:val>
                                            <p:strVal val="ppt_x"/>
                                          </p:val>
                                        </p:tav>
                                      </p:tavLst>
                                    </p:anim>
                                    <p:anim calcmode="lin" valueType="num">
                                      <p:cBhvr additive="base">
                                        <p:cTn id="67" dur="500"/>
                                        <p:tgtEl>
                                          <p:spTgt spid="8"/>
                                        </p:tgtEl>
                                        <p:attrNameLst>
                                          <p:attrName>ppt_y</p:attrName>
                                        </p:attrNameLst>
                                      </p:cBhvr>
                                      <p:tavLst>
                                        <p:tav tm="0">
                                          <p:val>
                                            <p:strVal val="ppt_y"/>
                                          </p:val>
                                        </p:tav>
                                        <p:tav tm="100000">
                                          <p:val>
                                            <p:strVal val="1+ppt_h/2"/>
                                          </p:val>
                                        </p:tav>
                                      </p:tavLst>
                                    </p:anim>
                                    <p:set>
                                      <p:cBhvr>
                                        <p:cTn id="68" dur="1" fill="hold">
                                          <p:stCondLst>
                                            <p:cond delay="499"/>
                                          </p:stCondLst>
                                        </p:cTn>
                                        <p:tgtEl>
                                          <p:spTgt spid="8"/>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2" presetClass="exit" presetSubtype="4" fill="hold" grpId="1" nodeType="clickEffect">
                                  <p:stCondLst>
                                    <p:cond delay="0"/>
                                  </p:stCondLst>
                                  <p:childTnLst>
                                    <p:anim calcmode="lin" valueType="num">
                                      <p:cBhvr additive="base">
                                        <p:cTn id="72" dur="500"/>
                                        <p:tgtEl>
                                          <p:spTgt spid="9"/>
                                        </p:tgtEl>
                                        <p:attrNameLst>
                                          <p:attrName>ppt_x</p:attrName>
                                        </p:attrNameLst>
                                      </p:cBhvr>
                                      <p:tavLst>
                                        <p:tav tm="0">
                                          <p:val>
                                            <p:strVal val="ppt_x"/>
                                          </p:val>
                                        </p:tav>
                                        <p:tav tm="100000">
                                          <p:val>
                                            <p:strVal val="ppt_x"/>
                                          </p:val>
                                        </p:tav>
                                      </p:tavLst>
                                    </p:anim>
                                    <p:anim calcmode="lin" valueType="num">
                                      <p:cBhvr additive="base">
                                        <p:cTn id="73" dur="500"/>
                                        <p:tgtEl>
                                          <p:spTgt spid="9"/>
                                        </p:tgtEl>
                                        <p:attrNameLst>
                                          <p:attrName>ppt_y</p:attrName>
                                        </p:attrNameLst>
                                      </p:cBhvr>
                                      <p:tavLst>
                                        <p:tav tm="0">
                                          <p:val>
                                            <p:strVal val="ppt_y"/>
                                          </p:val>
                                        </p:tav>
                                        <p:tav tm="100000">
                                          <p:val>
                                            <p:strVal val="1+ppt_h/2"/>
                                          </p:val>
                                        </p:tav>
                                      </p:tavLst>
                                    </p:anim>
                                    <p:set>
                                      <p:cBhvr>
                                        <p:cTn id="74" dur="1" fill="hold">
                                          <p:stCondLst>
                                            <p:cond delay="499"/>
                                          </p:stCondLst>
                                        </p:cTn>
                                        <p:tgtEl>
                                          <p:spTgt spid="9"/>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10"/>
                                        </p:tgtEl>
                                        <p:attrNameLst>
                                          <p:attrName>style.visibility</p:attrName>
                                        </p:attrNameLst>
                                      </p:cBhvr>
                                      <p:to>
                                        <p:strVal val="visible"/>
                                      </p:to>
                                    </p:set>
                                    <p:anim calcmode="lin" valueType="num">
                                      <p:cBhvr additive="base">
                                        <p:cTn id="79" dur="500" fill="hold"/>
                                        <p:tgtEl>
                                          <p:spTgt spid="10"/>
                                        </p:tgtEl>
                                        <p:attrNameLst>
                                          <p:attrName>ppt_x</p:attrName>
                                        </p:attrNameLst>
                                      </p:cBhvr>
                                      <p:tavLst>
                                        <p:tav tm="0">
                                          <p:val>
                                            <p:strVal val="#ppt_x"/>
                                          </p:val>
                                        </p:tav>
                                        <p:tav tm="100000">
                                          <p:val>
                                            <p:strVal val="#ppt_x"/>
                                          </p:val>
                                        </p:tav>
                                      </p:tavLst>
                                    </p:anim>
                                    <p:anim calcmode="lin" valueType="num">
                                      <p:cBhvr additive="base">
                                        <p:cTn id="8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11"/>
                                        </p:tgtEl>
                                        <p:attrNameLst>
                                          <p:attrName>style.visibility</p:attrName>
                                        </p:attrNameLst>
                                      </p:cBhvr>
                                      <p:to>
                                        <p:strVal val="visible"/>
                                      </p:to>
                                    </p:set>
                                    <p:anim calcmode="lin" valueType="num">
                                      <p:cBhvr additive="base">
                                        <p:cTn id="85" dur="500" fill="hold"/>
                                        <p:tgtEl>
                                          <p:spTgt spid="11"/>
                                        </p:tgtEl>
                                        <p:attrNameLst>
                                          <p:attrName>ppt_x</p:attrName>
                                        </p:attrNameLst>
                                      </p:cBhvr>
                                      <p:tavLst>
                                        <p:tav tm="0">
                                          <p:val>
                                            <p:strVal val="#ppt_x"/>
                                          </p:val>
                                        </p:tav>
                                        <p:tav tm="100000">
                                          <p:val>
                                            <p:strVal val="#ppt_x"/>
                                          </p:val>
                                        </p:tav>
                                      </p:tavLst>
                                    </p:anim>
                                    <p:anim calcmode="lin" valueType="num">
                                      <p:cBhvr additive="base">
                                        <p:cTn id="8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xit" presetSubtype="4" fill="hold" grpId="1" nodeType="clickEffect">
                                  <p:stCondLst>
                                    <p:cond delay="0"/>
                                  </p:stCondLst>
                                  <p:childTnLst>
                                    <p:anim calcmode="lin" valueType="num">
                                      <p:cBhvr additive="base">
                                        <p:cTn id="90" dur="500"/>
                                        <p:tgtEl>
                                          <p:spTgt spid="10"/>
                                        </p:tgtEl>
                                        <p:attrNameLst>
                                          <p:attrName>ppt_x</p:attrName>
                                        </p:attrNameLst>
                                      </p:cBhvr>
                                      <p:tavLst>
                                        <p:tav tm="0">
                                          <p:val>
                                            <p:strVal val="ppt_x"/>
                                          </p:val>
                                        </p:tav>
                                        <p:tav tm="100000">
                                          <p:val>
                                            <p:strVal val="ppt_x"/>
                                          </p:val>
                                        </p:tav>
                                      </p:tavLst>
                                    </p:anim>
                                    <p:anim calcmode="lin" valueType="num">
                                      <p:cBhvr additive="base">
                                        <p:cTn id="91" dur="500"/>
                                        <p:tgtEl>
                                          <p:spTgt spid="10"/>
                                        </p:tgtEl>
                                        <p:attrNameLst>
                                          <p:attrName>ppt_y</p:attrName>
                                        </p:attrNameLst>
                                      </p:cBhvr>
                                      <p:tavLst>
                                        <p:tav tm="0">
                                          <p:val>
                                            <p:strVal val="ppt_y"/>
                                          </p:val>
                                        </p:tav>
                                        <p:tav tm="100000">
                                          <p:val>
                                            <p:strVal val="1+ppt_h/2"/>
                                          </p:val>
                                        </p:tav>
                                      </p:tavLst>
                                    </p:anim>
                                    <p:set>
                                      <p:cBhvr>
                                        <p:cTn id="92" dur="1" fill="hold">
                                          <p:stCondLst>
                                            <p:cond delay="499"/>
                                          </p:stCondLst>
                                        </p:cTn>
                                        <p:tgtEl>
                                          <p:spTgt spid="10"/>
                                        </p:tgtEl>
                                        <p:attrNameLst>
                                          <p:attrName>style.visibility</p:attrName>
                                        </p:attrNameLst>
                                      </p:cBhvr>
                                      <p:to>
                                        <p:strVal val="hidden"/>
                                      </p:to>
                                    </p:set>
                                  </p:childTnLst>
                                </p:cTn>
                              </p:par>
                            </p:childTnLst>
                          </p:cTn>
                        </p:par>
                      </p:childTnLst>
                    </p:cTn>
                  </p:par>
                  <p:par>
                    <p:cTn id="93" fill="hold">
                      <p:stCondLst>
                        <p:cond delay="indefinite"/>
                      </p:stCondLst>
                      <p:childTnLst>
                        <p:par>
                          <p:cTn id="94" fill="hold">
                            <p:stCondLst>
                              <p:cond delay="0"/>
                            </p:stCondLst>
                            <p:childTnLst>
                              <p:par>
                                <p:cTn id="95" presetID="2" presetClass="exit" presetSubtype="4" fill="hold" grpId="1" nodeType="clickEffect">
                                  <p:stCondLst>
                                    <p:cond delay="0"/>
                                  </p:stCondLst>
                                  <p:childTnLst>
                                    <p:anim calcmode="lin" valueType="num">
                                      <p:cBhvr additive="base">
                                        <p:cTn id="96" dur="500"/>
                                        <p:tgtEl>
                                          <p:spTgt spid="11"/>
                                        </p:tgtEl>
                                        <p:attrNameLst>
                                          <p:attrName>ppt_x</p:attrName>
                                        </p:attrNameLst>
                                      </p:cBhvr>
                                      <p:tavLst>
                                        <p:tav tm="0">
                                          <p:val>
                                            <p:strVal val="ppt_x"/>
                                          </p:val>
                                        </p:tav>
                                        <p:tav tm="100000">
                                          <p:val>
                                            <p:strVal val="ppt_x"/>
                                          </p:val>
                                        </p:tav>
                                      </p:tavLst>
                                    </p:anim>
                                    <p:anim calcmode="lin" valueType="num">
                                      <p:cBhvr additive="base">
                                        <p:cTn id="97" dur="500"/>
                                        <p:tgtEl>
                                          <p:spTgt spid="11"/>
                                        </p:tgtEl>
                                        <p:attrNameLst>
                                          <p:attrName>ppt_y</p:attrName>
                                        </p:attrNameLst>
                                      </p:cBhvr>
                                      <p:tavLst>
                                        <p:tav tm="0">
                                          <p:val>
                                            <p:strVal val="ppt_y"/>
                                          </p:val>
                                        </p:tav>
                                        <p:tav tm="100000">
                                          <p:val>
                                            <p:strVal val="1+ppt_h/2"/>
                                          </p:val>
                                        </p:tav>
                                      </p:tavLst>
                                    </p:anim>
                                    <p:set>
                                      <p:cBhvr>
                                        <p:cTn id="98" dur="1" fill="hold">
                                          <p:stCondLst>
                                            <p:cond delay="499"/>
                                          </p:stCondLst>
                                        </p:cTn>
                                        <p:tgtEl>
                                          <p:spTgt spid="11"/>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grpId="0" nodeType="clickEffect">
                                  <p:stCondLst>
                                    <p:cond delay="0"/>
                                  </p:stCondLst>
                                  <p:childTnLst>
                                    <p:set>
                                      <p:cBhvr>
                                        <p:cTn id="102" dur="1" fill="hold">
                                          <p:stCondLst>
                                            <p:cond delay="0"/>
                                          </p:stCondLst>
                                        </p:cTn>
                                        <p:tgtEl>
                                          <p:spTgt spid="12"/>
                                        </p:tgtEl>
                                        <p:attrNameLst>
                                          <p:attrName>style.visibility</p:attrName>
                                        </p:attrNameLst>
                                      </p:cBhvr>
                                      <p:to>
                                        <p:strVal val="visible"/>
                                      </p:to>
                                    </p:set>
                                    <p:anim calcmode="lin" valueType="num">
                                      <p:cBhvr additive="base">
                                        <p:cTn id="103" dur="500" fill="hold"/>
                                        <p:tgtEl>
                                          <p:spTgt spid="12"/>
                                        </p:tgtEl>
                                        <p:attrNameLst>
                                          <p:attrName>ppt_x</p:attrName>
                                        </p:attrNameLst>
                                      </p:cBhvr>
                                      <p:tavLst>
                                        <p:tav tm="0">
                                          <p:val>
                                            <p:strVal val="#ppt_x"/>
                                          </p:val>
                                        </p:tav>
                                        <p:tav tm="100000">
                                          <p:val>
                                            <p:strVal val="#ppt_x"/>
                                          </p:val>
                                        </p:tav>
                                      </p:tavLst>
                                    </p:anim>
                                    <p:anim calcmode="lin" valueType="num">
                                      <p:cBhvr additive="base">
                                        <p:cTn id="10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grpId="0" nodeType="clickEffect">
                                  <p:stCondLst>
                                    <p:cond delay="0"/>
                                  </p:stCondLst>
                                  <p:childTnLst>
                                    <p:set>
                                      <p:cBhvr>
                                        <p:cTn id="108" dur="1" fill="hold">
                                          <p:stCondLst>
                                            <p:cond delay="0"/>
                                          </p:stCondLst>
                                        </p:cTn>
                                        <p:tgtEl>
                                          <p:spTgt spid="13"/>
                                        </p:tgtEl>
                                        <p:attrNameLst>
                                          <p:attrName>style.visibility</p:attrName>
                                        </p:attrNameLst>
                                      </p:cBhvr>
                                      <p:to>
                                        <p:strVal val="visible"/>
                                      </p:to>
                                    </p:set>
                                    <p:anim calcmode="lin" valueType="num">
                                      <p:cBhvr additive="base">
                                        <p:cTn id="109" dur="500" fill="hold"/>
                                        <p:tgtEl>
                                          <p:spTgt spid="13"/>
                                        </p:tgtEl>
                                        <p:attrNameLst>
                                          <p:attrName>ppt_x</p:attrName>
                                        </p:attrNameLst>
                                      </p:cBhvr>
                                      <p:tavLst>
                                        <p:tav tm="0">
                                          <p:val>
                                            <p:strVal val="#ppt_x"/>
                                          </p:val>
                                        </p:tav>
                                        <p:tav tm="100000">
                                          <p:val>
                                            <p:strVal val="#ppt_x"/>
                                          </p:val>
                                        </p:tav>
                                      </p:tavLst>
                                    </p:anim>
                                    <p:anim calcmode="lin" valueType="num">
                                      <p:cBhvr additive="base">
                                        <p:cTn id="11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xit" presetSubtype="4" fill="hold" grpId="1" nodeType="clickEffect">
                                  <p:stCondLst>
                                    <p:cond delay="0"/>
                                  </p:stCondLst>
                                  <p:childTnLst>
                                    <p:anim calcmode="lin" valueType="num">
                                      <p:cBhvr additive="base">
                                        <p:cTn id="114" dur="500"/>
                                        <p:tgtEl>
                                          <p:spTgt spid="12"/>
                                        </p:tgtEl>
                                        <p:attrNameLst>
                                          <p:attrName>ppt_x</p:attrName>
                                        </p:attrNameLst>
                                      </p:cBhvr>
                                      <p:tavLst>
                                        <p:tav tm="0">
                                          <p:val>
                                            <p:strVal val="ppt_x"/>
                                          </p:val>
                                        </p:tav>
                                        <p:tav tm="100000">
                                          <p:val>
                                            <p:strVal val="ppt_x"/>
                                          </p:val>
                                        </p:tav>
                                      </p:tavLst>
                                    </p:anim>
                                    <p:anim calcmode="lin" valueType="num">
                                      <p:cBhvr additive="base">
                                        <p:cTn id="115" dur="500"/>
                                        <p:tgtEl>
                                          <p:spTgt spid="12"/>
                                        </p:tgtEl>
                                        <p:attrNameLst>
                                          <p:attrName>ppt_y</p:attrName>
                                        </p:attrNameLst>
                                      </p:cBhvr>
                                      <p:tavLst>
                                        <p:tav tm="0">
                                          <p:val>
                                            <p:strVal val="ppt_y"/>
                                          </p:val>
                                        </p:tav>
                                        <p:tav tm="100000">
                                          <p:val>
                                            <p:strVal val="1+ppt_h/2"/>
                                          </p:val>
                                        </p:tav>
                                      </p:tavLst>
                                    </p:anim>
                                    <p:set>
                                      <p:cBhvr>
                                        <p:cTn id="116" dur="1" fill="hold">
                                          <p:stCondLst>
                                            <p:cond delay="499"/>
                                          </p:stCondLst>
                                        </p:cTn>
                                        <p:tgtEl>
                                          <p:spTgt spid="12"/>
                                        </p:tgtEl>
                                        <p:attrNameLst>
                                          <p:attrName>style.visibility</p:attrName>
                                        </p:attrNameLst>
                                      </p:cBhvr>
                                      <p:to>
                                        <p:strVal val="hidden"/>
                                      </p:to>
                                    </p:set>
                                  </p:childTnLst>
                                </p:cTn>
                              </p:par>
                            </p:childTnLst>
                          </p:cTn>
                        </p:par>
                      </p:childTnLst>
                    </p:cTn>
                  </p:par>
                  <p:par>
                    <p:cTn id="117" fill="hold">
                      <p:stCondLst>
                        <p:cond delay="indefinite"/>
                      </p:stCondLst>
                      <p:childTnLst>
                        <p:par>
                          <p:cTn id="118" fill="hold">
                            <p:stCondLst>
                              <p:cond delay="0"/>
                            </p:stCondLst>
                            <p:childTnLst>
                              <p:par>
                                <p:cTn id="119" presetID="2" presetClass="exit" presetSubtype="4" fill="hold" grpId="1" nodeType="clickEffect">
                                  <p:stCondLst>
                                    <p:cond delay="0"/>
                                  </p:stCondLst>
                                  <p:childTnLst>
                                    <p:anim calcmode="lin" valueType="num">
                                      <p:cBhvr additive="base">
                                        <p:cTn id="120" dur="500"/>
                                        <p:tgtEl>
                                          <p:spTgt spid="13"/>
                                        </p:tgtEl>
                                        <p:attrNameLst>
                                          <p:attrName>ppt_x</p:attrName>
                                        </p:attrNameLst>
                                      </p:cBhvr>
                                      <p:tavLst>
                                        <p:tav tm="0">
                                          <p:val>
                                            <p:strVal val="ppt_x"/>
                                          </p:val>
                                        </p:tav>
                                        <p:tav tm="100000">
                                          <p:val>
                                            <p:strVal val="ppt_x"/>
                                          </p:val>
                                        </p:tav>
                                      </p:tavLst>
                                    </p:anim>
                                    <p:anim calcmode="lin" valueType="num">
                                      <p:cBhvr additive="base">
                                        <p:cTn id="121" dur="500"/>
                                        <p:tgtEl>
                                          <p:spTgt spid="13"/>
                                        </p:tgtEl>
                                        <p:attrNameLst>
                                          <p:attrName>ppt_y</p:attrName>
                                        </p:attrNameLst>
                                      </p:cBhvr>
                                      <p:tavLst>
                                        <p:tav tm="0">
                                          <p:val>
                                            <p:strVal val="ppt_y"/>
                                          </p:val>
                                        </p:tav>
                                        <p:tav tm="100000">
                                          <p:val>
                                            <p:strVal val="1+ppt_h/2"/>
                                          </p:val>
                                        </p:tav>
                                      </p:tavLst>
                                    </p:anim>
                                    <p:set>
                                      <p:cBhvr>
                                        <p:cTn id="122"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P spid="7" grpId="0" animBg="1"/>
      <p:bldP spid="7" grpId="1" animBg="1"/>
      <p:bldP spid="8" grpId="0" animBg="1"/>
      <p:bldP spid="8" grpId="1" animBg="1"/>
      <p:bldP spid="9" grpId="0" animBg="1"/>
      <p:bldP spid="9" grpId="1" animBg="1"/>
      <p:bldP spid="10" grpId="0" animBg="1"/>
      <p:bldP spid="10" grpId="1" animBg="1"/>
      <p:bldP spid="11" grpId="0" animBg="1"/>
      <p:bldP spid="11" grpId="1" animBg="1"/>
      <p:bldP spid="12" grpId="0" animBg="1"/>
      <p:bldP spid="12" grpId="1" animBg="1"/>
      <p:bldP spid="13" grpId="0" animBg="1"/>
      <p:bldP spid="13"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查元素周期表回答：</a:t>
            </a:r>
            <a:endParaRPr lang="en-US" dirty="0"/>
          </a:p>
        </p:txBody>
      </p:sp>
      <p:sp>
        <p:nvSpPr>
          <p:cNvPr id="3" name="Content Placeholder 2"/>
          <p:cNvSpPr>
            <a:spLocks noGrp="1"/>
          </p:cNvSpPr>
          <p:nvPr>
            <p:ph idx="1"/>
          </p:nvPr>
        </p:nvSpPr>
        <p:spPr>
          <a:xfrm>
            <a:off x="304800" y="1295400"/>
            <a:ext cx="8686800" cy="5334000"/>
          </a:xfrm>
        </p:spPr>
        <p:txBody>
          <a:bodyPr>
            <a:normAutofit/>
          </a:bodyPr>
          <a:lstStyle/>
          <a:p>
            <a:r>
              <a:rPr lang="zh-CN" altLang="en-US" sz="2800" dirty="0"/>
              <a:t>第</a:t>
            </a:r>
            <a:r>
              <a:rPr lang="en-US" altLang="zh-CN" sz="2800" dirty="0"/>
              <a:t>4</a:t>
            </a:r>
            <a:r>
              <a:rPr lang="zh-CN" altLang="en-US" sz="2800" dirty="0"/>
              <a:t>周期第</a:t>
            </a:r>
            <a:r>
              <a:rPr lang="en-US" altLang="zh-CN" sz="2800" dirty="0"/>
              <a:t>IIIA</a:t>
            </a:r>
            <a:r>
              <a:rPr lang="zh-CN" altLang="en-US" sz="2800" dirty="0"/>
              <a:t>族是什么元素？</a:t>
            </a:r>
            <a:endParaRPr lang="en-US" altLang="zh-CN" sz="2800" dirty="0"/>
          </a:p>
          <a:p>
            <a:pPr>
              <a:buNone/>
            </a:pPr>
            <a:r>
              <a:rPr lang="en-US" sz="2800" dirty="0"/>
              <a:t>	</a:t>
            </a:r>
            <a:r>
              <a:rPr lang="zh-CN" altLang="en-US" sz="2800" dirty="0"/>
              <a:t>答：镓</a:t>
            </a:r>
            <a:r>
              <a:rPr lang="en-US" altLang="zh-CN" sz="2800" dirty="0" err="1"/>
              <a:t>Ga</a:t>
            </a:r>
            <a:endParaRPr lang="en-US" altLang="zh-CN" sz="2800" dirty="0"/>
          </a:p>
          <a:p>
            <a:r>
              <a:rPr lang="zh-CN" altLang="en-US" sz="2800" dirty="0"/>
              <a:t>第</a:t>
            </a:r>
            <a:r>
              <a:rPr lang="en-US" altLang="zh-CN" sz="2800" dirty="0"/>
              <a:t>6</a:t>
            </a:r>
            <a:r>
              <a:rPr lang="zh-CN" altLang="en-US" sz="2800" dirty="0"/>
              <a:t>周期第</a:t>
            </a:r>
            <a:r>
              <a:rPr lang="en-US" altLang="zh-CN" sz="2800" dirty="0"/>
              <a:t>IVA</a:t>
            </a:r>
            <a:r>
              <a:rPr lang="zh-CN" altLang="en-US" sz="2800" dirty="0"/>
              <a:t>族是什么元素？</a:t>
            </a:r>
            <a:endParaRPr lang="en-US" altLang="zh-CN" sz="2800" dirty="0"/>
          </a:p>
          <a:p>
            <a:pPr>
              <a:buNone/>
            </a:pPr>
            <a:r>
              <a:rPr lang="en-US" sz="2800" dirty="0"/>
              <a:t>	</a:t>
            </a:r>
            <a:r>
              <a:rPr lang="zh-CN" altLang="en-US" sz="2800" dirty="0"/>
              <a:t>答：铅</a:t>
            </a:r>
            <a:r>
              <a:rPr lang="en-US" altLang="zh-CN" sz="2800" dirty="0" err="1"/>
              <a:t>Pb</a:t>
            </a:r>
            <a:endParaRPr lang="en-US" altLang="zh-CN" sz="2800" dirty="0"/>
          </a:p>
          <a:p>
            <a:r>
              <a:rPr lang="zh-CN" altLang="en-US" sz="2800" dirty="0"/>
              <a:t>金在第几周期第几族？</a:t>
            </a:r>
            <a:endParaRPr lang="en-US" altLang="zh-CN" sz="2800" dirty="0"/>
          </a:p>
          <a:p>
            <a:pPr>
              <a:buNone/>
            </a:pPr>
            <a:r>
              <a:rPr lang="en-US" altLang="zh-CN" sz="2800" dirty="0"/>
              <a:t>	</a:t>
            </a:r>
            <a:r>
              <a:rPr lang="zh-CN" altLang="en-US" sz="2800" dirty="0"/>
              <a:t>答：第</a:t>
            </a:r>
            <a:r>
              <a:rPr lang="en-US" altLang="zh-CN" sz="2800" dirty="0"/>
              <a:t>6</a:t>
            </a:r>
            <a:r>
              <a:rPr lang="zh-CN" altLang="en-US" sz="2800" dirty="0"/>
              <a:t>周期，</a:t>
            </a:r>
            <a:r>
              <a:rPr lang="en-US" altLang="zh-CN" sz="2800" dirty="0"/>
              <a:t>IB</a:t>
            </a:r>
            <a:r>
              <a:rPr lang="zh-CN" altLang="en-US" sz="2800" dirty="0"/>
              <a:t>族</a:t>
            </a:r>
            <a:endParaRPr lang="en-US" altLang="zh-CN" sz="2800" dirty="0"/>
          </a:p>
          <a:p>
            <a:r>
              <a:rPr lang="zh-CN" altLang="en-US" sz="2800" dirty="0"/>
              <a:t>锰在第几周期第几族？</a:t>
            </a:r>
            <a:endParaRPr lang="en-US" altLang="zh-CN" sz="2800" dirty="0"/>
          </a:p>
          <a:p>
            <a:pPr>
              <a:buNone/>
            </a:pPr>
            <a:r>
              <a:rPr lang="en-US" altLang="zh-CN" sz="2800" dirty="0"/>
              <a:t>	</a:t>
            </a:r>
            <a:r>
              <a:rPr lang="zh-CN" altLang="en-US" sz="2800" dirty="0"/>
              <a:t>答：第</a:t>
            </a:r>
            <a:r>
              <a:rPr lang="en-US" altLang="zh-CN" sz="2800" dirty="0"/>
              <a:t>4</a:t>
            </a:r>
            <a:r>
              <a:rPr lang="zh-CN" altLang="en-US" sz="2800" dirty="0"/>
              <a:t>周期，</a:t>
            </a:r>
            <a:r>
              <a:rPr lang="en-US" altLang="zh-CN" sz="2800" dirty="0"/>
              <a:t>VIIB</a:t>
            </a:r>
            <a:r>
              <a:rPr lang="zh-CN" altLang="en-US" sz="2800" dirty="0"/>
              <a:t>族</a:t>
            </a:r>
            <a:endParaRPr lang="en-US" altLang="zh-CN"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知识点（不查元素周期表）</a:t>
            </a:r>
            <a:endParaRPr lang="en-US" dirty="0"/>
          </a:p>
        </p:txBody>
      </p:sp>
      <p:sp>
        <p:nvSpPr>
          <p:cNvPr id="3" name="Content Placeholder 2"/>
          <p:cNvSpPr>
            <a:spLocks noGrp="1"/>
          </p:cNvSpPr>
          <p:nvPr>
            <p:ph idx="1"/>
          </p:nvPr>
        </p:nvSpPr>
        <p:spPr>
          <a:xfrm>
            <a:off x="304800" y="1295400"/>
            <a:ext cx="8686800" cy="5334000"/>
          </a:xfrm>
        </p:spPr>
        <p:txBody>
          <a:bodyPr>
            <a:normAutofit fontScale="85000" lnSpcReduction="20000"/>
          </a:bodyPr>
          <a:lstStyle/>
          <a:p>
            <a:r>
              <a:rPr lang="zh-CN" altLang="en-US" dirty="0"/>
              <a:t>氮在第几周期第几族？</a:t>
            </a:r>
            <a:endParaRPr lang="en-US" altLang="zh-CN" dirty="0"/>
          </a:p>
          <a:p>
            <a:pPr>
              <a:buNone/>
            </a:pPr>
            <a:r>
              <a:rPr lang="en-US" dirty="0"/>
              <a:t>	</a:t>
            </a:r>
            <a:r>
              <a:rPr lang="en-US" altLang="zh-CN" dirty="0"/>
              <a:t>1s</a:t>
            </a:r>
            <a:r>
              <a:rPr lang="en-US" altLang="zh-CN" baseline="30000" dirty="0"/>
              <a:t>2</a:t>
            </a:r>
            <a:r>
              <a:rPr lang="en-US" altLang="zh-CN" dirty="0"/>
              <a:t> 2s</a:t>
            </a:r>
            <a:r>
              <a:rPr lang="en-US" altLang="zh-CN" baseline="30000" dirty="0"/>
              <a:t>2</a:t>
            </a:r>
            <a:r>
              <a:rPr lang="en-US" altLang="zh-CN" dirty="0"/>
              <a:t> 2p</a:t>
            </a:r>
            <a:r>
              <a:rPr lang="en-US" altLang="zh-CN" baseline="30000" dirty="0"/>
              <a:t>3</a:t>
            </a:r>
            <a:r>
              <a:rPr lang="en-US" altLang="zh-CN" dirty="0"/>
              <a:t>   </a:t>
            </a:r>
            <a:r>
              <a:rPr lang="zh-CN" altLang="en-US" dirty="0"/>
              <a:t>或 </a:t>
            </a:r>
            <a:r>
              <a:rPr lang="en-US" altLang="zh-CN" dirty="0"/>
              <a:t>2</a:t>
            </a:r>
            <a:r>
              <a:rPr lang="zh-CN" altLang="en-US" dirty="0"/>
              <a:t>，</a:t>
            </a:r>
            <a:r>
              <a:rPr lang="en-US" altLang="zh-CN" dirty="0"/>
              <a:t>5</a:t>
            </a:r>
          </a:p>
          <a:p>
            <a:pPr>
              <a:buNone/>
            </a:pPr>
            <a:r>
              <a:rPr lang="en-US" dirty="0"/>
              <a:t>	</a:t>
            </a:r>
            <a:r>
              <a:rPr lang="zh-CN" altLang="en-US" dirty="0"/>
              <a:t>答：第</a:t>
            </a:r>
            <a:r>
              <a:rPr lang="en-US" altLang="zh-CN" dirty="0"/>
              <a:t>2</a:t>
            </a:r>
            <a:r>
              <a:rPr lang="zh-CN" altLang="en-US" dirty="0"/>
              <a:t>周期，</a:t>
            </a:r>
            <a:r>
              <a:rPr lang="en-US" altLang="zh-CN" dirty="0"/>
              <a:t>VA</a:t>
            </a:r>
            <a:r>
              <a:rPr lang="zh-CN" altLang="en-US" dirty="0"/>
              <a:t>族</a:t>
            </a:r>
            <a:endParaRPr lang="en-US" altLang="zh-CN" dirty="0"/>
          </a:p>
          <a:p>
            <a:r>
              <a:rPr lang="zh-CN" altLang="en-US" dirty="0"/>
              <a:t>硫在第几周期第几族？</a:t>
            </a:r>
            <a:endParaRPr lang="en-US" altLang="zh-CN" dirty="0"/>
          </a:p>
          <a:p>
            <a:pPr>
              <a:buNone/>
            </a:pPr>
            <a:r>
              <a:rPr lang="en-US" altLang="zh-CN" dirty="0"/>
              <a:t>	2</a:t>
            </a:r>
            <a:r>
              <a:rPr lang="zh-CN" altLang="en-US" dirty="0"/>
              <a:t>，</a:t>
            </a:r>
            <a:r>
              <a:rPr lang="en-US" altLang="zh-CN" dirty="0"/>
              <a:t>8</a:t>
            </a:r>
            <a:r>
              <a:rPr lang="zh-CN" altLang="en-US" dirty="0"/>
              <a:t>，</a:t>
            </a:r>
            <a:r>
              <a:rPr lang="en-US" altLang="zh-CN" dirty="0"/>
              <a:t>6</a:t>
            </a:r>
          </a:p>
          <a:p>
            <a:pPr>
              <a:buNone/>
            </a:pPr>
            <a:r>
              <a:rPr lang="en-US" altLang="zh-CN" dirty="0"/>
              <a:t>	</a:t>
            </a:r>
            <a:r>
              <a:rPr lang="zh-CN" altLang="en-US" dirty="0"/>
              <a:t>答：第</a:t>
            </a:r>
            <a:r>
              <a:rPr lang="en-US" altLang="zh-CN" dirty="0"/>
              <a:t>3</a:t>
            </a:r>
            <a:r>
              <a:rPr lang="zh-CN" altLang="en-US" dirty="0"/>
              <a:t>周期，</a:t>
            </a:r>
            <a:r>
              <a:rPr lang="en-US" altLang="zh-CN" dirty="0"/>
              <a:t>VIA</a:t>
            </a:r>
            <a:r>
              <a:rPr lang="zh-CN" altLang="en-US" dirty="0"/>
              <a:t>族</a:t>
            </a:r>
            <a:endParaRPr lang="en-US" altLang="zh-CN" dirty="0"/>
          </a:p>
          <a:p>
            <a:r>
              <a:rPr lang="zh-CN" altLang="en-US" dirty="0"/>
              <a:t>某元素在第</a:t>
            </a:r>
            <a:r>
              <a:rPr lang="en-US" altLang="zh-CN" dirty="0"/>
              <a:t>4</a:t>
            </a:r>
            <a:r>
              <a:rPr lang="zh-CN" altLang="en-US" dirty="0"/>
              <a:t>周期，</a:t>
            </a:r>
            <a:r>
              <a:rPr lang="en-US" altLang="zh-CN" dirty="0"/>
              <a:t>IIA</a:t>
            </a:r>
            <a:r>
              <a:rPr lang="zh-CN" altLang="en-US" dirty="0"/>
              <a:t>族。它是什么元素？</a:t>
            </a:r>
            <a:endParaRPr lang="en-US" altLang="zh-CN" dirty="0"/>
          </a:p>
          <a:p>
            <a:pPr>
              <a:buNone/>
            </a:pPr>
            <a:r>
              <a:rPr lang="en-US" altLang="zh-CN" dirty="0"/>
              <a:t>	2</a:t>
            </a:r>
            <a:r>
              <a:rPr lang="zh-CN" altLang="en-US" dirty="0"/>
              <a:t>，</a:t>
            </a:r>
            <a:r>
              <a:rPr lang="en-US" altLang="zh-CN" dirty="0"/>
              <a:t>8</a:t>
            </a:r>
            <a:r>
              <a:rPr lang="zh-CN" altLang="en-US" dirty="0"/>
              <a:t>，</a:t>
            </a:r>
            <a:r>
              <a:rPr lang="en-US" altLang="zh-CN" dirty="0"/>
              <a:t>8</a:t>
            </a:r>
            <a:r>
              <a:rPr lang="zh-CN" altLang="en-US" dirty="0"/>
              <a:t>，</a:t>
            </a:r>
            <a:r>
              <a:rPr lang="en-US" altLang="zh-CN" dirty="0"/>
              <a:t>2</a:t>
            </a:r>
            <a:r>
              <a:rPr lang="zh-CN" altLang="en-US" dirty="0"/>
              <a:t>；第</a:t>
            </a:r>
            <a:r>
              <a:rPr lang="en-US" altLang="zh-CN" dirty="0"/>
              <a:t>20</a:t>
            </a:r>
            <a:r>
              <a:rPr lang="zh-CN" altLang="en-US" dirty="0"/>
              <a:t>个。</a:t>
            </a:r>
            <a:endParaRPr lang="en-US" altLang="zh-CN" dirty="0"/>
          </a:p>
          <a:p>
            <a:pPr>
              <a:buNone/>
            </a:pPr>
            <a:r>
              <a:rPr lang="en-US" altLang="zh-CN" dirty="0"/>
              <a:t>	</a:t>
            </a:r>
            <a:r>
              <a:rPr lang="zh-CN" altLang="en-US" dirty="0"/>
              <a:t>答：</a:t>
            </a:r>
            <a:r>
              <a:rPr lang="en-US" altLang="zh-CN" dirty="0"/>
              <a:t>Ca</a:t>
            </a:r>
          </a:p>
          <a:p>
            <a:r>
              <a:rPr lang="zh-CN" altLang="en-US" dirty="0"/>
              <a:t>某元素在第</a:t>
            </a:r>
            <a:r>
              <a:rPr lang="en-US" altLang="zh-CN" dirty="0"/>
              <a:t>5</a:t>
            </a:r>
            <a:r>
              <a:rPr lang="zh-CN" altLang="en-US" dirty="0"/>
              <a:t>周期，</a:t>
            </a:r>
            <a:r>
              <a:rPr lang="en-US" altLang="zh-CN" dirty="0"/>
              <a:t>VIIA</a:t>
            </a:r>
            <a:r>
              <a:rPr lang="zh-CN" altLang="en-US" dirty="0"/>
              <a:t>族。它是什么元素？</a:t>
            </a:r>
            <a:endParaRPr lang="en-US" altLang="zh-CN" dirty="0"/>
          </a:p>
          <a:p>
            <a:pPr>
              <a:buNone/>
            </a:pPr>
            <a:r>
              <a:rPr lang="en-US" altLang="zh-CN" dirty="0"/>
              <a:t>	VII</a:t>
            </a:r>
            <a:r>
              <a:rPr lang="zh-CN" altLang="en-US" dirty="0"/>
              <a:t>族元素：</a:t>
            </a:r>
            <a:r>
              <a:rPr lang="en-US" altLang="zh-CN" dirty="0"/>
              <a:t>F</a:t>
            </a:r>
            <a:r>
              <a:rPr lang="zh-CN" altLang="en-US" dirty="0"/>
              <a:t>，</a:t>
            </a:r>
            <a:r>
              <a:rPr lang="en-US" altLang="zh-CN" dirty="0" err="1"/>
              <a:t>Cl</a:t>
            </a:r>
            <a:r>
              <a:rPr lang="zh-CN" altLang="en-US" dirty="0"/>
              <a:t>，</a:t>
            </a:r>
            <a:r>
              <a:rPr lang="en-US" altLang="zh-CN" dirty="0"/>
              <a:t>Br</a:t>
            </a:r>
            <a:r>
              <a:rPr lang="zh-CN" altLang="en-US" dirty="0"/>
              <a:t>，</a:t>
            </a:r>
            <a:r>
              <a:rPr lang="en-US" altLang="zh-CN" dirty="0"/>
              <a:t>I</a:t>
            </a:r>
            <a:r>
              <a:rPr lang="zh-CN" altLang="en-US" dirty="0"/>
              <a:t>，</a:t>
            </a:r>
            <a:r>
              <a:rPr lang="en-US" altLang="zh-CN" dirty="0"/>
              <a:t>At</a:t>
            </a:r>
            <a:r>
              <a:rPr lang="zh-CN" altLang="en-US" dirty="0"/>
              <a:t>。</a:t>
            </a:r>
            <a:endParaRPr lang="en-US" altLang="zh-CN" dirty="0"/>
          </a:p>
          <a:p>
            <a:pPr>
              <a:buNone/>
            </a:pPr>
            <a:r>
              <a:rPr lang="en-US" altLang="zh-CN" dirty="0"/>
              <a:t>	</a:t>
            </a:r>
            <a:r>
              <a:rPr lang="zh-CN" altLang="en-US" dirty="0"/>
              <a:t>答：碘</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linds(horizontal)">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blinds(horizontal)">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blinds(horizontal)">
                                      <p:cBhvr>
                                        <p:cTn id="6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知识点（不查元素周期表）</a:t>
            </a:r>
            <a:endParaRPr lang="en-US" dirty="0"/>
          </a:p>
        </p:txBody>
      </p:sp>
      <p:sp>
        <p:nvSpPr>
          <p:cNvPr id="3" name="Content Placeholder 2"/>
          <p:cNvSpPr>
            <a:spLocks noGrp="1"/>
          </p:cNvSpPr>
          <p:nvPr>
            <p:ph idx="1"/>
          </p:nvPr>
        </p:nvSpPr>
        <p:spPr/>
        <p:txBody>
          <a:bodyPr>
            <a:normAutofit fontScale="85000" lnSpcReduction="20000"/>
          </a:bodyPr>
          <a:lstStyle/>
          <a:p>
            <a:r>
              <a:rPr lang="zh-CN" altLang="en-US" dirty="0"/>
              <a:t>某元素的二价阳离子与</a:t>
            </a:r>
            <a:r>
              <a:rPr lang="en-US" altLang="zh-CN" dirty="0" err="1"/>
              <a:t>Xe</a:t>
            </a:r>
            <a:r>
              <a:rPr lang="zh-CN" altLang="en-US" dirty="0"/>
              <a:t>的电子层结构相同，问它是什么元素，在第几周期第几族？</a:t>
            </a:r>
            <a:endParaRPr lang="en-US" altLang="zh-CN" dirty="0"/>
          </a:p>
          <a:p>
            <a:pPr>
              <a:buNone/>
            </a:pPr>
            <a:r>
              <a:rPr lang="en-US" dirty="0"/>
              <a:t>	</a:t>
            </a:r>
            <a:r>
              <a:rPr lang="en-US" altLang="zh-CN" dirty="0"/>
              <a:t>VIIIA</a:t>
            </a:r>
            <a:r>
              <a:rPr lang="zh-CN" altLang="en-US" dirty="0"/>
              <a:t>族元素：</a:t>
            </a:r>
            <a:r>
              <a:rPr lang="en-US" altLang="zh-CN" dirty="0"/>
              <a:t>He</a:t>
            </a:r>
            <a:r>
              <a:rPr lang="zh-CN" altLang="en-US" dirty="0"/>
              <a:t>，</a:t>
            </a:r>
            <a:r>
              <a:rPr lang="en-US" altLang="zh-CN" dirty="0"/>
              <a:t>Ne</a:t>
            </a:r>
            <a:r>
              <a:rPr lang="zh-CN" altLang="en-US" dirty="0"/>
              <a:t>，</a:t>
            </a:r>
            <a:r>
              <a:rPr lang="en-US" altLang="zh-CN" dirty="0" err="1"/>
              <a:t>Ar</a:t>
            </a:r>
            <a:r>
              <a:rPr lang="zh-CN" altLang="en-US" dirty="0"/>
              <a:t>，</a:t>
            </a:r>
            <a:r>
              <a:rPr lang="en-US" altLang="zh-CN" dirty="0"/>
              <a:t>Kr</a:t>
            </a:r>
            <a:r>
              <a:rPr lang="zh-CN" altLang="en-US" dirty="0"/>
              <a:t>，</a:t>
            </a:r>
            <a:r>
              <a:rPr lang="en-US" altLang="zh-CN" dirty="0" err="1"/>
              <a:t>Xe</a:t>
            </a:r>
            <a:r>
              <a:rPr lang="zh-CN" altLang="en-US" dirty="0"/>
              <a:t>，</a:t>
            </a:r>
            <a:r>
              <a:rPr lang="en-US" altLang="zh-CN" dirty="0" err="1"/>
              <a:t>Rn</a:t>
            </a:r>
            <a:endParaRPr lang="en-US" altLang="zh-CN" dirty="0"/>
          </a:p>
          <a:p>
            <a:pPr>
              <a:buNone/>
            </a:pPr>
            <a:r>
              <a:rPr lang="en-US" dirty="0"/>
              <a:t>	</a:t>
            </a:r>
            <a:r>
              <a:rPr lang="en-US" altLang="zh-CN" dirty="0"/>
              <a:t>IIA</a:t>
            </a:r>
            <a:r>
              <a:rPr lang="zh-CN" altLang="en-US" dirty="0"/>
              <a:t>族元素：</a:t>
            </a:r>
            <a:r>
              <a:rPr lang="en-US" altLang="zh-CN" dirty="0"/>
              <a:t>Be</a:t>
            </a:r>
            <a:r>
              <a:rPr lang="zh-CN" altLang="en-US" dirty="0"/>
              <a:t>，</a:t>
            </a:r>
            <a:r>
              <a:rPr lang="en-US" altLang="zh-CN" dirty="0"/>
              <a:t>Mg</a:t>
            </a:r>
            <a:r>
              <a:rPr lang="zh-CN" altLang="en-US" dirty="0"/>
              <a:t>，</a:t>
            </a:r>
            <a:r>
              <a:rPr lang="en-US" altLang="zh-CN" dirty="0"/>
              <a:t>Ca</a:t>
            </a:r>
            <a:r>
              <a:rPr lang="zh-CN" altLang="en-US" dirty="0"/>
              <a:t>，</a:t>
            </a:r>
            <a:r>
              <a:rPr lang="en-US" altLang="zh-CN" dirty="0" err="1"/>
              <a:t>Sr</a:t>
            </a:r>
            <a:r>
              <a:rPr lang="zh-CN" altLang="en-US" dirty="0"/>
              <a:t>，</a:t>
            </a:r>
            <a:r>
              <a:rPr lang="en-US" altLang="zh-CN" dirty="0" err="1"/>
              <a:t>Ba</a:t>
            </a:r>
            <a:r>
              <a:rPr lang="zh-CN" altLang="en-US" dirty="0"/>
              <a:t>，</a:t>
            </a:r>
            <a:r>
              <a:rPr lang="en-US" altLang="zh-CN" dirty="0"/>
              <a:t>Ra</a:t>
            </a:r>
            <a:endParaRPr lang="en-US" dirty="0"/>
          </a:p>
          <a:p>
            <a:pPr>
              <a:buNone/>
            </a:pPr>
            <a:r>
              <a:rPr lang="en-US" altLang="zh-CN" dirty="0"/>
              <a:t>	</a:t>
            </a:r>
            <a:r>
              <a:rPr lang="zh-CN" altLang="en-US" dirty="0"/>
              <a:t>答：钡</a:t>
            </a:r>
            <a:r>
              <a:rPr lang="en-US" altLang="zh-CN" dirty="0" err="1"/>
              <a:t>Ba</a:t>
            </a:r>
            <a:r>
              <a:rPr lang="zh-CN" altLang="en-US" dirty="0"/>
              <a:t>，第</a:t>
            </a:r>
            <a:r>
              <a:rPr lang="en-US" altLang="zh-CN" dirty="0"/>
              <a:t>6</a:t>
            </a:r>
            <a:r>
              <a:rPr lang="zh-CN" altLang="en-US" dirty="0"/>
              <a:t>周期，</a:t>
            </a:r>
            <a:r>
              <a:rPr lang="en-US" altLang="zh-CN" dirty="0"/>
              <a:t>IIA</a:t>
            </a:r>
            <a:r>
              <a:rPr lang="zh-CN" altLang="en-US" dirty="0"/>
              <a:t>族</a:t>
            </a:r>
            <a:endParaRPr lang="en-US" altLang="zh-CN" dirty="0"/>
          </a:p>
          <a:p>
            <a:pPr>
              <a:buNone/>
            </a:pPr>
            <a:endParaRPr lang="en-US" altLang="zh-CN" dirty="0"/>
          </a:p>
          <a:p>
            <a:r>
              <a:rPr lang="zh-CN" altLang="en-US" dirty="0"/>
              <a:t>某元素的一价阴离子与</a:t>
            </a:r>
            <a:r>
              <a:rPr lang="en-US" altLang="zh-CN" dirty="0"/>
              <a:t>Kr</a:t>
            </a:r>
            <a:r>
              <a:rPr lang="zh-CN" altLang="en-US" dirty="0"/>
              <a:t>的电子层结构相同，问它是什么元素，在第几周期第几族？</a:t>
            </a:r>
            <a:endParaRPr lang="en-US" altLang="zh-CN" dirty="0"/>
          </a:p>
          <a:p>
            <a:pPr>
              <a:buNone/>
            </a:pPr>
            <a:r>
              <a:rPr lang="en-US" altLang="zh-CN" dirty="0"/>
              <a:t>	VIIIA</a:t>
            </a:r>
            <a:r>
              <a:rPr lang="zh-CN" altLang="en-US" dirty="0"/>
              <a:t>族元素：</a:t>
            </a:r>
            <a:r>
              <a:rPr lang="en-US" altLang="zh-CN" dirty="0"/>
              <a:t>He</a:t>
            </a:r>
            <a:r>
              <a:rPr lang="zh-CN" altLang="en-US" dirty="0"/>
              <a:t>，</a:t>
            </a:r>
            <a:r>
              <a:rPr lang="en-US" altLang="zh-CN" dirty="0"/>
              <a:t>Ne</a:t>
            </a:r>
            <a:r>
              <a:rPr lang="zh-CN" altLang="en-US" dirty="0"/>
              <a:t>，</a:t>
            </a:r>
            <a:r>
              <a:rPr lang="en-US" altLang="zh-CN" dirty="0" err="1"/>
              <a:t>Ar</a:t>
            </a:r>
            <a:r>
              <a:rPr lang="zh-CN" altLang="en-US" dirty="0"/>
              <a:t>，</a:t>
            </a:r>
            <a:r>
              <a:rPr lang="en-US" altLang="zh-CN" dirty="0"/>
              <a:t>Kr</a:t>
            </a:r>
            <a:r>
              <a:rPr lang="zh-CN" altLang="en-US" dirty="0"/>
              <a:t>，</a:t>
            </a:r>
            <a:r>
              <a:rPr lang="en-US" altLang="zh-CN" dirty="0" err="1"/>
              <a:t>Xe</a:t>
            </a:r>
            <a:r>
              <a:rPr lang="zh-CN" altLang="en-US" dirty="0"/>
              <a:t>，</a:t>
            </a:r>
            <a:r>
              <a:rPr lang="en-US" altLang="zh-CN" dirty="0" err="1"/>
              <a:t>Rn</a:t>
            </a:r>
            <a:endParaRPr lang="en-US" altLang="zh-CN" dirty="0"/>
          </a:p>
          <a:p>
            <a:pPr>
              <a:buNone/>
            </a:pPr>
            <a:r>
              <a:rPr lang="en-US" dirty="0"/>
              <a:t>	</a:t>
            </a:r>
            <a:r>
              <a:rPr lang="en-US" altLang="zh-CN" dirty="0"/>
              <a:t>VIIA</a:t>
            </a:r>
            <a:r>
              <a:rPr lang="zh-CN" altLang="en-US" dirty="0"/>
              <a:t>族元素：</a:t>
            </a:r>
            <a:r>
              <a:rPr lang="en-US" altLang="zh-CN" dirty="0"/>
              <a:t> F</a:t>
            </a:r>
            <a:r>
              <a:rPr lang="zh-CN" altLang="en-US" dirty="0"/>
              <a:t>，</a:t>
            </a:r>
            <a:r>
              <a:rPr lang="en-US" altLang="zh-CN" dirty="0" err="1"/>
              <a:t>Cl</a:t>
            </a:r>
            <a:r>
              <a:rPr lang="zh-CN" altLang="en-US" dirty="0"/>
              <a:t>，</a:t>
            </a:r>
            <a:r>
              <a:rPr lang="en-US" altLang="zh-CN" dirty="0"/>
              <a:t>Br</a:t>
            </a:r>
            <a:r>
              <a:rPr lang="zh-CN" altLang="en-US" dirty="0"/>
              <a:t>，</a:t>
            </a:r>
            <a:r>
              <a:rPr lang="en-US" altLang="zh-CN" dirty="0"/>
              <a:t>I</a:t>
            </a:r>
            <a:r>
              <a:rPr lang="zh-CN" altLang="en-US" dirty="0"/>
              <a:t>，</a:t>
            </a:r>
            <a:r>
              <a:rPr lang="en-US" altLang="zh-CN" dirty="0"/>
              <a:t>At</a:t>
            </a:r>
            <a:endParaRPr lang="en-US" dirty="0"/>
          </a:p>
          <a:p>
            <a:pPr>
              <a:buNone/>
            </a:pPr>
            <a:r>
              <a:rPr lang="en-US" altLang="zh-CN" dirty="0"/>
              <a:t>	</a:t>
            </a:r>
            <a:r>
              <a:rPr lang="zh-CN" altLang="en-US" dirty="0"/>
              <a:t>答：溴</a:t>
            </a:r>
            <a:r>
              <a:rPr lang="en-US" altLang="zh-CN" dirty="0"/>
              <a:t>Br</a:t>
            </a:r>
            <a:r>
              <a:rPr lang="zh-CN" altLang="en-US" dirty="0"/>
              <a:t>，第</a:t>
            </a:r>
            <a:r>
              <a:rPr lang="en-US" altLang="zh-CN" dirty="0"/>
              <a:t>4</a:t>
            </a:r>
            <a:r>
              <a:rPr lang="zh-CN" altLang="en-US" dirty="0"/>
              <a:t>周期，</a:t>
            </a:r>
            <a:r>
              <a:rPr lang="en-US" altLang="zh-CN" dirty="0"/>
              <a:t>VIIA</a:t>
            </a:r>
            <a:r>
              <a:rPr lang="zh-CN" altLang="en-US" dirty="0"/>
              <a:t>族</a:t>
            </a:r>
            <a:endParaRPr lang="en-US" altLang="zh-CN" dirty="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blinds(horizontal)">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blinds(horizontal)">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blinds(horizontal)">
                                      <p:cBhvr>
                                        <p:cTn id="4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p:cNvSpPr txBox="1"/>
          <p:nvPr/>
        </p:nvSpPr>
        <p:spPr>
          <a:xfrm>
            <a:off x="1952626" y="1143000"/>
            <a:ext cx="457201" cy="3816429"/>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2200" b="1" dirty="0">
                <a:solidFill>
                  <a:schemeClr val="bg1"/>
                </a:solidFill>
              </a:rPr>
              <a:t>半径增加</a:t>
            </a:r>
            <a:endParaRPr lang="en-US" altLang="zh-CN" sz="2200" b="1" dirty="0">
              <a:solidFill>
                <a:schemeClr val="bg1"/>
              </a:solidFill>
            </a:endParaRPr>
          </a:p>
          <a:p>
            <a:pPr algn="ctr"/>
            <a:endParaRPr lang="en-US" sz="2200" b="1" dirty="0">
              <a:solidFill>
                <a:schemeClr val="bg1"/>
              </a:solidFill>
            </a:endParaRPr>
          </a:p>
          <a:p>
            <a:pPr algn="ctr"/>
            <a:endParaRPr lang="en-US" sz="2200" b="1" dirty="0">
              <a:solidFill>
                <a:schemeClr val="bg1"/>
              </a:solidFill>
            </a:endParaRPr>
          </a:p>
          <a:p>
            <a:pPr algn="ctr"/>
            <a:endParaRPr lang="en-US" sz="2200" b="1" dirty="0">
              <a:solidFill>
                <a:schemeClr val="bg1"/>
              </a:solidFill>
            </a:endParaRPr>
          </a:p>
          <a:p>
            <a:pPr algn="ctr"/>
            <a:endParaRPr lang="en-US" sz="2200" b="1" dirty="0">
              <a:solidFill>
                <a:schemeClr val="bg1"/>
              </a:solidFill>
            </a:endParaRPr>
          </a:p>
          <a:p>
            <a:pPr algn="ctr"/>
            <a:endParaRPr lang="en-US" sz="2200" b="1" dirty="0">
              <a:solidFill>
                <a:schemeClr val="bg1"/>
              </a:solidFill>
            </a:endParaRPr>
          </a:p>
          <a:p>
            <a:pPr algn="ctr"/>
            <a:endParaRPr lang="en-US" sz="2200" b="1" dirty="0">
              <a:solidFill>
                <a:schemeClr val="bg1"/>
              </a:solidFill>
            </a:endParaRPr>
          </a:p>
          <a:p>
            <a:pPr algn="ctr"/>
            <a:endParaRPr lang="en-US" sz="2200" b="1" dirty="0">
              <a:solidFill>
                <a:schemeClr val="bg1"/>
              </a:solidFill>
            </a:endParaRPr>
          </a:p>
        </p:txBody>
      </p:sp>
      <p:pic>
        <p:nvPicPr>
          <p:cNvPr id="6147" name="Picture 3" descr="C:\Users\User\Desktop\嘿哟家怡在这里\化学-06\images (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1250" y="1160400"/>
            <a:ext cx="4933950" cy="4554415"/>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Arrow Connector 2"/>
          <p:cNvCxnSpPr/>
          <p:nvPr/>
        </p:nvCxnSpPr>
        <p:spPr>
          <a:xfrm flipH="1">
            <a:off x="3248027" y="1143000"/>
            <a:ext cx="27432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609599" y="228600"/>
            <a:ext cx="8077199" cy="769441"/>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2200" b="1" dirty="0">
                <a:solidFill>
                  <a:schemeClr val="accent6">
                    <a:lumMod val="75000"/>
                  </a:schemeClr>
                </a:solidFill>
              </a:rPr>
              <a:t>在同一周期，从左向右</a:t>
            </a:r>
            <a:r>
              <a:rPr lang="zh-CN" altLang="en-US" sz="2200" b="1" dirty="0">
                <a:solidFill>
                  <a:srgbClr val="C00000"/>
                </a:solidFill>
              </a:rPr>
              <a:t>核电荷数增加</a:t>
            </a:r>
            <a:r>
              <a:rPr lang="zh-CN" altLang="en-US" sz="2200" b="1" dirty="0">
                <a:solidFill>
                  <a:schemeClr val="accent6">
                    <a:lumMod val="75000"/>
                  </a:schemeClr>
                </a:solidFill>
              </a:rPr>
              <a:t>，且电子都增加在</a:t>
            </a:r>
            <a:r>
              <a:rPr lang="zh-CN" altLang="en-US" sz="2200" b="1" dirty="0">
                <a:solidFill>
                  <a:srgbClr val="C00000"/>
                </a:solidFill>
              </a:rPr>
              <a:t>同一外层</a:t>
            </a:r>
            <a:r>
              <a:rPr lang="zh-CN" altLang="en-US" sz="2200" b="1" dirty="0">
                <a:solidFill>
                  <a:schemeClr val="accent6">
                    <a:lumMod val="75000"/>
                  </a:schemeClr>
                </a:solidFill>
              </a:rPr>
              <a:t>，核电荷对电子</a:t>
            </a:r>
            <a:r>
              <a:rPr lang="zh-CN" altLang="en-US" sz="2200" b="1" dirty="0">
                <a:solidFill>
                  <a:srgbClr val="C00000"/>
                </a:solidFill>
              </a:rPr>
              <a:t>吸引力增强</a:t>
            </a:r>
            <a:r>
              <a:rPr lang="zh-CN" altLang="en-US" sz="2200" b="1" dirty="0">
                <a:solidFill>
                  <a:schemeClr val="accent6">
                    <a:lumMod val="75000"/>
                  </a:schemeClr>
                </a:solidFill>
              </a:rPr>
              <a:t>，导致</a:t>
            </a:r>
            <a:r>
              <a:rPr lang="zh-CN" altLang="en-US" sz="2200" b="1" dirty="0">
                <a:solidFill>
                  <a:srgbClr val="C00000"/>
                </a:solidFill>
              </a:rPr>
              <a:t>半径减小</a:t>
            </a:r>
            <a:r>
              <a:rPr lang="zh-CN" altLang="en-US" sz="2200" b="1" dirty="0">
                <a:solidFill>
                  <a:schemeClr val="accent6">
                    <a:lumMod val="75000"/>
                  </a:schemeClr>
                </a:solidFill>
              </a:rPr>
              <a:t>。</a:t>
            </a:r>
            <a:endParaRPr lang="en-US" sz="2200" b="1" dirty="0">
              <a:solidFill>
                <a:schemeClr val="accent6">
                  <a:lumMod val="75000"/>
                </a:schemeClr>
              </a:solidFill>
            </a:endParaRPr>
          </a:p>
        </p:txBody>
      </p:sp>
      <p:sp>
        <p:nvSpPr>
          <p:cNvPr id="11" name="TextBox 10"/>
          <p:cNvSpPr txBox="1"/>
          <p:nvPr/>
        </p:nvSpPr>
        <p:spPr>
          <a:xfrm>
            <a:off x="3933827" y="1219200"/>
            <a:ext cx="1447800" cy="430887"/>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2200" b="1" dirty="0">
                <a:solidFill>
                  <a:srgbClr val="FF0000"/>
                </a:solidFill>
              </a:rPr>
              <a:t>半径增加</a:t>
            </a:r>
            <a:endParaRPr lang="en-US" sz="2200" b="1" dirty="0">
              <a:solidFill>
                <a:srgbClr val="FF0000"/>
              </a:solidFill>
            </a:endParaRPr>
          </a:p>
        </p:txBody>
      </p:sp>
      <p:cxnSp>
        <p:nvCxnSpPr>
          <p:cNvPr id="15" name="Straight Arrow Connector 14"/>
          <p:cNvCxnSpPr/>
          <p:nvPr/>
        </p:nvCxnSpPr>
        <p:spPr>
          <a:xfrm>
            <a:off x="2181227" y="1497687"/>
            <a:ext cx="0" cy="24384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952626" y="4240556"/>
            <a:ext cx="457201" cy="1446550"/>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2200" b="1" dirty="0">
                <a:solidFill>
                  <a:srgbClr val="FF0000"/>
                </a:solidFill>
              </a:rPr>
              <a:t>半径增加</a:t>
            </a:r>
            <a:endParaRPr lang="en-US" sz="2200" b="1" dirty="0">
              <a:solidFill>
                <a:srgbClr val="FF0000"/>
              </a:solidFill>
            </a:endParaRPr>
          </a:p>
        </p:txBody>
      </p:sp>
      <p:sp>
        <p:nvSpPr>
          <p:cNvPr id="19" name="TextBox 18"/>
          <p:cNvSpPr txBox="1"/>
          <p:nvPr/>
        </p:nvSpPr>
        <p:spPr>
          <a:xfrm>
            <a:off x="619127" y="5867400"/>
            <a:ext cx="8077199" cy="769441"/>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2200" b="1" dirty="0">
                <a:solidFill>
                  <a:schemeClr val="accent6">
                    <a:lumMod val="75000"/>
                  </a:schemeClr>
                </a:solidFill>
              </a:rPr>
              <a:t>在同一族，从上到下</a:t>
            </a:r>
            <a:r>
              <a:rPr lang="zh-CN" altLang="en-US" sz="2200" b="1" dirty="0">
                <a:solidFill>
                  <a:srgbClr val="C00000"/>
                </a:solidFill>
              </a:rPr>
              <a:t>原子序数增加</a:t>
            </a:r>
            <a:r>
              <a:rPr lang="zh-CN" altLang="en-US" sz="2200" b="1" dirty="0">
                <a:solidFill>
                  <a:schemeClr val="accent6">
                    <a:lumMod val="75000"/>
                  </a:schemeClr>
                </a:solidFill>
              </a:rPr>
              <a:t>，</a:t>
            </a:r>
            <a:r>
              <a:rPr lang="zh-CN" altLang="en-US" sz="2200" b="1" dirty="0">
                <a:solidFill>
                  <a:srgbClr val="C00000"/>
                </a:solidFill>
              </a:rPr>
              <a:t>电子层数增多</a:t>
            </a:r>
            <a:r>
              <a:rPr lang="zh-CN" altLang="en-US" sz="2200" b="1" dirty="0">
                <a:solidFill>
                  <a:schemeClr val="accent6">
                    <a:lumMod val="75000"/>
                  </a:schemeClr>
                </a:solidFill>
              </a:rPr>
              <a:t>，电子之间的</a:t>
            </a:r>
            <a:r>
              <a:rPr lang="zh-CN" altLang="en-US" sz="2200" b="1" dirty="0">
                <a:solidFill>
                  <a:srgbClr val="C00000"/>
                </a:solidFill>
              </a:rPr>
              <a:t>排斥</a:t>
            </a:r>
            <a:r>
              <a:rPr lang="zh-CN" altLang="en-US" sz="2200" b="1" dirty="0">
                <a:solidFill>
                  <a:schemeClr val="accent6">
                    <a:lumMod val="75000"/>
                  </a:schemeClr>
                </a:solidFill>
              </a:rPr>
              <a:t>作用使</a:t>
            </a:r>
            <a:r>
              <a:rPr lang="zh-CN" altLang="en-US" sz="2200" b="1" dirty="0">
                <a:solidFill>
                  <a:srgbClr val="C00000"/>
                </a:solidFill>
              </a:rPr>
              <a:t>原子半径增大。</a:t>
            </a:r>
            <a:endParaRPr lang="en-US" sz="2200" b="1" dirty="0">
              <a:solidFill>
                <a:srgbClr val="C00000"/>
              </a:solidFill>
            </a:endParaRPr>
          </a:p>
        </p:txBody>
      </p:sp>
    </p:spTree>
    <p:extLst>
      <p:ext uri="{BB962C8B-B14F-4D97-AF65-F5344CB8AC3E}">
        <p14:creationId xmlns:p14="http://schemas.microsoft.com/office/powerpoint/2010/main" val="948258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1000"/>
                                        <p:tgtEl>
                                          <p:spTgt spid="15"/>
                                        </p:tgtEl>
                                      </p:cBhvr>
                                    </p:animEffect>
                                    <p:anim calcmode="lin" valueType="num">
                                      <p:cBhvr>
                                        <p:cTn id="25" dur="1000" fill="hold"/>
                                        <p:tgtEl>
                                          <p:spTgt spid="15"/>
                                        </p:tgtEl>
                                        <p:attrNameLst>
                                          <p:attrName>ppt_x</p:attrName>
                                        </p:attrNameLst>
                                      </p:cBhvr>
                                      <p:tavLst>
                                        <p:tav tm="0">
                                          <p:val>
                                            <p:strVal val="#ppt_x"/>
                                          </p:val>
                                        </p:tav>
                                        <p:tav tm="100000">
                                          <p:val>
                                            <p:strVal val="#ppt_x"/>
                                          </p:val>
                                        </p:tav>
                                      </p:tavLst>
                                    </p:anim>
                                    <p:anim calcmode="lin" valueType="num">
                                      <p:cBhvr>
                                        <p:cTn id="26" dur="1000" fill="hold"/>
                                        <p:tgtEl>
                                          <p:spTgt spid="15"/>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1000"/>
                                        <p:tgtEl>
                                          <p:spTgt spid="17"/>
                                        </p:tgtEl>
                                      </p:cBhvr>
                                    </p:animEffect>
                                    <p:anim calcmode="lin" valueType="num">
                                      <p:cBhvr>
                                        <p:cTn id="30" dur="1000" fill="hold"/>
                                        <p:tgtEl>
                                          <p:spTgt spid="17"/>
                                        </p:tgtEl>
                                        <p:attrNameLst>
                                          <p:attrName>ppt_x</p:attrName>
                                        </p:attrNameLst>
                                      </p:cBhvr>
                                      <p:tavLst>
                                        <p:tav tm="0">
                                          <p:val>
                                            <p:strVal val="#ppt_x"/>
                                          </p:val>
                                        </p:tav>
                                        <p:tav tm="100000">
                                          <p:val>
                                            <p:strVal val="#ppt_x"/>
                                          </p:val>
                                        </p:tav>
                                      </p:tavLst>
                                    </p:anim>
                                    <p:anim calcmode="lin" valueType="num">
                                      <p:cBhvr>
                                        <p:cTn id="31" dur="1000" fill="hold"/>
                                        <p:tgtEl>
                                          <p:spTgt spid="17"/>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1000"/>
                                        <p:tgtEl>
                                          <p:spTgt spid="18"/>
                                        </p:tgtEl>
                                      </p:cBhvr>
                                    </p:animEffect>
                                    <p:anim calcmode="lin" valueType="num">
                                      <p:cBhvr>
                                        <p:cTn id="35" dur="1000" fill="hold"/>
                                        <p:tgtEl>
                                          <p:spTgt spid="18"/>
                                        </p:tgtEl>
                                        <p:attrNameLst>
                                          <p:attrName>ppt_x</p:attrName>
                                        </p:attrNameLst>
                                      </p:cBhvr>
                                      <p:tavLst>
                                        <p:tav tm="0">
                                          <p:val>
                                            <p:strVal val="#ppt_x"/>
                                          </p:val>
                                        </p:tav>
                                        <p:tav tm="100000">
                                          <p:val>
                                            <p:strVal val="#ppt_x"/>
                                          </p:val>
                                        </p:tav>
                                      </p:tavLst>
                                    </p:anim>
                                    <p:anim calcmode="lin" valueType="num">
                                      <p:cBhvr>
                                        <p:cTn id="36" dur="1000" fill="hold"/>
                                        <p:tgtEl>
                                          <p:spTgt spid="18"/>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1000"/>
                                        <p:tgtEl>
                                          <p:spTgt spid="19"/>
                                        </p:tgtEl>
                                      </p:cBhvr>
                                    </p:animEffect>
                                    <p:anim calcmode="lin" valueType="num">
                                      <p:cBhvr>
                                        <p:cTn id="40" dur="1000" fill="hold"/>
                                        <p:tgtEl>
                                          <p:spTgt spid="19"/>
                                        </p:tgtEl>
                                        <p:attrNameLst>
                                          <p:attrName>ppt_x</p:attrName>
                                        </p:attrNameLst>
                                      </p:cBhvr>
                                      <p:tavLst>
                                        <p:tav tm="0">
                                          <p:val>
                                            <p:strVal val="#ppt_x"/>
                                          </p:val>
                                        </p:tav>
                                        <p:tav tm="100000">
                                          <p:val>
                                            <p:strVal val="#ppt_x"/>
                                          </p:val>
                                        </p:tav>
                                      </p:tavLst>
                                    </p:anim>
                                    <p:anim calcmode="lin" valueType="num">
                                      <p:cBhvr>
                                        <p:cTn id="41"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8" grpId="0" animBg="1"/>
      <p:bldP spid="11" grpId="0" animBg="1"/>
      <p:bldP spid="17" grpId="0" animBg="1"/>
      <p:bldP spid="1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p:cNvSpPr txBox="1"/>
          <p:nvPr/>
        </p:nvSpPr>
        <p:spPr>
          <a:xfrm>
            <a:off x="0" y="0"/>
            <a:ext cx="9144000" cy="646331"/>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3600" b="1" dirty="0">
                <a:solidFill>
                  <a:schemeClr val="accent6">
                    <a:lumMod val="75000"/>
                  </a:schemeClr>
                </a:solidFill>
              </a:rPr>
              <a:t>原子半径和离子半径的比较</a:t>
            </a:r>
            <a:endParaRPr lang="en-US" sz="3600" b="1" dirty="0">
              <a:solidFill>
                <a:schemeClr val="accent6">
                  <a:lumMod val="75000"/>
                </a:schemeClr>
              </a:solidFill>
            </a:endParaRPr>
          </a:p>
        </p:txBody>
      </p:sp>
      <p:sp>
        <p:nvSpPr>
          <p:cNvPr id="49" name="TextBox 48"/>
          <p:cNvSpPr txBox="1"/>
          <p:nvPr/>
        </p:nvSpPr>
        <p:spPr>
          <a:xfrm>
            <a:off x="428596" y="4357694"/>
            <a:ext cx="8358246" cy="2308324"/>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sz="2400" b="1" dirty="0">
                <a:solidFill>
                  <a:srgbClr val="C00000"/>
                </a:solidFill>
              </a:rPr>
              <a:t>阳离子</a:t>
            </a:r>
            <a:r>
              <a:rPr lang="zh-CN" altLang="en-US" sz="2400" b="1" dirty="0">
                <a:solidFill>
                  <a:schemeClr val="accent6">
                    <a:lumMod val="75000"/>
                  </a:schemeClr>
                </a:solidFill>
              </a:rPr>
              <a:t>的半径比它原来的原子</a:t>
            </a:r>
            <a:r>
              <a:rPr lang="zh-CN" altLang="en-US" sz="2400" b="1" dirty="0">
                <a:solidFill>
                  <a:srgbClr val="C00000"/>
                </a:solidFill>
              </a:rPr>
              <a:t>小</a:t>
            </a:r>
            <a:r>
              <a:rPr lang="zh-CN" altLang="en-US" sz="2400" b="1" dirty="0">
                <a:solidFill>
                  <a:schemeClr val="accent6">
                    <a:lumMod val="75000"/>
                  </a:schemeClr>
                </a:solidFill>
              </a:rPr>
              <a:t>，因为阳离子比起原子</a:t>
            </a:r>
            <a:r>
              <a:rPr lang="zh-CN" altLang="en-US" sz="2400" b="1" dirty="0">
                <a:solidFill>
                  <a:srgbClr val="C00000"/>
                </a:solidFill>
              </a:rPr>
              <a:t>少了电子</a:t>
            </a:r>
            <a:r>
              <a:rPr lang="zh-CN" altLang="en-US" sz="2400" b="1" dirty="0">
                <a:solidFill>
                  <a:schemeClr val="accent6">
                    <a:lumMod val="75000"/>
                  </a:schemeClr>
                </a:solidFill>
              </a:rPr>
              <a:t>，核电荷对电子</a:t>
            </a:r>
            <a:r>
              <a:rPr lang="zh-CN" altLang="en-US" sz="2400" b="1" dirty="0">
                <a:solidFill>
                  <a:srgbClr val="C00000"/>
                </a:solidFill>
              </a:rPr>
              <a:t>吸引力增强</a:t>
            </a:r>
            <a:r>
              <a:rPr lang="zh-CN" altLang="en-US" sz="2400" b="1" dirty="0">
                <a:solidFill>
                  <a:schemeClr val="accent6">
                    <a:lumMod val="75000"/>
                  </a:schemeClr>
                </a:solidFill>
              </a:rPr>
              <a:t>，所以</a:t>
            </a:r>
            <a:r>
              <a:rPr lang="zh-CN" altLang="en-US" sz="2400" b="1" dirty="0">
                <a:solidFill>
                  <a:srgbClr val="C00000"/>
                </a:solidFill>
              </a:rPr>
              <a:t>半径减小</a:t>
            </a:r>
            <a:r>
              <a:rPr lang="zh-CN" altLang="en-US" sz="2400" b="1" dirty="0">
                <a:solidFill>
                  <a:schemeClr val="accent6">
                    <a:lumMod val="75000"/>
                  </a:schemeClr>
                </a:solidFill>
              </a:rPr>
              <a:t>。</a:t>
            </a:r>
            <a:endParaRPr lang="en-US" altLang="zh-CN" sz="2400" b="1" dirty="0">
              <a:solidFill>
                <a:schemeClr val="accent6">
                  <a:lumMod val="75000"/>
                </a:schemeClr>
              </a:solidFill>
            </a:endParaRPr>
          </a:p>
          <a:p>
            <a:r>
              <a:rPr lang="zh-CN" altLang="en-US" sz="2400" b="1" dirty="0">
                <a:solidFill>
                  <a:srgbClr val="C00000"/>
                </a:solidFill>
              </a:rPr>
              <a:t>阴离子</a:t>
            </a:r>
            <a:r>
              <a:rPr lang="zh-CN" altLang="en-US" sz="2400" b="1" dirty="0">
                <a:solidFill>
                  <a:schemeClr val="accent6">
                    <a:lumMod val="75000"/>
                  </a:schemeClr>
                </a:solidFill>
              </a:rPr>
              <a:t>的半径比它原来的原子</a:t>
            </a:r>
            <a:r>
              <a:rPr lang="zh-CN" altLang="en-US" sz="2400" b="1" dirty="0">
                <a:solidFill>
                  <a:srgbClr val="C00000"/>
                </a:solidFill>
              </a:rPr>
              <a:t>大</a:t>
            </a:r>
            <a:r>
              <a:rPr lang="zh-CN" altLang="en-US" sz="2400" b="1" dirty="0">
                <a:solidFill>
                  <a:schemeClr val="accent6">
                    <a:lumMod val="75000"/>
                  </a:schemeClr>
                </a:solidFill>
              </a:rPr>
              <a:t>，因为阴离子比起原子</a:t>
            </a:r>
            <a:r>
              <a:rPr lang="zh-CN" altLang="en-US" sz="2400" b="1" dirty="0">
                <a:solidFill>
                  <a:srgbClr val="C00000"/>
                </a:solidFill>
              </a:rPr>
              <a:t>多了电子</a:t>
            </a:r>
            <a:r>
              <a:rPr lang="zh-CN" altLang="en-US" sz="2400" b="1" dirty="0">
                <a:solidFill>
                  <a:schemeClr val="accent6">
                    <a:lumMod val="75000"/>
                  </a:schemeClr>
                </a:solidFill>
              </a:rPr>
              <a:t>，核电荷对电子</a:t>
            </a:r>
            <a:r>
              <a:rPr lang="zh-CN" altLang="en-US" sz="2400" b="1" dirty="0">
                <a:solidFill>
                  <a:srgbClr val="C00000"/>
                </a:solidFill>
              </a:rPr>
              <a:t>吸引力减弱</a:t>
            </a:r>
            <a:r>
              <a:rPr lang="zh-CN" altLang="en-US" sz="2400" b="1" dirty="0">
                <a:solidFill>
                  <a:schemeClr val="accent6">
                    <a:lumMod val="75000"/>
                  </a:schemeClr>
                </a:solidFill>
              </a:rPr>
              <a:t>，所以</a:t>
            </a:r>
            <a:r>
              <a:rPr lang="zh-CN" altLang="en-US" sz="2400" b="1" dirty="0">
                <a:solidFill>
                  <a:srgbClr val="C00000"/>
                </a:solidFill>
              </a:rPr>
              <a:t>半径增大</a:t>
            </a:r>
            <a:r>
              <a:rPr lang="zh-CN" altLang="en-US" sz="2400" b="1" dirty="0">
                <a:solidFill>
                  <a:schemeClr val="accent6">
                    <a:lumMod val="75000"/>
                  </a:schemeClr>
                </a:solidFill>
              </a:rPr>
              <a:t>。</a:t>
            </a:r>
            <a:endParaRPr lang="en-US" altLang="zh-CN" sz="2400" b="1" dirty="0">
              <a:solidFill>
                <a:schemeClr val="accent6">
                  <a:lumMod val="75000"/>
                </a:schemeClr>
              </a:solidFill>
            </a:endParaRPr>
          </a:p>
          <a:p>
            <a:r>
              <a:rPr lang="zh-CN" altLang="en-US" sz="2400" b="1" dirty="0">
                <a:solidFill>
                  <a:schemeClr val="accent6">
                    <a:lumMod val="75000"/>
                  </a:schemeClr>
                </a:solidFill>
              </a:rPr>
              <a:t>由于电子层数不同，同一周期中元素阳离子的半径一般比阴离子小</a:t>
            </a:r>
            <a:endParaRPr lang="en-US" sz="2400" b="1" dirty="0">
              <a:solidFill>
                <a:schemeClr val="accent6">
                  <a:lumMod val="75000"/>
                </a:schemeClr>
              </a:solidFill>
            </a:endParaRPr>
          </a:p>
        </p:txBody>
      </p:sp>
      <p:pic>
        <p:nvPicPr>
          <p:cNvPr id="21" name="Picture 20" descr="a4-18.jpg"/>
          <p:cNvPicPr>
            <a:picLocks noChangeAspect="1"/>
          </p:cNvPicPr>
          <p:nvPr/>
        </p:nvPicPr>
        <p:blipFill>
          <a:blip r:embed="rId2"/>
          <a:srcRect t="9665" r="26136"/>
          <a:stretch>
            <a:fillRect/>
          </a:stretch>
        </p:blipFill>
        <p:spPr>
          <a:xfrm>
            <a:off x="785786" y="785818"/>
            <a:ext cx="3714744" cy="3338510"/>
          </a:xfrm>
          <a:prstGeom prst="rect">
            <a:avLst/>
          </a:prstGeom>
        </p:spPr>
      </p:pic>
      <p:pic>
        <p:nvPicPr>
          <p:cNvPr id="22" name="Picture 21" descr="Ionic Radii3.Gif"/>
          <p:cNvPicPr>
            <a:picLocks noChangeAspect="1"/>
          </p:cNvPicPr>
          <p:nvPr/>
        </p:nvPicPr>
        <p:blipFill>
          <a:blip r:embed="rId3"/>
          <a:srcRect l="31524" t="9766"/>
          <a:stretch>
            <a:fillRect/>
          </a:stretch>
        </p:blipFill>
        <p:spPr>
          <a:xfrm>
            <a:off x="4500562" y="785818"/>
            <a:ext cx="3724263" cy="3357586"/>
          </a:xfrm>
          <a:prstGeom prst="rect">
            <a:avLst/>
          </a:prstGeom>
        </p:spPr>
      </p:pic>
    </p:spTree>
    <p:extLst>
      <p:ext uri="{BB962C8B-B14F-4D97-AF65-F5344CB8AC3E}">
        <p14:creationId xmlns:p14="http://schemas.microsoft.com/office/powerpoint/2010/main" val="3024978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fade">
                                      <p:cBhvr>
                                        <p:cTn id="7" dur="1000"/>
                                        <p:tgtEl>
                                          <p:spTgt spid="49"/>
                                        </p:tgtEl>
                                      </p:cBhvr>
                                    </p:animEffect>
                                    <p:anim calcmode="lin" valueType="num">
                                      <p:cBhvr>
                                        <p:cTn id="8" dur="1000" fill="hold"/>
                                        <p:tgtEl>
                                          <p:spTgt spid="49"/>
                                        </p:tgtEl>
                                        <p:attrNameLst>
                                          <p:attrName>ppt_x</p:attrName>
                                        </p:attrNameLst>
                                      </p:cBhvr>
                                      <p:tavLst>
                                        <p:tav tm="0">
                                          <p:val>
                                            <p:strVal val="#ppt_x"/>
                                          </p:val>
                                        </p:tav>
                                        <p:tav tm="100000">
                                          <p:val>
                                            <p:strVal val="#ppt_x"/>
                                          </p:val>
                                        </p:tav>
                                      </p:tavLst>
                                    </p:anim>
                                    <p:anim calcmode="lin" valueType="num">
                                      <p:cBhvr>
                                        <p:cTn id="9" dur="1000" fill="hold"/>
                                        <p:tgtEl>
                                          <p:spTgt spid="4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TextBox 63"/>
          <p:cNvSpPr txBox="1"/>
          <p:nvPr/>
        </p:nvSpPr>
        <p:spPr>
          <a:xfrm>
            <a:off x="533401" y="3048001"/>
            <a:ext cx="4419600" cy="830997"/>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altLang="zh-CN" sz="2400" b="1" dirty="0">
                <a:solidFill>
                  <a:schemeClr val="accent6">
                    <a:lumMod val="75000"/>
                  </a:schemeClr>
                </a:solidFill>
              </a:rPr>
              <a:t>S</a:t>
            </a:r>
            <a:r>
              <a:rPr lang="zh-CN" altLang="en-US" sz="2400" b="1" dirty="0">
                <a:solidFill>
                  <a:schemeClr val="accent6">
                    <a:lumMod val="75000"/>
                  </a:schemeClr>
                </a:solidFill>
              </a:rPr>
              <a:t>：</a:t>
            </a:r>
            <a:r>
              <a:rPr lang="en-US" altLang="zh-CN" sz="2400" b="1" dirty="0">
                <a:solidFill>
                  <a:schemeClr val="accent6">
                    <a:lumMod val="75000"/>
                  </a:schemeClr>
                </a:solidFill>
              </a:rPr>
              <a:t>1s</a:t>
            </a:r>
            <a:r>
              <a:rPr lang="en-US" altLang="zh-CN" sz="2400" b="1" baseline="30000" dirty="0">
                <a:solidFill>
                  <a:schemeClr val="accent6">
                    <a:lumMod val="75000"/>
                  </a:schemeClr>
                </a:solidFill>
              </a:rPr>
              <a:t>2</a:t>
            </a:r>
            <a:r>
              <a:rPr lang="en-US" altLang="zh-CN" sz="2400" b="1" dirty="0">
                <a:solidFill>
                  <a:schemeClr val="accent6">
                    <a:lumMod val="75000"/>
                  </a:schemeClr>
                </a:solidFill>
              </a:rPr>
              <a:t> 2s</a:t>
            </a:r>
            <a:r>
              <a:rPr lang="en-US" altLang="zh-CN" sz="2400" b="1" baseline="30000" dirty="0">
                <a:solidFill>
                  <a:schemeClr val="accent6">
                    <a:lumMod val="75000"/>
                  </a:schemeClr>
                </a:solidFill>
              </a:rPr>
              <a:t>2</a:t>
            </a:r>
            <a:r>
              <a:rPr lang="en-US" altLang="zh-CN" sz="2400" b="1" dirty="0">
                <a:solidFill>
                  <a:schemeClr val="accent6">
                    <a:lumMod val="75000"/>
                  </a:schemeClr>
                </a:solidFill>
              </a:rPr>
              <a:t> 2p</a:t>
            </a:r>
            <a:r>
              <a:rPr lang="en-US" altLang="zh-CN" sz="2400" b="1" baseline="30000" dirty="0">
                <a:solidFill>
                  <a:schemeClr val="accent6">
                    <a:lumMod val="75000"/>
                  </a:schemeClr>
                </a:solidFill>
              </a:rPr>
              <a:t>6</a:t>
            </a:r>
            <a:r>
              <a:rPr lang="en-US" altLang="zh-CN" sz="2400" b="1" dirty="0">
                <a:solidFill>
                  <a:schemeClr val="accent6">
                    <a:lumMod val="75000"/>
                  </a:schemeClr>
                </a:solidFill>
              </a:rPr>
              <a:t> 3s</a:t>
            </a:r>
            <a:r>
              <a:rPr lang="en-US" altLang="zh-CN" sz="2400" b="1" baseline="30000" dirty="0">
                <a:solidFill>
                  <a:schemeClr val="accent6">
                    <a:lumMod val="75000"/>
                  </a:schemeClr>
                </a:solidFill>
              </a:rPr>
              <a:t>2</a:t>
            </a:r>
            <a:r>
              <a:rPr lang="en-US" altLang="zh-CN" sz="2400" b="1" dirty="0">
                <a:solidFill>
                  <a:schemeClr val="accent6">
                    <a:lumMod val="75000"/>
                  </a:schemeClr>
                </a:solidFill>
              </a:rPr>
              <a:t> 3p</a:t>
            </a:r>
            <a:r>
              <a:rPr lang="en-US" altLang="zh-CN" sz="2400" b="1" baseline="30000" dirty="0">
                <a:solidFill>
                  <a:schemeClr val="accent6">
                    <a:lumMod val="75000"/>
                  </a:schemeClr>
                </a:solidFill>
              </a:rPr>
              <a:t>4</a:t>
            </a:r>
          </a:p>
          <a:p>
            <a:r>
              <a:rPr lang="zh-CN" altLang="en-US" sz="2400" b="1" dirty="0">
                <a:solidFill>
                  <a:schemeClr val="accent6">
                    <a:lumMod val="75000"/>
                  </a:schemeClr>
                </a:solidFill>
              </a:rPr>
              <a:t>价电子：</a:t>
            </a:r>
            <a:r>
              <a:rPr lang="en-US" altLang="zh-CN" sz="2400" b="1" dirty="0">
                <a:solidFill>
                  <a:schemeClr val="accent6">
                    <a:lumMod val="75000"/>
                  </a:schemeClr>
                </a:solidFill>
              </a:rPr>
              <a:t>6</a:t>
            </a:r>
            <a:r>
              <a:rPr lang="zh-CN" altLang="en-US" sz="2400" b="1" dirty="0">
                <a:solidFill>
                  <a:schemeClr val="accent6">
                    <a:lumMod val="75000"/>
                  </a:schemeClr>
                </a:solidFill>
              </a:rPr>
              <a:t>个</a:t>
            </a:r>
            <a:endParaRPr lang="en-US" altLang="zh-CN" sz="2400" b="1" baseline="30000" dirty="0">
              <a:solidFill>
                <a:schemeClr val="accent6">
                  <a:lumMod val="75000"/>
                </a:schemeClr>
              </a:solidFill>
            </a:endParaRPr>
          </a:p>
        </p:txBody>
      </p:sp>
      <p:sp>
        <p:nvSpPr>
          <p:cNvPr id="4" name="TextBox 3"/>
          <p:cNvSpPr txBox="1"/>
          <p:nvPr/>
        </p:nvSpPr>
        <p:spPr>
          <a:xfrm>
            <a:off x="428596" y="1143000"/>
            <a:ext cx="8077199" cy="584775"/>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sz="3200" b="1" dirty="0">
                <a:solidFill>
                  <a:schemeClr val="accent6">
                    <a:lumMod val="75000"/>
                  </a:schemeClr>
                </a:solidFill>
              </a:rPr>
              <a:t>原子最外层的电子叫</a:t>
            </a:r>
            <a:r>
              <a:rPr lang="zh-CN" altLang="en-US" sz="3200" b="1" dirty="0">
                <a:solidFill>
                  <a:srgbClr val="C00000"/>
                </a:solidFill>
              </a:rPr>
              <a:t>价电子</a:t>
            </a:r>
            <a:r>
              <a:rPr lang="zh-CN" altLang="en-US" sz="3200" b="1" dirty="0">
                <a:solidFill>
                  <a:schemeClr val="accent6">
                    <a:lumMod val="75000"/>
                  </a:schemeClr>
                </a:solidFill>
              </a:rPr>
              <a:t>。</a:t>
            </a:r>
            <a:endParaRPr lang="en-US" sz="3200" b="1" dirty="0">
              <a:solidFill>
                <a:schemeClr val="accent6">
                  <a:lumMod val="75000"/>
                </a:schemeClr>
              </a:solidFill>
            </a:endParaRPr>
          </a:p>
        </p:txBody>
      </p:sp>
      <p:sp>
        <p:nvSpPr>
          <p:cNvPr id="6" name="TextBox 5"/>
          <p:cNvSpPr txBox="1"/>
          <p:nvPr/>
        </p:nvSpPr>
        <p:spPr>
          <a:xfrm>
            <a:off x="500034" y="1928802"/>
            <a:ext cx="4419599" cy="830997"/>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altLang="zh-CN" sz="2400" b="1" dirty="0">
                <a:solidFill>
                  <a:schemeClr val="accent6">
                    <a:lumMod val="75000"/>
                  </a:schemeClr>
                </a:solidFill>
              </a:rPr>
              <a:t>H</a:t>
            </a:r>
            <a:r>
              <a:rPr lang="zh-CN" altLang="en-US" sz="2400" b="1" dirty="0">
                <a:solidFill>
                  <a:schemeClr val="accent6">
                    <a:lumMod val="75000"/>
                  </a:schemeClr>
                </a:solidFill>
              </a:rPr>
              <a:t>：</a:t>
            </a:r>
            <a:r>
              <a:rPr lang="en-US" altLang="zh-CN" sz="2400" b="1" dirty="0">
                <a:solidFill>
                  <a:schemeClr val="accent6">
                    <a:lumMod val="75000"/>
                  </a:schemeClr>
                </a:solidFill>
              </a:rPr>
              <a:t>1s</a:t>
            </a:r>
            <a:r>
              <a:rPr lang="en-US" altLang="zh-CN" sz="2400" b="1" baseline="30000" dirty="0">
                <a:solidFill>
                  <a:schemeClr val="accent6">
                    <a:lumMod val="75000"/>
                  </a:schemeClr>
                </a:solidFill>
              </a:rPr>
              <a:t>1</a:t>
            </a:r>
            <a:r>
              <a:rPr lang="en-US" altLang="zh-CN" sz="2400" b="1" dirty="0">
                <a:solidFill>
                  <a:schemeClr val="accent6">
                    <a:lumMod val="75000"/>
                  </a:schemeClr>
                </a:solidFill>
              </a:rPr>
              <a:t> 		</a:t>
            </a:r>
          </a:p>
          <a:p>
            <a:r>
              <a:rPr lang="zh-CN" altLang="en-US" sz="2400" b="1" dirty="0">
                <a:solidFill>
                  <a:schemeClr val="accent6">
                    <a:lumMod val="75000"/>
                  </a:schemeClr>
                </a:solidFill>
              </a:rPr>
              <a:t>价电子：</a:t>
            </a:r>
            <a:r>
              <a:rPr lang="en-US" altLang="zh-CN" sz="2400" b="1" dirty="0">
                <a:solidFill>
                  <a:schemeClr val="accent6">
                    <a:lumMod val="75000"/>
                  </a:schemeClr>
                </a:solidFill>
              </a:rPr>
              <a:t>1</a:t>
            </a:r>
            <a:r>
              <a:rPr lang="zh-CN" altLang="en-US" sz="2400" b="1" dirty="0">
                <a:solidFill>
                  <a:schemeClr val="accent6">
                    <a:lumMod val="75000"/>
                  </a:schemeClr>
                </a:solidFill>
              </a:rPr>
              <a:t>个</a:t>
            </a:r>
            <a:r>
              <a:rPr lang="en-US" altLang="zh-CN" sz="2400" b="1" dirty="0">
                <a:solidFill>
                  <a:schemeClr val="accent6">
                    <a:lumMod val="75000"/>
                  </a:schemeClr>
                </a:solidFill>
              </a:rPr>
              <a:t>		</a:t>
            </a:r>
          </a:p>
        </p:txBody>
      </p:sp>
      <p:sp>
        <p:nvSpPr>
          <p:cNvPr id="34" name="TextBox 33"/>
          <p:cNvSpPr txBox="1"/>
          <p:nvPr/>
        </p:nvSpPr>
        <p:spPr>
          <a:xfrm>
            <a:off x="533400" y="4274403"/>
            <a:ext cx="4800600" cy="830997"/>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altLang="zh-CN" sz="2400" b="1" dirty="0" err="1">
                <a:solidFill>
                  <a:schemeClr val="accent6">
                    <a:lumMod val="75000"/>
                  </a:schemeClr>
                </a:solidFill>
              </a:rPr>
              <a:t>Cl</a:t>
            </a:r>
            <a:r>
              <a:rPr lang="zh-CN" altLang="en-US" sz="2400" b="1" dirty="0">
                <a:solidFill>
                  <a:schemeClr val="accent6">
                    <a:lumMod val="75000"/>
                  </a:schemeClr>
                </a:solidFill>
              </a:rPr>
              <a:t>：</a:t>
            </a:r>
            <a:r>
              <a:rPr lang="en-US" altLang="zh-CN" sz="2400" b="1" dirty="0">
                <a:solidFill>
                  <a:schemeClr val="accent6">
                    <a:lumMod val="75000"/>
                  </a:schemeClr>
                </a:solidFill>
              </a:rPr>
              <a:t>1s</a:t>
            </a:r>
            <a:r>
              <a:rPr lang="en-US" altLang="zh-CN" sz="2400" b="1" baseline="30000" dirty="0">
                <a:solidFill>
                  <a:schemeClr val="accent6">
                    <a:lumMod val="75000"/>
                  </a:schemeClr>
                </a:solidFill>
              </a:rPr>
              <a:t>2</a:t>
            </a:r>
            <a:r>
              <a:rPr lang="en-US" altLang="zh-CN" sz="2400" b="1" dirty="0">
                <a:solidFill>
                  <a:schemeClr val="accent6">
                    <a:lumMod val="75000"/>
                  </a:schemeClr>
                </a:solidFill>
              </a:rPr>
              <a:t> 2s</a:t>
            </a:r>
            <a:r>
              <a:rPr lang="en-US" altLang="zh-CN" sz="2400" b="1" baseline="30000" dirty="0">
                <a:solidFill>
                  <a:schemeClr val="accent6">
                    <a:lumMod val="75000"/>
                  </a:schemeClr>
                </a:solidFill>
              </a:rPr>
              <a:t>2</a:t>
            </a:r>
            <a:r>
              <a:rPr lang="en-US" altLang="zh-CN" sz="2400" b="1" dirty="0">
                <a:solidFill>
                  <a:schemeClr val="accent6">
                    <a:lumMod val="75000"/>
                  </a:schemeClr>
                </a:solidFill>
              </a:rPr>
              <a:t> 2p</a:t>
            </a:r>
            <a:r>
              <a:rPr lang="en-US" altLang="zh-CN" sz="2400" b="1" baseline="30000" dirty="0">
                <a:solidFill>
                  <a:schemeClr val="accent6">
                    <a:lumMod val="75000"/>
                  </a:schemeClr>
                </a:solidFill>
              </a:rPr>
              <a:t>6</a:t>
            </a:r>
            <a:r>
              <a:rPr lang="en-US" altLang="zh-CN" sz="2400" b="1" dirty="0">
                <a:solidFill>
                  <a:schemeClr val="accent6">
                    <a:lumMod val="75000"/>
                  </a:schemeClr>
                </a:solidFill>
              </a:rPr>
              <a:t> 3s</a:t>
            </a:r>
            <a:r>
              <a:rPr lang="en-US" altLang="zh-CN" sz="2400" b="1" baseline="30000" dirty="0">
                <a:solidFill>
                  <a:schemeClr val="accent6">
                    <a:lumMod val="75000"/>
                  </a:schemeClr>
                </a:solidFill>
              </a:rPr>
              <a:t>2</a:t>
            </a:r>
            <a:r>
              <a:rPr lang="en-US" altLang="zh-CN" sz="2400" b="1" dirty="0">
                <a:solidFill>
                  <a:schemeClr val="accent6">
                    <a:lumMod val="75000"/>
                  </a:schemeClr>
                </a:solidFill>
              </a:rPr>
              <a:t> 3p</a:t>
            </a:r>
            <a:r>
              <a:rPr lang="en-US" altLang="zh-CN" sz="2400" b="1" baseline="30000" dirty="0">
                <a:solidFill>
                  <a:schemeClr val="accent6">
                    <a:lumMod val="75000"/>
                  </a:schemeClr>
                </a:solidFill>
              </a:rPr>
              <a:t>5</a:t>
            </a:r>
          </a:p>
          <a:p>
            <a:r>
              <a:rPr lang="zh-CN" altLang="en-US" sz="2400" b="1" dirty="0">
                <a:solidFill>
                  <a:schemeClr val="accent6">
                    <a:lumMod val="75000"/>
                  </a:schemeClr>
                </a:solidFill>
              </a:rPr>
              <a:t>价电子：</a:t>
            </a:r>
            <a:r>
              <a:rPr lang="en-US" altLang="zh-CN" sz="2400" b="1" dirty="0">
                <a:solidFill>
                  <a:schemeClr val="accent6">
                    <a:lumMod val="75000"/>
                  </a:schemeClr>
                </a:solidFill>
              </a:rPr>
              <a:t>7</a:t>
            </a:r>
            <a:r>
              <a:rPr lang="zh-CN" altLang="en-US" sz="2400" b="1" dirty="0">
                <a:solidFill>
                  <a:schemeClr val="accent6">
                    <a:lumMod val="75000"/>
                  </a:schemeClr>
                </a:solidFill>
              </a:rPr>
              <a:t>个</a:t>
            </a:r>
            <a:endParaRPr lang="en-US" altLang="zh-CN" sz="2400" b="1" baseline="30000" dirty="0">
              <a:solidFill>
                <a:schemeClr val="accent6">
                  <a:lumMod val="75000"/>
                </a:schemeClr>
              </a:solidFill>
            </a:endParaRPr>
          </a:p>
        </p:txBody>
      </p:sp>
      <p:sp>
        <p:nvSpPr>
          <p:cNvPr id="35" name="TextBox 34"/>
          <p:cNvSpPr txBox="1"/>
          <p:nvPr/>
        </p:nvSpPr>
        <p:spPr>
          <a:xfrm>
            <a:off x="533400" y="5341203"/>
            <a:ext cx="4876800" cy="830997"/>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altLang="zh-CN" sz="2400" b="1" dirty="0">
                <a:solidFill>
                  <a:schemeClr val="accent6">
                    <a:lumMod val="75000"/>
                  </a:schemeClr>
                </a:solidFill>
              </a:rPr>
              <a:t>Mn</a:t>
            </a:r>
            <a:r>
              <a:rPr lang="zh-CN" altLang="en-US" sz="2400" b="1" dirty="0">
                <a:solidFill>
                  <a:schemeClr val="accent6">
                    <a:lumMod val="75000"/>
                  </a:schemeClr>
                </a:solidFill>
              </a:rPr>
              <a:t>：</a:t>
            </a:r>
            <a:r>
              <a:rPr lang="en-US" altLang="zh-CN" sz="2400" b="1" dirty="0">
                <a:solidFill>
                  <a:schemeClr val="accent6">
                    <a:lumMod val="75000"/>
                  </a:schemeClr>
                </a:solidFill>
              </a:rPr>
              <a:t>1s</a:t>
            </a:r>
            <a:r>
              <a:rPr lang="en-US" altLang="zh-CN" sz="2400" b="1" baseline="30000" dirty="0">
                <a:solidFill>
                  <a:schemeClr val="accent6">
                    <a:lumMod val="75000"/>
                  </a:schemeClr>
                </a:solidFill>
              </a:rPr>
              <a:t>2</a:t>
            </a:r>
            <a:r>
              <a:rPr lang="en-US" altLang="zh-CN" sz="2400" b="1" dirty="0">
                <a:solidFill>
                  <a:schemeClr val="accent6">
                    <a:lumMod val="75000"/>
                  </a:schemeClr>
                </a:solidFill>
              </a:rPr>
              <a:t> 2s</a:t>
            </a:r>
            <a:r>
              <a:rPr lang="en-US" altLang="zh-CN" sz="2400" b="1" baseline="30000" dirty="0">
                <a:solidFill>
                  <a:schemeClr val="accent6">
                    <a:lumMod val="75000"/>
                  </a:schemeClr>
                </a:solidFill>
              </a:rPr>
              <a:t>2</a:t>
            </a:r>
            <a:r>
              <a:rPr lang="en-US" altLang="zh-CN" sz="2400" b="1" dirty="0">
                <a:solidFill>
                  <a:schemeClr val="accent6">
                    <a:lumMod val="75000"/>
                  </a:schemeClr>
                </a:solidFill>
              </a:rPr>
              <a:t> 2p</a:t>
            </a:r>
            <a:r>
              <a:rPr lang="en-US" altLang="zh-CN" sz="2400" b="1" baseline="30000" dirty="0">
                <a:solidFill>
                  <a:schemeClr val="accent6">
                    <a:lumMod val="75000"/>
                  </a:schemeClr>
                </a:solidFill>
              </a:rPr>
              <a:t>6</a:t>
            </a:r>
            <a:r>
              <a:rPr lang="en-US" altLang="zh-CN" sz="2400" b="1" dirty="0">
                <a:solidFill>
                  <a:schemeClr val="accent6">
                    <a:lumMod val="75000"/>
                  </a:schemeClr>
                </a:solidFill>
              </a:rPr>
              <a:t> 3s</a:t>
            </a:r>
            <a:r>
              <a:rPr lang="en-US" altLang="zh-CN" sz="2400" b="1" baseline="30000" dirty="0">
                <a:solidFill>
                  <a:schemeClr val="accent6">
                    <a:lumMod val="75000"/>
                  </a:schemeClr>
                </a:solidFill>
              </a:rPr>
              <a:t>2</a:t>
            </a:r>
            <a:r>
              <a:rPr lang="en-US" altLang="zh-CN" sz="2400" b="1" dirty="0">
                <a:solidFill>
                  <a:schemeClr val="accent6">
                    <a:lumMod val="75000"/>
                  </a:schemeClr>
                </a:solidFill>
              </a:rPr>
              <a:t> 3p</a:t>
            </a:r>
            <a:r>
              <a:rPr lang="en-US" altLang="zh-CN" sz="2400" b="1" baseline="30000" dirty="0">
                <a:solidFill>
                  <a:schemeClr val="accent6">
                    <a:lumMod val="75000"/>
                  </a:schemeClr>
                </a:solidFill>
              </a:rPr>
              <a:t>6 </a:t>
            </a:r>
            <a:r>
              <a:rPr lang="en-US" altLang="zh-CN" sz="2400" b="1" dirty="0">
                <a:solidFill>
                  <a:schemeClr val="accent6">
                    <a:lumMod val="75000"/>
                  </a:schemeClr>
                </a:solidFill>
              </a:rPr>
              <a:t> </a:t>
            </a:r>
            <a:r>
              <a:rPr lang="en-US" altLang="zh-CN" sz="2400" b="1" dirty="0">
                <a:solidFill>
                  <a:srgbClr val="002060"/>
                </a:solidFill>
              </a:rPr>
              <a:t>3d</a:t>
            </a:r>
            <a:r>
              <a:rPr lang="en-US" altLang="zh-CN" sz="2400" b="1" baseline="30000" dirty="0">
                <a:solidFill>
                  <a:srgbClr val="002060"/>
                </a:solidFill>
              </a:rPr>
              <a:t>5</a:t>
            </a:r>
            <a:r>
              <a:rPr lang="en-US" altLang="zh-CN" sz="2400" b="1" dirty="0">
                <a:solidFill>
                  <a:srgbClr val="002060"/>
                </a:solidFill>
              </a:rPr>
              <a:t> 4s</a:t>
            </a:r>
            <a:r>
              <a:rPr lang="en-US" altLang="zh-CN" sz="2400" b="1" baseline="30000" dirty="0">
                <a:solidFill>
                  <a:srgbClr val="002060"/>
                </a:solidFill>
              </a:rPr>
              <a:t>2</a:t>
            </a:r>
          </a:p>
          <a:p>
            <a:r>
              <a:rPr lang="zh-CN" altLang="en-US" sz="2400" b="1" dirty="0">
                <a:solidFill>
                  <a:schemeClr val="accent6">
                    <a:lumMod val="75000"/>
                  </a:schemeClr>
                </a:solidFill>
              </a:rPr>
              <a:t>价电子：</a:t>
            </a:r>
            <a:r>
              <a:rPr lang="en-US" altLang="zh-CN" sz="2400" b="1" dirty="0">
                <a:solidFill>
                  <a:schemeClr val="accent6">
                    <a:lumMod val="75000"/>
                  </a:schemeClr>
                </a:solidFill>
              </a:rPr>
              <a:t>7</a:t>
            </a:r>
            <a:r>
              <a:rPr lang="zh-CN" altLang="en-US" sz="2400" b="1" dirty="0">
                <a:solidFill>
                  <a:schemeClr val="accent6">
                    <a:lumMod val="75000"/>
                  </a:schemeClr>
                </a:solidFill>
              </a:rPr>
              <a:t>个</a:t>
            </a:r>
            <a:endParaRPr lang="en-US" altLang="zh-CN" sz="2400" b="1" baseline="30000" dirty="0">
              <a:solidFill>
                <a:schemeClr val="accent6">
                  <a:lumMod val="75000"/>
                </a:schemeClr>
              </a:solidFill>
            </a:endParaRPr>
          </a:p>
        </p:txBody>
      </p:sp>
      <p:sp>
        <p:nvSpPr>
          <p:cNvPr id="65" name="TextBox 64"/>
          <p:cNvSpPr txBox="1"/>
          <p:nvPr/>
        </p:nvSpPr>
        <p:spPr>
          <a:xfrm>
            <a:off x="5638800" y="4724400"/>
            <a:ext cx="3276600" cy="1569660"/>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sz="3200" b="1" dirty="0">
                <a:solidFill>
                  <a:schemeClr val="accent6">
                    <a:lumMod val="50000"/>
                  </a:schemeClr>
                </a:solidFill>
              </a:rPr>
              <a:t>有些元素的次外层电子也能参与化学反应。</a:t>
            </a:r>
            <a:endParaRPr lang="en-US" sz="3200" b="1" dirty="0">
              <a:solidFill>
                <a:schemeClr val="accent6">
                  <a:lumMod val="50000"/>
                </a:schemeClr>
              </a:solidFill>
            </a:endParaRPr>
          </a:p>
        </p:txBody>
      </p:sp>
    </p:spTree>
    <p:extLst>
      <p:ext uri="{BB962C8B-B14F-4D97-AF65-F5344CB8AC3E}">
        <p14:creationId xmlns:p14="http://schemas.microsoft.com/office/powerpoint/2010/main" val="2824529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4"/>
                                        </p:tgtEl>
                                        <p:attrNameLst>
                                          <p:attrName>style.visibility</p:attrName>
                                        </p:attrNameLst>
                                      </p:cBhvr>
                                      <p:to>
                                        <p:strVal val="visible"/>
                                      </p:to>
                                    </p:set>
                                    <p:animEffect transition="in" filter="fade">
                                      <p:cBhvr>
                                        <p:cTn id="21" dur="1000"/>
                                        <p:tgtEl>
                                          <p:spTgt spid="64"/>
                                        </p:tgtEl>
                                      </p:cBhvr>
                                    </p:animEffect>
                                    <p:anim calcmode="lin" valueType="num">
                                      <p:cBhvr>
                                        <p:cTn id="22" dur="1000" fill="hold"/>
                                        <p:tgtEl>
                                          <p:spTgt spid="64"/>
                                        </p:tgtEl>
                                        <p:attrNameLst>
                                          <p:attrName>ppt_x</p:attrName>
                                        </p:attrNameLst>
                                      </p:cBhvr>
                                      <p:tavLst>
                                        <p:tav tm="0">
                                          <p:val>
                                            <p:strVal val="#ppt_x"/>
                                          </p:val>
                                        </p:tav>
                                        <p:tav tm="100000">
                                          <p:val>
                                            <p:strVal val="#ppt_x"/>
                                          </p:val>
                                        </p:tav>
                                      </p:tavLst>
                                    </p:anim>
                                    <p:anim calcmode="lin" valueType="num">
                                      <p:cBhvr>
                                        <p:cTn id="23" dur="1000" fill="hold"/>
                                        <p:tgtEl>
                                          <p:spTgt spid="64"/>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fade">
                                      <p:cBhvr>
                                        <p:cTn id="28" dur="1000"/>
                                        <p:tgtEl>
                                          <p:spTgt spid="34"/>
                                        </p:tgtEl>
                                      </p:cBhvr>
                                    </p:animEffect>
                                    <p:anim calcmode="lin" valueType="num">
                                      <p:cBhvr>
                                        <p:cTn id="29" dur="1000" fill="hold"/>
                                        <p:tgtEl>
                                          <p:spTgt spid="34"/>
                                        </p:tgtEl>
                                        <p:attrNameLst>
                                          <p:attrName>ppt_x</p:attrName>
                                        </p:attrNameLst>
                                      </p:cBhvr>
                                      <p:tavLst>
                                        <p:tav tm="0">
                                          <p:val>
                                            <p:strVal val="#ppt_x"/>
                                          </p:val>
                                        </p:tav>
                                        <p:tav tm="100000">
                                          <p:val>
                                            <p:strVal val="#ppt_x"/>
                                          </p:val>
                                        </p:tav>
                                      </p:tavLst>
                                    </p:anim>
                                    <p:anim calcmode="lin" valueType="num">
                                      <p:cBhvr>
                                        <p:cTn id="30"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5"/>
                                        </p:tgtEl>
                                        <p:attrNameLst>
                                          <p:attrName>style.visibility</p:attrName>
                                        </p:attrNameLst>
                                      </p:cBhvr>
                                      <p:to>
                                        <p:strVal val="visible"/>
                                      </p:to>
                                    </p:set>
                                    <p:animEffect transition="in" filter="fade">
                                      <p:cBhvr>
                                        <p:cTn id="35" dur="1000"/>
                                        <p:tgtEl>
                                          <p:spTgt spid="35"/>
                                        </p:tgtEl>
                                      </p:cBhvr>
                                    </p:animEffect>
                                    <p:anim calcmode="lin" valueType="num">
                                      <p:cBhvr>
                                        <p:cTn id="36" dur="1000" fill="hold"/>
                                        <p:tgtEl>
                                          <p:spTgt spid="35"/>
                                        </p:tgtEl>
                                        <p:attrNameLst>
                                          <p:attrName>ppt_x</p:attrName>
                                        </p:attrNameLst>
                                      </p:cBhvr>
                                      <p:tavLst>
                                        <p:tav tm="0">
                                          <p:val>
                                            <p:strVal val="#ppt_x"/>
                                          </p:val>
                                        </p:tav>
                                        <p:tav tm="100000">
                                          <p:val>
                                            <p:strVal val="#ppt_x"/>
                                          </p:val>
                                        </p:tav>
                                      </p:tavLst>
                                    </p:anim>
                                    <p:anim calcmode="lin" valueType="num">
                                      <p:cBhvr>
                                        <p:cTn id="37"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65"/>
                                        </p:tgtEl>
                                        <p:attrNameLst>
                                          <p:attrName>style.visibility</p:attrName>
                                        </p:attrNameLst>
                                      </p:cBhvr>
                                      <p:to>
                                        <p:strVal val="visible"/>
                                      </p:to>
                                    </p:set>
                                    <p:animEffect transition="in" filter="fade">
                                      <p:cBhvr>
                                        <p:cTn id="42" dur="1000"/>
                                        <p:tgtEl>
                                          <p:spTgt spid="65"/>
                                        </p:tgtEl>
                                      </p:cBhvr>
                                    </p:animEffect>
                                    <p:anim calcmode="lin" valueType="num">
                                      <p:cBhvr>
                                        <p:cTn id="43" dur="1000" fill="hold"/>
                                        <p:tgtEl>
                                          <p:spTgt spid="65"/>
                                        </p:tgtEl>
                                        <p:attrNameLst>
                                          <p:attrName>ppt_x</p:attrName>
                                        </p:attrNameLst>
                                      </p:cBhvr>
                                      <p:tavLst>
                                        <p:tav tm="0">
                                          <p:val>
                                            <p:strVal val="#ppt_x"/>
                                          </p:val>
                                        </p:tav>
                                        <p:tav tm="100000">
                                          <p:val>
                                            <p:strVal val="#ppt_x"/>
                                          </p:val>
                                        </p:tav>
                                      </p:tavLst>
                                    </p:anim>
                                    <p:anim calcmode="lin" valueType="num">
                                      <p:cBhvr>
                                        <p:cTn id="44" dur="1000" fill="hold"/>
                                        <p:tgtEl>
                                          <p:spTgt spid="6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P spid="4" grpId="0" animBg="1"/>
      <p:bldP spid="6" grpId="0" animBg="1"/>
      <p:bldP spid="34" grpId="0" animBg="1"/>
      <p:bldP spid="35" grpId="0" animBg="1"/>
      <p:bldP spid="6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0034" y="214290"/>
            <a:ext cx="8077199" cy="1569660"/>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2400" b="1" dirty="0">
                <a:solidFill>
                  <a:schemeClr val="accent6">
                    <a:lumMod val="75000"/>
                  </a:schemeClr>
                </a:solidFill>
              </a:rPr>
              <a:t>从气态原子</a:t>
            </a:r>
            <a:r>
              <a:rPr lang="en-US" altLang="zh-CN" sz="2400" b="1" dirty="0">
                <a:solidFill>
                  <a:schemeClr val="accent6">
                    <a:lumMod val="75000"/>
                  </a:schemeClr>
                </a:solidFill>
              </a:rPr>
              <a:t>(</a:t>
            </a:r>
            <a:r>
              <a:rPr lang="zh-CN" altLang="en-US" sz="2400" b="1" dirty="0">
                <a:solidFill>
                  <a:schemeClr val="accent6">
                    <a:lumMod val="75000"/>
                  </a:schemeClr>
                </a:solidFill>
              </a:rPr>
              <a:t>或气态阳离子</a:t>
            </a:r>
            <a:r>
              <a:rPr lang="en-US" altLang="zh-CN" sz="2400" b="1" dirty="0">
                <a:solidFill>
                  <a:schemeClr val="accent6">
                    <a:lumMod val="75000"/>
                  </a:schemeClr>
                </a:solidFill>
              </a:rPr>
              <a:t>)</a:t>
            </a:r>
            <a:r>
              <a:rPr lang="zh-CN" altLang="en-US" sz="2400" b="1" dirty="0">
                <a:solidFill>
                  <a:schemeClr val="accent6">
                    <a:lumMod val="75000"/>
                  </a:schemeClr>
                </a:solidFill>
              </a:rPr>
              <a:t>中失去价电子，</a:t>
            </a:r>
            <a:endParaRPr lang="en-US" altLang="zh-CN" sz="2400" b="1" dirty="0">
              <a:solidFill>
                <a:schemeClr val="accent6">
                  <a:lumMod val="75000"/>
                </a:schemeClr>
              </a:solidFill>
            </a:endParaRPr>
          </a:p>
          <a:p>
            <a:pPr algn="ctr"/>
            <a:r>
              <a:rPr lang="zh-CN" altLang="en-US" sz="2400" b="1" dirty="0">
                <a:solidFill>
                  <a:schemeClr val="accent6">
                    <a:lumMod val="75000"/>
                  </a:schemeClr>
                </a:solidFill>
              </a:rPr>
              <a:t>把它变成气态阳离子</a:t>
            </a:r>
            <a:r>
              <a:rPr lang="en-US" altLang="zh-CN" sz="2400" b="1" dirty="0">
                <a:solidFill>
                  <a:schemeClr val="accent6">
                    <a:lumMod val="75000"/>
                  </a:schemeClr>
                </a:solidFill>
              </a:rPr>
              <a:t>(</a:t>
            </a:r>
            <a:r>
              <a:rPr lang="zh-CN" altLang="en-US" sz="2400" b="1" dirty="0">
                <a:solidFill>
                  <a:schemeClr val="accent6">
                    <a:lumMod val="75000"/>
                  </a:schemeClr>
                </a:solidFill>
              </a:rPr>
              <a:t>或更高价的气态阳离子</a:t>
            </a:r>
            <a:r>
              <a:rPr lang="en-US" altLang="zh-CN" sz="2400" b="1" dirty="0">
                <a:solidFill>
                  <a:schemeClr val="accent6">
                    <a:lumMod val="75000"/>
                  </a:schemeClr>
                </a:solidFill>
              </a:rPr>
              <a:t>)</a:t>
            </a:r>
            <a:r>
              <a:rPr lang="zh-CN" altLang="en-US" sz="2400" b="1" dirty="0">
                <a:solidFill>
                  <a:schemeClr val="accent6">
                    <a:lumMod val="75000"/>
                  </a:schemeClr>
                </a:solidFill>
              </a:rPr>
              <a:t>，</a:t>
            </a:r>
            <a:endParaRPr lang="en-US" altLang="zh-CN" sz="2400" b="1" dirty="0">
              <a:solidFill>
                <a:schemeClr val="accent6">
                  <a:lumMod val="75000"/>
                </a:schemeClr>
              </a:solidFill>
            </a:endParaRPr>
          </a:p>
          <a:p>
            <a:pPr algn="ctr"/>
            <a:r>
              <a:rPr lang="zh-CN" altLang="en-US" sz="2400" b="1" dirty="0">
                <a:solidFill>
                  <a:schemeClr val="accent6">
                    <a:lumMod val="75000"/>
                  </a:schemeClr>
                </a:solidFill>
              </a:rPr>
              <a:t>需要克服核电荷的引力而消耗能量，这个能量叫</a:t>
            </a:r>
            <a:r>
              <a:rPr lang="zh-CN" altLang="en-US" sz="2400" b="1" dirty="0">
                <a:solidFill>
                  <a:srgbClr val="C00000"/>
                </a:solidFill>
              </a:rPr>
              <a:t>电离能</a:t>
            </a:r>
            <a:r>
              <a:rPr lang="zh-CN" altLang="en-US" sz="2400" b="1" dirty="0">
                <a:solidFill>
                  <a:schemeClr val="accent6">
                    <a:lumMod val="75000"/>
                  </a:schemeClr>
                </a:solidFill>
              </a:rPr>
              <a:t>。</a:t>
            </a:r>
            <a:endParaRPr lang="en-US" altLang="zh-CN" sz="2400" b="1" dirty="0">
              <a:solidFill>
                <a:schemeClr val="accent6">
                  <a:lumMod val="75000"/>
                </a:schemeClr>
              </a:solidFill>
            </a:endParaRPr>
          </a:p>
          <a:p>
            <a:pPr algn="ctr"/>
            <a:r>
              <a:rPr lang="zh-CN" altLang="en-US" sz="2400" b="1" dirty="0">
                <a:solidFill>
                  <a:schemeClr val="accent6">
                    <a:lumMod val="75000"/>
                  </a:schemeClr>
                </a:solidFill>
              </a:rPr>
              <a:t>单位：</a:t>
            </a:r>
            <a:r>
              <a:rPr lang="en-US" altLang="zh-CN" sz="2400" b="1" dirty="0">
                <a:solidFill>
                  <a:srgbClr val="C00000"/>
                </a:solidFill>
              </a:rPr>
              <a:t>kJ/</a:t>
            </a:r>
            <a:r>
              <a:rPr lang="en-US" altLang="zh-CN" sz="2400" b="1" dirty="0" err="1">
                <a:solidFill>
                  <a:srgbClr val="C00000"/>
                </a:solidFill>
              </a:rPr>
              <a:t>mol</a:t>
            </a:r>
            <a:endParaRPr lang="en-US" sz="2800" b="1" dirty="0">
              <a:solidFill>
                <a:srgbClr val="C00000"/>
              </a:solidFill>
            </a:endParaRPr>
          </a:p>
        </p:txBody>
      </p:sp>
      <p:sp>
        <p:nvSpPr>
          <p:cNvPr id="3" name="TextBox 2"/>
          <p:cNvSpPr txBox="1"/>
          <p:nvPr/>
        </p:nvSpPr>
        <p:spPr>
          <a:xfrm>
            <a:off x="590528" y="2721877"/>
            <a:ext cx="2393373" cy="430887"/>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2200" b="1" dirty="0">
                <a:solidFill>
                  <a:schemeClr val="accent6">
                    <a:lumMod val="75000"/>
                  </a:schemeClr>
                </a:solidFill>
              </a:rPr>
              <a:t>气态原子</a:t>
            </a:r>
            <a:endParaRPr lang="en-US" sz="2200" b="1" dirty="0">
              <a:solidFill>
                <a:schemeClr val="accent6">
                  <a:lumMod val="75000"/>
                </a:schemeClr>
              </a:solidFill>
            </a:endParaRPr>
          </a:p>
        </p:txBody>
      </p:sp>
      <p:sp>
        <p:nvSpPr>
          <p:cNvPr id="4" name="Oval 3"/>
          <p:cNvSpPr/>
          <p:nvPr/>
        </p:nvSpPr>
        <p:spPr>
          <a:xfrm>
            <a:off x="1428728" y="1857364"/>
            <a:ext cx="762000" cy="76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6686528" y="2162164"/>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714978" y="2721876"/>
            <a:ext cx="2400300" cy="430887"/>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altLang="zh-CN" sz="2200" b="1" dirty="0">
                <a:solidFill>
                  <a:schemeClr val="accent6">
                    <a:lumMod val="75000"/>
                  </a:schemeClr>
                </a:solidFill>
              </a:rPr>
              <a:t>+1</a:t>
            </a:r>
            <a:r>
              <a:rPr lang="zh-CN" altLang="en-US" sz="2200" b="1" dirty="0">
                <a:solidFill>
                  <a:schemeClr val="accent6">
                    <a:lumMod val="75000"/>
                  </a:schemeClr>
                </a:solidFill>
              </a:rPr>
              <a:t>价气态阳离子</a:t>
            </a:r>
            <a:endParaRPr lang="en-US" sz="2200" b="1" dirty="0">
              <a:solidFill>
                <a:schemeClr val="accent6">
                  <a:lumMod val="75000"/>
                </a:schemeClr>
              </a:solidFill>
            </a:endParaRPr>
          </a:p>
        </p:txBody>
      </p:sp>
      <p:cxnSp>
        <p:nvCxnSpPr>
          <p:cNvPr id="7" name="Straight Arrow Connector 6"/>
          <p:cNvCxnSpPr/>
          <p:nvPr/>
        </p:nvCxnSpPr>
        <p:spPr>
          <a:xfrm>
            <a:off x="2562205" y="2356128"/>
            <a:ext cx="3152773"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 name="Curved Connector 7"/>
          <p:cNvCxnSpPr/>
          <p:nvPr/>
        </p:nvCxnSpPr>
        <p:spPr>
          <a:xfrm rot="16200000" flipH="1">
            <a:off x="3905551" y="2668180"/>
            <a:ext cx="914402" cy="359571"/>
          </a:xfrm>
          <a:prstGeom prst="curvedConnector3">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3105128" y="3470720"/>
            <a:ext cx="2400300" cy="430887"/>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2200" b="1" dirty="0">
                <a:solidFill>
                  <a:schemeClr val="accent6">
                    <a:lumMod val="75000"/>
                  </a:schemeClr>
                </a:solidFill>
              </a:rPr>
              <a:t>第一电离能 </a:t>
            </a:r>
            <a:r>
              <a:rPr lang="en-US" altLang="zh-CN" sz="2200" b="1" dirty="0">
                <a:solidFill>
                  <a:schemeClr val="accent6">
                    <a:lumMod val="75000"/>
                  </a:schemeClr>
                </a:solidFill>
              </a:rPr>
              <a:t>(</a:t>
            </a:r>
            <a:r>
              <a:rPr lang="en-US" altLang="zh-CN" sz="2200" b="1" i="1" dirty="0">
                <a:solidFill>
                  <a:schemeClr val="accent6">
                    <a:lumMod val="75000"/>
                  </a:schemeClr>
                </a:solidFill>
                <a:latin typeface="Times New Roman" pitchFamily="18" charset="0"/>
                <a:cs typeface="Times New Roman" pitchFamily="18" charset="0"/>
              </a:rPr>
              <a:t>I</a:t>
            </a:r>
            <a:r>
              <a:rPr lang="en-US" altLang="zh-CN" sz="2200" b="1" baseline="-25000" dirty="0">
                <a:solidFill>
                  <a:schemeClr val="accent6">
                    <a:lumMod val="75000"/>
                  </a:schemeClr>
                </a:solidFill>
                <a:latin typeface="Times New Roman" pitchFamily="18" charset="0"/>
                <a:cs typeface="Times New Roman" pitchFamily="18" charset="0"/>
              </a:rPr>
              <a:t>1</a:t>
            </a:r>
            <a:r>
              <a:rPr lang="en-US" altLang="zh-CN" sz="2200" b="1" dirty="0">
                <a:solidFill>
                  <a:schemeClr val="accent6">
                    <a:lumMod val="75000"/>
                  </a:schemeClr>
                </a:solidFill>
              </a:rPr>
              <a:t>)</a:t>
            </a:r>
            <a:endParaRPr lang="en-US" sz="2200" b="1" dirty="0">
              <a:solidFill>
                <a:schemeClr val="accent6">
                  <a:lumMod val="75000"/>
                </a:schemeClr>
              </a:solidFill>
            </a:endParaRPr>
          </a:p>
        </p:txBody>
      </p:sp>
      <p:sp>
        <p:nvSpPr>
          <p:cNvPr id="10" name="TextBox 9"/>
          <p:cNvSpPr txBox="1"/>
          <p:nvPr/>
        </p:nvSpPr>
        <p:spPr>
          <a:xfrm>
            <a:off x="2938441" y="1903063"/>
            <a:ext cx="2400300" cy="430887"/>
          </a:xfrm>
          <a:prstGeom prst="rect">
            <a:avLst/>
          </a:prstGeom>
          <a:noFill/>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2200" b="1" dirty="0">
                <a:solidFill>
                  <a:srgbClr val="FF0000"/>
                </a:solidFill>
              </a:rPr>
              <a:t>失去</a:t>
            </a:r>
            <a:r>
              <a:rPr lang="en-US" altLang="zh-CN" sz="2200" b="1" dirty="0">
                <a:solidFill>
                  <a:srgbClr val="FF0000"/>
                </a:solidFill>
              </a:rPr>
              <a:t>1</a:t>
            </a:r>
            <a:r>
              <a:rPr lang="zh-CN" altLang="en-US" sz="2200" b="1" dirty="0">
                <a:solidFill>
                  <a:srgbClr val="FF0000"/>
                </a:solidFill>
              </a:rPr>
              <a:t>个电子</a:t>
            </a:r>
            <a:endParaRPr lang="en-US" sz="2200" b="1" dirty="0">
              <a:solidFill>
                <a:srgbClr val="FF0000"/>
              </a:solidFill>
            </a:endParaRPr>
          </a:p>
        </p:txBody>
      </p:sp>
      <p:sp>
        <p:nvSpPr>
          <p:cNvPr id="11" name="TextBox 10"/>
          <p:cNvSpPr txBox="1"/>
          <p:nvPr/>
        </p:nvSpPr>
        <p:spPr>
          <a:xfrm>
            <a:off x="581004" y="5203159"/>
            <a:ext cx="2393373" cy="430887"/>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altLang="zh-CN" sz="2200" b="1" dirty="0">
                <a:solidFill>
                  <a:schemeClr val="accent6">
                    <a:lumMod val="75000"/>
                  </a:schemeClr>
                </a:solidFill>
              </a:rPr>
              <a:t>+1</a:t>
            </a:r>
            <a:r>
              <a:rPr lang="zh-CN" altLang="en-US" sz="2200" b="1" dirty="0">
                <a:solidFill>
                  <a:schemeClr val="accent6">
                    <a:lumMod val="75000"/>
                  </a:schemeClr>
                </a:solidFill>
              </a:rPr>
              <a:t>价气态阳离子</a:t>
            </a:r>
            <a:endParaRPr lang="en-US" sz="2200" b="1" dirty="0">
              <a:solidFill>
                <a:schemeClr val="accent6">
                  <a:lumMod val="75000"/>
                </a:schemeClr>
              </a:solidFill>
            </a:endParaRPr>
          </a:p>
        </p:txBody>
      </p:sp>
      <p:sp>
        <p:nvSpPr>
          <p:cNvPr id="12" name="Oval 11"/>
          <p:cNvSpPr/>
          <p:nvPr/>
        </p:nvSpPr>
        <p:spPr>
          <a:xfrm>
            <a:off x="1571604" y="4643446"/>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6677004" y="4765344"/>
            <a:ext cx="335540" cy="33530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5705454" y="5203158"/>
            <a:ext cx="2400300" cy="430887"/>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altLang="zh-CN" sz="2200" b="1" dirty="0">
                <a:solidFill>
                  <a:schemeClr val="accent6">
                    <a:lumMod val="75000"/>
                  </a:schemeClr>
                </a:solidFill>
              </a:rPr>
              <a:t>+2</a:t>
            </a:r>
            <a:r>
              <a:rPr lang="zh-CN" altLang="en-US" sz="2200" b="1" dirty="0">
                <a:solidFill>
                  <a:schemeClr val="accent6">
                    <a:lumMod val="75000"/>
                  </a:schemeClr>
                </a:solidFill>
              </a:rPr>
              <a:t>价气态阳离子</a:t>
            </a:r>
            <a:endParaRPr lang="en-US" sz="2200" b="1" dirty="0">
              <a:solidFill>
                <a:schemeClr val="accent6">
                  <a:lumMod val="75000"/>
                </a:schemeClr>
              </a:solidFill>
            </a:endParaRPr>
          </a:p>
        </p:txBody>
      </p:sp>
      <p:cxnSp>
        <p:nvCxnSpPr>
          <p:cNvPr id="15" name="Straight Arrow Connector 14"/>
          <p:cNvCxnSpPr/>
          <p:nvPr/>
        </p:nvCxnSpPr>
        <p:spPr>
          <a:xfrm>
            <a:off x="2552681" y="4837410"/>
            <a:ext cx="3152773"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6" name="Curved Connector 15"/>
          <p:cNvCxnSpPr/>
          <p:nvPr/>
        </p:nvCxnSpPr>
        <p:spPr>
          <a:xfrm rot="16200000" flipH="1">
            <a:off x="3896027" y="5149462"/>
            <a:ext cx="914402" cy="359571"/>
          </a:xfrm>
          <a:prstGeom prst="curvedConnector3">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3126344" y="5952002"/>
            <a:ext cx="2400300" cy="430887"/>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2200" b="1" dirty="0">
                <a:solidFill>
                  <a:schemeClr val="accent6">
                    <a:lumMod val="75000"/>
                  </a:schemeClr>
                </a:solidFill>
              </a:rPr>
              <a:t>第二电离能 </a:t>
            </a:r>
            <a:r>
              <a:rPr lang="en-US" altLang="zh-CN" sz="2200" b="1" dirty="0">
                <a:solidFill>
                  <a:schemeClr val="accent6">
                    <a:lumMod val="75000"/>
                  </a:schemeClr>
                </a:solidFill>
              </a:rPr>
              <a:t>(</a:t>
            </a:r>
            <a:r>
              <a:rPr lang="en-US" altLang="zh-CN" sz="2200" b="1" i="1" dirty="0">
                <a:solidFill>
                  <a:schemeClr val="accent6">
                    <a:lumMod val="75000"/>
                  </a:schemeClr>
                </a:solidFill>
                <a:latin typeface="Times New Roman" pitchFamily="18" charset="0"/>
                <a:cs typeface="Times New Roman" pitchFamily="18" charset="0"/>
              </a:rPr>
              <a:t>I</a:t>
            </a:r>
            <a:r>
              <a:rPr lang="en-US" altLang="zh-CN" sz="2200" b="1" baseline="-25000" dirty="0">
                <a:solidFill>
                  <a:schemeClr val="accent6">
                    <a:lumMod val="75000"/>
                  </a:schemeClr>
                </a:solidFill>
                <a:latin typeface="Times New Roman" pitchFamily="18" charset="0"/>
                <a:cs typeface="Times New Roman" pitchFamily="18" charset="0"/>
              </a:rPr>
              <a:t>2</a:t>
            </a:r>
            <a:r>
              <a:rPr lang="en-US" altLang="zh-CN" sz="2200" b="1" dirty="0">
                <a:solidFill>
                  <a:schemeClr val="accent6">
                    <a:lumMod val="75000"/>
                  </a:schemeClr>
                </a:solidFill>
              </a:rPr>
              <a:t>)</a:t>
            </a:r>
            <a:endParaRPr lang="en-US" sz="2200" b="1" dirty="0">
              <a:solidFill>
                <a:schemeClr val="accent6">
                  <a:lumMod val="75000"/>
                </a:schemeClr>
              </a:solidFill>
            </a:endParaRPr>
          </a:p>
        </p:txBody>
      </p:sp>
      <p:sp>
        <p:nvSpPr>
          <p:cNvPr id="18" name="TextBox 17"/>
          <p:cNvSpPr txBox="1"/>
          <p:nvPr/>
        </p:nvSpPr>
        <p:spPr>
          <a:xfrm>
            <a:off x="2928917" y="4384345"/>
            <a:ext cx="2400300" cy="430887"/>
          </a:xfrm>
          <a:prstGeom prst="rect">
            <a:avLst/>
          </a:prstGeom>
          <a:noFill/>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2200" b="1" dirty="0">
                <a:solidFill>
                  <a:srgbClr val="FF0000"/>
                </a:solidFill>
              </a:rPr>
              <a:t>失去</a:t>
            </a:r>
            <a:r>
              <a:rPr lang="en-US" altLang="zh-CN" sz="2200" b="1" dirty="0">
                <a:solidFill>
                  <a:srgbClr val="FF0000"/>
                </a:solidFill>
              </a:rPr>
              <a:t>1</a:t>
            </a:r>
            <a:r>
              <a:rPr lang="zh-CN" altLang="en-US" sz="2200" b="1" dirty="0">
                <a:solidFill>
                  <a:srgbClr val="FF0000"/>
                </a:solidFill>
              </a:rPr>
              <a:t>个电子</a:t>
            </a:r>
            <a:endParaRPr lang="en-US" sz="22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1000"/>
                                        <p:tgtEl>
                                          <p:spTgt spid="10"/>
                                        </p:tgtEl>
                                      </p:cBhvr>
                                    </p:animEffect>
                                    <p:anim calcmode="lin" valueType="num">
                                      <p:cBhvr>
                                        <p:cTn id="25" dur="1000" fill="hold"/>
                                        <p:tgtEl>
                                          <p:spTgt spid="10"/>
                                        </p:tgtEl>
                                        <p:attrNameLst>
                                          <p:attrName>ppt_x</p:attrName>
                                        </p:attrNameLst>
                                      </p:cBhvr>
                                      <p:tavLst>
                                        <p:tav tm="0">
                                          <p:val>
                                            <p:strVal val="#ppt_x"/>
                                          </p:val>
                                        </p:tav>
                                        <p:tav tm="100000">
                                          <p:val>
                                            <p:strVal val="#ppt_x"/>
                                          </p:val>
                                        </p:tav>
                                      </p:tavLst>
                                    </p:anim>
                                    <p:anim calcmode="lin" valueType="num">
                                      <p:cBhvr>
                                        <p:cTn id="2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1000"/>
                                        <p:tgtEl>
                                          <p:spTgt spid="6"/>
                                        </p:tgtEl>
                                      </p:cBhvr>
                                    </p:animEffect>
                                    <p:anim calcmode="lin" valueType="num">
                                      <p:cBhvr>
                                        <p:cTn id="32" dur="1000" fill="hold"/>
                                        <p:tgtEl>
                                          <p:spTgt spid="6"/>
                                        </p:tgtEl>
                                        <p:attrNameLst>
                                          <p:attrName>ppt_x</p:attrName>
                                        </p:attrNameLst>
                                      </p:cBhvr>
                                      <p:tavLst>
                                        <p:tav tm="0">
                                          <p:val>
                                            <p:strVal val="#ppt_x"/>
                                          </p:val>
                                        </p:tav>
                                        <p:tav tm="100000">
                                          <p:val>
                                            <p:strVal val="#ppt_x"/>
                                          </p:val>
                                        </p:tav>
                                      </p:tavLst>
                                    </p:anim>
                                    <p:anim calcmode="lin" valueType="num">
                                      <p:cBhvr>
                                        <p:cTn id="33" dur="1000" fill="hold"/>
                                        <p:tgtEl>
                                          <p:spTgt spid="6"/>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5"/>
                                        </p:tgtEl>
                                        <p:attrNameLst>
                                          <p:attrName>style.visibility</p:attrName>
                                        </p:attrNameLst>
                                      </p:cBhvr>
                                      <p:to>
                                        <p:strVal val="visible"/>
                                      </p:to>
                                    </p:set>
                                    <p:animEffect transition="in" filter="fade">
                                      <p:cBhvr>
                                        <p:cTn id="36" dur="1000"/>
                                        <p:tgtEl>
                                          <p:spTgt spid="5"/>
                                        </p:tgtEl>
                                      </p:cBhvr>
                                    </p:animEffect>
                                    <p:anim calcmode="lin" valueType="num">
                                      <p:cBhvr>
                                        <p:cTn id="37" dur="1000" fill="hold"/>
                                        <p:tgtEl>
                                          <p:spTgt spid="5"/>
                                        </p:tgtEl>
                                        <p:attrNameLst>
                                          <p:attrName>ppt_x</p:attrName>
                                        </p:attrNameLst>
                                      </p:cBhvr>
                                      <p:tavLst>
                                        <p:tav tm="0">
                                          <p:val>
                                            <p:strVal val="#ppt_x"/>
                                          </p:val>
                                        </p:tav>
                                        <p:tav tm="100000">
                                          <p:val>
                                            <p:strVal val="#ppt_x"/>
                                          </p:val>
                                        </p:tav>
                                      </p:tavLst>
                                    </p:anim>
                                    <p:anim calcmode="lin" valueType="num">
                                      <p:cBhvr>
                                        <p:cTn id="38"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fade">
                                      <p:cBhvr>
                                        <p:cTn id="43" dur="1000"/>
                                        <p:tgtEl>
                                          <p:spTgt spid="9"/>
                                        </p:tgtEl>
                                      </p:cBhvr>
                                    </p:animEffect>
                                    <p:anim calcmode="lin" valueType="num">
                                      <p:cBhvr>
                                        <p:cTn id="44" dur="1000" fill="hold"/>
                                        <p:tgtEl>
                                          <p:spTgt spid="9"/>
                                        </p:tgtEl>
                                        <p:attrNameLst>
                                          <p:attrName>ppt_x</p:attrName>
                                        </p:attrNameLst>
                                      </p:cBhvr>
                                      <p:tavLst>
                                        <p:tav tm="0">
                                          <p:val>
                                            <p:strVal val="#ppt_x"/>
                                          </p:val>
                                        </p:tav>
                                        <p:tav tm="100000">
                                          <p:val>
                                            <p:strVal val="#ppt_x"/>
                                          </p:val>
                                        </p:tav>
                                      </p:tavLst>
                                    </p:anim>
                                    <p:anim calcmode="lin" valueType="num">
                                      <p:cBhvr>
                                        <p:cTn id="45" dur="1000" fill="hold"/>
                                        <p:tgtEl>
                                          <p:spTgt spid="9"/>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8"/>
                                        </p:tgtEl>
                                        <p:attrNameLst>
                                          <p:attrName>style.visibility</p:attrName>
                                        </p:attrNameLst>
                                      </p:cBhvr>
                                      <p:to>
                                        <p:strVal val="visible"/>
                                      </p:to>
                                    </p:set>
                                    <p:animEffect transition="in" filter="fade">
                                      <p:cBhvr>
                                        <p:cTn id="48" dur="1000"/>
                                        <p:tgtEl>
                                          <p:spTgt spid="8"/>
                                        </p:tgtEl>
                                      </p:cBhvr>
                                    </p:animEffect>
                                    <p:anim calcmode="lin" valueType="num">
                                      <p:cBhvr>
                                        <p:cTn id="49" dur="1000" fill="hold"/>
                                        <p:tgtEl>
                                          <p:spTgt spid="8"/>
                                        </p:tgtEl>
                                        <p:attrNameLst>
                                          <p:attrName>ppt_x</p:attrName>
                                        </p:attrNameLst>
                                      </p:cBhvr>
                                      <p:tavLst>
                                        <p:tav tm="0">
                                          <p:val>
                                            <p:strVal val="#ppt_x"/>
                                          </p:val>
                                        </p:tav>
                                        <p:tav tm="100000">
                                          <p:val>
                                            <p:strVal val="#ppt_x"/>
                                          </p:val>
                                        </p:tav>
                                      </p:tavLst>
                                    </p:anim>
                                    <p:anim calcmode="lin" valueType="num">
                                      <p:cBhvr>
                                        <p:cTn id="5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fade">
                                      <p:cBhvr>
                                        <p:cTn id="55" dur="1000"/>
                                        <p:tgtEl>
                                          <p:spTgt spid="12"/>
                                        </p:tgtEl>
                                      </p:cBhvr>
                                    </p:animEffect>
                                    <p:anim calcmode="lin" valueType="num">
                                      <p:cBhvr>
                                        <p:cTn id="56" dur="1000" fill="hold"/>
                                        <p:tgtEl>
                                          <p:spTgt spid="12"/>
                                        </p:tgtEl>
                                        <p:attrNameLst>
                                          <p:attrName>ppt_x</p:attrName>
                                        </p:attrNameLst>
                                      </p:cBhvr>
                                      <p:tavLst>
                                        <p:tav tm="0">
                                          <p:val>
                                            <p:strVal val="#ppt_x"/>
                                          </p:val>
                                        </p:tav>
                                        <p:tav tm="100000">
                                          <p:val>
                                            <p:strVal val="#ppt_x"/>
                                          </p:val>
                                        </p:tav>
                                      </p:tavLst>
                                    </p:anim>
                                    <p:anim calcmode="lin" valueType="num">
                                      <p:cBhvr>
                                        <p:cTn id="57" dur="1000" fill="hold"/>
                                        <p:tgtEl>
                                          <p:spTgt spid="12"/>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11"/>
                                        </p:tgtEl>
                                        <p:attrNameLst>
                                          <p:attrName>style.visibility</p:attrName>
                                        </p:attrNameLst>
                                      </p:cBhvr>
                                      <p:to>
                                        <p:strVal val="visible"/>
                                      </p:to>
                                    </p:set>
                                    <p:animEffect transition="in" filter="fade">
                                      <p:cBhvr>
                                        <p:cTn id="60" dur="1000"/>
                                        <p:tgtEl>
                                          <p:spTgt spid="11"/>
                                        </p:tgtEl>
                                      </p:cBhvr>
                                    </p:animEffect>
                                    <p:anim calcmode="lin" valueType="num">
                                      <p:cBhvr>
                                        <p:cTn id="61" dur="1000" fill="hold"/>
                                        <p:tgtEl>
                                          <p:spTgt spid="11"/>
                                        </p:tgtEl>
                                        <p:attrNameLst>
                                          <p:attrName>ppt_x</p:attrName>
                                        </p:attrNameLst>
                                      </p:cBhvr>
                                      <p:tavLst>
                                        <p:tav tm="0">
                                          <p:val>
                                            <p:strVal val="#ppt_x"/>
                                          </p:val>
                                        </p:tav>
                                        <p:tav tm="100000">
                                          <p:val>
                                            <p:strVal val="#ppt_x"/>
                                          </p:val>
                                        </p:tav>
                                      </p:tavLst>
                                    </p:anim>
                                    <p:anim calcmode="lin" valueType="num">
                                      <p:cBhvr>
                                        <p:cTn id="62"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fade">
                                      <p:cBhvr>
                                        <p:cTn id="67" dur="1000"/>
                                        <p:tgtEl>
                                          <p:spTgt spid="18"/>
                                        </p:tgtEl>
                                      </p:cBhvr>
                                    </p:animEffect>
                                    <p:anim calcmode="lin" valueType="num">
                                      <p:cBhvr>
                                        <p:cTn id="68" dur="1000" fill="hold"/>
                                        <p:tgtEl>
                                          <p:spTgt spid="18"/>
                                        </p:tgtEl>
                                        <p:attrNameLst>
                                          <p:attrName>ppt_x</p:attrName>
                                        </p:attrNameLst>
                                      </p:cBhvr>
                                      <p:tavLst>
                                        <p:tav tm="0">
                                          <p:val>
                                            <p:strVal val="#ppt_x"/>
                                          </p:val>
                                        </p:tav>
                                        <p:tav tm="100000">
                                          <p:val>
                                            <p:strVal val="#ppt_x"/>
                                          </p:val>
                                        </p:tav>
                                      </p:tavLst>
                                    </p:anim>
                                    <p:anim calcmode="lin" valueType="num">
                                      <p:cBhvr>
                                        <p:cTn id="69" dur="1000" fill="hold"/>
                                        <p:tgtEl>
                                          <p:spTgt spid="18"/>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0"/>
                                  </p:stCondLst>
                                  <p:childTnLst>
                                    <p:set>
                                      <p:cBhvr>
                                        <p:cTn id="71" dur="1" fill="hold">
                                          <p:stCondLst>
                                            <p:cond delay="0"/>
                                          </p:stCondLst>
                                        </p:cTn>
                                        <p:tgtEl>
                                          <p:spTgt spid="15"/>
                                        </p:tgtEl>
                                        <p:attrNameLst>
                                          <p:attrName>style.visibility</p:attrName>
                                        </p:attrNameLst>
                                      </p:cBhvr>
                                      <p:to>
                                        <p:strVal val="visible"/>
                                      </p:to>
                                    </p:set>
                                    <p:animEffect transition="in" filter="fade">
                                      <p:cBhvr>
                                        <p:cTn id="72" dur="1000"/>
                                        <p:tgtEl>
                                          <p:spTgt spid="15"/>
                                        </p:tgtEl>
                                      </p:cBhvr>
                                    </p:animEffect>
                                    <p:anim calcmode="lin" valueType="num">
                                      <p:cBhvr>
                                        <p:cTn id="73" dur="1000" fill="hold"/>
                                        <p:tgtEl>
                                          <p:spTgt spid="15"/>
                                        </p:tgtEl>
                                        <p:attrNameLst>
                                          <p:attrName>ppt_x</p:attrName>
                                        </p:attrNameLst>
                                      </p:cBhvr>
                                      <p:tavLst>
                                        <p:tav tm="0">
                                          <p:val>
                                            <p:strVal val="#ppt_x"/>
                                          </p:val>
                                        </p:tav>
                                        <p:tav tm="100000">
                                          <p:val>
                                            <p:strVal val="#ppt_x"/>
                                          </p:val>
                                        </p:tav>
                                      </p:tavLst>
                                    </p:anim>
                                    <p:anim calcmode="lin" valueType="num">
                                      <p:cBhvr>
                                        <p:cTn id="74"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42" presetClass="entr" presetSubtype="0" fill="hold" grpId="0" nodeType="clickEffect">
                                  <p:stCondLst>
                                    <p:cond delay="0"/>
                                  </p:stCondLst>
                                  <p:childTnLst>
                                    <p:set>
                                      <p:cBhvr>
                                        <p:cTn id="78" dur="1" fill="hold">
                                          <p:stCondLst>
                                            <p:cond delay="0"/>
                                          </p:stCondLst>
                                        </p:cTn>
                                        <p:tgtEl>
                                          <p:spTgt spid="14"/>
                                        </p:tgtEl>
                                        <p:attrNameLst>
                                          <p:attrName>style.visibility</p:attrName>
                                        </p:attrNameLst>
                                      </p:cBhvr>
                                      <p:to>
                                        <p:strVal val="visible"/>
                                      </p:to>
                                    </p:set>
                                    <p:animEffect transition="in" filter="fade">
                                      <p:cBhvr>
                                        <p:cTn id="79" dur="1000"/>
                                        <p:tgtEl>
                                          <p:spTgt spid="14"/>
                                        </p:tgtEl>
                                      </p:cBhvr>
                                    </p:animEffect>
                                    <p:anim calcmode="lin" valueType="num">
                                      <p:cBhvr>
                                        <p:cTn id="80" dur="1000" fill="hold"/>
                                        <p:tgtEl>
                                          <p:spTgt spid="14"/>
                                        </p:tgtEl>
                                        <p:attrNameLst>
                                          <p:attrName>ppt_x</p:attrName>
                                        </p:attrNameLst>
                                      </p:cBhvr>
                                      <p:tavLst>
                                        <p:tav tm="0">
                                          <p:val>
                                            <p:strVal val="#ppt_x"/>
                                          </p:val>
                                        </p:tav>
                                        <p:tav tm="100000">
                                          <p:val>
                                            <p:strVal val="#ppt_x"/>
                                          </p:val>
                                        </p:tav>
                                      </p:tavLst>
                                    </p:anim>
                                    <p:anim calcmode="lin" valueType="num">
                                      <p:cBhvr>
                                        <p:cTn id="81" dur="1000" fill="hold"/>
                                        <p:tgtEl>
                                          <p:spTgt spid="14"/>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13"/>
                                        </p:tgtEl>
                                        <p:attrNameLst>
                                          <p:attrName>style.visibility</p:attrName>
                                        </p:attrNameLst>
                                      </p:cBhvr>
                                      <p:to>
                                        <p:strVal val="visible"/>
                                      </p:to>
                                    </p:set>
                                    <p:animEffect transition="in" filter="fade">
                                      <p:cBhvr>
                                        <p:cTn id="84" dur="1000"/>
                                        <p:tgtEl>
                                          <p:spTgt spid="13"/>
                                        </p:tgtEl>
                                      </p:cBhvr>
                                    </p:animEffect>
                                    <p:anim calcmode="lin" valueType="num">
                                      <p:cBhvr>
                                        <p:cTn id="85" dur="1000" fill="hold"/>
                                        <p:tgtEl>
                                          <p:spTgt spid="13"/>
                                        </p:tgtEl>
                                        <p:attrNameLst>
                                          <p:attrName>ppt_x</p:attrName>
                                        </p:attrNameLst>
                                      </p:cBhvr>
                                      <p:tavLst>
                                        <p:tav tm="0">
                                          <p:val>
                                            <p:strVal val="#ppt_x"/>
                                          </p:val>
                                        </p:tav>
                                        <p:tav tm="100000">
                                          <p:val>
                                            <p:strVal val="#ppt_x"/>
                                          </p:val>
                                        </p:tav>
                                      </p:tavLst>
                                    </p:anim>
                                    <p:anim calcmode="lin" valueType="num">
                                      <p:cBhvr>
                                        <p:cTn id="8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nodeType="clickEffect">
                                  <p:stCondLst>
                                    <p:cond delay="0"/>
                                  </p:stCondLst>
                                  <p:childTnLst>
                                    <p:set>
                                      <p:cBhvr>
                                        <p:cTn id="90" dur="1" fill="hold">
                                          <p:stCondLst>
                                            <p:cond delay="0"/>
                                          </p:stCondLst>
                                        </p:cTn>
                                        <p:tgtEl>
                                          <p:spTgt spid="16"/>
                                        </p:tgtEl>
                                        <p:attrNameLst>
                                          <p:attrName>style.visibility</p:attrName>
                                        </p:attrNameLst>
                                      </p:cBhvr>
                                      <p:to>
                                        <p:strVal val="visible"/>
                                      </p:to>
                                    </p:set>
                                    <p:animEffect transition="in" filter="fade">
                                      <p:cBhvr>
                                        <p:cTn id="91" dur="1000"/>
                                        <p:tgtEl>
                                          <p:spTgt spid="16"/>
                                        </p:tgtEl>
                                      </p:cBhvr>
                                    </p:animEffect>
                                    <p:anim calcmode="lin" valueType="num">
                                      <p:cBhvr>
                                        <p:cTn id="92" dur="1000" fill="hold"/>
                                        <p:tgtEl>
                                          <p:spTgt spid="16"/>
                                        </p:tgtEl>
                                        <p:attrNameLst>
                                          <p:attrName>ppt_x</p:attrName>
                                        </p:attrNameLst>
                                      </p:cBhvr>
                                      <p:tavLst>
                                        <p:tav tm="0">
                                          <p:val>
                                            <p:strVal val="#ppt_x"/>
                                          </p:val>
                                        </p:tav>
                                        <p:tav tm="100000">
                                          <p:val>
                                            <p:strVal val="#ppt_x"/>
                                          </p:val>
                                        </p:tav>
                                      </p:tavLst>
                                    </p:anim>
                                    <p:anim calcmode="lin" valueType="num">
                                      <p:cBhvr>
                                        <p:cTn id="93" dur="1000" fill="hold"/>
                                        <p:tgtEl>
                                          <p:spTgt spid="16"/>
                                        </p:tgtEl>
                                        <p:attrNameLst>
                                          <p:attrName>ppt_y</p:attrName>
                                        </p:attrNameLst>
                                      </p:cBhvr>
                                      <p:tavLst>
                                        <p:tav tm="0">
                                          <p:val>
                                            <p:strVal val="#ppt_y+.1"/>
                                          </p:val>
                                        </p:tav>
                                        <p:tav tm="100000">
                                          <p:val>
                                            <p:strVal val="#ppt_y"/>
                                          </p:val>
                                        </p:tav>
                                      </p:tavLst>
                                    </p:anim>
                                  </p:childTnLst>
                                </p:cTn>
                              </p:par>
                              <p:par>
                                <p:cTn id="94" presetID="42" presetClass="entr" presetSubtype="0" fill="hold" grpId="0" nodeType="withEffect">
                                  <p:stCondLst>
                                    <p:cond delay="0"/>
                                  </p:stCondLst>
                                  <p:childTnLst>
                                    <p:set>
                                      <p:cBhvr>
                                        <p:cTn id="95" dur="1" fill="hold">
                                          <p:stCondLst>
                                            <p:cond delay="0"/>
                                          </p:stCondLst>
                                        </p:cTn>
                                        <p:tgtEl>
                                          <p:spTgt spid="17"/>
                                        </p:tgtEl>
                                        <p:attrNameLst>
                                          <p:attrName>style.visibility</p:attrName>
                                        </p:attrNameLst>
                                      </p:cBhvr>
                                      <p:to>
                                        <p:strVal val="visible"/>
                                      </p:to>
                                    </p:set>
                                    <p:animEffect transition="in" filter="fade">
                                      <p:cBhvr>
                                        <p:cTn id="96" dur="1000"/>
                                        <p:tgtEl>
                                          <p:spTgt spid="17"/>
                                        </p:tgtEl>
                                      </p:cBhvr>
                                    </p:animEffect>
                                    <p:anim calcmode="lin" valueType="num">
                                      <p:cBhvr>
                                        <p:cTn id="97" dur="1000" fill="hold"/>
                                        <p:tgtEl>
                                          <p:spTgt spid="17"/>
                                        </p:tgtEl>
                                        <p:attrNameLst>
                                          <p:attrName>ppt_x</p:attrName>
                                        </p:attrNameLst>
                                      </p:cBhvr>
                                      <p:tavLst>
                                        <p:tav tm="0">
                                          <p:val>
                                            <p:strVal val="#ppt_x"/>
                                          </p:val>
                                        </p:tav>
                                        <p:tav tm="100000">
                                          <p:val>
                                            <p:strVal val="#ppt_x"/>
                                          </p:val>
                                        </p:tav>
                                      </p:tavLst>
                                    </p:anim>
                                    <p:anim calcmode="lin" valueType="num">
                                      <p:cBhvr>
                                        <p:cTn id="98"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9" grpId="0" animBg="1"/>
      <p:bldP spid="10" grpId="0"/>
      <p:bldP spid="11" grpId="0" animBg="1"/>
      <p:bldP spid="12" grpId="0" animBg="1"/>
      <p:bldP spid="13" grpId="0" animBg="1"/>
      <p:bldP spid="14" grpId="0" animBg="1"/>
      <p:bldP spid="17" grpId="0" animBg="1"/>
      <p:bldP spid="1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p:cNvSpPr txBox="1"/>
          <p:nvPr/>
        </p:nvSpPr>
        <p:spPr>
          <a:xfrm>
            <a:off x="357158" y="920878"/>
            <a:ext cx="8786842" cy="954107"/>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2800" b="1" dirty="0">
                <a:solidFill>
                  <a:schemeClr val="accent6">
                    <a:lumMod val="75000"/>
                  </a:schemeClr>
                </a:solidFill>
              </a:rPr>
              <a:t>从</a:t>
            </a:r>
            <a:r>
              <a:rPr lang="en-US" altLang="zh-CN" sz="2800" b="1" dirty="0">
                <a:solidFill>
                  <a:schemeClr val="accent6">
                    <a:lumMod val="75000"/>
                  </a:schemeClr>
                </a:solidFill>
              </a:rPr>
              <a:t>+1</a:t>
            </a:r>
            <a:r>
              <a:rPr lang="zh-CN" altLang="en-US" sz="2800" b="1" dirty="0">
                <a:solidFill>
                  <a:schemeClr val="accent6">
                    <a:lumMod val="75000"/>
                  </a:schemeClr>
                </a:solidFill>
              </a:rPr>
              <a:t>价气态阳离子中失去</a:t>
            </a:r>
            <a:r>
              <a:rPr lang="en-US" altLang="zh-CN" sz="2800" b="1" dirty="0">
                <a:solidFill>
                  <a:schemeClr val="accent6">
                    <a:lumMod val="75000"/>
                  </a:schemeClr>
                </a:solidFill>
              </a:rPr>
              <a:t>1</a:t>
            </a:r>
            <a:r>
              <a:rPr lang="zh-CN" altLang="en-US" sz="2800" b="1" dirty="0">
                <a:solidFill>
                  <a:schemeClr val="accent6">
                    <a:lumMod val="75000"/>
                  </a:schemeClr>
                </a:solidFill>
              </a:rPr>
              <a:t>个电子需克服的静电引力，比从中性原子中失去</a:t>
            </a:r>
            <a:r>
              <a:rPr lang="en-US" altLang="zh-CN" sz="2800" b="1" dirty="0">
                <a:solidFill>
                  <a:schemeClr val="accent6">
                    <a:lumMod val="75000"/>
                  </a:schemeClr>
                </a:solidFill>
              </a:rPr>
              <a:t>1</a:t>
            </a:r>
            <a:r>
              <a:rPr lang="zh-CN" altLang="en-US" sz="2800" b="1" dirty="0">
                <a:solidFill>
                  <a:schemeClr val="accent6">
                    <a:lumMod val="75000"/>
                  </a:schemeClr>
                </a:solidFill>
              </a:rPr>
              <a:t>个电子的要大，消耗的能量要多。</a:t>
            </a:r>
            <a:endParaRPr lang="en-US" altLang="zh-CN" sz="2800" b="1" dirty="0">
              <a:solidFill>
                <a:schemeClr val="accent6">
                  <a:lumMod val="75000"/>
                </a:schemeClr>
              </a:solidFill>
            </a:endParaRPr>
          </a:p>
        </p:txBody>
      </p:sp>
      <p:sp>
        <p:nvSpPr>
          <p:cNvPr id="23" name="TextBox 22"/>
          <p:cNvSpPr txBox="1"/>
          <p:nvPr/>
        </p:nvSpPr>
        <p:spPr>
          <a:xfrm>
            <a:off x="357158" y="2492514"/>
            <a:ext cx="6905192" cy="707886"/>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4000" b="1" dirty="0">
                <a:solidFill>
                  <a:schemeClr val="accent6">
                    <a:lumMod val="75000"/>
                  </a:schemeClr>
                </a:solidFill>
              </a:rPr>
              <a:t>第二电离能 </a:t>
            </a:r>
            <a:r>
              <a:rPr lang="en-US" altLang="zh-CN" sz="4000" b="1" dirty="0">
                <a:solidFill>
                  <a:schemeClr val="accent6">
                    <a:lumMod val="75000"/>
                  </a:schemeClr>
                </a:solidFill>
              </a:rPr>
              <a:t>&gt; </a:t>
            </a:r>
            <a:r>
              <a:rPr lang="zh-CN" altLang="en-US" sz="4000" b="1" dirty="0">
                <a:solidFill>
                  <a:schemeClr val="accent6">
                    <a:lumMod val="75000"/>
                  </a:schemeClr>
                </a:solidFill>
              </a:rPr>
              <a:t>第一电离能</a:t>
            </a:r>
            <a:endParaRPr lang="en-US" sz="4000" b="1" dirty="0">
              <a:solidFill>
                <a:schemeClr val="accent6">
                  <a:lumMod val="75000"/>
                </a:schemeClr>
              </a:solidFill>
            </a:endParaRPr>
          </a:p>
        </p:txBody>
      </p:sp>
      <p:sp>
        <p:nvSpPr>
          <p:cNvPr id="25" name="TextBox 24"/>
          <p:cNvSpPr txBox="1"/>
          <p:nvPr/>
        </p:nvSpPr>
        <p:spPr>
          <a:xfrm>
            <a:off x="357158" y="1921010"/>
            <a:ext cx="1214446" cy="523220"/>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2800" b="1" dirty="0">
                <a:solidFill>
                  <a:schemeClr val="accent6">
                    <a:lumMod val="75000"/>
                  </a:schemeClr>
                </a:solidFill>
              </a:rPr>
              <a:t>所以，</a:t>
            </a:r>
            <a:endParaRPr lang="en-US" sz="2800" b="1" dirty="0">
              <a:solidFill>
                <a:schemeClr val="accent6">
                  <a:lumMod val="75000"/>
                </a:schemeClr>
              </a:solidFill>
            </a:endParaRPr>
          </a:p>
        </p:txBody>
      </p:sp>
      <p:sp>
        <p:nvSpPr>
          <p:cNvPr id="28" name="TextBox 27"/>
          <p:cNvSpPr txBox="1"/>
          <p:nvPr/>
        </p:nvSpPr>
        <p:spPr>
          <a:xfrm>
            <a:off x="785786" y="4214818"/>
            <a:ext cx="7572428" cy="1323439"/>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4000" b="1" dirty="0">
                <a:solidFill>
                  <a:schemeClr val="accent6">
                    <a:lumMod val="75000"/>
                  </a:schemeClr>
                </a:solidFill>
              </a:rPr>
              <a:t>元素的</a:t>
            </a:r>
            <a:r>
              <a:rPr lang="zh-CN" altLang="en-US" sz="4000" b="1" dirty="0">
                <a:solidFill>
                  <a:srgbClr val="C00000"/>
                </a:solidFill>
              </a:rPr>
              <a:t>电离能越小</a:t>
            </a:r>
            <a:r>
              <a:rPr lang="zh-CN" altLang="en-US" sz="4000" b="1" dirty="0">
                <a:solidFill>
                  <a:schemeClr val="accent6">
                    <a:lumMod val="75000"/>
                  </a:schemeClr>
                </a:solidFill>
              </a:rPr>
              <a:t>，其原子</a:t>
            </a:r>
            <a:endParaRPr lang="en-US" altLang="zh-CN" sz="4000" b="1" dirty="0">
              <a:solidFill>
                <a:schemeClr val="accent6">
                  <a:lumMod val="75000"/>
                </a:schemeClr>
              </a:solidFill>
            </a:endParaRPr>
          </a:p>
          <a:p>
            <a:pPr algn="ctr"/>
            <a:r>
              <a:rPr lang="zh-CN" altLang="en-US" sz="4000" b="1" dirty="0">
                <a:solidFill>
                  <a:srgbClr val="C00000"/>
                </a:solidFill>
              </a:rPr>
              <a:t>越容易失去电子</a:t>
            </a:r>
            <a:r>
              <a:rPr lang="zh-CN" altLang="en-US" sz="4000" b="1" dirty="0">
                <a:solidFill>
                  <a:schemeClr val="accent6">
                    <a:lumMod val="75000"/>
                  </a:schemeClr>
                </a:solidFill>
              </a:rPr>
              <a:t>，</a:t>
            </a:r>
            <a:r>
              <a:rPr lang="zh-CN" altLang="en-US" sz="4000" b="1" dirty="0">
                <a:solidFill>
                  <a:srgbClr val="C00000"/>
                </a:solidFill>
              </a:rPr>
              <a:t>金属性越强</a:t>
            </a:r>
            <a:endParaRPr lang="en-US" sz="4000" b="1" dirty="0">
              <a:solidFill>
                <a:srgbClr val="C00000"/>
              </a:solidFill>
            </a:endParaRPr>
          </a:p>
        </p:txBody>
      </p:sp>
    </p:spTree>
    <p:extLst>
      <p:ext uri="{BB962C8B-B14F-4D97-AF65-F5344CB8AC3E}">
        <p14:creationId xmlns:p14="http://schemas.microsoft.com/office/powerpoint/2010/main" val="1222523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anim calcmode="lin" valueType="num">
                                      <p:cBhvr>
                                        <p:cTn id="8" dur="1000" fill="hold"/>
                                        <p:tgtEl>
                                          <p:spTgt spid="22"/>
                                        </p:tgtEl>
                                        <p:attrNameLst>
                                          <p:attrName>ppt_x</p:attrName>
                                        </p:attrNameLst>
                                      </p:cBhvr>
                                      <p:tavLst>
                                        <p:tav tm="0">
                                          <p:val>
                                            <p:strVal val="#ppt_x"/>
                                          </p:val>
                                        </p:tav>
                                        <p:tav tm="100000">
                                          <p:val>
                                            <p:strVal val="#ppt_x"/>
                                          </p:val>
                                        </p:tav>
                                      </p:tavLst>
                                    </p:anim>
                                    <p:anim calcmode="lin" valueType="num">
                                      <p:cBhvr>
                                        <p:cTn id="9"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1000"/>
                                        <p:tgtEl>
                                          <p:spTgt spid="25"/>
                                        </p:tgtEl>
                                      </p:cBhvr>
                                    </p:animEffect>
                                    <p:anim calcmode="lin" valueType="num">
                                      <p:cBhvr>
                                        <p:cTn id="15" dur="1000" fill="hold"/>
                                        <p:tgtEl>
                                          <p:spTgt spid="25"/>
                                        </p:tgtEl>
                                        <p:attrNameLst>
                                          <p:attrName>ppt_x</p:attrName>
                                        </p:attrNameLst>
                                      </p:cBhvr>
                                      <p:tavLst>
                                        <p:tav tm="0">
                                          <p:val>
                                            <p:strVal val="#ppt_x"/>
                                          </p:val>
                                        </p:tav>
                                        <p:tav tm="100000">
                                          <p:val>
                                            <p:strVal val="#ppt_x"/>
                                          </p:val>
                                        </p:tav>
                                      </p:tavLst>
                                    </p:anim>
                                    <p:anim calcmode="lin" valueType="num">
                                      <p:cBhvr>
                                        <p:cTn id="16"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1000"/>
                                        <p:tgtEl>
                                          <p:spTgt spid="23"/>
                                        </p:tgtEl>
                                      </p:cBhvr>
                                    </p:animEffect>
                                    <p:anim calcmode="lin" valueType="num">
                                      <p:cBhvr>
                                        <p:cTn id="22" dur="1000" fill="hold"/>
                                        <p:tgtEl>
                                          <p:spTgt spid="23"/>
                                        </p:tgtEl>
                                        <p:attrNameLst>
                                          <p:attrName>ppt_x</p:attrName>
                                        </p:attrNameLst>
                                      </p:cBhvr>
                                      <p:tavLst>
                                        <p:tav tm="0">
                                          <p:val>
                                            <p:strVal val="#ppt_x"/>
                                          </p:val>
                                        </p:tav>
                                        <p:tav tm="100000">
                                          <p:val>
                                            <p:strVal val="#ppt_x"/>
                                          </p:val>
                                        </p:tav>
                                      </p:tavLst>
                                    </p:anim>
                                    <p:anim calcmode="lin" valueType="num">
                                      <p:cBhvr>
                                        <p:cTn id="23"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fade">
                                      <p:cBhvr>
                                        <p:cTn id="28" dur="1000"/>
                                        <p:tgtEl>
                                          <p:spTgt spid="28"/>
                                        </p:tgtEl>
                                      </p:cBhvr>
                                    </p:animEffect>
                                    <p:anim calcmode="lin" valueType="num">
                                      <p:cBhvr>
                                        <p:cTn id="29" dur="1000" fill="hold"/>
                                        <p:tgtEl>
                                          <p:spTgt spid="28"/>
                                        </p:tgtEl>
                                        <p:attrNameLst>
                                          <p:attrName>ppt_x</p:attrName>
                                        </p:attrNameLst>
                                      </p:cBhvr>
                                      <p:tavLst>
                                        <p:tav tm="0">
                                          <p:val>
                                            <p:strVal val="#ppt_x"/>
                                          </p:val>
                                        </p:tav>
                                        <p:tav tm="100000">
                                          <p:val>
                                            <p:strVal val="#ppt_x"/>
                                          </p:val>
                                        </p:tav>
                                      </p:tavLst>
                                    </p:anim>
                                    <p:anim calcmode="lin" valueType="num">
                                      <p:cBhvr>
                                        <p:cTn id="30"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5" grpId="0" animBg="1"/>
      <p:bldP spid="2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3" descr="periodic table of the elements.jpg"/>
          <p:cNvPicPr>
            <a:picLocks noChangeAspect="1"/>
          </p:cNvPicPr>
          <p:nvPr/>
        </p:nvPicPr>
        <p:blipFill>
          <a:blip r:embed="rId2"/>
          <a:stretch>
            <a:fillRect/>
          </a:stretch>
        </p:blipFill>
        <p:spPr>
          <a:xfrm>
            <a:off x="1071538" y="928670"/>
            <a:ext cx="7478111" cy="5500726"/>
          </a:xfrm>
          <a:prstGeom prst="rect">
            <a:avLst/>
          </a:prstGeom>
        </p:spPr>
      </p:pic>
      <p:cxnSp>
        <p:nvCxnSpPr>
          <p:cNvPr id="3" name="Straight Arrow Connector 2"/>
          <p:cNvCxnSpPr/>
          <p:nvPr/>
        </p:nvCxnSpPr>
        <p:spPr>
          <a:xfrm rot="10800000">
            <a:off x="1071538" y="642918"/>
            <a:ext cx="7358114" cy="1588"/>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rot="5400000">
            <a:off x="-1964577" y="3679033"/>
            <a:ext cx="5500726" cy="1588"/>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214282" y="1571612"/>
            <a:ext cx="519545" cy="3108543"/>
          </a:xfrm>
          <a:prstGeom prst="rect">
            <a:avLst/>
          </a:prstGeom>
          <a:noFill/>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2800" b="1" dirty="0">
                <a:solidFill>
                  <a:srgbClr val="FF0000"/>
                </a:solidFill>
              </a:rPr>
              <a:t>第一电离能递减</a:t>
            </a:r>
            <a:endParaRPr lang="en-US" sz="2800" b="1" dirty="0">
              <a:solidFill>
                <a:srgbClr val="FF0000"/>
              </a:solidFill>
            </a:endParaRPr>
          </a:p>
        </p:txBody>
      </p:sp>
      <p:sp>
        <p:nvSpPr>
          <p:cNvPr id="9" name="TextBox 8"/>
          <p:cNvSpPr txBox="1"/>
          <p:nvPr/>
        </p:nvSpPr>
        <p:spPr>
          <a:xfrm>
            <a:off x="1785918" y="0"/>
            <a:ext cx="5500726" cy="523220"/>
          </a:xfrm>
          <a:prstGeom prst="rect">
            <a:avLst/>
          </a:prstGeom>
          <a:noFill/>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2800" b="1" dirty="0">
                <a:solidFill>
                  <a:srgbClr val="FF0000"/>
                </a:solidFill>
              </a:rPr>
              <a:t>第一电离能递减</a:t>
            </a:r>
            <a:endParaRPr lang="en-US" sz="28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0000" y="838200"/>
            <a:ext cx="8643998" cy="3539430"/>
          </a:xfrm>
          <a:prstGeom prst="rect">
            <a:avLst/>
          </a:prstGeom>
          <a:solidFill>
            <a:schemeClr val="bg1"/>
          </a:solidFill>
        </p:spPr>
        <p:txBody>
          <a:bodyPr wrap="square" rtlCol="0">
            <a:spAutoFit/>
          </a:bodyPr>
          <a:lstStyle/>
          <a:p>
            <a:r>
              <a:rPr lang="zh-CN" altLang="en-US" sz="2800" b="1" dirty="0">
                <a:solidFill>
                  <a:schemeClr val="accent6">
                    <a:lumMod val="75000"/>
                  </a:schemeClr>
                </a:solidFill>
              </a:rPr>
              <a:t>在</a:t>
            </a:r>
            <a:r>
              <a:rPr lang="zh-CN" altLang="en-US" sz="2800" b="1" dirty="0">
                <a:solidFill>
                  <a:srgbClr val="C00000"/>
                </a:solidFill>
              </a:rPr>
              <a:t>同一周期</a:t>
            </a:r>
            <a:r>
              <a:rPr lang="zh-CN" altLang="en-US" sz="2800" b="1" dirty="0">
                <a:solidFill>
                  <a:schemeClr val="accent6">
                    <a:lumMod val="75000"/>
                  </a:schemeClr>
                </a:solidFill>
              </a:rPr>
              <a:t>，随着原子序数递增，</a:t>
            </a:r>
            <a:r>
              <a:rPr lang="zh-CN" altLang="en-US" sz="2800" b="1" dirty="0">
                <a:solidFill>
                  <a:srgbClr val="C00000"/>
                </a:solidFill>
              </a:rPr>
              <a:t>最外层电子数增加</a:t>
            </a:r>
            <a:r>
              <a:rPr lang="zh-CN" altLang="en-US" sz="2800" b="1" dirty="0">
                <a:solidFill>
                  <a:schemeClr val="accent6">
                    <a:lumMod val="75000"/>
                  </a:schemeClr>
                </a:solidFill>
              </a:rPr>
              <a:t>，原子</a:t>
            </a:r>
            <a:r>
              <a:rPr lang="zh-CN" altLang="en-US" sz="2800" b="1" dirty="0">
                <a:solidFill>
                  <a:srgbClr val="C00000"/>
                </a:solidFill>
              </a:rPr>
              <a:t>半径减小</a:t>
            </a:r>
            <a:r>
              <a:rPr lang="zh-CN" altLang="en-US" sz="2800" b="1" dirty="0">
                <a:solidFill>
                  <a:schemeClr val="accent6">
                    <a:lumMod val="75000"/>
                  </a:schemeClr>
                </a:solidFill>
              </a:rPr>
              <a:t>，核电荷对价电子的</a:t>
            </a:r>
            <a:r>
              <a:rPr lang="zh-CN" altLang="en-US" sz="2800" b="1" dirty="0">
                <a:solidFill>
                  <a:srgbClr val="C00000"/>
                </a:solidFill>
              </a:rPr>
              <a:t>吸引力增强</a:t>
            </a:r>
            <a:r>
              <a:rPr lang="zh-CN" altLang="en-US" sz="2800" b="1" dirty="0">
                <a:solidFill>
                  <a:schemeClr val="accent6">
                    <a:lumMod val="75000"/>
                  </a:schemeClr>
                </a:solidFill>
              </a:rPr>
              <a:t>，</a:t>
            </a:r>
            <a:r>
              <a:rPr lang="zh-CN" altLang="en-US" sz="2800" b="1" dirty="0">
                <a:solidFill>
                  <a:srgbClr val="C00000"/>
                </a:solidFill>
              </a:rPr>
              <a:t>失电子能力减弱</a:t>
            </a:r>
            <a:r>
              <a:rPr lang="zh-CN" altLang="en-US" sz="2800" b="1" dirty="0">
                <a:solidFill>
                  <a:schemeClr val="accent6">
                    <a:lumMod val="75000"/>
                  </a:schemeClr>
                </a:solidFill>
              </a:rPr>
              <a:t>，元素的</a:t>
            </a:r>
            <a:r>
              <a:rPr lang="zh-CN" altLang="en-US" sz="2800" b="1" dirty="0">
                <a:solidFill>
                  <a:srgbClr val="C00000"/>
                </a:solidFill>
              </a:rPr>
              <a:t>第一电离能</a:t>
            </a:r>
            <a:r>
              <a:rPr lang="zh-CN" altLang="en-US" sz="2800" b="1" dirty="0">
                <a:solidFill>
                  <a:schemeClr val="accent6">
                    <a:lumMod val="75000"/>
                  </a:schemeClr>
                </a:solidFill>
              </a:rPr>
              <a:t>从左到右逐渐</a:t>
            </a:r>
            <a:r>
              <a:rPr lang="zh-CN" altLang="en-US" sz="2800" b="1" dirty="0">
                <a:solidFill>
                  <a:srgbClr val="C00000"/>
                </a:solidFill>
              </a:rPr>
              <a:t>增大</a:t>
            </a:r>
            <a:r>
              <a:rPr lang="zh-CN" altLang="en-US" sz="2800" b="1" dirty="0">
                <a:solidFill>
                  <a:schemeClr val="accent6">
                    <a:lumMod val="75000"/>
                  </a:schemeClr>
                </a:solidFill>
              </a:rPr>
              <a:t>。</a:t>
            </a:r>
            <a:endParaRPr lang="en-US" altLang="zh-CN" sz="2800" b="1" dirty="0">
              <a:solidFill>
                <a:schemeClr val="accent6">
                  <a:lumMod val="75000"/>
                </a:schemeClr>
              </a:solidFill>
            </a:endParaRPr>
          </a:p>
          <a:p>
            <a:endParaRPr lang="en-US" altLang="zh-CN" sz="2800" b="1" dirty="0">
              <a:solidFill>
                <a:schemeClr val="accent6">
                  <a:lumMod val="75000"/>
                </a:schemeClr>
              </a:solidFill>
            </a:endParaRPr>
          </a:p>
          <a:p>
            <a:r>
              <a:rPr lang="zh-CN" altLang="en-US" sz="2800" b="1" dirty="0">
                <a:solidFill>
                  <a:schemeClr val="accent6">
                    <a:lumMod val="75000"/>
                  </a:schemeClr>
                </a:solidFill>
              </a:rPr>
              <a:t>在</a:t>
            </a:r>
            <a:r>
              <a:rPr lang="zh-CN" altLang="en-US" sz="2800" b="1" dirty="0">
                <a:solidFill>
                  <a:srgbClr val="C00000"/>
                </a:solidFill>
              </a:rPr>
              <a:t>同一主族</a:t>
            </a:r>
            <a:r>
              <a:rPr lang="zh-CN" altLang="en-US" sz="2800" b="1" dirty="0">
                <a:solidFill>
                  <a:schemeClr val="accent6">
                    <a:lumMod val="75000"/>
                  </a:schemeClr>
                </a:solidFill>
              </a:rPr>
              <a:t>，随着原子序数递增，</a:t>
            </a:r>
            <a:r>
              <a:rPr lang="zh-CN" altLang="en-US" sz="2800" b="1" dirty="0">
                <a:solidFill>
                  <a:srgbClr val="C00000"/>
                </a:solidFill>
              </a:rPr>
              <a:t>电子层数增多</a:t>
            </a:r>
            <a:r>
              <a:rPr lang="zh-CN" altLang="en-US" sz="2800" b="1" dirty="0">
                <a:solidFill>
                  <a:schemeClr val="accent6">
                    <a:lumMod val="75000"/>
                  </a:schemeClr>
                </a:solidFill>
              </a:rPr>
              <a:t>，原子</a:t>
            </a:r>
            <a:r>
              <a:rPr lang="zh-CN" altLang="en-US" sz="2800" b="1" dirty="0">
                <a:solidFill>
                  <a:srgbClr val="C00000"/>
                </a:solidFill>
              </a:rPr>
              <a:t>半径增大</a:t>
            </a:r>
            <a:r>
              <a:rPr lang="zh-CN" altLang="en-US" sz="2800" b="1" dirty="0">
                <a:solidFill>
                  <a:schemeClr val="accent6">
                    <a:lumMod val="75000"/>
                  </a:schemeClr>
                </a:solidFill>
              </a:rPr>
              <a:t>，核电荷对价电子的</a:t>
            </a:r>
            <a:r>
              <a:rPr lang="zh-CN" altLang="en-US" sz="2800" b="1" dirty="0">
                <a:solidFill>
                  <a:srgbClr val="C00000"/>
                </a:solidFill>
              </a:rPr>
              <a:t>吸引力减弱</a:t>
            </a:r>
            <a:r>
              <a:rPr lang="zh-CN" altLang="en-US" sz="2800" b="1" dirty="0">
                <a:solidFill>
                  <a:schemeClr val="accent6">
                    <a:lumMod val="75000"/>
                  </a:schemeClr>
                </a:solidFill>
              </a:rPr>
              <a:t>，</a:t>
            </a:r>
            <a:r>
              <a:rPr lang="zh-CN" altLang="en-US" sz="2800" b="1" dirty="0">
                <a:solidFill>
                  <a:srgbClr val="C00000"/>
                </a:solidFill>
              </a:rPr>
              <a:t>失电子能力增强</a:t>
            </a:r>
            <a:r>
              <a:rPr lang="zh-CN" altLang="en-US" sz="2800" b="1" dirty="0">
                <a:solidFill>
                  <a:schemeClr val="accent6">
                    <a:lumMod val="75000"/>
                  </a:schemeClr>
                </a:solidFill>
              </a:rPr>
              <a:t>，元素的</a:t>
            </a:r>
            <a:r>
              <a:rPr lang="zh-CN" altLang="en-US" sz="2800" b="1" dirty="0">
                <a:solidFill>
                  <a:srgbClr val="C00000"/>
                </a:solidFill>
              </a:rPr>
              <a:t>第一电离能</a:t>
            </a:r>
            <a:r>
              <a:rPr lang="zh-CN" altLang="en-US" sz="2800" b="1" dirty="0">
                <a:solidFill>
                  <a:schemeClr val="accent6">
                    <a:lumMod val="75000"/>
                  </a:schemeClr>
                </a:solidFill>
              </a:rPr>
              <a:t>从上到下逐渐</a:t>
            </a:r>
            <a:r>
              <a:rPr lang="zh-CN" altLang="en-US" sz="2800" b="1" dirty="0">
                <a:solidFill>
                  <a:srgbClr val="C00000"/>
                </a:solidFill>
              </a:rPr>
              <a:t>减小</a:t>
            </a:r>
            <a:r>
              <a:rPr lang="zh-CN" altLang="en-US" sz="2800" b="1" dirty="0">
                <a:solidFill>
                  <a:schemeClr val="accent6">
                    <a:lumMod val="75000"/>
                  </a:schemeClr>
                </a:solidFill>
              </a:rPr>
              <a:t>。</a:t>
            </a:r>
            <a:endParaRPr lang="en-US" altLang="zh-CN" sz="2800" b="1" dirty="0">
              <a:solidFill>
                <a:schemeClr val="accent6">
                  <a:lumMod val="75000"/>
                </a:schemeClr>
              </a:solidFill>
            </a:endParaRPr>
          </a:p>
          <a:p>
            <a:endParaRPr lang="en-US" altLang="zh-CN" sz="2800" b="1" dirty="0">
              <a:solidFill>
                <a:schemeClr val="accent6">
                  <a:lumMod val="75000"/>
                </a:schemeClr>
              </a:solidFill>
            </a:endParaRPr>
          </a:p>
        </p:txBody>
      </p:sp>
      <p:pic>
        <p:nvPicPr>
          <p:cNvPr id="4" name="Picture 3">
            <a:extLst>
              <a:ext uri="{FF2B5EF4-FFF2-40B4-BE49-F238E27FC236}">
                <a16:creationId xmlns:a16="http://schemas.microsoft.com/office/drawing/2014/main" id="{857D5B28-19D5-4F4B-9E75-D68A50FFFE9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8588" y="245715"/>
            <a:ext cx="8926823" cy="577408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slide(fromBottom)">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slide(fromBottom)">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928670"/>
            <a:ext cx="8643998" cy="1815882"/>
          </a:xfrm>
          <a:prstGeom prst="rect">
            <a:avLst/>
          </a:prstGeom>
          <a:solidFill>
            <a:schemeClr val="bg1"/>
          </a:solidFill>
        </p:spPr>
        <p:txBody>
          <a:bodyPr wrap="square" rtlCol="0">
            <a:spAutoFit/>
          </a:bodyPr>
          <a:lstStyle/>
          <a:p>
            <a:endParaRPr lang="en-US" altLang="zh-CN" sz="2800" b="1" dirty="0">
              <a:solidFill>
                <a:schemeClr val="accent6">
                  <a:lumMod val="75000"/>
                </a:schemeClr>
              </a:solidFill>
            </a:endParaRPr>
          </a:p>
          <a:p>
            <a:r>
              <a:rPr lang="zh-CN" altLang="en-US" sz="2800" b="1" dirty="0">
                <a:solidFill>
                  <a:schemeClr val="accent6">
                    <a:lumMod val="75000"/>
                  </a:schemeClr>
                </a:solidFill>
              </a:rPr>
              <a:t>通常情况下，当电子排布为</a:t>
            </a:r>
            <a:r>
              <a:rPr lang="zh-CN" altLang="en-US" sz="2800" b="1" dirty="0">
                <a:solidFill>
                  <a:srgbClr val="C00000"/>
                </a:solidFill>
              </a:rPr>
              <a:t>全空</a:t>
            </a:r>
            <a:r>
              <a:rPr lang="zh-CN" altLang="en-US" sz="2800" b="1" dirty="0">
                <a:solidFill>
                  <a:schemeClr val="accent6">
                    <a:lumMod val="75000"/>
                  </a:schemeClr>
                </a:solidFill>
              </a:rPr>
              <a:t>（</a:t>
            </a:r>
            <a:r>
              <a:rPr lang="en-US" sz="2800" dirty="0">
                <a:solidFill>
                  <a:schemeClr val="accent6">
                    <a:lumMod val="75000"/>
                  </a:schemeClr>
                </a:solidFill>
              </a:rPr>
              <a:t>p</a:t>
            </a:r>
            <a:r>
              <a:rPr lang="en-US" sz="2800" baseline="30000" dirty="0">
                <a:solidFill>
                  <a:schemeClr val="accent6">
                    <a:lumMod val="75000"/>
                  </a:schemeClr>
                </a:solidFill>
              </a:rPr>
              <a:t>0</a:t>
            </a:r>
            <a:r>
              <a:rPr lang="zh-CN" altLang="en-US" sz="2800" dirty="0">
                <a:solidFill>
                  <a:schemeClr val="accent6">
                    <a:lumMod val="75000"/>
                  </a:schemeClr>
                </a:solidFill>
              </a:rPr>
              <a:t>、</a:t>
            </a:r>
            <a:r>
              <a:rPr lang="en-US" sz="2800" dirty="0">
                <a:solidFill>
                  <a:schemeClr val="accent6">
                    <a:lumMod val="75000"/>
                  </a:schemeClr>
                </a:solidFill>
              </a:rPr>
              <a:t>d</a:t>
            </a:r>
            <a:r>
              <a:rPr lang="en-US" sz="2800" baseline="30000" dirty="0">
                <a:solidFill>
                  <a:schemeClr val="accent6">
                    <a:lumMod val="75000"/>
                  </a:schemeClr>
                </a:solidFill>
              </a:rPr>
              <a:t>0</a:t>
            </a:r>
            <a:r>
              <a:rPr lang="zh-CN" altLang="en-US" sz="2800" dirty="0">
                <a:solidFill>
                  <a:schemeClr val="accent6">
                    <a:lumMod val="75000"/>
                  </a:schemeClr>
                </a:solidFill>
              </a:rPr>
              <a:t>、</a:t>
            </a:r>
            <a:r>
              <a:rPr lang="en-US" sz="2800" b="1" dirty="0">
                <a:solidFill>
                  <a:schemeClr val="accent6">
                    <a:lumMod val="75000"/>
                  </a:schemeClr>
                </a:solidFill>
              </a:rPr>
              <a:t>f</a:t>
            </a:r>
            <a:r>
              <a:rPr lang="en-US" sz="2800" b="1" baseline="30000" dirty="0">
                <a:solidFill>
                  <a:schemeClr val="accent6">
                    <a:lumMod val="75000"/>
                  </a:schemeClr>
                </a:solidFill>
              </a:rPr>
              <a:t>0</a:t>
            </a:r>
            <a:r>
              <a:rPr lang="zh-CN" altLang="en-US" sz="2800" b="1" dirty="0">
                <a:solidFill>
                  <a:schemeClr val="accent6">
                    <a:lumMod val="75000"/>
                  </a:schemeClr>
                </a:solidFill>
              </a:rPr>
              <a:t>）、</a:t>
            </a:r>
            <a:r>
              <a:rPr lang="zh-CN" altLang="en-US" sz="2800" b="1" dirty="0">
                <a:solidFill>
                  <a:srgbClr val="C00000"/>
                </a:solidFill>
              </a:rPr>
              <a:t>半充满</a:t>
            </a:r>
            <a:r>
              <a:rPr lang="zh-CN" altLang="en-US" sz="2800" b="1" dirty="0">
                <a:solidFill>
                  <a:schemeClr val="accent6">
                    <a:lumMod val="75000"/>
                  </a:schemeClr>
                </a:solidFill>
              </a:rPr>
              <a:t>（</a:t>
            </a:r>
            <a:r>
              <a:rPr lang="en-US" sz="2800" b="1" dirty="0">
                <a:solidFill>
                  <a:schemeClr val="accent6">
                    <a:lumMod val="75000"/>
                  </a:schemeClr>
                </a:solidFill>
              </a:rPr>
              <a:t> p</a:t>
            </a:r>
            <a:r>
              <a:rPr lang="en-US" sz="2800" b="1" baseline="30000" dirty="0">
                <a:solidFill>
                  <a:schemeClr val="accent6">
                    <a:lumMod val="75000"/>
                  </a:schemeClr>
                </a:solidFill>
              </a:rPr>
              <a:t>3 </a:t>
            </a:r>
            <a:r>
              <a:rPr lang="zh-CN" altLang="en-US" sz="2800" b="1" dirty="0">
                <a:solidFill>
                  <a:schemeClr val="accent6">
                    <a:lumMod val="75000"/>
                  </a:schemeClr>
                </a:solidFill>
              </a:rPr>
              <a:t>、</a:t>
            </a:r>
            <a:r>
              <a:rPr lang="en-US" sz="2800" b="1" dirty="0">
                <a:solidFill>
                  <a:schemeClr val="accent6">
                    <a:lumMod val="75000"/>
                  </a:schemeClr>
                </a:solidFill>
              </a:rPr>
              <a:t>d</a:t>
            </a:r>
            <a:r>
              <a:rPr lang="en-US" sz="2800" b="1" baseline="30000" dirty="0">
                <a:solidFill>
                  <a:schemeClr val="accent6">
                    <a:lumMod val="75000"/>
                  </a:schemeClr>
                </a:solidFill>
              </a:rPr>
              <a:t>5</a:t>
            </a:r>
            <a:r>
              <a:rPr lang="zh-CN" altLang="en-US" sz="2800" b="1" dirty="0">
                <a:solidFill>
                  <a:schemeClr val="accent6">
                    <a:lumMod val="75000"/>
                  </a:schemeClr>
                </a:solidFill>
              </a:rPr>
              <a:t>、</a:t>
            </a:r>
            <a:r>
              <a:rPr lang="en-US" sz="2800" b="1" dirty="0">
                <a:solidFill>
                  <a:schemeClr val="accent6">
                    <a:lumMod val="75000"/>
                  </a:schemeClr>
                </a:solidFill>
              </a:rPr>
              <a:t>f</a:t>
            </a:r>
            <a:r>
              <a:rPr lang="en-US" sz="2800" b="1" baseline="30000" dirty="0">
                <a:solidFill>
                  <a:schemeClr val="accent6">
                    <a:lumMod val="75000"/>
                  </a:schemeClr>
                </a:solidFill>
              </a:rPr>
              <a:t>7 </a:t>
            </a:r>
            <a:r>
              <a:rPr lang="zh-CN" altLang="en-US" sz="2800" b="1" dirty="0">
                <a:solidFill>
                  <a:schemeClr val="accent6">
                    <a:lumMod val="75000"/>
                  </a:schemeClr>
                </a:solidFill>
              </a:rPr>
              <a:t>）和</a:t>
            </a:r>
            <a:r>
              <a:rPr lang="zh-CN" altLang="en-US" sz="2800" b="1" dirty="0">
                <a:solidFill>
                  <a:srgbClr val="C00000"/>
                </a:solidFill>
              </a:rPr>
              <a:t>全满</a:t>
            </a:r>
            <a:r>
              <a:rPr lang="zh-CN" altLang="en-US" sz="2800" b="1" dirty="0">
                <a:solidFill>
                  <a:schemeClr val="accent6">
                    <a:lumMod val="75000"/>
                  </a:schemeClr>
                </a:solidFill>
              </a:rPr>
              <a:t>（</a:t>
            </a:r>
            <a:r>
              <a:rPr lang="en-US" sz="2800" b="1" dirty="0">
                <a:solidFill>
                  <a:schemeClr val="accent6">
                    <a:lumMod val="75000"/>
                  </a:schemeClr>
                </a:solidFill>
              </a:rPr>
              <a:t>p</a:t>
            </a:r>
            <a:r>
              <a:rPr lang="en-US" sz="2800" b="1" baseline="30000" dirty="0">
                <a:solidFill>
                  <a:schemeClr val="accent6">
                    <a:lumMod val="75000"/>
                  </a:schemeClr>
                </a:solidFill>
              </a:rPr>
              <a:t>6</a:t>
            </a:r>
            <a:r>
              <a:rPr lang="zh-CN" altLang="en-US" sz="2800" b="1" dirty="0">
                <a:solidFill>
                  <a:schemeClr val="accent6">
                    <a:lumMod val="75000"/>
                  </a:schemeClr>
                </a:solidFill>
              </a:rPr>
              <a:t>、</a:t>
            </a:r>
            <a:r>
              <a:rPr lang="en-US" sz="2800" b="1" dirty="0">
                <a:solidFill>
                  <a:schemeClr val="accent6">
                    <a:lumMod val="75000"/>
                  </a:schemeClr>
                </a:solidFill>
              </a:rPr>
              <a:t>d</a:t>
            </a:r>
            <a:r>
              <a:rPr lang="en-US" sz="2800" b="1" baseline="30000" dirty="0">
                <a:solidFill>
                  <a:schemeClr val="accent6">
                    <a:lumMod val="75000"/>
                  </a:schemeClr>
                </a:solidFill>
              </a:rPr>
              <a:t>10</a:t>
            </a:r>
            <a:r>
              <a:rPr lang="zh-CN" altLang="en-US" sz="2800" b="1" dirty="0">
                <a:solidFill>
                  <a:schemeClr val="accent6">
                    <a:lumMod val="75000"/>
                  </a:schemeClr>
                </a:solidFill>
              </a:rPr>
              <a:t>、</a:t>
            </a:r>
            <a:r>
              <a:rPr lang="en-US" sz="2800" b="1" dirty="0">
                <a:solidFill>
                  <a:schemeClr val="accent6">
                    <a:lumMod val="75000"/>
                  </a:schemeClr>
                </a:solidFill>
              </a:rPr>
              <a:t>f</a:t>
            </a:r>
            <a:r>
              <a:rPr lang="en-US" sz="2800" b="1" baseline="30000" dirty="0">
                <a:solidFill>
                  <a:schemeClr val="accent6">
                    <a:lumMod val="75000"/>
                  </a:schemeClr>
                </a:solidFill>
              </a:rPr>
              <a:t>14</a:t>
            </a:r>
            <a:r>
              <a:rPr lang="zh-CN" altLang="en-US" sz="2800" b="1" dirty="0">
                <a:solidFill>
                  <a:schemeClr val="accent6">
                    <a:lumMod val="75000"/>
                  </a:schemeClr>
                </a:solidFill>
              </a:rPr>
              <a:t>）时，原子的能量较低，该元素具有</a:t>
            </a:r>
            <a:r>
              <a:rPr lang="zh-CN" altLang="en-US" sz="2800" b="1" dirty="0">
                <a:solidFill>
                  <a:srgbClr val="C00000"/>
                </a:solidFill>
              </a:rPr>
              <a:t>较大的第一电离能</a:t>
            </a:r>
            <a:endParaRPr lang="en-US" altLang="zh-CN" sz="2800" b="1" dirty="0">
              <a:solidFill>
                <a:srgbClr val="C00000"/>
              </a:solidFill>
            </a:endParaRPr>
          </a:p>
        </p:txBody>
      </p:sp>
    </p:spTree>
    <p:extLst>
      <p:ext uri="{BB962C8B-B14F-4D97-AF65-F5344CB8AC3E}">
        <p14:creationId xmlns:p14="http://schemas.microsoft.com/office/powerpoint/2010/main" val="3765297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32267001_10214319608736787_7254803287453466624_n.jpg"/>
          <p:cNvPicPr>
            <a:picLocks noChangeAspect="1"/>
          </p:cNvPicPr>
          <p:nvPr/>
        </p:nvPicPr>
        <p:blipFill>
          <a:blip r:embed="rId2">
            <a:lum bright="12000" contrast="22000"/>
          </a:blip>
          <a:srcRect l="29077" t="56250" r="19847" b="3125"/>
          <a:stretch>
            <a:fillRect/>
          </a:stretch>
        </p:blipFill>
        <p:spPr>
          <a:xfrm>
            <a:off x="428596" y="1571611"/>
            <a:ext cx="3929090" cy="4166903"/>
          </a:xfrm>
          <a:prstGeom prst="rect">
            <a:avLst/>
          </a:prstGeom>
        </p:spPr>
      </p:pic>
      <p:sp>
        <p:nvSpPr>
          <p:cNvPr id="4" name="TextBox 3"/>
          <p:cNvSpPr txBox="1"/>
          <p:nvPr/>
        </p:nvSpPr>
        <p:spPr>
          <a:xfrm>
            <a:off x="0" y="0"/>
            <a:ext cx="9144000" cy="1384995"/>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sz="2800" b="1" dirty="0">
                <a:solidFill>
                  <a:schemeClr val="accent6">
                    <a:lumMod val="75000"/>
                  </a:schemeClr>
                </a:solidFill>
              </a:rPr>
              <a:t>图</a:t>
            </a:r>
            <a:r>
              <a:rPr lang="en-US" altLang="zh-CN" sz="2800" b="1" dirty="0">
                <a:solidFill>
                  <a:schemeClr val="accent6">
                    <a:lumMod val="75000"/>
                  </a:schemeClr>
                </a:solidFill>
              </a:rPr>
              <a:t>6-12</a:t>
            </a:r>
            <a:r>
              <a:rPr lang="zh-CN" altLang="en-US" sz="2800" b="1" dirty="0">
                <a:solidFill>
                  <a:schemeClr val="accent6">
                    <a:lumMod val="75000"/>
                  </a:schemeClr>
                </a:solidFill>
              </a:rPr>
              <a:t>为第</a:t>
            </a:r>
            <a:r>
              <a:rPr lang="en-US" altLang="zh-CN" sz="2800" b="1" dirty="0">
                <a:solidFill>
                  <a:schemeClr val="accent6">
                    <a:lumMod val="75000"/>
                  </a:schemeClr>
                </a:solidFill>
              </a:rPr>
              <a:t>3</a:t>
            </a:r>
            <a:r>
              <a:rPr lang="zh-CN" altLang="en-US" sz="2800" b="1" dirty="0">
                <a:solidFill>
                  <a:schemeClr val="accent6">
                    <a:lumMod val="75000"/>
                  </a:schemeClr>
                </a:solidFill>
              </a:rPr>
              <a:t>周期各元素的第一电离能的大小，可发现镁的第一电离能比铝大，磷的第一电离能比硫大。从核外电子排布的规律看，造成这种现象的原因可能是什么？</a:t>
            </a:r>
            <a:endParaRPr lang="en-US" sz="2800" b="1" dirty="0">
              <a:solidFill>
                <a:schemeClr val="accent6">
                  <a:lumMod val="75000"/>
                </a:schemeClr>
              </a:solidFill>
            </a:endParaRPr>
          </a:p>
        </p:txBody>
      </p:sp>
      <p:sp>
        <p:nvSpPr>
          <p:cNvPr id="5" name="TextBox 4"/>
          <p:cNvSpPr txBox="1"/>
          <p:nvPr/>
        </p:nvSpPr>
        <p:spPr>
          <a:xfrm>
            <a:off x="4643438" y="2285992"/>
            <a:ext cx="3929090" cy="2677656"/>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sz="2800" b="1" dirty="0">
                <a:solidFill>
                  <a:schemeClr val="accent6">
                    <a:lumMod val="75000"/>
                  </a:schemeClr>
                </a:solidFill>
              </a:rPr>
              <a:t>因为镁的电子排布为</a:t>
            </a:r>
            <a:r>
              <a:rPr lang="zh-CN" altLang="en-US" sz="2800" b="1" dirty="0">
                <a:solidFill>
                  <a:srgbClr val="C00000"/>
                </a:solidFill>
              </a:rPr>
              <a:t>全充满</a:t>
            </a:r>
            <a:r>
              <a:rPr lang="zh-CN" altLang="en-US" sz="2800" b="1" dirty="0">
                <a:solidFill>
                  <a:schemeClr val="accent6">
                    <a:lumMod val="75000"/>
                  </a:schemeClr>
                </a:solidFill>
              </a:rPr>
              <a:t>、磷的电子排布为</a:t>
            </a:r>
            <a:r>
              <a:rPr lang="zh-CN" altLang="en-US" sz="2800" b="1" dirty="0">
                <a:solidFill>
                  <a:srgbClr val="C00000"/>
                </a:solidFill>
              </a:rPr>
              <a:t>半充满</a:t>
            </a:r>
            <a:r>
              <a:rPr lang="zh-CN" altLang="en-US" sz="2800" b="1" dirty="0">
                <a:solidFill>
                  <a:schemeClr val="accent6">
                    <a:lumMod val="75000"/>
                  </a:schemeClr>
                </a:solidFill>
              </a:rPr>
              <a:t>，即处于比</a:t>
            </a:r>
            <a:r>
              <a:rPr lang="zh-CN" altLang="en-US" sz="2800" b="1" dirty="0">
                <a:solidFill>
                  <a:srgbClr val="C00000"/>
                </a:solidFill>
              </a:rPr>
              <a:t>较稳定的状态</a:t>
            </a:r>
            <a:r>
              <a:rPr lang="zh-CN" altLang="en-US" sz="2800" b="1" dirty="0">
                <a:solidFill>
                  <a:schemeClr val="accent6">
                    <a:lumMod val="75000"/>
                  </a:schemeClr>
                </a:solidFill>
              </a:rPr>
              <a:t>，故镁和磷的</a:t>
            </a:r>
            <a:r>
              <a:rPr lang="zh-CN" altLang="en-US" sz="2800" b="1" dirty="0">
                <a:solidFill>
                  <a:srgbClr val="C00000"/>
                </a:solidFill>
              </a:rPr>
              <a:t>第一电离能</a:t>
            </a:r>
            <a:r>
              <a:rPr lang="zh-CN" altLang="en-US" sz="2800" b="1" dirty="0">
                <a:solidFill>
                  <a:schemeClr val="accent6">
                    <a:lumMod val="75000"/>
                  </a:schemeClr>
                </a:solidFill>
              </a:rPr>
              <a:t>比它们相邻元素的</a:t>
            </a:r>
            <a:r>
              <a:rPr lang="zh-CN" altLang="en-US" sz="2800" b="1" dirty="0">
                <a:solidFill>
                  <a:srgbClr val="C00000"/>
                </a:solidFill>
              </a:rPr>
              <a:t>高</a:t>
            </a:r>
            <a:r>
              <a:rPr lang="zh-CN" altLang="en-US" sz="2800" b="1" dirty="0">
                <a:solidFill>
                  <a:schemeClr val="accent6">
                    <a:lumMod val="75000"/>
                  </a:schemeClr>
                </a:solidFill>
              </a:rPr>
              <a:t>。</a:t>
            </a:r>
            <a:endParaRPr lang="en-US" sz="2800" b="1" dirty="0">
              <a:solidFill>
                <a:schemeClr val="accent6">
                  <a:lumMod val="7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anim calcmode="lin" valueType="num">
                                      <p:cBhvr>
                                        <p:cTn id="14" dur="1000" fill="hold"/>
                                        <p:tgtEl>
                                          <p:spTgt spid="4"/>
                                        </p:tgtEl>
                                        <p:attrNameLst>
                                          <p:attrName>ppt_x</p:attrName>
                                        </p:attrNameLst>
                                      </p:cBhvr>
                                      <p:tavLst>
                                        <p:tav tm="0">
                                          <p:val>
                                            <p:strVal val="#ppt_x"/>
                                          </p:val>
                                        </p:tav>
                                        <p:tav tm="100000">
                                          <p:val>
                                            <p:strVal val="#ppt_x"/>
                                          </p:val>
                                        </p:tav>
                                      </p:tavLst>
                                    </p:anim>
                                    <p:anim calcmode="lin" valueType="num">
                                      <p:cBhvr>
                                        <p:cTn id="1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1000"/>
                                        <p:tgtEl>
                                          <p:spTgt spid="5"/>
                                        </p:tgtEl>
                                      </p:cBhvr>
                                    </p:animEffect>
                                    <p:anim calcmode="lin" valueType="num">
                                      <p:cBhvr>
                                        <p:cTn id="21" dur="1000" fill="hold"/>
                                        <p:tgtEl>
                                          <p:spTgt spid="5"/>
                                        </p:tgtEl>
                                        <p:attrNameLst>
                                          <p:attrName>ppt_x</p:attrName>
                                        </p:attrNameLst>
                                      </p:cBhvr>
                                      <p:tavLst>
                                        <p:tav tm="0">
                                          <p:val>
                                            <p:strVal val="#ppt_x"/>
                                          </p:val>
                                        </p:tav>
                                        <p:tav tm="100000">
                                          <p:val>
                                            <p:strVal val="#ppt_x"/>
                                          </p:val>
                                        </p:tav>
                                      </p:tavLst>
                                    </p:anim>
                                    <p:anim calcmode="lin" valueType="num">
                                      <p:cBhvr>
                                        <p:cTn id="22"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3" descr="periodic table of the elements.jpg"/>
          <p:cNvPicPr>
            <a:picLocks noChangeAspect="1"/>
          </p:cNvPicPr>
          <p:nvPr/>
        </p:nvPicPr>
        <p:blipFill>
          <a:blip r:embed="rId2"/>
          <a:stretch>
            <a:fillRect/>
          </a:stretch>
        </p:blipFill>
        <p:spPr>
          <a:xfrm>
            <a:off x="304800" y="952500"/>
            <a:ext cx="7924800" cy="5829300"/>
          </a:xfrm>
          <a:prstGeom prst="rect">
            <a:avLst/>
          </a:prstGeom>
        </p:spPr>
      </p:pic>
      <p:cxnSp>
        <p:nvCxnSpPr>
          <p:cNvPr id="4" name="Straight Arrow Connector 3"/>
          <p:cNvCxnSpPr/>
          <p:nvPr/>
        </p:nvCxnSpPr>
        <p:spPr>
          <a:xfrm>
            <a:off x="1485899" y="757812"/>
            <a:ext cx="54102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295400" y="326925"/>
            <a:ext cx="5791199" cy="430887"/>
          </a:xfrm>
          <a:prstGeom prst="rect">
            <a:avLst/>
          </a:prstGeom>
          <a:noFill/>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2200" b="1" dirty="0">
                <a:solidFill>
                  <a:srgbClr val="FF0000"/>
                </a:solidFill>
              </a:rPr>
              <a:t>电负性越大，其原子吸引电子的能力就越强</a:t>
            </a:r>
            <a:endParaRPr lang="en-US" sz="2200" b="1" dirty="0">
              <a:solidFill>
                <a:srgbClr val="FF0000"/>
              </a:solidFill>
            </a:endParaRPr>
          </a:p>
        </p:txBody>
      </p:sp>
      <p:cxnSp>
        <p:nvCxnSpPr>
          <p:cNvPr id="8" name="Straight Arrow Connector 7"/>
          <p:cNvCxnSpPr/>
          <p:nvPr/>
        </p:nvCxnSpPr>
        <p:spPr>
          <a:xfrm>
            <a:off x="8915400" y="609600"/>
            <a:ext cx="0" cy="6005501"/>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8458199" y="542368"/>
            <a:ext cx="533401" cy="6186309"/>
          </a:xfrm>
          <a:prstGeom prst="rect">
            <a:avLst/>
          </a:prstGeom>
          <a:noFill/>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2200" b="1" dirty="0">
                <a:solidFill>
                  <a:srgbClr val="FF0000"/>
                </a:solidFill>
              </a:rPr>
              <a:t>电负性越小，其原子吸引电子的能力就越弱</a:t>
            </a:r>
            <a:endParaRPr lang="en-US" sz="2200" b="1" dirty="0">
              <a:solidFill>
                <a:srgbClr val="FF0000"/>
              </a:solidFill>
            </a:endParaRPr>
          </a:p>
        </p:txBody>
      </p:sp>
    </p:spTree>
    <p:extLst>
      <p:ext uri="{BB962C8B-B14F-4D97-AF65-F5344CB8AC3E}">
        <p14:creationId xmlns:p14="http://schemas.microsoft.com/office/powerpoint/2010/main" val="1656019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anim calcmode="lin" valueType="num">
                                      <p:cBhvr>
                                        <p:cTn id="20" dur="1000" fill="hold"/>
                                        <p:tgtEl>
                                          <p:spTgt spid="8"/>
                                        </p:tgtEl>
                                        <p:attrNameLst>
                                          <p:attrName>ppt_x</p:attrName>
                                        </p:attrNameLst>
                                      </p:cBhvr>
                                      <p:tavLst>
                                        <p:tav tm="0">
                                          <p:val>
                                            <p:strVal val="#ppt_x"/>
                                          </p:val>
                                        </p:tav>
                                        <p:tav tm="100000">
                                          <p:val>
                                            <p:strVal val="#ppt_x"/>
                                          </p:val>
                                        </p:tav>
                                      </p:tavLst>
                                    </p:anim>
                                    <p:anim calcmode="lin" valueType="num">
                                      <p:cBhvr>
                                        <p:cTn id="21" dur="1000" fill="hold"/>
                                        <p:tgtEl>
                                          <p:spTgt spid="8"/>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1000"/>
                                        <p:tgtEl>
                                          <p:spTgt spid="12"/>
                                        </p:tgtEl>
                                      </p:cBhvr>
                                    </p:animEffect>
                                    <p:anim calcmode="lin" valueType="num">
                                      <p:cBhvr>
                                        <p:cTn id="25" dur="1000" fill="hold"/>
                                        <p:tgtEl>
                                          <p:spTgt spid="12"/>
                                        </p:tgtEl>
                                        <p:attrNameLst>
                                          <p:attrName>ppt_x</p:attrName>
                                        </p:attrNameLst>
                                      </p:cBhvr>
                                      <p:tavLst>
                                        <p:tav tm="0">
                                          <p:val>
                                            <p:strVal val="#ppt_x"/>
                                          </p:val>
                                        </p:tav>
                                        <p:tav tm="100000">
                                          <p:val>
                                            <p:strVal val="#ppt_x"/>
                                          </p:val>
                                        </p:tav>
                                      </p:tavLst>
                                    </p:anim>
                                    <p:anim calcmode="lin" valueType="num">
                                      <p:cBhvr>
                                        <p:cTn id="2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00100" y="1785926"/>
            <a:ext cx="7500990" cy="3108543"/>
          </a:xfrm>
          <a:prstGeom prst="rect">
            <a:avLst/>
          </a:prstGeom>
          <a:solidFill>
            <a:schemeClr val="bg1"/>
          </a:solidFill>
        </p:spPr>
        <p:txBody>
          <a:bodyPr wrap="square" rtlCol="0">
            <a:spAutoFit/>
          </a:bodyPr>
          <a:lstStyle/>
          <a:p>
            <a:r>
              <a:rPr lang="zh-CN" altLang="en-US" sz="2800" b="1" dirty="0">
                <a:solidFill>
                  <a:schemeClr val="accent6">
                    <a:lumMod val="75000"/>
                  </a:schemeClr>
                </a:solidFill>
              </a:rPr>
              <a:t>在</a:t>
            </a:r>
            <a:r>
              <a:rPr lang="zh-CN" altLang="en-US" sz="2800" b="1" dirty="0">
                <a:solidFill>
                  <a:srgbClr val="C00000"/>
                </a:solidFill>
              </a:rPr>
              <a:t>同一周期</a:t>
            </a:r>
            <a:r>
              <a:rPr lang="zh-CN" altLang="en-US" sz="2800" b="1" dirty="0">
                <a:solidFill>
                  <a:schemeClr val="accent6">
                    <a:lumMod val="75000"/>
                  </a:schemeClr>
                </a:solidFill>
              </a:rPr>
              <a:t>，随着原子序数递增，</a:t>
            </a:r>
            <a:r>
              <a:rPr lang="zh-CN" altLang="en-US" sz="2800" b="1" dirty="0">
                <a:solidFill>
                  <a:srgbClr val="C00000"/>
                </a:solidFill>
              </a:rPr>
              <a:t>最外层电子数增加</a:t>
            </a:r>
            <a:r>
              <a:rPr lang="zh-CN" altLang="en-US" sz="2800" b="1" dirty="0">
                <a:solidFill>
                  <a:schemeClr val="accent6">
                    <a:lumMod val="75000"/>
                  </a:schemeClr>
                </a:solidFill>
              </a:rPr>
              <a:t>，原子</a:t>
            </a:r>
            <a:r>
              <a:rPr lang="zh-CN" altLang="en-US" sz="2800" b="1" dirty="0">
                <a:solidFill>
                  <a:srgbClr val="C00000"/>
                </a:solidFill>
              </a:rPr>
              <a:t>半径减小</a:t>
            </a:r>
            <a:r>
              <a:rPr lang="zh-CN" altLang="en-US" sz="2800" b="1" dirty="0">
                <a:solidFill>
                  <a:schemeClr val="accent6">
                    <a:lumMod val="75000"/>
                  </a:schemeClr>
                </a:solidFill>
              </a:rPr>
              <a:t>，核电荷对价电子的</a:t>
            </a:r>
            <a:r>
              <a:rPr lang="zh-CN" altLang="en-US" sz="2800" b="1" dirty="0">
                <a:solidFill>
                  <a:srgbClr val="C00000"/>
                </a:solidFill>
              </a:rPr>
              <a:t>吸引力增强</a:t>
            </a:r>
            <a:r>
              <a:rPr lang="zh-CN" altLang="en-US" sz="2800" b="1" dirty="0">
                <a:solidFill>
                  <a:schemeClr val="accent6">
                    <a:lumMod val="75000"/>
                  </a:schemeClr>
                </a:solidFill>
              </a:rPr>
              <a:t>，元素的电负性从左到右</a:t>
            </a:r>
            <a:r>
              <a:rPr lang="zh-CN" altLang="en-US" sz="2800" b="1" dirty="0">
                <a:solidFill>
                  <a:srgbClr val="C00000"/>
                </a:solidFill>
              </a:rPr>
              <a:t>逐渐增大</a:t>
            </a:r>
            <a:r>
              <a:rPr lang="zh-CN" altLang="en-US" sz="2800" b="1" dirty="0">
                <a:solidFill>
                  <a:schemeClr val="accent6">
                    <a:lumMod val="75000"/>
                  </a:schemeClr>
                </a:solidFill>
              </a:rPr>
              <a:t>。</a:t>
            </a:r>
            <a:endParaRPr lang="en-US" altLang="zh-CN" sz="2800" b="1" dirty="0">
              <a:solidFill>
                <a:schemeClr val="accent6">
                  <a:lumMod val="75000"/>
                </a:schemeClr>
              </a:solidFill>
            </a:endParaRPr>
          </a:p>
          <a:p>
            <a:endParaRPr lang="en-US" altLang="zh-CN" sz="2800" b="1" dirty="0">
              <a:solidFill>
                <a:schemeClr val="accent6">
                  <a:lumMod val="75000"/>
                </a:schemeClr>
              </a:solidFill>
            </a:endParaRPr>
          </a:p>
          <a:p>
            <a:r>
              <a:rPr lang="zh-CN" altLang="en-US" sz="2800" b="1" dirty="0">
                <a:solidFill>
                  <a:schemeClr val="accent6">
                    <a:lumMod val="75000"/>
                  </a:schemeClr>
                </a:solidFill>
              </a:rPr>
              <a:t>在</a:t>
            </a:r>
            <a:r>
              <a:rPr lang="zh-CN" altLang="en-US" sz="2800" b="1" dirty="0">
                <a:solidFill>
                  <a:srgbClr val="C00000"/>
                </a:solidFill>
              </a:rPr>
              <a:t>同一主族</a:t>
            </a:r>
            <a:r>
              <a:rPr lang="zh-CN" altLang="en-US" sz="2800" b="1" dirty="0">
                <a:solidFill>
                  <a:schemeClr val="accent6">
                    <a:lumMod val="75000"/>
                  </a:schemeClr>
                </a:solidFill>
              </a:rPr>
              <a:t>，随着原子序数递增，</a:t>
            </a:r>
            <a:r>
              <a:rPr lang="zh-CN" altLang="en-US" sz="2800" b="1" dirty="0">
                <a:solidFill>
                  <a:srgbClr val="C00000"/>
                </a:solidFill>
              </a:rPr>
              <a:t>核外电子数增加</a:t>
            </a:r>
            <a:r>
              <a:rPr lang="zh-CN" altLang="en-US" sz="2800" b="1" dirty="0">
                <a:solidFill>
                  <a:schemeClr val="accent6">
                    <a:lumMod val="75000"/>
                  </a:schemeClr>
                </a:solidFill>
              </a:rPr>
              <a:t>，原子</a:t>
            </a:r>
            <a:r>
              <a:rPr lang="zh-CN" altLang="en-US" sz="2800" b="1" dirty="0">
                <a:solidFill>
                  <a:srgbClr val="C00000"/>
                </a:solidFill>
              </a:rPr>
              <a:t>半径增大</a:t>
            </a:r>
            <a:r>
              <a:rPr lang="zh-CN" altLang="en-US" sz="2800" b="1" dirty="0">
                <a:solidFill>
                  <a:schemeClr val="accent6">
                    <a:lumMod val="75000"/>
                  </a:schemeClr>
                </a:solidFill>
              </a:rPr>
              <a:t>，核电荷对价电子的</a:t>
            </a:r>
            <a:r>
              <a:rPr lang="zh-CN" altLang="en-US" sz="2800" b="1" dirty="0">
                <a:solidFill>
                  <a:srgbClr val="C00000"/>
                </a:solidFill>
              </a:rPr>
              <a:t>吸引力减弱</a:t>
            </a:r>
            <a:r>
              <a:rPr lang="zh-CN" altLang="en-US" sz="2800" b="1" dirty="0">
                <a:solidFill>
                  <a:schemeClr val="accent6">
                    <a:lumMod val="75000"/>
                  </a:schemeClr>
                </a:solidFill>
              </a:rPr>
              <a:t>，元素的电负性从上到下</a:t>
            </a:r>
            <a:r>
              <a:rPr lang="zh-CN" altLang="en-US" sz="2800" b="1" dirty="0">
                <a:solidFill>
                  <a:srgbClr val="C00000"/>
                </a:solidFill>
              </a:rPr>
              <a:t>逐渐减小</a:t>
            </a:r>
            <a:r>
              <a:rPr lang="zh-CN" altLang="en-US" sz="2800" b="1" dirty="0">
                <a:solidFill>
                  <a:schemeClr val="accent6">
                    <a:lumMod val="75000"/>
                  </a:schemeClr>
                </a:solidFill>
              </a:rPr>
              <a:t>。</a:t>
            </a:r>
            <a:endParaRPr lang="en-US" sz="2800" b="1" dirty="0">
              <a:solidFill>
                <a:schemeClr val="accent6">
                  <a:lumMod val="75000"/>
                </a:schemeClr>
              </a:solidFill>
            </a:endParaRPr>
          </a:p>
        </p:txBody>
      </p:sp>
      <p:pic>
        <p:nvPicPr>
          <p:cNvPr id="4" name="Picture 3">
            <a:extLst>
              <a:ext uri="{FF2B5EF4-FFF2-40B4-BE49-F238E27FC236}">
                <a16:creationId xmlns:a16="http://schemas.microsoft.com/office/drawing/2014/main" id="{9BE8C080-9942-4B8B-B323-9F135857A2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178" y="609600"/>
            <a:ext cx="8903644" cy="5410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1000" fill="hold"/>
                                        <p:tgtEl>
                                          <p:spTgt spid="2">
                                            <p:txEl>
                                              <p:pRg st="0" end="0"/>
                                            </p:txEl>
                                          </p:spTgt>
                                        </p:tgtEl>
                                        <p:attrNameLst>
                                          <p:attrName>ppt_x</p:attrName>
                                        </p:attrNameLst>
                                      </p:cBhvr>
                                      <p:tavLst>
                                        <p:tav tm="0">
                                          <p:val>
                                            <p:strVal val="#ppt_x-.2"/>
                                          </p:val>
                                        </p:tav>
                                        <p:tav tm="100000">
                                          <p:val>
                                            <p:strVal val="#ppt_x"/>
                                          </p:val>
                                        </p:tav>
                                      </p:tavLst>
                                    </p:anim>
                                    <p:anim calcmode="lin" valueType="num">
                                      <p:cBhvr>
                                        <p:cTn id="8" dur="1000" fill="hold"/>
                                        <p:tgtEl>
                                          <p:spTgt spid="2">
                                            <p:txEl>
                                              <p:pRg st="0" end="0"/>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2">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29" presetClass="entr" presetSubtype="0" fill="hold" nodeType="clickEffect">
                                  <p:stCondLst>
                                    <p:cond delay="0"/>
                                  </p:stCondLst>
                                  <p:childTnLst>
                                    <p:set>
                                      <p:cBhvr>
                                        <p:cTn id="13" dur="1" fill="hold">
                                          <p:stCondLst>
                                            <p:cond delay="0"/>
                                          </p:stCondLst>
                                        </p:cTn>
                                        <p:tgtEl>
                                          <p:spTgt spid="2">
                                            <p:txEl>
                                              <p:pRg st="2" end="2"/>
                                            </p:txEl>
                                          </p:spTgt>
                                        </p:tgtEl>
                                        <p:attrNameLst>
                                          <p:attrName>style.visibility</p:attrName>
                                        </p:attrNameLst>
                                      </p:cBhvr>
                                      <p:to>
                                        <p:strVal val="visible"/>
                                      </p:to>
                                    </p:set>
                                    <p:anim calcmode="lin" valueType="num">
                                      <p:cBhvr>
                                        <p:cTn id="14" dur="1000" fill="hold"/>
                                        <p:tgtEl>
                                          <p:spTgt spid="2">
                                            <p:txEl>
                                              <p:pRg st="2" end="2"/>
                                            </p:txEl>
                                          </p:spTgt>
                                        </p:tgtEl>
                                        <p:attrNameLst>
                                          <p:attrName>ppt_x</p:attrName>
                                        </p:attrNameLst>
                                      </p:cBhvr>
                                      <p:tavLst>
                                        <p:tav tm="0">
                                          <p:val>
                                            <p:strVal val="#ppt_x-.2"/>
                                          </p:val>
                                        </p:tav>
                                        <p:tav tm="100000">
                                          <p:val>
                                            <p:strVal val="#ppt_x"/>
                                          </p:val>
                                        </p:tav>
                                      </p:tavLst>
                                    </p:anim>
                                    <p:anim calcmode="lin" valueType="num">
                                      <p:cBhvr>
                                        <p:cTn id="15" dur="1000" fill="hold"/>
                                        <p:tgtEl>
                                          <p:spTgt spid="2">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16" dur="10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071538" y="500042"/>
            <a:ext cx="7029481" cy="523220"/>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2800" b="1" dirty="0">
                <a:solidFill>
                  <a:schemeClr val="accent6">
                    <a:lumMod val="75000"/>
                  </a:schemeClr>
                </a:solidFill>
              </a:rPr>
              <a:t>原子越容易</a:t>
            </a:r>
            <a:r>
              <a:rPr lang="zh-CN" altLang="en-US" sz="2800" b="1" dirty="0">
                <a:solidFill>
                  <a:srgbClr val="C00000"/>
                </a:solidFill>
              </a:rPr>
              <a:t>失去</a:t>
            </a:r>
            <a:r>
              <a:rPr lang="zh-CN" altLang="en-US" sz="2800" b="1" dirty="0">
                <a:solidFill>
                  <a:schemeClr val="accent6">
                    <a:lumMod val="75000"/>
                  </a:schemeClr>
                </a:solidFill>
              </a:rPr>
              <a:t>电子，表示</a:t>
            </a:r>
            <a:r>
              <a:rPr lang="zh-CN" altLang="en-US" sz="2800" b="1" dirty="0">
                <a:solidFill>
                  <a:srgbClr val="C00000"/>
                </a:solidFill>
              </a:rPr>
              <a:t>金属性</a:t>
            </a:r>
            <a:r>
              <a:rPr lang="zh-CN" altLang="en-US" sz="2800" b="1" dirty="0">
                <a:solidFill>
                  <a:schemeClr val="accent6">
                    <a:lumMod val="75000"/>
                  </a:schemeClr>
                </a:solidFill>
              </a:rPr>
              <a:t>越强</a:t>
            </a:r>
            <a:endParaRPr lang="en-US" sz="2800" b="1" dirty="0">
              <a:solidFill>
                <a:schemeClr val="accent6">
                  <a:lumMod val="75000"/>
                </a:schemeClr>
              </a:solidFill>
            </a:endParaRPr>
          </a:p>
        </p:txBody>
      </p:sp>
      <p:sp>
        <p:nvSpPr>
          <p:cNvPr id="4" name="TextBox 3"/>
          <p:cNvSpPr txBox="1"/>
          <p:nvPr/>
        </p:nvSpPr>
        <p:spPr>
          <a:xfrm>
            <a:off x="1071538" y="1571612"/>
            <a:ext cx="7029481" cy="523220"/>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2800" b="1" dirty="0">
                <a:solidFill>
                  <a:schemeClr val="accent6">
                    <a:lumMod val="75000"/>
                  </a:schemeClr>
                </a:solidFill>
              </a:rPr>
              <a:t>原子越容易</a:t>
            </a:r>
            <a:r>
              <a:rPr lang="zh-CN" altLang="en-US" sz="2800" b="1" dirty="0">
                <a:solidFill>
                  <a:srgbClr val="C00000"/>
                </a:solidFill>
              </a:rPr>
              <a:t>吸引</a:t>
            </a:r>
            <a:r>
              <a:rPr lang="zh-CN" altLang="en-US" sz="2800" b="1" dirty="0">
                <a:solidFill>
                  <a:schemeClr val="accent6">
                    <a:lumMod val="75000"/>
                  </a:schemeClr>
                </a:solidFill>
              </a:rPr>
              <a:t>电子，表示</a:t>
            </a:r>
            <a:r>
              <a:rPr lang="zh-CN" altLang="en-US" sz="2800" b="1" dirty="0">
                <a:solidFill>
                  <a:srgbClr val="C00000"/>
                </a:solidFill>
              </a:rPr>
              <a:t>非金属属性</a:t>
            </a:r>
            <a:r>
              <a:rPr lang="zh-CN" altLang="en-US" sz="2800" b="1" dirty="0">
                <a:solidFill>
                  <a:schemeClr val="accent6">
                    <a:lumMod val="75000"/>
                  </a:schemeClr>
                </a:solidFill>
              </a:rPr>
              <a:t>越强</a:t>
            </a:r>
            <a:endParaRPr lang="en-US" sz="2800" b="1" dirty="0">
              <a:solidFill>
                <a:schemeClr val="accent6">
                  <a:lumMod val="75000"/>
                </a:schemeClr>
              </a:solidFill>
            </a:endParaRP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357430"/>
            <a:ext cx="4815809" cy="2957314"/>
          </a:xfrm>
          <a:prstGeom prst="rect">
            <a:avLst/>
          </a:prstGeom>
          <a:noFill/>
          <a:ln>
            <a:noFill/>
          </a:ln>
          <a:effectLst>
            <a:outerShdw blurRad="76200" dist="12700" dir="2700000" sy="-23000" kx="-800400" algn="bl" rotWithShape="0">
              <a:prstClr val="black">
                <a:alpha val="2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20609" y="2541848"/>
            <a:ext cx="3733800" cy="2539533"/>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p:cNvSpPr txBox="1"/>
          <p:nvPr/>
        </p:nvSpPr>
        <p:spPr>
          <a:xfrm>
            <a:off x="595258" y="5396805"/>
            <a:ext cx="7786742" cy="1384995"/>
          </a:xfrm>
          <a:prstGeom prst="rect">
            <a:avLst/>
          </a:prstGeom>
          <a:solidFill>
            <a:schemeClr val="bg1"/>
          </a:solidFill>
        </p:spPr>
        <p:txBody>
          <a:bodyPr wrap="square" rtlCol="0">
            <a:spAutoFit/>
          </a:bodyPr>
          <a:lstStyle/>
          <a:p>
            <a:r>
              <a:rPr lang="zh-CN" altLang="en-US" sz="2800" b="1" dirty="0">
                <a:solidFill>
                  <a:schemeClr val="accent6">
                    <a:lumMod val="75000"/>
                  </a:schemeClr>
                </a:solidFill>
              </a:rPr>
              <a:t>位于分界线附近的元素，即硼</a:t>
            </a:r>
            <a:r>
              <a:rPr lang="en-US" altLang="zh-CN" sz="2800" b="1" dirty="0">
                <a:solidFill>
                  <a:schemeClr val="accent6">
                    <a:lumMod val="75000"/>
                  </a:schemeClr>
                </a:solidFill>
              </a:rPr>
              <a:t>(B)</a:t>
            </a:r>
            <a:r>
              <a:rPr lang="zh-CN" altLang="en-US" sz="2800" b="1" dirty="0">
                <a:solidFill>
                  <a:schemeClr val="accent6">
                    <a:lumMod val="75000"/>
                  </a:schemeClr>
                </a:solidFill>
              </a:rPr>
              <a:t>、硅</a:t>
            </a:r>
            <a:r>
              <a:rPr lang="en-US" altLang="zh-CN" sz="2800" b="1" dirty="0">
                <a:solidFill>
                  <a:schemeClr val="accent6">
                    <a:lumMod val="75000"/>
                  </a:schemeClr>
                </a:solidFill>
              </a:rPr>
              <a:t>(Si)</a:t>
            </a:r>
            <a:r>
              <a:rPr lang="zh-CN" altLang="en-US" sz="2800" b="1" dirty="0">
                <a:solidFill>
                  <a:schemeClr val="accent6">
                    <a:lumMod val="75000"/>
                  </a:schemeClr>
                </a:solidFill>
              </a:rPr>
              <a:t>、锗</a:t>
            </a:r>
            <a:r>
              <a:rPr lang="en-US" altLang="zh-CN" sz="2800" b="1" dirty="0">
                <a:solidFill>
                  <a:schemeClr val="accent6">
                    <a:lumMod val="75000"/>
                  </a:schemeClr>
                </a:solidFill>
              </a:rPr>
              <a:t>(</a:t>
            </a:r>
            <a:r>
              <a:rPr lang="en-US" altLang="zh-CN" sz="2800" b="1" dirty="0" err="1">
                <a:solidFill>
                  <a:schemeClr val="accent6">
                    <a:lumMod val="75000"/>
                  </a:schemeClr>
                </a:solidFill>
              </a:rPr>
              <a:t>Ge</a:t>
            </a:r>
            <a:r>
              <a:rPr lang="en-US" altLang="zh-CN" sz="2800" b="1" dirty="0">
                <a:solidFill>
                  <a:schemeClr val="accent6">
                    <a:lumMod val="75000"/>
                  </a:schemeClr>
                </a:solidFill>
              </a:rPr>
              <a:t>)</a:t>
            </a:r>
            <a:r>
              <a:rPr lang="zh-CN" altLang="en-US" sz="2800" b="1" dirty="0">
                <a:solidFill>
                  <a:schemeClr val="accent6">
                    <a:lumMod val="75000"/>
                  </a:schemeClr>
                </a:solidFill>
              </a:rPr>
              <a:t>、砷</a:t>
            </a:r>
            <a:r>
              <a:rPr lang="en-US" altLang="zh-CN" sz="2800" b="1" dirty="0">
                <a:solidFill>
                  <a:schemeClr val="accent6">
                    <a:lumMod val="75000"/>
                  </a:schemeClr>
                </a:solidFill>
              </a:rPr>
              <a:t>(As)</a:t>
            </a:r>
            <a:r>
              <a:rPr lang="zh-CN" altLang="en-US" sz="2800" b="1" dirty="0">
                <a:solidFill>
                  <a:schemeClr val="accent6">
                    <a:lumMod val="75000"/>
                  </a:schemeClr>
                </a:solidFill>
              </a:rPr>
              <a:t>、锑</a:t>
            </a:r>
            <a:r>
              <a:rPr lang="en-US" altLang="zh-CN" sz="2800" b="1" dirty="0">
                <a:solidFill>
                  <a:schemeClr val="accent6">
                    <a:lumMod val="75000"/>
                  </a:schemeClr>
                </a:solidFill>
              </a:rPr>
              <a:t>(</a:t>
            </a:r>
            <a:r>
              <a:rPr lang="en-US" altLang="zh-CN" sz="2800" b="1" dirty="0" err="1">
                <a:solidFill>
                  <a:schemeClr val="accent6">
                    <a:lumMod val="75000"/>
                  </a:schemeClr>
                </a:solidFill>
              </a:rPr>
              <a:t>Sb</a:t>
            </a:r>
            <a:r>
              <a:rPr lang="en-US" altLang="zh-CN" sz="2800" b="1" dirty="0">
                <a:solidFill>
                  <a:schemeClr val="accent6">
                    <a:lumMod val="75000"/>
                  </a:schemeClr>
                </a:solidFill>
              </a:rPr>
              <a:t>)</a:t>
            </a:r>
            <a:r>
              <a:rPr lang="zh-CN" altLang="en-US" sz="2800" b="1" dirty="0">
                <a:solidFill>
                  <a:schemeClr val="accent6">
                    <a:lumMod val="75000"/>
                  </a:schemeClr>
                </a:solidFill>
              </a:rPr>
              <a:t>、碲</a:t>
            </a:r>
            <a:r>
              <a:rPr lang="en-US" altLang="zh-CN" sz="2800" b="1" dirty="0">
                <a:solidFill>
                  <a:schemeClr val="accent6">
                    <a:lumMod val="75000"/>
                  </a:schemeClr>
                </a:solidFill>
              </a:rPr>
              <a:t>(Te)</a:t>
            </a:r>
            <a:r>
              <a:rPr lang="zh-CN" altLang="en-US" sz="2800" b="1" dirty="0">
                <a:solidFill>
                  <a:schemeClr val="accent6">
                    <a:lumMod val="75000"/>
                  </a:schemeClr>
                </a:solidFill>
              </a:rPr>
              <a:t>，它们的性质介于金属与非金属之间，被称为</a:t>
            </a:r>
            <a:r>
              <a:rPr lang="zh-CN" altLang="en-US" sz="2800" b="1" dirty="0">
                <a:solidFill>
                  <a:srgbClr val="C00000"/>
                </a:solidFill>
              </a:rPr>
              <a:t>准金属</a:t>
            </a:r>
            <a:endParaRPr lang="en-US" sz="2800" b="1" dirty="0">
              <a:solidFill>
                <a:srgbClr val="C00000"/>
              </a:solidFill>
            </a:endParaRPr>
          </a:p>
        </p:txBody>
      </p:sp>
    </p:spTree>
    <p:extLst>
      <p:ext uri="{BB962C8B-B14F-4D97-AF65-F5344CB8AC3E}">
        <p14:creationId xmlns:p14="http://schemas.microsoft.com/office/powerpoint/2010/main" val="2537795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58982" y="763390"/>
            <a:ext cx="7239000" cy="2092881"/>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2600" b="1" dirty="0">
                <a:solidFill>
                  <a:schemeClr val="accent6">
                    <a:lumMod val="75000"/>
                  </a:schemeClr>
                </a:solidFill>
              </a:rPr>
              <a:t>原子的最外层电子数越少，</a:t>
            </a:r>
            <a:endParaRPr lang="en-US" altLang="zh-CN" sz="2600" b="1" dirty="0">
              <a:solidFill>
                <a:schemeClr val="accent6">
                  <a:lumMod val="75000"/>
                </a:schemeClr>
              </a:solidFill>
            </a:endParaRPr>
          </a:p>
          <a:p>
            <a:pPr algn="ctr"/>
            <a:r>
              <a:rPr lang="zh-CN" altLang="en-US" sz="2600" b="1" dirty="0">
                <a:solidFill>
                  <a:schemeClr val="accent6">
                    <a:lumMod val="75000"/>
                  </a:schemeClr>
                </a:solidFill>
              </a:rPr>
              <a:t>越容易失去电子以达到稀有气体原子的稳定结构。</a:t>
            </a:r>
            <a:endParaRPr lang="en-US" altLang="zh-CN" sz="2600" b="1" dirty="0">
              <a:solidFill>
                <a:schemeClr val="accent6">
                  <a:lumMod val="75000"/>
                </a:schemeClr>
              </a:solidFill>
            </a:endParaRPr>
          </a:p>
          <a:p>
            <a:pPr algn="ctr"/>
            <a:r>
              <a:rPr lang="zh-CN" altLang="en-US" sz="2600" b="1" dirty="0">
                <a:solidFill>
                  <a:schemeClr val="accent6">
                    <a:lumMod val="75000"/>
                  </a:schemeClr>
                </a:solidFill>
              </a:rPr>
              <a:t>原子半径越大、核电荷数越少，</a:t>
            </a:r>
            <a:endParaRPr lang="en-US" altLang="zh-CN" sz="2600" b="1" dirty="0">
              <a:solidFill>
                <a:schemeClr val="accent6">
                  <a:lumMod val="75000"/>
                </a:schemeClr>
              </a:solidFill>
            </a:endParaRPr>
          </a:p>
          <a:p>
            <a:pPr algn="ctr"/>
            <a:r>
              <a:rPr lang="zh-CN" altLang="en-US" sz="2600" b="1" dirty="0">
                <a:solidFill>
                  <a:schemeClr val="accent6">
                    <a:lumMod val="75000"/>
                  </a:schemeClr>
                </a:solidFill>
              </a:rPr>
              <a:t>原子核吸引电子的能力也越弱，因此也越容易失去电子。</a:t>
            </a:r>
            <a:endParaRPr lang="en-US" altLang="zh-CN" sz="2600" b="1" dirty="0">
              <a:solidFill>
                <a:schemeClr val="accent6">
                  <a:lumMod val="75000"/>
                </a:schemeClr>
              </a:solidFill>
            </a:endParaRPr>
          </a:p>
        </p:txBody>
      </p:sp>
      <p:sp>
        <p:nvSpPr>
          <p:cNvPr id="3" name="TextBox 2"/>
          <p:cNvSpPr txBox="1"/>
          <p:nvPr/>
        </p:nvSpPr>
        <p:spPr>
          <a:xfrm>
            <a:off x="3896591" y="2998113"/>
            <a:ext cx="1163782" cy="430887"/>
          </a:xfrm>
          <a:prstGeom prst="rect">
            <a:avLst/>
          </a:prstGeom>
          <a:noFill/>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2200" b="1" dirty="0">
                <a:solidFill>
                  <a:srgbClr val="FF0000"/>
                </a:solidFill>
              </a:rPr>
              <a:t>相反</a:t>
            </a:r>
            <a:endParaRPr lang="en-US" altLang="zh-CN" sz="2200" b="1" dirty="0">
              <a:solidFill>
                <a:srgbClr val="FF0000"/>
              </a:solidFill>
            </a:endParaRPr>
          </a:p>
        </p:txBody>
      </p:sp>
      <p:sp>
        <p:nvSpPr>
          <p:cNvPr id="4" name="TextBox 3"/>
          <p:cNvSpPr txBox="1"/>
          <p:nvPr/>
        </p:nvSpPr>
        <p:spPr>
          <a:xfrm>
            <a:off x="858982" y="3810000"/>
            <a:ext cx="7239000" cy="1692771"/>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2600" b="1" dirty="0">
                <a:solidFill>
                  <a:schemeClr val="accent6">
                    <a:lumMod val="75000"/>
                  </a:schemeClr>
                </a:solidFill>
              </a:rPr>
              <a:t>原子的最外层电子数越多，</a:t>
            </a:r>
            <a:endParaRPr lang="en-US" altLang="zh-CN" sz="2600" b="1" dirty="0">
              <a:solidFill>
                <a:schemeClr val="accent6">
                  <a:lumMod val="75000"/>
                </a:schemeClr>
              </a:solidFill>
            </a:endParaRPr>
          </a:p>
          <a:p>
            <a:pPr algn="ctr"/>
            <a:r>
              <a:rPr lang="zh-CN" altLang="en-US" sz="2600" b="1" dirty="0">
                <a:solidFill>
                  <a:schemeClr val="accent6">
                    <a:lumMod val="75000"/>
                  </a:schemeClr>
                </a:solidFill>
              </a:rPr>
              <a:t>原子半径越小、核电荷数越多，</a:t>
            </a:r>
            <a:endParaRPr lang="en-US" altLang="zh-CN" sz="2600" b="1" dirty="0">
              <a:solidFill>
                <a:schemeClr val="accent6">
                  <a:lumMod val="75000"/>
                </a:schemeClr>
              </a:solidFill>
            </a:endParaRPr>
          </a:p>
          <a:p>
            <a:pPr algn="ctr"/>
            <a:r>
              <a:rPr lang="zh-CN" altLang="en-US" sz="2600" b="1" dirty="0">
                <a:solidFill>
                  <a:schemeClr val="accent6">
                    <a:lumMod val="75000"/>
                  </a:schemeClr>
                </a:solidFill>
              </a:rPr>
              <a:t>原子得到电子以达到稀有气体原子稳定结构的倾向越大。</a:t>
            </a:r>
            <a:endParaRPr lang="en-US" altLang="zh-CN" sz="2600" b="1" dirty="0">
              <a:solidFill>
                <a:schemeClr val="accent6">
                  <a:lumMod val="75000"/>
                </a:schemeClr>
              </a:solidFill>
            </a:endParaRPr>
          </a:p>
        </p:txBody>
      </p:sp>
    </p:spTree>
    <p:extLst>
      <p:ext uri="{BB962C8B-B14F-4D97-AF65-F5344CB8AC3E}">
        <p14:creationId xmlns:p14="http://schemas.microsoft.com/office/powerpoint/2010/main" val="2717139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5"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2000"/>
                                        <p:tgtEl>
                                          <p:spTgt spid="3"/>
                                        </p:tgtEl>
                                      </p:cBhvr>
                                    </p:animEffect>
                                    <p:anim calcmode="lin" valueType="num">
                                      <p:cBhvr>
                                        <p:cTn id="15" dur="2000" fill="hold"/>
                                        <p:tgtEl>
                                          <p:spTgt spid="3"/>
                                        </p:tgtEl>
                                        <p:attrNameLst>
                                          <p:attrName>ppt_w</p:attrName>
                                        </p:attrNameLst>
                                      </p:cBhvr>
                                      <p:tavLst>
                                        <p:tav tm="0" fmla="#ppt_w*sin(2.5*pi*$)">
                                          <p:val>
                                            <p:fltVal val="0"/>
                                          </p:val>
                                        </p:tav>
                                        <p:tav tm="100000">
                                          <p:val>
                                            <p:fltVal val="1"/>
                                          </p:val>
                                        </p:tav>
                                      </p:tavLst>
                                    </p:anim>
                                    <p:anim calcmode="lin" valueType="num">
                                      <p:cBhvr>
                                        <p:cTn id="16" dur="2000" fill="hold"/>
                                        <p:tgtEl>
                                          <p:spTgt spid="3"/>
                                        </p:tgtEl>
                                        <p:attrNameLst>
                                          <p:attrName>ppt_h</p:attrName>
                                        </p:attrNameLst>
                                      </p:cBhvr>
                                      <p:tavLst>
                                        <p:tav tm="0">
                                          <p:val>
                                            <p:strVal val="#ppt_h"/>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Content Placeholder 3" descr="periodic table of the elements.jpg"/>
          <p:cNvPicPr>
            <a:picLocks noChangeAspect="1"/>
          </p:cNvPicPr>
          <p:nvPr/>
        </p:nvPicPr>
        <p:blipFill>
          <a:blip r:embed="rId2"/>
          <a:stretch>
            <a:fillRect/>
          </a:stretch>
        </p:blipFill>
        <p:spPr>
          <a:xfrm>
            <a:off x="2057400" y="1600200"/>
            <a:ext cx="6629898" cy="4876800"/>
          </a:xfrm>
          <a:prstGeom prst="rect">
            <a:avLst/>
          </a:prstGeom>
        </p:spPr>
      </p:pic>
      <p:sp>
        <p:nvSpPr>
          <p:cNvPr id="25" name="TextBox 24"/>
          <p:cNvSpPr txBox="1"/>
          <p:nvPr/>
        </p:nvSpPr>
        <p:spPr>
          <a:xfrm>
            <a:off x="1094506" y="1600200"/>
            <a:ext cx="519545" cy="2677656"/>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2400" b="1" dirty="0">
                <a:solidFill>
                  <a:schemeClr val="accent6">
                    <a:lumMod val="75000"/>
                  </a:schemeClr>
                </a:solidFill>
              </a:rPr>
              <a:t>第一电离能递</a:t>
            </a:r>
            <a:r>
              <a:rPr lang="zh-CN" altLang="en-US" sz="2400" b="1" dirty="0">
                <a:solidFill>
                  <a:srgbClr val="002060"/>
                </a:solidFill>
              </a:rPr>
              <a:t>减</a:t>
            </a:r>
            <a:endParaRPr lang="en-US" sz="2400" b="1" dirty="0">
              <a:solidFill>
                <a:srgbClr val="002060"/>
              </a:solidFill>
            </a:endParaRPr>
          </a:p>
        </p:txBody>
      </p:sp>
      <p:cxnSp>
        <p:nvCxnSpPr>
          <p:cNvPr id="3" name="Straight Arrow Connector 2"/>
          <p:cNvCxnSpPr/>
          <p:nvPr/>
        </p:nvCxnSpPr>
        <p:spPr>
          <a:xfrm rot="10800000" flipV="1">
            <a:off x="2819400" y="457201"/>
            <a:ext cx="6019800" cy="1"/>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2833255" y="620993"/>
            <a:ext cx="2393373" cy="461665"/>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2400" b="1" dirty="0">
                <a:solidFill>
                  <a:schemeClr val="accent6">
                    <a:lumMod val="75000"/>
                  </a:schemeClr>
                </a:solidFill>
              </a:rPr>
              <a:t>原子半径递</a:t>
            </a:r>
            <a:r>
              <a:rPr lang="zh-CN" altLang="en-US" sz="2400" b="1" dirty="0">
                <a:solidFill>
                  <a:srgbClr val="002060"/>
                </a:solidFill>
              </a:rPr>
              <a:t>增</a:t>
            </a:r>
            <a:endParaRPr lang="en-US" sz="2400" b="1" dirty="0">
              <a:solidFill>
                <a:schemeClr val="accent6">
                  <a:lumMod val="75000"/>
                </a:schemeClr>
              </a:solidFill>
            </a:endParaRPr>
          </a:p>
        </p:txBody>
      </p:sp>
      <p:sp>
        <p:nvSpPr>
          <p:cNvPr id="6" name="TextBox 5"/>
          <p:cNvSpPr txBox="1"/>
          <p:nvPr/>
        </p:nvSpPr>
        <p:spPr>
          <a:xfrm>
            <a:off x="5455227" y="620993"/>
            <a:ext cx="2393373" cy="461665"/>
          </a:xfrm>
          <a:prstGeom prst="rect">
            <a:avLst/>
          </a:prstGeom>
          <a:solidFill>
            <a:srgbClr val="F793CC"/>
          </a:solidFill>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2400" b="1" dirty="0">
                <a:solidFill>
                  <a:schemeClr val="accent6">
                    <a:lumMod val="75000"/>
                  </a:schemeClr>
                </a:solidFill>
              </a:rPr>
              <a:t>第一电离能递</a:t>
            </a:r>
            <a:r>
              <a:rPr lang="zh-CN" altLang="en-US" sz="2400" b="1" dirty="0">
                <a:solidFill>
                  <a:srgbClr val="002060"/>
                </a:solidFill>
              </a:rPr>
              <a:t>减</a:t>
            </a:r>
            <a:endParaRPr lang="en-US" sz="2400" b="1" dirty="0">
              <a:solidFill>
                <a:srgbClr val="002060"/>
              </a:solidFill>
            </a:endParaRPr>
          </a:p>
        </p:txBody>
      </p:sp>
      <p:sp>
        <p:nvSpPr>
          <p:cNvPr id="7" name="TextBox 6"/>
          <p:cNvSpPr txBox="1"/>
          <p:nvPr/>
        </p:nvSpPr>
        <p:spPr>
          <a:xfrm>
            <a:off x="2833255" y="1100371"/>
            <a:ext cx="2393373" cy="461665"/>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2400" b="1" dirty="0">
                <a:solidFill>
                  <a:schemeClr val="accent6">
                    <a:lumMod val="75000"/>
                  </a:schemeClr>
                </a:solidFill>
              </a:rPr>
              <a:t>电负性递</a:t>
            </a:r>
            <a:r>
              <a:rPr lang="zh-CN" altLang="en-US" sz="2400" b="1" dirty="0">
                <a:solidFill>
                  <a:srgbClr val="002060"/>
                </a:solidFill>
              </a:rPr>
              <a:t>减</a:t>
            </a:r>
            <a:endParaRPr lang="en-US" sz="2400" b="1" dirty="0">
              <a:solidFill>
                <a:srgbClr val="002060"/>
              </a:solidFill>
            </a:endParaRPr>
          </a:p>
        </p:txBody>
      </p:sp>
      <p:cxnSp>
        <p:nvCxnSpPr>
          <p:cNvPr id="21" name="Straight Arrow Connector 20"/>
          <p:cNvCxnSpPr/>
          <p:nvPr/>
        </p:nvCxnSpPr>
        <p:spPr>
          <a:xfrm>
            <a:off x="1905000" y="1849582"/>
            <a:ext cx="0" cy="3865418"/>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1143000" y="4236184"/>
            <a:ext cx="519545" cy="1938992"/>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2400" b="1" dirty="0">
                <a:solidFill>
                  <a:schemeClr val="accent6">
                    <a:lumMod val="75000"/>
                  </a:schemeClr>
                </a:solidFill>
              </a:rPr>
              <a:t>金属性递</a:t>
            </a:r>
            <a:r>
              <a:rPr lang="zh-CN" altLang="en-US" sz="2400" b="1" dirty="0">
                <a:solidFill>
                  <a:srgbClr val="002060"/>
                </a:solidFill>
              </a:rPr>
              <a:t>增</a:t>
            </a:r>
            <a:endParaRPr lang="en-US" sz="2400" b="1" dirty="0">
              <a:solidFill>
                <a:srgbClr val="002060"/>
              </a:solidFill>
            </a:endParaRPr>
          </a:p>
        </p:txBody>
      </p:sp>
      <p:sp>
        <p:nvSpPr>
          <p:cNvPr id="24" name="TextBox 23"/>
          <p:cNvSpPr txBox="1"/>
          <p:nvPr/>
        </p:nvSpPr>
        <p:spPr>
          <a:xfrm>
            <a:off x="443345" y="1797784"/>
            <a:ext cx="519545" cy="2308324"/>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2400" b="1" dirty="0">
                <a:solidFill>
                  <a:schemeClr val="accent6">
                    <a:lumMod val="75000"/>
                  </a:schemeClr>
                </a:solidFill>
              </a:rPr>
              <a:t>原子半径递</a:t>
            </a:r>
            <a:r>
              <a:rPr lang="zh-CN" altLang="en-US" sz="2400" b="1" dirty="0">
                <a:solidFill>
                  <a:srgbClr val="002060"/>
                </a:solidFill>
              </a:rPr>
              <a:t>增</a:t>
            </a:r>
            <a:endParaRPr lang="en-US" sz="2400" b="1" dirty="0">
              <a:solidFill>
                <a:srgbClr val="002060"/>
              </a:solidFill>
            </a:endParaRPr>
          </a:p>
        </p:txBody>
      </p:sp>
      <p:sp>
        <p:nvSpPr>
          <p:cNvPr id="26" name="TextBox 25"/>
          <p:cNvSpPr txBox="1"/>
          <p:nvPr/>
        </p:nvSpPr>
        <p:spPr>
          <a:xfrm>
            <a:off x="471055" y="4007584"/>
            <a:ext cx="519545" cy="1938992"/>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2400" b="1" dirty="0">
                <a:solidFill>
                  <a:schemeClr val="accent6">
                    <a:lumMod val="75000"/>
                  </a:schemeClr>
                </a:solidFill>
              </a:rPr>
              <a:t>电负性递</a:t>
            </a:r>
            <a:r>
              <a:rPr lang="zh-CN" altLang="en-US" sz="2400" b="1" dirty="0">
                <a:solidFill>
                  <a:srgbClr val="002060"/>
                </a:solidFill>
              </a:rPr>
              <a:t>减</a:t>
            </a:r>
            <a:endParaRPr lang="en-US" sz="2400" b="1" dirty="0">
              <a:solidFill>
                <a:srgbClr val="002060"/>
              </a:solidFill>
            </a:endParaRPr>
          </a:p>
        </p:txBody>
      </p:sp>
      <p:sp>
        <p:nvSpPr>
          <p:cNvPr id="22" name="TextBox 21"/>
          <p:cNvSpPr txBox="1"/>
          <p:nvPr/>
        </p:nvSpPr>
        <p:spPr>
          <a:xfrm>
            <a:off x="5455227" y="1123892"/>
            <a:ext cx="2393373" cy="461665"/>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2400" b="1" dirty="0">
                <a:solidFill>
                  <a:schemeClr val="accent6">
                    <a:lumMod val="75000"/>
                  </a:schemeClr>
                </a:solidFill>
              </a:rPr>
              <a:t>金属性递</a:t>
            </a:r>
            <a:r>
              <a:rPr lang="zh-CN" altLang="en-US" sz="2400" b="1" dirty="0">
                <a:solidFill>
                  <a:srgbClr val="002060"/>
                </a:solidFill>
              </a:rPr>
              <a:t>增</a:t>
            </a:r>
            <a:endParaRPr lang="en-US" sz="2400" b="1" dirty="0">
              <a:solidFill>
                <a:srgbClr val="002060"/>
              </a:solidFill>
            </a:endParaRPr>
          </a:p>
        </p:txBody>
      </p:sp>
    </p:spTree>
    <p:extLst>
      <p:ext uri="{BB962C8B-B14F-4D97-AF65-F5344CB8AC3E}">
        <p14:creationId xmlns:p14="http://schemas.microsoft.com/office/powerpoint/2010/main" val="1222867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1"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anim calcmode="lin" valueType="num">
                                      <p:cBhvr additive="base">
                                        <p:cTn id="25" dur="500" fill="hold"/>
                                        <p:tgtEl>
                                          <p:spTgt spid="22"/>
                                        </p:tgtEl>
                                        <p:attrNameLst>
                                          <p:attrName>ppt_x</p:attrName>
                                        </p:attrNameLst>
                                      </p:cBhvr>
                                      <p:tavLst>
                                        <p:tav tm="0">
                                          <p:val>
                                            <p:strVal val="#ppt_x"/>
                                          </p:val>
                                        </p:tav>
                                        <p:tav tm="100000">
                                          <p:val>
                                            <p:strVal val="#ppt_x"/>
                                          </p:val>
                                        </p:tav>
                                      </p:tavLst>
                                    </p:anim>
                                    <p:anim calcmode="lin" valueType="num">
                                      <p:cBhvr additive="base">
                                        <p:cTn id="26"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4"/>
                                        </p:tgtEl>
                                        <p:attrNameLst>
                                          <p:attrName>style.visibility</p:attrName>
                                        </p:attrNameLst>
                                      </p:cBhvr>
                                      <p:to>
                                        <p:strVal val="visible"/>
                                      </p:to>
                                    </p:set>
                                    <p:anim calcmode="lin" valueType="num">
                                      <p:cBhvr additive="base">
                                        <p:cTn id="31" dur="500" fill="hold"/>
                                        <p:tgtEl>
                                          <p:spTgt spid="24"/>
                                        </p:tgtEl>
                                        <p:attrNameLst>
                                          <p:attrName>ppt_x</p:attrName>
                                        </p:attrNameLst>
                                      </p:cBhvr>
                                      <p:tavLst>
                                        <p:tav tm="0">
                                          <p:val>
                                            <p:strVal val="#ppt_x"/>
                                          </p:val>
                                        </p:tav>
                                        <p:tav tm="100000">
                                          <p:val>
                                            <p:strVal val="#ppt_x"/>
                                          </p:val>
                                        </p:tav>
                                      </p:tavLst>
                                    </p:anim>
                                    <p:anim calcmode="lin" valueType="num">
                                      <p:cBhvr additive="base">
                                        <p:cTn id="32"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5"/>
                                        </p:tgtEl>
                                        <p:attrNameLst>
                                          <p:attrName>style.visibility</p:attrName>
                                        </p:attrNameLst>
                                      </p:cBhvr>
                                      <p:to>
                                        <p:strVal val="visible"/>
                                      </p:to>
                                    </p:set>
                                    <p:anim calcmode="lin" valueType="num">
                                      <p:cBhvr additive="base">
                                        <p:cTn id="37" dur="500" fill="hold"/>
                                        <p:tgtEl>
                                          <p:spTgt spid="25"/>
                                        </p:tgtEl>
                                        <p:attrNameLst>
                                          <p:attrName>ppt_x</p:attrName>
                                        </p:attrNameLst>
                                      </p:cBhvr>
                                      <p:tavLst>
                                        <p:tav tm="0">
                                          <p:val>
                                            <p:strVal val="#ppt_x"/>
                                          </p:val>
                                        </p:tav>
                                        <p:tav tm="100000">
                                          <p:val>
                                            <p:strVal val="#ppt_x"/>
                                          </p:val>
                                        </p:tav>
                                      </p:tavLst>
                                    </p:anim>
                                    <p:anim calcmode="lin" valueType="num">
                                      <p:cBhvr additive="base">
                                        <p:cTn id="38"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6"/>
                                        </p:tgtEl>
                                        <p:attrNameLst>
                                          <p:attrName>style.visibility</p:attrName>
                                        </p:attrNameLst>
                                      </p:cBhvr>
                                      <p:to>
                                        <p:strVal val="visible"/>
                                      </p:to>
                                    </p:set>
                                    <p:anim calcmode="lin" valueType="num">
                                      <p:cBhvr additive="base">
                                        <p:cTn id="43" dur="500" fill="hold"/>
                                        <p:tgtEl>
                                          <p:spTgt spid="26"/>
                                        </p:tgtEl>
                                        <p:attrNameLst>
                                          <p:attrName>ppt_x</p:attrName>
                                        </p:attrNameLst>
                                      </p:cBhvr>
                                      <p:tavLst>
                                        <p:tav tm="0">
                                          <p:val>
                                            <p:strVal val="#ppt_x"/>
                                          </p:val>
                                        </p:tav>
                                        <p:tav tm="100000">
                                          <p:val>
                                            <p:strVal val="#ppt_x"/>
                                          </p:val>
                                        </p:tav>
                                      </p:tavLst>
                                    </p:anim>
                                    <p:anim calcmode="lin" valueType="num">
                                      <p:cBhvr additive="base">
                                        <p:cTn id="44"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3"/>
                                        </p:tgtEl>
                                        <p:attrNameLst>
                                          <p:attrName>style.visibility</p:attrName>
                                        </p:attrNameLst>
                                      </p:cBhvr>
                                      <p:to>
                                        <p:strVal val="visible"/>
                                      </p:to>
                                    </p:set>
                                    <p:anim calcmode="lin" valueType="num">
                                      <p:cBhvr additive="base">
                                        <p:cTn id="49" dur="500" fill="hold"/>
                                        <p:tgtEl>
                                          <p:spTgt spid="23"/>
                                        </p:tgtEl>
                                        <p:attrNameLst>
                                          <p:attrName>ppt_x</p:attrName>
                                        </p:attrNameLst>
                                      </p:cBhvr>
                                      <p:tavLst>
                                        <p:tav tm="0">
                                          <p:val>
                                            <p:strVal val="#ppt_x"/>
                                          </p:val>
                                        </p:tav>
                                        <p:tav tm="100000">
                                          <p:val>
                                            <p:strVal val="#ppt_x"/>
                                          </p:val>
                                        </p:tav>
                                      </p:tavLst>
                                    </p:anim>
                                    <p:anim calcmode="lin" valueType="num">
                                      <p:cBhvr additive="base">
                                        <p:cTn id="50"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5" grpId="0" animBg="1"/>
      <p:bldP spid="6" grpId="1" animBg="1"/>
      <p:bldP spid="7" grpId="0" animBg="1"/>
      <p:bldP spid="23" grpId="0" animBg="1"/>
      <p:bldP spid="24" grpId="0" animBg="1"/>
      <p:bldP spid="26" grpId="0" animBg="1"/>
      <p:bldP spid="2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G20180511141745.jpg"/>
          <p:cNvPicPr>
            <a:picLocks noChangeAspect="1"/>
          </p:cNvPicPr>
          <p:nvPr/>
        </p:nvPicPr>
        <p:blipFill>
          <a:blip r:embed="rId2" cstate="print">
            <a:lum bright="10000" contrast="11000"/>
          </a:blip>
          <a:srcRect l="1389" t="23958" r="5555" b="25000"/>
          <a:stretch>
            <a:fillRect/>
          </a:stretch>
        </p:blipFill>
        <p:spPr>
          <a:xfrm>
            <a:off x="714348" y="428604"/>
            <a:ext cx="7858180" cy="6032779"/>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G20180511141751.jpg"/>
          <p:cNvPicPr>
            <a:picLocks noChangeAspect="1"/>
          </p:cNvPicPr>
          <p:nvPr/>
        </p:nvPicPr>
        <p:blipFill>
          <a:blip r:embed="rId2" cstate="print">
            <a:lum bright="10000" contrast="12000"/>
          </a:blip>
          <a:srcRect l="2777" t="24999" r="4166" b="21875"/>
          <a:stretch>
            <a:fillRect/>
          </a:stretch>
        </p:blipFill>
        <p:spPr>
          <a:xfrm>
            <a:off x="714348" y="500042"/>
            <a:ext cx="7929618" cy="5872843"/>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28662" y="285728"/>
            <a:ext cx="7239000" cy="646331"/>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3600" b="1" dirty="0">
                <a:solidFill>
                  <a:schemeClr val="accent6">
                    <a:lumMod val="75000"/>
                  </a:schemeClr>
                </a:solidFill>
              </a:rPr>
              <a:t>思考题 </a:t>
            </a:r>
            <a:r>
              <a:rPr lang="en-US" altLang="zh-CN" sz="3600" b="1" dirty="0">
                <a:solidFill>
                  <a:schemeClr val="accent6">
                    <a:lumMod val="75000"/>
                  </a:schemeClr>
                </a:solidFill>
              </a:rPr>
              <a:t>6b</a:t>
            </a:r>
          </a:p>
        </p:txBody>
      </p:sp>
      <p:sp>
        <p:nvSpPr>
          <p:cNvPr id="3" name="TextBox 2"/>
          <p:cNvSpPr txBox="1"/>
          <p:nvPr/>
        </p:nvSpPr>
        <p:spPr>
          <a:xfrm>
            <a:off x="928662" y="1357298"/>
            <a:ext cx="7239000" cy="4832092"/>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buAutoNum type="arabicPeriod"/>
            </a:pPr>
            <a:r>
              <a:rPr lang="zh-CN" altLang="en-US" sz="2800" b="1" dirty="0">
                <a:solidFill>
                  <a:schemeClr val="accent6">
                    <a:lumMod val="75000"/>
                  </a:schemeClr>
                </a:solidFill>
              </a:rPr>
              <a:t>原子半径、第一电离能、电负性、金属性与非金属性</a:t>
            </a:r>
            <a:endParaRPr lang="en-US" altLang="zh-CN" sz="2800" b="1" dirty="0">
              <a:solidFill>
                <a:schemeClr val="accent6">
                  <a:lumMod val="75000"/>
                </a:schemeClr>
              </a:solidFill>
            </a:endParaRPr>
          </a:p>
          <a:p>
            <a:pPr marL="457200" indent="-457200">
              <a:buAutoNum type="arabicPeriod"/>
            </a:pPr>
            <a:endParaRPr lang="en-US" altLang="zh-CN" sz="2800" b="1" dirty="0">
              <a:solidFill>
                <a:schemeClr val="accent6">
                  <a:lumMod val="75000"/>
                </a:schemeClr>
              </a:solidFill>
            </a:endParaRPr>
          </a:p>
          <a:p>
            <a:pPr marL="457200" indent="-457200">
              <a:buAutoNum type="arabicPeriod"/>
            </a:pPr>
            <a:r>
              <a:rPr lang="zh-CN" altLang="en-US" sz="2800" b="1" dirty="0">
                <a:solidFill>
                  <a:schemeClr val="accent6">
                    <a:lumMod val="75000"/>
                  </a:schemeClr>
                </a:solidFill>
              </a:rPr>
              <a:t>对于钾，其</a:t>
            </a:r>
            <a:r>
              <a:rPr lang="en-US" altLang="zh-CN" sz="2800" b="1" i="1" dirty="0">
                <a:solidFill>
                  <a:schemeClr val="accent6">
                    <a:lumMod val="75000"/>
                  </a:schemeClr>
                </a:solidFill>
              </a:rPr>
              <a:t>I</a:t>
            </a:r>
            <a:r>
              <a:rPr lang="en-US" altLang="zh-CN" sz="2800" b="1" baseline="-25000" dirty="0">
                <a:solidFill>
                  <a:schemeClr val="accent6">
                    <a:lumMod val="75000"/>
                  </a:schemeClr>
                </a:solidFill>
              </a:rPr>
              <a:t>1</a:t>
            </a:r>
            <a:r>
              <a:rPr lang="zh-CN" altLang="en-US" sz="2800" b="1" dirty="0">
                <a:solidFill>
                  <a:schemeClr val="accent6">
                    <a:lumMod val="75000"/>
                  </a:schemeClr>
                </a:solidFill>
              </a:rPr>
              <a:t>与</a:t>
            </a:r>
            <a:r>
              <a:rPr lang="en-US" altLang="zh-CN" sz="2800" b="1" i="1" dirty="0">
                <a:solidFill>
                  <a:schemeClr val="accent6">
                    <a:lumMod val="75000"/>
                  </a:schemeClr>
                </a:solidFill>
              </a:rPr>
              <a:t>I</a:t>
            </a:r>
            <a:r>
              <a:rPr lang="en-US" altLang="zh-CN" sz="2800" b="1" baseline="-25000" dirty="0">
                <a:solidFill>
                  <a:schemeClr val="accent6">
                    <a:lumMod val="75000"/>
                  </a:schemeClr>
                </a:solidFill>
              </a:rPr>
              <a:t>2</a:t>
            </a:r>
            <a:r>
              <a:rPr lang="en-US" altLang="zh-CN" sz="2800" b="1" dirty="0">
                <a:solidFill>
                  <a:schemeClr val="accent6">
                    <a:lumMod val="75000"/>
                  </a:schemeClr>
                </a:solidFill>
              </a:rPr>
              <a:t> </a:t>
            </a:r>
            <a:r>
              <a:rPr lang="zh-CN" altLang="en-US" sz="2800" b="1" dirty="0">
                <a:solidFill>
                  <a:schemeClr val="accent6">
                    <a:lumMod val="75000"/>
                  </a:schemeClr>
                </a:solidFill>
              </a:rPr>
              <a:t>之间的数据有很大突变；对于钙，其</a:t>
            </a:r>
            <a:r>
              <a:rPr lang="en-US" altLang="zh-CN" sz="2800" b="1" i="1" dirty="0">
                <a:solidFill>
                  <a:schemeClr val="accent6">
                    <a:lumMod val="75000"/>
                  </a:schemeClr>
                </a:solidFill>
              </a:rPr>
              <a:t>I</a:t>
            </a:r>
            <a:r>
              <a:rPr lang="en-US" altLang="zh-CN" sz="2800" b="1" baseline="-25000" dirty="0">
                <a:solidFill>
                  <a:schemeClr val="accent6">
                    <a:lumMod val="75000"/>
                  </a:schemeClr>
                </a:solidFill>
              </a:rPr>
              <a:t>2</a:t>
            </a:r>
            <a:r>
              <a:rPr lang="zh-CN" altLang="en-US" sz="2800" b="1" dirty="0">
                <a:solidFill>
                  <a:schemeClr val="accent6">
                    <a:lumMod val="75000"/>
                  </a:schemeClr>
                </a:solidFill>
              </a:rPr>
              <a:t>与</a:t>
            </a:r>
            <a:r>
              <a:rPr lang="en-US" altLang="zh-CN" sz="2800" b="1" i="1" dirty="0">
                <a:solidFill>
                  <a:schemeClr val="accent6">
                    <a:lumMod val="75000"/>
                  </a:schemeClr>
                </a:solidFill>
              </a:rPr>
              <a:t>I</a:t>
            </a:r>
            <a:r>
              <a:rPr lang="en-US" altLang="zh-CN" sz="2800" b="1" baseline="-25000" dirty="0">
                <a:solidFill>
                  <a:schemeClr val="accent6">
                    <a:lumMod val="75000"/>
                  </a:schemeClr>
                </a:solidFill>
              </a:rPr>
              <a:t>3</a:t>
            </a:r>
            <a:r>
              <a:rPr lang="zh-CN" altLang="en-US" sz="2800" b="1" dirty="0">
                <a:solidFill>
                  <a:schemeClr val="accent6">
                    <a:lumMod val="75000"/>
                  </a:schemeClr>
                </a:solidFill>
              </a:rPr>
              <a:t>之间数据有很大突变。由此可说明在化学反应中钾表现为</a:t>
            </a:r>
            <a:r>
              <a:rPr lang="en-US" altLang="zh-CN" sz="2800" b="1" dirty="0">
                <a:solidFill>
                  <a:schemeClr val="accent6">
                    <a:lumMod val="75000"/>
                  </a:schemeClr>
                </a:solidFill>
              </a:rPr>
              <a:t>+1</a:t>
            </a:r>
            <a:r>
              <a:rPr lang="zh-CN" altLang="en-US" sz="2800" b="1" dirty="0">
                <a:solidFill>
                  <a:schemeClr val="accent6">
                    <a:lumMod val="75000"/>
                  </a:schemeClr>
                </a:solidFill>
              </a:rPr>
              <a:t>价，钙表现为</a:t>
            </a:r>
            <a:r>
              <a:rPr lang="en-US" altLang="zh-CN" sz="2800" b="1" dirty="0">
                <a:solidFill>
                  <a:schemeClr val="accent6">
                    <a:lumMod val="75000"/>
                  </a:schemeClr>
                </a:solidFill>
              </a:rPr>
              <a:t>+2</a:t>
            </a:r>
            <a:r>
              <a:rPr lang="zh-CN" altLang="en-US" sz="2800" b="1" dirty="0">
                <a:solidFill>
                  <a:schemeClr val="accent6">
                    <a:lumMod val="75000"/>
                  </a:schemeClr>
                </a:solidFill>
              </a:rPr>
              <a:t>价。</a:t>
            </a:r>
            <a:endParaRPr lang="en-US" altLang="zh-CN" sz="2800" b="1" dirty="0">
              <a:solidFill>
                <a:schemeClr val="accent6">
                  <a:lumMod val="75000"/>
                </a:schemeClr>
              </a:solidFill>
            </a:endParaRPr>
          </a:p>
          <a:p>
            <a:pPr marL="457200" indent="-457200">
              <a:buAutoNum type="arabicPeriod"/>
            </a:pPr>
            <a:endParaRPr lang="en-US" altLang="zh-CN" sz="2800" b="1" dirty="0">
              <a:solidFill>
                <a:schemeClr val="accent6">
                  <a:lumMod val="75000"/>
                </a:schemeClr>
              </a:solidFill>
            </a:endParaRPr>
          </a:p>
          <a:p>
            <a:pPr marL="457200" indent="-457200">
              <a:buAutoNum type="arabicPeriod"/>
            </a:pPr>
            <a:r>
              <a:rPr lang="zh-CN" altLang="en-US" sz="2800" b="1" dirty="0">
                <a:solidFill>
                  <a:schemeClr val="accent6">
                    <a:lumMod val="75000"/>
                  </a:schemeClr>
                </a:solidFill>
              </a:rPr>
              <a:t>（</a:t>
            </a:r>
            <a:r>
              <a:rPr lang="en-US" altLang="zh-CN" sz="2800" b="1" dirty="0">
                <a:solidFill>
                  <a:schemeClr val="accent6">
                    <a:lumMod val="75000"/>
                  </a:schemeClr>
                </a:solidFill>
              </a:rPr>
              <a:t>1</a:t>
            </a:r>
            <a:r>
              <a:rPr lang="zh-CN" altLang="en-US" sz="2800" b="1" dirty="0">
                <a:solidFill>
                  <a:schemeClr val="accent6">
                    <a:lumMod val="75000"/>
                  </a:schemeClr>
                </a:solidFill>
              </a:rPr>
              <a:t>）</a:t>
            </a:r>
            <a:r>
              <a:rPr lang="en-US" altLang="zh-CN" sz="2800" b="1" dirty="0">
                <a:solidFill>
                  <a:schemeClr val="accent6">
                    <a:lumMod val="75000"/>
                  </a:schemeClr>
                </a:solidFill>
              </a:rPr>
              <a:t>Na &gt; K &gt; </a:t>
            </a:r>
            <a:r>
              <a:rPr lang="en-US" altLang="zh-CN" sz="2800" b="1">
                <a:solidFill>
                  <a:schemeClr val="accent6">
                    <a:lumMod val="75000"/>
                  </a:schemeClr>
                </a:solidFill>
              </a:rPr>
              <a:t>Rb</a:t>
            </a:r>
            <a:endParaRPr lang="en-US" altLang="zh-CN" sz="2800" b="1" dirty="0">
              <a:solidFill>
                <a:schemeClr val="accent6">
                  <a:lumMod val="75000"/>
                </a:schemeClr>
              </a:solidFill>
            </a:endParaRPr>
          </a:p>
          <a:p>
            <a:pPr marL="914400" lvl="1" indent="-457200"/>
            <a:r>
              <a:rPr lang="zh-CN" altLang="en-US" sz="2800" b="1" dirty="0">
                <a:solidFill>
                  <a:schemeClr val="accent6">
                    <a:lumMod val="75000"/>
                  </a:schemeClr>
                </a:solidFill>
              </a:rPr>
              <a:t>（</a:t>
            </a:r>
            <a:r>
              <a:rPr lang="en-US" altLang="zh-CN" sz="2800" b="1" dirty="0">
                <a:solidFill>
                  <a:schemeClr val="accent6">
                    <a:lumMod val="75000"/>
                  </a:schemeClr>
                </a:solidFill>
              </a:rPr>
              <a:t>2</a:t>
            </a:r>
            <a:r>
              <a:rPr lang="zh-CN" altLang="en-US" sz="2800" b="1" dirty="0">
                <a:solidFill>
                  <a:schemeClr val="accent6">
                    <a:lumMod val="75000"/>
                  </a:schemeClr>
                </a:solidFill>
              </a:rPr>
              <a:t>）</a:t>
            </a:r>
            <a:r>
              <a:rPr lang="en-US" altLang="zh-CN" sz="2800" b="1" dirty="0">
                <a:solidFill>
                  <a:schemeClr val="accent6">
                    <a:lumMod val="75000"/>
                  </a:schemeClr>
                </a:solidFill>
              </a:rPr>
              <a:t>O &gt; S &gt; Se</a:t>
            </a:r>
          </a:p>
          <a:p>
            <a:pPr marL="914400" lvl="1" indent="-457200"/>
            <a:r>
              <a:rPr lang="zh-CN" altLang="en-US" sz="2800" b="1" dirty="0">
                <a:solidFill>
                  <a:schemeClr val="accent6">
                    <a:lumMod val="75000"/>
                  </a:schemeClr>
                </a:solidFill>
              </a:rPr>
              <a:t>（</a:t>
            </a:r>
            <a:r>
              <a:rPr lang="en-US" altLang="zh-CN" sz="2800" b="1" dirty="0">
                <a:solidFill>
                  <a:schemeClr val="accent6">
                    <a:lumMod val="75000"/>
                  </a:schemeClr>
                </a:solidFill>
              </a:rPr>
              <a:t>3</a:t>
            </a:r>
            <a:r>
              <a:rPr lang="zh-CN" altLang="en-US" sz="2800" b="1" dirty="0">
                <a:solidFill>
                  <a:schemeClr val="accent6">
                    <a:lumMod val="75000"/>
                  </a:schemeClr>
                </a:solidFill>
              </a:rPr>
              <a:t>）</a:t>
            </a:r>
            <a:r>
              <a:rPr lang="en-US" altLang="zh-CN" sz="2800" b="1" dirty="0" err="1">
                <a:solidFill>
                  <a:schemeClr val="accent6">
                    <a:lumMod val="75000"/>
                  </a:schemeClr>
                </a:solidFill>
              </a:rPr>
              <a:t>Cl</a:t>
            </a:r>
            <a:r>
              <a:rPr lang="en-US" altLang="zh-CN" sz="2800" b="1" dirty="0">
                <a:solidFill>
                  <a:schemeClr val="accent6">
                    <a:lumMod val="75000"/>
                  </a:schemeClr>
                </a:solidFill>
              </a:rPr>
              <a:t> &gt; P &gt; Na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 calcmode="lin" valueType="num">
                                      <p:cBhvr additive="base">
                                        <p:cTn id="14"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 calcmode="lin" valueType="num">
                                      <p:cBhvr additive="base">
                                        <p:cTn id="20"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 calcmode="lin" valueType="num">
                                      <p:cBhvr additive="base">
                                        <p:cTn id="26"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 calcmode="lin" valueType="num">
                                      <p:cBhvr additive="base">
                                        <p:cTn id="32"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3">
                                            <p:txEl>
                                              <p:pRg st="6" end="6"/>
                                            </p:txEl>
                                          </p:spTgt>
                                        </p:tgtEl>
                                        <p:attrNameLst>
                                          <p:attrName>style.visibility</p:attrName>
                                        </p:attrNameLst>
                                      </p:cBhvr>
                                      <p:to>
                                        <p:strVal val="visible"/>
                                      </p:to>
                                    </p:set>
                                    <p:anim calcmode="lin" valueType="num">
                                      <p:cBhvr additive="base">
                                        <p:cTn id="38"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Trek">
  <a:themeElements>
    <a:clrScheme name="Trek">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Trek">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Trek">
      <a:fillStyleLst>
        <a:solidFill>
          <a:schemeClr val="phClr"/>
        </a:solidFill>
        <a:gradFill rotWithShape="1">
          <a:gsLst>
            <a:gs pos="0">
              <a:schemeClr val="phClr">
                <a:tint val="30000"/>
                <a:satMod val="250000"/>
              </a:schemeClr>
            </a:gs>
            <a:gs pos="72000">
              <a:schemeClr val="phClr">
                <a:tint val="75000"/>
                <a:satMod val="210000"/>
              </a:schemeClr>
            </a:gs>
            <a:gs pos="100000">
              <a:schemeClr val="phClr">
                <a:tint val="85000"/>
                <a:satMod val="210000"/>
              </a:schemeClr>
            </a:gs>
          </a:gsLst>
          <a:lin ang="5400000" scaled="1"/>
        </a:gradFill>
        <a:gradFill rotWithShape="1">
          <a:gsLst>
            <a:gs pos="0">
              <a:schemeClr val="phClr">
                <a:tint val="75000"/>
                <a:shade val="85000"/>
                <a:satMod val="230000"/>
              </a:schemeClr>
            </a:gs>
            <a:gs pos="25000">
              <a:schemeClr val="phClr">
                <a:tint val="90000"/>
                <a:shade val="70000"/>
                <a:satMod val="220000"/>
              </a:schemeClr>
            </a:gs>
            <a:gs pos="50000">
              <a:schemeClr val="phClr">
                <a:tint val="90000"/>
                <a:shade val="58000"/>
                <a:satMod val="225000"/>
              </a:schemeClr>
            </a:gs>
            <a:gs pos="65000">
              <a:schemeClr val="phClr">
                <a:tint val="90000"/>
                <a:shade val="58000"/>
                <a:satMod val="225000"/>
              </a:schemeClr>
            </a:gs>
            <a:gs pos="80000">
              <a:schemeClr val="phClr">
                <a:tint val="90000"/>
                <a:shade val="69000"/>
                <a:satMod val="220000"/>
              </a:schemeClr>
            </a:gs>
            <a:gs pos="100000">
              <a:schemeClr val="phClr">
                <a:tint val="77000"/>
                <a:shade val="80000"/>
                <a:satMod val="230000"/>
              </a:schemeClr>
            </a:gs>
          </a:gsLst>
          <a:lin ang="5400000" scaled="1"/>
        </a:gradFill>
      </a:fillStyleLst>
      <a:lnStyleLst>
        <a:ln w="100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st="50800" dir="5400000" rotWithShape="0">
              <a:srgbClr val="4E3B30">
                <a:alpha val="60000"/>
              </a:srgbClr>
            </a:outerShdw>
          </a:effectLst>
        </a:effectStyle>
        <a:effectStyle>
          <a:effectLst>
            <a:outerShdw blurRad="76200" dist="50800" dir="5400000" rotWithShape="0">
              <a:srgbClr val="4E3B30">
                <a:alpha val="60000"/>
              </a:srgbClr>
            </a:outerShdw>
          </a:effectLst>
          <a:scene3d>
            <a:camera prst="orthographicFront">
              <a:rot lat="0" lon="0" rev="0"/>
            </a:camera>
            <a:lightRig rig="threePt" dir="tl">
              <a:rot lat="0" lon="0" rev="0"/>
            </a:lightRig>
          </a:scene3d>
          <a:sp3d prstMaterial="metal">
            <a:bevelT w="10000" h="10000"/>
          </a:sp3d>
        </a:effectStyle>
        <a:effectStyle>
          <a:effectLst>
            <a:outerShdw blurRad="76200" dist="50800" dir="5400000" rotWithShape="0">
              <a:srgbClr val="4E3B30">
                <a:alpha val="60000"/>
              </a:srgbClr>
            </a:outerShdw>
          </a:effectLst>
          <a:scene3d>
            <a:camera prst="obliqueTopLeft" fov="600000">
              <a:rot lat="0" lon="0" rev="0"/>
            </a:camera>
            <a:lightRig rig="balanced" dir="t">
              <a:rot lat="0" lon="0" rev="19200000"/>
            </a:lightRig>
          </a:scene3d>
          <a:sp3d contourW="12700" prstMaterial="matte">
            <a:bevelT w="60000" h="50800"/>
            <a:contourClr>
              <a:schemeClr val="phClr">
                <a:shade val="60000"/>
                <a:satMod val="110000"/>
              </a:schemeClr>
            </a:contourClr>
          </a:sp3d>
        </a:effectStyle>
      </a:effectStyleLst>
      <a:bgFillStyleLst>
        <a:solidFill>
          <a:schemeClr val="phClr"/>
        </a:solidFill>
        <a:blipFill>
          <a:blip xmlns:r="http://schemas.openxmlformats.org/officeDocument/2006/relationships" r:embed="rId1">
            <a:duotone>
              <a:schemeClr val="phClr">
                <a:shade val="90000"/>
                <a:satMod val="150000"/>
              </a:schemeClr>
              <a:schemeClr val="phClr">
                <a:tint val="88000"/>
                <a:satMod val="105000"/>
              </a:schemeClr>
            </a:duotone>
          </a:blip>
          <a:tile tx="0" ty="0" sx="95000" sy="95000" flip="none" algn="t"/>
        </a:blipFill>
        <a:blipFill>
          <a:blip xmlns:r="http://schemas.openxmlformats.org/officeDocument/2006/relationships" r:embed="rId2">
            <a:duotone>
              <a:schemeClr val="phClr">
                <a:shade val="30000"/>
                <a:satMod val="455000"/>
              </a:schemeClr>
              <a:schemeClr val="phClr">
                <a:tint val="95000"/>
                <a:satMod val="120000"/>
              </a:schemeClr>
            </a:duotone>
          </a:blip>
          <a:stretch>
            <a:fillRect/>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Trek</Template>
  <TotalTime>941</TotalTime>
  <Words>2319</Words>
  <Application>Microsoft Office PowerPoint</Application>
  <PresentationFormat>On-screen Show (4:3)</PresentationFormat>
  <Paragraphs>209</Paragraphs>
  <Slides>29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Calibri</vt:lpstr>
      <vt:lpstr>Franklin Gothic Book</vt:lpstr>
      <vt:lpstr>Franklin Gothic Medium</vt:lpstr>
      <vt:lpstr>Times New Roman</vt:lpstr>
      <vt:lpstr>Wingdings 2</vt:lpstr>
      <vt:lpstr>Trek</vt:lpstr>
      <vt:lpstr>第六章 元素周期表</vt:lpstr>
      <vt:lpstr>6.1元素周期表的发展简史</vt:lpstr>
      <vt:lpstr>PowerPoint Presentation</vt:lpstr>
      <vt:lpstr>PowerPoint Presentation</vt:lpstr>
      <vt:lpstr>PowerPoint Presentation</vt:lpstr>
      <vt:lpstr>6.2元素周期表的结构</vt:lpstr>
      <vt:lpstr>PowerPoint Presentation</vt:lpstr>
      <vt:lpstr>PowerPoint Presentation</vt:lpstr>
      <vt:lpstr>6.3解读元素周期表</vt:lpstr>
      <vt:lpstr>查元素周期表回答：</vt:lpstr>
      <vt:lpstr>知识点（不查元素周期表）</vt:lpstr>
      <vt:lpstr>知识点（不查元素周期表）</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6.元素周期表</dc:title>
  <dc:creator>User</dc:creator>
  <cp:lastModifiedBy>User</cp:lastModifiedBy>
  <cp:revision>86</cp:revision>
  <dcterms:created xsi:type="dcterms:W3CDTF">2016-03-20T05:40:48Z</dcterms:created>
  <dcterms:modified xsi:type="dcterms:W3CDTF">2020-06-11T03:49:46Z</dcterms:modified>
</cp:coreProperties>
</file>