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256" r:id="rId2"/>
    <p:sldId id="320" r:id="rId3"/>
    <p:sldId id="328" r:id="rId4"/>
    <p:sldId id="329" r:id="rId5"/>
    <p:sldId id="330" r:id="rId6"/>
    <p:sldId id="332" r:id="rId7"/>
    <p:sldId id="334" r:id="rId8"/>
    <p:sldId id="331" r:id="rId9"/>
    <p:sldId id="333" r:id="rId10"/>
    <p:sldId id="335" r:id="rId11"/>
    <p:sldId id="259" r:id="rId12"/>
    <p:sldId id="277" r:id="rId13"/>
    <p:sldId id="279" r:id="rId14"/>
    <p:sldId id="281" r:id="rId15"/>
    <p:sldId id="280" r:id="rId16"/>
    <p:sldId id="283" r:id="rId17"/>
    <p:sldId id="287" r:id="rId18"/>
    <p:sldId id="285" r:id="rId19"/>
    <p:sldId id="288" r:id="rId20"/>
    <p:sldId id="286" r:id="rId21"/>
    <p:sldId id="289" r:id="rId22"/>
    <p:sldId id="291" r:id="rId23"/>
    <p:sldId id="336" r:id="rId24"/>
    <p:sldId id="290" r:id="rId25"/>
    <p:sldId id="292" r:id="rId26"/>
    <p:sldId id="260" r:id="rId27"/>
    <p:sldId id="307" r:id="rId28"/>
    <p:sldId id="296" r:id="rId29"/>
    <p:sldId id="306" r:id="rId30"/>
    <p:sldId id="299" r:id="rId31"/>
    <p:sldId id="297" r:id="rId32"/>
    <p:sldId id="295" r:id="rId33"/>
    <p:sldId id="293" r:id="rId34"/>
    <p:sldId id="294" r:id="rId35"/>
    <p:sldId id="303" r:id="rId36"/>
    <p:sldId id="298" r:id="rId37"/>
    <p:sldId id="301" r:id="rId38"/>
    <p:sldId id="300" r:id="rId39"/>
    <p:sldId id="302" r:id="rId40"/>
    <p:sldId id="305" r:id="rId41"/>
    <p:sldId id="304" r:id="rId42"/>
    <p:sldId id="309" r:id="rId43"/>
    <p:sldId id="308" r:id="rId44"/>
    <p:sldId id="337" r:id="rId45"/>
    <p:sldId id="310" r:id="rId46"/>
    <p:sldId id="315" r:id="rId47"/>
    <p:sldId id="311" r:id="rId48"/>
    <p:sldId id="312" r:id="rId49"/>
    <p:sldId id="313" r:id="rId50"/>
    <p:sldId id="314" r:id="rId51"/>
    <p:sldId id="316" r:id="rId52"/>
    <p:sldId id="326" r:id="rId53"/>
    <p:sldId id="317" r:id="rId54"/>
    <p:sldId id="327" r:id="rId55"/>
    <p:sldId id="338" r:id="rId56"/>
    <p:sldId id="339" r:id="rId57"/>
    <p:sldId id="340" r:id="rId58"/>
    <p:sldId id="341" r:id="rId59"/>
    <p:sldId id="348" r:id="rId60"/>
    <p:sldId id="349" r:id="rId61"/>
    <p:sldId id="350" r:id="rId62"/>
    <p:sldId id="351" r:id="rId63"/>
    <p:sldId id="352" r:id="rId6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2C2C"/>
    <a:srgbClr val="3A2222"/>
    <a:srgbClr val="0314B9"/>
    <a:srgbClr val="906542"/>
    <a:srgbClr val="6E5A42"/>
    <a:srgbClr val="A2956E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7" autoAdjust="0"/>
    <p:restoredTop sz="94660"/>
  </p:normalViewPr>
  <p:slideViewPr>
    <p:cSldViewPr>
      <p:cViewPr varScale="1">
        <p:scale>
          <a:sx n="68" d="100"/>
          <a:sy n="68" d="100"/>
        </p:scale>
        <p:origin x="576" y="72"/>
      </p:cViewPr>
      <p:guideLst>
        <p:guide orient="horz" pos="212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ms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59723F3-EA2D-440A-B61B-CB3A61301C2E}" type="datetimeFigureOut">
              <a:rPr lang="en-US" altLang="ms-MY"/>
              <a:pPr/>
              <a:t>5/2/2020</a:t>
            </a:fld>
            <a:endParaRPr lang="en-US" altLang="ms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22FA37-8C41-4E9B-85C9-694C3CA41837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val="1502730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s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A780C4D-09CA-46E3-853E-35EB6329C356}" type="datetimeFigureOut">
              <a:rPr lang="en-US" altLang="ms-MY"/>
              <a:pPr/>
              <a:t>5/2/2020</a:t>
            </a:fld>
            <a:endParaRPr lang="en-US" altLang="ms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12A969-FE6B-4384-80F4-B0B68BF05F39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val="3805024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7A9C67E-F93D-4EEE-A635-14A28FAC2FA8}" type="datetimeFigureOut">
              <a:rPr lang="en-US" altLang="ms-MY"/>
              <a:pPr/>
              <a:t>5/2/2020</a:t>
            </a:fld>
            <a:endParaRPr lang="en-US" altLang="ms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30A7A1-6BE7-410A-AFEE-737052E58907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val="1493768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s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s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7B5EC1-EB5D-46B9-8E76-A959A47594D5}" type="datetimeFigureOut">
              <a:rPr lang="en-US" altLang="ms-MY"/>
              <a:pPr/>
              <a:t>5/2/2020</a:t>
            </a:fld>
            <a:endParaRPr lang="en-US" altLang="ms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89FF7E-BAB3-42CC-AB8C-FA47AB3FCCD2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val="2529779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s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s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977253-90F5-442A-98A7-325A41DDBBE5}" type="datetimeFigureOut">
              <a:rPr lang="en-US" altLang="ms-MY"/>
              <a:pPr/>
              <a:t>5/2/2020</a:t>
            </a:fld>
            <a:endParaRPr lang="en-US" altLang="ms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8C91BD-5873-4C04-BC10-1C5B3FFE89D5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val="3637425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A92C43-95BD-49AB-ABF9-79530A05AC1C}" type="datetimeFigureOut">
              <a:rPr lang="en-US" altLang="ms-MY"/>
              <a:pPr/>
              <a:t>5/2/2020</a:t>
            </a:fld>
            <a:endParaRPr lang="en-US" altLang="ms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A41B3D-886A-43F2-980D-523433FBF8B8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val="4069854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BB183E-8E62-4134-9BBB-242D6DC8A277}" type="datetimeFigureOut">
              <a:rPr lang="en-US" altLang="ms-MY"/>
              <a:pPr/>
              <a:t>5/2/2020</a:t>
            </a:fld>
            <a:endParaRPr lang="en-US" altLang="ms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EDD56F-7D3A-4AA6-A42E-C322863F1772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val="744473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s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EA1F16-1551-43C8-911E-B8ADD05AE0F8}" type="datetimeFigureOut">
              <a:rPr lang="en-US" altLang="ms-MY"/>
              <a:pPr/>
              <a:t>5/2/2020</a:t>
            </a:fld>
            <a:endParaRPr lang="en-US" altLang="ms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B1AE60-6D37-44A6-A36B-9F102BEA3003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val="2812536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ms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EDD667-AE2B-4CEC-844B-8D7B30E73672}" type="datetimeFigureOut">
              <a:rPr lang="en-US" altLang="ms-MY"/>
              <a:pPr/>
              <a:t>5/2/2020</a:t>
            </a:fld>
            <a:endParaRPr lang="en-US" altLang="ms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2136C4-25E1-4309-9029-DB349206D049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val="1642557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s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D632D5-7155-4806-A648-FBF5E0FA7D95}" type="datetimeFigureOut">
              <a:rPr lang="en-US" altLang="ms-MY"/>
              <a:pPr/>
              <a:t>5/2/2020</a:t>
            </a:fld>
            <a:endParaRPr lang="en-US" altLang="ms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FB29B9-8AE7-4350-845C-1487E04C6076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val="1805517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0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s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AE9A92-44C0-49F7-A18A-1AA8647BC1BB}" type="datetimeFigureOut">
              <a:rPr lang="en-US" altLang="ms-MY"/>
              <a:pPr/>
              <a:t>5/2/2020</a:t>
            </a:fld>
            <a:endParaRPr lang="en-US" altLang="ms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51E846-F00B-4914-AC44-0215942D3878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val="2548879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s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s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D77C5EA0-6FB9-4E59-9339-88D6B9B2BD14}" type="datetimeFigureOut">
              <a:rPr lang="en-US" altLang="ms-MY"/>
              <a:pPr/>
              <a:t>5/2/2020</a:t>
            </a:fld>
            <a:endParaRPr lang="en-US" altLang="ms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ms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1B1AF71-F316-4EAC-AEF3-4847EFCFA26C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val="986959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s-MY"/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s-MY"/>
              <a:t>Click to edit Master text styles</a:t>
            </a:r>
          </a:p>
          <a:p>
            <a:pPr lvl="1"/>
            <a:r>
              <a:rPr lang="en-US" altLang="ms-MY"/>
              <a:t>Second level</a:t>
            </a:r>
          </a:p>
          <a:p>
            <a:pPr lvl="2"/>
            <a:r>
              <a:rPr lang="en-US" altLang="ms-MY"/>
              <a:t>Third level</a:t>
            </a:r>
          </a:p>
          <a:p>
            <a:pPr lvl="3"/>
            <a:r>
              <a:rPr lang="en-US" altLang="ms-MY"/>
              <a:t>Fourth level</a:t>
            </a:r>
          </a:p>
          <a:p>
            <a:pPr lvl="4"/>
            <a:r>
              <a:rPr lang="en-US" altLang="ms-MY"/>
              <a:t>Fifth level</a:t>
            </a:r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3A2222"/>
                </a:solidFill>
                <a:ea typeface="SimSun" pitchFamily="2" charset="-122"/>
              </a:defRPr>
            </a:lvl1pPr>
          </a:lstStyle>
          <a:p>
            <a:fld id="{7E24EEAC-35BC-4856-8CED-9FBE75CEEDF2}" type="datetimeFigureOut">
              <a:rPr lang="en-US" altLang="ms-MY"/>
              <a:pPr/>
              <a:t>5/2/2020</a:t>
            </a:fld>
            <a:endParaRPr lang="en-US" altLang="ms-MY"/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3A2222"/>
                </a:solidFill>
                <a:ea typeface="SimSun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30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3A2222"/>
                </a:solidFill>
                <a:ea typeface="SimSun" pitchFamily="2" charset="-122"/>
              </a:defRPr>
            </a:lvl1pPr>
          </a:lstStyle>
          <a:p>
            <a:fld id="{1FEBAB8A-3650-4634-A0E8-293825372500}" type="slidenum">
              <a:rPr lang="en-US" altLang="ms-MY"/>
              <a:pPr/>
              <a:t>‹#›</a:t>
            </a:fld>
            <a:endParaRPr lang="en-US" altLang="ms-MY"/>
          </a:p>
        </p:txBody>
      </p:sp>
      <p:sp>
        <p:nvSpPr>
          <p:cNvPr id="1031" name="TextBox 8"/>
          <p:cNvSpPr txBox="1">
            <a:spLocks noChangeArrowheads="1"/>
          </p:cNvSpPr>
          <p:nvPr/>
        </p:nvSpPr>
        <p:spPr bwMode="auto">
          <a:xfrm rot="16200000">
            <a:off x="-1751806" y="5163344"/>
            <a:ext cx="2989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/>
            <a:r>
              <a:rPr lang="bs-Latn-BA" altLang="en-US" sz="2000">
                <a:solidFill>
                  <a:srgbClr val="7F7F7F"/>
                </a:solidFill>
                <a:ea typeface="SimSun" pitchFamily="2" charset="-122"/>
              </a:rPr>
              <a:t> © free-ppt-templates.com</a:t>
            </a:r>
            <a:endParaRPr lang="en-US" altLang="ms-MY" sz="2000">
              <a:solidFill>
                <a:srgbClr val="7F7F7F"/>
              </a:solidFill>
              <a:ea typeface="SimSun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8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59595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595959"/>
          </a:solidFill>
          <a:latin typeface="Microsoft New Tai Lue" pitchFamily="34" charset="0"/>
          <a:ea typeface="Microsoft New Tai Lue" pitchFamily="34" charset="0"/>
          <a:cs typeface="Microsoft New Tai Lu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595959"/>
          </a:solidFill>
          <a:latin typeface="Microsoft New Tai Lue" pitchFamily="34" charset="0"/>
          <a:ea typeface="Microsoft New Tai Lue" pitchFamily="34" charset="0"/>
          <a:cs typeface="Microsoft New Tai Lu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595959"/>
          </a:solidFill>
          <a:latin typeface="Microsoft New Tai Lue" pitchFamily="34" charset="0"/>
          <a:ea typeface="Microsoft New Tai Lue" pitchFamily="34" charset="0"/>
          <a:cs typeface="Microsoft New Tai Lu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595959"/>
          </a:solidFill>
          <a:latin typeface="Microsoft New Tai Lue" pitchFamily="34" charset="0"/>
          <a:ea typeface="Microsoft New Tai Lue" pitchFamily="34" charset="0"/>
          <a:cs typeface="Microsoft New Tai Lue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595959"/>
          </a:solidFill>
          <a:latin typeface="Microsoft New Tai Lue" pitchFamily="34" charset="0"/>
          <a:ea typeface="Microsoft New Tai Lue" pitchFamily="34" charset="0"/>
          <a:cs typeface="Microsoft New Tai Lue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595959"/>
          </a:solidFill>
          <a:latin typeface="Microsoft New Tai Lue" pitchFamily="34" charset="0"/>
          <a:ea typeface="Microsoft New Tai Lue" pitchFamily="34" charset="0"/>
          <a:cs typeface="Microsoft New Tai Lue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595959"/>
          </a:solidFill>
          <a:latin typeface="Microsoft New Tai Lue" pitchFamily="34" charset="0"/>
          <a:ea typeface="Microsoft New Tai Lue" pitchFamily="34" charset="0"/>
          <a:cs typeface="Microsoft New Tai Lue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595959"/>
          </a:solidFill>
          <a:latin typeface="Microsoft New Tai Lue" pitchFamily="34" charset="0"/>
          <a:ea typeface="Microsoft New Tai Lue" pitchFamily="34" charset="0"/>
          <a:cs typeface="Microsoft New Tai Lu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>
          <a:solidFill>
            <a:srgbClr val="3A222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>
          <a:solidFill>
            <a:srgbClr val="3A222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rgbClr val="3A222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rgbClr val="3A222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rgbClr val="3A222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rgbClr val="3A222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rgbClr val="3A222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rgbClr val="3A222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rgbClr val="3A2222"/>
          </a:solidFill>
          <a:latin typeface="+mn-lt"/>
        </a:defRPr>
      </a:lvl9pPr>
    </p:bodyStyle>
    <p:otherStyle>
      <a:defPPr>
        <a:defRPr lang="ms-M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2.jpeg"/><Relationship Id="rId7" Type="http://schemas.openxmlformats.org/officeDocument/2006/relationships/image" Target="../media/image26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Relationship Id="rId9" Type="http://schemas.openxmlformats.org/officeDocument/2006/relationships/image" Target="../media/image28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676400" y="838200"/>
            <a:ext cx="5562600" cy="3139321"/>
          </a:xfrm>
          <a:prstGeom prst="rect">
            <a:avLst/>
          </a:prstGeom>
          <a:noFill/>
          <a:ln>
            <a:noFill/>
          </a:ln>
          <a:effectLst>
            <a:outerShdw dist="99190" dir="13811666" algn="ctr" rotWithShape="0">
              <a:schemeClr val="hlink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6600" b="1" dirty="0">
                <a:latin typeface="+mn-lt"/>
                <a:ea typeface="KaiTi" charset="-122"/>
              </a:rPr>
              <a:t>第1</a:t>
            </a:r>
            <a:r>
              <a:rPr lang="en-US" altLang="zh-CN" sz="6600" b="1" dirty="0">
                <a:latin typeface="+mn-lt"/>
                <a:ea typeface="KaiTi" charset="-122"/>
              </a:rPr>
              <a:t>6</a:t>
            </a:r>
            <a:r>
              <a:rPr lang="zh-CN" altLang="en-US" sz="6600" b="1" dirty="0">
                <a:latin typeface="+mn-lt"/>
                <a:ea typeface="KaiTi" charset="-122"/>
              </a:rPr>
              <a:t>章</a:t>
            </a:r>
            <a:endParaRPr lang="en-US" altLang="zh-CN" sz="6600" b="1" dirty="0">
              <a:latin typeface="+mn-lt"/>
              <a:ea typeface="KaiTi" charset="-122"/>
            </a:endParaRPr>
          </a:p>
          <a:p>
            <a:pPr algn="ctr"/>
            <a:endParaRPr lang="zh-CN" altLang="en-US" sz="6600" b="1" dirty="0">
              <a:latin typeface="+mn-lt"/>
              <a:ea typeface="KaiTi" charset="-122"/>
            </a:endParaRPr>
          </a:p>
          <a:p>
            <a:pPr algn="ctr"/>
            <a:r>
              <a:rPr lang="zh-CN" altLang="en-US" sz="6600" b="1" dirty="0">
                <a:latin typeface="+mn-lt"/>
                <a:ea typeface="KaiTi" charset="-122"/>
              </a:rPr>
              <a:t>过渡元素</a:t>
            </a:r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16.1 </a:t>
            </a:r>
            <a:r>
              <a:rPr lang="zh-CN" altLang="en-US" sz="4000" b="1" u="sng" dirty="0">
                <a:latin typeface="+mn-ea"/>
              </a:rPr>
              <a:t>过渡元素的概论</a:t>
            </a:r>
            <a:endParaRPr lang="en-US" altLang="zh-CN" sz="4000" b="1" u="sng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电子层结构：含有未填满的</a:t>
            </a:r>
            <a:r>
              <a:rPr lang="en-US" altLang="zh-CN" b="1" dirty="0">
                <a:latin typeface="+mn-ea"/>
                <a:sym typeface="Wingdings" pitchFamily="2" charset="2"/>
              </a:rPr>
              <a:t>d</a:t>
            </a:r>
            <a:r>
              <a:rPr lang="zh-CN" altLang="en-US" b="1" dirty="0">
                <a:latin typeface="+mn-ea"/>
                <a:sym typeface="Wingdings" pitchFamily="2" charset="2"/>
              </a:rPr>
              <a:t>或</a:t>
            </a:r>
            <a:r>
              <a:rPr lang="en-US" altLang="zh-CN" b="1" dirty="0">
                <a:latin typeface="+mn-ea"/>
                <a:sym typeface="Wingdings" pitchFamily="2" charset="2"/>
              </a:rPr>
              <a:t>f</a:t>
            </a:r>
            <a:r>
              <a:rPr lang="zh-CN" altLang="en-US" b="1" dirty="0">
                <a:latin typeface="+mn-ea"/>
                <a:sym typeface="Wingdings" pitchFamily="2" charset="2"/>
              </a:rPr>
              <a:t>副层轨域。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因此过渡元素的一些性质与主族元素不同。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通性：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latin typeface="+mn-ea"/>
                <a:sym typeface="Wingdings" pitchFamily="2" charset="2"/>
              </a:rPr>
              <a:t>都是金属</a:t>
            </a:r>
            <a:endParaRPr lang="en-US" altLang="zh-CN" sz="3200" b="1" dirty="0">
              <a:latin typeface="+mn-ea"/>
              <a:sym typeface="Wingdings" pitchFamily="2" charset="2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latin typeface="+mn-ea"/>
                <a:sym typeface="Wingdings" pitchFamily="2" charset="2"/>
              </a:rPr>
              <a:t>多种氧化数</a:t>
            </a:r>
            <a:endParaRPr lang="en-US" altLang="zh-CN" sz="3200" b="1" dirty="0">
              <a:latin typeface="+mn-ea"/>
              <a:sym typeface="Wingdings" pitchFamily="2" charset="2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latin typeface="+mn-ea"/>
                <a:sym typeface="Wingdings" pitchFamily="2" charset="2"/>
              </a:rPr>
              <a:t>易生成有色化合物</a:t>
            </a:r>
            <a:endParaRPr lang="en-US" altLang="zh-CN" sz="3200" b="1" dirty="0">
              <a:latin typeface="+mn-ea"/>
              <a:sym typeface="Wingdings" pitchFamily="2" charset="2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latin typeface="+mn-ea"/>
                <a:sym typeface="Wingdings" pitchFamily="2" charset="2"/>
              </a:rPr>
              <a:t>易形成配位化合物</a:t>
            </a:r>
            <a:endParaRPr lang="en-US" altLang="zh-CN" sz="3200" b="1" dirty="0">
              <a:latin typeface="+mn-ea"/>
              <a:sym typeface="Wingdings" pitchFamily="2" charset="2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latin typeface="+mn-ea"/>
                <a:sym typeface="Wingdings" pitchFamily="2" charset="2"/>
              </a:rPr>
              <a:t>易形成具有催化性的化合物</a:t>
            </a:r>
            <a:endParaRPr lang="en-US" altLang="zh-CN" sz="3200" b="1" dirty="0">
              <a:latin typeface="+mn-ea"/>
              <a:sym typeface="Wingdings" pitchFamily="2" charset="2"/>
            </a:endParaRPr>
          </a:p>
        </p:txBody>
      </p:sp>
      <p:pic>
        <p:nvPicPr>
          <p:cNvPr id="3" name="Picture 2" descr="C:\Users\User\Desktop\嘿哟家怡在这里\化学-06\元素週期表結構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84582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76200"/>
            <a:ext cx="84582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16.2 </a:t>
            </a:r>
            <a:r>
              <a:rPr lang="zh-CN" altLang="en-US" sz="4000" b="1" u="sng" dirty="0">
                <a:latin typeface="+mn-ea"/>
              </a:rPr>
              <a:t>过渡元素的通性</a:t>
            </a:r>
            <a:endParaRPr lang="en-US" altLang="zh-CN" sz="4000" b="1" u="sng" dirty="0">
              <a:latin typeface="+mn-ea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3000" b="1" dirty="0">
                <a:latin typeface="+mn-ea"/>
                <a:sym typeface="Wingdings" pitchFamily="2" charset="2"/>
              </a:rPr>
              <a:t>都是金属</a:t>
            </a:r>
            <a:endParaRPr lang="en-US" altLang="zh-CN" sz="3000" b="1" dirty="0">
              <a:latin typeface="+mn-ea"/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>
                <a:latin typeface="+mn-ea"/>
                <a:sym typeface="Wingdings" pitchFamily="2" charset="2"/>
              </a:rPr>
              <a:t>过渡金属</a:t>
            </a:r>
            <a:endParaRPr lang="en-US" altLang="zh-CN" sz="3000" b="1" dirty="0">
              <a:latin typeface="+mn-ea"/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>
                <a:latin typeface="+mn-ea"/>
                <a:sym typeface="Wingdings" pitchFamily="2" charset="2"/>
              </a:rPr>
              <a:t>最外层电子数不超过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2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>
                <a:latin typeface="+mn-ea"/>
                <a:sym typeface="Wingdings" pitchFamily="2" charset="2"/>
              </a:rPr>
              <a:t>金属晶体，原子间形成金属键</a:t>
            </a:r>
            <a:endParaRPr lang="en-US" altLang="zh-CN" sz="3000" b="1" dirty="0">
              <a:latin typeface="+mn-ea"/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>
                <a:latin typeface="+mn-ea"/>
                <a:sym typeface="Wingdings" pitchFamily="2" charset="2"/>
              </a:rPr>
              <a:t>原子半径小，密度大，熔点高，硬度大</a:t>
            </a:r>
            <a:endParaRPr lang="en-US" altLang="zh-CN" sz="3000" b="1" dirty="0">
              <a:latin typeface="+mn-ea"/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>
                <a:latin typeface="+mn-ea"/>
                <a:sym typeface="Wingdings" pitchFamily="2" charset="2"/>
              </a:rPr>
              <a:t>延展性，导电，导热，耐腐蚀性</a:t>
            </a:r>
            <a:endParaRPr lang="en-US" altLang="zh-CN" sz="3000" b="1" dirty="0">
              <a:latin typeface="+mn-ea"/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>
                <a:latin typeface="+mn-ea"/>
                <a:sym typeface="Wingdings" pitchFamily="2" charset="2"/>
              </a:rPr>
              <a:t>除了金属键外还有部分共价键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(d</a:t>
            </a:r>
            <a:r>
              <a:rPr lang="zh-CN" altLang="en-US" sz="3000" b="1" dirty="0">
                <a:latin typeface="+mn-ea"/>
                <a:sym typeface="Wingdings" pitchFamily="2" charset="2"/>
              </a:rPr>
              <a:t>电子参与成键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)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>
                <a:latin typeface="+mn-ea"/>
                <a:sym typeface="Wingdings" pitchFamily="2" charset="2"/>
              </a:rPr>
              <a:t>熔点最高：钨</a:t>
            </a:r>
            <a:endParaRPr lang="en-US" altLang="zh-CN" sz="3000" b="1" dirty="0">
              <a:latin typeface="+mn-ea"/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>
                <a:latin typeface="+mn-ea"/>
                <a:sym typeface="Wingdings" pitchFamily="2" charset="2"/>
              </a:rPr>
              <a:t>密度最大：锇</a:t>
            </a:r>
            <a:endParaRPr lang="en-US" altLang="zh-CN" sz="3000" b="1" dirty="0">
              <a:latin typeface="+mn-ea"/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>
                <a:latin typeface="+mn-ea"/>
                <a:sym typeface="Wingdings" pitchFamily="2" charset="2"/>
              </a:rPr>
              <a:t>硬度最大：铬</a:t>
            </a:r>
            <a:endParaRPr lang="en-US" altLang="zh-CN" sz="3000" b="1" dirty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sz="3200" b="1" dirty="0">
              <a:latin typeface="+mn-e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16.2</a:t>
            </a:r>
            <a:r>
              <a:rPr lang="zh-CN" altLang="en-US" sz="4000" b="1" u="sng" dirty="0">
                <a:latin typeface="+mn-ea"/>
              </a:rPr>
              <a:t>过渡元素的通性</a:t>
            </a:r>
            <a:endParaRPr lang="en-US" altLang="zh-CN" sz="4000" b="1" u="sng" dirty="0">
              <a:latin typeface="+mn-ea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2. </a:t>
            </a:r>
            <a:r>
              <a:rPr lang="zh-CN" altLang="en-US" sz="3200" b="1" dirty="0">
                <a:latin typeface="+mn-ea"/>
                <a:sym typeface="Wingdings" pitchFamily="2" charset="2"/>
              </a:rPr>
              <a:t>多种氧化数</a:t>
            </a:r>
            <a:endParaRPr lang="en-US" altLang="zh-CN" sz="3200" b="1" dirty="0">
              <a:latin typeface="+mn-ea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除了</a:t>
            </a:r>
            <a:r>
              <a:rPr lang="en-US" altLang="zh-CN" b="1" dirty="0">
                <a:latin typeface="+mn-ea"/>
                <a:sym typeface="Wingdings" pitchFamily="2" charset="2"/>
              </a:rPr>
              <a:t>Sc</a:t>
            </a:r>
            <a:r>
              <a:rPr lang="zh-CN" altLang="en-US" b="1" dirty="0">
                <a:latin typeface="+mn-ea"/>
                <a:sym typeface="Wingdings" pitchFamily="2" charset="2"/>
              </a:rPr>
              <a:t>与</a:t>
            </a:r>
            <a:r>
              <a:rPr lang="en-US" altLang="zh-CN" b="1" dirty="0">
                <a:latin typeface="+mn-ea"/>
                <a:sym typeface="Wingdings" pitchFamily="2" charset="2"/>
              </a:rPr>
              <a:t>Zn</a:t>
            </a:r>
            <a:r>
              <a:rPr lang="zh-CN" altLang="en-US" b="1" dirty="0">
                <a:latin typeface="+mn-ea"/>
                <a:sym typeface="Wingdings" pitchFamily="2" charset="2"/>
              </a:rPr>
              <a:t>外，都有多种氧化数。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latin typeface="+mn-ea"/>
                <a:sym typeface="Wingdings" pitchFamily="2" charset="2"/>
              </a:rPr>
              <a:t>因</a:t>
            </a:r>
            <a:r>
              <a:rPr lang="en-US" altLang="zh-CN" sz="3200" b="1" dirty="0">
                <a:latin typeface="+mn-ea"/>
                <a:sym typeface="Wingdings" pitchFamily="2" charset="2"/>
              </a:rPr>
              <a:t>ns, (n-1)d</a:t>
            </a:r>
            <a:r>
              <a:rPr lang="zh-CN" altLang="en-US" sz="3200" b="1" dirty="0">
                <a:latin typeface="+mn-ea"/>
                <a:sym typeface="Wingdings" pitchFamily="2" charset="2"/>
              </a:rPr>
              <a:t>能阶相差不多，故这些电子均参与成键。</a:t>
            </a:r>
            <a:endParaRPr lang="en-US" altLang="zh-CN" sz="3200" b="1" dirty="0">
              <a:latin typeface="+mn-ea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>
              <a:latin typeface="+mn-ea"/>
              <a:sym typeface="Wingdings" pitchFamily="2" charset="2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609600" y="2488803"/>
            <a:ext cx="8610600" cy="4216797"/>
            <a:chOff x="457200" y="1726803"/>
            <a:chExt cx="8610600" cy="4216797"/>
          </a:xfrm>
          <a:solidFill>
            <a:schemeClr val="bg1"/>
          </a:solidFill>
        </p:grpSpPr>
        <p:pic>
          <p:nvPicPr>
            <p:cNvPr id="1026" name="Picture 2" descr="C:\Users\user\Desktop\yanghuashu.jpg"/>
            <p:cNvPicPr>
              <a:picLocks noChangeAspect="1" noChangeArrowheads="1"/>
            </p:cNvPicPr>
            <p:nvPr/>
          </p:nvPicPr>
          <p:blipFill>
            <a:blip r:embed="rId2"/>
            <a:srcRect b="36806"/>
            <a:stretch>
              <a:fillRect/>
            </a:stretch>
          </p:blipFill>
          <p:spPr bwMode="auto">
            <a:xfrm>
              <a:off x="457200" y="1726803"/>
              <a:ext cx="7696200" cy="4216797"/>
            </a:xfrm>
            <a:prstGeom prst="rect">
              <a:avLst/>
            </a:prstGeom>
            <a:grpFill/>
          </p:spPr>
        </p:pic>
        <p:sp>
          <p:nvSpPr>
            <p:cNvPr id="5" name="TextBox 4"/>
            <p:cNvSpPr txBox="1"/>
            <p:nvPr/>
          </p:nvSpPr>
          <p:spPr>
            <a:xfrm>
              <a:off x="7696200" y="2971800"/>
              <a:ext cx="838200" cy="120032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</a:rPr>
                <a:t>Cu</a:t>
              </a:r>
            </a:p>
            <a:p>
              <a:r>
                <a:rPr lang="en-US" altLang="zh-CN" sz="2400" dirty="0">
                  <a:solidFill>
                    <a:srgbClr val="0314B9"/>
                  </a:solidFill>
                </a:rPr>
                <a:t>+1</a:t>
              </a:r>
            </a:p>
            <a:p>
              <a:r>
                <a:rPr lang="en-US" altLang="zh-CN" sz="2400" u="sng" dirty="0">
                  <a:solidFill>
                    <a:srgbClr val="0314B9"/>
                  </a:solidFill>
                </a:rPr>
                <a:t>+2</a:t>
              </a:r>
              <a:endParaRPr lang="en-US" sz="2400" u="sng" dirty="0">
                <a:solidFill>
                  <a:srgbClr val="0314B9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0" y="2971800"/>
              <a:ext cx="838200" cy="120032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</a:rPr>
                <a:t>Zn</a:t>
              </a:r>
            </a:p>
            <a:p>
              <a:endParaRPr lang="en-US" altLang="zh-CN" sz="2400" dirty="0">
                <a:solidFill>
                  <a:srgbClr val="0314B9"/>
                </a:solidFill>
              </a:endParaRPr>
            </a:p>
            <a:p>
              <a:r>
                <a:rPr lang="en-US" altLang="zh-CN" sz="2400" u="sng" dirty="0">
                  <a:solidFill>
                    <a:srgbClr val="0314B9"/>
                  </a:solidFill>
                </a:rPr>
                <a:t>+2</a:t>
              </a:r>
              <a:endParaRPr lang="en-US" sz="2400" u="sng" dirty="0">
                <a:solidFill>
                  <a:srgbClr val="0314B9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5638800" y="5029200"/>
              <a:ext cx="457200" cy="228600"/>
            </a:xfrm>
            <a:prstGeom prst="rect">
              <a:avLst/>
            </a:prstGeom>
            <a:grp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6248400" y="4267200"/>
              <a:ext cx="457200" cy="228600"/>
            </a:xfrm>
            <a:prstGeom prst="rect">
              <a:avLst/>
            </a:prstGeom>
            <a:grp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7162800" y="4267200"/>
              <a:ext cx="457200" cy="228600"/>
            </a:xfrm>
            <a:prstGeom prst="rect">
              <a:avLst/>
            </a:prstGeom>
            <a:grp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6324600" y="4145281"/>
              <a:ext cx="457200" cy="45719"/>
            </a:xfrm>
            <a:prstGeom prst="rect">
              <a:avLst/>
            </a:prstGeom>
            <a:grp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3124200" y="4495800"/>
              <a:ext cx="457200" cy="45719"/>
            </a:xfrm>
            <a:prstGeom prst="rect">
              <a:avLst/>
            </a:prstGeom>
            <a:grp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3886200" y="5334000"/>
              <a:ext cx="457200" cy="45719"/>
            </a:xfrm>
            <a:prstGeom prst="rect">
              <a:avLst/>
            </a:prstGeom>
            <a:grp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4800600" y="5334000"/>
              <a:ext cx="457200" cy="45719"/>
            </a:xfrm>
            <a:prstGeom prst="rect">
              <a:avLst/>
            </a:prstGeom>
            <a:grp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5638800" y="3764281"/>
              <a:ext cx="457200" cy="45719"/>
            </a:xfrm>
            <a:prstGeom prst="rect">
              <a:avLst/>
            </a:prstGeom>
            <a:grp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3962400" y="5257800"/>
              <a:ext cx="304800" cy="1588"/>
            </a:xfrm>
            <a:prstGeom prst="line">
              <a:avLst/>
            </a:prstGeom>
            <a:grpFill/>
            <a:ln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16.2</a:t>
            </a:r>
            <a:r>
              <a:rPr lang="zh-CN" altLang="en-US" sz="4000" b="1" u="sng" dirty="0">
                <a:latin typeface="+mn-ea"/>
              </a:rPr>
              <a:t>过渡元素的通性</a:t>
            </a:r>
            <a:endParaRPr lang="en-US" altLang="zh-CN" sz="4000" b="1" u="sng" dirty="0">
              <a:latin typeface="+mn-ea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3. </a:t>
            </a:r>
            <a:r>
              <a:rPr lang="zh-CN" altLang="en-US" sz="3200" b="1" dirty="0">
                <a:latin typeface="+mn-ea"/>
                <a:sym typeface="Wingdings" pitchFamily="2" charset="2"/>
              </a:rPr>
              <a:t>易生成有色化合物</a:t>
            </a:r>
            <a:endParaRPr lang="en-US" altLang="zh-CN" sz="3200" b="1" dirty="0">
              <a:latin typeface="+mn-ea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过渡元素的</a:t>
            </a:r>
            <a:r>
              <a:rPr lang="en-US" altLang="zh-CN" b="1" dirty="0">
                <a:latin typeface="+mn-ea"/>
                <a:sym typeface="Wingdings" pitchFamily="2" charset="2"/>
              </a:rPr>
              <a:t>3d</a:t>
            </a:r>
            <a:r>
              <a:rPr lang="zh-CN" altLang="en-US" b="1" dirty="0">
                <a:latin typeface="+mn-ea"/>
                <a:sym typeface="Wingdings" pitchFamily="2" charset="2"/>
              </a:rPr>
              <a:t>电子能在未填满的</a:t>
            </a:r>
            <a:r>
              <a:rPr lang="en-US" altLang="zh-CN" b="1" dirty="0">
                <a:latin typeface="+mn-ea"/>
                <a:sym typeface="Wingdings" pitchFamily="2" charset="2"/>
              </a:rPr>
              <a:t>d</a:t>
            </a:r>
            <a:r>
              <a:rPr lang="zh-CN" altLang="en-US" b="1" dirty="0">
                <a:latin typeface="+mn-ea"/>
                <a:sym typeface="Wingdings" pitchFamily="2" charset="2"/>
              </a:rPr>
              <a:t>轨域间跃迁而吸收部分可见光，使得其离子表现出一定的颜色。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latin typeface="+mn-e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16.2</a:t>
            </a:r>
            <a:r>
              <a:rPr lang="zh-CN" altLang="en-US" sz="4000" b="1" u="sng" dirty="0">
                <a:latin typeface="+mn-ea"/>
              </a:rPr>
              <a:t>过渡元素的通性</a:t>
            </a:r>
            <a:endParaRPr lang="en-US" altLang="zh-CN" sz="4000" b="1" u="sng" dirty="0">
              <a:latin typeface="+mn-ea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4. </a:t>
            </a:r>
            <a:r>
              <a:rPr lang="zh-CN" altLang="en-US" b="1" dirty="0">
                <a:latin typeface="+mn-ea"/>
                <a:sym typeface="Wingdings" pitchFamily="2" charset="2"/>
              </a:rPr>
              <a:t>易形成配位化合物</a:t>
            </a:r>
            <a:endParaRPr lang="en-US" altLang="zh-CN" sz="3200" b="1" dirty="0">
              <a:latin typeface="+mn-ea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+mn-ea"/>
                <a:sym typeface="Wingdings" pitchFamily="2" charset="2"/>
              </a:rPr>
              <a:t>活动</a:t>
            </a:r>
            <a:r>
              <a:rPr lang="en-US" altLang="zh-CN" b="1" dirty="0">
                <a:latin typeface="+mn-ea"/>
                <a:sym typeface="Wingdings" pitchFamily="2" charset="2"/>
              </a:rPr>
              <a:t>1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+mn-ea"/>
                <a:sym typeface="Wingdings" pitchFamily="2" charset="2"/>
              </a:rPr>
              <a:t>开始时产生白色沉淀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AgNO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b="1" dirty="0">
                <a:latin typeface="+mn-ea"/>
                <a:sym typeface="Wingdings" pitchFamily="2" charset="2"/>
              </a:rPr>
              <a:t> + NH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·H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2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O  </a:t>
            </a:r>
            <a:r>
              <a:rPr lang="en-US" altLang="zh-CN" b="1" dirty="0" err="1">
                <a:latin typeface="Arial"/>
                <a:cs typeface="Arial"/>
                <a:sym typeface="Wingdings" pitchFamily="2" charset="2"/>
              </a:rPr>
              <a:t>AgOH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 + NH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4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NO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3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 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Arial"/>
                <a:cs typeface="Arial"/>
                <a:sym typeface="Wingdings" pitchFamily="2" charset="2"/>
              </a:rPr>
              <a:t>加入过量氨水后，沉淀溶解</a:t>
            </a:r>
            <a:endParaRPr lang="en-US" altLang="zh-CN" b="1" dirty="0">
              <a:latin typeface="Arial"/>
              <a:cs typeface="Arial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err="1">
                <a:latin typeface="Arial"/>
                <a:cs typeface="Arial"/>
                <a:sym typeface="Wingdings" pitchFamily="2" charset="2"/>
              </a:rPr>
              <a:t>AgOH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 + 2 </a:t>
            </a:r>
            <a:r>
              <a:rPr lang="en-US" altLang="zh-CN" b="1" dirty="0">
                <a:latin typeface="+mn-ea"/>
                <a:sym typeface="Wingdings" pitchFamily="2" charset="2"/>
              </a:rPr>
              <a:t>NH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·H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2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O  Ag(NH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3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)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2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OH + 2H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2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O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latin typeface="+mn-e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4582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16.2</a:t>
            </a:r>
            <a:r>
              <a:rPr lang="zh-CN" altLang="en-US" sz="4000" b="1" u="sng" dirty="0">
                <a:latin typeface="+mn-ea"/>
              </a:rPr>
              <a:t>过渡元素的通性</a:t>
            </a:r>
            <a:endParaRPr lang="en-US" altLang="zh-CN" sz="4000" b="1" u="sng" dirty="0">
              <a:latin typeface="+mn-ea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4. </a:t>
            </a:r>
            <a:r>
              <a:rPr lang="zh-CN" altLang="en-US" b="1" dirty="0">
                <a:latin typeface="+mn-ea"/>
                <a:sym typeface="Wingdings" pitchFamily="2" charset="2"/>
              </a:rPr>
              <a:t>易形成配位化合物</a:t>
            </a:r>
            <a:endParaRPr lang="en-US" altLang="zh-CN" sz="3200" b="1" dirty="0">
              <a:latin typeface="+mn-ea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+mn-ea"/>
                <a:sym typeface="Wingdings" pitchFamily="2" charset="2"/>
              </a:rPr>
              <a:t>活动</a:t>
            </a:r>
            <a:r>
              <a:rPr lang="en-US" altLang="zh-CN" b="1" dirty="0">
                <a:latin typeface="+mn-ea"/>
                <a:sym typeface="Wingdings" pitchFamily="2" charset="2"/>
              </a:rPr>
              <a:t>2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+mn-ea"/>
                <a:sym typeface="Wingdings" pitchFamily="2" charset="2"/>
              </a:rPr>
              <a:t>开始时产生蓝色沉淀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CuSO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4</a:t>
            </a:r>
            <a:r>
              <a:rPr lang="en-US" altLang="zh-CN" b="1" dirty="0">
                <a:latin typeface="+mn-ea"/>
                <a:sym typeface="Wingdings" pitchFamily="2" charset="2"/>
              </a:rPr>
              <a:t> + 2NH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·H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2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O  Cu(OH)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2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+ (NH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4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)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2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SO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4</a:t>
            </a:r>
            <a:endParaRPr lang="en-US" altLang="zh-CN" b="1" dirty="0">
              <a:latin typeface="Arial"/>
              <a:cs typeface="Arial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Arial"/>
                <a:cs typeface="Arial"/>
                <a:sym typeface="Wingdings" pitchFamily="2" charset="2"/>
              </a:rPr>
              <a:t>加入过量氨水后，沉淀溶解，溶液变成深蓝色</a:t>
            </a:r>
            <a:endParaRPr lang="en-US" altLang="zh-CN" b="1" dirty="0">
              <a:latin typeface="Arial"/>
              <a:cs typeface="Arial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Cu(OH)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2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 +4</a:t>
            </a:r>
            <a:r>
              <a:rPr lang="en-US" altLang="zh-CN" b="1" dirty="0">
                <a:latin typeface="+mn-ea"/>
                <a:sym typeface="Wingdings" pitchFamily="2" charset="2"/>
              </a:rPr>
              <a:t>NH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·H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2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OCu(NH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3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)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4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(OH)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2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+ 4H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2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O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latin typeface="+mn-e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16.2</a:t>
            </a:r>
            <a:r>
              <a:rPr lang="zh-CN" altLang="en-US" sz="4000" b="1" u="sng" dirty="0">
                <a:latin typeface="+mn-ea"/>
              </a:rPr>
              <a:t>过渡元素的通性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dirty="0">
                <a:latin typeface="+mn-ea"/>
                <a:sym typeface="Wingdings" pitchFamily="2" charset="2"/>
              </a:rPr>
              <a:t>4. </a:t>
            </a:r>
            <a:r>
              <a:rPr lang="zh-CN" altLang="en-US" sz="3200" b="1" dirty="0">
                <a:latin typeface="+mn-ea"/>
                <a:sym typeface="Wingdings" pitchFamily="2" charset="2"/>
              </a:rPr>
              <a:t>易形成配位化合物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配离子：</a:t>
            </a:r>
            <a:r>
              <a:rPr lang="zh-CN" altLang="en-US" b="1" dirty="0">
                <a:solidFill>
                  <a:srgbClr val="7030A0"/>
                </a:solidFill>
                <a:latin typeface="+mn-ea"/>
                <a:sym typeface="Wingdings" pitchFamily="2" charset="2"/>
              </a:rPr>
              <a:t>金属离子</a:t>
            </a:r>
            <a:r>
              <a:rPr lang="zh-CN" altLang="en-US" b="1" dirty="0">
                <a:latin typeface="+mn-ea"/>
                <a:sym typeface="Wingdings" pitchFamily="2" charset="2"/>
              </a:rPr>
              <a:t>和</a:t>
            </a:r>
            <a:r>
              <a:rPr lang="en-US" altLang="zh-CN" b="1" dirty="0">
                <a:solidFill>
                  <a:srgbClr val="0070C0"/>
                </a:solidFill>
                <a:latin typeface="+mn-ea"/>
                <a:sym typeface="Wingdings" pitchFamily="2" charset="2"/>
              </a:rPr>
              <a:t>1</a:t>
            </a:r>
            <a:r>
              <a:rPr lang="zh-CN" altLang="en-US" b="1" dirty="0">
                <a:solidFill>
                  <a:srgbClr val="0070C0"/>
                </a:solidFill>
                <a:latin typeface="+mn-ea"/>
                <a:sym typeface="Wingdings" pitchFamily="2" charset="2"/>
              </a:rPr>
              <a:t>个或几个阴离子或分子</a:t>
            </a:r>
            <a:r>
              <a:rPr lang="zh-CN" altLang="en-US" b="1" dirty="0">
                <a:latin typeface="+mn-ea"/>
                <a:sym typeface="Wingdings" pitchFamily="2" charset="2"/>
              </a:rPr>
              <a:t>结合成的离子。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rgbClr val="0070C0"/>
                </a:solidFill>
                <a:latin typeface="+mn-ea"/>
                <a:sym typeface="Wingdings" pitchFamily="2" charset="2"/>
              </a:rPr>
              <a:t>配位体：</a:t>
            </a:r>
            <a:r>
              <a:rPr lang="zh-CN" altLang="en-US" sz="3200" b="1" dirty="0">
                <a:solidFill>
                  <a:schemeClr val="tx1"/>
                </a:solidFill>
                <a:latin typeface="+mn-ea"/>
                <a:sym typeface="Wingdings" pitchFamily="2" charset="2"/>
              </a:rPr>
              <a:t>有孤对电子</a:t>
            </a:r>
            <a:endParaRPr lang="en-US" altLang="zh-CN" sz="3200" b="1" dirty="0">
              <a:solidFill>
                <a:schemeClr val="tx1"/>
              </a:solidFill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7030A0"/>
                </a:solidFill>
                <a:latin typeface="+mn-ea"/>
                <a:sym typeface="Wingdings" pitchFamily="2" charset="2"/>
              </a:rPr>
              <a:t>中心阳离子：</a:t>
            </a:r>
            <a:r>
              <a:rPr lang="zh-CN" altLang="en-US" b="1" dirty="0">
                <a:solidFill>
                  <a:schemeClr val="tx1"/>
                </a:solidFill>
                <a:latin typeface="+mn-ea"/>
                <a:sym typeface="Wingdings" pitchFamily="2" charset="2"/>
              </a:rPr>
              <a:t>有空的轨域（过渡金属离子）</a:t>
            </a:r>
            <a:endParaRPr lang="en-US" altLang="zh-CN" b="1" dirty="0">
              <a:solidFill>
                <a:schemeClr val="tx1"/>
              </a:solidFill>
              <a:latin typeface="+mn-ea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ea"/>
                <a:sym typeface="Wingdings" pitchFamily="2" charset="2"/>
              </a:rPr>
              <a:t>ns, </a:t>
            </a:r>
            <a:r>
              <a:rPr lang="en-US" altLang="zh-CN" sz="2800" b="1" dirty="0" err="1">
                <a:solidFill>
                  <a:schemeClr val="tx1"/>
                </a:solidFill>
                <a:latin typeface="+mn-ea"/>
                <a:sym typeface="Wingdings" pitchFamily="2" charset="2"/>
              </a:rPr>
              <a:t>np</a:t>
            </a:r>
            <a:r>
              <a:rPr lang="zh-CN" altLang="en-US" b="1" dirty="0">
                <a:solidFill>
                  <a:schemeClr val="tx1"/>
                </a:solidFill>
                <a:latin typeface="+mn-ea"/>
                <a:sym typeface="Wingdings" pitchFamily="2" charset="2"/>
              </a:rPr>
              <a:t>是空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sym typeface="Wingdings" pitchFamily="2" charset="2"/>
              </a:rPr>
              <a:t>轨域，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  <a:sym typeface="Wingdings" pitchFamily="2" charset="2"/>
              </a:rPr>
              <a:t>(n-1)d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sym typeface="Wingdings" pitchFamily="2" charset="2"/>
              </a:rPr>
              <a:t>轨域部分或全空，能接受配位体提供的孤对电子</a:t>
            </a:r>
            <a:endParaRPr lang="en-US" altLang="zh-CN" sz="2800" b="1" dirty="0">
              <a:solidFill>
                <a:srgbClr val="7030A0"/>
              </a:solidFill>
              <a:latin typeface="+mn-ea"/>
              <a:sym typeface="Wingdings" pitchFamily="2" charset="2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905000" y="1143000"/>
            <a:ext cx="4343400" cy="4648200"/>
            <a:chOff x="2667000" y="2133600"/>
            <a:chExt cx="3962400" cy="3962400"/>
          </a:xfrm>
        </p:grpSpPr>
        <p:pic>
          <p:nvPicPr>
            <p:cNvPr id="2051" name="Picture 3" descr="C:\Users\user\Desktop\peilizi.jpg"/>
            <p:cNvPicPr>
              <a:picLocks noChangeAspect="1" noChangeArrowheads="1"/>
            </p:cNvPicPr>
            <p:nvPr/>
          </p:nvPicPr>
          <p:blipFill>
            <a:blip r:embed="rId2"/>
            <a:srcRect r="32325" b="5239"/>
            <a:stretch>
              <a:fillRect/>
            </a:stretch>
          </p:blipFill>
          <p:spPr bwMode="auto">
            <a:xfrm>
              <a:off x="2667000" y="2133600"/>
              <a:ext cx="3962400" cy="3962400"/>
            </a:xfrm>
            <a:prstGeom prst="rect">
              <a:avLst/>
            </a:prstGeom>
            <a:noFill/>
          </p:spPr>
        </p:pic>
        <p:sp>
          <p:nvSpPr>
            <p:cNvPr id="5" name="Rectangle 4"/>
            <p:cNvSpPr/>
            <p:nvPr/>
          </p:nvSpPr>
          <p:spPr bwMode="auto">
            <a:xfrm>
              <a:off x="6248400" y="3352800"/>
              <a:ext cx="381000" cy="20574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16.2</a:t>
            </a:r>
            <a:r>
              <a:rPr lang="zh-CN" altLang="en-US" sz="4000" b="1" u="sng" dirty="0">
                <a:latin typeface="+mn-ea"/>
              </a:rPr>
              <a:t>过渡元素的通性</a:t>
            </a:r>
            <a:endParaRPr lang="en-US" altLang="zh-CN" sz="4000" b="1" u="sng" dirty="0">
              <a:latin typeface="+mn-ea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5. </a:t>
            </a:r>
            <a:r>
              <a:rPr lang="zh-CN" altLang="en-US" sz="3200" b="1" dirty="0">
                <a:latin typeface="+mn-ea"/>
                <a:sym typeface="Wingdings" pitchFamily="2" charset="2"/>
              </a:rPr>
              <a:t>易</a:t>
            </a:r>
            <a:r>
              <a:rPr lang="zh-CN" altLang="en-US" b="1" dirty="0">
                <a:latin typeface="+mn-ea"/>
                <a:sym typeface="Wingdings" pitchFamily="2" charset="2"/>
              </a:rPr>
              <a:t>形成具有催化性的化合物</a:t>
            </a:r>
            <a:endParaRPr lang="en-US" altLang="zh-CN" sz="3200" b="1" dirty="0">
              <a:latin typeface="+mn-ea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过渡元素的最外层或次外层没有填满电子，能与被吸附的气体形成吸附化学键，生成表面中间物种，使其具有催化性能。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latin typeface="+mn-e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533400" y="152400"/>
            <a:ext cx="84582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dirty="0">
                <a:latin typeface="+mn-ea"/>
              </a:rPr>
              <a:t>  </a:t>
            </a:r>
            <a:r>
              <a:rPr lang="zh-CN" altLang="en-US" sz="4000" b="1" u="sng" dirty="0">
                <a:latin typeface="+mn-ea"/>
              </a:rPr>
              <a:t>思考题</a:t>
            </a:r>
            <a:r>
              <a:rPr lang="en-US" altLang="zh-CN" sz="4000" b="1" u="sng" dirty="0">
                <a:latin typeface="+mn-ea"/>
              </a:rPr>
              <a:t>16a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1. (1</a:t>
            </a:r>
            <a:r>
              <a:rPr lang="en-US" altLang="zh-CN" b="1">
                <a:latin typeface="+mn-ea"/>
                <a:sym typeface="Wingdings" pitchFamily="2" charset="2"/>
              </a:rPr>
              <a:t>)AgCl+2NH</a:t>
            </a:r>
            <a:r>
              <a:rPr lang="en-US" altLang="zh-CN" b="1" baseline="-25000">
                <a:latin typeface="+mn-ea"/>
                <a:sym typeface="Wingdings" pitchFamily="2" charset="2"/>
              </a:rPr>
              <a:t>3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·H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2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O  Ag(NH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3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)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2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Cl + 2H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2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O</a:t>
            </a:r>
            <a:endParaRPr lang="en-US" altLang="zh-CN" b="1" baseline="-25000" dirty="0">
              <a:latin typeface="Arial"/>
              <a:cs typeface="Arial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(2)CuSO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4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+ 4</a:t>
            </a:r>
            <a:r>
              <a:rPr lang="en-US" altLang="zh-CN" b="1" dirty="0">
                <a:latin typeface="+mn-ea"/>
                <a:sym typeface="Wingdings" pitchFamily="2" charset="2"/>
              </a:rPr>
              <a:t>NH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·H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2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OCu(NH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3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)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4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SO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4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+ 4H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2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O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2. CoCl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b="1" dirty="0">
                <a:latin typeface="+mn-ea"/>
                <a:sym typeface="Wingdings" pitchFamily="2" charset="2"/>
              </a:rPr>
              <a:t> </a:t>
            </a:r>
            <a:r>
              <a:rPr lang="zh-CN" altLang="en-US" b="1" dirty="0">
                <a:latin typeface="+mn-ea"/>
                <a:sym typeface="Wingdings" pitchFamily="2" charset="2"/>
              </a:rPr>
              <a:t>呈蓝色，吸水后生成了</a:t>
            </a:r>
            <a:r>
              <a:rPr lang="en-US" altLang="zh-CN" b="1" dirty="0">
                <a:latin typeface="+mn-ea"/>
                <a:sym typeface="Wingdings" pitchFamily="2" charset="2"/>
              </a:rPr>
              <a:t>CoCl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·6H</a:t>
            </a:r>
            <a:r>
              <a:rPr lang="en-US" altLang="zh-CN" b="1" baseline="-25000" dirty="0">
                <a:latin typeface="Arial"/>
                <a:cs typeface="Arial"/>
                <a:sym typeface="Wingdings" pitchFamily="2" charset="2"/>
              </a:rPr>
              <a:t>2</a:t>
            </a: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O</a:t>
            </a:r>
            <a:r>
              <a:rPr lang="zh-CN" altLang="en-US" b="1" dirty="0">
                <a:latin typeface="Arial"/>
                <a:cs typeface="Arial"/>
                <a:sym typeface="Wingdings" pitchFamily="2" charset="2"/>
              </a:rPr>
              <a:t>呈粉红色。</a:t>
            </a:r>
            <a:endParaRPr lang="en-US" altLang="zh-CN" b="1" dirty="0">
              <a:latin typeface="Arial"/>
              <a:cs typeface="Arial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Arial"/>
                <a:cs typeface="Arial"/>
                <a:sym typeface="Wingdings" pitchFamily="2" charset="2"/>
              </a:rPr>
              <a:t>	</a:t>
            </a:r>
            <a:r>
              <a:rPr lang="zh-CN" altLang="en-US" b="1" dirty="0">
                <a:latin typeface="Arial"/>
                <a:cs typeface="Arial"/>
                <a:sym typeface="Wingdings" pitchFamily="2" charset="2"/>
              </a:rPr>
              <a:t>过渡元素的化合物除了与过渡离子结构有关外，还与所结合的阴离子种类、晶体中是否含有结晶水等因素有关。</a:t>
            </a:r>
            <a:endParaRPr lang="en-US" altLang="zh-CN" b="1" dirty="0">
              <a:latin typeface="+mn-e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98437"/>
            <a:ext cx="8305800" cy="5364163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en-US" altLang="zh-CN" sz="4000" b="1" u="sng" dirty="0">
                <a:latin typeface="+mn-ea"/>
              </a:rPr>
              <a:t>16.3</a:t>
            </a:r>
            <a:r>
              <a:rPr lang="zh-CN" altLang="en-US" sz="4000" b="1" u="sng" dirty="0">
                <a:latin typeface="+mn-ea"/>
              </a:rPr>
              <a:t>铁</a:t>
            </a:r>
            <a:endParaRPr lang="ms-MY" altLang="en-US" sz="4000" b="1" u="sng" dirty="0">
              <a:latin typeface="+mn-ea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b="1" dirty="0">
                <a:latin typeface="+mn-ea"/>
              </a:rPr>
              <a:t>地壳四大元素：氧、硅、铝、铁</a:t>
            </a:r>
            <a:endParaRPr lang="en-US" altLang="zh-CN" b="1" dirty="0">
              <a:latin typeface="+mn-ea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b="1" dirty="0">
                <a:latin typeface="+mn-ea"/>
              </a:rPr>
              <a:t>地核：</a:t>
            </a:r>
            <a:r>
              <a:rPr lang="en-US" altLang="zh-CN" b="1" dirty="0">
                <a:latin typeface="+mn-ea"/>
              </a:rPr>
              <a:t>90%</a:t>
            </a:r>
            <a:r>
              <a:rPr lang="zh-CN" altLang="en-US" b="1" dirty="0">
                <a:latin typeface="+mn-ea"/>
              </a:rPr>
              <a:t>铁，</a:t>
            </a:r>
            <a:r>
              <a:rPr lang="en-US" altLang="zh-CN" b="1" dirty="0">
                <a:latin typeface="+mn-ea"/>
              </a:rPr>
              <a:t>10%</a:t>
            </a:r>
            <a:r>
              <a:rPr lang="zh-CN" altLang="en-US" b="1" dirty="0">
                <a:latin typeface="+mn-ea"/>
              </a:rPr>
              <a:t>镍</a:t>
            </a:r>
            <a:endParaRPr lang="en-US" altLang="zh-CN" b="1" dirty="0">
              <a:latin typeface="+mn-ea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b="1" dirty="0">
                <a:latin typeface="+mn-ea"/>
              </a:rPr>
              <a:t>重要的过渡元素</a:t>
            </a:r>
            <a:endParaRPr lang="en-US" altLang="zh-CN" b="1" dirty="0">
              <a:latin typeface="+mn-ea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b="1" dirty="0">
                <a:latin typeface="+mn-ea"/>
              </a:rPr>
              <a:t>电子排布式：</a:t>
            </a:r>
            <a:r>
              <a:rPr lang="en-US" altLang="zh-CN" b="1" dirty="0">
                <a:latin typeface="+mn-ea"/>
              </a:rPr>
              <a:t>[</a:t>
            </a:r>
            <a:r>
              <a:rPr lang="en-US" altLang="zh-CN" b="1" dirty="0" err="1">
                <a:latin typeface="+mn-ea"/>
              </a:rPr>
              <a:t>Ar</a:t>
            </a:r>
            <a:r>
              <a:rPr lang="en-US" altLang="zh-CN" b="1" dirty="0">
                <a:latin typeface="+mn-ea"/>
              </a:rPr>
              <a:t>]3d</a:t>
            </a:r>
            <a:r>
              <a:rPr lang="en-US" altLang="zh-CN" b="1" baseline="30000" dirty="0">
                <a:latin typeface="+mn-ea"/>
              </a:rPr>
              <a:t>6</a:t>
            </a:r>
            <a:r>
              <a:rPr lang="en-US" altLang="zh-CN" b="1" dirty="0">
                <a:latin typeface="+mn-ea"/>
              </a:rPr>
              <a:t> 4s</a:t>
            </a:r>
            <a:r>
              <a:rPr lang="en-US" altLang="zh-CN" b="1" baseline="30000" dirty="0">
                <a:latin typeface="+mn-ea"/>
              </a:rPr>
              <a:t>2</a:t>
            </a:r>
            <a:r>
              <a:rPr lang="en-US" altLang="zh-CN" b="1" dirty="0">
                <a:latin typeface="+mn-ea"/>
              </a:rPr>
              <a:t> </a:t>
            </a:r>
          </a:p>
          <a:p>
            <a:pPr marL="0" indent="0">
              <a:lnSpc>
                <a:spcPct val="150000"/>
              </a:lnSpc>
            </a:pPr>
            <a:r>
              <a:rPr lang="zh-CN" altLang="en-US" b="1" dirty="0">
                <a:latin typeface="+mn-ea"/>
              </a:rPr>
              <a:t>氧化数：</a:t>
            </a:r>
            <a:r>
              <a:rPr lang="en-US" altLang="zh-CN" b="1" dirty="0">
                <a:latin typeface="+mn-ea"/>
              </a:rPr>
              <a:t>0</a:t>
            </a:r>
            <a:r>
              <a:rPr lang="zh-CN" altLang="en-US" b="1" dirty="0">
                <a:latin typeface="+mn-ea"/>
              </a:rPr>
              <a:t>、</a:t>
            </a:r>
            <a:r>
              <a:rPr lang="en-US" altLang="zh-CN" b="1" dirty="0">
                <a:latin typeface="+mn-ea"/>
              </a:rPr>
              <a:t>+2</a:t>
            </a:r>
            <a:r>
              <a:rPr lang="zh-CN" altLang="en-US" b="1" dirty="0">
                <a:latin typeface="+mn-ea"/>
              </a:rPr>
              <a:t>、</a:t>
            </a:r>
            <a:r>
              <a:rPr lang="en-US" altLang="zh-CN" b="1" dirty="0">
                <a:latin typeface="+mn-ea"/>
              </a:rPr>
              <a:t>+3</a:t>
            </a:r>
          </a:p>
          <a:p>
            <a:pPr marL="0" indent="0">
              <a:lnSpc>
                <a:spcPct val="150000"/>
              </a:lnSpc>
            </a:pPr>
            <a:r>
              <a:rPr lang="en-US" altLang="zh-CN" b="1" dirty="0">
                <a:latin typeface="+mn-ea"/>
              </a:rPr>
              <a:t>Fe</a:t>
            </a:r>
            <a:r>
              <a:rPr lang="en-US" altLang="zh-CN" b="1" baseline="30000" dirty="0">
                <a:latin typeface="+mn-ea"/>
              </a:rPr>
              <a:t>2+</a:t>
            </a:r>
            <a:r>
              <a:rPr lang="en-US" altLang="zh-CN" b="1" dirty="0">
                <a:latin typeface="+mn-ea"/>
              </a:rPr>
              <a:t> </a:t>
            </a:r>
            <a:r>
              <a:rPr lang="zh-CN" altLang="en-US" b="1" dirty="0">
                <a:latin typeface="+mn-ea"/>
              </a:rPr>
              <a:t>、</a:t>
            </a:r>
            <a:r>
              <a:rPr lang="en-US" altLang="zh-CN" b="1" dirty="0">
                <a:latin typeface="+mn-ea"/>
              </a:rPr>
              <a:t>Fe</a:t>
            </a:r>
            <a:r>
              <a:rPr lang="en-US" altLang="zh-CN" b="1" baseline="30000" dirty="0">
                <a:latin typeface="+mn-ea"/>
              </a:rPr>
              <a:t>3+</a:t>
            </a:r>
            <a:r>
              <a:rPr lang="en-US" altLang="zh-CN" b="1" dirty="0">
                <a:latin typeface="+mn-ea"/>
              </a:rPr>
              <a:t> </a:t>
            </a:r>
            <a:r>
              <a:rPr lang="zh-CN" altLang="en-US" b="1" dirty="0">
                <a:latin typeface="+mn-ea"/>
              </a:rPr>
              <a:t>哪个较稳定？为什么？</a:t>
            </a:r>
            <a:endParaRPr lang="en-US" altLang="zh-CN" b="1" dirty="0">
              <a:latin typeface="+mn-ea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b="1" dirty="0">
                <a:latin typeface="+mn-ea"/>
              </a:rPr>
              <a:t>Fe</a:t>
            </a:r>
            <a:r>
              <a:rPr lang="en-US" altLang="zh-CN" b="1" baseline="30000" dirty="0">
                <a:latin typeface="+mn-ea"/>
              </a:rPr>
              <a:t>3+</a:t>
            </a:r>
            <a:r>
              <a:rPr lang="en-US" altLang="zh-CN" b="1" dirty="0">
                <a:latin typeface="+mn-ea"/>
              </a:rPr>
              <a:t> </a:t>
            </a:r>
            <a:r>
              <a:rPr lang="zh-CN" altLang="en-US" b="1" dirty="0">
                <a:latin typeface="+mn-ea"/>
              </a:rPr>
              <a:t>。因为它的</a:t>
            </a:r>
            <a:r>
              <a:rPr lang="en-US" altLang="zh-CN" b="1" dirty="0">
                <a:latin typeface="+mn-ea"/>
              </a:rPr>
              <a:t>3d</a:t>
            </a:r>
            <a:r>
              <a:rPr lang="zh-CN" altLang="en-US" b="1" dirty="0">
                <a:latin typeface="+mn-ea"/>
              </a:rPr>
              <a:t>轨域为半充满稳定结构。</a:t>
            </a:r>
            <a:endParaRPr lang="en-US" altLang="zh-CN" b="1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762000" y="152400"/>
            <a:ext cx="8382000" cy="60198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16.3.1 </a:t>
            </a:r>
            <a:r>
              <a:rPr lang="zh-CN" altLang="en-US" sz="4000" b="1" u="sng" dirty="0">
                <a:latin typeface="+mn-ea"/>
              </a:rPr>
              <a:t>铁的物理性质</a:t>
            </a:r>
            <a:endParaRPr lang="ms-MY" altLang="en-US" sz="28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</a:rPr>
              <a:t>密度</a:t>
            </a:r>
            <a:r>
              <a:rPr lang="en-US" altLang="zh-CN" b="1" dirty="0">
                <a:latin typeface="+mn-ea"/>
              </a:rPr>
              <a:t>7860kgm</a:t>
            </a:r>
            <a:r>
              <a:rPr lang="en-US" altLang="zh-CN" b="1" baseline="30000" dirty="0">
                <a:latin typeface="+mn-ea"/>
              </a:rPr>
              <a:t>-3</a:t>
            </a:r>
            <a:r>
              <a:rPr lang="en-US" altLang="zh-CN" b="1" dirty="0">
                <a:latin typeface="+mn-ea"/>
              </a:rPr>
              <a:t>  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</a:rPr>
              <a:t>熔点</a:t>
            </a:r>
            <a:r>
              <a:rPr lang="en-US" altLang="zh-CN" b="1" dirty="0">
                <a:latin typeface="+mn-ea"/>
              </a:rPr>
              <a:t>1535</a:t>
            </a:r>
            <a:r>
              <a:rPr lang="en-US" altLang="zh-CN" b="1" baseline="30000" dirty="0">
                <a:latin typeface="+mn-ea"/>
              </a:rPr>
              <a:t>o</a:t>
            </a:r>
            <a:r>
              <a:rPr lang="en-US" altLang="zh-CN" b="1" dirty="0">
                <a:latin typeface="+mn-ea"/>
              </a:rPr>
              <a:t>C </a:t>
            </a:r>
            <a:r>
              <a:rPr lang="zh-CN" altLang="en-US" b="1" dirty="0">
                <a:latin typeface="+mn-ea"/>
              </a:rPr>
              <a:t>、沸点</a:t>
            </a:r>
            <a:r>
              <a:rPr lang="en-US" altLang="zh-CN" b="1" dirty="0">
                <a:latin typeface="+mn-ea"/>
              </a:rPr>
              <a:t>2750</a:t>
            </a:r>
            <a:r>
              <a:rPr lang="en-US" altLang="zh-CN" b="1" baseline="30000" dirty="0">
                <a:latin typeface="+mn-ea"/>
              </a:rPr>
              <a:t>o</a:t>
            </a:r>
            <a:r>
              <a:rPr lang="en-US" altLang="zh-CN" b="1" dirty="0">
                <a:latin typeface="+mn-ea"/>
              </a:rPr>
              <a:t>C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</a:rPr>
              <a:t>纯铁抗蚀能力强</a:t>
            </a:r>
            <a:endParaRPr lang="en-US" altLang="zh-CN" b="1" baseline="30000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</a:rPr>
              <a:t>含碳等其他元素的铁熔点、抗蚀能力皆下降</a:t>
            </a:r>
            <a:endParaRPr lang="en-US" altLang="zh-CN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</a:rPr>
              <a:t>具有金属特性</a:t>
            </a:r>
            <a:endParaRPr lang="en-US" altLang="zh-CN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</a:rPr>
              <a:t>能被磁体吸引，自身也能产生磁性</a:t>
            </a:r>
            <a:endParaRPr lang="en-US" altLang="zh-CN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6171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762000" y="152400"/>
            <a:ext cx="7162800" cy="5364163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16.3.1 </a:t>
            </a:r>
            <a:r>
              <a:rPr lang="zh-CN" altLang="en-US" sz="4000" b="1" u="sng" dirty="0">
                <a:latin typeface="+mn-ea"/>
              </a:rPr>
              <a:t>铁的化学性质</a:t>
            </a:r>
            <a:endParaRPr lang="en-US" altLang="zh-CN" sz="4000" b="1" u="sng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</a:rPr>
              <a:t>在氧气中燃烧</a:t>
            </a:r>
            <a:endParaRPr lang="en-US" altLang="zh-CN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b="1" dirty="0">
                <a:latin typeface="+mn-ea"/>
              </a:rPr>
              <a:t>	</a:t>
            </a:r>
            <a:r>
              <a:rPr lang="en-US" altLang="zh-CN" b="1" dirty="0">
                <a:latin typeface="+mn-ea"/>
              </a:rPr>
              <a:t>3 Fe + 2 O</a:t>
            </a:r>
            <a:r>
              <a:rPr lang="en-US" altLang="zh-CN" b="1" baseline="-25000" dirty="0">
                <a:latin typeface="+mn-ea"/>
              </a:rPr>
              <a:t>2</a:t>
            </a:r>
            <a:r>
              <a:rPr lang="en-US" altLang="zh-CN" b="1" dirty="0">
                <a:latin typeface="+mn-ea"/>
              </a:rPr>
              <a:t> </a:t>
            </a:r>
            <a:r>
              <a:rPr lang="en-US" altLang="zh-CN" b="1" dirty="0">
                <a:latin typeface="+mn-ea"/>
                <a:sym typeface="Wingdings" pitchFamily="2" charset="2"/>
              </a:rPr>
              <a:t>	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在氯气中燃烧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b="1" dirty="0">
                <a:latin typeface="+mn-ea"/>
                <a:sym typeface="Wingdings" pitchFamily="2" charset="2"/>
              </a:rPr>
              <a:t>	</a:t>
            </a:r>
            <a:r>
              <a:rPr lang="en-US" altLang="zh-CN" b="1" dirty="0">
                <a:latin typeface="+mn-ea"/>
                <a:sym typeface="Wingdings" pitchFamily="2" charset="2"/>
              </a:rPr>
              <a:t>2 Fe + 3 Cl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b="1" dirty="0">
                <a:latin typeface="+mn-ea"/>
                <a:sym typeface="Wingdings" pitchFamily="2" charset="2"/>
              </a:rPr>
              <a:t> 	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与硫磺共热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b="1" dirty="0">
                <a:latin typeface="+mn-ea"/>
                <a:sym typeface="Wingdings" pitchFamily="2" charset="2"/>
              </a:rPr>
              <a:t>	</a:t>
            </a:r>
            <a:r>
              <a:rPr lang="en-US" altLang="zh-CN" b="1" dirty="0">
                <a:latin typeface="+mn-ea"/>
                <a:sym typeface="Wingdings" pitchFamily="2" charset="2"/>
              </a:rPr>
              <a:t>Fe + S 	    </a:t>
            </a:r>
            <a:endParaRPr lang="ms-MY" altLang="en-US" b="1" dirty="0">
              <a:latin typeface="+mn-ea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962400" y="2054423"/>
            <a:ext cx="838200" cy="307777"/>
            <a:chOff x="2819400" y="5867400"/>
            <a:chExt cx="838200" cy="307777"/>
          </a:xfrm>
        </p:grpSpPr>
        <p:cxnSp>
          <p:nvCxnSpPr>
            <p:cNvPr id="4" name="Straight Arrow Connector 3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点燃</a:t>
              </a:r>
              <a:endParaRPr lang="en-US" sz="1400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038600" y="3807023"/>
            <a:ext cx="838200" cy="307777"/>
            <a:chOff x="2819400" y="5867400"/>
            <a:chExt cx="838200" cy="307777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点燃</a:t>
              </a:r>
              <a:endParaRPr lang="en-US" sz="1400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048000" y="5559623"/>
            <a:ext cx="838200" cy="307777"/>
            <a:chOff x="2819400" y="5867400"/>
            <a:chExt cx="838200" cy="307777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点燃</a:t>
              </a:r>
              <a:endParaRPr lang="en-US" sz="1400" dirty="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962400" y="5486400"/>
            <a:ext cx="80502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 err="1">
                <a:solidFill>
                  <a:srgbClr val="3A2222"/>
                </a:solidFill>
                <a:latin typeface="+mn-lt"/>
              </a:rPr>
              <a:t>FeS</a:t>
            </a:r>
            <a:endParaRPr lang="en-US" sz="3400" b="1" dirty="0">
              <a:solidFill>
                <a:srgbClr val="3A2222"/>
              </a:solidFill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76800" y="3733800"/>
            <a:ext cx="140294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400" b="1" dirty="0">
                <a:solidFill>
                  <a:srgbClr val="3A2222"/>
                </a:solidFill>
                <a:latin typeface="+mn-ea"/>
                <a:sym typeface="Wingdings" pitchFamily="2" charset="2"/>
              </a:rPr>
              <a:t>2 FeCl</a:t>
            </a:r>
            <a:r>
              <a:rPr lang="en-US" altLang="zh-CN" sz="3400" b="1" baseline="-25000" dirty="0">
                <a:solidFill>
                  <a:srgbClr val="3A2222"/>
                </a:solidFill>
                <a:latin typeface="+mn-ea"/>
                <a:sym typeface="Wingdings" pitchFamily="2" charset="2"/>
              </a:rPr>
              <a:t>3</a:t>
            </a:r>
            <a:endParaRPr lang="en-US" sz="3400" b="1" dirty="0">
              <a:solidFill>
                <a:srgbClr val="3A2222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0" y="2006025"/>
            <a:ext cx="138371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400" b="1" dirty="0">
                <a:solidFill>
                  <a:srgbClr val="3A2222"/>
                </a:solidFill>
                <a:latin typeface="+mn-ea"/>
                <a:sym typeface="Wingdings" pitchFamily="2" charset="2"/>
              </a:rPr>
              <a:t> Fe</a:t>
            </a:r>
            <a:r>
              <a:rPr lang="en-US" altLang="zh-CN" sz="3400" b="1" baseline="-25000" dirty="0">
                <a:solidFill>
                  <a:srgbClr val="3A2222"/>
                </a:solidFill>
                <a:latin typeface="+mn-ea"/>
                <a:sym typeface="Wingdings" pitchFamily="2" charset="2"/>
              </a:rPr>
              <a:t>3</a:t>
            </a:r>
            <a:r>
              <a:rPr lang="en-US" altLang="zh-CN" sz="3400" b="1" dirty="0">
                <a:solidFill>
                  <a:srgbClr val="3A2222"/>
                </a:solidFill>
                <a:latin typeface="+mn-ea"/>
                <a:sym typeface="Wingdings" pitchFamily="2" charset="2"/>
              </a:rPr>
              <a:t>O</a:t>
            </a:r>
            <a:r>
              <a:rPr lang="en-US" altLang="zh-CN" sz="3400" b="1" baseline="-25000" dirty="0">
                <a:solidFill>
                  <a:srgbClr val="3A2222"/>
                </a:solidFill>
                <a:latin typeface="+mn-ea"/>
                <a:sym typeface="Wingdings" pitchFamily="2" charset="2"/>
              </a:rPr>
              <a:t>4</a:t>
            </a:r>
            <a:r>
              <a:rPr lang="en-US" altLang="zh-CN" sz="3400" b="1" dirty="0">
                <a:solidFill>
                  <a:srgbClr val="3A2222"/>
                </a:solidFill>
                <a:latin typeface="+mn-ea"/>
                <a:sym typeface="Wingdings" pitchFamily="2" charset="2"/>
              </a:rPr>
              <a:t> </a:t>
            </a:r>
            <a:endParaRPr lang="en-US" sz="3400" b="1" dirty="0">
              <a:solidFill>
                <a:srgbClr val="3A222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  <p:bldP spid="12" grpId="0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762000" y="198437"/>
            <a:ext cx="8382000" cy="6126163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16.3.1</a:t>
            </a:r>
            <a:r>
              <a:rPr lang="zh-CN" altLang="en-US" sz="4000" b="1" u="sng" dirty="0">
                <a:latin typeface="+mn-ea"/>
              </a:rPr>
              <a:t>铁的化学性质</a:t>
            </a:r>
            <a:endParaRPr lang="en-US" altLang="zh-CN" sz="4000" b="1" u="sng" dirty="0">
              <a:latin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</a:rPr>
              <a:t>加热的条件下，与水蒸气反应（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活动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</a:rPr>
              <a:t>3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b="1" dirty="0">
                <a:latin typeface="+mn-ea"/>
              </a:rPr>
              <a:t>）</a:t>
            </a:r>
            <a:endParaRPr lang="en-US" altLang="zh-CN" b="1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b="1" dirty="0">
                <a:latin typeface="+mn-ea"/>
              </a:rPr>
              <a:t>	</a:t>
            </a:r>
            <a:r>
              <a:rPr lang="en-US" altLang="zh-CN" b="1" dirty="0">
                <a:latin typeface="+mn-ea"/>
              </a:rPr>
              <a:t>3 Fe + 4 H</a:t>
            </a:r>
            <a:r>
              <a:rPr lang="en-US" altLang="zh-CN" b="1" baseline="-25000" dirty="0">
                <a:latin typeface="+mn-ea"/>
              </a:rPr>
              <a:t>2</a:t>
            </a:r>
            <a:r>
              <a:rPr lang="en-US" altLang="zh-CN" b="1" dirty="0">
                <a:latin typeface="+mn-ea"/>
              </a:rPr>
              <a:t>O 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与稀盐酸</a:t>
            </a:r>
            <a:r>
              <a:rPr lang="en-US" altLang="zh-CN" b="1" dirty="0">
                <a:latin typeface="+mn-ea"/>
                <a:sym typeface="Wingdings" pitchFamily="2" charset="2"/>
              </a:rPr>
              <a:t>/</a:t>
            </a:r>
            <a:r>
              <a:rPr lang="zh-CN" altLang="en-US" b="1" dirty="0">
                <a:latin typeface="+mn-ea"/>
                <a:sym typeface="Wingdings" pitchFamily="2" charset="2"/>
              </a:rPr>
              <a:t>稀硫酸反应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	Fe + 2 </a:t>
            </a:r>
            <a:r>
              <a:rPr lang="en-US" altLang="zh-CN" b="1" dirty="0" err="1">
                <a:latin typeface="+mn-ea"/>
                <a:sym typeface="Wingdings" pitchFamily="2" charset="2"/>
              </a:rPr>
              <a:t>HCl</a:t>
            </a:r>
            <a:r>
              <a:rPr lang="en-US" altLang="zh-CN" b="1" dirty="0">
                <a:latin typeface="+mn-ea"/>
                <a:sym typeface="Wingdings" pitchFamily="2" charset="2"/>
              </a:rPr>
              <a:t> 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	Fe + H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b="1" dirty="0">
                <a:latin typeface="+mn-ea"/>
                <a:sym typeface="Wingdings" pitchFamily="2" charset="2"/>
              </a:rPr>
              <a:t>SO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4</a:t>
            </a:r>
            <a:r>
              <a:rPr lang="en-US" altLang="zh-CN" b="1" dirty="0">
                <a:latin typeface="+mn-ea"/>
                <a:sym typeface="Wingdings" pitchFamily="2" charset="2"/>
              </a:rPr>
              <a:t> 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+mn-ea"/>
                <a:sym typeface="Wingdings" pitchFamily="2" charset="2"/>
              </a:rPr>
              <a:t>离子方程式： 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	Fe(s)+ 2H</a:t>
            </a:r>
            <a:r>
              <a:rPr lang="en-US" altLang="zh-CN" b="1" baseline="30000" dirty="0">
                <a:latin typeface="+mn-ea"/>
                <a:sym typeface="Wingdings" pitchFamily="2" charset="2"/>
              </a:rPr>
              <a:t>+</a:t>
            </a:r>
            <a:r>
              <a:rPr lang="en-US" altLang="zh-CN" b="1" dirty="0">
                <a:latin typeface="+mn-ea"/>
                <a:sym typeface="Wingdings" pitchFamily="2" charset="2"/>
              </a:rPr>
              <a:t>(</a:t>
            </a:r>
            <a:r>
              <a:rPr lang="en-US" altLang="zh-CN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b="1" dirty="0">
                <a:latin typeface="+mn-ea"/>
                <a:sym typeface="Wingdings" pitchFamily="2" charset="2"/>
              </a:rPr>
              <a:t>)  Fe</a:t>
            </a:r>
            <a:r>
              <a:rPr lang="en-US" altLang="zh-CN" b="1" baseline="30000" dirty="0">
                <a:latin typeface="+mn-ea"/>
                <a:sym typeface="Wingdings" pitchFamily="2" charset="2"/>
              </a:rPr>
              <a:t>2+</a:t>
            </a:r>
            <a:r>
              <a:rPr lang="en-US" altLang="zh-CN" b="1" dirty="0">
                <a:latin typeface="+mn-ea"/>
                <a:sym typeface="Wingdings" pitchFamily="2" charset="2"/>
              </a:rPr>
              <a:t>(</a:t>
            </a:r>
            <a:r>
              <a:rPr lang="en-US" altLang="zh-CN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b="1" dirty="0">
                <a:latin typeface="+mn-ea"/>
                <a:sym typeface="Wingdings" pitchFamily="2" charset="2"/>
              </a:rPr>
              <a:t>)+H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b="1" dirty="0">
                <a:latin typeface="+mn-ea"/>
                <a:sym typeface="Wingdings" pitchFamily="2" charset="2"/>
              </a:rPr>
              <a:t>(g)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置换出其他金属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b="1" dirty="0">
                <a:latin typeface="+mn-ea"/>
                <a:sym typeface="Wingdings" pitchFamily="2" charset="2"/>
              </a:rPr>
              <a:t>	</a:t>
            </a:r>
            <a:r>
              <a:rPr lang="en-US" altLang="zh-CN" b="1" dirty="0">
                <a:latin typeface="+mn-ea"/>
                <a:sym typeface="Wingdings" pitchFamily="2" charset="2"/>
              </a:rPr>
              <a:t>Fe + CuSO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4</a:t>
            </a:r>
            <a:r>
              <a:rPr lang="en-US" altLang="zh-CN" b="1" dirty="0">
                <a:latin typeface="+mn-ea"/>
                <a:sym typeface="Wingdings" pitchFamily="2" charset="2"/>
              </a:rPr>
              <a:t>  </a:t>
            </a:r>
            <a:endParaRPr lang="ms-MY" altLang="en-US" b="1" dirty="0"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57800" y="1600200"/>
            <a:ext cx="2468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3A2222"/>
                </a:solidFill>
                <a:latin typeface="+mn-ea"/>
                <a:sym typeface="Wingdings" pitchFamily="2" charset="2"/>
              </a:rPr>
              <a:t>Fe</a:t>
            </a:r>
            <a:r>
              <a:rPr lang="en-US" altLang="zh-CN" sz="3600" b="1" baseline="-25000" dirty="0">
                <a:solidFill>
                  <a:srgbClr val="3A2222"/>
                </a:solidFill>
                <a:latin typeface="+mn-ea"/>
                <a:sym typeface="Wingdings" pitchFamily="2" charset="2"/>
              </a:rPr>
              <a:t>3</a:t>
            </a:r>
            <a:r>
              <a:rPr lang="en-US" altLang="zh-CN" sz="3600" b="1" dirty="0">
                <a:solidFill>
                  <a:srgbClr val="3A2222"/>
                </a:solidFill>
                <a:latin typeface="+mn-ea"/>
                <a:sym typeface="Wingdings" pitchFamily="2" charset="2"/>
              </a:rPr>
              <a:t>O</a:t>
            </a:r>
            <a:r>
              <a:rPr lang="en-US" altLang="zh-CN" sz="3600" b="1" baseline="-25000" dirty="0">
                <a:solidFill>
                  <a:srgbClr val="3A2222"/>
                </a:solidFill>
                <a:latin typeface="+mn-ea"/>
                <a:sym typeface="Wingdings" pitchFamily="2" charset="2"/>
              </a:rPr>
              <a:t>4</a:t>
            </a:r>
            <a:r>
              <a:rPr lang="en-US" altLang="zh-CN" sz="3600" b="1" dirty="0">
                <a:solidFill>
                  <a:srgbClr val="3A2222"/>
                </a:solidFill>
                <a:latin typeface="+mn-ea"/>
                <a:sym typeface="Wingdings" pitchFamily="2" charset="2"/>
              </a:rPr>
              <a:t> + 4 H</a:t>
            </a:r>
            <a:r>
              <a:rPr lang="en-US" altLang="zh-CN" sz="3600" b="1" baseline="-25000" dirty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endParaRPr lang="en-US" sz="3400" b="1" dirty="0">
              <a:solidFill>
                <a:srgbClr val="3A2222"/>
              </a:solidFill>
              <a:latin typeface="+mn-lt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191000" y="1676400"/>
            <a:ext cx="838200" cy="307777"/>
            <a:chOff x="2819400" y="5867400"/>
            <a:chExt cx="838200" cy="307777"/>
          </a:xfrm>
        </p:grpSpPr>
        <p:cxnSp>
          <p:nvCxnSpPr>
            <p:cNvPr id="5" name="Straight Arrow Connector 4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高温</a:t>
              </a:r>
              <a:endParaRPr lang="en-US" sz="1400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267200" y="2782669"/>
            <a:ext cx="2088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3A2222"/>
                </a:solidFill>
                <a:latin typeface="+mn-ea"/>
                <a:sym typeface="Wingdings" pitchFamily="2" charset="2"/>
              </a:rPr>
              <a:t>FeCl</a:t>
            </a:r>
            <a:r>
              <a:rPr lang="en-US" altLang="zh-CN" sz="3600" b="1" baseline="-25000" dirty="0">
                <a:solidFill>
                  <a:srgbClr val="3A2222"/>
                </a:solidFill>
                <a:latin typeface="+mn-ea"/>
                <a:sym typeface="Wingdings" pitchFamily="2" charset="2"/>
              </a:rPr>
              <a:t>2 </a:t>
            </a:r>
            <a:r>
              <a:rPr lang="en-US" altLang="zh-CN" sz="3600" b="1" dirty="0">
                <a:solidFill>
                  <a:srgbClr val="3A2222"/>
                </a:solidFill>
                <a:latin typeface="+mn-ea"/>
                <a:sym typeface="Wingdings" pitchFamily="2" charset="2"/>
              </a:rPr>
              <a:t> + H</a:t>
            </a:r>
            <a:r>
              <a:rPr lang="en-US" altLang="zh-CN" sz="3600" b="1" baseline="-25000" dirty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endParaRPr lang="en-US" sz="3400" b="1" dirty="0">
              <a:solidFill>
                <a:srgbClr val="3A2222"/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67562" y="3468469"/>
            <a:ext cx="22618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3A2222"/>
                </a:solidFill>
                <a:latin typeface="+mn-ea"/>
                <a:sym typeface="Wingdings" pitchFamily="2" charset="2"/>
              </a:rPr>
              <a:t>FeSO</a:t>
            </a:r>
            <a:r>
              <a:rPr lang="en-US" altLang="zh-CN" sz="3600" b="1" baseline="-25000" dirty="0">
                <a:solidFill>
                  <a:srgbClr val="3A2222"/>
                </a:solidFill>
                <a:latin typeface="+mn-ea"/>
                <a:sym typeface="Wingdings" pitchFamily="2" charset="2"/>
              </a:rPr>
              <a:t>4 </a:t>
            </a:r>
            <a:r>
              <a:rPr lang="en-US" altLang="zh-CN" sz="3600" b="1" dirty="0">
                <a:solidFill>
                  <a:srgbClr val="3A2222"/>
                </a:solidFill>
                <a:latin typeface="+mn-ea"/>
                <a:sym typeface="Wingdings" pitchFamily="2" charset="2"/>
              </a:rPr>
              <a:t> + H</a:t>
            </a:r>
            <a:r>
              <a:rPr lang="en-US" altLang="zh-CN" sz="3600" b="1" baseline="-25000" dirty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endParaRPr lang="en-US" sz="3400" b="1" dirty="0">
              <a:solidFill>
                <a:srgbClr val="3A2222"/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0" y="6019800"/>
            <a:ext cx="2306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3A2222"/>
                </a:solidFill>
                <a:latin typeface="+mn-ea"/>
                <a:sym typeface="Wingdings" pitchFamily="2" charset="2"/>
              </a:rPr>
              <a:t>FeSO</a:t>
            </a:r>
            <a:r>
              <a:rPr lang="en-US" altLang="zh-CN" sz="3600" b="1" baseline="-25000" dirty="0">
                <a:solidFill>
                  <a:srgbClr val="3A2222"/>
                </a:solidFill>
                <a:latin typeface="+mn-ea"/>
                <a:sym typeface="Wingdings" pitchFamily="2" charset="2"/>
              </a:rPr>
              <a:t>4 </a:t>
            </a:r>
            <a:r>
              <a:rPr lang="en-US" altLang="zh-CN" sz="3600" b="1" dirty="0">
                <a:solidFill>
                  <a:srgbClr val="3A2222"/>
                </a:solidFill>
                <a:latin typeface="+mn-ea"/>
                <a:sym typeface="Wingdings" pitchFamily="2" charset="2"/>
              </a:rPr>
              <a:t> + Cu</a:t>
            </a:r>
            <a:endParaRPr lang="en-US" sz="3400" b="1" dirty="0">
              <a:solidFill>
                <a:srgbClr val="3A222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12541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  <p:bldP spid="3" grpId="0"/>
      <p:bldP spid="7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458200" cy="64008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4000" b="1" u="sng" dirty="0">
                <a:latin typeface="+mn-ea"/>
              </a:rPr>
              <a:t>思考题</a:t>
            </a:r>
            <a:endParaRPr lang="en-US" altLang="zh-CN" sz="4000" b="1" u="sng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+mn-ea"/>
              </a:rPr>
              <a:t>如何判断</a:t>
            </a:r>
            <a:r>
              <a:rPr lang="en-US" altLang="zh-CN" b="1" dirty="0">
                <a:latin typeface="+mn-ea"/>
              </a:rPr>
              <a:t>Fe</a:t>
            </a:r>
            <a:r>
              <a:rPr lang="zh-CN" altLang="en-US" b="1" dirty="0">
                <a:latin typeface="+mn-ea"/>
              </a:rPr>
              <a:t>反应后是被氧化为</a:t>
            </a:r>
            <a:r>
              <a:rPr lang="en-US" altLang="zh-CN" b="1" dirty="0">
                <a:latin typeface="+mn-ea"/>
              </a:rPr>
              <a:t>Fe</a:t>
            </a:r>
            <a:r>
              <a:rPr lang="en-US" altLang="zh-CN" b="1" baseline="30000" dirty="0">
                <a:latin typeface="+mn-ea"/>
              </a:rPr>
              <a:t>2+</a:t>
            </a:r>
            <a:r>
              <a:rPr lang="en-US" altLang="zh-CN" b="1" dirty="0">
                <a:latin typeface="+mn-ea"/>
              </a:rPr>
              <a:t> </a:t>
            </a:r>
            <a:r>
              <a:rPr lang="zh-CN" altLang="en-US" b="1" dirty="0">
                <a:latin typeface="+mn-ea"/>
              </a:rPr>
              <a:t>还是</a:t>
            </a:r>
            <a:r>
              <a:rPr lang="en-US" altLang="zh-CN" b="1" dirty="0">
                <a:latin typeface="+mn-ea"/>
              </a:rPr>
              <a:t>Fe</a:t>
            </a:r>
            <a:r>
              <a:rPr lang="en-US" altLang="zh-CN" b="1" baseline="30000" dirty="0">
                <a:latin typeface="+mn-ea"/>
              </a:rPr>
              <a:t>3+</a:t>
            </a:r>
            <a:r>
              <a:rPr lang="zh-CN" altLang="en-US" b="1" dirty="0">
                <a:latin typeface="+mn-ea"/>
              </a:rPr>
              <a:t>？ </a:t>
            </a:r>
            <a:endParaRPr lang="en-US" altLang="zh-CN" b="1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</a:rPr>
              <a:t>与较弱的氧化剂反应被氧化为</a:t>
            </a:r>
            <a:r>
              <a:rPr lang="en-US" altLang="zh-CN" b="1" dirty="0">
                <a:latin typeface="+mn-ea"/>
              </a:rPr>
              <a:t>Fe</a:t>
            </a:r>
            <a:r>
              <a:rPr lang="en-US" altLang="zh-CN" b="1" baseline="30000" dirty="0">
                <a:latin typeface="+mn-ea"/>
              </a:rPr>
              <a:t>2+</a:t>
            </a:r>
            <a:r>
              <a:rPr lang="en-US" altLang="zh-CN" b="1" dirty="0">
                <a:latin typeface="+mn-ea"/>
              </a:rPr>
              <a:t> 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</a:rPr>
              <a:t>与较强的氧化剂反应被氧化为</a:t>
            </a:r>
            <a:r>
              <a:rPr lang="en-US" altLang="zh-CN" b="1" dirty="0">
                <a:latin typeface="+mn-ea"/>
              </a:rPr>
              <a:t>Fe</a:t>
            </a:r>
            <a:r>
              <a:rPr lang="en-US" altLang="zh-CN" b="1" baseline="30000" dirty="0">
                <a:latin typeface="+mn-ea"/>
              </a:rPr>
              <a:t>3+</a:t>
            </a:r>
            <a:r>
              <a:rPr lang="en-US" altLang="zh-CN" b="1" dirty="0">
                <a:latin typeface="+mn-ea"/>
              </a:rPr>
              <a:t> 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3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762000" y="0"/>
            <a:ext cx="8077200" cy="6324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16.3.2 </a:t>
            </a:r>
            <a:r>
              <a:rPr lang="zh-CN" altLang="en-US" sz="4000" b="1" u="sng" dirty="0">
                <a:latin typeface="+mn-ea"/>
              </a:rPr>
              <a:t>铁的重要化合物</a:t>
            </a:r>
            <a:endParaRPr lang="en-US" altLang="zh-CN" sz="4000" b="1" u="sng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 err="1">
                <a:latin typeface="+mn-ea"/>
              </a:rPr>
              <a:t>FeO</a:t>
            </a:r>
            <a:r>
              <a:rPr lang="en-US" altLang="zh-CN" b="1" dirty="0">
                <a:latin typeface="+mn-ea"/>
              </a:rPr>
              <a:t>				</a:t>
            </a:r>
            <a:r>
              <a:rPr lang="zh-CN" altLang="en-US" b="1" dirty="0">
                <a:latin typeface="+mn-ea"/>
              </a:rPr>
              <a:t>黑色粉末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>
                <a:latin typeface="+mn-ea"/>
                <a:sym typeface="Wingdings" pitchFamily="2" charset="2"/>
              </a:rPr>
              <a:t>Fe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b="1" dirty="0">
                <a:latin typeface="+mn-ea"/>
                <a:sym typeface="Wingdings" pitchFamily="2" charset="2"/>
              </a:rPr>
              <a:t>O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3				</a:t>
            </a:r>
            <a:r>
              <a:rPr lang="zh-CN" altLang="en-US" b="1" dirty="0">
                <a:latin typeface="+mn-ea"/>
                <a:sym typeface="Wingdings" pitchFamily="2" charset="2"/>
              </a:rPr>
              <a:t>红棕色粉末</a:t>
            </a:r>
            <a:r>
              <a:rPr lang="en-US" altLang="zh-CN" b="1" dirty="0">
                <a:latin typeface="+mn-ea"/>
                <a:sym typeface="Wingdings" pitchFamily="2" charset="2"/>
              </a:rPr>
              <a:t>(</a:t>
            </a:r>
            <a:r>
              <a:rPr lang="zh-CN" altLang="en-US" b="1" dirty="0">
                <a:latin typeface="+mn-ea"/>
                <a:sym typeface="Wingdings" pitchFamily="2" charset="2"/>
              </a:rPr>
              <a:t>铁红</a:t>
            </a:r>
            <a:r>
              <a:rPr lang="en-US" altLang="zh-CN" b="1" dirty="0">
                <a:latin typeface="+mn-ea"/>
                <a:sym typeface="Wingdings" pitchFamily="2" charset="2"/>
              </a:rPr>
              <a:t>)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>
                <a:latin typeface="+mn-ea"/>
                <a:sym typeface="Wingdings" pitchFamily="2" charset="2"/>
              </a:rPr>
              <a:t>Fe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b="1" dirty="0">
                <a:latin typeface="+mn-ea"/>
                <a:sym typeface="Wingdings" pitchFamily="2" charset="2"/>
              </a:rPr>
              <a:t>O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4</a:t>
            </a:r>
            <a:r>
              <a:rPr lang="en-US" altLang="zh-CN" b="1" dirty="0">
                <a:latin typeface="+mn-ea"/>
                <a:sym typeface="Wingdings" pitchFamily="2" charset="2"/>
              </a:rPr>
              <a:t> (</a:t>
            </a:r>
            <a:r>
              <a:rPr lang="en-US" altLang="zh-CN" b="1" dirty="0" err="1">
                <a:latin typeface="+mn-ea"/>
              </a:rPr>
              <a:t>FeO</a:t>
            </a:r>
            <a:r>
              <a:rPr lang="en-US" altLang="zh-CN" b="1" dirty="0">
                <a:latin typeface="+mn-ea"/>
              </a:rPr>
              <a:t> </a:t>
            </a:r>
            <a:r>
              <a:rPr lang="en-US" altLang="zh-CN" b="1" dirty="0">
                <a:latin typeface="+mn-ea"/>
                <a:cs typeface="Times New Roman"/>
              </a:rPr>
              <a:t>∙</a:t>
            </a:r>
            <a:r>
              <a:rPr lang="en-US" altLang="zh-CN" b="1" dirty="0">
                <a:latin typeface="+mn-ea"/>
                <a:sym typeface="Wingdings" pitchFamily="2" charset="2"/>
              </a:rPr>
              <a:t> Fe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b="1" dirty="0">
                <a:latin typeface="+mn-ea"/>
                <a:sym typeface="Wingdings" pitchFamily="2" charset="2"/>
              </a:rPr>
              <a:t>O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b="1" dirty="0">
                <a:latin typeface="+mn-ea"/>
                <a:sym typeface="Wingdings" pitchFamily="2" charset="2"/>
              </a:rPr>
              <a:t>)	</a:t>
            </a:r>
            <a:r>
              <a:rPr lang="zh-CN" altLang="en-US" b="1" dirty="0">
                <a:latin typeface="+mn-ea"/>
                <a:sym typeface="Wingdings" pitchFamily="2" charset="2"/>
              </a:rPr>
              <a:t>黑色有磁性的晶体</a:t>
            </a:r>
            <a:endParaRPr lang="en-MY" altLang="zh-CN" b="1" dirty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这三种铁的氧化物皆不溶于水，不与水起反应。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加热</a:t>
            </a:r>
            <a:r>
              <a:rPr lang="en-US" altLang="zh-CN" b="1" dirty="0" err="1">
                <a:latin typeface="+mn-ea"/>
                <a:sym typeface="Wingdings" pitchFamily="2" charset="2"/>
              </a:rPr>
              <a:t>FeO</a:t>
            </a:r>
            <a:r>
              <a:rPr lang="zh-CN" altLang="en-US" b="1" dirty="0">
                <a:latin typeface="+mn-ea"/>
                <a:sym typeface="Wingdings" pitchFamily="2" charset="2"/>
              </a:rPr>
              <a:t>或</a:t>
            </a:r>
            <a:r>
              <a:rPr lang="en-US" altLang="zh-CN" b="1" dirty="0">
                <a:latin typeface="+mn-ea"/>
                <a:sym typeface="Wingdings" pitchFamily="2" charset="2"/>
              </a:rPr>
              <a:t>Fe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b="1" dirty="0">
                <a:latin typeface="+mn-ea"/>
                <a:sym typeface="Wingdings" pitchFamily="2" charset="2"/>
              </a:rPr>
              <a:t>O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b="1" dirty="0">
                <a:latin typeface="+mn-ea"/>
                <a:sym typeface="Wingdings" pitchFamily="2" charset="2"/>
              </a:rPr>
              <a:t> </a:t>
            </a:r>
            <a:r>
              <a:rPr lang="zh-CN" altLang="en-US" b="1" dirty="0">
                <a:latin typeface="+mn-ea"/>
                <a:sym typeface="Wingdings" pitchFamily="2" charset="2"/>
              </a:rPr>
              <a:t>都能得到</a:t>
            </a:r>
            <a:r>
              <a:rPr lang="en-US" altLang="zh-CN" b="1" dirty="0">
                <a:latin typeface="+mn-ea"/>
                <a:sym typeface="Wingdings" pitchFamily="2" charset="2"/>
              </a:rPr>
              <a:t>Fe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b="1" dirty="0">
                <a:latin typeface="+mn-ea"/>
                <a:sym typeface="Wingdings" pitchFamily="2" charset="2"/>
              </a:rPr>
              <a:t>O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4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zh-CN" sz="2800" b="1" dirty="0">
              <a:latin typeface="+mn-e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7747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76200"/>
            <a:ext cx="8382000" cy="5211763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Fe(OH)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b="1" dirty="0">
                <a:latin typeface="+mn-ea"/>
                <a:sym typeface="Wingdings" pitchFamily="2" charset="2"/>
              </a:rPr>
              <a:t> </a:t>
            </a:r>
            <a:r>
              <a:rPr lang="en-US" altLang="zh-CN" sz="2400" b="1" dirty="0">
                <a:latin typeface="+mn-ea"/>
                <a:sym typeface="Wingdings" pitchFamily="2" charset="2"/>
              </a:rPr>
              <a:t>	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3000" b="1" dirty="0">
                <a:latin typeface="+mn-ea"/>
                <a:sym typeface="Wingdings" pitchFamily="2" charset="2"/>
              </a:rPr>
              <a:t>红棕色粉末、难溶于水</a:t>
            </a:r>
            <a:endParaRPr lang="en-US" altLang="zh-CN" sz="3000" b="1" dirty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3000" b="1" dirty="0">
                <a:latin typeface="+mn-ea"/>
                <a:sym typeface="Wingdings" pitchFamily="2" charset="2"/>
              </a:rPr>
              <a:t>制取：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FeCl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+ 3 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NaOH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 Fe(OH)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+ 3 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NaCl</a:t>
            </a:r>
            <a:endParaRPr lang="en-US" altLang="zh-CN" sz="3000" b="1" dirty="0">
              <a:latin typeface="+mn-ea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CN" sz="2600" b="1" dirty="0">
                <a:latin typeface="+mn-ea"/>
                <a:sym typeface="Wingdings" pitchFamily="2" charset="2"/>
              </a:rPr>
              <a:t>Fe</a:t>
            </a:r>
            <a:r>
              <a:rPr lang="en-US" altLang="zh-CN" sz="2600" b="1" baseline="30000" dirty="0">
                <a:latin typeface="+mn-ea"/>
                <a:sym typeface="Wingdings" pitchFamily="2" charset="2"/>
              </a:rPr>
              <a:t>3+</a:t>
            </a:r>
            <a:r>
              <a:rPr lang="en-US" altLang="zh-CN" sz="2600" b="1" dirty="0">
                <a:latin typeface="+mn-ea"/>
                <a:sym typeface="Wingdings" pitchFamily="2" charset="2"/>
              </a:rPr>
              <a:t> </a:t>
            </a:r>
            <a:r>
              <a:rPr lang="zh-CN" altLang="en-US" sz="2600" b="1" dirty="0">
                <a:latin typeface="+mn-ea"/>
                <a:sym typeface="Wingdings" pitchFamily="2" charset="2"/>
              </a:rPr>
              <a:t>的溶液与强碱</a:t>
            </a:r>
            <a:endParaRPr lang="en-US" altLang="zh-CN" sz="2600" b="1" dirty="0">
              <a:latin typeface="+mn-ea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2600" b="1" dirty="0">
                <a:latin typeface="+mn-ea"/>
                <a:sym typeface="Wingdings" pitchFamily="2" charset="2"/>
              </a:rPr>
              <a:t>现象：生成红褐色絮状沉淀物</a:t>
            </a:r>
            <a:endParaRPr lang="en-US" altLang="zh-CN" sz="2600" b="1" dirty="0">
              <a:latin typeface="+mn-ea"/>
              <a:sym typeface="Wingdings" pitchFamily="2" charset="2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3000" b="1" dirty="0">
                <a:latin typeface="+mn-ea"/>
                <a:sym typeface="Wingdings" pitchFamily="2" charset="2"/>
              </a:rPr>
              <a:t>离子方程式：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Fe</a:t>
            </a:r>
            <a:r>
              <a:rPr lang="en-US" altLang="zh-CN" sz="3000" b="1" baseline="30000" dirty="0">
                <a:latin typeface="+mn-ea"/>
                <a:sym typeface="Wingdings" pitchFamily="2" charset="2"/>
              </a:rPr>
              <a:t>3+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(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)+3OH</a:t>
            </a:r>
            <a:r>
              <a:rPr lang="en-US" altLang="zh-CN" sz="3000" b="1" baseline="30000" dirty="0">
                <a:latin typeface="+mn-ea"/>
                <a:sym typeface="Wingdings" pitchFamily="2" charset="2"/>
              </a:rPr>
              <a:t>-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(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) Fe(OH)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(s)</a:t>
            </a:r>
          </a:p>
          <a:p>
            <a:pPr>
              <a:buFont typeface="Wingdings" pitchFamily="2" charset="2"/>
              <a:buChar char="Ø"/>
            </a:pPr>
            <a:endParaRPr lang="en-MY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819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0"/>
            <a:ext cx="8382000" cy="5867400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Fe(OH)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>
                <a:latin typeface="+mn-ea"/>
                <a:sym typeface="Wingdings" pitchFamily="2" charset="2"/>
              </a:rPr>
              <a:t> 	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3000" b="1" dirty="0">
                <a:latin typeface="+mn-ea"/>
                <a:sym typeface="Wingdings" pitchFamily="2" charset="2"/>
              </a:rPr>
              <a:t>绿色粉末、难溶于水</a:t>
            </a:r>
            <a:endParaRPr lang="en-US" altLang="zh-CN" sz="3000" b="1" dirty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3000" b="1" dirty="0">
                <a:latin typeface="+mn-ea"/>
                <a:sym typeface="Wingdings" pitchFamily="2" charset="2"/>
              </a:rPr>
              <a:t>制取：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FeCl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+ 2 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NaOH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 Fe(OH)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+ 2 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NaCl</a:t>
            </a:r>
            <a:endParaRPr lang="en-US" altLang="zh-CN" sz="3000" b="1" dirty="0">
              <a:latin typeface="+mn-ea"/>
              <a:sym typeface="Wingdings" pitchFamily="2" charset="2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CN" sz="2600" b="1" dirty="0">
                <a:latin typeface="+mn-ea"/>
                <a:sym typeface="Wingdings" pitchFamily="2" charset="2"/>
              </a:rPr>
              <a:t>Fe</a:t>
            </a:r>
            <a:r>
              <a:rPr lang="en-US" altLang="zh-CN" sz="2600" b="1" baseline="30000" dirty="0">
                <a:latin typeface="+mn-ea"/>
                <a:sym typeface="Wingdings" pitchFamily="2" charset="2"/>
              </a:rPr>
              <a:t>2+</a:t>
            </a:r>
            <a:r>
              <a:rPr lang="en-US" altLang="zh-CN" sz="2600" b="1" dirty="0">
                <a:latin typeface="+mn-ea"/>
                <a:sym typeface="Wingdings" pitchFamily="2" charset="2"/>
              </a:rPr>
              <a:t> </a:t>
            </a:r>
            <a:r>
              <a:rPr lang="zh-CN" altLang="en-US" sz="2600" b="1" dirty="0">
                <a:latin typeface="+mn-ea"/>
                <a:sym typeface="Wingdings" pitchFamily="2" charset="2"/>
              </a:rPr>
              <a:t>的溶液与强碱</a:t>
            </a:r>
            <a:endParaRPr lang="en-US" altLang="zh-CN" sz="2600" b="1" dirty="0">
              <a:latin typeface="+mn-ea"/>
              <a:sym typeface="Wingdings" pitchFamily="2" charset="2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2600" b="1" dirty="0">
                <a:latin typeface="+mn-ea"/>
                <a:sym typeface="Wingdings" pitchFamily="2" charset="2"/>
              </a:rPr>
              <a:t>现象：生成灰绿色絮状沉淀物，最终会变成红褐色沉淀</a:t>
            </a:r>
            <a:endParaRPr lang="en-US" altLang="zh-CN" sz="2600" b="1" dirty="0">
              <a:latin typeface="+mn-ea"/>
              <a:ea typeface="+mn-ea"/>
              <a:sym typeface="Wingdings" pitchFamily="2" charset="2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000" b="1" dirty="0">
                <a:latin typeface="+mn-ea"/>
                <a:sym typeface="Wingdings" pitchFamily="2" charset="2"/>
              </a:rPr>
              <a:t>   </a:t>
            </a:r>
            <a:r>
              <a:rPr lang="zh-CN" altLang="en-US" sz="3000" b="1" dirty="0">
                <a:latin typeface="+mn-ea"/>
                <a:sym typeface="Wingdings" pitchFamily="2" charset="2"/>
              </a:rPr>
              <a:t>离子方程式：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Fe</a:t>
            </a:r>
            <a:r>
              <a:rPr lang="en-US" altLang="zh-CN" sz="3000" b="1" baseline="30000" dirty="0">
                <a:latin typeface="+mn-ea"/>
                <a:sym typeface="Wingdings" pitchFamily="2" charset="2"/>
              </a:rPr>
              <a:t>2+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(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)+2OH</a:t>
            </a:r>
            <a:r>
              <a:rPr lang="en-US" altLang="zh-CN" sz="3000" b="1" baseline="30000" dirty="0">
                <a:latin typeface="+mn-ea"/>
                <a:sym typeface="Wingdings" pitchFamily="2" charset="2"/>
              </a:rPr>
              <a:t>-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(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)Fe(OH)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(s)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3000" b="1" dirty="0">
                <a:latin typeface="+mn-ea"/>
                <a:sym typeface="Wingdings" pitchFamily="2" charset="2"/>
              </a:rPr>
              <a:t>不稳定易被氧化为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Fe(OH)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</a:t>
            </a:r>
          </a:p>
          <a:p>
            <a:pPr marL="45720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000" b="1" dirty="0">
                <a:latin typeface="+mn-ea"/>
                <a:ea typeface="+mn-ea"/>
                <a:sym typeface="Wingdings" pitchFamily="2" charset="2"/>
              </a:rPr>
              <a:t>  4 Fe(OH)</a:t>
            </a:r>
            <a:r>
              <a:rPr lang="en-US" altLang="zh-CN" sz="3000" b="1" baseline="-25000" dirty="0">
                <a:latin typeface="+mn-ea"/>
                <a:ea typeface="+mn-ea"/>
                <a:sym typeface="Wingdings" pitchFamily="2" charset="2"/>
              </a:rPr>
              <a:t>2</a:t>
            </a:r>
            <a:r>
              <a:rPr lang="en-US" altLang="zh-CN" sz="3000" b="1" dirty="0">
                <a:latin typeface="+mn-ea"/>
                <a:ea typeface="+mn-ea"/>
                <a:sym typeface="Wingdings" pitchFamily="2" charset="2"/>
              </a:rPr>
              <a:t> + O</a:t>
            </a:r>
            <a:r>
              <a:rPr lang="en-US" altLang="zh-CN" sz="3000" b="1" baseline="-25000" dirty="0">
                <a:latin typeface="+mn-ea"/>
                <a:ea typeface="+mn-ea"/>
                <a:sym typeface="Wingdings" pitchFamily="2" charset="2"/>
              </a:rPr>
              <a:t>2</a:t>
            </a:r>
            <a:r>
              <a:rPr lang="en-US" altLang="zh-CN" sz="3000" b="1" dirty="0">
                <a:latin typeface="+mn-ea"/>
                <a:ea typeface="+mn-ea"/>
                <a:sym typeface="Wingdings" pitchFamily="2" charset="2"/>
              </a:rPr>
              <a:t> + 2 H</a:t>
            </a:r>
            <a:r>
              <a:rPr lang="en-US" altLang="zh-CN" sz="3000" b="1" baseline="-25000" dirty="0">
                <a:latin typeface="+mn-ea"/>
                <a:ea typeface="+mn-ea"/>
                <a:sym typeface="Wingdings" pitchFamily="2" charset="2"/>
              </a:rPr>
              <a:t>2</a:t>
            </a:r>
            <a:r>
              <a:rPr lang="en-US" altLang="zh-CN" sz="3000" b="1" dirty="0">
                <a:latin typeface="+mn-ea"/>
                <a:ea typeface="+mn-ea"/>
                <a:sym typeface="Wingdings" pitchFamily="2" charset="2"/>
              </a:rPr>
              <a:t>O  4 Fe(OH)</a:t>
            </a:r>
            <a:r>
              <a:rPr lang="en-US" altLang="zh-CN" sz="3000" b="1" baseline="-25000" dirty="0">
                <a:latin typeface="+mn-ea"/>
                <a:ea typeface="+mn-ea"/>
                <a:sym typeface="Wingdings" pitchFamily="2" charset="2"/>
              </a:rPr>
              <a:t>3</a:t>
            </a:r>
            <a:r>
              <a:rPr lang="en-US" altLang="zh-CN" sz="3000" b="1" dirty="0">
                <a:latin typeface="+mn-ea"/>
                <a:ea typeface="+mn-ea"/>
                <a:sym typeface="Wingdings" pitchFamily="2" charset="2"/>
              </a:rPr>
              <a:t>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sz="2400" b="1" dirty="0">
              <a:latin typeface="+mn-ea"/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sz="2400" b="1" dirty="0">
              <a:latin typeface="+mn-ea"/>
              <a:sym typeface="Wingdings" pitchFamily="2" charset="2"/>
            </a:endParaRPr>
          </a:p>
          <a:p>
            <a:endParaRPr lang="en-MY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254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0"/>
            <a:ext cx="8763000" cy="6553200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altLang="zh-CN" sz="3000" b="1" dirty="0">
                <a:latin typeface="+mn-ea"/>
              </a:rPr>
              <a:t>	</a:t>
            </a:r>
            <a:r>
              <a:rPr lang="zh-CN" altLang="en-US" sz="3000" b="1" dirty="0">
                <a:latin typeface="+mn-ea"/>
              </a:rPr>
              <a:t>活动</a:t>
            </a:r>
            <a:r>
              <a:rPr lang="en-US" altLang="zh-CN" sz="3000" b="1" dirty="0">
                <a:latin typeface="+mn-ea"/>
              </a:rPr>
              <a:t>5</a:t>
            </a:r>
          </a:p>
          <a:p>
            <a:pPr>
              <a:lnSpc>
                <a:spcPct val="150000"/>
              </a:lnSpc>
            </a:pPr>
            <a:r>
              <a:rPr lang="en-US" altLang="zh-CN" sz="3000" b="1" dirty="0">
                <a:latin typeface="+mn-ea"/>
              </a:rPr>
              <a:t>Fe</a:t>
            </a:r>
            <a:r>
              <a:rPr lang="en-US" altLang="zh-CN" sz="3000" b="1" baseline="30000" dirty="0">
                <a:latin typeface="+mn-ea"/>
              </a:rPr>
              <a:t>2+  </a:t>
            </a:r>
            <a:r>
              <a:rPr lang="en-US" altLang="zh-CN" sz="3000" b="1" dirty="0">
                <a:latin typeface="+mn-ea"/>
              </a:rPr>
              <a:t> 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 Fe</a:t>
            </a:r>
            <a:r>
              <a:rPr lang="en-US" altLang="zh-CN" sz="3000" b="1" baseline="30000" dirty="0">
                <a:latin typeface="+mn-ea"/>
                <a:sym typeface="Wingdings" pitchFamily="2" charset="2"/>
              </a:rPr>
              <a:t>3+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</a:t>
            </a:r>
            <a:r>
              <a:rPr lang="zh-CN" altLang="en-US" sz="3000" b="1" dirty="0">
                <a:latin typeface="+mn-ea"/>
                <a:sym typeface="Wingdings" pitchFamily="2" charset="2"/>
              </a:rPr>
              <a:t>，需加入氧化剂</a:t>
            </a:r>
            <a:endParaRPr lang="en-US" altLang="zh-CN" sz="3000" b="1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000" b="1" dirty="0">
                <a:latin typeface="+mn-ea"/>
              </a:rPr>
              <a:t>   	2Fe</a:t>
            </a:r>
            <a:r>
              <a:rPr lang="en-US" altLang="zh-CN" sz="3000" b="1" baseline="30000" dirty="0">
                <a:latin typeface="+mn-ea"/>
              </a:rPr>
              <a:t>2+</a:t>
            </a:r>
            <a:r>
              <a:rPr lang="en-US" altLang="zh-CN" sz="3000" b="1" dirty="0">
                <a:latin typeface="+mn-ea"/>
              </a:rPr>
              <a:t>(</a:t>
            </a:r>
            <a:r>
              <a:rPr lang="en-US" altLang="zh-CN" sz="3000" b="1" dirty="0" err="1">
                <a:latin typeface="+mn-ea"/>
              </a:rPr>
              <a:t>aq</a:t>
            </a:r>
            <a:r>
              <a:rPr lang="en-US" altLang="zh-CN" sz="3000" b="1" dirty="0">
                <a:latin typeface="+mn-ea"/>
              </a:rPr>
              <a:t>) +</a:t>
            </a:r>
            <a:r>
              <a:rPr lang="en-US" altLang="zh-CN" sz="3000" b="1" dirty="0">
                <a:solidFill>
                  <a:srgbClr val="C00000"/>
                </a:solidFill>
                <a:latin typeface="+mn-ea"/>
              </a:rPr>
              <a:t>Cl</a:t>
            </a:r>
            <a:r>
              <a:rPr lang="en-US" altLang="zh-CN" sz="3000" b="1" baseline="-25000" dirty="0">
                <a:solidFill>
                  <a:srgbClr val="C00000"/>
                </a:solidFill>
                <a:latin typeface="+mn-ea"/>
              </a:rPr>
              <a:t>2</a:t>
            </a:r>
            <a:r>
              <a:rPr lang="en-US" altLang="zh-CN" sz="3000" b="1" dirty="0">
                <a:latin typeface="+mn-ea"/>
              </a:rPr>
              <a:t>(g)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 2Fe</a:t>
            </a:r>
            <a:r>
              <a:rPr lang="en-US" altLang="zh-CN" sz="3000" b="1" baseline="30000" dirty="0">
                <a:latin typeface="+mn-ea"/>
                <a:sym typeface="Wingdings" pitchFamily="2" charset="2"/>
              </a:rPr>
              <a:t>3+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(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)+2Cl</a:t>
            </a:r>
            <a:r>
              <a:rPr lang="en-US" altLang="zh-CN" sz="3000" b="1" baseline="30000" dirty="0">
                <a:latin typeface="+mn-ea"/>
                <a:sym typeface="Wingdings" pitchFamily="2" charset="2"/>
              </a:rPr>
              <a:t>-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(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)</a:t>
            </a:r>
            <a:r>
              <a:rPr lang="en-US" altLang="zh-CN" sz="3000" b="1" dirty="0">
                <a:latin typeface="+mn-ea"/>
              </a:rPr>
              <a:t> </a:t>
            </a:r>
          </a:p>
          <a:p>
            <a:pPr marL="0" indent="0">
              <a:buNone/>
            </a:pPr>
            <a:r>
              <a:rPr lang="en-US" altLang="zh-CN" sz="3000" b="1" dirty="0">
                <a:latin typeface="+mn-ea"/>
              </a:rPr>
              <a:t>   </a:t>
            </a:r>
            <a:r>
              <a:rPr lang="zh-CN" altLang="en-US" sz="3000" b="1" dirty="0">
                <a:latin typeface="+mn-ea"/>
              </a:rPr>
              <a:t>例：</a:t>
            </a:r>
            <a:r>
              <a:rPr lang="en-US" altLang="zh-CN" sz="3000" b="1" dirty="0">
                <a:latin typeface="+mn-ea"/>
              </a:rPr>
              <a:t>	2FeCl</a:t>
            </a:r>
            <a:r>
              <a:rPr lang="en-US" altLang="zh-CN" sz="3000" b="1" baseline="-25000" dirty="0">
                <a:latin typeface="+mn-ea"/>
              </a:rPr>
              <a:t>2 </a:t>
            </a:r>
            <a:r>
              <a:rPr lang="en-US" altLang="zh-CN" sz="3000" b="1" dirty="0">
                <a:latin typeface="+mn-ea"/>
              </a:rPr>
              <a:t> + Cl</a:t>
            </a:r>
            <a:r>
              <a:rPr lang="en-US" altLang="zh-CN" sz="3000" b="1" baseline="-25000" dirty="0">
                <a:latin typeface="+mn-ea"/>
              </a:rPr>
              <a:t>2</a:t>
            </a:r>
            <a:r>
              <a:rPr lang="en-US" altLang="zh-CN" sz="3000" b="1" dirty="0">
                <a:latin typeface="+mn-ea"/>
              </a:rPr>
              <a:t> 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 2 FeCl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</a:t>
            </a:r>
          </a:p>
          <a:p>
            <a:pPr marL="0" indent="0">
              <a:buNone/>
            </a:pPr>
            <a:r>
              <a:rPr lang="en-US" altLang="zh-CN" sz="3000" b="1" dirty="0">
                <a:latin typeface="+mn-ea"/>
                <a:sym typeface="Wingdings" pitchFamily="2" charset="2"/>
              </a:rPr>
              <a:t>	6 FeSO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4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+ 3 Cl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 2 Fe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(SO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4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)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+ 2 FeCl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3</a:t>
            </a:r>
            <a:endParaRPr lang="en-US" altLang="zh-CN" sz="30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+mn-ea"/>
              </a:rPr>
              <a:t>Fe</a:t>
            </a:r>
            <a:r>
              <a:rPr lang="en-US" altLang="zh-CN" sz="3000" b="1" baseline="30000" dirty="0">
                <a:latin typeface="+mn-ea"/>
              </a:rPr>
              <a:t>3</a:t>
            </a:r>
            <a:r>
              <a:rPr lang="en-US" sz="3000" b="1" baseline="30000" dirty="0">
                <a:latin typeface="+mn-ea"/>
              </a:rPr>
              <a:t>+</a:t>
            </a:r>
            <a:r>
              <a:rPr lang="en-US" altLang="zh-CN" sz="3000" b="1" baseline="30000" dirty="0">
                <a:latin typeface="+mn-ea"/>
              </a:rPr>
              <a:t> </a:t>
            </a:r>
            <a:r>
              <a:rPr lang="en-US" altLang="zh-CN" sz="3000" b="1" dirty="0">
                <a:latin typeface="+mn-ea"/>
              </a:rPr>
              <a:t> 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 Fe</a:t>
            </a:r>
            <a:r>
              <a:rPr lang="en-US" altLang="zh-CN" sz="3000" b="1" baseline="30000" dirty="0">
                <a:latin typeface="+mn-ea"/>
                <a:sym typeface="Wingdings" pitchFamily="2" charset="2"/>
              </a:rPr>
              <a:t>2+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</a:t>
            </a:r>
            <a:r>
              <a:rPr lang="zh-CN" altLang="en-US" sz="3000" b="1" dirty="0">
                <a:latin typeface="+mn-ea"/>
                <a:sym typeface="Wingdings" pitchFamily="2" charset="2"/>
              </a:rPr>
              <a:t>，需加入还原剂</a:t>
            </a:r>
            <a:endParaRPr lang="en-US" altLang="zh-CN" sz="3000" b="1" dirty="0">
              <a:latin typeface="+mn-ea"/>
            </a:endParaRPr>
          </a:p>
          <a:p>
            <a:pPr marL="0" indent="0">
              <a:buNone/>
            </a:pPr>
            <a:r>
              <a:rPr lang="en-US" altLang="zh-CN" sz="3000" b="1" dirty="0">
                <a:latin typeface="+mn-ea"/>
              </a:rPr>
              <a:t>	2 Fe</a:t>
            </a:r>
            <a:r>
              <a:rPr lang="en-US" altLang="zh-CN" sz="3000" b="1" baseline="30000" dirty="0">
                <a:latin typeface="+mn-ea"/>
              </a:rPr>
              <a:t>3+</a:t>
            </a:r>
            <a:r>
              <a:rPr lang="en-US" altLang="zh-CN" sz="3000" b="1" dirty="0">
                <a:latin typeface="+mn-ea"/>
              </a:rPr>
              <a:t> (</a:t>
            </a:r>
            <a:r>
              <a:rPr lang="en-US" altLang="zh-CN" sz="3000" b="1" dirty="0" err="1">
                <a:latin typeface="+mn-ea"/>
              </a:rPr>
              <a:t>aq</a:t>
            </a:r>
            <a:r>
              <a:rPr lang="en-US" altLang="zh-CN" sz="3000" b="1" dirty="0">
                <a:latin typeface="+mn-ea"/>
              </a:rPr>
              <a:t>) + </a:t>
            </a:r>
            <a:r>
              <a:rPr lang="en-US" altLang="zh-CN" sz="3000" b="1" dirty="0">
                <a:solidFill>
                  <a:srgbClr val="C00000"/>
                </a:solidFill>
                <a:latin typeface="+mn-ea"/>
              </a:rPr>
              <a:t>Fe</a:t>
            </a:r>
            <a:r>
              <a:rPr lang="en-US" altLang="zh-CN" sz="3000" b="1" dirty="0">
                <a:latin typeface="+mn-ea"/>
              </a:rPr>
              <a:t>(s) 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 3 Fe</a:t>
            </a:r>
            <a:r>
              <a:rPr lang="en-US" altLang="zh-CN" sz="3000" b="1" baseline="30000" dirty="0">
                <a:latin typeface="+mn-ea"/>
                <a:sym typeface="Wingdings" pitchFamily="2" charset="2"/>
              </a:rPr>
              <a:t>2+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(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)</a:t>
            </a:r>
          </a:p>
          <a:p>
            <a:pPr marL="0" indent="0">
              <a:buNone/>
            </a:pPr>
            <a:r>
              <a:rPr lang="en-US" altLang="zh-CN" sz="2400" b="1" dirty="0">
                <a:latin typeface="+mn-ea"/>
              </a:rPr>
              <a:t>(</a:t>
            </a:r>
            <a:r>
              <a:rPr lang="zh-CN" altLang="en-US" sz="2400" b="1" dirty="0">
                <a:latin typeface="+mn-ea"/>
              </a:rPr>
              <a:t>活动</a:t>
            </a:r>
            <a:r>
              <a:rPr lang="en-US" altLang="zh-CN" sz="2400" b="1" dirty="0">
                <a:latin typeface="+mn-ea"/>
              </a:rPr>
              <a:t>6)  </a:t>
            </a:r>
            <a:r>
              <a:rPr lang="en-US" altLang="zh-CN" sz="3000" b="1" dirty="0">
                <a:latin typeface="+mn-ea"/>
              </a:rPr>
              <a:t>2Fe</a:t>
            </a:r>
            <a:r>
              <a:rPr lang="en-US" altLang="zh-CN" sz="3000" b="1" baseline="30000" dirty="0">
                <a:latin typeface="+mn-ea"/>
              </a:rPr>
              <a:t>3+</a:t>
            </a:r>
            <a:r>
              <a:rPr lang="en-US" altLang="zh-CN" sz="3000" b="1" dirty="0">
                <a:latin typeface="+mn-ea"/>
              </a:rPr>
              <a:t>(</a:t>
            </a:r>
            <a:r>
              <a:rPr lang="en-US" altLang="zh-CN" sz="3000" b="1" dirty="0" err="1">
                <a:latin typeface="+mn-ea"/>
              </a:rPr>
              <a:t>aq</a:t>
            </a:r>
            <a:r>
              <a:rPr lang="en-US" altLang="zh-CN" sz="3000" b="1" dirty="0">
                <a:latin typeface="+mn-ea"/>
              </a:rPr>
              <a:t>) + Cu(s) 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 2Fe</a:t>
            </a:r>
            <a:r>
              <a:rPr lang="en-US" altLang="zh-CN" sz="3000" b="1" baseline="30000" dirty="0">
                <a:latin typeface="+mn-ea"/>
                <a:sym typeface="Wingdings" pitchFamily="2" charset="2"/>
              </a:rPr>
              <a:t>2+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(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) + Cu</a:t>
            </a:r>
            <a:r>
              <a:rPr lang="en-US" altLang="zh-CN" sz="3000" b="1" baseline="30000" dirty="0">
                <a:latin typeface="+mn-ea"/>
                <a:sym typeface="Wingdings" pitchFamily="2" charset="2"/>
              </a:rPr>
              <a:t>2+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(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)</a:t>
            </a:r>
          </a:p>
          <a:p>
            <a:pPr marL="400050" lvl="1" indent="0"/>
            <a:r>
              <a:rPr lang="zh-CN" altLang="en-US" sz="2600" b="1" dirty="0">
                <a:latin typeface="+mn-ea"/>
                <a:sym typeface="Wingdings" pitchFamily="2" charset="2"/>
              </a:rPr>
              <a:t>现象</a:t>
            </a:r>
            <a:r>
              <a:rPr lang="en-US" altLang="zh-CN" sz="2600" b="1" dirty="0">
                <a:latin typeface="+mn-ea"/>
                <a:sym typeface="Wingdings" pitchFamily="2" charset="2"/>
              </a:rPr>
              <a:t>:</a:t>
            </a:r>
            <a:r>
              <a:rPr lang="zh-CN" altLang="en-US" sz="2600" b="1" dirty="0">
                <a:latin typeface="+mn-ea"/>
                <a:sym typeface="Wingdings" pitchFamily="2" charset="2"/>
              </a:rPr>
              <a:t>铜片被腐蚀，出现一个“</a:t>
            </a:r>
            <a:r>
              <a:rPr lang="en-US" altLang="zh-CN" sz="2600" b="1" dirty="0">
                <a:latin typeface="+mn-ea"/>
                <a:sym typeface="Wingdings" pitchFamily="2" charset="2"/>
              </a:rPr>
              <a:t>+</a:t>
            </a:r>
            <a:r>
              <a:rPr lang="zh-CN" altLang="en-US" sz="2600" b="1" dirty="0">
                <a:latin typeface="+mn-ea"/>
                <a:sym typeface="Wingdings" pitchFamily="2" charset="2"/>
              </a:rPr>
              <a:t>”字，烧杯中溶液变蓝色</a:t>
            </a:r>
            <a:endParaRPr lang="en-US" altLang="zh-CN" sz="2600" b="1" dirty="0">
              <a:latin typeface="+mn-ea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3000" b="1" dirty="0">
                <a:latin typeface="+mn-ea"/>
              </a:rPr>
              <a:t>  保存含</a:t>
            </a:r>
            <a:r>
              <a:rPr lang="en-US" altLang="zh-CN" sz="3000" b="1" dirty="0">
                <a:latin typeface="+mn-ea"/>
              </a:rPr>
              <a:t>Fe</a:t>
            </a:r>
            <a:r>
              <a:rPr lang="en-US" altLang="zh-CN" sz="3000" b="1" baseline="30000" dirty="0">
                <a:latin typeface="+mn-ea"/>
              </a:rPr>
              <a:t>2+</a:t>
            </a:r>
            <a:r>
              <a:rPr lang="en-US" altLang="zh-CN" sz="3000" b="1" dirty="0">
                <a:latin typeface="+mn-ea"/>
              </a:rPr>
              <a:t> </a:t>
            </a:r>
            <a:r>
              <a:rPr lang="zh-CN" altLang="en-US" sz="3000" b="1" dirty="0">
                <a:latin typeface="+mn-ea"/>
              </a:rPr>
              <a:t>的溶液，在溶液中加入少量铁粉。</a:t>
            </a:r>
            <a:endParaRPr lang="en-US" altLang="zh-CN" sz="3000" b="1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3000" b="1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3000" b="1" dirty="0">
              <a:latin typeface="+mn-ea"/>
              <a:sym typeface="Wingdings" pitchFamily="2" charset="2"/>
            </a:endParaRPr>
          </a:p>
          <a:p>
            <a:pPr marL="0" indent="0">
              <a:lnSpc>
                <a:spcPct val="150000"/>
              </a:lnSpc>
              <a:buNone/>
            </a:pPr>
            <a:endParaRPr lang="en-MY" sz="3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1848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884237"/>
            <a:ext cx="8229600" cy="5135563"/>
          </a:xfrm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000" b="1" dirty="0">
                <a:latin typeface="+mn-ea"/>
                <a:sym typeface="Wingdings" pitchFamily="2" charset="2"/>
              </a:rPr>
              <a:t>FeSO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4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</a:t>
            </a:r>
            <a:r>
              <a:rPr lang="en-US" altLang="zh-CN" sz="3000" b="1" dirty="0">
                <a:latin typeface="+mn-ea"/>
                <a:cs typeface="Times New Roman"/>
              </a:rPr>
              <a:t>∙ 7 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H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O	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3000" b="1" dirty="0">
                <a:latin typeface="+mn-ea"/>
                <a:sym typeface="Wingdings" pitchFamily="2" charset="2"/>
              </a:rPr>
              <a:t>俗称绿矾、可溶于水</a:t>
            </a:r>
            <a:endParaRPr lang="en-US" altLang="zh-CN" sz="3000" b="1" dirty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3000" b="1" dirty="0">
                <a:latin typeface="+mn-ea"/>
                <a:sym typeface="Wingdings" pitchFamily="2" charset="2"/>
              </a:rPr>
              <a:t>用途：杀虫杀菌剂、防腐剂、颜料、媒染剂</a:t>
            </a:r>
            <a:endParaRPr lang="en-US" altLang="zh-CN" sz="3000" b="1" dirty="0">
              <a:latin typeface="+mn-ea"/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sz="3000" b="1" dirty="0">
              <a:latin typeface="+mn-ea"/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000" b="1" dirty="0">
                <a:latin typeface="+mn-ea"/>
                <a:sym typeface="Wingdings" pitchFamily="2" charset="2"/>
              </a:rPr>
              <a:t>FeCl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	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3000" b="1" dirty="0">
                <a:latin typeface="+mn-ea"/>
                <a:sym typeface="Wingdings" pitchFamily="2" charset="2"/>
              </a:rPr>
              <a:t>棕褐色固体可溶于水</a:t>
            </a:r>
            <a:endParaRPr lang="en-US" altLang="zh-CN" sz="3000" b="1" dirty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3000" b="1" dirty="0">
                <a:latin typeface="+mn-ea"/>
                <a:sym typeface="Wingdings" pitchFamily="2" charset="2"/>
              </a:rPr>
              <a:t>具有氧化性 </a:t>
            </a:r>
            <a:br>
              <a:rPr lang="en-US" altLang="zh-CN" sz="3000" b="1" dirty="0">
                <a:latin typeface="+mn-ea"/>
                <a:sym typeface="Wingdings" pitchFamily="2" charset="2"/>
              </a:rPr>
            </a:br>
            <a:r>
              <a:rPr lang="en-US" altLang="zh-CN" sz="3000" b="1" dirty="0">
                <a:latin typeface="+mn-ea"/>
                <a:sym typeface="Wingdings" pitchFamily="2" charset="2"/>
              </a:rPr>
              <a:t>	Cu + 2 FeCl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 2 FeCl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+ CuCl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2</a:t>
            </a:r>
            <a:endParaRPr lang="en-US" altLang="zh-CN" sz="3000" b="1" dirty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sz="3000" b="1" dirty="0">
                <a:latin typeface="+mn-ea"/>
                <a:sym typeface="Wingdings" pitchFamily="2" charset="2"/>
              </a:rPr>
              <a:t>用途：氧化剂、止血剂</a:t>
            </a:r>
            <a:endParaRPr lang="en-US" altLang="zh-CN" sz="3000" b="1" dirty="0">
              <a:latin typeface="+mn-ea"/>
              <a:sym typeface="Wingdings" pitchFamily="2" charset="2"/>
            </a:endParaRPr>
          </a:p>
          <a:p>
            <a:endParaRPr lang="en-MY" sz="3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0609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0"/>
            <a:ext cx="8077200" cy="57912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16.3.3 Fe</a:t>
            </a:r>
            <a:r>
              <a:rPr lang="en-US" altLang="zh-CN" sz="4000" b="1" u="sng" baseline="30000" dirty="0">
                <a:latin typeface="+mn-ea"/>
              </a:rPr>
              <a:t>2+</a:t>
            </a:r>
            <a:r>
              <a:rPr lang="en-US" altLang="zh-CN" sz="4000" b="1" u="sng" dirty="0">
                <a:latin typeface="+mn-ea"/>
              </a:rPr>
              <a:t> </a:t>
            </a:r>
            <a:r>
              <a:rPr lang="zh-CN" altLang="en-US" sz="4000" b="1" u="sng" dirty="0">
                <a:latin typeface="+mn-ea"/>
              </a:rPr>
              <a:t>与 </a:t>
            </a:r>
            <a:r>
              <a:rPr lang="en-US" altLang="zh-CN" sz="4000" b="1" u="sng" dirty="0">
                <a:latin typeface="+mn-ea"/>
              </a:rPr>
              <a:t>Fe</a:t>
            </a:r>
            <a:r>
              <a:rPr lang="en-US" altLang="zh-CN" sz="4000" b="1" u="sng" baseline="30000" dirty="0">
                <a:latin typeface="+mn-ea"/>
              </a:rPr>
              <a:t>3+</a:t>
            </a:r>
            <a:r>
              <a:rPr lang="en-US" altLang="zh-CN" sz="4000" b="1" u="sng" dirty="0">
                <a:latin typeface="+mn-ea"/>
              </a:rPr>
              <a:t> </a:t>
            </a:r>
            <a:r>
              <a:rPr lang="zh-CN" altLang="en-US" sz="4000" b="1" u="sng" dirty="0">
                <a:latin typeface="+mn-ea"/>
              </a:rPr>
              <a:t>的检验</a:t>
            </a:r>
            <a:endParaRPr lang="en-US" altLang="zh-CN" sz="4000" b="1" u="sng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b="1" dirty="0">
                <a:latin typeface="+mn-ea"/>
                <a:sym typeface="Wingdings"/>
              </a:rPr>
              <a:t>方法</a:t>
            </a:r>
            <a:r>
              <a:rPr lang="zh-CN" altLang="zh-CN" b="1" dirty="0">
                <a:latin typeface="+mn-ea"/>
                <a:sym typeface="Wingdings"/>
              </a:rPr>
              <a:t></a:t>
            </a:r>
            <a:r>
              <a:rPr lang="zh-CN" altLang="en-US" b="1" dirty="0">
                <a:latin typeface="+mn-ea"/>
                <a:sym typeface="Wingdings"/>
              </a:rPr>
              <a:t>硫氰化钾</a:t>
            </a:r>
            <a:endParaRPr lang="en-US" altLang="zh-CN" b="1" dirty="0">
              <a:latin typeface="+mn-ea"/>
              <a:sym typeface="Wingdings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Fe</a:t>
            </a:r>
            <a:r>
              <a:rPr lang="en-US" altLang="zh-CN" b="1" baseline="30000" dirty="0">
                <a:latin typeface="+mn-ea"/>
                <a:sym typeface="Wingdings" pitchFamily="2" charset="2"/>
              </a:rPr>
              <a:t>3+</a:t>
            </a:r>
            <a:r>
              <a:rPr lang="en-US" altLang="zh-CN" b="1" dirty="0">
                <a:latin typeface="+mn-ea"/>
                <a:sym typeface="Wingdings" pitchFamily="2" charset="2"/>
              </a:rPr>
              <a:t> (</a:t>
            </a:r>
            <a:r>
              <a:rPr lang="en-US" altLang="zh-CN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b="1" dirty="0">
                <a:latin typeface="+mn-ea"/>
                <a:sym typeface="Wingdings" pitchFamily="2" charset="2"/>
              </a:rPr>
              <a:t>)+ SCN</a:t>
            </a:r>
            <a:r>
              <a:rPr lang="en-US" altLang="zh-CN" b="1" baseline="30000" dirty="0">
                <a:latin typeface="+mn-ea"/>
                <a:sym typeface="Wingdings" pitchFamily="2" charset="2"/>
              </a:rPr>
              <a:t>-</a:t>
            </a:r>
            <a:r>
              <a:rPr lang="en-US" altLang="zh-CN" b="1" dirty="0">
                <a:latin typeface="+mn-ea"/>
                <a:sym typeface="Wingdings" pitchFamily="2" charset="2"/>
              </a:rPr>
              <a:t> (</a:t>
            </a:r>
            <a:r>
              <a:rPr lang="en-US" altLang="zh-CN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b="1" dirty="0">
                <a:latin typeface="+mn-ea"/>
                <a:sym typeface="Wingdings" pitchFamily="2" charset="2"/>
              </a:rPr>
              <a:t>)  [Fe(SCN)]</a:t>
            </a:r>
            <a:r>
              <a:rPr lang="en-US" altLang="zh-CN" b="1" baseline="30000" dirty="0">
                <a:latin typeface="+mn-ea"/>
                <a:sym typeface="Wingdings" pitchFamily="2" charset="2"/>
              </a:rPr>
              <a:t>2+</a:t>
            </a:r>
            <a:r>
              <a:rPr lang="en-US" altLang="zh-CN" b="1" dirty="0">
                <a:latin typeface="+mn-ea"/>
                <a:sym typeface="Wingdings" pitchFamily="2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+mn-ea"/>
                <a:sym typeface="Wingdings" pitchFamily="2" charset="2"/>
              </a:rPr>
              <a:t>(</a:t>
            </a:r>
            <a:r>
              <a:rPr lang="en-US" altLang="zh-CN" b="1" dirty="0" err="1">
                <a:solidFill>
                  <a:srgbClr val="C00000"/>
                </a:solidFill>
                <a:latin typeface="+mn-ea"/>
                <a:sym typeface="Wingdings" pitchFamily="2" charset="2"/>
              </a:rPr>
              <a:t>aq</a:t>
            </a:r>
            <a:r>
              <a:rPr lang="en-US" altLang="zh-CN" b="1" dirty="0">
                <a:solidFill>
                  <a:srgbClr val="C00000"/>
                </a:solidFill>
                <a:latin typeface="+mn-ea"/>
                <a:sym typeface="Wingdings" pitchFamily="2" charset="2"/>
              </a:rPr>
              <a:t>)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2800" b="1" dirty="0">
                <a:latin typeface="+mn-ea"/>
                <a:sym typeface="Wingdings" pitchFamily="2" charset="2"/>
              </a:rPr>
              <a:t>黄棕色</a:t>
            </a:r>
            <a:r>
              <a:rPr lang="en-US" altLang="zh-CN" sz="2800" b="1" dirty="0">
                <a:latin typeface="+mn-ea"/>
                <a:sym typeface="Wingdings" pitchFamily="2" charset="2"/>
              </a:rPr>
              <a:t>		</a:t>
            </a:r>
            <a:r>
              <a:rPr lang="zh-CN" altLang="en-US" sz="2800" b="1" dirty="0">
                <a:latin typeface="+mn-ea"/>
                <a:sym typeface="Wingdings" pitchFamily="2" charset="2"/>
              </a:rPr>
              <a:t>无色</a:t>
            </a:r>
            <a:r>
              <a:rPr lang="en-US" altLang="zh-CN" sz="2800" b="1" dirty="0">
                <a:latin typeface="+mn-ea"/>
                <a:sym typeface="Wingdings" pitchFamily="2" charset="2"/>
              </a:rPr>
              <a:t>		</a:t>
            </a:r>
            <a:r>
              <a:rPr lang="zh-CN" altLang="en-US" sz="2800" b="1" dirty="0">
                <a:latin typeface="+mn-ea"/>
                <a:sym typeface="Wingdings" pitchFamily="2" charset="2"/>
              </a:rPr>
              <a:t>血红色</a:t>
            </a:r>
            <a:endParaRPr lang="en-US" altLang="zh-CN" sz="2800" b="1" dirty="0">
              <a:latin typeface="+mn-ea"/>
              <a:sym typeface="Wingdings" pitchFamily="2" charset="2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Fe</a:t>
            </a:r>
            <a:r>
              <a:rPr lang="en-US" altLang="zh-CN" b="1" baseline="30000" dirty="0">
                <a:latin typeface="+mn-ea"/>
                <a:sym typeface="Wingdings" pitchFamily="2" charset="2"/>
              </a:rPr>
              <a:t>2+</a:t>
            </a:r>
            <a:r>
              <a:rPr lang="en-US" altLang="zh-CN" b="1" dirty="0">
                <a:latin typeface="+mn-ea"/>
                <a:sym typeface="Wingdings" pitchFamily="2" charset="2"/>
              </a:rPr>
              <a:t> </a:t>
            </a:r>
            <a:r>
              <a:rPr lang="zh-CN" altLang="en-US" b="1" dirty="0">
                <a:latin typeface="+mn-ea"/>
                <a:sym typeface="Wingdings" pitchFamily="2" charset="2"/>
              </a:rPr>
              <a:t>：无颜色变化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1682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-76200"/>
            <a:ext cx="8077200" cy="57912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16.3.3 Fe</a:t>
            </a:r>
            <a:r>
              <a:rPr lang="en-US" altLang="zh-CN" sz="4000" b="1" u="sng" baseline="30000" dirty="0">
                <a:latin typeface="+mn-ea"/>
              </a:rPr>
              <a:t>2+</a:t>
            </a:r>
            <a:r>
              <a:rPr lang="en-US" altLang="zh-CN" sz="4000" b="1" u="sng" dirty="0">
                <a:latin typeface="+mn-ea"/>
              </a:rPr>
              <a:t> </a:t>
            </a:r>
            <a:r>
              <a:rPr lang="zh-CN" altLang="en-US" sz="4000" b="1" u="sng" dirty="0">
                <a:latin typeface="+mn-ea"/>
              </a:rPr>
              <a:t>与 </a:t>
            </a:r>
            <a:r>
              <a:rPr lang="en-US" altLang="zh-CN" sz="4000" b="1" u="sng" dirty="0">
                <a:latin typeface="+mn-ea"/>
              </a:rPr>
              <a:t>Fe</a:t>
            </a:r>
            <a:r>
              <a:rPr lang="en-US" altLang="zh-CN" sz="4000" b="1" u="sng" baseline="30000" dirty="0">
                <a:latin typeface="+mn-ea"/>
              </a:rPr>
              <a:t>3+</a:t>
            </a:r>
            <a:r>
              <a:rPr lang="en-US" altLang="zh-CN" sz="4000" b="1" u="sng" dirty="0">
                <a:latin typeface="+mn-ea"/>
              </a:rPr>
              <a:t> </a:t>
            </a:r>
            <a:r>
              <a:rPr lang="zh-CN" altLang="en-US" sz="4000" b="1" u="sng" dirty="0">
                <a:latin typeface="+mn-ea"/>
              </a:rPr>
              <a:t>的检验</a:t>
            </a:r>
            <a:endParaRPr lang="en-US" altLang="zh-CN" sz="4000" b="1" u="sng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b="1" dirty="0">
                <a:latin typeface="+mn-ea"/>
              </a:rPr>
              <a:t>方法</a:t>
            </a:r>
            <a:r>
              <a:rPr lang="zh-CN" altLang="en-US" b="1" dirty="0">
                <a:latin typeface="Calibri"/>
                <a:cs typeface="Calibri"/>
              </a:rPr>
              <a:t>② 碱</a:t>
            </a:r>
            <a:r>
              <a:rPr lang="en-US" altLang="zh-CN" b="1" dirty="0">
                <a:latin typeface="+mn-ea"/>
              </a:rPr>
              <a:t> </a:t>
            </a:r>
            <a:r>
              <a:rPr lang="en-US" altLang="zh-CN" b="1" dirty="0" err="1">
                <a:latin typeface="+mn-ea"/>
              </a:rPr>
              <a:t>NaOH</a:t>
            </a:r>
            <a:r>
              <a:rPr lang="en-US" altLang="zh-CN" b="1" dirty="0">
                <a:latin typeface="+mn-ea"/>
              </a:rPr>
              <a:t>(</a:t>
            </a:r>
            <a:r>
              <a:rPr lang="en-US" altLang="zh-CN" b="1" dirty="0" err="1">
                <a:latin typeface="+mn-ea"/>
              </a:rPr>
              <a:t>aq</a:t>
            </a:r>
            <a:r>
              <a:rPr lang="en-US" altLang="zh-CN" b="1" dirty="0">
                <a:latin typeface="+mn-ea"/>
              </a:rPr>
              <a:t>)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</a:rPr>
              <a:t>Fe</a:t>
            </a:r>
            <a:r>
              <a:rPr lang="en-US" altLang="zh-CN" b="1" baseline="30000" dirty="0">
                <a:latin typeface="+mn-ea"/>
              </a:rPr>
              <a:t>3+</a:t>
            </a:r>
            <a:r>
              <a:rPr lang="en-US" altLang="zh-CN" b="1" dirty="0">
                <a:latin typeface="+mn-ea"/>
              </a:rPr>
              <a:t> : </a:t>
            </a:r>
            <a:r>
              <a:rPr lang="zh-CN" altLang="en-US" b="1" dirty="0">
                <a:latin typeface="+mn-ea"/>
              </a:rPr>
              <a:t>产生红褐色沉淀</a:t>
            </a:r>
            <a:r>
              <a:rPr lang="en-US" altLang="zh-CN" b="1" dirty="0">
                <a:latin typeface="+mn-ea"/>
              </a:rPr>
              <a:t>Fe(OH)</a:t>
            </a:r>
            <a:r>
              <a:rPr lang="en-US" altLang="zh-CN" b="1" baseline="-25000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b="1" dirty="0">
                <a:latin typeface="+mn-ea"/>
                <a:sym typeface="Wingdings" pitchFamily="2" charset="2"/>
              </a:rPr>
              <a:t> </a:t>
            </a:r>
            <a:r>
              <a:rPr lang="en-US" altLang="zh-CN" b="1" dirty="0">
                <a:latin typeface="+mn-ea"/>
                <a:sym typeface="Wingdings" pitchFamily="2" charset="2"/>
              </a:rPr>
              <a:t>	Fe</a:t>
            </a:r>
            <a:r>
              <a:rPr lang="en-US" altLang="zh-CN" b="1" baseline="30000" dirty="0">
                <a:latin typeface="+mn-ea"/>
                <a:sym typeface="Wingdings" pitchFamily="2" charset="2"/>
              </a:rPr>
              <a:t>3+</a:t>
            </a:r>
            <a:r>
              <a:rPr lang="en-US" altLang="zh-CN" b="1" dirty="0">
                <a:latin typeface="+mn-ea"/>
                <a:sym typeface="Wingdings" pitchFamily="2" charset="2"/>
              </a:rPr>
              <a:t>(</a:t>
            </a:r>
            <a:r>
              <a:rPr lang="en-US" altLang="zh-CN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b="1" dirty="0">
                <a:latin typeface="+mn-ea"/>
                <a:sym typeface="Wingdings" pitchFamily="2" charset="2"/>
              </a:rPr>
              <a:t>) + 3 OH</a:t>
            </a:r>
            <a:r>
              <a:rPr lang="en-US" altLang="zh-CN" b="1" baseline="30000" dirty="0">
                <a:latin typeface="+mn-ea"/>
                <a:sym typeface="Wingdings" pitchFamily="2" charset="2"/>
              </a:rPr>
              <a:t>-</a:t>
            </a:r>
            <a:r>
              <a:rPr lang="en-US" altLang="zh-CN" b="1" dirty="0">
                <a:latin typeface="+mn-ea"/>
                <a:sym typeface="Wingdings" pitchFamily="2" charset="2"/>
              </a:rPr>
              <a:t>(</a:t>
            </a:r>
            <a:r>
              <a:rPr lang="en-US" altLang="zh-CN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b="1" dirty="0">
                <a:latin typeface="+mn-ea"/>
                <a:sym typeface="Wingdings" pitchFamily="2" charset="2"/>
              </a:rPr>
              <a:t>) Fe(OH)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b="1" dirty="0">
                <a:latin typeface="+mn-ea"/>
                <a:sym typeface="Wingdings" pitchFamily="2" charset="2"/>
              </a:rPr>
              <a:t>(s)</a:t>
            </a:r>
            <a:endParaRPr lang="en-US" altLang="zh-CN" b="1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</a:rPr>
              <a:t>Fe</a:t>
            </a:r>
            <a:r>
              <a:rPr lang="en-US" altLang="zh-CN" b="1" baseline="30000" dirty="0">
                <a:latin typeface="+mn-ea"/>
              </a:rPr>
              <a:t>2+</a:t>
            </a:r>
            <a:r>
              <a:rPr lang="en-US" altLang="zh-CN" b="1" dirty="0">
                <a:latin typeface="+mn-ea"/>
              </a:rPr>
              <a:t> : </a:t>
            </a:r>
            <a:r>
              <a:rPr lang="zh-CN" altLang="en-US" b="1" dirty="0">
                <a:latin typeface="+mn-ea"/>
              </a:rPr>
              <a:t>先产生淡绿色沉淀</a:t>
            </a:r>
            <a:r>
              <a:rPr lang="en-US" altLang="zh-CN" b="1" dirty="0">
                <a:latin typeface="+mn-ea"/>
              </a:rPr>
              <a:t>Fe(OH)</a:t>
            </a:r>
            <a:r>
              <a:rPr lang="en-US" altLang="zh-CN" b="1" baseline="-25000" dirty="0">
                <a:latin typeface="+mn-ea"/>
              </a:rPr>
              <a:t>2</a:t>
            </a:r>
            <a:r>
              <a:rPr lang="en-US" altLang="zh-CN" b="1" dirty="0">
                <a:latin typeface="+mn-ea"/>
              </a:rPr>
              <a:t> 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	</a:t>
            </a:r>
            <a:r>
              <a:rPr lang="zh-CN" altLang="en-US" b="1" dirty="0">
                <a:latin typeface="+mn-ea"/>
                <a:sym typeface="Wingdings" pitchFamily="2" charset="2"/>
              </a:rPr>
              <a:t>很快变成</a:t>
            </a:r>
            <a:r>
              <a:rPr lang="zh-CN" altLang="en-US" b="1" dirty="0">
                <a:latin typeface="+mn-ea"/>
              </a:rPr>
              <a:t>红褐色沉淀</a:t>
            </a:r>
            <a:r>
              <a:rPr lang="en-US" altLang="zh-CN" b="1" dirty="0">
                <a:latin typeface="+mn-ea"/>
              </a:rPr>
              <a:t>Fe(OH)</a:t>
            </a:r>
            <a:r>
              <a:rPr lang="en-US" altLang="zh-CN" b="1" baseline="-25000" dirty="0">
                <a:latin typeface="+mn-ea"/>
              </a:rPr>
              <a:t>3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	Fe</a:t>
            </a:r>
            <a:r>
              <a:rPr lang="en-US" altLang="zh-CN" b="1" baseline="30000" dirty="0">
                <a:latin typeface="+mn-ea"/>
                <a:sym typeface="Wingdings" pitchFamily="2" charset="2"/>
              </a:rPr>
              <a:t>2+</a:t>
            </a:r>
            <a:r>
              <a:rPr lang="en-US" altLang="zh-CN" b="1" dirty="0">
                <a:latin typeface="+mn-ea"/>
                <a:sym typeface="Wingdings" pitchFamily="2" charset="2"/>
              </a:rPr>
              <a:t>(</a:t>
            </a:r>
            <a:r>
              <a:rPr lang="en-US" altLang="zh-CN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b="1" dirty="0">
                <a:latin typeface="+mn-ea"/>
                <a:sym typeface="Wingdings" pitchFamily="2" charset="2"/>
              </a:rPr>
              <a:t>) + 2OH</a:t>
            </a:r>
            <a:r>
              <a:rPr lang="en-US" altLang="zh-CN" b="1" baseline="30000" dirty="0">
                <a:latin typeface="+mn-ea"/>
                <a:sym typeface="Wingdings" pitchFamily="2" charset="2"/>
              </a:rPr>
              <a:t>-</a:t>
            </a:r>
            <a:r>
              <a:rPr lang="en-US" altLang="zh-CN" b="1" dirty="0">
                <a:latin typeface="+mn-ea"/>
                <a:sym typeface="Wingdings" pitchFamily="2" charset="2"/>
              </a:rPr>
              <a:t>(</a:t>
            </a:r>
            <a:r>
              <a:rPr lang="en-US" altLang="zh-CN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b="1" dirty="0">
                <a:latin typeface="+mn-ea"/>
                <a:sym typeface="Wingdings" pitchFamily="2" charset="2"/>
              </a:rPr>
              <a:t>) Fe(OH)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b="1" dirty="0">
                <a:latin typeface="+mn-ea"/>
                <a:sym typeface="Wingdings" pitchFamily="2" charset="2"/>
              </a:rPr>
              <a:t> (s)</a:t>
            </a:r>
          </a:p>
          <a:p>
            <a:pPr marL="457200" lvl="1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200" b="1" dirty="0">
                <a:latin typeface="+mn-ea"/>
                <a:ea typeface="+mn-ea"/>
                <a:sym typeface="Wingdings" pitchFamily="2" charset="2"/>
              </a:rPr>
              <a:t>  4 Fe(OH)</a:t>
            </a:r>
            <a:r>
              <a:rPr lang="en-US" altLang="zh-CN" sz="3200" b="1" baseline="-25000" dirty="0">
                <a:latin typeface="+mn-ea"/>
                <a:ea typeface="+mn-ea"/>
                <a:sym typeface="Wingdings" pitchFamily="2" charset="2"/>
              </a:rPr>
              <a:t>2</a:t>
            </a:r>
            <a:r>
              <a:rPr lang="en-US" altLang="zh-CN" sz="3200" b="1" dirty="0">
                <a:latin typeface="+mn-ea"/>
                <a:ea typeface="+mn-ea"/>
                <a:sym typeface="Wingdings" pitchFamily="2" charset="2"/>
              </a:rPr>
              <a:t> + O</a:t>
            </a:r>
            <a:r>
              <a:rPr lang="en-US" altLang="zh-CN" sz="3200" b="1" baseline="-25000" dirty="0">
                <a:latin typeface="+mn-ea"/>
                <a:ea typeface="+mn-ea"/>
                <a:sym typeface="Wingdings" pitchFamily="2" charset="2"/>
              </a:rPr>
              <a:t>2</a:t>
            </a:r>
            <a:r>
              <a:rPr lang="en-US" altLang="zh-CN" sz="3200" b="1" dirty="0">
                <a:latin typeface="+mn-ea"/>
                <a:ea typeface="+mn-ea"/>
                <a:sym typeface="Wingdings" pitchFamily="2" charset="2"/>
              </a:rPr>
              <a:t> + 2 H</a:t>
            </a:r>
            <a:r>
              <a:rPr lang="en-US" altLang="zh-CN" sz="3200" b="1" baseline="-25000" dirty="0">
                <a:latin typeface="+mn-ea"/>
                <a:ea typeface="+mn-ea"/>
                <a:sym typeface="Wingdings" pitchFamily="2" charset="2"/>
              </a:rPr>
              <a:t>2</a:t>
            </a:r>
            <a:r>
              <a:rPr lang="en-US" altLang="zh-CN" sz="3200" b="1" dirty="0">
                <a:latin typeface="+mn-ea"/>
                <a:ea typeface="+mn-ea"/>
                <a:sym typeface="Wingdings" pitchFamily="2" charset="2"/>
              </a:rPr>
              <a:t>O  4 Fe(OH)</a:t>
            </a:r>
            <a:r>
              <a:rPr lang="en-US" altLang="zh-CN" sz="3200" b="1" baseline="-25000" dirty="0">
                <a:latin typeface="+mn-ea"/>
                <a:ea typeface="+mn-ea"/>
                <a:sym typeface="Wingdings" pitchFamily="2" charset="2"/>
              </a:rPr>
              <a:t>3</a:t>
            </a:r>
            <a:r>
              <a:rPr lang="en-US" altLang="zh-CN" sz="3200" b="1" dirty="0">
                <a:latin typeface="+mn-ea"/>
                <a:ea typeface="+mn-ea"/>
                <a:sym typeface="Wingdings" pitchFamily="2" charset="2"/>
              </a:rPr>
              <a:t>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en-US" altLang="zh-CN" sz="28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en-US" altLang="zh-CN" sz="2800" b="1" dirty="0">
              <a:latin typeface="+mn-ea"/>
              <a:sym typeface="Wingdings" pitchFamily="2" charset="2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1682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0"/>
            <a:ext cx="8077200" cy="57912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16.3.3 Fe</a:t>
            </a:r>
            <a:r>
              <a:rPr lang="en-US" altLang="zh-CN" sz="4000" b="1" u="sng" baseline="30000" dirty="0">
                <a:latin typeface="+mn-ea"/>
              </a:rPr>
              <a:t>2+</a:t>
            </a:r>
            <a:r>
              <a:rPr lang="en-US" altLang="zh-CN" sz="4000" b="1" u="sng" dirty="0">
                <a:latin typeface="+mn-ea"/>
              </a:rPr>
              <a:t> </a:t>
            </a:r>
            <a:r>
              <a:rPr lang="zh-CN" altLang="en-US" sz="4000" b="1" u="sng" dirty="0">
                <a:latin typeface="+mn-ea"/>
              </a:rPr>
              <a:t>与 </a:t>
            </a:r>
            <a:r>
              <a:rPr lang="en-US" altLang="zh-CN" sz="4000" b="1" u="sng" dirty="0">
                <a:latin typeface="+mn-ea"/>
              </a:rPr>
              <a:t>Fe</a:t>
            </a:r>
            <a:r>
              <a:rPr lang="en-US" altLang="zh-CN" sz="4000" b="1" u="sng" baseline="30000" dirty="0">
                <a:latin typeface="+mn-ea"/>
              </a:rPr>
              <a:t>3+</a:t>
            </a:r>
            <a:r>
              <a:rPr lang="en-US" altLang="zh-CN" sz="4000" b="1" u="sng" dirty="0">
                <a:latin typeface="+mn-ea"/>
              </a:rPr>
              <a:t> </a:t>
            </a:r>
            <a:r>
              <a:rPr lang="zh-CN" altLang="en-US" sz="4000" b="1" u="sng" dirty="0">
                <a:latin typeface="+mn-ea"/>
              </a:rPr>
              <a:t>的检验</a:t>
            </a:r>
            <a:endParaRPr lang="en-US" altLang="zh-CN" sz="4000" b="1" u="sng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b="1" dirty="0">
                <a:latin typeface="+mn-ea"/>
                <a:cs typeface="Calibri"/>
                <a:sym typeface="Wingdings"/>
              </a:rPr>
              <a:t>方法</a:t>
            </a:r>
            <a:r>
              <a:rPr lang="zh-CN" altLang="zh-CN" b="1" dirty="0">
                <a:latin typeface="+mn-ea"/>
                <a:cs typeface="Calibri"/>
                <a:sym typeface="Wingdings"/>
              </a:rPr>
              <a:t>③</a:t>
            </a:r>
            <a:endParaRPr lang="en-US" altLang="zh-CN" b="1" dirty="0">
              <a:latin typeface="+mn-ea"/>
              <a:sym typeface="Wingdings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Fe</a:t>
            </a:r>
            <a:r>
              <a:rPr lang="en-US" altLang="zh-CN" b="1" baseline="30000" dirty="0">
                <a:latin typeface="+mn-ea"/>
                <a:sym typeface="Wingdings" pitchFamily="2" charset="2"/>
              </a:rPr>
              <a:t>3+</a:t>
            </a:r>
            <a:r>
              <a:rPr lang="en-US" altLang="zh-CN" b="1" dirty="0">
                <a:latin typeface="+mn-ea"/>
                <a:sym typeface="Wingdings" pitchFamily="2" charset="2"/>
              </a:rPr>
              <a:t> </a:t>
            </a:r>
            <a:r>
              <a:rPr lang="zh-CN" altLang="en-US" b="1" dirty="0">
                <a:latin typeface="+mn-ea"/>
                <a:sym typeface="Wingdings" pitchFamily="2" charset="2"/>
              </a:rPr>
              <a:t>：黄色铁</a:t>
            </a:r>
            <a:r>
              <a:rPr lang="en-US" altLang="zh-CN" b="1" dirty="0">
                <a:latin typeface="+mn-ea"/>
                <a:sym typeface="Wingdings" pitchFamily="2" charset="2"/>
              </a:rPr>
              <a:t>(II)</a:t>
            </a:r>
            <a:r>
              <a:rPr lang="zh-CN" altLang="en-US" b="1" dirty="0">
                <a:latin typeface="+mn-ea"/>
                <a:sym typeface="Wingdings" pitchFamily="2" charset="2"/>
              </a:rPr>
              <a:t>氰化钾</a:t>
            </a:r>
            <a:r>
              <a:rPr lang="en-US" altLang="zh-CN" b="1" dirty="0">
                <a:latin typeface="+mn-ea"/>
                <a:sym typeface="Wingdings" pitchFamily="2" charset="2"/>
              </a:rPr>
              <a:t> </a:t>
            </a:r>
            <a:r>
              <a:rPr lang="zh-CN" altLang="en-US" b="1" dirty="0">
                <a:latin typeface="+mn-ea"/>
                <a:sym typeface="Wingdings" pitchFamily="2" charset="2"/>
              </a:rPr>
              <a:t>深蓝色沉淀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Fe</a:t>
            </a:r>
            <a:r>
              <a:rPr lang="en-US" altLang="zh-CN" b="1" baseline="30000" dirty="0">
                <a:latin typeface="+mn-ea"/>
                <a:sym typeface="Wingdings" pitchFamily="2" charset="2"/>
              </a:rPr>
              <a:t>2+</a:t>
            </a:r>
            <a:r>
              <a:rPr lang="en-US" altLang="zh-CN" b="1" dirty="0">
                <a:latin typeface="+mn-ea"/>
                <a:sym typeface="Wingdings" pitchFamily="2" charset="2"/>
              </a:rPr>
              <a:t> </a:t>
            </a:r>
            <a:r>
              <a:rPr lang="zh-CN" altLang="en-US" b="1" dirty="0">
                <a:latin typeface="+mn-ea"/>
                <a:sym typeface="Wingdings" pitchFamily="2" charset="2"/>
              </a:rPr>
              <a:t>：深红色铁</a:t>
            </a:r>
            <a:r>
              <a:rPr lang="en-US" altLang="zh-CN" b="1" dirty="0">
                <a:latin typeface="+mn-ea"/>
                <a:sym typeface="Wingdings" pitchFamily="2" charset="2"/>
              </a:rPr>
              <a:t>(III)</a:t>
            </a:r>
            <a:r>
              <a:rPr lang="zh-CN" altLang="en-US" b="1" dirty="0">
                <a:latin typeface="+mn-ea"/>
                <a:sym typeface="Wingdings" pitchFamily="2" charset="2"/>
              </a:rPr>
              <a:t>氰化钾</a:t>
            </a:r>
            <a:r>
              <a:rPr lang="en-US" altLang="zh-CN" b="1" dirty="0">
                <a:latin typeface="+mn-ea"/>
                <a:sym typeface="Wingdings" pitchFamily="2" charset="2"/>
              </a:rPr>
              <a:t></a:t>
            </a:r>
            <a:r>
              <a:rPr lang="zh-CN" altLang="en-US" b="1" dirty="0">
                <a:latin typeface="+mn-ea"/>
                <a:sym typeface="Wingdings" pitchFamily="2" charset="2"/>
              </a:rPr>
              <a:t>深蓝色沉淀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1682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0"/>
            <a:ext cx="8077200" cy="57912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16.3.3 Fe</a:t>
            </a:r>
            <a:r>
              <a:rPr lang="en-US" altLang="zh-CN" sz="4000" b="1" u="sng" baseline="30000" dirty="0">
                <a:latin typeface="+mn-ea"/>
              </a:rPr>
              <a:t>2+</a:t>
            </a:r>
            <a:r>
              <a:rPr lang="en-US" altLang="zh-CN" sz="4000" b="1" u="sng" dirty="0">
                <a:latin typeface="+mn-ea"/>
              </a:rPr>
              <a:t> </a:t>
            </a:r>
            <a:r>
              <a:rPr lang="zh-CN" altLang="en-US" sz="4000" b="1" u="sng" dirty="0">
                <a:latin typeface="+mn-ea"/>
              </a:rPr>
              <a:t>与 </a:t>
            </a:r>
            <a:r>
              <a:rPr lang="en-US" altLang="zh-CN" sz="4000" b="1" u="sng" dirty="0">
                <a:latin typeface="+mn-ea"/>
              </a:rPr>
              <a:t>Fe</a:t>
            </a:r>
            <a:r>
              <a:rPr lang="en-US" altLang="zh-CN" sz="4000" b="1" u="sng" baseline="30000" dirty="0">
                <a:latin typeface="+mn-ea"/>
              </a:rPr>
              <a:t>3+</a:t>
            </a:r>
            <a:r>
              <a:rPr lang="en-US" altLang="zh-CN" sz="4000" b="1" u="sng" dirty="0">
                <a:latin typeface="+mn-ea"/>
              </a:rPr>
              <a:t> </a:t>
            </a:r>
            <a:r>
              <a:rPr lang="zh-CN" altLang="en-US" sz="4000" b="1" u="sng" dirty="0">
                <a:latin typeface="+mn-ea"/>
              </a:rPr>
              <a:t>的检验</a:t>
            </a:r>
            <a:endParaRPr lang="en-US" altLang="zh-CN" sz="4000" b="1" u="sng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b="1" dirty="0">
                <a:latin typeface="+mn-ea"/>
              </a:rPr>
              <a:t>方法④ </a:t>
            </a:r>
            <a:r>
              <a:rPr lang="en-US" altLang="zh-CN" b="1" dirty="0">
                <a:latin typeface="+mn-ea"/>
              </a:rPr>
              <a:t> H</a:t>
            </a:r>
            <a:r>
              <a:rPr lang="en-US" altLang="zh-CN" b="1" baseline="-25000" dirty="0">
                <a:latin typeface="+mn-ea"/>
              </a:rPr>
              <a:t>2</a:t>
            </a:r>
            <a:r>
              <a:rPr lang="en-US" altLang="zh-CN" b="1" dirty="0">
                <a:latin typeface="+mn-ea"/>
              </a:rPr>
              <a:t>S (g)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</a:rPr>
              <a:t>Fe</a:t>
            </a:r>
            <a:r>
              <a:rPr lang="en-US" altLang="zh-CN" b="1" baseline="30000" dirty="0">
                <a:latin typeface="+mn-ea"/>
              </a:rPr>
              <a:t>3+</a:t>
            </a:r>
            <a:r>
              <a:rPr lang="en-US" altLang="zh-CN" b="1" dirty="0">
                <a:latin typeface="+mn-ea"/>
              </a:rPr>
              <a:t> : </a:t>
            </a:r>
            <a:r>
              <a:rPr lang="zh-CN" altLang="en-US" b="1" dirty="0">
                <a:latin typeface="+mn-ea"/>
              </a:rPr>
              <a:t>产生黄色沉淀（</a:t>
            </a:r>
            <a:r>
              <a:rPr lang="en-US" altLang="zh-CN" b="1" dirty="0">
                <a:latin typeface="+mn-ea"/>
              </a:rPr>
              <a:t>S</a:t>
            </a:r>
            <a:r>
              <a:rPr lang="zh-CN" altLang="en-US" b="1" dirty="0">
                <a:latin typeface="+mn-ea"/>
              </a:rPr>
              <a:t>）</a:t>
            </a:r>
            <a:endParaRPr lang="en-US" altLang="zh-CN" b="1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</a:rPr>
              <a:t>	2 Fe</a:t>
            </a:r>
            <a:r>
              <a:rPr lang="en-US" altLang="zh-CN" b="1" baseline="30000" dirty="0">
                <a:latin typeface="+mn-ea"/>
              </a:rPr>
              <a:t> </a:t>
            </a:r>
            <a:r>
              <a:rPr lang="en-US" altLang="zh-CN" b="1" dirty="0">
                <a:latin typeface="+mn-ea"/>
              </a:rPr>
              <a:t>Cl</a:t>
            </a:r>
            <a:r>
              <a:rPr lang="en-US" altLang="zh-CN" b="1" baseline="-25000" dirty="0">
                <a:latin typeface="+mn-ea"/>
              </a:rPr>
              <a:t>3</a:t>
            </a:r>
            <a:r>
              <a:rPr lang="en-US" altLang="zh-CN" b="1" dirty="0">
                <a:latin typeface="+mn-ea"/>
              </a:rPr>
              <a:t> + H</a:t>
            </a:r>
            <a:r>
              <a:rPr lang="en-US" altLang="zh-CN" b="1" baseline="-25000" dirty="0">
                <a:latin typeface="+mn-ea"/>
              </a:rPr>
              <a:t>2</a:t>
            </a:r>
            <a:r>
              <a:rPr lang="en-US" altLang="zh-CN" b="1" dirty="0">
                <a:latin typeface="+mn-ea"/>
              </a:rPr>
              <a:t>S  </a:t>
            </a:r>
            <a:r>
              <a:rPr lang="en-US" altLang="zh-CN" b="1" dirty="0">
                <a:latin typeface="+mn-ea"/>
                <a:sym typeface="Wingdings" pitchFamily="2" charset="2"/>
              </a:rPr>
              <a:t> 2 </a:t>
            </a:r>
            <a:r>
              <a:rPr lang="en-US" altLang="zh-CN" b="1" dirty="0" err="1">
                <a:latin typeface="+mn-ea"/>
                <a:sym typeface="Wingdings" pitchFamily="2" charset="2"/>
              </a:rPr>
              <a:t>HCl</a:t>
            </a:r>
            <a:r>
              <a:rPr lang="en-US" altLang="zh-CN" b="1" dirty="0">
                <a:latin typeface="+mn-ea"/>
                <a:sym typeface="Wingdings" pitchFamily="2" charset="2"/>
              </a:rPr>
              <a:t> + 2FeCl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b="1" dirty="0">
                <a:latin typeface="+mn-ea"/>
                <a:sym typeface="Wingdings" pitchFamily="2" charset="2"/>
              </a:rPr>
              <a:t> + 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	</a:t>
            </a:r>
            <a:r>
              <a:rPr lang="zh-CN" altLang="en-US" b="1" dirty="0">
                <a:latin typeface="+mn-ea"/>
                <a:sym typeface="Wingdings" pitchFamily="2" charset="2"/>
              </a:rPr>
              <a:t>氧化还原反应</a:t>
            </a:r>
            <a:endParaRPr lang="en-US" altLang="zh-CN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</a:rPr>
              <a:t>Fe</a:t>
            </a:r>
            <a:r>
              <a:rPr lang="en-US" altLang="zh-CN" b="1" baseline="30000" dirty="0">
                <a:latin typeface="+mn-ea"/>
              </a:rPr>
              <a:t>2+</a:t>
            </a:r>
            <a:r>
              <a:rPr lang="en-US" altLang="zh-CN" b="1" dirty="0">
                <a:latin typeface="+mn-ea"/>
              </a:rPr>
              <a:t> : </a:t>
            </a:r>
            <a:r>
              <a:rPr lang="zh-CN" altLang="en-US" b="1" dirty="0">
                <a:latin typeface="+mn-ea"/>
              </a:rPr>
              <a:t>产生黑色沉淀（</a:t>
            </a:r>
            <a:r>
              <a:rPr lang="en-US" altLang="zh-CN" b="1" dirty="0" err="1">
                <a:latin typeface="+mn-ea"/>
              </a:rPr>
              <a:t>FeS</a:t>
            </a:r>
            <a:r>
              <a:rPr lang="zh-CN" altLang="en-US" b="1" dirty="0">
                <a:latin typeface="+mn-ea"/>
              </a:rPr>
              <a:t>）</a:t>
            </a:r>
            <a:endParaRPr lang="en-US" altLang="zh-CN" b="1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</a:rPr>
              <a:t>	FeCl</a:t>
            </a:r>
            <a:r>
              <a:rPr lang="en-US" altLang="zh-CN" b="1" baseline="-25000" dirty="0">
                <a:latin typeface="+mn-ea"/>
              </a:rPr>
              <a:t>2</a:t>
            </a:r>
            <a:r>
              <a:rPr lang="en-US" altLang="zh-CN" b="1" dirty="0">
                <a:latin typeface="+mn-ea"/>
              </a:rPr>
              <a:t> + H</a:t>
            </a:r>
            <a:r>
              <a:rPr lang="en-US" altLang="zh-CN" b="1" baseline="-25000" dirty="0">
                <a:latin typeface="+mn-ea"/>
              </a:rPr>
              <a:t>2</a:t>
            </a:r>
            <a:r>
              <a:rPr lang="en-US" altLang="zh-CN" b="1" dirty="0">
                <a:latin typeface="+mn-ea"/>
              </a:rPr>
              <a:t>S </a:t>
            </a:r>
            <a:r>
              <a:rPr lang="en-US" altLang="zh-CN" b="1" dirty="0">
                <a:latin typeface="+mn-ea"/>
                <a:sym typeface="Wingdings" pitchFamily="2" charset="2"/>
              </a:rPr>
              <a:t> 2HCl + </a:t>
            </a:r>
            <a:r>
              <a:rPr lang="en-US" altLang="zh-CN" b="1" dirty="0" err="1">
                <a:latin typeface="+mn-ea"/>
                <a:sym typeface="Wingdings" pitchFamily="2" charset="2"/>
              </a:rPr>
              <a:t>FeS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	</a:t>
            </a:r>
            <a:r>
              <a:rPr lang="zh-CN" altLang="en-US" b="1" dirty="0">
                <a:latin typeface="+mn-ea"/>
                <a:sym typeface="Wingdings" pitchFamily="2" charset="2"/>
              </a:rPr>
              <a:t>复分解反应</a:t>
            </a:r>
            <a:endParaRPr lang="en-US" altLang="zh-CN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1682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Fe1.jpg"/>
          <p:cNvPicPr>
            <a:picLocks noChangeAspect="1" noChangeArrowheads="1"/>
          </p:cNvPicPr>
          <p:nvPr/>
        </p:nvPicPr>
        <p:blipFill>
          <a:blip r:embed="rId2"/>
          <a:srcRect t="14662" b="4032"/>
          <a:stretch>
            <a:fillRect/>
          </a:stretch>
        </p:blipFill>
        <p:spPr bwMode="auto">
          <a:xfrm>
            <a:off x="175216" y="1752600"/>
            <a:ext cx="8882527" cy="4800600"/>
          </a:xfrm>
          <a:prstGeom prst="rect">
            <a:avLst/>
          </a:prstGeom>
          <a:noFill/>
        </p:spPr>
      </p:pic>
      <p:sp>
        <p:nvSpPr>
          <p:cNvPr id="717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228600"/>
            <a:ext cx="8153400" cy="1524000"/>
          </a:xfrm>
        </p:spPr>
        <p:txBody>
          <a:bodyPr/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en-US" altLang="zh-CN" sz="4000" b="1" u="sng" dirty="0"/>
              <a:t>16.3.4 </a:t>
            </a:r>
            <a:r>
              <a:rPr lang="zh-CN" altLang="en-US" sz="4000" b="1" u="sng" dirty="0"/>
              <a:t>炼铁</a:t>
            </a:r>
            <a:endParaRPr lang="en-US" altLang="zh-CN" sz="4000" b="1" u="sng" dirty="0"/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b="1" dirty="0"/>
              <a:t>原理：利用还原剂将铁矿石还原为单质铁。</a:t>
            </a:r>
            <a:endParaRPr lang="ms-MY" altLang="en-US" sz="3600" dirty="0"/>
          </a:p>
          <a:p>
            <a:pPr marL="0" indent="0">
              <a:lnSpc>
                <a:spcPct val="80000"/>
              </a:lnSpc>
              <a:buFontTx/>
              <a:buNone/>
            </a:pP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066800" y="609600"/>
            <a:ext cx="7162800" cy="5518150"/>
          </a:xfrm>
        </p:spPr>
        <p:txBody>
          <a:bodyPr/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en-US" altLang="zh-CN" sz="3600" b="1" u="sng" dirty="0"/>
              <a:t>16.3.4 </a:t>
            </a:r>
            <a:r>
              <a:rPr lang="zh-CN" altLang="en-US" sz="3600" b="1" u="sng" dirty="0"/>
              <a:t>炼铁</a:t>
            </a:r>
            <a:endParaRPr lang="ms-MY" altLang="en-US" sz="2400" dirty="0"/>
          </a:p>
          <a:p>
            <a:pPr marL="0" indent="0">
              <a:lnSpc>
                <a:spcPct val="80000"/>
              </a:lnSpc>
              <a:buFontTx/>
              <a:buNone/>
            </a:pPr>
            <a:endParaRPr lang="zh-CN" altLang="en-US" sz="2400" dirty="0"/>
          </a:p>
        </p:txBody>
      </p:sp>
      <p:pic>
        <p:nvPicPr>
          <p:cNvPr id="1026" name="Picture 2" descr="C:\Users\user\Desktop\Fe.jpg"/>
          <p:cNvPicPr>
            <a:picLocks noChangeAspect="1" noChangeArrowheads="1"/>
          </p:cNvPicPr>
          <p:nvPr/>
        </p:nvPicPr>
        <p:blipFill>
          <a:blip r:embed="rId2">
            <a:lum bright="-30000"/>
          </a:blip>
          <a:srcRect/>
          <a:stretch>
            <a:fillRect/>
          </a:stretch>
        </p:blipFill>
        <p:spPr bwMode="auto">
          <a:xfrm>
            <a:off x="533400" y="1143000"/>
            <a:ext cx="8305800" cy="53118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5867401" y="3810000"/>
            <a:ext cx="28956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 err="1"/>
              <a:t>CaO</a:t>
            </a:r>
            <a:r>
              <a:rPr lang="en-US" altLang="zh-CN" sz="2400" b="1" dirty="0"/>
              <a:t> + SiO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Wingdings" pitchFamily="2" charset="2"/>
              </a:rPr>
              <a:t> CaSiO</a:t>
            </a:r>
            <a:r>
              <a:rPr lang="en-US" altLang="zh-CN" sz="2400" b="1" baseline="-25000" dirty="0">
                <a:sym typeface="Wingdings" pitchFamily="2" charset="2"/>
              </a:rPr>
              <a:t>3</a:t>
            </a:r>
            <a:endParaRPr 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789817" y="4876800"/>
            <a:ext cx="184898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 + O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Wingdings" pitchFamily="2" charset="2"/>
              </a:rPr>
              <a:t> CO</a:t>
            </a:r>
            <a:r>
              <a:rPr lang="en-US" altLang="zh-CN" sz="2400" b="1" baseline="-25000" dirty="0">
                <a:sym typeface="Wingdings" pitchFamily="2" charset="2"/>
              </a:rPr>
              <a:t>2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33400" y="3429000"/>
            <a:ext cx="3810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Fe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O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 + 3 CO </a:t>
            </a:r>
            <a:r>
              <a:rPr lang="en-US" altLang="zh-CN" sz="2400" b="1" dirty="0">
                <a:sym typeface="Wingdings" pitchFamily="2" charset="2"/>
              </a:rPr>
              <a:t> 2 Fe + 3 CO</a:t>
            </a:r>
            <a:r>
              <a:rPr lang="en-US" altLang="zh-CN" sz="2400" b="1" baseline="-25000" dirty="0">
                <a:sym typeface="Wingdings" pitchFamily="2" charset="2"/>
              </a:rPr>
              <a:t>2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867400" y="3276600"/>
            <a:ext cx="28956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CaCO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Wingdings" pitchFamily="2" charset="2"/>
              </a:rPr>
              <a:t> </a:t>
            </a:r>
            <a:r>
              <a:rPr lang="en-US" altLang="zh-CN" sz="2400" b="1" dirty="0" err="1">
                <a:sym typeface="Wingdings" pitchFamily="2" charset="2"/>
              </a:rPr>
              <a:t>CaO</a:t>
            </a:r>
            <a:r>
              <a:rPr lang="en-US" altLang="zh-CN" sz="2400" b="1" dirty="0">
                <a:sym typeface="Wingdings" pitchFamily="2" charset="2"/>
              </a:rPr>
              <a:t> + CO</a:t>
            </a:r>
            <a:r>
              <a:rPr lang="en-US" altLang="zh-CN" sz="2400" b="1" baseline="-25000" dirty="0">
                <a:sym typeface="Wingdings" pitchFamily="2" charset="2"/>
              </a:rPr>
              <a:t>2</a:t>
            </a:r>
            <a:endParaRPr lang="en-US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505201" y="4186535"/>
            <a:ext cx="23622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CO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 + C </a:t>
            </a:r>
            <a:r>
              <a:rPr lang="en-US" altLang="zh-CN" sz="2400" b="1" dirty="0">
                <a:sym typeface="Wingdings" pitchFamily="2" charset="2"/>
              </a:rPr>
              <a:t> 2 CO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33400" y="2814935"/>
            <a:ext cx="3810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2Fe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O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 + 3 C </a:t>
            </a:r>
            <a:r>
              <a:rPr lang="en-US" altLang="zh-CN" sz="2400" b="1" dirty="0">
                <a:sym typeface="Wingdings" pitchFamily="2" charset="2"/>
              </a:rPr>
              <a:t> 4 Fe + 3 CO</a:t>
            </a:r>
            <a:r>
              <a:rPr lang="en-US" altLang="zh-CN" sz="2400" b="1" baseline="-25000" dirty="0">
                <a:sym typeface="Wingdings" pitchFamily="2" charset="2"/>
              </a:rPr>
              <a:t>2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6" grpId="0" animBg="1"/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0"/>
            <a:ext cx="8001000" cy="6248400"/>
          </a:xfrm>
        </p:spPr>
        <p:txBody>
          <a:bodyPr/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sz="4000" b="1" u="sng" dirty="0"/>
              <a:t>16.3.4 </a:t>
            </a:r>
            <a:r>
              <a:rPr lang="zh-CN" altLang="en-US" sz="4000" b="1" u="sng" dirty="0"/>
              <a:t>炼铁</a:t>
            </a:r>
            <a:endParaRPr lang="ms-MY" altLang="en-US" sz="3600" b="1" dirty="0"/>
          </a:p>
          <a:p>
            <a:pPr marL="0" indent="0">
              <a:lnSpc>
                <a:spcPct val="150000"/>
              </a:lnSpc>
            </a:pPr>
            <a:r>
              <a:rPr lang="zh-CN" altLang="en-US" b="1" dirty="0"/>
              <a:t>刚炼好的铁属于生铁，含碳量较高。</a:t>
            </a:r>
            <a:endParaRPr lang="en-US" altLang="zh-CN" b="1" dirty="0"/>
          </a:p>
          <a:p>
            <a:pPr marL="0" indent="0">
              <a:lnSpc>
                <a:spcPct val="150000"/>
              </a:lnSpc>
            </a:pPr>
            <a:r>
              <a:rPr lang="zh-CN" altLang="en-US" b="1" dirty="0"/>
              <a:t>可直接用来炼钢，或铸件</a:t>
            </a:r>
            <a:endParaRPr lang="en-US" altLang="zh-CN" b="1" dirty="0"/>
          </a:p>
          <a:p>
            <a:pPr marL="0" indent="0">
              <a:lnSpc>
                <a:spcPct val="150000"/>
              </a:lnSpc>
            </a:pPr>
            <a:r>
              <a:rPr lang="zh-CN" altLang="en-US" b="1" dirty="0"/>
              <a:t>炉渣可作为水泥的原料</a:t>
            </a:r>
            <a:endParaRPr lang="en-US" altLang="zh-CN" b="1" dirty="0"/>
          </a:p>
          <a:p>
            <a:pPr marL="0" indent="0">
              <a:lnSpc>
                <a:spcPct val="150000"/>
              </a:lnSpc>
            </a:pPr>
            <a:r>
              <a:rPr lang="zh-CN" altLang="en-US" b="1" dirty="0"/>
              <a:t>高炉煤气含大量灰尘，除去灰尘后可作为燃料。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 descr="C:\Users\user\Desktop\Fe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04800"/>
            <a:ext cx="8839200" cy="64465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 descr="C:\Users\user\Desktop\fe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2727" y="228600"/>
            <a:ext cx="8512673" cy="652811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C:\Users\user\Desktop\Fe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52400"/>
            <a:ext cx="8839200" cy="66287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5" name="Picture 3" descr="C:\Users\user\Desktop\Fe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362" y="0"/>
            <a:ext cx="9037638" cy="68579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fe4.jpg"/>
          <p:cNvPicPr>
            <a:picLocks noChangeAspect="1" noChangeArrowheads="1"/>
          </p:cNvPicPr>
          <p:nvPr/>
        </p:nvPicPr>
        <p:blipFill>
          <a:blip r:embed="rId2">
            <a:lum bright="-20000"/>
          </a:blip>
          <a:srcRect/>
          <a:stretch>
            <a:fillRect/>
          </a:stretch>
        </p:blipFill>
        <p:spPr bwMode="auto">
          <a:xfrm>
            <a:off x="381000" y="304800"/>
            <a:ext cx="8610600" cy="655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304800"/>
            <a:ext cx="8458200" cy="6019800"/>
          </a:xfrm>
        </p:spPr>
        <p:txBody>
          <a:bodyPr/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en-US" altLang="zh-CN" sz="3600" b="1" u="sng" dirty="0"/>
              <a:t>16.3.4 </a:t>
            </a:r>
            <a:r>
              <a:rPr lang="zh-CN" altLang="en-US" sz="3600" b="1" u="sng" dirty="0"/>
              <a:t>铁的合金</a:t>
            </a:r>
            <a:endParaRPr lang="en-US" altLang="zh-CN" sz="2400" dirty="0"/>
          </a:p>
          <a:p>
            <a:pPr marL="0" indent="0">
              <a:lnSpc>
                <a:spcPct val="150000"/>
              </a:lnSpc>
            </a:pPr>
            <a:r>
              <a:rPr lang="zh-CN" altLang="en-US" sz="2800" b="1" dirty="0"/>
              <a:t>合金：一种金属和一种或几种金属（或非金属）熔合而成</a:t>
            </a:r>
            <a:r>
              <a:rPr lang="zh-CN" altLang="en-US" sz="2800" b="1" dirty="0">
                <a:solidFill>
                  <a:srgbClr val="002060"/>
                </a:solidFill>
              </a:rPr>
              <a:t>具有金属特性</a:t>
            </a:r>
            <a:r>
              <a:rPr lang="zh-CN" altLang="en-US" sz="2800" b="1" dirty="0"/>
              <a:t>的物质。</a:t>
            </a:r>
            <a:endParaRPr lang="en-US" altLang="zh-CN" sz="2800" b="1" dirty="0"/>
          </a:p>
          <a:p>
            <a:pPr marL="0" indent="0">
              <a:lnSpc>
                <a:spcPct val="150000"/>
              </a:lnSpc>
            </a:pPr>
            <a:r>
              <a:rPr lang="zh-CN" altLang="en-US" sz="2800" b="1" dirty="0"/>
              <a:t>合金是一种混合物。</a:t>
            </a:r>
            <a:endParaRPr lang="en-US" altLang="zh-CN" sz="2800" b="1" dirty="0"/>
          </a:p>
          <a:p>
            <a:pPr marL="0" indent="0">
              <a:lnSpc>
                <a:spcPct val="150000"/>
              </a:lnSpc>
            </a:pPr>
            <a:r>
              <a:rPr lang="zh-CN" altLang="en-US" sz="2800" b="1" dirty="0"/>
              <a:t>纯金属较软，合金较坚硬。</a:t>
            </a:r>
            <a:endParaRPr lang="en-US" altLang="zh-CN" sz="2800" b="1" dirty="0"/>
          </a:p>
          <a:p>
            <a:pPr marL="0" indent="0">
              <a:lnSpc>
                <a:spcPct val="150000"/>
              </a:lnSpc>
            </a:pPr>
            <a:r>
              <a:rPr lang="zh-CN" altLang="en-US" sz="2800" b="1" dirty="0"/>
              <a:t>根据</a:t>
            </a:r>
            <a:r>
              <a:rPr lang="zh-CN" altLang="en-US" sz="2800" b="1" dirty="0">
                <a:solidFill>
                  <a:srgbClr val="FF0000"/>
                </a:solidFill>
              </a:rPr>
              <a:t>含碳量</a:t>
            </a:r>
            <a:r>
              <a:rPr lang="zh-CN" altLang="en-US" sz="2800" b="1" dirty="0"/>
              <a:t>的不同，可将铁分为生铁，钢和熟铁。</a:t>
            </a:r>
            <a:endParaRPr lang="en-US" altLang="zh-CN" sz="2800" b="1" dirty="0"/>
          </a:p>
          <a:p>
            <a:pPr marL="400050" lvl="1" indent="0"/>
            <a:r>
              <a:rPr lang="zh-CN" altLang="en-US" b="1" dirty="0"/>
              <a:t>含碳量 </a:t>
            </a:r>
            <a:r>
              <a:rPr lang="en-US" altLang="zh-CN" b="1" dirty="0"/>
              <a:t>1.7% </a:t>
            </a:r>
            <a:r>
              <a:rPr lang="zh-CN" altLang="en-US" b="1" dirty="0"/>
              <a:t>～</a:t>
            </a:r>
            <a:r>
              <a:rPr lang="en-US" altLang="zh-CN" b="1" dirty="0"/>
              <a:t>4.5% </a:t>
            </a:r>
            <a:r>
              <a:rPr lang="zh-CN" altLang="en-US" b="1" dirty="0"/>
              <a:t>生铁</a:t>
            </a:r>
            <a:endParaRPr lang="ms-MY" altLang="zh-CN" b="1" dirty="0"/>
          </a:p>
          <a:p>
            <a:pPr marL="400050" lvl="1" indent="0"/>
            <a:r>
              <a:rPr lang="zh-CN" altLang="en-US" b="1" dirty="0"/>
              <a:t>含碳量 </a:t>
            </a:r>
            <a:r>
              <a:rPr lang="en-US" altLang="zh-CN" b="1" dirty="0"/>
              <a:t>0.2% </a:t>
            </a:r>
            <a:r>
              <a:rPr lang="zh-CN" altLang="en-US" b="1" dirty="0"/>
              <a:t>～ </a:t>
            </a:r>
            <a:r>
              <a:rPr lang="en-US" altLang="zh-CN" b="1" dirty="0"/>
              <a:t>1.7% </a:t>
            </a:r>
            <a:r>
              <a:rPr lang="zh-CN" altLang="en-US" b="1" dirty="0"/>
              <a:t>钢</a:t>
            </a:r>
            <a:endParaRPr lang="en-US" altLang="zh-CN" b="1" dirty="0"/>
          </a:p>
          <a:p>
            <a:pPr marL="400050" lvl="1" indent="0"/>
            <a:r>
              <a:rPr lang="zh-CN" altLang="en-US" b="1" dirty="0"/>
              <a:t>含碳量 小于</a:t>
            </a:r>
            <a:r>
              <a:rPr lang="en-US" altLang="zh-CN" b="1" dirty="0"/>
              <a:t>0.2% </a:t>
            </a:r>
            <a:r>
              <a:rPr lang="zh-CN" altLang="en-US" b="1" dirty="0"/>
              <a:t>熟铁（纯铁）</a:t>
            </a:r>
            <a:endParaRPr lang="en-US" altLang="zh-CN" b="1" dirty="0"/>
          </a:p>
          <a:p>
            <a:pPr marL="0" indent="0">
              <a:lnSpc>
                <a:spcPct val="150000"/>
              </a:lnSpc>
            </a:pPr>
            <a:r>
              <a:rPr lang="zh-CN" altLang="en-US" sz="2800" b="1" dirty="0"/>
              <a:t>含碳量 </a:t>
            </a:r>
            <a:r>
              <a:rPr lang="zh-CN" altLang="en-US" sz="2800" b="1" dirty="0">
                <a:solidFill>
                  <a:srgbClr val="4A2C2C"/>
                </a:solidFill>
              </a:rPr>
              <a:t>高，硬度大， 脆；</a:t>
            </a:r>
            <a:r>
              <a:rPr lang="zh-CN" altLang="en-US" sz="2800" b="1" dirty="0"/>
              <a:t>含碳量 低</a:t>
            </a:r>
            <a:r>
              <a:rPr lang="zh-CN" altLang="en-US" sz="2800" b="1" dirty="0">
                <a:solidFill>
                  <a:srgbClr val="4A2C2C"/>
                </a:solidFill>
              </a:rPr>
              <a:t>，软，有韧性。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304800"/>
            <a:ext cx="8001000" cy="5746750"/>
          </a:xfrm>
        </p:spPr>
        <p:txBody>
          <a:bodyPr/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en-US" altLang="zh-CN" sz="4000" b="1" u="sng" dirty="0"/>
              <a:t>16.3.4 </a:t>
            </a:r>
            <a:r>
              <a:rPr lang="zh-CN" altLang="en-US" sz="4000" b="1" u="sng" dirty="0"/>
              <a:t>炼钢</a:t>
            </a:r>
            <a:endParaRPr lang="en-US" altLang="zh-CN" sz="2800" dirty="0"/>
          </a:p>
          <a:p>
            <a:pPr marL="0" indent="0">
              <a:lnSpc>
                <a:spcPct val="150000"/>
              </a:lnSpc>
            </a:pPr>
            <a:r>
              <a:rPr lang="zh-CN" altLang="en-US" b="1" dirty="0">
                <a:solidFill>
                  <a:srgbClr val="4A2C2C"/>
                </a:solidFill>
              </a:rPr>
              <a:t>原理：利用氧化剂把生铁里过多的碳和其</a:t>
            </a:r>
            <a:r>
              <a:rPr lang="en-US" altLang="zh-CN" b="1" dirty="0">
                <a:solidFill>
                  <a:srgbClr val="4A2C2C"/>
                </a:solidFill>
              </a:rPr>
              <a:t>	      </a:t>
            </a:r>
            <a:r>
              <a:rPr lang="zh-CN" altLang="en-US" b="1" dirty="0">
                <a:solidFill>
                  <a:srgbClr val="4A2C2C"/>
                </a:solidFill>
              </a:rPr>
              <a:t>他杂质氧化并除去。</a:t>
            </a:r>
            <a:endParaRPr lang="en-US" altLang="zh-CN" b="1" dirty="0">
              <a:solidFill>
                <a:srgbClr val="4A2C2C"/>
              </a:solidFill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b="1" dirty="0">
                <a:solidFill>
                  <a:srgbClr val="4A2C2C"/>
                </a:solidFill>
              </a:rPr>
              <a:t>氧气顶吹转炉炼钢法</a:t>
            </a:r>
            <a:endParaRPr lang="en-US" altLang="zh-CN" b="1" dirty="0">
              <a:solidFill>
                <a:srgbClr val="4A2C2C"/>
              </a:solidFill>
            </a:endParaRPr>
          </a:p>
        </p:txBody>
      </p:sp>
      <p:pic>
        <p:nvPicPr>
          <p:cNvPr id="4098" name="Picture 2" descr="C:\Users\user\Desktop\gang2.jpg"/>
          <p:cNvPicPr>
            <a:picLocks noChangeAspect="1" noChangeArrowheads="1"/>
          </p:cNvPicPr>
          <p:nvPr/>
        </p:nvPicPr>
        <p:blipFill>
          <a:blip r:embed="rId2"/>
          <a:srcRect t="36432" b="7946"/>
          <a:stretch>
            <a:fillRect/>
          </a:stretch>
        </p:blipFill>
        <p:spPr bwMode="auto">
          <a:xfrm>
            <a:off x="685800" y="3352800"/>
            <a:ext cx="8052858" cy="3200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b="1" dirty="0"/>
              <a:t>氧化剂：</a:t>
            </a:r>
            <a:r>
              <a:rPr lang="en-US" altLang="zh-CN" b="1" dirty="0"/>
              <a:t>O</a:t>
            </a:r>
            <a:r>
              <a:rPr lang="en-US" altLang="zh-CN" b="1" baseline="-25000" dirty="0"/>
              <a:t>2</a:t>
            </a:r>
            <a:endParaRPr lang="en-US" altLang="zh-CN" b="1" dirty="0"/>
          </a:p>
          <a:p>
            <a:r>
              <a:rPr lang="zh-CN" altLang="en-US" b="1" dirty="0"/>
              <a:t>脱氧剂：</a:t>
            </a:r>
            <a:endParaRPr lang="en-US" altLang="zh-CN" b="1" dirty="0"/>
          </a:p>
          <a:p>
            <a:pPr>
              <a:buNone/>
            </a:pPr>
            <a:r>
              <a:rPr lang="en-US" altLang="zh-CN" b="1" dirty="0"/>
              <a:t>	</a:t>
            </a:r>
            <a:r>
              <a:rPr lang="zh-CN" altLang="en-US" b="1" dirty="0"/>
              <a:t>硅铁、锰铁、铝</a:t>
            </a:r>
            <a:endParaRPr lang="en-US" altLang="zh-CN" b="1" dirty="0"/>
          </a:p>
          <a:p>
            <a:r>
              <a:rPr lang="zh-CN" altLang="en-US" b="1" dirty="0"/>
              <a:t>造渣材料：</a:t>
            </a:r>
            <a:r>
              <a:rPr lang="en-US" altLang="zh-CN" b="1" dirty="0" err="1"/>
              <a:t>CaO</a:t>
            </a:r>
            <a:endParaRPr lang="en-US" altLang="zh-CN" b="1" dirty="0"/>
          </a:p>
          <a:p>
            <a:pPr>
              <a:buNone/>
            </a:pPr>
            <a:endParaRPr lang="en-US" b="1" dirty="0"/>
          </a:p>
        </p:txBody>
      </p:sp>
      <p:pic>
        <p:nvPicPr>
          <p:cNvPr id="11266" name="Picture 2" descr="C:\Users\user\Desktop\gang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143000"/>
            <a:ext cx="3688080" cy="5562600"/>
          </a:xfrm>
          <a:prstGeom prst="rect">
            <a:avLst/>
          </a:prstGeom>
          <a:noFill/>
        </p:spPr>
      </p:pic>
      <p:sp>
        <p:nvSpPr>
          <p:cNvPr id="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304800"/>
            <a:ext cx="8001000" cy="685800"/>
          </a:xfrm>
        </p:spPr>
        <p:txBody>
          <a:bodyPr/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zh-CN" altLang="en-US" sz="4000" b="1" dirty="0">
                <a:solidFill>
                  <a:srgbClr val="4A2C2C"/>
                </a:solidFill>
              </a:rPr>
              <a:t>氧气顶吹转炉炼钢法</a:t>
            </a:r>
            <a:endParaRPr lang="en-US" altLang="zh-CN" sz="4000" b="1" dirty="0">
              <a:solidFill>
                <a:srgbClr val="4A2C2C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3400" y="4948535"/>
            <a:ext cx="38100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  2 Fe</a:t>
            </a:r>
            <a:r>
              <a:rPr lang="en-US" altLang="zh-CN" sz="2800" b="1" baseline="-25000" dirty="0"/>
              <a:t> </a:t>
            </a:r>
            <a:r>
              <a:rPr lang="en-US" altLang="zh-CN" sz="2800" b="1" dirty="0"/>
              <a:t>  +  O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ym typeface="Wingdings" pitchFamily="2" charset="2"/>
              </a:rPr>
              <a:t> 2 </a:t>
            </a:r>
            <a:r>
              <a:rPr lang="en-US" altLang="zh-CN" sz="2800" b="1" dirty="0" err="1">
                <a:sym typeface="Wingdings" pitchFamily="2" charset="2"/>
              </a:rPr>
              <a:t>FeO</a:t>
            </a:r>
            <a:endParaRPr 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09600" y="4191000"/>
            <a:ext cx="44196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  2 </a:t>
            </a:r>
            <a:r>
              <a:rPr lang="en-US" altLang="zh-CN" sz="2800" b="1" dirty="0" err="1"/>
              <a:t>FeO</a:t>
            </a:r>
            <a:r>
              <a:rPr lang="en-US" altLang="zh-CN" sz="2800" b="1" baseline="-25000" dirty="0"/>
              <a:t> </a:t>
            </a:r>
            <a:r>
              <a:rPr lang="en-US" altLang="zh-CN" sz="2800" b="1" dirty="0"/>
              <a:t> + Si  </a:t>
            </a:r>
            <a:r>
              <a:rPr lang="en-US" altLang="zh-CN" sz="2800" b="1" dirty="0">
                <a:sym typeface="Wingdings" pitchFamily="2" charset="2"/>
              </a:rPr>
              <a:t> 2 Fe + SiO</a:t>
            </a:r>
            <a:r>
              <a:rPr lang="en-US" altLang="zh-CN" sz="2800" b="1" baseline="-25000" dirty="0">
                <a:sym typeface="Wingdings" pitchFamily="2" charset="2"/>
              </a:rPr>
              <a:t>2</a:t>
            </a:r>
            <a:endParaRPr 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3729335"/>
            <a:ext cx="41910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   </a:t>
            </a:r>
            <a:r>
              <a:rPr lang="en-US" altLang="zh-CN" sz="2800" b="1" dirty="0" err="1"/>
              <a:t>FeO</a:t>
            </a:r>
            <a:r>
              <a:rPr lang="en-US" altLang="zh-CN" sz="2800" b="1" baseline="-25000" dirty="0"/>
              <a:t> </a:t>
            </a:r>
            <a:r>
              <a:rPr lang="en-US" altLang="zh-CN" sz="2800" b="1" dirty="0"/>
              <a:t> + </a:t>
            </a:r>
            <a:r>
              <a:rPr lang="en-US" altLang="zh-CN" sz="2800" b="1" dirty="0" err="1"/>
              <a:t>Mn</a:t>
            </a:r>
            <a:r>
              <a:rPr lang="en-US" altLang="zh-CN" sz="2800" b="1" dirty="0"/>
              <a:t>  </a:t>
            </a:r>
            <a:r>
              <a:rPr lang="en-US" altLang="zh-CN" sz="2800" b="1" dirty="0">
                <a:sym typeface="Wingdings" pitchFamily="2" charset="2"/>
              </a:rPr>
              <a:t>  Fe + </a:t>
            </a:r>
            <a:r>
              <a:rPr lang="en-US" altLang="zh-CN" sz="2800" b="1" dirty="0" err="1">
                <a:sym typeface="Wingdings" pitchFamily="2" charset="2"/>
              </a:rPr>
              <a:t>MnO</a:t>
            </a:r>
            <a:r>
              <a:rPr lang="en-US" altLang="zh-CN" sz="2800" b="1" dirty="0">
                <a:sym typeface="Wingdings" pitchFamily="2" charset="2"/>
              </a:rPr>
              <a:t> </a:t>
            </a:r>
            <a:endParaRPr lang="en-US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3267670"/>
            <a:ext cx="38100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   </a:t>
            </a:r>
            <a:r>
              <a:rPr lang="en-US" altLang="zh-CN" sz="2800" b="1" dirty="0" err="1"/>
              <a:t>FeO</a:t>
            </a:r>
            <a:r>
              <a:rPr lang="en-US" altLang="zh-CN" sz="2800" b="1" baseline="-25000" dirty="0"/>
              <a:t> </a:t>
            </a:r>
            <a:r>
              <a:rPr lang="en-US" altLang="zh-CN" sz="2800" b="1" dirty="0"/>
              <a:t> + C  </a:t>
            </a:r>
            <a:r>
              <a:rPr lang="en-US" altLang="zh-CN" sz="2800" b="1" dirty="0">
                <a:sym typeface="Wingdings" pitchFamily="2" charset="2"/>
              </a:rPr>
              <a:t>  Fe + CO </a:t>
            </a:r>
            <a:endParaRPr lang="en-US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895600" y="5786735"/>
            <a:ext cx="46482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   2 </a:t>
            </a:r>
            <a:r>
              <a:rPr lang="en-US" altLang="zh-CN" sz="2800" b="1" dirty="0" err="1"/>
              <a:t>FeO</a:t>
            </a:r>
            <a:r>
              <a:rPr lang="en-US" altLang="zh-CN" sz="2800" b="1" baseline="-25000" dirty="0"/>
              <a:t> </a:t>
            </a:r>
            <a:r>
              <a:rPr lang="en-US" altLang="zh-CN" sz="2800" b="1" dirty="0"/>
              <a:t> + Si  </a:t>
            </a:r>
            <a:r>
              <a:rPr lang="en-US" altLang="zh-CN" sz="2800" b="1" dirty="0">
                <a:sym typeface="Wingdings" pitchFamily="2" charset="2"/>
              </a:rPr>
              <a:t>  2 Fe + SiO</a:t>
            </a:r>
            <a:r>
              <a:rPr lang="en-US" altLang="zh-CN" sz="2800" b="1" baseline="-25000" dirty="0">
                <a:sym typeface="Wingdings" pitchFamily="2" charset="2"/>
              </a:rPr>
              <a:t>2</a:t>
            </a:r>
            <a:endParaRPr lang="en-US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029200" y="4186535"/>
            <a:ext cx="3810000" cy="12413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   </a:t>
            </a:r>
            <a:r>
              <a:rPr lang="zh-CN" altLang="en-US" sz="2800" b="1" dirty="0"/>
              <a:t>炉渣</a:t>
            </a:r>
            <a:endParaRPr lang="en-US" altLang="zh-CN" sz="2800" b="1" dirty="0"/>
          </a:p>
          <a:p>
            <a:r>
              <a:rPr lang="en-US" altLang="zh-CN" sz="2800" b="1" dirty="0"/>
              <a:t>SiO</a:t>
            </a:r>
            <a:r>
              <a:rPr lang="en-US" altLang="zh-CN" sz="2800" b="1" baseline="-25000" dirty="0"/>
              <a:t>2 </a:t>
            </a:r>
            <a:r>
              <a:rPr lang="en-US" altLang="zh-CN" sz="2800" b="1" dirty="0"/>
              <a:t> + </a:t>
            </a:r>
            <a:r>
              <a:rPr lang="en-US" altLang="zh-CN" sz="2800" b="1" dirty="0" err="1"/>
              <a:t>CaO</a:t>
            </a:r>
            <a:r>
              <a:rPr lang="en-US" altLang="zh-CN" sz="2800" b="1" dirty="0"/>
              <a:t>  </a:t>
            </a:r>
            <a:r>
              <a:rPr lang="en-US" altLang="zh-CN" sz="2800" b="1" dirty="0">
                <a:sym typeface="Wingdings" pitchFamily="2" charset="2"/>
              </a:rPr>
              <a:t>  CaSiO</a:t>
            </a:r>
            <a:r>
              <a:rPr lang="en-US" altLang="zh-CN" sz="2800" b="1" baseline="-25000" dirty="0">
                <a:sym typeface="Wingdings" pitchFamily="2" charset="2"/>
              </a:rPr>
              <a:t>3</a:t>
            </a:r>
            <a:r>
              <a:rPr lang="en-US" altLang="zh-CN" sz="2800" b="1" dirty="0">
                <a:sym typeface="Wingdings" pitchFamily="2" charset="2"/>
              </a:rPr>
              <a:t> </a:t>
            </a:r>
          </a:p>
          <a:p>
            <a:endParaRPr lang="en-US" altLang="zh-CN" sz="2800" b="1" baseline="-25000" dirty="0">
              <a:sym typeface="Wingdings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C:\Users\user\Desktop\gang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361" y="228601"/>
            <a:ext cx="8905639" cy="6629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C:\Users\user\Desktop\gang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1976" y="152400"/>
            <a:ext cx="8865824" cy="6629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C:\Users\user\Desktop\gang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76200"/>
            <a:ext cx="8686799" cy="67141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C:\Users\user\Desktop\gang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609600"/>
            <a:ext cx="4158343" cy="5821680"/>
          </a:xfrm>
          <a:prstGeom prst="rect">
            <a:avLst/>
          </a:prstGeom>
          <a:noFill/>
        </p:spPr>
      </p:pic>
      <p:pic>
        <p:nvPicPr>
          <p:cNvPr id="9219" name="Picture 3" descr="C:\Users\user\Desktop\gang6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5800" y="689156"/>
            <a:ext cx="4419600" cy="57116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 descr="C:\Users\user\Desktop\tie.jpg"/>
          <p:cNvPicPr>
            <a:picLocks noChangeAspect="1" noChangeArrowheads="1"/>
          </p:cNvPicPr>
          <p:nvPr/>
        </p:nvPicPr>
        <p:blipFill>
          <a:blip r:embed="rId2">
            <a:lum bright="-20000"/>
          </a:blip>
          <a:srcRect/>
          <a:stretch>
            <a:fillRect/>
          </a:stretch>
        </p:blipFill>
        <p:spPr bwMode="auto">
          <a:xfrm>
            <a:off x="273699" y="228600"/>
            <a:ext cx="8599089" cy="6629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1" name="Picture 3" descr="C:\Users\user\Desktop\tie1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5814" y="533400"/>
            <a:ext cx="8735786" cy="609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304800"/>
            <a:ext cx="8001000" cy="5746750"/>
          </a:xfrm>
        </p:spPr>
        <p:txBody>
          <a:bodyPr/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en-US" altLang="zh-CN" sz="4000" b="1" u="sng" dirty="0"/>
              <a:t>16.3.4 </a:t>
            </a:r>
            <a:r>
              <a:rPr lang="zh-CN" altLang="en-US" sz="4000" b="1" u="sng" dirty="0"/>
              <a:t>炼钢</a:t>
            </a:r>
            <a:endParaRPr lang="en-US" altLang="zh-CN" sz="2800" dirty="0"/>
          </a:p>
          <a:p>
            <a:pPr marL="0" indent="0">
              <a:lnSpc>
                <a:spcPct val="150000"/>
              </a:lnSpc>
            </a:pPr>
            <a:r>
              <a:rPr lang="zh-CN" altLang="en-US" b="1" dirty="0"/>
              <a:t>氧气顶吹转炉炼钢过程中会产生大量氧化铁</a:t>
            </a:r>
            <a:r>
              <a:rPr lang="en-US" altLang="zh-CN" b="1" dirty="0"/>
              <a:t>(III)</a:t>
            </a:r>
            <a:r>
              <a:rPr lang="zh-CN" altLang="en-US" b="1" dirty="0"/>
              <a:t>棕色烟和一氧化碳。</a:t>
            </a:r>
            <a:endParaRPr lang="en-US" altLang="zh-CN" b="1" dirty="0"/>
          </a:p>
          <a:p>
            <a:pPr marL="0" indent="0">
              <a:lnSpc>
                <a:spcPct val="150000"/>
              </a:lnSpc>
            </a:pPr>
            <a:r>
              <a:rPr lang="zh-CN" altLang="en-US" b="1" dirty="0">
                <a:solidFill>
                  <a:srgbClr val="4A2C2C"/>
                </a:solidFill>
              </a:rPr>
              <a:t>需净化回收，防止污染环境。</a:t>
            </a:r>
            <a:endParaRPr lang="en-US" altLang="zh-CN" b="1" dirty="0">
              <a:solidFill>
                <a:srgbClr val="4A2C2C"/>
              </a:solidFill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b="1" dirty="0">
                <a:solidFill>
                  <a:srgbClr val="4A2C2C"/>
                </a:solidFill>
              </a:rPr>
              <a:t>回收氧化铁</a:t>
            </a:r>
            <a:r>
              <a:rPr lang="en-US" altLang="zh-CN" b="1" dirty="0">
                <a:solidFill>
                  <a:srgbClr val="4A2C2C"/>
                </a:solidFill>
              </a:rPr>
              <a:t>(III)</a:t>
            </a:r>
            <a:r>
              <a:rPr lang="zh-CN" altLang="en-US" b="1" dirty="0">
                <a:solidFill>
                  <a:srgbClr val="4A2C2C"/>
                </a:solidFill>
              </a:rPr>
              <a:t>：炼钢</a:t>
            </a:r>
            <a:endParaRPr lang="en-US" altLang="zh-CN" b="1" dirty="0">
              <a:solidFill>
                <a:srgbClr val="4A2C2C"/>
              </a:solidFill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b="1" dirty="0">
                <a:solidFill>
                  <a:srgbClr val="4A2C2C"/>
                </a:solidFill>
              </a:rPr>
              <a:t>回收一氧化碳：燃料</a:t>
            </a:r>
            <a:endParaRPr lang="en-US" altLang="zh-CN" b="1" dirty="0">
              <a:solidFill>
                <a:srgbClr val="4A2C2C"/>
              </a:solidFill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b="1" dirty="0">
                <a:solidFill>
                  <a:srgbClr val="4A2C2C"/>
                </a:solidFill>
              </a:rPr>
              <a:t>回收炉渣：钢渣水泥、磷肥</a:t>
            </a:r>
            <a:endParaRPr lang="en-US" altLang="zh-CN" b="1" dirty="0">
              <a:solidFill>
                <a:srgbClr val="4A2C2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304800"/>
            <a:ext cx="8001000" cy="5746750"/>
          </a:xfrm>
        </p:spPr>
        <p:txBody>
          <a:bodyPr/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en-US" altLang="zh-CN" sz="4000" b="1" u="sng" dirty="0"/>
              <a:t>16.3.4 </a:t>
            </a:r>
            <a:r>
              <a:rPr lang="zh-CN" altLang="en-US" sz="4000" b="1" u="sng" dirty="0"/>
              <a:t>炼铁和炼钢</a:t>
            </a:r>
            <a:endParaRPr lang="en-US" altLang="zh-CN" sz="4000" b="1" u="sng" dirty="0"/>
          </a:p>
          <a:p>
            <a:pPr marL="0" indent="0">
              <a:lnSpc>
                <a:spcPct val="80000"/>
              </a:lnSpc>
              <a:buFontTx/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</a:pPr>
            <a:r>
              <a:rPr lang="zh-CN" altLang="en-US" b="1" dirty="0"/>
              <a:t>炼铁原理：利用还原剂将铁矿石还原为单质铁。</a:t>
            </a:r>
            <a:endParaRPr lang="en-US" altLang="zh-CN" b="1" dirty="0">
              <a:solidFill>
                <a:srgbClr val="4A2C2C"/>
              </a:solidFill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b="1" dirty="0">
                <a:solidFill>
                  <a:srgbClr val="4A2C2C"/>
                </a:solidFill>
              </a:rPr>
              <a:t>炼钢原理：利用氧化剂把生铁中过多的碳和其他杂质氧化并除去。</a:t>
            </a:r>
            <a:endParaRPr lang="en-US" altLang="zh-CN" b="1" dirty="0">
              <a:solidFill>
                <a:srgbClr val="4A2C2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304800"/>
            <a:ext cx="8001000" cy="5746750"/>
          </a:xfrm>
        </p:spPr>
        <p:txBody>
          <a:bodyPr/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zh-CN" altLang="en-US" b="1" u="sng" dirty="0"/>
              <a:t>思考题</a:t>
            </a:r>
            <a:r>
              <a:rPr lang="en-US" altLang="zh-CN" b="1" u="sng" dirty="0"/>
              <a:t>16b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</a:pPr>
            <a:r>
              <a:rPr lang="en-US" altLang="zh-CN" b="1" dirty="0">
                <a:solidFill>
                  <a:srgbClr val="4A2C2C"/>
                </a:solidFill>
              </a:rPr>
              <a:t>C (FeCl</a:t>
            </a:r>
            <a:r>
              <a:rPr lang="en-US" altLang="zh-CN" b="1" baseline="-25000" dirty="0">
                <a:solidFill>
                  <a:srgbClr val="4A2C2C"/>
                </a:solidFill>
              </a:rPr>
              <a:t>2</a:t>
            </a:r>
            <a:r>
              <a:rPr lang="en-US" altLang="zh-CN" b="1" dirty="0">
                <a:solidFill>
                  <a:srgbClr val="4A2C2C"/>
                </a:solidFill>
              </a:rPr>
              <a:t>)</a:t>
            </a:r>
          </a:p>
          <a:p>
            <a:pPr marL="514350" indent="-514350">
              <a:lnSpc>
                <a:spcPct val="80000"/>
              </a:lnSpc>
              <a:buNone/>
            </a:pPr>
            <a:endParaRPr lang="en-US" altLang="zh-CN" b="1" dirty="0">
              <a:solidFill>
                <a:srgbClr val="4A2C2C"/>
              </a:solidFill>
            </a:endParaRPr>
          </a:p>
          <a:p>
            <a:pPr marL="514350" indent="-514350">
              <a:lnSpc>
                <a:spcPct val="80000"/>
              </a:lnSpc>
              <a:buNone/>
            </a:pPr>
            <a:r>
              <a:rPr lang="en-US" altLang="zh-CN" b="1" dirty="0">
                <a:solidFill>
                  <a:srgbClr val="4A2C2C"/>
                </a:solidFill>
              </a:rPr>
              <a:t>2. 	</a:t>
            </a:r>
            <a:r>
              <a:rPr lang="en-US" altLang="zh-CN" b="1" dirty="0">
                <a:sym typeface="Wingdings" pitchFamily="2" charset="2"/>
              </a:rPr>
              <a:t> 2 FeCl</a:t>
            </a:r>
            <a:r>
              <a:rPr lang="en-US" altLang="zh-CN" b="1" baseline="-25000" dirty="0">
                <a:sym typeface="Wingdings" pitchFamily="2" charset="2"/>
              </a:rPr>
              <a:t>3</a:t>
            </a:r>
            <a:r>
              <a:rPr lang="en-US" altLang="zh-CN" b="1" dirty="0">
                <a:sym typeface="Wingdings" pitchFamily="2" charset="2"/>
              </a:rPr>
              <a:t> + Fe  3 FeCl</a:t>
            </a:r>
            <a:r>
              <a:rPr lang="en-US" altLang="zh-CN" b="1" baseline="-25000" dirty="0">
                <a:sym typeface="Wingdings" pitchFamily="2" charset="2"/>
              </a:rPr>
              <a:t>2</a:t>
            </a:r>
            <a:r>
              <a:rPr lang="en-US" altLang="zh-CN" b="1" dirty="0">
                <a:sym typeface="Wingdings" pitchFamily="2" charset="2"/>
              </a:rPr>
              <a:t> </a:t>
            </a:r>
            <a:endParaRPr lang="en-US" altLang="zh-CN" b="1" dirty="0">
              <a:solidFill>
                <a:srgbClr val="4A2C2C"/>
              </a:solidFill>
            </a:endParaRPr>
          </a:p>
          <a:p>
            <a:pPr marL="514350" indent="-514350">
              <a:lnSpc>
                <a:spcPct val="80000"/>
              </a:lnSpc>
              <a:buNone/>
            </a:pPr>
            <a:r>
              <a:rPr lang="en-US" altLang="zh-CN" b="1" dirty="0">
                <a:sym typeface="Wingdings" pitchFamily="2" charset="2"/>
              </a:rPr>
              <a:t>	2 FeCl</a:t>
            </a:r>
            <a:r>
              <a:rPr lang="en-US" altLang="zh-CN" b="1" baseline="-25000" dirty="0">
                <a:sym typeface="Wingdings" pitchFamily="2" charset="2"/>
              </a:rPr>
              <a:t>3</a:t>
            </a:r>
            <a:r>
              <a:rPr lang="en-US" altLang="zh-CN" b="1" dirty="0">
                <a:sym typeface="Wingdings" pitchFamily="2" charset="2"/>
              </a:rPr>
              <a:t> + Cu  2 FeCl</a:t>
            </a:r>
            <a:r>
              <a:rPr lang="en-US" altLang="zh-CN" b="1" baseline="-25000" dirty="0">
                <a:sym typeface="Wingdings" pitchFamily="2" charset="2"/>
              </a:rPr>
              <a:t>2</a:t>
            </a:r>
            <a:r>
              <a:rPr lang="en-US" altLang="zh-CN" b="1" dirty="0">
                <a:sym typeface="Wingdings" pitchFamily="2" charset="2"/>
              </a:rPr>
              <a:t> + CuCl</a:t>
            </a:r>
            <a:r>
              <a:rPr lang="en-US" altLang="zh-CN" b="1" baseline="-25000" dirty="0">
                <a:sym typeface="Wingdings" pitchFamily="2" charset="2"/>
              </a:rPr>
              <a:t>2</a:t>
            </a:r>
            <a:endParaRPr lang="en-US" altLang="zh-CN" b="1" dirty="0">
              <a:sym typeface="Wingdings" pitchFamily="2" charset="2"/>
            </a:endParaRPr>
          </a:p>
          <a:p>
            <a:pPr marL="514350" indent="-514350">
              <a:lnSpc>
                <a:spcPct val="80000"/>
              </a:lnSpc>
              <a:buNone/>
            </a:pPr>
            <a:r>
              <a:rPr lang="en-US" altLang="zh-CN" b="1" dirty="0">
                <a:solidFill>
                  <a:srgbClr val="4A2C2C"/>
                </a:solidFill>
              </a:rPr>
              <a:t>	Fe + CuCl</a:t>
            </a:r>
            <a:r>
              <a:rPr lang="en-US" altLang="zh-CN" b="1" baseline="-25000" dirty="0">
                <a:solidFill>
                  <a:srgbClr val="4A2C2C"/>
                </a:solidFill>
              </a:rPr>
              <a:t>2</a:t>
            </a:r>
            <a:r>
              <a:rPr lang="en-US" altLang="zh-CN" b="1" dirty="0">
                <a:solidFill>
                  <a:srgbClr val="4A2C2C"/>
                </a:solidFill>
              </a:rPr>
              <a:t> </a:t>
            </a:r>
            <a:r>
              <a:rPr lang="en-US" altLang="zh-CN" b="1" dirty="0">
                <a:solidFill>
                  <a:srgbClr val="4A2C2C"/>
                </a:solidFill>
                <a:sym typeface="Wingdings" panose="05000000000000000000" pitchFamily="2" charset="2"/>
              </a:rPr>
              <a:t> FeCl</a:t>
            </a:r>
            <a:r>
              <a:rPr lang="en-US" altLang="zh-CN" b="1" baseline="-25000" dirty="0">
                <a:solidFill>
                  <a:srgbClr val="4A2C2C"/>
                </a:solidFill>
                <a:sym typeface="Wingdings" panose="05000000000000000000" pitchFamily="2" charset="2"/>
              </a:rPr>
              <a:t>2</a:t>
            </a:r>
            <a:r>
              <a:rPr lang="en-US" altLang="zh-CN" b="1" dirty="0">
                <a:solidFill>
                  <a:srgbClr val="4A2C2C"/>
                </a:solidFill>
                <a:sym typeface="Wingdings" panose="05000000000000000000" pitchFamily="2" charset="2"/>
              </a:rPr>
              <a:t> + Cu</a:t>
            </a:r>
            <a:endParaRPr lang="en-US" altLang="zh-CN" b="1" dirty="0">
              <a:solidFill>
                <a:srgbClr val="4A2C2C"/>
              </a:solidFill>
            </a:endParaRPr>
          </a:p>
          <a:p>
            <a:pPr marL="514350" indent="-514350">
              <a:lnSpc>
                <a:spcPct val="80000"/>
              </a:lnSpc>
              <a:buNone/>
            </a:pPr>
            <a:r>
              <a:rPr lang="en-US" altLang="zh-CN" b="1" dirty="0">
                <a:solidFill>
                  <a:srgbClr val="4A2C2C"/>
                </a:solidFill>
              </a:rPr>
              <a:t>Fe </a:t>
            </a:r>
            <a:r>
              <a:rPr lang="zh-CN" altLang="en-US" b="1" dirty="0">
                <a:solidFill>
                  <a:srgbClr val="4A2C2C"/>
                </a:solidFill>
              </a:rPr>
              <a:t>能将</a:t>
            </a:r>
            <a:r>
              <a:rPr lang="en-US" altLang="zh-CN" b="1" dirty="0">
                <a:solidFill>
                  <a:srgbClr val="4A2C2C"/>
                </a:solidFill>
              </a:rPr>
              <a:t>Cu</a:t>
            </a:r>
            <a:r>
              <a:rPr lang="en-US" altLang="zh-CN" b="1" baseline="30000" dirty="0">
                <a:solidFill>
                  <a:srgbClr val="4A2C2C"/>
                </a:solidFill>
              </a:rPr>
              <a:t>2+</a:t>
            </a:r>
            <a:r>
              <a:rPr lang="en-US" altLang="zh-CN" b="1" dirty="0">
                <a:solidFill>
                  <a:srgbClr val="4A2C2C"/>
                </a:solidFill>
              </a:rPr>
              <a:t> </a:t>
            </a:r>
            <a:r>
              <a:rPr lang="zh-CN" altLang="en-US" b="1" dirty="0">
                <a:solidFill>
                  <a:srgbClr val="4A2C2C"/>
                </a:solidFill>
              </a:rPr>
              <a:t>置换，所以有</a:t>
            </a:r>
            <a:r>
              <a:rPr lang="en-US" altLang="zh-CN" b="1" dirty="0">
                <a:solidFill>
                  <a:srgbClr val="4A2C2C"/>
                </a:solidFill>
              </a:rPr>
              <a:t>Fe</a:t>
            </a:r>
            <a:r>
              <a:rPr lang="zh-CN" altLang="en-US" b="1" dirty="0">
                <a:solidFill>
                  <a:srgbClr val="4A2C2C"/>
                </a:solidFill>
              </a:rPr>
              <a:t>就一定有</a:t>
            </a:r>
            <a:r>
              <a:rPr lang="en-US" altLang="zh-CN" b="1" dirty="0">
                <a:solidFill>
                  <a:srgbClr val="4A2C2C"/>
                </a:solidFill>
              </a:rPr>
              <a:t>Cu</a:t>
            </a:r>
            <a:r>
              <a:rPr lang="zh-CN" altLang="en-US" b="1" dirty="0">
                <a:solidFill>
                  <a:srgbClr val="4A2C2C"/>
                </a:solidFill>
              </a:rPr>
              <a:t>，</a:t>
            </a:r>
            <a:endParaRPr lang="en-US" altLang="zh-CN" b="1" dirty="0">
              <a:solidFill>
                <a:srgbClr val="4A2C2C"/>
              </a:solidFill>
            </a:endParaRPr>
          </a:p>
          <a:p>
            <a:pPr marL="514350" indent="-514350">
              <a:lnSpc>
                <a:spcPct val="80000"/>
              </a:lnSpc>
              <a:buNone/>
            </a:pPr>
            <a:r>
              <a:rPr lang="zh-CN" altLang="en-US" b="1" dirty="0">
                <a:solidFill>
                  <a:srgbClr val="4A2C2C"/>
                </a:solidFill>
              </a:rPr>
              <a:t>有</a:t>
            </a:r>
            <a:r>
              <a:rPr lang="en-US" altLang="zh-CN" b="1" dirty="0">
                <a:solidFill>
                  <a:srgbClr val="4A2C2C"/>
                </a:solidFill>
              </a:rPr>
              <a:t>Cu</a:t>
            </a:r>
            <a:r>
              <a:rPr lang="zh-CN" altLang="en-US" b="1" dirty="0">
                <a:solidFill>
                  <a:srgbClr val="4A2C2C"/>
                </a:solidFill>
              </a:rPr>
              <a:t>不一定有铁。</a:t>
            </a:r>
            <a:endParaRPr lang="en-US" altLang="zh-CN" b="1" dirty="0">
              <a:solidFill>
                <a:srgbClr val="4A2C2C"/>
              </a:solidFill>
            </a:endParaRPr>
          </a:p>
          <a:p>
            <a:pPr marL="514350" indent="-514350">
              <a:lnSpc>
                <a:spcPct val="80000"/>
              </a:lnSpc>
              <a:buNone/>
            </a:pPr>
            <a:r>
              <a:rPr lang="en-US" altLang="zh-CN" b="1" dirty="0">
                <a:solidFill>
                  <a:srgbClr val="4A2C2C"/>
                </a:solidFill>
              </a:rPr>
              <a:t>	A </a:t>
            </a:r>
            <a:r>
              <a:rPr lang="zh-CN" altLang="en-US" b="1" dirty="0">
                <a:solidFill>
                  <a:srgbClr val="4A2C2C"/>
                </a:solidFill>
              </a:rPr>
              <a:t>铁粉限量</a:t>
            </a:r>
            <a:endParaRPr lang="en-US" altLang="zh-CN" b="1" dirty="0">
              <a:solidFill>
                <a:srgbClr val="4A2C2C"/>
              </a:solidFill>
            </a:endParaRPr>
          </a:p>
          <a:p>
            <a:pPr marL="514350" indent="-514350">
              <a:lnSpc>
                <a:spcPct val="80000"/>
              </a:lnSpc>
              <a:buNone/>
            </a:pPr>
            <a:r>
              <a:rPr lang="en-US" altLang="zh-CN" b="1" dirty="0">
                <a:solidFill>
                  <a:srgbClr val="4A2C2C"/>
                </a:solidFill>
              </a:rPr>
              <a:t>	C FeCl</a:t>
            </a:r>
            <a:r>
              <a:rPr lang="en-US" altLang="zh-CN" b="1" baseline="-25000" dirty="0">
                <a:solidFill>
                  <a:srgbClr val="4A2C2C"/>
                </a:solidFill>
              </a:rPr>
              <a:t>3</a:t>
            </a:r>
            <a:r>
              <a:rPr lang="en-US" altLang="zh-CN" b="1" dirty="0">
                <a:solidFill>
                  <a:srgbClr val="4A2C2C"/>
                </a:solidFill>
              </a:rPr>
              <a:t> </a:t>
            </a:r>
            <a:r>
              <a:rPr lang="zh-CN" altLang="en-US" b="1" dirty="0">
                <a:solidFill>
                  <a:srgbClr val="4A2C2C"/>
                </a:solidFill>
              </a:rPr>
              <a:t>限量</a:t>
            </a:r>
            <a:endParaRPr lang="en-US" altLang="zh-CN" b="1" dirty="0">
              <a:solidFill>
                <a:srgbClr val="4A2C2C"/>
              </a:solidFill>
            </a:endParaRPr>
          </a:p>
          <a:p>
            <a:pPr marL="514350" indent="-514350">
              <a:lnSpc>
                <a:spcPct val="80000"/>
              </a:lnSpc>
              <a:buNone/>
            </a:pPr>
            <a:r>
              <a:rPr lang="en-US" altLang="zh-CN" b="1" dirty="0">
                <a:solidFill>
                  <a:srgbClr val="4A2C2C"/>
                </a:solidFill>
              </a:rPr>
              <a:t>	D FeCl</a:t>
            </a:r>
            <a:r>
              <a:rPr lang="en-US" altLang="zh-CN" b="1" baseline="-25000" dirty="0">
                <a:solidFill>
                  <a:srgbClr val="4A2C2C"/>
                </a:solidFill>
              </a:rPr>
              <a:t>3</a:t>
            </a:r>
            <a:r>
              <a:rPr lang="en-US" altLang="zh-CN" b="1" dirty="0">
                <a:solidFill>
                  <a:srgbClr val="4A2C2C"/>
                </a:solidFill>
              </a:rPr>
              <a:t> </a:t>
            </a:r>
            <a:r>
              <a:rPr lang="zh-CN" altLang="en-US" b="1" dirty="0">
                <a:solidFill>
                  <a:srgbClr val="4A2C2C"/>
                </a:solidFill>
              </a:rPr>
              <a:t>过量</a:t>
            </a:r>
            <a:endParaRPr lang="en-US" altLang="zh-CN" b="1" dirty="0">
              <a:solidFill>
                <a:srgbClr val="4A2C2C"/>
              </a:solidFill>
            </a:endParaRPr>
          </a:p>
          <a:p>
            <a:pPr marL="514350" indent="-514350">
              <a:lnSpc>
                <a:spcPct val="80000"/>
              </a:lnSpc>
              <a:buNone/>
            </a:pPr>
            <a:r>
              <a:rPr lang="en-US" altLang="zh-CN" b="1" dirty="0" err="1">
                <a:solidFill>
                  <a:srgbClr val="4A2C2C"/>
                </a:solidFill>
              </a:rPr>
              <a:t>Ans</a:t>
            </a:r>
            <a:r>
              <a:rPr lang="en-US" altLang="zh-CN" b="1" dirty="0">
                <a:solidFill>
                  <a:srgbClr val="4A2C2C"/>
                </a:solidFill>
              </a:rPr>
              <a:t>: B</a:t>
            </a:r>
            <a:endParaRPr lang="en-US" altLang="zh-CN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1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1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17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17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273050"/>
            <a:ext cx="8001000" cy="5746750"/>
          </a:xfrm>
        </p:spPr>
        <p:txBody>
          <a:bodyPr/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en-US" altLang="zh-CN" sz="4000" b="1" u="sng" dirty="0"/>
              <a:t>16.4 </a:t>
            </a:r>
            <a:r>
              <a:rPr lang="zh-CN" altLang="en-US" sz="4000" b="1" u="sng" dirty="0"/>
              <a:t>铜</a:t>
            </a:r>
            <a:endParaRPr lang="en-US" altLang="zh-CN" b="1" dirty="0">
              <a:solidFill>
                <a:srgbClr val="4A2C2C"/>
              </a:solidFill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b="1" dirty="0">
                <a:solidFill>
                  <a:srgbClr val="4A2C2C"/>
                </a:solidFill>
              </a:rPr>
              <a:t>重要金属元素，</a:t>
            </a:r>
            <a:r>
              <a:rPr lang="zh-CN" altLang="en-US" b="1" u="sng" dirty="0">
                <a:solidFill>
                  <a:srgbClr val="4A2C2C"/>
                </a:solidFill>
              </a:rPr>
              <a:t>产量</a:t>
            </a:r>
            <a:r>
              <a:rPr lang="zh-CN" altLang="en-US" b="1" dirty="0">
                <a:solidFill>
                  <a:srgbClr val="4A2C2C"/>
                </a:solidFill>
              </a:rPr>
              <a:t>占第三位。</a:t>
            </a:r>
            <a:endParaRPr lang="en-US" altLang="zh-CN" b="1" dirty="0">
              <a:solidFill>
                <a:srgbClr val="4A2C2C"/>
              </a:solidFill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b="1" dirty="0">
                <a:solidFill>
                  <a:srgbClr val="4A2C2C"/>
                </a:solidFill>
              </a:rPr>
              <a:t>过渡元素</a:t>
            </a:r>
            <a:endParaRPr lang="en-US" altLang="zh-CN" b="1" dirty="0">
              <a:solidFill>
                <a:srgbClr val="4A2C2C"/>
              </a:solidFill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b="1" dirty="0">
                <a:solidFill>
                  <a:srgbClr val="4A2C2C"/>
                </a:solidFill>
              </a:rPr>
              <a:t>电子排布式：</a:t>
            </a:r>
            <a:r>
              <a:rPr lang="en-US" altLang="zh-CN" b="1" dirty="0">
                <a:solidFill>
                  <a:srgbClr val="4A2C2C"/>
                </a:solidFill>
              </a:rPr>
              <a:t>[</a:t>
            </a:r>
            <a:r>
              <a:rPr lang="en-US" altLang="zh-CN" b="1" dirty="0" err="1">
                <a:solidFill>
                  <a:srgbClr val="4A2C2C"/>
                </a:solidFill>
              </a:rPr>
              <a:t>Ar</a:t>
            </a:r>
            <a:r>
              <a:rPr lang="en-US" altLang="zh-CN" b="1" dirty="0">
                <a:solidFill>
                  <a:srgbClr val="4A2C2C"/>
                </a:solidFill>
              </a:rPr>
              <a:t>] 3d</a:t>
            </a:r>
            <a:r>
              <a:rPr lang="en-US" altLang="zh-CN" b="1" baseline="30000" dirty="0">
                <a:solidFill>
                  <a:srgbClr val="4A2C2C"/>
                </a:solidFill>
              </a:rPr>
              <a:t>10</a:t>
            </a:r>
            <a:r>
              <a:rPr lang="en-US" altLang="zh-CN" b="1" dirty="0">
                <a:solidFill>
                  <a:srgbClr val="4A2C2C"/>
                </a:solidFill>
              </a:rPr>
              <a:t> 4s</a:t>
            </a:r>
            <a:r>
              <a:rPr lang="en-US" altLang="zh-CN" b="1" baseline="30000" dirty="0">
                <a:solidFill>
                  <a:srgbClr val="4A2C2C"/>
                </a:solidFill>
              </a:rPr>
              <a:t>1 </a:t>
            </a:r>
            <a:r>
              <a:rPr lang="en-US" altLang="zh-CN" b="1" dirty="0">
                <a:solidFill>
                  <a:srgbClr val="4A2C2C"/>
                </a:solidFill>
              </a:rPr>
              <a:t> </a:t>
            </a:r>
            <a:endParaRPr lang="en-US" altLang="zh-CN" b="1" baseline="30000" dirty="0">
              <a:solidFill>
                <a:srgbClr val="4A2C2C"/>
              </a:solidFill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b="1" dirty="0">
                <a:solidFill>
                  <a:srgbClr val="4A2C2C"/>
                </a:solidFill>
              </a:rPr>
              <a:t>氧化数：</a:t>
            </a:r>
            <a:r>
              <a:rPr lang="en-US" altLang="zh-CN" b="1" dirty="0">
                <a:solidFill>
                  <a:srgbClr val="4A2C2C"/>
                </a:solidFill>
              </a:rPr>
              <a:t>0</a:t>
            </a:r>
            <a:r>
              <a:rPr lang="zh-CN" altLang="en-US" b="1" dirty="0">
                <a:solidFill>
                  <a:srgbClr val="4A2C2C"/>
                </a:solidFill>
              </a:rPr>
              <a:t>、</a:t>
            </a:r>
            <a:r>
              <a:rPr lang="en-US" altLang="zh-CN" b="1" dirty="0">
                <a:solidFill>
                  <a:srgbClr val="4A2C2C"/>
                </a:solidFill>
              </a:rPr>
              <a:t>+1</a:t>
            </a:r>
            <a:r>
              <a:rPr lang="zh-CN" altLang="en-US" b="1" dirty="0">
                <a:solidFill>
                  <a:srgbClr val="4A2C2C"/>
                </a:solidFill>
              </a:rPr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+2</a:t>
            </a:r>
            <a:endParaRPr lang="en-US" altLang="zh-CN" b="1" dirty="0">
              <a:solidFill>
                <a:srgbClr val="4A2C2C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16.4 </a:t>
            </a:r>
            <a:r>
              <a:rPr lang="zh-CN" altLang="en-US" sz="4000" b="1" u="sng" dirty="0">
                <a:latin typeface="+mn-ea"/>
              </a:rPr>
              <a:t>铜</a:t>
            </a:r>
            <a:endParaRPr lang="en-US" altLang="zh-CN" sz="4000" b="1" u="sng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导电性好：电器工业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合金：机械仪器、仪表工业、枪弹、炮弹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黄铜</a:t>
            </a:r>
            <a:r>
              <a:rPr lang="en-US" altLang="zh-CN" b="1" dirty="0">
                <a:latin typeface="+mn-ea"/>
                <a:sym typeface="Wingdings" pitchFamily="2" charset="2"/>
              </a:rPr>
              <a:t>(Cu-Zn)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青铜</a:t>
            </a:r>
            <a:r>
              <a:rPr lang="en-US" altLang="zh-CN" b="1" dirty="0">
                <a:latin typeface="+mn-ea"/>
                <a:sym typeface="Wingdings" pitchFamily="2" charset="2"/>
              </a:rPr>
              <a:t>(Cu-</a:t>
            </a:r>
            <a:r>
              <a:rPr lang="en-US" altLang="zh-CN" b="1" dirty="0" err="1">
                <a:latin typeface="+mn-ea"/>
                <a:sym typeface="Wingdings" pitchFamily="2" charset="2"/>
              </a:rPr>
              <a:t>Sn</a:t>
            </a:r>
            <a:r>
              <a:rPr lang="en-US" altLang="zh-CN" b="1" dirty="0">
                <a:latin typeface="+mn-ea"/>
                <a:sym typeface="Wingdings" pitchFamily="2" charset="2"/>
              </a:rPr>
              <a:t>)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德国银</a:t>
            </a:r>
            <a:r>
              <a:rPr lang="en-US" altLang="zh-CN" b="1" dirty="0">
                <a:latin typeface="+mn-ea"/>
                <a:sym typeface="Wingdings" pitchFamily="2" charset="2"/>
              </a:rPr>
              <a:t>(Cu-Zn-Ni)</a:t>
            </a:r>
          </a:p>
        </p:txBody>
      </p:sp>
      <p:pic>
        <p:nvPicPr>
          <p:cNvPr id="5" name="Picture 4" descr="Cu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3200400"/>
            <a:ext cx="2466975" cy="1857375"/>
          </a:xfrm>
          <a:prstGeom prst="rect">
            <a:avLst/>
          </a:prstGeom>
        </p:spPr>
      </p:pic>
      <p:pic>
        <p:nvPicPr>
          <p:cNvPr id="6" name="Picture 5" descr="CuZn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2667000"/>
            <a:ext cx="3581400" cy="3581400"/>
          </a:xfrm>
          <a:prstGeom prst="rect">
            <a:avLst/>
          </a:prstGeom>
        </p:spPr>
      </p:pic>
      <p:pic>
        <p:nvPicPr>
          <p:cNvPr id="7" name="Picture 6" descr="Cu2.jpg"/>
          <p:cNvPicPr>
            <a:picLocks noChangeAspect="1"/>
          </p:cNvPicPr>
          <p:nvPr/>
        </p:nvPicPr>
        <p:blipFill>
          <a:blip r:embed="rId4"/>
          <a:srcRect l="13115"/>
          <a:stretch>
            <a:fillRect/>
          </a:stretch>
        </p:blipFill>
        <p:spPr>
          <a:xfrm>
            <a:off x="4648200" y="2667000"/>
            <a:ext cx="4343150" cy="3124200"/>
          </a:xfrm>
          <a:prstGeom prst="rect">
            <a:avLst/>
          </a:prstGeom>
        </p:spPr>
      </p:pic>
      <p:pic>
        <p:nvPicPr>
          <p:cNvPr id="8" name="Picture 7" descr="Cusn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275144"/>
            <a:ext cx="3124201" cy="5101558"/>
          </a:xfrm>
          <a:prstGeom prst="rect">
            <a:avLst/>
          </a:prstGeom>
        </p:spPr>
      </p:pic>
      <p:pic>
        <p:nvPicPr>
          <p:cNvPr id="9" name="Picture 8" descr="CUsn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3978" y="2362200"/>
            <a:ext cx="4677622" cy="3905250"/>
          </a:xfrm>
          <a:prstGeom prst="rect">
            <a:avLst/>
          </a:prstGeom>
        </p:spPr>
      </p:pic>
      <p:pic>
        <p:nvPicPr>
          <p:cNvPr id="10" name="Picture 9" descr="Cusn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9600" y="1981200"/>
            <a:ext cx="4572000" cy="4348758"/>
          </a:xfrm>
          <a:prstGeom prst="rect">
            <a:avLst/>
          </a:prstGeom>
        </p:spPr>
      </p:pic>
      <p:pic>
        <p:nvPicPr>
          <p:cNvPr id="11" name="Picture 10" descr="Cusn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6800" y="2209800"/>
            <a:ext cx="2881313" cy="4070426"/>
          </a:xfrm>
          <a:prstGeom prst="rect">
            <a:avLst/>
          </a:prstGeom>
        </p:spPr>
      </p:pic>
      <p:pic>
        <p:nvPicPr>
          <p:cNvPr id="12" name="Picture 11" descr="CuZnNi2.jpeg"/>
          <p:cNvPicPr>
            <a:picLocks noChangeAspect="1"/>
          </p:cNvPicPr>
          <p:nvPr/>
        </p:nvPicPr>
        <p:blipFill>
          <a:blip r:embed="rId9"/>
          <a:srcRect l="2112" t="5024" r="2922" b="2041"/>
          <a:stretch>
            <a:fillRect/>
          </a:stretch>
        </p:blipFill>
        <p:spPr>
          <a:xfrm>
            <a:off x="4343400" y="3276600"/>
            <a:ext cx="4800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7162800" cy="5364163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16.4.1 </a:t>
            </a:r>
            <a:r>
              <a:rPr lang="zh-CN" altLang="en-US" sz="4000" b="1" u="sng" dirty="0">
                <a:latin typeface="+mn-ea"/>
              </a:rPr>
              <a:t>铜的物理性质</a:t>
            </a:r>
            <a:endParaRPr lang="ms-MY" altLang="en-US" sz="28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</a:rPr>
              <a:t>紫红色光泽的金属</a:t>
            </a:r>
            <a:endParaRPr lang="en-US" altLang="zh-CN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</a:rPr>
              <a:t>熔点</a:t>
            </a:r>
            <a:r>
              <a:rPr lang="en-US" altLang="zh-CN" b="1" dirty="0">
                <a:latin typeface="+mn-ea"/>
              </a:rPr>
              <a:t>1083</a:t>
            </a:r>
            <a:r>
              <a:rPr lang="en-US" altLang="zh-CN" b="1" baseline="30000" dirty="0">
                <a:latin typeface="+mn-ea"/>
              </a:rPr>
              <a:t>o</a:t>
            </a:r>
            <a:r>
              <a:rPr lang="en-US" altLang="zh-CN" b="1" dirty="0">
                <a:latin typeface="+mn-ea"/>
              </a:rPr>
              <a:t>C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</a:rPr>
              <a:t>密度</a:t>
            </a:r>
            <a:r>
              <a:rPr lang="en-US" altLang="zh-CN" b="1" dirty="0">
                <a:latin typeface="+mn-ea"/>
              </a:rPr>
              <a:t>8920kgm</a:t>
            </a:r>
            <a:r>
              <a:rPr lang="en-US" altLang="zh-CN" b="1" baseline="30000" dirty="0">
                <a:latin typeface="+mn-ea"/>
              </a:rPr>
              <a:t>-3</a:t>
            </a:r>
            <a:r>
              <a:rPr lang="en-US" altLang="zh-CN" b="1" dirty="0">
                <a:latin typeface="+mn-ea"/>
              </a:rPr>
              <a:t>  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</a:rPr>
              <a:t>纯铜质软</a:t>
            </a:r>
            <a:endParaRPr lang="en-US" altLang="zh-CN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</a:rPr>
              <a:t>具有金属特性</a:t>
            </a:r>
            <a:endParaRPr lang="en-US" altLang="zh-CN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>
              <a:latin typeface="+mn-ea"/>
            </a:endParaRPr>
          </a:p>
        </p:txBody>
      </p:sp>
      <p:pic>
        <p:nvPicPr>
          <p:cNvPr id="3" name="Picture 2" descr="Cu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76801" y="1054435"/>
            <a:ext cx="2971800" cy="298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171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16.4.1 </a:t>
            </a:r>
            <a:r>
              <a:rPr lang="zh-CN" altLang="en-US" sz="4000" b="1" u="sng" dirty="0">
                <a:latin typeface="+mn-ea"/>
              </a:rPr>
              <a:t>铜的化学性质</a:t>
            </a:r>
            <a:endParaRPr lang="en-US" altLang="zh-CN" sz="4000" b="1" u="sng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</a:rPr>
              <a:t>不活泼，耐腐蚀能力较好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碱式碳酸铜有毒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2 Cu + H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b="1" dirty="0">
                <a:latin typeface="+mn-ea"/>
                <a:sym typeface="Wingdings" pitchFamily="2" charset="2"/>
              </a:rPr>
              <a:t>O + O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b="1" dirty="0">
                <a:latin typeface="+mn-ea"/>
                <a:sym typeface="Wingdings" pitchFamily="2" charset="2"/>
              </a:rPr>
              <a:t> + CO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b="1" dirty="0">
                <a:latin typeface="+mn-ea"/>
                <a:sym typeface="Wingdings" pitchFamily="2" charset="2"/>
              </a:rPr>
              <a:t>  CuCO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b="1" dirty="0">
                <a:latin typeface="+mn-ea"/>
                <a:sym typeface="Wingdings" pitchFamily="2" charset="2"/>
              </a:rPr>
              <a:t>·Cu(OH)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高温下，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>
                <a:latin typeface="+mn-ea"/>
                <a:sym typeface="Wingdings" pitchFamily="2" charset="2"/>
              </a:rPr>
              <a:t>Cu + S  	</a:t>
            </a:r>
            <a:r>
              <a:rPr lang="en-US" altLang="zh-CN" b="1" dirty="0" err="1">
                <a:latin typeface="+mn-ea"/>
                <a:sym typeface="Wingdings" pitchFamily="2" charset="2"/>
              </a:rPr>
              <a:t>CuS</a:t>
            </a:r>
            <a:r>
              <a:rPr lang="en-US" altLang="zh-CN" b="1" dirty="0">
                <a:latin typeface="+mn-ea"/>
                <a:sym typeface="Wingdings" pitchFamily="2" charset="2"/>
              </a:rPr>
              <a:t> 	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>
                <a:latin typeface="+mn-ea"/>
                <a:sym typeface="Wingdings" pitchFamily="2" charset="2"/>
              </a:rPr>
              <a:t>Cu + Cl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b="1" dirty="0">
                <a:latin typeface="+mn-ea"/>
                <a:sym typeface="Wingdings" pitchFamily="2" charset="2"/>
              </a:rPr>
              <a:t> 	     CuCl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endParaRPr lang="ms-MY" altLang="en-US" b="1" dirty="0">
              <a:latin typeface="+mn-ea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667000" y="4648200"/>
            <a:ext cx="838200" cy="307777"/>
            <a:chOff x="2819400" y="5867400"/>
            <a:chExt cx="838200" cy="307777"/>
          </a:xfrm>
        </p:grpSpPr>
        <p:cxnSp>
          <p:nvCxnSpPr>
            <p:cNvPr id="4" name="Straight Arrow Connector 3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高温</a:t>
              </a:r>
              <a:endParaRPr lang="en-US" sz="1400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971800" y="5410200"/>
            <a:ext cx="838200" cy="307777"/>
            <a:chOff x="2819400" y="5867400"/>
            <a:chExt cx="838200" cy="307777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高温</a:t>
              </a:r>
              <a:endParaRPr lang="en-US" sz="1400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495800" y="3886200"/>
            <a:ext cx="485261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314B9"/>
                </a:solidFill>
              </a:rPr>
              <a:t>活动</a:t>
            </a:r>
            <a:r>
              <a:rPr lang="en-US" altLang="zh-CN" sz="2800" dirty="0">
                <a:solidFill>
                  <a:srgbClr val="0314B9"/>
                </a:solidFill>
              </a:rPr>
              <a:t>7</a:t>
            </a:r>
          </a:p>
          <a:p>
            <a:r>
              <a:rPr lang="zh-CN" altLang="en-US" sz="2800" dirty="0">
                <a:solidFill>
                  <a:srgbClr val="0314B9"/>
                </a:solidFill>
              </a:rPr>
              <a:t>现象：铜丝在硫蒸气中燃烧，</a:t>
            </a:r>
            <a:endParaRPr lang="en-US" altLang="zh-CN" sz="2800" dirty="0">
              <a:solidFill>
                <a:srgbClr val="0314B9"/>
              </a:solidFill>
            </a:endParaRPr>
          </a:p>
          <a:p>
            <a:r>
              <a:rPr lang="zh-CN" altLang="en-US" sz="2800" dirty="0">
                <a:solidFill>
                  <a:srgbClr val="0314B9"/>
                </a:solidFill>
              </a:rPr>
              <a:t>生成黑色物质</a:t>
            </a:r>
            <a:endParaRPr lang="en-US" sz="2800" dirty="0">
              <a:solidFill>
                <a:srgbClr val="0314B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16.4.1 </a:t>
            </a:r>
            <a:r>
              <a:rPr lang="zh-CN" altLang="en-US" sz="4000" b="1" u="sng" dirty="0">
                <a:latin typeface="+mn-ea"/>
              </a:rPr>
              <a:t>铜的化学性质</a:t>
            </a:r>
            <a:endParaRPr lang="en-US" altLang="zh-CN" sz="4000" b="1" u="sng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铜在空气中加热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	2 Cu + O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b="1" dirty="0">
                <a:latin typeface="+mn-ea"/>
                <a:sym typeface="Wingdings" pitchFamily="2" charset="2"/>
              </a:rPr>
              <a:t> 	   2 </a:t>
            </a:r>
            <a:r>
              <a:rPr lang="en-US" altLang="zh-CN" b="1" dirty="0" err="1">
                <a:latin typeface="+mn-ea"/>
                <a:sym typeface="Wingdings" pitchFamily="2" charset="2"/>
              </a:rPr>
              <a:t>CuO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	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高温下，氧化铜</a:t>
            </a:r>
            <a:r>
              <a:rPr lang="en-US" altLang="zh-CN" b="1" dirty="0">
                <a:latin typeface="+mn-ea"/>
                <a:sym typeface="Wingdings" pitchFamily="2" charset="2"/>
              </a:rPr>
              <a:t>(II)</a:t>
            </a:r>
            <a:r>
              <a:rPr lang="zh-CN" altLang="en-US" b="1" dirty="0">
                <a:latin typeface="+mn-ea"/>
                <a:sym typeface="Wingdings" pitchFamily="2" charset="2"/>
              </a:rPr>
              <a:t>与铜反应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	</a:t>
            </a:r>
            <a:r>
              <a:rPr lang="en-US" altLang="zh-CN" b="1" dirty="0" err="1">
                <a:latin typeface="+mn-ea"/>
                <a:sym typeface="Wingdings" pitchFamily="2" charset="2"/>
              </a:rPr>
              <a:t>CuO</a:t>
            </a:r>
            <a:r>
              <a:rPr lang="en-US" altLang="zh-CN" b="1" dirty="0">
                <a:latin typeface="+mn-ea"/>
                <a:sym typeface="Wingdings" pitchFamily="2" charset="2"/>
              </a:rPr>
              <a:t> + Cu   	     Cu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b="1" dirty="0">
                <a:latin typeface="+mn-ea"/>
                <a:sym typeface="Wingdings" pitchFamily="2" charset="2"/>
              </a:rPr>
              <a:t>O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				</a:t>
            </a:r>
          </a:p>
        </p:txBody>
      </p:sp>
      <p:pic>
        <p:nvPicPr>
          <p:cNvPr id="3" name="Picture 2" descr="Cu2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810000"/>
            <a:ext cx="2143125" cy="2143125"/>
          </a:xfrm>
          <a:prstGeom prst="rect">
            <a:avLst/>
          </a:prstGeom>
        </p:spPr>
      </p:pic>
      <p:pic>
        <p:nvPicPr>
          <p:cNvPr id="4" name="Picture 3" descr="Cu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990600"/>
            <a:ext cx="2950197" cy="220980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2895600" y="1905000"/>
            <a:ext cx="838200" cy="153988"/>
            <a:chOff x="2590800" y="1979612"/>
            <a:chExt cx="838200" cy="153988"/>
          </a:xfrm>
        </p:grpSpPr>
        <p:cxnSp>
          <p:nvCxnSpPr>
            <p:cNvPr id="6" name="Straight Arrow Connector 5"/>
            <p:cNvCxnSpPr/>
            <p:nvPr/>
          </p:nvCxnSpPr>
          <p:spPr bwMode="auto">
            <a:xfrm>
              <a:off x="2590800" y="2132012"/>
              <a:ext cx="8382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Isosceles Triangle 6"/>
            <p:cNvSpPr/>
            <p:nvPr/>
          </p:nvSpPr>
          <p:spPr bwMode="auto">
            <a:xfrm>
              <a:off x="2895600" y="1979612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124200" y="3962400"/>
            <a:ext cx="838200" cy="307777"/>
            <a:chOff x="2819400" y="5867400"/>
            <a:chExt cx="838200" cy="307777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高温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16.4.1 </a:t>
            </a:r>
            <a:r>
              <a:rPr lang="zh-CN" altLang="en-US" sz="4000" b="1" u="sng" dirty="0">
                <a:latin typeface="+mn-ea"/>
              </a:rPr>
              <a:t>铜的化学性质</a:t>
            </a:r>
            <a:endParaRPr lang="en-US" altLang="zh-CN" sz="4000" b="1" u="sng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  <a:sym typeface="Wingdings" pitchFamily="2" charset="2"/>
              </a:rPr>
              <a:t>铜与强氧化性酸反应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	Cu + 2 H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b="1" dirty="0">
                <a:latin typeface="+mn-ea"/>
                <a:sym typeface="Wingdings" pitchFamily="2" charset="2"/>
              </a:rPr>
              <a:t>SO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4(</a:t>
            </a:r>
            <a:r>
              <a:rPr lang="zh-CN" altLang="en-US" b="1" baseline="-25000" dirty="0">
                <a:latin typeface="+mn-ea"/>
                <a:sym typeface="Wingdings" pitchFamily="2" charset="2"/>
              </a:rPr>
              <a:t>浓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)</a:t>
            </a:r>
            <a:r>
              <a:rPr lang="en-US" altLang="zh-CN" b="1" dirty="0">
                <a:latin typeface="+mn-ea"/>
                <a:sym typeface="Wingdings" pitchFamily="2" charset="2"/>
              </a:rPr>
              <a:t>  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	Cu + 4 HNO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3(</a:t>
            </a:r>
            <a:r>
              <a:rPr lang="zh-CN" altLang="en-US" b="1" baseline="-25000" dirty="0">
                <a:latin typeface="+mn-ea"/>
                <a:sym typeface="Wingdings" pitchFamily="2" charset="2"/>
              </a:rPr>
              <a:t>浓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)</a:t>
            </a:r>
            <a:r>
              <a:rPr lang="en-US" altLang="zh-CN" b="1" dirty="0">
                <a:latin typeface="+mn-ea"/>
                <a:sym typeface="Wingdings" pitchFamily="2" charset="2"/>
              </a:rPr>
              <a:t> 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  <a:sym typeface="Wingdings" pitchFamily="2" charset="2"/>
              </a:rPr>
              <a:t>	3Cu + 8HNO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3(</a:t>
            </a:r>
            <a:r>
              <a:rPr lang="zh-CN" altLang="en-US" b="1" baseline="-25000" dirty="0">
                <a:latin typeface="+mn-ea"/>
                <a:sym typeface="Wingdings" pitchFamily="2" charset="2"/>
              </a:rPr>
              <a:t>稀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)</a:t>
            </a:r>
            <a:r>
              <a:rPr lang="en-US" altLang="zh-CN" b="1" dirty="0">
                <a:latin typeface="+mn-ea"/>
                <a:sym typeface="Wingdings" pitchFamily="2" charset="2"/>
              </a:rPr>
              <a:t> 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>
              <a:latin typeface="+mn-ea"/>
              <a:sym typeface="Wingdings" pitchFamily="2" charset="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800600" y="1828800"/>
            <a:ext cx="396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CuSO</a:t>
            </a:r>
            <a:r>
              <a:rPr kumimoji="0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4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 + 2 H</a:t>
            </a:r>
            <a:r>
              <a:rPr kumimoji="0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altLang="zh-CN" sz="3200" b="1" i="0" u="none" strike="noStrike" kern="0" cap="none" spc="0" normalizeH="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O + SO</a:t>
            </a:r>
            <a:r>
              <a:rPr kumimoji="0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2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572000" y="2667000"/>
            <a:ext cx="441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Cu(NO</a:t>
            </a:r>
            <a:r>
              <a:rPr lang="en-US" altLang="zh-CN" sz="3200" b="1" kern="0" baseline="-25000" dirty="0">
                <a:solidFill>
                  <a:srgbClr val="3A2222"/>
                </a:solidFill>
                <a:latin typeface="+mn-ea"/>
                <a:sym typeface="Wingdings" pitchFamily="2" charset="2"/>
              </a:rPr>
              <a:t>3</a:t>
            </a:r>
            <a:r>
              <a:rPr kumimoji="0" lang="en-US" altLang="zh-CN" sz="3200" b="1" i="0" u="none" strike="noStrike" kern="0" cap="none" spc="0" normalizeH="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)</a:t>
            </a:r>
            <a:r>
              <a:rPr kumimoji="0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 + 2 H</a:t>
            </a:r>
            <a:r>
              <a:rPr kumimoji="0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altLang="zh-CN" sz="3200" b="1" i="0" u="none" strike="noStrike" kern="0" cap="none" spc="0" normalizeH="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O + 2NO</a:t>
            </a:r>
            <a:r>
              <a:rPr kumimoji="0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2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724400" y="3581400"/>
            <a:ext cx="4648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3 Cu(NO</a:t>
            </a:r>
            <a:r>
              <a:rPr lang="en-US" altLang="zh-CN" sz="3200" b="1" kern="0" baseline="-25000" dirty="0">
                <a:solidFill>
                  <a:srgbClr val="3A2222"/>
                </a:solidFill>
                <a:latin typeface="+mn-ea"/>
                <a:sym typeface="Wingdings" pitchFamily="2" charset="2"/>
              </a:rPr>
              <a:t>3</a:t>
            </a:r>
            <a:r>
              <a:rPr kumimoji="0" lang="en-US" altLang="zh-CN" sz="3200" b="1" i="0" u="none" strike="noStrike" kern="0" cap="none" spc="0" normalizeH="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)</a:t>
            </a:r>
            <a:r>
              <a:rPr kumimoji="0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 + 4 H</a:t>
            </a:r>
            <a:r>
              <a:rPr kumimoji="0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altLang="zh-CN" sz="3200" b="1" i="0" u="none" strike="noStrike" kern="0" cap="none" spc="0" normalizeH="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O + 2NO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236720" y="2133600"/>
            <a:ext cx="640080" cy="153988"/>
            <a:chOff x="2712720" y="1979612"/>
            <a:chExt cx="640080" cy="153988"/>
          </a:xfrm>
        </p:grpSpPr>
        <p:cxnSp>
          <p:nvCxnSpPr>
            <p:cNvPr id="9" name="Straight Arrow Connector 8"/>
            <p:cNvCxnSpPr/>
            <p:nvPr/>
          </p:nvCxnSpPr>
          <p:spPr bwMode="auto">
            <a:xfrm>
              <a:off x="2712720" y="2132012"/>
              <a:ext cx="64008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Isosceles Triangle 9"/>
            <p:cNvSpPr/>
            <p:nvPr/>
          </p:nvSpPr>
          <p:spPr bwMode="auto">
            <a:xfrm>
              <a:off x="2895600" y="1979612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114800" y="3886200"/>
            <a:ext cx="640080" cy="153988"/>
            <a:chOff x="2712720" y="1979612"/>
            <a:chExt cx="640080" cy="153988"/>
          </a:xfrm>
        </p:grpSpPr>
        <p:cxnSp>
          <p:nvCxnSpPr>
            <p:cNvPr id="12" name="Straight Arrow Connector 11"/>
            <p:cNvCxnSpPr/>
            <p:nvPr/>
          </p:nvCxnSpPr>
          <p:spPr bwMode="auto">
            <a:xfrm>
              <a:off x="2712720" y="2132012"/>
              <a:ext cx="64008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Isosceles Triangle 12"/>
            <p:cNvSpPr/>
            <p:nvPr/>
          </p:nvSpPr>
          <p:spPr bwMode="auto">
            <a:xfrm>
              <a:off x="2895600" y="1979612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  <p:bldP spid="4" grpId="0" build="p"/>
      <p:bldP spid="5" grpId="0" build="p"/>
      <p:bldP spid="7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16.4.2 </a:t>
            </a:r>
            <a:r>
              <a:rPr lang="zh-CN" altLang="en-US" sz="4000" b="1" u="sng" dirty="0">
                <a:latin typeface="+mn-ea"/>
              </a:rPr>
              <a:t>铜的重要化合物</a:t>
            </a:r>
            <a:endParaRPr lang="en-US" altLang="zh-CN" sz="4000" b="1" u="sng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>
                <a:latin typeface="+mn-ea"/>
                <a:sym typeface="Wingdings" pitchFamily="2" charset="2"/>
              </a:rPr>
              <a:t>Cu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b="1" dirty="0">
                <a:latin typeface="+mn-ea"/>
                <a:sym typeface="Wingdings" pitchFamily="2" charset="2"/>
              </a:rPr>
              <a:t>O 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latin typeface="+mn-ea"/>
                <a:sym typeface="Wingdings" pitchFamily="2" charset="2"/>
              </a:rPr>
              <a:t>不溶于水</a:t>
            </a:r>
            <a:endParaRPr lang="en-US" altLang="zh-CN" sz="3200" b="1" dirty="0">
              <a:latin typeface="+mn-ea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latin typeface="+mn-ea"/>
                <a:sym typeface="Wingdings" pitchFamily="2" charset="2"/>
              </a:rPr>
              <a:t>玻璃、搪瓷的红色颜料</a:t>
            </a:r>
            <a:endParaRPr lang="en-US" altLang="zh-CN" sz="3200" b="1" dirty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 err="1">
                <a:latin typeface="+mn-ea"/>
                <a:sym typeface="Wingdings" pitchFamily="2" charset="2"/>
              </a:rPr>
              <a:t>CuO</a:t>
            </a:r>
            <a:r>
              <a:rPr lang="en-US" altLang="zh-CN" b="1" dirty="0">
                <a:latin typeface="+mn-ea"/>
                <a:sym typeface="Wingdings" pitchFamily="2" charset="2"/>
              </a:rPr>
              <a:t> 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latin typeface="+mn-ea"/>
                <a:sym typeface="Wingdings" pitchFamily="2" charset="2"/>
              </a:rPr>
              <a:t>不溶于水</a:t>
            </a:r>
            <a:endParaRPr lang="en-US" altLang="zh-CN" sz="3200" b="1" dirty="0">
              <a:latin typeface="+mn-ea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latin typeface="+mn-ea"/>
                <a:sym typeface="Wingdings" pitchFamily="2" charset="2"/>
              </a:rPr>
              <a:t>玻璃、搪瓷的绿色</a:t>
            </a:r>
            <a:r>
              <a:rPr lang="en-US" altLang="zh-CN" sz="3200" b="1" dirty="0">
                <a:latin typeface="+mn-ea"/>
                <a:sym typeface="Wingdings" pitchFamily="2" charset="2"/>
              </a:rPr>
              <a:t>/</a:t>
            </a:r>
            <a:r>
              <a:rPr lang="zh-CN" altLang="en-US" sz="3200" b="1" dirty="0">
                <a:latin typeface="+mn-ea"/>
                <a:sym typeface="Wingdings" pitchFamily="2" charset="2"/>
              </a:rPr>
              <a:t>蓝色颜料</a:t>
            </a:r>
            <a:endParaRPr lang="en-US" altLang="zh-CN" sz="3200" b="1" dirty="0">
              <a:latin typeface="+mn-e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16.4.2 </a:t>
            </a:r>
            <a:r>
              <a:rPr lang="zh-CN" altLang="en-US" sz="4000" b="1" u="sng" dirty="0">
                <a:latin typeface="+mn-ea"/>
              </a:rPr>
              <a:t>铜的重要化合物</a:t>
            </a:r>
            <a:endParaRPr lang="en-US" altLang="zh-CN" sz="3200" b="1" dirty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>
                <a:latin typeface="+mn-ea"/>
                <a:sym typeface="Wingdings" pitchFamily="2" charset="2"/>
              </a:rPr>
              <a:t>CuSO</a:t>
            </a:r>
            <a:r>
              <a:rPr lang="en-US" altLang="zh-CN" b="1" baseline="-25000" dirty="0">
                <a:latin typeface="+mn-ea"/>
                <a:sym typeface="Wingdings" pitchFamily="2" charset="2"/>
              </a:rPr>
              <a:t>4</a:t>
            </a:r>
            <a:r>
              <a:rPr lang="en-US" altLang="zh-CN" b="1" dirty="0">
                <a:latin typeface="+mn-ea"/>
                <a:sym typeface="Wingdings" pitchFamily="2" charset="2"/>
              </a:rPr>
              <a:t> </a:t>
            </a:r>
            <a:endParaRPr lang="en-US" altLang="zh-CN" sz="3200" b="1" dirty="0">
              <a:latin typeface="+mn-ea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latin typeface="+mn-ea"/>
                <a:sym typeface="Wingdings" pitchFamily="2" charset="2"/>
              </a:rPr>
              <a:t>在高温下，</a:t>
            </a:r>
            <a:r>
              <a:rPr lang="en-US" altLang="zh-CN" sz="3200" b="1" dirty="0">
                <a:latin typeface="+mn-ea"/>
                <a:sym typeface="Wingdings" pitchFamily="2" charset="2"/>
              </a:rPr>
              <a:t>CuSO</a:t>
            </a:r>
            <a:r>
              <a:rPr lang="en-US" altLang="zh-CN" sz="3200" b="1" baseline="-25000" dirty="0">
                <a:latin typeface="+mn-ea"/>
                <a:sym typeface="Wingdings" pitchFamily="2" charset="2"/>
              </a:rPr>
              <a:t>4</a:t>
            </a:r>
            <a:r>
              <a:rPr lang="en-US" altLang="zh-CN" sz="3200" b="1" dirty="0">
                <a:latin typeface="+mn-ea"/>
                <a:sym typeface="Wingdings" pitchFamily="2" charset="2"/>
              </a:rPr>
              <a:t> </a:t>
            </a:r>
            <a:r>
              <a:rPr lang="en-US" altLang="zh-CN" sz="3200" b="1" dirty="0" err="1">
                <a:latin typeface="+mn-ea"/>
                <a:sym typeface="Wingdings" pitchFamily="2" charset="2"/>
              </a:rPr>
              <a:t>CuO</a:t>
            </a:r>
            <a:r>
              <a:rPr lang="en-US" altLang="zh-CN" sz="3200" b="1" dirty="0">
                <a:latin typeface="+mn-ea"/>
                <a:sym typeface="Wingdings" pitchFamily="2" charset="2"/>
              </a:rPr>
              <a:t> + SO</a:t>
            </a:r>
            <a:r>
              <a:rPr lang="en-US" altLang="zh-CN" sz="3200" b="1" baseline="-25000" dirty="0">
                <a:latin typeface="+mn-ea"/>
                <a:sym typeface="Wingdings" pitchFamily="2" charset="2"/>
              </a:rPr>
              <a:t>3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3200" b="1" dirty="0">
                <a:latin typeface="+mn-ea"/>
                <a:sym typeface="Wingdings" pitchFamily="2" charset="2"/>
              </a:rPr>
              <a:t>CuSO</a:t>
            </a:r>
            <a:r>
              <a:rPr lang="en-US" altLang="zh-CN" sz="3200" b="1" baseline="-25000" dirty="0">
                <a:latin typeface="+mn-ea"/>
                <a:sym typeface="Wingdings" pitchFamily="2" charset="2"/>
              </a:rPr>
              <a:t>4</a:t>
            </a:r>
            <a:r>
              <a:rPr lang="zh-CN" altLang="en-US" sz="3200" b="1" dirty="0">
                <a:latin typeface="+mn-ea"/>
                <a:sym typeface="Wingdings" pitchFamily="2" charset="2"/>
              </a:rPr>
              <a:t> ：检验水的存在</a:t>
            </a:r>
            <a:endParaRPr lang="en-US" altLang="zh-CN" sz="3200" b="1" dirty="0">
              <a:latin typeface="+mn-ea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3200" b="1" dirty="0">
                <a:latin typeface="+mn-ea"/>
                <a:sym typeface="Wingdings" pitchFamily="2" charset="2"/>
              </a:rPr>
              <a:t>CuSO</a:t>
            </a:r>
            <a:r>
              <a:rPr lang="en-US" altLang="zh-CN" sz="3200" b="1" baseline="-25000" dirty="0">
                <a:latin typeface="+mn-ea"/>
                <a:sym typeface="Wingdings" pitchFamily="2" charset="2"/>
              </a:rPr>
              <a:t>4</a:t>
            </a:r>
            <a:r>
              <a:rPr lang="en-US" altLang="zh-CN" sz="3200" b="1" dirty="0">
                <a:latin typeface="+mn-ea"/>
                <a:sym typeface="Wingdings" pitchFamily="2" charset="2"/>
              </a:rPr>
              <a:t> · 5 H</a:t>
            </a:r>
            <a:r>
              <a:rPr lang="en-US" altLang="zh-CN" sz="3200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sz="3200" b="1" dirty="0">
                <a:latin typeface="+mn-ea"/>
                <a:sym typeface="Wingdings" pitchFamily="2" charset="2"/>
              </a:rPr>
              <a:t>O </a:t>
            </a:r>
            <a:r>
              <a:rPr lang="zh-CN" altLang="en-US" sz="3200" b="1" dirty="0">
                <a:latin typeface="+mn-ea"/>
                <a:sym typeface="Wingdings" pitchFamily="2" charset="2"/>
              </a:rPr>
              <a:t>俗称胆矾：</a:t>
            </a:r>
            <a:endParaRPr lang="en-US" altLang="zh-CN" sz="3200" b="1" dirty="0">
              <a:latin typeface="+mn-ea"/>
              <a:sym typeface="Wingdings" pitchFamily="2" charset="2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latin typeface="+mn-ea"/>
                <a:sym typeface="Wingdings" pitchFamily="2" charset="2"/>
              </a:rPr>
              <a:t>媒染剂、杀虫剂、杀菌剂、波尔多液、木材防腐</a:t>
            </a:r>
            <a:endParaRPr lang="en-US" altLang="zh-CN" sz="2800" b="1" dirty="0">
              <a:latin typeface="+mn-ea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sz="3200" b="1" dirty="0">
              <a:latin typeface="+mn-ea"/>
              <a:sym typeface="Wingdings" pitchFamily="2" charset="2"/>
            </a:endParaRPr>
          </a:p>
        </p:txBody>
      </p:sp>
      <p:pic>
        <p:nvPicPr>
          <p:cNvPr id="3" name="Picture 2" descr="cuso42.jpg"/>
          <p:cNvPicPr>
            <a:picLocks noChangeAspect="1"/>
          </p:cNvPicPr>
          <p:nvPr/>
        </p:nvPicPr>
        <p:blipFill>
          <a:blip r:embed="rId2"/>
          <a:srcRect l="10959" t="11115" r="9589" b="18490"/>
          <a:stretch>
            <a:fillRect/>
          </a:stretch>
        </p:blipFill>
        <p:spPr>
          <a:xfrm>
            <a:off x="1676400" y="1676400"/>
            <a:ext cx="569976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52400"/>
            <a:ext cx="85344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16.4.3 Cu</a:t>
            </a:r>
            <a:r>
              <a:rPr lang="en-US" altLang="zh-CN" sz="4000" b="1" u="sng" baseline="30000" dirty="0">
                <a:latin typeface="+mn-ea"/>
              </a:rPr>
              <a:t>2+</a:t>
            </a:r>
            <a:r>
              <a:rPr lang="en-US" altLang="zh-CN" sz="4000" b="1" u="sng" dirty="0">
                <a:latin typeface="+mn-ea"/>
              </a:rPr>
              <a:t> </a:t>
            </a:r>
            <a:r>
              <a:rPr lang="zh-CN" altLang="en-US" sz="4000" b="1" u="sng" dirty="0">
                <a:latin typeface="+mn-ea"/>
              </a:rPr>
              <a:t>离子的检验</a:t>
            </a:r>
            <a:r>
              <a:rPr lang="en-US" altLang="zh-CN" b="1" dirty="0">
                <a:solidFill>
                  <a:srgbClr val="002060"/>
                </a:solidFill>
                <a:cs typeface="Calibri"/>
                <a:sym typeface="Wingdings" pitchFamily="2" charset="2"/>
              </a:rPr>
              <a:t>(</a:t>
            </a:r>
            <a:r>
              <a:rPr lang="zh-CN" altLang="en-US" b="1" dirty="0">
                <a:solidFill>
                  <a:srgbClr val="002060"/>
                </a:solidFill>
                <a:cs typeface="Calibri"/>
                <a:sym typeface="Wingdings" pitchFamily="2" charset="2"/>
              </a:rPr>
              <a:t>活动</a:t>
            </a:r>
            <a:r>
              <a:rPr lang="en-US" altLang="zh-CN" b="1" dirty="0">
                <a:solidFill>
                  <a:srgbClr val="002060"/>
                </a:solidFill>
                <a:cs typeface="Calibri"/>
                <a:sym typeface="Wingdings" pitchFamily="2" charset="2"/>
              </a:rPr>
              <a:t>8)</a:t>
            </a:r>
            <a:endParaRPr lang="en-US" altLang="zh-CN" sz="4000" b="1" u="sng" dirty="0">
              <a:solidFill>
                <a:srgbClr val="002060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3000" b="1" dirty="0">
                <a:cs typeface="Calibri"/>
                <a:sym typeface="Wingdings" pitchFamily="2" charset="2"/>
              </a:rPr>
              <a:t>方法</a:t>
            </a:r>
            <a:r>
              <a:rPr lang="zh-CN" altLang="en-US" sz="3000" b="1" dirty="0">
                <a:latin typeface="+mn-ea"/>
                <a:cs typeface="Calibri"/>
                <a:sym typeface="Wingdings" pitchFamily="2" charset="2"/>
              </a:rPr>
              <a:t>①</a:t>
            </a:r>
            <a:r>
              <a:rPr lang="zh-CN" altLang="en-US" sz="3000" b="1" dirty="0">
                <a:cs typeface="Calibri"/>
                <a:sym typeface="Wingdings" pitchFamily="2" charset="2"/>
              </a:rPr>
              <a:t>与</a:t>
            </a:r>
            <a:r>
              <a:rPr lang="en-US" altLang="zh-CN" sz="3000" b="1" dirty="0" err="1">
                <a:cs typeface="Calibri"/>
                <a:sym typeface="Wingdings" pitchFamily="2" charset="2"/>
              </a:rPr>
              <a:t>NaOH</a:t>
            </a:r>
            <a:r>
              <a:rPr lang="en-US" altLang="zh-CN" sz="3000" b="1" dirty="0">
                <a:cs typeface="Calibri"/>
                <a:sym typeface="Wingdings" pitchFamily="2" charset="2"/>
              </a:rPr>
              <a:t>(</a:t>
            </a:r>
            <a:r>
              <a:rPr lang="en-US" altLang="zh-CN" sz="3000" b="1" dirty="0" err="1">
                <a:cs typeface="Calibri"/>
                <a:sym typeface="Wingdings" pitchFamily="2" charset="2"/>
              </a:rPr>
              <a:t>aq</a:t>
            </a:r>
            <a:r>
              <a:rPr lang="en-US" altLang="zh-CN" sz="3000" b="1" dirty="0">
                <a:cs typeface="Calibri"/>
                <a:sym typeface="Wingdings" pitchFamily="2" charset="2"/>
              </a:rPr>
              <a:t>)</a:t>
            </a:r>
            <a:r>
              <a:rPr lang="zh-CN" altLang="en-US" sz="3000" b="1" dirty="0">
                <a:cs typeface="Calibri"/>
                <a:sym typeface="Wingdings" pitchFamily="2" charset="2"/>
              </a:rPr>
              <a:t>反应生成蓝色絮状沉淀</a:t>
            </a:r>
            <a:r>
              <a:rPr lang="en-US" altLang="zh-CN" sz="3000" b="1" dirty="0">
                <a:cs typeface="Calibri"/>
                <a:sym typeface="Wingdings" pitchFamily="2" charset="2"/>
              </a:rPr>
              <a:t>Cu(OH)</a:t>
            </a:r>
            <a:r>
              <a:rPr lang="en-US" altLang="zh-CN" sz="3000" b="1" baseline="-25000" dirty="0">
                <a:cs typeface="Calibri"/>
                <a:sym typeface="Wingdings" pitchFamily="2" charset="2"/>
              </a:rPr>
              <a:t>2</a:t>
            </a:r>
            <a:endParaRPr lang="en-US" altLang="zh-CN" sz="3000" b="1" dirty="0">
              <a:cs typeface="Calibri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000" b="1" dirty="0">
                <a:latin typeface="+mn-ea"/>
                <a:sym typeface="Wingdings" pitchFamily="2" charset="2"/>
              </a:rPr>
              <a:t>		Cu</a:t>
            </a:r>
            <a:r>
              <a:rPr lang="en-US" altLang="zh-CN" sz="3000" b="1" baseline="30000" dirty="0">
                <a:latin typeface="+mn-ea"/>
                <a:sym typeface="Wingdings" pitchFamily="2" charset="2"/>
              </a:rPr>
              <a:t>2+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(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)+2OH</a:t>
            </a:r>
            <a:r>
              <a:rPr lang="en-US" altLang="zh-CN" sz="3000" b="1" baseline="30000" dirty="0">
                <a:latin typeface="+mn-ea"/>
                <a:sym typeface="Wingdings" pitchFamily="2" charset="2"/>
              </a:rPr>
              <a:t>-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(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)Cu(OH)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(s)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sz="3000" b="1" dirty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3000" b="1" dirty="0">
                <a:latin typeface="+mn-ea"/>
                <a:sym typeface="Wingdings" pitchFamily="2" charset="2"/>
              </a:rPr>
              <a:t>方法</a:t>
            </a:r>
            <a:r>
              <a:rPr lang="zh-CN" altLang="en-US" sz="3000" b="1" dirty="0">
                <a:cs typeface="Calibri"/>
                <a:sym typeface="Wingdings" pitchFamily="2" charset="2"/>
              </a:rPr>
              <a:t>②</a:t>
            </a:r>
            <a:r>
              <a:rPr lang="zh-CN" altLang="en-US" sz="3000" b="1" dirty="0">
                <a:latin typeface="+mn-ea"/>
                <a:cs typeface="Calibri"/>
                <a:sym typeface="Wingdings" pitchFamily="2" charset="2"/>
              </a:rPr>
              <a:t>与</a:t>
            </a:r>
            <a:r>
              <a:rPr lang="en-US" altLang="zh-CN" sz="3000" b="1" dirty="0">
                <a:latin typeface="+mn-ea"/>
                <a:cs typeface="Calibri"/>
                <a:sym typeface="Wingdings" pitchFamily="2" charset="2"/>
              </a:rPr>
              <a:t>H</a:t>
            </a:r>
            <a:r>
              <a:rPr lang="en-US" altLang="zh-CN" sz="3000" b="1" baseline="-25000" dirty="0">
                <a:latin typeface="+mn-ea"/>
                <a:cs typeface="Calibri"/>
                <a:sym typeface="Wingdings" pitchFamily="2" charset="2"/>
              </a:rPr>
              <a:t>2</a:t>
            </a:r>
            <a:r>
              <a:rPr lang="en-US" altLang="zh-CN" sz="3000" b="1" dirty="0">
                <a:latin typeface="+mn-ea"/>
                <a:cs typeface="Calibri"/>
                <a:sym typeface="Wingdings" pitchFamily="2" charset="2"/>
              </a:rPr>
              <a:t>S(g)</a:t>
            </a:r>
            <a:r>
              <a:rPr lang="zh-CN" altLang="en-US" sz="3000" b="1" dirty="0">
                <a:latin typeface="+mn-ea"/>
                <a:cs typeface="Calibri"/>
                <a:sym typeface="Wingdings" pitchFamily="2" charset="2"/>
              </a:rPr>
              <a:t>反应</a:t>
            </a:r>
            <a:r>
              <a:rPr lang="zh-CN" altLang="en-US" sz="3000" b="1" dirty="0">
                <a:latin typeface="+mn-ea"/>
                <a:sym typeface="Wingdings" pitchFamily="2" charset="2"/>
              </a:rPr>
              <a:t>生成</a:t>
            </a:r>
            <a:r>
              <a:rPr lang="zh-CN" altLang="en-US" sz="3000" b="1" dirty="0">
                <a:latin typeface="+mn-ea"/>
              </a:rPr>
              <a:t>黑色沉淀</a:t>
            </a:r>
            <a:r>
              <a:rPr lang="en-US" altLang="zh-CN" sz="3000" b="1" dirty="0" err="1">
                <a:latin typeface="+mn-ea"/>
              </a:rPr>
              <a:t>CuS</a:t>
            </a:r>
            <a:endParaRPr lang="en-US" altLang="zh-CN" sz="30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3000" b="1" dirty="0">
                <a:latin typeface="+mn-ea"/>
              </a:rPr>
              <a:t>	Cu</a:t>
            </a:r>
            <a:r>
              <a:rPr lang="en-US" altLang="zh-CN" sz="3000" b="1" baseline="30000" dirty="0">
                <a:latin typeface="+mn-ea"/>
              </a:rPr>
              <a:t>2+</a:t>
            </a:r>
            <a:r>
              <a:rPr lang="en-US" altLang="zh-CN" sz="3000" b="1" dirty="0">
                <a:latin typeface="+mn-ea"/>
              </a:rPr>
              <a:t> (</a:t>
            </a:r>
            <a:r>
              <a:rPr lang="en-US" altLang="zh-CN" sz="3000" b="1" dirty="0" err="1">
                <a:latin typeface="+mn-ea"/>
              </a:rPr>
              <a:t>aq</a:t>
            </a:r>
            <a:r>
              <a:rPr lang="en-US" altLang="zh-CN" sz="3000" b="1" dirty="0">
                <a:latin typeface="+mn-ea"/>
              </a:rPr>
              <a:t>)+ H</a:t>
            </a:r>
            <a:r>
              <a:rPr lang="en-US" altLang="zh-CN" sz="3000" b="1" baseline="-25000" dirty="0">
                <a:latin typeface="+mn-ea"/>
              </a:rPr>
              <a:t>2</a:t>
            </a:r>
            <a:r>
              <a:rPr lang="en-US" altLang="zh-CN" sz="3000" b="1" dirty="0">
                <a:latin typeface="+mn-ea"/>
              </a:rPr>
              <a:t>S(g) 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 2H</a:t>
            </a:r>
            <a:r>
              <a:rPr lang="en-US" altLang="zh-CN" sz="3000" b="1" baseline="30000" dirty="0">
                <a:latin typeface="+mn-ea"/>
                <a:sym typeface="Wingdings" pitchFamily="2" charset="2"/>
              </a:rPr>
              <a:t>+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(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)+ 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CuS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(s)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3000" b="1" dirty="0">
                <a:latin typeface="+mn-ea"/>
                <a:sym typeface="Wingdings" pitchFamily="2" charset="2"/>
              </a:rPr>
              <a:t>	Fe</a:t>
            </a:r>
            <a:r>
              <a:rPr lang="en-US" altLang="zh-CN" sz="3000" b="1" baseline="30000" dirty="0">
                <a:latin typeface="+mn-ea"/>
                <a:sym typeface="Wingdings" pitchFamily="2" charset="2"/>
              </a:rPr>
              <a:t>2+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(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)</a:t>
            </a:r>
            <a:r>
              <a:rPr lang="en-US" altLang="zh-CN" sz="3000" b="1" dirty="0">
                <a:latin typeface="+mn-ea"/>
              </a:rPr>
              <a:t>+ H</a:t>
            </a:r>
            <a:r>
              <a:rPr lang="en-US" altLang="zh-CN" sz="3000" b="1" baseline="-25000" dirty="0">
                <a:latin typeface="+mn-ea"/>
              </a:rPr>
              <a:t>2</a:t>
            </a:r>
            <a:r>
              <a:rPr lang="en-US" altLang="zh-CN" sz="3000" b="1" dirty="0">
                <a:latin typeface="+mn-ea"/>
              </a:rPr>
              <a:t>S(g) 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 2H</a:t>
            </a:r>
            <a:r>
              <a:rPr lang="en-US" altLang="zh-CN" sz="3000" b="1" baseline="30000" dirty="0">
                <a:latin typeface="+mn-ea"/>
                <a:sym typeface="Wingdings" pitchFamily="2" charset="2"/>
              </a:rPr>
              <a:t>+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(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aq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)+ 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FeS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2296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16.4.3 Cu</a:t>
            </a:r>
            <a:r>
              <a:rPr lang="en-US" altLang="zh-CN" sz="4000" b="1" u="sng" baseline="30000" dirty="0">
                <a:latin typeface="+mn-ea"/>
              </a:rPr>
              <a:t>2+</a:t>
            </a:r>
            <a:r>
              <a:rPr lang="en-US" altLang="zh-CN" sz="4000" b="1" u="sng" dirty="0">
                <a:latin typeface="+mn-ea"/>
              </a:rPr>
              <a:t> </a:t>
            </a:r>
            <a:r>
              <a:rPr lang="zh-CN" altLang="en-US" sz="4000" b="1" u="sng" dirty="0">
                <a:latin typeface="+mn-ea"/>
              </a:rPr>
              <a:t>离子的检验</a:t>
            </a:r>
            <a:endParaRPr lang="en-US" altLang="zh-CN" sz="4000" b="1" u="sng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Calibri"/>
                <a:cs typeface="Calibri"/>
                <a:sym typeface="Wingdings" pitchFamily="2" charset="2"/>
              </a:rPr>
              <a:t>方法</a:t>
            </a:r>
            <a:r>
              <a:rPr lang="zh-CN" altLang="en-US" b="1" dirty="0">
                <a:cs typeface="Calibri"/>
                <a:sym typeface="Wingdings" pitchFamily="2" charset="2"/>
              </a:rPr>
              <a:t>③</a:t>
            </a:r>
            <a:r>
              <a:rPr lang="zh-CN" altLang="en-US" b="1" dirty="0">
                <a:latin typeface="Calibri"/>
                <a:cs typeface="Calibri"/>
                <a:sym typeface="Wingdings" pitchFamily="2" charset="2"/>
              </a:rPr>
              <a:t>与</a:t>
            </a:r>
            <a:r>
              <a:rPr lang="en-US" altLang="zh-CN" b="1" dirty="0"/>
              <a:t>NH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·H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O</a:t>
            </a:r>
            <a:r>
              <a:rPr lang="zh-CN" altLang="en-US" b="1" dirty="0">
                <a:latin typeface="Calibri"/>
                <a:cs typeface="Calibri"/>
                <a:sym typeface="Wingdings" pitchFamily="2" charset="2"/>
              </a:rPr>
              <a:t>反应 </a:t>
            </a:r>
            <a:r>
              <a:rPr lang="en-US" altLang="zh-CN" sz="2400" b="1" dirty="0">
                <a:solidFill>
                  <a:srgbClr val="002060"/>
                </a:solidFill>
                <a:latin typeface="Calibri"/>
                <a:cs typeface="Calibri"/>
                <a:sym typeface="Wingdings" pitchFamily="2" charset="2"/>
              </a:rPr>
              <a:t>(</a:t>
            </a:r>
            <a:r>
              <a:rPr lang="zh-CN" altLang="en-US" sz="2400" b="1" dirty="0">
                <a:solidFill>
                  <a:srgbClr val="002060"/>
                </a:solidFill>
                <a:latin typeface="Calibri"/>
                <a:cs typeface="Calibri"/>
                <a:sym typeface="Wingdings" pitchFamily="2" charset="2"/>
              </a:rPr>
              <a:t>观察思考</a:t>
            </a:r>
            <a:r>
              <a:rPr lang="en-US" altLang="zh-CN" sz="2400" b="1" dirty="0">
                <a:solidFill>
                  <a:srgbClr val="002060"/>
                </a:solidFill>
                <a:latin typeface="Calibri"/>
                <a:cs typeface="Calibri"/>
                <a:sym typeface="Wingdings" pitchFamily="2" charset="2"/>
              </a:rPr>
              <a:t>)</a:t>
            </a:r>
            <a:endParaRPr lang="en-US" altLang="zh-CN" b="1" dirty="0">
              <a:solidFill>
                <a:srgbClr val="002060"/>
              </a:solidFill>
              <a:latin typeface="Calibri"/>
              <a:cs typeface="Calibri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1" dirty="0">
                <a:latin typeface="Calibri"/>
                <a:cs typeface="Calibri"/>
                <a:sym typeface="Wingdings" pitchFamily="2" charset="2"/>
              </a:rPr>
              <a:t>生成蓝色沉淀</a:t>
            </a:r>
            <a:r>
              <a:rPr lang="en-US" altLang="zh-CN" b="1" dirty="0">
                <a:latin typeface="Calibri"/>
                <a:cs typeface="Calibri"/>
                <a:sym typeface="Wingdings" pitchFamily="2" charset="2"/>
              </a:rPr>
              <a:t>Cu(OH)</a:t>
            </a:r>
            <a:r>
              <a:rPr lang="en-US" altLang="zh-CN" b="1" baseline="-25000" dirty="0">
                <a:latin typeface="Calibri"/>
                <a:cs typeface="Calibri"/>
                <a:sym typeface="Wingdings" pitchFamily="2" charset="2"/>
              </a:rPr>
              <a:t>2</a:t>
            </a:r>
            <a:r>
              <a:rPr lang="zh-CN" altLang="en-US" b="1" baseline="-25000" dirty="0">
                <a:latin typeface="Calibri"/>
                <a:cs typeface="Calibri"/>
                <a:sym typeface="Wingdings" pitchFamily="2" charset="2"/>
              </a:rPr>
              <a:t>，</a:t>
            </a:r>
            <a:r>
              <a:rPr lang="zh-CN" altLang="en-US" b="1" dirty="0">
                <a:latin typeface="Calibri"/>
                <a:cs typeface="Calibri"/>
                <a:sym typeface="Wingdings" pitchFamily="2" charset="2"/>
              </a:rPr>
              <a:t>继续反应沉淀溶解生成深蓝色溶液</a:t>
            </a:r>
            <a:r>
              <a:rPr lang="en-US" altLang="zh-CN" b="1" dirty="0">
                <a:latin typeface="Calibri"/>
                <a:cs typeface="Calibri"/>
                <a:sym typeface="Wingdings" pitchFamily="2" charset="2"/>
              </a:rPr>
              <a:t>[Cu(NH</a:t>
            </a:r>
            <a:r>
              <a:rPr lang="en-US" altLang="zh-CN" b="1" baseline="-25000" dirty="0">
                <a:latin typeface="Calibri"/>
                <a:cs typeface="Calibri"/>
                <a:sym typeface="Wingdings" pitchFamily="2" charset="2"/>
              </a:rPr>
              <a:t>3</a:t>
            </a:r>
            <a:r>
              <a:rPr lang="en-US" altLang="zh-CN" b="1" dirty="0">
                <a:latin typeface="Calibri"/>
                <a:cs typeface="Calibri"/>
                <a:sym typeface="Wingdings" pitchFamily="2" charset="2"/>
              </a:rPr>
              <a:t>)</a:t>
            </a:r>
            <a:r>
              <a:rPr lang="en-US" altLang="zh-CN" b="1" baseline="-25000" dirty="0">
                <a:latin typeface="Calibri"/>
                <a:cs typeface="Calibri"/>
                <a:sym typeface="Wingdings" pitchFamily="2" charset="2"/>
              </a:rPr>
              <a:t>4</a:t>
            </a:r>
            <a:r>
              <a:rPr lang="en-US" altLang="zh-CN" b="1" dirty="0">
                <a:latin typeface="Calibri"/>
                <a:cs typeface="Calibri"/>
                <a:sym typeface="Wingdings" pitchFamily="2" charset="2"/>
              </a:rPr>
              <a:t>](OH)</a:t>
            </a:r>
            <a:r>
              <a:rPr lang="en-US" altLang="zh-CN" b="1" baseline="-25000" dirty="0">
                <a:latin typeface="Calibri"/>
                <a:cs typeface="Calibri"/>
                <a:sym typeface="Wingdings" pitchFamily="2" charset="2"/>
              </a:rPr>
              <a:t>2</a:t>
            </a:r>
            <a:endParaRPr lang="en-US" altLang="zh-CN" b="1" dirty="0">
              <a:latin typeface="+mn-ea"/>
              <a:sym typeface="Wingdings" pitchFamily="2" charset="2"/>
            </a:endParaRPr>
          </a:p>
          <a:p>
            <a:r>
              <a:rPr lang="en-US" altLang="zh-CN" b="1" dirty="0">
                <a:solidFill>
                  <a:srgbClr val="002060"/>
                </a:solidFill>
              </a:rPr>
              <a:t>CuSO</a:t>
            </a:r>
            <a:r>
              <a:rPr lang="en-US" altLang="zh-CN" b="1" baseline="-25000" dirty="0">
                <a:solidFill>
                  <a:srgbClr val="002060"/>
                </a:solidFill>
              </a:rPr>
              <a:t>4</a:t>
            </a:r>
            <a:r>
              <a:rPr lang="en-US" altLang="zh-CN" b="1" dirty="0">
                <a:solidFill>
                  <a:srgbClr val="002060"/>
                </a:solidFill>
              </a:rPr>
              <a:t> + 2 NH</a:t>
            </a:r>
            <a:r>
              <a:rPr lang="en-US" altLang="zh-CN" b="1" baseline="-25000" dirty="0">
                <a:solidFill>
                  <a:srgbClr val="002060"/>
                </a:solidFill>
              </a:rPr>
              <a:t>3</a:t>
            </a:r>
            <a:r>
              <a:rPr lang="en-US" altLang="zh-CN" b="1" dirty="0">
                <a:solidFill>
                  <a:srgbClr val="002060"/>
                </a:solidFill>
              </a:rPr>
              <a:t>·H</a:t>
            </a:r>
            <a:r>
              <a:rPr lang="en-US" altLang="zh-CN" b="1" baseline="-25000" dirty="0">
                <a:solidFill>
                  <a:srgbClr val="002060"/>
                </a:solidFill>
              </a:rPr>
              <a:t>2</a:t>
            </a:r>
            <a:r>
              <a:rPr lang="en-US" altLang="zh-CN" b="1" dirty="0">
                <a:solidFill>
                  <a:srgbClr val="002060"/>
                </a:solidFill>
              </a:rPr>
              <a:t>O 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</a:t>
            </a:r>
            <a:endParaRPr lang="en-US" b="1" dirty="0">
              <a:solidFill>
                <a:srgbClr val="002060"/>
              </a:solidFill>
            </a:endParaRPr>
          </a:p>
          <a:p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Cu(OH)</a:t>
            </a:r>
            <a:r>
              <a:rPr lang="en-US" altLang="zh-CN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+ 4</a:t>
            </a:r>
            <a:r>
              <a:rPr lang="en-US" altLang="zh-CN" b="1" dirty="0">
                <a:solidFill>
                  <a:srgbClr val="002060"/>
                </a:solidFill>
              </a:rPr>
              <a:t> NH</a:t>
            </a:r>
            <a:r>
              <a:rPr lang="en-US" altLang="zh-CN" b="1" baseline="-25000" dirty="0">
                <a:solidFill>
                  <a:srgbClr val="002060"/>
                </a:solidFill>
              </a:rPr>
              <a:t>3</a:t>
            </a:r>
            <a:r>
              <a:rPr lang="en-US" altLang="zh-CN" b="1" dirty="0">
                <a:solidFill>
                  <a:srgbClr val="002060"/>
                </a:solidFill>
              </a:rPr>
              <a:t>·H</a:t>
            </a:r>
            <a:r>
              <a:rPr lang="en-US" altLang="zh-CN" b="1" baseline="-25000" dirty="0">
                <a:solidFill>
                  <a:srgbClr val="002060"/>
                </a:solidFill>
              </a:rPr>
              <a:t>2</a:t>
            </a:r>
            <a:r>
              <a:rPr lang="en-US" altLang="zh-CN" b="1" dirty="0">
                <a:solidFill>
                  <a:srgbClr val="002060"/>
                </a:solidFill>
              </a:rPr>
              <a:t>O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</a:t>
            </a:r>
            <a:endParaRPr lang="en-US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>
              <a:latin typeface="Calibri"/>
              <a:cs typeface="Calibri"/>
              <a:sym typeface="Wingdings" pitchFamily="2" charset="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4800600" y="3276600"/>
            <a:ext cx="396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3200" b="1" dirty="0">
                <a:solidFill>
                  <a:srgbClr val="002060"/>
                </a:solidFill>
                <a:sym typeface="Wingdings" pitchFamily="2" charset="2"/>
              </a:rPr>
              <a:t>Cu(OH)</a:t>
            </a:r>
            <a:r>
              <a:rPr lang="en-US" altLang="zh-CN" sz="32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3200" b="1" dirty="0">
                <a:solidFill>
                  <a:srgbClr val="002060"/>
                </a:solidFill>
                <a:sym typeface="Wingdings" pitchFamily="2" charset="2"/>
              </a:rPr>
              <a:t> + (NH</a:t>
            </a:r>
            <a:r>
              <a:rPr lang="en-US" altLang="zh-CN" sz="3200" b="1" baseline="-25000" dirty="0">
                <a:solidFill>
                  <a:srgbClr val="002060"/>
                </a:solidFill>
                <a:sym typeface="Wingdings" pitchFamily="2" charset="2"/>
              </a:rPr>
              <a:t>4</a:t>
            </a:r>
            <a:r>
              <a:rPr lang="en-US" altLang="zh-CN" sz="3200" b="1" dirty="0">
                <a:solidFill>
                  <a:srgbClr val="002060"/>
                </a:solidFill>
                <a:sym typeface="Wingdings" pitchFamily="2" charset="2"/>
              </a:rPr>
              <a:t>)</a:t>
            </a:r>
            <a:r>
              <a:rPr lang="en-US" altLang="zh-CN" sz="32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3200" b="1" dirty="0">
                <a:solidFill>
                  <a:srgbClr val="002060"/>
                </a:solidFill>
                <a:sym typeface="Wingdings" pitchFamily="2" charset="2"/>
              </a:rPr>
              <a:t> SO</a:t>
            </a:r>
            <a:r>
              <a:rPr lang="en-US" altLang="zh-CN" sz="3200" b="1" baseline="-25000" dirty="0">
                <a:solidFill>
                  <a:srgbClr val="002060"/>
                </a:solidFill>
                <a:sym typeface="Wingdings" pitchFamily="2" charset="2"/>
              </a:rPr>
              <a:t>4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876800" y="3810000"/>
            <a:ext cx="396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3200" b="1" dirty="0">
                <a:solidFill>
                  <a:srgbClr val="002060"/>
                </a:solidFill>
              </a:rPr>
              <a:t>Cu(NH</a:t>
            </a:r>
            <a:r>
              <a:rPr lang="en-US" altLang="zh-CN" sz="3200" b="1" baseline="-25000" dirty="0">
                <a:solidFill>
                  <a:srgbClr val="002060"/>
                </a:solidFill>
              </a:rPr>
              <a:t>3</a:t>
            </a:r>
            <a:r>
              <a:rPr lang="en-US" altLang="zh-CN" sz="3200" b="1" dirty="0">
                <a:solidFill>
                  <a:srgbClr val="002060"/>
                </a:solidFill>
              </a:rPr>
              <a:t>)</a:t>
            </a:r>
            <a:r>
              <a:rPr lang="en-US" altLang="zh-CN" sz="3200" b="1" baseline="-25000" dirty="0">
                <a:solidFill>
                  <a:srgbClr val="002060"/>
                </a:solidFill>
              </a:rPr>
              <a:t>4</a:t>
            </a:r>
            <a:r>
              <a:rPr lang="en-US" altLang="zh-CN" sz="3200" b="1" dirty="0">
                <a:solidFill>
                  <a:srgbClr val="002060"/>
                </a:solidFill>
              </a:rPr>
              <a:t>(OH)</a:t>
            </a:r>
            <a:r>
              <a:rPr lang="en-US" altLang="zh-CN" sz="3200" b="1" baseline="-25000" dirty="0">
                <a:solidFill>
                  <a:srgbClr val="002060"/>
                </a:solidFill>
              </a:rPr>
              <a:t>2</a:t>
            </a:r>
            <a:r>
              <a:rPr lang="en-US" altLang="zh-CN" sz="3200" b="1" dirty="0">
                <a:solidFill>
                  <a:srgbClr val="002060"/>
                </a:solidFill>
              </a:rPr>
              <a:t>+ 4H</a:t>
            </a:r>
            <a:r>
              <a:rPr lang="en-US" altLang="zh-CN" sz="3200" b="1" baseline="-25000" dirty="0">
                <a:solidFill>
                  <a:srgbClr val="002060"/>
                </a:solidFill>
              </a:rPr>
              <a:t>2</a:t>
            </a:r>
            <a:r>
              <a:rPr lang="en-US" altLang="zh-CN" sz="3200" b="1" dirty="0">
                <a:solidFill>
                  <a:srgbClr val="002060"/>
                </a:solidFill>
              </a:rPr>
              <a:t>O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  <p:bldP spid="3" grpId="0" build="p"/>
      <p:bldP spid="4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>
                <a:latin typeface="+mn-ea"/>
              </a:rPr>
              <a:t>16.4.4 </a:t>
            </a:r>
            <a:r>
              <a:rPr lang="zh-CN" altLang="en-US" sz="4000" b="1" u="sng" dirty="0">
                <a:latin typeface="+mn-ea"/>
              </a:rPr>
              <a:t>铜的冶炼</a:t>
            </a:r>
            <a:endParaRPr lang="en-US" altLang="zh-CN" sz="4000" b="1" u="sng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>
                <a:latin typeface="+mn-ea"/>
              </a:rPr>
              <a:t> </a:t>
            </a:r>
            <a:r>
              <a:rPr lang="zh-CN" altLang="en-US" b="1" dirty="0">
                <a:latin typeface="+mn-ea"/>
              </a:rPr>
              <a:t>自然界中，天然铜很少，铜大部分以化合态存在。</a:t>
            </a:r>
            <a:endParaRPr lang="en-US" altLang="zh-CN" b="1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</a:rPr>
              <a:t>方法：高温冶炼黄铜矿</a:t>
            </a:r>
            <a:endParaRPr lang="en-US" altLang="zh-CN" b="1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</a:rPr>
              <a:t>2 CuFeS</a:t>
            </a:r>
            <a:r>
              <a:rPr lang="en-US" altLang="zh-CN" b="1" baseline="-25000" dirty="0">
                <a:latin typeface="+mn-ea"/>
              </a:rPr>
              <a:t>2 </a:t>
            </a:r>
            <a:r>
              <a:rPr lang="en-US" altLang="zh-CN" b="1" dirty="0">
                <a:latin typeface="+mn-ea"/>
              </a:rPr>
              <a:t> + O</a:t>
            </a:r>
            <a:r>
              <a:rPr lang="en-US" altLang="zh-CN" b="1" baseline="-25000" dirty="0">
                <a:latin typeface="+mn-ea"/>
              </a:rPr>
              <a:t>2</a:t>
            </a:r>
            <a:r>
              <a:rPr lang="en-US" altLang="zh-CN" b="1" dirty="0">
                <a:latin typeface="+mn-ea"/>
              </a:rPr>
              <a:t> 	 Cu</a:t>
            </a:r>
            <a:r>
              <a:rPr lang="en-US" altLang="zh-CN" b="1" baseline="-25000" dirty="0">
                <a:latin typeface="+mn-ea"/>
              </a:rPr>
              <a:t>2</a:t>
            </a:r>
            <a:r>
              <a:rPr lang="en-US" altLang="zh-CN" b="1" dirty="0">
                <a:latin typeface="+mn-ea"/>
              </a:rPr>
              <a:t>S+ 2FeS + SO</a:t>
            </a:r>
            <a:r>
              <a:rPr lang="en-US" altLang="zh-CN" b="1" baseline="-25000" dirty="0">
                <a:latin typeface="+mn-ea"/>
              </a:rPr>
              <a:t>2</a:t>
            </a:r>
            <a:r>
              <a:rPr lang="en-US" altLang="zh-CN" b="1" dirty="0">
                <a:latin typeface="+mn-ea"/>
              </a:rPr>
              <a:t>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</a:rPr>
              <a:t>2Cu</a:t>
            </a:r>
            <a:r>
              <a:rPr lang="en-US" altLang="zh-CN" b="1" baseline="-25000" dirty="0">
                <a:latin typeface="+mn-ea"/>
              </a:rPr>
              <a:t>2</a:t>
            </a:r>
            <a:r>
              <a:rPr lang="en-US" altLang="zh-CN" b="1" dirty="0">
                <a:latin typeface="+mn-ea"/>
              </a:rPr>
              <a:t>S + 3 O</a:t>
            </a:r>
            <a:r>
              <a:rPr lang="en-US" altLang="zh-CN" b="1" baseline="-25000" dirty="0">
                <a:latin typeface="+mn-ea"/>
              </a:rPr>
              <a:t>2</a:t>
            </a:r>
            <a:r>
              <a:rPr lang="en-US" altLang="zh-CN" b="1" dirty="0">
                <a:latin typeface="+mn-ea"/>
              </a:rPr>
              <a:t> 		2Cu</a:t>
            </a:r>
            <a:r>
              <a:rPr lang="en-US" altLang="zh-CN" b="1" baseline="-25000" dirty="0">
                <a:latin typeface="+mn-ea"/>
              </a:rPr>
              <a:t>2</a:t>
            </a:r>
            <a:r>
              <a:rPr lang="en-US" altLang="zh-CN" b="1" dirty="0">
                <a:latin typeface="+mn-ea"/>
              </a:rPr>
              <a:t>O + 2SO</a:t>
            </a:r>
            <a:r>
              <a:rPr lang="en-US" altLang="zh-CN" b="1" baseline="-25000" dirty="0">
                <a:latin typeface="+mn-ea"/>
              </a:rPr>
              <a:t>2</a:t>
            </a:r>
            <a:r>
              <a:rPr lang="en-US" altLang="zh-CN" b="1" dirty="0">
                <a:latin typeface="+mn-ea"/>
              </a:rPr>
              <a:t> 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>
                <a:latin typeface="+mn-ea"/>
              </a:rPr>
              <a:t>2Cu</a:t>
            </a:r>
            <a:r>
              <a:rPr lang="en-US" altLang="zh-CN" b="1" baseline="-25000" dirty="0">
                <a:latin typeface="+mn-ea"/>
              </a:rPr>
              <a:t>2</a:t>
            </a:r>
            <a:r>
              <a:rPr lang="en-US" altLang="zh-CN" b="1" dirty="0">
                <a:latin typeface="+mn-ea"/>
              </a:rPr>
              <a:t>O + Cu</a:t>
            </a:r>
            <a:r>
              <a:rPr lang="en-US" altLang="zh-CN" b="1" baseline="-25000" dirty="0">
                <a:latin typeface="+mn-ea"/>
              </a:rPr>
              <a:t>2</a:t>
            </a:r>
            <a:r>
              <a:rPr lang="en-US" altLang="zh-CN" b="1" dirty="0">
                <a:latin typeface="+mn-ea"/>
              </a:rPr>
              <a:t>S 	   6Cu + SO</a:t>
            </a:r>
            <a:r>
              <a:rPr lang="en-US" altLang="zh-CN" b="1" baseline="-25000" dirty="0">
                <a:latin typeface="+mn-ea"/>
              </a:rPr>
              <a:t>2</a:t>
            </a:r>
            <a:r>
              <a:rPr lang="en-US" altLang="zh-CN" b="1" dirty="0">
                <a:latin typeface="+mn-ea"/>
              </a:rPr>
              <a:t>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latin typeface="+mn-ea"/>
              </a:rPr>
              <a:t>需经过电解精料以制得更高纯度的铜</a:t>
            </a:r>
            <a:endParaRPr lang="en-US" altLang="zh-CN" b="1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>
              <a:latin typeface="+mn-ea"/>
              <a:sym typeface="Wingdings" pitchFamily="2" charset="2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581400" y="2819400"/>
            <a:ext cx="838200" cy="307777"/>
            <a:chOff x="2819400" y="5867400"/>
            <a:chExt cx="838200" cy="307777"/>
          </a:xfrm>
        </p:grpSpPr>
        <p:cxnSp>
          <p:nvCxnSpPr>
            <p:cNvPr id="4" name="Straight Arrow Connector 3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焙烧</a:t>
              </a:r>
              <a:endParaRPr lang="en-US" sz="1400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505200" y="3352800"/>
            <a:ext cx="838200" cy="307777"/>
            <a:chOff x="2819400" y="5867400"/>
            <a:chExt cx="838200" cy="307777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高温</a:t>
              </a:r>
              <a:endParaRPr lang="en-US" sz="1400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733800" y="4035623"/>
            <a:ext cx="838200" cy="307777"/>
            <a:chOff x="2819400" y="5867400"/>
            <a:chExt cx="838200" cy="307777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高温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3000" b="1" u="sng" dirty="0">
                <a:latin typeface="+mn-ea"/>
              </a:rPr>
              <a:t>思考题</a:t>
            </a:r>
            <a:r>
              <a:rPr lang="en-US" altLang="zh-CN" sz="3000" b="1" u="sng" dirty="0">
                <a:latin typeface="+mn-ea"/>
              </a:rPr>
              <a:t>16c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3000" b="1" dirty="0">
                <a:latin typeface="+mn-ea"/>
              </a:rPr>
              <a:t>1. C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3000" b="1" dirty="0">
                <a:latin typeface="+mn-ea"/>
              </a:rPr>
              <a:t>2. (1)  CuCO</a:t>
            </a:r>
            <a:r>
              <a:rPr lang="en-US" altLang="zh-CN" sz="3000" b="1" baseline="-25000" dirty="0">
                <a:latin typeface="+mn-ea"/>
              </a:rPr>
              <a:t>3</a:t>
            </a:r>
            <a:r>
              <a:rPr lang="en-US" altLang="zh-CN" sz="3000" b="1" dirty="0">
                <a:latin typeface="Calibri" panose="020F0502020204030204" pitchFamily="34" charset="0"/>
                <a:cs typeface="Calibri" panose="020F0502020204030204" pitchFamily="34" charset="0"/>
              </a:rPr>
              <a:t>∙</a:t>
            </a:r>
            <a:r>
              <a:rPr lang="en-US" altLang="zh-CN" sz="3000" b="1" dirty="0">
                <a:latin typeface="+mn-ea"/>
              </a:rPr>
              <a:t>Cu(OH)</a:t>
            </a:r>
            <a:r>
              <a:rPr lang="en-US" altLang="zh-CN" sz="3000" b="1" baseline="-25000" dirty="0">
                <a:latin typeface="+mn-ea"/>
              </a:rPr>
              <a:t>2</a:t>
            </a:r>
            <a:r>
              <a:rPr lang="en-US" altLang="zh-CN" sz="3000" b="1" dirty="0">
                <a:latin typeface="+mn-ea"/>
              </a:rPr>
              <a:t> 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3000" b="1" dirty="0">
                <a:latin typeface="+mn-ea"/>
              </a:rPr>
              <a:t>    (2) 2CuO + C</a:t>
            </a:r>
          </a:p>
          <a:p>
            <a:pPr marL="514350" indent="-514350">
              <a:lnSpc>
                <a:spcPct val="80000"/>
              </a:lnSpc>
              <a:buNone/>
            </a:pPr>
            <a:r>
              <a:rPr lang="en-US" altLang="zh-CN" sz="3000" b="1" dirty="0">
                <a:latin typeface="+mn-ea"/>
              </a:rPr>
              <a:t>3. 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2 FeCl</a:t>
            </a:r>
            <a:r>
              <a:rPr lang="en-US" altLang="zh-CN" sz="3000" b="1" baseline="-25000" dirty="0">
                <a:solidFill>
                  <a:srgbClr val="002060"/>
                </a:solidFill>
                <a:sym typeface="Wingdings" pitchFamily="2" charset="2"/>
              </a:rPr>
              <a:t>3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 + Fe  3 FeCl</a:t>
            </a:r>
            <a:r>
              <a:rPr lang="en-US" altLang="zh-CN" sz="30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 </a:t>
            </a:r>
            <a:endParaRPr lang="en-US" altLang="zh-CN" sz="3000" b="1" dirty="0">
              <a:solidFill>
                <a:srgbClr val="002060"/>
              </a:solidFill>
            </a:endParaRPr>
          </a:p>
          <a:p>
            <a:pPr marL="514350" indent="-514350">
              <a:lnSpc>
                <a:spcPct val="80000"/>
              </a:lnSpc>
              <a:buNone/>
            </a:pP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	2 FeCl</a:t>
            </a:r>
            <a:r>
              <a:rPr lang="en-US" altLang="zh-CN" sz="3000" b="1" baseline="-25000" dirty="0">
                <a:solidFill>
                  <a:srgbClr val="002060"/>
                </a:solidFill>
                <a:sym typeface="Wingdings" pitchFamily="2" charset="2"/>
              </a:rPr>
              <a:t>3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 + Cu  2 FeCl</a:t>
            </a:r>
            <a:r>
              <a:rPr lang="en-US" altLang="zh-CN" sz="30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 + CuCl</a:t>
            </a:r>
            <a:r>
              <a:rPr lang="en-US" altLang="zh-CN" sz="30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endParaRPr lang="en-US" altLang="zh-CN" sz="3000" b="1" dirty="0">
              <a:solidFill>
                <a:srgbClr val="002060"/>
              </a:solidFill>
              <a:sym typeface="Wingdings" pitchFamily="2" charset="2"/>
            </a:endParaRPr>
          </a:p>
          <a:p>
            <a:pPr marL="514350" indent="-514350">
              <a:lnSpc>
                <a:spcPct val="80000"/>
              </a:lnSpc>
              <a:buNone/>
            </a:pPr>
            <a:r>
              <a:rPr lang="en-US" altLang="zh-CN" sz="3000" b="1" dirty="0">
                <a:solidFill>
                  <a:srgbClr val="002060"/>
                </a:solidFill>
              </a:rPr>
              <a:t>	Fe + CuCl</a:t>
            </a:r>
            <a:r>
              <a:rPr lang="en-US" altLang="zh-CN" sz="3000" b="1" baseline="-25000" dirty="0">
                <a:solidFill>
                  <a:srgbClr val="002060"/>
                </a:solidFill>
              </a:rPr>
              <a:t>2</a:t>
            </a:r>
            <a:r>
              <a:rPr lang="en-US" altLang="zh-CN" sz="3000" b="1" dirty="0">
                <a:solidFill>
                  <a:srgbClr val="002060"/>
                </a:solidFill>
              </a:rPr>
              <a:t> </a:t>
            </a:r>
            <a:r>
              <a:rPr lang="en-US" altLang="zh-CN" sz="3000" b="1" dirty="0">
                <a:solidFill>
                  <a:srgbClr val="002060"/>
                </a:solidFill>
                <a:sym typeface="Wingdings" panose="05000000000000000000" pitchFamily="2" charset="2"/>
              </a:rPr>
              <a:t> FeCl</a:t>
            </a:r>
            <a:r>
              <a:rPr lang="en-US" altLang="zh-CN" sz="3000" b="1" baseline="-25000" dirty="0">
                <a:solidFill>
                  <a:srgbClr val="002060"/>
                </a:solidFill>
                <a:sym typeface="Wingdings" panose="05000000000000000000" pitchFamily="2" charset="2"/>
              </a:rPr>
              <a:t>2</a:t>
            </a:r>
            <a:r>
              <a:rPr lang="en-US" altLang="zh-CN" sz="3000" b="1" dirty="0">
                <a:solidFill>
                  <a:srgbClr val="002060"/>
                </a:solidFill>
                <a:sym typeface="Wingdings" panose="05000000000000000000" pitchFamily="2" charset="2"/>
              </a:rPr>
              <a:t> + Cu</a:t>
            </a:r>
            <a:endParaRPr lang="en-US" altLang="zh-CN" sz="3000" b="1" dirty="0">
              <a:solidFill>
                <a:srgbClr val="002060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3000" b="1" dirty="0">
                <a:latin typeface="+mn-ea"/>
              </a:rPr>
              <a:t>    (1) Cu</a:t>
            </a:r>
            <a:r>
              <a:rPr lang="en-US" altLang="zh-CN" sz="3000" b="1" baseline="30000" dirty="0">
                <a:latin typeface="+mn-ea"/>
              </a:rPr>
              <a:t>2+</a:t>
            </a:r>
            <a:r>
              <a:rPr lang="zh-CN" altLang="en-US" sz="3000" b="1" dirty="0">
                <a:latin typeface="+mn-ea"/>
              </a:rPr>
              <a:t>、</a:t>
            </a:r>
            <a:r>
              <a:rPr lang="en-US" altLang="zh-CN" sz="3000" b="1" baseline="30000" dirty="0">
                <a:latin typeface="+mn-ea"/>
              </a:rPr>
              <a:t> </a:t>
            </a:r>
            <a:r>
              <a:rPr lang="en-US" altLang="zh-CN" sz="3000" b="1" dirty="0">
                <a:latin typeface="+mn-ea"/>
              </a:rPr>
              <a:t> Fe</a:t>
            </a:r>
            <a:r>
              <a:rPr lang="en-US" altLang="zh-CN" sz="3000" b="1" baseline="30000" dirty="0">
                <a:latin typeface="+mn-ea"/>
              </a:rPr>
              <a:t>3+</a:t>
            </a:r>
            <a:r>
              <a:rPr lang="en-US" altLang="zh-CN" sz="3000" b="1" dirty="0">
                <a:latin typeface="+mn-ea"/>
              </a:rPr>
              <a:t>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3000" b="1" dirty="0">
                <a:latin typeface="+mn-ea"/>
              </a:rPr>
              <a:t>    (2) Fe</a:t>
            </a:r>
            <a:r>
              <a:rPr lang="en-US" altLang="zh-CN" sz="3000" b="1" baseline="30000" dirty="0">
                <a:latin typeface="+mn-ea"/>
              </a:rPr>
              <a:t>2+ </a:t>
            </a:r>
            <a:r>
              <a:rPr lang="zh-CN" altLang="en-US" sz="3000" b="1" dirty="0">
                <a:latin typeface="+mn-ea"/>
              </a:rPr>
              <a:t>、</a:t>
            </a:r>
            <a:r>
              <a:rPr lang="en-US" altLang="zh-CN" sz="3000" b="1" dirty="0">
                <a:latin typeface="+mn-ea"/>
              </a:rPr>
              <a:t>Fe</a:t>
            </a:r>
            <a:r>
              <a:rPr lang="en-US" altLang="zh-CN" sz="3000" b="1" baseline="30000" dirty="0">
                <a:latin typeface="+mn-ea"/>
              </a:rPr>
              <a:t>3+</a:t>
            </a:r>
            <a:r>
              <a:rPr lang="en-US" altLang="zh-CN" sz="3000" b="1" dirty="0">
                <a:latin typeface="+mn-ea"/>
              </a:rPr>
              <a:t> </a:t>
            </a:r>
            <a:r>
              <a:rPr lang="zh-CN" altLang="en-US" sz="3000" b="1" dirty="0">
                <a:latin typeface="+mn-ea"/>
              </a:rPr>
              <a:t>或</a:t>
            </a:r>
            <a:r>
              <a:rPr lang="en-US" altLang="zh-CN" sz="3000" b="1" dirty="0">
                <a:latin typeface="+mn-ea"/>
              </a:rPr>
              <a:t>Cu</a:t>
            </a:r>
            <a:r>
              <a:rPr lang="zh-CN" altLang="en-US" sz="3000" b="1" dirty="0">
                <a:latin typeface="+mn-ea"/>
              </a:rPr>
              <a:t>、</a:t>
            </a:r>
            <a:r>
              <a:rPr lang="en-US" altLang="zh-CN" sz="3000" b="1" dirty="0">
                <a:latin typeface="+mn-ea"/>
              </a:rPr>
              <a:t>Fe</a:t>
            </a:r>
            <a:r>
              <a:rPr lang="en-US" altLang="zh-CN" sz="3000" b="1" baseline="30000" dirty="0">
                <a:latin typeface="+mn-ea"/>
              </a:rPr>
              <a:t>2+ </a:t>
            </a:r>
            <a:endParaRPr lang="en-US" altLang="zh-CN" sz="3000" b="1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3000" b="1" dirty="0">
                <a:latin typeface="+mn-ea"/>
              </a:rPr>
              <a:t>    (3) Fe</a:t>
            </a:r>
            <a:r>
              <a:rPr lang="zh-CN" altLang="en-US" sz="3000" b="1" dirty="0">
                <a:latin typeface="+mn-ea"/>
              </a:rPr>
              <a:t>、</a:t>
            </a:r>
            <a:r>
              <a:rPr lang="en-US" altLang="zh-CN" sz="3000" b="1" dirty="0">
                <a:latin typeface="+mn-ea"/>
              </a:rPr>
              <a:t>Cu </a:t>
            </a:r>
            <a:r>
              <a:rPr lang="zh-CN" altLang="en-US" sz="3000" b="1" dirty="0">
                <a:latin typeface="+mn-ea"/>
              </a:rPr>
              <a:t>；</a:t>
            </a:r>
            <a:r>
              <a:rPr lang="en-US" altLang="zh-CN" sz="3000" b="1" dirty="0">
                <a:latin typeface="+mn-ea"/>
              </a:rPr>
              <a:t>Fe</a:t>
            </a:r>
            <a:r>
              <a:rPr lang="en-US" altLang="zh-CN" sz="3000" b="1" baseline="30000" dirty="0">
                <a:latin typeface="+mn-ea"/>
              </a:rPr>
              <a:t>2+</a:t>
            </a:r>
            <a:endParaRPr lang="en-US" altLang="zh-CN" sz="3000" b="1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3000" b="1" dirty="0">
                <a:latin typeface="+mn-ea"/>
              </a:rPr>
              <a:t>    (4) Cu</a:t>
            </a:r>
            <a:r>
              <a:rPr lang="zh-CN" altLang="en-US" sz="3000" b="1" dirty="0">
                <a:latin typeface="+mn-ea"/>
              </a:rPr>
              <a:t>、</a:t>
            </a:r>
            <a:r>
              <a:rPr lang="en-US" altLang="zh-CN" sz="3000" b="1" dirty="0">
                <a:latin typeface="+mn-ea"/>
              </a:rPr>
              <a:t>Fe</a:t>
            </a:r>
            <a:endParaRPr lang="en-US" altLang="zh-CN" sz="3000" b="1" dirty="0">
              <a:latin typeface="+mn-ea"/>
              <a:sym typeface="Wingdings" pitchFamily="2" charset="2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724400" y="1295400"/>
            <a:ext cx="838200" cy="307777"/>
            <a:chOff x="2819400" y="5867400"/>
            <a:chExt cx="838200" cy="307777"/>
          </a:xfrm>
        </p:grpSpPr>
        <p:cxnSp>
          <p:nvCxnSpPr>
            <p:cNvPr id="4" name="Straight Arrow Connector 3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高温</a:t>
              </a:r>
              <a:endParaRPr lang="en-US" sz="1400" dirty="0"/>
            </a:p>
          </p:txBody>
        </p:sp>
      </p:grp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562600" y="1143000"/>
            <a:ext cx="396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sym typeface="Wingdings" pitchFamily="2" charset="2"/>
              </a:rPr>
              <a:t>2CuO</a:t>
            </a:r>
            <a:r>
              <a:rPr lang="en-US" altLang="zh-CN" sz="3000" b="1" kern="0" baseline="-25000" dirty="0">
                <a:solidFill>
                  <a:srgbClr val="3A2222"/>
                </a:solidFill>
                <a:latin typeface="+mn-ea"/>
                <a:sym typeface="Wingdings" pitchFamily="2" charset="2"/>
              </a:rPr>
              <a:t>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sym typeface="Wingdings" pitchFamily="2" charset="2"/>
              </a:rPr>
              <a:t>+ 2 H</a:t>
            </a:r>
            <a:r>
              <a:rPr kumimoji="0" lang="en-US" altLang="zh-CN" sz="3000" b="1" i="0" u="none" strike="noStrike" kern="0" cap="none" spc="0" normalizeH="0" baseline="-2500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sym typeface="Wingdings" pitchFamily="2" charset="2"/>
              </a:rPr>
              <a:t>2</a:t>
            </a:r>
            <a:r>
              <a:rPr kumimoji="0" lang="en-US" altLang="zh-CN" sz="3000" b="1" i="0" u="none" strike="noStrike" kern="0" cap="none" spc="0" normalizeH="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sym typeface="Wingdings" pitchFamily="2" charset="2"/>
              </a:rPr>
              <a:t>O + CO</a:t>
            </a:r>
            <a:r>
              <a:rPr kumimoji="0" lang="en-US" altLang="zh-CN" sz="3000" b="1" i="0" u="none" strike="noStrike" kern="0" cap="none" spc="0" normalizeH="0" baseline="-2500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sym typeface="Wingdings" pitchFamily="2" charset="2"/>
              </a:rPr>
              <a:t>2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sym typeface="Wingdings" pitchFamily="2" charset="2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810000" y="1981200"/>
            <a:ext cx="838200" cy="307777"/>
            <a:chOff x="2819400" y="5867400"/>
            <a:chExt cx="838200" cy="307777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高温</a:t>
              </a:r>
              <a:endParaRPr lang="en-US" sz="1400" dirty="0"/>
            </a:p>
          </p:txBody>
        </p:sp>
      </p:grp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4800600" y="1752600"/>
            <a:ext cx="396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sym typeface="Wingdings" pitchFamily="2" charset="2"/>
              </a:rPr>
              <a:t>2Cu</a:t>
            </a:r>
            <a:r>
              <a:rPr lang="en-US" altLang="zh-CN" sz="3000" b="1" kern="0" baseline="-25000" dirty="0">
                <a:solidFill>
                  <a:srgbClr val="3A2222"/>
                </a:solidFill>
                <a:latin typeface="+mn-ea"/>
                <a:sym typeface="Wingdings" pitchFamily="2" charset="2"/>
              </a:rPr>
              <a:t>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sym typeface="Wingdings" pitchFamily="2" charset="2"/>
              </a:rPr>
              <a:t> </a:t>
            </a:r>
            <a:r>
              <a:rPr kumimoji="0" lang="en-US" altLang="zh-CN" sz="3000" b="1" i="0" u="none" strike="noStrike" kern="0" cap="none" spc="0" normalizeH="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sym typeface="Wingdings" pitchFamily="2" charset="2"/>
              </a:rPr>
              <a:t>+ CO</a:t>
            </a:r>
            <a:r>
              <a:rPr kumimoji="0" lang="en-US" altLang="zh-CN" sz="3000" b="1" i="0" u="none" strike="noStrike" kern="0" cap="none" spc="0" normalizeH="0" baseline="-25000" noProof="0" dirty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sym typeface="Wingdings" pitchFamily="2" charset="2"/>
              </a:rPr>
              <a:t>2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  <p:bldP spid="6" grpId="0" build="p"/>
      <p:bldP spid="10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4000" b="1" u="sng" dirty="0">
                <a:latin typeface="+mn-ea"/>
              </a:rPr>
              <a:t>选择题</a:t>
            </a:r>
            <a:endParaRPr lang="en-US" altLang="zh-CN" sz="4000" b="1" u="sng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</a:rPr>
              <a:t>1. A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</a:rPr>
              <a:t>2. A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</a:rPr>
              <a:t>3. D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</a:rPr>
              <a:t>4. C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</a:rPr>
              <a:t>	</a:t>
            </a:r>
            <a:r>
              <a:rPr lang="zh-CN" altLang="en-US" b="1" dirty="0">
                <a:latin typeface="+mn-ea"/>
              </a:rPr>
              <a:t>氯气是强氧化剂</a:t>
            </a:r>
            <a:endParaRPr lang="en-US" altLang="zh-CN" b="1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</a:rPr>
              <a:t>5. D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</a:rPr>
              <a:t>6. </a:t>
            </a:r>
            <a:r>
              <a:rPr lang="zh-CN" altLang="en-US" b="1" dirty="0">
                <a:latin typeface="+mn-ea"/>
              </a:rPr>
              <a:t>缓解中毒即将</a:t>
            </a:r>
            <a:r>
              <a:rPr lang="en-US" altLang="zh-CN" b="1" dirty="0">
                <a:latin typeface="+mn-ea"/>
              </a:rPr>
              <a:t>Fe</a:t>
            </a:r>
            <a:r>
              <a:rPr lang="en-US" altLang="zh-CN" b="1" baseline="30000" dirty="0">
                <a:latin typeface="+mn-ea"/>
              </a:rPr>
              <a:t>3+</a:t>
            </a:r>
            <a:r>
              <a:rPr lang="en-US" altLang="zh-CN" b="1" dirty="0">
                <a:latin typeface="+mn-ea"/>
              </a:rPr>
              <a:t> </a:t>
            </a:r>
            <a:r>
              <a:rPr lang="zh-CN" altLang="en-US" b="1" dirty="0">
                <a:latin typeface="+mn-ea"/>
              </a:rPr>
              <a:t>还原回</a:t>
            </a:r>
            <a:r>
              <a:rPr lang="en-US" altLang="zh-CN" b="1" dirty="0">
                <a:latin typeface="+mn-ea"/>
              </a:rPr>
              <a:t>Fe</a:t>
            </a:r>
            <a:r>
              <a:rPr lang="en-US" altLang="zh-CN" b="1" baseline="30000" dirty="0">
                <a:latin typeface="+mn-ea"/>
              </a:rPr>
              <a:t>2+</a:t>
            </a:r>
            <a:r>
              <a:rPr lang="en-US" altLang="zh-CN" b="1" dirty="0">
                <a:latin typeface="+mn-ea"/>
              </a:rPr>
              <a:t> 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</a:rPr>
              <a:t>    D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b="1" dirty="0">
                <a:latin typeface="+mn-ea"/>
              </a:rPr>
              <a:t>7. C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>
              <a:latin typeface="+mn-e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zh-CN" altLang="en-US" sz="4000" b="1" u="sng" dirty="0">
                <a:latin typeface="+mn-ea"/>
              </a:rPr>
              <a:t>选择题</a:t>
            </a:r>
            <a:endParaRPr lang="en-US" altLang="zh-CN" sz="4000" b="1" u="sng" dirty="0">
              <a:latin typeface="+mn-ea"/>
            </a:endParaRPr>
          </a:p>
          <a:p>
            <a:pPr marL="514350" indent="-514350">
              <a:lnSpc>
                <a:spcPct val="80000"/>
              </a:lnSpc>
              <a:buNone/>
            </a:pPr>
            <a:r>
              <a:rPr lang="en-US" altLang="zh-CN" sz="3000" b="1" dirty="0">
                <a:latin typeface="+mn-ea"/>
              </a:rPr>
              <a:t>8. A </a:t>
            </a:r>
            <a:r>
              <a:rPr lang="zh-CN" altLang="en-US" sz="3000" b="1" dirty="0">
                <a:latin typeface="+mn-ea"/>
              </a:rPr>
              <a:t>浅绿色</a:t>
            </a:r>
            <a:endParaRPr lang="en-US" altLang="zh-CN" sz="3000" b="1" dirty="0">
              <a:latin typeface="+mn-ea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3000" b="1" dirty="0">
                <a:latin typeface="+mn-ea"/>
              </a:rPr>
              <a:t>9. </a:t>
            </a:r>
            <a:r>
              <a:rPr lang="en-US" altLang="zh-CN" sz="3000" b="1" dirty="0">
                <a:solidFill>
                  <a:srgbClr val="002060"/>
                </a:solidFill>
                <a:latin typeface="+mn-ea"/>
              </a:rPr>
              <a:t>**</a:t>
            </a:r>
            <a:r>
              <a:rPr lang="zh-CN" altLang="en-US" sz="3000" b="1" dirty="0">
                <a:solidFill>
                  <a:srgbClr val="002060"/>
                </a:solidFill>
                <a:latin typeface="+mn-ea"/>
              </a:rPr>
              <a:t>氧化剂的氧化性强于氧化产物</a:t>
            </a:r>
            <a:endParaRPr lang="en-MY" altLang="zh-CN" sz="3000" b="1" dirty="0">
              <a:solidFill>
                <a:srgbClr val="002060"/>
              </a:solidFill>
              <a:latin typeface="+mn-ea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3000" b="1" dirty="0">
                <a:solidFill>
                  <a:srgbClr val="4A2C2C"/>
                </a:solidFill>
                <a:latin typeface="+mn-ea"/>
              </a:rPr>
              <a:t>由</a:t>
            </a:r>
            <a:r>
              <a:rPr lang="en-US" altLang="zh-CN" sz="3000" b="1" dirty="0">
                <a:solidFill>
                  <a:srgbClr val="4A2C2C"/>
                </a:solidFill>
              </a:rPr>
              <a:t>Fe + CuCl</a:t>
            </a:r>
            <a:r>
              <a:rPr lang="en-US" altLang="zh-CN" sz="3000" b="1" baseline="-25000" dirty="0">
                <a:solidFill>
                  <a:srgbClr val="4A2C2C"/>
                </a:solidFill>
              </a:rPr>
              <a:t>2</a:t>
            </a:r>
            <a:r>
              <a:rPr lang="en-US" altLang="zh-CN" sz="3000" b="1" dirty="0">
                <a:solidFill>
                  <a:srgbClr val="4A2C2C"/>
                </a:solidFill>
              </a:rPr>
              <a:t> </a:t>
            </a:r>
            <a:r>
              <a:rPr lang="en-US" altLang="zh-CN" sz="3000" b="1" dirty="0">
                <a:solidFill>
                  <a:srgbClr val="4A2C2C"/>
                </a:solidFill>
                <a:sym typeface="Wingdings" panose="05000000000000000000" pitchFamily="2" charset="2"/>
              </a:rPr>
              <a:t> FeCl</a:t>
            </a:r>
            <a:r>
              <a:rPr lang="en-US" altLang="zh-CN" sz="3000" b="1" baseline="-25000" dirty="0">
                <a:solidFill>
                  <a:srgbClr val="4A2C2C"/>
                </a:solidFill>
                <a:sym typeface="Wingdings" panose="05000000000000000000" pitchFamily="2" charset="2"/>
              </a:rPr>
              <a:t>2</a:t>
            </a:r>
            <a:r>
              <a:rPr lang="en-US" altLang="zh-CN" sz="3000" b="1" dirty="0">
                <a:solidFill>
                  <a:srgbClr val="4A2C2C"/>
                </a:solidFill>
                <a:sym typeface="Wingdings" panose="05000000000000000000" pitchFamily="2" charset="2"/>
              </a:rPr>
              <a:t> + Cu  </a:t>
            </a:r>
            <a:r>
              <a:rPr lang="zh-CN" altLang="en-US" sz="3000" b="1" dirty="0">
                <a:solidFill>
                  <a:srgbClr val="4A2C2C"/>
                </a:solidFill>
                <a:sym typeface="Wingdings" panose="05000000000000000000" pitchFamily="2" charset="2"/>
              </a:rPr>
              <a:t>得</a:t>
            </a:r>
            <a:r>
              <a:rPr lang="en-MY" altLang="zh-CN" sz="3000" b="1" dirty="0">
                <a:solidFill>
                  <a:srgbClr val="4A2C2C"/>
                </a:solidFill>
                <a:sym typeface="Wingdings" panose="05000000000000000000" pitchFamily="2" charset="2"/>
              </a:rPr>
              <a:t>:</a:t>
            </a:r>
            <a:endParaRPr lang="en-US" altLang="zh-CN" sz="3000" b="1" dirty="0">
              <a:solidFill>
                <a:srgbClr val="4A2C2C"/>
              </a:solidFill>
              <a:latin typeface="+mn-ea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3000" b="1" dirty="0">
                <a:solidFill>
                  <a:srgbClr val="4A2C2C"/>
                </a:solidFill>
                <a:latin typeface="+mn-ea"/>
                <a:sym typeface="Wingdings" pitchFamily="2" charset="2"/>
              </a:rPr>
              <a:t>由</a:t>
            </a:r>
            <a:r>
              <a:rPr lang="en-US" altLang="zh-CN" sz="3000" b="1" dirty="0">
                <a:solidFill>
                  <a:srgbClr val="4A2C2C"/>
                </a:solidFill>
                <a:sym typeface="Wingdings" pitchFamily="2" charset="2"/>
              </a:rPr>
              <a:t>2 FeCl</a:t>
            </a:r>
            <a:r>
              <a:rPr lang="en-US" altLang="zh-CN" sz="3000" b="1" baseline="-25000" dirty="0">
                <a:solidFill>
                  <a:srgbClr val="4A2C2C"/>
                </a:solidFill>
                <a:sym typeface="Wingdings" pitchFamily="2" charset="2"/>
              </a:rPr>
              <a:t>3</a:t>
            </a:r>
            <a:r>
              <a:rPr lang="en-US" altLang="zh-CN" sz="3000" b="1" dirty="0">
                <a:solidFill>
                  <a:srgbClr val="4A2C2C"/>
                </a:solidFill>
                <a:sym typeface="Wingdings" pitchFamily="2" charset="2"/>
              </a:rPr>
              <a:t> + Cu  2 FeCl</a:t>
            </a:r>
            <a:r>
              <a:rPr lang="en-US" altLang="zh-CN" sz="3000" b="1" baseline="-25000" dirty="0">
                <a:solidFill>
                  <a:srgbClr val="4A2C2C"/>
                </a:solidFill>
                <a:sym typeface="Wingdings" pitchFamily="2" charset="2"/>
              </a:rPr>
              <a:t>2</a:t>
            </a:r>
            <a:r>
              <a:rPr lang="en-US" altLang="zh-CN" sz="3000" b="1" dirty="0">
                <a:solidFill>
                  <a:srgbClr val="4A2C2C"/>
                </a:solidFill>
                <a:sym typeface="Wingdings" pitchFamily="2" charset="2"/>
              </a:rPr>
              <a:t> + CuCl</a:t>
            </a:r>
            <a:r>
              <a:rPr lang="en-US" altLang="zh-CN" sz="3000" b="1" baseline="-25000" dirty="0">
                <a:solidFill>
                  <a:srgbClr val="4A2C2C"/>
                </a:solidFill>
                <a:sym typeface="Wingdings" pitchFamily="2" charset="2"/>
              </a:rPr>
              <a:t>2</a:t>
            </a:r>
            <a:r>
              <a:rPr lang="zh-CN" altLang="en-US" sz="3000" b="1" dirty="0">
                <a:solidFill>
                  <a:srgbClr val="4A2C2C"/>
                </a:solidFill>
                <a:latin typeface="+mn-ea"/>
                <a:sym typeface="Wingdings" pitchFamily="2" charset="2"/>
              </a:rPr>
              <a:t>得</a:t>
            </a:r>
            <a:r>
              <a:rPr lang="en-MY" altLang="zh-CN" sz="3000" b="1" dirty="0">
                <a:solidFill>
                  <a:srgbClr val="4A2C2C"/>
                </a:solidFill>
                <a:latin typeface="+mn-ea"/>
                <a:sym typeface="Wingdings" pitchFamily="2" charset="2"/>
              </a:rPr>
              <a:t>:</a:t>
            </a:r>
            <a:r>
              <a:rPr lang="en-US" altLang="zh-CN" sz="3000" b="1" dirty="0">
                <a:solidFill>
                  <a:srgbClr val="4A2C2C"/>
                </a:solidFill>
                <a:latin typeface="+mn-ea"/>
                <a:sym typeface="Wingdings" pitchFamily="2" charset="2"/>
              </a:rPr>
              <a:t>	</a:t>
            </a:r>
            <a:endParaRPr lang="en-US" altLang="zh-CN" sz="3000" b="1" baseline="30000" dirty="0">
              <a:solidFill>
                <a:srgbClr val="4A2C2C"/>
              </a:solidFill>
              <a:latin typeface="+mn-ea"/>
              <a:sym typeface="Wingdings" pitchFamily="2" charset="2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3000" b="1" baseline="30000" dirty="0">
                <a:solidFill>
                  <a:srgbClr val="4A2C2C"/>
                </a:solidFill>
                <a:latin typeface="+mn-ea"/>
                <a:sym typeface="Wingdings" pitchFamily="2" charset="2"/>
              </a:rPr>
              <a:t> </a:t>
            </a:r>
            <a:r>
              <a:rPr lang="en-US" altLang="zh-CN" sz="3000" b="1" dirty="0">
                <a:solidFill>
                  <a:srgbClr val="4A2C2C"/>
                </a:solidFill>
                <a:latin typeface="+mn-ea"/>
                <a:sym typeface="Wingdings" pitchFamily="2" charset="2"/>
              </a:rPr>
              <a:t> Ans: C 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3000" b="1" dirty="0">
                <a:solidFill>
                  <a:srgbClr val="4A2C2C"/>
                </a:solidFill>
                <a:latin typeface="+mn-ea"/>
                <a:sym typeface="Wingdings" pitchFamily="2" charset="2"/>
              </a:rPr>
              <a:t>10. 	    2FeCl</a:t>
            </a:r>
            <a:r>
              <a:rPr lang="en-US" altLang="zh-CN" sz="3000" b="1" baseline="-25000" dirty="0">
                <a:solidFill>
                  <a:srgbClr val="4A2C2C"/>
                </a:solidFill>
                <a:latin typeface="+mn-ea"/>
                <a:sym typeface="Wingdings" pitchFamily="2" charset="2"/>
              </a:rPr>
              <a:t>3</a:t>
            </a:r>
            <a:r>
              <a:rPr lang="en-US" altLang="zh-CN" sz="3000" b="1" dirty="0">
                <a:solidFill>
                  <a:srgbClr val="4A2C2C"/>
                </a:solidFill>
                <a:latin typeface="+mn-ea"/>
                <a:sym typeface="Wingdings" pitchFamily="2" charset="2"/>
              </a:rPr>
              <a:t> + Fe 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 3FeCl</a:t>
            </a:r>
            <a:r>
              <a:rPr lang="en-US" altLang="zh-CN" sz="3000" b="1" baseline="-25000" dirty="0">
                <a:latin typeface="+mn-ea"/>
                <a:sym typeface="Wingdings" pitchFamily="2" charset="2"/>
              </a:rPr>
              <a:t>2</a:t>
            </a:r>
            <a:endParaRPr lang="en-US" altLang="zh-CN" sz="3000" b="1" dirty="0">
              <a:latin typeface="+mn-ea"/>
              <a:sym typeface="Wingdings" pitchFamily="2" charset="2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3000" b="1" dirty="0">
                <a:latin typeface="+mn-ea"/>
                <a:sym typeface="Wingdings" pitchFamily="2" charset="2"/>
              </a:rPr>
              <a:t>	</a:t>
            </a:r>
            <a:r>
              <a:rPr lang="zh-CN" altLang="en-US" sz="3000" b="1" dirty="0">
                <a:latin typeface="+mn-ea"/>
                <a:sym typeface="Wingdings" pitchFamily="2" charset="2"/>
              </a:rPr>
              <a:t>反应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 2mol	   1mol    3mol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3000" b="1" dirty="0">
                <a:latin typeface="+mn-ea"/>
                <a:sym typeface="Wingdings" pitchFamily="2" charset="2"/>
              </a:rPr>
              <a:t>	</a:t>
            </a:r>
            <a:r>
              <a:rPr lang="zh-CN" altLang="en-US" sz="3000" b="1" dirty="0">
                <a:latin typeface="+mn-ea"/>
                <a:sym typeface="Wingdings" pitchFamily="2" charset="2"/>
              </a:rPr>
              <a:t>结束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   3mol		0     3mol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3000" b="1" dirty="0">
                <a:latin typeface="+mn-ea"/>
                <a:sym typeface="Wingdings" pitchFamily="2" charset="2"/>
              </a:rPr>
              <a:t>已反应 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: </a:t>
            </a:r>
            <a:r>
              <a:rPr lang="zh-CN" altLang="en-US" sz="3000" b="1" dirty="0">
                <a:latin typeface="+mn-ea"/>
                <a:sym typeface="Wingdings" pitchFamily="2" charset="2"/>
              </a:rPr>
              <a:t>未反应</a:t>
            </a:r>
            <a:r>
              <a:rPr lang="en-US" altLang="zh-CN" sz="3000" b="1" dirty="0">
                <a:latin typeface="+mn-ea"/>
                <a:sym typeface="Wingdings" pitchFamily="2" charset="2"/>
              </a:rPr>
              <a:t>=2 : 3 	</a:t>
            </a:r>
            <a:r>
              <a:rPr lang="en-US" altLang="zh-CN" sz="3000" b="1" dirty="0" err="1">
                <a:latin typeface="+mn-ea"/>
                <a:sym typeface="Wingdings" pitchFamily="2" charset="2"/>
              </a:rPr>
              <a:t>Ans:A</a:t>
            </a:r>
            <a:endParaRPr lang="en-US" altLang="zh-CN" sz="3000" b="1" dirty="0">
              <a:latin typeface="+mn-ea"/>
              <a:sym typeface="Wingdings" pitchFamily="2" charset="2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3000" b="1" dirty="0">
                <a:latin typeface="+mn-ea"/>
                <a:sym typeface="Wingdings" pitchFamily="2" charset="2"/>
              </a:rPr>
              <a:t>11. A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B0CBEF-745A-4251-93C3-3EF92B16C629}"/>
              </a:ext>
            </a:extLst>
          </p:cNvPr>
          <p:cNvSpPr/>
          <p:nvPr/>
        </p:nvSpPr>
        <p:spPr>
          <a:xfrm>
            <a:off x="5562600" y="1752600"/>
            <a:ext cx="22098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0" b="1" dirty="0">
                <a:solidFill>
                  <a:srgbClr val="0070C0"/>
                </a:solidFill>
                <a:latin typeface="+mn-ea"/>
              </a:rPr>
              <a:t>Cu</a:t>
            </a:r>
            <a:r>
              <a:rPr lang="en-US" altLang="zh-CN" sz="3000" b="1" baseline="30000" dirty="0">
                <a:solidFill>
                  <a:srgbClr val="0070C0"/>
                </a:solidFill>
                <a:latin typeface="+mn-ea"/>
              </a:rPr>
              <a:t>2+</a:t>
            </a:r>
            <a:r>
              <a:rPr lang="en-US" altLang="zh-CN" sz="3000" b="1" dirty="0">
                <a:solidFill>
                  <a:srgbClr val="0070C0"/>
                </a:solidFill>
                <a:latin typeface="+mn-ea"/>
              </a:rPr>
              <a:t> &gt; Fe</a:t>
            </a:r>
            <a:r>
              <a:rPr lang="en-US" altLang="zh-CN" sz="3000" b="1" baseline="30000" dirty="0">
                <a:solidFill>
                  <a:srgbClr val="0070C0"/>
                </a:solidFill>
                <a:latin typeface="+mn-ea"/>
              </a:rPr>
              <a:t>2+</a:t>
            </a:r>
            <a:r>
              <a:rPr lang="en-US" altLang="zh-CN" sz="3000" b="1" dirty="0">
                <a:solidFill>
                  <a:srgbClr val="0070C0"/>
                </a:solidFill>
                <a:latin typeface="+mn-ea"/>
              </a:rPr>
              <a:t> </a:t>
            </a:r>
            <a:endParaRPr lang="en-MY" sz="3000" dirty="0">
              <a:solidFill>
                <a:srgbClr val="0070C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3F68BA-310C-40A7-8D0B-2AC4C9C8370C}"/>
              </a:ext>
            </a:extLst>
          </p:cNvPr>
          <p:cNvSpPr/>
          <p:nvPr/>
        </p:nvSpPr>
        <p:spPr>
          <a:xfrm>
            <a:off x="6415129" y="2296180"/>
            <a:ext cx="192790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b="1" dirty="0">
                <a:solidFill>
                  <a:srgbClr val="0070C0"/>
                </a:solidFill>
                <a:latin typeface="+mn-ea"/>
              </a:rPr>
              <a:t>Fe</a:t>
            </a:r>
            <a:r>
              <a:rPr lang="en-US" altLang="zh-CN" sz="3000" b="1" baseline="30000" dirty="0">
                <a:solidFill>
                  <a:srgbClr val="0070C0"/>
                </a:solidFill>
                <a:latin typeface="+mn-ea"/>
              </a:rPr>
              <a:t>3+</a:t>
            </a:r>
            <a:r>
              <a:rPr lang="en-US" altLang="zh-CN" sz="3000" b="1" dirty="0">
                <a:solidFill>
                  <a:srgbClr val="0070C0"/>
                </a:solidFill>
                <a:latin typeface="+mn-ea"/>
              </a:rPr>
              <a:t> &gt; Cu</a:t>
            </a:r>
            <a:r>
              <a:rPr lang="en-US" altLang="zh-CN" sz="3000" b="1" baseline="30000" dirty="0">
                <a:solidFill>
                  <a:srgbClr val="0070C0"/>
                </a:solidFill>
                <a:latin typeface="+mn-ea"/>
              </a:rPr>
              <a:t>2+</a:t>
            </a:r>
            <a:r>
              <a:rPr lang="en-US" altLang="zh-CN" sz="3000" b="1" dirty="0">
                <a:solidFill>
                  <a:srgbClr val="0070C0"/>
                </a:solidFill>
                <a:latin typeface="+mn-ea"/>
              </a:rPr>
              <a:t> </a:t>
            </a:r>
            <a:endParaRPr lang="en-MY" sz="3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  <p:bldP spid="2" grpId="0"/>
      <p:bldP spid="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4000" b="1" u="sng" dirty="0">
                <a:latin typeface="+mn-ea"/>
              </a:rPr>
              <a:t>作答题</a:t>
            </a:r>
            <a:endParaRPr lang="en-US" altLang="zh-CN" sz="4000" b="1" u="sng" dirty="0">
              <a:latin typeface="+mn-ea"/>
            </a:endParaRP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r>
              <a:rPr lang="en-US" altLang="zh-CN" dirty="0">
                <a:latin typeface="+mn-ea"/>
              </a:rPr>
              <a:t>(1) </a:t>
            </a:r>
            <a:r>
              <a:rPr lang="zh-CN" altLang="en-US" dirty="0">
                <a:latin typeface="+mn-ea"/>
              </a:rPr>
              <a:t>炼铁高炉，</a:t>
            </a:r>
            <a:endParaRPr lang="en-US" altLang="zh-CN" dirty="0">
              <a:latin typeface="+mn-ea"/>
            </a:endParaRP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+mn-ea"/>
              </a:rPr>
              <a:t>		</a:t>
            </a:r>
            <a:r>
              <a:rPr lang="zh-CN" altLang="en-US" dirty="0">
                <a:latin typeface="+mn-ea"/>
              </a:rPr>
              <a:t>原料：铁矿石、焦炭、空气、石灰石</a:t>
            </a:r>
            <a:endParaRPr lang="en-US" altLang="zh-CN" dirty="0">
              <a:latin typeface="+mn-ea"/>
            </a:endParaRP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+mn-ea"/>
              </a:rPr>
              <a:t>	(2) </a:t>
            </a:r>
            <a:r>
              <a:rPr lang="zh-CN" altLang="en-US" dirty="0">
                <a:latin typeface="+mn-ea"/>
              </a:rPr>
              <a:t>作为燃料，产生大量的热</a:t>
            </a:r>
            <a:endParaRPr lang="en-US" altLang="zh-CN" dirty="0">
              <a:latin typeface="+mn-ea"/>
            </a:endParaRP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+mn-ea"/>
              </a:rPr>
              <a:t>		  C + O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 		CO</a:t>
            </a:r>
            <a:r>
              <a:rPr lang="en-US" altLang="zh-CN" baseline="-25000" dirty="0">
                <a:latin typeface="+mn-ea"/>
              </a:rPr>
              <a:t>2 </a:t>
            </a: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aseline="-25000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 		 </a:t>
            </a:r>
            <a:r>
              <a:rPr lang="zh-CN" altLang="en-US" dirty="0">
                <a:latin typeface="+mn-ea"/>
              </a:rPr>
              <a:t>产生炼铁的还原剂</a:t>
            </a:r>
            <a:endParaRPr lang="en-US" altLang="zh-CN" dirty="0">
              <a:latin typeface="+mn-ea"/>
            </a:endParaRP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+mn-ea"/>
              </a:rPr>
              <a:t>	    CO</a:t>
            </a:r>
            <a:r>
              <a:rPr lang="en-US" altLang="zh-CN" baseline="-25000" dirty="0">
                <a:latin typeface="+mn-ea"/>
              </a:rPr>
              <a:t>2 </a:t>
            </a:r>
            <a:r>
              <a:rPr lang="en-US" altLang="zh-CN" dirty="0">
                <a:latin typeface="+mn-ea"/>
              </a:rPr>
              <a:t> + C		2 CO</a:t>
            </a: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+mn-ea"/>
              </a:rPr>
              <a:t>	(3) Fe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O</a:t>
            </a:r>
            <a:r>
              <a:rPr lang="en-US" altLang="zh-CN" baseline="-25000" dirty="0">
                <a:latin typeface="+mn-ea"/>
              </a:rPr>
              <a:t>3</a:t>
            </a:r>
            <a:r>
              <a:rPr lang="en-US" altLang="zh-CN" dirty="0">
                <a:latin typeface="+mn-ea"/>
              </a:rPr>
              <a:t> + 3CO 	        2Fe + 3 CO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 </a:t>
            </a: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+mn-ea"/>
              </a:rPr>
              <a:t>	(4) </a:t>
            </a:r>
            <a:r>
              <a:rPr lang="zh-CN" altLang="en-US" dirty="0">
                <a:latin typeface="+mn-ea"/>
              </a:rPr>
              <a:t>助熔剂，去除</a:t>
            </a:r>
            <a:r>
              <a:rPr lang="en-US" altLang="zh-CN" dirty="0">
                <a:latin typeface="+mn-ea"/>
              </a:rPr>
              <a:t>SiO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 </a:t>
            </a: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+mn-ea"/>
              </a:rPr>
              <a:t>		CaCO</a:t>
            </a:r>
            <a:r>
              <a:rPr lang="en-US" altLang="zh-CN" baseline="-25000" dirty="0">
                <a:latin typeface="+mn-ea"/>
              </a:rPr>
              <a:t>3</a:t>
            </a:r>
            <a:r>
              <a:rPr lang="en-US" altLang="zh-CN" dirty="0">
                <a:latin typeface="+mn-ea"/>
              </a:rPr>
              <a:t> 	      </a:t>
            </a:r>
            <a:r>
              <a:rPr lang="en-US" altLang="zh-CN" dirty="0" err="1">
                <a:latin typeface="+mn-ea"/>
              </a:rPr>
              <a:t>CaO</a:t>
            </a:r>
            <a:r>
              <a:rPr lang="en-US" altLang="zh-CN" dirty="0">
                <a:latin typeface="+mn-ea"/>
              </a:rPr>
              <a:t> + CO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 </a:t>
            </a: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+mn-ea"/>
              </a:rPr>
              <a:t>		</a:t>
            </a:r>
            <a:r>
              <a:rPr lang="en-US" altLang="zh-CN" dirty="0" err="1">
                <a:latin typeface="+mn-ea"/>
              </a:rPr>
              <a:t>CaO</a:t>
            </a:r>
            <a:r>
              <a:rPr lang="en-US" altLang="zh-CN" dirty="0">
                <a:latin typeface="+mn-ea"/>
              </a:rPr>
              <a:t> + SiO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 	   CaSiO</a:t>
            </a:r>
            <a:r>
              <a:rPr lang="en-US" altLang="zh-CN" baseline="-25000" dirty="0">
                <a:latin typeface="+mn-ea"/>
              </a:rPr>
              <a:t>3</a:t>
            </a:r>
            <a:r>
              <a:rPr lang="en-US" altLang="zh-CN" dirty="0">
                <a:latin typeface="+mn-ea"/>
              </a:rPr>
              <a:t> </a:t>
            </a: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+mn-ea"/>
              </a:rPr>
              <a:t>	(5) </a:t>
            </a:r>
            <a:r>
              <a:rPr lang="zh-CN" altLang="en-US" dirty="0">
                <a:latin typeface="+mn-ea"/>
              </a:rPr>
              <a:t>生铁；钢</a:t>
            </a:r>
            <a:endParaRPr lang="en-US" altLang="zh-CN" dirty="0">
              <a:latin typeface="+mn-ea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b="1" dirty="0">
              <a:latin typeface="+mn-ea"/>
              <a:sym typeface="Wingdings" pitchFamily="2" charset="2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352800" y="2286000"/>
            <a:ext cx="838200" cy="307777"/>
            <a:chOff x="2819400" y="5867400"/>
            <a:chExt cx="838200" cy="307777"/>
          </a:xfrm>
        </p:grpSpPr>
        <p:cxnSp>
          <p:nvCxnSpPr>
            <p:cNvPr id="4" name="Straight Arrow Connector 3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高温</a:t>
              </a:r>
              <a:endParaRPr lang="en-US" sz="1400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429000" y="3276600"/>
            <a:ext cx="838200" cy="307777"/>
            <a:chOff x="2819400" y="5867400"/>
            <a:chExt cx="838200" cy="307777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高温</a:t>
              </a:r>
              <a:endParaRPr lang="en-US" sz="1400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419600" y="3733800"/>
            <a:ext cx="838200" cy="307777"/>
            <a:chOff x="2819400" y="5867400"/>
            <a:chExt cx="838200" cy="307777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高温</a:t>
              </a:r>
              <a:endParaRPr lang="en-US" sz="14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200400" y="4721423"/>
            <a:ext cx="838200" cy="307777"/>
            <a:chOff x="2819400" y="5867400"/>
            <a:chExt cx="838200" cy="307777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高温</a:t>
              </a:r>
              <a:endParaRPr lang="en-US" sz="140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810000" y="5181600"/>
            <a:ext cx="838200" cy="307777"/>
            <a:chOff x="2819400" y="5867400"/>
            <a:chExt cx="838200" cy="307777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高温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1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4000" b="1" u="sng" dirty="0">
                <a:latin typeface="+mn-ea"/>
              </a:rPr>
              <a:t>作答题</a:t>
            </a:r>
            <a:endParaRPr lang="en-US" altLang="zh-CN" sz="4000" b="1" u="sng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</a:rPr>
              <a:t>2. </a:t>
            </a:r>
            <a:r>
              <a:rPr lang="zh-CN" altLang="en-US" dirty="0">
                <a:latin typeface="+mn-ea"/>
              </a:rPr>
              <a:t>黄铜矿；电解精炼；电气工业</a:t>
            </a:r>
            <a:endParaRPr lang="en-US" altLang="zh-CN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</a:rPr>
              <a:t>3. (1) </a:t>
            </a:r>
            <a:r>
              <a:rPr lang="en-US" altLang="zh-CN" dirty="0" err="1">
                <a:latin typeface="+mn-ea"/>
              </a:rPr>
              <a:t>CuO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+ H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SO</a:t>
            </a:r>
            <a:r>
              <a:rPr lang="en-US" altLang="zh-CN" baseline="-25000" dirty="0">
                <a:latin typeface="+mn-ea"/>
              </a:rPr>
              <a:t>4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>
                <a:latin typeface="+mn-ea"/>
                <a:sym typeface="Wingdings" pitchFamily="2" charset="2"/>
              </a:rPr>
              <a:t> CuSO</a:t>
            </a:r>
            <a:r>
              <a:rPr lang="en-US" altLang="zh-CN" baseline="-25000" dirty="0">
                <a:latin typeface="+mn-ea"/>
                <a:sym typeface="Wingdings" pitchFamily="2" charset="2"/>
              </a:rPr>
              <a:t>4</a:t>
            </a:r>
            <a:r>
              <a:rPr lang="en-US" altLang="zh-CN" dirty="0">
                <a:latin typeface="+mn-ea"/>
                <a:sym typeface="Wingdings" pitchFamily="2" charset="2"/>
              </a:rPr>
              <a:t> + H</a:t>
            </a:r>
            <a:r>
              <a:rPr lang="en-US" altLang="zh-CN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dirty="0">
                <a:latin typeface="+mn-ea"/>
                <a:sym typeface="Wingdings" pitchFamily="2" charset="2"/>
              </a:rPr>
              <a:t>O</a:t>
            </a:r>
            <a:endParaRPr lang="en-US" altLang="zh-CN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</a:rPr>
              <a:t>    (2) 2FeCl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 + H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O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+ 2HCl </a:t>
            </a:r>
            <a:r>
              <a:rPr lang="en-US" altLang="zh-CN" dirty="0">
                <a:latin typeface="+mn-ea"/>
                <a:sym typeface="Wingdings" pitchFamily="2" charset="2"/>
              </a:rPr>
              <a:t>2FeCl</a:t>
            </a:r>
            <a:r>
              <a:rPr lang="en-US" altLang="zh-CN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dirty="0">
                <a:latin typeface="+mn-ea"/>
                <a:sym typeface="Wingdings" pitchFamily="2" charset="2"/>
              </a:rPr>
              <a:t> + 2H</a:t>
            </a:r>
            <a:r>
              <a:rPr lang="en-US" altLang="zh-CN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dirty="0">
                <a:latin typeface="+mn-ea"/>
                <a:sym typeface="Wingdings" pitchFamily="2" charset="2"/>
              </a:rPr>
              <a:t>O</a:t>
            </a:r>
            <a:endParaRPr lang="en-US" altLang="zh-CN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</a:rPr>
              <a:t>    (3) 2FeCl</a:t>
            </a:r>
            <a:r>
              <a:rPr lang="en-US" altLang="zh-CN" baseline="-25000" dirty="0">
                <a:latin typeface="+mn-ea"/>
              </a:rPr>
              <a:t>3</a:t>
            </a:r>
            <a:r>
              <a:rPr lang="en-US" altLang="zh-CN" dirty="0">
                <a:latin typeface="+mn-ea"/>
              </a:rPr>
              <a:t> + Cu </a:t>
            </a:r>
            <a:r>
              <a:rPr lang="en-US" altLang="zh-CN" dirty="0">
                <a:latin typeface="+mn-ea"/>
                <a:sym typeface="Wingdings" pitchFamily="2" charset="2"/>
              </a:rPr>
              <a:t> 2FeCl</a:t>
            </a:r>
            <a:r>
              <a:rPr lang="en-US" altLang="zh-CN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dirty="0">
                <a:latin typeface="+mn-ea"/>
                <a:sym typeface="Wingdings" pitchFamily="2" charset="2"/>
              </a:rPr>
              <a:t> + CuCl</a:t>
            </a:r>
            <a:r>
              <a:rPr lang="en-US" altLang="zh-CN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dirty="0">
                <a:latin typeface="+mn-ea"/>
                <a:sym typeface="Wingdings" pitchFamily="2" charset="2"/>
              </a:rPr>
              <a:t>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  <a:sym typeface="Wingdings" pitchFamily="2" charset="2"/>
              </a:rPr>
              <a:t>4. A – c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  <a:sym typeface="Wingdings" pitchFamily="2" charset="2"/>
              </a:rPr>
              <a:t>    B – b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  <a:sym typeface="Wingdings" pitchFamily="2" charset="2"/>
              </a:rPr>
              <a:t>    C – d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  <a:sym typeface="Wingdings" pitchFamily="2" charset="2"/>
              </a:rPr>
              <a:t>    D – a </a:t>
            </a:r>
            <a:endParaRPr lang="en-US" altLang="zh-CN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</a:rPr>
              <a:t>    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>
              <a:latin typeface="+mn-e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4000" b="1" u="sng" dirty="0">
                <a:latin typeface="+mn-ea"/>
              </a:rPr>
              <a:t>作答题</a:t>
            </a:r>
            <a:endParaRPr lang="en-US" altLang="zh-CN" sz="4000" b="1" u="sng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</a:rPr>
              <a:t>5. (1) </a:t>
            </a:r>
            <a:r>
              <a:rPr lang="zh-CN" altLang="en-US" dirty="0">
                <a:latin typeface="+mn-ea"/>
              </a:rPr>
              <a:t>加入过量的</a:t>
            </a:r>
            <a:r>
              <a:rPr lang="en-US" altLang="zh-CN" dirty="0" err="1">
                <a:latin typeface="+mn-ea"/>
              </a:rPr>
              <a:t>HCl</a:t>
            </a:r>
            <a:endParaRPr lang="en-US" altLang="zh-CN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</a:rPr>
              <a:t>	Fe + 2HCl </a:t>
            </a:r>
            <a:r>
              <a:rPr lang="en-US" altLang="zh-CN" dirty="0">
                <a:latin typeface="+mn-ea"/>
                <a:sym typeface="Wingdings" pitchFamily="2" charset="2"/>
              </a:rPr>
              <a:t> FeCl</a:t>
            </a:r>
            <a:r>
              <a:rPr lang="en-US" altLang="zh-CN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dirty="0">
                <a:latin typeface="+mn-ea"/>
                <a:sym typeface="Wingdings" pitchFamily="2" charset="2"/>
              </a:rPr>
              <a:t> + H</a:t>
            </a:r>
            <a:r>
              <a:rPr lang="en-US" altLang="zh-CN" baseline="-25000" dirty="0">
                <a:latin typeface="+mn-ea"/>
                <a:sym typeface="Wingdings" pitchFamily="2" charset="2"/>
              </a:rPr>
              <a:t>2</a:t>
            </a:r>
            <a:endParaRPr lang="en-US" altLang="zh-CN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</a:rPr>
              <a:t>    (2) </a:t>
            </a:r>
            <a:r>
              <a:rPr lang="zh-CN" altLang="en-US" dirty="0">
                <a:latin typeface="+mn-ea"/>
              </a:rPr>
              <a:t>加入过量铁粉 </a:t>
            </a:r>
            <a:endParaRPr lang="en-US" altLang="zh-CN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</a:rPr>
              <a:t>	2FeCl</a:t>
            </a:r>
            <a:r>
              <a:rPr lang="en-US" altLang="zh-CN" baseline="-25000" dirty="0">
                <a:latin typeface="+mn-ea"/>
              </a:rPr>
              <a:t>3</a:t>
            </a:r>
            <a:r>
              <a:rPr lang="en-US" altLang="zh-CN" dirty="0">
                <a:latin typeface="+mn-ea"/>
              </a:rPr>
              <a:t> + Fe </a:t>
            </a:r>
            <a:r>
              <a:rPr lang="en-US" altLang="zh-CN" dirty="0">
                <a:latin typeface="+mn-ea"/>
                <a:sym typeface="Wingdings" pitchFamily="2" charset="2"/>
              </a:rPr>
              <a:t> 3FeCl</a:t>
            </a:r>
            <a:r>
              <a:rPr lang="en-US" altLang="zh-CN" baseline="-25000" dirty="0">
                <a:latin typeface="+mn-ea"/>
                <a:sym typeface="Wingdings" pitchFamily="2" charset="2"/>
              </a:rPr>
              <a:t>2</a:t>
            </a:r>
            <a:endParaRPr lang="en-US" altLang="zh-CN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</a:rPr>
              <a:t>    (3) </a:t>
            </a:r>
            <a:r>
              <a:rPr lang="zh-CN" altLang="en-US" dirty="0">
                <a:latin typeface="+mn-ea"/>
              </a:rPr>
              <a:t>加入过量铁粉，然后过滤</a:t>
            </a:r>
            <a:endParaRPr lang="en-US" altLang="zh-CN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</a:rPr>
              <a:t>	CuCl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 +  Fe </a:t>
            </a:r>
            <a:r>
              <a:rPr lang="en-US" altLang="zh-CN" dirty="0">
                <a:latin typeface="+mn-ea"/>
                <a:sym typeface="Wingdings" pitchFamily="2" charset="2"/>
              </a:rPr>
              <a:t> FeCl</a:t>
            </a:r>
            <a:r>
              <a:rPr lang="en-US" altLang="zh-CN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dirty="0">
                <a:latin typeface="+mn-ea"/>
                <a:sym typeface="Wingdings" pitchFamily="2" charset="2"/>
              </a:rPr>
              <a:t> + Cu</a:t>
            </a:r>
            <a:endParaRPr lang="en-US" altLang="zh-CN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</a:rPr>
              <a:t>    (4) </a:t>
            </a:r>
            <a:r>
              <a:rPr lang="zh-CN" altLang="en-US" dirty="0">
                <a:latin typeface="+mn-ea"/>
              </a:rPr>
              <a:t>通入</a:t>
            </a:r>
            <a:r>
              <a:rPr lang="en-US" altLang="zh-CN" dirty="0">
                <a:latin typeface="+mn-ea"/>
              </a:rPr>
              <a:t>Cl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</a:rPr>
              <a:t>	2FeCl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 + Cl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>
                <a:latin typeface="+mn-ea"/>
                <a:sym typeface="Wingdings" pitchFamily="2" charset="2"/>
              </a:rPr>
              <a:t> 2FeCl</a:t>
            </a:r>
            <a:r>
              <a:rPr lang="en-US" altLang="zh-CN" baseline="-25000" dirty="0">
                <a:latin typeface="+mn-ea"/>
                <a:sym typeface="Wingdings" pitchFamily="2" charset="2"/>
              </a:rPr>
              <a:t>3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>
              <a:latin typeface="+mn-e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4000" b="1" u="sng" dirty="0">
                <a:latin typeface="+mn-ea"/>
              </a:rPr>
              <a:t>作答题</a:t>
            </a:r>
            <a:endParaRPr lang="en-US" altLang="zh-CN" sz="4000" b="1" u="sng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</a:rPr>
              <a:t>6. 	A</a:t>
            </a:r>
            <a:r>
              <a:rPr lang="zh-CN" altLang="en-US" dirty="0">
                <a:latin typeface="+mn-ea"/>
              </a:rPr>
              <a:t>为</a:t>
            </a:r>
            <a:r>
              <a:rPr lang="en-US" altLang="zh-CN" dirty="0">
                <a:latin typeface="+mn-ea"/>
              </a:rPr>
              <a:t>Fe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</a:rPr>
              <a:t>	</a:t>
            </a:r>
            <a:r>
              <a:rPr lang="zh-CN" altLang="en-US" dirty="0">
                <a:latin typeface="+mn-ea"/>
              </a:rPr>
              <a:t>甲：</a:t>
            </a:r>
            <a:r>
              <a:rPr lang="en-US" altLang="zh-CN" dirty="0">
                <a:latin typeface="+mn-ea"/>
              </a:rPr>
              <a:t>Fe</a:t>
            </a:r>
            <a:r>
              <a:rPr lang="en-US" altLang="zh-CN" baseline="-25000" dirty="0"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O</a:t>
            </a:r>
            <a:r>
              <a:rPr lang="en-US" altLang="zh-CN" baseline="-25000" dirty="0">
                <a:latin typeface="+mn-ea"/>
              </a:rPr>
              <a:t>3</a:t>
            </a:r>
            <a:r>
              <a:rPr lang="en-US" altLang="zh-CN" dirty="0">
                <a:latin typeface="+mn-ea"/>
              </a:rPr>
              <a:t> 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</a:rPr>
              <a:t>	</a:t>
            </a:r>
            <a:r>
              <a:rPr lang="zh-CN" altLang="en-US" dirty="0">
                <a:latin typeface="+mn-ea"/>
              </a:rPr>
              <a:t>乙：</a:t>
            </a:r>
            <a:r>
              <a:rPr lang="en-US" altLang="zh-CN" dirty="0">
                <a:latin typeface="+mn-ea"/>
              </a:rPr>
              <a:t>Fe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</a:rPr>
              <a:t>	</a:t>
            </a:r>
            <a:r>
              <a:rPr lang="zh-CN" altLang="en-US" dirty="0">
                <a:latin typeface="+mn-ea"/>
              </a:rPr>
              <a:t>丙：</a:t>
            </a:r>
            <a:r>
              <a:rPr lang="en-US" altLang="zh-CN" dirty="0">
                <a:latin typeface="+mn-ea"/>
              </a:rPr>
              <a:t>FeCl</a:t>
            </a:r>
            <a:r>
              <a:rPr lang="en-US" altLang="zh-CN" baseline="-25000" dirty="0">
                <a:latin typeface="+mn-ea"/>
              </a:rPr>
              <a:t>3</a:t>
            </a:r>
            <a:r>
              <a:rPr lang="en-US" altLang="zh-CN" dirty="0">
                <a:latin typeface="+mn-ea"/>
              </a:rPr>
              <a:t>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</a:rPr>
              <a:t>	</a:t>
            </a:r>
            <a:r>
              <a:rPr lang="zh-CN" altLang="en-US" dirty="0">
                <a:latin typeface="+mn-ea"/>
              </a:rPr>
              <a:t>丁：</a:t>
            </a:r>
            <a:r>
              <a:rPr lang="en-US" altLang="zh-CN" dirty="0">
                <a:latin typeface="+mn-ea"/>
              </a:rPr>
              <a:t>FeCl</a:t>
            </a:r>
            <a:r>
              <a:rPr lang="en-US" altLang="zh-CN" baseline="-25000" dirty="0">
                <a:latin typeface="+mn-ea"/>
              </a:rPr>
              <a:t>2 </a:t>
            </a:r>
            <a:endParaRPr lang="en-US" altLang="zh-CN" dirty="0">
              <a:latin typeface="+mn-ea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dirty="0">
                <a:latin typeface="+mn-ea"/>
              </a:rPr>
              <a:t> 2 FeCl</a:t>
            </a:r>
            <a:r>
              <a:rPr lang="en-US" altLang="zh-CN" baseline="-25000" dirty="0">
                <a:latin typeface="+mn-ea"/>
              </a:rPr>
              <a:t>3</a:t>
            </a:r>
            <a:r>
              <a:rPr lang="en-US" altLang="zh-CN" dirty="0">
                <a:latin typeface="+mn-ea"/>
              </a:rPr>
              <a:t> + Fe </a:t>
            </a:r>
            <a:r>
              <a:rPr lang="en-US" altLang="zh-CN" dirty="0">
                <a:latin typeface="+mn-ea"/>
                <a:sym typeface="Wingdings" pitchFamily="2" charset="2"/>
              </a:rPr>
              <a:t> 3 FeCl</a:t>
            </a:r>
            <a:r>
              <a:rPr lang="en-US" altLang="zh-CN" baseline="-25000" dirty="0">
                <a:latin typeface="+mn-ea"/>
                <a:sym typeface="Wingdings" pitchFamily="2" charset="2"/>
              </a:rPr>
              <a:t>2</a:t>
            </a:r>
            <a:r>
              <a:rPr lang="en-US" altLang="zh-CN" dirty="0">
                <a:latin typeface="+mn-ea"/>
                <a:sym typeface="Wingdings" pitchFamily="2" charset="2"/>
              </a:rPr>
              <a:t> 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>
              <a:latin typeface="+mn-e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46" name="Rectangle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85800" y="152400"/>
                <a:ext cx="8305800" cy="6705600"/>
              </a:xfrm>
              <a:extLst>
                <a:ext uri="{909E8E84-426E-40DD-AFC4-6F175D3DCCD1}">
                  <a14:hiddenFill>
                    <a:solidFill>
                      <a:srgbClr val="3A2222"/>
                    </a:solidFill>
                  </a14:hiddenFill>
                </a:ext>
              </a:extLst>
            </p:spPr>
            <p:txBody>
              <a:bodyPr/>
              <a:lstStyle/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FontTx/>
                  <a:buNone/>
                </a:pPr>
                <a:r>
                  <a:rPr lang="zh-CN" altLang="en-US" sz="4000" b="1" u="sng" dirty="0">
                    <a:latin typeface="+mn-ea"/>
                  </a:rPr>
                  <a:t>作答题</a:t>
                </a:r>
                <a:endParaRPr lang="en-US" altLang="zh-CN" sz="4000" b="1" u="sng" dirty="0">
                  <a:latin typeface="+mn-ea"/>
                </a:endParaRPr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FontTx/>
                  <a:buNone/>
                </a:pPr>
                <a:r>
                  <a:rPr lang="en-US" altLang="zh-CN" dirty="0">
                    <a:latin typeface="+mn-ea"/>
                    <a:sym typeface="Wingdings" pitchFamily="2" charset="2"/>
                  </a:rPr>
                  <a:t>7. Zn=65 , Fe=56</a:t>
                </a:r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FontTx/>
                  <a:buNone/>
                </a:pPr>
                <a:r>
                  <a:rPr lang="en-US" altLang="zh-CN" dirty="0">
                    <a:latin typeface="+mn-ea"/>
                    <a:sym typeface="Wingdings" pitchFamily="2" charset="2"/>
                  </a:rPr>
                  <a:t>   (1) n(H</a:t>
                </a:r>
                <a:r>
                  <a:rPr lang="en-US" altLang="zh-CN" baseline="-25000" dirty="0">
                    <a:latin typeface="+mn-ea"/>
                    <a:sym typeface="Wingdings" pitchFamily="2" charset="2"/>
                  </a:rPr>
                  <a:t>2</a:t>
                </a:r>
                <a:r>
                  <a:rPr lang="en-US" altLang="zh-CN" dirty="0">
                    <a:latin typeface="+mn-ea"/>
                    <a:sym typeface="Wingdings" pitchFamily="2" charset="2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0.2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𝑔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/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altLang="zh-CN" dirty="0">
                    <a:latin typeface="+mn-ea"/>
                    <a:sym typeface="Wingdings" pitchFamily="2" charset="2"/>
                  </a:rPr>
                  <a:t> = 0.1mol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r>
                  <a:rPr lang="en-US" altLang="zh-CN" dirty="0">
                    <a:latin typeface="+mn-ea"/>
                  </a:rPr>
                  <a:t>   (2) </a:t>
                </a:r>
                <a:r>
                  <a:rPr lang="zh-CN" altLang="en-US" dirty="0">
                    <a:latin typeface="+mn-ea"/>
                  </a:rPr>
                  <a:t>设： 铁的质量</a:t>
                </a:r>
                <a:r>
                  <a:rPr lang="en-US" altLang="zh-CN" dirty="0" err="1">
                    <a:latin typeface="+mn-ea"/>
                  </a:rPr>
                  <a:t>xg</a:t>
                </a:r>
                <a:r>
                  <a:rPr lang="en-US" altLang="zh-CN" dirty="0">
                    <a:latin typeface="+mn-ea"/>
                  </a:rPr>
                  <a:t>,</a:t>
                </a:r>
                <a:r>
                  <a:rPr lang="zh-CN" altLang="en-US" dirty="0">
                    <a:latin typeface="+mn-ea"/>
                  </a:rPr>
                  <a:t>锌的质量</a:t>
                </a:r>
                <a:r>
                  <a:rPr lang="en-US" altLang="zh-CN" dirty="0" err="1">
                    <a:latin typeface="+mn-ea"/>
                  </a:rPr>
                  <a:t>yg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r>
                  <a:rPr lang="en-US" altLang="zh-CN" dirty="0">
                    <a:latin typeface="+mn-ea"/>
                  </a:rPr>
                  <a:t>	</a:t>
                </a:r>
                <a:r>
                  <a:rPr lang="en-US" altLang="zh-CN" dirty="0" err="1">
                    <a:latin typeface="+mn-ea"/>
                  </a:rPr>
                  <a:t>xg</a:t>
                </a:r>
                <a:r>
                  <a:rPr lang="en-US" altLang="zh-CN" dirty="0">
                    <a:latin typeface="+mn-ea"/>
                  </a:rPr>
                  <a:t> + </a:t>
                </a:r>
                <a:r>
                  <a:rPr lang="en-US" altLang="zh-CN" dirty="0" err="1">
                    <a:latin typeface="+mn-ea"/>
                  </a:rPr>
                  <a:t>yg</a:t>
                </a:r>
                <a:r>
                  <a:rPr lang="en-US" altLang="zh-CN" dirty="0">
                    <a:latin typeface="+mn-ea"/>
                  </a:rPr>
                  <a:t> = 5.69g	    --------------①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r>
                  <a:rPr lang="en-US" altLang="zh-CN" dirty="0">
                    <a:latin typeface="+mn-ea"/>
                  </a:rPr>
                  <a:t>Fe + H</a:t>
                </a:r>
                <a:r>
                  <a:rPr lang="en-US" altLang="zh-CN" baseline="-25000" dirty="0">
                    <a:latin typeface="+mn-ea"/>
                  </a:rPr>
                  <a:t>2</a:t>
                </a:r>
                <a:r>
                  <a:rPr lang="en-US" altLang="zh-CN" dirty="0">
                    <a:latin typeface="+mn-ea"/>
                  </a:rPr>
                  <a:t>SO</a:t>
                </a:r>
                <a:r>
                  <a:rPr lang="en-US" altLang="zh-CN" baseline="-25000" dirty="0">
                    <a:latin typeface="+mn-ea"/>
                  </a:rPr>
                  <a:t>4</a:t>
                </a:r>
                <a:r>
                  <a:rPr lang="en-US" altLang="zh-CN" dirty="0">
                    <a:latin typeface="+mn-ea"/>
                  </a:rPr>
                  <a:t> </a:t>
                </a:r>
                <a:r>
                  <a:rPr lang="en-US" altLang="zh-CN" dirty="0">
                    <a:latin typeface="+mn-ea"/>
                    <a:sym typeface="Wingdings" panose="05000000000000000000" pitchFamily="2" charset="2"/>
                  </a:rPr>
                  <a:t> FeSO</a:t>
                </a:r>
                <a:r>
                  <a:rPr lang="en-US" altLang="zh-CN" baseline="-25000" dirty="0">
                    <a:latin typeface="+mn-ea"/>
                    <a:sym typeface="Wingdings" panose="05000000000000000000" pitchFamily="2" charset="2"/>
                  </a:rPr>
                  <a:t>4</a:t>
                </a:r>
                <a:r>
                  <a:rPr lang="en-US" altLang="zh-CN" dirty="0">
                    <a:latin typeface="+mn-ea"/>
                    <a:sym typeface="Wingdings" panose="05000000000000000000" pitchFamily="2" charset="2"/>
                  </a:rPr>
                  <a:t> + H</a:t>
                </a:r>
                <a:r>
                  <a:rPr lang="en-US" altLang="zh-CN" baseline="-25000" dirty="0">
                    <a:latin typeface="+mn-ea"/>
                    <a:sym typeface="Wingdings" panose="05000000000000000000" pitchFamily="2" charset="2"/>
                  </a:rPr>
                  <a:t>2</a:t>
                </a:r>
                <a:r>
                  <a:rPr lang="en-US" altLang="zh-CN" dirty="0">
                    <a:latin typeface="+mn-ea"/>
                  </a:rPr>
                  <a:t>	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r>
                  <a:rPr lang="en-US" altLang="zh-CN" dirty="0">
                    <a:latin typeface="+mn-ea"/>
                  </a:rPr>
                  <a:t>Zn + H</a:t>
                </a:r>
                <a:r>
                  <a:rPr lang="en-US" altLang="zh-CN" baseline="-25000" dirty="0">
                    <a:latin typeface="+mn-ea"/>
                  </a:rPr>
                  <a:t>2</a:t>
                </a:r>
                <a:r>
                  <a:rPr lang="en-US" altLang="zh-CN" dirty="0">
                    <a:latin typeface="+mn-ea"/>
                  </a:rPr>
                  <a:t>SO</a:t>
                </a:r>
                <a:r>
                  <a:rPr lang="en-US" altLang="zh-CN" baseline="-25000" dirty="0">
                    <a:latin typeface="+mn-ea"/>
                  </a:rPr>
                  <a:t>4</a:t>
                </a:r>
                <a:r>
                  <a:rPr lang="en-US" altLang="zh-CN" dirty="0">
                    <a:latin typeface="+mn-ea"/>
                  </a:rPr>
                  <a:t> </a:t>
                </a:r>
                <a:r>
                  <a:rPr lang="en-US" altLang="zh-CN" dirty="0">
                    <a:latin typeface="+mn-ea"/>
                    <a:sym typeface="Wingdings" panose="05000000000000000000" pitchFamily="2" charset="2"/>
                  </a:rPr>
                  <a:t> ZnSO</a:t>
                </a:r>
                <a:r>
                  <a:rPr lang="en-US" altLang="zh-CN" baseline="-25000" dirty="0">
                    <a:latin typeface="+mn-ea"/>
                    <a:sym typeface="Wingdings" panose="05000000000000000000" pitchFamily="2" charset="2"/>
                  </a:rPr>
                  <a:t>4</a:t>
                </a:r>
                <a:r>
                  <a:rPr lang="en-US" altLang="zh-CN" dirty="0">
                    <a:latin typeface="+mn-ea"/>
                    <a:sym typeface="Wingdings" panose="05000000000000000000" pitchFamily="2" charset="2"/>
                  </a:rPr>
                  <a:t> + H</a:t>
                </a:r>
                <a:r>
                  <a:rPr lang="en-US" altLang="zh-CN" baseline="-25000" dirty="0">
                    <a:latin typeface="+mn-ea"/>
                    <a:sym typeface="Wingdings" panose="05000000000000000000" pitchFamily="2" charset="2"/>
                  </a:rPr>
                  <a:t>2 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r>
                  <a:rPr lang="en-US" altLang="zh-CN" dirty="0">
                    <a:latin typeface="+mn-ea"/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𝑥𝑔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56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altLang="zh-CN" dirty="0">
                    <a:latin typeface="+mn-ea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65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altLang="zh-CN" dirty="0">
                    <a:latin typeface="+mn-ea"/>
                  </a:rPr>
                  <a:t> = 0.1mol  --------②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r>
                  <a:rPr lang="en-US" altLang="zh-CN" dirty="0">
                    <a:latin typeface="+mn-ea"/>
                  </a:rPr>
                  <a:t>	</a:t>
                </a:r>
                <a:r>
                  <a:rPr lang="zh-CN" altLang="en-US" dirty="0">
                    <a:latin typeface="+mn-ea"/>
                  </a:rPr>
                  <a:t>解得：</a:t>
                </a:r>
                <a:r>
                  <a:rPr lang="en-US" altLang="zh-CN" dirty="0">
                    <a:latin typeface="+mn-ea"/>
                  </a:rPr>
                  <a:t>x = 5.04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r>
                  <a:rPr lang="en-US" altLang="zh-CN" dirty="0">
                    <a:latin typeface="+mn-ea"/>
                  </a:rPr>
                  <a:t>		   y =0.65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en-US" altLang="zh-CN" b="1" dirty="0">
                  <a:latin typeface="+mn-ea"/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614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52400"/>
                <a:ext cx="8305800" cy="6705600"/>
              </a:xfrm>
              <a:blipFill>
                <a:blip r:embed="rId2"/>
                <a:stretch>
                  <a:fillRect l="-2643" t="-1636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3A2222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9299143"/>
      </p:ext>
    </p:extLst>
  </p:cSld>
  <p:clrMapOvr>
    <a:masterClrMapping/>
  </p:clrMapOvr>
</p:sld>
</file>

<file path=ppt/theme/theme1.xml><?xml version="1.0" encoding="utf-8"?>
<a:theme xmlns:a="http://schemas.openxmlformats.org/drawingml/2006/main" name="Kalup">
  <a:themeElements>
    <a:clrScheme name="Kalup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Kalup">
      <a:majorFont>
        <a:latin typeface="Microsoft New Tai Lue"/>
        <a:ea typeface="Microsoft New Tai Lue"/>
        <a:cs typeface="Microsoft New Tai Lue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ms-MY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ms-MY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lnDef>
  </a:objectDefaults>
  <a:extraClrSchemeLst>
    <a:extraClrScheme>
      <a:clrScheme name="Kalup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1782</TotalTime>
  <Pages>0</Pages>
  <Words>3897</Words>
  <Characters>0</Characters>
  <Application>Microsoft Office PowerPoint</Application>
  <DocSecurity>0</DocSecurity>
  <PresentationFormat>On-screen Show (4:3)</PresentationFormat>
  <Lines>0</Lines>
  <Paragraphs>410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Arial</vt:lpstr>
      <vt:lpstr>Calibri</vt:lpstr>
      <vt:lpstr>Cambria Math</vt:lpstr>
      <vt:lpstr>Microsoft New Tai Lue</vt:lpstr>
      <vt:lpstr>Wingdings</vt:lpstr>
      <vt:lpstr>Kalup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Shuan</dc:creator>
  <cp:lastModifiedBy>User</cp:lastModifiedBy>
  <cp:revision>153</cp:revision>
  <dcterms:created xsi:type="dcterms:W3CDTF">2014-08-22T21:40:44Z</dcterms:created>
  <dcterms:modified xsi:type="dcterms:W3CDTF">2020-05-02T03:02:38Z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me">
    <vt:lpwstr>0yrpSM7rkg31648.ppt</vt:lpwstr>
  </property>
  <property fmtid="{D5CDD505-2E9C-101B-9397-08002B2CF9AE}" pid="3" name="fileid">
    <vt:lpwstr>508798</vt:lpwstr>
  </property>
  <property fmtid="{D5CDD505-2E9C-101B-9397-08002B2CF9AE}" pid="4" name="KSOProductBuildVer">
    <vt:lpwstr>1033-9.1.0.5236</vt:lpwstr>
  </property>
</Properties>
</file>