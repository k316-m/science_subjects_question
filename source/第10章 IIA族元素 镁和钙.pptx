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10" r:id="rId3"/>
    <p:sldId id="294" r:id="rId4"/>
    <p:sldId id="295" r:id="rId5"/>
    <p:sldId id="296" r:id="rId6"/>
    <p:sldId id="297" r:id="rId7"/>
    <p:sldId id="298" r:id="rId8"/>
    <p:sldId id="299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11" r:id="rId17"/>
    <p:sldId id="312" r:id="rId18"/>
    <p:sldId id="308" r:id="rId19"/>
    <p:sldId id="309" r:id="rId20"/>
    <p:sldId id="263" r:id="rId21"/>
    <p:sldId id="272" r:id="rId22"/>
    <p:sldId id="314" r:id="rId23"/>
    <p:sldId id="313" r:id="rId24"/>
    <p:sldId id="268" r:id="rId25"/>
    <p:sldId id="315" r:id="rId26"/>
    <p:sldId id="316" r:id="rId27"/>
    <p:sldId id="269" r:id="rId28"/>
    <p:sldId id="271" r:id="rId29"/>
    <p:sldId id="270" r:id="rId30"/>
    <p:sldId id="317" r:id="rId31"/>
    <p:sldId id="276" r:id="rId32"/>
    <p:sldId id="278" r:id="rId33"/>
    <p:sldId id="275" r:id="rId34"/>
    <p:sldId id="274" r:id="rId35"/>
    <p:sldId id="318" r:id="rId36"/>
    <p:sldId id="289" r:id="rId37"/>
    <p:sldId id="288" r:id="rId38"/>
    <p:sldId id="319" r:id="rId39"/>
    <p:sldId id="320" r:id="rId40"/>
    <p:sldId id="321" r:id="rId41"/>
    <p:sldId id="322" r:id="rId42"/>
    <p:sldId id="323" r:id="rId43"/>
    <p:sldId id="324" r:id="rId44"/>
    <p:sldId id="325" r:id="rId45"/>
    <p:sldId id="326" r:id="rId46"/>
    <p:sldId id="327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21" autoAdjust="0"/>
    <p:restoredTop sz="94671" autoAdjust="0"/>
  </p:normalViewPr>
  <p:slideViewPr>
    <p:cSldViewPr>
      <p:cViewPr varScale="1">
        <p:scale>
          <a:sx n="73" d="100"/>
          <a:sy n="73" d="100"/>
        </p:scale>
        <p:origin x="-52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BB973-1AA4-42BA-AB06-E7219F3F842E}" type="datetimeFigureOut">
              <a:rPr lang="en-US" smtClean="0"/>
              <a:pPr/>
              <a:t>4/26/2007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4A3E7-5333-4646-AB52-4AECA151F2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7AB791-C70F-40A3-B722-D495D415C064}" type="slidenum">
              <a:rPr lang="en-MY" smtClean="0"/>
              <a:pPr/>
              <a:t>12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970867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14A3E7-5333-4646-AB52-4AECA151F22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46024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49913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97153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1504280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6483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352866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149948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68832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71496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93351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304367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6A9F6-3C5B-41CE-86DE-477F077774F2}" type="datetimeFigureOut">
              <a:rPr lang="en-MY" smtClean="0"/>
              <a:pPr/>
              <a:t>26/4/2007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5E17C-F9AE-481C-917D-66EF24D75059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="" xmlns:p14="http://schemas.microsoft.com/office/powerpoint/2010/main" val="233862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9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3336533"/>
            <a:ext cx="4355975" cy="353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="" xmlns:a14="http://schemas.microsoft.com/office/drawing/2010/main">
                  <a14:imgLayer r:embed="rId9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472" y="3346763"/>
            <a:ext cx="4819497" cy="3520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9712" y="304800"/>
            <a:ext cx="6192688" cy="3276601"/>
          </a:xfrm>
        </p:spPr>
        <p:txBody>
          <a:bodyPr>
            <a:normAutofit/>
          </a:bodyPr>
          <a:lstStyle/>
          <a:p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第</a:t>
            </a: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10</a:t>
            </a:r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章</a:t>
            </a: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</a:b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IIA</a:t>
            </a:r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族元素</a:t>
            </a:r>
            <a: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/>
            </a:r>
            <a:br>
              <a:rPr lang="en-US" altLang="zh-CN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</a:br>
            <a:r>
              <a:rPr lang="zh-CN" altLang="en-US" sz="6000" b="1" dirty="0" smtClean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镁和钙</a:t>
            </a:r>
            <a:endParaRPr lang="en-MY" sz="60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636253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dirty="0" smtClean="0">
                <a:latin typeface="楷体" pitchFamily="49" charset="-122"/>
                <a:ea typeface="楷体" pitchFamily="49" charset="-122"/>
              </a:rPr>
              <a:t>10.1 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镁和钙的性质</a:t>
            </a:r>
            <a:endParaRPr 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382000" cy="48768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Char char="Ø"/>
            </a:pPr>
            <a:r>
              <a:rPr lang="en-US" altLang="zh-CN" b="1" dirty="0" smtClean="0"/>
              <a:t>IIA</a:t>
            </a:r>
            <a:r>
              <a:rPr lang="zh-CN" altLang="en-US" b="1" dirty="0" smtClean="0"/>
              <a:t>族的金属元素</a:t>
            </a:r>
            <a:endParaRPr lang="en-US" altLang="zh-CN" b="1" dirty="0" smtClean="0"/>
          </a:p>
          <a:p>
            <a:pPr marL="400050" lvl="1" indent="0">
              <a:buNone/>
            </a:pPr>
            <a:r>
              <a:rPr lang="zh-CN" altLang="en-US" sz="2400" b="1" dirty="0" smtClean="0"/>
              <a:t>铍</a:t>
            </a:r>
            <a:r>
              <a:rPr lang="en-US" altLang="zh-CN" sz="2400" b="1" dirty="0" smtClean="0"/>
              <a:t>Be</a:t>
            </a:r>
            <a:r>
              <a:rPr lang="zh-CN" altLang="en-US" sz="2400" b="1" dirty="0" smtClean="0"/>
              <a:t>、镁</a:t>
            </a:r>
            <a:r>
              <a:rPr lang="en-US" altLang="zh-CN" sz="2400" b="1" dirty="0" smtClean="0"/>
              <a:t>Mg</a:t>
            </a:r>
            <a:r>
              <a:rPr lang="zh-CN" altLang="en-US" sz="2400" b="1" dirty="0" smtClean="0"/>
              <a:t>、钙</a:t>
            </a:r>
            <a:r>
              <a:rPr lang="en-US" altLang="zh-CN" sz="2400" b="1" dirty="0" smtClean="0"/>
              <a:t>Ca</a:t>
            </a:r>
            <a:r>
              <a:rPr lang="zh-CN" altLang="en-US" sz="2400" b="1" dirty="0" smtClean="0"/>
              <a:t>、锶</a:t>
            </a:r>
            <a:r>
              <a:rPr lang="en-US" altLang="zh-CN" sz="2400" b="1" dirty="0" err="1" smtClean="0"/>
              <a:t>Sr</a:t>
            </a:r>
            <a:r>
              <a:rPr lang="zh-CN" altLang="en-US" sz="2400" b="1" dirty="0" smtClean="0"/>
              <a:t>、钡</a:t>
            </a:r>
            <a:r>
              <a:rPr lang="en-US" altLang="zh-CN" sz="2400" b="1" dirty="0" err="1" smtClean="0"/>
              <a:t>Ba</a:t>
            </a:r>
            <a:r>
              <a:rPr lang="zh-CN" altLang="en-US" sz="2400" b="1" dirty="0" smtClean="0"/>
              <a:t>、镭</a:t>
            </a:r>
            <a:r>
              <a:rPr lang="en-US" altLang="zh-CN" sz="2400" b="1" dirty="0" smtClean="0"/>
              <a:t>Ra</a:t>
            </a:r>
          </a:p>
          <a:p>
            <a:pPr marL="0" indent="0">
              <a:buFont typeface="Wingdings" pitchFamily="2" charset="2"/>
              <a:buChar char="Ø"/>
            </a:pPr>
            <a:r>
              <a:rPr lang="zh-CN" altLang="en-US" b="1" dirty="0" smtClean="0"/>
              <a:t>价电子：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个</a:t>
            </a:r>
            <a:endParaRPr lang="en-US" altLang="zh-CN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b="1" dirty="0" smtClean="0"/>
              <a:t>碱土金属：活泼的金属元素</a:t>
            </a:r>
            <a:endParaRPr lang="en-US" altLang="zh-CN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b="1" dirty="0" smtClean="0"/>
              <a:t>在自然界中以</a:t>
            </a:r>
            <a:r>
              <a:rPr lang="zh-CN" altLang="en-US" b="1" dirty="0" smtClean="0">
                <a:solidFill>
                  <a:srgbClr val="002060"/>
                </a:solidFill>
              </a:rPr>
              <a:t>化合物</a:t>
            </a:r>
            <a:r>
              <a:rPr lang="zh-CN" altLang="en-US" b="1" dirty="0" smtClean="0"/>
              <a:t>存在，无单质。</a:t>
            </a:r>
            <a:endParaRPr lang="en-US" altLang="zh-CN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b="1" dirty="0" smtClean="0"/>
              <a:t>金属性递增，强还原性</a:t>
            </a:r>
            <a:endParaRPr lang="en-US" altLang="zh-CN" b="1" dirty="0" smtClean="0"/>
          </a:p>
          <a:p>
            <a:pPr marL="0" indent="0">
              <a:buFont typeface="Wingdings" pitchFamily="2" charset="2"/>
              <a:buChar char="Ø"/>
            </a:pPr>
            <a:r>
              <a:rPr lang="zh-CN" altLang="en-US" b="1" dirty="0" smtClean="0"/>
              <a:t>工业上，电解熔融状态的碱土金属的氯化物来制取碱土金属。</a:t>
            </a:r>
            <a:endParaRPr lang="en-US" altLang="zh-CN" b="1" dirty="0" smtClean="0"/>
          </a:p>
          <a:p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822504"/>
            <a:ext cx="8229600" cy="1035496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r>
              <a:rPr lang="zh-CN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光卤石</a:t>
            </a:r>
            <a:r>
              <a:rPr lang="en-US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KCl·MgCl</a:t>
            </a:r>
            <a:r>
              <a:rPr lang="en-US" altLang="zh-CN" sz="6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·6H</a:t>
            </a:r>
            <a:r>
              <a:rPr lang="en-US" altLang="zh-CN" sz="6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altLang="zh-CN" sz="6000" dirty="0" smtClean="0"/>
              <a:t/>
            </a:r>
            <a:br>
              <a:rPr lang="en-US" altLang="zh-CN" sz="6000" dirty="0" smtClean="0"/>
            </a:br>
            <a:endParaRPr lang="en-US" sz="6000" dirty="0"/>
          </a:p>
        </p:txBody>
      </p:sp>
      <p:pic>
        <p:nvPicPr>
          <p:cNvPr id="4" name="Picture 3" descr="光卤石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918" y="1785926"/>
            <a:ext cx="5660722" cy="370600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67544" y="332656"/>
            <a:ext cx="8229600" cy="114300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i="0" u="none" strike="noStrike" kern="1200" normalizeH="0" baseline="0" noProof="0" dirty="0" smtClean="0">
                <a:solidFill>
                  <a:schemeClr val="tx1"/>
                </a:solidFill>
                <a:uLnTx/>
                <a:uFillTx/>
                <a:latin typeface="楷体" pitchFamily="49" charset="-122"/>
                <a:ea typeface="楷体" pitchFamily="49" charset="-122"/>
              </a:rPr>
              <a:t>镁的重要矿石</a:t>
            </a:r>
            <a:endParaRPr kumimoji="0" lang="en-US" sz="6600" i="0" u="none" strike="noStrike" kern="1200" normalizeH="0" baseline="0" noProof="0" dirty="0">
              <a:solidFill>
                <a:schemeClr val="tx1"/>
              </a:solidFill>
              <a:uLnTx/>
              <a:uFillTx/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白云石</a:t>
            </a:r>
            <a:r>
              <a:rPr lang="en-US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MgCO</a:t>
            </a:r>
            <a:r>
              <a:rPr lang="en-US" altLang="zh-CN" sz="6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·CaCO</a:t>
            </a:r>
            <a:r>
              <a:rPr lang="en-US" altLang="zh-CN" sz="6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 descr="白云石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76400" y="914400"/>
            <a:ext cx="5643602" cy="438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329" y="5070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菱镁矿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MgCO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baseline="-25000" dirty="0" smtClean="0"/>
              <a:t/>
            </a:r>
            <a:br>
              <a:rPr lang="en-US" altLang="zh-CN" baseline="-25000" dirty="0" smtClean="0"/>
            </a:br>
            <a:endParaRPr lang="en-US" dirty="0"/>
          </a:p>
        </p:txBody>
      </p:sp>
      <p:pic>
        <p:nvPicPr>
          <p:cNvPr id="4" name="Picture 3" descr="菱镁矿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928934"/>
            <a:ext cx="5076825" cy="3324225"/>
          </a:xfrm>
          <a:prstGeom prst="rect">
            <a:avLst/>
          </a:prstGeom>
        </p:spPr>
      </p:pic>
      <p:pic>
        <p:nvPicPr>
          <p:cNvPr id="5" name="Picture 4" descr="菱镁矿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49" y="1536849"/>
            <a:ext cx="3428992" cy="3227293"/>
          </a:xfrm>
          <a:prstGeom prst="rect">
            <a:avLst/>
          </a:prstGeom>
        </p:spPr>
      </p:pic>
      <p:pic>
        <p:nvPicPr>
          <p:cNvPr id="6" name="Content Placeholder 5" descr="菱镁矿-绿松石.jpg"/>
          <p:cNvPicPr>
            <a:picLocks noGrp="1" noChangeAspect="1"/>
          </p:cNvPicPr>
          <p:nvPr>
            <p:ph idx="1"/>
          </p:nvPr>
        </p:nvPicPr>
        <p:blipFill>
          <a:blip r:embed="rId5"/>
          <a:srcRect l="10236" t="10294" r="5905" b="16176"/>
          <a:stretch>
            <a:fillRect/>
          </a:stretch>
        </p:blipFill>
        <p:spPr>
          <a:xfrm>
            <a:off x="3909321" y="2928934"/>
            <a:ext cx="5072107" cy="3571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橄榄石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Mg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SiO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baseline="-25000" dirty="0" smtClean="0"/>
              <a:t/>
            </a:r>
            <a:br>
              <a:rPr lang="en-US" altLang="zh-CN" baseline="-25000" dirty="0" smtClean="0"/>
            </a:br>
            <a:endParaRPr lang="en-US" dirty="0"/>
          </a:p>
        </p:txBody>
      </p:sp>
      <p:pic>
        <p:nvPicPr>
          <p:cNvPr id="4" name="Content Placeholder 3" descr="橄榄石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9409" y="1600200"/>
            <a:ext cx="4105182" cy="4525963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石棉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Mg (Si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(OH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b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67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 descr="白云母上的石棉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4480" y="2071678"/>
            <a:ext cx="3584592" cy="4230606"/>
          </a:xfrm>
        </p:spPr>
      </p:pic>
      <p:sp>
        <p:nvSpPr>
          <p:cNvPr id="5" name="TextBox 4"/>
          <p:cNvSpPr txBox="1"/>
          <p:nvPr/>
        </p:nvSpPr>
        <p:spPr>
          <a:xfrm>
            <a:off x="6143636" y="3500438"/>
            <a:ext cx="2000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白云母上的石棉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6156176" y="3501008"/>
            <a:ext cx="2088232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398" y="4286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萤石</a:t>
            </a:r>
            <a:r>
              <a:rPr lang="en-US" altLang="zh-CN" sz="6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CaF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zh-CN" baseline="-25000" dirty="0" smtClean="0"/>
              <a:t/>
            </a:r>
            <a:br>
              <a:rPr lang="en-US" altLang="zh-CN" baseline="-25000" dirty="0" smtClean="0"/>
            </a:br>
            <a:endParaRPr lang="en-US" dirty="0"/>
          </a:p>
        </p:txBody>
      </p:sp>
      <p:pic>
        <p:nvPicPr>
          <p:cNvPr id="4" name="Content Placeholder 3" descr="萤石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4414" y="1571612"/>
            <a:ext cx="6815568" cy="4525963"/>
          </a:xfrm>
        </p:spPr>
      </p:pic>
      <p:pic>
        <p:nvPicPr>
          <p:cNvPr id="5" name="Picture 4" descr="萤石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455" y="1571612"/>
            <a:ext cx="6929486" cy="46150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6248400"/>
            <a:ext cx="6559352" cy="368982"/>
          </a:xfrm>
        </p:spPr>
        <p:txBody>
          <a:bodyPr>
            <a:noAutofit/>
          </a:bodyPr>
          <a:lstStyle/>
          <a:p>
            <a:r>
              <a:rPr lang="zh-CN" altLang="en-US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石灰石</a:t>
            </a:r>
            <a:r>
              <a:rPr lang="en-US" altLang="zh-CN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CaCO</a:t>
            </a:r>
            <a:r>
              <a:rPr lang="en-US" altLang="zh-CN" sz="4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sz="3200" baseline="-25000" dirty="0" smtClean="0"/>
              <a:t> 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endParaRPr lang="en-US" sz="3200" dirty="0"/>
          </a:p>
        </p:txBody>
      </p:sp>
      <p:pic>
        <p:nvPicPr>
          <p:cNvPr id="3" name="Picture 2" descr="石灰石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04" y="1643050"/>
            <a:ext cx="6505398" cy="4076716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755576" y="381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i="0" u="none" strike="noStrike" kern="1200" normalizeH="0" baseline="0" noProof="0" dirty="0" smtClean="0"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钙的重要矿石</a:t>
            </a:r>
            <a:endParaRPr kumimoji="0" lang="en-US" sz="6600" i="0" u="none" strike="noStrike" kern="1200" normalizeH="0" baseline="0" noProof="0" dirty="0"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方解石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CaCO</a:t>
            </a:r>
            <a:r>
              <a:rPr lang="en-US" altLang="zh-CN" sz="67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dirty="0"/>
          </a:p>
        </p:txBody>
      </p:sp>
      <p:pic>
        <p:nvPicPr>
          <p:cNvPr id="3" name="Picture 2" descr="方解石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443037"/>
            <a:ext cx="6096000" cy="3971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白垩（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è</a:t>
            </a:r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dirty="0"/>
          </a:p>
        </p:txBody>
      </p:sp>
      <p:pic>
        <p:nvPicPr>
          <p:cNvPr id="3" name="Picture 2" descr="白垩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6" y="1196752"/>
            <a:ext cx="4143372" cy="4346361"/>
          </a:xfrm>
          <a:prstGeom prst="rect">
            <a:avLst/>
          </a:prstGeom>
        </p:spPr>
      </p:pic>
      <p:pic>
        <p:nvPicPr>
          <p:cNvPr id="4" name="Picture 3" descr="chalk.jpg"/>
          <p:cNvPicPr>
            <a:picLocks noChangeAspect="1"/>
          </p:cNvPicPr>
          <p:nvPr/>
        </p:nvPicPr>
        <p:blipFill>
          <a:blip r:embed="rId4" cstate="print"/>
          <a:srcRect t="5315" b="40593"/>
          <a:stretch>
            <a:fillRect/>
          </a:stretch>
        </p:blipFill>
        <p:spPr>
          <a:xfrm>
            <a:off x="2418695" y="4167899"/>
            <a:ext cx="6357950" cy="2284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867660" cy="1143000"/>
          </a:xfrm>
        </p:spPr>
        <p:txBody>
          <a:bodyPr>
            <a:noAutofit/>
          </a:bodyPr>
          <a:lstStyle/>
          <a:p>
            <a:r>
              <a:rPr lang="zh-CN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大理石</a:t>
            </a:r>
            <a: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C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MarbleUSGO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077825"/>
            <a:ext cx="4572000" cy="3848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0" y="986896"/>
            <a:ext cx="85689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prstClr val="black"/>
                </a:solidFill>
                <a:cs typeface="+mj-cs"/>
              </a:rPr>
              <a:t>（主要成分为碳酸钙</a:t>
            </a:r>
            <a:r>
              <a:rPr lang="en-US" altLang="zh-CN" sz="5400" dirty="0">
                <a:solidFill>
                  <a:prstClr val="black"/>
                </a:solidFill>
                <a:cs typeface="+mj-cs"/>
              </a:rPr>
              <a:t>CaCO</a:t>
            </a:r>
            <a:r>
              <a:rPr lang="en-US" altLang="zh-CN" sz="5400" baseline="-25000" dirty="0">
                <a:solidFill>
                  <a:prstClr val="black"/>
                </a:solidFill>
                <a:cs typeface="+mj-cs"/>
              </a:rPr>
              <a:t>3</a:t>
            </a:r>
            <a:r>
              <a:rPr lang="zh-CN" altLang="en-US" sz="5400" dirty="0">
                <a:solidFill>
                  <a:prstClr val="black"/>
                </a:solidFill>
                <a:cs typeface="+mj-cs"/>
              </a:rPr>
              <a:t>）</a:t>
            </a:r>
            <a:r>
              <a:rPr lang="en-US" altLang="zh-CN" sz="5400" dirty="0">
                <a:solidFill>
                  <a:prstClr val="black"/>
                </a:solidFill>
                <a:cs typeface="+mj-cs"/>
              </a:rPr>
              <a:t/>
            </a:r>
            <a:br>
              <a:rPr lang="en-US" altLang="zh-CN" sz="5400" dirty="0">
                <a:solidFill>
                  <a:prstClr val="black"/>
                </a:solidFill>
                <a:cs typeface="+mj-cs"/>
              </a:rPr>
            </a:br>
            <a:endParaRPr lang="en-MY" sz="5400" dirty="0"/>
          </a:p>
        </p:txBody>
      </p:sp>
      <p:pic>
        <p:nvPicPr>
          <p:cNvPr id="4" name="Picture 3" descr="SP17 Design Ideas Marble Wallpaper_Desktop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707904" y="3239660"/>
            <a:ext cx="5232860" cy="32726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2068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石膏</a:t>
            </a:r>
            <a:r>
              <a:rPr lang="en-US" altLang="zh-C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CaSO</a:t>
            </a:r>
            <a:r>
              <a:rPr lang="en-US" altLang="zh-CN" sz="6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br>
              <a:rPr lang="en-US" altLang="zh-CN" sz="6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65517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076056" y="1340768"/>
            <a:ext cx="3780391" cy="5327033"/>
          </a:xfrm>
          <a:prstGeom prst="rect">
            <a:avLst/>
          </a:prstGeom>
        </p:spPr>
      </p:pic>
      <p:pic>
        <p:nvPicPr>
          <p:cNvPr id="4" name="Picture 3" descr="石膏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60" y="1571612"/>
            <a:ext cx="4737832" cy="4572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1774852"/>
          </a:xfrm>
        </p:spPr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硅酸盐</a:t>
            </a:r>
            <a: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CN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en-US" dirty="0"/>
          </a:p>
        </p:txBody>
      </p:sp>
      <p:pic>
        <p:nvPicPr>
          <p:cNvPr id="3" name="Picture 2" descr="硅酸盐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32" y="1571612"/>
            <a:ext cx="5199941" cy="40386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67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磷酸盐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磷酸盐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700808"/>
            <a:ext cx="5086518" cy="3824308"/>
          </a:xfrm>
          <a:prstGeom prst="rect">
            <a:avLst/>
          </a:prstGeom>
        </p:spPr>
      </p:pic>
      <p:pic>
        <p:nvPicPr>
          <p:cNvPr id="3" name="Picture 2" descr="Phosphate_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3933056"/>
            <a:ext cx="3686175" cy="2381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观察思考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162883"/>
            <a:ext cx="820891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zh-CN" altLang="en-US" sz="2800" b="1" dirty="0" smtClean="0"/>
              <a:t>活动</a:t>
            </a:r>
            <a:r>
              <a:rPr lang="en-US" altLang="zh-CN" sz="2800" b="1" dirty="0" smtClean="0"/>
              <a:t>1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2800" b="1" dirty="0" smtClean="0"/>
              <a:t>镁条在空气中能形成致密的氧化膜，其保护作用。</a:t>
            </a:r>
            <a:endParaRPr lang="en-US" altLang="zh-CN" sz="2800" b="1" dirty="0" smtClean="0"/>
          </a:p>
          <a:p>
            <a:pPr marL="514350" indent="-514350"/>
            <a:r>
              <a:rPr lang="zh-CN" altLang="en-US" sz="2800" b="1" dirty="0" smtClean="0"/>
              <a:t>活动</a:t>
            </a:r>
            <a:r>
              <a:rPr lang="en-US" altLang="zh-CN" sz="2800" b="1" dirty="0" smtClean="0"/>
              <a:t>2</a:t>
            </a:r>
          </a:p>
          <a:p>
            <a:pPr marL="514350" indent="-514350">
              <a:buFont typeface="Wingdings" pitchFamily="2" charset="2"/>
              <a:buChar char="Ø"/>
            </a:pPr>
            <a:r>
              <a:rPr lang="zh-CN" altLang="en-US" sz="2800" b="1" dirty="0" smtClean="0"/>
              <a:t>镁条表面缓缓地产生气泡，溶液逐渐变红。</a:t>
            </a:r>
            <a:endParaRPr lang="en-US" altLang="zh-CN" sz="2800" b="1" dirty="0" smtClean="0"/>
          </a:p>
          <a:p>
            <a:pPr marL="514350" indent="-514350"/>
            <a:r>
              <a:rPr lang="zh-CN" altLang="en-US" sz="2800" b="1" dirty="0" smtClean="0"/>
              <a:t>表</a:t>
            </a:r>
            <a:r>
              <a:rPr lang="en-US" altLang="zh-CN" sz="2800" b="1" dirty="0" smtClean="0"/>
              <a:t>10-2</a:t>
            </a:r>
          </a:p>
          <a:p>
            <a:pPr marL="514350" indent="-514350"/>
            <a:r>
              <a:rPr lang="en-US" altLang="zh-CN" sz="2800" b="1" dirty="0" smtClean="0"/>
              <a:t>1)	</a:t>
            </a:r>
            <a:r>
              <a:rPr lang="zh-CN" altLang="en-US" sz="2800" b="1" dirty="0" smtClean="0"/>
              <a:t>剧烈燃烧，有白烟，产生白色固体</a:t>
            </a:r>
            <a:endParaRPr lang="en-US" altLang="zh-CN" sz="2800" b="1" dirty="0" smtClean="0"/>
          </a:p>
          <a:p>
            <a:pPr marL="514350" indent="-514350"/>
            <a:r>
              <a:rPr lang="en-US" altLang="zh-CN" sz="2800" b="1" dirty="0" smtClean="0"/>
              <a:t>		2Mg + O</a:t>
            </a:r>
            <a:r>
              <a:rPr lang="en-US" altLang="zh-CN" sz="2800" b="1" baseline="-25000" dirty="0" smtClean="0"/>
              <a:t>2   </a:t>
            </a:r>
            <a:r>
              <a:rPr lang="zh-CN" altLang="en-US" sz="2800" b="1" baseline="30000" dirty="0" smtClean="0"/>
              <a:t>点燃</a:t>
            </a:r>
            <a:r>
              <a:rPr lang="en-US" altLang="zh-CN" sz="2800" b="1" dirty="0" smtClean="0"/>
              <a:t> 	2MgO</a:t>
            </a:r>
          </a:p>
          <a:p>
            <a:pPr marL="514350" indent="-514350">
              <a:buAutoNum type="arabicParenR" startAt="2"/>
            </a:pPr>
            <a:r>
              <a:rPr lang="zh-CN" altLang="en-US" sz="2800" b="1" dirty="0" smtClean="0"/>
              <a:t>慢；快</a:t>
            </a:r>
            <a:endParaRPr lang="en-US" altLang="zh-CN" sz="2800" b="1" dirty="0" smtClean="0"/>
          </a:p>
          <a:p>
            <a:pPr marL="514350" indent="-514350"/>
            <a:r>
              <a:rPr lang="en-US" altLang="zh-CN" sz="2800" b="1" dirty="0" smtClean="0"/>
              <a:t>		Mg + 2H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O 	 	Mg(OH)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 + H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 </a:t>
            </a:r>
          </a:p>
          <a:p>
            <a:pPr marL="514350" indent="-514350">
              <a:buAutoNum type="arabicParenR" startAt="3"/>
            </a:pPr>
            <a:r>
              <a:rPr lang="zh-CN" altLang="en-US" sz="2800" b="1" dirty="0" smtClean="0"/>
              <a:t>镁条表面迅速产生大量气泡，镁条由溶液底部上升至液面。</a:t>
            </a:r>
            <a:endParaRPr lang="en-US" altLang="zh-CN" sz="2800" b="1" dirty="0" smtClean="0"/>
          </a:p>
          <a:p>
            <a:pPr marL="514350" indent="-514350"/>
            <a:r>
              <a:rPr lang="en-US" altLang="zh-CN" sz="2800" b="1" dirty="0" smtClean="0"/>
              <a:t>		Mg + 2HCl </a:t>
            </a:r>
            <a:r>
              <a:rPr lang="en-US" altLang="zh-CN" sz="2800" b="1" dirty="0" smtClean="0">
                <a:sym typeface="Wingdings" pitchFamily="2" charset="2"/>
              </a:rPr>
              <a:t> MgCl</a:t>
            </a:r>
            <a:r>
              <a:rPr lang="en-US" altLang="zh-CN" sz="2800" b="1" baseline="-25000" dirty="0" smtClean="0">
                <a:sym typeface="Wingdings" pitchFamily="2" charset="2"/>
              </a:rPr>
              <a:t>2</a:t>
            </a:r>
            <a:r>
              <a:rPr lang="en-US" altLang="zh-CN" sz="2800" b="1" dirty="0" smtClean="0"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ym typeface="Wingdings" pitchFamily="2" charset="2"/>
              </a:rPr>
              <a:t>2</a:t>
            </a:r>
            <a:endParaRPr lang="en-US" altLang="zh-CN" sz="2800" b="1" dirty="0" smtClean="0"/>
          </a:p>
          <a:p>
            <a:pPr marL="342900" indent="-342900"/>
            <a:endParaRPr lang="en-MY" sz="1200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3200400" y="40370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 bwMode="auto">
          <a:xfrm>
            <a:off x="3352800" y="48752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 bwMode="auto">
          <a:xfrm>
            <a:off x="3657600" y="47228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59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交流分享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162883"/>
            <a:ext cx="820891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altLang="zh-CN" sz="3200" b="1" dirty="0" smtClean="0"/>
              <a:t>2Ca + O</a:t>
            </a:r>
            <a:r>
              <a:rPr lang="en-US" altLang="zh-CN" sz="3200" b="1" baseline="-25000" dirty="0" smtClean="0"/>
              <a:t>2   </a:t>
            </a:r>
            <a:r>
              <a:rPr lang="zh-CN" altLang="en-US" sz="3200" b="1" baseline="30000" dirty="0" smtClean="0"/>
              <a:t>点燃</a:t>
            </a:r>
            <a:r>
              <a:rPr lang="en-US" altLang="zh-CN" sz="3200" b="1" dirty="0" smtClean="0"/>
              <a:t>   2CaO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en-US" altLang="zh-CN" sz="3200" b="1" dirty="0" smtClean="0"/>
              <a:t>Ca + 2H</a:t>
            </a:r>
            <a:r>
              <a:rPr lang="en-US" altLang="zh-CN" sz="3200" b="1" baseline="-25000" dirty="0" smtClean="0"/>
              <a:t>2</a:t>
            </a:r>
            <a:r>
              <a:rPr lang="en-US" altLang="zh-CN" sz="3200" b="1" dirty="0" smtClean="0"/>
              <a:t>O </a:t>
            </a:r>
            <a:r>
              <a:rPr lang="en-US" altLang="zh-CN" sz="3200" b="1" dirty="0" smtClean="0">
                <a:sym typeface="Wingdings" pitchFamily="2" charset="2"/>
              </a:rPr>
              <a:t></a:t>
            </a:r>
            <a:r>
              <a:rPr lang="en-US" altLang="zh-CN" sz="3200" b="1" dirty="0" smtClean="0"/>
              <a:t>Ca(OH)</a:t>
            </a:r>
            <a:r>
              <a:rPr lang="en-US" altLang="zh-CN" sz="3200" b="1" baseline="-25000" dirty="0" smtClean="0"/>
              <a:t>2</a:t>
            </a:r>
            <a:r>
              <a:rPr lang="en-US" altLang="zh-CN" sz="3200" b="1" dirty="0" smtClean="0"/>
              <a:t> + H</a:t>
            </a:r>
            <a:r>
              <a:rPr lang="en-US" altLang="zh-CN" sz="3200" b="1" baseline="-25000" dirty="0" smtClean="0"/>
              <a:t>2</a:t>
            </a:r>
            <a:r>
              <a:rPr lang="en-US" altLang="zh-CN" sz="3200" b="1" dirty="0" smtClean="0"/>
              <a:t> </a:t>
            </a:r>
          </a:p>
          <a:p>
            <a:pPr marL="514350" indent="-514350">
              <a:lnSpc>
                <a:spcPct val="150000"/>
              </a:lnSpc>
            </a:pPr>
            <a:r>
              <a:rPr lang="en-US" altLang="zh-CN" sz="3200" b="1" dirty="0" smtClean="0"/>
              <a:t>3)	Ca + 2HCl </a:t>
            </a:r>
            <a:r>
              <a:rPr lang="en-US" altLang="zh-CN" sz="3200" b="1" dirty="0" smtClean="0">
                <a:sym typeface="Wingdings" pitchFamily="2" charset="2"/>
              </a:rPr>
              <a:t> CaCl</a:t>
            </a:r>
            <a:r>
              <a:rPr lang="en-US" altLang="zh-CN" sz="3200" b="1" baseline="-25000" dirty="0" smtClean="0">
                <a:sym typeface="Wingdings" pitchFamily="2" charset="2"/>
              </a:rPr>
              <a:t>2</a:t>
            </a:r>
            <a:r>
              <a:rPr lang="en-US" altLang="zh-CN" sz="3200" b="1" dirty="0" smtClean="0">
                <a:sym typeface="Wingdings" pitchFamily="2" charset="2"/>
              </a:rPr>
              <a:t> + H</a:t>
            </a:r>
            <a:r>
              <a:rPr lang="en-US" altLang="zh-CN" sz="3200" b="1" baseline="-25000" dirty="0" smtClean="0">
                <a:sym typeface="Wingdings" pitchFamily="2" charset="2"/>
              </a:rPr>
              <a:t>2</a:t>
            </a:r>
            <a:endParaRPr lang="en-US" altLang="zh-CN" sz="3200" b="1" dirty="0" smtClean="0"/>
          </a:p>
          <a:p>
            <a:pPr marL="342900" indent="-342900">
              <a:lnSpc>
                <a:spcPct val="150000"/>
              </a:lnSpc>
            </a:pPr>
            <a:endParaRPr lang="en-MY" sz="1400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2819400" y="16764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3959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latin typeface="楷体" pitchFamily="49" charset="-122"/>
                <a:ea typeface="楷体" pitchFamily="49" charset="-122"/>
              </a:rPr>
              <a:t>10.1.1 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镁和钙的物理性质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1772816"/>
            <a:ext cx="820891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b="1" dirty="0" smtClean="0">
                <a:latin typeface="+mn-ea"/>
              </a:rPr>
              <a:t>银白色金属</a:t>
            </a:r>
            <a:endParaRPr lang="en-US" altLang="zh-CN" sz="36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b="1" dirty="0" smtClean="0">
                <a:latin typeface="+mn-ea"/>
              </a:rPr>
              <a:t>硬度小</a:t>
            </a:r>
            <a:endParaRPr lang="en-US" altLang="zh-CN" sz="36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b="1" dirty="0" smtClean="0">
                <a:latin typeface="+mn-ea"/>
              </a:rPr>
              <a:t>有良好的导电、导热性</a:t>
            </a:r>
            <a:endParaRPr lang="en-US" altLang="zh-CN" sz="36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b="1" dirty="0" smtClean="0">
                <a:latin typeface="+mn-ea"/>
              </a:rPr>
              <a:t>有延展性</a:t>
            </a:r>
            <a:endParaRPr lang="en-US" altLang="zh-CN" sz="36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密度比水大</a:t>
            </a:r>
            <a:endParaRPr lang="en-US" altLang="zh-CN" sz="36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>
              <a:lnSpc>
                <a:spcPct val="150000"/>
              </a:lnSpc>
            </a:pPr>
            <a:endParaRPr lang="en-MY" sz="1600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="" xmlns:a14="http://schemas.microsoft.com/office/drawing/2010/main">
                  <a14:imgLayer r:embed="rId5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56" y="4260752"/>
            <a:ext cx="2745791" cy="222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="" xmlns:a14="http://schemas.microsoft.com/office/drawing/2010/main">
                  <a14:imgLayer r:embed="rId9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447800"/>
            <a:ext cx="3037972" cy="2219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39593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itchFamily="49" charset="-122"/>
                <a:ea typeface="楷体" pitchFamily="49" charset="-122"/>
              </a:rPr>
              <a:t>与同周期的碱金属比较</a:t>
            </a:r>
            <a:endParaRPr lang="en-MY" sz="6000" dirty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0497677"/>
              </p:ext>
            </p:extLst>
          </p:nvPr>
        </p:nvGraphicFramePr>
        <p:xfrm>
          <a:off x="496788" y="1916832"/>
          <a:ext cx="8265075" cy="4104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025"/>
                <a:gridCol w="2755025"/>
                <a:gridCol w="2755025"/>
              </a:tblGrid>
              <a:tr h="684076">
                <a:tc>
                  <a:txBody>
                    <a:bodyPr/>
                    <a:lstStyle/>
                    <a:p>
                      <a:endParaRPr lang="en-MY" sz="36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碱金属</a:t>
                      </a:r>
                      <a:endParaRPr lang="en-MY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碱土金属</a:t>
                      </a:r>
                      <a:endParaRPr lang="en-MY" sz="3600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zh-CN" altLang="en-US" sz="3600" b="1" dirty="0" smtClean="0"/>
                        <a:t>原子半径</a:t>
                      </a:r>
                      <a:endParaRPr lang="en-MY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大</a:t>
                      </a:r>
                      <a:endParaRPr lang="en-MY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小</a:t>
                      </a:r>
                      <a:endParaRPr lang="en-MY" sz="3600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zh-CN" altLang="en-US" sz="3600" b="1" dirty="0" smtClean="0"/>
                        <a:t>密度</a:t>
                      </a:r>
                      <a:endParaRPr lang="en-MY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小</a:t>
                      </a:r>
                      <a:endParaRPr lang="en-MY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大</a:t>
                      </a:r>
                      <a:endParaRPr lang="en-MY" sz="3600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zh-CN" altLang="en-US" sz="3600" b="1" dirty="0" smtClean="0"/>
                        <a:t>硬度</a:t>
                      </a:r>
                      <a:endParaRPr lang="en-MY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小</a:t>
                      </a:r>
                      <a:endParaRPr lang="en-MY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大</a:t>
                      </a:r>
                      <a:endParaRPr lang="en-MY" sz="3600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zh-CN" altLang="en-US" sz="3600" b="1" dirty="0" smtClean="0"/>
                        <a:t>熔点，沸点</a:t>
                      </a:r>
                      <a:endParaRPr lang="en-MY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低</a:t>
                      </a:r>
                      <a:endParaRPr lang="en-MY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高</a:t>
                      </a:r>
                      <a:endParaRPr lang="en-MY" sz="3600" dirty="0"/>
                    </a:p>
                  </a:txBody>
                  <a:tcPr/>
                </a:tc>
              </a:tr>
              <a:tr h="684076">
                <a:tc>
                  <a:txBody>
                    <a:bodyPr/>
                    <a:lstStyle/>
                    <a:p>
                      <a:r>
                        <a:rPr lang="zh-CN" altLang="en-US" sz="3600" b="1" dirty="0" smtClean="0"/>
                        <a:t>金属键</a:t>
                      </a:r>
                      <a:endParaRPr lang="en-MY" sz="3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弱</a:t>
                      </a:r>
                      <a:endParaRPr lang="en-MY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dirty="0" smtClean="0"/>
                        <a:t>强</a:t>
                      </a:r>
                      <a:endParaRPr lang="en-MY" sz="3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03374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83" y="-56538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16632"/>
            <a:ext cx="8229600" cy="1442591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10.1.2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镁和钙的化学性质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1432194"/>
            <a:ext cx="7448872" cy="4154016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强还原剂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金属性强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容易失去</a:t>
            </a:r>
            <a:r>
              <a:rPr lang="en-US" altLang="zh-CN" sz="3600" b="1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3600" b="1" dirty="0" smtClean="0">
                <a:solidFill>
                  <a:schemeClr val="tx1"/>
                </a:solidFill>
                <a:latin typeface="+mn-ea"/>
              </a:rPr>
              <a:t>个电子</a:t>
            </a:r>
            <a:endParaRPr lang="en-US" altLang="zh-CN" sz="3600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05200"/>
            <a:ext cx="3098114" cy="3098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505200"/>
            <a:ext cx="3048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16091856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6" y="0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1432194"/>
            <a:ext cx="7920880" cy="4154016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抗腐蚀能力强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常温下，镁易被氧化失去金属光泽，生成一层</a:t>
            </a:r>
            <a:r>
              <a:rPr lang="zh-CN" altLang="en-US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致密的氧化膜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制造照明弹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镁在空气中燃烧，发出耀眼白光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	2 Mg + O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zh-CN" altLang="en-US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2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（大量白色粉末）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	3 Mg + N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Mg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N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（少量灰绿色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粉末）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l"/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743200"/>
            <a:ext cx="5560331" cy="312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10.1.2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镁和钙的化学性质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3276600" y="44180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 bwMode="auto">
          <a:xfrm>
            <a:off x="3200400" y="50276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332940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6" y="0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1432194"/>
            <a:ext cx="7920880" cy="4154016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钙需保存在煤油中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常温下，钙易被氧化，但</a:t>
            </a:r>
            <a:r>
              <a:rPr lang="zh-CN" altLang="en-US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氧化钙结构疏松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，又易于水反应。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在空气中燃烧，主要生成氧化钙，并产生少量氮化钙。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2  Ca  +  O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2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CaO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 3  Ca  +  N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Ca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N</a:t>
            </a:r>
            <a:r>
              <a:rPr lang="en-US" b="1" baseline="-25000" dirty="0" smtClean="0">
                <a:solidFill>
                  <a:schemeClr val="tx1"/>
                </a:solidFill>
                <a:latin typeface="+mn-ea"/>
              </a:rPr>
              <a:t>2</a:t>
            </a:r>
          </a:p>
          <a:p>
            <a:pPr algn="l"/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>
              <a:buFont typeface="Wingdings" pitchFamily="2" charset="2"/>
              <a:buChar char="Ø"/>
            </a:pP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algn="l">
              <a:buFont typeface="Wingdings" pitchFamily="2" charset="2"/>
              <a:buChar char="Ø"/>
            </a:pP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10.1.2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镁和钙的化学性质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3733800" y="44180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3733800" y="50276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332940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6" y="0"/>
            <a:ext cx="9144000" cy="69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1432194"/>
            <a:ext cx="7920880" cy="4154016"/>
          </a:xfrm>
        </p:spPr>
        <p:txBody>
          <a:bodyPr>
            <a:no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问题解决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  +  Cl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    MgCl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Ca  +  Cl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    CaCl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	</a:t>
            </a:r>
          </a:p>
          <a:p>
            <a:pPr algn="l"/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  +  S     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MgS</a:t>
            </a:r>
            <a:endParaRPr lang="en-US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Ca  +  S      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CaS</a:t>
            </a:r>
            <a:endParaRPr lang="en-US" sz="2800" b="1" baseline="-25000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10.1.2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镁和钙的化学性质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757" y="1916832"/>
            <a:ext cx="255270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884368" y="4371545"/>
            <a:ext cx="615553" cy="18722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2800" b="1" dirty="0" smtClean="0">
                <a:latin typeface="+mn-ea"/>
              </a:rPr>
              <a:t>←</a:t>
            </a:r>
            <a:r>
              <a:rPr lang="zh-CN" altLang="en-US" sz="2800" b="1" dirty="0" smtClean="0">
                <a:latin typeface="+mn-ea"/>
              </a:rPr>
              <a:t>硫化钙</a:t>
            </a:r>
            <a:endParaRPr lang="en-MY" sz="2800" b="1" dirty="0">
              <a:latin typeface="+mn-ea"/>
            </a:endParaRPr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3352800" y="22098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 bwMode="auto">
          <a:xfrm>
            <a:off x="3657600" y="20574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3505200" y="27416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 bwMode="auto">
          <a:xfrm>
            <a:off x="3810000" y="25892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3200400" y="32750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 bwMode="auto">
          <a:xfrm>
            <a:off x="3505200" y="31226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3200400" y="37338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 bwMode="auto">
          <a:xfrm>
            <a:off x="3505200" y="35814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32940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5" grpId="0" animBg="1"/>
      <p:bldP spid="17" grpId="0" animBg="1"/>
      <p:bldP spid="19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7272808" cy="5120792"/>
          </a:xfrm>
        </p:spPr>
        <p:txBody>
          <a:bodyPr>
            <a:normAutofit/>
          </a:bodyPr>
          <a:lstStyle/>
          <a:p>
            <a:pPr marL="514350" indent="-51435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镁与冷水反应缓慢，镁与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沸水反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应较快。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Mg + 2H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     Mg(OH)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MY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与冷水即可发生剧烈的反应。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Ca + 2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→Ca(OH)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514350" indent="-51435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镁能在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baseline="-25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中燃烧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2Mg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2MgO +C</a:t>
            </a:r>
            <a:endParaRPr lang="en-MY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能与酸反应置换出氢气。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Mg + 2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HCl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→ MgCl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 Ca + 2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HCl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→ CaCl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H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324600" y="2286000"/>
            <a:ext cx="2667000" cy="3886200"/>
            <a:chOff x="7933492" y="0"/>
            <a:chExt cx="2361672" cy="35814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2835" y="0"/>
              <a:ext cx="2302329" cy="3581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7933492" y="685800"/>
              <a:ext cx="677108" cy="273630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/>
                  </a:solidFill>
                </a:rPr>
                <a:t>镁与盐酸反应</a:t>
              </a:r>
              <a:endParaRPr lang="en-MY" sz="3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Straight Arrow Connector 7"/>
          <p:cNvCxnSpPr/>
          <p:nvPr/>
        </p:nvCxnSpPr>
        <p:spPr bwMode="auto">
          <a:xfrm>
            <a:off x="3048000" y="20574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 bwMode="auto">
          <a:xfrm>
            <a:off x="3352800" y="19050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2971800" y="41148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10.1.2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镁和钙的化学性质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7272808" cy="5120792"/>
          </a:xfrm>
        </p:spPr>
        <p:txBody>
          <a:bodyPr>
            <a:norm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问题解决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铍、镁、钙、锶、钡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电子层数依次增加，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原子半径变大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原子核对价电子的吸引力减弱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越容易失去电子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还原性越强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反应越剧烈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10.1.2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镁和钙的化学性质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1.	A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与氧反应后生成氧化膜，不须密封保存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对，因为镁能在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中燃烧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2. Ca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高温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CaH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+ 2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Ca(OH)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3. B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Ba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BaSO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+ 2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Ba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Mg(OH)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BaCl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思考题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10a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590800" y="31242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7384"/>
            <a:ext cx="9144000" cy="1326356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latin typeface="楷体" pitchFamily="49" charset="-122"/>
                <a:ea typeface="楷体" pitchFamily="49" charset="-122"/>
              </a:rPr>
              <a:t>10.2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镁的重要化合物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176" y="1143000"/>
            <a:ext cx="7416824" cy="5562600"/>
          </a:xfrm>
        </p:spPr>
        <p:txBody>
          <a:bodyPr>
            <a:normAutofit/>
          </a:bodyPr>
          <a:lstStyle/>
          <a:p>
            <a:pPr marL="457200" indent="-457200" algn="l"/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氧化镁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俗称苦土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轻、松软的白色粉末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高熔点、高沸点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zh-CN" altLang="en-US" sz="2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耐火材料</a:t>
            </a:r>
            <a:endParaRPr lang="en-US" altLang="zh-CN" sz="26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碱性氧化物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水 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碱</a:t>
            </a:r>
            <a:endParaRPr lang="en-US" altLang="zh-CN" sz="30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zh-CN" altLang="en-US" sz="26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暴露在空气中会吸收水分</a:t>
            </a:r>
            <a:endParaRPr lang="en-US" altLang="zh-CN" sz="26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altLang="zh-CN" sz="26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MgO</a:t>
            </a:r>
            <a:r>
              <a:rPr lang="en-US" altLang="zh-CN" sz="26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6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6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  Mg(OH)</a:t>
            </a:r>
            <a:r>
              <a:rPr lang="en-US" altLang="zh-CN" sz="26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26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工业制取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煅烧菱镁矿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altLang="zh-CN" sz="2600" b="1" dirty="0" err="1" smtClean="0">
                <a:solidFill>
                  <a:schemeClr val="tx1"/>
                </a:solidFill>
                <a:latin typeface="+mn-ea"/>
              </a:rPr>
              <a:t>MgCO</a:t>
            </a:r>
            <a:r>
              <a:rPr lang="en-US" sz="2600" b="1" baseline="-25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6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6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sz="2600" b="1" dirty="0" smtClean="0">
                <a:solidFill>
                  <a:schemeClr val="tx1"/>
                </a:solidFill>
                <a:latin typeface="+mn-ea"/>
              </a:rPr>
              <a:t>     </a:t>
            </a:r>
            <a:r>
              <a:rPr lang="en-US" altLang="zh-CN" sz="26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600" b="1" dirty="0" smtClean="0">
                <a:solidFill>
                  <a:schemeClr val="tx1"/>
                </a:solidFill>
                <a:latin typeface="+mn-ea"/>
              </a:rPr>
              <a:t> + CO</a:t>
            </a:r>
            <a:r>
              <a:rPr lang="en-US" altLang="zh-CN" sz="26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altLang="zh-CN" sz="26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647648" y="3323133"/>
            <a:ext cx="3191552" cy="2620467"/>
            <a:chOff x="2164998" y="4237533"/>
            <a:chExt cx="3191552" cy="2620467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4998" y="4237533"/>
              <a:ext cx="3191552" cy="26204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292624" y="6106180"/>
              <a:ext cx="15841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菱镁矿</a:t>
              </a:r>
              <a:endParaRPr lang="en-MY" sz="2800" b="1" dirty="0"/>
            </a:p>
          </p:txBody>
        </p:sp>
      </p:grpSp>
      <p:cxnSp>
        <p:nvCxnSpPr>
          <p:cNvPr id="9" name="Straight Arrow Connector 8"/>
          <p:cNvCxnSpPr/>
          <p:nvPr/>
        </p:nvCxnSpPr>
        <p:spPr bwMode="auto">
          <a:xfrm>
            <a:off x="2514600" y="60960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 bwMode="auto">
          <a:xfrm>
            <a:off x="2819400" y="59436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5747402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660" y="1080516"/>
            <a:ext cx="8691314" cy="5167884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氯化镁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无色晶体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易溶于水、有苦味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易潮解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以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MgCl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·6H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形式存在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用途：</a:t>
            </a:r>
            <a:r>
              <a:rPr lang="zh-CN" alt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制金属镁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、消毒剂、陶瓷</a:t>
            </a:r>
            <a:endParaRPr lang="en-US" altLang="zh-CN" sz="3000" b="1" dirty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Ø"/>
            </a:pPr>
            <a:endParaRPr lang="en-MY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780235" y="1205709"/>
            <a:ext cx="3916910" cy="3189720"/>
            <a:chOff x="1331640" y="3478646"/>
            <a:chExt cx="3916910" cy="318972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640" y="3478646"/>
              <a:ext cx="3916910" cy="3189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2362200" y="5257800"/>
              <a:ext cx="2664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latin typeface="宋体" pitchFamily="2" charset="-122"/>
                  <a:ea typeface="宋体" pitchFamily="2" charset="-122"/>
                </a:rPr>
                <a:t> MgCl</a:t>
              </a:r>
              <a:r>
                <a:rPr lang="en-US" altLang="zh-CN" sz="2800" b="1" baseline="-25000" dirty="0" smtClean="0">
                  <a:latin typeface="宋体" pitchFamily="2" charset="-122"/>
                  <a:ea typeface="宋体" pitchFamily="2" charset="-122"/>
                </a:rPr>
                <a:t>2</a:t>
              </a:r>
              <a:r>
                <a:rPr lang="en-US" altLang="zh-CN" sz="2800" b="1" dirty="0" smtClean="0">
                  <a:latin typeface="宋体" pitchFamily="2" charset="-122"/>
                  <a:ea typeface="宋体" pitchFamily="2" charset="-122"/>
                </a:rPr>
                <a:t>·6H</a:t>
              </a:r>
              <a:r>
                <a:rPr lang="en-US" altLang="zh-CN" sz="2800" b="1" baseline="-25000" dirty="0" smtClean="0">
                  <a:latin typeface="宋体" pitchFamily="2" charset="-122"/>
                  <a:ea typeface="宋体" pitchFamily="2" charset="-122"/>
                </a:rPr>
                <a:t>2</a:t>
              </a:r>
              <a:r>
                <a:rPr lang="en-US" altLang="zh-CN" sz="2800" b="1" dirty="0" smtClean="0">
                  <a:latin typeface="宋体" pitchFamily="2" charset="-122"/>
                  <a:ea typeface="宋体" pitchFamily="2" charset="-122"/>
                </a:rPr>
                <a:t>O</a:t>
              </a:r>
              <a:endParaRPr lang="en-MY" sz="2800" b="1" dirty="0"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9" name="Title 1"/>
          <p:cNvSpPr txBox="1">
            <a:spLocks/>
          </p:cNvSpPr>
          <p:nvPr/>
        </p:nvSpPr>
        <p:spPr>
          <a:xfrm>
            <a:off x="0" y="-27384"/>
            <a:ext cx="9144000" cy="132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2285511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" y="-7378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824" y="1124744"/>
            <a:ext cx="7956376" cy="3888432"/>
          </a:xfrm>
        </p:spPr>
        <p:txBody>
          <a:bodyPr>
            <a:normAutofit/>
          </a:bodyPr>
          <a:lstStyle/>
          <a:p>
            <a:pPr marL="457200" indent="-457200" algn="l"/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硫酸镁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易溶于水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七水合硫酸镁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(MgSO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·7H</a:t>
            </a:r>
            <a:r>
              <a:rPr lang="en-US" altLang="zh-CN" sz="30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3000" b="1" dirty="0" smtClean="0">
                <a:solidFill>
                  <a:schemeClr val="tx1"/>
                </a:solidFill>
                <a:latin typeface="+mn-ea"/>
              </a:rPr>
              <a:t>O)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，俗称</a:t>
            </a:r>
            <a:r>
              <a:rPr lang="zh-CN" alt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泻盐</a:t>
            </a: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30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3000" b="1" dirty="0" smtClean="0">
                <a:solidFill>
                  <a:schemeClr val="tx1"/>
                </a:solidFill>
                <a:latin typeface="+mn-ea"/>
              </a:rPr>
              <a:t>用途：媒染剂、造纸、陶瓷、</a:t>
            </a:r>
            <a:r>
              <a:rPr lang="zh-CN" altLang="en-US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肥料</a:t>
            </a:r>
            <a:endParaRPr lang="en-US" altLang="zh-CN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139952" y="3486015"/>
            <a:ext cx="4389107" cy="3291830"/>
            <a:chOff x="4139952" y="3486015"/>
            <a:chExt cx="4389107" cy="3291830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9952" y="3486015"/>
              <a:ext cx="4389107" cy="32918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800600" y="5410200"/>
              <a:ext cx="23379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+mn-ea"/>
                </a:rPr>
                <a:t>硫酸镁晶体</a:t>
              </a:r>
              <a:endParaRPr lang="en-MY" sz="2800" b="1" dirty="0">
                <a:latin typeface="+mn-ea"/>
              </a:endParaRPr>
            </a:p>
          </p:txBody>
        </p:sp>
      </p:grpSp>
      <p:sp>
        <p:nvSpPr>
          <p:cNvPr id="8" name="Title 1"/>
          <p:cNvSpPr txBox="1">
            <a:spLocks/>
          </p:cNvSpPr>
          <p:nvPr/>
        </p:nvSpPr>
        <p:spPr>
          <a:xfrm>
            <a:off x="0" y="-27384"/>
            <a:ext cx="9144000" cy="132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10.2 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镁的重要化合物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474394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1.	MgCO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	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Mg(OH)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</a:p>
          <a:p>
            <a:pPr marL="457200" indent="-457200" algn="l"/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Mg(OH)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MgSO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+ 2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3. B</a:t>
            </a: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A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是碱性氧化物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会吸收水分生成氢氧化镁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D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工业上煅烧菱镁矿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来制取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思考题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10b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2514600" y="15986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 bwMode="auto">
          <a:xfrm>
            <a:off x="2819400" y="14462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6320" y="1143000"/>
            <a:ext cx="8359080" cy="4824536"/>
          </a:xfrm>
        </p:spPr>
        <p:txBody>
          <a:bodyPr>
            <a:no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氧化钙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白色固体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俗称石灰或生石灰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有吸湿性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氧化钙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水会放出大量的热，并生成氢氧化钙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置露于空气中会于空气中的水分和二氧化碳反应。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altLang="zh-CN" sz="2400" b="1" dirty="0" err="1" smtClean="0">
                <a:solidFill>
                  <a:schemeClr val="tx1"/>
                </a:solidFill>
                <a:latin typeface="+mn-ea"/>
              </a:rPr>
              <a:t>CaO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+ H</a:t>
            </a:r>
            <a:r>
              <a:rPr lang="en-US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O  → Ca(OH)</a:t>
            </a:r>
            <a:r>
              <a:rPr lang="en-US" sz="24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zh-CN" sz="2400" b="1" baseline="-25000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Ca(OH)</a:t>
            </a:r>
            <a:r>
              <a:rPr lang="en-US" sz="24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4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+ CO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CaCO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+mn-ea"/>
              </a:rPr>
              <a:t>3 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+ H</a:t>
            </a:r>
            <a:r>
              <a:rPr lang="en-US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O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工业上以煅烧石灰石制取氧化钙。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CaCO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zh-CN" sz="2400" b="1" dirty="0" err="1" smtClean="0">
                <a:solidFill>
                  <a:schemeClr val="tx1"/>
                </a:solidFill>
                <a:latin typeface="+mn-ea"/>
              </a:rPr>
              <a:t>CaO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 +  CO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用途：制造电石、冶金助熔剂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/>
            <a:endParaRPr lang="en-US" altLang="zh-CN" sz="24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223329" y="1173832"/>
            <a:ext cx="2234871" cy="2057400"/>
            <a:chOff x="6996417" y="1162050"/>
            <a:chExt cx="2158671" cy="2410966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6417" y="1162050"/>
              <a:ext cx="2147583" cy="2410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7391400" y="1752600"/>
              <a:ext cx="17636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宋体" pitchFamily="2" charset="-122"/>
                  <a:ea typeface="宋体" pitchFamily="2" charset="-122"/>
                </a:rPr>
                <a:t>氧化钙</a:t>
              </a:r>
              <a:endParaRPr lang="en-MY" sz="2800" b="1" dirty="0"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10" name="Title 1"/>
          <p:cNvSpPr txBox="1">
            <a:spLocks/>
          </p:cNvSpPr>
          <p:nvPr/>
        </p:nvSpPr>
        <p:spPr>
          <a:xfrm>
            <a:off x="0" y="-27384"/>
            <a:ext cx="9144000" cy="132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3</a:t>
            </a: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钙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2590800" y="582203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 bwMode="auto">
          <a:xfrm>
            <a:off x="2895600" y="566963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0683055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6840760" cy="5256584"/>
          </a:xfrm>
        </p:spPr>
        <p:txBody>
          <a:bodyPr>
            <a:norm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氢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氧化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钙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白色粉末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俗称熟石灰或消石灰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中强碱，有腐蚀性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其水溶液称石灰水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其悬浊液称石灰乳，可粉刷墙壁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用途：制造漂白粉、制造钙盐、建筑材料、降低土壤酸性。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27384"/>
            <a:ext cx="9144000" cy="132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3</a:t>
            </a: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钙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943600" y="1676400"/>
            <a:ext cx="2508628" cy="1954733"/>
            <a:chOff x="6635372" y="4903267"/>
            <a:chExt cx="2508628" cy="1954733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5372" y="4903267"/>
              <a:ext cx="2508628" cy="19547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7086600" y="5410200"/>
              <a:ext cx="182594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latin typeface="宋体" pitchFamily="2" charset="-122"/>
                  <a:ea typeface="宋体" pitchFamily="2" charset="-122"/>
                </a:rPr>
                <a:t>氢氧化钙</a:t>
              </a:r>
              <a:endParaRPr lang="en-MY" sz="2800" b="1" dirty="0">
                <a:latin typeface="宋体" pitchFamily="2" charset="-122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9491751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990600"/>
            <a:ext cx="7766248" cy="4755232"/>
          </a:xfrm>
        </p:spPr>
        <p:txBody>
          <a:bodyPr>
            <a:no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硫酸钙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白色固体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易潮解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微溶于水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·2H</a:t>
            </a:r>
            <a:r>
              <a:rPr lang="en-US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称石膏或生石膏。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石膏加热失去大部分结晶水变成熟石膏。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914400" lvl="1" indent="-457200" algn="l">
              <a:buFont typeface="Wingdings" pitchFamily="2" charset="2"/>
              <a:buChar char="Ø"/>
            </a:pP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2CaSO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·2H</a:t>
            </a:r>
            <a:r>
              <a:rPr lang="en-US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O→(CaSO</a:t>
            </a:r>
            <a:r>
              <a:rPr lang="en-US" altLang="zh-CN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en-US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·H</a:t>
            </a:r>
            <a:r>
              <a:rPr lang="en-US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O + 3 H</a:t>
            </a:r>
            <a:r>
              <a:rPr lang="en-US" sz="24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400" b="1" dirty="0" smtClean="0">
                <a:solidFill>
                  <a:schemeClr val="tx1"/>
                </a:solidFill>
                <a:latin typeface="+mn-ea"/>
              </a:rPr>
              <a:t>O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熟石膏加水又转化为石膏，并有微量的体积膨胀及放热。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用途：制造模型、石膏绷带、调节水泥的硬化速度、食用石膏粉作豆制食品凝固剂等。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066800"/>
            <a:ext cx="3159248" cy="252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0" y="-27384"/>
            <a:ext cx="9144000" cy="132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3</a:t>
            </a: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钙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0202556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:zoom dir="in"/>
      </p:transition>
    </mc:Choice>
    <mc:Fallback>
      <p:transition spd="slow">
        <p:zoom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68760"/>
            <a:ext cx="7134944" cy="5589240"/>
          </a:xfrm>
        </p:spPr>
        <p:txBody>
          <a:bodyPr>
            <a:noAutofit/>
          </a:bodyPr>
          <a:lstStyle/>
          <a:p>
            <a:pPr marL="457200" indent="-457200" algn="l"/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氯化钙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白色颗粒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以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·6H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形式存在。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易溶于水，味苦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溶于水时放出大量的热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·6H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加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热完全脱水后生成</a:t>
            </a:r>
            <a:r>
              <a:rPr lang="en-US" altLang="zh-CN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无水氯化</a:t>
            </a: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钙对氨气有强吸附能力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无水氯化钙有吸水性</a:t>
            </a:r>
            <a:endParaRPr lang="en-US" altLang="zh-CN" sz="2800" b="1" dirty="0" smtClean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用途：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在实验室作干燥剂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、道路融冰剂、</a:t>
            </a: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电解以制取金属钙、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食品工业上作钙质强化剂</a:t>
            </a:r>
            <a:endParaRPr lang="en-MY" sz="2800" b="1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400800" y="1219200"/>
            <a:ext cx="2590800" cy="2514600"/>
            <a:chOff x="5638800" y="4038600"/>
            <a:chExt cx="2590800" cy="2514600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19778" t="8450" r="14426" b="6402"/>
            <a:stretch>
              <a:fillRect/>
            </a:stretch>
          </p:blipFill>
          <p:spPr bwMode="auto">
            <a:xfrm>
              <a:off x="5638800" y="4038600"/>
              <a:ext cx="2590800" cy="2514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5765858" y="5420380"/>
              <a:ext cx="24637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宋体" pitchFamily="2" charset="-122"/>
                  <a:ea typeface="宋体" pitchFamily="2" charset="-122"/>
                </a:rPr>
                <a:t>无水氯化</a:t>
              </a:r>
              <a:r>
                <a:rPr lang="zh-CN" altLang="en-US" sz="2800" b="1" dirty="0" smtClean="0">
                  <a:latin typeface="宋体" pitchFamily="2" charset="-122"/>
                  <a:ea typeface="宋体" pitchFamily="2" charset="-122"/>
                </a:rPr>
                <a:t>钙</a:t>
              </a:r>
              <a:endParaRPr lang="en-MY" sz="2800" b="1" dirty="0"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9" name="Title 1"/>
          <p:cNvSpPr txBox="1">
            <a:spLocks/>
          </p:cNvSpPr>
          <p:nvPr/>
        </p:nvSpPr>
        <p:spPr>
          <a:xfrm>
            <a:off x="0" y="-27384"/>
            <a:ext cx="9144000" cy="1326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10.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3</a:t>
            </a:r>
            <a:r>
              <a:rPr kumimoji="0" 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 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钙</a:t>
            </a: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的重要化合物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7256997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1.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氯化钙能吸收氨气，它能与氨分子形成配位化合物。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+ 8NH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 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 </a:t>
            </a:r>
            <a:r>
              <a:rPr lang="en-US" altLang="zh-CN" sz="2800" b="1" dirty="0" smtClean="0">
                <a:solidFill>
                  <a:schemeClr val="tx1"/>
                </a:solidFill>
                <a:latin typeface="Arial"/>
                <a:cs typeface="Arial"/>
                <a:sym typeface="Wingdings" pitchFamily="2" charset="2"/>
              </a:rPr>
              <a:t>·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8NH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分别取少量放入试管中，加水振荡，试管壁发热的是氧化钙，没有明显现象的是硫酸钙。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457200" indent="-457200" algn="l"/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457200" indent="-45720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实验室作干燥剂、道路融冰剂、电解以制取金属钙、食品工业上作钙质强化剂。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思考题</a:t>
            </a:r>
            <a:r>
              <a:rPr kumimoji="0" lang="en-US" altLang="zh-C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j-cs"/>
              </a:rPr>
              <a:t>10c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0"/>
            <a:ext cx="6629399" cy="1442591"/>
          </a:xfrm>
        </p:spPr>
        <p:txBody>
          <a:bodyPr>
            <a:normAutofit fontScale="90000"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10.4.1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镁离子的检验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7927032" cy="5120792"/>
          </a:xfrm>
        </p:spPr>
        <p:txBody>
          <a:bodyPr>
            <a:norm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活动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4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生成白色沉淀，且不溶于过量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NaOH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溶液</a:t>
            </a: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MgCl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+ 2 NH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b="1" dirty="0" smtClean="0">
                <a:solidFill>
                  <a:schemeClr val="tx1"/>
                </a:solidFill>
                <a:latin typeface="Arial"/>
                <a:cs typeface="Arial"/>
              </a:rPr>
              <a:t>·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O → Mg(OH)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+ 2 NH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Cl</a:t>
            </a:r>
            <a:r>
              <a:rPr lang="en-MY" baseline="30000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457200" indent="-457200" algn="l">
              <a:buFont typeface="Wingdings" pitchFamily="2" charset="2"/>
              <a:buChar char="Ø"/>
            </a:pPr>
            <a:endParaRPr lang="en-US" altLang="zh-CN" b="1" dirty="0" smtClean="0">
              <a:solidFill>
                <a:schemeClr val="tx1"/>
              </a:solidFill>
              <a:latin typeface="+mn-ea"/>
            </a:endParaRP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活动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5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生成白色沉淀，且不溶于过量氨水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 </a:t>
            </a:r>
            <a:endParaRPr lang="en-MY" altLang="zh-CN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MgCl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+ 2 </a:t>
            </a:r>
            <a:r>
              <a:rPr lang="en-US" altLang="zh-CN" b="1" dirty="0" err="1" smtClean="0">
                <a:solidFill>
                  <a:schemeClr val="tx1"/>
                </a:solidFill>
                <a:latin typeface="+mn-ea"/>
              </a:rPr>
              <a:t>NaOH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→ Mg(OH)</a:t>
            </a:r>
            <a:r>
              <a:rPr lang="en-US" altLang="zh-CN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b="1" dirty="0" smtClean="0">
                <a:solidFill>
                  <a:schemeClr val="tx1"/>
                </a:solidFill>
                <a:latin typeface="+mn-ea"/>
              </a:rPr>
              <a:t> + 2 Na</a:t>
            </a:r>
            <a:r>
              <a:rPr lang="en-MY" altLang="zh-CN" dirty="0" err="1" smtClean="0">
                <a:solidFill>
                  <a:schemeClr val="tx1"/>
                </a:solidFill>
                <a:latin typeface="+mn-ea"/>
              </a:rPr>
              <a:t>Cl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0"/>
            <a:ext cx="7315200" cy="1285999"/>
          </a:xfrm>
        </p:spPr>
        <p:txBody>
          <a:bodyPr>
            <a:normAutofit/>
          </a:bodyPr>
          <a:lstStyle/>
          <a:p>
            <a:r>
              <a:rPr lang="en-US" altLang="zh-CN" sz="6000" b="1" dirty="0" smtClean="0">
                <a:latin typeface="楷体" pitchFamily="49" charset="-122"/>
                <a:ea typeface="楷体" pitchFamily="49" charset="-122"/>
              </a:rPr>
              <a:t>10.4.2</a:t>
            </a:r>
            <a:r>
              <a:rPr lang="zh-CN" altLang="en-US" sz="6000" b="1" dirty="0" smtClean="0">
                <a:latin typeface="楷体" pitchFamily="49" charset="-122"/>
                <a:ea typeface="楷体" pitchFamily="49" charset="-122"/>
              </a:rPr>
              <a:t>钙离子的检验</a:t>
            </a:r>
            <a:endParaRPr lang="en-MY" sz="60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64" y="1262336"/>
            <a:ext cx="8424936" cy="5976664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6</a:t>
            </a:r>
          </a:p>
          <a:p>
            <a:pPr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草酸钙不溶于醋酸而溶于稀盐酸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</a:rPr>
              <a:t>       	Ca</a:t>
            </a:r>
            <a:r>
              <a:rPr lang="en-MY" sz="2800" b="1" baseline="30000" dirty="0" smtClean="0">
                <a:solidFill>
                  <a:schemeClr val="tx1"/>
                </a:solidFill>
              </a:rPr>
              <a:t>2+</a:t>
            </a:r>
            <a:r>
              <a:rPr lang="en-MY" sz="2800" b="1" dirty="0" smtClean="0">
                <a:solidFill>
                  <a:schemeClr val="tx1"/>
                </a:solidFill>
              </a:rPr>
              <a:t> (</a:t>
            </a:r>
            <a:r>
              <a:rPr lang="en-MY" sz="2800" b="1" dirty="0" err="1" smtClean="0">
                <a:solidFill>
                  <a:schemeClr val="tx1"/>
                </a:solidFill>
              </a:rPr>
              <a:t>aq</a:t>
            </a:r>
            <a:r>
              <a:rPr lang="en-MY" sz="2800" b="1" dirty="0" smtClean="0">
                <a:solidFill>
                  <a:schemeClr val="tx1"/>
                </a:solidFill>
              </a:rPr>
              <a:t>)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</a:rPr>
              <a:t>+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C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O</a:t>
            </a:r>
            <a:r>
              <a:rPr lang="en-US" altLang="zh-CN" sz="2800" b="1" baseline="-25000" dirty="0" smtClean="0">
                <a:solidFill>
                  <a:schemeClr val="tx1"/>
                </a:solidFill>
              </a:rPr>
              <a:t>4</a:t>
            </a:r>
            <a:r>
              <a:rPr lang="en-US" altLang="zh-CN" sz="2800" b="1" baseline="30000" dirty="0" smtClean="0">
                <a:solidFill>
                  <a:schemeClr val="tx1"/>
                </a:solidFill>
              </a:rPr>
              <a:t>2-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(</a:t>
            </a:r>
            <a:r>
              <a:rPr lang="en-US" altLang="zh-CN" sz="2800" b="1" dirty="0" err="1" smtClean="0">
                <a:solidFill>
                  <a:schemeClr val="tx1"/>
                </a:solidFill>
              </a:rPr>
              <a:t>aq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) </a:t>
            </a:r>
            <a:r>
              <a:rPr lang="en-US" altLang="zh-CN" sz="2800" b="1" dirty="0">
                <a:solidFill>
                  <a:schemeClr val="tx1"/>
                </a:solidFill>
              </a:rPr>
              <a:t>→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CaC</a:t>
            </a:r>
            <a:r>
              <a:rPr lang="en-US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O</a:t>
            </a:r>
            <a:r>
              <a:rPr lang="en-US" sz="2800" b="1" baseline="-25000" dirty="0" smtClean="0">
                <a:solidFill>
                  <a:schemeClr val="tx1"/>
                </a:solidFill>
              </a:rPr>
              <a:t>4</a:t>
            </a:r>
            <a:r>
              <a:rPr lang="en-US" sz="2800" b="1" dirty="0" smtClean="0">
                <a:solidFill>
                  <a:schemeClr val="tx1"/>
                </a:solidFill>
              </a:rPr>
              <a:t> (s)</a:t>
            </a: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</a:rPr>
              <a:t>	CaC</a:t>
            </a:r>
            <a:r>
              <a:rPr lang="en-US" sz="2800" b="1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O</a:t>
            </a:r>
            <a:r>
              <a:rPr lang="en-US" sz="2800" b="1" baseline="-25000" dirty="0" smtClean="0">
                <a:solidFill>
                  <a:schemeClr val="tx1"/>
                </a:solidFill>
              </a:rPr>
              <a:t>4</a:t>
            </a:r>
            <a:r>
              <a:rPr lang="en-US" sz="2800" b="1" dirty="0" smtClean="0">
                <a:solidFill>
                  <a:schemeClr val="tx1"/>
                </a:solidFill>
              </a:rPr>
              <a:t> (s) + 2H</a:t>
            </a:r>
            <a:r>
              <a:rPr lang="en-US" sz="2800" b="1" baseline="30000" dirty="0" smtClean="0">
                <a:solidFill>
                  <a:schemeClr val="tx1"/>
                </a:solidFill>
              </a:rPr>
              <a:t>+</a:t>
            </a:r>
            <a:r>
              <a:rPr lang="en-US" sz="2800" b="1" dirty="0" smtClean="0">
                <a:solidFill>
                  <a:schemeClr val="tx1"/>
                </a:solidFill>
              </a:rPr>
              <a:t> (</a:t>
            </a:r>
            <a:r>
              <a:rPr lang="en-US" sz="2800" b="1" dirty="0" err="1" smtClean="0">
                <a:solidFill>
                  <a:schemeClr val="tx1"/>
                </a:solidFill>
              </a:rPr>
              <a:t>aq</a:t>
            </a:r>
            <a:r>
              <a:rPr lang="en-US" sz="2800" b="1" dirty="0" smtClean="0">
                <a:solidFill>
                  <a:schemeClr val="tx1"/>
                </a:solidFill>
              </a:rPr>
              <a:t>)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 Ca</a:t>
            </a:r>
            <a:r>
              <a:rPr lang="en-US" altLang="zh-CN" sz="2800" b="1" baseline="30000" dirty="0" smtClean="0">
                <a:solidFill>
                  <a:schemeClr val="tx1"/>
                </a:solidFill>
                <a:sym typeface="Wingdings" pitchFamily="2" charset="2"/>
              </a:rPr>
              <a:t>2+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 (</a:t>
            </a:r>
            <a:r>
              <a:rPr lang="en-US" altLang="zh-CN" sz="2800" b="1" dirty="0" err="1" smtClean="0">
                <a:solidFill>
                  <a:schemeClr val="tx1"/>
                </a:solidFill>
                <a:sym typeface="Wingdings" pitchFamily="2" charset="2"/>
              </a:rPr>
              <a:t>aq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) + H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C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O</a:t>
            </a:r>
            <a:r>
              <a:rPr lang="en-US" altLang="zh-CN" sz="2800" b="1" baseline="-25000" dirty="0" smtClean="0">
                <a:solidFill>
                  <a:schemeClr val="tx1"/>
                </a:solidFill>
                <a:sym typeface="Wingdings" pitchFamily="2" charset="2"/>
              </a:rPr>
              <a:t>4 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(</a:t>
            </a:r>
            <a:r>
              <a:rPr lang="en-US" altLang="zh-CN" sz="2800" b="1" dirty="0" err="1" smtClean="0">
                <a:solidFill>
                  <a:schemeClr val="tx1"/>
                </a:solidFill>
                <a:sym typeface="Wingdings" pitchFamily="2" charset="2"/>
              </a:rPr>
              <a:t>aq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)</a:t>
            </a:r>
          </a:p>
          <a:p>
            <a:pPr algn="l"/>
            <a:r>
              <a:rPr lang="zh-CN" altLang="en-US" sz="2800" b="1" dirty="0" smtClean="0">
                <a:solidFill>
                  <a:schemeClr val="tx1"/>
                </a:solidFill>
                <a:sym typeface="Wingdings" pitchFamily="2" charset="2"/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  <a:sym typeface="Wingdings" pitchFamily="2" charset="2"/>
              </a:rPr>
              <a:t>7</a:t>
            </a:r>
            <a:endParaRPr lang="en-MY" altLang="zh-CN" sz="2800" b="1" dirty="0">
              <a:solidFill>
                <a:schemeClr val="tx1"/>
              </a:solidFill>
            </a:endParaRPr>
          </a:p>
          <a:p>
            <a:pPr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无现象，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b="1" baseline="-25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 微溶于水。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若是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Ba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+mn-ea"/>
              </a:rPr>
              <a:t>2+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或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Sr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+mn-ea"/>
              </a:rPr>
              <a:t>2+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将会产生白色沉淀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活动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8</a:t>
            </a:r>
          </a:p>
          <a:p>
            <a:pPr algn="l">
              <a:buFont typeface="Wingdings" pitchFamily="2" charset="2"/>
              <a:buChar char="Ø"/>
            </a:pPr>
            <a:r>
              <a:rPr lang="zh-CN" altLang="en-US" sz="28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砖红色火焰，说明含有钙元素。</a:t>
            </a:r>
            <a:endParaRPr lang="en-US" altLang="zh-CN" sz="2800" b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l"/>
            <a:endParaRPr lang="en-MY" sz="3600" dirty="0"/>
          </a:p>
        </p:txBody>
      </p:sp>
    </p:spTree>
    <p:extLst>
      <p:ext uri="{BB962C8B-B14F-4D97-AF65-F5344CB8AC3E}">
        <p14:creationId xmlns="" xmlns:p14="http://schemas.microsoft.com/office/powerpoint/2010/main" val="242109852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514350" indent="-514350" algn="l">
              <a:buAutoNum type="arabicPeriod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B </a:t>
            </a:r>
          </a:p>
          <a:p>
            <a:pPr marL="514350" indent="-514350" algn="l">
              <a:buAutoNum type="arabicPeriod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B </a:t>
            </a:r>
          </a:p>
          <a:p>
            <a:pPr marL="514350" indent="-514350" algn="l">
              <a:buAutoNum type="arabicPeriod"/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AB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金属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酸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盐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氢气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C	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碳酸盐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酸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盐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水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D 	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酸碱中和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盐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水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Ans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: D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4.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石灰浆成分氢氧化钙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Ans:A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选择题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886200" y="2286000"/>
            <a:ext cx="1905000" cy="457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419600" y="2819400"/>
            <a:ext cx="2514600" cy="457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886200" y="3352800"/>
            <a:ext cx="1905000" cy="457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5. A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密度：碱金属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&lt;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水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&lt;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碱土金属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B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碱金属熔点低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镁不需要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Ans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：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D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6. A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氧化物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B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碱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酸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Ans:D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7. B</a:t>
            </a: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选择题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8. 2x+4-8 =0	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	   x =2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9. A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正确，碳酸氢钠遇热产生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，镁条能在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中继续燃烧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BC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铁或铝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D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产物为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C</a:t>
            </a: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选择题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 fontScale="92500" lnSpcReduction="20000"/>
          </a:bodyPr>
          <a:lstStyle/>
          <a:p>
            <a:pPr marL="514350" indent="-514350" algn="l">
              <a:buFont typeface="+mj-lt"/>
              <a:buAutoNum type="arabicParenR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烧碱：氢氧化钠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AutoNum type="arabicParenR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纯碱：碳酸钠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AutoNum type="arabicParenR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小苏打：碳酸氢钠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buAutoNum type="arabicParenR"/>
            </a:pP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石灰乳：氢氧化钙的悬浊液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将四种物质分别进行焰色试验，火焰呈砖红色的是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，无特别焰色的是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在钙盐溶液中分别加入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BaCl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溶液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，有白色沉淀产生的是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，无明显现象的是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CaSO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BaCl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BaSO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CaCl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在镁盐溶液中分别加入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BaCl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溶液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，有白色沉淀产生的是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，无明显现象的是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 MgSO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BaCl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BaSO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作答题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58924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3.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因为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的熔点高达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2852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C,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高于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的熔点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714</a:t>
            </a:r>
            <a:r>
              <a:rPr lang="en-US" altLang="zh-CN" sz="2800" b="1" baseline="30000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C,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欲使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变成熔融状态需要消耗很多能量。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4. 2 Mg + 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+ 2HCl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</a:t>
            </a:r>
            <a:r>
              <a:rPr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2NaOH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Mg(OH)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+ 2NaCl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Mg(OH)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2HCl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+ 2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Ca + 2H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Ca(OH)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Ca(OH)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CaCO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CaCO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	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CaO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CaO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  Ca(OH)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作答题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2895600" y="25146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 bwMode="auto">
          <a:xfrm>
            <a:off x="2819400" y="5486400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2514600" y="56388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5. (1) 4,3,2,5,1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(2) F,E,D,C,M,N,A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(3)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H,Cu,Mg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(4)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浓硫酸：去除水份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	 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饱和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NaOH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溶液：去除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	 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+ 2NaOH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 Na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	 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去除氧气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2Cu+ 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2CuO</a:t>
            </a: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(5) 3Mg + N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 Mg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N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</a:p>
          <a:p>
            <a:pPr marL="514350" indent="-514350" algn="l"/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	(6) N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作答题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268760"/>
            <a:ext cx="8915400" cy="5120792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6. (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1)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作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为制造碱的原料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CaCO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 	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CaO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+ CO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	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CaO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+ H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O 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Ca(OH)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(2)MgCl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(l)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电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解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Mg(s) + 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(g)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(3)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加入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MgCl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溶液至过量，过滤，即可除去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Ca(OH)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 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(4)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  <a:sym typeface="Wingdings" pitchFamily="2" charset="2"/>
              </a:rPr>
              <a:t>海边</a:t>
            </a:r>
            <a:endParaRPr lang="en-US" altLang="zh-CN" sz="2800" b="1" dirty="0" smtClean="0">
              <a:solidFill>
                <a:schemeClr val="tx1"/>
              </a:solidFill>
              <a:latin typeface="+mn-ea"/>
              <a:sym typeface="Wingdings" pitchFamily="2" charset="2"/>
            </a:endParaRPr>
          </a:p>
          <a:p>
            <a:pPr marL="514350" indent="-514350" algn="l">
              <a:lnSpc>
                <a:spcPct val="150000"/>
              </a:lnSpc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作答题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sp>
        <p:nvSpPr>
          <p:cNvPr id="9" name="Isosceles Triangle 8"/>
          <p:cNvSpPr/>
          <p:nvPr/>
        </p:nvSpPr>
        <p:spPr bwMode="auto">
          <a:xfrm>
            <a:off x="2286000" y="2284412"/>
            <a:ext cx="228600" cy="1524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1981200" y="24368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2514600" y="3886200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7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(1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) 2 Mg +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3 Mg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+ N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燃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 </a:t>
            </a: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	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Mg + CO</a:t>
            </a:r>
            <a:r>
              <a:rPr lang="en-US" sz="2800" b="1" baseline="-25000" dirty="0" smtClean="0">
                <a:solidFill>
                  <a:schemeClr val="tx1"/>
                </a:solidFill>
                <a:latin typeface="+mn-ea"/>
              </a:rPr>
              <a:t>2  </a:t>
            </a:r>
            <a:r>
              <a:rPr lang="zh-CN" altLang="en-US" sz="2800" b="1" baseline="30000" dirty="0" smtClean="0">
                <a:solidFill>
                  <a:schemeClr val="tx1"/>
                </a:solidFill>
                <a:latin typeface="+mn-ea"/>
              </a:rPr>
              <a:t>点燃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 2 </a:t>
            </a:r>
            <a:r>
              <a:rPr lang="en-US" altLang="zh-CN" sz="2800" b="1" dirty="0" err="1" smtClean="0">
                <a:solidFill>
                  <a:schemeClr val="tx1"/>
                </a:solidFill>
                <a:latin typeface="+mn-ea"/>
              </a:rPr>
              <a:t>MgO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+ C </a:t>
            </a:r>
            <a:endParaRPr lang="en-US" altLang="zh-CN" sz="2800" b="1" baseline="-25000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	(2)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剧烈燃烧，生成白色粉末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(3)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事实不是这样。因为氧气比氮气活泼，所以镁条在空气中燃烧时产生的氧化镁比较多。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(4)m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3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= m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 &gt; m</a:t>
            </a:r>
            <a:r>
              <a:rPr lang="en-US" altLang="zh-CN" sz="2800" b="1" baseline="-25000" dirty="0" smtClean="0">
                <a:solidFill>
                  <a:schemeClr val="tx1"/>
                </a:solidFill>
                <a:latin typeface="+mn-ea"/>
              </a:rPr>
              <a:t>2</a:t>
            </a:r>
          </a:p>
          <a:p>
            <a:pPr marL="514350" indent="-514350" algn="l">
              <a:lnSpc>
                <a:spcPct val="150000"/>
              </a:lnSpc>
            </a:pP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作答题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657600" y="17510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 bwMode="auto">
          <a:xfrm>
            <a:off x="3429000" y="24368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 bwMode="auto">
          <a:xfrm>
            <a:off x="3505200" y="3198812"/>
            <a:ext cx="838200" cy="1588"/>
          </a:xfrm>
          <a:prstGeom prst="straightConnector1">
            <a:avLst/>
          </a:prstGeom>
          <a:ln>
            <a:solidFill>
              <a:schemeClr val="tx1">
                <a:alpha val="9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1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268760"/>
            <a:ext cx="8079432" cy="5120792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8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.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1)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钡与水的反应更加剧烈，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因为原子半径：钡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&gt;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铍，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原子核对价电子的吸引力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: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钡 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&lt; 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铍，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钡更易失去电子，性质更活泼。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(2) </a:t>
            </a:r>
            <a:r>
              <a:rPr lang="zh-CN" altLang="en-US" sz="2800" b="1" smtClean="0">
                <a:solidFill>
                  <a:schemeClr val="tx1"/>
                </a:solidFill>
                <a:latin typeface="+mn-ea"/>
              </a:rPr>
              <a:t>金属钡要保存在煤油中，并且密封，防止与空气和水接触。</a:t>
            </a:r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  <a:p>
            <a:pPr marL="514350" indent="-514350" algn="l"/>
            <a:endParaRPr lang="en-US" altLang="zh-CN" sz="2800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04800" y="76200"/>
            <a:ext cx="8229600" cy="1442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b="1" dirty="0" smtClean="0">
                <a:latin typeface="楷体" pitchFamily="49" charset="-122"/>
                <a:ea typeface="楷体" pitchFamily="49" charset="-122"/>
                <a:cs typeface="+mj-cs"/>
              </a:rPr>
              <a:t>作答题</a:t>
            </a:r>
            <a:endParaRPr kumimoji="0" lang="en-MY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57865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6096261</TotalTime>
  <Words>1635</Words>
  <Application>Microsoft Office PowerPoint</Application>
  <PresentationFormat>On-screen Show (4:3)</PresentationFormat>
  <Paragraphs>308</Paragraphs>
  <Slides>46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第10章 IIA族元素 镁和钙</vt:lpstr>
      <vt:lpstr>10.1 镁和钙的性质</vt:lpstr>
      <vt:lpstr>光卤石 KCl·MgCl2·6H20 </vt:lpstr>
      <vt:lpstr>白云石 MgCO3·CaCO3</vt:lpstr>
      <vt:lpstr>菱镁矿 MgCO3 </vt:lpstr>
      <vt:lpstr>橄榄石 Mg2SiO4 </vt:lpstr>
      <vt:lpstr>     石棉 Mg (Si4O10) (OH8) </vt:lpstr>
      <vt:lpstr>萤石   CaF2 </vt:lpstr>
      <vt:lpstr>石灰石  CaCO3  </vt:lpstr>
      <vt:lpstr>方解石 CaCO3 </vt:lpstr>
      <vt:lpstr>白垩（è） </vt:lpstr>
      <vt:lpstr>大理石 </vt:lpstr>
      <vt:lpstr>石膏 CaSO4 </vt:lpstr>
      <vt:lpstr>硅酸盐  </vt:lpstr>
      <vt:lpstr>磷酸盐 </vt:lpstr>
      <vt:lpstr>观察思考</vt:lpstr>
      <vt:lpstr>交流分享</vt:lpstr>
      <vt:lpstr>10.1.1  镁和钙的物理性质</vt:lpstr>
      <vt:lpstr>与同周期的碱金属比较</vt:lpstr>
      <vt:lpstr>10.1.2 镁和钙的化学性质</vt:lpstr>
      <vt:lpstr>Slide 21</vt:lpstr>
      <vt:lpstr>Slide 22</vt:lpstr>
      <vt:lpstr>Slide 23</vt:lpstr>
      <vt:lpstr>Slide 24</vt:lpstr>
      <vt:lpstr>Slide 25</vt:lpstr>
      <vt:lpstr>Slide 26</vt:lpstr>
      <vt:lpstr>10.2 镁的重要化合物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10.4.1镁离子的检验</vt:lpstr>
      <vt:lpstr>10.4.2钙离子的检验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User56</dc:creator>
  <cp:lastModifiedBy>user</cp:lastModifiedBy>
  <cp:revision>108</cp:revision>
  <dcterms:created xsi:type="dcterms:W3CDTF">2016-03-18T09:11:34Z</dcterms:created>
  <dcterms:modified xsi:type="dcterms:W3CDTF">2018-11-26T13:13:27Z</dcterms:modified>
</cp:coreProperties>
</file>