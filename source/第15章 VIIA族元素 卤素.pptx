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314" r:id="rId6"/>
    <p:sldId id="315" r:id="rId7"/>
    <p:sldId id="263" r:id="rId8"/>
    <p:sldId id="316" r:id="rId9"/>
    <p:sldId id="264" r:id="rId10"/>
    <p:sldId id="265" r:id="rId11"/>
    <p:sldId id="287" r:id="rId12"/>
    <p:sldId id="288" r:id="rId13"/>
    <p:sldId id="317" r:id="rId14"/>
    <p:sldId id="289" r:id="rId15"/>
    <p:sldId id="290" r:id="rId16"/>
    <p:sldId id="291" r:id="rId17"/>
    <p:sldId id="292" r:id="rId18"/>
    <p:sldId id="293" r:id="rId19"/>
    <p:sldId id="318" r:id="rId20"/>
    <p:sldId id="306" r:id="rId21"/>
    <p:sldId id="266" r:id="rId22"/>
    <p:sldId id="294" r:id="rId23"/>
    <p:sldId id="299" r:id="rId24"/>
    <p:sldId id="300" r:id="rId25"/>
    <p:sldId id="319" r:id="rId26"/>
    <p:sldId id="295" r:id="rId27"/>
    <p:sldId id="296" r:id="rId28"/>
    <p:sldId id="320" r:id="rId29"/>
    <p:sldId id="304" r:id="rId30"/>
    <p:sldId id="305" r:id="rId31"/>
    <p:sldId id="297" r:id="rId32"/>
    <p:sldId id="301" r:id="rId33"/>
    <p:sldId id="302" r:id="rId34"/>
    <p:sldId id="303" r:id="rId35"/>
    <p:sldId id="307" r:id="rId36"/>
    <p:sldId id="308" r:id="rId37"/>
    <p:sldId id="321" r:id="rId38"/>
    <p:sldId id="309" r:id="rId39"/>
    <p:sldId id="310" r:id="rId40"/>
    <p:sldId id="311" r:id="rId41"/>
    <p:sldId id="322" r:id="rId42"/>
    <p:sldId id="312" r:id="rId43"/>
    <p:sldId id="313" r:id="rId44"/>
    <p:sldId id="323" r:id="rId45"/>
    <p:sldId id="324" r:id="rId46"/>
    <p:sldId id="325" r:id="rId47"/>
    <p:sldId id="326" r:id="rId48"/>
    <p:sldId id="328" r:id="rId49"/>
    <p:sldId id="327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336" r:id="rId58"/>
    <p:sldId id="338" r:id="rId59"/>
    <p:sldId id="339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9E0000"/>
    <a:srgbClr val="FF3399"/>
    <a:srgbClr val="660033"/>
    <a:srgbClr val="FFFF00"/>
    <a:srgbClr val="F7A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5" autoAdjust="0"/>
    <p:restoredTop sz="94615" autoAdjust="0"/>
  </p:normalViewPr>
  <p:slideViewPr>
    <p:cSldViewPr>
      <p:cViewPr varScale="1">
        <p:scale>
          <a:sx n="68" d="100"/>
          <a:sy n="68" d="100"/>
        </p:scale>
        <p:origin x="146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D2022-54B1-4728-89FE-7202A3F694E5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C098-A1D4-40E3-AD5A-A0BECC69FD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5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25C098-A1D4-40E3-AD5A-A0BECC69FD3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442A302F-7330-4C7A-8BBD-28A6F1FDA0A0}" type="datetimeFigureOut">
              <a:rPr lang="en-US" smtClean="0"/>
              <a:pPr/>
              <a:t>3/2/2020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1D43EB3-2C7C-4D00-9429-282BB18238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228600"/>
            <a:ext cx="7772400" cy="106680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第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15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章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VIIA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族：卤素</a:t>
            </a:r>
            <a:r>
              <a:rPr lang="zh-CN" altLang="en-US" sz="3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（</a:t>
            </a:r>
            <a:r>
              <a:rPr lang="en-US" altLang="zh-CN" sz="3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halogens</a:t>
            </a:r>
            <a:r>
              <a:rPr lang="zh-CN" altLang="en-US" sz="3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）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600200"/>
            <a:ext cx="6400800" cy="4648200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VIIA</a:t>
            </a:r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族</a:t>
            </a:r>
            <a:endParaRPr lang="en-US" altLang="zh-CN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3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氟</a:t>
            </a:r>
            <a:r>
              <a:rPr lang="en-US" altLang="zh-CN" sz="3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F</a:t>
            </a: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  <a:p>
            <a:r>
              <a:rPr lang="zh-CN" altLang="en-US" sz="30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氯</a:t>
            </a:r>
            <a:r>
              <a:rPr lang="en-US" altLang="zh-CN" sz="30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3000" b="1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</a:t>
            </a:r>
            <a:endParaRPr lang="en-US" altLang="zh-CN" sz="3000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3000" b="1" dirty="0">
                <a:solidFill>
                  <a:srgbClr val="9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溴 </a:t>
            </a:r>
            <a:r>
              <a:rPr lang="en-US" altLang="zh-CN" sz="3000" b="1" dirty="0">
                <a:solidFill>
                  <a:srgbClr val="9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</a:t>
            </a:r>
          </a:p>
          <a:p>
            <a:r>
              <a:rPr lang="zh-CN" altLang="en-US" sz="3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碘  </a:t>
            </a:r>
            <a:r>
              <a:rPr lang="en-US" altLang="zh-CN" sz="3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</a:p>
          <a:p>
            <a:r>
              <a:rPr lang="zh-CN" alt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砹  </a:t>
            </a:r>
            <a:r>
              <a:rPr lang="en-US" altLang="zh-CN" sz="30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</a:t>
            </a:r>
          </a:p>
          <a:p>
            <a:r>
              <a:rPr lang="en-US" altLang="zh-CN" sz="30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 </a:t>
            </a:r>
            <a:endParaRPr lang="en-US" sz="3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 descr="800px-Electron_shell_009_Fluorine_-_no_label.sv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5200" y="2133600"/>
            <a:ext cx="2362200" cy="2286000"/>
          </a:xfrm>
          <a:prstGeom prst="rect">
            <a:avLst/>
          </a:prstGeom>
        </p:spPr>
      </p:pic>
      <p:pic>
        <p:nvPicPr>
          <p:cNvPr id="9" name="Picture 8" descr="800px-Electron_shell_017_Chlorine_-_no_label.svg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19800" y="2057400"/>
            <a:ext cx="2286000" cy="2286000"/>
          </a:xfrm>
          <a:prstGeom prst="rect">
            <a:avLst/>
          </a:prstGeom>
        </p:spPr>
      </p:pic>
      <p:pic>
        <p:nvPicPr>
          <p:cNvPr id="10" name="Picture 9" descr="800px-Electron_shell_035_Bromine_-_no_label.svg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581400" y="4343400"/>
            <a:ext cx="2286000" cy="2286000"/>
          </a:xfrm>
          <a:prstGeom prst="rect">
            <a:avLst/>
          </a:prstGeom>
        </p:spPr>
      </p:pic>
      <p:pic>
        <p:nvPicPr>
          <p:cNvPr id="11" name="Picture 10" descr="Electron_shell_053_Iodine_-_no_label.svg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019800" y="4343400"/>
            <a:ext cx="2362200" cy="2362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71800" y="1579602"/>
            <a:ext cx="289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rgbClr val="FF0000"/>
                </a:solidFill>
              </a:rPr>
              <a:t>7</a:t>
            </a:r>
            <a:r>
              <a:rPr lang="zh-CN" altLang="en-US" sz="3000" dirty="0">
                <a:solidFill>
                  <a:srgbClr val="FF0000"/>
                </a:solidFill>
              </a:rPr>
              <a:t>个价电子</a:t>
            </a:r>
            <a:endParaRPr lang="en-US" sz="3000" dirty="0">
              <a:solidFill>
                <a:srgbClr val="FF0000"/>
              </a:solidFill>
            </a:endParaRPr>
          </a:p>
        </p:txBody>
      </p:sp>
      <p:pic>
        <p:nvPicPr>
          <p:cNvPr id="12" name="Picture 11" descr="im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524000"/>
            <a:ext cx="2438400" cy="2628596"/>
          </a:xfrm>
          <a:prstGeom prst="rect">
            <a:avLst/>
          </a:prstGeom>
        </p:spPr>
      </p:pic>
      <p:pic>
        <p:nvPicPr>
          <p:cNvPr id="14" name="Picture 13" descr="image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4343400"/>
            <a:ext cx="2489844" cy="2328863"/>
          </a:xfrm>
          <a:prstGeom prst="rect">
            <a:avLst/>
          </a:prstGeom>
        </p:spPr>
      </p:pic>
      <p:pic>
        <p:nvPicPr>
          <p:cNvPr id="15" name="Picture 14" descr="images (1)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4191000"/>
            <a:ext cx="2514600" cy="2429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7924800" cy="11430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同族元素的规律性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219200"/>
            <a:ext cx="749808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400" dirty="0">
                <a:solidFill>
                  <a:srgbClr val="FF0000"/>
                </a:solidFill>
              </a:rPr>
              <a:t>递增</a:t>
            </a:r>
            <a:r>
              <a:rPr lang="en-US" altLang="zh-CN" sz="3400" dirty="0"/>
              <a:t>			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3000" dirty="0"/>
              <a:t>原子序数</a:t>
            </a:r>
            <a:endParaRPr lang="en-US" altLang="zh-CN" sz="3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3000" dirty="0"/>
              <a:t>原子量</a:t>
            </a:r>
            <a:endParaRPr lang="en-US" altLang="zh-CN" sz="3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3000" dirty="0"/>
              <a:t>原子半径</a:t>
            </a:r>
            <a:endParaRPr lang="en-US" altLang="zh-CN" sz="3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3000" dirty="0"/>
              <a:t>电子层数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400" dirty="0">
                <a:solidFill>
                  <a:srgbClr val="FF0000"/>
                </a:solidFill>
              </a:rPr>
              <a:t>递减</a:t>
            </a:r>
            <a:endParaRPr lang="en-US" altLang="zh-CN" sz="3400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sz="3000" dirty="0"/>
              <a:t>电负性</a:t>
            </a:r>
            <a:endParaRPr lang="en-US" altLang="zh-CN" sz="3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3000" dirty="0"/>
              <a:t>氧化性</a:t>
            </a:r>
            <a:endParaRPr lang="en-US" altLang="zh-CN" sz="3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3000" dirty="0"/>
              <a:t>非金属性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4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655638"/>
            <a:ext cx="7498080" cy="868362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15.1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卤素的性质与用途</a:t>
            </a:r>
            <a:b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物理性质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氟气（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altLang="zh-CN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）：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淡黄色气体</a:t>
            </a:r>
            <a:endParaRPr lang="en-US" altLang="zh-C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氯气（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</a:t>
            </a:r>
            <a:r>
              <a:rPr lang="en-US" altLang="zh-CN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）：</a:t>
            </a:r>
            <a:r>
              <a:rPr lang="zh-CN" altLang="en-US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黄绿色气体</a:t>
            </a:r>
            <a:endParaRPr lang="en-US" altLang="zh-CN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溴（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</a:t>
            </a:r>
            <a:r>
              <a:rPr lang="en-US" altLang="zh-CN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）：</a:t>
            </a:r>
            <a:r>
              <a:rPr lang="zh-CN" altLang="en-US" b="1" dirty="0">
                <a:solidFill>
                  <a:srgbClr val="9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深红棕色液体</a:t>
            </a:r>
            <a:endParaRPr lang="en-US" altLang="zh-CN" b="1" dirty="0">
              <a:solidFill>
                <a:srgbClr val="9E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碘（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）：</a:t>
            </a: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紫黑色固体</a:t>
            </a:r>
            <a:endParaRPr lang="en-US" altLang="zh-CN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zh-CN" altLang="en-US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</a:t>
            </a:r>
            <a:endParaRPr lang="en-US" altLang="zh-CN" dirty="0">
              <a:solidFill>
                <a:srgbClr val="FF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zh-CN" altLang="en-US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为何它们熔点、沸点逐渐升高？</a:t>
            </a:r>
            <a:endParaRPr lang="en-US" dirty="0">
              <a:solidFill>
                <a:srgbClr val="FF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10400" y="190500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</a:rPr>
              <a:t>毒性</a:t>
            </a:r>
            <a:endParaRPr lang="en-US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rot="5400000" flipH="1" flipV="1">
            <a:off x="6286500" y="3695700"/>
            <a:ext cx="2209800" cy="1588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"/>
            <a:ext cx="7498080" cy="5410200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卤素的用途</a:t>
            </a:r>
            <a:r>
              <a:rPr lang="en-US" altLang="zh-CN" dirty="0"/>
              <a:t>(</a:t>
            </a:r>
            <a:r>
              <a:rPr lang="zh-CN" altLang="en-US" sz="1800" dirty="0"/>
              <a:t>看看就好</a:t>
            </a:r>
            <a:r>
              <a:rPr lang="en-US" altLang="zh-CN" dirty="0"/>
              <a:t>)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990600"/>
          <a:ext cx="7647305" cy="499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8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44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500" dirty="0"/>
                        <a:t>卤素</a:t>
                      </a:r>
                      <a:endParaRPr lang="en-US" sz="3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500" dirty="0"/>
                        <a:t>主要用途</a:t>
                      </a:r>
                      <a:endParaRPr lang="en-US" sz="3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7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/>
                        <a:t>氟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600" dirty="0">
                          <a:latin typeface="Calibri"/>
                          <a:ea typeface="宋体"/>
                          <a:cs typeface="Times New Roman"/>
                        </a:rPr>
                        <a:t>制特种塑料，牙膏添加剂等。</a:t>
                      </a:r>
                      <a:endParaRPr lang="en-US" sz="26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76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/>
                        <a:t>氯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600" dirty="0">
                          <a:latin typeface="Calibri"/>
                          <a:ea typeface="宋体"/>
                          <a:cs typeface="Times New Roman"/>
                        </a:rPr>
                        <a:t>杀菌消毒剂，漂白剂，制农药，塑料，合成洗涤剂，染料，盐酸等。</a:t>
                      </a:r>
                      <a:endParaRPr lang="en-US" sz="26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7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/>
                        <a:t>溴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600" dirty="0">
                          <a:latin typeface="Calibri"/>
                          <a:ea typeface="宋体"/>
                          <a:cs typeface="Times New Roman"/>
                        </a:rPr>
                        <a:t>制药品，染料，照相材料，汽油抗震剂等。</a:t>
                      </a:r>
                      <a:endParaRPr lang="en-US" sz="26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97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dirty="0"/>
                        <a:t>碘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600" dirty="0">
                          <a:latin typeface="Calibri"/>
                          <a:ea typeface="宋体"/>
                          <a:cs typeface="Times New Roman"/>
                        </a:rPr>
                        <a:t>消毒，制药品，感光材料，特种染料等。</a:t>
                      </a:r>
                      <a:endParaRPr lang="en-US" sz="26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655638"/>
            <a:ext cx="7498080" cy="868362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15.1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卤素的性质与用途</a:t>
            </a:r>
            <a:b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化学性质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活泼的非金属元素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在自然界中以化合态存在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价电子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个，发生反应时易得电子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altLang="zh-C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u="sng" dirty="0"/>
              <a:t>与金属反应</a:t>
            </a:r>
            <a:br>
              <a:rPr lang="en-US" altLang="zh-CN" b="1" u="sng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dirty="0"/>
              <a:t>活动</a:t>
            </a:r>
            <a:r>
              <a:rPr lang="en-US" altLang="zh-CN" dirty="0"/>
              <a:t>1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现象：剧烈燃烧、发光发热、产生大量白烟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活动</a:t>
            </a:r>
            <a:r>
              <a:rPr lang="en-US" altLang="zh-CN" dirty="0"/>
              <a:t>2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现象：剧烈燃烧、发光发热、产生大量棕褐色烟，加水后溶液呈黄色。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活动</a:t>
            </a:r>
            <a:r>
              <a:rPr lang="en-US" altLang="zh-CN" dirty="0"/>
              <a:t>3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现象：剧烈燃烧、发光发热、产生大量棕黄色烟，加水后溶液呈蓝绿色。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u="sng" dirty="0"/>
              <a:t>与金属反应</a:t>
            </a:r>
            <a:br>
              <a:rPr lang="en-US" altLang="zh-CN" b="1" u="sng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zh-CN" altLang="en-US" dirty="0"/>
              <a:t>氟气能跟所有金属作用</a:t>
            </a:r>
            <a:r>
              <a:rPr lang="zh-CN" altLang="en-US" sz="3500" b="1" dirty="0">
                <a:solidFill>
                  <a:srgbClr val="FF0000"/>
                </a:solidFill>
              </a:rPr>
              <a:t>（很危险）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氯能跟所有的金属反应，有些需要加热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en-US" altLang="zh-CN" dirty="0"/>
              <a:t>   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溴和碘能与除贵金属（金，银，铂等）之外的金属元素化合。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能反应的有些需要</a:t>
            </a:r>
            <a:r>
              <a:rPr lang="zh-CN" altLang="en-US" dirty="0">
                <a:solidFill>
                  <a:srgbClr val="FF0000"/>
                </a:solidFill>
              </a:rPr>
              <a:t>加热</a:t>
            </a:r>
            <a:r>
              <a:rPr lang="zh-CN" altLang="en-US" dirty="0"/>
              <a:t>；有些要在</a:t>
            </a:r>
            <a:r>
              <a:rPr lang="zh-CN" altLang="en-US" dirty="0">
                <a:solidFill>
                  <a:srgbClr val="FF0000"/>
                </a:solidFill>
              </a:rPr>
              <a:t>高温</a:t>
            </a:r>
            <a:r>
              <a:rPr lang="zh-CN" altLang="en-US" dirty="0"/>
              <a:t>下进行。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28600"/>
            <a:ext cx="7498080" cy="914400"/>
          </a:xfrm>
        </p:spPr>
        <p:txBody>
          <a:bodyPr>
            <a:normAutofit/>
          </a:bodyPr>
          <a:lstStyle/>
          <a:p>
            <a:r>
              <a:rPr lang="zh-CN" altLang="en-US" sz="3900" b="1" u="sng" dirty="0"/>
              <a:t>与非金属反应</a:t>
            </a:r>
            <a:endParaRPr lang="en-US" sz="39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/>
              <a:t>交流分享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燃烧一定需要氧气吗？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燃烧属于什么反应类型？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燃烧不一定要有氧气</a:t>
            </a:r>
            <a:r>
              <a:rPr lang="zh-CN" altLang="en-US"/>
              <a:t>参加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燃烧本质是氧化还原反应。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所有发光发热的剧烈化学反应的可以称为燃烧。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28600"/>
            <a:ext cx="7498080" cy="914400"/>
          </a:xfrm>
        </p:spPr>
        <p:txBody>
          <a:bodyPr>
            <a:normAutofit/>
          </a:bodyPr>
          <a:lstStyle/>
          <a:p>
            <a:r>
              <a:rPr lang="zh-CN" altLang="en-US" sz="3900" b="1" u="sng" dirty="0"/>
              <a:t>与非金属反应</a:t>
            </a:r>
            <a:endParaRPr lang="en-US" sz="39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zh-CN" altLang="en-US" dirty="0"/>
              <a:t>氟几乎与所有非金属元素 都能直接化合。甚至在低温下仍可以 与硫、磷、硅、碳等猛烈反应产生火焰。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氯可与大多数非金属直接化合，作用程度不如氟猛烈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溴和碘的化学活性又较氯差些。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7498080" cy="914400"/>
          </a:xfrm>
        </p:spPr>
        <p:txBody>
          <a:bodyPr>
            <a:normAutofit/>
          </a:bodyPr>
          <a:lstStyle/>
          <a:p>
            <a:r>
              <a:rPr lang="zh-CN" altLang="en-US" sz="3900" b="1" u="sng" dirty="0"/>
              <a:t>与氢反应</a:t>
            </a:r>
            <a:endParaRPr lang="en-US" sz="39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914400"/>
            <a:ext cx="7498080" cy="57150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800" dirty="0">
                <a:latin typeface="Bodoni MT" pitchFamily="18" charset="0"/>
              </a:rPr>
              <a:t>氟：在低温和</a:t>
            </a:r>
            <a:r>
              <a:rPr lang="zh-CN" altLang="en-US" sz="2800" dirty="0">
                <a:solidFill>
                  <a:srgbClr val="0070C0"/>
                </a:solidFill>
                <a:latin typeface="Bodoni MT" pitchFamily="18" charset="0"/>
              </a:rPr>
              <a:t>黑暗</a:t>
            </a:r>
            <a:r>
              <a:rPr lang="zh-CN" altLang="en-US" sz="2800" dirty="0">
                <a:latin typeface="Bodoni MT" pitchFamily="18" charset="0"/>
              </a:rPr>
              <a:t>中即可反应，并放出大</a:t>
            </a:r>
            <a:r>
              <a:rPr lang="en-US" altLang="zh-CN" sz="2800" dirty="0">
                <a:latin typeface="Bodoni MT" pitchFamily="18" charset="0"/>
              </a:rPr>
              <a:t>	   </a:t>
            </a:r>
            <a:r>
              <a:rPr lang="zh-CN" altLang="en-US" sz="2800" dirty="0">
                <a:latin typeface="Bodoni MT" pitchFamily="18" charset="0"/>
              </a:rPr>
              <a:t>热引起爆炸。</a:t>
            </a:r>
            <a:endParaRPr lang="en-US" altLang="zh-CN" sz="2800" dirty="0">
              <a:latin typeface="Bodoni MT" pitchFamily="18" charset="0"/>
            </a:endParaRPr>
          </a:p>
          <a:p>
            <a:pPr>
              <a:buNone/>
            </a:pPr>
            <a:r>
              <a:rPr lang="en-US" altLang="zh-CN" sz="2800" dirty="0">
                <a:latin typeface="Bodoni MT" pitchFamily="18" charset="0"/>
              </a:rPr>
              <a:t>		H</a:t>
            </a:r>
            <a:r>
              <a:rPr lang="en-US" altLang="zh-CN" sz="2800" baseline="-25000" dirty="0">
                <a:latin typeface="Bodoni MT" pitchFamily="18" charset="0"/>
              </a:rPr>
              <a:t>2</a:t>
            </a:r>
            <a:r>
              <a:rPr lang="en-US" altLang="zh-CN" sz="2800" dirty="0">
                <a:latin typeface="Bodoni MT" pitchFamily="18" charset="0"/>
              </a:rPr>
              <a:t> +  F</a:t>
            </a:r>
            <a:r>
              <a:rPr lang="en-US" altLang="zh-CN" sz="2800" baseline="-25000" dirty="0">
                <a:latin typeface="Bodoni MT" pitchFamily="18" charset="0"/>
              </a:rPr>
              <a:t>2</a:t>
            </a:r>
            <a:r>
              <a:rPr lang="en-US" altLang="zh-CN" sz="2800" dirty="0">
                <a:latin typeface="Bodoni MT" pitchFamily="18" charset="0"/>
              </a:rPr>
              <a:t>  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 2 HF</a:t>
            </a:r>
            <a:endParaRPr lang="en-US" altLang="zh-CN" sz="2800" dirty="0">
              <a:latin typeface="Bodoni MT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sz="2800" dirty="0">
                <a:latin typeface="Bodoni MT" pitchFamily="18" charset="0"/>
              </a:rPr>
              <a:t>氯：在常温及散射光照时缓慢进行；但在加热或强</a:t>
            </a:r>
            <a:r>
              <a:rPr lang="zh-CN" altLang="en-US" sz="2800" dirty="0">
                <a:solidFill>
                  <a:srgbClr val="0070C0"/>
                </a:solidFill>
                <a:latin typeface="Bodoni MT" pitchFamily="18" charset="0"/>
              </a:rPr>
              <a:t>光照</a:t>
            </a:r>
            <a:r>
              <a:rPr lang="zh-CN" altLang="en-US" sz="2800" dirty="0">
                <a:latin typeface="Bodoni MT" pitchFamily="18" charset="0"/>
              </a:rPr>
              <a:t>射时</a:t>
            </a:r>
            <a:r>
              <a:rPr lang="zh-CN" altLang="en-US" sz="2800" b="1" dirty="0">
                <a:solidFill>
                  <a:srgbClr val="7030A0"/>
                </a:solidFill>
                <a:latin typeface="Bodoni MT" pitchFamily="18" charset="0"/>
              </a:rPr>
              <a:t>反应迅速并发生爆炸</a:t>
            </a:r>
            <a:r>
              <a:rPr lang="zh-CN" altLang="en-US" sz="2800" dirty="0">
                <a:latin typeface="Bodoni MT" pitchFamily="18" charset="0"/>
              </a:rPr>
              <a:t>。</a:t>
            </a:r>
            <a:endParaRPr lang="en-US" altLang="zh-CN" sz="2800" dirty="0">
              <a:latin typeface="Bodoni MT" pitchFamily="18" charset="0"/>
            </a:endParaRPr>
          </a:p>
          <a:p>
            <a:pPr>
              <a:buNone/>
            </a:pPr>
            <a:r>
              <a:rPr lang="en-US" altLang="zh-CN" sz="2800" dirty="0">
                <a:latin typeface="Bodoni MT" pitchFamily="18" charset="0"/>
              </a:rPr>
              <a:t>		H</a:t>
            </a:r>
            <a:r>
              <a:rPr lang="en-US" altLang="zh-CN" sz="2800" baseline="-25000" dirty="0">
                <a:latin typeface="Bodoni MT" pitchFamily="18" charset="0"/>
              </a:rPr>
              <a:t>2</a:t>
            </a:r>
            <a:r>
              <a:rPr lang="en-US" altLang="zh-CN" sz="2800" dirty="0">
                <a:latin typeface="Bodoni MT" pitchFamily="18" charset="0"/>
              </a:rPr>
              <a:t> +  Cl</a:t>
            </a:r>
            <a:r>
              <a:rPr lang="en-US" altLang="zh-CN" sz="2800" baseline="-25000" dirty="0">
                <a:latin typeface="Bodoni MT" pitchFamily="18" charset="0"/>
              </a:rPr>
              <a:t>2 </a:t>
            </a:r>
            <a:r>
              <a:rPr lang="en-US" altLang="zh-CN" sz="2800" baseline="30000" dirty="0">
                <a:latin typeface="Bodoni MT" pitchFamily="18" charset="0"/>
              </a:rPr>
              <a:t>  </a:t>
            </a:r>
            <a:r>
              <a:rPr lang="en-US" altLang="zh-CN" sz="2800" dirty="0">
                <a:latin typeface="Bodoni MT" pitchFamily="18" charset="0"/>
              </a:rPr>
              <a:t> 	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	2 </a:t>
            </a:r>
            <a:r>
              <a:rPr lang="en-US" altLang="zh-CN" sz="2800" dirty="0" err="1">
                <a:latin typeface="Bodoni MT" pitchFamily="18" charset="0"/>
                <a:sym typeface="Wingdings" pitchFamily="2" charset="2"/>
              </a:rPr>
              <a:t>HCl</a:t>
            </a:r>
            <a:endParaRPr lang="en-US" altLang="zh-CN" sz="2800" dirty="0">
              <a:latin typeface="Bodoni MT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sz="2800" dirty="0">
                <a:latin typeface="Bodoni MT" pitchFamily="18" charset="0"/>
              </a:rPr>
              <a:t>溴：在</a:t>
            </a:r>
            <a:r>
              <a:rPr lang="zh-CN" altLang="en-US" sz="2800" dirty="0">
                <a:solidFill>
                  <a:srgbClr val="0070C0"/>
                </a:solidFill>
                <a:latin typeface="Bodoni MT" pitchFamily="18" charset="0"/>
              </a:rPr>
              <a:t>加热</a:t>
            </a:r>
            <a:r>
              <a:rPr lang="zh-CN" altLang="en-US" sz="2800" dirty="0">
                <a:latin typeface="Bodoni MT" pitchFamily="18" charset="0"/>
              </a:rPr>
              <a:t>时才能相互作用。</a:t>
            </a:r>
            <a:endParaRPr lang="en-US" altLang="zh-CN" sz="2800" dirty="0">
              <a:latin typeface="Bodoni MT" pitchFamily="18" charset="0"/>
            </a:endParaRPr>
          </a:p>
          <a:p>
            <a:pPr>
              <a:buNone/>
            </a:pPr>
            <a:r>
              <a:rPr lang="en-US" altLang="zh-CN" sz="2800" dirty="0">
                <a:latin typeface="Bodoni MT" pitchFamily="18" charset="0"/>
              </a:rPr>
              <a:t>		H</a:t>
            </a:r>
            <a:r>
              <a:rPr lang="en-US" altLang="zh-CN" sz="2800" baseline="-25000" dirty="0">
                <a:latin typeface="Bodoni MT" pitchFamily="18" charset="0"/>
              </a:rPr>
              <a:t>2</a:t>
            </a:r>
            <a:r>
              <a:rPr lang="en-US" altLang="zh-CN" sz="2800" dirty="0">
                <a:latin typeface="Bodoni MT" pitchFamily="18" charset="0"/>
              </a:rPr>
              <a:t> +  Br</a:t>
            </a:r>
            <a:r>
              <a:rPr lang="en-US" altLang="zh-CN" sz="2800" baseline="-25000" dirty="0">
                <a:latin typeface="Bodoni MT" pitchFamily="18" charset="0"/>
              </a:rPr>
              <a:t>2</a:t>
            </a:r>
            <a:r>
              <a:rPr lang="en-US" altLang="zh-CN" sz="2800" dirty="0">
                <a:latin typeface="Bodoni MT" pitchFamily="18" charset="0"/>
              </a:rPr>
              <a:t>  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           2 </a:t>
            </a:r>
            <a:r>
              <a:rPr lang="en-US" altLang="zh-CN" sz="2800" dirty="0" err="1">
                <a:latin typeface="Bodoni MT" pitchFamily="18" charset="0"/>
                <a:sym typeface="Wingdings" pitchFamily="2" charset="2"/>
              </a:rPr>
              <a:t>HBr</a:t>
            </a:r>
            <a:endParaRPr lang="en-US" altLang="zh-CN" sz="2800" dirty="0">
              <a:latin typeface="Bodoni MT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sz="2800" dirty="0">
                <a:latin typeface="Bodoni MT" pitchFamily="18" charset="0"/>
              </a:rPr>
              <a:t>碘：在</a:t>
            </a:r>
            <a:r>
              <a:rPr lang="zh-CN" altLang="en-US" sz="2800" dirty="0">
                <a:solidFill>
                  <a:srgbClr val="0070C0"/>
                </a:solidFill>
                <a:latin typeface="Bodoni MT" pitchFamily="18" charset="0"/>
              </a:rPr>
              <a:t>高温及催化剂</a:t>
            </a:r>
            <a:r>
              <a:rPr lang="zh-CN" altLang="en-US" sz="2800" dirty="0">
                <a:latin typeface="Bodoni MT" pitchFamily="18" charset="0"/>
              </a:rPr>
              <a:t>的作用下才能反应，而且反应不完全，因为高温下生成的碘化氢不稳定又分解成氢气和碘。</a:t>
            </a:r>
            <a:endParaRPr lang="en-US" altLang="zh-CN" sz="2800" dirty="0">
              <a:latin typeface="Bodoni MT" pitchFamily="18" charset="0"/>
            </a:endParaRPr>
          </a:p>
          <a:p>
            <a:pPr>
              <a:buNone/>
            </a:pPr>
            <a:r>
              <a:rPr lang="en-US" altLang="zh-CN" sz="2800" dirty="0">
                <a:latin typeface="Bodoni MT" pitchFamily="18" charset="0"/>
              </a:rPr>
              <a:t>		H</a:t>
            </a:r>
            <a:r>
              <a:rPr lang="en-US" altLang="zh-CN" sz="2800" baseline="-25000" dirty="0">
                <a:latin typeface="Bodoni MT" pitchFamily="18" charset="0"/>
              </a:rPr>
              <a:t>2</a:t>
            </a:r>
            <a:r>
              <a:rPr lang="en-US" altLang="zh-CN" sz="2800" dirty="0">
                <a:latin typeface="Bodoni MT" pitchFamily="18" charset="0"/>
              </a:rPr>
              <a:t> +  I</a:t>
            </a:r>
            <a:r>
              <a:rPr lang="en-US" altLang="zh-CN" sz="2800" baseline="-25000" dirty="0">
                <a:latin typeface="Bodoni MT" pitchFamily="18" charset="0"/>
              </a:rPr>
              <a:t>2</a:t>
            </a:r>
            <a:r>
              <a:rPr lang="en-US" altLang="zh-CN" sz="2800" dirty="0">
                <a:latin typeface="Bodoni MT" pitchFamily="18" charset="0"/>
              </a:rPr>
              <a:t> 		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2 HI</a:t>
            </a:r>
            <a:endParaRPr lang="en-US" sz="2800" dirty="0">
              <a:latin typeface="Bodoni MT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038600" y="3276600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29365" y="297180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光照</a:t>
            </a:r>
            <a:endParaRPr lang="en-US" sz="16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038600" y="4233446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4343400" y="4038600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114800" y="5865812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038600" y="5943600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>
            <a:off x="4495800" y="6019800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366610" y="5605046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Pt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/>
      <p:bldP spid="9" grpId="0" animBg="1"/>
      <p:bldP spid="12" grpId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>
                <a:latin typeface="Bell MT" pitchFamily="18" charset="0"/>
              </a:rPr>
              <a:t>卤化氢</a:t>
            </a:r>
            <a:r>
              <a:rPr lang="en-US" altLang="zh-CN" dirty="0">
                <a:latin typeface="Bell MT" pitchFamily="18" charset="0"/>
              </a:rPr>
              <a:t>			</a:t>
            </a:r>
            <a:r>
              <a:rPr lang="zh-CN" altLang="en-US" dirty="0">
                <a:latin typeface="Bell MT" pitchFamily="18" charset="0"/>
              </a:rPr>
              <a:t>氢卤酸</a:t>
            </a:r>
            <a:endParaRPr lang="en-US" dirty="0">
              <a:latin typeface="Bell MT" pitchFamily="18" charset="0"/>
            </a:endParaRPr>
          </a:p>
          <a:p>
            <a:pPr>
              <a:buNone/>
            </a:pPr>
            <a:r>
              <a:rPr lang="en-US" dirty="0">
                <a:latin typeface="Bell MT" pitchFamily="18" charset="0"/>
              </a:rPr>
              <a:t>HF(g) 			</a:t>
            </a:r>
            <a:r>
              <a:rPr lang="en-US" altLang="zh-CN" dirty="0">
                <a:latin typeface="Bell MT" pitchFamily="18" charset="0"/>
              </a:rPr>
              <a:t>HF(</a:t>
            </a:r>
            <a:r>
              <a:rPr lang="en-US" altLang="zh-CN" dirty="0" err="1">
                <a:latin typeface="Bell MT" pitchFamily="18" charset="0"/>
              </a:rPr>
              <a:t>aq</a:t>
            </a:r>
            <a:r>
              <a:rPr lang="en-US" altLang="zh-CN" dirty="0">
                <a:latin typeface="Bell MT" pitchFamily="18" charset="0"/>
              </a:rPr>
              <a:t>)</a:t>
            </a:r>
            <a:endParaRPr lang="en-US" dirty="0">
              <a:latin typeface="Bell MT" pitchFamily="18" charset="0"/>
            </a:endParaRPr>
          </a:p>
          <a:p>
            <a:pPr>
              <a:buNone/>
            </a:pPr>
            <a:r>
              <a:rPr lang="en-US" dirty="0" err="1">
                <a:latin typeface="Bell MT" pitchFamily="18" charset="0"/>
              </a:rPr>
              <a:t>HCl</a:t>
            </a:r>
            <a:r>
              <a:rPr lang="en-US" dirty="0">
                <a:latin typeface="Bell MT" pitchFamily="18" charset="0"/>
              </a:rPr>
              <a:t>(g)			</a:t>
            </a:r>
            <a:r>
              <a:rPr lang="en-US" dirty="0" err="1">
                <a:latin typeface="Bell MT" pitchFamily="18" charset="0"/>
              </a:rPr>
              <a:t>HCl</a:t>
            </a:r>
            <a:r>
              <a:rPr lang="en-US" dirty="0">
                <a:latin typeface="Bell MT" pitchFamily="18" charset="0"/>
              </a:rPr>
              <a:t>(</a:t>
            </a:r>
            <a:r>
              <a:rPr lang="en-US" dirty="0" err="1">
                <a:latin typeface="Bell MT" pitchFamily="18" charset="0"/>
              </a:rPr>
              <a:t>aq</a:t>
            </a:r>
            <a:r>
              <a:rPr lang="en-US" dirty="0">
                <a:latin typeface="Bell MT" pitchFamily="18" charset="0"/>
              </a:rPr>
              <a:t>)</a:t>
            </a:r>
          </a:p>
          <a:p>
            <a:pPr>
              <a:buNone/>
            </a:pPr>
            <a:r>
              <a:rPr lang="en-US" dirty="0" err="1">
                <a:latin typeface="Bell MT" pitchFamily="18" charset="0"/>
              </a:rPr>
              <a:t>HBr</a:t>
            </a:r>
            <a:r>
              <a:rPr lang="en-US" dirty="0">
                <a:latin typeface="Bell MT" pitchFamily="18" charset="0"/>
              </a:rPr>
              <a:t>(g)			</a:t>
            </a:r>
            <a:r>
              <a:rPr lang="en-US" dirty="0" err="1">
                <a:latin typeface="Bell MT" pitchFamily="18" charset="0"/>
              </a:rPr>
              <a:t>HBr</a:t>
            </a:r>
            <a:r>
              <a:rPr lang="en-US" dirty="0">
                <a:latin typeface="Bell MT" pitchFamily="18" charset="0"/>
              </a:rPr>
              <a:t>(</a:t>
            </a:r>
            <a:r>
              <a:rPr lang="en-US" dirty="0" err="1">
                <a:latin typeface="Bell MT" pitchFamily="18" charset="0"/>
              </a:rPr>
              <a:t>aq</a:t>
            </a:r>
            <a:r>
              <a:rPr lang="en-US" dirty="0">
                <a:latin typeface="Bell MT" pitchFamily="18" charset="0"/>
              </a:rPr>
              <a:t>)</a:t>
            </a:r>
          </a:p>
          <a:p>
            <a:pPr>
              <a:buNone/>
            </a:pPr>
            <a:r>
              <a:rPr lang="en-US" dirty="0">
                <a:latin typeface="Bell MT" pitchFamily="18" charset="0"/>
              </a:rPr>
              <a:t>HI(g)			HI(</a:t>
            </a:r>
            <a:r>
              <a:rPr lang="en-US" dirty="0" err="1">
                <a:latin typeface="Bell MT" pitchFamily="18" charset="0"/>
              </a:rPr>
              <a:t>aq</a:t>
            </a:r>
            <a:r>
              <a:rPr lang="en-US" dirty="0">
                <a:latin typeface="Bell MT" pitchFamily="18" charset="0"/>
              </a:rPr>
              <a:t>)</a:t>
            </a:r>
          </a:p>
        </p:txBody>
      </p:sp>
      <p:cxnSp>
        <p:nvCxnSpPr>
          <p:cNvPr id="4" name="Curved Connector 3"/>
          <p:cNvCxnSpPr/>
          <p:nvPr/>
        </p:nvCxnSpPr>
        <p:spPr>
          <a:xfrm flipV="1">
            <a:off x="6477000" y="2819400"/>
            <a:ext cx="762000" cy="76200"/>
          </a:xfrm>
          <a:prstGeom prst="curvedConnector3">
            <a:avLst>
              <a:gd name="adj1" fmla="val 50000"/>
            </a:avLst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39000" y="2514600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Baskerville Old Face" pitchFamily="18" charset="0"/>
              </a:rPr>
              <a:t> </a:t>
            </a:r>
            <a:r>
              <a:rPr lang="zh-CN" altLang="en-US" sz="3200" b="1" dirty="0">
                <a:solidFill>
                  <a:srgbClr val="7030A0"/>
                </a:solidFill>
                <a:latin typeface="Baskerville Old Face" pitchFamily="18" charset="0"/>
              </a:rPr>
              <a:t>盐酸</a:t>
            </a:r>
            <a:r>
              <a:rPr lang="en-US" altLang="zh-CN" sz="3200" b="1" dirty="0">
                <a:solidFill>
                  <a:srgbClr val="7030A0"/>
                </a:solidFill>
                <a:latin typeface="Baskerville Old Face" pitchFamily="18" charset="0"/>
              </a:rPr>
              <a:t> </a:t>
            </a:r>
            <a:endParaRPr lang="en-US" sz="3200" b="1" dirty="0">
              <a:solidFill>
                <a:srgbClr val="7030A0"/>
              </a:solidFill>
              <a:latin typeface="Baskerville Old Fac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0" y="1066800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Baskerville Old Face" pitchFamily="18" charset="0"/>
              </a:rPr>
              <a:t> </a:t>
            </a:r>
            <a:r>
              <a:rPr lang="zh-CN" altLang="en-US" sz="3200" b="1" dirty="0">
                <a:latin typeface="Baskerville Old Face" pitchFamily="18" charset="0"/>
              </a:rPr>
              <a:t>稳定性</a:t>
            </a:r>
            <a:r>
              <a:rPr lang="en-US" altLang="zh-CN" sz="3200" b="1" dirty="0">
                <a:latin typeface="Baskerville Old Face" pitchFamily="18" charset="0"/>
              </a:rPr>
              <a:t> </a:t>
            </a:r>
            <a:endParaRPr lang="en-US" sz="3200" b="1" dirty="0">
              <a:latin typeface="Baskerville Old Face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rot="16200000" flipV="1">
            <a:off x="2401094" y="3085306"/>
            <a:ext cx="2361406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057400"/>
            <a:ext cx="7498080" cy="4191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600" dirty="0">
                <a:latin typeface="Baskerville Old Face" pitchFamily="18" charset="0"/>
              </a:rPr>
              <a:t>F</a:t>
            </a:r>
            <a:r>
              <a:rPr lang="en-US" altLang="zh-CN" sz="3600" baseline="-25000" dirty="0">
                <a:latin typeface="Baskerville Old Face" pitchFamily="18" charset="0"/>
              </a:rPr>
              <a:t>2</a:t>
            </a:r>
            <a:r>
              <a:rPr lang="en-US" altLang="zh-CN" sz="3600" dirty="0">
                <a:latin typeface="Baskerville Old Face" pitchFamily="18" charset="0"/>
              </a:rPr>
              <a:t> 			 	F</a:t>
            </a:r>
            <a:r>
              <a:rPr lang="en-US" altLang="zh-CN" sz="3600" baseline="30000" dirty="0">
                <a:latin typeface="Baskerville Old Face" pitchFamily="18" charset="0"/>
              </a:rPr>
              <a:t> -</a:t>
            </a:r>
            <a:endParaRPr lang="en-US" altLang="zh-CN" sz="3600" dirty="0">
              <a:latin typeface="Baskerville Old Face" pitchFamily="18" charset="0"/>
            </a:endParaRPr>
          </a:p>
          <a:p>
            <a:pPr>
              <a:buNone/>
            </a:pPr>
            <a:r>
              <a:rPr lang="en-US" altLang="zh-CN" sz="3600" dirty="0">
                <a:latin typeface="Baskerville Old Face" pitchFamily="18" charset="0"/>
              </a:rPr>
              <a:t>Cl</a:t>
            </a:r>
            <a:r>
              <a:rPr lang="en-US" altLang="zh-CN" sz="3600" baseline="-25000" dirty="0">
                <a:latin typeface="Baskerville Old Face" pitchFamily="18" charset="0"/>
              </a:rPr>
              <a:t>2</a:t>
            </a:r>
            <a:r>
              <a:rPr lang="en-US" altLang="zh-CN" sz="3600" dirty="0">
                <a:latin typeface="Baskerville Old Face" pitchFamily="18" charset="0"/>
              </a:rPr>
              <a:t> 				</a:t>
            </a:r>
            <a:r>
              <a:rPr lang="en-US" altLang="zh-CN" sz="3600" dirty="0" err="1">
                <a:latin typeface="Baskerville Old Face" pitchFamily="18" charset="0"/>
              </a:rPr>
              <a:t>Cl</a:t>
            </a:r>
            <a:r>
              <a:rPr lang="en-US" altLang="zh-CN" sz="3600" baseline="30000" dirty="0">
                <a:latin typeface="Baskerville Old Face" pitchFamily="18" charset="0"/>
              </a:rPr>
              <a:t>-</a:t>
            </a:r>
            <a:endParaRPr lang="en-US" altLang="zh-CN" sz="3600" baseline="-25000" dirty="0">
              <a:latin typeface="Baskerville Old Face" pitchFamily="18" charset="0"/>
            </a:endParaRPr>
          </a:p>
          <a:p>
            <a:pPr>
              <a:buNone/>
            </a:pPr>
            <a:r>
              <a:rPr lang="en-US" altLang="zh-CN" sz="3600" dirty="0">
                <a:latin typeface="Baskerville Old Face" pitchFamily="18" charset="0"/>
              </a:rPr>
              <a:t>Br</a:t>
            </a:r>
            <a:r>
              <a:rPr lang="en-US" altLang="zh-CN" sz="3600" baseline="-25000" dirty="0">
                <a:latin typeface="Baskerville Old Face" pitchFamily="18" charset="0"/>
              </a:rPr>
              <a:t>2 	</a:t>
            </a:r>
            <a:r>
              <a:rPr lang="en-US" altLang="zh-CN" sz="3600" dirty="0">
                <a:latin typeface="Baskerville Old Face" pitchFamily="18" charset="0"/>
              </a:rPr>
              <a:t> 			Br</a:t>
            </a:r>
            <a:r>
              <a:rPr lang="en-US" altLang="zh-CN" sz="3600" baseline="30000" dirty="0">
                <a:latin typeface="Baskerville Old Face" pitchFamily="18" charset="0"/>
              </a:rPr>
              <a:t>-</a:t>
            </a:r>
            <a:endParaRPr lang="en-US" altLang="zh-CN" sz="3600" baseline="-25000" dirty="0">
              <a:latin typeface="Baskerville Old Face" pitchFamily="18" charset="0"/>
            </a:endParaRPr>
          </a:p>
          <a:p>
            <a:pPr>
              <a:buNone/>
            </a:pPr>
            <a:r>
              <a:rPr lang="en-US" altLang="zh-CN" sz="3600" dirty="0">
                <a:latin typeface="Baskerville Old Face" pitchFamily="18" charset="0"/>
              </a:rPr>
              <a:t>I</a:t>
            </a:r>
            <a:r>
              <a:rPr lang="en-US" altLang="zh-CN" sz="3600" baseline="-25000" dirty="0">
                <a:latin typeface="Baskerville Old Face" pitchFamily="18" charset="0"/>
              </a:rPr>
              <a:t>2</a:t>
            </a:r>
            <a:r>
              <a:rPr lang="en-US" altLang="zh-CN" sz="3600" dirty="0">
                <a:latin typeface="Baskerville Old Face" pitchFamily="18" charset="0"/>
              </a:rPr>
              <a:t> 				I </a:t>
            </a:r>
            <a:r>
              <a:rPr lang="en-US" altLang="zh-CN" sz="3600" baseline="30000" dirty="0">
                <a:latin typeface="Baskerville Old Face" pitchFamily="18" charset="0"/>
              </a:rPr>
              <a:t>-</a:t>
            </a:r>
            <a:endParaRPr lang="en-US" altLang="zh-CN" sz="3600" dirty="0">
              <a:latin typeface="Baskerville Old Face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7400" y="1548825"/>
            <a:ext cx="350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氧化性，非金属性</a:t>
            </a:r>
            <a:endParaRPr lang="en-US" sz="3000" dirty="0">
              <a:solidFill>
                <a:srgbClr val="0070C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1562100" y="3313906"/>
            <a:ext cx="22098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67400" y="4572000"/>
            <a:ext cx="1752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</a:rPr>
              <a:t>还原性</a:t>
            </a:r>
            <a:endParaRPr lang="en-US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 flipH="1" flipV="1">
            <a:off x="5372894" y="3313906"/>
            <a:ext cx="2209800" cy="1588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28600"/>
            <a:ext cx="7498080" cy="914400"/>
          </a:xfrm>
        </p:spPr>
        <p:txBody>
          <a:bodyPr>
            <a:normAutofit/>
          </a:bodyPr>
          <a:lstStyle/>
          <a:p>
            <a:r>
              <a:rPr lang="zh-CN" altLang="en-US" sz="3900" b="1" u="sng" dirty="0"/>
              <a:t>与水的反应</a:t>
            </a:r>
            <a:endParaRPr lang="en-US" sz="39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66800"/>
            <a:ext cx="85344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	</a:t>
            </a:r>
            <a:r>
              <a:rPr lang="zh-CN" altLang="en-US" sz="2800" u="sng" dirty="0"/>
              <a:t>活动</a:t>
            </a:r>
            <a:r>
              <a:rPr lang="en-US" altLang="zh-CN" sz="2800" u="sng" dirty="0"/>
              <a:t>5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800" dirty="0"/>
              <a:t>注射器中气体体积减小，溶液呈浅绿色。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</a:t>
            </a:r>
            <a:r>
              <a:rPr lang="zh-CN" altLang="en-US" sz="2800" u="sng" dirty="0"/>
              <a:t>活动</a:t>
            </a:r>
            <a:r>
              <a:rPr lang="en-US" altLang="zh-CN" sz="2800" u="sng" dirty="0"/>
              <a:t>6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800" dirty="0"/>
              <a:t>氯水使</a:t>
            </a:r>
            <a:r>
              <a:rPr lang="en-US" altLang="zh-CN" sz="2800" dirty="0"/>
              <a:t>pH</a:t>
            </a:r>
            <a:r>
              <a:rPr lang="zh-CN" altLang="en-US" sz="2800" dirty="0"/>
              <a:t>试纸变红后褪色；氯水有酸性又有漂白性</a:t>
            </a:r>
            <a:endParaRPr lang="en-US" altLang="zh-CN" sz="2800" dirty="0"/>
          </a:p>
          <a:p>
            <a:pPr>
              <a:buFont typeface="Wingdings" pitchFamily="2" charset="2"/>
              <a:buChar char="Ø"/>
            </a:pPr>
            <a:r>
              <a:rPr lang="zh-CN" altLang="en-US" sz="2800" dirty="0"/>
              <a:t>盐酸使</a:t>
            </a:r>
            <a:r>
              <a:rPr lang="en-US" altLang="zh-CN" sz="2800" dirty="0"/>
              <a:t>pH</a:t>
            </a:r>
            <a:r>
              <a:rPr lang="zh-CN" altLang="en-US" sz="2800" dirty="0"/>
              <a:t>试纸变红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</a:t>
            </a:r>
            <a:r>
              <a:rPr lang="zh-CN" altLang="en-US" sz="2800" u="sng" dirty="0"/>
              <a:t>活动</a:t>
            </a:r>
            <a:r>
              <a:rPr lang="en-US" altLang="zh-CN" sz="2800" u="sng" dirty="0"/>
              <a:t>7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800" dirty="0"/>
              <a:t>生成不溶于稀硝酸的白色沉淀</a:t>
            </a:r>
            <a:endParaRPr lang="en-US" altLang="zh-CN" sz="2800" dirty="0"/>
          </a:p>
          <a:p>
            <a:pPr>
              <a:buFont typeface="Wingdings" pitchFamily="2" charset="2"/>
              <a:buChar char="Ø"/>
            </a:pPr>
            <a:r>
              <a:rPr lang="en-US" altLang="zh-CN" sz="2800" dirty="0"/>
              <a:t>Ag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</a:t>
            </a:r>
            <a:r>
              <a:rPr lang="en-US" altLang="zh-CN" sz="2800" dirty="0" err="1"/>
              <a:t>Cl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en-US" altLang="zh-CN" sz="2800" dirty="0" err="1">
                <a:sym typeface="Wingdings" pitchFamily="2" charset="2"/>
              </a:rPr>
              <a:t>AgCl</a:t>
            </a:r>
            <a:r>
              <a:rPr lang="en-US" altLang="zh-CN" sz="2800" dirty="0">
                <a:sym typeface="Wingdings" pitchFamily="2" charset="2"/>
              </a:rPr>
              <a:t> (s)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</a:t>
            </a:r>
            <a:r>
              <a:rPr lang="zh-CN" altLang="en-US" sz="2800" u="sng" dirty="0"/>
              <a:t>活动</a:t>
            </a:r>
            <a:r>
              <a:rPr lang="en-US" altLang="zh-CN" sz="2800" u="sng" dirty="0"/>
              <a:t>8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800" dirty="0"/>
              <a:t>氯气没有漂白性</a:t>
            </a:r>
            <a:endParaRPr lang="en-US" altLang="zh-CN" sz="2800" dirty="0"/>
          </a:p>
          <a:p>
            <a:pPr>
              <a:buFont typeface="Wingdings" pitchFamily="2" charset="2"/>
              <a:buChar char="Ø"/>
            </a:pPr>
            <a:r>
              <a:rPr lang="zh-CN" altLang="en-US" sz="2800" dirty="0"/>
              <a:t>氯气与水反应后的生成物才具有漂白性。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7498080" cy="914400"/>
          </a:xfrm>
        </p:spPr>
        <p:txBody>
          <a:bodyPr>
            <a:normAutofit/>
          </a:bodyPr>
          <a:lstStyle/>
          <a:p>
            <a:r>
              <a:rPr lang="zh-CN" altLang="en-US" sz="3900" b="1" u="sng" dirty="0"/>
              <a:t>与水的反应</a:t>
            </a:r>
            <a:endParaRPr lang="en-US" sz="39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914400"/>
            <a:ext cx="7790688" cy="57150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zh-CN" dirty="0">
              <a:latin typeface="Baskerville Old Face" pitchFamily="18" charset="0"/>
            </a:endParaRPr>
          </a:p>
          <a:p>
            <a:pPr>
              <a:buNone/>
            </a:pPr>
            <a:r>
              <a:rPr lang="en-US" altLang="zh-CN" dirty="0">
                <a:latin typeface="Baskerville Old Face" pitchFamily="18" charset="0"/>
              </a:rPr>
              <a:t>    F</a:t>
            </a:r>
            <a:r>
              <a:rPr lang="en-US" altLang="zh-CN" baseline="-25000" dirty="0">
                <a:latin typeface="Baskerville Old Face" pitchFamily="18" charset="0"/>
              </a:rPr>
              <a:t>2 </a:t>
            </a:r>
            <a:r>
              <a:rPr lang="en-US" altLang="zh-CN" dirty="0">
                <a:latin typeface="Baskerville Old Face" pitchFamily="18" charset="0"/>
              </a:rPr>
              <a:t> +   H</a:t>
            </a:r>
            <a:r>
              <a:rPr lang="en-US" altLang="zh-CN" baseline="-25000" dirty="0">
                <a:latin typeface="Baskerville Old Face" pitchFamily="18" charset="0"/>
              </a:rPr>
              <a:t>2</a:t>
            </a:r>
            <a:r>
              <a:rPr lang="en-US" altLang="zh-CN" dirty="0">
                <a:latin typeface="Baskerville Old Face" pitchFamily="18" charset="0"/>
              </a:rPr>
              <a:t>O  </a:t>
            </a:r>
            <a:r>
              <a:rPr lang="en-US" altLang="zh-CN" dirty="0">
                <a:latin typeface="Baskerville Old Face" pitchFamily="18" charset="0"/>
                <a:sym typeface="Wingdings" pitchFamily="2" charset="2"/>
              </a:rPr>
              <a:t>         </a:t>
            </a:r>
            <a:endParaRPr lang="en-US" altLang="zh-CN" dirty="0">
              <a:latin typeface="Baskerville Old Face" pitchFamily="18" charset="0"/>
            </a:endParaRPr>
          </a:p>
          <a:p>
            <a:pPr>
              <a:buNone/>
            </a:pPr>
            <a:r>
              <a:rPr lang="en-US" altLang="zh-CN" dirty="0">
                <a:latin typeface="Baskerville Old Face" pitchFamily="18" charset="0"/>
              </a:rPr>
              <a:t> </a:t>
            </a:r>
          </a:p>
          <a:p>
            <a:pPr>
              <a:buNone/>
            </a:pPr>
            <a:r>
              <a:rPr lang="en-US" altLang="zh-CN" dirty="0">
                <a:latin typeface="Baskerville Old Face" pitchFamily="18" charset="0"/>
              </a:rPr>
              <a:t> Cl</a:t>
            </a:r>
            <a:r>
              <a:rPr lang="en-US" altLang="zh-CN" baseline="-25000" dirty="0">
                <a:latin typeface="Baskerville Old Face" pitchFamily="18" charset="0"/>
              </a:rPr>
              <a:t>2 (g)</a:t>
            </a:r>
            <a:r>
              <a:rPr lang="en-US" altLang="zh-CN" dirty="0">
                <a:latin typeface="Baskerville Old Face" pitchFamily="18" charset="0"/>
              </a:rPr>
              <a:t>+ H</a:t>
            </a:r>
            <a:r>
              <a:rPr lang="en-US" altLang="zh-CN" baseline="-25000" dirty="0">
                <a:latin typeface="Baskerville Old Face" pitchFamily="18" charset="0"/>
              </a:rPr>
              <a:t>2</a:t>
            </a:r>
            <a:r>
              <a:rPr lang="en-US" altLang="zh-CN" dirty="0">
                <a:latin typeface="Baskerville Old Face" pitchFamily="18" charset="0"/>
              </a:rPr>
              <a:t>O</a:t>
            </a:r>
            <a:r>
              <a:rPr lang="en-US" altLang="zh-CN" baseline="-25000" dirty="0">
                <a:latin typeface="Baskerville Old Face" pitchFamily="18" charset="0"/>
              </a:rPr>
              <a:t> (l)</a:t>
            </a:r>
            <a:r>
              <a:rPr lang="en-US" altLang="zh-CN" dirty="0">
                <a:latin typeface="Baskerville Old Face" pitchFamily="18" charset="0"/>
              </a:rPr>
              <a:t> </a:t>
            </a:r>
            <a:r>
              <a:rPr lang="en-US" altLang="zh-CN" dirty="0">
                <a:latin typeface="Baskerville Old Face" pitchFamily="18" charset="0"/>
                <a:sym typeface="Wingdings" pitchFamily="2" charset="2"/>
              </a:rPr>
              <a:t> </a:t>
            </a:r>
          </a:p>
          <a:p>
            <a:pPr>
              <a:buNone/>
            </a:pPr>
            <a:endParaRPr lang="en-US" altLang="zh-CN" dirty="0"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dirty="0">
                <a:latin typeface="Baskerville Old Face" pitchFamily="18" charset="0"/>
              </a:rPr>
              <a:t>Br</a:t>
            </a:r>
            <a:r>
              <a:rPr lang="en-US" altLang="zh-CN" baseline="-25000" dirty="0">
                <a:latin typeface="Baskerville Old Face" pitchFamily="18" charset="0"/>
              </a:rPr>
              <a:t>2(l)</a:t>
            </a:r>
            <a:r>
              <a:rPr lang="en-US" altLang="zh-CN" dirty="0">
                <a:latin typeface="Baskerville Old Face" pitchFamily="18" charset="0"/>
              </a:rPr>
              <a:t> + H</a:t>
            </a:r>
            <a:r>
              <a:rPr lang="en-US" altLang="zh-CN" baseline="-25000" dirty="0">
                <a:latin typeface="Baskerville Old Face" pitchFamily="18" charset="0"/>
              </a:rPr>
              <a:t>2</a:t>
            </a:r>
            <a:r>
              <a:rPr lang="en-US" altLang="zh-CN" dirty="0">
                <a:latin typeface="Baskerville Old Face" pitchFamily="18" charset="0"/>
              </a:rPr>
              <a:t>O</a:t>
            </a:r>
            <a:r>
              <a:rPr lang="en-US" altLang="zh-CN" baseline="-25000" dirty="0">
                <a:latin typeface="Baskerville Old Face" pitchFamily="18" charset="0"/>
              </a:rPr>
              <a:t>(l)</a:t>
            </a:r>
            <a:endParaRPr lang="en-US" altLang="zh-CN" dirty="0">
              <a:latin typeface="Baskerville Old Face" pitchFamily="18" charset="0"/>
            </a:endParaRPr>
          </a:p>
          <a:p>
            <a:pPr>
              <a:buNone/>
            </a:pPr>
            <a:endParaRPr lang="en-US" altLang="zh-CN" dirty="0">
              <a:latin typeface="Baskerville Old Face" pitchFamily="18" charset="0"/>
            </a:endParaRPr>
          </a:p>
          <a:p>
            <a:pPr>
              <a:buNone/>
            </a:pPr>
            <a:r>
              <a:rPr lang="en-US" altLang="zh-CN" dirty="0">
                <a:latin typeface="Baskerville Old Face" pitchFamily="18" charset="0"/>
              </a:rPr>
              <a:t>I</a:t>
            </a:r>
            <a:r>
              <a:rPr lang="en-US" altLang="zh-CN" baseline="-25000" dirty="0">
                <a:latin typeface="Baskerville Old Face" pitchFamily="18" charset="0"/>
              </a:rPr>
              <a:t>2(s)</a:t>
            </a:r>
            <a:r>
              <a:rPr lang="en-US" altLang="zh-CN" dirty="0">
                <a:latin typeface="Baskerville Old Face" pitchFamily="18" charset="0"/>
              </a:rPr>
              <a:t>+  H</a:t>
            </a:r>
            <a:r>
              <a:rPr lang="en-US" altLang="zh-CN" baseline="-25000" dirty="0">
                <a:latin typeface="Baskerville Old Face" pitchFamily="18" charset="0"/>
              </a:rPr>
              <a:t>2</a:t>
            </a:r>
            <a:r>
              <a:rPr lang="en-US" altLang="zh-CN" dirty="0">
                <a:latin typeface="Baskerville Old Face" pitchFamily="18" charset="0"/>
              </a:rPr>
              <a:t>O</a:t>
            </a:r>
            <a:r>
              <a:rPr lang="en-US" altLang="zh-CN" baseline="-25000" dirty="0">
                <a:latin typeface="Baskerville Old Face" pitchFamily="18" charset="0"/>
              </a:rPr>
              <a:t>(l)</a:t>
            </a:r>
            <a:endParaRPr lang="en-US" altLang="zh-CN" dirty="0">
              <a:latin typeface="Baskerville Old Face" pitchFamily="18" charset="0"/>
            </a:endParaRPr>
          </a:p>
          <a:p>
            <a:pPr>
              <a:buNone/>
            </a:pPr>
            <a:endParaRPr lang="en-US" altLang="zh-CN" dirty="0">
              <a:latin typeface="Baskerville Old Face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74814" y="1472625"/>
            <a:ext cx="1231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O</a:t>
            </a:r>
            <a:r>
              <a:rPr lang="en-US" altLang="zh-CN" sz="3200" baseline="-25000" dirty="0">
                <a:latin typeface="Baskerville Old Face" pitchFamily="18" charset="0"/>
              </a:rPr>
              <a:t>2 </a:t>
            </a:r>
            <a:r>
              <a:rPr lang="en-US" altLang="zh-CN" sz="3200" dirty="0">
                <a:latin typeface="Baskerville Old Face" pitchFamily="18" charset="0"/>
              </a:rPr>
              <a:t>  +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14999" y="1447800"/>
            <a:ext cx="8435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HF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86000" y="1472625"/>
            <a:ext cx="591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 2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8523" y="1447800"/>
            <a:ext cx="591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 4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19200" y="1472625"/>
            <a:ext cx="591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 2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85896" y="2615625"/>
            <a:ext cx="18854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Baskerville Old Face" pitchFamily="18" charset="0"/>
              </a:rPr>
              <a:t>HCl</a:t>
            </a:r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en-US" altLang="zh-CN" sz="3200" baseline="-25000" dirty="0">
                <a:latin typeface="Baskerville Old Face" pitchFamily="18" charset="0"/>
              </a:rPr>
              <a:t>(</a:t>
            </a:r>
            <a:r>
              <a:rPr lang="en-US" altLang="zh-CN" sz="3200" baseline="-25000" dirty="0" err="1">
                <a:latin typeface="Baskerville Old Face" pitchFamily="18" charset="0"/>
              </a:rPr>
              <a:t>aq</a:t>
            </a:r>
            <a:r>
              <a:rPr lang="en-US" altLang="zh-CN" sz="3200" baseline="-25000" dirty="0">
                <a:latin typeface="Baskerville Old Face" pitchFamily="18" charset="0"/>
              </a:rPr>
              <a:t>) </a:t>
            </a:r>
            <a:r>
              <a:rPr lang="en-US" altLang="zh-CN" sz="3200" dirty="0">
                <a:latin typeface="Baskerville Old Face" pitchFamily="18" charset="0"/>
              </a:rPr>
              <a:t>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80633" y="2590800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Baskerville Old Face" pitchFamily="18" charset="0"/>
              </a:rPr>
              <a:t>HClO</a:t>
            </a:r>
            <a:r>
              <a:rPr lang="en-US" altLang="zh-CN" sz="3200" baseline="-25000" dirty="0">
                <a:latin typeface="Baskerville Old Face" pitchFamily="18" charset="0"/>
              </a:rPr>
              <a:t>(</a:t>
            </a:r>
            <a:r>
              <a:rPr lang="en-US" altLang="zh-CN" sz="3200" baseline="-25000" dirty="0" err="1">
                <a:latin typeface="Baskerville Old Face" pitchFamily="18" charset="0"/>
              </a:rPr>
              <a:t>aq</a:t>
            </a:r>
            <a:r>
              <a:rPr lang="en-US" altLang="zh-CN" sz="3200" baseline="-25000" dirty="0">
                <a:latin typeface="Baskerville Old Face" pitchFamily="18" charset="0"/>
              </a:rPr>
              <a:t>)  </a:t>
            </a:r>
            <a:endParaRPr lang="en-US" sz="3200" baseline="-25000" dirty="0">
              <a:latin typeface="Baskerville Old Face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3733800" y="2819400"/>
            <a:ext cx="990600" cy="79376"/>
            <a:chOff x="3352800" y="2819400"/>
            <a:chExt cx="990600" cy="79376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3429000" y="2819400"/>
              <a:ext cx="914400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3352800" y="2897188"/>
              <a:ext cx="914400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4685896" y="3758625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Baskerville Old Face" pitchFamily="18" charset="0"/>
              </a:rPr>
              <a:t>HBr</a:t>
            </a:r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en-US" altLang="zh-CN" sz="3200" baseline="-25000" dirty="0">
                <a:latin typeface="Baskerville Old Face" pitchFamily="18" charset="0"/>
              </a:rPr>
              <a:t>(</a:t>
            </a:r>
            <a:r>
              <a:rPr lang="en-US" altLang="zh-CN" sz="3200" baseline="-25000" dirty="0" err="1">
                <a:latin typeface="Baskerville Old Face" pitchFamily="18" charset="0"/>
              </a:rPr>
              <a:t>aq</a:t>
            </a:r>
            <a:r>
              <a:rPr lang="en-US" altLang="zh-CN" sz="3200" baseline="-25000" dirty="0">
                <a:latin typeface="Baskerville Old Face" pitchFamily="18" charset="0"/>
              </a:rPr>
              <a:t>) </a:t>
            </a:r>
            <a:r>
              <a:rPr lang="en-US" altLang="zh-CN" sz="3200" dirty="0">
                <a:latin typeface="Baskerville Old Face" pitchFamily="18" charset="0"/>
              </a:rPr>
              <a:t>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77000" y="3733800"/>
            <a:ext cx="19255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Baskerville Old Face" pitchFamily="18" charset="0"/>
              </a:rPr>
              <a:t>HBrO</a:t>
            </a:r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en-US" altLang="zh-CN" sz="3200" baseline="-25000" dirty="0">
                <a:latin typeface="Baskerville Old Face" pitchFamily="18" charset="0"/>
              </a:rPr>
              <a:t>(</a:t>
            </a:r>
            <a:r>
              <a:rPr lang="en-US" altLang="zh-CN" sz="3200" baseline="-25000" dirty="0" err="1">
                <a:latin typeface="Baskerville Old Face" pitchFamily="18" charset="0"/>
              </a:rPr>
              <a:t>aq</a:t>
            </a:r>
            <a:r>
              <a:rPr lang="en-US" altLang="zh-CN" sz="3200" baseline="-25000" dirty="0">
                <a:latin typeface="Baskerville Old Face" pitchFamily="18" charset="0"/>
              </a:rPr>
              <a:t>)  </a:t>
            </a:r>
            <a:endParaRPr lang="en-US" sz="3200" baseline="-25000" dirty="0">
              <a:latin typeface="Baskerville Old Face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581400" y="3962400"/>
            <a:ext cx="990600" cy="79376"/>
            <a:chOff x="3352800" y="2819400"/>
            <a:chExt cx="990600" cy="79376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3429000" y="2819400"/>
              <a:ext cx="914400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3352800" y="2897188"/>
              <a:ext cx="914400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4609696" y="4901625"/>
            <a:ext cx="17972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HI </a:t>
            </a:r>
            <a:r>
              <a:rPr lang="en-US" altLang="zh-CN" sz="3200" baseline="-25000" dirty="0">
                <a:latin typeface="Baskerville Old Face" pitchFamily="18" charset="0"/>
              </a:rPr>
              <a:t>(</a:t>
            </a:r>
            <a:r>
              <a:rPr lang="en-US" altLang="zh-CN" sz="3200" baseline="-25000" dirty="0" err="1">
                <a:latin typeface="Baskerville Old Face" pitchFamily="18" charset="0"/>
              </a:rPr>
              <a:t>aq</a:t>
            </a:r>
            <a:r>
              <a:rPr lang="en-US" altLang="zh-CN" sz="3200" baseline="-25000" dirty="0">
                <a:latin typeface="Baskerville Old Face" pitchFamily="18" charset="0"/>
              </a:rPr>
              <a:t>)   </a:t>
            </a:r>
            <a:r>
              <a:rPr lang="en-US" altLang="zh-CN" sz="3200" dirty="0">
                <a:latin typeface="Baskerville Old Face" pitchFamily="18" charset="0"/>
              </a:rPr>
              <a:t>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78056" y="4876800"/>
            <a:ext cx="1654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HIO </a:t>
            </a:r>
            <a:r>
              <a:rPr lang="en-US" altLang="zh-CN" sz="3200" baseline="-25000" dirty="0">
                <a:latin typeface="Baskerville Old Face" pitchFamily="18" charset="0"/>
              </a:rPr>
              <a:t>(</a:t>
            </a:r>
            <a:r>
              <a:rPr lang="en-US" altLang="zh-CN" sz="3200" baseline="-25000" dirty="0" err="1">
                <a:latin typeface="Baskerville Old Face" pitchFamily="18" charset="0"/>
              </a:rPr>
              <a:t>aq</a:t>
            </a:r>
            <a:r>
              <a:rPr lang="en-US" altLang="zh-CN" sz="3200" baseline="-25000" dirty="0">
                <a:latin typeface="Baskerville Old Face" pitchFamily="18" charset="0"/>
              </a:rPr>
              <a:t>)  </a:t>
            </a:r>
            <a:endParaRPr lang="en-US" sz="3200" baseline="-25000" dirty="0">
              <a:latin typeface="Baskerville Old Face" pitchFamily="18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3505200" y="5105400"/>
            <a:ext cx="990600" cy="79376"/>
            <a:chOff x="3352800" y="2819400"/>
            <a:chExt cx="990600" cy="79376"/>
          </a:xfrm>
        </p:grpSpPr>
        <p:cxnSp>
          <p:nvCxnSpPr>
            <p:cNvPr id="32" name="Straight Arrow Connector 31"/>
            <p:cNvCxnSpPr/>
            <p:nvPr/>
          </p:nvCxnSpPr>
          <p:spPr>
            <a:xfrm>
              <a:off x="3429000" y="2819400"/>
              <a:ext cx="914400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3352800" y="2897188"/>
              <a:ext cx="914400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/>
          <p:cNvSpPr/>
          <p:nvPr/>
        </p:nvSpPr>
        <p:spPr>
          <a:xfrm>
            <a:off x="6477000" y="2438400"/>
            <a:ext cx="1676400" cy="32766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urved Connector 36"/>
          <p:cNvCxnSpPr/>
          <p:nvPr/>
        </p:nvCxnSpPr>
        <p:spPr>
          <a:xfrm rot="5400000" flipH="1" flipV="1">
            <a:off x="6591300" y="1714500"/>
            <a:ext cx="838200" cy="457200"/>
          </a:xfrm>
          <a:prstGeom prst="curvedConnector3">
            <a:avLst>
              <a:gd name="adj1" fmla="val 50000"/>
            </a:avLst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010400" y="1021140"/>
            <a:ext cx="15183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Baskerville Old Face" pitchFamily="18" charset="0"/>
              </a:rPr>
              <a:t> </a:t>
            </a:r>
            <a:r>
              <a:rPr lang="zh-CN" altLang="en-US" sz="3200" b="1" dirty="0">
                <a:solidFill>
                  <a:srgbClr val="7030A0"/>
                </a:solidFill>
                <a:latin typeface="Baskerville Old Face" pitchFamily="18" charset="0"/>
              </a:rPr>
              <a:t>次卤酸</a:t>
            </a:r>
            <a:endParaRPr lang="en-US" altLang="zh-CN" sz="3200" b="1" dirty="0">
              <a:solidFill>
                <a:srgbClr val="7030A0"/>
              </a:solidFill>
              <a:latin typeface="Baskerville Old Face" pitchFamily="18" charset="0"/>
            </a:endParaRPr>
          </a:p>
          <a:p>
            <a:endParaRPr lang="en-US" altLang="zh-CN" sz="3200" b="1" dirty="0">
              <a:solidFill>
                <a:srgbClr val="7030A0"/>
              </a:solidFill>
              <a:latin typeface="Baskerville Old Face" pitchFamily="18" charset="0"/>
            </a:endParaRPr>
          </a:p>
          <a:p>
            <a:r>
              <a:rPr lang="en-US" altLang="zh-CN" sz="3200" b="1" dirty="0">
                <a:solidFill>
                  <a:srgbClr val="7030A0"/>
                </a:solidFill>
                <a:latin typeface="Baskerville Old Face" pitchFamily="18" charset="0"/>
              </a:rPr>
              <a:t> </a:t>
            </a:r>
            <a:endParaRPr lang="en-US" sz="3200" b="1" dirty="0">
              <a:solidFill>
                <a:srgbClr val="7030A0"/>
              </a:solidFill>
              <a:latin typeface="Baskerville Old Face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24200" y="1447800"/>
            <a:ext cx="20574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zh-CN" altLang="en-US" sz="3200" dirty="0">
                <a:latin typeface="Baskerville Old Face" pitchFamily="18" charset="0"/>
              </a:rPr>
              <a:t>反应剧烈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24200" y="2667000"/>
            <a:ext cx="20574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zh-CN" altLang="en-US" sz="3200" dirty="0">
                <a:latin typeface="Baskerville Old Face" pitchFamily="18" charset="0"/>
              </a:rPr>
              <a:t>反应较慢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124200" y="3810000"/>
            <a:ext cx="20574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zh-CN" altLang="en-US" sz="3200" dirty="0">
                <a:latin typeface="Baskerville Old Face" pitchFamily="18" charset="0"/>
              </a:rPr>
              <a:t>反应缓慢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43200" y="4901625"/>
            <a:ext cx="37338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zh-CN" altLang="en-US" sz="3200" dirty="0">
                <a:latin typeface="Baskerville Old Face" pitchFamily="18" charset="0"/>
              </a:rPr>
              <a:t>反应只能微弱进行</a:t>
            </a:r>
            <a:endParaRPr lang="en-US" sz="3200" dirty="0"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15" grpId="0"/>
      <p:bldP spid="16" grpId="0"/>
      <p:bldP spid="17" grpId="0"/>
      <p:bldP spid="18" grpId="0"/>
      <p:bldP spid="19" grpId="0"/>
      <p:bldP spid="20" grpId="0"/>
      <p:bldP spid="24" grpId="0"/>
      <p:bldP spid="25" grpId="0"/>
      <p:bldP spid="29" grpId="0"/>
      <p:bldP spid="30" grpId="0"/>
      <p:bldP spid="35" grpId="0" animBg="1"/>
      <p:bldP spid="38" grpId="0"/>
      <p:bldP spid="34" grpId="0" animBg="1"/>
      <p:bldP spid="36" grpId="0" animBg="1"/>
      <p:bldP spid="39" grpId="0" animBg="1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-76200"/>
            <a:ext cx="7498080" cy="1143000"/>
          </a:xfrm>
        </p:spPr>
        <p:txBody>
          <a:bodyPr/>
          <a:lstStyle/>
          <a:p>
            <a:r>
              <a:rPr lang="zh-CN" altLang="en-US" b="1" dirty="0">
                <a:latin typeface="Baskerville Old Face" pitchFamily="18" charset="0"/>
              </a:rPr>
              <a:t>次氯酸</a:t>
            </a:r>
            <a:endParaRPr lang="en-US" b="1" dirty="0">
              <a:latin typeface="Baskerville Old Fac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838200"/>
            <a:ext cx="7646909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latin typeface="Baskerville Old Face" pitchFamily="18" charset="0"/>
              </a:rPr>
              <a:t> </a:t>
            </a:r>
            <a:r>
              <a:rPr lang="en-US" altLang="zh-CN" dirty="0" err="1">
                <a:latin typeface="Baskerville Old Face" pitchFamily="18" charset="0"/>
              </a:rPr>
              <a:t>HClO</a:t>
            </a:r>
            <a:r>
              <a:rPr lang="en-US" altLang="zh-CN" baseline="-25000" dirty="0">
                <a:latin typeface="Baskerville Old Face" pitchFamily="18" charset="0"/>
              </a:rPr>
              <a:t>(</a:t>
            </a:r>
            <a:r>
              <a:rPr lang="en-US" altLang="zh-CN" baseline="-25000" dirty="0" err="1">
                <a:latin typeface="Baskerville Old Face" pitchFamily="18" charset="0"/>
              </a:rPr>
              <a:t>aq</a:t>
            </a:r>
            <a:r>
              <a:rPr lang="en-US" altLang="zh-CN" baseline="-25000" dirty="0">
                <a:latin typeface="Baskerville Old Face" pitchFamily="18" charset="0"/>
              </a:rPr>
              <a:t>)</a:t>
            </a:r>
            <a:r>
              <a:rPr lang="en-US" altLang="zh-CN" dirty="0">
                <a:latin typeface="Baskerville Old Face" pitchFamily="18" charset="0"/>
              </a:rPr>
              <a:t> </a:t>
            </a:r>
          </a:p>
          <a:p>
            <a:pPr>
              <a:buNone/>
            </a:pPr>
            <a:endParaRPr lang="en-US" dirty="0">
              <a:latin typeface="Baskerville Old Face" pitchFamily="18" charset="0"/>
            </a:endParaRPr>
          </a:p>
          <a:p>
            <a:pPr>
              <a:buNone/>
            </a:pPr>
            <a:endParaRPr lang="en-US" dirty="0">
              <a:latin typeface="Baskerville Old Face" pitchFamily="18" charset="0"/>
            </a:endParaRPr>
          </a:p>
          <a:p>
            <a:pPr>
              <a:buNone/>
            </a:pPr>
            <a:r>
              <a:rPr lang="zh-CN" altLang="en-US" dirty="0">
                <a:latin typeface="Baskerville Old Face" pitchFamily="18" charset="0"/>
              </a:rPr>
              <a:t>初生态氧有很强的氧化性。</a:t>
            </a:r>
            <a:endParaRPr lang="en-US" altLang="zh-CN" dirty="0">
              <a:latin typeface="Baskerville Old Face" pitchFamily="18" charset="0"/>
            </a:endParaRPr>
          </a:p>
          <a:p>
            <a:pPr>
              <a:buNone/>
            </a:pPr>
            <a:r>
              <a:rPr lang="zh-CN" altLang="en-US" dirty="0">
                <a:latin typeface="Baskerville Old Face" pitchFamily="18" charset="0"/>
              </a:rPr>
              <a:t>次氯酸是强氧化剂。</a:t>
            </a:r>
            <a:endParaRPr lang="en-US" altLang="zh-CN" b="1" dirty="0">
              <a:solidFill>
                <a:srgbClr val="7030A0"/>
              </a:solidFill>
              <a:latin typeface="Baskerville Old Face" pitchFamily="18" charset="0"/>
            </a:endParaRPr>
          </a:p>
          <a:p>
            <a:pPr>
              <a:buNone/>
            </a:pPr>
            <a:endParaRPr lang="en-US" altLang="zh-CN" b="1" dirty="0">
              <a:solidFill>
                <a:srgbClr val="7030A0"/>
              </a:solidFill>
              <a:latin typeface="Baskerville Old Face" pitchFamily="18" charset="0"/>
            </a:endParaRPr>
          </a:p>
          <a:p>
            <a:pPr>
              <a:buNone/>
            </a:pPr>
            <a:r>
              <a:rPr lang="zh-CN" altLang="en-US" dirty="0">
                <a:solidFill>
                  <a:srgbClr val="002060"/>
                </a:solidFill>
                <a:latin typeface="Baskerville Old Face" pitchFamily="18" charset="0"/>
              </a:rPr>
              <a:t>交流分享</a:t>
            </a:r>
            <a:endParaRPr lang="en-US" altLang="zh-CN" dirty="0">
              <a:solidFill>
                <a:srgbClr val="002060"/>
              </a:solidFill>
              <a:latin typeface="Baskerville Old Face" pitchFamily="18" charset="0"/>
            </a:endParaRPr>
          </a:p>
          <a:p>
            <a:pPr>
              <a:buNone/>
            </a:pPr>
            <a:r>
              <a:rPr lang="zh-CN" altLang="en-US" dirty="0">
                <a:solidFill>
                  <a:srgbClr val="002060"/>
                </a:solidFill>
                <a:latin typeface="Baskerville Old Face" pitchFamily="18" charset="0"/>
              </a:rPr>
              <a:t>自来水中含次氯酸易使金鱼失去美丽的色彩；光照能除去次氯酸。</a:t>
            </a:r>
            <a:endParaRPr lang="en-US" dirty="0">
              <a:solidFill>
                <a:srgbClr val="002060"/>
              </a:solidFill>
              <a:latin typeface="Baskerville Old Face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056621" y="1185446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147386" y="88064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Baskerville Old Face" pitchFamily="18" charset="0"/>
              </a:rPr>
              <a:t>光照</a:t>
            </a:r>
            <a:endParaRPr lang="en-US" sz="1600" dirty="0">
              <a:latin typeface="Baskerville Old Fac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71568" y="838200"/>
            <a:ext cx="18854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Baskerville Old Face" pitchFamily="18" charset="0"/>
              </a:rPr>
              <a:t>HCl</a:t>
            </a:r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en-US" altLang="zh-CN" sz="3200" baseline="-25000" dirty="0">
                <a:latin typeface="Baskerville Old Face" pitchFamily="18" charset="0"/>
              </a:rPr>
              <a:t>(</a:t>
            </a:r>
            <a:r>
              <a:rPr lang="en-US" altLang="zh-CN" sz="3200" baseline="-25000" dirty="0" err="1">
                <a:latin typeface="Baskerville Old Face" pitchFamily="18" charset="0"/>
              </a:rPr>
              <a:t>aq</a:t>
            </a:r>
            <a:r>
              <a:rPr lang="en-US" altLang="zh-CN" sz="3200" baseline="-25000" dirty="0">
                <a:latin typeface="Baskerville Old Face" pitchFamily="18" charset="0"/>
              </a:rPr>
              <a:t>) </a:t>
            </a:r>
            <a:r>
              <a:rPr lang="en-US" altLang="zh-CN" sz="3200" dirty="0">
                <a:latin typeface="Baskerville Old Face" pitchFamily="18" charset="0"/>
              </a:rPr>
              <a:t>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6954" y="838200"/>
            <a:ext cx="8258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 O  </a:t>
            </a:r>
            <a:endParaRPr lang="en-US" sz="3200" dirty="0">
              <a:latin typeface="Baskerville Old Face" pitchFamily="18" charset="0"/>
            </a:endParaRPr>
          </a:p>
        </p:txBody>
      </p:sp>
      <p:cxnSp>
        <p:nvCxnSpPr>
          <p:cNvPr id="9" name="Curved Connector 8"/>
          <p:cNvCxnSpPr/>
          <p:nvPr/>
        </p:nvCxnSpPr>
        <p:spPr>
          <a:xfrm rot="16200000" flipH="1">
            <a:off x="6523721" y="1257300"/>
            <a:ext cx="914400" cy="6858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26554" y="2082225"/>
            <a:ext cx="2133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zh-CN" altLang="en-US" sz="3200" dirty="0">
                <a:latin typeface="Baskerville Old Face" pitchFamily="18" charset="0"/>
              </a:rPr>
              <a:t>初生态氧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0600" y="838200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 2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62400" y="838200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 2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85621" y="1066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Baskerville Old Face" pitchFamily="18" charset="0"/>
              </a:rPr>
              <a:t> 2  </a:t>
            </a:r>
            <a:endParaRPr lang="en-US" dirty="0"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10" grpId="0"/>
      <p:bldP spid="10" grpId="1"/>
      <p:bldP spid="11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与碱作用</a:t>
            </a:r>
            <a:endParaRPr lang="en-US" sz="3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7498080" cy="48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>
                <a:latin typeface="Baskerville Old Face" pitchFamily="18" charset="0"/>
              </a:rPr>
              <a:t>Cl</a:t>
            </a:r>
            <a:r>
              <a:rPr lang="en-US" altLang="zh-CN" sz="2800" baseline="-25000" dirty="0">
                <a:latin typeface="Baskerville Old Face" pitchFamily="18" charset="0"/>
              </a:rPr>
              <a:t>2 (g)</a:t>
            </a:r>
            <a:r>
              <a:rPr lang="en-US" altLang="zh-CN" sz="2800" dirty="0">
                <a:latin typeface="Baskerville Old Face" pitchFamily="18" charset="0"/>
              </a:rPr>
              <a:t>+    </a:t>
            </a:r>
            <a:r>
              <a:rPr lang="en-US" altLang="zh-CN" sz="2800" dirty="0" err="1">
                <a:latin typeface="Baskerville Old Face" pitchFamily="18" charset="0"/>
              </a:rPr>
              <a:t>NaOH</a:t>
            </a:r>
            <a:r>
              <a:rPr lang="en-US" altLang="zh-CN" sz="2800" dirty="0">
                <a:latin typeface="Baskerville Old Face" pitchFamily="18" charset="0"/>
              </a:rPr>
              <a:t> </a:t>
            </a:r>
            <a:r>
              <a:rPr lang="en-US" altLang="zh-CN" sz="2800" baseline="-25000" dirty="0">
                <a:latin typeface="Baskerville Old Face" pitchFamily="18" charset="0"/>
              </a:rPr>
              <a:t>(</a:t>
            </a:r>
            <a:r>
              <a:rPr lang="en-US" altLang="zh-CN" sz="2800" baseline="-25000" dirty="0" err="1">
                <a:latin typeface="Baskerville Old Face" pitchFamily="18" charset="0"/>
              </a:rPr>
              <a:t>aq</a:t>
            </a:r>
            <a:r>
              <a:rPr lang="en-US" altLang="zh-CN" sz="2800" baseline="-25000" dirty="0">
                <a:latin typeface="Baskerville Old Face" pitchFamily="18" charset="0"/>
              </a:rPr>
              <a:t>,</a:t>
            </a:r>
            <a:r>
              <a:rPr lang="zh-CN" altLang="en-US" sz="2800" baseline="-25000" dirty="0">
                <a:latin typeface="Baskerville Old Face" pitchFamily="18" charset="0"/>
              </a:rPr>
              <a:t>冷稀</a:t>
            </a:r>
            <a:r>
              <a:rPr lang="en-US" altLang="zh-CN" sz="2800" baseline="-25000" dirty="0">
                <a:latin typeface="Baskerville Old Face" pitchFamily="18" charset="0"/>
              </a:rPr>
              <a:t>) </a:t>
            </a:r>
            <a:r>
              <a:rPr lang="en-US" altLang="zh-CN" sz="2800" dirty="0">
                <a:latin typeface="Baskerville Old Face" pitchFamily="18" charset="0"/>
                <a:sym typeface="Wingdings" pitchFamily="2" charset="2"/>
              </a:rPr>
              <a:t> </a:t>
            </a:r>
          </a:p>
          <a:p>
            <a:pPr>
              <a:buNone/>
            </a:pPr>
            <a:endParaRPr lang="en-US" sz="2800" dirty="0"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latin typeface="Baskerville Old Face" pitchFamily="18" charset="0"/>
              </a:rPr>
              <a:t>Cl</a:t>
            </a:r>
            <a:r>
              <a:rPr lang="en-US" altLang="zh-CN" sz="2800" baseline="-25000" dirty="0">
                <a:latin typeface="Baskerville Old Face" pitchFamily="18" charset="0"/>
              </a:rPr>
              <a:t>2 (g)</a:t>
            </a:r>
            <a:r>
              <a:rPr lang="en-US" altLang="zh-CN" sz="2800" dirty="0">
                <a:latin typeface="Baskerville Old Face" pitchFamily="18" charset="0"/>
              </a:rPr>
              <a:t>+    </a:t>
            </a:r>
            <a:r>
              <a:rPr lang="en-US" altLang="zh-CN" sz="2800" dirty="0" err="1">
                <a:latin typeface="Baskerville Old Face" pitchFamily="18" charset="0"/>
              </a:rPr>
              <a:t>NaOH</a:t>
            </a:r>
            <a:r>
              <a:rPr lang="en-US" altLang="zh-CN" sz="2800" dirty="0">
                <a:latin typeface="Baskerville Old Face" pitchFamily="18" charset="0"/>
              </a:rPr>
              <a:t> </a:t>
            </a:r>
            <a:r>
              <a:rPr lang="en-US" altLang="zh-CN" sz="2800" baseline="-25000" dirty="0">
                <a:latin typeface="Baskerville Old Face" pitchFamily="18" charset="0"/>
              </a:rPr>
              <a:t>(</a:t>
            </a:r>
            <a:r>
              <a:rPr lang="en-US" altLang="zh-CN" sz="2800" baseline="-25000" dirty="0" err="1">
                <a:latin typeface="Baskerville Old Face" pitchFamily="18" charset="0"/>
              </a:rPr>
              <a:t>aq</a:t>
            </a:r>
            <a:r>
              <a:rPr lang="en-US" altLang="zh-CN" sz="2800" baseline="-25000" dirty="0">
                <a:latin typeface="Baskerville Old Face" pitchFamily="18" charset="0"/>
              </a:rPr>
              <a:t>,</a:t>
            </a:r>
            <a:r>
              <a:rPr lang="zh-CN" altLang="en-US" sz="2800" baseline="-25000" dirty="0">
                <a:latin typeface="Baskerville Old Face" pitchFamily="18" charset="0"/>
              </a:rPr>
              <a:t>热浓</a:t>
            </a:r>
            <a:r>
              <a:rPr lang="en-US" altLang="zh-CN" sz="2800" baseline="-25000" dirty="0">
                <a:latin typeface="Baskerville Old Face" pitchFamily="18" charset="0"/>
              </a:rPr>
              <a:t>) </a:t>
            </a:r>
            <a:r>
              <a:rPr lang="en-US" altLang="zh-CN" sz="2800" dirty="0">
                <a:latin typeface="Baskerville Old Face" pitchFamily="18" charset="0"/>
                <a:sym typeface="Wingdings" pitchFamily="2" charset="2"/>
              </a:rPr>
              <a:t></a:t>
            </a:r>
          </a:p>
          <a:p>
            <a:pPr>
              <a:buNone/>
            </a:pPr>
            <a:endParaRPr lang="en-US" altLang="zh-CN" sz="2800" dirty="0"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endParaRPr lang="en-US" altLang="zh-CN" sz="2800" dirty="0"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latin typeface="Baskerville Old Face" pitchFamily="18" charset="0"/>
                <a:sym typeface="Wingdings" pitchFamily="2" charset="2"/>
              </a:rPr>
              <a:t>观察思考（活动</a:t>
            </a:r>
            <a:r>
              <a:rPr lang="en-US" altLang="zh-CN" sz="2800" dirty="0">
                <a:latin typeface="Baskerville Old Face" pitchFamily="18" charset="0"/>
                <a:sym typeface="Wingdings" pitchFamily="2" charset="2"/>
              </a:rPr>
              <a:t>9</a:t>
            </a:r>
            <a:r>
              <a:rPr lang="zh-CN" altLang="en-US" sz="2800" dirty="0">
                <a:latin typeface="Baskerville Old Face" pitchFamily="18" charset="0"/>
                <a:sym typeface="Wingdings" pitchFamily="2" charset="2"/>
              </a:rPr>
              <a:t>）</a:t>
            </a:r>
            <a:endParaRPr lang="en-US" altLang="zh-CN" sz="2800" dirty="0"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latin typeface="Baskerville Old Face" pitchFamily="18" charset="0"/>
                <a:sym typeface="Wingdings" pitchFamily="2" charset="2"/>
              </a:rPr>
              <a:t>注射器中的气体体积缩小为零，溶液呈无色。</a:t>
            </a:r>
            <a:endParaRPr lang="en-US" sz="2800" dirty="0">
              <a:latin typeface="Baskerville Old Face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76800" y="1371600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Baskerville Old Face" pitchFamily="18" charset="0"/>
              </a:rPr>
              <a:t>NaCl</a:t>
            </a:r>
            <a:r>
              <a:rPr lang="en-US" altLang="zh-CN" sz="2800" dirty="0">
                <a:latin typeface="Baskerville Old Face" pitchFamily="18" charset="0"/>
              </a:rPr>
              <a:t> </a:t>
            </a:r>
            <a:r>
              <a:rPr lang="en-US" altLang="zh-CN" sz="2800" baseline="-25000" dirty="0">
                <a:latin typeface="Baskerville Old Face" pitchFamily="18" charset="0"/>
              </a:rPr>
              <a:t>(</a:t>
            </a:r>
            <a:r>
              <a:rPr lang="en-US" altLang="zh-CN" sz="2800" baseline="-25000" dirty="0" err="1">
                <a:latin typeface="Baskerville Old Face" pitchFamily="18" charset="0"/>
              </a:rPr>
              <a:t>aq</a:t>
            </a:r>
            <a:r>
              <a:rPr lang="en-US" altLang="zh-CN" sz="2800" baseline="-25000" dirty="0">
                <a:latin typeface="Baskerville Old Face" pitchFamily="18" charset="0"/>
              </a:rPr>
              <a:t>)</a:t>
            </a:r>
            <a:r>
              <a:rPr lang="en-US" altLang="zh-CN" sz="2800" dirty="0">
                <a:latin typeface="Baskerville Old Face" pitchFamily="18" charset="0"/>
              </a:rPr>
              <a:t>+  </a:t>
            </a:r>
            <a:endParaRPr lang="en-US" sz="2800" dirty="0">
              <a:latin typeface="Baskerville Old Fac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24600" y="1371600"/>
            <a:ext cx="1439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Baskerville Old Face" pitchFamily="18" charset="0"/>
              </a:rPr>
              <a:t>H</a:t>
            </a:r>
            <a:r>
              <a:rPr lang="en-US" altLang="zh-CN" sz="2800" baseline="-25000" dirty="0">
                <a:latin typeface="Baskerville Old Face" pitchFamily="18" charset="0"/>
              </a:rPr>
              <a:t>2</a:t>
            </a:r>
            <a:r>
              <a:rPr lang="en-US" altLang="zh-CN" sz="2800" dirty="0">
                <a:latin typeface="Baskerville Old Face" pitchFamily="18" charset="0"/>
              </a:rPr>
              <a:t>O</a:t>
            </a:r>
            <a:r>
              <a:rPr lang="en-US" altLang="zh-CN" sz="2800" baseline="-25000" dirty="0">
                <a:latin typeface="Baskerville Old Face" pitchFamily="18" charset="0"/>
              </a:rPr>
              <a:t>(l)</a:t>
            </a:r>
            <a:r>
              <a:rPr lang="en-US" altLang="zh-CN" sz="2800" dirty="0">
                <a:latin typeface="Baskerville Old Face" pitchFamily="18" charset="0"/>
              </a:rPr>
              <a:t>+  </a:t>
            </a:r>
            <a:endParaRPr lang="en-US" sz="2800" dirty="0">
              <a:latin typeface="Baskerville Old Fac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00831" y="1351002"/>
            <a:ext cx="1832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Baskerville Old Face" pitchFamily="18" charset="0"/>
              </a:rPr>
              <a:t>NaClO</a:t>
            </a:r>
            <a:r>
              <a:rPr lang="en-US" altLang="zh-CN" sz="2800" baseline="-25000" dirty="0">
                <a:latin typeface="Baskerville Old Face" pitchFamily="18" charset="0"/>
              </a:rPr>
              <a:t>(</a:t>
            </a:r>
            <a:r>
              <a:rPr lang="en-US" altLang="zh-CN" sz="2800" baseline="-25000" dirty="0" err="1">
                <a:latin typeface="Baskerville Old Face" pitchFamily="18" charset="0"/>
              </a:rPr>
              <a:t>aq</a:t>
            </a:r>
            <a:r>
              <a:rPr lang="en-US" altLang="zh-CN" sz="2800" baseline="-25000" dirty="0">
                <a:latin typeface="Baskerville Old Face" pitchFamily="18" charset="0"/>
              </a:rPr>
              <a:t>) </a:t>
            </a:r>
            <a:r>
              <a:rPr lang="en-US" altLang="zh-CN" sz="2800" dirty="0">
                <a:latin typeface="Baskerville Old Face" pitchFamily="18" charset="0"/>
              </a:rPr>
              <a:t>  </a:t>
            </a:r>
            <a:endParaRPr lang="en-US" sz="2800" dirty="0">
              <a:latin typeface="Baskerville Old Face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540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Baskerville Old Face" pitchFamily="18" charset="0"/>
              </a:rPr>
              <a:t> 2 </a:t>
            </a:r>
            <a:endParaRPr lang="en-US" sz="2800" dirty="0">
              <a:latin typeface="Baskerville Old Fac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24400" y="2362200"/>
            <a:ext cx="179889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Baskerville Old Face" pitchFamily="18" charset="0"/>
              </a:rPr>
              <a:t>NaCl</a:t>
            </a:r>
            <a:r>
              <a:rPr lang="en-US" altLang="zh-CN" sz="2800" dirty="0">
                <a:latin typeface="Baskerville Old Face" pitchFamily="18" charset="0"/>
              </a:rPr>
              <a:t> </a:t>
            </a:r>
            <a:r>
              <a:rPr lang="en-US" altLang="zh-CN" sz="2800" baseline="-25000" dirty="0">
                <a:latin typeface="Baskerville Old Face" pitchFamily="18" charset="0"/>
              </a:rPr>
              <a:t>(</a:t>
            </a:r>
            <a:r>
              <a:rPr lang="en-US" altLang="zh-CN" sz="2800" baseline="-25000" dirty="0" err="1">
                <a:latin typeface="Baskerville Old Face" pitchFamily="18" charset="0"/>
              </a:rPr>
              <a:t>aq</a:t>
            </a:r>
            <a:r>
              <a:rPr lang="en-US" altLang="zh-CN" sz="2800" baseline="-25000" dirty="0">
                <a:latin typeface="Baskerville Old Face" pitchFamily="18" charset="0"/>
              </a:rPr>
              <a:t>)</a:t>
            </a:r>
            <a:r>
              <a:rPr lang="en-US" altLang="zh-CN" sz="2800" dirty="0">
                <a:latin typeface="Baskerville Old Face" pitchFamily="18" charset="0"/>
              </a:rPr>
              <a:t>+  </a:t>
            </a:r>
            <a:endParaRPr lang="en-US" sz="2800" dirty="0">
              <a:latin typeface="Baskerville Old Face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26562" y="2362200"/>
            <a:ext cx="1439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Baskerville Old Face" pitchFamily="18" charset="0"/>
              </a:rPr>
              <a:t>H</a:t>
            </a:r>
            <a:r>
              <a:rPr lang="en-US" altLang="zh-CN" sz="2800" baseline="-25000" dirty="0">
                <a:latin typeface="Baskerville Old Face" pitchFamily="18" charset="0"/>
              </a:rPr>
              <a:t>2</a:t>
            </a:r>
            <a:r>
              <a:rPr lang="en-US" altLang="zh-CN" sz="2800" dirty="0">
                <a:latin typeface="Baskerville Old Face" pitchFamily="18" charset="0"/>
              </a:rPr>
              <a:t>O</a:t>
            </a:r>
            <a:r>
              <a:rPr lang="en-US" altLang="zh-CN" sz="2800" baseline="-25000" dirty="0">
                <a:latin typeface="Baskerville Old Face" pitchFamily="18" charset="0"/>
              </a:rPr>
              <a:t>(l)</a:t>
            </a:r>
            <a:r>
              <a:rPr lang="en-US" altLang="zh-CN" sz="2800" dirty="0">
                <a:latin typeface="Baskerville Old Face" pitchFamily="18" charset="0"/>
              </a:rPr>
              <a:t>+  </a:t>
            </a:r>
            <a:endParaRPr lang="en-US" sz="2800" dirty="0">
              <a:latin typeface="Baskerville Old Face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02793" y="2362200"/>
            <a:ext cx="1949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Baskerville Old Face" pitchFamily="18" charset="0"/>
              </a:rPr>
              <a:t>NaClO</a:t>
            </a:r>
            <a:r>
              <a:rPr lang="en-US" altLang="zh-CN" sz="2800" baseline="-25000" dirty="0">
                <a:latin typeface="Baskerville Old Face" pitchFamily="18" charset="0"/>
              </a:rPr>
              <a:t>3(</a:t>
            </a:r>
            <a:r>
              <a:rPr lang="en-US" altLang="zh-CN" sz="2800" baseline="-25000" dirty="0" err="1">
                <a:latin typeface="Baskerville Old Face" pitchFamily="18" charset="0"/>
              </a:rPr>
              <a:t>aq</a:t>
            </a:r>
            <a:r>
              <a:rPr lang="en-US" altLang="zh-CN" sz="2800" baseline="-25000" dirty="0">
                <a:latin typeface="Baskerville Old Face" pitchFamily="18" charset="0"/>
              </a:rPr>
              <a:t>) </a:t>
            </a:r>
            <a:r>
              <a:rPr lang="en-US" altLang="zh-CN" sz="2800" dirty="0">
                <a:latin typeface="Baskerville Old Face" pitchFamily="18" charset="0"/>
              </a:rPr>
              <a:t>  </a:t>
            </a:r>
            <a:endParaRPr lang="en-US" sz="2800" dirty="0">
              <a:latin typeface="Baskerville Old Face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12467" y="2362200"/>
            <a:ext cx="540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Baskerville Old Face" pitchFamily="18" charset="0"/>
              </a:rPr>
              <a:t> 5 </a:t>
            </a:r>
            <a:endParaRPr lang="en-US" sz="2800" dirty="0">
              <a:latin typeface="Baskerville Old Face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2362200"/>
            <a:ext cx="540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Baskerville Old Face" pitchFamily="18" charset="0"/>
              </a:rPr>
              <a:t> 6 </a:t>
            </a:r>
            <a:endParaRPr lang="en-US" sz="2800" dirty="0">
              <a:latin typeface="Baskerville Old Face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88867" y="2362200"/>
            <a:ext cx="540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Baskerville Old Face" pitchFamily="18" charset="0"/>
              </a:rPr>
              <a:t> 3 </a:t>
            </a:r>
            <a:endParaRPr lang="en-US" sz="2800" dirty="0">
              <a:latin typeface="Baskerville Old Face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2467" y="2362200"/>
            <a:ext cx="540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Baskerville Old Face" pitchFamily="18" charset="0"/>
              </a:rPr>
              <a:t> 3 </a:t>
            </a:r>
            <a:endParaRPr lang="en-US" sz="2800" dirty="0"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320" y="152400"/>
            <a:ext cx="7498080" cy="1143000"/>
          </a:xfrm>
        </p:spPr>
        <p:txBody>
          <a:bodyPr/>
          <a:lstStyle/>
          <a:p>
            <a:r>
              <a:rPr lang="zh-CN" altLang="en-US" dirty="0">
                <a:latin typeface="Baskerville Old Face" pitchFamily="18" charset="0"/>
              </a:rPr>
              <a:t>漂白剂</a:t>
            </a:r>
            <a:endParaRPr lang="en-US" dirty="0">
              <a:latin typeface="Baskerville Old Fac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732" y="1249362"/>
            <a:ext cx="8435668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000" dirty="0">
                <a:latin typeface="Baskerville Old Face" pitchFamily="18" charset="0"/>
              </a:rPr>
              <a:t>有效成分：次氯酸盐</a:t>
            </a:r>
            <a:endParaRPr lang="en-US" sz="3000" dirty="0">
              <a:latin typeface="Baskerville Old Face" pitchFamily="18" charset="0"/>
            </a:endParaRPr>
          </a:p>
          <a:p>
            <a:pPr>
              <a:buNone/>
            </a:pPr>
            <a:r>
              <a:rPr lang="en-US" sz="3000" dirty="0">
                <a:latin typeface="Baskerville Old Face" pitchFamily="18" charset="0"/>
              </a:rPr>
              <a:t>2Cl</a:t>
            </a:r>
            <a:r>
              <a:rPr lang="en-US" sz="3000" baseline="-25000" dirty="0">
                <a:latin typeface="Baskerville Old Face" pitchFamily="18" charset="0"/>
              </a:rPr>
              <a:t>2</a:t>
            </a:r>
            <a:r>
              <a:rPr lang="en-US" sz="3000" dirty="0">
                <a:latin typeface="Baskerville Old Face" pitchFamily="18" charset="0"/>
              </a:rPr>
              <a:t> + 2 Ca(OH)</a:t>
            </a:r>
            <a:r>
              <a:rPr lang="en-US" sz="3000" baseline="-25000" dirty="0">
                <a:latin typeface="Baskerville Old Face" pitchFamily="18" charset="0"/>
              </a:rPr>
              <a:t>2 </a:t>
            </a:r>
            <a:r>
              <a:rPr lang="en-US" sz="3000" dirty="0">
                <a:latin typeface="Baskerville Old Face" pitchFamily="18" charset="0"/>
              </a:rPr>
              <a:t> </a:t>
            </a:r>
            <a:r>
              <a:rPr lang="en-US" sz="3000" dirty="0">
                <a:latin typeface="Baskerville Old Face" pitchFamily="18" charset="0"/>
                <a:sym typeface="Wingdings" pitchFamily="2" charset="2"/>
              </a:rPr>
              <a:t></a:t>
            </a:r>
          </a:p>
          <a:p>
            <a:pPr>
              <a:buNone/>
            </a:pPr>
            <a:endParaRPr lang="en-US" altLang="zh-CN" sz="3000" dirty="0"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latin typeface="Baskerville Old Face" pitchFamily="18" charset="0"/>
                <a:sym typeface="Wingdings" pitchFamily="2" charset="2"/>
              </a:rPr>
              <a:t>次氯酸钙</a:t>
            </a:r>
            <a:r>
              <a:rPr lang="en-US" altLang="zh-CN" sz="3000" dirty="0">
                <a:latin typeface="Baskerville Old Face" pitchFamily="18" charset="0"/>
                <a:sym typeface="Wingdings" pitchFamily="2" charset="2"/>
              </a:rPr>
              <a:t></a:t>
            </a:r>
            <a:r>
              <a:rPr lang="zh-CN" altLang="en-US" sz="3000" dirty="0">
                <a:latin typeface="Baskerville Old Face" pitchFamily="18" charset="0"/>
                <a:sym typeface="Wingdings" pitchFamily="2" charset="2"/>
              </a:rPr>
              <a:t>次氯酸，因此次氯酸盐具有漂白性</a:t>
            </a:r>
            <a:endParaRPr lang="en-US" altLang="zh-CN" sz="3000" dirty="0"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latin typeface="Baskerville Old Face" pitchFamily="18" charset="0"/>
                <a:sym typeface="Wingdings" pitchFamily="2" charset="2"/>
              </a:rPr>
              <a:t>Ca(</a:t>
            </a:r>
            <a:r>
              <a:rPr lang="en-US" altLang="zh-CN" sz="3000" dirty="0" err="1">
                <a:latin typeface="Baskerville Old Face" pitchFamily="18" charset="0"/>
                <a:sym typeface="Wingdings" pitchFamily="2" charset="2"/>
              </a:rPr>
              <a:t>ClO</a:t>
            </a:r>
            <a:r>
              <a:rPr lang="en-US" altLang="zh-CN" sz="3000" dirty="0">
                <a:latin typeface="Baskerville Old Face" pitchFamily="18" charset="0"/>
                <a:sym typeface="Wingdings" pitchFamily="2" charset="2"/>
              </a:rPr>
              <a:t>)</a:t>
            </a:r>
            <a:r>
              <a:rPr lang="en-US" altLang="zh-CN" sz="3000" baseline="-25000" dirty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sz="3000" dirty="0">
                <a:latin typeface="Baskerville Old Face" pitchFamily="18" charset="0"/>
                <a:sym typeface="Wingdings" pitchFamily="2" charset="2"/>
              </a:rPr>
              <a:t> </a:t>
            </a:r>
            <a:r>
              <a:rPr lang="en-US" altLang="zh-CN" sz="3000" dirty="0">
                <a:latin typeface="Baskerville Old Face" pitchFamily="18" charset="0"/>
                <a:sym typeface="Wingdings" pitchFamily="2" charset="2"/>
              </a:rPr>
              <a:t>+CO</a:t>
            </a:r>
            <a:r>
              <a:rPr lang="en-US" altLang="zh-CN" sz="3000" baseline="-25000" dirty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altLang="zh-CN" sz="3000" dirty="0">
                <a:latin typeface="Baskerville Old Face" pitchFamily="18" charset="0"/>
                <a:sym typeface="Wingdings" pitchFamily="2" charset="2"/>
              </a:rPr>
              <a:t> + H</a:t>
            </a:r>
            <a:r>
              <a:rPr lang="en-US" altLang="zh-CN" sz="3000" baseline="-25000" dirty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altLang="zh-CN" sz="3000" dirty="0">
                <a:latin typeface="Baskerville Old Face" pitchFamily="18" charset="0"/>
                <a:sym typeface="Wingdings" pitchFamily="2" charset="2"/>
              </a:rPr>
              <a:t>O  2 </a:t>
            </a:r>
            <a:r>
              <a:rPr lang="en-US" altLang="zh-CN" sz="3000" dirty="0" err="1">
                <a:latin typeface="Baskerville Old Face" pitchFamily="18" charset="0"/>
                <a:sym typeface="Wingdings" pitchFamily="2" charset="2"/>
              </a:rPr>
              <a:t>HClO</a:t>
            </a:r>
            <a:r>
              <a:rPr lang="en-US" altLang="zh-CN" sz="3000" dirty="0">
                <a:latin typeface="Baskerville Old Face" pitchFamily="18" charset="0"/>
                <a:sym typeface="Wingdings" pitchFamily="2" charset="2"/>
              </a:rPr>
              <a:t> + CaCO</a:t>
            </a:r>
            <a:r>
              <a:rPr lang="en-US" altLang="zh-CN" sz="3000" baseline="-25000" dirty="0">
                <a:latin typeface="Baskerville Old Face" pitchFamily="18" charset="0"/>
                <a:sym typeface="Wingdings" pitchFamily="2" charset="2"/>
              </a:rPr>
              <a:t>3</a:t>
            </a:r>
          </a:p>
          <a:p>
            <a:pPr>
              <a:buNone/>
            </a:pPr>
            <a:endParaRPr lang="en-US" sz="3000" baseline="-25000" dirty="0"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latin typeface="Baskerville Old Face" pitchFamily="18" charset="0"/>
                <a:sym typeface="Wingdings" pitchFamily="2" charset="2"/>
              </a:rPr>
              <a:t>次氯酸盐稳定、易储运、易转化为次氯酸。</a:t>
            </a:r>
            <a:endParaRPr lang="en-US" sz="3000" dirty="0"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olidFill>
                  <a:srgbClr val="002060"/>
                </a:solidFill>
                <a:latin typeface="Baskerville Old Face" pitchFamily="18" charset="0"/>
                <a:sym typeface="Wingdings" pitchFamily="2" charset="2"/>
              </a:rPr>
              <a:t>交流分享</a:t>
            </a:r>
            <a:endParaRPr lang="en-US" altLang="zh-CN" sz="3000" dirty="0">
              <a:solidFill>
                <a:srgbClr val="002060"/>
              </a:solidFill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olidFill>
                  <a:srgbClr val="002060"/>
                </a:solidFill>
                <a:latin typeface="Baskerville Old Face" pitchFamily="18" charset="0"/>
              </a:rPr>
              <a:t>密封和防潮</a:t>
            </a:r>
            <a:endParaRPr lang="en-US" altLang="zh-CN" sz="3000" dirty="0">
              <a:solidFill>
                <a:srgbClr val="002060"/>
              </a:solidFill>
              <a:latin typeface="Baskerville Old Face" pitchFamily="18" charset="0"/>
            </a:endParaRPr>
          </a:p>
          <a:p>
            <a:pPr>
              <a:buNone/>
            </a:pPr>
            <a:endParaRPr lang="en-US" altLang="zh-CN" sz="3000" dirty="0">
              <a:solidFill>
                <a:srgbClr val="002060"/>
              </a:solidFill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endParaRPr lang="en-US" sz="3000" dirty="0">
              <a:solidFill>
                <a:srgbClr val="002060"/>
              </a:solidFill>
              <a:latin typeface="Baskerville Old Face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67200" y="1777425"/>
            <a:ext cx="16514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CaCl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0" y="1777425"/>
            <a:ext cx="15953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2H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O+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51761" y="1752600"/>
            <a:ext cx="20922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Ca(</a:t>
            </a:r>
            <a:r>
              <a:rPr lang="en-US" altLang="zh-CN" sz="3200" dirty="0" err="1">
                <a:latin typeface="Baskerville Old Face" pitchFamily="18" charset="0"/>
              </a:rPr>
              <a:t>ClO</a:t>
            </a:r>
            <a:r>
              <a:rPr lang="en-US" altLang="zh-CN" sz="3200" dirty="0">
                <a:latin typeface="Baskerville Old Face" pitchFamily="18" charset="0"/>
              </a:rPr>
              <a:t>)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en-US" altLang="zh-CN" sz="3200" baseline="-250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卤素的氧化性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943088" cy="48768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dirty="0">
                <a:latin typeface="Baskerville Old Face" pitchFamily="18" charset="0"/>
              </a:rPr>
              <a:t>易得电子、强氧化剂</a:t>
            </a:r>
            <a:endParaRPr lang="en-US" altLang="zh-CN" dirty="0">
              <a:latin typeface="Baskerville Old Face" pitchFamily="18" charset="0"/>
            </a:endParaRPr>
          </a:p>
          <a:p>
            <a:pPr>
              <a:buNone/>
            </a:pPr>
            <a:endParaRPr lang="en-US" altLang="zh-CN" dirty="0">
              <a:latin typeface="Baskerville Old Face" pitchFamily="18" charset="0"/>
            </a:endParaRPr>
          </a:p>
          <a:p>
            <a:pPr>
              <a:buNone/>
            </a:pPr>
            <a:r>
              <a:rPr lang="zh-CN" altLang="en-US" dirty="0">
                <a:latin typeface="Baskerville Old Face" pitchFamily="18" charset="0"/>
              </a:rPr>
              <a:t>活动</a:t>
            </a:r>
            <a:r>
              <a:rPr lang="en-US" altLang="zh-CN" dirty="0">
                <a:latin typeface="Baskerville Old Face" pitchFamily="18" charset="0"/>
              </a:rPr>
              <a:t>10&amp;11</a:t>
            </a:r>
          </a:p>
          <a:p>
            <a:pPr>
              <a:buFont typeface="Wingdings" pitchFamily="2" charset="2"/>
              <a:buChar char="Ø"/>
            </a:pPr>
            <a:r>
              <a:rPr lang="en-US" altLang="zh-CN" dirty="0" err="1">
                <a:latin typeface="Baskerville Old Face" pitchFamily="18" charset="0"/>
              </a:rPr>
              <a:t>KBr</a:t>
            </a:r>
            <a:r>
              <a:rPr lang="zh-CN" altLang="en-US" dirty="0">
                <a:latin typeface="Baskerville Old Face" pitchFamily="18" charset="0"/>
              </a:rPr>
              <a:t>溶液由无色变橙色；分层。下层橙红色</a:t>
            </a:r>
            <a:endParaRPr lang="en-US" altLang="zh-CN" dirty="0">
              <a:latin typeface="Baskerville Old Face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altLang="zh-CN" dirty="0">
                <a:latin typeface="Baskerville Old Face" pitchFamily="18" charset="0"/>
              </a:rPr>
              <a:t>KI</a:t>
            </a:r>
            <a:r>
              <a:rPr lang="zh-CN" altLang="en-US" dirty="0">
                <a:latin typeface="Baskerville Old Face" pitchFamily="18" charset="0"/>
              </a:rPr>
              <a:t>溶液由无色变棕黄色；分层。下层紫红色</a:t>
            </a:r>
            <a:endParaRPr lang="en-US" altLang="zh-CN" dirty="0">
              <a:latin typeface="Baskerville Old Face" pitchFamily="18" charset="0"/>
            </a:endParaRPr>
          </a:p>
          <a:p>
            <a:pPr>
              <a:buNone/>
            </a:pPr>
            <a:endParaRPr lang="en-US" altLang="zh-CN" dirty="0">
              <a:latin typeface="Baskerville Old Face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altLang="zh-CN" dirty="0">
                <a:latin typeface="Baskerville Old Face" pitchFamily="18" charset="0"/>
                <a:sym typeface="Wingdings" pitchFamily="2" charset="2"/>
              </a:rPr>
              <a:t>Br</a:t>
            </a:r>
            <a:r>
              <a:rPr lang="en-US" altLang="zh-CN" baseline="-25000" dirty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altLang="zh-CN" dirty="0">
                <a:latin typeface="Baskerville Old Face" pitchFamily="18" charset="0"/>
                <a:sym typeface="Wingdings" pitchFamily="2" charset="2"/>
              </a:rPr>
              <a:t> </a:t>
            </a:r>
            <a:r>
              <a:rPr lang="zh-CN" altLang="en-US" dirty="0">
                <a:latin typeface="Baskerville Old Face" pitchFamily="18" charset="0"/>
                <a:sym typeface="Wingdings" pitchFamily="2" charset="2"/>
              </a:rPr>
              <a:t>及</a:t>
            </a:r>
            <a:r>
              <a:rPr lang="en-US" altLang="zh-CN" dirty="0">
                <a:latin typeface="Baskerville Old Face" pitchFamily="18" charset="0"/>
                <a:sym typeface="Wingdings" pitchFamily="2" charset="2"/>
              </a:rPr>
              <a:t>I</a:t>
            </a:r>
            <a:r>
              <a:rPr lang="en-US" altLang="zh-CN" baseline="-25000" dirty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altLang="zh-CN" dirty="0">
                <a:latin typeface="Baskerville Old Face" pitchFamily="18" charset="0"/>
                <a:sym typeface="Wingdings" pitchFamily="2" charset="2"/>
              </a:rPr>
              <a:t> </a:t>
            </a:r>
            <a:r>
              <a:rPr lang="zh-CN" altLang="en-US" dirty="0">
                <a:latin typeface="Baskerville Old Face" pitchFamily="18" charset="0"/>
                <a:sym typeface="Wingdings" pitchFamily="2" charset="2"/>
              </a:rPr>
              <a:t>是被置换出来的。</a:t>
            </a:r>
            <a:endParaRPr lang="en-US" altLang="zh-CN" dirty="0">
              <a:latin typeface="Baskerville Old Face" pitchFamily="18" charset="0"/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>
                <a:latin typeface="Baskerville Old Face" pitchFamily="18" charset="0"/>
                <a:sym typeface="Wingdings" pitchFamily="2" charset="2"/>
              </a:rPr>
              <a:t>氯气、溴在反应中作为氧化剂，</a:t>
            </a:r>
            <a:endParaRPr lang="en-US" altLang="zh-CN" dirty="0"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dirty="0">
                <a:latin typeface="Baskerville Old Face" pitchFamily="18" charset="0"/>
                <a:sym typeface="Wingdings" pitchFamily="2" charset="2"/>
              </a:rPr>
              <a:t>	</a:t>
            </a:r>
            <a:r>
              <a:rPr lang="zh-CN" altLang="en-US" dirty="0">
                <a:latin typeface="Baskerville Old Face" pitchFamily="18" charset="0"/>
                <a:sym typeface="Wingdings" pitchFamily="2" charset="2"/>
              </a:rPr>
              <a:t>表现出氧化性。</a:t>
            </a:r>
            <a:endParaRPr lang="en-US" altLang="zh-CN" baseline="-25000" dirty="0">
              <a:latin typeface="Baskerville Old Face" pitchFamily="18" charset="0"/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  <a:r>
              <a:rPr lang="en-US" altLang="zh-CN" dirty="0"/>
              <a:t>15a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943088" cy="5257800"/>
          </a:xfrm>
        </p:spPr>
        <p:txBody>
          <a:bodyPr>
            <a:normAutofit/>
          </a:bodyPr>
          <a:lstStyle/>
          <a:p>
            <a:pPr marL="596646" indent="-514350">
              <a:buNone/>
            </a:pPr>
            <a:r>
              <a:rPr lang="en-US" altLang="zh-CN" dirty="0"/>
              <a:t>1. 7</a:t>
            </a:r>
            <a:r>
              <a:rPr lang="zh-CN" altLang="en-US" dirty="0"/>
              <a:t>个价电子</a:t>
            </a:r>
            <a:endParaRPr lang="en-US" altLang="zh-CN" dirty="0"/>
          </a:p>
          <a:p>
            <a:pPr marL="596646" indent="-514350">
              <a:buNone/>
            </a:pPr>
            <a:r>
              <a:rPr lang="en-US" altLang="zh-CN" dirty="0"/>
              <a:t>	</a:t>
            </a:r>
            <a:r>
              <a:rPr lang="zh-CN" altLang="en-US" dirty="0"/>
              <a:t>易得到</a:t>
            </a:r>
            <a:r>
              <a:rPr lang="en-US" altLang="zh-CN" dirty="0"/>
              <a:t>1</a:t>
            </a:r>
            <a:r>
              <a:rPr lang="zh-CN" altLang="en-US" dirty="0"/>
              <a:t>个电子</a:t>
            </a:r>
            <a:endParaRPr lang="en-US" altLang="zh-CN" dirty="0"/>
          </a:p>
          <a:p>
            <a:pPr marL="596646" indent="-514350">
              <a:buNone/>
            </a:pPr>
            <a:r>
              <a:rPr lang="en-US" altLang="zh-CN" dirty="0"/>
              <a:t>	</a:t>
            </a:r>
            <a:r>
              <a:rPr lang="zh-CN" altLang="en-US" dirty="0"/>
              <a:t>常见氧化数：</a:t>
            </a:r>
            <a:r>
              <a:rPr lang="en-US" altLang="zh-CN" dirty="0"/>
              <a:t>-1</a:t>
            </a:r>
          </a:p>
          <a:p>
            <a:pPr marL="596646" indent="-514350">
              <a:buNone/>
            </a:pPr>
            <a:r>
              <a:rPr lang="en-US" altLang="zh-CN" dirty="0"/>
              <a:t>	</a:t>
            </a:r>
            <a:r>
              <a:rPr lang="zh-CN" altLang="en-US" dirty="0"/>
              <a:t>氟</a:t>
            </a:r>
            <a:endParaRPr lang="en-US" altLang="zh-CN" dirty="0"/>
          </a:p>
          <a:p>
            <a:pPr marL="596646" indent="-514350">
              <a:buNone/>
            </a:pPr>
            <a:r>
              <a:rPr lang="en-US" altLang="zh-CN" dirty="0"/>
              <a:t>	</a:t>
            </a:r>
            <a:r>
              <a:rPr lang="zh-CN" altLang="en-US" dirty="0"/>
              <a:t>氟</a:t>
            </a:r>
            <a:endParaRPr lang="en-US" altLang="zh-CN" dirty="0"/>
          </a:p>
          <a:p>
            <a:pPr marL="596646" indent="-514350">
              <a:buNone/>
            </a:pPr>
            <a:r>
              <a:rPr lang="en-US" altLang="zh-CN" dirty="0"/>
              <a:t>2. C</a:t>
            </a:r>
          </a:p>
          <a:p>
            <a:pPr marL="596646" indent="-514350">
              <a:buNone/>
            </a:pPr>
            <a:r>
              <a:rPr lang="en-US" altLang="zh-CN" dirty="0"/>
              <a:t>3. </a:t>
            </a:r>
            <a:r>
              <a:rPr lang="zh-CN" altLang="en-US" dirty="0"/>
              <a:t>将溶液蒸干时溴变气态，加热时碘升华亦变成气态。</a:t>
            </a:r>
            <a:endParaRPr lang="en-US" altLang="zh-CN" dirty="0"/>
          </a:p>
          <a:p>
            <a:pPr marL="596646" indent="-51435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Ans</a:t>
            </a:r>
            <a:r>
              <a:rPr lang="en-US" altLang="zh-CN" dirty="0"/>
              <a:t>: D </a:t>
            </a:r>
          </a:p>
          <a:p>
            <a:pPr marL="596646" indent="-514350"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5" name="Picture 5" descr="C:\Users\user\Desktop\chemistry\ppt&amp;video\高中化学\第九章 卤素\卤素图片\funnel3.jpg"/>
          <p:cNvPicPr>
            <a:picLocks noChangeAspect="1" noChangeArrowheads="1"/>
          </p:cNvPicPr>
          <p:nvPr/>
        </p:nvPicPr>
        <p:blipFill>
          <a:blip r:embed="rId2"/>
          <a:srcRect l="12500" r="18750"/>
          <a:stretch>
            <a:fillRect/>
          </a:stretch>
        </p:blipFill>
        <p:spPr bwMode="auto">
          <a:xfrm>
            <a:off x="1142999" y="1981200"/>
            <a:ext cx="2268363" cy="43434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371600" y="1447800"/>
            <a:ext cx="22028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Baskerville Old Face" pitchFamily="18" charset="0"/>
              </a:rPr>
              <a:t>安全漏斗</a:t>
            </a:r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en-US" altLang="zh-CN" sz="3200" baseline="-250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51122" y="1371600"/>
            <a:ext cx="46880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Baskerville Old Face" pitchFamily="18" charset="0"/>
              </a:rPr>
              <a:t>滴漏斗或分液漏斗</a:t>
            </a:r>
            <a:r>
              <a:rPr lang="en-US" altLang="zh-CN" sz="3200" dirty="0">
                <a:latin typeface="Baskerville Old Face" pitchFamily="18" charset="0"/>
              </a:rPr>
              <a:t> </a:t>
            </a:r>
            <a:endParaRPr lang="en-US" sz="3200" dirty="0">
              <a:latin typeface="Baskerville Old Face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4648200" y="2057400"/>
            <a:ext cx="2438400" cy="4038600"/>
            <a:chOff x="3200400" y="2057400"/>
            <a:chExt cx="2438400" cy="4038600"/>
          </a:xfrm>
        </p:grpSpPr>
        <p:pic>
          <p:nvPicPr>
            <p:cNvPr id="5122" name="Picture 2" descr="C:\Users\user\Desktop\chemistry\ppt&amp;video\高中化学\第九章 卤素\卤素图片\funnel4.jpg"/>
            <p:cNvPicPr>
              <a:picLocks noChangeAspect="1" noChangeArrowheads="1"/>
            </p:cNvPicPr>
            <p:nvPr/>
          </p:nvPicPr>
          <p:blipFill>
            <a:blip r:embed="rId3"/>
            <a:srcRect b="31428"/>
            <a:stretch>
              <a:fillRect/>
            </a:stretch>
          </p:blipFill>
          <p:spPr bwMode="auto">
            <a:xfrm>
              <a:off x="3200400" y="2057400"/>
              <a:ext cx="2438400" cy="1828800"/>
            </a:xfrm>
            <a:prstGeom prst="rect">
              <a:avLst/>
            </a:prstGeom>
            <a:noFill/>
          </p:spPr>
        </p:pic>
        <p:grpSp>
          <p:nvGrpSpPr>
            <p:cNvPr id="13" name="Group 12"/>
            <p:cNvGrpSpPr/>
            <p:nvPr/>
          </p:nvGrpSpPr>
          <p:grpSpPr>
            <a:xfrm>
              <a:off x="4267200" y="3810000"/>
              <a:ext cx="79376" cy="2286000"/>
              <a:chOff x="6018212" y="3733800"/>
              <a:chExt cx="79376" cy="2286000"/>
            </a:xfrm>
          </p:grpSpPr>
          <p:cxnSp>
            <p:nvCxnSpPr>
              <p:cNvPr id="10" name="Straight Connector 9"/>
              <p:cNvCxnSpPr/>
              <p:nvPr/>
            </p:nvCxnSpPr>
            <p:spPr>
              <a:xfrm rot="5400000">
                <a:off x="4876006" y="4876006"/>
                <a:ext cx="2286000" cy="1588"/>
              </a:xfrm>
              <a:prstGeom prst="line">
                <a:avLst/>
              </a:prstGeom>
              <a:ln w="158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rot="5400000">
                <a:off x="4953794" y="4876006"/>
                <a:ext cx="2286000" cy="1588"/>
              </a:xfrm>
              <a:prstGeom prst="line">
                <a:avLst/>
              </a:prstGeom>
              <a:ln w="158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9408" y="-76200"/>
            <a:ext cx="749808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15.2 </a:t>
            </a:r>
            <a:r>
              <a:rPr lang="zh-CN" altLang="en-US" dirty="0"/>
              <a:t>氯气的制取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14400"/>
            <a:ext cx="8153400" cy="5562600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 </a:t>
            </a:r>
            <a:r>
              <a:rPr lang="en-US" altLang="zh-CN" dirty="0"/>
              <a:t>  15.2.1 </a:t>
            </a:r>
            <a:r>
              <a:rPr lang="zh-CN" altLang="en-US" dirty="0"/>
              <a:t>氯气的实验室制法</a:t>
            </a:r>
            <a:r>
              <a:rPr lang="zh-CN" altLang="en-US" sz="2400" dirty="0"/>
              <a:t>（活动</a:t>
            </a:r>
            <a:r>
              <a:rPr lang="en-US" altLang="zh-CN" sz="2400" dirty="0"/>
              <a:t>12</a:t>
            </a:r>
            <a:r>
              <a:rPr lang="zh-CN" altLang="en-US" sz="2400" dirty="0"/>
              <a:t>）</a:t>
            </a:r>
            <a:endParaRPr lang="en-US" altLang="zh-CN" dirty="0"/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HCl</a:t>
            </a:r>
            <a:r>
              <a:rPr lang="en-US" baseline="-25000" dirty="0"/>
              <a:t>（</a:t>
            </a:r>
            <a:r>
              <a:rPr lang="zh-CN" altLang="en-US" baseline="-25000" dirty="0"/>
              <a:t>浓）</a:t>
            </a:r>
            <a:r>
              <a:rPr lang="en-US" altLang="zh-CN" dirty="0"/>
              <a:t>+ </a:t>
            </a:r>
            <a:r>
              <a:rPr lang="en-US" dirty="0"/>
              <a:t>MnO</a:t>
            </a:r>
            <a:r>
              <a:rPr lang="en-US" baseline="-25000" dirty="0"/>
              <a:t>2</a:t>
            </a:r>
            <a:r>
              <a:rPr lang="en-US" altLang="zh-CN" dirty="0">
                <a:sym typeface="Wingdings" pitchFamily="2" charset="2"/>
              </a:rPr>
              <a:t>            </a:t>
            </a:r>
            <a:r>
              <a:rPr lang="en-US" dirty="0"/>
              <a:t>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191000" y="1751012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>
            <a:off x="4495800" y="1556166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198227" y="1472625"/>
            <a:ext cx="1202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55270" y="1472625"/>
            <a:ext cx="13933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O+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0" y="1452027"/>
            <a:ext cx="16482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MnCl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en-US" altLang="zh-CN" sz="3200" baseline="-250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9634" y="1447800"/>
            <a:ext cx="5581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Arial Narrow" pitchFamily="34" charset="0"/>
              </a:rPr>
              <a:t>4  </a:t>
            </a:r>
            <a:endParaRPr lang="en-US" sz="32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23634" y="1447800"/>
            <a:ext cx="5581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Arial Narrow" pitchFamily="34" charset="0"/>
              </a:rPr>
              <a:t>2  </a:t>
            </a:r>
            <a:endParaRPr lang="en-US" sz="32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pic>
        <p:nvPicPr>
          <p:cNvPr id="13" name="Content Placeholder 3" descr="氯气制取装置1.png"/>
          <p:cNvPicPr>
            <a:picLocks noChangeAspect="1"/>
          </p:cNvPicPr>
          <p:nvPr/>
        </p:nvPicPr>
        <p:blipFill>
          <a:blip r:embed="rId2">
            <a:lum bright="-20000"/>
          </a:blip>
          <a:stretch>
            <a:fillRect/>
          </a:stretch>
        </p:blipFill>
        <p:spPr>
          <a:xfrm>
            <a:off x="152400" y="2133600"/>
            <a:ext cx="8839200" cy="441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8" grpId="0"/>
      <p:bldP spid="9" grpId="0"/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altLang="zh-CN" sz="3900" dirty="0"/>
              <a:t>15.2.1 </a:t>
            </a:r>
            <a:r>
              <a:rPr lang="zh-CN" altLang="en-US" sz="3900" dirty="0"/>
              <a:t>氯气的实验室制法</a:t>
            </a:r>
            <a:br>
              <a:rPr lang="en-US" altLang="zh-CN" sz="3900" dirty="0"/>
            </a:br>
            <a:r>
              <a:rPr lang="zh-CN" altLang="en-US" sz="3900" dirty="0"/>
              <a:t>方法（二）</a:t>
            </a: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8933688" cy="4800600"/>
          </a:xfrm>
        </p:spPr>
        <p:txBody>
          <a:bodyPr/>
          <a:lstStyle/>
          <a:p>
            <a:pPr>
              <a:buNone/>
            </a:pPr>
            <a:r>
              <a:rPr lang="en-US" dirty="0"/>
              <a:t>2KMnO</a:t>
            </a:r>
            <a:r>
              <a:rPr lang="en-US" baseline="-25000" dirty="0"/>
              <a:t>4</a:t>
            </a:r>
            <a:r>
              <a:rPr lang="en-US" dirty="0"/>
              <a:t> +16HCl</a:t>
            </a:r>
            <a:r>
              <a:rPr lang="en-US" baseline="-25000" dirty="0"/>
              <a:t>（</a:t>
            </a:r>
            <a:r>
              <a:rPr lang="zh-CN" altLang="en-US" baseline="-25000" dirty="0"/>
              <a:t>浓</a:t>
            </a:r>
            <a:r>
              <a:rPr lang="en-US" altLang="zh-CN" baseline="-25000" dirty="0"/>
              <a:t>)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IMG_20160730_22245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1905000"/>
            <a:ext cx="8686800" cy="46817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19600" y="1320225"/>
            <a:ext cx="1202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64670" y="1320225"/>
            <a:ext cx="13933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O+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24800" y="1295400"/>
            <a:ext cx="16482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MnCl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en-US" altLang="zh-CN" sz="3200" baseline="-250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4634" y="1244025"/>
            <a:ext cx="5581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Arial Narrow" pitchFamily="34" charset="0"/>
              </a:rPr>
              <a:t>2  </a:t>
            </a:r>
            <a:endParaRPr lang="en-US" sz="32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21728" y="1295400"/>
            <a:ext cx="12554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Baskerville Old Face" pitchFamily="18" charset="0"/>
              </a:rPr>
              <a:t>KCl</a:t>
            </a:r>
            <a:r>
              <a:rPr lang="en-US" altLang="zh-CN" sz="3200" dirty="0">
                <a:latin typeface="Baskerville Old Face" pitchFamily="18" charset="0"/>
              </a:rPr>
              <a:t>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47634" y="1244025"/>
            <a:ext cx="5581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Arial Narrow" pitchFamily="34" charset="0"/>
              </a:rPr>
              <a:t>2  </a:t>
            </a:r>
            <a:endParaRPr lang="en-US" sz="32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7800" y="1295400"/>
            <a:ext cx="5581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Arial Narrow" pitchFamily="34" charset="0"/>
              </a:rPr>
              <a:t>8  </a:t>
            </a:r>
            <a:endParaRPr lang="en-US" sz="32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66234" y="1295400"/>
            <a:ext cx="5581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Arial Narrow" pitchFamily="34" charset="0"/>
              </a:rPr>
              <a:t>5  </a:t>
            </a:r>
            <a:endParaRPr lang="en-US" sz="32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氯气制取装置3.jpg"/>
          <p:cNvPicPr>
            <a:picLocks noGrp="1" noChangeAspect="1"/>
          </p:cNvPicPr>
          <p:nvPr>
            <p:ph idx="1"/>
          </p:nvPr>
        </p:nvPicPr>
        <p:blipFill>
          <a:blip r:embed="rId2">
            <a:lum bright="-20000"/>
          </a:blip>
          <a:stretch>
            <a:fillRect/>
          </a:stretch>
        </p:blipFill>
        <p:spPr>
          <a:xfrm>
            <a:off x="762000" y="1600200"/>
            <a:ext cx="8085159" cy="403860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氯气制取装置4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422777"/>
            <a:ext cx="7251700" cy="4435098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15.2.2 </a:t>
            </a:r>
            <a:r>
              <a:rPr lang="zh-CN" altLang="en-US" dirty="0"/>
              <a:t>氯气的工业制法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000" dirty="0"/>
              <a:t>活动</a:t>
            </a:r>
            <a:r>
              <a:rPr lang="en-US" altLang="zh-CN" sz="3000" dirty="0"/>
              <a:t>13</a:t>
            </a:r>
          </a:p>
          <a:p>
            <a:pPr>
              <a:buNone/>
            </a:pPr>
            <a:r>
              <a:rPr lang="en-US" altLang="zh-CN" sz="3000" dirty="0"/>
              <a:t>1. </a:t>
            </a:r>
          </a:p>
          <a:p>
            <a:pPr marL="596646" indent="-514350">
              <a:buAutoNum type="arabicParenBoth"/>
            </a:pPr>
            <a:r>
              <a:rPr lang="zh-CN" altLang="en-US" sz="3000" dirty="0"/>
              <a:t>气体呈黄绿色，并能使湿润的淀粉</a:t>
            </a:r>
            <a:r>
              <a:rPr lang="en-US" altLang="zh-CN" sz="3000" dirty="0"/>
              <a:t>KI</a:t>
            </a:r>
            <a:r>
              <a:rPr lang="zh-CN" altLang="en-US" sz="3000" dirty="0"/>
              <a:t>试纸变蓝。</a:t>
            </a:r>
            <a:endParaRPr lang="en-US" altLang="zh-CN" sz="3000" dirty="0"/>
          </a:p>
          <a:p>
            <a:pPr marL="596646" indent="-514350">
              <a:buAutoNum type="arabicParenBoth"/>
            </a:pPr>
            <a:r>
              <a:rPr lang="zh-CN" altLang="en-US" sz="3000" dirty="0"/>
              <a:t>发出爆鸣声</a:t>
            </a:r>
            <a:endParaRPr lang="en-US" altLang="zh-CN" sz="3000" dirty="0"/>
          </a:p>
          <a:p>
            <a:pPr marL="596646" indent="-514350">
              <a:buAutoNum type="arabicParenBoth"/>
            </a:pPr>
            <a:r>
              <a:rPr lang="zh-CN" altLang="en-US" sz="3000" dirty="0"/>
              <a:t>溶液由无色变红色</a:t>
            </a:r>
            <a:endParaRPr lang="en-US" altLang="zh-CN" sz="3000" dirty="0"/>
          </a:p>
          <a:p>
            <a:pPr marL="596646" indent="-514350">
              <a:buNone/>
            </a:pPr>
            <a:r>
              <a:rPr lang="en-US" altLang="zh-CN" sz="3000" dirty="0"/>
              <a:t>2. </a:t>
            </a:r>
            <a:endParaRPr lang="en-US" sz="3000" dirty="0"/>
          </a:p>
          <a:p>
            <a:pPr>
              <a:buNone/>
            </a:pPr>
            <a:r>
              <a:rPr lang="en-US" altLang="zh-CN" sz="3000" dirty="0"/>
              <a:t>Cl</a:t>
            </a:r>
            <a:r>
              <a:rPr lang="en-US" altLang="zh-CN" sz="3000" baseline="-25000" dirty="0"/>
              <a:t>2  </a:t>
            </a:r>
            <a:r>
              <a:rPr lang="en-US" altLang="zh-CN" sz="3000" dirty="0"/>
              <a:t> </a:t>
            </a:r>
            <a:r>
              <a:rPr lang="zh-CN" altLang="en-US" sz="3000" dirty="0"/>
              <a:t>，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 </a:t>
            </a:r>
            <a:r>
              <a:rPr lang="zh-CN" altLang="en-US" sz="3000" baseline="-25000" dirty="0"/>
              <a:t> </a:t>
            </a:r>
            <a:r>
              <a:rPr lang="zh-CN" altLang="en-US" sz="3000" dirty="0"/>
              <a:t> ，</a:t>
            </a:r>
            <a:r>
              <a:rPr lang="en-US" altLang="zh-CN" sz="3000" dirty="0" err="1">
                <a:sym typeface="Wingdings" pitchFamily="2" charset="2"/>
              </a:rPr>
              <a:t>NaOH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sz="3000" dirty="0">
              <a:sym typeface="Wingdings" pitchFamily="2" charset="2"/>
            </a:endParaRPr>
          </a:p>
          <a:p>
            <a:pPr>
              <a:buNone/>
            </a:pPr>
            <a:endParaRPr 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7498080" cy="1143000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15.2.2 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氯气的工业制法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066800"/>
            <a:ext cx="749808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电解饱和 </a:t>
            </a:r>
            <a:r>
              <a:rPr lang="en-US" altLang="zh-CN" dirty="0" err="1"/>
              <a:t>NaCl</a:t>
            </a:r>
            <a:r>
              <a:rPr lang="en-US" altLang="zh-CN" dirty="0"/>
              <a:t> </a:t>
            </a:r>
            <a:r>
              <a:rPr lang="zh-CN" altLang="en-US" dirty="0"/>
              <a:t>水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NaCl</a:t>
            </a:r>
            <a:r>
              <a:rPr lang="en-US" altLang="zh-CN" dirty="0"/>
              <a:t>	Na</a:t>
            </a:r>
            <a:r>
              <a:rPr lang="en-US" altLang="zh-CN" baseline="30000" dirty="0"/>
              <a:t>+    </a:t>
            </a:r>
            <a:r>
              <a:rPr lang="en-US" altLang="zh-CN" dirty="0"/>
              <a:t>   </a:t>
            </a:r>
            <a:r>
              <a:rPr lang="en-US" altLang="zh-CN" dirty="0" err="1"/>
              <a:t>Cl</a:t>
            </a:r>
            <a:r>
              <a:rPr lang="en-US" altLang="zh-CN" baseline="30000" dirty="0"/>
              <a:t>-</a:t>
            </a:r>
          </a:p>
          <a:p>
            <a:pPr>
              <a:buNone/>
            </a:pP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en-US" altLang="zh-CN" dirty="0"/>
              <a:t>O		H</a:t>
            </a:r>
            <a:r>
              <a:rPr lang="en-US" altLang="zh-CN" baseline="30000" dirty="0"/>
              <a:t>+</a:t>
            </a:r>
            <a:r>
              <a:rPr lang="en-US" altLang="zh-CN" dirty="0"/>
              <a:t> 	   OH</a:t>
            </a:r>
            <a:r>
              <a:rPr lang="en-US" altLang="zh-CN" baseline="30000" dirty="0"/>
              <a:t>-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负极：</a:t>
            </a:r>
            <a:r>
              <a:rPr lang="en-US" altLang="zh-CN" dirty="0"/>
              <a:t>2H</a:t>
            </a:r>
            <a:r>
              <a:rPr lang="en-US" altLang="zh-CN" baseline="30000" dirty="0"/>
              <a:t>+</a:t>
            </a:r>
            <a:r>
              <a:rPr lang="en-US" altLang="zh-CN" dirty="0"/>
              <a:t> +2e</a:t>
            </a:r>
            <a:r>
              <a:rPr lang="en-US" altLang="zh-CN" baseline="30000" dirty="0"/>
              <a:t>-</a:t>
            </a:r>
            <a:r>
              <a:rPr lang="en-US" altLang="zh-CN" dirty="0"/>
              <a:t>  </a:t>
            </a:r>
            <a:r>
              <a:rPr lang="en-US" altLang="zh-CN" dirty="0">
                <a:sym typeface="Wingdings" pitchFamily="2" charset="2"/>
              </a:rPr>
              <a:t> H</a:t>
            </a:r>
            <a:r>
              <a:rPr lang="en-US" altLang="zh-CN" baseline="-25000" dirty="0">
                <a:sym typeface="Wingdings" pitchFamily="2" charset="2"/>
              </a:rPr>
              <a:t>2</a:t>
            </a:r>
          </a:p>
          <a:p>
            <a:pPr>
              <a:buNone/>
            </a:pPr>
            <a:r>
              <a:rPr lang="en-US" altLang="zh-CN" baseline="-25000" dirty="0">
                <a:sym typeface="Wingdings" pitchFamily="2" charset="2"/>
              </a:rPr>
              <a:t> </a:t>
            </a:r>
            <a:r>
              <a:rPr lang="zh-CN" altLang="en-US" dirty="0">
                <a:sym typeface="Wingdings" pitchFamily="2" charset="2"/>
              </a:rPr>
              <a:t>正极：</a:t>
            </a:r>
            <a:r>
              <a:rPr lang="en-US" altLang="zh-CN" dirty="0">
                <a:sym typeface="Wingdings" pitchFamily="2" charset="2"/>
              </a:rPr>
              <a:t>2Cl</a:t>
            </a:r>
            <a:r>
              <a:rPr lang="en-US" altLang="zh-CN" baseline="30000" dirty="0">
                <a:sym typeface="Wingdings" pitchFamily="2" charset="2"/>
              </a:rPr>
              <a:t>-</a:t>
            </a:r>
            <a:r>
              <a:rPr lang="en-US" altLang="zh-CN" dirty="0">
                <a:sym typeface="Wingdings" pitchFamily="2" charset="2"/>
              </a:rPr>
              <a:t>  Cl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</a:t>
            </a:r>
            <a:r>
              <a:rPr lang="en-US" altLang="zh-CN" dirty="0"/>
              <a:t>+2e</a:t>
            </a:r>
            <a:r>
              <a:rPr lang="en-US" altLang="zh-CN" baseline="30000" dirty="0"/>
              <a:t>-</a:t>
            </a:r>
            <a:r>
              <a:rPr lang="en-US" altLang="zh-CN" dirty="0"/>
              <a:t> 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dirty="0"/>
              <a:t>2NaCl+2 H</a:t>
            </a:r>
            <a:r>
              <a:rPr lang="en-US" baseline="-25000" dirty="0"/>
              <a:t>2</a:t>
            </a:r>
            <a:r>
              <a:rPr lang="en-US" dirty="0"/>
              <a:t>O           </a:t>
            </a:r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200400" y="1676400"/>
            <a:ext cx="914400" cy="1219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495800" y="1676400"/>
            <a:ext cx="914400" cy="1219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191000" y="5334000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81765" y="502920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Baskerville Old Face" pitchFamily="18" charset="0"/>
              </a:rPr>
              <a:t>电解</a:t>
            </a:r>
            <a:endParaRPr lang="en-US" sz="1600" dirty="0">
              <a:latin typeface="Baskerville Old Fac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98227" y="5054025"/>
            <a:ext cx="1202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24600" y="5054025"/>
            <a:ext cx="1059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91400" y="5033427"/>
            <a:ext cx="19143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2NaOH </a:t>
            </a:r>
            <a:r>
              <a:rPr lang="en-US" altLang="zh-CN" sz="3200" baseline="-250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8" grpId="0"/>
      <p:bldP spid="9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15.2.2 </a:t>
            </a:r>
            <a:r>
              <a:rPr lang="zh-CN" altLang="en-US" dirty="0"/>
              <a:t>氯气的工业制法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000" dirty="0"/>
              <a:t>阳离子交换膜，起着</a:t>
            </a:r>
            <a:r>
              <a:rPr lang="zh-CN" altLang="en-US" sz="3000" dirty="0">
                <a:solidFill>
                  <a:srgbClr val="C00000"/>
                </a:solidFill>
              </a:rPr>
              <a:t>隔膜的作用。</a:t>
            </a:r>
            <a:endParaRPr lang="en-US" altLang="zh-CN" sz="3000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zh-CN" altLang="en-US" sz="3000" dirty="0">
                <a:solidFill>
                  <a:srgbClr val="7030A0"/>
                </a:solidFill>
              </a:rPr>
              <a:t>避免爆炸</a:t>
            </a:r>
            <a:r>
              <a:rPr lang="en-US" altLang="zh-CN" sz="3000" dirty="0">
                <a:solidFill>
                  <a:srgbClr val="7030A0"/>
                </a:solidFill>
              </a:rPr>
              <a:t>(</a:t>
            </a:r>
            <a:r>
              <a:rPr lang="zh-CN" altLang="en-US" sz="3000" dirty="0">
                <a:solidFill>
                  <a:srgbClr val="7030A0"/>
                </a:solidFill>
              </a:rPr>
              <a:t>与</a:t>
            </a:r>
            <a:r>
              <a:rPr lang="en-US" altLang="zh-CN" sz="3000" dirty="0">
                <a:solidFill>
                  <a:srgbClr val="7030A0"/>
                </a:solidFill>
              </a:rPr>
              <a:t>H</a:t>
            </a:r>
            <a:r>
              <a:rPr lang="en-US" altLang="zh-CN" sz="3000" baseline="-25000" dirty="0">
                <a:solidFill>
                  <a:srgbClr val="7030A0"/>
                </a:solidFill>
              </a:rPr>
              <a:t>2</a:t>
            </a:r>
            <a:r>
              <a:rPr lang="zh-CN" altLang="en-US" sz="3000" dirty="0">
                <a:solidFill>
                  <a:srgbClr val="7030A0"/>
                </a:solidFill>
              </a:rPr>
              <a:t>反应</a:t>
            </a:r>
            <a:r>
              <a:rPr lang="en-US" altLang="zh-CN" sz="3000" dirty="0">
                <a:solidFill>
                  <a:srgbClr val="7030A0"/>
                </a:solidFill>
              </a:rPr>
              <a:t>)</a:t>
            </a:r>
            <a:r>
              <a:rPr lang="zh-CN" altLang="en-US" sz="3000" dirty="0">
                <a:solidFill>
                  <a:srgbClr val="7030A0"/>
                </a:solidFill>
              </a:rPr>
              <a:t>；</a:t>
            </a:r>
            <a:endParaRPr lang="en-US" altLang="zh-CN" sz="3000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zh-CN" altLang="en-US" sz="3000" dirty="0">
                <a:solidFill>
                  <a:srgbClr val="7030A0"/>
                </a:solidFill>
              </a:rPr>
              <a:t>避免氯气的损耗</a:t>
            </a:r>
            <a:r>
              <a:rPr lang="en-US" altLang="zh-CN" sz="3000" dirty="0">
                <a:solidFill>
                  <a:srgbClr val="7030A0"/>
                </a:solidFill>
              </a:rPr>
              <a:t>(</a:t>
            </a:r>
            <a:r>
              <a:rPr lang="zh-CN" altLang="en-US" sz="3000" dirty="0">
                <a:solidFill>
                  <a:srgbClr val="7030A0"/>
                </a:solidFill>
              </a:rPr>
              <a:t>与</a:t>
            </a:r>
            <a:r>
              <a:rPr lang="en-US" altLang="zh-CN" sz="3000" dirty="0">
                <a:solidFill>
                  <a:srgbClr val="7030A0"/>
                </a:solidFill>
              </a:rPr>
              <a:t>OH</a:t>
            </a:r>
            <a:r>
              <a:rPr lang="en-US" altLang="zh-CN" sz="3000" baseline="30000" dirty="0">
                <a:solidFill>
                  <a:srgbClr val="7030A0"/>
                </a:solidFill>
              </a:rPr>
              <a:t>-</a:t>
            </a:r>
            <a:r>
              <a:rPr lang="zh-CN" altLang="en-US" sz="3000" dirty="0">
                <a:solidFill>
                  <a:srgbClr val="7030A0"/>
                </a:solidFill>
              </a:rPr>
              <a:t>反应</a:t>
            </a:r>
            <a:r>
              <a:rPr lang="en-US" altLang="zh-CN" sz="3000" dirty="0">
                <a:solidFill>
                  <a:srgbClr val="7030A0"/>
                </a:solidFill>
              </a:rPr>
              <a:t> )</a:t>
            </a:r>
            <a:r>
              <a:rPr lang="zh-CN" altLang="en-US" sz="3000" dirty="0">
                <a:solidFill>
                  <a:srgbClr val="7030A0"/>
                </a:solidFill>
              </a:rPr>
              <a:t>。</a:t>
            </a:r>
            <a:endParaRPr lang="en-US" altLang="zh-CN" sz="3000" dirty="0">
              <a:solidFill>
                <a:srgbClr val="7030A0"/>
              </a:solidFill>
            </a:endParaRPr>
          </a:p>
          <a:p>
            <a:pPr>
              <a:buNone/>
            </a:pPr>
            <a:endParaRPr lang="en-US" sz="3000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zh-CN" sz="3000" dirty="0"/>
              <a:t>H</a:t>
            </a:r>
            <a:r>
              <a:rPr lang="en-US" altLang="zh-CN" sz="3000" baseline="-25000" dirty="0"/>
              <a:t>2  </a:t>
            </a:r>
            <a:r>
              <a:rPr lang="en-US" altLang="zh-CN" sz="3000" dirty="0"/>
              <a:t> +  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 </a:t>
            </a:r>
            <a:r>
              <a:rPr lang="en-US" altLang="zh-CN" sz="3000" dirty="0"/>
              <a:t>             </a:t>
            </a:r>
            <a:r>
              <a:rPr lang="en-US" altLang="zh-CN" sz="3000" dirty="0">
                <a:sym typeface="Wingdings" pitchFamily="2" charset="2"/>
              </a:rPr>
              <a:t>2HCl</a:t>
            </a: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+ 2 </a:t>
            </a:r>
            <a:r>
              <a:rPr lang="en-US" altLang="zh-CN" sz="3000" dirty="0" err="1">
                <a:sym typeface="Wingdings" pitchFamily="2" charset="2"/>
              </a:rPr>
              <a:t>NaOH</a:t>
            </a:r>
            <a:r>
              <a:rPr lang="en-US" altLang="zh-CN" sz="3000" dirty="0">
                <a:sym typeface="Wingdings" pitchFamily="2" charset="2"/>
              </a:rPr>
              <a:t>  </a:t>
            </a:r>
          </a:p>
          <a:p>
            <a:pPr>
              <a:buNone/>
            </a:pPr>
            <a:endParaRPr lang="en-US" sz="3000" dirty="0">
              <a:sym typeface="Wingdings" pitchFamily="2" charset="2"/>
            </a:endParaRPr>
          </a:p>
          <a:p>
            <a:pPr>
              <a:buNone/>
            </a:pPr>
            <a:endParaRPr lang="en-US" sz="3000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200400" y="3886200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165" y="358140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Baskerville Old Face" pitchFamily="18" charset="0"/>
              </a:rPr>
              <a:t>光照</a:t>
            </a:r>
            <a:endParaRPr lang="en-US" sz="1600" dirty="0">
              <a:latin typeface="Baskerville Old Fac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38600" y="4673025"/>
            <a:ext cx="15520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Baskerville Old Face" pitchFamily="18" charset="0"/>
              </a:rPr>
              <a:t>NaCl</a:t>
            </a:r>
            <a:r>
              <a:rPr lang="en-US" altLang="zh-CN" sz="3200" dirty="0">
                <a:latin typeface="Baskerville Old Face" pitchFamily="18" charset="0"/>
              </a:rPr>
              <a:t> 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95643" y="4673025"/>
            <a:ext cx="13933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O+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60373" y="4652427"/>
            <a:ext cx="1752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Baskerville Old Face" pitchFamily="18" charset="0"/>
              </a:rPr>
              <a:t>NaClO</a:t>
            </a:r>
            <a:r>
              <a:rPr lang="en-US" altLang="zh-CN" sz="3200" dirty="0">
                <a:latin typeface="Baskerville Old Face" pitchFamily="18" charset="0"/>
              </a:rPr>
              <a:t> </a:t>
            </a:r>
            <a:r>
              <a:rPr lang="en-US" altLang="zh-CN" sz="3200" baseline="-250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  <a:r>
              <a:rPr lang="en-US" altLang="zh-CN" dirty="0"/>
              <a:t>15b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7498080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1. 4 </a:t>
            </a:r>
            <a:r>
              <a:rPr lang="en-US" altLang="zh-CN" dirty="0" err="1"/>
              <a:t>HCl</a:t>
            </a:r>
            <a:r>
              <a:rPr lang="en-US" altLang="zh-CN" dirty="0"/>
              <a:t> + MnO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</a:p>
          <a:p>
            <a:pPr lvl="1">
              <a:buNone/>
            </a:pPr>
            <a:r>
              <a:rPr lang="en-US" altLang="zh-CN" dirty="0"/>
              <a:t> 4(36.5)g  87g				1mol</a:t>
            </a:r>
          </a:p>
          <a:p>
            <a:pPr lvl="1">
              <a:buNone/>
            </a:pPr>
            <a:r>
              <a:rPr lang="en-US" altLang="zh-CN" dirty="0"/>
              <a:t>	146g	 87g				1mol</a:t>
            </a:r>
          </a:p>
          <a:p>
            <a:pPr lvl="1">
              <a:buNone/>
            </a:pPr>
            <a:r>
              <a:rPr lang="en-US" altLang="zh-CN" dirty="0" err="1"/>
              <a:t>Ans</a:t>
            </a:r>
            <a:r>
              <a:rPr lang="en-US" altLang="zh-CN" dirty="0"/>
              <a:t>: C </a:t>
            </a:r>
          </a:p>
          <a:p>
            <a:pPr>
              <a:buNone/>
            </a:pPr>
            <a:r>
              <a:rPr lang="en-US" altLang="zh-CN" dirty="0"/>
              <a:t>2. A </a:t>
            </a:r>
          </a:p>
          <a:p>
            <a:pPr>
              <a:buNone/>
            </a:pPr>
            <a:r>
              <a:rPr lang="en-US" altLang="zh-CN" dirty="0"/>
              <a:t>	B C  </a:t>
            </a:r>
            <a:r>
              <a:rPr lang="zh-CN" altLang="en-US" dirty="0"/>
              <a:t>正极：</a:t>
            </a:r>
            <a:r>
              <a:rPr lang="en-US" altLang="zh-CN" dirty="0"/>
              <a:t>Cl</a:t>
            </a:r>
            <a:r>
              <a:rPr lang="en-US" altLang="zh-CN" baseline="-25000" dirty="0"/>
              <a:t>2</a:t>
            </a:r>
            <a:r>
              <a:rPr lang="en-US" altLang="zh-CN" dirty="0"/>
              <a:t>  </a:t>
            </a:r>
          </a:p>
          <a:p>
            <a:pPr>
              <a:buNone/>
            </a:pPr>
            <a:r>
              <a:rPr lang="en-US" altLang="zh-CN" dirty="0"/>
              <a:t>	 	  </a:t>
            </a:r>
            <a:r>
              <a:rPr lang="zh-CN" altLang="en-US" dirty="0"/>
              <a:t>负极： </a:t>
            </a: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en-US" altLang="zh-CN" dirty="0"/>
              <a:t> &amp; </a:t>
            </a:r>
            <a:r>
              <a:rPr lang="en-US" altLang="zh-CN" dirty="0" err="1"/>
              <a:t>NaOH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D Na</a:t>
            </a:r>
            <a:r>
              <a:rPr lang="en-US" altLang="zh-CN" baseline="30000" dirty="0"/>
              <a:t>+</a:t>
            </a:r>
            <a:r>
              <a:rPr lang="en-US" altLang="zh-CN" dirty="0"/>
              <a:t> </a:t>
            </a:r>
            <a:r>
              <a:rPr lang="zh-CN" altLang="en-US" dirty="0"/>
              <a:t>量没变</a:t>
            </a:r>
            <a:r>
              <a:rPr lang="en-US" altLang="zh-CN" dirty="0"/>
              <a:t> 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886200" y="1751012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191000" y="1556166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800600" y="1396425"/>
            <a:ext cx="4076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MnCl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+ 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+ 2H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O </a:t>
            </a:r>
            <a:r>
              <a:rPr lang="en-US" altLang="zh-CN" sz="3200" baseline="-250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活动</a:t>
            </a:r>
            <a:r>
              <a:rPr lang="en-US" altLang="zh-CN" dirty="0"/>
              <a:t>14</a:t>
            </a:r>
            <a:r>
              <a:rPr lang="zh-CN" altLang="en-US" dirty="0"/>
              <a:t>：喷泉实验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886200" y="1447800"/>
            <a:ext cx="5047488" cy="4800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dirty="0"/>
              <a:t>烧杯中的紫色石蕊试液由玻璃管进入烧瓶，形成红色喷泉。</a:t>
            </a:r>
            <a:r>
              <a:rPr lang="en-US" altLang="zh-CN" dirty="0"/>
              <a:t>	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原因：</a:t>
            </a:r>
            <a:r>
              <a:rPr lang="en-US" altLang="zh-CN" dirty="0" err="1"/>
              <a:t>HCl</a:t>
            </a:r>
            <a:r>
              <a:rPr lang="en-US" altLang="zh-CN" dirty="0"/>
              <a:t>(g)</a:t>
            </a:r>
            <a:r>
              <a:rPr lang="zh-CN" altLang="en-US" dirty="0"/>
              <a:t>极易溶于水，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瓶内气压减小，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在大气压的作用下，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烧杯的水被压入烧瓶形成喷泉。</a:t>
            </a:r>
            <a:endParaRPr lang="en-US" dirty="0"/>
          </a:p>
        </p:txBody>
      </p:sp>
      <p:pic>
        <p:nvPicPr>
          <p:cNvPr id="3077" name="Picture 5" descr="C:\Users\user\Desktop\chemistry\ppt&amp;video\高中化学\第九章 卤素\卤素图片\喷泉实验3.jpg"/>
          <p:cNvPicPr>
            <a:picLocks noChangeAspect="1" noChangeArrowheads="1"/>
          </p:cNvPicPr>
          <p:nvPr/>
        </p:nvPicPr>
        <p:blipFill>
          <a:blip r:embed="rId2"/>
          <a:srcRect l="9259" r="20370"/>
          <a:stretch>
            <a:fillRect/>
          </a:stretch>
        </p:blipFill>
        <p:spPr bwMode="auto">
          <a:xfrm>
            <a:off x="762000" y="1600200"/>
            <a:ext cx="2895600" cy="48428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:\Users\user\Desktop\chemistry\ppt&amp;video\高中化学\第九章 卤素\卤素图片\喷泉实验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75" y="1219200"/>
            <a:ext cx="3362325" cy="4479953"/>
          </a:xfrm>
          <a:prstGeom prst="rect">
            <a:avLst/>
          </a:prstGeom>
          <a:noFill/>
        </p:spPr>
      </p:pic>
      <p:pic>
        <p:nvPicPr>
          <p:cNvPr id="4099" name="Picture 3" descr="C:\Users\user\Desktop\chemistry\ppt&amp;video\高中化学\第九章 卤素\卤素图片\喷泉实验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685800"/>
            <a:ext cx="2819400" cy="55125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15.3 </a:t>
            </a:r>
            <a:r>
              <a:rPr lang="zh-CN" altLang="en-US" dirty="0"/>
              <a:t>氯化氢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15.3.1 </a:t>
            </a:r>
            <a:r>
              <a:rPr lang="zh-CN" altLang="en-US" dirty="0"/>
              <a:t>氯化氢的性质与用途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HCl</a:t>
            </a:r>
            <a:r>
              <a:rPr lang="en-US" altLang="zh-CN" dirty="0"/>
              <a:t>(g)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无色、刺激性气味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易液化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极易溶于水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HCl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氢氯酸，又称盐酸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无色液体，有</a:t>
            </a:r>
            <a:r>
              <a:rPr lang="en-US" altLang="zh-CN" dirty="0" err="1"/>
              <a:t>HCl</a:t>
            </a:r>
            <a:r>
              <a:rPr lang="zh-CN" altLang="en-US" dirty="0"/>
              <a:t>的刺激性气味</a:t>
            </a:r>
            <a:r>
              <a:rPr lang="en-US" altLang="zh-CN" dirty="0"/>
              <a:t>(</a:t>
            </a:r>
            <a:r>
              <a:rPr lang="zh-CN" altLang="en-US" dirty="0"/>
              <a:t>易挥发</a:t>
            </a:r>
            <a:r>
              <a:rPr lang="en-US" altLang="zh-CN" dirty="0"/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强酸（干燥</a:t>
            </a:r>
            <a:r>
              <a:rPr lang="en-US" altLang="zh-CN" dirty="0" err="1"/>
              <a:t>HCl</a:t>
            </a:r>
            <a:r>
              <a:rPr lang="en-US" altLang="zh-CN" baseline="-25000" dirty="0"/>
              <a:t>(g)</a:t>
            </a:r>
            <a:r>
              <a:rPr lang="zh-CN" altLang="en-US" dirty="0"/>
              <a:t>不显酸性），具有酸的通性</a:t>
            </a:r>
            <a:endParaRPr lang="en-US" altLang="zh-CN" dirty="0"/>
          </a:p>
          <a:p>
            <a:pPr lvl="1">
              <a:buFont typeface="Wingdings" pitchFamily="2" charset="2"/>
              <a:buChar char="Ø"/>
            </a:pPr>
            <a:endParaRPr lang="en-US" altLang="zh-CN" dirty="0"/>
          </a:p>
          <a:p>
            <a:pPr lvl="1">
              <a:buFont typeface="Wingdings" pitchFamily="2" charset="2"/>
              <a:buChar char="Ø"/>
            </a:pPr>
            <a:endParaRPr lang="en-US" altLang="zh-CN" dirty="0"/>
          </a:p>
          <a:p>
            <a:pPr lvl="1">
              <a:buFont typeface="Wingdings" pitchFamily="2" charset="2"/>
              <a:buChar char="Ø"/>
            </a:pPr>
            <a:endParaRPr lang="en-US" altLang="zh-CN" dirty="0"/>
          </a:p>
          <a:p>
            <a:pPr lvl="1">
              <a:buFont typeface="Wingdings" pitchFamily="2" charset="2"/>
              <a:buChar char="Ø"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15.3.1 </a:t>
            </a:r>
            <a:r>
              <a:rPr lang="zh-CN" altLang="en-US" dirty="0"/>
              <a:t>氯化氢的性质与用途</a:t>
            </a:r>
            <a:endParaRPr lang="en-US" dirty="0"/>
          </a:p>
        </p:txBody>
      </p:sp>
      <p:pic>
        <p:nvPicPr>
          <p:cNvPr id="2051" name="Picture 3" descr="C:\Users\user\Desktop\chemistry\ppt&amp;video\高中化学\第九章 卤素\卤素图片\盐酸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9800" y="1447800"/>
            <a:ext cx="2833858" cy="3124200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43000" y="1524000"/>
            <a:ext cx="48768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浓盐酸具有挥发性</a:t>
            </a:r>
            <a:endParaRPr lang="en-US" altLang="zh-CN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zh-CN" altLang="en-US" dirty="0"/>
              <a:t>挥发出</a:t>
            </a:r>
            <a:r>
              <a:rPr lang="en-US" altLang="zh-CN" dirty="0" err="1"/>
              <a:t>HCl</a:t>
            </a:r>
            <a:r>
              <a:rPr lang="en-US" altLang="zh-CN" dirty="0"/>
              <a:t>(g)</a:t>
            </a:r>
          </a:p>
          <a:p>
            <a:pPr>
              <a:buNone/>
            </a:pPr>
            <a:r>
              <a:rPr lang="zh-CN" altLang="en-US" dirty="0"/>
              <a:t>与空气中的水蒸气形成盐酸小液滴而产生</a:t>
            </a:r>
            <a:r>
              <a:rPr lang="zh-CN" altLang="en-US" b="1" dirty="0">
                <a:solidFill>
                  <a:srgbClr val="7030A0"/>
                </a:solidFill>
              </a:rPr>
              <a:t>白雾</a:t>
            </a:r>
            <a:r>
              <a:rPr lang="en-US" altLang="zh-CN" dirty="0"/>
              <a:t>				  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28600"/>
            <a:ext cx="7498080" cy="1143000"/>
          </a:xfrm>
        </p:spPr>
        <p:txBody>
          <a:bodyPr/>
          <a:lstStyle/>
          <a:p>
            <a:r>
              <a:rPr lang="en-US" altLang="zh-CN" dirty="0"/>
              <a:t>15.3.1 </a:t>
            </a:r>
            <a:r>
              <a:rPr lang="zh-CN" altLang="en-US" dirty="0"/>
              <a:t>氯化氢的性质与用途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057400"/>
            <a:ext cx="7498080" cy="48006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altLang="zh-CN" dirty="0" err="1"/>
              <a:t>HCl</a:t>
            </a:r>
            <a:r>
              <a:rPr lang="en-US" altLang="zh-CN" dirty="0"/>
              <a:t> (g) + NH</a:t>
            </a:r>
            <a:r>
              <a:rPr lang="en-US" altLang="zh-CN" baseline="-25000" dirty="0"/>
              <a:t>3</a:t>
            </a:r>
            <a:r>
              <a:rPr lang="en-US" altLang="zh-CN" dirty="0"/>
              <a:t> (g)</a:t>
            </a:r>
            <a:r>
              <a:rPr lang="en-US" altLang="zh-CN" dirty="0">
                <a:sym typeface="Wingdings" pitchFamily="2" charset="2"/>
              </a:rPr>
              <a:t></a:t>
            </a:r>
          </a:p>
          <a:p>
            <a:pPr>
              <a:buNone/>
            </a:pPr>
            <a:r>
              <a:rPr lang="en-US" altLang="zh-CN" dirty="0"/>
              <a:t>					</a:t>
            </a:r>
            <a:r>
              <a:rPr lang="zh-CN" altLang="en-US" b="1" dirty="0">
                <a:solidFill>
                  <a:srgbClr val="7030A0"/>
                </a:solidFill>
              </a:rPr>
              <a:t>白烟</a:t>
            </a:r>
            <a:r>
              <a:rPr lang="zh-CN" altLang="en-US" dirty="0"/>
              <a:t>：氯化铵晶体</a:t>
            </a:r>
            <a:endParaRPr lang="en-US" dirty="0"/>
          </a:p>
        </p:txBody>
      </p:sp>
      <p:pic>
        <p:nvPicPr>
          <p:cNvPr id="4" name="Content Placeholder 3" descr="氯化铵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3000"/>
            <a:ext cx="7915721" cy="4371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5410200"/>
            <a:ext cx="19511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ym typeface="Wingdings" pitchFamily="2" charset="2"/>
              </a:rPr>
              <a:t>NH</a:t>
            </a:r>
            <a:r>
              <a:rPr lang="en-US" altLang="zh-CN" sz="3200" baseline="-25000" dirty="0">
                <a:sym typeface="Wingdings" pitchFamily="2" charset="2"/>
              </a:rPr>
              <a:t>4</a:t>
            </a:r>
            <a:r>
              <a:rPr lang="en-US" altLang="zh-CN" sz="3200" dirty="0">
                <a:sym typeface="Wingdings" pitchFamily="2" charset="2"/>
              </a:rPr>
              <a:t>Cl(s)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15.3.2 </a:t>
            </a:r>
            <a:r>
              <a:rPr lang="zh-CN" altLang="en-US" dirty="0"/>
              <a:t>氯化氢与盐酸的制取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1447800"/>
            <a:ext cx="4133088" cy="4800600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活动</a:t>
            </a:r>
            <a:r>
              <a:rPr lang="en-US" altLang="zh-CN" dirty="0"/>
              <a:t>15</a:t>
            </a:r>
          </a:p>
          <a:p>
            <a:pPr>
              <a:buNone/>
            </a:pPr>
            <a:r>
              <a:rPr lang="zh-CN" altLang="en-US" dirty="0"/>
              <a:t>有气泡产生</a:t>
            </a:r>
            <a:endParaRPr lang="en-US" altLang="zh-CN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6146" name="Picture 2" descr="C:\Users\user\Desktop\chemistry\ppt&amp;video\高中化学\第九章 卤素\卤素图片\氯化氢制取1.jpg"/>
          <p:cNvPicPr>
            <a:picLocks noChangeAspect="1" noChangeArrowheads="1"/>
          </p:cNvPicPr>
          <p:nvPr/>
        </p:nvPicPr>
        <p:blipFill>
          <a:blip r:embed="rId2"/>
          <a:srcRect l="20946" r="15054"/>
          <a:stretch>
            <a:fillRect/>
          </a:stretch>
        </p:blipFill>
        <p:spPr bwMode="auto">
          <a:xfrm>
            <a:off x="533400" y="1371600"/>
            <a:ext cx="4419600" cy="489634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512" y="1447800"/>
            <a:ext cx="8171688" cy="48006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askerville Old Face" pitchFamily="18" charset="0"/>
              </a:rPr>
              <a:t>NaCl+H</a:t>
            </a:r>
            <a:r>
              <a:rPr lang="en-US" baseline="-25000" dirty="0">
                <a:latin typeface="Baskerville Old Face" pitchFamily="18" charset="0"/>
              </a:rPr>
              <a:t>2</a:t>
            </a:r>
            <a:r>
              <a:rPr lang="en-US" dirty="0">
                <a:latin typeface="Baskerville Old Face" pitchFamily="18" charset="0"/>
              </a:rPr>
              <a:t>SO</a:t>
            </a:r>
            <a:r>
              <a:rPr lang="en-US" baseline="-25000" dirty="0">
                <a:latin typeface="Baskerville Old Face" pitchFamily="18" charset="0"/>
              </a:rPr>
              <a:t>4</a:t>
            </a:r>
            <a:r>
              <a:rPr lang="zh-CN" altLang="en-US" baseline="-25000" dirty="0">
                <a:latin typeface="Baskerville Old Face" pitchFamily="18" charset="0"/>
              </a:rPr>
              <a:t>（浓）</a:t>
            </a:r>
            <a:r>
              <a:rPr lang="en-US" dirty="0">
                <a:latin typeface="Baskerville Old Face" pitchFamily="18" charset="0"/>
              </a:rPr>
              <a:t> </a:t>
            </a:r>
            <a:r>
              <a:rPr lang="en-US" dirty="0">
                <a:latin typeface="Baskerville Old Face" pitchFamily="18" charset="0"/>
                <a:sym typeface="Wingdings" pitchFamily="2" charset="2"/>
              </a:rPr>
              <a:t></a:t>
            </a:r>
            <a:r>
              <a:rPr lang="en-US" baseline="-25000" dirty="0">
                <a:latin typeface="Baskerville Old Face" pitchFamily="18" charset="0"/>
              </a:rPr>
              <a:t>	</a:t>
            </a:r>
            <a:r>
              <a:rPr lang="en-US" dirty="0">
                <a:latin typeface="Baskerville Old Face" pitchFamily="18" charset="0"/>
              </a:rPr>
              <a:t>NaHSO</a:t>
            </a:r>
            <a:r>
              <a:rPr lang="en-US" baseline="-25000" dirty="0">
                <a:latin typeface="Baskerville Old Face" pitchFamily="18" charset="0"/>
              </a:rPr>
              <a:t>4</a:t>
            </a:r>
            <a:r>
              <a:rPr lang="en-US" dirty="0">
                <a:latin typeface="Baskerville Old Face" pitchFamily="18" charset="0"/>
              </a:rPr>
              <a:t>+ HCl	------</a:t>
            </a:r>
            <a:r>
              <a:rPr lang="en-US" dirty="0">
                <a:latin typeface="Calibri"/>
                <a:cs typeface="Calibri"/>
              </a:rPr>
              <a:t>①</a:t>
            </a:r>
            <a:endParaRPr lang="en-US" dirty="0">
              <a:latin typeface="Baskerville Old Face" pitchFamily="18" charset="0"/>
            </a:endParaRPr>
          </a:p>
          <a:p>
            <a:pPr marL="0" indent="0">
              <a:buNone/>
            </a:pPr>
            <a:r>
              <a:rPr lang="en-US" dirty="0">
                <a:latin typeface="Baskerville Old Face" pitchFamily="18" charset="0"/>
              </a:rPr>
              <a:t>NaHSO</a:t>
            </a:r>
            <a:r>
              <a:rPr lang="en-US" baseline="-25000" dirty="0">
                <a:latin typeface="Baskerville Old Face" pitchFamily="18" charset="0"/>
              </a:rPr>
              <a:t>4</a:t>
            </a:r>
            <a:r>
              <a:rPr lang="en-US" dirty="0">
                <a:latin typeface="Baskerville Old Face" pitchFamily="18" charset="0"/>
              </a:rPr>
              <a:t>+ </a:t>
            </a:r>
            <a:r>
              <a:rPr lang="en-US" dirty="0" err="1">
                <a:latin typeface="Baskerville Old Face" pitchFamily="18" charset="0"/>
              </a:rPr>
              <a:t>NaCl</a:t>
            </a:r>
            <a:r>
              <a:rPr lang="en-US" dirty="0">
                <a:latin typeface="Baskerville Old Face" pitchFamily="18" charset="0"/>
              </a:rPr>
              <a:t> 	         Na</a:t>
            </a:r>
            <a:r>
              <a:rPr lang="en-US" baseline="-25000" dirty="0">
                <a:latin typeface="Baskerville Old Face" pitchFamily="18" charset="0"/>
              </a:rPr>
              <a:t>2</a:t>
            </a:r>
            <a:r>
              <a:rPr lang="en-US" dirty="0">
                <a:latin typeface="Baskerville Old Face" pitchFamily="18" charset="0"/>
              </a:rPr>
              <a:t>SO</a:t>
            </a:r>
            <a:r>
              <a:rPr lang="en-US" baseline="-25000" dirty="0">
                <a:latin typeface="Baskerville Old Face" pitchFamily="18" charset="0"/>
              </a:rPr>
              <a:t>4</a:t>
            </a:r>
            <a:r>
              <a:rPr lang="en-US" dirty="0">
                <a:latin typeface="Baskerville Old Face" pitchFamily="18" charset="0"/>
              </a:rPr>
              <a:t>+HCl     ------</a:t>
            </a:r>
            <a:r>
              <a:rPr lang="en-US" dirty="0">
                <a:latin typeface="Calibri"/>
                <a:cs typeface="Calibri"/>
              </a:rPr>
              <a:t>②</a:t>
            </a:r>
            <a:endParaRPr lang="en-US" dirty="0">
              <a:latin typeface="Baskerville Old Face" pitchFamily="18" charset="0"/>
            </a:endParaRPr>
          </a:p>
          <a:p>
            <a:pPr marL="0" indent="0">
              <a:buNone/>
            </a:pPr>
            <a:endParaRPr lang="en-US" dirty="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latin typeface="Calibri"/>
                <a:cs typeface="Calibri"/>
              </a:rPr>
              <a:t>①+②</a:t>
            </a:r>
            <a:r>
              <a:rPr lang="en-US" dirty="0">
                <a:latin typeface="Baskerville Old Face" pitchFamily="18" charset="0"/>
              </a:rPr>
              <a:t>  </a:t>
            </a:r>
          </a:p>
          <a:p>
            <a:pPr marL="0" indent="0">
              <a:buNone/>
            </a:pPr>
            <a:endParaRPr lang="en-US" dirty="0">
              <a:latin typeface="Baskerville Old Face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Baskerville Old Face" pitchFamily="18" charset="0"/>
              </a:rPr>
              <a:t>2</a:t>
            </a:r>
            <a:r>
              <a:rPr lang="en-US" dirty="0">
                <a:latin typeface="Baskerville Old Face" pitchFamily="18" charset="0"/>
              </a:rPr>
              <a:t>NaCl+ H</a:t>
            </a:r>
            <a:r>
              <a:rPr lang="en-US" baseline="-25000" dirty="0">
                <a:latin typeface="Baskerville Old Face" pitchFamily="18" charset="0"/>
              </a:rPr>
              <a:t>2</a:t>
            </a:r>
            <a:r>
              <a:rPr lang="en-US" dirty="0">
                <a:latin typeface="Baskerville Old Face" pitchFamily="18" charset="0"/>
              </a:rPr>
              <a:t>SO</a:t>
            </a:r>
            <a:r>
              <a:rPr lang="en-US" baseline="-25000" dirty="0">
                <a:latin typeface="Baskerville Old Face" pitchFamily="18" charset="0"/>
              </a:rPr>
              <a:t>4</a:t>
            </a:r>
            <a:r>
              <a:rPr lang="zh-CN" altLang="en-US" baseline="-25000" dirty="0">
                <a:latin typeface="Baskerville Old Face" pitchFamily="18" charset="0"/>
              </a:rPr>
              <a:t>（浓）</a:t>
            </a:r>
            <a:r>
              <a:rPr lang="en-US" dirty="0">
                <a:latin typeface="Baskerville Old Face" pitchFamily="18" charset="0"/>
              </a:rPr>
              <a:t>	       </a:t>
            </a:r>
          </a:p>
          <a:p>
            <a:endParaRPr lang="en-US" dirty="0">
              <a:latin typeface="Baskerville Old Face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810000" y="2328446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114800" y="2133600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19600" y="4538246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>
            <a:off x="4724400" y="4343400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10800000" flipV="1">
            <a:off x="3886200" y="1524000"/>
            <a:ext cx="1371600" cy="381000"/>
          </a:xfrm>
          <a:prstGeom prst="line">
            <a:avLst/>
          </a:prstGeom>
          <a:ln w="22225">
            <a:solidFill>
              <a:srgbClr val="9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 flipV="1">
            <a:off x="1143001" y="2133600"/>
            <a:ext cx="1371600" cy="381000"/>
          </a:xfrm>
          <a:prstGeom prst="line">
            <a:avLst/>
          </a:prstGeom>
          <a:ln w="22225">
            <a:solidFill>
              <a:srgbClr val="9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78156" y="4267200"/>
            <a:ext cx="19928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Na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SO</a:t>
            </a:r>
            <a:r>
              <a:rPr lang="en-US" altLang="zh-CN" sz="3200" baseline="-25000" dirty="0">
                <a:latin typeface="Baskerville Old Face" pitchFamily="18" charset="0"/>
              </a:rPr>
              <a:t>4</a:t>
            </a:r>
            <a:r>
              <a:rPr lang="en-US" altLang="zh-CN" sz="3200" dirty="0">
                <a:latin typeface="Baskerville Old Face" pitchFamily="18" charset="0"/>
              </a:rPr>
              <a:t> 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5647" y="4267200"/>
            <a:ext cx="1298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2HCl  </a:t>
            </a:r>
            <a:endParaRPr lang="en-US" sz="3200" dirty="0">
              <a:latin typeface="Baskerville Old Face" pitchFamily="18" charset="0"/>
            </a:endParaRPr>
          </a:p>
        </p:txBody>
      </p:sp>
      <p:pic>
        <p:nvPicPr>
          <p:cNvPr id="13" name="Picture 2" descr="C:\Users\user\Desktop\chemistry\ppt&amp;video\高中化学\第九章 卤素\卤素图片\氯化氢制取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7839" y="457200"/>
            <a:ext cx="7948961" cy="5943600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5867400" y="296882"/>
            <a:ext cx="3048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2060"/>
                </a:solidFill>
              </a:rPr>
              <a:t>将氯化氢通过倒置的漏斗来溶于水以制备盐酸。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 u="sng" dirty="0">
                <a:solidFill>
                  <a:srgbClr val="002060"/>
                </a:solidFill>
              </a:rPr>
              <a:t>问题解决</a:t>
            </a:r>
            <a:endParaRPr lang="en-US" altLang="zh-CN" sz="2800" b="1" u="sng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2060"/>
                </a:solidFill>
              </a:rPr>
              <a:t>防止水倒流</a:t>
            </a:r>
            <a:endParaRPr lang="en-US" altLang="zh-CN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  <p:bldP spid="11" grpId="0"/>
      <p:bldP spid="12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盐酸的工业制法</a:t>
            </a:r>
            <a:endParaRPr lang="en-US" dirty="0"/>
          </a:p>
        </p:txBody>
      </p:sp>
      <p:pic>
        <p:nvPicPr>
          <p:cNvPr id="7170" name="Picture 2" descr="C:\Users\user\Desktop\chemistry\ppt&amp;video\高中化学\第九章 卤素\卤素图片\盐酸工业制取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219200"/>
            <a:ext cx="6858000" cy="4668963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838200" y="2627293"/>
            <a:ext cx="4171335" cy="181588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合成塔：</a:t>
            </a:r>
            <a:endParaRPr lang="en-US" altLang="zh-CN" sz="2800" dirty="0"/>
          </a:p>
          <a:p>
            <a:r>
              <a:rPr lang="en-US" altLang="zh-CN" sz="2800" dirty="0"/>
              <a:t>H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 (g) + Cl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(g) </a:t>
            </a:r>
            <a:r>
              <a:rPr lang="en-US" altLang="zh-CN" sz="2800" dirty="0">
                <a:sym typeface="Wingdings" pitchFamily="2" charset="2"/>
              </a:rPr>
              <a:t> 2HCl(g)</a:t>
            </a:r>
          </a:p>
          <a:p>
            <a:endParaRPr lang="en-US" sz="2800" dirty="0">
              <a:sym typeface="Wingdings" pitchFamily="2" charset="2"/>
            </a:endParaRPr>
          </a:p>
          <a:p>
            <a:r>
              <a:rPr lang="zh-CN" altLang="en-US" sz="2800" dirty="0">
                <a:sym typeface="Wingdings" pitchFamily="2" charset="2"/>
              </a:rPr>
              <a:t>放热反应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2534265" y="2209800"/>
            <a:ext cx="3333135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冷却：</a:t>
            </a:r>
            <a:endParaRPr lang="en-US" altLang="zh-CN" sz="2800" dirty="0"/>
          </a:p>
          <a:p>
            <a:r>
              <a:rPr lang="zh-CN" altLang="en-US" sz="2800" dirty="0"/>
              <a:t>降低</a:t>
            </a:r>
            <a:r>
              <a:rPr lang="en-US" altLang="zh-CN" sz="2800" dirty="0" err="1"/>
              <a:t>HCl</a:t>
            </a:r>
            <a:r>
              <a:rPr lang="en-US" altLang="zh-CN" sz="2800" dirty="0"/>
              <a:t>(g)</a:t>
            </a:r>
            <a:r>
              <a:rPr lang="zh-CN" altLang="en-US" sz="2800" dirty="0"/>
              <a:t>的温度，能增加它在水中的溶解度。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4820265" y="2286000"/>
            <a:ext cx="3333135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吸收：</a:t>
            </a:r>
            <a:endParaRPr lang="en-US" altLang="zh-CN" sz="2800" dirty="0"/>
          </a:p>
          <a:p>
            <a:r>
              <a:rPr lang="zh-CN" altLang="en-US" sz="2800" dirty="0"/>
              <a:t>水吸收</a:t>
            </a:r>
            <a:r>
              <a:rPr lang="en-US" altLang="zh-CN" sz="2800" dirty="0" err="1"/>
              <a:t>HCl</a:t>
            </a:r>
            <a:r>
              <a:rPr lang="en-US" altLang="zh-CN" sz="2800" dirty="0"/>
              <a:t>(g)</a:t>
            </a:r>
            <a:r>
              <a:rPr lang="zh-CN" altLang="en-US" sz="2800" dirty="0"/>
              <a:t>生成盐酸。</a:t>
            </a:r>
            <a:endParaRPr lang="en-US" altLang="zh-CN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5582265" y="4810780"/>
            <a:ext cx="33331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浓盐酸</a:t>
            </a:r>
            <a:r>
              <a:rPr lang="en-US" altLang="zh-CN" sz="2800" dirty="0"/>
              <a:t>(31%~37%)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  <a:r>
              <a:rPr lang="en-US" altLang="zh-CN" dirty="0"/>
              <a:t>15c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8077200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1.</a:t>
            </a:r>
          </a:p>
          <a:p>
            <a:pPr>
              <a:buNone/>
            </a:pPr>
            <a:r>
              <a:rPr lang="en-US" altLang="zh-CN" dirty="0"/>
              <a:t>A </a:t>
            </a:r>
            <a:r>
              <a:rPr lang="en-US" altLang="zh-CN" dirty="0" err="1"/>
              <a:t>HCl</a:t>
            </a:r>
            <a:r>
              <a:rPr lang="zh-CN" altLang="en-US" dirty="0"/>
              <a:t>与</a:t>
            </a:r>
            <a:r>
              <a:rPr lang="en-US" altLang="zh-CN" dirty="0"/>
              <a:t>Cl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溶于水后都有</a:t>
            </a:r>
            <a:r>
              <a:rPr lang="en-US" altLang="zh-CN" dirty="0" err="1"/>
              <a:t>Cl</a:t>
            </a:r>
            <a:r>
              <a:rPr lang="en-US" altLang="zh-CN" baseline="30000" dirty="0"/>
              <a:t>-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B </a:t>
            </a:r>
            <a:r>
              <a:rPr lang="zh-CN" altLang="en-US" dirty="0"/>
              <a:t>干燥的都没反应</a:t>
            </a:r>
            <a:r>
              <a:rPr lang="en-US" altLang="zh-CN" dirty="0"/>
              <a:t>	</a:t>
            </a:r>
          </a:p>
          <a:p>
            <a:pPr>
              <a:buNone/>
            </a:pPr>
            <a:r>
              <a:rPr lang="en-US" altLang="zh-CN" dirty="0"/>
              <a:t>D </a:t>
            </a:r>
            <a:r>
              <a:rPr lang="zh-CN" altLang="en-US" dirty="0"/>
              <a:t>都有反应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Ans</a:t>
            </a:r>
            <a:r>
              <a:rPr lang="en-US" altLang="zh-CN" dirty="0"/>
              <a:t>: C </a:t>
            </a:r>
            <a:r>
              <a:rPr lang="zh-CN" altLang="en-US" dirty="0"/>
              <a:t>：</a:t>
            </a:r>
            <a:r>
              <a:rPr lang="en-US" altLang="zh-CN" dirty="0"/>
              <a:t>Cl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能使湿润的淀粉</a:t>
            </a:r>
            <a:r>
              <a:rPr lang="en-US" altLang="zh-CN" dirty="0"/>
              <a:t>KI</a:t>
            </a:r>
            <a:r>
              <a:rPr lang="zh-CN" altLang="en-US" dirty="0"/>
              <a:t>试纸变蓝。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2. </a:t>
            </a:r>
            <a:r>
              <a:rPr lang="zh-CN" altLang="en-US" dirty="0"/>
              <a:t>不能。浓硫酸具强氧化性，会将</a:t>
            </a:r>
            <a:r>
              <a:rPr lang="en-US" altLang="zh-CN" dirty="0"/>
              <a:t>Br</a:t>
            </a:r>
            <a:r>
              <a:rPr lang="en-US" altLang="zh-CN" baseline="30000" dirty="0"/>
              <a:t>-</a:t>
            </a:r>
            <a:r>
              <a:rPr lang="zh-CN" altLang="en-US" baseline="30000" dirty="0"/>
              <a:t> </a:t>
            </a:r>
            <a:r>
              <a:rPr lang="zh-CN" altLang="en-US" dirty="0"/>
              <a:t> 、</a:t>
            </a:r>
            <a:r>
              <a:rPr lang="en-US" altLang="zh-CN" dirty="0"/>
              <a:t>I</a:t>
            </a:r>
            <a:r>
              <a:rPr lang="en-US" altLang="zh-CN" baseline="30000" dirty="0"/>
              <a:t>-</a:t>
            </a:r>
            <a:r>
              <a:rPr lang="en-US" altLang="zh-CN" dirty="0"/>
              <a:t> </a:t>
            </a:r>
            <a:r>
              <a:rPr lang="zh-CN" altLang="en-US" dirty="0"/>
              <a:t>氧化为</a:t>
            </a:r>
            <a:r>
              <a:rPr lang="en-US" altLang="zh-CN" dirty="0"/>
              <a:t>Br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MY" altLang="zh-CN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15.4 </a:t>
            </a:r>
            <a:r>
              <a:rPr lang="zh-CN" altLang="en-US" dirty="0"/>
              <a:t>卤化物在水中的溶解度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8229600" cy="3886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dirty="0">
                <a:latin typeface="Baskerville Old Face" pitchFamily="18" charset="0"/>
              </a:rPr>
              <a:t>金属卤化物大多易溶于水，除了</a:t>
            </a:r>
            <a:endParaRPr lang="en-US" altLang="zh-CN" dirty="0">
              <a:latin typeface="Baskerville Old Face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altLang="zh-CN" dirty="0" err="1">
                <a:latin typeface="Baskerville Old Face" pitchFamily="18" charset="0"/>
              </a:rPr>
              <a:t>AgCl</a:t>
            </a:r>
            <a:r>
              <a:rPr lang="zh-CN" altLang="en-US" dirty="0">
                <a:latin typeface="Baskerville Old Face" pitchFamily="18" charset="0"/>
              </a:rPr>
              <a:t>、</a:t>
            </a:r>
            <a:r>
              <a:rPr lang="en-US" altLang="zh-CN" dirty="0" err="1">
                <a:latin typeface="Baskerville Old Face" pitchFamily="18" charset="0"/>
              </a:rPr>
              <a:t>AgBr</a:t>
            </a:r>
            <a:r>
              <a:rPr lang="zh-CN" altLang="en-US" dirty="0">
                <a:latin typeface="Baskerville Old Face" pitchFamily="18" charset="0"/>
              </a:rPr>
              <a:t>、</a:t>
            </a:r>
            <a:r>
              <a:rPr lang="en-US" altLang="zh-CN" dirty="0" err="1">
                <a:latin typeface="Baskerville Old Face" pitchFamily="18" charset="0"/>
              </a:rPr>
              <a:t>AgI</a:t>
            </a:r>
            <a:endParaRPr lang="en-US" altLang="zh-CN" dirty="0">
              <a:latin typeface="Baskerville Old Face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altLang="zh-CN" dirty="0">
                <a:latin typeface="Baskerville Old Face" pitchFamily="18" charset="0"/>
              </a:rPr>
              <a:t>PbCl</a:t>
            </a:r>
            <a:r>
              <a:rPr lang="en-US" altLang="zh-CN" baseline="-25000" dirty="0">
                <a:latin typeface="Baskerville Old Face" pitchFamily="18" charset="0"/>
              </a:rPr>
              <a:t>2</a:t>
            </a:r>
            <a:r>
              <a:rPr lang="en-US" altLang="zh-CN" dirty="0">
                <a:latin typeface="Baskerville Old Face" pitchFamily="18" charset="0"/>
              </a:rPr>
              <a:t> </a:t>
            </a:r>
            <a:r>
              <a:rPr lang="zh-CN" altLang="en-US" dirty="0">
                <a:latin typeface="Baskerville Old Face" pitchFamily="18" charset="0"/>
              </a:rPr>
              <a:t>、</a:t>
            </a:r>
            <a:r>
              <a:rPr lang="en-US" altLang="zh-CN" dirty="0">
                <a:latin typeface="Baskerville Old Face" pitchFamily="18" charset="0"/>
              </a:rPr>
              <a:t>PbBr</a:t>
            </a:r>
            <a:r>
              <a:rPr lang="en-US" altLang="zh-CN" baseline="-25000" dirty="0">
                <a:latin typeface="Baskerville Old Face" pitchFamily="18" charset="0"/>
              </a:rPr>
              <a:t>2</a:t>
            </a:r>
            <a:r>
              <a:rPr lang="en-US" altLang="zh-CN" dirty="0">
                <a:latin typeface="Baskerville Old Face" pitchFamily="18" charset="0"/>
              </a:rPr>
              <a:t> </a:t>
            </a:r>
            <a:r>
              <a:rPr lang="zh-CN" altLang="en-US" dirty="0">
                <a:latin typeface="Baskerville Old Face" pitchFamily="18" charset="0"/>
              </a:rPr>
              <a:t>、</a:t>
            </a:r>
            <a:r>
              <a:rPr lang="en-US" altLang="zh-CN" dirty="0">
                <a:latin typeface="Baskerville Old Face" pitchFamily="18" charset="0"/>
              </a:rPr>
              <a:t>PbI</a:t>
            </a:r>
            <a:r>
              <a:rPr lang="en-US" altLang="zh-CN" baseline="-25000" dirty="0">
                <a:latin typeface="Baskerville Old Face" pitchFamily="18" charset="0"/>
              </a:rPr>
              <a:t>2</a:t>
            </a:r>
          </a:p>
          <a:p>
            <a:pPr lvl="1">
              <a:buFont typeface="Wingdings" pitchFamily="2" charset="2"/>
              <a:buChar char="Ø"/>
            </a:pPr>
            <a:endParaRPr lang="en-US" altLang="zh-CN" dirty="0">
              <a:latin typeface="Baskerville Old Face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Baskerville Old Face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卤离子的检验</a:t>
            </a:r>
            <a:r>
              <a:rPr lang="zh-CN" altLang="en-US" sz="2800" dirty="0"/>
              <a:t>（活动</a:t>
            </a:r>
            <a:r>
              <a:rPr lang="en-US" altLang="zh-CN" sz="2800" dirty="0"/>
              <a:t>16</a:t>
            </a:r>
            <a:r>
              <a:rPr lang="zh-CN" altLang="en-US" sz="2800" dirty="0"/>
              <a:t>）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Baskerville Old Face" pitchFamily="18" charset="0"/>
              </a:rPr>
              <a:t>试剂：硝酸银、稀硝酸</a:t>
            </a:r>
            <a:endParaRPr lang="en-US" altLang="zh-CN" dirty="0">
              <a:latin typeface="Baskerville Old Face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Baskerville Old Face" pitchFamily="18" charset="0"/>
              </a:rPr>
              <a:t>NaCl+AgNO</a:t>
            </a:r>
            <a:r>
              <a:rPr lang="en-US" baseline="-25000" dirty="0">
                <a:latin typeface="Baskerville Old Face" pitchFamily="18" charset="0"/>
              </a:rPr>
              <a:t>3</a:t>
            </a:r>
            <a:r>
              <a:rPr lang="en-US" altLang="zh-CN" dirty="0">
                <a:latin typeface="Baskerville Old Face" pitchFamily="18" charset="0"/>
              </a:rPr>
              <a:t> </a:t>
            </a:r>
            <a:r>
              <a:rPr lang="en-US" altLang="zh-CN" dirty="0">
                <a:latin typeface="Baskerville Old Face" pitchFamily="18" charset="0"/>
                <a:sym typeface="Wingdings" pitchFamily="2" charset="2"/>
              </a:rPr>
              <a:t></a:t>
            </a:r>
            <a:endParaRPr lang="en-US" altLang="zh-CN" dirty="0">
              <a:latin typeface="Baskerville Old Face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latin typeface="Baskerville Old Face" pitchFamily="18" charset="0"/>
              </a:rPr>
              <a:t>NaBr+AgNO</a:t>
            </a:r>
            <a:r>
              <a:rPr lang="en-US" dirty="0">
                <a:latin typeface="Baskerville Old Face" pitchFamily="18" charset="0"/>
              </a:rPr>
              <a:t> </a:t>
            </a:r>
            <a:r>
              <a:rPr lang="en-US" baseline="-25000" dirty="0">
                <a:latin typeface="Baskerville Old Face" pitchFamily="18" charset="0"/>
              </a:rPr>
              <a:t>3</a:t>
            </a:r>
            <a:r>
              <a:rPr lang="en-US" dirty="0">
                <a:latin typeface="Baskerville Old Face" pitchFamily="18" charset="0"/>
              </a:rPr>
              <a:t> </a:t>
            </a:r>
            <a:r>
              <a:rPr lang="en-US" dirty="0">
                <a:latin typeface="Baskerville Old Face" pitchFamily="18" charset="0"/>
                <a:sym typeface="Wingdings" pitchFamily="2" charset="2"/>
              </a:rPr>
              <a:t></a:t>
            </a:r>
            <a:endParaRPr lang="en-US" dirty="0">
              <a:latin typeface="Baskerville Old Face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latin typeface="Baskerville Old Face" pitchFamily="18" charset="0"/>
              </a:rPr>
              <a:t>NaI+AgNO</a:t>
            </a:r>
            <a:r>
              <a:rPr lang="en-US" dirty="0">
                <a:latin typeface="Baskerville Old Face" pitchFamily="18" charset="0"/>
              </a:rPr>
              <a:t> </a:t>
            </a:r>
            <a:r>
              <a:rPr lang="en-US" baseline="-25000" dirty="0">
                <a:latin typeface="Baskerville Old Face" pitchFamily="18" charset="0"/>
              </a:rPr>
              <a:t>3 </a:t>
            </a:r>
            <a:r>
              <a:rPr lang="en-US" dirty="0">
                <a:latin typeface="Baskerville Old Face" pitchFamily="18" charset="0"/>
              </a:rPr>
              <a:t> </a:t>
            </a:r>
            <a:r>
              <a:rPr lang="en-US" dirty="0">
                <a:latin typeface="Baskerville Old Face" pitchFamily="18" charset="0"/>
                <a:sym typeface="Wingdings" pitchFamily="2" charset="2"/>
              </a:rPr>
              <a:t></a:t>
            </a:r>
            <a:endParaRPr lang="en-US" dirty="0">
              <a:latin typeface="Baskerville Old Face" pitchFamily="18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19600" y="2387025"/>
            <a:ext cx="1955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NaNO</a:t>
            </a:r>
            <a:r>
              <a:rPr lang="en-US" altLang="zh-CN" sz="3200" baseline="-25000" dirty="0">
                <a:latin typeface="Baskerville Old Face" pitchFamily="18" charset="0"/>
              </a:rPr>
              <a:t>3</a:t>
            </a:r>
            <a:r>
              <a:rPr lang="en-US" altLang="zh-CN" sz="3200" dirty="0">
                <a:latin typeface="Baskerville Old Face" pitchFamily="18" charset="0"/>
              </a:rPr>
              <a:t> 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73214" y="2387025"/>
            <a:ext cx="1217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Baskerville Old Face" pitchFamily="18" charset="0"/>
              </a:rPr>
              <a:t>AgCl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86600" y="2433935"/>
            <a:ext cx="1672253" cy="461665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Baskerville Old Face" pitchFamily="18" charset="0"/>
              </a:rPr>
              <a:t>(</a:t>
            </a:r>
            <a:r>
              <a:rPr lang="zh-CN" altLang="en-US" sz="2400" b="1" dirty="0">
                <a:solidFill>
                  <a:schemeClr val="bg1"/>
                </a:solidFill>
                <a:latin typeface="Baskerville Old Face" pitchFamily="18" charset="0"/>
              </a:rPr>
              <a:t>白色沉淀</a:t>
            </a:r>
            <a:r>
              <a:rPr lang="en-US" altLang="zh-CN" sz="2400" b="1" dirty="0">
                <a:solidFill>
                  <a:schemeClr val="bg1"/>
                </a:solidFill>
                <a:latin typeface="Baskerville Old Face" pitchFamily="18" charset="0"/>
              </a:rPr>
              <a:t> )</a:t>
            </a:r>
            <a:endParaRPr lang="en-US" sz="2400" b="1" dirty="0">
              <a:solidFill>
                <a:schemeClr val="bg1"/>
              </a:solidFill>
              <a:latin typeface="Baskerville Old Fac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9600" y="3200400"/>
            <a:ext cx="1955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NaNO</a:t>
            </a:r>
            <a:r>
              <a:rPr lang="en-US" altLang="zh-CN" sz="3200" baseline="-25000" dirty="0">
                <a:latin typeface="Baskerville Old Face" pitchFamily="18" charset="0"/>
              </a:rPr>
              <a:t>3</a:t>
            </a:r>
            <a:r>
              <a:rPr lang="en-US" altLang="zh-CN" sz="3200" dirty="0">
                <a:latin typeface="Baskerville Old Face" pitchFamily="18" charset="0"/>
              </a:rPr>
              <a:t> 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73214" y="3200400"/>
            <a:ext cx="12618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Baskerville Old Face" pitchFamily="18" charset="0"/>
              </a:rPr>
              <a:t>AgBr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86600" y="3247310"/>
            <a:ext cx="1980029" cy="461665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FF66"/>
                </a:solidFill>
                <a:latin typeface="Baskerville Old Face" pitchFamily="18" charset="0"/>
              </a:rPr>
              <a:t>(</a:t>
            </a:r>
            <a:r>
              <a:rPr lang="zh-CN" altLang="en-US" sz="2400" b="1" dirty="0">
                <a:solidFill>
                  <a:srgbClr val="FFFF66"/>
                </a:solidFill>
                <a:latin typeface="Baskerville Old Face" pitchFamily="18" charset="0"/>
              </a:rPr>
              <a:t>淡黄色沉淀</a:t>
            </a:r>
            <a:r>
              <a:rPr lang="en-US" altLang="zh-CN" sz="2400" b="1" dirty="0">
                <a:solidFill>
                  <a:srgbClr val="FFFF66"/>
                </a:solidFill>
                <a:latin typeface="Baskerville Old Face" pitchFamily="18" charset="0"/>
              </a:rPr>
              <a:t> )</a:t>
            </a:r>
            <a:endParaRPr lang="en-US" sz="2400" b="1" dirty="0">
              <a:solidFill>
                <a:srgbClr val="FFFF66"/>
              </a:solidFill>
              <a:latin typeface="Baskerville Old Face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47547" y="3987225"/>
            <a:ext cx="1955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NaNO</a:t>
            </a:r>
            <a:r>
              <a:rPr lang="en-US" altLang="zh-CN" sz="3200" baseline="-25000" dirty="0">
                <a:latin typeface="Baskerville Old Face" pitchFamily="18" charset="0"/>
              </a:rPr>
              <a:t>3</a:t>
            </a:r>
            <a:r>
              <a:rPr lang="en-US" altLang="zh-CN" sz="3200" dirty="0">
                <a:latin typeface="Baskerville Old Face" pitchFamily="18" charset="0"/>
              </a:rPr>
              <a:t> +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01161" y="3987225"/>
            <a:ext cx="990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Baskerville Old Face" pitchFamily="18" charset="0"/>
              </a:rPr>
              <a:t>AgI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14547" y="4034135"/>
            <a:ext cx="1672253" cy="461665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FF00"/>
                </a:solidFill>
                <a:latin typeface="Baskerville Old Face" pitchFamily="18" charset="0"/>
              </a:rPr>
              <a:t>(</a:t>
            </a:r>
            <a:r>
              <a:rPr lang="zh-CN" altLang="en-US" sz="2400" b="1" dirty="0">
                <a:solidFill>
                  <a:srgbClr val="FFFF00"/>
                </a:solidFill>
                <a:latin typeface="Baskerville Old Face" pitchFamily="18" charset="0"/>
              </a:rPr>
              <a:t>黄色沉淀</a:t>
            </a:r>
            <a:r>
              <a:rPr lang="en-US" altLang="zh-CN" sz="2400" b="1" dirty="0">
                <a:solidFill>
                  <a:srgbClr val="FFFF00"/>
                </a:solidFill>
                <a:latin typeface="Baskerville Old Face" pitchFamily="18" charset="0"/>
              </a:rPr>
              <a:t> )</a:t>
            </a:r>
            <a:endParaRPr lang="en-US" sz="2400" b="1" dirty="0">
              <a:solidFill>
                <a:srgbClr val="FFFF00"/>
              </a:solidFill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-76200"/>
            <a:ext cx="7498080" cy="1143000"/>
          </a:xfrm>
        </p:spPr>
        <p:txBody>
          <a:bodyPr/>
          <a:lstStyle/>
          <a:p>
            <a:r>
              <a:rPr lang="zh-CN" altLang="en-US" dirty="0"/>
              <a:t>思考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838200"/>
            <a:ext cx="749808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000" dirty="0"/>
              <a:t>某溶液与硝酸银溶液反应后生成白色沉淀，说明</a:t>
            </a:r>
            <a:r>
              <a:rPr lang="en-US" altLang="zh-CN" sz="3000" dirty="0"/>
              <a:t>______________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>
              <a:buNone/>
            </a:pPr>
            <a:endParaRPr lang="en-US" altLang="zh-CN" sz="30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zh-CN" altLang="en-US" sz="3000" dirty="0">
                <a:solidFill>
                  <a:srgbClr val="002060"/>
                </a:solidFill>
              </a:rPr>
              <a:t>此溶液中</a:t>
            </a:r>
            <a:r>
              <a:rPr lang="zh-CN" altLang="en-US" sz="3000" b="1" u="sng" dirty="0">
                <a:solidFill>
                  <a:srgbClr val="002060"/>
                </a:solidFill>
              </a:rPr>
              <a:t>可能</a:t>
            </a:r>
            <a:r>
              <a:rPr lang="zh-CN" altLang="en-US" sz="3000" dirty="0">
                <a:solidFill>
                  <a:srgbClr val="002060"/>
                </a:solidFill>
              </a:rPr>
              <a:t>含有氯离子。</a:t>
            </a:r>
            <a:endParaRPr lang="en-US" altLang="zh-CN" sz="30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3000" dirty="0">
                <a:solidFill>
                  <a:srgbClr val="002060"/>
                </a:solidFill>
              </a:rPr>
              <a:t>Ag</a:t>
            </a:r>
            <a:r>
              <a:rPr lang="en-US" sz="3000" baseline="30000" dirty="0">
                <a:solidFill>
                  <a:srgbClr val="002060"/>
                </a:solidFill>
              </a:rPr>
              <a:t>+</a:t>
            </a:r>
            <a:r>
              <a:rPr lang="en-US" sz="3000" dirty="0">
                <a:solidFill>
                  <a:srgbClr val="002060"/>
                </a:solidFill>
              </a:rPr>
              <a:t> (</a:t>
            </a:r>
            <a:r>
              <a:rPr lang="en-US" sz="3000" dirty="0" err="1">
                <a:solidFill>
                  <a:srgbClr val="002060"/>
                </a:solidFill>
              </a:rPr>
              <a:t>aq</a:t>
            </a:r>
            <a:r>
              <a:rPr lang="en-US" sz="3000" dirty="0">
                <a:solidFill>
                  <a:srgbClr val="002060"/>
                </a:solidFill>
              </a:rPr>
              <a:t>) + </a:t>
            </a:r>
            <a:r>
              <a:rPr lang="en-US" sz="3000" dirty="0" err="1">
                <a:solidFill>
                  <a:srgbClr val="002060"/>
                </a:solidFill>
              </a:rPr>
              <a:t>Cl</a:t>
            </a:r>
            <a:r>
              <a:rPr lang="en-US" sz="3000" baseline="30000" dirty="0">
                <a:solidFill>
                  <a:srgbClr val="002060"/>
                </a:solidFill>
              </a:rPr>
              <a:t>-</a:t>
            </a:r>
            <a:r>
              <a:rPr lang="en-US" sz="3000" dirty="0">
                <a:solidFill>
                  <a:srgbClr val="002060"/>
                </a:solidFill>
              </a:rPr>
              <a:t> (</a:t>
            </a:r>
            <a:r>
              <a:rPr lang="en-US" sz="3000" dirty="0" err="1">
                <a:solidFill>
                  <a:srgbClr val="002060"/>
                </a:solidFill>
              </a:rPr>
              <a:t>aq</a:t>
            </a:r>
            <a:r>
              <a:rPr lang="en-US" sz="3000" dirty="0">
                <a:solidFill>
                  <a:srgbClr val="002060"/>
                </a:solidFill>
              </a:rPr>
              <a:t>) </a:t>
            </a:r>
            <a:r>
              <a:rPr lang="en-US" sz="3000" dirty="0">
                <a:solidFill>
                  <a:srgbClr val="002060"/>
                </a:solidFill>
                <a:sym typeface="Wingdings" pitchFamily="2" charset="2"/>
              </a:rPr>
              <a:t> </a:t>
            </a:r>
            <a:r>
              <a:rPr lang="en-US" sz="3000" dirty="0" err="1">
                <a:solidFill>
                  <a:srgbClr val="002060"/>
                </a:solidFill>
                <a:sym typeface="Wingdings" pitchFamily="2" charset="2"/>
              </a:rPr>
              <a:t>AgCl</a:t>
            </a:r>
            <a:r>
              <a:rPr lang="en-US" sz="3000" dirty="0">
                <a:solidFill>
                  <a:srgbClr val="002060"/>
                </a:solidFill>
                <a:sym typeface="Wingdings" pitchFamily="2" charset="2"/>
              </a:rPr>
              <a:t>(s)</a:t>
            </a:r>
          </a:p>
          <a:p>
            <a:pPr>
              <a:buNone/>
            </a:pPr>
            <a:r>
              <a:rPr lang="en-US" sz="3000" dirty="0">
                <a:solidFill>
                  <a:srgbClr val="002060"/>
                </a:solidFill>
                <a:sym typeface="Wingdings" pitchFamily="2" charset="2"/>
              </a:rPr>
              <a:t>2Ag</a:t>
            </a:r>
            <a:r>
              <a:rPr lang="en-US" sz="3000" baseline="30000" dirty="0">
                <a:solidFill>
                  <a:srgbClr val="002060"/>
                </a:solidFill>
                <a:sym typeface="Wingdings" pitchFamily="2" charset="2"/>
              </a:rPr>
              <a:t>+</a:t>
            </a:r>
            <a:r>
              <a:rPr lang="en-US" sz="3000" dirty="0">
                <a:solidFill>
                  <a:srgbClr val="002060"/>
                </a:solidFill>
                <a:sym typeface="Wingdings" pitchFamily="2" charset="2"/>
              </a:rPr>
              <a:t> (</a:t>
            </a:r>
            <a:r>
              <a:rPr lang="en-US" sz="3000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sz="3000" dirty="0">
                <a:solidFill>
                  <a:srgbClr val="002060"/>
                </a:solidFill>
                <a:sym typeface="Wingdings" pitchFamily="2" charset="2"/>
              </a:rPr>
              <a:t>) + CO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000" baseline="30000" dirty="0">
                <a:solidFill>
                  <a:srgbClr val="002060"/>
                </a:solidFill>
                <a:sym typeface="Wingdings" pitchFamily="2" charset="2"/>
              </a:rPr>
              <a:t>2-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 (</a:t>
            </a:r>
            <a:r>
              <a:rPr lang="en-US" altLang="zh-CN" sz="3000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)  Ag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CO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 (s)</a:t>
            </a:r>
          </a:p>
          <a:p>
            <a:pPr>
              <a:buNone/>
            </a:pPr>
            <a:endParaRPr lang="en-US" sz="3000" dirty="0">
              <a:solidFill>
                <a:srgbClr val="002060"/>
              </a:solidFill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olidFill>
                  <a:srgbClr val="7030A0"/>
                </a:solidFill>
              </a:rPr>
              <a:t>欲检验某溶液中是否含有</a:t>
            </a:r>
            <a:r>
              <a:rPr lang="en-US" altLang="zh-CN" sz="3000" dirty="0" err="1">
                <a:solidFill>
                  <a:srgbClr val="7030A0"/>
                </a:solidFill>
              </a:rPr>
              <a:t>Cl</a:t>
            </a:r>
            <a:r>
              <a:rPr lang="en-US" altLang="zh-CN" sz="3000" baseline="30000" dirty="0">
                <a:solidFill>
                  <a:srgbClr val="7030A0"/>
                </a:solidFill>
              </a:rPr>
              <a:t>-</a:t>
            </a:r>
            <a:r>
              <a:rPr lang="en-US" altLang="zh-CN" sz="3000" dirty="0">
                <a:solidFill>
                  <a:srgbClr val="7030A0"/>
                </a:solidFill>
              </a:rPr>
              <a:t> </a:t>
            </a:r>
            <a:r>
              <a:rPr lang="zh-CN" altLang="en-US" sz="3000" dirty="0">
                <a:solidFill>
                  <a:srgbClr val="7030A0"/>
                </a:solidFill>
              </a:rPr>
              <a:t>，反应后与在加入</a:t>
            </a:r>
            <a:r>
              <a:rPr lang="zh-CN" altLang="en-US" sz="3000" dirty="0">
                <a:solidFill>
                  <a:srgbClr val="C00000"/>
                </a:solidFill>
              </a:rPr>
              <a:t>稀硝酸，</a:t>
            </a:r>
            <a:r>
              <a:rPr lang="zh-CN" altLang="en-US" sz="3000" dirty="0">
                <a:solidFill>
                  <a:srgbClr val="7030A0"/>
                </a:solidFill>
              </a:rPr>
              <a:t>沉淀不溶则溶液中含有</a:t>
            </a:r>
            <a:r>
              <a:rPr lang="en-US" altLang="zh-CN" sz="3000" dirty="0" err="1">
                <a:solidFill>
                  <a:srgbClr val="7030A0"/>
                </a:solidFill>
              </a:rPr>
              <a:t>Cl</a:t>
            </a:r>
            <a:r>
              <a:rPr lang="en-US" altLang="zh-CN" sz="3000" baseline="30000" dirty="0">
                <a:solidFill>
                  <a:srgbClr val="7030A0"/>
                </a:solidFill>
              </a:rPr>
              <a:t>-</a:t>
            </a:r>
            <a:r>
              <a:rPr lang="zh-CN" altLang="en-US" sz="3000" dirty="0">
                <a:solidFill>
                  <a:srgbClr val="7030A0"/>
                </a:solidFill>
              </a:rPr>
              <a:t>。</a:t>
            </a:r>
            <a:endParaRPr lang="en-US" altLang="zh-CN" sz="3000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Ag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CO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 + 2HNO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  2AgNO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 + H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O + CO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endParaRPr lang="en-US" altLang="zh-CN" sz="3000" dirty="0">
              <a:solidFill>
                <a:srgbClr val="C00000"/>
              </a:solidFill>
            </a:endParaRPr>
          </a:p>
          <a:p>
            <a:pPr>
              <a:buNone/>
            </a:pPr>
            <a:endParaRPr lang="en-US" altLang="zh-CN" sz="3000" dirty="0">
              <a:solidFill>
                <a:srgbClr val="002060"/>
              </a:solidFill>
            </a:endParaRPr>
          </a:p>
          <a:p>
            <a:pPr>
              <a:buNone/>
            </a:pPr>
            <a:endParaRPr lang="en-US" sz="3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-106362"/>
            <a:ext cx="7498080" cy="1143000"/>
          </a:xfrm>
        </p:spPr>
        <p:txBody>
          <a:bodyPr/>
          <a:lstStyle/>
          <a:p>
            <a:r>
              <a:rPr lang="zh-CN" altLang="en-US" dirty="0"/>
              <a:t>思考题</a:t>
            </a:r>
            <a:r>
              <a:rPr lang="en-US" altLang="zh-CN" dirty="0"/>
              <a:t>15d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66800"/>
            <a:ext cx="7498080" cy="5562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dirty="0"/>
              <a:t>1. 	2 </a:t>
            </a:r>
            <a:r>
              <a:rPr lang="en-US" altLang="zh-CN" dirty="0" err="1"/>
              <a:t>AgX</a:t>
            </a:r>
            <a:r>
              <a:rPr lang="en-US" altLang="zh-CN" dirty="0"/>
              <a:t> 		2Ag  + X</a:t>
            </a:r>
            <a:r>
              <a:rPr lang="en-US" altLang="zh-CN" baseline="-25000" dirty="0"/>
              <a:t>2 </a:t>
            </a:r>
          </a:p>
          <a:p>
            <a:pPr>
              <a:buNone/>
            </a:pPr>
            <a:r>
              <a:rPr lang="en-US" altLang="zh-CN" dirty="0"/>
              <a:t>	 	2 </a:t>
            </a:r>
            <a:r>
              <a:rPr lang="en-US" altLang="zh-CN" dirty="0" err="1"/>
              <a:t>AgBr</a:t>
            </a:r>
            <a:r>
              <a:rPr lang="en-US" altLang="zh-CN" dirty="0"/>
              <a:t> 		2Ag  + Br</a:t>
            </a:r>
            <a:r>
              <a:rPr lang="en-US" altLang="zh-CN" baseline="-25000" dirty="0"/>
              <a:t>2 </a:t>
            </a:r>
          </a:p>
          <a:p>
            <a:pPr>
              <a:buNone/>
            </a:pPr>
            <a:r>
              <a:rPr lang="en-US" altLang="zh-CN" dirty="0"/>
              <a:t>2.  D </a:t>
            </a:r>
          </a:p>
          <a:p>
            <a:pPr>
              <a:buNone/>
            </a:pPr>
            <a:r>
              <a:rPr lang="en-US" altLang="zh-CN" dirty="0"/>
              <a:t>3.  A+B </a:t>
            </a:r>
            <a:r>
              <a:rPr lang="zh-CN" altLang="en-US" dirty="0"/>
              <a:t>蓝色沉淀 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NaOH</a:t>
            </a:r>
            <a:r>
              <a:rPr lang="en-US" altLang="zh-CN" dirty="0"/>
              <a:t> + CuCl</a:t>
            </a:r>
            <a:r>
              <a:rPr lang="en-US" altLang="zh-CN" baseline="-25000" dirty="0"/>
              <a:t>2 </a:t>
            </a:r>
          </a:p>
          <a:p>
            <a:pPr>
              <a:buNone/>
            </a:pPr>
            <a:r>
              <a:rPr lang="en-US" altLang="zh-CN" baseline="-25000" dirty="0"/>
              <a:t> </a:t>
            </a:r>
            <a:r>
              <a:rPr lang="en-US" altLang="zh-CN" dirty="0"/>
              <a:t> A+D </a:t>
            </a:r>
            <a:r>
              <a:rPr lang="zh-CN" altLang="en-US" dirty="0"/>
              <a:t>不溶于酸白色沉淀</a:t>
            </a:r>
            <a:endParaRPr lang="en-US" altLang="zh-CN" dirty="0"/>
          </a:p>
          <a:p>
            <a:r>
              <a:rPr lang="en-US" altLang="zh-CN" dirty="0"/>
              <a:t>	CuCl</a:t>
            </a:r>
            <a:r>
              <a:rPr lang="en-US" altLang="zh-CN" baseline="-25000" dirty="0"/>
              <a:t>2</a:t>
            </a:r>
            <a:r>
              <a:rPr lang="en-US" altLang="zh-CN" dirty="0"/>
              <a:t>  + AgNO</a:t>
            </a:r>
            <a:r>
              <a:rPr lang="en-US" altLang="zh-CN" baseline="-25000" dirty="0"/>
              <a:t>3 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 C+</a:t>
            </a:r>
            <a:r>
              <a:rPr lang="zh-CN" altLang="en-US" dirty="0"/>
              <a:t>Ｄ白色沉淀溶于酸产生气体 </a:t>
            </a:r>
            <a:endParaRPr lang="en-US" altLang="zh-CN" dirty="0"/>
          </a:p>
          <a:p>
            <a:r>
              <a:rPr lang="en-US" altLang="zh-CN" dirty="0"/>
              <a:t>	K</a:t>
            </a:r>
            <a:r>
              <a:rPr lang="en-US" altLang="zh-CN" baseline="-25000" dirty="0"/>
              <a:t>2</a:t>
            </a:r>
            <a:r>
              <a:rPr lang="en-US" altLang="zh-CN" dirty="0"/>
              <a:t>CO</a:t>
            </a:r>
            <a:r>
              <a:rPr lang="en-US" altLang="zh-CN" baseline="-25000" dirty="0"/>
              <a:t>3</a:t>
            </a:r>
            <a:r>
              <a:rPr lang="en-US" altLang="zh-CN" dirty="0"/>
              <a:t> + AgNO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baseline="-25000" dirty="0"/>
              <a:t> </a:t>
            </a:r>
            <a:r>
              <a:rPr lang="en-US" altLang="zh-CN" dirty="0"/>
              <a:t>  A: CuCl</a:t>
            </a:r>
            <a:r>
              <a:rPr lang="en-US" altLang="zh-CN" baseline="-25000" dirty="0"/>
              <a:t>2 		</a:t>
            </a:r>
            <a:r>
              <a:rPr lang="en-US" altLang="zh-CN" dirty="0"/>
              <a:t>B: </a:t>
            </a:r>
            <a:r>
              <a:rPr lang="en-US" altLang="zh-CN" dirty="0" err="1"/>
              <a:t>NaOH</a:t>
            </a:r>
            <a:r>
              <a:rPr lang="en-US" altLang="zh-CN" dirty="0"/>
              <a:t> 	</a:t>
            </a:r>
          </a:p>
          <a:p>
            <a:pPr>
              <a:buNone/>
            </a:pPr>
            <a:r>
              <a:rPr lang="en-US" altLang="zh-CN" dirty="0"/>
              <a:t>  C: K</a:t>
            </a:r>
            <a:r>
              <a:rPr lang="en-US" altLang="zh-CN" baseline="-25000" dirty="0"/>
              <a:t>2</a:t>
            </a:r>
            <a:r>
              <a:rPr lang="en-US" altLang="zh-CN" dirty="0"/>
              <a:t>CO</a:t>
            </a:r>
            <a:r>
              <a:rPr lang="en-US" altLang="zh-CN" baseline="-25000" dirty="0"/>
              <a:t>3 	</a:t>
            </a:r>
            <a:r>
              <a:rPr lang="en-US" altLang="zh-CN" dirty="0"/>
              <a:t>D: AgNO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endParaRPr lang="en-US" altLang="zh-CN" baseline="-25000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200400" y="1414046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165" y="110924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光照</a:t>
            </a:r>
            <a:endParaRPr lang="en-US" sz="16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200400" y="1905000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91165" y="160020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光照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19200" y="-76200"/>
            <a:ext cx="8229600" cy="1600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15.5 </a:t>
            </a:r>
            <a:r>
              <a:rPr kumimoji="0" lang="zh-CN" altLang="en-US" sz="4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卤氧酸</a:t>
            </a:r>
            <a:endParaRPr kumimoji="0" 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0" y="1066800"/>
            <a:ext cx="8229600" cy="5334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氟不能形成卤氧酸。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skerville Old Face" pitchFamily="18" charset="0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次</a:t>
            </a:r>
            <a:r>
              <a:rPr lang="zh-CN" altLang="en-US" sz="2800" noProof="0" dirty="0">
                <a:latin typeface="Baskerville Old Face" pitchFamily="18" charset="0"/>
              </a:rPr>
              <a:t>卤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酸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	HXO		</a:t>
            </a:r>
          </a:p>
          <a:p>
            <a:pPr marL="365760" marR="0" lvl="0" indent="-283464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亚卤酸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	HXO</a:t>
            </a:r>
            <a:r>
              <a:rPr kumimoji="0" lang="en-US" altLang="zh-CN" sz="280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2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skerville Old Face" pitchFamily="18" charset="0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卤酸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	HXO</a:t>
            </a:r>
            <a:r>
              <a:rPr kumimoji="0" lang="en-US" altLang="zh-CN" sz="280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3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skerville Old Face" pitchFamily="18" charset="0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高卤酸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	HXO</a:t>
            </a:r>
            <a:r>
              <a:rPr kumimoji="0" lang="en-US" altLang="zh-CN" sz="280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4</a:t>
            </a:r>
            <a:r>
              <a:rPr kumimoji="0" lang="en-US" altLang="zh-CN" sz="280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itchFamily="18" charset="0"/>
              </a:rPr>
              <a:t> 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skerville Old Fac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71800" y="1752600"/>
            <a:ext cx="503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Baskerville Old Face" pitchFamily="18" charset="0"/>
              </a:rPr>
              <a:t>+   </a:t>
            </a:r>
            <a:endParaRPr lang="en-US" sz="2000" b="1" dirty="0">
              <a:solidFill>
                <a:srgbClr val="002060"/>
              </a:solidFill>
              <a:latin typeface="Baskerville Old Fac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95600" y="2438400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Baskerville Old Face" pitchFamily="18" charset="0"/>
              </a:rPr>
              <a:t>+3   </a:t>
            </a:r>
            <a:endParaRPr lang="en-US" sz="2000" b="1" dirty="0">
              <a:solidFill>
                <a:srgbClr val="002060"/>
              </a:solidFill>
              <a:latin typeface="Baskerville Old Face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74899" y="3181290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Baskerville Old Face" pitchFamily="18" charset="0"/>
              </a:rPr>
              <a:t>+5   </a:t>
            </a:r>
            <a:endParaRPr lang="en-US" sz="2000" b="1" dirty="0">
              <a:solidFill>
                <a:srgbClr val="002060"/>
              </a:solidFill>
              <a:latin typeface="Baskerville Old Fac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74899" y="3886200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Baskerville Old Face" pitchFamily="18" charset="0"/>
              </a:rPr>
              <a:t>+7   </a:t>
            </a:r>
            <a:endParaRPr lang="en-US" sz="2000" b="1" dirty="0">
              <a:solidFill>
                <a:srgbClr val="002060"/>
              </a:solidFill>
              <a:latin typeface="Baskerville Old Face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0" y="1447800"/>
            <a:ext cx="387798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latin typeface="Baskerville Old Face" pitchFamily="18" charset="0"/>
              </a:rPr>
              <a:t>感知生活</a:t>
            </a:r>
            <a:endParaRPr lang="en-US" altLang="zh-CN" sz="3200" b="1" dirty="0">
              <a:solidFill>
                <a:srgbClr val="002060"/>
              </a:solidFill>
              <a:latin typeface="Baskerville Old Face" pitchFamily="18" charset="0"/>
            </a:endParaRPr>
          </a:p>
          <a:p>
            <a:r>
              <a:rPr lang="zh-CN" altLang="en-US" sz="3200" b="1" dirty="0">
                <a:solidFill>
                  <a:srgbClr val="002060"/>
                </a:solidFill>
                <a:latin typeface="Baskerville Old Face" pitchFamily="18" charset="0"/>
              </a:rPr>
              <a:t>高氯酸将石墨氧化，</a:t>
            </a:r>
            <a:endParaRPr lang="en-US" altLang="zh-CN" sz="3200" b="1" dirty="0">
              <a:solidFill>
                <a:srgbClr val="002060"/>
              </a:solidFill>
              <a:latin typeface="Baskerville Old Face" pitchFamily="18" charset="0"/>
            </a:endParaRPr>
          </a:p>
          <a:p>
            <a:r>
              <a:rPr lang="zh-CN" altLang="en-US" sz="3200" b="1" dirty="0">
                <a:solidFill>
                  <a:srgbClr val="002060"/>
                </a:solidFill>
                <a:latin typeface="Baskerville Old Face" pitchFamily="18" charset="0"/>
              </a:rPr>
              <a:t>体现了其氧化性</a:t>
            </a:r>
            <a:endParaRPr lang="en-US" altLang="zh-CN" sz="3200" b="1" dirty="0">
              <a:solidFill>
                <a:srgbClr val="002060"/>
              </a:solidFill>
              <a:latin typeface="Baskerville Old Face" pitchFamily="18" charset="0"/>
            </a:endParaRPr>
          </a:p>
          <a:p>
            <a:r>
              <a:rPr lang="en-US" altLang="zh-CN" sz="3200" b="1" dirty="0">
                <a:solidFill>
                  <a:srgbClr val="002060"/>
                </a:solidFill>
                <a:latin typeface="Baskerville Old Face" pitchFamily="18" charset="0"/>
              </a:rPr>
              <a:t>  </a:t>
            </a:r>
            <a:endParaRPr lang="en-US" sz="3200" b="1" dirty="0">
              <a:solidFill>
                <a:srgbClr val="002060"/>
              </a:solidFill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HClO</a:t>
            </a:r>
            <a:r>
              <a:rPr lang="en-US" altLang="zh-CN" sz="3200" b="1" dirty="0"/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HClO</a:t>
            </a:r>
            <a:r>
              <a:rPr kumimoji="0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HClO</a:t>
            </a: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HClO</a:t>
            </a:r>
            <a:r>
              <a:rPr kumimoji="0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HBrO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HBrO</a:t>
            </a: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HIO				HIO</a:t>
            </a: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HIO</a:t>
            </a:r>
            <a:r>
              <a:rPr kumimoji="0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HClO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HBrO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 HIO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646218" y="4724400"/>
            <a:ext cx="3200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/>
          <p:cNvSpPr/>
          <p:nvPr/>
        </p:nvSpPr>
        <p:spPr>
          <a:xfrm>
            <a:off x="2438400" y="5987534"/>
            <a:ext cx="32004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19800" y="465986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氧化性增强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791200" y="595526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稳定性、酸性增强</a:t>
            </a:r>
            <a:endParaRPr lang="en-US" b="1" dirty="0"/>
          </a:p>
        </p:txBody>
      </p:sp>
      <p:sp>
        <p:nvSpPr>
          <p:cNvPr id="9" name="Right Arrow 8"/>
          <p:cNvSpPr/>
          <p:nvPr/>
        </p:nvSpPr>
        <p:spPr>
          <a:xfrm>
            <a:off x="2438400" y="838200"/>
            <a:ext cx="3200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Arrow 9"/>
          <p:cNvSpPr/>
          <p:nvPr/>
        </p:nvSpPr>
        <p:spPr>
          <a:xfrm>
            <a:off x="2403764" y="2951018"/>
            <a:ext cx="32004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19800" y="2886486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氧化性增强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839691" y="757627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稳定性、酸性增强</a:t>
            </a:r>
            <a:endParaRPr lang="en-US" b="1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0" y="3744191"/>
            <a:ext cx="914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  <a:r>
              <a:rPr lang="en-US" altLang="zh-CN" dirty="0"/>
              <a:t>15e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7498080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1.</a:t>
            </a:r>
            <a:r>
              <a:rPr lang="zh-CN" altLang="en-US" dirty="0"/>
              <a:t>取少量水，加入硝酸银溶液，若产生白色沉淀，加稀硝酸沉淀不溶解，则证明该矿泉水或纯净水是自来水假冒的。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2. (1) +7</a:t>
            </a:r>
          </a:p>
          <a:p>
            <a:pPr>
              <a:buNone/>
            </a:pPr>
            <a:r>
              <a:rPr lang="en-US" altLang="zh-CN" dirty="0"/>
              <a:t>	(2) 4HClO</a:t>
            </a:r>
            <a:r>
              <a:rPr lang="en-US" altLang="zh-CN" baseline="-25000" dirty="0"/>
              <a:t>4</a:t>
            </a:r>
            <a:r>
              <a:rPr lang="en-US" altLang="zh-CN" dirty="0"/>
              <a:t> + 7C </a:t>
            </a:r>
            <a:r>
              <a:rPr lang="en-US" altLang="zh-CN" dirty="0">
                <a:sym typeface="Wingdings" pitchFamily="2" charset="2"/>
              </a:rPr>
              <a:t> </a:t>
            </a: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3530025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Baskerville Old Face" pitchFamily="18" charset="0"/>
              </a:rPr>
              <a:t>2H</a:t>
            </a:r>
            <a:r>
              <a:rPr lang="en-US" altLang="zh-CN" sz="3200" b="1" baseline="-25000" dirty="0">
                <a:latin typeface="Baskerville Old Face" pitchFamily="18" charset="0"/>
              </a:rPr>
              <a:t>2</a:t>
            </a:r>
            <a:r>
              <a:rPr lang="en-US" altLang="zh-CN" sz="3200" b="1" dirty="0">
                <a:latin typeface="Baskerville Old Face" pitchFamily="18" charset="0"/>
              </a:rPr>
              <a:t> O + 7CO</a:t>
            </a:r>
            <a:r>
              <a:rPr lang="en-US" altLang="zh-CN" sz="3200" b="1" baseline="-25000" dirty="0">
                <a:latin typeface="Baskerville Old Face" pitchFamily="18" charset="0"/>
              </a:rPr>
              <a:t>2</a:t>
            </a:r>
            <a:r>
              <a:rPr lang="en-US" altLang="zh-CN" sz="3200" b="1" dirty="0">
                <a:latin typeface="Baskerville Old Face" pitchFamily="18" charset="0"/>
              </a:rPr>
              <a:t> + 2 Cl</a:t>
            </a:r>
            <a:r>
              <a:rPr lang="en-US" altLang="zh-CN" sz="3200" b="1" baseline="-25000" dirty="0">
                <a:latin typeface="Baskerville Old Face" pitchFamily="18" charset="0"/>
              </a:rPr>
              <a:t>2</a:t>
            </a:r>
            <a:r>
              <a:rPr lang="en-US" altLang="zh-CN" sz="3200" b="1" dirty="0">
                <a:latin typeface="Baskerville Old Face" pitchFamily="18" charset="0"/>
              </a:rPr>
              <a:t>  </a:t>
            </a:r>
            <a:endParaRPr lang="en-US" sz="3200" b="1" dirty="0"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7498080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1. D</a:t>
            </a:r>
            <a:r>
              <a:rPr lang="en-US" altLang="zh-CN" dirty="0">
                <a:sym typeface="Wingdings" pitchFamily="2" charset="2"/>
              </a:rPr>
              <a:t> 	</a:t>
            </a:r>
            <a:r>
              <a:rPr lang="zh-CN" altLang="en-US" dirty="0">
                <a:sym typeface="Wingdings" pitchFamily="2" charset="2"/>
              </a:rPr>
              <a:t>含</a:t>
            </a:r>
            <a:r>
              <a:rPr lang="en-US" altLang="zh-CN" dirty="0" err="1">
                <a:sym typeface="Wingdings" pitchFamily="2" charset="2"/>
              </a:rPr>
              <a:t>ClO</a:t>
            </a:r>
            <a:r>
              <a:rPr lang="en-US" altLang="zh-CN" baseline="30000" dirty="0">
                <a:sym typeface="Wingdings" pitchFamily="2" charset="2"/>
              </a:rPr>
              <a:t>-</a:t>
            </a:r>
            <a:r>
              <a:rPr lang="en-US" altLang="zh-CN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dirty="0"/>
              <a:t>2. C </a:t>
            </a:r>
            <a:r>
              <a:rPr lang="zh-CN" altLang="en-US" dirty="0"/>
              <a:t>次氯酸见光分解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3. A Cu + </a:t>
            </a:r>
            <a:r>
              <a:rPr lang="zh-CN" altLang="en-US" dirty="0"/>
              <a:t>盐酸不反应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BC 	2Fe+ 3Cl</a:t>
            </a:r>
            <a:r>
              <a:rPr lang="en-US" altLang="zh-CN" baseline="-25000" dirty="0"/>
              <a:t>2 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2</a:t>
            </a:r>
            <a:r>
              <a:rPr lang="en-US" altLang="zh-CN" dirty="0"/>
              <a:t>FeCl</a:t>
            </a:r>
            <a:r>
              <a:rPr lang="en-US" altLang="zh-CN" baseline="-25000" dirty="0"/>
              <a:t>3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	Fe + 2HCl </a:t>
            </a:r>
            <a:r>
              <a:rPr lang="en-US" altLang="zh-CN" dirty="0">
                <a:sym typeface="Wingdings" pitchFamily="2" charset="2"/>
              </a:rPr>
              <a:t> FeCl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+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Ans</a:t>
            </a:r>
            <a:r>
              <a:rPr lang="en-US" altLang="zh-CN" dirty="0"/>
              <a:t>: D</a:t>
            </a:r>
          </a:p>
          <a:p>
            <a:pPr>
              <a:buNone/>
            </a:pPr>
            <a:r>
              <a:rPr lang="en-US" altLang="zh-CN" dirty="0"/>
              <a:t>4. A </a:t>
            </a:r>
            <a:r>
              <a:rPr lang="zh-CN" altLang="en-US" dirty="0"/>
              <a:t>氯水中含有氯分子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8077200" cy="4800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dirty="0"/>
              <a:t>5. </a:t>
            </a:r>
            <a:r>
              <a:rPr lang="zh-CN" altLang="en-US" dirty="0"/>
              <a:t>最高氧化数</a:t>
            </a:r>
            <a:r>
              <a:rPr lang="en-US" altLang="zh-CN" dirty="0"/>
              <a:t>+7</a:t>
            </a:r>
            <a:r>
              <a:rPr lang="zh-CN" altLang="en-US" dirty="0"/>
              <a:t>，最低氧化数</a:t>
            </a:r>
            <a:r>
              <a:rPr lang="en-US" altLang="zh-CN" dirty="0"/>
              <a:t>-1</a:t>
            </a:r>
          </a:p>
          <a:p>
            <a:pPr>
              <a:buNone/>
            </a:pPr>
            <a:r>
              <a:rPr lang="en-US" altLang="zh-CN" dirty="0"/>
              <a:t>	 </a:t>
            </a:r>
            <a:r>
              <a:rPr lang="en-US" altLang="zh-CN" dirty="0" err="1"/>
              <a:t>Cl</a:t>
            </a:r>
            <a:r>
              <a:rPr lang="zh-CN" altLang="en-US" dirty="0"/>
              <a:t>原子</a:t>
            </a:r>
            <a:r>
              <a:rPr lang="en-US" altLang="zh-CN" dirty="0"/>
              <a:t>17</a:t>
            </a:r>
            <a:r>
              <a:rPr lang="zh-CN" altLang="en-US" dirty="0"/>
              <a:t>个电子；</a:t>
            </a:r>
            <a:r>
              <a:rPr lang="en-US" altLang="zh-CN" dirty="0" err="1"/>
              <a:t>Cl</a:t>
            </a:r>
            <a:r>
              <a:rPr lang="en-US" altLang="zh-CN" baseline="30000" dirty="0"/>
              <a:t>-</a:t>
            </a:r>
            <a:r>
              <a:rPr lang="en-US" altLang="zh-CN" dirty="0"/>
              <a:t> 18</a:t>
            </a:r>
            <a:r>
              <a:rPr lang="zh-CN" altLang="en-US" dirty="0"/>
              <a:t>个电子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H</a:t>
            </a:r>
            <a:r>
              <a:rPr lang="en-US" altLang="zh-CN" baseline="30000" dirty="0"/>
              <a:t>+</a:t>
            </a:r>
            <a:r>
              <a:rPr lang="en-US" altLang="zh-CN" dirty="0"/>
              <a:t> </a:t>
            </a:r>
            <a:r>
              <a:rPr lang="en-US" altLang="zh-CN" dirty="0" err="1"/>
              <a:t>Cl</a:t>
            </a:r>
            <a:r>
              <a:rPr lang="en-US" altLang="zh-CN" baseline="30000" dirty="0"/>
              <a:t>-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Ans</a:t>
            </a:r>
            <a:r>
              <a:rPr lang="en-US" altLang="zh-CN" dirty="0"/>
              <a:t>: A</a:t>
            </a:r>
          </a:p>
          <a:p>
            <a:pPr>
              <a:buNone/>
            </a:pPr>
            <a:r>
              <a:rPr lang="en-US" altLang="zh-CN" dirty="0"/>
              <a:t>6. A </a:t>
            </a:r>
            <a:r>
              <a:rPr lang="zh-CN" altLang="en-US" dirty="0"/>
              <a:t>含</a:t>
            </a:r>
            <a:r>
              <a:rPr lang="en-US" altLang="zh-CN" dirty="0"/>
              <a:t>Cl</a:t>
            </a:r>
            <a:r>
              <a:rPr lang="en-US" altLang="zh-CN" baseline="-25000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en-US" altLang="zh-CN" dirty="0"/>
              <a:t>O</a:t>
            </a:r>
            <a:r>
              <a:rPr lang="zh-CN" altLang="en-US" dirty="0"/>
              <a:t>、</a:t>
            </a:r>
            <a:r>
              <a:rPr lang="en-US" altLang="zh-CN" dirty="0"/>
              <a:t>H</a:t>
            </a:r>
            <a:r>
              <a:rPr lang="en-US" altLang="zh-CN" baseline="30000" dirty="0"/>
              <a:t>+</a:t>
            </a:r>
            <a:r>
              <a:rPr lang="en-US" altLang="zh-CN" dirty="0"/>
              <a:t> </a:t>
            </a:r>
            <a:r>
              <a:rPr lang="zh-CN" altLang="en-US" dirty="0"/>
              <a:t>、</a:t>
            </a:r>
            <a:r>
              <a:rPr lang="en-US" altLang="zh-CN" dirty="0" err="1"/>
              <a:t>Cl</a:t>
            </a:r>
            <a:r>
              <a:rPr lang="en-US" altLang="zh-CN" baseline="30000" dirty="0"/>
              <a:t>-</a:t>
            </a:r>
            <a:r>
              <a:rPr lang="en-US" altLang="zh-CN" dirty="0"/>
              <a:t> </a:t>
            </a:r>
            <a:r>
              <a:rPr lang="zh-CN" altLang="en-US" dirty="0"/>
              <a:t>、</a:t>
            </a:r>
            <a:r>
              <a:rPr lang="en-US" altLang="zh-CN" dirty="0" err="1"/>
              <a:t>HClO</a:t>
            </a:r>
            <a:r>
              <a:rPr lang="zh-CN" altLang="en-US" dirty="0"/>
              <a:t>、 </a:t>
            </a:r>
            <a:r>
              <a:rPr lang="en-US" altLang="zh-CN" dirty="0" err="1"/>
              <a:t>ClO</a:t>
            </a:r>
            <a:r>
              <a:rPr lang="en-US" altLang="zh-CN" baseline="30000" dirty="0"/>
              <a:t>-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	B </a:t>
            </a:r>
            <a:r>
              <a:rPr lang="zh-CN" altLang="en-US" dirty="0"/>
              <a:t>蓝变红，再褪色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C </a:t>
            </a:r>
            <a:r>
              <a:rPr lang="zh-CN" altLang="en-US" dirty="0"/>
              <a:t>该气体是氧气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D </a:t>
            </a:r>
            <a:r>
              <a:rPr lang="zh-CN" altLang="en-US" dirty="0"/>
              <a:t>久置</a:t>
            </a:r>
            <a:r>
              <a:rPr lang="en-US" altLang="zh-CN" dirty="0" err="1"/>
              <a:t>HClO</a:t>
            </a:r>
            <a:r>
              <a:rPr lang="zh-CN" altLang="en-US" dirty="0"/>
              <a:t>分解了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Ans</a:t>
            </a:r>
            <a:r>
              <a:rPr lang="en-US" altLang="zh-CN" dirty="0"/>
              <a:t>: 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749808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7. Cl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溶于水产生酸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A </a:t>
            </a:r>
            <a:r>
              <a:rPr lang="zh-CN" altLang="en-US" dirty="0"/>
              <a:t>碳酸盐 </a:t>
            </a:r>
            <a:r>
              <a:rPr lang="en-US" altLang="zh-CN" dirty="0"/>
              <a:t>+ </a:t>
            </a:r>
            <a:r>
              <a:rPr lang="zh-CN" altLang="en-US" dirty="0"/>
              <a:t>酸</a:t>
            </a:r>
            <a:r>
              <a:rPr lang="en-US" altLang="zh-CN" dirty="0">
                <a:sym typeface="Wingdings" pitchFamily="2" charset="2"/>
              </a:rPr>
              <a:t>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B </a:t>
            </a:r>
            <a:r>
              <a:rPr lang="zh-CN" altLang="en-US" dirty="0"/>
              <a:t>酸</a:t>
            </a:r>
            <a:r>
              <a:rPr lang="en-US" altLang="zh-CN" dirty="0"/>
              <a:t>+ </a:t>
            </a:r>
            <a:r>
              <a:rPr lang="zh-CN" altLang="en-US" dirty="0"/>
              <a:t>碱</a:t>
            </a:r>
            <a:r>
              <a:rPr lang="en-US" altLang="zh-CN" dirty="0">
                <a:sym typeface="Wingdings" pitchFamily="2" charset="2"/>
              </a:rPr>
              <a:t>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D </a:t>
            </a:r>
            <a:r>
              <a:rPr lang="zh-CN" altLang="en-US" dirty="0"/>
              <a:t>亚硫酸盐 </a:t>
            </a:r>
            <a:r>
              <a:rPr lang="en-US" altLang="zh-CN" dirty="0"/>
              <a:t>+ </a:t>
            </a:r>
            <a:r>
              <a:rPr lang="zh-CN" altLang="en-US" dirty="0"/>
              <a:t>酸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	</a:t>
            </a:r>
            <a:r>
              <a:rPr lang="en-US" altLang="zh-CN" dirty="0" err="1">
                <a:sym typeface="Wingdings" pitchFamily="2" charset="2"/>
              </a:rPr>
              <a:t>Ans</a:t>
            </a:r>
            <a:r>
              <a:rPr lang="zh-CN" altLang="en-US" dirty="0">
                <a:sym typeface="Wingdings" pitchFamily="2" charset="2"/>
              </a:rPr>
              <a:t>：</a:t>
            </a:r>
            <a:r>
              <a:rPr lang="en-US" altLang="zh-CN" dirty="0">
                <a:sym typeface="Wingdings" pitchFamily="2" charset="2"/>
              </a:rPr>
              <a:t>C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8. A MnO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+ 4HCl</a:t>
            </a:r>
            <a:r>
              <a:rPr lang="en-US" baseline="-25000" dirty="0"/>
              <a:t> (</a:t>
            </a:r>
            <a:r>
              <a:rPr lang="zh-CN" altLang="en-US" baseline="-25000" dirty="0"/>
              <a:t>浓</a:t>
            </a:r>
            <a:r>
              <a:rPr lang="en-US" altLang="zh-CN" baseline="-25000" dirty="0"/>
              <a:t>)</a:t>
            </a:r>
            <a:r>
              <a:rPr lang="en-US" altLang="zh-CN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CuO</a:t>
            </a:r>
            <a:r>
              <a:rPr lang="en-US" altLang="zh-CN" dirty="0"/>
              <a:t> + 2 </a:t>
            </a:r>
            <a:r>
              <a:rPr lang="en-US" altLang="zh-CN" dirty="0" err="1"/>
              <a:t>HCl</a:t>
            </a:r>
            <a:r>
              <a:rPr lang="en-US" altLang="zh-CN" dirty="0">
                <a:sym typeface="Wingdings" pitchFamily="2" charset="2"/>
              </a:rPr>
              <a:t>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		 Fe + 2 </a:t>
            </a:r>
            <a:r>
              <a:rPr lang="en-US" altLang="zh-CN" dirty="0" err="1">
                <a:sym typeface="Wingdings" pitchFamily="2" charset="2"/>
              </a:rPr>
              <a:t>HCl</a:t>
            </a:r>
            <a:r>
              <a:rPr lang="en-US" altLang="zh-CN" dirty="0">
                <a:sym typeface="Wingdings" pitchFamily="2" charset="2"/>
              </a:rPr>
              <a:t> 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Ans</a:t>
            </a:r>
            <a:r>
              <a:rPr lang="en-US" altLang="zh-CN" dirty="0"/>
              <a:t>: 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981200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Baskerville Old Face" pitchFamily="18" charset="0"/>
              </a:rPr>
              <a:t>盐 </a:t>
            </a:r>
            <a:r>
              <a:rPr lang="en-US" altLang="zh-CN" sz="3200" dirty="0">
                <a:latin typeface="Baskerville Old Face" pitchFamily="18" charset="0"/>
              </a:rPr>
              <a:t>+ 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O + CO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 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0" y="2539425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Baskerville Old Face" pitchFamily="18" charset="0"/>
              </a:rPr>
              <a:t>盐 </a:t>
            </a:r>
            <a:r>
              <a:rPr lang="en-US" altLang="zh-CN" sz="3200" dirty="0">
                <a:latin typeface="Baskerville Old Face" pitchFamily="18" charset="0"/>
              </a:rPr>
              <a:t>+ 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O   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56415" y="3149025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Baskerville Old Face" pitchFamily="18" charset="0"/>
              </a:rPr>
              <a:t>盐 </a:t>
            </a:r>
            <a:r>
              <a:rPr lang="en-US" altLang="zh-CN" sz="3200" dirty="0">
                <a:latin typeface="Baskerville Old Face" pitchFamily="18" charset="0"/>
              </a:rPr>
              <a:t>+ 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O + SO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 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81600" y="4267200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MnCl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zh-CN" altLang="en-US" sz="32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+ 2H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O + 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 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19600" y="4800600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CuCl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zh-CN" altLang="en-US" sz="32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+ 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O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67200" y="5358825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FeCl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zh-CN" altLang="en-US" sz="32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+ 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 </a:t>
            </a:r>
            <a:endParaRPr lang="en-US" sz="3200" dirty="0">
              <a:latin typeface="Baskerville Old Face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343400" y="4614446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>
            <a:off x="4800600" y="4419600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7498080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9.  </a:t>
            </a:r>
            <a:r>
              <a:rPr lang="zh-CN" altLang="en-US" dirty="0"/>
              <a:t>增加的质量为</a:t>
            </a:r>
            <a:r>
              <a:rPr lang="en-US" altLang="zh-CN" dirty="0" err="1"/>
              <a:t>Cl</a:t>
            </a:r>
            <a:r>
              <a:rPr lang="zh-CN" altLang="en-US" dirty="0"/>
              <a:t>原子的质量，则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7.1/35.5= 0.2mol</a:t>
            </a:r>
          </a:p>
          <a:p>
            <a:pPr>
              <a:buNone/>
            </a:pPr>
            <a:r>
              <a:rPr lang="en-US" altLang="zh-CN" dirty="0"/>
              <a:t>	1mol</a:t>
            </a:r>
            <a:r>
              <a:rPr lang="zh-CN" altLang="en-US" dirty="0"/>
              <a:t>该元素与</a:t>
            </a:r>
            <a:r>
              <a:rPr lang="en-US" altLang="zh-CN" dirty="0"/>
              <a:t>2mol</a:t>
            </a:r>
            <a:r>
              <a:rPr lang="zh-CN" altLang="en-US" dirty="0"/>
              <a:t>氯原子结合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化学式：</a:t>
            </a:r>
            <a:r>
              <a:rPr lang="en-US" altLang="zh-CN" dirty="0"/>
              <a:t>MCl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 	</a:t>
            </a:r>
            <a:r>
              <a:rPr lang="en-US" altLang="zh-CN" dirty="0" err="1"/>
              <a:t>Ans</a:t>
            </a:r>
            <a:r>
              <a:rPr lang="en-US" altLang="zh-CN" dirty="0"/>
              <a:t>: B 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10. C </a:t>
            </a:r>
            <a:r>
              <a:rPr lang="zh-CN" altLang="en-US" dirty="0"/>
              <a:t>受热分解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8153400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11. </a:t>
            </a:r>
            <a:r>
              <a:rPr lang="zh-CN" altLang="en-US" dirty="0"/>
              <a:t>甲：加入氯水，颜色变橙色，没变蓝表示</a:t>
            </a:r>
            <a:r>
              <a:rPr lang="en-US" altLang="zh-CN" dirty="0"/>
              <a:t> </a:t>
            </a:r>
            <a:r>
              <a:rPr lang="zh-CN" altLang="en-US" dirty="0"/>
              <a:t>没有</a:t>
            </a:r>
            <a:r>
              <a:rPr lang="en-US" altLang="zh-CN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产生，则</a:t>
            </a:r>
            <a:r>
              <a:rPr lang="en-US" altLang="zh-CN" dirty="0"/>
              <a:t>Cl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是将</a:t>
            </a:r>
            <a:r>
              <a:rPr lang="en-US" altLang="zh-CN" dirty="0"/>
              <a:t>Br</a:t>
            </a:r>
            <a:r>
              <a:rPr lang="en-US" altLang="zh-CN" baseline="30000" dirty="0"/>
              <a:t>-</a:t>
            </a:r>
            <a:r>
              <a:rPr lang="en-US" altLang="zh-CN" dirty="0"/>
              <a:t> </a:t>
            </a:r>
            <a:r>
              <a:rPr lang="zh-CN" altLang="en-US" dirty="0"/>
              <a:t>氧化为</a:t>
            </a:r>
            <a:r>
              <a:rPr lang="en-US" altLang="zh-CN" dirty="0"/>
              <a:t>Br</a:t>
            </a:r>
            <a:r>
              <a:rPr lang="en-US" altLang="zh-CN" baseline="-25000" dirty="0"/>
              <a:t>2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丙： 再加入丙，颜色还是没变蓝，表示没有</a:t>
            </a:r>
            <a:r>
              <a:rPr lang="en-US" altLang="zh-CN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产生，丙是</a:t>
            </a:r>
            <a:r>
              <a:rPr lang="en-US" altLang="zh-CN" dirty="0" err="1"/>
              <a:t>Cl</a:t>
            </a:r>
            <a:r>
              <a:rPr lang="en-US" altLang="zh-CN" baseline="30000" dirty="0"/>
              <a:t>-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/>
              <a:t>Br</a:t>
            </a:r>
            <a:r>
              <a:rPr lang="en-US" altLang="zh-CN" baseline="-25000" dirty="0"/>
              <a:t>2</a:t>
            </a:r>
            <a:r>
              <a:rPr lang="en-US" altLang="zh-CN" baseline="30000" dirty="0"/>
              <a:t> </a:t>
            </a:r>
            <a:r>
              <a:rPr lang="zh-CN" altLang="en-US" dirty="0"/>
              <a:t>不能将其氧化。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Ans</a:t>
            </a:r>
            <a:r>
              <a:rPr lang="zh-CN" altLang="en-US" dirty="0"/>
              <a:t>： </a:t>
            </a:r>
            <a:r>
              <a:rPr lang="en-US" altLang="zh-CN" dirty="0"/>
              <a:t>C</a:t>
            </a:r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7498080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12.    	</a:t>
            </a:r>
            <a:r>
              <a:rPr lang="en-US" altLang="zh-CN" dirty="0" err="1"/>
              <a:t>NaCl</a:t>
            </a:r>
            <a:r>
              <a:rPr lang="en-US" altLang="zh-CN" dirty="0"/>
              <a:t> + 	AgNO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		  	MgCl</a:t>
            </a:r>
            <a:r>
              <a:rPr lang="en-US" altLang="zh-CN" baseline="-25000" dirty="0"/>
              <a:t>2</a:t>
            </a:r>
            <a:r>
              <a:rPr lang="en-US" altLang="zh-CN" dirty="0"/>
              <a:t> +  2 AgNO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		 	AlCl</a:t>
            </a:r>
            <a:r>
              <a:rPr lang="en-US" altLang="zh-CN" baseline="-25000" dirty="0"/>
              <a:t>3</a:t>
            </a:r>
            <a:r>
              <a:rPr lang="en-US" altLang="zh-CN" dirty="0"/>
              <a:t> +   3 AgNO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	3</a:t>
            </a:r>
            <a:r>
              <a:rPr lang="zh-CN" altLang="en-US" dirty="0"/>
              <a:t>：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1/3</a:t>
            </a:r>
          </a:p>
          <a:p>
            <a:pPr>
              <a:buNone/>
            </a:pPr>
            <a:r>
              <a:rPr lang="en-US" altLang="zh-CN" dirty="0"/>
              <a:t>	= 9</a:t>
            </a:r>
            <a:r>
              <a:rPr lang="zh-CN" altLang="en-US" dirty="0"/>
              <a:t>：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1</a:t>
            </a:r>
          </a:p>
          <a:p>
            <a:pPr>
              <a:buNone/>
            </a:pPr>
            <a:r>
              <a:rPr lang="en-US" altLang="zh-CN" dirty="0" err="1"/>
              <a:t>Ans:D</a:t>
            </a:r>
            <a:r>
              <a:rPr lang="en-US" altLang="zh-CN" dirty="0"/>
              <a:t> 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4114800" y="1447800"/>
            <a:ext cx="38985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7030A0"/>
                </a:solidFill>
              </a:rPr>
              <a:t>3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09800" y="1447800"/>
            <a:ext cx="38985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7030A0"/>
                </a:solidFill>
              </a:rPr>
              <a:t>3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0" y="2006025"/>
            <a:ext cx="38985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7030A0"/>
                </a:solidFill>
              </a:rPr>
              <a:t>2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9800" y="1981200"/>
            <a:ext cx="38985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7030A0"/>
                </a:solidFill>
              </a:rPr>
              <a:t>1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0" y="2590800"/>
            <a:ext cx="38985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7030A0"/>
                </a:solidFill>
              </a:rPr>
              <a:t>1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81200" y="2600980"/>
            <a:ext cx="644728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7030A0"/>
                </a:solidFill>
              </a:rPr>
              <a:t>1/3</a:t>
            </a:r>
            <a:endParaRPr 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48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13.    Cl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  </a:t>
            </a:r>
            <a:r>
              <a:rPr lang="en-US" altLang="zh-CN" sz="2800" dirty="0" err="1"/>
              <a:t>NaOH</a:t>
            </a:r>
            <a:r>
              <a:rPr lang="en-US" altLang="zh-CN" sz="2800" dirty="0">
                <a:sym typeface="Wingdings" pitchFamily="2" charset="2"/>
              </a:rPr>
              <a:t>   </a:t>
            </a:r>
            <a:r>
              <a:rPr lang="en-US" altLang="zh-CN" sz="2800" dirty="0" err="1">
                <a:sym typeface="Wingdings" pitchFamily="2" charset="2"/>
              </a:rPr>
              <a:t>NaCl</a:t>
            </a:r>
            <a:r>
              <a:rPr lang="en-US" altLang="zh-CN" sz="2800" dirty="0">
                <a:sym typeface="Wingdings" pitchFamily="2" charset="2"/>
              </a:rPr>
              <a:t> +   </a:t>
            </a:r>
            <a:r>
              <a:rPr lang="en-US" altLang="zh-CN" sz="2800" dirty="0" err="1">
                <a:sym typeface="Wingdings" pitchFamily="2" charset="2"/>
              </a:rPr>
              <a:t>NaClO</a:t>
            </a:r>
            <a:r>
              <a:rPr lang="en-US" altLang="zh-CN" sz="2800" dirty="0">
                <a:sym typeface="Wingdings" pitchFamily="2" charset="2"/>
              </a:rPr>
              <a:t>+    NaClO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>
                <a:sym typeface="Wingdings" pitchFamily="2" charset="2"/>
              </a:rPr>
              <a:t>+   H</a:t>
            </a:r>
            <a:r>
              <a:rPr lang="en-US" altLang="zh-CN" sz="2800" baseline="-25000">
                <a:sym typeface="Wingdings" pitchFamily="2" charset="2"/>
              </a:rPr>
              <a:t>2</a:t>
            </a:r>
            <a:r>
              <a:rPr lang="en-US" altLang="zh-CN" sz="2800">
                <a:sym typeface="Wingdings" pitchFamily="2" charset="2"/>
              </a:rPr>
              <a:t>O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		</a:t>
            </a:r>
            <a:r>
              <a:rPr lang="en-US" altLang="zh-CN" sz="2800" dirty="0">
                <a:latin typeface="Baskerville Old Face" pitchFamily="18" charset="0"/>
                <a:sym typeface="Wingdings" pitchFamily="2" charset="2"/>
              </a:rPr>
              <a:t>½ Cl</a:t>
            </a:r>
            <a:r>
              <a:rPr lang="en-US" altLang="zh-CN" sz="2800" baseline="-25000" dirty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altLang="zh-CN" sz="2800" dirty="0">
                <a:latin typeface="Baskerville Old Face" pitchFamily="18" charset="0"/>
                <a:sym typeface="Wingdings" pitchFamily="2" charset="2"/>
              </a:rPr>
              <a:t>   </a:t>
            </a:r>
            <a:r>
              <a:rPr lang="en-US" altLang="zh-CN" sz="2800" dirty="0" err="1">
                <a:latin typeface="Baskerville Old Face" pitchFamily="18" charset="0"/>
                <a:sym typeface="Wingdings" pitchFamily="2" charset="2"/>
              </a:rPr>
              <a:t>Cl</a:t>
            </a:r>
            <a:r>
              <a:rPr lang="en-US" altLang="zh-CN" sz="2800" baseline="30000" dirty="0">
                <a:latin typeface="Baskerville Old Face" pitchFamily="18" charset="0"/>
                <a:sym typeface="Wingdings" pitchFamily="2" charset="2"/>
              </a:rPr>
              <a:t>+</a:t>
            </a:r>
            <a:r>
              <a:rPr lang="en-US" altLang="zh-CN" sz="2800" dirty="0">
                <a:latin typeface="Baskerville Old Face" pitchFamily="18" charset="0"/>
                <a:sym typeface="Wingdings" pitchFamily="2" charset="2"/>
              </a:rPr>
              <a:t>   + e</a:t>
            </a:r>
            <a:r>
              <a:rPr lang="en-US" altLang="zh-CN" sz="2800" baseline="30000" dirty="0">
                <a:latin typeface="Baskerville Old Face" pitchFamily="18" charset="0"/>
                <a:sym typeface="Wingdings" pitchFamily="2" charset="2"/>
              </a:rPr>
              <a:t>-</a:t>
            </a:r>
            <a:r>
              <a:rPr lang="en-US" altLang="zh-CN" sz="2800" dirty="0">
                <a:latin typeface="Baskerville Old Face" pitchFamily="18" charset="0"/>
                <a:sym typeface="Wingdings" pitchFamily="2" charset="2"/>
              </a:rPr>
              <a:t>  </a:t>
            </a:r>
            <a:endParaRPr lang="en-US" altLang="zh-CN" sz="2800" baseline="30000" dirty="0">
              <a:latin typeface="Baskerville Old Face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latin typeface="Baskerville Old Face" pitchFamily="18" charset="0"/>
                <a:sym typeface="Wingdings" pitchFamily="2" charset="2"/>
              </a:rPr>
              <a:t>			½ Cl</a:t>
            </a:r>
            <a:r>
              <a:rPr lang="en-US" altLang="zh-CN" sz="2800" baseline="-25000" dirty="0">
                <a:latin typeface="Baskerville Old Face" pitchFamily="18" charset="0"/>
                <a:sym typeface="Wingdings" pitchFamily="2" charset="2"/>
              </a:rPr>
              <a:t>2</a:t>
            </a:r>
            <a:r>
              <a:rPr lang="en-US" altLang="zh-CN" sz="2800" dirty="0">
                <a:latin typeface="Baskerville Old Face" pitchFamily="18" charset="0"/>
                <a:sym typeface="Wingdings" pitchFamily="2" charset="2"/>
              </a:rPr>
              <a:t>     Cl</a:t>
            </a:r>
            <a:r>
              <a:rPr lang="en-US" altLang="zh-CN" sz="2800" baseline="30000" dirty="0">
                <a:latin typeface="Baskerville Old Face" pitchFamily="18" charset="0"/>
                <a:sym typeface="Wingdings" pitchFamily="2" charset="2"/>
              </a:rPr>
              <a:t>5+</a:t>
            </a:r>
            <a:r>
              <a:rPr lang="en-US" altLang="zh-CN" sz="2800" dirty="0">
                <a:latin typeface="Baskerville Old Face" pitchFamily="18" charset="0"/>
                <a:sym typeface="Wingdings" pitchFamily="2" charset="2"/>
              </a:rPr>
              <a:t>+   5   e</a:t>
            </a:r>
            <a:r>
              <a:rPr lang="en-US" altLang="zh-CN" sz="2800" baseline="30000" dirty="0">
                <a:latin typeface="Baskerville Old Face" pitchFamily="18" charset="0"/>
                <a:sym typeface="Wingdings" pitchFamily="2" charset="2"/>
              </a:rPr>
              <a:t>-</a:t>
            </a:r>
            <a:r>
              <a:rPr lang="en-US" altLang="zh-CN" sz="2800" dirty="0">
                <a:latin typeface="Baskerville Old Face" pitchFamily="18" charset="0"/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/>
              <a:t>			Cl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  2  e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2   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</a:p>
          <a:p>
            <a:pPr>
              <a:buNone/>
            </a:pPr>
            <a:r>
              <a:rPr lang="en-US" altLang="zh-CN" sz="2800" baseline="30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 		</a:t>
            </a:r>
            <a:r>
              <a:rPr lang="zh-CN" altLang="en-US" sz="2800" dirty="0">
                <a:sym typeface="Wingdings" pitchFamily="2" charset="2"/>
              </a:rPr>
              <a:t>失电子，氧化数上升，被氧化的</a:t>
            </a:r>
            <a:r>
              <a:rPr lang="en-US" altLang="zh-CN" sz="2800" dirty="0">
                <a:sym typeface="Wingdings" pitchFamily="2" charset="2"/>
              </a:rPr>
              <a:t>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有</a:t>
            </a:r>
            <a:r>
              <a:rPr lang="en-US" altLang="zh-CN" sz="2800" dirty="0">
                <a:sym typeface="Wingdings" pitchFamily="2" charset="2"/>
              </a:rPr>
              <a:t>2</a:t>
            </a:r>
            <a:r>
              <a:rPr lang="zh-CN" altLang="en-US" sz="2800" dirty="0">
                <a:sym typeface="Wingdings" pitchFamily="2" charset="2"/>
              </a:rPr>
              <a:t>份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zh-CN" altLang="en-US" sz="2800" dirty="0">
                <a:sym typeface="Wingdings" pitchFamily="2" charset="2"/>
              </a:rPr>
              <a:t>得电子，氧化数下降，被还原的</a:t>
            </a:r>
            <a:r>
              <a:rPr lang="en-US" altLang="zh-CN" sz="2800" dirty="0">
                <a:sym typeface="Wingdings" pitchFamily="2" charset="2"/>
              </a:rPr>
              <a:t>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有</a:t>
            </a:r>
            <a:r>
              <a:rPr lang="en-US" altLang="zh-CN" sz="2800" dirty="0">
                <a:sym typeface="Wingdings" pitchFamily="2" charset="2"/>
              </a:rPr>
              <a:t>8</a:t>
            </a:r>
            <a:r>
              <a:rPr lang="zh-CN" altLang="en-US" sz="2800" dirty="0">
                <a:sym typeface="Wingdings" pitchFamily="2" charset="2"/>
              </a:rPr>
              <a:t>份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zh-CN" altLang="en-US" sz="2800" dirty="0">
                <a:sym typeface="Wingdings" pitchFamily="2" charset="2"/>
              </a:rPr>
              <a:t>被还原：被氧化</a:t>
            </a:r>
            <a:r>
              <a:rPr lang="en-US" altLang="zh-CN" sz="2800" dirty="0">
                <a:sym typeface="Wingdings" pitchFamily="2" charset="2"/>
              </a:rPr>
              <a:t>	=8</a:t>
            </a:r>
            <a:r>
              <a:rPr lang="zh-CN" altLang="en-US" sz="2800" dirty="0">
                <a:sym typeface="Wingdings" pitchFamily="2" charset="2"/>
              </a:rPr>
              <a:t>：</a:t>
            </a:r>
            <a:r>
              <a:rPr lang="en-US" altLang="zh-CN" sz="2800" dirty="0">
                <a:sym typeface="Wingdings" pitchFamily="2" charset="2"/>
              </a:rPr>
              <a:t>2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				= 4</a:t>
            </a:r>
            <a:r>
              <a:rPr lang="zh-CN" altLang="en-US" sz="2800" dirty="0">
                <a:sym typeface="Wingdings" pitchFamily="2" charset="2"/>
              </a:rPr>
              <a:t>：</a:t>
            </a:r>
            <a:r>
              <a:rPr lang="en-US" altLang="zh-CN" sz="2800" dirty="0">
                <a:sym typeface="Wingdings" pitchFamily="2" charset="2"/>
              </a:rPr>
              <a:t>1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en-US" altLang="zh-CN" sz="2800" dirty="0" err="1">
                <a:sym typeface="Wingdings" pitchFamily="2" charset="2"/>
              </a:rPr>
              <a:t>Ans</a:t>
            </a:r>
            <a:r>
              <a:rPr lang="en-US" altLang="zh-CN" sz="2800" dirty="0">
                <a:sym typeface="Wingdings" pitchFamily="2" charset="2"/>
              </a:rPr>
              <a:t>: D</a:t>
            </a:r>
            <a:endParaRPr lang="en-US" altLang="zh-CN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181600" y="1905000"/>
            <a:ext cx="543739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7030A0"/>
                </a:solidFill>
              </a:rPr>
              <a:t>x1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81600" y="2438400"/>
            <a:ext cx="543739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7030A0"/>
                </a:solidFill>
              </a:rPr>
              <a:t>x3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2438400"/>
            <a:ext cx="644728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7030A0"/>
                </a:solidFill>
              </a:rPr>
              <a:t>3/2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40998" y="2438400"/>
            <a:ext cx="364202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7030A0"/>
                </a:solidFill>
              </a:rPr>
              <a:t>3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33061" y="2448580"/>
            <a:ext cx="543739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71800"/>
            <a:ext cx="543739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7030A0"/>
                </a:solidFill>
              </a:rPr>
              <a:t>x8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40798" y="2981980"/>
            <a:ext cx="364202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71800"/>
            <a:ext cx="543739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8261" y="2971800"/>
            <a:ext cx="543739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8" grpId="0" animBg="1"/>
      <p:bldP spid="9" grpId="0" animBg="1"/>
      <p:bldP spid="10" grpId="0" animBg="1"/>
      <p:bldP spid="11" grpId="0"/>
      <p:bldP spid="12" grpId="0" animBg="1"/>
      <p:bldP spid="14" grpId="0" animBg="1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8153400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1. (1) </a:t>
            </a:r>
            <a:r>
              <a:rPr lang="zh-CN" altLang="en-US" dirty="0"/>
              <a:t>人体汗液留在指纹里，汗液中有</a:t>
            </a:r>
            <a:r>
              <a:rPr lang="en-US" altLang="zh-CN" dirty="0" err="1"/>
              <a:t>Cl</a:t>
            </a:r>
            <a:r>
              <a:rPr lang="en-US" altLang="zh-CN" baseline="30000" dirty="0"/>
              <a:t>-</a:t>
            </a:r>
            <a:r>
              <a:rPr lang="en-US" altLang="zh-CN" dirty="0"/>
              <a:t> </a:t>
            </a:r>
            <a:r>
              <a:rPr lang="zh-CN" altLang="en-US" dirty="0"/>
              <a:t>，喷洒</a:t>
            </a:r>
            <a:r>
              <a:rPr lang="en-US" altLang="zh-CN" dirty="0"/>
              <a:t>AgNO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后生成</a:t>
            </a:r>
            <a:r>
              <a:rPr lang="en-US" altLang="zh-CN" dirty="0" err="1"/>
              <a:t>AgCl</a:t>
            </a:r>
            <a:r>
              <a:rPr lang="zh-CN" altLang="en-US" dirty="0"/>
              <a:t>，</a:t>
            </a:r>
            <a:r>
              <a:rPr lang="en-US" altLang="zh-CN" dirty="0" err="1"/>
              <a:t>AgCl</a:t>
            </a:r>
            <a:r>
              <a:rPr lang="zh-CN" altLang="en-US" dirty="0"/>
              <a:t>见光分解生成黑色的</a:t>
            </a:r>
            <a:r>
              <a:rPr lang="en-US" altLang="zh-CN" dirty="0"/>
              <a:t>Ag</a:t>
            </a:r>
            <a:r>
              <a:rPr lang="zh-CN" altLang="en-US" dirty="0"/>
              <a:t>，从而显示出清晰的指纹。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(2) AgNO</a:t>
            </a:r>
            <a:r>
              <a:rPr lang="en-US" altLang="zh-CN" baseline="-25000" dirty="0"/>
              <a:t>3</a:t>
            </a:r>
            <a:r>
              <a:rPr lang="en-US" altLang="zh-CN" dirty="0"/>
              <a:t> + </a:t>
            </a:r>
            <a:r>
              <a:rPr lang="en-US" altLang="zh-CN" dirty="0" err="1"/>
              <a:t>NaCl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</a:t>
            </a:r>
            <a:r>
              <a:rPr lang="en-US" altLang="zh-CN" dirty="0" err="1">
                <a:sym typeface="Wingdings" pitchFamily="2" charset="2"/>
              </a:rPr>
              <a:t>AgCl</a:t>
            </a:r>
            <a:r>
              <a:rPr lang="en-US" altLang="zh-CN" dirty="0">
                <a:sym typeface="Wingdings" pitchFamily="2" charset="2"/>
              </a:rPr>
              <a:t> + NaNO</a:t>
            </a:r>
            <a:r>
              <a:rPr lang="en-US" altLang="zh-CN" baseline="-25000" dirty="0">
                <a:sym typeface="Wingdings" pitchFamily="2" charset="2"/>
              </a:rPr>
              <a:t>3 </a:t>
            </a:r>
          </a:p>
          <a:p>
            <a:pPr>
              <a:buNone/>
            </a:pPr>
            <a:r>
              <a:rPr lang="en-US" altLang="zh-CN" baseline="-25000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 		2AgCl 	  2Ag + Cl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	(3) 2AgBr 	  2Ag + Br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		2Ag + Br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	 2AgBr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895600" y="3886200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86365" y="358140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光照</a:t>
            </a:r>
            <a:endParaRPr lang="en-US" sz="16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895600" y="4419600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86365" y="411480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光照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153400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2.  Cl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和石灰乳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 2Cl</a:t>
            </a:r>
            <a:r>
              <a:rPr lang="en-US" altLang="zh-CN" baseline="-25000" dirty="0"/>
              <a:t>2</a:t>
            </a:r>
            <a:r>
              <a:rPr lang="en-US" altLang="zh-CN" dirty="0"/>
              <a:t> + 2Ca(OH)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Ca(</a:t>
            </a:r>
            <a:r>
              <a:rPr lang="en-US" altLang="zh-CN" dirty="0" err="1"/>
              <a:t>ClO</a:t>
            </a:r>
            <a:r>
              <a:rPr lang="en-US" altLang="zh-CN" dirty="0"/>
              <a:t>)</a:t>
            </a:r>
            <a:r>
              <a:rPr lang="en-US" altLang="zh-CN" baseline="-25000" dirty="0"/>
              <a:t>2 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baseline="-25000" dirty="0"/>
              <a:t>	</a:t>
            </a:r>
            <a:r>
              <a:rPr lang="en-US" altLang="zh-CN" dirty="0"/>
              <a:t> Ca(</a:t>
            </a:r>
            <a:r>
              <a:rPr lang="en-US" altLang="zh-CN" dirty="0" err="1"/>
              <a:t>ClO</a:t>
            </a:r>
            <a:r>
              <a:rPr lang="en-US" altLang="zh-CN" dirty="0"/>
              <a:t>)</a:t>
            </a:r>
            <a:r>
              <a:rPr lang="en-US" altLang="zh-CN" baseline="-25000" dirty="0"/>
              <a:t>2</a:t>
            </a:r>
            <a:r>
              <a:rPr lang="en-US" altLang="zh-CN" dirty="0"/>
              <a:t> + H</a:t>
            </a:r>
            <a:r>
              <a:rPr lang="en-US" altLang="zh-CN" baseline="-25000" dirty="0"/>
              <a:t>2</a:t>
            </a:r>
            <a:r>
              <a:rPr lang="en-US" altLang="zh-CN" dirty="0"/>
              <a:t>O + CO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</a:t>
            </a:r>
          </a:p>
          <a:p>
            <a:pPr>
              <a:buNone/>
            </a:pPr>
            <a:r>
              <a:rPr lang="en-US" altLang="zh-CN" baseline="-25000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   2HClO 		  2HCl + O</a:t>
            </a:r>
            <a:r>
              <a:rPr lang="en-US" altLang="zh-CN" baseline="-25000" dirty="0">
                <a:sym typeface="Wingdings" pitchFamily="2" charset="2"/>
              </a:rPr>
              <a:t>2 </a:t>
            </a:r>
            <a:r>
              <a:rPr lang="en-US" altLang="zh-CN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baseline="-25000" dirty="0">
                <a:sym typeface="Wingdings" pitchFamily="2" charset="2"/>
              </a:rPr>
              <a:t>	</a:t>
            </a:r>
            <a:r>
              <a:rPr lang="en-US" altLang="zh-CN" dirty="0">
                <a:sym typeface="Wingdings" pitchFamily="2" charset="2"/>
              </a:rPr>
              <a:t> </a:t>
            </a:r>
            <a:r>
              <a:rPr lang="zh-CN" altLang="en-US" dirty="0">
                <a:sym typeface="Wingdings" pitchFamily="2" charset="2"/>
              </a:rPr>
              <a:t>密封</a:t>
            </a:r>
            <a:endParaRPr lang="en-US" altLang="zh-CN" baseline="-25000" dirty="0"/>
          </a:p>
        </p:txBody>
      </p:sp>
      <p:sp>
        <p:nvSpPr>
          <p:cNvPr id="4" name="TextBox 3"/>
          <p:cNvSpPr txBox="1"/>
          <p:nvPr/>
        </p:nvSpPr>
        <p:spPr>
          <a:xfrm>
            <a:off x="4419600" y="1905000"/>
            <a:ext cx="5020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CaCl</a:t>
            </a:r>
            <a:r>
              <a:rPr lang="en-US" altLang="zh-CN" sz="3200" baseline="-25000" dirty="0"/>
              <a:t>2</a:t>
            </a:r>
            <a:r>
              <a:rPr lang="zh-CN" altLang="en-US" sz="3200" dirty="0"/>
              <a:t> </a:t>
            </a:r>
            <a:r>
              <a:rPr lang="en-US" altLang="zh-CN" sz="3200" dirty="0"/>
              <a:t>+ Ca(</a:t>
            </a:r>
            <a:r>
              <a:rPr lang="en-US" altLang="zh-CN" sz="3200" dirty="0" err="1"/>
              <a:t>ClO</a:t>
            </a:r>
            <a:r>
              <a:rPr lang="en-US" altLang="zh-CN" sz="3200" dirty="0"/>
              <a:t>)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 + 2H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 O 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5647015" y="3072825"/>
            <a:ext cx="3496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CaCO</a:t>
            </a:r>
            <a:r>
              <a:rPr lang="en-US" altLang="zh-CN" sz="3200" baseline="-25000" dirty="0"/>
              <a:t>3</a:t>
            </a:r>
            <a:r>
              <a:rPr lang="zh-CN" altLang="en-US" sz="3200" dirty="0"/>
              <a:t> </a:t>
            </a:r>
            <a:r>
              <a:rPr lang="en-US" altLang="zh-CN" sz="3200" dirty="0"/>
              <a:t>+ 2 </a:t>
            </a:r>
            <a:r>
              <a:rPr lang="en-US" altLang="zh-CN" sz="3200" dirty="0" err="1"/>
              <a:t>HClO</a:t>
            </a:r>
            <a:r>
              <a:rPr lang="en-US" altLang="zh-CN" sz="3200" dirty="0"/>
              <a:t> </a:t>
            </a:r>
            <a:endParaRPr lang="en-US" sz="32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514600" y="4004846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05365" y="370004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光照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/>
      <p:bldP spid="5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305800" cy="5562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dirty="0"/>
              <a:t>3. (CN)</a:t>
            </a:r>
            <a:r>
              <a:rPr lang="en-US" altLang="zh-CN" baseline="-25000" dirty="0"/>
              <a:t>2</a:t>
            </a:r>
            <a:r>
              <a:rPr lang="en-US" altLang="zh-CN" dirty="0"/>
              <a:t> + 2 KOH </a:t>
            </a:r>
            <a:r>
              <a:rPr lang="en-US" altLang="zh-CN" dirty="0">
                <a:sym typeface="Wingdings" pitchFamily="2" charset="2"/>
              </a:rPr>
              <a:t>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	</a:t>
            </a:r>
            <a:r>
              <a:rPr lang="en-US" altLang="zh-CN" dirty="0"/>
              <a:t> (CN)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baseline="-25000" dirty="0"/>
              <a:t>(g)</a:t>
            </a:r>
            <a:r>
              <a:rPr lang="en-US" altLang="zh-CN" dirty="0"/>
              <a:t> + 2 SCN</a:t>
            </a:r>
            <a:r>
              <a:rPr lang="en-US" altLang="zh-CN" baseline="30000" dirty="0"/>
              <a:t>-</a:t>
            </a:r>
            <a:r>
              <a:rPr lang="en-US" altLang="zh-CN" dirty="0"/>
              <a:t> </a:t>
            </a:r>
            <a:r>
              <a:rPr lang="en-US" altLang="zh-CN" baseline="-25000" dirty="0"/>
              <a:t>(</a:t>
            </a:r>
            <a:r>
              <a:rPr lang="en-US" altLang="zh-CN" baseline="-25000" dirty="0" err="1"/>
              <a:t>aq</a:t>
            </a:r>
            <a:r>
              <a:rPr lang="en-US" altLang="zh-CN" baseline="-25000" dirty="0"/>
              <a:t>)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(SCN)</a:t>
            </a:r>
            <a:r>
              <a:rPr lang="en-US" altLang="zh-CN" baseline="-25000" dirty="0">
                <a:sym typeface="Wingdings" pitchFamily="2" charset="2"/>
              </a:rPr>
              <a:t>2 (g)</a:t>
            </a:r>
            <a:r>
              <a:rPr lang="en-US" altLang="zh-CN" dirty="0">
                <a:sym typeface="Wingdings" pitchFamily="2" charset="2"/>
              </a:rPr>
              <a:t> + 2CN</a:t>
            </a:r>
            <a:r>
              <a:rPr lang="en-US" altLang="zh-CN" baseline="30000" dirty="0">
                <a:sym typeface="Wingdings" pitchFamily="2" charset="2"/>
              </a:rPr>
              <a:t>-</a:t>
            </a:r>
            <a:r>
              <a:rPr lang="en-US" altLang="zh-CN" baseline="-25000" dirty="0">
                <a:sym typeface="Wingdings" pitchFamily="2" charset="2"/>
              </a:rPr>
              <a:t>(</a:t>
            </a:r>
            <a:r>
              <a:rPr lang="en-US" altLang="zh-CN" baseline="-25000" dirty="0" err="1">
                <a:sym typeface="Wingdings" pitchFamily="2" charset="2"/>
              </a:rPr>
              <a:t>aq</a:t>
            </a:r>
            <a:r>
              <a:rPr lang="en-US" altLang="zh-CN" baseline="-25000" dirty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en-US" altLang="zh-CN" baseline="-25000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4. A: 	</a:t>
            </a:r>
            <a:r>
              <a:rPr lang="en-US" altLang="zh-CN" dirty="0" err="1">
                <a:sym typeface="Wingdings" pitchFamily="2" charset="2"/>
              </a:rPr>
              <a:t>KCl</a:t>
            </a:r>
            <a:endParaRPr lang="en-US" altLang="zh-CN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baseline="-25000" dirty="0"/>
              <a:t> </a:t>
            </a:r>
            <a:r>
              <a:rPr lang="en-US" altLang="zh-CN" dirty="0"/>
              <a:t> 	B: 	I</a:t>
            </a:r>
            <a:r>
              <a:rPr lang="en-US" altLang="zh-CN" baseline="-25000" dirty="0"/>
              <a:t>2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	C: 	</a:t>
            </a:r>
            <a:r>
              <a:rPr lang="en-US" altLang="zh-CN" dirty="0" err="1">
                <a:sym typeface="Wingdings" pitchFamily="2" charset="2"/>
              </a:rPr>
              <a:t>AgCl</a:t>
            </a:r>
            <a:endParaRPr lang="en-US" altLang="zh-CN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baseline="-25000" dirty="0"/>
              <a:t> </a:t>
            </a:r>
            <a:r>
              <a:rPr lang="en-US" altLang="zh-CN" dirty="0"/>
              <a:t> 	D:	KI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	E: 	Cl</a:t>
            </a:r>
            <a:r>
              <a:rPr lang="en-US" altLang="zh-CN" baseline="-25000" dirty="0">
                <a:sym typeface="Wingdings" pitchFamily="2" charset="2"/>
              </a:rPr>
              <a:t>2 </a:t>
            </a:r>
            <a:endParaRPr lang="en-US" altLang="zh-CN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baseline="-25000" dirty="0"/>
              <a:t> </a:t>
            </a:r>
            <a:r>
              <a:rPr lang="en-US" altLang="zh-CN" dirty="0"/>
              <a:t> 	F:	</a:t>
            </a:r>
            <a:r>
              <a:rPr lang="en-US" altLang="zh-CN" dirty="0" err="1"/>
              <a:t>HCl</a:t>
            </a:r>
            <a:endParaRPr lang="en-US" altLang="zh-CN" baseline="-25000" dirty="0"/>
          </a:p>
          <a:p>
            <a:pPr>
              <a:buNone/>
            </a:pPr>
            <a:r>
              <a:rPr lang="en-US" altLang="zh-CN" dirty="0"/>
              <a:t>	G: 	MnO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</a:p>
          <a:p>
            <a:pPr>
              <a:buNone/>
            </a:pP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4343400" y="1295400"/>
            <a:ext cx="464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ym typeface="Wingdings" pitchFamily="2" charset="2"/>
              </a:rPr>
              <a:t>KCN + KCNO + H</a:t>
            </a:r>
            <a:r>
              <a:rPr lang="en-US" altLang="zh-CN" sz="3200" baseline="-25000" dirty="0">
                <a:sym typeface="Wingdings" pitchFamily="2" charset="2"/>
              </a:rPr>
              <a:t>2</a:t>
            </a:r>
            <a:r>
              <a:rPr lang="en-US" altLang="zh-CN" sz="3200" dirty="0">
                <a:sym typeface="Wingdings" pitchFamily="2" charset="2"/>
              </a:rPr>
              <a:t>O</a:t>
            </a: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1524000" y="2819400"/>
            <a:ext cx="9906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524000" y="3429000"/>
            <a:ext cx="9906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524000" y="3886200"/>
            <a:ext cx="9906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524000" y="4419600"/>
            <a:ext cx="9906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524000" y="4953000"/>
            <a:ext cx="9906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524000" y="5486400"/>
            <a:ext cx="9906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600200" y="6019800"/>
            <a:ext cx="9906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8153400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4.  2KCl + H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</a:t>
            </a:r>
            <a:r>
              <a:rPr lang="en-US" altLang="zh-CN" dirty="0"/>
              <a:t>(</a:t>
            </a:r>
            <a:r>
              <a:rPr lang="zh-CN" altLang="en-US" dirty="0"/>
              <a:t>浓</a:t>
            </a:r>
            <a:r>
              <a:rPr lang="en-US" altLang="zh-CN" dirty="0"/>
              <a:t>)</a:t>
            </a:r>
          </a:p>
          <a:p>
            <a:pPr>
              <a:buNone/>
            </a:pPr>
            <a:r>
              <a:rPr lang="en-US" altLang="zh-CN" dirty="0"/>
              <a:t>	 4HCl(</a:t>
            </a:r>
            <a:r>
              <a:rPr lang="zh-CN" altLang="en-US" dirty="0"/>
              <a:t>浓</a:t>
            </a:r>
            <a:r>
              <a:rPr lang="en-US" altLang="zh-CN" dirty="0"/>
              <a:t>) + MnO</a:t>
            </a:r>
            <a:r>
              <a:rPr lang="en-US" altLang="zh-CN" baseline="-25000" dirty="0"/>
              <a:t>2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Cl</a:t>
            </a:r>
            <a:r>
              <a:rPr lang="en-US" altLang="zh-CN" baseline="-25000" dirty="0"/>
              <a:t>2</a:t>
            </a:r>
            <a:r>
              <a:rPr lang="en-US" altLang="zh-CN" dirty="0"/>
              <a:t> + 2 KI </a:t>
            </a:r>
            <a:r>
              <a:rPr lang="en-US" altLang="zh-CN" dirty="0">
                <a:sym typeface="Wingdings" pitchFamily="2" charset="2"/>
              </a:rPr>
              <a:t>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	</a:t>
            </a:r>
            <a:r>
              <a:rPr lang="en-US" altLang="zh-CN" dirty="0" err="1">
                <a:sym typeface="Wingdings" pitchFamily="2" charset="2"/>
              </a:rPr>
              <a:t>KCl</a:t>
            </a:r>
            <a:r>
              <a:rPr lang="en-US" altLang="zh-CN" dirty="0">
                <a:sym typeface="Wingdings" pitchFamily="2" charset="2"/>
              </a:rPr>
              <a:t> +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AgNO</a:t>
            </a:r>
            <a:r>
              <a:rPr lang="en-US" altLang="zh-CN" baseline="-25000" dirty="0">
                <a:sym typeface="Wingdings" pitchFamily="2" charset="2"/>
              </a:rPr>
              <a:t>3</a:t>
            </a:r>
            <a:r>
              <a:rPr lang="en-US" altLang="zh-CN" dirty="0">
                <a:sym typeface="Wingdings" pitchFamily="2" charset="2"/>
              </a:rPr>
              <a:t>  </a:t>
            </a:r>
            <a:endParaRPr lang="en-US" altLang="zh-CN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4800600" y="1795046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5105400" y="1600200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867400" y="1524000"/>
            <a:ext cx="289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K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SO</a:t>
            </a:r>
            <a:r>
              <a:rPr lang="en-US" altLang="zh-CN" sz="3200" baseline="-25000" dirty="0">
                <a:latin typeface="Baskerville Old Face" pitchFamily="18" charset="0"/>
              </a:rPr>
              <a:t>4</a:t>
            </a:r>
            <a:r>
              <a:rPr lang="zh-CN" altLang="en-US" sz="32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+ 2HCl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42215" y="2082225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MnCl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zh-CN" altLang="en-US" sz="32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+ 2H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O + Cl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   </a:t>
            </a:r>
            <a:endParaRPr lang="en-US" sz="3200" dirty="0">
              <a:latin typeface="Baskerville Old Face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419600" y="2360612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>
            <a:off x="4724400" y="2165766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581400" y="2590800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2KCl</a:t>
            </a:r>
            <a:r>
              <a:rPr lang="zh-CN" altLang="en-US" sz="3200" dirty="0">
                <a:latin typeface="Baskerville Old Face" pitchFamily="18" charset="0"/>
              </a:rPr>
              <a:t> </a:t>
            </a:r>
            <a:r>
              <a:rPr lang="en-US" altLang="zh-CN" sz="3200" dirty="0">
                <a:latin typeface="Baskerville Old Face" pitchFamily="18" charset="0"/>
              </a:rPr>
              <a:t>+ I</a:t>
            </a:r>
            <a:r>
              <a:rPr lang="en-US" altLang="zh-CN" sz="3200" baseline="-25000" dirty="0">
                <a:latin typeface="Baskerville Old Face" pitchFamily="18" charset="0"/>
              </a:rPr>
              <a:t>2</a:t>
            </a:r>
            <a:r>
              <a:rPr lang="en-US" altLang="zh-CN" sz="3200" dirty="0">
                <a:latin typeface="Baskerville Old Face" pitchFamily="18" charset="0"/>
              </a:rPr>
              <a:t>    </a:t>
            </a:r>
            <a:endParaRPr lang="en-US" sz="3200" dirty="0">
              <a:latin typeface="Baskerville Old Face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46815" y="3149025"/>
            <a:ext cx="387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askerville Old Face" pitchFamily="18" charset="0"/>
              </a:rPr>
              <a:t>KNO</a:t>
            </a:r>
            <a:r>
              <a:rPr lang="en-US" altLang="zh-CN" sz="3200" baseline="-25000" dirty="0">
                <a:latin typeface="Baskerville Old Face" pitchFamily="18" charset="0"/>
              </a:rPr>
              <a:t>3</a:t>
            </a:r>
            <a:r>
              <a:rPr lang="en-US" altLang="zh-CN" sz="3200" dirty="0">
                <a:latin typeface="Baskerville Old Face" pitchFamily="18" charset="0"/>
              </a:rPr>
              <a:t> + </a:t>
            </a:r>
            <a:r>
              <a:rPr lang="en-US" altLang="zh-CN" sz="3200" dirty="0" err="1">
                <a:latin typeface="Baskerville Old Face" pitchFamily="18" charset="0"/>
              </a:rPr>
              <a:t>AgCl</a:t>
            </a:r>
            <a:r>
              <a:rPr lang="en-US" altLang="zh-CN" sz="3200" dirty="0">
                <a:latin typeface="Baskerville Old Face" pitchFamily="18" charset="0"/>
              </a:rPr>
              <a:t>     </a:t>
            </a:r>
            <a:endParaRPr lang="en-US" sz="3200" dirty="0">
              <a:latin typeface="Baskerville Old Fac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9" grpId="0"/>
      <p:bldP spid="11" grpId="0" animBg="1"/>
      <p:bldP spid="12" grpId="0"/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8153400" cy="4800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dirty="0"/>
              <a:t>5. (1)   Cl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因为</a:t>
            </a:r>
            <a:r>
              <a:rPr lang="en-US" altLang="zh-CN" dirty="0"/>
              <a:t>FeSO</a:t>
            </a:r>
            <a:r>
              <a:rPr lang="en-US" altLang="zh-CN" baseline="-25000" dirty="0"/>
              <a:t>4</a:t>
            </a:r>
            <a:r>
              <a:rPr lang="en-US" altLang="zh-CN" dirty="0"/>
              <a:t> </a:t>
            </a:r>
            <a:r>
              <a:rPr lang="zh-CN" altLang="en-US" dirty="0"/>
              <a:t>过量，而</a:t>
            </a:r>
            <a:r>
              <a:rPr lang="en-US" altLang="zh-CN" dirty="0"/>
              <a:t>Cl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与</a:t>
            </a:r>
            <a:r>
              <a:rPr lang="en-US" altLang="zh-CN" dirty="0"/>
              <a:t>Fe</a:t>
            </a:r>
            <a:r>
              <a:rPr lang="en-US" altLang="zh-CN" baseline="30000" dirty="0"/>
              <a:t>2+</a:t>
            </a:r>
            <a:r>
              <a:rPr lang="en-US" altLang="zh-CN" dirty="0"/>
              <a:t> </a:t>
            </a:r>
            <a:r>
              <a:rPr lang="zh-CN" altLang="en-US" dirty="0"/>
              <a:t>不能共存，所以还原产物不可能为</a:t>
            </a:r>
            <a:r>
              <a:rPr lang="en-US" altLang="zh-CN" dirty="0"/>
              <a:t>Cl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	2Fe</a:t>
            </a:r>
            <a:r>
              <a:rPr lang="en-US" altLang="zh-CN" baseline="30000" dirty="0"/>
              <a:t>2+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  + Cl</a:t>
            </a:r>
            <a:r>
              <a:rPr lang="en-US" altLang="zh-CN" baseline="-25000" dirty="0"/>
              <a:t>2</a:t>
            </a:r>
            <a:r>
              <a:rPr lang="en-US" altLang="zh-CN" dirty="0"/>
              <a:t> (g) </a:t>
            </a:r>
            <a:r>
              <a:rPr lang="en-US" altLang="zh-CN" dirty="0">
                <a:sym typeface="Wingdings" pitchFamily="2" charset="2"/>
              </a:rPr>
              <a:t> 2Fe</a:t>
            </a:r>
            <a:r>
              <a:rPr lang="en-US" altLang="zh-CN" baseline="30000" dirty="0">
                <a:sym typeface="Wingdings" pitchFamily="2" charset="2"/>
              </a:rPr>
              <a:t>3+</a:t>
            </a:r>
            <a:r>
              <a:rPr lang="en-US" altLang="zh-CN" dirty="0">
                <a:sym typeface="Wingdings" pitchFamily="2" charset="2"/>
              </a:rPr>
              <a:t> (</a:t>
            </a:r>
            <a:r>
              <a:rPr lang="en-US" altLang="zh-CN" dirty="0" err="1">
                <a:sym typeface="Wingdings" pitchFamily="2" charset="2"/>
              </a:rPr>
              <a:t>aq</a:t>
            </a:r>
            <a:r>
              <a:rPr lang="en-US" altLang="zh-CN" dirty="0">
                <a:sym typeface="Wingdings" pitchFamily="2" charset="2"/>
              </a:rPr>
              <a:t>)+ 2Cl</a:t>
            </a:r>
            <a:r>
              <a:rPr lang="en-US" altLang="zh-CN" baseline="30000" dirty="0">
                <a:sym typeface="Wingdings" pitchFamily="2" charset="2"/>
              </a:rPr>
              <a:t>-</a:t>
            </a:r>
            <a:r>
              <a:rPr lang="en-US" altLang="zh-CN" dirty="0">
                <a:sym typeface="Wingdings" pitchFamily="2" charset="2"/>
              </a:rPr>
              <a:t> (</a:t>
            </a:r>
            <a:r>
              <a:rPr lang="en-US" altLang="zh-CN" dirty="0" err="1">
                <a:sym typeface="Wingdings" pitchFamily="2" charset="2"/>
              </a:rPr>
              <a:t>aq</a:t>
            </a:r>
            <a:r>
              <a:rPr lang="en-US" altLang="zh-CN" dirty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(2) </a:t>
            </a:r>
            <a:r>
              <a:rPr lang="en-US" altLang="zh-CN" dirty="0"/>
              <a:t>2Fe</a:t>
            </a:r>
            <a:r>
              <a:rPr lang="en-US" altLang="zh-CN" baseline="30000" dirty="0"/>
              <a:t>2+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 + </a:t>
            </a:r>
            <a:r>
              <a:rPr lang="en-US" altLang="zh-CN" dirty="0" err="1"/>
              <a:t>ClO</a:t>
            </a:r>
            <a:r>
              <a:rPr lang="en-US" altLang="zh-CN" baseline="30000" dirty="0"/>
              <a:t>-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 + 2H</a:t>
            </a:r>
            <a:r>
              <a:rPr lang="en-US" altLang="zh-CN" baseline="30000" dirty="0"/>
              <a:t>+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</a:t>
            </a:r>
            <a:r>
              <a:rPr lang="en-US" altLang="zh-CN" dirty="0">
                <a:sym typeface="Wingdings" pitchFamily="2" charset="2"/>
              </a:rPr>
              <a:t> 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				2Fe</a:t>
            </a:r>
            <a:r>
              <a:rPr lang="en-US" altLang="zh-CN" baseline="30000" dirty="0">
                <a:sym typeface="Wingdings" pitchFamily="2" charset="2"/>
              </a:rPr>
              <a:t>3+</a:t>
            </a:r>
            <a:r>
              <a:rPr lang="en-US" altLang="zh-CN" dirty="0">
                <a:sym typeface="Wingdings" pitchFamily="2" charset="2"/>
              </a:rPr>
              <a:t> (</a:t>
            </a:r>
            <a:r>
              <a:rPr lang="en-US" altLang="zh-CN" dirty="0" err="1">
                <a:sym typeface="Wingdings" pitchFamily="2" charset="2"/>
              </a:rPr>
              <a:t>aq</a:t>
            </a:r>
            <a:r>
              <a:rPr lang="en-US" altLang="zh-CN" dirty="0">
                <a:sym typeface="Wingdings" pitchFamily="2" charset="2"/>
              </a:rPr>
              <a:t>)+ </a:t>
            </a:r>
            <a:r>
              <a:rPr lang="en-US" altLang="zh-CN" dirty="0" err="1">
                <a:sym typeface="Wingdings" pitchFamily="2" charset="2"/>
              </a:rPr>
              <a:t>Cl</a:t>
            </a:r>
            <a:r>
              <a:rPr lang="en-US" altLang="zh-CN" baseline="30000" dirty="0">
                <a:sym typeface="Wingdings" pitchFamily="2" charset="2"/>
              </a:rPr>
              <a:t>-</a:t>
            </a:r>
            <a:r>
              <a:rPr lang="en-US" altLang="zh-CN" dirty="0">
                <a:sym typeface="Wingdings" pitchFamily="2" charset="2"/>
              </a:rPr>
              <a:t> (</a:t>
            </a:r>
            <a:r>
              <a:rPr lang="en-US" altLang="zh-CN" dirty="0" err="1">
                <a:sym typeface="Wingdings" pitchFamily="2" charset="2"/>
              </a:rPr>
              <a:t>aq</a:t>
            </a:r>
            <a:r>
              <a:rPr lang="en-US" altLang="zh-CN" dirty="0">
                <a:sym typeface="Wingdings" pitchFamily="2" charset="2"/>
              </a:rPr>
              <a:t>) +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O(l) 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(3) </a:t>
            </a:r>
            <a:r>
              <a:rPr lang="zh-CN" altLang="en-US" dirty="0">
                <a:sym typeface="Wingdings" pitchFamily="2" charset="2"/>
              </a:rPr>
              <a:t>欲检验</a:t>
            </a:r>
            <a:r>
              <a:rPr lang="en-US" altLang="zh-CN" dirty="0" err="1">
                <a:sym typeface="Wingdings" pitchFamily="2" charset="2"/>
              </a:rPr>
              <a:t>Cl</a:t>
            </a:r>
            <a:r>
              <a:rPr lang="en-US" altLang="zh-CN" baseline="30000" dirty="0">
                <a:sym typeface="Wingdings" pitchFamily="2" charset="2"/>
              </a:rPr>
              <a:t>-</a:t>
            </a:r>
            <a:endParaRPr lang="en-US" altLang="zh-CN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A </a:t>
            </a:r>
            <a:r>
              <a:rPr lang="zh-CN" altLang="en-US" dirty="0">
                <a:sym typeface="Wingdings" pitchFamily="2" charset="2"/>
              </a:rPr>
              <a:t>，</a:t>
            </a:r>
            <a:r>
              <a:rPr lang="en-US" altLang="zh-CN" dirty="0">
                <a:sym typeface="Wingdings" pitchFamily="2" charset="2"/>
              </a:rPr>
              <a:t>B(</a:t>
            </a:r>
            <a:r>
              <a:rPr lang="zh-CN" altLang="en-US" dirty="0">
                <a:sym typeface="Wingdings" pitchFamily="2" charset="2"/>
              </a:rPr>
              <a:t>去除</a:t>
            </a:r>
            <a:r>
              <a:rPr lang="en-US" altLang="zh-CN" dirty="0">
                <a:sym typeface="Wingdings" pitchFamily="2" charset="2"/>
              </a:rPr>
              <a:t>SO</a:t>
            </a:r>
            <a:r>
              <a:rPr lang="en-US" altLang="zh-CN" baseline="-25000" dirty="0">
                <a:sym typeface="Wingdings" pitchFamily="2" charset="2"/>
              </a:rPr>
              <a:t>4</a:t>
            </a:r>
            <a:r>
              <a:rPr lang="en-US" altLang="zh-CN" baseline="30000" dirty="0">
                <a:sym typeface="Wingdings" pitchFamily="2" charset="2"/>
              </a:rPr>
              <a:t>2-</a:t>
            </a:r>
            <a:r>
              <a:rPr lang="en-US" altLang="zh-CN" dirty="0">
                <a:sym typeface="Wingdings" pitchFamily="2" charset="2"/>
              </a:rPr>
              <a:t> )</a:t>
            </a:r>
            <a:r>
              <a:rPr lang="zh-CN" altLang="en-US" dirty="0">
                <a:sym typeface="Wingdings" pitchFamily="2" charset="2"/>
              </a:rPr>
              <a:t>，</a:t>
            </a:r>
            <a:r>
              <a:rPr lang="en-US" altLang="zh-CN" dirty="0">
                <a:sym typeface="Wingdings" pitchFamily="2" charset="2"/>
              </a:rPr>
              <a:t>D</a:t>
            </a:r>
          </a:p>
          <a:p>
            <a:pPr>
              <a:buNone/>
            </a:pPr>
            <a:r>
              <a:rPr lang="zh-CN" altLang="en-US" dirty="0">
                <a:sym typeface="Wingdings" pitchFamily="2" charset="2"/>
              </a:rPr>
              <a:t>不能用</a:t>
            </a:r>
            <a:r>
              <a:rPr lang="en-US" altLang="zh-CN" dirty="0">
                <a:sym typeface="Wingdings" pitchFamily="2" charset="2"/>
              </a:rPr>
              <a:t>C</a:t>
            </a:r>
            <a:r>
              <a:rPr lang="zh-CN" altLang="en-US" dirty="0">
                <a:sym typeface="Wingdings" pitchFamily="2" charset="2"/>
              </a:rPr>
              <a:t>，因为含有</a:t>
            </a:r>
            <a:r>
              <a:rPr lang="en-US" altLang="zh-CN" dirty="0" err="1">
                <a:sym typeface="Wingdings" pitchFamily="2" charset="2"/>
              </a:rPr>
              <a:t>Cl</a:t>
            </a:r>
            <a:r>
              <a:rPr lang="en-US" altLang="zh-CN" baseline="30000" dirty="0">
                <a:sym typeface="Wingdings" pitchFamily="2" charset="2"/>
              </a:rPr>
              <a:t>-</a:t>
            </a:r>
            <a:r>
              <a:rPr lang="en-US" altLang="zh-CN" dirty="0">
                <a:sym typeface="Wingdings" pitchFamily="2" charset="2"/>
              </a:rPr>
              <a:t> 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8153400" cy="48006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6.  </a:t>
            </a:r>
            <a:r>
              <a:rPr lang="en-US" altLang="zh-CN" dirty="0">
                <a:latin typeface="Calibri"/>
                <a:cs typeface="Calibri"/>
              </a:rPr>
              <a:t>①</a:t>
            </a:r>
            <a:r>
              <a:rPr lang="en-US" altLang="zh-CN" dirty="0"/>
              <a:t>Cl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与</a:t>
            </a:r>
            <a:r>
              <a:rPr lang="en-US" altLang="zh-CN" dirty="0" err="1"/>
              <a:t>NaOH</a:t>
            </a:r>
            <a:r>
              <a:rPr lang="zh-CN" altLang="en-US" dirty="0"/>
              <a:t>反应，碱性消失。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>
                <a:latin typeface="Calibri"/>
                <a:cs typeface="Calibri"/>
              </a:rPr>
              <a:t>②</a:t>
            </a:r>
            <a:r>
              <a:rPr lang="zh-CN" altLang="en-US" dirty="0"/>
              <a:t>过量氯水中的</a:t>
            </a:r>
            <a:r>
              <a:rPr lang="en-US" altLang="zh-CN" dirty="0" err="1"/>
              <a:t>HClO</a:t>
            </a:r>
            <a:r>
              <a:rPr lang="zh-CN" altLang="en-US" dirty="0"/>
              <a:t>使酚酞氧化褪色。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向溶液中再滴入稀</a:t>
            </a:r>
            <a:r>
              <a:rPr lang="en-US" altLang="zh-CN" dirty="0" err="1"/>
              <a:t>NaOH</a:t>
            </a:r>
            <a:r>
              <a:rPr lang="zh-CN" altLang="en-US" dirty="0"/>
              <a:t>，如果变红，说明褪色原因是</a:t>
            </a:r>
            <a:r>
              <a:rPr lang="zh-CN" altLang="en-US" dirty="0">
                <a:latin typeface="Calibri"/>
                <a:cs typeface="Calibri"/>
              </a:rPr>
              <a:t>①，否则是②。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20" y="76200"/>
            <a:ext cx="7498080" cy="533400"/>
          </a:xfrm>
        </p:spPr>
        <p:txBody>
          <a:bodyPr>
            <a:noAutofit/>
          </a:bodyPr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3400"/>
            <a:ext cx="8153400" cy="6324600"/>
          </a:xfrm>
        </p:spPr>
        <p:txBody>
          <a:bodyPr>
            <a:normAutofit/>
          </a:bodyPr>
          <a:lstStyle/>
          <a:p>
            <a:pPr marL="0">
              <a:spcBef>
                <a:spcPts val="0"/>
              </a:spcBef>
              <a:buNone/>
            </a:pPr>
            <a:r>
              <a:rPr lang="en-US" altLang="zh-CN" sz="2800" dirty="0"/>
              <a:t>7.  (1)	A</a:t>
            </a:r>
            <a:r>
              <a:rPr lang="zh-CN" altLang="en-US" sz="2800" dirty="0"/>
              <a:t>：浓</a:t>
            </a:r>
            <a:r>
              <a:rPr lang="en-US" altLang="zh-CN" sz="2800" dirty="0" err="1"/>
              <a:t>HCl</a:t>
            </a:r>
            <a:r>
              <a:rPr lang="en-US" altLang="zh-CN" sz="2800" dirty="0"/>
              <a:t>	</a:t>
            </a:r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/>
              <a:t>	B</a:t>
            </a:r>
            <a:r>
              <a:rPr lang="zh-CN" altLang="en-US" sz="2800" dirty="0"/>
              <a:t>：</a:t>
            </a:r>
            <a:r>
              <a:rPr lang="en-US" altLang="zh-CN" sz="2800" dirty="0"/>
              <a:t>MnO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/>
              <a:t>	MnO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(s)+ 4H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)+ 2Cl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/>
              <a:t>			Mn</a:t>
            </a:r>
            <a:r>
              <a:rPr lang="en-US" altLang="zh-CN" sz="2800" baseline="30000" dirty="0"/>
              <a:t>2+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O(l) + Cl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(g)</a:t>
            </a:r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氧化剂： </a:t>
            </a:r>
            <a:r>
              <a:rPr lang="en-US" altLang="zh-CN" sz="2800" dirty="0"/>
              <a:t>MnO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/>
              <a:t>(2)	C</a:t>
            </a:r>
            <a:r>
              <a:rPr lang="zh-CN" altLang="en-US" sz="2800" dirty="0"/>
              <a:t>：饱和</a:t>
            </a:r>
            <a:r>
              <a:rPr lang="en-US" altLang="zh-CN" sz="2800" dirty="0" err="1"/>
              <a:t>NaCl</a:t>
            </a:r>
            <a:r>
              <a:rPr lang="zh-CN" altLang="en-US" sz="2800" dirty="0"/>
              <a:t>溶液</a:t>
            </a:r>
            <a:endParaRPr lang="en-US" altLang="zh-CN" sz="2800" dirty="0"/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/>
              <a:t>	D</a:t>
            </a:r>
            <a:r>
              <a:rPr lang="zh-CN" altLang="en-US" sz="2800" dirty="0"/>
              <a:t>作用除去水蒸气</a:t>
            </a:r>
            <a:endParaRPr lang="en-US" altLang="zh-CN" sz="2800" dirty="0"/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/>
              <a:t>(3)	E</a:t>
            </a:r>
            <a:r>
              <a:rPr lang="zh-CN" altLang="en-US" sz="2800" dirty="0"/>
              <a:t>现象黄绿色气体充满试剂瓶</a:t>
            </a:r>
            <a:endParaRPr lang="en-US" altLang="zh-CN" sz="2800" dirty="0"/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/>
              <a:t>	F</a:t>
            </a:r>
            <a:r>
              <a:rPr lang="zh-CN" altLang="en-US" sz="2800" dirty="0"/>
              <a:t>现象红布不褪色 ，产生大量棕黄色烟</a:t>
            </a:r>
            <a:endParaRPr lang="en-US" altLang="zh-CN" sz="2800" dirty="0"/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/>
              <a:t>	Cu + Cl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	    </a:t>
            </a:r>
            <a:r>
              <a:rPr lang="en-US" altLang="zh-CN" sz="2800" dirty="0">
                <a:sym typeface="Wingdings" pitchFamily="2" charset="2"/>
              </a:rPr>
              <a:t>CuCl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</a:p>
          <a:p>
            <a:pPr marL="0">
              <a:spcBef>
                <a:spcPts val="0"/>
              </a:spcBef>
              <a:buNone/>
            </a:pPr>
            <a:r>
              <a:rPr lang="en-US" altLang="zh-CN" sz="2800" baseline="-250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脱脂棉作用防止</a:t>
            </a:r>
            <a:r>
              <a:rPr lang="en-US" altLang="zh-CN" sz="2800" dirty="0">
                <a:sym typeface="Wingdings" pitchFamily="2" charset="2"/>
              </a:rPr>
              <a:t>CuCl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颗粒堵塞导管。</a:t>
            </a:r>
            <a:endParaRPr lang="en-US" altLang="zh-CN" sz="2800" dirty="0">
              <a:sym typeface="Wingdings" pitchFamily="2" charset="2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(4)	H</a:t>
            </a:r>
            <a:r>
              <a:rPr lang="zh-CN" altLang="en-US" sz="2800" dirty="0">
                <a:sym typeface="Wingdings" pitchFamily="2" charset="2"/>
              </a:rPr>
              <a:t>：</a:t>
            </a:r>
            <a:r>
              <a:rPr lang="en-US" altLang="zh-CN" sz="2800" dirty="0" err="1">
                <a:sym typeface="Wingdings" pitchFamily="2" charset="2"/>
              </a:rPr>
              <a:t>NaOH</a:t>
            </a:r>
            <a:r>
              <a:rPr lang="zh-CN" altLang="en-US" sz="2800" dirty="0">
                <a:sym typeface="Wingdings" pitchFamily="2" charset="2"/>
              </a:rPr>
              <a:t>溶液 </a:t>
            </a:r>
            <a:endParaRPr lang="en-US" altLang="zh-CN" sz="2800" dirty="0">
              <a:sym typeface="Wingdings" pitchFamily="2" charset="2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(g) + 2OH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 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)+</a:t>
            </a:r>
            <a:r>
              <a:rPr lang="en-US" altLang="zh-CN" sz="2800" dirty="0" err="1">
                <a:sym typeface="Wingdings" pitchFamily="2" charset="2"/>
              </a:rPr>
              <a:t>ClO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(l)</a:t>
            </a:r>
          </a:p>
          <a:p>
            <a:pPr marL="0"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(5) 	</a:t>
            </a:r>
            <a:r>
              <a:rPr lang="zh-CN" altLang="en-US" sz="2800" dirty="0">
                <a:sym typeface="Wingdings" pitchFamily="2" charset="2"/>
              </a:rPr>
              <a:t>先点燃</a:t>
            </a:r>
            <a:r>
              <a:rPr lang="en-US" altLang="zh-CN" sz="2800" dirty="0">
                <a:sym typeface="Wingdings" pitchFamily="2" charset="2"/>
              </a:rPr>
              <a:t>B</a:t>
            </a:r>
            <a:r>
              <a:rPr lang="zh-CN" altLang="en-US" sz="2800" dirty="0">
                <a:sym typeface="Wingdings" pitchFamily="2" charset="2"/>
              </a:rPr>
              <a:t>处的，待</a:t>
            </a:r>
            <a:r>
              <a:rPr lang="en-US" altLang="zh-CN" sz="2800" dirty="0">
                <a:sym typeface="Wingdings" pitchFamily="2" charset="2"/>
              </a:rPr>
              <a:t>F</a:t>
            </a:r>
            <a:r>
              <a:rPr lang="zh-CN" altLang="en-US" sz="2800" dirty="0">
                <a:sym typeface="Wingdings" pitchFamily="2" charset="2"/>
              </a:rPr>
              <a:t>充满</a:t>
            </a:r>
            <a:r>
              <a:rPr lang="en-US" altLang="zh-CN" sz="2800" dirty="0">
                <a:sym typeface="Wingdings" pitchFamily="2" charset="2"/>
              </a:rPr>
              <a:t>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后再点燃</a:t>
            </a:r>
            <a:r>
              <a:rPr lang="en-US" altLang="zh-CN" sz="2800" dirty="0">
                <a:sym typeface="Wingdings" pitchFamily="2" charset="2"/>
              </a:rPr>
              <a:t>F</a:t>
            </a:r>
            <a:r>
              <a:rPr lang="zh-CN" altLang="en-US" sz="2800" dirty="0">
                <a:sym typeface="Wingdings" pitchFamily="2" charset="2"/>
              </a:rPr>
              <a:t>处的。</a:t>
            </a:r>
            <a:endParaRPr lang="en-US" altLang="zh-CN" sz="2800" baseline="-25000" dirty="0">
              <a:sym typeface="Wingdings" pitchFamily="2" charset="2"/>
            </a:endParaRPr>
          </a:p>
          <a:p>
            <a:pPr marL="0">
              <a:spcBef>
                <a:spcPts val="0"/>
              </a:spcBef>
              <a:buNone/>
            </a:pPr>
            <a:endParaRPr lang="en-US" altLang="zh-CN" sz="2800" dirty="0"/>
          </a:p>
          <a:p>
            <a:pPr marL="0">
              <a:spcBef>
                <a:spcPts val="0"/>
              </a:spcBef>
              <a:buNone/>
            </a:pPr>
            <a:endParaRPr lang="en-US" altLang="zh-CN" sz="2800" dirty="0"/>
          </a:p>
          <a:p>
            <a:pPr marL="0">
              <a:spcBef>
                <a:spcPts val="0"/>
              </a:spcBef>
              <a:buNone/>
            </a:pPr>
            <a:endParaRPr lang="en-US" altLang="zh-CN" sz="2800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6400800" y="1764884"/>
            <a:ext cx="91440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6705600" y="1570038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169920" y="4660484"/>
            <a:ext cx="64008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>
            <a:off x="3474720" y="4465638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8153400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8.  Ag=108 , K=39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沉淀物为</a:t>
            </a:r>
            <a:r>
              <a:rPr lang="en-US" altLang="zh-CN" dirty="0" err="1"/>
              <a:t>AgCl</a:t>
            </a:r>
            <a:r>
              <a:rPr lang="zh-CN" altLang="en-US" dirty="0"/>
              <a:t>、</a:t>
            </a:r>
            <a:r>
              <a:rPr lang="en-US" altLang="zh-CN" dirty="0" err="1"/>
              <a:t>AgBr</a:t>
            </a:r>
            <a:r>
              <a:rPr lang="zh-CN" altLang="en-US" dirty="0"/>
              <a:t>质量</a:t>
            </a:r>
            <a:r>
              <a:rPr lang="en-US" altLang="zh-CN" dirty="0"/>
              <a:t>=6.63g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混合物为</a:t>
            </a:r>
            <a:r>
              <a:rPr lang="en-US" altLang="zh-CN" dirty="0" err="1"/>
              <a:t>KCl</a:t>
            </a:r>
            <a:r>
              <a:rPr lang="zh-CN" altLang="en-US" dirty="0"/>
              <a:t>、</a:t>
            </a:r>
            <a:r>
              <a:rPr lang="en-US" altLang="zh-CN" dirty="0" err="1"/>
              <a:t>KBr</a:t>
            </a:r>
            <a:r>
              <a:rPr lang="zh-CN" altLang="en-US" dirty="0"/>
              <a:t>质量</a:t>
            </a:r>
            <a:r>
              <a:rPr lang="en-US" altLang="zh-CN" dirty="0"/>
              <a:t>=3.87g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增加的质量为</a:t>
            </a:r>
            <a:r>
              <a:rPr lang="en-US" altLang="zh-CN" dirty="0"/>
              <a:t>Ag</a:t>
            </a:r>
            <a:r>
              <a:rPr lang="zh-CN" altLang="en-US" dirty="0"/>
              <a:t>元素与</a:t>
            </a:r>
            <a:r>
              <a:rPr lang="en-US" altLang="zh-CN" dirty="0"/>
              <a:t>K</a:t>
            </a:r>
            <a:r>
              <a:rPr lang="zh-CN" altLang="en-US" dirty="0"/>
              <a:t>元素的质量差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实际质量差</a:t>
            </a:r>
            <a:r>
              <a:rPr lang="en-US" altLang="zh-CN" dirty="0"/>
              <a:t>=6.63-3.87=2.76g</a:t>
            </a:r>
          </a:p>
          <a:p>
            <a:pPr>
              <a:buNone/>
            </a:pPr>
            <a:r>
              <a:rPr lang="en-US" altLang="zh-CN" dirty="0"/>
              <a:t>	Ag</a:t>
            </a:r>
            <a:r>
              <a:rPr lang="zh-CN" altLang="en-US" dirty="0"/>
              <a:t>与</a:t>
            </a:r>
            <a:r>
              <a:rPr lang="en-US" altLang="zh-CN" dirty="0"/>
              <a:t>K</a:t>
            </a:r>
            <a:r>
              <a:rPr lang="zh-CN" altLang="en-US" dirty="0"/>
              <a:t>的原子质量差</a:t>
            </a:r>
            <a:r>
              <a:rPr lang="en-US" altLang="zh-CN" dirty="0"/>
              <a:t>=108-39=69</a:t>
            </a:r>
          </a:p>
          <a:p>
            <a:pPr>
              <a:buNone/>
            </a:pPr>
            <a:r>
              <a:rPr lang="en-US" altLang="zh-CN" dirty="0"/>
              <a:t>	Ag</a:t>
            </a:r>
            <a:r>
              <a:rPr lang="zh-CN" altLang="en-US" dirty="0"/>
              <a:t>或</a:t>
            </a:r>
            <a:r>
              <a:rPr lang="en-US" altLang="zh-CN" dirty="0"/>
              <a:t>K</a:t>
            </a:r>
            <a:r>
              <a:rPr lang="zh-CN" altLang="en-US" dirty="0"/>
              <a:t>的摩尔数</a:t>
            </a:r>
            <a:r>
              <a:rPr lang="en-US" altLang="zh-CN" dirty="0"/>
              <a:t>=2.76/69 = 0.04mol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混合物中</a:t>
            </a:r>
            <a:r>
              <a:rPr lang="en-US" altLang="zh-CN" dirty="0"/>
              <a:t>K</a:t>
            </a:r>
            <a:r>
              <a:rPr lang="zh-CN" altLang="en-US" dirty="0"/>
              <a:t>元素的质量为</a:t>
            </a:r>
            <a:r>
              <a:rPr lang="en-US" altLang="zh-CN" dirty="0"/>
              <a:t>=0.04x39=1.56g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混合物中</a:t>
            </a:r>
            <a:r>
              <a:rPr lang="en-US" altLang="zh-CN" dirty="0"/>
              <a:t>K</a:t>
            </a:r>
            <a:r>
              <a:rPr lang="zh-CN" altLang="en-US" dirty="0"/>
              <a:t>元素的质量百分比</a:t>
            </a:r>
            <a:r>
              <a:rPr lang="en-US" altLang="zh-CN" dirty="0"/>
              <a:t>=1.56g/3.87g</a:t>
            </a:r>
          </a:p>
          <a:p>
            <a:pPr>
              <a:buNone/>
            </a:pPr>
            <a:r>
              <a:rPr lang="en-US" altLang="zh-CN" dirty="0"/>
              <a:t>							= 40.31%</a:t>
            </a:r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4875107</TotalTime>
  <Words>4214</Words>
  <Application>Microsoft Office PowerPoint</Application>
  <PresentationFormat>On-screen Show (4:3)</PresentationFormat>
  <Paragraphs>565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9" baseType="lpstr">
      <vt:lpstr>Arial Narrow</vt:lpstr>
      <vt:lpstr>Baskerville Old Face</vt:lpstr>
      <vt:lpstr>Bell MT</vt:lpstr>
      <vt:lpstr>Bodoni MT</vt:lpstr>
      <vt:lpstr>Calibri</vt:lpstr>
      <vt:lpstr>Gill Sans MT</vt:lpstr>
      <vt:lpstr>Verdana</vt:lpstr>
      <vt:lpstr>Wingdings</vt:lpstr>
      <vt:lpstr>Wingdings 2</vt:lpstr>
      <vt:lpstr>Solstice</vt:lpstr>
      <vt:lpstr>第15章 VIIA族：卤素（halogens）</vt:lpstr>
      <vt:lpstr>同族元素的规律性</vt:lpstr>
      <vt:lpstr>15.1 卤素的性质与用途 </vt:lpstr>
      <vt:lpstr>PowerPoint Presentation</vt:lpstr>
      <vt:lpstr>15.1 卤素的性质与用途 </vt:lpstr>
      <vt:lpstr>与金属反应 </vt:lpstr>
      <vt:lpstr>与金属反应 </vt:lpstr>
      <vt:lpstr>与非金属反应</vt:lpstr>
      <vt:lpstr>与非金属反应</vt:lpstr>
      <vt:lpstr>与氢反应</vt:lpstr>
      <vt:lpstr>PowerPoint Presentation</vt:lpstr>
      <vt:lpstr>PowerPoint Presentation</vt:lpstr>
      <vt:lpstr>与水的反应</vt:lpstr>
      <vt:lpstr>与水的反应</vt:lpstr>
      <vt:lpstr>次氯酸</vt:lpstr>
      <vt:lpstr>与碱作用</vt:lpstr>
      <vt:lpstr>漂白剂</vt:lpstr>
      <vt:lpstr>卤素的氧化性</vt:lpstr>
      <vt:lpstr>思考题15a</vt:lpstr>
      <vt:lpstr>PowerPoint Presentation</vt:lpstr>
      <vt:lpstr>15.2 氯气的制取</vt:lpstr>
      <vt:lpstr>15.2.1 氯气的实验室制法 方法（二）</vt:lpstr>
      <vt:lpstr>PowerPoint Presentation</vt:lpstr>
      <vt:lpstr>PowerPoint Presentation</vt:lpstr>
      <vt:lpstr>15.2.2 氯气的工业制法</vt:lpstr>
      <vt:lpstr>15.2.2 氯气的工业制法</vt:lpstr>
      <vt:lpstr>15.2.2 氯气的工业制法</vt:lpstr>
      <vt:lpstr>思考题15b</vt:lpstr>
      <vt:lpstr>活动14：喷泉实验</vt:lpstr>
      <vt:lpstr>PowerPoint Presentation</vt:lpstr>
      <vt:lpstr>15.3 氯化氢</vt:lpstr>
      <vt:lpstr>15.3.1 氯化氢的性质与用途</vt:lpstr>
      <vt:lpstr>15.3.1 氯化氢的性质与用途</vt:lpstr>
      <vt:lpstr>15.3.2 氯化氢与盐酸的制取</vt:lpstr>
      <vt:lpstr>PowerPoint Presentation</vt:lpstr>
      <vt:lpstr>盐酸的工业制法</vt:lpstr>
      <vt:lpstr>思考题15c</vt:lpstr>
      <vt:lpstr>15.4 卤化物在水中的溶解度</vt:lpstr>
      <vt:lpstr>卤离子的检验（活动16）</vt:lpstr>
      <vt:lpstr>思考</vt:lpstr>
      <vt:lpstr>思考题15d</vt:lpstr>
      <vt:lpstr>PowerPoint Presentation</vt:lpstr>
      <vt:lpstr>PowerPoint Presentation</vt:lpstr>
      <vt:lpstr>思考题15e</vt:lpstr>
      <vt:lpstr>选择题</vt:lpstr>
      <vt:lpstr>选择题</vt:lpstr>
      <vt:lpstr>选择题</vt:lpstr>
      <vt:lpstr>选择题</vt:lpstr>
      <vt:lpstr>选择题</vt:lpstr>
      <vt:lpstr>选择题</vt:lpstr>
      <vt:lpstr>选择题</vt:lpstr>
      <vt:lpstr>作答题</vt:lpstr>
      <vt:lpstr>作答题</vt:lpstr>
      <vt:lpstr>作答题</vt:lpstr>
      <vt:lpstr>作答题</vt:lpstr>
      <vt:lpstr>作答题</vt:lpstr>
      <vt:lpstr>作答题</vt:lpstr>
      <vt:lpstr>作答题</vt:lpstr>
      <vt:lpstr>作答题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第九章：卤素</dc:title>
  <dc:creator>User</dc:creator>
  <cp:lastModifiedBy>User</cp:lastModifiedBy>
  <cp:revision>221</cp:revision>
  <dcterms:created xsi:type="dcterms:W3CDTF">2016-03-13T14:53:04Z</dcterms:created>
  <dcterms:modified xsi:type="dcterms:W3CDTF">2020-03-02T12:25:25Z</dcterms:modified>
</cp:coreProperties>
</file>