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72" r:id="rId3"/>
    <p:sldId id="273" r:id="rId4"/>
    <p:sldId id="274" r:id="rId5"/>
    <p:sldId id="276" r:id="rId6"/>
    <p:sldId id="279" r:id="rId7"/>
    <p:sldId id="303" r:id="rId8"/>
    <p:sldId id="277" r:id="rId9"/>
    <p:sldId id="278" r:id="rId10"/>
    <p:sldId id="336" r:id="rId11"/>
    <p:sldId id="337" r:id="rId12"/>
    <p:sldId id="287" r:id="rId13"/>
    <p:sldId id="283" r:id="rId14"/>
    <p:sldId id="284" r:id="rId15"/>
    <p:sldId id="291" r:id="rId16"/>
    <p:sldId id="293" r:id="rId17"/>
    <p:sldId id="297" r:id="rId18"/>
    <p:sldId id="334" r:id="rId19"/>
    <p:sldId id="335" r:id="rId20"/>
    <p:sldId id="338" r:id="rId21"/>
    <p:sldId id="333" r:id="rId22"/>
    <p:sldId id="289" r:id="rId23"/>
    <p:sldId id="292" r:id="rId24"/>
    <p:sldId id="290" r:id="rId25"/>
    <p:sldId id="294" r:id="rId26"/>
    <p:sldId id="285" r:id="rId27"/>
    <p:sldId id="288" r:id="rId28"/>
    <p:sldId id="286" r:id="rId29"/>
    <p:sldId id="298" r:id="rId30"/>
    <p:sldId id="281" r:id="rId31"/>
    <p:sldId id="282" r:id="rId32"/>
    <p:sldId id="339" r:id="rId33"/>
    <p:sldId id="295" r:id="rId34"/>
    <p:sldId id="299" r:id="rId35"/>
    <p:sldId id="300" r:id="rId36"/>
    <p:sldId id="301" r:id="rId37"/>
    <p:sldId id="302" r:id="rId38"/>
    <p:sldId id="341" r:id="rId39"/>
    <p:sldId id="340" r:id="rId40"/>
    <p:sldId id="307" r:id="rId41"/>
    <p:sldId id="308" r:id="rId42"/>
    <p:sldId id="315" r:id="rId43"/>
    <p:sldId id="312" r:id="rId44"/>
    <p:sldId id="310" r:id="rId45"/>
    <p:sldId id="311" r:id="rId46"/>
    <p:sldId id="313" r:id="rId47"/>
    <p:sldId id="314" r:id="rId48"/>
    <p:sldId id="329" r:id="rId49"/>
    <p:sldId id="309" r:id="rId50"/>
    <p:sldId id="342" r:id="rId51"/>
    <p:sldId id="304" r:id="rId52"/>
    <p:sldId id="306" r:id="rId53"/>
    <p:sldId id="316" r:id="rId54"/>
    <p:sldId id="344" r:id="rId55"/>
    <p:sldId id="345" r:id="rId56"/>
    <p:sldId id="346" r:id="rId57"/>
    <p:sldId id="343" r:id="rId58"/>
    <p:sldId id="348" r:id="rId59"/>
    <p:sldId id="347" r:id="rId60"/>
    <p:sldId id="351" r:id="rId61"/>
    <p:sldId id="349" r:id="rId62"/>
    <p:sldId id="350" r:id="rId63"/>
    <p:sldId id="352" r:id="rId64"/>
    <p:sldId id="353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2D1ABC"/>
    <a:srgbClr val="CCFF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9" autoAdjust="0"/>
    <p:restoredTop sz="94660"/>
  </p:normalViewPr>
  <p:slideViewPr>
    <p:cSldViewPr>
      <p:cViewPr varScale="1">
        <p:scale>
          <a:sx n="68" d="100"/>
          <a:sy n="68" d="100"/>
        </p:scale>
        <p:origin x="14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32</a:t>
            </a:r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羟基化合物：</a:t>
            </a:r>
            <a:br>
              <a:rPr lang="en-US" altLang="zh-CN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醇、酚</a:t>
            </a:r>
            <a:endParaRPr lang="en-US" sz="8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 </a:t>
            </a:r>
            <a:r>
              <a:rPr lang="zh-CN" altLang="en-US" sz="4000" b="1" dirty="0">
                <a:latin typeface="+mn-ea"/>
              </a:rPr>
              <a:t>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乙醇：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 </a:t>
            </a:r>
            <a:r>
              <a:rPr lang="zh-CN" altLang="en-US" sz="3000" dirty="0">
                <a:sym typeface="Wingdings" pitchFamily="2" charset="2"/>
              </a:rPr>
              <a:t>，俗称“酒精”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常见的醇类：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维生素</a:t>
            </a:r>
            <a:r>
              <a:rPr lang="en-US" altLang="zh-CN" sz="3000" dirty="0">
                <a:sym typeface="Wingdings" pitchFamily="2" charset="2"/>
              </a:rPr>
              <a:t>A</a:t>
            </a:r>
            <a:r>
              <a:rPr lang="zh-CN" altLang="en-US" sz="3000" dirty="0">
                <a:sym typeface="Wingdings" pitchFamily="2" charset="2"/>
              </a:rPr>
              <a:t>、维生素</a:t>
            </a:r>
            <a:r>
              <a:rPr lang="en-US" altLang="zh-CN" sz="3000" dirty="0">
                <a:sym typeface="Wingdings" pitchFamily="2" charset="2"/>
              </a:rPr>
              <a:t>D</a:t>
            </a:r>
            <a:r>
              <a:rPr lang="zh-CN" altLang="en-US" sz="3000" dirty="0">
                <a:sym typeface="Wingdings" pitchFamily="2" charset="2"/>
              </a:rPr>
              <a:t>、薄荷醇、胆固醇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根据分子中羟基数分类：</a:t>
            </a:r>
            <a:endParaRPr lang="en-US" altLang="zh-CN" sz="30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一元醇：分子里只含有</a:t>
            </a:r>
            <a:r>
              <a:rPr lang="en-US" altLang="zh-CN" sz="2600" dirty="0"/>
              <a:t>1</a:t>
            </a:r>
            <a:r>
              <a:rPr lang="zh-CN" altLang="en-US" sz="2600" dirty="0"/>
              <a:t>个羟基</a:t>
            </a:r>
            <a:endParaRPr lang="en-US" altLang="zh-CN" sz="26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二元醇：分子里还有</a:t>
            </a:r>
            <a:r>
              <a:rPr lang="en-US" altLang="zh-CN" sz="2600" dirty="0"/>
              <a:t>2</a:t>
            </a:r>
            <a:r>
              <a:rPr lang="zh-CN" altLang="en-US" sz="2600" dirty="0"/>
              <a:t>个羟基</a:t>
            </a:r>
            <a:endParaRPr lang="en-US" altLang="zh-CN" sz="26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三元醇：分子里还有</a:t>
            </a:r>
            <a:r>
              <a:rPr lang="en-US" altLang="zh-CN" sz="2600" dirty="0"/>
              <a:t>3</a:t>
            </a:r>
            <a:r>
              <a:rPr lang="zh-CN" altLang="en-US" sz="2600" dirty="0"/>
              <a:t>个羟基</a:t>
            </a:r>
            <a:endParaRPr lang="en-US" altLang="zh-CN" sz="2600" dirty="0"/>
          </a:p>
          <a:p>
            <a:pPr lvl="1">
              <a:spcBef>
                <a:spcPts val="600"/>
              </a:spcBef>
              <a:buNone/>
            </a:pPr>
            <a:endParaRPr lang="en-US" altLang="zh-CN" sz="26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根据分子中与羟基键结的碳原子上连接的烃基数</a:t>
            </a:r>
            <a:endParaRPr lang="en-US" altLang="zh-CN" sz="30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一级醇：羟基键结的碳原子上连接</a:t>
            </a:r>
            <a:r>
              <a:rPr lang="en-US" altLang="zh-CN" sz="2600" dirty="0"/>
              <a:t>1</a:t>
            </a:r>
            <a:r>
              <a:rPr lang="zh-CN" altLang="en-US" sz="2600" dirty="0"/>
              <a:t>个烃基</a:t>
            </a:r>
            <a:endParaRPr lang="en-US" altLang="zh-CN" sz="26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二级醇：羟基键结的碳原子上连接</a:t>
            </a:r>
            <a:r>
              <a:rPr lang="en-US" altLang="zh-CN" sz="2600" dirty="0"/>
              <a:t>2</a:t>
            </a:r>
            <a:r>
              <a:rPr lang="zh-CN" altLang="en-US" sz="2600" dirty="0"/>
              <a:t>个烃基</a:t>
            </a:r>
            <a:endParaRPr lang="en-US" altLang="zh-CN" sz="26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三级醇：羟基键结的碳原子上连接</a:t>
            </a:r>
            <a:r>
              <a:rPr lang="en-US" altLang="zh-CN" sz="2600" dirty="0"/>
              <a:t>3</a:t>
            </a:r>
            <a:r>
              <a:rPr lang="zh-CN" altLang="en-US" sz="2600" dirty="0"/>
              <a:t>个烃基</a:t>
            </a:r>
            <a:endParaRPr lang="en-US" altLang="zh-CN" sz="2600" dirty="0"/>
          </a:p>
          <a:p>
            <a:pPr lvl="1">
              <a:spcBef>
                <a:spcPts val="600"/>
              </a:spcBef>
              <a:buNone/>
            </a:pPr>
            <a:endParaRPr lang="en-US" altLang="zh-CN" sz="26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8" name="Picture 7" descr="2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77553"/>
            <a:ext cx="8001000" cy="227524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762000" y="3429000"/>
            <a:ext cx="8153400" cy="2667000"/>
            <a:chOff x="1196788" y="3657600"/>
            <a:chExt cx="7794812" cy="2444750"/>
          </a:xfrm>
        </p:grpSpPr>
        <p:pic>
          <p:nvPicPr>
            <p:cNvPr id="6" name="Picture 5" descr="111b.tif"/>
            <p:cNvPicPr>
              <a:picLocks noChangeAspect="1"/>
            </p:cNvPicPr>
            <p:nvPr/>
          </p:nvPicPr>
          <p:blipFill>
            <a:blip r:embed="rId4"/>
            <a:srcRect t="32357" r="70833" b="29635"/>
            <a:stretch>
              <a:fillRect/>
            </a:stretch>
          </p:blipFill>
          <p:spPr>
            <a:xfrm>
              <a:off x="1196788" y="3657600"/>
              <a:ext cx="2384612" cy="2438400"/>
            </a:xfrm>
            <a:prstGeom prst="rect">
              <a:avLst/>
            </a:prstGeom>
          </p:spPr>
        </p:pic>
        <p:pic>
          <p:nvPicPr>
            <p:cNvPr id="9" name="Picture 8" descr="111b.tif"/>
            <p:cNvPicPr>
              <a:picLocks noChangeAspect="1"/>
            </p:cNvPicPr>
            <p:nvPr/>
          </p:nvPicPr>
          <p:blipFill>
            <a:blip r:embed="rId4"/>
            <a:srcRect l="33827" t="32357" b="13110"/>
            <a:stretch>
              <a:fillRect/>
            </a:stretch>
          </p:blipFill>
          <p:spPr>
            <a:xfrm>
              <a:off x="3581400" y="3657600"/>
              <a:ext cx="5410200" cy="24447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1B72BD-286B-402F-AD3F-471BDCA0246A}"/>
              </a:ext>
            </a:extLst>
          </p:cNvPr>
          <p:cNvSpPr txBox="1"/>
          <p:nvPr/>
        </p:nvSpPr>
        <p:spPr>
          <a:xfrm>
            <a:off x="308138" y="2193085"/>
            <a:ext cx="3523722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/>
              <a:t>饱和一元醇：</a:t>
            </a:r>
            <a:r>
              <a:rPr lang="en-US" altLang="zh-CN" sz="3200" dirty="0"/>
              <a:t>R-OH</a:t>
            </a:r>
            <a:endParaRPr lang="en-MY" altLang="zh-CN" sz="3200" dirty="0"/>
          </a:p>
          <a:p>
            <a:r>
              <a:rPr lang="zh-CN" altLang="en-US" sz="3200" dirty="0"/>
              <a:t>通式</a:t>
            </a:r>
            <a:r>
              <a:rPr lang="en-US" altLang="zh-CN" sz="3200" dirty="0"/>
              <a:t>C</a:t>
            </a:r>
            <a:r>
              <a:rPr lang="en-US" altLang="zh-CN" sz="3200" baseline="-25000" dirty="0"/>
              <a:t>n</a:t>
            </a:r>
            <a:r>
              <a:rPr lang="en-MY" altLang="zh-CN" sz="3200" dirty="0"/>
              <a:t>H</a:t>
            </a:r>
            <a:r>
              <a:rPr lang="en-MY" altLang="zh-CN" sz="3200" baseline="-25000" dirty="0"/>
              <a:t>2n+1</a:t>
            </a:r>
            <a:r>
              <a:rPr lang="en-MY" altLang="zh-CN" sz="3200" dirty="0"/>
              <a:t>OH</a:t>
            </a: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lvl="1">
              <a:spcBef>
                <a:spcPts val="600"/>
              </a:spcBef>
              <a:buNone/>
            </a:pPr>
            <a:r>
              <a:rPr lang="en-US" altLang="zh-CN" sz="3000" dirty="0"/>
              <a:t>  </a:t>
            </a:r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914400"/>
            <a:ext cx="8686800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57200" y="1066800"/>
            <a:ext cx="84582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IUPAC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系统命名法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选带有羟基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-OH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的最长碳链为主链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从离羟基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-OH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最近的一端给主链上的碳原子编号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支链为取代基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羟基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-OH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的位置用阿拉伯数字标在醇前面</a:t>
            </a:r>
            <a:endParaRPr kumimoji="0" lang="en-MY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zh-CN" altLang="en-US" sz="3000" dirty="0"/>
              <a:t>羟基的个数用“二”、“三”等表示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lvl="1">
              <a:spcBef>
                <a:spcPts val="600"/>
              </a:spcBef>
              <a:buNone/>
            </a:pPr>
            <a:r>
              <a:rPr lang="en-US" altLang="zh-CN" sz="3000" dirty="0"/>
              <a:t>  </a:t>
            </a:r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914400"/>
            <a:ext cx="8686800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8772" y="1219200"/>
            <a:ext cx="1266693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1-</a:t>
            </a:r>
            <a:r>
              <a:rPr lang="zh-CN" altLang="en-US" sz="3000" b="1" dirty="0">
                <a:solidFill>
                  <a:srgbClr val="002060"/>
                </a:solidFill>
              </a:rPr>
              <a:t>丁醇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0" y="2133600"/>
            <a:ext cx="1266693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2-</a:t>
            </a:r>
            <a:r>
              <a:rPr lang="zh-CN" altLang="en-US" sz="3000" b="1" dirty="0">
                <a:solidFill>
                  <a:srgbClr val="002060"/>
                </a:solidFill>
              </a:rPr>
              <a:t>丁醇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0" y="3200400"/>
            <a:ext cx="2465740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2-</a:t>
            </a:r>
            <a:r>
              <a:rPr lang="zh-CN" altLang="en-US" sz="3000" b="1" dirty="0">
                <a:solidFill>
                  <a:srgbClr val="002060"/>
                </a:solidFill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</a:rPr>
              <a:t>-1-</a:t>
            </a:r>
            <a:r>
              <a:rPr lang="zh-CN" altLang="en-US" sz="3000" b="1" dirty="0">
                <a:solidFill>
                  <a:srgbClr val="002060"/>
                </a:solidFill>
              </a:rPr>
              <a:t>丙醇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67400" y="5029200"/>
            <a:ext cx="2465740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2-</a:t>
            </a:r>
            <a:r>
              <a:rPr lang="zh-CN" altLang="en-US" sz="3000" b="1" dirty="0">
                <a:solidFill>
                  <a:srgbClr val="002060"/>
                </a:solidFill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</a:rPr>
              <a:t>-2-</a:t>
            </a:r>
            <a:r>
              <a:rPr lang="zh-CN" altLang="en-US" sz="3000" b="1" dirty="0">
                <a:solidFill>
                  <a:srgbClr val="002060"/>
                </a:solidFill>
              </a:rPr>
              <a:t>丙醇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95562" y="1219200"/>
            <a:ext cx="1343638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一级醇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95562" y="2057400"/>
            <a:ext cx="134363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二级醇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81800" y="3733800"/>
            <a:ext cx="134363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一级醇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53200" y="5463570"/>
            <a:ext cx="134363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三级醇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5800" y="1219200"/>
            <a:ext cx="482536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/>
              <a:t>CH</a:t>
            </a:r>
            <a:r>
              <a:rPr lang="en-US" altLang="zh-CN" sz="3000" b="1" baseline="-25000" dirty="0"/>
              <a:t>3</a:t>
            </a:r>
            <a:r>
              <a:rPr lang="en-US" altLang="zh-CN" sz="3000" b="1" dirty="0"/>
              <a:t> – CH</a:t>
            </a:r>
            <a:r>
              <a:rPr lang="en-US" altLang="zh-CN" sz="3000" b="1" baseline="-25000" dirty="0"/>
              <a:t>2</a:t>
            </a:r>
            <a:r>
              <a:rPr lang="en-US" altLang="zh-CN" sz="3000" b="1" dirty="0"/>
              <a:t>  –  CH</a:t>
            </a:r>
            <a:r>
              <a:rPr lang="en-US" altLang="zh-CN" sz="3000" b="1" baseline="-25000" dirty="0"/>
              <a:t>2 </a:t>
            </a:r>
            <a:r>
              <a:rPr lang="en-US" altLang="zh-CN" sz="3000" b="1" dirty="0"/>
              <a:t> – CH</a:t>
            </a:r>
            <a:r>
              <a:rPr lang="en-US" altLang="zh-CN" sz="3000" b="1" baseline="-25000" dirty="0"/>
              <a:t>2</a:t>
            </a:r>
            <a:r>
              <a:rPr lang="en-US" altLang="zh-CN" sz="3000" b="1" dirty="0"/>
              <a:t>  – OH</a:t>
            </a:r>
            <a:r>
              <a:rPr lang="en-US" altLang="zh-CN" sz="3000" b="1" baseline="-25000" dirty="0"/>
              <a:t> </a:t>
            </a:r>
            <a:endParaRPr lang="en-US" altLang="zh-CN" sz="3000" b="1" dirty="0"/>
          </a:p>
        </p:txBody>
      </p:sp>
      <p:sp>
        <p:nvSpPr>
          <p:cNvPr id="20" name="Rectangle 19"/>
          <p:cNvSpPr/>
          <p:nvPr/>
        </p:nvSpPr>
        <p:spPr>
          <a:xfrm>
            <a:off x="685800" y="1981200"/>
            <a:ext cx="385714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defRPr/>
            </a:pPr>
            <a:r>
              <a:rPr lang="en-US" altLang="zh-CN" sz="3000" b="1" dirty="0"/>
              <a:t>CH</a:t>
            </a:r>
            <a:r>
              <a:rPr lang="en-US" altLang="zh-CN" sz="3000" b="1" baseline="-25000" dirty="0"/>
              <a:t>3</a:t>
            </a:r>
            <a:r>
              <a:rPr lang="en-US" altLang="zh-CN" sz="3000" b="1" dirty="0"/>
              <a:t> – CH</a:t>
            </a:r>
            <a:r>
              <a:rPr lang="en-US" altLang="zh-CN" sz="3000" b="1" baseline="-25000" dirty="0"/>
              <a:t>2</a:t>
            </a:r>
            <a:r>
              <a:rPr lang="en-US" altLang="zh-CN" sz="3000" b="1" dirty="0"/>
              <a:t>  –  CH</a:t>
            </a:r>
            <a:r>
              <a:rPr lang="en-US" altLang="zh-CN" sz="3000" b="1" baseline="-25000" dirty="0"/>
              <a:t> </a:t>
            </a:r>
            <a:r>
              <a:rPr lang="en-US" altLang="zh-CN" sz="3000" b="1" dirty="0"/>
              <a:t> – CH</a:t>
            </a:r>
            <a:r>
              <a:rPr lang="en-US" altLang="zh-CN" sz="3000" b="1" baseline="-25000" dirty="0"/>
              <a:t>3</a:t>
            </a:r>
            <a:r>
              <a:rPr lang="en-US" altLang="zh-CN" sz="3000" b="1" dirty="0"/>
              <a:t> 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		   l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		  OH</a:t>
            </a:r>
            <a:r>
              <a:rPr lang="en-US" altLang="zh-CN" sz="3000" b="1" baseline="-25000" dirty="0"/>
              <a:t> </a:t>
            </a:r>
            <a:endParaRPr lang="en-US" altLang="zh-CN" sz="3000" b="1" dirty="0"/>
          </a:p>
        </p:txBody>
      </p:sp>
      <p:sp>
        <p:nvSpPr>
          <p:cNvPr id="21" name="Rectangle 20"/>
          <p:cNvSpPr/>
          <p:nvPr/>
        </p:nvSpPr>
        <p:spPr>
          <a:xfrm>
            <a:off x="609600" y="3352800"/>
            <a:ext cx="391325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defRPr/>
            </a:pPr>
            <a:r>
              <a:rPr lang="en-US" altLang="zh-CN" sz="3000" b="1" dirty="0"/>
              <a:t>CH</a:t>
            </a:r>
            <a:r>
              <a:rPr lang="en-US" altLang="zh-CN" sz="3000" b="1" baseline="-25000" dirty="0"/>
              <a:t>3</a:t>
            </a:r>
            <a:r>
              <a:rPr lang="en-US" altLang="zh-CN" sz="3000" b="1" dirty="0"/>
              <a:t> – CH  –  CH</a:t>
            </a:r>
            <a:r>
              <a:rPr lang="en-US" altLang="zh-CN" sz="3000" b="1" baseline="-25000" dirty="0"/>
              <a:t>2 </a:t>
            </a:r>
            <a:r>
              <a:rPr lang="en-US" altLang="zh-CN" sz="3000" b="1" dirty="0"/>
              <a:t> – OH 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       l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      C H</a:t>
            </a:r>
            <a:r>
              <a:rPr lang="en-US" altLang="zh-CN" sz="3000" b="1" baseline="-25000" dirty="0"/>
              <a:t>3 </a:t>
            </a:r>
            <a:endParaRPr lang="en-US" altLang="zh-CN" sz="3000" b="1" dirty="0"/>
          </a:p>
        </p:txBody>
      </p:sp>
      <p:sp>
        <p:nvSpPr>
          <p:cNvPr id="22" name="Rectangle 21"/>
          <p:cNvSpPr/>
          <p:nvPr/>
        </p:nvSpPr>
        <p:spPr>
          <a:xfrm>
            <a:off x="2869978" y="4114800"/>
            <a:ext cx="2616422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defRPr/>
            </a:pPr>
            <a:r>
              <a:rPr lang="en-US" altLang="zh-CN" sz="3000" b="1" dirty="0"/>
              <a:t> 	       CH</a:t>
            </a:r>
            <a:r>
              <a:rPr lang="en-US" altLang="zh-CN" sz="3000" b="1" baseline="-25000" dirty="0"/>
              <a:t>3  </a:t>
            </a:r>
            <a:r>
              <a:rPr lang="en-US" altLang="zh-CN" sz="3000" b="1" dirty="0"/>
              <a:t>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	 l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CH</a:t>
            </a:r>
            <a:r>
              <a:rPr lang="en-US" altLang="zh-CN" sz="3000" b="1" baseline="-25000" dirty="0"/>
              <a:t>3</a:t>
            </a:r>
            <a:r>
              <a:rPr lang="en-US" altLang="zh-CN" sz="3000" b="1" dirty="0"/>
              <a:t> – C –  CH</a:t>
            </a:r>
            <a:r>
              <a:rPr lang="en-US" altLang="zh-CN" sz="3000" b="1" baseline="-25000" dirty="0"/>
              <a:t>3</a:t>
            </a:r>
            <a:r>
              <a:rPr lang="en-US" altLang="zh-CN" sz="3000" b="1" dirty="0"/>
              <a:t>  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       l </a:t>
            </a:r>
          </a:p>
          <a:p>
            <a:pPr marL="342900" lvl="0" indent="-342900">
              <a:defRPr/>
            </a:pPr>
            <a:r>
              <a:rPr lang="en-US" altLang="zh-CN" sz="3000" b="1" dirty="0"/>
              <a:t>	      O H</a:t>
            </a:r>
            <a:r>
              <a:rPr lang="en-US" altLang="zh-CN" sz="3000" b="1" baseline="-25000" dirty="0"/>
              <a:t> </a:t>
            </a:r>
            <a:endParaRPr lang="en-US" altLang="zh-CN" sz="3000" b="1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12.3.jpg"/>
          <p:cNvPicPr>
            <a:picLocks noChangeAspect="1"/>
          </p:cNvPicPr>
          <p:nvPr/>
        </p:nvPicPr>
        <p:blipFill>
          <a:blip r:embed="rId3"/>
          <a:srcRect l="54867" t="44128" b="32522"/>
          <a:stretch>
            <a:fillRect/>
          </a:stretch>
        </p:blipFill>
        <p:spPr>
          <a:xfrm>
            <a:off x="4648200" y="914400"/>
            <a:ext cx="3886200" cy="2133600"/>
          </a:xfrm>
          <a:prstGeom prst="rect">
            <a:avLst/>
          </a:prstGeom>
        </p:spPr>
      </p:pic>
      <p:pic>
        <p:nvPicPr>
          <p:cNvPr id="7" name="Picture 6" descr="112.3.jpg"/>
          <p:cNvPicPr>
            <a:picLocks noChangeAspect="1"/>
          </p:cNvPicPr>
          <p:nvPr/>
        </p:nvPicPr>
        <p:blipFill>
          <a:blip r:embed="rId3"/>
          <a:srcRect l="53982" t="83322" r="7080" b="9173"/>
          <a:stretch>
            <a:fillRect/>
          </a:stretch>
        </p:blipFill>
        <p:spPr>
          <a:xfrm>
            <a:off x="5105400" y="4419600"/>
            <a:ext cx="3352800" cy="685800"/>
          </a:xfrm>
          <a:prstGeom prst="rect">
            <a:avLst/>
          </a:prstGeom>
        </p:spPr>
      </p:pic>
      <p:pic>
        <p:nvPicPr>
          <p:cNvPr id="8" name="Picture 7" descr="112.3.jpg"/>
          <p:cNvPicPr>
            <a:picLocks noChangeAspect="1"/>
          </p:cNvPicPr>
          <p:nvPr/>
        </p:nvPicPr>
        <p:blipFill>
          <a:blip r:embed="rId3"/>
          <a:srcRect l="8849" t="46630" r="48673" b="34190"/>
          <a:stretch>
            <a:fillRect/>
          </a:stretch>
        </p:blipFill>
        <p:spPr>
          <a:xfrm>
            <a:off x="762000" y="1066800"/>
            <a:ext cx="3657600" cy="1752600"/>
          </a:xfrm>
          <a:prstGeom prst="rect">
            <a:avLst/>
          </a:prstGeom>
        </p:spPr>
      </p:pic>
      <p:pic>
        <p:nvPicPr>
          <p:cNvPr id="9" name="Picture 8" descr="112.3.jpg"/>
          <p:cNvPicPr>
            <a:picLocks noChangeAspect="1"/>
          </p:cNvPicPr>
          <p:nvPr/>
        </p:nvPicPr>
        <p:blipFill>
          <a:blip r:embed="rId3"/>
          <a:srcRect l="58407" t="67478" r="11504" b="26685"/>
          <a:stretch>
            <a:fillRect/>
          </a:stretch>
        </p:blipFill>
        <p:spPr>
          <a:xfrm>
            <a:off x="5257800" y="2971800"/>
            <a:ext cx="2590800" cy="533400"/>
          </a:xfrm>
          <a:prstGeom prst="rect">
            <a:avLst/>
          </a:prstGeom>
        </p:spPr>
      </p:pic>
      <p:pic>
        <p:nvPicPr>
          <p:cNvPr id="10" name="Picture 9" descr="112.3.jpg"/>
          <p:cNvPicPr>
            <a:picLocks noChangeAspect="1"/>
          </p:cNvPicPr>
          <p:nvPr/>
        </p:nvPicPr>
        <p:blipFill>
          <a:blip r:embed="rId3"/>
          <a:srcRect l="25664" t="67478" r="53097" b="26685"/>
          <a:stretch>
            <a:fillRect/>
          </a:stretch>
        </p:blipFill>
        <p:spPr>
          <a:xfrm>
            <a:off x="1447800" y="2819400"/>
            <a:ext cx="1828800" cy="533400"/>
          </a:xfrm>
          <a:prstGeom prst="rect">
            <a:avLst/>
          </a:prstGeom>
        </p:spPr>
      </p:pic>
      <p:pic>
        <p:nvPicPr>
          <p:cNvPr id="11" name="Picture 10" descr="112.3.jpg"/>
          <p:cNvPicPr>
            <a:picLocks noChangeAspect="1"/>
          </p:cNvPicPr>
          <p:nvPr/>
        </p:nvPicPr>
        <p:blipFill>
          <a:blip r:embed="rId3"/>
          <a:srcRect l="5310" t="72481" r="46018" b="2502"/>
          <a:stretch>
            <a:fillRect/>
          </a:stretch>
        </p:blipFill>
        <p:spPr>
          <a:xfrm>
            <a:off x="609600" y="3810000"/>
            <a:ext cx="4191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sp>
        <p:nvSpPr>
          <p:cNvPr id="10" name="Rectangle 9"/>
          <p:cNvSpPr/>
          <p:nvPr/>
        </p:nvSpPr>
        <p:spPr>
          <a:xfrm>
            <a:off x="4953000" y="1371600"/>
            <a:ext cx="2472152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</a:rPr>
              <a:t>-2-</a:t>
            </a:r>
            <a:r>
              <a:rPr lang="zh-CN" altLang="en-US" sz="3000" b="1" dirty="0">
                <a:solidFill>
                  <a:srgbClr val="002060"/>
                </a:solidFill>
              </a:rPr>
              <a:t>丁醇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76800" y="3124200"/>
            <a:ext cx="242887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1-</a:t>
            </a:r>
            <a:r>
              <a:rPr lang="zh-CN" altLang="en-US" sz="3000" b="1" dirty="0">
                <a:solidFill>
                  <a:srgbClr val="002060"/>
                </a:solidFill>
              </a:rPr>
              <a:t>甲基环戊醇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6973" y="4800600"/>
            <a:ext cx="2085827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</a:rPr>
              <a:t>丁烯</a:t>
            </a:r>
            <a:r>
              <a:rPr lang="en-US" altLang="zh-CN" sz="3000" b="1" dirty="0">
                <a:solidFill>
                  <a:srgbClr val="002060"/>
                </a:solidFill>
              </a:rPr>
              <a:t>-2-</a:t>
            </a:r>
            <a:r>
              <a:rPr lang="zh-CN" altLang="en-US" sz="3000" b="1" dirty="0">
                <a:solidFill>
                  <a:srgbClr val="002060"/>
                </a:solidFill>
              </a:rPr>
              <a:t>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pic>
        <p:nvPicPr>
          <p:cNvPr id="15" name="Picture 14" descr="110.jpg"/>
          <p:cNvPicPr>
            <a:picLocks noChangeAspect="1"/>
          </p:cNvPicPr>
          <p:nvPr/>
        </p:nvPicPr>
        <p:blipFill>
          <a:blip r:embed="rId3"/>
          <a:srcRect l="5596" t="46633" r="78205" b="30786"/>
          <a:stretch>
            <a:fillRect/>
          </a:stretch>
        </p:blipFill>
        <p:spPr>
          <a:xfrm>
            <a:off x="1676400" y="2590800"/>
            <a:ext cx="1676400" cy="1752600"/>
          </a:xfrm>
          <a:prstGeom prst="rect">
            <a:avLst/>
          </a:prstGeom>
        </p:spPr>
      </p:pic>
      <p:pic>
        <p:nvPicPr>
          <p:cNvPr id="16" name="Picture 15" descr="110.jpg"/>
          <p:cNvPicPr>
            <a:picLocks noChangeAspect="1"/>
          </p:cNvPicPr>
          <p:nvPr/>
        </p:nvPicPr>
        <p:blipFill>
          <a:blip r:embed="rId3"/>
          <a:srcRect t="20519" r="76217" b="65768"/>
          <a:stretch>
            <a:fillRect/>
          </a:stretch>
        </p:blipFill>
        <p:spPr>
          <a:xfrm>
            <a:off x="1371600" y="1143000"/>
            <a:ext cx="2819400" cy="1219200"/>
          </a:xfrm>
          <a:prstGeom prst="rect">
            <a:avLst/>
          </a:prstGeom>
        </p:spPr>
      </p:pic>
      <p:pic>
        <p:nvPicPr>
          <p:cNvPr id="17" name="Picture 16" descr="110.jpg"/>
          <p:cNvPicPr>
            <a:picLocks noChangeAspect="1"/>
          </p:cNvPicPr>
          <p:nvPr/>
        </p:nvPicPr>
        <p:blipFill>
          <a:blip r:embed="rId3"/>
          <a:srcRect l="30778" t="18653" r="43726" b="67642"/>
          <a:stretch>
            <a:fillRect/>
          </a:stretch>
        </p:blipFill>
        <p:spPr>
          <a:xfrm>
            <a:off x="762000" y="4419600"/>
            <a:ext cx="3581400" cy="144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12.gif"/>
          <p:cNvPicPr>
            <a:picLocks noChangeAspect="1"/>
          </p:cNvPicPr>
          <p:nvPr/>
        </p:nvPicPr>
        <p:blipFill>
          <a:blip r:embed="rId3"/>
          <a:srcRect t="3448" r="58328" b="65517"/>
          <a:stretch>
            <a:fillRect/>
          </a:stretch>
        </p:blipFill>
        <p:spPr>
          <a:xfrm>
            <a:off x="228600" y="1066800"/>
            <a:ext cx="3647574" cy="1371600"/>
          </a:xfrm>
          <a:prstGeom prst="rect">
            <a:avLst/>
          </a:prstGeom>
        </p:spPr>
      </p:pic>
      <p:pic>
        <p:nvPicPr>
          <p:cNvPr id="7" name="Picture 6" descr="112.gif"/>
          <p:cNvPicPr>
            <a:picLocks noChangeAspect="1"/>
          </p:cNvPicPr>
          <p:nvPr/>
        </p:nvPicPr>
        <p:blipFill>
          <a:blip r:embed="rId3"/>
          <a:srcRect l="9576" t="44828" r="51249" b="10345"/>
          <a:stretch>
            <a:fillRect/>
          </a:stretch>
        </p:blipFill>
        <p:spPr>
          <a:xfrm>
            <a:off x="4724400" y="838200"/>
            <a:ext cx="3429000" cy="1981200"/>
          </a:xfrm>
          <a:prstGeom prst="rect">
            <a:avLst/>
          </a:prstGeom>
        </p:spPr>
      </p:pic>
      <p:pic>
        <p:nvPicPr>
          <p:cNvPr id="8" name="Picture 7" descr="112.gif"/>
          <p:cNvPicPr>
            <a:picLocks noChangeAspect="1"/>
          </p:cNvPicPr>
          <p:nvPr/>
        </p:nvPicPr>
        <p:blipFill>
          <a:blip r:embed="rId3"/>
          <a:srcRect l="63551" t="20690" b="68965"/>
          <a:stretch>
            <a:fillRect/>
          </a:stretch>
        </p:blipFill>
        <p:spPr>
          <a:xfrm>
            <a:off x="3657600" y="4419600"/>
            <a:ext cx="4785561" cy="685800"/>
          </a:xfrm>
          <a:prstGeom prst="rect">
            <a:avLst/>
          </a:prstGeom>
        </p:spPr>
      </p:pic>
      <p:pic>
        <p:nvPicPr>
          <p:cNvPr id="9" name="Picture 8" descr="112.gif"/>
          <p:cNvPicPr>
            <a:picLocks noChangeAspect="1"/>
          </p:cNvPicPr>
          <p:nvPr/>
        </p:nvPicPr>
        <p:blipFill>
          <a:blip r:embed="rId3"/>
          <a:srcRect l="71271" t="44828" r="8706" b="10345"/>
          <a:stretch>
            <a:fillRect/>
          </a:stretch>
        </p:blipFill>
        <p:spPr>
          <a:xfrm>
            <a:off x="990600" y="3657600"/>
            <a:ext cx="1752600" cy="1981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2286000"/>
            <a:ext cx="3430747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4</a:t>
            </a:r>
            <a:r>
              <a:rPr lang="zh-CN" altLang="en-US" sz="3000" b="1" dirty="0">
                <a:solidFill>
                  <a:srgbClr val="002060"/>
                </a:solidFill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</a:rPr>
              <a:t>5-</a:t>
            </a:r>
            <a:r>
              <a:rPr lang="zh-CN" altLang="en-US" sz="3000" b="1" dirty="0">
                <a:solidFill>
                  <a:srgbClr val="002060"/>
                </a:solidFill>
              </a:rPr>
              <a:t>二甲基</a:t>
            </a:r>
            <a:r>
              <a:rPr lang="en-US" altLang="zh-CN" sz="3000" b="1" dirty="0">
                <a:solidFill>
                  <a:srgbClr val="002060"/>
                </a:solidFill>
              </a:rPr>
              <a:t>-2-</a:t>
            </a:r>
            <a:r>
              <a:rPr lang="zh-CN" altLang="en-US" sz="3000" b="1" dirty="0">
                <a:solidFill>
                  <a:srgbClr val="002060"/>
                </a:solidFill>
              </a:rPr>
              <a:t>庚醇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59699" y="2819400"/>
            <a:ext cx="2231701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</a:rPr>
              <a:t>5-</a:t>
            </a:r>
            <a:r>
              <a:rPr lang="zh-CN" altLang="en-US" sz="3000" b="1" dirty="0">
                <a:solidFill>
                  <a:srgbClr val="002060"/>
                </a:solidFill>
              </a:rPr>
              <a:t>庚二醇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8200" y="5539770"/>
            <a:ext cx="242887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</a:rPr>
              <a:t>甲基环己醇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53000" y="5082570"/>
            <a:ext cx="2085827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</a:rPr>
              <a:t>戊烯</a:t>
            </a:r>
            <a:r>
              <a:rPr lang="en-US" altLang="zh-CN" sz="3000" b="1" dirty="0">
                <a:solidFill>
                  <a:srgbClr val="002060"/>
                </a:solidFill>
              </a:rPr>
              <a:t>-1-</a:t>
            </a:r>
            <a:r>
              <a:rPr lang="zh-CN" altLang="en-US" sz="3000" b="1" dirty="0">
                <a:solidFill>
                  <a:srgbClr val="002060"/>
                </a:solidFill>
              </a:rPr>
              <a:t>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32.1.1 </a:t>
            </a:r>
            <a:r>
              <a:rPr lang="zh-CN" altLang="en-US" sz="4000" b="1" dirty="0">
                <a:latin typeface="+mn-ea"/>
              </a:rPr>
              <a:t>醇的类别和命名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7" name="Picture 6" descr="112.2.jpg"/>
          <p:cNvPicPr>
            <a:picLocks noChangeAspect="1"/>
          </p:cNvPicPr>
          <p:nvPr/>
        </p:nvPicPr>
        <p:blipFill>
          <a:blip r:embed="rId3"/>
          <a:srcRect l="1812" t="10345" r="65572" b="51724"/>
          <a:stretch>
            <a:fillRect/>
          </a:stretch>
        </p:blipFill>
        <p:spPr>
          <a:xfrm>
            <a:off x="685800" y="1371600"/>
            <a:ext cx="4987636" cy="1524000"/>
          </a:xfrm>
          <a:prstGeom prst="rect">
            <a:avLst/>
          </a:prstGeom>
        </p:spPr>
      </p:pic>
      <p:pic>
        <p:nvPicPr>
          <p:cNvPr id="8" name="Picture 7" descr="112.2.jpg"/>
          <p:cNvPicPr>
            <a:picLocks noChangeAspect="1"/>
          </p:cNvPicPr>
          <p:nvPr/>
        </p:nvPicPr>
        <p:blipFill>
          <a:blip r:embed="rId3"/>
          <a:srcRect l="61608" b="24138"/>
          <a:stretch>
            <a:fillRect/>
          </a:stretch>
        </p:blipFill>
        <p:spPr>
          <a:xfrm>
            <a:off x="685800" y="3115659"/>
            <a:ext cx="4419600" cy="22945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41065" y="1676400"/>
            <a:ext cx="2036135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2-</a:t>
            </a:r>
            <a:r>
              <a:rPr lang="zh-CN" altLang="en-US" sz="3000" b="1" dirty="0">
                <a:solidFill>
                  <a:srgbClr val="002060"/>
                </a:solidFill>
              </a:rPr>
              <a:t>苯基乙醇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38800" y="3787170"/>
            <a:ext cx="2465740" cy="705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3000" b="1" dirty="0">
                <a:solidFill>
                  <a:srgbClr val="002060"/>
                </a:solidFill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</a:rPr>
              <a:t>苯基</a:t>
            </a:r>
            <a:r>
              <a:rPr lang="en-US" altLang="zh-CN" sz="3000" b="1" dirty="0">
                <a:solidFill>
                  <a:srgbClr val="002060"/>
                </a:solidFill>
              </a:rPr>
              <a:t>-2-</a:t>
            </a:r>
            <a:r>
              <a:rPr lang="zh-CN" altLang="en-US" sz="3000" b="1" dirty="0">
                <a:solidFill>
                  <a:srgbClr val="002060"/>
                </a:solidFill>
              </a:rPr>
              <a:t>丁醇</a:t>
            </a:r>
            <a:endParaRPr lang="en-US" altLang="zh-CN" sz="3000" b="1" dirty="0">
              <a:solidFill>
                <a:srgbClr val="00206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43000" y="1981200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19200" y="4358640"/>
            <a:ext cx="365760" cy="365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32a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en-MY" altLang="zh-CN" sz="3000" dirty="0"/>
              <a:t> 	(1) 2,3</a:t>
            </a:r>
            <a:r>
              <a:rPr lang="en-US" altLang="zh-CN" sz="3000" dirty="0"/>
              <a:t>-</a:t>
            </a:r>
            <a:r>
              <a:rPr lang="zh-CN" altLang="en-US" sz="3000" dirty="0"/>
              <a:t>二甲基</a:t>
            </a:r>
            <a:r>
              <a:rPr lang="en-US" altLang="zh-CN" sz="3000" dirty="0"/>
              <a:t>-1-</a:t>
            </a:r>
            <a:r>
              <a:rPr lang="zh-CN" altLang="en-US" sz="3000" dirty="0"/>
              <a:t>戊醇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(2) </a:t>
            </a:r>
            <a:r>
              <a:rPr lang="en-US" altLang="zh-CN" sz="3000" dirty="0"/>
              <a:t>3-</a:t>
            </a:r>
            <a:r>
              <a:rPr lang="zh-CN" altLang="en-US" sz="3000" dirty="0"/>
              <a:t>甲基环己醇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2. (1)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(2) HO-CH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9A79B-4CAF-4CDF-A585-3C1104BB7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193085"/>
            <a:ext cx="18383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61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32.1.2 </a:t>
            </a:r>
            <a:r>
              <a:rPr lang="zh-CN" altLang="en-US" sz="4000" b="1" dirty="0">
                <a:latin typeface="+mn-ea"/>
              </a:rPr>
              <a:t>醇的物理性质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交流分享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乙醇是无色、有特殊味道的挥发性液体；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乙醇密度比水小；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乙醇易挥发；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乙醇能溶解很多种物质，是良好的溶剂；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乙醇有消毒杀菌的作用。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275745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32.1.2 </a:t>
            </a:r>
            <a:r>
              <a:rPr lang="zh-CN" altLang="en-US" sz="4000" b="1" dirty="0">
                <a:latin typeface="+mn-ea"/>
              </a:rPr>
              <a:t>醇的物理性质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低级醇的性质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/>
              <a:t>1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～</a:t>
            </a:r>
            <a:r>
              <a:rPr lang="en-US" altLang="zh-CN" sz="3000" dirty="0"/>
              <a:t>3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的醇：无色液体，溶解度无限大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/>
              <a:t>4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～</a:t>
            </a:r>
            <a:r>
              <a:rPr lang="en-US" altLang="zh-CN" sz="3000" dirty="0"/>
              <a:t>11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的醇：油状液体，溶解度较小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/>
              <a:t>12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或以上的醇：无色蜡状固体，不溶于水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沸点随式量增大而增加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溶解度随式量增大而降低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27.2.3 </a:t>
            </a:r>
            <a:r>
              <a:rPr lang="zh-CN" altLang="en-US" sz="4000" b="1" dirty="0">
                <a:latin typeface="+mn-ea"/>
              </a:rPr>
              <a:t>醇的性质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低级醇的性质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沸点：醇 </a:t>
            </a:r>
            <a:r>
              <a:rPr lang="en-US" altLang="zh-CN" sz="3000" dirty="0"/>
              <a:t>&gt; </a:t>
            </a:r>
            <a:r>
              <a:rPr lang="zh-CN" altLang="en-US" sz="3000" dirty="0"/>
              <a:t>烷烃（式量接近）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醇分子间能形成氢键，而烷烃分子间只有范德华力。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乙醇能溶于水，因为乙醇分子与水分子形成氢键。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烃基会阻碍氢键的形成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醇的沸点随式量增加而越来越接近相应的烷烃。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醇的溶解度随式量增加而越来越小。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7" name="Picture 6" descr="115.tif"/>
          <p:cNvPicPr>
            <a:picLocks noChangeAspect="1"/>
          </p:cNvPicPr>
          <p:nvPr/>
        </p:nvPicPr>
        <p:blipFill>
          <a:blip r:embed="rId3"/>
          <a:srcRect l="2035" t="25424" r="17880" b="37134"/>
          <a:stretch>
            <a:fillRect/>
          </a:stretch>
        </p:blipFill>
        <p:spPr>
          <a:xfrm>
            <a:off x="609600" y="914400"/>
            <a:ext cx="8229600" cy="2743200"/>
          </a:xfrm>
          <a:prstGeom prst="rect">
            <a:avLst/>
          </a:prstGeom>
        </p:spPr>
      </p:pic>
      <p:pic>
        <p:nvPicPr>
          <p:cNvPr id="6" name="Picture 5" descr="115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20529"/>
            <a:ext cx="8229600" cy="296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化学性质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主要由官能团（羟基</a:t>
            </a:r>
            <a:r>
              <a:rPr lang="en-US" altLang="zh-CN" sz="3000" dirty="0"/>
              <a:t>-OH</a:t>
            </a:r>
            <a:r>
              <a:rPr lang="zh-CN" altLang="en-US" sz="3000" dirty="0"/>
              <a:t>）决定。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/>
              <a:t>C-OH</a:t>
            </a:r>
            <a:r>
              <a:rPr lang="zh-CN" altLang="en-US" sz="3000" dirty="0"/>
              <a:t>键与</a:t>
            </a:r>
            <a:r>
              <a:rPr lang="en-US" altLang="zh-CN" sz="3000" dirty="0"/>
              <a:t>O-H</a:t>
            </a:r>
            <a:r>
              <a:rPr lang="zh-CN" altLang="en-US" sz="3000" dirty="0"/>
              <a:t>键是极性键，易发生反应的部位。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1.</a:t>
            </a:r>
            <a:r>
              <a:rPr lang="zh-CN" altLang="en-US" sz="3000" dirty="0"/>
              <a:t>氧化反应： 一级醇、二级醇的氧化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2.</a:t>
            </a:r>
            <a:r>
              <a:rPr lang="zh-CN" altLang="en-US" sz="3000" dirty="0"/>
              <a:t>脱水反应：</a:t>
            </a:r>
            <a:r>
              <a:rPr lang="en-US" altLang="zh-CN" sz="3000" dirty="0"/>
              <a:t>I </a:t>
            </a:r>
            <a:r>
              <a:rPr lang="zh-CN" altLang="en-US" sz="3000" dirty="0"/>
              <a:t>生成烯</a:t>
            </a:r>
            <a:r>
              <a:rPr lang="en-US" altLang="zh-CN" sz="3000" dirty="0"/>
              <a:t>	</a:t>
            </a:r>
            <a:r>
              <a:rPr lang="zh-CN" altLang="en-US" sz="3000" dirty="0"/>
              <a:t>、</a:t>
            </a:r>
            <a:r>
              <a:rPr lang="en-US" altLang="zh-CN" sz="3000" dirty="0"/>
              <a:t>II </a:t>
            </a:r>
            <a:r>
              <a:rPr lang="zh-CN" altLang="en-US" sz="3000" dirty="0"/>
              <a:t>生成醚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3.</a:t>
            </a:r>
            <a:r>
              <a:rPr lang="zh-CN" altLang="en-US" sz="3000" dirty="0"/>
              <a:t>取代反应：</a:t>
            </a:r>
            <a:r>
              <a:rPr lang="en-US" altLang="zh-CN" sz="3000" dirty="0"/>
              <a:t>I </a:t>
            </a:r>
            <a:r>
              <a:rPr lang="zh-CN" altLang="en-US" sz="3000" dirty="0"/>
              <a:t>与金属反应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     II </a:t>
            </a:r>
            <a:r>
              <a:rPr lang="zh-CN" altLang="en-US" sz="3000" dirty="0"/>
              <a:t>与氢卤酸反应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     III </a:t>
            </a:r>
            <a:r>
              <a:rPr lang="zh-CN" altLang="en-US" sz="3000" dirty="0"/>
              <a:t>与卤化磷反应（</a:t>
            </a:r>
            <a:r>
              <a:rPr lang="en-US" altLang="zh-CN" sz="3000" dirty="0"/>
              <a:t>PCl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、</a:t>
            </a:r>
            <a:r>
              <a:rPr lang="en-US" altLang="zh-CN" sz="3000" dirty="0"/>
              <a:t>PCl</a:t>
            </a:r>
            <a:r>
              <a:rPr lang="en-US" altLang="zh-CN" sz="3000" baseline="-25000" dirty="0"/>
              <a:t>5</a:t>
            </a:r>
            <a:r>
              <a:rPr lang="zh-CN" altLang="en-US" sz="3000" dirty="0"/>
              <a:t>）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4.</a:t>
            </a:r>
            <a:r>
              <a:rPr lang="zh-CN" altLang="en-US" sz="3000" dirty="0"/>
              <a:t>酯化反应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pic>
        <p:nvPicPr>
          <p:cNvPr id="6" name="Picture 5" descr="醇.jpg"/>
          <p:cNvPicPr>
            <a:picLocks noChangeAspect="1"/>
          </p:cNvPicPr>
          <p:nvPr/>
        </p:nvPicPr>
        <p:blipFill>
          <a:blip r:embed="rId3"/>
          <a:srcRect l="8136" t="36782" r="9491" b="17627"/>
          <a:stretch>
            <a:fillRect/>
          </a:stretch>
        </p:blipFill>
        <p:spPr>
          <a:xfrm>
            <a:off x="457200" y="1143000"/>
            <a:ext cx="8001000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氧化反应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强氧化剂：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，</a:t>
            </a:r>
            <a:r>
              <a:rPr lang="en-US" altLang="zh-CN" sz="3000" dirty="0"/>
              <a:t>K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7</a:t>
            </a:r>
            <a:r>
              <a:rPr lang="en-US" altLang="zh-CN" sz="3000" dirty="0"/>
              <a:t>  </a:t>
            </a:r>
            <a:r>
              <a:rPr lang="zh-CN" altLang="en-US" sz="3000" dirty="0"/>
              <a:t>；符号</a:t>
            </a:r>
            <a:r>
              <a:rPr lang="en-US" altLang="zh-CN" sz="3000" dirty="0"/>
              <a:t>[O]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559158" y="2286000"/>
            <a:ext cx="7441842" cy="4191000"/>
            <a:chOff x="559158" y="2438400"/>
            <a:chExt cx="7255099" cy="3962400"/>
          </a:xfrm>
        </p:grpSpPr>
        <p:pic>
          <p:nvPicPr>
            <p:cNvPr id="8" name="Picture 7" descr="118.g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158" y="2438400"/>
              <a:ext cx="7255099" cy="39624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752600" y="4886980"/>
              <a:ext cx="134684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R</a:t>
              </a:r>
              <a:r>
                <a:rPr lang="en-US" altLang="zh-CN" sz="2800" baseline="-25000" dirty="0"/>
                <a:t>3</a:t>
              </a:r>
              <a:r>
                <a:rPr lang="en-US" altLang="zh-CN" sz="2800" dirty="0"/>
                <a:t> C-OH</a:t>
              </a:r>
              <a:endParaRPr lang="en-US" sz="28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95800" y="2895600"/>
              <a:ext cx="79226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RCH</a:t>
              </a:r>
              <a:endParaRPr lang="en-US" sz="2800" dirty="0"/>
            </a:p>
          </p:txBody>
        </p:sp>
      </p:grpSp>
      <p:pic>
        <p:nvPicPr>
          <p:cNvPr id="9" name="Picture 8" descr="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2209800"/>
            <a:ext cx="7543799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氧化反应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如何分辨一级醇、二级醇和三级醇？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pg175</a:t>
            </a:r>
          </a:p>
        </p:txBody>
      </p:sp>
      <p:pic>
        <p:nvPicPr>
          <p:cNvPr id="6" name="Picture 5" descr="119a.tif"/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685800" y="1376795"/>
            <a:ext cx="7772400" cy="205220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8" name="Picture 7" descr="119a.tif"/>
          <p:cNvPicPr>
            <a:picLocks noChangeAspect="1"/>
          </p:cNvPicPr>
          <p:nvPr/>
        </p:nvPicPr>
        <p:blipFill>
          <a:blip r:embed="rId3"/>
          <a:srcRect t="54545"/>
          <a:stretch>
            <a:fillRect/>
          </a:stretch>
        </p:blipFill>
        <p:spPr>
          <a:xfrm>
            <a:off x="457200" y="3429000"/>
            <a:ext cx="7086600" cy="1981200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醇的氧化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一级醇 </a:t>
            </a:r>
            <a:r>
              <a:rPr lang="en-US" altLang="zh-CN" sz="3000" dirty="0"/>
              <a:t>R-CH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	  </a:t>
            </a:r>
            <a:r>
              <a:rPr lang="zh-CN" altLang="en-US" sz="3000" dirty="0"/>
              <a:t>醛 </a:t>
            </a:r>
            <a:r>
              <a:rPr lang="en-US" altLang="zh-CN" sz="3000" dirty="0"/>
              <a:t>RCHO	      </a:t>
            </a:r>
            <a:r>
              <a:rPr lang="zh-CN" altLang="en-US" sz="3000" dirty="0"/>
              <a:t>羧酸 </a:t>
            </a:r>
            <a:r>
              <a:rPr lang="en-US" altLang="zh-CN" sz="3000" dirty="0"/>
              <a:t>RCOOH</a:t>
            </a:r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二级醇 </a:t>
            </a:r>
            <a:r>
              <a:rPr lang="en-US" altLang="zh-CN" sz="3000" dirty="0"/>
              <a:t>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-CHOH	   </a:t>
            </a:r>
            <a:r>
              <a:rPr lang="zh-CN" altLang="en-US" sz="3000" dirty="0"/>
              <a:t>酮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三级醇</a:t>
            </a:r>
            <a:r>
              <a:rPr lang="en-US" altLang="zh-CN" sz="3000" dirty="0"/>
              <a:t>R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–COH 	  </a:t>
            </a:r>
            <a:r>
              <a:rPr lang="zh-CN" altLang="en-US" sz="3000" dirty="0"/>
              <a:t>没有作用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强氧化剂</a:t>
            </a:r>
            <a:r>
              <a:rPr lang="en-US" altLang="zh-CN" sz="3000" dirty="0"/>
              <a:t>[O]</a:t>
            </a:r>
            <a:r>
              <a:rPr lang="zh-CN" altLang="en-US" sz="3000" dirty="0"/>
              <a:t>：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), H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 ; K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7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), H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</a:t>
            </a:r>
          </a:p>
          <a:p>
            <a:pPr marL="914400" lvl="1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一级醇被氧化为醛，醛再被氧化为羧酸。</a:t>
            </a:r>
            <a:endParaRPr lang="en-MY" altLang="zh-CN" dirty="0"/>
          </a:p>
          <a:p>
            <a:pPr marL="914400" lvl="1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二级醇被氧化为酮</a:t>
            </a:r>
            <a:endParaRPr lang="en-US" altLang="zh-CN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弱氧化剂：加热的</a:t>
            </a:r>
            <a:r>
              <a:rPr lang="en-US" altLang="zh-CN" sz="3000" dirty="0"/>
              <a:t>Cu</a:t>
            </a:r>
          </a:p>
          <a:p>
            <a:pPr marL="914400" lvl="1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一级醇只被氧化为醛</a:t>
            </a:r>
            <a:endParaRPr lang="en-MY" altLang="zh-CN" dirty="0"/>
          </a:p>
          <a:p>
            <a:pPr marL="914400" lvl="1" indent="-51435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二级醇被氧化为酮</a:t>
            </a:r>
            <a:endParaRPr lang="en-US" altLang="zh-CN" dirty="0"/>
          </a:p>
        </p:txBody>
      </p:sp>
      <p:grpSp>
        <p:nvGrpSpPr>
          <p:cNvPr id="4" name="Group 27"/>
          <p:cNvGrpSpPr/>
          <p:nvPr/>
        </p:nvGrpSpPr>
        <p:grpSpPr>
          <a:xfrm>
            <a:off x="3505200" y="1504890"/>
            <a:ext cx="685800" cy="400110"/>
            <a:chOff x="2819400" y="5791200"/>
            <a:chExt cx="685800" cy="40011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19400" y="6172117"/>
              <a:ext cx="685800" cy="83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791200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[O]</a:t>
              </a:r>
            </a:p>
          </p:txBody>
        </p:sp>
      </p:grpSp>
      <p:grpSp>
        <p:nvGrpSpPr>
          <p:cNvPr id="26" name="Group 27"/>
          <p:cNvGrpSpPr/>
          <p:nvPr/>
        </p:nvGrpSpPr>
        <p:grpSpPr>
          <a:xfrm>
            <a:off x="5638800" y="1524000"/>
            <a:ext cx="685800" cy="400110"/>
            <a:chOff x="2819400" y="5791200"/>
            <a:chExt cx="685800" cy="400110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2819400" y="6172117"/>
              <a:ext cx="685800" cy="83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895600" y="5791200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[O]</a:t>
              </a:r>
            </a:p>
          </p:txBody>
        </p:sp>
      </p:grpSp>
      <p:grpSp>
        <p:nvGrpSpPr>
          <p:cNvPr id="29" name="Group 27"/>
          <p:cNvGrpSpPr/>
          <p:nvPr/>
        </p:nvGrpSpPr>
        <p:grpSpPr>
          <a:xfrm>
            <a:off x="3581400" y="2114490"/>
            <a:ext cx="685800" cy="400110"/>
            <a:chOff x="2819400" y="5791200"/>
            <a:chExt cx="685800" cy="400110"/>
          </a:xfrm>
        </p:grpSpPr>
        <p:cxnSp>
          <p:nvCxnSpPr>
            <p:cNvPr id="30" name="Straight Arrow Connector 29"/>
            <p:cNvCxnSpPr/>
            <p:nvPr/>
          </p:nvCxnSpPr>
          <p:spPr>
            <a:xfrm>
              <a:off x="2819400" y="6172117"/>
              <a:ext cx="685800" cy="83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895600" y="5791200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[O]</a:t>
              </a:r>
            </a:p>
          </p:txBody>
        </p:sp>
      </p:grpSp>
      <p:pic>
        <p:nvPicPr>
          <p:cNvPr id="32" name="Picture 31" descr="118.png"/>
          <p:cNvPicPr>
            <a:picLocks noChangeAspect="1"/>
          </p:cNvPicPr>
          <p:nvPr/>
        </p:nvPicPr>
        <p:blipFill>
          <a:blip r:embed="rId3"/>
          <a:srcRect l="65657" t="58181" r="11111" b="14546"/>
          <a:stretch>
            <a:fillRect/>
          </a:stretch>
        </p:blipFill>
        <p:spPr>
          <a:xfrm>
            <a:off x="4724400" y="2057400"/>
            <a:ext cx="1285240" cy="762000"/>
          </a:xfrm>
          <a:prstGeom prst="rect">
            <a:avLst/>
          </a:prstGeom>
        </p:spPr>
      </p:pic>
      <p:grpSp>
        <p:nvGrpSpPr>
          <p:cNvPr id="33" name="Group 27"/>
          <p:cNvGrpSpPr/>
          <p:nvPr/>
        </p:nvGrpSpPr>
        <p:grpSpPr>
          <a:xfrm>
            <a:off x="3429000" y="2743200"/>
            <a:ext cx="685800" cy="400110"/>
            <a:chOff x="2819400" y="5791200"/>
            <a:chExt cx="685800" cy="400110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2819400" y="6172117"/>
              <a:ext cx="685800" cy="83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895600" y="5791200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[O]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练习：写出下列反应的化学方程式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丙醇</a:t>
            </a:r>
            <a:r>
              <a:rPr lang="en-US" altLang="zh-CN" sz="3000" dirty="0"/>
              <a:t>+</a:t>
            </a:r>
            <a:r>
              <a:rPr lang="zh-CN" altLang="en-US" sz="3000" dirty="0"/>
              <a:t>酸化的高锰酸钾溶液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丙醇</a:t>
            </a:r>
            <a:r>
              <a:rPr lang="en-US" altLang="zh-CN" sz="3000" dirty="0"/>
              <a:t>+ </a:t>
            </a:r>
            <a:r>
              <a:rPr lang="zh-CN" altLang="en-US" sz="3000" dirty="0"/>
              <a:t>酸化的重铬酸钾溶液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苯甲醇</a:t>
            </a:r>
            <a:r>
              <a:rPr lang="en-US" altLang="zh-CN" sz="3000" dirty="0"/>
              <a:t>+</a:t>
            </a:r>
            <a:r>
              <a:rPr lang="zh-CN" altLang="en-US" sz="3000" dirty="0"/>
              <a:t>酸化的高锰酸钾溶液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甲醇</a:t>
            </a:r>
            <a:r>
              <a:rPr lang="en-US" altLang="zh-CN" sz="3000" dirty="0"/>
              <a:t>+</a:t>
            </a:r>
            <a:r>
              <a:rPr lang="zh-CN" altLang="en-US" sz="3000" dirty="0"/>
              <a:t>加热的</a:t>
            </a:r>
            <a:r>
              <a:rPr lang="en-US" altLang="zh-CN" sz="3000" dirty="0"/>
              <a:t>Cu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3-</a:t>
            </a:r>
            <a:r>
              <a:rPr lang="zh-CN" altLang="en-US" sz="3000" dirty="0"/>
              <a:t>氯</a:t>
            </a:r>
            <a:r>
              <a:rPr lang="en-US" altLang="zh-CN" sz="3000" dirty="0"/>
              <a:t>-2-</a:t>
            </a:r>
            <a:r>
              <a:rPr lang="zh-CN" altLang="en-US" sz="3000" dirty="0"/>
              <a:t>丁醇</a:t>
            </a:r>
            <a:r>
              <a:rPr lang="en-US" altLang="zh-CN" sz="3000" dirty="0"/>
              <a:t>+ </a:t>
            </a:r>
            <a:r>
              <a:rPr lang="zh-CN" altLang="en-US" sz="3000" dirty="0"/>
              <a:t>酸化的重铬酸钾溶液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苯基</a:t>
            </a:r>
            <a:r>
              <a:rPr lang="en-US" altLang="zh-CN" sz="3000" dirty="0"/>
              <a:t>-1-</a:t>
            </a:r>
            <a:r>
              <a:rPr lang="zh-CN" altLang="en-US" sz="3000" dirty="0"/>
              <a:t>丙醇</a:t>
            </a:r>
            <a:r>
              <a:rPr lang="en-US" altLang="zh-CN" sz="3000" dirty="0"/>
              <a:t>+ </a:t>
            </a:r>
            <a:r>
              <a:rPr lang="zh-CN" altLang="en-US" sz="3000" dirty="0"/>
              <a:t>酸化的高锰酸钾溶液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问题解决</a:t>
            </a:r>
            <a:r>
              <a:rPr lang="en-MY" altLang="zh-CN" sz="3000" dirty="0"/>
              <a:t>pg174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 	(1) </a:t>
            </a:r>
            <a:r>
              <a:rPr lang="zh-CN" altLang="en-US" sz="3000" dirty="0"/>
              <a:t>三级醇，不能被氧化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(2) </a:t>
            </a:r>
            <a:r>
              <a:rPr lang="zh-CN" altLang="en-US" sz="3000" dirty="0"/>
              <a:t>一级醇，能被催化氧化为醛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	</a:t>
            </a:r>
            <a:r>
              <a:rPr lang="zh-CN" altLang="en-US" sz="3000" dirty="0"/>
              <a:t>氧化产物：</a:t>
            </a:r>
            <a:r>
              <a:rPr lang="en-MY" altLang="zh-CN" sz="3000" dirty="0"/>
              <a:t>2,2</a:t>
            </a:r>
            <a:r>
              <a:rPr lang="en-US" altLang="zh-CN" sz="3000" dirty="0"/>
              <a:t>-</a:t>
            </a:r>
            <a:r>
              <a:rPr lang="zh-CN" altLang="en-US" sz="3000" dirty="0"/>
              <a:t>二甲基丙醛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(3) </a:t>
            </a:r>
            <a:r>
              <a:rPr lang="zh-CN" altLang="en-US" sz="3000" dirty="0"/>
              <a:t>二级醇，能被催化氧化为酮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	</a:t>
            </a:r>
            <a:r>
              <a:rPr lang="zh-CN" altLang="en-US" sz="3000" dirty="0"/>
              <a:t>氧化产物：丁酮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1836994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pic>
        <p:nvPicPr>
          <p:cNvPr id="11" name="Picture 10" descr="107.jpg"/>
          <p:cNvPicPr>
            <a:picLocks noChangeAspect="1"/>
          </p:cNvPicPr>
          <p:nvPr/>
        </p:nvPicPr>
        <p:blipFill>
          <a:blip r:embed="rId3"/>
          <a:srcRect l="2381" t="60717" r="7143" b="14461"/>
          <a:stretch>
            <a:fillRect/>
          </a:stretch>
        </p:blipFill>
        <p:spPr>
          <a:xfrm>
            <a:off x="457200" y="3352800"/>
            <a:ext cx="8107680" cy="990600"/>
          </a:xfrm>
          <a:prstGeom prst="rect">
            <a:avLst/>
          </a:prstGeom>
        </p:spPr>
      </p:pic>
      <p:pic>
        <p:nvPicPr>
          <p:cNvPr id="12" name="Picture 11" descr="107.jpg"/>
          <p:cNvPicPr>
            <a:picLocks noChangeAspect="1"/>
          </p:cNvPicPr>
          <p:nvPr/>
        </p:nvPicPr>
        <p:blipFill>
          <a:blip r:embed="rId3"/>
          <a:srcRect t="8111" r="21429" b="70596"/>
          <a:stretch>
            <a:fillRect/>
          </a:stretch>
        </p:blipFill>
        <p:spPr>
          <a:xfrm>
            <a:off x="228600" y="2230398"/>
            <a:ext cx="7010400" cy="84608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醇的脱水反应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实验室制取乙烯的方法：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					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7715" y="2362200"/>
            <a:ext cx="21162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分子内脱水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1994" y="3994352"/>
            <a:ext cx="21162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分子间脱水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275C5-9F69-4E94-B581-069A394B9673}"/>
              </a:ext>
            </a:extLst>
          </p:cNvPr>
          <p:cNvSpPr txBox="1"/>
          <p:nvPr/>
        </p:nvSpPr>
        <p:spPr>
          <a:xfrm>
            <a:off x="7033039" y="1828800"/>
            <a:ext cx="1729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消去反应</a:t>
            </a:r>
            <a:endParaRPr lang="en-US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D8964-4079-4E2D-B284-C1EB32B4B932}"/>
              </a:ext>
            </a:extLst>
          </p:cNvPr>
          <p:cNvSpPr txBox="1"/>
          <p:nvPr/>
        </p:nvSpPr>
        <p:spPr>
          <a:xfrm>
            <a:off x="7048279" y="3994352"/>
            <a:ext cx="1729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取代反应</a:t>
            </a:r>
            <a:endParaRPr lang="en-US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9" grpId="0"/>
      <p:bldP spid="30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醇的脱水反应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066800" y="1600200"/>
            <a:ext cx="7086600" cy="3124200"/>
            <a:chOff x="1066800" y="1676400"/>
            <a:chExt cx="7086600" cy="3124200"/>
          </a:xfrm>
        </p:grpSpPr>
        <p:grpSp>
          <p:nvGrpSpPr>
            <p:cNvPr id="8" name="Group 7"/>
            <p:cNvGrpSpPr/>
            <p:nvPr/>
          </p:nvGrpSpPr>
          <p:grpSpPr>
            <a:xfrm>
              <a:off x="1066800" y="1676400"/>
              <a:ext cx="7086600" cy="3124200"/>
              <a:chOff x="1066800" y="2286000"/>
              <a:chExt cx="7086600" cy="3124200"/>
            </a:xfrm>
          </p:grpSpPr>
          <p:pic>
            <p:nvPicPr>
              <p:cNvPr id="6" name="Picture 5" descr="117.jpg"/>
              <p:cNvPicPr>
                <a:picLocks noChangeAspect="1"/>
              </p:cNvPicPr>
              <p:nvPr/>
            </p:nvPicPr>
            <p:blipFill>
              <a:blip r:embed="rId3"/>
              <a:srcRect l="10000" t="31111" r="23333" b="45555"/>
              <a:stretch>
                <a:fillRect/>
              </a:stretch>
            </p:blipFill>
            <p:spPr>
              <a:xfrm>
                <a:off x="1066800" y="2286000"/>
                <a:ext cx="6096000" cy="1600200"/>
              </a:xfrm>
              <a:prstGeom prst="rect">
                <a:avLst/>
              </a:prstGeom>
            </p:spPr>
          </p:pic>
          <p:pic>
            <p:nvPicPr>
              <p:cNvPr id="7" name="Picture 6" descr="117.jpg"/>
              <p:cNvPicPr>
                <a:picLocks noChangeAspect="1"/>
              </p:cNvPicPr>
              <p:nvPr/>
            </p:nvPicPr>
            <p:blipFill>
              <a:blip r:embed="rId3"/>
              <a:srcRect l="10000" t="54445" r="12500" b="23333"/>
              <a:stretch>
                <a:fillRect/>
              </a:stretch>
            </p:blipFill>
            <p:spPr>
              <a:xfrm>
                <a:off x="1066800" y="3886200"/>
                <a:ext cx="7086600" cy="1524000"/>
              </a:xfrm>
              <a:prstGeom prst="rect">
                <a:avLst/>
              </a:prstGeom>
            </p:spPr>
          </p:pic>
        </p:grpSp>
        <p:sp>
          <p:nvSpPr>
            <p:cNvPr id="9" name="TextBox 8"/>
            <p:cNvSpPr txBox="1"/>
            <p:nvPr/>
          </p:nvSpPr>
          <p:spPr>
            <a:xfrm>
              <a:off x="3429000" y="2895600"/>
              <a:ext cx="80182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2D1ABC"/>
                  </a:solidFill>
                </a:rPr>
                <a:t>170</a:t>
              </a:r>
              <a:r>
                <a:rPr lang="en-US" altLang="zh-CN" sz="2000" b="1" baseline="30000" dirty="0">
                  <a:solidFill>
                    <a:srgbClr val="2D1ABC"/>
                  </a:solidFill>
                </a:rPr>
                <a:t>o</a:t>
              </a:r>
              <a:r>
                <a:rPr lang="en-US" altLang="zh-CN" sz="2000" b="1" dirty="0">
                  <a:solidFill>
                    <a:srgbClr val="2D1ABC"/>
                  </a:solidFill>
                </a:rPr>
                <a:t>C</a:t>
              </a:r>
              <a:endParaRPr lang="en-US" sz="2000" b="1" dirty="0">
                <a:solidFill>
                  <a:srgbClr val="2D1AB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补充资料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醚：两个烃基通过一个</a:t>
            </a:r>
            <a:r>
              <a:rPr lang="en-US" altLang="zh-CN" sz="3000" dirty="0"/>
              <a:t>O</a:t>
            </a:r>
            <a:r>
              <a:rPr lang="zh-CN" altLang="en-US" sz="3000" dirty="0"/>
              <a:t>原子连接起来的化合物。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通式：</a:t>
            </a:r>
            <a:r>
              <a:rPr lang="en-US" altLang="zh-CN" sz="3000" dirty="0"/>
              <a:t>R-O-R</a:t>
            </a:r>
            <a:r>
              <a:rPr lang="en-US" altLang="zh-CN" sz="3000" baseline="30000" dirty="0"/>
              <a:t>’</a:t>
            </a:r>
            <a:r>
              <a:rPr lang="en-US" altLang="zh-CN" sz="3000" dirty="0"/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乙醚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无色、易挥发液体、有特殊气味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麻醉剂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微溶于水，易溶于有机溶剂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优良溶剂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易燃，遇火可能会爆炸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问题解决</a:t>
            </a: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(1)</a:t>
            </a:r>
          </a:p>
          <a:p>
            <a:pPr>
              <a:spcBef>
                <a:spcPts val="0"/>
              </a:spcBef>
              <a:buNone/>
            </a:pP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(2) 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不能发生分子内脱水，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该醇没有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β—H </a:t>
            </a:r>
            <a:endParaRPr lang="en-US" altLang="zh-CN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buNone/>
            </a:pP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(3)</a:t>
            </a:r>
          </a:p>
        </p:txBody>
      </p:sp>
      <p:pic>
        <p:nvPicPr>
          <p:cNvPr id="6" name="Picture 5" descr="117.1.gif"/>
          <p:cNvPicPr>
            <a:picLocks noChangeAspect="1"/>
          </p:cNvPicPr>
          <p:nvPr/>
        </p:nvPicPr>
        <p:blipFill>
          <a:blip r:embed="rId3"/>
          <a:srcRect l="53292" t="46939" b="36734"/>
          <a:stretch>
            <a:fillRect/>
          </a:stretch>
        </p:blipFill>
        <p:spPr>
          <a:xfrm>
            <a:off x="5048250" y="4343400"/>
            <a:ext cx="4095750" cy="762000"/>
          </a:xfrm>
          <a:prstGeom prst="rect">
            <a:avLst/>
          </a:prstGeom>
        </p:spPr>
      </p:pic>
      <p:pic>
        <p:nvPicPr>
          <p:cNvPr id="7" name="Picture 6" descr="107.jpg"/>
          <p:cNvPicPr>
            <a:picLocks noChangeAspect="1"/>
          </p:cNvPicPr>
          <p:nvPr/>
        </p:nvPicPr>
        <p:blipFill>
          <a:blip r:embed="rId4"/>
          <a:srcRect l="22185" t="8111" r="51009" b="70596"/>
          <a:stretch>
            <a:fillRect/>
          </a:stretch>
        </p:blipFill>
        <p:spPr>
          <a:xfrm>
            <a:off x="3067050" y="1820917"/>
            <a:ext cx="2209800" cy="846083"/>
          </a:xfrm>
          <a:prstGeom prst="rect">
            <a:avLst/>
          </a:prstGeom>
        </p:spPr>
      </p:pic>
      <p:pic>
        <p:nvPicPr>
          <p:cNvPr id="8" name="Picture 7" descr="117.1.gif"/>
          <p:cNvPicPr>
            <a:picLocks noChangeAspect="1"/>
          </p:cNvPicPr>
          <p:nvPr/>
        </p:nvPicPr>
        <p:blipFill>
          <a:blip r:embed="rId3"/>
          <a:srcRect t="44898" r="73930" b="18367"/>
          <a:stretch>
            <a:fillRect/>
          </a:stretch>
        </p:blipFill>
        <p:spPr>
          <a:xfrm>
            <a:off x="933450" y="4114800"/>
            <a:ext cx="2057400" cy="1543050"/>
          </a:xfrm>
          <a:prstGeom prst="rect">
            <a:avLst/>
          </a:prstGeom>
        </p:spPr>
      </p:pic>
      <p:pic>
        <p:nvPicPr>
          <p:cNvPr id="9" name="Picture 8" descr="117.1.gif"/>
          <p:cNvPicPr>
            <a:picLocks noChangeAspect="1"/>
          </p:cNvPicPr>
          <p:nvPr/>
        </p:nvPicPr>
        <p:blipFill>
          <a:blip r:embed="rId3"/>
          <a:srcRect t="-2041" r="70671" b="59184"/>
          <a:stretch>
            <a:fillRect/>
          </a:stretch>
        </p:blipFill>
        <p:spPr>
          <a:xfrm>
            <a:off x="889907" y="1447800"/>
            <a:ext cx="2253343" cy="1752600"/>
          </a:xfrm>
          <a:prstGeom prst="rect">
            <a:avLst/>
          </a:prstGeom>
        </p:spPr>
      </p:pic>
      <p:pic>
        <p:nvPicPr>
          <p:cNvPr id="10" name="Picture 9" descr="117.1.gif"/>
          <p:cNvPicPr>
            <a:picLocks noChangeAspect="1"/>
          </p:cNvPicPr>
          <p:nvPr/>
        </p:nvPicPr>
        <p:blipFill>
          <a:blip r:embed="rId3"/>
          <a:srcRect l="58657" r="2238" b="59184"/>
          <a:stretch>
            <a:fillRect/>
          </a:stretch>
        </p:blipFill>
        <p:spPr>
          <a:xfrm>
            <a:off x="5353050" y="1447800"/>
            <a:ext cx="2743200" cy="1524000"/>
          </a:xfrm>
          <a:prstGeom prst="rect">
            <a:avLst/>
          </a:prstGeom>
        </p:spPr>
      </p:pic>
      <p:pic>
        <p:nvPicPr>
          <p:cNvPr id="12" name="Picture 11" descr="107.jpg"/>
          <p:cNvPicPr>
            <a:picLocks noChangeAspect="1"/>
          </p:cNvPicPr>
          <p:nvPr/>
        </p:nvPicPr>
        <p:blipFill>
          <a:blip r:embed="rId4"/>
          <a:srcRect l="22185" t="8111" r="51009" b="70596"/>
          <a:stretch>
            <a:fillRect/>
          </a:stretch>
        </p:blipFill>
        <p:spPr>
          <a:xfrm>
            <a:off x="2914650" y="4267200"/>
            <a:ext cx="2209800" cy="846083"/>
          </a:xfrm>
          <a:prstGeom prst="rect">
            <a:avLst/>
          </a:prstGeom>
        </p:spPr>
      </p:pic>
      <p:pic>
        <p:nvPicPr>
          <p:cNvPr id="13" name="Picture 12" descr="107.jpg"/>
          <p:cNvPicPr>
            <a:picLocks noChangeAspect="1"/>
          </p:cNvPicPr>
          <p:nvPr/>
        </p:nvPicPr>
        <p:blipFill>
          <a:blip r:embed="rId4"/>
          <a:srcRect l="22185" t="8111" r="51009" b="70596"/>
          <a:stretch>
            <a:fillRect/>
          </a:stretch>
        </p:blipFill>
        <p:spPr>
          <a:xfrm>
            <a:off x="2971800" y="5334000"/>
            <a:ext cx="2209800" cy="846083"/>
          </a:xfrm>
          <a:prstGeom prst="rect">
            <a:avLst/>
          </a:prstGeom>
        </p:spPr>
      </p:pic>
      <p:pic>
        <p:nvPicPr>
          <p:cNvPr id="14" name="Picture 13" descr="117.1.gif"/>
          <p:cNvPicPr>
            <a:picLocks noChangeAspect="1"/>
          </p:cNvPicPr>
          <p:nvPr/>
        </p:nvPicPr>
        <p:blipFill>
          <a:blip r:embed="rId3"/>
          <a:srcRect l="55732" t="85871" b="1413"/>
          <a:stretch>
            <a:fillRect/>
          </a:stretch>
        </p:blipFill>
        <p:spPr>
          <a:xfrm>
            <a:off x="5105401" y="5562600"/>
            <a:ext cx="3733800" cy="6858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3268F16-9963-42F9-A286-2BC266CE8A31}"/>
              </a:ext>
            </a:extLst>
          </p:cNvPr>
          <p:cNvGrpSpPr/>
          <p:nvPr/>
        </p:nvGrpSpPr>
        <p:grpSpPr>
          <a:xfrm>
            <a:off x="332509" y="5562600"/>
            <a:ext cx="2715491" cy="685800"/>
            <a:chOff x="332509" y="5562600"/>
            <a:chExt cx="2715491" cy="685800"/>
          </a:xfrm>
        </p:grpSpPr>
        <p:pic>
          <p:nvPicPr>
            <p:cNvPr id="11" name="Picture 10" descr="117.1.gif"/>
            <p:cNvPicPr>
              <a:picLocks noChangeAspect="1"/>
            </p:cNvPicPr>
            <p:nvPr/>
          </p:nvPicPr>
          <p:blipFill rotWithShape="1">
            <a:blip r:embed="rId3"/>
            <a:srcRect t="85569" r="69585"/>
            <a:stretch/>
          </p:blipFill>
          <p:spPr>
            <a:xfrm>
              <a:off x="332509" y="5562600"/>
              <a:ext cx="2715491" cy="685800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2428690" y="5848290"/>
              <a:ext cx="314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2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练习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	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三级醇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一般不发生分子间脱水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 descr="117.1.gif"/>
          <p:cNvPicPr>
            <a:picLocks noChangeAspect="1"/>
          </p:cNvPicPr>
          <p:nvPr/>
        </p:nvPicPr>
        <p:blipFill>
          <a:blip r:embed="rId3"/>
          <a:srcRect t="44898" r="73930" b="18367"/>
          <a:stretch>
            <a:fillRect/>
          </a:stretch>
        </p:blipFill>
        <p:spPr>
          <a:xfrm>
            <a:off x="533400" y="2514600"/>
            <a:ext cx="2057400" cy="1447800"/>
          </a:xfrm>
          <a:prstGeom prst="rect">
            <a:avLst/>
          </a:prstGeom>
        </p:spPr>
      </p:pic>
      <p:pic>
        <p:nvPicPr>
          <p:cNvPr id="9" name="Picture 8" descr="117.1.gif"/>
          <p:cNvPicPr>
            <a:picLocks noChangeAspect="1"/>
          </p:cNvPicPr>
          <p:nvPr/>
        </p:nvPicPr>
        <p:blipFill>
          <a:blip r:embed="rId3"/>
          <a:srcRect t="-2041" r="70671" b="59184"/>
          <a:stretch>
            <a:fillRect/>
          </a:stretch>
        </p:blipFill>
        <p:spPr>
          <a:xfrm>
            <a:off x="685800" y="3886200"/>
            <a:ext cx="2253343" cy="175260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2833227" y="1820917"/>
            <a:ext cx="1524000" cy="752245"/>
            <a:chOff x="2743200" y="1820917"/>
            <a:chExt cx="2209800" cy="1203994"/>
          </a:xfrm>
        </p:grpSpPr>
        <p:pic>
          <p:nvPicPr>
            <p:cNvPr id="7" name="Picture 6" descr="107.jpg"/>
            <p:cNvPicPr>
              <a:picLocks noChangeAspect="1"/>
            </p:cNvPicPr>
            <p:nvPr/>
          </p:nvPicPr>
          <p:blipFill>
            <a:blip r:embed="rId4"/>
            <a:srcRect l="22185" t="8111" r="51009" b="70596"/>
            <a:stretch>
              <a:fillRect/>
            </a:stretch>
          </p:blipFill>
          <p:spPr>
            <a:xfrm>
              <a:off x="2743200" y="1820917"/>
              <a:ext cx="2209800" cy="846083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074670" y="2286000"/>
              <a:ext cx="1341617" cy="7389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140</a:t>
              </a:r>
              <a:r>
                <a:rPr lang="en-US" altLang="zh-CN" sz="2400" b="1" baseline="30000" dirty="0"/>
                <a:t>o</a:t>
              </a:r>
              <a:r>
                <a:rPr lang="en-US" altLang="zh-CN" sz="2400" b="1" dirty="0"/>
                <a:t>C</a:t>
              </a:r>
              <a:endParaRPr lang="en-US" sz="2400" b="1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357227" y="1828800"/>
            <a:ext cx="4939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-O-CH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endParaRPr lang="en-US" sz="2800" dirty="0"/>
          </a:p>
        </p:txBody>
      </p:sp>
      <p:pic>
        <p:nvPicPr>
          <p:cNvPr id="11" name="Picture 10" descr="117.1.gif"/>
          <p:cNvPicPr>
            <a:picLocks noChangeAspect="1"/>
          </p:cNvPicPr>
          <p:nvPr/>
        </p:nvPicPr>
        <p:blipFill>
          <a:blip r:embed="rId3"/>
          <a:srcRect t="77551" r="69585"/>
          <a:stretch>
            <a:fillRect/>
          </a:stretch>
        </p:blipFill>
        <p:spPr>
          <a:xfrm>
            <a:off x="450273" y="1447800"/>
            <a:ext cx="2521527" cy="990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52400" y="182880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2</a:t>
            </a:r>
            <a:endParaRPr lang="en-US" sz="2800" dirty="0"/>
          </a:p>
        </p:txBody>
      </p:sp>
      <p:sp>
        <p:nvSpPr>
          <p:cNvPr id="25" name="Rectangle 24"/>
          <p:cNvSpPr/>
          <p:nvPr/>
        </p:nvSpPr>
        <p:spPr>
          <a:xfrm>
            <a:off x="152400" y="267718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2</a:t>
            </a:r>
            <a:endParaRPr lang="en-US" sz="28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2590800" y="2676755"/>
            <a:ext cx="1524000" cy="752245"/>
            <a:chOff x="2743200" y="1820917"/>
            <a:chExt cx="2209800" cy="1203994"/>
          </a:xfrm>
        </p:grpSpPr>
        <p:pic>
          <p:nvPicPr>
            <p:cNvPr id="27" name="Picture 26" descr="107.jpg"/>
            <p:cNvPicPr>
              <a:picLocks noChangeAspect="1"/>
            </p:cNvPicPr>
            <p:nvPr/>
          </p:nvPicPr>
          <p:blipFill>
            <a:blip r:embed="rId4"/>
            <a:srcRect l="22185" t="8111" r="51009" b="70596"/>
            <a:stretch>
              <a:fillRect/>
            </a:stretch>
          </p:blipFill>
          <p:spPr>
            <a:xfrm>
              <a:off x="2743200" y="1820917"/>
              <a:ext cx="2209800" cy="846083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074670" y="2286000"/>
              <a:ext cx="1341617" cy="7389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140</a:t>
              </a:r>
              <a:r>
                <a:rPr lang="en-US" altLang="zh-CN" sz="2400" b="1" baseline="30000" dirty="0"/>
                <a:t>o</a:t>
              </a:r>
              <a:r>
                <a:rPr lang="en-US" altLang="zh-CN" sz="2400" b="1" dirty="0"/>
                <a:t>C</a:t>
              </a:r>
              <a:endParaRPr lang="en-US" sz="2400" b="1" dirty="0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4114800" y="2677180"/>
            <a:ext cx="51315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)-O-CH(CH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endParaRPr lang="en-US" sz="28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3124200" y="4429355"/>
            <a:ext cx="1524000" cy="752245"/>
            <a:chOff x="2743200" y="1820917"/>
            <a:chExt cx="2209800" cy="1203994"/>
          </a:xfrm>
        </p:grpSpPr>
        <p:pic>
          <p:nvPicPr>
            <p:cNvPr id="31" name="Picture 30" descr="107.jpg"/>
            <p:cNvPicPr>
              <a:picLocks noChangeAspect="1"/>
            </p:cNvPicPr>
            <p:nvPr/>
          </p:nvPicPr>
          <p:blipFill>
            <a:blip r:embed="rId4"/>
            <a:srcRect l="22185" t="8111" r="51009" b="70596"/>
            <a:stretch>
              <a:fillRect/>
            </a:stretch>
          </p:blipFill>
          <p:spPr>
            <a:xfrm>
              <a:off x="2743200" y="1820917"/>
              <a:ext cx="2209800" cy="846083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074670" y="2286000"/>
              <a:ext cx="1341617" cy="7389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140</a:t>
              </a:r>
              <a:r>
                <a:rPr lang="en-US" altLang="zh-CN" sz="2400" b="1" baseline="30000" dirty="0"/>
                <a:t>o</a:t>
              </a:r>
              <a:r>
                <a:rPr lang="en-US" altLang="zh-CN" sz="2400" b="1" dirty="0"/>
                <a:t>C</a:t>
              </a:r>
              <a:endParaRPr lang="en-US" sz="2400" b="1" dirty="0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4754369" y="4429780"/>
            <a:ext cx="3249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(CH</a:t>
            </a:r>
            <a:r>
              <a:rPr lang="en-US" altLang="zh-CN" sz="3200" baseline="-25000" dirty="0"/>
              <a:t>3</a:t>
            </a:r>
            <a:r>
              <a:rPr lang="en-US" altLang="zh-CN" sz="3200" dirty="0"/>
              <a:t>)</a:t>
            </a:r>
            <a:r>
              <a:rPr lang="en-US" altLang="zh-CN" sz="3200" baseline="-25000" dirty="0"/>
              <a:t>3</a:t>
            </a:r>
            <a:r>
              <a:rPr lang="en-US" altLang="zh-CN" sz="3200" dirty="0"/>
              <a:t>C -O-C(CH</a:t>
            </a:r>
            <a:r>
              <a:rPr lang="en-US" altLang="zh-CN" sz="3200" baseline="-25000" dirty="0"/>
              <a:t>3</a:t>
            </a:r>
            <a:r>
              <a:rPr lang="en-US" altLang="zh-CN" sz="3200" dirty="0"/>
              <a:t>)</a:t>
            </a:r>
            <a:r>
              <a:rPr lang="en-US" altLang="zh-CN" sz="3200" baseline="-25000" dirty="0"/>
              <a:t>3</a:t>
            </a:r>
            <a:endParaRPr lang="en-US" sz="3200" dirty="0"/>
          </a:p>
        </p:txBody>
      </p:sp>
      <p:sp>
        <p:nvSpPr>
          <p:cNvPr id="22" name="Rectangle 21"/>
          <p:cNvSpPr/>
          <p:nvPr/>
        </p:nvSpPr>
        <p:spPr>
          <a:xfrm>
            <a:off x="304800" y="441960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2</a:t>
            </a:r>
            <a:endParaRPr lang="en-US" sz="2800" dirty="0"/>
          </a:p>
        </p:txBody>
      </p:sp>
      <p:sp>
        <p:nvSpPr>
          <p:cNvPr id="34" name="Rectangle 33"/>
          <p:cNvSpPr/>
          <p:nvPr/>
        </p:nvSpPr>
        <p:spPr>
          <a:xfrm>
            <a:off x="2375792" y="2067580"/>
            <a:ext cx="314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/>
      <p:bldP spid="29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与金属反应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 		2 RO-H +</a:t>
            </a:r>
            <a:r>
              <a:rPr lang="zh-CN" altLang="en-US" sz="2800" dirty="0"/>
              <a:t>活泼金属</a:t>
            </a:r>
            <a:r>
              <a:rPr lang="en-US" altLang="zh-CN" sz="2800" dirty="0"/>
              <a:t>M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醇盐</a:t>
            </a:r>
            <a:r>
              <a:rPr lang="en-US" altLang="zh-CN" sz="2800" dirty="0">
                <a:sym typeface="Wingdings" pitchFamily="2" charset="2"/>
              </a:rPr>
              <a:t> RO-M+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醇盐：</a:t>
            </a:r>
            <a:r>
              <a:rPr lang="zh-CN" altLang="en-US" sz="2800" dirty="0"/>
              <a:t>醇中的羟基氢被金属取代后形成的一类化合物，含有醇盐（烷氧基）负离子</a:t>
            </a:r>
            <a:r>
              <a:rPr lang="en-US" altLang="zh-CN" sz="2800" dirty="0"/>
              <a:t>RO</a:t>
            </a:r>
            <a:r>
              <a:rPr lang="en-US" altLang="zh-CN" sz="2800" baseline="30000" dirty="0"/>
              <a:t>–</a:t>
            </a:r>
            <a:r>
              <a:rPr lang="en-US" altLang="zh-CN" sz="2800" dirty="0"/>
              <a:t> </a:t>
            </a:r>
            <a:r>
              <a:rPr lang="zh-CN" altLang="en-US" sz="2800" dirty="0"/>
              <a:t>，具强碱性。</a:t>
            </a:r>
            <a:endParaRPr lang="en-US" altLang="zh-CN" sz="28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例：</a:t>
            </a:r>
            <a:r>
              <a:rPr lang="en-US" altLang="zh-CN" sz="2800" dirty="0"/>
              <a:t>2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/>
              <a:t>OH + 2Na </a:t>
            </a:r>
            <a:r>
              <a:rPr lang="en-US" altLang="zh-CN" sz="2800" dirty="0">
                <a:sym typeface="Wingdings" pitchFamily="2" charset="2"/>
              </a:rPr>
              <a:t> 2CH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ONa</a:t>
            </a:r>
            <a:r>
              <a:rPr lang="zh-CN" altLang="en-US" sz="2800" dirty="0">
                <a:sym typeface="Wingdings" pitchFamily="2" charset="2"/>
              </a:rPr>
              <a:t>甲醇钠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2 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OH + Mg   (CH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O)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Mg </a:t>
            </a:r>
            <a:r>
              <a:rPr lang="zh-CN" altLang="en-US" sz="2800" dirty="0">
                <a:sym typeface="Wingdings" pitchFamily="2" charset="2"/>
              </a:rPr>
              <a:t>乙醇镁</a:t>
            </a:r>
            <a:r>
              <a:rPr lang="en-US" altLang="zh-CN" sz="2800" dirty="0">
                <a:sym typeface="Wingdings" pitchFamily="2" charset="2"/>
              </a:rPr>
              <a:t>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 2 H-OH + 2 Na  2 </a:t>
            </a:r>
            <a:r>
              <a:rPr lang="en-US" altLang="zh-CN" sz="2800" dirty="0" err="1">
                <a:sym typeface="Wingdings" pitchFamily="2" charset="2"/>
              </a:rPr>
              <a:t>NaOH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zh-CN" altLang="en-US" sz="2800" dirty="0"/>
              <a:t>钠与水反应较乙醇与水的反应剧烈；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说明水分子中的</a:t>
            </a:r>
            <a:r>
              <a:rPr lang="en-US" altLang="zh-CN" sz="2800" dirty="0"/>
              <a:t>H</a:t>
            </a:r>
            <a:r>
              <a:rPr lang="zh-CN" altLang="en-US" sz="2800" dirty="0"/>
              <a:t>原子比乙醇羟基</a:t>
            </a:r>
            <a:r>
              <a:rPr lang="en-US" altLang="zh-CN" sz="2800" dirty="0"/>
              <a:t>(-OH)</a:t>
            </a:r>
            <a:r>
              <a:rPr lang="zh-CN" altLang="en-US" sz="2800" dirty="0"/>
              <a:t>中的</a:t>
            </a:r>
            <a:r>
              <a:rPr lang="en-US" altLang="zh-CN" sz="2800" dirty="0"/>
              <a:t>H</a:t>
            </a:r>
            <a:r>
              <a:rPr lang="zh-CN" altLang="en-US" sz="2800" dirty="0"/>
              <a:t>原子活泼。</a:t>
            </a:r>
            <a:endParaRPr lang="en-US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2971800" y="4876800"/>
            <a:ext cx="2272321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657600" y="3200400"/>
            <a:ext cx="3665034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15"/>
          <p:cNvGrpSpPr/>
          <p:nvPr/>
        </p:nvGrpSpPr>
        <p:grpSpPr>
          <a:xfrm>
            <a:off x="1981200" y="1447800"/>
            <a:ext cx="990600" cy="609600"/>
            <a:chOff x="4191000" y="5029200"/>
            <a:chExt cx="1143000" cy="609600"/>
          </a:xfrm>
        </p:grpSpPr>
        <p:sp>
          <p:nvSpPr>
            <p:cNvPr id="10" name="Oval 9"/>
            <p:cNvSpPr/>
            <p:nvPr/>
          </p:nvSpPr>
          <p:spPr>
            <a:xfrm>
              <a:off x="4191000" y="5181600"/>
              <a:ext cx="4572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Curved Connector 10"/>
            <p:cNvCxnSpPr/>
            <p:nvPr/>
          </p:nvCxnSpPr>
          <p:spPr>
            <a:xfrm flipV="1">
              <a:off x="4648200" y="5029200"/>
              <a:ext cx="685800" cy="381000"/>
            </a:xfrm>
            <a:prstGeom prst="curvedConnector3">
              <a:avLst>
                <a:gd name="adj1" fmla="val 36622"/>
              </a:avLst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3048000" y="1076980"/>
            <a:ext cx="3057247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可被活泼金属取代</a:t>
            </a:r>
            <a:endParaRPr lang="en-US" sz="2800" dirty="0"/>
          </a:p>
        </p:txBody>
      </p:sp>
      <p:sp>
        <p:nvSpPr>
          <p:cNvPr id="15" name="Rounded Rectangle 14"/>
          <p:cNvSpPr/>
          <p:nvPr/>
        </p:nvSpPr>
        <p:spPr>
          <a:xfrm>
            <a:off x="3505200" y="3733800"/>
            <a:ext cx="44196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575394" y="4177605"/>
            <a:ext cx="3568606" cy="138499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醇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r>
              <a:rPr lang="zh-CN" altLang="en-US" sz="2800" b="1" dirty="0">
                <a:solidFill>
                  <a:srgbClr val="002060"/>
                </a:solidFill>
              </a:rPr>
              <a:t>苯酚  </a:t>
            </a:r>
            <a:r>
              <a:rPr lang="en-US" altLang="zh-CN" sz="2800" b="1" dirty="0">
                <a:solidFill>
                  <a:srgbClr val="002060"/>
                </a:solidFill>
              </a:rPr>
              <a:t>+ Na</a:t>
            </a:r>
            <a:r>
              <a:rPr lang="zh-CN" altLang="en-US" sz="2800" b="1" dirty="0">
                <a:solidFill>
                  <a:srgbClr val="002060"/>
                </a:solidFill>
              </a:rPr>
              <a:t>都会产生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 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r>
              <a:rPr lang="zh-CN" altLang="en-US" sz="2800" b="1" dirty="0">
                <a:solidFill>
                  <a:srgbClr val="002060"/>
                </a:solidFill>
              </a:rPr>
              <a:t>羧酸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14" grpId="0" animBg="1"/>
      <p:bldP spid="15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6019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dirty="0"/>
              <a:t>与</a:t>
            </a:r>
            <a:r>
              <a:rPr lang="en-US" altLang="zh-CN" sz="2800" dirty="0"/>
              <a:t>HX(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  <a:r>
              <a:rPr lang="zh-CN" altLang="en-US" sz="2800" dirty="0"/>
              <a:t>反应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		         2 R-OH    +</a:t>
            </a:r>
            <a:r>
              <a:rPr lang="zh-CN" altLang="en-US" sz="2800" dirty="0"/>
              <a:t>    </a:t>
            </a:r>
            <a:r>
              <a:rPr lang="en-US" altLang="zh-CN" sz="2800" dirty="0"/>
              <a:t>H-X 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卤代烷</a:t>
            </a:r>
            <a:r>
              <a:rPr lang="en-US" altLang="zh-CN" sz="2800" dirty="0">
                <a:sym typeface="Wingdings" pitchFamily="2" charset="2"/>
              </a:rPr>
              <a:t>R-X    +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例：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/>
              <a:t>OH + </a:t>
            </a:r>
            <a:r>
              <a:rPr lang="en-US" altLang="zh-CN" sz="2800" dirty="0" err="1"/>
              <a:t>HCl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Cl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CH(OH)CH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</a:t>
            </a:r>
            <a:r>
              <a:rPr lang="en-US" altLang="zh-CN" sz="2800" dirty="0" err="1">
                <a:sym typeface="Wingdings" pitchFamily="2" charset="2"/>
              </a:rPr>
              <a:t>HBr</a:t>
            </a:r>
            <a:r>
              <a:rPr lang="en-US" altLang="zh-CN" sz="2800" dirty="0">
                <a:sym typeface="Wingdings" pitchFamily="2" charset="2"/>
              </a:rPr>
              <a:t>  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CHBrCH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</a:t>
            </a:r>
            <a:endParaRPr lang="en-US" altLang="zh-CN" sz="2800" baseline="-25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dirty="0"/>
              <a:t>与卤化磷反应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dirty="0"/>
              <a:t>		3 </a:t>
            </a:r>
            <a:r>
              <a:rPr lang="en-US" altLang="zh-CN" sz="2800" dirty="0"/>
              <a:t>R-OH  + PX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卤代烷</a:t>
            </a:r>
            <a:r>
              <a:rPr lang="en-US" altLang="zh-CN" sz="2800" dirty="0">
                <a:sym typeface="Wingdings" pitchFamily="2" charset="2"/>
              </a:rPr>
              <a:t>3 R-X  + 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PO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亚磷酸</a:t>
            </a:r>
            <a:endParaRPr lang="en-US" altLang="zh-CN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 R-OH  + PCl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卤代烷</a:t>
            </a:r>
            <a:r>
              <a:rPr lang="en-US" altLang="zh-CN" sz="2800" dirty="0">
                <a:sym typeface="Wingdings" pitchFamily="2" charset="2"/>
              </a:rPr>
              <a:t>R-X  +  POCl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</a:t>
            </a:r>
            <a:r>
              <a:rPr lang="en-US" altLang="zh-CN" sz="28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HCl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lvl="1" indent="-342900">
              <a:spcBef>
                <a:spcPts val="0"/>
              </a:spcBef>
              <a:buNone/>
            </a:pPr>
            <a:r>
              <a:rPr lang="en-US" altLang="zh-CN" sz="2800" dirty="0"/>
              <a:t>					 </a:t>
            </a:r>
            <a:r>
              <a:rPr lang="zh-CN" altLang="en-US" sz="2800" dirty="0"/>
              <a:t>三氯氧磷  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白雾</a:t>
            </a:r>
            <a:r>
              <a:rPr lang="en-US" altLang="zh-CN" dirty="0"/>
              <a:t>(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PCl</a:t>
            </a:r>
            <a:r>
              <a:rPr lang="en-US" altLang="zh-CN" sz="2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鉴别醇</a:t>
            </a:r>
            <a:r>
              <a:rPr lang="en-US" altLang="zh-CN" sz="2800" dirty="0"/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400" dirty="0"/>
              <a:t>这是制备卤代烷的常用方法</a:t>
            </a:r>
            <a:endParaRPr lang="en-US" altLang="zh-CN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4495800" y="2286000"/>
            <a:ext cx="28194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5"/>
          <p:cNvGrpSpPr/>
          <p:nvPr/>
        </p:nvGrpSpPr>
        <p:grpSpPr>
          <a:xfrm>
            <a:off x="2560717" y="1524000"/>
            <a:ext cx="1371600" cy="609600"/>
            <a:chOff x="4191000" y="5029200"/>
            <a:chExt cx="1143000" cy="609600"/>
          </a:xfrm>
        </p:grpSpPr>
        <p:sp>
          <p:nvSpPr>
            <p:cNvPr id="10" name="Oval 9"/>
            <p:cNvSpPr/>
            <p:nvPr/>
          </p:nvSpPr>
          <p:spPr>
            <a:xfrm>
              <a:off x="4191000" y="5181600"/>
              <a:ext cx="4572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Curved Connector 10"/>
            <p:cNvCxnSpPr/>
            <p:nvPr/>
          </p:nvCxnSpPr>
          <p:spPr>
            <a:xfrm flipV="1">
              <a:off x="4648200" y="5029200"/>
              <a:ext cx="685800" cy="381000"/>
            </a:xfrm>
            <a:prstGeom prst="curvedConnector3">
              <a:avLst>
                <a:gd name="adj1" fmla="val 22625"/>
              </a:avLst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3856117" y="1076980"/>
            <a:ext cx="5211683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可被负一价的离子或原子团取代</a:t>
            </a:r>
            <a:endParaRPr lang="en-US" sz="2800" dirty="0"/>
          </a:p>
        </p:txBody>
      </p:sp>
      <p:sp>
        <p:nvSpPr>
          <p:cNvPr id="15" name="Rounded Rectangle 14"/>
          <p:cNvSpPr/>
          <p:nvPr/>
        </p:nvSpPr>
        <p:spPr>
          <a:xfrm>
            <a:off x="3886200" y="2895600"/>
            <a:ext cx="3124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6600284" y="3581400"/>
            <a:ext cx="1934116" cy="685800"/>
            <a:chOff x="6248400" y="3733800"/>
            <a:chExt cx="1934116" cy="685800"/>
          </a:xfrm>
        </p:grpSpPr>
        <p:sp>
          <p:nvSpPr>
            <p:cNvPr id="13" name="TextBox 12"/>
            <p:cNvSpPr txBox="1"/>
            <p:nvPr/>
          </p:nvSpPr>
          <p:spPr>
            <a:xfrm>
              <a:off x="7010400" y="3733800"/>
              <a:ext cx="11721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P(OH)</a:t>
              </a:r>
              <a:r>
                <a:rPr lang="en-US" sz="2800" baseline="-25000" dirty="0"/>
                <a:t>3</a:t>
              </a:r>
              <a:endParaRPr lang="en-US" sz="2800" dirty="0"/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6248400" y="4038600"/>
              <a:ext cx="822960" cy="381000"/>
            </a:xfrm>
            <a:prstGeom prst="curvedConnector3">
              <a:avLst>
                <a:gd name="adj1" fmla="val 22625"/>
              </a:avLst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4" grpId="0" uiExpand="1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32.1.3 </a:t>
            </a:r>
            <a:r>
              <a:rPr lang="zh-CN" altLang="en-US" sz="4000" b="1" dirty="0">
                <a:latin typeface="+mn-ea"/>
              </a:rPr>
              <a:t>醇的化学性质</a:t>
            </a:r>
            <a:endParaRPr lang="en-US" sz="4000" b="1" dirty="0"/>
          </a:p>
        </p:txBody>
      </p:sp>
      <p:pic>
        <p:nvPicPr>
          <p:cNvPr id="6" name="Picture 5" descr="pg95.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362200" y="2133600"/>
            <a:ext cx="1371600" cy="566882"/>
          </a:xfrm>
          <a:prstGeom prst="rect">
            <a:avLst/>
          </a:prstGeom>
        </p:spPr>
      </p:pic>
      <p:pic>
        <p:nvPicPr>
          <p:cNvPr id="7" name="Picture 6" descr="pg95.4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267200" y="2133600"/>
            <a:ext cx="1371600" cy="56688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醇的酯化反应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通式：醇</a:t>
            </a:r>
            <a:r>
              <a:rPr lang="en-US" altLang="zh-CN" sz="3000" dirty="0"/>
              <a:t>+ </a:t>
            </a:r>
            <a:r>
              <a:rPr lang="zh-CN" altLang="en-US" sz="3000" dirty="0"/>
              <a:t>羧酸</a:t>
            </a:r>
            <a:r>
              <a:rPr lang="en-US" altLang="zh-CN" sz="3000" dirty="0">
                <a:sym typeface="Wingdings" pitchFamily="2" charset="2"/>
              </a:rPr>
              <a:t> 		</a:t>
            </a:r>
            <a:r>
              <a:rPr lang="zh-CN" altLang="en-US" sz="3000" dirty="0">
                <a:sym typeface="Wingdings" pitchFamily="2" charset="2"/>
              </a:rPr>
              <a:t>酯</a:t>
            </a:r>
            <a:r>
              <a:rPr lang="en-US" altLang="zh-CN" sz="3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水</a:t>
            </a:r>
            <a:endParaRPr lang="en-US" altLang="zh-CN" sz="3000" dirty="0"/>
          </a:p>
          <a:p>
            <a:pPr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altLang="zh-CN" sz="3000" dirty="0"/>
              <a:t>		R-O</a:t>
            </a:r>
            <a:r>
              <a:rPr lang="en-US" altLang="zh-CN" sz="3000" dirty="0">
                <a:solidFill>
                  <a:srgbClr val="FF0000"/>
                </a:solidFill>
              </a:rPr>
              <a:t>H</a:t>
            </a:r>
            <a:r>
              <a:rPr lang="en-US" altLang="zh-CN" sz="3000" dirty="0"/>
              <a:t> + R</a:t>
            </a:r>
            <a:r>
              <a:rPr lang="en-US" altLang="zh-CN" sz="3000" baseline="30000" dirty="0"/>
              <a:t>’</a:t>
            </a:r>
            <a:r>
              <a:rPr lang="en-US" altLang="zh-CN" sz="3000" dirty="0"/>
              <a:t> -C-</a:t>
            </a:r>
            <a:r>
              <a:rPr lang="en-US" altLang="zh-CN" sz="3000" dirty="0">
                <a:solidFill>
                  <a:srgbClr val="FF0000"/>
                </a:solidFill>
              </a:rPr>
              <a:t>OH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	    R</a:t>
            </a:r>
            <a:r>
              <a:rPr lang="en-US" altLang="zh-CN" sz="3000" baseline="30000" dirty="0">
                <a:sym typeface="Wingdings" pitchFamily="2" charset="2"/>
              </a:rPr>
              <a:t>’</a:t>
            </a:r>
            <a:r>
              <a:rPr lang="en-US" altLang="zh-CN" sz="3000" dirty="0">
                <a:sym typeface="Wingdings" pitchFamily="2" charset="2"/>
              </a:rPr>
              <a:t>- C-OR  +</a:t>
            </a:r>
            <a:r>
              <a:rPr lang="en-US" altLang="zh-CN" sz="30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altLang="zh-CN" sz="3000" dirty="0">
                <a:solidFill>
                  <a:srgbClr val="FF0000"/>
                </a:solidFill>
                <a:sym typeface="Wingdings" pitchFamily="2" charset="2"/>
              </a:rPr>
              <a:t>H</a:t>
            </a:r>
            <a:r>
              <a:rPr lang="en-US" altLang="zh-CN" sz="3000" baseline="-25000" dirty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FF0000"/>
                </a:solidFill>
                <a:sym typeface="Wingdings" pitchFamily="2" charset="2"/>
              </a:rPr>
              <a:t>O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COOH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OH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CH(CH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)COOH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+ HCOOH 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+ 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COOH 							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9815" y="152400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羧酸去羟基，醇去氢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" name="Group 27"/>
          <p:cNvGrpSpPr/>
          <p:nvPr/>
        </p:nvGrpSpPr>
        <p:grpSpPr>
          <a:xfrm>
            <a:off x="3200400" y="1504890"/>
            <a:ext cx="685800" cy="400110"/>
            <a:chOff x="2819400" y="5867400"/>
            <a:chExt cx="685800" cy="400110"/>
          </a:xfrm>
        </p:grpSpPr>
        <p:grpSp>
          <p:nvGrpSpPr>
            <p:cNvPr id="13" name="Group 11"/>
            <p:cNvGrpSpPr/>
            <p:nvPr/>
          </p:nvGrpSpPr>
          <p:grpSpPr>
            <a:xfrm>
              <a:off x="2819400" y="6172117"/>
              <a:ext cx="685800" cy="76284"/>
              <a:chOff x="2895600" y="6324600"/>
              <a:chExt cx="1200150" cy="76284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rot="10800000">
                <a:off x="2895600" y="6399211"/>
                <a:ext cx="1200150" cy="167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2895600" y="6324600"/>
                <a:ext cx="1200150" cy="8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2971800" y="5867400"/>
              <a:ext cx="4299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endParaRPr lang="en-US" sz="2000" dirty="0"/>
            </a:p>
          </p:txBody>
        </p:sp>
      </p:grpSp>
      <p:grpSp>
        <p:nvGrpSpPr>
          <p:cNvPr id="22" name="Group 27"/>
          <p:cNvGrpSpPr/>
          <p:nvPr/>
        </p:nvGrpSpPr>
        <p:grpSpPr>
          <a:xfrm>
            <a:off x="3794760" y="2495490"/>
            <a:ext cx="548640" cy="400110"/>
            <a:chOff x="2880360" y="5867400"/>
            <a:chExt cx="548640" cy="400110"/>
          </a:xfrm>
        </p:grpSpPr>
        <p:grpSp>
          <p:nvGrpSpPr>
            <p:cNvPr id="23" name="Group 11"/>
            <p:cNvGrpSpPr/>
            <p:nvPr/>
          </p:nvGrpSpPr>
          <p:grpSpPr>
            <a:xfrm>
              <a:off x="2880360" y="6172117"/>
              <a:ext cx="548640" cy="76284"/>
              <a:chOff x="3002280" y="6324600"/>
              <a:chExt cx="960120" cy="76284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rot="10800000">
                <a:off x="3002280" y="6399211"/>
                <a:ext cx="960120" cy="167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>
                <a:off x="3002280" y="6324600"/>
                <a:ext cx="960120" cy="8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2999074" y="5867400"/>
              <a:ext cx="4299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endParaRPr lang="en-US" sz="2000" dirty="0"/>
            </a:p>
          </p:txBody>
        </p:sp>
      </p:grpSp>
      <p:grpSp>
        <p:nvGrpSpPr>
          <p:cNvPr id="31" name="Group 27"/>
          <p:cNvGrpSpPr/>
          <p:nvPr/>
        </p:nvGrpSpPr>
        <p:grpSpPr>
          <a:xfrm>
            <a:off x="3962400" y="3200400"/>
            <a:ext cx="685800" cy="400110"/>
            <a:chOff x="2819400" y="5867400"/>
            <a:chExt cx="685800" cy="400110"/>
          </a:xfrm>
        </p:grpSpPr>
        <p:grpSp>
          <p:nvGrpSpPr>
            <p:cNvPr id="32" name="Group 11"/>
            <p:cNvGrpSpPr/>
            <p:nvPr/>
          </p:nvGrpSpPr>
          <p:grpSpPr>
            <a:xfrm>
              <a:off x="2819400" y="6172117"/>
              <a:ext cx="685800" cy="76284"/>
              <a:chOff x="2895600" y="6324600"/>
              <a:chExt cx="1200150" cy="76284"/>
            </a:xfrm>
          </p:grpSpPr>
          <p:cxnSp>
            <p:nvCxnSpPr>
              <p:cNvPr id="34" name="Straight Arrow Connector 33"/>
              <p:cNvCxnSpPr/>
              <p:nvPr/>
            </p:nvCxnSpPr>
            <p:spPr>
              <a:xfrm rot="10800000">
                <a:off x="2895600" y="6399211"/>
                <a:ext cx="1200150" cy="167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2895600" y="6324600"/>
                <a:ext cx="1200150" cy="8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/>
            <p:cNvSpPr txBox="1"/>
            <p:nvPr/>
          </p:nvSpPr>
          <p:spPr>
            <a:xfrm>
              <a:off x="2971800" y="5867400"/>
              <a:ext cx="4299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endParaRPr lang="en-US" sz="2000" dirty="0"/>
            </a:p>
          </p:txBody>
        </p:sp>
      </p:grpSp>
      <p:grpSp>
        <p:nvGrpSpPr>
          <p:cNvPr id="36" name="Group 27"/>
          <p:cNvGrpSpPr/>
          <p:nvPr/>
        </p:nvGrpSpPr>
        <p:grpSpPr>
          <a:xfrm>
            <a:off x="5791200" y="3810000"/>
            <a:ext cx="685800" cy="400110"/>
            <a:chOff x="2819400" y="5867400"/>
            <a:chExt cx="685800" cy="400110"/>
          </a:xfrm>
        </p:grpSpPr>
        <p:grpSp>
          <p:nvGrpSpPr>
            <p:cNvPr id="37" name="Group 11"/>
            <p:cNvGrpSpPr/>
            <p:nvPr/>
          </p:nvGrpSpPr>
          <p:grpSpPr>
            <a:xfrm>
              <a:off x="2819400" y="6172117"/>
              <a:ext cx="685800" cy="76284"/>
              <a:chOff x="2895600" y="6324600"/>
              <a:chExt cx="1200150" cy="76284"/>
            </a:xfrm>
          </p:grpSpPr>
          <p:cxnSp>
            <p:nvCxnSpPr>
              <p:cNvPr id="39" name="Straight Arrow Connector 38"/>
              <p:cNvCxnSpPr/>
              <p:nvPr/>
            </p:nvCxnSpPr>
            <p:spPr>
              <a:xfrm rot="10800000">
                <a:off x="2895600" y="6399211"/>
                <a:ext cx="1200150" cy="167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2895600" y="6324600"/>
                <a:ext cx="1200150" cy="8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2971800" y="5867400"/>
              <a:ext cx="4299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endParaRPr lang="en-US" sz="2000" dirty="0"/>
            </a:p>
          </p:txBody>
        </p:sp>
      </p:grpSp>
      <p:grpSp>
        <p:nvGrpSpPr>
          <p:cNvPr id="41" name="Group 27"/>
          <p:cNvGrpSpPr/>
          <p:nvPr/>
        </p:nvGrpSpPr>
        <p:grpSpPr>
          <a:xfrm>
            <a:off x="4267200" y="4400490"/>
            <a:ext cx="685800" cy="400110"/>
            <a:chOff x="2819400" y="5867400"/>
            <a:chExt cx="685800" cy="400110"/>
          </a:xfrm>
        </p:grpSpPr>
        <p:grpSp>
          <p:nvGrpSpPr>
            <p:cNvPr id="42" name="Group 11"/>
            <p:cNvGrpSpPr/>
            <p:nvPr/>
          </p:nvGrpSpPr>
          <p:grpSpPr>
            <a:xfrm>
              <a:off x="2819400" y="6172117"/>
              <a:ext cx="685800" cy="76284"/>
              <a:chOff x="2895600" y="6324600"/>
              <a:chExt cx="1200150" cy="76284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rot="10800000">
                <a:off x="2895600" y="6399211"/>
                <a:ext cx="1200150" cy="167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2895600" y="6324600"/>
                <a:ext cx="1200150" cy="8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/>
            <p:cNvSpPr txBox="1"/>
            <p:nvPr/>
          </p:nvSpPr>
          <p:spPr>
            <a:xfrm>
              <a:off x="2971800" y="5867400"/>
              <a:ext cx="4299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endParaRPr lang="en-US" sz="2000" dirty="0"/>
            </a:p>
          </p:txBody>
        </p:sp>
      </p:grpSp>
      <p:grpSp>
        <p:nvGrpSpPr>
          <p:cNvPr id="46" name="Group 27"/>
          <p:cNvGrpSpPr/>
          <p:nvPr/>
        </p:nvGrpSpPr>
        <p:grpSpPr>
          <a:xfrm>
            <a:off x="5410200" y="5086290"/>
            <a:ext cx="685800" cy="400110"/>
            <a:chOff x="2819400" y="5867400"/>
            <a:chExt cx="685800" cy="400110"/>
          </a:xfrm>
        </p:grpSpPr>
        <p:grpSp>
          <p:nvGrpSpPr>
            <p:cNvPr id="47" name="Group 11"/>
            <p:cNvGrpSpPr/>
            <p:nvPr/>
          </p:nvGrpSpPr>
          <p:grpSpPr>
            <a:xfrm>
              <a:off x="2819400" y="6172117"/>
              <a:ext cx="685800" cy="76284"/>
              <a:chOff x="2895600" y="6324600"/>
              <a:chExt cx="1200150" cy="76284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 rot="10800000">
                <a:off x="2895600" y="6399211"/>
                <a:ext cx="1200150" cy="167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>
                <a:off x="2895600" y="6324600"/>
                <a:ext cx="1200150" cy="83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2971800" y="5867400"/>
              <a:ext cx="4299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32b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反应</a:t>
            </a:r>
            <a:r>
              <a:rPr lang="en-US" altLang="zh-CN" sz="2800" dirty="0"/>
              <a:t>					</a:t>
            </a:r>
            <a:r>
              <a:rPr lang="zh-CN" altLang="en-US" sz="2800" dirty="0"/>
              <a:t>反应类型</a:t>
            </a:r>
            <a:r>
              <a:rPr lang="en-MY" altLang="zh-CN" sz="2800" dirty="0"/>
              <a:t>		</a:t>
            </a:r>
            <a:r>
              <a:rPr lang="zh-CN" altLang="en-US" sz="2800" dirty="0"/>
              <a:t>断键</a:t>
            </a:r>
            <a:endParaRPr lang="en-US" altLang="zh-CN" sz="28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/>
              <a:t>乙醇被催化氧化为乙醛</a:t>
            </a:r>
            <a:r>
              <a:rPr lang="en-MY" altLang="zh-CN" sz="2800" dirty="0"/>
              <a:t>		</a:t>
            </a:r>
            <a:r>
              <a:rPr lang="zh-CN" altLang="en-US" sz="2800" dirty="0"/>
              <a:t>氧化反应</a:t>
            </a:r>
            <a:r>
              <a:rPr lang="en-MY" altLang="zh-CN" sz="2800" dirty="0"/>
              <a:t>		</a:t>
            </a:r>
            <a:r>
              <a:rPr lang="en-US" altLang="zh-CN" sz="2800" dirty="0"/>
              <a:t>c</a:t>
            </a:r>
            <a:r>
              <a:rPr lang="zh-CN" altLang="en-US" sz="2800" dirty="0"/>
              <a:t>和</a:t>
            </a:r>
            <a:r>
              <a:rPr lang="en-US" altLang="zh-CN" sz="2800" dirty="0"/>
              <a:t>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/>
              <a:t>乙醇分子内脱水生成乙烯 </a:t>
            </a:r>
            <a:r>
              <a:rPr lang="en-MY" altLang="zh-CN" sz="2800" dirty="0"/>
              <a:t>	</a:t>
            </a:r>
            <a:r>
              <a:rPr lang="zh-CN" altLang="en-US" sz="2800" dirty="0"/>
              <a:t>消去反应</a:t>
            </a:r>
            <a:r>
              <a:rPr lang="en-MY" altLang="zh-CN" sz="2800" dirty="0"/>
              <a:t>		</a:t>
            </a:r>
            <a:r>
              <a:rPr lang="en-US" altLang="zh-CN" sz="2800" dirty="0"/>
              <a:t>d</a:t>
            </a:r>
            <a:r>
              <a:rPr lang="zh-CN" altLang="en-US" sz="2800" dirty="0"/>
              <a:t>和</a:t>
            </a:r>
            <a:r>
              <a:rPr lang="en-US" altLang="zh-CN" sz="2800" dirty="0"/>
              <a:t>a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/>
              <a:t>乙醇分子间脱水生成乙醚</a:t>
            </a:r>
            <a:r>
              <a:rPr lang="en-MY" altLang="zh-CN" sz="2800" dirty="0"/>
              <a:t>	</a:t>
            </a:r>
            <a:r>
              <a:rPr lang="zh-CN" altLang="en-US" sz="2800" dirty="0"/>
              <a:t>取代反应</a:t>
            </a:r>
            <a:r>
              <a:rPr lang="en-MY" altLang="zh-CN" sz="2800" dirty="0"/>
              <a:t>		d</a:t>
            </a:r>
            <a:r>
              <a:rPr lang="zh-CN" altLang="en-US" sz="2800" dirty="0"/>
              <a:t>或</a:t>
            </a:r>
            <a:r>
              <a:rPr lang="en-US" altLang="zh-CN" sz="2800" dirty="0"/>
              <a:t>e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乙醇与金属钠反应生成乙醇钠和氢气</a:t>
            </a:r>
            <a:endParaRPr lang="en-MY" altLang="zh-CN" sz="2800" dirty="0"/>
          </a:p>
          <a:p>
            <a:pPr>
              <a:spcBef>
                <a:spcPts val="1200"/>
              </a:spcBef>
              <a:buNone/>
            </a:pPr>
            <a:r>
              <a:rPr lang="en-MY" altLang="zh-CN" sz="2800" dirty="0"/>
              <a:t>						</a:t>
            </a:r>
            <a:r>
              <a:rPr lang="zh-CN" altLang="en-US" sz="2800" dirty="0"/>
              <a:t>取代反应</a:t>
            </a:r>
            <a:r>
              <a:rPr lang="en-MY" altLang="zh-CN" sz="2800" dirty="0"/>
              <a:t>		</a:t>
            </a:r>
            <a:r>
              <a:rPr lang="en-US" altLang="zh-CN" sz="2800" dirty="0"/>
              <a:t>e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乙醇与氢卤酸反应生成卤乙烷和水</a:t>
            </a:r>
            <a:endParaRPr lang="en-MY" altLang="zh-CN" sz="2800" dirty="0"/>
          </a:p>
          <a:p>
            <a:pPr>
              <a:spcBef>
                <a:spcPts val="1200"/>
              </a:spcBef>
              <a:buNone/>
            </a:pPr>
            <a:r>
              <a:rPr lang="en-MY" altLang="zh-CN" sz="2800" dirty="0"/>
              <a:t>						</a:t>
            </a:r>
            <a:r>
              <a:rPr lang="zh-CN" altLang="en-US" sz="2800" dirty="0"/>
              <a:t>取代反应</a:t>
            </a:r>
            <a:r>
              <a:rPr lang="en-MY" altLang="zh-CN" sz="2800" dirty="0"/>
              <a:t>		</a:t>
            </a:r>
            <a:r>
              <a:rPr lang="en-US" altLang="zh-CN" sz="2800" dirty="0"/>
              <a:t>d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乙醇与卤化磷反应</a:t>
            </a:r>
            <a:r>
              <a:rPr lang="en-MY" altLang="zh-CN" sz="2800" dirty="0"/>
              <a:t>		</a:t>
            </a:r>
            <a:r>
              <a:rPr lang="zh-CN" altLang="en-US" sz="2800" dirty="0"/>
              <a:t>取代反应</a:t>
            </a:r>
            <a:r>
              <a:rPr lang="en-MY" altLang="zh-CN" sz="2800" dirty="0"/>
              <a:t>		</a:t>
            </a:r>
            <a:r>
              <a:rPr lang="en-US" altLang="zh-CN" sz="28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32.1.4 </a:t>
            </a:r>
            <a:r>
              <a:rPr lang="zh-CN" altLang="en-US" sz="4000" b="1" dirty="0">
                <a:latin typeface="+mn-ea"/>
              </a:rPr>
              <a:t>醇的制法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方法一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发酵：由于微生物或酶的催化而使淀粉、糖类转化为乙醇的过程。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淀粉 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麦芽糖 </a:t>
            </a:r>
            <a:r>
              <a:rPr lang="en-US" altLang="zh-CN" sz="3000" dirty="0">
                <a:sym typeface="Wingdings" pitchFamily="2" charset="2"/>
              </a:rPr>
              <a:t>  </a:t>
            </a:r>
            <a:r>
              <a:rPr lang="zh-CN" altLang="en-US" sz="3000" dirty="0">
                <a:sym typeface="Wingdings" pitchFamily="2" charset="2"/>
              </a:rPr>
              <a:t>葡萄糖 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乙醇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发酵酒所得的酒精纯度不高。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将发酵酒蒸馏可提高酒精纯度。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32.1.4 </a:t>
            </a:r>
            <a:r>
              <a:rPr lang="zh-CN" altLang="en-US" sz="4000" b="1" dirty="0">
                <a:latin typeface="+mn-ea"/>
              </a:rPr>
              <a:t>醇的制法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方法二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工业制取法：乙烯加水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</a:t>
            </a:r>
            <a:r>
              <a:rPr lang="zh-CN" altLang="en-US" sz="3000" dirty="0"/>
              <a:t>烯烃</a:t>
            </a:r>
            <a:r>
              <a:rPr lang="en-US" altLang="zh-CN" sz="3000" dirty="0"/>
              <a:t>+ </a:t>
            </a:r>
            <a:r>
              <a:rPr lang="zh-CN" altLang="en-US" sz="3000" dirty="0"/>
              <a:t>水 </a:t>
            </a:r>
            <a:r>
              <a:rPr lang="en-US" altLang="zh-CN" sz="3000" dirty="0"/>
              <a:t>	</a:t>
            </a:r>
            <a:r>
              <a:rPr lang="en-US" altLang="zh-CN" sz="3000" dirty="0">
                <a:sym typeface="Wingdings" pitchFamily="2" charset="2"/>
              </a:rPr>
              <a:t>	 </a:t>
            </a:r>
            <a:r>
              <a:rPr lang="zh-CN" altLang="en-US" sz="3000" dirty="0">
                <a:sym typeface="Wingdings" pitchFamily="2" charset="2"/>
              </a:rPr>
              <a:t>醇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=CH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		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方法三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实验室制法：卤代烷水解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R-X </a:t>
            </a:r>
            <a:r>
              <a:rPr lang="zh-CN" altLang="en-US" sz="3000" dirty="0"/>
              <a:t> </a:t>
            </a:r>
            <a:r>
              <a:rPr lang="en-US" altLang="zh-CN" sz="3000" dirty="0"/>
              <a:t>+ NaOH </a:t>
            </a:r>
            <a:r>
              <a:rPr lang="en-US" altLang="zh-CN" sz="3000" dirty="0">
                <a:sym typeface="Wingdings" pitchFamily="2" charset="2"/>
              </a:rPr>
              <a:t>	 R-OH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en-US" altLang="zh-CN" sz="3000" dirty="0" err="1">
                <a:sym typeface="Wingdings" pitchFamily="2" charset="2"/>
              </a:rPr>
              <a:t>NaX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CH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Br + NaOH  	  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 + </a:t>
            </a:r>
            <a:r>
              <a:rPr lang="en-US" altLang="zh-CN" sz="3000" dirty="0" err="1">
                <a:sym typeface="Wingdings" pitchFamily="2" charset="2"/>
              </a:rPr>
              <a:t>NaBr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8" name="Group 10"/>
          <p:cNvGrpSpPr/>
          <p:nvPr/>
        </p:nvGrpSpPr>
        <p:grpSpPr>
          <a:xfrm>
            <a:off x="2819400" y="2140803"/>
            <a:ext cx="1752600" cy="830997"/>
            <a:chOff x="2416016" y="2515850"/>
            <a:chExt cx="1752600" cy="830997"/>
          </a:xfrm>
        </p:grpSpPr>
        <p:cxnSp>
          <p:nvCxnSpPr>
            <p:cNvPr id="10" name="直接箭头连接符 1"/>
            <p:cNvCxnSpPr/>
            <p:nvPr/>
          </p:nvCxnSpPr>
          <p:spPr>
            <a:xfrm>
              <a:off x="2492216" y="2839720"/>
              <a:ext cx="1188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5"/>
            <p:cNvSpPr txBox="1"/>
            <p:nvPr/>
          </p:nvSpPr>
          <p:spPr>
            <a:xfrm>
              <a:off x="2416016" y="2515850"/>
              <a:ext cx="1752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  催化剂</a:t>
              </a:r>
              <a:endParaRPr lang="en-MY" altLang="zh-CN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  <a:p>
              <a:r>
                <a:rPr lang="zh-CN" altLang="en-US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加热、加压</a:t>
              </a:r>
              <a:endParaRPr lang="en-MY" altLang="zh-CN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  <a:p>
              <a:endParaRPr lang="en-US" altLang="zh-CN" baseline="-25000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</p:txBody>
        </p:sp>
      </p:grpSp>
      <p:grpSp>
        <p:nvGrpSpPr>
          <p:cNvPr id="19" name="Group 10">
            <a:extLst>
              <a:ext uri="{FF2B5EF4-FFF2-40B4-BE49-F238E27FC236}">
                <a16:creationId xmlns:a16="http://schemas.microsoft.com/office/drawing/2014/main" id="{1A0E3215-80AB-4C24-B268-2D48AA118788}"/>
              </a:ext>
            </a:extLst>
          </p:cNvPr>
          <p:cNvGrpSpPr/>
          <p:nvPr/>
        </p:nvGrpSpPr>
        <p:grpSpPr>
          <a:xfrm>
            <a:off x="2895600" y="2750403"/>
            <a:ext cx="1752600" cy="830997"/>
            <a:chOff x="2416016" y="2515850"/>
            <a:chExt cx="1752600" cy="830997"/>
          </a:xfrm>
        </p:grpSpPr>
        <p:cxnSp>
          <p:nvCxnSpPr>
            <p:cNvPr id="20" name="直接箭头连接符 1">
              <a:extLst>
                <a:ext uri="{FF2B5EF4-FFF2-40B4-BE49-F238E27FC236}">
                  <a16:creationId xmlns:a16="http://schemas.microsoft.com/office/drawing/2014/main" id="{F2919EBF-5AC3-48B2-955D-A8DF7B6A2272}"/>
                </a:ext>
              </a:extLst>
            </p:cNvPr>
            <p:cNvCxnSpPr/>
            <p:nvPr/>
          </p:nvCxnSpPr>
          <p:spPr>
            <a:xfrm>
              <a:off x="2492216" y="2839720"/>
              <a:ext cx="1188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5">
              <a:extLst>
                <a:ext uri="{FF2B5EF4-FFF2-40B4-BE49-F238E27FC236}">
                  <a16:creationId xmlns:a16="http://schemas.microsoft.com/office/drawing/2014/main" id="{6E3443A1-3769-48FA-8C34-6BAF8D66D548}"/>
                </a:ext>
              </a:extLst>
            </p:cNvPr>
            <p:cNvSpPr txBox="1"/>
            <p:nvPr/>
          </p:nvSpPr>
          <p:spPr>
            <a:xfrm>
              <a:off x="2416016" y="2515850"/>
              <a:ext cx="1752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  催化剂</a:t>
              </a:r>
              <a:endParaRPr lang="en-MY" altLang="zh-CN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  <a:p>
              <a:r>
                <a:rPr lang="zh-CN" altLang="en-US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加热、加压</a:t>
              </a:r>
              <a:endParaRPr lang="en-MY" altLang="zh-CN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  <a:p>
              <a:endParaRPr lang="en-US" altLang="zh-CN" baseline="-25000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3BF976-B5A2-44F7-9AB2-1EDD9937D511}"/>
              </a:ext>
            </a:extLst>
          </p:cNvPr>
          <p:cNvGrpSpPr/>
          <p:nvPr/>
        </p:nvGrpSpPr>
        <p:grpSpPr>
          <a:xfrm>
            <a:off x="3404091" y="4559117"/>
            <a:ext cx="583217" cy="707152"/>
            <a:chOff x="2720816" y="2487295"/>
            <a:chExt cx="684000" cy="707152"/>
          </a:xfrm>
        </p:grpSpPr>
        <p:grpSp>
          <p:nvGrpSpPr>
            <p:cNvPr id="23" name="Group 10">
              <a:extLst>
                <a:ext uri="{FF2B5EF4-FFF2-40B4-BE49-F238E27FC236}">
                  <a16:creationId xmlns:a16="http://schemas.microsoft.com/office/drawing/2014/main" id="{F03EE5E3-7F2E-4273-B107-DAE02E2ED509}"/>
                </a:ext>
              </a:extLst>
            </p:cNvPr>
            <p:cNvGrpSpPr/>
            <p:nvPr/>
          </p:nvGrpSpPr>
          <p:grpSpPr>
            <a:xfrm>
              <a:off x="2720816" y="2487295"/>
              <a:ext cx="684000" cy="707152"/>
              <a:chOff x="2720816" y="2487295"/>
              <a:chExt cx="684000" cy="707152"/>
            </a:xfrm>
          </p:grpSpPr>
          <p:cxnSp>
            <p:nvCxnSpPr>
              <p:cNvPr id="25" name="直接箭头连接符 1">
                <a:extLst>
                  <a:ext uri="{FF2B5EF4-FFF2-40B4-BE49-F238E27FC236}">
                    <a16:creationId xmlns:a16="http://schemas.microsoft.com/office/drawing/2014/main" id="{C6DA8109-43D3-443C-ACC2-4C414B7C25E5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文本框 5">
                <a:extLst>
                  <a:ext uri="{FF2B5EF4-FFF2-40B4-BE49-F238E27FC236}">
                    <a16:creationId xmlns:a16="http://schemas.microsoft.com/office/drawing/2014/main" id="{F6CBCA2C-0325-42BC-B7B3-2DFAD6D69A98}"/>
                  </a:ext>
                </a:extLst>
              </p:cNvPr>
              <p:cNvSpPr txBox="1"/>
              <p:nvPr/>
            </p:nvSpPr>
            <p:spPr>
              <a:xfrm>
                <a:off x="2873216" y="2487295"/>
                <a:ext cx="396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水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7" name="文本框 6">
                <a:extLst>
                  <a:ext uri="{FF2B5EF4-FFF2-40B4-BE49-F238E27FC236}">
                    <a16:creationId xmlns:a16="http://schemas.microsoft.com/office/drawing/2014/main" id="{9E1EE229-25E0-48BD-A735-D41291B34ABA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0C4B84AB-79C7-42CD-B730-FD35F1C2E440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148C4D-2F86-4E30-9A5A-A6E00AC6CF27}"/>
              </a:ext>
            </a:extLst>
          </p:cNvPr>
          <p:cNvGrpSpPr/>
          <p:nvPr/>
        </p:nvGrpSpPr>
        <p:grpSpPr>
          <a:xfrm>
            <a:off x="3656405" y="5160248"/>
            <a:ext cx="583217" cy="707152"/>
            <a:chOff x="2720816" y="2487295"/>
            <a:chExt cx="684000" cy="707152"/>
          </a:xfrm>
        </p:grpSpPr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318BB7C1-8E2C-41E0-8DB2-D11FC6FF1F34}"/>
                </a:ext>
              </a:extLst>
            </p:cNvPr>
            <p:cNvGrpSpPr/>
            <p:nvPr/>
          </p:nvGrpSpPr>
          <p:grpSpPr>
            <a:xfrm>
              <a:off x="2720816" y="2487295"/>
              <a:ext cx="684000" cy="707152"/>
              <a:chOff x="2720816" y="2487295"/>
              <a:chExt cx="684000" cy="707152"/>
            </a:xfrm>
          </p:grpSpPr>
          <p:cxnSp>
            <p:nvCxnSpPr>
              <p:cNvPr id="31" name="直接箭头连接符 1">
                <a:extLst>
                  <a:ext uri="{FF2B5EF4-FFF2-40B4-BE49-F238E27FC236}">
                    <a16:creationId xmlns:a16="http://schemas.microsoft.com/office/drawing/2014/main" id="{791DB8F4-C867-4344-AC14-90EB70B0E89C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文本框 5">
                <a:extLst>
                  <a:ext uri="{FF2B5EF4-FFF2-40B4-BE49-F238E27FC236}">
                    <a16:creationId xmlns:a16="http://schemas.microsoft.com/office/drawing/2014/main" id="{E32FEE63-BFD0-408D-B768-5AD4C1461DB1}"/>
                  </a:ext>
                </a:extLst>
              </p:cNvPr>
              <p:cNvSpPr txBox="1"/>
              <p:nvPr/>
            </p:nvSpPr>
            <p:spPr>
              <a:xfrm>
                <a:off x="2873216" y="2487295"/>
                <a:ext cx="396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水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33" name="文本框 6">
                <a:extLst>
                  <a:ext uri="{FF2B5EF4-FFF2-40B4-BE49-F238E27FC236}">
                    <a16:creationId xmlns:a16="http://schemas.microsoft.com/office/drawing/2014/main" id="{282FA797-07AD-4469-AA01-FFAF63E8380F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610008BF-E235-4BB2-B1F1-A71B5F5EDD24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32c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MY" altLang="zh-CN" sz="3000" dirty="0">
                <a:sym typeface="Wingdings" pitchFamily="2" charset="2"/>
              </a:rPr>
              <a:t>(1)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=CH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		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CH(OH)CH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(2)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CH(Br)CH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+ NaOH  	 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CH(OH)CH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en-US" altLang="zh-CN" sz="3000" dirty="0" err="1">
                <a:sym typeface="Wingdings" pitchFamily="2" charset="2"/>
              </a:rPr>
              <a:t>NaBr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8" name="Group 10"/>
          <p:cNvGrpSpPr/>
          <p:nvPr/>
        </p:nvGrpSpPr>
        <p:grpSpPr>
          <a:xfrm>
            <a:off x="3886200" y="1524000"/>
            <a:ext cx="1752600" cy="830997"/>
            <a:chOff x="2416016" y="2515850"/>
            <a:chExt cx="1752600" cy="830997"/>
          </a:xfrm>
        </p:grpSpPr>
        <p:cxnSp>
          <p:nvCxnSpPr>
            <p:cNvPr id="10" name="直接箭头连接符 1"/>
            <p:cNvCxnSpPr/>
            <p:nvPr/>
          </p:nvCxnSpPr>
          <p:spPr>
            <a:xfrm>
              <a:off x="2492216" y="2839720"/>
              <a:ext cx="1188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5"/>
            <p:cNvSpPr txBox="1"/>
            <p:nvPr/>
          </p:nvSpPr>
          <p:spPr>
            <a:xfrm>
              <a:off x="2416016" y="2515850"/>
              <a:ext cx="1752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  催化剂</a:t>
              </a:r>
              <a:endParaRPr lang="en-MY" altLang="zh-CN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  <a:p>
              <a:r>
                <a:rPr lang="zh-CN" altLang="en-US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加热、加压</a:t>
              </a:r>
              <a:endParaRPr lang="en-MY" altLang="zh-CN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  <a:p>
              <a:endParaRPr lang="en-US" altLang="zh-CN" baseline="-25000" dirty="0">
                <a:ln w="10160">
                  <a:solidFill>
                    <a:schemeClr val="tx1"/>
                  </a:solidFill>
                  <a:prstDash val="solid"/>
                </a:ln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9B1888-68C4-415B-8C1E-B3A5FA709C6C}"/>
              </a:ext>
            </a:extLst>
          </p:cNvPr>
          <p:cNvGrpSpPr/>
          <p:nvPr/>
        </p:nvGrpSpPr>
        <p:grpSpPr>
          <a:xfrm>
            <a:off x="4522183" y="2743200"/>
            <a:ext cx="583217" cy="707152"/>
            <a:chOff x="2720816" y="2487295"/>
            <a:chExt cx="684000" cy="70715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54073086-C0F1-42E2-BBB7-92070E751346}"/>
                </a:ext>
              </a:extLst>
            </p:cNvPr>
            <p:cNvGrpSpPr/>
            <p:nvPr/>
          </p:nvGrpSpPr>
          <p:grpSpPr>
            <a:xfrm>
              <a:off x="2720816" y="2487295"/>
              <a:ext cx="684000" cy="707152"/>
              <a:chOff x="2720816" y="2487295"/>
              <a:chExt cx="684000" cy="707152"/>
            </a:xfrm>
          </p:grpSpPr>
          <p:cxnSp>
            <p:nvCxnSpPr>
              <p:cNvPr id="15" name="直接箭头连接符 1">
                <a:extLst>
                  <a:ext uri="{FF2B5EF4-FFF2-40B4-BE49-F238E27FC236}">
                    <a16:creationId xmlns:a16="http://schemas.microsoft.com/office/drawing/2014/main" id="{35E0CAD2-C65F-417E-ABDC-C58B5EDA80DC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文本框 5">
                <a:extLst>
                  <a:ext uri="{FF2B5EF4-FFF2-40B4-BE49-F238E27FC236}">
                    <a16:creationId xmlns:a16="http://schemas.microsoft.com/office/drawing/2014/main" id="{368D8B63-AF80-43AC-916E-0F5E5DC076A3}"/>
                  </a:ext>
                </a:extLst>
              </p:cNvPr>
              <p:cNvSpPr txBox="1"/>
              <p:nvPr/>
            </p:nvSpPr>
            <p:spPr>
              <a:xfrm>
                <a:off x="2873216" y="2487295"/>
                <a:ext cx="396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水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7" name="文本框 6">
                <a:extLst>
                  <a:ext uri="{FF2B5EF4-FFF2-40B4-BE49-F238E27FC236}">
                    <a16:creationId xmlns:a16="http://schemas.microsoft.com/office/drawing/2014/main" id="{98EF1624-02B2-41B9-8508-48782DF20A68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36242DA8-94F0-449C-8D3C-BFB0B3E97657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7730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32.1.5 </a:t>
            </a:r>
            <a:r>
              <a:rPr lang="zh-CN" altLang="en-US" sz="4000" b="1" dirty="0">
                <a:latin typeface="+mn-ea"/>
              </a:rPr>
              <a:t>几种重要的醇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甲醇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无色液体，具有类似酒精的气味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沸点</a:t>
            </a:r>
            <a:r>
              <a:rPr lang="en-US" altLang="zh-CN" sz="3000" dirty="0"/>
              <a:t>64.5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溶解度无限大，能与水分子形成氢键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有毒，</a:t>
            </a:r>
            <a:r>
              <a:rPr lang="en-US" altLang="zh-CN" sz="3000" dirty="0"/>
              <a:t>10mL</a:t>
            </a:r>
            <a:r>
              <a:rPr lang="zh-CN" altLang="en-US" sz="3000" dirty="0"/>
              <a:t>失明，再多死亡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用途：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生产甲醛</a:t>
            </a:r>
            <a:r>
              <a:rPr lang="zh-CN" altLang="en-US" sz="3000" dirty="0"/>
              <a:t>、羧酸甲酯、合成药物、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燃料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制取：</a:t>
            </a:r>
            <a:r>
              <a:rPr lang="en-US" altLang="zh-CN" sz="3000" dirty="0"/>
              <a:t>	CO + 2H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  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OH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7" name="Group 6"/>
          <p:cNvGrpSpPr/>
          <p:nvPr/>
        </p:nvGrpSpPr>
        <p:grpSpPr>
          <a:xfrm>
            <a:off x="3794452" y="4648200"/>
            <a:ext cx="1234748" cy="612577"/>
            <a:chOff x="2773372" y="5880279"/>
            <a:chExt cx="1234748" cy="6125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172117"/>
              <a:ext cx="11887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980045" y="6185079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催化剂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73372" y="5880279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高温、高压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32.1.5 </a:t>
            </a:r>
            <a:r>
              <a:rPr lang="zh-CN" altLang="en-US" sz="4000" b="1" dirty="0">
                <a:latin typeface="+mn-ea"/>
              </a:rPr>
              <a:t>几种重要的醇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乙醇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俗称“酒精”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无色液体，具有酒的气味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溶解度无限大，能与水分子形成氢键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用途：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燃料、溶剂</a:t>
            </a:r>
            <a:r>
              <a:rPr lang="zh-CN" altLang="en-US" sz="3000" dirty="0"/>
              <a:t>、生产羧酸甲酯等、食品工业、卫生酒精（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消毒</a:t>
            </a:r>
            <a:r>
              <a:rPr lang="zh-CN" altLang="en-US" sz="3000" dirty="0"/>
              <a:t>）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32.1.5 </a:t>
            </a:r>
            <a:r>
              <a:rPr lang="zh-CN" altLang="en-US" sz="4000" b="1" dirty="0">
                <a:latin typeface="+mn-ea"/>
              </a:rPr>
              <a:t>几种重要的醇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丙三醇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饱和三元醇，俗称“甘油”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无色粘稠液体、有甜味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沸点</a:t>
            </a:r>
            <a:r>
              <a:rPr lang="en-US" altLang="zh-CN" sz="3000" dirty="0"/>
              <a:t>290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溶解度无限大，能与水分子形成氢键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具有吸湿性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用途：生产涂料、炸药、湿润剂、软膏调配剂、皮肤润滑剂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制取：油脂水解、皂化反应的副产品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 </a:t>
            </a:r>
            <a:r>
              <a:rPr lang="zh-CN" altLang="en-US" sz="4000" b="1" dirty="0">
                <a:latin typeface="+mn-ea"/>
              </a:rPr>
              <a:t>酚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芳香醇：在芳香烃的侧链上含有羟基的衍生物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酚：羟基直接连在苯环的碳原子上的化合物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判断下列有机化合物是醇还是酚。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7" name="Picture 6" descr="121.jpg"/>
          <p:cNvPicPr>
            <a:picLocks noChangeAspect="1"/>
          </p:cNvPicPr>
          <p:nvPr/>
        </p:nvPicPr>
        <p:blipFill>
          <a:blip r:embed="rId3"/>
          <a:srcRect l="13931" t="17899" r="59473" b="62850"/>
          <a:stretch>
            <a:fillRect/>
          </a:stretch>
        </p:blipFill>
        <p:spPr>
          <a:xfrm>
            <a:off x="6324600" y="4191000"/>
            <a:ext cx="2667000" cy="1447800"/>
          </a:xfrm>
          <a:prstGeom prst="rect">
            <a:avLst/>
          </a:prstGeom>
        </p:spPr>
      </p:pic>
      <p:pic>
        <p:nvPicPr>
          <p:cNvPr id="6" name="Picture 5" descr="121.1.jpg"/>
          <p:cNvPicPr>
            <a:picLocks noChangeAspect="1"/>
          </p:cNvPicPr>
          <p:nvPr/>
        </p:nvPicPr>
        <p:blipFill>
          <a:blip r:embed="rId4"/>
          <a:srcRect l="60714" t="67608" r="17857" b="18620"/>
          <a:stretch>
            <a:fillRect/>
          </a:stretch>
        </p:blipFill>
        <p:spPr>
          <a:xfrm>
            <a:off x="76200" y="2743200"/>
            <a:ext cx="2809702" cy="990600"/>
          </a:xfrm>
          <a:prstGeom prst="rect">
            <a:avLst/>
          </a:prstGeom>
        </p:spPr>
      </p:pic>
      <p:pic>
        <p:nvPicPr>
          <p:cNvPr id="8" name="Picture 7" descr="121.1.jpg"/>
          <p:cNvPicPr>
            <a:picLocks noChangeAspect="1"/>
          </p:cNvPicPr>
          <p:nvPr/>
        </p:nvPicPr>
        <p:blipFill>
          <a:blip r:embed="rId4"/>
          <a:srcRect l="66209" t="32552" r="3571" b="51172"/>
          <a:stretch>
            <a:fillRect/>
          </a:stretch>
        </p:blipFill>
        <p:spPr>
          <a:xfrm>
            <a:off x="3124200" y="4326082"/>
            <a:ext cx="2895600" cy="1007918"/>
          </a:xfrm>
          <a:prstGeom prst="rect">
            <a:avLst/>
          </a:prstGeom>
        </p:spPr>
      </p:pic>
      <p:pic>
        <p:nvPicPr>
          <p:cNvPr id="9" name="Picture 8" descr="121.jpg"/>
          <p:cNvPicPr>
            <a:picLocks noChangeAspect="1"/>
          </p:cNvPicPr>
          <p:nvPr/>
        </p:nvPicPr>
        <p:blipFill>
          <a:blip r:embed="rId3"/>
          <a:srcRect l="15198" t="47281" r="60739" b="35833"/>
          <a:stretch>
            <a:fillRect/>
          </a:stretch>
        </p:blipFill>
        <p:spPr>
          <a:xfrm>
            <a:off x="533400" y="4287253"/>
            <a:ext cx="2133600" cy="1122947"/>
          </a:xfrm>
          <a:prstGeom prst="rect">
            <a:avLst/>
          </a:prstGeom>
        </p:spPr>
      </p:pic>
      <p:pic>
        <p:nvPicPr>
          <p:cNvPr id="10" name="Picture 9" descr="121.jpg"/>
          <p:cNvPicPr>
            <a:picLocks noChangeAspect="1"/>
          </p:cNvPicPr>
          <p:nvPr/>
        </p:nvPicPr>
        <p:blipFill>
          <a:blip r:embed="rId3"/>
          <a:srcRect l="50659" t="47281" r="24012" b="35833"/>
          <a:stretch>
            <a:fillRect/>
          </a:stretch>
        </p:blipFill>
        <p:spPr>
          <a:xfrm>
            <a:off x="6019800" y="2514600"/>
            <a:ext cx="2438400" cy="1219200"/>
          </a:xfrm>
          <a:prstGeom prst="rect">
            <a:avLst/>
          </a:prstGeom>
        </p:spPr>
      </p:pic>
      <p:pic>
        <p:nvPicPr>
          <p:cNvPr id="11" name="Picture 10" descr="121.jpg"/>
          <p:cNvPicPr>
            <a:picLocks noChangeAspect="1"/>
          </p:cNvPicPr>
          <p:nvPr/>
        </p:nvPicPr>
        <p:blipFill>
          <a:blip r:embed="rId3"/>
          <a:srcRect l="51925" t="19105" r="20213" b="62850"/>
          <a:stretch>
            <a:fillRect/>
          </a:stretch>
        </p:blipFill>
        <p:spPr>
          <a:xfrm>
            <a:off x="3048000" y="2667000"/>
            <a:ext cx="2667000" cy="1295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200" y="3657600"/>
            <a:ext cx="570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酚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0000" y="3657600"/>
            <a:ext cx="570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3713202"/>
            <a:ext cx="570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酚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5410200"/>
            <a:ext cx="570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86200" y="5410200"/>
            <a:ext cx="570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39000" y="5486400"/>
            <a:ext cx="5709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酚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 </a:t>
            </a:r>
            <a:r>
              <a:rPr lang="zh-CN" altLang="en-US" sz="4000" b="1" dirty="0">
                <a:latin typeface="+mn-ea"/>
              </a:rPr>
              <a:t>酚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苯酚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简称：酚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分子式：</a:t>
            </a:r>
            <a:r>
              <a:rPr lang="en-US" altLang="zh-CN" sz="3000" dirty="0"/>
              <a:t> 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O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结构简式：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OH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用途：制造电木、合成纤维、合成香料、燃料、农药、燃料等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有毒可用作防腐剂、消毒剂、杀菌和止痛的软膏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浓溶液具有强腐蚀性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21.1.jpg"/>
          <p:cNvPicPr>
            <a:picLocks noChangeAspect="1"/>
          </p:cNvPicPr>
          <p:nvPr/>
        </p:nvPicPr>
        <p:blipFill>
          <a:blip r:embed="rId3"/>
          <a:srcRect l="62428" t="68389" r="19143" b="20673"/>
          <a:stretch>
            <a:fillRect/>
          </a:stretch>
        </p:blipFill>
        <p:spPr>
          <a:xfrm>
            <a:off x="4495800" y="2286000"/>
            <a:ext cx="32766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 </a:t>
            </a:r>
            <a:r>
              <a:rPr lang="zh-CN" altLang="en-US" sz="4000" b="1" dirty="0">
                <a:latin typeface="+mn-ea"/>
              </a:rPr>
              <a:t>酚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苯酚的物理性质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纯净苯酚无色晶体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部分苯酚被氧气氧化呈粉红色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具有特殊气味，熔点</a:t>
            </a:r>
            <a:r>
              <a:rPr lang="en-US" altLang="zh-CN" sz="3000" dirty="0"/>
              <a:t>43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易溶于乙醇等有机溶剂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室温时可溶于水；温度高于</a:t>
            </a:r>
            <a:r>
              <a:rPr lang="en-US" altLang="zh-CN" sz="3000" dirty="0"/>
              <a:t>65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 C</a:t>
            </a:r>
            <a:r>
              <a:rPr lang="zh-CN" altLang="en-US" sz="3000" dirty="0"/>
              <a:t>时，可与水以任何比例互溶。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有毒，对皮肤有腐蚀性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苯酚溅到皮肤的处理：</a:t>
            </a:r>
            <a:r>
              <a:rPr lang="en-US" altLang="zh-CN" sz="3000" dirty="0"/>
              <a:t> </a:t>
            </a:r>
            <a:r>
              <a:rPr lang="zh-CN" altLang="en-US" sz="3000" dirty="0"/>
              <a:t>用酒精洗涤，再用水冲洗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</p:txBody>
      </p:sp>
      <p:pic>
        <p:nvPicPr>
          <p:cNvPr id="6" name="Picture 5" descr="121.1.jpg"/>
          <p:cNvPicPr>
            <a:picLocks noChangeAspect="1"/>
          </p:cNvPicPr>
          <p:nvPr/>
        </p:nvPicPr>
        <p:blipFill>
          <a:blip r:embed="rId3"/>
          <a:srcRect l="62428" t="68389" r="19143" b="20673"/>
          <a:stretch>
            <a:fillRect/>
          </a:stretch>
        </p:blipFill>
        <p:spPr>
          <a:xfrm>
            <a:off x="5029200" y="304800"/>
            <a:ext cx="32766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713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 </a:t>
            </a:r>
            <a:r>
              <a:rPr lang="zh-CN" altLang="en-US" sz="4000" b="1" dirty="0">
                <a:latin typeface="+mn-ea"/>
              </a:rPr>
              <a:t>酚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问题解决</a:t>
            </a:r>
            <a:endParaRPr lang="en-MY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 	A </a:t>
            </a:r>
            <a:r>
              <a:rPr lang="zh-CN" altLang="en-US" sz="3000" dirty="0"/>
              <a:t>醇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酚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C </a:t>
            </a:r>
            <a:r>
              <a:rPr lang="zh-CN" altLang="en-US" sz="3000" dirty="0"/>
              <a:t>醇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D </a:t>
            </a:r>
            <a:r>
              <a:rPr lang="zh-CN" altLang="en-US" sz="3000" dirty="0"/>
              <a:t>醇 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3159611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化学性质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受苯环影响使得羟基之</a:t>
            </a:r>
            <a:r>
              <a:rPr lang="en-US" altLang="zh-CN" sz="3000" dirty="0"/>
              <a:t>H</a:t>
            </a:r>
            <a:r>
              <a:rPr lang="zh-CN" altLang="en-US" sz="3000" dirty="0"/>
              <a:t>呈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极弱的酸性</a:t>
            </a:r>
            <a:r>
              <a:rPr lang="en-US" altLang="zh-CN" sz="3000" dirty="0"/>
              <a:t>(</a:t>
            </a:r>
            <a:r>
              <a:rPr lang="zh-CN" altLang="en-US" sz="3000" dirty="0"/>
              <a:t>能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解离出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可与活泼金属及碱反应</a:t>
            </a:r>
            <a:endParaRPr lang="en-US" altLang="zh-CN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俗称：</a:t>
            </a:r>
            <a:r>
              <a:rPr lang="zh-CN" altLang="en-US" b="1" dirty="0">
                <a:solidFill>
                  <a:srgbClr val="FF0000"/>
                </a:solidFill>
              </a:rPr>
              <a:t>石炭酸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600" dirty="0"/>
              <a:t>其极弱的酸性石蕊试纸都测不出</a:t>
            </a:r>
            <a:endParaRPr lang="en-US" altLang="zh-CN" sz="26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600" dirty="0"/>
              <a:t>酸性极弱，不能与碳酸盐反应</a:t>
            </a:r>
            <a:endParaRPr lang="en-US" altLang="zh-CN" sz="26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醇类</a:t>
            </a:r>
            <a:r>
              <a:rPr lang="zh-CN" altLang="en-US" sz="2600" dirty="0"/>
              <a:t>的羟基很难电离出</a:t>
            </a:r>
            <a:r>
              <a:rPr lang="en-US" altLang="zh-CN" sz="2600" dirty="0"/>
              <a:t>H</a:t>
            </a:r>
            <a:r>
              <a:rPr lang="en-US" altLang="zh-CN" sz="2600" baseline="30000" dirty="0"/>
              <a:t>+</a:t>
            </a:r>
            <a:r>
              <a:rPr lang="en-US" altLang="zh-CN" sz="2600" dirty="0"/>
              <a:t> </a:t>
            </a:r>
            <a:r>
              <a:rPr lang="zh-CN" altLang="en-US" sz="2600" dirty="0"/>
              <a:t>，不能和碱起中和反应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受羟基影响使得苯环上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邻、对位的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活泼，易被取代</a:t>
            </a:r>
            <a:endParaRPr lang="en-MY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增加了苯环上</a:t>
            </a:r>
            <a:r>
              <a:rPr lang="en-US" altLang="zh-CN" sz="2800" dirty="0"/>
              <a:t>C</a:t>
            </a:r>
            <a:r>
              <a:rPr lang="zh-CN" altLang="en-US" sz="2800" dirty="0"/>
              <a:t>与</a:t>
            </a:r>
            <a:r>
              <a:rPr lang="en-US" altLang="zh-CN" sz="2800" dirty="0"/>
              <a:t>O</a:t>
            </a:r>
            <a:r>
              <a:rPr lang="zh-CN" altLang="en-US" sz="2800" dirty="0"/>
              <a:t>之间的引力，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导致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C-O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键不易断裂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sp>
        <p:nvSpPr>
          <p:cNvPr id="6" name="TextBox 5"/>
          <p:cNvSpPr txBox="1"/>
          <p:nvPr/>
        </p:nvSpPr>
        <p:spPr>
          <a:xfrm>
            <a:off x="5638800" y="2133600"/>
            <a:ext cx="2606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</a:rPr>
              <a:t>Ka=1.29x10</a:t>
            </a:r>
            <a:r>
              <a:rPr lang="en-US" altLang="zh-CN" sz="3200" b="1" baseline="30000" dirty="0">
                <a:solidFill>
                  <a:srgbClr val="7030A0"/>
                </a:solidFill>
              </a:rPr>
              <a:t>-10</a:t>
            </a:r>
            <a:r>
              <a:rPr lang="en-US" altLang="zh-CN" sz="3200" b="1" dirty="0">
                <a:solidFill>
                  <a:srgbClr val="7030A0"/>
                </a:solidFill>
              </a:rPr>
              <a:t> </a:t>
            </a:r>
            <a:endParaRPr lang="en-US" sz="30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5176" y="990600"/>
            <a:ext cx="6673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酸性：苯磺酸</a:t>
            </a:r>
            <a:r>
              <a:rPr lang="en-US" altLang="zh-CN" sz="2800" b="1" dirty="0">
                <a:solidFill>
                  <a:srgbClr val="7030A0"/>
                </a:solidFill>
              </a:rPr>
              <a:t>&gt;</a:t>
            </a:r>
            <a:r>
              <a:rPr lang="zh-CN" altLang="en-US" sz="2800" b="1" dirty="0">
                <a:solidFill>
                  <a:srgbClr val="7030A0"/>
                </a:solidFill>
              </a:rPr>
              <a:t>苯甲酸</a:t>
            </a:r>
            <a:r>
              <a:rPr lang="en-US" altLang="zh-CN" sz="2800" b="1" dirty="0">
                <a:solidFill>
                  <a:srgbClr val="7030A0"/>
                </a:solidFill>
              </a:rPr>
              <a:t>&gt;</a:t>
            </a:r>
            <a:r>
              <a:rPr lang="zh-CN" altLang="en-US" sz="2800" b="1" dirty="0">
                <a:solidFill>
                  <a:srgbClr val="7030A0"/>
                </a:solidFill>
              </a:rPr>
              <a:t>醋酸</a:t>
            </a:r>
            <a:r>
              <a:rPr lang="en-US" altLang="zh-CN" sz="2800" b="1" dirty="0">
                <a:solidFill>
                  <a:srgbClr val="7030A0"/>
                </a:solidFill>
              </a:rPr>
              <a:t>&gt;</a:t>
            </a:r>
            <a:r>
              <a:rPr lang="zh-CN" altLang="en-US" sz="2800" b="1" dirty="0">
                <a:solidFill>
                  <a:srgbClr val="7030A0"/>
                </a:solidFill>
              </a:rPr>
              <a:t>碳酸</a:t>
            </a:r>
            <a:r>
              <a:rPr lang="en-US" altLang="zh-CN" sz="2800" b="1" dirty="0">
                <a:solidFill>
                  <a:srgbClr val="7030A0"/>
                </a:solidFill>
              </a:rPr>
              <a:t>&gt;</a:t>
            </a:r>
            <a:r>
              <a:rPr lang="zh-CN" altLang="en-US" sz="2800" b="1" dirty="0">
                <a:solidFill>
                  <a:srgbClr val="7030A0"/>
                </a:solidFill>
              </a:rPr>
              <a:t>石炭酸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化学性质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Arial" pitchFamily="34" charset="0"/>
              <a:buAutoNum type="arabicPeriod"/>
            </a:pPr>
            <a:r>
              <a:rPr lang="zh-CN" altLang="en-US" sz="3000" dirty="0"/>
              <a:t>显色反应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取代：卤化反应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取代：磺化反应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取代：硝化反应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酸性：与碱反应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酸性：与金属反应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3000" dirty="0"/>
              <a:t>显色反应</a:t>
            </a:r>
            <a:r>
              <a:rPr lang="en-US" altLang="zh-CN" sz="3000" dirty="0"/>
              <a:t>—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酚的特征反应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3000" dirty="0"/>
              <a:t>苯酚遇</a:t>
            </a:r>
            <a:r>
              <a:rPr lang="en-US" altLang="zh-CN" sz="3000" dirty="0"/>
              <a:t>FeCl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溶液显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紫色</a:t>
            </a:r>
            <a:r>
              <a:rPr lang="zh-CN" altLang="en-US" sz="3000" dirty="0"/>
              <a:t>，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3000" dirty="0"/>
              <a:t>可用于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酚和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</a:t>
            </a:r>
            <a:r>
              <a:rPr lang="en-US" altLang="zh-CN" sz="3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3+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的互相检验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反应式：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2FeCl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+ 6 C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Fe[Fe(C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6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5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O)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6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] + 6HCl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练习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限用一种试剂鉴别苯酚、乙醇、</a:t>
            </a:r>
            <a:r>
              <a:rPr lang="en-US" altLang="zh-CN" sz="3000" dirty="0" err="1"/>
              <a:t>NaOH</a:t>
            </a:r>
            <a:r>
              <a:rPr lang="zh-CN" altLang="en-US" sz="3000" dirty="0"/>
              <a:t>、</a:t>
            </a:r>
            <a:r>
              <a:rPr lang="en-US" altLang="zh-CN" sz="3000" dirty="0"/>
              <a:t>KSCN</a:t>
            </a:r>
            <a:r>
              <a:rPr lang="zh-CN" altLang="en-US" sz="3000" dirty="0"/>
              <a:t>四种无色溶液。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分别加入</a:t>
            </a:r>
            <a:r>
              <a:rPr lang="en-US" altLang="zh-CN" sz="3000" dirty="0"/>
              <a:t>FeCl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溶液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11" name="Picture 10" descr="1257.jpg"/>
          <p:cNvPicPr>
            <a:picLocks noChangeAspect="1"/>
          </p:cNvPicPr>
          <p:nvPr/>
        </p:nvPicPr>
        <p:blipFill>
          <a:blip r:embed="rId3"/>
          <a:srcRect l="7778" t="57778" r="7778"/>
          <a:stretch>
            <a:fillRect/>
          </a:stretch>
        </p:blipFill>
        <p:spPr>
          <a:xfrm>
            <a:off x="914400" y="3276600"/>
            <a:ext cx="57912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卤化反应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此反应灵敏，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用于苯酚的定性检验和定量测定</a:t>
            </a:r>
            <a:endParaRPr lang="en-US" altLang="zh-CN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25a.tif"/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304800" y="1371600"/>
            <a:ext cx="8153400" cy="2362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2391" y="3667780"/>
            <a:ext cx="5171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三溴苯酚（白色沉淀）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磺化反应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85800" y="1447800"/>
            <a:ext cx="7696200" cy="4191000"/>
            <a:chOff x="685800" y="2133599"/>
            <a:chExt cx="7162800" cy="3308597"/>
          </a:xfrm>
        </p:grpSpPr>
        <p:pic>
          <p:nvPicPr>
            <p:cNvPr id="8" name="Picture 7" descr="125b.tif"/>
            <p:cNvPicPr>
              <a:picLocks noChangeAspect="1"/>
            </p:cNvPicPr>
            <p:nvPr/>
          </p:nvPicPr>
          <p:blipFill>
            <a:blip r:embed="rId3"/>
            <a:srcRect l="15422" t="22078" b="19862"/>
            <a:stretch>
              <a:fillRect/>
            </a:stretch>
          </p:blipFill>
          <p:spPr>
            <a:xfrm>
              <a:off x="685800" y="2133599"/>
              <a:ext cx="7162800" cy="3308597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894994" y="3429000"/>
              <a:ext cx="68640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浓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)</a:t>
              </a: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38600" y="2590800"/>
              <a:ext cx="80342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室温</a:t>
              </a: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105400" y="1143000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ym typeface="Wingdings" pitchFamily="2" charset="2"/>
              </a:rPr>
              <a:t>邻</a:t>
            </a:r>
            <a:r>
              <a:rPr lang="en-US" altLang="zh-CN" sz="2800" dirty="0">
                <a:sym typeface="Wingdings" pitchFamily="2" charset="2"/>
              </a:rPr>
              <a:t>-</a:t>
            </a:r>
            <a:r>
              <a:rPr lang="zh-CN" altLang="en-US" sz="2800" dirty="0">
                <a:sym typeface="Wingdings" pitchFamily="2" charset="2"/>
              </a:rPr>
              <a:t>羟基苯磺酸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5181600" y="5486400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ym typeface="Wingdings" pitchFamily="2" charset="2"/>
              </a:rPr>
              <a:t>对</a:t>
            </a:r>
            <a:r>
              <a:rPr lang="en-US" altLang="zh-CN" sz="2800" dirty="0">
                <a:sym typeface="Wingdings" pitchFamily="2" charset="2"/>
              </a:rPr>
              <a:t>-</a:t>
            </a:r>
            <a:r>
              <a:rPr lang="zh-CN" altLang="en-US" sz="2800" dirty="0">
                <a:sym typeface="Wingdings" pitchFamily="2" charset="2"/>
              </a:rPr>
              <a:t>羟基苯磺酸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543800" y="2082225"/>
            <a:ext cx="1151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+ 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O</a:t>
            </a:r>
            <a:endParaRPr lang="en-US" sz="3000" dirty="0"/>
          </a:p>
        </p:txBody>
      </p:sp>
      <p:sp>
        <p:nvSpPr>
          <p:cNvPr id="15" name="TextBox 14"/>
          <p:cNvSpPr txBox="1"/>
          <p:nvPr/>
        </p:nvSpPr>
        <p:spPr>
          <a:xfrm>
            <a:off x="6400800" y="4038600"/>
            <a:ext cx="1151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+ 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O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13" grpId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补充：硝化反应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11" name="Picture 10" descr="12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7951304" cy="381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44880" y="307848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181600" y="254508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81600" y="411480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补充：硝化反应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8" name="Group 7"/>
          <p:cNvGrpSpPr/>
          <p:nvPr/>
        </p:nvGrpSpPr>
        <p:grpSpPr>
          <a:xfrm>
            <a:off x="838200" y="1676400"/>
            <a:ext cx="7924800" cy="3665220"/>
            <a:chOff x="838200" y="1676400"/>
            <a:chExt cx="7924800" cy="3665220"/>
          </a:xfrm>
        </p:grpSpPr>
        <p:pic>
          <p:nvPicPr>
            <p:cNvPr id="10" name="Picture 9" descr="1251.jpg"/>
            <p:cNvPicPr>
              <a:picLocks noChangeAspect="1"/>
            </p:cNvPicPr>
            <p:nvPr/>
          </p:nvPicPr>
          <p:blipFill>
            <a:blip r:embed="rId3"/>
            <a:srcRect l="12500" t="35556" r="20833" b="23333"/>
            <a:stretch>
              <a:fillRect/>
            </a:stretch>
          </p:blipFill>
          <p:spPr>
            <a:xfrm>
              <a:off x="838200" y="1676400"/>
              <a:ext cx="7924800" cy="366522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3392154" y="3124200"/>
              <a:ext cx="6030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</a:t>
              </a:r>
              <a:r>
                <a:rPr lang="zh-CN" altLang="en-US" sz="2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浓</a:t>
              </a:r>
              <a:r>
                <a:rPr lang="en-US" altLang="zh-CN" sz="2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)</a:t>
              </a:r>
              <a:endParaRPr lang="en-US" sz="2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23b.tif"/>
          <p:cNvPicPr>
            <a:picLocks noChangeAspect="1"/>
          </p:cNvPicPr>
          <p:nvPr/>
        </p:nvPicPr>
        <p:blipFill>
          <a:blip r:embed="rId3" cstate="print"/>
          <a:srcRect t="17721" b="5559"/>
          <a:stretch>
            <a:fillRect/>
          </a:stretch>
        </p:blipFill>
        <p:spPr>
          <a:xfrm>
            <a:off x="0" y="1066800"/>
            <a:ext cx="911976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与碱反应：中和反应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与金属反应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23b.tif"/>
          <p:cNvPicPr>
            <a:picLocks noChangeAspect="1"/>
          </p:cNvPicPr>
          <p:nvPr/>
        </p:nvPicPr>
        <p:blipFill>
          <a:blip r:embed="rId3"/>
          <a:srcRect l="11233" t="31828" r="14345" b="51322"/>
          <a:stretch>
            <a:fillRect/>
          </a:stretch>
        </p:blipFill>
        <p:spPr>
          <a:xfrm>
            <a:off x="457200" y="1752600"/>
            <a:ext cx="8525933" cy="1447800"/>
          </a:xfrm>
          <a:prstGeom prst="rect">
            <a:avLst/>
          </a:prstGeom>
        </p:spPr>
      </p:pic>
      <p:pic>
        <p:nvPicPr>
          <p:cNvPr id="7" name="Picture 6" descr="124.tif"/>
          <p:cNvPicPr>
            <a:picLocks noChangeAspect="1"/>
          </p:cNvPicPr>
          <p:nvPr/>
        </p:nvPicPr>
        <p:blipFill>
          <a:blip r:embed="rId4"/>
          <a:srcRect l="6111" t="6667" r="20556" b="66667"/>
          <a:stretch>
            <a:fillRect/>
          </a:stretch>
        </p:blipFill>
        <p:spPr>
          <a:xfrm>
            <a:off x="381000" y="3962400"/>
            <a:ext cx="7543800" cy="2057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7BA7C1-305C-40CE-AB7C-A752D93AB9A8}"/>
              </a:ext>
            </a:extLst>
          </p:cNvPr>
          <p:cNvSpPr txBox="1"/>
          <p:nvPr/>
        </p:nvSpPr>
        <p:spPr>
          <a:xfrm>
            <a:off x="533400" y="2895600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现象：苯酚的浊液变澄清</a:t>
            </a:r>
            <a:endParaRPr lang="en-MY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32.2.2 </a:t>
            </a:r>
            <a:r>
              <a:rPr lang="zh-CN" altLang="en-US" sz="4000" b="1" dirty="0">
                <a:latin typeface="+mn-ea"/>
              </a:rPr>
              <a:t>苯酚的化学性质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苯酚钠溶液</a:t>
            </a:r>
            <a:r>
              <a:rPr lang="en-US" altLang="zh-CN" sz="3000" dirty="0"/>
              <a:t>+</a:t>
            </a:r>
            <a:r>
              <a:rPr lang="zh-CN" altLang="en-US" sz="3000" dirty="0"/>
              <a:t>稀盐酸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zh-CN" altLang="en-US" sz="3000" dirty="0">
                <a:sym typeface="Wingdings" panose="05000000000000000000" pitchFamily="2" charset="2"/>
              </a:rPr>
              <a:t>苯酚 </a:t>
            </a:r>
            <a:r>
              <a:rPr lang="en-US" altLang="zh-CN" sz="3000" dirty="0">
                <a:sym typeface="Wingdings" panose="05000000000000000000" pitchFamily="2" charset="2"/>
              </a:rPr>
              <a:t>+ </a:t>
            </a:r>
            <a:r>
              <a:rPr lang="zh-CN" altLang="en-US" sz="3000" dirty="0">
                <a:sym typeface="Wingdings" panose="05000000000000000000" pitchFamily="2" charset="2"/>
              </a:rPr>
              <a:t>氯化钠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		     + HCl   </a:t>
            </a:r>
            <a:r>
              <a:rPr lang="en-US" altLang="zh-CN" sz="3000" dirty="0">
                <a:sym typeface="Wingdings" panose="05000000000000000000" pitchFamily="2" charset="2"/>
              </a:rPr>
              <a:t>	 		+ NaCl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>
              <a:sym typeface="Wingdings" panose="05000000000000000000" pitchFamily="2" charset="2"/>
            </a:endParaRP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>
              <a:sym typeface="Wingdings" panose="05000000000000000000" pitchFamily="2" charset="2"/>
            </a:endParaRPr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在苯酚钠溶液中通入</a:t>
            </a:r>
            <a:r>
              <a:rPr lang="en-US" altLang="zh-CN" sz="3000" dirty="0"/>
              <a:t>CO</a:t>
            </a:r>
            <a:r>
              <a:rPr lang="en-US" altLang="zh-CN" sz="3000" baseline="-25000" dirty="0"/>
              <a:t>2</a:t>
            </a:r>
            <a:r>
              <a:rPr lang="zh-CN" altLang="en-US" sz="3000" dirty="0"/>
              <a:t>，</a:t>
            </a:r>
            <a:r>
              <a:rPr lang="zh-CN" altLang="en-US" sz="3000" dirty="0">
                <a:sym typeface="Wingdings" panose="05000000000000000000" pitchFamily="2" charset="2"/>
              </a:rPr>
              <a:t>生成苯酚与碳酸氢钠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      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 + CO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	 	      + NaHCO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endParaRPr lang="en-US" altLang="zh-CN" sz="3000" dirty="0"/>
          </a:p>
        </p:txBody>
      </p:sp>
      <p:pic>
        <p:nvPicPr>
          <p:cNvPr id="6" name="Picture 5" descr="123b.tif"/>
          <p:cNvPicPr>
            <a:picLocks noChangeAspect="1"/>
          </p:cNvPicPr>
          <p:nvPr/>
        </p:nvPicPr>
        <p:blipFill rotWithShape="1">
          <a:blip r:embed="rId3"/>
          <a:srcRect l="53137" t="31828" r="28239" b="51322"/>
          <a:stretch/>
        </p:blipFill>
        <p:spPr>
          <a:xfrm>
            <a:off x="533400" y="1978993"/>
            <a:ext cx="2133600" cy="1447800"/>
          </a:xfrm>
          <a:prstGeom prst="rect">
            <a:avLst/>
          </a:prstGeom>
        </p:spPr>
      </p:pic>
      <p:pic>
        <p:nvPicPr>
          <p:cNvPr id="8" name="Picture 7" descr="123b.tif">
            <a:extLst>
              <a:ext uri="{FF2B5EF4-FFF2-40B4-BE49-F238E27FC236}">
                <a16:creationId xmlns:a16="http://schemas.microsoft.com/office/drawing/2014/main" id="{D4A1D0C7-4F6C-41B3-90C1-255D1D99B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07" t="31265" r="70069" b="55859"/>
          <a:stretch/>
        </p:blipFill>
        <p:spPr>
          <a:xfrm>
            <a:off x="4314094" y="1978993"/>
            <a:ext cx="2133600" cy="1106375"/>
          </a:xfrm>
          <a:prstGeom prst="rect">
            <a:avLst/>
          </a:prstGeom>
        </p:spPr>
      </p:pic>
      <p:pic>
        <p:nvPicPr>
          <p:cNvPr id="9" name="Picture 8" descr="123b.tif">
            <a:extLst>
              <a:ext uri="{FF2B5EF4-FFF2-40B4-BE49-F238E27FC236}">
                <a16:creationId xmlns:a16="http://schemas.microsoft.com/office/drawing/2014/main" id="{8B8658AD-3DF8-4A99-A046-D270737CF3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137" t="31828" r="28239" b="51322"/>
          <a:stretch/>
        </p:blipFill>
        <p:spPr>
          <a:xfrm>
            <a:off x="609600" y="5029200"/>
            <a:ext cx="2133600" cy="1447800"/>
          </a:xfrm>
          <a:prstGeom prst="rect">
            <a:avLst/>
          </a:prstGeom>
        </p:spPr>
      </p:pic>
      <p:pic>
        <p:nvPicPr>
          <p:cNvPr id="10" name="Picture 9" descr="123b.tif">
            <a:extLst>
              <a:ext uri="{FF2B5EF4-FFF2-40B4-BE49-F238E27FC236}">
                <a16:creationId xmlns:a16="http://schemas.microsoft.com/office/drawing/2014/main" id="{E8C0C45D-A1CD-45CD-9236-7625FF7630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07" t="31265" r="70069" b="55859"/>
          <a:stretch/>
        </p:blipFill>
        <p:spPr>
          <a:xfrm>
            <a:off x="5105400" y="4913425"/>
            <a:ext cx="2133600" cy="11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335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32.2.3 </a:t>
            </a:r>
            <a:r>
              <a:rPr lang="zh-CN" altLang="en-US" sz="4000" b="1" dirty="0">
                <a:latin typeface="+mn-ea"/>
              </a:rPr>
              <a:t>苯酚的工业制法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从煤焦油中提炼苯酚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工业合成法：</a:t>
            </a:r>
            <a:r>
              <a:rPr lang="en-US" altLang="zh-CN" sz="3000" dirty="0" err="1"/>
              <a:t>i</a:t>
            </a:r>
            <a:r>
              <a:rPr lang="zh-CN" altLang="en-US" sz="3000" dirty="0"/>
              <a:t>氯苯水解法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+2 </a:t>
            </a:r>
            <a:r>
              <a:rPr lang="en-US" altLang="zh-CN" sz="3000" dirty="0" err="1"/>
              <a:t>NaOH</a:t>
            </a:r>
            <a:r>
              <a:rPr lang="en-US" altLang="zh-CN" sz="3000" dirty="0"/>
              <a:t> 			   + </a:t>
            </a:r>
            <a:r>
              <a:rPr lang="en-US" altLang="zh-CN" sz="3000" dirty="0" err="1"/>
              <a:t>NaCl</a:t>
            </a:r>
            <a:r>
              <a:rPr lang="en-US" altLang="zh-CN" sz="3000" dirty="0"/>
              <a:t>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			  +   </a:t>
            </a:r>
            <a:r>
              <a:rPr lang="en-US" altLang="zh-CN" sz="3000" dirty="0" err="1"/>
              <a:t>HCl</a:t>
            </a:r>
            <a:r>
              <a:rPr lang="en-US" altLang="zh-CN" sz="3000" dirty="0"/>
              <a:t>     </a:t>
            </a:r>
            <a:r>
              <a:rPr lang="en-US" altLang="zh-CN" sz="3000" dirty="0">
                <a:sym typeface="Wingdings" pitchFamily="2" charset="2"/>
              </a:rPr>
              <a:t> 		 +   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endParaRPr lang="en-US" altLang="zh-CN" sz="3000" dirty="0"/>
          </a:p>
        </p:txBody>
      </p:sp>
      <p:pic>
        <p:nvPicPr>
          <p:cNvPr id="7" name="Picture 6" descr="pg94.`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4400" y="2209800"/>
            <a:ext cx="1219200" cy="17526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657600" y="2743200"/>
            <a:ext cx="1280065" cy="762000"/>
            <a:chOff x="2492216" y="2432447"/>
            <a:chExt cx="1280065" cy="762000"/>
          </a:xfrm>
        </p:grpSpPr>
        <p:grpSp>
          <p:nvGrpSpPr>
            <p:cNvPr id="9" name="Group 10"/>
            <p:cNvGrpSpPr/>
            <p:nvPr/>
          </p:nvGrpSpPr>
          <p:grpSpPr>
            <a:xfrm>
              <a:off x="2492216" y="2432447"/>
              <a:ext cx="1280065" cy="762000"/>
              <a:chOff x="2492216" y="2432447"/>
              <a:chExt cx="1280065" cy="762000"/>
            </a:xfrm>
          </p:grpSpPr>
          <p:cxnSp>
            <p:nvCxnSpPr>
              <p:cNvPr id="11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本框 5"/>
              <p:cNvSpPr txBox="1"/>
              <p:nvPr/>
            </p:nvSpPr>
            <p:spPr>
              <a:xfrm>
                <a:off x="2644616" y="2432447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aseline="-25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</a:t>
                </a:r>
                <a:r>
                  <a:rPr lang="en-US" altLang="zh-CN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</a:t>
                </a:r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加压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3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0" name="Isosceles Triangle 9"/>
            <p:cNvSpPr/>
            <p:nvPr/>
          </p:nvSpPr>
          <p:spPr>
            <a:xfrm>
              <a:off x="2974848" y="286829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14" name="Picture 13" descr="222.1.png"/>
          <p:cNvPicPr>
            <a:picLocks noChangeAspect="1"/>
          </p:cNvPicPr>
          <p:nvPr/>
        </p:nvPicPr>
        <p:blipFill>
          <a:blip r:embed="rId4"/>
          <a:srcRect l="64000" r="1333"/>
          <a:stretch>
            <a:fillRect/>
          </a:stretch>
        </p:blipFill>
        <p:spPr>
          <a:xfrm>
            <a:off x="4572000" y="4202723"/>
            <a:ext cx="1219200" cy="2121877"/>
          </a:xfrm>
          <a:prstGeom prst="rect">
            <a:avLst/>
          </a:prstGeom>
        </p:spPr>
      </p:pic>
      <p:pic>
        <p:nvPicPr>
          <p:cNvPr id="15" name="Picture 14" descr="222.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2057400"/>
            <a:ext cx="1428750" cy="1828800"/>
          </a:xfrm>
          <a:prstGeom prst="rect">
            <a:avLst/>
          </a:prstGeom>
        </p:spPr>
      </p:pic>
      <p:pic>
        <p:nvPicPr>
          <p:cNvPr id="16" name="Picture 15" descr="222.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343400"/>
            <a:ext cx="1428750" cy="1905000"/>
          </a:xfrm>
          <a:prstGeom prst="rect">
            <a:avLst/>
          </a:prstGeom>
        </p:spPr>
      </p:pic>
      <p:pic>
        <p:nvPicPr>
          <p:cNvPr id="17" name="Picture 16" descr="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057400"/>
            <a:ext cx="7717316" cy="437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32.2.3 </a:t>
            </a:r>
            <a:r>
              <a:rPr lang="zh-CN" altLang="en-US" sz="4000" b="1" dirty="0">
                <a:latin typeface="+mn-ea"/>
              </a:rPr>
              <a:t>苯酚的工业制法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 </a:t>
            </a:r>
            <a:r>
              <a:rPr lang="zh-CN" altLang="en-US" sz="3000" dirty="0"/>
              <a:t>工业合成法：</a:t>
            </a:r>
            <a:r>
              <a:rPr lang="en-US" altLang="zh-CN" sz="3000" dirty="0"/>
              <a:t>ii</a:t>
            </a:r>
            <a:r>
              <a:rPr lang="zh-CN" altLang="en-US" sz="3000" dirty="0"/>
              <a:t>异丙苯（</a:t>
            </a:r>
            <a:r>
              <a:rPr lang="en-US" altLang="zh-CN" sz="3000" dirty="0"/>
              <a:t>2-</a:t>
            </a:r>
            <a:r>
              <a:rPr lang="zh-CN" altLang="en-US" sz="3000" dirty="0"/>
              <a:t>苯基丙烷）氧化法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7" name="Picture 6" descr="123a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7637281" cy="465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D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A </a:t>
            </a:r>
            <a:r>
              <a:rPr lang="zh-CN" altLang="en-US" sz="3000" dirty="0"/>
              <a:t>没同分异构体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B </a:t>
            </a:r>
            <a:r>
              <a:rPr lang="zh-CN" altLang="en-US" sz="3000" dirty="0"/>
              <a:t>乙醇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OH</a:t>
            </a:r>
            <a:r>
              <a:rPr lang="zh-CN" altLang="en-US" sz="3000" dirty="0"/>
              <a:t> 或甲醚 </a:t>
            </a:r>
            <a:r>
              <a:rPr lang="en-MY" altLang="zh-CN" sz="3000" dirty="0"/>
              <a:t>H</a:t>
            </a:r>
            <a:r>
              <a:rPr lang="en-MY" altLang="zh-CN" sz="3000" baseline="-25000" dirty="0"/>
              <a:t>3</a:t>
            </a:r>
            <a:r>
              <a:rPr lang="en-MY" altLang="zh-CN" sz="3000" dirty="0"/>
              <a:t>C-O-CH</a:t>
            </a:r>
            <a:r>
              <a:rPr lang="en-MY" altLang="zh-CN" sz="3000" baseline="-25000" dirty="0"/>
              <a:t>3</a:t>
            </a:r>
            <a:r>
              <a:rPr lang="en-MY" altLang="zh-CN" sz="3000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C  </a:t>
            </a:r>
            <a:r>
              <a:rPr lang="zh-CN" altLang="en-US" sz="3000" dirty="0"/>
              <a:t>丁烷或</a:t>
            </a:r>
            <a:r>
              <a:rPr lang="en-US" altLang="zh-CN" sz="3000" dirty="0"/>
              <a:t>2-</a:t>
            </a:r>
            <a:r>
              <a:rPr lang="zh-CN" altLang="en-US" sz="3000" dirty="0"/>
              <a:t>甲基丙烷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D </a:t>
            </a:r>
            <a:r>
              <a:rPr lang="zh-CN" altLang="en-US" sz="3000" dirty="0"/>
              <a:t>聚乙烯中含有不同大小的聚乙烯分子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3. B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4. B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 startAt="5"/>
            </a:pPr>
            <a:r>
              <a:rPr lang="en-US" altLang="zh-CN" sz="3000" dirty="0"/>
              <a:t>   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O +         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       CO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+     CO +        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O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					        10.8g</a:t>
            </a:r>
            <a:r>
              <a:rPr lang="zh-CN" altLang="en-US" sz="3000" dirty="0"/>
              <a:t>即</a:t>
            </a:r>
            <a:r>
              <a:rPr lang="en-US" altLang="zh-CN" sz="3000" dirty="0"/>
              <a:t>0.6mol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根据物质不灭定律 反应消耗的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=27.6g-9.2g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					= 18.4g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/>
              <a:t>a+b</a:t>
            </a:r>
            <a:r>
              <a:rPr lang="en-US" altLang="zh-CN" sz="3000" dirty="0"/>
              <a:t> =0.4   ------①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0.2+ 0.575x2 =2a+b+0.6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2a + b =0.75------②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7B6BC-642F-40C9-89F8-189039EE3A78}"/>
              </a:ext>
            </a:extLst>
          </p:cNvPr>
          <p:cNvSpPr txBox="1"/>
          <p:nvPr/>
        </p:nvSpPr>
        <p:spPr>
          <a:xfrm>
            <a:off x="6820525" y="100142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0.6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E3322-D0D5-4F4F-8A1B-77A55E8B6DCD}"/>
              </a:ext>
            </a:extLst>
          </p:cNvPr>
          <p:cNvSpPr txBox="1"/>
          <p:nvPr/>
        </p:nvSpPr>
        <p:spPr>
          <a:xfrm>
            <a:off x="609600" y="1012439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0.2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CEC97-4FDD-452B-91D0-78EB9D8E32C3}"/>
              </a:ext>
            </a:extLst>
          </p:cNvPr>
          <p:cNvSpPr txBox="1"/>
          <p:nvPr/>
        </p:nvSpPr>
        <p:spPr>
          <a:xfrm>
            <a:off x="533400" y="1686580"/>
            <a:ext cx="119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0.2mol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315B2-4ED4-4C00-BACF-25BCA3373D00}"/>
              </a:ext>
            </a:extLst>
          </p:cNvPr>
          <p:cNvSpPr txBox="1"/>
          <p:nvPr/>
        </p:nvSpPr>
        <p:spPr>
          <a:xfrm>
            <a:off x="76200" y="2057400"/>
            <a:ext cx="33105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m= 0.2molx 46g/mol </a:t>
            </a:r>
          </a:p>
          <a:p>
            <a:r>
              <a:rPr lang="en-MY" sz="2800" dirty="0"/>
              <a:t>    =9.2g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378D4-5212-4D84-9DA8-090C809E354F}"/>
              </a:ext>
            </a:extLst>
          </p:cNvPr>
          <p:cNvSpPr txBox="1"/>
          <p:nvPr/>
        </p:nvSpPr>
        <p:spPr>
          <a:xfrm>
            <a:off x="2530769" y="1062335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>
                <a:solidFill>
                  <a:srgbClr val="002060"/>
                </a:solidFill>
              </a:rPr>
              <a:t>0.575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04E65-2440-4C2C-B94E-7A849DB3D20E}"/>
              </a:ext>
            </a:extLst>
          </p:cNvPr>
          <p:cNvSpPr txBox="1"/>
          <p:nvPr/>
        </p:nvSpPr>
        <p:spPr>
          <a:xfrm>
            <a:off x="4267200" y="99060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0E813-2FC9-40FB-BB08-AADC3F9C0B72}"/>
              </a:ext>
            </a:extLst>
          </p:cNvPr>
          <p:cNvSpPr txBox="1"/>
          <p:nvPr/>
        </p:nvSpPr>
        <p:spPr>
          <a:xfrm>
            <a:off x="5581860" y="990600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b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7B946E-8FA0-42F4-B97C-16D51ED4F551}"/>
              </a:ext>
            </a:extLst>
          </p:cNvPr>
          <p:cNvSpPr txBox="1"/>
          <p:nvPr/>
        </p:nvSpPr>
        <p:spPr>
          <a:xfrm>
            <a:off x="3048000" y="4648200"/>
            <a:ext cx="22797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</a:rPr>
              <a:t>解得：</a:t>
            </a:r>
            <a:r>
              <a:rPr lang="en-US" altLang="zh-CN" sz="2800" dirty="0">
                <a:solidFill>
                  <a:srgbClr val="002060"/>
                </a:solidFill>
              </a:rPr>
              <a:t>a=0.35</a:t>
            </a:r>
          </a:p>
          <a:p>
            <a:r>
              <a:rPr lang="en-US" sz="2800" dirty="0">
                <a:solidFill>
                  <a:srgbClr val="002060"/>
                </a:solidFill>
              </a:rPr>
              <a:t>	  b=0.05</a:t>
            </a:r>
            <a:endParaRPr lang="en-MY" sz="2800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FBFAC-67C4-4925-9497-845E611D05CD}"/>
              </a:ext>
            </a:extLst>
          </p:cNvPr>
          <p:cNvSpPr txBox="1"/>
          <p:nvPr/>
        </p:nvSpPr>
        <p:spPr>
          <a:xfrm>
            <a:off x="5257800" y="4648200"/>
            <a:ext cx="39781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b="1" dirty="0" err="1">
                <a:solidFill>
                  <a:srgbClr val="7030A0"/>
                </a:solidFill>
              </a:rPr>
              <a:t>m</a:t>
            </a:r>
            <a:r>
              <a:rPr lang="en-MY" sz="2800" b="1" baseline="-25000" dirty="0" err="1">
                <a:solidFill>
                  <a:srgbClr val="7030A0"/>
                </a:solidFill>
              </a:rPr>
              <a:t>CO</a:t>
            </a:r>
            <a:r>
              <a:rPr lang="en-MY" sz="2800" b="1" baseline="-25000" dirty="0">
                <a:solidFill>
                  <a:srgbClr val="7030A0"/>
                </a:solidFill>
              </a:rPr>
              <a:t> </a:t>
            </a:r>
            <a:r>
              <a:rPr lang="en-MY" sz="2800" b="1" dirty="0">
                <a:solidFill>
                  <a:srgbClr val="7030A0"/>
                </a:solidFill>
              </a:rPr>
              <a:t> = 0.05mol x 28g/mol</a:t>
            </a:r>
          </a:p>
          <a:p>
            <a:r>
              <a:rPr lang="en-MY" sz="2800" b="1" dirty="0">
                <a:solidFill>
                  <a:srgbClr val="7030A0"/>
                </a:solidFill>
              </a:rPr>
              <a:t>         = 1.4g </a:t>
            </a:r>
          </a:p>
          <a:p>
            <a:r>
              <a:rPr lang="en-MY" sz="2800" b="1" dirty="0">
                <a:solidFill>
                  <a:srgbClr val="7030A0"/>
                </a:solidFill>
              </a:rPr>
              <a:t>Ans: A </a:t>
            </a:r>
          </a:p>
        </p:txBody>
      </p:sp>
    </p:spTree>
    <p:extLst>
      <p:ext uri="{BB962C8B-B14F-4D97-AF65-F5344CB8AC3E}">
        <p14:creationId xmlns:p14="http://schemas.microsoft.com/office/powerpoint/2010/main" val="3880740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spcBef>
                    <a:spcPts val="1200"/>
                  </a:spcBef>
                  <a:buAutoNum type="arabicPeriod" startAt="6"/>
                </a:pPr>
                <a:r>
                  <a:rPr lang="en-MY" altLang="zh-CN" sz="3000" dirty="0"/>
                  <a:t>2R-OH + 2 Na </a:t>
                </a:r>
                <a:r>
                  <a:rPr lang="en-MY" altLang="zh-CN" sz="3000" dirty="0">
                    <a:sym typeface="Wingdings" panose="05000000000000000000" pitchFamily="2" charset="2"/>
                  </a:rPr>
                  <a:t> 2R-ONa + H</a:t>
                </a:r>
                <a:r>
                  <a:rPr lang="en-MY" altLang="zh-CN" sz="3000" baseline="-25000" dirty="0">
                    <a:sym typeface="Wingdings" panose="05000000000000000000" pitchFamily="2" charset="2"/>
                  </a:rPr>
                  <a:t>2</a:t>
                </a:r>
                <a:r>
                  <a:rPr lang="en-MY" altLang="zh-CN" sz="3000" dirty="0"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MY" altLang="zh-CN" sz="3000" dirty="0">
                    <a:sym typeface="Wingdings" panose="05000000000000000000" pitchFamily="2" charset="2"/>
                  </a:rPr>
                  <a:t>	2mol				 22.4L 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MY" altLang="zh-CN" sz="3000" dirty="0">
                    <a:sym typeface="Wingdings" panose="05000000000000000000" pitchFamily="2" charset="2"/>
                  </a:rPr>
                  <a:t>	x mol				5.6L 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MY" altLang="zh-CN" sz="3000" dirty="0">
                    <a:sym typeface="Wingdings" panose="05000000000000000000" pitchFamily="2" charset="2"/>
                  </a:rPr>
                  <a:t>		x= 0.5mol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MY" altLang="zh-CN" sz="3000" dirty="0">
                    <a:sym typeface="Wingdings" panose="05000000000000000000" pitchFamily="2" charset="2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altLang="zh-CN" sz="3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16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0.5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𝑚𝑜𝑙</m:t>
                        </m:r>
                      </m:den>
                    </m:f>
                  </m:oMath>
                </a14:m>
                <a:endParaRPr lang="en-US" altLang="zh-CN" sz="3000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     = 32g/mol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A 32g/mol	B 92g/mol	C 60g/mol	D 74g/mol</a:t>
                </a:r>
              </a:p>
              <a:p>
                <a:pPr marL="514350" indent="-514350"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Ans: A </a:t>
                </a:r>
              </a:p>
              <a:p>
                <a:pPr marL="514350" indent="-514350">
                  <a:spcBef>
                    <a:spcPts val="1200"/>
                  </a:spcBef>
                  <a:buNone/>
                </a:pPr>
                <a:endParaRPr lang="en-US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  <a:blipFill>
                <a:blip r:embed="rId3"/>
                <a:stretch>
                  <a:fillRect l="-1684" t="-155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920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7. B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AD </a:t>
            </a:r>
            <a:r>
              <a:rPr lang="zh-CN" altLang="en-US" sz="3000" dirty="0"/>
              <a:t>不能发生消去反应生成烯烃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C </a:t>
            </a:r>
            <a:r>
              <a:rPr lang="zh-CN" altLang="en-US" sz="3000" dirty="0"/>
              <a:t>消去后可生成顺或反</a:t>
            </a:r>
            <a:r>
              <a:rPr lang="en-US" altLang="zh-CN" sz="3000" dirty="0"/>
              <a:t>2-</a:t>
            </a:r>
            <a:r>
              <a:rPr lang="zh-CN" altLang="en-US" sz="3000" dirty="0"/>
              <a:t>丁烯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8. C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9.C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085376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10. D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将</a:t>
            </a:r>
            <a:r>
              <a:rPr lang="en-US" altLang="zh-CN" sz="3000" dirty="0"/>
              <a:t>CO</a:t>
            </a:r>
            <a:r>
              <a:rPr lang="en-US" altLang="zh-CN" sz="3000" baseline="-25000" dirty="0"/>
              <a:t>2</a:t>
            </a:r>
            <a:r>
              <a:rPr lang="zh-CN" altLang="en-US" sz="3000" dirty="0"/>
              <a:t>通入苯酚钠溶液，变浑浊说明反应后生成苯酚。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由强酸制弱酸可得酸性：苯酚</a:t>
            </a:r>
            <a:r>
              <a:rPr lang="en-MY" altLang="zh-CN" sz="3000" dirty="0"/>
              <a:t>&lt;</a:t>
            </a:r>
            <a:r>
              <a:rPr lang="zh-CN" altLang="en-US" sz="3000" dirty="0"/>
              <a:t>碳酸。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ABC</a:t>
            </a:r>
            <a:r>
              <a:rPr lang="zh-CN" altLang="en-US" sz="3000" dirty="0"/>
              <a:t>皆与酸碱性无关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11.  A </a:t>
            </a:r>
            <a:r>
              <a:rPr lang="zh-CN" altLang="en-US" sz="3000" dirty="0"/>
              <a:t>溴可溶于苯；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苯酚与溴反应后的</a:t>
            </a:r>
            <a:r>
              <a:rPr lang="en-US" altLang="zh-CN" sz="3000" dirty="0"/>
              <a:t>2,4,6-</a:t>
            </a:r>
            <a:r>
              <a:rPr lang="zh-CN" altLang="en-US" sz="3000" dirty="0"/>
              <a:t>三溴苯酚也能溶于苯。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C </a:t>
            </a:r>
            <a:r>
              <a:rPr lang="zh-CN" altLang="en-US" sz="3000" dirty="0"/>
              <a:t>溴常温下能与</a:t>
            </a:r>
            <a:r>
              <a:rPr lang="en-US" altLang="zh-CN" sz="3000" dirty="0"/>
              <a:t>NaOH</a:t>
            </a:r>
            <a:r>
              <a:rPr lang="zh-CN" altLang="en-US" sz="3000" dirty="0"/>
              <a:t>反应，溴苯与</a:t>
            </a:r>
            <a:r>
              <a:rPr lang="en-US" altLang="zh-CN" sz="3000" dirty="0"/>
              <a:t>NaOH</a:t>
            </a:r>
            <a:r>
              <a:rPr lang="zh-CN" altLang="en-US" sz="3000" dirty="0"/>
              <a:t>反应需高温高压，因此可用</a:t>
            </a:r>
            <a:r>
              <a:rPr lang="en-US" altLang="zh-CN" sz="3000" dirty="0"/>
              <a:t>NaOH</a:t>
            </a:r>
            <a:r>
              <a:rPr lang="zh-CN" altLang="en-US" sz="3000" dirty="0"/>
              <a:t>除去溴苯中的溴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2539120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作答题（</a:t>
            </a:r>
            <a:r>
              <a:rPr lang="en-US" altLang="zh-CN" sz="4000" b="1" dirty="0"/>
              <a:t>1</a:t>
            </a:r>
            <a:r>
              <a:rPr lang="zh-CN" altLang="en-US" sz="4000" b="1" dirty="0"/>
              <a:t>，</a:t>
            </a:r>
            <a:r>
              <a:rPr lang="en-US" altLang="zh-CN" sz="4000" b="1" dirty="0"/>
              <a:t>2</a:t>
            </a:r>
            <a:r>
              <a:rPr lang="zh-CN" altLang="en-US" sz="4000" b="1" dirty="0"/>
              <a:t>，</a:t>
            </a:r>
            <a:r>
              <a:rPr lang="en-US" altLang="zh-CN" sz="4000" b="1" dirty="0"/>
              <a:t>3</a:t>
            </a:r>
            <a:r>
              <a:rPr lang="zh-CN" altLang="en-US" sz="4000" b="1" dirty="0"/>
              <a:t>，</a:t>
            </a:r>
            <a:r>
              <a:rPr lang="en-US" altLang="zh-CN" sz="4000" b="1"/>
              <a:t>6</a:t>
            </a:r>
            <a:r>
              <a:rPr lang="zh-CN" altLang="en-US" sz="4000" b="1"/>
              <a:t>）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1. 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丁醇、</a:t>
            </a:r>
            <a:r>
              <a:rPr lang="en-US" altLang="zh-CN" sz="3000" dirty="0"/>
              <a:t>3-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丁醇、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丁醇、</a:t>
            </a:r>
            <a:r>
              <a:rPr lang="en-US" altLang="zh-CN" sz="3000" dirty="0"/>
              <a:t>3-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丁醇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 startAt="2"/>
            </a:pPr>
            <a:r>
              <a:rPr lang="en-US" altLang="zh-CN" sz="3000" dirty="0"/>
              <a:t>2 Cu +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            2CuO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现象：产生气泡，该气体有刺激性气味气体，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黑色</a:t>
            </a:r>
            <a:r>
              <a:rPr lang="en-US" altLang="zh-CN" sz="3000" dirty="0" err="1"/>
              <a:t>CuO</a:t>
            </a:r>
            <a:r>
              <a:rPr lang="zh-CN" altLang="en-US" sz="3000" dirty="0"/>
              <a:t>被变会紫红色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反应式： </a:t>
            </a:r>
            <a:r>
              <a:rPr lang="en-US" altLang="zh-CN" sz="3000" dirty="0" err="1"/>
              <a:t>CuO</a:t>
            </a:r>
            <a:r>
              <a:rPr lang="en-US" altLang="zh-CN" sz="3000" dirty="0"/>
              <a:t>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 </a:t>
            </a:r>
            <a:r>
              <a:rPr lang="en-US" altLang="zh-CN" sz="3000" dirty="0">
                <a:sym typeface="Wingdings" panose="05000000000000000000" pitchFamily="2" charset="2"/>
              </a:rPr>
              <a:t> 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 CHO +  Cu + 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O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>
                <a:solidFill>
                  <a:srgbClr val="002060"/>
                </a:solidFill>
                <a:sym typeface="Wingdings" panose="05000000000000000000" pitchFamily="2" charset="2"/>
              </a:rPr>
              <a:t>总的来说，</a:t>
            </a:r>
            <a:r>
              <a:rPr lang="en-US" altLang="zh-CN" sz="3000" dirty="0">
                <a:solidFill>
                  <a:srgbClr val="002060"/>
                </a:solidFill>
                <a:sym typeface="Wingdings" panose="05000000000000000000" pitchFamily="2" charset="2"/>
              </a:rPr>
              <a:t>Cu </a:t>
            </a:r>
            <a:r>
              <a:rPr lang="zh-CN" altLang="en-US" sz="3000" dirty="0">
                <a:solidFill>
                  <a:srgbClr val="002060"/>
                </a:solidFill>
                <a:sym typeface="Wingdings" panose="05000000000000000000" pitchFamily="2" charset="2"/>
              </a:rPr>
              <a:t>是催化剂。</a:t>
            </a:r>
            <a:r>
              <a:rPr lang="en-US" altLang="zh-CN" sz="3000" dirty="0">
                <a:sym typeface="Wingdings" panose="05000000000000000000" pitchFamily="2" charset="2"/>
              </a:rPr>
              <a:t> 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750391-B08E-4B26-AC47-017446288574}"/>
              </a:ext>
            </a:extLst>
          </p:cNvPr>
          <p:cNvGrpSpPr/>
          <p:nvPr/>
        </p:nvGrpSpPr>
        <p:grpSpPr>
          <a:xfrm>
            <a:off x="2617183" y="2268415"/>
            <a:ext cx="583217" cy="627185"/>
            <a:chOff x="2720816" y="2567262"/>
            <a:chExt cx="684000" cy="627185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8748B3AF-4895-4BEA-BD4D-2F4C38C8E694}"/>
                </a:ext>
              </a:extLst>
            </p:cNvPr>
            <p:cNvGrpSpPr/>
            <p:nvPr/>
          </p:nvGrpSpPr>
          <p:grpSpPr>
            <a:xfrm>
              <a:off x="2720816" y="2825115"/>
              <a:ext cx="684000" cy="369332"/>
              <a:chOff x="2720816" y="2825115"/>
              <a:chExt cx="684000" cy="369332"/>
            </a:xfrm>
          </p:grpSpPr>
          <p:cxnSp>
            <p:nvCxnSpPr>
              <p:cNvPr id="9" name="直接箭头连接符 1">
                <a:extLst>
                  <a:ext uri="{FF2B5EF4-FFF2-40B4-BE49-F238E27FC236}">
                    <a16:creationId xmlns:a16="http://schemas.microsoft.com/office/drawing/2014/main" id="{C0BE9A3D-34AD-4643-81DA-257058AFCF81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文本框 6">
                <a:extLst>
                  <a:ext uri="{FF2B5EF4-FFF2-40B4-BE49-F238E27FC236}">
                    <a16:creationId xmlns:a16="http://schemas.microsoft.com/office/drawing/2014/main" id="{8A5D3123-C6A5-4729-B911-B63897A93F2B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1BE9369E-2B60-4FAA-B57E-8D0A9606822D}"/>
                </a:ext>
              </a:extLst>
            </p:cNvPr>
            <p:cNvSpPr/>
            <p:nvPr/>
          </p:nvSpPr>
          <p:spPr>
            <a:xfrm>
              <a:off x="2974848" y="2567262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542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dirty="0"/>
              <a:t>3.  2NaBr+H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 </a:t>
            </a:r>
            <a:r>
              <a:rPr lang="zh-CN" altLang="en-US" baseline="-25000" dirty="0"/>
              <a:t>（浓）</a:t>
            </a:r>
            <a:r>
              <a:rPr lang="en-US" altLang="zh-CN" dirty="0"/>
              <a:t> 	2HBr+Na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endParaRPr lang="en-US" altLang="zh-CN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/>
              <a:t>CH</a:t>
            </a:r>
            <a:r>
              <a:rPr lang="en-US" altLang="zh-CN" baseline="-25000" dirty="0"/>
              <a:t>3</a:t>
            </a:r>
            <a:r>
              <a:rPr lang="en-US" altLang="zh-CN" dirty="0"/>
              <a:t>CH</a:t>
            </a:r>
            <a:r>
              <a:rPr lang="en-US" altLang="zh-CN" baseline="-25000" dirty="0"/>
              <a:t>2</a:t>
            </a:r>
            <a:r>
              <a:rPr lang="en-US" altLang="zh-CN" dirty="0"/>
              <a:t>OH + HBr 	CH</a:t>
            </a:r>
            <a:r>
              <a:rPr lang="en-US" altLang="zh-CN" baseline="-25000" dirty="0"/>
              <a:t>3</a:t>
            </a:r>
            <a:r>
              <a:rPr lang="en-US" altLang="zh-CN" dirty="0"/>
              <a:t>CH</a:t>
            </a:r>
            <a:r>
              <a:rPr lang="en-US" altLang="zh-CN" baseline="-25000" dirty="0"/>
              <a:t>2</a:t>
            </a:r>
            <a:r>
              <a:rPr lang="en-US" altLang="zh-CN" dirty="0"/>
              <a:t>Br+H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endParaRPr lang="en-MY" altLang="zh-CN" sz="28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/>
              <a:t>原因</a:t>
            </a:r>
            <a:r>
              <a:rPr lang="en-MY" altLang="zh-CN" dirty="0"/>
              <a:t>:</a:t>
            </a:r>
            <a:r>
              <a:rPr lang="zh-CN" altLang="en-US" dirty="0"/>
              <a:t>加热时产生褐色的溴单质</a:t>
            </a:r>
            <a:endParaRPr lang="en-MY" altLang="zh-CN" sz="28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/>
              <a:t>2NaBr+ 2H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 </a:t>
            </a:r>
            <a:r>
              <a:rPr lang="en-MY" altLang="zh-CN" baseline="-25000" dirty="0"/>
              <a:t>(</a:t>
            </a:r>
            <a:r>
              <a:rPr lang="zh-CN" altLang="en-US" baseline="-25000" dirty="0"/>
              <a:t>浓</a:t>
            </a:r>
            <a:r>
              <a:rPr lang="en-MY" altLang="zh-CN" baseline="-25000" dirty="0"/>
              <a:t>)</a:t>
            </a:r>
            <a:r>
              <a:rPr lang="en-MY" altLang="zh-CN" dirty="0"/>
              <a:t>  </a:t>
            </a:r>
            <a:r>
              <a:rPr lang="zh-CN" altLang="en-US" dirty="0"/>
              <a:t>      </a:t>
            </a:r>
            <a:r>
              <a:rPr lang="en-US" altLang="zh-CN" dirty="0"/>
              <a:t>Br</a:t>
            </a:r>
            <a:r>
              <a:rPr lang="en-US" altLang="zh-CN" baseline="-25000" dirty="0"/>
              <a:t>2</a:t>
            </a:r>
            <a:r>
              <a:rPr lang="en-US" altLang="zh-CN" dirty="0"/>
              <a:t> +Na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 + 2H</a:t>
            </a:r>
            <a:r>
              <a:rPr lang="en-US" altLang="zh-CN" baseline="-25000" dirty="0"/>
              <a:t>2</a:t>
            </a:r>
            <a:r>
              <a:rPr lang="en-US" altLang="zh-CN" dirty="0"/>
              <a:t>O + SO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02F326-53BA-4578-9FD7-0DFB5031CD21}"/>
              </a:ext>
            </a:extLst>
          </p:cNvPr>
          <p:cNvGrpSpPr/>
          <p:nvPr/>
        </p:nvGrpSpPr>
        <p:grpSpPr>
          <a:xfrm>
            <a:off x="4141183" y="1066800"/>
            <a:ext cx="583217" cy="627185"/>
            <a:chOff x="2720816" y="2567262"/>
            <a:chExt cx="684000" cy="627185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3FE1A5E5-F866-4C91-A4E9-0BFB8E529F8A}"/>
                </a:ext>
              </a:extLst>
            </p:cNvPr>
            <p:cNvGrpSpPr/>
            <p:nvPr/>
          </p:nvGrpSpPr>
          <p:grpSpPr>
            <a:xfrm>
              <a:off x="2720816" y="2825115"/>
              <a:ext cx="684000" cy="369332"/>
              <a:chOff x="2720816" y="2825115"/>
              <a:chExt cx="684000" cy="369332"/>
            </a:xfrm>
          </p:grpSpPr>
          <p:cxnSp>
            <p:nvCxnSpPr>
              <p:cNvPr id="9" name="直接箭头连接符 1">
                <a:extLst>
                  <a:ext uri="{FF2B5EF4-FFF2-40B4-BE49-F238E27FC236}">
                    <a16:creationId xmlns:a16="http://schemas.microsoft.com/office/drawing/2014/main" id="{5EA507C0-C8BC-4FD4-AA49-1462E35766C3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6">
                <a:extLst>
                  <a:ext uri="{FF2B5EF4-FFF2-40B4-BE49-F238E27FC236}">
                    <a16:creationId xmlns:a16="http://schemas.microsoft.com/office/drawing/2014/main" id="{205492FB-546C-4649-A0EC-ED529EC1520F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0AB3D08A-57AC-4D35-A1CF-9065C5AF1FA6}"/>
                </a:ext>
              </a:extLst>
            </p:cNvPr>
            <p:cNvSpPr/>
            <p:nvPr/>
          </p:nvSpPr>
          <p:spPr>
            <a:xfrm>
              <a:off x="2974848" y="2567262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9ACF2D-6743-4A05-966A-C5EE974E2BC3}"/>
              </a:ext>
            </a:extLst>
          </p:cNvPr>
          <p:cNvGrpSpPr/>
          <p:nvPr/>
        </p:nvGrpSpPr>
        <p:grpSpPr>
          <a:xfrm>
            <a:off x="3276600" y="1658815"/>
            <a:ext cx="583217" cy="627185"/>
            <a:chOff x="2720816" y="2567262"/>
            <a:chExt cx="684000" cy="627185"/>
          </a:xfrm>
        </p:grpSpPr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F0CC9558-E3C2-42D7-8AED-B214E3F51DD1}"/>
                </a:ext>
              </a:extLst>
            </p:cNvPr>
            <p:cNvGrpSpPr/>
            <p:nvPr/>
          </p:nvGrpSpPr>
          <p:grpSpPr>
            <a:xfrm>
              <a:off x="2720816" y="2825115"/>
              <a:ext cx="684000" cy="369332"/>
              <a:chOff x="2720816" y="2825115"/>
              <a:chExt cx="684000" cy="369332"/>
            </a:xfrm>
          </p:grpSpPr>
          <p:cxnSp>
            <p:nvCxnSpPr>
              <p:cNvPr id="14" name="直接箭头连接符 1">
                <a:extLst>
                  <a:ext uri="{FF2B5EF4-FFF2-40B4-BE49-F238E27FC236}">
                    <a16:creationId xmlns:a16="http://schemas.microsoft.com/office/drawing/2014/main" id="{9F143A09-D4CD-478C-986D-ABA982C08A3D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文本框 6">
                <a:extLst>
                  <a:ext uri="{FF2B5EF4-FFF2-40B4-BE49-F238E27FC236}">
                    <a16:creationId xmlns:a16="http://schemas.microsoft.com/office/drawing/2014/main" id="{96CBDDB7-97FF-4E42-9FC7-9C8B5B4EB012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98E69AE-84F9-42F1-B3E5-126B0B3A72DD}"/>
                </a:ext>
              </a:extLst>
            </p:cNvPr>
            <p:cNvSpPr/>
            <p:nvPr/>
          </p:nvSpPr>
          <p:spPr>
            <a:xfrm>
              <a:off x="2974848" y="2567262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D209E5-08A3-4E66-AAF8-EAB6C9CC0B6F}"/>
              </a:ext>
            </a:extLst>
          </p:cNvPr>
          <p:cNvGrpSpPr/>
          <p:nvPr/>
        </p:nvGrpSpPr>
        <p:grpSpPr>
          <a:xfrm>
            <a:off x="3455383" y="2927306"/>
            <a:ext cx="583217" cy="627185"/>
            <a:chOff x="2720816" y="2567262"/>
            <a:chExt cx="684000" cy="627185"/>
          </a:xfrm>
        </p:grpSpPr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D6740B6C-04E7-4F68-AC41-6097C05BD556}"/>
                </a:ext>
              </a:extLst>
            </p:cNvPr>
            <p:cNvGrpSpPr/>
            <p:nvPr/>
          </p:nvGrpSpPr>
          <p:grpSpPr>
            <a:xfrm>
              <a:off x="2720816" y="2825115"/>
              <a:ext cx="684000" cy="369332"/>
              <a:chOff x="2720816" y="2825115"/>
              <a:chExt cx="684000" cy="369332"/>
            </a:xfrm>
          </p:grpSpPr>
          <p:cxnSp>
            <p:nvCxnSpPr>
              <p:cNvPr id="19" name="直接箭头连接符 1">
                <a:extLst>
                  <a:ext uri="{FF2B5EF4-FFF2-40B4-BE49-F238E27FC236}">
                    <a16:creationId xmlns:a16="http://schemas.microsoft.com/office/drawing/2014/main" id="{7F835900-F0BE-4C5B-AAD1-679AE3D83FDE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文本框 6">
                <a:extLst>
                  <a:ext uri="{FF2B5EF4-FFF2-40B4-BE49-F238E27FC236}">
                    <a16:creationId xmlns:a16="http://schemas.microsoft.com/office/drawing/2014/main" id="{07A1F0DE-DDF6-4EE9-ABB6-440E65675416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89AC651-E236-49A8-895E-E87A74841B97}"/>
                </a:ext>
              </a:extLst>
            </p:cNvPr>
            <p:cNvSpPr/>
            <p:nvPr/>
          </p:nvSpPr>
          <p:spPr>
            <a:xfrm>
              <a:off x="2974848" y="2567262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595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4. </a:t>
            </a:r>
            <a:r>
              <a:rPr lang="zh-CN" altLang="en-US" sz="3000" dirty="0"/>
              <a:t>甲醇 ； 丙二醇；苯甲醇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2n+1</a:t>
            </a:r>
            <a:r>
              <a:rPr lang="en-US" altLang="zh-CN" sz="3000" dirty="0"/>
              <a:t>OH : </a:t>
            </a:r>
            <a:r>
              <a:rPr lang="zh-CN" altLang="en-US" sz="3000" dirty="0"/>
              <a:t>当</a:t>
            </a:r>
            <a:r>
              <a:rPr lang="en-US" altLang="zh-CN" sz="3000" dirty="0"/>
              <a:t>n=2</a:t>
            </a:r>
            <a:r>
              <a:rPr lang="zh-CN" altLang="en-US" sz="3000" dirty="0"/>
              <a:t>时有同分异构体（乙醇和甲醚）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当</a:t>
            </a:r>
            <a:r>
              <a:rPr lang="en-US" altLang="zh-CN" sz="3000" dirty="0"/>
              <a:t>n=3</a:t>
            </a:r>
            <a:r>
              <a:rPr lang="zh-CN" altLang="en-US" sz="3000" dirty="0"/>
              <a:t>时有醇的同分异构体（</a:t>
            </a:r>
            <a:r>
              <a:rPr lang="en-US" altLang="zh-CN" sz="3000" dirty="0"/>
              <a:t>1-</a:t>
            </a:r>
            <a:r>
              <a:rPr lang="zh-CN" altLang="en-US" sz="3000" dirty="0"/>
              <a:t>丙醇、</a:t>
            </a:r>
            <a:r>
              <a:rPr lang="en-US" altLang="zh-CN" sz="3000" dirty="0"/>
              <a:t>2-</a:t>
            </a:r>
            <a:r>
              <a:rPr lang="zh-CN" altLang="en-US" sz="3000" dirty="0"/>
              <a:t>丙醇）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与浓硫酸在</a:t>
            </a:r>
            <a:r>
              <a:rPr lang="en-US" altLang="zh-CN" sz="3000" dirty="0"/>
              <a:t>170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 </a:t>
            </a:r>
            <a:r>
              <a:rPr lang="zh-CN" altLang="en-US" sz="3000" dirty="0"/>
              <a:t>下反应可生成两种不饱和烃的醇：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2-</a:t>
            </a:r>
            <a:r>
              <a:rPr lang="zh-CN" altLang="en-US" sz="3000" dirty="0"/>
              <a:t>丁醇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不能发生催化氧化的醇是：三级醇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21" name="Picture 20" descr="121.jpg">
            <a:extLst>
              <a:ext uri="{FF2B5EF4-FFF2-40B4-BE49-F238E27FC236}">
                <a16:creationId xmlns:a16="http://schemas.microsoft.com/office/drawing/2014/main" id="{74E7D19C-4FC8-4A48-92B6-66D3025F63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25" t="19105" r="20213" b="62850"/>
          <a:stretch>
            <a:fillRect/>
          </a:stretch>
        </p:blipFill>
        <p:spPr>
          <a:xfrm>
            <a:off x="4986412" y="897685"/>
            <a:ext cx="26670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825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5.</a:t>
            </a:r>
            <a:r>
              <a:rPr lang="zh-CN" altLang="en-US" sz="3000" dirty="0"/>
              <a:t>纯净苯酚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无色晶体</a:t>
            </a:r>
            <a:endParaRPr lang="en-MY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部分苯酚被氧气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氧化</a:t>
            </a:r>
            <a:r>
              <a:rPr lang="zh-CN" altLang="en-US" sz="3000" dirty="0"/>
              <a:t>呈粉红色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65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 C</a:t>
            </a:r>
            <a:r>
              <a:rPr lang="zh-CN" altLang="en-US" sz="3000" dirty="0"/>
              <a:t>以上液体会变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澄清</a:t>
            </a:r>
            <a:r>
              <a:rPr lang="zh-CN" altLang="en-US" sz="3000" dirty="0"/>
              <a:t>，冷却后又变回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浑浊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说明</a:t>
            </a:r>
            <a:r>
              <a:rPr lang="en-US" altLang="zh-CN" sz="3000" dirty="0"/>
              <a:t>65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 C</a:t>
            </a:r>
            <a:r>
              <a:rPr lang="zh-CN" altLang="en-US" sz="3000" dirty="0"/>
              <a:t>以上苯酚可与水以任何比例互溶。</a:t>
            </a:r>
            <a:r>
              <a:rPr lang="en-US" altLang="zh-CN" sz="3000" dirty="0"/>
              <a:t>  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4173085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3000" dirty="0"/>
                  <a:t>6. 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C</a:t>
                </a:r>
                <a:r>
                  <a:rPr lang="en-US" altLang="zh-CN" sz="30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lang="en-US" altLang="zh-CN" sz="3000" dirty="0"/>
                  <a:t> x 2.64g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3000" dirty="0"/>
                  <a:t>		= 0.72g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H</a:t>
                </a:r>
                <a:r>
                  <a:rPr lang="en-US" altLang="zh-CN" sz="3000" baseline="-25000" dirty="0"/>
                  <a:t>  </a:t>
                </a:r>
                <a:r>
                  <a:rPr lang="en-US" altLang="zh-CN" sz="3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altLang="zh-CN" sz="3000" dirty="0"/>
                  <a:t>   x 0.54g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3000" dirty="0"/>
                  <a:t>		= 0.06g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O</a:t>
                </a:r>
                <a:r>
                  <a:rPr lang="en-US" altLang="zh-CN" sz="3000" baseline="-25000" dirty="0"/>
                  <a:t> </a:t>
                </a:r>
                <a:r>
                  <a:rPr lang="en-US" altLang="zh-CN" sz="3000" dirty="0"/>
                  <a:t> = 0.94g-0.72g-0.06g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3000" dirty="0"/>
                  <a:t>		 = 0.16g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MY" altLang="zh-CN" sz="3000" dirty="0"/>
                  <a:t>	N(C)  : N(H) :</a:t>
                </a:r>
                <a:r>
                  <a:rPr lang="zh-CN" altLang="en-US" sz="3000" dirty="0"/>
                  <a:t> </a:t>
                </a:r>
                <a:r>
                  <a:rPr lang="en-MY" altLang="zh-CN" sz="3000" dirty="0"/>
                  <a:t>N(O)</a:t>
                </a:r>
                <a:endParaRPr lang="en-US" altLang="zh-CN" sz="3000" dirty="0"/>
              </a:p>
              <a:p>
                <a:pPr>
                  <a:spcBef>
                    <a:spcPts val="0"/>
                  </a:spcBef>
                  <a:buClr>
                    <a:schemeClr val="bg1"/>
                  </a:buClr>
                </a:pPr>
                <a:r>
                  <a:rPr lang="en-US" altLang="zh-CN" sz="3000" dirty="0"/>
                  <a:t>=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0.72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3000" dirty="0"/>
                  <a:t> </a:t>
                </a:r>
                <a:r>
                  <a:rPr lang="zh-CN" altLang="en-US" sz="3000" dirty="0"/>
                  <a:t>  </a:t>
                </a:r>
                <a:r>
                  <a:rPr lang="en-US" altLang="zh-CN" sz="3000" dirty="0"/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0.06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3000" dirty="0"/>
                  <a:t> 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0.16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en-US" altLang="zh-CN" sz="3000" dirty="0"/>
              </a:p>
              <a:p>
                <a:pPr>
                  <a:spcBef>
                    <a:spcPts val="0"/>
                  </a:spcBef>
                  <a:buClr>
                    <a:schemeClr val="bg1"/>
                  </a:buClr>
                </a:pPr>
                <a:r>
                  <a:rPr lang="en-US" altLang="zh-CN" sz="3000" dirty="0"/>
                  <a:t>=    0.06  :  0.06 :  0.01 </a:t>
                </a:r>
              </a:p>
              <a:p>
                <a:pPr>
                  <a:spcBef>
                    <a:spcPts val="0"/>
                  </a:spcBef>
                  <a:buClr>
                    <a:schemeClr val="bg1"/>
                  </a:buClr>
                </a:pPr>
                <a:r>
                  <a:rPr lang="en-US" altLang="zh-CN" sz="3000" dirty="0"/>
                  <a:t>=6:6:1 </a:t>
                </a:r>
              </a:p>
              <a:p>
                <a:pPr>
                  <a:spcBef>
                    <a:spcPts val="0"/>
                  </a:spcBef>
                  <a:buClr>
                    <a:schemeClr val="bg1"/>
                  </a:buClr>
                </a:pPr>
                <a:r>
                  <a:rPr lang="zh-CN" altLang="en-US" sz="3000" dirty="0"/>
                  <a:t>实验式：</a:t>
                </a:r>
                <a:r>
                  <a:rPr lang="en-US" altLang="zh-CN" sz="3000" dirty="0"/>
                  <a:t>C</a:t>
                </a:r>
                <a:r>
                  <a:rPr lang="en-US" altLang="zh-CN" sz="3000" baseline="-25000" dirty="0"/>
                  <a:t>6</a:t>
                </a:r>
                <a:r>
                  <a:rPr lang="en-US" altLang="zh-CN" sz="3000" dirty="0"/>
                  <a:t>H</a:t>
                </a:r>
                <a:r>
                  <a:rPr lang="en-US" altLang="zh-CN" sz="3000" baseline="-25000" dirty="0"/>
                  <a:t>6</a:t>
                </a:r>
                <a:r>
                  <a:rPr lang="en-US" altLang="zh-CN" sz="3000" dirty="0"/>
                  <a:t>O</a:t>
                </a:r>
              </a:p>
              <a:p>
                <a:pPr marL="514350" indent="-514350">
                  <a:spcBef>
                    <a:spcPts val="1200"/>
                  </a:spcBef>
                  <a:buNone/>
                </a:pPr>
                <a:endParaRPr lang="en-US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  <a:blipFill>
                <a:blip r:embed="rId3"/>
                <a:stretch>
                  <a:fillRect l="-1614" b="-41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436DDFF-357C-4BF3-9974-83F4FAC7C1AB}"/>
              </a:ext>
            </a:extLst>
          </p:cNvPr>
          <p:cNvSpPr/>
          <p:nvPr/>
        </p:nvSpPr>
        <p:spPr>
          <a:xfrm>
            <a:off x="4608341" y="1202485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dirty="0"/>
              <a:t>    </a:t>
            </a:r>
            <a:r>
              <a:rPr lang="en-US" sz="2800" dirty="0" err="1"/>
              <a:t>M</a:t>
            </a:r>
            <a:r>
              <a:rPr lang="en-US" sz="2800" baseline="-25000" dirty="0" err="1"/>
              <a:t>r</a:t>
            </a:r>
            <a:r>
              <a:rPr lang="en-US" sz="2800" dirty="0"/>
              <a:t> (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6n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6n </a:t>
            </a:r>
            <a:r>
              <a:rPr lang="en-US" sz="2800" dirty="0"/>
              <a:t>O</a:t>
            </a:r>
            <a:r>
              <a:rPr lang="en-US" sz="2800" baseline="-25000" dirty="0"/>
              <a:t>n</a:t>
            </a:r>
            <a:r>
              <a:rPr lang="en-US" sz="2800" dirty="0"/>
              <a:t> )= 94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/>
              <a:t>12x6n + 6n+ 16n= 94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	 	    n =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2B639-479F-48B3-84D2-435D0ABD5746}"/>
              </a:ext>
            </a:extLst>
          </p:cNvPr>
          <p:cNvSpPr/>
          <p:nvPr/>
        </p:nvSpPr>
        <p:spPr>
          <a:xfrm>
            <a:off x="4882692" y="2699206"/>
            <a:ext cx="29659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800" dirty="0"/>
              <a:t>分子式：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</a:t>
            </a:r>
            <a:r>
              <a:rPr lang="en-US" sz="2800" dirty="0"/>
              <a:t>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2425C-BBAC-4DA8-928D-BB026BE93D3D}"/>
              </a:ext>
            </a:extLst>
          </p:cNvPr>
          <p:cNvSpPr/>
          <p:nvPr/>
        </p:nvSpPr>
        <p:spPr>
          <a:xfrm>
            <a:off x="4882692" y="3578080"/>
            <a:ext cx="29659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800" dirty="0"/>
              <a:t>结构简式：</a:t>
            </a:r>
            <a:endParaRPr lang="en-US" sz="2800" dirty="0"/>
          </a:p>
        </p:txBody>
      </p:sp>
      <p:pic>
        <p:nvPicPr>
          <p:cNvPr id="8" name="Picture 7" descr="123b.tif">
            <a:extLst>
              <a:ext uri="{FF2B5EF4-FFF2-40B4-BE49-F238E27FC236}">
                <a16:creationId xmlns:a16="http://schemas.microsoft.com/office/drawing/2014/main" id="{35344647-0210-404C-B685-774F5B836D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307" t="31265" r="70069" b="55859"/>
          <a:stretch/>
        </p:blipFill>
        <p:spPr>
          <a:xfrm>
            <a:off x="5486400" y="4167346"/>
            <a:ext cx="2133600" cy="11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236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3000" dirty="0"/>
              <a:t>7. </a:t>
            </a:r>
            <a:r>
              <a:rPr lang="en-US" altLang="zh-CN" sz="3000" dirty="0">
                <a:solidFill>
                  <a:srgbClr val="000000"/>
                </a:solidFill>
              </a:rPr>
              <a:t>(1) </a:t>
            </a:r>
            <a:r>
              <a:rPr lang="zh-CN" altLang="en-US" sz="3000" dirty="0">
                <a:solidFill>
                  <a:srgbClr val="000000"/>
                </a:solidFill>
              </a:rPr>
              <a:t>萃取、分液；分液漏斗</a:t>
            </a:r>
            <a:endParaRPr lang="en-MY" altLang="zh-CN" sz="30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MY" altLang="en-US" sz="3000" dirty="0"/>
              <a:t>(2) </a:t>
            </a:r>
            <a:r>
              <a:rPr lang="zh-CN" altLang="en-US" sz="3000" dirty="0"/>
              <a:t>苯酚钠；碳酸氢钠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AutoNum type="arabicParenBoth" startAt="3"/>
            </a:pPr>
            <a:r>
              <a:rPr lang="en-US" altLang="en-US" sz="3000" dirty="0">
                <a:solidFill>
                  <a:srgbClr val="000000"/>
                </a:solidFill>
              </a:rPr>
              <a:t>      	         + CO</a:t>
            </a:r>
            <a:r>
              <a:rPr lang="en-US" altLang="en-US" sz="3000" baseline="-30000" dirty="0">
                <a:solidFill>
                  <a:srgbClr val="000000"/>
                </a:solidFill>
              </a:rPr>
              <a:t>2</a:t>
            </a:r>
            <a:r>
              <a:rPr lang="en-US" altLang="en-US" sz="3000" dirty="0">
                <a:solidFill>
                  <a:srgbClr val="000000"/>
                </a:solidFill>
              </a:rPr>
              <a:t>+H</a:t>
            </a:r>
            <a:r>
              <a:rPr lang="en-US" altLang="en-US" sz="3000" baseline="-30000" dirty="0">
                <a:solidFill>
                  <a:srgbClr val="000000"/>
                </a:solidFill>
              </a:rPr>
              <a:t>2</a:t>
            </a:r>
            <a:r>
              <a:rPr lang="en-US" altLang="en-US" sz="3000" dirty="0">
                <a:solidFill>
                  <a:srgbClr val="000000"/>
                </a:solidFill>
              </a:rPr>
              <a:t>O→ </a:t>
            </a:r>
            <a:r>
              <a:rPr lang="en-US" altLang="en-US" sz="3000" dirty="0"/>
              <a:t>    		     </a:t>
            </a:r>
            <a:r>
              <a:rPr lang="en-US" altLang="en-US" sz="3000" dirty="0">
                <a:solidFill>
                  <a:srgbClr val="000000"/>
                </a:solidFill>
              </a:rPr>
              <a:t>+NaHCO</a:t>
            </a:r>
            <a:r>
              <a:rPr lang="en-US" altLang="en-US" sz="3000" baseline="-30000" dirty="0">
                <a:solidFill>
                  <a:srgbClr val="000000"/>
                </a:solidFill>
              </a:rPr>
              <a:t>3</a:t>
            </a:r>
            <a:endParaRPr lang="en-US" altLang="en-US" sz="30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AutoNum type="arabicParenBoth" startAt="3"/>
            </a:pPr>
            <a:r>
              <a:rPr lang="en-US" altLang="en-US" sz="3000" dirty="0">
                <a:solidFill>
                  <a:srgbClr val="000000"/>
                </a:solidFill>
              </a:rPr>
              <a:t>CaCO</a:t>
            </a:r>
            <a:r>
              <a:rPr lang="en-US" altLang="en-US" sz="3000" baseline="-25000" dirty="0">
                <a:solidFill>
                  <a:srgbClr val="000000"/>
                </a:solidFill>
              </a:rPr>
              <a:t>3</a:t>
            </a:r>
            <a:r>
              <a:rPr lang="en-US" altLang="en-US" sz="3000" dirty="0">
                <a:solidFill>
                  <a:srgbClr val="000000"/>
                </a:solidFill>
              </a:rPr>
              <a:t> </a:t>
            </a:r>
            <a:r>
              <a:rPr lang="zh-CN" altLang="en-US" sz="3000" dirty="0">
                <a:solidFill>
                  <a:srgbClr val="000000"/>
                </a:solidFill>
              </a:rPr>
              <a:t>；过滤</a:t>
            </a:r>
            <a:endParaRPr lang="en-MY" altLang="zh-CN" sz="3000" dirty="0">
              <a:solidFill>
                <a:srgbClr val="00000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AutoNum type="arabicParenBoth" startAt="3"/>
            </a:pPr>
            <a:r>
              <a:rPr lang="en-US" altLang="zh-CN" sz="3000" dirty="0">
                <a:solidFill>
                  <a:srgbClr val="000000"/>
                </a:solidFill>
              </a:rPr>
              <a:t>CO</a:t>
            </a:r>
            <a:r>
              <a:rPr lang="en-US" altLang="zh-CN" sz="3000" baseline="-25000" dirty="0">
                <a:solidFill>
                  <a:srgbClr val="000000"/>
                </a:solidFill>
              </a:rPr>
              <a:t>2</a:t>
            </a:r>
            <a:r>
              <a:rPr lang="en-US" altLang="zh-CN" sz="3000" dirty="0">
                <a:solidFill>
                  <a:srgbClr val="000000"/>
                </a:solidFill>
              </a:rPr>
              <a:t> </a:t>
            </a:r>
            <a:r>
              <a:rPr lang="zh-CN" altLang="en-US" sz="3000" dirty="0">
                <a:solidFill>
                  <a:srgbClr val="000000"/>
                </a:solidFill>
              </a:rPr>
              <a:t>、</a:t>
            </a:r>
            <a:r>
              <a:rPr lang="en-US" altLang="zh-CN" sz="3000" dirty="0">
                <a:solidFill>
                  <a:srgbClr val="000000"/>
                </a:solidFill>
              </a:rPr>
              <a:t>NaOH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5D1EFB-C3AB-42D0-AA8B-259CD60A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123b.tif">
            <a:extLst>
              <a:ext uri="{FF2B5EF4-FFF2-40B4-BE49-F238E27FC236}">
                <a16:creationId xmlns:a16="http://schemas.microsoft.com/office/drawing/2014/main" id="{F09CB5E7-03CC-4F03-83C8-F59F61C00A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19" t="33008" r="28557" b="57237"/>
          <a:stretch/>
        </p:blipFill>
        <p:spPr>
          <a:xfrm>
            <a:off x="838200" y="2690992"/>
            <a:ext cx="2133600" cy="838200"/>
          </a:xfrm>
          <a:prstGeom prst="rect">
            <a:avLst/>
          </a:prstGeom>
        </p:spPr>
      </p:pic>
      <p:pic>
        <p:nvPicPr>
          <p:cNvPr id="9" name="Picture 8" descr="123b.tif">
            <a:extLst>
              <a:ext uri="{FF2B5EF4-FFF2-40B4-BE49-F238E27FC236}">
                <a16:creationId xmlns:a16="http://schemas.microsoft.com/office/drawing/2014/main" id="{749D8128-564B-42CA-AAF1-BEB7D5B3BE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07" t="31265" r="70069" b="55859"/>
          <a:stretch/>
        </p:blipFill>
        <p:spPr>
          <a:xfrm>
            <a:off x="5029200" y="2556904"/>
            <a:ext cx="2133600" cy="11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856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en-US" altLang="zh-CN" sz="2400" dirty="0"/>
              <a:t>7. </a:t>
            </a:r>
            <a:r>
              <a:rPr lang="zh-CN" altLang="en-US" sz="2400" dirty="0"/>
              <a:t>解析：试题的前半部分，主要涉及废水中苯酚的处理方法。注意分析在废水处理过程中苯酚的存在形式的变化：</a:t>
            </a:r>
            <a:br>
              <a:rPr lang="zh-CN" altLang="en-US" sz="2400" dirty="0"/>
            </a:br>
            <a:r>
              <a:rPr lang="zh-CN" altLang="en-US" sz="2400" dirty="0"/>
              <a:t>苯酚和水的混合物→苯酚和苯的混合物→苯酚钠的水溶液→苯酚的水溶液→苯酚</a:t>
            </a:r>
            <a:br>
              <a:rPr lang="zh-CN" altLang="en-US" sz="2400" dirty="0"/>
            </a:br>
            <a:r>
              <a:rPr lang="zh-CN" altLang="en-US" sz="2400" dirty="0"/>
              <a:t>首先在设备</a:t>
            </a:r>
            <a:r>
              <a:rPr lang="en-MY" altLang="zh-CN" sz="2400" dirty="0"/>
              <a:t>I</a:t>
            </a:r>
            <a:r>
              <a:rPr lang="zh-CN" altLang="en-US" sz="2400" dirty="0"/>
              <a:t>中用苯将水溶液中浓度较低的苯酚萃取出来，在设备</a:t>
            </a:r>
            <a:r>
              <a:rPr lang="en-US" altLang="zh-CN" sz="2400" dirty="0"/>
              <a:t>II</a:t>
            </a:r>
            <a:r>
              <a:rPr lang="zh-CN" altLang="en-US" sz="2400" dirty="0"/>
              <a:t>中将苯酚转化为苯酚钠而实现苯酚与苯的分离，最后在设备</a:t>
            </a:r>
            <a:r>
              <a:rPr lang="en-US" altLang="zh-CN" sz="2400" dirty="0"/>
              <a:t>III</a:t>
            </a:r>
            <a:r>
              <a:rPr lang="zh-CN" altLang="en-US" sz="2400" dirty="0"/>
              <a:t>中再将苯酚钠转变为常温下在水溶液中溶解度较小的苯酚，并将其分离出来。进入设备</a:t>
            </a:r>
            <a:r>
              <a:rPr lang="en-US" altLang="zh-CN" sz="2400" dirty="0"/>
              <a:t>IV</a:t>
            </a:r>
            <a:r>
              <a:rPr lang="zh-CN" altLang="en-US" sz="2400" dirty="0"/>
              <a:t>的应是苯酚与二氧化碳反应后的产物碳酸氢钠，设备</a:t>
            </a:r>
            <a:r>
              <a:rPr lang="en-US" altLang="zh-CN" sz="2400" dirty="0"/>
              <a:t>OV</a:t>
            </a:r>
            <a:r>
              <a:rPr lang="zh-CN" altLang="en-US" sz="2400" dirty="0"/>
              <a:t>中发生的反应为</a:t>
            </a:r>
            <a:r>
              <a:rPr lang="en-US" altLang="zh-CN" sz="2400" dirty="0"/>
              <a:t>Ca+H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O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en-US" altLang="zh-CN" sz="2400" dirty="0"/>
              <a:t>Ca</a:t>
            </a:r>
            <a:r>
              <a:rPr lang="en-MY" altLang="zh-CN" sz="2400" dirty="0"/>
              <a:t>(</a:t>
            </a:r>
            <a:r>
              <a:rPr lang="en-US" altLang="zh-CN" sz="2400" dirty="0"/>
              <a:t>OH</a:t>
            </a:r>
            <a:r>
              <a:rPr lang="en-MY" altLang="zh-CN" sz="2400" dirty="0"/>
              <a:t>)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NaHCO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+Ca</a:t>
            </a:r>
            <a:r>
              <a:rPr lang="en-MY" altLang="zh-CN" sz="2400" dirty="0"/>
              <a:t>(</a:t>
            </a:r>
            <a:r>
              <a:rPr lang="en-US" altLang="zh-CN" sz="2400" dirty="0"/>
              <a:t>OH)</a:t>
            </a:r>
            <a:r>
              <a:rPr lang="en-US" altLang="zh-CN" sz="2400" baseline="-25000" dirty="0"/>
              <a:t>2</a:t>
            </a:r>
            <a:r>
              <a:rPr lang="en-MY" altLang="zh-CN" sz="2400" dirty="0">
                <a:sym typeface="Wingdings" panose="05000000000000000000" pitchFamily="2" charset="2"/>
              </a:rPr>
              <a:t> </a:t>
            </a:r>
            <a:r>
              <a:rPr lang="en-US" altLang="zh-CN" sz="2400" dirty="0"/>
              <a:t>CaCO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＋</a:t>
            </a:r>
            <a:r>
              <a:rPr lang="en-US" altLang="zh-CN" sz="2400" dirty="0"/>
              <a:t>NaOH</a:t>
            </a:r>
            <a:r>
              <a:rPr lang="zh-CN" altLang="en-US" sz="2400" dirty="0"/>
              <a:t>＋</a:t>
            </a:r>
            <a:r>
              <a:rPr lang="en-US" altLang="zh-CN" sz="2400" dirty="0"/>
              <a:t>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O</a:t>
            </a:r>
            <a:r>
              <a:rPr lang="zh-CN" altLang="en-US" sz="2400" dirty="0"/>
              <a:t>。经过滤后，生成的</a:t>
            </a:r>
            <a:r>
              <a:rPr lang="en-US" altLang="zh-CN" sz="2400" dirty="0"/>
              <a:t>NaOH</a:t>
            </a:r>
            <a:r>
              <a:rPr lang="zh-CN" altLang="en-US" sz="2400" dirty="0"/>
              <a:t>可循环使用，</a:t>
            </a:r>
            <a:r>
              <a:rPr lang="en-US" altLang="zh-CN" sz="2400" dirty="0"/>
              <a:t>CaCO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在设备</a:t>
            </a:r>
            <a:r>
              <a:rPr lang="en-US" altLang="zh-CN" sz="2400" dirty="0"/>
              <a:t>V</a:t>
            </a:r>
            <a:r>
              <a:rPr lang="zh-CN" altLang="en-US" sz="2400" dirty="0"/>
              <a:t>中经煅烧又可转化为</a:t>
            </a:r>
            <a:r>
              <a:rPr lang="en-US" altLang="zh-CN" sz="2400" dirty="0" err="1"/>
              <a:t>CaO</a:t>
            </a:r>
            <a:r>
              <a:rPr lang="zh-CN" altLang="en-US" sz="2400" dirty="0"/>
              <a:t>和</a:t>
            </a:r>
            <a:r>
              <a:rPr lang="en-US" altLang="zh-CN" sz="2400" dirty="0"/>
              <a:t>CO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，进而可以进行循环使用。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7252448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6144806</TotalTime>
  <Words>4619</Words>
  <Application>Microsoft Office PowerPoint</Application>
  <PresentationFormat>On-screen Show (4:3)</PresentationFormat>
  <Paragraphs>538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宋体</vt:lpstr>
      <vt:lpstr>宋体</vt:lpstr>
      <vt:lpstr>Arial</vt:lpstr>
      <vt:lpstr>Calibri</vt:lpstr>
      <vt:lpstr>Cambria Math</vt:lpstr>
      <vt:lpstr>Wingdings</vt:lpstr>
      <vt:lpstr>Office Theme</vt:lpstr>
      <vt:lpstr>第32章  羟基化合物： 醇、酚</vt:lpstr>
      <vt:lpstr>32.1 醇</vt:lpstr>
      <vt:lpstr>32.1.1 醇的类别和命名</vt:lpstr>
      <vt:lpstr>32.1.1 醇的类别和命名</vt:lpstr>
      <vt:lpstr>32.1.1 醇的类别和命名</vt:lpstr>
      <vt:lpstr>32.1.1 醇的类别和命名</vt:lpstr>
      <vt:lpstr>32.1.1 醇的类别和命名</vt:lpstr>
      <vt:lpstr>32.1.1 醇的类别和命名</vt:lpstr>
      <vt:lpstr>32.1.1 醇的类别和命名</vt:lpstr>
      <vt:lpstr>思考题 32a</vt:lpstr>
      <vt:lpstr>32.1.2 醇的物理性质</vt:lpstr>
      <vt:lpstr>32.1.2 醇的物理性质</vt:lpstr>
      <vt:lpstr>27.2.3 醇的性质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32.1.3 醇的化学性质</vt:lpstr>
      <vt:lpstr>思考题 32b</vt:lpstr>
      <vt:lpstr>32.1.4 醇的制法</vt:lpstr>
      <vt:lpstr>32.1.4 醇的制法</vt:lpstr>
      <vt:lpstr>思考题 32c</vt:lpstr>
      <vt:lpstr>32.1.5 几种重要的醇</vt:lpstr>
      <vt:lpstr>32.1.5 几种重要的醇</vt:lpstr>
      <vt:lpstr>32.1.5 几种重要的醇</vt:lpstr>
      <vt:lpstr>32.2 酚</vt:lpstr>
      <vt:lpstr>32.2 酚</vt:lpstr>
      <vt:lpstr>32.2 酚</vt:lpstr>
      <vt:lpstr>32.2 酚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32.2.2 苯酚的化学性质</vt:lpstr>
      <vt:lpstr>32.2.3 苯酚的工业制法</vt:lpstr>
      <vt:lpstr>32.2.3 苯酚的工业制法</vt:lpstr>
      <vt:lpstr>选择题</vt:lpstr>
      <vt:lpstr>选择题</vt:lpstr>
      <vt:lpstr>选择题</vt:lpstr>
      <vt:lpstr>选择题</vt:lpstr>
      <vt:lpstr>选择题</vt:lpstr>
      <vt:lpstr>作答题（1，2，3，6）</vt:lpstr>
      <vt:lpstr>作答题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708</cp:revision>
  <dcterms:created xsi:type="dcterms:W3CDTF">2018-09-03T09:52:37Z</dcterms:created>
  <dcterms:modified xsi:type="dcterms:W3CDTF">2020-03-29T08:24:56Z</dcterms:modified>
</cp:coreProperties>
</file>