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6"/>
  </p:notesMasterIdLst>
  <p:sldIdLst>
    <p:sldId id="258" r:id="rId2"/>
    <p:sldId id="291" r:id="rId3"/>
    <p:sldId id="335" r:id="rId4"/>
    <p:sldId id="285" r:id="rId5"/>
    <p:sldId id="292" r:id="rId6"/>
    <p:sldId id="293" r:id="rId7"/>
    <p:sldId id="314" r:id="rId8"/>
    <p:sldId id="311" r:id="rId9"/>
    <p:sldId id="312" r:id="rId10"/>
    <p:sldId id="315" r:id="rId11"/>
    <p:sldId id="333" r:id="rId12"/>
    <p:sldId id="316" r:id="rId13"/>
    <p:sldId id="336" r:id="rId14"/>
    <p:sldId id="320" r:id="rId15"/>
    <p:sldId id="337" r:id="rId16"/>
    <p:sldId id="317" r:id="rId17"/>
    <p:sldId id="338" r:id="rId18"/>
    <p:sldId id="318" r:id="rId19"/>
    <p:sldId id="319" r:id="rId20"/>
    <p:sldId id="339" r:id="rId21"/>
    <p:sldId id="295" r:id="rId22"/>
    <p:sldId id="340" r:id="rId23"/>
    <p:sldId id="296" r:id="rId24"/>
    <p:sldId id="297" r:id="rId25"/>
    <p:sldId id="300" r:id="rId26"/>
    <p:sldId id="341" r:id="rId27"/>
    <p:sldId id="342" r:id="rId28"/>
    <p:sldId id="301" r:id="rId29"/>
    <p:sldId id="343" r:id="rId30"/>
    <p:sldId id="302" r:id="rId31"/>
    <p:sldId id="303" r:id="rId32"/>
    <p:sldId id="304" r:id="rId33"/>
    <p:sldId id="323" r:id="rId34"/>
    <p:sldId id="324" r:id="rId35"/>
    <p:sldId id="344" r:id="rId36"/>
    <p:sldId id="306" r:id="rId37"/>
    <p:sldId id="345" r:id="rId38"/>
    <p:sldId id="307" r:id="rId39"/>
    <p:sldId id="321" r:id="rId40"/>
    <p:sldId id="347" r:id="rId41"/>
    <p:sldId id="308" r:id="rId42"/>
    <p:sldId id="322" r:id="rId43"/>
    <p:sldId id="334" r:id="rId44"/>
    <p:sldId id="346" r:id="rId45"/>
    <p:sldId id="325" r:id="rId46"/>
    <p:sldId id="348" r:id="rId47"/>
    <p:sldId id="326" r:id="rId48"/>
    <p:sldId id="327" r:id="rId49"/>
    <p:sldId id="328" r:id="rId50"/>
    <p:sldId id="331" r:id="rId51"/>
    <p:sldId id="349" r:id="rId52"/>
    <p:sldId id="350" r:id="rId53"/>
    <p:sldId id="351" r:id="rId54"/>
    <p:sldId id="352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9" autoAdjust="0"/>
    <p:restoredTop sz="94660"/>
  </p:normalViewPr>
  <p:slideViewPr>
    <p:cSldViewPr>
      <p:cViewPr>
        <p:scale>
          <a:sx n="118" d="100"/>
          <a:sy n="118" d="100"/>
        </p:scale>
        <p:origin x="13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22348-5484-4EBC-8C92-27028ED3806F}" type="datetimeFigureOut">
              <a:rPr lang="en-MY" smtClean="0"/>
              <a:t>9/6/2025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46595-C5DE-4FD6-B918-2ACB9AB52B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270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46595-C5DE-4FD6-B918-2ACB9AB52B9E}" type="slidenum">
              <a:rPr lang="en-MY" smtClean="0"/>
              <a:t>47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17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18.jpeg"/><Relationship Id="rId4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2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30</a:t>
            </a: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芳香烃</a:t>
            </a:r>
            <a:endParaRPr lang="en-US" sz="8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芳香族化合物</a:t>
            </a:r>
            <a:r>
              <a:rPr lang="zh-CN" altLang="en-US" sz="3000" dirty="0"/>
              <a:t>：是一类具有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苯环结构</a:t>
            </a:r>
            <a:r>
              <a:rPr lang="zh-CN" altLang="en-US" sz="3000" dirty="0"/>
              <a:t>的化合物，它们结构稳定，不易分解，且毒性很强，会对环境造成严重的污染。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历史上早期发现的这类化合物多有芳香味道，所以称这些烃类物质为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芳香烃</a:t>
            </a:r>
            <a:r>
              <a:rPr lang="zh-CN" altLang="en-US" sz="3000" dirty="0"/>
              <a:t>，后来发现的不具有芳香味道的烃类也都统一沿用这种叫法。 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第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章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芳香烃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None/>
                </a:pPr>
                <a:r>
                  <a:rPr lang="zh-CN" altLang="en-US" sz="3000" dirty="0"/>
                  <a:t>交流分享</a:t>
                </a:r>
                <a:endParaRPr lang="en-MY" altLang="zh-CN" sz="3000" dirty="0"/>
              </a:p>
              <a:p>
                <a:pPr marL="514350" indent="-514350">
                  <a:buNone/>
                </a:pPr>
                <a:r>
                  <a:rPr lang="en-MY" altLang="zh-CN" sz="3000" dirty="0"/>
                  <a:t>N</a:t>
                </a:r>
                <a:r>
                  <a:rPr lang="en-MY" altLang="zh-CN" sz="3000" baseline="-25000" dirty="0"/>
                  <a:t>c</a:t>
                </a:r>
                <a:r>
                  <a:rPr lang="en-MY" altLang="zh-CN" sz="3000" dirty="0"/>
                  <a:t> : N</a:t>
                </a:r>
                <a:r>
                  <a:rPr lang="en-MY" altLang="zh-CN" sz="3000" baseline="-25000" dirty="0"/>
                  <a:t>H</a:t>
                </a:r>
                <a:r>
                  <a:rPr lang="en-MY" altLang="zh-CN" sz="3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92.3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MY" altLang="zh-CN" sz="3000" dirty="0"/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7.7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MY" altLang="zh-CN" sz="3000" dirty="0"/>
                  <a:t> </a:t>
                </a:r>
              </a:p>
              <a:p>
                <a:pPr marL="514350" indent="-514350">
                  <a:buNone/>
                </a:pPr>
                <a:r>
                  <a:rPr lang="en-MY" altLang="zh-CN" sz="3000" dirty="0"/>
                  <a:t>		  = 7.7 : 7.7 </a:t>
                </a:r>
              </a:p>
              <a:p>
                <a:pPr marL="514350" indent="-514350">
                  <a:buNone/>
                </a:pPr>
                <a:r>
                  <a:rPr lang="en-MY" altLang="zh-CN" sz="3000" dirty="0"/>
                  <a:t>	   	  = 1:1 </a:t>
                </a:r>
              </a:p>
              <a:p>
                <a:pPr marL="514350" indent="-514350">
                  <a:buNone/>
                </a:pPr>
                <a:r>
                  <a:rPr lang="zh-CN" altLang="en-US" sz="3000" dirty="0"/>
                  <a:t>实验式</a:t>
                </a:r>
                <a:r>
                  <a:rPr lang="en-US" altLang="zh-CN" sz="3000" dirty="0"/>
                  <a:t>CH</a:t>
                </a:r>
                <a:endParaRPr lang="en-MY" altLang="zh-CN" sz="3000" dirty="0"/>
              </a:p>
              <a:p>
                <a:pPr marL="514350" indent="-514350">
                  <a:buNone/>
                </a:pPr>
                <a:r>
                  <a:rPr lang="en-MY" altLang="zh-CN" sz="3000" dirty="0"/>
                  <a:t>Mr (</a:t>
                </a:r>
                <a:r>
                  <a:rPr lang="en-MY" altLang="zh-CN" sz="3000" dirty="0" err="1"/>
                  <a:t>C</a:t>
                </a:r>
                <a:r>
                  <a:rPr lang="en-MY" altLang="zh-CN" sz="3000" baseline="-25000" dirty="0" err="1"/>
                  <a:t>n</a:t>
                </a:r>
                <a:r>
                  <a:rPr lang="en-MY" altLang="zh-CN" sz="3000" dirty="0" err="1"/>
                  <a:t>H</a:t>
                </a:r>
                <a:r>
                  <a:rPr lang="en-MY" altLang="zh-CN" sz="3000" baseline="-25000" dirty="0" err="1"/>
                  <a:t>n</a:t>
                </a:r>
                <a:r>
                  <a:rPr lang="en-MY" altLang="zh-CN" sz="3000" dirty="0"/>
                  <a:t>) = </a:t>
                </a:r>
                <a:r>
                  <a:rPr lang="en-US" altLang="zh-CN" sz="3000" dirty="0"/>
                  <a:t>78</a:t>
                </a:r>
              </a:p>
              <a:p>
                <a:pPr marL="514350" indent="-514350">
                  <a:buNone/>
                </a:pPr>
                <a:r>
                  <a:rPr lang="en-US" altLang="zh-CN" sz="3000" dirty="0"/>
                  <a:t>    12n + n =78</a:t>
                </a:r>
              </a:p>
              <a:p>
                <a:pPr marL="514350" indent="-514350">
                  <a:buNone/>
                </a:pPr>
                <a:r>
                  <a:rPr lang="en-US" altLang="zh-CN" sz="3000" dirty="0"/>
                  <a:t>	  	     n = 6</a:t>
                </a:r>
                <a:r>
                  <a:rPr lang="en-MY" altLang="zh-CN" sz="3000" dirty="0"/>
                  <a:t> </a:t>
                </a:r>
              </a:p>
              <a:p>
                <a:pPr marL="514350" indent="-514350">
                  <a:buNone/>
                </a:pPr>
                <a:r>
                  <a:rPr lang="zh-CN" altLang="en-US" sz="3000" dirty="0"/>
                  <a:t>分子式</a:t>
                </a:r>
                <a:r>
                  <a:rPr lang="en-US" altLang="zh-CN" sz="3000" dirty="0"/>
                  <a:t>C</a:t>
                </a:r>
                <a:r>
                  <a:rPr lang="en-US" altLang="zh-CN" sz="3000" baseline="-25000" dirty="0"/>
                  <a:t>6</a:t>
                </a:r>
                <a:r>
                  <a:rPr lang="en-US" altLang="zh-CN" sz="3000" dirty="0"/>
                  <a:t>H</a:t>
                </a:r>
                <a:r>
                  <a:rPr lang="en-US" altLang="zh-CN" sz="3000" baseline="-25000" dirty="0"/>
                  <a:t>6</a:t>
                </a:r>
                <a:r>
                  <a:rPr lang="en-US" altLang="zh-CN" sz="3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  <a:blipFill>
                <a:blip r:embed="rId3"/>
                <a:stretch>
                  <a:fillRect l="-1614" t="-17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800" b="1" dirty="0">
                <a:latin typeface="+mn-ea"/>
                <a:ea typeface="+mj-ea"/>
                <a:cs typeface="+mj-cs"/>
              </a:rPr>
              <a:t>30.1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苯的结构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2639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最简单的芳香烃：苯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分子式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6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苯分子中的</a:t>
            </a:r>
            <a:r>
              <a:rPr lang="en-US" altLang="zh-CN" sz="3000" dirty="0"/>
              <a:t>6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原子和</a:t>
            </a:r>
            <a:r>
              <a:rPr lang="en-MY" altLang="zh-CN" sz="3000" dirty="0"/>
              <a:t>6</a:t>
            </a:r>
            <a:r>
              <a:rPr lang="zh-CN" altLang="en-US" sz="3000" dirty="0"/>
              <a:t>个</a:t>
            </a:r>
            <a:r>
              <a:rPr lang="en-US" altLang="zh-CN" sz="3000" dirty="0"/>
              <a:t>H</a:t>
            </a:r>
            <a:r>
              <a:rPr lang="zh-CN" altLang="en-US" sz="3000" dirty="0"/>
              <a:t>原子都在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同一平面上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苯分子中的</a:t>
            </a:r>
            <a:r>
              <a:rPr lang="en-US" altLang="zh-CN" sz="3000" dirty="0"/>
              <a:t>6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原子构成一</a:t>
            </a:r>
            <a:r>
              <a:rPr lang="zh-CN" altLang="en-US" sz="3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六边形</a:t>
            </a:r>
            <a:r>
              <a:rPr lang="zh-CN" altLang="en-US" sz="3000" dirty="0"/>
              <a:t>，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碳碳键长完全相等。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dirty="0"/>
              <a:t>苯分子中的</a:t>
            </a:r>
            <a:r>
              <a:rPr lang="en-US" altLang="zh-CN" sz="3000" dirty="0"/>
              <a:t>6</a:t>
            </a:r>
            <a:r>
              <a:rPr lang="zh-CN" altLang="en-US" sz="3000" dirty="0"/>
              <a:t>个</a:t>
            </a:r>
            <a:r>
              <a:rPr lang="en-US" altLang="zh-CN" sz="3000" dirty="0"/>
              <a:t>H</a:t>
            </a:r>
            <a:r>
              <a:rPr lang="zh-CN" altLang="en-US" sz="3000" dirty="0"/>
              <a:t>原子所处的环境也完全相同。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800" b="1" dirty="0">
                <a:latin typeface="+mn-ea"/>
                <a:ea typeface="+mj-ea"/>
                <a:cs typeface="+mj-cs"/>
              </a:rPr>
              <a:t>30.1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苯的结构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凯库勒结构式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无法解释苯分子不易发生加成反应。</a:t>
            </a:r>
            <a:endParaRPr lang="en-US" altLang="zh-CN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9" name="Picture 8" descr="苯缩写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24000"/>
            <a:ext cx="402520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None/>
                </a:pPr>
                <a:r>
                  <a:rPr lang="zh-CN" altLang="en-US" sz="3000" dirty="0"/>
                  <a:t>轨域杂化理论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平面正六边形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键角</a:t>
                </a:r>
                <a:r>
                  <a:rPr lang="en-US" altLang="zh-CN" sz="3000" dirty="0"/>
                  <a:t>120</a:t>
                </a:r>
                <a:r>
                  <a:rPr lang="en-US" altLang="zh-CN" sz="3000" baseline="30000" dirty="0"/>
                  <a:t>o</a:t>
                </a:r>
                <a:r>
                  <a:rPr lang="en-US" altLang="zh-CN" sz="3000" dirty="0"/>
                  <a:t> </a:t>
                </a:r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en-US" altLang="zh-CN" sz="3000" dirty="0"/>
                  <a:t>C-C</a:t>
                </a:r>
                <a:r>
                  <a:rPr lang="zh-CN" altLang="en-US" sz="3000" dirty="0"/>
                  <a:t>之间键长与</a:t>
                </a:r>
                <a:r>
                  <a:rPr lang="en-US" altLang="zh-CN" sz="3000" dirty="0"/>
                  <a:t>C-C</a:t>
                </a:r>
                <a:r>
                  <a:rPr lang="zh-CN" altLang="en-US" sz="3000" dirty="0"/>
                  <a:t>单键和</a:t>
                </a:r>
                <a:r>
                  <a:rPr lang="en-US" altLang="zh-CN" sz="3000" dirty="0"/>
                  <a:t>C=C</a:t>
                </a:r>
                <a:r>
                  <a:rPr lang="zh-CN" altLang="en-US" sz="3000" dirty="0"/>
                  <a:t>双键都不同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en-US" altLang="zh-CN" sz="3000" dirty="0"/>
                  <a:t>sp</a:t>
                </a:r>
                <a:r>
                  <a:rPr lang="en-US" altLang="zh-CN" sz="3000" baseline="30000" dirty="0"/>
                  <a:t>2 </a:t>
                </a:r>
                <a:r>
                  <a:rPr lang="en-US" altLang="zh-CN" sz="3000" dirty="0"/>
                  <a:t> </a:t>
                </a:r>
                <a:r>
                  <a:rPr lang="zh-CN" altLang="en-US" sz="3000" dirty="0"/>
                  <a:t>杂化轨域，每个</a:t>
                </a:r>
                <a:r>
                  <a:rPr lang="en-US" altLang="zh-CN" sz="3000" dirty="0"/>
                  <a:t>C</a:t>
                </a:r>
                <a:r>
                  <a:rPr lang="zh-CN" altLang="en-US" sz="3000" dirty="0"/>
                  <a:t>以</a:t>
                </a:r>
                <a:r>
                  <a:rPr lang="en-US" altLang="zh-CN" sz="3000" dirty="0"/>
                  <a:t>3</a:t>
                </a:r>
                <a:r>
                  <a:rPr lang="zh-CN" altLang="en-US" sz="3000" dirty="0"/>
                  <a:t>个</a:t>
                </a:r>
                <a:r>
                  <a:rPr lang="el-GR" altLang="zh-CN" sz="3000" dirty="0"/>
                  <a:t>σ</a:t>
                </a:r>
                <a:r>
                  <a:rPr lang="zh-CN" altLang="en-US" sz="3000" dirty="0"/>
                  <a:t>键分别与</a:t>
                </a:r>
                <a:r>
                  <a:rPr lang="en-US" altLang="zh-CN" sz="3000" dirty="0"/>
                  <a:t>1H</a:t>
                </a:r>
                <a:r>
                  <a:rPr lang="zh-CN" altLang="en-US" sz="3000" dirty="0"/>
                  <a:t>和</a:t>
                </a:r>
                <a:r>
                  <a:rPr lang="en-US" altLang="zh-CN" sz="3000" dirty="0"/>
                  <a:t>2C</a:t>
                </a:r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未杂化的</a:t>
                </a:r>
                <a:r>
                  <a:rPr lang="en-US" altLang="zh-CN" sz="3000" dirty="0"/>
                  <a:t>2p</a:t>
                </a:r>
                <a:r>
                  <a:rPr lang="zh-CN" altLang="en-US" sz="3000" dirty="0"/>
                  <a:t>轨域垂直于平面，形成</a:t>
                </a:r>
                <a:r>
                  <a:rPr lang="en-US" altLang="zh-CN" sz="3000" dirty="0"/>
                  <a:t>3</a:t>
                </a:r>
                <a:r>
                  <a:rPr lang="zh-CN" altLang="en-US" sz="3000" dirty="0"/>
                  <a:t>个</a:t>
                </a:r>
                <a14:m>
                  <m:oMath xmlns:m="http://schemas.openxmlformats.org/officeDocument/2006/math">
                    <m:r>
                      <a:rPr lang="el-GR" altLang="zh-CN" sz="3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3000" dirty="0"/>
                  <a:t>键。</a:t>
                </a: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  <a:blipFill>
                <a:blip r:embed="rId3"/>
                <a:stretch>
                  <a:fillRect l="-1614" t="-17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8" name="Picture 7" descr="sp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" y="990600"/>
            <a:ext cx="8054341" cy="2667000"/>
          </a:xfrm>
          <a:prstGeom prst="rect">
            <a:avLst/>
          </a:prstGeom>
        </p:spPr>
      </p:pic>
      <p:pic>
        <p:nvPicPr>
          <p:cNvPr id="9" name="Picture 8" descr="sp2.gif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1000" y="3630192"/>
            <a:ext cx="762722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轨域杂化理论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7" name="Picture 6" descr="pg9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24000"/>
            <a:ext cx="795958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轨域杂化理论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10" name="Picture 9" descr="苯分子pei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1914525"/>
            <a:ext cx="57150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轨域杂化理论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7" name="Picture 6" descr="pg90.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600200"/>
            <a:ext cx="508213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None/>
                </a:pPr>
                <a:r>
                  <a:rPr lang="zh-CN" altLang="en-US" sz="3000" dirty="0"/>
                  <a:t>轨域杂化理论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组成</a:t>
                </a:r>
                <a:r>
                  <a:rPr lang="el-GR" altLang="zh-CN" sz="3000" dirty="0"/>
                  <a:t> </a:t>
                </a:r>
                <a14:m>
                  <m:oMath xmlns:m="http://schemas.openxmlformats.org/officeDocument/2006/math">
                    <m:r>
                      <a:rPr lang="el-GR" altLang="zh-CN" sz="3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3000" dirty="0"/>
                  <a:t>键的电子并不是固定在某两个</a:t>
                </a:r>
                <a:r>
                  <a:rPr lang="en-US" altLang="zh-CN" sz="3000" dirty="0"/>
                  <a:t>C</a:t>
                </a:r>
                <a:r>
                  <a:rPr lang="zh-CN" altLang="en-US" sz="3000" dirty="0"/>
                  <a:t>原子之间，而是六个</a:t>
                </a:r>
                <a:r>
                  <a:rPr lang="en-US" altLang="zh-CN" sz="3000" dirty="0"/>
                  <a:t>C</a:t>
                </a:r>
                <a:r>
                  <a:rPr lang="zh-CN" altLang="en-US" sz="3000" dirty="0"/>
                  <a:t>原子所共有，称非定域电子。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这些电子组成大</a:t>
                </a:r>
                <a14:m>
                  <m:oMath xmlns:m="http://schemas.openxmlformats.org/officeDocument/2006/math">
                    <m:r>
                      <a:rPr lang="el-GR" altLang="zh-CN" sz="3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3000" dirty="0"/>
                  <a:t>键均匀分布在六碳环上，受六个碳原子核共同吸引，结构牢固。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r>
                  <a:rPr lang="zh-CN" altLang="en-US" sz="3000" dirty="0"/>
                  <a:t>苯分子性质比烯烃、炔烃等不饱和烃稳定。</a:t>
                </a:r>
                <a:endParaRPr lang="en-US" altLang="zh-CN" sz="3000" dirty="0"/>
              </a:p>
              <a:p>
                <a:pPr marL="514350" indent="-514350">
                  <a:buFont typeface="Wingdings" pitchFamily="2" charset="2"/>
                  <a:buChar char="Ø"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8686800" cy="5867400"/>
              </a:xfrm>
              <a:blipFill>
                <a:blip r:embed="rId3"/>
                <a:stretch>
                  <a:fillRect l="-1614" t="-1767" r="-59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7" name="Picture 6" descr="pg90.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0" y="4114800"/>
            <a:ext cx="3581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Content Placeholder 7" descr="C2H2vsC6H6sp2.GIF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1828800"/>
            <a:ext cx="7976821" cy="3733800"/>
          </a:xfr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D0180-16A1-742A-74B5-28E51CED4192}"/>
              </a:ext>
            </a:extLst>
          </p:cNvPr>
          <p:cNvSpPr txBox="1"/>
          <p:nvPr/>
        </p:nvSpPr>
        <p:spPr>
          <a:xfrm>
            <a:off x="1447800" y="5362545"/>
            <a:ext cx="125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(ethylene)</a:t>
            </a:r>
            <a:endParaRPr lang="en-MY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02EA9-3EC0-C711-F289-BF9997F695E1}"/>
              </a:ext>
            </a:extLst>
          </p:cNvPr>
          <p:cNvSpPr txBox="1"/>
          <p:nvPr/>
        </p:nvSpPr>
        <p:spPr>
          <a:xfrm>
            <a:off x="2477869" y="5029200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乙烯</a:t>
            </a:r>
            <a:endParaRPr lang="en-MY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7D123-4834-6D42-64FF-BC6F35E67889}"/>
              </a:ext>
            </a:extLst>
          </p:cNvPr>
          <p:cNvSpPr txBox="1"/>
          <p:nvPr/>
        </p:nvSpPr>
        <p:spPr>
          <a:xfrm>
            <a:off x="7239000" y="5023104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苯</a:t>
            </a:r>
            <a:endParaRPr lang="en-MY" sz="2000" b="1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b="1" dirty="0"/>
              <a:t>苯</a:t>
            </a:r>
            <a:endParaRPr lang="en-US" altLang="zh-CN" sz="3000" b="1" dirty="0"/>
          </a:p>
          <a:p>
            <a:pPr marL="514350" indent="-514350">
              <a:buNone/>
            </a:pPr>
            <a:r>
              <a:rPr lang="zh-CN" altLang="en-US" sz="3000" dirty="0"/>
              <a:t>分子式： 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	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</a:p>
          <a:p>
            <a:pPr marL="514350" indent="-514350">
              <a:buNone/>
            </a:pPr>
            <a:r>
              <a:rPr lang="zh-CN" altLang="en-US" sz="3000" dirty="0"/>
              <a:t>结构式：</a:t>
            </a:r>
            <a:r>
              <a:rPr lang="en-US" altLang="zh-CN" sz="3000" dirty="0"/>
              <a:t>			</a:t>
            </a:r>
            <a:r>
              <a:rPr lang="zh-CN" altLang="en-US" sz="3000" dirty="0"/>
              <a:t>结构简式：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30.1 </a:t>
            </a:r>
            <a:r>
              <a:rPr lang="zh-CN" altLang="en-US" sz="4800" b="1" dirty="0">
                <a:latin typeface="+mn-ea"/>
              </a:rPr>
              <a:t>苯的结构</a:t>
            </a:r>
            <a:endParaRPr lang="en-US" sz="4800" b="1" dirty="0"/>
          </a:p>
        </p:txBody>
      </p:sp>
      <p:pic>
        <p:nvPicPr>
          <p:cNvPr id="8" name="Picture 7" descr="苯分子式结构式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3124200"/>
            <a:ext cx="1981200" cy="2571750"/>
          </a:xfrm>
          <a:prstGeom prst="rect">
            <a:avLst/>
          </a:prstGeom>
        </p:spPr>
      </p:pic>
      <p:pic>
        <p:nvPicPr>
          <p:cNvPr id="9" name="Picture 8" descr="苯分子式结构式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95800" y="3124200"/>
            <a:ext cx="216774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MY" altLang="zh-CN" sz="3000" dirty="0"/>
              <a:t>D </a:t>
            </a:r>
          </a:p>
          <a:p>
            <a:pPr marL="514350" indent="-514350">
              <a:buAutoNum type="arabicPeriod"/>
            </a:pPr>
            <a:r>
              <a:rPr lang="en-MY" altLang="zh-CN" sz="3000" dirty="0"/>
              <a:t>HC≡C–C≡C–CH₂CH₃</a:t>
            </a:r>
            <a:r>
              <a:rPr lang="zh-CN" altLang="en-US" sz="3000" dirty="0"/>
              <a:t>（</a:t>
            </a:r>
            <a:r>
              <a:rPr lang="en-US" altLang="zh-CN" sz="3000" dirty="0"/>
              <a:t>1</a:t>
            </a:r>
            <a:r>
              <a:rPr lang="en-MY" altLang="zh-CN" sz="3000" dirty="0"/>
              <a:t>,</a:t>
            </a:r>
            <a:r>
              <a:rPr lang="en-US" altLang="zh-CN" sz="3000" dirty="0"/>
              <a:t>3-</a:t>
            </a:r>
            <a:r>
              <a:rPr lang="zh-CN" altLang="en-US" sz="3000" dirty="0"/>
              <a:t>己二炔）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或（</a:t>
            </a:r>
            <a:r>
              <a:rPr lang="en-US" altLang="zh-CN" sz="3000" dirty="0"/>
              <a:t>1</a:t>
            </a:r>
            <a:r>
              <a:rPr lang="en-MY" altLang="zh-CN" sz="3000" dirty="0"/>
              <a:t>,</a:t>
            </a:r>
            <a:r>
              <a:rPr lang="en-US" altLang="zh-CN" sz="3000" dirty="0"/>
              <a:t>4-</a:t>
            </a:r>
            <a:r>
              <a:rPr lang="zh-CN" altLang="en-US" sz="3000" dirty="0"/>
              <a:t>己二炔） 、（</a:t>
            </a:r>
            <a:r>
              <a:rPr lang="en-US" altLang="zh-CN" sz="3000" dirty="0"/>
              <a:t>1</a:t>
            </a:r>
            <a:r>
              <a:rPr lang="en-MY" altLang="zh-CN" sz="3000" dirty="0"/>
              <a:t>,</a:t>
            </a:r>
            <a:r>
              <a:rPr lang="en-US" altLang="zh-CN" sz="3000" dirty="0"/>
              <a:t>5-</a:t>
            </a:r>
            <a:r>
              <a:rPr lang="zh-CN" altLang="en-US" sz="3000" dirty="0"/>
              <a:t>己二炔）</a:t>
            </a:r>
            <a:endParaRPr lang="en-MY" altLang="zh-CN" sz="3000" dirty="0"/>
          </a:p>
          <a:p>
            <a:pPr marL="0" indent="0">
              <a:buNone/>
            </a:pP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取代反应：</a:t>
            </a:r>
            <a:endParaRPr lang="en-MY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30a</a:t>
            </a:r>
            <a:endParaRPr lang="en-US" sz="4800" b="1" dirty="0"/>
          </a:p>
        </p:txBody>
      </p:sp>
      <p:pic>
        <p:nvPicPr>
          <p:cNvPr id="8" name="Picture 7" descr="pg94.`.png">
            <a:extLst>
              <a:ext uri="{FF2B5EF4-FFF2-40B4-BE49-F238E27FC236}">
                <a16:creationId xmlns:a16="http://schemas.microsoft.com/office/drawing/2014/main" id="{29364ECC-0B49-416D-8F4B-B89B6CA28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3429000"/>
            <a:ext cx="1447800" cy="21050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A446C0-8649-4322-AB1A-BEAAB919B897}"/>
              </a:ext>
            </a:extLst>
          </p:cNvPr>
          <p:cNvSpPr/>
          <p:nvPr/>
        </p:nvSpPr>
        <p:spPr>
          <a:xfrm>
            <a:off x="1828800" y="4495800"/>
            <a:ext cx="10262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600" dirty="0"/>
              <a:t>+ Cl</a:t>
            </a:r>
            <a:r>
              <a:rPr lang="en-US" altLang="zh-CN" sz="3600" baseline="-25000" dirty="0"/>
              <a:t>2</a:t>
            </a:r>
            <a:endParaRPr lang="en-US" sz="3600" dirty="0"/>
          </a:p>
        </p:txBody>
      </p:sp>
      <p:pic>
        <p:nvPicPr>
          <p:cNvPr id="10" name="Picture 9" descr="pg94.`.png">
            <a:extLst>
              <a:ext uri="{FF2B5EF4-FFF2-40B4-BE49-F238E27FC236}">
                <a16:creationId xmlns:a16="http://schemas.microsoft.com/office/drawing/2014/main" id="{65C47023-374B-446A-B0D2-2828A7976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86400" y="3990975"/>
            <a:ext cx="3124200" cy="1800225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A826035-5FC5-4A8E-9FB6-D33E57F0A2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273158"/>
              </p:ext>
            </p:extLst>
          </p:nvPr>
        </p:nvGraphicFramePr>
        <p:xfrm>
          <a:off x="2971800" y="4419600"/>
          <a:ext cx="23526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03040" progId="Equation.3">
                  <p:embed/>
                </p:oleObj>
              </mc:Choice>
              <mc:Fallback>
                <p:oleObj name="Equation" r:id="rId5" imgW="571320" imgH="2030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19600"/>
                        <a:ext cx="23526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0481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苯的同系物（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只有一个苯环</a:t>
            </a:r>
            <a:r>
              <a:rPr lang="zh-CN" altLang="en-US" sz="3000" dirty="0"/>
              <a:t>）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通式：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 H</a:t>
            </a:r>
            <a:r>
              <a:rPr lang="en-US" altLang="zh-CN" sz="3000" baseline="-25000" dirty="0"/>
              <a:t>2n-6</a:t>
            </a:r>
            <a:r>
              <a:rPr lang="en-US" altLang="zh-CN" sz="3000" dirty="0"/>
              <a:t> </a:t>
            </a:r>
            <a:r>
              <a:rPr lang="zh-CN" altLang="en-US" sz="3000" dirty="0"/>
              <a:t>，</a:t>
            </a:r>
            <a:r>
              <a:rPr lang="en-US" altLang="zh-CN" sz="3000" dirty="0"/>
              <a:t>n  ≥   6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分子组成比苯多一个或几个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原子团。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甲苯、乙苯、二甲苯等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性质：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燃烧时产生带有浓烟的火焰</a:t>
            </a:r>
            <a:endParaRPr lang="en-US" altLang="zh-CN" sz="26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都能有取代反应</a:t>
            </a:r>
            <a:endParaRPr lang="en-US" altLang="zh-CN" sz="26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因有侧链，所以有一些化学性质与苯不同。</a:t>
            </a:r>
            <a:endParaRPr lang="en-US" altLang="zh-CN" sz="26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400" b="1" dirty="0">
                <a:latin typeface="+mn-ea"/>
              </a:rPr>
              <a:t>30.2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芳香烃：分子中含有苯环结构的烃</a:t>
            </a:r>
            <a:endParaRPr lang="en-MY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多环芳香烃：分子中含有两个或以上并环苯环结构的烃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苯的一元衍生物：苯环上一个氢原子被取代。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命名：</a:t>
            </a:r>
            <a:r>
              <a:rPr lang="en-US" altLang="zh-CN" dirty="0"/>
              <a:t>	1. </a:t>
            </a:r>
            <a:r>
              <a:rPr lang="zh-CN" altLang="en-US" dirty="0"/>
              <a:t>以苯环为母体，称“</a:t>
            </a:r>
            <a:r>
              <a:rPr lang="en-US" altLang="zh-CN" dirty="0"/>
              <a:t>XX</a:t>
            </a:r>
            <a:r>
              <a:rPr lang="zh-CN" altLang="en-US" dirty="0"/>
              <a:t>苯”或 “苯</a:t>
            </a:r>
            <a:r>
              <a:rPr lang="en-US" altLang="zh-CN" dirty="0"/>
              <a:t>XX</a:t>
            </a:r>
            <a:r>
              <a:rPr lang="zh-CN" altLang="en-US" dirty="0"/>
              <a:t>”</a:t>
            </a:r>
            <a:endParaRPr lang="en-US" altLang="zh-C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30.2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g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810000"/>
            <a:ext cx="1314450" cy="1981200"/>
          </a:xfrm>
          <a:prstGeom prst="rect">
            <a:avLst/>
          </a:prstGeom>
        </p:spPr>
      </p:pic>
      <p:pic>
        <p:nvPicPr>
          <p:cNvPr id="8" name="Picture 7" descr="pg94.`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057400" y="3657600"/>
            <a:ext cx="1219200" cy="2028825"/>
          </a:xfrm>
          <a:prstGeom prst="rect">
            <a:avLst/>
          </a:prstGeom>
        </p:spPr>
      </p:pic>
      <p:pic>
        <p:nvPicPr>
          <p:cNvPr id="9" name="Picture 8" descr="pg91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512079" y="3634406"/>
            <a:ext cx="1745721" cy="18519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618202"/>
            <a:ext cx="9573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甲苯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3087" y="5715000"/>
            <a:ext cx="9573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氯苯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5465802"/>
            <a:ext cx="1343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苯甲酸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18" descr="pg94.jpg">
            <a:extLst>
              <a:ext uri="{FF2B5EF4-FFF2-40B4-BE49-F238E27FC236}">
                <a16:creationId xmlns:a16="http://schemas.microsoft.com/office/drawing/2014/main" id="{EB4C21C5-981A-461A-B721-FD45069C7C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6511"/>
          <a:stretch/>
        </p:blipFill>
        <p:spPr>
          <a:xfrm>
            <a:off x="5588391" y="3810000"/>
            <a:ext cx="1752600" cy="1447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1FAE3C6-8FD1-4747-9E83-213B9258008C}"/>
              </a:ext>
            </a:extLst>
          </p:cNvPr>
          <p:cNvSpPr txBox="1"/>
          <p:nvPr/>
        </p:nvSpPr>
        <p:spPr>
          <a:xfrm>
            <a:off x="5562600" y="5409426"/>
            <a:ext cx="1343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硝基苯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0547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4" grpId="0"/>
      <p:bldP spid="17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苯的一元衍生物：苯环上一个氢原子被取代。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命名：</a:t>
            </a:r>
            <a:r>
              <a:rPr lang="en-US" altLang="zh-CN" sz="3000" dirty="0"/>
              <a:t>2. </a:t>
            </a:r>
            <a:r>
              <a:rPr lang="zh-CN" altLang="en-US" sz="3000" dirty="0"/>
              <a:t>将苯作为取代基，称“苯</a:t>
            </a:r>
            <a:r>
              <a:rPr lang="en-US" altLang="zh-CN" sz="3000" dirty="0"/>
              <a:t>XX</a:t>
            </a:r>
            <a:r>
              <a:rPr lang="zh-CN" altLang="en-US" sz="3000" dirty="0"/>
              <a:t>”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苯基 </a:t>
            </a:r>
            <a:r>
              <a:rPr lang="en-MY" altLang="zh-CN" sz="3000" dirty="0"/>
              <a:t>-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 </a:t>
            </a:r>
            <a:r>
              <a:rPr lang="zh-CN" altLang="en-US" sz="3000" dirty="0"/>
              <a:t>可缩写成</a:t>
            </a:r>
            <a:r>
              <a:rPr lang="en-MY" altLang="zh-CN" sz="3000" dirty="0"/>
              <a:t>-</a:t>
            </a:r>
            <a:r>
              <a:rPr lang="en-US" altLang="zh-CN" sz="3000" dirty="0"/>
              <a:t>Ph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30.2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pg9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1981200"/>
            <a:ext cx="2336800" cy="15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2287" y="4267200"/>
            <a:ext cx="1343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苯乙烯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439" y="3637002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苯基乙烯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04333-E51C-4999-A777-656DAA0D9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628" y="2139655"/>
            <a:ext cx="2180165" cy="12893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3B62A4-F0A5-42B2-8ADD-B92389B6AC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197822"/>
            <a:ext cx="2555093" cy="13882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0C1D5C8-22F7-47E2-9DDC-F8248EAF9DC1}"/>
              </a:ext>
            </a:extLst>
          </p:cNvPr>
          <p:cNvSpPr txBox="1"/>
          <p:nvPr/>
        </p:nvSpPr>
        <p:spPr>
          <a:xfrm>
            <a:off x="3228362" y="3633851"/>
            <a:ext cx="20425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苯基戊烷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F2AAB-2A0B-48DC-8CC1-2AA3EABBCA76}"/>
              </a:ext>
            </a:extLst>
          </p:cNvPr>
          <p:cNvSpPr txBox="1"/>
          <p:nvPr/>
        </p:nvSpPr>
        <p:spPr>
          <a:xfrm>
            <a:off x="6248400" y="3675688"/>
            <a:ext cx="1343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苯甲醇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苯甲基又称苄基</a:t>
            </a:r>
            <a:endParaRPr lang="en-MY" altLang="zh-CN" sz="3000" dirty="0"/>
          </a:p>
          <a:p>
            <a:pPr>
              <a:buFont typeface="Wingdings" pitchFamily="2" charset="2"/>
              <a:buChar char="Ø"/>
            </a:pPr>
            <a:endParaRPr lang="en-MY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苯环上连有两个或以上相同取代基，以苯环为母体</a:t>
            </a:r>
            <a:endParaRPr lang="en-MY" altLang="zh-CN" sz="3000" dirty="0"/>
          </a:p>
          <a:p>
            <a:pPr>
              <a:buFont typeface="Wingdings" pitchFamily="2" charset="2"/>
              <a:buChar char="Ø"/>
            </a:pPr>
            <a:endParaRPr lang="en-MY" altLang="zh-CN" sz="3000" dirty="0"/>
          </a:p>
          <a:p>
            <a:pPr>
              <a:buFont typeface="Wingdings" pitchFamily="2" charset="2"/>
              <a:buChar char="Ø"/>
            </a:pP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				1</a:t>
            </a:r>
            <a:r>
              <a:rPr lang="en-MY" altLang="zh-CN" sz="3000" dirty="0"/>
              <a:t>,3,5-</a:t>
            </a:r>
            <a:r>
              <a:rPr lang="zh-CN" altLang="en-US" sz="3000" dirty="0"/>
              <a:t>三硝基苯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苯环上连有两个或以上不同的官能团时，按下列优先次序确定哪个作母体。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2600" dirty="0"/>
              <a:t>羧基</a:t>
            </a:r>
            <a:r>
              <a:rPr lang="en-US" altLang="zh-CN" sz="2600" dirty="0"/>
              <a:t>&gt;</a:t>
            </a:r>
            <a:r>
              <a:rPr lang="zh-CN" altLang="en-US" sz="2600" dirty="0"/>
              <a:t>磺酸基</a:t>
            </a:r>
            <a:r>
              <a:rPr lang="en-US" altLang="zh-CN" sz="2600" dirty="0"/>
              <a:t>&gt;</a:t>
            </a:r>
            <a:r>
              <a:rPr lang="zh-CN" altLang="en-US" sz="2600" dirty="0"/>
              <a:t>醛基</a:t>
            </a:r>
            <a:r>
              <a:rPr lang="en-US" altLang="zh-CN" sz="2600" dirty="0"/>
              <a:t>&gt;</a:t>
            </a:r>
            <a:r>
              <a:rPr lang="zh-CN" altLang="en-US" sz="2600" dirty="0"/>
              <a:t>氰基</a:t>
            </a:r>
            <a:r>
              <a:rPr lang="en-US" altLang="zh-CN" sz="2600" dirty="0"/>
              <a:t>&gt;</a:t>
            </a:r>
            <a:r>
              <a:rPr lang="zh-CN" altLang="en-US" sz="2600" dirty="0"/>
              <a:t>羰基</a:t>
            </a:r>
            <a:r>
              <a:rPr lang="en-US" altLang="zh-CN" sz="2600" dirty="0"/>
              <a:t>&gt;</a:t>
            </a:r>
            <a:r>
              <a:rPr lang="zh-CN" altLang="en-US" sz="2600" dirty="0"/>
              <a:t>羟基</a:t>
            </a:r>
            <a:r>
              <a:rPr lang="en-US" altLang="zh-CN" sz="2600" dirty="0"/>
              <a:t>&gt;</a:t>
            </a:r>
            <a:r>
              <a:rPr lang="zh-CN" altLang="en-US" sz="2600" dirty="0"/>
              <a:t>氨基</a:t>
            </a:r>
            <a:r>
              <a:rPr lang="en-US" altLang="zh-CN" sz="2600" dirty="0"/>
              <a:t>&gt;</a:t>
            </a:r>
            <a:r>
              <a:rPr lang="zh-CN" altLang="en-US" sz="2600" dirty="0"/>
              <a:t>烃基</a:t>
            </a:r>
            <a:r>
              <a:rPr lang="en-MY" altLang="zh-CN" sz="2600" dirty="0"/>
              <a:t>&gt;</a:t>
            </a:r>
            <a:r>
              <a:rPr lang="zh-CN" altLang="en-US" sz="2600" dirty="0"/>
              <a:t>硝基</a:t>
            </a:r>
            <a:r>
              <a:rPr lang="en-US" altLang="zh-CN" sz="2600" dirty="0"/>
              <a:t>&gt;</a:t>
            </a:r>
            <a:r>
              <a:rPr lang="zh-CN" altLang="en-US" sz="2600" dirty="0"/>
              <a:t>卤原子</a:t>
            </a:r>
            <a:endParaRPr lang="en-US" altLang="zh-CN" sz="26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30.2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ACD1E0-6D7A-47CC-B411-A638777E24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5" t="8721" r="40001" b="61610"/>
          <a:stretch/>
        </p:blipFill>
        <p:spPr>
          <a:xfrm>
            <a:off x="4038600" y="838200"/>
            <a:ext cx="1981200" cy="152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9134B3-CBE5-449B-91A2-72FDC291FB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488" y="2514600"/>
            <a:ext cx="2397712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822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/>
              <a:t>苯的二元衍生物</a:t>
            </a:r>
            <a:endParaRPr lang="en-US" altLang="zh-CN" sz="28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/>
              <a:t>含义：苯环上两个氢原子被取代</a:t>
            </a:r>
            <a:endParaRPr lang="en-US" altLang="zh-CN" sz="24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/>
              <a:t>有三种异构体</a:t>
            </a:r>
            <a:endParaRPr lang="en-US" altLang="zh-CN" sz="24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/>
              <a:t>命名：邻、间、对</a:t>
            </a:r>
            <a:endParaRPr lang="en-US" altLang="zh-CN" sz="2400" dirty="0"/>
          </a:p>
          <a:p>
            <a:pPr lvl="1">
              <a:buNone/>
            </a:pPr>
            <a:endParaRPr lang="en-US" altLang="zh-CN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400" b="1" dirty="0">
                <a:latin typeface="+mn-ea"/>
              </a:rPr>
              <a:t>30.2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pg9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048000"/>
            <a:ext cx="4963724" cy="23622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11185" y="2971800"/>
            <a:ext cx="3546415" cy="2804755"/>
            <a:chOff x="263585" y="2971800"/>
            <a:chExt cx="3546415" cy="2804755"/>
          </a:xfrm>
        </p:grpSpPr>
        <p:pic>
          <p:nvPicPr>
            <p:cNvPr id="9" name="Picture 8" descr="pg92.4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3585" y="2971800"/>
              <a:ext cx="3546415" cy="22098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457200" y="5191780"/>
              <a:ext cx="327660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200" dirty="0"/>
                <a:t>邻</a:t>
              </a:r>
              <a:r>
                <a:rPr lang="en-US" altLang="zh-CN" sz="3200" dirty="0"/>
                <a:t>	    </a:t>
              </a:r>
              <a:r>
                <a:rPr lang="zh-CN" altLang="en-US" sz="3200" dirty="0"/>
                <a:t>间</a:t>
              </a:r>
              <a:r>
                <a:rPr lang="en-US" altLang="zh-CN" sz="3200" dirty="0"/>
                <a:t>	        </a:t>
              </a:r>
              <a:r>
                <a:rPr lang="zh-CN" altLang="en-US" sz="3200" dirty="0"/>
                <a:t>对</a:t>
              </a:r>
              <a:endParaRPr lang="en-US" sz="32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657600" y="2514600"/>
            <a:ext cx="17155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1,2-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二甲苯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2514600"/>
            <a:ext cx="17155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1,3-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二甲苯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0" y="2524780"/>
            <a:ext cx="17155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1,4-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二甲苯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400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Ø"/>
            </a:pPr>
            <a:r>
              <a:rPr lang="zh-CN" altLang="en-US" sz="3000" dirty="0"/>
              <a:t>命名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400" b="1" dirty="0">
                <a:latin typeface="+mn-ea"/>
              </a:rPr>
              <a:t>30.2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 </a:t>
            </a:r>
            <a:r>
              <a:rPr lang="zh-CN" altLang="en-US" sz="4400" b="1" dirty="0">
                <a:latin typeface="+mn-ea"/>
                <a:ea typeface="+mj-ea"/>
                <a:cs typeface="+mj-cs"/>
              </a:rPr>
              <a:t>苯衍生物的异构和命名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pg92.3.gif"/>
          <p:cNvPicPr>
            <a:picLocks noChangeAspect="1"/>
          </p:cNvPicPr>
          <p:nvPr/>
        </p:nvPicPr>
        <p:blipFill>
          <a:blip r:embed="rId3"/>
          <a:srcRect b="20438"/>
          <a:stretch>
            <a:fillRect/>
          </a:stretch>
        </p:blipFill>
        <p:spPr>
          <a:xfrm>
            <a:off x="1066800" y="1733550"/>
            <a:ext cx="6905709" cy="2076450"/>
          </a:xfrm>
          <a:prstGeom prst="rect">
            <a:avLst/>
          </a:prstGeom>
        </p:spPr>
      </p:pic>
      <p:pic>
        <p:nvPicPr>
          <p:cNvPr id="11" name="Picture 10" descr="pg92.3.gif"/>
          <p:cNvPicPr>
            <a:picLocks noChangeAspect="1"/>
          </p:cNvPicPr>
          <p:nvPr/>
        </p:nvPicPr>
        <p:blipFill>
          <a:blip r:embed="rId3"/>
          <a:srcRect t="78832"/>
          <a:stretch>
            <a:fillRect/>
          </a:stretch>
        </p:blipFill>
        <p:spPr>
          <a:xfrm>
            <a:off x="304800" y="4953000"/>
            <a:ext cx="8810732" cy="704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3831848"/>
            <a:ext cx="18357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1,2-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邻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2266" y="3831848"/>
            <a:ext cx="18357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1,3-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间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6866" y="3831848"/>
            <a:ext cx="18357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1,4-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二溴苯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C </a:t>
            </a:r>
          </a:p>
          <a:p>
            <a:pPr marL="0" indent="0">
              <a:buNone/>
            </a:pPr>
            <a:r>
              <a:rPr lang="en-US" altLang="zh-CN" sz="3000" dirty="0"/>
              <a:t>A </a:t>
            </a:r>
            <a:r>
              <a:rPr lang="zh-CN" altLang="en-US" sz="3000" dirty="0"/>
              <a:t>含有</a:t>
            </a:r>
            <a:r>
              <a:rPr lang="en-US" altLang="zh-CN" sz="3000" dirty="0"/>
              <a:t>C</a:t>
            </a:r>
            <a:r>
              <a:rPr lang="zh-CN" altLang="en-US" sz="3000" dirty="0"/>
              <a:t>、</a:t>
            </a:r>
            <a:r>
              <a:rPr lang="en-US" altLang="zh-CN" sz="3000" dirty="0"/>
              <a:t>H</a:t>
            </a:r>
            <a:r>
              <a:rPr lang="zh-CN" altLang="en-US" sz="3000" dirty="0"/>
              <a:t>以外的元素就不是烃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B 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 H</a:t>
            </a:r>
            <a:r>
              <a:rPr lang="en-US" altLang="zh-CN" sz="3000" baseline="-25000" dirty="0"/>
              <a:t>2n-6</a:t>
            </a:r>
            <a:r>
              <a:rPr lang="en-US" altLang="zh-CN" sz="3000" dirty="0"/>
              <a:t> </a:t>
            </a:r>
            <a:r>
              <a:rPr lang="zh-CN" altLang="en-US" sz="3000" dirty="0"/>
              <a:t>只含一个苯环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D </a:t>
            </a:r>
            <a:r>
              <a:rPr lang="zh-CN" altLang="en-US" sz="3000" dirty="0"/>
              <a:t>苯和苯的同系物只含一本苯环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2. C </a:t>
            </a:r>
          </a:p>
          <a:p>
            <a:pPr marL="0" indent="0">
              <a:buNone/>
            </a:pPr>
            <a:r>
              <a:rPr lang="en-US" altLang="zh-CN" sz="3000" dirty="0"/>
              <a:t>1,2,3,4-</a:t>
            </a:r>
            <a:r>
              <a:rPr lang="zh-CN" altLang="en-US" sz="3000" dirty="0"/>
              <a:t>四溴苯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1,2,4,5-</a:t>
            </a:r>
            <a:r>
              <a:rPr lang="zh-CN" altLang="en-US" sz="3000" dirty="0"/>
              <a:t>四溴苯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1,2,3,5-</a:t>
            </a:r>
            <a:r>
              <a:rPr lang="zh-CN" altLang="en-US" sz="3000" dirty="0"/>
              <a:t>四溴苯</a:t>
            </a:r>
            <a:endParaRPr lang="en-US" altLang="zh-CN" sz="3000" dirty="0"/>
          </a:p>
          <a:p>
            <a:pPr marL="0" indent="0">
              <a:buNone/>
            </a:pPr>
            <a:endParaRPr lang="en-MY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30b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874019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物理性质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无色，有甜味的透明液体，有芳香气味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沸点</a:t>
            </a:r>
            <a:r>
              <a:rPr lang="en-US" altLang="zh-CN" sz="3000" dirty="0"/>
              <a:t>80.1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 </a:t>
            </a:r>
            <a:r>
              <a:rPr lang="zh-CN" altLang="en-US" sz="3000" dirty="0"/>
              <a:t>、熔点</a:t>
            </a:r>
            <a:r>
              <a:rPr lang="en-US" altLang="zh-CN" sz="3000" dirty="0"/>
              <a:t>5.5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密度比水小</a:t>
            </a:r>
            <a:r>
              <a:rPr lang="zh-CN" altLang="en-US" sz="3000" dirty="0"/>
              <a:t>，不溶于水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是一种良好的溶剂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易挥发，苯蒸气有毒，会引起白血球降低等疾病。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30.3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苯的物理性质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静置后上层</a:t>
            </a:r>
            <a:r>
              <a:rPr lang="en-MY" altLang="zh-CN" sz="3000" dirty="0"/>
              <a:t>(</a:t>
            </a:r>
            <a:r>
              <a:rPr lang="zh-CN" altLang="en-US" sz="3000" dirty="0"/>
              <a:t>油层</a:t>
            </a:r>
            <a:r>
              <a:rPr lang="en-MY" altLang="zh-CN" sz="3000" dirty="0"/>
              <a:t>)</a:t>
            </a:r>
            <a:r>
              <a:rPr lang="zh-CN" altLang="en-US" sz="3000" dirty="0"/>
              <a:t>从无色变橙黄色</a:t>
            </a:r>
            <a:r>
              <a:rPr lang="en-US" altLang="zh-CN" sz="3000" dirty="0"/>
              <a:t>,</a:t>
            </a:r>
            <a:r>
              <a:rPr lang="zh-CN" altLang="en-US" sz="3000" dirty="0"/>
              <a:t>下层</a:t>
            </a:r>
            <a:r>
              <a:rPr lang="en-MY" altLang="zh-CN" sz="3000" dirty="0"/>
              <a:t>(</a:t>
            </a:r>
            <a:r>
              <a:rPr lang="zh-CN" altLang="en-US" sz="3000" dirty="0"/>
              <a:t>水层</a:t>
            </a:r>
            <a:r>
              <a:rPr lang="en-MY" altLang="zh-CN" sz="3000" dirty="0"/>
              <a:t>)</a:t>
            </a:r>
            <a:r>
              <a:rPr lang="zh-CN" altLang="en-US" sz="3000" dirty="0"/>
              <a:t>颜色变浅。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萃取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分液漏斗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不溶于水，密度比水小，是有机溶剂（溴能溶于苯）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思考题 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30c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2319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0204"/>
            <a:ext cx="9144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/>
              <a:t>氧化</a:t>
            </a:r>
            <a:r>
              <a:rPr lang="en-MY" altLang="zh-CN" sz="2800" dirty="0"/>
              <a:t>:</a:t>
            </a:r>
            <a:r>
              <a:rPr lang="zh-CN" altLang="en-US" sz="2800" dirty="0"/>
              <a:t>在空气中燃烧产生明亮火焰、浓黑烟、</a:t>
            </a:r>
            <a:r>
              <a:rPr lang="en-MY" altLang="zh-CN" sz="2800" dirty="0"/>
              <a:t>CO₂ +</a:t>
            </a:r>
            <a:r>
              <a:rPr lang="zh-CN" altLang="en-US" sz="2800" dirty="0"/>
              <a:t> </a:t>
            </a:r>
            <a:r>
              <a:rPr lang="en-MY" altLang="zh-CN" sz="2800" dirty="0"/>
              <a:t>H₂O</a:t>
            </a:r>
          </a:p>
          <a:p>
            <a:pPr marL="0" indent="0">
              <a:buNone/>
            </a:pPr>
            <a:r>
              <a:rPr lang="en-MY" altLang="zh-CN" sz="2800" dirty="0"/>
              <a:t>	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苯不能使酸性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KMnO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溶液褪色，苯难被氧化。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2800" dirty="0"/>
              <a:t>2. 	</a:t>
            </a:r>
            <a:r>
              <a:rPr lang="zh-CN" altLang="en-US" sz="2800" dirty="0"/>
              <a:t>加成反应</a:t>
            </a:r>
            <a:endParaRPr lang="en-US" altLang="zh-CN" sz="28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加氢（</a:t>
            </a:r>
            <a:r>
              <a:rPr lang="en-US" altLang="zh-CN" dirty="0"/>
              <a:t>Ni&amp;</a:t>
            </a:r>
            <a:r>
              <a:rPr lang="zh-CN" altLang="en-US" dirty="0"/>
              <a:t>加热）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加卤素（光照）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sz="2800" dirty="0"/>
              <a:t>3. 	</a:t>
            </a:r>
            <a:r>
              <a:rPr lang="zh-CN" altLang="en-US" sz="2800" dirty="0"/>
              <a:t>取代反应</a:t>
            </a:r>
            <a:endParaRPr lang="en-US" altLang="zh-CN" sz="28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卤化反应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硝化反应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磺化反应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烷基化反应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酰基化反应</a:t>
            </a:r>
            <a:endParaRPr lang="en-US" altLang="zh-CN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30.4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加成反应：</a:t>
            </a:r>
            <a:endParaRPr lang="en-US" altLang="zh-CN" sz="3000" dirty="0"/>
          </a:p>
          <a:p>
            <a:pPr marL="971550" lvl="1" indent="-571500">
              <a:buNone/>
            </a:pPr>
            <a:r>
              <a:rPr lang="en-US" altLang="zh-CN" sz="3000" dirty="0"/>
              <a:t>I	</a:t>
            </a:r>
            <a:r>
              <a:rPr lang="zh-CN" altLang="en-US" sz="3000" dirty="0"/>
              <a:t>加氢（</a:t>
            </a:r>
            <a:r>
              <a:rPr lang="en-US" altLang="zh-CN" sz="3000" dirty="0"/>
              <a:t>Ni&amp;</a:t>
            </a:r>
            <a:r>
              <a:rPr lang="zh-CN" altLang="en-US" sz="3000" dirty="0"/>
              <a:t>加热）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难反应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71550" lvl="1" indent="-571500">
              <a:buFont typeface="+mj-lt"/>
              <a:buAutoNum type="romanUcPeriod"/>
            </a:pPr>
            <a:endParaRPr lang="en-US" altLang="zh-CN" sz="3000" dirty="0"/>
          </a:p>
          <a:p>
            <a:pPr marL="971550" lvl="1" indent="-571500">
              <a:buNone/>
            </a:pPr>
            <a:endParaRPr lang="en-US" altLang="zh-CN" sz="3000" dirty="0"/>
          </a:p>
          <a:p>
            <a:pPr marL="971550" lvl="1" indent="-571500">
              <a:buNone/>
            </a:pPr>
            <a:r>
              <a:rPr lang="en-US" altLang="zh-CN" sz="3000" dirty="0"/>
              <a:t>II 	</a:t>
            </a:r>
            <a:r>
              <a:rPr lang="zh-CN" altLang="en-US" sz="3000" dirty="0"/>
              <a:t>加卤素（光照）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1143000" y="2133600"/>
            <a:ext cx="6400800" cy="990600"/>
            <a:chOff x="1143000" y="2133600"/>
            <a:chExt cx="6400800" cy="990600"/>
          </a:xfrm>
        </p:grpSpPr>
        <p:pic>
          <p:nvPicPr>
            <p:cNvPr id="7" name="Picture 6" descr="苯+氢气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43000" y="2133600"/>
              <a:ext cx="6400800" cy="9906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4609981" y="2209800"/>
              <a:ext cx="800219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  Ni</a:t>
              </a:r>
            </a:p>
            <a:p>
              <a:r>
                <a:rPr lang="zh-CN" altLang="en-US" sz="2400" dirty="0"/>
                <a:t>加热</a:t>
              </a:r>
              <a:endParaRPr lang="en-US" sz="2400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5794947" y="1676400"/>
            <a:ext cx="2206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环己烷 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12</a:t>
            </a:r>
            <a:endParaRPr lang="en-US" sz="28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219200" y="3810000"/>
            <a:ext cx="6886575" cy="2257425"/>
            <a:chOff x="1219200" y="3810000"/>
            <a:chExt cx="6886575" cy="2257425"/>
          </a:xfrm>
        </p:grpSpPr>
        <p:pic>
          <p:nvPicPr>
            <p:cNvPr id="8" name="Picture 7" descr="苯+氯气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219200" y="3810000"/>
              <a:ext cx="6886575" cy="2257425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3645773" y="4476690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光照</a:t>
              </a:r>
              <a:endParaRPr lang="en-US" altLang="zh-CN" sz="2000" dirty="0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410200" y="3439180"/>
            <a:ext cx="31149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六氯环己烷 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Cl</a:t>
            </a:r>
            <a:r>
              <a:rPr lang="en-US" altLang="zh-CN" sz="2800" baseline="-25000" dirty="0"/>
              <a:t>6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4267200" y="5867400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杀虫剂、稳定、有害、禁用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苯容易发生取代反应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卤化反应（</a:t>
            </a:r>
            <a:r>
              <a:rPr lang="en-US" altLang="zh-CN" sz="3000" dirty="0"/>
              <a:t>FeCl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、</a:t>
            </a:r>
            <a:r>
              <a:rPr lang="en-US" altLang="zh-CN" sz="3000" dirty="0"/>
              <a:t>AlCl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等）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pic>
        <p:nvPicPr>
          <p:cNvPr id="7" name="Picture 6" descr="pg94.`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1600200"/>
            <a:ext cx="1447800" cy="2105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67400" y="1676400"/>
            <a:ext cx="19159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氯苯 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Cl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1828800" y="2667000"/>
            <a:ext cx="10262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600" dirty="0"/>
              <a:t>+ Cl</a:t>
            </a:r>
            <a:r>
              <a:rPr lang="en-US" altLang="zh-CN" sz="3600" baseline="-25000" dirty="0"/>
              <a:t>2</a:t>
            </a:r>
            <a:endParaRPr lang="en-US" sz="3600" dirty="0"/>
          </a:p>
        </p:txBody>
      </p:sp>
      <p:pic>
        <p:nvPicPr>
          <p:cNvPr id="12" name="Picture 11" descr="pg94.`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86400" y="2162175"/>
            <a:ext cx="3124200" cy="1800225"/>
          </a:xfrm>
          <a:prstGeom prst="rect">
            <a:avLst/>
          </a:prstGeom>
        </p:spPr>
      </p:pic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971800" y="2590800"/>
          <a:ext cx="23526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03040" progId="Equation.3">
                  <p:embed/>
                </p:oleObj>
              </mc:Choice>
              <mc:Fallback>
                <p:oleObj name="Equation" r:id="rId5" imgW="5713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90800"/>
                        <a:ext cx="23526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pg94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8200" y="4038600"/>
            <a:ext cx="73914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2800" dirty="0"/>
              <a:t>卤代反应</a:t>
            </a:r>
            <a:r>
              <a:rPr lang="en-US" altLang="zh-CN" sz="2800" dirty="0"/>
              <a:t>--</a:t>
            </a:r>
            <a:r>
              <a:rPr lang="zh-CN" altLang="en-US" sz="2800" dirty="0"/>
              <a:t>观察思考</a:t>
            </a:r>
            <a:r>
              <a:rPr lang="en-US" altLang="zh-CN" sz="2800" dirty="0"/>
              <a:t>pg124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铁屑作催化剂。</a:t>
            </a:r>
            <a:endParaRPr lang="en-MY" altLang="zh-CN" sz="2800" dirty="0"/>
          </a:p>
          <a:p>
            <a:pPr marL="0" indent="0">
              <a:buNone/>
            </a:pPr>
            <a:r>
              <a:rPr lang="zh-CN" altLang="en-US" sz="2800" dirty="0"/>
              <a:t>（实际起催化作用的是</a:t>
            </a:r>
            <a:r>
              <a:rPr lang="en-US" altLang="zh-CN" sz="2800" dirty="0"/>
              <a:t>FeBr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，由</a:t>
            </a:r>
            <a:r>
              <a:rPr lang="en-US" altLang="zh-CN" sz="2800" dirty="0"/>
              <a:t>Fe</a:t>
            </a:r>
            <a:r>
              <a:rPr lang="zh-CN" altLang="en-US" sz="2800" dirty="0"/>
              <a:t>与</a:t>
            </a:r>
            <a:r>
              <a:rPr lang="en-US" altLang="zh-CN" sz="2800" dirty="0"/>
              <a:t>Br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反应生成。）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竖直导管</a:t>
            </a:r>
            <a:r>
              <a:rPr lang="en-US" altLang="zh-CN" sz="2800" dirty="0"/>
              <a:t>B</a:t>
            </a:r>
            <a:r>
              <a:rPr lang="zh-CN" altLang="en-US" sz="2800" dirty="0"/>
              <a:t>，起导气（导出反应生成的</a:t>
            </a:r>
            <a:r>
              <a:rPr lang="en-US" altLang="zh-CN" sz="2800" dirty="0"/>
              <a:t>HBr</a:t>
            </a:r>
            <a:r>
              <a:rPr lang="zh-CN" altLang="en-US" sz="2800" dirty="0"/>
              <a:t>气体）兼冷凝</a:t>
            </a:r>
            <a:endParaRPr lang="en-MY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回流作用，以防止溴和苯的蒸气挥发出来，减少苯和溴</a:t>
            </a:r>
            <a:endParaRPr lang="en-MY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的消耗以及它们对环境的污染，所以它应有一定的长度，</a:t>
            </a:r>
            <a:endParaRPr lang="en-MY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一般不小于</a:t>
            </a:r>
            <a:r>
              <a:rPr lang="en-US" altLang="zh-CN" sz="2800" dirty="0"/>
              <a:t>25cm</a:t>
            </a:r>
            <a:r>
              <a:rPr lang="zh-CN" altLang="en-US" sz="2800" dirty="0"/>
              <a:t>。</a:t>
            </a:r>
            <a:endParaRPr lang="en-MY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（锥形瓶中导管不插入液面以下，原因是避免锥形瓶中的水倒吸入烧瓶中。）</a:t>
            </a:r>
            <a:endParaRPr lang="en-MY" altLang="zh-CN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30.4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6636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zh-CN" altLang="en-US" sz="2800" dirty="0"/>
              <a:t>卤代反应</a:t>
            </a:r>
            <a:r>
              <a:rPr lang="en-US" altLang="zh-CN" sz="2800" dirty="0"/>
              <a:t>--</a:t>
            </a:r>
            <a:r>
              <a:rPr lang="zh-CN" altLang="en-US" sz="2800" dirty="0"/>
              <a:t>观察思考</a:t>
            </a:r>
            <a:r>
              <a:rPr lang="en-US" altLang="zh-CN" sz="2800" dirty="0"/>
              <a:t>pg124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因制取时溶解了少量的溴而呈红褐色。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2800" dirty="0"/>
              <a:t>可用水或</a:t>
            </a:r>
            <a:r>
              <a:rPr lang="en-US" altLang="zh-CN" sz="2800" dirty="0"/>
              <a:t>10%NaOH</a:t>
            </a:r>
            <a:r>
              <a:rPr lang="zh-CN" altLang="en-US" sz="2800" dirty="0"/>
              <a:t>溶液进行洗涤，洗去</a:t>
            </a:r>
            <a:r>
              <a:rPr lang="en-US" altLang="zh-CN" sz="2800" dirty="0"/>
              <a:t>FeBr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和没有反应的溴，能够得到无色透明的油状液体溴苯。</a:t>
            </a:r>
            <a:endParaRPr lang="en-MY" altLang="zh-CN" sz="28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锥形瓶里的液体能使石蕊试液会变红及</a:t>
            </a:r>
            <a:r>
              <a:rPr lang="en-US" altLang="zh-CN" sz="2800" dirty="0"/>
              <a:t>AgNO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溶液会有浅黄色的</a:t>
            </a:r>
            <a:r>
              <a:rPr lang="en-US" altLang="zh-CN" sz="2800" dirty="0" err="1"/>
              <a:t>AgBr</a:t>
            </a:r>
            <a:r>
              <a:rPr lang="zh-CN" altLang="en-US" sz="2800" dirty="0"/>
              <a:t>沉淀析出。表示生成了</a:t>
            </a:r>
            <a:r>
              <a:rPr lang="en-US" altLang="zh-CN" sz="2800" dirty="0"/>
              <a:t>HBr</a:t>
            </a:r>
            <a:r>
              <a:rPr lang="zh-CN" altLang="en-US" sz="2800" dirty="0"/>
              <a:t>，实验是取代反应。</a:t>
            </a:r>
            <a:endParaRPr lang="en-US" altLang="zh-CN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30.4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0810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取代反应：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硝化反应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pic>
        <p:nvPicPr>
          <p:cNvPr id="8" name="Picture 7" descr="pg9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" y="2362200"/>
            <a:ext cx="3505200" cy="1524000"/>
          </a:xfrm>
          <a:prstGeom prst="rect">
            <a:avLst/>
          </a:prstGeom>
        </p:spPr>
      </p:pic>
      <p:pic>
        <p:nvPicPr>
          <p:cNvPr id="9" name="Picture 8" descr="pg94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8600" y="2362200"/>
            <a:ext cx="1371600" cy="1676400"/>
          </a:xfrm>
          <a:prstGeom prst="rect">
            <a:avLst/>
          </a:prstGeom>
        </p:spPr>
      </p:pic>
      <p:pic>
        <p:nvPicPr>
          <p:cNvPr id="10" name="Picture 9" descr="pg94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10200" y="2362200"/>
            <a:ext cx="3276600" cy="1447800"/>
          </a:xfrm>
          <a:prstGeom prst="rect">
            <a:avLst/>
          </a:prstGeom>
        </p:spPr>
      </p:pic>
      <p:pic>
        <p:nvPicPr>
          <p:cNvPr id="11" name="Picture 10" descr="pg94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562600" y="3962400"/>
            <a:ext cx="16002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763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硝化反应</a:t>
            </a:r>
            <a:r>
              <a:rPr lang="en-US" altLang="zh-CN" sz="3000" dirty="0"/>
              <a:t>—</a:t>
            </a:r>
            <a:r>
              <a:rPr lang="zh-CN" altLang="en-US" sz="3000" dirty="0"/>
              <a:t>活动</a:t>
            </a:r>
            <a:r>
              <a:rPr lang="en-US" altLang="zh-CN" sz="3000" dirty="0"/>
              <a:t>2pg126</a:t>
            </a:r>
          </a:p>
          <a:p>
            <a:pPr marL="514350" indent="-514350">
              <a:buAutoNum type="arabicPeriod"/>
            </a:pPr>
            <a:r>
              <a:rPr lang="zh-CN" altLang="en-US" sz="3000" dirty="0"/>
              <a:t>先加浓硝酸，再加浓硫酸，待温度复恢至室温时再加苯。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（苯容易挥发</a:t>
            </a:r>
            <a:r>
              <a:rPr lang="en-US" altLang="zh-CN" sz="3000" dirty="0"/>
              <a:t>,</a:t>
            </a:r>
            <a:r>
              <a:rPr lang="zh-CN" altLang="en-US" sz="3000" dirty="0"/>
              <a:t>浓硫酸和浓硝酸混合后</a:t>
            </a:r>
            <a:r>
              <a:rPr lang="en-US" altLang="zh-CN" sz="3000" dirty="0"/>
              <a:t>,</a:t>
            </a:r>
            <a:r>
              <a:rPr lang="zh-CN" altLang="en-US" sz="3000" dirty="0"/>
              <a:t>会产生大量的热</a:t>
            </a:r>
            <a:r>
              <a:rPr lang="en-US" altLang="zh-CN" sz="3000" dirty="0"/>
              <a:t>,</a:t>
            </a:r>
            <a:r>
              <a:rPr lang="zh-CN" altLang="en-US" sz="3000" dirty="0"/>
              <a:t>为了避免苯挥发</a:t>
            </a:r>
            <a:r>
              <a:rPr lang="en-US" altLang="zh-CN" sz="3000" dirty="0"/>
              <a:t>,</a:t>
            </a:r>
            <a:r>
              <a:rPr lang="zh-CN" altLang="en-US" sz="3000" dirty="0"/>
              <a:t>所以冷却后加苯。）</a:t>
            </a:r>
            <a:endParaRPr lang="en-MY" altLang="zh-CN" sz="3000" dirty="0"/>
          </a:p>
          <a:p>
            <a:pPr marL="514350" indent="-514350">
              <a:buAutoNum type="arabicPeriod" startAt="2"/>
            </a:pPr>
            <a:r>
              <a:rPr lang="zh-CN" altLang="en-US" sz="3000" dirty="0"/>
              <a:t>如在</a:t>
            </a:r>
            <a:r>
              <a:rPr lang="en-US" altLang="zh-CN" sz="3000" dirty="0"/>
              <a:t>50℃~60℃</a:t>
            </a:r>
            <a:r>
              <a:rPr lang="zh-CN" altLang="en-US" sz="3000" dirty="0"/>
              <a:t>时以苯和浓硝酸反应为主，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70℃ ~80℃</a:t>
            </a:r>
            <a:r>
              <a:rPr lang="zh-CN" altLang="en-US" sz="3000" dirty="0"/>
              <a:t>时则以苯和浓硫酸反应为主。</a:t>
            </a:r>
          </a:p>
          <a:p>
            <a:pPr marL="0" indent="0">
              <a:buNone/>
            </a:pPr>
            <a:r>
              <a:rPr lang="zh-CN" altLang="en-US" sz="3000" dirty="0"/>
              <a:t>优点容易控制实验温度，使物体受热均匀不会导致暴沸的现象。</a:t>
            </a:r>
            <a:endParaRPr lang="en-MY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30.4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48793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取代反应：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磺化反应</a:t>
            </a:r>
            <a:r>
              <a:rPr lang="en-MY" altLang="zh-CN" sz="3000" dirty="0"/>
              <a:t>  	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磺酸基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pic>
        <p:nvPicPr>
          <p:cNvPr id="9" name="Picture 8" descr="pg94.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91375" y="3200400"/>
            <a:ext cx="1724025" cy="9144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5133975" y="2895600"/>
            <a:ext cx="2057400" cy="1571257"/>
            <a:chOff x="5562600" y="2743200"/>
            <a:chExt cx="2057400" cy="1571257"/>
          </a:xfrm>
        </p:grpSpPr>
        <p:pic>
          <p:nvPicPr>
            <p:cNvPr id="12" name="Picture 11" descr="pg94.2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562600" y="2743200"/>
              <a:ext cx="2057400" cy="1571257"/>
            </a:xfrm>
            <a:prstGeom prst="rect">
              <a:avLst/>
            </a:prstGeom>
          </p:spPr>
        </p:pic>
        <p:sp>
          <p:nvSpPr>
            <p:cNvPr id="13" name="Rounded Rectangle 12"/>
            <p:cNvSpPr/>
            <p:nvPr/>
          </p:nvSpPr>
          <p:spPr>
            <a:xfrm>
              <a:off x="5562600" y="2743200"/>
              <a:ext cx="457200" cy="304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9DC5C4-7DBD-46A4-861D-F31B75A9DB92}"/>
              </a:ext>
            </a:extLst>
          </p:cNvPr>
          <p:cNvGrpSpPr/>
          <p:nvPr/>
        </p:nvGrpSpPr>
        <p:grpSpPr>
          <a:xfrm>
            <a:off x="3962400" y="3420087"/>
            <a:ext cx="1143000" cy="466113"/>
            <a:chOff x="2651760" y="5657413"/>
            <a:chExt cx="1371600" cy="22434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0F68F39-F7F4-443E-A9C5-622C79C4995F}"/>
                </a:ext>
              </a:extLst>
            </p:cNvPr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E28B89-92A4-40E9-891E-1F7B51A51CB1}"/>
                </a:ext>
              </a:extLst>
            </p:cNvPr>
            <p:cNvSpPr txBox="1"/>
            <p:nvPr/>
          </p:nvSpPr>
          <p:spPr>
            <a:xfrm>
              <a:off x="2834640" y="5657413"/>
              <a:ext cx="960121" cy="222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80</a:t>
              </a:r>
              <a:r>
                <a:rPr lang="en-US" altLang="zh-CN" sz="2400" baseline="30000" dirty="0"/>
                <a:t>0</a:t>
              </a:r>
              <a:r>
                <a:rPr lang="en-US" altLang="zh-CN" sz="2400" dirty="0"/>
                <a:t>C</a:t>
              </a:r>
              <a:endParaRPr lang="en-US" sz="2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08E921-3E1B-4366-9A11-8AD50EFF4C75}"/>
              </a:ext>
            </a:extLst>
          </p:cNvPr>
          <p:cNvGrpSpPr/>
          <p:nvPr/>
        </p:nvGrpSpPr>
        <p:grpSpPr>
          <a:xfrm>
            <a:off x="228600" y="2819400"/>
            <a:ext cx="3657600" cy="1905000"/>
            <a:chOff x="228600" y="2819400"/>
            <a:chExt cx="3657600" cy="1905000"/>
          </a:xfrm>
        </p:grpSpPr>
        <p:pic>
          <p:nvPicPr>
            <p:cNvPr id="8" name="Picture 7" descr="pg94.2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28600" y="2819400"/>
              <a:ext cx="3657600" cy="1905000"/>
            </a:xfrm>
            <a:prstGeom prst="rect">
              <a:avLst/>
            </a:prstGeom>
          </p:spPr>
        </p:pic>
        <p:pic>
          <p:nvPicPr>
            <p:cNvPr id="18" name="Picture 17" descr="pg94.jpg">
              <a:extLst>
                <a:ext uri="{FF2B5EF4-FFF2-40B4-BE49-F238E27FC236}">
                  <a16:creationId xmlns:a16="http://schemas.microsoft.com/office/drawing/2014/main" id="{80C82AEA-B2A1-4DE5-9C28-79F82EAA1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167" r="62589" b="61283"/>
            <a:stretch/>
          </p:blipFill>
          <p:spPr>
            <a:xfrm>
              <a:off x="3429000" y="4114800"/>
              <a:ext cx="457200" cy="385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取代反应：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4. </a:t>
            </a:r>
            <a:r>
              <a:rPr lang="zh-CN" altLang="en-US" sz="3000" dirty="0"/>
              <a:t>烷基化反应（傅列德尔</a:t>
            </a:r>
            <a:r>
              <a:rPr lang="en-US" altLang="zh-CN" sz="3000" dirty="0"/>
              <a:t>-</a:t>
            </a:r>
            <a:r>
              <a:rPr lang="zh-CN" altLang="en-US" sz="3000" dirty="0"/>
              <a:t>克拉夫茨烷基化反应）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通式：</a:t>
            </a:r>
            <a:r>
              <a:rPr lang="en-US" altLang="zh-CN" sz="3000" dirty="0"/>
              <a:t>	  + R-X</a:t>
            </a:r>
            <a:r>
              <a:rPr lang="en-US" altLang="zh-CN" sz="3000" dirty="0">
                <a:sym typeface="Wingdings" pitchFamily="2" charset="2"/>
              </a:rPr>
              <a:t>	             	        + HX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苯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zh-CN" altLang="en-US" sz="3000" dirty="0">
                <a:sym typeface="Wingdings" pitchFamily="2" charset="2"/>
              </a:rPr>
              <a:t>卤代烷</a:t>
            </a:r>
            <a:r>
              <a:rPr lang="en-MY" altLang="zh-CN" sz="3000" dirty="0">
                <a:sym typeface="Wingdings" pitchFamily="2" charset="2"/>
              </a:rPr>
              <a:t>	         </a:t>
            </a:r>
            <a:r>
              <a:rPr lang="en-US" altLang="zh-CN" sz="3000" dirty="0">
                <a:sym typeface="Wingdings" pitchFamily="2" charset="2"/>
              </a:rPr>
              <a:t>   </a:t>
            </a:r>
            <a:r>
              <a:rPr lang="zh-CN" altLang="en-US" sz="3000" dirty="0">
                <a:sym typeface="Wingdings" pitchFamily="2" charset="2"/>
              </a:rPr>
              <a:t>烷基苯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zh-CN" altLang="en-US" sz="3000" dirty="0">
                <a:sym typeface="Wingdings" pitchFamily="2" charset="2"/>
              </a:rPr>
              <a:t>卤化氢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卤素的位置被苯环取代。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276600" y="2133600"/>
          <a:ext cx="1752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320" imgH="203040" progId="Equation.3">
                  <p:embed/>
                </p:oleObj>
              </mc:Choice>
              <mc:Fallback>
                <p:oleObj name="Equation" r:id="rId3" imgW="5713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133600"/>
                        <a:ext cx="17526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苯+氯气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24000" y="2209800"/>
            <a:ext cx="779585" cy="533400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34056" y="2209800"/>
            <a:ext cx="1395344" cy="609600"/>
            <a:chOff x="2192215" y="4038600"/>
            <a:chExt cx="1395344" cy="609600"/>
          </a:xfrm>
        </p:grpSpPr>
        <p:pic>
          <p:nvPicPr>
            <p:cNvPr id="11" name="Picture 10" descr="苯+氯气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192215" y="4038600"/>
              <a:ext cx="890954" cy="6096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2819400" y="4110335"/>
              <a:ext cx="76815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ym typeface="Wingdings" pitchFamily="2" charset="2"/>
                </a:rPr>
                <a:t> </a:t>
              </a:r>
              <a:r>
                <a:rPr lang="en-US" altLang="zh-CN" sz="2400" dirty="0">
                  <a:sym typeface="Wingdings" pitchFamily="2" charset="2"/>
                </a:rPr>
                <a:t>— R</a:t>
              </a:r>
              <a:endParaRPr lang="en-US" sz="2400" dirty="0"/>
            </a:p>
          </p:txBody>
        </p:sp>
      </p:grpSp>
      <p:pic>
        <p:nvPicPr>
          <p:cNvPr id="16" name="Picture 15" descr="pg95.3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7200" y="3505200"/>
            <a:ext cx="8146473" cy="1524000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EF673AA-E6A8-41D1-82FA-303ED7A6CA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462222"/>
              </p:ext>
            </p:extLst>
          </p:nvPr>
        </p:nvGraphicFramePr>
        <p:xfrm>
          <a:off x="3250372" y="2870200"/>
          <a:ext cx="1752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320" imgH="203040" progId="Equation.3">
                  <p:embed/>
                </p:oleObj>
              </mc:Choice>
              <mc:Fallback>
                <p:oleObj name="Equation" r:id="rId3" imgW="571320" imgH="2030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372" y="2870200"/>
                        <a:ext cx="1752600" cy="635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取代反应：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酰基化反应（傅列德尔</a:t>
            </a:r>
            <a:r>
              <a:rPr lang="en-US" altLang="zh-CN" sz="3000" dirty="0"/>
              <a:t>-</a:t>
            </a:r>
            <a:r>
              <a:rPr lang="zh-CN" altLang="en-US" sz="3000" dirty="0"/>
              <a:t>克拉夫茨酰基化反应）</a:t>
            </a:r>
            <a:endParaRPr lang="en-US" altLang="zh-CN" sz="3000" dirty="0"/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r>
              <a:rPr lang="zh-CN" altLang="en-US" sz="3000" dirty="0"/>
              <a:t>通式：</a:t>
            </a:r>
            <a:r>
              <a:rPr lang="en-US" altLang="zh-CN" sz="3000" dirty="0"/>
              <a:t>	    + R-C-X   </a:t>
            </a:r>
            <a:r>
              <a:rPr lang="en-US" altLang="zh-CN" sz="3000" dirty="0">
                <a:sym typeface="Wingdings" pitchFamily="2" charset="2"/>
              </a:rPr>
              <a:t>      				+ HX 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pic>
        <p:nvPicPr>
          <p:cNvPr id="8" name="Picture 7" descr="pg95.3.JP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533400" y="3352800"/>
            <a:ext cx="8001000" cy="190500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6629400" y="232355"/>
            <a:ext cx="1447800" cy="986845"/>
            <a:chOff x="5562600" y="1778788"/>
            <a:chExt cx="1447800" cy="1061210"/>
          </a:xfrm>
        </p:grpSpPr>
        <p:sp>
          <p:nvSpPr>
            <p:cNvPr id="10" name="Rectangle 9"/>
            <p:cNvSpPr/>
            <p:nvPr/>
          </p:nvSpPr>
          <p:spPr>
            <a:xfrm>
              <a:off x="5562600" y="2286000"/>
              <a:ext cx="1447800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R—C—</a:t>
              </a:r>
            </a:p>
          </p:txBody>
        </p:sp>
        <p:pic>
          <p:nvPicPr>
            <p:cNvPr id="9" name="Picture 8" descr="pg95.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5619297" y="1778788"/>
              <a:ext cx="1371600" cy="609600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5638800" y="568404"/>
            <a:ext cx="9989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酰基</a:t>
            </a:r>
            <a:r>
              <a:rPr lang="en-US" altLang="zh-CN" sz="2800" dirty="0"/>
              <a:t>:</a:t>
            </a:r>
            <a:endParaRPr lang="en-US" sz="2800" dirty="0"/>
          </a:p>
        </p:txBody>
      </p:sp>
      <p:pic>
        <p:nvPicPr>
          <p:cNvPr id="13" name="Picture 12" descr="苯+氯气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8815" y="2667000"/>
            <a:ext cx="779585" cy="5334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5562600" y="2154198"/>
            <a:ext cx="1846385" cy="1066800"/>
            <a:chOff x="5715000" y="1905000"/>
            <a:chExt cx="1846385" cy="1066800"/>
          </a:xfrm>
        </p:grpSpPr>
        <p:grpSp>
          <p:nvGrpSpPr>
            <p:cNvPr id="14" name="Group 13"/>
            <p:cNvGrpSpPr/>
            <p:nvPr/>
          </p:nvGrpSpPr>
          <p:grpSpPr>
            <a:xfrm>
              <a:off x="5715000" y="1905000"/>
              <a:ext cx="1447800" cy="1066800"/>
              <a:chOff x="5562600" y="1692808"/>
              <a:chExt cx="1447800" cy="114719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5562600" y="2286000"/>
                <a:ext cx="1447800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sz="3000" dirty="0"/>
                  <a:t>R—C—</a:t>
                </a:r>
              </a:p>
            </p:txBody>
          </p:sp>
          <p:pic>
            <p:nvPicPr>
              <p:cNvPr id="16" name="Picture 15" descr="pg95.4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>
              <a:xfrm>
                <a:off x="5600700" y="1692808"/>
                <a:ext cx="1371600" cy="60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" name="Picture 16" descr="苯+氯气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6781800" y="2438400"/>
              <a:ext cx="779585" cy="5334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07097"/>
              </p:ext>
            </p:extLst>
          </p:nvPr>
        </p:nvGraphicFramePr>
        <p:xfrm>
          <a:off x="3733800" y="2667000"/>
          <a:ext cx="1752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03040" progId="Equation.3">
                  <p:embed/>
                </p:oleObj>
              </mc:Choice>
              <mc:Fallback>
                <p:oleObj name="Equation" r:id="rId5" imgW="57132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667000"/>
                        <a:ext cx="17526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 descr="pg95.4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2569464" y="2100118"/>
            <a:ext cx="1371600" cy="5668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667000" y="534418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乙酰氯</a:t>
            </a:r>
            <a:endParaRPr lang="en-US" sz="2800" dirty="0"/>
          </a:p>
        </p:txBody>
      </p:sp>
      <p:sp>
        <p:nvSpPr>
          <p:cNvPr id="21" name="Rectangle 20"/>
          <p:cNvSpPr/>
          <p:nvPr/>
        </p:nvSpPr>
        <p:spPr>
          <a:xfrm>
            <a:off x="5410200" y="525780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苯乙酮</a:t>
            </a:r>
            <a:endParaRPr lang="en-US" sz="2800" dirty="0"/>
          </a:p>
        </p:txBody>
      </p:sp>
      <p:sp>
        <p:nvSpPr>
          <p:cNvPr id="22" name="Rectangle 21"/>
          <p:cNvSpPr/>
          <p:nvPr/>
        </p:nvSpPr>
        <p:spPr>
          <a:xfrm>
            <a:off x="5410200" y="580138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乙酰苯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20" grpId="0"/>
      <p:bldP spid="21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Content Placeholder 6" descr="苯全反应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830" y="1118045"/>
            <a:ext cx="7779570" cy="5331687"/>
          </a:xfr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6AC846-4E26-DEE0-29EE-6FACC652A637}"/>
              </a:ext>
            </a:extLst>
          </p:cNvPr>
          <p:cNvSpPr/>
          <p:nvPr/>
        </p:nvSpPr>
        <p:spPr>
          <a:xfrm>
            <a:off x="5029200" y="5791200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MY" sz="2000" b="1" dirty="0"/>
              <a:t>H₂O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30.4 </a:t>
            </a:r>
            <a:r>
              <a:rPr lang="zh-CN" altLang="en-US" sz="4800" b="1" dirty="0">
                <a:latin typeface="+mn-ea"/>
              </a:rPr>
              <a:t>苯的化学性质</a:t>
            </a:r>
            <a:endParaRPr lang="en-US" sz="4800" b="1" dirty="0"/>
          </a:p>
        </p:txBody>
      </p:sp>
      <p:pic>
        <p:nvPicPr>
          <p:cNvPr id="8" name="Picture 7" descr="benzene re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626364"/>
            <a:ext cx="6743700" cy="638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C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C </a:t>
            </a:r>
            <a:r>
              <a:rPr lang="zh-CN" altLang="en-US" sz="3000" dirty="0"/>
              <a:t>甲烷不能使酸性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褪色，甲苯能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A </a:t>
            </a:r>
            <a:r>
              <a:rPr lang="zh-CN" altLang="en-US" sz="3000" dirty="0"/>
              <a:t>苯密度比水小，下层是溴的水溶液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dirty="0"/>
              <a:t>B </a:t>
            </a:r>
            <a:r>
              <a:rPr lang="zh-CN" altLang="en-US" sz="3000" dirty="0"/>
              <a:t>都是取代反应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思考题 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30d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57019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工业上，苯的主要来源于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煤和石油。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蒸馏煤焦油可得到苯。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催化裂化石油所得液态产物中，可分离出苯等芳香烃。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30.5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苯的工业来源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A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C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思考题 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30e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73656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与苯为同系物。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与苯一样主要从煤焦油或石油的副产品中提炼得到。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物理性质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无色液体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密度比水小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不溶于水，可溶于有机溶剂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</a:rPr>
              <a:t>沸点比苯高（式量大，分子间的范德华力较强）</a:t>
            </a:r>
            <a:endParaRPr lang="en-US" altLang="zh-CN" sz="30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C00000"/>
                </a:solidFill>
              </a:rPr>
              <a:t>熔点比苯低（有侧链，单位体积内可堆积的分子数较少）</a:t>
            </a:r>
            <a:endParaRPr lang="en-US" altLang="zh-CN" sz="3000" b="1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30.6 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烷基苯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(</a:t>
            </a:r>
            <a:r>
              <a:rPr lang="zh-CN" altLang="en-US" sz="3000" dirty="0"/>
              <a:t>一</a:t>
            </a:r>
            <a:r>
              <a:rPr lang="en-US" altLang="zh-CN" sz="3000" dirty="0"/>
              <a:t>)</a:t>
            </a:r>
            <a:r>
              <a:rPr lang="zh-CN" altLang="en-US" sz="3000" dirty="0"/>
              <a:t>受甲基的影响使得邻、对位置上的</a:t>
            </a:r>
            <a:r>
              <a:rPr lang="en-US" altLang="zh-CN" sz="3000" dirty="0"/>
              <a:t>H</a:t>
            </a:r>
            <a:r>
              <a:rPr lang="zh-CN" altLang="en-US" sz="3000" dirty="0"/>
              <a:t>易被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卤化反应：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光照卤代在侧链，催化卤代在苯环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30.6.1 </a:t>
            </a:r>
            <a:r>
              <a:rPr lang="zh-CN" altLang="en-US" sz="4800" b="1" dirty="0">
                <a:latin typeface="+mn-ea"/>
              </a:rPr>
              <a:t>甲苯的化学性质</a:t>
            </a:r>
            <a:endParaRPr lang="en-US" sz="4800" b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1371600" y="2362200"/>
            <a:ext cx="6919912" cy="4267200"/>
            <a:chOff x="776287" y="1447800"/>
            <a:chExt cx="7591425" cy="4942819"/>
          </a:xfrm>
        </p:grpSpPr>
        <p:grpSp>
          <p:nvGrpSpPr>
            <p:cNvPr id="9" name="Group 8"/>
            <p:cNvGrpSpPr/>
            <p:nvPr/>
          </p:nvGrpSpPr>
          <p:grpSpPr>
            <a:xfrm>
              <a:off x="776287" y="1447800"/>
              <a:ext cx="7591425" cy="4942819"/>
              <a:chOff x="776287" y="1600201"/>
              <a:chExt cx="7591425" cy="4942819"/>
            </a:xfrm>
          </p:grpSpPr>
          <p:pic>
            <p:nvPicPr>
              <p:cNvPr id="7" name="Picture 6" descr="pg97.1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287" y="1600201"/>
                <a:ext cx="7591425" cy="4876800"/>
              </a:xfrm>
              <a:prstGeom prst="rect">
                <a:avLst/>
              </a:prstGeo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4114800" y="6019800"/>
                <a:ext cx="319670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/>
                  <a:t>苯基氯甲烷</a:t>
                </a:r>
                <a:r>
                  <a:rPr lang="en-US" altLang="zh-CN" sz="2800" dirty="0"/>
                  <a:t>/</a:t>
                </a:r>
                <a:r>
                  <a:rPr lang="zh-CN" altLang="en-US" sz="2800" dirty="0"/>
                  <a:t>苄基氯</a:t>
                </a:r>
                <a:endParaRPr lang="en-US" sz="2800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7481192" y="2286000"/>
              <a:ext cx="373167" cy="534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2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(</a:t>
            </a:r>
            <a:r>
              <a:rPr lang="zh-CN" altLang="en-US" sz="3000" dirty="0"/>
              <a:t>一</a:t>
            </a:r>
            <a:r>
              <a:rPr lang="en-US" altLang="zh-CN" sz="3000" dirty="0"/>
              <a:t>)</a:t>
            </a:r>
            <a:r>
              <a:rPr lang="zh-CN" altLang="en-US" sz="3000" dirty="0"/>
              <a:t>受甲基的影响使得邻、对位置上的</a:t>
            </a:r>
            <a:r>
              <a:rPr lang="en-US" altLang="zh-CN" sz="3000" dirty="0"/>
              <a:t>H</a:t>
            </a:r>
            <a:r>
              <a:rPr lang="zh-CN" altLang="en-US" sz="3000" dirty="0"/>
              <a:t>易被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取代反应 </a:t>
            </a:r>
            <a:r>
              <a:rPr lang="en-US" altLang="zh-CN" sz="3000" dirty="0"/>
              <a:t>-- 2.</a:t>
            </a:r>
            <a:r>
              <a:rPr lang="zh-CN" altLang="en-US" sz="3000" dirty="0"/>
              <a:t>硝化反应</a:t>
            </a:r>
            <a:r>
              <a:rPr lang="en-MY" altLang="zh-CN" sz="3000" dirty="0"/>
              <a:t>(</a:t>
            </a:r>
            <a:r>
              <a:rPr lang="zh-CN" altLang="en-US" sz="3000" dirty="0"/>
              <a:t>低温</a:t>
            </a:r>
            <a:r>
              <a:rPr lang="en-MY" altLang="zh-CN" sz="3000" dirty="0"/>
              <a:t>)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30.6.1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甲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52051" y="3581400"/>
            <a:ext cx="1343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+  HNO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4175760" y="3428992"/>
            <a:ext cx="1615440" cy="1200329"/>
            <a:chOff x="2651760" y="5659562"/>
            <a:chExt cx="1615440" cy="577736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75097" y="5659562"/>
              <a:ext cx="1592103" cy="57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浓</a:t>
              </a:r>
              <a:r>
                <a:rPr lang="en-US" altLang="zh-CN" sz="2400" dirty="0"/>
                <a:t>H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SO</a:t>
              </a:r>
              <a:r>
                <a:rPr lang="en-US" altLang="zh-CN" sz="2400" baseline="-25000" dirty="0"/>
                <a:t>4    </a:t>
              </a:r>
            </a:p>
            <a:p>
              <a:r>
                <a:rPr lang="en-US" altLang="zh-CN" sz="2400" baseline="-25000" dirty="0"/>
                <a:t>   </a:t>
              </a:r>
              <a:r>
                <a:rPr lang="en-US" altLang="zh-CN" sz="2400" dirty="0"/>
                <a:t>30</a:t>
              </a:r>
              <a:r>
                <a:rPr lang="en-US" altLang="zh-CN" sz="2400" baseline="30000" dirty="0"/>
                <a:t>o</a:t>
              </a:r>
              <a:r>
                <a:rPr lang="en-US" altLang="zh-CN" sz="2400" dirty="0"/>
                <a:t>C</a:t>
              </a:r>
            </a:p>
            <a:p>
              <a:endParaRPr lang="en-US" sz="24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6880408-E6BB-417E-8366-CF84A48E65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67489" b="51074"/>
          <a:stretch/>
        </p:blipFill>
        <p:spPr>
          <a:xfrm>
            <a:off x="5733404" y="1719590"/>
            <a:ext cx="2421709" cy="21996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748A66-7CC6-4598-9635-2EB11DA923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t="45233" r="66467"/>
          <a:stretch/>
        </p:blipFill>
        <p:spPr>
          <a:xfrm>
            <a:off x="5733404" y="3951867"/>
            <a:ext cx="2572396" cy="2462213"/>
          </a:xfrm>
          <a:prstGeom prst="rect">
            <a:avLst/>
          </a:prstGeom>
        </p:spPr>
      </p:pic>
      <p:pic>
        <p:nvPicPr>
          <p:cNvPr id="12" name="Picture 11" descr="pg98.jpg">
            <a:extLst>
              <a:ext uri="{FF2B5EF4-FFF2-40B4-BE49-F238E27FC236}">
                <a16:creationId xmlns:a16="http://schemas.microsoft.com/office/drawing/2014/main" id="{527211E4-DC7F-4C34-AAEF-14B6BF20C8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81" r="75676"/>
          <a:stretch/>
        </p:blipFill>
        <p:spPr>
          <a:xfrm>
            <a:off x="1317964" y="2608460"/>
            <a:ext cx="1334087" cy="194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324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(</a:t>
            </a:r>
            <a:r>
              <a:rPr lang="zh-CN" altLang="en-US" sz="3000" dirty="0"/>
              <a:t>一</a:t>
            </a:r>
            <a:r>
              <a:rPr lang="en-US" altLang="zh-CN" sz="3000" dirty="0"/>
              <a:t>)</a:t>
            </a:r>
            <a:r>
              <a:rPr lang="zh-CN" altLang="en-US" sz="3000" dirty="0"/>
              <a:t>受甲基的影响使得邻、对位置上的</a:t>
            </a:r>
            <a:r>
              <a:rPr lang="en-US" altLang="zh-CN" sz="3000" dirty="0"/>
              <a:t>H</a:t>
            </a:r>
            <a:r>
              <a:rPr lang="zh-CN" altLang="en-US" sz="3000" dirty="0"/>
              <a:t>易被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取代反应 </a:t>
            </a:r>
            <a:r>
              <a:rPr lang="en-US" altLang="zh-CN" sz="3000" dirty="0"/>
              <a:t>-- 2.</a:t>
            </a:r>
            <a:r>
              <a:rPr lang="zh-CN" altLang="en-US" sz="3000" dirty="0"/>
              <a:t>硝化反应</a:t>
            </a:r>
            <a:r>
              <a:rPr lang="en-MY" altLang="zh-CN" sz="3000" dirty="0"/>
              <a:t>(</a:t>
            </a:r>
            <a:r>
              <a:rPr lang="zh-CN" altLang="en-US" sz="3000" dirty="0"/>
              <a:t>加热</a:t>
            </a:r>
            <a:r>
              <a:rPr lang="en-MY" altLang="zh-CN" sz="3000" dirty="0"/>
              <a:t>)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30.6.1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甲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苯的化学性质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74020" y="3581400"/>
            <a:ext cx="1526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+ 3 HNO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3429000" y="3428992"/>
            <a:ext cx="1615440" cy="1200329"/>
            <a:chOff x="2651760" y="5659562"/>
            <a:chExt cx="1615440" cy="577736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75097" y="5659562"/>
              <a:ext cx="1592103" cy="57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浓</a:t>
              </a:r>
              <a:r>
                <a:rPr lang="en-US" altLang="zh-CN" sz="2400" dirty="0"/>
                <a:t>H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SO</a:t>
              </a:r>
              <a:r>
                <a:rPr lang="en-US" altLang="zh-CN" sz="2400" baseline="-25000" dirty="0"/>
                <a:t>4    </a:t>
              </a:r>
            </a:p>
            <a:p>
              <a:r>
                <a:rPr lang="en-US" altLang="zh-CN" sz="2400" baseline="-25000" dirty="0"/>
                <a:t>   </a:t>
              </a:r>
              <a:r>
                <a:rPr lang="en-US" altLang="zh-CN" sz="2400" dirty="0"/>
                <a:t>100</a:t>
              </a:r>
              <a:r>
                <a:rPr lang="en-US" altLang="zh-CN" sz="2400" baseline="30000" dirty="0"/>
                <a:t>o</a:t>
              </a:r>
              <a:r>
                <a:rPr lang="en-US" altLang="zh-CN" sz="2400" dirty="0"/>
                <a:t>C</a:t>
              </a:r>
            </a:p>
            <a:p>
              <a:endParaRPr lang="en-US" sz="2400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953000" y="2296180"/>
            <a:ext cx="2818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2,4,6-</a:t>
            </a:r>
            <a:r>
              <a:rPr lang="zh-CN" altLang="en-US" sz="2800" dirty="0"/>
              <a:t>三硝基甲苯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5080008" y="5181600"/>
            <a:ext cx="29209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TNT</a:t>
            </a:r>
            <a:r>
              <a:rPr lang="zh-CN" altLang="en-US" sz="2800" dirty="0"/>
              <a:t>一种猛烈炸药</a:t>
            </a:r>
            <a:endParaRPr lang="en-US" sz="2800" dirty="0"/>
          </a:p>
        </p:txBody>
      </p:sp>
      <p:pic>
        <p:nvPicPr>
          <p:cNvPr id="20" name="Picture 19" descr="pg98.jpg">
            <a:extLst>
              <a:ext uri="{FF2B5EF4-FFF2-40B4-BE49-F238E27FC236}">
                <a16:creationId xmlns:a16="http://schemas.microsoft.com/office/drawing/2014/main" id="{063D8C74-3CBB-4753-839D-36922EFEED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181" r="75676"/>
          <a:stretch/>
        </p:blipFill>
        <p:spPr>
          <a:xfrm>
            <a:off x="384994" y="2731872"/>
            <a:ext cx="1334087" cy="194588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8ABECBA-BA0B-4655-B4CD-E8878E441131}"/>
              </a:ext>
            </a:extLst>
          </p:cNvPr>
          <p:cNvGrpSpPr/>
          <p:nvPr/>
        </p:nvGrpSpPr>
        <p:grpSpPr>
          <a:xfrm>
            <a:off x="5105400" y="2804877"/>
            <a:ext cx="3677493" cy="2476736"/>
            <a:chOff x="5105400" y="2804877"/>
            <a:chExt cx="3677493" cy="2476736"/>
          </a:xfrm>
        </p:grpSpPr>
        <p:grpSp>
          <p:nvGrpSpPr>
            <p:cNvPr id="10" name="Group 9"/>
            <p:cNvGrpSpPr/>
            <p:nvPr/>
          </p:nvGrpSpPr>
          <p:grpSpPr>
            <a:xfrm>
              <a:off x="5105400" y="2819400"/>
              <a:ext cx="3677493" cy="2462213"/>
              <a:chOff x="4572000" y="1447800"/>
              <a:chExt cx="3677493" cy="2462213"/>
            </a:xfrm>
          </p:grpSpPr>
          <p:pic>
            <p:nvPicPr>
              <p:cNvPr id="8" name="Picture 7" descr="pg97.PNG"/>
              <p:cNvPicPr>
                <a:picLocks noChangeAspect="1"/>
              </p:cNvPicPr>
              <p:nvPr/>
            </p:nvPicPr>
            <p:blipFill>
              <a:blip r:embed="rId4"/>
              <a:srcRect l="45933"/>
              <a:stretch>
                <a:fillRect/>
              </a:stretch>
            </p:blipFill>
            <p:spPr>
              <a:xfrm>
                <a:off x="4572000" y="1447800"/>
                <a:ext cx="3677493" cy="2462213"/>
              </a:xfrm>
              <a:prstGeom prst="rect">
                <a:avLst/>
              </a:prstGeom>
            </p:spPr>
          </p:pic>
          <p:sp>
            <p:nvSpPr>
              <p:cNvPr id="9" name="Rounded Rectangle 8"/>
              <p:cNvSpPr/>
              <p:nvPr/>
            </p:nvSpPr>
            <p:spPr>
              <a:xfrm>
                <a:off x="4572000" y="2514600"/>
                <a:ext cx="457200" cy="3048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1" name="Picture 20" descr="pg98.jpg">
              <a:extLst>
                <a:ext uri="{FF2B5EF4-FFF2-40B4-BE49-F238E27FC236}">
                  <a16:creationId xmlns:a16="http://schemas.microsoft.com/office/drawing/2014/main" id="{C15F3F7E-FD94-4E27-87EB-AE3FB51723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4181" r="75676" b="64913"/>
            <a:stretch/>
          </p:blipFill>
          <p:spPr>
            <a:xfrm>
              <a:off x="5715000" y="2804877"/>
              <a:ext cx="1113161" cy="3955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(</a:t>
            </a:r>
            <a:r>
              <a:rPr lang="zh-CN" altLang="en-US" sz="3000" dirty="0"/>
              <a:t>二</a:t>
            </a:r>
            <a:r>
              <a:rPr lang="en-US" altLang="zh-CN" sz="3000" dirty="0"/>
              <a:t>)</a:t>
            </a:r>
            <a:r>
              <a:rPr lang="zh-CN" altLang="en-US" sz="3000" dirty="0"/>
              <a:t>受苯环的影响使得甲基易被氧化。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氧化反应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30.6.1 </a:t>
            </a:r>
            <a:r>
              <a:rPr lang="zh-CN" altLang="en-US" sz="4800" b="1" dirty="0">
                <a:latin typeface="+mn-ea"/>
              </a:rPr>
              <a:t>甲苯的化学性质</a:t>
            </a:r>
            <a:endParaRPr lang="en-US" sz="4800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1016454" y="2209800"/>
            <a:ext cx="6451146" cy="2667000"/>
            <a:chOff x="685800" y="1981200"/>
            <a:chExt cx="6527346" cy="2971800"/>
          </a:xfrm>
        </p:grpSpPr>
        <p:pic>
          <p:nvPicPr>
            <p:cNvPr id="7" name="Picture 6" descr="pg98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981200"/>
              <a:ext cx="6527346" cy="297180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3048000" y="2743200"/>
              <a:ext cx="2139659" cy="1954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3600" dirty="0"/>
                <a:t>	</a:t>
              </a:r>
              <a:r>
                <a:rPr lang="zh-CN" altLang="en-US" sz="3600" dirty="0"/>
                <a:t>，</a:t>
              </a:r>
              <a:r>
                <a:rPr lang="en-US" altLang="zh-CN" sz="3600" dirty="0">
                  <a:solidFill>
                    <a:srgbClr val="C00000"/>
                  </a:solidFill>
                </a:rPr>
                <a:t>H</a:t>
              </a:r>
              <a:r>
                <a:rPr lang="en-US" altLang="zh-CN" sz="3600" baseline="30000" dirty="0">
                  <a:solidFill>
                    <a:srgbClr val="C00000"/>
                  </a:solidFill>
                </a:rPr>
                <a:t>+</a:t>
              </a:r>
              <a:r>
                <a:rPr lang="en-US" altLang="zh-CN" sz="36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3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∆</a:t>
              </a:r>
              <a:endParaRPr lang="en-US" sz="3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5900916" y="4724400"/>
            <a:ext cx="1261884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苯甲酸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5836225" y="5181600"/>
            <a:ext cx="2698175" cy="95410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又称安息香酸；</a:t>
            </a:r>
            <a:endParaRPr lang="en-US" altLang="zh-CN" sz="2800" dirty="0"/>
          </a:p>
          <a:p>
            <a:r>
              <a:rPr lang="zh-CN" altLang="en-US" sz="2800" dirty="0"/>
              <a:t>可作防腐剂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(</a:t>
            </a:r>
            <a:r>
              <a:rPr lang="zh-CN" altLang="en-US" sz="3000" dirty="0"/>
              <a:t>二</a:t>
            </a:r>
            <a:r>
              <a:rPr lang="en-US" altLang="zh-CN" sz="3000" dirty="0"/>
              <a:t>)</a:t>
            </a:r>
            <a:r>
              <a:rPr lang="zh-CN" altLang="en-US" sz="3000" dirty="0"/>
              <a:t>受苯环的影响使得甲基易被氧化。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氧化反应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侧链有</a:t>
            </a:r>
            <a:r>
              <a:rPr lang="el-GR" altLang="zh-CN" sz="3000" dirty="0"/>
              <a:t>α</a:t>
            </a:r>
            <a:r>
              <a:rPr lang="en-US" altLang="zh-CN" sz="3000" dirty="0"/>
              <a:t>-H</a:t>
            </a:r>
            <a:r>
              <a:rPr lang="en-MY" altLang="zh-CN" sz="3000" dirty="0"/>
              <a:t>,</a:t>
            </a:r>
            <a:r>
              <a:rPr lang="zh-CN" altLang="en-US" sz="3000" dirty="0"/>
              <a:t>能被热的酸性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氧化形成</a:t>
            </a:r>
            <a:r>
              <a:rPr lang="en-US" altLang="zh-CN" sz="3000" dirty="0"/>
              <a:t>-COOH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支链上的其他碳原子都变成了</a:t>
            </a:r>
            <a:r>
              <a:rPr lang="en-US" altLang="zh-CN" sz="3000" dirty="0"/>
              <a:t>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30.6.1 </a:t>
            </a:r>
            <a:r>
              <a:rPr lang="zh-CN" altLang="en-US" sz="4800" b="1" dirty="0">
                <a:latin typeface="+mn-ea"/>
              </a:rPr>
              <a:t>甲苯的化学性质</a:t>
            </a:r>
            <a:endParaRPr lang="en-US" sz="4800" b="1" dirty="0"/>
          </a:p>
        </p:txBody>
      </p:sp>
      <p:sp>
        <p:nvSpPr>
          <p:cNvPr id="21" name="Rectangle 20"/>
          <p:cNvSpPr/>
          <p:nvPr/>
        </p:nvSpPr>
        <p:spPr>
          <a:xfrm>
            <a:off x="7043107" y="4876800"/>
            <a:ext cx="133889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/>
              <a:t>+ 2 CO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42307" y="3505200"/>
            <a:ext cx="6451146" cy="2667000"/>
            <a:chOff x="457200" y="3352800"/>
            <a:chExt cx="6451146" cy="2667000"/>
          </a:xfrm>
        </p:grpSpPr>
        <p:grpSp>
          <p:nvGrpSpPr>
            <p:cNvPr id="20" name="Group 19"/>
            <p:cNvGrpSpPr/>
            <p:nvPr/>
          </p:nvGrpSpPr>
          <p:grpSpPr>
            <a:xfrm>
              <a:off x="457200" y="3352800"/>
              <a:ext cx="6451146" cy="2667000"/>
              <a:chOff x="1981200" y="3886200"/>
              <a:chExt cx="6451146" cy="266700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1981200" y="3886200"/>
                <a:ext cx="6451146" cy="2667000"/>
                <a:chOff x="685800" y="1981200"/>
                <a:chExt cx="6527346" cy="2971800"/>
              </a:xfrm>
            </p:grpSpPr>
            <p:pic>
              <p:nvPicPr>
                <p:cNvPr id="17" name="Picture 16" descr="pg98.jp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800" y="1981200"/>
                  <a:ext cx="6527346" cy="2971800"/>
                </a:xfrm>
                <a:prstGeom prst="rect">
                  <a:avLst/>
                </a:prstGeom>
              </p:spPr>
            </p:pic>
            <p:sp>
              <p:nvSpPr>
                <p:cNvPr id="18" name="Rectangle 17"/>
                <p:cNvSpPr/>
                <p:nvPr/>
              </p:nvSpPr>
              <p:spPr>
                <a:xfrm>
                  <a:off x="2459101" y="2830286"/>
                  <a:ext cx="2601913" cy="16461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3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KMnO</a:t>
                  </a:r>
                  <a:r>
                    <a:rPr lang="en-US" altLang="zh-CN" sz="3600" b="1" baseline="-25000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4</a:t>
                  </a:r>
                  <a:r>
                    <a:rPr lang="zh-CN" altLang="en-US" sz="3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，</a:t>
                  </a:r>
                  <a:r>
                    <a:rPr lang="en-US" altLang="zh-CN" sz="3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H</a:t>
                  </a:r>
                  <a:r>
                    <a:rPr lang="en-US" altLang="zh-CN" sz="3600" b="1" baseline="30000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+</a:t>
                  </a:r>
                  <a:r>
                    <a:rPr lang="en-US" altLang="zh-CN" sz="3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</a:p>
                <a:p>
                  <a:r>
                    <a:rPr lang="en-US" altLang="zh-CN" sz="3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   	</a:t>
                  </a:r>
                  <a:r>
                    <a:rPr lang="en-US" altLang="zh-CN" sz="36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∆</a:t>
                  </a:r>
                  <a:endParaRPr lang="en-US" sz="36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19" name="Rectangle 18"/>
              <p:cNvSpPr/>
              <p:nvPr/>
            </p:nvSpPr>
            <p:spPr>
              <a:xfrm>
                <a:off x="2623916" y="4277380"/>
                <a:ext cx="179568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CH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CH</a:t>
                </a:r>
                <a:r>
                  <a:rPr lang="en-US" altLang="zh-CN" sz="2800" baseline="-25000" dirty="0"/>
                  <a:t>2</a:t>
                </a:r>
                <a:r>
                  <a:rPr lang="en-US" altLang="zh-CN" sz="2800" dirty="0"/>
                  <a:t>CH</a:t>
                </a:r>
                <a:r>
                  <a:rPr lang="en-US" altLang="zh-CN" sz="2800" baseline="-25000" dirty="0"/>
                  <a:t>3</a:t>
                </a:r>
                <a:endParaRPr lang="en-US" sz="2800" dirty="0"/>
              </a:p>
            </p:txBody>
          </p:sp>
        </p:grpSp>
        <p:cxnSp>
          <p:nvCxnSpPr>
            <p:cNvPr id="24" name="直接箭头连接符 1"/>
            <p:cNvCxnSpPr/>
            <p:nvPr/>
          </p:nvCxnSpPr>
          <p:spPr>
            <a:xfrm>
              <a:off x="2286000" y="4953000"/>
              <a:ext cx="2560320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问题解决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en-US" altLang="zh-CN" sz="3000" dirty="0"/>
              <a:t>D</a:t>
            </a:r>
            <a:r>
              <a:rPr lang="zh-CN" altLang="en-US" sz="3000" dirty="0"/>
              <a:t>邻、对位置上的</a:t>
            </a:r>
            <a:r>
              <a:rPr lang="en-US" altLang="zh-CN" sz="3000" dirty="0"/>
              <a:t>H</a:t>
            </a:r>
            <a:r>
              <a:rPr lang="zh-CN" altLang="en-US" sz="3000" dirty="0"/>
              <a:t>易被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</a:t>
            </a:r>
            <a:endParaRPr lang="en-MY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r>
              <a:rPr lang="zh-CN" altLang="en-US" sz="3000" dirty="0"/>
              <a:t>先硝化，再卤代</a:t>
            </a:r>
            <a:r>
              <a:rPr lang="en-MY" altLang="zh-CN" sz="3000" dirty="0"/>
              <a:t>(</a:t>
            </a:r>
            <a:r>
              <a:rPr lang="zh-CN" altLang="en-US" sz="3000" dirty="0"/>
              <a:t>都属于取代反应</a:t>
            </a:r>
            <a:r>
              <a:rPr lang="en-MY" altLang="zh-CN" sz="3000" dirty="0"/>
              <a:t>)</a:t>
            </a:r>
          </a:p>
          <a:p>
            <a:pPr marL="0" indent="0">
              <a:buNone/>
            </a:pPr>
            <a:r>
              <a:rPr lang="en-US" altLang="zh-CN" sz="3000" dirty="0"/>
              <a:t>Ans:</a:t>
            </a:r>
            <a:r>
              <a:rPr lang="en-MY" altLang="zh-CN" sz="3000" dirty="0"/>
              <a:t>	</a:t>
            </a:r>
            <a:r>
              <a:rPr lang="en-US" altLang="zh-CN" sz="3000" dirty="0"/>
              <a:t>C</a:t>
            </a:r>
            <a:endParaRPr lang="en-MY" altLang="zh-CN" sz="3000" dirty="0"/>
          </a:p>
          <a:p>
            <a:pPr marL="514350" indent="-514350">
              <a:buAutoNum type="arabicPeriod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latin typeface="+mn-ea"/>
              </a:rPr>
              <a:t>30.6.1 </a:t>
            </a:r>
            <a:r>
              <a:rPr lang="zh-CN" altLang="en-US" sz="4800" b="1" dirty="0">
                <a:latin typeface="+mn-ea"/>
              </a:rPr>
              <a:t>甲苯的化学性质</a:t>
            </a:r>
            <a:endParaRPr lang="en-US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B3EB0-4445-4F01-9760-0D38CA2AAD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7778" r="16666" b="54445"/>
          <a:stretch/>
        </p:blipFill>
        <p:spPr>
          <a:xfrm>
            <a:off x="2340429" y="2667000"/>
            <a:ext cx="6477000" cy="1905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A9C4BA-55C8-4BF6-8C79-2199D6B504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1" t="48340" r="9166" b="20793"/>
          <a:stretch/>
        </p:blipFill>
        <p:spPr>
          <a:xfrm>
            <a:off x="2039257" y="4648199"/>
            <a:ext cx="6934200" cy="21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79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催化裂化石油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苯的烷基化反应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30.6.2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甲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苯的来源和制取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g95.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2895600"/>
            <a:ext cx="8146473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B </a:t>
            </a:r>
          </a:p>
          <a:p>
            <a:pPr marL="514350" indent="-514350">
              <a:buAutoNum type="arabicPeriod"/>
            </a:pPr>
            <a:r>
              <a:rPr lang="en-US" altLang="zh-CN" sz="3000" dirty="0"/>
              <a:t>C </a:t>
            </a:r>
            <a:r>
              <a:rPr lang="zh-CN" altLang="en-US" sz="3000" dirty="0"/>
              <a:t>被氧化后能生成对苯二甲酸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A </a:t>
            </a:r>
            <a:r>
              <a:rPr lang="zh-CN" altLang="en-US" sz="3000" dirty="0"/>
              <a:t>不饱和烃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一氯代物只有一种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3. C</a:t>
            </a:r>
          </a:p>
          <a:p>
            <a:pPr marL="0" indent="0">
              <a:buNone/>
            </a:pPr>
            <a:r>
              <a:rPr lang="en-US" altLang="zh-CN" sz="3000" dirty="0"/>
              <a:t>    A </a:t>
            </a:r>
            <a:r>
              <a:rPr lang="zh-CN" altLang="en-US" sz="3000" dirty="0"/>
              <a:t>都能使酸性</a:t>
            </a:r>
            <a:r>
              <a:rPr lang="en-MY" altLang="zh-CN" sz="3000" dirty="0"/>
              <a:t>KMnO</a:t>
            </a:r>
            <a:r>
              <a:rPr lang="en-MY" altLang="zh-CN" sz="3000" baseline="-25000" dirty="0"/>
              <a:t>4</a:t>
            </a:r>
            <a:r>
              <a:rPr lang="en-MY" altLang="zh-CN" sz="3000" dirty="0"/>
              <a:t> </a:t>
            </a:r>
            <a:r>
              <a:rPr lang="zh-CN" altLang="en-US" sz="3000" dirty="0"/>
              <a:t>褪色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</a:t>
            </a:r>
            <a:r>
              <a:rPr lang="en-US" altLang="zh-CN" sz="3000" dirty="0"/>
              <a:t>B </a:t>
            </a:r>
            <a:r>
              <a:rPr lang="zh-CN" altLang="en-US" sz="3000" dirty="0"/>
              <a:t>加成反应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</a:t>
            </a:r>
            <a:r>
              <a:rPr lang="en-US" altLang="zh-CN" sz="3000" dirty="0"/>
              <a:t>D </a:t>
            </a:r>
            <a:r>
              <a:rPr lang="zh-CN" altLang="en-US" sz="3000" dirty="0"/>
              <a:t>苯乙烯的</a:t>
            </a:r>
            <a:r>
              <a:rPr lang="en-US" altLang="zh-CN" sz="3000" dirty="0"/>
              <a:t>8</a:t>
            </a:r>
            <a:r>
              <a:rPr lang="zh-CN" altLang="en-US" sz="3000" dirty="0"/>
              <a:t>个碳原子均可在同一平面上</a:t>
            </a:r>
            <a:endParaRPr lang="en-MY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思考题 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30f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181188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3000" dirty="0"/>
              <a:t>A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3000" dirty="0"/>
              <a:t>D </a:t>
            </a:r>
          </a:p>
          <a:p>
            <a:pPr marL="0" indent="0">
              <a:buNone/>
            </a:pPr>
            <a:r>
              <a:rPr lang="en-US" altLang="zh-CN" sz="3000" dirty="0"/>
              <a:t>      B 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zh-CN" altLang="en-US" sz="3000" dirty="0"/>
              <a:t>可能是环丙烷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3. A 	</a:t>
            </a:r>
            <a:r>
              <a:rPr lang="zh-CN" altLang="en-US" sz="3000" dirty="0"/>
              <a:t>乙烯使其褪色，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（下层）与其分层，苯（上层）与其分层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     B	</a:t>
            </a:r>
            <a:r>
              <a:rPr lang="zh-CN" altLang="en-US" sz="3000" dirty="0"/>
              <a:t>乙烯使其褪色，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溴可溶于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（下层）与水分层，溴可溶于苯（上层）与水分层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4. C</a:t>
            </a: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选择题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22100-7A64-4120-996D-B682456B66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57" b="12857"/>
          <a:stretch/>
        </p:blipFill>
        <p:spPr>
          <a:xfrm>
            <a:off x="655676" y="1963615"/>
            <a:ext cx="8183524" cy="321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5. 	A </a:t>
            </a:r>
            <a:r>
              <a:rPr lang="zh-CN" altLang="en-US" sz="3000" dirty="0"/>
              <a:t>侧链对苯环的影响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B </a:t>
            </a:r>
            <a:r>
              <a:rPr lang="zh-CN" altLang="en-US" sz="3000" dirty="0"/>
              <a:t>苯环对侧链的影响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6. B</a:t>
            </a:r>
          </a:p>
          <a:p>
            <a:pPr marL="514350" indent="-514350">
              <a:buAutoNum type="arabicPeriod" startAt="7"/>
            </a:pPr>
            <a:r>
              <a:rPr lang="en-US" altLang="zh-CN" sz="3000" dirty="0"/>
              <a:t>A </a:t>
            </a:r>
            <a:r>
              <a:rPr lang="zh-CN" altLang="en-US" sz="3000" dirty="0"/>
              <a:t>增加</a:t>
            </a:r>
            <a:r>
              <a:rPr lang="en-MY" altLang="zh-CN" sz="3000" dirty="0"/>
              <a:t>		</a:t>
            </a:r>
            <a:r>
              <a:rPr lang="en-US" altLang="zh-CN" sz="3000" dirty="0"/>
              <a:t>B </a:t>
            </a:r>
            <a:r>
              <a:rPr lang="zh-CN" altLang="en-US" sz="3000" dirty="0"/>
              <a:t>不变</a:t>
            </a:r>
            <a:r>
              <a:rPr lang="en-MY" altLang="zh-CN" sz="3000" dirty="0"/>
              <a:t>	</a:t>
            </a:r>
            <a:r>
              <a:rPr lang="en-US" altLang="zh-CN" sz="3000" dirty="0"/>
              <a:t>C </a:t>
            </a:r>
            <a:r>
              <a:rPr lang="zh-CN" altLang="en-US" sz="3000" dirty="0"/>
              <a:t>减少</a:t>
            </a:r>
            <a:r>
              <a:rPr lang="en-MY" altLang="zh-CN" sz="3000" dirty="0"/>
              <a:t>	</a:t>
            </a:r>
            <a:r>
              <a:rPr lang="en-US" altLang="zh-CN" sz="3000" dirty="0"/>
              <a:t>D </a:t>
            </a:r>
            <a:r>
              <a:rPr lang="zh-CN" altLang="en-US" sz="3000" dirty="0"/>
              <a:t>减少</a:t>
            </a:r>
            <a:endParaRPr lang="en-MY" altLang="zh-CN" sz="3000" dirty="0"/>
          </a:p>
          <a:p>
            <a:pPr marL="514350" indent="-514350">
              <a:buAutoNum type="arabicPeriod" startAt="7"/>
            </a:pPr>
            <a:r>
              <a:rPr lang="en-US" altLang="zh-CN" sz="3000" dirty="0"/>
              <a:t>D</a:t>
            </a:r>
          </a:p>
          <a:p>
            <a:pPr marL="514350" indent="-514350">
              <a:buAutoNum type="arabicPeriod" startAt="7"/>
            </a:pPr>
            <a:r>
              <a:rPr lang="en-US" altLang="zh-CN" sz="3000" dirty="0"/>
              <a:t>C </a:t>
            </a:r>
            <a:r>
              <a:rPr lang="zh-CN" altLang="en-US" sz="3000" dirty="0"/>
              <a:t>溴能溶于苯，因此上层红棕色，下层变浅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溴与己烯发生加成反应，上下均无色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D </a:t>
            </a:r>
            <a:r>
              <a:rPr lang="zh-CN" altLang="en-US" sz="3000" dirty="0"/>
              <a:t>己烯能使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褪色，苯不能。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10. B</a:t>
            </a:r>
          </a:p>
          <a:p>
            <a:pPr marL="0" indent="0">
              <a:buNone/>
            </a:pPr>
            <a:r>
              <a:rPr lang="en-US" altLang="zh-CN" sz="3000" dirty="0"/>
              <a:t>A </a:t>
            </a:r>
            <a:r>
              <a:rPr lang="zh-CN" altLang="en-US" sz="3000" dirty="0"/>
              <a:t>难反应 </a:t>
            </a:r>
            <a:r>
              <a:rPr lang="en-MY" altLang="zh-CN" sz="3000" dirty="0"/>
              <a:t>	</a:t>
            </a:r>
            <a:r>
              <a:rPr lang="en-US" altLang="zh-CN" sz="3000" dirty="0"/>
              <a:t>C </a:t>
            </a:r>
            <a:r>
              <a:rPr lang="zh-CN" altLang="en-US" sz="3000" dirty="0"/>
              <a:t>生成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	D</a:t>
            </a:r>
            <a:r>
              <a:rPr lang="zh-CN" altLang="en-US" sz="3000" dirty="0"/>
              <a:t>不反应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选择题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MY" altLang="zh-CN" sz="3000" dirty="0"/>
              <a:t>11. A </a:t>
            </a:r>
            <a:r>
              <a:rPr lang="zh-CN" altLang="en-US" sz="3000" dirty="0"/>
              <a:t>萃取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B </a:t>
            </a:r>
            <a:r>
              <a:rPr lang="zh-CN" altLang="en-US" sz="3000" dirty="0"/>
              <a:t>溴水能乙烯发生加成反应，也能与甲烷微弱的反应生成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Br </a:t>
            </a:r>
            <a:r>
              <a:rPr lang="zh-CN" altLang="en-US" sz="3000" dirty="0"/>
              <a:t>，因此不能得到纯净的甲烷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C </a:t>
            </a:r>
            <a:r>
              <a:rPr lang="zh-CN" altLang="en-US" sz="3000" dirty="0"/>
              <a:t>煤中不含苯或甲苯，但煤通过干馏能生成苯或甲苯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Ans: D</a:t>
            </a:r>
          </a:p>
          <a:p>
            <a:pPr marL="514350" indent="-514350">
              <a:buNone/>
            </a:pPr>
            <a:r>
              <a:rPr lang="en-US" altLang="zh-CN" sz="3000" dirty="0"/>
              <a:t>12. Ans: B 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2n-6</a:t>
            </a:r>
            <a:r>
              <a:rPr lang="zh-CN" altLang="en-US" sz="3000" dirty="0"/>
              <a:t>（</a:t>
            </a:r>
            <a:r>
              <a:rPr lang="en-US" altLang="zh-CN" sz="3000" dirty="0"/>
              <a:t>n≥6</a:t>
            </a:r>
            <a:r>
              <a:rPr lang="zh-CN" altLang="en-US" sz="3000" dirty="0"/>
              <a:t>）</a:t>
            </a:r>
            <a:r>
              <a:rPr lang="en-US" altLang="zh-CN" sz="3000" dirty="0"/>
              <a:t> </a:t>
            </a:r>
            <a:r>
              <a:rPr lang="zh-CN" altLang="en-US" sz="3000" dirty="0"/>
              <a:t>是只含一个苯环的芳香烃。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D</a:t>
            </a:r>
            <a:r>
              <a:rPr lang="zh-CN" altLang="en-US" sz="3000" dirty="0"/>
              <a:t>对，质量相等的烃，碳氢原子个数比越大，耗氧量越低 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13. D</a:t>
            </a:r>
          </a:p>
          <a:p>
            <a:pPr marL="514350" indent="-514350">
              <a:buNone/>
            </a:pPr>
            <a:r>
              <a:rPr lang="en-US" altLang="zh-CN" sz="3000" dirty="0"/>
              <a:t>A 3</a:t>
            </a:r>
            <a:r>
              <a:rPr lang="zh-CN" altLang="en-US" sz="3000" dirty="0"/>
              <a:t>种</a:t>
            </a:r>
            <a:r>
              <a:rPr lang="en-MY" altLang="zh-CN" sz="3000" dirty="0"/>
              <a:t>		</a:t>
            </a:r>
            <a:r>
              <a:rPr lang="en-US" altLang="zh-CN" sz="3000" dirty="0"/>
              <a:t>B 2</a:t>
            </a:r>
            <a:r>
              <a:rPr lang="zh-CN" altLang="en-US" sz="3000" dirty="0"/>
              <a:t>种</a:t>
            </a:r>
            <a:r>
              <a:rPr lang="en-MY" altLang="zh-CN" sz="3000" dirty="0"/>
              <a:t>		</a:t>
            </a:r>
            <a:r>
              <a:rPr lang="en-US" altLang="zh-CN" sz="3000" dirty="0"/>
              <a:t>C 3</a:t>
            </a:r>
            <a:r>
              <a:rPr lang="zh-CN" altLang="en-US" sz="3000" dirty="0"/>
              <a:t>种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选择题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/>
              <a:t>(1)</a:t>
            </a:r>
            <a:r>
              <a:rPr lang="zh-CN" altLang="en-US" sz="3000" dirty="0"/>
              <a:t>取代反应</a:t>
            </a:r>
            <a:endParaRPr lang="en-MY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3000" dirty="0"/>
              <a:t>(2) </a:t>
            </a:r>
            <a:r>
              <a:rPr lang="zh-CN" altLang="en-US" sz="3000" dirty="0"/>
              <a:t>取代反应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(3) </a:t>
            </a:r>
            <a:r>
              <a:rPr lang="zh-CN" altLang="en-US" sz="3000" dirty="0"/>
              <a:t>加成反应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作答题（</a:t>
            </a:r>
            <a:r>
              <a:rPr lang="en-US" altLang="zh-CN" sz="4800" b="1">
                <a:latin typeface="+mn-ea"/>
                <a:ea typeface="+mj-ea"/>
                <a:cs typeface="+mj-cs"/>
              </a:rPr>
              <a:t>1</a:t>
            </a:r>
            <a:r>
              <a:rPr lang="zh-CN" altLang="en-US" sz="4800" b="1">
                <a:latin typeface="+mn-ea"/>
                <a:ea typeface="+mj-ea"/>
                <a:cs typeface="+mj-cs"/>
              </a:rPr>
              <a:t>，</a:t>
            </a:r>
            <a:r>
              <a:rPr lang="en-US" altLang="zh-CN" sz="4800" b="1" dirty="0">
                <a:latin typeface="+mn-ea"/>
                <a:ea typeface="+mj-ea"/>
                <a:cs typeface="+mj-cs"/>
              </a:rPr>
              <a:t>3</a:t>
            </a:r>
            <a:r>
              <a:rPr lang="zh-CN" altLang="en-US" sz="4800" b="1" dirty="0">
                <a:latin typeface="+mn-ea"/>
                <a:ea typeface="+mj-ea"/>
                <a:cs typeface="+mj-cs"/>
              </a:rPr>
              <a:t>）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g94.`.png">
            <a:extLst>
              <a:ext uri="{FF2B5EF4-FFF2-40B4-BE49-F238E27FC236}">
                <a16:creationId xmlns:a16="http://schemas.microsoft.com/office/drawing/2014/main" id="{784261B9-3A0D-4724-B593-ECDC32D3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268579"/>
            <a:ext cx="762000" cy="11079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43F48A-E2CA-477B-9DA1-606A1C902750}"/>
              </a:ext>
            </a:extLst>
          </p:cNvPr>
          <p:cNvSpPr/>
          <p:nvPr/>
        </p:nvSpPr>
        <p:spPr>
          <a:xfrm>
            <a:off x="1351473" y="1669865"/>
            <a:ext cx="1026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+ Cl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  <p:pic>
        <p:nvPicPr>
          <p:cNvPr id="9" name="Picture 8" descr="pg94.`.png">
            <a:extLst>
              <a:ext uri="{FF2B5EF4-FFF2-40B4-BE49-F238E27FC236}">
                <a16:creationId xmlns:a16="http://schemas.microsoft.com/office/drawing/2014/main" id="{7BFA9716-6911-469C-B9AF-B0433E4AF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36724" y="1268579"/>
            <a:ext cx="1922718" cy="1107908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B5CA988-B5C4-430A-94F2-5D1D01DD5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401029"/>
              </p:ext>
            </p:extLst>
          </p:nvPr>
        </p:nvGraphicFramePr>
        <p:xfrm>
          <a:off x="2217553" y="1615610"/>
          <a:ext cx="1569178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03040" progId="Equation.3">
                  <p:embed/>
                </p:oleObj>
              </mc:Choice>
              <mc:Fallback>
                <p:oleObj name="Equation" r:id="rId5" imgW="571320" imgH="203040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A826035-5FC5-4A8E-9FB6-D33E57F0A2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553" y="1615610"/>
                        <a:ext cx="1569178" cy="57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pg98.jpg">
            <a:extLst>
              <a:ext uri="{FF2B5EF4-FFF2-40B4-BE49-F238E27FC236}">
                <a16:creationId xmlns:a16="http://schemas.microsoft.com/office/drawing/2014/main" id="{C2CDE48C-493F-483E-A328-0E62503A7FF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181" r="75676"/>
          <a:stretch/>
        </p:blipFill>
        <p:spPr>
          <a:xfrm>
            <a:off x="618091" y="3163639"/>
            <a:ext cx="903529" cy="13178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F1080B0-2546-4433-AA6A-16345E66F83C}"/>
              </a:ext>
            </a:extLst>
          </p:cNvPr>
          <p:cNvSpPr/>
          <p:nvPr/>
        </p:nvSpPr>
        <p:spPr>
          <a:xfrm>
            <a:off x="1524000" y="3581400"/>
            <a:ext cx="1526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+ 3 HNO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A1FD24-DAC3-4705-9021-9DE594602BF4}"/>
              </a:ext>
            </a:extLst>
          </p:cNvPr>
          <p:cNvGrpSpPr/>
          <p:nvPr/>
        </p:nvGrpSpPr>
        <p:grpSpPr>
          <a:xfrm>
            <a:off x="3048000" y="3428992"/>
            <a:ext cx="1615440" cy="1200329"/>
            <a:chOff x="2651760" y="5659562"/>
            <a:chExt cx="1615440" cy="57773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32535F3-C126-4A81-A4FB-B0A6CB3055B1}"/>
                </a:ext>
              </a:extLst>
            </p:cNvPr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533A7A-C235-46F5-8DF3-468A0AC102D5}"/>
                </a:ext>
              </a:extLst>
            </p:cNvPr>
            <p:cNvSpPr txBox="1"/>
            <p:nvPr/>
          </p:nvSpPr>
          <p:spPr>
            <a:xfrm>
              <a:off x="2675097" y="5659562"/>
              <a:ext cx="1592103" cy="57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浓</a:t>
              </a:r>
              <a:r>
                <a:rPr lang="en-US" altLang="zh-CN" sz="2400" dirty="0"/>
                <a:t>H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SO</a:t>
              </a:r>
              <a:r>
                <a:rPr lang="en-US" altLang="zh-CN" sz="2400" baseline="-25000" dirty="0"/>
                <a:t>4    </a:t>
              </a:r>
            </a:p>
            <a:p>
              <a:r>
                <a:rPr lang="en-US" altLang="zh-CN" sz="2400" baseline="-25000" dirty="0"/>
                <a:t>   </a:t>
              </a:r>
              <a:r>
                <a:rPr lang="en-US" altLang="zh-CN" sz="2400" dirty="0"/>
                <a:t>100</a:t>
              </a:r>
              <a:r>
                <a:rPr lang="en-US" altLang="zh-CN" sz="2400" baseline="30000" dirty="0"/>
                <a:t>o</a:t>
              </a:r>
              <a:r>
                <a:rPr lang="en-US" altLang="zh-CN" sz="2400" dirty="0"/>
                <a:t>C</a:t>
              </a:r>
            </a:p>
            <a:p>
              <a:endParaRPr lang="en-US" sz="2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F76C4-825E-4B81-979E-341DCD7F0325}"/>
              </a:ext>
            </a:extLst>
          </p:cNvPr>
          <p:cNvGrpSpPr/>
          <p:nvPr/>
        </p:nvGrpSpPr>
        <p:grpSpPr>
          <a:xfrm>
            <a:off x="4608303" y="3109906"/>
            <a:ext cx="2324576" cy="1371608"/>
            <a:chOff x="4608303" y="3109906"/>
            <a:chExt cx="2324576" cy="137160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49F8BB-38DF-48FE-843C-63E87BD53218}"/>
                </a:ext>
              </a:extLst>
            </p:cNvPr>
            <p:cNvGrpSpPr/>
            <p:nvPr/>
          </p:nvGrpSpPr>
          <p:grpSpPr>
            <a:xfrm>
              <a:off x="4608303" y="3109906"/>
              <a:ext cx="2324576" cy="1371608"/>
              <a:chOff x="4572000" y="1447800"/>
              <a:chExt cx="3677493" cy="2462213"/>
            </a:xfrm>
          </p:grpSpPr>
          <p:pic>
            <p:nvPicPr>
              <p:cNvPr id="13" name="Picture 12" descr="pg97.PNG">
                <a:extLst>
                  <a:ext uri="{FF2B5EF4-FFF2-40B4-BE49-F238E27FC236}">
                    <a16:creationId xmlns:a16="http://schemas.microsoft.com/office/drawing/2014/main" id="{FD53F130-D6CC-49ED-8EDE-7F4B1493D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45933"/>
              <a:stretch>
                <a:fillRect/>
              </a:stretch>
            </p:blipFill>
            <p:spPr>
              <a:xfrm>
                <a:off x="4572000" y="1447800"/>
                <a:ext cx="3677493" cy="2462213"/>
              </a:xfrm>
              <a:prstGeom prst="rect">
                <a:avLst/>
              </a:prstGeom>
            </p:spPr>
          </p:pic>
          <p:sp>
            <p:nvSpPr>
              <p:cNvPr id="14" name="Rounded Rectangle 8">
                <a:extLst>
                  <a:ext uri="{FF2B5EF4-FFF2-40B4-BE49-F238E27FC236}">
                    <a16:creationId xmlns:a16="http://schemas.microsoft.com/office/drawing/2014/main" id="{98BFDAF3-1220-4ED6-9372-08645DBF873D}"/>
                  </a:ext>
                </a:extLst>
              </p:cNvPr>
              <p:cNvSpPr/>
              <p:nvPr/>
            </p:nvSpPr>
            <p:spPr>
              <a:xfrm>
                <a:off x="4572000" y="2514600"/>
                <a:ext cx="457200" cy="3048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9" name="Picture 18" descr="pg98.jpg">
              <a:extLst>
                <a:ext uri="{FF2B5EF4-FFF2-40B4-BE49-F238E27FC236}">
                  <a16:creationId xmlns:a16="http://schemas.microsoft.com/office/drawing/2014/main" id="{EC254D39-0645-477B-8EC6-B7727AFC87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4181" r="75676" b="64913"/>
            <a:stretch/>
          </p:blipFill>
          <p:spPr>
            <a:xfrm>
              <a:off x="4891200" y="3124201"/>
              <a:ext cx="900000" cy="319784"/>
            </a:xfrm>
            <a:prstGeom prst="rect">
              <a:avLst/>
            </a:prstGeom>
          </p:spPr>
        </p:pic>
      </p:grpSp>
      <p:pic>
        <p:nvPicPr>
          <p:cNvPr id="20" name="Picture 19" descr="pg98.jpg">
            <a:extLst>
              <a:ext uri="{FF2B5EF4-FFF2-40B4-BE49-F238E27FC236}">
                <a16:creationId xmlns:a16="http://schemas.microsoft.com/office/drawing/2014/main" id="{3F216911-0055-4F7D-B7F2-EC7BB8448D4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4181" r="75676"/>
          <a:stretch/>
        </p:blipFill>
        <p:spPr>
          <a:xfrm>
            <a:off x="685800" y="5343019"/>
            <a:ext cx="903529" cy="13178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F0883E6-8A35-41D5-8040-0D79A0F3843B}"/>
              </a:ext>
            </a:extLst>
          </p:cNvPr>
          <p:cNvSpPr/>
          <p:nvPr/>
        </p:nvSpPr>
        <p:spPr>
          <a:xfrm>
            <a:off x="1589329" y="5756026"/>
            <a:ext cx="10567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+ 3 H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E64B43-5F83-49B0-BC48-2AC0C8E54663}"/>
              </a:ext>
            </a:extLst>
          </p:cNvPr>
          <p:cNvGrpSpPr/>
          <p:nvPr/>
        </p:nvGrpSpPr>
        <p:grpSpPr>
          <a:xfrm>
            <a:off x="2727960" y="5505271"/>
            <a:ext cx="1615440" cy="1200329"/>
            <a:chOff x="2651760" y="5659562"/>
            <a:chExt cx="1615440" cy="577736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3E8F6B-CAD2-467D-BBCA-D1AF3D9FC41F}"/>
                </a:ext>
              </a:extLst>
            </p:cNvPr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97D03F-6E16-4448-8424-6BC2D23D2C77}"/>
                </a:ext>
              </a:extLst>
            </p:cNvPr>
            <p:cNvSpPr txBox="1"/>
            <p:nvPr/>
          </p:nvSpPr>
          <p:spPr>
            <a:xfrm>
              <a:off x="2675097" y="5659562"/>
              <a:ext cx="1592103" cy="57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    </a:t>
              </a:r>
              <a:r>
                <a:rPr lang="en-US" altLang="zh-CN" sz="2400" dirty="0"/>
                <a:t>Ni</a:t>
              </a:r>
              <a:r>
                <a:rPr lang="en-US" altLang="zh-CN" sz="2400" baseline="-25000" dirty="0"/>
                <a:t>    </a:t>
              </a:r>
            </a:p>
            <a:p>
              <a:r>
                <a:rPr lang="en-US" altLang="zh-CN" sz="2400" baseline="-25000" dirty="0"/>
                <a:t>   </a:t>
              </a:r>
              <a:r>
                <a:rPr lang="zh-CN" altLang="en-US" sz="2400" dirty="0"/>
                <a:t>加热</a:t>
              </a:r>
              <a:endParaRPr lang="en-US" altLang="zh-CN" sz="2400" dirty="0"/>
            </a:p>
            <a:p>
              <a:endParaRPr lang="en-US" sz="240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E421AA9-90F3-411C-A89D-458FF23999B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2" r="19256" b="26394"/>
          <a:stretch/>
        </p:blipFill>
        <p:spPr>
          <a:xfrm>
            <a:off x="4354050" y="5214933"/>
            <a:ext cx="936414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5" grpId="0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2. A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B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C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作答题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1073E-0E4C-42F6-8E60-64D3B94F3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63" y="914400"/>
            <a:ext cx="2847767" cy="18288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DF3970-100F-4E7A-8C09-0D9E7B4793CD}"/>
              </a:ext>
            </a:extLst>
          </p:cNvPr>
          <p:cNvGrpSpPr/>
          <p:nvPr/>
        </p:nvGrpSpPr>
        <p:grpSpPr>
          <a:xfrm>
            <a:off x="1398563" y="2726485"/>
            <a:ext cx="2847767" cy="1828800"/>
            <a:chOff x="1398563" y="2726485"/>
            <a:chExt cx="2847767" cy="18288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4E84B2-B177-436C-BDAF-A00BD86AF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8563" y="2726485"/>
              <a:ext cx="2847767" cy="1828800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05F74D5-DA61-441C-8CC3-E72152CF131B}"/>
                </a:ext>
              </a:extLst>
            </p:cNvPr>
            <p:cNvSpPr/>
            <p:nvPr/>
          </p:nvSpPr>
          <p:spPr>
            <a:xfrm rot="3203991">
              <a:off x="3455210" y="3390900"/>
              <a:ext cx="612000" cy="76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EC74D-8F08-4644-A8D2-851843294A98}"/>
              </a:ext>
            </a:extLst>
          </p:cNvPr>
          <p:cNvGrpSpPr/>
          <p:nvPr/>
        </p:nvGrpSpPr>
        <p:grpSpPr>
          <a:xfrm>
            <a:off x="1371600" y="4495800"/>
            <a:ext cx="2847767" cy="1828800"/>
            <a:chOff x="1398563" y="4543754"/>
            <a:chExt cx="2847767" cy="1828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7299FA-66A0-455C-9144-04099C10E60F}"/>
                </a:ext>
              </a:extLst>
            </p:cNvPr>
            <p:cNvGrpSpPr/>
            <p:nvPr/>
          </p:nvGrpSpPr>
          <p:grpSpPr>
            <a:xfrm>
              <a:off x="1398563" y="4543754"/>
              <a:ext cx="2847767" cy="1828800"/>
              <a:chOff x="1398563" y="2726485"/>
              <a:chExt cx="2847767" cy="182880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3410548-25AF-47D3-AE11-ED884CB76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98563" y="2726485"/>
                <a:ext cx="2847767" cy="1828800"/>
              </a:xfrm>
              <a:prstGeom prst="rect">
                <a:avLst/>
              </a:prstGeom>
            </p:spPr>
          </p:pic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54F45EF-2E06-41D0-9E11-AE90241BB8B6}"/>
                  </a:ext>
                </a:extLst>
              </p:cNvPr>
              <p:cNvSpPr/>
              <p:nvPr/>
            </p:nvSpPr>
            <p:spPr>
              <a:xfrm rot="3203991">
                <a:off x="3455210" y="3390900"/>
                <a:ext cx="612000" cy="762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293609-D026-4EBE-B6E6-BA6D6120C174}"/>
                </a:ext>
              </a:extLst>
            </p:cNvPr>
            <p:cNvSpPr/>
            <p:nvPr/>
          </p:nvSpPr>
          <p:spPr>
            <a:xfrm rot="5620290">
              <a:off x="2418617" y="5425820"/>
              <a:ext cx="612000" cy="76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A19D805-DA5A-4A6A-8EF6-2EC2647AA828}"/>
                </a:ext>
              </a:extLst>
            </p:cNvPr>
            <p:cNvSpPr/>
            <p:nvPr/>
          </p:nvSpPr>
          <p:spPr>
            <a:xfrm rot="19658695">
              <a:off x="1629187" y="4958446"/>
              <a:ext cx="612000" cy="76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5167A14-CB22-4DCE-BFAF-2B9FB6939F33}"/>
                </a:ext>
              </a:extLst>
            </p:cNvPr>
            <p:cNvSpPr/>
            <p:nvPr/>
          </p:nvSpPr>
          <p:spPr>
            <a:xfrm rot="1657878">
              <a:off x="1639075" y="5882228"/>
              <a:ext cx="612000" cy="76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3951468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3.</a:t>
            </a:r>
            <a:r>
              <a:rPr lang="zh-CN" altLang="en-US" sz="3000" dirty="0"/>
              <a:t>甲烷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+ 2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514350" indent="-514350">
              <a:buNone/>
            </a:pPr>
            <a:r>
              <a:rPr lang="zh-CN" altLang="en-US" sz="3000" dirty="0"/>
              <a:t>乙炔 </a:t>
            </a:r>
            <a:r>
              <a:rPr lang="en-US" altLang="zh-CN" sz="3000" dirty="0"/>
              <a:t>2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+ 5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4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苯</a:t>
            </a:r>
            <a:r>
              <a:rPr lang="en-US" altLang="zh-CN" sz="3000" dirty="0"/>
              <a:t> 2 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+ 15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12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6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514350" indent="-514350">
              <a:buNone/>
            </a:pPr>
            <a:r>
              <a:rPr lang="zh-CN" altLang="en-US" sz="3000" dirty="0"/>
              <a:t>环己烷  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12</a:t>
            </a:r>
            <a:r>
              <a:rPr lang="en-US" altLang="zh-CN" sz="3000" dirty="0"/>
              <a:t> + 9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6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6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甲苯 </a:t>
            </a:r>
            <a:r>
              <a:rPr lang="zh-CN" altLang="en-US" sz="3000" dirty="0"/>
              <a:t> 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7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8</a:t>
            </a:r>
            <a:r>
              <a:rPr lang="en-US" altLang="zh-CN" sz="3000" dirty="0"/>
              <a:t> + 9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7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4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(1) </a:t>
            </a:r>
            <a:r>
              <a:rPr lang="zh-CN" altLang="en-US" sz="3000" dirty="0">
                <a:sym typeface="Wingdings" pitchFamily="2" charset="2"/>
              </a:rPr>
              <a:t>环已烷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(2) </a:t>
            </a:r>
            <a:r>
              <a:rPr lang="zh-CN" altLang="en-US" sz="3000" dirty="0">
                <a:sym typeface="Wingdings" pitchFamily="2" charset="2"/>
              </a:rPr>
              <a:t>苯、乙炔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(3) </a:t>
            </a:r>
            <a:r>
              <a:rPr lang="zh-CN" altLang="en-US" sz="3000" dirty="0">
                <a:sym typeface="Wingdings" pitchFamily="2" charset="2"/>
              </a:rPr>
              <a:t>甲烷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(4) </a:t>
            </a:r>
            <a:r>
              <a:rPr lang="zh-CN" altLang="en-US" sz="3000" dirty="0">
                <a:sym typeface="Wingdings" pitchFamily="2" charset="2"/>
              </a:rPr>
              <a:t>甲苯</a:t>
            </a: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作答题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9940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4. </a:t>
            </a:r>
            <a:r>
              <a:rPr lang="en-MY" altLang="zh-CN" sz="3000" dirty="0"/>
              <a:t>(1) </a:t>
            </a:r>
            <a:r>
              <a:rPr lang="en-MY" dirty="0"/>
              <a:t>2Fe+3Br</a:t>
            </a:r>
            <a:r>
              <a:rPr lang="en-MY" baseline="-25000" dirty="0"/>
              <a:t>2 </a:t>
            </a:r>
            <a:r>
              <a:rPr lang="en-MY" dirty="0"/>
              <a:t> </a:t>
            </a:r>
            <a:r>
              <a:rPr lang="en-MY" dirty="0">
                <a:sym typeface="Wingdings" panose="05000000000000000000" pitchFamily="2" charset="2"/>
              </a:rPr>
              <a:t> </a:t>
            </a:r>
            <a:r>
              <a:rPr lang="en-MY" dirty="0"/>
              <a:t>2FeBr</a:t>
            </a:r>
            <a:r>
              <a:rPr lang="en-MY" baseline="-25000" dirty="0"/>
              <a:t>3</a:t>
            </a:r>
          </a:p>
          <a:p>
            <a:pPr marL="514350" indent="-514350">
              <a:buNone/>
            </a:pPr>
            <a:endParaRPr lang="en-MY" altLang="zh-CN" sz="3000" dirty="0"/>
          </a:p>
          <a:p>
            <a:pPr marL="514350" indent="-514350">
              <a:buNone/>
            </a:pP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(2)</a:t>
            </a:r>
            <a:r>
              <a:rPr lang="zh-CN" altLang="en-US" sz="3000" dirty="0"/>
              <a:t>长导管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起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导气兼冷凝回流</a:t>
            </a:r>
            <a:r>
              <a:rPr lang="zh-CN" altLang="en-US" sz="3000" dirty="0"/>
              <a:t>作用，以防止溴和苯的蒸气挥发出来，减少苯和溴的消耗以及它们对环境的污染，</a:t>
            </a:r>
            <a:r>
              <a:rPr lang="zh-CN" altLang="en-US" dirty="0"/>
              <a:t> </a:t>
            </a:r>
            <a:r>
              <a:rPr lang="zh-CN" altLang="en-US" sz="3000" dirty="0"/>
              <a:t>防止对产物的干扰。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(3)	</a:t>
            </a:r>
            <a:r>
              <a:rPr lang="zh-CN" altLang="en-US" sz="3000" dirty="0"/>
              <a:t>溶解了少量的溴的溴苯。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可用水或</a:t>
            </a:r>
            <a:r>
              <a:rPr lang="en-US" altLang="zh-CN" sz="3000" dirty="0"/>
              <a:t>10%NaOH</a:t>
            </a:r>
            <a:r>
              <a:rPr lang="zh-CN" altLang="en-US" sz="3000" dirty="0"/>
              <a:t>溶液进行洗涤。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分液漏斗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(4)</a:t>
            </a:r>
            <a:r>
              <a:rPr lang="zh-CN" altLang="en-US" sz="3000" dirty="0"/>
              <a:t>该红棕色气体是溴蒸汽，溴蒸汽与水反应会生成</a:t>
            </a:r>
            <a:r>
              <a:rPr lang="en-US" altLang="zh-CN" sz="3000" dirty="0"/>
              <a:t>Br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</a:t>
            </a:r>
            <a:r>
              <a:rPr lang="zh-CN" altLang="en-US" sz="3000" dirty="0"/>
              <a:t>，影响验证锥形瓶中的产物是否含有</a:t>
            </a:r>
            <a:r>
              <a:rPr lang="en-US" altLang="zh-CN" sz="3000" dirty="0"/>
              <a:t>Br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514350" indent="-514350">
              <a:buNone/>
            </a:pPr>
            <a:endParaRPr lang="en-US" altLang="zh-CN" sz="3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作答题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g94.`.png">
            <a:extLst>
              <a:ext uri="{FF2B5EF4-FFF2-40B4-BE49-F238E27FC236}">
                <a16:creationId xmlns:a16="http://schemas.microsoft.com/office/drawing/2014/main" id="{C16E12E4-8FAD-4DBB-9AA4-670DD6613A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08760" y="1295400"/>
            <a:ext cx="762000" cy="11079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C41AAA-4379-4F84-8682-322BC558D24C}"/>
              </a:ext>
            </a:extLst>
          </p:cNvPr>
          <p:cNvSpPr/>
          <p:nvPr/>
        </p:nvSpPr>
        <p:spPr>
          <a:xfrm>
            <a:off x="2174433" y="1696686"/>
            <a:ext cx="1026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+ Br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51D309-6101-40F5-868C-00AE0E7BD156}"/>
              </a:ext>
            </a:extLst>
          </p:cNvPr>
          <p:cNvGrpSpPr/>
          <p:nvPr/>
        </p:nvGrpSpPr>
        <p:grpSpPr>
          <a:xfrm>
            <a:off x="3124200" y="1524000"/>
            <a:ext cx="1371600" cy="461665"/>
            <a:chOff x="2651760" y="5659562"/>
            <a:chExt cx="1371600" cy="222206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2A51115-35D2-43B2-B2A2-DE2818FD053A}"/>
                </a:ext>
              </a:extLst>
            </p:cNvPr>
            <p:cNvCxnSpPr/>
            <p:nvPr/>
          </p:nvCxnSpPr>
          <p:spPr>
            <a:xfrm>
              <a:off x="2651760" y="5878700"/>
              <a:ext cx="1371600" cy="3060"/>
            </a:xfrm>
            <a:prstGeom prst="straightConnector1">
              <a:avLst/>
            </a:prstGeom>
            <a:ln w="38100"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8BBBDC-BB99-4958-BD17-59D35BE877CB}"/>
                </a:ext>
              </a:extLst>
            </p:cNvPr>
            <p:cNvSpPr txBox="1"/>
            <p:nvPr/>
          </p:nvSpPr>
          <p:spPr>
            <a:xfrm>
              <a:off x="2903697" y="5659562"/>
              <a:ext cx="906303" cy="222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altLang="zh-CN" sz="2400" dirty="0"/>
                <a:t>FeBr</a:t>
              </a:r>
              <a:r>
                <a:rPr lang="en-US" altLang="zh-CN" sz="2400" baseline="-25000" dirty="0"/>
                <a:t>3</a:t>
              </a:r>
              <a:endParaRPr lang="en-US" sz="24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45AE8F0-8BF9-416A-BDA2-87ACBAB87D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0" t="17708" r="30771" b="21259"/>
          <a:stretch/>
        </p:blipFill>
        <p:spPr>
          <a:xfrm>
            <a:off x="4828737" y="1143000"/>
            <a:ext cx="906303" cy="130802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67E76B-76EF-48E3-8B98-33392F47FC79}"/>
              </a:ext>
            </a:extLst>
          </p:cNvPr>
          <p:cNvSpPr/>
          <p:nvPr/>
        </p:nvSpPr>
        <p:spPr>
          <a:xfrm>
            <a:off x="5823955" y="1762780"/>
            <a:ext cx="1026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+ HBr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61341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4. (5)</a:t>
            </a:r>
            <a:r>
              <a:rPr lang="zh-CN" altLang="en-US" sz="3000" dirty="0"/>
              <a:t> 支管是短进短出</a:t>
            </a:r>
            <a:r>
              <a:rPr lang="en-US" altLang="zh-CN" sz="3000" dirty="0"/>
              <a:t>a</a:t>
            </a:r>
            <a:r>
              <a:rPr lang="zh-CN" altLang="en-US" sz="3000" dirty="0"/>
              <a:t>的作用是</a:t>
            </a:r>
            <a:r>
              <a:rPr lang="zh-CN" altLang="en-US" sz="3000" u="sng" dirty="0"/>
              <a:t>防止倒吸安全装置；</a:t>
            </a:r>
            <a:endParaRPr lang="en-MY" altLang="zh-CN" sz="3000" u="sng" dirty="0"/>
          </a:p>
          <a:p>
            <a:pPr marL="514350" indent="-514350">
              <a:buNone/>
            </a:pPr>
            <a:r>
              <a:rPr lang="en-US" altLang="zh-CN" sz="3000" dirty="0"/>
              <a:t>		b</a:t>
            </a:r>
            <a:r>
              <a:rPr lang="zh-CN" altLang="en-US" sz="3000" dirty="0"/>
              <a:t>中要除去</a:t>
            </a:r>
            <a:r>
              <a:rPr lang="en-US" altLang="zh-CN" sz="3000" dirty="0"/>
              <a:t>Br</a:t>
            </a:r>
            <a:r>
              <a:rPr lang="en-US" altLang="zh-CN" sz="3000" baseline="-25000" dirty="0"/>
              <a:t>2</a:t>
            </a:r>
            <a:r>
              <a:rPr lang="zh-CN" altLang="en-US" sz="3000" dirty="0"/>
              <a:t>，试剂为</a:t>
            </a:r>
            <a:r>
              <a:rPr lang="zh-CN" altLang="en-US" sz="3000" u="sng" dirty="0"/>
              <a:t>苯或四氯化碳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c</a:t>
            </a:r>
            <a:r>
              <a:rPr lang="zh-CN" altLang="en-US" sz="3000" dirty="0"/>
              <a:t>为硝酸银溶液</a:t>
            </a:r>
            <a:endParaRPr lang="en-MY" altLang="zh-CN" sz="3000" dirty="0"/>
          </a:p>
          <a:p>
            <a:pPr marL="514350" indent="-514350">
              <a:buNone/>
            </a:pPr>
            <a:endParaRPr lang="en-MY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优点：装置</a:t>
            </a:r>
            <a:r>
              <a:rPr lang="en-US" altLang="zh-CN" sz="3000" dirty="0"/>
              <a:t>II</a:t>
            </a:r>
            <a:r>
              <a:rPr lang="zh-CN" altLang="en-US" sz="3000" dirty="0"/>
              <a:t>有防止倒吸安全装置。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	   </a:t>
            </a:r>
            <a:r>
              <a:rPr lang="zh-CN" altLang="en-US" sz="3000" dirty="0"/>
              <a:t>装置</a:t>
            </a:r>
            <a:r>
              <a:rPr lang="en-US" altLang="zh-CN" sz="3000" dirty="0"/>
              <a:t>II</a:t>
            </a:r>
            <a:r>
              <a:rPr lang="zh-CN" altLang="en-US" sz="3000" dirty="0"/>
              <a:t>有去除</a:t>
            </a:r>
            <a:r>
              <a:rPr lang="en-US" altLang="zh-CN" sz="3000" dirty="0"/>
              <a:t>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装置。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6715"/>
            <a:ext cx="9144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latin typeface="+mn-ea"/>
                <a:ea typeface="+mj-ea"/>
                <a:cs typeface="+mj-cs"/>
              </a:rPr>
              <a:t>作答题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92560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6143931</TotalTime>
  <Words>3523</Words>
  <Application>Microsoft Office PowerPoint</Application>
  <PresentationFormat>On-screen Show (4:3)</PresentationFormat>
  <Paragraphs>391</Paragraphs>
  <Slides>54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 Math</vt:lpstr>
      <vt:lpstr>Wingdings</vt:lpstr>
      <vt:lpstr>Office Theme</vt:lpstr>
      <vt:lpstr>Equation</vt:lpstr>
      <vt:lpstr>第30章  芳香烃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白波 白波</cp:lastModifiedBy>
  <cp:revision>567</cp:revision>
  <dcterms:created xsi:type="dcterms:W3CDTF">2018-09-03T09:52:37Z</dcterms:created>
  <dcterms:modified xsi:type="dcterms:W3CDTF">2025-06-09T03:41:09Z</dcterms:modified>
</cp:coreProperties>
</file>