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67"/>
  </p:notesMasterIdLst>
  <p:sldIdLst>
    <p:sldId id="258" r:id="rId2"/>
    <p:sldId id="260" r:id="rId3"/>
    <p:sldId id="259" r:id="rId4"/>
    <p:sldId id="261" r:id="rId5"/>
    <p:sldId id="359" r:id="rId6"/>
    <p:sldId id="360" r:id="rId7"/>
    <p:sldId id="361" r:id="rId8"/>
    <p:sldId id="262" r:id="rId9"/>
    <p:sldId id="263" r:id="rId10"/>
    <p:sldId id="264" r:id="rId11"/>
    <p:sldId id="266" r:id="rId12"/>
    <p:sldId id="267" r:id="rId13"/>
    <p:sldId id="362" r:id="rId14"/>
    <p:sldId id="321" r:id="rId15"/>
    <p:sldId id="291" r:id="rId16"/>
    <p:sldId id="265" r:id="rId17"/>
    <p:sldId id="268" r:id="rId18"/>
    <p:sldId id="269" r:id="rId19"/>
    <p:sldId id="363" r:id="rId20"/>
    <p:sldId id="364" r:id="rId21"/>
    <p:sldId id="365" r:id="rId22"/>
    <p:sldId id="366" r:id="rId23"/>
    <p:sldId id="272" r:id="rId24"/>
    <p:sldId id="274" r:id="rId25"/>
    <p:sldId id="270" r:id="rId26"/>
    <p:sldId id="367" r:id="rId27"/>
    <p:sldId id="368" r:id="rId28"/>
    <p:sldId id="292" r:id="rId29"/>
    <p:sldId id="271" r:id="rId30"/>
    <p:sldId id="275" r:id="rId31"/>
    <p:sldId id="277" r:id="rId32"/>
    <p:sldId id="278" r:id="rId33"/>
    <p:sldId id="279" r:id="rId34"/>
    <p:sldId id="281" r:id="rId35"/>
    <p:sldId id="282" r:id="rId36"/>
    <p:sldId id="276" r:id="rId37"/>
    <p:sldId id="285" r:id="rId38"/>
    <p:sldId id="284" r:id="rId39"/>
    <p:sldId id="286" r:id="rId40"/>
    <p:sldId id="369" r:id="rId41"/>
    <p:sldId id="280" r:id="rId42"/>
    <p:sldId id="370" r:id="rId43"/>
    <p:sldId id="371" r:id="rId44"/>
    <p:sldId id="287" r:id="rId45"/>
    <p:sldId id="288" r:id="rId46"/>
    <p:sldId id="289" r:id="rId47"/>
    <p:sldId id="294" r:id="rId48"/>
    <p:sldId id="372" r:id="rId49"/>
    <p:sldId id="293" r:id="rId50"/>
    <p:sldId id="373" r:id="rId51"/>
    <p:sldId id="374" r:id="rId52"/>
    <p:sldId id="295" r:id="rId53"/>
    <p:sldId id="290" r:id="rId54"/>
    <p:sldId id="375" r:id="rId55"/>
    <p:sldId id="355" r:id="rId56"/>
    <p:sldId id="356" r:id="rId57"/>
    <p:sldId id="357" r:id="rId58"/>
    <p:sldId id="358" r:id="rId59"/>
    <p:sldId id="337" r:id="rId60"/>
    <p:sldId id="338" r:id="rId61"/>
    <p:sldId id="339" r:id="rId62"/>
    <p:sldId id="346" r:id="rId63"/>
    <p:sldId id="376" r:id="rId64"/>
    <p:sldId id="377" r:id="rId65"/>
    <p:sldId id="344" r:id="rId6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32" autoAdjust="0"/>
    <p:restoredTop sz="94660"/>
  </p:normalViewPr>
  <p:slideViewPr>
    <p:cSldViewPr>
      <p:cViewPr varScale="1">
        <p:scale>
          <a:sx n="68" d="100"/>
          <a:sy n="68" d="100"/>
        </p:scale>
        <p:origin x="135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0008A1-DEA0-495B-A669-C41BBEA99C43}" type="datetimeFigureOut">
              <a:rPr lang="en-US" smtClean="0"/>
              <a:pPr/>
              <a:t>5/1/2020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71B9D7-B003-42ED-AB71-0E33BD694F6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5/1/2020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5/1/2020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5/1/2020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5/1/2020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5/1/2020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5/1/2020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5/1/2020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5/1/2020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5/1/2020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5/1/2020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5/1/2020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6D6688-5DD1-44BC-B31A-EC1609157C8F}" type="datetimeFigureOut">
              <a:rPr lang="en-US" smtClean="0"/>
              <a:pPr/>
              <a:t>5/1/2020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r>
              <a:rPr lang="zh-CN" altLang="en-US" sz="88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第</a:t>
            </a:r>
            <a:r>
              <a:rPr lang="en-US" altLang="zh-CN" sz="88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27</a:t>
            </a:r>
            <a:r>
              <a:rPr lang="zh-CN" altLang="en-US" sz="88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章 </a:t>
            </a:r>
            <a:br>
              <a:rPr lang="en-US" altLang="zh-CN" sz="88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</a:br>
            <a:r>
              <a:rPr lang="zh-CN" altLang="en-US" sz="88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烷烃</a:t>
            </a:r>
            <a:endParaRPr lang="en-US" sz="88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>
                <a:latin typeface="+mn-ea"/>
              </a:rPr>
              <a:t>第</a:t>
            </a:r>
            <a:r>
              <a:rPr lang="en-US" altLang="zh-CN" sz="4800" b="1" dirty="0">
                <a:latin typeface="+mn-ea"/>
              </a:rPr>
              <a:t>27</a:t>
            </a:r>
            <a:r>
              <a:rPr lang="zh-CN" altLang="en-US" sz="4800" b="1" dirty="0">
                <a:latin typeface="+mn-ea"/>
              </a:rPr>
              <a:t>章 烃 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烃：碳氢化合物的简称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烃的衍生物：烃以外的有机物</a:t>
            </a:r>
            <a:endParaRPr lang="en-US" altLang="zh-CN" sz="3000" dirty="0"/>
          </a:p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			</a:t>
            </a:r>
            <a:r>
              <a:rPr lang="zh-CN" altLang="en-US" sz="3000" dirty="0"/>
              <a:t>如：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Cl </a:t>
            </a:r>
            <a:r>
              <a:rPr lang="zh-CN" altLang="en-US" sz="3000" dirty="0"/>
              <a:t>、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OH</a:t>
            </a:r>
            <a:r>
              <a:rPr lang="zh-CN" altLang="en-US" sz="3000" dirty="0"/>
              <a:t>等</a:t>
            </a:r>
            <a:endParaRPr lang="en-US" altLang="zh-CN" sz="3000" dirty="0"/>
          </a:p>
        </p:txBody>
      </p:sp>
      <p:pic>
        <p:nvPicPr>
          <p:cNvPr id="6" name="Picture 5" descr="t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0600"/>
            <a:ext cx="7543800" cy="5867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57552" y="1066800"/>
            <a:ext cx="2310248" cy="55399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000" dirty="0"/>
              <a:t>C</a:t>
            </a:r>
            <a:r>
              <a:rPr lang="en-US" altLang="zh-CN" sz="3000" baseline="-25000" dirty="0"/>
              <a:t>n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2n+2</a:t>
            </a:r>
            <a:r>
              <a:rPr lang="en-US" altLang="zh-CN" sz="3000" dirty="0"/>
              <a:t>    n≥1</a:t>
            </a:r>
            <a:endParaRPr lang="en-US" sz="3000" dirty="0"/>
          </a:p>
        </p:txBody>
      </p:sp>
      <p:sp>
        <p:nvSpPr>
          <p:cNvPr id="8" name="TextBox 7"/>
          <p:cNvSpPr txBox="1"/>
          <p:nvPr/>
        </p:nvSpPr>
        <p:spPr>
          <a:xfrm>
            <a:off x="6757552" y="1655802"/>
            <a:ext cx="1965603" cy="55399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000" dirty="0"/>
              <a:t>C</a:t>
            </a:r>
            <a:r>
              <a:rPr lang="en-US" altLang="zh-CN" sz="3000" baseline="-25000" dirty="0"/>
              <a:t>n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2n</a:t>
            </a:r>
            <a:r>
              <a:rPr lang="en-US" altLang="zh-CN" sz="3000" dirty="0"/>
              <a:t>    n≥2</a:t>
            </a:r>
            <a:endParaRPr lang="en-US" sz="3000" dirty="0"/>
          </a:p>
        </p:txBody>
      </p:sp>
      <p:sp>
        <p:nvSpPr>
          <p:cNvPr id="9" name="TextBox 8"/>
          <p:cNvSpPr txBox="1"/>
          <p:nvPr/>
        </p:nvSpPr>
        <p:spPr>
          <a:xfrm>
            <a:off x="6705600" y="2265402"/>
            <a:ext cx="2173993" cy="55399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000" dirty="0"/>
              <a:t>C</a:t>
            </a:r>
            <a:r>
              <a:rPr lang="en-US" altLang="zh-CN" sz="3000" baseline="-25000" dirty="0"/>
              <a:t>n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2n-2</a:t>
            </a:r>
            <a:r>
              <a:rPr lang="en-US" altLang="zh-CN" sz="3000" dirty="0"/>
              <a:t>    n≥2</a:t>
            </a:r>
            <a:endParaRPr lang="en-US" sz="3000" dirty="0"/>
          </a:p>
        </p:txBody>
      </p:sp>
      <p:sp>
        <p:nvSpPr>
          <p:cNvPr id="10" name="TextBox 9"/>
          <p:cNvSpPr txBox="1"/>
          <p:nvPr/>
        </p:nvSpPr>
        <p:spPr>
          <a:xfrm>
            <a:off x="6166273" y="2951202"/>
            <a:ext cx="3033203" cy="55399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000" dirty="0"/>
              <a:t>环烷烃 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n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2n</a:t>
            </a:r>
            <a:r>
              <a:rPr lang="en-US" altLang="zh-CN" sz="3000" dirty="0"/>
              <a:t> n≥3</a:t>
            </a:r>
            <a:endParaRPr lang="en-US" sz="3000" dirty="0"/>
          </a:p>
        </p:txBody>
      </p:sp>
      <p:sp>
        <p:nvSpPr>
          <p:cNvPr id="11" name="TextBox 10"/>
          <p:cNvSpPr txBox="1"/>
          <p:nvPr/>
        </p:nvSpPr>
        <p:spPr>
          <a:xfrm>
            <a:off x="5902407" y="3637002"/>
            <a:ext cx="3241593" cy="55399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3000" dirty="0"/>
              <a:t>环烯烃 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n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2n-2</a:t>
            </a:r>
            <a:r>
              <a:rPr lang="en-US" altLang="zh-CN" sz="3000" dirty="0"/>
              <a:t> n≥3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27.1 </a:t>
            </a:r>
            <a:r>
              <a:rPr lang="zh-CN" altLang="en-US" sz="4800" b="1" dirty="0">
                <a:latin typeface="+mn-ea"/>
              </a:rPr>
              <a:t>原油与烃 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3000" dirty="0"/>
              <a:t>烃的自然来源：石油、天然气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天然气主要成分：甲烷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石油：多种烃类混合而成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分馏法：是分离几种不同沸点的混合物的一种方法。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endParaRPr lang="en-US" altLang="zh-CN" sz="3000" dirty="0"/>
          </a:p>
        </p:txBody>
      </p:sp>
      <p:pic>
        <p:nvPicPr>
          <p:cNvPr id="6" name="Picture 5" descr="ccz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403" y="0"/>
            <a:ext cx="5077193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04942" y="152400"/>
            <a:ext cx="2366353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800" dirty="0"/>
              <a:t>石油气</a:t>
            </a:r>
            <a:r>
              <a:rPr lang="en-US" altLang="zh-CN" sz="2800" dirty="0"/>
              <a:t>(C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~ C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)</a:t>
            </a:r>
            <a:endParaRPr 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6305390" y="1076980"/>
            <a:ext cx="2129109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800" dirty="0"/>
              <a:t>汽油</a:t>
            </a:r>
            <a:r>
              <a:rPr lang="en-US" altLang="zh-CN" sz="2800" dirty="0"/>
              <a:t>(C</a:t>
            </a:r>
            <a:r>
              <a:rPr lang="en-US" altLang="zh-CN" sz="2800" baseline="-25000" dirty="0"/>
              <a:t>5</a:t>
            </a:r>
            <a:r>
              <a:rPr lang="en-US" altLang="zh-CN" sz="2800" dirty="0"/>
              <a:t>~ C</a:t>
            </a:r>
            <a:r>
              <a:rPr lang="en-US" altLang="zh-CN" sz="2800" baseline="-25000" dirty="0"/>
              <a:t>12</a:t>
            </a:r>
            <a:r>
              <a:rPr lang="en-US" altLang="zh-CN" sz="2800" dirty="0"/>
              <a:t>)</a:t>
            </a:r>
            <a:endParaRPr lang="en-US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6381590" y="2743200"/>
            <a:ext cx="2250937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800" dirty="0"/>
              <a:t>煤油</a:t>
            </a:r>
            <a:r>
              <a:rPr lang="en-US" altLang="zh-CN" sz="2800" dirty="0"/>
              <a:t>(C</a:t>
            </a:r>
            <a:r>
              <a:rPr lang="en-US" altLang="zh-CN" sz="2800" baseline="-25000" dirty="0"/>
              <a:t>12</a:t>
            </a:r>
            <a:r>
              <a:rPr lang="en-US" altLang="zh-CN" sz="2800" dirty="0"/>
              <a:t>~ C</a:t>
            </a:r>
            <a:r>
              <a:rPr lang="en-US" altLang="zh-CN" sz="2800" baseline="-25000" dirty="0"/>
              <a:t>16</a:t>
            </a:r>
            <a:r>
              <a:rPr lang="en-US" altLang="zh-CN" sz="2800" dirty="0"/>
              <a:t>)</a:t>
            </a:r>
            <a:endParaRPr lang="en-US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6381590" y="3591580"/>
            <a:ext cx="2250937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800" dirty="0"/>
              <a:t>柴油</a:t>
            </a:r>
            <a:r>
              <a:rPr lang="en-US" altLang="zh-CN" sz="2800" dirty="0"/>
              <a:t>(C</a:t>
            </a:r>
            <a:r>
              <a:rPr lang="en-US" altLang="zh-CN" sz="2800" baseline="-25000" dirty="0"/>
              <a:t>15</a:t>
            </a:r>
            <a:r>
              <a:rPr lang="en-US" altLang="zh-CN" sz="2800" dirty="0"/>
              <a:t>~ C</a:t>
            </a:r>
            <a:r>
              <a:rPr lang="en-US" altLang="zh-CN" sz="2800" baseline="-25000" dirty="0"/>
              <a:t>18</a:t>
            </a:r>
            <a:r>
              <a:rPr lang="en-US" altLang="zh-CN" sz="2800" dirty="0"/>
              <a:t>)</a:t>
            </a:r>
            <a:endParaRPr lang="en-US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6229190" y="4343400"/>
            <a:ext cx="261001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800" dirty="0"/>
              <a:t>润滑油</a:t>
            </a:r>
            <a:r>
              <a:rPr lang="en-US" altLang="zh-CN" sz="2800" dirty="0"/>
              <a:t>(C</a:t>
            </a:r>
            <a:r>
              <a:rPr lang="en-US" altLang="zh-CN" sz="2800" baseline="-25000" dirty="0"/>
              <a:t>16</a:t>
            </a:r>
            <a:r>
              <a:rPr lang="en-US" altLang="zh-CN" sz="2800" dirty="0"/>
              <a:t>~ C</a:t>
            </a:r>
            <a:r>
              <a:rPr lang="en-US" altLang="zh-CN" sz="2800" baseline="-25000" dirty="0"/>
              <a:t>20</a:t>
            </a:r>
            <a:r>
              <a:rPr lang="en-US" altLang="zh-CN" sz="2800" dirty="0"/>
              <a:t>)</a:t>
            </a:r>
            <a:endParaRPr lang="en-US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5943600" y="5791200"/>
            <a:ext cx="2032929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800" dirty="0"/>
              <a:t>沥青</a:t>
            </a:r>
            <a:r>
              <a:rPr lang="en-US" altLang="zh-CN" sz="2800" dirty="0"/>
              <a:t>(C</a:t>
            </a:r>
            <a:r>
              <a:rPr lang="en-US" altLang="zh-CN" sz="2800" baseline="-25000" dirty="0"/>
              <a:t>20</a:t>
            </a:r>
            <a:r>
              <a:rPr lang="zh-CN" altLang="en-US" sz="2800" baseline="-25000" dirty="0"/>
              <a:t>以上</a:t>
            </a:r>
            <a:r>
              <a:rPr lang="en-US" altLang="zh-CN" sz="2800" dirty="0"/>
              <a:t>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27.1.2 </a:t>
            </a:r>
            <a:r>
              <a:rPr lang="zh-CN" altLang="en-US" sz="4800" b="1" dirty="0">
                <a:latin typeface="+mn-ea"/>
              </a:rPr>
              <a:t>石油的裂化和裂解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裂化：在无氧及一定条件下，把大分子烃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zh-CN" altLang="en-US" sz="3000" dirty="0">
                <a:sym typeface="Wingdings" pitchFamily="2" charset="2"/>
              </a:rPr>
              <a:t>小分子烃。目的：</a:t>
            </a:r>
            <a:r>
              <a:rPr lang="zh-CN" altLang="en-US" sz="3000" b="1" dirty="0">
                <a:solidFill>
                  <a:srgbClr val="7030A0"/>
                </a:solidFill>
                <a:sym typeface="Wingdings" pitchFamily="2" charset="2"/>
              </a:rPr>
              <a:t>提高汽油</a:t>
            </a:r>
            <a:r>
              <a:rPr lang="zh-CN" altLang="en-US" sz="3000" b="1" u="sng" dirty="0">
                <a:solidFill>
                  <a:srgbClr val="7030A0"/>
                </a:solidFill>
                <a:sym typeface="Wingdings" pitchFamily="2" charset="2"/>
              </a:rPr>
              <a:t>产量</a:t>
            </a:r>
            <a:r>
              <a:rPr lang="zh-CN" altLang="en-US" sz="3000" b="1" dirty="0">
                <a:solidFill>
                  <a:srgbClr val="7030A0"/>
                </a:solidFill>
                <a:sym typeface="Wingdings" pitchFamily="2" charset="2"/>
              </a:rPr>
              <a:t>和</a:t>
            </a:r>
            <a:r>
              <a:rPr lang="zh-CN" altLang="en-US" sz="3000" b="1" u="sng" dirty="0">
                <a:solidFill>
                  <a:srgbClr val="7030A0"/>
                </a:solidFill>
                <a:sym typeface="Wingdings" pitchFamily="2" charset="2"/>
              </a:rPr>
              <a:t>品质</a:t>
            </a:r>
            <a:endParaRPr lang="en-US" altLang="zh-CN" sz="3000" b="1" u="sng" dirty="0">
              <a:solidFill>
                <a:srgbClr val="7030A0"/>
              </a:solidFill>
              <a:sym typeface="Wingdings" pitchFamily="2" charset="2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>
                <a:sym typeface="Wingdings" pitchFamily="2" charset="2"/>
              </a:rPr>
              <a:t>热裂化：</a:t>
            </a:r>
            <a:r>
              <a:rPr lang="en-US" altLang="zh-CN" sz="3000" dirty="0">
                <a:sym typeface="Wingdings" pitchFamily="2" charset="2"/>
              </a:rPr>
              <a:t>500</a:t>
            </a:r>
            <a:r>
              <a:rPr lang="en-US" altLang="zh-CN" sz="3000" baseline="30000" dirty="0">
                <a:sym typeface="Wingdings" pitchFamily="2" charset="2"/>
              </a:rPr>
              <a:t>o</a:t>
            </a:r>
            <a:r>
              <a:rPr lang="en-US" altLang="zh-CN" sz="3000" dirty="0">
                <a:sym typeface="Wingdings" pitchFamily="2" charset="2"/>
              </a:rPr>
              <a:t>C ~ 700</a:t>
            </a:r>
            <a:r>
              <a:rPr lang="en-US" altLang="zh-CN" sz="3000" baseline="30000" dirty="0">
                <a:sym typeface="Wingdings" pitchFamily="2" charset="2"/>
              </a:rPr>
              <a:t>o</a:t>
            </a:r>
            <a:r>
              <a:rPr lang="en-US" altLang="zh-CN" sz="3000" dirty="0">
                <a:sym typeface="Wingdings" pitchFamily="2" charset="2"/>
              </a:rPr>
              <a:t>C</a:t>
            </a:r>
            <a:r>
              <a:rPr lang="zh-CN" altLang="en-US" sz="3000" dirty="0">
                <a:sym typeface="Wingdings" pitchFamily="2" charset="2"/>
              </a:rPr>
              <a:t>及高压</a:t>
            </a:r>
            <a:endParaRPr lang="en-US" altLang="zh-CN" sz="3000" dirty="0">
              <a:sym typeface="Wingdings" pitchFamily="2" charset="2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>
                <a:sym typeface="Wingdings" pitchFamily="2" charset="2"/>
              </a:rPr>
              <a:t>催化裂化：</a:t>
            </a:r>
            <a:r>
              <a:rPr lang="en-US" altLang="zh-CN" sz="3000" dirty="0">
                <a:sym typeface="Wingdings" pitchFamily="2" charset="2"/>
              </a:rPr>
              <a:t> 400</a:t>
            </a:r>
            <a:r>
              <a:rPr lang="en-US" altLang="zh-CN" sz="3000" baseline="30000" dirty="0">
                <a:sym typeface="Wingdings" pitchFamily="2" charset="2"/>
              </a:rPr>
              <a:t>o</a:t>
            </a:r>
            <a:r>
              <a:rPr lang="en-US" altLang="zh-CN" sz="3000" dirty="0">
                <a:sym typeface="Wingdings" pitchFamily="2" charset="2"/>
              </a:rPr>
              <a:t>C ~ 500</a:t>
            </a:r>
            <a:r>
              <a:rPr lang="en-US" altLang="zh-CN" sz="3000" baseline="30000" dirty="0">
                <a:sym typeface="Wingdings" pitchFamily="2" charset="2"/>
              </a:rPr>
              <a:t>o</a:t>
            </a:r>
            <a:r>
              <a:rPr lang="en-US" altLang="zh-CN" sz="3000" dirty="0">
                <a:sym typeface="Wingdings" pitchFamily="2" charset="2"/>
              </a:rPr>
              <a:t>C</a:t>
            </a:r>
            <a:r>
              <a:rPr lang="zh-CN" altLang="en-US" sz="3000" dirty="0">
                <a:sym typeface="Wingdings" pitchFamily="2" charset="2"/>
              </a:rPr>
              <a:t>、常压和氧化铝</a:t>
            </a:r>
            <a:r>
              <a:rPr lang="en-US" altLang="zh-CN" sz="3000" dirty="0">
                <a:sym typeface="Wingdings" pitchFamily="2" charset="2"/>
              </a:rPr>
              <a:t>—</a:t>
            </a:r>
            <a:r>
              <a:rPr lang="zh-CN" altLang="en-US" sz="3000" dirty="0">
                <a:sym typeface="Wingdings" pitchFamily="2" charset="2"/>
              </a:rPr>
              <a:t>氧化硅 或沸石</a:t>
            </a:r>
            <a:endParaRPr lang="en-US" altLang="zh-CN" sz="3000" dirty="0">
              <a:sym typeface="Wingdings" pitchFamily="2" charset="2"/>
            </a:endParaRP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裂解：深度裂化，</a:t>
            </a:r>
            <a:r>
              <a:rPr lang="en-US" altLang="zh-CN" sz="3000" dirty="0">
                <a:sym typeface="Wingdings" pitchFamily="2" charset="2"/>
              </a:rPr>
              <a:t>700</a:t>
            </a:r>
            <a:r>
              <a:rPr lang="en-US" altLang="zh-CN" sz="3000" baseline="30000" dirty="0">
                <a:sym typeface="Wingdings" pitchFamily="2" charset="2"/>
              </a:rPr>
              <a:t>o</a:t>
            </a:r>
            <a:r>
              <a:rPr lang="en-US" altLang="zh-CN" sz="3000" dirty="0">
                <a:sym typeface="Wingdings" pitchFamily="2" charset="2"/>
              </a:rPr>
              <a:t>C ~ 800</a:t>
            </a:r>
            <a:r>
              <a:rPr lang="en-US" altLang="zh-CN" sz="3000" baseline="30000" dirty="0">
                <a:sym typeface="Wingdings" pitchFamily="2" charset="2"/>
              </a:rPr>
              <a:t>o</a:t>
            </a:r>
            <a:r>
              <a:rPr lang="en-US" altLang="zh-CN" sz="3000" dirty="0">
                <a:sym typeface="Wingdings" pitchFamily="2" charset="2"/>
              </a:rPr>
              <a:t>C</a:t>
            </a:r>
            <a:r>
              <a:rPr lang="zh-CN" altLang="en-US" sz="3000" dirty="0">
                <a:sym typeface="Wingdings" pitchFamily="2" charset="2"/>
              </a:rPr>
              <a:t>。</a:t>
            </a:r>
            <a:endParaRPr lang="en-US" altLang="zh-CN" sz="3000" dirty="0">
              <a:sym typeface="Wingdings" pitchFamily="2" charset="2"/>
            </a:endParaRPr>
          </a:p>
          <a:p>
            <a:pPr marL="342900" lvl="1" indent="-342900">
              <a:lnSpc>
                <a:spcPct val="150000"/>
              </a:lnSpc>
              <a:buNone/>
            </a:pPr>
            <a:r>
              <a:rPr lang="en-US" altLang="zh-CN" sz="3000" dirty="0">
                <a:sym typeface="Wingdings" pitchFamily="2" charset="2"/>
              </a:rPr>
              <a:t>		       </a:t>
            </a:r>
            <a:r>
              <a:rPr lang="zh-CN" altLang="en-US" sz="3000" dirty="0">
                <a:sym typeface="Wingdings" pitchFamily="2" charset="2"/>
              </a:rPr>
              <a:t>生成不饱和烃等化工原料。</a:t>
            </a:r>
            <a:endParaRPr lang="en-US" altLang="zh-CN" sz="3000" dirty="0">
              <a:sym typeface="Wingdings" pitchFamily="2" charset="2"/>
            </a:endParaRPr>
          </a:p>
          <a:p>
            <a:pPr lvl="1">
              <a:lnSpc>
                <a:spcPct val="150000"/>
              </a:lnSpc>
              <a:buNone/>
            </a:pPr>
            <a:endParaRPr lang="en-US" altLang="zh-CN" sz="3000" dirty="0"/>
          </a:p>
          <a:p>
            <a:pPr lvl="1">
              <a:lnSpc>
                <a:spcPct val="150000"/>
              </a:lnSpc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27.1.2 </a:t>
            </a:r>
            <a:r>
              <a:rPr lang="zh-CN" altLang="en-US" sz="4800" b="1" dirty="0">
                <a:latin typeface="+mn-ea"/>
              </a:rPr>
              <a:t>石油的裂化和裂解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裂化反应无固定产物</a:t>
            </a:r>
            <a:endParaRPr lang="en-MY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大烷烃裂化后生成一小</a:t>
            </a:r>
            <a:r>
              <a:rPr lang="zh-CN" altLang="en-US" sz="3000" b="1" dirty="0">
                <a:solidFill>
                  <a:srgbClr val="7030A0"/>
                </a:solidFill>
              </a:rPr>
              <a:t>烷烃</a:t>
            </a:r>
            <a:r>
              <a:rPr lang="zh-CN" altLang="en-US" sz="3000" dirty="0"/>
              <a:t>和一小</a:t>
            </a:r>
            <a:r>
              <a:rPr lang="zh-CN" altLang="en-US" sz="3000" b="1" dirty="0">
                <a:solidFill>
                  <a:srgbClr val="7030A0"/>
                </a:solidFill>
              </a:rPr>
              <a:t>烯烃</a:t>
            </a:r>
            <a:endParaRPr lang="en-MY" altLang="zh-CN" sz="3000" b="1" dirty="0">
              <a:solidFill>
                <a:srgbClr val="7030A0"/>
              </a:solidFill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裂化反应的初次产品还会发生二次裂化反应。</a:t>
            </a:r>
            <a:endParaRPr lang="en-MY" altLang="zh-CN" sz="3000" dirty="0"/>
          </a:p>
          <a:p>
            <a:pPr marL="0" indent="0">
              <a:buNone/>
            </a:pPr>
            <a:r>
              <a:rPr lang="pt-BR" sz="3000" dirty="0"/>
              <a:t>		C</a:t>
            </a:r>
            <a:r>
              <a:rPr lang="pt-BR" sz="3000" baseline="-25000" dirty="0"/>
              <a:t>16</a:t>
            </a:r>
            <a:r>
              <a:rPr lang="pt-BR" sz="3000" dirty="0"/>
              <a:t>H</a:t>
            </a:r>
            <a:r>
              <a:rPr lang="pt-BR" sz="3000" baseline="-25000" dirty="0"/>
              <a:t>34</a:t>
            </a:r>
            <a:r>
              <a:rPr lang="pt-BR" sz="3000" dirty="0"/>
              <a:t> 	C</a:t>
            </a:r>
            <a:r>
              <a:rPr lang="pt-BR" sz="3000" baseline="-25000" dirty="0"/>
              <a:t>8</a:t>
            </a:r>
            <a:r>
              <a:rPr lang="pt-BR" sz="3000" dirty="0"/>
              <a:t>H</a:t>
            </a:r>
            <a:r>
              <a:rPr lang="pt-BR" sz="3000" baseline="-25000" dirty="0"/>
              <a:t>18</a:t>
            </a:r>
            <a:r>
              <a:rPr lang="pt-BR" sz="3000" dirty="0"/>
              <a:t>+C</a:t>
            </a:r>
            <a:r>
              <a:rPr lang="pt-BR" sz="3000" baseline="-25000" dirty="0"/>
              <a:t>8</a:t>
            </a:r>
            <a:r>
              <a:rPr lang="pt-BR" sz="3000" dirty="0"/>
              <a:t>H</a:t>
            </a:r>
            <a:r>
              <a:rPr lang="pt-BR" sz="3000" baseline="-25000" dirty="0"/>
              <a:t>16</a:t>
            </a:r>
            <a:endParaRPr lang="pt-BR" sz="3000" dirty="0"/>
          </a:p>
          <a:p>
            <a:pPr marL="0" indent="0">
              <a:buNone/>
            </a:pPr>
            <a:r>
              <a:rPr lang="pt-BR" sz="3000" dirty="0"/>
              <a:t>		C</a:t>
            </a:r>
            <a:r>
              <a:rPr lang="pt-BR" sz="3000" baseline="-25000" dirty="0"/>
              <a:t>8</a:t>
            </a:r>
            <a:r>
              <a:rPr lang="pt-BR" sz="3000" dirty="0"/>
              <a:t>H</a:t>
            </a:r>
            <a:r>
              <a:rPr lang="pt-BR" sz="3000" baseline="-25000" dirty="0"/>
              <a:t>18</a:t>
            </a:r>
            <a:r>
              <a:rPr lang="pt-BR" sz="3000" dirty="0"/>
              <a:t>		C</a:t>
            </a:r>
            <a:r>
              <a:rPr lang="pt-BR" sz="3000" baseline="-25000" dirty="0"/>
              <a:t>4</a:t>
            </a:r>
            <a:r>
              <a:rPr lang="pt-BR" sz="3000" dirty="0"/>
              <a:t>H</a:t>
            </a:r>
            <a:r>
              <a:rPr lang="pt-BR" sz="3000" baseline="-25000" dirty="0"/>
              <a:t>10</a:t>
            </a:r>
            <a:r>
              <a:rPr lang="pt-BR" sz="3000" dirty="0"/>
              <a:t>+C</a:t>
            </a:r>
            <a:r>
              <a:rPr lang="pt-BR" sz="3000" baseline="-25000" dirty="0"/>
              <a:t>4</a:t>
            </a:r>
            <a:r>
              <a:rPr lang="pt-BR" sz="3000" dirty="0"/>
              <a:t>H</a:t>
            </a:r>
            <a:r>
              <a:rPr lang="pt-BR" sz="3000" baseline="-25000" dirty="0"/>
              <a:t>8</a:t>
            </a:r>
            <a:endParaRPr lang="pt-BR" sz="3000" dirty="0"/>
          </a:p>
          <a:p>
            <a:pPr marL="0" indent="0">
              <a:buNone/>
            </a:pPr>
            <a:r>
              <a:rPr lang="pt-BR" sz="3000" dirty="0"/>
              <a:t>		C</a:t>
            </a:r>
            <a:r>
              <a:rPr lang="pt-BR" sz="3000" baseline="-25000" dirty="0"/>
              <a:t>4</a:t>
            </a:r>
            <a:r>
              <a:rPr lang="pt-BR" sz="3000" dirty="0"/>
              <a:t>H</a:t>
            </a:r>
            <a:r>
              <a:rPr lang="pt-BR" sz="3000" baseline="-25000" dirty="0"/>
              <a:t>10		</a:t>
            </a:r>
            <a:r>
              <a:rPr lang="pt-BR" sz="3000" dirty="0"/>
              <a:t>CH</a:t>
            </a:r>
            <a:r>
              <a:rPr lang="pt-BR" sz="3000" baseline="-25000" dirty="0"/>
              <a:t>4</a:t>
            </a:r>
            <a:r>
              <a:rPr lang="pt-BR" sz="3000" dirty="0"/>
              <a:t>+C</a:t>
            </a:r>
            <a:r>
              <a:rPr lang="pt-BR" sz="3000" baseline="-25000" dirty="0"/>
              <a:t>3</a:t>
            </a:r>
            <a:r>
              <a:rPr lang="pt-BR" sz="3000" dirty="0"/>
              <a:t>H</a:t>
            </a:r>
            <a:r>
              <a:rPr lang="pt-BR" sz="3000" baseline="-25000" dirty="0"/>
              <a:t>6</a:t>
            </a:r>
            <a:endParaRPr lang="pt-BR" sz="3000" dirty="0"/>
          </a:p>
          <a:p>
            <a:pPr marL="0" indent="0">
              <a:buNone/>
            </a:pPr>
            <a:r>
              <a:rPr lang="pt-BR" sz="3000" dirty="0"/>
              <a:t>		C</a:t>
            </a:r>
            <a:r>
              <a:rPr lang="pt-BR" sz="3000" baseline="-25000" dirty="0"/>
              <a:t>4</a:t>
            </a:r>
            <a:r>
              <a:rPr lang="pt-BR" sz="3000" dirty="0"/>
              <a:t>H</a:t>
            </a:r>
            <a:r>
              <a:rPr lang="pt-BR" sz="3000" baseline="-25000" dirty="0"/>
              <a:t>10</a:t>
            </a:r>
            <a:r>
              <a:rPr lang="pt-BR" sz="3000" dirty="0"/>
              <a:t>		C</a:t>
            </a:r>
            <a:r>
              <a:rPr lang="pt-BR" sz="3000" baseline="-25000" dirty="0"/>
              <a:t>2</a:t>
            </a:r>
            <a:r>
              <a:rPr lang="pt-BR" sz="3000" dirty="0"/>
              <a:t>H</a:t>
            </a:r>
            <a:r>
              <a:rPr lang="pt-BR" sz="3000" baseline="-25000" dirty="0"/>
              <a:t>6</a:t>
            </a:r>
            <a:r>
              <a:rPr lang="en-US" sz="3000" dirty="0"/>
              <a:t> </a:t>
            </a:r>
            <a:r>
              <a:rPr lang="pt-BR" sz="3000" dirty="0"/>
              <a:t>+C</a:t>
            </a:r>
            <a:r>
              <a:rPr lang="pt-BR" sz="3000" baseline="-25000" dirty="0"/>
              <a:t>2</a:t>
            </a:r>
            <a:r>
              <a:rPr lang="pt-BR" sz="3000" dirty="0"/>
              <a:t>H</a:t>
            </a:r>
            <a:r>
              <a:rPr lang="pt-BR" sz="3000" baseline="-25000" dirty="0"/>
              <a:t>4</a:t>
            </a:r>
            <a:endParaRPr lang="pt-BR" sz="3000" dirty="0"/>
          </a:p>
          <a:p>
            <a:pPr lvl="1">
              <a:lnSpc>
                <a:spcPct val="150000"/>
              </a:lnSpc>
              <a:buNone/>
            </a:pPr>
            <a:endParaRPr lang="en-US" altLang="zh-CN" sz="30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277256E-9015-4218-AE46-8C405EED1ADA}"/>
              </a:ext>
            </a:extLst>
          </p:cNvPr>
          <p:cNvGrpSpPr/>
          <p:nvPr/>
        </p:nvGrpSpPr>
        <p:grpSpPr>
          <a:xfrm>
            <a:off x="3200400" y="3478689"/>
            <a:ext cx="838200" cy="153988"/>
            <a:chOff x="2590800" y="1979612"/>
            <a:chExt cx="838200" cy="153988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C6D1B10-FDE1-4EB7-A7C5-74A6091D6BCB}"/>
                </a:ext>
              </a:extLst>
            </p:cNvPr>
            <p:cNvCxnSpPr/>
            <p:nvPr/>
          </p:nvCxnSpPr>
          <p:spPr bwMode="auto">
            <a:xfrm>
              <a:off x="2590800" y="2132012"/>
              <a:ext cx="83820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53A3C713-85B8-4BEF-A892-21556C7D51D5}"/>
                </a:ext>
              </a:extLst>
            </p:cNvPr>
            <p:cNvSpPr/>
            <p:nvPr/>
          </p:nvSpPr>
          <p:spPr bwMode="auto">
            <a:xfrm>
              <a:off x="2895600" y="1979612"/>
              <a:ext cx="228600" cy="1524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909B562-DA3E-4ABD-BA9C-8DFA111E282B}"/>
              </a:ext>
            </a:extLst>
          </p:cNvPr>
          <p:cNvGrpSpPr/>
          <p:nvPr/>
        </p:nvGrpSpPr>
        <p:grpSpPr>
          <a:xfrm>
            <a:off x="3162300" y="4117182"/>
            <a:ext cx="838200" cy="153988"/>
            <a:chOff x="2590800" y="1979612"/>
            <a:chExt cx="838200" cy="153988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2592DF3-102E-450E-A731-EDF7BDCD8DEE}"/>
                </a:ext>
              </a:extLst>
            </p:cNvPr>
            <p:cNvCxnSpPr/>
            <p:nvPr/>
          </p:nvCxnSpPr>
          <p:spPr bwMode="auto">
            <a:xfrm>
              <a:off x="2590800" y="2132012"/>
              <a:ext cx="83820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19C14508-E9C4-4AB0-8A7F-C08A16A3D220}"/>
                </a:ext>
              </a:extLst>
            </p:cNvPr>
            <p:cNvSpPr/>
            <p:nvPr/>
          </p:nvSpPr>
          <p:spPr bwMode="auto">
            <a:xfrm>
              <a:off x="2895600" y="1979612"/>
              <a:ext cx="228600" cy="1524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BA11D81-F9E7-4656-8F72-FEB2033FB2EF}"/>
              </a:ext>
            </a:extLst>
          </p:cNvPr>
          <p:cNvGrpSpPr/>
          <p:nvPr/>
        </p:nvGrpSpPr>
        <p:grpSpPr>
          <a:xfrm>
            <a:off x="3162300" y="4648200"/>
            <a:ext cx="838200" cy="153988"/>
            <a:chOff x="2590800" y="1979612"/>
            <a:chExt cx="838200" cy="153988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999573E-9D23-4895-967C-DD51615A45BC}"/>
                </a:ext>
              </a:extLst>
            </p:cNvPr>
            <p:cNvCxnSpPr/>
            <p:nvPr/>
          </p:nvCxnSpPr>
          <p:spPr bwMode="auto">
            <a:xfrm>
              <a:off x="2590800" y="2132012"/>
              <a:ext cx="83820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77B005CA-C51B-44C2-8898-AC6577DF3998}"/>
                </a:ext>
              </a:extLst>
            </p:cNvPr>
            <p:cNvSpPr/>
            <p:nvPr/>
          </p:nvSpPr>
          <p:spPr bwMode="auto">
            <a:xfrm>
              <a:off x="2895600" y="1979612"/>
              <a:ext cx="228600" cy="1524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5EC90F-3630-4E22-B3E9-50019B3A2028}"/>
              </a:ext>
            </a:extLst>
          </p:cNvPr>
          <p:cNvGrpSpPr/>
          <p:nvPr/>
        </p:nvGrpSpPr>
        <p:grpSpPr>
          <a:xfrm>
            <a:off x="3200400" y="5103812"/>
            <a:ext cx="838200" cy="153988"/>
            <a:chOff x="2590800" y="1979612"/>
            <a:chExt cx="838200" cy="153988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54E70D2-4E35-410A-83F5-827A256977B9}"/>
                </a:ext>
              </a:extLst>
            </p:cNvPr>
            <p:cNvCxnSpPr/>
            <p:nvPr/>
          </p:nvCxnSpPr>
          <p:spPr bwMode="auto">
            <a:xfrm>
              <a:off x="2590800" y="2132012"/>
              <a:ext cx="83820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4363CC59-0E7E-42B5-BA5A-AD1855225844}"/>
                </a:ext>
              </a:extLst>
            </p:cNvPr>
            <p:cNvSpPr/>
            <p:nvPr/>
          </p:nvSpPr>
          <p:spPr bwMode="auto">
            <a:xfrm>
              <a:off x="2895600" y="1979612"/>
              <a:ext cx="228600" cy="1524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31073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27.1.3 </a:t>
            </a:r>
            <a:r>
              <a:rPr lang="zh-CN" altLang="en-US" sz="4800" b="1" dirty="0">
                <a:latin typeface="+mn-ea"/>
              </a:rPr>
              <a:t>石油的重整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重整：把汽油中直链烃类分子“重新进行调整”转化为芳香烃或有支链的烷烃异构体等。</a:t>
            </a:r>
            <a:endParaRPr lang="en-MY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反应条件：催化剂（铂，铼），加热</a:t>
            </a:r>
            <a:endParaRPr lang="en-MY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原料：汽油</a:t>
            </a:r>
            <a:endParaRPr lang="en-MY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目的：①生产高辛烷值的汽油</a:t>
            </a:r>
            <a:endParaRPr lang="en-MY" altLang="zh-CN" sz="3000" dirty="0"/>
          </a:p>
          <a:p>
            <a:pPr marL="0" indent="0">
              <a:lnSpc>
                <a:spcPct val="150000"/>
              </a:lnSpc>
              <a:buNone/>
            </a:pPr>
            <a:r>
              <a:rPr lang="en-MY" altLang="zh-CN" sz="3000" dirty="0"/>
              <a:t>	</a:t>
            </a:r>
            <a:r>
              <a:rPr lang="zh-CN" altLang="en-US" sz="3000" dirty="0"/>
              <a:t>②化纤、橡胶、塑料、精细化工提供原料</a:t>
            </a:r>
            <a:endParaRPr lang="en-MY" altLang="zh-CN" sz="3000" dirty="0"/>
          </a:p>
          <a:p>
            <a:pPr marL="0" indent="0">
              <a:lnSpc>
                <a:spcPct val="150000"/>
              </a:lnSpc>
              <a:buNone/>
            </a:pPr>
            <a:r>
              <a:rPr lang="en-MY" altLang="zh-CN" sz="3000" dirty="0"/>
              <a:t>	③</a:t>
            </a:r>
            <a:r>
              <a:rPr lang="zh-CN" altLang="en-US" sz="3000" dirty="0"/>
              <a:t>生产溶剂、氢气、燃料液化气等。</a:t>
            </a:r>
            <a:endParaRPr lang="en-MY" altLang="zh-CN" sz="3000" dirty="0"/>
          </a:p>
        </p:txBody>
      </p:sp>
    </p:spTree>
    <p:extLst>
      <p:ext uri="{BB962C8B-B14F-4D97-AF65-F5344CB8AC3E}">
        <p14:creationId xmlns:p14="http://schemas.microsoft.com/office/powerpoint/2010/main" val="17967663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>
                <a:latin typeface="+mn-ea"/>
              </a:rPr>
              <a:t>思考题 </a:t>
            </a:r>
            <a:r>
              <a:rPr lang="en-US" altLang="zh-CN" sz="4800" b="1" dirty="0">
                <a:latin typeface="+mn-ea"/>
              </a:rPr>
              <a:t>27a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zh-CN" sz="3000" dirty="0"/>
              <a:t>C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3000" dirty="0"/>
              <a:t>石油分馏塔顶的蒸馏产物：</a:t>
            </a:r>
            <a:endParaRPr lang="en-MY" altLang="zh-CN" sz="30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3000" dirty="0"/>
              <a:t>分子量小，熔点沸点较低、可燃性高、粘稠性低。</a:t>
            </a:r>
            <a:endParaRPr lang="en-MY" altLang="zh-CN" sz="3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3000" dirty="0"/>
              <a:t>2. C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3000" dirty="0"/>
              <a:t>常压分馏原料是</a:t>
            </a:r>
            <a:r>
              <a:rPr lang="en-US" altLang="zh-CN" sz="3000" dirty="0"/>
              <a:t>C</a:t>
            </a:r>
            <a:r>
              <a:rPr lang="zh-CN" altLang="en-US" sz="3000" dirty="0"/>
              <a:t>数较少的烃类</a:t>
            </a:r>
            <a:endParaRPr lang="en-MY" altLang="zh-CN" sz="30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3000" dirty="0"/>
              <a:t>减压分馏原料是重油，产品有石蜡、沥青、石油焦</a:t>
            </a:r>
            <a:endParaRPr lang="en-MY" altLang="zh-CN" sz="3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3000" dirty="0"/>
              <a:t>3. A </a:t>
            </a:r>
            <a:r>
              <a:rPr lang="zh-CN" altLang="en-US" sz="3000" dirty="0"/>
              <a:t>提高汽油的产量和品质</a:t>
            </a:r>
            <a:endParaRPr lang="en-MY" altLang="zh-CN" sz="3000" dirty="0"/>
          </a:p>
        </p:txBody>
      </p:sp>
    </p:spTree>
    <p:extLst>
      <p:ext uri="{BB962C8B-B14F-4D97-AF65-F5344CB8AC3E}">
        <p14:creationId xmlns:p14="http://schemas.microsoft.com/office/powerpoint/2010/main" val="8476764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27.2 </a:t>
            </a:r>
            <a:r>
              <a:rPr lang="zh-CN" altLang="en-US" sz="4800" b="1" dirty="0">
                <a:latin typeface="+mn-ea"/>
              </a:rPr>
              <a:t>烷烃的通式和结构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3000" dirty="0"/>
              <a:t>又称饱和脂肪烃或饱和链烃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通式：</a:t>
            </a:r>
            <a:r>
              <a:rPr lang="en-US" altLang="zh-CN" sz="3000" dirty="0" err="1"/>
              <a:t>C</a:t>
            </a:r>
            <a:r>
              <a:rPr lang="en-US" altLang="zh-CN" sz="3000" baseline="-25000" dirty="0" err="1"/>
              <a:t>n</a:t>
            </a:r>
            <a:r>
              <a:rPr lang="en-US" altLang="zh-CN" sz="3000" baseline="-25000" dirty="0"/>
              <a:t> 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2n+2</a:t>
            </a:r>
            <a:r>
              <a:rPr lang="en-US" altLang="zh-CN" sz="3000" dirty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最简单的烷烃：甲烷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</a:t>
            </a:r>
          </a:p>
        </p:txBody>
      </p:sp>
      <p:pic>
        <p:nvPicPr>
          <p:cNvPr id="9" name="Picture 8" descr="j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895600"/>
            <a:ext cx="2234712" cy="2324100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533400" y="2733675"/>
            <a:ext cx="7924800" cy="4048125"/>
            <a:chOff x="533400" y="2590800"/>
            <a:chExt cx="7162800" cy="4048125"/>
          </a:xfrm>
        </p:grpSpPr>
        <p:pic>
          <p:nvPicPr>
            <p:cNvPr id="7" name="Picture 6" descr="jiawan1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400" y="2590800"/>
              <a:ext cx="6477000" cy="4048125"/>
            </a:xfrm>
            <a:prstGeom prst="rect">
              <a:avLst/>
            </a:prstGeom>
          </p:spPr>
        </p:pic>
        <p:pic>
          <p:nvPicPr>
            <p:cNvPr id="6" name="Picture 5" descr="jiawan.png"/>
            <p:cNvPicPr>
              <a:picLocks noChangeAspect="1"/>
            </p:cNvPicPr>
            <p:nvPr/>
          </p:nvPicPr>
          <p:blipFill>
            <a:blip r:embed="rId5"/>
            <a:srcRect l="42353" b="45956"/>
            <a:stretch>
              <a:fillRect/>
            </a:stretch>
          </p:blipFill>
          <p:spPr>
            <a:xfrm>
              <a:off x="6400800" y="2895600"/>
              <a:ext cx="1295400" cy="609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27.2 </a:t>
            </a:r>
            <a:r>
              <a:rPr lang="zh-CN" altLang="en-US" sz="4800" b="1" dirty="0">
                <a:latin typeface="+mn-ea"/>
              </a:rPr>
              <a:t>烷烃的通式和结构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sz="3000" dirty="0"/>
              <a:t>sp</a:t>
            </a:r>
            <a:r>
              <a:rPr lang="en-US" altLang="zh-CN" sz="3000" baseline="30000" dirty="0"/>
              <a:t>3</a:t>
            </a:r>
            <a:r>
              <a:rPr lang="en-US" altLang="zh-CN" sz="3000" dirty="0"/>
              <a:t> </a:t>
            </a:r>
            <a:r>
              <a:rPr lang="zh-CN" altLang="en-US" sz="3000" dirty="0"/>
              <a:t>杂化轨域</a:t>
            </a:r>
            <a:r>
              <a:rPr lang="en-US" altLang="zh-CN" sz="3000" dirty="0"/>
              <a:t>:</a:t>
            </a:r>
            <a:r>
              <a:rPr lang="zh-CN" altLang="en-US" sz="2800" dirty="0"/>
              <a:t> 同一原子内由一个</a:t>
            </a:r>
            <a:r>
              <a:rPr lang="en-US" altLang="zh-CN" sz="2800" dirty="0"/>
              <a:t>ns</a:t>
            </a:r>
            <a:r>
              <a:rPr lang="zh-CN" altLang="en-US" sz="2800" dirty="0"/>
              <a:t>轨道和三个</a:t>
            </a:r>
            <a:r>
              <a:rPr lang="en-US" altLang="zh-CN" sz="2800" dirty="0" err="1"/>
              <a:t>np</a:t>
            </a:r>
            <a:r>
              <a:rPr lang="zh-CN" altLang="en-US" sz="2800" dirty="0"/>
              <a:t>轨道发生的杂化，称为</a:t>
            </a:r>
            <a:r>
              <a:rPr lang="en-US" altLang="zh-CN" sz="2800" dirty="0"/>
              <a:t>sp</a:t>
            </a:r>
            <a:r>
              <a:rPr lang="en-US" altLang="zh-CN" sz="2800" baseline="30000" dirty="0"/>
              <a:t>3</a:t>
            </a:r>
            <a:r>
              <a:rPr lang="zh-CN" altLang="en-US" sz="2800" dirty="0"/>
              <a:t>杂化</a:t>
            </a:r>
            <a:endParaRPr lang="en-US" altLang="zh-CN" sz="3000" dirty="0"/>
          </a:p>
        </p:txBody>
      </p:sp>
      <p:pic>
        <p:nvPicPr>
          <p:cNvPr id="6" name="Picture 5" descr="sp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565400"/>
            <a:ext cx="8839200" cy="147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667000" y="2905780"/>
            <a:ext cx="85472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激发</a:t>
            </a:r>
            <a:endParaRPr lang="en-US" sz="26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97006" y="2590800"/>
            <a:ext cx="269817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zh-CN" altLang="en-US" sz="2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个轨域能量相同</a:t>
            </a:r>
            <a:endParaRPr lang="en-US" sz="26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685800" y="990600"/>
            <a:ext cx="8180717" cy="5257800"/>
            <a:chOff x="658483" y="1447800"/>
            <a:chExt cx="8180717" cy="5257800"/>
          </a:xfrm>
        </p:grpSpPr>
        <p:pic>
          <p:nvPicPr>
            <p:cNvPr id="7" name="Picture 6" descr="zh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8483" y="1447800"/>
              <a:ext cx="8180717" cy="5257800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4876800" y="4582180"/>
              <a:ext cx="1436612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2800" dirty="0"/>
                <a:t>sp</a:t>
              </a:r>
              <a:r>
                <a:rPr lang="en-US" altLang="zh-CN" sz="2800" baseline="30000" dirty="0"/>
                <a:t>3</a:t>
              </a:r>
              <a:r>
                <a:rPr lang="en-US" altLang="zh-CN" sz="2800" dirty="0"/>
                <a:t> </a:t>
              </a:r>
              <a:r>
                <a:rPr lang="zh-CN" altLang="en-US" sz="2800" dirty="0"/>
                <a:t>杂化</a:t>
              </a:r>
              <a:endParaRPr lang="en-US" sz="2800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581D274-4726-400F-8FAA-3D0417CAC7B9}"/>
              </a:ext>
            </a:extLst>
          </p:cNvPr>
          <p:cNvSpPr txBox="1"/>
          <p:nvPr/>
        </p:nvSpPr>
        <p:spPr>
          <a:xfrm>
            <a:off x="968514" y="2971800"/>
            <a:ext cx="2190023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MY" altLang="zh-CN" sz="3200" dirty="0"/>
              <a:t>s</a:t>
            </a:r>
            <a:r>
              <a:rPr lang="zh-CN" altLang="en-US" sz="3200" dirty="0"/>
              <a:t>轨域</a:t>
            </a:r>
            <a:r>
              <a:rPr lang="en-MY" altLang="zh-CN" sz="3200" dirty="0"/>
              <a:t>: </a:t>
            </a:r>
            <a:r>
              <a:rPr lang="zh-CN" altLang="en-US" sz="3200" dirty="0"/>
              <a:t>球形</a:t>
            </a:r>
            <a:endParaRPr lang="en-US" sz="3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D2980F-C2FE-42EE-847C-042252888BE4}"/>
              </a:ext>
            </a:extLst>
          </p:cNvPr>
          <p:cNvSpPr txBox="1"/>
          <p:nvPr/>
        </p:nvSpPr>
        <p:spPr>
          <a:xfrm>
            <a:off x="5525195" y="3028232"/>
            <a:ext cx="2656496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MY" altLang="zh-CN" sz="3200" dirty="0"/>
              <a:t>p</a:t>
            </a:r>
            <a:r>
              <a:rPr lang="zh-CN" altLang="en-US" sz="3200" dirty="0"/>
              <a:t>轨域</a:t>
            </a:r>
            <a:r>
              <a:rPr lang="en-MY" altLang="zh-CN" sz="3200" dirty="0"/>
              <a:t>: </a:t>
            </a:r>
            <a:r>
              <a:rPr lang="zh-CN" altLang="en-US" sz="3200" dirty="0"/>
              <a:t>哑铃形</a:t>
            </a:r>
            <a:endParaRPr lang="en-US" sz="3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57F5C9-96D9-4219-9E5B-2441DC149EDC}"/>
              </a:ext>
            </a:extLst>
          </p:cNvPr>
          <p:cNvSpPr txBox="1"/>
          <p:nvPr/>
        </p:nvSpPr>
        <p:spPr>
          <a:xfrm>
            <a:off x="304800" y="4378980"/>
            <a:ext cx="3869970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 dirty="0"/>
              <a:t>s</a:t>
            </a:r>
            <a:r>
              <a:rPr lang="en-MY" altLang="zh-CN" sz="3200" dirty="0"/>
              <a:t>p</a:t>
            </a:r>
            <a:r>
              <a:rPr lang="en-MY" altLang="zh-CN" sz="3200" baseline="30000" dirty="0"/>
              <a:t>3</a:t>
            </a:r>
            <a:r>
              <a:rPr lang="en-MY" altLang="zh-CN" sz="3200" dirty="0"/>
              <a:t> </a:t>
            </a:r>
            <a:r>
              <a:rPr lang="zh-CN" altLang="en-US" sz="3200" dirty="0"/>
              <a:t>杂化轨域</a:t>
            </a:r>
            <a:r>
              <a:rPr lang="en-MY" altLang="zh-CN" sz="3200" dirty="0"/>
              <a:t>: </a:t>
            </a:r>
            <a:r>
              <a:rPr lang="zh-CN" altLang="en-US" sz="3200" dirty="0"/>
              <a:t>葫芦形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9" grpId="0"/>
      <p:bldP spid="12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27.2 </a:t>
            </a:r>
            <a:r>
              <a:rPr lang="zh-CN" altLang="en-US" sz="4800" b="1" dirty="0">
                <a:latin typeface="+mn-ea"/>
              </a:rPr>
              <a:t>烷烃的通式和结构</a:t>
            </a:r>
            <a:endParaRPr lang="en-US" sz="4800" b="1" dirty="0"/>
          </a:p>
        </p:txBody>
      </p:sp>
      <p:pic>
        <p:nvPicPr>
          <p:cNvPr id="6" name="Picture 5" descr="sp3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838200"/>
            <a:ext cx="6857999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27.2 </a:t>
            </a:r>
            <a:r>
              <a:rPr lang="zh-CN" altLang="en-US" sz="4800" b="1" dirty="0">
                <a:latin typeface="+mn-ea"/>
              </a:rPr>
              <a:t>烷烃的通式和结构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杂化轨域：成键时能阶相近的价电子轨域相混杂，形成新的价电子轨域。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杂化前后轨域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数目不变。</a:t>
            </a:r>
            <a:endParaRPr lang="en-US" altLang="zh-CN" sz="30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杂化后轨域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伸展方向、形状和能量发生改变。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杂化的结果是</a:t>
            </a:r>
            <a:r>
              <a:rPr lang="zh-CN" alt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更有利</a:t>
            </a:r>
            <a:r>
              <a:rPr lang="zh-CN" altLang="en-US" sz="3000" dirty="0"/>
              <a:t>成键，形成的键也</a:t>
            </a:r>
            <a:r>
              <a:rPr lang="zh-CN" alt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较稳定</a:t>
            </a:r>
            <a:r>
              <a:rPr lang="zh-CN" altLang="en-US" sz="3000" dirty="0"/>
              <a:t>。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27.2 </a:t>
            </a:r>
            <a:r>
              <a:rPr lang="zh-CN" altLang="en-US" sz="4800" b="1" dirty="0">
                <a:latin typeface="+mn-ea"/>
              </a:rPr>
              <a:t>烷烃的通式和结构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l-GR" altLang="zh-CN" sz="3000" dirty="0"/>
              <a:t>σ</a:t>
            </a:r>
            <a:r>
              <a:rPr lang="zh-CN" altLang="en-US" sz="3000" dirty="0"/>
              <a:t>键：</a:t>
            </a:r>
            <a:r>
              <a:rPr lang="zh-CN" altLang="en-US" sz="2800" dirty="0"/>
              <a:t> 由两个相同或不相同的原子轨道沿轨道对称轴方向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相互重叠</a:t>
            </a:r>
            <a:r>
              <a:rPr lang="zh-CN" altLang="en-US" sz="2800" dirty="0"/>
              <a:t>（头碰头）而形成的共价键</a:t>
            </a:r>
            <a:endParaRPr lang="en-MY" altLang="zh-CN" sz="2800" dirty="0"/>
          </a:p>
          <a:p>
            <a:pPr>
              <a:buFont typeface="Wingdings" pitchFamily="2" charset="2"/>
              <a:buChar char="Ø"/>
            </a:pPr>
            <a:r>
              <a:rPr lang="zh-CN" altLang="en-US" sz="2800" dirty="0"/>
              <a:t>特点：能够围绕对称轴旋转</a:t>
            </a:r>
            <a:endParaRPr lang="en-MY" altLang="zh-CN" sz="2800" dirty="0"/>
          </a:p>
          <a:p>
            <a:pPr>
              <a:buFont typeface="Wingdings" pitchFamily="2" charset="2"/>
              <a:buChar char="Ø"/>
            </a:pPr>
            <a:endParaRPr lang="en-MY" altLang="zh-CN" sz="2800" dirty="0"/>
          </a:p>
          <a:p>
            <a:pPr>
              <a:buFont typeface="Wingdings" pitchFamily="2" charset="2"/>
              <a:buChar char="Ø"/>
            </a:pPr>
            <a:endParaRPr lang="en-MY" altLang="zh-CN" sz="2800" dirty="0"/>
          </a:p>
          <a:p>
            <a:pPr>
              <a:buFont typeface="Wingdings" pitchFamily="2" charset="2"/>
              <a:buChar char="Ø"/>
            </a:pPr>
            <a:endParaRPr lang="en-MY" altLang="zh-CN" sz="2800" dirty="0"/>
          </a:p>
          <a:p>
            <a:pPr>
              <a:buFont typeface="Wingdings" pitchFamily="2" charset="2"/>
              <a:buChar char="Ø"/>
            </a:pPr>
            <a:r>
              <a:rPr lang="zh-CN" altLang="en-US" sz="2800" dirty="0"/>
              <a:t>烷烃也称</a:t>
            </a:r>
            <a:r>
              <a:rPr lang="zh-CN" altLang="en-US" sz="2800" b="1" dirty="0"/>
              <a:t>饱和脂肪烃</a:t>
            </a:r>
            <a:r>
              <a:rPr lang="zh-CN" altLang="en-US" sz="2800" dirty="0"/>
              <a:t>或</a:t>
            </a:r>
            <a:r>
              <a:rPr lang="zh-CN" altLang="en-US" sz="2800" b="1" dirty="0"/>
              <a:t>饱和链烃</a:t>
            </a:r>
            <a:endParaRPr lang="en-MY" altLang="zh-CN" sz="2800" b="1" dirty="0"/>
          </a:p>
          <a:p>
            <a:pPr lvl="1">
              <a:buFont typeface="Wingdings" pitchFamily="2" charset="2"/>
              <a:buChar char="Ø"/>
            </a:pPr>
            <a:r>
              <a:rPr lang="zh-CN" altLang="en-US" sz="2600" dirty="0"/>
              <a:t>烷烃分子里，碳原子与碳原子都以单键结合成链状，碳原子剩余的价电子全部与氢原子结合，使得每个碳原子的价电子都被充分利用，即达到“饱和”。</a:t>
            </a:r>
            <a:endParaRPr lang="en-US" altLang="zh-CN" sz="2600" dirty="0"/>
          </a:p>
        </p:txBody>
      </p:sp>
      <p:pic>
        <p:nvPicPr>
          <p:cNvPr id="8" name="Picture 7" descr="Sigma键和pi键3.jpg"/>
          <p:cNvPicPr>
            <a:picLocks noChangeAspect="1"/>
          </p:cNvPicPr>
          <p:nvPr/>
        </p:nvPicPr>
        <p:blipFill>
          <a:blip r:embed="rId3">
            <a:lum bright="-10000"/>
          </a:blip>
          <a:srcRect l="20052" b="19978"/>
          <a:stretch>
            <a:fillRect/>
          </a:stretch>
        </p:blipFill>
        <p:spPr>
          <a:xfrm>
            <a:off x="228600" y="2438400"/>
            <a:ext cx="86106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>
                <a:latin typeface="+mn-ea"/>
              </a:rPr>
              <a:t>思考题 </a:t>
            </a:r>
            <a:r>
              <a:rPr lang="en-US" altLang="zh-CN" sz="4800" b="1" dirty="0">
                <a:latin typeface="+mn-ea"/>
              </a:rPr>
              <a:t>27b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US" altLang="zh-CN" sz="2800" dirty="0"/>
              <a:t>B</a:t>
            </a:r>
          </a:p>
          <a:p>
            <a:pPr marL="0" indent="0">
              <a:buNone/>
            </a:pPr>
            <a:r>
              <a:rPr lang="zh-CN" altLang="en-US" sz="2800" dirty="0"/>
              <a:t>碳原子有“四只手”</a:t>
            </a:r>
            <a:endParaRPr lang="en-MY" altLang="zh-CN" sz="2800" dirty="0"/>
          </a:p>
          <a:p>
            <a:pPr marL="0" indent="0">
              <a:buNone/>
            </a:pPr>
            <a:r>
              <a:rPr lang="zh-CN" altLang="en-US" sz="2800" dirty="0"/>
              <a:t>一个双键和一个三键</a:t>
            </a:r>
            <a:r>
              <a:rPr lang="en-US" altLang="zh-CN" sz="2800" dirty="0"/>
              <a:t>=</a:t>
            </a:r>
            <a:r>
              <a:rPr lang="zh-CN" altLang="en-US" sz="2800" dirty="0"/>
              <a:t>“五只手”</a:t>
            </a:r>
            <a:endParaRPr lang="en-MY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2. C</a:t>
            </a: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3. </a:t>
            </a:r>
            <a:r>
              <a:rPr lang="zh-CN" altLang="en-US" sz="2800" dirty="0"/>
              <a:t>三种</a:t>
            </a:r>
            <a:endParaRPr lang="en-MY" altLang="zh-CN" sz="2800" dirty="0"/>
          </a:p>
        </p:txBody>
      </p:sp>
      <p:pic>
        <p:nvPicPr>
          <p:cNvPr id="8" name="Picture 7" descr="Sigma键和pi键3.jpg"/>
          <p:cNvPicPr>
            <a:picLocks noChangeAspect="1"/>
          </p:cNvPicPr>
          <p:nvPr/>
        </p:nvPicPr>
        <p:blipFill>
          <a:blip r:embed="rId3">
            <a:lum bright="-10000"/>
          </a:blip>
          <a:srcRect l="20052" b="19978"/>
          <a:stretch>
            <a:fillRect/>
          </a:stretch>
        </p:blipFill>
        <p:spPr>
          <a:xfrm>
            <a:off x="152400" y="4658165"/>
            <a:ext cx="86106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050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>
                <a:latin typeface="+mn-ea"/>
              </a:rPr>
              <a:t>旧课本思考题</a:t>
            </a:r>
            <a:r>
              <a:rPr lang="en-US" altLang="zh-CN" sz="4800" b="1" dirty="0">
                <a:latin typeface="+mn-ea"/>
              </a:rPr>
              <a:t>25.1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endParaRPr lang="en-US" altLang="zh-CN" sz="3000" dirty="0"/>
          </a:p>
          <a:p>
            <a:pPr marL="514350" indent="-514350">
              <a:buNone/>
            </a:pPr>
            <a:r>
              <a:rPr lang="zh-CN" altLang="en-US" sz="2800" dirty="0"/>
              <a:t>氮原子通过</a:t>
            </a:r>
            <a:r>
              <a:rPr lang="en-US" altLang="zh-CN" sz="2800" dirty="0"/>
              <a:t>2s</a:t>
            </a:r>
            <a:r>
              <a:rPr lang="zh-CN" altLang="en-US" sz="2800" dirty="0"/>
              <a:t>轨域和</a:t>
            </a:r>
            <a:r>
              <a:rPr lang="en-US" altLang="zh-CN" sz="2800" dirty="0"/>
              <a:t>3</a:t>
            </a:r>
            <a:r>
              <a:rPr lang="zh-CN" altLang="en-US" sz="2800" dirty="0"/>
              <a:t>个</a:t>
            </a:r>
            <a:r>
              <a:rPr lang="en-US" altLang="zh-CN" sz="2800" dirty="0"/>
              <a:t>2p</a:t>
            </a:r>
            <a:r>
              <a:rPr lang="zh-CN" altLang="en-US" sz="2800" dirty="0"/>
              <a:t>轨域杂化，形成</a:t>
            </a:r>
            <a:r>
              <a:rPr lang="en-US" altLang="zh-CN" sz="2800" dirty="0"/>
              <a:t>4</a:t>
            </a:r>
            <a:r>
              <a:rPr lang="zh-CN" altLang="en-US" sz="2800" dirty="0"/>
              <a:t>个</a:t>
            </a:r>
            <a:r>
              <a:rPr lang="en-US" altLang="zh-CN" sz="2800" dirty="0"/>
              <a:t>sp</a:t>
            </a:r>
            <a:r>
              <a:rPr lang="en-US" altLang="zh-CN" sz="2800" baseline="30000" dirty="0"/>
              <a:t>3</a:t>
            </a:r>
            <a:r>
              <a:rPr lang="zh-CN" altLang="en-US" sz="2800" dirty="0"/>
              <a:t>杂化轨域，其中一个</a:t>
            </a:r>
            <a:r>
              <a:rPr lang="en-US" altLang="zh-CN" sz="2800" dirty="0"/>
              <a:t>sp</a:t>
            </a:r>
            <a:r>
              <a:rPr lang="en-US" altLang="zh-CN" sz="2800" baseline="30000" dirty="0"/>
              <a:t>3</a:t>
            </a:r>
            <a:r>
              <a:rPr lang="en-US" altLang="zh-CN" sz="2800" dirty="0"/>
              <a:t> </a:t>
            </a:r>
            <a:r>
              <a:rPr lang="zh-CN" altLang="en-US" sz="2800" dirty="0"/>
              <a:t>杂化轨域含有未成键的一对孤对电子。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		sp</a:t>
            </a:r>
            <a:r>
              <a:rPr lang="en-US" altLang="zh-CN" sz="2800" b="1" baseline="30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514350" indent="-514350">
              <a:buNone/>
            </a:pPr>
            <a:r>
              <a:rPr lang="zh-CN" altLang="en-US" sz="2800" dirty="0"/>
              <a:t>在</a:t>
            </a:r>
            <a:r>
              <a:rPr lang="en-US" altLang="zh-CN" sz="2800" dirty="0"/>
              <a:t>NH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</a:t>
            </a:r>
            <a:r>
              <a:rPr lang="zh-CN" altLang="en-US" sz="2800" dirty="0"/>
              <a:t>分子里，</a:t>
            </a:r>
            <a:r>
              <a:rPr lang="en-US" altLang="zh-CN" sz="2800" dirty="0"/>
              <a:t>N</a:t>
            </a:r>
            <a:r>
              <a:rPr lang="zh-CN" altLang="en-US" sz="2800" dirty="0"/>
              <a:t>原子的</a:t>
            </a:r>
            <a:r>
              <a:rPr lang="en-US" altLang="zh-CN" sz="2800" dirty="0"/>
              <a:t>3</a:t>
            </a:r>
            <a:r>
              <a:rPr lang="zh-CN" altLang="en-US" sz="2800" dirty="0"/>
              <a:t>个</a:t>
            </a:r>
            <a:r>
              <a:rPr lang="en-US" altLang="zh-CN" sz="2800" dirty="0"/>
              <a:t>sp</a:t>
            </a:r>
            <a:r>
              <a:rPr lang="en-US" altLang="zh-CN" sz="2800" baseline="30000" dirty="0"/>
              <a:t>3</a:t>
            </a:r>
            <a:r>
              <a:rPr lang="en-US" altLang="zh-CN" sz="2800" dirty="0"/>
              <a:t> </a:t>
            </a:r>
            <a:r>
              <a:rPr lang="zh-CN" altLang="en-US" sz="2800" dirty="0"/>
              <a:t>杂化轨域与</a:t>
            </a:r>
            <a:r>
              <a:rPr lang="en-US" altLang="zh-CN" sz="2800" dirty="0"/>
              <a:t>3</a:t>
            </a:r>
            <a:r>
              <a:rPr lang="zh-CN" altLang="en-US" sz="2800" dirty="0"/>
              <a:t>个</a:t>
            </a:r>
            <a:r>
              <a:rPr lang="en-US" altLang="zh-CN" sz="2800" dirty="0"/>
              <a:t>H</a:t>
            </a:r>
            <a:r>
              <a:rPr lang="zh-CN" altLang="en-US" sz="2800" dirty="0"/>
              <a:t>原子的</a:t>
            </a:r>
            <a:r>
              <a:rPr lang="en-US" altLang="zh-CN" sz="2800" dirty="0"/>
              <a:t>1s</a:t>
            </a:r>
            <a:r>
              <a:rPr lang="zh-CN" altLang="en-US" sz="2800" dirty="0"/>
              <a:t>轨域分别重叠形成</a:t>
            </a:r>
            <a:r>
              <a:rPr lang="en-US" altLang="zh-CN" sz="2800" dirty="0"/>
              <a:t>3</a:t>
            </a:r>
            <a:r>
              <a:rPr lang="zh-CN" altLang="en-US" sz="2800" dirty="0"/>
              <a:t>个</a:t>
            </a:r>
            <a:r>
              <a:rPr lang="en-US" altLang="zh-CN" sz="2800" dirty="0"/>
              <a:t>N—H </a:t>
            </a:r>
            <a:r>
              <a:rPr lang="zh-CN" altLang="en-US" sz="2800" dirty="0"/>
              <a:t>共价键，另一个</a:t>
            </a:r>
            <a:r>
              <a:rPr lang="en-US" altLang="zh-CN" sz="2800" dirty="0"/>
              <a:t>sp</a:t>
            </a:r>
            <a:r>
              <a:rPr lang="en-US" altLang="zh-CN" sz="2800" baseline="30000" dirty="0"/>
              <a:t>3</a:t>
            </a:r>
            <a:r>
              <a:rPr lang="en-US" altLang="zh-CN" sz="2800" dirty="0"/>
              <a:t> </a:t>
            </a:r>
            <a:r>
              <a:rPr lang="zh-CN" altLang="en-US" sz="2800" dirty="0"/>
              <a:t>杂化轨域则含有一对孤对电子。这</a:t>
            </a:r>
            <a:r>
              <a:rPr lang="en-US" altLang="zh-CN" sz="2800" dirty="0"/>
              <a:t>4</a:t>
            </a:r>
            <a:r>
              <a:rPr lang="zh-CN" altLang="en-US" sz="2800" dirty="0"/>
              <a:t>对电子对应指向正四面体的每一角，键角应为</a:t>
            </a:r>
            <a:r>
              <a:rPr lang="en-US" altLang="zh-CN" sz="2800" dirty="0"/>
              <a:t>109.5</a:t>
            </a:r>
            <a:r>
              <a:rPr lang="en-US" altLang="zh-CN" sz="2800" baseline="30000" dirty="0"/>
              <a:t>o</a:t>
            </a:r>
            <a:r>
              <a:rPr lang="zh-CN" altLang="en-US" sz="2800" baseline="30000" dirty="0"/>
              <a:t> </a:t>
            </a:r>
            <a:r>
              <a:rPr lang="zh-CN" altLang="en-US" sz="2800" dirty="0"/>
              <a:t> ，但由于孤对电子与共用电子对间的斥力大于共用电子之间的斥力，而使得</a:t>
            </a:r>
            <a:r>
              <a:rPr lang="en-US" altLang="zh-CN" sz="2800" dirty="0"/>
              <a:t>3</a:t>
            </a:r>
            <a:r>
              <a:rPr lang="zh-CN" altLang="en-US" sz="2800" dirty="0"/>
              <a:t>个</a:t>
            </a:r>
            <a:r>
              <a:rPr lang="en-US" altLang="zh-CN" sz="2800" dirty="0"/>
              <a:t>N—H </a:t>
            </a:r>
            <a:r>
              <a:rPr lang="zh-CN" altLang="en-US" sz="2800" dirty="0"/>
              <a:t>键较为靠近，</a:t>
            </a:r>
            <a:r>
              <a:rPr lang="en-US" altLang="zh-CN" sz="2800" dirty="0"/>
              <a:t>N—H </a:t>
            </a:r>
            <a:r>
              <a:rPr lang="zh-CN" altLang="en-US" sz="2800" dirty="0"/>
              <a:t>键间的键角降至</a:t>
            </a:r>
            <a:r>
              <a:rPr lang="en-US" altLang="zh-CN" sz="2800" dirty="0"/>
              <a:t>107</a:t>
            </a:r>
            <a:r>
              <a:rPr lang="en-US" altLang="zh-CN" sz="2800" baseline="30000" dirty="0"/>
              <a:t>o</a:t>
            </a:r>
            <a:r>
              <a:rPr lang="zh-CN" altLang="en-US" sz="2800" dirty="0"/>
              <a:t>。</a:t>
            </a:r>
            <a:endParaRPr lang="en-US" altLang="zh-CN" sz="3000" dirty="0"/>
          </a:p>
        </p:txBody>
      </p:sp>
      <p:grpSp>
        <p:nvGrpSpPr>
          <p:cNvPr id="19" name="Group 18"/>
          <p:cNvGrpSpPr/>
          <p:nvPr/>
        </p:nvGrpSpPr>
        <p:grpSpPr>
          <a:xfrm>
            <a:off x="3048000" y="2514600"/>
            <a:ext cx="1905000" cy="381000"/>
            <a:chOff x="3048000" y="2514600"/>
            <a:chExt cx="1905000" cy="381000"/>
          </a:xfrm>
        </p:grpSpPr>
        <p:sp>
          <p:nvSpPr>
            <p:cNvPr id="6" name="Rectangle 5"/>
            <p:cNvSpPr/>
            <p:nvPr/>
          </p:nvSpPr>
          <p:spPr>
            <a:xfrm>
              <a:off x="3048000" y="2514600"/>
              <a:ext cx="457200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" name="Group 6"/>
            <p:cNvGrpSpPr/>
            <p:nvPr/>
          </p:nvGrpSpPr>
          <p:grpSpPr>
            <a:xfrm>
              <a:off x="3505200" y="2514600"/>
              <a:ext cx="1447800" cy="381000"/>
              <a:chOff x="6019800" y="2895600"/>
              <a:chExt cx="1828800" cy="533400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6019800" y="2895600"/>
                <a:ext cx="6096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6629400" y="2895600"/>
                <a:ext cx="6096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7239000" y="2895600"/>
                <a:ext cx="6096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2" name="Straight Arrow Connector 11"/>
            <p:cNvCxnSpPr/>
            <p:nvPr/>
          </p:nvCxnSpPr>
          <p:spPr>
            <a:xfrm rot="5400000" flipH="1" flipV="1">
              <a:off x="3048000" y="2666206"/>
              <a:ext cx="3048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rot="5400000">
              <a:off x="3199606" y="2666206"/>
              <a:ext cx="3048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rot="5400000" flipH="1" flipV="1">
              <a:off x="3505994" y="2666206"/>
              <a:ext cx="3048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5400000" flipH="1" flipV="1">
              <a:off x="3961606" y="2666206"/>
              <a:ext cx="3048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rot="5400000" flipH="1" flipV="1">
              <a:off x="4496594" y="2666206"/>
              <a:ext cx="3048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dirty="0"/>
              <a:t>统考题</a:t>
            </a:r>
            <a:endParaRPr lang="en-US" altLang="zh-CN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endParaRPr lang="en-US" altLang="zh-CN" sz="3000" dirty="0"/>
          </a:p>
          <a:p>
            <a:pPr marL="514350" indent="-514350">
              <a:buAutoNum type="arabicPeriod"/>
            </a:pPr>
            <a:r>
              <a:rPr lang="zh-CN" altLang="en-US" sz="3000" dirty="0"/>
              <a:t>下图是碳的基态电子排布式。</a:t>
            </a:r>
            <a:r>
              <a:rPr lang="en-US" altLang="zh-CN" sz="3000" dirty="0"/>
              <a:t>C</a:t>
            </a:r>
            <a:r>
              <a:rPr lang="zh-CN" altLang="en-US" sz="3000" dirty="0"/>
              <a:t>原子利用哪些轨域形成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</a:t>
            </a:r>
            <a:r>
              <a:rPr lang="zh-CN" altLang="en-US" sz="3000" dirty="0"/>
              <a:t>分子中的共价键？</a:t>
            </a:r>
            <a:endParaRPr lang="en-US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			</a:t>
            </a:r>
            <a:r>
              <a:rPr lang="en-US" altLang="zh-CN" sz="3000" baseline="30000" dirty="0"/>
              <a:t>1s	2s	2p</a:t>
            </a:r>
          </a:p>
          <a:p>
            <a:pPr marL="514350" indent="-514350">
              <a:buNone/>
            </a:pPr>
            <a:r>
              <a:rPr lang="en-US" altLang="zh-CN" sz="3000" baseline="30000" dirty="0"/>
              <a:t>			     </a:t>
            </a:r>
            <a:r>
              <a:rPr lang="en-US" altLang="zh-CN" sz="3000" baseline="-25000" dirty="0"/>
              <a:t>I    </a:t>
            </a:r>
            <a:r>
              <a:rPr lang="en-US" altLang="zh-CN" sz="3000" dirty="0"/>
              <a:t>     </a:t>
            </a:r>
            <a:r>
              <a:rPr lang="en-US" altLang="zh-CN" sz="3000" baseline="-25000" dirty="0"/>
              <a:t>II </a:t>
            </a:r>
            <a:r>
              <a:rPr lang="en-US" altLang="zh-CN" sz="3000" dirty="0"/>
              <a:t>       </a:t>
            </a:r>
            <a:r>
              <a:rPr lang="en-US" altLang="zh-CN" sz="3000" baseline="-25000" dirty="0"/>
              <a:t>III</a:t>
            </a:r>
            <a:r>
              <a:rPr lang="en-US" altLang="zh-CN" sz="3000" dirty="0"/>
              <a:t>   </a:t>
            </a:r>
            <a:r>
              <a:rPr lang="en-US" altLang="zh-CN" sz="3000" baseline="-25000" dirty="0"/>
              <a:t>IV</a:t>
            </a:r>
            <a:r>
              <a:rPr lang="en-US" altLang="zh-CN" sz="3000" dirty="0"/>
              <a:t>    </a:t>
            </a:r>
            <a:r>
              <a:rPr lang="en-US" altLang="zh-CN" sz="3000" baseline="-25000" dirty="0"/>
              <a:t>V </a:t>
            </a:r>
            <a:r>
              <a:rPr lang="en-US" altLang="zh-CN" sz="3000" dirty="0"/>
              <a:t> </a:t>
            </a:r>
          </a:p>
          <a:p>
            <a:pPr marL="514350" indent="-514350">
              <a:buNone/>
            </a:pPr>
            <a:r>
              <a:rPr lang="en-US" altLang="zh-CN" sz="3000" dirty="0"/>
              <a:t>A 	I,IV,V</a:t>
            </a:r>
          </a:p>
          <a:p>
            <a:pPr marL="514350" indent="-514350">
              <a:buNone/>
            </a:pPr>
            <a:r>
              <a:rPr lang="en-US" altLang="zh-CN" sz="3000" dirty="0"/>
              <a:t>B 	II,III,V</a:t>
            </a:r>
          </a:p>
          <a:p>
            <a:pPr marL="514350" indent="-514350">
              <a:buNone/>
            </a:pPr>
            <a:r>
              <a:rPr lang="en-US" altLang="zh-CN" sz="3000" dirty="0"/>
              <a:t>C 	I,II,III,IV</a:t>
            </a:r>
          </a:p>
          <a:p>
            <a:pPr marL="514350" indent="-514350">
              <a:buNone/>
            </a:pPr>
            <a:r>
              <a:rPr lang="en-US" altLang="zh-CN" sz="3000" dirty="0"/>
              <a:t>D 	II,III,IV,V</a:t>
            </a:r>
          </a:p>
          <a:p>
            <a:pPr marL="514350" indent="-514350">
              <a:buNone/>
            </a:pPr>
            <a:r>
              <a:rPr lang="en-US" altLang="zh-CN" sz="3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D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8000" y="28956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733800" y="2895600"/>
            <a:ext cx="1447800" cy="381000"/>
            <a:chOff x="6019800" y="2895600"/>
            <a:chExt cx="1828800" cy="533400"/>
          </a:xfrm>
        </p:grpSpPr>
        <p:sp>
          <p:nvSpPr>
            <p:cNvPr id="9" name="Rectangle 8"/>
            <p:cNvSpPr/>
            <p:nvPr/>
          </p:nvSpPr>
          <p:spPr>
            <a:xfrm>
              <a:off x="60198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6294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239000" y="2895600"/>
              <a:ext cx="6096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Arrow Connector 11"/>
          <p:cNvCxnSpPr/>
          <p:nvPr/>
        </p:nvCxnSpPr>
        <p:spPr>
          <a:xfrm rot="5400000" flipH="1" flipV="1">
            <a:off x="3048000" y="3047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5400000">
            <a:off x="3199606" y="3047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5400000" flipH="1" flipV="1">
            <a:off x="3734594" y="3047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5400000" flipH="1" flipV="1">
            <a:off x="4190206" y="3047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286000" y="2895600"/>
            <a:ext cx="45720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 rot="5400000" flipH="1" flipV="1">
            <a:off x="2286000" y="3047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rot="5400000">
            <a:off x="2437606" y="3047206"/>
            <a:ext cx="3048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27.3 </a:t>
            </a:r>
            <a:r>
              <a:rPr lang="zh-CN" altLang="en-US" sz="4800" b="1" dirty="0">
                <a:latin typeface="+mn-ea"/>
              </a:rPr>
              <a:t>烷烃的同系物</a:t>
            </a:r>
            <a:endParaRPr lang="en-US" sz="4800" b="1" dirty="0"/>
          </a:p>
        </p:txBody>
      </p:sp>
      <p:pic>
        <p:nvPicPr>
          <p:cNvPr id="6" name="Content Placeholder 5" descr="wan1.jpg"/>
          <p:cNvPicPr>
            <a:picLocks noGrp="1" noChangeAspect="1"/>
          </p:cNvPicPr>
          <p:nvPr>
            <p:ph idx="1"/>
          </p:nvPr>
        </p:nvPicPr>
        <p:blipFill>
          <a:blip r:embed="rId3"/>
          <a:srcRect b="5128"/>
          <a:stretch>
            <a:fillRect/>
          </a:stretch>
        </p:blipFill>
        <p:spPr>
          <a:xfrm>
            <a:off x="457200" y="838200"/>
            <a:ext cx="8305800" cy="6019800"/>
          </a:xfr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27.3 </a:t>
            </a:r>
            <a:r>
              <a:rPr lang="zh-CN" altLang="en-US" sz="4800" b="1" dirty="0">
                <a:latin typeface="+mn-ea"/>
              </a:rPr>
              <a:t>烷烃的同系物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3000" dirty="0"/>
              <a:t>	</a:t>
            </a:r>
            <a:r>
              <a:rPr lang="zh-CN" altLang="en-US" sz="3000" dirty="0"/>
              <a:t>名称</a:t>
            </a:r>
            <a:r>
              <a:rPr lang="en-US" altLang="zh-CN" sz="3000" dirty="0"/>
              <a:t>	</a:t>
            </a:r>
            <a:r>
              <a:rPr lang="zh-CN" altLang="en-US" sz="3000" dirty="0"/>
              <a:t>化学式</a:t>
            </a:r>
            <a:r>
              <a:rPr lang="en-US" altLang="zh-CN" sz="3000" dirty="0"/>
              <a:t>	</a:t>
            </a:r>
            <a:r>
              <a:rPr lang="zh-CN" altLang="en-US" sz="3000" dirty="0"/>
              <a:t>结构简式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甲烷</a:t>
            </a:r>
            <a:r>
              <a:rPr lang="en-US" altLang="zh-CN" sz="3000" dirty="0"/>
              <a:t>	CH</a:t>
            </a:r>
            <a:r>
              <a:rPr lang="en-US" altLang="zh-CN" sz="3000" baseline="-25000" dirty="0"/>
              <a:t>4	</a:t>
            </a:r>
            <a:r>
              <a:rPr lang="en-US" altLang="zh-CN" sz="3000" dirty="0"/>
              <a:t> 	</a:t>
            </a:r>
            <a:r>
              <a:rPr lang="en-US" altLang="zh-CN" sz="3000" dirty="0" err="1"/>
              <a:t>CH</a:t>
            </a:r>
            <a:r>
              <a:rPr lang="en-US" altLang="zh-CN" sz="3000" baseline="-25000" dirty="0" err="1"/>
              <a:t>4</a:t>
            </a:r>
            <a:endParaRPr lang="en-US" altLang="zh-CN" sz="3000" baseline="-25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乙烷</a:t>
            </a:r>
            <a:r>
              <a:rPr lang="en-US" altLang="zh-CN" sz="3000" dirty="0"/>
              <a:t>	C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6</a:t>
            </a:r>
            <a:r>
              <a:rPr lang="en-US" altLang="zh-CN" sz="3000" dirty="0"/>
              <a:t> 		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丙烷</a:t>
            </a:r>
            <a:r>
              <a:rPr lang="en-US" altLang="zh-CN" sz="3000" dirty="0"/>
              <a:t>	C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8</a:t>
            </a:r>
            <a:r>
              <a:rPr lang="en-US" altLang="zh-CN" sz="3000" dirty="0"/>
              <a:t> 		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丁烷</a:t>
            </a:r>
            <a:r>
              <a:rPr lang="en-US" altLang="zh-CN" sz="3000" dirty="0"/>
              <a:t>	C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10</a:t>
            </a:r>
            <a:r>
              <a:rPr lang="en-US" altLang="zh-CN" sz="3000" dirty="0"/>
              <a:t> 		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戊烷</a:t>
            </a:r>
            <a:r>
              <a:rPr lang="en-US" altLang="zh-CN" sz="3000" dirty="0"/>
              <a:t>	C</a:t>
            </a:r>
            <a:r>
              <a:rPr lang="en-US" altLang="zh-CN" sz="3000" baseline="-25000" dirty="0"/>
              <a:t>5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12</a:t>
            </a:r>
            <a:r>
              <a:rPr lang="en-US" altLang="zh-CN" sz="3000" dirty="0"/>
              <a:t> 		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endParaRPr lang="en-US" altLang="zh-CN" sz="3000" dirty="0"/>
          </a:p>
        </p:txBody>
      </p:sp>
      <p:sp>
        <p:nvSpPr>
          <p:cNvPr id="6" name="Rounded Rectangle 5"/>
          <p:cNvSpPr/>
          <p:nvPr/>
        </p:nvSpPr>
        <p:spPr>
          <a:xfrm>
            <a:off x="2133600" y="2133600"/>
            <a:ext cx="1066800" cy="4572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4038600" y="2133600"/>
            <a:ext cx="2971800" cy="4572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2133600" y="2743200"/>
            <a:ext cx="1066800" cy="4572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4038600" y="2743200"/>
            <a:ext cx="2971800" cy="4572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2133600" y="3276600"/>
            <a:ext cx="1066800" cy="4572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4038600" y="3276600"/>
            <a:ext cx="2971800" cy="4572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2133600" y="3886200"/>
            <a:ext cx="1066800" cy="4572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4038600" y="3886200"/>
            <a:ext cx="2971800" cy="4572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27.3 </a:t>
            </a:r>
            <a:r>
              <a:rPr lang="zh-CN" altLang="en-US" sz="4800" b="1" dirty="0">
                <a:latin typeface="+mn-ea"/>
              </a:rPr>
              <a:t>烷烃的同系物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烷烃通式：</a:t>
            </a:r>
            <a:r>
              <a:rPr lang="en-US" altLang="zh-CN" sz="3000" dirty="0" err="1"/>
              <a:t>C</a:t>
            </a:r>
            <a:r>
              <a:rPr lang="en-US" altLang="zh-CN" sz="3000" baseline="-25000" dirty="0" err="1"/>
              <a:t>n</a:t>
            </a:r>
            <a:r>
              <a:rPr lang="en-US" altLang="zh-CN" sz="3000" baseline="-25000" dirty="0"/>
              <a:t> 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2n+2</a:t>
            </a:r>
            <a:r>
              <a:rPr lang="en-US" altLang="zh-CN" sz="3000" dirty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同系列：在组成上相差一个或多个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  <a:r>
              <a:rPr lang="zh-CN" altLang="en-US" sz="3000" dirty="0"/>
              <a:t>的一系列化合物。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同系物：同系列中的化合物，结构和性质相似。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特征：</a:t>
            </a:r>
            <a:r>
              <a:rPr lang="en-US" altLang="zh-CN" sz="3000" dirty="0"/>
              <a:t>1. </a:t>
            </a:r>
            <a:r>
              <a:rPr lang="zh-CN" altLang="en-US" sz="3000" dirty="0"/>
              <a:t>具有相同的官能团</a:t>
            </a:r>
            <a:endParaRPr lang="en-MY" altLang="zh-CN" sz="3000" dirty="0"/>
          </a:p>
          <a:p>
            <a:pPr marL="0" indent="0">
              <a:buNone/>
            </a:pPr>
            <a:r>
              <a:rPr lang="en-MY" altLang="zh-CN" sz="3000" dirty="0"/>
              <a:t>	       </a:t>
            </a:r>
            <a:r>
              <a:rPr lang="en-US" altLang="zh-CN" sz="3000" dirty="0"/>
              <a:t>2.</a:t>
            </a:r>
            <a:r>
              <a:rPr lang="zh-CN" altLang="en-US" sz="3000" dirty="0"/>
              <a:t>在组成上相差一个或多个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</a:p>
          <a:p>
            <a:pPr marL="0" indent="0">
              <a:buNone/>
            </a:pPr>
            <a:r>
              <a:rPr lang="en-US" altLang="zh-CN" sz="3000" dirty="0"/>
              <a:t>	       3</a:t>
            </a:r>
            <a:r>
              <a:rPr lang="en-MY" altLang="zh-CN" sz="3000" dirty="0"/>
              <a:t>. </a:t>
            </a:r>
            <a:r>
              <a:rPr lang="zh-CN" altLang="en-US" sz="3000" dirty="0"/>
              <a:t>具有相同的通式</a:t>
            </a:r>
            <a:endParaRPr lang="en-MY" altLang="zh-CN" sz="30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/>
              <a:t>必然：可用相同方法制取</a:t>
            </a:r>
            <a:endParaRPr lang="en-MY" altLang="zh-CN" sz="3000" dirty="0"/>
          </a:p>
          <a:p>
            <a:pPr marL="0" indent="0">
              <a:buNone/>
            </a:pPr>
            <a:r>
              <a:rPr lang="en-MY" altLang="zh-CN" sz="3000" dirty="0"/>
              <a:t>	</a:t>
            </a:r>
            <a:r>
              <a:rPr lang="zh-CN" altLang="en-US" sz="3000" dirty="0"/>
              <a:t>物理性质随式量增大而呈现规律性的变化</a:t>
            </a:r>
            <a:endParaRPr lang="en-US" altLang="zh-CN" sz="2600" dirty="0"/>
          </a:p>
          <a:p>
            <a:pPr lvl="1">
              <a:buFont typeface="Wingdings" pitchFamily="2" charset="2"/>
              <a:buChar char="Ø"/>
            </a:pPr>
            <a:endParaRPr lang="en-US" altLang="zh-CN" sz="26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27.3 </a:t>
            </a:r>
            <a:r>
              <a:rPr lang="zh-CN" altLang="en-US" sz="4800" b="1" dirty="0">
                <a:latin typeface="+mn-ea"/>
              </a:rPr>
              <a:t>烷烃的同系物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3000" u="sng" dirty="0"/>
              <a:t>问题解决</a:t>
            </a:r>
            <a:endParaRPr lang="en-MY" altLang="zh-CN" sz="3000" u="sng" dirty="0"/>
          </a:p>
          <a:p>
            <a:pPr marL="514350" indent="-514350">
              <a:buAutoNum type="arabicPeriod"/>
            </a:pPr>
            <a:r>
              <a:rPr lang="zh-CN" altLang="en-US" sz="3000" dirty="0"/>
              <a:t>否，官能团不同。</a:t>
            </a:r>
            <a:endParaRPr lang="en-MY" altLang="zh-CN" sz="3000" dirty="0"/>
          </a:p>
          <a:p>
            <a:pPr marL="0" indent="0">
              <a:buNone/>
            </a:pPr>
            <a:r>
              <a:rPr lang="en-MY" altLang="zh-CN" sz="3000" dirty="0"/>
              <a:t>      </a:t>
            </a:r>
            <a:r>
              <a:rPr lang="zh-CN" altLang="en-US" sz="3000" dirty="0"/>
              <a:t>两者互为同分异构体</a:t>
            </a:r>
            <a:endParaRPr lang="en-MY" altLang="zh-CN" sz="3000" dirty="0"/>
          </a:p>
          <a:p>
            <a:pPr marL="514350" indent="-514350">
              <a:buAutoNum type="arabicPeriod" startAt="2"/>
            </a:pPr>
            <a:r>
              <a:rPr lang="zh-CN" altLang="en-US" sz="3000" dirty="0"/>
              <a:t>否，通式不同。</a:t>
            </a:r>
            <a:endParaRPr lang="en-MY" altLang="zh-CN" sz="3000" dirty="0"/>
          </a:p>
          <a:p>
            <a:pPr marL="0" indent="0">
              <a:buNone/>
            </a:pPr>
            <a:r>
              <a:rPr lang="en-MY" altLang="zh-CN" sz="3000" dirty="0"/>
              <a:t>       </a:t>
            </a:r>
            <a:r>
              <a:rPr lang="zh-CN" altLang="en-US" sz="3000" dirty="0"/>
              <a:t>前者</a:t>
            </a:r>
            <a:r>
              <a:rPr lang="en-US" altLang="zh-CN" sz="3000" dirty="0" err="1"/>
              <a:t>C</a:t>
            </a:r>
            <a:r>
              <a:rPr lang="en-US" altLang="zh-CN" sz="3000" baseline="-25000" dirty="0" err="1"/>
              <a:t>n</a:t>
            </a:r>
            <a:r>
              <a:rPr lang="en-US" altLang="zh-CN" sz="3000" dirty="0" err="1"/>
              <a:t>H</a:t>
            </a:r>
            <a:r>
              <a:rPr lang="en-US" altLang="zh-CN" sz="3000" dirty="0"/>
              <a:t> </a:t>
            </a:r>
            <a:r>
              <a:rPr lang="en-US" altLang="zh-CN" sz="3000" baseline="-25000" dirty="0"/>
              <a:t>2n+1</a:t>
            </a:r>
            <a:r>
              <a:rPr lang="en-US" altLang="zh-CN" sz="3000" dirty="0"/>
              <a:t>OH</a:t>
            </a:r>
            <a:r>
              <a:rPr lang="zh-CN" altLang="en-US" sz="3000" dirty="0"/>
              <a:t>、后者</a:t>
            </a:r>
            <a:r>
              <a:rPr lang="en-US" altLang="zh-CN" sz="3000" dirty="0" err="1"/>
              <a:t>C</a:t>
            </a:r>
            <a:r>
              <a:rPr lang="en-US" altLang="zh-CN" sz="3000" baseline="-25000" dirty="0" err="1"/>
              <a:t>n</a:t>
            </a:r>
            <a:r>
              <a:rPr lang="en-US" altLang="zh-CN" sz="3000" dirty="0" err="1"/>
              <a:t>H</a:t>
            </a:r>
            <a:r>
              <a:rPr lang="en-US" altLang="zh-CN" sz="3000" dirty="0"/>
              <a:t> </a:t>
            </a:r>
            <a:r>
              <a:rPr lang="en-US" altLang="zh-CN" sz="3000" baseline="-25000" dirty="0"/>
              <a:t>2n-1</a:t>
            </a:r>
            <a:r>
              <a:rPr lang="en-US" altLang="zh-CN" sz="3000" dirty="0"/>
              <a:t>OH </a:t>
            </a:r>
          </a:p>
          <a:p>
            <a:pPr marL="0" indent="0">
              <a:buNone/>
            </a:pPr>
            <a:r>
              <a:rPr lang="en-US" altLang="zh-CN" sz="3000" dirty="0"/>
              <a:t>3. </a:t>
            </a:r>
            <a:r>
              <a:rPr lang="zh-CN" altLang="en-US" sz="3000" dirty="0"/>
              <a:t>否，没差一个或多个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endParaRPr lang="en-US" altLang="zh-CN" sz="3000" dirty="0"/>
          </a:p>
          <a:p>
            <a:pPr marL="0" indent="0">
              <a:buNone/>
            </a:pPr>
            <a:r>
              <a:rPr lang="en-MY" altLang="zh-CN" sz="3000" dirty="0"/>
              <a:t>       </a:t>
            </a:r>
            <a:r>
              <a:rPr lang="zh-CN" altLang="en-US" sz="3000" dirty="0"/>
              <a:t>两者互为同分异构体</a:t>
            </a:r>
            <a:endParaRPr lang="en-MY" altLang="zh-CN" sz="3000" dirty="0"/>
          </a:p>
          <a:p>
            <a:pPr marL="0" indent="0">
              <a:buNone/>
            </a:pPr>
            <a:r>
              <a:rPr lang="en-MY" altLang="zh-CN" sz="3000" dirty="0"/>
              <a:t>4. </a:t>
            </a:r>
            <a:r>
              <a:rPr lang="zh-CN" altLang="en-US" sz="3000" dirty="0"/>
              <a:t>是</a:t>
            </a:r>
            <a:endParaRPr lang="en-MY" altLang="zh-CN" sz="3000" dirty="0"/>
          </a:p>
          <a:p>
            <a:pPr marL="0" indent="0">
              <a:buNone/>
            </a:pPr>
            <a:r>
              <a:rPr lang="en-US" altLang="zh-CN" sz="3000" dirty="0"/>
              <a:t>5. </a:t>
            </a:r>
            <a:r>
              <a:rPr lang="zh-CN" altLang="en-US" sz="3000" dirty="0"/>
              <a:t>是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11871593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27.3 </a:t>
            </a:r>
            <a:r>
              <a:rPr lang="zh-CN" altLang="en-US" sz="4800" b="1" dirty="0">
                <a:latin typeface="+mn-ea"/>
              </a:rPr>
              <a:t>烷烃的同系物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烃基</a:t>
            </a:r>
            <a:r>
              <a:rPr lang="en-US" altLang="zh-CN" sz="3000" dirty="0"/>
              <a:t>(</a:t>
            </a:r>
            <a:r>
              <a:rPr lang="en-US" altLang="zh-CN" sz="3000" dirty="0">
                <a:sym typeface="Wingdings" pitchFamily="2" charset="2"/>
              </a:rPr>
              <a:t>—</a:t>
            </a:r>
            <a:r>
              <a:rPr lang="en-US" altLang="zh-CN" sz="3000" dirty="0"/>
              <a:t>R)</a:t>
            </a:r>
            <a:r>
              <a:rPr lang="zh-CN" altLang="en-US" sz="3000" dirty="0"/>
              <a:t>：烃分子失去一个</a:t>
            </a:r>
            <a:r>
              <a:rPr lang="en-US" altLang="zh-CN" sz="3000" dirty="0"/>
              <a:t>H</a:t>
            </a:r>
            <a:r>
              <a:rPr lang="zh-CN" altLang="en-US" sz="3000" dirty="0"/>
              <a:t>原子后剩余的部分。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烷基</a:t>
            </a:r>
            <a:r>
              <a:rPr lang="en-MY" altLang="zh-CN" sz="3000" dirty="0"/>
              <a:t>(</a:t>
            </a:r>
            <a:r>
              <a:rPr lang="en-US" altLang="zh-CN" sz="3000" dirty="0">
                <a:sym typeface="Wingdings" pitchFamily="2" charset="2"/>
              </a:rPr>
              <a:t>—</a:t>
            </a:r>
            <a:r>
              <a:rPr lang="en-MY" altLang="zh-CN" sz="3000" dirty="0"/>
              <a:t>C</a:t>
            </a:r>
            <a:r>
              <a:rPr lang="en-MY" altLang="zh-CN" sz="3000" baseline="-25000" dirty="0"/>
              <a:t>n</a:t>
            </a:r>
            <a:r>
              <a:rPr lang="en-MY" altLang="zh-CN" sz="3000" dirty="0"/>
              <a:t>H</a:t>
            </a:r>
            <a:r>
              <a:rPr lang="en-MY" altLang="zh-CN" sz="3000" baseline="-25000" dirty="0"/>
              <a:t>2n+1</a:t>
            </a:r>
            <a:r>
              <a:rPr lang="en-MY" altLang="zh-CN" sz="3000" dirty="0"/>
              <a:t>) </a:t>
            </a:r>
            <a:r>
              <a:rPr lang="zh-CN" altLang="en-US" sz="3000" dirty="0"/>
              <a:t>：烷烃失去一个</a:t>
            </a:r>
            <a:r>
              <a:rPr lang="en-US" altLang="zh-CN" sz="3000" dirty="0"/>
              <a:t>H</a:t>
            </a:r>
            <a:r>
              <a:rPr lang="zh-CN" altLang="en-US" sz="3000" dirty="0"/>
              <a:t>原子后剩余的原子团。</a:t>
            </a:r>
            <a:endParaRPr lang="en-US" altLang="zh-CN" sz="3000" dirty="0"/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dirty="0"/>
              <a:t>甲基</a:t>
            </a:r>
            <a:r>
              <a:rPr lang="en-US" altLang="zh-CN" sz="2600" dirty="0"/>
              <a:t>—CH</a:t>
            </a:r>
            <a:r>
              <a:rPr lang="en-US" altLang="zh-CN" sz="2600" baseline="-25000" dirty="0"/>
              <a:t>3</a:t>
            </a:r>
            <a:r>
              <a:rPr lang="en-US" altLang="zh-CN" sz="2600" dirty="0"/>
              <a:t>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dirty="0"/>
              <a:t>乙基</a:t>
            </a:r>
            <a:r>
              <a:rPr lang="en-US" altLang="zh-CN" sz="2600" dirty="0"/>
              <a:t>—CH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CH</a:t>
            </a:r>
            <a:r>
              <a:rPr lang="en-US" altLang="zh-CN" sz="2600" baseline="-25000" dirty="0"/>
              <a:t>3</a:t>
            </a:r>
            <a:r>
              <a:rPr lang="en-US" altLang="zh-CN" sz="2600" dirty="0"/>
              <a:t>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dirty="0"/>
              <a:t>丙基</a:t>
            </a:r>
            <a:r>
              <a:rPr lang="en-US" altLang="zh-CN" sz="2600" dirty="0"/>
              <a:t>—CH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CH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CH</a:t>
            </a:r>
            <a:r>
              <a:rPr lang="en-US" altLang="zh-CN" sz="2600" baseline="-25000" dirty="0"/>
              <a:t>3</a:t>
            </a:r>
            <a:r>
              <a:rPr lang="en-US" altLang="zh-CN" sz="2600" dirty="0"/>
              <a:t>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2600" dirty="0"/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2600" dirty="0"/>
          </a:p>
        </p:txBody>
      </p:sp>
    </p:spTree>
    <p:extLst>
      <p:ext uri="{BB962C8B-B14F-4D97-AF65-F5344CB8AC3E}">
        <p14:creationId xmlns:p14="http://schemas.microsoft.com/office/powerpoint/2010/main" val="36907722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27.3 </a:t>
            </a:r>
            <a:r>
              <a:rPr lang="zh-CN" altLang="en-US" sz="4800" b="1" dirty="0">
                <a:latin typeface="+mn-ea"/>
              </a:rPr>
              <a:t>烷烃的同系物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3000" u="sng" dirty="0"/>
              <a:t>交流分享</a:t>
            </a:r>
            <a:endParaRPr lang="en-US" altLang="zh-CN" sz="3000" dirty="0"/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zh-CN" altLang="en-US" sz="3000" dirty="0"/>
              <a:t>乙烷 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6</a:t>
            </a:r>
            <a:r>
              <a:rPr lang="en-US" altLang="zh-CN" sz="3000" dirty="0"/>
              <a:t> </a:t>
            </a:r>
            <a:r>
              <a:rPr lang="zh-CN" altLang="en-US" sz="3000" dirty="0"/>
              <a:t>，通式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n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2n+2</a:t>
            </a:r>
            <a:r>
              <a:rPr lang="en-US" altLang="zh-CN" sz="3000" dirty="0"/>
              <a:t>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000" dirty="0"/>
              <a:t>      </a:t>
            </a:r>
            <a:r>
              <a:rPr lang="zh-CN" altLang="en-US" sz="3000" dirty="0"/>
              <a:t>环丙烷 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6</a:t>
            </a:r>
            <a:r>
              <a:rPr lang="zh-CN" altLang="en-US" sz="3000" dirty="0"/>
              <a:t>，通式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n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2n</a:t>
            </a:r>
            <a:endParaRPr lang="en-US" altLang="zh-CN" sz="3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3000" dirty="0"/>
              <a:t>两者不是同系物，它们的通式不一样。</a:t>
            </a:r>
            <a:endParaRPr lang="en-MY" altLang="zh-CN" sz="3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000" dirty="0"/>
              <a:t>2. </a:t>
            </a:r>
            <a:r>
              <a:rPr lang="zh-CN" altLang="en-US" sz="3000" dirty="0"/>
              <a:t>丙烯 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=CHCH</a:t>
            </a:r>
            <a:r>
              <a:rPr lang="en-US" altLang="zh-CN" sz="3000" baseline="-25000" dirty="0"/>
              <a:t>3</a:t>
            </a:r>
            <a:r>
              <a:rPr lang="zh-CN" altLang="en-US" sz="3000" dirty="0"/>
              <a:t>，通式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n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2n</a:t>
            </a:r>
            <a:endParaRPr lang="en-US" altLang="zh-CN" sz="3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000" dirty="0"/>
              <a:t> </a:t>
            </a:r>
            <a:r>
              <a:rPr lang="zh-CN" altLang="en-US" sz="3000" dirty="0"/>
              <a:t>环丁烷 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8</a:t>
            </a:r>
            <a:r>
              <a:rPr lang="zh-CN" altLang="en-US" sz="3000" dirty="0"/>
              <a:t>，通式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n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2n</a:t>
            </a:r>
            <a:r>
              <a:rPr lang="en-US" altLang="zh-CN" sz="3000" dirty="0"/>
              <a:t>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3000" dirty="0"/>
              <a:t>两者不是同系物。</a:t>
            </a:r>
            <a:endParaRPr lang="en-MY" altLang="zh-CN" sz="3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3000" dirty="0"/>
              <a:t>两者通式虽然相同，但其官能团不同。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9039914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>
                <a:latin typeface="+mn-ea"/>
              </a:rPr>
              <a:t>思考题 </a:t>
            </a:r>
            <a:r>
              <a:rPr lang="en-US" altLang="zh-CN" sz="4800" b="1" dirty="0">
                <a:latin typeface="+mn-ea"/>
              </a:rPr>
              <a:t>27c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en-US" altLang="zh-CN" sz="3000" dirty="0"/>
              <a:t>     A </a:t>
            </a:r>
            <a:r>
              <a:rPr lang="zh-CN" altLang="en-US" sz="3000" dirty="0"/>
              <a:t>官能团不同</a:t>
            </a:r>
            <a:endParaRPr lang="en-US" altLang="zh-CN" sz="3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000" dirty="0"/>
              <a:t>	B </a:t>
            </a:r>
            <a:r>
              <a:rPr lang="zh-CN" altLang="en-US" sz="3000" dirty="0"/>
              <a:t>前者是苯酚，后者为醇</a:t>
            </a:r>
            <a:endParaRPr lang="en-MY" altLang="zh-CN" sz="3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MY" altLang="zh-CN" sz="3000" dirty="0"/>
              <a:t>	</a:t>
            </a:r>
            <a:r>
              <a:rPr lang="en-US" altLang="zh-CN" sz="3000" dirty="0"/>
              <a:t>C</a:t>
            </a:r>
            <a:r>
              <a:rPr lang="zh-CN" altLang="en-US" sz="3000" dirty="0"/>
              <a:t>没差一个或多个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endParaRPr lang="en-MY" altLang="zh-CN" sz="3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MY" altLang="zh-CN" sz="3000" dirty="0"/>
              <a:t>	   </a:t>
            </a:r>
            <a:r>
              <a:rPr lang="zh-CN" altLang="en-US" sz="3000" dirty="0"/>
              <a:t>互为同分异构体</a:t>
            </a:r>
            <a:endParaRPr lang="en-MY" altLang="zh-CN" sz="3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000" dirty="0"/>
              <a:t>Ans: D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000" dirty="0"/>
              <a:t>2. C  </a:t>
            </a:r>
            <a:r>
              <a:rPr lang="zh-CN" altLang="en-US" sz="3000" dirty="0"/>
              <a:t>少了两个</a:t>
            </a:r>
            <a:r>
              <a:rPr lang="en-US" altLang="zh-CN" sz="3000" dirty="0"/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5409640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27.4 </a:t>
            </a:r>
            <a:r>
              <a:rPr lang="zh-CN" altLang="en-US" sz="4800" b="1" dirty="0">
                <a:latin typeface="+mn-ea"/>
              </a:rPr>
              <a:t>烷烃的同分异构体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8991600" cy="58674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3000" dirty="0"/>
              <a:t>丁烷 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10</a:t>
            </a:r>
            <a:endParaRPr lang="en-US" altLang="zh-CN" sz="3000" dirty="0"/>
          </a:p>
          <a:p>
            <a:pPr marL="0" indent="0">
              <a:buNone/>
            </a:pPr>
            <a:r>
              <a:rPr lang="en-US" altLang="zh-CN" sz="3000" dirty="0"/>
              <a:t>	</a:t>
            </a:r>
            <a:r>
              <a:rPr lang="zh-CN" altLang="en-US" sz="3000" dirty="0"/>
              <a:t>结构式</a:t>
            </a:r>
            <a:r>
              <a:rPr lang="en-MY" altLang="zh-CN" sz="3000" dirty="0"/>
              <a:t>				</a:t>
            </a:r>
            <a:r>
              <a:rPr lang="zh-CN" altLang="en-US" sz="3000" dirty="0"/>
              <a:t>键线式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</p:txBody>
      </p:sp>
      <p:pic>
        <p:nvPicPr>
          <p:cNvPr id="6" name="Picture 5" descr="ding.jpg"/>
          <p:cNvPicPr>
            <a:picLocks noChangeAspect="1"/>
          </p:cNvPicPr>
          <p:nvPr/>
        </p:nvPicPr>
        <p:blipFill>
          <a:blip r:embed="rId3"/>
          <a:srcRect r="50909"/>
          <a:stretch>
            <a:fillRect/>
          </a:stretch>
        </p:blipFill>
        <p:spPr>
          <a:xfrm>
            <a:off x="295422" y="2140854"/>
            <a:ext cx="3650956" cy="2060807"/>
          </a:xfrm>
          <a:prstGeom prst="rect">
            <a:avLst/>
          </a:prstGeom>
        </p:spPr>
      </p:pic>
      <p:pic>
        <p:nvPicPr>
          <p:cNvPr id="7" name="Picture 6" descr="ding2.png"/>
          <p:cNvPicPr>
            <a:picLocks noChangeAspect="1"/>
          </p:cNvPicPr>
          <p:nvPr/>
        </p:nvPicPr>
        <p:blipFill>
          <a:blip r:embed="rId4"/>
          <a:srcRect b="59563"/>
          <a:stretch>
            <a:fillRect/>
          </a:stretch>
        </p:blipFill>
        <p:spPr>
          <a:xfrm>
            <a:off x="4838700" y="2168457"/>
            <a:ext cx="2819400" cy="1679643"/>
          </a:xfrm>
          <a:prstGeom prst="rect">
            <a:avLst/>
          </a:prstGeom>
        </p:spPr>
      </p:pic>
      <p:pic>
        <p:nvPicPr>
          <p:cNvPr id="8" name="Picture 7" descr="ding.jpg"/>
          <p:cNvPicPr>
            <a:picLocks noChangeAspect="1"/>
          </p:cNvPicPr>
          <p:nvPr/>
        </p:nvPicPr>
        <p:blipFill>
          <a:blip r:embed="rId3"/>
          <a:srcRect l="50000"/>
          <a:stretch>
            <a:fillRect/>
          </a:stretch>
        </p:blipFill>
        <p:spPr>
          <a:xfrm>
            <a:off x="609101" y="4201661"/>
            <a:ext cx="3962899" cy="2060807"/>
          </a:xfrm>
          <a:prstGeom prst="rect">
            <a:avLst/>
          </a:prstGeom>
        </p:spPr>
      </p:pic>
      <p:pic>
        <p:nvPicPr>
          <p:cNvPr id="9" name="Picture 8" descr="ding2.png"/>
          <p:cNvPicPr>
            <a:picLocks noChangeAspect="1"/>
          </p:cNvPicPr>
          <p:nvPr/>
        </p:nvPicPr>
        <p:blipFill>
          <a:blip r:embed="rId4"/>
          <a:srcRect t="38992" b="7221"/>
          <a:stretch>
            <a:fillRect/>
          </a:stretch>
        </p:blipFill>
        <p:spPr>
          <a:xfrm>
            <a:off x="4867422" y="4019599"/>
            <a:ext cx="3060113" cy="242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27.4 </a:t>
            </a:r>
            <a:r>
              <a:rPr lang="zh-CN" altLang="en-US" sz="4800" b="1" dirty="0">
                <a:latin typeface="+mn-ea"/>
              </a:rPr>
              <a:t>烷烃的同分异构体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8991600" cy="58674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3000" dirty="0"/>
              <a:t>戊烷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	C</a:t>
            </a:r>
            <a:r>
              <a:rPr lang="en-US" altLang="zh-CN" sz="3000" baseline="-25000" dirty="0"/>
              <a:t>5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12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</p:txBody>
      </p:sp>
      <p:pic>
        <p:nvPicPr>
          <p:cNvPr id="8" name="Picture 7" descr="d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1143000"/>
            <a:ext cx="7239000" cy="549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27.4 </a:t>
            </a:r>
            <a:r>
              <a:rPr lang="zh-CN" altLang="en-US" sz="4800" b="1" dirty="0">
                <a:latin typeface="+mn-ea"/>
              </a:rPr>
              <a:t>烷烃的同分异构体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8991600" cy="58674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3000" dirty="0"/>
              <a:t>烷烃通式：</a:t>
            </a:r>
            <a:r>
              <a:rPr lang="en-US" altLang="zh-CN" sz="3000" dirty="0" err="1"/>
              <a:t>C</a:t>
            </a:r>
            <a:r>
              <a:rPr lang="en-US" altLang="zh-CN" sz="3000" baseline="-25000" dirty="0" err="1"/>
              <a:t>n</a:t>
            </a:r>
            <a:r>
              <a:rPr lang="en-US" altLang="zh-CN" sz="3000" baseline="-25000" dirty="0"/>
              <a:t> 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2n+2</a:t>
            </a:r>
            <a:r>
              <a:rPr lang="en-US" altLang="zh-CN" sz="3000" dirty="0"/>
              <a:t> </a:t>
            </a:r>
            <a:r>
              <a:rPr lang="zh-CN" altLang="en-US" sz="3000" dirty="0"/>
              <a:t>，当 </a:t>
            </a:r>
            <a:r>
              <a:rPr lang="en-US" altLang="zh-CN" sz="3000" dirty="0"/>
              <a:t>n≥4 </a:t>
            </a:r>
            <a:r>
              <a:rPr lang="zh-CN" altLang="en-US" sz="3000" dirty="0"/>
              <a:t>时有同分异构体。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同分异构体：分子式相同，结构不同的多种化合物。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它们的物理和化学性质都有差异。</a:t>
            </a:r>
            <a:endParaRPr lang="en-US" altLang="zh-CN" sz="3000" dirty="0"/>
          </a:p>
        </p:txBody>
      </p:sp>
      <p:pic>
        <p:nvPicPr>
          <p:cNvPr id="6" name="Picture 5" descr="d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2590800"/>
            <a:ext cx="6400800" cy="4188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27.4 </a:t>
            </a:r>
            <a:r>
              <a:rPr lang="zh-CN" altLang="en-US" sz="4800" b="1" dirty="0">
                <a:latin typeface="+mn-ea"/>
              </a:rPr>
              <a:t>烷烃的同分异构体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89916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同分异构体的书写方法：</a:t>
            </a:r>
            <a:endParaRPr lang="en-MY" altLang="zh-CN" sz="30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3000" dirty="0"/>
              <a:t>先将所有</a:t>
            </a:r>
            <a:r>
              <a:rPr lang="en-US" altLang="zh-CN" sz="3000" dirty="0"/>
              <a:t>C</a:t>
            </a:r>
            <a:r>
              <a:rPr lang="zh-CN" altLang="en-US" sz="3000" dirty="0"/>
              <a:t>原子排成一条直连</a:t>
            </a:r>
            <a:endParaRPr lang="en-MY" altLang="zh-CN" sz="30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3000" dirty="0"/>
              <a:t>画出</a:t>
            </a:r>
            <a:r>
              <a:rPr lang="en-US" altLang="zh-CN" sz="3000" dirty="0"/>
              <a:t>n-1</a:t>
            </a:r>
            <a:r>
              <a:rPr lang="zh-CN" altLang="en-US" sz="3000" dirty="0"/>
              <a:t>个</a:t>
            </a:r>
            <a:r>
              <a:rPr lang="en-US" altLang="zh-CN" sz="3000" dirty="0"/>
              <a:t>C</a:t>
            </a:r>
            <a:r>
              <a:rPr lang="zh-CN" altLang="en-US" sz="3000" dirty="0"/>
              <a:t>原子的直连，一个</a:t>
            </a:r>
            <a:r>
              <a:rPr lang="en-US" altLang="zh-CN" sz="3000" dirty="0"/>
              <a:t>C</a:t>
            </a:r>
            <a:r>
              <a:rPr lang="zh-CN" altLang="en-US" sz="3000" dirty="0"/>
              <a:t>画在不同的位置上。</a:t>
            </a:r>
            <a:endParaRPr lang="en-MY" altLang="zh-CN" sz="30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3000" dirty="0"/>
              <a:t>依次减少直连上的</a:t>
            </a:r>
            <a:r>
              <a:rPr lang="en-US" altLang="zh-CN" sz="3000" dirty="0"/>
              <a:t>C</a:t>
            </a:r>
            <a:r>
              <a:rPr lang="zh-CN" altLang="en-US" sz="3000" dirty="0"/>
              <a:t>原子数，增加支链。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12420245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>
                <a:latin typeface="+mn-ea"/>
              </a:rPr>
              <a:t>思考题 </a:t>
            </a:r>
            <a:r>
              <a:rPr lang="en-US" altLang="zh-CN" sz="4800" b="1" dirty="0">
                <a:latin typeface="+mn-ea"/>
              </a:rPr>
              <a:t>27d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8991600" cy="58674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US" altLang="zh-CN" sz="3000" dirty="0"/>
              <a:t>A </a:t>
            </a:r>
            <a:r>
              <a:rPr lang="zh-CN" altLang="en-US" sz="3000" dirty="0"/>
              <a:t>同素异形体</a:t>
            </a:r>
            <a:endParaRPr lang="en-MY" altLang="zh-CN" sz="3000" dirty="0"/>
          </a:p>
          <a:p>
            <a:pPr marL="0" indent="0">
              <a:buNone/>
            </a:pPr>
            <a:r>
              <a:rPr lang="en-MY" altLang="zh-CN" sz="3000" dirty="0"/>
              <a:t>      </a:t>
            </a:r>
            <a:r>
              <a:rPr lang="en-US" altLang="zh-CN" sz="3000" dirty="0"/>
              <a:t>B </a:t>
            </a:r>
            <a:r>
              <a:rPr lang="zh-CN" altLang="en-US" sz="3000" dirty="0"/>
              <a:t>同位素</a:t>
            </a:r>
            <a:endParaRPr lang="en-MY" altLang="zh-CN" sz="3000" dirty="0"/>
          </a:p>
          <a:p>
            <a:pPr marL="0" indent="0">
              <a:buNone/>
            </a:pPr>
            <a:r>
              <a:rPr lang="en-MY" altLang="zh-CN" sz="3000" dirty="0"/>
              <a:t>      </a:t>
            </a:r>
            <a:r>
              <a:rPr lang="en-US" altLang="zh-CN" sz="3000" dirty="0"/>
              <a:t>C </a:t>
            </a:r>
            <a:r>
              <a:rPr lang="zh-CN" altLang="en-US" sz="3000" dirty="0"/>
              <a:t>同分异构体</a:t>
            </a:r>
            <a:endParaRPr lang="en-MY" altLang="zh-CN" sz="3000" dirty="0"/>
          </a:p>
          <a:p>
            <a:pPr marL="0" indent="0">
              <a:buNone/>
            </a:pPr>
            <a:r>
              <a:rPr lang="en-MY" altLang="zh-CN" sz="3000" dirty="0"/>
              <a:t>      </a:t>
            </a:r>
            <a:r>
              <a:rPr lang="en-US" altLang="zh-CN" sz="3000" dirty="0"/>
              <a:t>D </a:t>
            </a:r>
            <a:r>
              <a:rPr lang="zh-CN" altLang="en-US" sz="3000" dirty="0"/>
              <a:t>同种物质</a:t>
            </a:r>
            <a:endParaRPr lang="en-MY" altLang="zh-CN" sz="3000" dirty="0"/>
          </a:p>
          <a:p>
            <a:pPr marL="0" indent="0">
              <a:buNone/>
            </a:pPr>
            <a:r>
              <a:rPr lang="en-MY" altLang="zh-CN" sz="3000" dirty="0"/>
              <a:t>2. A </a:t>
            </a:r>
            <a:r>
              <a:rPr lang="zh-CN" altLang="en-US" sz="3000" dirty="0"/>
              <a:t>丙烷无同分异构体</a:t>
            </a:r>
            <a:endParaRPr lang="en-MY" altLang="zh-CN" sz="3000" dirty="0"/>
          </a:p>
          <a:p>
            <a:pPr marL="0" indent="0">
              <a:buNone/>
            </a:pPr>
            <a:r>
              <a:rPr lang="en-US" altLang="zh-CN" sz="3000" dirty="0"/>
              <a:t>3. </a:t>
            </a:r>
            <a:r>
              <a:rPr lang="zh-CN" altLang="en-US" sz="3000" dirty="0"/>
              <a:t>已烷有</a:t>
            </a:r>
            <a:r>
              <a:rPr lang="en-US" altLang="zh-CN" sz="3000" dirty="0"/>
              <a:t>5</a:t>
            </a:r>
            <a:r>
              <a:rPr lang="zh-CN" altLang="en-US" sz="3000" dirty="0"/>
              <a:t>种同分异构体（请五位同学画在白板上）</a:t>
            </a:r>
            <a:endParaRPr lang="en-MY" altLang="zh-CN" sz="3000" dirty="0"/>
          </a:p>
          <a:p>
            <a:pPr marL="0" indent="0">
              <a:buNone/>
            </a:pPr>
            <a:r>
              <a:rPr lang="zh-CN" altLang="en-US" sz="3000" dirty="0"/>
              <a:t>答案提示：己烷、</a:t>
            </a:r>
            <a:r>
              <a:rPr lang="en-US" altLang="zh-CN" sz="3000" dirty="0"/>
              <a:t>2-</a:t>
            </a:r>
            <a:r>
              <a:rPr lang="zh-CN" altLang="en-US" sz="3000" dirty="0"/>
              <a:t>甲基戊烷、</a:t>
            </a:r>
            <a:r>
              <a:rPr lang="en-US" altLang="zh-CN" sz="3000" dirty="0"/>
              <a:t>3-</a:t>
            </a:r>
            <a:r>
              <a:rPr lang="zh-CN" altLang="en-US" sz="3000" dirty="0"/>
              <a:t>甲基戊烷、</a:t>
            </a:r>
            <a:endParaRPr lang="en-MY" altLang="zh-CN" sz="3000" dirty="0"/>
          </a:p>
          <a:p>
            <a:pPr marL="0" indent="0">
              <a:buNone/>
            </a:pPr>
            <a:r>
              <a:rPr lang="en-MY" altLang="zh-CN" sz="3000" dirty="0"/>
              <a:t>		</a:t>
            </a:r>
            <a:r>
              <a:rPr lang="en-US" altLang="zh-CN" sz="3000" dirty="0"/>
              <a:t>2,2-</a:t>
            </a:r>
            <a:r>
              <a:rPr lang="zh-CN" altLang="en-US" sz="3000" dirty="0"/>
              <a:t>二甲基丁烷、</a:t>
            </a:r>
            <a:r>
              <a:rPr lang="en-US" altLang="zh-CN" sz="3000" dirty="0"/>
              <a:t>2,3-</a:t>
            </a:r>
            <a:r>
              <a:rPr lang="zh-CN" altLang="en-US" sz="3000" dirty="0"/>
              <a:t>二甲基丁烷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6729381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170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27.4 </a:t>
            </a:r>
            <a:r>
              <a:rPr lang="zh-CN" altLang="en-US" sz="4800" b="1" dirty="0">
                <a:latin typeface="+mn-ea"/>
              </a:rPr>
              <a:t>烷烃的同分异构体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96816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/>
              <a:t>统考题</a:t>
            </a:r>
            <a:endParaRPr lang="en-US" altLang="zh-CN" sz="3000" dirty="0"/>
          </a:p>
          <a:p>
            <a:pPr marL="514350" indent="-514350">
              <a:buAutoNum type="arabicPeriod"/>
            </a:pPr>
            <a:r>
              <a:rPr lang="zh-CN" altLang="en-US" sz="3000" dirty="0"/>
              <a:t>正戊烷及新戊烷的沸点分别为</a:t>
            </a:r>
            <a:r>
              <a:rPr lang="en-US" altLang="zh-CN" sz="3000" dirty="0"/>
              <a:t>36</a:t>
            </a:r>
            <a:r>
              <a:rPr lang="en-US" altLang="zh-CN" sz="3000" baseline="30000" dirty="0"/>
              <a:t>o</a:t>
            </a:r>
            <a:r>
              <a:rPr lang="en-US" altLang="zh-CN" sz="3000" dirty="0"/>
              <a:t>C </a:t>
            </a:r>
            <a:r>
              <a:rPr lang="zh-CN" altLang="en-US" sz="3000" dirty="0"/>
              <a:t>及</a:t>
            </a:r>
            <a:r>
              <a:rPr lang="en-US" altLang="zh-CN" sz="3000" dirty="0"/>
              <a:t>9</a:t>
            </a:r>
            <a:r>
              <a:rPr lang="en-US" altLang="zh-CN" sz="3000" baseline="30000" dirty="0"/>
              <a:t>o</a:t>
            </a:r>
            <a:r>
              <a:rPr lang="en-US" altLang="zh-CN" sz="3000" dirty="0"/>
              <a:t>C</a:t>
            </a:r>
            <a:r>
              <a:rPr lang="zh-CN" altLang="en-US" sz="3000" dirty="0"/>
              <a:t>。写出它们的结构式并解释为什么正戊烷的沸点较高？</a:t>
            </a:r>
            <a:endParaRPr lang="en-US" altLang="zh-CN" sz="3000" dirty="0"/>
          </a:p>
          <a:p>
            <a:pPr marL="514350" indent="-514350">
              <a:buNone/>
            </a:pPr>
            <a:endParaRPr lang="en-US" altLang="zh-CN" sz="3000" dirty="0"/>
          </a:p>
          <a:p>
            <a:pPr marL="514350" indent="-514350">
              <a:buNone/>
            </a:pPr>
            <a:endParaRPr lang="en-US" altLang="zh-CN" sz="3000" dirty="0"/>
          </a:p>
          <a:p>
            <a:pPr marL="514350" indent="-514350">
              <a:buNone/>
            </a:pPr>
            <a:endParaRPr lang="en-US" altLang="zh-CN" sz="3000" dirty="0"/>
          </a:p>
          <a:p>
            <a:pPr marL="514350" indent="-514350">
              <a:buNone/>
            </a:pPr>
            <a:endParaRPr lang="en-US" altLang="zh-CN" sz="3000" dirty="0"/>
          </a:p>
          <a:p>
            <a:pPr marL="514350" indent="-514350">
              <a:buNone/>
            </a:pPr>
            <a:endParaRPr lang="en-US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	</a:t>
            </a:r>
            <a:r>
              <a:rPr lang="zh-CN" altLang="en-US" sz="3000" dirty="0"/>
              <a:t>正戊烷呈长链状，新戊烷呈正四面体；</a:t>
            </a:r>
            <a:endParaRPr lang="en-US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	</a:t>
            </a:r>
            <a:r>
              <a:rPr lang="zh-CN" altLang="en-US" sz="3000" dirty="0"/>
              <a:t>正戊烷分子间的接触面积较大，范德华力也较强，因此沸点较高。</a:t>
            </a:r>
            <a:endParaRPr lang="en-US" altLang="zh-CN" sz="3000" dirty="0"/>
          </a:p>
        </p:txBody>
      </p:sp>
      <p:pic>
        <p:nvPicPr>
          <p:cNvPr id="7" name="Picture 6" descr="ding.jpg"/>
          <p:cNvPicPr>
            <a:picLocks noChangeAspect="1"/>
          </p:cNvPicPr>
          <p:nvPr/>
        </p:nvPicPr>
        <p:blipFill>
          <a:blip r:embed="rId3"/>
          <a:srcRect l="21053" r="26316" b="54218"/>
          <a:stretch>
            <a:fillRect/>
          </a:stretch>
        </p:blipFill>
        <p:spPr>
          <a:xfrm>
            <a:off x="762000" y="2649416"/>
            <a:ext cx="3001818" cy="1981200"/>
          </a:xfrm>
          <a:prstGeom prst="rect">
            <a:avLst/>
          </a:prstGeom>
        </p:spPr>
      </p:pic>
      <p:pic>
        <p:nvPicPr>
          <p:cNvPr id="8" name="Picture 7" descr="ding.jpg"/>
          <p:cNvPicPr>
            <a:picLocks noChangeAspect="1"/>
          </p:cNvPicPr>
          <p:nvPr/>
        </p:nvPicPr>
        <p:blipFill>
          <a:blip r:embed="rId3"/>
          <a:srcRect l="55789" t="33296"/>
          <a:stretch>
            <a:fillRect/>
          </a:stretch>
        </p:blipFill>
        <p:spPr>
          <a:xfrm>
            <a:off x="5181600" y="2497016"/>
            <a:ext cx="2590800" cy="270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27.5 </a:t>
            </a:r>
            <a:r>
              <a:rPr lang="zh-CN" altLang="en-US" sz="4800" b="1" dirty="0">
                <a:latin typeface="+mn-ea"/>
              </a:rPr>
              <a:t>烷烃的命名法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sz="3000" dirty="0"/>
              <a:t>IUPAC</a:t>
            </a:r>
            <a:r>
              <a:rPr lang="zh-CN" altLang="en-US" sz="3000" dirty="0"/>
              <a:t>命名法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直链烷烃系统命名法：</a:t>
            </a:r>
            <a:endParaRPr lang="en-US" altLang="zh-CN" sz="3000" dirty="0"/>
          </a:p>
          <a:p>
            <a:pPr lvl="1">
              <a:buFont typeface="Wingdings" pitchFamily="2" charset="2"/>
              <a:buChar char="Ø"/>
            </a:pPr>
            <a:r>
              <a:rPr lang="zh-CN" altLang="en-US" sz="2600" dirty="0"/>
              <a:t>按照烷烃中</a:t>
            </a:r>
            <a:r>
              <a:rPr lang="en-US" altLang="zh-CN" sz="2600" dirty="0"/>
              <a:t>C</a:t>
            </a:r>
            <a:r>
              <a:rPr lang="zh-CN" altLang="en-US" sz="2600" dirty="0"/>
              <a:t>原子数命名（甲、乙、丙</a:t>
            </a:r>
            <a:r>
              <a:rPr lang="en-US" altLang="zh-CN" sz="2600" dirty="0"/>
              <a:t>… </a:t>
            </a:r>
            <a:r>
              <a:rPr lang="zh-CN" altLang="en-US" sz="2600" dirty="0"/>
              <a:t>十一、十二）</a:t>
            </a:r>
            <a:endParaRPr lang="en-US" altLang="zh-CN" sz="26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含支链烷烃系统命名法：</a:t>
            </a:r>
            <a:endParaRPr lang="en-US" altLang="zh-CN" sz="3000" dirty="0"/>
          </a:p>
          <a:p>
            <a:pPr marL="514350" indent="-514350">
              <a:buAutoNum type="arabicPeriod"/>
            </a:pPr>
            <a:r>
              <a:rPr lang="zh-CN" altLang="en-US" sz="3000" dirty="0"/>
              <a:t>选主链</a:t>
            </a:r>
            <a:endParaRPr lang="en-US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	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戊烷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buNone/>
            </a:pPr>
            <a:r>
              <a:rPr lang="en-US" altLang="zh-CN" sz="3000" dirty="0"/>
              <a:t>2. </a:t>
            </a:r>
            <a:r>
              <a:rPr lang="zh-CN" altLang="en-US" sz="3000" dirty="0"/>
              <a:t>给主链的</a:t>
            </a:r>
            <a:r>
              <a:rPr lang="en-US" altLang="zh-CN" sz="3000" dirty="0"/>
              <a:t>C</a:t>
            </a:r>
            <a:r>
              <a:rPr lang="zh-CN" altLang="en-US" sz="3000" dirty="0"/>
              <a:t>原子编号</a:t>
            </a:r>
            <a:endParaRPr lang="en-US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3. </a:t>
            </a:r>
            <a:r>
              <a:rPr lang="zh-CN" altLang="en-US" sz="3000" dirty="0"/>
              <a:t>取代基的名称和位置</a:t>
            </a:r>
            <a:endParaRPr lang="en-US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	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–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甲基戊烷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 descr="wanname.png"/>
          <p:cNvPicPr>
            <a:picLocks noChangeAspect="1"/>
          </p:cNvPicPr>
          <p:nvPr/>
        </p:nvPicPr>
        <p:blipFill>
          <a:blip r:embed="rId3"/>
          <a:srcRect l="55788" t="-5008" r="10739" b="74961"/>
          <a:stretch>
            <a:fillRect/>
          </a:stretch>
        </p:blipFill>
        <p:spPr>
          <a:xfrm>
            <a:off x="4343400" y="3124200"/>
            <a:ext cx="4800600" cy="1524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48200" y="3181290"/>
            <a:ext cx="36615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            2          3	          4	          5</a:t>
            </a:r>
            <a:endParaRPr lang="en-US" sz="2000" b="1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48200" y="2952690"/>
            <a:ext cx="36615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             4          3	          2	          1</a:t>
            </a:r>
            <a:endParaRPr lang="en-US" sz="2000" b="1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  <p:bldP spid="8" grpId="0"/>
      <p:bldP spid="8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27.5 </a:t>
            </a:r>
            <a:r>
              <a:rPr lang="zh-CN" altLang="en-US" sz="4800" b="1" dirty="0">
                <a:latin typeface="+mn-ea"/>
              </a:rPr>
              <a:t>烷烃的命名法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3000" dirty="0"/>
              <a:t>1. </a:t>
            </a:r>
            <a:r>
              <a:rPr lang="zh-CN" altLang="en-US" sz="3000" dirty="0"/>
              <a:t>选主链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	</a:t>
            </a:r>
            <a:r>
              <a:rPr lang="zh-CN" altLang="en-US" sz="3000" dirty="0"/>
              <a:t>戊烷</a:t>
            </a:r>
            <a:endParaRPr lang="en-US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2.</a:t>
            </a:r>
            <a:r>
              <a:rPr lang="zh-CN" altLang="en-US" sz="3000" dirty="0"/>
              <a:t>给主链的</a:t>
            </a:r>
            <a:r>
              <a:rPr lang="en-US" altLang="zh-CN" sz="3000" dirty="0"/>
              <a:t>C</a:t>
            </a:r>
            <a:r>
              <a:rPr lang="zh-CN" altLang="en-US" sz="3000" dirty="0"/>
              <a:t>原子编号</a:t>
            </a:r>
            <a:endParaRPr lang="en-US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3. </a:t>
            </a:r>
            <a:r>
              <a:rPr lang="zh-CN" altLang="en-US" sz="3000" dirty="0"/>
              <a:t>取代基的名称和位置</a:t>
            </a:r>
            <a:endParaRPr lang="en-US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	</a:t>
            </a:r>
            <a:r>
              <a:rPr lang="zh-CN" altLang="en-US" sz="3000" b="1" dirty="0">
                <a:solidFill>
                  <a:srgbClr val="7030A0"/>
                </a:solidFill>
              </a:rPr>
              <a:t>有相同的取代烃</a:t>
            </a:r>
            <a:endParaRPr lang="en-US" altLang="zh-CN" sz="3000" b="1" dirty="0">
              <a:solidFill>
                <a:srgbClr val="7030A0"/>
              </a:solidFill>
            </a:endParaRPr>
          </a:p>
          <a:p>
            <a:pPr marL="514350" indent="-514350">
              <a:buNone/>
            </a:pPr>
            <a:r>
              <a:rPr lang="en-US" altLang="zh-CN" sz="3000" dirty="0"/>
              <a:t>	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–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二甲基戊烷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en-US" altLang="zh-CN" sz="3000" dirty="0"/>
          </a:p>
        </p:txBody>
      </p:sp>
      <p:pic>
        <p:nvPicPr>
          <p:cNvPr id="9" name="Picture 8" descr="wanname.png"/>
          <p:cNvPicPr>
            <a:picLocks noChangeAspect="1"/>
          </p:cNvPicPr>
          <p:nvPr/>
        </p:nvPicPr>
        <p:blipFill>
          <a:blip r:embed="rId3"/>
          <a:srcRect l="4360" t="-6369" r="61380" b="25028"/>
          <a:stretch>
            <a:fillRect/>
          </a:stretch>
        </p:blipFill>
        <p:spPr>
          <a:xfrm>
            <a:off x="4572000" y="2209800"/>
            <a:ext cx="4191000" cy="1981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0" y="1981200"/>
            <a:ext cx="254268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lain"/>
            </a:pP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2          3</a:t>
            </a:r>
          </a:p>
          <a:p>
            <a:pPr marL="457200" indent="-457200"/>
            <a:endParaRPr lang="en-US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/>
            <a:r>
              <a:rPr 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     </a:t>
            </a: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  <a:p>
            <a:pPr marL="457200" indent="-457200"/>
            <a:endParaRPr lang="en-US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/>
            <a:r>
              <a:rPr 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     </a:t>
            </a: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en-US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27.5 </a:t>
            </a:r>
            <a:r>
              <a:rPr lang="zh-CN" altLang="en-US" sz="4800" b="1" dirty="0">
                <a:latin typeface="+mn-ea"/>
              </a:rPr>
              <a:t>烷烃的命名法</a:t>
            </a:r>
            <a:endParaRPr lang="en-US" sz="4800" b="1" dirty="0"/>
          </a:p>
        </p:txBody>
      </p:sp>
      <p:pic>
        <p:nvPicPr>
          <p:cNvPr id="9" name="Picture 8" descr="name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1219200"/>
            <a:ext cx="5943600" cy="17526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3000" dirty="0"/>
              <a:t>1. </a:t>
            </a:r>
            <a:r>
              <a:rPr lang="zh-CN" altLang="en-US" sz="3000" dirty="0"/>
              <a:t>选主链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	</a:t>
            </a:r>
            <a:r>
              <a:rPr lang="zh-CN" altLang="en-US" sz="3000" dirty="0"/>
              <a:t>庚烷</a:t>
            </a:r>
            <a:endParaRPr lang="en-US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2.</a:t>
            </a:r>
            <a:r>
              <a:rPr lang="zh-CN" altLang="en-US" sz="3000" dirty="0"/>
              <a:t>给主链的</a:t>
            </a:r>
            <a:r>
              <a:rPr lang="en-US" altLang="zh-CN" sz="3000" dirty="0"/>
              <a:t>C</a:t>
            </a:r>
            <a:r>
              <a:rPr lang="zh-CN" altLang="en-US" sz="3000" dirty="0"/>
              <a:t>原子编号</a:t>
            </a:r>
            <a:endParaRPr lang="en-US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3. </a:t>
            </a:r>
            <a:r>
              <a:rPr lang="zh-CN" altLang="en-US" sz="3000" dirty="0"/>
              <a:t>取代基的名称和位置</a:t>
            </a:r>
            <a:endParaRPr lang="en-US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	</a:t>
            </a:r>
            <a:r>
              <a:rPr lang="zh-CN" altLang="en-US" sz="3000" b="1" dirty="0">
                <a:solidFill>
                  <a:srgbClr val="7030A0"/>
                </a:solidFill>
              </a:rPr>
              <a:t>不相同的取代烃</a:t>
            </a:r>
            <a:endParaRPr lang="en-US" altLang="zh-CN" sz="3000" b="1" dirty="0">
              <a:solidFill>
                <a:srgbClr val="7030A0"/>
              </a:solidFill>
            </a:endParaRPr>
          </a:p>
          <a:p>
            <a:pPr marL="514350" indent="-514350">
              <a:buNone/>
            </a:pPr>
            <a:r>
              <a:rPr lang="en-US" altLang="zh-CN" sz="3000" b="1" dirty="0">
                <a:solidFill>
                  <a:srgbClr val="7030A0"/>
                </a:solidFill>
              </a:rPr>
              <a:t>	</a:t>
            </a:r>
            <a:r>
              <a:rPr lang="zh-CN" altLang="en-US" sz="3000" b="1" dirty="0">
                <a:solidFill>
                  <a:srgbClr val="7030A0"/>
                </a:solidFill>
              </a:rPr>
              <a:t>先简单，后复杂</a:t>
            </a:r>
            <a:endParaRPr lang="en-US" altLang="zh-CN" sz="3000" b="1" dirty="0">
              <a:solidFill>
                <a:srgbClr val="7030A0"/>
              </a:solidFill>
            </a:endParaRPr>
          </a:p>
          <a:p>
            <a:pPr marL="514350" indent="-514350">
              <a:buNone/>
            </a:pPr>
            <a:r>
              <a:rPr lang="en-US" altLang="zh-CN" sz="3000" dirty="0"/>
              <a:t>	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3 –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甲基 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5 –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乙基庚烷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en-US" altLang="zh-CN" sz="3000" dirty="0"/>
          </a:p>
        </p:txBody>
      </p:sp>
      <p:sp>
        <p:nvSpPr>
          <p:cNvPr id="8" name="TextBox 7"/>
          <p:cNvSpPr txBox="1"/>
          <p:nvPr/>
        </p:nvSpPr>
        <p:spPr>
          <a:xfrm>
            <a:off x="2819400" y="895290"/>
            <a:ext cx="601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            2          3 	4	5	6	7</a:t>
            </a:r>
            <a:endParaRPr lang="en-US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uiExpan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27.5 </a:t>
            </a:r>
            <a:r>
              <a:rPr lang="zh-CN" altLang="en-US" sz="4800" b="1" dirty="0">
                <a:latin typeface="+mn-ea"/>
              </a:rPr>
              <a:t>烷烃的命名法</a:t>
            </a:r>
            <a:endParaRPr lang="en-US" sz="4800" b="1" dirty="0"/>
          </a:p>
        </p:txBody>
      </p:sp>
      <p:pic>
        <p:nvPicPr>
          <p:cNvPr id="9" name="Picture 8" descr="name7.jpg"/>
          <p:cNvPicPr>
            <a:picLocks noChangeAspect="1"/>
          </p:cNvPicPr>
          <p:nvPr/>
        </p:nvPicPr>
        <p:blipFill>
          <a:blip r:embed="rId3"/>
          <a:srcRect l="14943" t="11916" r="21839" b="62341"/>
          <a:stretch>
            <a:fillRect/>
          </a:stretch>
        </p:blipFill>
        <p:spPr>
          <a:xfrm>
            <a:off x="2667000" y="1295400"/>
            <a:ext cx="6248400" cy="2667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3000" dirty="0"/>
              <a:t>1. </a:t>
            </a:r>
            <a:r>
              <a:rPr lang="zh-CN" altLang="en-US" sz="3000" dirty="0"/>
              <a:t>选主链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	</a:t>
            </a:r>
            <a:r>
              <a:rPr lang="zh-CN" altLang="en-US" sz="3000" dirty="0"/>
              <a:t>庚烷</a:t>
            </a:r>
            <a:endParaRPr lang="en-US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2.</a:t>
            </a:r>
            <a:r>
              <a:rPr lang="zh-CN" altLang="en-US" sz="3000" dirty="0"/>
              <a:t>给主链的</a:t>
            </a:r>
            <a:r>
              <a:rPr lang="en-US" altLang="zh-CN" sz="3000" dirty="0"/>
              <a:t>C</a:t>
            </a:r>
            <a:r>
              <a:rPr lang="zh-CN" altLang="en-US" sz="3000" dirty="0"/>
              <a:t>原子编号</a:t>
            </a:r>
            <a:endParaRPr lang="en-US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3. </a:t>
            </a:r>
            <a:r>
              <a:rPr lang="zh-CN" altLang="en-US" sz="3000" dirty="0"/>
              <a:t>取代基的名称和位置</a:t>
            </a:r>
            <a:endParaRPr lang="en-US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	</a:t>
            </a:r>
            <a:r>
              <a:rPr lang="zh-CN" altLang="en-US" sz="3000" b="1" dirty="0">
                <a:solidFill>
                  <a:srgbClr val="7030A0"/>
                </a:solidFill>
              </a:rPr>
              <a:t>不相同的取代烃</a:t>
            </a:r>
            <a:endParaRPr lang="en-US" altLang="zh-CN" sz="3000" b="1" dirty="0">
              <a:solidFill>
                <a:srgbClr val="7030A0"/>
              </a:solidFill>
            </a:endParaRPr>
          </a:p>
          <a:p>
            <a:pPr marL="514350" indent="-514350">
              <a:buNone/>
            </a:pPr>
            <a:r>
              <a:rPr lang="en-US" altLang="zh-CN" sz="3000" b="1" dirty="0">
                <a:solidFill>
                  <a:srgbClr val="7030A0"/>
                </a:solidFill>
              </a:rPr>
              <a:t>	</a:t>
            </a:r>
            <a:r>
              <a:rPr lang="zh-CN" altLang="en-US" sz="3000" b="1" dirty="0">
                <a:solidFill>
                  <a:srgbClr val="7030A0"/>
                </a:solidFill>
              </a:rPr>
              <a:t>先简单，后复杂</a:t>
            </a:r>
            <a:endParaRPr lang="en-US" altLang="zh-CN" sz="3000" b="1" dirty="0">
              <a:solidFill>
                <a:srgbClr val="7030A0"/>
              </a:solidFill>
            </a:endParaRPr>
          </a:p>
          <a:p>
            <a:pPr marL="514350" indent="-514350">
              <a:buNone/>
            </a:pPr>
            <a:r>
              <a:rPr lang="en-US" altLang="zh-CN" sz="3000" b="1" dirty="0">
                <a:solidFill>
                  <a:srgbClr val="7030A0"/>
                </a:solidFill>
              </a:rPr>
              <a:t>	</a:t>
            </a:r>
            <a:r>
              <a:rPr lang="zh-CN" altLang="en-US" sz="3000" b="1" dirty="0">
                <a:solidFill>
                  <a:srgbClr val="7030A0"/>
                </a:solidFill>
              </a:rPr>
              <a:t>最长主链</a:t>
            </a:r>
            <a:r>
              <a:rPr lang="en-US" altLang="zh-CN" sz="3000" b="1" dirty="0">
                <a:solidFill>
                  <a:srgbClr val="7030A0"/>
                </a:solidFill>
              </a:rPr>
              <a:t>C</a:t>
            </a:r>
            <a:r>
              <a:rPr lang="zh-CN" altLang="en-US" sz="3000" b="1" dirty="0">
                <a:solidFill>
                  <a:srgbClr val="7030A0"/>
                </a:solidFill>
              </a:rPr>
              <a:t>原子数相同，选含支链多的</a:t>
            </a:r>
            <a:endParaRPr lang="en-US" altLang="zh-CN" sz="3000" b="1" dirty="0">
              <a:solidFill>
                <a:srgbClr val="7030A0"/>
              </a:solidFill>
            </a:endParaRPr>
          </a:p>
          <a:p>
            <a:pPr marL="514350" indent="-514350">
              <a:buNone/>
            </a:pPr>
            <a:r>
              <a:rPr lang="en-US" altLang="zh-CN" sz="3000" dirty="0"/>
              <a:t>	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 –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三甲基 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4 –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丙基庚烷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en-US" altLang="zh-CN" sz="3000" dirty="0"/>
          </a:p>
        </p:txBody>
      </p:sp>
      <p:sp>
        <p:nvSpPr>
          <p:cNvPr id="8" name="TextBox 7"/>
          <p:cNvSpPr txBox="1"/>
          <p:nvPr/>
        </p:nvSpPr>
        <p:spPr>
          <a:xfrm>
            <a:off x="3124200" y="914400"/>
            <a:ext cx="601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           2          3 	4        5	        6         7</a:t>
            </a:r>
            <a:endParaRPr lang="en-US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24200" y="914400"/>
            <a:ext cx="601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            6          5 	4        3	        2         1</a:t>
            </a:r>
            <a:endParaRPr lang="en-US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5852D1-D1D3-4032-911E-8AC74B981E4F}"/>
              </a:ext>
            </a:extLst>
          </p:cNvPr>
          <p:cNvSpPr txBox="1"/>
          <p:nvPr/>
        </p:nvSpPr>
        <p:spPr>
          <a:xfrm>
            <a:off x="3124200" y="685800"/>
            <a:ext cx="3429000" cy="2943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lain"/>
            </a:pP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2          3          4</a:t>
            </a:r>
          </a:p>
          <a:p>
            <a:pPr>
              <a:lnSpc>
                <a:spcPct val="200000"/>
              </a:lnSpc>
            </a:pPr>
            <a:r>
              <a:rPr 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             </a:t>
            </a: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</a:p>
          <a:p>
            <a:pPr>
              <a:lnSpc>
                <a:spcPct val="200000"/>
              </a:lnSpc>
            </a:pPr>
            <a:r>
              <a:rPr 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             </a:t>
            </a: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 </a:t>
            </a:r>
          </a:p>
          <a:p>
            <a:pPr>
              <a:lnSpc>
                <a:spcPct val="200000"/>
              </a:lnSpc>
            </a:pPr>
            <a:r>
              <a:rPr 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             </a:t>
            </a: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endParaRPr lang="en-US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uiExpand="1"/>
      <p:bldP spid="8" grpId="1"/>
      <p:bldP spid="13" grpId="0"/>
      <p:bldP spid="10" grpId="0"/>
      <p:bldP spid="10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27.5 </a:t>
            </a:r>
            <a:r>
              <a:rPr lang="zh-CN" altLang="en-US" sz="4800" b="1" dirty="0">
                <a:latin typeface="+mn-ea"/>
              </a:rPr>
              <a:t>烷烃的命名法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/>
              <a:t>交流分享</a:t>
            </a:r>
            <a:endParaRPr lang="en-MY" altLang="zh-CN" sz="3000" dirty="0"/>
          </a:p>
          <a:p>
            <a:pPr marL="514350" indent="-514350">
              <a:buAutoNum type="arabicPeriod"/>
            </a:pPr>
            <a:r>
              <a:rPr lang="zh-CN" altLang="en-US" sz="3000" dirty="0"/>
              <a:t>错，没选最长的</a:t>
            </a:r>
            <a:r>
              <a:rPr lang="en-US" altLang="zh-CN" sz="3000" dirty="0"/>
              <a:t>C</a:t>
            </a:r>
            <a:r>
              <a:rPr lang="zh-CN" altLang="en-US" sz="3000" dirty="0"/>
              <a:t>链为主链。</a:t>
            </a:r>
            <a:endParaRPr lang="en-MY" altLang="zh-CN" sz="3000" dirty="0"/>
          </a:p>
          <a:p>
            <a:pPr marL="0" indent="0">
              <a:buNone/>
            </a:pPr>
            <a:r>
              <a:rPr lang="zh-CN" altLang="en-US" sz="3000" dirty="0"/>
              <a:t>正确命名：</a:t>
            </a:r>
            <a:r>
              <a:rPr lang="en-US" altLang="zh-CN" sz="3000" dirty="0"/>
              <a:t>2</a:t>
            </a:r>
            <a:r>
              <a:rPr lang="zh-CN" altLang="en-US" sz="3000" dirty="0"/>
              <a:t>，</a:t>
            </a:r>
            <a:r>
              <a:rPr lang="en-US" altLang="zh-CN" sz="3000" dirty="0"/>
              <a:t>4-</a:t>
            </a:r>
            <a:r>
              <a:rPr lang="zh-CN" altLang="en-US" sz="3000" dirty="0"/>
              <a:t>二甲基已烷</a:t>
            </a:r>
            <a:endParaRPr lang="en-US" altLang="zh-CN" sz="3000" dirty="0"/>
          </a:p>
          <a:p>
            <a:pPr marL="0" indent="0">
              <a:buNone/>
            </a:pPr>
            <a:endParaRPr lang="en-US" altLang="zh-CN" sz="3000" dirty="0"/>
          </a:p>
          <a:p>
            <a:pPr marL="0" indent="0">
              <a:buNone/>
            </a:pPr>
            <a:r>
              <a:rPr lang="en-US" altLang="zh-CN" sz="3000" dirty="0"/>
              <a:t>2. </a:t>
            </a:r>
            <a:r>
              <a:rPr lang="zh-CN" altLang="en-US" sz="3000" dirty="0"/>
              <a:t>庚烷有</a:t>
            </a:r>
            <a:r>
              <a:rPr lang="en-US" altLang="zh-CN" sz="3000" dirty="0"/>
              <a:t>9</a:t>
            </a:r>
            <a:r>
              <a:rPr lang="zh-CN" altLang="en-US" sz="3000" dirty="0"/>
              <a:t>个同分异构体</a:t>
            </a:r>
            <a:endParaRPr lang="en-US" altLang="zh-CN" sz="3000" dirty="0"/>
          </a:p>
          <a:p>
            <a:pPr marL="0" indent="0">
              <a:buNone/>
            </a:pPr>
            <a:r>
              <a:rPr lang="zh-CN" altLang="en-US" sz="3000" dirty="0"/>
              <a:t>庚烷</a:t>
            </a:r>
            <a:r>
              <a:rPr lang="en-MY" altLang="zh-CN" sz="3000" dirty="0"/>
              <a:t>			</a:t>
            </a:r>
            <a:r>
              <a:rPr lang="en-US" altLang="zh-CN" sz="3000" dirty="0"/>
              <a:t>2– </a:t>
            </a:r>
            <a:r>
              <a:rPr lang="zh-CN" altLang="en-US" sz="3000" dirty="0"/>
              <a:t>甲基己烷</a:t>
            </a:r>
            <a:r>
              <a:rPr lang="en-US" altLang="zh-CN" sz="3000" dirty="0"/>
              <a:t>	3– </a:t>
            </a:r>
            <a:r>
              <a:rPr lang="zh-CN" altLang="en-US" sz="3000" dirty="0"/>
              <a:t>甲基己烷</a:t>
            </a:r>
            <a:endParaRPr lang="en-US" altLang="zh-CN" sz="3000" dirty="0"/>
          </a:p>
          <a:p>
            <a:pPr marL="0" indent="0">
              <a:buNone/>
            </a:pPr>
            <a:r>
              <a:rPr lang="en-US" altLang="zh-CN" sz="3000" dirty="0"/>
              <a:t>2</a:t>
            </a:r>
            <a:r>
              <a:rPr lang="zh-CN" altLang="en-US" sz="3000" dirty="0"/>
              <a:t>，</a:t>
            </a:r>
            <a:r>
              <a:rPr lang="en-US" altLang="zh-CN" sz="3000" dirty="0"/>
              <a:t>2– </a:t>
            </a:r>
            <a:r>
              <a:rPr lang="zh-CN" altLang="en-US" sz="3000" dirty="0"/>
              <a:t>二甲基戊烷</a:t>
            </a:r>
            <a:r>
              <a:rPr lang="en-MY" altLang="zh-CN" sz="3000" dirty="0"/>
              <a:t>	</a:t>
            </a:r>
            <a:r>
              <a:rPr lang="en-US" altLang="zh-CN" sz="3000" dirty="0"/>
              <a:t>3</a:t>
            </a:r>
            <a:r>
              <a:rPr lang="zh-CN" altLang="en-US" sz="3000" dirty="0"/>
              <a:t>，</a:t>
            </a:r>
            <a:r>
              <a:rPr lang="en-US" altLang="zh-CN" sz="3000" dirty="0"/>
              <a:t>3– </a:t>
            </a:r>
            <a:r>
              <a:rPr lang="zh-CN" altLang="en-US" sz="3000" dirty="0"/>
              <a:t>二甲基戊烷</a:t>
            </a:r>
            <a:endParaRPr lang="en-US" altLang="zh-CN" sz="3000" dirty="0"/>
          </a:p>
          <a:p>
            <a:pPr marL="0" indent="0">
              <a:buNone/>
            </a:pPr>
            <a:r>
              <a:rPr lang="en-US" altLang="zh-CN" sz="3000" dirty="0"/>
              <a:t>2</a:t>
            </a:r>
            <a:r>
              <a:rPr lang="zh-CN" altLang="en-US" sz="3000" dirty="0"/>
              <a:t>，</a:t>
            </a:r>
            <a:r>
              <a:rPr lang="en-US" altLang="zh-CN" sz="3000" dirty="0"/>
              <a:t>3– </a:t>
            </a:r>
            <a:r>
              <a:rPr lang="zh-CN" altLang="en-US" sz="3000" dirty="0"/>
              <a:t>二甲基戊烷</a:t>
            </a:r>
            <a:r>
              <a:rPr lang="en-US" altLang="zh-CN" sz="3000" dirty="0"/>
              <a:t>	2</a:t>
            </a:r>
            <a:r>
              <a:rPr lang="zh-CN" altLang="en-US" sz="3000" dirty="0"/>
              <a:t>，</a:t>
            </a:r>
            <a:r>
              <a:rPr lang="en-US" altLang="zh-CN" sz="3000" dirty="0"/>
              <a:t>4– </a:t>
            </a:r>
            <a:r>
              <a:rPr lang="zh-CN" altLang="en-US" sz="3000" dirty="0"/>
              <a:t>二甲基戊烷</a:t>
            </a:r>
            <a:endParaRPr lang="en-US" altLang="zh-CN" sz="3000" dirty="0"/>
          </a:p>
          <a:p>
            <a:pPr marL="0" indent="0">
              <a:buNone/>
            </a:pPr>
            <a:r>
              <a:rPr lang="en-US" altLang="zh-CN" sz="3000" dirty="0"/>
              <a:t>3– </a:t>
            </a:r>
            <a:r>
              <a:rPr lang="zh-CN" altLang="en-US" sz="3000" dirty="0"/>
              <a:t>乙基戊烷</a:t>
            </a:r>
            <a:r>
              <a:rPr lang="en-US" altLang="zh-CN" sz="3000" dirty="0"/>
              <a:t>		2</a:t>
            </a:r>
            <a:r>
              <a:rPr lang="zh-CN" altLang="en-US" sz="3000" dirty="0"/>
              <a:t>，</a:t>
            </a:r>
            <a:r>
              <a:rPr lang="en-US" altLang="zh-CN" sz="3000" dirty="0"/>
              <a:t>2</a:t>
            </a:r>
            <a:r>
              <a:rPr lang="zh-CN" altLang="en-US" sz="3000" dirty="0"/>
              <a:t>，</a:t>
            </a:r>
            <a:r>
              <a:rPr lang="en-US" altLang="zh-CN" sz="3000" dirty="0"/>
              <a:t>3– </a:t>
            </a:r>
            <a:r>
              <a:rPr lang="zh-CN" altLang="en-US" sz="3000" dirty="0"/>
              <a:t>三甲基丁烷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27.5 </a:t>
            </a:r>
            <a:r>
              <a:rPr lang="zh-CN" altLang="en-US" sz="4800" b="1" dirty="0">
                <a:latin typeface="+mn-ea"/>
              </a:rPr>
              <a:t>烷烃的命名法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</p:txBody>
      </p:sp>
      <p:pic>
        <p:nvPicPr>
          <p:cNvPr id="9" name="Picture 8" descr="name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1" y="891785"/>
            <a:ext cx="7543800" cy="566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27.5 </a:t>
            </a:r>
            <a:r>
              <a:rPr lang="zh-CN" altLang="en-US" sz="4800" b="1" dirty="0">
                <a:latin typeface="+mn-ea"/>
              </a:rPr>
              <a:t>烷烃的命名法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/>
              <a:t>取代烃基的名称</a:t>
            </a: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</p:txBody>
      </p:sp>
      <p:pic>
        <p:nvPicPr>
          <p:cNvPr id="13" name="Picture 12" descr="nam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676400"/>
            <a:ext cx="851036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27.5 </a:t>
            </a:r>
            <a:r>
              <a:rPr lang="zh-CN" altLang="en-US" sz="4800" b="1" dirty="0">
                <a:latin typeface="+mn-ea"/>
              </a:rPr>
              <a:t>烷烃的命名法</a:t>
            </a:r>
            <a:endParaRPr lang="en-US" sz="4800" b="1" dirty="0"/>
          </a:p>
        </p:txBody>
      </p:sp>
      <p:pic>
        <p:nvPicPr>
          <p:cNvPr id="6" name="Picture 5" descr="name.png"/>
          <p:cNvPicPr>
            <a:picLocks noChangeAspect="1"/>
          </p:cNvPicPr>
          <p:nvPr/>
        </p:nvPicPr>
        <p:blipFill>
          <a:blip r:embed="rId3"/>
          <a:srcRect b="23064"/>
          <a:stretch>
            <a:fillRect/>
          </a:stretch>
        </p:blipFill>
        <p:spPr>
          <a:xfrm>
            <a:off x="304799" y="1600200"/>
            <a:ext cx="8470425" cy="1524000"/>
          </a:xfrm>
          <a:prstGeom prst="rect">
            <a:avLst/>
          </a:prstGeom>
        </p:spPr>
      </p:pic>
      <p:pic>
        <p:nvPicPr>
          <p:cNvPr id="12" name="Picture 11" descr="name5.png"/>
          <p:cNvPicPr>
            <a:picLocks noChangeAspect="1"/>
          </p:cNvPicPr>
          <p:nvPr/>
        </p:nvPicPr>
        <p:blipFill>
          <a:blip r:embed="rId4"/>
          <a:srcRect l="56654" b="19617"/>
          <a:stretch>
            <a:fillRect/>
          </a:stretch>
        </p:blipFill>
        <p:spPr>
          <a:xfrm>
            <a:off x="762000" y="4191000"/>
            <a:ext cx="4800600" cy="19812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/>
              <a:t>练习</a:t>
            </a: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  <a:p>
            <a:pPr>
              <a:buNone/>
            </a:pP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4–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三甲基 戊烷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2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4–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三甲基 己烷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</a:p>
          <a:p>
            <a:pPr>
              <a:buNone/>
            </a:pP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2–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甲基 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3–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乙基戊烷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27.5 </a:t>
            </a:r>
            <a:r>
              <a:rPr lang="zh-CN" altLang="en-US" sz="4800" b="1" dirty="0">
                <a:latin typeface="+mn-ea"/>
              </a:rPr>
              <a:t>烷烃的命名法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/>
              <a:t>练习</a:t>
            </a: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  <a:p>
            <a:pPr>
              <a:buNone/>
            </a:pP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4–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三甲基 己烷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2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5–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三甲基 庚烷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</a:p>
          <a:p>
            <a:pPr>
              <a:buNone/>
            </a:pPr>
            <a:endParaRPr lang="en-US" altLang="zh-CN" sz="3000" dirty="0"/>
          </a:p>
        </p:txBody>
      </p:sp>
      <p:pic>
        <p:nvPicPr>
          <p:cNvPr id="6" name="Picture 5" descr="n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676400"/>
            <a:ext cx="3581400" cy="2971800"/>
          </a:xfrm>
          <a:prstGeom prst="rect">
            <a:avLst/>
          </a:prstGeom>
        </p:spPr>
      </p:pic>
      <p:pic>
        <p:nvPicPr>
          <p:cNvPr id="7" name="Picture 6" descr="nam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1752600"/>
            <a:ext cx="4045226" cy="2819400"/>
          </a:xfrm>
          <a:prstGeom prst="rect">
            <a:avLst/>
          </a:prstGeom>
        </p:spPr>
      </p:pic>
      <p:cxnSp>
        <p:nvCxnSpPr>
          <p:cNvPr id="9" name="Elbow Connector 8"/>
          <p:cNvCxnSpPr/>
          <p:nvPr/>
        </p:nvCxnSpPr>
        <p:spPr>
          <a:xfrm rot="5400000">
            <a:off x="381000" y="2514600"/>
            <a:ext cx="2895600" cy="1066800"/>
          </a:xfrm>
          <a:prstGeom prst="bentConnector3">
            <a:avLst>
              <a:gd name="adj1" fmla="val 50000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5105400" y="1905000"/>
            <a:ext cx="2057400" cy="2514600"/>
            <a:chOff x="5105400" y="1981200"/>
            <a:chExt cx="2057400" cy="2514600"/>
          </a:xfrm>
        </p:grpSpPr>
        <p:cxnSp>
          <p:nvCxnSpPr>
            <p:cNvPr id="13" name="Elbow Connector 12"/>
            <p:cNvCxnSpPr/>
            <p:nvPr/>
          </p:nvCxnSpPr>
          <p:spPr>
            <a:xfrm rot="5400000">
              <a:off x="5295900" y="2171700"/>
              <a:ext cx="2057400" cy="1676400"/>
            </a:xfrm>
            <a:prstGeom prst="bentConnector3">
              <a:avLst>
                <a:gd name="adj1" fmla="val 50000"/>
              </a:avLst>
            </a:prstGeom>
            <a:ln w="317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5400000">
              <a:off x="5067300" y="4076700"/>
              <a:ext cx="457200" cy="38100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27.5 </a:t>
            </a:r>
            <a:r>
              <a:rPr lang="zh-CN" altLang="en-US" sz="4800" b="1" dirty="0">
                <a:latin typeface="+mn-ea"/>
              </a:rPr>
              <a:t>烷烃的命名法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/>
              <a:t>判断下列命名是否正确，如不正确请改正</a:t>
            </a:r>
            <a:endParaRPr lang="en-US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A	2</a:t>
            </a:r>
            <a:r>
              <a:rPr lang="zh-CN" altLang="en-US" sz="3000" dirty="0"/>
              <a:t>，</a:t>
            </a:r>
            <a:r>
              <a:rPr lang="en-US" altLang="zh-CN" sz="3000" dirty="0"/>
              <a:t>4– </a:t>
            </a:r>
            <a:r>
              <a:rPr lang="zh-CN" altLang="en-US" sz="3000" dirty="0"/>
              <a:t>二乙基 戊烷</a:t>
            </a:r>
            <a:r>
              <a:rPr lang="en-US" altLang="zh-CN" sz="3000" dirty="0"/>
              <a:t>		</a:t>
            </a:r>
          </a:p>
          <a:p>
            <a:pPr marL="514350" indent="-514350">
              <a:buNone/>
            </a:pPr>
            <a:r>
              <a:rPr lang="en-US" altLang="zh-CN" sz="3000" dirty="0"/>
              <a:t>B	4– </a:t>
            </a:r>
            <a:r>
              <a:rPr lang="zh-CN" altLang="en-US" sz="3000" dirty="0"/>
              <a:t>甲基</a:t>
            </a:r>
            <a:r>
              <a:rPr lang="en-US" altLang="zh-CN" sz="3000" dirty="0"/>
              <a:t> – 3– </a:t>
            </a:r>
            <a:r>
              <a:rPr lang="zh-CN" altLang="en-US" sz="3000" dirty="0"/>
              <a:t>乙基 己烷</a:t>
            </a:r>
            <a:r>
              <a:rPr lang="en-US" altLang="zh-CN" sz="3000" dirty="0"/>
              <a:t>	</a:t>
            </a:r>
          </a:p>
          <a:p>
            <a:pPr marL="514350" indent="-514350">
              <a:buNone/>
            </a:pPr>
            <a:r>
              <a:rPr lang="en-US" altLang="zh-CN" sz="3000" dirty="0"/>
              <a:t>C	2</a:t>
            </a:r>
            <a:r>
              <a:rPr lang="zh-CN" altLang="en-US" sz="3000" dirty="0"/>
              <a:t>，</a:t>
            </a:r>
            <a:r>
              <a:rPr lang="en-US" altLang="zh-CN" sz="3000" dirty="0"/>
              <a:t>3</a:t>
            </a:r>
            <a:r>
              <a:rPr lang="zh-CN" altLang="en-US" sz="3000" dirty="0"/>
              <a:t>，</a:t>
            </a:r>
            <a:r>
              <a:rPr lang="en-US" altLang="zh-CN" sz="3000" dirty="0"/>
              <a:t>3– </a:t>
            </a:r>
            <a:r>
              <a:rPr lang="zh-CN" altLang="en-US" sz="3000" dirty="0"/>
              <a:t>三甲基 戊烷</a:t>
            </a:r>
            <a:r>
              <a:rPr lang="en-US" altLang="zh-CN" sz="3000" dirty="0"/>
              <a:t>		</a:t>
            </a:r>
          </a:p>
          <a:p>
            <a:pPr marL="514350" indent="-514350">
              <a:buNone/>
            </a:pPr>
            <a:r>
              <a:rPr lang="en-US" altLang="zh-CN" sz="3000" dirty="0"/>
              <a:t>D	 2– </a:t>
            </a:r>
            <a:r>
              <a:rPr lang="zh-CN" altLang="en-US" sz="3000" dirty="0"/>
              <a:t>甲基</a:t>
            </a:r>
            <a:r>
              <a:rPr lang="en-US" altLang="zh-CN" sz="3000" dirty="0"/>
              <a:t> – 3– </a:t>
            </a:r>
            <a:r>
              <a:rPr lang="zh-CN" altLang="en-US" sz="3000" dirty="0"/>
              <a:t>丙基 戊烷</a:t>
            </a:r>
            <a:endParaRPr lang="en-US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E 	1</a:t>
            </a:r>
            <a:r>
              <a:rPr lang="zh-CN" altLang="en-US" sz="3000" dirty="0"/>
              <a:t>，</a:t>
            </a:r>
            <a:r>
              <a:rPr lang="en-US" altLang="zh-CN" sz="3000" dirty="0"/>
              <a:t>1</a:t>
            </a:r>
            <a:r>
              <a:rPr lang="zh-CN" altLang="en-US" sz="3000" dirty="0"/>
              <a:t>，</a:t>
            </a:r>
            <a:r>
              <a:rPr lang="en-US" altLang="zh-CN" sz="3000" dirty="0"/>
              <a:t>4– </a:t>
            </a:r>
            <a:r>
              <a:rPr lang="zh-CN" altLang="en-US" sz="3000" dirty="0"/>
              <a:t>三甲基 己烷</a:t>
            </a:r>
            <a:r>
              <a:rPr lang="en-US" altLang="zh-CN" sz="3000" dirty="0"/>
              <a:t>		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</a:p>
          <a:p>
            <a:pPr marL="514350" indent="-514350">
              <a:buNone/>
            </a:pP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	3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5–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二甲基庚烷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buNone/>
            </a:pP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 	3–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甲基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4–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乙基 己烷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buNone/>
            </a:pP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 	 2–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甲基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3–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乙基 己烷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buNone/>
            </a:pP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 	2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 –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二甲基庚烷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buAutoNum type="arabicPeriod"/>
            </a:pP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9154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27.5 </a:t>
            </a:r>
            <a:r>
              <a:rPr lang="zh-CN" altLang="en-US" sz="4800" b="1" dirty="0">
                <a:latin typeface="+mn-ea"/>
              </a:rPr>
              <a:t>烷烃的命名法（补充题）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zh-CN" altLang="en-US" sz="2900" dirty="0"/>
              <a:t>丁烷</a:t>
            </a:r>
            <a:endParaRPr lang="en-US" altLang="zh-CN" sz="2900" dirty="0"/>
          </a:p>
          <a:p>
            <a:pPr marL="514350" indent="-514350">
              <a:buAutoNum type="arabicPeriod"/>
            </a:pPr>
            <a:r>
              <a:rPr lang="en-US" altLang="zh-CN" sz="2900" dirty="0"/>
              <a:t>2– </a:t>
            </a:r>
            <a:r>
              <a:rPr lang="zh-CN" altLang="en-US" sz="2900" dirty="0"/>
              <a:t>甲基丙烷</a:t>
            </a:r>
            <a:endParaRPr lang="en-US" altLang="zh-CN" sz="2900" dirty="0"/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altLang="zh-CN" sz="2900" dirty="0"/>
              <a:t>2– </a:t>
            </a:r>
            <a:r>
              <a:rPr lang="zh-CN" altLang="en-US" sz="2900" dirty="0"/>
              <a:t>甲基丁烷</a:t>
            </a:r>
            <a:endParaRPr lang="en-US" altLang="zh-CN" sz="2900" dirty="0"/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altLang="zh-CN" sz="2900" dirty="0"/>
              <a:t>2</a:t>
            </a:r>
            <a:r>
              <a:rPr lang="zh-CN" altLang="en-US" sz="2900" dirty="0"/>
              <a:t>，</a:t>
            </a:r>
            <a:r>
              <a:rPr lang="en-US" altLang="zh-CN" sz="2900" dirty="0"/>
              <a:t>2 – </a:t>
            </a:r>
            <a:r>
              <a:rPr lang="zh-CN" altLang="en-US" sz="2900" dirty="0"/>
              <a:t>二甲基丙烷</a:t>
            </a:r>
            <a:endParaRPr lang="en-US" altLang="zh-CN" sz="2900" dirty="0"/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altLang="zh-CN" sz="2900" dirty="0"/>
              <a:t>2</a:t>
            </a:r>
            <a:r>
              <a:rPr lang="zh-CN" altLang="en-US" sz="2900" dirty="0"/>
              <a:t>，</a:t>
            </a:r>
            <a:r>
              <a:rPr lang="en-US" altLang="zh-CN" sz="2900" dirty="0"/>
              <a:t>3 – </a:t>
            </a:r>
            <a:r>
              <a:rPr lang="zh-CN" altLang="en-US" sz="2900" dirty="0"/>
              <a:t>二甲基己烷</a:t>
            </a:r>
            <a:endParaRPr lang="en-US" altLang="zh-CN" sz="2900" dirty="0"/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altLang="zh-CN" sz="2900" dirty="0"/>
              <a:t>2</a:t>
            </a:r>
            <a:r>
              <a:rPr lang="zh-CN" altLang="en-US" sz="2900" dirty="0"/>
              <a:t>，</a:t>
            </a:r>
            <a:r>
              <a:rPr lang="en-US" altLang="zh-CN" sz="2900" dirty="0"/>
              <a:t>2 – </a:t>
            </a:r>
            <a:r>
              <a:rPr lang="zh-CN" altLang="en-US" sz="2900" dirty="0"/>
              <a:t>二甲基己烷</a:t>
            </a:r>
            <a:endParaRPr lang="en-US" altLang="zh-CN" sz="2900" dirty="0"/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altLang="zh-CN" sz="2900" dirty="0"/>
              <a:t>3– </a:t>
            </a:r>
            <a:r>
              <a:rPr lang="zh-CN" altLang="en-US" sz="2900" dirty="0"/>
              <a:t>甲基己烷</a:t>
            </a:r>
            <a:endParaRPr lang="en-US" altLang="zh-CN" sz="2900" dirty="0"/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altLang="zh-CN" sz="2900" dirty="0"/>
              <a:t>2</a:t>
            </a:r>
            <a:r>
              <a:rPr lang="zh-CN" altLang="en-US" sz="2900" dirty="0"/>
              <a:t>，</a:t>
            </a:r>
            <a:r>
              <a:rPr lang="en-US" altLang="zh-CN" sz="2900" dirty="0"/>
              <a:t>3 – </a:t>
            </a:r>
            <a:r>
              <a:rPr lang="zh-CN" altLang="en-US" sz="2900" dirty="0"/>
              <a:t>二甲基戊烷</a:t>
            </a:r>
            <a:endParaRPr lang="en-US" altLang="zh-CN" sz="2900" dirty="0"/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altLang="zh-CN" sz="2900" dirty="0"/>
              <a:t>3</a:t>
            </a:r>
            <a:r>
              <a:rPr lang="zh-CN" altLang="en-US" sz="2900" dirty="0"/>
              <a:t>，</a:t>
            </a:r>
            <a:r>
              <a:rPr lang="en-US" altLang="zh-CN" sz="2900" dirty="0"/>
              <a:t>3</a:t>
            </a:r>
            <a:r>
              <a:rPr lang="zh-CN" altLang="en-US" sz="2900" dirty="0"/>
              <a:t>，</a:t>
            </a:r>
            <a:r>
              <a:rPr lang="en-US" altLang="zh-CN" sz="2900" dirty="0"/>
              <a:t>4</a:t>
            </a:r>
            <a:r>
              <a:rPr lang="zh-CN" altLang="en-US" sz="2900" dirty="0"/>
              <a:t>，</a:t>
            </a:r>
            <a:r>
              <a:rPr lang="en-US" altLang="zh-CN" sz="2900" dirty="0"/>
              <a:t>6 – </a:t>
            </a:r>
            <a:r>
              <a:rPr lang="zh-CN" altLang="en-US" sz="2900" dirty="0"/>
              <a:t>四甲基辛烷</a:t>
            </a:r>
            <a:endParaRPr lang="en-US" altLang="zh-CN" sz="2900" dirty="0"/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altLang="zh-CN" sz="2900" dirty="0"/>
              <a:t>3</a:t>
            </a:r>
            <a:r>
              <a:rPr lang="zh-CN" altLang="en-US" sz="2900" dirty="0"/>
              <a:t>，</a:t>
            </a:r>
            <a:r>
              <a:rPr lang="en-US" altLang="zh-CN" sz="2900" dirty="0"/>
              <a:t>3</a:t>
            </a:r>
            <a:r>
              <a:rPr lang="zh-CN" altLang="en-US" sz="2900" dirty="0"/>
              <a:t>，</a:t>
            </a:r>
            <a:r>
              <a:rPr lang="en-US" altLang="zh-CN" sz="2900" dirty="0"/>
              <a:t>4– </a:t>
            </a:r>
            <a:r>
              <a:rPr lang="zh-CN" altLang="en-US" sz="2900" dirty="0"/>
              <a:t>三甲基己烷</a:t>
            </a:r>
            <a:endParaRPr lang="en-US" altLang="zh-CN" sz="2900" dirty="0"/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altLang="zh-CN" sz="2900" dirty="0"/>
              <a:t>3</a:t>
            </a:r>
            <a:r>
              <a:rPr lang="zh-CN" altLang="en-US" sz="2900" dirty="0"/>
              <a:t>，</a:t>
            </a:r>
            <a:r>
              <a:rPr lang="en-US" altLang="zh-CN" sz="2900" dirty="0"/>
              <a:t>3</a:t>
            </a:r>
            <a:r>
              <a:rPr lang="zh-CN" altLang="en-US" sz="2900" dirty="0"/>
              <a:t>，</a:t>
            </a:r>
            <a:r>
              <a:rPr lang="en-US" altLang="zh-CN" sz="2900" dirty="0"/>
              <a:t>5 – </a:t>
            </a:r>
            <a:r>
              <a:rPr lang="zh-CN" altLang="en-US" sz="2900" dirty="0"/>
              <a:t>三甲基庚烷</a:t>
            </a:r>
            <a:endParaRPr lang="en-US" altLang="zh-CN" sz="2900" dirty="0"/>
          </a:p>
          <a:p>
            <a:pPr marL="514350" indent="-514350">
              <a:buFont typeface="Arial" pitchFamily="34" charset="0"/>
              <a:buAutoNum type="arabicPeriod"/>
            </a:pPr>
            <a:endParaRPr lang="en-US" altLang="zh-CN" sz="2900" dirty="0"/>
          </a:p>
          <a:p>
            <a:pPr marL="514350" indent="-514350">
              <a:buFont typeface="Arial" pitchFamily="34" charset="0"/>
              <a:buAutoNum type="arabicPeriod"/>
            </a:pPr>
            <a:endParaRPr lang="en-US" altLang="zh-CN" sz="2900" dirty="0"/>
          </a:p>
          <a:p>
            <a:pPr marL="514350" indent="-514350">
              <a:buFont typeface="Arial" pitchFamily="34" charset="0"/>
              <a:buAutoNum type="arabicPeriod"/>
            </a:pPr>
            <a:endParaRPr lang="en-US" altLang="zh-CN" sz="2900" dirty="0"/>
          </a:p>
          <a:p>
            <a:pPr marL="514350" indent="-514350">
              <a:buFont typeface="Arial" pitchFamily="34" charset="0"/>
              <a:buAutoNum type="arabicPeriod"/>
            </a:pPr>
            <a:endParaRPr lang="en-US" altLang="zh-CN" sz="2900" dirty="0"/>
          </a:p>
          <a:p>
            <a:pPr marL="514350" indent="-514350">
              <a:buFont typeface="Arial" pitchFamily="34" charset="0"/>
              <a:buAutoNum type="arabicPeriod"/>
            </a:pPr>
            <a:endParaRPr lang="en-US" altLang="zh-CN" sz="2900" dirty="0"/>
          </a:p>
          <a:p>
            <a:pPr marL="514350" indent="-514350">
              <a:buFont typeface="Arial" pitchFamily="34" charset="0"/>
              <a:buAutoNum type="arabicPeriod"/>
            </a:pPr>
            <a:endParaRPr lang="en-US" altLang="zh-CN" sz="2900" dirty="0"/>
          </a:p>
          <a:p>
            <a:pPr marL="514350" indent="-514350">
              <a:buAutoNum type="arabicPeriod"/>
            </a:pPr>
            <a:endParaRPr lang="en-US" altLang="zh-CN" sz="2900" dirty="0"/>
          </a:p>
          <a:p>
            <a:pPr>
              <a:buNone/>
            </a:pPr>
            <a:endParaRPr lang="en-US" altLang="zh-CN" sz="2900" dirty="0"/>
          </a:p>
        </p:txBody>
      </p:sp>
      <p:pic>
        <p:nvPicPr>
          <p:cNvPr id="7" name="Picture 6" descr="nam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964372"/>
            <a:ext cx="7315200" cy="5893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>
                <a:latin typeface="+mn-ea"/>
              </a:rPr>
              <a:t>思考题 </a:t>
            </a:r>
            <a:r>
              <a:rPr lang="en-US" altLang="zh-CN" sz="4800" b="1" dirty="0">
                <a:latin typeface="+mn-ea"/>
              </a:rPr>
              <a:t>27e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MY" altLang="zh-CN" sz="3000" dirty="0"/>
              <a:t>C 			</a:t>
            </a:r>
            <a:r>
              <a:rPr lang="en-US" altLang="zh-CN" sz="3000" dirty="0"/>
              <a:t>2. </a:t>
            </a:r>
            <a:r>
              <a:rPr lang="en-MY" altLang="zh-CN" sz="3000" dirty="0"/>
              <a:t>D </a:t>
            </a:r>
          </a:p>
          <a:p>
            <a:pPr marL="0" indent="0">
              <a:buNone/>
            </a:pPr>
            <a:r>
              <a:rPr lang="en-US" altLang="zh-CN" sz="3000" dirty="0"/>
              <a:t>3. </a:t>
            </a:r>
            <a:r>
              <a:rPr lang="en-MY" altLang="zh-CN" sz="3000" dirty="0"/>
              <a:t> 	(1) </a:t>
            </a:r>
            <a:r>
              <a:rPr lang="zh-CN" altLang="en-US" sz="3000" dirty="0"/>
              <a:t>戊烷</a:t>
            </a:r>
            <a:endParaRPr lang="en-MY" altLang="zh-CN" sz="3000" dirty="0"/>
          </a:p>
          <a:p>
            <a:pPr marL="0" indent="0">
              <a:buNone/>
            </a:pPr>
            <a:r>
              <a:rPr lang="en-MY" altLang="zh-CN" sz="3000" dirty="0"/>
              <a:t>	(2) 2-</a:t>
            </a:r>
            <a:r>
              <a:rPr lang="zh-CN" altLang="en-US" sz="3000" dirty="0"/>
              <a:t>甲基丁烷</a:t>
            </a:r>
            <a:endParaRPr lang="en-MY" altLang="zh-CN" sz="3000" dirty="0"/>
          </a:p>
          <a:p>
            <a:pPr marL="0" indent="0">
              <a:buNone/>
            </a:pPr>
            <a:r>
              <a:rPr lang="en-MY" altLang="zh-CN" sz="3000" dirty="0"/>
              <a:t>	(3) 2,2-</a:t>
            </a:r>
            <a:r>
              <a:rPr lang="zh-CN" altLang="en-US" sz="3000" dirty="0"/>
              <a:t>二甲基丙烷</a:t>
            </a:r>
            <a:endParaRPr lang="en-MY" altLang="zh-CN" sz="3000" dirty="0"/>
          </a:p>
          <a:p>
            <a:pPr marL="0" indent="0">
              <a:buNone/>
            </a:pPr>
            <a:r>
              <a:rPr lang="en-MY" altLang="zh-CN" sz="3000" dirty="0"/>
              <a:t>	(4) </a:t>
            </a:r>
            <a:r>
              <a:rPr lang="zh-CN" altLang="en-US" sz="3000" dirty="0"/>
              <a:t>丁烷</a:t>
            </a:r>
            <a:endParaRPr lang="en-MY" altLang="zh-CN" sz="3000" dirty="0"/>
          </a:p>
          <a:p>
            <a:pPr marL="0" indent="0">
              <a:buNone/>
            </a:pPr>
            <a:r>
              <a:rPr lang="en-MY" altLang="zh-CN" sz="3000" dirty="0"/>
              <a:t>	(5) 2-</a:t>
            </a:r>
            <a:r>
              <a:rPr lang="zh-CN" altLang="en-US" sz="3000" dirty="0"/>
              <a:t>甲基丙烷</a:t>
            </a:r>
            <a:endParaRPr lang="en-MY" altLang="zh-CN" sz="3000" dirty="0"/>
          </a:p>
          <a:p>
            <a:pPr marL="0" indent="0">
              <a:buNone/>
            </a:pPr>
            <a:r>
              <a:rPr lang="en-US" altLang="zh-CN" sz="3000" dirty="0"/>
              <a:t>4. </a:t>
            </a:r>
            <a:r>
              <a:rPr lang="en-MY" altLang="zh-CN" sz="3000" dirty="0"/>
              <a:t> 	(1) 2,</a:t>
            </a:r>
            <a:r>
              <a:rPr lang="en-US" altLang="zh-CN" sz="3000" dirty="0"/>
              <a:t>4</a:t>
            </a:r>
            <a:r>
              <a:rPr lang="en-MY" altLang="zh-CN" sz="3000" dirty="0"/>
              <a:t>-</a:t>
            </a:r>
            <a:r>
              <a:rPr lang="zh-CN" altLang="en-US" sz="3000" dirty="0"/>
              <a:t>二甲基已烷</a:t>
            </a:r>
            <a:endParaRPr lang="en-MY" altLang="zh-CN" sz="3000" dirty="0"/>
          </a:p>
          <a:p>
            <a:pPr marL="0" indent="0">
              <a:buNone/>
            </a:pPr>
            <a:r>
              <a:rPr lang="en-MY" altLang="zh-CN" sz="3000" dirty="0"/>
              <a:t>	(2) 2,2,3,3,</a:t>
            </a:r>
            <a:r>
              <a:rPr lang="en-US" altLang="zh-CN" sz="3000" dirty="0"/>
              <a:t>4</a:t>
            </a:r>
            <a:r>
              <a:rPr lang="en-MY" altLang="zh-CN" sz="3000" dirty="0"/>
              <a:t>-</a:t>
            </a:r>
            <a:r>
              <a:rPr lang="zh-CN" altLang="en-US" sz="3000" dirty="0"/>
              <a:t>五甲基已烷</a:t>
            </a:r>
            <a:r>
              <a:rPr lang="en-MY" altLang="zh-CN" sz="3000" dirty="0"/>
              <a:t>	</a:t>
            </a:r>
          </a:p>
          <a:p>
            <a:pPr marL="0" indent="0">
              <a:buNone/>
            </a:pPr>
            <a:r>
              <a:rPr lang="en-MY" altLang="zh-CN" sz="3000" dirty="0"/>
              <a:t>	(3) 2,2,3,3,-</a:t>
            </a:r>
            <a:r>
              <a:rPr lang="zh-CN" altLang="en-US" sz="3000" dirty="0"/>
              <a:t>四甲基</a:t>
            </a:r>
            <a:r>
              <a:rPr lang="en-US" altLang="zh-CN" sz="3000" dirty="0"/>
              <a:t>-4-</a:t>
            </a:r>
            <a:r>
              <a:rPr lang="zh-CN" altLang="en-US" sz="3000" dirty="0"/>
              <a:t>乙基庚烷</a:t>
            </a:r>
            <a:endParaRPr lang="en-MY" altLang="zh-CN" sz="3000" dirty="0"/>
          </a:p>
          <a:p>
            <a:pPr marL="0" indent="0">
              <a:buNone/>
            </a:pPr>
            <a:r>
              <a:rPr lang="en-MY" altLang="zh-CN" sz="3000" dirty="0"/>
              <a:t>	(4) 2,</a:t>
            </a:r>
            <a:r>
              <a:rPr lang="en-US" altLang="zh-CN" sz="3000" dirty="0"/>
              <a:t>3</a:t>
            </a:r>
            <a:r>
              <a:rPr lang="en-MY" altLang="zh-CN" sz="3000" dirty="0"/>
              <a:t>,</a:t>
            </a:r>
            <a:r>
              <a:rPr lang="en-US" altLang="zh-CN" sz="3000" dirty="0"/>
              <a:t>4</a:t>
            </a:r>
            <a:r>
              <a:rPr lang="en-MY" altLang="zh-CN" sz="3000" dirty="0"/>
              <a:t>,</a:t>
            </a:r>
            <a:r>
              <a:rPr lang="en-US" altLang="zh-CN" sz="3000" dirty="0"/>
              <a:t>5</a:t>
            </a:r>
            <a:r>
              <a:rPr lang="en-MY" altLang="zh-CN" sz="3000" dirty="0"/>
              <a:t>,-</a:t>
            </a:r>
            <a:r>
              <a:rPr lang="zh-CN" altLang="en-US" sz="3000" dirty="0"/>
              <a:t>四甲基</a:t>
            </a:r>
            <a:r>
              <a:rPr lang="en-US" altLang="zh-CN" sz="3000" dirty="0"/>
              <a:t>-3</a:t>
            </a:r>
            <a:r>
              <a:rPr lang="en-MY" altLang="zh-CN" sz="3000" dirty="0"/>
              <a:t>,5</a:t>
            </a:r>
            <a:r>
              <a:rPr lang="en-US" altLang="zh-CN" sz="3000" dirty="0"/>
              <a:t>-</a:t>
            </a:r>
            <a:r>
              <a:rPr lang="zh-CN" altLang="en-US" sz="3000" dirty="0"/>
              <a:t>二乙基辛烷</a:t>
            </a: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29246146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27.6 </a:t>
            </a:r>
            <a:r>
              <a:rPr lang="zh-CN" altLang="en-US" sz="4800" b="1" dirty="0">
                <a:latin typeface="+mn-ea"/>
              </a:rPr>
              <a:t>烷</a:t>
            </a:r>
            <a:r>
              <a:rPr lang="zh-CN" altLang="en-US" sz="4800" b="1">
                <a:latin typeface="+mn-ea"/>
              </a:rPr>
              <a:t>烃的物理性</a:t>
            </a:r>
            <a:r>
              <a:rPr lang="zh-CN" altLang="en-US" sz="4800" b="1" dirty="0">
                <a:latin typeface="+mn-ea"/>
              </a:rPr>
              <a:t>质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3000" dirty="0"/>
              <a:t>物理性质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3000" dirty="0"/>
              <a:t>无色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3000" dirty="0"/>
              <a:t>不溶于水、易溶于某些有机物质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3000" dirty="0"/>
              <a:t>沸点，相对密度随着相对分子质量增加而增加</a:t>
            </a:r>
            <a:endParaRPr lang="en-MY" altLang="zh-CN" sz="3000" dirty="0"/>
          </a:p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3000" dirty="0"/>
              <a:t>互为同分异构的有机物：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支链越多</a:t>
            </a:r>
            <a:r>
              <a:rPr lang="zh-CN" altLang="en-US" sz="3000" dirty="0"/>
              <a:t>，分子间接触面积越小，范德华力越弱，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沸点越低</a:t>
            </a:r>
            <a:r>
              <a:rPr lang="zh-CN" altLang="en-US" sz="3000" dirty="0"/>
              <a:t>。</a:t>
            </a:r>
            <a:endParaRPr lang="en-MY" altLang="zh-CN" sz="3000" dirty="0"/>
          </a:p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3000" dirty="0"/>
              <a:t>互为同分异构体的烷烃：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对称性越高</a:t>
            </a:r>
            <a:r>
              <a:rPr lang="zh-CN" altLang="en-US" sz="3000" dirty="0"/>
              <a:t>，分子间排列越紧密，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熔点越高</a:t>
            </a:r>
            <a:r>
              <a:rPr lang="zh-CN" altLang="en-US" sz="3000" dirty="0"/>
              <a:t>。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>
                <a:latin typeface="+mn-ea"/>
              </a:rPr>
              <a:t>思考题 </a:t>
            </a:r>
            <a:r>
              <a:rPr lang="en-US" altLang="zh-CN" sz="4800" b="1" dirty="0">
                <a:latin typeface="+mn-ea"/>
              </a:rPr>
              <a:t>27f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000" dirty="0"/>
              <a:t>1. </a:t>
            </a:r>
            <a:r>
              <a:rPr lang="zh-CN" altLang="en-US" sz="3000" dirty="0"/>
              <a:t>在常温常压下，碳原子个数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≤</a:t>
            </a:r>
            <a:r>
              <a:rPr lang="en-US" altLang="zh-CN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zh-CN" altLang="en-US" sz="3000" dirty="0"/>
              <a:t>的烷烃为气态；</a:t>
            </a:r>
            <a:endParaRPr lang="en-MY" altLang="zh-CN" sz="3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MY" altLang="zh-CN" sz="3000" dirty="0"/>
              <a:t>			</a:t>
            </a:r>
            <a:r>
              <a:rPr lang="zh-CN" altLang="en-US" sz="3000" dirty="0"/>
              <a:t>碳原子个数</a:t>
            </a:r>
            <a:r>
              <a:rPr lang="en-US" altLang="zh-CN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5~16</a:t>
            </a:r>
            <a:r>
              <a:rPr lang="zh-CN" altLang="en-US" sz="3000" dirty="0"/>
              <a:t>的烷烃为液态；</a:t>
            </a:r>
            <a:endParaRPr lang="en-MY" altLang="zh-CN" sz="3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MY" altLang="zh-CN" sz="3000" dirty="0"/>
              <a:t>			</a:t>
            </a:r>
            <a:r>
              <a:rPr lang="zh-CN" altLang="en-US" sz="3000" dirty="0"/>
              <a:t>碳原子个数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≥</a:t>
            </a:r>
            <a:r>
              <a:rPr lang="en-US" altLang="zh-CN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  <a:r>
              <a:rPr lang="zh-CN" altLang="en-US" sz="3000" dirty="0"/>
              <a:t>的烷烃为固态。</a:t>
            </a:r>
            <a:endParaRPr lang="en-MY" altLang="zh-CN" sz="3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3000" dirty="0"/>
              <a:t>它们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不溶</a:t>
            </a:r>
            <a:r>
              <a:rPr lang="zh-CN" altLang="en-US" sz="3000" dirty="0"/>
              <a:t>于水，易溶于有机溶剂。</a:t>
            </a:r>
            <a:endParaRPr lang="en-MY" altLang="zh-CN" sz="3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3000" dirty="0"/>
              <a:t>随着碳原子个数增多，脂肪烃的熔点、沸点逐渐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升高</a:t>
            </a:r>
            <a:r>
              <a:rPr lang="zh-CN" altLang="en-US" sz="3000" dirty="0"/>
              <a:t>，相对密度逐渐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增大</a:t>
            </a:r>
            <a:r>
              <a:rPr lang="zh-CN" altLang="en-US" sz="3000" dirty="0"/>
              <a:t>。</a:t>
            </a:r>
            <a:endParaRPr lang="en-MY" altLang="zh-CN" sz="3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000" dirty="0"/>
              <a:t>2. </a:t>
            </a:r>
            <a:r>
              <a:rPr lang="zh-CN" altLang="en-US" sz="3000" dirty="0"/>
              <a:t>能使</a:t>
            </a:r>
            <a:r>
              <a:rPr lang="en-US" altLang="zh-CN" sz="3000" dirty="0"/>
              <a:t>CuSO</a:t>
            </a:r>
            <a:r>
              <a:rPr lang="en-US" altLang="zh-CN" sz="3000" baseline="-25000" dirty="0"/>
              <a:t>4 </a:t>
            </a:r>
            <a:r>
              <a:rPr lang="en-US" altLang="zh-CN" sz="3000" dirty="0"/>
              <a:t> </a:t>
            </a:r>
            <a:r>
              <a:rPr lang="zh-CN" altLang="en-US" sz="3000" dirty="0"/>
              <a:t>从白色变蓝色的是水，不能的是有机层。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31172932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27.7 </a:t>
            </a:r>
            <a:r>
              <a:rPr lang="zh-CN" altLang="en-US" sz="4800" b="1" dirty="0">
                <a:latin typeface="+mn-ea"/>
              </a:rPr>
              <a:t>烷烃的化学性质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686800" cy="58674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3000" dirty="0"/>
              <a:t>属饱和烃，一般不活泼（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性质稳定</a:t>
            </a:r>
            <a:r>
              <a:rPr lang="zh-CN" altLang="en-US" sz="3000" dirty="0"/>
              <a:t>）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烷烃无加成反应，因为烷烃没有</a:t>
            </a:r>
            <a:r>
              <a:rPr lang="en-US" altLang="zh-CN" sz="3000" dirty="0"/>
              <a:t>C=C,</a:t>
            </a:r>
            <a:r>
              <a:rPr lang="zh-CN" altLang="en-US" sz="3000" dirty="0"/>
              <a:t>且是饱和烃。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27.7.1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氧化反应（燃烧）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完全燃烧后生成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</a:t>
            </a:r>
            <a:r>
              <a:rPr lang="en-US" altLang="zh-CN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和热量</a:t>
            </a:r>
            <a:r>
              <a:rPr lang="zh-CN" altLang="en-US" dirty="0"/>
              <a:t>（作为燃料）</a:t>
            </a:r>
            <a:endParaRPr lang="en-US" altLang="zh-CN" dirty="0"/>
          </a:p>
          <a:p>
            <a:pPr lvl="2">
              <a:buFont typeface="Wingdings" pitchFamily="2" charset="2"/>
              <a:buChar char="Ø"/>
            </a:pPr>
            <a:r>
              <a:rPr lang="zh-CN" altLang="en-US" dirty="0"/>
              <a:t>天然气：甲烷</a:t>
            </a:r>
            <a:endParaRPr lang="en-US" altLang="zh-CN" dirty="0"/>
          </a:p>
          <a:p>
            <a:pPr lvl="2">
              <a:buFont typeface="Wingdings" pitchFamily="2" charset="2"/>
              <a:buChar char="Ø"/>
            </a:pPr>
            <a:r>
              <a:rPr lang="zh-CN" altLang="en-US" dirty="0"/>
              <a:t>石油气：丙烷、丁烷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甲烷不与</a:t>
            </a:r>
            <a:r>
              <a:rPr lang="en-US" altLang="zh-CN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KMnO</a:t>
            </a:r>
            <a:r>
              <a:rPr lang="en-US" altLang="zh-CN" b="1" baseline="-25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zh-CN" altLang="en-US" b="1" baseline="-25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（强氧化剂）、强还原剂、强酸、强碱反应</a:t>
            </a:r>
            <a:endParaRPr lang="en-MY" altLang="zh-CN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en-US" altLang="zh-CN" sz="2600" dirty="0"/>
          </a:p>
        </p:txBody>
      </p:sp>
    </p:spTree>
    <p:extLst>
      <p:ext uri="{BB962C8B-B14F-4D97-AF65-F5344CB8AC3E}">
        <p14:creationId xmlns:p14="http://schemas.microsoft.com/office/powerpoint/2010/main" val="6470415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27.7</a:t>
            </a:r>
            <a:r>
              <a:rPr lang="en-MY" altLang="zh-CN" sz="4800" b="1" dirty="0">
                <a:latin typeface="+mn-ea"/>
              </a:rPr>
              <a:t>.2 </a:t>
            </a:r>
            <a:r>
              <a:rPr lang="zh-CN" altLang="en-US" sz="4800" b="1" dirty="0">
                <a:latin typeface="+mn-ea"/>
              </a:rPr>
              <a:t>取代反应</a:t>
            </a:r>
            <a:endParaRPr lang="en-US" altLang="zh-CN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686800" cy="58674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/>
              <a:t>取代反应：有机物分子中某些原子或原子团被其他原子或原子团取代的反应。</a:t>
            </a:r>
            <a:endParaRPr lang="en-MY" altLang="zh-CN" sz="3000" dirty="0"/>
          </a:p>
          <a:p>
            <a:pPr marL="0" indent="0">
              <a:buNone/>
            </a:pPr>
            <a:r>
              <a:rPr lang="zh-CN" altLang="en-US" sz="3000" dirty="0"/>
              <a:t>活动</a:t>
            </a:r>
            <a:r>
              <a:rPr lang="en-US" altLang="zh-CN" sz="3000" dirty="0"/>
              <a:t>2 </a:t>
            </a:r>
            <a:r>
              <a:rPr lang="zh-CN" altLang="en-US" sz="2000" dirty="0"/>
              <a:t>答案</a:t>
            </a:r>
            <a:r>
              <a:rPr lang="en-US" altLang="zh-CN" sz="2000" dirty="0"/>
              <a:t>pg51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/>
              <a:t>黄绿色变浅、量筒壁上出现油状液滴、饱和食盐水中有晶体析出、量筒液面上升。</a:t>
            </a:r>
            <a:endParaRPr lang="en-MY" altLang="zh-CN" sz="30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/>
              <a:t>说明氯气与甲烷反应。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27.7</a:t>
            </a:r>
            <a:r>
              <a:rPr lang="en-MY" altLang="zh-CN" sz="4800" b="1" dirty="0">
                <a:latin typeface="+mn-ea"/>
              </a:rPr>
              <a:t>.2 </a:t>
            </a:r>
            <a:r>
              <a:rPr lang="zh-CN" altLang="en-US" sz="4800" b="1" dirty="0">
                <a:latin typeface="+mn-ea"/>
              </a:rPr>
              <a:t>取代反应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氯化反应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		CH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 + Cl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 		     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Cl + </a:t>
            </a:r>
            <a:r>
              <a:rPr lang="en-US" altLang="zh-CN" sz="3000" dirty="0" err="1"/>
              <a:t>HCl</a:t>
            </a:r>
            <a:r>
              <a:rPr lang="en-US" altLang="zh-CN" sz="3000" dirty="0"/>
              <a:t> </a:t>
            </a:r>
          </a:p>
          <a:p>
            <a:pPr>
              <a:buNone/>
            </a:pPr>
            <a:r>
              <a:rPr lang="zh-CN" altLang="en-US" sz="3000" dirty="0"/>
              <a:t>自由基链反应：</a:t>
            </a:r>
            <a:endParaRPr lang="en-US" altLang="zh-CN" sz="3000" dirty="0"/>
          </a:p>
          <a:p>
            <a:pPr marL="514350" indent="-514350">
              <a:buAutoNum type="arabicParenBoth"/>
            </a:pPr>
            <a:r>
              <a:rPr lang="zh-CN" altLang="en-US" sz="3000" dirty="0"/>
              <a:t>链引发： </a:t>
            </a:r>
            <a:r>
              <a:rPr lang="en-US" altLang="zh-CN" sz="3000" dirty="0"/>
              <a:t>Cl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		 2Cl</a:t>
            </a:r>
            <a:r>
              <a:rPr lang="en-US" altLang="zh-CN" sz="3000" dirty="0">
                <a:cs typeface="Arial"/>
              </a:rPr>
              <a:t>·</a:t>
            </a:r>
          </a:p>
          <a:p>
            <a:pPr marL="514350" indent="-514350">
              <a:buAutoNum type="arabicParenBoth"/>
            </a:pPr>
            <a:r>
              <a:rPr lang="zh-CN" altLang="en-US" sz="3000" dirty="0">
                <a:cs typeface="Arial"/>
              </a:rPr>
              <a:t>链传递：</a:t>
            </a:r>
            <a:r>
              <a:rPr lang="en-US" altLang="zh-CN" sz="3000" dirty="0"/>
              <a:t> </a:t>
            </a:r>
            <a:r>
              <a:rPr lang="en-US" altLang="zh-CN" sz="3000" dirty="0" err="1"/>
              <a:t>Cl</a:t>
            </a:r>
            <a:r>
              <a:rPr lang="en-US" altLang="zh-CN" sz="3000" dirty="0">
                <a:cs typeface="Arial"/>
              </a:rPr>
              <a:t>· + CH</a:t>
            </a:r>
            <a:r>
              <a:rPr lang="en-US" altLang="zh-CN" sz="3000" baseline="-25000" dirty="0">
                <a:cs typeface="Arial"/>
              </a:rPr>
              <a:t>4</a:t>
            </a:r>
            <a:r>
              <a:rPr lang="en-US" altLang="zh-CN" sz="3000" dirty="0">
                <a:cs typeface="Arial"/>
              </a:rPr>
              <a:t> </a:t>
            </a:r>
            <a:r>
              <a:rPr lang="en-US" altLang="zh-CN" sz="3000" dirty="0">
                <a:cs typeface="Arial"/>
                <a:sym typeface="Wingdings" pitchFamily="2" charset="2"/>
              </a:rPr>
              <a:t> </a:t>
            </a:r>
            <a:r>
              <a:rPr lang="en-US" altLang="zh-CN" sz="3000" dirty="0" err="1">
                <a:cs typeface="Arial"/>
                <a:sym typeface="Wingdings" pitchFamily="2" charset="2"/>
              </a:rPr>
              <a:t>HCl</a:t>
            </a:r>
            <a:r>
              <a:rPr lang="en-US" altLang="zh-CN" sz="3000" dirty="0">
                <a:cs typeface="Arial"/>
                <a:sym typeface="Wingdings" pitchFamily="2" charset="2"/>
              </a:rPr>
              <a:t> + CH</a:t>
            </a:r>
            <a:r>
              <a:rPr lang="en-US" altLang="zh-CN" sz="3000" baseline="-25000" dirty="0">
                <a:cs typeface="Arial"/>
                <a:sym typeface="Wingdings" pitchFamily="2" charset="2"/>
              </a:rPr>
              <a:t>3</a:t>
            </a:r>
            <a:r>
              <a:rPr lang="en-US" altLang="zh-CN" sz="3000" dirty="0">
                <a:cs typeface="Arial"/>
              </a:rPr>
              <a:t>·</a:t>
            </a:r>
          </a:p>
          <a:p>
            <a:pPr marL="514350" indent="-514350">
              <a:buNone/>
            </a:pPr>
            <a:r>
              <a:rPr lang="en-US" altLang="zh-CN" sz="3000" dirty="0">
                <a:cs typeface="Arial"/>
              </a:rPr>
              <a:t>			</a:t>
            </a:r>
            <a:r>
              <a:rPr lang="en-US" altLang="zh-CN" sz="3000" dirty="0">
                <a:cs typeface="Arial"/>
                <a:sym typeface="Wingdings" pitchFamily="2" charset="2"/>
              </a:rPr>
              <a:t> CH</a:t>
            </a:r>
            <a:r>
              <a:rPr lang="en-US" altLang="zh-CN" sz="3000" baseline="-25000" dirty="0">
                <a:cs typeface="Arial"/>
                <a:sym typeface="Wingdings" pitchFamily="2" charset="2"/>
              </a:rPr>
              <a:t>3</a:t>
            </a:r>
            <a:r>
              <a:rPr lang="en-US" altLang="zh-CN" sz="3000" dirty="0">
                <a:cs typeface="Arial"/>
              </a:rPr>
              <a:t>· +</a:t>
            </a:r>
            <a:r>
              <a:rPr lang="en-US" altLang="zh-CN" sz="3000" dirty="0"/>
              <a:t> Cl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en-US" altLang="zh-CN" sz="3000" dirty="0">
                <a:cs typeface="Arial"/>
                <a:sym typeface="Wingdings" pitchFamily="2" charset="2"/>
              </a:rPr>
              <a:t> 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Cl + </a:t>
            </a:r>
            <a:r>
              <a:rPr lang="en-US" altLang="zh-CN" sz="3000" dirty="0" err="1"/>
              <a:t>Cl</a:t>
            </a:r>
            <a:r>
              <a:rPr lang="en-US" altLang="zh-CN" sz="3000" dirty="0">
                <a:cs typeface="Arial"/>
              </a:rPr>
              <a:t>· 	</a:t>
            </a:r>
            <a:r>
              <a:rPr lang="zh-CN" altLang="en-US" sz="3000" dirty="0">
                <a:cs typeface="Arial"/>
              </a:rPr>
              <a:t>重复进行</a:t>
            </a:r>
            <a:endParaRPr lang="en-US" altLang="zh-CN" sz="3000" dirty="0">
              <a:cs typeface="Arial"/>
            </a:endParaRPr>
          </a:p>
          <a:p>
            <a:pPr marL="514350" indent="-514350">
              <a:buFont typeface="Wingdings" pitchFamily="2" charset="2"/>
              <a:buAutoNum type="arabicParenBoth" startAt="3"/>
            </a:pPr>
            <a:r>
              <a:rPr lang="zh-CN" altLang="en-US" sz="3000" dirty="0">
                <a:cs typeface="Arial"/>
              </a:rPr>
              <a:t>链终止：</a:t>
            </a:r>
            <a:r>
              <a:rPr lang="en-US" altLang="zh-CN" sz="3000" dirty="0" err="1">
                <a:cs typeface="Arial"/>
              </a:rPr>
              <a:t>Cl</a:t>
            </a:r>
            <a:r>
              <a:rPr lang="en-US" altLang="zh-CN" sz="3000" dirty="0">
                <a:cs typeface="Arial"/>
              </a:rPr>
              <a:t>· + </a:t>
            </a:r>
            <a:r>
              <a:rPr lang="en-US" altLang="zh-CN" sz="3000" dirty="0" err="1">
                <a:cs typeface="Arial"/>
              </a:rPr>
              <a:t>Cl</a:t>
            </a:r>
            <a:r>
              <a:rPr lang="en-US" altLang="zh-CN" sz="3000" dirty="0">
                <a:cs typeface="Arial"/>
              </a:rPr>
              <a:t>· </a:t>
            </a:r>
            <a:r>
              <a:rPr lang="en-US" altLang="zh-CN" sz="3000" dirty="0">
                <a:cs typeface="Arial"/>
                <a:sym typeface="Wingdings" pitchFamily="2" charset="2"/>
              </a:rPr>
              <a:t> Cl</a:t>
            </a:r>
            <a:r>
              <a:rPr lang="en-US" altLang="zh-CN" sz="3000" baseline="-25000" dirty="0">
                <a:cs typeface="Arial"/>
                <a:sym typeface="Wingdings" pitchFamily="2" charset="2"/>
              </a:rPr>
              <a:t>2</a:t>
            </a:r>
            <a:r>
              <a:rPr lang="en-US" altLang="zh-CN" sz="3000" dirty="0">
                <a:cs typeface="Arial"/>
                <a:sym typeface="Wingdings" pitchFamily="2" charset="2"/>
              </a:rPr>
              <a:t> </a:t>
            </a:r>
          </a:p>
          <a:p>
            <a:pPr marL="514350" indent="-514350">
              <a:buNone/>
            </a:pPr>
            <a:r>
              <a:rPr lang="en-US" altLang="zh-CN" sz="3000" dirty="0">
                <a:cs typeface="Arial"/>
                <a:sym typeface="Wingdings" pitchFamily="2" charset="2"/>
              </a:rPr>
              <a:t>			</a:t>
            </a:r>
            <a:r>
              <a:rPr lang="zh-CN" altLang="en-US" sz="3000" dirty="0">
                <a:cs typeface="Arial"/>
                <a:sym typeface="Wingdings" pitchFamily="2" charset="2"/>
              </a:rPr>
              <a:t>或 </a:t>
            </a:r>
            <a:r>
              <a:rPr lang="en-US" altLang="zh-CN" sz="3000" dirty="0">
                <a:cs typeface="Arial"/>
                <a:sym typeface="Wingdings" pitchFamily="2" charset="2"/>
              </a:rPr>
              <a:t>CH</a:t>
            </a:r>
            <a:r>
              <a:rPr lang="en-US" altLang="zh-CN" sz="3000" baseline="-25000" dirty="0">
                <a:cs typeface="Arial"/>
                <a:sym typeface="Wingdings" pitchFamily="2" charset="2"/>
              </a:rPr>
              <a:t>3</a:t>
            </a:r>
            <a:r>
              <a:rPr lang="en-US" altLang="zh-CN" sz="3000" dirty="0">
                <a:cs typeface="Arial"/>
              </a:rPr>
              <a:t>· + CH</a:t>
            </a:r>
            <a:r>
              <a:rPr lang="en-US" altLang="zh-CN" sz="3000" baseline="-25000" dirty="0">
                <a:cs typeface="Arial"/>
              </a:rPr>
              <a:t>3</a:t>
            </a:r>
            <a:r>
              <a:rPr lang="en-US" altLang="zh-CN" sz="3000" dirty="0">
                <a:cs typeface="Arial"/>
              </a:rPr>
              <a:t>· </a:t>
            </a:r>
            <a:r>
              <a:rPr lang="en-US" altLang="zh-CN" sz="3000" dirty="0">
                <a:cs typeface="Arial"/>
                <a:sym typeface="Wingdings" pitchFamily="2" charset="2"/>
              </a:rPr>
              <a:t> CH</a:t>
            </a:r>
            <a:r>
              <a:rPr lang="en-US" altLang="zh-CN" sz="3000" baseline="-25000" dirty="0">
                <a:cs typeface="Arial"/>
                <a:sym typeface="Wingdings" pitchFamily="2" charset="2"/>
              </a:rPr>
              <a:t>3</a:t>
            </a:r>
            <a:r>
              <a:rPr lang="en-US" altLang="zh-CN" sz="3000" dirty="0">
                <a:cs typeface="Arial"/>
                <a:sym typeface="Wingdings" pitchFamily="2" charset="2"/>
              </a:rPr>
              <a:t>CH</a:t>
            </a:r>
            <a:r>
              <a:rPr lang="en-US" altLang="zh-CN" sz="3000" baseline="-25000" dirty="0">
                <a:cs typeface="Arial"/>
                <a:sym typeface="Wingdings" pitchFamily="2" charset="2"/>
              </a:rPr>
              <a:t>3 </a:t>
            </a:r>
          </a:p>
          <a:p>
            <a:pPr marL="514350" indent="-514350">
              <a:buNone/>
            </a:pPr>
            <a:r>
              <a:rPr lang="en-US" altLang="zh-CN" sz="3000" baseline="-25000" dirty="0">
                <a:cs typeface="Arial"/>
                <a:sym typeface="Wingdings" pitchFamily="2" charset="2"/>
              </a:rPr>
              <a:t> </a:t>
            </a:r>
            <a:r>
              <a:rPr lang="en-US" altLang="zh-CN" sz="3000" dirty="0">
                <a:cs typeface="Arial"/>
                <a:sym typeface="Wingdings" pitchFamily="2" charset="2"/>
              </a:rPr>
              <a:t> 			</a:t>
            </a:r>
            <a:r>
              <a:rPr lang="zh-CN" altLang="en-US" sz="3000" dirty="0">
                <a:cs typeface="Arial"/>
                <a:sym typeface="Wingdings" pitchFamily="2" charset="2"/>
              </a:rPr>
              <a:t>或 </a:t>
            </a:r>
            <a:r>
              <a:rPr lang="en-US" altLang="zh-CN" sz="3000" dirty="0">
                <a:cs typeface="Arial"/>
                <a:sym typeface="Wingdings" pitchFamily="2" charset="2"/>
              </a:rPr>
              <a:t>CH</a:t>
            </a:r>
            <a:r>
              <a:rPr lang="en-US" altLang="zh-CN" sz="3000" baseline="-25000" dirty="0">
                <a:cs typeface="Arial"/>
                <a:sym typeface="Wingdings" pitchFamily="2" charset="2"/>
              </a:rPr>
              <a:t>3</a:t>
            </a:r>
            <a:r>
              <a:rPr lang="en-US" altLang="zh-CN" sz="3000" dirty="0">
                <a:cs typeface="Arial"/>
              </a:rPr>
              <a:t>· + </a:t>
            </a:r>
            <a:r>
              <a:rPr lang="en-US" altLang="zh-CN" sz="3000" dirty="0" err="1">
                <a:cs typeface="Arial"/>
              </a:rPr>
              <a:t>Cl</a:t>
            </a:r>
            <a:r>
              <a:rPr lang="en-US" altLang="zh-CN" sz="3000" dirty="0">
                <a:cs typeface="Arial"/>
              </a:rPr>
              <a:t>· </a:t>
            </a:r>
            <a:r>
              <a:rPr lang="en-US" altLang="zh-CN" sz="3000" dirty="0">
                <a:cs typeface="Arial"/>
                <a:sym typeface="Wingdings" pitchFamily="2" charset="2"/>
              </a:rPr>
              <a:t> 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Cl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895600" y="2057400"/>
            <a:ext cx="1371600" cy="307777"/>
            <a:chOff x="2819400" y="5890181"/>
            <a:chExt cx="1371600" cy="307777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2819400" y="6172117"/>
              <a:ext cx="1371600" cy="306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870677" y="5890181"/>
              <a:ext cx="12441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UV light /heat </a:t>
              </a:r>
              <a:endParaRPr lang="en-US" sz="1400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3124200" y="3352800"/>
            <a:ext cx="838200" cy="153988"/>
            <a:chOff x="2590800" y="1979612"/>
            <a:chExt cx="838200" cy="153988"/>
          </a:xfrm>
        </p:grpSpPr>
        <p:cxnSp>
          <p:nvCxnSpPr>
            <p:cNvPr id="10" name="Straight Arrow Connector 9"/>
            <p:cNvCxnSpPr/>
            <p:nvPr/>
          </p:nvCxnSpPr>
          <p:spPr bwMode="auto">
            <a:xfrm>
              <a:off x="2590800" y="2132012"/>
              <a:ext cx="83820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Isosceles Triangle 10"/>
            <p:cNvSpPr/>
            <p:nvPr/>
          </p:nvSpPr>
          <p:spPr bwMode="auto">
            <a:xfrm>
              <a:off x="2895600" y="1979612"/>
              <a:ext cx="228600" cy="1524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3048000" y="990600"/>
            <a:ext cx="6019800" cy="181588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800" dirty="0"/>
              <a:t>自由基：也称为游离基，是指化合物的分子在光热等外界条件下，共价键发生均裂而形成的具有不成对电子的原子或基团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animBg="1"/>
      <p:bldP spid="12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27.7</a:t>
            </a:r>
            <a:r>
              <a:rPr lang="en-MY" altLang="zh-CN" sz="4800" b="1" dirty="0">
                <a:latin typeface="+mn-ea"/>
              </a:rPr>
              <a:t>.2 </a:t>
            </a:r>
            <a:r>
              <a:rPr lang="zh-CN" altLang="en-US" sz="4800" b="1" dirty="0">
                <a:latin typeface="+mn-ea"/>
              </a:rPr>
              <a:t>取代反应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Cl(g)</a:t>
            </a:r>
            <a:r>
              <a:rPr lang="zh-CN" altLang="en-US" sz="3000" dirty="0"/>
              <a:t>继续与氯气反应可生成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Cl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(l)</a:t>
            </a:r>
            <a:r>
              <a:rPr lang="zh-CN" altLang="en-US" sz="3000" dirty="0"/>
              <a:t>、</a:t>
            </a:r>
            <a:r>
              <a:rPr lang="en-US" altLang="zh-CN" sz="3000" dirty="0"/>
              <a:t>CHCl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(l) </a:t>
            </a:r>
            <a:r>
              <a:rPr lang="zh-CN" altLang="en-US" sz="3000" dirty="0"/>
              <a:t>、</a:t>
            </a:r>
            <a:r>
              <a:rPr lang="en-US" altLang="zh-CN" sz="3000" dirty="0"/>
              <a:t> CCl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(l) </a:t>
            </a:r>
            <a:r>
              <a:rPr lang="zh-CN" altLang="en-US" sz="3000" dirty="0"/>
              <a:t>。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3000" dirty="0"/>
              <a:t>CH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</a:t>
            </a:r>
            <a:r>
              <a:rPr lang="zh-CN" altLang="en-US" sz="3000" dirty="0"/>
              <a:t>过量主要产物是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Cl</a:t>
            </a:r>
            <a:r>
              <a:rPr lang="zh-CN" altLang="en-US" sz="3000" dirty="0"/>
              <a:t>。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3000" dirty="0"/>
              <a:t>Cl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  <a:r>
              <a:rPr lang="zh-CN" altLang="en-US" sz="3000" dirty="0"/>
              <a:t>过量主要产物是</a:t>
            </a:r>
            <a:r>
              <a:rPr lang="en-US" altLang="zh-CN" sz="3000" dirty="0"/>
              <a:t>CCl</a:t>
            </a:r>
            <a:r>
              <a:rPr lang="en-US" altLang="zh-CN" sz="3000" baseline="-25000" dirty="0"/>
              <a:t>4</a:t>
            </a:r>
            <a:r>
              <a:rPr lang="zh-CN" altLang="en-US" sz="3000" dirty="0"/>
              <a:t>。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3000" dirty="0"/>
              <a:t>CHCl</a:t>
            </a:r>
            <a:r>
              <a:rPr lang="en-US" altLang="zh-CN" sz="3000" baseline="-25000" dirty="0"/>
              <a:t>3</a:t>
            </a:r>
            <a:r>
              <a:rPr lang="zh-CN" altLang="en-US" sz="3000" baseline="-25000" dirty="0"/>
              <a:t> </a:t>
            </a:r>
            <a:r>
              <a:rPr lang="zh-CN" altLang="en-US" sz="3000" dirty="0"/>
              <a:t> ：氯仿，麻醉剂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3000" dirty="0"/>
              <a:t>CCl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</a:t>
            </a:r>
            <a:r>
              <a:rPr lang="zh-CN" altLang="en-US" sz="3000" dirty="0"/>
              <a:t>：四氯甲烷</a:t>
            </a:r>
            <a:r>
              <a:rPr lang="en-US" altLang="zh-CN" sz="3000" dirty="0"/>
              <a:t>/</a:t>
            </a:r>
            <a:r>
              <a:rPr lang="zh-CN" altLang="en-US" sz="3000" dirty="0"/>
              <a:t>四氯化碳，有机溶剂</a:t>
            </a:r>
            <a:endParaRPr lang="en-US" altLang="zh-CN" sz="3000" dirty="0"/>
          </a:p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		 </a:t>
            </a:r>
          </a:p>
          <a:p>
            <a:pPr>
              <a:lnSpc>
                <a:spcPct val="150000"/>
              </a:lnSpc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27.7</a:t>
            </a:r>
            <a:r>
              <a:rPr lang="en-MY" altLang="zh-CN" sz="4800" b="1" dirty="0">
                <a:latin typeface="+mn-ea"/>
              </a:rPr>
              <a:t>.2 </a:t>
            </a:r>
            <a:r>
              <a:rPr lang="zh-CN" altLang="en-US" sz="4800" b="1" dirty="0">
                <a:latin typeface="+mn-ea"/>
              </a:rPr>
              <a:t>取代反应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		 CH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+ Cl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		</a:t>
            </a:r>
          </a:p>
          <a:p>
            <a:pPr>
              <a:buNone/>
            </a:pPr>
            <a:r>
              <a:rPr lang="en-US" altLang="zh-CN" sz="3000" dirty="0"/>
              <a:t>		 CH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+ 2 Cl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</a:p>
          <a:p>
            <a:pPr>
              <a:buNone/>
            </a:pPr>
            <a:r>
              <a:rPr lang="en-US" altLang="zh-CN" sz="3000" dirty="0"/>
              <a:t>		 CH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+ 3 Cl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</a:p>
          <a:p>
            <a:pPr>
              <a:buNone/>
            </a:pPr>
            <a:r>
              <a:rPr lang="en-US" altLang="zh-CN" sz="3000" dirty="0"/>
              <a:t>		 CH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+ 4 Cl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</a:p>
          <a:p>
            <a:pPr>
              <a:buNone/>
            </a:pPr>
            <a:r>
              <a:rPr lang="en-US" altLang="zh-CN" sz="3000" dirty="0"/>
              <a:t>		 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+ 2Br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</a:p>
          <a:p>
            <a:pPr>
              <a:buNone/>
            </a:pPr>
            <a:r>
              <a:rPr lang="en-US" altLang="zh-CN" sz="3000" dirty="0"/>
              <a:t>		 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+ Br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</a:p>
          <a:p>
            <a:pPr>
              <a:buNone/>
            </a:pPr>
            <a:r>
              <a:rPr lang="en-US" altLang="zh-CN" sz="3000" dirty="0"/>
              <a:t>		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CHBrCH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+  Br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</a:p>
          <a:p>
            <a:pPr>
              <a:buNone/>
            </a:pPr>
            <a:endParaRPr lang="en-US" altLang="zh-CN" sz="3000" dirty="0"/>
          </a:p>
        </p:txBody>
      </p:sp>
      <p:grpSp>
        <p:nvGrpSpPr>
          <p:cNvPr id="6" name="Group 5"/>
          <p:cNvGrpSpPr/>
          <p:nvPr/>
        </p:nvGrpSpPr>
        <p:grpSpPr>
          <a:xfrm>
            <a:off x="3093720" y="1597223"/>
            <a:ext cx="640080" cy="307777"/>
            <a:chOff x="2819400" y="5890181"/>
            <a:chExt cx="640080" cy="307777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2819400" y="6172117"/>
              <a:ext cx="640080" cy="306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870677" y="5890181"/>
              <a:ext cx="4042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光</a:t>
              </a:r>
              <a:r>
                <a:rPr lang="en-US" altLang="zh-CN" sz="1400" dirty="0"/>
                <a:t> </a:t>
              </a:r>
              <a:endParaRPr lang="en-US" sz="1400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886200" y="2189202"/>
            <a:ext cx="253787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Cl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 +  2 </a:t>
            </a:r>
            <a:r>
              <a:rPr lang="en-US" altLang="zh-CN" sz="3000" dirty="0" err="1"/>
              <a:t>HCl</a:t>
            </a:r>
            <a:endParaRPr lang="en-US" sz="3000" dirty="0"/>
          </a:p>
        </p:txBody>
      </p:sp>
      <p:sp>
        <p:nvSpPr>
          <p:cNvPr id="10" name="TextBox 9"/>
          <p:cNvSpPr txBox="1"/>
          <p:nvPr/>
        </p:nvSpPr>
        <p:spPr>
          <a:xfrm>
            <a:off x="3886200" y="1579602"/>
            <a:ext cx="221246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Cl  +   </a:t>
            </a:r>
            <a:r>
              <a:rPr lang="en-US" altLang="zh-CN" sz="3000" dirty="0" err="1"/>
              <a:t>HCl</a:t>
            </a:r>
            <a:endParaRPr lang="en-US" sz="3000" dirty="0"/>
          </a:p>
        </p:txBody>
      </p:sp>
      <p:grpSp>
        <p:nvGrpSpPr>
          <p:cNvPr id="11" name="Group 10"/>
          <p:cNvGrpSpPr/>
          <p:nvPr/>
        </p:nvGrpSpPr>
        <p:grpSpPr>
          <a:xfrm>
            <a:off x="3169920" y="2206823"/>
            <a:ext cx="640080" cy="307777"/>
            <a:chOff x="2819400" y="5890181"/>
            <a:chExt cx="640080" cy="307777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2819400" y="6172117"/>
              <a:ext cx="640080" cy="306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2870677" y="5890181"/>
              <a:ext cx="4042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光</a:t>
              </a:r>
              <a:r>
                <a:rPr lang="en-US" altLang="zh-CN" sz="1400" dirty="0"/>
                <a:t> </a:t>
              </a:r>
              <a:endParaRPr lang="en-US" sz="1400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169920" y="2740223"/>
            <a:ext cx="640080" cy="307777"/>
            <a:chOff x="2819400" y="5890181"/>
            <a:chExt cx="640080" cy="307777"/>
          </a:xfrm>
        </p:grpSpPr>
        <p:cxnSp>
          <p:nvCxnSpPr>
            <p:cNvPr id="15" name="Straight Arrow Connector 14"/>
            <p:cNvCxnSpPr/>
            <p:nvPr/>
          </p:nvCxnSpPr>
          <p:spPr>
            <a:xfrm>
              <a:off x="2819400" y="6172117"/>
              <a:ext cx="640080" cy="306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2870677" y="5890181"/>
              <a:ext cx="4042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光</a:t>
              </a:r>
              <a:r>
                <a:rPr lang="en-US" altLang="zh-CN" sz="1400" dirty="0"/>
                <a:t> </a:t>
              </a:r>
              <a:endParaRPr lang="en-US" sz="1400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169920" y="3273623"/>
            <a:ext cx="640080" cy="307777"/>
            <a:chOff x="2819400" y="5890181"/>
            <a:chExt cx="640080" cy="307777"/>
          </a:xfrm>
        </p:grpSpPr>
        <p:cxnSp>
          <p:nvCxnSpPr>
            <p:cNvPr id="18" name="Straight Arrow Connector 17"/>
            <p:cNvCxnSpPr/>
            <p:nvPr/>
          </p:nvCxnSpPr>
          <p:spPr>
            <a:xfrm>
              <a:off x="2819400" y="6172117"/>
              <a:ext cx="640080" cy="306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2870677" y="5890181"/>
              <a:ext cx="4042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光</a:t>
              </a:r>
              <a:r>
                <a:rPr lang="en-US" altLang="zh-CN" sz="1400" dirty="0"/>
                <a:t> </a:t>
              </a:r>
              <a:endParaRPr lang="en-US" sz="1400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4008120" y="3730823"/>
            <a:ext cx="640080" cy="307777"/>
            <a:chOff x="2819400" y="5890181"/>
            <a:chExt cx="640080" cy="307777"/>
          </a:xfrm>
        </p:grpSpPr>
        <p:cxnSp>
          <p:nvCxnSpPr>
            <p:cNvPr id="21" name="Straight Arrow Connector 20"/>
            <p:cNvCxnSpPr/>
            <p:nvPr/>
          </p:nvCxnSpPr>
          <p:spPr>
            <a:xfrm>
              <a:off x="2819400" y="6172117"/>
              <a:ext cx="640080" cy="306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2870677" y="5890181"/>
              <a:ext cx="4042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光</a:t>
              </a:r>
              <a:r>
                <a:rPr lang="en-US" altLang="zh-CN" sz="1400" dirty="0"/>
                <a:t> </a:t>
              </a:r>
              <a:endParaRPr lang="en-US" sz="1400" dirty="0"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3886200" y="2722602"/>
            <a:ext cx="240803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dirty="0"/>
              <a:t>CHCl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 +  3 </a:t>
            </a:r>
            <a:r>
              <a:rPr lang="en-US" altLang="zh-CN" sz="3000" dirty="0" err="1"/>
              <a:t>HCl</a:t>
            </a:r>
            <a:endParaRPr lang="en-US" sz="3000" dirty="0"/>
          </a:p>
        </p:txBody>
      </p:sp>
      <p:sp>
        <p:nvSpPr>
          <p:cNvPr id="24" name="TextBox 23"/>
          <p:cNvSpPr txBox="1"/>
          <p:nvPr/>
        </p:nvSpPr>
        <p:spPr>
          <a:xfrm>
            <a:off x="3886200" y="3256002"/>
            <a:ext cx="216758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dirty="0"/>
              <a:t>CCl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 +  4 </a:t>
            </a:r>
            <a:r>
              <a:rPr lang="en-US" altLang="zh-CN" sz="3000" dirty="0" err="1"/>
              <a:t>HCl</a:t>
            </a:r>
            <a:endParaRPr lang="en-US" sz="3000" dirty="0"/>
          </a:p>
        </p:txBody>
      </p:sp>
      <p:sp>
        <p:nvSpPr>
          <p:cNvPr id="25" name="TextBox 24"/>
          <p:cNvSpPr txBox="1"/>
          <p:nvPr/>
        </p:nvSpPr>
        <p:spPr>
          <a:xfrm>
            <a:off x="4800600" y="3733800"/>
            <a:ext cx="308610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dirty="0"/>
              <a:t>CHBr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 +  2 </a:t>
            </a:r>
            <a:r>
              <a:rPr lang="en-US" altLang="zh-CN" sz="3000" dirty="0" err="1"/>
              <a:t>HBr</a:t>
            </a:r>
            <a:endParaRPr lang="en-US" sz="3000" dirty="0"/>
          </a:p>
        </p:txBody>
      </p:sp>
      <p:grpSp>
        <p:nvGrpSpPr>
          <p:cNvPr id="26" name="Group 25"/>
          <p:cNvGrpSpPr/>
          <p:nvPr/>
        </p:nvGrpSpPr>
        <p:grpSpPr>
          <a:xfrm>
            <a:off x="4114800" y="4267200"/>
            <a:ext cx="640080" cy="307777"/>
            <a:chOff x="2819400" y="5890181"/>
            <a:chExt cx="640080" cy="307777"/>
          </a:xfrm>
        </p:grpSpPr>
        <p:cxnSp>
          <p:nvCxnSpPr>
            <p:cNvPr id="27" name="Straight Arrow Connector 26"/>
            <p:cNvCxnSpPr/>
            <p:nvPr/>
          </p:nvCxnSpPr>
          <p:spPr>
            <a:xfrm>
              <a:off x="2819400" y="6172117"/>
              <a:ext cx="640080" cy="306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2870677" y="5890181"/>
              <a:ext cx="4042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光</a:t>
              </a:r>
              <a:r>
                <a:rPr lang="en-US" altLang="zh-CN" sz="1400" dirty="0"/>
                <a:t> </a:t>
              </a:r>
              <a:endParaRPr lang="en-US" sz="1400" dirty="0"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4800600" y="4246602"/>
            <a:ext cx="324960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CHBrCH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 +  </a:t>
            </a:r>
            <a:r>
              <a:rPr lang="en-US" altLang="zh-CN" sz="3000" dirty="0" err="1"/>
              <a:t>HBr</a:t>
            </a:r>
            <a:endParaRPr lang="en-US" sz="3000" dirty="0"/>
          </a:p>
        </p:txBody>
      </p:sp>
      <p:grpSp>
        <p:nvGrpSpPr>
          <p:cNvPr id="30" name="Group 29"/>
          <p:cNvGrpSpPr/>
          <p:nvPr/>
        </p:nvGrpSpPr>
        <p:grpSpPr>
          <a:xfrm>
            <a:off x="4312920" y="4873823"/>
            <a:ext cx="640080" cy="307777"/>
            <a:chOff x="2819400" y="5890181"/>
            <a:chExt cx="640080" cy="307777"/>
          </a:xfrm>
        </p:grpSpPr>
        <p:cxnSp>
          <p:nvCxnSpPr>
            <p:cNvPr id="31" name="Straight Arrow Connector 30"/>
            <p:cNvCxnSpPr/>
            <p:nvPr/>
          </p:nvCxnSpPr>
          <p:spPr>
            <a:xfrm>
              <a:off x="2819400" y="6172117"/>
              <a:ext cx="640080" cy="306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2870677" y="5890181"/>
              <a:ext cx="4042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光</a:t>
              </a:r>
              <a:r>
                <a:rPr lang="en-US" altLang="zh-CN" sz="1400" dirty="0"/>
                <a:t> </a:t>
              </a:r>
              <a:endParaRPr lang="en-US" sz="1400" dirty="0"/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4953000" y="4876800"/>
            <a:ext cx="322556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CBr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 +  </a:t>
            </a:r>
            <a:r>
              <a:rPr lang="en-US" altLang="zh-CN" sz="3000" dirty="0" err="1"/>
              <a:t>HBr</a:t>
            </a:r>
            <a:endParaRPr lang="en-US" sz="3000" dirty="0"/>
          </a:p>
        </p:txBody>
      </p:sp>
      <p:grpSp>
        <p:nvGrpSpPr>
          <p:cNvPr id="36" name="Group 35"/>
          <p:cNvGrpSpPr/>
          <p:nvPr/>
        </p:nvGrpSpPr>
        <p:grpSpPr>
          <a:xfrm>
            <a:off x="5403699" y="3200400"/>
            <a:ext cx="3706497" cy="523220"/>
            <a:chOff x="5403699" y="3200400"/>
            <a:chExt cx="3706497" cy="523220"/>
          </a:xfrm>
        </p:grpSpPr>
        <p:sp>
          <p:nvSpPr>
            <p:cNvPr id="34" name="TextBox 33"/>
            <p:cNvSpPr txBox="1"/>
            <p:nvPr/>
          </p:nvSpPr>
          <p:spPr>
            <a:xfrm>
              <a:off x="6400800" y="3200400"/>
              <a:ext cx="2709396" cy="52322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找朋友多的一起</a:t>
              </a:r>
              <a:endPara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5" name="Curved Down Arrow 34"/>
            <p:cNvSpPr/>
            <p:nvPr/>
          </p:nvSpPr>
          <p:spPr>
            <a:xfrm rot="9526103" flipV="1">
              <a:off x="5403699" y="3464744"/>
              <a:ext cx="1148460" cy="221005"/>
            </a:xfrm>
            <a:prstGeom prst="curved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5872967" y="3743980"/>
            <a:ext cx="2463926" cy="523220"/>
            <a:chOff x="5790266" y="3200400"/>
            <a:chExt cx="2463926" cy="523220"/>
          </a:xfrm>
        </p:grpSpPr>
        <p:sp>
          <p:nvSpPr>
            <p:cNvPr id="38" name="TextBox 37"/>
            <p:cNvSpPr txBox="1"/>
            <p:nvPr/>
          </p:nvSpPr>
          <p:spPr>
            <a:xfrm>
              <a:off x="6400800" y="3200400"/>
              <a:ext cx="1853392" cy="52322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欺负</a:t>
              </a:r>
              <a:r>
                <a:rPr lang="en-US" altLang="zh-CN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H</a:t>
              </a:r>
              <a:r>
                <a:rPr lang="zh-CN" altLang="en-US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少的</a:t>
              </a:r>
              <a:endPara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" name="Curved Down Arrow 38"/>
            <p:cNvSpPr/>
            <p:nvPr/>
          </p:nvSpPr>
          <p:spPr>
            <a:xfrm rot="8754222" flipV="1">
              <a:off x="5790266" y="3381483"/>
              <a:ext cx="666020" cy="224094"/>
            </a:xfrm>
            <a:prstGeom prst="curved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23" grpId="0"/>
      <p:bldP spid="24" grpId="0"/>
      <p:bldP spid="25" grpId="0"/>
      <p:bldP spid="29" grpId="0"/>
      <p:bldP spid="3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27.7</a:t>
            </a:r>
            <a:r>
              <a:rPr lang="en-MY" altLang="zh-CN" sz="4800" b="1" dirty="0">
                <a:latin typeface="+mn-ea"/>
              </a:rPr>
              <a:t>.3</a:t>
            </a:r>
            <a:r>
              <a:rPr lang="en-US" altLang="zh-CN" sz="4800" b="1" dirty="0">
                <a:latin typeface="+mn-ea"/>
              </a:rPr>
              <a:t> </a:t>
            </a:r>
            <a:r>
              <a:rPr lang="zh-CN" altLang="en-US" sz="4800" b="1" dirty="0">
                <a:latin typeface="+mn-ea"/>
              </a:rPr>
              <a:t>受热分解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3000" dirty="0"/>
              <a:t>隔绝空气加热至</a:t>
            </a:r>
            <a:r>
              <a:rPr lang="en-US" altLang="zh-CN" sz="3000" dirty="0"/>
              <a:t>1000</a:t>
            </a:r>
            <a:r>
              <a:rPr lang="en-US" altLang="zh-CN" sz="3000" baseline="30000" dirty="0"/>
              <a:t>o</a:t>
            </a:r>
            <a:r>
              <a:rPr lang="en-US" altLang="zh-CN" sz="3000" dirty="0"/>
              <a:t>C</a:t>
            </a:r>
            <a:r>
              <a:rPr lang="zh-CN" altLang="en-US" sz="3000" dirty="0"/>
              <a:t>，</a:t>
            </a:r>
            <a:r>
              <a:rPr lang="en-MY" altLang="zh-CN" sz="3000" dirty="0"/>
              <a:t>CH</a:t>
            </a:r>
            <a:r>
              <a:rPr lang="en-MY" altLang="zh-CN" sz="3000" baseline="-25000" dirty="0"/>
              <a:t>4</a:t>
            </a:r>
            <a:r>
              <a:rPr lang="zh-CN" altLang="en-US" sz="3000" dirty="0"/>
              <a:t>分解生成</a:t>
            </a:r>
            <a:r>
              <a:rPr lang="en-US" altLang="zh-CN" sz="3000" dirty="0"/>
              <a:t>C</a:t>
            </a:r>
            <a:r>
              <a:rPr lang="zh-CN" altLang="en-US" sz="3000" dirty="0"/>
              <a:t>和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</a:t>
            </a:r>
            <a:endParaRPr lang="en-MY" altLang="zh-CN" sz="3000" dirty="0"/>
          </a:p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3000" dirty="0"/>
              <a:t>其它烷烃的裂化反应</a:t>
            </a:r>
            <a:endParaRPr lang="en-US" altLang="zh-CN" sz="3000" dirty="0"/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3000" dirty="0"/>
              <a:t>大分子烃在绝氧等条件下裂化为小分子烃</a:t>
            </a:r>
            <a:endParaRPr lang="en-US" altLang="zh-CN" sz="3000" dirty="0"/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3000" dirty="0"/>
              <a:t>无固定产物，产物决定于裂化时的温度等条件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16287054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>
                <a:latin typeface="+mn-ea"/>
              </a:rPr>
              <a:t>统考题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600" dirty="0"/>
              <a:t>常考下列哪项反应</a:t>
            </a:r>
            <a:r>
              <a:rPr lang="en-US" altLang="zh-CN" sz="2600" dirty="0"/>
              <a:t>/</a:t>
            </a:r>
            <a:r>
              <a:rPr lang="zh-CN" altLang="en-US" sz="2600" dirty="0"/>
              <a:t>写出是链传递反应</a:t>
            </a:r>
            <a:r>
              <a:rPr lang="en-US" altLang="zh-CN" sz="2600" dirty="0"/>
              <a:t>/</a:t>
            </a:r>
            <a:r>
              <a:rPr lang="zh-CN" altLang="en-US" sz="2600" dirty="0"/>
              <a:t>链终止反应</a:t>
            </a:r>
            <a:endParaRPr lang="en-US" altLang="zh-CN" sz="2600" dirty="0"/>
          </a:p>
          <a:p>
            <a:pPr marL="514350" indent="-514350">
              <a:buAutoNum type="arabicPeriod"/>
            </a:pPr>
            <a:r>
              <a:rPr lang="zh-CN" altLang="en-US" sz="2600" dirty="0"/>
              <a:t>甲烷与氯气在光照的情况下进行反应。光的功能是什么？</a:t>
            </a:r>
            <a:endParaRPr lang="en-US" altLang="zh-CN" sz="2600" dirty="0"/>
          </a:p>
          <a:p>
            <a:pPr marL="514350" indent="-514350">
              <a:buNone/>
            </a:pPr>
            <a:r>
              <a:rPr lang="en-US" altLang="zh-CN" sz="2600" dirty="0"/>
              <a:t>	A </a:t>
            </a:r>
            <a:r>
              <a:rPr lang="zh-CN" altLang="en-US" sz="2600" dirty="0"/>
              <a:t>使氯气分子裂开成为氯离子</a:t>
            </a:r>
            <a:endParaRPr lang="en-US" altLang="zh-CN" sz="2600" dirty="0"/>
          </a:p>
          <a:p>
            <a:pPr marL="514350" indent="-514350">
              <a:buNone/>
            </a:pPr>
            <a:r>
              <a:rPr lang="en-US" altLang="zh-CN" sz="2600" dirty="0"/>
              <a:t>	B </a:t>
            </a:r>
            <a:r>
              <a:rPr lang="zh-CN" altLang="en-US" sz="2600" dirty="0"/>
              <a:t>使氯气分子裂开成为氯原子</a:t>
            </a:r>
            <a:endParaRPr lang="en-US" altLang="zh-CN" sz="2600" dirty="0"/>
          </a:p>
          <a:p>
            <a:pPr marL="514350" indent="-514350">
              <a:buNone/>
            </a:pPr>
            <a:r>
              <a:rPr lang="en-US" altLang="zh-CN" sz="2600" dirty="0"/>
              <a:t>	C </a:t>
            </a:r>
            <a:r>
              <a:rPr lang="zh-CN" altLang="en-US" sz="2600" dirty="0"/>
              <a:t>使甲烷分子中的</a:t>
            </a:r>
            <a:r>
              <a:rPr lang="en-US" altLang="zh-CN" sz="2600" dirty="0"/>
              <a:t>C—H </a:t>
            </a:r>
            <a:r>
              <a:rPr lang="zh-CN" altLang="en-US" sz="2600" dirty="0"/>
              <a:t>键裂开</a:t>
            </a:r>
            <a:endParaRPr lang="en-US" altLang="zh-CN" sz="2600" dirty="0"/>
          </a:p>
          <a:p>
            <a:pPr marL="514350" indent="-514350">
              <a:buNone/>
            </a:pPr>
            <a:r>
              <a:rPr lang="en-US" altLang="zh-CN" sz="2600" dirty="0"/>
              <a:t>	D </a:t>
            </a:r>
            <a:r>
              <a:rPr lang="zh-CN" altLang="en-US" sz="2600" dirty="0"/>
              <a:t>加热氯气与甲烷的混合气体</a:t>
            </a:r>
            <a:endParaRPr lang="en-US" altLang="zh-CN" sz="2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r>
              <a:rPr lang="en-US" altLang="zh-CN" sz="2600" dirty="0"/>
              <a:t>2. </a:t>
            </a:r>
            <a:r>
              <a:rPr lang="zh-CN" altLang="en-US" sz="2600" dirty="0"/>
              <a:t>有</a:t>
            </a:r>
            <a:r>
              <a:rPr lang="en-US" altLang="zh-CN" sz="2600" dirty="0"/>
              <a:t>1mol</a:t>
            </a:r>
            <a:r>
              <a:rPr lang="zh-CN" altLang="en-US" sz="2600" dirty="0"/>
              <a:t>甲烷进行氯化反应得</a:t>
            </a:r>
            <a:r>
              <a:rPr lang="en-US" altLang="zh-CN" sz="2600" dirty="0"/>
              <a:t>0.1mol</a:t>
            </a:r>
            <a:r>
              <a:rPr lang="zh-CN" altLang="en-US" sz="2600" dirty="0"/>
              <a:t>的</a:t>
            </a:r>
            <a:r>
              <a:rPr lang="en-US" altLang="zh-CN" sz="2600" dirty="0"/>
              <a:t>CH</a:t>
            </a:r>
            <a:r>
              <a:rPr lang="en-US" altLang="zh-CN" sz="2600" baseline="-25000" dirty="0"/>
              <a:t>3</a:t>
            </a:r>
            <a:r>
              <a:rPr lang="en-US" altLang="zh-CN" sz="2600" dirty="0"/>
              <a:t>Cl</a:t>
            </a:r>
            <a:r>
              <a:rPr lang="zh-CN" altLang="en-US" sz="2600" dirty="0"/>
              <a:t>、</a:t>
            </a:r>
            <a:r>
              <a:rPr lang="en-US" altLang="zh-CN" sz="2600" dirty="0"/>
              <a:t>0.1molCH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Cl</a:t>
            </a:r>
            <a:r>
              <a:rPr lang="en-US" altLang="zh-CN" sz="2600" baseline="-25000" dirty="0"/>
              <a:t>2</a:t>
            </a:r>
            <a:r>
              <a:rPr lang="zh-CN" altLang="en-US" sz="2600" dirty="0"/>
              <a:t>、</a:t>
            </a:r>
            <a:r>
              <a:rPr lang="en-US" altLang="zh-CN" sz="2600" dirty="0"/>
              <a:t>0.3mol CHCl</a:t>
            </a:r>
            <a:r>
              <a:rPr lang="en-US" altLang="zh-CN" sz="2600" baseline="-25000" dirty="0"/>
              <a:t>3</a:t>
            </a:r>
            <a:r>
              <a:rPr lang="zh-CN" altLang="en-US" sz="2600" dirty="0"/>
              <a:t>和</a:t>
            </a:r>
            <a:r>
              <a:rPr lang="en-US" altLang="zh-CN" sz="2600" dirty="0"/>
              <a:t>0.5mol CCl</a:t>
            </a:r>
            <a:r>
              <a:rPr lang="en-US" altLang="zh-CN" sz="2600" baseline="-25000" dirty="0"/>
              <a:t>4</a:t>
            </a:r>
            <a:r>
              <a:rPr lang="zh-CN" altLang="en-US" sz="2600" baseline="-25000" dirty="0"/>
              <a:t>。</a:t>
            </a:r>
            <a:r>
              <a:rPr lang="zh-CN" altLang="en-US" sz="2600" dirty="0"/>
              <a:t> 问此氯化反应最少需要用多少克的氯气？</a:t>
            </a:r>
            <a:endParaRPr lang="en-US" altLang="zh-CN" sz="2600" dirty="0"/>
          </a:p>
          <a:p>
            <a:pPr>
              <a:buNone/>
            </a:pPr>
            <a:r>
              <a:rPr lang="en-US" altLang="zh-CN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 	m(Cl</a:t>
            </a:r>
            <a:r>
              <a:rPr lang="en-US" altLang="zh-CN" sz="26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=</a:t>
            </a:r>
            <a:r>
              <a:rPr lang="en-US" altLang="zh-CN" sz="26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MY" altLang="zh-CN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(0.1x1 + 0.1x2 + 0.3x3+0.5x4)mol x 71g/mol 			=</a:t>
            </a:r>
            <a:r>
              <a:rPr lang="en-US" altLang="zh-CN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3.2mol x 71g/mol </a:t>
            </a:r>
          </a:p>
          <a:p>
            <a:pPr>
              <a:buNone/>
            </a:pPr>
            <a:r>
              <a:rPr lang="en-US" altLang="zh-CN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   	= 227.2g</a:t>
            </a:r>
          </a:p>
          <a:p>
            <a:pPr>
              <a:buNone/>
            </a:pPr>
            <a:endParaRPr lang="en-US" altLang="zh-CN" sz="2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0AA63D-EA29-4F05-A130-CEE5074F9C0B}"/>
              </a:ext>
            </a:extLst>
          </p:cNvPr>
          <p:cNvSpPr/>
          <p:nvPr/>
        </p:nvSpPr>
        <p:spPr>
          <a:xfrm>
            <a:off x="5943600" y="2438400"/>
            <a:ext cx="11208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 B</a:t>
            </a: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>
                <a:latin typeface="+mn-ea"/>
              </a:rPr>
              <a:t>思考题 </a:t>
            </a:r>
            <a:r>
              <a:rPr lang="en-US" altLang="zh-CN" sz="4800" b="1" dirty="0">
                <a:latin typeface="+mn-ea"/>
              </a:rPr>
              <a:t>27g</a:t>
            </a:r>
            <a:endParaRPr lang="en-US" sz="4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914400"/>
                <a:ext cx="8686800" cy="5867400"/>
              </a:xfrm>
            </p:spPr>
            <p:txBody>
              <a:bodyPr>
                <a:noAutofit/>
              </a:bodyPr>
              <a:lstStyle/>
              <a:p>
                <a:pPr marL="514350" indent="-514350">
                  <a:spcBef>
                    <a:spcPts val="0"/>
                  </a:spcBef>
                  <a:buAutoNum type="arabicPeriod"/>
                </a:pPr>
                <a:r>
                  <a:rPr lang="zh-CN" altLang="en-US" sz="3000" dirty="0"/>
                  <a:t>浓硫酸增加的质量</a:t>
                </a:r>
                <a:r>
                  <a:rPr lang="en-US" altLang="zh-CN" sz="3000" dirty="0"/>
                  <a:t>=</a:t>
                </a:r>
                <a:r>
                  <a:rPr lang="zh-CN" altLang="en-US" sz="3000" dirty="0"/>
                  <a:t>反应后生成的水的质量</a:t>
                </a:r>
                <a:endParaRPr lang="en-MY" altLang="zh-CN" sz="3000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MY" altLang="zh-CN" sz="3000" dirty="0"/>
                  <a:t>     </a:t>
                </a:r>
                <a:r>
                  <a:rPr lang="zh-CN" altLang="en-US" sz="3000" dirty="0"/>
                  <a:t>碱石灰增加的质量</a:t>
                </a:r>
                <a:r>
                  <a:rPr lang="en-US" altLang="zh-CN" sz="3000" dirty="0"/>
                  <a:t>=</a:t>
                </a:r>
                <a:r>
                  <a:rPr lang="zh-CN" altLang="en-US" sz="3000" dirty="0"/>
                  <a:t>反应后生成的</a:t>
                </a:r>
                <a:r>
                  <a:rPr lang="en-US" altLang="zh-CN" sz="3000" dirty="0"/>
                  <a:t>CO</a:t>
                </a:r>
                <a:r>
                  <a:rPr lang="en-US" altLang="zh-CN" sz="3000" baseline="-25000" dirty="0"/>
                  <a:t>2</a:t>
                </a:r>
                <a:r>
                  <a:rPr lang="zh-CN" altLang="en-US" sz="3000" dirty="0"/>
                  <a:t>的质量</a:t>
                </a:r>
                <a:endParaRPr lang="en-MY" altLang="zh-CN" sz="3000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MY" altLang="zh-CN" sz="3000" dirty="0"/>
                  <a:t>	</a:t>
                </a:r>
                <a:r>
                  <a:rPr lang="en-US" altLang="zh-CN" sz="3000" dirty="0" err="1"/>
                  <a:t>m</a:t>
                </a:r>
                <a:r>
                  <a:rPr lang="en-US" altLang="zh-CN" sz="3000" baseline="-25000" dirty="0" err="1"/>
                  <a:t>C</a:t>
                </a:r>
                <a:r>
                  <a:rPr lang="en-US" altLang="zh-CN" sz="3000" dirty="0"/>
                  <a:t> = 12/44 x 26.4g = 7.2g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3000" dirty="0"/>
                  <a:t>	</a:t>
                </a:r>
                <a:r>
                  <a:rPr lang="en-US" altLang="zh-CN" sz="3000" dirty="0" err="1"/>
                  <a:t>m</a:t>
                </a:r>
                <a:r>
                  <a:rPr lang="en-US" altLang="zh-CN" sz="3000" baseline="-25000" dirty="0" err="1"/>
                  <a:t>H</a:t>
                </a:r>
                <a:r>
                  <a:rPr lang="en-US" altLang="zh-CN" sz="3000" dirty="0"/>
                  <a:t> = 2/18 x 14.4g =1.6g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3000" dirty="0"/>
                  <a:t>	</a:t>
                </a:r>
                <a:r>
                  <a:rPr lang="en-US" altLang="zh-CN" sz="3000" dirty="0" err="1"/>
                  <a:t>m</a:t>
                </a:r>
                <a:r>
                  <a:rPr lang="en-US" altLang="zh-CN" sz="3000" baseline="-25000" dirty="0" err="1"/>
                  <a:t>O</a:t>
                </a:r>
                <a:r>
                  <a:rPr lang="en-US" altLang="zh-CN" sz="3000" dirty="0"/>
                  <a:t> = 12g – 7.2g -1.6g = 3.2g</a:t>
                </a:r>
                <a:endParaRPr lang="en-MY" altLang="zh-CN" sz="3000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3000" dirty="0"/>
                  <a:t>N(C) : N(H) : N(O)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30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7.2</m:t>
                        </m:r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US" altLang="zh-CN" sz="3000" dirty="0"/>
                  <a:t>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1.6</m:t>
                        </m:r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US" altLang="zh-CN" sz="3000" dirty="0"/>
                  <a:t> 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altLang="zh-CN" sz="3000" b="0" i="1" dirty="0" smtClean="0">
                            <a:latin typeface="Cambria Math" panose="02040503050406030204" pitchFamily="18" charset="0"/>
                          </a:rPr>
                          <m:t>3.2</m:t>
                        </m:r>
                        <m:r>
                          <a:rPr lang="en-MY" altLang="zh-CN" sz="3000" b="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MY" altLang="zh-CN" sz="3000" b="0" i="1" dirty="0" smtClean="0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endParaRPr lang="en-US" altLang="zh-CN" sz="3000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3000" dirty="0"/>
                  <a:t>= 0.6 : 1.6 : 0.2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3000" dirty="0"/>
                  <a:t>= 3:8:1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zh-CN" altLang="en-US" sz="3000" dirty="0"/>
                  <a:t>分子式：</a:t>
                </a:r>
                <a:r>
                  <a:rPr lang="en-US" altLang="zh-CN" sz="3000" dirty="0"/>
                  <a:t>C</a:t>
                </a:r>
                <a:r>
                  <a:rPr lang="en-US" altLang="zh-CN" sz="3000" baseline="-25000" dirty="0"/>
                  <a:t>3</a:t>
                </a:r>
                <a:r>
                  <a:rPr lang="en-US" altLang="zh-CN" sz="3000" dirty="0"/>
                  <a:t>H</a:t>
                </a:r>
                <a:r>
                  <a:rPr lang="en-US" altLang="zh-CN" sz="3000" baseline="-25000" dirty="0"/>
                  <a:t>8</a:t>
                </a:r>
                <a:r>
                  <a:rPr lang="en-US" altLang="zh-CN" sz="3000" dirty="0"/>
                  <a:t>O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914400"/>
                <a:ext cx="8686800" cy="5867400"/>
              </a:xfrm>
              <a:blipFill>
                <a:blip r:embed="rId3"/>
                <a:stretch>
                  <a:fillRect l="-1684" t="-176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18717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>
                <a:latin typeface="+mn-ea"/>
              </a:rPr>
              <a:t>思考题 </a:t>
            </a:r>
            <a:r>
              <a:rPr lang="en-US" altLang="zh-CN" sz="4800" b="1" dirty="0">
                <a:latin typeface="+mn-ea"/>
              </a:rPr>
              <a:t>27g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6868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dirty="0"/>
              <a:t>2. 0.5molCH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</a:t>
            </a:r>
            <a:r>
              <a:rPr lang="zh-CN" altLang="en-US" sz="3000" dirty="0"/>
              <a:t>与氯气反应生成相同物质的量的四种取代物：</a:t>
            </a:r>
            <a:endParaRPr lang="en-MY" altLang="zh-CN" sz="3000" dirty="0"/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3000" dirty="0"/>
              <a:t>生成</a:t>
            </a:r>
            <a:r>
              <a:rPr lang="en-US" altLang="zh-CN" sz="3000" dirty="0"/>
              <a:t>0.125mol 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Cl</a:t>
            </a:r>
            <a:r>
              <a:rPr lang="zh-CN" altLang="en-US" sz="3000" dirty="0"/>
              <a:t>，</a:t>
            </a:r>
            <a:r>
              <a:rPr lang="en-US" altLang="zh-CN" sz="3000" dirty="0"/>
              <a:t>0.125molCH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Cl</a:t>
            </a:r>
            <a:r>
              <a:rPr lang="en-US" altLang="zh-CN" sz="3000" baseline="-25000" dirty="0"/>
              <a:t>2</a:t>
            </a:r>
            <a:r>
              <a:rPr lang="zh-CN" altLang="en-US" sz="3000" dirty="0"/>
              <a:t>，</a:t>
            </a:r>
            <a:endParaRPr lang="en-MY" altLang="zh-CN" sz="3000" dirty="0"/>
          </a:p>
          <a:p>
            <a:pPr marL="0" indent="0">
              <a:spcBef>
                <a:spcPts val="0"/>
              </a:spcBef>
              <a:buNone/>
            </a:pPr>
            <a:r>
              <a:rPr lang="en-MY" altLang="zh-CN" sz="3000" dirty="0"/>
              <a:t>	</a:t>
            </a:r>
            <a:r>
              <a:rPr lang="en-US" altLang="zh-CN" sz="3000" dirty="0"/>
              <a:t>0.125mol CHCl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</a:t>
            </a:r>
            <a:r>
              <a:rPr lang="zh-CN" altLang="en-US" sz="3000" dirty="0"/>
              <a:t>，</a:t>
            </a:r>
            <a:r>
              <a:rPr lang="en-US" altLang="zh-CN" sz="3000" dirty="0"/>
              <a:t> 0.125mol CCl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/>
              <a:t>n(Cl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) = (0.125 x1 + 0.125x2 + 0.125 x3 + 0.125x 4)mol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/>
              <a:t>	= 1.25mol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/>
              <a:t>Ans: C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/>
              <a:t>3. ③</a:t>
            </a:r>
            <a:r>
              <a:rPr lang="zh-CN" altLang="en-US" sz="3000" dirty="0"/>
              <a:t>具有相同最简式即</a:t>
            </a:r>
            <a:r>
              <a:rPr lang="en-US" altLang="zh-CN" sz="3000" dirty="0"/>
              <a:t>④</a:t>
            </a:r>
            <a:r>
              <a:rPr lang="zh-CN" altLang="en-US" sz="3000" dirty="0"/>
              <a:t>含碳的质量百分比相等</a:t>
            </a:r>
            <a:endParaRPr lang="en-MY" altLang="zh-CN" sz="30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 err="1"/>
              <a:t>Ans:C</a:t>
            </a:r>
            <a:r>
              <a:rPr lang="en-US" altLang="zh-CN" sz="3000" dirty="0"/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/>
              <a:t>4. (1) D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/>
              <a:t>    (2) A</a:t>
            </a:r>
            <a:r>
              <a:rPr lang="zh-CN" altLang="en-US" sz="3000" dirty="0"/>
              <a:t>最少 </a:t>
            </a:r>
            <a:r>
              <a:rPr lang="en-MY" altLang="zh-CN" sz="3000" dirty="0"/>
              <a:t>	</a:t>
            </a:r>
            <a:r>
              <a:rPr lang="en-US" altLang="zh-CN" sz="3000" dirty="0"/>
              <a:t>B</a:t>
            </a:r>
            <a:r>
              <a:rPr lang="zh-CN" altLang="en-US" sz="3000" dirty="0"/>
              <a:t>最多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7498365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27.8 </a:t>
            </a:r>
            <a:r>
              <a:rPr lang="zh-CN" altLang="en-US" sz="4800" b="1" dirty="0">
                <a:latin typeface="+mn-ea"/>
              </a:rPr>
              <a:t>环烷烃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839200" cy="5867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3000" u="sng" dirty="0"/>
              <a:t>交流分享</a:t>
            </a:r>
            <a:endParaRPr lang="en-MY" altLang="zh-CN" sz="3000" u="sng" dirty="0"/>
          </a:p>
          <a:p>
            <a:pPr lvl="1">
              <a:buFont typeface="Wingdings" pitchFamily="2" charset="2"/>
              <a:buChar char="Ø"/>
            </a:pPr>
            <a:r>
              <a:rPr lang="zh-CN" altLang="en-US" dirty="0"/>
              <a:t>乙烯与环丙烷不是同系物，因它们的官能团不同。</a:t>
            </a:r>
            <a:endParaRPr lang="en-MY" altLang="zh-CN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环烃：烃分子里</a:t>
            </a:r>
            <a:r>
              <a:rPr lang="en-US" altLang="zh-CN" sz="3000" dirty="0"/>
              <a:t>C</a:t>
            </a:r>
            <a:r>
              <a:rPr lang="zh-CN" altLang="en-US" sz="3000" dirty="0"/>
              <a:t>原子间相互联接成环状。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环烷烃：烃分子里</a:t>
            </a:r>
            <a:r>
              <a:rPr lang="en-US" altLang="zh-CN" sz="3000" dirty="0"/>
              <a:t>C</a:t>
            </a:r>
            <a:r>
              <a:rPr lang="zh-CN" altLang="en-US" sz="3000" dirty="0"/>
              <a:t>原子间以单键相互联接成环状。通式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n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2n</a:t>
            </a:r>
            <a:r>
              <a:rPr lang="en-US" altLang="zh-CN" sz="3000" dirty="0"/>
              <a:t> </a:t>
            </a:r>
            <a:r>
              <a:rPr lang="zh-CN" altLang="en-US" sz="3000" dirty="0"/>
              <a:t>， </a:t>
            </a:r>
            <a:r>
              <a:rPr lang="en-US" altLang="zh-CN" sz="3000" dirty="0"/>
              <a:t>n≥3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与同碳原子数的烯烃是同分异构体</a:t>
            </a:r>
            <a:endParaRPr lang="en-US" altLang="zh-CN" sz="2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r>
              <a:rPr lang="zh-CN" altLang="en-US" sz="3000" dirty="0"/>
              <a:t>物理性质：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沸点随相式量的增加而增大。</a:t>
            </a:r>
            <a:endParaRPr lang="en-US" altLang="zh-CN" sz="3000" dirty="0"/>
          </a:p>
          <a:p>
            <a:pPr lvl="1">
              <a:buFont typeface="Wingdings" pitchFamily="2" charset="2"/>
              <a:buChar char="Ø"/>
            </a:pPr>
            <a:r>
              <a:rPr lang="zh-CN" altLang="en-US" sz="2600" dirty="0"/>
              <a:t>常温下</a:t>
            </a:r>
            <a:r>
              <a:rPr lang="en-US" altLang="zh-CN" sz="2600" dirty="0"/>
              <a:t>n=3or4</a:t>
            </a:r>
            <a:r>
              <a:rPr lang="zh-CN" altLang="en-US" sz="2600" dirty="0"/>
              <a:t>气态； </a:t>
            </a:r>
            <a:r>
              <a:rPr lang="en-US" altLang="zh-CN" sz="2600" dirty="0"/>
              <a:t>n=5or6 </a:t>
            </a:r>
            <a:r>
              <a:rPr lang="zh-CN" altLang="en-US" sz="2600" dirty="0"/>
              <a:t>液态；</a:t>
            </a:r>
            <a:r>
              <a:rPr lang="en-US" altLang="zh-CN" sz="2600" dirty="0"/>
              <a:t>n</a:t>
            </a:r>
            <a:r>
              <a:rPr lang="en-US" altLang="zh-CN" sz="2400" dirty="0"/>
              <a:t> ≥7 </a:t>
            </a:r>
            <a:r>
              <a:rPr lang="zh-CN" altLang="en-US" sz="2400" dirty="0"/>
              <a:t>固态</a:t>
            </a:r>
            <a:endParaRPr lang="en-US" altLang="zh-CN" sz="2600" dirty="0"/>
          </a:p>
          <a:p>
            <a:pPr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熔点比含同样碳原子数的直连烷烃高</a:t>
            </a:r>
            <a:r>
              <a:rPr lang="zh-CN" altLang="en-US" sz="1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（分子排列较紧密）</a:t>
            </a:r>
            <a:endParaRPr lang="en-MY" altLang="zh-CN" sz="1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不溶于水</a:t>
            </a:r>
            <a:endParaRPr lang="en-US" altLang="zh-CN" sz="3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9ADC18-4DBE-4695-BAB4-1A092098389F}"/>
              </a:ext>
            </a:extLst>
          </p:cNvPr>
          <p:cNvCxnSpPr/>
          <p:nvPr/>
        </p:nvCxnSpPr>
        <p:spPr>
          <a:xfrm>
            <a:off x="-76200" y="2057400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27.8 </a:t>
            </a:r>
            <a:r>
              <a:rPr lang="zh-CN" altLang="en-US" sz="4800" b="1" dirty="0">
                <a:latin typeface="+mn-ea"/>
              </a:rPr>
              <a:t>环烷烃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/>
              <a:t>化学性质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燃烧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取代：中、大环烷烃</a:t>
            </a:r>
            <a:r>
              <a:rPr lang="en-US" altLang="zh-CN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(n ≥5)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较稳定</a:t>
            </a:r>
            <a:r>
              <a:rPr lang="zh-CN" altLang="en-US" sz="3000" dirty="0"/>
              <a:t>，与卤素反应发生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取代反应</a:t>
            </a:r>
            <a:r>
              <a:rPr lang="zh-CN" altLang="en-US" sz="3000" dirty="0"/>
              <a:t>。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r>
              <a:rPr lang="zh-CN" altLang="en-US" sz="3000" dirty="0"/>
              <a:t>加成：小环烷烃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(n=3or4)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不稳定</a:t>
            </a:r>
            <a:r>
              <a:rPr lang="zh-CN" altLang="en-US" sz="3000" dirty="0"/>
              <a:t>，发生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开环作用</a:t>
            </a:r>
            <a:r>
              <a:rPr lang="zh-CN" altLang="en-US" sz="3000" dirty="0"/>
              <a:t>。</a:t>
            </a:r>
            <a:endParaRPr lang="en-MY" altLang="zh-CN" sz="3000" dirty="0"/>
          </a:p>
          <a:p>
            <a:pPr marL="0" indent="0">
              <a:buNone/>
            </a:pPr>
            <a:r>
              <a:rPr lang="zh-CN" altLang="en-US" sz="3000" dirty="0"/>
              <a:t>练习：写出下列反应的化学方程式</a:t>
            </a:r>
            <a:endParaRPr lang="en-MY" altLang="zh-CN" sz="3000" dirty="0"/>
          </a:p>
          <a:p>
            <a:pPr marL="514350" indent="-514350">
              <a:buAutoNum type="arabicPeriod"/>
            </a:pPr>
            <a:r>
              <a:rPr lang="zh-CN" altLang="en-US" sz="3000" dirty="0"/>
              <a:t>在</a:t>
            </a:r>
            <a:r>
              <a:rPr lang="en-US" altLang="zh-CN" sz="3000" dirty="0"/>
              <a:t>Pt</a:t>
            </a:r>
            <a:r>
              <a:rPr lang="zh-CN" altLang="en-US" sz="3000" dirty="0"/>
              <a:t>的催化下环丙烷与氢气加热反应</a:t>
            </a:r>
            <a:endParaRPr lang="en-MY" altLang="zh-CN" sz="3000" dirty="0"/>
          </a:p>
          <a:p>
            <a:pPr marL="514350" indent="-514350">
              <a:buAutoNum type="arabicPeriod"/>
            </a:pPr>
            <a:r>
              <a:rPr lang="zh-CN" altLang="en-US" sz="3000" dirty="0"/>
              <a:t>环丁烷与氯气反应</a:t>
            </a:r>
            <a:endParaRPr lang="en-MY" altLang="zh-CN" sz="3000" dirty="0"/>
          </a:p>
          <a:p>
            <a:pPr marL="514350" indent="-514350">
              <a:buAutoNum type="arabicPeriod"/>
            </a:pPr>
            <a:r>
              <a:rPr lang="zh-CN" altLang="en-US" sz="3000" dirty="0"/>
              <a:t>环丁烷与氯化氢气体反应</a:t>
            </a:r>
            <a:endParaRPr lang="en-MY" altLang="zh-CN" sz="3000" dirty="0"/>
          </a:p>
          <a:p>
            <a:pPr marL="514350" indent="-514350">
              <a:buAutoNum type="arabicPeriod"/>
            </a:pPr>
            <a:r>
              <a:rPr lang="zh-CN" altLang="en-US" sz="3000" dirty="0"/>
              <a:t>环己烷与氯气反应</a:t>
            </a:r>
            <a:endParaRPr lang="en-US" altLang="zh-CN" sz="3000" dirty="0"/>
          </a:p>
          <a:p>
            <a:pPr>
              <a:buFont typeface="Wingdings" pitchFamily="2" charset="2"/>
              <a:buChar char="Ø"/>
            </a:pPr>
            <a:endParaRPr lang="en-US" altLang="zh-CN" sz="3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8137B8A-7109-43D5-BAAA-1F8618ACE49F}"/>
              </a:ext>
            </a:extLst>
          </p:cNvPr>
          <p:cNvCxnSpPr/>
          <p:nvPr/>
        </p:nvCxnSpPr>
        <p:spPr>
          <a:xfrm>
            <a:off x="0" y="3657600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>
                <a:latin typeface="+mn-ea"/>
              </a:rPr>
              <a:t>思考题 </a:t>
            </a:r>
            <a:r>
              <a:rPr lang="en-US" altLang="zh-CN" sz="4800" b="1" dirty="0">
                <a:latin typeface="+mn-ea"/>
              </a:rPr>
              <a:t>27h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zh-CN" sz="3000" dirty="0"/>
              <a:t>D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MY" altLang="zh-CN" sz="3000" dirty="0"/>
              <a:t> 	(1) </a:t>
            </a:r>
            <a:r>
              <a:rPr lang="zh-CN" altLang="en-US" sz="3000" dirty="0"/>
              <a:t>相同碳原子数的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烯烃</a:t>
            </a:r>
            <a:endParaRPr lang="en-MY" altLang="zh-CN" sz="30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MY" altLang="zh-CN" sz="3000" dirty="0"/>
              <a:t>	(2) </a:t>
            </a:r>
            <a:r>
              <a:rPr lang="zh-CN" altLang="en-US" sz="3000" dirty="0"/>
              <a:t>环丙烷（所需温度较环丁烷与环戊烷低）</a:t>
            </a:r>
            <a:endParaRPr lang="en-MY" altLang="zh-CN" sz="3000" dirty="0"/>
          </a:p>
          <a:p>
            <a:pPr marL="0" indent="0">
              <a:lnSpc>
                <a:spcPct val="150000"/>
              </a:lnSpc>
              <a:buNone/>
            </a:pPr>
            <a:r>
              <a:rPr lang="en-MY" altLang="zh-CN" sz="3000" dirty="0"/>
              <a:t>	(3)	         </a:t>
            </a:r>
            <a:r>
              <a:rPr lang="en-US" altLang="zh-CN" sz="3000" dirty="0"/>
              <a:t>+ HBr  </a:t>
            </a:r>
            <a:r>
              <a:rPr lang="en-US" altLang="zh-CN" sz="3000" dirty="0">
                <a:sym typeface="Wingdings" panose="05000000000000000000" pitchFamily="2" charset="2"/>
              </a:rPr>
              <a:t> CH</a:t>
            </a:r>
            <a:r>
              <a:rPr lang="en-US" altLang="zh-CN" sz="3000" baseline="-25000" dirty="0">
                <a:sym typeface="Wingdings" panose="05000000000000000000" pitchFamily="2" charset="2"/>
              </a:rPr>
              <a:t>3</a:t>
            </a:r>
            <a:r>
              <a:rPr lang="en-US" altLang="zh-CN" sz="3000" dirty="0">
                <a:sym typeface="Wingdings" panose="05000000000000000000" pitchFamily="2" charset="2"/>
              </a:rPr>
              <a:t>CH</a:t>
            </a:r>
            <a:r>
              <a:rPr lang="en-US" altLang="zh-CN" sz="3000" baseline="-25000" dirty="0">
                <a:sym typeface="Wingdings" panose="05000000000000000000" pitchFamily="2" charset="2"/>
              </a:rPr>
              <a:t>2</a:t>
            </a:r>
            <a:r>
              <a:rPr lang="en-US" altLang="zh-CN" sz="3000" dirty="0">
                <a:sym typeface="Wingdings" panose="05000000000000000000" pitchFamily="2" charset="2"/>
              </a:rPr>
              <a:t>CH</a:t>
            </a:r>
            <a:r>
              <a:rPr lang="en-US" altLang="zh-CN" sz="3000" baseline="-25000" dirty="0">
                <a:sym typeface="Wingdings" panose="05000000000000000000" pitchFamily="2" charset="2"/>
              </a:rPr>
              <a:t>2</a:t>
            </a:r>
            <a:r>
              <a:rPr lang="en-US" altLang="zh-CN" sz="3000" dirty="0">
                <a:sym typeface="Wingdings" panose="05000000000000000000" pitchFamily="2" charset="2"/>
              </a:rPr>
              <a:t>CH</a:t>
            </a:r>
            <a:r>
              <a:rPr lang="en-US" altLang="zh-CN" sz="3000" baseline="-25000" dirty="0">
                <a:sym typeface="Wingdings" panose="05000000000000000000" pitchFamily="2" charset="2"/>
              </a:rPr>
              <a:t>2</a:t>
            </a:r>
            <a:r>
              <a:rPr lang="en-US" altLang="zh-CN" sz="3000" dirty="0">
                <a:sym typeface="Wingdings" panose="05000000000000000000" pitchFamily="2" charset="2"/>
              </a:rPr>
              <a:t>Br</a:t>
            </a:r>
            <a:endParaRPr lang="en-US" altLang="zh-CN" sz="30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3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95290C-F61C-48A1-9580-952E68285130}"/>
              </a:ext>
            </a:extLst>
          </p:cNvPr>
          <p:cNvSpPr/>
          <p:nvPr/>
        </p:nvSpPr>
        <p:spPr>
          <a:xfrm>
            <a:off x="2209800" y="3505200"/>
            <a:ext cx="685800" cy="60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466223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2860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dirty="0"/>
              <a:t>历届考题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09600"/>
            <a:ext cx="8686800" cy="61722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zh-CN" altLang="en-US" sz="2800" dirty="0"/>
              <a:t>下列叙述正确的是？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	I </a:t>
            </a:r>
            <a:r>
              <a:rPr lang="zh-CN" altLang="en-US" sz="2800" dirty="0"/>
              <a:t>同系物有相似的化学性质。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	II</a:t>
            </a:r>
            <a:r>
              <a:rPr lang="zh-CN" altLang="en-US" sz="2800" dirty="0"/>
              <a:t>同系物有相似的物理性质。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	III</a:t>
            </a:r>
            <a:r>
              <a:rPr lang="zh-CN" altLang="en-US" sz="2800" dirty="0"/>
              <a:t>同系物只含有两种元素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	IV </a:t>
            </a:r>
            <a:r>
              <a:rPr lang="zh-CN" altLang="en-US" sz="2800" dirty="0"/>
              <a:t>两个相邻的同系物分子间的分子量差</a:t>
            </a:r>
            <a:r>
              <a:rPr lang="en-US" altLang="zh-CN" sz="2800" dirty="0"/>
              <a:t>14</a:t>
            </a:r>
          </a:p>
          <a:p>
            <a:pPr marL="514350" indent="-514350">
              <a:buNone/>
            </a:pPr>
            <a:r>
              <a:rPr lang="en-US" altLang="zh-CN" sz="2800" dirty="0"/>
              <a:t>	V </a:t>
            </a:r>
            <a:r>
              <a:rPr lang="zh-CN" altLang="en-US" sz="2800" dirty="0"/>
              <a:t>分子组成相差若干个</a:t>
            </a:r>
            <a:r>
              <a:rPr lang="en-US" altLang="zh-CN" sz="2800" dirty="0"/>
              <a:t>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原子团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		</a:t>
            </a:r>
            <a:r>
              <a:rPr lang="zh-CN" altLang="en-US" sz="2800" dirty="0"/>
              <a:t>的有机物不一定是同系物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2. </a:t>
            </a:r>
            <a:r>
              <a:rPr lang="zh-CN" altLang="en-US" sz="2800" dirty="0"/>
              <a:t>有关有机物是叙述，何者正确？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	I 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多数</a:t>
            </a:r>
            <a:r>
              <a:rPr lang="zh-CN" altLang="en-US" sz="2800" dirty="0"/>
              <a:t>有机物具有官能团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	II </a:t>
            </a:r>
            <a:r>
              <a:rPr lang="zh-CN" altLang="en-US" sz="2800" dirty="0"/>
              <a:t>含碳元素的化合物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都是</a:t>
            </a:r>
            <a:r>
              <a:rPr lang="zh-CN" altLang="en-US" sz="2800" dirty="0"/>
              <a:t>有机物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	III 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多数</a:t>
            </a:r>
            <a:r>
              <a:rPr lang="zh-CN" altLang="en-US" sz="2800" dirty="0"/>
              <a:t>易溶于有机溶剂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	IV 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大多</a:t>
            </a:r>
            <a:r>
              <a:rPr lang="zh-CN" altLang="en-US" sz="2800" dirty="0"/>
              <a:t>不易燃烧</a:t>
            </a:r>
            <a:r>
              <a:rPr lang="en-US" altLang="zh-CN" sz="2800" dirty="0"/>
              <a:t> 		V 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只</a:t>
            </a:r>
            <a:r>
              <a:rPr lang="zh-CN" altLang="en-US" sz="2800" dirty="0"/>
              <a:t>存于自然界</a:t>
            </a:r>
            <a:endParaRPr lang="en-US" altLang="zh-CN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5474344" y="1066800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</a:rPr>
              <a:t>对</a:t>
            </a:r>
            <a:endParaRPr lang="en-US" altLang="zh-CN" sz="3200" dirty="0">
              <a:solidFill>
                <a:srgbClr val="00206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1524000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</a:rPr>
              <a:t>错</a:t>
            </a:r>
            <a:endParaRPr lang="en-US" altLang="zh-CN" sz="3200" dirty="0"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2057400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</a:rPr>
              <a:t>错</a:t>
            </a:r>
            <a:endParaRPr lang="en-US" altLang="zh-CN" sz="3200" dirty="0">
              <a:solidFill>
                <a:srgbClr val="00206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29765" y="2590800"/>
            <a:ext cx="16209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</a:rPr>
              <a:t>相差</a:t>
            </a:r>
            <a:r>
              <a:rPr lang="en-US" altLang="zh-CN" sz="3200" dirty="0">
                <a:solidFill>
                  <a:srgbClr val="002060"/>
                </a:solidFill>
              </a:rPr>
              <a:t>CH</a:t>
            </a:r>
            <a:r>
              <a:rPr lang="en-US" altLang="zh-CN" sz="3200" baseline="-25000" dirty="0">
                <a:solidFill>
                  <a:srgbClr val="002060"/>
                </a:solidFill>
              </a:rPr>
              <a:t>2</a:t>
            </a:r>
            <a:endParaRPr lang="en-US" altLang="zh-CN" sz="3200" dirty="0">
              <a:solidFill>
                <a:srgbClr val="00206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10200" y="4621650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</a:rPr>
              <a:t>对，烷烃没有官能团</a:t>
            </a:r>
            <a:endParaRPr lang="en-US" altLang="zh-CN" sz="3200" dirty="0">
              <a:solidFill>
                <a:srgbClr val="00206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79116" y="5155050"/>
            <a:ext cx="3593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002060"/>
                </a:solidFill>
              </a:rPr>
              <a:t>CO</a:t>
            </a:r>
            <a:r>
              <a:rPr lang="en-US" altLang="zh-CN" sz="3200" baseline="-25000" dirty="0">
                <a:solidFill>
                  <a:srgbClr val="002060"/>
                </a:solidFill>
              </a:rPr>
              <a:t>2</a:t>
            </a:r>
            <a:r>
              <a:rPr lang="en-US" altLang="zh-CN" sz="3200" dirty="0">
                <a:solidFill>
                  <a:srgbClr val="002060"/>
                </a:solidFill>
              </a:rPr>
              <a:t> ,CO</a:t>
            </a:r>
            <a:r>
              <a:rPr lang="en-US" altLang="zh-CN" sz="3200" baseline="-25000" dirty="0">
                <a:solidFill>
                  <a:srgbClr val="002060"/>
                </a:solidFill>
              </a:rPr>
              <a:t>3</a:t>
            </a:r>
            <a:r>
              <a:rPr lang="en-US" altLang="zh-CN" sz="3200" baseline="30000" dirty="0">
                <a:solidFill>
                  <a:srgbClr val="002060"/>
                </a:solidFill>
              </a:rPr>
              <a:t>2-</a:t>
            </a:r>
            <a:r>
              <a:rPr lang="en-US" altLang="zh-CN" sz="3200" dirty="0">
                <a:solidFill>
                  <a:srgbClr val="002060"/>
                </a:solidFill>
              </a:rPr>
              <a:t> </a:t>
            </a:r>
            <a:r>
              <a:rPr lang="zh-CN" altLang="en-US" sz="3200" dirty="0">
                <a:solidFill>
                  <a:srgbClr val="002060"/>
                </a:solidFill>
              </a:rPr>
              <a:t>盐等不是</a:t>
            </a:r>
            <a:endParaRPr lang="en-US" altLang="zh-CN" sz="3200" dirty="0">
              <a:solidFill>
                <a:srgbClr val="00206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0" y="5688450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</a:rPr>
              <a:t>对</a:t>
            </a:r>
            <a:endParaRPr lang="en-US" altLang="zh-CN" sz="3200" dirty="0">
              <a:solidFill>
                <a:srgbClr val="00206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810000" y="6197025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</a:rPr>
              <a:t>错</a:t>
            </a:r>
            <a:endParaRPr lang="en-US" altLang="zh-CN" sz="3200" dirty="0">
              <a:solidFill>
                <a:srgbClr val="00206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58365" y="6197025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</a:rPr>
              <a:t>错</a:t>
            </a:r>
            <a:endParaRPr lang="en-US" altLang="zh-CN" sz="3200" dirty="0">
              <a:solidFill>
                <a:srgbClr val="00206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48400" y="3124200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</a:rPr>
              <a:t>对</a:t>
            </a:r>
            <a:endParaRPr lang="en-US" altLang="zh-CN"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dirty="0"/>
              <a:t>历届考题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2800" dirty="0"/>
              <a:t>3. </a:t>
            </a:r>
            <a:r>
              <a:rPr lang="zh-CN" altLang="en-US" sz="2800" dirty="0"/>
              <a:t>对于烷烃的叙述何者错误？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	I C</a:t>
            </a:r>
            <a:r>
              <a:rPr lang="zh-CN" altLang="en-US" sz="2800" dirty="0"/>
              <a:t>原子具有</a:t>
            </a:r>
            <a:r>
              <a:rPr lang="en-US" altLang="zh-CN" sz="2800" dirty="0"/>
              <a:t>sp</a:t>
            </a:r>
            <a:r>
              <a:rPr lang="en-US" altLang="zh-CN" sz="2800" baseline="30000" dirty="0"/>
              <a:t>2</a:t>
            </a:r>
            <a:r>
              <a:rPr lang="zh-CN" altLang="en-US" sz="2800" baseline="30000" dirty="0"/>
              <a:t> </a:t>
            </a:r>
            <a:r>
              <a:rPr lang="zh-CN" altLang="en-US" sz="2800" dirty="0"/>
              <a:t> 的杂化轨域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	II </a:t>
            </a:r>
            <a:r>
              <a:rPr lang="zh-CN" altLang="en-US" sz="2800" dirty="0"/>
              <a:t>烷烃分子为正四面体立体结构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	III </a:t>
            </a:r>
            <a:r>
              <a:rPr lang="zh-CN" altLang="en-US" sz="2800" dirty="0"/>
              <a:t>能进行加成反应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	IV </a:t>
            </a:r>
            <a:r>
              <a:rPr lang="zh-CN" altLang="en-US" sz="2800" dirty="0"/>
              <a:t>乙烷和环丙烷是同系物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	V </a:t>
            </a:r>
            <a:r>
              <a:rPr lang="zh-CN" altLang="en-US" sz="2800" dirty="0"/>
              <a:t>乙烷分子共有</a:t>
            </a:r>
            <a:r>
              <a:rPr lang="en-US" altLang="zh-CN" sz="2800" dirty="0"/>
              <a:t>6</a:t>
            </a:r>
            <a:r>
              <a:rPr lang="zh-CN" altLang="en-US" sz="2800" dirty="0"/>
              <a:t>个</a:t>
            </a:r>
            <a:r>
              <a:rPr lang="el-GR" altLang="zh-CN" sz="2800" dirty="0"/>
              <a:t>σ</a:t>
            </a:r>
            <a:r>
              <a:rPr lang="zh-CN" altLang="en-US" sz="2800" dirty="0"/>
              <a:t>键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	VI </a:t>
            </a:r>
            <a:r>
              <a:rPr lang="zh-CN" altLang="en-US" sz="2800" dirty="0"/>
              <a:t>分子量大的烷烃可进行裂变反应</a:t>
            </a:r>
            <a:endParaRPr lang="en-US" altLang="zh-CN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5474344" y="1219200"/>
            <a:ext cx="7008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002060"/>
                </a:solidFill>
              </a:rPr>
              <a:t>sp</a:t>
            </a:r>
            <a:r>
              <a:rPr lang="en-US" altLang="zh-CN" sz="3200" baseline="30000" dirty="0">
                <a:solidFill>
                  <a:srgbClr val="002060"/>
                </a:solidFill>
              </a:rPr>
              <a:t>3</a:t>
            </a:r>
            <a:endParaRPr lang="en-US" altLang="zh-CN" sz="3200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10565" y="1828800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</a:rPr>
              <a:t>对</a:t>
            </a:r>
            <a:endParaRPr lang="en-US" altLang="zh-CN" sz="3200" dirty="0">
              <a:solidFill>
                <a:srgbClr val="00206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18415" y="2234625"/>
            <a:ext cx="387798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</a:rPr>
              <a:t>错，烷烃是饱和烃，</a:t>
            </a:r>
            <a:endParaRPr lang="en-US" altLang="zh-CN" sz="3200" dirty="0">
              <a:solidFill>
                <a:srgbClr val="002060"/>
              </a:solidFill>
            </a:endParaRPr>
          </a:p>
          <a:p>
            <a:r>
              <a:rPr lang="zh-CN" altLang="en-US" sz="3200" dirty="0">
                <a:solidFill>
                  <a:srgbClr val="002060"/>
                </a:solidFill>
              </a:rPr>
              <a:t>不能进行加成反应</a:t>
            </a:r>
            <a:endParaRPr lang="en-US" altLang="zh-CN" sz="3200" dirty="0"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00600" y="2844225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</a:rPr>
              <a:t>错</a:t>
            </a:r>
            <a:endParaRPr lang="en-US" altLang="zh-CN" sz="3200" dirty="0">
              <a:solidFill>
                <a:srgbClr val="00206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00600" y="3377625"/>
            <a:ext cx="8034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002060"/>
                </a:solidFill>
              </a:rPr>
              <a:t>7</a:t>
            </a:r>
            <a:r>
              <a:rPr lang="zh-CN" altLang="en-US" sz="3200" dirty="0">
                <a:solidFill>
                  <a:srgbClr val="002060"/>
                </a:solidFill>
              </a:rPr>
              <a:t>个</a:t>
            </a:r>
            <a:endParaRPr lang="en-US" altLang="zh-CN" sz="3200" dirty="0">
              <a:solidFill>
                <a:srgbClr val="00206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11775" y="3834825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</a:rPr>
              <a:t>裂化（裂解）</a:t>
            </a:r>
            <a:endParaRPr lang="en-US" altLang="zh-CN"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dirty="0"/>
              <a:t>历届考题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3000" dirty="0"/>
              <a:t>4. 1mol</a:t>
            </a:r>
            <a:r>
              <a:rPr lang="zh-CN" altLang="en-US" sz="3000" dirty="0"/>
              <a:t>甲烷和</a:t>
            </a:r>
            <a:r>
              <a:rPr lang="en-US" altLang="zh-CN" sz="3000" dirty="0"/>
              <a:t>Cl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  <a:r>
              <a:rPr lang="zh-CN" altLang="en-US" sz="3000" dirty="0"/>
              <a:t>发生取代反应，待反应完成后，取得四种取代物的物质的量相等，则消耗</a:t>
            </a:r>
            <a:r>
              <a:rPr lang="en-US" altLang="zh-CN" sz="3000" dirty="0"/>
              <a:t>Cl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  <a:r>
              <a:rPr lang="zh-CN" altLang="en-US" sz="3000" dirty="0"/>
              <a:t>的物质的量为多少？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		 CH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+ Cl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	</a:t>
            </a:r>
            <a:r>
              <a:rPr lang="en-US" altLang="zh-CN" sz="3000" dirty="0">
                <a:sym typeface="Wingdings" pitchFamily="2" charset="2"/>
              </a:rPr>
              <a:t> 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Cl  +  </a:t>
            </a:r>
            <a:r>
              <a:rPr lang="en-US" altLang="zh-CN" sz="3000" dirty="0" err="1"/>
              <a:t>HCl</a:t>
            </a:r>
            <a:r>
              <a:rPr lang="en-US" altLang="zh-CN" sz="3000" dirty="0"/>
              <a:t>	</a:t>
            </a:r>
          </a:p>
          <a:p>
            <a:pPr>
              <a:buNone/>
            </a:pPr>
            <a:r>
              <a:rPr lang="en-US" altLang="zh-CN" sz="3000" dirty="0"/>
              <a:t>		0.25	0.25</a:t>
            </a:r>
          </a:p>
          <a:p>
            <a:pPr>
              <a:buNone/>
            </a:pPr>
            <a:r>
              <a:rPr lang="en-US" altLang="zh-CN" sz="3000" dirty="0"/>
              <a:t>		 CH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+ 2 Cl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	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Cl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 +  2 </a:t>
            </a:r>
            <a:r>
              <a:rPr lang="en-US" altLang="zh-CN" sz="3000" dirty="0" err="1"/>
              <a:t>HCl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		0.25	0.5</a:t>
            </a:r>
          </a:p>
          <a:p>
            <a:pPr>
              <a:buNone/>
            </a:pPr>
            <a:r>
              <a:rPr lang="en-US" altLang="zh-CN" sz="3000" dirty="0"/>
              <a:t>		 CH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+ 3 Cl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	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en-US" altLang="zh-CN" sz="3000" dirty="0"/>
              <a:t>CHCl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 +  3 </a:t>
            </a:r>
            <a:r>
              <a:rPr lang="en-US" altLang="zh-CN" sz="3000" dirty="0" err="1"/>
              <a:t>HCl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		0.25	0.75</a:t>
            </a:r>
          </a:p>
          <a:p>
            <a:pPr>
              <a:buNone/>
            </a:pPr>
            <a:r>
              <a:rPr lang="en-US" altLang="zh-CN" sz="3000" dirty="0"/>
              <a:t>		 CH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+ 4 Cl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	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en-US" altLang="zh-CN" sz="3000" dirty="0"/>
              <a:t>CCl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 +  4 </a:t>
            </a:r>
            <a:r>
              <a:rPr lang="en-US" altLang="zh-CN" sz="3000" dirty="0" err="1"/>
              <a:t>HCl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		0.25	1</a:t>
            </a:r>
          </a:p>
          <a:p>
            <a:pPr marL="514350" indent="-514350">
              <a:buNone/>
            </a:pPr>
            <a:endParaRPr lang="en-US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	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1752600"/>
            <a:ext cx="51716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err="1">
                <a:solidFill>
                  <a:srgbClr val="002060"/>
                </a:solidFill>
              </a:rPr>
              <a:t>Ans</a:t>
            </a:r>
            <a:r>
              <a:rPr lang="en-US" altLang="zh-CN" sz="3200" dirty="0">
                <a:solidFill>
                  <a:srgbClr val="002060"/>
                </a:solidFill>
              </a:rPr>
              <a:t>: 0.25+0.5+0.75+1=2.5mol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2819400"/>
            <a:ext cx="1066800" cy="4572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2209800" y="2819400"/>
            <a:ext cx="1066800" cy="4572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1143000" y="3962400"/>
            <a:ext cx="1066800" cy="4572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2209800" y="3962400"/>
            <a:ext cx="1066800" cy="4572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1143000" y="5105400"/>
            <a:ext cx="1066800" cy="4572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2209800" y="5105400"/>
            <a:ext cx="1066800" cy="4572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1143000" y="6172200"/>
            <a:ext cx="1066800" cy="4572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2209800" y="6172200"/>
            <a:ext cx="1066800" cy="4572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dirty="0"/>
              <a:t>历届考题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3000" dirty="0"/>
              <a:t>5. </a:t>
            </a:r>
            <a:r>
              <a:rPr lang="zh-CN" altLang="en-US" sz="3000" dirty="0"/>
              <a:t>使</a:t>
            </a:r>
            <a:r>
              <a:rPr lang="en-US" altLang="zh-CN" sz="3000" dirty="0"/>
              <a:t>2mol</a:t>
            </a:r>
            <a:r>
              <a:rPr lang="zh-CN" altLang="en-US" sz="3000" dirty="0"/>
              <a:t>环丙烷完全燃烧需要多少克</a:t>
            </a:r>
            <a:r>
              <a:rPr lang="en-US" altLang="zh-CN" sz="3000" dirty="0"/>
              <a:t>O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  <a:r>
              <a:rPr lang="zh-CN" altLang="en-US" sz="3000" dirty="0"/>
              <a:t>？</a:t>
            </a:r>
            <a:endParaRPr lang="en-US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	A 320g		B 288g	C 256g	D 64g</a:t>
            </a:r>
          </a:p>
          <a:p>
            <a:pPr marL="514350" indent="-514350">
              <a:buNone/>
            </a:pPr>
            <a:r>
              <a:rPr lang="en-US" altLang="zh-CN" sz="3000" dirty="0"/>
              <a:t>	2C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6</a:t>
            </a:r>
            <a:r>
              <a:rPr lang="en-US" altLang="zh-CN" sz="3000" dirty="0"/>
              <a:t> +     O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  <a:r>
              <a:rPr lang="en-US" altLang="zh-CN" sz="3000" dirty="0">
                <a:sym typeface="Wingdings" pitchFamily="2" charset="2"/>
              </a:rPr>
              <a:t>    CO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+    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</a:t>
            </a:r>
            <a:r>
              <a:rPr lang="zh-CN" altLang="en-US" sz="3000" dirty="0">
                <a:sym typeface="Wingdings" pitchFamily="2" charset="2"/>
              </a:rPr>
              <a:t>　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 err="1">
                <a:sym typeface="Wingdings" pitchFamily="2" charset="2"/>
              </a:rPr>
              <a:t>Ans</a:t>
            </a:r>
            <a:r>
              <a:rPr lang="en-US" altLang="zh-CN" sz="3000" dirty="0">
                <a:sym typeface="Wingdings" pitchFamily="2" charset="2"/>
              </a:rPr>
              <a:t>: 9x32=288g 	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B</a:t>
            </a:r>
          </a:p>
          <a:p>
            <a:pPr marL="514350" indent="-514350">
              <a:buNone/>
            </a:pP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6. </a:t>
            </a:r>
            <a:r>
              <a:rPr lang="zh-CN" altLang="en-US" sz="3000" dirty="0">
                <a:sym typeface="Wingdings" pitchFamily="2" charset="2"/>
              </a:rPr>
              <a:t>分子式为</a:t>
            </a:r>
            <a:r>
              <a:rPr lang="en-US" altLang="zh-CN" sz="3000" dirty="0">
                <a:sym typeface="Wingdings" pitchFamily="2" charset="2"/>
              </a:rPr>
              <a:t>C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H</a:t>
            </a:r>
            <a:r>
              <a:rPr lang="en-US" altLang="zh-CN" sz="3000" baseline="-25000" dirty="0">
                <a:sym typeface="Wingdings" pitchFamily="2" charset="2"/>
              </a:rPr>
              <a:t>6</a:t>
            </a:r>
            <a:r>
              <a:rPr lang="en-US" altLang="zh-CN" sz="3000" dirty="0">
                <a:sym typeface="Wingdings" pitchFamily="2" charset="2"/>
              </a:rPr>
              <a:t>Cl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的同分异构共有多少种？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1</a:t>
            </a:r>
            <a:r>
              <a:rPr lang="zh-CN" altLang="en-US" sz="3000" dirty="0">
                <a:sym typeface="Wingdings" pitchFamily="2" charset="2"/>
              </a:rPr>
              <a:t>，</a:t>
            </a:r>
            <a:r>
              <a:rPr lang="en-US" altLang="zh-CN" sz="3000" dirty="0">
                <a:sym typeface="Wingdings" pitchFamily="2" charset="2"/>
              </a:rPr>
              <a:t>1		2</a:t>
            </a:r>
            <a:r>
              <a:rPr lang="zh-CN" altLang="en-US" sz="3000" dirty="0">
                <a:sym typeface="Wingdings" pitchFamily="2" charset="2"/>
              </a:rPr>
              <a:t>，</a:t>
            </a:r>
            <a:r>
              <a:rPr lang="en-US" altLang="zh-CN" sz="3000" dirty="0">
                <a:sym typeface="Wingdings" pitchFamily="2" charset="2"/>
              </a:rPr>
              <a:t>2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1</a:t>
            </a:r>
            <a:r>
              <a:rPr lang="zh-CN" altLang="en-US" sz="3000" dirty="0">
                <a:sym typeface="Wingdings" pitchFamily="2" charset="2"/>
              </a:rPr>
              <a:t>，</a:t>
            </a:r>
            <a:r>
              <a:rPr lang="en-US" altLang="zh-CN" sz="3000" dirty="0">
                <a:sym typeface="Wingdings" pitchFamily="2" charset="2"/>
              </a:rPr>
              <a:t>2		1</a:t>
            </a:r>
            <a:r>
              <a:rPr lang="zh-CN" altLang="en-US" sz="3000" dirty="0">
                <a:sym typeface="Wingdings" pitchFamily="2" charset="2"/>
              </a:rPr>
              <a:t>，</a:t>
            </a:r>
            <a:r>
              <a:rPr lang="en-US" altLang="zh-CN" sz="3000" dirty="0">
                <a:sym typeface="Wingdings" pitchFamily="2" charset="2"/>
              </a:rPr>
              <a:t>3</a:t>
            </a:r>
          </a:p>
          <a:p>
            <a:pPr marL="514350" indent="-514350">
              <a:buNone/>
            </a:pPr>
            <a:r>
              <a:rPr lang="en-US" altLang="zh-CN" sz="3000" dirty="0" err="1">
                <a:sym typeface="Wingdings" pitchFamily="2" charset="2"/>
              </a:rPr>
              <a:t>Ans</a:t>
            </a:r>
            <a:r>
              <a:rPr lang="en-US" altLang="zh-CN" sz="3000" dirty="0">
                <a:sym typeface="Wingdings" pitchFamily="2" charset="2"/>
              </a:rPr>
              <a:t>: 4 </a:t>
            </a:r>
          </a:p>
          <a:p>
            <a:pPr marL="514350" indent="-514350">
              <a:buNone/>
            </a:pPr>
            <a:endParaRPr lang="en-US" altLang="zh-CN" sz="3000" dirty="0">
              <a:sym typeface="Wingdings" pitchFamily="2" charset="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52800" y="1960602"/>
            <a:ext cx="38023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8968" y="1981200"/>
            <a:ext cx="38023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3600" y="1960602"/>
            <a:ext cx="38023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rgbClr val="7030A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/>
      <p:bldP spid="13" grpId="0"/>
      <p:bldP spid="14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dirty="0"/>
              <a:t>选择题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US" altLang="zh-CN" sz="3000" dirty="0"/>
              <a:t>D</a:t>
            </a:r>
          </a:p>
          <a:p>
            <a:pPr marL="514350" indent="-514350">
              <a:buAutoNum type="arabicPeriod"/>
            </a:pPr>
            <a:r>
              <a:rPr lang="en-US" altLang="zh-CN" sz="3000" dirty="0"/>
              <a:t>A</a:t>
            </a:r>
          </a:p>
          <a:p>
            <a:pPr marL="400050" lvl="1" indent="0">
              <a:buNone/>
            </a:pPr>
            <a:r>
              <a:rPr lang="zh-CN" altLang="en-US" dirty="0"/>
              <a:t>混合物没固定沸点，例：不同浓度的盐水沸点不同</a:t>
            </a:r>
            <a:endParaRPr lang="en-US" altLang="zh-CN" dirty="0"/>
          </a:p>
          <a:p>
            <a:pPr marL="514350" indent="-514350">
              <a:buNone/>
            </a:pPr>
            <a:r>
              <a:rPr lang="en-US" altLang="zh-CN" sz="2800" dirty="0"/>
              <a:t>3. 	① </a:t>
            </a:r>
            <a:r>
              <a:rPr lang="zh-CN" altLang="en-US" sz="2800" dirty="0"/>
              <a:t>同系物化学性质相似</a:t>
            </a:r>
            <a:r>
              <a:rPr lang="en-US" altLang="zh-CN" sz="2800" dirty="0"/>
              <a:t>(</a:t>
            </a:r>
            <a:r>
              <a:rPr lang="zh-CN" altLang="en-US" sz="2800" dirty="0"/>
              <a:t>不可反之</a:t>
            </a:r>
            <a:r>
              <a:rPr lang="en-US" altLang="zh-CN" sz="2800" dirty="0"/>
              <a:t>)</a:t>
            </a:r>
            <a:endParaRPr lang="en-MY" altLang="zh-CN" sz="2800" dirty="0"/>
          </a:p>
          <a:p>
            <a:pPr marL="514350" indent="-514350">
              <a:buNone/>
            </a:pPr>
            <a:r>
              <a:rPr lang="en-MY" altLang="zh-CN" sz="2800" dirty="0"/>
              <a:t>	② </a:t>
            </a:r>
            <a:r>
              <a:rPr lang="zh-CN" altLang="en-US" sz="2800" dirty="0"/>
              <a:t>同系物官能团须相同，相差</a:t>
            </a:r>
            <a:r>
              <a:rPr lang="en-US" altLang="zh-CN" sz="2800" dirty="0"/>
              <a:t>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，通式相同</a:t>
            </a:r>
            <a:r>
              <a:rPr lang="en-US" altLang="zh-CN" sz="2800" dirty="0"/>
              <a:t> 	</a:t>
            </a:r>
          </a:p>
          <a:p>
            <a:pPr marL="514350" indent="-514350">
              <a:buNone/>
            </a:pPr>
            <a:r>
              <a:rPr lang="en-US" altLang="zh-CN" sz="2800" dirty="0"/>
              <a:t>	③ C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与 </a:t>
            </a:r>
            <a:r>
              <a:rPr lang="en-US" altLang="zh-CN" sz="2800" dirty="0"/>
              <a:t>C</a:t>
            </a:r>
            <a:r>
              <a:rPr lang="en-US" altLang="zh-CN" sz="2800" baseline="-25000" dirty="0"/>
              <a:t>6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6</a:t>
            </a:r>
            <a:r>
              <a:rPr lang="en-US" altLang="zh-CN" sz="2800" dirty="0"/>
              <a:t> </a:t>
            </a:r>
            <a:r>
              <a:rPr lang="zh-CN" altLang="en-US" sz="2800" dirty="0"/>
              <a:t>不是同系物</a:t>
            </a:r>
            <a:endParaRPr lang="en-MY" altLang="zh-CN" sz="2800" dirty="0"/>
          </a:p>
          <a:p>
            <a:pPr marL="514350" indent="-514350">
              <a:buNone/>
            </a:pPr>
            <a:r>
              <a:rPr lang="en-MY" altLang="zh-CN" sz="2800" dirty="0"/>
              <a:t>	④ </a:t>
            </a:r>
            <a:r>
              <a:rPr lang="zh-CN" altLang="en-US" sz="2800" dirty="0"/>
              <a:t>乙醇与甲醚是同分异构体，但化学性质不相似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Ans</a:t>
            </a:r>
            <a:r>
              <a:rPr lang="zh-CN" altLang="en-US" sz="2800" dirty="0"/>
              <a:t>： </a:t>
            </a:r>
            <a:r>
              <a:rPr lang="en-US" altLang="zh-CN" sz="2800" dirty="0"/>
              <a:t>A</a:t>
            </a:r>
          </a:p>
          <a:p>
            <a:pPr marL="514350" indent="-514350">
              <a:buNone/>
            </a:pPr>
            <a:r>
              <a:rPr lang="en-US" altLang="zh-CN" sz="3000" dirty="0"/>
              <a:t>4. Ans: A  </a:t>
            </a:r>
            <a:r>
              <a:rPr lang="zh-CN" altLang="en-US" sz="3000" dirty="0"/>
              <a:t>甲烷与癸烷</a:t>
            </a:r>
            <a:r>
              <a:rPr lang="en-US" altLang="zh-CN" sz="3000" dirty="0"/>
              <a:t> </a:t>
            </a:r>
          </a:p>
          <a:p>
            <a:pPr marL="514350" indent="-514350">
              <a:buNone/>
            </a:pPr>
            <a:r>
              <a:rPr lang="en-US" altLang="zh-CN" sz="3000" dirty="0"/>
              <a:t>	B </a:t>
            </a:r>
            <a:r>
              <a:rPr lang="zh-CN" altLang="en-US" sz="3000" dirty="0"/>
              <a:t>可能是环烷烃和烯烃</a:t>
            </a:r>
            <a:endParaRPr lang="en-MY" altLang="zh-CN" sz="3000" dirty="0"/>
          </a:p>
          <a:p>
            <a:pPr marL="514350" indent="-514350">
              <a:buNone/>
            </a:pPr>
            <a:r>
              <a:rPr lang="en-MY" altLang="zh-CN" sz="3000" dirty="0"/>
              <a:t>	</a:t>
            </a:r>
            <a:r>
              <a:rPr lang="en-US" altLang="zh-CN" sz="3000" dirty="0"/>
              <a:t>D </a:t>
            </a:r>
            <a:r>
              <a:rPr lang="zh-CN" altLang="en-US" sz="3000" dirty="0"/>
              <a:t>互为同分异构体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dirty="0"/>
              <a:t>选择题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AutoNum type="arabicPeriod" startAt="5"/>
            </a:pPr>
            <a:r>
              <a:rPr lang="en-US" altLang="zh-CN" sz="3000" dirty="0"/>
              <a:t>A </a:t>
            </a:r>
            <a:r>
              <a:rPr lang="zh-CN" altLang="en-US" sz="3000" dirty="0"/>
              <a:t>两种</a:t>
            </a:r>
            <a:endParaRPr lang="en-MY" altLang="zh-CN" sz="3000" dirty="0"/>
          </a:p>
          <a:p>
            <a:pPr marL="0" indent="0">
              <a:buNone/>
            </a:pPr>
            <a:r>
              <a:rPr lang="en-MY" altLang="zh-CN" sz="3000" dirty="0"/>
              <a:t>      </a:t>
            </a:r>
            <a:r>
              <a:rPr lang="en-US" altLang="zh-CN" sz="3000" dirty="0"/>
              <a:t>B </a:t>
            </a:r>
            <a:r>
              <a:rPr lang="zh-CN" altLang="en-US" sz="3000" dirty="0"/>
              <a:t>两种</a:t>
            </a:r>
            <a:endParaRPr lang="en-MY" altLang="zh-CN" sz="3000" dirty="0"/>
          </a:p>
          <a:p>
            <a:pPr marL="0" indent="0">
              <a:buNone/>
            </a:pPr>
            <a:r>
              <a:rPr lang="en-MY" altLang="zh-CN" sz="3000" dirty="0"/>
              <a:t>      </a:t>
            </a:r>
            <a:r>
              <a:rPr lang="en-US" altLang="zh-CN" sz="3000" dirty="0"/>
              <a:t>C </a:t>
            </a:r>
            <a:r>
              <a:rPr lang="zh-CN" altLang="en-US" sz="3000" dirty="0"/>
              <a:t>没同分异构体</a:t>
            </a:r>
            <a:endParaRPr lang="en-MY" altLang="zh-CN" sz="3000" dirty="0"/>
          </a:p>
          <a:p>
            <a:pPr marL="0" indent="0">
              <a:buNone/>
            </a:pPr>
            <a:r>
              <a:rPr lang="en-US" altLang="zh-CN" sz="3000" dirty="0"/>
              <a:t>Ans: D </a:t>
            </a:r>
          </a:p>
          <a:p>
            <a:pPr marL="514350" indent="-514350">
              <a:buNone/>
            </a:pPr>
            <a:r>
              <a:rPr lang="en-US" altLang="zh-CN" sz="3000" dirty="0"/>
              <a:t>6. A </a:t>
            </a:r>
          </a:p>
          <a:p>
            <a:pPr marL="514350" indent="-514350">
              <a:buNone/>
            </a:pPr>
            <a:r>
              <a:rPr lang="zh-CN" altLang="en-US" sz="3000" dirty="0"/>
              <a:t>支链多，分子间接触面积小，范德华力小，沸点低</a:t>
            </a:r>
            <a:endParaRPr lang="en-MY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7. A </a:t>
            </a:r>
            <a:r>
              <a:rPr lang="zh-CN" altLang="en-US" sz="3000" dirty="0"/>
              <a:t>需点燃</a:t>
            </a:r>
            <a:endParaRPr lang="en-MY" altLang="zh-CN" sz="3000" dirty="0"/>
          </a:p>
          <a:p>
            <a:pPr marL="514350" indent="-514350">
              <a:buNone/>
            </a:pPr>
            <a:r>
              <a:rPr lang="en-MY" altLang="zh-CN" sz="3000" dirty="0"/>
              <a:t>	</a:t>
            </a:r>
            <a:r>
              <a:rPr lang="en-US" altLang="zh-CN" sz="3000" dirty="0"/>
              <a:t>Ans</a:t>
            </a:r>
            <a:r>
              <a:rPr lang="zh-CN" altLang="en-US" sz="3000" dirty="0"/>
              <a:t>：</a:t>
            </a:r>
            <a:r>
              <a:rPr lang="en-US" altLang="zh-CN" sz="3000" dirty="0"/>
              <a:t>B</a:t>
            </a:r>
          </a:p>
          <a:p>
            <a:pPr marL="514350" indent="-514350">
              <a:buNone/>
            </a:pPr>
            <a:r>
              <a:rPr lang="en-MY" altLang="zh-CN" sz="3000" dirty="0"/>
              <a:t>8. C </a:t>
            </a: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7620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dirty="0"/>
              <a:t>选择题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3000" dirty="0"/>
              <a:t>9. 	 CH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+ Cl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	</a:t>
            </a: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Cl  +  HCl	</a:t>
            </a:r>
          </a:p>
          <a:p>
            <a:pPr>
              <a:buNone/>
            </a:pPr>
            <a:r>
              <a:rPr lang="en-US" altLang="zh-CN" sz="3000" dirty="0"/>
              <a:t>		CH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+ 2 Cl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		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Cl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 +  2 HCl</a:t>
            </a:r>
          </a:p>
          <a:p>
            <a:pPr>
              <a:buNone/>
            </a:pPr>
            <a:r>
              <a:rPr lang="en-US" altLang="zh-CN" sz="3000" dirty="0"/>
              <a:t>		 CH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+ 3 Cl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		CHCl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 +  3 HCl</a:t>
            </a:r>
          </a:p>
          <a:p>
            <a:pPr>
              <a:buNone/>
            </a:pPr>
            <a:r>
              <a:rPr lang="en-US" altLang="zh-CN" sz="3000" dirty="0"/>
              <a:t>		CH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+ 4 Cl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		CCl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 +  4 HCl</a:t>
            </a:r>
          </a:p>
          <a:p>
            <a:pPr>
              <a:buNone/>
            </a:pPr>
            <a:r>
              <a:rPr lang="en-US" altLang="zh-CN" sz="3000" dirty="0"/>
              <a:t>Ans: C</a:t>
            </a:r>
          </a:p>
          <a:p>
            <a:pPr>
              <a:buNone/>
            </a:pPr>
            <a:r>
              <a:rPr lang="zh-CN" altLang="en-US" sz="3000" dirty="0"/>
              <a:t>若生成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Cl</a:t>
            </a:r>
            <a:r>
              <a:rPr lang="en-US" altLang="zh-CN" sz="3000" baseline="-25000" dirty="0"/>
              <a:t>2</a:t>
            </a:r>
            <a:r>
              <a:rPr lang="zh-CN" altLang="en-US" sz="3000" baseline="-25000" dirty="0"/>
              <a:t> </a:t>
            </a:r>
            <a:r>
              <a:rPr lang="zh-CN" altLang="en-US" sz="3000" dirty="0"/>
              <a:t> 、</a:t>
            </a:r>
            <a:r>
              <a:rPr lang="en-US" altLang="zh-CN" sz="3000" dirty="0"/>
              <a:t> CHCl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</a:t>
            </a:r>
            <a:r>
              <a:rPr lang="zh-CN" altLang="en-US" sz="3000" dirty="0"/>
              <a:t>、</a:t>
            </a:r>
            <a:r>
              <a:rPr lang="en-US" altLang="zh-CN" sz="3000" dirty="0"/>
              <a:t> CCl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</a:t>
            </a:r>
            <a:r>
              <a:rPr lang="zh-CN" altLang="en-US" sz="3000" dirty="0"/>
              <a:t>为液体，压强变小。</a:t>
            </a:r>
            <a:endParaRPr lang="en-US" altLang="zh-CN" sz="3000" dirty="0"/>
          </a:p>
          <a:p>
            <a:pPr marL="514350" indent="-514350">
              <a:spcBef>
                <a:spcPts val="300"/>
              </a:spcBef>
              <a:buNone/>
            </a:pPr>
            <a:endParaRPr lang="en-US" altLang="zh-CN" sz="3000" dirty="0"/>
          </a:p>
        </p:txBody>
      </p:sp>
      <p:grpSp>
        <p:nvGrpSpPr>
          <p:cNvPr id="6" name="Group 47">
            <a:extLst>
              <a:ext uri="{FF2B5EF4-FFF2-40B4-BE49-F238E27FC236}">
                <a16:creationId xmlns:a16="http://schemas.microsoft.com/office/drawing/2014/main" id="{C8F9A48E-D9B5-4657-BC7B-1D011C760008}"/>
              </a:ext>
            </a:extLst>
          </p:cNvPr>
          <p:cNvGrpSpPr/>
          <p:nvPr/>
        </p:nvGrpSpPr>
        <p:grpSpPr>
          <a:xfrm>
            <a:off x="3078480" y="838200"/>
            <a:ext cx="731520" cy="307777"/>
            <a:chOff x="2819400" y="5940623"/>
            <a:chExt cx="731520" cy="307777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913D4514-AD5D-4DEF-8866-E72AB7D0A2A3}"/>
                </a:ext>
              </a:extLst>
            </p:cNvPr>
            <p:cNvCxnSpPr/>
            <p:nvPr/>
          </p:nvCxnSpPr>
          <p:spPr>
            <a:xfrm>
              <a:off x="2819400" y="62468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2C0393A-A7EA-447D-8978-95EAADB2983F}"/>
                </a:ext>
              </a:extLst>
            </p:cNvPr>
            <p:cNvSpPr txBox="1"/>
            <p:nvPr/>
          </p:nvSpPr>
          <p:spPr>
            <a:xfrm>
              <a:off x="2895600" y="594062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光照</a:t>
              </a:r>
              <a:endParaRPr lang="en-US" sz="1400" dirty="0"/>
            </a:p>
          </p:txBody>
        </p:sp>
      </p:grpSp>
      <p:grpSp>
        <p:nvGrpSpPr>
          <p:cNvPr id="9" name="Group 47">
            <a:extLst>
              <a:ext uri="{FF2B5EF4-FFF2-40B4-BE49-F238E27FC236}">
                <a16:creationId xmlns:a16="http://schemas.microsoft.com/office/drawing/2014/main" id="{65C7723F-F64E-4AC8-B90F-EC380834320C}"/>
              </a:ext>
            </a:extLst>
          </p:cNvPr>
          <p:cNvGrpSpPr/>
          <p:nvPr/>
        </p:nvGrpSpPr>
        <p:grpSpPr>
          <a:xfrm>
            <a:off x="3048000" y="1371600"/>
            <a:ext cx="731520" cy="307777"/>
            <a:chOff x="2819400" y="5940623"/>
            <a:chExt cx="731520" cy="307777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A805877-FFA7-4885-BA87-90F703E1D3E1}"/>
                </a:ext>
              </a:extLst>
            </p:cNvPr>
            <p:cNvCxnSpPr/>
            <p:nvPr/>
          </p:nvCxnSpPr>
          <p:spPr>
            <a:xfrm>
              <a:off x="2819400" y="62468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286502D-8824-46AD-B85D-5A56AE897017}"/>
                </a:ext>
              </a:extLst>
            </p:cNvPr>
            <p:cNvSpPr txBox="1"/>
            <p:nvPr/>
          </p:nvSpPr>
          <p:spPr>
            <a:xfrm>
              <a:off x="2895600" y="594062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光照</a:t>
              </a:r>
              <a:endParaRPr lang="en-US" sz="1400" dirty="0"/>
            </a:p>
          </p:txBody>
        </p:sp>
      </p:grpSp>
      <p:grpSp>
        <p:nvGrpSpPr>
          <p:cNvPr id="12" name="Group 47">
            <a:extLst>
              <a:ext uri="{FF2B5EF4-FFF2-40B4-BE49-F238E27FC236}">
                <a16:creationId xmlns:a16="http://schemas.microsoft.com/office/drawing/2014/main" id="{8653BDB3-092B-44A2-9741-96C0B179B976}"/>
              </a:ext>
            </a:extLst>
          </p:cNvPr>
          <p:cNvGrpSpPr/>
          <p:nvPr/>
        </p:nvGrpSpPr>
        <p:grpSpPr>
          <a:xfrm>
            <a:off x="3048000" y="1978223"/>
            <a:ext cx="731520" cy="307777"/>
            <a:chOff x="2819400" y="5940623"/>
            <a:chExt cx="731520" cy="307777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F7BC86B-3BD0-46B1-B709-6895D562A762}"/>
                </a:ext>
              </a:extLst>
            </p:cNvPr>
            <p:cNvCxnSpPr/>
            <p:nvPr/>
          </p:nvCxnSpPr>
          <p:spPr>
            <a:xfrm>
              <a:off x="2819400" y="62468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8DA68C6-229B-41DD-9F95-BF3CDB519950}"/>
                </a:ext>
              </a:extLst>
            </p:cNvPr>
            <p:cNvSpPr txBox="1"/>
            <p:nvPr/>
          </p:nvSpPr>
          <p:spPr>
            <a:xfrm>
              <a:off x="2895600" y="594062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光照</a:t>
              </a:r>
              <a:endParaRPr lang="en-US" sz="1400" dirty="0"/>
            </a:p>
          </p:txBody>
        </p:sp>
      </p:grpSp>
      <p:grpSp>
        <p:nvGrpSpPr>
          <p:cNvPr id="15" name="Group 47">
            <a:extLst>
              <a:ext uri="{FF2B5EF4-FFF2-40B4-BE49-F238E27FC236}">
                <a16:creationId xmlns:a16="http://schemas.microsoft.com/office/drawing/2014/main" id="{78650AAF-2011-45A6-BBFA-8832F13D7EAA}"/>
              </a:ext>
            </a:extLst>
          </p:cNvPr>
          <p:cNvGrpSpPr/>
          <p:nvPr/>
        </p:nvGrpSpPr>
        <p:grpSpPr>
          <a:xfrm>
            <a:off x="3078480" y="2511623"/>
            <a:ext cx="731520" cy="307777"/>
            <a:chOff x="2819400" y="5940623"/>
            <a:chExt cx="731520" cy="307777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6D39D0F-E1C2-4DDD-9F07-6CA026B63C7A}"/>
                </a:ext>
              </a:extLst>
            </p:cNvPr>
            <p:cNvCxnSpPr/>
            <p:nvPr/>
          </p:nvCxnSpPr>
          <p:spPr>
            <a:xfrm>
              <a:off x="2819400" y="62468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F28AFD4-3B70-4C85-B1A9-2706D54C1A0C}"/>
                </a:ext>
              </a:extLst>
            </p:cNvPr>
            <p:cNvSpPr txBox="1"/>
            <p:nvPr/>
          </p:nvSpPr>
          <p:spPr>
            <a:xfrm>
              <a:off x="2895600" y="594062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光照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dirty="0"/>
              <a:t>作答题</a:t>
            </a:r>
            <a:r>
              <a:rPr lang="en-US" altLang="zh-CN" dirty="0"/>
              <a:t>1(1),2,3(3),4(2)(4),5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US" altLang="zh-CN" sz="3000" dirty="0"/>
              <a:t>(1</a:t>
            </a:r>
            <a:r>
              <a:rPr lang="en-MY" altLang="zh-CN" sz="3000" dirty="0"/>
              <a:t>) 6</a:t>
            </a:r>
            <a:r>
              <a:rPr lang="en-US" altLang="zh-CN" sz="3000" dirty="0"/>
              <a:t>	(2) 3	    (3) 3 	(4) 1</a:t>
            </a:r>
          </a:p>
          <a:p>
            <a:pPr marL="514350" indent="-514350">
              <a:buAutoNum type="arabicPeriod"/>
            </a:pPr>
            <a:r>
              <a:rPr lang="en-US" altLang="zh-CN" sz="3000" dirty="0" err="1"/>
              <a:t>Mr</a:t>
            </a:r>
            <a:r>
              <a:rPr lang="en-US" altLang="zh-CN" sz="3000" dirty="0"/>
              <a:t> (C</a:t>
            </a:r>
            <a:r>
              <a:rPr lang="en-US" altLang="zh-CN" sz="3000" baseline="-25000" dirty="0"/>
              <a:t>n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2n+2</a:t>
            </a:r>
            <a:r>
              <a:rPr lang="en-US" altLang="zh-CN" sz="3000" dirty="0"/>
              <a:t>) =86</a:t>
            </a:r>
          </a:p>
          <a:p>
            <a:pPr marL="0" indent="0">
              <a:buNone/>
            </a:pPr>
            <a:r>
              <a:rPr lang="en-US" altLang="zh-CN" sz="3000" dirty="0"/>
              <a:t>      12n + 2</a:t>
            </a:r>
            <a:r>
              <a:rPr lang="en-MY" altLang="zh-CN" sz="3000" dirty="0"/>
              <a:t>n +2  = 86</a:t>
            </a:r>
          </a:p>
          <a:p>
            <a:pPr marL="0" indent="0">
              <a:buNone/>
            </a:pPr>
            <a:r>
              <a:rPr lang="en-MY" altLang="zh-CN" sz="3000" dirty="0"/>
              <a:t>		 n    = 6</a:t>
            </a:r>
          </a:p>
          <a:p>
            <a:pPr marL="0" indent="0">
              <a:buNone/>
            </a:pPr>
            <a:r>
              <a:rPr lang="zh-CN" altLang="en-US" sz="3000" dirty="0"/>
              <a:t>己烷、</a:t>
            </a:r>
            <a:r>
              <a:rPr lang="en-US" altLang="zh-CN" sz="3000" dirty="0"/>
              <a:t>2-</a:t>
            </a:r>
            <a:r>
              <a:rPr lang="zh-CN" altLang="en-US" sz="3000" dirty="0"/>
              <a:t>甲基戊烷、</a:t>
            </a:r>
            <a:r>
              <a:rPr lang="en-US" altLang="zh-CN" sz="3000" dirty="0"/>
              <a:t>3-</a:t>
            </a:r>
            <a:r>
              <a:rPr lang="zh-CN" altLang="en-US" sz="3000" dirty="0"/>
              <a:t>甲基戊烷、</a:t>
            </a:r>
            <a:endParaRPr lang="en-MY" altLang="zh-CN" sz="3000" dirty="0"/>
          </a:p>
          <a:p>
            <a:pPr marL="0" indent="0">
              <a:buNone/>
            </a:pPr>
            <a:r>
              <a:rPr lang="en-US" altLang="zh-CN" sz="3000" dirty="0"/>
              <a:t>2</a:t>
            </a:r>
            <a:r>
              <a:rPr lang="en-MY" altLang="zh-CN" sz="3000" dirty="0"/>
              <a:t>,2-</a:t>
            </a:r>
            <a:r>
              <a:rPr lang="zh-CN" altLang="en-US" sz="3000" dirty="0"/>
              <a:t>二甲基丁烷、</a:t>
            </a:r>
            <a:r>
              <a:rPr lang="en-US" altLang="zh-CN" sz="3000" dirty="0"/>
              <a:t> 2</a:t>
            </a:r>
            <a:r>
              <a:rPr lang="en-MY" altLang="zh-CN" sz="3000" dirty="0"/>
              <a:t>,</a:t>
            </a:r>
            <a:r>
              <a:rPr lang="en-US" altLang="zh-CN" sz="3000" dirty="0"/>
              <a:t>3</a:t>
            </a:r>
            <a:r>
              <a:rPr lang="en-MY" altLang="zh-CN" sz="3000" dirty="0"/>
              <a:t>-</a:t>
            </a:r>
            <a:r>
              <a:rPr lang="zh-CN" altLang="en-US" sz="3000" dirty="0"/>
              <a:t>二甲基丁烷</a:t>
            </a:r>
            <a:endParaRPr lang="en-MY" altLang="zh-CN" sz="3000" dirty="0"/>
          </a:p>
          <a:p>
            <a:pPr marL="0" indent="0">
              <a:buNone/>
            </a:pPr>
            <a:r>
              <a:rPr lang="en-US" altLang="zh-CN" sz="3000" dirty="0"/>
              <a:t>4. 	</a:t>
            </a:r>
            <a:r>
              <a:rPr lang="en-MY" altLang="zh-CN" sz="3000" dirty="0"/>
              <a:t>(1) </a:t>
            </a:r>
            <a:r>
              <a:rPr lang="en-US" altLang="zh-CN" sz="3000" dirty="0"/>
              <a:t>3-</a:t>
            </a:r>
            <a:r>
              <a:rPr lang="zh-CN" altLang="en-US" sz="3000" dirty="0"/>
              <a:t>甲基戊烷</a:t>
            </a:r>
            <a:endParaRPr lang="en-MY" altLang="zh-CN" sz="3000" dirty="0"/>
          </a:p>
          <a:p>
            <a:pPr marL="0" indent="0">
              <a:buNone/>
            </a:pPr>
            <a:r>
              <a:rPr lang="en-MY" altLang="zh-CN" sz="3000" dirty="0"/>
              <a:t>	(2) </a:t>
            </a:r>
            <a:r>
              <a:rPr lang="en-US" altLang="zh-CN" sz="3000" dirty="0"/>
              <a:t>2-</a:t>
            </a:r>
            <a:r>
              <a:rPr lang="zh-CN" altLang="en-US" sz="3000" dirty="0"/>
              <a:t>甲基</a:t>
            </a:r>
            <a:r>
              <a:rPr lang="en-MY" altLang="zh-CN" sz="3000" dirty="0"/>
              <a:t>-</a:t>
            </a:r>
            <a:r>
              <a:rPr lang="en-US" altLang="zh-CN" sz="3000" dirty="0"/>
              <a:t>3</a:t>
            </a:r>
            <a:r>
              <a:rPr lang="en-MY" altLang="zh-CN" sz="3000" dirty="0"/>
              <a:t>-</a:t>
            </a:r>
            <a:r>
              <a:rPr lang="zh-CN" altLang="en-US" sz="3000" dirty="0"/>
              <a:t>乙基戊烷</a:t>
            </a:r>
            <a:endParaRPr lang="en-MY" altLang="zh-CN" sz="3000" dirty="0"/>
          </a:p>
          <a:p>
            <a:pPr marL="0" indent="0">
              <a:buNone/>
            </a:pPr>
            <a:r>
              <a:rPr lang="en-MY" altLang="zh-CN" sz="3000" dirty="0"/>
              <a:t>	(3) 3,</a:t>
            </a:r>
            <a:r>
              <a:rPr lang="en-US" altLang="zh-CN" sz="3000" dirty="0"/>
              <a:t>3-</a:t>
            </a:r>
            <a:r>
              <a:rPr lang="zh-CN" altLang="en-US" sz="3000" dirty="0"/>
              <a:t>二甲基戊烷</a:t>
            </a:r>
            <a:endParaRPr lang="en-MY" altLang="zh-CN" sz="3000" dirty="0"/>
          </a:p>
          <a:p>
            <a:pPr marL="0" indent="0">
              <a:buNone/>
            </a:pPr>
            <a:r>
              <a:rPr lang="en-MY" altLang="zh-CN" sz="3000" dirty="0"/>
              <a:t>	(4) </a:t>
            </a:r>
            <a:r>
              <a:rPr lang="en-US" altLang="zh-CN" sz="3000" dirty="0"/>
              <a:t>3,3,4-</a:t>
            </a:r>
            <a:r>
              <a:rPr lang="zh-CN" altLang="en-US" sz="3000" dirty="0"/>
              <a:t>三甲基己烷</a:t>
            </a:r>
            <a:endParaRPr lang="en-MY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dirty="0"/>
              <a:t>作答题</a:t>
            </a:r>
            <a:endParaRPr lang="en-US" sz="4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914400"/>
                <a:ext cx="8686800" cy="5867400"/>
              </a:xfrm>
            </p:spPr>
            <p:txBody>
              <a:bodyPr>
                <a:noAutofit/>
              </a:bodyPr>
              <a:lstStyle/>
              <a:p>
                <a:pPr marL="0" indent="0">
                  <a:spcBef>
                    <a:spcPts val="0"/>
                  </a:spcBef>
                  <a:buNone/>
                </a:pPr>
                <a:r>
                  <a:rPr lang="en-MY" altLang="zh-CN" sz="3000" dirty="0"/>
                  <a:t>5. </a:t>
                </a:r>
                <a:r>
                  <a:rPr lang="zh-CN" altLang="en-US" sz="3000" dirty="0"/>
                  <a:t>浓硫酸增加的质量</a:t>
                </a:r>
                <a:r>
                  <a:rPr lang="en-US" altLang="zh-CN" sz="3000" dirty="0"/>
                  <a:t>=</a:t>
                </a:r>
                <a:r>
                  <a:rPr lang="zh-CN" altLang="en-US" sz="3000" dirty="0"/>
                  <a:t>反应后生成的水的质量</a:t>
                </a:r>
                <a:endParaRPr lang="en-MY" altLang="zh-CN" sz="3000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MY" altLang="zh-CN" sz="3000" dirty="0"/>
                  <a:t>     </a:t>
                </a:r>
                <a:r>
                  <a:rPr lang="zh-CN" altLang="en-US" sz="3000" dirty="0"/>
                  <a:t>碱石灰增加的质量</a:t>
                </a:r>
                <a:r>
                  <a:rPr lang="en-US" altLang="zh-CN" sz="3000" dirty="0"/>
                  <a:t>=</a:t>
                </a:r>
                <a:r>
                  <a:rPr lang="zh-CN" altLang="en-US" sz="3000" dirty="0"/>
                  <a:t>反应后生成的</a:t>
                </a:r>
                <a:r>
                  <a:rPr lang="en-US" altLang="zh-CN" sz="3000" dirty="0"/>
                  <a:t>CO</a:t>
                </a:r>
                <a:r>
                  <a:rPr lang="en-US" altLang="zh-CN" sz="3000" baseline="-25000" dirty="0"/>
                  <a:t>2</a:t>
                </a:r>
                <a:r>
                  <a:rPr lang="zh-CN" altLang="en-US" sz="3000" dirty="0"/>
                  <a:t>的质量</a:t>
                </a:r>
                <a:endParaRPr lang="en-MY" altLang="zh-CN" sz="3000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MY" altLang="zh-CN" sz="3000" dirty="0"/>
                  <a:t>	</a:t>
                </a:r>
                <a:r>
                  <a:rPr lang="en-US" altLang="zh-CN" sz="3000" dirty="0" err="1"/>
                  <a:t>m</a:t>
                </a:r>
                <a:r>
                  <a:rPr lang="en-US" altLang="zh-CN" sz="3000" baseline="-25000" dirty="0" err="1"/>
                  <a:t>C</a:t>
                </a:r>
                <a:r>
                  <a:rPr lang="en-US" altLang="zh-CN" sz="3000" dirty="0"/>
                  <a:t> = 12/44 x 2.64g = 0.72g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3000" dirty="0"/>
                  <a:t>	</a:t>
                </a:r>
                <a:r>
                  <a:rPr lang="en-US" altLang="zh-CN" sz="3000" dirty="0" err="1"/>
                  <a:t>m</a:t>
                </a:r>
                <a:r>
                  <a:rPr lang="en-US" altLang="zh-CN" sz="3000" baseline="-25000" dirty="0" err="1"/>
                  <a:t>H</a:t>
                </a:r>
                <a:r>
                  <a:rPr lang="en-US" altLang="zh-CN" sz="3000" dirty="0"/>
                  <a:t> = 2/18 x 1.08g =0.12g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3000" dirty="0"/>
                  <a:t>	</a:t>
                </a:r>
                <a:r>
                  <a:rPr lang="en-US" altLang="zh-CN" sz="3000" dirty="0" err="1"/>
                  <a:t>m</a:t>
                </a:r>
                <a:r>
                  <a:rPr lang="en-US" altLang="zh-CN" sz="3000" baseline="-25000" dirty="0" err="1"/>
                  <a:t>O</a:t>
                </a:r>
                <a:r>
                  <a:rPr lang="en-US" altLang="zh-CN" sz="3000" dirty="0"/>
                  <a:t> = 1.8g – 0.72g -0.12g = 0.96g</a:t>
                </a:r>
                <a:endParaRPr lang="en-MY" altLang="zh-CN" sz="3000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3000" dirty="0"/>
                  <a:t>N(C) : N(H) : N(O)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30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0.72</m:t>
                        </m:r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US" altLang="zh-CN" sz="3000" dirty="0"/>
                  <a:t>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0.12</m:t>
                        </m:r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US" altLang="zh-CN" sz="3000" dirty="0"/>
                  <a:t> 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altLang="zh-CN" sz="3000" b="0" i="1" dirty="0" smtClean="0">
                            <a:latin typeface="Cambria Math" panose="02040503050406030204" pitchFamily="18" charset="0"/>
                          </a:rPr>
                          <m:t>0.96</m:t>
                        </m:r>
                        <m:r>
                          <a:rPr lang="en-MY" altLang="zh-CN" sz="3000" b="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MY" altLang="zh-CN" sz="3000" b="0" i="1" dirty="0" smtClean="0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endParaRPr lang="en-US" altLang="zh-CN" sz="3000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3000" dirty="0"/>
                  <a:t>= 0.06 : 0.12 : 0.06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3000" dirty="0"/>
                  <a:t>= 1:2:1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MY" altLang="zh-CN" sz="3000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zh-CN" altLang="en-US" sz="3000" b="1" dirty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实验式：</a:t>
                </a:r>
                <a:r>
                  <a:rPr lang="en-US" altLang="zh-CN" sz="3000" b="1" dirty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CH</a:t>
                </a:r>
                <a:r>
                  <a:rPr lang="en-US" altLang="zh-CN" sz="3000" b="1" baseline="-25000" dirty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r>
                  <a:rPr lang="en-US" altLang="zh-CN" sz="3000" b="1" dirty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O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914400"/>
                <a:ext cx="8686800" cy="5867400"/>
              </a:xfrm>
              <a:blipFill>
                <a:blip r:embed="rId3"/>
                <a:stretch>
                  <a:fillRect l="-1684" t="-176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C9519B6-FCDB-4FCF-854C-FF2E1D338A73}"/>
              </a:ext>
            </a:extLst>
          </p:cNvPr>
          <p:cNvSpPr txBox="1"/>
          <p:nvPr/>
        </p:nvSpPr>
        <p:spPr>
          <a:xfrm>
            <a:off x="4658751" y="3428999"/>
            <a:ext cx="3200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000" dirty="0"/>
              <a:t>Mr(C</a:t>
            </a:r>
            <a:r>
              <a:rPr lang="en-MY" sz="3000" baseline="-25000" dirty="0"/>
              <a:t>n</a:t>
            </a:r>
            <a:r>
              <a:rPr lang="en-MY" sz="3000" dirty="0"/>
              <a:t>H</a:t>
            </a:r>
            <a:r>
              <a:rPr lang="en-MY" sz="3000" baseline="-25000" dirty="0"/>
              <a:t>2n</a:t>
            </a:r>
            <a:r>
              <a:rPr lang="en-MY" sz="3000" dirty="0"/>
              <a:t>O</a:t>
            </a:r>
            <a:r>
              <a:rPr lang="en-MY" sz="3000" baseline="-25000" dirty="0"/>
              <a:t>n</a:t>
            </a:r>
            <a:r>
              <a:rPr lang="en-MY" sz="3000" dirty="0"/>
              <a:t>)=90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1A3837-E6B0-4408-A83A-766A8CD2AC8B}"/>
              </a:ext>
            </a:extLst>
          </p:cNvPr>
          <p:cNvSpPr txBox="1"/>
          <p:nvPr/>
        </p:nvSpPr>
        <p:spPr>
          <a:xfrm>
            <a:off x="4267200" y="4000581"/>
            <a:ext cx="38967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000" dirty="0"/>
              <a:t>12n + 2n +16n =90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0F7E26-AEC8-4743-8DBD-94849387025A}"/>
              </a:ext>
            </a:extLst>
          </p:cNvPr>
          <p:cNvSpPr txBox="1"/>
          <p:nvPr/>
        </p:nvSpPr>
        <p:spPr>
          <a:xfrm>
            <a:off x="5877952" y="4542609"/>
            <a:ext cx="17525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000" dirty="0"/>
              <a:t>30n =90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44B417-E9AD-4A74-BB32-13E634E11747}"/>
              </a:ext>
            </a:extLst>
          </p:cNvPr>
          <p:cNvSpPr txBox="1"/>
          <p:nvPr/>
        </p:nvSpPr>
        <p:spPr>
          <a:xfrm>
            <a:off x="6248401" y="5084637"/>
            <a:ext cx="17525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000" dirty="0"/>
              <a:t>n =3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F8826B-16FB-47C8-92B1-E1DADFD91EA2}"/>
              </a:ext>
            </a:extLst>
          </p:cNvPr>
          <p:cNvSpPr txBox="1"/>
          <p:nvPr/>
        </p:nvSpPr>
        <p:spPr>
          <a:xfrm>
            <a:off x="4245511" y="5666601"/>
            <a:ext cx="338503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分子式：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altLang="zh-CN" sz="30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sz="30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en-US" altLang="zh-CN" sz="30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en-MY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009652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6" grpId="0"/>
      <p:bldP spid="7" grpId="0"/>
      <p:bldP spid="8" grpId="0"/>
      <p:bldP spid="9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dirty="0"/>
              <a:t>作答题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3000" dirty="0"/>
              <a:t>6. </a:t>
            </a:r>
          </a:p>
          <a:p>
            <a:pPr marL="0" indent="0">
              <a:buNone/>
            </a:pPr>
            <a:endParaRPr lang="en-US" altLang="zh-CN" sz="3000" dirty="0"/>
          </a:p>
          <a:p>
            <a:pPr marL="0" indent="0">
              <a:buNone/>
            </a:pPr>
            <a:endParaRPr lang="en-US" altLang="zh-CN" sz="3000" dirty="0"/>
          </a:p>
          <a:p>
            <a:pPr marL="0" indent="0">
              <a:buNone/>
            </a:pPr>
            <a:endParaRPr lang="en-US" altLang="zh-CN" sz="3000" dirty="0"/>
          </a:p>
          <a:p>
            <a:pPr marL="0" indent="0">
              <a:buNone/>
            </a:pPr>
            <a:r>
              <a:rPr lang="zh-CN" altLang="en-US" sz="3000" dirty="0"/>
              <a:t>分子式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10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16</a:t>
            </a:r>
            <a:r>
              <a:rPr lang="en-US" altLang="zh-CN" sz="3000" dirty="0"/>
              <a:t> </a:t>
            </a:r>
          </a:p>
          <a:p>
            <a:pPr marL="0" indent="0">
              <a:buNone/>
            </a:pPr>
            <a:r>
              <a:rPr lang="en-US" altLang="zh-CN" sz="3000" dirty="0"/>
              <a:t>3</a:t>
            </a:r>
            <a:r>
              <a:rPr lang="zh-CN" altLang="en-US" sz="3000" dirty="0"/>
              <a:t>个六元环，有</a:t>
            </a:r>
            <a:r>
              <a:rPr lang="en-US" altLang="zh-CN" sz="3000" dirty="0"/>
              <a:t>1</a:t>
            </a:r>
            <a:r>
              <a:rPr lang="zh-CN" altLang="en-US" sz="3000" dirty="0"/>
              <a:t>个</a:t>
            </a:r>
            <a:r>
              <a:rPr lang="en-US" altLang="zh-CN" sz="3000" dirty="0"/>
              <a:t>C</a:t>
            </a:r>
            <a:r>
              <a:rPr lang="zh-CN" altLang="en-US" sz="3000" dirty="0"/>
              <a:t>原子为三个环共有</a:t>
            </a:r>
            <a:endParaRPr lang="en-MY" altLang="zh-CN" sz="3000" dirty="0"/>
          </a:p>
          <a:p>
            <a:pPr marL="0" indent="0">
              <a:buNone/>
            </a:pPr>
            <a:r>
              <a:rPr lang="zh-CN" altLang="en-US" sz="3000" dirty="0"/>
              <a:t>金刚烷一氯代物有</a:t>
            </a:r>
            <a:r>
              <a:rPr lang="en-US" altLang="zh-CN" sz="3000" dirty="0"/>
              <a:t>2</a:t>
            </a:r>
            <a:r>
              <a:rPr lang="zh-CN" altLang="en-US" sz="3000" dirty="0"/>
              <a:t>种</a:t>
            </a:r>
            <a:endParaRPr lang="en-MY" altLang="zh-CN" sz="3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2F589B-5E37-44B3-B9F9-DC7EF220418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9" t="18282" r="24902" b="18282"/>
          <a:stretch/>
        </p:blipFill>
        <p:spPr>
          <a:xfrm>
            <a:off x="2578199" y="640200"/>
            <a:ext cx="2070001" cy="2484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D04351-37C4-4720-8A45-13379CD9F80D}"/>
              </a:ext>
            </a:extLst>
          </p:cNvPr>
          <p:cNvSpPr txBox="1"/>
          <p:nvPr/>
        </p:nvSpPr>
        <p:spPr>
          <a:xfrm>
            <a:off x="3657600" y="6858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FC6FCF-FB9C-42C4-9086-6CAA593793F1}"/>
              </a:ext>
            </a:extLst>
          </p:cNvPr>
          <p:cNvSpPr txBox="1"/>
          <p:nvPr/>
        </p:nvSpPr>
        <p:spPr>
          <a:xfrm>
            <a:off x="4384242" y="1138535"/>
            <a:ext cx="5757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2,3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230FCF-DAF8-45AD-BDAA-27017FD4747D}"/>
              </a:ext>
            </a:extLst>
          </p:cNvPr>
          <p:cNvSpPr txBox="1"/>
          <p:nvPr/>
        </p:nvSpPr>
        <p:spPr>
          <a:xfrm>
            <a:off x="4343400" y="182433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F03EEB-2ABA-4391-B358-4E1A044BEC6E}"/>
              </a:ext>
            </a:extLst>
          </p:cNvPr>
          <p:cNvSpPr txBox="1"/>
          <p:nvPr/>
        </p:nvSpPr>
        <p:spPr>
          <a:xfrm>
            <a:off x="3886200" y="2662535"/>
            <a:ext cx="5757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5,6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AB69CA-0433-428B-81EA-6E45B44317C6}"/>
              </a:ext>
            </a:extLst>
          </p:cNvPr>
          <p:cNvSpPr txBox="1"/>
          <p:nvPr/>
        </p:nvSpPr>
        <p:spPr>
          <a:xfrm>
            <a:off x="3124200" y="24384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53C8D1-A684-4162-AA93-A88C48AE1B36}"/>
              </a:ext>
            </a:extLst>
          </p:cNvPr>
          <p:cNvSpPr txBox="1"/>
          <p:nvPr/>
        </p:nvSpPr>
        <p:spPr>
          <a:xfrm>
            <a:off x="2514600" y="2438400"/>
            <a:ext cx="5757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8,9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F0C438-4384-45B3-B05F-12905D05B8A8}"/>
              </a:ext>
            </a:extLst>
          </p:cNvPr>
          <p:cNvSpPr txBox="1"/>
          <p:nvPr/>
        </p:nvSpPr>
        <p:spPr>
          <a:xfrm>
            <a:off x="2667000" y="1752600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2BF887-B039-4CF0-AC0F-6D0CAB884463}"/>
              </a:ext>
            </a:extLst>
          </p:cNvPr>
          <p:cNvSpPr txBox="1"/>
          <p:nvPr/>
        </p:nvSpPr>
        <p:spPr>
          <a:xfrm>
            <a:off x="2286000" y="1143000"/>
            <a:ext cx="886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11,12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DEAEDD-8859-4290-ABC7-F667C889B32D}"/>
              </a:ext>
            </a:extLst>
          </p:cNvPr>
          <p:cNvSpPr txBox="1"/>
          <p:nvPr/>
        </p:nvSpPr>
        <p:spPr>
          <a:xfrm>
            <a:off x="2514600" y="1447800"/>
            <a:ext cx="886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13,14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B49448-33EC-4FD8-A64E-64DD08DF1398}"/>
              </a:ext>
            </a:extLst>
          </p:cNvPr>
          <p:cNvSpPr txBox="1"/>
          <p:nvPr/>
        </p:nvSpPr>
        <p:spPr>
          <a:xfrm>
            <a:off x="3276600" y="1828800"/>
            <a:ext cx="886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15,16</a:t>
            </a:r>
          </a:p>
        </p:txBody>
      </p:sp>
    </p:spTree>
    <p:extLst>
      <p:ext uri="{BB962C8B-B14F-4D97-AF65-F5344CB8AC3E}">
        <p14:creationId xmlns:p14="http://schemas.microsoft.com/office/powerpoint/2010/main" val="22318440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4"/>
            <a:ext cx="9144000" cy="68228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dirty="0"/>
              <a:t>补充资料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2800" dirty="0"/>
              <a:t> </a:t>
            </a:r>
          </a:p>
        </p:txBody>
      </p:sp>
      <p:pic>
        <p:nvPicPr>
          <p:cNvPr id="8" name="Picture 7" descr="tongto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383" y="1219200"/>
            <a:ext cx="7974617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6143035</TotalTime>
  <Words>5803</Words>
  <Application>Microsoft Office PowerPoint</Application>
  <PresentationFormat>On-screen Show (4:3)</PresentationFormat>
  <Paragraphs>598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1" baseType="lpstr">
      <vt:lpstr>宋体</vt:lpstr>
      <vt:lpstr>Arial</vt:lpstr>
      <vt:lpstr>Calibri</vt:lpstr>
      <vt:lpstr>Cambria Math</vt:lpstr>
      <vt:lpstr>Wingdings</vt:lpstr>
      <vt:lpstr>Office Theme</vt:lpstr>
      <vt:lpstr>第27章  烷烃</vt:lpstr>
      <vt:lpstr>第27章 烃 </vt:lpstr>
      <vt:lpstr>27.1 原油与烃 </vt:lpstr>
      <vt:lpstr>27.1.2 石油的裂化和裂解</vt:lpstr>
      <vt:lpstr>27.1.2 石油的裂化和裂解</vt:lpstr>
      <vt:lpstr>27.1.3 石油的重整</vt:lpstr>
      <vt:lpstr>思考题 27a</vt:lpstr>
      <vt:lpstr>27.2 烷烃的通式和结构</vt:lpstr>
      <vt:lpstr>27.2 烷烃的通式和结构</vt:lpstr>
      <vt:lpstr>27.2 烷烃的通式和结构</vt:lpstr>
      <vt:lpstr>27.2 烷烃的通式和结构</vt:lpstr>
      <vt:lpstr>27.2 烷烃的通式和结构</vt:lpstr>
      <vt:lpstr>思考题 27b</vt:lpstr>
      <vt:lpstr>旧课本思考题25.1</vt:lpstr>
      <vt:lpstr>统考题</vt:lpstr>
      <vt:lpstr>27.3 烷烃的同系物</vt:lpstr>
      <vt:lpstr>27.3 烷烃的同系物</vt:lpstr>
      <vt:lpstr>27.3 烷烃的同系物</vt:lpstr>
      <vt:lpstr>27.3 烷烃的同系物</vt:lpstr>
      <vt:lpstr>27.3 烷烃的同系物</vt:lpstr>
      <vt:lpstr>27.3 烷烃的同系物</vt:lpstr>
      <vt:lpstr>思考题 27c</vt:lpstr>
      <vt:lpstr>27.4 烷烃的同分异构体</vt:lpstr>
      <vt:lpstr>27.4 烷烃的同分异构体</vt:lpstr>
      <vt:lpstr>27.4 烷烃的同分异构体</vt:lpstr>
      <vt:lpstr>27.4 烷烃的同分异构体</vt:lpstr>
      <vt:lpstr>思考题 27d</vt:lpstr>
      <vt:lpstr>27.4 烷烃的同分异构体</vt:lpstr>
      <vt:lpstr>27.5 烷烃的命名法</vt:lpstr>
      <vt:lpstr>27.5 烷烃的命名法</vt:lpstr>
      <vt:lpstr>27.5 烷烃的命名法</vt:lpstr>
      <vt:lpstr>27.5 烷烃的命名法</vt:lpstr>
      <vt:lpstr>27.5 烷烃的命名法</vt:lpstr>
      <vt:lpstr>27.5 烷烃的命名法</vt:lpstr>
      <vt:lpstr>27.5 烷烃的命名法</vt:lpstr>
      <vt:lpstr>27.5 烷烃的命名法</vt:lpstr>
      <vt:lpstr>27.5 烷烃的命名法</vt:lpstr>
      <vt:lpstr>27.5 烷烃的命名法</vt:lpstr>
      <vt:lpstr>27.5 烷烃的命名法（补充题）</vt:lpstr>
      <vt:lpstr>思考题 27e</vt:lpstr>
      <vt:lpstr>27.6 烷烃的物理性质</vt:lpstr>
      <vt:lpstr>思考题 27f</vt:lpstr>
      <vt:lpstr>27.7 烷烃的化学性质</vt:lpstr>
      <vt:lpstr>27.7.2 取代反应</vt:lpstr>
      <vt:lpstr>27.7.2 取代反应</vt:lpstr>
      <vt:lpstr>27.7.2 取代反应</vt:lpstr>
      <vt:lpstr>27.7.2 取代反应</vt:lpstr>
      <vt:lpstr>27.7.3 受热分解</vt:lpstr>
      <vt:lpstr>统考题</vt:lpstr>
      <vt:lpstr>思考题 27g</vt:lpstr>
      <vt:lpstr>思考题 27g</vt:lpstr>
      <vt:lpstr>27.8 环烷烃</vt:lpstr>
      <vt:lpstr>27.8 环烷烃</vt:lpstr>
      <vt:lpstr>思考题 27h</vt:lpstr>
      <vt:lpstr>历届考题</vt:lpstr>
      <vt:lpstr>历届考题</vt:lpstr>
      <vt:lpstr>历届考题</vt:lpstr>
      <vt:lpstr>历届考题</vt:lpstr>
      <vt:lpstr>选择题</vt:lpstr>
      <vt:lpstr>选择题</vt:lpstr>
      <vt:lpstr>选择题</vt:lpstr>
      <vt:lpstr>作答题1(1),2,3(3),4(2)(4),5</vt:lpstr>
      <vt:lpstr>作答题</vt:lpstr>
      <vt:lpstr>作答题</vt:lpstr>
      <vt:lpstr>补充资料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496</cp:revision>
  <dcterms:created xsi:type="dcterms:W3CDTF">2018-09-03T09:52:37Z</dcterms:created>
  <dcterms:modified xsi:type="dcterms:W3CDTF">2020-04-30T18:14:04Z</dcterms:modified>
</cp:coreProperties>
</file>