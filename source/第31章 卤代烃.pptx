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63" r:id="rId3"/>
    <p:sldId id="262" r:id="rId4"/>
    <p:sldId id="332" r:id="rId5"/>
    <p:sldId id="333" r:id="rId6"/>
    <p:sldId id="335" r:id="rId7"/>
    <p:sldId id="334" r:id="rId8"/>
    <p:sldId id="336" r:id="rId9"/>
    <p:sldId id="337" r:id="rId10"/>
    <p:sldId id="338" r:id="rId11"/>
    <p:sldId id="264" r:id="rId12"/>
    <p:sldId id="340" r:id="rId13"/>
    <p:sldId id="339" r:id="rId14"/>
    <p:sldId id="265" r:id="rId15"/>
    <p:sldId id="269" r:id="rId16"/>
    <p:sldId id="341" r:id="rId17"/>
    <p:sldId id="266" r:id="rId18"/>
    <p:sldId id="267" r:id="rId19"/>
    <p:sldId id="268" r:id="rId20"/>
    <p:sldId id="330" r:id="rId21"/>
    <p:sldId id="270" r:id="rId22"/>
    <p:sldId id="271" r:id="rId23"/>
    <p:sldId id="342" r:id="rId24"/>
    <p:sldId id="343" r:id="rId25"/>
    <p:sldId id="331" r:id="rId26"/>
    <p:sldId id="346" r:id="rId27"/>
    <p:sldId id="345" r:id="rId28"/>
    <p:sldId id="347" r:id="rId29"/>
    <p:sldId id="348" r:id="rId30"/>
    <p:sldId id="316" r:id="rId31"/>
    <p:sldId id="349" r:id="rId32"/>
    <p:sldId id="353" r:id="rId33"/>
    <p:sldId id="350" r:id="rId34"/>
    <p:sldId id="354" r:id="rId35"/>
    <p:sldId id="355" r:id="rId36"/>
    <p:sldId id="356" r:id="rId37"/>
    <p:sldId id="357" r:id="rId38"/>
    <p:sldId id="358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2D1ABC"/>
    <a:srgbClr val="CCFF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9" autoAdjust="0"/>
    <p:restoredTop sz="94660"/>
  </p:normalViewPr>
  <p:slideViewPr>
    <p:cSldViewPr>
      <p:cViewPr varScale="1">
        <p:scale>
          <a:sx n="68" d="100"/>
          <a:sy n="68" d="100"/>
        </p:scale>
        <p:origin x="5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D6688-5DD1-44BC-B31A-EC1609157C8F}" type="datetimeFigureOut">
              <a:rPr lang="en-US" smtClean="0"/>
              <a:pPr/>
              <a:t>3/29/2020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260CB-55F0-4242-8A56-5BB902E408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第</a:t>
            </a:r>
            <a:r>
              <a:rPr lang="en-US" altLang="zh-CN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31</a:t>
            </a:r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章 </a:t>
            </a:r>
            <a:br>
              <a:rPr lang="en-US" altLang="zh-CN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</a:br>
            <a:r>
              <a:rPr lang="zh-CN" alt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+mn-ea"/>
              </a:rPr>
              <a:t>卤代烃</a:t>
            </a:r>
            <a:endParaRPr lang="en-US" sz="8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氯仿</a:t>
            </a:r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:</a:t>
            </a:r>
            <a:r>
              <a:rPr lang="zh-CN" altLang="en-US" sz="3000" dirty="0"/>
              <a:t>有机溶剂、曾用作麻醉剂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四氯化碳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：工业溶剂、灭火剂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二氯二氟甲烷</a:t>
            </a:r>
            <a:r>
              <a:rPr lang="en-US" altLang="zh-CN" sz="3000" dirty="0"/>
              <a:t>CF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</a:t>
            </a:r>
            <a:r>
              <a:rPr lang="zh-CN" altLang="en-US" sz="3000" dirty="0"/>
              <a:t>：“氟利昂”，制冷剂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聚氯乙烯：</a:t>
            </a:r>
            <a:r>
              <a:rPr lang="en-US" altLang="zh-CN" sz="3000" dirty="0"/>
              <a:t>PVC</a:t>
            </a:r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聚四氟乙烯 </a:t>
            </a:r>
            <a:r>
              <a:rPr lang="en-US" altLang="zh-CN" sz="3000" dirty="0"/>
              <a:t>-[- CF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– CF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-]-</a:t>
            </a:r>
            <a:r>
              <a:rPr lang="en-US" altLang="zh-CN" sz="3000" baseline="-25000" dirty="0"/>
              <a:t>n</a:t>
            </a:r>
            <a:r>
              <a:rPr lang="en-US" altLang="zh-CN" sz="3000" dirty="0"/>
              <a:t> </a:t>
            </a:r>
            <a:r>
              <a:rPr lang="zh-CN" altLang="en-US" sz="3000" dirty="0"/>
              <a:t>：铁氟龙，塑料王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卤代烃：烃分子中的一个或多个氢原子被卤素原子取代后所生成的化合物。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官能团：卤原子</a:t>
            </a:r>
            <a:endParaRPr lang="en-US" altLang="zh-CN" sz="3000" dirty="0"/>
          </a:p>
          <a:p>
            <a:pPr lvl="1">
              <a:lnSpc>
                <a:spcPct val="150000"/>
              </a:lnSpc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分类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按卤原子种类：氟代烃、氯代烃、溴代烃、碘代烃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按卤原子数目：一卤代烃、二卤代烃、多卤代烃等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按烃基种类：卤代脂肪烃（饱和卤代烃 </a:t>
            </a:r>
            <a:r>
              <a:rPr lang="en-US" altLang="zh-CN" sz="3000" dirty="0"/>
              <a:t>-- </a:t>
            </a:r>
            <a:r>
              <a:rPr lang="zh-CN" altLang="en-US" sz="3000" dirty="0"/>
              <a:t>卤代烷、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 </a:t>
            </a:r>
            <a:r>
              <a:rPr lang="zh-CN" altLang="en-US" sz="3000" dirty="0"/>
              <a:t>不饱和卤代烃</a:t>
            </a:r>
            <a:r>
              <a:rPr lang="en-US" altLang="zh-CN" sz="3000" dirty="0"/>
              <a:t>--</a:t>
            </a:r>
            <a:r>
              <a:rPr lang="zh-CN" altLang="en-US" sz="3000" dirty="0"/>
              <a:t>卤代烯、卤代炔）、卤代芳香烃</a:t>
            </a:r>
            <a:endParaRPr lang="en-MY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按卤原子所连接的</a:t>
            </a:r>
            <a:r>
              <a:rPr lang="en-US" altLang="zh-CN" sz="3000" dirty="0"/>
              <a:t>C</a:t>
            </a:r>
            <a:r>
              <a:rPr lang="zh-CN" altLang="en-US" sz="3000" dirty="0"/>
              <a:t>原子分类：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一级卤代烃、  二级卤代烃、  三级卤代烃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altLang="zh-CN" sz="3000" dirty="0"/>
          </a:p>
          <a:p>
            <a:pPr lvl="1">
              <a:spcBef>
                <a:spcPts val="1200"/>
              </a:spcBef>
              <a:buNone/>
            </a:pPr>
            <a:endParaRPr lang="en-US" altLang="zh-CN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34D04-1FFF-42EA-89BC-CC2A10D49A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" t="46231" r="3333" b="26279"/>
          <a:stretch/>
        </p:blipFill>
        <p:spPr>
          <a:xfrm>
            <a:off x="609600" y="5105400"/>
            <a:ext cx="7772400" cy="174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37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系统命名：</a:t>
            </a:r>
            <a:endParaRPr lang="en-MY" altLang="zh-CN" sz="3000" dirty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dirty="0"/>
              <a:t>与烃为母体，卤原子作取代基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选最长且含卤原子的碳链为主链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给碳原子编号从靠近卤原子一端编起</a:t>
            </a:r>
            <a:endParaRPr lang="en-US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多种取代基，烷基与卤原子共存，以卤原子为优先基团（优先的后列出）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3000" dirty="0"/>
              <a:t>支链编号尽可能小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endParaRPr lang="en-US" altLang="zh-CN" sz="3000" dirty="0"/>
          </a:p>
          <a:p>
            <a:pPr lvl="1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2755909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D68A5BE9-3297-44F4-B4B8-1C96E8964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" t="32688" r="57854" b="46818"/>
          <a:stretch/>
        </p:blipFill>
        <p:spPr>
          <a:xfrm>
            <a:off x="1047565" y="4286146"/>
            <a:ext cx="3124200" cy="1202485"/>
          </a:xfrm>
          <a:prstGeom prst="rect">
            <a:avLst/>
          </a:prstGeom>
        </p:spPr>
      </p:pic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39E44CDB-E348-4C26-AA00-6D5A3A3185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4" t="5758" r="1768" b="79163"/>
          <a:stretch/>
        </p:blipFill>
        <p:spPr>
          <a:xfrm>
            <a:off x="884200" y="1291601"/>
            <a:ext cx="7375600" cy="88476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5348E43-B1AE-4B78-9DD0-07225AA9C917}"/>
              </a:ext>
            </a:extLst>
          </p:cNvPr>
          <p:cNvGrpSpPr/>
          <p:nvPr/>
        </p:nvGrpSpPr>
        <p:grpSpPr>
          <a:xfrm>
            <a:off x="1029422" y="2976062"/>
            <a:ext cx="4500188" cy="1147615"/>
            <a:chOff x="7254305" y="2196883"/>
            <a:chExt cx="4500188" cy="1147615"/>
          </a:xfrm>
        </p:grpSpPr>
        <p:pic>
          <p:nvPicPr>
            <p:cNvPr id="13" name="Content Placeholder 4">
              <a:extLst>
                <a:ext uri="{FF2B5EF4-FFF2-40B4-BE49-F238E27FC236}">
                  <a16:creationId xmlns:a16="http://schemas.microsoft.com/office/drawing/2014/main" id="{E3B592D8-F4D4-4488-970F-864E7BA1B6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751" r="42476" b="31168"/>
            <a:stretch/>
          </p:blipFill>
          <p:spPr>
            <a:xfrm>
              <a:off x="7254305" y="2196883"/>
              <a:ext cx="4500188" cy="884769"/>
            </a:xfrm>
            <a:prstGeom prst="rect">
              <a:avLst/>
            </a:prstGeom>
          </p:spPr>
        </p:pic>
        <p:pic>
          <p:nvPicPr>
            <p:cNvPr id="14" name="Content Placeholder 4">
              <a:extLst>
                <a:ext uri="{FF2B5EF4-FFF2-40B4-BE49-F238E27FC236}">
                  <a16:creationId xmlns:a16="http://schemas.microsoft.com/office/drawing/2014/main" id="{F7FBD66E-32B2-4E39-9089-EB9C953CA2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24" t="46048" r="73662" b="46818"/>
            <a:stretch/>
          </p:blipFill>
          <p:spPr>
            <a:xfrm>
              <a:off x="9284434" y="2925936"/>
              <a:ext cx="838201" cy="418562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5D7E091-0E8B-4B81-ACA1-C7BD7DE7F3A8}"/>
              </a:ext>
            </a:extLst>
          </p:cNvPr>
          <p:cNvSpPr txBox="1"/>
          <p:nvPr/>
        </p:nvSpPr>
        <p:spPr>
          <a:xfrm>
            <a:off x="1066800" y="213360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</a:rPr>
              <a:t>氯丁烷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317FF-1738-4A6B-AE25-7D33C4D7F114}"/>
              </a:ext>
            </a:extLst>
          </p:cNvPr>
          <p:cNvSpPr txBox="1"/>
          <p:nvPr/>
        </p:nvSpPr>
        <p:spPr>
          <a:xfrm>
            <a:off x="4878729" y="2127418"/>
            <a:ext cx="24352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</a:rPr>
              <a:t>氯</a:t>
            </a:r>
            <a:r>
              <a:rPr lang="en-US" altLang="zh-CN" sz="2800" b="1" dirty="0">
                <a:solidFill>
                  <a:srgbClr val="002060"/>
                </a:solidFill>
              </a:rPr>
              <a:t>-4-</a:t>
            </a:r>
            <a:r>
              <a:rPr lang="zh-CN" altLang="en-US" sz="2800" b="1" dirty="0">
                <a:solidFill>
                  <a:srgbClr val="002060"/>
                </a:solidFill>
              </a:rPr>
              <a:t>溴</a:t>
            </a:r>
            <a:r>
              <a:rPr lang="en-US" altLang="zh-CN" sz="2800" b="1" dirty="0">
                <a:solidFill>
                  <a:srgbClr val="002060"/>
                </a:solidFill>
              </a:rPr>
              <a:t>-</a:t>
            </a:r>
            <a:r>
              <a:rPr lang="zh-CN" altLang="en-US" sz="2800" b="1" dirty="0">
                <a:solidFill>
                  <a:srgbClr val="002060"/>
                </a:solidFill>
              </a:rPr>
              <a:t>己烷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242EC-B412-47A4-9EB1-1EB0E75BCBB1}"/>
              </a:ext>
            </a:extLst>
          </p:cNvPr>
          <p:cNvSpPr txBox="1"/>
          <p:nvPr/>
        </p:nvSpPr>
        <p:spPr>
          <a:xfrm>
            <a:off x="4724400" y="3743980"/>
            <a:ext cx="4214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4-</a:t>
            </a:r>
            <a:r>
              <a:rPr lang="zh-CN" altLang="en-US" sz="2800" b="1" dirty="0">
                <a:solidFill>
                  <a:srgbClr val="002060"/>
                </a:solidFill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</a:rPr>
              <a:t>氟</a:t>
            </a:r>
            <a:r>
              <a:rPr lang="en-US" altLang="zh-CN" sz="2800" b="1" dirty="0">
                <a:solidFill>
                  <a:srgbClr val="002060"/>
                </a:solidFill>
              </a:rPr>
              <a:t>-4-</a:t>
            </a:r>
            <a:r>
              <a:rPr lang="zh-CN" altLang="en-US" sz="2800" b="1" dirty="0">
                <a:solidFill>
                  <a:srgbClr val="002060"/>
                </a:solidFill>
              </a:rPr>
              <a:t>氯</a:t>
            </a:r>
            <a:r>
              <a:rPr lang="en-US" altLang="zh-CN" sz="2800" b="1" dirty="0">
                <a:solidFill>
                  <a:srgbClr val="002060"/>
                </a:solidFill>
              </a:rPr>
              <a:t>-3-</a:t>
            </a:r>
            <a:r>
              <a:rPr lang="zh-CN" altLang="en-US" sz="2800" b="1" dirty="0">
                <a:solidFill>
                  <a:srgbClr val="002060"/>
                </a:solidFill>
              </a:rPr>
              <a:t>溴庚烷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979921-A2F2-488A-9F72-2AF7B1CEB010}"/>
              </a:ext>
            </a:extLst>
          </p:cNvPr>
          <p:cNvSpPr txBox="1"/>
          <p:nvPr/>
        </p:nvSpPr>
        <p:spPr>
          <a:xfrm>
            <a:off x="4435498" y="5035118"/>
            <a:ext cx="3321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</a:rPr>
              <a:t>甲基</a:t>
            </a:r>
            <a:r>
              <a:rPr lang="en-US" altLang="zh-CN" sz="2800" b="1" dirty="0">
                <a:solidFill>
                  <a:srgbClr val="002060"/>
                </a:solidFill>
              </a:rPr>
              <a:t>-2,2-</a:t>
            </a:r>
            <a:r>
              <a:rPr lang="zh-CN" altLang="en-US" sz="2800" b="1" dirty="0">
                <a:solidFill>
                  <a:srgbClr val="002060"/>
                </a:solidFill>
              </a:rPr>
              <a:t>二氯戊烷</a:t>
            </a:r>
            <a:endParaRPr lang="en-MY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8246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9916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系统命名：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5. </a:t>
            </a:r>
            <a:r>
              <a:rPr lang="zh-CN" altLang="en-US" sz="3000" dirty="0"/>
              <a:t>卤代烯烃、卤代炔烃命名时以不饱和烃为母体</a:t>
            </a:r>
            <a:endParaRPr lang="en-MY" altLang="zh-CN" sz="3000" dirty="0"/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选最长且含有不饱和键和卤原子的碳为主链</a:t>
            </a:r>
            <a:endParaRPr lang="en-MY" altLang="zh-CN" sz="3000" dirty="0"/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以不饱和键位次小编号</a:t>
            </a:r>
            <a:endParaRPr lang="en-US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6. </a:t>
            </a:r>
            <a:r>
              <a:rPr lang="zh-CN" altLang="en-US" sz="3000" dirty="0"/>
              <a:t>卤代脂环烃、卤代芳香烃以脂环烃和芳香烃为母体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7. </a:t>
            </a:r>
            <a:r>
              <a:rPr lang="zh-CN" altLang="en-US" sz="3000" dirty="0"/>
              <a:t>含苯环和卤原子的脂肪烃，通常以脂肪烃为母体</a:t>
            </a:r>
            <a:endParaRPr lang="en-MY" altLang="zh-CN" sz="3000" dirty="0"/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以苯基位次小编号</a:t>
            </a:r>
            <a:endParaRPr lang="en-MY" altLang="zh-CN" sz="3000" dirty="0"/>
          </a:p>
          <a:p>
            <a:pPr lvl="1"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9907309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BEA684-8824-46CF-AC12-BEE9CD8B8B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2" t="33682" r="30956" b="55880"/>
          <a:stretch/>
        </p:blipFill>
        <p:spPr>
          <a:xfrm>
            <a:off x="685800" y="3505200"/>
            <a:ext cx="6449969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F88025-6878-48CD-ADAB-902629BA75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0" t="11889" r="68906" b="79023"/>
          <a:stretch/>
        </p:blipFill>
        <p:spPr>
          <a:xfrm>
            <a:off x="609600" y="1119861"/>
            <a:ext cx="3124200" cy="7851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F3EEE1-AD7B-4CD3-9D87-54696AFF1A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54" t="12726" r="3451" b="78548"/>
          <a:stretch/>
        </p:blipFill>
        <p:spPr>
          <a:xfrm>
            <a:off x="510422" y="2674033"/>
            <a:ext cx="3505200" cy="6787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0155E1-CCC4-4E8E-BA9C-FE037B8D3D71}"/>
              </a:ext>
            </a:extLst>
          </p:cNvPr>
          <p:cNvSpPr txBox="1"/>
          <p:nvPr/>
        </p:nvSpPr>
        <p:spPr>
          <a:xfrm>
            <a:off x="4724613" y="131471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氯乙烯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990EC-C891-43B4-BE0F-46A3234DC3DD}"/>
              </a:ext>
            </a:extLst>
          </p:cNvPr>
          <p:cNvSpPr txBox="1"/>
          <p:nvPr/>
        </p:nvSpPr>
        <p:spPr>
          <a:xfrm>
            <a:off x="4589201" y="2590800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4-</a:t>
            </a:r>
            <a:r>
              <a:rPr lang="zh-CN" altLang="en-US" sz="2800" b="1" dirty="0">
                <a:solidFill>
                  <a:srgbClr val="002060"/>
                </a:solidFill>
              </a:rPr>
              <a:t>溴</a:t>
            </a:r>
            <a:r>
              <a:rPr lang="en-US" altLang="zh-CN" sz="2800" b="1" dirty="0">
                <a:solidFill>
                  <a:srgbClr val="002060"/>
                </a:solidFill>
              </a:rPr>
              <a:t>-1-</a:t>
            </a:r>
            <a:r>
              <a:rPr lang="zh-CN" altLang="en-US" sz="2800" b="1" dirty="0">
                <a:solidFill>
                  <a:srgbClr val="002060"/>
                </a:solidFill>
              </a:rPr>
              <a:t>丁炔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90A7A-9B14-4148-A0D4-3294C0AD1A42}"/>
              </a:ext>
            </a:extLst>
          </p:cNvPr>
          <p:cNvSpPr txBox="1"/>
          <p:nvPr/>
        </p:nvSpPr>
        <p:spPr>
          <a:xfrm>
            <a:off x="922783" y="45720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氯苯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DB2446-8047-4573-9856-A5783034747A}"/>
              </a:ext>
            </a:extLst>
          </p:cNvPr>
          <p:cNvSpPr txBox="1"/>
          <p:nvPr/>
        </p:nvSpPr>
        <p:spPr>
          <a:xfrm>
            <a:off x="4748059" y="44696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</a:rPr>
              <a:t>苄基溴</a:t>
            </a:r>
            <a:endParaRPr lang="en-MY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717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31.1 </a:t>
            </a:r>
            <a:r>
              <a:rPr lang="zh-CN" altLang="en-US" sz="4000" b="1" dirty="0">
                <a:latin typeface="+mn-ea"/>
              </a:rPr>
              <a:t>卤代烃的类别和命名</a:t>
            </a:r>
            <a:endParaRPr lang="en-US" sz="4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12841E-86FD-4989-908C-8E6DECF9EA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" t="44783" r="11111" b="46626"/>
          <a:stretch/>
        </p:blipFill>
        <p:spPr>
          <a:xfrm>
            <a:off x="310882" y="1254782"/>
            <a:ext cx="8522235" cy="6502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0155E1-CCC4-4E8E-BA9C-FE037B8D3D71}"/>
              </a:ext>
            </a:extLst>
          </p:cNvPr>
          <p:cNvSpPr txBox="1"/>
          <p:nvPr/>
        </p:nvSpPr>
        <p:spPr>
          <a:xfrm>
            <a:off x="1295400" y="5029200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3</a:t>
            </a:r>
            <a:r>
              <a:rPr lang="en-MY" altLang="zh-CN" sz="2800" b="1" dirty="0">
                <a:solidFill>
                  <a:srgbClr val="002060"/>
                </a:solidFill>
              </a:rPr>
              <a:t>,</a:t>
            </a:r>
            <a:r>
              <a:rPr lang="en-US" altLang="zh-CN" sz="2800" b="1" dirty="0">
                <a:solidFill>
                  <a:srgbClr val="002060"/>
                </a:solidFill>
              </a:rPr>
              <a:t>4 -</a:t>
            </a:r>
            <a:r>
              <a:rPr lang="zh-CN" altLang="en-US" sz="2800" b="1" dirty="0">
                <a:solidFill>
                  <a:srgbClr val="002060"/>
                </a:solidFill>
              </a:rPr>
              <a:t>二溴甲苯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979B7-F343-43E3-B9FA-CCDC1CD8CF8E}"/>
              </a:ext>
            </a:extLst>
          </p:cNvPr>
          <p:cNvSpPr txBox="1"/>
          <p:nvPr/>
        </p:nvSpPr>
        <p:spPr>
          <a:xfrm>
            <a:off x="583580" y="2067580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4-</a:t>
            </a:r>
            <a:r>
              <a:rPr lang="zh-CN" altLang="en-US" sz="2800" b="1" dirty="0">
                <a:solidFill>
                  <a:srgbClr val="002060"/>
                </a:solidFill>
              </a:rPr>
              <a:t>溴</a:t>
            </a:r>
            <a:r>
              <a:rPr lang="en-US" altLang="zh-CN" sz="2800" b="1" dirty="0">
                <a:solidFill>
                  <a:srgbClr val="002060"/>
                </a:solidFill>
              </a:rPr>
              <a:t>-1-</a:t>
            </a:r>
            <a:r>
              <a:rPr lang="zh-CN" altLang="en-US" sz="2800" b="1" dirty="0">
                <a:solidFill>
                  <a:srgbClr val="002060"/>
                </a:solidFill>
              </a:rPr>
              <a:t>丁烯</a:t>
            </a:r>
            <a:endParaRPr lang="en-MY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990EC-C891-43B4-BE0F-46A3234DC3DD}"/>
              </a:ext>
            </a:extLst>
          </p:cNvPr>
          <p:cNvSpPr txBox="1"/>
          <p:nvPr/>
        </p:nvSpPr>
        <p:spPr>
          <a:xfrm>
            <a:off x="5715000" y="2067580"/>
            <a:ext cx="268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1-</a:t>
            </a:r>
            <a:r>
              <a:rPr lang="zh-CN" altLang="en-US" sz="2800" b="1" dirty="0">
                <a:solidFill>
                  <a:srgbClr val="002060"/>
                </a:solidFill>
              </a:rPr>
              <a:t>苯基</a:t>
            </a:r>
            <a:r>
              <a:rPr lang="en-US" altLang="zh-CN" sz="2800" b="1" dirty="0">
                <a:solidFill>
                  <a:srgbClr val="002060"/>
                </a:solidFill>
              </a:rPr>
              <a:t>-2-</a:t>
            </a:r>
            <a:r>
              <a:rPr lang="zh-CN" altLang="en-US" sz="2800" b="1" dirty="0">
                <a:solidFill>
                  <a:srgbClr val="002060"/>
                </a:solidFill>
              </a:rPr>
              <a:t>溴乙烷</a:t>
            </a:r>
            <a:endParaRPr lang="en-MY" sz="2800" b="1" dirty="0">
              <a:solidFill>
                <a:srgbClr val="00206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3650025-7C39-488A-A587-075C48729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67037"/>
            <a:ext cx="2714625" cy="1685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954617-4C61-43CE-8ADA-9A0E02C8AFA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13" t="11889" r="44900" b="78758"/>
          <a:stretch/>
        </p:blipFill>
        <p:spPr>
          <a:xfrm>
            <a:off x="5343284" y="3022779"/>
            <a:ext cx="2106417" cy="8080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62F9B7-07C2-4BC9-A46C-F0CBD5F44CBF}"/>
              </a:ext>
            </a:extLst>
          </p:cNvPr>
          <p:cNvSpPr txBox="1"/>
          <p:nvPr/>
        </p:nvSpPr>
        <p:spPr>
          <a:xfrm>
            <a:off x="5528982" y="4198973"/>
            <a:ext cx="1920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2060"/>
                </a:solidFill>
              </a:rPr>
              <a:t>3-</a:t>
            </a:r>
            <a:r>
              <a:rPr lang="zh-CN" altLang="en-US" sz="2800" b="1" dirty="0">
                <a:solidFill>
                  <a:srgbClr val="002060"/>
                </a:solidFill>
              </a:rPr>
              <a:t>氯环己烯</a:t>
            </a:r>
            <a:endParaRPr lang="en-MY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2255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31a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800"/>
              </a:spcBef>
              <a:buAutoNum type="arabicPeriod"/>
            </a:pPr>
            <a:r>
              <a:rPr lang="en-US" altLang="zh-CN" sz="3000" dirty="0"/>
              <a:t>D </a:t>
            </a:r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en-US" altLang="zh-CN" sz="3000" dirty="0"/>
              <a:t> 	C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	D </a:t>
            </a:r>
            <a:r>
              <a:rPr lang="zh-CN" altLang="en-US" sz="3000" dirty="0"/>
              <a:t>有顺反异构体</a:t>
            </a:r>
            <a:endParaRPr lang="en-MY" altLang="zh-CN" sz="3000" dirty="0"/>
          </a:p>
          <a:p>
            <a:pPr marL="514350" indent="-514350">
              <a:spcBef>
                <a:spcPts val="1800"/>
              </a:spcBef>
              <a:buAutoNum type="arabicPeriod" startAt="3"/>
            </a:pPr>
            <a:r>
              <a:rPr lang="en-US" altLang="zh-CN" sz="3000" dirty="0"/>
              <a:t>A </a:t>
            </a:r>
            <a:r>
              <a:rPr lang="zh-CN" altLang="en-US" sz="3000" dirty="0"/>
              <a:t>两种</a:t>
            </a:r>
            <a:r>
              <a:rPr lang="en-MY" altLang="zh-CN" sz="3000" dirty="0"/>
              <a:t>		</a:t>
            </a:r>
            <a:r>
              <a:rPr lang="en-US" altLang="zh-CN" sz="3000" dirty="0"/>
              <a:t>B </a:t>
            </a:r>
            <a:r>
              <a:rPr lang="zh-CN" altLang="en-US" sz="3000" dirty="0"/>
              <a:t>三种</a:t>
            </a:r>
            <a:r>
              <a:rPr lang="en-MY" altLang="zh-CN" sz="3000" dirty="0"/>
              <a:t>	</a:t>
            </a:r>
            <a:r>
              <a:rPr lang="en-US" altLang="zh-CN" sz="3000" dirty="0"/>
              <a:t>C</a:t>
            </a:r>
            <a:r>
              <a:rPr lang="zh-CN" altLang="en-US" sz="3000" dirty="0"/>
              <a:t>三种</a:t>
            </a:r>
            <a:r>
              <a:rPr lang="en-MY" altLang="zh-CN" sz="3000" dirty="0"/>
              <a:t>	</a:t>
            </a:r>
            <a:r>
              <a:rPr lang="en-US" altLang="zh-CN" sz="3000" dirty="0"/>
              <a:t>D </a:t>
            </a:r>
            <a:r>
              <a:rPr lang="zh-CN" altLang="en-US" sz="3000" dirty="0"/>
              <a:t>一种</a:t>
            </a:r>
            <a:endParaRPr lang="en-MY" altLang="zh-CN" sz="3000" dirty="0"/>
          </a:p>
          <a:p>
            <a:pPr marL="514350" indent="-514350">
              <a:spcBef>
                <a:spcPts val="1800"/>
              </a:spcBef>
              <a:buAutoNum type="arabicPeriod" startAt="3"/>
            </a:pPr>
            <a:r>
              <a:rPr lang="en-US" altLang="zh-CN" sz="3000" dirty="0"/>
              <a:t> 	1</a:t>
            </a:r>
            <a:r>
              <a:rPr lang="en-MY" altLang="zh-CN" sz="3000" dirty="0"/>
              <a:t>,4-</a:t>
            </a:r>
            <a:r>
              <a:rPr lang="zh-CN" altLang="en-US" sz="3000" dirty="0"/>
              <a:t>二氯苯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2</a:t>
            </a:r>
            <a:r>
              <a:rPr lang="en-MY" altLang="zh-CN" sz="3000" dirty="0"/>
              <a:t>,2,4</a:t>
            </a:r>
            <a:r>
              <a:rPr lang="en-US" altLang="zh-CN" sz="3000" dirty="0"/>
              <a:t>-</a:t>
            </a:r>
            <a:r>
              <a:rPr lang="zh-CN" altLang="en-US" sz="3000" dirty="0"/>
              <a:t>三甲基</a:t>
            </a:r>
            <a:r>
              <a:rPr lang="en-US" altLang="zh-CN" sz="3000" dirty="0"/>
              <a:t>-1-</a:t>
            </a:r>
            <a:r>
              <a:rPr lang="zh-CN" altLang="en-US" sz="3000" dirty="0"/>
              <a:t>溴戊烷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MY" altLang="zh-CN" sz="3000" dirty="0"/>
              <a:t>	</a:t>
            </a:r>
            <a:r>
              <a:rPr lang="zh-CN" altLang="en-US" sz="3000" dirty="0"/>
              <a:t>顺</a:t>
            </a:r>
            <a:r>
              <a:rPr lang="en-US" altLang="zh-CN" sz="3000" dirty="0"/>
              <a:t>-2,3-</a:t>
            </a:r>
            <a:r>
              <a:rPr lang="zh-CN" altLang="en-US" sz="3000" dirty="0"/>
              <a:t>二氯</a:t>
            </a:r>
            <a:r>
              <a:rPr lang="en-US" altLang="zh-CN" sz="3000" dirty="0"/>
              <a:t>-2-</a:t>
            </a:r>
            <a:r>
              <a:rPr lang="zh-CN" altLang="en-US" sz="3000" dirty="0"/>
              <a:t>丁烯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20462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31.2 </a:t>
            </a:r>
            <a:r>
              <a:rPr lang="zh-CN" altLang="en-US" sz="4000" b="1" dirty="0">
                <a:latin typeface="+mn-ea"/>
              </a:rPr>
              <a:t>卤代烃的物理性质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一卤代烷</a:t>
            </a:r>
            <a:r>
              <a:rPr lang="en-US" altLang="zh-CN" sz="3000" dirty="0"/>
              <a:t>R-X</a:t>
            </a:r>
            <a:r>
              <a:rPr lang="zh-CN" altLang="en-US" sz="3000" dirty="0"/>
              <a:t>，通式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  <a:r>
              <a:rPr lang="en-US" altLang="zh-CN" sz="3000" b="1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2n+1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</a:p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3000" dirty="0"/>
              <a:t>常温常压下</a:t>
            </a:r>
            <a:r>
              <a:rPr lang="zh-CN" altLang="en-US" sz="3000" b="1" dirty="0">
                <a:solidFill>
                  <a:srgbClr val="002060"/>
                </a:solidFill>
              </a:rPr>
              <a:t>气相</a:t>
            </a:r>
            <a:r>
              <a:rPr lang="zh-CN" altLang="en-US" sz="3000" dirty="0"/>
              <a:t>卤代烷</a:t>
            </a:r>
            <a:r>
              <a:rPr lang="zh-CN" altLang="en-US" sz="3000" b="1" dirty="0">
                <a:solidFill>
                  <a:srgbClr val="002060"/>
                </a:solidFill>
              </a:rPr>
              <a:t>较少</a:t>
            </a:r>
            <a:r>
              <a:rPr lang="zh-CN" altLang="en-US" sz="3000" dirty="0"/>
              <a:t>，大多为液相或固相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3000" dirty="0"/>
              <a:t>一卤代烷有难闻气味、蒸汽有毒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3000" dirty="0"/>
              <a:t>一卤代烷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都不溶于水</a:t>
            </a:r>
            <a:r>
              <a:rPr lang="zh-CN" altLang="en-US" sz="3000" dirty="0"/>
              <a:t>，溶于大多的有机溶剂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3000" dirty="0"/>
              <a:t>卤代烷中，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卤原子数增多，其可燃性降低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31.2 </a:t>
            </a:r>
            <a:r>
              <a:rPr lang="zh-CN" altLang="en-US" sz="4000" b="1" dirty="0">
                <a:latin typeface="+mn-ea"/>
              </a:rPr>
              <a:t>卤代烃的物理性质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/>
              <a:t>沸点</a:t>
            </a:r>
            <a:endParaRPr lang="en-US" altLang="zh-CN" sz="3000" dirty="0"/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卤原子相同，烃基中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碳原子数多沸点高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烃基相同，卤原子不同：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R-I&gt;R-Br&gt;R-Cl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MY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R-F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3000" dirty="0"/>
              <a:t>卤原子相同，烃基碳原子数相同，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支链少沸点高</a:t>
            </a:r>
            <a:endParaRPr lang="en-MY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密度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一氯代烷相对密度小于</a:t>
            </a:r>
            <a:r>
              <a:rPr lang="en-US" altLang="zh-CN" sz="3000" dirty="0"/>
              <a:t>1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一溴代烷、一碘代烷、多氯代烷相对密度大于</a:t>
            </a:r>
            <a:r>
              <a:rPr lang="en-US" altLang="zh-CN" sz="3000" dirty="0"/>
              <a:t>1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/>
              <a:t>熔点</a:t>
            </a:r>
            <a:endParaRPr lang="en-MY" altLang="zh-CN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/>
              <a:t>卤代烷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对称性越差，熔点越低</a:t>
            </a:r>
            <a:r>
              <a:rPr lang="zh-CN" altLang="en-US" sz="3000" dirty="0"/>
              <a:t>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761331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31a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800"/>
              </a:spcBef>
              <a:buAutoNum type="arabicPeriod"/>
            </a:pPr>
            <a:r>
              <a:rPr lang="en-MY" altLang="zh-CN" sz="3000" dirty="0"/>
              <a:t>A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3000" dirty="0"/>
              <a:t>溴苯、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密度大于水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3000" dirty="0"/>
              <a:t>乙醇可溶于水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2. C </a:t>
            </a:r>
            <a:r>
              <a:rPr lang="zh-CN" altLang="en-US" sz="3000" dirty="0"/>
              <a:t>一氯代烷密度小于水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3. D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3000" dirty="0"/>
              <a:t>水洗分液法：用水将有机相中溶于水的杂质分离出来，达到纯化有机相的目的。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6492727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受卤原子影响，比烷烃活泼</a:t>
            </a:r>
            <a:endParaRPr lang="en-US" altLang="zh-C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C—X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键极性强，</a:t>
            </a:r>
            <a:r>
              <a:rPr lang="zh-CN" altLang="en-US" sz="2800" dirty="0"/>
              <a:t>反应过程中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容易断裂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spcBef>
                <a:spcPts val="600"/>
              </a:spcBef>
              <a:buFont typeface="Arial" pitchFamily="34" charset="0"/>
              <a:buAutoNum type="arabicPeriod"/>
            </a:pPr>
            <a:r>
              <a:rPr lang="zh-CN" altLang="en-US" sz="2800" dirty="0"/>
              <a:t>消去反应：有机物在一定条件下，从分子中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脱去一个或几个小分子</a:t>
            </a:r>
            <a:r>
              <a:rPr lang="zh-CN" altLang="en-US" sz="2800" dirty="0"/>
              <a:t>，而</a:t>
            </a: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生成不饱和化合物</a:t>
            </a:r>
            <a:r>
              <a:rPr lang="zh-CN" altLang="en-US" sz="2800" dirty="0"/>
              <a:t>的反应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2800" dirty="0"/>
              <a:t>取代反应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I </a:t>
            </a:r>
            <a:r>
              <a:rPr lang="zh-CN" altLang="en-US" sz="2800" dirty="0"/>
              <a:t>水解作用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II </a:t>
            </a:r>
            <a:r>
              <a:rPr lang="zh-CN" altLang="en-US" sz="2800" dirty="0"/>
              <a:t>与氰化钠作用</a:t>
            </a:r>
            <a:endParaRPr lang="en-US" altLang="zh-CN" sz="2800" dirty="0"/>
          </a:p>
          <a:p>
            <a:pPr marL="514350" indent="-514350">
              <a:spcBef>
                <a:spcPts val="600"/>
              </a:spcBef>
              <a:buNone/>
            </a:pPr>
            <a:r>
              <a:rPr lang="en-US" altLang="zh-CN" sz="2800" dirty="0"/>
              <a:t>	III </a:t>
            </a:r>
            <a:r>
              <a:rPr lang="zh-CN" altLang="en-US" sz="2800" dirty="0"/>
              <a:t>与氨作用</a:t>
            </a:r>
            <a:endParaRPr lang="en-US" altLang="zh-CN" sz="2800" dirty="0"/>
          </a:p>
          <a:p>
            <a:pPr>
              <a:spcBef>
                <a:spcPts val="600"/>
              </a:spcBef>
              <a:buNone/>
            </a:pPr>
            <a:r>
              <a:rPr lang="en-US" altLang="zh-CN" sz="2800" dirty="0"/>
              <a:t>3. </a:t>
            </a:r>
            <a:r>
              <a:rPr lang="zh-CN" altLang="en-US" sz="2800" dirty="0"/>
              <a:t>与金属作用</a:t>
            </a:r>
            <a:endParaRPr lang="en-US" altLang="zh-CN" sz="2800" dirty="0"/>
          </a:p>
          <a:p>
            <a:pPr>
              <a:spcBef>
                <a:spcPts val="600"/>
              </a:spcBef>
              <a:buNone/>
            </a:pPr>
            <a:r>
              <a:rPr lang="en-US" altLang="zh-CN" sz="2800" dirty="0"/>
              <a:t>	I </a:t>
            </a:r>
            <a:r>
              <a:rPr lang="zh-CN" altLang="en-US" sz="2800" dirty="0"/>
              <a:t>伍尔兹反应</a:t>
            </a:r>
            <a:endParaRPr lang="en-US" altLang="zh-CN" sz="2800" dirty="0"/>
          </a:p>
          <a:p>
            <a:pPr>
              <a:spcBef>
                <a:spcPts val="600"/>
              </a:spcBef>
              <a:buNone/>
            </a:pPr>
            <a:r>
              <a:rPr lang="en-US" altLang="zh-CN" sz="2800" dirty="0"/>
              <a:t>	II </a:t>
            </a:r>
            <a:r>
              <a:rPr lang="zh-CN" altLang="en-US" sz="2800" dirty="0"/>
              <a:t>与镁作用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消去反应</a:t>
            </a:r>
            <a:r>
              <a:rPr lang="en-US" altLang="zh-CN" sz="3000" dirty="0"/>
              <a:t>:</a:t>
            </a:r>
            <a:r>
              <a:rPr lang="zh-CN" altLang="en-US" sz="2800" b="1" dirty="0"/>
              <a:t>有机物在一定条件下，从分子中脱去一个或几个小分子，而生成不饱和化合物的反应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通式：卤代烷 </a:t>
            </a:r>
            <a:r>
              <a:rPr lang="en-US" altLang="zh-CN" sz="3000" dirty="0"/>
              <a:t>+ </a:t>
            </a:r>
            <a:r>
              <a:rPr lang="zh-CN" altLang="en-US" sz="3000" dirty="0"/>
              <a:t>强碱</a:t>
            </a:r>
            <a:r>
              <a:rPr lang="en-US" altLang="zh-CN" sz="3000" dirty="0"/>
              <a:t>               </a:t>
            </a:r>
            <a:r>
              <a:rPr lang="zh-CN" altLang="en-US" sz="3000" dirty="0"/>
              <a:t>烯</a:t>
            </a:r>
            <a:r>
              <a:rPr lang="en-US" altLang="zh-CN" sz="3000" dirty="0"/>
              <a:t>+</a:t>
            </a:r>
            <a:r>
              <a:rPr lang="zh-CN" altLang="en-US" sz="3000" dirty="0"/>
              <a:t>卤化物</a:t>
            </a:r>
            <a:r>
              <a:rPr lang="en-US" altLang="zh-CN" sz="3000" dirty="0"/>
              <a:t>+</a:t>
            </a:r>
            <a:r>
              <a:rPr lang="zh-CN" altLang="en-US" sz="3000" dirty="0"/>
              <a:t>水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n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2n+1</a:t>
            </a:r>
            <a:r>
              <a:rPr lang="en-US" altLang="zh-CN" sz="3000" dirty="0">
                <a:sym typeface="Wingdings" pitchFamily="2" charset="2"/>
              </a:rPr>
              <a:t>X + </a:t>
            </a:r>
            <a:r>
              <a:rPr lang="en-US" altLang="zh-CN" sz="3000" dirty="0" err="1">
                <a:sym typeface="Wingdings" pitchFamily="2" charset="2"/>
              </a:rPr>
              <a:t>NaOH</a:t>
            </a:r>
            <a:r>
              <a:rPr lang="en-US" altLang="zh-CN" sz="3000" dirty="0">
                <a:sym typeface="Wingdings" pitchFamily="2" charset="2"/>
              </a:rPr>
              <a:t>  	 C</a:t>
            </a:r>
            <a:r>
              <a:rPr lang="en-US" altLang="zh-CN" sz="3000" baseline="-25000" dirty="0">
                <a:sym typeface="Wingdings" pitchFamily="2" charset="2"/>
              </a:rPr>
              <a:t>n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2n</a:t>
            </a:r>
            <a:r>
              <a:rPr lang="en-US" altLang="zh-CN" sz="3000" dirty="0">
                <a:sym typeface="Wingdings" pitchFamily="2" charset="2"/>
              </a:rPr>
              <a:t> +  </a:t>
            </a:r>
            <a:r>
              <a:rPr lang="en-US" altLang="zh-CN" sz="3000" dirty="0" err="1">
                <a:sym typeface="Wingdings" pitchFamily="2" charset="2"/>
              </a:rPr>
              <a:t>NaX</a:t>
            </a:r>
            <a:r>
              <a:rPr lang="en-US" altLang="zh-CN" sz="3000" dirty="0">
                <a:sym typeface="Wingdings" pitchFamily="2" charset="2"/>
              </a:rPr>
              <a:t>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5" name="Group 4"/>
          <p:cNvGrpSpPr/>
          <p:nvPr/>
        </p:nvGrpSpPr>
        <p:grpSpPr>
          <a:xfrm>
            <a:off x="4083152" y="1981200"/>
            <a:ext cx="1098448" cy="702777"/>
            <a:chOff x="2646086" y="2542255"/>
            <a:chExt cx="1109050" cy="652192"/>
          </a:xfrm>
        </p:grpSpPr>
        <p:grpSp>
          <p:nvGrpSpPr>
            <p:cNvPr id="7" name="Group 10"/>
            <p:cNvGrpSpPr/>
            <p:nvPr/>
          </p:nvGrpSpPr>
          <p:grpSpPr>
            <a:xfrm>
              <a:off x="2646086" y="2542255"/>
              <a:ext cx="1109050" cy="652192"/>
              <a:chOff x="2646086" y="2542255"/>
              <a:chExt cx="1109050" cy="652192"/>
            </a:xfrm>
          </p:grpSpPr>
          <p:cxnSp>
            <p:nvCxnSpPr>
              <p:cNvPr id="9" name="直接箭头连接符 1"/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/>
              <p:cNvSpPr txBox="1"/>
              <p:nvPr/>
            </p:nvSpPr>
            <p:spPr>
              <a:xfrm>
                <a:off x="2723020" y="2542255"/>
                <a:ext cx="615484" cy="34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1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/>
            <p:cNvSpPr/>
            <p:nvPr/>
          </p:nvSpPr>
          <p:spPr>
            <a:xfrm>
              <a:off x="2876891" y="291158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276600" y="2590800"/>
            <a:ext cx="1098448" cy="702777"/>
            <a:chOff x="2646086" y="2542255"/>
            <a:chExt cx="1109050" cy="652192"/>
          </a:xfrm>
        </p:grpSpPr>
        <p:grpSp>
          <p:nvGrpSpPr>
            <p:cNvPr id="16" name="Group 10"/>
            <p:cNvGrpSpPr/>
            <p:nvPr/>
          </p:nvGrpSpPr>
          <p:grpSpPr>
            <a:xfrm>
              <a:off x="2646086" y="2542255"/>
              <a:ext cx="1109050" cy="652192"/>
              <a:chOff x="2646086" y="2542255"/>
              <a:chExt cx="1109050" cy="652192"/>
            </a:xfrm>
          </p:grpSpPr>
          <p:cxnSp>
            <p:nvCxnSpPr>
              <p:cNvPr id="18" name="直接箭头连接符 1"/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本框 5"/>
              <p:cNvSpPr txBox="1"/>
              <p:nvPr/>
            </p:nvSpPr>
            <p:spPr>
              <a:xfrm>
                <a:off x="2723020" y="2542255"/>
                <a:ext cx="615484" cy="34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0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7" name="Isosceles Triangle 16"/>
            <p:cNvSpPr/>
            <p:nvPr/>
          </p:nvSpPr>
          <p:spPr>
            <a:xfrm>
              <a:off x="2876891" y="291158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1" name="Picture 20" descr="slide_12.jpg"/>
          <p:cNvPicPr>
            <a:picLocks noChangeAspect="1"/>
          </p:cNvPicPr>
          <p:nvPr/>
        </p:nvPicPr>
        <p:blipFill>
          <a:blip r:embed="rId3"/>
          <a:srcRect l="60000" t="38889" r="6667" b="44445"/>
          <a:stretch>
            <a:fillRect/>
          </a:stretch>
        </p:blipFill>
        <p:spPr>
          <a:xfrm>
            <a:off x="4114800" y="4778315"/>
            <a:ext cx="2904226" cy="1089085"/>
          </a:xfrm>
          <a:prstGeom prst="rect">
            <a:avLst/>
          </a:prstGeom>
        </p:spPr>
      </p:pic>
      <p:pic>
        <p:nvPicPr>
          <p:cNvPr id="22" name="Picture 21" descr="slide_12.jpg"/>
          <p:cNvPicPr>
            <a:picLocks noChangeAspect="1"/>
          </p:cNvPicPr>
          <p:nvPr/>
        </p:nvPicPr>
        <p:blipFill>
          <a:blip r:embed="rId3"/>
          <a:srcRect l="5000" t="10000" r="40834" b="72222"/>
          <a:stretch>
            <a:fillRect/>
          </a:stretch>
        </p:blipFill>
        <p:spPr>
          <a:xfrm>
            <a:off x="76200" y="3540424"/>
            <a:ext cx="4267200" cy="1050388"/>
          </a:xfrm>
          <a:prstGeom prst="rect">
            <a:avLst/>
          </a:prstGeom>
        </p:spPr>
      </p:pic>
      <p:pic>
        <p:nvPicPr>
          <p:cNvPr id="23" name="Picture 22" descr="slide_12.jpg"/>
          <p:cNvPicPr>
            <a:picLocks noChangeAspect="1"/>
          </p:cNvPicPr>
          <p:nvPr/>
        </p:nvPicPr>
        <p:blipFill>
          <a:blip r:embed="rId3"/>
          <a:srcRect l="60000" t="7173" r="6667" b="80000"/>
          <a:stretch>
            <a:fillRect/>
          </a:stretch>
        </p:blipFill>
        <p:spPr>
          <a:xfrm>
            <a:off x="4343400" y="3559114"/>
            <a:ext cx="2904226" cy="838200"/>
          </a:xfrm>
          <a:prstGeom prst="rect">
            <a:avLst/>
          </a:prstGeom>
        </p:spPr>
      </p:pic>
      <p:pic>
        <p:nvPicPr>
          <p:cNvPr id="24" name="Picture 23" descr="slide_12.jpg"/>
          <p:cNvPicPr>
            <a:picLocks noChangeAspect="1"/>
          </p:cNvPicPr>
          <p:nvPr/>
        </p:nvPicPr>
        <p:blipFill>
          <a:blip r:embed="rId3"/>
          <a:srcRect l="5000" t="37777" r="40834" b="44445"/>
          <a:stretch>
            <a:fillRect/>
          </a:stretch>
        </p:blipFill>
        <p:spPr>
          <a:xfrm>
            <a:off x="76200" y="4854514"/>
            <a:ext cx="4114800" cy="10128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0400" y="3563881"/>
            <a:ext cx="2097049" cy="83343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/>
              <a:t>+ </a:t>
            </a:r>
            <a:r>
              <a:rPr lang="en-US" sz="2800" dirty="0" err="1"/>
              <a:t>NaBr</a:t>
            </a:r>
            <a:r>
              <a:rPr lang="en-US" sz="2800" dirty="0"/>
              <a:t> + H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6934200" y="4854514"/>
            <a:ext cx="2097049" cy="83343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/>
              <a:t>+</a:t>
            </a:r>
            <a:r>
              <a:rPr lang="en-US" sz="2800" dirty="0"/>
              <a:t> </a:t>
            </a:r>
            <a:r>
              <a:rPr lang="en-US" sz="2800" dirty="0" err="1"/>
              <a:t>NaBr</a:t>
            </a:r>
            <a:r>
              <a:rPr lang="en-US" sz="2800" dirty="0"/>
              <a:t> + H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消去反应</a:t>
            </a:r>
            <a:r>
              <a:rPr lang="en-US" altLang="zh-CN" sz="3000" dirty="0"/>
              <a:t>:</a:t>
            </a:r>
            <a:r>
              <a:rPr lang="zh-CN" altLang="en-US" sz="2800" b="1" dirty="0"/>
              <a:t>有机物在一定条件下，从分子中脱去一个或几个小分子，而生成不饱和化合物的反应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</a:t>
            </a:r>
            <a:r>
              <a:rPr lang="zh-CN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邻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二卤代烷</a:t>
            </a:r>
            <a:r>
              <a:rPr lang="zh-CN" altLang="en-US" sz="3000" dirty="0"/>
              <a:t> </a:t>
            </a:r>
            <a:r>
              <a:rPr lang="en-US" altLang="zh-CN" sz="3000" dirty="0"/>
              <a:t>+ </a:t>
            </a:r>
            <a:r>
              <a:rPr lang="zh-CN" altLang="en-US" sz="3000" dirty="0"/>
              <a:t>强碱</a:t>
            </a:r>
            <a:r>
              <a:rPr lang="en-US" altLang="zh-CN" sz="3000" dirty="0"/>
              <a:t>               </a:t>
            </a:r>
            <a:r>
              <a:rPr lang="zh-CN" altLang="en-US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炔</a:t>
            </a:r>
            <a:r>
              <a:rPr lang="en-US" altLang="zh-CN" sz="3000" dirty="0"/>
              <a:t>+</a:t>
            </a:r>
            <a:r>
              <a:rPr lang="zh-CN" altLang="en-US" sz="3000" dirty="0"/>
              <a:t>卤化物</a:t>
            </a:r>
            <a:r>
              <a:rPr lang="en-US" altLang="zh-CN" sz="3000" dirty="0"/>
              <a:t>+</a:t>
            </a:r>
            <a:r>
              <a:rPr lang="zh-CN" altLang="en-US" sz="3000" dirty="0"/>
              <a:t>水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</a:t>
            </a:r>
            <a:r>
              <a:rPr lang="en-US" altLang="zh-CN" sz="3000" baseline="-25000" dirty="0">
                <a:sym typeface="Wingdings" pitchFamily="2" charset="2"/>
              </a:rPr>
              <a:t>n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2n</a:t>
            </a:r>
            <a:r>
              <a:rPr lang="en-US" altLang="zh-CN" sz="3000" dirty="0">
                <a:sym typeface="Wingdings" pitchFamily="2" charset="2"/>
              </a:rPr>
              <a:t>X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+ 2NaOH  	 C</a:t>
            </a:r>
            <a:r>
              <a:rPr lang="en-US" altLang="zh-CN" sz="3000" baseline="-25000" dirty="0">
                <a:sym typeface="Wingdings" pitchFamily="2" charset="2"/>
              </a:rPr>
              <a:t>n</a:t>
            </a:r>
            <a:r>
              <a:rPr lang="en-US" altLang="zh-CN" sz="3000" dirty="0">
                <a:sym typeface="Wingdings" pitchFamily="2" charset="2"/>
              </a:rPr>
              <a:t>H</a:t>
            </a:r>
            <a:r>
              <a:rPr lang="en-US" altLang="zh-CN" sz="3000" baseline="-25000" dirty="0">
                <a:sym typeface="Wingdings" pitchFamily="2" charset="2"/>
              </a:rPr>
              <a:t>2n-2</a:t>
            </a:r>
            <a:r>
              <a:rPr lang="en-US" altLang="zh-CN" sz="3000" dirty="0">
                <a:sym typeface="Wingdings" pitchFamily="2" charset="2"/>
              </a:rPr>
              <a:t> +  2NaX + 2H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Cl –CH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Cl + 2NaOH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5" name="Group 4"/>
          <p:cNvGrpSpPr/>
          <p:nvPr/>
        </p:nvGrpSpPr>
        <p:grpSpPr>
          <a:xfrm>
            <a:off x="4876800" y="1888023"/>
            <a:ext cx="1098448" cy="702777"/>
            <a:chOff x="2646086" y="2542255"/>
            <a:chExt cx="1109050" cy="652192"/>
          </a:xfrm>
        </p:grpSpPr>
        <p:grpSp>
          <p:nvGrpSpPr>
            <p:cNvPr id="7" name="Group 10"/>
            <p:cNvGrpSpPr/>
            <p:nvPr/>
          </p:nvGrpSpPr>
          <p:grpSpPr>
            <a:xfrm>
              <a:off x="2646086" y="2542255"/>
              <a:ext cx="1109050" cy="652192"/>
              <a:chOff x="2646086" y="2542255"/>
              <a:chExt cx="1109050" cy="652192"/>
            </a:xfrm>
          </p:grpSpPr>
          <p:cxnSp>
            <p:nvCxnSpPr>
              <p:cNvPr id="9" name="直接箭头连接符 1"/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/>
              <p:cNvSpPr txBox="1"/>
              <p:nvPr/>
            </p:nvSpPr>
            <p:spPr>
              <a:xfrm>
                <a:off x="2723020" y="2542255"/>
                <a:ext cx="615484" cy="34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1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/>
            <p:cNvSpPr/>
            <p:nvPr/>
          </p:nvSpPr>
          <p:spPr>
            <a:xfrm>
              <a:off x="2876891" y="291158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276600" y="2590800"/>
            <a:ext cx="1098448" cy="702777"/>
            <a:chOff x="2646086" y="2542255"/>
            <a:chExt cx="1109050" cy="652192"/>
          </a:xfrm>
        </p:grpSpPr>
        <p:grpSp>
          <p:nvGrpSpPr>
            <p:cNvPr id="16" name="Group 10"/>
            <p:cNvGrpSpPr/>
            <p:nvPr/>
          </p:nvGrpSpPr>
          <p:grpSpPr>
            <a:xfrm>
              <a:off x="2646086" y="2542255"/>
              <a:ext cx="1109050" cy="652192"/>
              <a:chOff x="2646086" y="2542255"/>
              <a:chExt cx="1109050" cy="652192"/>
            </a:xfrm>
          </p:grpSpPr>
          <p:cxnSp>
            <p:nvCxnSpPr>
              <p:cNvPr id="18" name="直接箭头连接符 1"/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本框 5"/>
              <p:cNvSpPr txBox="1"/>
              <p:nvPr/>
            </p:nvSpPr>
            <p:spPr>
              <a:xfrm>
                <a:off x="2723020" y="2542255"/>
                <a:ext cx="615484" cy="34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0" name="文本框 6"/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7" name="Isosceles Triangle 16"/>
            <p:cNvSpPr/>
            <p:nvPr/>
          </p:nvSpPr>
          <p:spPr>
            <a:xfrm>
              <a:off x="2876891" y="291158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24" name="Picture 23" descr="slide_12.jpg"/>
          <p:cNvPicPr>
            <a:picLocks noChangeAspect="1"/>
          </p:cNvPicPr>
          <p:nvPr/>
        </p:nvPicPr>
        <p:blipFill rotWithShape="1">
          <a:blip r:embed="rId3"/>
          <a:srcRect l="47129" t="37777" r="40834" b="44445"/>
          <a:stretch/>
        </p:blipFill>
        <p:spPr>
          <a:xfrm>
            <a:off x="3962400" y="3554271"/>
            <a:ext cx="914400" cy="101287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53000" y="3810000"/>
            <a:ext cx="38795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000" dirty="0"/>
              <a:t>HC≡CH+</a:t>
            </a:r>
            <a:r>
              <a:rPr lang="en-US" sz="3000" dirty="0"/>
              <a:t> 2 </a:t>
            </a:r>
            <a:r>
              <a:rPr lang="en-US" sz="3000" dirty="0" err="1"/>
              <a:t>NaBr</a:t>
            </a:r>
            <a:r>
              <a:rPr lang="en-US" sz="3000" dirty="0"/>
              <a:t> + 2 H</a:t>
            </a:r>
            <a:r>
              <a:rPr lang="en-US" sz="3000" baseline="-25000" dirty="0"/>
              <a:t>2</a:t>
            </a:r>
            <a:r>
              <a:rPr lang="en-US" sz="3000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461092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取代反应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I </a:t>
            </a:r>
            <a:r>
              <a:rPr lang="zh-CN" altLang="en-US" sz="3000" dirty="0"/>
              <a:t>与强碱水溶液的水解反应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</a:t>
            </a:r>
            <a:r>
              <a:rPr lang="en-US" altLang="zh-CN" sz="3000" dirty="0"/>
              <a:t>	R-X </a:t>
            </a:r>
            <a:r>
              <a:rPr lang="zh-CN" altLang="en-US" sz="3000" dirty="0"/>
              <a:t> </a:t>
            </a:r>
            <a:r>
              <a:rPr lang="en-US" altLang="zh-CN" sz="3000" dirty="0"/>
              <a:t>+ NaOH(</a:t>
            </a:r>
            <a:r>
              <a:rPr lang="en-US" altLang="zh-CN" sz="3000" dirty="0" err="1"/>
              <a:t>aq</a:t>
            </a:r>
            <a:r>
              <a:rPr lang="en-US" altLang="zh-CN" sz="3000" dirty="0"/>
              <a:t>)		</a:t>
            </a:r>
            <a:r>
              <a:rPr lang="en-US" altLang="zh-CN" sz="3000" dirty="0">
                <a:sym typeface="Wingdings" pitchFamily="2" charset="2"/>
              </a:rPr>
              <a:t>R-OH</a:t>
            </a:r>
            <a:r>
              <a:rPr lang="en-MY" altLang="zh-CN" sz="3000" dirty="0">
                <a:sym typeface="Wingdings" pitchFamily="2" charset="2"/>
              </a:rPr>
              <a:t>(</a:t>
            </a:r>
            <a:r>
              <a:rPr lang="zh-CN" altLang="en-US" sz="3000" dirty="0">
                <a:sym typeface="Wingdings" pitchFamily="2" charset="2"/>
              </a:rPr>
              <a:t>醇</a:t>
            </a:r>
            <a:r>
              <a:rPr lang="en-MY" altLang="zh-CN" sz="3000" dirty="0">
                <a:sym typeface="Wingdings" pitchFamily="2" charset="2"/>
              </a:rPr>
              <a:t>) 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en-US" altLang="zh-CN" sz="3000" dirty="0" err="1">
                <a:sym typeface="Wingdings" pitchFamily="2" charset="2"/>
              </a:rPr>
              <a:t>NaX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Br + NaOH(</a:t>
            </a:r>
            <a:r>
              <a:rPr lang="en-US" altLang="zh-CN" sz="3000" dirty="0" err="1">
                <a:sym typeface="Wingdings" pitchFamily="2" charset="2"/>
              </a:rPr>
              <a:t>aq</a:t>
            </a:r>
            <a:r>
              <a:rPr lang="en-US" altLang="zh-CN" sz="3000" dirty="0">
                <a:sym typeface="Wingdings" pitchFamily="2" charset="2"/>
              </a:rPr>
              <a:t>)             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OH + </a:t>
            </a:r>
            <a:r>
              <a:rPr lang="en-US" altLang="zh-CN" sz="3000" dirty="0" err="1">
                <a:sym typeface="Wingdings" pitchFamily="2" charset="2"/>
              </a:rPr>
              <a:t>NaBr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补充练习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如何利用乙烷制成乙醇？写出相关的化学方程式。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提示：乙烷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氯乙烷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乙醇</a:t>
            </a:r>
            <a:endParaRPr lang="en-US" altLang="zh-CN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0F308C-588B-4F04-9221-628B9AC71619}"/>
              </a:ext>
            </a:extLst>
          </p:cNvPr>
          <p:cNvGrpSpPr/>
          <p:nvPr/>
        </p:nvGrpSpPr>
        <p:grpSpPr>
          <a:xfrm>
            <a:off x="4909279" y="2057400"/>
            <a:ext cx="583217" cy="707152"/>
            <a:chOff x="2720816" y="2487295"/>
            <a:chExt cx="684000" cy="707152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33EC59EC-A62A-4836-9CDC-9FB2C04733AB}"/>
                </a:ext>
              </a:extLst>
            </p:cNvPr>
            <p:cNvGrpSpPr/>
            <p:nvPr/>
          </p:nvGrpSpPr>
          <p:grpSpPr>
            <a:xfrm>
              <a:off x="2720816" y="2487295"/>
              <a:ext cx="684000" cy="707152"/>
              <a:chOff x="2720816" y="2487295"/>
              <a:chExt cx="684000" cy="70715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32A61979-6974-4E2C-A12C-F438CFDC4790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>
                <a:extLst>
                  <a:ext uri="{FF2B5EF4-FFF2-40B4-BE49-F238E27FC236}">
                    <a16:creationId xmlns:a16="http://schemas.microsoft.com/office/drawing/2014/main" id="{00109CEF-79DC-4BF1-8DF7-C9F8547E0D3D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1" name="文本框 6">
                <a:extLst>
                  <a:ext uri="{FF2B5EF4-FFF2-40B4-BE49-F238E27FC236}">
                    <a16:creationId xmlns:a16="http://schemas.microsoft.com/office/drawing/2014/main" id="{11C2A44A-4619-42D2-9052-FA0B5329CFF1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3B37568-3D5C-4C64-9AF9-95E87541EC89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7E3096-69AF-4D4E-A4E8-373CB4157DEC}"/>
              </a:ext>
            </a:extLst>
          </p:cNvPr>
          <p:cNvGrpSpPr/>
          <p:nvPr/>
        </p:nvGrpSpPr>
        <p:grpSpPr>
          <a:xfrm>
            <a:off x="4027360" y="2698706"/>
            <a:ext cx="1034320" cy="707152"/>
            <a:chOff x="2720816" y="2487295"/>
            <a:chExt cx="1034320" cy="70715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3CC41A93-5366-4442-BEC9-60393D242B3D}"/>
                </a:ext>
              </a:extLst>
            </p:cNvPr>
            <p:cNvGrpSpPr/>
            <p:nvPr/>
          </p:nvGrpSpPr>
          <p:grpSpPr>
            <a:xfrm>
              <a:off x="2720816" y="2487295"/>
              <a:ext cx="1034320" cy="707152"/>
              <a:chOff x="2720816" y="2487295"/>
              <a:chExt cx="1034320" cy="707152"/>
            </a:xfrm>
          </p:grpSpPr>
          <p:cxnSp>
            <p:nvCxnSpPr>
              <p:cNvPr id="15" name="直接箭头连接符 1">
                <a:extLst>
                  <a:ext uri="{FF2B5EF4-FFF2-40B4-BE49-F238E27FC236}">
                    <a16:creationId xmlns:a16="http://schemas.microsoft.com/office/drawing/2014/main" id="{0E99DD5B-A57C-415A-9CBD-9EAC79B18071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49F2D838-7BE7-4666-B6B9-201180F8B5D2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7" name="文本框 6">
                <a:extLst>
                  <a:ext uri="{FF2B5EF4-FFF2-40B4-BE49-F238E27FC236}">
                    <a16:creationId xmlns:a16="http://schemas.microsoft.com/office/drawing/2014/main" id="{2B213A0A-FDCA-4EFF-B6A1-CD51C223A53E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101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54390F76-848C-4B0A-A1E7-74823CBD9CA2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取代反应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/>
              <a:t>I </a:t>
            </a:r>
            <a:r>
              <a:rPr lang="zh-CN" altLang="en-US" sz="3000" dirty="0"/>
              <a:t>与强碱水溶液的水解反应</a:t>
            </a:r>
            <a:endParaRPr lang="en-MY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卤代芳烃在一定条件下的水解反应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5"/>
          <p:cNvGrpSpPr/>
          <p:nvPr/>
        </p:nvGrpSpPr>
        <p:grpSpPr>
          <a:xfrm>
            <a:off x="1828800" y="3810000"/>
            <a:ext cx="2057400" cy="918865"/>
            <a:chOff x="2790420" y="5727879"/>
            <a:chExt cx="2057400" cy="91886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819400" y="6172117"/>
              <a:ext cx="19202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790420" y="6185079"/>
              <a:ext cx="2057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360</a:t>
              </a:r>
              <a:r>
                <a:rPr lang="en-US" sz="2400" baseline="30000" dirty="0"/>
                <a:t>o</a:t>
              </a:r>
              <a:r>
                <a:rPr lang="en-US" sz="2400" dirty="0"/>
                <a:t>C,2x10</a:t>
              </a:r>
              <a:r>
                <a:rPr lang="en-US" sz="2400" baseline="30000" dirty="0"/>
                <a:t>7</a:t>
              </a:r>
              <a:r>
                <a:rPr lang="en-US" sz="2400" dirty="0"/>
                <a:t> Pa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71420" y="5727879"/>
              <a:ext cx="1422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NaOH</a:t>
              </a:r>
              <a:r>
                <a:rPr lang="en-US" sz="2400" dirty="0"/>
                <a:t>(</a:t>
              </a:r>
              <a:r>
                <a:rPr lang="en-US" sz="2400" dirty="0" err="1"/>
                <a:t>aq</a:t>
              </a:r>
              <a:r>
                <a:rPr lang="en-US" sz="2400" dirty="0"/>
                <a:t>)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2000" y="520642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氯苯</a:t>
            </a:r>
            <a:endParaRPr lang="en-US" sz="3000" dirty="0"/>
          </a:p>
        </p:txBody>
      </p:sp>
      <p:sp>
        <p:nvSpPr>
          <p:cNvPr id="17" name="TextBox 16"/>
          <p:cNvSpPr txBox="1"/>
          <p:nvPr/>
        </p:nvSpPr>
        <p:spPr>
          <a:xfrm>
            <a:off x="7482165" y="51816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酚</a:t>
            </a:r>
            <a:endParaRPr lang="en-US" sz="3000" dirty="0"/>
          </a:p>
        </p:txBody>
      </p:sp>
      <p:pic>
        <p:nvPicPr>
          <p:cNvPr id="18" name="Picture 17" descr="2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743200"/>
            <a:ext cx="1524000" cy="2562225"/>
          </a:xfrm>
          <a:prstGeom prst="rect">
            <a:avLst/>
          </a:prstGeom>
        </p:spPr>
      </p:pic>
      <p:pic>
        <p:nvPicPr>
          <p:cNvPr id="20" name="Picture 19" descr="2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847975"/>
            <a:ext cx="1276350" cy="2333625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4207394" y="2979734"/>
            <a:ext cx="1475891" cy="2448877"/>
            <a:chOff x="4205840" y="3346188"/>
            <a:chExt cx="1477668" cy="2334958"/>
          </a:xfrm>
        </p:grpSpPr>
        <p:pic>
          <p:nvPicPr>
            <p:cNvPr id="19" name="Picture 18" descr="272.gi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7980532">
              <a:off x="3816683" y="3814321"/>
              <a:ext cx="2255982" cy="1477668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491529" y="3346188"/>
              <a:ext cx="1147441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dirty="0" err="1"/>
                <a:t>ONa</a:t>
              </a:r>
              <a:endParaRPr lang="en-US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86400" y="3810000"/>
            <a:ext cx="1463040" cy="461665"/>
            <a:chOff x="2819400" y="5723414"/>
            <a:chExt cx="146304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819400" y="6172117"/>
              <a:ext cx="146304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2824050" y="5723414"/>
              <a:ext cx="14141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/>
                <a:t>稀</a:t>
              </a:r>
              <a:r>
                <a:rPr lang="en-US" altLang="zh-CN" sz="2400" dirty="0" err="1"/>
                <a:t>HCl</a:t>
              </a:r>
              <a:r>
                <a:rPr lang="en-US" altLang="zh-CN" sz="2400" dirty="0"/>
                <a:t>(</a:t>
              </a:r>
              <a:r>
                <a:rPr lang="en-US" altLang="zh-CN" sz="2400" dirty="0" err="1"/>
                <a:t>aq</a:t>
              </a:r>
              <a:r>
                <a:rPr lang="en-US" altLang="zh-CN" sz="2400" dirty="0"/>
                <a:t>)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取代反应</a:t>
            </a:r>
            <a:r>
              <a:rPr lang="en-US" altLang="zh-CN" sz="3000" dirty="0"/>
              <a:t>--</a:t>
            </a:r>
            <a:r>
              <a:rPr lang="zh-CN" altLang="en-US" sz="3000" dirty="0"/>
              <a:t>与氰化钠作用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</a:t>
            </a:r>
            <a:r>
              <a:rPr lang="en-US" altLang="zh-CN" sz="3000" dirty="0"/>
              <a:t>R-X</a:t>
            </a:r>
            <a:r>
              <a:rPr lang="zh-CN" altLang="en-US" sz="3000" dirty="0"/>
              <a:t> </a:t>
            </a:r>
            <a:r>
              <a:rPr lang="en-US" altLang="zh-CN" sz="3000" dirty="0"/>
              <a:t>+ </a:t>
            </a:r>
            <a:r>
              <a:rPr lang="en-US" altLang="zh-CN" sz="3000" dirty="0" err="1"/>
              <a:t>NaCN</a:t>
            </a:r>
            <a:r>
              <a:rPr lang="en-US" altLang="zh-CN" sz="3000" dirty="0"/>
              <a:t>   	</a:t>
            </a:r>
            <a:r>
              <a:rPr lang="en-US" altLang="zh-CN" sz="3000" dirty="0">
                <a:sym typeface="Wingdings" pitchFamily="2" charset="2"/>
              </a:rPr>
              <a:t>R-CN </a:t>
            </a:r>
            <a:r>
              <a:rPr lang="zh-CN" altLang="en-US" sz="3000" dirty="0">
                <a:sym typeface="Wingdings" pitchFamily="2" charset="2"/>
              </a:rPr>
              <a:t>（腈）</a:t>
            </a:r>
            <a:r>
              <a:rPr lang="en-US" altLang="zh-CN" sz="3000" dirty="0">
                <a:sym typeface="Wingdings" pitchFamily="2" charset="2"/>
              </a:rPr>
              <a:t>+ </a:t>
            </a:r>
            <a:r>
              <a:rPr lang="en-US" altLang="zh-CN" sz="3000" dirty="0" err="1">
                <a:sym typeface="Wingdings" pitchFamily="2" charset="2"/>
              </a:rPr>
              <a:t>NaX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补充：</a:t>
            </a:r>
            <a:r>
              <a:rPr lang="en-US" altLang="zh-CN" sz="3000" dirty="0">
                <a:sym typeface="Wingdings" pitchFamily="2" charset="2"/>
              </a:rPr>
              <a:t>R-CN (</a:t>
            </a:r>
            <a:r>
              <a:rPr lang="zh-CN" altLang="en-US" sz="3000" dirty="0">
                <a:sym typeface="Wingdings" pitchFamily="2" charset="2"/>
              </a:rPr>
              <a:t>腈</a:t>
            </a:r>
            <a:r>
              <a:rPr lang="en-US" altLang="zh-CN" sz="3000" dirty="0">
                <a:sym typeface="Wingdings" pitchFamily="2" charset="2"/>
              </a:rPr>
              <a:t>)+ 2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	R-COOH(</a:t>
            </a:r>
            <a:r>
              <a:rPr lang="zh-CN" altLang="en-US" sz="3000" dirty="0">
                <a:sym typeface="Wingdings" pitchFamily="2" charset="2"/>
              </a:rPr>
              <a:t>羧酸</a:t>
            </a:r>
            <a:r>
              <a:rPr lang="en-US" altLang="zh-CN" sz="3000" dirty="0">
                <a:sym typeface="Wingdings" pitchFamily="2" charset="2"/>
              </a:rPr>
              <a:t>)+NH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补充：</a:t>
            </a:r>
            <a:r>
              <a:rPr lang="en-US" altLang="zh-CN" sz="3000" dirty="0">
                <a:sym typeface="Wingdings" pitchFamily="2" charset="2"/>
              </a:rPr>
              <a:t> R-CN (</a:t>
            </a:r>
            <a:r>
              <a:rPr lang="zh-CN" altLang="en-US" sz="3000" dirty="0">
                <a:sym typeface="Wingdings" pitchFamily="2" charset="2"/>
              </a:rPr>
              <a:t>腈</a:t>
            </a:r>
            <a:r>
              <a:rPr lang="en-US" altLang="zh-CN" sz="3000" dirty="0">
                <a:sym typeface="Wingdings" pitchFamily="2" charset="2"/>
              </a:rPr>
              <a:t>)+ 2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	 R-CH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NH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zh-CN" altLang="en-US" sz="3000" dirty="0">
                <a:sym typeface="Wingdings" pitchFamily="2" charset="2"/>
              </a:rPr>
              <a:t>胺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若分子中有多个卤原子，可全部被</a:t>
            </a:r>
            <a:r>
              <a:rPr lang="en-US" altLang="zh-CN" sz="3000" dirty="0">
                <a:sym typeface="Wingdings" pitchFamily="2" charset="2"/>
              </a:rPr>
              <a:t>—CN</a:t>
            </a:r>
            <a:r>
              <a:rPr lang="zh-CN" altLang="en-US" sz="3000" dirty="0">
                <a:sym typeface="Wingdings" pitchFamily="2" charset="2"/>
              </a:rPr>
              <a:t>取代</a:t>
            </a: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取代物产率：一卤代烷</a:t>
            </a:r>
            <a:r>
              <a:rPr lang="en-MY" altLang="zh-CN" sz="3000" dirty="0">
                <a:sym typeface="Wingdings" pitchFamily="2" charset="2"/>
              </a:rPr>
              <a:t>&gt;</a:t>
            </a:r>
            <a:r>
              <a:rPr lang="zh-CN" altLang="en-US" sz="3000" dirty="0">
                <a:sym typeface="Wingdings" pitchFamily="2" charset="2"/>
              </a:rPr>
              <a:t>二卤代烷</a:t>
            </a:r>
            <a:r>
              <a:rPr lang="en-MY" altLang="zh-CN" sz="3000" dirty="0">
                <a:sym typeface="Wingdings" pitchFamily="2" charset="2"/>
              </a:rPr>
              <a:t>&gt;</a:t>
            </a:r>
            <a:r>
              <a:rPr lang="zh-CN" altLang="en-US" sz="3000" dirty="0">
                <a:sym typeface="Wingdings" pitchFamily="2" charset="2"/>
              </a:rPr>
              <a:t>三卤代烷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3000" u="sng" dirty="0">
                <a:sym typeface="Wingdings" pitchFamily="2" charset="2"/>
              </a:rPr>
              <a:t>补充题写出下列反应式</a:t>
            </a:r>
            <a:endParaRPr lang="en-US" altLang="zh-CN" sz="3000" u="sng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1. 2-</a:t>
            </a:r>
            <a:r>
              <a:rPr lang="zh-CN" altLang="en-US" sz="3000" dirty="0">
                <a:sym typeface="Wingdings" pitchFamily="2" charset="2"/>
              </a:rPr>
              <a:t>碘丙烷</a:t>
            </a:r>
            <a:r>
              <a:rPr lang="en-US" altLang="zh-CN" sz="3000" dirty="0">
                <a:sym typeface="Wingdings" pitchFamily="2" charset="2"/>
              </a:rPr>
              <a:t>  2-</a:t>
            </a:r>
            <a:r>
              <a:rPr lang="zh-CN" altLang="en-US" sz="3000" dirty="0">
                <a:sym typeface="Wingdings" pitchFamily="2" charset="2"/>
              </a:rPr>
              <a:t>甲基丙酸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 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CHBrCH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  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CH(CH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)CH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NH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47"/>
          <p:cNvGrpSpPr/>
          <p:nvPr/>
        </p:nvGrpSpPr>
        <p:grpSpPr>
          <a:xfrm>
            <a:off x="4221480" y="2209800"/>
            <a:ext cx="731520" cy="383977"/>
            <a:chOff x="2819400" y="5864423"/>
            <a:chExt cx="731520" cy="3839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46920" y="5864423"/>
              <a:ext cx="4058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  <a:r>
                <a:rPr lang="en-US" baseline="30000" dirty="0"/>
                <a:t>+</a:t>
              </a:r>
              <a:endParaRPr lang="en-US" dirty="0"/>
            </a:p>
          </p:txBody>
        </p:sp>
      </p:grpSp>
      <p:grpSp>
        <p:nvGrpSpPr>
          <p:cNvPr id="9" name="Group 47"/>
          <p:cNvGrpSpPr/>
          <p:nvPr/>
        </p:nvGrpSpPr>
        <p:grpSpPr>
          <a:xfrm>
            <a:off x="4114800" y="2816423"/>
            <a:ext cx="731520" cy="383977"/>
            <a:chOff x="2819400" y="5864423"/>
            <a:chExt cx="731520" cy="383977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946920" y="5864423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Ni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41844C-9448-4C3A-8121-D2FDE8E2A60B}"/>
              </a:ext>
            </a:extLst>
          </p:cNvPr>
          <p:cNvGrpSpPr/>
          <p:nvPr/>
        </p:nvGrpSpPr>
        <p:grpSpPr>
          <a:xfrm>
            <a:off x="3307080" y="1524000"/>
            <a:ext cx="731520" cy="707152"/>
            <a:chOff x="2646977" y="2487295"/>
            <a:chExt cx="857931" cy="70715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BE195CB2-0632-40FD-997C-797FF1D05AA8}"/>
                </a:ext>
              </a:extLst>
            </p:cNvPr>
            <p:cNvGrpSpPr/>
            <p:nvPr/>
          </p:nvGrpSpPr>
          <p:grpSpPr>
            <a:xfrm>
              <a:off x="2646977" y="2487295"/>
              <a:ext cx="857931" cy="707152"/>
              <a:chOff x="2646977" y="2487295"/>
              <a:chExt cx="857931" cy="707152"/>
            </a:xfrm>
          </p:grpSpPr>
          <p:cxnSp>
            <p:nvCxnSpPr>
              <p:cNvPr id="15" name="直接箭头连接符 1">
                <a:extLst>
                  <a:ext uri="{FF2B5EF4-FFF2-40B4-BE49-F238E27FC236}">
                    <a16:creationId xmlns:a16="http://schemas.microsoft.com/office/drawing/2014/main" id="{548322ED-B23C-410C-B2F4-B1C1A842D0AA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8831D802-D2A2-411D-9F6A-1570273E5B09}"/>
                  </a:ext>
                </a:extLst>
              </p:cNvPr>
              <p:cNvSpPr txBox="1"/>
              <p:nvPr/>
            </p:nvSpPr>
            <p:spPr>
              <a:xfrm>
                <a:off x="2646977" y="2487295"/>
                <a:ext cx="8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乙醇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7" name="文本框 6">
                <a:extLst>
                  <a:ext uri="{FF2B5EF4-FFF2-40B4-BE49-F238E27FC236}">
                    <a16:creationId xmlns:a16="http://schemas.microsoft.com/office/drawing/2014/main" id="{00B3682D-F103-43BD-AF25-403DFB72BA30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656410B-4975-4C54-9F83-85E60438E206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取代反应</a:t>
            </a: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III </a:t>
            </a:r>
            <a:r>
              <a:rPr lang="zh-CN" altLang="en-US" sz="3000" dirty="0">
                <a:sym typeface="Wingdings" pitchFamily="2" charset="2"/>
              </a:rPr>
              <a:t>与氨作用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3000" dirty="0"/>
              <a:t>通式：</a:t>
            </a:r>
            <a:r>
              <a:rPr lang="en-US" altLang="zh-CN" sz="3000" dirty="0"/>
              <a:t>R-X</a:t>
            </a:r>
            <a:r>
              <a:rPr lang="zh-CN" altLang="en-US" sz="3000" dirty="0"/>
              <a:t> </a:t>
            </a:r>
            <a:r>
              <a:rPr lang="en-US" altLang="zh-CN" sz="3000" dirty="0"/>
              <a:t>+ NH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		</a:t>
            </a:r>
            <a:r>
              <a:rPr lang="en-US" altLang="zh-CN" sz="3000" dirty="0">
                <a:sym typeface="Wingdings" pitchFamily="2" charset="2"/>
              </a:rPr>
              <a:t> R-NH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（胺）</a:t>
            </a:r>
            <a:r>
              <a:rPr lang="en-US" altLang="zh-CN" sz="3000" dirty="0">
                <a:sym typeface="Wingdings" pitchFamily="2" charset="2"/>
              </a:rPr>
              <a:t>+ HX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Cl+ NH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		CH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CH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NH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+ HCl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865451-C49A-47C3-9E4B-38FDAD018663}"/>
              </a:ext>
            </a:extLst>
          </p:cNvPr>
          <p:cNvGrpSpPr/>
          <p:nvPr/>
        </p:nvGrpSpPr>
        <p:grpSpPr>
          <a:xfrm>
            <a:off x="3307080" y="2112248"/>
            <a:ext cx="731520" cy="707152"/>
            <a:chOff x="2646977" y="2487295"/>
            <a:chExt cx="857931" cy="707152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E3A619CD-47FF-478E-BC57-8096CAFFA04C}"/>
                </a:ext>
              </a:extLst>
            </p:cNvPr>
            <p:cNvGrpSpPr/>
            <p:nvPr/>
          </p:nvGrpSpPr>
          <p:grpSpPr>
            <a:xfrm>
              <a:off x="2646977" y="2487295"/>
              <a:ext cx="857931" cy="707152"/>
              <a:chOff x="2646977" y="2487295"/>
              <a:chExt cx="857931" cy="70715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DEDF9C4B-F645-42C3-8A8E-22877902F3E0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>
                <a:extLst>
                  <a:ext uri="{FF2B5EF4-FFF2-40B4-BE49-F238E27FC236}">
                    <a16:creationId xmlns:a16="http://schemas.microsoft.com/office/drawing/2014/main" id="{1FD1B1B2-A9EC-43BC-994E-5AAEC013CD35}"/>
                  </a:ext>
                </a:extLst>
              </p:cNvPr>
              <p:cNvSpPr txBox="1"/>
              <p:nvPr/>
            </p:nvSpPr>
            <p:spPr>
              <a:xfrm>
                <a:off x="2646977" y="2487295"/>
                <a:ext cx="8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乙醇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1" name="文本框 6">
                <a:extLst>
                  <a:ext uri="{FF2B5EF4-FFF2-40B4-BE49-F238E27FC236}">
                    <a16:creationId xmlns:a16="http://schemas.microsoft.com/office/drawing/2014/main" id="{7FCBF9D9-85AB-4A15-912E-BA04C59F9E65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44975E0D-ABFA-43E0-BEC0-68B7B76F8C5C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418D0A4-9F3C-4B9B-B39A-3CB4D055FCDD}"/>
              </a:ext>
            </a:extLst>
          </p:cNvPr>
          <p:cNvGrpSpPr/>
          <p:nvPr/>
        </p:nvGrpSpPr>
        <p:grpSpPr>
          <a:xfrm>
            <a:off x="3106241" y="3353921"/>
            <a:ext cx="731520" cy="707152"/>
            <a:chOff x="2646977" y="2487295"/>
            <a:chExt cx="857931" cy="707152"/>
          </a:xfrm>
        </p:grpSpPr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E0424DCB-1A7D-4FED-BF4D-C4F0B2473690}"/>
                </a:ext>
              </a:extLst>
            </p:cNvPr>
            <p:cNvGrpSpPr/>
            <p:nvPr/>
          </p:nvGrpSpPr>
          <p:grpSpPr>
            <a:xfrm>
              <a:off x="2646977" y="2487295"/>
              <a:ext cx="857931" cy="707152"/>
              <a:chOff x="2646977" y="2487295"/>
              <a:chExt cx="857931" cy="707152"/>
            </a:xfrm>
          </p:grpSpPr>
          <p:cxnSp>
            <p:nvCxnSpPr>
              <p:cNvPr id="15" name="直接箭头连接符 1">
                <a:extLst>
                  <a:ext uri="{FF2B5EF4-FFF2-40B4-BE49-F238E27FC236}">
                    <a16:creationId xmlns:a16="http://schemas.microsoft.com/office/drawing/2014/main" id="{B72520B4-D8B1-4240-97C6-A906A6B82F2A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文本框 5">
                <a:extLst>
                  <a:ext uri="{FF2B5EF4-FFF2-40B4-BE49-F238E27FC236}">
                    <a16:creationId xmlns:a16="http://schemas.microsoft.com/office/drawing/2014/main" id="{10E8D400-1773-4A74-B662-C37A27535E79}"/>
                  </a:ext>
                </a:extLst>
              </p:cNvPr>
              <p:cNvSpPr txBox="1"/>
              <p:nvPr/>
            </p:nvSpPr>
            <p:spPr>
              <a:xfrm>
                <a:off x="2646977" y="2487295"/>
                <a:ext cx="8579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乙醇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7" name="文本框 6">
                <a:extLst>
                  <a:ext uri="{FF2B5EF4-FFF2-40B4-BE49-F238E27FC236}">
                    <a16:creationId xmlns:a16="http://schemas.microsoft.com/office/drawing/2014/main" id="{EE15031D-63C0-49A3-9990-3AB3E4658EFD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E156FCFE-F0EE-4E46-BD84-BD8A3F106F6F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与金属作用：</a:t>
            </a:r>
            <a:r>
              <a:rPr lang="en-US" altLang="zh-CN" sz="2800" dirty="0">
                <a:sym typeface="Wingdings" pitchFamily="2" charset="2"/>
              </a:rPr>
              <a:t>I </a:t>
            </a:r>
            <a:r>
              <a:rPr lang="zh-CN" altLang="en-US" sz="2800" dirty="0">
                <a:sym typeface="Wingdings" pitchFamily="2" charset="2"/>
              </a:rPr>
              <a:t>伍尔兹反应</a:t>
            </a:r>
            <a:endParaRPr lang="en-US" altLang="zh-CN" sz="28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通式： </a:t>
            </a:r>
            <a:r>
              <a:rPr lang="en-US" altLang="zh-CN" sz="2800" dirty="0">
                <a:sym typeface="Wingdings" pitchFamily="2" charset="2"/>
              </a:rPr>
              <a:t>2 R-X + 2Na           R-R + 2NaX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I + 2 Na          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 + 2 </a:t>
            </a:r>
            <a:r>
              <a:rPr lang="en-US" altLang="zh-CN" sz="2800" dirty="0" err="1">
                <a:sym typeface="Wingdings" pitchFamily="2" charset="2"/>
              </a:rPr>
              <a:t>NaI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800" b="1" dirty="0">
                <a:sym typeface="Wingdings" pitchFamily="2" charset="2"/>
              </a:rPr>
              <a:t>通式：</a:t>
            </a:r>
            <a:r>
              <a:rPr lang="en-US" altLang="zh-CN" sz="2800" b="1" dirty="0">
                <a:sym typeface="Wingdings" pitchFamily="2" charset="2"/>
              </a:rPr>
              <a:t>3 R-X + 3 R</a:t>
            </a:r>
            <a:r>
              <a:rPr lang="en-US" altLang="zh-CN" sz="2800" b="1" baseline="30000" dirty="0">
                <a:sym typeface="Wingdings" pitchFamily="2" charset="2"/>
              </a:rPr>
              <a:t>’</a:t>
            </a:r>
            <a:r>
              <a:rPr lang="en-US" altLang="zh-CN" sz="2800" b="1" dirty="0">
                <a:sym typeface="Wingdings" pitchFamily="2" charset="2"/>
              </a:rPr>
              <a:t>-X + 6Na 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 dirty="0">
                <a:sym typeface="Wingdings" pitchFamily="2" charset="2"/>
              </a:rPr>
              <a:t>				R-R + R</a:t>
            </a:r>
            <a:r>
              <a:rPr lang="en-US" altLang="zh-CN" sz="2800" b="1" baseline="30000" dirty="0">
                <a:sym typeface="Wingdings" pitchFamily="2" charset="2"/>
              </a:rPr>
              <a:t>’</a:t>
            </a:r>
            <a:r>
              <a:rPr lang="en-US" altLang="zh-CN" sz="2800" b="1" dirty="0">
                <a:sym typeface="Wingdings" pitchFamily="2" charset="2"/>
              </a:rPr>
              <a:t>-R</a:t>
            </a:r>
            <a:r>
              <a:rPr lang="en-US" altLang="zh-CN" sz="2800" b="1" baseline="30000" dirty="0">
                <a:sym typeface="Wingdings" pitchFamily="2" charset="2"/>
              </a:rPr>
              <a:t>’</a:t>
            </a:r>
            <a:r>
              <a:rPr lang="en-US" altLang="zh-CN" sz="2800" b="1" dirty="0">
                <a:sym typeface="Wingdings" pitchFamily="2" charset="2"/>
              </a:rPr>
              <a:t> + R-R</a:t>
            </a:r>
            <a:r>
              <a:rPr lang="en-US" altLang="zh-CN" sz="2800" b="1" baseline="30000" dirty="0">
                <a:sym typeface="Wingdings" pitchFamily="2" charset="2"/>
              </a:rPr>
              <a:t>’</a:t>
            </a:r>
            <a:r>
              <a:rPr lang="en-US" altLang="zh-CN" sz="2800" b="1" dirty="0">
                <a:sym typeface="Wingdings" pitchFamily="2" charset="2"/>
              </a:rPr>
              <a:t> + 6NaX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 dirty="0">
                <a:sym typeface="Wingdings" pitchFamily="2" charset="2"/>
              </a:rPr>
              <a:t>3 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Cl + 3 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r>
              <a:rPr lang="en-US" altLang="zh-CN" sz="2800" b="1" dirty="0">
                <a:sym typeface="Wingdings" pitchFamily="2" charset="2"/>
              </a:rPr>
              <a:t>Cl + 6Na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 dirty="0">
                <a:sym typeface="Wingdings" pitchFamily="2" charset="2"/>
              </a:rPr>
              <a:t>		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 + 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 + 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2</a:t>
            </a:r>
            <a:r>
              <a:rPr lang="en-US" altLang="zh-CN" sz="2800" b="1" dirty="0">
                <a:sym typeface="Wingdings" pitchFamily="2" charset="2"/>
              </a:rPr>
              <a:t>CH</a:t>
            </a:r>
            <a:r>
              <a:rPr lang="en-US" altLang="zh-CN" sz="2800" b="1" baseline="-25000" dirty="0">
                <a:sym typeface="Wingdings" pitchFamily="2" charset="2"/>
              </a:rPr>
              <a:t>3</a:t>
            </a:r>
            <a:r>
              <a:rPr lang="en-US" altLang="zh-CN" sz="2800" b="1" dirty="0">
                <a:sym typeface="Wingdings" pitchFamily="2" charset="2"/>
              </a:rPr>
              <a:t> + 6 NaCl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1. </a:t>
            </a:r>
            <a:r>
              <a:rPr lang="zh-CN" altLang="en-US" sz="2800" dirty="0">
                <a:sym typeface="Wingdings" pitchFamily="2" charset="2"/>
              </a:rPr>
              <a:t>如何将乙烷制成丁烷？写出相关的化学方程式。</a:t>
            </a:r>
            <a:endParaRPr lang="en-US" altLang="zh-CN" sz="28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800" dirty="0">
                <a:sym typeface="Wingdings" pitchFamily="2" charset="2"/>
              </a:rPr>
              <a:t>提示：乙烷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氯乙烷</a:t>
            </a:r>
            <a:r>
              <a:rPr lang="en-US" altLang="zh-CN" sz="2800" dirty="0">
                <a:sym typeface="Wingdings" pitchFamily="2" charset="2"/>
              </a:rPr>
              <a:t></a:t>
            </a:r>
            <a:r>
              <a:rPr lang="zh-CN" altLang="en-US" sz="2800" dirty="0">
                <a:sym typeface="Wingdings" pitchFamily="2" charset="2"/>
              </a:rPr>
              <a:t>丁烷</a:t>
            </a:r>
            <a:r>
              <a:rPr lang="en-US" altLang="zh-CN" sz="2800" dirty="0">
                <a:sym typeface="Wingdings" pitchFamily="2" charset="2"/>
              </a:rPr>
              <a:t>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dirty="0">
                <a:sym typeface="Wingdings" pitchFamily="2" charset="2"/>
              </a:rPr>
              <a:t>2. 2-</a:t>
            </a:r>
            <a:r>
              <a:rPr lang="zh-CN" altLang="en-US" sz="2800" dirty="0">
                <a:sym typeface="Wingdings" pitchFamily="2" charset="2"/>
              </a:rPr>
              <a:t>氯丙烷与</a:t>
            </a:r>
            <a:r>
              <a:rPr lang="en-US" altLang="zh-CN" sz="2800" dirty="0">
                <a:sym typeface="Wingdings" pitchFamily="2" charset="2"/>
              </a:rPr>
              <a:t>CH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Cl</a:t>
            </a:r>
            <a:r>
              <a:rPr lang="zh-CN" altLang="en-US" sz="2800" dirty="0">
                <a:sym typeface="Wingdings" pitchFamily="2" charset="2"/>
              </a:rPr>
              <a:t>经伍尔兹反应后的生成物有哪些？</a:t>
            </a:r>
            <a:endParaRPr lang="en-US" altLang="zh-CN" sz="28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dirty="0" err="1"/>
              <a:t>Ans</a:t>
            </a:r>
            <a:r>
              <a:rPr lang="en-US" altLang="zh-CN" sz="2800" dirty="0"/>
              <a:t>: </a:t>
            </a:r>
            <a:r>
              <a:rPr lang="zh-CN" altLang="en-US" sz="2800" dirty="0"/>
              <a:t>乙烷，</a:t>
            </a:r>
            <a:r>
              <a:rPr lang="en-US" altLang="zh-CN" sz="2800" dirty="0"/>
              <a:t>2-</a:t>
            </a:r>
            <a:r>
              <a:rPr lang="zh-CN" altLang="en-US" sz="2800" dirty="0"/>
              <a:t>甲基丙烷，</a:t>
            </a:r>
            <a:r>
              <a:rPr lang="en-US" altLang="zh-CN" sz="2800" dirty="0"/>
              <a:t>2,3-</a:t>
            </a:r>
            <a:r>
              <a:rPr lang="zh-CN" altLang="en-US" sz="2800" dirty="0"/>
              <a:t>二甲基丁烷</a:t>
            </a:r>
            <a:endParaRPr lang="en-US" altLang="zh-CN" sz="2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1F46E9-E80F-4623-9455-715E7FA82EF2}"/>
              </a:ext>
            </a:extLst>
          </p:cNvPr>
          <p:cNvGrpSpPr/>
          <p:nvPr/>
        </p:nvGrpSpPr>
        <p:grpSpPr>
          <a:xfrm>
            <a:off x="3429000" y="1535669"/>
            <a:ext cx="583217" cy="216951"/>
            <a:chOff x="2720816" y="2596515"/>
            <a:chExt cx="684000" cy="248637"/>
          </a:xfrm>
        </p:grpSpPr>
        <p:cxnSp>
          <p:nvCxnSpPr>
            <p:cNvPr id="9" name="直接箭头连接符 1">
              <a:extLst>
                <a:ext uri="{FF2B5EF4-FFF2-40B4-BE49-F238E27FC236}">
                  <a16:creationId xmlns:a16="http://schemas.microsoft.com/office/drawing/2014/main" id="{0B895C84-419A-42FE-A10C-A4E9091312F8}"/>
                </a:ext>
              </a:extLst>
            </p:cNvPr>
            <p:cNvCxnSpPr/>
            <p:nvPr/>
          </p:nvCxnSpPr>
          <p:spPr>
            <a:xfrm>
              <a:off x="2720816" y="2845152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8831952-2234-4A05-BA24-B03A11BF089B}"/>
                </a:ext>
              </a:extLst>
            </p:cNvPr>
            <p:cNvSpPr/>
            <p:nvPr/>
          </p:nvSpPr>
          <p:spPr>
            <a:xfrm>
              <a:off x="2974848" y="259651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2EFAEB-A14E-4017-806A-ECCC192CFAB6}"/>
              </a:ext>
            </a:extLst>
          </p:cNvPr>
          <p:cNvGrpSpPr/>
          <p:nvPr/>
        </p:nvGrpSpPr>
        <p:grpSpPr>
          <a:xfrm>
            <a:off x="2895600" y="2069049"/>
            <a:ext cx="583217" cy="216951"/>
            <a:chOff x="2720816" y="2596515"/>
            <a:chExt cx="684000" cy="248637"/>
          </a:xfrm>
        </p:grpSpPr>
        <p:cxnSp>
          <p:nvCxnSpPr>
            <p:cNvPr id="12" name="直接箭头连接符 1">
              <a:extLst>
                <a:ext uri="{FF2B5EF4-FFF2-40B4-BE49-F238E27FC236}">
                  <a16:creationId xmlns:a16="http://schemas.microsoft.com/office/drawing/2014/main" id="{69E8D104-ABD3-4514-8CE5-640063E9043C}"/>
                </a:ext>
              </a:extLst>
            </p:cNvPr>
            <p:cNvCxnSpPr/>
            <p:nvPr/>
          </p:nvCxnSpPr>
          <p:spPr>
            <a:xfrm>
              <a:off x="2720816" y="2845152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585717C-54C1-4B51-A871-EE267515518D}"/>
                </a:ext>
              </a:extLst>
            </p:cNvPr>
            <p:cNvSpPr/>
            <p:nvPr/>
          </p:nvSpPr>
          <p:spPr>
            <a:xfrm>
              <a:off x="2974848" y="259651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2E89B8-13B1-4B32-8566-AD2358C14CEC}"/>
              </a:ext>
            </a:extLst>
          </p:cNvPr>
          <p:cNvGrpSpPr/>
          <p:nvPr/>
        </p:nvGrpSpPr>
        <p:grpSpPr>
          <a:xfrm>
            <a:off x="4572000" y="2590800"/>
            <a:ext cx="583217" cy="216951"/>
            <a:chOff x="2720816" y="2596515"/>
            <a:chExt cx="684000" cy="248637"/>
          </a:xfrm>
        </p:grpSpPr>
        <p:cxnSp>
          <p:nvCxnSpPr>
            <p:cNvPr id="15" name="直接箭头连接符 1">
              <a:extLst>
                <a:ext uri="{FF2B5EF4-FFF2-40B4-BE49-F238E27FC236}">
                  <a16:creationId xmlns:a16="http://schemas.microsoft.com/office/drawing/2014/main" id="{E0BB44CB-0D89-49B8-8A58-BA784A91DDE6}"/>
                </a:ext>
              </a:extLst>
            </p:cNvPr>
            <p:cNvCxnSpPr/>
            <p:nvPr/>
          </p:nvCxnSpPr>
          <p:spPr>
            <a:xfrm>
              <a:off x="2720816" y="2845152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E1691939-8FDA-438A-BF24-2EA53D335DCD}"/>
                </a:ext>
              </a:extLst>
            </p:cNvPr>
            <p:cNvSpPr/>
            <p:nvPr/>
          </p:nvSpPr>
          <p:spPr>
            <a:xfrm>
              <a:off x="2974848" y="259651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F3F8EC-045F-460A-9AF8-BA3AD7D46671}"/>
              </a:ext>
            </a:extLst>
          </p:cNvPr>
          <p:cNvGrpSpPr/>
          <p:nvPr/>
        </p:nvGrpSpPr>
        <p:grpSpPr>
          <a:xfrm>
            <a:off x="4476283" y="3524023"/>
            <a:ext cx="583217" cy="216951"/>
            <a:chOff x="2720816" y="2596515"/>
            <a:chExt cx="684000" cy="248637"/>
          </a:xfrm>
        </p:grpSpPr>
        <p:cxnSp>
          <p:nvCxnSpPr>
            <p:cNvPr id="18" name="直接箭头连接符 1">
              <a:extLst>
                <a:ext uri="{FF2B5EF4-FFF2-40B4-BE49-F238E27FC236}">
                  <a16:creationId xmlns:a16="http://schemas.microsoft.com/office/drawing/2014/main" id="{E0CDC8B6-03B8-4AB8-B46A-7A349E0C2A6B}"/>
                </a:ext>
              </a:extLst>
            </p:cNvPr>
            <p:cNvCxnSpPr/>
            <p:nvPr/>
          </p:nvCxnSpPr>
          <p:spPr>
            <a:xfrm>
              <a:off x="2720816" y="2845152"/>
              <a:ext cx="684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8FD71B0-35EA-499A-9619-1C972495394B}"/>
                </a:ext>
              </a:extLst>
            </p:cNvPr>
            <p:cNvSpPr/>
            <p:nvPr/>
          </p:nvSpPr>
          <p:spPr>
            <a:xfrm>
              <a:off x="2974848" y="2596515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与金属作用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II </a:t>
            </a:r>
            <a:r>
              <a:rPr lang="zh-CN" altLang="en-US" sz="3000" dirty="0">
                <a:sym typeface="Wingdings" pitchFamily="2" charset="2"/>
              </a:rPr>
              <a:t>与镁的作用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 R-X  + Mg 	       R-Mg-X (</a:t>
            </a:r>
            <a:r>
              <a:rPr lang="zh-CN" altLang="en-US" sz="3000" dirty="0">
                <a:sym typeface="Wingdings" pitchFamily="2" charset="2"/>
              </a:rPr>
              <a:t>格氏试剂，性质活泼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R-Mg-X +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 R-H + </a:t>
            </a:r>
            <a:r>
              <a:rPr lang="en-US" altLang="zh-CN" sz="3000" dirty="0" err="1">
                <a:sym typeface="Wingdings" pitchFamily="2" charset="2"/>
              </a:rPr>
              <a:t>MgOHX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zh-CN" altLang="en-US" sz="3000" dirty="0">
                <a:sym typeface="Wingdings" pitchFamily="2" charset="2"/>
              </a:rPr>
              <a:t>碱式盐</a:t>
            </a:r>
            <a:r>
              <a:rPr lang="en-US" altLang="zh-CN" sz="3000" dirty="0">
                <a:sym typeface="Wingdings" pitchFamily="2" charset="2"/>
              </a:rPr>
              <a:t>)</a:t>
            </a:r>
          </a:p>
          <a:p>
            <a:pPr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R-Mg-X +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  </a:t>
            </a:r>
          </a:p>
          <a:p>
            <a:pPr>
              <a:lnSpc>
                <a:spcPct val="200000"/>
              </a:lnSpc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			         +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				+ </a:t>
            </a:r>
            <a:r>
              <a:rPr lang="en-US" altLang="zh-CN" sz="3000" dirty="0" err="1">
                <a:sym typeface="Wingdings" pitchFamily="2" charset="2"/>
              </a:rPr>
              <a:t>MgOHX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通式：格氏试剂  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+ H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O /NH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3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 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烷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格氏试剂  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+ CO</a:t>
            </a:r>
            <a:r>
              <a:rPr lang="en-US" altLang="zh-CN" sz="3000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 			 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羧酸</a:t>
            </a:r>
            <a:endParaRPr lang="en-US" altLang="zh-CN" sz="3000" b="1" dirty="0">
              <a:solidFill>
                <a:srgbClr val="002060"/>
              </a:solidFill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MY" altLang="zh-CN" sz="3000" b="1" dirty="0">
                <a:solidFill>
                  <a:srgbClr val="002060"/>
                </a:solidFill>
                <a:sym typeface="Wingdings" pitchFamily="2" charset="2"/>
              </a:rPr>
              <a:t>		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格氏试剂  </a:t>
            </a:r>
            <a:r>
              <a:rPr lang="en-US" altLang="zh-CN" sz="3000" b="1" dirty="0">
                <a:solidFill>
                  <a:srgbClr val="002060"/>
                </a:solidFill>
                <a:sym typeface="Wingdings" pitchFamily="2" charset="2"/>
              </a:rPr>
              <a:t>+ </a:t>
            </a:r>
            <a:r>
              <a:rPr lang="zh-CN" altLang="en-US" sz="3000" b="1" dirty="0">
                <a:solidFill>
                  <a:srgbClr val="002060"/>
                </a:solidFill>
                <a:sym typeface="Wingdings" pitchFamily="2" charset="2"/>
              </a:rPr>
              <a:t>甲醛 </a:t>
            </a:r>
            <a:r>
              <a:rPr lang="en-US" altLang="zh-CN" sz="3000" b="1" dirty="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zh-CN" altLang="en-US" sz="3000" b="1" dirty="0">
                <a:solidFill>
                  <a:srgbClr val="002060"/>
                </a:solidFill>
                <a:sym typeface="Wingdings" panose="05000000000000000000" pitchFamily="2" charset="2"/>
              </a:rPr>
              <a:t>一级醇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5" name="Group 47"/>
          <p:cNvGrpSpPr/>
          <p:nvPr/>
        </p:nvGrpSpPr>
        <p:grpSpPr>
          <a:xfrm>
            <a:off x="2011680" y="2057400"/>
            <a:ext cx="731520" cy="307777"/>
            <a:chOff x="2819400" y="5940623"/>
            <a:chExt cx="731520" cy="30777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乙醚</a:t>
              </a:r>
              <a:endParaRPr lang="en-US" sz="1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505200" y="3047999"/>
            <a:ext cx="2438400" cy="1007304"/>
            <a:chOff x="5562600" y="1798537"/>
            <a:chExt cx="2438400" cy="1083211"/>
          </a:xfrm>
        </p:grpSpPr>
        <p:sp>
          <p:nvSpPr>
            <p:cNvPr id="10" name="Rectangle 9"/>
            <p:cNvSpPr/>
            <p:nvPr/>
          </p:nvSpPr>
          <p:spPr>
            <a:xfrm>
              <a:off x="5562600" y="2286002"/>
              <a:ext cx="2438400" cy="59574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R—C—</a:t>
              </a:r>
              <a:r>
                <a:rPr lang="en-US" altLang="zh-CN" sz="3000" dirty="0" err="1"/>
                <a:t>OMgX</a:t>
              </a:r>
              <a:r>
                <a:rPr lang="en-US" altLang="zh-CN" sz="3000" dirty="0"/>
                <a:t> </a:t>
              </a:r>
            </a:p>
          </p:txBody>
        </p:sp>
        <p:pic>
          <p:nvPicPr>
            <p:cNvPr id="11" name="Picture 10" descr="pg95.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5638800" y="1798537"/>
              <a:ext cx="1371600" cy="609600"/>
            </a:xfrm>
            <a:prstGeom prst="rect">
              <a:avLst/>
            </a:prstGeom>
          </p:spPr>
        </p:pic>
      </p:grpSp>
      <p:grpSp>
        <p:nvGrpSpPr>
          <p:cNvPr id="12" name="Group 11"/>
          <p:cNvGrpSpPr/>
          <p:nvPr/>
        </p:nvGrpSpPr>
        <p:grpSpPr>
          <a:xfrm>
            <a:off x="457200" y="4098096"/>
            <a:ext cx="2438400" cy="1007304"/>
            <a:chOff x="5562600" y="1798537"/>
            <a:chExt cx="2438400" cy="1083211"/>
          </a:xfrm>
        </p:grpSpPr>
        <p:sp>
          <p:nvSpPr>
            <p:cNvPr id="13" name="Rectangle 12"/>
            <p:cNvSpPr/>
            <p:nvPr/>
          </p:nvSpPr>
          <p:spPr>
            <a:xfrm>
              <a:off x="5562600" y="2286002"/>
              <a:ext cx="2438400" cy="59574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R—C—</a:t>
              </a:r>
              <a:r>
                <a:rPr lang="en-US" altLang="zh-CN" sz="3000" dirty="0" err="1"/>
                <a:t>OMgX</a:t>
              </a:r>
              <a:r>
                <a:rPr lang="en-US" altLang="zh-CN" sz="3000" dirty="0"/>
                <a:t> </a:t>
              </a:r>
            </a:p>
          </p:txBody>
        </p:sp>
        <p:pic>
          <p:nvPicPr>
            <p:cNvPr id="14" name="Picture 13" descr="pg95.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5638800" y="1798537"/>
              <a:ext cx="1371600" cy="609600"/>
            </a:xfrm>
            <a:prstGeom prst="rect">
              <a:avLst/>
            </a:prstGeom>
          </p:spPr>
        </p:pic>
      </p:grpSp>
      <p:grpSp>
        <p:nvGrpSpPr>
          <p:cNvPr id="15" name="Group 47"/>
          <p:cNvGrpSpPr/>
          <p:nvPr/>
        </p:nvGrpSpPr>
        <p:grpSpPr>
          <a:xfrm>
            <a:off x="2514600" y="3429000"/>
            <a:ext cx="902811" cy="307777"/>
            <a:chOff x="2667000" y="5940623"/>
            <a:chExt cx="902811" cy="307777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2667000" y="594062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干燥乙醚</a:t>
              </a:r>
              <a:endParaRPr lang="en-US" sz="1400" dirty="0"/>
            </a:p>
          </p:txBody>
        </p:sp>
      </p:grpSp>
      <p:grpSp>
        <p:nvGrpSpPr>
          <p:cNvPr id="18" name="Group 47"/>
          <p:cNvGrpSpPr/>
          <p:nvPr/>
        </p:nvGrpSpPr>
        <p:grpSpPr>
          <a:xfrm>
            <a:off x="4038600" y="4473714"/>
            <a:ext cx="773827" cy="707886"/>
            <a:chOff x="2819400" y="5918537"/>
            <a:chExt cx="773827" cy="707886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895600" y="591853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  H</a:t>
              </a:r>
              <a:r>
                <a:rPr lang="en-US" sz="2000" b="1" baseline="30000" dirty="0"/>
                <a:t>+</a:t>
              </a:r>
              <a:r>
                <a:rPr lang="en-US" sz="2000" b="1" dirty="0"/>
                <a:t> </a:t>
              </a:r>
            </a:p>
            <a:p>
              <a:r>
                <a:rPr lang="zh-CN" altLang="en-US" sz="2000" b="1" dirty="0"/>
                <a:t>水解</a:t>
              </a:r>
              <a:endParaRPr lang="en-US" sz="2000" b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76800" y="4114800"/>
            <a:ext cx="1828800" cy="1007303"/>
            <a:chOff x="5562600" y="1798537"/>
            <a:chExt cx="1828800" cy="1083210"/>
          </a:xfrm>
        </p:grpSpPr>
        <p:sp>
          <p:nvSpPr>
            <p:cNvPr id="22" name="Rectangle 21"/>
            <p:cNvSpPr/>
            <p:nvPr/>
          </p:nvSpPr>
          <p:spPr>
            <a:xfrm>
              <a:off x="5562600" y="2286000"/>
              <a:ext cx="1828800" cy="59574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3000" dirty="0"/>
                <a:t>R—C—OH</a:t>
              </a:r>
              <a:r>
                <a:rPr lang="en-US" altLang="zh-CN" sz="3000" dirty="0">
                  <a:solidFill>
                    <a:srgbClr val="002060"/>
                  </a:solidFill>
                </a:rPr>
                <a:t> </a:t>
              </a:r>
            </a:p>
          </p:txBody>
        </p:sp>
        <p:pic>
          <p:nvPicPr>
            <p:cNvPr id="23" name="Picture 22" descr="pg95.4.pn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5638800" y="1798537"/>
              <a:ext cx="1371600" cy="609600"/>
            </a:xfrm>
            <a:prstGeom prst="rect">
              <a:avLst/>
            </a:prstGeom>
          </p:spPr>
        </p:pic>
      </p:grpSp>
      <p:grpSp>
        <p:nvGrpSpPr>
          <p:cNvPr id="34" name="Group 47"/>
          <p:cNvGrpSpPr/>
          <p:nvPr/>
        </p:nvGrpSpPr>
        <p:grpSpPr>
          <a:xfrm>
            <a:off x="3821589" y="5638800"/>
            <a:ext cx="902811" cy="307777"/>
            <a:chOff x="2667000" y="5940623"/>
            <a:chExt cx="902811" cy="307777"/>
          </a:xfrm>
        </p:grpSpPr>
        <p:cxnSp>
          <p:nvCxnSpPr>
            <p:cNvPr id="35" name="Straight Arrow Connector 34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667000" y="594062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002060"/>
                  </a:solidFill>
                </a:rPr>
                <a:t>干燥乙醚</a:t>
              </a:r>
              <a:endParaRPr lang="en-US" sz="14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37" name="Group 47"/>
          <p:cNvGrpSpPr/>
          <p:nvPr/>
        </p:nvGrpSpPr>
        <p:grpSpPr>
          <a:xfrm>
            <a:off x="4800600" y="5616714"/>
            <a:ext cx="795893" cy="707886"/>
            <a:chOff x="2755027" y="5918537"/>
            <a:chExt cx="795893" cy="707886"/>
          </a:xfrm>
        </p:grpSpPr>
        <p:cxnSp>
          <p:nvCxnSpPr>
            <p:cNvPr id="38" name="Straight Arrow Connector 37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755027" y="5918537"/>
              <a:ext cx="7922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+ H</a:t>
              </a:r>
              <a:r>
                <a:rPr lang="en-US" sz="2000" b="1" baseline="-25000" dirty="0">
                  <a:solidFill>
                    <a:srgbClr val="002060"/>
                  </a:solidFill>
                </a:rPr>
                <a:t>2</a:t>
              </a:r>
              <a:r>
                <a:rPr lang="en-US" sz="2000" b="1" dirty="0">
                  <a:solidFill>
                    <a:srgbClr val="002060"/>
                  </a:solidFill>
                </a:rPr>
                <a:t>O</a:t>
              </a:r>
            </a:p>
            <a:p>
              <a:r>
                <a:rPr lang="en-US" sz="2000" b="1" dirty="0">
                  <a:solidFill>
                    <a:srgbClr val="002060"/>
                  </a:solidFill>
                </a:rPr>
                <a:t>   H</a:t>
              </a:r>
              <a:r>
                <a:rPr lang="en-US" sz="2000" b="1" baseline="30000" dirty="0">
                  <a:solidFill>
                    <a:srgbClr val="002060"/>
                  </a:solidFill>
                </a:rPr>
                <a:t>+</a:t>
              </a:r>
              <a:endParaRPr lang="en-US" sz="20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31.3 </a:t>
            </a:r>
            <a:r>
              <a:rPr lang="zh-CN" altLang="en-US" sz="4000" b="1" dirty="0">
                <a:latin typeface="+mn-ea"/>
              </a:rPr>
              <a:t>卤代烷的化学性质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卤代烷中卤素的检验</a:t>
            </a:r>
            <a:endParaRPr lang="en-MY" altLang="zh-CN" sz="30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3000" dirty="0">
                <a:sym typeface="Wingdings" pitchFamily="2" charset="2"/>
              </a:rPr>
              <a:t>加入</a:t>
            </a:r>
            <a:r>
              <a:rPr lang="en-US" altLang="zh-CN" sz="3000" dirty="0">
                <a:sym typeface="Wingdings" pitchFamily="2" charset="2"/>
              </a:rPr>
              <a:t>NaOH</a:t>
            </a:r>
            <a:r>
              <a:rPr lang="zh-CN" altLang="en-US" sz="3000" dirty="0">
                <a:sym typeface="Wingdings" pitchFamily="2" charset="2"/>
              </a:rPr>
              <a:t>的水溶液共热：使卤原子变卤离子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>
                <a:sym typeface="Wingdings" pitchFamily="2" charset="2"/>
              </a:rPr>
              <a:t>	</a:t>
            </a:r>
            <a:r>
              <a:rPr lang="en-US" altLang="zh-CN" sz="3000" dirty="0">
                <a:sym typeface="Wingdings" pitchFamily="2" charset="2"/>
              </a:rPr>
              <a:t>R-X + NaOH	          R-OH + </a:t>
            </a:r>
            <a:r>
              <a:rPr lang="en-US" altLang="zh-CN" sz="3000" dirty="0" err="1">
                <a:sym typeface="Wingdings" pitchFamily="2" charset="2"/>
              </a:rPr>
              <a:t>NaX</a:t>
            </a:r>
            <a:r>
              <a:rPr lang="en-US" altLang="zh-CN" sz="3000" dirty="0"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1200"/>
              </a:spcBef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加入稀硝酸使溶液酸化</a:t>
            </a:r>
            <a:endParaRPr lang="en-MY" altLang="zh-CN" sz="3000" dirty="0">
              <a:sym typeface="Wingdings" pitchFamily="2" charset="2"/>
            </a:endParaRPr>
          </a:p>
          <a:p>
            <a:pPr marL="514350" indent="-514350">
              <a:spcBef>
                <a:spcPts val="1200"/>
              </a:spcBef>
              <a:buAutoNum type="arabicPeriod" startAt="2"/>
            </a:pPr>
            <a:r>
              <a:rPr lang="zh-CN" altLang="en-US" sz="3000" dirty="0">
                <a:sym typeface="Wingdings" pitchFamily="2" charset="2"/>
              </a:rPr>
              <a:t>加入</a:t>
            </a:r>
            <a:r>
              <a:rPr lang="en-US" altLang="zh-CN" sz="3000" dirty="0">
                <a:sym typeface="Wingdings" pitchFamily="2" charset="2"/>
              </a:rPr>
              <a:t>AgNO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溶液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判断：白色沉淀</a:t>
            </a:r>
            <a:r>
              <a:rPr lang="en-US" altLang="zh-CN" sz="3000" dirty="0">
                <a:sym typeface="Wingdings" pitchFamily="2" charset="2"/>
              </a:rPr>
              <a:t>AgCl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– </a:t>
            </a:r>
            <a:r>
              <a:rPr lang="zh-CN" altLang="en-US" sz="3000" dirty="0">
                <a:sym typeface="Wingdings" pitchFamily="2" charset="2"/>
              </a:rPr>
              <a:t>氯代烃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>
                <a:sym typeface="Wingdings" pitchFamily="2" charset="2"/>
              </a:rPr>
              <a:t>	   </a:t>
            </a:r>
            <a:r>
              <a:rPr lang="zh-CN" altLang="en-US" sz="3000" dirty="0">
                <a:sym typeface="Wingdings" pitchFamily="2" charset="2"/>
              </a:rPr>
              <a:t>淡黄色沉淀</a:t>
            </a:r>
            <a:r>
              <a:rPr lang="en-US" altLang="zh-CN" sz="3000" dirty="0" err="1">
                <a:sym typeface="Wingdings" pitchFamily="2" charset="2"/>
              </a:rPr>
              <a:t>AgBr</a:t>
            </a:r>
            <a:r>
              <a:rPr lang="en-US" altLang="zh-CN" sz="3000" dirty="0">
                <a:sym typeface="Wingdings" pitchFamily="2" charset="2"/>
              </a:rPr>
              <a:t> – </a:t>
            </a:r>
            <a:r>
              <a:rPr lang="zh-CN" altLang="en-US" sz="3000" dirty="0">
                <a:sym typeface="Wingdings" pitchFamily="2" charset="2"/>
              </a:rPr>
              <a:t>溴代烃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>
                <a:sym typeface="Wingdings" pitchFamily="2" charset="2"/>
              </a:rPr>
              <a:t>	   </a:t>
            </a:r>
            <a:r>
              <a:rPr lang="zh-CN" altLang="en-US" sz="3000" dirty="0">
                <a:sym typeface="Wingdings" pitchFamily="2" charset="2"/>
              </a:rPr>
              <a:t>黄色沉淀</a:t>
            </a:r>
            <a:r>
              <a:rPr lang="en-US" altLang="zh-CN" sz="3000" dirty="0" err="1">
                <a:sym typeface="Wingdings" pitchFamily="2" charset="2"/>
              </a:rPr>
              <a:t>AgI</a:t>
            </a:r>
            <a:r>
              <a:rPr lang="zh-CN" altLang="en-US" sz="3000" dirty="0">
                <a:sym typeface="Wingdings" pitchFamily="2" charset="2"/>
              </a:rPr>
              <a:t> </a:t>
            </a:r>
            <a:r>
              <a:rPr lang="en-US" altLang="zh-CN" sz="3000" dirty="0">
                <a:sym typeface="Wingdings" pitchFamily="2" charset="2"/>
              </a:rPr>
              <a:t>– </a:t>
            </a:r>
            <a:r>
              <a:rPr lang="zh-CN" altLang="en-US" sz="3000" dirty="0">
                <a:sym typeface="Wingdings" pitchFamily="2" charset="2"/>
              </a:rPr>
              <a:t>碘代烃</a:t>
            </a: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CFF557-F990-45D1-840F-122986244FEC}"/>
              </a:ext>
            </a:extLst>
          </p:cNvPr>
          <p:cNvGrpSpPr/>
          <p:nvPr/>
        </p:nvGrpSpPr>
        <p:grpSpPr>
          <a:xfrm>
            <a:off x="3276600" y="2163777"/>
            <a:ext cx="583217" cy="707152"/>
            <a:chOff x="2720816" y="2487295"/>
            <a:chExt cx="684000" cy="707152"/>
          </a:xfrm>
        </p:grpSpPr>
        <p:grpSp>
          <p:nvGrpSpPr>
            <p:cNvPr id="19" name="Group 10">
              <a:extLst>
                <a:ext uri="{FF2B5EF4-FFF2-40B4-BE49-F238E27FC236}">
                  <a16:creationId xmlns:a16="http://schemas.microsoft.com/office/drawing/2014/main" id="{B502A574-9AA6-42F6-8C12-32B390C39E9B}"/>
                </a:ext>
              </a:extLst>
            </p:cNvPr>
            <p:cNvGrpSpPr/>
            <p:nvPr/>
          </p:nvGrpSpPr>
          <p:grpSpPr>
            <a:xfrm>
              <a:off x="2720816" y="2487295"/>
              <a:ext cx="684000" cy="707152"/>
              <a:chOff x="2720816" y="2487295"/>
              <a:chExt cx="684000" cy="707152"/>
            </a:xfrm>
          </p:grpSpPr>
          <p:cxnSp>
            <p:nvCxnSpPr>
              <p:cNvPr id="21" name="直接箭头连接符 1">
                <a:extLst>
                  <a:ext uri="{FF2B5EF4-FFF2-40B4-BE49-F238E27FC236}">
                    <a16:creationId xmlns:a16="http://schemas.microsoft.com/office/drawing/2014/main" id="{62F64DCD-73DD-4352-884D-ABE8787A5789}"/>
                  </a:ext>
                </a:extLst>
              </p:cNvPr>
              <p:cNvCxnSpPr/>
              <p:nvPr/>
            </p:nvCxnSpPr>
            <p:spPr>
              <a:xfrm>
                <a:off x="2720816" y="2845152"/>
                <a:ext cx="6840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文本框 5">
                <a:extLst>
                  <a:ext uri="{FF2B5EF4-FFF2-40B4-BE49-F238E27FC236}">
                    <a16:creationId xmlns:a16="http://schemas.microsoft.com/office/drawing/2014/main" id="{9C21CAD5-00B0-4C9C-8F5C-161D25C0D019}"/>
                  </a:ext>
                </a:extLst>
              </p:cNvPr>
              <p:cNvSpPr txBox="1"/>
              <p:nvPr/>
            </p:nvSpPr>
            <p:spPr>
              <a:xfrm>
                <a:off x="2873216" y="2487295"/>
                <a:ext cx="3961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水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23" name="文本框 6">
                <a:extLst>
                  <a:ext uri="{FF2B5EF4-FFF2-40B4-BE49-F238E27FC236}">
                    <a16:creationId xmlns:a16="http://schemas.microsoft.com/office/drawing/2014/main" id="{B262FCBC-0E2E-4D67-B4B0-D18508B39EAD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529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67F142B3-9BD6-4A79-B38B-59D883145F0A}"/>
                </a:ext>
              </a:extLst>
            </p:cNvPr>
            <p:cNvSpPr/>
            <p:nvPr/>
          </p:nvSpPr>
          <p:spPr>
            <a:xfrm>
              <a:off x="2974848" y="2926080"/>
              <a:ext cx="170688" cy="182880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1362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31c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AutoNum type="arabicPeriod"/>
            </a:pPr>
            <a:r>
              <a:rPr lang="en-US" altLang="zh-CN" sz="3000" dirty="0"/>
              <a:t>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与</a:t>
            </a:r>
            <a:r>
              <a:rPr lang="en-US" altLang="zh-CN" sz="3000" dirty="0"/>
              <a:t>NaOH</a:t>
            </a:r>
            <a:r>
              <a:rPr lang="zh-CN" altLang="en-US" sz="3000" dirty="0"/>
              <a:t>的醇溶液共热生成烯烃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    </a:t>
            </a:r>
            <a:r>
              <a:rPr lang="zh-CN" altLang="en-US" sz="3000" dirty="0"/>
              <a:t>与</a:t>
            </a:r>
            <a:r>
              <a:rPr lang="en-US" altLang="zh-CN" sz="3000" dirty="0"/>
              <a:t>NaOH</a:t>
            </a:r>
            <a:r>
              <a:rPr lang="zh-CN" altLang="en-US" sz="3000" dirty="0"/>
              <a:t>的水溶液共热生成醇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C </a:t>
            </a:r>
            <a:r>
              <a:rPr lang="zh-CN" altLang="en-US" sz="3000" dirty="0"/>
              <a:t>需先在入</a:t>
            </a:r>
            <a:r>
              <a:rPr lang="en-US" altLang="zh-CN" sz="3000" dirty="0"/>
              <a:t>NaOH</a:t>
            </a:r>
            <a:r>
              <a:rPr lang="zh-CN" altLang="en-US" sz="3000" dirty="0"/>
              <a:t>的水溶液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D </a:t>
            </a:r>
            <a:r>
              <a:rPr lang="zh-CN" altLang="en-US" sz="3000" dirty="0"/>
              <a:t>用乙烯</a:t>
            </a:r>
            <a:r>
              <a:rPr lang="en-US" altLang="zh-CN" sz="3000" dirty="0"/>
              <a:t>+HBr</a:t>
            </a:r>
            <a:r>
              <a:rPr lang="zh-CN" altLang="en-US" sz="3000" dirty="0"/>
              <a:t>较有效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2. (1) Br 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</a:t>
            </a:r>
            <a:r>
              <a:rPr lang="en-US" altLang="zh-CN" sz="3000" dirty="0" err="1"/>
              <a:t>NaHS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 HS-CH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2</a:t>
            </a:r>
            <a:r>
              <a:rPr lang="en-US" altLang="zh-CN" sz="3000" dirty="0">
                <a:sym typeface="Wingdings" panose="05000000000000000000" pitchFamily="2" charset="2"/>
              </a:rPr>
              <a:t>CH</a:t>
            </a:r>
            <a:r>
              <a:rPr lang="en-US" altLang="zh-CN" sz="3000" baseline="-25000" dirty="0">
                <a:sym typeface="Wingdings" panose="05000000000000000000" pitchFamily="2" charset="2"/>
              </a:rPr>
              <a:t>3</a:t>
            </a:r>
            <a:r>
              <a:rPr lang="en-US" altLang="zh-CN" sz="3000" dirty="0">
                <a:sym typeface="Wingdings" panose="05000000000000000000" pitchFamily="2" charset="2"/>
              </a:rPr>
              <a:t>  + </a:t>
            </a:r>
            <a:r>
              <a:rPr lang="en-US" altLang="zh-CN" sz="3000" dirty="0" err="1">
                <a:sym typeface="Wingdings" panose="05000000000000000000" pitchFamily="2" charset="2"/>
              </a:rPr>
              <a:t>NaBr</a:t>
            </a:r>
            <a:r>
              <a:rPr lang="en-US" altLang="zh-CN" sz="3000" dirty="0">
                <a:sym typeface="Wingdings" panose="05000000000000000000" pitchFamily="2" charset="2"/>
              </a:rPr>
              <a:t> </a:t>
            </a: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 (2)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Br  +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COONa 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OOCCH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+ </a:t>
            </a:r>
            <a:r>
              <a:rPr lang="en-US" altLang="zh-CN" sz="3000" dirty="0" err="1"/>
              <a:t>NaBr</a:t>
            </a: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 (3) 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Br + </a:t>
            </a:r>
            <a:r>
              <a:rPr lang="en-US" altLang="zh-CN" sz="3000" dirty="0" err="1"/>
              <a:t>NaCN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anose="05000000000000000000" pitchFamily="2" charset="2"/>
              </a:rPr>
              <a:t> 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CH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CN + </a:t>
            </a:r>
            <a:r>
              <a:rPr lang="en-US" altLang="zh-CN" sz="3000" dirty="0" err="1"/>
              <a:t>NaBr</a:t>
            </a:r>
            <a:endParaRPr lang="en-MY" altLang="zh-CN" sz="3000" dirty="0"/>
          </a:p>
          <a:p>
            <a:pPr marL="0" indent="0">
              <a:spcBef>
                <a:spcPts val="0"/>
              </a:spcBef>
              <a:buNone/>
            </a:pPr>
            <a:endParaRPr lang="en-US" altLang="zh-CN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3</a:t>
            </a:r>
            <a:r>
              <a:rPr lang="en-MY" altLang="zh-CN" sz="3000" dirty="0"/>
              <a:t>. 	(1) 4</a:t>
            </a:r>
            <a:r>
              <a:rPr lang="zh-CN" altLang="en-US" sz="3000" dirty="0"/>
              <a:t>、</a:t>
            </a:r>
            <a:r>
              <a:rPr lang="en-US" altLang="zh-CN" sz="3000" dirty="0"/>
              <a:t>3</a:t>
            </a:r>
            <a:r>
              <a:rPr lang="zh-CN" altLang="en-US" sz="3000" dirty="0"/>
              <a:t>、</a:t>
            </a:r>
            <a:r>
              <a:rPr lang="en-US" altLang="zh-CN" sz="3000" dirty="0"/>
              <a:t>5</a:t>
            </a:r>
            <a:r>
              <a:rPr lang="zh-CN" altLang="en-US" sz="3000" dirty="0"/>
              <a:t>、</a:t>
            </a:r>
            <a:r>
              <a:rPr lang="en-US" altLang="zh-CN" sz="3000" dirty="0"/>
              <a:t>6</a:t>
            </a:r>
            <a:r>
              <a:rPr lang="zh-CN" altLang="en-US" sz="3000" dirty="0"/>
              <a:t>、</a:t>
            </a:r>
            <a:r>
              <a:rPr lang="en-US" altLang="zh-CN" sz="3000" dirty="0"/>
              <a:t>7</a:t>
            </a:r>
            <a:r>
              <a:rPr lang="zh-CN" altLang="en-US" sz="3000" dirty="0"/>
              <a:t>、</a:t>
            </a:r>
            <a:r>
              <a:rPr lang="en-US" altLang="zh-CN" sz="3000" dirty="0"/>
              <a:t>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3000" dirty="0"/>
              <a:t>	(2) 2</a:t>
            </a:r>
            <a:r>
              <a:rPr lang="zh-CN" altLang="en-US" sz="3000" dirty="0"/>
              <a:t>、</a:t>
            </a:r>
            <a:r>
              <a:rPr lang="en-US" altLang="zh-CN" sz="3000" dirty="0"/>
              <a:t>3</a:t>
            </a:r>
            <a:r>
              <a:rPr lang="zh-CN" altLang="en-US" sz="3000" dirty="0"/>
              <a:t>、</a:t>
            </a:r>
            <a:r>
              <a:rPr lang="en-US" altLang="zh-CN" sz="3000" dirty="0"/>
              <a:t>7</a:t>
            </a:r>
            <a:r>
              <a:rPr lang="zh-CN" altLang="en-US" sz="3000" dirty="0"/>
              <a:t>、</a:t>
            </a:r>
            <a:r>
              <a:rPr lang="en-US" altLang="zh-CN" sz="3000" dirty="0"/>
              <a:t>1</a:t>
            </a:r>
            <a:r>
              <a:rPr lang="en-MY" altLang="zh-CN" sz="3000" dirty="0"/>
              <a:t> 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18816565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补充练习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991600" cy="58674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试以反应式表达下列变化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1.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</a:t>
            </a:r>
            <a:r>
              <a:rPr lang="zh-CN" altLang="en-US" sz="3000" dirty="0">
                <a:sym typeface="Wingdings" pitchFamily="2" charset="2"/>
              </a:rPr>
              <a:t>丙酸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</a:t>
            </a:r>
            <a:r>
              <a:rPr lang="zh-CN" altLang="en-US" sz="3000" dirty="0">
                <a:sym typeface="Wingdings" pitchFamily="2" charset="2"/>
              </a:rPr>
              <a:t>甲烷</a:t>
            </a:r>
            <a:r>
              <a:rPr lang="en-US" altLang="zh-CN" sz="3000" dirty="0">
                <a:sym typeface="Wingdings" pitchFamily="2" charset="2"/>
              </a:rPr>
              <a:t></a:t>
            </a:r>
            <a:r>
              <a:rPr lang="zh-CN" altLang="en-US" sz="3000" dirty="0">
                <a:sym typeface="Wingdings" pitchFamily="2" charset="2"/>
              </a:rPr>
              <a:t>丙酸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甲烷</a:t>
            </a:r>
            <a:r>
              <a:rPr lang="en-US" altLang="zh-CN" sz="3000" dirty="0">
                <a:sym typeface="Wingdings" pitchFamily="2" charset="2"/>
              </a:rPr>
              <a:t></a:t>
            </a:r>
            <a:r>
              <a:rPr lang="zh-CN" altLang="en-US" sz="3000" dirty="0">
                <a:sym typeface="Wingdings" pitchFamily="2" charset="2"/>
              </a:rPr>
              <a:t>乙二醇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4. 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2-</a:t>
            </a:r>
            <a:r>
              <a:rPr lang="zh-CN" altLang="en-US" sz="3000" dirty="0">
                <a:sym typeface="Wingdings" pitchFamily="2" charset="2"/>
              </a:rPr>
              <a:t>丁醇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答案提示：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1. 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格氏试剂</a:t>
            </a:r>
            <a:r>
              <a:rPr lang="en-US" altLang="zh-CN" sz="3000" dirty="0">
                <a:sym typeface="Wingdings" pitchFamily="2" charset="2"/>
              </a:rPr>
              <a:t>			</a:t>
            </a:r>
            <a:r>
              <a:rPr lang="zh-CN" altLang="en-US" sz="3000" dirty="0">
                <a:sym typeface="Wingdings" pitchFamily="2" charset="2"/>
              </a:rPr>
              <a:t>丙酸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甲烷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氯甲烷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格氏试剂</a:t>
            </a:r>
            <a:r>
              <a:rPr lang="en-US" altLang="zh-CN" sz="3000" dirty="0">
                <a:sym typeface="Wingdings" pitchFamily="2" charset="2"/>
              </a:rPr>
              <a:t></a:t>
            </a:r>
            <a:r>
              <a:rPr lang="zh-CN" altLang="en-US" sz="3000" dirty="0">
                <a:sym typeface="Wingdings" pitchFamily="2" charset="2"/>
              </a:rPr>
              <a:t>丙酸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3.</a:t>
            </a:r>
            <a:r>
              <a:rPr lang="zh-CN" altLang="en-US" sz="3000" dirty="0">
                <a:sym typeface="Wingdings" pitchFamily="2" charset="2"/>
              </a:rPr>
              <a:t>甲烷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氯甲烷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乙烯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乙二醇</a:t>
            </a: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4.</a:t>
            </a:r>
            <a:r>
              <a:rPr lang="zh-CN" altLang="en-US" sz="3000" dirty="0">
                <a:sym typeface="Wingdings" pitchFamily="2" charset="2"/>
              </a:rPr>
              <a:t>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氯乙烷</a:t>
            </a:r>
            <a:r>
              <a:rPr lang="en-US" altLang="zh-CN" sz="3000" dirty="0">
                <a:sym typeface="Wingdings" pitchFamily="2" charset="2"/>
              </a:rPr>
              <a:t></a:t>
            </a:r>
            <a:r>
              <a:rPr lang="zh-CN" altLang="en-US" sz="3000" dirty="0">
                <a:sym typeface="Wingdings" pitchFamily="2" charset="2"/>
              </a:rPr>
              <a:t>丁烷</a:t>
            </a:r>
            <a:r>
              <a:rPr lang="en-US" altLang="zh-CN" sz="3000" dirty="0">
                <a:sym typeface="Wingdings" pitchFamily="2" charset="2"/>
              </a:rPr>
              <a:t>2-</a:t>
            </a:r>
            <a:r>
              <a:rPr lang="zh-CN" altLang="en-US" sz="3000" dirty="0">
                <a:sym typeface="Wingdings" pitchFamily="2" charset="2"/>
              </a:rPr>
              <a:t>氯丁烷</a:t>
            </a:r>
            <a:r>
              <a:rPr lang="en-US" altLang="zh-CN" sz="3000" dirty="0">
                <a:sym typeface="Wingdings" pitchFamily="2" charset="2"/>
              </a:rPr>
              <a:t>2-</a:t>
            </a:r>
            <a:r>
              <a:rPr lang="zh-CN" altLang="en-US" sz="3000" dirty="0">
                <a:sym typeface="Wingdings" pitchFamily="2" charset="2"/>
              </a:rPr>
              <a:t>丁醇</a:t>
            </a: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21" name="Group 47"/>
          <p:cNvGrpSpPr/>
          <p:nvPr/>
        </p:nvGrpSpPr>
        <p:grpSpPr>
          <a:xfrm>
            <a:off x="4800600" y="4038600"/>
            <a:ext cx="1210588" cy="707886"/>
            <a:chOff x="2586893" y="5864423"/>
            <a:chExt cx="1210588" cy="707886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2586893" y="5864423"/>
              <a:ext cx="121058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+ CO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 </a:t>
              </a:r>
            </a:p>
            <a:p>
              <a:r>
                <a:rPr lang="zh-CN" altLang="en-US" sz="2000" dirty="0"/>
                <a:t>干燥乙醚</a:t>
              </a:r>
              <a:endParaRPr lang="en-US" sz="2000" dirty="0"/>
            </a:p>
          </p:txBody>
        </p:sp>
      </p:grpSp>
      <p:grpSp>
        <p:nvGrpSpPr>
          <p:cNvPr id="24" name="Group 47"/>
          <p:cNvGrpSpPr/>
          <p:nvPr/>
        </p:nvGrpSpPr>
        <p:grpSpPr>
          <a:xfrm>
            <a:off x="5855573" y="4092714"/>
            <a:ext cx="773827" cy="707886"/>
            <a:chOff x="2819400" y="5918537"/>
            <a:chExt cx="773827" cy="707886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895600" y="5918537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  H</a:t>
              </a:r>
              <a:r>
                <a:rPr lang="en-US" sz="2000" baseline="30000" dirty="0"/>
                <a:t>+</a:t>
              </a:r>
              <a:r>
                <a:rPr lang="en-US" sz="2000" dirty="0"/>
                <a:t> </a:t>
              </a:r>
            </a:p>
            <a:p>
              <a:r>
                <a:rPr lang="zh-CN" altLang="en-US" sz="2000" dirty="0"/>
                <a:t>水解</a:t>
              </a:r>
              <a:endParaRPr lang="en-US" sz="2000" dirty="0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3733800" y="1371600"/>
            <a:ext cx="5410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要多加一个</a:t>
            </a:r>
            <a:r>
              <a:rPr lang="en-US" altLang="zh-C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C</a:t>
            </a:r>
            <a:r>
              <a:rPr lang="zh-CN" altLang="en-US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可经过格氏试剂达成</a:t>
            </a:r>
            <a:endParaRPr lang="en-US" altLang="zh-CN" sz="28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31.4 </a:t>
            </a:r>
            <a:r>
              <a:rPr lang="zh-CN" altLang="en-US" sz="4000" b="1" dirty="0">
                <a:latin typeface="+mn-ea"/>
              </a:rPr>
              <a:t>卤代烷的来源和制取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600"/>
              </a:spcBef>
              <a:buAutoNum type="arabicPeriod"/>
            </a:pPr>
            <a:r>
              <a:rPr lang="zh-CN" altLang="en-US" sz="3000" dirty="0">
                <a:sym typeface="Wingdings" pitchFamily="2" charset="2"/>
              </a:rPr>
              <a:t>烷烃的取代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MY" altLang="zh-CN" sz="3000" dirty="0">
                <a:sym typeface="Wingdings" pitchFamily="2" charset="2"/>
              </a:rPr>
              <a:t>	</a:t>
            </a:r>
            <a:r>
              <a:rPr lang="zh-CN" altLang="en-US" sz="3000" dirty="0">
                <a:sym typeface="Wingdings" pitchFamily="2" charset="2"/>
              </a:rPr>
              <a:t>烷烃  </a:t>
            </a:r>
            <a:r>
              <a:rPr lang="en-US" altLang="zh-CN" sz="3000" dirty="0">
                <a:sym typeface="Wingdings" pitchFamily="2" charset="2"/>
              </a:rPr>
              <a:t>+  </a:t>
            </a:r>
            <a:r>
              <a:rPr lang="zh-CN" altLang="en-US" sz="3000" dirty="0">
                <a:sym typeface="Wingdings" pitchFamily="2" charset="2"/>
              </a:rPr>
              <a:t>卤素</a:t>
            </a:r>
            <a:r>
              <a:rPr lang="en-MY" altLang="zh-CN" sz="3000" dirty="0">
                <a:sym typeface="Wingdings" pitchFamily="2" charset="2"/>
              </a:rPr>
              <a:t>	    </a:t>
            </a:r>
            <a:r>
              <a:rPr lang="zh-CN" altLang="en-US" sz="3000" dirty="0">
                <a:sym typeface="Wingdings" pitchFamily="2" charset="2"/>
              </a:rPr>
              <a:t>卤代烷 </a:t>
            </a:r>
            <a:r>
              <a:rPr lang="en-US" altLang="zh-CN" sz="3000" dirty="0">
                <a:sym typeface="Wingdings" pitchFamily="2" charset="2"/>
              </a:rPr>
              <a:t>+ HX</a:t>
            </a:r>
            <a:r>
              <a:rPr lang="zh-CN" altLang="en-US" sz="3000" dirty="0">
                <a:sym typeface="Wingdings" pitchFamily="2" charset="2"/>
              </a:rPr>
              <a:t>  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2. </a:t>
            </a:r>
            <a:r>
              <a:rPr lang="zh-CN" altLang="en-US" sz="3000" dirty="0">
                <a:sym typeface="Wingdings" pitchFamily="2" charset="2"/>
              </a:rPr>
              <a:t>醇的取代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 R-OH    +</a:t>
            </a:r>
            <a:r>
              <a:rPr lang="zh-CN" altLang="en-US" sz="3000" dirty="0"/>
              <a:t>    </a:t>
            </a:r>
            <a:r>
              <a:rPr lang="en-US" altLang="zh-CN" sz="3000" dirty="0"/>
              <a:t>H-X  </a:t>
            </a:r>
            <a:r>
              <a:rPr lang="en-US" altLang="zh-CN" sz="3000" dirty="0">
                <a:sym typeface="Wingdings" pitchFamily="2" charset="2"/>
              </a:rPr>
              <a:t>                 </a:t>
            </a:r>
            <a:r>
              <a:rPr lang="zh-CN" altLang="en-US" sz="3000" dirty="0">
                <a:sym typeface="Wingdings" pitchFamily="2" charset="2"/>
              </a:rPr>
              <a:t>卤代烷 </a:t>
            </a:r>
            <a:r>
              <a:rPr lang="en-US" altLang="zh-CN" sz="3000" dirty="0">
                <a:sym typeface="Wingdings" pitchFamily="2" charset="2"/>
              </a:rPr>
              <a:t>R-X    +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3000" dirty="0"/>
              <a:t>3 </a:t>
            </a:r>
            <a:r>
              <a:rPr lang="en-US" altLang="zh-CN" sz="3000" dirty="0"/>
              <a:t>R-OH  + PX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卤代烷</a:t>
            </a:r>
            <a:r>
              <a:rPr lang="en-US" altLang="zh-CN" sz="3000" dirty="0">
                <a:sym typeface="Wingdings" pitchFamily="2" charset="2"/>
              </a:rPr>
              <a:t>3 R-X  + 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PO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zh-CN" altLang="en-US" sz="3000" dirty="0">
                <a:sym typeface="Wingdings" pitchFamily="2" charset="2"/>
              </a:rPr>
              <a:t>亚磷酸</a:t>
            </a:r>
            <a:r>
              <a:rPr lang="en-MY" altLang="zh-CN" sz="3000" dirty="0">
                <a:sym typeface="Wingdings" pitchFamily="2" charset="2"/>
              </a:rPr>
              <a:t>)</a:t>
            </a:r>
            <a:endParaRPr lang="en-US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/>
              <a:t>R-OH  + PCl</a:t>
            </a:r>
            <a:r>
              <a:rPr lang="en-US" altLang="zh-CN" sz="3000" baseline="-25000" dirty="0"/>
              <a:t>5</a:t>
            </a: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 </a:t>
            </a:r>
            <a:r>
              <a:rPr lang="zh-CN" altLang="en-US" sz="3000" dirty="0">
                <a:sym typeface="Wingdings" pitchFamily="2" charset="2"/>
              </a:rPr>
              <a:t>卤代烷</a:t>
            </a:r>
            <a:r>
              <a:rPr lang="en-US" altLang="zh-CN" sz="3000" dirty="0">
                <a:sym typeface="Wingdings" pitchFamily="2" charset="2"/>
              </a:rPr>
              <a:t>R-X  + HCl +  POCl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(</a:t>
            </a:r>
            <a:r>
              <a:rPr lang="zh-CN" altLang="en-US" sz="3000" dirty="0">
                <a:sym typeface="Wingdings" pitchFamily="2" charset="2"/>
              </a:rPr>
              <a:t>三氯氧磷</a:t>
            </a:r>
            <a:r>
              <a:rPr lang="en-MY" altLang="zh-CN" sz="3000" dirty="0">
                <a:sym typeface="Wingdings" pitchFamily="2" charset="2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3. </a:t>
            </a:r>
            <a:r>
              <a:rPr lang="zh-CN" altLang="en-US" sz="3000" dirty="0">
                <a:sym typeface="Wingdings" pitchFamily="2" charset="2"/>
              </a:rPr>
              <a:t>不饱和烃与</a:t>
            </a:r>
            <a:r>
              <a:rPr lang="en-US" altLang="zh-CN" sz="3000" dirty="0">
                <a:sym typeface="Wingdings" pitchFamily="2" charset="2"/>
              </a:rPr>
              <a:t>X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或</a:t>
            </a:r>
            <a:r>
              <a:rPr lang="en-US" altLang="zh-CN" sz="3000" dirty="0">
                <a:sym typeface="Wingdings" pitchFamily="2" charset="2"/>
              </a:rPr>
              <a:t>HX</a:t>
            </a:r>
            <a:r>
              <a:rPr lang="zh-CN" altLang="en-US" sz="3000" dirty="0">
                <a:sym typeface="Wingdings" pitchFamily="2" charset="2"/>
              </a:rPr>
              <a:t>的加成反应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000" dirty="0">
                <a:sym typeface="Wingdings" pitchFamily="2" charset="2"/>
              </a:rPr>
              <a:t>4. </a:t>
            </a:r>
            <a:r>
              <a:rPr lang="zh-CN" altLang="en-US" sz="3000" dirty="0">
                <a:sym typeface="Wingdings" pitchFamily="2" charset="2"/>
              </a:rPr>
              <a:t>卤化物互换</a:t>
            </a:r>
            <a:endParaRPr lang="en-MY" altLang="zh-CN" sz="3000" dirty="0"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3000" dirty="0">
                <a:sym typeface="Wingdings" pitchFamily="2" charset="2"/>
              </a:rPr>
              <a:t>常用</a:t>
            </a:r>
            <a:r>
              <a:rPr lang="en-US" altLang="zh-CN" sz="3000" dirty="0">
                <a:sym typeface="Wingdings" pitchFamily="2" charset="2"/>
              </a:rPr>
              <a:t>I</a:t>
            </a:r>
            <a:r>
              <a:rPr lang="en-US" altLang="zh-CN" sz="3000" baseline="30000" dirty="0">
                <a:sym typeface="Wingdings" pitchFamily="2" charset="2"/>
              </a:rPr>
              <a:t>-</a:t>
            </a:r>
            <a:r>
              <a:rPr lang="en-US" altLang="zh-CN" sz="3000" dirty="0">
                <a:sym typeface="Wingdings" pitchFamily="2" charset="2"/>
              </a:rPr>
              <a:t> </a:t>
            </a:r>
            <a:r>
              <a:rPr lang="zh-CN" altLang="en-US" sz="3000" dirty="0">
                <a:sym typeface="Wingdings" pitchFamily="2" charset="2"/>
              </a:rPr>
              <a:t>置换卤代烃中的</a:t>
            </a:r>
            <a:r>
              <a:rPr lang="en-US" altLang="zh-CN" sz="3000" dirty="0">
                <a:sym typeface="Wingdings" pitchFamily="2" charset="2"/>
              </a:rPr>
              <a:t>-Br</a:t>
            </a:r>
            <a:r>
              <a:rPr lang="zh-CN" altLang="en-US" sz="3000" dirty="0">
                <a:sym typeface="Wingdings" pitchFamily="2" charset="2"/>
              </a:rPr>
              <a:t>和</a:t>
            </a:r>
            <a:r>
              <a:rPr lang="en-US" altLang="zh-CN" sz="3000" dirty="0">
                <a:sym typeface="Wingdings" pitchFamily="2" charset="2"/>
              </a:rPr>
              <a:t>-Cl</a:t>
            </a:r>
            <a:r>
              <a:rPr lang="zh-CN" altLang="en-US" sz="3000" dirty="0">
                <a:sym typeface="Wingdings" pitchFamily="2" charset="2"/>
              </a:rPr>
              <a:t>，在丙酮溶液中反应生成碘代烷。</a:t>
            </a: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  <a:p>
            <a:pPr>
              <a:spcBef>
                <a:spcPts val="600"/>
              </a:spcBef>
              <a:buNone/>
            </a:pPr>
            <a:endParaRPr lang="en-US" altLang="zh-CN" sz="3000" dirty="0"/>
          </a:p>
        </p:txBody>
      </p:sp>
      <p:grpSp>
        <p:nvGrpSpPr>
          <p:cNvPr id="6" name="Group 47">
            <a:extLst>
              <a:ext uri="{FF2B5EF4-FFF2-40B4-BE49-F238E27FC236}">
                <a16:creationId xmlns:a16="http://schemas.microsoft.com/office/drawing/2014/main" id="{1C550AA7-1F52-4568-B1FA-5B2E0FDFE70B}"/>
              </a:ext>
            </a:extLst>
          </p:cNvPr>
          <p:cNvGrpSpPr/>
          <p:nvPr/>
        </p:nvGrpSpPr>
        <p:grpSpPr>
          <a:xfrm>
            <a:off x="3535680" y="1447800"/>
            <a:ext cx="731520" cy="307777"/>
            <a:chOff x="2819400" y="5940623"/>
            <a:chExt cx="731520" cy="307777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B540169-E320-49F4-99CC-513295646607}"/>
                </a:ext>
              </a:extLst>
            </p:cNvPr>
            <p:cNvCxnSpPr/>
            <p:nvPr/>
          </p:nvCxnSpPr>
          <p:spPr>
            <a:xfrm>
              <a:off x="2819400" y="6246812"/>
              <a:ext cx="731520" cy="1588"/>
            </a:xfrm>
            <a:prstGeom prst="straightConnector1">
              <a:avLst/>
            </a:prstGeom>
            <a:ln>
              <a:solidFill>
                <a:schemeClr val="tx1">
                  <a:alpha val="9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845616-37B7-4C44-9DD9-142ED9798276}"/>
                </a:ext>
              </a:extLst>
            </p:cNvPr>
            <p:cNvSpPr txBox="1"/>
            <p:nvPr/>
          </p:nvSpPr>
          <p:spPr>
            <a:xfrm>
              <a:off x="2895600" y="594062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光照</a:t>
              </a:r>
              <a:endParaRPr lang="en-US" sz="1400" dirty="0"/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24836453-A99F-4C29-9946-3D22C5AF891D}"/>
              </a:ext>
            </a:extLst>
          </p:cNvPr>
          <p:cNvGrpSpPr/>
          <p:nvPr/>
        </p:nvGrpSpPr>
        <p:grpSpPr>
          <a:xfrm>
            <a:off x="2897945" y="2514684"/>
            <a:ext cx="1219200" cy="380916"/>
            <a:chOff x="2819400" y="5867400"/>
            <a:chExt cx="1219200" cy="380916"/>
          </a:xfrm>
        </p:grpSpPr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0C9F2C28-A2AF-4CC1-9920-CA5032E8CBA0}"/>
                </a:ext>
              </a:extLst>
            </p:cNvPr>
            <p:cNvGrpSpPr/>
            <p:nvPr/>
          </p:nvGrpSpPr>
          <p:grpSpPr>
            <a:xfrm>
              <a:off x="2819400" y="6172117"/>
              <a:ext cx="1219200" cy="76199"/>
              <a:chOff x="2895600" y="6324600"/>
              <a:chExt cx="2133600" cy="76199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552F16F-7BE0-4623-9C16-71592B447886}"/>
                  </a:ext>
                </a:extLst>
              </p:cNvPr>
              <p:cNvCxnSpPr/>
              <p:nvPr/>
            </p:nvCxnSpPr>
            <p:spPr>
              <a:xfrm rot="10800000">
                <a:off x="2895600" y="6399210"/>
                <a:ext cx="2057400" cy="1589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60A2862-773B-4744-93D6-EDE506E754B0}"/>
                  </a:ext>
                </a:extLst>
              </p:cNvPr>
              <p:cNvCxnSpPr/>
              <p:nvPr/>
            </p:nvCxnSpPr>
            <p:spPr>
              <a:xfrm>
                <a:off x="2895600" y="6324600"/>
                <a:ext cx="2133600" cy="1588"/>
              </a:xfrm>
              <a:prstGeom prst="straightConnector1">
                <a:avLst/>
              </a:prstGeom>
              <a:ln>
                <a:solidFill>
                  <a:schemeClr val="tx1">
                    <a:alpha val="9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F576CB-06BF-4C5A-9DE2-0F7D553E49F1}"/>
                </a:ext>
              </a:extLst>
            </p:cNvPr>
            <p:cNvSpPr txBox="1"/>
            <p:nvPr/>
          </p:nvSpPr>
          <p:spPr>
            <a:xfrm>
              <a:off x="3048000" y="5867400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/>
                <a:t>催化剂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4651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31d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800"/>
              </a:spcBef>
              <a:buAutoNum type="arabicPeriod"/>
            </a:pPr>
            <a:r>
              <a:rPr lang="en-US" altLang="zh-CN" sz="3000" dirty="0"/>
              <a:t>B </a:t>
            </a:r>
            <a:r>
              <a:rPr lang="zh-CN" altLang="en-US" sz="3000" dirty="0"/>
              <a:t>（不是邻二溴烷）</a:t>
            </a:r>
            <a:r>
              <a:rPr lang="en-MY" altLang="zh-CN" sz="3000" dirty="0"/>
              <a:t> </a:t>
            </a:r>
          </a:p>
          <a:p>
            <a:pPr marL="514350" indent="-514350">
              <a:spcBef>
                <a:spcPts val="1800"/>
              </a:spcBef>
              <a:buAutoNum type="arabicPeriod"/>
            </a:pPr>
            <a:r>
              <a:rPr lang="en-US" altLang="zh-CN" sz="3000" dirty="0"/>
              <a:t> 	A</a:t>
            </a:r>
            <a:r>
              <a:rPr lang="zh-CN" altLang="en-US" sz="3000" dirty="0"/>
              <a:t>无此反应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B </a:t>
            </a:r>
            <a:r>
              <a:rPr lang="zh-CN" altLang="en-US" sz="3000" dirty="0"/>
              <a:t>难生成</a:t>
            </a:r>
            <a:r>
              <a:rPr lang="en-US" altLang="zh-CN" sz="3000" dirty="0"/>
              <a:t>1</a:t>
            </a:r>
            <a:r>
              <a:rPr lang="zh-CN" altLang="en-US" sz="3000" dirty="0"/>
              <a:t>，</a:t>
            </a:r>
            <a:r>
              <a:rPr lang="en-US" altLang="zh-CN" sz="3000" dirty="0"/>
              <a:t>2-</a:t>
            </a:r>
            <a:r>
              <a:rPr lang="zh-CN" altLang="en-US" sz="3000" dirty="0"/>
              <a:t>二溴乙烷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 err="1"/>
              <a:t>Ans:D</a:t>
            </a:r>
            <a:endParaRPr lang="en-US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3.  	A </a:t>
            </a:r>
            <a:r>
              <a:rPr lang="zh-CN" altLang="en-US" sz="3000" dirty="0"/>
              <a:t>溴乙烷也会沸腾变成气态</a:t>
            </a:r>
            <a:endParaRPr lang="en-US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	B </a:t>
            </a:r>
            <a:r>
              <a:rPr lang="zh-CN" altLang="en-US" sz="3000" dirty="0"/>
              <a:t>可以，但乙醇不能完全反应成溴乙烷</a:t>
            </a:r>
            <a:endParaRPr lang="en-MY" altLang="zh-CN" sz="3000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sz="3000" dirty="0"/>
              <a:t>Ans: D </a:t>
            </a:r>
            <a:r>
              <a:rPr lang="zh-CN" altLang="en-US" sz="3000" dirty="0"/>
              <a:t>溴乙烷不溶于水，乙醇能完全溶于水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193982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en-US" altLang="zh-CN" sz="4000" b="1" dirty="0">
                <a:latin typeface="+mn-ea"/>
              </a:rPr>
              <a:t>31.5 </a:t>
            </a:r>
            <a:r>
              <a:rPr lang="zh-CN" altLang="en-US" sz="4000" b="1" dirty="0">
                <a:latin typeface="+mn-ea"/>
              </a:rPr>
              <a:t>卤代烷的用途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氟利昂：</a:t>
            </a:r>
            <a:r>
              <a:rPr lang="en-US" altLang="zh-CN" sz="3000" dirty="0">
                <a:sym typeface="Wingdings" pitchFamily="2" charset="2"/>
              </a:rPr>
              <a:t>CF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Cl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zh-CN" altLang="en-US" sz="3000" dirty="0">
                <a:sym typeface="Wingdings" pitchFamily="2" charset="2"/>
              </a:rPr>
              <a:t>是一种无色气体，常作为冷媒或气溶胶推进剂。</a:t>
            </a: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吸入用七氟烷：</a:t>
            </a:r>
            <a:r>
              <a:rPr lang="zh-CN" altLang="en-US" sz="3000" dirty="0"/>
              <a:t>适用于成年人和儿童的全身麻醉的诱导和维持。</a:t>
            </a:r>
            <a:endParaRPr lang="en-MY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氯仿</a:t>
            </a:r>
            <a:r>
              <a:rPr lang="en-US" altLang="zh-CN" sz="3000" dirty="0"/>
              <a:t>CHCl</a:t>
            </a:r>
            <a:r>
              <a:rPr lang="en-US" altLang="zh-CN" sz="3000" baseline="-25000" dirty="0"/>
              <a:t>3</a:t>
            </a:r>
            <a:r>
              <a:rPr lang="en-US" altLang="zh-CN" sz="3000" dirty="0"/>
              <a:t> :</a:t>
            </a:r>
            <a:r>
              <a:rPr lang="zh-CN" altLang="en-US" sz="3000" dirty="0"/>
              <a:t>有机溶剂</a:t>
            </a:r>
            <a:endParaRPr lang="en-US" altLang="zh-CN" sz="3000" dirty="0"/>
          </a:p>
          <a:p>
            <a:pPr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Ø"/>
            </a:pPr>
            <a:r>
              <a:rPr lang="zh-CN" altLang="en-US" sz="3000" dirty="0"/>
              <a:t>四氯化碳</a:t>
            </a:r>
            <a:r>
              <a:rPr lang="en-US" altLang="zh-CN" sz="3000" dirty="0"/>
              <a:t>CCl</a:t>
            </a:r>
            <a:r>
              <a:rPr lang="en-US" altLang="zh-CN" sz="3000" baseline="-25000" dirty="0"/>
              <a:t>4</a:t>
            </a:r>
            <a:r>
              <a:rPr lang="en-US" altLang="zh-CN" sz="3000" dirty="0"/>
              <a:t> </a:t>
            </a:r>
            <a:r>
              <a:rPr lang="zh-CN" altLang="en-US" sz="3000" dirty="0"/>
              <a:t>：工业溶剂、灭火剂</a:t>
            </a:r>
            <a:endParaRPr lang="en-US" altLang="zh-CN" sz="3000" dirty="0"/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ym typeface="Wingdings" pitchFamily="2" charset="2"/>
              </a:rPr>
              <a:t>六六六：六氯环己烷</a:t>
            </a:r>
            <a:endParaRPr lang="en-MY" altLang="zh-CN" sz="3000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sym typeface="Wingdings" pitchFamily="2" charset="2"/>
              </a:rPr>
              <a:t>农药</a:t>
            </a:r>
            <a:r>
              <a:rPr lang="zh-CN" altLang="en-US" dirty="0"/>
              <a:t>除害效好，但农药残留严重</a:t>
            </a:r>
            <a:endParaRPr lang="en-MY" altLang="zh-CN" dirty="0">
              <a:sym typeface="Wingdings" pitchFamily="2" charset="2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化学性质稳定</a:t>
            </a:r>
            <a:r>
              <a:rPr lang="en-US" altLang="zh-CN" dirty="0"/>
              <a:t>,</a:t>
            </a:r>
            <a:r>
              <a:rPr lang="zh-CN" altLang="en-US" dirty="0"/>
              <a:t>难易降解</a:t>
            </a:r>
            <a:r>
              <a:rPr lang="en-US" altLang="zh-CN" dirty="0"/>
              <a:t>,</a:t>
            </a:r>
            <a:r>
              <a:rPr lang="zh-CN" altLang="en-US" dirty="0"/>
              <a:t>已被禁用</a:t>
            </a:r>
            <a:endParaRPr lang="en-MY" altLang="zh-CN" dirty="0">
              <a:sym typeface="Wingdings" pitchFamily="2" charset="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MY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>
              <a:sym typeface="Wingdings" pitchFamily="2" charset="2"/>
            </a:endParaRP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FDD49A-8254-4471-83B2-FCA728E8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4B667-CF59-4895-975E-7FA57B796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557144"/>
            <a:ext cx="2133600" cy="14708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9A2EE-B411-48F0-B8DA-54CCFB6A0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468" y="4028035"/>
            <a:ext cx="1981200" cy="224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172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>
                <a:latin typeface="+mn-ea"/>
              </a:rPr>
              <a:t>思考题 </a:t>
            </a:r>
            <a:r>
              <a:rPr lang="en-US" altLang="zh-CN" sz="4000" b="1" dirty="0">
                <a:latin typeface="+mn-ea"/>
              </a:rPr>
              <a:t>31e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0"/>
              </a:spcBef>
              <a:buAutoNum type="arabicPeriod"/>
            </a:pPr>
            <a:r>
              <a:rPr lang="en-MY" altLang="zh-CN" sz="3000" dirty="0"/>
              <a:t> D </a:t>
            </a:r>
          </a:p>
          <a:p>
            <a:pPr marL="514350" indent="-514350">
              <a:spcBef>
                <a:spcPts val="0"/>
              </a:spcBef>
              <a:buAutoNum type="arabicPeriod"/>
            </a:pPr>
            <a:r>
              <a:rPr lang="en-MY" altLang="zh-CN" sz="3000" dirty="0"/>
              <a:t>B </a:t>
            </a:r>
            <a:r>
              <a:rPr lang="zh-CN" altLang="en-US" sz="3000" dirty="0"/>
              <a:t>无毒</a:t>
            </a:r>
            <a:endParaRPr lang="en-MY" altLang="zh-CN" sz="3000" dirty="0"/>
          </a:p>
          <a:p>
            <a:pPr marL="514350" indent="-514350">
              <a:spcBef>
                <a:spcPts val="0"/>
              </a:spcBef>
              <a:buAutoNum type="arabicPeriod"/>
            </a:pPr>
            <a:r>
              <a:rPr lang="en-US" altLang="zh-CN" sz="3000" dirty="0"/>
              <a:t>A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400" dirty="0"/>
              <a:t>氯乙烷，俗称运动场上的“化学大夫”。氯乙烷在常压、常温下是一种气体，通过高压将它液化后罐装在喷筒内。运动员受伤后，某些软组织挫伤或拉伤时，将氯乙烷喷射在伤处，在常压下这些液体会很快地汽化成气体。液体在汽化时需要吸收大量的热量，这些热量一部分从空气中吸收，一部分则从人体皮肤上吸收，造成皮肤快速冷冻，使皮下毛细血管收缩而停止出血，同时使人感觉不到疼痛，这类似于医学上的局部麻醉。但以上做法，只能应付一般的肌肉挫伤或扭伤，也只属于应急的处理方法，不能起治疗作用。由于运动员对受伤处失去了知觉，如果受伤情况比较严重，之后又加上剧烈运动，很可能会造成二度受伤，使后果更加严重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991729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   	A </a:t>
            </a:r>
            <a:r>
              <a:rPr lang="zh-CN" altLang="en-US" sz="3000" dirty="0"/>
              <a:t>没同分异构体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B </a:t>
            </a:r>
            <a:r>
              <a:rPr lang="zh-CN" altLang="en-US" sz="3000" dirty="0"/>
              <a:t>有</a:t>
            </a:r>
            <a:r>
              <a:rPr lang="en-US" altLang="zh-CN" sz="3000" dirty="0"/>
              <a:t>2</a:t>
            </a:r>
            <a:r>
              <a:rPr lang="zh-CN" altLang="en-US" sz="3000" dirty="0"/>
              <a:t>个同分异构体，两者皆能生成</a:t>
            </a:r>
            <a:r>
              <a:rPr lang="en-US" altLang="zh-CN" sz="3000" dirty="0"/>
              <a:t>2</a:t>
            </a:r>
            <a:r>
              <a:rPr lang="zh-CN" altLang="en-US" sz="3000" dirty="0"/>
              <a:t>种一氯代物</a:t>
            </a:r>
            <a:r>
              <a:rPr lang="en-US" altLang="zh-CN" sz="30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C 2,2-</a:t>
            </a:r>
            <a:r>
              <a:rPr lang="zh-CN" altLang="en-US" sz="3000" dirty="0"/>
              <a:t>二甲基丙烷符合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D 2</a:t>
            </a:r>
            <a:r>
              <a:rPr lang="en-MY" altLang="zh-CN" sz="3000" dirty="0"/>
              <a:t>,2,3,3-</a:t>
            </a:r>
            <a:r>
              <a:rPr lang="zh-CN" altLang="en-US" sz="3000" dirty="0"/>
              <a:t>四甲基丁烷符合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Ans: A</a:t>
            </a:r>
            <a:r>
              <a:rPr lang="zh-CN" altLang="en-US" sz="3000" dirty="0"/>
              <a:t>，</a:t>
            </a:r>
            <a:r>
              <a:rPr lang="en-US" altLang="zh-CN" sz="3000" dirty="0"/>
              <a:t>B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2. A </a:t>
            </a:r>
            <a:r>
              <a:rPr lang="zh-CN" altLang="en-US" sz="3000" dirty="0"/>
              <a:t>卤代烃的消去反应条件：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MY" altLang="zh-CN" sz="3000" dirty="0"/>
              <a:t>			</a:t>
            </a:r>
            <a:r>
              <a:rPr lang="zh-CN" altLang="en-US" sz="3000" dirty="0"/>
              <a:t>至少有</a:t>
            </a:r>
            <a:r>
              <a:rPr lang="en-US" altLang="zh-CN" sz="3000" dirty="0"/>
              <a:t>2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且相邻的</a:t>
            </a:r>
            <a:r>
              <a:rPr lang="en-US" altLang="zh-CN" sz="3000" dirty="0"/>
              <a:t>C</a:t>
            </a:r>
            <a:r>
              <a:rPr lang="zh-CN" altLang="en-US" sz="3000" dirty="0"/>
              <a:t>上必须要有</a:t>
            </a:r>
            <a:r>
              <a:rPr lang="en-US" altLang="zh-CN" sz="3000" dirty="0"/>
              <a:t>H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CF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Cl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</a:t>
            </a:r>
            <a:r>
              <a:rPr lang="zh-CN" altLang="en-US" sz="3000" dirty="0"/>
              <a:t>没同分异构体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Ans: B 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01438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选择题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3. B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A,C,D</a:t>
            </a:r>
            <a:r>
              <a:rPr lang="zh-CN" altLang="en-US" sz="3000" dirty="0"/>
              <a:t>都不能发生消去反应生成烯烃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4. A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5. B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2-</a:t>
            </a:r>
            <a:r>
              <a:rPr lang="zh-CN" altLang="en-US" sz="3000" dirty="0"/>
              <a:t>溴丙烷</a:t>
            </a:r>
            <a:r>
              <a:rPr lang="en-US" altLang="zh-CN" sz="3000" dirty="0">
                <a:sym typeface="Wingdings" panose="05000000000000000000" pitchFamily="2" charset="2"/>
              </a:rPr>
              <a:t></a:t>
            </a:r>
            <a:r>
              <a:rPr lang="zh-CN" altLang="en-US" sz="3000" dirty="0">
                <a:sym typeface="Wingdings" panose="05000000000000000000" pitchFamily="2" charset="2"/>
              </a:rPr>
              <a:t>丙烯</a:t>
            </a:r>
            <a:r>
              <a:rPr lang="en-US" altLang="zh-CN" sz="3000" dirty="0">
                <a:sym typeface="Wingdings" panose="05000000000000000000" pitchFamily="2" charset="2"/>
              </a:rPr>
              <a:t>1</a:t>
            </a:r>
            <a:r>
              <a:rPr lang="zh-CN" altLang="en-US" sz="3000" dirty="0">
                <a:sym typeface="Wingdings" panose="05000000000000000000" pitchFamily="2" charset="2"/>
              </a:rPr>
              <a:t>，</a:t>
            </a:r>
            <a:r>
              <a:rPr lang="en-US" altLang="zh-CN" sz="3000" dirty="0">
                <a:sym typeface="Wingdings" panose="05000000000000000000" pitchFamily="2" charset="2"/>
              </a:rPr>
              <a:t>2-</a:t>
            </a:r>
            <a:r>
              <a:rPr lang="zh-CN" altLang="en-US" sz="3000" dirty="0">
                <a:sym typeface="Wingdings" panose="05000000000000000000" pitchFamily="2" charset="2"/>
              </a:rPr>
              <a:t>二溴丙烷</a:t>
            </a:r>
            <a:r>
              <a:rPr lang="en-US" altLang="zh-CN" sz="3000" dirty="0">
                <a:sym typeface="Wingdings" panose="05000000000000000000" pitchFamily="2" charset="2"/>
              </a:rPr>
              <a:t>1</a:t>
            </a:r>
            <a:r>
              <a:rPr lang="zh-CN" altLang="en-US" sz="3000" dirty="0">
                <a:sym typeface="Wingdings" panose="05000000000000000000" pitchFamily="2" charset="2"/>
              </a:rPr>
              <a:t>，</a:t>
            </a:r>
            <a:r>
              <a:rPr lang="en-US" altLang="zh-CN" sz="3000" dirty="0">
                <a:sym typeface="Wingdings" panose="05000000000000000000" pitchFamily="2" charset="2"/>
              </a:rPr>
              <a:t>2-</a:t>
            </a:r>
            <a:r>
              <a:rPr lang="zh-CN" altLang="en-US" sz="3000" dirty="0">
                <a:sym typeface="Wingdings" panose="05000000000000000000" pitchFamily="2" charset="2"/>
              </a:rPr>
              <a:t>丙二醇</a:t>
            </a:r>
            <a:endParaRPr lang="en-MY" altLang="zh-CN" sz="3000" dirty="0">
              <a:sym typeface="Wingdings" panose="05000000000000000000" pitchFamily="2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6. 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7. C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化合物</a:t>
            </a:r>
            <a:r>
              <a:rPr lang="en-US" altLang="zh-CN" sz="3000" dirty="0"/>
              <a:t>X</a:t>
            </a:r>
            <a:r>
              <a:rPr lang="zh-CN" altLang="en-US" sz="3000" dirty="0"/>
              <a:t>能发生消去反应，且主链上含</a:t>
            </a:r>
            <a:r>
              <a:rPr lang="en-US" altLang="zh-CN" sz="3000" dirty="0"/>
              <a:t>4</a:t>
            </a:r>
            <a:r>
              <a:rPr lang="zh-CN" altLang="en-US" sz="3000" dirty="0"/>
              <a:t>个</a:t>
            </a:r>
            <a:r>
              <a:rPr lang="en-US" altLang="zh-CN" sz="3000" dirty="0"/>
              <a:t>C</a:t>
            </a:r>
            <a:r>
              <a:rPr lang="zh-CN" altLang="en-US" sz="3000" dirty="0"/>
              <a:t>原子。</a:t>
            </a:r>
            <a:r>
              <a:rPr lang="en-US" altLang="zh-CN" sz="30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4025578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作答题（</a:t>
            </a:r>
            <a:r>
              <a:rPr lang="en-US" altLang="zh-CN" sz="4000" b="1" dirty="0"/>
              <a:t>1</a:t>
            </a:r>
            <a:r>
              <a:rPr lang="zh-CN" altLang="en-US" sz="4000" b="1" dirty="0"/>
              <a:t>，</a:t>
            </a:r>
            <a:r>
              <a:rPr lang="en-US" altLang="zh-CN" sz="4000" b="1" dirty="0"/>
              <a:t>2</a:t>
            </a:r>
            <a:r>
              <a:rPr lang="zh-CN" altLang="en-US" sz="4000" b="1" dirty="0"/>
              <a:t>，</a:t>
            </a:r>
            <a:r>
              <a:rPr lang="en-US" altLang="zh-CN" sz="4000" b="1" dirty="0"/>
              <a:t>4</a:t>
            </a:r>
            <a:r>
              <a:rPr lang="zh-CN" altLang="en-US" sz="4000" b="1" dirty="0"/>
              <a:t>）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/>
            </a:pPr>
            <a:r>
              <a:rPr lang="en-US" altLang="zh-CN" sz="3000" dirty="0"/>
              <a:t> 	(1) 3-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溴丁烷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	(2) </a:t>
            </a:r>
            <a:r>
              <a:rPr lang="en-US" altLang="zh-CN" sz="3000" dirty="0"/>
              <a:t>1,1,2,2-</a:t>
            </a:r>
            <a:r>
              <a:rPr lang="zh-CN" altLang="en-US" sz="3000" dirty="0"/>
              <a:t>四溴乙烷</a:t>
            </a:r>
            <a:r>
              <a:rPr lang="en-US" altLang="zh-CN" sz="3000" dirty="0"/>
              <a:t>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	(3) 2-</a:t>
            </a:r>
            <a:r>
              <a:rPr lang="zh-CN" altLang="en-US" sz="3000" dirty="0"/>
              <a:t>溴丁烷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	(4) 2-</a:t>
            </a:r>
            <a:r>
              <a:rPr lang="zh-CN" altLang="en-US" sz="3000" dirty="0"/>
              <a:t>乙基</a:t>
            </a:r>
            <a:r>
              <a:rPr lang="en-US" altLang="zh-CN" sz="3000" dirty="0"/>
              <a:t>-1-</a:t>
            </a:r>
            <a:r>
              <a:rPr lang="zh-CN" altLang="en-US" sz="3000" dirty="0"/>
              <a:t>氯戊烷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	(5) 4-</a:t>
            </a:r>
            <a:r>
              <a:rPr lang="zh-CN" altLang="en-US" sz="3000" dirty="0"/>
              <a:t>甲基</a:t>
            </a:r>
            <a:r>
              <a:rPr lang="en-US" altLang="zh-CN" sz="3000" dirty="0"/>
              <a:t>-2-</a:t>
            </a:r>
            <a:r>
              <a:rPr lang="zh-CN" altLang="en-US" sz="3000" dirty="0"/>
              <a:t>氯己烷</a:t>
            </a:r>
            <a:endParaRPr lang="en-US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	(6) 3-</a:t>
            </a:r>
            <a:r>
              <a:rPr lang="zh-CN" altLang="en-US" sz="3000" dirty="0"/>
              <a:t>氯</a:t>
            </a:r>
            <a:r>
              <a:rPr lang="en-US" altLang="zh-CN" sz="3000" dirty="0"/>
              <a:t>-4-</a:t>
            </a:r>
            <a:r>
              <a:rPr lang="zh-CN" altLang="en-US" sz="3000" dirty="0"/>
              <a:t>溴己烷</a:t>
            </a:r>
            <a:r>
              <a:rPr lang="en-US" altLang="zh-CN" sz="3000" dirty="0"/>
              <a:t>	</a:t>
            </a:r>
          </a:p>
          <a:p>
            <a:pPr marL="514350" indent="-514350">
              <a:spcBef>
                <a:spcPts val="1200"/>
              </a:spcBef>
              <a:buNone/>
            </a:pPr>
            <a:endParaRPr lang="en-US" altLang="zh-CN" sz="3000" dirty="0"/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8746337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spcBef>
                <a:spcPts val="1200"/>
              </a:spcBef>
              <a:buAutoNum type="arabicPeriod" startAt="2"/>
            </a:pPr>
            <a:r>
              <a:rPr lang="en-US" altLang="zh-CN" sz="3000" dirty="0"/>
              <a:t>① + NaOH</a:t>
            </a:r>
            <a:r>
              <a:rPr lang="zh-CN" altLang="en-US" sz="3000" dirty="0"/>
              <a:t>的水溶液</a:t>
            </a:r>
            <a:r>
              <a:rPr lang="en-MY" altLang="zh-CN" sz="3000" dirty="0"/>
              <a:t>	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MY" altLang="zh-CN" sz="3000" dirty="0"/>
              <a:t>      </a:t>
            </a:r>
            <a:r>
              <a:rPr lang="en-US" altLang="zh-CN" sz="3000" dirty="0"/>
              <a:t>②+ HCl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③ + NaOH</a:t>
            </a:r>
            <a:r>
              <a:rPr lang="zh-CN" altLang="en-US" sz="3000" dirty="0"/>
              <a:t>的乙醇溶液</a:t>
            </a:r>
            <a:r>
              <a:rPr lang="en-US" altLang="zh-CN" sz="3000" dirty="0"/>
              <a:t> 	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	④ +</a:t>
            </a:r>
            <a:r>
              <a:rPr lang="zh-CN" altLang="en-US" sz="3000" dirty="0"/>
              <a:t>水 </a:t>
            </a:r>
            <a:r>
              <a:rPr lang="en-MY" altLang="zh-CN" sz="3000" dirty="0"/>
              <a:t>	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en-MY" altLang="zh-CN" sz="3000" dirty="0"/>
              <a:t>	</a:t>
            </a:r>
            <a:r>
              <a:rPr lang="en-US" altLang="zh-CN" sz="3000" dirty="0"/>
              <a:t>⑤ </a:t>
            </a:r>
            <a:r>
              <a:rPr lang="zh-CN" altLang="en-US" sz="3000" dirty="0"/>
              <a:t>在浓硫酸的作用下加热至</a:t>
            </a:r>
            <a:r>
              <a:rPr lang="en-US" altLang="zh-CN" sz="3000" dirty="0"/>
              <a:t>170</a:t>
            </a:r>
            <a:r>
              <a:rPr lang="en-US" altLang="zh-CN" sz="3000" baseline="30000" dirty="0"/>
              <a:t>o</a:t>
            </a:r>
            <a:r>
              <a:rPr lang="en-US" altLang="zh-CN" sz="3000" dirty="0"/>
              <a:t> C </a:t>
            </a:r>
          </a:p>
          <a:p>
            <a:pPr marL="514350" indent="-514350">
              <a:spcBef>
                <a:spcPts val="1200"/>
              </a:spcBef>
              <a:buNone/>
            </a:pPr>
            <a:r>
              <a:rPr lang="zh-CN" altLang="en-US" sz="3000" dirty="0"/>
              <a:t>反应类型 ：</a:t>
            </a:r>
            <a:endParaRPr lang="en-MY" altLang="zh-CN" sz="3000" dirty="0"/>
          </a:p>
          <a:p>
            <a:pPr marL="514350" indent="-514350">
              <a:spcBef>
                <a:spcPts val="1200"/>
              </a:spcBef>
              <a:buNone/>
            </a:pPr>
            <a:r>
              <a:rPr lang="en-US" altLang="zh-CN" sz="3000" dirty="0"/>
              <a:t>① </a:t>
            </a:r>
            <a:r>
              <a:rPr lang="zh-CN" altLang="en-US" sz="3000" dirty="0"/>
              <a:t>取代</a:t>
            </a:r>
            <a:r>
              <a:rPr lang="en-MY" altLang="zh-CN" sz="3000" dirty="0"/>
              <a:t>	</a:t>
            </a:r>
            <a:r>
              <a:rPr lang="en-US" altLang="zh-CN" sz="3000" dirty="0"/>
              <a:t>② </a:t>
            </a:r>
            <a:r>
              <a:rPr lang="zh-CN" altLang="en-US" sz="3000" dirty="0"/>
              <a:t>加成</a:t>
            </a:r>
            <a:r>
              <a:rPr lang="en-US" altLang="zh-CN" sz="3000" dirty="0"/>
              <a:t>	③ </a:t>
            </a:r>
            <a:r>
              <a:rPr lang="zh-CN" altLang="en-US" sz="3000" dirty="0"/>
              <a:t>消去</a:t>
            </a:r>
            <a:r>
              <a:rPr lang="en-US" altLang="zh-CN" sz="3000" dirty="0"/>
              <a:t>	④ </a:t>
            </a:r>
            <a:r>
              <a:rPr lang="zh-CN" altLang="en-US" sz="3000" dirty="0"/>
              <a:t>加成</a:t>
            </a:r>
            <a:r>
              <a:rPr lang="en-US" altLang="zh-CN" sz="3000" dirty="0"/>
              <a:t>      ⑤ </a:t>
            </a:r>
            <a:r>
              <a:rPr lang="zh-CN" altLang="en-US" sz="3000" dirty="0"/>
              <a:t>消去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233285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3000" dirty="0"/>
              <a:t>3. </a:t>
            </a:r>
            <a:r>
              <a:rPr lang="zh-CN" altLang="en-US" sz="3000" dirty="0"/>
              <a:t>（</a:t>
            </a:r>
            <a:r>
              <a:rPr lang="en-US" altLang="zh-CN" sz="3000" dirty="0"/>
              <a:t>1</a:t>
            </a:r>
            <a:r>
              <a:rPr lang="zh-CN" altLang="en-US" sz="3000" dirty="0"/>
              <a:t>）用水浴加热而不直接用酒精灯加热的原因是</a:t>
            </a:r>
            <a:r>
              <a:rPr lang="zh-CN" altLang="en-US" sz="3000" u="sng" dirty="0"/>
              <a:t>溴乙烷沸点低，减少溴乙烷的损失</a:t>
            </a:r>
            <a:r>
              <a:rPr lang="zh-CN" altLang="en-US" sz="3000" dirty="0"/>
              <a:t>   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2</a:t>
            </a:r>
            <a:r>
              <a:rPr lang="zh-CN" altLang="en-US" sz="3000" dirty="0"/>
              <a:t>）</a:t>
            </a:r>
            <a:r>
              <a:rPr lang="zh-CN" altLang="en-US" sz="3000" u="sng" dirty="0"/>
              <a:t>观察到试管内溶液静置后不分层</a:t>
            </a:r>
            <a:r>
              <a:rPr lang="zh-CN" altLang="en-US" sz="3000" dirty="0"/>
              <a:t>，表明溴乙烷与</a:t>
            </a:r>
            <a:r>
              <a:rPr lang="en-US" altLang="zh-CN" sz="3000" dirty="0"/>
              <a:t>NaOH</a:t>
            </a:r>
            <a:r>
              <a:rPr lang="zh-CN" altLang="en-US" sz="3000" dirty="0"/>
              <a:t>溶液已完全反应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3</a:t>
            </a:r>
            <a:r>
              <a:rPr lang="zh-CN" altLang="en-US" sz="3000" dirty="0"/>
              <a:t>）鉴定生成物中乙醇的结构，可用的波谱是</a:t>
            </a:r>
            <a:r>
              <a:rPr lang="zh-CN" altLang="en-US" sz="3000" u="sng" dirty="0"/>
              <a:t>红外光谱、核磁共振氢谱   </a:t>
            </a:r>
            <a:endParaRPr lang="en-MY" altLang="zh-CN" sz="3000" u="sng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（</a:t>
            </a:r>
            <a:r>
              <a:rPr lang="en-US" altLang="zh-CN" sz="3000" dirty="0"/>
              <a:t>4</a:t>
            </a:r>
            <a:r>
              <a:rPr lang="zh-CN" altLang="en-US" sz="3000" dirty="0"/>
              <a:t>） 实验方案中，需要检验的是</a:t>
            </a:r>
            <a:r>
              <a:rPr lang="zh-CN" altLang="en-US" sz="3000" u="sng" dirty="0"/>
              <a:t>生成的气体</a:t>
            </a:r>
            <a:r>
              <a:rPr lang="zh-CN" altLang="en-US" sz="3000" dirty="0"/>
              <a:t>；</a:t>
            </a:r>
            <a:endParaRPr lang="en-MY" altLang="zh-CN" sz="30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3000" dirty="0"/>
              <a:t> 检验的方法是：</a:t>
            </a:r>
            <a:r>
              <a:rPr lang="zh-CN" altLang="en-US" sz="3000" u="sng" dirty="0"/>
              <a:t>将生成的气体先通过盛有水的试管</a:t>
            </a:r>
            <a:r>
              <a:rPr lang="zh-CN" altLang="en-US" sz="3000" dirty="0"/>
              <a:t>，</a:t>
            </a:r>
            <a:r>
              <a:rPr lang="zh-CN" altLang="en-US" sz="3000" u="sng" dirty="0"/>
              <a:t>再通入盛有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zh-CN" altLang="en-US" sz="3000" u="sng" dirty="0"/>
              <a:t>溶液的试管，</a:t>
            </a:r>
            <a:r>
              <a:rPr lang="en-US" altLang="zh-CN" sz="3000" dirty="0"/>
              <a:t>KMnO</a:t>
            </a:r>
            <a:r>
              <a:rPr lang="en-US" altLang="zh-CN" sz="3000" baseline="-25000" dirty="0"/>
              <a:t>4</a:t>
            </a:r>
            <a:r>
              <a:rPr lang="zh-CN" altLang="en-US" sz="3000" u="sng" dirty="0"/>
              <a:t>溶液褪色</a:t>
            </a:r>
            <a:r>
              <a:rPr lang="en-US" altLang="zh-CN" sz="3000" u="sng" dirty="0"/>
              <a:t>(</a:t>
            </a:r>
            <a:r>
              <a:rPr lang="zh-CN" altLang="en-US" sz="3000" u="sng" dirty="0"/>
              <a:t>或直接通入溴的四氯化碳溶液</a:t>
            </a:r>
            <a:r>
              <a:rPr lang="en-US" altLang="zh-CN" sz="3000" u="sng" dirty="0"/>
              <a:t>)</a:t>
            </a:r>
          </a:p>
          <a:p>
            <a:pPr>
              <a:spcBef>
                <a:spcPts val="1200"/>
              </a:spcBef>
              <a:buNone/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923453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867400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sz="2800" dirty="0"/>
              <a:t>3.</a:t>
            </a:r>
            <a:r>
              <a:rPr lang="zh-CN" altLang="en-US" sz="2800" dirty="0"/>
              <a:t>解析：（</a:t>
            </a:r>
            <a:r>
              <a:rPr lang="en-US" altLang="zh-CN" sz="2800" dirty="0"/>
              <a:t>1</a:t>
            </a:r>
            <a:r>
              <a:rPr lang="zh-CN" altLang="en-US" sz="2800" dirty="0"/>
              <a:t>）溴乙烷沸点低，若用酒精灯直接加热，反应温度不容易控制，导致溴乙烷大量挥发而损失。用水浴加热就可以减少溴乙烷的损失。</a:t>
            </a:r>
            <a:endParaRPr lang="en-MY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）溴乙烷不能溶于水，若完全水解，产物乙醇和</a:t>
            </a:r>
            <a:r>
              <a:rPr lang="en-US" altLang="zh-CN" sz="2800" dirty="0" err="1"/>
              <a:t>NaBr</a:t>
            </a:r>
            <a:r>
              <a:rPr lang="zh-CN" altLang="en-US" sz="2800" dirty="0"/>
              <a:t>都能在水中溶解。因此若观察到试管内溶液静置后不分层，表明溴乙烷与</a:t>
            </a:r>
            <a:r>
              <a:rPr lang="en-US" altLang="zh-CN" sz="2800" dirty="0"/>
              <a:t>NaOH</a:t>
            </a:r>
            <a:r>
              <a:rPr lang="zh-CN" altLang="en-US" sz="2800" dirty="0"/>
              <a:t>溶液已完全反应。</a:t>
            </a:r>
            <a:endParaRPr lang="en-MY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3</a:t>
            </a:r>
            <a:r>
              <a:rPr lang="zh-CN" altLang="en-US" sz="2800" dirty="0"/>
              <a:t>）鉴定生成物中乙醇的结构，可用的波谱是红外光谱、核磁共振氢谱。</a:t>
            </a:r>
            <a:endParaRPr lang="en-MY" altLang="zh-CN" sz="2800" dirty="0"/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）溴乙烷在</a:t>
            </a:r>
            <a:r>
              <a:rPr lang="en-US" altLang="zh-CN" sz="2800" dirty="0"/>
              <a:t>NaOH</a:t>
            </a:r>
            <a:r>
              <a:rPr lang="zh-CN" altLang="en-US" sz="2800" dirty="0"/>
              <a:t>乙醇溶液中发生消去反应，得到乙烯和</a:t>
            </a:r>
            <a:r>
              <a:rPr lang="en-US" altLang="zh-CN" sz="2800" dirty="0" err="1"/>
              <a:t>NaBr</a:t>
            </a:r>
            <a:r>
              <a:rPr lang="zh-CN" altLang="en-US" sz="2800" dirty="0"/>
              <a:t>。乙烯是不能溶解于水的气体，但是能被酸性</a:t>
            </a:r>
            <a:r>
              <a:rPr lang="en-US" altLang="zh-CN" sz="2800" dirty="0"/>
              <a:t>KMnO</a:t>
            </a:r>
            <a:r>
              <a:rPr lang="en-US" altLang="zh-CN" sz="2800" baseline="-25000" dirty="0"/>
              <a:t>4</a:t>
            </a:r>
            <a:r>
              <a:rPr lang="zh-CN" altLang="en-US" sz="2800" dirty="0"/>
              <a:t>溶液氧化，而使之褪色。或能使溴水</a:t>
            </a:r>
            <a:r>
              <a:rPr lang="en-US" altLang="zh-CN" sz="2800" dirty="0"/>
              <a:t>(</a:t>
            </a:r>
            <a:r>
              <a:rPr lang="zh-CN" altLang="en-US" sz="2800" dirty="0"/>
              <a:t>或溴的四氯化碳溶液</a:t>
            </a:r>
            <a:r>
              <a:rPr lang="en-US" altLang="zh-CN" sz="2800" dirty="0"/>
              <a:t>)</a:t>
            </a:r>
            <a:r>
              <a:rPr lang="zh-CN" altLang="en-US" sz="2800" dirty="0"/>
              <a:t>阴精此沦惑反应而褪色。因此要检验的物质是生成的气体。</a:t>
            </a:r>
            <a:r>
              <a:rPr lang="en-US" altLang="zh-CN" sz="2800" dirty="0"/>
              <a:t>	</a:t>
            </a:r>
          </a:p>
          <a:p>
            <a:pPr>
              <a:spcBef>
                <a:spcPts val="1200"/>
              </a:spcBef>
              <a:buNone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52333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8674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4. A </a:t>
            </a:r>
            <a:r>
              <a:rPr lang="zh-CN" altLang="en-US" sz="3000" dirty="0"/>
              <a:t>结构简式</a:t>
            </a:r>
            <a:r>
              <a:rPr lang="en-MY" altLang="zh-CN" sz="3000" dirty="0"/>
              <a:t>	    	</a:t>
            </a:r>
            <a:r>
              <a:rPr lang="zh-CN" altLang="en-US" sz="3000" dirty="0"/>
              <a:t>名称：环已烷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① </a:t>
            </a:r>
            <a:r>
              <a:rPr lang="zh-CN" altLang="en-US" sz="3000" dirty="0"/>
              <a:t>取代</a:t>
            </a:r>
            <a:r>
              <a:rPr lang="en-MY" altLang="zh-CN" sz="3000" dirty="0"/>
              <a:t>	</a:t>
            </a:r>
            <a:r>
              <a:rPr lang="en-US" altLang="zh-CN" sz="3000" dirty="0"/>
              <a:t>③ </a:t>
            </a:r>
            <a:r>
              <a:rPr lang="zh-CN" altLang="en-US" sz="3000" dirty="0"/>
              <a:t>加成</a:t>
            </a:r>
            <a:r>
              <a:rPr lang="en-US" altLang="zh-CN" sz="3000" dirty="0"/>
              <a:t> 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zh-CN" altLang="en-US" sz="3000" dirty="0"/>
              <a:t>答案提示反应</a:t>
            </a:r>
            <a:r>
              <a:rPr lang="en-US" altLang="zh-CN" sz="3000" dirty="0"/>
              <a:t>④ </a:t>
            </a:r>
            <a:r>
              <a:rPr lang="zh-CN" altLang="en-US" sz="3000" dirty="0"/>
              <a:t>：</a:t>
            </a:r>
            <a:endParaRPr lang="en-MY" altLang="zh-CN" sz="3000" dirty="0"/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1</a:t>
            </a:r>
            <a:r>
              <a:rPr lang="en-MY" altLang="zh-CN" sz="3000" dirty="0"/>
              <a:t>,2-</a:t>
            </a:r>
            <a:r>
              <a:rPr lang="zh-CN" altLang="en-US" sz="3000" dirty="0"/>
              <a:t>二溴环己烷 </a:t>
            </a:r>
            <a:r>
              <a:rPr lang="en-US" altLang="zh-CN" sz="3000" dirty="0"/>
              <a:t>+ 2NaOH	   1</a:t>
            </a:r>
            <a:r>
              <a:rPr lang="en-MY" altLang="zh-CN" sz="3000" dirty="0"/>
              <a:t>,3-</a:t>
            </a:r>
            <a:r>
              <a:rPr lang="zh-CN" altLang="en-US" sz="3000" dirty="0"/>
              <a:t>环己二烯 </a:t>
            </a:r>
            <a:r>
              <a:rPr lang="en-US" altLang="zh-CN" sz="3000" dirty="0"/>
              <a:t>+ 2NaBr </a:t>
            </a:r>
          </a:p>
          <a:p>
            <a:pPr marL="514350" indent="-51435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3000" dirty="0"/>
              <a:t>							                  + 2 H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O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5C3368D1-691F-4957-A62F-6355B28ADA97}"/>
              </a:ext>
            </a:extLst>
          </p:cNvPr>
          <p:cNvSpPr/>
          <p:nvPr/>
        </p:nvSpPr>
        <p:spPr>
          <a:xfrm>
            <a:off x="2895600" y="1028700"/>
            <a:ext cx="762000" cy="647700"/>
          </a:xfrm>
          <a:prstGeom prst="hex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AC0A05-2BFA-491F-B408-B5F2D16C4D44}"/>
              </a:ext>
            </a:extLst>
          </p:cNvPr>
          <p:cNvGrpSpPr/>
          <p:nvPr/>
        </p:nvGrpSpPr>
        <p:grpSpPr>
          <a:xfrm>
            <a:off x="4419600" y="3572911"/>
            <a:ext cx="648191" cy="702777"/>
            <a:chOff x="2646086" y="2542255"/>
            <a:chExt cx="738581" cy="652192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6CA2997A-AFA5-435D-8EB2-2449269BF5B9}"/>
                </a:ext>
              </a:extLst>
            </p:cNvPr>
            <p:cNvGrpSpPr/>
            <p:nvPr/>
          </p:nvGrpSpPr>
          <p:grpSpPr>
            <a:xfrm>
              <a:off x="2646086" y="2542255"/>
              <a:ext cx="738581" cy="652192"/>
              <a:chOff x="2646086" y="2542255"/>
              <a:chExt cx="738581" cy="65219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C8C4A81E-4A68-47F5-AD58-E999E17A8A16}"/>
                  </a:ext>
                </a:extLst>
              </p:cNvPr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>
                <a:extLst>
                  <a:ext uri="{FF2B5EF4-FFF2-40B4-BE49-F238E27FC236}">
                    <a16:creationId xmlns:a16="http://schemas.microsoft.com/office/drawing/2014/main" id="{EFCF639D-FE50-41C3-8AFE-DA97D5553A97}"/>
                  </a:ext>
                </a:extLst>
              </p:cNvPr>
              <p:cNvSpPr txBox="1"/>
              <p:nvPr/>
            </p:nvSpPr>
            <p:spPr>
              <a:xfrm>
                <a:off x="2723020" y="2542255"/>
                <a:ext cx="615484" cy="34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n w="10160">
                      <a:solidFill>
                        <a:schemeClr val="tx1"/>
                      </a:solidFill>
                      <a:prstDash val="solid"/>
                    </a:ln>
                  </a:rPr>
                  <a:t>醇</a:t>
                </a:r>
                <a:endParaRPr lang="en-US" altLang="zh-CN" baseline="-25000" dirty="0">
                  <a:ln w="10160">
                    <a:solidFill>
                      <a:schemeClr val="tx1"/>
                    </a:solidFill>
                    <a:prstDash val="solid"/>
                  </a:ln>
                </a:endParaRPr>
              </a:p>
            </p:txBody>
          </p:sp>
          <p:sp>
            <p:nvSpPr>
              <p:cNvPr id="11" name="文本框 6">
                <a:extLst>
                  <a:ext uri="{FF2B5EF4-FFF2-40B4-BE49-F238E27FC236}">
                    <a16:creationId xmlns:a16="http://schemas.microsoft.com/office/drawing/2014/main" id="{78AC0B3B-E40B-492F-8524-F89A474576B1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4938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80EC2AB-08BE-4B21-87E9-70195A18230F}"/>
                </a:ext>
              </a:extLst>
            </p:cNvPr>
            <p:cNvSpPr/>
            <p:nvPr/>
          </p:nvSpPr>
          <p:spPr>
            <a:xfrm>
              <a:off x="2876891" y="291158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466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838200"/>
                <a:ext cx="8686800" cy="58674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5. </a:t>
                </a:r>
                <a:r>
                  <a:rPr lang="en-MY" altLang="zh-CN" sz="3000" dirty="0"/>
                  <a:t>(1) </a:t>
                </a:r>
                <a:r>
                  <a:rPr lang="en-US" altLang="zh-CN" sz="3000" dirty="0"/>
                  <a:t>2―9―8―3―4―5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MY" altLang="zh-CN" sz="3000" dirty="0"/>
                  <a:t>(2) a:</a:t>
                </a:r>
                <a:r>
                  <a:rPr lang="zh-CN" altLang="en-US" sz="3000" dirty="0"/>
                  <a:t>实验中液体的体积应介于烧瓶容积的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3000" dirty="0"/>
                  <a:t>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MY" altLang="zh-CN" sz="3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3000" dirty="0"/>
                  <a:t>之间为宜。实验液体体积约</a:t>
                </a:r>
                <a:r>
                  <a:rPr lang="en-US" altLang="zh-CN" sz="3000" dirty="0"/>
                  <a:t>=36mL + 25mL + </a:t>
                </a:r>
                <a:r>
                  <a:rPr lang="zh-CN" altLang="en-US" sz="3000" dirty="0"/>
                  <a:t>乙醇体积以超过</a:t>
                </a:r>
                <a:r>
                  <a:rPr lang="en-US" altLang="zh-CN" sz="3000" dirty="0"/>
                  <a:t>a</a:t>
                </a:r>
                <a:r>
                  <a:rPr lang="zh-CN" altLang="en-US" sz="3000" dirty="0"/>
                  <a:t>装置容积的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MY" altLang="zh-CN" sz="3000" i="1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3000" dirty="0"/>
                  <a:t>，故不能选用</a:t>
                </a:r>
                <a:r>
                  <a:rPr lang="en-US" altLang="zh-CN" sz="3000" dirty="0"/>
                  <a:t>a</a:t>
                </a:r>
                <a:r>
                  <a:rPr lang="zh-CN" altLang="en-US" sz="3000" dirty="0"/>
                  <a:t>。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MY" altLang="zh-CN" sz="3000" dirty="0"/>
                  <a:t>	  e:</a:t>
                </a:r>
                <a:r>
                  <a:rPr lang="zh-CN" altLang="en-US" sz="3000" dirty="0"/>
                  <a:t>副产物</a:t>
                </a:r>
                <a:r>
                  <a:rPr lang="en-US" altLang="zh-CN" sz="3000" dirty="0"/>
                  <a:t>HBr</a:t>
                </a:r>
                <a:r>
                  <a:rPr lang="zh-CN" altLang="en-US" sz="3000" dirty="0"/>
                  <a:t>极易溶于水，为有利于蒸气的吸收，并防止倒吸，采用倒置漏斗的方式，不选用</a:t>
                </a:r>
                <a:r>
                  <a:rPr lang="en-US" altLang="zh-CN" sz="3000" dirty="0"/>
                  <a:t>e</a:t>
                </a:r>
                <a:r>
                  <a:rPr lang="zh-CN" altLang="en-US" sz="3000" dirty="0"/>
                  <a:t>。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MY" altLang="zh-CN" sz="3000" dirty="0"/>
                  <a:t>(3) </a:t>
                </a:r>
                <a:r>
                  <a:rPr lang="en-US" altLang="zh-CN" sz="3000" dirty="0"/>
                  <a:t>2</a:t>
                </a:r>
                <a:r>
                  <a:rPr lang="en-MY" sz="3000" dirty="0" err="1"/>
                  <a:t>NaBr</a:t>
                </a:r>
                <a:r>
                  <a:rPr lang="en-MY" sz="3000" dirty="0"/>
                  <a:t> + 2H</a:t>
                </a:r>
                <a:r>
                  <a:rPr lang="en-MY" sz="3000" baseline="-25000" dirty="0"/>
                  <a:t>2</a:t>
                </a:r>
                <a:r>
                  <a:rPr lang="en-MY" sz="3000" dirty="0"/>
                  <a:t>SO</a:t>
                </a:r>
                <a:r>
                  <a:rPr lang="en-MY" sz="3000" baseline="-25000" dirty="0"/>
                  <a:t>4</a:t>
                </a:r>
                <a:r>
                  <a:rPr lang="en-MY" sz="3000" dirty="0"/>
                  <a:t> </a:t>
                </a:r>
                <a:r>
                  <a:rPr lang="en-US" sz="3000" dirty="0">
                    <a:sym typeface="Wingdings" panose="05000000000000000000" pitchFamily="2" charset="2"/>
                  </a:rPr>
                  <a:t>         </a:t>
                </a:r>
                <a:r>
                  <a:rPr lang="en-MY" sz="3000" dirty="0"/>
                  <a:t>Na</a:t>
                </a:r>
                <a:r>
                  <a:rPr lang="en-MY" sz="3000" baseline="-25000" dirty="0"/>
                  <a:t>2</a:t>
                </a:r>
                <a:r>
                  <a:rPr lang="en-MY" sz="3000" dirty="0"/>
                  <a:t>SO</a:t>
                </a:r>
                <a:r>
                  <a:rPr lang="en-MY" sz="3000" baseline="-25000" dirty="0"/>
                  <a:t>4</a:t>
                </a:r>
                <a:r>
                  <a:rPr lang="en-MY" sz="3000" dirty="0"/>
                  <a:t> + 2H</a:t>
                </a:r>
                <a:r>
                  <a:rPr lang="en-MY" sz="3000" baseline="-25000" dirty="0"/>
                  <a:t>2</a:t>
                </a:r>
                <a:r>
                  <a:rPr lang="en-MY" sz="3000" dirty="0"/>
                  <a:t>O + SO</a:t>
                </a:r>
                <a:r>
                  <a:rPr lang="en-MY" sz="3000" baseline="-25000" dirty="0"/>
                  <a:t>2</a:t>
                </a:r>
                <a:r>
                  <a:rPr lang="en-MY" sz="3000" dirty="0"/>
                  <a:t>+ Br</a:t>
                </a:r>
                <a:r>
                  <a:rPr lang="en-MY" sz="3000" baseline="-25000" dirty="0"/>
                  <a:t>2</a:t>
                </a:r>
                <a:endParaRPr lang="en-MY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MY" altLang="zh-CN" sz="3000" dirty="0"/>
                  <a:t>(4) </a:t>
                </a:r>
                <a:r>
                  <a:rPr lang="zh-CN" altLang="en-US" sz="3000" dirty="0"/>
                  <a:t>蒸馏水或</a:t>
                </a:r>
                <a:r>
                  <a:rPr lang="en-MY" sz="3000" dirty="0"/>
                  <a:t>Na</a:t>
                </a:r>
                <a:r>
                  <a:rPr lang="en-US" altLang="zh-CN" sz="3000" dirty="0"/>
                  <a:t>OH</a:t>
                </a:r>
                <a:r>
                  <a:rPr lang="zh-CN" altLang="en-US" sz="3000" dirty="0"/>
                  <a:t>溶液；分液漏斗。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为了除去溶于溴乙烷中的溴可加入</a:t>
                </a:r>
                <a:r>
                  <a:rPr lang="en-US" altLang="zh-CN" sz="3000" dirty="0"/>
                  <a:t>NaOH</a:t>
                </a:r>
                <a:r>
                  <a:rPr lang="zh-CN" altLang="en-US" sz="3000" dirty="0"/>
                  <a:t>溶液振荡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洗涤，之后用分液漏斗分液，除去水层。</a:t>
                </a:r>
                <a:endParaRPr lang="en-MY" altLang="zh-CN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38200"/>
                <a:ext cx="8686800" cy="5867400"/>
              </a:xfrm>
              <a:blipFill>
                <a:blip r:embed="rId3"/>
                <a:stretch>
                  <a:fillRect l="-1614" t="-1247" r="-1614" b="-436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EEFC722-64D2-4C0F-AF61-8F52A8787989}"/>
              </a:ext>
            </a:extLst>
          </p:cNvPr>
          <p:cNvGrpSpPr/>
          <p:nvPr/>
        </p:nvGrpSpPr>
        <p:grpSpPr>
          <a:xfrm>
            <a:off x="3352800" y="4419600"/>
            <a:ext cx="648191" cy="618090"/>
            <a:chOff x="2646086" y="2620847"/>
            <a:chExt cx="738581" cy="573600"/>
          </a:xfrm>
        </p:grpSpPr>
        <p:grpSp>
          <p:nvGrpSpPr>
            <p:cNvPr id="7" name="Group 10">
              <a:extLst>
                <a:ext uri="{FF2B5EF4-FFF2-40B4-BE49-F238E27FC236}">
                  <a16:creationId xmlns:a16="http://schemas.microsoft.com/office/drawing/2014/main" id="{1DC9D54E-30A3-4C55-A2EA-486D689CF82E}"/>
                </a:ext>
              </a:extLst>
            </p:cNvPr>
            <p:cNvGrpSpPr/>
            <p:nvPr/>
          </p:nvGrpSpPr>
          <p:grpSpPr>
            <a:xfrm>
              <a:off x="2646086" y="2825115"/>
              <a:ext cx="738581" cy="369332"/>
              <a:chOff x="2646086" y="2825115"/>
              <a:chExt cx="738581" cy="369332"/>
            </a:xfrm>
          </p:grpSpPr>
          <p:cxnSp>
            <p:nvCxnSpPr>
              <p:cNvPr id="9" name="直接箭头连接符 1">
                <a:extLst>
                  <a:ext uri="{FF2B5EF4-FFF2-40B4-BE49-F238E27FC236}">
                    <a16:creationId xmlns:a16="http://schemas.microsoft.com/office/drawing/2014/main" id="{452C1B41-E18D-442D-BA6F-6C3F19076405}"/>
                  </a:ext>
                </a:extLst>
              </p:cNvPr>
              <p:cNvCxnSpPr/>
              <p:nvPr/>
            </p:nvCxnSpPr>
            <p:spPr>
              <a:xfrm>
                <a:off x="2646086" y="2839721"/>
                <a:ext cx="73858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" name="文本框 6">
                <a:extLst>
                  <a:ext uri="{FF2B5EF4-FFF2-40B4-BE49-F238E27FC236}">
                    <a16:creationId xmlns:a16="http://schemas.microsoft.com/office/drawing/2014/main" id="{FFE46665-079F-4AD0-9450-744819A7F7E0}"/>
                  </a:ext>
                </a:extLst>
              </p:cNvPr>
              <p:cNvSpPr txBox="1"/>
              <p:nvPr/>
            </p:nvSpPr>
            <p:spPr>
              <a:xfrm>
                <a:off x="2740342" y="2825115"/>
                <a:ext cx="4938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>
                  <a:ln w="10160">
                    <a:solidFill>
                      <a:schemeClr val="tx1"/>
                    </a:solidFill>
                    <a:prstDash val="solid"/>
                  </a:ln>
                  <a:latin typeface="SimSun" charset="0"/>
                  <a:cs typeface="SimSun" charset="0"/>
                </a:endParaRPr>
              </a:p>
            </p:txBody>
          </p:sp>
        </p:grp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2B11E40-8EEC-44F9-9315-5767576C47C0}"/>
                </a:ext>
              </a:extLst>
            </p:cNvPr>
            <p:cNvSpPr/>
            <p:nvPr/>
          </p:nvSpPr>
          <p:spPr>
            <a:xfrm>
              <a:off x="2876891" y="2620847"/>
              <a:ext cx="170688" cy="182881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6768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user\Desktop\chemistry\ppt&amp;video\高中化学\背景图\p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9892" cy="6853587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02485"/>
          </a:xfrm>
        </p:spPr>
        <p:txBody>
          <a:bodyPr>
            <a:noAutofit/>
          </a:bodyPr>
          <a:lstStyle/>
          <a:p>
            <a:pPr algn="l"/>
            <a:r>
              <a:rPr lang="zh-CN" altLang="en-US" sz="4000" b="1" dirty="0"/>
              <a:t>作答题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838200"/>
                <a:ext cx="8686800" cy="58674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5. (5) m</a:t>
                </a:r>
                <a:r>
                  <a:rPr lang="zh-CN" altLang="en-US" sz="3000" baseline="-25000" dirty="0"/>
                  <a:t>液</a:t>
                </a:r>
                <a:r>
                  <a:rPr lang="en-US" altLang="zh-CN" sz="3000" dirty="0"/>
                  <a:t>(H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SO</a:t>
                </a:r>
                <a:r>
                  <a:rPr lang="en-US" altLang="zh-CN" sz="3000" baseline="-25000" dirty="0"/>
                  <a:t>4</a:t>
                </a:r>
                <a:r>
                  <a:rPr lang="en-US" altLang="zh-CN" sz="3000" dirty="0"/>
                  <a:t>)= 36mL x 1.84g/mL = 66.24g 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m</a:t>
                </a:r>
                <a:r>
                  <a:rPr lang="zh-CN" altLang="en-US" sz="3000" baseline="-25000" dirty="0"/>
                  <a:t>质</a:t>
                </a:r>
                <a:r>
                  <a:rPr lang="en-US" altLang="zh-CN" sz="3000" dirty="0"/>
                  <a:t>(H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SO</a:t>
                </a:r>
                <a:r>
                  <a:rPr lang="en-US" altLang="zh-CN" sz="3000" baseline="-25000" dirty="0"/>
                  <a:t>4</a:t>
                </a:r>
                <a:r>
                  <a:rPr lang="en-US" altLang="zh-CN" sz="3000" dirty="0"/>
                  <a:t>)=66.24g x 98% = 64.92g</a:t>
                </a:r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US" altLang="zh-CN" sz="3000" dirty="0"/>
                  <a:t>n(H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SO</a:t>
                </a:r>
                <a:r>
                  <a:rPr lang="en-US" altLang="zh-CN" sz="3000" baseline="-25000" dirty="0"/>
                  <a:t>4</a:t>
                </a:r>
                <a:r>
                  <a:rPr lang="en-US" altLang="zh-CN" sz="3000" dirty="0"/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64.92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MY" altLang="zh-CN" sz="30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altLang="zh-CN" sz="3000" dirty="0"/>
                  <a:t>=0.66 mol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由 </a:t>
                </a:r>
                <a:r>
                  <a:rPr lang="en-MY" altLang="zh-CN" sz="3000" dirty="0" err="1"/>
                  <a:t>NaBr</a:t>
                </a:r>
                <a:r>
                  <a:rPr lang="en-MY" altLang="zh-CN" sz="3000" dirty="0"/>
                  <a:t> + </a:t>
                </a:r>
                <a:r>
                  <a:rPr lang="en-US" altLang="zh-CN" sz="3000" dirty="0"/>
                  <a:t>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SO</a:t>
                </a:r>
                <a:r>
                  <a:rPr lang="en-US" altLang="zh-CN" sz="3000" baseline="-25000" dirty="0"/>
                  <a:t>4</a:t>
                </a:r>
                <a:r>
                  <a:rPr lang="zh-CN" altLang="en-US" sz="3000" baseline="-25000" dirty="0"/>
                  <a:t>浓 </a:t>
                </a:r>
                <a:r>
                  <a:rPr lang="en-US" altLang="zh-CN" sz="3000" baseline="-25000" dirty="0"/>
                  <a:t> </a:t>
                </a:r>
                <a:r>
                  <a:rPr lang="en-US" altLang="zh-CN" sz="3000" dirty="0"/>
                  <a:t> </a:t>
                </a:r>
                <a:r>
                  <a:rPr lang="en-US" altLang="zh-CN" sz="3000" dirty="0">
                    <a:sym typeface="Wingdings" panose="05000000000000000000" pitchFamily="2" charset="2"/>
                  </a:rPr>
                  <a:t> NaHSO</a:t>
                </a:r>
                <a:r>
                  <a:rPr lang="en-US" altLang="zh-CN" sz="3000" baseline="-25000" dirty="0">
                    <a:sym typeface="Wingdings" panose="05000000000000000000" pitchFamily="2" charset="2"/>
                  </a:rPr>
                  <a:t>4</a:t>
                </a:r>
                <a:r>
                  <a:rPr lang="en-US" altLang="zh-CN" sz="3000" dirty="0">
                    <a:sym typeface="Wingdings" panose="05000000000000000000" pitchFamily="2" charset="2"/>
                  </a:rPr>
                  <a:t> + HBr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可以判断生成</a:t>
                </a:r>
                <a:r>
                  <a:rPr lang="en-US" altLang="zh-CN" sz="3000" dirty="0"/>
                  <a:t>HBr</a:t>
                </a:r>
                <a:r>
                  <a:rPr lang="zh-CN" altLang="en-US" sz="3000" dirty="0"/>
                  <a:t>为</a:t>
                </a:r>
                <a:r>
                  <a:rPr lang="en-US" altLang="zh-CN" sz="3000" dirty="0"/>
                  <a:t>0</a:t>
                </a:r>
                <a:r>
                  <a:rPr lang="en-MY" altLang="zh-CN" sz="3000" dirty="0"/>
                  <a:t>.</a:t>
                </a:r>
                <a:r>
                  <a:rPr lang="en-US" altLang="zh-CN" sz="3000" dirty="0"/>
                  <a:t>66 mol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由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3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OH + HBr </a:t>
                </a:r>
                <a:r>
                  <a:rPr lang="en-US" altLang="zh-CN" sz="3000" dirty="0">
                    <a:sym typeface="Wingdings" panose="05000000000000000000" pitchFamily="2" charset="2"/>
                  </a:rPr>
                  <a:t> 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3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Br + 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O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en-MY" altLang="zh-CN" sz="3000" dirty="0"/>
                  <a:t>	</a:t>
                </a:r>
                <a:r>
                  <a:rPr lang="en-US" altLang="zh-CN" sz="3000" dirty="0"/>
                  <a:t>0.25mol	    0.66mol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所以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3</a:t>
                </a:r>
                <a:r>
                  <a:rPr lang="en-US" altLang="zh-CN" sz="3000" dirty="0"/>
                  <a:t>CH</a:t>
                </a:r>
                <a:r>
                  <a:rPr lang="en-US" altLang="zh-CN" sz="3000" baseline="-25000" dirty="0"/>
                  <a:t>2</a:t>
                </a:r>
                <a:r>
                  <a:rPr lang="en-US" altLang="zh-CN" sz="3000" dirty="0"/>
                  <a:t>Br</a:t>
                </a:r>
                <a:r>
                  <a:rPr lang="zh-CN" altLang="en-US" sz="3000" dirty="0"/>
                  <a:t>理论产量为</a:t>
                </a:r>
                <a:r>
                  <a:rPr lang="en-US" altLang="zh-CN" sz="3000" dirty="0"/>
                  <a:t>0.25molx109g/mol=27</a:t>
                </a:r>
                <a:r>
                  <a:rPr lang="en-MY" altLang="zh-CN" sz="3000" dirty="0"/>
                  <a:t>.</a:t>
                </a:r>
                <a:r>
                  <a:rPr lang="en-US" altLang="zh-CN" sz="3000" dirty="0"/>
                  <a:t>25 g</a:t>
                </a:r>
                <a:endParaRPr lang="en-MY" altLang="zh-CN" sz="3000" dirty="0"/>
              </a:p>
              <a:p>
                <a:pPr>
                  <a:spcBef>
                    <a:spcPts val="1200"/>
                  </a:spcBef>
                  <a:buNone/>
                </a:pPr>
                <a:r>
                  <a:rPr lang="zh-CN" altLang="en-US" sz="3000" dirty="0"/>
                  <a:t>实际产量为</a:t>
                </a:r>
                <a:r>
                  <a:rPr lang="en-MY" altLang="zh-CN" sz="3000" dirty="0"/>
                  <a:t>=</a:t>
                </a:r>
                <a:r>
                  <a:rPr lang="en-US" altLang="zh-CN" sz="3000" dirty="0"/>
                  <a:t>27</a:t>
                </a:r>
                <a:r>
                  <a:rPr lang="en-MY" altLang="zh-CN" sz="3000" dirty="0"/>
                  <a:t>.</a:t>
                </a:r>
                <a:r>
                  <a:rPr lang="en-US" altLang="zh-CN" sz="3000" dirty="0"/>
                  <a:t>25g x 60</a:t>
                </a:r>
                <a:r>
                  <a:rPr lang="en-MY" altLang="zh-CN" sz="3000" dirty="0"/>
                  <a:t>%</a:t>
                </a:r>
                <a:r>
                  <a:rPr lang="en-US" altLang="zh-CN" sz="3000" dirty="0"/>
                  <a:t>=16</a:t>
                </a:r>
                <a:r>
                  <a:rPr lang="en-MY" altLang="zh-CN" sz="3000" dirty="0"/>
                  <a:t>.</a:t>
                </a:r>
                <a:r>
                  <a:rPr lang="en-US" altLang="zh-CN" sz="3000" dirty="0"/>
                  <a:t>4g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38200"/>
                <a:ext cx="8686800" cy="5867400"/>
              </a:xfrm>
              <a:blipFill>
                <a:blip r:embed="rId3"/>
                <a:stretch>
                  <a:fillRect l="-1614" t="-1247" r="-77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816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6145441</TotalTime>
  <Words>4032</Words>
  <Application>Microsoft Office PowerPoint</Application>
  <PresentationFormat>On-screen Show (4:3)</PresentationFormat>
  <Paragraphs>346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宋体</vt:lpstr>
      <vt:lpstr>宋体</vt:lpstr>
      <vt:lpstr>Arial</vt:lpstr>
      <vt:lpstr>Calibri</vt:lpstr>
      <vt:lpstr>Cambria Math</vt:lpstr>
      <vt:lpstr>Wingdings</vt:lpstr>
      <vt:lpstr>Office Theme</vt:lpstr>
      <vt:lpstr>第31章  卤代烃</vt:lpstr>
      <vt:lpstr>31.1 卤代烃的类别和命名</vt:lpstr>
      <vt:lpstr>31.1 卤代烃的类别和命名</vt:lpstr>
      <vt:lpstr>31.1 卤代烃的类别和命名</vt:lpstr>
      <vt:lpstr>31.1 卤代烃的类别和命名</vt:lpstr>
      <vt:lpstr>31.1 卤代烃的类别和命名</vt:lpstr>
      <vt:lpstr>31.1 卤代烃的类别和命名</vt:lpstr>
      <vt:lpstr>31.1 卤代烃的类别和命名</vt:lpstr>
      <vt:lpstr>31.1 卤代烃的类别和命名</vt:lpstr>
      <vt:lpstr>思考题 31a</vt:lpstr>
      <vt:lpstr>31.2 卤代烃的物理性质</vt:lpstr>
      <vt:lpstr>31.2 卤代烃的物理性质</vt:lpstr>
      <vt:lpstr>思考题 31a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31.3 卤代烷的化学性质</vt:lpstr>
      <vt:lpstr>思考题 31c</vt:lpstr>
      <vt:lpstr>补充练习</vt:lpstr>
      <vt:lpstr>31.4 卤代烷的来源和制取</vt:lpstr>
      <vt:lpstr>思考题 31d</vt:lpstr>
      <vt:lpstr>31.5 卤代烷的用途</vt:lpstr>
      <vt:lpstr>思考题 31e</vt:lpstr>
      <vt:lpstr>选择题</vt:lpstr>
      <vt:lpstr>选择题</vt:lpstr>
      <vt:lpstr>作答题（1，2，4）</vt:lpstr>
      <vt:lpstr>作答题</vt:lpstr>
      <vt:lpstr>作答题</vt:lpstr>
      <vt:lpstr>作答题</vt:lpstr>
      <vt:lpstr>作答题</vt:lpstr>
      <vt:lpstr>作答题</vt:lpstr>
      <vt:lpstr>作答题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713</cp:revision>
  <dcterms:created xsi:type="dcterms:W3CDTF">2018-09-03T09:52:37Z</dcterms:created>
  <dcterms:modified xsi:type="dcterms:W3CDTF">2020-03-29T11:02:54Z</dcterms:modified>
</cp:coreProperties>
</file>