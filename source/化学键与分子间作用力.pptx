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257" r:id="rId3"/>
    <p:sldId id="258" r:id="rId4"/>
    <p:sldId id="259" r:id="rId5"/>
    <p:sldId id="260" r:id="rId6"/>
    <p:sldId id="261" r:id="rId7"/>
    <p:sldId id="277" r:id="rId8"/>
    <p:sldId id="263" r:id="rId9"/>
    <p:sldId id="278" r:id="rId10"/>
    <p:sldId id="286" r:id="rId11"/>
    <p:sldId id="264" r:id="rId12"/>
    <p:sldId id="280" r:id="rId13"/>
    <p:sldId id="279" r:id="rId14"/>
    <p:sldId id="284" r:id="rId15"/>
    <p:sldId id="287" r:id="rId16"/>
    <p:sldId id="265" r:id="rId17"/>
    <p:sldId id="288" r:id="rId18"/>
    <p:sldId id="266" r:id="rId19"/>
    <p:sldId id="267" r:id="rId20"/>
    <p:sldId id="289" r:id="rId21"/>
    <p:sldId id="268" r:id="rId22"/>
    <p:sldId id="281" r:id="rId23"/>
    <p:sldId id="290" r:id="rId24"/>
    <p:sldId id="291" r:id="rId25"/>
    <p:sldId id="292" r:id="rId26"/>
    <p:sldId id="270" r:id="rId27"/>
    <p:sldId id="269" r:id="rId28"/>
    <p:sldId id="293" r:id="rId29"/>
    <p:sldId id="271" r:id="rId30"/>
    <p:sldId id="294" r:id="rId31"/>
    <p:sldId id="272" r:id="rId32"/>
    <p:sldId id="295" r:id="rId33"/>
    <p:sldId id="273" r:id="rId34"/>
    <p:sldId id="285" r:id="rId35"/>
    <p:sldId id="276" r:id="rId36"/>
    <p:sldId id="296" r:id="rId37"/>
    <p:sldId id="297" r:id="rId38"/>
    <p:sldId id="298" r:id="rId39"/>
    <p:sldId id="299" r:id="rId40"/>
    <p:sldId id="283" r:id="rId41"/>
    <p:sldId id="262" r:id="rId42"/>
    <p:sldId id="300" r:id="rId43"/>
    <p:sldId id="282" r:id="rId44"/>
    <p:sldId id="274" r:id="rId45"/>
    <p:sldId id="301" r:id="rId46"/>
    <p:sldId id="302" r:id="rId47"/>
    <p:sldId id="275" r:id="rId48"/>
    <p:sldId id="303" r:id="rId49"/>
    <p:sldId id="304" r:id="rId50"/>
    <p:sldId id="305" r:id="rId51"/>
    <p:sldId id="306" r:id="rId52"/>
    <p:sldId id="307" r:id="rId53"/>
    <p:sldId id="308" r:id="rId54"/>
    <p:sldId id="309" r:id="rId55"/>
    <p:sldId id="310" r:id="rId56"/>
    <p:sldId id="31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7A23AB"/>
    <a:srgbClr val="ED9BDD"/>
    <a:srgbClr val="CCECFF"/>
    <a:srgbClr val="D4D3BE"/>
    <a:srgbClr val="DAB8D6"/>
    <a:srgbClr val="FF00FF"/>
    <a:srgbClr val="A12D8B"/>
    <a:srgbClr val="FF99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275" autoAdjust="0"/>
    <p:restoredTop sz="94689" autoAdjust="0"/>
  </p:normalViewPr>
  <p:slideViewPr>
    <p:cSldViewPr>
      <p:cViewPr>
        <p:scale>
          <a:sx n="70" d="100"/>
          <a:sy n="70" d="100"/>
        </p:scale>
        <p:origin x="-618" y="-16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754898-028A-4390-8D26-4395FA82B0A2}" type="datetimeFigureOut">
              <a:rPr lang="en-US" smtClean="0"/>
              <a:pPr/>
              <a:t>11/22/2018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C61C786-7E14-4F1C-8D75-06A95BFC16B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C61C786-7E14-4F1C-8D75-06A95BFC16BE}"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MY"/>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MY"/>
          </a:p>
        </p:txBody>
      </p:sp>
      <p:sp>
        <p:nvSpPr>
          <p:cNvPr id="4" name="Date Placeholder 3"/>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424641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3320602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2409742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Date Placeholder 4"/>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3421680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7" name="Date Placeholder 6"/>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999263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Date Placeholder 2"/>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3688061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3395507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426415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762417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1358977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MY"/>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F0756703-88A5-4842-8BB1-24E94C79BB66}" type="datetimeFigureOut">
              <a:rPr lang="en-MY" smtClean="0"/>
              <a:pPr/>
              <a:t>22/11/2018</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3971779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MY"/>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756703-88A5-4842-8BB1-24E94C79BB66}" type="datetimeFigureOut">
              <a:rPr lang="en-MY" smtClean="0"/>
              <a:pPr/>
              <a:t>22/11/2018</a:t>
            </a:fld>
            <a:endParaRPr lang="en-MY"/>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0010DC-F006-4A57-9125-947F6521C29E}" type="slidenum">
              <a:rPr lang="en-MY" smtClean="0"/>
              <a:pPr/>
              <a:t>‹#›</a:t>
            </a:fld>
            <a:endParaRPr lang="en-MY"/>
          </a:p>
        </p:txBody>
      </p:sp>
    </p:spTree>
    <p:extLst>
      <p:ext uri="{BB962C8B-B14F-4D97-AF65-F5344CB8AC3E}">
        <p14:creationId xmlns="" xmlns:p14="http://schemas.microsoft.com/office/powerpoint/2010/main" val="2957894732"/>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93640" y="2397397"/>
            <a:ext cx="5040560" cy="1470025"/>
          </a:xfrm>
        </p:spPr>
        <p:txBody>
          <a:bodyPr>
            <a:noAutofit/>
          </a:bodyPr>
          <a:lstStyle/>
          <a:p>
            <a:r>
              <a:rPr lang="zh-CN" altLang="en-US" sz="6600" dirty="0" smtClean="0"/>
              <a:t>第</a:t>
            </a:r>
            <a:r>
              <a:rPr lang="en-US" altLang="zh-CN" sz="6600" dirty="0" smtClean="0"/>
              <a:t>7</a:t>
            </a:r>
            <a:r>
              <a:rPr lang="zh-CN" altLang="en-US" sz="6600" dirty="0" smtClean="0"/>
              <a:t>章  </a:t>
            </a:r>
            <a:r>
              <a:rPr lang="en-US" altLang="zh-CN" sz="6600" dirty="0" smtClean="0"/>
              <a:t/>
            </a:r>
            <a:br>
              <a:rPr lang="en-US" altLang="zh-CN" sz="6600" dirty="0" smtClean="0"/>
            </a:br>
            <a:r>
              <a:rPr lang="zh-CN" altLang="en-US" sz="6600" b="1" dirty="0" smtClean="0"/>
              <a:t>化学键</a:t>
            </a:r>
            <a:endParaRPr lang="en-MY" sz="6600" b="1" dirty="0"/>
          </a:p>
        </p:txBody>
      </p:sp>
    </p:spTree>
    <p:extLst>
      <p:ext uri="{BB962C8B-B14F-4D97-AF65-F5344CB8AC3E}">
        <p14:creationId xmlns="" xmlns:p14="http://schemas.microsoft.com/office/powerpoint/2010/main" val="31357627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5600" b="1" dirty="0" smtClean="0">
                <a:solidFill>
                  <a:schemeClr val="bg1"/>
                </a:solidFill>
              </a:rPr>
              <a:t>什么是化学键？</a:t>
            </a:r>
            <a:endParaRPr lang="en-MY" sz="5600" b="1" dirty="0">
              <a:solidFill>
                <a:schemeClr val="bg1"/>
              </a:solidFill>
            </a:endParaRPr>
          </a:p>
        </p:txBody>
      </p:sp>
      <p:sp>
        <p:nvSpPr>
          <p:cNvPr id="3" name="Content Placeholder 2"/>
          <p:cNvSpPr>
            <a:spLocks noGrp="1"/>
          </p:cNvSpPr>
          <p:nvPr>
            <p:ph idx="1"/>
          </p:nvPr>
        </p:nvSpPr>
        <p:spPr>
          <a:xfrm>
            <a:off x="533400" y="1456109"/>
            <a:ext cx="8071048" cy="4182691"/>
          </a:xfrm>
        </p:spPr>
        <p:txBody>
          <a:bodyPr>
            <a:noAutofit/>
          </a:bodyPr>
          <a:lstStyle/>
          <a:p>
            <a:pPr marL="0" indent="0">
              <a:buFont typeface="Wingdings" pitchFamily="2" charset="2"/>
              <a:buChar char="Ø"/>
            </a:pPr>
            <a:r>
              <a:rPr lang="zh-CN" altLang="en-US" sz="3600" dirty="0" smtClean="0"/>
              <a:t>结合成</a:t>
            </a:r>
            <a:r>
              <a:rPr lang="zh-CN" altLang="en-US" sz="3600" b="1" dirty="0" smtClean="0">
                <a:solidFill>
                  <a:srgbClr val="002060"/>
                </a:solidFill>
                <a:effectLst>
                  <a:outerShdw blurRad="38100" dist="38100" dir="2700000" algn="tl">
                    <a:srgbClr val="000000">
                      <a:alpha val="43137"/>
                    </a:srgbClr>
                  </a:outerShdw>
                </a:effectLst>
              </a:rPr>
              <a:t>单质</a:t>
            </a:r>
            <a:r>
              <a:rPr lang="zh-CN" altLang="en-US" sz="3600" dirty="0" smtClean="0"/>
              <a:t>或</a:t>
            </a:r>
            <a:r>
              <a:rPr lang="zh-CN" altLang="en-US" sz="3600" b="1" dirty="0" smtClean="0">
                <a:solidFill>
                  <a:srgbClr val="002060"/>
                </a:solidFill>
                <a:effectLst>
                  <a:outerShdw blurRad="38100" dist="38100" dir="2700000" algn="tl">
                    <a:srgbClr val="000000">
                      <a:alpha val="43137"/>
                    </a:srgbClr>
                  </a:outerShdw>
                </a:effectLst>
              </a:rPr>
              <a:t>化合物</a:t>
            </a:r>
            <a:r>
              <a:rPr lang="zh-CN" altLang="en-US" sz="3600" dirty="0" smtClean="0"/>
              <a:t>的</a:t>
            </a:r>
            <a:r>
              <a:rPr lang="zh-CN" altLang="en-US" sz="3600" b="1" dirty="0" smtClean="0">
                <a:solidFill>
                  <a:srgbClr val="002060"/>
                </a:solidFill>
              </a:rPr>
              <a:t>原子</a:t>
            </a:r>
            <a:r>
              <a:rPr lang="zh-CN" altLang="en-US" sz="3600" dirty="0" smtClean="0">
                <a:solidFill>
                  <a:srgbClr val="002060"/>
                </a:solidFill>
              </a:rPr>
              <a:t>或</a:t>
            </a:r>
            <a:r>
              <a:rPr lang="zh-CN" altLang="en-US" sz="3600" b="1" dirty="0" smtClean="0">
                <a:solidFill>
                  <a:srgbClr val="002060"/>
                </a:solidFill>
              </a:rPr>
              <a:t>离子</a:t>
            </a:r>
            <a:r>
              <a:rPr lang="zh-CN" altLang="en-US" sz="3600" dirty="0" smtClean="0"/>
              <a:t>之间存在的</a:t>
            </a:r>
            <a:r>
              <a:rPr lang="zh-CN" altLang="en-US" sz="3600" b="1" dirty="0" smtClean="0">
                <a:solidFill>
                  <a:srgbClr val="002060"/>
                </a:solidFill>
                <a:effectLst>
                  <a:outerShdw blurRad="38100" dist="38100" dir="2700000" algn="tl">
                    <a:srgbClr val="000000">
                      <a:alpha val="43137"/>
                    </a:srgbClr>
                  </a:outerShdw>
                </a:effectLst>
              </a:rPr>
              <a:t>强烈</a:t>
            </a:r>
            <a:r>
              <a:rPr lang="zh-CN" altLang="en-US" sz="3600" dirty="0" smtClean="0"/>
              <a:t>的相互作用。</a:t>
            </a:r>
            <a:endParaRPr lang="en-US" altLang="zh-CN" sz="3600" dirty="0" smtClean="0"/>
          </a:p>
          <a:p>
            <a:pPr marL="0" indent="0">
              <a:buFont typeface="Wingdings" pitchFamily="2" charset="2"/>
              <a:buChar char="Ø"/>
            </a:pPr>
            <a:r>
              <a:rPr lang="zh-CN" altLang="en-US" sz="3600" dirty="0" smtClean="0"/>
              <a:t>化学键分三种：</a:t>
            </a:r>
            <a:endParaRPr lang="en-US" altLang="zh-CN" sz="3600" dirty="0" smtClean="0"/>
          </a:p>
          <a:p>
            <a:pPr marL="400050" lvl="1" indent="0">
              <a:buFont typeface="Wingdings" pitchFamily="2" charset="2"/>
              <a:buChar char="Ø"/>
            </a:pPr>
            <a:r>
              <a:rPr lang="zh-CN" altLang="en-US" sz="3600" dirty="0" smtClean="0"/>
              <a:t>离子键</a:t>
            </a:r>
            <a:endParaRPr lang="en-US" altLang="zh-CN" sz="3600" dirty="0" smtClean="0"/>
          </a:p>
          <a:p>
            <a:pPr marL="400050" lvl="1" indent="0">
              <a:buFont typeface="Wingdings" pitchFamily="2" charset="2"/>
              <a:buChar char="Ø"/>
            </a:pPr>
            <a:r>
              <a:rPr lang="zh-CN" altLang="en-US" sz="3600" dirty="0" smtClean="0"/>
              <a:t>共价键</a:t>
            </a:r>
            <a:endParaRPr lang="en-US" altLang="zh-CN" sz="3600" dirty="0" smtClean="0"/>
          </a:p>
          <a:p>
            <a:pPr marL="400050" lvl="1" indent="0">
              <a:buFont typeface="Wingdings" pitchFamily="2" charset="2"/>
              <a:buChar char="Ø"/>
            </a:pPr>
            <a:r>
              <a:rPr lang="zh-CN" altLang="en-US" sz="3600" dirty="0" smtClean="0"/>
              <a:t>金属键</a:t>
            </a:r>
            <a:endParaRPr lang="en-MY" sz="3600" dirty="0"/>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832559" y="3252577"/>
            <a:ext cx="5329029" cy="3605421"/>
          </a:xfrm>
          <a:prstGeom prst="rect">
            <a:avLst/>
          </a:prstGeom>
        </p:spPr>
      </p:pic>
    </p:spTree>
    <p:extLst>
      <p:ext uri="{BB962C8B-B14F-4D97-AF65-F5344CB8AC3E}">
        <p14:creationId xmlns="" xmlns:p14="http://schemas.microsoft.com/office/powerpoint/2010/main" val="2096499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5600" b="1" dirty="0" smtClean="0">
                <a:solidFill>
                  <a:schemeClr val="bg1"/>
                </a:solidFill>
              </a:rPr>
              <a:t>分子间的作用力</a:t>
            </a:r>
            <a:endParaRPr lang="en-MY" sz="5600" b="1" dirty="0">
              <a:solidFill>
                <a:schemeClr val="bg1"/>
              </a:solidFill>
            </a:endParaRPr>
          </a:p>
        </p:txBody>
      </p:sp>
      <p:sp>
        <p:nvSpPr>
          <p:cNvPr id="3" name="Content Placeholder 2"/>
          <p:cNvSpPr>
            <a:spLocks noGrp="1"/>
          </p:cNvSpPr>
          <p:nvPr>
            <p:ph idx="1"/>
          </p:nvPr>
        </p:nvSpPr>
        <p:spPr>
          <a:xfrm>
            <a:off x="657265" y="1600200"/>
            <a:ext cx="7419935" cy="3024336"/>
          </a:xfrm>
        </p:spPr>
        <p:txBody>
          <a:bodyPr>
            <a:normAutofit/>
          </a:bodyPr>
          <a:lstStyle/>
          <a:p>
            <a:pPr>
              <a:buFont typeface="Wingdings" pitchFamily="2" charset="2"/>
              <a:buChar char="Ø"/>
            </a:pPr>
            <a:r>
              <a:rPr lang="zh-CN" altLang="en-US" sz="3600" dirty="0" smtClean="0"/>
              <a:t>将</a:t>
            </a:r>
            <a:r>
              <a:rPr lang="zh-CN" altLang="en-US" sz="3600" b="1" dirty="0" smtClean="0">
                <a:solidFill>
                  <a:srgbClr val="002060"/>
                </a:solidFill>
                <a:effectLst>
                  <a:outerShdw blurRad="38100" dist="38100" dir="2700000" algn="tl">
                    <a:srgbClr val="000000">
                      <a:alpha val="43137"/>
                    </a:srgbClr>
                  </a:outerShdw>
                </a:effectLst>
              </a:rPr>
              <a:t>分子</a:t>
            </a:r>
            <a:r>
              <a:rPr lang="zh-CN" altLang="en-US" sz="3600" dirty="0" smtClean="0"/>
              <a:t>聚集在一起的作用力。</a:t>
            </a:r>
            <a:endParaRPr lang="en-US" altLang="zh-CN" sz="3600" dirty="0" smtClean="0"/>
          </a:p>
          <a:p>
            <a:pPr>
              <a:buFont typeface="Wingdings" pitchFamily="2" charset="2"/>
              <a:buChar char="Ø"/>
            </a:pPr>
            <a:r>
              <a:rPr lang="zh-CN" altLang="en-US" sz="3600" dirty="0" smtClean="0"/>
              <a:t>分子间的作用力包括：</a:t>
            </a:r>
            <a:endParaRPr lang="en-US" altLang="zh-CN" sz="3600" dirty="0" smtClean="0"/>
          </a:p>
          <a:p>
            <a:pPr lvl="1">
              <a:buFont typeface="Wingdings" pitchFamily="2" charset="2"/>
              <a:buChar char="Ø"/>
            </a:pPr>
            <a:r>
              <a:rPr lang="zh-CN" altLang="en-US" sz="3600" dirty="0" smtClean="0"/>
              <a:t>范德华力</a:t>
            </a:r>
            <a:endParaRPr lang="en-US" altLang="zh-CN" sz="3600" dirty="0" smtClean="0"/>
          </a:p>
          <a:p>
            <a:pPr lvl="1">
              <a:buFont typeface="Wingdings" pitchFamily="2" charset="2"/>
              <a:buChar char="Ø"/>
            </a:pPr>
            <a:r>
              <a:rPr lang="zh-CN" altLang="en-US" sz="3600" dirty="0" smtClean="0"/>
              <a:t>氢键</a:t>
            </a:r>
            <a:endParaRPr lang="en-MY" sz="3600" dirty="0"/>
          </a:p>
        </p:txBody>
      </p:sp>
    </p:spTree>
    <p:extLst>
      <p:ext uri="{BB962C8B-B14F-4D97-AF65-F5344CB8AC3E}">
        <p14:creationId xmlns="" xmlns:p14="http://schemas.microsoft.com/office/powerpoint/2010/main" val="143881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5600" b="1" dirty="0" smtClean="0">
                <a:solidFill>
                  <a:schemeClr val="bg1"/>
                </a:solidFill>
              </a:rPr>
              <a:t>7.1.1</a:t>
            </a:r>
            <a:r>
              <a:rPr lang="en-US" altLang="zh-CN" sz="5600" dirty="0" smtClean="0">
                <a:solidFill>
                  <a:schemeClr val="bg1"/>
                </a:solidFill>
              </a:rPr>
              <a:t>  </a:t>
            </a:r>
            <a:r>
              <a:rPr lang="zh-CN" altLang="en-US" sz="5600" b="1" dirty="0" smtClean="0">
                <a:solidFill>
                  <a:schemeClr val="bg1"/>
                </a:solidFill>
              </a:rPr>
              <a:t>离子键</a:t>
            </a:r>
            <a:endParaRPr lang="en-MY" sz="5600" b="1" dirty="0">
              <a:solidFill>
                <a:schemeClr val="bg1"/>
              </a:solidFill>
            </a:endParaRPr>
          </a:p>
        </p:txBody>
      </p:sp>
      <p:sp>
        <p:nvSpPr>
          <p:cNvPr id="3" name="Content Placeholder 2"/>
          <p:cNvSpPr>
            <a:spLocks noGrp="1"/>
          </p:cNvSpPr>
          <p:nvPr>
            <p:ph idx="1"/>
          </p:nvPr>
        </p:nvSpPr>
        <p:spPr>
          <a:xfrm>
            <a:off x="755576" y="1628800"/>
            <a:ext cx="7499176" cy="4525963"/>
          </a:xfrm>
        </p:spPr>
        <p:txBody>
          <a:bodyPr>
            <a:normAutofit lnSpcReduction="10000"/>
          </a:bodyPr>
          <a:lstStyle/>
          <a:p>
            <a:pPr marL="0" indent="0">
              <a:buNone/>
            </a:pPr>
            <a:r>
              <a:rPr lang="zh-CN" altLang="en-US" sz="3600" dirty="0" smtClean="0"/>
              <a:t>某些元素会在化合成化合物时</a:t>
            </a:r>
            <a:r>
              <a:rPr lang="zh-CN" altLang="en-US" sz="3600" dirty="0" smtClean="0"/>
              <a:t>，</a:t>
            </a:r>
            <a:r>
              <a:rPr lang="zh-CN" altLang="en-US" sz="3600" dirty="0" smtClean="0"/>
              <a:t>容易</a:t>
            </a:r>
            <a:r>
              <a:rPr lang="zh-CN" altLang="en-US" sz="3600" dirty="0" smtClean="0"/>
              <a:t>失</a:t>
            </a:r>
            <a:r>
              <a:rPr lang="zh-CN" altLang="en-US" sz="3600" dirty="0" smtClean="0"/>
              <a:t>去电子</a:t>
            </a:r>
            <a:r>
              <a:rPr lang="zh-CN" altLang="en-US" sz="3600" dirty="0" smtClean="0"/>
              <a:t>或容易获</a:t>
            </a:r>
            <a:r>
              <a:rPr lang="zh-CN" altLang="en-US" sz="3600" dirty="0" smtClean="0"/>
              <a:t>得电子，形成正或负离子。</a:t>
            </a:r>
            <a:endParaRPr lang="en-US" altLang="zh-CN" sz="3600" dirty="0" smtClean="0"/>
          </a:p>
          <a:p>
            <a:pPr marL="0" indent="0">
              <a:buNone/>
            </a:pPr>
            <a:endParaRPr lang="en-US" altLang="zh-CN" sz="3600" dirty="0"/>
          </a:p>
          <a:p>
            <a:pPr marL="0" indent="0">
              <a:buNone/>
            </a:pPr>
            <a:r>
              <a:rPr lang="zh-CN" altLang="en-US" sz="3600" b="1" dirty="0" smtClean="0">
                <a:solidFill>
                  <a:srgbClr val="002060"/>
                </a:solidFill>
                <a:effectLst>
                  <a:outerShdw blurRad="38100" dist="38100" dir="2700000" algn="tl">
                    <a:srgbClr val="000000">
                      <a:alpha val="43137"/>
                    </a:srgbClr>
                  </a:outerShdw>
                </a:effectLst>
              </a:rPr>
              <a:t>正负离子之间</a:t>
            </a:r>
            <a:r>
              <a:rPr lang="zh-CN" altLang="en-US" sz="3600" dirty="0" smtClean="0"/>
              <a:t>产生很</a:t>
            </a:r>
            <a:r>
              <a:rPr lang="zh-CN" altLang="en-US" sz="3600" b="1" dirty="0" smtClean="0">
                <a:solidFill>
                  <a:srgbClr val="002060"/>
                </a:solidFill>
                <a:effectLst>
                  <a:outerShdw blurRad="38100" dist="38100" dir="2700000" algn="tl">
                    <a:srgbClr val="000000">
                      <a:alpha val="43137"/>
                    </a:srgbClr>
                  </a:outerShdw>
                </a:effectLst>
              </a:rPr>
              <a:t>强</a:t>
            </a:r>
            <a:r>
              <a:rPr lang="zh-CN" altLang="en-US" sz="3600" dirty="0" smtClean="0"/>
              <a:t>的静电引力而结合成</a:t>
            </a:r>
            <a:r>
              <a:rPr lang="zh-CN" altLang="en-US" sz="3600" b="1" dirty="0" smtClean="0">
                <a:solidFill>
                  <a:srgbClr val="002060"/>
                </a:solidFill>
                <a:effectLst>
                  <a:outerShdw blurRad="38100" dist="38100" dir="2700000" algn="tl">
                    <a:srgbClr val="000000">
                      <a:alpha val="43137"/>
                    </a:srgbClr>
                  </a:outerShdw>
                </a:effectLst>
              </a:rPr>
              <a:t>离子化合物</a:t>
            </a:r>
            <a:r>
              <a:rPr lang="zh-CN" altLang="en-US" sz="3600" dirty="0" smtClean="0"/>
              <a:t>，这种吸引力就称为离子键。</a:t>
            </a:r>
            <a:r>
              <a:rPr lang="en-US" altLang="zh-CN" sz="3600" dirty="0" smtClean="0"/>
              <a:t>(ionic bond</a:t>
            </a:r>
            <a:r>
              <a:rPr lang="en-US" altLang="zh-CN" sz="3600" dirty="0" smtClean="0"/>
              <a:t>)</a:t>
            </a:r>
          </a:p>
          <a:p>
            <a:pPr marL="0" indent="0">
              <a:buNone/>
            </a:pPr>
            <a:r>
              <a:rPr lang="en-US" altLang="zh-CN" sz="3600" dirty="0" smtClean="0"/>
              <a:t>P163(3)</a:t>
            </a:r>
            <a:endParaRPr lang="en-US" altLang="zh-CN" sz="3600" dirty="0" smtClean="0"/>
          </a:p>
        </p:txBody>
      </p:sp>
    </p:spTree>
    <p:extLst>
      <p:ext uri="{BB962C8B-B14F-4D97-AF65-F5344CB8AC3E}">
        <p14:creationId xmlns="" xmlns:p14="http://schemas.microsoft.com/office/powerpoint/2010/main" val="365149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58416" cy="5746650"/>
          </a:xfrm>
        </p:spPr>
        <p:txBody>
          <a:bodyPr/>
          <a:lstStyle/>
          <a:p>
            <a:r>
              <a:rPr lang="zh-CN" altLang="en-US" sz="5400" b="1" dirty="0">
                <a:solidFill>
                  <a:srgbClr val="FF0000"/>
                </a:solidFill>
              </a:rPr>
              <a:t>八</a:t>
            </a:r>
            <a:r>
              <a:rPr lang="zh-CN" altLang="en-US" sz="5400" b="1" dirty="0">
                <a:solidFill>
                  <a:srgbClr val="FF6600"/>
                </a:solidFill>
              </a:rPr>
              <a:t>隅</a:t>
            </a:r>
            <a:r>
              <a:rPr lang="zh-CN" altLang="en-US" sz="5400" b="1" dirty="0">
                <a:solidFill>
                  <a:srgbClr val="FFFF00"/>
                </a:solidFill>
              </a:rPr>
              <a:t>体</a:t>
            </a:r>
            <a:r>
              <a:rPr lang="zh-CN" altLang="en-US" sz="5400" b="1" dirty="0">
                <a:solidFill>
                  <a:srgbClr val="00B050"/>
                </a:solidFill>
              </a:rPr>
              <a:t>规</a:t>
            </a:r>
            <a:r>
              <a:rPr lang="zh-CN" altLang="en-US" sz="5400" b="1" dirty="0">
                <a:solidFill>
                  <a:srgbClr val="002060"/>
                </a:solidFill>
              </a:rPr>
              <a:t>则</a:t>
            </a:r>
            <a:endParaRPr lang="en-MY" sz="5400" b="1" dirty="0">
              <a:solidFill>
                <a:srgbClr val="002060"/>
              </a:solidFill>
            </a:endParaRPr>
          </a:p>
        </p:txBody>
      </p:sp>
      <p:sp>
        <p:nvSpPr>
          <p:cNvPr id="3" name="Content Placeholder 2"/>
          <p:cNvSpPr>
            <a:spLocks noGrp="1"/>
          </p:cNvSpPr>
          <p:nvPr>
            <p:ph idx="1"/>
          </p:nvPr>
        </p:nvSpPr>
        <p:spPr>
          <a:xfrm>
            <a:off x="1628056" y="764704"/>
            <a:ext cx="6830144" cy="1368895"/>
          </a:xfrm>
        </p:spPr>
        <p:txBody>
          <a:bodyPr>
            <a:noAutofit/>
          </a:bodyPr>
          <a:lstStyle/>
          <a:p>
            <a:pPr marL="0" indent="0">
              <a:buNone/>
            </a:pPr>
            <a:r>
              <a:rPr lang="zh-CN" altLang="en-US" sz="3600" dirty="0" smtClean="0"/>
              <a:t>原</a:t>
            </a:r>
            <a:r>
              <a:rPr lang="zh-CN" altLang="en-US" sz="3600" dirty="0"/>
              <a:t>子相互作</a:t>
            </a:r>
            <a:r>
              <a:rPr lang="zh-CN" altLang="en-US" sz="3600" dirty="0" smtClean="0"/>
              <a:t>用时，</a:t>
            </a:r>
            <a:r>
              <a:rPr lang="zh-CN" altLang="en-US" sz="3600" b="1" dirty="0" smtClean="0">
                <a:solidFill>
                  <a:srgbClr val="002060"/>
                </a:solidFill>
                <a:effectLst>
                  <a:outerShdw blurRad="38100" dist="38100" dir="2700000" algn="tl">
                    <a:srgbClr val="000000">
                      <a:alpha val="43137"/>
                    </a:srgbClr>
                  </a:outerShdw>
                </a:effectLst>
              </a:rPr>
              <a:t>一般</a:t>
            </a:r>
            <a:r>
              <a:rPr lang="zh-CN" altLang="en-US" sz="3600" dirty="0" smtClean="0"/>
              <a:t>趋于形成最外层</a:t>
            </a:r>
            <a:r>
              <a:rPr lang="en-US" altLang="zh-CN" sz="3600" b="1" dirty="0" smtClean="0">
                <a:solidFill>
                  <a:srgbClr val="002060"/>
                </a:solidFill>
                <a:effectLst>
                  <a:outerShdw blurRad="38100" dist="38100" dir="2700000" algn="tl">
                    <a:srgbClr val="000000">
                      <a:alpha val="43137"/>
                    </a:srgbClr>
                  </a:outerShdw>
                </a:effectLst>
              </a:rPr>
              <a:t>8</a:t>
            </a:r>
            <a:r>
              <a:rPr lang="zh-CN" altLang="en-US" sz="3600" b="1" dirty="0" smtClean="0">
                <a:solidFill>
                  <a:srgbClr val="002060"/>
                </a:solidFill>
                <a:effectLst>
                  <a:outerShdw blurRad="38100" dist="38100" dir="2700000" algn="tl">
                    <a:srgbClr val="000000">
                      <a:alpha val="43137"/>
                    </a:srgbClr>
                  </a:outerShdw>
                </a:effectLst>
              </a:rPr>
              <a:t>个电子</a:t>
            </a:r>
            <a:r>
              <a:rPr lang="zh-CN" altLang="en-US" sz="3600" dirty="0" smtClean="0"/>
              <a:t>的稀有气体的稳定结构的规律。</a:t>
            </a:r>
            <a:endParaRPr lang="en-MY" sz="3600" dirty="0"/>
          </a:p>
        </p:txBody>
      </p:sp>
      <p:sp>
        <p:nvSpPr>
          <p:cNvPr id="4" name="TextBox 3"/>
          <p:cNvSpPr txBox="1"/>
          <p:nvPr/>
        </p:nvSpPr>
        <p:spPr>
          <a:xfrm>
            <a:off x="1786608" y="3429000"/>
            <a:ext cx="7128792" cy="1733808"/>
          </a:xfrm>
          <a:prstGeom prst="rect">
            <a:avLst/>
          </a:prstGeom>
          <a:noFill/>
        </p:spPr>
        <p:txBody>
          <a:bodyPr wrap="square" rtlCol="0">
            <a:spAutoFit/>
          </a:bodyPr>
          <a:lstStyle/>
          <a:p>
            <a:r>
              <a:rPr lang="en-US" sz="3200" b="1" dirty="0" smtClean="0"/>
              <a:t>  Na  </a:t>
            </a:r>
            <a:r>
              <a:rPr lang="en-US" altLang="zh-CN" sz="3200" b="1" dirty="0" smtClean="0"/>
              <a:t> →  Na</a:t>
            </a:r>
            <a:r>
              <a:rPr lang="en-US" altLang="zh-CN" sz="3200" b="1" baseline="30000" dirty="0" smtClean="0"/>
              <a:t>+ </a:t>
            </a:r>
            <a:r>
              <a:rPr lang="en-US" altLang="zh-CN" sz="3200" b="1" dirty="0" smtClean="0"/>
              <a:t>  + </a:t>
            </a:r>
            <a:r>
              <a:rPr lang="en-US" altLang="zh-CN" sz="3200" b="1" dirty="0" smtClean="0"/>
              <a:t>e</a:t>
            </a:r>
            <a:r>
              <a:rPr lang="en-US" altLang="zh-CN" sz="3200" b="1" baseline="30000" dirty="0" smtClean="0"/>
              <a:t>- </a:t>
            </a:r>
            <a:endParaRPr lang="en-US" altLang="zh-CN" sz="3200" b="1" baseline="30000" dirty="0" smtClean="0"/>
          </a:p>
          <a:p>
            <a:endParaRPr lang="en-US" sz="3200" b="1" baseline="30000" dirty="0" smtClean="0"/>
          </a:p>
          <a:p>
            <a:r>
              <a:rPr lang="en-US" sz="3200" b="1" dirty="0" smtClean="0"/>
              <a:t>       </a:t>
            </a:r>
            <a:r>
              <a:rPr lang="en-US" sz="3200" b="1" baseline="30000" dirty="0" smtClean="0"/>
              <a:t> </a:t>
            </a:r>
            <a:r>
              <a:rPr lang="en-US" sz="3200" b="1" dirty="0" smtClean="0"/>
              <a:t>  + e</a:t>
            </a:r>
            <a:r>
              <a:rPr lang="en-US" sz="3200" b="1" baseline="30000" dirty="0" smtClean="0"/>
              <a:t>-</a:t>
            </a:r>
            <a:r>
              <a:rPr lang="en-US" altLang="zh-CN" sz="3200" b="1" baseline="30000" dirty="0" smtClean="0"/>
              <a:t> </a:t>
            </a:r>
            <a:r>
              <a:rPr lang="en-US" altLang="zh-CN" sz="3200" b="1" dirty="0" smtClean="0"/>
              <a:t>  →  </a:t>
            </a:r>
            <a:endParaRPr lang="en-US" altLang="zh-CN" sz="3200" b="1" baseline="30000" dirty="0" smtClean="0"/>
          </a:p>
          <a:p>
            <a:endParaRPr lang="en-US" sz="3200" baseline="30000" dirty="0">
              <a:solidFill>
                <a:schemeClr val="bg1"/>
              </a:solidFill>
            </a:endParaRPr>
          </a:p>
        </p:txBody>
      </p:sp>
      <p:sp>
        <p:nvSpPr>
          <p:cNvPr id="5" name="Rectangle 8"/>
          <p:cNvSpPr>
            <a:spLocks noChangeArrowheads="1"/>
          </p:cNvSpPr>
          <p:nvPr/>
        </p:nvSpPr>
        <p:spPr bwMode="auto">
          <a:xfrm>
            <a:off x="1752829" y="3485448"/>
            <a:ext cx="304571" cy="400752"/>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2000" dirty="0" smtClean="0">
                <a:solidFill>
                  <a:srgbClr val="FF00FF"/>
                </a:solidFill>
                <a:latin typeface="Symbol" pitchFamily="18" charset="2"/>
              </a:rPr>
              <a:t>·</a:t>
            </a:r>
            <a:endParaRPr kumimoji="0" lang="en-US" altLang="zh-TW" sz="2000" dirty="0">
              <a:solidFill>
                <a:srgbClr val="FF00FF"/>
              </a:solidFill>
              <a:latin typeface="Symbol" pitchFamily="18" charset="2"/>
            </a:endParaRPr>
          </a:p>
        </p:txBody>
      </p:sp>
      <p:grpSp>
        <p:nvGrpSpPr>
          <p:cNvPr id="6" name="Group 5"/>
          <p:cNvGrpSpPr/>
          <p:nvPr/>
        </p:nvGrpSpPr>
        <p:grpSpPr>
          <a:xfrm>
            <a:off x="666153" y="3984621"/>
            <a:ext cx="4286847" cy="968379"/>
            <a:chOff x="1766889" y="1952626"/>
            <a:chExt cx="5541960" cy="968379"/>
          </a:xfrm>
        </p:grpSpPr>
        <p:grpSp>
          <p:nvGrpSpPr>
            <p:cNvPr id="7" name="Group 6"/>
            <p:cNvGrpSpPr>
              <a:grpSpLocks/>
            </p:cNvGrpSpPr>
            <p:nvPr/>
          </p:nvGrpSpPr>
          <p:grpSpPr bwMode="auto">
            <a:xfrm>
              <a:off x="1766889" y="2139952"/>
              <a:ext cx="787400" cy="647701"/>
              <a:chOff x="710" y="1814"/>
              <a:chExt cx="496" cy="408"/>
            </a:xfrm>
          </p:grpSpPr>
          <p:sp>
            <p:nvSpPr>
              <p:cNvPr id="28" name="Rectangle 7"/>
              <p:cNvSpPr>
                <a:spLocks noChangeArrowheads="1"/>
              </p:cNvSpPr>
              <p:nvPr/>
            </p:nvSpPr>
            <p:spPr bwMode="auto">
              <a:xfrm>
                <a:off x="710" y="1814"/>
                <a:ext cx="151" cy="408"/>
              </a:xfrm>
              <a:prstGeom prst="rect">
                <a:avLst/>
              </a:prstGeom>
              <a:noFill/>
              <a:ln w="9525">
                <a:noFill/>
                <a:miter lim="800000"/>
                <a:headEnd/>
                <a:tailEnd/>
              </a:ln>
              <a:effectLst/>
            </p:spPr>
            <p:txBody>
              <a:bodyPr wrap="none" lIns="92075" tIns="46038" rIns="92075" bIns="46038">
                <a:spAutoFit/>
              </a:bodyPr>
              <a:lstStyle/>
              <a:p>
                <a:pPr eaLnBrk="0" hangingPunct="0"/>
                <a:endParaRPr kumimoji="0" lang="en-US" altLang="zh-TW" sz="3600" b="1" dirty="0"/>
              </a:p>
            </p:txBody>
          </p:sp>
          <p:sp>
            <p:nvSpPr>
              <p:cNvPr id="29" name="Rectangle 8"/>
              <p:cNvSpPr>
                <a:spLocks noChangeArrowheads="1"/>
              </p:cNvSpPr>
              <p:nvPr/>
            </p:nvSpPr>
            <p:spPr bwMode="auto">
              <a:xfrm>
                <a:off x="1055" y="1879"/>
                <a:ext cx="151" cy="252"/>
              </a:xfrm>
              <a:prstGeom prst="rect">
                <a:avLst/>
              </a:prstGeom>
              <a:noFill/>
              <a:ln w="9525">
                <a:noFill/>
                <a:miter lim="800000"/>
                <a:headEnd/>
                <a:tailEnd/>
              </a:ln>
              <a:effectLst/>
            </p:spPr>
            <p:txBody>
              <a:bodyPr wrap="none" lIns="92075" tIns="46038" rIns="92075" bIns="46038">
                <a:spAutoFit/>
              </a:bodyPr>
              <a:lstStyle/>
              <a:p>
                <a:pPr eaLnBrk="0" hangingPunct="0"/>
                <a:endParaRPr kumimoji="0" lang="en-US" altLang="zh-TW" sz="2000" dirty="0">
                  <a:solidFill>
                    <a:srgbClr val="FF00FF"/>
                  </a:solidFill>
                  <a:latin typeface="Symbol" pitchFamily="18" charset="2"/>
                </a:endParaRPr>
              </a:p>
            </p:txBody>
          </p:sp>
        </p:grpSp>
        <p:sp>
          <p:nvSpPr>
            <p:cNvPr id="8" name="Rectangle 9"/>
            <p:cNvSpPr>
              <a:spLocks noChangeArrowheads="1"/>
            </p:cNvSpPr>
            <p:nvPr/>
          </p:nvSpPr>
          <p:spPr bwMode="auto">
            <a:xfrm>
              <a:off x="2771775" y="2133600"/>
              <a:ext cx="240474" cy="646973"/>
            </a:xfrm>
            <a:prstGeom prst="rect">
              <a:avLst/>
            </a:prstGeom>
            <a:noFill/>
            <a:ln w="9525">
              <a:noFill/>
              <a:miter lim="800000"/>
              <a:headEnd/>
              <a:tailEnd/>
            </a:ln>
            <a:effectLst/>
          </p:spPr>
          <p:txBody>
            <a:bodyPr wrap="none" lIns="92075" tIns="46038" rIns="92075" bIns="46038">
              <a:spAutoFit/>
            </a:bodyPr>
            <a:lstStyle/>
            <a:p>
              <a:pPr eaLnBrk="0" hangingPunct="0"/>
              <a:endParaRPr kumimoji="0" lang="en-US" altLang="zh-TW" sz="3600" dirty="0"/>
            </a:p>
          </p:txBody>
        </p:sp>
        <p:grpSp>
          <p:nvGrpSpPr>
            <p:cNvPr id="9" name="Group 10"/>
            <p:cNvGrpSpPr>
              <a:grpSpLocks/>
            </p:cNvGrpSpPr>
            <p:nvPr/>
          </p:nvGrpSpPr>
          <p:grpSpPr bwMode="auto">
            <a:xfrm>
              <a:off x="4381496" y="1952626"/>
              <a:ext cx="2927353" cy="968376"/>
              <a:chOff x="2319" y="1514"/>
              <a:chExt cx="1844" cy="610"/>
            </a:xfrm>
          </p:grpSpPr>
          <p:sp>
            <p:nvSpPr>
              <p:cNvPr id="16" name="Rectangle 11"/>
              <p:cNvSpPr>
                <a:spLocks noChangeArrowheads="1"/>
              </p:cNvSpPr>
              <p:nvPr/>
            </p:nvSpPr>
            <p:spPr bwMode="auto">
              <a:xfrm>
                <a:off x="2319" y="1584"/>
                <a:ext cx="151" cy="408"/>
              </a:xfrm>
              <a:prstGeom prst="rect">
                <a:avLst/>
              </a:prstGeom>
              <a:noFill/>
              <a:ln w="9525">
                <a:noFill/>
                <a:miter lim="800000"/>
                <a:headEnd/>
                <a:tailEnd/>
              </a:ln>
              <a:effectLst/>
            </p:spPr>
            <p:txBody>
              <a:bodyPr wrap="none" lIns="92075" tIns="46038" rIns="92075" bIns="46038">
                <a:spAutoFit/>
              </a:bodyPr>
              <a:lstStyle/>
              <a:p>
                <a:pPr eaLnBrk="0" hangingPunct="0"/>
                <a:endParaRPr kumimoji="0" lang="en-US" altLang="zh-TW" sz="3600" dirty="0">
                  <a:latin typeface="Symbol" pitchFamily="18" charset="2"/>
                </a:endParaRPr>
              </a:p>
            </p:txBody>
          </p:sp>
          <p:grpSp>
            <p:nvGrpSpPr>
              <p:cNvPr id="17" name="Group 38"/>
              <p:cNvGrpSpPr>
                <a:grpSpLocks/>
              </p:cNvGrpSpPr>
              <p:nvPr/>
            </p:nvGrpSpPr>
            <p:grpSpPr bwMode="auto">
              <a:xfrm>
                <a:off x="2784" y="1514"/>
                <a:ext cx="1379" cy="610"/>
                <a:chOff x="2774" y="1728"/>
                <a:chExt cx="1379" cy="610"/>
              </a:xfrm>
            </p:grpSpPr>
            <p:sp>
              <p:nvSpPr>
                <p:cNvPr id="18" name="Rectangle 13"/>
                <p:cNvSpPr>
                  <a:spLocks noChangeArrowheads="1"/>
                </p:cNvSpPr>
                <p:nvPr/>
              </p:nvSpPr>
              <p:spPr bwMode="auto">
                <a:xfrm>
                  <a:off x="2774" y="1829"/>
                  <a:ext cx="830" cy="408"/>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600" dirty="0" smtClean="0"/>
                    <a:t>        </a:t>
                  </a:r>
                  <a:endParaRPr kumimoji="0" lang="en-US" altLang="zh-TW" sz="3600" dirty="0"/>
                </a:p>
              </p:txBody>
            </p:sp>
            <p:sp>
              <p:nvSpPr>
                <p:cNvPr id="19" name="Rectangle 14"/>
                <p:cNvSpPr>
                  <a:spLocks noChangeArrowheads="1"/>
                </p:cNvSpPr>
                <p:nvPr/>
              </p:nvSpPr>
              <p:spPr bwMode="auto">
                <a:xfrm>
                  <a:off x="3254" y="1742"/>
                  <a:ext cx="305" cy="524"/>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800" dirty="0"/>
                    <a:t>[</a:t>
                  </a:r>
                </a:p>
              </p:txBody>
            </p:sp>
            <p:sp>
              <p:nvSpPr>
                <p:cNvPr id="20" name="Rectangle 15"/>
                <p:cNvSpPr>
                  <a:spLocks noChangeArrowheads="1"/>
                </p:cNvSpPr>
                <p:nvPr/>
              </p:nvSpPr>
              <p:spPr bwMode="auto">
                <a:xfrm>
                  <a:off x="3848" y="1742"/>
                  <a:ext cx="305" cy="524"/>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800"/>
                    <a:t>]</a:t>
                  </a:r>
                </a:p>
              </p:txBody>
            </p:sp>
            <p:sp>
              <p:nvSpPr>
                <p:cNvPr id="21" name="Line 16"/>
                <p:cNvSpPr>
                  <a:spLocks noChangeShapeType="1"/>
                </p:cNvSpPr>
                <p:nvPr/>
              </p:nvSpPr>
              <p:spPr bwMode="auto">
                <a:xfrm>
                  <a:off x="4042" y="1883"/>
                  <a:ext cx="95" cy="0"/>
                </a:xfrm>
                <a:prstGeom prst="line">
                  <a:avLst/>
                </a:prstGeom>
                <a:noFill/>
                <a:ln w="50800">
                  <a:solidFill>
                    <a:schemeClr val="tx1"/>
                  </a:solidFill>
                  <a:round/>
                  <a:headEnd type="none" w="sm" len="sm"/>
                  <a:tailEnd type="none" w="sm" len="sm"/>
                </a:ln>
                <a:effectLst/>
              </p:spPr>
              <p:txBody>
                <a:bodyPr wrap="none" anchor="ctr"/>
                <a:lstStyle/>
                <a:p>
                  <a:endParaRPr lang="en-US" sz="2000"/>
                </a:p>
              </p:txBody>
            </p:sp>
            <p:grpSp>
              <p:nvGrpSpPr>
                <p:cNvPr id="22" name="Group 43"/>
                <p:cNvGrpSpPr>
                  <a:grpSpLocks/>
                </p:cNvGrpSpPr>
                <p:nvPr/>
              </p:nvGrpSpPr>
              <p:grpSpPr bwMode="auto">
                <a:xfrm>
                  <a:off x="3317" y="1728"/>
                  <a:ext cx="746" cy="610"/>
                  <a:chOff x="4163" y="1728"/>
                  <a:chExt cx="746" cy="610"/>
                </a:xfrm>
              </p:grpSpPr>
              <p:sp>
                <p:nvSpPr>
                  <p:cNvPr id="23" name="Rectangle 18"/>
                  <p:cNvSpPr>
                    <a:spLocks noChangeArrowheads="1"/>
                  </p:cNvSpPr>
                  <p:nvPr/>
                </p:nvSpPr>
                <p:spPr bwMode="auto">
                  <a:xfrm>
                    <a:off x="4326" y="1842"/>
                    <a:ext cx="443" cy="408"/>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600" b="1" dirty="0" err="1"/>
                      <a:t>Cl</a:t>
                    </a:r>
                    <a:endParaRPr kumimoji="0" lang="en-US" altLang="zh-TW" sz="3600" b="1" dirty="0"/>
                  </a:p>
                </p:txBody>
              </p:sp>
              <p:sp>
                <p:nvSpPr>
                  <p:cNvPr id="24" name="Rectangle 19"/>
                  <p:cNvSpPr>
                    <a:spLocks noChangeArrowheads="1"/>
                  </p:cNvSpPr>
                  <p:nvPr/>
                </p:nvSpPr>
                <p:spPr bwMode="auto">
                  <a:xfrm>
                    <a:off x="4348" y="1728"/>
                    <a:ext cx="397" cy="252"/>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2000">
                        <a:latin typeface="Symbol" pitchFamily="18" charset="2"/>
                      </a:rPr>
                      <a:t>· ·</a:t>
                    </a:r>
                  </a:p>
                </p:txBody>
              </p:sp>
              <p:sp>
                <p:nvSpPr>
                  <p:cNvPr id="25" name="Rectangle 20"/>
                  <p:cNvSpPr>
                    <a:spLocks noChangeArrowheads="1"/>
                  </p:cNvSpPr>
                  <p:nvPr/>
                </p:nvSpPr>
                <p:spPr bwMode="auto">
                  <a:xfrm>
                    <a:off x="4348" y="2086"/>
                    <a:ext cx="397" cy="252"/>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2000">
                        <a:latin typeface="Symbol" pitchFamily="18" charset="2"/>
                      </a:rPr>
                      <a:t>· ·</a:t>
                    </a:r>
                  </a:p>
                </p:txBody>
              </p:sp>
              <p:sp>
                <p:nvSpPr>
                  <p:cNvPr id="26" name="Rectangle 21"/>
                  <p:cNvSpPr>
                    <a:spLocks noChangeArrowheads="1"/>
                  </p:cNvSpPr>
                  <p:nvPr/>
                </p:nvSpPr>
                <p:spPr bwMode="auto">
                  <a:xfrm rot="16200000">
                    <a:off x="4592" y="1868"/>
                    <a:ext cx="307" cy="326"/>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2000" dirty="0">
                        <a:latin typeface="Symbol" pitchFamily="18" charset="2"/>
                      </a:rPr>
                      <a:t>· ·</a:t>
                    </a:r>
                  </a:p>
                </p:txBody>
              </p:sp>
              <p:sp>
                <p:nvSpPr>
                  <p:cNvPr id="27" name="Rectangle 22"/>
                  <p:cNvSpPr>
                    <a:spLocks noChangeArrowheads="1"/>
                  </p:cNvSpPr>
                  <p:nvPr/>
                </p:nvSpPr>
                <p:spPr bwMode="auto">
                  <a:xfrm rot="16200000">
                    <a:off x="4172" y="1869"/>
                    <a:ext cx="307" cy="326"/>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2000" dirty="0">
                        <a:latin typeface="Symbol" pitchFamily="18" charset="2"/>
                      </a:rPr>
                      <a:t>· </a:t>
                    </a:r>
                    <a:r>
                      <a:rPr kumimoji="0" lang="en-US" altLang="zh-TW" sz="2000" dirty="0">
                        <a:solidFill>
                          <a:srgbClr val="FF00FF"/>
                        </a:solidFill>
                        <a:latin typeface="Symbol" pitchFamily="18" charset="2"/>
                      </a:rPr>
                      <a:t>·</a:t>
                    </a:r>
                  </a:p>
                </p:txBody>
              </p:sp>
            </p:grpSp>
          </p:grpSp>
        </p:grpSp>
        <p:grpSp>
          <p:nvGrpSpPr>
            <p:cNvPr id="10" name="Group 23"/>
            <p:cNvGrpSpPr>
              <a:grpSpLocks/>
            </p:cNvGrpSpPr>
            <p:nvPr/>
          </p:nvGrpSpPr>
          <p:grpSpPr bwMode="auto">
            <a:xfrm>
              <a:off x="3197230" y="1952629"/>
              <a:ext cx="1211264" cy="968376"/>
              <a:chOff x="2280" y="4800"/>
              <a:chExt cx="763" cy="610"/>
            </a:xfrm>
          </p:grpSpPr>
          <p:sp>
            <p:nvSpPr>
              <p:cNvPr id="11" name="Rectangle 24"/>
              <p:cNvSpPr>
                <a:spLocks noChangeArrowheads="1"/>
              </p:cNvSpPr>
              <p:nvPr/>
            </p:nvSpPr>
            <p:spPr bwMode="auto">
              <a:xfrm>
                <a:off x="2463" y="4914"/>
                <a:ext cx="443" cy="408"/>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600" b="1"/>
                  <a:t>Cl</a:t>
                </a:r>
              </a:p>
            </p:txBody>
          </p:sp>
          <p:sp>
            <p:nvSpPr>
              <p:cNvPr id="12" name="Rectangle 25"/>
              <p:cNvSpPr>
                <a:spLocks noChangeArrowheads="1"/>
              </p:cNvSpPr>
              <p:nvPr/>
            </p:nvSpPr>
            <p:spPr bwMode="auto">
              <a:xfrm>
                <a:off x="2485" y="4800"/>
                <a:ext cx="397" cy="252"/>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2000" b="1" dirty="0">
                    <a:latin typeface="Symbol" pitchFamily="18" charset="2"/>
                  </a:rPr>
                  <a:t>· ·</a:t>
                </a:r>
              </a:p>
            </p:txBody>
          </p:sp>
          <p:sp>
            <p:nvSpPr>
              <p:cNvPr id="13" name="Rectangle 26"/>
              <p:cNvSpPr>
                <a:spLocks noChangeArrowheads="1"/>
              </p:cNvSpPr>
              <p:nvPr/>
            </p:nvSpPr>
            <p:spPr bwMode="auto">
              <a:xfrm>
                <a:off x="2485" y="5158"/>
                <a:ext cx="397" cy="252"/>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2000" b="1">
                    <a:latin typeface="Symbol" pitchFamily="18" charset="2"/>
                  </a:rPr>
                  <a:t>· ·</a:t>
                </a:r>
              </a:p>
            </p:txBody>
          </p:sp>
          <p:sp>
            <p:nvSpPr>
              <p:cNvPr id="14" name="Rectangle 27"/>
              <p:cNvSpPr>
                <a:spLocks noChangeArrowheads="1"/>
              </p:cNvSpPr>
              <p:nvPr/>
            </p:nvSpPr>
            <p:spPr bwMode="auto">
              <a:xfrm rot="16200000">
                <a:off x="2726" y="4978"/>
                <a:ext cx="307" cy="326"/>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2000" b="1" dirty="0">
                    <a:latin typeface="Symbol" pitchFamily="18" charset="2"/>
                  </a:rPr>
                  <a:t>· ·</a:t>
                </a:r>
              </a:p>
            </p:txBody>
          </p:sp>
          <p:sp>
            <p:nvSpPr>
              <p:cNvPr id="15" name="Rectangle 28"/>
              <p:cNvSpPr>
                <a:spLocks noChangeArrowheads="1"/>
              </p:cNvSpPr>
              <p:nvPr/>
            </p:nvSpPr>
            <p:spPr bwMode="auto">
              <a:xfrm rot="16200000">
                <a:off x="2347" y="4991"/>
                <a:ext cx="192" cy="326"/>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2000" b="1" dirty="0">
                    <a:latin typeface="Symbol" pitchFamily="18" charset="2"/>
                  </a:rPr>
                  <a:t>·</a:t>
                </a:r>
              </a:p>
            </p:txBody>
          </p:sp>
        </p:grpSp>
      </p:grpSp>
      <p:sp>
        <p:nvSpPr>
          <p:cNvPr id="30" name="TextBox 29"/>
          <p:cNvSpPr txBox="1"/>
          <p:nvPr/>
        </p:nvSpPr>
        <p:spPr>
          <a:xfrm>
            <a:off x="1695872" y="2768025"/>
            <a:ext cx="1504528" cy="584775"/>
          </a:xfrm>
          <a:prstGeom prst="rect">
            <a:avLst/>
          </a:prstGeom>
          <a:noFill/>
        </p:spPr>
        <p:txBody>
          <a:bodyPr wrap="square" rtlCol="0">
            <a:spAutoFit/>
          </a:bodyPr>
          <a:lstStyle/>
          <a:p>
            <a:r>
              <a:rPr lang="zh-CN" altLang="en-US" sz="3200" b="1" dirty="0" smtClean="0"/>
              <a:t>例子</a:t>
            </a:r>
            <a:r>
              <a:rPr lang="en-US" altLang="zh-CN" sz="3200" b="1" dirty="0" smtClean="0"/>
              <a:t>:</a:t>
            </a:r>
            <a:endParaRPr lang="en-US" sz="3200" baseline="30000" dirty="0">
              <a:solidFill>
                <a:schemeClr val="bg1"/>
              </a:solidFill>
            </a:endParaRPr>
          </a:p>
        </p:txBody>
      </p:sp>
    </p:spTree>
    <p:extLst>
      <p:ext uri="{BB962C8B-B14F-4D97-AF65-F5344CB8AC3E}">
        <p14:creationId xmlns="" xmlns:p14="http://schemas.microsoft.com/office/powerpoint/2010/main" val="3860061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ppt_x"/>
                                          </p:val>
                                        </p:tav>
                                        <p:tav tm="100000">
                                          <p:val>
                                            <p:strVal val="#ppt_x"/>
                                          </p:val>
                                        </p:tav>
                                      </p:tavLst>
                                    </p:anim>
                                    <p:anim calcmode="lin" valueType="num">
                                      <p:cBhvr additive="base">
                                        <p:cTn id="1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49350"/>
            <a:ext cx="8229600" cy="2146250"/>
          </a:xfrm>
        </p:spPr>
        <p:txBody>
          <a:bodyPr>
            <a:noAutofit/>
          </a:bodyPr>
          <a:lstStyle/>
          <a:p>
            <a:pPr algn="l"/>
            <a:r>
              <a:rPr lang="zh-CN" altLang="en-US" sz="3600" dirty="0" smtClean="0"/>
              <a:t>当两种离子接近到某种距离时，</a:t>
            </a:r>
            <a:r>
              <a:rPr lang="zh-CN" altLang="en-US" sz="3600" b="1" dirty="0" smtClean="0">
                <a:solidFill>
                  <a:srgbClr val="002060"/>
                </a:solidFill>
                <a:effectLst>
                  <a:outerShdw blurRad="38100" dist="38100" dir="2700000" algn="tl">
                    <a:srgbClr val="000000">
                      <a:alpha val="43137"/>
                    </a:srgbClr>
                  </a:outerShdw>
                </a:effectLst>
              </a:rPr>
              <a:t>吸引和排斥</a:t>
            </a:r>
            <a:r>
              <a:rPr lang="zh-CN" altLang="en-US" sz="3600" dirty="0" smtClean="0"/>
              <a:t>作用达到</a:t>
            </a:r>
            <a:r>
              <a:rPr lang="zh-CN" altLang="en-US" sz="3600" b="1" dirty="0" smtClean="0">
                <a:solidFill>
                  <a:srgbClr val="002060"/>
                </a:solidFill>
                <a:effectLst>
                  <a:outerShdw blurRad="38100" dist="38100" dir="2700000" algn="tl">
                    <a:srgbClr val="000000">
                      <a:alpha val="43137"/>
                    </a:srgbClr>
                  </a:outerShdw>
                </a:effectLst>
              </a:rPr>
              <a:t>平衡</a:t>
            </a:r>
            <a:r>
              <a:rPr lang="zh-CN" altLang="en-US" sz="3600" dirty="0" smtClean="0"/>
              <a:t>，正负离子之间</a:t>
            </a:r>
            <a:r>
              <a:rPr lang="zh-CN" altLang="en-US" sz="3600" dirty="0"/>
              <a:t>就</a:t>
            </a:r>
            <a:r>
              <a:rPr lang="zh-CN" altLang="en-US" sz="3600" dirty="0" smtClean="0"/>
              <a:t>会形成</a:t>
            </a:r>
            <a:r>
              <a:rPr lang="zh-CN" altLang="en-US" sz="3600" b="1" dirty="0" smtClean="0">
                <a:solidFill>
                  <a:srgbClr val="002060"/>
                </a:solidFill>
                <a:effectLst>
                  <a:outerShdw blurRad="38100" dist="38100" dir="2700000" algn="tl">
                    <a:srgbClr val="000000">
                      <a:alpha val="43137"/>
                    </a:srgbClr>
                  </a:outerShdw>
                </a:effectLst>
              </a:rPr>
              <a:t>稳定</a:t>
            </a:r>
            <a:r>
              <a:rPr lang="zh-CN" altLang="en-US" sz="3600" dirty="0" smtClean="0"/>
              <a:t>的化学</a:t>
            </a:r>
            <a:r>
              <a:rPr lang="zh-CN" altLang="en-US" sz="3600" dirty="0" smtClean="0"/>
              <a:t>键即离子键。</a:t>
            </a:r>
            <a:r>
              <a:rPr lang="en-US" altLang="zh-CN" sz="3600" dirty="0" smtClean="0"/>
              <a:t>P163(1)</a:t>
            </a:r>
            <a:endParaRPr lang="en-MY" sz="3600" dirty="0"/>
          </a:p>
        </p:txBody>
      </p:sp>
      <p:sp>
        <p:nvSpPr>
          <p:cNvPr id="3" name="Content Placeholder 2"/>
          <p:cNvSpPr>
            <a:spLocks noGrp="1"/>
          </p:cNvSpPr>
          <p:nvPr>
            <p:ph idx="1"/>
          </p:nvPr>
        </p:nvSpPr>
        <p:spPr>
          <a:xfrm>
            <a:off x="471736" y="3657600"/>
            <a:ext cx="8229600" cy="1728192"/>
          </a:xfrm>
        </p:spPr>
        <p:txBody>
          <a:bodyPr>
            <a:noAutofit/>
          </a:bodyPr>
          <a:lstStyle/>
          <a:p>
            <a:pPr marL="0" indent="0">
              <a:buNone/>
            </a:pPr>
            <a:r>
              <a:rPr lang="zh-CN" altLang="en-US" sz="3600" b="1" dirty="0" smtClean="0">
                <a:solidFill>
                  <a:srgbClr val="002060"/>
                </a:solidFill>
                <a:effectLst>
                  <a:outerShdw blurRad="38100" dist="38100" dir="2700000" algn="tl">
                    <a:srgbClr val="000000">
                      <a:alpha val="43137"/>
                    </a:srgbClr>
                  </a:outerShdw>
                </a:effectLst>
              </a:rPr>
              <a:t>活泼</a:t>
            </a:r>
            <a:r>
              <a:rPr lang="zh-CN" altLang="en-US" sz="3600" dirty="0" smtClean="0">
                <a:solidFill>
                  <a:srgbClr val="002060"/>
                </a:solidFill>
                <a:effectLst>
                  <a:outerShdw blurRad="38100" dist="38100" dir="2700000" algn="tl">
                    <a:srgbClr val="000000">
                      <a:alpha val="43137"/>
                    </a:srgbClr>
                  </a:outerShdw>
                </a:effectLst>
              </a:rPr>
              <a:t>的金</a:t>
            </a:r>
            <a:r>
              <a:rPr lang="zh-CN" altLang="en-US" sz="3600" dirty="0" smtClean="0">
                <a:solidFill>
                  <a:srgbClr val="002060"/>
                </a:solidFill>
                <a:effectLst>
                  <a:outerShdw blurRad="38100" dist="38100" dir="2700000" algn="tl">
                    <a:srgbClr val="000000">
                      <a:alpha val="43137"/>
                    </a:srgbClr>
                  </a:outerShdw>
                </a:effectLst>
              </a:rPr>
              <a:t>属</a:t>
            </a:r>
            <a:r>
              <a:rPr lang="zh-CN" altLang="en-US" sz="3600" dirty="0" smtClean="0"/>
              <a:t>的阳离子（</a:t>
            </a:r>
            <a:r>
              <a:rPr lang="zh-CN" altLang="en-US" sz="3600" dirty="0" smtClean="0"/>
              <a:t>钾、钠、钙、镁）与</a:t>
            </a:r>
            <a:r>
              <a:rPr lang="zh-CN" altLang="en-US" sz="3600" b="1" dirty="0" smtClean="0">
                <a:solidFill>
                  <a:srgbClr val="002060"/>
                </a:solidFill>
                <a:effectLst>
                  <a:outerShdw blurRad="38100" dist="38100" dir="2700000" algn="tl">
                    <a:srgbClr val="000000">
                      <a:alpha val="43137"/>
                    </a:srgbClr>
                  </a:outerShdw>
                </a:effectLst>
              </a:rPr>
              <a:t>活泼</a:t>
            </a:r>
            <a:r>
              <a:rPr lang="zh-CN" altLang="en-US" sz="3600" dirty="0" smtClean="0">
                <a:solidFill>
                  <a:srgbClr val="002060"/>
                </a:solidFill>
                <a:effectLst>
                  <a:outerShdw blurRad="38100" dist="38100" dir="2700000" algn="tl">
                    <a:srgbClr val="000000">
                      <a:alpha val="43137"/>
                    </a:srgbClr>
                  </a:outerShdw>
                </a:effectLst>
              </a:rPr>
              <a:t>的非金</a:t>
            </a:r>
            <a:r>
              <a:rPr lang="zh-CN" altLang="en-US" sz="3600" dirty="0" smtClean="0">
                <a:solidFill>
                  <a:srgbClr val="002060"/>
                </a:solidFill>
                <a:effectLst>
                  <a:outerShdw blurRad="38100" dist="38100" dir="2700000" algn="tl">
                    <a:srgbClr val="000000">
                      <a:alpha val="43137"/>
                    </a:srgbClr>
                  </a:outerShdw>
                </a:effectLst>
              </a:rPr>
              <a:t>属</a:t>
            </a:r>
            <a:r>
              <a:rPr lang="zh-CN" altLang="en-US" sz="3600" dirty="0" smtClean="0"/>
              <a:t>的阴离子</a:t>
            </a:r>
            <a:r>
              <a:rPr lang="zh-CN" altLang="en-US" sz="3600" dirty="0" smtClean="0"/>
              <a:t>（</a:t>
            </a:r>
            <a:r>
              <a:rPr lang="zh-CN" altLang="en-US" sz="3600" dirty="0" smtClean="0"/>
              <a:t>氟、氯、溴）之间</a:t>
            </a:r>
            <a:r>
              <a:rPr lang="zh-CN" altLang="en-US" sz="3600" b="1" dirty="0" smtClean="0">
                <a:solidFill>
                  <a:srgbClr val="002060"/>
                </a:solidFill>
                <a:effectLst>
                  <a:outerShdw blurRad="38100" dist="38100" dir="2700000" algn="tl">
                    <a:srgbClr val="000000">
                      <a:alpha val="43137"/>
                    </a:srgbClr>
                  </a:outerShdw>
                </a:effectLst>
              </a:rPr>
              <a:t>易</a:t>
            </a:r>
            <a:r>
              <a:rPr lang="zh-CN" altLang="en-US" sz="3600" dirty="0" smtClean="0"/>
              <a:t>形成离子键</a:t>
            </a:r>
            <a:r>
              <a:rPr lang="zh-CN" altLang="en-US" sz="3600" dirty="0" smtClean="0"/>
              <a:t>。</a:t>
            </a:r>
            <a:r>
              <a:rPr lang="en-US" altLang="zh-CN" sz="3600" dirty="0" smtClean="0"/>
              <a:t>P163(2)</a:t>
            </a:r>
            <a:endParaRPr lang="en-MY" sz="3600" dirty="0"/>
          </a:p>
        </p:txBody>
      </p:sp>
      <p:sp>
        <p:nvSpPr>
          <p:cNvPr id="4" name="TextBox 3"/>
          <p:cNvSpPr txBox="1"/>
          <p:nvPr/>
        </p:nvSpPr>
        <p:spPr>
          <a:xfrm>
            <a:off x="20197" y="3014246"/>
            <a:ext cx="9076524" cy="338554"/>
          </a:xfrm>
          <a:prstGeom prst="rect">
            <a:avLst/>
          </a:prstGeom>
          <a:noFill/>
        </p:spPr>
        <p:txBody>
          <a:bodyPr wrap="none" rtlCol="0">
            <a:spAutoFit/>
          </a:bodyPr>
          <a:lstStyle/>
          <a:p>
            <a:r>
              <a:rPr lang="en-US" altLang="zh-CN" sz="1600" b="1" dirty="0" smtClean="0">
                <a:solidFill>
                  <a:schemeClr val="bg1">
                    <a:lumMod val="95000"/>
                  </a:schemeClr>
                </a:solidFill>
              </a:rPr>
              <a:t>×××××××××××××××××××××××××××××××××××××××××××</a:t>
            </a:r>
            <a:endParaRPr lang="en-MY" sz="1600" b="1" dirty="0">
              <a:solidFill>
                <a:schemeClr val="bg1">
                  <a:lumMod val="95000"/>
                </a:schemeClr>
              </a:solidFill>
            </a:endParaRPr>
          </a:p>
        </p:txBody>
      </p:sp>
    </p:spTree>
    <p:extLst>
      <p:ext uri="{BB962C8B-B14F-4D97-AF65-F5344CB8AC3E}">
        <p14:creationId xmlns="" xmlns:p14="http://schemas.microsoft.com/office/powerpoint/2010/main" val="1155373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zh-CN" altLang="en-US" dirty="0" smtClean="0">
                <a:solidFill>
                  <a:schemeClr val="bg1"/>
                </a:solidFill>
              </a:rPr>
              <a:t>离子化合物的</a:t>
            </a:r>
            <a:r>
              <a:rPr lang="zh-CN" altLang="en-US" sz="5400" b="1" dirty="0" smtClean="0">
                <a:solidFill>
                  <a:schemeClr val="bg1"/>
                </a:solidFill>
              </a:rPr>
              <a:t>电子式</a:t>
            </a:r>
            <a:endParaRPr lang="en-US" sz="5400" b="1" dirty="0">
              <a:solidFill>
                <a:schemeClr val="bg1"/>
              </a:solidFill>
            </a:endParaRPr>
          </a:p>
        </p:txBody>
      </p:sp>
      <p:sp>
        <p:nvSpPr>
          <p:cNvPr id="3" name="Content Placeholder 2"/>
          <p:cNvSpPr>
            <a:spLocks noGrp="1"/>
          </p:cNvSpPr>
          <p:nvPr>
            <p:ph idx="1"/>
          </p:nvPr>
        </p:nvSpPr>
        <p:spPr>
          <a:xfrm>
            <a:off x="457200" y="990600"/>
            <a:ext cx="8229600" cy="4525963"/>
          </a:xfrm>
        </p:spPr>
        <p:txBody>
          <a:bodyPr/>
          <a:lstStyle/>
          <a:p>
            <a:pPr>
              <a:buNone/>
            </a:pPr>
            <a:r>
              <a:rPr lang="en-US" altLang="zh-CN" dirty="0" smtClean="0"/>
              <a:t>1.</a:t>
            </a:r>
            <a:r>
              <a:rPr lang="zh-CN" altLang="en-US" dirty="0" smtClean="0"/>
              <a:t>氯化钠</a:t>
            </a:r>
            <a:r>
              <a:rPr lang="en-US" altLang="zh-CN" dirty="0" smtClean="0"/>
              <a:t>				4.</a:t>
            </a:r>
            <a:r>
              <a:rPr lang="zh-CN" altLang="en-US" dirty="0" smtClean="0"/>
              <a:t>氟化钠</a:t>
            </a:r>
            <a:endParaRPr lang="en-US" altLang="zh-CN" dirty="0" smtClean="0"/>
          </a:p>
          <a:p>
            <a:pPr>
              <a:buNone/>
            </a:pPr>
            <a:endParaRPr lang="en-US" dirty="0" smtClean="0"/>
          </a:p>
          <a:p>
            <a:pPr>
              <a:buNone/>
            </a:pPr>
            <a:endParaRPr lang="en-US" dirty="0" smtClean="0"/>
          </a:p>
          <a:p>
            <a:pPr>
              <a:buNone/>
            </a:pPr>
            <a:r>
              <a:rPr lang="en-US" altLang="zh-CN" dirty="0" smtClean="0"/>
              <a:t>2.</a:t>
            </a:r>
            <a:r>
              <a:rPr lang="zh-CN" altLang="en-US" dirty="0" smtClean="0"/>
              <a:t>氧化镁</a:t>
            </a:r>
            <a:r>
              <a:rPr lang="en-US" altLang="zh-CN" dirty="0" smtClean="0"/>
              <a:t>				5.</a:t>
            </a:r>
            <a:r>
              <a:rPr lang="zh-CN" altLang="en-US" dirty="0" smtClean="0"/>
              <a:t>硫化钾</a:t>
            </a:r>
            <a:endParaRPr lang="en-US" dirty="0" smtClean="0"/>
          </a:p>
          <a:p>
            <a:pPr>
              <a:buNone/>
            </a:pPr>
            <a:endParaRPr lang="en-US" dirty="0" smtClean="0"/>
          </a:p>
          <a:p>
            <a:pPr>
              <a:buNone/>
            </a:pPr>
            <a:endParaRPr lang="en-US" dirty="0" smtClean="0"/>
          </a:p>
          <a:p>
            <a:pPr>
              <a:buNone/>
            </a:pPr>
            <a:r>
              <a:rPr lang="en-US" altLang="zh-CN" dirty="0" smtClean="0"/>
              <a:t>3.</a:t>
            </a:r>
            <a:r>
              <a:rPr lang="zh-CN" altLang="en-US" dirty="0" smtClean="0"/>
              <a:t>氯化钙</a:t>
            </a:r>
            <a:endParaRPr lang="en-US" altLang="zh-CN" dirty="0" smtClean="0"/>
          </a:p>
          <a:p>
            <a:pPr>
              <a:buNone/>
            </a:pPr>
            <a:endParaRPr lang="en-US" dirty="0"/>
          </a:p>
        </p:txBody>
      </p:sp>
      <p:grpSp>
        <p:nvGrpSpPr>
          <p:cNvPr id="39" name="Group 38"/>
          <p:cNvGrpSpPr>
            <a:grpSpLocks/>
          </p:cNvGrpSpPr>
          <p:nvPr/>
        </p:nvGrpSpPr>
        <p:grpSpPr bwMode="auto">
          <a:xfrm>
            <a:off x="990600" y="1600200"/>
            <a:ext cx="2163765" cy="935038"/>
            <a:chOff x="2774" y="1728"/>
            <a:chExt cx="1363" cy="589"/>
          </a:xfrm>
        </p:grpSpPr>
        <p:sp>
          <p:nvSpPr>
            <p:cNvPr id="40" name="Rectangle 13"/>
            <p:cNvSpPr>
              <a:spLocks noChangeArrowheads="1"/>
            </p:cNvSpPr>
            <p:nvPr/>
          </p:nvSpPr>
          <p:spPr bwMode="auto">
            <a:xfrm>
              <a:off x="2774" y="1829"/>
              <a:ext cx="1109" cy="365"/>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b="1" dirty="0"/>
                <a:t>Na</a:t>
              </a:r>
              <a:r>
                <a:rPr kumimoji="0" lang="en-US" altLang="zh-TW" sz="3200" b="1" baseline="30000" dirty="0"/>
                <a:t>+</a:t>
              </a:r>
              <a:r>
                <a:rPr kumimoji="0" lang="en-US" altLang="zh-TW" sz="3200" dirty="0"/>
                <a:t>        </a:t>
              </a:r>
            </a:p>
          </p:txBody>
        </p:sp>
        <p:sp>
          <p:nvSpPr>
            <p:cNvPr id="41" name="Rectangle 14"/>
            <p:cNvSpPr>
              <a:spLocks noChangeArrowheads="1"/>
            </p:cNvSpPr>
            <p:nvPr/>
          </p:nvSpPr>
          <p:spPr bwMode="auto">
            <a:xfrm>
              <a:off x="3254" y="1742"/>
              <a:ext cx="214" cy="480"/>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a:t>[</a:t>
              </a:r>
            </a:p>
          </p:txBody>
        </p:sp>
        <p:sp>
          <p:nvSpPr>
            <p:cNvPr id="42" name="Rectangle 15"/>
            <p:cNvSpPr>
              <a:spLocks noChangeArrowheads="1"/>
            </p:cNvSpPr>
            <p:nvPr/>
          </p:nvSpPr>
          <p:spPr bwMode="auto">
            <a:xfrm>
              <a:off x="3848" y="1742"/>
              <a:ext cx="214" cy="480"/>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dirty="0"/>
                <a:t>]</a:t>
              </a:r>
            </a:p>
          </p:txBody>
        </p:sp>
        <p:sp>
          <p:nvSpPr>
            <p:cNvPr id="43" name="Line 16"/>
            <p:cNvSpPr>
              <a:spLocks noChangeShapeType="1"/>
            </p:cNvSpPr>
            <p:nvPr/>
          </p:nvSpPr>
          <p:spPr bwMode="auto">
            <a:xfrm>
              <a:off x="4042" y="1883"/>
              <a:ext cx="95" cy="0"/>
            </a:xfrm>
            <a:prstGeom prst="line">
              <a:avLst/>
            </a:prstGeom>
            <a:noFill/>
            <a:ln w="50800">
              <a:solidFill>
                <a:schemeClr val="tx1"/>
              </a:solidFill>
              <a:round/>
              <a:headEnd type="none" w="sm" len="sm"/>
              <a:tailEnd type="none" w="sm" len="sm"/>
            </a:ln>
            <a:effectLst/>
          </p:spPr>
          <p:txBody>
            <a:bodyPr wrap="none" anchor="ctr"/>
            <a:lstStyle/>
            <a:p>
              <a:endParaRPr lang="en-US"/>
            </a:p>
          </p:txBody>
        </p:sp>
        <p:grpSp>
          <p:nvGrpSpPr>
            <p:cNvPr id="44" name="Group 43"/>
            <p:cNvGrpSpPr>
              <a:grpSpLocks/>
            </p:cNvGrpSpPr>
            <p:nvPr/>
          </p:nvGrpSpPr>
          <p:grpSpPr bwMode="auto">
            <a:xfrm>
              <a:off x="3363" y="1728"/>
              <a:ext cx="595" cy="589"/>
              <a:chOff x="4209" y="1728"/>
              <a:chExt cx="595" cy="589"/>
            </a:xfrm>
          </p:grpSpPr>
          <p:sp>
            <p:nvSpPr>
              <p:cNvPr id="45" name="Rectangle 18"/>
              <p:cNvSpPr>
                <a:spLocks noChangeArrowheads="1"/>
              </p:cNvSpPr>
              <p:nvPr/>
            </p:nvSpPr>
            <p:spPr bwMode="auto">
              <a:xfrm>
                <a:off x="4326" y="1842"/>
                <a:ext cx="372" cy="365"/>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b="1" dirty="0" err="1"/>
                  <a:t>Cl</a:t>
                </a:r>
                <a:endParaRPr kumimoji="0" lang="en-US" altLang="zh-TW" sz="3200" b="1" dirty="0"/>
              </a:p>
            </p:txBody>
          </p:sp>
          <p:sp>
            <p:nvSpPr>
              <p:cNvPr id="46"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47"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48" name="Rectangle 21"/>
              <p:cNvSpPr>
                <a:spLocks noChangeArrowheads="1"/>
              </p:cNvSpPr>
              <p:nvPr/>
            </p:nvSpPr>
            <p:spPr bwMode="auto">
              <a:xfrm rot="16200000">
                <a:off x="4547" y="191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49" name="Rectangle 22"/>
              <p:cNvSpPr>
                <a:spLocks noChangeArrowheads="1"/>
              </p:cNvSpPr>
              <p:nvPr/>
            </p:nvSpPr>
            <p:spPr bwMode="auto">
              <a:xfrm rot="16200000">
                <a:off x="4183" y="1917"/>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r>
                  <a:rPr kumimoji="0" lang="en-US" altLang="zh-TW" dirty="0">
                    <a:solidFill>
                      <a:srgbClr val="FF00FF"/>
                    </a:solidFill>
                    <a:latin typeface="Symbol" pitchFamily="18" charset="2"/>
                  </a:rPr>
                  <a:t>·</a:t>
                </a:r>
              </a:p>
            </p:txBody>
          </p:sp>
        </p:grpSp>
      </p:grpSp>
      <p:grpSp>
        <p:nvGrpSpPr>
          <p:cNvPr id="52" name="Group 51"/>
          <p:cNvGrpSpPr>
            <a:grpSpLocks/>
          </p:cNvGrpSpPr>
          <p:nvPr/>
        </p:nvGrpSpPr>
        <p:grpSpPr bwMode="auto">
          <a:xfrm>
            <a:off x="914400" y="3200400"/>
            <a:ext cx="2420940" cy="935038"/>
            <a:chOff x="2726" y="1728"/>
            <a:chExt cx="1525" cy="589"/>
          </a:xfrm>
        </p:grpSpPr>
        <p:sp>
          <p:nvSpPr>
            <p:cNvPr id="53" name="Rectangle 13"/>
            <p:cNvSpPr>
              <a:spLocks noChangeArrowheads="1"/>
            </p:cNvSpPr>
            <p:nvPr/>
          </p:nvSpPr>
          <p:spPr bwMode="auto">
            <a:xfrm>
              <a:off x="2726" y="1829"/>
              <a:ext cx="1108"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CN" sz="3200" b="1" dirty="0" smtClean="0"/>
                <a:t>Mg</a:t>
              </a:r>
              <a:r>
                <a:rPr lang="en-US" altLang="zh-CN" sz="3200" b="1" baseline="30000" dirty="0" smtClean="0"/>
                <a:t>2</a:t>
              </a:r>
              <a:r>
                <a:rPr kumimoji="0" lang="en-US" altLang="zh-TW" sz="3200" b="1" baseline="30000" dirty="0" smtClean="0"/>
                <a:t>+</a:t>
              </a:r>
              <a:r>
                <a:rPr kumimoji="0" lang="en-US" altLang="zh-TW" sz="3200" dirty="0" smtClean="0"/>
                <a:t>        </a:t>
              </a:r>
              <a:endParaRPr kumimoji="0" lang="en-US" altLang="zh-TW" sz="3200" dirty="0"/>
            </a:p>
          </p:txBody>
        </p:sp>
        <p:sp>
          <p:nvSpPr>
            <p:cNvPr id="54" name="Rectangle 14"/>
            <p:cNvSpPr>
              <a:spLocks noChangeArrowheads="1"/>
            </p:cNvSpPr>
            <p:nvPr/>
          </p:nvSpPr>
          <p:spPr bwMode="auto">
            <a:xfrm>
              <a:off x="3254" y="1742"/>
              <a:ext cx="214" cy="480"/>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a:t>[</a:t>
              </a:r>
            </a:p>
          </p:txBody>
        </p:sp>
        <p:sp>
          <p:nvSpPr>
            <p:cNvPr id="55" name="Rectangle 15"/>
            <p:cNvSpPr>
              <a:spLocks noChangeArrowheads="1"/>
            </p:cNvSpPr>
            <p:nvPr/>
          </p:nvSpPr>
          <p:spPr bwMode="auto">
            <a:xfrm>
              <a:off x="3848" y="1742"/>
              <a:ext cx="403" cy="485"/>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dirty="0" smtClean="0"/>
                <a:t>]</a:t>
              </a:r>
              <a:r>
                <a:rPr kumimoji="0" lang="en-US" altLang="zh-CN" sz="3800" b="1" baseline="30000" dirty="0" smtClean="0"/>
                <a:t>2</a:t>
              </a:r>
              <a:r>
                <a:rPr kumimoji="0" lang="en-US" altLang="zh-CN" sz="4400" baseline="30000" dirty="0" smtClean="0"/>
                <a:t>-</a:t>
              </a:r>
              <a:endParaRPr kumimoji="0" lang="en-US" altLang="zh-TW" sz="4400" dirty="0"/>
            </a:p>
          </p:txBody>
        </p:sp>
        <p:grpSp>
          <p:nvGrpSpPr>
            <p:cNvPr id="57" name="Group 43"/>
            <p:cNvGrpSpPr>
              <a:grpSpLocks/>
            </p:cNvGrpSpPr>
            <p:nvPr/>
          </p:nvGrpSpPr>
          <p:grpSpPr bwMode="auto">
            <a:xfrm>
              <a:off x="3363" y="1728"/>
              <a:ext cx="595" cy="589"/>
              <a:chOff x="4209" y="1728"/>
              <a:chExt cx="595" cy="589"/>
            </a:xfrm>
          </p:grpSpPr>
          <p:sp>
            <p:nvSpPr>
              <p:cNvPr id="58" name="Rectangle 18"/>
              <p:cNvSpPr>
                <a:spLocks noChangeArrowheads="1"/>
              </p:cNvSpPr>
              <p:nvPr/>
            </p:nvSpPr>
            <p:spPr bwMode="auto">
              <a:xfrm>
                <a:off x="4326" y="1842"/>
                <a:ext cx="350"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CN" sz="3200" b="1" dirty="0" smtClean="0"/>
                  <a:t> O</a:t>
                </a:r>
                <a:endParaRPr kumimoji="0" lang="en-US" altLang="zh-TW" sz="3200" b="1" dirty="0"/>
              </a:p>
            </p:txBody>
          </p:sp>
          <p:sp>
            <p:nvSpPr>
              <p:cNvPr id="59"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60"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61" name="Rectangle 21"/>
              <p:cNvSpPr>
                <a:spLocks noChangeArrowheads="1"/>
              </p:cNvSpPr>
              <p:nvPr/>
            </p:nvSpPr>
            <p:spPr bwMode="auto">
              <a:xfrm rot="16200000">
                <a:off x="4547" y="191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r>
                  <a:rPr kumimoji="0" lang="en-US" altLang="zh-TW" dirty="0">
                    <a:solidFill>
                      <a:srgbClr val="FF00FF"/>
                    </a:solidFill>
                    <a:latin typeface="Symbol" pitchFamily="18" charset="2"/>
                  </a:rPr>
                  <a:t>·</a:t>
                </a:r>
              </a:p>
            </p:txBody>
          </p:sp>
          <p:sp>
            <p:nvSpPr>
              <p:cNvPr id="62" name="Rectangle 22"/>
              <p:cNvSpPr>
                <a:spLocks noChangeArrowheads="1"/>
              </p:cNvSpPr>
              <p:nvPr/>
            </p:nvSpPr>
            <p:spPr bwMode="auto">
              <a:xfrm rot="16200000">
                <a:off x="4183" y="1917"/>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r>
                  <a:rPr kumimoji="0" lang="en-US" altLang="zh-TW" dirty="0">
                    <a:solidFill>
                      <a:srgbClr val="FF00FF"/>
                    </a:solidFill>
                    <a:latin typeface="Symbol" pitchFamily="18" charset="2"/>
                  </a:rPr>
                  <a:t>·</a:t>
                </a:r>
              </a:p>
            </p:txBody>
          </p:sp>
        </p:grpSp>
      </p:grpSp>
      <p:grpSp>
        <p:nvGrpSpPr>
          <p:cNvPr id="63" name="Group 62"/>
          <p:cNvGrpSpPr>
            <a:grpSpLocks/>
          </p:cNvGrpSpPr>
          <p:nvPr/>
        </p:nvGrpSpPr>
        <p:grpSpPr bwMode="auto">
          <a:xfrm>
            <a:off x="579435" y="4932362"/>
            <a:ext cx="2163765" cy="935038"/>
            <a:chOff x="2774" y="1728"/>
            <a:chExt cx="1363" cy="589"/>
          </a:xfrm>
        </p:grpSpPr>
        <p:sp>
          <p:nvSpPr>
            <p:cNvPr id="64"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sp>
          <p:nvSpPr>
            <p:cNvPr id="65" name="Rectangle 14"/>
            <p:cNvSpPr>
              <a:spLocks noChangeArrowheads="1"/>
            </p:cNvSpPr>
            <p:nvPr/>
          </p:nvSpPr>
          <p:spPr bwMode="auto">
            <a:xfrm>
              <a:off x="3254" y="1742"/>
              <a:ext cx="214" cy="480"/>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a:t>[</a:t>
              </a:r>
            </a:p>
          </p:txBody>
        </p:sp>
        <p:sp>
          <p:nvSpPr>
            <p:cNvPr id="66" name="Rectangle 15"/>
            <p:cNvSpPr>
              <a:spLocks noChangeArrowheads="1"/>
            </p:cNvSpPr>
            <p:nvPr/>
          </p:nvSpPr>
          <p:spPr bwMode="auto">
            <a:xfrm>
              <a:off x="3848" y="1742"/>
              <a:ext cx="214" cy="480"/>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a:t>]</a:t>
              </a:r>
            </a:p>
          </p:txBody>
        </p:sp>
        <p:sp>
          <p:nvSpPr>
            <p:cNvPr id="67" name="Line 16"/>
            <p:cNvSpPr>
              <a:spLocks noChangeShapeType="1"/>
            </p:cNvSpPr>
            <p:nvPr/>
          </p:nvSpPr>
          <p:spPr bwMode="auto">
            <a:xfrm>
              <a:off x="4042" y="1883"/>
              <a:ext cx="95" cy="0"/>
            </a:xfrm>
            <a:prstGeom prst="line">
              <a:avLst/>
            </a:prstGeom>
            <a:noFill/>
            <a:ln w="50800">
              <a:solidFill>
                <a:schemeClr val="tx1"/>
              </a:solidFill>
              <a:round/>
              <a:headEnd type="none" w="sm" len="sm"/>
              <a:tailEnd type="none" w="sm" len="sm"/>
            </a:ln>
            <a:effectLst/>
          </p:spPr>
          <p:txBody>
            <a:bodyPr wrap="none" anchor="ctr"/>
            <a:lstStyle/>
            <a:p>
              <a:endParaRPr lang="en-US"/>
            </a:p>
          </p:txBody>
        </p:sp>
        <p:grpSp>
          <p:nvGrpSpPr>
            <p:cNvPr id="68" name="Group 43"/>
            <p:cNvGrpSpPr>
              <a:grpSpLocks/>
            </p:cNvGrpSpPr>
            <p:nvPr/>
          </p:nvGrpSpPr>
          <p:grpSpPr bwMode="auto">
            <a:xfrm>
              <a:off x="3363" y="1728"/>
              <a:ext cx="595" cy="589"/>
              <a:chOff x="4209" y="1728"/>
              <a:chExt cx="595" cy="589"/>
            </a:xfrm>
          </p:grpSpPr>
          <p:sp>
            <p:nvSpPr>
              <p:cNvPr id="69" name="Rectangle 18"/>
              <p:cNvSpPr>
                <a:spLocks noChangeArrowheads="1"/>
              </p:cNvSpPr>
              <p:nvPr/>
            </p:nvSpPr>
            <p:spPr bwMode="auto">
              <a:xfrm>
                <a:off x="4326" y="1842"/>
                <a:ext cx="372" cy="365"/>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b="1" dirty="0" err="1"/>
                  <a:t>Cl</a:t>
                </a:r>
                <a:endParaRPr kumimoji="0" lang="en-US" altLang="zh-TW" sz="3200" b="1" dirty="0"/>
              </a:p>
            </p:txBody>
          </p:sp>
          <p:sp>
            <p:nvSpPr>
              <p:cNvPr id="70"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71"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72" name="Rectangle 21"/>
              <p:cNvSpPr>
                <a:spLocks noChangeArrowheads="1"/>
              </p:cNvSpPr>
              <p:nvPr/>
            </p:nvSpPr>
            <p:spPr bwMode="auto">
              <a:xfrm rot="16200000">
                <a:off x="4547" y="191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r>
                  <a:rPr kumimoji="0" lang="en-US" altLang="zh-TW" dirty="0">
                    <a:solidFill>
                      <a:srgbClr val="FF00FF"/>
                    </a:solidFill>
                    <a:latin typeface="Symbol" pitchFamily="18" charset="2"/>
                  </a:rPr>
                  <a:t>·</a:t>
                </a:r>
              </a:p>
            </p:txBody>
          </p:sp>
          <p:sp>
            <p:nvSpPr>
              <p:cNvPr id="73" name="Rectangle 22"/>
              <p:cNvSpPr>
                <a:spLocks noChangeArrowheads="1"/>
              </p:cNvSpPr>
              <p:nvPr/>
            </p:nvSpPr>
            <p:spPr bwMode="auto">
              <a:xfrm rot="16200000">
                <a:off x="4183" y="1917"/>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grpSp>
      </p:grpSp>
      <p:grpSp>
        <p:nvGrpSpPr>
          <p:cNvPr id="74" name="Group 73"/>
          <p:cNvGrpSpPr>
            <a:grpSpLocks/>
          </p:cNvGrpSpPr>
          <p:nvPr/>
        </p:nvGrpSpPr>
        <p:grpSpPr bwMode="auto">
          <a:xfrm>
            <a:off x="2713035" y="4932362"/>
            <a:ext cx="2163765" cy="935038"/>
            <a:chOff x="2774" y="1728"/>
            <a:chExt cx="1363" cy="589"/>
          </a:xfrm>
        </p:grpSpPr>
        <p:sp>
          <p:nvSpPr>
            <p:cNvPr id="75" name="Rectangle 13"/>
            <p:cNvSpPr>
              <a:spLocks noChangeArrowheads="1"/>
            </p:cNvSpPr>
            <p:nvPr/>
          </p:nvSpPr>
          <p:spPr bwMode="auto">
            <a:xfrm>
              <a:off x="2774" y="1829"/>
              <a:ext cx="1024"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t>C</a:t>
              </a:r>
              <a:r>
                <a:rPr kumimoji="0" lang="en-US" altLang="zh-TW" sz="3200" b="1" dirty="0" smtClean="0"/>
                <a:t>a</a:t>
              </a:r>
              <a:r>
                <a:rPr kumimoji="0" lang="en-US" altLang="zh-TW" sz="3200" b="1" baseline="30000" dirty="0" smtClean="0"/>
                <a:t>2+</a:t>
              </a:r>
              <a:r>
                <a:rPr kumimoji="0" lang="en-US" altLang="zh-TW" sz="3200" dirty="0" smtClean="0"/>
                <a:t>        </a:t>
              </a:r>
              <a:endParaRPr kumimoji="0" lang="en-US" altLang="zh-TW" sz="3200" dirty="0"/>
            </a:p>
          </p:txBody>
        </p:sp>
        <p:sp>
          <p:nvSpPr>
            <p:cNvPr id="76" name="Rectangle 14"/>
            <p:cNvSpPr>
              <a:spLocks noChangeArrowheads="1"/>
            </p:cNvSpPr>
            <p:nvPr/>
          </p:nvSpPr>
          <p:spPr bwMode="auto">
            <a:xfrm>
              <a:off x="3254" y="1742"/>
              <a:ext cx="214" cy="480"/>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a:t>[</a:t>
              </a:r>
            </a:p>
          </p:txBody>
        </p:sp>
        <p:sp>
          <p:nvSpPr>
            <p:cNvPr id="77" name="Rectangle 15"/>
            <p:cNvSpPr>
              <a:spLocks noChangeArrowheads="1"/>
            </p:cNvSpPr>
            <p:nvPr/>
          </p:nvSpPr>
          <p:spPr bwMode="auto">
            <a:xfrm>
              <a:off x="3848" y="1742"/>
              <a:ext cx="214" cy="480"/>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a:t>]</a:t>
              </a:r>
            </a:p>
          </p:txBody>
        </p:sp>
        <p:sp>
          <p:nvSpPr>
            <p:cNvPr id="78" name="Line 16"/>
            <p:cNvSpPr>
              <a:spLocks noChangeShapeType="1"/>
            </p:cNvSpPr>
            <p:nvPr/>
          </p:nvSpPr>
          <p:spPr bwMode="auto">
            <a:xfrm>
              <a:off x="4042" y="1883"/>
              <a:ext cx="95" cy="0"/>
            </a:xfrm>
            <a:prstGeom prst="line">
              <a:avLst/>
            </a:prstGeom>
            <a:noFill/>
            <a:ln w="50800">
              <a:solidFill>
                <a:schemeClr val="tx1"/>
              </a:solidFill>
              <a:round/>
              <a:headEnd type="none" w="sm" len="sm"/>
              <a:tailEnd type="none" w="sm" len="sm"/>
            </a:ln>
            <a:effectLst/>
          </p:spPr>
          <p:txBody>
            <a:bodyPr wrap="none" anchor="ctr"/>
            <a:lstStyle/>
            <a:p>
              <a:endParaRPr lang="en-US"/>
            </a:p>
          </p:txBody>
        </p:sp>
        <p:grpSp>
          <p:nvGrpSpPr>
            <p:cNvPr id="79" name="Group 43"/>
            <p:cNvGrpSpPr>
              <a:grpSpLocks/>
            </p:cNvGrpSpPr>
            <p:nvPr/>
          </p:nvGrpSpPr>
          <p:grpSpPr bwMode="auto">
            <a:xfrm>
              <a:off x="3363" y="1728"/>
              <a:ext cx="595" cy="589"/>
              <a:chOff x="4209" y="1728"/>
              <a:chExt cx="595" cy="589"/>
            </a:xfrm>
          </p:grpSpPr>
          <p:sp>
            <p:nvSpPr>
              <p:cNvPr id="80" name="Rectangle 18"/>
              <p:cNvSpPr>
                <a:spLocks noChangeArrowheads="1"/>
              </p:cNvSpPr>
              <p:nvPr/>
            </p:nvSpPr>
            <p:spPr bwMode="auto">
              <a:xfrm>
                <a:off x="4326" y="1842"/>
                <a:ext cx="372" cy="365"/>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b="1" dirty="0" err="1"/>
                  <a:t>Cl</a:t>
                </a:r>
                <a:endParaRPr kumimoji="0" lang="en-US" altLang="zh-TW" sz="3200" b="1" dirty="0"/>
              </a:p>
            </p:txBody>
          </p:sp>
          <p:sp>
            <p:nvSpPr>
              <p:cNvPr id="81"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82"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83" name="Rectangle 21"/>
              <p:cNvSpPr>
                <a:spLocks noChangeArrowheads="1"/>
              </p:cNvSpPr>
              <p:nvPr/>
            </p:nvSpPr>
            <p:spPr bwMode="auto">
              <a:xfrm rot="16200000">
                <a:off x="4547" y="191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84" name="Rectangle 22"/>
              <p:cNvSpPr>
                <a:spLocks noChangeArrowheads="1"/>
              </p:cNvSpPr>
              <p:nvPr/>
            </p:nvSpPr>
            <p:spPr bwMode="auto">
              <a:xfrm rot="16200000">
                <a:off x="4183" y="1917"/>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r>
                  <a:rPr kumimoji="0" lang="en-US" altLang="zh-TW" dirty="0">
                    <a:solidFill>
                      <a:srgbClr val="FF00FF"/>
                    </a:solidFill>
                    <a:latin typeface="Symbol" pitchFamily="18" charset="2"/>
                  </a:rPr>
                  <a:t>·</a:t>
                </a:r>
              </a:p>
            </p:txBody>
          </p:sp>
        </p:grpSp>
      </p:grpSp>
      <p:grpSp>
        <p:nvGrpSpPr>
          <p:cNvPr id="85" name="Group 84"/>
          <p:cNvGrpSpPr>
            <a:grpSpLocks/>
          </p:cNvGrpSpPr>
          <p:nvPr/>
        </p:nvGrpSpPr>
        <p:grpSpPr bwMode="auto">
          <a:xfrm>
            <a:off x="5227635" y="1600200"/>
            <a:ext cx="2163765" cy="935038"/>
            <a:chOff x="2774" y="1728"/>
            <a:chExt cx="1363" cy="589"/>
          </a:xfrm>
        </p:grpSpPr>
        <p:sp>
          <p:nvSpPr>
            <p:cNvPr id="86" name="Rectangle 13"/>
            <p:cNvSpPr>
              <a:spLocks noChangeArrowheads="1"/>
            </p:cNvSpPr>
            <p:nvPr/>
          </p:nvSpPr>
          <p:spPr bwMode="auto">
            <a:xfrm>
              <a:off x="2774" y="1829"/>
              <a:ext cx="1109" cy="365"/>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b="1" dirty="0" smtClean="0"/>
                <a:t>Na</a:t>
              </a:r>
              <a:r>
                <a:rPr kumimoji="0" lang="en-US" altLang="zh-TW" sz="3200" b="1" baseline="30000" dirty="0" smtClean="0"/>
                <a:t>+</a:t>
              </a:r>
              <a:r>
                <a:rPr kumimoji="0" lang="en-US" altLang="zh-TW" sz="3200" dirty="0" smtClean="0"/>
                <a:t>        </a:t>
              </a:r>
              <a:endParaRPr kumimoji="0" lang="en-US" altLang="zh-TW" sz="3200" dirty="0"/>
            </a:p>
          </p:txBody>
        </p:sp>
        <p:sp>
          <p:nvSpPr>
            <p:cNvPr id="87" name="Rectangle 14"/>
            <p:cNvSpPr>
              <a:spLocks noChangeArrowheads="1"/>
            </p:cNvSpPr>
            <p:nvPr/>
          </p:nvSpPr>
          <p:spPr bwMode="auto">
            <a:xfrm>
              <a:off x="3254" y="1742"/>
              <a:ext cx="214" cy="480"/>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a:t>[</a:t>
              </a:r>
            </a:p>
          </p:txBody>
        </p:sp>
        <p:sp>
          <p:nvSpPr>
            <p:cNvPr id="88" name="Rectangle 15"/>
            <p:cNvSpPr>
              <a:spLocks noChangeArrowheads="1"/>
            </p:cNvSpPr>
            <p:nvPr/>
          </p:nvSpPr>
          <p:spPr bwMode="auto">
            <a:xfrm>
              <a:off x="3848" y="1742"/>
              <a:ext cx="214" cy="480"/>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dirty="0"/>
                <a:t>]</a:t>
              </a:r>
            </a:p>
          </p:txBody>
        </p:sp>
        <p:sp>
          <p:nvSpPr>
            <p:cNvPr id="89" name="Line 16"/>
            <p:cNvSpPr>
              <a:spLocks noChangeShapeType="1"/>
            </p:cNvSpPr>
            <p:nvPr/>
          </p:nvSpPr>
          <p:spPr bwMode="auto">
            <a:xfrm>
              <a:off x="4042" y="1883"/>
              <a:ext cx="95" cy="0"/>
            </a:xfrm>
            <a:prstGeom prst="line">
              <a:avLst/>
            </a:prstGeom>
            <a:noFill/>
            <a:ln w="50800">
              <a:solidFill>
                <a:schemeClr val="tx1"/>
              </a:solidFill>
              <a:round/>
              <a:headEnd type="none" w="sm" len="sm"/>
              <a:tailEnd type="none" w="sm" len="sm"/>
            </a:ln>
            <a:effectLst/>
          </p:spPr>
          <p:txBody>
            <a:bodyPr wrap="none" anchor="ctr"/>
            <a:lstStyle/>
            <a:p>
              <a:endParaRPr lang="en-US"/>
            </a:p>
          </p:txBody>
        </p:sp>
        <p:grpSp>
          <p:nvGrpSpPr>
            <p:cNvPr id="90" name="Group 43"/>
            <p:cNvGrpSpPr>
              <a:grpSpLocks/>
            </p:cNvGrpSpPr>
            <p:nvPr/>
          </p:nvGrpSpPr>
          <p:grpSpPr bwMode="auto">
            <a:xfrm>
              <a:off x="3363" y="1728"/>
              <a:ext cx="595" cy="589"/>
              <a:chOff x="4209" y="1728"/>
              <a:chExt cx="595" cy="589"/>
            </a:xfrm>
          </p:grpSpPr>
          <p:sp>
            <p:nvSpPr>
              <p:cNvPr id="91" name="Rectangle 18"/>
              <p:cNvSpPr>
                <a:spLocks noChangeArrowheads="1"/>
              </p:cNvSpPr>
              <p:nvPr/>
            </p:nvSpPr>
            <p:spPr bwMode="auto">
              <a:xfrm>
                <a:off x="4326" y="1842"/>
                <a:ext cx="295"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CN" sz="3200" b="1" dirty="0" smtClean="0"/>
                  <a:t> F</a:t>
                </a:r>
                <a:endParaRPr kumimoji="0" lang="en-US" altLang="zh-TW" sz="3200" b="1" dirty="0"/>
              </a:p>
            </p:txBody>
          </p:sp>
          <p:sp>
            <p:nvSpPr>
              <p:cNvPr id="92"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93"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94" name="Rectangle 21"/>
              <p:cNvSpPr>
                <a:spLocks noChangeArrowheads="1"/>
              </p:cNvSpPr>
              <p:nvPr/>
            </p:nvSpPr>
            <p:spPr bwMode="auto">
              <a:xfrm rot="16200000">
                <a:off x="4547" y="191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95" name="Rectangle 22"/>
              <p:cNvSpPr>
                <a:spLocks noChangeArrowheads="1"/>
              </p:cNvSpPr>
              <p:nvPr/>
            </p:nvSpPr>
            <p:spPr bwMode="auto">
              <a:xfrm rot="16200000">
                <a:off x="4183" y="1917"/>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r>
                  <a:rPr kumimoji="0" lang="en-US" altLang="zh-TW" dirty="0">
                    <a:solidFill>
                      <a:srgbClr val="FF00FF"/>
                    </a:solidFill>
                    <a:latin typeface="Symbol" pitchFamily="18" charset="2"/>
                  </a:rPr>
                  <a:t>·</a:t>
                </a:r>
              </a:p>
            </p:txBody>
          </p:sp>
        </p:grpSp>
      </p:grpSp>
      <p:grpSp>
        <p:nvGrpSpPr>
          <p:cNvPr id="96" name="Group 95"/>
          <p:cNvGrpSpPr>
            <a:grpSpLocks/>
          </p:cNvGrpSpPr>
          <p:nvPr/>
        </p:nvGrpSpPr>
        <p:grpSpPr bwMode="auto">
          <a:xfrm>
            <a:off x="5199061" y="3200400"/>
            <a:ext cx="2878139" cy="935038"/>
            <a:chOff x="3014" y="1728"/>
            <a:chExt cx="1669" cy="589"/>
          </a:xfrm>
        </p:grpSpPr>
        <p:sp>
          <p:nvSpPr>
            <p:cNvPr id="97" name="Rectangle 13"/>
            <p:cNvSpPr>
              <a:spLocks noChangeArrowheads="1"/>
            </p:cNvSpPr>
            <p:nvPr/>
          </p:nvSpPr>
          <p:spPr bwMode="auto">
            <a:xfrm>
              <a:off x="3014" y="1839"/>
              <a:ext cx="1669" cy="369"/>
            </a:xfrm>
            <a:prstGeom prst="rect">
              <a:avLst/>
            </a:prstGeom>
            <a:noFill/>
            <a:ln w="9525">
              <a:noFill/>
              <a:miter lim="800000"/>
              <a:headEnd/>
              <a:tailEnd/>
            </a:ln>
            <a:effectLst/>
          </p:spPr>
          <p:txBody>
            <a:bodyPr wrap="square" lIns="92075" tIns="46038" rIns="92075" bIns="46038">
              <a:spAutoFit/>
            </a:bodyPr>
            <a:lstStyle/>
            <a:p>
              <a:pPr eaLnBrk="0" hangingPunct="0"/>
              <a:r>
                <a:rPr lang="en-US" altLang="zh-CN" sz="3200" b="1" dirty="0" smtClean="0"/>
                <a:t>K</a:t>
              </a:r>
              <a:r>
                <a:rPr kumimoji="0" lang="en-US" altLang="zh-TW" sz="3200" b="1" baseline="30000" dirty="0" smtClean="0"/>
                <a:t>+</a:t>
              </a:r>
              <a:r>
                <a:rPr lang="en-US" altLang="zh-TW" sz="3200" b="1" dirty="0" smtClean="0"/>
                <a:t>  		 </a:t>
              </a:r>
              <a:r>
                <a:rPr lang="en-US" altLang="zh-CN" sz="3200" b="1" dirty="0" smtClean="0"/>
                <a:t>K</a:t>
              </a:r>
              <a:r>
                <a:rPr lang="en-US" altLang="zh-CN" sz="3200" b="1" baseline="30000" dirty="0" smtClean="0"/>
                <a:t>+</a:t>
              </a:r>
              <a:r>
                <a:rPr kumimoji="0" lang="en-US" altLang="zh-TW" sz="3200" dirty="0" smtClean="0"/>
                <a:t>        </a:t>
              </a:r>
              <a:endParaRPr kumimoji="0" lang="en-US" altLang="zh-TW" sz="3200" dirty="0"/>
            </a:p>
          </p:txBody>
        </p:sp>
        <p:sp>
          <p:nvSpPr>
            <p:cNvPr id="98" name="Rectangle 14"/>
            <p:cNvSpPr>
              <a:spLocks noChangeArrowheads="1"/>
            </p:cNvSpPr>
            <p:nvPr/>
          </p:nvSpPr>
          <p:spPr bwMode="auto">
            <a:xfrm>
              <a:off x="3254" y="1742"/>
              <a:ext cx="214" cy="480"/>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a:t>[</a:t>
              </a:r>
            </a:p>
          </p:txBody>
        </p:sp>
        <p:sp>
          <p:nvSpPr>
            <p:cNvPr id="99" name="Rectangle 15"/>
            <p:cNvSpPr>
              <a:spLocks noChangeArrowheads="1"/>
            </p:cNvSpPr>
            <p:nvPr/>
          </p:nvSpPr>
          <p:spPr bwMode="auto">
            <a:xfrm>
              <a:off x="3848" y="1742"/>
              <a:ext cx="403" cy="485"/>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4400" dirty="0" smtClean="0"/>
                <a:t>]</a:t>
              </a:r>
              <a:r>
                <a:rPr kumimoji="0" lang="en-US" altLang="zh-CN" sz="3800" b="1" baseline="30000" dirty="0" smtClean="0"/>
                <a:t>2</a:t>
              </a:r>
              <a:r>
                <a:rPr kumimoji="0" lang="en-US" altLang="zh-CN" sz="4400" baseline="30000" dirty="0" smtClean="0"/>
                <a:t>-</a:t>
              </a:r>
              <a:endParaRPr kumimoji="0" lang="en-US" altLang="zh-TW" sz="4400" dirty="0"/>
            </a:p>
          </p:txBody>
        </p:sp>
        <p:grpSp>
          <p:nvGrpSpPr>
            <p:cNvPr id="100" name="Group 43"/>
            <p:cNvGrpSpPr>
              <a:grpSpLocks/>
            </p:cNvGrpSpPr>
            <p:nvPr/>
          </p:nvGrpSpPr>
          <p:grpSpPr bwMode="auto">
            <a:xfrm>
              <a:off x="3363" y="1728"/>
              <a:ext cx="595" cy="589"/>
              <a:chOff x="4209" y="1728"/>
              <a:chExt cx="595" cy="589"/>
            </a:xfrm>
          </p:grpSpPr>
          <p:sp>
            <p:nvSpPr>
              <p:cNvPr id="101" name="Rectangle 18"/>
              <p:cNvSpPr>
                <a:spLocks noChangeArrowheads="1"/>
              </p:cNvSpPr>
              <p:nvPr/>
            </p:nvSpPr>
            <p:spPr bwMode="auto">
              <a:xfrm>
                <a:off x="4326" y="1842"/>
                <a:ext cx="274"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CN" sz="3200" b="1" dirty="0" smtClean="0"/>
                  <a:t> S</a:t>
                </a:r>
                <a:endParaRPr kumimoji="0" lang="en-US" altLang="zh-TW" sz="3200" b="1" dirty="0"/>
              </a:p>
            </p:txBody>
          </p:sp>
          <p:sp>
            <p:nvSpPr>
              <p:cNvPr id="102"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103"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104" name="Rectangle 21"/>
              <p:cNvSpPr>
                <a:spLocks noChangeArrowheads="1"/>
              </p:cNvSpPr>
              <p:nvPr/>
            </p:nvSpPr>
            <p:spPr bwMode="auto">
              <a:xfrm rot="16200000">
                <a:off x="4547" y="191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r>
                  <a:rPr kumimoji="0" lang="en-US" altLang="zh-TW" dirty="0">
                    <a:solidFill>
                      <a:srgbClr val="FF00FF"/>
                    </a:solidFill>
                    <a:latin typeface="Symbol" pitchFamily="18" charset="2"/>
                  </a:rPr>
                  <a:t>·</a:t>
                </a:r>
              </a:p>
            </p:txBody>
          </p:sp>
          <p:sp>
            <p:nvSpPr>
              <p:cNvPr id="105" name="Rectangle 22"/>
              <p:cNvSpPr>
                <a:spLocks noChangeArrowheads="1"/>
              </p:cNvSpPr>
              <p:nvPr/>
            </p:nvSpPr>
            <p:spPr bwMode="auto">
              <a:xfrm rot="16200000">
                <a:off x="4183" y="1917"/>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r>
                  <a:rPr kumimoji="0" lang="en-US" altLang="zh-TW" dirty="0">
                    <a:solidFill>
                      <a:srgbClr val="FF00FF"/>
                    </a:solidFill>
                    <a:latin typeface="Symbol" pitchFamily="18" charset="2"/>
                  </a:rPr>
                  <a:t>·</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 calcmode="lin" valueType="num">
                                      <p:cBhvr additive="base">
                                        <p:cTn id="21" dur="500" fill="hold"/>
                                        <p:tgtEl>
                                          <p:spTgt spid="39"/>
                                        </p:tgtEl>
                                        <p:attrNameLst>
                                          <p:attrName>ppt_x</p:attrName>
                                        </p:attrNameLst>
                                      </p:cBhvr>
                                      <p:tavLst>
                                        <p:tav tm="0">
                                          <p:val>
                                            <p:strVal val="#ppt_x"/>
                                          </p:val>
                                        </p:tav>
                                        <p:tav tm="100000">
                                          <p:val>
                                            <p:strVal val="#ppt_x"/>
                                          </p:val>
                                        </p:tav>
                                      </p:tavLst>
                                    </p:anim>
                                    <p:anim calcmode="lin" valueType="num">
                                      <p:cBhvr additive="base">
                                        <p:cTn id="22"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anim calcmode="lin" valueType="num">
                                      <p:cBhvr additive="base">
                                        <p:cTn id="27" dur="500" fill="hold"/>
                                        <p:tgtEl>
                                          <p:spTgt spid="52"/>
                                        </p:tgtEl>
                                        <p:attrNameLst>
                                          <p:attrName>ppt_x</p:attrName>
                                        </p:attrNameLst>
                                      </p:cBhvr>
                                      <p:tavLst>
                                        <p:tav tm="0">
                                          <p:val>
                                            <p:strVal val="#ppt_x"/>
                                          </p:val>
                                        </p:tav>
                                        <p:tav tm="100000">
                                          <p:val>
                                            <p:strVal val="#ppt_x"/>
                                          </p:val>
                                        </p:tav>
                                      </p:tavLst>
                                    </p:anim>
                                    <p:anim calcmode="lin" valueType="num">
                                      <p:cBhvr additive="base">
                                        <p:cTn id="28"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3"/>
                                        </p:tgtEl>
                                        <p:attrNameLst>
                                          <p:attrName>style.visibility</p:attrName>
                                        </p:attrNameLst>
                                      </p:cBhvr>
                                      <p:to>
                                        <p:strVal val="visible"/>
                                      </p:to>
                                    </p:set>
                                    <p:anim calcmode="lin" valueType="num">
                                      <p:cBhvr additive="base">
                                        <p:cTn id="33" dur="500" fill="hold"/>
                                        <p:tgtEl>
                                          <p:spTgt spid="63"/>
                                        </p:tgtEl>
                                        <p:attrNameLst>
                                          <p:attrName>ppt_x</p:attrName>
                                        </p:attrNameLst>
                                      </p:cBhvr>
                                      <p:tavLst>
                                        <p:tav tm="0">
                                          <p:val>
                                            <p:strVal val="#ppt_x"/>
                                          </p:val>
                                        </p:tav>
                                        <p:tav tm="100000">
                                          <p:val>
                                            <p:strVal val="#ppt_x"/>
                                          </p:val>
                                        </p:tav>
                                      </p:tavLst>
                                    </p:anim>
                                    <p:anim calcmode="lin" valueType="num">
                                      <p:cBhvr additive="base">
                                        <p:cTn id="34" dur="500" fill="hold"/>
                                        <p:tgtEl>
                                          <p:spTgt spid="63"/>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74"/>
                                        </p:tgtEl>
                                        <p:attrNameLst>
                                          <p:attrName>style.visibility</p:attrName>
                                        </p:attrNameLst>
                                      </p:cBhvr>
                                      <p:to>
                                        <p:strVal val="visible"/>
                                      </p:to>
                                    </p:set>
                                    <p:anim calcmode="lin" valueType="num">
                                      <p:cBhvr additive="base">
                                        <p:cTn id="37" dur="500" fill="hold"/>
                                        <p:tgtEl>
                                          <p:spTgt spid="74"/>
                                        </p:tgtEl>
                                        <p:attrNameLst>
                                          <p:attrName>ppt_x</p:attrName>
                                        </p:attrNameLst>
                                      </p:cBhvr>
                                      <p:tavLst>
                                        <p:tav tm="0">
                                          <p:val>
                                            <p:strVal val="#ppt_x"/>
                                          </p:val>
                                        </p:tav>
                                        <p:tav tm="100000">
                                          <p:val>
                                            <p:strVal val="#ppt_x"/>
                                          </p:val>
                                        </p:tav>
                                      </p:tavLst>
                                    </p:anim>
                                    <p:anim calcmode="lin" valueType="num">
                                      <p:cBhvr additive="base">
                                        <p:cTn id="38"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5"/>
                                        </p:tgtEl>
                                        <p:attrNameLst>
                                          <p:attrName>style.visibility</p:attrName>
                                        </p:attrNameLst>
                                      </p:cBhvr>
                                      <p:to>
                                        <p:strVal val="visible"/>
                                      </p:to>
                                    </p:set>
                                    <p:anim calcmode="lin" valueType="num">
                                      <p:cBhvr additive="base">
                                        <p:cTn id="43" dur="500" fill="hold"/>
                                        <p:tgtEl>
                                          <p:spTgt spid="85"/>
                                        </p:tgtEl>
                                        <p:attrNameLst>
                                          <p:attrName>ppt_x</p:attrName>
                                        </p:attrNameLst>
                                      </p:cBhvr>
                                      <p:tavLst>
                                        <p:tav tm="0">
                                          <p:val>
                                            <p:strVal val="#ppt_x"/>
                                          </p:val>
                                        </p:tav>
                                        <p:tav tm="100000">
                                          <p:val>
                                            <p:strVal val="#ppt_x"/>
                                          </p:val>
                                        </p:tav>
                                      </p:tavLst>
                                    </p:anim>
                                    <p:anim calcmode="lin" valueType="num">
                                      <p:cBhvr additive="base">
                                        <p:cTn id="44"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6"/>
                                        </p:tgtEl>
                                        <p:attrNameLst>
                                          <p:attrName>style.visibility</p:attrName>
                                        </p:attrNameLst>
                                      </p:cBhvr>
                                      <p:to>
                                        <p:strVal val="visible"/>
                                      </p:to>
                                    </p:set>
                                    <p:anim calcmode="lin" valueType="num">
                                      <p:cBhvr additive="base">
                                        <p:cTn id="49" dur="500" fill="hold"/>
                                        <p:tgtEl>
                                          <p:spTgt spid="96"/>
                                        </p:tgtEl>
                                        <p:attrNameLst>
                                          <p:attrName>ppt_x</p:attrName>
                                        </p:attrNameLst>
                                      </p:cBhvr>
                                      <p:tavLst>
                                        <p:tav tm="0">
                                          <p:val>
                                            <p:strVal val="#ppt_x"/>
                                          </p:val>
                                        </p:tav>
                                        <p:tav tm="100000">
                                          <p:val>
                                            <p:strVal val="#ppt_x"/>
                                          </p:val>
                                        </p:tav>
                                      </p:tavLst>
                                    </p:anim>
                                    <p:anim calcmode="lin" valueType="num">
                                      <p:cBhvr additive="base">
                                        <p:cTn id="50"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8229600" cy="1143000"/>
          </a:xfrm>
        </p:spPr>
        <p:txBody>
          <a:bodyPr>
            <a:normAutofit/>
          </a:bodyPr>
          <a:lstStyle/>
          <a:p>
            <a:r>
              <a:rPr lang="en-US" altLang="zh-CN" sz="5600" b="1" dirty="0" smtClean="0">
                <a:solidFill>
                  <a:schemeClr val="bg1"/>
                </a:solidFill>
              </a:rPr>
              <a:t>7.1.2 </a:t>
            </a:r>
            <a:r>
              <a:rPr lang="zh-CN" altLang="en-US" sz="5600" b="1" dirty="0" smtClean="0">
                <a:solidFill>
                  <a:schemeClr val="bg1"/>
                </a:solidFill>
              </a:rPr>
              <a:t>共价键</a:t>
            </a:r>
            <a:endParaRPr lang="en-MY" sz="5600" b="1" dirty="0">
              <a:solidFill>
                <a:schemeClr val="bg1"/>
              </a:solidFill>
            </a:endParaRPr>
          </a:p>
        </p:txBody>
      </p:sp>
      <p:sp>
        <p:nvSpPr>
          <p:cNvPr id="3" name="Content Placeholder 2"/>
          <p:cNvSpPr>
            <a:spLocks noGrp="1"/>
          </p:cNvSpPr>
          <p:nvPr>
            <p:ph idx="1"/>
          </p:nvPr>
        </p:nvSpPr>
        <p:spPr>
          <a:xfrm>
            <a:off x="457200" y="838200"/>
            <a:ext cx="8229600" cy="5638800"/>
          </a:xfrm>
        </p:spPr>
        <p:txBody>
          <a:bodyPr>
            <a:normAutofit/>
          </a:bodyPr>
          <a:lstStyle/>
          <a:p>
            <a:pPr marL="0" indent="0">
              <a:buNone/>
            </a:pPr>
            <a:endParaRPr lang="en-MY" sz="3000" b="1" dirty="0" smtClean="0"/>
          </a:p>
          <a:p>
            <a:pPr marL="0" indent="0">
              <a:buNone/>
            </a:pPr>
            <a:r>
              <a:rPr lang="zh-CN" altLang="en-US" sz="3000" b="1" dirty="0" smtClean="0"/>
              <a:t>稀有气体为什么是</a:t>
            </a:r>
            <a:r>
              <a:rPr lang="zh-CN" altLang="en-US" sz="3000" b="1" dirty="0" smtClean="0">
                <a:solidFill>
                  <a:srgbClr val="002060"/>
                </a:solidFill>
              </a:rPr>
              <a:t>单原子分子</a:t>
            </a:r>
            <a:r>
              <a:rPr lang="zh-CN" altLang="en-US" sz="3000" b="1" dirty="0" smtClean="0"/>
              <a:t>？</a:t>
            </a:r>
            <a:endParaRPr lang="en-US" altLang="zh-CN" sz="3000" b="1" dirty="0" smtClean="0"/>
          </a:p>
          <a:p>
            <a:pPr marL="0" indent="0">
              <a:buNone/>
            </a:pPr>
            <a:r>
              <a:rPr lang="zh-CN" altLang="en-US" sz="3000" b="1" dirty="0" smtClean="0"/>
              <a:t>氢气为什么是</a:t>
            </a:r>
            <a:r>
              <a:rPr lang="zh-CN" altLang="en-US" sz="3000" b="1" dirty="0" smtClean="0">
                <a:solidFill>
                  <a:srgbClr val="002060"/>
                </a:solidFill>
              </a:rPr>
              <a:t>双原子分子</a:t>
            </a:r>
            <a:r>
              <a:rPr lang="zh-CN" altLang="en-US" sz="3000" b="1" dirty="0" smtClean="0"/>
              <a:t>？</a:t>
            </a:r>
            <a:endParaRPr lang="en-US" altLang="zh-CN" sz="3000" b="1" dirty="0" smtClean="0"/>
          </a:p>
          <a:p>
            <a:pPr marL="0" indent="0">
              <a:buNone/>
            </a:pPr>
            <a:endParaRPr lang="en-US" altLang="zh-CN" sz="3000" b="1" dirty="0" smtClean="0"/>
          </a:p>
          <a:p>
            <a:pPr marL="0" indent="0">
              <a:buNone/>
            </a:pPr>
            <a:endParaRPr lang="en-US" altLang="zh-CN" sz="3000" b="1" dirty="0" smtClean="0"/>
          </a:p>
          <a:p>
            <a:pPr marL="0" indent="0">
              <a:buNone/>
            </a:pPr>
            <a:endParaRPr lang="en-US" altLang="zh-CN" sz="3000" b="1" dirty="0" smtClean="0"/>
          </a:p>
          <a:p>
            <a:pPr marL="0" indent="0">
              <a:buNone/>
            </a:pPr>
            <a:endParaRPr lang="en-US" altLang="zh-CN" sz="3000" b="1" dirty="0" smtClean="0"/>
          </a:p>
          <a:p>
            <a:pPr marL="0" indent="0">
              <a:buNone/>
            </a:pPr>
            <a:endParaRPr lang="en-US" altLang="zh-CN" sz="3000" b="1" dirty="0" smtClean="0"/>
          </a:p>
          <a:p>
            <a:pPr marL="0" indent="0">
              <a:buNone/>
            </a:pPr>
            <a:r>
              <a:rPr lang="zh-CN" altLang="en-US" sz="3000" b="1" dirty="0" smtClean="0"/>
              <a:t>氢气的电子式</a:t>
            </a:r>
            <a:r>
              <a:rPr lang="en-US" altLang="zh-CN" sz="3000" b="1" dirty="0" smtClean="0"/>
              <a:t>		H     </a:t>
            </a:r>
            <a:r>
              <a:rPr lang="en-US" altLang="zh-CN" sz="3000" b="1" dirty="0" err="1" smtClean="0"/>
              <a:t>H</a:t>
            </a:r>
            <a:endParaRPr lang="en-US" altLang="zh-CN" sz="3000" b="1" dirty="0" smtClean="0"/>
          </a:p>
          <a:p>
            <a:pPr marL="0" indent="0">
              <a:buNone/>
            </a:pPr>
            <a:r>
              <a:rPr lang="en-US" altLang="zh-CN" sz="3000" b="1" dirty="0" smtClean="0"/>
              <a:t>	   </a:t>
            </a:r>
            <a:r>
              <a:rPr lang="zh-CN" altLang="en-US" sz="3000" b="1" dirty="0" smtClean="0"/>
              <a:t>结构式 </a:t>
            </a:r>
            <a:r>
              <a:rPr lang="en-US" altLang="zh-CN" sz="3000" b="1" dirty="0" smtClean="0"/>
              <a:t>		H—H</a:t>
            </a:r>
          </a:p>
          <a:p>
            <a:pPr marL="0" indent="0">
              <a:buNone/>
            </a:pPr>
            <a:endParaRPr lang="en-MY" sz="3000" b="1" dirty="0"/>
          </a:p>
        </p:txBody>
      </p:sp>
      <p:sp>
        <p:nvSpPr>
          <p:cNvPr id="7" name="Rectangle 21"/>
          <p:cNvSpPr>
            <a:spLocks noChangeArrowheads="1"/>
          </p:cNvSpPr>
          <p:nvPr/>
        </p:nvSpPr>
        <p:spPr bwMode="auto">
          <a:xfrm rot="16200000">
            <a:off x="4382514" y="5307939"/>
            <a:ext cx="291747" cy="369974"/>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a:t>
            </a:r>
            <a:endParaRPr kumimoji="0" lang="en-US" altLang="zh-TW" dirty="0">
              <a:latin typeface="Symbol" pitchFamily="18" charset="2"/>
            </a:endParaRPr>
          </a:p>
        </p:txBody>
      </p:sp>
      <p:sp>
        <p:nvSpPr>
          <p:cNvPr id="8" name="Rectangle 21"/>
          <p:cNvSpPr>
            <a:spLocks noChangeArrowheads="1"/>
          </p:cNvSpPr>
          <p:nvPr/>
        </p:nvSpPr>
        <p:spPr bwMode="auto">
          <a:xfrm rot="16200000">
            <a:off x="4611114" y="5307939"/>
            <a:ext cx="291747" cy="369974"/>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a:t>
            </a:r>
            <a:endParaRPr kumimoji="0" lang="en-US" altLang="zh-TW" dirty="0">
              <a:latin typeface="Symbol" pitchFamily="18" charset="2"/>
            </a:endParaRPr>
          </a:p>
        </p:txBody>
      </p:sp>
      <p:pic>
        <p:nvPicPr>
          <p:cNvPr id="11" name="Picture 2" descr="http://b.hiphotos.baidu.com/baike/c0%3Dbaike116%2C5%2C5%2C116%2C38/sign=461d725770cf3bc7fc0dc5beb069d1c4/80cb39dbb6fd5266f102b24eab18972bd40736ba.jpg"/>
          <p:cNvPicPr>
            <a:picLocks noChangeAspect="1" noChangeArrowheads="1"/>
          </p:cNvPicPr>
          <p:nvPr/>
        </p:nvPicPr>
        <p:blipFill>
          <a:blip r:embed="rId2" cstate="print"/>
          <a:srcRect l="10833" t="54445" r="5833" b="11111"/>
          <a:stretch>
            <a:fillRect/>
          </a:stretch>
        </p:blipFill>
        <p:spPr bwMode="auto">
          <a:xfrm>
            <a:off x="609600" y="2590800"/>
            <a:ext cx="7620000" cy="2362200"/>
          </a:xfrm>
          <a:prstGeom prst="rect">
            <a:avLst/>
          </a:prstGeom>
          <a:noFill/>
        </p:spPr>
      </p:pic>
    </p:spTree>
    <p:extLst>
      <p:ext uri="{BB962C8B-B14F-4D97-AF65-F5344CB8AC3E}">
        <p14:creationId xmlns="" xmlns:p14="http://schemas.microsoft.com/office/powerpoint/2010/main" val="3210561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txBox="1">
            <a:spLocks noGrp="1"/>
          </p:cNvSpPr>
          <p:nvPr>
            <p:ph idx="1"/>
          </p:nvPr>
        </p:nvSpPr>
        <p:spPr>
          <a:xfrm>
            <a:off x="457200" y="1600200"/>
            <a:ext cx="8229600" cy="4302716"/>
          </a:xfrm>
          <a:prstGeom prst="rect">
            <a:avLst/>
          </a:prstGeom>
          <a:noFill/>
        </p:spPr>
        <p:txBody>
          <a:bodyPr wrap="square" rtlCol="0">
            <a:spAutoFit/>
          </a:bodyPr>
          <a:lstStyle/>
          <a:p>
            <a:pPr>
              <a:buFont typeface="Wingdings" pitchFamily="2" charset="2"/>
              <a:buChar char="Ø"/>
            </a:pPr>
            <a:r>
              <a:rPr lang="zh-CN" altLang="en-US" dirty="0" smtClean="0"/>
              <a:t>原子间通过</a:t>
            </a:r>
            <a:r>
              <a:rPr lang="zh-CN" altLang="en-US" b="1" dirty="0" smtClean="0">
                <a:solidFill>
                  <a:srgbClr val="002060"/>
                </a:solidFill>
                <a:effectLst>
                  <a:outerShdw blurRad="38100" dist="38100" dir="2700000" algn="tl">
                    <a:srgbClr val="000000">
                      <a:alpha val="43137"/>
                    </a:srgbClr>
                  </a:outerShdw>
                </a:effectLst>
              </a:rPr>
              <a:t>共用电子对</a:t>
            </a:r>
            <a:r>
              <a:rPr lang="zh-CN" altLang="en-US" dirty="0" smtClean="0"/>
              <a:t>形成的</a:t>
            </a:r>
            <a:r>
              <a:rPr lang="zh-CN" altLang="en-US" b="1" dirty="0" smtClean="0">
                <a:solidFill>
                  <a:srgbClr val="002060"/>
                </a:solidFill>
                <a:effectLst>
                  <a:outerShdw blurRad="38100" dist="38100" dir="2700000" algn="tl">
                    <a:srgbClr val="000000">
                      <a:alpha val="43137"/>
                    </a:srgbClr>
                  </a:outerShdw>
                </a:effectLst>
              </a:rPr>
              <a:t>强烈</a:t>
            </a:r>
            <a:r>
              <a:rPr lang="zh-CN" altLang="en-US" dirty="0" smtClean="0"/>
              <a:t>的相互作用。</a:t>
            </a:r>
            <a:endParaRPr lang="en-US" altLang="zh-CN" dirty="0" smtClean="0"/>
          </a:p>
          <a:p>
            <a:pPr>
              <a:buFont typeface="Wingdings" pitchFamily="2" charset="2"/>
              <a:buChar char="Ø"/>
            </a:pPr>
            <a:r>
              <a:rPr lang="zh-CN" altLang="en-US" dirty="0" smtClean="0"/>
              <a:t>直接相邻的原子</a:t>
            </a:r>
            <a:r>
              <a:rPr lang="zh-CN" altLang="en-US" b="1" dirty="0" smtClean="0">
                <a:solidFill>
                  <a:srgbClr val="002060"/>
                </a:solidFill>
                <a:effectLst>
                  <a:outerShdw blurRad="38100" dist="38100" dir="2700000" algn="tl">
                    <a:srgbClr val="000000">
                      <a:alpha val="43137"/>
                    </a:srgbClr>
                  </a:outerShdw>
                </a:effectLst>
              </a:rPr>
              <a:t>都</a:t>
            </a:r>
            <a:r>
              <a:rPr lang="zh-CN" altLang="en-US" dirty="0" smtClean="0"/>
              <a:t>以共</a:t>
            </a:r>
            <a:r>
              <a:rPr lang="zh-CN" altLang="en-US" dirty="0"/>
              <a:t>价</a:t>
            </a:r>
            <a:r>
              <a:rPr lang="zh-CN" altLang="en-US" dirty="0" smtClean="0"/>
              <a:t>键相结合的</a:t>
            </a:r>
            <a:r>
              <a:rPr lang="zh-CN" altLang="en-US" b="1" dirty="0" smtClean="0">
                <a:solidFill>
                  <a:srgbClr val="002060"/>
                </a:solidFill>
                <a:effectLst>
                  <a:outerShdw blurRad="38100" dist="38100" dir="2700000" algn="tl">
                    <a:srgbClr val="000000">
                      <a:alpha val="43137"/>
                    </a:srgbClr>
                  </a:outerShdw>
                </a:effectLst>
              </a:rPr>
              <a:t>化合物</a:t>
            </a:r>
            <a:r>
              <a:rPr lang="en-US" altLang="zh-CN" dirty="0" smtClean="0"/>
              <a:t>----</a:t>
            </a:r>
            <a:r>
              <a:rPr lang="zh-CN" altLang="en-US" b="1" dirty="0" smtClean="0">
                <a:solidFill>
                  <a:srgbClr val="002060"/>
                </a:solidFill>
              </a:rPr>
              <a:t>共价化合物</a:t>
            </a:r>
            <a:r>
              <a:rPr lang="zh-CN" altLang="en-US" dirty="0" smtClean="0"/>
              <a:t>。</a:t>
            </a:r>
            <a:endParaRPr lang="en-US" altLang="zh-CN" dirty="0" smtClean="0"/>
          </a:p>
          <a:p>
            <a:pPr>
              <a:buFont typeface="Wingdings" pitchFamily="2" charset="2"/>
              <a:buChar char="Ø"/>
            </a:pPr>
            <a:r>
              <a:rPr lang="zh-CN" altLang="en-US" dirty="0" smtClean="0"/>
              <a:t>氢气是共价化合物吗？</a:t>
            </a:r>
            <a:endParaRPr lang="en-US" altLang="zh-CN" dirty="0" smtClean="0"/>
          </a:p>
          <a:p>
            <a:pPr lvl="1">
              <a:buFont typeface="Wingdings" pitchFamily="2" charset="2"/>
              <a:buChar char="Ø"/>
            </a:pPr>
            <a:r>
              <a:rPr lang="zh-CN" altLang="en-US" dirty="0" smtClean="0"/>
              <a:t>不是。因为氢气是单质，不是化合物。</a:t>
            </a:r>
            <a:endParaRPr lang="en-US" altLang="zh-CN" dirty="0" smtClean="0"/>
          </a:p>
          <a:p>
            <a:pPr lvl="1">
              <a:buFont typeface="Wingdings" pitchFamily="2" charset="2"/>
              <a:buChar char="Ø"/>
            </a:pPr>
            <a:r>
              <a:rPr lang="zh-CN" altLang="en-US" dirty="0" smtClean="0"/>
              <a:t>它是共价分子。</a:t>
            </a:r>
            <a:endParaRPr lang="en-US" altLang="zh-CN" dirty="0" smtClean="0"/>
          </a:p>
          <a:p>
            <a:pPr lvl="1">
              <a:buNone/>
            </a:pPr>
            <a:endParaRPr lang="en-MY" dirty="0"/>
          </a:p>
        </p:txBody>
      </p:sp>
      <p:sp>
        <p:nvSpPr>
          <p:cNvPr id="5" name="Rectangle 4"/>
          <p:cNvSpPr/>
          <p:nvPr/>
        </p:nvSpPr>
        <p:spPr>
          <a:xfrm>
            <a:off x="840160" y="1628800"/>
            <a:ext cx="7618040" cy="1038200"/>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Title 1"/>
          <p:cNvSpPr txBox="1">
            <a:spLocks/>
          </p:cNvSpPr>
          <p:nvPr/>
        </p:nvSpPr>
        <p:spPr>
          <a:xfrm>
            <a:off x="395536" y="26064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5600" b="1" i="0" u="none" strike="noStrike" kern="1200" cap="none" spc="0" normalizeH="0" baseline="0" noProof="0" dirty="0" smtClean="0">
                <a:ln>
                  <a:noFill/>
                </a:ln>
                <a:solidFill>
                  <a:schemeClr val="bg1"/>
                </a:solidFill>
                <a:effectLst/>
                <a:uLnTx/>
                <a:uFillTx/>
                <a:latin typeface="+mj-lt"/>
                <a:ea typeface="+mj-ea"/>
                <a:cs typeface="+mj-cs"/>
              </a:rPr>
              <a:t>7.</a:t>
            </a:r>
            <a:r>
              <a:rPr lang="en-US" altLang="zh-CN" sz="5600" b="1" dirty="0" smtClean="0">
                <a:solidFill>
                  <a:schemeClr val="bg1"/>
                </a:solidFill>
                <a:latin typeface="+mj-lt"/>
                <a:ea typeface="+mj-ea"/>
                <a:cs typeface="+mj-cs"/>
              </a:rPr>
              <a:t>1.</a:t>
            </a:r>
            <a:r>
              <a:rPr kumimoji="0" lang="en-US" altLang="zh-CN" sz="5600" b="1" i="0" u="none" strike="noStrike" kern="1200" cap="none" spc="0" normalizeH="0" baseline="0" noProof="0" dirty="0" smtClean="0">
                <a:ln>
                  <a:noFill/>
                </a:ln>
                <a:solidFill>
                  <a:schemeClr val="bg1"/>
                </a:solidFill>
                <a:effectLst/>
                <a:uLnTx/>
                <a:uFillTx/>
                <a:latin typeface="+mj-lt"/>
                <a:ea typeface="+mj-ea"/>
                <a:cs typeface="+mj-cs"/>
              </a:rPr>
              <a:t>2 </a:t>
            </a:r>
            <a:r>
              <a:rPr kumimoji="0" lang="zh-CN" altLang="en-US" sz="5600" b="1" i="0" u="none" strike="noStrike" kern="1200" cap="none" spc="0" normalizeH="0" baseline="0" noProof="0" dirty="0" smtClean="0">
                <a:ln>
                  <a:noFill/>
                </a:ln>
                <a:solidFill>
                  <a:schemeClr val="bg1"/>
                </a:solidFill>
                <a:effectLst/>
                <a:uLnTx/>
                <a:uFillTx/>
                <a:latin typeface="+mj-lt"/>
                <a:ea typeface="+mj-ea"/>
                <a:cs typeface="+mj-cs"/>
              </a:rPr>
              <a:t>共价键</a:t>
            </a:r>
            <a:endParaRPr kumimoji="0" lang="en-MY" sz="5600" b="1" i="0" u="none" strike="noStrike" kern="1200" cap="none" spc="0" normalizeH="0" baseline="0" noProof="0" dirty="0">
              <a:ln>
                <a:noFill/>
              </a:ln>
              <a:solidFill>
                <a:schemeClr val="bg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 calcmode="lin" valueType="num">
                                      <p:cBhvr additive="base">
                                        <p:cTn id="2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txBox="1">
            <a:spLocks noGrp="1"/>
          </p:cNvSpPr>
          <p:nvPr>
            <p:ph idx="1"/>
          </p:nvPr>
        </p:nvSpPr>
        <p:spPr>
          <a:xfrm>
            <a:off x="457200" y="1295400"/>
            <a:ext cx="8229600" cy="5016758"/>
          </a:xfrm>
          <a:prstGeom prst="rect">
            <a:avLst/>
          </a:prstGeom>
          <a:noFill/>
        </p:spPr>
        <p:txBody>
          <a:bodyPr wrap="square" rtlCol="0">
            <a:spAutoFit/>
          </a:bodyPr>
          <a:lstStyle/>
          <a:p>
            <a:pPr>
              <a:buFont typeface="Wingdings" pitchFamily="2" charset="2"/>
              <a:buChar char="Ø"/>
            </a:pPr>
            <a:r>
              <a:rPr lang="zh-CN" altLang="en-US" dirty="0" smtClean="0"/>
              <a:t>破坏共价键所需能量叫</a:t>
            </a:r>
            <a:r>
              <a:rPr lang="zh-CN" altLang="en-US" b="1" dirty="0" smtClean="0">
                <a:solidFill>
                  <a:srgbClr val="002060"/>
                </a:solidFill>
                <a:effectLst>
                  <a:outerShdw blurRad="38100" dist="38100" dir="2700000" algn="tl">
                    <a:srgbClr val="000000">
                      <a:alpha val="43137"/>
                    </a:srgbClr>
                  </a:outerShdw>
                </a:effectLst>
              </a:rPr>
              <a:t>键能</a:t>
            </a:r>
            <a:r>
              <a:rPr lang="zh-CN" altLang="en-US" dirty="0" smtClean="0"/>
              <a:t>。</a:t>
            </a:r>
            <a:endParaRPr lang="en-US" altLang="zh-CN" dirty="0" smtClean="0"/>
          </a:p>
          <a:p>
            <a:pPr>
              <a:buNone/>
            </a:pPr>
            <a:r>
              <a:rPr lang="zh-CN" altLang="en-US" dirty="0" smtClean="0"/>
              <a:t>（键能越</a:t>
            </a:r>
            <a:r>
              <a:rPr lang="zh-CN" altLang="en-US" b="1" dirty="0" smtClean="0">
                <a:solidFill>
                  <a:srgbClr val="002060"/>
                </a:solidFill>
                <a:effectLst>
                  <a:outerShdw blurRad="38100" dist="38100" dir="2700000" algn="tl">
                    <a:srgbClr val="000000">
                      <a:alpha val="43137"/>
                    </a:srgbClr>
                  </a:outerShdw>
                </a:effectLst>
              </a:rPr>
              <a:t>大</a:t>
            </a:r>
            <a:r>
              <a:rPr lang="zh-CN" altLang="en-US" dirty="0" smtClean="0"/>
              <a:t>，化学键越</a:t>
            </a:r>
            <a:r>
              <a:rPr lang="zh-CN" altLang="en-US" b="1" dirty="0" smtClean="0">
                <a:solidFill>
                  <a:srgbClr val="002060"/>
                </a:solidFill>
                <a:effectLst>
                  <a:outerShdw blurRad="38100" dist="38100" dir="2700000" algn="tl">
                    <a:srgbClr val="000000">
                      <a:alpha val="43137"/>
                    </a:srgbClr>
                  </a:outerShdw>
                </a:effectLst>
              </a:rPr>
              <a:t>牢固</a:t>
            </a:r>
            <a:r>
              <a:rPr lang="zh-CN" altLang="en-US" dirty="0" smtClean="0"/>
              <a:t>。）</a:t>
            </a:r>
            <a:endParaRPr lang="en-US" altLang="zh-CN" dirty="0" smtClean="0"/>
          </a:p>
          <a:p>
            <a:pPr lvl="1">
              <a:buFont typeface="Wingdings" pitchFamily="2" charset="2"/>
              <a:buChar char="Ø"/>
            </a:pPr>
            <a:r>
              <a:rPr lang="zh-CN" altLang="en-US" dirty="0" smtClean="0"/>
              <a:t>化学键的破坏：吸热过程</a:t>
            </a:r>
            <a:endParaRPr lang="en-US" altLang="zh-CN" dirty="0" smtClean="0"/>
          </a:p>
          <a:p>
            <a:pPr lvl="1">
              <a:buFont typeface="Wingdings" pitchFamily="2" charset="2"/>
              <a:buChar char="Ø"/>
            </a:pPr>
            <a:r>
              <a:rPr lang="zh-CN" altLang="en-US" dirty="0" smtClean="0"/>
              <a:t>化</a:t>
            </a:r>
            <a:r>
              <a:rPr lang="zh-CN" altLang="en-US" dirty="0" smtClean="0"/>
              <a:t>学键的形成：放热过</a:t>
            </a:r>
            <a:r>
              <a:rPr lang="zh-CN" altLang="en-US" dirty="0" smtClean="0"/>
              <a:t>程</a:t>
            </a:r>
            <a:endParaRPr lang="en-US" altLang="zh-CN" dirty="0" smtClean="0">
              <a:solidFill>
                <a:srgbClr val="FFFF00"/>
              </a:solidFill>
            </a:endParaRPr>
          </a:p>
          <a:p>
            <a:pPr>
              <a:buFont typeface="Wingdings" pitchFamily="2" charset="2"/>
              <a:buChar char="Ø"/>
            </a:pPr>
            <a:r>
              <a:rPr lang="zh-CN" altLang="en-US" dirty="0" smtClean="0"/>
              <a:t>两</a:t>
            </a:r>
            <a:r>
              <a:rPr lang="zh-CN" altLang="en-US" dirty="0" smtClean="0"/>
              <a:t>个成键的原子的核间的平均距离叫</a:t>
            </a:r>
            <a:r>
              <a:rPr lang="zh-CN" altLang="en-US" b="1" dirty="0" smtClean="0">
                <a:solidFill>
                  <a:srgbClr val="002060"/>
                </a:solidFill>
                <a:effectLst>
                  <a:outerShdw blurRad="38100" dist="38100" dir="2700000" algn="tl">
                    <a:srgbClr val="000000">
                      <a:alpha val="43137"/>
                    </a:srgbClr>
                  </a:outerShdw>
                </a:effectLst>
              </a:rPr>
              <a:t>键长</a:t>
            </a:r>
            <a:r>
              <a:rPr lang="zh-CN" altLang="en-US" dirty="0" smtClean="0"/>
              <a:t>。</a:t>
            </a:r>
            <a:endParaRPr lang="en-US" altLang="zh-CN" dirty="0" smtClean="0"/>
          </a:p>
          <a:p>
            <a:pPr>
              <a:buNone/>
            </a:pPr>
            <a:r>
              <a:rPr lang="zh-CN" altLang="en-US" dirty="0" smtClean="0"/>
              <a:t>（键长越</a:t>
            </a:r>
            <a:r>
              <a:rPr lang="zh-CN" altLang="en-US" b="1" dirty="0" smtClean="0">
                <a:solidFill>
                  <a:srgbClr val="002060"/>
                </a:solidFill>
                <a:effectLst>
                  <a:outerShdw blurRad="38100" dist="38100" dir="2700000" algn="tl">
                    <a:srgbClr val="000000">
                      <a:alpha val="43137"/>
                    </a:srgbClr>
                  </a:outerShdw>
                </a:effectLst>
              </a:rPr>
              <a:t>短</a:t>
            </a:r>
            <a:r>
              <a:rPr lang="zh-CN" altLang="en-US" dirty="0" smtClean="0"/>
              <a:t>，键能越</a:t>
            </a:r>
            <a:r>
              <a:rPr lang="zh-CN" altLang="en-US" b="1" dirty="0" smtClean="0">
                <a:solidFill>
                  <a:srgbClr val="002060"/>
                </a:solidFill>
                <a:effectLst>
                  <a:outerShdw blurRad="38100" dist="38100" dir="2700000" algn="tl">
                    <a:srgbClr val="000000">
                      <a:alpha val="43137"/>
                    </a:srgbClr>
                  </a:outerShdw>
                </a:effectLst>
              </a:rPr>
              <a:t>大</a:t>
            </a:r>
            <a:r>
              <a:rPr lang="zh-CN" altLang="en-US" b="1" dirty="0" smtClean="0">
                <a:effectLst>
                  <a:outerShdw blurRad="38100" dist="38100" dir="2700000" algn="tl">
                    <a:srgbClr val="000000">
                      <a:alpha val="43137"/>
                    </a:srgbClr>
                  </a:outerShdw>
                </a:effectLst>
              </a:rPr>
              <a:t>，</a:t>
            </a:r>
            <a:r>
              <a:rPr lang="zh-CN" altLang="en-US" dirty="0" smtClean="0"/>
              <a:t>化学键越</a:t>
            </a:r>
            <a:r>
              <a:rPr lang="zh-CN" altLang="en-US" b="1" dirty="0" smtClean="0">
                <a:solidFill>
                  <a:srgbClr val="002060"/>
                </a:solidFill>
                <a:effectLst>
                  <a:outerShdw blurRad="38100" dist="38100" dir="2700000" algn="tl">
                    <a:srgbClr val="000000">
                      <a:alpha val="43137"/>
                    </a:srgbClr>
                  </a:outerShdw>
                </a:effectLst>
              </a:rPr>
              <a:t>牢固</a:t>
            </a:r>
            <a:r>
              <a:rPr lang="zh-CN" altLang="en-US" dirty="0" smtClean="0"/>
              <a:t>。）</a:t>
            </a:r>
            <a:endParaRPr lang="en-US" altLang="zh-CN" dirty="0" smtClean="0"/>
          </a:p>
          <a:p>
            <a:pPr>
              <a:buFont typeface="Wingdings" pitchFamily="2" charset="2"/>
              <a:buChar char="Ø"/>
            </a:pPr>
            <a:r>
              <a:rPr lang="zh-CN" altLang="en-US" dirty="0" smtClean="0"/>
              <a:t>在分子中，键和键之间的夹角叫</a:t>
            </a:r>
            <a:r>
              <a:rPr lang="zh-CN" altLang="en-US" b="1" dirty="0" smtClean="0">
                <a:solidFill>
                  <a:srgbClr val="002060"/>
                </a:solidFill>
                <a:effectLst>
                  <a:outerShdw blurRad="38100" dist="38100" dir="2700000" algn="tl">
                    <a:srgbClr val="000000">
                      <a:alpha val="43137"/>
                    </a:srgbClr>
                  </a:outerShdw>
                </a:effectLst>
              </a:rPr>
              <a:t>键角</a:t>
            </a:r>
            <a:r>
              <a:rPr lang="zh-CN" altLang="en-US" dirty="0" smtClean="0"/>
              <a:t>。</a:t>
            </a:r>
            <a:endParaRPr lang="en-US" altLang="zh-CN" dirty="0" smtClean="0"/>
          </a:p>
          <a:p>
            <a:pPr lvl="1">
              <a:buFont typeface="Wingdings" pitchFamily="2" charset="2"/>
              <a:buChar char="Ø"/>
            </a:pPr>
            <a:r>
              <a:rPr lang="zh-CN" altLang="en-US" dirty="0" smtClean="0"/>
              <a:t>氢分子的键角是多少？</a:t>
            </a:r>
            <a:endParaRPr lang="en-US" altLang="zh-CN" dirty="0" smtClean="0"/>
          </a:p>
          <a:p>
            <a:pPr lvl="1">
              <a:buFont typeface="Wingdings" pitchFamily="2" charset="2"/>
              <a:buChar char="Ø"/>
            </a:pPr>
            <a:r>
              <a:rPr lang="zh-CN" altLang="en-US" dirty="0" smtClean="0"/>
              <a:t>答：双原子分子没有键角。</a:t>
            </a:r>
            <a:endParaRPr lang="en-MY" dirty="0"/>
          </a:p>
        </p:txBody>
      </p:sp>
      <p:sp>
        <p:nvSpPr>
          <p:cNvPr id="6" name="Title 1"/>
          <p:cNvSpPr txBox="1">
            <a:spLocks/>
          </p:cNvSpPr>
          <p:nvPr/>
        </p:nvSpPr>
        <p:spPr>
          <a:xfrm>
            <a:off x="395536" y="26064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5600" b="1" i="0" u="none" strike="noStrike" kern="1200" cap="none" spc="0" normalizeH="0" baseline="0" noProof="0" dirty="0" smtClean="0">
                <a:ln>
                  <a:noFill/>
                </a:ln>
                <a:solidFill>
                  <a:schemeClr val="bg1"/>
                </a:solidFill>
                <a:effectLst/>
                <a:uLnTx/>
                <a:uFillTx/>
                <a:latin typeface="+mj-lt"/>
                <a:ea typeface="+mj-ea"/>
                <a:cs typeface="+mj-cs"/>
              </a:rPr>
              <a:t>7.1.2 </a:t>
            </a:r>
            <a:r>
              <a:rPr kumimoji="0" lang="zh-CN" altLang="en-US" sz="5600" b="1" i="0" u="none" strike="noStrike" kern="1200" cap="none" spc="0" normalizeH="0" baseline="0" noProof="0" dirty="0" smtClean="0">
                <a:ln>
                  <a:noFill/>
                </a:ln>
                <a:solidFill>
                  <a:schemeClr val="bg1"/>
                </a:solidFill>
                <a:effectLst/>
                <a:uLnTx/>
                <a:uFillTx/>
                <a:latin typeface="+mj-lt"/>
                <a:ea typeface="+mj-ea"/>
                <a:cs typeface="+mj-cs"/>
              </a:rPr>
              <a:t>共价键</a:t>
            </a:r>
            <a:endParaRPr kumimoji="0" lang="en-MY" sz="5600" b="1" i="0" u="none" strike="noStrike" kern="1200" cap="none" spc="0" normalizeH="0" baseline="0" noProof="0" dirty="0">
              <a:ln>
                <a:noFill/>
              </a:ln>
              <a:solidFill>
                <a:schemeClr val="bg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 calcmode="lin" valueType="num">
                                      <p:cBhvr additive="base">
                                        <p:cTn id="3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anim calcmode="lin" valueType="num">
                                      <p:cBhvr additive="base">
                                        <p:cTn id="4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 calcmode="lin" valueType="num">
                                      <p:cBhvr additive="base">
                                        <p:cTn id="4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anim calcmode="lin" valueType="num">
                                      <p:cBhvr additive="base">
                                        <p:cTn id="5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zh-CN" altLang="en-US" sz="4000" b="1" dirty="0" smtClean="0">
                <a:effectLst>
                  <a:outerShdw blurRad="38100" dist="38100" dir="2700000" algn="tl">
                    <a:srgbClr val="000000">
                      <a:alpha val="43137"/>
                    </a:srgbClr>
                  </a:outerShdw>
                </a:effectLst>
              </a:rPr>
              <a:t>单键、双键、三键</a:t>
            </a:r>
            <a:endParaRPr lang="en-MY" sz="4000"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2267744" y="1066800"/>
            <a:ext cx="4581621" cy="3412976"/>
          </a:xfrm>
        </p:spPr>
      </p:pic>
      <p:sp>
        <p:nvSpPr>
          <p:cNvPr id="6" name="TextBox 5"/>
          <p:cNvSpPr txBox="1"/>
          <p:nvPr/>
        </p:nvSpPr>
        <p:spPr>
          <a:xfrm>
            <a:off x="1371600" y="4572000"/>
            <a:ext cx="6934200" cy="2062103"/>
          </a:xfrm>
          <a:prstGeom prst="rect">
            <a:avLst/>
          </a:prstGeom>
          <a:noFill/>
        </p:spPr>
        <p:txBody>
          <a:bodyPr wrap="square" rtlCol="0">
            <a:spAutoFit/>
          </a:bodyPr>
          <a:lstStyle/>
          <a:p>
            <a:r>
              <a:rPr lang="zh-CN" altLang="en-US" sz="3200" dirty="0" smtClean="0">
                <a:solidFill>
                  <a:schemeClr val="bg1"/>
                </a:solidFill>
              </a:rPr>
              <a:t>通</a:t>
            </a:r>
            <a:r>
              <a:rPr lang="zh-CN" altLang="en-US" sz="3200" dirty="0">
                <a:solidFill>
                  <a:schemeClr val="bg1"/>
                </a:solidFill>
              </a:rPr>
              <a:t>常把共价键以其</a:t>
            </a:r>
            <a:r>
              <a:rPr lang="zh-CN" altLang="en-US" sz="3200" dirty="0"/>
              <a:t>共用的电子对数</a:t>
            </a:r>
            <a:r>
              <a:rPr lang="zh-CN" altLang="en-US" sz="3200" dirty="0">
                <a:solidFill>
                  <a:schemeClr val="bg1"/>
                </a:solidFill>
              </a:rPr>
              <a:t>分为</a:t>
            </a:r>
            <a:r>
              <a:rPr lang="zh-CN" altLang="en-US" sz="3200" b="1" dirty="0"/>
              <a:t>单键</a:t>
            </a:r>
            <a:r>
              <a:rPr lang="zh-CN" altLang="en-US" sz="3200" dirty="0"/>
              <a:t>、</a:t>
            </a:r>
            <a:r>
              <a:rPr lang="zh-CN" altLang="en-US" sz="3200" b="1" dirty="0"/>
              <a:t>双键</a:t>
            </a:r>
            <a:r>
              <a:rPr lang="zh-CN" altLang="en-US" sz="3200" dirty="0">
                <a:solidFill>
                  <a:schemeClr val="bg1"/>
                </a:solidFill>
              </a:rPr>
              <a:t>以及</a:t>
            </a:r>
            <a:r>
              <a:rPr lang="zh-CN" altLang="en-US" sz="3200" b="1" dirty="0"/>
              <a:t>三键</a:t>
            </a:r>
            <a:r>
              <a:rPr lang="zh-CN" altLang="en-US" sz="3200" dirty="0" smtClean="0">
                <a:solidFill>
                  <a:schemeClr val="bg1"/>
                </a:solidFill>
              </a:rPr>
              <a:t>。</a:t>
            </a:r>
            <a:endParaRPr lang="en-US" altLang="zh-CN" sz="3200" dirty="0" smtClean="0">
              <a:solidFill>
                <a:schemeClr val="bg1"/>
              </a:solidFill>
            </a:endParaRPr>
          </a:p>
          <a:p>
            <a:r>
              <a:rPr lang="zh-CN" altLang="en-US" sz="3200" dirty="0" smtClean="0">
                <a:solidFill>
                  <a:schemeClr val="bg1"/>
                </a:solidFill>
              </a:rPr>
              <a:t>一般上，</a:t>
            </a:r>
            <a:r>
              <a:rPr lang="zh-CN" altLang="en-US" sz="3200" b="1" dirty="0" smtClean="0"/>
              <a:t>成键电子数越多则键长越短，键能越大。</a:t>
            </a:r>
            <a:endParaRPr lang="en-MY" sz="3200" b="1" dirty="0"/>
          </a:p>
        </p:txBody>
      </p:sp>
    </p:spTree>
    <p:extLst>
      <p:ext uri="{BB962C8B-B14F-4D97-AF65-F5344CB8AC3E}">
        <p14:creationId xmlns="" xmlns:p14="http://schemas.microsoft.com/office/powerpoint/2010/main" val="24472871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descr="http://modx.hanluninfo.com:8082/modx/assets/images/C0209/c0209_electronic_pair_edit.jpg"/>
          <p:cNvPicPr>
            <a:picLocks noChangeAspect="1" noChangeArrowheads="1"/>
          </p:cNvPicPr>
          <p:nvPr/>
        </p:nvPicPr>
        <p:blipFill>
          <a:blip r:embed="rId2" cstate="print"/>
          <a:srcRect/>
          <a:stretch>
            <a:fillRect/>
          </a:stretch>
        </p:blipFill>
        <p:spPr bwMode="auto">
          <a:xfrm>
            <a:off x="914400" y="304800"/>
            <a:ext cx="7100883" cy="3200400"/>
          </a:xfrm>
          <a:prstGeom prst="rect">
            <a:avLst/>
          </a:prstGeom>
          <a:noFill/>
        </p:spPr>
      </p:pic>
      <p:pic>
        <p:nvPicPr>
          <p:cNvPr id="5" name="Picture 4" descr="http://modx.hanluninfo.com:8082/modx/assets/images/C0209/c0209_formation_of_CO2.jpg"/>
          <p:cNvPicPr>
            <a:picLocks noChangeAspect="1" noChangeArrowheads="1"/>
          </p:cNvPicPr>
          <p:nvPr/>
        </p:nvPicPr>
        <p:blipFill>
          <a:blip r:embed="rId3" cstate="print"/>
          <a:srcRect/>
          <a:stretch>
            <a:fillRect/>
          </a:stretch>
        </p:blipFill>
        <p:spPr bwMode="auto">
          <a:xfrm>
            <a:off x="838200" y="3733800"/>
            <a:ext cx="7227792" cy="2452687"/>
          </a:xfrm>
          <a:prstGeom prst="rect">
            <a:avLst/>
          </a:prstGeom>
          <a:noFill/>
        </p:spPr>
      </p:pic>
      <p:sp>
        <p:nvSpPr>
          <p:cNvPr id="7" name="TextBox 6"/>
          <p:cNvSpPr txBox="1"/>
          <p:nvPr/>
        </p:nvSpPr>
        <p:spPr>
          <a:xfrm>
            <a:off x="3657600" y="609600"/>
            <a:ext cx="1415772" cy="461665"/>
          </a:xfrm>
          <a:prstGeom prst="rect">
            <a:avLst/>
          </a:prstGeom>
          <a:solidFill>
            <a:schemeClr val="tx1"/>
          </a:solidFill>
        </p:spPr>
        <p:txBody>
          <a:bodyPr wrap="none" rtlCol="0">
            <a:spAutoFit/>
          </a:bodyPr>
          <a:lstStyle/>
          <a:p>
            <a:r>
              <a:rPr lang="zh-CN" altLang="en-US" sz="2400" b="1" dirty="0" smtClean="0">
                <a:solidFill>
                  <a:srgbClr val="7030A0"/>
                </a:solidFill>
              </a:rPr>
              <a:t>键结电子</a:t>
            </a:r>
            <a:endParaRPr lang="en-US" sz="2400" b="1" dirty="0">
              <a:solidFill>
                <a:srgbClr val="7030A0"/>
              </a:solidFill>
            </a:endParaRPr>
          </a:p>
        </p:txBody>
      </p:sp>
      <p:sp>
        <p:nvSpPr>
          <p:cNvPr id="8" name="TextBox 7"/>
          <p:cNvSpPr txBox="1"/>
          <p:nvPr/>
        </p:nvSpPr>
        <p:spPr>
          <a:xfrm>
            <a:off x="5899428" y="757535"/>
            <a:ext cx="1422184" cy="461665"/>
          </a:xfrm>
          <a:prstGeom prst="rect">
            <a:avLst/>
          </a:prstGeom>
          <a:solidFill>
            <a:schemeClr val="tx1"/>
          </a:solidFill>
        </p:spPr>
        <p:txBody>
          <a:bodyPr wrap="none" rtlCol="0">
            <a:spAutoFit/>
          </a:bodyPr>
          <a:lstStyle/>
          <a:p>
            <a:r>
              <a:rPr lang="zh-CN" altLang="en-US" sz="2400" b="1" dirty="0" smtClean="0">
                <a:solidFill>
                  <a:srgbClr val="7030A0"/>
                </a:solidFill>
              </a:rPr>
              <a:t>孤对电子</a:t>
            </a:r>
            <a:endParaRPr lang="en-US" sz="2400" b="1" dirty="0">
              <a:solidFill>
                <a:srgbClr val="7030A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zh-CN" altLang="en-US" dirty="0" smtClean="0"/>
              <a:t>电子式</a:t>
            </a:r>
            <a:endParaRPr lang="en-US" dirty="0"/>
          </a:p>
        </p:txBody>
      </p:sp>
      <p:sp>
        <p:nvSpPr>
          <p:cNvPr id="3" name="Content Placeholder 2"/>
          <p:cNvSpPr>
            <a:spLocks noGrp="1"/>
          </p:cNvSpPr>
          <p:nvPr>
            <p:ph idx="1"/>
          </p:nvPr>
        </p:nvSpPr>
        <p:spPr>
          <a:xfrm>
            <a:off x="457200" y="1325562"/>
            <a:ext cx="8229600" cy="5380038"/>
          </a:xfrm>
        </p:spPr>
        <p:txBody>
          <a:bodyPr>
            <a:normAutofit/>
          </a:bodyPr>
          <a:lstStyle/>
          <a:p>
            <a:pPr marL="514350" indent="-514350">
              <a:buNone/>
            </a:pPr>
            <a:r>
              <a:rPr lang="zh-CN" altLang="en-US" sz="3400" b="1" dirty="0" smtClean="0">
                <a:solidFill>
                  <a:srgbClr val="FFFF00"/>
                </a:solidFill>
              </a:rPr>
              <a:t>氯气</a:t>
            </a:r>
            <a:r>
              <a:rPr lang="en-US" altLang="zh-CN" sz="3400" b="1" dirty="0" smtClean="0">
                <a:solidFill>
                  <a:srgbClr val="FFFF00"/>
                </a:solidFill>
              </a:rPr>
              <a:t>					</a:t>
            </a:r>
            <a:r>
              <a:rPr lang="zh-CN" altLang="en-US" sz="3400" b="1" dirty="0" smtClean="0">
                <a:solidFill>
                  <a:srgbClr val="FFFF00"/>
                </a:solidFill>
              </a:rPr>
              <a:t>氮气</a:t>
            </a:r>
            <a:endParaRPr lang="en-US" altLang="zh-CN" sz="3400" b="1" dirty="0" smtClean="0">
              <a:solidFill>
                <a:srgbClr val="FFFF00"/>
              </a:solidFill>
            </a:endParaRPr>
          </a:p>
          <a:p>
            <a:pPr marL="514350" indent="-514350">
              <a:buNone/>
            </a:pPr>
            <a:endParaRPr lang="en-US" altLang="zh-CN" sz="3400" b="1" dirty="0" smtClean="0">
              <a:solidFill>
                <a:srgbClr val="FFFF00"/>
              </a:solidFill>
            </a:endParaRPr>
          </a:p>
          <a:p>
            <a:pPr marL="514350" indent="-514350">
              <a:buNone/>
            </a:pPr>
            <a:r>
              <a:rPr lang="zh-CN" altLang="en-US" sz="3400" b="1" dirty="0" smtClean="0">
                <a:solidFill>
                  <a:srgbClr val="FFFF00"/>
                </a:solidFill>
              </a:rPr>
              <a:t>氯化氢</a:t>
            </a:r>
            <a:r>
              <a:rPr lang="en-US" altLang="zh-CN" sz="3400" b="1" dirty="0" smtClean="0">
                <a:solidFill>
                  <a:srgbClr val="FFFF00"/>
                </a:solidFill>
              </a:rPr>
              <a:t>				</a:t>
            </a:r>
            <a:r>
              <a:rPr lang="zh-CN" altLang="en-US" sz="3400" b="1" dirty="0" smtClean="0">
                <a:solidFill>
                  <a:srgbClr val="FFFF00"/>
                </a:solidFill>
              </a:rPr>
              <a:t>氨气</a:t>
            </a:r>
            <a:endParaRPr lang="en-US" altLang="zh-CN" sz="3400" b="1" dirty="0" smtClean="0">
              <a:solidFill>
                <a:srgbClr val="FFFF00"/>
              </a:solidFill>
            </a:endParaRPr>
          </a:p>
          <a:p>
            <a:pPr marL="514350" indent="-514350">
              <a:buNone/>
            </a:pPr>
            <a:endParaRPr lang="en-US" altLang="zh-CN" sz="3400" b="1" dirty="0" smtClean="0">
              <a:solidFill>
                <a:srgbClr val="FFFF00"/>
              </a:solidFill>
            </a:endParaRPr>
          </a:p>
          <a:p>
            <a:pPr marL="514350" indent="-514350">
              <a:buNone/>
            </a:pPr>
            <a:r>
              <a:rPr lang="zh-CN" altLang="en-US" sz="3400" b="1" dirty="0" smtClean="0">
                <a:solidFill>
                  <a:srgbClr val="FFFF00"/>
                </a:solidFill>
              </a:rPr>
              <a:t>水</a:t>
            </a:r>
            <a:r>
              <a:rPr lang="en-US" altLang="zh-CN" sz="3400" b="1" dirty="0" smtClean="0">
                <a:solidFill>
                  <a:srgbClr val="FFFF00"/>
                </a:solidFill>
              </a:rPr>
              <a:t>					</a:t>
            </a:r>
            <a:r>
              <a:rPr lang="zh-CN" altLang="en-US" sz="3400" b="1" dirty="0" smtClean="0">
                <a:solidFill>
                  <a:srgbClr val="FFFF00"/>
                </a:solidFill>
              </a:rPr>
              <a:t>二氧化碳</a:t>
            </a:r>
            <a:endParaRPr lang="en-US" altLang="zh-CN" sz="3400" b="1" dirty="0" smtClean="0">
              <a:solidFill>
                <a:srgbClr val="FFFF00"/>
              </a:solidFill>
            </a:endParaRPr>
          </a:p>
          <a:p>
            <a:pPr marL="514350" indent="-514350">
              <a:buNone/>
            </a:pPr>
            <a:endParaRPr lang="en-US" altLang="zh-CN" sz="3400" b="1" dirty="0" smtClean="0">
              <a:solidFill>
                <a:srgbClr val="FFFF00"/>
              </a:solidFill>
            </a:endParaRPr>
          </a:p>
          <a:p>
            <a:pPr marL="514350" indent="-514350">
              <a:buNone/>
            </a:pPr>
            <a:r>
              <a:rPr lang="zh-CN" altLang="en-US" sz="3400" b="1" dirty="0" smtClean="0">
                <a:solidFill>
                  <a:srgbClr val="FFFF00"/>
                </a:solidFill>
              </a:rPr>
              <a:t>氧气</a:t>
            </a:r>
            <a:r>
              <a:rPr lang="en-US" altLang="zh-CN" sz="3400" b="1" dirty="0" smtClean="0">
                <a:solidFill>
                  <a:srgbClr val="FFFF00"/>
                </a:solidFill>
              </a:rPr>
              <a:t>					</a:t>
            </a:r>
            <a:r>
              <a:rPr lang="zh-CN" altLang="en-US" sz="3400" b="1" dirty="0" smtClean="0">
                <a:solidFill>
                  <a:srgbClr val="FFFF00"/>
                </a:solidFill>
              </a:rPr>
              <a:t>甲烷</a:t>
            </a:r>
            <a:endParaRPr lang="en-US" altLang="zh-CN" sz="3400" b="1" dirty="0" smtClean="0">
              <a:solidFill>
                <a:srgbClr val="FFFF00"/>
              </a:solidFill>
            </a:endParaRPr>
          </a:p>
        </p:txBody>
      </p:sp>
      <p:grpSp>
        <p:nvGrpSpPr>
          <p:cNvPr id="4" name="Group 3"/>
          <p:cNvGrpSpPr>
            <a:grpSpLocks/>
          </p:cNvGrpSpPr>
          <p:nvPr/>
        </p:nvGrpSpPr>
        <p:grpSpPr bwMode="auto">
          <a:xfrm>
            <a:off x="990600" y="1219200"/>
            <a:ext cx="1857378" cy="935038"/>
            <a:chOff x="2774" y="1728"/>
            <a:chExt cx="1170" cy="589"/>
          </a:xfrm>
        </p:grpSpPr>
        <p:sp>
          <p:nvSpPr>
            <p:cNvPr id="5"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9" name="Group 43"/>
            <p:cNvGrpSpPr>
              <a:grpSpLocks/>
            </p:cNvGrpSpPr>
            <p:nvPr/>
          </p:nvGrpSpPr>
          <p:grpSpPr bwMode="auto">
            <a:xfrm>
              <a:off x="3363" y="1728"/>
              <a:ext cx="581" cy="589"/>
              <a:chOff x="4209" y="1728"/>
              <a:chExt cx="581" cy="589"/>
            </a:xfrm>
          </p:grpSpPr>
          <p:sp>
            <p:nvSpPr>
              <p:cNvPr id="10" name="Rectangle 18"/>
              <p:cNvSpPr>
                <a:spLocks noChangeArrowheads="1"/>
              </p:cNvSpPr>
              <p:nvPr/>
            </p:nvSpPr>
            <p:spPr bwMode="auto">
              <a:xfrm>
                <a:off x="4326" y="1842"/>
                <a:ext cx="372" cy="365"/>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b="1" dirty="0" err="1"/>
                  <a:t>Cl</a:t>
                </a:r>
                <a:endParaRPr kumimoji="0" lang="en-US" altLang="zh-TW" sz="3200" b="1" dirty="0"/>
              </a:p>
            </p:txBody>
          </p:sp>
          <p:sp>
            <p:nvSpPr>
              <p:cNvPr id="11"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12"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13" name="Rectangle 21"/>
              <p:cNvSpPr>
                <a:spLocks noChangeArrowheads="1"/>
              </p:cNvSpPr>
              <p:nvPr/>
            </p:nvSpPr>
            <p:spPr bwMode="auto">
              <a:xfrm rot="16200000">
                <a:off x="4564" y="1885"/>
                <a:ext cx="220"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 </a:t>
                </a:r>
                <a:endParaRPr kumimoji="0" lang="en-US" altLang="zh-TW" dirty="0">
                  <a:solidFill>
                    <a:srgbClr val="FF00FF"/>
                  </a:solidFill>
                  <a:latin typeface="Symbol" pitchFamily="18" charset="2"/>
                </a:endParaRPr>
              </a:p>
            </p:txBody>
          </p:sp>
          <p:sp>
            <p:nvSpPr>
              <p:cNvPr id="14" name="Rectangle 22"/>
              <p:cNvSpPr>
                <a:spLocks noChangeArrowheads="1"/>
              </p:cNvSpPr>
              <p:nvPr/>
            </p:nvSpPr>
            <p:spPr bwMode="auto">
              <a:xfrm rot="16200000">
                <a:off x="4183" y="1917"/>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grpSp>
      </p:grpSp>
      <p:grpSp>
        <p:nvGrpSpPr>
          <p:cNvPr id="15" name="Group 14"/>
          <p:cNvGrpSpPr>
            <a:grpSpLocks/>
          </p:cNvGrpSpPr>
          <p:nvPr/>
        </p:nvGrpSpPr>
        <p:grpSpPr bwMode="auto">
          <a:xfrm>
            <a:off x="1676400" y="1219200"/>
            <a:ext cx="1857378" cy="935038"/>
            <a:chOff x="2774" y="1728"/>
            <a:chExt cx="1170" cy="589"/>
          </a:xfrm>
        </p:grpSpPr>
        <p:sp>
          <p:nvSpPr>
            <p:cNvPr id="16"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7" name="Group 43"/>
            <p:cNvGrpSpPr>
              <a:grpSpLocks/>
            </p:cNvGrpSpPr>
            <p:nvPr/>
          </p:nvGrpSpPr>
          <p:grpSpPr bwMode="auto">
            <a:xfrm>
              <a:off x="3356" y="1728"/>
              <a:ext cx="588" cy="589"/>
              <a:chOff x="4202" y="1728"/>
              <a:chExt cx="588" cy="589"/>
            </a:xfrm>
          </p:grpSpPr>
          <p:sp>
            <p:nvSpPr>
              <p:cNvPr id="18" name="Rectangle 18"/>
              <p:cNvSpPr>
                <a:spLocks noChangeArrowheads="1"/>
              </p:cNvSpPr>
              <p:nvPr/>
            </p:nvSpPr>
            <p:spPr bwMode="auto">
              <a:xfrm>
                <a:off x="4326" y="1842"/>
                <a:ext cx="372" cy="365"/>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b="1" dirty="0" err="1"/>
                  <a:t>Cl</a:t>
                </a:r>
                <a:endParaRPr kumimoji="0" lang="en-US" altLang="zh-TW" sz="3200" b="1" dirty="0"/>
              </a:p>
            </p:txBody>
          </p:sp>
          <p:sp>
            <p:nvSpPr>
              <p:cNvPr id="19"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20"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21" name="Rectangle 21"/>
              <p:cNvSpPr>
                <a:spLocks noChangeArrowheads="1"/>
              </p:cNvSpPr>
              <p:nvPr/>
            </p:nvSpPr>
            <p:spPr bwMode="auto">
              <a:xfrm rot="16200000">
                <a:off x="4512" y="1885"/>
                <a:ext cx="323"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 </a:t>
                </a:r>
                <a:endParaRPr kumimoji="0" lang="en-US" altLang="zh-TW" dirty="0">
                  <a:solidFill>
                    <a:srgbClr val="FF00FF"/>
                  </a:solidFill>
                  <a:latin typeface="Symbol" pitchFamily="18" charset="2"/>
                </a:endParaRPr>
              </a:p>
            </p:txBody>
          </p:sp>
          <p:sp>
            <p:nvSpPr>
              <p:cNvPr id="22" name="Rectangle 22"/>
              <p:cNvSpPr>
                <a:spLocks noChangeArrowheads="1"/>
              </p:cNvSpPr>
              <p:nvPr/>
            </p:nvSpPr>
            <p:spPr bwMode="auto">
              <a:xfrm rot="16200000">
                <a:off x="4227" y="1903"/>
                <a:ext cx="184"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a:t>
                </a:r>
                <a:endParaRPr kumimoji="0" lang="en-US" altLang="zh-TW" dirty="0">
                  <a:latin typeface="Symbol" pitchFamily="18" charset="2"/>
                </a:endParaRPr>
              </a:p>
            </p:txBody>
          </p:sp>
        </p:grpSp>
      </p:grpSp>
      <p:grpSp>
        <p:nvGrpSpPr>
          <p:cNvPr id="23" name="Group 22"/>
          <p:cNvGrpSpPr>
            <a:grpSpLocks/>
          </p:cNvGrpSpPr>
          <p:nvPr/>
        </p:nvGrpSpPr>
        <p:grpSpPr bwMode="auto">
          <a:xfrm>
            <a:off x="1143001" y="2654298"/>
            <a:ext cx="1751016" cy="606425"/>
            <a:chOff x="2774" y="1829"/>
            <a:chExt cx="1103" cy="382"/>
          </a:xfrm>
        </p:grpSpPr>
        <p:sp>
          <p:nvSpPr>
            <p:cNvPr id="24"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25" name="Group 43"/>
            <p:cNvGrpSpPr>
              <a:grpSpLocks/>
            </p:cNvGrpSpPr>
            <p:nvPr/>
          </p:nvGrpSpPr>
          <p:grpSpPr bwMode="auto">
            <a:xfrm>
              <a:off x="3480" y="1842"/>
              <a:ext cx="397" cy="369"/>
              <a:chOff x="4326" y="1842"/>
              <a:chExt cx="397" cy="369"/>
            </a:xfrm>
          </p:grpSpPr>
          <p:sp>
            <p:nvSpPr>
              <p:cNvPr id="26" name="Rectangle 18"/>
              <p:cNvSpPr>
                <a:spLocks noChangeArrowheads="1"/>
              </p:cNvSpPr>
              <p:nvPr/>
            </p:nvSpPr>
            <p:spPr bwMode="auto">
              <a:xfrm>
                <a:off x="4326" y="1842"/>
                <a:ext cx="281"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solidFill>
                      <a:schemeClr val="bg1"/>
                    </a:solidFill>
                  </a:rPr>
                  <a:t>H</a:t>
                </a:r>
                <a:endParaRPr kumimoji="0" lang="en-US" altLang="zh-TW" sz="3200" b="1" dirty="0">
                  <a:solidFill>
                    <a:schemeClr val="bg1"/>
                  </a:solidFill>
                </a:endParaRPr>
              </a:p>
            </p:txBody>
          </p:sp>
          <p:sp>
            <p:nvSpPr>
              <p:cNvPr id="29" name="Rectangle 21"/>
              <p:cNvSpPr>
                <a:spLocks noChangeArrowheads="1"/>
              </p:cNvSpPr>
              <p:nvPr/>
            </p:nvSpPr>
            <p:spPr bwMode="auto">
              <a:xfrm rot="16200000">
                <a:off x="4497" y="1885"/>
                <a:ext cx="220"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solidFill>
                      <a:schemeClr val="bg1"/>
                    </a:solidFill>
                    <a:latin typeface="Symbol" pitchFamily="18" charset="2"/>
                  </a:rPr>
                  <a:t>·</a:t>
                </a:r>
                <a:r>
                  <a:rPr kumimoji="0" lang="en-US" altLang="zh-TW" dirty="0" smtClean="0">
                    <a:solidFill>
                      <a:srgbClr val="C00000"/>
                    </a:solidFill>
                    <a:latin typeface="Symbol" pitchFamily="18" charset="2"/>
                  </a:rPr>
                  <a:t> </a:t>
                </a:r>
                <a:endParaRPr kumimoji="0" lang="en-US" altLang="zh-TW" dirty="0">
                  <a:solidFill>
                    <a:srgbClr val="C00000"/>
                  </a:solidFill>
                  <a:latin typeface="Symbol" pitchFamily="18" charset="2"/>
                </a:endParaRPr>
              </a:p>
            </p:txBody>
          </p:sp>
        </p:grpSp>
      </p:grpSp>
      <p:grpSp>
        <p:nvGrpSpPr>
          <p:cNvPr id="31" name="Group 30"/>
          <p:cNvGrpSpPr>
            <a:grpSpLocks/>
          </p:cNvGrpSpPr>
          <p:nvPr/>
        </p:nvGrpSpPr>
        <p:grpSpPr bwMode="auto">
          <a:xfrm>
            <a:off x="1800222" y="2493962"/>
            <a:ext cx="1857378" cy="935038"/>
            <a:chOff x="2774" y="1728"/>
            <a:chExt cx="1170" cy="589"/>
          </a:xfrm>
        </p:grpSpPr>
        <p:sp>
          <p:nvSpPr>
            <p:cNvPr id="32"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33" name="Group 43"/>
            <p:cNvGrpSpPr>
              <a:grpSpLocks/>
            </p:cNvGrpSpPr>
            <p:nvPr/>
          </p:nvGrpSpPr>
          <p:grpSpPr bwMode="auto">
            <a:xfrm>
              <a:off x="3356" y="1728"/>
              <a:ext cx="588" cy="589"/>
              <a:chOff x="4202" y="1728"/>
              <a:chExt cx="588" cy="589"/>
            </a:xfrm>
          </p:grpSpPr>
          <p:sp>
            <p:nvSpPr>
              <p:cNvPr id="34" name="Rectangle 18"/>
              <p:cNvSpPr>
                <a:spLocks noChangeArrowheads="1"/>
              </p:cNvSpPr>
              <p:nvPr/>
            </p:nvSpPr>
            <p:spPr bwMode="auto">
              <a:xfrm>
                <a:off x="4326" y="1842"/>
                <a:ext cx="372" cy="365"/>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b="1" dirty="0" err="1"/>
                  <a:t>Cl</a:t>
                </a:r>
                <a:endParaRPr kumimoji="0" lang="en-US" altLang="zh-TW" sz="3200" b="1" dirty="0"/>
              </a:p>
            </p:txBody>
          </p:sp>
          <p:sp>
            <p:nvSpPr>
              <p:cNvPr id="35"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36"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37" name="Rectangle 21"/>
              <p:cNvSpPr>
                <a:spLocks noChangeArrowheads="1"/>
              </p:cNvSpPr>
              <p:nvPr/>
            </p:nvSpPr>
            <p:spPr bwMode="auto">
              <a:xfrm rot="16200000">
                <a:off x="4512" y="1885"/>
                <a:ext cx="323"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 </a:t>
                </a:r>
                <a:endParaRPr kumimoji="0" lang="en-US" altLang="zh-TW" dirty="0">
                  <a:solidFill>
                    <a:srgbClr val="FF00FF"/>
                  </a:solidFill>
                  <a:latin typeface="Symbol" pitchFamily="18" charset="2"/>
                </a:endParaRPr>
              </a:p>
            </p:txBody>
          </p:sp>
          <p:sp>
            <p:nvSpPr>
              <p:cNvPr id="38" name="Rectangle 22"/>
              <p:cNvSpPr>
                <a:spLocks noChangeArrowheads="1"/>
              </p:cNvSpPr>
              <p:nvPr/>
            </p:nvSpPr>
            <p:spPr bwMode="auto">
              <a:xfrm rot="16200000">
                <a:off x="4227" y="1903"/>
                <a:ext cx="184"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a:t>
                </a:r>
                <a:endParaRPr kumimoji="0" lang="en-US" altLang="zh-TW" dirty="0">
                  <a:latin typeface="Symbol" pitchFamily="18" charset="2"/>
                </a:endParaRPr>
              </a:p>
            </p:txBody>
          </p:sp>
        </p:grpSp>
      </p:grpSp>
      <p:grpSp>
        <p:nvGrpSpPr>
          <p:cNvPr id="39" name="Group 38"/>
          <p:cNvGrpSpPr>
            <a:grpSpLocks/>
          </p:cNvGrpSpPr>
          <p:nvPr/>
        </p:nvGrpSpPr>
        <p:grpSpPr bwMode="auto">
          <a:xfrm>
            <a:off x="304800" y="3810000"/>
            <a:ext cx="1751016" cy="606425"/>
            <a:chOff x="2774" y="1829"/>
            <a:chExt cx="1103" cy="382"/>
          </a:xfrm>
        </p:grpSpPr>
        <p:sp>
          <p:nvSpPr>
            <p:cNvPr id="40"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41" name="Group 43"/>
            <p:cNvGrpSpPr>
              <a:grpSpLocks/>
            </p:cNvGrpSpPr>
            <p:nvPr/>
          </p:nvGrpSpPr>
          <p:grpSpPr bwMode="auto">
            <a:xfrm>
              <a:off x="3480" y="1842"/>
              <a:ext cx="397" cy="369"/>
              <a:chOff x="4326" y="1842"/>
              <a:chExt cx="397" cy="369"/>
            </a:xfrm>
          </p:grpSpPr>
          <p:sp>
            <p:nvSpPr>
              <p:cNvPr id="42" name="Rectangle 18"/>
              <p:cNvSpPr>
                <a:spLocks noChangeArrowheads="1"/>
              </p:cNvSpPr>
              <p:nvPr/>
            </p:nvSpPr>
            <p:spPr bwMode="auto">
              <a:xfrm>
                <a:off x="4326" y="1842"/>
                <a:ext cx="281"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solidFill>
                      <a:schemeClr val="bg1"/>
                    </a:solidFill>
                  </a:rPr>
                  <a:t>H</a:t>
                </a:r>
                <a:endParaRPr kumimoji="0" lang="en-US" altLang="zh-TW" sz="3200" b="1" dirty="0">
                  <a:solidFill>
                    <a:schemeClr val="bg1"/>
                  </a:solidFill>
                </a:endParaRPr>
              </a:p>
            </p:txBody>
          </p:sp>
          <p:sp>
            <p:nvSpPr>
              <p:cNvPr id="43" name="Rectangle 21"/>
              <p:cNvSpPr>
                <a:spLocks noChangeArrowheads="1"/>
              </p:cNvSpPr>
              <p:nvPr/>
            </p:nvSpPr>
            <p:spPr bwMode="auto">
              <a:xfrm rot="16200000">
                <a:off x="4479" y="1885"/>
                <a:ext cx="256"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solidFill>
                      <a:schemeClr val="bg1"/>
                    </a:solidFill>
                    <a:latin typeface="Symbol" pitchFamily="18" charset="2"/>
                  </a:rPr>
                  <a:t>· </a:t>
                </a:r>
                <a:r>
                  <a:rPr kumimoji="0" lang="en-US" altLang="zh-TW" dirty="0" smtClean="0">
                    <a:latin typeface="Symbol" pitchFamily="18" charset="2"/>
                  </a:rPr>
                  <a:t> </a:t>
                </a:r>
                <a:endParaRPr kumimoji="0" lang="en-US" altLang="zh-TW" dirty="0">
                  <a:solidFill>
                    <a:srgbClr val="FF00FF"/>
                  </a:solidFill>
                  <a:latin typeface="Symbol" pitchFamily="18" charset="2"/>
                </a:endParaRPr>
              </a:p>
            </p:txBody>
          </p:sp>
        </p:grpSp>
      </p:grpSp>
      <p:grpSp>
        <p:nvGrpSpPr>
          <p:cNvPr id="44" name="Group 43"/>
          <p:cNvGrpSpPr>
            <a:grpSpLocks/>
          </p:cNvGrpSpPr>
          <p:nvPr/>
        </p:nvGrpSpPr>
        <p:grpSpPr bwMode="auto">
          <a:xfrm>
            <a:off x="1677982" y="3813175"/>
            <a:ext cx="1566865" cy="606425"/>
            <a:chOff x="2774" y="1829"/>
            <a:chExt cx="987" cy="382"/>
          </a:xfrm>
        </p:grpSpPr>
        <p:sp>
          <p:nvSpPr>
            <p:cNvPr id="45"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46" name="Group 43"/>
            <p:cNvGrpSpPr>
              <a:grpSpLocks/>
            </p:cNvGrpSpPr>
            <p:nvPr/>
          </p:nvGrpSpPr>
          <p:grpSpPr bwMode="auto">
            <a:xfrm>
              <a:off x="3301" y="1842"/>
              <a:ext cx="460" cy="369"/>
              <a:chOff x="4147" y="1842"/>
              <a:chExt cx="460" cy="369"/>
            </a:xfrm>
          </p:grpSpPr>
          <p:sp>
            <p:nvSpPr>
              <p:cNvPr id="47" name="Rectangle 18"/>
              <p:cNvSpPr>
                <a:spLocks noChangeArrowheads="1"/>
              </p:cNvSpPr>
              <p:nvPr/>
            </p:nvSpPr>
            <p:spPr bwMode="auto">
              <a:xfrm>
                <a:off x="4326" y="1842"/>
                <a:ext cx="281"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solidFill>
                      <a:schemeClr val="bg1"/>
                    </a:solidFill>
                  </a:rPr>
                  <a:t>H</a:t>
                </a:r>
                <a:endParaRPr kumimoji="0" lang="en-US" altLang="zh-TW" sz="3200" b="1" dirty="0">
                  <a:solidFill>
                    <a:schemeClr val="bg1"/>
                  </a:solidFill>
                </a:endParaRPr>
              </a:p>
            </p:txBody>
          </p:sp>
          <p:sp>
            <p:nvSpPr>
              <p:cNvPr id="48" name="Rectangle 21"/>
              <p:cNvSpPr>
                <a:spLocks noChangeArrowheads="1"/>
              </p:cNvSpPr>
              <p:nvPr/>
            </p:nvSpPr>
            <p:spPr bwMode="auto">
              <a:xfrm rot="16200000">
                <a:off x="4154" y="1885"/>
                <a:ext cx="220"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solidFill>
                      <a:schemeClr val="bg1"/>
                    </a:solidFill>
                    <a:latin typeface="Symbol" pitchFamily="18" charset="2"/>
                  </a:rPr>
                  <a:t>·</a:t>
                </a:r>
                <a:r>
                  <a:rPr kumimoji="0" lang="en-US" altLang="zh-TW" dirty="0" smtClean="0">
                    <a:latin typeface="Symbol" pitchFamily="18" charset="2"/>
                  </a:rPr>
                  <a:t> </a:t>
                </a:r>
                <a:endParaRPr kumimoji="0" lang="en-US" altLang="zh-TW" dirty="0">
                  <a:solidFill>
                    <a:srgbClr val="FF00FF"/>
                  </a:solidFill>
                  <a:latin typeface="Symbol" pitchFamily="18" charset="2"/>
                </a:endParaRPr>
              </a:p>
            </p:txBody>
          </p:sp>
        </p:grpSp>
      </p:grpSp>
      <p:grpSp>
        <p:nvGrpSpPr>
          <p:cNvPr id="49" name="Group 48"/>
          <p:cNvGrpSpPr>
            <a:grpSpLocks/>
          </p:cNvGrpSpPr>
          <p:nvPr/>
        </p:nvGrpSpPr>
        <p:grpSpPr bwMode="auto">
          <a:xfrm>
            <a:off x="927098" y="3657600"/>
            <a:ext cx="1816102" cy="935038"/>
            <a:chOff x="2774" y="1728"/>
            <a:chExt cx="1144" cy="589"/>
          </a:xfrm>
        </p:grpSpPr>
        <p:sp>
          <p:nvSpPr>
            <p:cNvPr id="50"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51" name="Group 43"/>
            <p:cNvGrpSpPr>
              <a:grpSpLocks/>
            </p:cNvGrpSpPr>
            <p:nvPr/>
          </p:nvGrpSpPr>
          <p:grpSpPr bwMode="auto">
            <a:xfrm>
              <a:off x="3356" y="1728"/>
              <a:ext cx="562" cy="589"/>
              <a:chOff x="4202" y="1728"/>
              <a:chExt cx="562" cy="589"/>
            </a:xfrm>
          </p:grpSpPr>
          <p:sp>
            <p:nvSpPr>
              <p:cNvPr id="52" name="Rectangle 18"/>
              <p:cNvSpPr>
                <a:spLocks noChangeArrowheads="1"/>
              </p:cNvSpPr>
              <p:nvPr/>
            </p:nvSpPr>
            <p:spPr bwMode="auto">
              <a:xfrm>
                <a:off x="4326" y="1842"/>
                <a:ext cx="292"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t>O</a:t>
                </a:r>
                <a:endParaRPr kumimoji="0" lang="en-US" altLang="zh-TW" sz="3200" b="1" dirty="0"/>
              </a:p>
            </p:txBody>
          </p:sp>
          <p:sp>
            <p:nvSpPr>
              <p:cNvPr id="53"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54"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55" name="Rectangle 21"/>
              <p:cNvSpPr>
                <a:spLocks noChangeArrowheads="1"/>
              </p:cNvSpPr>
              <p:nvPr/>
            </p:nvSpPr>
            <p:spPr bwMode="auto">
              <a:xfrm rot="16200000">
                <a:off x="4520" y="1885"/>
                <a:ext cx="256"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 </a:t>
                </a:r>
                <a:endParaRPr kumimoji="0" lang="en-US" altLang="zh-TW" dirty="0">
                  <a:solidFill>
                    <a:srgbClr val="FF00FF"/>
                  </a:solidFill>
                  <a:latin typeface="Symbol" pitchFamily="18" charset="2"/>
                </a:endParaRPr>
              </a:p>
            </p:txBody>
          </p:sp>
          <p:sp>
            <p:nvSpPr>
              <p:cNvPr id="56" name="Rectangle 22"/>
              <p:cNvSpPr>
                <a:spLocks noChangeArrowheads="1"/>
              </p:cNvSpPr>
              <p:nvPr/>
            </p:nvSpPr>
            <p:spPr bwMode="auto">
              <a:xfrm rot="16200000">
                <a:off x="4227" y="1903"/>
                <a:ext cx="184"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a:t>
                </a:r>
                <a:endParaRPr kumimoji="0" lang="en-US" altLang="zh-TW" dirty="0">
                  <a:latin typeface="Symbol" pitchFamily="18" charset="2"/>
                </a:endParaRPr>
              </a:p>
            </p:txBody>
          </p:sp>
        </p:grpSp>
      </p:grpSp>
      <p:grpSp>
        <p:nvGrpSpPr>
          <p:cNvPr id="57" name="Group 56"/>
          <p:cNvGrpSpPr>
            <a:grpSpLocks/>
          </p:cNvGrpSpPr>
          <p:nvPr/>
        </p:nvGrpSpPr>
        <p:grpSpPr bwMode="auto">
          <a:xfrm>
            <a:off x="698498" y="4932362"/>
            <a:ext cx="1816102" cy="935038"/>
            <a:chOff x="2774" y="1728"/>
            <a:chExt cx="1144" cy="589"/>
          </a:xfrm>
        </p:grpSpPr>
        <p:sp>
          <p:nvSpPr>
            <p:cNvPr id="58"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59" name="Group 43"/>
            <p:cNvGrpSpPr>
              <a:grpSpLocks/>
            </p:cNvGrpSpPr>
            <p:nvPr/>
          </p:nvGrpSpPr>
          <p:grpSpPr bwMode="auto">
            <a:xfrm>
              <a:off x="3356" y="1728"/>
              <a:ext cx="562" cy="589"/>
              <a:chOff x="4202" y="1728"/>
              <a:chExt cx="562" cy="589"/>
            </a:xfrm>
          </p:grpSpPr>
          <p:sp>
            <p:nvSpPr>
              <p:cNvPr id="60" name="Rectangle 18"/>
              <p:cNvSpPr>
                <a:spLocks noChangeArrowheads="1"/>
              </p:cNvSpPr>
              <p:nvPr/>
            </p:nvSpPr>
            <p:spPr bwMode="auto">
              <a:xfrm>
                <a:off x="4326" y="1842"/>
                <a:ext cx="292"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t>O</a:t>
                </a:r>
                <a:endParaRPr kumimoji="0" lang="en-US" altLang="zh-TW" sz="3200" b="1" dirty="0"/>
              </a:p>
            </p:txBody>
          </p:sp>
          <p:sp>
            <p:nvSpPr>
              <p:cNvPr id="61"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62"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 ·</a:t>
                </a:r>
                <a:endParaRPr kumimoji="0" lang="en-US" altLang="zh-TW" dirty="0">
                  <a:latin typeface="Symbol" pitchFamily="18" charset="2"/>
                </a:endParaRPr>
              </a:p>
            </p:txBody>
          </p:sp>
          <p:sp>
            <p:nvSpPr>
              <p:cNvPr id="63" name="Rectangle 21"/>
              <p:cNvSpPr>
                <a:spLocks noChangeArrowheads="1"/>
              </p:cNvSpPr>
              <p:nvPr/>
            </p:nvSpPr>
            <p:spPr bwMode="auto">
              <a:xfrm rot="16200000">
                <a:off x="4486" y="1885"/>
                <a:ext cx="323"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 </a:t>
                </a:r>
                <a:endParaRPr kumimoji="0" lang="en-US" altLang="zh-TW" dirty="0">
                  <a:solidFill>
                    <a:srgbClr val="FF00FF"/>
                  </a:solidFill>
                  <a:latin typeface="Symbol" pitchFamily="18" charset="2"/>
                </a:endParaRPr>
              </a:p>
            </p:txBody>
          </p:sp>
          <p:sp>
            <p:nvSpPr>
              <p:cNvPr id="64" name="Rectangle 22"/>
              <p:cNvSpPr>
                <a:spLocks noChangeArrowheads="1"/>
              </p:cNvSpPr>
              <p:nvPr/>
            </p:nvSpPr>
            <p:spPr bwMode="auto">
              <a:xfrm rot="16200000">
                <a:off x="4260" y="1903"/>
                <a:ext cx="117" cy="233"/>
              </a:xfrm>
              <a:prstGeom prst="rect">
                <a:avLst/>
              </a:prstGeom>
              <a:noFill/>
              <a:ln w="9525">
                <a:noFill/>
                <a:miter lim="800000"/>
                <a:headEnd/>
                <a:tailEnd/>
              </a:ln>
              <a:effectLst/>
            </p:spPr>
            <p:txBody>
              <a:bodyPr wrap="none" lIns="92075" tIns="46038" rIns="92075" bIns="46038">
                <a:spAutoFit/>
              </a:bodyPr>
              <a:lstStyle/>
              <a:p>
                <a:pPr eaLnBrk="0" hangingPunct="0"/>
                <a:endParaRPr kumimoji="0" lang="en-US" altLang="zh-TW" dirty="0">
                  <a:latin typeface="Symbol" pitchFamily="18" charset="2"/>
                </a:endParaRPr>
              </a:p>
            </p:txBody>
          </p:sp>
        </p:grpSp>
      </p:grpSp>
      <p:grpSp>
        <p:nvGrpSpPr>
          <p:cNvPr id="65" name="Group 64"/>
          <p:cNvGrpSpPr>
            <a:grpSpLocks/>
          </p:cNvGrpSpPr>
          <p:nvPr/>
        </p:nvGrpSpPr>
        <p:grpSpPr bwMode="auto">
          <a:xfrm>
            <a:off x="1460498" y="4932362"/>
            <a:ext cx="1816102" cy="935038"/>
            <a:chOff x="2774" y="1728"/>
            <a:chExt cx="1144" cy="589"/>
          </a:xfrm>
        </p:grpSpPr>
        <p:sp>
          <p:nvSpPr>
            <p:cNvPr id="66"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67" name="Group 43"/>
            <p:cNvGrpSpPr>
              <a:grpSpLocks/>
            </p:cNvGrpSpPr>
            <p:nvPr/>
          </p:nvGrpSpPr>
          <p:grpSpPr bwMode="auto">
            <a:xfrm>
              <a:off x="3350" y="1728"/>
              <a:ext cx="568" cy="589"/>
              <a:chOff x="4196" y="1728"/>
              <a:chExt cx="568" cy="589"/>
            </a:xfrm>
          </p:grpSpPr>
          <p:sp>
            <p:nvSpPr>
              <p:cNvPr id="68" name="Rectangle 18"/>
              <p:cNvSpPr>
                <a:spLocks noChangeArrowheads="1"/>
              </p:cNvSpPr>
              <p:nvPr/>
            </p:nvSpPr>
            <p:spPr bwMode="auto">
              <a:xfrm>
                <a:off x="4326" y="1842"/>
                <a:ext cx="292"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t>O</a:t>
                </a:r>
                <a:endParaRPr kumimoji="0" lang="en-US" altLang="zh-TW" sz="3200" b="1" dirty="0"/>
              </a:p>
            </p:txBody>
          </p:sp>
          <p:sp>
            <p:nvSpPr>
              <p:cNvPr id="69"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70"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 ·</a:t>
                </a:r>
                <a:endParaRPr kumimoji="0" lang="en-US" altLang="zh-TW" dirty="0">
                  <a:latin typeface="Symbol" pitchFamily="18" charset="2"/>
                </a:endParaRPr>
              </a:p>
            </p:txBody>
          </p:sp>
          <p:sp>
            <p:nvSpPr>
              <p:cNvPr id="71" name="Rectangle 21"/>
              <p:cNvSpPr>
                <a:spLocks noChangeArrowheads="1"/>
              </p:cNvSpPr>
              <p:nvPr/>
            </p:nvSpPr>
            <p:spPr bwMode="auto">
              <a:xfrm rot="16200000">
                <a:off x="4553" y="1885"/>
                <a:ext cx="190"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a:t>
                </a:r>
                <a:endParaRPr kumimoji="0" lang="en-US" altLang="zh-TW" dirty="0">
                  <a:solidFill>
                    <a:srgbClr val="FF00FF"/>
                  </a:solidFill>
                  <a:latin typeface="Symbol" pitchFamily="18" charset="2"/>
                </a:endParaRPr>
              </a:p>
            </p:txBody>
          </p:sp>
          <p:sp>
            <p:nvSpPr>
              <p:cNvPr id="72" name="Rectangle 22"/>
              <p:cNvSpPr>
                <a:spLocks noChangeArrowheads="1"/>
              </p:cNvSpPr>
              <p:nvPr/>
            </p:nvSpPr>
            <p:spPr bwMode="auto">
              <a:xfrm rot="16200000">
                <a:off x="4275" y="1816"/>
                <a:ext cx="250" cy="408"/>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a:t>
                </a:r>
              </a:p>
              <a:p>
                <a:pPr eaLnBrk="0" hangingPunct="0"/>
                <a:endParaRPr lang="en-US" altLang="zh-TW" dirty="0">
                  <a:latin typeface="Symbol" pitchFamily="18" charset="2"/>
                </a:endParaRPr>
              </a:p>
            </p:txBody>
          </p:sp>
        </p:grpSp>
      </p:grpSp>
      <p:grpSp>
        <p:nvGrpSpPr>
          <p:cNvPr id="73" name="Group 72"/>
          <p:cNvGrpSpPr>
            <a:grpSpLocks/>
          </p:cNvGrpSpPr>
          <p:nvPr/>
        </p:nvGrpSpPr>
        <p:grpSpPr bwMode="auto">
          <a:xfrm>
            <a:off x="5105400" y="1143000"/>
            <a:ext cx="1816102" cy="938213"/>
            <a:chOff x="2774" y="1728"/>
            <a:chExt cx="1144" cy="591"/>
          </a:xfrm>
        </p:grpSpPr>
        <p:sp>
          <p:nvSpPr>
            <p:cNvPr id="74"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75" name="Group 43"/>
            <p:cNvGrpSpPr>
              <a:grpSpLocks/>
            </p:cNvGrpSpPr>
            <p:nvPr/>
          </p:nvGrpSpPr>
          <p:grpSpPr bwMode="auto">
            <a:xfrm>
              <a:off x="3356" y="1728"/>
              <a:ext cx="562" cy="591"/>
              <a:chOff x="4202" y="1728"/>
              <a:chExt cx="562" cy="591"/>
            </a:xfrm>
          </p:grpSpPr>
          <p:sp>
            <p:nvSpPr>
              <p:cNvPr id="76" name="Rectangle 18"/>
              <p:cNvSpPr>
                <a:spLocks noChangeArrowheads="1"/>
              </p:cNvSpPr>
              <p:nvPr/>
            </p:nvSpPr>
            <p:spPr bwMode="auto">
              <a:xfrm>
                <a:off x="4326" y="1842"/>
                <a:ext cx="288"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CN" sz="3200" b="1" dirty="0" smtClean="0"/>
                  <a:t>N</a:t>
                </a:r>
                <a:endParaRPr kumimoji="0" lang="en-US" altLang="zh-TW" sz="3200" b="1" dirty="0"/>
              </a:p>
            </p:txBody>
          </p:sp>
          <p:sp>
            <p:nvSpPr>
              <p:cNvPr id="77"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78" name="Rectangle 20"/>
              <p:cNvSpPr>
                <a:spLocks noChangeArrowheads="1"/>
              </p:cNvSpPr>
              <p:nvPr/>
            </p:nvSpPr>
            <p:spPr bwMode="auto">
              <a:xfrm>
                <a:off x="4348" y="2086"/>
                <a:ext cx="117" cy="233"/>
              </a:xfrm>
              <a:prstGeom prst="rect">
                <a:avLst/>
              </a:prstGeom>
              <a:noFill/>
              <a:ln w="9525">
                <a:noFill/>
                <a:miter lim="800000"/>
                <a:headEnd/>
                <a:tailEnd/>
              </a:ln>
              <a:effectLst/>
            </p:spPr>
            <p:txBody>
              <a:bodyPr wrap="none" lIns="92075" tIns="46038" rIns="92075" bIns="46038">
                <a:spAutoFit/>
              </a:bodyPr>
              <a:lstStyle/>
              <a:p>
                <a:pPr eaLnBrk="0" hangingPunct="0"/>
                <a:endParaRPr kumimoji="0" lang="en-US" altLang="zh-TW" dirty="0">
                  <a:latin typeface="Symbol" pitchFamily="18" charset="2"/>
                </a:endParaRPr>
              </a:p>
            </p:txBody>
          </p:sp>
          <p:sp>
            <p:nvSpPr>
              <p:cNvPr id="79" name="Rectangle 21"/>
              <p:cNvSpPr>
                <a:spLocks noChangeArrowheads="1"/>
              </p:cNvSpPr>
              <p:nvPr/>
            </p:nvSpPr>
            <p:spPr bwMode="auto">
              <a:xfrm rot="16200000">
                <a:off x="4453" y="1885"/>
                <a:ext cx="390"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 </a:t>
                </a:r>
                <a:endParaRPr kumimoji="0" lang="en-US" altLang="zh-TW" dirty="0">
                  <a:solidFill>
                    <a:srgbClr val="FF00FF"/>
                  </a:solidFill>
                  <a:latin typeface="Symbol" pitchFamily="18" charset="2"/>
                </a:endParaRPr>
              </a:p>
            </p:txBody>
          </p:sp>
          <p:sp>
            <p:nvSpPr>
              <p:cNvPr id="80" name="Rectangle 22"/>
              <p:cNvSpPr>
                <a:spLocks noChangeArrowheads="1"/>
              </p:cNvSpPr>
              <p:nvPr/>
            </p:nvSpPr>
            <p:spPr bwMode="auto">
              <a:xfrm rot="16200000">
                <a:off x="4260" y="1903"/>
                <a:ext cx="117" cy="233"/>
              </a:xfrm>
              <a:prstGeom prst="rect">
                <a:avLst/>
              </a:prstGeom>
              <a:noFill/>
              <a:ln w="9525">
                <a:noFill/>
                <a:miter lim="800000"/>
                <a:headEnd/>
                <a:tailEnd/>
              </a:ln>
              <a:effectLst/>
            </p:spPr>
            <p:txBody>
              <a:bodyPr wrap="none" lIns="92075" tIns="46038" rIns="92075" bIns="46038">
                <a:spAutoFit/>
              </a:bodyPr>
              <a:lstStyle/>
              <a:p>
                <a:pPr eaLnBrk="0" hangingPunct="0"/>
                <a:endParaRPr kumimoji="0" lang="en-US" altLang="zh-TW" dirty="0">
                  <a:latin typeface="Symbol" pitchFamily="18" charset="2"/>
                </a:endParaRPr>
              </a:p>
            </p:txBody>
          </p:sp>
        </p:grpSp>
      </p:grpSp>
      <p:grpSp>
        <p:nvGrpSpPr>
          <p:cNvPr id="81" name="Group 80"/>
          <p:cNvGrpSpPr>
            <a:grpSpLocks/>
          </p:cNvGrpSpPr>
          <p:nvPr/>
        </p:nvGrpSpPr>
        <p:grpSpPr bwMode="auto">
          <a:xfrm>
            <a:off x="5880096" y="1143000"/>
            <a:ext cx="1606551" cy="938213"/>
            <a:chOff x="2774" y="1728"/>
            <a:chExt cx="1012" cy="591"/>
          </a:xfrm>
        </p:grpSpPr>
        <p:sp>
          <p:nvSpPr>
            <p:cNvPr id="82"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83" name="Group 43"/>
            <p:cNvGrpSpPr>
              <a:grpSpLocks/>
            </p:cNvGrpSpPr>
            <p:nvPr/>
          </p:nvGrpSpPr>
          <p:grpSpPr bwMode="auto">
            <a:xfrm>
              <a:off x="3301" y="1728"/>
              <a:ext cx="485" cy="591"/>
              <a:chOff x="4147" y="1728"/>
              <a:chExt cx="485" cy="591"/>
            </a:xfrm>
          </p:grpSpPr>
          <p:sp>
            <p:nvSpPr>
              <p:cNvPr id="84" name="Rectangle 18"/>
              <p:cNvSpPr>
                <a:spLocks noChangeArrowheads="1"/>
              </p:cNvSpPr>
              <p:nvPr/>
            </p:nvSpPr>
            <p:spPr bwMode="auto">
              <a:xfrm>
                <a:off x="4326" y="1842"/>
                <a:ext cx="288"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CN" sz="3200" b="1" dirty="0" smtClean="0"/>
                  <a:t>N</a:t>
                </a:r>
                <a:endParaRPr kumimoji="0" lang="en-US" altLang="zh-TW" sz="3200" b="1" dirty="0"/>
              </a:p>
            </p:txBody>
          </p:sp>
          <p:sp>
            <p:nvSpPr>
              <p:cNvPr id="85"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86" name="Rectangle 20"/>
              <p:cNvSpPr>
                <a:spLocks noChangeArrowheads="1"/>
              </p:cNvSpPr>
              <p:nvPr/>
            </p:nvSpPr>
            <p:spPr bwMode="auto">
              <a:xfrm>
                <a:off x="4348" y="2086"/>
                <a:ext cx="117" cy="233"/>
              </a:xfrm>
              <a:prstGeom prst="rect">
                <a:avLst/>
              </a:prstGeom>
              <a:noFill/>
              <a:ln w="9525">
                <a:noFill/>
                <a:miter lim="800000"/>
                <a:headEnd/>
                <a:tailEnd/>
              </a:ln>
              <a:effectLst/>
            </p:spPr>
            <p:txBody>
              <a:bodyPr wrap="none" lIns="92075" tIns="46038" rIns="92075" bIns="46038">
                <a:spAutoFit/>
              </a:bodyPr>
              <a:lstStyle/>
              <a:p>
                <a:pPr eaLnBrk="0" hangingPunct="0"/>
                <a:endParaRPr kumimoji="0" lang="en-US" altLang="zh-TW" dirty="0">
                  <a:latin typeface="Symbol" pitchFamily="18" charset="2"/>
                </a:endParaRPr>
              </a:p>
            </p:txBody>
          </p:sp>
          <p:sp>
            <p:nvSpPr>
              <p:cNvPr id="87" name="Rectangle 21"/>
              <p:cNvSpPr>
                <a:spLocks noChangeArrowheads="1"/>
              </p:cNvSpPr>
              <p:nvPr/>
            </p:nvSpPr>
            <p:spPr bwMode="auto">
              <a:xfrm rot="16200000">
                <a:off x="4069" y="1885"/>
                <a:ext cx="390"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 </a:t>
                </a:r>
                <a:endParaRPr kumimoji="0" lang="en-US" altLang="zh-TW" dirty="0">
                  <a:solidFill>
                    <a:srgbClr val="FF00FF"/>
                  </a:solidFill>
                  <a:latin typeface="Symbol" pitchFamily="18" charset="2"/>
                </a:endParaRPr>
              </a:p>
            </p:txBody>
          </p:sp>
          <p:sp>
            <p:nvSpPr>
              <p:cNvPr id="88" name="Rectangle 22"/>
              <p:cNvSpPr>
                <a:spLocks noChangeArrowheads="1"/>
              </p:cNvSpPr>
              <p:nvPr/>
            </p:nvSpPr>
            <p:spPr bwMode="auto">
              <a:xfrm rot="16200000">
                <a:off x="4260" y="1903"/>
                <a:ext cx="117" cy="233"/>
              </a:xfrm>
              <a:prstGeom prst="rect">
                <a:avLst/>
              </a:prstGeom>
              <a:noFill/>
              <a:ln w="9525">
                <a:noFill/>
                <a:miter lim="800000"/>
                <a:headEnd/>
                <a:tailEnd/>
              </a:ln>
              <a:effectLst/>
            </p:spPr>
            <p:txBody>
              <a:bodyPr wrap="none" lIns="92075" tIns="46038" rIns="92075" bIns="46038">
                <a:spAutoFit/>
              </a:bodyPr>
              <a:lstStyle/>
              <a:p>
                <a:pPr eaLnBrk="0" hangingPunct="0"/>
                <a:endParaRPr kumimoji="0" lang="en-US" altLang="zh-TW" dirty="0">
                  <a:latin typeface="Symbol" pitchFamily="18" charset="2"/>
                </a:endParaRPr>
              </a:p>
            </p:txBody>
          </p:sp>
        </p:grpSp>
      </p:grpSp>
      <p:grpSp>
        <p:nvGrpSpPr>
          <p:cNvPr id="89" name="Group 88"/>
          <p:cNvGrpSpPr>
            <a:grpSpLocks/>
          </p:cNvGrpSpPr>
          <p:nvPr/>
        </p:nvGrpSpPr>
        <p:grpSpPr bwMode="auto">
          <a:xfrm>
            <a:off x="5575298" y="2286000"/>
            <a:ext cx="1816102" cy="938213"/>
            <a:chOff x="2774" y="1728"/>
            <a:chExt cx="1144" cy="591"/>
          </a:xfrm>
        </p:grpSpPr>
        <p:sp>
          <p:nvSpPr>
            <p:cNvPr id="90"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91" name="Group 43"/>
            <p:cNvGrpSpPr>
              <a:grpSpLocks/>
            </p:cNvGrpSpPr>
            <p:nvPr/>
          </p:nvGrpSpPr>
          <p:grpSpPr bwMode="auto">
            <a:xfrm>
              <a:off x="3356" y="1728"/>
              <a:ext cx="562" cy="591"/>
              <a:chOff x="4202" y="1728"/>
              <a:chExt cx="562" cy="591"/>
            </a:xfrm>
          </p:grpSpPr>
          <p:sp>
            <p:nvSpPr>
              <p:cNvPr id="92" name="Rectangle 18"/>
              <p:cNvSpPr>
                <a:spLocks noChangeArrowheads="1"/>
              </p:cNvSpPr>
              <p:nvPr/>
            </p:nvSpPr>
            <p:spPr bwMode="auto">
              <a:xfrm>
                <a:off x="4326" y="1842"/>
                <a:ext cx="288"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CN" sz="3200" b="1" dirty="0" smtClean="0"/>
                  <a:t>N</a:t>
                </a:r>
                <a:endParaRPr kumimoji="0" lang="en-US" altLang="zh-TW" sz="3200" b="1" dirty="0"/>
              </a:p>
            </p:txBody>
          </p:sp>
          <p:sp>
            <p:nvSpPr>
              <p:cNvPr id="93"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94" name="Rectangle 20"/>
              <p:cNvSpPr>
                <a:spLocks noChangeArrowheads="1"/>
              </p:cNvSpPr>
              <p:nvPr/>
            </p:nvSpPr>
            <p:spPr bwMode="auto">
              <a:xfrm>
                <a:off x="4348" y="2086"/>
                <a:ext cx="220"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 ·</a:t>
                </a:r>
                <a:endParaRPr kumimoji="0" lang="en-US" altLang="zh-TW" dirty="0">
                  <a:latin typeface="Symbol" pitchFamily="18" charset="2"/>
                </a:endParaRPr>
              </a:p>
            </p:txBody>
          </p:sp>
          <p:sp>
            <p:nvSpPr>
              <p:cNvPr id="95" name="Rectangle 21"/>
              <p:cNvSpPr>
                <a:spLocks noChangeArrowheads="1"/>
              </p:cNvSpPr>
              <p:nvPr/>
            </p:nvSpPr>
            <p:spPr bwMode="auto">
              <a:xfrm rot="16200000">
                <a:off x="4520" y="1885"/>
                <a:ext cx="256"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 </a:t>
                </a:r>
                <a:endParaRPr kumimoji="0" lang="en-US" altLang="zh-TW" dirty="0">
                  <a:solidFill>
                    <a:srgbClr val="FF00FF"/>
                  </a:solidFill>
                  <a:latin typeface="Symbol" pitchFamily="18" charset="2"/>
                </a:endParaRPr>
              </a:p>
            </p:txBody>
          </p:sp>
          <p:sp>
            <p:nvSpPr>
              <p:cNvPr id="96" name="Rectangle 22"/>
              <p:cNvSpPr>
                <a:spLocks noChangeArrowheads="1"/>
              </p:cNvSpPr>
              <p:nvPr/>
            </p:nvSpPr>
            <p:spPr bwMode="auto">
              <a:xfrm rot="16200000">
                <a:off x="4227" y="1903"/>
                <a:ext cx="184"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a:t>
                </a:r>
                <a:endParaRPr kumimoji="0" lang="en-US" altLang="zh-TW" dirty="0">
                  <a:latin typeface="Symbol" pitchFamily="18" charset="2"/>
                </a:endParaRPr>
              </a:p>
            </p:txBody>
          </p:sp>
        </p:grpSp>
      </p:grpSp>
      <p:grpSp>
        <p:nvGrpSpPr>
          <p:cNvPr id="97" name="Group 96"/>
          <p:cNvGrpSpPr>
            <a:grpSpLocks/>
          </p:cNvGrpSpPr>
          <p:nvPr/>
        </p:nvGrpSpPr>
        <p:grpSpPr bwMode="auto">
          <a:xfrm>
            <a:off x="4953001" y="2438400"/>
            <a:ext cx="1752604" cy="606425"/>
            <a:chOff x="2774" y="1829"/>
            <a:chExt cx="1104" cy="382"/>
          </a:xfrm>
        </p:grpSpPr>
        <p:sp>
          <p:nvSpPr>
            <p:cNvPr id="98"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99" name="Group 43"/>
            <p:cNvGrpSpPr>
              <a:grpSpLocks/>
            </p:cNvGrpSpPr>
            <p:nvPr/>
          </p:nvGrpSpPr>
          <p:grpSpPr bwMode="auto">
            <a:xfrm>
              <a:off x="3480" y="1842"/>
              <a:ext cx="398" cy="369"/>
              <a:chOff x="4326" y="1842"/>
              <a:chExt cx="398" cy="369"/>
            </a:xfrm>
          </p:grpSpPr>
          <p:sp>
            <p:nvSpPr>
              <p:cNvPr id="100" name="Rectangle 18"/>
              <p:cNvSpPr>
                <a:spLocks noChangeArrowheads="1"/>
              </p:cNvSpPr>
              <p:nvPr/>
            </p:nvSpPr>
            <p:spPr bwMode="auto">
              <a:xfrm>
                <a:off x="4326" y="1842"/>
                <a:ext cx="281"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solidFill>
                      <a:schemeClr val="bg1"/>
                    </a:solidFill>
                  </a:rPr>
                  <a:t>H</a:t>
                </a:r>
                <a:endParaRPr kumimoji="0" lang="en-US" altLang="zh-TW" sz="3200" b="1" dirty="0">
                  <a:solidFill>
                    <a:schemeClr val="bg1"/>
                  </a:solidFill>
                </a:endParaRPr>
              </a:p>
            </p:txBody>
          </p:sp>
          <p:sp>
            <p:nvSpPr>
              <p:cNvPr id="101" name="Rectangle 21"/>
              <p:cNvSpPr>
                <a:spLocks noChangeArrowheads="1"/>
              </p:cNvSpPr>
              <p:nvPr/>
            </p:nvSpPr>
            <p:spPr bwMode="auto">
              <a:xfrm rot="16200000">
                <a:off x="4461" y="1885"/>
                <a:ext cx="293"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solidFill>
                      <a:schemeClr val="bg1"/>
                    </a:solidFill>
                    <a:latin typeface="Symbol" pitchFamily="18" charset="2"/>
                  </a:rPr>
                  <a:t> · </a:t>
                </a:r>
                <a:r>
                  <a:rPr kumimoji="0" lang="en-US" altLang="zh-TW" dirty="0" smtClean="0">
                    <a:solidFill>
                      <a:srgbClr val="C00000"/>
                    </a:solidFill>
                    <a:latin typeface="Symbol" pitchFamily="18" charset="2"/>
                  </a:rPr>
                  <a:t> </a:t>
                </a:r>
                <a:endParaRPr kumimoji="0" lang="en-US" altLang="zh-TW" dirty="0">
                  <a:solidFill>
                    <a:srgbClr val="C00000"/>
                  </a:solidFill>
                  <a:latin typeface="Symbol" pitchFamily="18" charset="2"/>
                </a:endParaRPr>
              </a:p>
            </p:txBody>
          </p:sp>
        </p:grpSp>
      </p:grpSp>
      <p:grpSp>
        <p:nvGrpSpPr>
          <p:cNvPr id="102" name="Group 101"/>
          <p:cNvGrpSpPr>
            <a:grpSpLocks/>
          </p:cNvGrpSpPr>
          <p:nvPr/>
        </p:nvGrpSpPr>
        <p:grpSpPr bwMode="auto">
          <a:xfrm>
            <a:off x="6248398" y="2438400"/>
            <a:ext cx="1566865" cy="606425"/>
            <a:chOff x="2774" y="1829"/>
            <a:chExt cx="987" cy="382"/>
          </a:xfrm>
        </p:grpSpPr>
        <p:sp>
          <p:nvSpPr>
            <p:cNvPr id="103"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04" name="Group 43"/>
            <p:cNvGrpSpPr>
              <a:grpSpLocks/>
            </p:cNvGrpSpPr>
            <p:nvPr/>
          </p:nvGrpSpPr>
          <p:grpSpPr bwMode="auto">
            <a:xfrm>
              <a:off x="3357" y="1842"/>
              <a:ext cx="404" cy="369"/>
              <a:chOff x="4203" y="1842"/>
              <a:chExt cx="404" cy="369"/>
            </a:xfrm>
          </p:grpSpPr>
          <p:sp>
            <p:nvSpPr>
              <p:cNvPr id="105" name="Rectangle 18"/>
              <p:cNvSpPr>
                <a:spLocks noChangeArrowheads="1"/>
              </p:cNvSpPr>
              <p:nvPr/>
            </p:nvSpPr>
            <p:spPr bwMode="auto">
              <a:xfrm>
                <a:off x="4326" y="1842"/>
                <a:ext cx="281"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solidFill>
                      <a:schemeClr val="bg1"/>
                    </a:solidFill>
                  </a:rPr>
                  <a:t>H</a:t>
                </a:r>
                <a:endParaRPr kumimoji="0" lang="en-US" altLang="zh-TW" sz="3200" b="1" dirty="0">
                  <a:solidFill>
                    <a:schemeClr val="bg1"/>
                  </a:solidFill>
                </a:endParaRPr>
              </a:p>
            </p:txBody>
          </p:sp>
          <p:sp>
            <p:nvSpPr>
              <p:cNvPr id="106" name="Rectangle 21"/>
              <p:cNvSpPr>
                <a:spLocks noChangeArrowheads="1"/>
              </p:cNvSpPr>
              <p:nvPr/>
            </p:nvSpPr>
            <p:spPr bwMode="auto">
              <a:xfrm rot="16200000">
                <a:off x="4173" y="1872"/>
                <a:ext cx="293"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solidFill>
                      <a:schemeClr val="bg1"/>
                    </a:solidFill>
                    <a:latin typeface="Symbol" pitchFamily="18" charset="2"/>
                  </a:rPr>
                  <a:t> · </a:t>
                </a:r>
                <a:r>
                  <a:rPr kumimoji="0" lang="en-US" altLang="zh-TW" dirty="0" smtClean="0">
                    <a:solidFill>
                      <a:srgbClr val="C00000"/>
                    </a:solidFill>
                    <a:latin typeface="Symbol" pitchFamily="18" charset="2"/>
                  </a:rPr>
                  <a:t> </a:t>
                </a:r>
                <a:endParaRPr kumimoji="0" lang="en-US" altLang="zh-TW" dirty="0">
                  <a:solidFill>
                    <a:srgbClr val="C00000"/>
                  </a:solidFill>
                  <a:latin typeface="Symbol" pitchFamily="18" charset="2"/>
                </a:endParaRPr>
              </a:p>
            </p:txBody>
          </p:sp>
        </p:grpSp>
      </p:grpSp>
      <p:grpSp>
        <p:nvGrpSpPr>
          <p:cNvPr id="107" name="Group 106"/>
          <p:cNvGrpSpPr>
            <a:grpSpLocks/>
          </p:cNvGrpSpPr>
          <p:nvPr/>
        </p:nvGrpSpPr>
        <p:grpSpPr bwMode="auto">
          <a:xfrm>
            <a:off x="5595935" y="2895600"/>
            <a:ext cx="1566865" cy="838201"/>
            <a:chOff x="2774" y="1683"/>
            <a:chExt cx="987" cy="528"/>
          </a:xfrm>
        </p:grpSpPr>
        <p:sp>
          <p:nvSpPr>
            <p:cNvPr id="108"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09" name="Group 43"/>
            <p:cNvGrpSpPr>
              <a:grpSpLocks/>
            </p:cNvGrpSpPr>
            <p:nvPr/>
          </p:nvGrpSpPr>
          <p:grpSpPr bwMode="auto">
            <a:xfrm>
              <a:off x="3473" y="1683"/>
              <a:ext cx="288" cy="528"/>
              <a:chOff x="4319" y="1683"/>
              <a:chExt cx="288" cy="528"/>
            </a:xfrm>
          </p:grpSpPr>
          <p:sp>
            <p:nvSpPr>
              <p:cNvPr id="110" name="Rectangle 18"/>
              <p:cNvSpPr>
                <a:spLocks noChangeArrowheads="1"/>
              </p:cNvSpPr>
              <p:nvPr/>
            </p:nvSpPr>
            <p:spPr bwMode="auto">
              <a:xfrm>
                <a:off x="4326" y="1842"/>
                <a:ext cx="281"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solidFill>
                      <a:schemeClr val="bg1"/>
                    </a:solidFill>
                  </a:rPr>
                  <a:t>H</a:t>
                </a:r>
                <a:endParaRPr kumimoji="0" lang="en-US" altLang="zh-TW" sz="3200" b="1" dirty="0">
                  <a:solidFill>
                    <a:schemeClr val="bg1"/>
                  </a:solidFill>
                </a:endParaRPr>
              </a:p>
            </p:txBody>
          </p:sp>
          <p:sp>
            <p:nvSpPr>
              <p:cNvPr id="111" name="Rectangle 21"/>
              <p:cNvSpPr>
                <a:spLocks noChangeArrowheads="1"/>
              </p:cNvSpPr>
              <p:nvPr/>
            </p:nvSpPr>
            <p:spPr bwMode="auto">
              <a:xfrm rot="16200000">
                <a:off x="4289" y="1713"/>
                <a:ext cx="293" cy="233"/>
              </a:xfrm>
              <a:prstGeom prst="rect">
                <a:avLst/>
              </a:prstGeom>
              <a:noFill/>
              <a:ln w="9525">
                <a:noFill/>
                <a:miter lim="800000"/>
                <a:headEnd/>
                <a:tailEnd/>
              </a:ln>
              <a:effectLst/>
            </p:spPr>
            <p:txBody>
              <a:bodyPr wrap="square" lIns="92075" tIns="46038" rIns="92075" bIns="46038">
                <a:spAutoFit/>
              </a:bodyPr>
              <a:lstStyle/>
              <a:p>
                <a:pPr eaLnBrk="0" hangingPunct="0"/>
                <a:r>
                  <a:rPr kumimoji="0" lang="en-US" altLang="zh-TW" dirty="0" smtClean="0">
                    <a:solidFill>
                      <a:schemeClr val="bg1"/>
                    </a:solidFill>
                    <a:latin typeface="Symbol" pitchFamily="18" charset="2"/>
                  </a:rPr>
                  <a:t> · </a:t>
                </a:r>
                <a:r>
                  <a:rPr kumimoji="0" lang="en-US" altLang="zh-TW" dirty="0" smtClean="0">
                    <a:solidFill>
                      <a:srgbClr val="C00000"/>
                    </a:solidFill>
                    <a:latin typeface="Symbol" pitchFamily="18" charset="2"/>
                  </a:rPr>
                  <a:t> </a:t>
                </a:r>
                <a:endParaRPr kumimoji="0" lang="en-US" altLang="zh-TW" dirty="0">
                  <a:solidFill>
                    <a:srgbClr val="C00000"/>
                  </a:solidFill>
                  <a:latin typeface="Symbol" pitchFamily="18" charset="2"/>
                </a:endParaRPr>
              </a:p>
            </p:txBody>
          </p:sp>
        </p:grpSp>
      </p:grpSp>
      <p:grpSp>
        <p:nvGrpSpPr>
          <p:cNvPr id="120" name="Group 119"/>
          <p:cNvGrpSpPr>
            <a:grpSpLocks/>
          </p:cNvGrpSpPr>
          <p:nvPr/>
        </p:nvGrpSpPr>
        <p:grpSpPr bwMode="auto">
          <a:xfrm>
            <a:off x="5610223" y="3733800"/>
            <a:ext cx="1693866" cy="606425"/>
            <a:chOff x="2774" y="1829"/>
            <a:chExt cx="1067" cy="382"/>
          </a:xfrm>
        </p:grpSpPr>
        <p:sp>
          <p:nvSpPr>
            <p:cNvPr id="121"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22" name="Group 43"/>
            <p:cNvGrpSpPr>
              <a:grpSpLocks/>
            </p:cNvGrpSpPr>
            <p:nvPr/>
          </p:nvGrpSpPr>
          <p:grpSpPr bwMode="auto">
            <a:xfrm>
              <a:off x="3362" y="1842"/>
              <a:ext cx="479" cy="369"/>
              <a:chOff x="4208" y="1842"/>
              <a:chExt cx="479" cy="369"/>
            </a:xfrm>
          </p:grpSpPr>
          <p:sp>
            <p:nvSpPr>
              <p:cNvPr id="123" name="Rectangle 18"/>
              <p:cNvSpPr>
                <a:spLocks noChangeArrowheads="1"/>
              </p:cNvSpPr>
              <p:nvPr/>
            </p:nvSpPr>
            <p:spPr bwMode="auto">
              <a:xfrm>
                <a:off x="4326" y="1842"/>
                <a:ext cx="254"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b="1" dirty="0" smtClean="0">
                    <a:solidFill>
                      <a:schemeClr val="bg1"/>
                    </a:solidFill>
                  </a:rPr>
                  <a:t>C</a:t>
                </a:r>
                <a:endParaRPr kumimoji="0" lang="en-US" altLang="zh-TW" sz="3200" b="1" dirty="0">
                  <a:solidFill>
                    <a:schemeClr val="bg1"/>
                  </a:solidFill>
                </a:endParaRPr>
              </a:p>
            </p:txBody>
          </p:sp>
          <p:sp>
            <p:nvSpPr>
              <p:cNvPr id="126" name="Rectangle 21"/>
              <p:cNvSpPr>
                <a:spLocks noChangeArrowheads="1"/>
              </p:cNvSpPr>
              <p:nvPr/>
            </p:nvSpPr>
            <p:spPr bwMode="auto">
              <a:xfrm rot="16200000">
                <a:off x="4427" y="1885"/>
                <a:ext cx="287"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solidFill>
                      <a:schemeClr val="bg1"/>
                    </a:solidFill>
                    <a:latin typeface="Symbol" pitchFamily="18" charset="2"/>
                  </a:rPr>
                  <a:t>··</a:t>
                </a:r>
                <a:r>
                  <a:rPr lang="en-US" altLang="zh-TW" dirty="0" smtClean="0">
                    <a:latin typeface="Symbol" pitchFamily="18" charset="2"/>
                  </a:rPr>
                  <a:t> </a:t>
                </a:r>
                <a:endParaRPr lang="en-US" altLang="zh-TW" dirty="0" smtClean="0">
                  <a:solidFill>
                    <a:srgbClr val="FF00FF"/>
                  </a:solidFill>
                  <a:latin typeface="Symbol" pitchFamily="18" charset="2"/>
                </a:endParaRPr>
              </a:p>
            </p:txBody>
          </p:sp>
          <p:sp>
            <p:nvSpPr>
              <p:cNvPr id="127" name="Rectangle 22"/>
              <p:cNvSpPr>
                <a:spLocks noChangeArrowheads="1"/>
              </p:cNvSpPr>
              <p:nvPr/>
            </p:nvSpPr>
            <p:spPr bwMode="auto">
              <a:xfrm rot="16200000">
                <a:off x="4200" y="1916"/>
                <a:ext cx="250"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solidFill>
                      <a:schemeClr val="bg1"/>
                    </a:solidFill>
                    <a:latin typeface="Symbol" pitchFamily="18" charset="2"/>
                  </a:rPr>
                  <a:t>··</a:t>
                </a:r>
                <a:endParaRPr kumimoji="0" lang="en-US" altLang="zh-TW" dirty="0">
                  <a:solidFill>
                    <a:schemeClr val="bg1"/>
                  </a:solidFill>
                  <a:latin typeface="Symbol" pitchFamily="18" charset="2"/>
                </a:endParaRPr>
              </a:p>
            </p:txBody>
          </p:sp>
        </p:grpSp>
      </p:grpSp>
      <p:grpSp>
        <p:nvGrpSpPr>
          <p:cNvPr id="128" name="Group 127"/>
          <p:cNvGrpSpPr>
            <a:grpSpLocks/>
          </p:cNvGrpSpPr>
          <p:nvPr/>
        </p:nvGrpSpPr>
        <p:grpSpPr bwMode="auto">
          <a:xfrm>
            <a:off x="4965698" y="3581400"/>
            <a:ext cx="1816102" cy="938213"/>
            <a:chOff x="2774" y="1728"/>
            <a:chExt cx="1144" cy="591"/>
          </a:xfrm>
        </p:grpSpPr>
        <p:sp>
          <p:nvSpPr>
            <p:cNvPr id="129"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30" name="Group 43"/>
            <p:cNvGrpSpPr>
              <a:grpSpLocks/>
            </p:cNvGrpSpPr>
            <p:nvPr/>
          </p:nvGrpSpPr>
          <p:grpSpPr bwMode="auto">
            <a:xfrm>
              <a:off x="3356" y="1728"/>
              <a:ext cx="562" cy="591"/>
              <a:chOff x="4202" y="1728"/>
              <a:chExt cx="562" cy="591"/>
            </a:xfrm>
          </p:grpSpPr>
          <p:sp>
            <p:nvSpPr>
              <p:cNvPr id="131" name="Rectangle 18"/>
              <p:cNvSpPr>
                <a:spLocks noChangeArrowheads="1"/>
              </p:cNvSpPr>
              <p:nvPr/>
            </p:nvSpPr>
            <p:spPr bwMode="auto">
              <a:xfrm>
                <a:off x="4326" y="1842"/>
                <a:ext cx="292"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t>O</a:t>
                </a:r>
                <a:endParaRPr kumimoji="0" lang="en-US" altLang="zh-TW" sz="3200" b="1" dirty="0"/>
              </a:p>
            </p:txBody>
          </p:sp>
          <p:sp>
            <p:nvSpPr>
              <p:cNvPr id="132"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133" name="Rectangle 20"/>
              <p:cNvSpPr>
                <a:spLocks noChangeArrowheads="1"/>
              </p:cNvSpPr>
              <p:nvPr/>
            </p:nvSpPr>
            <p:spPr bwMode="auto">
              <a:xfrm>
                <a:off x="4348" y="2086"/>
                <a:ext cx="287"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 ·</a:t>
                </a:r>
                <a:endParaRPr kumimoji="0" lang="en-US" altLang="zh-TW" dirty="0">
                  <a:latin typeface="Symbol" pitchFamily="18" charset="2"/>
                </a:endParaRPr>
              </a:p>
            </p:txBody>
          </p:sp>
          <p:sp>
            <p:nvSpPr>
              <p:cNvPr id="134" name="Rectangle 21"/>
              <p:cNvSpPr>
                <a:spLocks noChangeArrowheads="1"/>
              </p:cNvSpPr>
              <p:nvPr/>
            </p:nvSpPr>
            <p:spPr bwMode="auto">
              <a:xfrm rot="16200000">
                <a:off x="4468" y="1882"/>
                <a:ext cx="359"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  </a:t>
                </a:r>
                <a:endParaRPr kumimoji="0" lang="en-US" altLang="zh-TW" dirty="0">
                  <a:solidFill>
                    <a:srgbClr val="FF00FF"/>
                  </a:solidFill>
                  <a:latin typeface="Symbol" pitchFamily="18" charset="2"/>
                </a:endParaRPr>
              </a:p>
            </p:txBody>
          </p:sp>
          <p:sp>
            <p:nvSpPr>
              <p:cNvPr id="135" name="Rectangle 22"/>
              <p:cNvSpPr>
                <a:spLocks noChangeArrowheads="1"/>
              </p:cNvSpPr>
              <p:nvPr/>
            </p:nvSpPr>
            <p:spPr bwMode="auto">
              <a:xfrm rot="16200000">
                <a:off x="4260" y="1903"/>
                <a:ext cx="117" cy="233"/>
              </a:xfrm>
              <a:prstGeom prst="rect">
                <a:avLst/>
              </a:prstGeom>
              <a:noFill/>
              <a:ln w="9525">
                <a:noFill/>
                <a:miter lim="800000"/>
                <a:headEnd/>
                <a:tailEnd/>
              </a:ln>
              <a:effectLst/>
            </p:spPr>
            <p:txBody>
              <a:bodyPr wrap="none" lIns="92075" tIns="46038" rIns="92075" bIns="46038">
                <a:spAutoFit/>
              </a:bodyPr>
              <a:lstStyle/>
              <a:p>
                <a:pPr eaLnBrk="0" hangingPunct="0"/>
                <a:endParaRPr kumimoji="0" lang="en-US" altLang="zh-TW" dirty="0">
                  <a:latin typeface="Symbol" pitchFamily="18" charset="2"/>
                </a:endParaRPr>
              </a:p>
            </p:txBody>
          </p:sp>
        </p:grpSp>
      </p:grpSp>
      <p:grpSp>
        <p:nvGrpSpPr>
          <p:cNvPr id="136" name="Group 135"/>
          <p:cNvGrpSpPr>
            <a:grpSpLocks/>
          </p:cNvGrpSpPr>
          <p:nvPr/>
        </p:nvGrpSpPr>
        <p:grpSpPr bwMode="auto">
          <a:xfrm>
            <a:off x="6172200" y="3581400"/>
            <a:ext cx="1816102" cy="935038"/>
            <a:chOff x="2774" y="1728"/>
            <a:chExt cx="1144" cy="589"/>
          </a:xfrm>
        </p:grpSpPr>
        <p:sp>
          <p:nvSpPr>
            <p:cNvPr id="137"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38" name="Group 43"/>
            <p:cNvGrpSpPr>
              <a:grpSpLocks/>
            </p:cNvGrpSpPr>
            <p:nvPr/>
          </p:nvGrpSpPr>
          <p:grpSpPr bwMode="auto">
            <a:xfrm>
              <a:off x="3350" y="1728"/>
              <a:ext cx="568" cy="589"/>
              <a:chOff x="4196" y="1728"/>
              <a:chExt cx="568" cy="589"/>
            </a:xfrm>
          </p:grpSpPr>
          <p:sp>
            <p:nvSpPr>
              <p:cNvPr id="139" name="Rectangle 18"/>
              <p:cNvSpPr>
                <a:spLocks noChangeArrowheads="1"/>
              </p:cNvSpPr>
              <p:nvPr/>
            </p:nvSpPr>
            <p:spPr bwMode="auto">
              <a:xfrm>
                <a:off x="4326" y="1842"/>
                <a:ext cx="292"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t>O</a:t>
                </a:r>
                <a:endParaRPr kumimoji="0" lang="en-US" altLang="zh-TW" sz="3200" b="1" dirty="0"/>
              </a:p>
            </p:txBody>
          </p:sp>
          <p:sp>
            <p:nvSpPr>
              <p:cNvPr id="140"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a:latin typeface="Symbol" pitchFamily="18" charset="2"/>
                  </a:rPr>
                  <a:t>· ·</a:t>
                </a:r>
              </a:p>
            </p:txBody>
          </p:sp>
          <p:sp>
            <p:nvSpPr>
              <p:cNvPr id="141"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 ·</a:t>
                </a:r>
                <a:endParaRPr kumimoji="0" lang="en-US" altLang="zh-TW" dirty="0">
                  <a:latin typeface="Symbol" pitchFamily="18" charset="2"/>
                </a:endParaRPr>
              </a:p>
            </p:txBody>
          </p:sp>
          <p:sp>
            <p:nvSpPr>
              <p:cNvPr id="142" name="Rectangle 21"/>
              <p:cNvSpPr>
                <a:spLocks noChangeArrowheads="1"/>
              </p:cNvSpPr>
              <p:nvPr/>
            </p:nvSpPr>
            <p:spPr bwMode="auto">
              <a:xfrm rot="16200000">
                <a:off x="4553" y="1885"/>
                <a:ext cx="190"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a:t>
                </a:r>
                <a:endParaRPr kumimoji="0" lang="en-US" altLang="zh-TW" dirty="0">
                  <a:solidFill>
                    <a:srgbClr val="FF00FF"/>
                  </a:solidFill>
                  <a:latin typeface="Symbol" pitchFamily="18" charset="2"/>
                </a:endParaRPr>
              </a:p>
            </p:txBody>
          </p:sp>
          <p:sp>
            <p:nvSpPr>
              <p:cNvPr id="143" name="Rectangle 22"/>
              <p:cNvSpPr>
                <a:spLocks noChangeArrowheads="1"/>
              </p:cNvSpPr>
              <p:nvPr/>
            </p:nvSpPr>
            <p:spPr bwMode="auto">
              <a:xfrm rot="16200000">
                <a:off x="4275" y="1816"/>
                <a:ext cx="250" cy="408"/>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a:t>
                </a:r>
              </a:p>
              <a:p>
                <a:pPr eaLnBrk="0" hangingPunct="0"/>
                <a:endParaRPr lang="en-US" altLang="zh-TW" dirty="0">
                  <a:latin typeface="Symbol" pitchFamily="18" charset="2"/>
                </a:endParaRPr>
              </a:p>
            </p:txBody>
          </p:sp>
        </p:grpSp>
      </p:grpSp>
      <p:grpSp>
        <p:nvGrpSpPr>
          <p:cNvPr id="144" name="Group 143"/>
          <p:cNvGrpSpPr>
            <a:grpSpLocks/>
          </p:cNvGrpSpPr>
          <p:nvPr/>
        </p:nvGrpSpPr>
        <p:grpSpPr bwMode="auto">
          <a:xfrm>
            <a:off x="5651498" y="5005387"/>
            <a:ext cx="1816102" cy="938213"/>
            <a:chOff x="2774" y="1728"/>
            <a:chExt cx="1144" cy="591"/>
          </a:xfrm>
        </p:grpSpPr>
        <p:sp>
          <p:nvSpPr>
            <p:cNvPr id="145"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46" name="Group 43"/>
            <p:cNvGrpSpPr>
              <a:grpSpLocks/>
            </p:cNvGrpSpPr>
            <p:nvPr/>
          </p:nvGrpSpPr>
          <p:grpSpPr bwMode="auto">
            <a:xfrm>
              <a:off x="3356" y="1728"/>
              <a:ext cx="562" cy="591"/>
              <a:chOff x="4202" y="1728"/>
              <a:chExt cx="562" cy="591"/>
            </a:xfrm>
          </p:grpSpPr>
          <p:sp>
            <p:nvSpPr>
              <p:cNvPr id="147" name="Rectangle 18"/>
              <p:cNvSpPr>
                <a:spLocks noChangeArrowheads="1"/>
              </p:cNvSpPr>
              <p:nvPr/>
            </p:nvSpPr>
            <p:spPr bwMode="auto">
              <a:xfrm>
                <a:off x="4326" y="1842"/>
                <a:ext cx="254"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CN" sz="3200" b="1" dirty="0" smtClean="0"/>
                  <a:t>C</a:t>
                </a:r>
                <a:endParaRPr kumimoji="0" lang="en-US" altLang="zh-TW" sz="3200" b="1" dirty="0"/>
              </a:p>
            </p:txBody>
          </p:sp>
          <p:sp>
            <p:nvSpPr>
              <p:cNvPr id="148" name="Rectangle 19"/>
              <p:cNvSpPr>
                <a:spLocks noChangeArrowheads="1"/>
              </p:cNvSpPr>
              <p:nvPr/>
            </p:nvSpPr>
            <p:spPr bwMode="auto">
              <a:xfrm>
                <a:off x="4348" y="1728"/>
                <a:ext cx="220"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a:t>
                </a:r>
                <a:r>
                  <a:rPr kumimoji="0" lang="en-US" altLang="zh-TW" dirty="0" smtClean="0">
                    <a:latin typeface="Symbol" pitchFamily="18" charset="2"/>
                  </a:rPr>
                  <a:t>·</a:t>
                </a:r>
                <a:endParaRPr kumimoji="0" lang="en-US" altLang="zh-TW" dirty="0">
                  <a:latin typeface="Symbol" pitchFamily="18" charset="2"/>
                </a:endParaRPr>
              </a:p>
            </p:txBody>
          </p:sp>
          <p:sp>
            <p:nvSpPr>
              <p:cNvPr id="149" name="Rectangle 20"/>
              <p:cNvSpPr>
                <a:spLocks noChangeArrowheads="1"/>
              </p:cNvSpPr>
              <p:nvPr/>
            </p:nvSpPr>
            <p:spPr bwMode="auto">
              <a:xfrm>
                <a:off x="4348" y="2086"/>
                <a:ext cx="220"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 ·</a:t>
                </a:r>
                <a:endParaRPr kumimoji="0" lang="en-US" altLang="zh-TW" dirty="0">
                  <a:latin typeface="Symbol" pitchFamily="18" charset="2"/>
                </a:endParaRPr>
              </a:p>
            </p:txBody>
          </p:sp>
          <p:sp>
            <p:nvSpPr>
              <p:cNvPr id="150" name="Rectangle 21"/>
              <p:cNvSpPr>
                <a:spLocks noChangeArrowheads="1"/>
              </p:cNvSpPr>
              <p:nvPr/>
            </p:nvSpPr>
            <p:spPr bwMode="auto">
              <a:xfrm rot="16200000">
                <a:off x="4520" y="1885"/>
                <a:ext cx="256"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 </a:t>
                </a:r>
                <a:endParaRPr kumimoji="0" lang="en-US" altLang="zh-TW" dirty="0">
                  <a:solidFill>
                    <a:srgbClr val="FF00FF"/>
                  </a:solidFill>
                  <a:latin typeface="Symbol" pitchFamily="18" charset="2"/>
                </a:endParaRPr>
              </a:p>
            </p:txBody>
          </p:sp>
          <p:sp>
            <p:nvSpPr>
              <p:cNvPr id="151" name="Rectangle 22"/>
              <p:cNvSpPr>
                <a:spLocks noChangeArrowheads="1"/>
              </p:cNvSpPr>
              <p:nvPr/>
            </p:nvSpPr>
            <p:spPr bwMode="auto">
              <a:xfrm rot="16200000">
                <a:off x="4227" y="1903"/>
                <a:ext cx="184"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a:t>
                </a:r>
                <a:endParaRPr kumimoji="0" lang="en-US" altLang="zh-TW" dirty="0">
                  <a:latin typeface="Symbol" pitchFamily="18" charset="2"/>
                </a:endParaRPr>
              </a:p>
            </p:txBody>
          </p:sp>
        </p:grpSp>
      </p:grpSp>
      <p:grpSp>
        <p:nvGrpSpPr>
          <p:cNvPr id="152" name="Group 151"/>
          <p:cNvGrpSpPr>
            <a:grpSpLocks/>
          </p:cNvGrpSpPr>
          <p:nvPr/>
        </p:nvGrpSpPr>
        <p:grpSpPr bwMode="auto">
          <a:xfrm>
            <a:off x="5029195" y="5184775"/>
            <a:ext cx="1751016" cy="606425"/>
            <a:chOff x="2774" y="1829"/>
            <a:chExt cx="1103" cy="382"/>
          </a:xfrm>
        </p:grpSpPr>
        <p:sp>
          <p:nvSpPr>
            <p:cNvPr id="153"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54" name="Group 43"/>
            <p:cNvGrpSpPr>
              <a:grpSpLocks/>
            </p:cNvGrpSpPr>
            <p:nvPr/>
          </p:nvGrpSpPr>
          <p:grpSpPr bwMode="auto">
            <a:xfrm>
              <a:off x="3480" y="1842"/>
              <a:ext cx="397" cy="369"/>
              <a:chOff x="4326" y="1842"/>
              <a:chExt cx="397" cy="369"/>
            </a:xfrm>
          </p:grpSpPr>
          <p:sp>
            <p:nvSpPr>
              <p:cNvPr id="155" name="Rectangle 18"/>
              <p:cNvSpPr>
                <a:spLocks noChangeArrowheads="1"/>
              </p:cNvSpPr>
              <p:nvPr/>
            </p:nvSpPr>
            <p:spPr bwMode="auto">
              <a:xfrm>
                <a:off x="4326" y="1842"/>
                <a:ext cx="281"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solidFill>
                      <a:schemeClr val="bg1"/>
                    </a:solidFill>
                  </a:rPr>
                  <a:t>H</a:t>
                </a:r>
                <a:endParaRPr kumimoji="0" lang="en-US" altLang="zh-TW" sz="3200" b="1" dirty="0">
                  <a:solidFill>
                    <a:schemeClr val="bg1"/>
                  </a:solidFill>
                </a:endParaRPr>
              </a:p>
            </p:txBody>
          </p:sp>
          <p:sp>
            <p:nvSpPr>
              <p:cNvPr id="156" name="Rectangle 21"/>
              <p:cNvSpPr>
                <a:spLocks noChangeArrowheads="1"/>
              </p:cNvSpPr>
              <p:nvPr/>
            </p:nvSpPr>
            <p:spPr bwMode="auto">
              <a:xfrm rot="16200000">
                <a:off x="4479" y="1885"/>
                <a:ext cx="256"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solidFill>
                      <a:schemeClr val="bg1"/>
                    </a:solidFill>
                    <a:latin typeface="Symbol" pitchFamily="18" charset="2"/>
                  </a:rPr>
                  <a:t> ·</a:t>
                </a:r>
                <a:r>
                  <a:rPr kumimoji="0" lang="en-US" altLang="zh-TW" dirty="0" smtClean="0">
                    <a:solidFill>
                      <a:srgbClr val="C00000"/>
                    </a:solidFill>
                    <a:latin typeface="Symbol" pitchFamily="18" charset="2"/>
                  </a:rPr>
                  <a:t> </a:t>
                </a:r>
                <a:endParaRPr kumimoji="0" lang="en-US" altLang="zh-TW" dirty="0">
                  <a:solidFill>
                    <a:srgbClr val="C00000"/>
                  </a:solidFill>
                  <a:latin typeface="Symbol" pitchFamily="18" charset="2"/>
                </a:endParaRPr>
              </a:p>
            </p:txBody>
          </p:sp>
        </p:grpSp>
      </p:grpSp>
      <p:grpSp>
        <p:nvGrpSpPr>
          <p:cNvPr id="157" name="Group 156"/>
          <p:cNvGrpSpPr>
            <a:grpSpLocks/>
          </p:cNvGrpSpPr>
          <p:nvPr/>
        </p:nvGrpSpPr>
        <p:grpSpPr bwMode="auto">
          <a:xfrm>
            <a:off x="6324600" y="5184775"/>
            <a:ext cx="1566865" cy="606425"/>
            <a:chOff x="2774" y="1829"/>
            <a:chExt cx="987" cy="382"/>
          </a:xfrm>
        </p:grpSpPr>
        <p:sp>
          <p:nvSpPr>
            <p:cNvPr id="158"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59" name="Group 43"/>
            <p:cNvGrpSpPr>
              <a:grpSpLocks/>
            </p:cNvGrpSpPr>
            <p:nvPr/>
          </p:nvGrpSpPr>
          <p:grpSpPr bwMode="auto">
            <a:xfrm>
              <a:off x="3356" y="1842"/>
              <a:ext cx="405" cy="369"/>
              <a:chOff x="4202" y="1842"/>
              <a:chExt cx="405" cy="369"/>
            </a:xfrm>
          </p:grpSpPr>
          <p:sp>
            <p:nvSpPr>
              <p:cNvPr id="160" name="Rectangle 18"/>
              <p:cNvSpPr>
                <a:spLocks noChangeArrowheads="1"/>
              </p:cNvSpPr>
              <p:nvPr/>
            </p:nvSpPr>
            <p:spPr bwMode="auto">
              <a:xfrm>
                <a:off x="4326" y="1842"/>
                <a:ext cx="281"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solidFill>
                      <a:schemeClr val="bg1"/>
                    </a:solidFill>
                  </a:rPr>
                  <a:t>H</a:t>
                </a:r>
                <a:endParaRPr kumimoji="0" lang="en-US" altLang="zh-TW" sz="3200" b="1" dirty="0">
                  <a:solidFill>
                    <a:schemeClr val="bg1"/>
                  </a:solidFill>
                </a:endParaRPr>
              </a:p>
            </p:txBody>
          </p:sp>
          <p:sp>
            <p:nvSpPr>
              <p:cNvPr id="161" name="Rectangle 21"/>
              <p:cNvSpPr>
                <a:spLocks noChangeArrowheads="1"/>
              </p:cNvSpPr>
              <p:nvPr/>
            </p:nvSpPr>
            <p:spPr bwMode="auto">
              <a:xfrm rot="16200000">
                <a:off x="4191" y="1872"/>
                <a:ext cx="256"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solidFill>
                      <a:schemeClr val="bg1"/>
                    </a:solidFill>
                    <a:latin typeface="Symbol" pitchFamily="18" charset="2"/>
                  </a:rPr>
                  <a:t> · </a:t>
                </a:r>
                <a:endParaRPr kumimoji="0" lang="en-US" altLang="zh-TW" dirty="0">
                  <a:solidFill>
                    <a:srgbClr val="C00000"/>
                  </a:solidFill>
                  <a:latin typeface="Symbol" pitchFamily="18" charset="2"/>
                </a:endParaRPr>
              </a:p>
            </p:txBody>
          </p:sp>
        </p:grpSp>
      </p:grpSp>
      <p:grpSp>
        <p:nvGrpSpPr>
          <p:cNvPr id="162" name="Group 161"/>
          <p:cNvGrpSpPr>
            <a:grpSpLocks/>
          </p:cNvGrpSpPr>
          <p:nvPr/>
        </p:nvGrpSpPr>
        <p:grpSpPr bwMode="auto">
          <a:xfrm>
            <a:off x="5638800" y="4495800"/>
            <a:ext cx="1566865" cy="758826"/>
            <a:chOff x="2774" y="1829"/>
            <a:chExt cx="987" cy="478"/>
          </a:xfrm>
        </p:grpSpPr>
        <p:sp>
          <p:nvSpPr>
            <p:cNvPr id="163"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64" name="Group 43"/>
            <p:cNvGrpSpPr>
              <a:grpSpLocks/>
            </p:cNvGrpSpPr>
            <p:nvPr/>
          </p:nvGrpSpPr>
          <p:grpSpPr bwMode="auto">
            <a:xfrm>
              <a:off x="3480" y="1842"/>
              <a:ext cx="281" cy="465"/>
              <a:chOff x="4326" y="1842"/>
              <a:chExt cx="281" cy="465"/>
            </a:xfrm>
          </p:grpSpPr>
          <p:sp>
            <p:nvSpPr>
              <p:cNvPr id="165" name="Rectangle 18"/>
              <p:cNvSpPr>
                <a:spLocks noChangeArrowheads="1"/>
              </p:cNvSpPr>
              <p:nvPr/>
            </p:nvSpPr>
            <p:spPr bwMode="auto">
              <a:xfrm>
                <a:off x="4326" y="1842"/>
                <a:ext cx="281"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solidFill>
                      <a:schemeClr val="bg1"/>
                    </a:solidFill>
                  </a:rPr>
                  <a:t>H</a:t>
                </a:r>
                <a:endParaRPr kumimoji="0" lang="en-US" altLang="zh-TW" sz="3200" b="1" dirty="0">
                  <a:solidFill>
                    <a:schemeClr val="bg1"/>
                  </a:solidFill>
                </a:endParaRPr>
              </a:p>
            </p:txBody>
          </p:sp>
          <p:sp>
            <p:nvSpPr>
              <p:cNvPr id="166" name="Rectangle 21"/>
              <p:cNvSpPr>
                <a:spLocks noChangeArrowheads="1"/>
              </p:cNvSpPr>
              <p:nvPr/>
            </p:nvSpPr>
            <p:spPr bwMode="auto">
              <a:xfrm rot="16200000">
                <a:off x="4310" y="2044"/>
                <a:ext cx="293" cy="233"/>
              </a:xfrm>
              <a:prstGeom prst="rect">
                <a:avLst/>
              </a:prstGeom>
              <a:noFill/>
              <a:ln w="9525">
                <a:noFill/>
                <a:miter lim="800000"/>
                <a:headEnd/>
                <a:tailEnd/>
              </a:ln>
              <a:effectLst/>
            </p:spPr>
            <p:txBody>
              <a:bodyPr wrap="square" lIns="92075" tIns="46038" rIns="92075" bIns="46038">
                <a:spAutoFit/>
              </a:bodyPr>
              <a:lstStyle/>
              <a:p>
                <a:pPr eaLnBrk="0" hangingPunct="0"/>
                <a:r>
                  <a:rPr kumimoji="0" lang="en-US" altLang="zh-TW" dirty="0" smtClean="0">
                    <a:solidFill>
                      <a:schemeClr val="bg1"/>
                    </a:solidFill>
                    <a:latin typeface="Symbol" pitchFamily="18" charset="2"/>
                  </a:rPr>
                  <a:t> · </a:t>
                </a:r>
                <a:r>
                  <a:rPr kumimoji="0" lang="en-US" altLang="zh-TW" dirty="0" smtClean="0">
                    <a:solidFill>
                      <a:srgbClr val="C00000"/>
                    </a:solidFill>
                    <a:latin typeface="Symbol" pitchFamily="18" charset="2"/>
                  </a:rPr>
                  <a:t> </a:t>
                </a:r>
                <a:endParaRPr kumimoji="0" lang="en-US" altLang="zh-TW" dirty="0">
                  <a:solidFill>
                    <a:srgbClr val="C00000"/>
                  </a:solidFill>
                  <a:latin typeface="Symbol" pitchFamily="18" charset="2"/>
                </a:endParaRPr>
              </a:p>
            </p:txBody>
          </p:sp>
        </p:grpSp>
      </p:grpSp>
      <p:grpSp>
        <p:nvGrpSpPr>
          <p:cNvPr id="167" name="Group 166"/>
          <p:cNvGrpSpPr>
            <a:grpSpLocks/>
          </p:cNvGrpSpPr>
          <p:nvPr/>
        </p:nvGrpSpPr>
        <p:grpSpPr bwMode="auto">
          <a:xfrm>
            <a:off x="5672135" y="5638799"/>
            <a:ext cx="1566865" cy="838201"/>
            <a:chOff x="2774" y="1683"/>
            <a:chExt cx="987" cy="528"/>
          </a:xfrm>
        </p:grpSpPr>
        <p:sp>
          <p:nvSpPr>
            <p:cNvPr id="168"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169" name="Group 43"/>
            <p:cNvGrpSpPr>
              <a:grpSpLocks/>
            </p:cNvGrpSpPr>
            <p:nvPr/>
          </p:nvGrpSpPr>
          <p:grpSpPr bwMode="auto">
            <a:xfrm>
              <a:off x="3473" y="1683"/>
              <a:ext cx="288" cy="528"/>
              <a:chOff x="4319" y="1683"/>
              <a:chExt cx="288" cy="528"/>
            </a:xfrm>
          </p:grpSpPr>
          <p:sp>
            <p:nvSpPr>
              <p:cNvPr id="170" name="Rectangle 18"/>
              <p:cNvSpPr>
                <a:spLocks noChangeArrowheads="1"/>
              </p:cNvSpPr>
              <p:nvPr/>
            </p:nvSpPr>
            <p:spPr bwMode="auto">
              <a:xfrm>
                <a:off x="4326" y="1842"/>
                <a:ext cx="281"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solidFill>
                      <a:schemeClr val="bg1"/>
                    </a:solidFill>
                  </a:rPr>
                  <a:t>H</a:t>
                </a:r>
                <a:endParaRPr kumimoji="0" lang="en-US" altLang="zh-TW" sz="3200" b="1" dirty="0">
                  <a:solidFill>
                    <a:schemeClr val="bg1"/>
                  </a:solidFill>
                </a:endParaRPr>
              </a:p>
            </p:txBody>
          </p:sp>
          <p:sp>
            <p:nvSpPr>
              <p:cNvPr id="171" name="Rectangle 21"/>
              <p:cNvSpPr>
                <a:spLocks noChangeArrowheads="1"/>
              </p:cNvSpPr>
              <p:nvPr/>
            </p:nvSpPr>
            <p:spPr bwMode="auto">
              <a:xfrm rot="16200000">
                <a:off x="4289" y="1713"/>
                <a:ext cx="293" cy="233"/>
              </a:xfrm>
              <a:prstGeom prst="rect">
                <a:avLst/>
              </a:prstGeom>
              <a:noFill/>
              <a:ln w="9525">
                <a:noFill/>
                <a:miter lim="800000"/>
                <a:headEnd/>
                <a:tailEnd/>
              </a:ln>
              <a:effectLst/>
            </p:spPr>
            <p:txBody>
              <a:bodyPr wrap="square" lIns="92075" tIns="46038" rIns="92075" bIns="46038">
                <a:spAutoFit/>
              </a:bodyPr>
              <a:lstStyle/>
              <a:p>
                <a:pPr eaLnBrk="0" hangingPunct="0"/>
                <a:r>
                  <a:rPr kumimoji="0" lang="en-US" altLang="zh-TW" dirty="0" smtClean="0">
                    <a:solidFill>
                      <a:schemeClr val="bg1"/>
                    </a:solidFill>
                    <a:latin typeface="Symbol" pitchFamily="18" charset="2"/>
                  </a:rPr>
                  <a:t> · </a:t>
                </a:r>
                <a:r>
                  <a:rPr kumimoji="0" lang="en-US" altLang="zh-TW" dirty="0" smtClean="0">
                    <a:solidFill>
                      <a:srgbClr val="C00000"/>
                    </a:solidFill>
                    <a:latin typeface="Symbol" pitchFamily="18" charset="2"/>
                  </a:rPr>
                  <a:t> </a:t>
                </a:r>
                <a:endParaRPr kumimoji="0" lang="en-US" altLang="zh-TW" dirty="0">
                  <a:solidFill>
                    <a:srgbClr val="C00000"/>
                  </a:solidFill>
                  <a:latin typeface="Symbol" pitchFamily="18" charset="2"/>
                </a:endParaRPr>
              </a:p>
            </p:txBody>
          </p:sp>
        </p:grpSp>
      </p:grpSp>
      <p:sp>
        <p:nvSpPr>
          <p:cNvPr id="175" name="TextBox 174"/>
          <p:cNvSpPr txBox="1"/>
          <p:nvPr/>
        </p:nvSpPr>
        <p:spPr>
          <a:xfrm>
            <a:off x="228600" y="228600"/>
            <a:ext cx="8686800" cy="2723823"/>
          </a:xfrm>
          <a:prstGeom prst="rect">
            <a:avLst/>
          </a:prstGeom>
          <a:solidFill>
            <a:schemeClr val="tx1"/>
          </a:solidFill>
        </p:spPr>
        <p:txBody>
          <a:bodyPr wrap="square" rtlCol="0">
            <a:spAutoFit/>
          </a:bodyPr>
          <a:lstStyle/>
          <a:p>
            <a:pPr>
              <a:lnSpc>
                <a:spcPct val="150000"/>
              </a:lnSpc>
            </a:pPr>
            <a:r>
              <a:rPr lang="zh-CN" altLang="en-US" sz="3800" b="1" dirty="0" smtClean="0">
                <a:solidFill>
                  <a:srgbClr val="002060"/>
                </a:solidFill>
              </a:rPr>
              <a:t>原子形成分子的过程中，</a:t>
            </a:r>
            <a:endParaRPr lang="en-US" altLang="zh-CN" sz="3800" b="1" dirty="0" smtClean="0">
              <a:solidFill>
                <a:srgbClr val="002060"/>
              </a:solidFill>
            </a:endParaRPr>
          </a:p>
          <a:p>
            <a:pPr>
              <a:lnSpc>
                <a:spcPct val="150000"/>
              </a:lnSpc>
            </a:pPr>
            <a:r>
              <a:rPr lang="zh-CN" altLang="en-US" sz="3800" b="1" dirty="0" smtClean="0">
                <a:solidFill>
                  <a:srgbClr val="002060"/>
                </a:solidFill>
              </a:rPr>
              <a:t>一般上都趋于达到稀有气体的稳定结构，</a:t>
            </a:r>
            <a:endParaRPr lang="en-US" altLang="zh-CN" sz="3800" b="1" dirty="0" smtClean="0">
              <a:solidFill>
                <a:srgbClr val="002060"/>
              </a:solidFill>
            </a:endParaRPr>
          </a:p>
          <a:p>
            <a:pPr>
              <a:lnSpc>
                <a:spcPct val="150000"/>
              </a:lnSpc>
            </a:pPr>
            <a:r>
              <a:rPr lang="zh-CN" altLang="en-US" sz="3800" b="1" dirty="0" smtClean="0">
                <a:solidFill>
                  <a:srgbClr val="002060"/>
                </a:solidFill>
              </a:rPr>
              <a:t>即达成八隅体。</a:t>
            </a:r>
            <a:endParaRPr lang="en-US" sz="3800" b="1" dirty="0">
              <a:solidFill>
                <a:srgbClr val="002060"/>
              </a:solidFill>
            </a:endParaRPr>
          </a:p>
        </p:txBody>
      </p:sp>
      <p:sp>
        <p:nvSpPr>
          <p:cNvPr id="172" name="TextBox 171"/>
          <p:cNvSpPr txBox="1"/>
          <p:nvPr/>
        </p:nvSpPr>
        <p:spPr>
          <a:xfrm>
            <a:off x="166172" y="5638800"/>
            <a:ext cx="5929828" cy="1077218"/>
          </a:xfrm>
          <a:prstGeom prst="rect">
            <a:avLst/>
          </a:prstGeom>
          <a:solidFill>
            <a:schemeClr val="tx1"/>
          </a:solidFill>
        </p:spPr>
        <p:txBody>
          <a:bodyPr wrap="none" rtlCol="0">
            <a:spAutoFit/>
          </a:bodyPr>
          <a:lstStyle/>
          <a:p>
            <a:r>
              <a:rPr lang="zh-CN" altLang="en-US" sz="3200" b="1" dirty="0" smtClean="0">
                <a:solidFill>
                  <a:srgbClr val="002060"/>
                </a:solidFill>
                <a:effectLst>
                  <a:outerShdw blurRad="38100" dist="38100" dir="2700000" algn="tl">
                    <a:srgbClr val="000000">
                      <a:alpha val="43137"/>
                    </a:srgbClr>
                  </a:outerShdw>
                </a:effectLst>
              </a:rPr>
              <a:t>氧原子在与其他原子形成双键时</a:t>
            </a:r>
            <a:endParaRPr lang="en-US" altLang="zh-CN" sz="3200" b="1" dirty="0" smtClean="0">
              <a:solidFill>
                <a:srgbClr val="002060"/>
              </a:solidFill>
              <a:effectLst>
                <a:outerShdw blurRad="38100" dist="38100" dir="2700000" algn="tl">
                  <a:srgbClr val="000000">
                    <a:alpha val="43137"/>
                  </a:srgbClr>
                </a:outerShdw>
              </a:effectLst>
            </a:endParaRPr>
          </a:p>
          <a:p>
            <a:r>
              <a:rPr lang="zh-CN" altLang="en-US" sz="3200" b="1" dirty="0" smtClean="0">
                <a:solidFill>
                  <a:srgbClr val="002060"/>
                </a:solidFill>
                <a:effectLst>
                  <a:outerShdw blurRad="38100" dist="38100" dir="2700000" algn="tl">
                    <a:srgbClr val="000000">
                      <a:alpha val="43137"/>
                    </a:srgbClr>
                  </a:outerShdw>
                </a:effectLst>
              </a:rPr>
              <a:t>是用它的两个未成对电子。</a:t>
            </a:r>
            <a:endParaRPr lang="en-US" sz="3200" b="1" dirty="0">
              <a:solidFill>
                <a:srgbClr val="00206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ppt_x"/>
                                          </p:val>
                                        </p:tav>
                                        <p:tav tm="100000">
                                          <p:val>
                                            <p:strVal val="#ppt_x"/>
                                          </p:val>
                                        </p:tav>
                                      </p:tavLst>
                                    </p:anim>
                                    <p:anim calcmode="lin" valueType="num">
                                      <p:cBhvr additive="base">
                                        <p:cTn id="2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anim calcmode="lin" valueType="num">
                                      <p:cBhvr additive="base">
                                        <p:cTn id="31" dur="500" fill="hold"/>
                                        <p:tgtEl>
                                          <p:spTgt spid="49"/>
                                        </p:tgtEl>
                                        <p:attrNameLst>
                                          <p:attrName>ppt_x</p:attrName>
                                        </p:attrNameLst>
                                      </p:cBhvr>
                                      <p:tavLst>
                                        <p:tav tm="0">
                                          <p:val>
                                            <p:strVal val="#ppt_x"/>
                                          </p:val>
                                        </p:tav>
                                        <p:tav tm="100000">
                                          <p:val>
                                            <p:strVal val="#ppt_x"/>
                                          </p:val>
                                        </p:tav>
                                      </p:tavLst>
                                    </p:anim>
                                    <p:anim calcmode="lin" valueType="num">
                                      <p:cBhvr additive="base">
                                        <p:cTn id="3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additive="base">
                                        <p:cTn id="43" dur="500" fill="hold"/>
                                        <p:tgtEl>
                                          <p:spTgt spid="44"/>
                                        </p:tgtEl>
                                        <p:attrNameLst>
                                          <p:attrName>ppt_x</p:attrName>
                                        </p:attrNameLst>
                                      </p:cBhvr>
                                      <p:tavLst>
                                        <p:tav tm="0">
                                          <p:val>
                                            <p:strVal val="#ppt_x"/>
                                          </p:val>
                                        </p:tav>
                                        <p:tav tm="100000">
                                          <p:val>
                                            <p:strVal val="#ppt_x"/>
                                          </p:val>
                                        </p:tav>
                                      </p:tavLst>
                                    </p:anim>
                                    <p:anim calcmode="lin" valueType="num">
                                      <p:cBhvr additive="base">
                                        <p:cTn id="4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7"/>
                                        </p:tgtEl>
                                        <p:attrNameLst>
                                          <p:attrName>style.visibility</p:attrName>
                                        </p:attrNameLst>
                                      </p:cBhvr>
                                      <p:to>
                                        <p:strVal val="visible"/>
                                      </p:to>
                                    </p:set>
                                    <p:anim calcmode="lin" valueType="num">
                                      <p:cBhvr additive="base">
                                        <p:cTn id="49" dur="500" fill="hold"/>
                                        <p:tgtEl>
                                          <p:spTgt spid="57"/>
                                        </p:tgtEl>
                                        <p:attrNameLst>
                                          <p:attrName>ppt_x</p:attrName>
                                        </p:attrNameLst>
                                      </p:cBhvr>
                                      <p:tavLst>
                                        <p:tav tm="0">
                                          <p:val>
                                            <p:strVal val="#ppt_x"/>
                                          </p:val>
                                        </p:tav>
                                        <p:tav tm="100000">
                                          <p:val>
                                            <p:strVal val="#ppt_x"/>
                                          </p:val>
                                        </p:tav>
                                      </p:tavLst>
                                    </p:anim>
                                    <p:anim calcmode="lin" valueType="num">
                                      <p:cBhvr additive="base">
                                        <p:cTn id="50"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5"/>
                                        </p:tgtEl>
                                        <p:attrNameLst>
                                          <p:attrName>style.visibility</p:attrName>
                                        </p:attrNameLst>
                                      </p:cBhvr>
                                      <p:to>
                                        <p:strVal val="visible"/>
                                      </p:to>
                                    </p:set>
                                    <p:anim calcmode="lin" valueType="num">
                                      <p:cBhvr additive="base">
                                        <p:cTn id="55" dur="500" fill="hold"/>
                                        <p:tgtEl>
                                          <p:spTgt spid="65"/>
                                        </p:tgtEl>
                                        <p:attrNameLst>
                                          <p:attrName>ppt_x</p:attrName>
                                        </p:attrNameLst>
                                      </p:cBhvr>
                                      <p:tavLst>
                                        <p:tav tm="0">
                                          <p:val>
                                            <p:strVal val="#ppt_x"/>
                                          </p:val>
                                        </p:tav>
                                        <p:tav tm="100000">
                                          <p:val>
                                            <p:strVal val="#ppt_x"/>
                                          </p:val>
                                        </p:tav>
                                      </p:tavLst>
                                    </p:anim>
                                    <p:anim calcmode="lin" valueType="num">
                                      <p:cBhvr additive="base">
                                        <p:cTn id="56"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72"/>
                                        </p:tgtEl>
                                        <p:attrNameLst>
                                          <p:attrName>style.visibility</p:attrName>
                                        </p:attrNameLst>
                                      </p:cBhvr>
                                      <p:to>
                                        <p:strVal val="visible"/>
                                      </p:to>
                                    </p:set>
                                    <p:anim calcmode="lin" valueType="num">
                                      <p:cBhvr additive="base">
                                        <p:cTn id="61" dur="500" fill="hold"/>
                                        <p:tgtEl>
                                          <p:spTgt spid="172"/>
                                        </p:tgtEl>
                                        <p:attrNameLst>
                                          <p:attrName>ppt_x</p:attrName>
                                        </p:attrNameLst>
                                      </p:cBhvr>
                                      <p:tavLst>
                                        <p:tav tm="0">
                                          <p:val>
                                            <p:strVal val="#ppt_x"/>
                                          </p:val>
                                        </p:tav>
                                        <p:tav tm="100000">
                                          <p:val>
                                            <p:strVal val="#ppt_x"/>
                                          </p:val>
                                        </p:tav>
                                      </p:tavLst>
                                    </p:anim>
                                    <p:anim calcmode="lin" valueType="num">
                                      <p:cBhvr additive="base">
                                        <p:cTn id="62" dur="500" fill="hold"/>
                                        <p:tgtEl>
                                          <p:spTgt spid="172"/>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xit" presetSubtype="4" fill="hold" grpId="1" nodeType="clickEffect">
                                  <p:stCondLst>
                                    <p:cond delay="0"/>
                                  </p:stCondLst>
                                  <p:childTnLst>
                                    <p:anim calcmode="lin" valueType="num">
                                      <p:cBhvr additive="base">
                                        <p:cTn id="66" dur="500"/>
                                        <p:tgtEl>
                                          <p:spTgt spid="172"/>
                                        </p:tgtEl>
                                        <p:attrNameLst>
                                          <p:attrName>ppt_x</p:attrName>
                                        </p:attrNameLst>
                                      </p:cBhvr>
                                      <p:tavLst>
                                        <p:tav tm="0">
                                          <p:val>
                                            <p:strVal val="ppt_x"/>
                                          </p:val>
                                        </p:tav>
                                        <p:tav tm="100000">
                                          <p:val>
                                            <p:strVal val="ppt_x"/>
                                          </p:val>
                                        </p:tav>
                                      </p:tavLst>
                                    </p:anim>
                                    <p:anim calcmode="lin" valueType="num">
                                      <p:cBhvr additive="base">
                                        <p:cTn id="67" dur="500"/>
                                        <p:tgtEl>
                                          <p:spTgt spid="172"/>
                                        </p:tgtEl>
                                        <p:attrNameLst>
                                          <p:attrName>ppt_y</p:attrName>
                                        </p:attrNameLst>
                                      </p:cBhvr>
                                      <p:tavLst>
                                        <p:tav tm="0">
                                          <p:val>
                                            <p:strVal val="ppt_y"/>
                                          </p:val>
                                        </p:tav>
                                        <p:tav tm="100000">
                                          <p:val>
                                            <p:strVal val="1+ppt_h/2"/>
                                          </p:val>
                                        </p:tav>
                                      </p:tavLst>
                                    </p:anim>
                                    <p:set>
                                      <p:cBhvr>
                                        <p:cTn id="68" dur="1" fill="hold">
                                          <p:stCondLst>
                                            <p:cond delay="499"/>
                                          </p:stCondLst>
                                        </p:cTn>
                                        <p:tgtEl>
                                          <p:spTgt spid="172"/>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73"/>
                                        </p:tgtEl>
                                        <p:attrNameLst>
                                          <p:attrName>style.visibility</p:attrName>
                                        </p:attrNameLst>
                                      </p:cBhvr>
                                      <p:to>
                                        <p:strVal val="visible"/>
                                      </p:to>
                                    </p:set>
                                    <p:anim calcmode="lin" valueType="num">
                                      <p:cBhvr additive="base">
                                        <p:cTn id="73" dur="500" fill="hold"/>
                                        <p:tgtEl>
                                          <p:spTgt spid="73"/>
                                        </p:tgtEl>
                                        <p:attrNameLst>
                                          <p:attrName>ppt_x</p:attrName>
                                        </p:attrNameLst>
                                      </p:cBhvr>
                                      <p:tavLst>
                                        <p:tav tm="0">
                                          <p:val>
                                            <p:strVal val="#ppt_x"/>
                                          </p:val>
                                        </p:tav>
                                        <p:tav tm="100000">
                                          <p:val>
                                            <p:strVal val="#ppt_x"/>
                                          </p:val>
                                        </p:tav>
                                      </p:tavLst>
                                    </p:anim>
                                    <p:anim calcmode="lin" valueType="num">
                                      <p:cBhvr additive="base">
                                        <p:cTn id="74"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81"/>
                                        </p:tgtEl>
                                        <p:attrNameLst>
                                          <p:attrName>style.visibility</p:attrName>
                                        </p:attrNameLst>
                                      </p:cBhvr>
                                      <p:to>
                                        <p:strVal val="visible"/>
                                      </p:to>
                                    </p:set>
                                    <p:anim calcmode="lin" valueType="num">
                                      <p:cBhvr additive="base">
                                        <p:cTn id="79" dur="500" fill="hold"/>
                                        <p:tgtEl>
                                          <p:spTgt spid="81"/>
                                        </p:tgtEl>
                                        <p:attrNameLst>
                                          <p:attrName>ppt_x</p:attrName>
                                        </p:attrNameLst>
                                      </p:cBhvr>
                                      <p:tavLst>
                                        <p:tav tm="0">
                                          <p:val>
                                            <p:strVal val="#ppt_x"/>
                                          </p:val>
                                        </p:tav>
                                        <p:tav tm="100000">
                                          <p:val>
                                            <p:strVal val="#ppt_x"/>
                                          </p:val>
                                        </p:tav>
                                      </p:tavLst>
                                    </p:anim>
                                    <p:anim calcmode="lin" valueType="num">
                                      <p:cBhvr additive="base">
                                        <p:cTn id="80"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89"/>
                                        </p:tgtEl>
                                        <p:attrNameLst>
                                          <p:attrName>style.visibility</p:attrName>
                                        </p:attrNameLst>
                                      </p:cBhvr>
                                      <p:to>
                                        <p:strVal val="visible"/>
                                      </p:to>
                                    </p:set>
                                    <p:anim calcmode="lin" valueType="num">
                                      <p:cBhvr additive="base">
                                        <p:cTn id="85" dur="500" fill="hold"/>
                                        <p:tgtEl>
                                          <p:spTgt spid="89"/>
                                        </p:tgtEl>
                                        <p:attrNameLst>
                                          <p:attrName>ppt_x</p:attrName>
                                        </p:attrNameLst>
                                      </p:cBhvr>
                                      <p:tavLst>
                                        <p:tav tm="0">
                                          <p:val>
                                            <p:strVal val="#ppt_x"/>
                                          </p:val>
                                        </p:tav>
                                        <p:tav tm="100000">
                                          <p:val>
                                            <p:strVal val="#ppt_x"/>
                                          </p:val>
                                        </p:tav>
                                      </p:tavLst>
                                    </p:anim>
                                    <p:anim calcmode="lin" valueType="num">
                                      <p:cBhvr additive="base">
                                        <p:cTn id="86" dur="500" fill="hold"/>
                                        <p:tgtEl>
                                          <p:spTgt spid="89"/>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97"/>
                                        </p:tgtEl>
                                        <p:attrNameLst>
                                          <p:attrName>style.visibility</p:attrName>
                                        </p:attrNameLst>
                                      </p:cBhvr>
                                      <p:to>
                                        <p:strVal val="visible"/>
                                      </p:to>
                                    </p:set>
                                    <p:anim calcmode="lin" valueType="num">
                                      <p:cBhvr additive="base">
                                        <p:cTn id="91" dur="500" fill="hold"/>
                                        <p:tgtEl>
                                          <p:spTgt spid="97"/>
                                        </p:tgtEl>
                                        <p:attrNameLst>
                                          <p:attrName>ppt_x</p:attrName>
                                        </p:attrNameLst>
                                      </p:cBhvr>
                                      <p:tavLst>
                                        <p:tav tm="0">
                                          <p:val>
                                            <p:strVal val="#ppt_x"/>
                                          </p:val>
                                        </p:tav>
                                        <p:tav tm="100000">
                                          <p:val>
                                            <p:strVal val="#ppt_x"/>
                                          </p:val>
                                        </p:tav>
                                      </p:tavLst>
                                    </p:anim>
                                    <p:anim calcmode="lin" valueType="num">
                                      <p:cBhvr additive="base">
                                        <p:cTn id="92"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02"/>
                                        </p:tgtEl>
                                        <p:attrNameLst>
                                          <p:attrName>style.visibility</p:attrName>
                                        </p:attrNameLst>
                                      </p:cBhvr>
                                      <p:to>
                                        <p:strVal val="visible"/>
                                      </p:to>
                                    </p:set>
                                    <p:anim calcmode="lin" valueType="num">
                                      <p:cBhvr additive="base">
                                        <p:cTn id="97" dur="500" fill="hold"/>
                                        <p:tgtEl>
                                          <p:spTgt spid="102"/>
                                        </p:tgtEl>
                                        <p:attrNameLst>
                                          <p:attrName>ppt_x</p:attrName>
                                        </p:attrNameLst>
                                      </p:cBhvr>
                                      <p:tavLst>
                                        <p:tav tm="0">
                                          <p:val>
                                            <p:strVal val="#ppt_x"/>
                                          </p:val>
                                        </p:tav>
                                        <p:tav tm="100000">
                                          <p:val>
                                            <p:strVal val="#ppt_x"/>
                                          </p:val>
                                        </p:tav>
                                      </p:tavLst>
                                    </p:anim>
                                    <p:anim calcmode="lin" valueType="num">
                                      <p:cBhvr additive="base">
                                        <p:cTn id="98"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07"/>
                                        </p:tgtEl>
                                        <p:attrNameLst>
                                          <p:attrName>style.visibility</p:attrName>
                                        </p:attrNameLst>
                                      </p:cBhvr>
                                      <p:to>
                                        <p:strVal val="visible"/>
                                      </p:to>
                                    </p:set>
                                    <p:anim calcmode="lin" valueType="num">
                                      <p:cBhvr additive="base">
                                        <p:cTn id="103" dur="500" fill="hold"/>
                                        <p:tgtEl>
                                          <p:spTgt spid="107"/>
                                        </p:tgtEl>
                                        <p:attrNameLst>
                                          <p:attrName>ppt_x</p:attrName>
                                        </p:attrNameLst>
                                      </p:cBhvr>
                                      <p:tavLst>
                                        <p:tav tm="0">
                                          <p:val>
                                            <p:strVal val="#ppt_x"/>
                                          </p:val>
                                        </p:tav>
                                        <p:tav tm="100000">
                                          <p:val>
                                            <p:strVal val="#ppt_x"/>
                                          </p:val>
                                        </p:tav>
                                      </p:tavLst>
                                    </p:anim>
                                    <p:anim calcmode="lin" valueType="num">
                                      <p:cBhvr additive="base">
                                        <p:cTn id="104" dur="500" fill="hold"/>
                                        <p:tgtEl>
                                          <p:spTgt spid="107"/>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120"/>
                                        </p:tgtEl>
                                        <p:attrNameLst>
                                          <p:attrName>style.visibility</p:attrName>
                                        </p:attrNameLst>
                                      </p:cBhvr>
                                      <p:to>
                                        <p:strVal val="visible"/>
                                      </p:to>
                                    </p:set>
                                    <p:anim calcmode="lin" valueType="num">
                                      <p:cBhvr additive="base">
                                        <p:cTn id="109" dur="500" fill="hold"/>
                                        <p:tgtEl>
                                          <p:spTgt spid="120"/>
                                        </p:tgtEl>
                                        <p:attrNameLst>
                                          <p:attrName>ppt_x</p:attrName>
                                        </p:attrNameLst>
                                      </p:cBhvr>
                                      <p:tavLst>
                                        <p:tav tm="0">
                                          <p:val>
                                            <p:strVal val="#ppt_x"/>
                                          </p:val>
                                        </p:tav>
                                        <p:tav tm="100000">
                                          <p:val>
                                            <p:strVal val="#ppt_x"/>
                                          </p:val>
                                        </p:tav>
                                      </p:tavLst>
                                    </p:anim>
                                    <p:anim calcmode="lin" valueType="num">
                                      <p:cBhvr additive="base">
                                        <p:cTn id="110"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128"/>
                                        </p:tgtEl>
                                        <p:attrNameLst>
                                          <p:attrName>style.visibility</p:attrName>
                                        </p:attrNameLst>
                                      </p:cBhvr>
                                      <p:to>
                                        <p:strVal val="visible"/>
                                      </p:to>
                                    </p:set>
                                    <p:anim calcmode="lin" valueType="num">
                                      <p:cBhvr additive="base">
                                        <p:cTn id="115" dur="500" fill="hold"/>
                                        <p:tgtEl>
                                          <p:spTgt spid="128"/>
                                        </p:tgtEl>
                                        <p:attrNameLst>
                                          <p:attrName>ppt_x</p:attrName>
                                        </p:attrNameLst>
                                      </p:cBhvr>
                                      <p:tavLst>
                                        <p:tav tm="0">
                                          <p:val>
                                            <p:strVal val="#ppt_x"/>
                                          </p:val>
                                        </p:tav>
                                        <p:tav tm="100000">
                                          <p:val>
                                            <p:strVal val="#ppt_x"/>
                                          </p:val>
                                        </p:tav>
                                      </p:tavLst>
                                    </p:anim>
                                    <p:anim calcmode="lin" valueType="num">
                                      <p:cBhvr additive="base">
                                        <p:cTn id="116" dur="500" fill="hold"/>
                                        <p:tgtEl>
                                          <p:spTgt spid="128"/>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136"/>
                                        </p:tgtEl>
                                        <p:attrNameLst>
                                          <p:attrName>style.visibility</p:attrName>
                                        </p:attrNameLst>
                                      </p:cBhvr>
                                      <p:to>
                                        <p:strVal val="visible"/>
                                      </p:to>
                                    </p:set>
                                    <p:anim calcmode="lin" valueType="num">
                                      <p:cBhvr additive="base">
                                        <p:cTn id="121" dur="500" fill="hold"/>
                                        <p:tgtEl>
                                          <p:spTgt spid="136"/>
                                        </p:tgtEl>
                                        <p:attrNameLst>
                                          <p:attrName>ppt_x</p:attrName>
                                        </p:attrNameLst>
                                      </p:cBhvr>
                                      <p:tavLst>
                                        <p:tav tm="0">
                                          <p:val>
                                            <p:strVal val="#ppt_x"/>
                                          </p:val>
                                        </p:tav>
                                        <p:tav tm="100000">
                                          <p:val>
                                            <p:strVal val="#ppt_x"/>
                                          </p:val>
                                        </p:tav>
                                      </p:tavLst>
                                    </p:anim>
                                    <p:anim calcmode="lin" valueType="num">
                                      <p:cBhvr additive="base">
                                        <p:cTn id="122" dur="500" fill="hold"/>
                                        <p:tgtEl>
                                          <p:spTgt spid="136"/>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144"/>
                                        </p:tgtEl>
                                        <p:attrNameLst>
                                          <p:attrName>style.visibility</p:attrName>
                                        </p:attrNameLst>
                                      </p:cBhvr>
                                      <p:to>
                                        <p:strVal val="visible"/>
                                      </p:to>
                                    </p:set>
                                    <p:anim calcmode="lin" valueType="num">
                                      <p:cBhvr additive="base">
                                        <p:cTn id="127" dur="500" fill="hold"/>
                                        <p:tgtEl>
                                          <p:spTgt spid="144"/>
                                        </p:tgtEl>
                                        <p:attrNameLst>
                                          <p:attrName>ppt_x</p:attrName>
                                        </p:attrNameLst>
                                      </p:cBhvr>
                                      <p:tavLst>
                                        <p:tav tm="0">
                                          <p:val>
                                            <p:strVal val="#ppt_x"/>
                                          </p:val>
                                        </p:tav>
                                        <p:tav tm="100000">
                                          <p:val>
                                            <p:strVal val="#ppt_x"/>
                                          </p:val>
                                        </p:tav>
                                      </p:tavLst>
                                    </p:anim>
                                    <p:anim calcmode="lin" valueType="num">
                                      <p:cBhvr additive="base">
                                        <p:cTn id="128" dur="500" fill="hold"/>
                                        <p:tgtEl>
                                          <p:spTgt spid="144"/>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152"/>
                                        </p:tgtEl>
                                        <p:attrNameLst>
                                          <p:attrName>style.visibility</p:attrName>
                                        </p:attrNameLst>
                                      </p:cBhvr>
                                      <p:to>
                                        <p:strVal val="visible"/>
                                      </p:to>
                                    </p:set>
                                    <p:anim calcmode="lin" valueType="num">
                                      <p:cBhvr additive="base">
                                        <p:cTn id="133" dur="500" fill="hold"/>
                                        <p:tgtEl>
                                          <p:spTgt spid="152"/>
                                        </p:tgtEl>
                                        <p:attrNameLst>
                                          <p:attrName>ppt_x</p:attrName>
                                        </p:attrNameLst>
                                      </p:cBhvr>
                                      <p:tavLst>
                                        <p:tav tm="0">
                                          <p:val>
                                            <p:strVal val="#ppt_x"/>
                                          </p:val>
                                        </p:tav>
                                        <p:tav tm="100000">
                                          <p:val>
                                            <p:strVal val="#ppt_x"/>
                                          </p:val>
                                        </p:tav>
                                      </p:tavLst>
                                    </p:anim>
                                    <p:anim calcmode="lin" valueType="num">
                                      <p:cBhvr additive="base">
                                        <p:cTn id="134" dur="500" fill="hold"/>
                                        <p:tgtEl>
                                          <p:spTgt spid="152"/>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157"/>
                                        </p:tgtEl>
                                        <p:attrNameLst>
                                          <p:attrName>style.visibility</p:attrName>
                                        </p:attrNameLst>
                                      </p:cBhvr>
                                      <p:to>
                                        <p:strVal val="visible"/>
                                      </p:to>
                                    </p:set>
                                    <p:anim calcmode="lin" valueType="num">
                                      <p:cBhvr additive="base">
                                        <p:cTn id="139" dur="500" fill="hold"/>
                                        <p:tgtEl>
                                          <p:spTgt spid="157"/>
                                        </p:tgtEl>
                                        <p:attrNameLst>
                                          <p:attrName>ppt_x</p:attrName>
                                        </p:attrNameLst>
                                      </p:cBhvr>
                                      <p:tavLst>
                                        <p:tav tm="0">
                                          <p:val>
                                            <p:strVal val="#ppt_x"/>
                                          </p:val>
                                        </p:tav>
                                        <p:tav tm="100000">
                                          <p:val>
                                            <p:strVal val="#ppt_x"/>
                                          </p:val>
                                        </p:tav>
                                      </p:tavLst>
                                    </p:anim>
                                    <p:anim calcmode="lin" valueType="num">
                                      <p:cBhvr additive="base">
                                        <p:cTn id="140" dur="500" fill="hold"/>
                                        <p:tgtEl>
                                          <p:spTgt spid="157"/>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162"/>
                                        </p:tgtEl>
                                        <p:attrNameLst>
                                          <p:attrName>style.visibility</p:attrName>
                                        </p:attrNameLst>
                                      </p:cBhvr>
                                      <p:to>
                                        <p:strVal val="visible"/>
                                      </p:to>
                                    </p:set>
                                    <p:anim calcmode="lin" valueType="num">
                                      <p:cBhvr additive="base">
                                        <p:cTn id="145" dur="500" fill="hold"/>
                                        <p:tgtEl>
                                          <p:spTgt spid="162"/>
                                        </p:tgtEl>
                                        <p:attrNameLst>
                                          <p:attrName>ppt_x</p:attrName>
                                        </p:attrNameLst>
                                      </p:cBhvr>
                                      <p:tavLst>
                                        <p:tav tm="0">
                                          <p:val>
                                            <p:strVal val="#ppt_x"/>
                                          </p:val>
                                        </p:tav>
                                        <p:tav tm="100000">
                                          <p:val>
                                            <p:strVal val="#ppt_x"/>
                                          </p:val>
                                        </p:tav>
                                      </p:tavLst>
                                    </p:anim>
                                    <p:anim calcmode="lin" valueType="num">
                                      <p:cBhvr additive="base">
                                        <p:cTn id="146" dur="500" fill="hold"/>
                                        <p:tgtEl>
                                          <p:spTgt spid="162"/>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167"/>
                                        </p:tgtEl>
                                        <p:attrNameLst>
                                          <p:attrName>style.visibility</p:attrName>
                                        </p:attrNameLst>
                                      </p:cBhvr>
                                      <p:to>
                                        <p:strVal val="visible"/>
                                      </p:to>
                                    </p:set>
                                    <p:anim calcmode="lin" valueType="num">
                                      <p:cBhvr additive="base">
                                        <p:cTn id="151" dur="500" fill="hold"/>
                                        <p:tgtEl>
                                          <p:spTgt spid="167"/>
                                        </p:tgtEl>
                                        <p:attrNameLst>
                                          <p:attrName>ppt_x</p:attrName>
                                        </p:attrNameLst>
                                      </p:cBhvr>
                                      <p:tavLst>
                                        <p:tav tm="0">
                                          <p:val>
                                            <p:strVal val="#ppt_x"/>
                                          </p:val>
                                        </p:tav>
                                        <p:tav tm="100000">
                                          <p:val>
                                            <p:strVal val="#ppt_x"/>
                                          </p:val>
                                        </p:tav>
                                      </p:tavLst>
                                    </p:anim>
                                    <p:anim calcmode="lin" valueType="num">
                                      <p:cBhvr additive="base">
                                        <p:cTn id="152" dur="500" fill="hold"/>
                                        <p:tgtEl>
                                          <p:spTgt spid="167"/>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175"/>
                                        </p:tgtEl>
                                        <p:attrNameLst>
                                          <p:attrName>style.visibility</p:attrName>
                                        </p:attrNameLst>
                                      </p:cBhvr>
                                      <p:to>
                                        <p:strVal val="visible"/>
                                      </p:to>
                                    </p:set>
                                    <p:anim calcmode="lin" valueType="num">
                                      <p:cBhvr additive="base">
                                        <p:cTn id="157" dur="500" fill="hold"/>
                                        <p:tgtEl>
                                          <p:spTgt spid="175"/>
                                        </p:tgtEl>
                                        <p:attrNameLst>
                                          <p:attrName>ppt_x</p:attrName>
                                        </p:attrNameLst>
                                      </p:cBhvr>
                                      <p:tavLst>
                                        <p:tav tm="0">
                                          <p:val>
                                            <p:strVal val="#ppt_x"/>
                                          </p:val>
                                        </p:tav>
                                        <p:tav tm="100000">
                                          <p:val>
                                            <p:strVal val="#ppt_x"/>
                                          </p:val>
                                        </p:tav>
                                      </p:tavLst>
                                    </p:anim>
                                    <p:anim calcmode="lin" valueType="num">
                                      <p:cBhvr additive="base">
                                        <p:cTn id="158" dur="500" fill="hold"/>
                                        <p:tgtEl>
                                          <p:spTgt spid="1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0" animBg="1"/>
      <p:bldP spid="172" grpId="0" animBg="1"/>
      <p:bldP spid="172"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525963"/>
          </a:xfrm>
        </p:spPr>
        <p:txBody>
          <a:bodyPr>
            <a:normAutofit/>
          </a:bodyPr>
          <a:lstStyle/>
          <a:p>
            <a:pPr>
              <a:buNone/>
            </a:pPr>
            <a:r>
              <a:rPr lang="zh-CN" altLang="en-US" sz="4000" dirty="0" smtClean="0"/>
              <a:t>氢氧化钠电子式</a:t>
            </a:r>
            <a:endParaRPr lang="en-US" altLang="zh-CN" sz="4000" dirty="0" smtClean="0"/>
          </a:p>
          <a:p>
            <a:endParaRPr lang="en-US" altLang="zh-CN" sz="4000" dirty="0" smtClean="0"/>
          </a:p>
          <a:p>
            <a:endParaRPr lang="en-US" altLang="zh-CN" sz="4000" dirty="0" smtClean="0"/>
          </a:p>
          <a:p>
            <a:pPr>
              <a:buFont typeface="Wingdings" pitchFamily="2" charset="2"/>
              <a:buChar char="Ø"/>
            </a:pPr>
            <a:r>
              <a:rPr lang="zh-CN" altLang="en-US" dirty="0" smtClean="0"/>
              <a:t>氢氧化钠固体中含有哪些化学键？</a:t>
            </a:r>
            <a:endParaRPr lang="en-US" altLang="zh-CN" dirty="0" smtClean="0"/>
          </a:p>
          <a:p>
            <a:pPr lvl="1">
              <a:buFont typeface="Wingdings" pitchFamily="2" charset="2"/>
              <a:buChar char="Ø"/>
            </a:pPr>
            <a:r>
              <a:rPr lang="zh-CN" altLang="en-US" dirty="0" smtClean="0"/>
              <a:t>离子键、共价键</a:t>
            </a:r>
            <a:endParaRPr lang="en-US" altLang="zh-CN" dirty="0" smtClean="0"/>
          </a:p>
          <a:p>
            <a:pPr>
              <a:buFont typeface="Wingdings" pitchFamily="2" charset="2"/>
              <a:buChar char="Ø"/>
            </a:pPr>
            <a:r>
              <a:rPr lang="zh-CN" altLang="en-US" dirty="0" smtClean="0"/>
              <a:t>氢氧化钠属于离子化合物还是共价化合物？</a:t>
            </a:r>
            <a:endParaRPr lang="en-US" altLang="zh-CN" dirty="0" smtClean="0"/>
          </a:p>
          <a:p>
            <a:pPr lvl="1">
              <a:buFont typeface="Wingdings" pitchFamily="2" charset="2"/>
              <a:buChar char="Ø"/>
            </a:pPr>
            <a:r>
              <a:rPr lang="zh-CN" altLang="en-US" dirty="0" smtClean="0"/>
              <a:t>离子化合物</a:t>
            </a:r>
            <a:endParaRPr lang="en-US" altLang="zh-CN" dirty="0" smtClean="0"/>
          </a:p>
          <a:p>
            <a:endParaRPr lang="en-US" sz="4000" dirty="0"/>
          </a:p>
        </p:txBody>
      </p:sp>
      <p:grpSp>
        <p:nvGrpSpPr>
          <p:cNvPr id="4" name="Group 3"/>
          <p:cNvGrpSpPr>
            <a:grpSpLocks/>
          </p:cNvGrpSpPr>
          <p:nvPr/>
        </p:nvGrpSpPr>
        <p:grpSpPr bwMode="auto">
          <a:xfrm>
            <a:off x="2368100" y="2133600"/>
            <a:ext cx="1816102" cy="935038"/>
            <a:chOff x="2774" y="1728"/>
            <a:chExt cx="1144" cy="589"/>
          </a:xfrm>
        </p:grpSpPr>
        <p:sp>
          <p:nvSpPr>
            <p:cNvPr id="5" name="Rectangle 13"/>
            <p:cNvSpPr>
              <a:spLocks noChangeArrowheads="1"/>
            </p:cNvSpPr>
            <p:nvPr/>
          </p:nvSpPr>
          <p:spPr bwMode="auto">
            <a:xfrm>
              <a:off x="2774" y="1829"/>
              <a:ext cx="586" cy="369"/>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200" dirty="0" smtClean="0"/>
                <a:t>        </a:t>
              </a:r>
              <a:endParaRPr kumimoji="0" lang="en-US" altLang="zh-TW" sz="3200" dirty="0"/>
            </a:p>
          </p:txBody>
        </p:sp>
        <p:grpSp>
          <p:nvGrpSpPr>
            <p:cNvPr id="6" name="Group 43"/>
            <p:cNvGrpSpPr>
              <a:grpSpLocks/>
            </p:cNvGrpSpPr>
            <p:nvPr/>
          </p:nvGrpSpPr>
          <p:grpSpPr bwMode="auto">
            <a:xfrm>
              <a:off x="3356" y="1728"/>
              <a:ext cx="562" cy="589"/>
              <a:chOff x="4202" y="1728"/>
              <a:chExt cx="562" cy="589"/>
            </a:xfrm>
          </p:grpSpPr>
          <p:sp>
            <p:nvSpPr>
              <p:cNvPr id="7" name="Rectangle 18"/>
              <p:cNvSpPr>
                <a:spLocks noChangeArrowheads="1"/>
              </p:cNvSpPr>
              <p:nvPr/>
            </p:nvSpPr>
            <p:spPr bwMode="auto">
              <a:xfrm>
                <a:off x="4326" y="1842"/>
                <a:ext cx="292" cy="369"/>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3200" b="1" dirty="0" smtClean="0"/>
                  <a:t>O</a:t>
                </a:r>
                <a:endParaRPr kumimoji="0" lang="en-US" altLang="zh-TW" sz="3200" b="1" dirty="0"/>
              </a:p>
            </p:txBody>
          </p:sp>
          <p:sp>
            <p:nvSpPr>
              <p:cNvPr id="8" name="Rectangle 19"/>
              <p:cNvSpPr>
                <a:spLocks noChangeArrowheads="1"/>
              </p:cNvSpPr>
              <p:nvPr/>
            </p:nvSpPr>
            <p:spPr bwMode="auto">
              <a:xfrm>
                <a:off x="4348" y="1728"/>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9" name="Rectangle 20"/>
              <p:cNvSpPr>
                <a:spLocks noChangeArrowheads="1"/>
              </p:cNvSpPr>
              <p:nvPr/>
            </p:nvSpPr>
            <p:spPr bwMode="auto">
              <a:xfrm>
                <a:off x="4348" y="2086"/>
                <a:ext cx="284" cy="231"/>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a:latin typeface="Symbol" pitchFamily="18" charset="2"/>
                  </a:rPr>
                  <a:t>· ·</a:t>
                </a:r>
              </a:p>
            </p:txBody>
          </p:sp>
          <p:sp>
            <p:nvSpPr>
              <p:cNvPr id="10" name="Rectangle 21"/>
              <p:cNvSpPr>
                <a:spLocks noChangeArrowheads="1"/>
              </p:cNvSpPr>
              <p:nvPr/>
            </p:nvSpPr>
            <p:spPr bwMode="auto">
              <a:xfrm rot="16200000">
                <a:off x="4520" y="1885"/>
                <a:ext cx="256" cy="233"/>
              </a:xfrm>
              <a:prstGeom prst="rect">
                <a:avLst/>
              </a:prstGeom>
              <a:noFill/>
              <a:ln w="9525">
                <a:noFill/>
                <a:miter lim="800000"/>
                <a:headEnd/>
                <a:tailEnd/>
              </a:ln>
              <a:effectLst/>
            </p:spPr>
            <p:txBody>
              <a:bodyPr wrap="none" lIns="92075" tIns="46038" rIns="92075" bIns="46038">
                <a:spAutoFit/>
              </a:bodyPr>
              <a:lstStyle/>
              <a:p>
                <a:pPr eaLnBrk="0" hangingPunct="0"/>
                <a:r>
                  <a:rPr lang="en-US" altLang="zh-TW" dirty="0" smtClean="0">
                    <a:latin typeface="Symbol" pitchFamily="18" charset="2"/>
                  </a:rPr>
                  <a:t> · </a:t>
                </a:r>
                <a:endParaRPr kumimoji="0" lang="en-US" altLang="zh-TW" dirty="0">
                  <a:solidFill>
                    <a:srgbClr val="FF00FF"/>
                  </a:solidFill>
                  <a:latin typeface="Symbol" pitchFamily="18" charset="2"/>
                </a:endParaRPr>
              </a:p>
            </p:txBody>
          </p:sp>
          <p:sp>
            <p:nvSpPr>
              <p:cNvPr id="11" name="Rectangle 22"/>
              <p:cNvSpPr>
                <a:spLocks noChangeArrowheads="1"/>
              </p:cNvSpPr>
              <p:nvPr/>
            </p:nvSpPr>
            <p:spPr bwMode="auto">
              <a:xfrm rot="16200000">
                <a:off x="4227" y="1903"/>
                <a:ext cx="184" cy="233"/>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latin typeface="Symbol" pitchFamily="18" charset="2"/>
                  </a:rPr>
                  <a:t>·</a:t>
                </a:r>
                <a:endParaRPr kumimoji="0" lang="en-US" altLang="zh-TW" dirty="0">
                  <a:latin typeface="Symbol" pitchFamily="18" charset="2"/>
                </a:endParaRPr>
              </a:p>
            </p:txBody>
          </p:sp>
        </p:grpSp>
      </p:grpSp>
      <p:sp>
        <p:nvSpPr>
          <p:cNvPr id="12" name="Rectangle 18"/>
          <p:cNvSpPr>
            <a:spLocks noChangeArrowheads="1"/>
          </p:cNvSpPr>
          <p:nvPr/>
        </p:nvSpPr>
        <p:spPr bwMode="auto">
          <a:xfrm>
            <a:off x="3987995" y="2309813"/>
            <a:ext cx="589905" cy="585418"/>
          </a:xfrm>
          <a:prstGeom prst="rect">
            <a:avLst/>
          </a:prstGeom>
          <a:noFill/>
          <a:ln w="9525">
            <a:noFill/>
            <a:miter lim="800000"/>
            <a:headEnd/>
            <a:tailEnd/>
          </a:ln>
          <a:effectLst/>
        </p:spPr>
        <p:txBody>
          <a:bodyPr wrap="none" lIns="92075" tIns="46038" rIns="92075" bIns="46038">
            <a:spAutoFit/>
          </a:bodyPr>
          <a:lstStyle/>
          <a:p>
            <a:pPr eaLnBrk="0" hangingPunct="0">
              <a:buFont typeface="Arial" pitchFamily="34" charset="0"/>
              <a:buChar char="•"/>
            </a:pPr>
            <a:r>
              <a:rPr lang="en-US" altLang="zh-TW" sz="3200" b="1" dirty="0" smtClean="0">
                <a:solidFill>
                  <a:schemeClr val="bg1"/>
                </a:solidFill>
              </a:rPr>
              <a:t>H</a:t>
            </a:r>
            <a:endParaRPr kumimoji="0" lang="en-US" altLang="zh-TW" sz="3200" b="1" dirty="0">
              <a:solidFill>
                <a:schemeClr val="bg1"/>
              </a:solidFill>
            </a:endParaRPr>
          </a:p>
        </p:txBody>
      </p:sp>
      <p:sp>
        <p:nvSpPr>
          <p:cNvPr id="13" name="Rectangle 13"/>
          <p:cNvSpPr>
            <a:spLocks noChangeArrowheads="1"/>
          </p:cNvSpPr>
          <p:nvPr/>
        </p:nvSpPr>
        <p:spPr bwMode="auto">
          <a:xfrm>
            <a:off x="2139500" y="2263272"/>
            <a:ext cx="3460884" cy="708528"/>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sz="3600" b="1" dirty="0">
                <a:solidFill>
                  <a:srgbClr val="7030A0"/>
                </a:solidFill>
              </a:rPr>
              <a:t>Na</a:t>
            </a:r>
            <a:r>
              <a:rPr kumimoji="0" lang="en-US" altLang="zh-TW" sz="3600" b="1" baseline="30000" dirty="0">
                <a:solidFill>
                  <a:srgbClr val="7030A0"/>
                </a:solidFill>
              </a:rPr>
              <a:t>+</a:t>
            </a:r>
            <a:r>
              <a:rPr kumimoji="0" lang="en-US" altLang="zh-TW" sz="3600" dirty="0">
                <a:solidFill>
                  <a:srgbClr val="7030A0"/>
                </a:solidFill>
              </a:rPr>
              <a:t>  </a:t>
            </a:r>
            <a:r>
              <a:rPr kumimoji="0" lang="en-US" altLang="zh-TW" sz="4000" dirty="0" smtClean="0"/>
              <a:t>[</a:t>
            </a:r>
            <a:r>
              <a:rPr lang="en-US" altLang="zh-TW" sz="4000" dirty="0" smtClean="0"/>
              <a:t>           </a:t>
            </a:r>
            <a:r>
              <a:rPr lang="en-US" altLang="zh-CN" sz="4000" dirty="0" smtClean="0"/>
              <a:t>]</a:t>
            </a:r>
            <a:r>
              <a:rPr lang="en-US" altLang="zh-CN" sz="4000" baseline="30000" dirty="0" smtClean="0"/>
              <a:t>-</a:t>
            </a:r>
            <a:r>
              <a:rPr kumimoji="0" lang="en-US" altLang="zh-TW" sz="4000" dirty="0" smtClean="0"/>
              <a:t>      </a:t>
            </a:r>
            <a:endParaRPr kumimoji="0" lang="en-US" altLang="zh-TW" sz="4000" dirty="0"/>
          </a:p>
        </p:txBody>
      </p:sp>
      <p:sp>
        <p:nvSpPr>
          <p:cNvPr id="14" name="Rectangle 22"/>
          <p:cNvSpPr>
            <a:spLocks noChangeArrowheads="1"/>
          </p:cNvSpPr>
          <p:nvPr/>
        </p:nvSpPr>
        <p:spPr bwMode="auto">
          <a:xfrm rot="16200000">
            <a:off x="3332639" y="2551687"/>
            <a:ext cx="291747" cy="369974"/>
          </a:xfrm>
          <a:prstGeom prst="rect">
            <a:avLst/>
          </a:prstGeom>
          <a:noFill/>
          <a:ln w="9525">
            <a:noFill/>
            <a:miter lim="800000"/>
            <a:headEnd/>
            <a:tailEnd/>
          </a:ln>
          <a:effectLst/>
        </p:spPr>
        <p:txBody>
          <a:bodyPr wrap="none" lIns="92075" tIns="46038" rIns="92075" bIns="46038">
            <a:spAutoFit/>
          </a:bodyPr>
          <a:lstStyle/>
          <a:p>
            <a:pPr eaLnBrk="0" hangingPunct="0"/>
            <a:r>
              <a:rPr kumimoji="0" lang="en-US" altLang="zh-TW" dirty="0" smtClean="0">
                <a:solidFill>
                  <a:srgbClr val="7030A0"/>
                </a:solidFill>
                <a:latin typeface="Symbol" pitchFamily="18" charset="2"/>
              </a:rPr>
              <a:t>·</a:t>
            </a:r>
            <a:endParaRPr kumimoji="0" lang="en-US" altLang="zh-TW" dirty="0">
              <a:solidFill>
                <a:srgbClr val="7030A0"/>
              </a:solidFill>
              <a:latin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 calcmode="lin" valueType="num">
                                      <p:cBhvr additive="base">
                                        <p:cTn id="25"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5600" dirty="0" smtClean="0">
                <a:solidFill>
                  <a:schemeClr val="bg1"/>
                </a:solidFill>
              </a:rPr>
              <a:t>思考题</a:t>
            </a:r>
            <a:r>
              <a:rPr lang="en-US" altLang="zh-CN" sz="5600" dirty="0" smtClean="0">
                <a:solidFill>
                  <a:schemeClr val="bg1"/>
                </a:solidFill>
              </a:rPr>
              <a:t>7a</a:t>
            </a:r>
            <a:endParaRPr lang="en-US" sz="5600" dirty="0">
              <a:solidFill>
                <a:schemeClr val="bg1"/>
              </a:solidFill>
            </a:endParaRPr>
          </a:p>
        </p:txBody>
      </p:sp>
      <p:sp>
        <p:nvSpPr>
          <p:cNvPr id="3" name="Content Placeholder 2"/>
          <p:cNvSpPr>
            <a:spLocks noGrp="1"/>
          </p:cNvSpPr>
          <p:nvPr>
            <p:ph idx="1"/>
          </p:nvPr>
        </p:nvSpPr>
        <p:spPr/>
        <p:txBody>
          <a:bodyPr>
            <a:normAutofit/>
          </a:bodyPr>
          <a:lstStyle/>
          <a:p>
            <a:pPr>
              <a:buFont typeface="Wingdings" pitchFamily="2" charset="2"/>
              <a:buChar char="Ø"/>
            </a:pPr>
            <a:r>
              <a:rPr lang="zh-CN" altLang="en-US" sz="3600" b="1" dirty="0" smtClean="0">
                <a:solidFill>
                  <a:srgbClr val="002060"/>
                </a:solidFill>
                <a:effectLst>
                  <a:outerShdw blurRad="38100" dist="38100" dir="2700000" algn="tl">
                    <a:srgbClr val="000000">
                      <a:alpha val="43137"/>
                    </a:srgbClr>
                  </a:outerShdw>
                </a:effectLst>
              </a:rPr>
              <a:t>共用电子对</a:t>
            </a:r>
            <a:r>
              <a:rPr lang="zh-CN" altLang="en-US" sz="3600" dirty="0" smtClean="0"/>
              <a:t>越</a:t>
            </a:r>
            <a:r>
              <a:rPr lang="zh-CN" altLang="en-US" sz="3600" b="1" dirty="0" smtClean="0">
                <a:solidFill>
                  <a:srgbClr val="002060"/>
                </a:solidFill>
                <a:effectLst>
                  <a:outerShdw blurRad="38100" dist="38100" dir="2700000" algn="tl">
                    <a:srgbClr val="000000">
                      <a:alpha val="43137"/>
                    </a:srgbClr>
                  </a:outerShdw>
                </a:effectLst>
              </a:rPr>
              <a:t>多</a:t>
            </a:r>
            <a:r>
              <a:rPr lang="zh-CN" altLang="en-US" sz="3600" dirty="0" smtClean="0"/>
              <a:t>键长越</a:t>
            </a:r>
            <a:r>
              <a:rPr lang="zh-CN" altLang="en-US" sz="3600" b="1" dirty="0" smtClean="0">
                <a:solidFill>
                  <a:srgbClr val="002060"/>
                </a:solidFill>
                <a:effectLst>
                  <a:outerShdw blurRad="38100" dist="38100" dir="2700000" algn="tl">
                    <a:srgbClr val="000000">
                      <a:alpha val="43137"/>
                    </a:srgbClr>
                  </a:outerShdw>
                </a:effectLst>
              </a:rPr>
              <a:t>短</a:t>
            </a:r>
            <a:r>
              <a:rPr lang="zh-CN" altLang="en-US" sz="3600" dirty="0" smtClean="0">
                <a:solidFill>
                  <a:schemeClr val="bg1"/>
                </a:solidFill>
              </a:rPr>
              <a:t>，</a:t>
            </a:r>
            <a:r>
              <a:rPr lang="zh-CN" altLang="en-US" sz="3600" dirty="0" smtClean="0"/>
              <a:t>键能越</a:t>
            </a:r>
            <a:r>
              <a:rPr lang="zh-CN" altLang="en-US" sz="3600" b="1" dirty="0" smtClean="0">
                <a:solidFill>
                  <a:srgbClr val="002060"/>
                </a:solidFill>
                <a:effectLst>
                  <a:outerShdw blurRad="38100" dist="38100" dir="2700000" algn="tl">
                    <a:srgbClr val="000000">
                      <a:alpha val="43137"/>
                    </a:srgbClr>
                  </a:outerShdw>
                </a:effectLst>
              </a:rPr>
              <a:t>大</a:t>
            </a:r>
            <a:r>
              <a:rPr lang="zh-CN" altLang="en-US" sz="3600" dirty="0" smtClean="0">
                <a:solidFill>
                  <a:schemeClr val="bg1"/>
                </a:solidFill>
              </a:rPr>
              <a:t>，</a:t>
            </a:r>
            <a:r>
              <a:rPr lang="zh-CN" altLang="en-US" sz="3600" dirty="0" smtClean="0"/>
              <a:t>化学键越</a:t>
            </a:r>
            <a:r>
              <a:rPr lang="zh-CN" altLang="en-US" sz="3600" b="1" dirty="0" smtClean="0">
                <a:solidFill>
                  <a:srgbClr val="002060"/>
                </a:solidFill>
                <a:effectLst>
                  <a:outerShdw blurRad="38100" dist="38100" dir="2700000" algn="tl">
                    <a:srgbClr val="000000">
                      <a:alpha val="43137"/>
                    </a:srgbClr>
                  </a:outerShdw>
                </a:effectLst>
              </a:rPr>
              <a:t>牢固</a:t>
            </a:r>
            <a:r>
              <a:rPr lang="zh-CN" altLang="en-US" sz="3600" dirty="0" smtClean="0">
                <a:solidFill>
                  <a:schemeClr val="bg1"/>
                </a:solidFill>
              </a:rPr>
              <a:t>。</a:t>
            </a:r>
            <a:endParaRPr lang="en-US" sz="3600" dirty="0">
              <a:solidFill>
                <a:schemeClr val="bg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1" dirty="0" smtClean="0">
                <a:solidFill>
                  <a:schemeClr val="bg1"/>
                </a:solidFill>
              </a:rPr>
              <a:t>配位键</a:t>
            </a:r>
            <a:r>
              <a:rPr lang="zh-CN" altLang="en-US" sz="2800" b="1" dirty="0" smtClean="0">
                <a:solidFill>
                  <a:srgbClr val="002060"/>
                </a:solidFill>
                <a:effectLst>
                  <a:outerShdw blurRad="38100" dist="38100" dir="2700000" algn="tl">
                    <a:srgbClr val="000000">
                      <a:alpha val="43137"/>
                    </a:srgbClr>
                  </a:outerShdw>
                </a:effectLst>
              </a:rPr>
              <a:t>（特殊共价键）</a:t>
            </a:r>
            <a:endParaRPr lang="en-MY" sz="2800" b="1" dirty="0">
              <a:solidFill>
                <a:srgbClr val="00206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600201"/>
            <a:ext cx="8001000" cy="1219199"/>
          </a:xfrm>
        </p:spPr>
        <p:txBody>
          <a:bodyPr>
            <a:normAutofit/>
          </a:bodyPr>
          <a:lstStyle/>
          <a:p>
            <a:pPr marL="0" indent="0">
              <a:buFont typeface="Wingdings" pitchFamily="2" charset="2"/>
              <a:buChar char="Ø"/>
            </a:pPr>
            <a:r>
              <a:rPr lang="zh-CN" altLang="en-US" dirty="0" smtClean="0"/>
              <a:t>由一个原子</a:t>
            </a:r>
            <a:r>
              <a:rPr lang="zh-CN" altLang="en-US" b="1" dirty="0" smtClean="0">
                <a:solidFill>
                  <a:srgbClr val="002060"/>
                </a:solidFill>
                <a:effectLst>
                  <a:outerShdw blurRad="38100" dist="38100" dir="2700000" algn="tl">
                    <a:srgbClr val="000000">
                      <a:alpha val="43137"/>
                    </a:srgbClr>
                  </a:outerShdw>
                </a:effectLst>
              </a:rPr>
              <a:t>单方面</a:t>
            </a:r>
            <a:r>
              <a:rPr lang="zh-CN" altLang="en-US" dirty="0" smtClean="0"/>
              <a:t>提供</a:t>
            </a:r>
            <a:r>
              <a:rPr lang="zh-CN" altLang="en-US" b="1" dirty="0" smtClean="0">
                <a:solidFill>
                  <a:srgbClr val="002060"/>
                </a:solidFill>
                <a:effectLst>
                  <a:outerShdw blurRad="38100" dist="38100" dir="2700000" algn="tl">
                    <a:srgbClr val="000000">
                      <a:alpha val="43137"/>
                    </a:srgbClr>
                  </a:outerShdw>
                </a:effectLst>
              </a:rPr>
              <a:t>一对</a:t>
            </a:r>
            <a:r>
              <a:rPr lang="zh-CN" altLang="en-US" dirty="0" smtClean="0"/>
              <a:t>电子与另一个</a:t>
            </a:r>
            <a:r>
              <a:rPr lang="zh-CN" altLang="en-US" b="1" dirty="0" smtClean="0">
                <a:solidFill>
                  <a:srgbClr val="002060"/>
                </a:solidFill>
                <a:effectLst>
                  <a:outerShdw blurRad="38100" dist="38100" dir="2700000" algn="tl">
                    <a:srgbClr val="000000">
                      <a:alpha val="43137"/>
                    </a:srgbClr>
                  </a:outerShdw>
                </a:effectLst>
              </a:rPr>
              <a:t>接受</a:t>
            </a:r>
            <a:r>
              <a:rPr lang="zh-CN" altLang="en-US" dirty="0" smtClean="0"/>
              <a:t>电子的原子形成的</a:t>
            </a:r>
            <a:r>
              <a:rPr lang="zh-CN" altLang="en-US" b="1" dirty="0" smtClean="0">
                <a:solidFill>
                  <a:srgbClr val="002060"/>
                </a:solidFill>
                <a:effectLst>
                  <a:outerShdw blurRad="38100" dist="38100" dir="2700000" algn="tl">
                    <a:srgbClr val="000000">
                      <a:alpha val="43137"/>
                    </a:srgbClr>
                  </a:outerShdw>
                </a:effectLst>
              </a:rPr>
              <a:t>共价键</a:t>
            </a:r>
            <a:r>
              <a:rPr lang="zh-CN" altLang="en-US" dirty="0" smtClean="0">
                <a:solidFill>
                  <a:schemeClr val="bg1"/>
                </a:solidFill>
              </a:rPr>
              <a:t>。</a:t>
            </a:r>
            <a:endParaRPr lang="en-MY" dirty="0">
              <a:solidFill>
                <a:schemeClr val="bg1"/>
              </a:solidFill>
            </a:endParaRPr>
          </a:p>
        </p:txBody>
      </p:sp>
      <p:sp>
        <p:nvSpPr>
          <p:cNvPr id="4" name="Rectangle 3"/>
          <p:cNvSpPr/>
          <p:nvPr/>
        </p:nvSpPr>
        <p:spPr>
          <a:xfrm>
            <a:off x="467544" y="1556792"/>
            <a:ext cx="7992888" cy="11521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TextBox 5"/>
          <p:cNvSpPr txBox="1"/>
          <p:nvPr/>
        </p:nvSpPr>
        <p:spPr>
          <a:xfrm>
            <a:off x="434376" y="2780928"/>
            <a:ext cx="8026056" cy="1569660"/>
          </a:xfrm>
          <a:prstGeom prst="rect">
            <a:avLst/>
          </a:prstGeom>
          <a:noFill/>
        </p:spPr>
        <p:txBody>
          <a:bodyPr wrap="square" rtlCol="0">
            <a:spAutoFit/>
          </a:bodyPr>
          <a:lstStyle/>
          <a:p>
            <a:pPr>
              <a:buFont typeface="Wingdings" pitchFamily="2" charset="2"/>
              <a:buChar char="Ø"/>
            </a:pPr>
            <a:r>
              <a:rPr lang="zh-CN" altLang="en-US" sz="3200" dirty="0"/>
              <a:t>特点在于</a:t>
            </a:r>
            <a:r>
              <a:rPr lang="zh-CN" altLang="en-US" sz="3200" b="1" dirty="0">
                <a:solidFill>
                  <a:srgbClr val="002060"/>
                </a:solidFill>
                <a:effectLst>
                  <a:outerShdw blurRad="38100" dist="38100" dir="2700000" algn="tl">
                    <a:srgbClr val="000000">
                      <a:alpha val="43137"/>
                    </a:srgbClr>
                  </a:outerShdw>
                </a:effectLst>
              </a:rPr>
              <a:t>共</a:t>
            </a:r>
            <a:r>
              <a:rPr lang="zh-CN" altLang="en-US" sz="3200" b="1" dirty="0" smtClean="0">
                <a:solidFill>
                  <a:srgbClr val="002060"/>
                </a:solidFill>
                <a:effectLst>
                  <a:outerShdw blurRad="38100" dist="38100" dir="2700000" algn="tl">
                    <a:srgbClr val="000000">
                      <a:alpha val="43137"/>
                    </a:srgbClr>
                  </a:outerShdw>
                </a:effectLst>
              </a:rPr>
              <a:t>用电子对出自</a:t>
            </a:r>
            <a:r>
              <a:rPr lang="zh-CN" altLang="en-US" sz="3200" b="1" dirty="0">
                <a:solidFill>
                  <a:srgbClr val="002060"/>
                </a:solidFill>
                <a:effectLst>
                  <a:outerShdw blurRad="38100" dist="38100" dir="2700000" algn="tl">
                    <a:srgbClr val="000000">
                      <a:alpha val="43137"/>
                    </a:srgbClr>
                  </a:outerShdw>
                </a:effectLst>
              </a:rPr>
              <a:t>同一原子</a:t>
            </a:r>
            <a:r>
              <a:rPr lang="zh-CN" altLang="en-US" sz="3200" dirty="0" smtClean="0">
                <a:effectLst>
                  <a:outerShdw blurRad="38100" dist="38100" dir="2700000" algn="tl">
                    <a:srgbClr val="000000">
                      <a:alpha val="43137"/>
                    </a:srgbClr>
                  </a:outerShdw>
                </a:effectLst>
              </a:rPr>
              <a:t>。</a:t>
            </a:r>
            <a:endParaRPr lang="en-US" altLang="zh-CN" sz="3200" dirty="0" smtClean="0">
              <a:effectLst>
                <a:outerShdw blurRad="38100" dist="38100" dir="2700000" algn="tl">
                  <a:srgbClr val="000000">
                    <a:alpha val="43137"/>
                  </a:srgbClr>
                </a:outerShdw>
              </a:effectLst>
            </a:endParaRPr>
          </a:p>
          <a:p>
            <a:pPr>
              <a:buFont typeface="Wingdings" pitchFamily="2" charset="2"/>
              <a:buChar char="Ø"/>
            </a:pPr>
            <a:r>
              <a:rPr lang="zh-CN" altLang="en-US" sz="3200" dirty="0" smtClean="0"/>
              <a:t>形</a:t>
            </a:r>
            <a:r>
              <a:rPr lang="zh-CN" altLang="en-US" sz="3200" dirty="0"/>
              <a:t>成配位键的条</a:t>
            </a:r>
            <a:r>
              <a:rPr lang="zh-CN" altLang="en-US" sz="3200" dirty="0" smtClean="0"/>
              <a:t>件</a:t>
            </a:r>
            <a:r>
              <a:rPr lang="zh-CN" altLang="en-US" sz="3200" dirty="0" smtClean="0">
                <a:solidFill>
                  <a:srgbClr val="002060"/>
                </a:solidFill>
              </a:rPr>
              <a:t>：</a:t>
            </a:r>
            <a:r>
              <a:rPr lang="zh-CN" altLang="en-US" sz="3200" b="1" dirty="0" smtClean="0">
                <a:solidFill>
                  <a:srgbClr val="002060"/>
                </a:solidFill>
                <a:effectLst>
                  <a:outerShdw blurRad="38100" dist="38100" dir="2700000" algn="tl">
                    <a:srgbClr val="000000">
                      <a:alpha val="43137"/>
                    </a:srgbClr>
                  </a:outerShdw>
                </a:effectLst>
              </a:rPr>
              <a:t>一</a:t>
            </a:r>
            <a:r>
              <a:rPr lang="zh-CN" altLang="en-US" sz="3200" b="1" dirty="0">
                <a:solidFill>
                  <a:srgbClr val="002060"/>
                </a:solidFill>
                <a:effectLst>
                  <a:outerShdw blurRad="38100" dist="38100" dir="2700000" algn="tl">
                    <a:srgbClr val="000000">
                      <a:alpha val="43137"/>
                    </a:srgbClr>
                  </a:outerShdw>
                </a:effectLst>
              </a:rPr>
              <a:t>个原子有</a:t>
            </a:r>
            <a:r>
              <a:rPr lang="zh-CN" altLang="en-US" sz="3200" b="1" dirty="0" smtClean="0">
                <a:solidFill>
                  <a:srgbClr val="002060"/>
                </a:solidFill>
                <a:effectLst>
                  <a:outerShdw blurRad="38100" dist="38100" dir="2700000" algn="tl">
                    <a:srgbClr val="000000">
                      <a:alpha val="43137"/>
                    </a:srgbClr>
                  </a:outerShdw>
                </a:effectLst>
              </a:rPr>
              <a:t>孤对电子，</a:t>
            </a:r>
            <a:r>
              <a:rPr lang="zh-CN" altLang="en-US" sz="3200" b="1" dirty="0">
                <a:solidFill>
                  <a:srgbClr val="002060"/>
                </a:solidFill>
                <a:effectLst>
                  <a:outerShdw blurRad="38100" dist="38100" dir="2700000" algn="tl">
                    <a:srgbClr val="000000">
                      <a:alpha val="43137"/>
                    </a:srgbClr>
                  </a:outerShdw>
                </a:effectLst>
              </a:rPr>
              <a:t>而另一个原子有空</a:t>
            </a:r>
            <a:r>
              <a:rPr lang="zh-CN" altLang="en-US" sz="3200" b="1" dirty="0" smtClean="0">
                <a:solidFill>
                  <a:srgbClr val="002060"/>
                </a:solidFill>
                <a:effectLst>
                  <a:outerShdw blurRad="38100" dist="38100" dir="2700000" algn="tl">
                    <a:srgbClr val="000000">
                      <a:alpha val="43137"/>
                    </a:srgbClr>
                  </a:outerShdw>
                </a:effectLst>
              </a:rPr>
              <a:t>轨域</a:t>
            </a:r>
            <a:r>
              <a:rPr lang="zh-CN" altLang="en-US" sz="3200" b="1" dirty="0" smtClean="0">
                <a:solidFill>
                  <a:srgbClr val="002060"/>
                </a:solidFill>
              </a:rPr>
              <a:t>。</a:t>
            </a:r>
            <a:endParaRPr lang="en-MY" sz="3200" b="1" dirty="0">
              <a:solidFill>
                <a:srgbClr val="002060"/>
              </a:solidFill>
            </a:endParaRPr>
          </a:p>
        </p:txBody>
      </p:sp>
      <p:pic>
        <p:nvPicPr>
          <p:cNvPr id="7" name="Picture 6"/>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356328" y="4368800"/>
            <a:ext cx="6223000" cy="2413000"/>
          </a:xfrm>
          <a:prstGeom prst="rect">
            <a:avLst/>
          </a:prstGeom>
        </p:spPr>
      </p:pic>
      <p:sp>
        <p:nvSpPr>
          <p:cNvPr id="8" name="Rectangle 20"/>
          <p:cNvSpPr>
            <a:spLocks noChangeArrowheads="1"/>
          </p:cNvSpPr>
          <p:nvPr/>
        </p:nvSpPr>
        <p:spPr bwMode="auto">
          <a:xfrm>
            <a:off x="2104231" y="5486400"/>
            <a:ext cx="410369" cy="323808"/>
          </a:xfrm>
          <a:prstGeom prst="rect">
            <a:avLst/>
          </a:prstGeom>
          <a:solidFill>
            <a:schemeClr val="tx1"/>
          </a:solidFill>
          <a:ln w="9525">
            <a:noFill/>
            <a:miter lim="800000"/>
            <a:headEnd/>
            <a:tailEnd/>
          </a:ln>
          <a:effectLst/>
        </p:spPr>
        <p:txBody>
          <a:bodyPr wrap="none" lIns="92075" tIns="46038" rIns="92075" bIns="46038">
            <a:spAutoFit/>
          </a:bodyPr>
          <a:lstStyle/>
          <a:p>
            <a:pPr eaLnBrk="0" hangingPunct="0"/>
            <a:r>
              <a:rPr kumimoji="0" lang="en-US" altLang="zh-TW" sz="1500" dirty="0" smtClean="0">
                <a:solidFill>
                  <a:schemeClr val="bg1"/>
                </a:solidFill>
                <a:latin typeface="Symbol" pitchFamily="18" charset="2"/>
              </a:rPr>
              <a:t>· </a:t>
            </a:r>
            <a:r>
              <a:rPr kumimoji="0" lang="en-US" altLang="zh-TW" sz="1500" dirty="0" smtClean="0">
                <a:solidFill>
                  <a:schemeClr val="tx1">
                    <a:lumMod val="50000"/>
                  </a:schemeClr>
                </a:solidFill>
                <a:latin typeface="Symbol" pitchFamily="18" charset="2"/>
              </a:rPr>
              <a:t>·</a:t>
            </a:r>
            <a:endParaRPr kumimoji="0" lang="en-US" altLang="zh-TW" sz="1500" dirty="0">
              <a:solidFill>
                <a:schemeClr val="tx1">
                  <a:lumMod val="50000"/>
                </a:schemeClr>
              </a:solidFill>
              <a:latin typeface="Symbol" pitchFamily="18" charset="2"/>
            </a:endParaRPr>
          </a:p>
        </p:txBody>
      </p:sp>
      <p:sp>
        <p:nvSpPr>
          <p:cNvPr id="9" name="Rectangle 20"/>
          <p:cNvSpPr>
            <a:spLocks noChangeArrowheads="1"/>
          </p:cNvSpPr>
          <p:nvPr/>
        </p:nvSpPr>
        <p:spPr bwMode="auto">
          <a:xfrm rot="5400000">
            <a:off x="2395120" y="5224881"/>
            <a:ext cx="410369" cy="323808"/>
          </a:xfrm>
          <a:prstGeom prst="rect">
            <a:avLst/>
          </a:prstGeom>
          <a:solidFill>
            <a:schemeClr val="tx1"/>
          </a:solidFill>
          <a:ln w="9525">
            <a:noFill/>
            <a:miter lim="800000"/>
            <a:headEnd/>
            <a:tailEnd/>
          </a:ln>
          <a:effectLst/>
        </p:spPr>
        <p:txBody>
          <a:bodyPr wrap="none" lIns="92075" tIns="46038" rIns="92075" bIns="46038">
            <a:spAutoFit/>
          </a:bodyPr>
          <a:lstStyle/>
          <a:p>
            <a:pPr eaLnBrk="0" hangingPunct="0"/>
            <a:r>
              <a:rPr kumimoji="0" lang="en-US" altLang="zh-TW" sz="1500" dirty="0" smtClean="0">
                <a:solidFill>
                  <a:schemeClr val="bg1"/>
                </a:solidFill>
                <a:latin typeface="Symbol" pitchFamily="18" charset="2"/>
              </a:rPr>
              <a:t>· </a:t>
            </a:r>
            <a:r>
              <a:rPr kumimoji="0" lang="en-US" altLang="zh-TW" sz="1500" dirty="0" smtClean="0">
                <a:solidFill>
                  <a:schemeClr val="tx1">
                    <a:lumMod val="50000"/>
                  </a:schemeClr>
                </a:solidFill>
                <a:latin typeface="Symbol" pitchFamily="18" charset="2"/>
              </a:rPr>
              <a:t>·</a:t>
            </a:r>
            <a:endParaRPr kumimoji="0" lang="en-US" altLang="zh-TW" sz="1500" dirty="0">
              <a:solidFill>
                <a:schemeClr val="tx1">
                  <a:lumMod val="50000"/>
                </a:schemeClr>
              </a:solidFill>
              <a:latin typeface="Symbol" pitchFamily="18" charset="2"/>
            </a:endParaRPr>
          </a:p>
        </p:txBody>
      </p:sp>
      <p:sp>
        <p:nvSpPr>
          <p:cNvPr id="10" name="Rectangle 20"/>
          <p:cNvSpPr>
            <a:spLocks noChangeArrowheads="1"/>
          </p:cNvSpPr>
          <p:nvPr/>
        </p:nvSpPr>
        <p:spPr bwMode="auto">
          <a:xfrm rot="16200000">
            <a:off x="2401532" y="5835764"/>
            <a:ext cx="397545" cy="308419"/>
          </a:xfrm>
          <a:prstGeom prst="rect">
            <a:avLst/>
          </a:prstGeom>
          <a:solidFill>
            <a:schemeClr val="tx1"/>
          </a:solidFill>
          <a:ln w="9525">
            <a:noFill/>
            <a:miter lim="800000"/>
            <a:headEnd/>
            <a:tailEnd/>
          </a:ln>
          <a:effectLst/>
        </p:spPr>
        <p:txBody>
          <a:bodyPr wrap="none" lIns="92075" tIns="46038" rIns="92075" bIns="46038">
            <a:spAutoFit/>
          </a:bodyPr>
          <a:lstStyle/>
          <a:p>
            <a:pPr eaLnBrk="0" hangingPunct="0"/>
            <a:r>
              <a:rPr kumimoji="0" lang="en-US" altLang="zh-TW" sz="1400" dirty="0" smtClean="0">
                <a:solidFill>
                  <a:schemeClr val="bg1"/>
                </a:solidFill>
                <a:latin typeface="Symbol" pitchFamily="18" charset="2"/>
              </a:rPr>
              <a:t>· </a:t>
            </a:r>
            <a:r>
              <a:rPr kumimoji="0" lang="en-US" altLang="zh-TW" sz="1400" dirty="0" smtClean="0">
                <a:solidFill>
                  <a:schemeClr val="tx1">
                    <a:lumMod val="50000"/>
                  </a:schemeClr>
                </a:solidFill>
                <a:latin typeface="Symbol" pitchFamily="18" charset="2"/>
              </a:rPr>
              <a:t>·</a:t>
            </a:r>
            <a:endParaRPr kumimoji="0" lang="en-US" altLang="zh-TW" sz="1400" dirty="0">
              <a:solidFill>
                <a:schemeClr val="tx1">
                  <a:lumMod val="50000"/>
                </a:schemeClr>
              </a:solidFill>
              <a:latin typeface="Symbol" pitchFamily="18" charset="2"/>
            </a:endParaRPr>
          </a:p>
        </p:txBody>
      </p:sp>
      <p:sp>
        <p:nvSpPr>
          <p:cNvPr id="11" name="Rectangle 20"/>
          <p:cNvSpPr>
            <a:spLocks noChangeArrowheads="1"/>
          </p:cNvSpPr>
          <p:nvPr/>
        </p:nvSpPr>
        <p:spPr bwMode="auto">
          <a:xfrm rot="16200000">
            <a:off x="7073559" y="4339897"/>
            <a:ext cx="397545" cy="523862"/>
          </a:xfrm>
          <a:prstGeom prst="rect">
            <a:avLst/>
          </a:prstGeom>
          <a:solidFill>
            <a:schemeClr val="tx1"/>
          </a:solidFill>
          <a:ln w="9525">
            <a:noFill/>
            <a:miter lim="800000"/>
            <a:headEnd/>
            <a:tailEnd/>
          </a:ln>
          <a:effectLst/>
        </p:spPr>
        <p:txBody>
          <a:bodyPr wrap="square" lIns="92075" tIns="46038" rIns="92075" bIns="46038">
            <a:spAutoFit/>
          </a:bodyPr>
          <a:lstStyle/>
          <a:p>
            <a:pPr eaLnBrk="0" hangingPunct="0"/>
            <a:r>
              <a:rPr kumimoji="0" lang="en-US" altLang="zh-TW" sz="1400" dirty="0" smtClean="0">
                <a:latin typeface="Symbol" pitchFamily="18" charset="2"/>
              </a:rPr>
              <a:t> · ·</a:t>
            </a:r>
            <a:endParaRPr kumimoji="0" lang="en-US" altLang="zh-TW" sz="1400" dirty="0">
              <a:latin typeface="Symbol" pitchFamily="18" charset="2"/>
            </a:endParaRPr>
          </a:p>
        </p:txBody>
      </p:sp>
    </p:spTree>
    <p:extLst>
      <p:ext uri="{BB962C8B-B14F-4D97-AF65-F5344CB8AC3E}">
        <p14:creationId xmlns="" xmlns:p14="http://schemas.microsoft.com/office/powerpoint/2010/main" val="186548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p:bldP spid="8" grpId="0" animBg="1"/>
      <p:bldP spid="9" grpId="0" animBg="1"/>
      <p:bldP spid="10"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5600" dirty="0" smtClean="0">
                <a:solidFill>
                  <a:schemeClr val="bg1"/>
                </a:solidFill>
              </a:rPr>
              <a:t>思考题</a:t>
            </a:r>
            <a:r>
              <a:rPr lang="en-US" altLang="zh-CN" sz="5600" dirty="0" smtClean="0">
                <a:solidFill>
                  <a:schemeClr val="bg1"/>
                </a:solidFill>
              </a:rPr>
              <a:t>7b</a:t>
            </a:r>
            <a:endParaRPr lang="en-US" sz="5600" dirty="0">
              <a:solidFill>
                <a:schemeClr val="bg1"/>
              </a:solidFill>
            </a:endParaRPr>
          </a:p>
        </p:txBody>
      </p:sp>
      <p:sp>
        <p:nvSpPr>
          <p:cNvPr id="3" name="Content Placeholder 2"/>
          <p:cNvSpPr>
            <a:spLocks noGrp="1"/>
          </p:cNvSpPr>
          <p:nvPr>
            <p:ph idx="1"/>
          </p:nvPr>
        </p:nvSpPr>
        <p:spPr/>
        <p:txBody>
          <a:bodyPr>
            <a:normAutofit/>
          </a:bodyPr>
          <a:lstStyle/>
          <a:p>
            <a:pPr>
              <a:buNone/>
            </a:pPr>
            <a:r>
              <a:rPr lang="zh-CN" altLang="en-US" sz="3600" dirty="0" smtClean="0"/>
              <a:t>画出下列物质的电子式</a:t>
            </a:r>
            <a:r>
              <a:rPr lang="en-US" altLang="zh-CN" sz="3600" dirty="0" smtClean="0"/>
              <a:t>:</a:t>
            </a:r>
          </a:p>
          <a:p>
            <a:pPr marL="514350" indent="-514350">
              <a:buAutoNum type="arabicPeriod"/>
            </a:pPr>
            <a:r>
              <a:rPr lang="zh-CN" altLang="en-US" sz="3600" dirty="0" smtClean="0"/>
              <a:t>丁烷</a:t>
            </a:r>
            <a:endParaRPr lang="en-US" altLang="zh-CN" sz="3600" dirty="0" smtClean="0"/>
          </a:p>
          <a:p>
            <a:pPr marL="514350" indent="-514350">
              <a:buAutoNum type="arabicPeriod"/>
            </a:pPr>
            <a:r>
              <a:rPr lang="zh-CN" altLang="en-US" sz="3600" dirty="0" smtClean="0"/>
              <a:t>氯化铵</a:t>
            </a:r>
            <a:endParaRPr lang="en-US" altLang="zh-CN" sz="3600" dirty="0" smtClean="0"/>
          </a:p>
          <a:p>
            <a:pPr marL="514350" indent="-514350">
              <a:buAutoNum type="arabicPeriod"/>
            </a:pPr>
            <a:r>
              <a:rPr lang="zh-CN" altLang="en-US" sz="3600" dirty="0" smtClean="0"/>
              <a:t>六氟化硫</a:t>
            </a:r>
            <a:endParaRPr lang="en-US" altLang="zh-CN" sz="3600" dirty="0" smtClean="0"/>
          </a:p>
          <a:p>
            <a:pPr marL="514350" indent="-514350">
              <a:buAutoNum type="arabicPeriod"/>
            </a:pPr>
            <a:r>
              <a:rPr lang="zh-CN" altLang="en-US" sz="3600" dirty="0" smtClean="0"/>
              <a:t>三氟化硼</a:t>
            </a:r>
            <a:endParaRPr lang="en-US" altLang="zh-CN" sz="36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4800" b="1" dirty="0" smtClean="0">
                <a:solidFill>
                  <a:schemeClr val="bg1"/>
                </a:solidFill>
              </a:rPr>
              <a:t>非极性键和极性键</a:t>
            </a:r>
            <a:endParaRPr lang="en-MY" sz="4800" b="1" dirty="0">
              <a:solidFill>
                <a:schemeClr val="bg1"/>
              </a:solidFill>
            </a:endParaRPr>
          </a:p>
        </p:txBody>
      </p:sp>
      <p:sp>
        <p:nvSpPr>
          <p:cNvPr id="3" name="Content Placeholder 2"/>
          <p:cNvSpPr>
            <a:spLocks noGrp="1"/>
          </p:cNvSpPr>
          <p:nvPr>
            <p:ph idx="1"/>
          </p:nvPr>
        </p:nvSpPr>
        <p:spPr>
          <a:xfrm>
            <a:off x="467544" y="1443609"/>
            <a:ext cx="8229600" cy="4957191"/>
          </a:xfrm>
        </p:spPr>
        <p:txBody>
          <a:bodyPr>
            <a:normAutofit/>
          </a:bodyPr>
          <a:lstStyle/>
          <a:p>
            <a:pPr marL="0" indent="0">
              <a:buNone/>
            </a:pPr>
            <a:r>
              <a:rPr lang="zh-CN" altLang="en-US" b="1" dirty="0"/>
              <a:t>两</a:t>
            </a:r>
            <a:r>
              <a:rPr lang="zh-CN" altLang="en-US" b="1" dirty="0" smtClean="0"/>
              <a:t>个原子吸引电子的能力相同，共用电子对不偏向任何一方，这种共价键称为</a:t>
            </a:r>
            <a:r>
              <a:rPr lang="zh-CN" altLang="en-US" b="1" dirty="0" smtClean="0">
                <a:solidFill>
                  <a:srgbClr val="002060"/>
                </a:solidFill>
                <a:effectLst>
                  <a:outerShdw blurRad="38100" dist="38100" dir="2700000" algn="tl">
                    <a:srgbClr val="000000">
                      <a:alpha val="43137"/>
                    </a:srgbClr>
                  </a:outerShdw>
                </a:effectLst>
              </a:rPr>
              <a:t>非极性共价键（非极性键）</a:t>
            </a:r>
            <a:r>
              <a:rPr lang="zh-CN" altLang="en-US" b="1" dirty="0" smtClean="0"/>
              <a:t>。</a:t>
            </a:r>
            <a:endParaRPr lang="en-US" altLang="zh-CN" b="1" dirty="0" smtClean="0"/>
          </a:p>
          <a:p>
            <a:pPr marL="0" indent="0">
              <a:buNone/>
            </a:pPr>
            <a:endParaRPr lang="en-US" b="1" dirty="0"/>
          </a:p>
          <a:p>
            <a:pPr marL="0" indent="0">
              <a:buNone/>
            </a:pPr>
            <a:r>
              <a:rPr lang="zh-CN" altLang="en-US" b="1" dirty="0" smtClean="0"/>
              <a:t>在化合物分子中，不同原子吸引电子的能力不同，共用电子对偏向电负性较大的原子，这种共价键就称为</a:t>
            </a:r>
            <a:r>
              <a:rPr lang="zh-CN" altLang="en-US" b="1" dirty="0" smtClean="0">
                <a:solidFill>
                  <a:srgbClr val="002060"/>
                </a:solidFill>
                <a:effectLst>
                  <a:outerShdw blurRad="38100" dist="38100" dir="2700000" algn="tl">
                    <a:srgbClr val="000000">
                      <a:alpha val="43137"/>
                    </a:srgbClr>
                  </a:outerShdw>
                </a:effectLst>
              </a:rPr>
              <a:t>极性共价键（极性键）</a:t>
            </a:r>
            <a:r>
              <a:rPr lang="zh-CN" altLang="en-US" b="1" dirty="0" smtClean="0"/>
              <a:t>。</a:t>
            </a:r>
            <a:endParaRPr lang="en-US" altLang="zh-CN" b="1" dirty="0" smtClean="0"/>
          </a:p>
          <a:p>
            <a:pPr marL="0" indent="0">
              <a:buNone/>
            </a:pPr>
            <a:endParaRPr lang="en-US" altLang="zh-CN" b="1" dirty="0" smtClean="0"/>
          </a:p>
          <a:p>
            <a:pPr marL="0" indent="0">
              <a:buNone/>
            </a:pPr>
            <a:r>
              <a:rPr lang="zh-CN" altLang="en-US" b="1" dirty="0" smtClean="0"/>
              <a:t>键的</a:t>
            </a:r>
            <a:r>
              <a:rPr lang="zh-CN" altLang="en-US" b="1" dirty="0" smtClean="0">
                <a:solidFill>
                  <a:srgbClr val="002060"/>
                </a:solidFill>
                <a:effectLst>
                  <a:outerShdw blurRad="38100" dist="38100" dir="2700000" algn="tl">
                    <a:srgbClr val="000000">
                      <a:alpha val="43137"/>
                    </a:srgbClr>
                  </a:outerShdw>
                </a:effectLst>
              </a:rPr>
              <a:t>极性越大</a:t>
            </a:r>
            <a:r>
              <a:rPr lang="zh-CN" altLang="en-US" b="1" dirty="0" smtClean="0"/>
              <a:t>，</a:t>
            </a:r>
            <a:r>
              <a:rPr lang="zh-CN" altLang="en-US" b="1" dirty="0" smtClean="0">
                <a:solidFill>
                  <a:srgbClr val="002060"/>
                </a:solidFill>
                <a:effectLst>
                  <a:outerShdw blurRad="38100" dist="38100" dir="2700000" algn="tl">
                    <a:srgbClr val="000000">
                      <a:alpha val="43137"/>
                    </a:srgbClr>
                  </a:outerShdw>
                </a:effectLst>
              </a:rPr>
              <a:t>键能越大</a:t>
            </a:r>
            <a:r>
              <a:rPr lang="zh-CN" altLang="en-US" b="1" dirty="0" smtClean="0"/>
              <a:t>。</a:t>
            </a:r>
            <a:endParaRPr lang="en-MY" b="1" dirty="0"/>
          </a:p>
        </p:txBody>
      </p:sp>
      <p:sp>
        <p:nvSpPr>
          <p:cNvPr id="4" name="Rectangle 3"/>
          <p:cNvSpPr/>
          <p:nvPr/>
        </p:nvSpPr>
        <p:spPr>
          <a:xfrm>
            <a:off x="411336" y="1371600"/>
            <a:ext cx="8049096" cy="180020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Rectangle 4"/>
          <p:cNvSpPr/>
          <p:nvPr/>
        </p:nvSpPr>
        <p:spPr>
          <a:xfrm>
            <a:off x="411336" y="3603849"/>
            <a:ext cx="8049096" cy="204081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 xmlns:p14="http://schemas.microsoft.com/office/powerpoint/2010/main" val="1258147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229600" cy="1143000"/>
          </a:xfrm>
        </p:spPr>
        <p:txBody>
          <a:bodyPr>
            <a:normAutofit fontScale="90000"/>
          </a:bodyPr>
          <a:lstStyle/>
          <a:p>
            <a:r>
              <a:rPr lang="zh-CN" altLang="en-US" sz="4000" dirty="0"/>
              <a:t>电负</a:t>
            </a:r>
            <a:r>
              <a:rPr lang="zh-CN" altLang="en-US" sz="4000" dirty="0" smtClean="0"/>
              <a:t>性越大，吸引电子对的能力越强</a:t>
            </a:r>
            <a:endParaRPr lang="en-MY" sz="4000" dirty="0"/>
          </a:p>
        </p:txBody>
      </p:sp>
      <p:pic>
        <p:nvPicPr>
          <p:cNvPr id="4" name="Content Placeholder 3"/>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755576" y="1105630"/>
            <a:ext cx="7474024" cy="3390170"/>
          </a:xfrm>
        </p:spPr>
      </p:pic>
      <p:sp>
        <p:nvSpPr>
          <p:cNvPr id="3" name="TextBox 2"/>
          <p:cNvSpPr txBox="1"/>
          <p:nvPr/>
        </p:nvSpPr>
        <p:spPr>
          <a:xfrm>
            <a:off x="683568" y="4869160"/>
            <a:ext cx="5540299" cy="1569660"/>
          </a:xfrm>
          <a:prstGeom prst="rect">
            <a:avLst/>
          </a:prstGeom>
          <a:noFill/>
        </p:spPr>
        <p:txBody>
          <a:bodyPr wrap="none" rtlCol="0">
            <a:spAutoFit/>
          </a:bodyPr>
          <a:lstStyle/>
          <a:p>
            <a:r>
              <a:rPr lang="zh-CN" altLang="en-US" sz="3200" b="1" dirty="0">
                <a:solidFill>
                  <a:schemeClr val="tx2">
                    <a:lumMod val="20000"/>
                    <a:lumOff val="80000"/>
                  </a:schemeClr>
                </a:solidFill>
              </a:rPr>
              <a:t>金</a:t>
            </a:r>
            <a:r>
              <a:rPr lang="zh-CN" altLang="en-US" sz="3200" b="1" dirty="0" smtClean="0">
                <a:solidFill>
                  <a:schemeClr val="tx2">
                    <a:lumMod val="20000"/>
                    <a:lumOff val="80000"/>
                  </a:schemeClr>
                </a:solidFill>
              </a:rPr>
              <a:t>属的电负性比非金属的小。</a:t>
            </a:r>
            <a:endParaRPr lang="en-US" altLang="zh-CN" sz="3200" b="1" dirty="0" smtClean="0">
              <a:solidFill>
                <a:schemeClr val="tx2">
                  <a:lumMod val="20000"/>
                  <a:lumOff val="80000"/>
                </a:schemeClr>
              </a:solidFill>
            </a:endParaRPr>
          </a:p>
          <a:p>
            <a:r>
              <a:rPr lang="zh-CN" altLang="en-US" sz="3200" b="1" dirty="0" smtClean="0">
                <a:solidFill>
                  <a:schemeClr val="tx2">
                    <a:lumMod val="20000"/>
                    <a:lumOff val="80000"/>
                  </a:schemeClr>
                </a:solidFill>
              </a:rPr>
              <a:t>电负性越小，金属性越强。</a:t>
            </a:r>
            <a:endParaRPr lang="en-MY" sz="3200" b="1" dirty="0" smtClean="0">
              <a:solidFill>
                <a:schemeClr val="tx2">
                  <a:lumMod val="20000"/>
                  <a:lumOff val="80000"/>
                </a:schemeClr>
              </a:solidFill>
            </a:endParaRPr>
          </a:p>
          <a:p>
            <a:r>
              <a:rPr lang="zh-CN" altLang="en-US" sz="3200" b="1" dirty="0" smtClean="0">
                <a:solidFill>
                  <a:schemeClr val="tx2">
                    <a:lumMod val="20000"/>
                    <a:lumOff val="80000"/>
                  </a:schemeClr>
                </a:solidFill>
              </a:rPr>
              <a:t>电</a:t>
            </a:r>
            <a:r>
              <a:rPr lang="zh-CN" altLang="en-US" sz="3200" b="1" dirty="0">
                <a:solidFill>
                  <a:schemeClr val="tx2">
                    <a:lumMod val="20000"/>
                    <a:lumOff val="80000"/>
                  </a:schemeClr>
                </a:solidFill>
              </a:rPr>
              <a:t>负</a:t>
            </a:r>
            <a:r>
              <a:rPr lang="zh-CN" altLang="en-US" sz="3200" b="1" dirty="0" smtClean="0">
                <a:solidFill>
                  <a:schemeClr val="tx2">
                    <a:lumMod val="20000"/>
                    <a:lumOff val="80000"/>
                  </a:schemeClr>
                </a:solidFill>
              </a:rPr>
              <a:t>性越大，非金属性越强。</a:t>
            </a:r>
            <a:endParaRPr lang="en-US" altLang="zh-CN" sz="3200" b="1" dirty="0" smtClean="0">
              <a:solidFill>
                <a:schemeClr val="tx2">
                  <a:lumMod val="20000"/>
                  <a:lumOff val="80000"/>
                </a:schemeClr>
              </a:solidFill>
            </a:endParaRPr>
          </a:p>
        </p:txBody>
      </p:sp>
    </p:spTree>
    <p:extLst>
      <p:ext uri="{BB962C8B-B14F-4D97-AF65-F5344CB8AC3E}">
        <p14:creationId xmlns="" xmlns:p14="http://schemas.microsoft.com/office/powerpoint/2010/main" val="26506041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610600" cy="5715000"/>
          </a:xfrm>
        </p:spPr>
        <p:txBody>
          <a:bodyPr>
            <a:normAutofit/>
          </a:bodyPr>
          <a:lstStyle/>
          <a:p>
            <a:pPr marL="342900" lvl="1" indent="-342900">
              <a:buFont typeface="Wingdings" pitchFamily="2" charset="2"/>
              <a:buChar char="Ø"/>
            </a:pPr>
            <a:r>
              <a:rPr lang="zh-CN" altLang="en-US" sz="3600" b="1" dirty="0" smtClean="0">
                <a:solidFill>
                  <a:srgbClr val="002060"/>
                </a:solidFill>
                <a:effectLst>
                  <a:outerShdw blurRad="38100" dist="38100" dir="2700000" algn="tl">
                    <a:srgbClr val="000000">
                      <a:alpha val="43137"/>
                    </a:srgbClr>
                  </a:outerShdw>
                </a:effectLst>
              </a:rPr>
              <a:t>一般</a:t>
            </a:r>
            <a:r>
              <a:rPr lang="zh-CN" altLang="en-US" sz="3600" dirty="0" smtClean="0"/>
              <a:t>认为</a:t>
            </a:r>
            <a:endParaRPr lang="en-US" altLang="zh-CN" sz="3600" dirty="0" smtClean="0"/>
          </a:p>
          <a:p>
            <a:pPr marL="342900" lvl="1" indent="-342900">
              <a:buNone/>
            </a:pPr>
            <a:r>
              <a:rPr lang="en-US" altLang="zh-CN" sz="3600" dirty="0" smtClean="0"/>
              <a:t>	</a:t>
            </a:r>
            <a:r>
              <a:rPr lang="zh-CN" altLang="en-US" sz="3600" dirty="0" smtClean="0"/>
              <a:t>电负性</a:t>
            </a:r>
            <a:r>
              <a:rPr lang="zh-CN" altLang="en-US" sz="3600" b="1" dirty="0" smtClean="0">
                <a:solidFill>
                  <a:srgbClr val="002060"/>
                </a:solidFill>
                <a:effectLst>
                  <a:outerShdw blurRad="38100" dist="38100" dir="2700000" algn="tl">
                    <a:srgbClr val="000000">
                      <a:alpha val="43137"/>
                    </a:srgbClr>
                  </a:outerShdw>
                </a:effectLst>
              </a:rPr>
              <a:t>大于</a:t>
            </a:r>
            <a:r>
              <a:rPr lang="en-US" altLang="zh-CN" sz="3600" b="1" dirty="0" smtClean="0">
                <a:solidFill>
                  <a:srgbClr val="002060"/>
                </a:solidFill>
                <a:effectLst>
                  <a:outerShdw blurRad="38100" dist="38100" dir="2700000" algn="tl">
                    <a:srgbClr val="000000">
                      <a:alpha val="43137"/>
                    </a:srgbClr>
                  </a:outerShdw>
                </a:effectLst>
              </a:rPr>
              <a:t>1.8</a:t>
            </a:r>
            <a:r>
              <a:rPr lang="zh-CN" altLang="en-US" sz="3600" dirty="0" smtClean="0"/>
              <a:t>的元素为</a:t>
            </a:r>
            <a:r>
              <a:rPr lang="zh-CN" altLang="en-US" sz="3600" b="1" dirty="0" smtClean="0">
                <a:solidFill>
                  <a:srgbClr val="002060"/>
                </a:solidFill>
                <a:effectLst>
                  <a:outerShdw blurRad="38100" dist="38100" dir="2700000" algn="tl">
                    <a:srgbClr val="000000">
                      <a:alpha val="43137"/>
                    </a:srgbClr>
                  </a:outerShdw>
                </a:effectLst>
              </a:rPr>
              <a:t>非金属</a:t>
            </a:r>
            <a:r>
              <a:rPr lang="zh-CN" altLang="en-US" sz="3600" dirty="0" smtClean="0"/>
              <a:t>元素；</a:t>
            </a:r>
            <a:r>
              <a:rPr lang="en-US" altLang="zh-CN" sz="3600" dirty="0" smtClean="0"/>
              <a:t>	</a:t>
            </a:r>
          </a:p>
          <a:p>
            <a:pPr marL="1200150" lvl="3" indent="-342900">
              <a:buFont typeface="Wingdings" pitchFamily="2" charset="2"/>
              <a:buChar char="Ø"/>
            </a:pPr>
            <a:r>
              <a:rPr lang="zh-CN" altLang="en-US" sz="3200" dirty="0" smtClean="0"/>
              <a:t>查阅图</a:t>
            </a:r>
            <a:r>
              <a:rPr lang="en-US" altLang="zh-CN" sz="3200" dirty="0" smtClean="0"/>
              <a:t>7-9</a:t>
            </a:r>
            <a:r>
              <a:rPr lang="zh-CN" altLang="en-US" sz="3200" dirty="0" smtClean="0"/>
              <a:t>，找出例外。</a:t>
            </a:r>
            <a:endParaRPr lang="en-US" altLang="zh-CN" sz="3200" dirty="0" smtClean="0"/>
          </a:p>
          <a:p>
            <a:pPr>
              <a:buNone/>
            </a:pPr>
            <a:endParaRPr lang="en-US" altLang="zh-CN" sz="3600" dirty="0" smtClean="0"/>
          </a:p>
          <a:p>
            <a:pPr>
              <a:buFont typeface="Wingdings" pitchFamily="2" charset="2"/>
              <a:buChar char="Ø"/>
            </a:pPr>
            <a:r>
              <a:rPr lang="zh-CN" altLang="en-US" sz="3600" b="1" dirty="0" smtClean="0">
                <a:solidFill>
                  <a:srgbClr val="002060"/>
                </a:solidFill>
                <a:effectLst>
                  <a:outerShdw blurRad="38100" dist="38100" dir="2700000" algn="tl">
                    <a:srgbClr val="000000">
                      <a:alpha val="43137"/>
                    </a:srgbClr>
                  </a:outerShdw>
                </a:effectLst>
              </a:rPr>
              <a:t>电负性大</a:t>
            </a:r>
            <a:r>
              <a:rPr lang="zh-CN" altLang="en-US" sz="3600" dirty="0" smtClean="0"/>
              <a:t>的元素在化合物中吸引电子能力强，</a:t>
            </a:r>
            <a:r>
              <a:rPr lang="zh-CN" altLang="en-US" sz="3600" b="1" dirty="0" smtClean="0">
                <a:solidFill>
                  <a:srgbClr val="002060"/>
                </a:solidFill>
                <a:effectLst>
                  <a:outerShdw blurRad="38100" dist="38100" dir="2700000" algn="tl">
                    <a:srgbClr val="000000">
                      <a:alpha val="43137"/>
                    </a:srgbClr>
                  </a:outerShdw>
                </a:effectLst>
              </a:rPr>
              <a:t>化合价为负值</a:t>
            </a:r>
            <a:r>
              <a:rPr lang="zh-CN" altLang="en-US" sz="3600" dirty="0" smtClean="0"/>
              <a:t>。</a:t>
            </a:r>
            <a:endParaRPr lang="en-US" altLang="zh-CN" sz="3600" dirty="0" smtClean="0"/>
          </a:p>
          <a:p>
            <a:pPr>
              <a:buNone/>
            </a:pPr>
            <a:endParaRPr lang="en-US" altLang="zh-CN" sz="3600" dirty="0" smtClean="0"/>
          </a:p>
          <a:p>
            <a:pPr>
              <a:buFont typeface="Wingdings" pitchFamily="2" charset="2"/>
              <a:buChar char="Ø"/>
            </a:pPr>
            <a:r>
              <a:rPr lang="zh-CN" altLang="en-US" sz="3600" dirty="0" smtClean="0"/>
              <a:t>键的极性与成键原子间的电负性差有关。</a:t>
            </a:r>
            <a:endParaRPr lang="en-US" altLang="zh-CN" sz="3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solidFill>
                  <a:schemeClr val="accent1">
                    <a:lumMod val="20000"/>
                    <a:lumOff val="80000"/>
                  </a:schemeClr>
                </a:solidFill>
              </a:rPr>
              <a:t>2</a:t>
            </a:r>
            <a:r>
              <a:rPr lang="zh-CN" altLang="en-US" dirty="0" smtClean="0">
                <a:solidFill>
                  <a:schemeClr val="accent1">
                    <a:lumMod val="20000"/>
                    <a:lumOff val="80000"/>
                  </a:schemeClr>
                </a:solidFill>
              </a:rPr>
              <a:t>个成键原子之间电</a:t>
            </a:r>
            <a:r>
              <a:rPr lang="zh-CN" altLang="en-US" dirty="0">
                <a:solidFill>
                  <a:schemeClr val="accent1">
                    <a:lumMod val="20000"/>
                    <a:lumOff val="80000"/>
                  </a:schemeClr>
                </a:solidFill>
              </a:rPr>
              <a:t>负</a:t>
            </a:r>
            <a:r>
              <a:rPr lang="zh-CN" altLang="en-US" dirty="0" smtClean="0">
                <a:solidFill>
                  <a:schemeClr val="accent1">
                    <a:lumMod val="20000"/>
                    <a:lumOff val="80000"/>
                  </a:schemeClr>
                </a:solidFill>
              </a:rPr>
              <a:t>性差</a:t>
            </a:r>
            <a:endParaRPr lang="en-MY" dirty="0">
              <a:solidFill>
                <a:schemeClr val="accent1">
                  <a:lumMod val="20000"/>
                  <a:lumOff val="80000"/>
                </a:schemeClr>
              </a:solidFill>
            </a:endParaRPr>
          </a:p>
        </p:txBody>
      </p:sp>
      <p:sp>
        <p:nvSpPr>
          <p:cNvPr id="3" name="Content Placeholder 2"/>
          <p:cNvSpPr>
            <a:spLocks noGrp="1"/>
          </p:cNvSpPr>
          <p:nvPr>
            <p:ph idx="1"/>
          </p:nvPr>
        </p:nvSpPr>
        <p:spPr>
          <a:xfrm>
            <a:off x="457200" y="2680320"/>
            <a:ext cx="8229600" cy="2260848"/>
          </a:xfrm>
        </p:spPr>
        <p:txBody>
          <a:bodyPr/>
          <a:lstStyle/>
          <a:p>
            <a:r>
              <a:rPr lang="zh-CN" altLang="en-US" sz="4000" dirty="0" smtClean="0">
                <a:solidFill>
                  <a:srgbClr val="FF0000"/>
                </a:solidFill>
              </a:rPr>
              <a:t>电负性差</a:t>
            </a:r>
            <a:r>
              <a:rPr lang="en-US" altLang="zh-CN" sz="4000" dirty="0" smtClean="0">
                <a:solidFill>
                  <a:srgbClr val="FF0000"/>
                </a:solidFill>
              </a:rPr>
              <a:t>=0			</a:t>
            </a:r>
            <a:r>
              <a:rPr lang="zh-CN" altLang="en-US" sz="4000" dirty="0" smtClean="0">
                <a:solidFill>
                  <a:srgbClr val="FF0000"/>
                </a:solidFill>
              </a:rPr>
              <a:t>（非极性键）</a:t>
            </a:r>
            <a:endParaRPr lang="en-US" altLang="zh-CN" sz="4000" dirty="0" smtClean="0">
              <a:solidFill>
                <a:srgbClr val="FF0000"/>
              </a:solidFill>
            </a:endParaRPr>
          </a:p>
          <a:p>
            <a:r>
              <a:rPr lang="zh-CN" altLang="en-US" sz="4000" dirty="0">
                <a:solidFill>
                  <a:srgbClr val="FFC000"/>
                </a:solidFill>
              </a:rPr>
              <a:t>电负</a:t>
            </a:r>
            <a:r>
              <a:rPr lang="zh-CN" altLang="en-US" sz="4000" dirty="0" smtClean="0">
                <a:solidFill>
                  <a:srgbClr val="FFC000"/>
                </a:solidFill>
              </a:rPr>
              <a:t>性差 介于</a:t>
            </a:r>
            <a:r>
              <a:rPr lang="en-US" altLang="zh-CN" sz="4000" dirty="0" smtClean="0">
                <a:solidFill>
                  <a:srgbClr val="FFC000"/>
                </a:solidFill>
              </a:rPr>
              <a:t>0</a:t>
            </a:r>
            <a:r>
              <a:rPr lang="zh-CN" altLang="en-US" sz="4000" dirty="0" smtClean="0">
                <a:solidFill>
                  <a:srgbClr val="FFC000"/>
                </a:solidFill>
              </a:rPr>
              <a:t>～</a:t>
            </a:r>
            <a:r>
              <a:rPr lang="en-US" altLang="zh-CN" sz="4000" dirty="0" smtClean="0">
                <a:solidFill>
                  <a:srgbClr val="FFC000"/>
                </a:solidFill>
              </a:rPr>
              <a:t>1.7	</a:t>
            </a:r>
            <a:r>
              <a:rPr lang="zh-CN" altLang="en-US" sz="4000" dirty="0" smtClean="0">
                <a:solidFill>
                  <a:srgbClr val="FFC000"/>
                </a:solidFill>
              </a:rPr>
              <a:t>（极性键）</a:t>
            </a:r>
            <a:endParaRPr lang="en-US" altLang="zh-CN" sz="4000" dirty="0" smtClean="0">
              <a:solidFill>
                <a:srgbClr val="FFC000"/>
              </a:solidFill>
            </a:endParaRPr>
          </a:p>
          <a:p>
            <a:r>
              <a:rPr lang="zh-CN" altLang="en-US" sz="4000" dirty="0" smtClean="0">
                <a:solidFill>
                  <a:srgbClr val="FFFF00"/>
                </a:solidFill>
              </a:rPr>
              <a:t>电负性差</a:t>
            </a:r>
            <a:r>
              <a:rPr lang="en-US" altLang="zh-CN" sz="4000" dirty="0" smtClean="0">
                <a:solidFill>
                  <a:srgbClr val="FFFF00"/>
                </a:solidFill>
              </a:rPr>
              <a:t>≥1.7			</a:t>
            </a:r>
            <a:r>
              <a:rPr lang="zh-CN" altLang="en-US" sz="4000" dirty="0" smtClean="0">
                <a:solidFill>
                  <a:srgbClr val="FFFF00"/>
                </a:solidFill>
              </a:rPr>
              <a:t>（离子键）</a:t>
            </a:r>
            <a:endParaRPr lang="en-MY" sz="4000" dirty="0">
              <a:solidFill>
                <a:srgbClr val="FFFF00"/>
              </a:solidFill>
            </a:endParaRPr>
          </a:p>
        </p:txBody>
      </p:sp>
      <p:sp>
        <p:nvSpPr>
          <p:cNvPr id="4" name="Rounded Rectangle 3"/>
          <p:cNvSpPr/>
          <p:nvPr/>
        </p:nvSpPr>
        <p:spPr>
          <a:xfrm>
            <a:off x="323528" y="2060848"/>
            <a:ext cx="8496944" cy="3456384"/>
          </a:xfrm>
          <a:prstGeom prst="roundRect">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 xmlns:p14="http://schemas.microsoft.com/office/powerpoint/2010/main" val="23562843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zh-CN" altLang="en-US" sz="3600" dirty="0" smtClean="0"/>
              <a:t>写出下列分子中的化学键种类？</a:t>
            </a:r>
            <a:endParaRPr lang="en-US" sz="3600" dirty="0" smtClean="0"/>
          </a:p>
          <a:p>
            <a:pPr>
              <a:buNone/>
            </a:pPr>
            <a:r>
              <a:rPr lang="en-US" sz="3600" dirty="0" smtClean="0"/>
              <a:t>              CS</a:t>
            </a:r>
            <a:r>
              <a:rPr lang="en-US" sz="3600" baseline="-25000" dirty="0" smtClean="0"/>
              <a:t>2</a:t>
            </a:r>
            <a:endParaRPr lang="en-US" sz="3600" dirty="0" smtClean="0"/>
          </a:p>
          <a:p>
            <a:pPr>
              <a:buNone/>
            </a:pPr>
            <a:r>
              <a:rPr lang="en-US" sz="3600" dirty="0" smtClean="0"/>
              <a:t>              BF</a:t>
            </a:r>
            <a:r>
              <a:rPr lang="en-US" sz="3600" baseline="-25000" dirty="0" smtClean="0"/>
              <a:t>3 </a:t>
            </a:r>
            <a:r>
              <a:rPr lang="en-US" sz="3600" dirty="0" smtClean="0"/>
              <a:t> </a:t>
            </a:r>
          </a:p>
          <a:p>
            <a:pPr>
              <a:buNone/>
            </a:pPr>
            <a:r>
              <a:rPr lang="en-US" altLang="zh-CN" sz="3600" dirty="0" smtClean="0"/>
              <a:t>              PH</a:t>
            </a:r>
            <a:r>
              <a:rPr lang="en-US" altLang="zh-CN" sz="3600" baseline="-25000" dirty="0" smtClean="0"/>
              <a:t>3</a:t>
            </a:r>
            <a:endParaRPr lang="en-US" sz="3600" baseline="-25000" dirty="0" smtClean="0"/>
          </a:p>
        </p:txBody>
      </p:sp>
      <p:sp>
        <p:nvSpPr>
          <p:cNvPr id="4" name="TextBox 3"/>
          <p:cNvSpPr txBox="1"/>
          <p:nvPr/>
        </p:nvSpPr>
        <p:spPr>
          <a:xfrm>
            <a:off x="2839063" y="2315289"/>
            <a:ext cx="2037737" cy="646331"/>
          </a:xfrm>
          <a:prstGeom prst="rect">
            <a:avLst/>
          </a:prstGeom>
          <a:noFill/>
        </p:spPr>
        <p:txBody>
          <a:bodyPr wrap="none" rtlCol="0">
            <a:spAutoFit/>
          </a:bodyPr>
          <a:lstStyle/>
          <a:p>
            <a:r>
              <a:rPr lang="zh-CN" altLang="en-US" sz="3600" b="1" dirty="0" smtClean="0">
                <a:solidFill>
                  <a:schemeClr val="bg1"/>
                </a:solidFill>
              </a:rPr>
              <a:t>非极性键</a:t>
            </a:r>
            <a:endParaRPr lang="en-US" sz="3600" b="1" dirty="0">
              <a:solidFill>
                <a:schemeClr val="bg1"/>
              </a:solidFill>
            </a:endParaRPr>
          </a:p>
        </p:txBody>
      </p:sp>
      <p:sp>
        <p:nvSpPr>
          <p:cNvPr id="5" name="TextBox 4"/>
          <p:cNvSpPr txBox="1"/>
          <p:nvPr/>
        </p:nvSpPr>
        <p:spPr>
          <a:xfrm>
            <a:off x="2839063" y="2935069"/>
            <a:ext cx="1574470" cy="646331"/>
          </a:xfrm>
          <a:prstGeom prst="rect">
            <a:avLst/>
          </a:prstGeom>
          <a:noFill/>
        </p:spPr>
        <p:txBody>
          <a:bodyPr wrap="none" rtlCol="0">
            <a:spAutoFit/>
          </a:bodyPr>
          <a:lstStyle/>
          <a:p>
            <a:r>
              <a:rPr lang="zh-CN" altLang="en-US" sz="3600" b="1" dirty="0" smtClean="0">
                <a:solidFill>
                  <a:schemeClr val="bg1"/>
                </a:solidFill>
              </a:rPr>
              <a:t>极性键</a:t>
            </a:r>
            <a:endParaRPr lang="en-US" sz="3600" b="1" dirty="0">
              <a:solidFill>
                <a:schemeClr val="bg1"/>
              </a:solidFill>
            </a:endParaRPr>
          </a:p>
        </p:txBody>
      </p:sp>
      <p:sp>
        <p:nvSpPr>
          <p:cNvPr id="6" name="TextBox 5"/>
          <p:cNvSpPr txBox="1"/>
          <p:nvPr/>
        </p:nvSpPr>
        <p:spPr>
          <a:xfrm>
            <a:off x="2762863" y="3544669"/>
            <a:ext cx="2037737" cy="646331"/>
          </a:xfrm>
          <a:prstGeom prst="rect">
            <a:avLst/>
          </a:prstGeom>
          <a:noFill/>
        </p:spPr>
        <p:txBody>
          <a:bodyPr wrap="none" rtlCol="0">
            <a:spAutoFit/>
          </a:bodyPr>
          <a:lstStyle/>
          <a:p>
            <a:r>
              <a:rPr lang="zh-CN" altLang="en-US" sz="3600" b="1" dirty="0" smtClean="0">
                <a:solidFill>
                  <a:schemeClr val="bg1"/>
                </a:solidFill>
              </a:rPr>
              <a:t>非极性键</a:t>
            </a:r>
            <a:endParaRPr lang="en-US" sz="36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1295400"/>
            <a:ext cx="4953000" cy="4830763"/>
          </a:xfrm>
        </p:spPr>
        <p:txBody>
          <a:bodyPr>
            <a:normAutofit lnSpcReduction="10000"/>
          </a:bodyPr>
          <a:lstStyle/>
          <a:p>
            <a:pPr marL="742950" indent="-742950">
              <a:buAutoNum type="arabicPeriod"/>
            </a:pPr>
            <a:r>
              <a:rPr lang="en-US" altLang="zh-CN" sz="3600" dirty="0" smtClean="0"/>
              <a:t>C	</a:t>
            </a:r>
          </a:p>
          <a:p>
            <a:pPr marL="742950" indent="-742950">
              <a:buAutoNum type="arabicPeriod"/>
            </a:pPr>
            <a:r>
              <a:rPr lang="en-US" altLang="zh-CN" sz="3600" dirty="0" smtClean="0"/>
              <a:t>O		</a:t>
            </a:r>
          </a:p>
          <a:p>
            <a:pPr marL="742950" indent="-742950">
              <a:buAutoNum type="arabicPeriod"/>
            </a:pPr>
            <a:r>
              <a:rPr lang="en-US" altLang="zh-CN" sz="3600" dirty="0" smtClean="0"/>
              <a:t>F</a:t>
            </a:r>
          </a:p>
          <a:p>
            <a:pPr marL="742950" indent="-742950">
              <a:buAutoNum type="arabicPeriod"/>
            </a:pPr>
            <a:r>
              <a:rPr lang="en-US" altLang="zh-CN" sz="3600" dirty="0" smtClean="0"/>
              <a:t>N</a:t>
            </a:r>
          </a:p>
          <a:p>
            <a:pPr marL="742950" indent="-742950">
              <a:buAutoNum type="arabicPeriod"/>
            </a:pPr>
            <a:r>
              <a:rPr lang="en-US" altLang="zh-CN" sz="3600" dirty="0" smtClean="0"/>
              <a:t>O</a:t>
            </a:r>
          </a:p>
          <a:p>
            <a:pPr marL="742950" indent="-742950">
              <a:buAutoNum type="arabicPeriod"/>
            </a:pPr>
            <a:r>
              <a:rPr lang="en-US" altLang="zh-CN" sz="3600" dirty="0" smtClean="0"/>
              <a:t>S</a:t>
            </a:r>
          </a:p>
          <a:p>
            <a:pPr marL="742950" indent="-742950">
              <a:buAutoNum type="arabicPeriod"/>
            </a:pPr>
            <a:r>
              <a:rPr lang="en-US" altLang="zh-CN" sz="3600" dirty="0" err="1" smtClean="0"/>
              <a:t>Cl</a:t>
            </a:r>
            <a:r>
              <a:rPr lang="en-US" altLang="zh-CN" sz="3600" dirty="0" smtClean="0"/>
              <a:t>	</a:t>
            </a:r>
          </a:p>
          <a:p>
            <a:pPr marL="742950" indent="-742950">
              <a:buAutoNum type="arabicPeriod"/>
            </a:pPr>
            <a:r>
              <a:rPr lang="en-US" altLang="zh-CN" sz="3600" dirty="0" smtClean="0"/>
              <a:t>Br</a:t>
            </a:r>
          </a:p>
        </p:txBody>
      </p:sp>
      <p:sp>
        <p:nvSpPr>
          <p:cNvPr id="7" name="Title 1"/>
          <p:cNvSpPr>
            <a:spLocks noGrp="1"/>
          </p:cNvSpPr>
          <p:nvPr>
            <p:ph type="title"/>
          </p:nvPr>
        </p:nvSpPr>
        <p:spPr>
          <a:xfrm>
            <a:off x="457200" y="274638"/>
            <a:ext cx="8229600" cy="1143000"/>
          </a:xfrm>
        </p:spPr>
        <p:txBody>
          <a:bodyPr>
            <a:normAutofit/>
          </a:bodyPr>
          <a:lstStyle/>
          <a:p>
            <a:r>
              <a:rPr lang="zh-CN" altLang="en-US" sz="4800" dirty="0" smtClean="0">
                <a:solidFill>
                  <a:schemeClr val="bg1"/>
                </a:solidFill>
              </a:rPr>
              <a:t>交流分享</a:t>
            </a:r>
            <a:endParaRPr lang="en-MY" sz="48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295400"/>
            <a:ext cx="5105400" cy="4830763"/>
          </a:xfrm>
        </p:spPr>
        <p:txBody>
          <a:bodyPr>
            <a:normAutofit lnSpcReduction="10000"/>
          </a:bodyPr>
          <a:lstStyle/>
          <a:p>
            <a:pPr marL="742950" indent="-742950">
              <a:buAutoNum type="arabicPeriod"/>
            </a:pPr>
            <a:r>
              <a:rPr lang="en-US" altLang="zh-CN" sz="3600" dirty="0" err="1" smtClean="0"/>
              <a:t>NaF</a:t>
            </a:r>
            <a:r>
              <a:rPr lang="en-US" altLang="zh-CN" sz="3600" dirty="0" smtClean="0"/>
              <a:t>		</a:t>
            </a:r>
          </a:p>
          <a:p>
            <a:pPr marL="742950" indent="-742950">
              <a:buNone/>
            </a:pPr>
            <a:r>
              <a:rPr lang="en-US" altLang="zh-CN" sz="3600" dirty="0" smtClean="0"/>
              <a:t>	</a:t>
            </a:r>
            <a:r>
              <a:rPr lang="zh-CN" altLang="en-US" sz="3600" dirty="0" smtClean="0"/>
              <a:t>离子化合物</a:t>
            </a:r>
            <a:r>
              <a:rPr lang="en-US" altLang="zh-CN" sz="3600" dirty="0" smtClean="0"/>
              <a:t>	</a:t>
            </a:r>
          </a:p>
          <a:p>
            <a:pPr marL="742950" indent="-742950">
              <a:buAutoNum type="arabicPeriod" startAt="2"/>
            </a:pPr>
            <a:r>
              <a:rPr lang="en-US" altLang="zh-CN" sz="3600" dirty="0" err="1" smtClean="0"/>
              <a:t>HCl</a:t>
            </a:r>
            <a:endParaRPr lang="en-US" altLang="zh-CN" sz="3600" dirty="0" smtClean="0"/>
          </a:p>
          <a:p>
            <a:pPr marL="742950" indent="-742950">
              <a:buNone/>
            </a:pPr>
            <a:r>
              <a:rPr lang="en-US" altLang="zh-CN" sz="3600" dirty="0" smtClean="0"/>
              <a:t>	</a:t>
            </a:r>
            <a:r>
              <a:rPr lang="zh-CN" altLang="en-US" sz="3600" dirty="0" smtClean="0"/>
              <a:t>共价化合物</a:t>
            </a:r>
            <a:endParaRPr lang="en-US" altLang="zh-CN" sz="3600" dirty="0" smtClean="0"/>
          </a:p>
          <a:p>
            <a:pPr marL="742950" indent="-742950">
              <a:buAutoNum type="arabicPeriod" startAt="3"/>
            </a:pPr>
            <a:r>
              <a:rPr lang="en-US" altLang="zh-CN" sz="3600" dirty="0" smtClean="0"/>
              <a:t>NO</a:t>
            </a:r>
          </a:p>
          <a:p>
            <a:pPr marL="742950" indent="-742950">
              <a:buNone/>
            </a:pPr>
            <a:r>
              <a:rPr lang="en-US" altLang="zh-CN" sz="3600" dirty="0" smtClean="0"/>
              <a:t>	</a:t>
            </a:r>
            <a:r>
              <a:rPr lang="zh-CN" altLang="en-US" sz="3600" dirty="0" smtClean="0"/>
              <a:t>共价化合物</a:t>
            </a:r>
            <a:endParaRPr lang="en-US" altLang="zh-CN" sz="3600" dirty="0" smtClean="0"/>
          </a:p>
          <a:p>
            <a:pPr marL="742950" indent="-742950">
              <a:buAutoNum type="arabicPeriod" startAt="4"/>
            </a:pPr>
            <a:r>
              <a:rPr lang="en-US" altLang="zh-CN" sz="3600" dirty="0" err="1" smtClean="0"/>
              <a:t>MgO</a:t>
            </a:r>
            <a:endParaRPr lang="en-US" altLang="zh-CN" sz="3600" dirty="0" smtClean="0"/>
          </a:p>
          <a:p>
            <a:pPr marL="742950" indent="-742950">
              <a:buNone/>
            </a:pPr>
            <a:r>
              <a:rPr lang="en-US" altLang="zh-CN" sz="3600" dirty="0" smtClean="0"/>
              <a:t>	</a:t>
            </a:r>
            <a:r>
              <a:rPr lang="zh-CN" altLang="en-US" sz="3600" dirty="0" smtClean="0"/>
              <a:t>离子化合物</a:t>
            </a:r>
            <a:endParaRPr lang="en-US" altLang="zh-CN" sz="3600" dirty="0" smtClean="0"/>
          </a:p>
        </p:txBody>
      </p:sp>
      <p:sp>
        <p:nvSpPr>
          <p:cNvPr id="7" name="Title 1"/>
          <p:cNvSpPr>
            <a:spLocks noGrp="1"/>
          </p:cNvSpPr>
          <p:nvPr>
            <p:ph type="title"/>
          </p:nvPr>
        </p:nvSpPr>
        <p:spPr>
          <a:xfrm>
            <a:off x="457200" y="274638"/>
            <a:ext cx="8229600" cy="1143000"/>
          </a:xfrm>
        </p:spPr>
        <p:txBody>
          <a:bodyPr>
            <a:normAutofit/>
          </a:bodyPr>
          <a:lstStyle/>
          <a:p>
            <a:r>
              <a:rPr lang="zh-CN" altLang="en-US" sz="4800" dirty="0" smtClean="0">
                <a:solidFill>
                  <a:schemeClr val="bg1"/>
                </a:solidFill>
              </a:rPr>
              <a:t>交流分享</a:t>
            </a:r>
            <a:endParaRPr lang="en-MY" sz="48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1219200"/>
            <a:ext cx="6248400" cy="4830763"/>
          </a:xfrm>
        </p:spPr>
        <p:txBody>
          <a:bodyPr>
            <a:normAutofit lnSpcReduction="10000"/>
          </a:bodyPr>
          <a:lstStyle/>
          <a:p>
            <a:pPr marL="742950" indent="-742950">
              <a:buNone/>
            </a:pPr>
            <a:r>
              <a:rPr lang="en-US" altLang="zh-CN" sz="3600" dirty="0" smtClean="0"/>
              <a:t>5.	</a:t>
            </a:r>
            <a:r>
              <a:rPr lang="en-US" altLang="zh-CN" sz="3600" dirty="0" err="1" smtClean="0"/>
              <a:t>KCl</a:t>
            </a:r>
            <a:r>
              <a:rPr lang="en-US" altLang="zh-CN" sz="3600" dirty="0" smtClean="0"/>
              <a:t>		</a:t>
            </a:r>
          </a:p>
          <a:p>
            <a:pPr marL="742950" indent="-742950">
              <a:buNone/>
            </a:pPr>
            <a:r>
              <a:rPr lang="en-US" altLang="zh-CN" sz="3600" dirty="0" smtClean="0"/>
              <a:t>	</a:t>
            </a:r>
            <a:r>
              <a:rPr lang="zh-CN" altLang="en-US" sz="3600" dirty="0" smtClean="0"/>
              <a:t>离子化合物</a:t>
            </a:r>
            <a:r>
              <a:rPr lang="en-US" altLang="zh-CN" sz="3600" dirty="0" smtClean="0"/>
              <a:t>	</a:t>
            </a:r>
          </a:p>
          <a:p>
            <a:pPr marL="742950" indent="-742950">
              <a:buNone/>
            </a:pPr>
            <a:r>
              <a:rPr lang="en-US" altLang="zh-CN" sz="3600" dirty="0" smtClean="0"/>
              <a:t>6.	CH</a:t>
            </a:r>
            <a:r>
              <a:rPr lang="en-US" altLang="zh-CN" sz="3600" baseline="-25000" dirty="0" smtClean="0"/>
              <a:t>4</a:t>
            </a:r>
            <a:endParaRPr lang="en-US" altLang="zh-CN" sz="3600" dirty="0" smtClean="0"/>
          </a:p>
          <a:p>
            <a:pPr marL="742950" indent="-742950">
              <a:buNone/>
            </a:pPr>
            <a:r>
              <a:rPr lang="en-US" altLang="zh-CN" sz="3600" dirty="0" smtClean="0"/>
              <a:t>	</a:t>
            </a:r>
            <a:r>
              <a:rPr lang="zh-CN" altLang="en-US" sz="3600" dirty="0" smtClean="0"/>
              <a:t>共价化合物</a:t>
            </a:r>
            <a:endParaRPr lang="en-US" altLang="zh-CN" sz="3600" dirty="0" smtClean="0"/>
          </a:p>
          <a:p>
            <a:pPr marL="742950" indent="-742950">
              <a:buNone/>
            </a:pPr>
            <a:r>
              <a:rPr lang="en-US" altLang="zh-CN" sz="3600" dirty="0" smtClean="0"/>
              <a:t>7.	BeCl</a:t>
            </a:r>
            <a:r>
              <a:rPr lang="en-US" altLang="zh-CN" sz="3600" baseline="-25000" dirty="0" smtClean="0"/>
              <a:t>2</a:t>
            </a:r>
            <a:endParaRPr lang="en-US" altLang="zh-CN" sz="3600" dirty="0" smtClean="0"/>
          </a:p>
          <a:p>
            <a:pPr marL="742950" indent="-742950">
              <a:buNone/>
            </a:pPr>
            <a:r>
              <a:rPr lang="en-US" altLang="zh-CN" sz="3600" dirty="0" smtClean="0"/>
              <a:t>	</a:t>
            </a:r>
            <a:r>
              <a:rPr lang="zh-CN" altLang="en-US" sz="3600" dirty="0" smtClean="0"/>
              <a:t>共价化合物</a:t>
            </a:r>
            <a:endParaRPr lang="en-US" altLang="zh-CN" sz="3600" dirty="0" smtClean="0"/>
          </a:p>
          <a:p>
            <a:pPr marL="742950" indent="-742950">
              <a:buNone/>
            </a:pPr>
            <a:r>
              <a:rPr lang="en-US" altLang="zh-CN" sz="3600" dirty="0" smtClean="0"/>
              <a:t>8. 	AlCl</a:t>
            </a:r>
            <a:r>
              <a:rPr lang="en-US" altLang="zh-CN" sz="3600" baseline="-25000" dirty="0" smtClean="0"/>
              <a:t>3</a:t>
            </a:r>
            <a:endParaRPr lang="en-US" altLang="zh-CN" sz="3600" dirty="0" smtClean="0"/>
          </a:p>
          <a:p>
            <a:pPr marL="742950" indent="-742950">
              <a:buNone/>
            </a:pPr>
            <a:r>
              <a:rPr lang="en-US" altLang="zh-CN" sz="3600" dirty="0" smtClean="0"/>
              <a:t>	</a:t>
            </a:r>
            <a:r>
              <a:rPr lang="zh-CN" altLang="en-US" sz="3600" dirty="0" smtClean="0"/>
              <a:t>共价化合物</a:t>
            </a:r>
            <a:endParaRPr lang="en-US" altLang="zh-CN" sz="3600" dirty="0" smtClean="0"/>
          </a:p>
        </p:txBody>
      </p:sp>
      <p:sp>
        <p:nvSpPr>
          <p:cNvPr id="7" name="Title 1"/>
          <p:cNvSpPr>
            <a:spLocks noGrp="1"/>
          </p:cNvSpPr>
          <p:nvPr>
            <p:ph type="title"/>
          </p:nvPr>
        </p:nvSpPr>
        <p:spPr>
          <a:xfrm>
            <a:off x="457200" y="274638"/>
            <a:ext cx="8229600" cy="1143000"/>
          </a:xfrm>
        </p:spPr>
        <p:txBody>
          <a:bodyPr>
            <a:normAutofit/>
          </a:bodyPr>
          <a:lstStyle/>
          <a:p>
            <a:r>
              <a:rPr lang="zh-CN" altLang="en-US" sz="4800" dirty="0" smtClean="0">
                <a:solidFill>
                  <a:schemeClr val="bg1"/>
                </a:solidFill>
              </a:rPr>
              <a:t>交流分享</a:t>
            </a:r>
            <a:endParaRPr lang="en-MY" sz="48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8800"/>
            <a:ext cx="8534400" cy="1143000"/>
          </a:xfrm>
        </p:spPr>
        <p:txBody>
          <a:bodyPr>
            <a:normAutofit/>
          </a:bodyPr>
          <a:lstStyle/>
          <a:p>
            <a:pPr algn="l"/>
            <a:r>
              <a:rPr lang="zh-CN" altLang="en-US" b="1" dirty="0" smtClean="0">
                <a:solidFill>
                  <a:srgbClr val="002060"/>
                </a:solidFill>
                <a:effectLst>
                  <a:outerShdw blurRad="38100" dist="38100" dir="2700000" algn="tl">
                    <a:srgbClr val="000000">
                      <a:alpha val="43137"/>
                    </a:srgbClr>
                  </a:outerShdw>
                </a:effectLst>
              </a:rPr>
              <a:t>极性分子</a:t>
            </a:r>
            <a:r>
              <a:rPr lang="zh-CN" altLang="en-US" sz="3600" b="1" dirty="0" smtClean="0"/>
              <a:t>整个分子的电子云分布不均匀</a:t>
            </a:r>
            <a:endParaRPr lang="en-MY" sz="3600" b="1" dirty="0"/>
          </a:p>
        </p:txBody>
      </p:sp>
      <p:sp>
        <p:nvSpPr>
          <p:cNvPr id="3" name="Content Placeholder 2"/>
          <p:cNvSpPr>
            <a:spLocks noGrp="1"/>
          </p:cNvSpPr>
          <p:nvPr>
            <p:ph idx="1"/>
          </p:nvPr>
        </p:nvSpPr>
        <p:spPr>
          <a:xfrm>
            <a:off x="465312" y="981472"/>
            <a:ext cx="8297688" cy="1152128"/>
          </a:xfrm>
        </p:spPr>
        <p:txBody>
          <a:bodyPr/>
          <a:lstStyle/>
          <a:p>
            <a:pPr marL="0" indent="0">
              <a:buNone/>
            </a:pPr>
            <a:r>
              <a:rPr lang="zh-CN" altLang="en-US" sz="4400" b="1" dirty="0" smtClean="0">
                <a:solidFill>
                  <a:srgbClr val="002060"/>
                </a:solidFill>
                <a:effectLst>
                  <a:outerShdw blurRad="38100" dist="38100" dir="2700000" algn="tl">
                    <a:srgbClr val="000000">
                      <a:alpha val="43137"/>
                    </a:srgbClr>
                  </a:outerShdw>
                </a:effectLst>
              </a:rPr>
              <a:t>非极性分子</a:t>
            </a:r>
            <a:r>
              <a:rPr lang="zh-CN" altLang="en-US" sz="3600" b="1" dirty="0" smtClean="0"/>
              <a:t>整个原子电子云分布均匀</a:t>
            </a:r>
            <a:endParaRPr lang="en-MY" sz="3600" b="1" dirty="0"/>
          </a:p>
        </p:txBody>
      </p:sp>
      <p:sp>
        <p:nvSpPr>
          <p:cNvPr id="4" name="TextBox 3"/>
          <p:cNvSpPr txBox="1"/>
          <p:nvPr/>
        </p:nvSpPr>
        <p:spPr>
          <a:xfrm>
            <a:off x="1219200" y="3657600"/>
            <a:ext cx="6521152" cy="3046988"/>
          </a:xfrm>
          <a:prstGeom prst="rect">
            <a:avLst/>
          </a:prstGeom>
          <a:noFill/>
        </p:spPr>
        <p:txBody>
          <a:bodyPr wrap="square" rtlCol="0">
            <a:spAutoFit/>
          </a:bodyPr>
          <a:lstStyle/>
          <a:p>
            <a:r>
              <a:rPr lang="en-US" sz="3200" b="1" dirty="0" smtClean="0"/>
              <a:t>*</a:t>
            </a:r>
            <a:r>
              <a:rPr lang="zh-CN" altLang="en-US" sz="3200" b="1" dirty="0" smtClean="0"/>
              <a:t>以非极性键结合的多原子分子</a:t>
            </a:r>
            <a:endParaRPr lang="en-US" altLang="zh-CN" sz="3200" b="1" dirty="0" smtClean="0"/>
          </a:p>
          <a:p>
            <a:r>
              <a:rPr lang="en-US" altLang="zh-CN" sz="3200" b="1" dirty="0" smtClean="0"/>
              <a:t>   ---</a:t>
            </a:r>
            <a:r>
              <a:rPr lang="zh-CN" altLang="en-US" sz="3200" b="1" dirty="0" smtClean="0">
                <a:solidFill>
                  <a:srgbClr val="C00000"/>
                </a:solidFill>
                <a:effectLst>
                  <a:outerShdw blurRad="38100" dist="38100" dir="2700000" algn="tl">
                    <a:srgbClr val="000000">
                      <a:alpha val="43137"/>
                    </a:srgbClr>
                  </a:outerShdw>
                </a:effectLst>
              </a:rPr>
              <a:t>一定</a:t>
            </a:r>
            <a:r>
              <a:rPr lang="zh-CN" altLang="en-US" sz="3200" b="1" dirty="0" smtClean="0"/>
              <a:t>是非极性分子</a:t>
            </a:r>
            <a:endParaRPr lang="en-US" altLang="zh-CN" sz="3200" b="1" dirty="0" smtClean="0"/>
          </a:p>
          <a:p>
            <a:endParaRPr lang="en-MY" sz="3200" b="1" dirty="0" smtClean="0"/>
          </a:p>
          <a:p>
            <a:r>
              <a:rPr lang="en-US" sz="3200" b="1" dirty="0" smtClean="0"/>
              <a:t>*</a:t>
            </a:r>
            <a:r>
              <a:rPr lang="zh-CN" altLang="en-US" sz="3200" b="1" dirty="0" smtClean="0"/>
              <a:t>以极性键结合成的多原子分子</a:t>
            </a:r>
            <a:endParaRPr lang="en-US" altLang="zh-CN" sz="3200" b="1" dirty="0" smtClean="0"/>
          </a:p>
          <a:p>
            <a:r>
              <a:rPr lang="en-US" altLang="zh-CN" sz="3200" b="1" dirty="0" smtClean="0"/>
              <a:t>   ---</a:t>
            </a:r>
            <a:r>
              <a:rPr lang="zh-CN" altLang="en-US" sz="3200" b="1" dirty="0" smtClean="0">
                <a:solidFill>
                  <a:srgbClr val="C00000"/>
                </a:solidFill>
                <a:effectLst>
                  <a:outerShdw blurRad="38100" dist="38100" dir="2700000" algn="tl">
                    <a:srgbClr val="000000">
                      <a:alpha val="43137"/>
                    </a:srgbClr>
                  </a:outerShdw>
                </a:effectLst>
              </a:rPr>
              <a:t>可能</a:t>
            </a:r>
            <a:r>
              <a:rPr lang="zh-CN" altLang="en-US" sz="3200" b="1" dirty="0" smtClean="0"/>
              <a:t>是极性分子</a:t>
            </a:r>
            <a:r>
              <a:rPr lang="en-US" altLang="zh-CN" sz="3200" b="1" dirty="0" smtClean="0"/>
              <a:t>/</a:t>
            </a:r>
            <a:r>
              <a:rPr lang="zh-CN" altLang="en-US" sz="3200" b="1" dirty="0" smtClean="0"/>
              <a:t>非极性分子</a:t>
            </a:r>
            <a:endParaRPr lang="en-US" altLang="zh-CN" sz="3200" b="1" dirty="0" smtClean="0"/>
          </a:p>
          <a:p>
            <a:endParaRPr lang="en-US" altLang="zh-CN" sz="3200" b="1" dirty="0" smtClean="0"/>
          </a:p>
        </p:txBody>
      </p:sp>
      <p:sp>
        <p:nvSpPr>
          <p:cNvPr id="5" name="Rounded Rectangle 4"/>
          <p:cNvSpPr/>
          <p:nvPr/>
        </p:nvSpPr>
        <p:spPr>
          <a:xfrm>
            <a:off x="1043608" y="3645024"/>
            <a:ext cx="6408712" cy="2592288"/>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ounded Rectangle 5"/>
          <p:cNvSpPr/>
          <p:nvPr/>
        </p:nvSpPr>
        <p:spPr>
          <a:xfrm>
            <a:off x="899592" y="3501008"/>
            <a:ext cx="6693400" cy="288032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 xmlns:p14="http://schemas.microsoft.com/office/powerpoint/2010/main" val="39714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082" y="116632"/>
            <a:ext cx="8714518" cy="1143000"/>
          </a:xfrm>
        </p:spPr>
        <p:txBody>
          <a:bodyPr>
            <a:normAutofit/>
          </a:bodyPr>
          <a:lstStyle/>
          <a:p>
            <a:r>
              <a:rPr lang="zh-CN" altLang="en-US" b="1" dirty="0">
                <a:solidFill>
                  <a:schemeClr val="bg1"/>
                </a:solidFill>
              </a:rPr>
              <a:t>极性分</a:t>
            </a:r>
            <a:r>
              <a:rPr lang="zh-CN" altLang="en-US" b="1" dirty="0" smtClean="0">
                <a:solidFill>
                  <a:schemeClr val="bg1"/>
                </a:solidFill>
              </a:rPr>
              <a:t>子和非极性分子</a:t>
            </a:r>
            <a:endParaRPr lang="en-MY" b="1" dirty="0">
              <a:solidFill>
                <a:schemeClr val="bg1"/>
              </a:solidFill>
            </a:endParaRPr>
          </a:p>
        </p:txBody>
      </p:sp>
      <p:sp>
        <p:nvSpPr>
          <p:cNvPr id="8" name="Content Placeholder 7"/>
          <p:cNvSpPr>
            <a:spLocks noGrp="1"/>
          </p:cNvSpPr>
          <p:nvPr>
            <p:ph idx="1"/>
          </p:nvPr>
        </p:nvSpPr>
        <p:spPr>
          <a:xfrm>
            <a:off x="304800" y="1143000"/>
            <a:ext cx="8382000" cy="4983163"/>
          </a:xfrm>
        </p:spPr>
        <p:txBody>
          <a:bodyPr>
            <a:normAutofit/>
          </a:bodyPr>
          <a:lstStyle/>
          <a:p>
            <a:pPr>
              <a:lnSpc>
                <a:spcPct val="150000"/>
              </a:lnSpc>
              <a:buFont typeface="Wingdings" pitchFamily="2" charset="2"/>
              <a:buChar char="Ø"/>
            </a:pPr>
            <a:r>
              <a:rPr lang="zh-CN" altLang="en-US" sz="3600" b="1" dirty="0" smtClean="0"/>
              <a:t>双原子</a:t>
            </a:r>
            <a:r>
              <a:rPr lang="zh-CN" altLang="en-US" sz="3600" b="1" dirty="0" smtClean="0">
                <a:solidFill>
                  <a:srgbClr val="002060"/>
                </a:solidFill>
              </a:rPr>
              <a:t>单质</a:t>
            </a:r>
            <a:r>
              <a:rPr lang="zh-CN" altLang="en-US" sz="3600" b="1" dirty="0" smtClean="0"/>
              <a:t>分子都是</a:t>
            </a:r>
            <a:r>
              <a:rPr lang="zh-CN" altLang="en-US" sz="3600" b="1" dirty="0" smtClean="0">
                <a:solidFill>
                  <a:srgbClr val="002060"/>
                </a:solidFill>
              </a:rPr>
              <a:t>非极性分子</a:t>
            </a:r>
            <a:r>
              <a:rPr lang="zh-CN" altLang="en-US" sz="3600" b="1" dirty="0" smtClean="0"/>
              <a:t> 。</a:t>
            </a:r>
            <a:endParaRPr lang="en-US" altLang="zh-CN" sz="3600" b="1" dirty="0" smtClean="0"/>
          </a:p>
          <a:p>
            <a:pPr>
              <a:lnSpc>
                <a:spcPct val="150000"/>
              </a:lnSpc>
              <a:buFont typeface="Wingdings" pitchFamily="2" charset="2"/>
              <a:buChar char="Ø"/>
            </a:pPr>
            <a:r>
              <a:rPr lang="zh-CN" altLang="en-US" sz="3600" b="1" dirty="0" smtClean="0">
                <a:solidFill>
                  <a:srgbClr val="002060"/>
                </a:solidFill>
              </a:rPr>
              <a:t>双原子化合物</a:t>
            </a:r>
            <a:r>
              <a:rPr lang="zh-CN" altLang="en-US" sz="3600" b="1" dirty="0" smtClean="0"/>
              <a:t>分子大多数是</a:t>
            </a:r>
            <a:r>
              <a:rPr lang="zh-CN" altLang="en-US" sz="3600" b="1" dirty="0" smtClean="0">
                <a:solidFill>
                  <a:srgbClr val="002060"/>
                </a:solidFill>
              </a:rPr>
              <a:t>极性分子</a:t>
            </a:r>
            <a:r>
              <a:rPr lang="zh-CN" altLang="en-US" sz="3600" b="1" dirty="0" smtClean="0"/>
              <a:t>（</a:t>
            </a:r>
            <a:r>
              <a:rPr lang="en-US" altLang="zh-CN" sz="3600" b="1" dirty="0" smtClean="0"/>
              <a:t>HF</a:t>
            </a:r>
            <a:r>
              <a:rPr lang="zh-CN" altLang="en-US" sz="3600" b="1" dirty="0" smtClean="0"/>
              <a:t>、</a:t>
            </a:r>
            <a:r>
              <a:rPr lang="en-US" altLang="zh-CN" sz="3600" b="1" dirty="0" smtClean="0"/>
              <a:t>HCI</a:t>
            </a:r>
            <a:r>
              <a:rPr lang="zh-CN" altLang="en-US" sz="3600" b="1" dirty="0" smtClean="0"/>
              <a:t>） 。</a:t>
            </a:r>
            <a:endParaRPr lang="en-US" altLang="zh-CN" sz="3600" b="1" dirty="0" smtClean="0"/>
          </a:p>
          <a:p>
            <a:pPr>
              <a:lnSpc>
                <a:spcPct val="150000"/>
              </a:lnSpc>
              <a:buFont typeface="Wingdings" pitchFamily="2" charset="2"/>
              <a:buChar char="Ø"/>
            </a:pPr>
            <a:r>
              <a:rPr lang="zh-CN" altLang="en-US" sz="3600" b="1" dirty="0" smtClean="0"/>
              <a:t>多原子分子的极性要看其</a:t>
            </a:r>
            <a:r>
              <a:rPr lang="zh-CN" altLang="en-US" sz="3600" b="1" dirty="0" smtClean="0">
                <a:solidFill>
                  <a:srgbClr val="002060"/>
                </a:solidFill>
                <a:effectLst>
                  <a:outerShdw blurRad="38100" dist="38100" dir="2700000" algn="tl">
                    <a:srgbClr val="000000">
                      <a:alpha val="43137"/>
                    </a:srgbClr>
                  </a:outerShdw>
                </a:effectLst>
              </a:rPr>
              <a:t>立体构型</a:t>
            </a:r>
            <a:r>
              <a:rPr lang="zh-CN" altLang="en-US" sz="3600" b="1" dirty="0" smtClean="0"/>
              <a:t>。</a:t>
            </a:r>
            <a:endParaRPr lang="en-US" altLang="zh-CN" sz="3600" b="1" dirty="0" smtClean="0"/>
          </a:p>
          <a:p>
            <a:pPr>
              <a:lnSpc>
                <a:spcPct val="150000"/>
              </a:lnSpc>
              <a:buNone/>
            </a:pPr>
            <a:endParaRPr lang="en-US" altLang="zh-CN" sz="3600" b="1" dirty="0" smtClean="0"/>
          </a:p>
          <a:p>
            <a:pPr>
              <a:lnSpc>
                <a:spcPct val="150000"/>
              </a:lnSpc>
              <a:buNone/>
            </a:pPr>
            <a:endParaRPr lang="en-MY" sz="3600" b="1" dirty="0" smtClean="0"/>
          </a:p>
          <a:p>
            <a:pPr>
              <a:lnSpc>
                <a:spcPct val="150000"/>
              </a:lnSpc>
              <a:buNone/>
            </a:pPr>
            <a:endParaRPr lang="en-US" sz="3600" dirty="0"/>
          </a:p>
        </p:txBody>
      </p:sp>
    </p:spTree>
    <p:extLst>
      <p:ext uri="{BB962C8B-B14F-4D97-AF65-F5344CB8AC3E}">
        <p14:creationId xmlns="" xmlns:p14="http://schemas.microsoft.com/office/powerpoint/2010/main" val="160101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082" y="116632"/>
            <a:ext cx="8714518" cy="1143000"/>
          </a:xfrm>
        </p:spPr>
        <p:txBody>
          <a:bodyPr>
            <a:normAutofit/>
          </a:bodyPr>
          <a:lstStyle/>
          <a:p>
            <a:r>
              <a:rPr lang="zh-CN" altLang="en-US" b="1" dirty="0" smtClean="0">
                <a:solidFill>
                  <a:schemeClr val="bg1"/>
                </a:solidFill>
              </a:rPr>
              <a:t>价层电子对互斥理论</a:t>
            </a:r>
            <a:endParaRPr lang="en-MY" b="1" dirty="0">
              <a:solidFill>
                <a:schemeClr val="bg1"/>
              </a:solidFill>
            </a:endParaRPr>
          </a:p>
        </p:txBody>
      </p:sp>
      <p:pic>
        <p:nvPicPr>
          <p:cNvPr id="6" name="Picture 8" descr="http://p4.so.qhimg.com/bdr/_240_/t013b6a99c6dc1967be.jpg"/>
          <p:cNvPicPr>
            <a:picLocks noChangeAspect="1" noChangeArrowheads="1"/>
          </p:cNvPicPr>
          <p:nvPr/>
        </p:nvPicPr>
        <p:blipFill>
          <a:blip r:embed="rId2" cstate="print"/>
          <a:srcRect/>
          <a:stretch>
            <a:fillRect/>
          </a:stretch>
        </p:blipFill>
        <p:spPr bwMode="auto">
          <a:xfrm>
            <a:off x="6400800" y="4475988"/>
            <a:ext cx="2133600" cy="2229612"/>
          </a:xfrm>
          <a:prstGeom prst="rect">
            <a:avLst/>
          </a:prstGeom>
          <a:noFill/>
        </p:spPr>
      </p:pic>
      <p:pic>
        <p:nvPicPr>
          <p:cNvPr id="7" name="Picture 10" descr="http://a1.att.hudong.com/04/09/01300000110309123675099483340.jpg"/>
          <p:cNvPicPr>
            <a:picLocks noChangeAspect="1" noChangeArrowheads="1"/>
          </p:cNvPicPr>
          <p:nvPr/>
        </p:nvPicPr>
        <p:blipFill>
          <a:blip r:embed="rId3" cstate="print"/>
          <a:srcRect/>
          <a:stretch>
            <a:fillRect/>
          </a:stretch>
        </p:blipFill>
        <p:spPr bwMode="auto">
          <a:xfrm>
            <a:off x="6400800" y="2057400"/>
            <a:ext cx="2176709" cy="2286000"/>
          </a:xfrm>
          <a:prstGeom prst="rect">
            <a:avLst/>
          </a:prstGeom>
          <a:noFill/>
        </p:spPr>
      </p:pic>
      <p:sp>
        <p:nvSpPr>
          <p:cNvPr id="8" name="Content Placeholder 7"/>
          <p:cNvSpPr>
            <a:spLocks noGrp="1"/>
          </p:cNvSpPr>
          <p:nvPr>
            <p:ph idx="1"/>
          </p:nvPr>
        </p:nvSpPr>
        <p:spPr>
          <a:xfrm>
            <a:off x="304800" y="1143000"/>
            <a:ext cx="8382000" cy="4983163"/>
          </a:xfrm>
        </p:spPr>
        <p:txBody>
          <a:bodyPr>
            <a:normAutofit/>
          </a:bodyPr>
          <a:lstStyle/>
          <a:p>
            <a:pPr marL="514350" indent="-514350">
              <a:buFont typeface="+mj-lt"/>
              <a:buAutoNum type="arabicPeriod"/>
            </a:pPr>
            <a:r>
              <a:rPr lang="zh-CN" altLang="en-US" dirty="0" smtClean="0"/>
              <a:t>分子的立体构型是“价层电子对”相互排斥的结果。</a:t>
            </a:r>
            <a:endParaRPr lang="en-US" altLang="zh-CN" dirty="0" smtClean="0"/>
          </a:p>
          <a:p>
            <a:pPr marL="514350" indent="-514350">
              <a:buFont typeface="+mj-lt"/>
              <a:buAutoNum type="arabicPeriod"/>
            </a:pPr>
            <a:r>
              <a:rPr lang="zh-CN" altLang="en-US" dirty="0" smtClean="0"/>
              <a:t>分子中的价层电子对</a:t>
            </a:r>
            <a:r>
              <a:rPr lang="en-US" altLang="zh-CN" dirty="0" smtClean="0"/>
              <a:t>[</a:t>
            </a:r>
            <a:r>
              <a:rPr lang="zh-CN" altLang="en-US" dirty="0" smtClean="0"/>
              <a:t>中心原子的电子对（包括成键电子对和孤对电子）</a:t>
            </a:r>
            <a:r>
              <a:rPr lang="en-US" altLang="zh-CN" dirty="0" smtClean="0"/>
              <a:t>]</a:t>
            </a:r>
            <a:r>
              <a:rPr lang="zh-CN" altLang="en-US" dirty="0" smtClean="0"/>
              <a:t>尽可能彼此远离。</a:t>
            </a:r>
            <a:endParaRPr lang="en-US" altLang="zh-CN" dirty="0" smtClean="0"/>
          </a:p>
          <a:p>
            <a:pPr marL="514350" indent="-514350">
              <a:buFont typeface="+mj-lt"/>
              <a:buAutoNum type="arabicPeriod"/>
            </a:pPr>
            <a:r>
              <a:rPr lang="zh-CN" altLang="en-US" dirty="0" smtClean="0"/>
              <a:t>分子尽可能采取对称的空间构型。</a:t>
            </a:r>
            <a:endParaRPr lang="en-US" altLang="zh-CN" dirty="0" smtClean="0"/>
          </a:p>
          <a:p>
            <a:pPr>
              <a:buNone/>
            </a:pPr>
            <a:r>
              <a:rPr lang="en-US" altLang="zh-CN" dirty="0" smtClean="0"/>
              <a:t>	</a:t>
            </a:r>
            <a:r>
              <a:rPr lang="zh-CN" altLang="en-US" dirty="0" smtClean="0"/>
              <a:t>如：</a:t>
            </a:r>
            <a:r>
              <a:rPr lang="zh-CN" altLang="en-US" b="1" dirty="0" smtClean="0">
                <a:solidFill>
                  <a:srgbClr val="002060"/>
                </a:solidFill>
                <a:effectLst>
                  <a:outerShdw blurRad="38100" dist="38100" dir="2700000" algn="tl">
                    <a:srgbClr val="000000">
                      <a:alpha val="43137"/>
                    </a:srgbClr>
                  </a:outerShdw>
                </a:effectLst>
              </a:rPr>
              <a:t>价层电子对</a:t>
            </a:r>
            <a:r>
              <a:rPr lang="en-US" altLang="zh-CN" b="1" dirty="0" smtClean="0">
                <a:solidFill>
                  <a:srgbClr val="002060"/>
                </a:solidFill>
                <a:effectLst>
                  <a:outerShdw blurRad="38100" dist="38100" dir="2700000" algn="tl">
                    <a:srgbClr val="000000">
                      <a:alpha val="43137"/>
                    </a:srgbClr>
                  </a:outerShdw>
                </a:effectLst>
              </a:rPr>
              <a:t>2---</a:t>
            </a:r>
            <a:r>
              <a:rPr lang="zh-CN" altLang="en-US" b="1" dirty="0" smtClean="0">
                <a:solidFill>
                  <a:srgbClr val="002060"/>
                </a:solidFill>
                <a:effectLst>
                  <a:outerShdw blurRad="38100" dist="38100" dir="2700000" algn="tl">
                    <a:srgbClr val="000000">
                      <a:alpha val="43137"/>
                    </a:srgbClr>
                  </a:outerShdw>
                </a:effectLst>
              </a:rPr>
              <a:t>直线型</a:t>
            </a:r>
            <a:endParaRPr lang="en-US" altLang="zh-CN" b="1" dirty="0" smtClean="0">
              <a:solidFill>
                <a:srgbClr val="002060"/>
              </a:solidFill>
              <a:effectLst>
                <a:outerShdw blurRad="38100" dist="38100" dir="2700000" algn="tl">
                  <a:srgbClr val="000000">
                    <a:alpha val="43137"/>
                  </a:srgbClr>
                </a:outerShdw>
              </a:effectLst>
            </a:endParaRPr>
          </a:p>
          <a:p>
            <a:pPr>
              <a:buNone/>
            </a:pPr>
            <a:r>
              <a:rPr lang="en-US" altLang="zh-CN" b="1" dirty="0" smtClean="0">
                <a:solidFill>
                  <a:srgbClr val="002060"/>
                </a:solidFill>
                <a:effectLst>
                  <a:outerShdw blurRad="38100" dist="38100" dir="2700000" algn="tl">
                    <a:srgbClr val="000000">
                      <a:alpha val="43137"/>
                    </a:srgbClr>
                  </a:outerShdw>
                </a:effectLst>
              </a:rPr>
              <a:t>		</a:t>
            </a:r>
            <a:r>
              <a:rPr lang="zh-CN" altLang="en-US" b="1" dirty="0" smtClean="0">
                <a:solidFill>
                  <a:srgbClr val="002060"/>
                </a:solidFill>
                <a:effectLst>
                  <a:outerShdw blurRad="38100" dist="38100" dir="2700000" algn="tl">
                    <a:srgbClr val="000000">
                      <a:alpha val="43137"/>
                    </a:srgbClr>
                  </a:outerShdw>
                </a:effectLst>
              </a:rPr>
              <a:t>价层电子对</a:t>
            </a:r>
            <a:r>
              <a:rPr lang="en-US" altLang="zh-CN" b="1" dirty="0" smtClean="0">
                <a:solidFill>
                  <a:srgbClr val="002060"/>
                </a:solidFill>
                <a:effectLst>
                  <a:outerShdw blurRad="38100" dist="38100" dir="2700000" algn="tl">
                    <a:srgbClr val="000000">
                      <a:alpha val="43137"/>
                    </a:srgbClr>
                  </a:outerShdw>
                </a:effectLst>
              </a:rPr>
              <a:t>3---</a:t>
            </a:r>
            <a:r>
              <a:rPr lang="zh-CN" altLang="en-US" b="1" dirty="0" smtClean="0">
                <a:solidFill>
                  <a:srgbClr val="002060"/>
                </a:solidFill>
                <a:effectLst>
                  <a:outerShdw blurRad="38100" dist="38100" dir="2700000" algn="tl">
                    <a:srgbClr val="000000">
                      <a:alpha val="43137"/>
                    </a:srgbClr>
                  </a:outerShdw>
                </a:effectLst>
              </a:rPr>
              <a:t>平面三角型</a:t>
            </a:r>
            <a:endParaRPr lang="en-US" altLang="zh-CN" b="1" dirty="0" smtClean="0">
              <a:solidFill>
                <a:srgbClr val="002060"/>
              </a:solidFill>
              <a:effectLst>
                <a:outerShdw blurRad="38100" dist="38100" dir="2700000" algn="tl">
                  <a:srgbClr val="000000">
                    <a:alpha val="43137"/>
                  </a:srgbClr>
                </a:outerShdw>
              </a:effectLst>
            </a:endParaRPr>
          </a:p>
          <a:p>
            <a:pPr>
              <a:buNone/>
            </a:pPr>
            <a:r>
              <a:rPr lang="en-US" altLang="zh-CN" b="1" dirty="0" smtClean="0">
                <a:solidFill>
                  <a:srgbClr val="002060"/>
                </a:solidFill>
                <a:effectLst>
                  <a:outerShdw blurRad="38100" dist="38100" dir="2700000" algn="tl">
                    <a:srgbClr val="000000">
                      <a:alpha val="43137"/>
                    </a:srgbClr>
                  </a:outerShdw>
                </a:effectLst>
              </a:rPr>
              <a:t>		</a:t>
            </a:r>
            <a:r>
              <a:rPr lang="zh-CN" altLang="en-US" b="1" dirty="0" smtClean="0">
                <a:solidFill>
                  <a:srgbClr val="002060"/>
                </a:solidFill>
                <a:effectLst>
                  <a:outerShdw blurRad="38100" dist="38100" dir="2700000" algn="tl">
                    <a:srgbClr val="000000">
                      <a:alpha val="43137"/>
                    </a:srgbClr>
                  </a:outerShdw>
                </a:effectLst>
              </a:rPr>
              <a:t>价层电子对</a:t>
            </a:r>
            <a:r>
              <a:rPr lang="en-US" altLang="zh-CN" b="1" dirty="0" smtClean="0">
                <a:solidFill>
                  <a:srgbClr val="002060"/>
                </a:solidFill>
                <a:effectLst>
                  <a:outerShdw blurRad="38100" dist="38100" dir="2700000" algn="tl">
                    <a:srgbClr val="000000">
                      <a:alpha val="43137"/>
                    </a:srgbClr>
                  </a:outerShdw>
                </a:effectLst>
              </a:rPr>
              <a:t>4---</a:t>
            </a:r>
            <a:r>
              <a:rPr lang="zh-CN" altLang="en-US" b="1" dirty="0" smtClean="0">
                <a:solidFill>
                  <a:srgbClr val="002060"/>
                </a:solidFill>
                <a:effectLst>
                  <a:outerShdw blurRad="38100" dist="38100" dir="2700000" algn="tl">
                    <a:srgbClr val="000000">
                      <a:alpha val="43137"/>
                    </a:srgbClr>
                  </a:outerShdw>
                </a:effectLst>
              </a:rPr>
              <a:t>正四面体</a:t>
            </a:r>
            <a:endParaRPr lang="en-US" altLang="zh-CN" b="1" dirty="0" smtClean="0">
              <a:solidFill>
                <a:srgbClr val="002060"/>
              </a:solidFill>
              <a:effectLst>
                <a:outerShdw blurRad="38100" dist="38100" dir="2700000" algn="tl">
                  <a:srgbClr val="000000">
                    <a:alpha val="43137"/>
                  </a:srgbClr>
                </a:outerShdw>
              </a:effectLst>
            </a:endParaRPr>
          </a:p>
          <a:p>
            <a:pPr>
              <a:buNone/>
            </a:pPr>
            <a:endParaRPr lang="en-MY" dirty="0" smtClean="0"/>
          </a:p>
          <a:p>
            <a:pPr>
              <a:buNone/>
            </a:pPr>
            <a:endParaRPr lang="en-US" dirty="0"/>
          </a:p>
        </p:txBody>
      </p:sp>
      <p:pic>
        <p:nvPicPr>
          <p:cNvPr id="2050" name="Picture 2" descr="C:\Users\user\Desktop\Screenshot_20180613-142340.png"/>
          <p:cNvPicPr>
            <a:picLocks noChangeAspect="1" noChangeArrowheads="1"/>
          </p:cNvPicPr>
          <p:nvPr/>
        </p:nvPicPr>
        <p:blipFill>
          <a:blip r:embed="rId4" cstate="print"/>
          <a:srcRect t="4741" b="70690"/>
          <a:stretch>
            <a:fillRect/>
          </a:stretch>
        </p:blipFill>
        <p:spPr bwMode="auto">
          <a:xfrm>
            <a:off x="5943600" y="381000"/>
            <a:ext cx="2971800" cy="1447800"/>
          </a:xfrm>
          <a:prstGeom prst="rect">
            <a:avLst/>
          </a:prstGeom>
          <a:noFill/>
          <a:scene3d>
            <a:camera prst="orthographicFront"/>
            <a:lightRig rig="threePt" dir="t"/>
          </a:scene3d>
          <a:sp3d>
            <a:bevelT w="6350" h="0"/>
          </a:sp3d>
        </p:spPr>
      </p:pic>
    </p:spTree>
    <p:extLst>
      <p:ext uri="{BB962C8B-B14F-4D97-AF65-F5344CB8AC3E}">
        <p14:creationId xmlns="" xmlns:p14="http://schemas.microsoft.com/office/powerpoint/2010/main" val="160101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050"/>
                                        </p:tgtEl>
                                        <p:attrNameLst>
                                          <p:attrName>style.visibility</p:attrName>
                                        </p:attrNameLst>
                                      </p:cBhvr>
                                      <p:to>
                                        <p:strVal val="visible"/>
                                      </p:to>
                                    </p:set>
                                    <p:anim calcmode="lin" valueType="num">
                                      <p:cBhvr additive="base">
                                        <p:cTn id="31" dur="500" fill="hold"/>
                                        <p:tgtEl>
                                          <p:spTgt spid="2050"/>
                                        </p:tgtEl>
                                        <p:attrNameLst>
                                          <p:attrName>ppt_x</p:attrName>
                                        </p:attrNameLst>
                                      </p:cBhvr>
                                      <p:tavLst>
                                        <p:tav tm="0">
                                          <p:val>
                                            <p:strVal val="#ppt_x"/>
                                          </p:val>
                                        </p:tav>
                                        <p:tav tm="100000">
                                          <p:val>
                                            <p:strVal val="#ppt_x"/>
                                          </p:val>
                                        </p:tav>
                                      </p:tavLst>
                                    </p:anim>
                                    <p:anim calcmode="lin" valueType="num">
                                      <p:cBhvr additive="base">
                                        <p:cTn id="32"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anim calcmode="lin" valueType="num">
                                      <p:cBhvr additive="base">
                                        <p:cTn id="3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5" end="5"/>
                                            </p:txEl>
                                          </p:spTgt>
                                        </p:tgtEl>
                                        <p:attrNameLst>
                                          <p:attrName>style.visibility</p:attrName>
                                        </p:attrNameLst>
                                      </p:cBhvr>
                                      <p:to>
                                        <p:strVal val="visible"/>
                                      </p:to>
                                    </p:set>
                                    <p:anim calcmode="lin" valueType="num">
                                      <p:cBhvr additive="base">
                                        <p:cTn id="49"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500" fill="hold"/>
                                        <p:tgtEl>
                                          <p:spTgt spid="6"/>
                                        </p:tgtEl>
                                        <p:attrNameLst>
                                          <p:attrName>ppt_x</p:attrName>
                                        </p:attrNameLst>
                                      </p:cBhvr>
                                      <p:tavLst>
                                        <p:tav tm="0">
                                          <p:val>
                                            <p:strVal val="#ppt_x"/>
                                          </p:val>
                                        </p:tav>
                                        <p:tav tm="100000">
                                          <p:val>
                                            <p:strVal val="#ppt_x"/>
                                          </p:val>
                                        </p:tav>
                                      </p:tavLst>
                                    </p:anim>
                                    <p:anim calcmode="lin" valueType="num">
                                      <p:cBhvr additive="base">
                                        <p:cTn id="5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 xmlns:p14="http://schemas.microsoft.com/office/powerpoint/2010/main" val="2448163812"/>
              </p:ext>
            </p:extLst>
          </p:nvPr>
        </p:nvGraphicFramePr>
        <p:xfrm>
          <a:off x="323528" y="674550"/>
          <a:ext cx="8496944" cy="5224828"/>
        </p:xfrm>
        <a:graphic>
          <a:graphicData uri="http://schemas.openxmlformats.org/drawingml/2006/table">
            <a:tbl>
              <a:tblPr firstRow="1" bandRow="1">
                <a:tableStyleId>{5C22544A-7EE6-4342-B048-85BDC9FD1C3A}</a:tableStyleId>
              </a:tblPr>
              <a:tblGrid>
                <a:gridCol w="2304256"/>
                <a:gridCol w="3096344"/>
                <a:gridCol w="3096344"/>
              </a:tblGrid>
              <a:tr h="648074">
                <a:tc>
                  <a:txBody>
                    <a:bodyPr/>
                    <a:lstStyle/>
                    <a:p>
                      <a:pPr algn="ctr"/>
                      <a:r>
                        <a:rPr lang="zh-CN" altLang="en-US" sz="2800" dirty="0" smtClean="0"/>
                        <a:t>分子</a:t>
                      </a:r>
                      <a:endParaRPr lang="en-MY" sz="2800" dirty="0"/>
                    </a:p>
                  </a:txBody>
                  <a:tcPr/>
                </a:tc>
                <a:tc>
                  <a:txBody>
                    <a:bodyPr/>
                    <a:lstStyle/>
                    <a:p>
                      <a:r>
                        <a:rPr lang="zh-CN" altLang="en-US" sz="2800" dirty="0" smtClean="0"/>
                        <a:t>极性键</a:t>
                      </a:r>
                      <a:r>
                        <a:rPr lang="en-US" altLang="zh-CN" sz="2800" dirty="0" smtClean="0"/>
                        <a:t>or</a:t>
                      </a:r>
                      <a:r>
                        <a:rPr lang="zh-CN" altLang="en-US" sz="2800" dirty="0" smtClean="0"/>
                        <a:t>非极性键</a:t>
                      </a:r>
                      <a:endParaRPr lang="en-MY" sz="2800" dirty="0"/>
                    </a:p>
                  </a:txBody>
                  <a:tcPr/>
                </a:tc>
                <a:tc>
                  <a:txBody>
                    <a:bodyPr/>
                    <a:lstStyle/>
                    <a:p>
                      <a:r>
                        <a:rPr lang="zh-CN" altLang="en-US" sz="2800" dirty="0" smtClean="0"/>
                        <a:t>极性</a:t>
                      </a:r>
                      <a:r>
                        <a:rPr lang="en-US" altLang="zh-CN" sz="2800" dirty="0" smtClean="0"/>
                        <a:t>or</a:t>
                      </a:r>
                      <a:r>
                        <a:rPr lang="zh-CN" altLang="en-US" sz="2800" dirty="0" smtClean="0"/>
                        <a:t>非极性分子</a:t>
                      </a:r>
                      <a:endParaRPr lang="en-MY" sz="2800" dirty="0"/>
                    </a:p>
                  </a:txBody>
                  <a:tcPr/>
                </a:tc>
              </a:tr>
              <a:tr h="653822">
                <a:tc>
                  <a:txBody>
                    <a:bodyPr/>
                    <a:lstStyle/>
                    <a:p>
                      <a:pPr algn="ctr"/>
                      <a:r>
                        <a:rPr lang="en-US" sz="2800" b="1" dirty="0" smtClean="0"/>
                        <a:t>H</a:t>
                      </a:r>
                      <a:r>
                        <a:rPr lang="en-US" sz="1800" b="1" dirty="0" smtClean="0"/>
                        <a:t>2</a:t>
                      </a:r>
                      <a:r>
                        <a:rPr lang="en-US" sz="2800" b="1" dirty="0" smtClean="0"/>
                        <a:t>S</a:t>
                      </a:r>
                      <a:endParaRPr lang="en-MY" sz="2800" b="1" dirty="0"/>
                    </a:p>
                  </a:txBody>
                  <a:tcPr/>
                </a:tc>
                <a:tc>
                  <a:txBody>
                    <a:bodyPr/>
                    <a:lstStyle/>
                    <a:p>
                      <a:pPr algn="ctr"/>
                      <a:r>
                        <a:rPr lang="zh-CN" altLang="en-US" sz="2800" b="1" dirty="0" smtClean="0"/>
                        <a:t>极性键</a:t>
                      </a:r>
                      <a:endParaRPr lang="en-MY" sz="2800" b="1" dirty="0"/>
                    </a:p>
                  </a:txBody>
                  <a:tcPr/>
                </a:tc>
                <a:tc>
                  <a:txBody>
                    <a:bodyPr/>
                    <a:lstStyle/>
                    <a:p>
                      <a:pPr algn="ctr"/>
                      <a:r>
                        <a:rPr lang="zh-CN" altLang="en-US" sz="2800" b="1" dirty="0" smtClean="0"/>
                        <a:t>极性分子</a:t>
                      </a:r>
                      <a:endParaRPr lang="en-MY" sz="2800" b="1" dirty="0"/>
                    </a:p>
                  </a:txBody>
                  <a:tcPr/>
                </a:tc>
              </a:tr>
              <a:tr h="653822">
                <a:tc>
                  <a:txBody>
                    <a:bodyPr/>
                    <a:lstStyle/>
                    <a:p>
                      <a:pPr algn="ctr"/>
                      <a:r>
                        <a:rPr lang="en-US" sz="2800" b="1" dirty="0" smtClean="0"/>
                        <a:t>B</a:t>
                      </a:r>
                      <a:r>
                        <a:rPr lang="en-US" altLang="zh-CN" sz="2800" b="1" dirty="0" smtClean="0"/>
                        <a:t>F</a:t>
                      </a:r>
                      <a:r>
                        <a:rPr lang="en-US" sz="1800" b="1" dirty="0" smtClean="0"/>
                        <a:t>3</a:t>
                      </a:r>
                      <a:endParaRPr lang="en-MY" sz="2800" b="1" dirty="0"/>
                    </a:p>
                  </a:txBody>
                  <a:tcPr/>
                </a:tc>
                <a:tc>
                  <a:txBody>
                    <a:bodyPr/>
                    <a:lstStyle/>
                    <a:p>
                      <a:pPr algn="ctr"/>
                      <a:r>
                        <a:rPr lang="zh-CN" altLang="en-US" sz="2800" b="1" dirty="0" smtClean="0"/>
                        <a:t>极性键</a:t>
                      </a:r>
                      <a:endParaRPr lang="en-MY" sz="2800" b="1" dirty="0"/>
                    </a:p>
                  </a:txBody>
                  <a:tcPr/>
                </a:tc>
                <a:tc>
                  <a:txBody>
                    <a:bodyPr/>
                    <a:lstStyle/>
                    <a:p>
                      <a:pPr algn="ctr"/>
                      <a:r>
                        <a:rPr lang="zh-CN" altLang="en-US" sz="2800" b="1" smtClean="0"/>
                        <a:t>非极性分子</a:t>
                      </a:r>
                      <a:endParaRPr lang="en-MY" sz="2800" b="1" dirty="0"/>
                    </a:p>
                  </a:txBody>
                  <a:tcPr/>
                </a:tc>
              </a:tr>
              <a:tr h="653822">
                <a:tc>
                  <a:txBody>
                    <a:bodyPr/>
                    <a:lstStyle/>
                    <a:p>
                      <a:pPr algn="ctr"/>
                      <a:r>
                        <a:rPr lang="en-US" sz="2800" b="1" dirty="0" smtClean="0"/>
                        <a:t>CO</a:t>
                      </a:r>
                      <a:r>
                        <a:rPr lang="en-US" altLang="zh-CN" sz="1800" b="1" dirty="0" smtClean="0"/>
                        <a:t>2</a:t>
                      </a:r>
                      <a:endParaRPr lang="en-MY" sz="2800" b="1" dirty="0"/>
                    </a:p>
                  </a:txBody>
                  <a:tcPr/>
                </a:tc>
                <a:tc>
                  <a:txBody>
                    <a:bodyPr/>
                    <a:lstStyle/>
                    <a:p>
                      <a:pPr algn="ctr"/>
                      <a:r>
                        <a:rPr lang="zh-CN" altLang="en-US" sz="2800" b="1" dirty="0" smtClean="0"/>
                        <a:t>极性键</a:t>
                      </a:r>
                      <a:endParaRPr lang="en-MY" sz="2800" b="1" dirty="0"/>
                    </a:p>
                  </a:txBody>
                  <a:tcPr/>
                </a:tc>
                <a:tc>
                  <a:txBody>
                    <a:bodyPr/>
                    <a:lstStyle/>
                    <a:p>
                      <a:pPr algn="ctr"/>
                      <a:r>
                        <a:rPr lang="zh-CN" altLang="en-US" sz="2800" b="1" smtClean="0"/>
                        <a:t>非极性分子</a:t>
                      </a:r>
                      <a:endParaRPr lang="en-MY" sz="2800" b="1"/>
                    </a:p>
                  </a:txBody>
                  <a:tcPr/>
                </a:tc>
              </a:tr>
              <a:tr h="653822">
                <a:tc>
                  <a:txBody>
                    <a:bodyPr/>
                    <a:lstStyle/>
                    <a:p>
                      <a:pPr algn="ctr"/>
                      <a:r>
                        <a:rPr lang="en-US" sz="2800" b="1" dirty="0" smtClean="0"/>
                        <a:t>NH</a:t>
                      </a:r>
                      <a:r>
                        <a:rPr lang="en-US" sz="1800" b="1" dirty="0" smtClean="0"/>
                        <a:t>3</a:t>
                      </a:r>
                      <a:endParaRPr lang="en-MY" sz="2800" b="1" dirty="0"/>
                    </a:p>
                  </a:txBody>
                  <a:tcPr/>
                </a:tc>
                <a:tc>
                  <a:txBody>
                    <a:bodyPr/>
                    <a:lstStyle/>
                    <a:p>
                      <a:pPr algn="ctr"/>
                      <a:r>
                        <a:rPr lang="zh-CN" altLang="en-US" sz="2800" b="1" dirty="0" smtClean="0"/>
                        <a:t>极性键</a:t>
                      </a:r>
                      <a:endParaRPr lang="en-MY" sz="2800" b="1" dirty="0"/>
                    </a:p>
                  </a:txBody>
                  <a:tcPr/>
                </a:tc>
                <a:tc>
                  <a:txBody>
                    <a:bodyPr/>
                    <a:lstStyle/>
                    <a:p>
                      <a:pPr algn="ctr"/>
                      <a:r>
                        <a:rPr lang="zh-CN" altLang="en-US" sz="2800" b="1" dirty="0" smtClean="0"/>
                        <a:t>极性分子</a:t>
                      </a:r>
                      <a:endParaRPr lang="en-MY" sz="2800" b="1" dirty="0"/>
                    </a:p>
                  </a:txBody>
                  <a:tcPr/>
                </a:tc>
              </a:tr>
              <a:tr h="65382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800" b="1" dirty="0" smtClean="0"/>
                        <a:t>C</a:t>
                      </a:r>
                      <a:r>
                        <a:rPr lang="en-US" sz="2800" b="1" dirty="0" smtClean="0"/>
                        <a:t>S</a:t>
                      </a:r>
                      <a:r>
                        <a:rPr lang="en-US" sz="1800" b="1" dirty="0" smtClean="0"/>
                        <a:t>2</a:t>
                      </a:r>
                      <a:endParaRPr lang="en-MY" sz="2800" b="1" dirty="0" smtClean="0"/>
                    </a:p>
                  </a:txBody>
                  <a:tcPr/>
                </a:tc>
                <a:tc>
                  <a:txBody>
                    <a:bodyPr/>
                    <a:lstStyle/>
                    <a:p>
                      <a:pPr algn="ctr"/>
                      <a:r>
                        <a:rPr lang="zh-CN" altLang="en-US" sz="2800" b="1" dirty="0" smtClean="0"/>
                        <a:t>非极性键</a:t>
                      </a:r>
                      <a:endParaRPr lang="en-MY" sz="2800" b="1" dirty="0"/>
                    </a:p>
                  </a:txBody>
                  <a:tcPr/>
                </a:tc>
                <a:tc>
                  <a:txBody>
                    <a:bodyPr/>
                    <a:lstStyle/>
                    <a:p>
                      <a:pPr algn="ctr"/>
                      <a:r>
                        <a:rPr lang="zh-CN" altLang="en-US" sz="2800" b="1" smtClean="0"/>
                        <a:t>非极性分子</a:t>
                      </a:r>
                      <a:endParaRPr lang="en-MY" sz="2800" b="1"/>
                    </a:p>
                  </a:txBody>
                  <a:tcPr/>
                </a:tc>
              </a:tr>
              <a:tr h="65382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b="1" dirty="0" smtClean="0"/>
                        <a:t>CCl</a:t>
                      </a:r>
                      <a:r>
                        <a:rPr lang="en-US" altLang="zh-CN" sz="1800" b="1" dirty="0" smtClean="0"/>
                        <a:t>4</a:t>
                      </a:r>
                      <a:endParaRPr lang="en-MY" sz="2800" b="1" dirty="0"/>
                    </a:p>
                  </a:txBody>
                  <a:tcPr/>
                </a:tc>
                <a:tc>
                  <a:txBody>
                    <a:bodyPr/>
                    <a:lstStyle/>
                    <a:p>
                      <a:pPr algn="ctr"/>
                      <a:r>
                        <a:rPr lang="zh-CN" altLang="en-US" sz="2800" b="1" dirty="0" smtClean="0"/>
                        <a:t>极性键</a:t>
                      </a:r>
                      <a:endParaRPr lang="en-MY" sz="2800" b="1" dirty="0"/>
                    </a:p>
                  </a:txBody>
                  <a:tcPr/>
                </a:tc>
                <a:tc>
                  <a:txBody>
                    <a:bodyPr/>
                    <a:lstStyle/>
                    <a:p>
                      <a:pPr algn="ctr"/>
                      <a:r>
                        <a:rPr lang="zh-CN" altLang="en-US" sz="2800" b="1" dirty="0" smtClean="0"/>
                        <a:t>非极性分子</a:t>
                      </a:r>
                      <a:endParaRPr lang="en-US" altLang="zh-CN" sz="2800" b="1" dirty="0" smtClean="0"/>
                    </a:p>
                  </a:txBody>
                  <a:tcPr/>
                </a:tc>
              </a:tr>
              <a:tr h="653822">
                <a:tc>
                  <a:txBody>
                    <a:bodyPr/>
                    <a:lstStyle/>
                    <a:p>
                      <a:pPr algn="ctr"/>
                      <a:r>
                        <a:rPr lang="en-US" altLang="zh-CN" sz="2800" b="1" dirty="0" smtClean="0"/>
                        <a:t>CH</a:t>
                      </a:r>
                      <a:r>
                        <a:rPr lang="en-US" altLang="zh-CN" sz="2800" b="1" baseline="-25000" dirty="0" smtClean="0"/>
                        <a:t>3</a:t>
                      </a:r>
                      <a:r>
                        <a:rPr lang="en-US" altLang="zh-CN" sz="2800" b="1" baseline="0" dirty="0" smtClean="0"/>
                        <a:t>Cl</a:t>
                      </a:r>
                      <a:endParaRPr lang="en-MY" sz="2800" b="1" dirty="0"/>
                    </a:p>
                  </a:txBody>
                  <a:tcPr/>
                </a:tc>
                <a:tc>
                  <a:txBody>
                    <a:bodyPr/>
                    <a:lstStyle/>
                    <a:p>
                      <a:pPr algn="ctr"/>
                      <a:r>
                        <a:rPr lang="zh-CN" altLang="en-US" sz="2800" b="1" dirty="0" smtClean="0"/>
                        <a:t>极性键</a:t>
                      </a:r>
                      <a:endParaRPr lang="en-MY" sz="2800" b="1" dirty="0"/>
                    </a:p>
                  </a:txBody>
                  <a:tcPr/>
                </a:tc>
                <a:tc>
                  <a:txBody>
                    <a:bodyPr/>
                    <a:lstStyle/>
                    <a:p>
                      <a:pPr algn="ctr"/>
                      <a:r>
                        <a:rPr lang="zh-CN" altLang="en-US" sz="2800" b="1" dirty="0" smtClean="0"/>
                        <a:t>极性分子</a:t>
                      </a:r>
                      <a:endParaRPr lang="en-US" altLang="zh-CN" sz="2800" b="1" dirty="0" smtClean="0"/>
                    </a:p>
                  </a:txBody>
                  <a:tcPr/>
                </a:tc>
              </a:tr>
            </a:tbl>
          </a:graphicData>
        </a:graphic>
      </p:graphicFrame>
      <p:sp>
        <p:nvSpPr>
          <p:cNvPr id="5" name="Rectangle 4"/>
          <p:cNvSpPr/>
          <p:nvPr/>
        </p:nvSpPr>
        <p:spPr>
          <a:xfrm>
            <a:off x="228600" y="533400"/>
            <a:ext cx="8686800" cy="548640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ounded Rectangle 5"/>
          <p:cNvSpPr/>
          <p:nvPr/>
        </p:nvSpPr>
        <p:spPr>
          <a:xfrm>
            <a:off x="2667000" y="1370224"/>
            <a:ext cx="2971800" cy="5334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791200" y="1370224"/>
            <a:ext cx="2971800" cy="5334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2667000" y="2056024"/>
            <a:ext cx="2971800" cy="5334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791200" y="2056024"/>
            <a:ext cx="2971800" cy="5334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2667000" y="2665624"/>
            <a:ext cx="2971800" cy="5334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5791200" y="2665624"/>
            <a:ext cx="2971800" cy="5334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2667000" y="3275224"/>
            <a:ext cx="2971800" cy="5334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791200" y="3275224"/>
            <a:ext cx="2971800" cy="5334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2667000" y="3962400"/>
            <a:ext cx="2971800" cy="5334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5791200" y="4038600"/>
            <a:ext cx="2971800" cy="5334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2667000" y="4648200"/>
            <a:ext cx="2971800" cy="5334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5791200" y="4648200"/>
            <a:ext cx="2971800" cy="5334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2743200" y="5257800"/>
            <a:ext cx="2971800" cy="5334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5791200" y="5257800"/>
            <a:ext cx="2971800" cy="5334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69820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7"/>
                                        </p:tgtEl>
                                        <p:attrNameLst>
                                          <p:attrName>ppt_x</p:attrName>
                                        </p:attrNameLst>
                                      </p:cBhvr>
                                      <p:tavLst>
                                        <p:tav tm="0">
                                          <p:val>
                                            <p:strVal val="ppt_x"/>
                                          </p:val>
                                        </p:tav>
                                        <p:tav tm="100000">
                                          <p:val>
                                            <p:strVal val="ppt_x"/>
                                          </p:val>
                                        </p:tav>
                                      </p:tavLst>
                                    </p:anim>
                                    <p:anim calcmode="lin" valueType="num">
                                      <p:cBhvr additive="base">
                                        <p:cTn id="13" dur="500"/>
                                        <p:tgtEl>
                                          <p:spTgt spid="7"/>
                                        </p:tgtEl>
                                        <p:attrNameLst>
                                          <p:attrName>ppt_y</p:attrName>
                                        </p:attrNameLst>
                                      </p:cBhvr>
                                      <p:tavLst>
                                        <p:tav tm="0">
                                          <p:val>
                                            <p:strVal val="ppt_y"/>
                                          </p:val>
                                        </p:tav>
                                        <p:tav tm="100000">
                                          <p:val>
                                            <p:strVal val="1+ppt_h/2"/>
                                          </p:val>
                                        </p:tav>
                                      </p:tavLst>
                                    </p:anim>
                                    <p:set>
                                      <p:cBhvr>
                                        <p:cTn id="14" dur="1" fill="hold">
                                          <p:stCondLst>
                                            <p:cond delay="499"/>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8"/>
                                        </p:tgtEl>
                                        <p:attrNameLst>
                                          <p:attrName>ppt_x</p:attrName>
                                        </p:attrNameLst>
                                      </p:cBhvr>
                                      <p:tavLst>
                                        <p:tav tm="0">
                                          <p:val>
                                            <p:strVal val="ppt_x"/>
                                          </p:val>
                                        </p:tav>
                                        <p:tav tm="100000">
                                          <p:val>
                                            <p:strVal val="ppt_x"/>
                                          </p:val>
                                        </p:tav>
                                      </p:tavLst>
                                    </p:anim>
                                    <p:anim calcmode="lin" valueType="num">
                                      <p:cBhvr additive="base">
                                        <p:cTn id="19" dur="500"/>
                                        <p:tgtEl>
                                          <p:spTgt spid="8"/>
                                        </p:tgtEl>
                                        <p:attrNameLst>
                                          <p:attrName>ppt_y</p:attrName>
                                        </p:attrNameLst>
                                      </p:cBhvr>
                                      <p:tavLst>
                                        <p:tav tm="0">
                                          <p:val>
                                            <p:strVal val="ppt_y"/>
                                          </p:val>
                                        </p:tav>
                                        <p:tav tm="100000">
                                          <p:val>
                                            <p:strVal val="1+ppt_h/2"/>
                                          </p:val>
                                        </p:tav>
                                      </p:tavLst>
                                    </p:anim>
                                    <p:set>
                                      <p:cBhvr>
                                        <p:cTn id="20" dur="1" fill="hold">
                                          <p:stCondLst>
                                            <p:cond delay="499"/>
                                          </p:stCondLst>
                                        </p:cTn>
                                        <p:tgtEl>
                                          <p:spTgt spid="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10"/>
                                        </p:tgtEl>
                                        <p:attrNameLst>
                                          <p:attrName>ppt_x</p:attrName>
                                        </p:attrNameLst>
                                      </p:cBhvr>
                                      <p:tavLst>
                                        <p:tav tm="0">
                                          <p:val>
                                            <p:strVal val="ppt_x"/>
                                          </p:val>
                                        </p:tav>
                                        <p:tav tm="100000">
                                          <p:val>
                                            <p:strVal val="ppt_x"/>
                                          </p:val>
                                        </p:tav>
                                      </p:tavLst>
                                    </p:anim>
                                    <p:anim calcmode="lin" valueType="num">
                                      <p:cBhvr additive="base">
                                        <p:cTn id="25" dur="500"/>
                                        <p:tgtEl>
                                          <p:spTgt spid="10"/>
                                        </p:tgtEl>
                                        <p:attrNameLst>
                                          <p:attrName>ppt_y</p:attrName>
                                        </p:attrNameLst>
                                      </p:cBhvr>
                                      <p:tavLst>
                                        <p:tav tm="0">
                                          <p:val>
                                            <p:strVal val="ppt_y"/>
                                          </p:val>
                                        </p:tav>
                                        <p:tav tm="100000">
                                          <p:val>
                                            <p:strVal val="1+ppt_h/2"/>
                                          </p:val>
                                        </p:tav>
                                      </p:tavLst>
                                    </p:anim>
                                    <p:set>
                                      <p:cBhvr>
                                        <p:cTn id="26" dur="1" fill="hold">
                                          <p:stCondLst>
                                            <p:cond delay="499"/>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11"/>
                                        </p:tgtEl>
                                        <p:attrNameLst>
                                          <p:attrName>ppt_x</p:attrName>
                                        </p:attrNameLst>
                                      </p:cBhvr>
                                      <p:tavLst>
                                        <p:tav tm="0">
                                          <p:val>
                                            <p:strVal val="ppt_x"/>
                                          </p:val>
                                        </p:tav>
                                        <p:tav tm="100000">
                                          <p:val>
                                            <p:strVal val="ppt_x"/>
                                          </p:val>
                                        </p:tav>
                                      </p:tavLst>
                                    </p:anim>
                                    <p:anim calcmode="lin" valueType="num">
                                      <p:cBhvr additive="base">
                                        <p:cTn id="31" dur="500"/>
                                        <p:tgtEl>
                                          <p:spTgt spid="11"/>
                                        </p:tgtEl>
                                        <p:attrNameLst>
                                          <p:attrName>ppt_y</p:attrName>
                                        </p:attrNameLst>
                                      </p:cBhvr>
                                      <p:tavLst>
                                        <p:tav tm="0">
                                          <p:val>
                                            <p:strVal val="ppt_y"/>
                                          </p:val>
                                        </p:tav>
                                        <p:tav tm="100000">
                                          <p:val>
                                            <p:strVal val="1+ppt_h/2"/>
                                          </p:val>
                                        </p:tav>
                                      </p:tavLst>
                                    </p:anim>
                                    <p:set>
                                      <p:cBhvr>
                                        <p:cTn id="32" dur="1" fill="hold">
                                          <p:stCondLst>
                                            <p:cond delay="499"/>
                                          </p:stCondLst>
                                        </p:cTn>
                                        <p:tgtEl>
                                          <p:spTgt spid="1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0" nodeType="clickEffect">
                                  <p:stCondLst>
                                    <p:cond delay="0"/>
                                  </p:stCondLst>
                                  <p:childTnLst>
                                    <p:anim calcmode="lin" valueType="num">
                                      <p:cBhvr additive="base">
                                        <p:cTn id="36" dur="500"/>
                                        <p:tgtEl>
                                          <p:spTgt spid="12"/>
                                        </p:tgtEl>
                                        <p:attrNameLst>
                                          <p:attrName>ppt_x</p:attrName>
                                        </p:attrNameLst>
                                      </p:cBhvr>
                                      <p:tavLst>
                                        <p:tav tm="0">
                                          <p:val>
                                            <p:strVal val="ppt_x"/>
                                          </p:val>
                                        </p:tav>
                                        <p:tav tm="100000">
                                          <p:val>
                                            <p:strVal val="ppt_x"/>
                                          </p:val>
                                        </p:tav>
                                      </p:tavLst>
                                    </p:anim>
                                    <p:anim calcmode="lin" valueType="num">
                                      <p:cBhvr additive="base">
                                        <p:cTn id="37" dur="500"/>
                                        <p:tgtEl>
                                          <p:spTgt spid="12"/>
                                        </p:tgtEl>
                                        <p:attrNameLst>
                                          <p:attrName>ppt_y</p:attrName>
                                        </p:attrNameLst>
                                      </p:cBhvr>
                                      <p:tavLst>
                                        <p:tav tm="0">
                                          <p:val>
                                            <p:strVal val="ppt_y"/>
                                          </p:val>
                                        </p:tav>
                                        <p:tav tm="100000">
                                          <p:val>
                                            <p:strVal val="1+ppt_h/2"/>
                                          </p:val>
                                        </p:tav>
                                      </p:tavLst>
                                    </p:anim>
                                    <p:set>
                                      <p:cBhvr>
                                        <p:cTn id="38" dur="1" fill="hold">
                                          <p:stCondLst>
                                            <p:cond delay="499"/>
                                          </p:stCondLst>
                                        </p:cTn>
                                        <p:tgtEl>
                                          <p:spTgt spid="1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additive="base">
                                        <p:cTn id="42" dur="500"/>
                                        <p:tgtEl>
                                          <p:spTgt spid="13"/>
                                        </p:tgtEl>
                                        <p:attrNameLst>
                                          <p:attrName>ppt_x</p:attrName>
                                        </p:attrNameLst>
                                      </p:cBhvr>
                                      <p:tavLst>
                                        <p:tav tm="0">
                                          <p:val>
                                            <p:strVal val="ppt_x"/>
                                          </p:val>
                                        </p:tav>
                                        <p:tav tm="100000">
                                          <p:val>
                                            <p:strVal val="ppt_x"/>
                                          </p:val>
                                        </p:tav>
                                      </p:tavLst>
                                    </p:anim>
                                    <p:anim calcmode="lin" valueType="num">
                                      <p:cBhvr additive="base">
                                        <p:cTn id="43" dur="500"/>
                                        <p:tgtEl>
                                          <p:spTgt spid="13"/>
                                        </p:tgtEl>
                                        <p:attrNameLst>
                                          <p:attrName>ppt_y</p:attrName>
                                        </p:attrNameLst>
                                      </p:cBhvr>
                                      <p:tavLst>
                                        <p:tav tm="0">
                                          <p:val>
                                            <p:strVal val="ppt_y"/>
                                          </p:val>
                                        </p:tav>
                                        <p:tav tm="100000">
                                          <p:val>
                                            <p:strVal val="1+ppt_h/2"/>
                                          </p:val>
                                        </p:tav>
                                      </p:tavLst>
                                    </p:anim>
                                    <p:set>
                                      <p:cBhvr>
                                        <p:cTn id="44" dur="1" fill="hold">
                                          <p:stCondLst>
                                            <p:cond delay="499"/>
                                          </p:stCondLst>
                                        </p:cTn>
                                        <p:tgtEl>
                                          <p:spTgt spid="13"/>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0" nodeType="clickEffect">
                                  <p:stCondLst>
                                    <p:cond delay="0"/>
                                  </p:stCondLst>
                                  <p:childTnLst>
                                    <p:anim calcmode="lin" valueType="num">
                                      <p:cBhvr additive="base">
                                        <p:cTn id="48" dur="500"/>
                                        <p:tgtEl>
                                          <p:spTgt spid="14"/>
                                        </p:tgtEl>
                                        <p:attrNameLst>
                                          <p:attrName>ppt_x</p:attrName>
                                        </p:attrNameLst>
                                      </p:cBhvr>
                                      <p:tavLst>
                                        <p:tav tm="0">
                                          <p:val>
                                            <p:strVal val="ppt_x"/>
                                          </p:val>
                                        </p:tav>
                                        <p:tav tm="100000">
                                          <p:val>
                                            <p:strVal val="ppt_x"/>
                                          </p:val>
                                        </p:tav>
                                      </p:tavLst>
                                    </p:anim>
                                    <p:anim calcmode="lin" valueType="num">
                                      <p:cBhvr additive="base">
                                        <p:cTn id="49" dur="500"/>
                                        <p:tgtEl>
                                          <p:spTgt spid="14"/>
                                        </p:tgtEl>
                                        <p:attrNameLst>
                                          <p:attrName>ppt_y</p:attrName>
                                        </p:attrNameLst>
                                      </p:cBhvr>
                                      <p:tavLst>
                                        <p:tav tm="0">
                                          <p:val>
                                            <p:strVal val="ppt_y"/>
                                          </p:val>
                                        </p:tav>
                                        <p:tav tm="100000">
                                          <p:val>
                                            <p:strVal val="1+ppt_h/2"/>
                                          </p:val>
                                        </p:tav>
                                      </p:tavLst>
                                    </p:anim>
                                    <p:set>
                                      <p:cBhvr>
                                        <p:cTn id="50" dur="1" fill="hold">
                                          <p:stCondLst>
                                            <p:cond delay="499"/>
                                          </p:stCondLst>
                                        </p:cTn>
                                        <p:tgtEl>
                                          <p:spTgt spid="1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xit" presetSubtype="4" fill="hold" grpId="0" nodeType="clickEffect">
                                  <p:stCondLst>
                                    <p:cond delay="0"/>
                                  </p:stCondLst>
                                  <p:childTnLst>
                                    <p:anim calcmode="lin" valueType="num">
                                      <p:cBhvr additive="base">
                                        <p:cTn id="54" dur="500"/>
                                        <p:tgtEl>
                                          <p:spTgt spid="15"/>
                                        </p:tgtEl>
                                        <p:attrNameLst>
                                          <p:attrName>ppt_x</p:attrName>
                                        </p:attrNameLst>
                                      </p:cBhvr>
                                      <p:tavLst>
                                        <p:tav tm="0">
                                          <p:val>
                                            <p:strVal val="ppt_x"/>
                                          </p:val>
                                        </p:tav>
                                        <p:tav tm="100000">
                                          <p:val>
                                            <p:strVal val="ppt_x"/>
                                          </p:val>
                                        </p:tav>
                                      </p:tavLst>
                                    </p:anim>
                                    <p:anim calcmode="lin" valueType="num">
                                      <p:cBhvr additive="base">
                                        <p:cTn id="55" dur="500"/>
                                        <p:tgtEl>
                                          <p:spTgt spid="15"/>
                                        </p:tgtEl>
                                        <p:attrNameLst>
                                          <p:attrName>ppt_y</p:attrName>
                                        </p:attrNameLst>
                                      </p:cBhvr>
                                      <p:tavLst>
                                        <p:tav tm="0">
                                          <p:val>
                                            <p:strVal val="ppt_y"/>
                                          </p:val>
                                        </p:tav>
                                        <p:tav tm="100000">
                                          <p:val>
                                            <p:strVal val="1+ppt_h/2"/>
                                          </p:val>
                                        </p:tav>
                                      </p:tavLst>
                                    </p:anim>
                                    <p:set>
                                      <p:cBhvr>
                                        <p:cTn id="56" dur="1" fill="hold">
                                          <p:stCondLst>
                                            <p:cond delay="499"/>
                                          </p:stCondLst>
                                        </p:cTn>
                                        <p:tgtEl>
                                          <p:spTgt spid="15"/>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0" nodeType="clickEffect">
                                  <p:stCondLst>
                                    <p:cond delay="0"/>
                                  </p:stCondLst>
                                  <p:childTnLst>
                                    <p:anim calcmode="lin" valueType="num">
                                      <p:cBhvr additive="base">
                                        <p:cTn id="60" dur="500"/>
                                        <p:tgtEl>
                                          <p:spTgt spid="16"/>
                                        </p:tgtEl>
                                        <p:attrNameLst>
                                          <p:attrName>ppt_x</p:attrName>
                                        </p:attrNameLst>
                                      </p:cBhvr>
                                      <p:tavLst>
                                        <p:tav tm="0">
                                          <p:val>
                                            <p:strVal val="ppt_x"/>
                                          </p:val>
                                        </p:tav>
                                        <p:tav tm="100000">
                                          <p:val>
                                            <p:strVal val="ppt_x"/>
                                          </p:val>
                                        </p:tav>
                                      </p:tavLst>
                                    </p:anim>
                                    <p:anim calcmode="lin" valueType="num">
                                      <p:cBhvr additive="base">
                                        <p:cTn id="61" dur="500"/>
                                        <p:tgtEl>
                                          <p:spTgt spid="16"/>
                                        </p:tgtEl>
                                        <p:attrNameLst>
                                          <p:attrName>ppt_y</p:attrName>
                                        </p:attrNameLst>
                                      </p:cBhvr>
                                      <p:tavLst>
                                        <p:tav tm="0">
                                          <p:val>
                                            <p:strVal val="ppt_y"/>
                                          </p:val>
                                        </p:tav>
                                        <p:tav tm="100000">
                                          <p:val>
                                            <p:strVal val="1+ppt_h/2"/>
                                          </p:val>
                                        </p:tav>
                                      </p:tavLst>
                                    </p:anim>
                                    <p:set>
                                      <p:cBhvr>
                                        <p:cTn id="62" dur="1" fill="hold">
                                          <p:stCondLst>
                                            <p:cond delay="499"/>
                                          </p:stCondLst>
                                        </p:cTn>
                                        <p:tgtEl>
                                          <p:spTgt spid="16"/>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xit" presetSubtype="4" fill="hold" grpId="0" nodeType="clickEffect">
                                  <p:stCondLst>
                                    <p:cond delay="0"/>
                                  </p:stCondLst>
                                  <p:childTnLst>
                                    <p:anim calcmode="lin" valueType="num">
                                      <p:cBhvr additive="base">
                                        <p:cTn id="66" dur="500"/>
                                        <p:tgtEl>
                                          <p:spTgt spid="18"/>
                                        </p:tgtEl>
                                        <p:attrNameLst>
                                          <p:attrName>ppt_x</p:attrName>
                                        </p:attrNameLst>
                                      </p:cBhvr>
                                      <p:tavLst>
                                        <p:tav tm="0">
                                          <p:val>
                                            <p:strVal val="ppt_x"/>
                                          </p:val>
                                        </p:tav>
                                        <p:tav tm="100000">
                                          <p:val>
                                            <p:strVal val="ppt_x"/>
                                          </p:val>
                                        </p:tav>
                                      </p:tavLst>
                                    </p:anim>
                                    <p:anim calcmode="lin" valueType="num">
                                      <p:cBhvr additive="base">
                                        <p:cTn id="67" dur="500"/>
                                        <p:tgtEl>
                                          <p:spTgt spid="18"/>
                                        </p:tgtEl>
                                        <p:attrNameLst>
                                          <p:attrName>ppt_y</p:attrName>
                                        </p:attrNameLst>
                                      </p:cBhvr>
                                      <p:tavLst>
                                        <p:tav tm="0">
                                          <p:val>
                                            <p:strVal val="ppt_y"/>
                                          </p:val>
                                        </p:tav>
                                        <p:tav tm="100000">
                                          <p:val>
                                            <p:strVal val="1+ppt_h/2"/>
                                          </p:val>
                                        </p:tav>
                                      </p:tavLst>
                                    </p:anim>
                                    <p:set>
                                      <p:cBhvr>
                                        <p:cTn id="68" dur="1" fill="hold">
                                          <p:stCondLst>
                                            <p:cond delay="499"/>
                                          </p:stCondLst>
                                        </p:cTn>
                                        <p:tgtEl>
                                          <p:spTgt spid="18"/>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0" nodeType="clickEffect">
                                  <p:stCondLst>
                                    <p:cond delay="0"/>
                                  </p:stCondLst>
                                  <p:childTnLst>
                                    <p:anim calcmode="lin" valueType="num">
                                      <p:cBhvr additive="base">
                                        <p:cTn id="72" dur="500"/>
                                        <p:tgtEl>
                                          <p:spTgt spid="19"/>
                                        </p:tgtEl>
                                        <p:attrNameLst>
                                          <p:attrName>ppt_x</p:attrName>
                                        </p:attrNameLst>
                                      </p:cBhvr>
                                      <p:tavLst>
                                        <p:tav tm="0">
                                          <p:val>
                                            <p:strVal val="ppt_x"/>
                                          </p:val>
                                        </p:tav>
                                        <p:tav tm="100000">
                                          <p:val>
                                            <p:strVal val="ppt_x"/>
                                          </p:val>
                                        </p:tav>
                                      </p:tavLst>
                                    </p:anim>
                                    <p:anim calcmode="lin" valueType="num">
                                      <p:cBhvr additive="base">
                                        <p:cTn id="73" dur="500"/>
                                        <p:tgtEl>
                                          <p:spTgt spid="19"/>
                                        </p:tgtEl>
                                        <p:attrNameLst>
                                          <p:attrName>ppt_y</p:attrName>
                                        </p:attrNameLst>
                                      </p:cBhvr>
                                      <p:tavLst>
                                        <p:tav tm="0">
                                          <p:val>
                                            <p:strVal val="ppt_y"/>
                                          </p:val>
                                        </p:tav>
                                        <p:tav tm="100000">
                                          <p:val>
                                            <p:strVal val="1+ppt_h/2"/>
                                          </p:val>
                                        </p:tav>
                                      </p:tavLst>
                                    </p:anim>
                                    <p:set>
                                      <p:cBhvr>
                                        <p:cTn id="74" dur="1" fill="hold">
                                          <p:stCondLst>
                                            <p:cond delay="499"/>
                                          </p:stCondLst>
                                        </p:cTn>
                                        <p:tgtEl>
                                          <p:spTgt spid="19"/>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 presetClass="exit" presetSubtype="4" fill="hold" grpId="0" nodeType="clickEffect">
                                  <p:stCondLst>
                                    <p:cond delay="0"/>
                                  </p:stCondLst>
                                  <p:childTnLst>
                                    <p:anim calcmode="lin" valueType="num">
                                      <p:cBhvr additive="base">
                                        <p:cTn id="78" dur="500"/>
                                        <p:tgtEl>
                                          <p:spTgt spid="17"/>
                                        </p:tgtEl>
                                        <p:attrNameLst>
                                          <p:attrName>ppt_x</p:attrName>
                                        </p:attrNameLst>
                                      </p:cBhvr>
                                      <p:tavLst>
                                        <p:tav tm="0">
                                          <p:val>
                                            <p:strVal val="ppt_x"/>
                                          </p:val>
                                        </p:tav>
                                        <p:tav tm="100000">
                                          <p:val>
                                            <p:strVal val="ppt_x"/>
                                          </p:val>
                                        </p:tav>
                                      </p:tavLst>
                                    </p:anim>
                                    <p:anim calcmode="lin" valueType="num">
                                      <p:cBhvr additive="base">
                                        <p:cTn id="79" dur="500"/>
                                        <p:tgtEl>
                                          <p:spTgt spid="17"/>
                                        </p:tgtEl>
                                        <p:attrNameLst>
                                          <p:attrName>ppt_y</p:attrName>
                                        </p:attrNameLst>
                                      </p:cBhvr>
                                      <p:tavLst>
                                        <p:tav tm="0">
                                          <p:val>
                                            <p:strVal val="ppt_y"/>
                                          </p:val>
                                        </p:tav>
                                        <p:tav tm="100000">
                                          <p:val>
                                            <p:strVal val="1+ppt_h/2"/>
                                          </p:val>
                                        </p:tav>
                                      </p:tavLst>
                                    </p:anim>
                                    <p:set>
                                      <p:cBhvr>
                                        <p:cTn id="80" dur="1" fill="hold">
                                          <p:stCondLst>
                                            <p:cond delay="499"/>
                                          </p:stCondLst>
                                        </p:cTn>
                                        <p:tgtEl>
                                          <p:spTgt spid="1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2" presetClass="exit" presetSubtype="4" fill="hold" grpId="0" nodeType="clickEffect">
                                  <p:stCondLst>
                                    <p:cond delay="0"/>
                                  </p:stCondLst>
                                  <p:childTnLst>
                                    <p:anim calcmode="lin" valueType="num">
                                      <p:cBhvr additive="base">
                                        <p:cTn id="84" dur="500"/>
                                        <p:tgtEl>
                                          <p:spTgt spid="20"/>
                                        </p:tgtEl>
                                        <p:attrNameLst>
                                          <p:attrName>ppt_x</p:attrName>
                                        </p:attrNameLst>
                                      </p:cBhvr>
                                      <p:tavLst>
                                        <p:tav tm="0">
                                          <p:val>
                                            <p:strVal val="ppt_x"/>
                                          </p:val>
                                        </p:tav>
                                        <p:tav tm="100000">
                                          <p:val>
                                            <p:strVal val="ppt_x"/>
                                          </p:val>
                                        </p:tav>
                                      </p:tavLst>
                                    </p:anim>
                                    <p:anim calcmode="lin" valueType="num">
                                      <p:cBhvr additive="base">
                                        <p:cTn id="85" dur="500"/>
                                        <p:tgtEl>
                                          <p:spTgt spid="20"/>
                                        </p:tgtEl>
                                        <p:attrNameLst>
                                          <p:attrName>ppt_y</p:attrName>
                                        </p:attrNameLst>
                                      </p:cBhvr>
                                      <p:tavLst>
                                        <p:tav tm="0">
                                          <p:val>
                                            <p:strVal val="ppt_y"/>
                                          </p:val>
                                        </p:tav>
                                        <p:tav tm="100000">
                                          <p:val>
                                            <p:strVal val="1+ppt_h/2"/>
                                          </p:val>
                                        </p:tav>
                                      </p:tavLst>
                                    </p:anim>
                                    <p:set>
                                      <p:cBhvr>
                                        <p:cTn id="86"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8" grpId="0" animBg="1"/>
      <p:bldP spid="19" grpId="0" animBg="1"/>
      <p:bldP spid="17"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思考题</a:t>
            </a:r>
            <a:r>
              <a:rPr lang="en-US" altLang="zh-CN" sz="4800" dirty="0" smtClean="0">
                <a:solidFill>
                  <a:schemeClr val="bg1"/>
                </a:solidFill>
              </a:rPr>
              <a:t>7c</a:t>
            </a:r>
            <a:endParaRPr lang="en-US" sz="4800" dirty="0">
              <a:solidFill>
                <a:schemeClr val="bg1"/>
              </a:solidFill>
            </a:endParaRPr>
          </a:p>
        </p:txBody>
      </p:sp>
      <p:sp>
        <p:nvSpPr>
          <p:cNvPr id="3" name="Content Placeholder 2"/>
          <p:cNvSpPr>
            <a:spLocks noGrp="1"/>
          </p:cNvSpPr>
          <p:nvPr>
            <p:ph idx="1"/>
          </p:nvPr>
        </p:nvSpPr>
        <p:spPr>
          <a:xfrm>
            <a:off x="457200" y="1325562"/>
            <a:ext cx="8229600" cy="5151438"/>
          </a:xfrm>
        </p:spPr>
        <p:txBody>
          <a:bodyPr>
            <a:normAutofit/>
          </a:bodyPr>
          <a:lstStyle/>
          <a:p>
            <a:pPr marL="514350" indent="-514350">
              <a:buAutoNum type="arabicPeriod"/>
            </a:pPr>
            <a:r>
              <a:rPr lang="zh-CN" altLang="en-US" dirty="0" smtClean="0"/>
              <a:t>离子键的形成是原子间发生</a:t>
            </a:r>
            <a:r>
              <a:rPr lang="zh-CN" altLang="en-US" b="1" dirty="0" smtClean="0">
                <a:solidFill>
                  <a:srgbClr val="002060"/>
                </a:solidFill>
                <a:effectLst>
                  <a:outerShdw blurRad="38100" dist="38100" dir="2700000" algn="tl">
                    <a:srgbClr val="000000">
                      <a:alpha val="43137"/>
                    </a:srgbClr>
                  </a:outerShdw>
                </a:effectLst>
              </a:rPr>
              <a:t>电子转移</a:t>
            </a:r>
            <a:r>
              <a:rPr lang="zh-CN" altLang="en-US" dirty="0" smtClean="0"/>
              <a:t>，形成正负离子后，带异种电荷的离子之间的强烈相互作用。</a:t>
            </a:r>
            <a:endParaRPr lang="en-US" altLang="zh-CN" dirty="0" smtClean="0"/>
          </a:p>
          <a:p>
            <a:pPr marL="514350" indent="-514350">
              <a:buNone/>
            </a:pPr>
            <a:r>
              <a:rPr lang="en-US" dirty="0" smtClean="0"/>
              <a:t>	</a:t>
            </a:r>
            <a:r>
              <a:rPr lang="zh-CN" altLang="en-US" dirty="0" smtClean="0"/>
              <a:t>共价键的形成是原子间通过</a:t>
            </a:r>
            <a:r>
              <a:rPr lang="zh-CN" altLang="en-US" b="1" dirty="0" smtClean="0">
                <a:solidFill>
                  <a:srgbClr val="002060"/>
                </a:solidFill>
                <a:effectLst>
                  <a:outerShdw blurRad="38100" dist="38100" dir="2700000" algn="tl">
                    <a:srgbClr val="000000">
                      <a:alpha val="43137"/>
                    </a:srgbClr>
                  </a:outerShdw>
                </a:effectLst>
              </a:rPr>
              <a:t>共用电子对</a:t>
            </a:r>
            <a:r>
              <a:rPr lang="zh-CN" altLang="en-US" dirty="0" smtClean="0"/>
              <a:t>形成的强烈的相互作用。</a:t>
            </a:r>
            <a:endParaRPr lang="en-US" altLang="zh-CN" dirty="0" smtClean="0"/>
          </a:p>
          <a:p>
            <a:pPr marL="514350" indent="-514350">
              <a:buAutoNum type="arabicPeriod" startAt="2"/>
            </a:pPr>
            <a:r>
              <a:rPr lang="zh-CN" altLang="en-US" dirty="0" smtClean="0"/>
              <a:t>金属（或铵根）与非金属（或酸根）；</a:t>
            </a:r>
            <a:endParaRPr lang="en-US" altLang="zh-CN" dirty="0" smtClean="0"/>
          </a:p>
          <a:p>
            <a:pPr marL="514350" indent="-514350">
              <a:buNone/>
            </a:pPr>
            <a:r>
              <a:rPr lang="en-US" altLang="zh-CN" dirty="0" smtClean="0"/>
              <a:t>	</a:t>
            </a:r>
            <a:r>
              <a:rPr lang="zh-CN" altLang="en-US" dirty="0" smtClean="0"/>
              <a:t>电负性差</a:t>
            </a:r>
            <a:r>
              <a:rPr lang="en-US" altLang="zh-CN" b="1" dirty="0" smtClean="0">
                <a:solidFill>
                  <a:srgbClr val="002060"/>
                </a:solidFill>
                <a:effectLst>
                  <a:outerShdw blurRad="38100" dist="38100" dir="2700000" algn="tl">
                    <a:srgbClr val="000000">
                      <a:alpha val="43137"/>
                    </a:srgbClr>
                  </a:outerShdw>
                </a:effectLst>
              </a:rPr>
              <a:t>≥1.7</a:t>
            </a:r>
            <a:r>
              <a:rPr lang="zh-CN" altLang="en-US" dirty="0" smtClean="0"/>
              <a:t>形成离子键</a:t>
            </a:r>
            <a:r>
              <a:rPr lang="zh-CN" altLang="en-US" dirty="0" smtClean="0">
                <a:solidFill>
                  <a:srgbClr val="FFFF00"/>
                </a:solidFill>
              </a:rPr>
              <a:t>。</a:t>
            </a:r>
            <a:endParaRPr lang="en-US" altLang="zh-CN" dirty="0" smtClean="0">
              <a:solidFill>
                <a:srgbClr val="FFFF00"/>
              </a:solidFill>
            </a:endParaRPr>
          </a:p>
          <a:p>
            <a:pPr marL="514350" indent="-514350">
              <a:buAutoNum type="arabicPeriod" startAt="3"/>
            </a:pPr>
            <a:r>
              <a:rPr lang="zh-CN" altLang="en-US" dirty="0" smtClean="0"/>
              <a:t>共价键可分为：极性键和非极性键</a:t>
            </a:r>
            <a:endParaRPr lang="en-US" altLang="zh-CN" dirty="0" smtClean="0"/>
          </a:p>
          <a:p>
            <a:pPr marL="514350" indent="-514350">
              <a:buNone/>
            </a:pPr>
            <a:r>
              <a:rPr lang="en-US" dirty="0" smtClean="0"/>
              <a:t>	</a:t>
            </a:r>
            <a:r>
              <a:rPr lang="zh-CN" altLang="en-US" dirty="0" smtClean="0"/>
              <a:t>配位键是特殊的共价键</a:t>
            </a:r>
            <a:endParaRPr lang="en-US" altLang="zh-CN" dirty="0" smtClean="0"/>
          </a:p>
          <a:p>
            <a:pPr marL="514350" indent="-514350">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28600"/>
            <a:ext cx="4718248" cy="1143000"/>
          </a:xfrm>
        </p:spPr>
        <p:txBody>
          <a:bodyPr>
            <a:noAutofit/>
          </a:bodyPr>
          <a:lstStyle/>
          <a:p>
            <a:r>
              <a:rPr lang="en-US" altLang="zh-CN" sz="5600" b="1" dirty="0" smtClean="0">
                <a:solidFill>
                  <a:schemeClr val="bg1"/>
                </a:solidFill>
              </a:rPr>
              <a:t>7.1.3  </a:t>
            </a:r>
            <a:r>
              <a:rPr lang="zh-CN" altLang="en-US" sz="5600" b="1" dirty="0" smtClean="0">
                <a:solidFill>
                  <a:schemeClr val="bg1"/>
                </a:solidFill>
              </a:rPr>
              <a:t>金属键</a:t>
            </a:r>
            <a:endParaRPr lang="en-MY" sz="5600" b="1" dirty="0">
              <a:solidFill>
                <a:schemeClr val="bg1"/>
              </a:solidFill>
            </a:endParaRPr>
          </a:p>
        </p:txBody>
      </p:sp>
      <p:sp>
        <p:nvSpPr>
          <p:cNvPr id="3" name="Content Placeholder 2"/>
          <p:cNvSpPr>
            <a:spLocks noGrp="1"/>
          </p:cNvSpPr>
          <p:nvPr>
            <p:ph idx="1"/>
          </p:nvPr>
        </p:nvSpPr>
        <p:spPr>
          <a:xfrm>
            <a:off x="467544" y="1371600"/>
            <a:ext cx="8229600" cy="4953000"/>
          </a:xfrm>
        </p:spPr>
        <p:txBody>
          <a:bodyPr>
            <a:noAutofit/>
          </a:bodyPr>
          <a:lstStyle/>
          <a:p>
            <a:pPr marL="0" indent="0">
              <a:buFont typeface="Wingdings" pitchFamily="2" charset="2"/>
              <a:buChar char="Ø"/>
            </a:pPr>
            <a:r>
              <a:rPr lang="zh-CN" altLang="en-US" sz="3400" b="1" dirty="0" smtClean="0">
                <a:solidFill>
                  <a:srgbClr val="002060"/>
                </a:solidFill>
                <a:effectLst>
                  <a:outerShdw blurRad="38100" dist="38100" dir="2700000" algn="tl">
                    <a:srgbClr val="000000">
                      <a:alpha val="43137"/>
                    </a:srgbClr>
                  </a:outerShdw>
                </a:effectLst>
              </a:rPr>
              <a:t>自由电子与金属离子</a:t>
            </a:r>
            <a:r>
              <a:rPr lang="zh-CN" altLang="en-US" sz="3400" b="1" dirty="0" smtClean="0"/>
              <a:t>之间存在</a:t>
            </a:r>
            <a:r>
              <a:rPr lang="zh-CN" altLang="en-US" sz="3400" b="1" dirty="0" smtClean="0">
                <a:solidFill>
                  <a:srgbClr val="002060"/>
                </a:solidFill>
                <a:effectLst>
                  <a:outerShdw blurRad="38100" dist="38100" dir="2700000" algn="tl">
                    <a:srgbClr val="000000">
                      <a:alpha val="43137"/>
                    </a:srgbClr>
                  </a:outerShdw>
                </a:effectLst>
              </a:rPr>
              <a:t>强烈</a:t>
            </a:r>
            <a:r>
              <a:rPr lang="zh-CN" altLang="en-US" sz="3400" b="1" dirty="0" smtClean="0"/>
              <a:t>的相互作用力。</a:t>
            </a:r>
            <a:endParaRPr lang="en-US" altLang="zh-CN" sz="3400" dirty="0" smtClean="0"/>
          </a:p>
          <a:p>
            <a:pPr marL="0" indent="0">
              <a:buFont typeface="Wingdings" pitchFamily="2" charset="2"/>
              <a:buChar char="Ø"/>
            </a:pPr>
            <a:r>
              <a:rPr lang="zh-CN" altLang="en-US" sz="3400" dirty="0" smtClean="0"/>
              <a:t>自由电子：金属原子的</a:t>
            </a:r>
            <a:r>
              <a:rPr lang="zh-CN" altLang="en-US" sz="3400" b="1" dirty="0" smtClean="0">
                <a:solidFill>
                  <a:srgbClr val="002060"/>
                </a:solidFill>
                <a:effectLst>
                  <a:outerShdw blurRad="38100" dist="38100" dir="2700000" algn="tl">
                    <a:srgbClr val="000000">
                      <a:alpha val="43137"/>
                    </a:srgbClr>
                  </a:outerShdw>
                </a:effectLst>
              </a:rPr>
              <a:t>价电子受原子核束缚较弱</a:t>
            </a:r>
            <a:r>
              <a:rPr lang="zh-CN" altLang="en-US" sz="3400" dirty="0" smtClean="0"/>
              <a:t>，</a:t>
            </a:r>
            <a:r>
              <a:rPr lang="zh-CN" altLang="en-US" sz="3400" b="1" dirty="0" smtClean="0">
                <a:solidFill>
                  <a:srgbClr val="002060"/>
                </a:solidFill>
                <a:effectLst>
                  <a:outerShdw blurRad="38100" dist="38100" dir="2700000" algn="tl">
                    <a:srgbClr val="000000">
                      <a:alpha val="43137"/>
                    </a:srgbClr>
                  </a:outerShdw>
                </a:effectLst>
              </a:rPr>
              <a:t>可</a:t>
            </a:r>
            <a:r>
              <a:rPr lang="zh-CN" altLang="en-US" sz="3400" dirty="0" smtClean="0"/>
              <a:t>在整个金属晶体中</a:t>
            </a:r>
            <a:r>
              <a:rPr lang="zh-CN" altLang="en-US" sz="3400" b="1" dirty="0" smtClean="0">
                <a:solidFill>
                  <a:srgbClr val="002060"/>
                </a:solidFill>
                <a:effectLst>
                  <a:outerShdw blurRad="38100" dist="38100" dir="2700000" algn="tl">
                    <a:srgbClr val="000000">
                      <a:alpha val="43137"/>
                    </a:srgbClr>
                  </a:outerShdw>
                </a:effectLst>
              </a:rPr>
              <a:t>自由移动</a:t>
            </a:r>
            <a:r>
              <a:rPr lang="zh-CN" altLang="en-US" sz="3400" dirty="0" smtClean="0"/>
              <a:t>。不专属某个特定的金属离子，而是被许多金属离子共用。</a:t>
            </a:r>
            <a:endParaRPr lang="en-US" altLang="zh-CN" sz="3400" dirty="0" smtClean="0"/>
          </a:p>
          <a:p>
            <a:pPr marL="0" indent="0">
              <a:buFont typeface="Wingdings" pitchFamily="2" charset="2"/>
              <a:buChar char="Ø"/>
            </a:pPr>
            <a:r>
              <a:rPr lang="zh-CN" altLang="en-US" sz="3400" dirty="0" smtClean="0"/>
              <a:t>自由电子使金属具有</a:t>
            </a:r>
            <a:r>
              <a:rPr lang="zh-CN" altLang="en-US" sz="3400" b="1" dirty="0" smtClean="0">
                <a:solidFill>
                  <a:srgbClr val="002060"/>
                </a:solidFill>
                <a:effectLst>
                  <a:outerShdw blurRad="38100" dist="38100" dir="2700000" algn="tl">
                    <a:srgbClr val="000000">
                      <a:alpha val="43137"/>
                    </a:srgbClr>
                  </a:outerShdw>
                </a:effectLst>
              </a:rPr>
              <a:t>导电</a:t>
            </a:r>
            <a:r>
              <a:rPr lang="zh-CN" altLang="en-US" sz="3400" dirty="0" smtClean="0"/>
              <a:t>性。</a:t>
            </a:r>
            <a:endParaRPr lang="en-MY" sz="3400" dirty="0" smtClean="0"/>
          </a:p>
          <a:p>
            <a:pPr marL="0" indent="0">
              <a:buFont typeface="Wingdings" pitchFamily="2" charset="2"/>
              <a:buChar char="Ø"/>
            </a:pPr>
            <a:endParaRPr lang="en-US" altLang="zh-CN" sz="3400" dirty="0" smtClean="0"/>
          </a:p>
          <a:p>
            <a:endParaRPr lang="en-MY" sz="3400" dirty="0"/>
          </a:p>
        </p:txBody>
      </p:sp>
      <p:pic>
        <p:nvPicPr>
          <p:cNvPr id="6" name="Picture 5"/>
          <p:cNvPicPr>
            <a:picLocks noChangeAspect="1"/>
          </p:cNvPicPr>
          <p:nvPr/>
        </p:nvPicPr>
        <p:blipFill>
          <a:blip r:embed="rId2" cstate="print">
            <a:lum/>
            <a:extLst>
              <a:ext uri="{28A0092B-C50C-407E-A947-70E740481C1C}">
                <a14:useLocalDpi xmlns="" xmlns:a14="http://schemas.microsoft.com/office/drawing/2010/main" val="0"/>
              </a:ext>
            </a:extLst>
          </a:blip>
          <a:stretch>
            <a:fillRect/>
          </a:stretch>
        </p:blipFill>
        <p:spPr>
          <a:xfrm>
            <a:off x="381000" y="2514600"/>
            <a:ext cx="5467001" cy="2910489"/>
          </a:xfrm>
          <a:prstGeom prst="rect">
            <a:avLst/>
          </a:prstGeom>
        </p:spPr>
      </p:pic>
      <p:pic>
        <p:nvPicPr>
          <p:cNvPr id="7" name="Picture 6"/>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943600" y="3657600"/>
            <a:ext cx="2973060" cy="1767489"/>
          </a:xfrm>
          <a:prstGeom prst="rect">
            <a:avLst/>
          </a:prstGeom>
        </p:spPr>
      </p:pic>
    </p:spTree>
    <p:extLst>
      <p:ext uri="{BB962C8B-B14F-4D97-AF65-F5344CB8AC3E}">
        <p14:creationId xmlns="" xmlns:p14="http://schemas.microsoft.com/office/powerpoint/2010/main" val="73652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9" y="310805"/>
            <a:ext cx="8229600" cy="1143000"/>
          </a:xfrm>
        </p:spPr>
        <p:txBody>
          <a:bodyPr>
            <a:normAutofit/>
          </a:bodyPr>
          <a:lstStyle/>
          <a:p>
            <a:r>
              <a:rPr lang="en-US" altLang="zh-CN" sz="5400" b="1" dirty="0" smtClean="0">
                <a:solidFill>
                  <a:schemeClr val="bg1"/>
                </a:solidFill>
              </a:rPr>
              <a:t>7.2</a:t>
            </a:r>
            <a:r>
              <a:rPr lang="zh-CN" altLang="en-US" sz="5400" b="1" dirty="0" smtClean="0">
                <a:solidFill>
                  <a:schemeClr val="bg1"/>
                </a:solidFill>
              </a:rPr>
              <a:t>分子间作用力</a:t>
            </a:r>
            <a:endParaRPr lang="en-MY" sz="5400" b="1" dirty="0">
              <a:solidFill>
                <a:schemeClr val="bg1"/>
              </a:solidFill>
            </a:endParaRPr>
          </a:p>
        </p:txBody>
      </p:sp>
      <p:sp>
        <p:nvSpPr>
          <p:cNvPr id="3" name="Content Placeholder 2"/>
          <p:cNvSpPr>
            <a:spLocks noGrp="1"/>
          </p:cNvSpPr>
          <p:nvPr>
            <p:ph idx="1"/>
          </p:nvPr>
        </p:nvSpPr>
        <p:spPr>
          <a:xfrm>
            <a:off x="381000" y="1371600"/>
            <a:ext cx="8153400" cy="5334000"/>
          </a:xfrm>
        </p:spPr>
        <p:txBody>
          <a:bodyPr>
            <a:noAutofit/>
          </a:bodyPr>
          <a:lstStyle/>
          <a:p>
            <a:pPr>
              <a:lnSpc>
                <a:spcPct val="150000"/>
              </a:lnSpc>
              <a:buFont typeface="Wingdings" pitchFamily="2" charset="2"/>
              <a:buChar char="Ø"/>
            </a:pPr>
            <a:r>
              <a:rPr lang="zh-CN" altLang="en-US" sz="3600" dirty="0" smtClean="0"/>
              <a:t>把</a:t>
            </a:r>
            <a:r>
              <a:rPr lang="zh-CN" altLang="en-US" sz="3600" b="1" dirty="0" smtClean="0">
                <a:solidFill>
                  <a:srgbClr val="002060"/>
                </a:solidFill>
                <a:effectLst>
                  <a:outerShdw blurRad="38100" dist="38100" dir="2700000" algn="tl">
                    <a:srgbClr val="000000">
                      <a:alpha val="43137"/>
                    </a:srgbClr>
                  </a:outerShdw>
                </a:effectLst>
              </a:rPr>
              <a:t>分子</a:t>
            </a:r>
            <a:r>
              <a:rPr lang="zh-CN" altLang="en-US" sz="3600" dirty="0" smtClean="0"/>
              <a:t>聚集在一起的</a:t>
            </a:r>
            <a:r>
              <a:rPr lang="zh-CN" altLang="en-US" sz="3600" b="1" dirty="0" smtClean="0">
                <a:solidFill>
                  <a:srgbClr val="002060"/>
                </a:solidFill>
                <a:effectLst>
                  <a:outerShdw blurRad="38100" dist="38100" dir="2700000" algn="tl">
                    <a:srgbClr val="000000">
                      <a:alpha val="43137"/>
                    </a:srgbClr>
                  </a:outerShdw>
                </a:effectLst>
              </a:rPr>
              <a:t>静电</a:t>
            </a:r>
            <a:r>
              <a:rPr lang="zh-CN" altLang="en-US" sz="3600" dirty="0" smtClean="0"/>
              <a:t>作用力</a:t>
            </a:r>
            <a:endParaRPr lang="en-US" altLang="zh-CN" sz="3600" dirty="0" smtClean="0"/>
          </a:p>
          <a:p>
            <a:pPr marL="0" indent="0">
              <a:lnSpc>
                <a:spcPct val="150000"/>
              </a:lnSpc>
              <a:buFont typeface="Wingdings" pitchFamily="2" charset="2"/>
              <a:buChar char="Ø"/>
            </a:pPr>
            <a:r>
              <a:rPr lang="zh-CN" altLang="en-US" sz="3600" dirty="0" smtClean="0"/>
              <a:t>比化学键</a:t>
            </a:r>
            <a:r>
              <a:rPr lang="zh-CN" altLang="en-US" sz="3600" b="1" dirty="0" smtClean="0">
                <a:solidFill>
                  <a:srgbClr val="002060"/>
                </a:solidFill>
                <a:effectLst>
                  <a:outerShdw blurRad="38100" dist="38100" dir="2700000" algn="tl">
                    <a:srgbClr val="000000">
                      <a:alpha val="43137"/>
                    </a:srgbClr>
                  </a:outerShdw>
                </a:effectLst>
              </a:rPr>
              <a:t>弱</a:t>
            </a:r>
            <a:r>
              <a:rPr lang="zh-CN" altLang="en-US" sz="3600" dirty="0" smtClean="0"/>
              <a:t>得多</a:t>
            </a:r>
            <a:endParaRPr lang="en-US" altLang="zh-CN" sz="3600" b="1" dirty="0"/>
          </a:p>
          <a:p>
            <a:pPr>
              <a:lnSpc>
                <a:spcPct val="150000"/>
              </a:lnSpc>
              <a:buFont typeface="Wingdings" pitchFamily="2" charset="2"/>
              <a:buChar char="Ø"/>
            </a:pPr>
            <a:r>
              <a:rPr lang="zh-CN" altLang="en-US" sz="3600" dirty="0" smtClean="0"/>
              <a:t>分子间的作用力包括：</a:t>
            </a:r>
            <a:endParaRPr lang="en-US" altLang="zh-CN" sz="3600" dirty="0" smtClean="0"/>
          </a:p>
          <a:p>
            <a:pPr lvl="1">
              <a:lnSpc>
                <a:spcPct val="150000"/>
              </a:lnSpc>
              <a:buFont typeface="Wingdings" pitchFamily="2" charset="2"/>
              <a:buChar char="Ø"/>
            </a:pPr>
            <a:r>
              <a:rPr lang="zh-CN" altLang="en-US" sz="3600" b="1" dirty="0" smtClean="0">
                <a:solidFill>
                  <a:srgbClr val="002060"/>
                </a:solidFill>
                <a:effectLst>
                  <a:outerShdw blurRad="38100" dist="38100" dir="2700000" algn="tl">
                    <a:srgbClr val="000000">
                      <a:alpha val="43137"/>
                    </a:srgbClr>
                  </a:outerShdw>
                </a:effectLst>
              </a:rPr>
              <a:t>范德华力</a:t>
            </a:r>
            <a:endParaRPr lang="en-US" altLang="zh-CN" sz="3600" b="1" dirty="0" smtClean="0">
              <a:solidFill>
                <a:srgbClr val="002060"/>
              </a:solidFill>
              <a:effectLst>
                <a:outerShdw blurRad="38100" dist="38100" dir="2700000" algn="tl">
                  <a:srgbClr val="000000">
                    <a:alpha val="43137"/>
                  </a:srgbClr>
                </a:outerShdw>
              </a:effectLst>
            </a:endParaRPr>
          </a:p>
          <a:p>
            <a:pPr lvl="1">
              <a:lnSpc>
                <a:spcPct val="150000"/>
              </a:lnSpc>
              <a:buFont typeface="Wingdings" pitchFamily="2" charset="2"/>
              <a:buChar char="Ø"/>
            </a:pPr>
            <a:r>
              <a:rPr lang="zh-CN" altLang="en-US" sz="3600" b="1" dirty="0" smtClean="0">
                <a:solidFill>
                  <a:srgbClr val="002060"/>
                </a:solidFill>
                <a:effectLst>
                  <a:outerShdw blurRad="38100" dist="38100" dir="2700000" algn="tl">
                    <a:srgbClr val="000000">
                      <a:alpha val="43137"/>
                    </a:srgbClr>
                  </a:outerShdw>
                </a:effectLst>
              </a:rPr>
              <a:t>氢键</a:t>
            </a:r>
            <a:endParaRPr lang="en-MY" sz="36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 xmlns:p14="http://schemas.microsoft.com/office/powerpoint/2010/main" val="72198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9" y="6005"/>
            <a:ext cx="8229600" cy="1143000"/>
          </a:xfrm>
        </p:spPr>
        <p:txBody>
          <a:bodyPr>
            <a:normAutofit/>
          </a:bodyPr>
          <a:lstStyle/>
          <a:p>
            <a:r>
              <a:rPr lang="en-US" altLang="zh-CN" sz="4800" b="1" dirty="0" smtClean="0">
                <a:solidFill>
                  <a:schemeClr val="bg1"/>
                </a:solidFill>
              </a:rPr>
              <a:t>7.2.1</a:t>
            </a:r>
            <a:r>
              <a:rPr lang="zh-CN" altLang="en-US" sz="4800" b="1" dirty="0" smtClean="0">
                <a:solidFill>
                  <a:schemeClr val="bg1"/>
                </a:solidFill>
              </a:rPr>
              <a:t>范德华力</a:t>
            </a:r>
            <a:endParaRPr lang="en-MY" sz="4800" b="1" dirty="0">
              <a:solidFill>
                <a:schemeClr val="bg1"/>
              </a:solidFill>
            </a:endParaRPr>
          </a:p>
        </p:txBody>
      </p:sp>
      <p:sp>
        <p:nvSpPr>
          <p:cNvPr id="3" name="Content Placeholder 2"/>
          <p:cNvSpPr>
            <a:spLocks noGrp="1"/>
          </p:cNvSpPr>
          <p:nvPr>
            <p:ph idx="1"/>
          </p:nvPr>
        </p:nvSpPr>
        <p:spPr>
          <a:xfrm>
            <a:off x="381000" y="1066800"/>
            <a:ext cx="8153400" cy="5334000"/>
          </a:xfrm>
        </p:spPr>
        <p:txBody>
          <a:bodyPr>
            <a:noAutofit/>
          </a:bodyPr>
          <a:lstStyle/>
          <a:p>
            <a:pPr>
              <a:buFont typeface="Wingdings" pitchFamily="2" charset="2"/>
              <a:buChar char="Ø"/>
            </a:pPr>
            <a:r>
              <a:rPr lang="zh-CN" altLang="en-US" dirty="0" smtClean="0"/>
              <a:t>存在于</a:t>
            </a:r>
            <a:r>
              <a:rPr lang="zh-CN" altLang="en-US" b="1" dirty="0" smtClean="0">
                <a:effectLst>
                  <a:outerShdw blurRad="38100" dist="38100" dir="2700000" algn="tl">
                    <a:srgbClr val="000000">
                      <a:alpha val="43137"/>
                    </a:srgbClr>
                  </a:outerShdw>
                </a:effectLst>
              </a:rPr>
              <a:t>固、液、气</a:t>
            </a:r>
            <a:r>
              <a:rPr lang="zh-CN" altLang="en-US" b="1" dirty="0" smtClean="0">
                <a:solidFill>
                  <a:srgbClr val="002060"/>
                </a:solidFill>
                <a:effectLst>
                  <a:outerShdw blurRad="38100" dist="38100" dir="2700000" algn="tl">
                    <a:srgbClr val="000000">
                      <a:alpha val="43137"/>
                    </a:srgbClr>
                  </a:outerShdw>
                </a:effectLst>
              </a:rPr>
              <a:t>分子</a:t>
            </a:r>
            <a:r>
              <a:rPr lang="zh-CN" altLang="en-US" dirty="0" smtClean="0"/>
              <a:t>之间的作用力。</a:t>
            </a:r>
            <a:endParaRPr lang="en-US" altLang="zh-CN" dirty="0" smtClean="0"/>
          </a:p>
          <a:p>
            <a:pPr marL="0" indent="0">
              <a:buFont typeface="Wingdings" pitchFamily="2" charset="2"/>
              <a:buChar char="Ø"/>
            </a:pPr>
            <a:r>
              <a:rPr lang="zh-CN" altLang="en-US" dirty="0" smtClean="0"/>
              <a:t>它是一种</a:t>
            </a:r>
            <a:r>
              <a:rPr lang="zh-CN" altLang="en-US" b="1" dirty="0" smtClean="0">
                <a:solidFill>
                  <a:srgbClr val="002060"/>
                </a:solidFill>
                <a:effectLst>
                  <a:outerShdw blurRad="38100" dist="38100" dir="2700000" algn="tl">
                    <a:srgbClr val="000000">
                      <a:alpha val="43137"/>
                    </a:srgbClr>
                  </a:outerShdw>
                </a:effectLst>
              </a:rPr>
              <a:t>微弱</a:t>
            </a:r>
            <a:r>
              <a:rPr lang="zh-CN" altLang="en-US" dirty="0" smtClean="0"/>
              <a:t>静电引力。</a:t>
            </a:r>
            <a:endParaRPr lang="en-US" altLang="zh-CN" dirty="0" smtClean="0"/>
          </a:p>
          <a:p>
            <a:pPr marL="0" indent="0">
              <a:buFont typeface="Wingdings" pitchFamily="2" charset="2"/>
              <a:buChar char="Ø"/>
            </a:pPr>
            <a:r>
              <a:rPr lang="zh-CN" altLang="en-US" b="1" dirty="0" smtClean="0"/>
              <a:t>范</a:t>
            </a:r>
            <a:r>
              <a:rPr lang="zh-CN" altLang="en-US" b="1" dirty="0"/>
              <a:t>德华力</a:t>
            </a:r>
            <a:r>
              <a:rPr lang="zh-CN" altLang="en-US" b="1" dirty="0">
                <a:solidFill>
                  <a:srgbClr val="002060"/>
                </a:solidFill>
                <a:effectLst>
                  <a:outerShdw blurRad="38100" dist="38100" dir="2700000" algn="tl">
                    <a:srgbClr val="000000">
                      <a:alpha val="43137"/>
                    </a:srgbClr>
                  </a:outerShdw>
                </a:effectLst>
              </a:rPr>
              <a:t>越强</a:t>
            </a:r>
            <a:r>
              <a:rPr lang="zh-CN" altLang="en-US" b="1" dirty="0"/>
              <a:t>物质的</a:t>
            </a:r>
            <a:r>
              <a:rPr lang="zh-CN" altLang="en-US" b="1" dirty="0">
                <a:solidFill>
                  <a:srgbClr val="002060"/>
                </a:solidFill>
                <a:effectLst>
                  <a:outerShdw blurRad="38100" dist="38100" dir="2700000" algn="tl">
                    <a:srgbClr val="000000">
                      <a:alpha val="43137"/>
                    </a:srgbClr>
                  </a:outerShdw>
                </a:effectLst>
              </a:rPr>
              <a:t>熔点沸点越高</a:t>
            </a:r>
            <a:r>
              <a:rPr lang="zh-CN" altLang="en-US" b="1" dirty="0"/>
              <a:t>。</a:t>
            </a:r>
            <a:endParaRPr lang="en-US" altLang="zh-CN" b="1" dirty="0"/>
          </a:p>
          <a:p>
            <a:pPr marL="0" indent="0">
              <a:buFont typeface="Wingdings" pitchFamily="2" charset="2"/>
              <a:buChar char="Ø"/>
            </a:pPr>
            <a:r>
              <a:rPr lang="zh-CN" altLang="en-US" b="1" dirty="0"/>
              <a:t>影响</a:t>
            </a:r>
            <a:r>
              <a:rPr lang="zh-CN" altLang="en-US" b="1" dirty="0" smtClean="0"/>
              <a:t>范德华力的因素</a:t>
            </a:r>
            <a:endParaRPr lang="en-US" altLang="zh-CN" b="1" dirty="0" smtClean="0"/>
          </a:p>
          <a:p>
            <a:pPr marL="400050" lvl="1" indent="0">
              <a:buFont typeface="Wingdings" pitchFamily="2" charset="2"/>
              <a:buChar char="Ø"/>
            </a:pPr>
            <a:r>
              <a:rPr lang="zh-CN" altLang="en-US" sz="3200" dirty="0" smtClean="0"/>
              <a:t>分子的极性</a:t>
            </a:r>
            <a:endParaRPr lang="en-US" altLang="zh-CN" sz="3200" dirty="0" smtClean="0"/>
          </a:p>
          <a:p>
            <a:pPr marL="400050" lvl="1" indent="0">
              <a:buFont typeface="Wingdings" pitchFamily="2" charset="2"/>
              <a:buChar char="Ø"/>
            </a:pPr>
            <a:r>
              <a:rPr lang="zh-CN" altLang="en-US" sz="3200" dirty="0" smtClean="0"/>
              <a:t>式量</a:t>
            </a:r>
            <a:endParaRPr lang="en-US" altLang="zh-CN" sz="3200" dirty="0" smtClean="0"/>
          </a:p>
          <a:p>
            <a:pPr marL="400050" lvl="1" indent="0">
              <a:buFont typeface="Wingdings" pitchFamily="2" charset="2"/>
              <a:buChar char="Ø"/>
            </a:pPr>
            <a:r>
              <a:rPr lang="zh-CN" altLang="en-US" sz="3200" dirty="0" smtClean="0"/>
              <a:t>分子中的原子数目</a:t>
            </a:r>
            <a:endParaRPr lang="en-US" altLang="zh-CN" sz="3200" dirty="0" smtClean="0"/>
          </a:p>
          <a:p>
            <a:pPr marL="400050" lvl="1" indent="0">
              <a:buFont typeface="Wingdings" pitchFamily="2" charset="2"/>
              <a:buChar char="Ø"/>
            </a:pPr>
            <a:r>
              <a:rPr lang="zh-CN" altLang="en-US" sz="3200" dirty="0" smtClean="0"/>
              <a:t>分子中的电子数目</a:t>
            </a:r>
            <a:endParaRPr lang="en-US" altLang="zh-CN" sz="3200" dirty="0" smtClean="0"/>
          </a:p>
          <a:p>
            <a:pPr marL="400050" lvl="1" indent="0">
              <a:buFont typeface="Wingdings" pitchFamily="2" charset="2"/>
              <a:buChar char="Ø"/>
            </a:pPr>
            <a:r>
              <a:rPr lang="zh-CN" altLang="en-US" sz="3200" dirty="0" smtClean="0"/>
              <a:t>分子的形状</a:t>
            </a:r>
            <a:endParaRPr lang="en-US" altLang="zh-CN" sz="3200" dirty="0" smtClean="0"/>
          </a:p>
        </p:txBody>
      </p:sp>
      <p:pic>
        <p:nvPicPr>
          <p:cNvPr id="6" name="Picture 2" descr="https://upload.wikimedia.org/wikipedia/commons/thumb/7/7f/VdW-force-attractive.jpg/320px-VdW-force-attractive.jpg"/>
          <p:cNvPicPr>
            <a:picLocks noChangeAspect="1" noChangeArrowheads="1"/>
          </p:cNvPicPr>
          <p:nvPr/>
        </p:nvPicPr>
        <p:blipFill>
          <a:blip r:embed="rId2" cstate="print"/>
          <a:srcRect/>
          <a:stretch>
            <a:fillRect/>
          </a:stretch>
        </p:blipFill>
        <p:spPr bwMode="auto">
          <a:xfrm>
            <a:off x="6781800" y="2669143"/>
            <a:ext cx="1912895" cy="3807857"/>
          </a:xfrm>
          <a:prstGeom prst="rect">
            <a:avLst/>
          </a:prstGeom>
          <a:noFill/>
        </p:spPr>
      </p:pic>
    </p:spTree>
    <p:extLst>
      <p:ext uri="{BB962C8B-B14F-4D97-AF65-F5344CB8AC3E}">
        <p14:creationId xmlns="" xmlns:p14="http://schemas.microsoft.com/office/powerpoint/2010/main" val="72198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 calcmode="lin" valueType="num">
                                      <p:cBhvr additive="base">
                                        <p:cTn id="6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4312"/>
            <a:ext cx="8229600" cy="4525963"/>
          </a:xfrm>
        </p:spPr>
        <p:txBody>
          <a:bodyPr/>
          <a:lstStyle/>
          <a:p>
            <a:r>
              <a:rPr lang="zh-CN" altLang="en-US" dirty="0" smtClean="0"/>
              <a:t>比较下列物质的熔点沸点</a:t>
            </a:r>
            <a:endParaRPr lang="en-US" altLang="zh-CN" dirty="0" smtClean="0"/>
          </a:p>
          <a:p>
            <a:r>
              <a:rPr lang="en-US" dirty="0" smtClean="0"/>
              <a:t>CH</a:t>
            </a:r>
            <a:r>
              <a:rPr lang="en-US" baseline="-25000" dirty="0" smtClean="0"/>
              <a:t>4</a:t>
            </a:r>
            <a:r>
              <a:rPr lang="en-US" dirty="0" smtClean="0"/>
              <a:t> </a:t>
            </a:r>
            <a:r>
              <a:rPr lang="zh-CN" altLang="en-US" dirty="0" smtClean="0"/>
              <a:t>与 </a:t>
            </a:r>
            <a:r>
              <a:rPr lang="en-US" altLang="zh-CN" dirty="0" smtClean="0"/>
              <a:t>SiH</a:t>
            </a:r>
            <a:r>
              <a:rPr lang="en-US" altLang="zh-CN" baseline="-25000" dirty="0" smtClean="0"/>
              <a:t>4</a:t>
            </a:r>
            <a:endParaRPr lang="en-US" altLang="zh-CN" dirty="0" smtClean="0"/>
          </a:p>
          <a:p>
            <a:r>
              <a:rPr lang="en-US" altLang="zh-CN" dirty="0" smtClean="0"/>
              <a:t>NH</a:t>
            </a:r>
            <a:r>
              <a:rPr lang="en-US" altLang="zh-CN" baseline="-25000" dirty="0" smtClean="0"/>
              <a:t>3</a:t>
            </a:r>
            <a:r>
              <a:rPr lang="en-US" altLang="zh-CN" dirty="0" smtClean="0"/>
              <a:t> </a:t>
            </a:r>
            <a:r>
              <a:rPr lang="zh-CN" altLang="en-US" dirty="0" smtClean="0"/>
              <a:t>与 </a:t>
            </a:r>
            <a:r>
              <a:rPr lang="en-US" altLang="zh-CN" dirty="0" smtClean="0"/>
              <a:t>PH</a:t>
            </a:r>
            <a:r>
              <a:rPr lang="en-US" altLang="zh-CN" baseline="-25000" dirty="0" smtClean="0"/>
              <a:t>3</a:t>
            </a:r>
          </a:p>
          <a:p>
            <a:endParaRPr lang="en-US" altLang="zh-CN" dirty="0" smtClean="0"/>
          </a:p>
          <a:p>
            <a:r>
              <a:rPr lang="en-US" altLang="zh-CN" dirty="0" smtClean="0"/>
              <a:t>H</a:t>
            </a:r>
            <a:r>
              <a:rPr lang="en-US" altLang="zh-CN" baseline="-25000" dirty="0" smtClean="0"/>
              <a:t>2</a:t>
            </a:r>
            <a:r>
              <a:rPr lang="en-US" altLang="zh-CN" dirty="0" smtClean="0"/>
              <a:t>O </a:t>
            </a:r>
            <a:r>
              <a:rPr lang="zh-CN" altLang="en-US" dirty="0" smtClean="0"/>
              <a:t>与 </a:t>
            </a:r>
            <a:r>
              <a:rPr lang="en-US" altLang="zh-CN" dirty="0" smtClean="0"/>
              <a:t>H</a:t>
            </a:r>
            <a:r>
              <a:rPr lang="en-US" altLang="zh-CN" baseline="-25000" dirty="0" smtClean="0"/>
              <a:t>2</a:t>
            </a:r>
            <a:r>
              <a:rPr lang="en-US" altLang="zh-CN" dirty="0" smtClean="0"/>
              <a:t>S </a:t>
            </a:r>
          </a:p>
          <a:p>
            <a:endParaRPr lang="en-US" altLang="zh-CN" dirty="0" smtClean="0"/>
          </a:p>
          <a:p>
            <a:r>
              <a:rPr lang="en-US" altLang="zh-CN" dirty="0" smtClean="0"/>
              <a:t>HF </a:t>
            </a:r>
            <a:r>
              <a:rPr lang="zh-CN" altLang="en-US" dirty="0" smtClean="0"/>
              <a:t>与 </a:t>
            </a:r>
            <a:r>
              <a:rPr lang="en-US" altLang="zh-CN" dirty="0" err="1" smtClean="0"/>
              <a:t>HCl</a:t>
            </a:r>
            <a:endParaRPr lang="en-US" dirty="0"/>
          </a:p>
        </p:txBody>
      </p:sp>
      <p:sp>
        <p:nvSpPr>
          <p:cNvPr id="4" name="Title 1"/>
          <p:cNvSpPr>
            <a:spLocks noGrp="1"/>
          </p:cNvSpPr>
          <p:nvPr>
            <p:ph type="title"/>
          </p:nvPr>
        </p:nvSpPr>
        <p:spPr>
          <a:xfrm>
            <a:off x="457200" y="0"/>
            <a:ext cx="8229600" cy="1143000"/>
          </a:xfrm>
        </p:spPr>
        <p:txBody>
          <a:bodyPr>
            <a:normAutofit/>
          </a:bodyPr>
          <a:lstStyle/>
          <a:p>
            <a:r>
              <a:rPr lang="en-US" sz="5400" b="1" dirty="0" smtClean="0">
                <a:solidFill>
                  <a:schemeClr val="bg1"/>
                </a:solidFill>
              </a:rPr>
              <a:t>7.</a:t>
            </a:r>
            <a:r>
              <a:rPr lang="en-US" altLang="zh-CN" sz="5400" b="1" dirty="0" smtClean="0">
                <a:solidFill>
                  <a:schemeClr val="bg1"/>
                </a:solidFill>
              </a:rPr>
              <a:t>2</a:t>
            </a:r>
            <a:r>
              <a:rPr lang="en-US" sz="5400" b="1" dirty="0" smtClean="0">
                <a:solidFill>
                  <a:schemeClr val="bg1"/>
                </a:solidFill>
              </a:rPr>
              <a:t>.</a:t>
            </a:r>
            <a:r>
              <a:rPr lang="en-US" altLang="zh-CN" sz="5400" b="1" dirty="0" smtClean="0">
                <a:solidFill>
                  <a:schemeClr val="bg1"/>
                </a:solidFill>
              </a:rPr>
              <a:t>2</a:t>
            </a:r>
            <a:r>
              <a:rPr lang="en-US" sz="5400" b="1" dirty="0" smtClean="0">
                <a:solidFill>
                  <a:schemeClr val="bg1"/>
                </a:solidFill>
              </a:rPr>
              <a:t> </a:t>
            </a:r>
            <a:r>
              <a:rPr lang="zh-CN" altLang="en-US" sz="5400" b="1" dirty="0" smtClean="0">
                <a:solidFill>
                  <a:schemeClr val="bg1"/>
                </a:solidFill>
              </a:rPr>
              <a:t>氢键</a:t>
            </a:r>
            <a:endParaRPr lang="en-MY" sz="5400" b="1" dirty="0">
              <a:solidFill>
                <a:schemeClr val="bg1"/>
              </a:solidFill>
            </a:endParaRPr>
          </a:p>
        </p:txBody>
      </p:sp>
      <p:sp>
        <p:nvSpPr>
          <p:cNvPr id="5" name="TextBox 4"/>
          <p:cNvSpPr txBox="1"/>
          <p:nvPr/>
        </p:nvSpPr>
        <p:spPr>
          <a:xfrm>
            <a:off x="3352800" y="1673912"/>
            <a:ext cx="3757760" cy="523220"/>
          </a:xfrm>
          <a:prstGeom prst="rect">
            <a:avLst/>
          </a:prstGeom>
          <a:noFill/>
        </p:spPr>
        <p:txBody>
          <a:bodyPr wrap="none" rtlCol="0">
            <a:spAutoFit/>
          </a:bodyPr>
          <a:lstStyle/>
          <a:p>
            <a:r>
              <a:rPr lang="en-US" altLang="zh-CN" sz="2800" b="1" dirty="0" smtClean="0">
                <a:solidFill>
                  <a:srgbClr val="002060"/>
                </a:solidFill>
                <a:effectLst>
                  <a:outerShdw blurRad="38100" dist="38100" dir="2700000" algn="tl">
                    <a:srgbClr val="000000">
                      <a:alpha val="43137"/>
                    </a:srgbClr>
                  </a:outerShdw>
                </a:effectLst>
              </a:rPr>
              <a:t>SiH</a:t>
            </a:r>
            <a:r>
              <a:rPr lang="en-US" altLang="zh-CN" sz="2800" b="1" baseline="-25000" dirty="0" smtClean="0">
                <a:solidFill>
                  <a:srgbClr val="002060"/>
                </a:solidFill>
                <a:effectLst>
                  <a:outerShdw blurRad="38100" dist="38100" dir="2700000" algn="tl">
                    <a:srgbClr val="000000">
                      <a:alpha val="43137"/>
                    </a:srgbClr>
                  </a:outerShdw>
                </a:effectLst>
              </a:rPr>
              <a:t>4</a:t>
            </a:r>
            <a:r>
              <a:rPr lang="en-US" altLang="zh-CN" sz="2800" b="1" dirty="0" smtClean="0">
                <a:solidFill>
                  <a:srgbClr val="002060"/>
                </a:solidFill>
                <a:effectLst>
                  <a:outerShdw blurRad="38100" dist="38100" dir="2700000" algn="tl">
                    <a:srgbClr val="000000">
                      <a:alpha val="43137"/>
                    </a:srgbClr>
                  </a:outerShdw>
                </a:effectLst>
              </a:rPr>
              <a:t> </a:t>
            </a:r>
            <a:r>
              <a:rPr lang="zh-CN" altLang="en-US" sz="2800" b="1" dirty="0" smtClean="0">
                <a:solidFill>
                  <a:srgbClr val="002060"/>
                </a:solidFill>
                <a:effectLst>
                  <a:outerShdw blurRad="38100" dist="38100" dir="2700000" algn="tl">
                    <a:srgbClr val="000000">
                      <a:alpha val="43137"/>
                    </a:srgbClr>
                  </a:outerShdw>
                </a:effectLst>
              </a:rPr>
              <a:t>式量较大沸点较高</a:t>
            </a:r>
            <a:endParaRPr lang="en-US" sz="2800" b="1" dirty="0">
              <a:solidFill>
                <a:srgbClr val="002060"/>
              </a:solidFill>
              <a:effectLst>
                <a:outerShdw blurRad="38100" dist="38100" dir="2700000" algn="tl">
                  <a:srgbClr val="000000">
                    <a:alpha val="43137"/>
                  </a:srgbClr>
                </a:outerShdw>
              </a:effectLst>
            </a:endParaRPr>
          </a:p>
        </p:txBody>
      </p:sp>
      <p:sp>
        <p:nvSpPr>
          <p:cNvPr id="6" name="TextBox 5"/>
          <p:cNvSpPr txBox="1"/>
          <p:nvPr/>
        </p:nvSpPr>
        <p:spPr>
          <a:xfrm>
            <a:off x="3352800" y="2293692"/>
            <a:ext cx="4485523" cy="954107"/>
          </a:xfrm>
          <a:prstGeom prst="rect">
            <a:avLst/>
          </a:prstGeom>
          <a:noFill/>
        </p:spPr>
        <p:txBody>
          <a:bodyPr wrap="none" rtlCol="0">
            <a:spAutoFit/>
          </a:bodyPr>
          <a:lstStyle/>
          <a:p>
            <a:r>
              <a:rPr lang="en-US" altLang="zh-CN" sz="2800" b="1" dirty="0" smtClean="0">
                <a:solidFill>
                  <a:srgbClr val="002060"/>
                </a:solidFill>
                <a:effectLst>
                  <a:outerShdw blurRad="38100" dist="38100" dir="2700000" algn="tl">
                    <a:srgbClr val="000000">
                      <a:alpha val="43137"/>
                    </a:srgbClr>
                  </a:outerShdw>
                </a:effectLst>
              </a:rPr>
              <a:t>PH</a:t>
            </a:r>
            <a:r>
              <a:rPr lang="en-US" altLang="zh-CN" sz="2800" b="1" baseline="-25000" dirty="0" smtClean="0">
                <a:solidFill>
                  <a:srgbClr val="002060"/>
                </a:solidFill>
                <a:effectLst>
                  <a:outerShdw blurRad="38100" dist="38100" dir="2700000" algn="tl">
                    <a:srgbClr val="000000">
                      <a:alpha val="43137"/>
                    </a:srgbClr>
                  </a:outerShdw>
                </a:effectLst>
              </a:rPr>
              <a:t>3</a:t>
            </a:r>
            <a:r>
              <a:rPr lang="en-US" altLang="zh-CN" sz="2800" b="1" dirty="0" smtClean="0">
                <a:solidFill>
                  <a:srgbClr val="002060"/>
                </a:solidFill>
                <a:effectLst>
                  <a:outerShdw blurRad="38100" dist="38100" dir="2700000" algn="tl">
                    <a:srgbClr val="000000">
                      <a:alpha val="43137"/>
                    </a:srgbClr>
                  </a:outerShdw>
                </a:effectLst>
              </a:rPr>
              <a:t> </a:t>
            </a:r>
            <a:r>
              <a:rPr lang="zh-CN" altLang="en-US" sz="2800" b="1" dirty="0" smtClean="0">
                <a:solidFill>
                  <a:srgbClr val="002060"/>
                </a:solidFill>
                <a:effectLst>
                  <a:outerShdw blurRad="38100" dist="38100" dir="2700000" algn="tl">
                    <a:srgbClr val="000000">
                      <a:alpha val="43137"/>
                    </a:srgbClr>
                  </a:outerShdw>
                </a:effectLst>
              </a:rPr>
              <a:t>式量较大但其沸点</a:t>
            </a:r>
            <a:r>
              <a:rPr lang="en-US" altLang="zh-CN" sz="2800" b="1" dirty="0" smtClean="0">
                <a:solidFill>
                  <a:srgbClr val="002060"/>
                </a:solidFill>
                <a:effectLst>
                  <a:outerShdw blurRad="38100" dist="38100" dir="2700000" algn="tl">
                    <a:srgbClr val="000000">
                      <a:alpha val="43137"/>
                    </a:srgbClr>
                  </a:outerShdw>
                </a:effectLst>
              </a:rPr>
              <a:t>-88</a:t>
            </a:r>
            <a:r>
              <a:rPr lang="en-US" altLang="zh-CN" sz="2800" b="1" baseline="30000" dirty="0" smtClean="0">
                <a:solidFill>
                  <a:srgbClr val="002060"/>
                </a:solidFill>
                <a:effectLst>
                  <a:outerShdw blurRad="38100" dist="38100" dir="2700000" algn="tl">
                    <a:srgbClr val="000000">
                      <a:alpha val="43137"/>
                    </a:srgbClr>
                  </a:outerShdw>
                </a:effectLst>
              </a:rPr>
              <a:t>o</a:t>
            </a:r>
            <a:r>
              <a:rPr lang="en-US" altLang="zh-CN" sz="2800" b="1" dirty="0" smtClean="0">
                <a:solidFill>
                  <a:srgbClr val="002060"/>
                </a:solidFill>
                <a:effectLst>
                  <a:outerShdw blurRad="38100" dist="38100" dir="2700000" algn="tl">
                    <a:srgbClr val="000000">
                      <a:alpha val="43137"/>
                    </a:srgbClr>
                  </a:outerShdw>
                </a:effectLst>
              </a:rPr>
              <a:t>C</a:t>
            </a:r>
          </a:p>
          <a:p>
            <a:r>
              <a:rPr lang="en-US" altLang="zh-CN" sz="2800" b="1" dirty="0" smtClean="0">
                <a:solidFill>
                  <a:srgbClr val="002060"/>
                </a:solidFill>
                <a:effectLst>
                  <a:outerShdw blurRad="38100" dist="38100" dir="2700000" algn="tl">
                    <a:srgbClr val="000000">
                      <a:alpha val="43137"/>
                    </a:srgbClr>
                  </a:outerShdw>
                </a:effectLst>
              </a:rPr>
              <a:t>NH</a:t>
            </a:r>
            <a:r>
              <a:rPr lang="en-US" altLang="zh-CN" sz="2800" b="1" baseline="-25000" dirty="0" smtClean="0">
                <a:solidFill>
                  <a:srgbClr val="002060"/>
                </a:solidFill>
                <a:effectLst>
                  <a:outerShdw blurRad="38100" dist="38100" dir="2700000" algn="tl">
                    <a:srgbClr val="000000">
                      <a:alpha val="43137"/>
                    </a:srgbClr>
                  </a:outerShdw>
                </a:effectLst>
              </a:rPr>
              <a:t>3</a:t>
            </a:r>
            <a:r>
              <a:rPr lang="en-US" altLang="zh-CN" sz="2800" b="1" dirty="0" smtClean="0">
                <a:solidFill>
                  <a:srgbClr val="002060"/>
                </a:solidFill>
                <a:effectLst>
                  <a:outerShdw blurRad="38100" dist="38100" dir="2700000" algn="tl">
                    <a:srgbClr val="000000">
                      <a:alpha val="43137"/>
                    </a:srgbClr>
                  </a:outerShdw>
                </a:effectLst>
              </a:rPr>
              <a:t> </a:t>
            </a:r>
            <a:r>
              <a:rPr lang="zh-CN" altLang="en-US" sz="2800" b="1" dirty="0" smtClean="0">
                <a:solidFill>
                  <a:srgbClr val="002060"/>
                </a:solidFill>
                <a:effectLst>
                  <a:outerShdw blurRad="38100" dist="38100" dir="2700000" algn="tl">
                    <a:srgbClr val="000000">
                      <a:alpha val="43137"/>
                    </a:srgbClr>
                  </a:outerShdw>
                </a:effectLst>
              </a:rPr>
              <a:t>沸点 </a:t>
            </a:r>
            <a:r>
              <a:rPr lang="en-US" altLang="zh-CN" sz="2800" b="1" dirty="0" smtClean="0">
                <a:solidFill>
                  <a:srgbClr val="002060"/>
                </a:solidFill>
                <a:effectLst>
                  <a:outerShdw blurRad="38100" dist="38100" dir="2700000" algn="tl">
                    <a:srgbClr val="000000">
                      <a:alpha val="43137"/>
                    </a:srgbClr>
                  </a:outerShdw>
                </a:effectLst>
              </a:rPr>
              <a:t>-33</a:t>
            </a:r>
            <a:r>
              <a:rPr lang="en-US" altLang="zh-CN" sz="2800" b="1" baseline="30000" dirty="0" smtClean="0">
                <a:solidFill>
                  <a:srgbClr val="002060"/>
                </a:solidFill>
                <a:effectLst>
                  <a:outerShdw blurRad="38100" dist="38100" dir="2700000" algn="tl">
                    <a:srgbClr val="000000">
                      <a:alpha val="43137"/>
                    </a:srgbClr>
                  </a:outerShdw>
                </a:effectLst>
              </a:rPr>
              <a:t>o</a:t>
            </a:r>
            <a:r>
              <a:rPr lang="en-US" altLang="zh-CN" sz="2800" b="1" dirty="0" smtClean="0">
                <a:solidFill>
                  <a:srgbClr val="002060"/>
                </a:solidFill>
                <a:effectLst>
                  <a:outerShdw blurRad="38100" dist="38100" dir="2700000" algn="tl">
                    <a:srgbClr val="000000">
                      <a:alpha val="43137"/>
                    </a:srgbClr>
                  </a:outerShdw>
                </a:effectLst>
              </a:rPr>
              <a:t>C</a:t>
            </a:r>
            <a:endParaRPr lang="en-US" sz="2800" b="1" dirty="0">
              <a:solidFill>
                <a:srgbClr val="002060"/>
              </a:solidFill>
              <a:effectLst>
                <a:outerShdw blurRad="38100" dist="38100" dir="2700000" algn="tl">
                  <a:srgbClr val="000000">
                    <a:alpha val="43137"/>
                  </a:srgbClr>
                </a:outerShdw>
              </a:effectLst>
            </a:endParaRPr>
          </a:p>
        </p:txBody>
      </p:sp>
      <p:sp>
        <p:nvSpPr>
          <p:cNvPr id="7" name="TextBox 6"/>
          <p:cNvSpPr txBox="1"/>
          <p:nvPr/>
        </p:nvSpPr>
        <p:spPr>
          <a:xfrm>
            <a:off x="3352800" y="3465493"/>
            <a:ext cx="4464684" cy="954107"/>
          </a:xfrm>
          <a:prstGeom prst="rect">
            <a:avLst/>
          </a:prstGeom>
          <a:noFill/>
        </p:spPr>
        <p:txBody>
          <a:bodyPr wrap="none" rtlCol="0">
            <a:spAutoFit/>
          </a:bodyPr>
          <a:lstStyle/>
          <a:p>
            <a:r>
              <a:rPr lang="en-US" altLang="zh-CN" sz="2800" b="1" dirty="0" smtClean="0">
                <a:solidFill>
                  <a:srgbClr val="002060"/>
                </a:solidFill>
                <a:effectLst>
                  <a:outerShdw blurRad="38100" dist="38100" dir="2700000" algn="tl">
                    <a:srgbClr val="000000">
                      <a:alpha val="43137"/>
                    </a:srgbClr>
                  </a:outerShdw>
                </a:effectLst>
              </a:rPr>
              <a:t>H</a:t>
            </a:r>
            <a:r>
              <a:rPr lang="en-US" altLang="zh-CN" sz="2800" b="1" baseline="-25000" dirty="0" smtClean="0">
                <a:solidFill>
                  <a:srgbClr val="002060"/>
                </a:solidFill>
                <a:effectLst>
                  <a:outerShdw blurRad="38100" dist="38100" dir="2700000" algn="tl">
                    <a:srgbClr val="000000">
                      <a:alpha val="43137"/>
                    </a:srgbClr>
                  </a:outerShdw>
                </a:effectLst>
              </a:rPr>
              <a:t>2</a:t>
            </a:r>
            <a:r>
              <a:rPr lang="en-US" altLang="zh-CN" sz="2800" b="1" dirty="0" smtClean="0">
                <a:solidFill>
                  <a:srgbClr val="002060"/>
                </a:solidFill>
                <a:effectLst>
                  <a:outerShdw blurRad="38100" dist="38100" dir="2700000" algn="tl">
                    <a:srgbClr val="000000">
                      <a:alpha val="43137"/>
                    </a:srgbClr>
                  </a:outerShdw>
                </a:effectLst>
              </a:rPr>
              <a:t>S </a:t>
            </a:r>
            <a:r>
              <a:rPr lang="zh-CN" altLang="en-US" sz="2800" b="1" dirty="0" smtClean="0">
                <a:solidFill>
                  <a:srgbClr val="002060"/>
                </a:solidFill>
                <a:effectLst>
                  <a:outerShdw blurRad="38100" dist="38100" dir="2700000" algn="tl">
                    <a:srgbClr val="000000">
                      <a:alpha val="43137"/>
                    </a:srgbClr>
                  </a:outerShdw>
                </a:effectLst>
              </a:rPr>
              <a:t>式量较大但其沸点</a:t>
            </a:r>
            <a:r>
              <a:rPr lang="en-US" altLang="zh-CN" sz="2800" b="1" dirty="0" smtClean="0">
                <a:solidFill>
                  <a:srgbClr val="002060"/>
                </a:solidFill>
                <a:effectLst>
                  <a:outerShdw blurRad="38100" dist="38100" dir="2700000" algn="tl">
                    <a:srgbClr val="000000">
                      <a:alpha val="43137"/>
                    </a:srgbClr>
                  </a:outerShdw>
                </a:effectLst>
              </a:rPr>
              <a:t>-61</a:t>
            </a:r>
            <a:r>
              <a:rPr lang="en-US" altLang="zh-CN" sz="2800" b="1" baseline="30000" dirty="0" smtClean="0">
                <a:solidFill>
                  <a:srgbClr val="002060"/>
                </a:solidFill>
                <a:effectLst>
                  <a:outerShdw blurRad="38100" dist="38100" dir="2700000" algn="tl">
                    <a:srgbClr val="000000">
                      <a:alpha val="43137"/>
                    </a:srgbClr>
                  </a:outerShdw>
                </a:effectLst>
              </a:rPr>
              <a:t>o</a:t>
            </a:r>
            <a:r>
              <a:rPr lang="en-US" altLang="zh-CN" sz="2800" b="1" dirty="0" smtClean="0">
                <a:solidFill>
                  <a:srgbClr val="002060"/>
                </a:solidFill>
                <a:effectLst>
                  <a:outerShdw blurRad="38100" dist="38100" dir="2700000" algn="tl">
                    <a:srgbClr val="000000">
                      <a:alpha val="43137"/>
                    </a:srgbClr>
                  </a:outerShdw>
                </a:effectLst>
              </a:rPr>
              <a:t>C</a:t>
            </a:r>
          </a:p>
          <a:p>
            <a:r>
              <a:rPr lang="en-US" altLang="zh-CN" sz="2800" b="1" dirty="0" smtClean="0">
                <a:solidFill>
                  <a:srgbClr val="002060"/>
                </a:solidFill>
                <a:effectLst>
                  <a:outerShdw blurRad="38100" dist="38100" dir="2700000" algn="tl">
                    <a:srgbClr val="000000">
                      <a:alpha val="43137"/>
                    </a:srgbClr>
                  </a:outerShdw>
                </a:effectLst>
              </a:rPr>
              <a:t>H</a:t>
            </a:r>
            <a:r>
              <a:rPr lang="en-US" altLang="zh-CN" sz="2800" b="1" baseline="-25000" dirty="0" smtClean="0">
                <a:solidFill>
                  <a:srgbClr val="002060"/>
                </a:solidFill>
                <a:effectLst>
                  <a:outerShdw blurRad="38100" dist="38100" dir="2700000" algn="tl">
                    <a:srgbClr val="000000">
                      <a:alpha val="43137"/>
                    </a:srgbClr>
                  </a:outerShdw>
                </a:effectLst>
              </a:rPr>
              <a:t>2</a:t>
            </a:r>
            <a:r>
              <a:rPr lang="en-US" altLang="zh-CN" sz="2800" b="1" dirty="0" smtClean="0">
                <a:solidFill>
                  <a:srgbClr val="002060"/>
                </a:solidFill>
                <a:effectLst>
                  <a:outerShdw blurRad="38100" dist="38100" dir="2700000" algn="tl">
                    <a:srgbClr val="000000">
                      <a:alpha val="43137"/>
                    </a:srgbClr>
                  </a:outerShdw>
                </a:effectLst>
              </a:rPr>
              <a:t>O </a:t>
            </a:r>
            <a:r>
              <a:rPr lang="zh-CN" altLang="en-US" sz="2800" b="1" dirty="0" smtClean="0">
                <a:solidFill>
                  <a:srgbClr val="002060"/>
                </a:solidFill>
                <a:effectLst>
                  <a:outerShdw blurRad="38100" dist="38100" dir="2700000" algn="tl">
                    <a:srgbClr val="000000">
                      <a:alpha val="43137"/>
                    </a:srgbClr>
                  </a:outerShdw>
                </a:effectLst>
              </a:rPr>
              <a:t>沸点 </a:t>
            </a:r>
            <a:r>
              <a:rPr lang="en-US" altLang="zh-CN" sz="2800" b="1" dirty="0" smtClean="0">
                <a:solidFill>
                  <a:srgbClr val="002060"/>
                </a:solidFill>
                <a:effectLst>
                  <a:outerShdw blurRad="38100" dist="38100" dir="2700000" algn="tl">
                    <a:srgbClr val="000000">
                      <a:alpha val="43137"/>
                    </a:srgbClr>
                  </a:outerShdw>
                </a:effectLst>
              </a:rPr>
              <a:t>100</a:t>
            </a:r>
            <a:r>
              <a:rPr lang="en-US" altLang="zh-CN" sz="2800" b="1" baseline="30000" dirty="0" smtClean="0">
                <a:solidFill>
                  <a:srgbClr val="002060"/>
                </a:solidFill>
                <a:effectLst>
                  <a:outerShdw blurRad="38100" dist="38100" dir="2700000" algn="tl">
                    <a:srgbClr val="000000">
                      <a:alpha val="43137"/>
                    </a:srgbClr>
                  </a:outerShdw>
                </a:effectLst>
              </a:rPr>
              <a:t>o</a:t>
            </a:r>
            <a:r>
              <a:rPr lang="en-US" altLang="zh-CN" sz="2800" b="1" dirty="0" smtClean="0">
                <a:solidFill>
                  <a:srgbClr val="002060"/>
                </a:solidFill>
                <a:effectLst>
                  <a:outerShdw blurRad="38100" dist="38100" dir="2700000" algn="tl">
                    <a:srgbClr val="000000">
                      <a:alpha val="43137"/>
                    </a:srgbClr>
                  </a:outerShdw>
                </a:effectLst>
              </a:rPr>
              <a:t>C</a:t>
            </a:r>
            <a:endParaRPr lang="en-US" sz="2800" b="1" dirty="0">
              <a:solidFill>
                <a:srgbClr val="002060"/>
              </a:solidFill>
              <a:effectLst>
                <a:outerShdw blurRad="38100" dist="38100" dir="2700000" algn="tl">
                  <a:srgbClr val="000000">
                    <a:alpha val="43137"/>
                  </a:srgbClr>
                </a:outerShdw>
              </a:effectLst>
            </a:endParaRPr>
          </a:p>
        </p:txBody>
      </p:sp>
      <p:sp>
        <p:nvSpPr>
          <p:cNvPr id="8" name="TextBox 7"/>
          <p:cNvSpPr txBox="1"/>
          <p:nvPr/>
        </p:nvSpPr>
        <p:spPr>
          <a:xfrm>
            <a:off x="3352800" y="4608493"/>
            <a:ext cx="4451860" cy="954107"/>
          </a:xfrm>
          <a:prstGeom prst="rect">
            <a:avLst/>
          </a:prstGeom>
          <a:noFill/>
        </p:spPr>
        <p:txBody>
          <a:bodyPr wrap="none" rtlCol="0">
            <a:spAutoFit/>
          </a:bodyPr>
          <a:lstStyle/>
          <a:p>
            <a:r>
              <a:rPr lang="en-US" altLang="zh-CN" sz="2800" b="1" dirty="0" err="1" smtClean="0">
                <a:solidFill>
                  <a:srgbClr val="002060"/>
                </a:solidFill>
                <a:effectLst>
                  <a:outerShdw blurRad="38100" dist="38100" dir="2700000" algn="tl">
                    <a:srgbClr val="000000">
                      <a:alpha val="43137"/>
                    </a:srgbClr>
                  </a:outerShdw>
                </a:effectLst>
              </a:rPr>
              <a:t>HCl</a:t>
            </a:r>
            <a:r>
              <a:rPr lang="en-US" altLang="zh-CN" sz="2800" b="1" dirty="0" smtClean="0">
                <a:solidFill>
                  <a:srgbClr val="002060"/>
                </a:solidFill>
                <a:effectLst>
                  <a:outerShdw blurRad="38100" dist="38100" dir="2700000" algn="tl">
                    <a:srgbClr val="000000">
                      <a:alpha val="43137"/>
                    </a:srgbClr>
                  </a:outerShdw>
                </a:effectLst>
              </a:rPr>
              <a:t> </a:t>
            </a:r>
            <a:r>
              <a:rPr lang="zh-CN" altLang="en-US" sz="2800" b="1" dirty="0" smtClean="0">
                <a:solidFill>
                  <a:srgbClr val="002060"/>
                </a:solidFill>
                <a:effectLst>
                  <a:outerShdw blurRad="38100" dist="38100" dir="2700000" algn="tl">
                    <a:srgbClr val="000000">
                      <a:alpha val="43137"/>
                    </a:srgbClr>
                  </a:outerShdw>
                </a:effectLst>
              </a:rPr>
              <a:t>式量较大但其沸点</a:t>
            </a:r>
            <a:r>
              <a:rPr lang="en-US" altLang="zh-CN" sz="2800" b="1" dirty="0" smtClean="0">
                <a:solidFill>
                  <a:srgbClr val="002060"/>
                </a:solidFill>
                <a:effectLst>
                  <a:outerShdw blurRad="38100" dist="38100" dir="2700000" algn="tl">
                    <a:srgbClr val="000000">
                      <a:alpha val="43137"/>
                    </a:srgbClr>
                  </a:outerShdw>
                </a:effectLst>
              </a:rPr>
              <a:t>-85</a:t>
            </a:r>
            <a:r>
              <a:rPr lang="en-US" altLang="zh-CN" sz="2800" b="1" baseline="30000" dirty="0" smtClean="0">
                <a:solidFill>
                  <a:srgbClr val="002060"/>
                </a:solidFill>
                <a:effectLst>
                  <a:outerShdw blurRad="38100" dist="38100" dir="2700000" algn="tl">
                    <a:srgbClr val="000000">
                      <a:alpha val="43137"/>
                    </a:srgbClr>
                  </a:outerShdw>
                </a:effectLst>
              </a:rPr>
              <a:t>o</a:t>
            </a:r>
            <a:r>
              <a:rPr lang="en-US" altLang="zh-CN" sz="2800" b="1" dirty="0" smtClean="0">
                <a:solidFill>
                  <a:srgbClr val="002060"/>
                </a:solidFill>
                <a:effectLst>
                  <a:outerShdw blurRad="38100" dist="38100" dir="2700000" algn="tl">
                    <a:srgbClr val="000000">
                      <a:alpha val="43137"/>
                    </a:srgbClr>
                  </a:outerShdw>
                </a:effectLst>
              </a:rPr>
              <a:t>C</a:t>
            </a:r>
          </a:p>
          <a:p>
            <a:r>
              <a:rPr lang="en-US" altLang="zh-CN" sz="2800" b="1" dirty="0" smtClean="0">
                <a:solidFill>
                  <a:srgbClr val="002060"/>
                </a:solidFill>
                <a:effectLst>
                  <a:outerShdw blurRad="38100" dist="38100" dir="2700000" algn="tl">
                    <a:srgbClr val="000000">
                      <a:alpha val="43137"/>
                    </a:srgbClr>
                  </a:outerShdw>
                </a:effectLst>
              </a:rPr>
              <a:t>HF </a:t>
            </a:r>
            <a:r>
              <a:rPr lang="zh-CN" altLang="en-US" sz="2800" b="1" dirty="0" smtClean="0">
                <a:solidFill>
                  <a:srgbClr val="002060"/>
                </a:solidFill>
                <a:effectLst>
                  <a:outerShdw blurRad="38100" dist="38100" dir="2700000" algn="tl">
                    <a:srgbClr val="000000">
                      <a:alpha val="43137"/>
                    </a:srgbClr>
                  </a:outerShdw>
                </a:effectLst>
              </a:rPr>
              <a:t>沸点 </a:t>
            </a:r>
            <a:r>
              <a:rPr lang="en-US" altLang="zh-CN" sz="2800" b="1" dirty="0" smtClean="0">
                <a:solidFill>
                  <a:srgbClr val="002060"/>
                </a:solidFill>
                <a:effectLst>
                  <a:outerShdw blurRad="38100" dist="38100" dir="2700000" algn="tl">
                    <a:srgbClr val="000000">
                      <a:alpha val="43137"/>
                    </a:srgbClr>
                  </a:outerShdw>
                </a:effectLst>
              </a:rPr>
              <a:t>20</a:t>
            </a:r>
            <a:r>
              <a:rPr lang="en-US" altLang="zh-CN" sz="2800" b="1" baseline="30000" dirty="0" smtClean="0">
                <a:solidFill>
                  <a:srgbClr val="002060"/>
                </a:solidFill>
                <a:effectLst>
                  <a:outerShdw blurRad="38100" dist="38100" dir="2700000" algn="tl">
                    <a:srgbClr val="000000">
                      <a:alpha val="43137"/>
                    </a:srgbClr>
                  </a:outerShdw>
                </a:effectLst>
              </a:rPr>
              <a:t>o</a:t>
            </a:r>
            <a:r>
              <a:rPr lang="en-US" altLang="zh-CN" sz="2800" b="1" dirty="0" smtClean="0">
                <a:solidFill>
                  <a:srgbClr val="002060"/>
                </a:solidFill>
                <a:effectLst>
                  <a:outerShdw blurRad="38100" dist="38100" dir="2700000" algn="tl">
                    <a:srgbClr val="000000">
                      <a:alpha val="43137"/>
                    </a:srgbClr>
                  </a:outerShdw>
                </a:effectLst>
              </a:rPr>
              <a:t>C</a:t>
            </a:r>
            <a:endParaRPr lang="en-US" sz="2800" b="1" dirty="0">
              <a:solidFill>
                <a:srgbClr val="00206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0140"/>
            <a:ext cx="8229600" cy="1143000"/>
          </a:xfrm>
        </p:spPr>
        <p:txBody>
          <a:bodyPr>
            <a:normAutofit/>
          </a:bodyPr>
          <a:lstStyle/>
          <a:p>
            <a:r>
              <a:rPr lang="en-US" sz="5400" b="1" dirty="0" smtClean="0">
                <a:solidFill>
                  <a:schemeClr val="bg1"/>
                </a:solidFill>
              </a:rPr>
              <a:t>7.</a:t>
            </a:r>
            <a:r>
              <a:rPr lang="en-US" altLang="zh-CN" sz="5400" b="1" dirty="0" smtClean="0">
                <a:solidFill>
                  <a:schemeClr val="bg1"/>
                </a:solidFill>
              </a:rPr>
              <a:t>2.2</a:t>
            </a:r>
            <a:r>
              <a:rPr lang="zh-CN" altLang="en-US" sz="5400" b="1" dirty="0" smtClean="0">
                <a:solidFill>
                  <a:schemeClr val="bg1"/>
                </a:solidFill>
              </a:rPr>
              <a:t>氢键</a:t>
            </a:r>
            <a:endParaRPr lang="en-MY" sz="5400" b="1" dirty="0">
              <a:solidFill>
                <a:schemeClr val="bg1"/>
              </a:solidFill>
            </a:endParaRPr>
          </a:p>
        </p:txBody>
      </p:sp>
      <p:sp>
        <p:nvSpPr>
          <p:cNvPr id="3" name="Content Placeholder 2"/>
          <p:cNvSpPr>
            <a:spLocks noGrp="1"/>
          </p:cNvSpPr>
          <p:nvPr>
            <p:ph idx="1"/>
          </p:nvPr>
        </p:nvSpPr>
        <p:spPr>
          <a:xfrm>
            <a:off x="251520" y="4968280"/>
            <a:ext cx="8712968" cy="1584920"/>
          </a:xfrm>
        </p:spPr>
        <p:txBody>
          <a:bodyPr>
            <a:noAutofit/>
          </a:bodyPr>
          <a:lstStyle/>
          <a:p>
            <a:pPr marL="0" indent="0">
              <a:buNone/>
            </a:pPr>
            <a:r>
              <a:rPr lang="zh-CN" altLang="en-US" b="1" dirty="0" smtClean="0"/>
              <a:t>键能比值</a:t>
            </a:r>
            <a:endParaRPr lang="en-US" altLang="zh-CN" b="1" dirty="0" smtClean="0"/>
          </a:p>
          <a:p>
            <a:pPr marL="0" indent="0" algn="ctr">
              <a:buNone/>
            </a:pPr>
            <a:r>
              <a:rPr lang="zh-CN" altLang="en-US" b="1" dirty="0"/>
              <a:t>共价</a:t>
            </a:r>
            <a:r>
              <a:rPr lang="zh-CN" altLang="en-US" b="1" dirty="0" smtClean="0"/>
              <a:t>键：氢键：范德华力</a:t>
            </a:r>
            <a:r>
              <a:rPr lang="en-US" altLang="zh-CN" b="1" dirty="0" smtClean="0"/>
              <a:t>=100</a:t>
            </a:r>
            <a:r>
              <a:rPr lang="zh-CN" altLang="en-US" b="1" dirty="0" smtClean="0"/>
              <a:t>：</a:t>
            </a:r>
            <a:r>
              <a:rPr lang="en-US" altLang="zh-CN" b="1" dirty="0" smtClean="0"/>
              <a:t>10</a:t>
            </a:r>
            <a:r>
              <a:rPr lang="zh-CN" altLang="en-US" b="1" dirty="0" smtClean="0"/>
              <a:t>：</a:t>
            </a:r>
            <a:r>
              <a:rPr lang="en-US" altLang="zh-CN" b="1" dirty="0" smtClean="0"/>
              <a:t>1</a:t>
            </a:r>
            <a:endParaRPr lang="en-MY" b="1" dirty="0"/>
          </a:p>
        </p:txBody>
      </p:sp>
      <p:pic>
        <p:nvPicPr>
          <p:cNvPr id="4" name="Picture 3"/>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895600" y="2590800"/>
            <a:ext cx="2895600" cy="2585357"/>
          </a:xfrm>
          <a:prstGeom prst="rect">
            <a:avLst/>
          </a:prstGeom>
        </p:spPr>
      </p:pic>
      <p:sp>
        <p:nvSpPr>
          <p:cNvPr id="6" name="TextBox 5"/>
          <p:cNvSpPr txBox="1"/>
          <p:nvPr/>
        </p:nvSpPr>
        <p:spPr>
          <a:xfrm>
            <a:off x="3124200" y="1182469"/>
            <a:ext cx="6070188" cy="646331"/>
          </a:xfrm>
          <a:prstGeom prst="rect">
            <a:avLst/>
          </a:prstGeom>
          <a:noFill/>
        </p:spPr>
        <p:txBody>
          <a:bodyPr wrap="none" rtlCol="0">
            <a:spAutoFit/>
          </a:bodyPr>
          <a:lstStyle/>
          <a:p>
            <a:r>
              <a:rPr lang="zh-CN" altLang="en-US" sz="3600" b="1" dirty="0" smtClean="0"/>
              <a:t>电负性大，原子半径小</a:t>
            </a:r>
            <a:r>
              <a:rPr lang="en-US" altLang="zh-CN" sz="3600" b="1" dirty="0" smtClean="0"/>
              <a:t>(F,O,N)</a:t>
            </a:r>
            <a:endParaRPr lang="en-US" sz="3600" b="1" dirty="0"/>
          </a:p>
        </p:txBody>
      </p:sp>
      <p:sp>
        <p:nvSpPr>
          <p:cNvPr id="7" name="TextBox 6"/>
          <p:cNvSpPr txBox="1"/>
          <p:nvPr/>
        </p:nvSpPr>
        <p:spPr>
          <a:xfrm>
            <a:off x="772733" y="1905000"/>
            <a:ext cx="2961067" cy="646331"/>
          </a:xfrm>
          <a:prstGeom prst="rect">
            <a:avLst/>
          </a:prstGeom>
          <a:noFill/>
        </p:spPr>
        <p:txBody>
          <a:bodyPr wrap="none" rtlCol="0">
            <a:spAutoFit/>
          </a:bodyPr>
          <a:lstStyle/>
          <a:p>
            <a:r>
              <a:rPr lang="zh-CN" altLang="en-US" sz="3600" b="1" dirty="0" smtClean="0"/>
              <a:t>几乎“裸露”</a:t>
            </a:r>
            <a:endParaRPr lang="en-US" sz="3600" b="1" dirty="0"/>
          </a:p>
        </p:txBody>
      </p:sp>
      <p:sp>
        <p:nvSpPr>
          <p:cNvPr id="8" name="TextBox 7"/>
          <p:cNvSpPr txBox="1"/>
          <p:nvPr/>
        </p:nvSpPr>
        <p:spPr>
          <a:xfrm>
            <a:off x="6117610" y="3697069"/>
            <a:ext cx="2492990" cy="1200329"/>
          </a:xfrm>
          <a:prstGeom prst="rect">
            <a:avLst/>
          </a:prstGeom>
          <a:noFill/>
        </p:spPr>
        <p:txBody>
          <a:bodyPr wrap="none" rtlCol="0">
            <a:spAutoFit/>
          </a:bodyPr>
          <a:lstStyle/>
          <a:p>
            <a:r>
              <a:rPr lang="zh-CN" altLang="en-US" sz="3600" b="1" dirty="0" smtClean="0"/>
              <a:t>含孤对电子</a:t>
            </a:r>
            <a:endParaRPr lang="en-US" altLang="zh-CN" sz="3600" b="1" dirty="0" smtClean="0"/>
          </a:p>
          <a:p>
            <a:r>
              <a:rPr lang="en-US" sz="3600" b="1" dirty="0" smtClean="0"/>
              <a:t>(F,O,N)</a:t>
            </a:r>
            <a:endParaRPr lang="en-US" sz="3600" b="1" dirty="0"/>
          </a:p>
        </p:txBody>
      </p:sp>
      <p:sp>
        <p:nvSpPr>
          <p:cNvPr id="9" name="TextBox 8"/>
          <p:cNvSpPr txBox="1"/>
          <p:nvPr/>
        </p:nvSpPr>
        <p:spPr>
          <a:xfrm>
            <a:off x="6359604" y="2743200"/>
            <a:ext cx="1107996" cy="646331"/>
          </a:xfrm>
          <a:prstGeom prst="rect">
            <a:avLst/>
          </a:prstGeom>
          <a:noFill/>
        </p:spPr>
        <p:txBody>
          <a:bodyPr wrap="none" rtlCol="0">
            <a:spAutoFit/>
          </a:bodyPr>
          <a:lstStyle/>
          <a:p>
            <a:r>
              <a:rPr lang="zh-CN" altLang="en-US" sz="3600" dirty="0" smtClean="0"/>
              <a:t>氢键</a:t>
            </a:r>
            <a:endParaRPr lang="en-US" sz="3600" dirty="0"/>
          </a:p>
        </p:txBody>
      </p:sp>
      <p:cxnSp>
        <p:nvCxnSpPr>
          <p:cNvPr id="23" name="Straight Arrow Connector 22"/>
          <p:cNvCxnSpPr/>
          <p:nvPr/>
        </p:nvCxnSpPr>
        <p:spPr>
          <a:xfrm flipV="1">
            <a:off x="4724400" y="3200400"/>
            <a:ext cx="1600200" cy="1524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8" idx="1"/>
          </p:cNvCxnSpPr>
          <p:nvPr/>
        </p:nvCxnSpPr>
        <p:spPr>
          <a:xfrm>
            <a:off x="4419600" y="3675965"/>
            <a:ext cx="1698010" cy="621269"/>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flipH="1" flipV="1">
            <a:off x="4914900" y="2095500"/>
            <a:ext cx="762000" cy="2286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10800000">
            <a:off x="3429000" y="2438400"/>
            <a:ext cx="1295400" cy="5334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79730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500" fill="hold"/>
                                        <p:tgtEl>
                                          <p:spTgt spid="31"/>
                                        </p:tgtEl>
                                        <p:attrNameLst>
                                          <p:attrName>ppt_x</p:attrName>
                                        </p:attrNameLst>
                                      </p:cBhvr>
                                      <p:tavLst>
                                        <p:tav tm="0">
                                          <p:val>
                                            <p:strVal val="#ppt_x"/>
                                          </p:val>
                                        </p:tav>
                                        <p:tav tm="100000">
                                          <p:val>
                                            <p:strVal val="#ppt_x"/>
                                          </p:val>
                                        </p:tav>
                                      </p:tavLst>
                                    </p:anim>
                                    <p:anim calcmode="lin" valueType="num">
                                      <p:cBhvr additive="base">
                                        <p:cTn id="18" dur="500" fill="hold"/>
                                        <p:tgtEl>
                                          <p:spTgt spid="3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anim calcmode="lin" valueType="num">
                                      <p:cBhvr additive="base">
                                        <p:cTn id="4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1" end="1"/>
                                            </p:txEl>
                                          </p:spTgt>
                                        </p:tgtEl>
                                        <p:attrNameLst>
                                          <p:attrName>style.visibility</p:attrName>
                                        </p:attrNameLst>
                                      </p:cBhvr>
                                      <p:to>
                                        <p:strVal val="visible"/>
                                      </p:to>
                                    </p:set>
                                    <p:anim calcmode="lin" valueType="num">
                                      <p:cBhvr additive="base">
                                        <p:cTn id="5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906963"/>
          </a:xfrm>
        </p:spPr>
        <p:txBody>
          <a:bodyPr>
            <a:normAutofit fontScale="92500" lnSpcReduction="10000"/>
          </a:bodyPr>
          <a:lstStyle/>
          <a:p>
            <a:pPr>
              <a:lnSpc>
                <a:spcPct val="150000"/>
              </a:lnSpc>
              <a:buFont typeface="Wingdings" pitchFamily="2" charset="2"/>
              <a:buChar char="Ø"/>
            </a:pPr>
            <a:r>
              <a:rPr lang="zh-CN" altLang="en-US" sz="3600" dirty="0" smtClean="0"/>
              <a:t>氢键是一种较强的分子间作用力</a:t>
            </a:r>
            <a:endParaRPr lang="en-US" altLang="zh-CN" sz="3600" dirty="0" smtClean="0"/>
          </a:p>
          <a:p>
            <a:pPr>
              <a:lnSpc>
                <a:spcPct val="150000"/>
              </a:lnSpc>
              <a:buFont typeface="Wingdings" pitchFamily="2" charset="2"/>
              <a:buChar char="Ø"/>
            </a:pPr>
            <a:r>
              <a:rPr lang="zh-CN" altLang="en-US" sz="3600" dirty="0" smtClean="0"/>
              <a:t>氢键会影响物质的：</a:t>
            </a:r>
            <a:endParaRPr lang="en-US" altLang="zh-CN" sz="3600" dirty="0" smtClean="0"/>
          </a:p>
          <a:p>
            <a:pPr lvl="1">
              <a:lnSpc>
                <a:spcPct val="150000"/>
              </a:lnSpc>
              <a:buFont typeface="Wingdings" pitchFamily="2" charset="2"/>
              <a:buChar char="Ø"/>
            </a:pPr>
            <a:r>
              <a:rPr lang="zh-CN" altLang="en-US" sz="3600" dirty="0" smtClean="0"/>
              <a:t>熔点、沸点</a:t>
            </a:r>
            <a:endParaRPr lang="en-US" altLang="zh-CN" sz="3600" dirty="0" smtClean="0"/>
          </a:p>
          <a:p>
            <a:pPr lvl="1">
              <a:lnSpc>
                <a:spcPct val="150000"/>
              </a:lnSpc>
              <a:buFont typeface="Wingdings" pitchFamily="2" charset="2"/>
              <a:buChar char="Ø"/>
            </a:pPr>
            <a:r>
              <a:rPr lang="zh-CN" altLang="en-US" sz="3600" dirty="0" smtClean="0"/>
              <a:t>溶解性</a:t>
            </a:r>
            <a:endParaRPr lang="en-US" altLang="zh-CN" sz="3600" dirty="0" smtClean="0"/>
          </a:p>
          <a:p>
            <a:pPr>
              <a:lnSpc>
                <a:spcPct val="150000"/>
              </a:lnSpc>
              <a:buFont typeface="Wingdings" pitchFamily="2" charset="2"/>
              <a:buChar char="Ø"/>
            </a:pPr>
            <a:r>
              <a:rPr lang="zh-CN" altLang="en-US" sz="3600" dirty="0" smtClean="0"/>
              <a:t>氨气为什么比其他气体易液化？</a:t>
            </a:r>
            <a:endParaRPr lang="en-US" altLang="zh-CN" sz="3600" dirty="0" smtClean="0"/>
          </a:p>
          <a:p>
            <a:pPr>
              <a:lnSpc>
                <a:spcPct val="150000"/>
              </a:lnSpc>
              <a:buFont typeface="Wingdings" pitchFamily="2" charset="2"/>
              <a:buChar char="Ø"/>
            </a:pPr>
            <a:r>
              <a:rPr lang="zh-CN" altLang="en-US" sz="3600" dirty="0" smtClean="0"/>
              <a:t>氨气为什么极易溶于水？</a:t>
            </a:r>
            <a:endParaRPr lang="en-US" altLang="zh-CN" sz="3600" dirty="0" smtClean="0"/>
          </a:p>
          <a:p>
            <a:pPr>
              <a:lnSpc>
                <a:spcPct val="150000"/>
              </a:lnSpc>
              <a:buFont typeface="Wingdings" pitchFamily="2" charset="2"/>
              <a:buChar char="Ø"/>
            </a:pPr>
            <a:endParaRPr lang="en-US" sz="3600" dirty="0"/>
          </a:p>
        </p:txBody>
      </p:sp>
      <p:sp>
        <p:nvSpPr>
          <p:cNvPr id="4" name="Title 1"/>
          <p:cNvSpPr>
            <a:spLocks noGrp="1"/>
          </p:cNvSpPr>
          <p:nvPr>
            <p:ph type="title"/>
          </p:nvPr>
        </p:nvSpPr>
        <p:spPr>
          <a:xfrm>
            <a:off x="395536" y="20140"/>
            <a:ext cx="8229600" cy="1143000"/>
          </a:xfrm>
        </p:spPr>
        <p:txBody>
          <a:bodyPr>
            <a:normAutofit/>
          </a:bodyPr>
          <a:lstStyle/>
          <a:p>
            <a:r>
              <a:rPr lang="en-US" sz="5400" b="1" dirty="0" smtClean="0">
                <a:solidFill>
                  <a:schemeClr val="bg1"/>
                </a:solidFill>
              </a:rPr>
              <a:t>7.</a:t>
            </a:r>
            <a:r>
              <a:rPr lang="en-US" altLang="zh-CN" sz="5400" b="1" dirty="0" smtClean="0">
                <a:solidFill>
                  <a:schemeClr val="bg1"/>
                </a:solidFill>
              </a:rPr>
              <a:t>2.2</a:t>
            </a:r>
            <a:r>
              <a:rPr lang="zh-CN" altLang="en-US" sz="5400" b="1" dirty="0" smtClean="0">
                <a:solidFill>
                  <a:schemeClr val="bg1"/>
                </a:solidFill>
              </a:rPr>
              <a:t>氢键</a:t>
            </a:r>
            <a:endParaRPr lang="en-MY" sz="54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思考题</a:t>
            </a:r>
            <a:r>
              <a:rPr lang="en-US" altLang="zh-CN" sz="4800" dirty="0" smtClean="0">
                <a:solidFill>
                  <a:schemeClr val="bg1"/>
                </a:solidFill>
              </a:rPr>
              <a:t>7d</a:t>
            </a:r>
            <a:endParaRPr lang="en-US" sz="4800" dirty="0">
              <a:solidFill>
                <a:schemeClr val="bg1"/>
              </a:solidFill>
            </a:endParaRPr>
          </a:p>
        </p:txBody>
      </p:sp>
      <p:sp>
        <p:nvSpPr>
          <p:cNvPr id="3" name="Content Placeholder 2"/>
          <p:cNvSpPr>
            <a:spLocks noGrp="1"/>
          </p:cNvSpPr>
          <p:nvPr>
            <p:ph idx="1"/>
          </p:nvPr>
        </p:nvSpPr>
        <p:spPr>
          <a:xfrm>
            <a:off x="457200" y="1325562"/>
            <a:ext cx="8229600" cy="4525963"/>
          </a:xfrm>
        </p:spPr>
        <p:txBody>
          <a:bodyPr/>
          <a:lstStyle/>
          <a:p>
            <a:pPr marL="514350" indent="-514350">
              <a:buAutoNum type="arabicPeriod"/>
            </a:pPr>
            <a:r>
              <a:rPr lang="en-US" altLang="zh-CN" dirty="0" smtClean="0"/>
              <a:t>A </a:t>
            </a:r>
            <a:r>
              <a:rPr lang="zh-CN" altLang="en-US" dirty="0" smtClean="0"/>
              <a:t>氢键也会影响物质的熔点沸点</a:t>
            </a:r>
            <a:endParaRPr lang="en-US" altLang="zh-CN" dirty="0" smtClean="0"/>
          </a:p>
          <a:p>
            <a:pPr marL="514350" indent="-514350">
              <a:buNone/>
            </a:pPr>
            <a:r>
              <a:rPr lang="en-US" altLang="zh-CN" dirty="0" smtClean="0"/>
              <a:t>	B</a:t>
            </a:r>
            <a:r>
              <a:rPr lang="zh-CN" altLang="en-US" dirty="0" smtClean="0"/>
              <a:t>熔点沸点属于物质的物理性质</a:t>
            </a:r>
            <a:endParaRPr lang="en-US" altLang="zh-CN" dirty="0" smtClean="0"/>
          </a:p>
          <a:p>
            <a:pPr marL="514350" indent="-514350">
              <a:buNone/>
            </a:pPr>
            <a:r>
              <a:rPr lang="en-US" altLang="zh-CN" dirty="0" smtClean="0"/>
              <a:t>	C</a:t>
            </a:r>
            <a:r>
              <a:rPr lang="zh-CN" altLang="en-US" dirty="0" smtClean="0"/>
              <a:t>范德华力</a:t>
            </a:r>
            <a:r>
              <a:rPr lang="zh-CN" altLang="en-US" b="1" dirty="0" smtClean="0">
                <a:solidFill>
                  <a:srgbClr val="002060"/>
                </a:solidFill>
                <a:effectLst>
                  <a:outerShdw blurRad="38100" dist="38100" dir="2700000" algn="tl">
                    <a:srgbClr val="000000">
                      <a:alpha val="43137"/>
                    </a:srgbClr>
                  </a:outerShdw>
                </a:effectLst>
              </a:rPr>
              <a:t>不</a:t>
            </a:r>
            <a:r>
              <a:rPr lang="zh-CN" altLang="en-US" dirty="0" smtClean="0"/>
              <a:t>影响物质的化学性质</a:t>
            </a:r>
            <a:endParaRPr lang="en-US" altLang="zh-CN" dirty="0" smtClean="0"/>
          </a:p>
          <a:p>
            <a:pPr marL="514350" indent="-514350">
              <a:buNone/>
            </a:pPr>
            <a:r>
              <a:rPr lang="en-US" altLang="zh-CN" dirty="0" smtClean="0"/>
              <a:t>	</a:t>
            </a:r>
            <a:r>
              <a:rPr lang="en-US" altLang="zh-CN" dirty="0" err="1" smtClean="0"/>
              <a:t>Ans</a:t>
            </a:r>
            <a:r>
              <a:rPr lang="zh-CN" altLang="en-US" dirty="0" smtClean="0"/>
              <a:t>：</a:t>
            </a:r>
            <a:r>
              <a:rPr lang="en-US" altLang="zh-CN" dirty="0" smtClean="0"/>
              <a:t>D</a:t>
            </a:r>
          </a:p>
          <a:p>
            <a:pPr marL="514350" indent="-514350">
              <a:buNone/>
            </a:pPr>
            <a:r>
              <a:rPr lang="en-US" altLang="zh-CN" dirty="0" smtClean="0"/>
              <a:t>2. 	A </a:t>
            </a:r>
            <a:r>
              <a:rPr lang="zh-CN" altLang="en-US" dirty="0" smtClean="0"/>
              <a:t>化学键的强弱影响物质的稳定性。</a:t>
            </a:r>
            <a:endParaRPr lang="en-US" altLang="zh-CN" dirty="0" smtClean="0"/>
          </a:p>
          <a:p>
            <a:pPr marL="514350" indent="-514350">
              <a:buNone/>
            </a:pPr>
            <a:r>
              <a:rPr lang="en-US" altLang="zh-CN" dirty="0" smtClean="0"/>
              <a:t>	B </a:t>
            </a:r>
            <a:r>
              <a:rPr lang="zh-CN" altLang="en-US" dirty="0" smtClean="0"/>
              <a:t>水分子</a:t>
            </a:r>
            <a:r>
              <a:rPr lang="zh-CN" altLang="en-US" b="1" dirty="0" smtClean="0">
                <a:solidFill>
                  <a:srgbClr val="002060"/>
                </a:solidFill>
                <a:effectLst>
                  <a:outerShdw blurRad="38100" dist="38100" dir="2700000" algn="tl">
                    <a:srgbClr val="000000">
                      <a:alpha val="43137"/>
                    </a:srgbClr>
                  </a:outerShdw>
                </a:effectLst>
              </a:rPr>
              <a:t>间</a:t>
            </a:r>
            <a:r>
              <a:rPr lang="zh-CN" altLang="en-US" dirty="0" smtClean="0"/>
              <a:t>能产生氢键</a:t>
            </a:r>
            <a:endParaRPr lang="en-US" altLang="zh-CN" dirty="0" smtClean="0"/>
          </a:p>
          <a:p>
            <a:pPr marL="514350" indent="-514350">
              <a:buNone/>
            </a:pPr>
            <a:r>
              <a:rPr lang="en-US" altLang="zh-CN" dirty="0" smtClean="0"/>
              <a:t>	</a:t>
            </a:r>
            <a:r>
              <a:rPr lang="en-US" altLang="zh-CN" dirty="0" err="1" smtClean="0"/>
              <a:t>Ans</a:t>
            </a:r>
            <a:r>
              <a:rPr lang="zh-CN" altLang="en-US" dirty="0" smtClean="0"/>
              <a:t>：</a:t>
            </a:r>
            <a:r>
              <a:rPr lang="en-US" altLang="zh-CN" dirty="0" smtClean="0"/>
              <a:t>C</a:t>
            </a:r>
          </a:p>
          <a:p>
            <a:pPr marL="514350" indent="-514350">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补充题</a:t>
            </a:r>
            <a:endParaRPr lang="en-US" sz="4800" dirty="0">
              <a:solidFill>
                <a:schemeClr val="bg1"/>
              </a:solidFill>
            </a:endParaRPr>
          </a:p>
        </p:txBody>
      </p:sp>
      <p:sp>
        <p:nvSpPr>
          <p:cNvPr id="3" name="Content Placeholder 2"/>
          <p:cNvSpPr>
            <a:spLocks noGrp="1"/>
          </p:cNvSpPr>
          <p:nvPr>
            <p:ph idx="1"/>
          </p:nvPr>
        </p:nvSpPr>
        <p:spPr>
          <a:xfrm>
            <a:off x="228600" y="838200"/>
            <a:ext cx="8610600" cy="5943600"/>
          </a:xfrm>
        </p:spPr>
        <p:txBody>
          <a:bodyPr>
            <a:normAutofit fontScale="92500" lnSpcReduction="20000"/>
          </a:bodyPr>
          <a:lstStyle/>
          <a:p>
            <a:pPr marL="514350" indent="-514350">
              <a:lnSpc>
                <a:spcPct val="150000"/>
              </a:lnSpc>
              <a:buAutoNum type="arabicPeriod"/>
            </a:pPr>
            <a:r>
              <a:rPr lang="zh-CN" altLang="en-US" dirty="0" smtClean="0"/>
              <a:t>将</a:t>
            </a:r>
            <a:r>
              <a:rPr lang="en-US" altLang="zh-CN" dirty="0" smtClean="0"/>
              <a:t>HF</a:t>
            </a:r>
            <a:r>
              <a:rPr lang="zh-CN" altLang="en-US" dirty="0" smtClean="0"/>
              <a:t>、</a:t>
            </a:r>
            <a:r>
              <a:rPr lang="en-US" altLang="zh-CN" dirty="0" err="1" smtClean="0"/>
              <a:t>HCl</a:t>
            </a:r>
            <a:r>
              <a:rPr lang="zh-CN" altLang="en-US" dirty="0" smtClean="0"/>
              <a:t>、</a:t>
            </a:r>
            <a:r>
              <a:rPr lang="en-US" altLang="zh-CN" dirty="0" err="1" smtClean="0"/>
              <a:t>HBr</a:t>
            </a:r>
            <a:r>
              <a:rPr lang="zh-CN" altLang="en-US" dirty="0" smtClean="0"/>
              <a:t>、</a:t>
            </a:r>
            <a:r>
              <a:rPr lang="en-US" altLang="zh-CN" dirty="0" smtClean="0"/>
              <a:t>HI</a:t>
            </a:r>
            <a:r>
              <a:rPr lang="zh-CN" altLang="en-US" dirty="0" smtClean="0"/>
              <a:t>按稳定性强至弱排列。</a:t>
            </a:r>
            <a:endParaRPr lang="en-US" altLang="zh-CN" dirty="0" smtClean="0"/>
          </a:p>
          <a:p>
            <a:pPr marL="514350" indent="-514350">
              <a:lnSpc>
                <a:spcPct val="150000"/>
              </a:lnSpc>
              <a:buNone/>
            </a:pPr>
            <a:r>
              <a:rPr lang="en-US" altLang="zh-CN" dirty="0" smtClean="0"/>
              <a:t>	</a:t>
            </a:r>
            <a:r>
              <a:rPr lang="zh-CN" altLang="en-US" dirty="0" smtClean="0"/>
              <a:t>稳定性：</a:t>
            </a:r>
            <a:r>
              <a:rPr lang="en-US" altLang="zh-CN" dirty="0" smtClean="0"/>
              <a:t>HF&gt; </a:t>
            </a:r>
            <a:r>
              <a:rPr lang="en-US" altLang="zh-CN" dirty="0" err="1" smtClean="0"/>
              <a:t>HCl</a:t>
            </a:r>
            <a:r>
              <a:rPr lang="en-US" altLang="zh-CN" dirty="0" smtClean="0"/>
              <a:t> &gt; </a:t>
            </a:r>
            <a:r>
              <a:rPr lang="en-US" altLang="zh-CN" dirty="0" err="1" smtClean="0"/>
              <a:t>HBr</a:t>
            </a:r>
            <a:r>
              <a:rPr lang="en-US" altLang="zh-CN" dirty="0" smtClean="0"/>
              <a:t> &gt; HI</a:t>
            </a:r>
          </a:p>
          <a:p>
            <a:pPr marL="514350" indent="-514350">
              <a:lnSpc>
                <a:spcPct val="150000"/>
              </a:lnSpc>
              <a:buNone/>
            </a:pPr>
            <a:r>
              <a:rPr lang="en-US" altLang="zh-CN" dirty="0" smtClean="0"/>
              <a:t>	</a:t>
            </a:r>
            <a:r>
              <a:rPr lang="zh-CN" altLang="en-US" dirty="0" smtClean="0"/>
              <a:t>原因：键的极性越强，键能越强，化学键越牢固，该物质越稳定。</a:t>
            </a:r>
            <a:endParaRPr lang="en-US" altLang="zh-CN" dirty="0" smtClean="0"/>
          </a:p>
          <a:p>
            <a:pPr marL="514350" indent="-514350">
              <a:lnSpc>
                <a:spcPct val="150000"/>
              </a:lnSpc>
              <a:buNone/>
            </a:pPr>
            <a:r>
              <a:rPr lang="en-US" altLang="zh-CN" dirty="0" smtClean="0"/>
              <a:t>2. 	</a:t>
            </a:r>
            <a:r>
              <a:rPr lang="zh-CN" altLang="en-US" dirty="0" smtClean="0"/>
              <a:t>将</a:t>
            </a:r>
            <a:r>
              <a:rPr lang="en-US" altLang="zh-CN" dirty="0" smtClean="0"/>
              <a:t>HF</a:t>
            </a:r>
            <a:r>
              <a:rPr lang="zh-CN" altLang="en-US" dirty="0" smtClean="0"/>
              <a:t>、</a:t>
            </a:r>
            <a:r>
              <a:rPr lang="en-US" altLang="zh-CN" dirty="0" err="1" smtClean="0"/>
              <a:t>HCl</a:t>
            </a:r>
            <a:r>
              <a:rPr lang="zh-CN" altLang="en-US" dirty="0" smtClean="0"/>
              <a:t>、</a:t>
            </a:r>
            <a:r>
              <a:rPr lang="en-US" altLang="zh-CN" dirty="0" err="1" smtClean="0"/>
              <a:t>HBr</a:t>
            </a:r>
            <a:r>
              <a:rPr lang="zh-CN" altLang="en-US" dirty="0" smtClean="0"/>
              <a:t>、</a:t>
            </a:r>
            <a:r>
              <a:rPr lang="en-US" altLang="zh-CN" dirty="0" smtClean="0"/>
              <a:t>HI</a:t>
            </a:r>
            <a:r>
              <a:rPr lang="zh-CN" altLang="en-US" dirty="0" smtClean="0"/>
              <a:t>按沸点高至低排列。</a:t>
            </a:r>
            <a:endParaRPr lang="en-US" altLang="zh-CN" dirty="0" smtClean="0"/>
          </a:p>
          <a:p>
            <a:pPr marL="514350" indent="-514350">
              <a:lnSpc>
                <a:spcPct val="150000"/>
              </a:lnSpc>
              <a:buNone/>
            </a:pPr>
            <a:r>
              <a:rPr lang="en-US" altLang="zh-CN" dirty="0" smtClean="0"/>
              <a:t>	</a:t>
            </a:r>
            <a:r>
              <a:rPr lang="zh-CN" altLang="en-US" dirty="0" smtClean="0"/>
              <a:t>沸点： </a:t>
            </a:r>
            <a:r>
              <a:rPr lang="en-US" altLang="zh-CN" dirty="0" smtClean="0"/>
              <a:t>HF&gt; HI &gt;</a:t>
            </a:r>
            <a:r>
              <a:rPr lang="en-US" altLang="zh-CN" dirty="0" err="1" smtClean="0"/>
              <a:t>HBr</a:t>
            </a:r>
            <a:r>
              <a:rPr lang="en-US" altLang="zh-CN" dirty="0" smtClean="0"/>
              <a:t> &gt; </a:t>
            </a:r>
            <a:r>
              <a:rPr lang="en-US" altLang="zh-CN" dirty="0" err="1" smtClean="0"/>
              <a:t>HCl</a:t>
            </a:r>
            <a:endParaRPr lang="en-US" altLang="zh-CN" dirty="0" smtClean="0"/>
          </a:p>
          <a:p>
            <a:pPr marL="514350" indent="-514350">
              <a:lnSpc>
                <a:spcPct val="150000"/>
              </a:lnSpc>
              <a:buNone/>
            </a:pPr>
            <a:r>
              <a:rPr lang="en-US" altLang="zh-CN" dirty="0" smtClean="0"/>
              <a:t>	</a:t>
            </a:r>
            <a:r>
              <a:rPr lang="zh-CN" altLang="en-US" dirty="0" smtClean="0"/>
              <a:t>原因：</a:t>
            </a:r>
            <a:r>
              <a:rPr lang="en-US" altLang="zh-CN" dirty="0" smtClean="0"/>
              <a:t>HF</a:t>
            </a:r>
            <a:r>
              <a:rPr lang="zh-CN" altLang="en-US" dirty="0" smtClean="0"/>
              <a:t>分子间有氢键因此其沸点较高。剩余卤化氢中式量较大的</a:t>
            </a:r>
            <a:r>
              <a:rPr lang="en-US" altLang="zh-CN" dirty="0" smtClean="0"/>
              <a:t>HI</a:t>
            </a:r>
            <a:r>
              <a:rPr lang="zh-CN" altLang="en-US" dirty="0" smtClean="0"/>
              <a:t>，分子间的范德华力较强，沸点较高。其次是</a:t>
            </a:r>
            <a:r>
              <a:rPr lang="en-US" altLang="zh-CN" dirty="0" err="1" smtClean="0"/>
              <a:t>HBr</a:t>
            </a:r>
            <a:r>
              <a:rPr lang="zh-CN" altLang="en-US" dirty="0" smtClean="0"/>
              <a:t>，沸点最低的是</a:t>
            </a:r>
            <a:r>
              <a:rPr lang="en-US" altLang="zh-CN" dirty="0" err="1" smtClean="0"/>
              <a:t>HCl</a:t>
            </a:r>
            <a:r>
              <a:rPr lang="zh-CN" altLang="en-US" dirty="0" smtClean="0"/>
              <a:t>。</a:t>
            </a:r>
            <a:endParaRPr lang="en-US" altLang="zh-CN" dirty="0" smtClean="0"/>
          </a:p>
          <a:p>
            <a:pPr marL="514350" indent="-514350">
              <a:lnSpc>
                <a:spcPct val="150000"/>
              </a:lnSpc>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5400" dirty="0" smtClean="0">
                <a:solidFill>
                  <a:schemeClr val="bg1"/>
                </a:solidFill>
              </a:rPr>
              <a:t>7.3 </a:t>
            </a:r>
            <a:r>
              <a:rPr lang="zh-CN" altLang="en-US" sz="5400" dirty="0" smtClean="0">
                <a:solidFill>
                  <a:schemeClr val="bg1"/>
                </a:solidFill>
              </a:rPr>
              <a:t>晶体及其特性</a:t>
            </a:r>
            <a:endParaRPr lang="en-US" sz="5400" dirty="0">
              <a:solidFill>
                <a:schemeClr val="bg1"/>
              </a:solidFill>
            </a:endParaRPr>
          </a:p>
        </p:txBody>
      </p:sp>
      <p:sp>
        <p:nvSpPr>
          <p:cNvPr id="3" name="Content Placeholder 2"/>
          <p:cNvSpPr>
            <a:spLocks noGrp="1"/>
          </p:cNvSpPr>
          <p:nvPr>
            <p:ph idx="1"/>
          </p:nvPr>
        </p:nvSpPr>
        <p:spPr>
          <a:xfrm>
            <a:off x="457200" y="1600200"/>
            <a:ext cx="8229600" cy="5202839"/>
          </a:xfrm>
        </p:spPr>
        <p:txBody>
          <a:bodyPr/>
          <a:lstStyle/>
          <a:p>
            <a:pPr>
              <a:lnSpc>
                <a:spcPct val="150000"/>
              </a:lnSpc>
              <a:buFont typeface="Wingdings" pitchFamily="2" charset="2"/>
              <a:buChar char="Ø"/>
            </a:pPr>
            <a:r>
              <a:rPr lang="zh-CN" altLang="en-US" sz="3600" dirty="0" smtClean="0"/>
              <a:t>固态物质可分为：</a:t>
            </a:r>
            <a:r>
              <a:rPr lang="zh-CN" altLang="en-US" sz="3600" b="1" dirty="0" smtClean="0">
                <a:solidFill>
                  <a:srgbClr val="002060"/>
                </a:solidFill>
                <a:effectLst>
                  <a:outerShdw blurRad="38100" dist="38100" dir="2700000" algn="tl">
                    <a:srgbClr val="000000">
                      <a:alpha val="43137"/>
                    </a:srgbClr>
                  </a:outerShdw>
                </a:effectLst>
              </a:rPr>
              <a:t>晶体</a:t>
            </a:r>
            <a:r>
              <a:rPr lang="zh-CN" altLang="en-US" sz="3600" dirty="0" smtClean="0"/>
              <a:t>、</a:t>
            </a:r>
            <a:r>
              <a:rPr lang="zh-CN" altLang="en-US" sz="3600" b="1" dirty="0" smtClean="0">
                <a:solidFill>
                  <a:srgbClr val="002060"/>
                </a:solidFill>
                <a:effectLst>
                  <a:outerShdw blurRad="38100" dist="38100" dir="2700000" algn="tl">
                    <a:srgbClr val="000000">
                      <a:alpha val="43137"/>
                    </a:srgbClr>
                  </a:outerShdw>
                </a:effectLst>
              </a:rPr>
              <a:t>非晶体</a:t>
            </a:r>
            <a:r>
              <a:rPr lang="zh-CN" altLang="en-US" sz="3600" dirty="0" smtClean="0"/>
              <a:t>。</a:t>
            </a:r>
            <a:endParaRPr lang="en-US" altLang="zh-CN" sz="3600" dirty="0" smtClean="0"/>
          </a:p>
          <a:p>
            <a:pPr>
              <a:lnSpc>
                <a:spcPct val="150000"/>
              </a:lnSpc>
              <a:buFont typeface="Wingdings" pitchFamily="2" charset="2"/>
              <a:buChar char="Ø"/>
            </a:pPr>
            <a:r>
              <a:rPr lang="zh-CN" altLang="en-US" sz="3600" dirty="0" smtClean="0"/>
              <a:t>构成晶体的微粒</a:t>
            </a:r>
            <a:r>
              <a:rPr lang="zh-CN" altLang="en-US" sz="3600" b="1" dirty="0" smtClean="0">
                <a:solidFill>
                  <a:srgbClr val="002060"/>
                </a:solidFill>
                <a:effectLst>
                  <a:outerShdw blurRad="38100" dist="38100" dir="2700000" algn="tl">
                    <a:srgbClr val="000000">
                      <a:alpha val="43137"/>
                    </a:srgbClr>
                  </a:outerShdw>
                </a:effectLst>
              </a:rPr>
              <a:t>有规律</a:t>
            </a:r>
            <a:r>
              <a:rPr lang="zh-CN" altLang="en-US" sz="3600" dirty="0" smtClean="0"/>
              <a:t>的重复排列。</a:t>
            </a:r>
            <a:endParaRPr lang="en-US" altLang="zh-CN" sz="3600" dirty="0" smtClean="0"/>
          </a:p>
          <a:p>
            <a:pPr>
              <a:lnSpc>
                <a:spcPct val="150000"/>
              </a:lnSpc>
              <a:buFont typeface="Wingdings" pitchFamily="2" charset="2"/>
              <a:buChar char="Ø"/>
            </a:pPr>
            <a:r>
              <a:rPr lang="zh-CN" altLang="en-US" sz="3600" dirty="0" smtClean="0"/>
              <a:t>构成晶体的微粒：原子、分子、离子。</a:t>
            </a:r>
            <a:endParaRPr lang="en-US" altLang="zh-CN" sz="3600" dirty="0" smtClean="0"/>
          </a:p>
          <a:p>
            <a:pPr>
              <a:lnSpc>
                <a:spcPct val="150000"/>
              </a:lnSpc>
              <a:buNone/>
            </a:pPr>
            <a:endParaRPr lang="en-US" altLang="zh-CN" sz="3600" dirty="0" smtClean="0"/>
          </a:p>
        </p:txBody>
      </p:sp>
    </p:spTree>
    <p:extLst>
      <p:ext uri="{BB962C8B-B14F-4D97-AF65-F5344CB8AC3E}">
        <p14:creationId xmlns="" xmlns:p14="http://schemas.microsoft.com/office/powerpoint/2010/main" val="354548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5400" dirty="0" smtClean="0">
                <a:solidFill>
                  <a:schemeClr val="bg1"/>
                </a:solidFill>
              </a:rPr>
              <a:t>7.3 </a:t>
            </a:r>
            <a:r>
              <a:rPr lang="zh-CN" altLang="en-US" sz="5400" dirty="0" smtClean="0">
                <a:solidFill>
                  <a:schemeClr val="bg1"/>
                </a:solidFill>
              </a:rPr>
              <a:t>晶体及其特性</a:t>
            </a:r>
            <a:endParaRPr lang="en-US" sz="5400" dirty="0">
              <a:solidFill>
                <a:schemeClr val="bg1"/>
              </a:solidFill>
            </a:endParaRPr>
          </a:p>
        </p:txBody>
      </p:sp>
      <p:sp>
        <p:nvSpPr>
          <p:cNvPr id="3" name="Content Placeholder 2"/>
          <p:cNvSpPr>
            <a:spLocks noGrp="1"/>
          </p:cNvSpPr>
          <p:nvPr>
            <p:ph idx="1"/>
          </p:nvPr>
        </p:nvSpPr>
        <p:spPr>
          <a:xfrm>
            <a:off x="457200" y="2277075"/>
            <a:ext cx="8229600" cy="4525963"/>
          </a:xfrm>
        </p:spPr>
        <p:txBody>
          <a:bodyPr/>
          <a:lstStyle/>
          <a:p>
            <a:pPr>
              <a:buNone/>
            </a:pPr>
            <a:r>
              <a:rPr lang="en-US" altLang="zh-CN" sz="3600" b="1" dirty="0" smtClean="0">
                <a:solidFill>
                  <a:srgbClr val="FF6600"/>
                </a:solidFill>
              </a:rPr>
              <a:t>1.</a:t>
            </a:r>
            <a:r>
              <a:rPr lang="zh-CN" altLang="en-US" sz="3600" b="1" dirty="0" smtClean="0">
                <a:solidFill>
                  <a:srgbClr val="FF6600"/>
                </a:solidFill>
              </a:rPr>
              <a:t>离子晶体</a:t>
            </a:r>
            <a:endParaRPr lang="en-US" altLang="zh-CN" sz="3600" b="1" dirty="0" smtClean="0">
              <a:solidFill>
                <a:srgbClr val="FF6600"/>
              </a:solidFill>
            </a:endParaRPr>
          </a:p>
          <a:p>
            <a:pPr>
              <a:buNone/>
            </a:pPr>
            <a:r>
              <a:rPr lang="en-US" altLang="zh-CN" sz="3600" b="1" dirty="0" smtClean="0">
                <a:solidFill>
                  <a:srgbClr val="FF6600"/>
                </a:solidFill>
              </a:rPr>
              <a:t>2.</a:t>
            </a:r>
            <a:r>
              <a:rPr lang="zh-CN" altLang="en-US" sz="3600" b="1" dirty="0" smtClean="0">
                <a:solidFill>
                  <a:srgbClr val="FF6600"/>
                </a:solidFill>
              </a:rPr>
              <a:t>原子晶体</a:t>
            </a:r>
            <a:endParaRPr lang="en-US" sz="3600" b="1" dirty="0" smtClean="0">
              <a:solidFill>
                <a:srgbClr val="FF6600"/>
              </a:solidFill>
            </a:endParaRPr>
          </a:p>
          <a:p>
            <a:pPr>
              <a:buNone/>
            </a:pPr>
            <a:r>
              <a:rPr lang="en-US" altLang="zh-CN" sz="3600" b="1" dirty="0" smtClean="0">
                <a:solidFill>
                  <a:srgbClr val="FF6600"/>
                </a:solidFill>
              </a:rPr>
              <a:t>3.</a:t>
            </a:r>
            <a:r>
              <a:rPr lang="zh-CN" altLang="en-US" sz="3600" b="1" dirty="0" smtClean="0">
                <a:solidFill>
                  <a:srgbClr val="FF6600"/>
                </a:solidFill>
              </a:rPr>
              <a:t>分</a:t>
            </a:r>
            <a:r>
              <a:rPr lang="zh-CN" altLang="en-US" sz="3600" b="1" dirty="0">
                <a:solidFill>
                  <a:srgbClr val="FF6600"/>
                </a:solidFill>
              </a:rPr>
              <a:t>子晶</a:t>
            </a:r>
            <a:r>
              <a:rPr lang="zh-CN" altLang="en-US" sz="3600" b="1" dirty="0" smtClean="0">
                <a:solidFill>
                  <a:srgbClr val="FF6600"/>
                </a:solidFill>
              </a:rPr>
              <a:t>体</a:t>
            </a:r>
            <a:endParaRPr lang="en-US" altLang="zh-CN" sz="3600" b="1" dirty="0" smtClean="0">
              <a:solidFill>
                <a:srgbClr val="FF6600"/>
              </a:solidFill>
            </a:endParaRPr>
          </a:p>
          <a:p>
            <a:pPr>
              <a:buNone/>
            </a:pPr>
            <a:r>
              <a:rPr lang="en-US" altLang="zh-CN" sz="3600" b="1" dirty="0" smtClean="0">
                <a:solidFill>
                  <a:srgbClr val="FF6600"/>
                </a:solidFill>
              </a:rPr>
              <a:t>4.</a:t>
            </a:r>
            <a:r>
              <a:rPr lang="zh-CN" altLang="en-US" sz="3600" b="1" dirty="0" smtClean="0">
                <a:solidFill>
                  <a:srgbClr val="FF6600"/>
                </a:solidFill>
              </a:rPr>
              <a:t>金属晶体</a:t>
            </a:r>
            <a:endParaRPr lang="en-US" altLang="zh-CN" sz="3600" b="1" dirty="0" smtClean="0">
              <a:solidFill>
                <a:srgbClr val="FF6600"/>
              </a:solidFill>
            </a:endParaRPr>
          </a:p>
          <a:p>
            <a:endParaRPr lang="en-US" altLang="zh-CN" sz="3600" b="1" dirty="0">
              <a:solidFill>
                <a:srgbClr val="FF6600"/>
              </a:solidFill>
            </a:endParaRPr>
          </a:p>
        </p:txBody>
      </p:sp>
      <p:sp>
        <p:nvSpPr>
          <p:cNvPr id="4" name="TextBox 3"/>
          <p:cNvSpPr txBox="1"/>
          <p:nvPr/>
        </p:nvSpPr>
        <p:spPr>
          <a:xfrm>
            <a:off x="6553200" y="2286000"/>
            <a:ext cx="1569660" cy="646331"/>
          </a:xfrm>
          <a:prstGeom prst="rect">
            <a:avLst/>
          </a:prstGeom>
          <a:noFill/>
        </p:spPr>
        <p:txBody>
          <a:bodyPr wrap="none" rtlCol="0">
            <a:spAutoFit/>
          </a:bodyPr>
          <a:lstStyle/>
          <a:p>
            <a:r>
              <a:rPr lang="zh-CN" altLang="en-US" sz="3600" dirty="0" smtClean="0"/>
              <a:t>离子键</a:t>
            </a:r>
            <a:endParaRPr lang="en-US" sz="3600" dirty="0"/>
          </a:p>
        </p:txBody>
      </p:sp>
      <p:sp>
        <p:nvSpPr>
          <p:cNvPr id="5" name="TextBox 4"/>
          <p:cNvSpPr txBox="1"/>
          <p:nvPr/>
        </p:nvSpPr>
        <p:spPr>
          <a:xfrm>
            <a:off x="6507540" y="4267200"/>
            <a:ext cx="1569660" cy="646331"/>
          </a:xfrm>
          <a:prstGeom prst="rect">
            <a:avLst/>
          </a:prstGeom>
          <a:noFill/>
        </p:spPr>
        <p:txBody>
          <a:bodyPr wrap="none" rtlCol="0">
            <a:spAutoFit/>
          </a:bodyPr>
          <a:lstStyle/>
          <a:p>
            <a:r>
              <a:rPr lang="zh-CN" altLang="en-US" sz="3600" dirty="0" smtClean="0"/>
              <a:t>金</a:t>
            </a:r>
            <a:r>
              <a:rPr lang="zh-CN" altLang="en-US" sz="3600" dirty="0"/>
              <a:t>属</a:t>
            </a:r>
            <a:r>
              <a:rPr lang="zh-CN" altLang="en-US" sz="3600" dirty="0" smtClean="0"/>
              <a:t>键</a:t>
            </a:r>
            <a:endParaRPr lang="en-US" altLang="zh-CN" sz="3600" dirty="0"/>
          </a:p>
        </p:txBody>
      </p:sp>
      <p:sp>
        <p:nvSpPr>
          <p:cNvPr id="6" name="TextBox 5"/>
          <p:cNvSpPr txBox="1"/>
          <p:nvPr/>
        </p:nvSpPr>
        <p:spPr>
          <a:xfrm>
            <a:off x="6019800" y="3544669"/>
            <a:ext cx="2954655" cy="646331"/>
          </a:xfrm>
          <a:prstGeom prst="rect">
            <a:avLst/>
          </a:prstGeom>
          <a:noFill/>
        </p:spPr>
        <p:txBody>
          <a:bodyPr wrap="none" rtlCol="0">
            <a:spAutoFit/>
          </a:bodyPr>
          <a:lstStyle/>
          <a:p>
            <a:r>
              <a:rPr lang="zh-CN" altLang="en-US" sz="3600" dirty="0" smtClean="0"/>
              <a:t>分子间作用力</a:t>
            </a:r>
            <a:endParaRPr lang="en-US" altLang="zh-CN" sz="3600" dirty="0"/>
          </a:p>
        </p:txBody>
      </p:sp>
      <p:sp>
        <p:nvSpPr>
          <p:cNvPr id="7" name="TextBox 6"/>
          <p:cNvSpPr txBox="1"/>
          <p:nvPr/>
        </p:nvSpPr>
        <p:spPr>
          <a:xfrm>
            <a:off x="6583740" y="2895600"/>
            <a:ext cx="1569660" cy="646331"/>
          </a:xfrm>
          <a:prstGeom prst="rect">
            <a:avLst/>
          </a:prstGeom>
          <a:noFill/>
        </p:spPr>
        <p:txBody>
          <a:bodyPr wrap="none" rtlCol="0">
            <a:spAutoFit/>
          </a:bodyPr>
          <a:lstStyle/>
          <a:p>
            <a:r>
              <a:rPr lang="zh-CN" altLang="en-US" sz="3600" dirty="0" smtClean="0"/>
              <a:t>共</a:t>
            </a:r>
            <a:r>
              <a:rPr lang="zh-CN" altLang="en-US" sz="3600" dirty="0"/>
              <a:t>价</a:t>
            </a:r>
            <a:r>
              <a:rPr lang="zh-CN" altLang="en-US" sz="3600" dirty="0" smtClean="0"/>
              <a:t>键</a:t>
            </a:r>
            <a:endParaRPr lang="en-US" sz="3600" dirty="0"/>
          </a:p>
        </p:txBody>
      </p:sp>
      <p:sp>
        <p:nvSpPr>
          <p:cNvPr id="8" name="TextBox 7"/>
          <p:cNvSpPr txBox="1"/>
          <p:nvPr/>
        </p:nvSpPr>
        <p:spPr>
          <a:xfrm>
            <a:off x="3760738" y="2325469"/>
            <a:ext cx="2259062" cy="646331"/>
          </a:xfrm>
          <a:prstGeom prst="rect">
            <a:avLst/>
          </a:prstGeom>
          <a:noFill/>
        </p:spPr>
        <p:txBody>
          <a:bodyPr wrap="square" rtlCol="0">
            <a:spAutoFit/>
          </a:bodyPr>
          <a:lstStyle/>
          <a:p>
            <a:r>
              <a:rPr lang="zh-CN" altLang="en-US" sz="3600" b="1" dirty="0" smtClean="0">
                <a:solidFill>
                  <a:srgbClr val="7A23AB"/>
                </a:solidFill>
              </a:rPr>
              <a:t>离子</a:t>
            </a:r>
            <a:endParaRPr lang="en-US" sz="3600" b="1" dirty="0">
              <a:solidFill>
                <a:srgbClr val="7A23AB"/>
              </a:solidFill>
            </a:endParaRPr>
          </a:p>
        </p:txBody>
      </p:sp>
      <p:sp>
        <p:nvSpPr>
          <p:cNvPr id="9" name="TextBox 8"/>
          <p:cNvSpPr txBox="1"/>
          <p:nvPr/>
        </p:nvSpPr>
        <p:spPr>
          <a:xfrm>
            <a:off x="3677263" y="4230469"/>
            <a:ext cx="2037737" cy="646331"/>
          </a:xfrm>
          <a:prstGeom prst="rect">
            <a:avLst/>
          </a:prstGeom>
          <a:noFill/>
        </p:spPr>
        <p:txBody>
          <a:bodyPr wrap="none" rtlCol="0">
            <a:spAutoFit/>
          </a:bodyPr>
          <a:lstStyle/>
          <a:p>
            <a:r>
              <a:rPr lang="zh-CN" altLang="en-US" sz="3600" b="1" dirty="0" smtClean="0">
                <a:solidFill>
                  <a:srgbClr val="7A23AB"/>
                </a:solidFill>
              </a:rPr>
              <a:t>金属原子</a:t>
            </a:r>
            <a:endParaRPr lang="en-US" sz="3600" b="1" dirty="0">
              <a:solidFill>
                <a:srgbClr val="7A23AB"/>
              </a:solidFill>
            </a:endParaRPr>
          </a:p>
        </p:txBody>
      </p:sp>
      <p:sp>
        <p:nvSpPr>
          <p:cNvPr id="10" name="TextBox 9"/>
          <p:cNvSpPr txBox="1"/>
          <p:nvPr/>
        </p:nvSpPr>
        <p:spPr>
          <a:xfrm>
            <a:off x="3733800" y="3542944"/>
            <a:ext cx="1111202" cy="646331"/>
          </a:xfrm>
          <a:prstGeom prst="rect">
            <a:avLst/>
          </a:prstGeom>
          <a:noFill/>
        </p:spPr>
        <p:txBody>
          <a:bodyPr wrap="none" rtlCol="0">
            <a:spAutoFit/>
          </a:bodyPr>
          <a:lstStyle/>
          <a:p>
            <a:r>
              <a:rPr lang="zh-CN" altLang="en-US" sz="3600" b="1" dirty="0" smtClean="0">
                <a:solidFill>
                  <a:srgbClr val="7A23AB"/>
                </a:solidFill>
              </a:rPr>
              <a:t>分子</a:t>
            </a:r>
            <a:endParaRPr lang="en-US" sz="3600" b="1" dirty="0">
              <a:solidFill>
                <a:srgbClr val="7A23AB"/>
              </a:solidFill>
            </a:endParaRPr>
          </a:p>
        </p:txBody>
      </p:sp>
      <p:sp>
        <p:nvSpPr>
          <p:cNvPr id="11" name="TextBox 10"/>
          <p:cNvSpPr txBox="1"/>
          <p:nvPr/>
        </p:nvSpPr>
        <p:spPr>
          <a:xfrm>
            <a:off x="3733800" y="2895600"/>
            <a:ext cx="1111202" cy="646331"/>
          </a:xfrm>
          <a:prstGeom prst="rect">
            <a:avLst/>
          </a:prstGeom>
          <a:noFill/>
        </p:spPr>
        <p:txBody>
          <a:bodyPr wrap="none" rtlCol="0">
            <a:spAutoFit/>
          </a:bodyPr>
          <a:lstStyle/>
          <a:p>
            <a:r>
              <a:rPr lang="zh-CN" altLang="en-US" sz="3600" b="1" dirty="0" smtClean="0">
                <a:solidFill>
                  <a:srgbClr val="7A23AB"/>
                </a:solidFill>
              </a:rPr>
              <a:t>原子</a:t>
            </a:r>
            <a:endParaRPr lang="en-US" sz="3600" b="1" dirty="0">
              <a:solidFill>
                <a:srgbClr val="7A23AB"/>
              </a:solidFill>
            </a:endParaRPr>
          </a:p>
        </p:txBody>
      </p:sp>
      <p:sp>
        <p:nvSpPr>
          <p:cNvPr id="12" name="TextBox 11"/>
          <p:cNvSpPr txBox="1"/>
          <p:nvPr/>
        </p:nvSpPr>
        <p:spPr>
          <a:xfrm>
            <a:off x="1007348" y="1752600"/>
            <a:ext cx="8494633" cy="646331"/>
          </a:xfrm>
          <a:prstGeom prst="rect">
            <a:avLst/>
          </a:prstGeom>
          <a:noFill/>
        </p:spPr>
        <p:txBody>
          <a:bodyPr wrap="none" rtlCol="0">
            <a:spAutoFit/>
          </a:bodyPr>
          <a:lstStyle/>
          <a:p>
            <a:r>
              <a:rPr lang="zh-CN" altLang="en-US" sz="3600" b="1" u="sng" dirty="0" smtClean="0">
                <a:solidFill>
                  <a:srgbClr val="FF6600"/>
                </a:solidFill>
              </a:rPr>
              <a:t>类型</a:t>
            </a:r>
            <a:r>
              <a:rPr lang="en-US" altLang="zh-CN" sz="3600" b="1" dirty="0" smtClean="0">
                <a:solidFill>
                  <a:srgbClr val="FF6600"/>
                </a:solidFill>
              </a:rPr>
              <a:t>		</a:t>
            </a:r>
            <a:r>
              <a:rPr lang="zh-CN" altLang="en-US" sz="3600" b="1" u="sng" dirty="0" smtClean="0">
                <a:solidFill>
                  <a:srgbClr val="7A23AB"/>
                </a:solidFill>
              </a:rPr>
              <a:t>微粒</a:t>
            </a:r>
            <a:r>
              <a:rPr lang="en-US" altLang="zh-CN" sz="3600" b="1" dirty="0" smtClean="0">
                <a:solidFill>
                  <a:srgbClr val="7A23AB"/>
                </a:solidFill>
              </a:rPr>
              <a:t>   	</a:t>
            </a:r>
            <a:r>
              <a:rPr lang="zh-CN" altLang="en-US" sz="3600" b="1" u="sng" dirty="0" smtClean="0"/>
              <a:t>微粒间的作用力</a:t>
            </a:r>
            <a:r>
              <a:rPr lang="en-US" altLang="zh-CN" sz="3600" b="1" dirty="0" smtClean="0">
                <a:solidFill>
                  <a:srgbClr val="FF6600"/>
                </a:solidFill>
              </a:rPr>
              <a:t>	</a:t>
            </a:r>
            <a:endParaRPr lang="en-US" sz="3600" b="1" u="sng" dirty="0">
              <a:solidFill>
                <a:srgbClr val="7A23AB"/>
              </a:solidFill>
            </a:endParaRPr>
          </a:p>
        </p:txBody>
      </p:sp>
    </p:spTree>
    <p:extLst>
      <p:ext uri="{BB962C8B-B14F-4D97-AF65-F5344CB8AC3E}">
        <p14:creationId xmlns="" xmlns:p14="http://schemas.microsoft.com/office/powerpoint/2010/main" val="354548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005"/>
            <a:ext cx="8229600" cy="1143000"/>
          </a:xfrm>
        </p:spPr>
        <p:txBody>
          <a:bodyPr>
            <a:normAutofit/>
          </a:bodyPr>
          <a:lstStyle/>
          <a:p>
            <a:r>
              <a:rPr lang="en-US" altLang="zh-CN" sz="4800" dirty="0" smtClean="0">
                <a:solidFill>
                  <a:schemeClr val="bg1">
                    <a:lumMod val="95000"/>
                  </a:schemeClr>
                </a:solidFill>
              </a:rPr>
              <a:t>7.3.1	</a:t>
            </a:r>
            <a:r>
              <a:rPr lang="zh-CN" altLang="en-US" sz="4800" dirty="0" smtClean="0">
                <a:solidFill>
                  <a:schemeClr val="bg1"/>
                </a:solidFill>
              </a:rPr>
              <a:t>离子晶体</a:t>
            </a:r>
            <a:endParaRPr lang="en-MY" sz="4800" dirty="0">
              <a:solidFill>
                <a:schemeClr val="bg1"/>
              </a:solidFill>
            </a:endParaRPr>
          </a:p>
        </p:txBody>
      </p:sp>
      <p:sp>
        <p:nvSpPr>
          <p:cNvPr id="3" name="Content Placeholder 2"/>
          <p:cNvSpPr>
            <a:spLocks noGrp="1"/>
          </p:cNvSpPr>
          <p:nvPr>
            <p:ph idx="1"/>
          </p:nvPr>
        </p:nvSpPr>
        <p:spPr>
          <a:xfrm>
            <a:off x="457200" y="1143000"/>
            <a:ext cx="8229600" cy="1828800"/>
          </a:xfrm>
        </p:spPr>
        <p:txBody>
          <a:bodyPr>
            <a:noAutofit/>
          </a:bodyPr>
          <a:lstStyle/>
          <a:p>
            <a:pPr marL="0" indent="0">
              <a:buFont typeface="Wingdings" pitchFamily="2" charset="2"/>
              <a:buChar char="Ø"/>
            </a:pPr>
            <a:r>
              <a:rPr lang="zh-CN" altLang="en-US" dirty="0" smtClean="0"/>
              <a:t>以</a:t>
            </a:r>
            <a:r>
              <a:rPr lang="zh-CN" altLang="en-US" b="1" dirty="0" smtClean="0">
                <a:solidFill>
                  <a:srgbClr val="002060"/>
                </a:solidFill>
                <a:effectLst>
                  <a:outerShdw blurRad="38100" dist="38100" dir="2700000" algn="tl">
                    <a:srgbClr val="000000">
                      <a:alpha val="43137"/>
                    </a:srgbClr>
                  </a:outerShdw>
                </a:effectLst>
              </a:rPr>
              <a:t>离子键</a:t>
            </a:r>
            <a:r>
              <a:rPr lang="zh-CN" altLang="en-US" dirty="0" smtClean="0"/>
              <a:t>结合的化合物</a:t>
            </a:r>
            <a:r>
              <a:rPr lang="en-US" altLang="zh-CN" dirty="0" smtClean="0"/>
              <a:t>———</a:t>
            </a:r>
            <a:r>
              <a:rPr lang="zh-CN" altLang="en-US" dirty="0" smtClean="0"/>
              <a:t>离子化合物</a:t>
            </a:r>
            <a:endParaRPr lang="en-US" altLang="zh-CN" dirty="0" smtClean="0"/>
          </a:p>
          <a:p>
            <a:pPr marL="0" indent="0">
              <a:buFont typeface="Wingdings" pitchFamily="2" charset="2"/>
              <a:buChar char="Ø"/>
            </a:pPr>
            <a:r>
              <a:rPr lang="zh-CN" altLang="en-US" b="1" dirty="0" smtClean="0">
                <a:solidFill>
                  <a:srgbClr val="002060"/>
                </a:solidFill>
                <a:effectLst>
                  <a:outerShdw blurRad="38100" dist="38100" dir="2700000" algn="tl">
                    <a:srgbClr val="000000">
                      <a:alpha val="43137"/>
                    </a:srgbClr>
                  </a:outerShdw>
                </a:effectLst>
              </a:rPr>
              <a:t>固态</a:t>
            </a:r>
            <a:r>
              <a:rPr lang="zh-CN" altLang="en-US" dirty="0" smtClean="0"/>
              <a:t>离子化合物中的正、负离子有规律地排列形成</a:t>
            </a:r>
            <a:r>
              <a:rPr lang="zh-CN" altLang="en-US" b="1" dirty="0" smtClean="0">
                <a:solidFill>
                  <a:srgbClr val="002060"/>
                </a:solidFill>
                <a:effectLst>
                  <a:outerShdw blurRad="38100" dist="38100" dir="2700000" algn="tl">
                    <a:srgbClr val="000000">
                      <a:alpha val="43137"/>
                    </a:srgbClr>
                  </a:outerShdw>
                </a:effectLst>
              </a:rPr>
              <a:t>离子晶体</a:t>
            </a:r>
            <a:r>
              <a:rPr lang="zh-CN" altLang="en-US" dirty="0" smtClean="0"/>
              <a:t>。</a:t>
            </a:r>
            <a:endParaRPr lang="en-US" altLang="zh-CN" dirty="0" smtClean="0"/>
          </a:p>
          <a:p>
            <a:endParaRPr lang="en-MY" dirty="0"/>
          </a:p>
        </p:txBody>
      </p:sp>
      <p:sp>
        <p:nvSpPr>
          <p:cNvPr id="6" name="TextBox 5"/>
          <p:cNvSpPr txBox="1"/>
          <p:nvPr/>
        </p:nvSpPr>
        <p:spPr>
          <a:xfrm>
            <a:off x="533400" y="3312855"/>
            <a:ext cx="7924800" cy="3046988"/>
          </a:xfrm>
          <a:prstGeom prst="rect">
            <a:avLst/>
          </a:prstGeom>
          <a:noFill/>
        </p:spPr>
        <p:txBody>
          <a:bodyPr wrap="square" rtlCol="0">
            <a:spAutoFit/>
          </a:bodyPr>
          <a:lstStyle/>
          <a:p>
            <a:r>
              <a:rPr lang="zh-CN" altLang="en-US" sz="3200" b="1" u="sng" dirty="0" smtClean="0">
                <a:solidFill>
                  <a:schemeClr val="bg1"/>
                </a:solidFill>
              </a:rPr>
              <a:t>离子晶体的特点</a:t>
            </a:r>
            <a:endParaRPr lang="en-US" altLang="zh-CN" sz="3200" b="1" u="sng" dirty="0" smtClean="0">
              <a:solidFill>
                <a:schemeClr val="bg1"/>
              </a:solidFill>
            </a:endParaRPr>
          </a:p>
          <a:p>
            <a:pPr>
              <a:buFont typeface="Wingdings" pitchFamily="2" charset="2"/>
              <a:buChar char="Ø"/>
            </a:pPr>
            <a:r>
              <a:rPr lang="zh-CN" altLang="en-US" sz="3200" b="1" dirty="0" smtClean="0">
                <a:solidFill>
                  <a:srgbClr val="002060"/>
                </a:solidFill>
                <a:effectLst>
                  <a:outerShdw blurRad="38100" dist="38100" dir="2700000" algn="tl">
                    <a:srgbClr val="000000">
                      <a:alpha val="43137"/>
                    </a:srgbClr>
                  </a:outerShdw>
                </a:effectLst>
              </a:rPr>
              <a:t>高</a:t>
            </a:r>
            <a:r>
              <a:rPr lang="zh-CN" altLang="en-US" sz="3200" b="1" dirty="0">
                <a:solidFill>
                  <a:srgbClr val="002060"/>
                </a:solidFill>
                <a:effectLst>
                  <a:outerShdw blurRad="38100" dist="38100" dir="2700000" algn="tl">
                    <a:srgbClr val="000000">
                      <a:alpha val="43137"/>
                    </a:srgbClr>
                  </a:outerShdw>
                </a:effectLst>
              </a:rPr>
              <a:t>熔</a:t>
            </a:r>
            <a:r>
              <a:rPr lang="zh-CN" altLang="en-US" sz="3200" b="1" dirty="0" smtClean="0">
                <a:solidFill>
                  <a:srgbClr val="002060"/>
                </a:solidFill>
                <a:effectLst>
                  <a:outerShdw blurRad="38100" dist="38100" dir="2700000" algn="tl">
                    <a:srgbClr val="000000">
                      <a:alpha val="43137"/>
                    </a:srgbClr>
                  </a:outerShdw>
                </a:effectLst>
              </a:rPr>
              <a:t>点、高</a:t>
            </a:r>
            <a:r>
              <a:rPr lang="zh-CN" altLang="en-US" sz="3200" b="1" dirty="0">
                <a:solidFill>
                  <a:srgbClr val="002060"/>
                </a:solidFill>
                <a:effectLst>
                  <a:outerShdw blurRad="38100" dist="38100" dir="2700000" algn="tl">
                    <a:srgbClr val="000000">
                      <a:alpha val="43137"/>
                    </a:srgbClr>
                  </a:outerShdw>
                </a:effectLst>
              </a:rPr>
              <a:t>沸</a:t>
            </a:r>
            <a:r>
              <a:rPr lang="zh-CN" altLang="en-US" sz="3200" b="1" dirty="0" smtClean="0">
                <a:solidFill>
                  <a:srgbClr val="002060"/>
                </a:solidFill>
                <a:effectLst>
                  <a:outerShdw blurRad="38100" dist="38100" dir="2700000" algn="tl">
                    <a:srgbClr val="000000">
                      <a:alpha val="43137"/>
                    </a:srgbClr>
                  </a:outerShdw>
                </a:effectLst>
              </a:rPr>
              <a:t>点</a:t>
            </a:r>
            <a:endParaRPr lang="en-US" altLang="zh-CN" sz="3200" b="1" dirty="0" smtClean="0">
              <a:solidFill>
                <a:srgbClr val="002060"/>
              </a:solidFill>
              <a:effectLst>
                <a:outerShdw blurRad="38100" dist="38100" dir="2700000" algn="tl">
                  <a:srgbClr val="000000">
                    <a:alpha val="43137"/>
                  </a:srgbClr>
                </a:outerShdw>
              </a:effectLst>
            </a:endParaRPr>
          </a:p>
          <a:p>
            <a:pPr>
              <a:buFont typeface="Wingdings" pitchFamily="2" charset="2"/>
              <a:buChar char="Ø"/>
            </a:pPr>
            <a:r>
              <a:rPr lang="zh-CN" altLang="en-US" sz="3200" dirty="0" smtClean="0"/>
              <a:t>固态时不导电，但</a:t>
            </a:r>
            <a:r>
              <a:rPr lang="zh-CN" altLang="en-US" sz="3200" b="1" dirty="0" smtClean="0">
                <a:solidFill>
                  <a:srgbClr val="002060"/>
                </a:solidFill>
                <a:effectLst>
                  <a:outerShdw blurRad="38100" dist="38100" dir="2700000" algn="tl">
                    <a:srgbClr val="000000">
                      <a:alpha val="43137"/>
                    </a:srgbClr>
                  </a:outerShdw>
                </a:effectLst>
              </a:rPr>
              <a:t>熔融</a:t>
            </a:r>
            <a:r>
              <a:rPr lang="zh-CN" altLang="en-US" sz="3200" b="1" dirty="0">
                <a:solidFill>
                  <a:srgbClr val="002060"/>
                </a:solidFill>
                <a:effectLst>
                  <a:outerShdw blurRad="38100" dist="38100" dir="2700000" algn="tl">
                    <a:srgbClr val="000000">
                      <a:alpha val="43137"/>
                    </a:srgbClr>
                  </a:outerShdw>
                </a:effectLst>
              </a:rPr>
              <a:t>状</a:t>
            </a:r>
            <a:r>
              <a:rPr lang="zh-CN" altLang="en-US" sz="3200" b="1" dirty="0" smtClean="0">
                <a:solidFill>
                  <a:srgbClr val="002060"/>
                </a:solidFill>
                <a:effectLst>
                  <a:outerShdw blurRad="38100" dist="38100" dir="2700000" algn="tl">
                    <a:srgbClr val="000000">
                      <a:alpha val="43137"/>
                    </a:srgbClr>
                  </a:outerShdw>
                </a:effectLst>
              </a:rPr>
              <a:t>态</a:t>
            </a:r>
            <a:r>
              <a:rPr lang="zh-CN" altLang="en-US" sz="3200" dirty="0" smtClean="0"/>
              <a:t>和</a:t>
            </a:r>
            <a:r>
              <a:rPr lang="zh-CN" altLang="en-US" sz="3200" b="1" dirty="0" smtClean="0">
                <a:solidFill>
                  <a:srgbClr val="002060"/>
                </a:solidFill>
                <a:effectLst>
                  <a:outerShdw blurRad="38100" dist="38100" dir="2700000" algn="tl">
                    <a:srgbClr val="000000">
                      <a:alpha val="43137"/>
                    </a:srgbClr>
                  </a:outerShdw>
                </a:effectLst>
              </a:rPr>
              <a:t>溶于水时</a:t>
            </a:r>
            <a:r>
              <a:rPr lang="zh-CN" altLang="en-US" sz="3200" dirty="0" smtClean="0"/>
              <a:t>能</a:t>
            </a:r>
            <a:r>
              <a:rPr lang="zh-CN" altLang="en-US" sz="3200" b="1" dirty="0" smtClean="0">
                <a:solidFill>
                  <a:srgbClr val="002060"/>
                </a:solidFill>
                <a:effectLst>
                  <a:outerShdw blurRad="38100" dist="38100" dir="2700000" algn="tl">
                    <a:srgbClr val="000000">
                      <a:alpha val="43137"/>
                    </a:srgbClr>
                  </a:outerShdw>
                </a:effectLst>
              </a:rPr>
              <a:t>导电</a:t>
            </a:r>
            <a:r>
              <a:rPr lang="zh-CN" altLang="en-US" sz="3200" dirty="0" smtClean="0"/>
              <a:t>。</a:t>
            </a:r>
            <a:endParaRPr lang="en-US" altLang="zh-CN" sz="3200" dirty="0" smtClean="0"/>
          </a:p>
          <a:p>
            <a:pPr>
              <a:buFont typeface="Wingdings" pitchFamily="2" charset="2"/>
              <a:buChar char="Ø"/>
            </a:pPr>
            <a:r>
              <a:rPr lang="zh-CN" altLang="en-US" sz="3200" b="1" dirty="0" smtClean="0">
                <a:solidFill>
                  <a:srgbClr val="002060"/>
                </a:solidFill>
                <a:effectLst>
                  <a:outerShdw blurRad="38100" dist="38100" dir="2700000" algn="tl">
                    <a:srgbClr val="000000">
                      <a:alpha val="43137"/>
                    </a:srgbClr>
                  </a:outerShdw>
                </a:effectLst>
              </a:rPr>
              <a:t>一般</a:t>
            </a:r>
            <a:r>
              <a:rPr lang="zh-CN" altLang="en-US" sz="3200" dirty="0" smtClean="0"/>
              <a:t>而言，</a:t>
            </a:r>
            <a:r>
              <a:rPr lang="zh-CN" altLang="en-US" sz="3200" b="1" dirty="0" smtClean="0">
                <a:solidFill>
                  <a:srgbClr val="002060"/>
                </a:solidFill>
                <a:effectLst>
                  <a:outerShdw blurRad="38100" dist="38100" dir="2700000" algn="tl">
                    <a:srgbClr val="000000">
                      <a:alpha val="43137"/>
                    </a:srgbClr>
                  </a:outerShdw>
                </a:effectLst>
              </a:rPr>
              <a:t>易</a:t>
            </a:r>
            <a:r>
              <a:rPr lang="zh-CN" altLang="en-US" sz="3200" b="1" dirty="0">
                <a:solidFill>
                  <a:srgbClr val="002060"/>
                </a:solidFill>
                <a:effectLst>
                  <a:outerShdw blurRad="38100" dist="38100" dir="2700000" algn="tl">
                    <a:srgbClr val="000000">
                      <a:alpha val="43137"/>
                    </a:srgbClr>
                  </a:outerShdw>
                </a:effectLst>
              </a:rPr>
              <a:t>溶</a:t>
            </a:r>
            <a:r>
              <a:rPr lang="zh-CN" altLang="en-US" sz="3200" b="1" dirty="0" smtClean="0">
                <a:solidFill>
                  <a:srgbClr val="002060"/>
                </a:solidFill>
                <a:effectLst>
                  <a:outerShdw blurRad="38100" dist="38100" dir="2700000" algn="tl">
                    <a:srgbClr val="000000">
                      <a:alpha val="43137"/>
                    </a:srgbClr>
                  </a:outerShdw>
                </a:effectLst>
              </a:rPr>
              <a:t>于水</a:t>
            </a:r>
            <a:r>
              <a:rPr lang="zh-CN" altLang="en-US" sz="3200" dirty="0" smtClean="0"/>
              <a:t>。溶于水时其正、负离子与水分子产生水合作用。</a:t>
            </a:r>
            <a:endParaRPr lang="en-US" altLang="zh-CN" sz="3200" dirty="0" smtClean="0"/>
          </a:p>
        </p:txBody>
      </p:sp>
      <p:pic>
        <p:nvPicPr>
          <p:cNvPr id="8" name="Picture 16" descr="http://modx.hanluninfo.com:8082/modx/assets/images/C0208/c0208_nacl_lattice_2.jpg"/>
          <p:cNvPicPr>
            <a:picLocks noChangeAspect="1" noChangeArrowheads="1"/>
          </p:cNvPicPr>
          <p:nvPr/>
        </p:nvPicPr>
        <p:blipFill>
          <a:blip r:embed="rId2" cstate="print"/>
          <a:srcRect/>
          <a:stretch>
            <a:fillRect/>
          </a:stretch>
        </p:blipFill>
        <p:spPr bwMode="auto">
          <a:xfrm>
            <a:off x="4114800" y="2286000"/>
            <a:ext cx="4720943" cy="2724151"/>
          </a:xfrm>
          <a:prstGeom prst="rect">
            <a:avLst/>
          </a:prstGeom>
          <a:noFill/>
        </p:spPr>
      </p:pic>
    </p:spTree>
    <p:extLst>
      <p:ext uri="{BB962C8B-B14F-4D97-AF65-F5344CB8AC3E}">
        <p14:creationId xmlns="" xmlns:p14="http://schemas.microsoft.com/office/powerpoint/2010/main" val="2466586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nodeType="clickEffect">
                                  <p:stCondLst>
                                    <p:cond delay="0"/>
                                  </p:stCondLst>
                                  <p:childTnLst>
                                    <p:anim calcmode="lin" valueType="num">
                                      <p:cBhvr additive="base">
                                        <p:cTn id="24" dur="500"/>
                                        <p:tgtEl>
                                          <p:spTgt spid="8"/>
                                        </p:tgtEl>
                                        <p:attrNameLst>
                                          <p:attrName>ppt_x</p:attrName>
                                        </p:attrNameLst>
                                      </p:cBhvr>
                                      <p:tavLst>
                                        <p:tav tm="0">
                                          <p:val>
                                            <p:strVal val="ppt_x"/>
                                          </p:val>
                                        </p:tav>
                                        <p:tav tm="100000">
                                          <p:val>
                                            <p:strVal val="ppt_x"/>
                                          </p:val>
                                        </p:tav>
                                      </p:tavLst>
                                    </p:anim>
                                    <p:anim calcmode="lin" valueType="num">
                                      <p:cBhvr additive="base">
                                        <p:cTn id="25" dur="500"/>
                                        <p:tgtEl>
                                          <p:spTgt spid="8"/>
                                        </p:tgtEl>
                                        <p:attrNameLst>
                                          <p:attrName>ppt_y</p:attrName>
                                        </p:attrNameLst>
                                      </p:cBhvr>
                                      <p:tavLst>
                                        <p:tav tm="0">
                                          <p:val>
                                            <p:strVal val="ppt_y"/>
                                          </p:val>
                                        </p:tav>
                                        <p:tav tm="100000">
                                          <p:val>
                                            <p:strVal val="1+ppt_h/2"/>
                                          </p:val>
                                        </p:tav>
                                      </p:tavLst>
                                    </p:anim>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 calcmode="lin" valueType="num">
                                      <p:cBhvr additive="base">
                                        <p:cTn id="3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anim calcmode="lin" valueType="num">
                                      <p:cBhvr additive="base">
                                        <p:cTn id="3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anim calcmode="lin" valueType="num">
                                      <p:cBhvr additive="base">
                                        <p:cTn id="4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 calcmode="lin" valueType="num">
                                      <p:cBhvr additive="base">
                                        <p:cTn id="4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uiExpand="1" build="allAtOnce"/>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思考题</a:t>
            </a:r>
            <a:r>
              <a:rPr lang="en-US" altLang="zh-CN" sz="4800" dirty="0" smtClean="0">
                <a:solidFill>
                  <a:schemeClr val="bg1"/>
                </a:solidFill>
              </a:rPr>
              <a:t>7e</a:t>
            </a:r>
            <a:endParaRPr lang="en-US" sz="4800" dirty="0">
              <a:solidFill>
                <a:schemeClr val="bg1"/>
              </a:solidFill>
            </a:endParaRPr>
          </a:p>
        </p:txBody>
      </p:sp>
      <p:sp>
        <p:nvSpPr>
          <p:cNvPr id="3" name="Content Placeholder 2"/>
          <p:cNvSpPr>
            <a:spLocks noGrp="1"/>
          </p:cNvSpPr>
          <p:nvPr>
            <p:ph idx="1"/>
          </p:nvPr>
        </p:nvSpPr>
        <p:spPr>
          <a:xfrm>
            <a:off x="457200" y="1325562"/>
            <a:ext cx="8229600" cy="5151438"/>
          </a:xfrm>
        </p:spPr>
        <p:txBody>
          <a:bodyPr>
            <a:normAutofit lnSpcReduction="10000"/>
          </a:bodyPr>
          <a:lstStyle/>
          <a:p>
            <a:pPr marL="514350" indent="-514350">
              <a:buAutoNum type="arabicPeriod"/>
            </a:pPr>
            <a:r>
              <a:rPr lang="zh-CN" altLang="en-US" dirty="0" smtClean="0"/>
              <a:t>说明要破坏离子键需要消耗较多的能量。</a:t>
            </a:r>
            <a:endParaRPr lang="en-US" altLang="zh-CN" dirty="0" smtClean="0"/>
          </a:p>
          <a:p>
            <a:pPr marL="514350" indent="-514350">
              <a:buAutoNum type="arabicPeriod"/>
            </a:pPr>
            <a:r>
              <a:rPr lang="zh-CN" altLang="en-US" dirty="0" smtClean="0"/>
              <a:t>不存在。因为受热熔化时离子键被破坏，而在溶于水时与水分子产生水合作用，亦破坏了离子键。</a:t>
            </a:r>
            <a:endParaRPr lang="en-US" altLang="zh-CN" dirty="0" smtClean="0"/>
          </a:p>
          <a:p>
            <a:pPr marL="514350" indent="-514350">
              <a:buAutoNum type="arabicPeriod"/>
            </a:pPr>
            <a:r>
              <a:rPr lang="zh-CN" altLang="en-US" dirty="0" smtClean="0"/>
              <a:t>固</a:t>
            </a:r>
            <a:r>
              <a:rPr lang="zh-CN" altLang="en-US" dirty="0" smtClean="0"/>
              <a:t>态</a:t>
            </a:r>
            <a:r>
              <a:rPr lang="zh-CN" altLang="en-US" dirty="0" smtClean="0"/>
              <a:t>离子晶体</a:t>
            </a:r>
            <a:r>
              <a:rPr lang="zh-CN" altLang="en-US" dirty="0" smtClean="0"/>
              <a:t>存在离子键，没</a:t>
            </a:r>
            <a:r>
              <a:rPr lang="zh-CN" altLang="en-US" dirty="0" smtClean="0"/>
              <a:t>有自由移动的离</a:t>
            </a:r>
            <a:r>
              <a:rPr lang="zh-CN" altLang="en-US" dirty="0" smtClean="0"/>
              <a:t>子；熔</a:t>
            </a:r>
            <a:r>
              <a:rPr lang="zh-CN" altLang="en-US" dirty="0" smtClean="0"/>
              <a:t>融状态和溶于水</a:t>
            </a:r>
            <a:r>
              <a:rPr lang="zh-CN" altLang="en-US" dirty="0" smtClean="0"/>
              <a:t>时离子键已被破坏，有</a:t>
            </a:r>
            <a:r>
              <a:rPr lang="zh-CN" altLang="en-US" dirty="0" smtClean="0"/>
              <a:t>自由移动的离子。</a:t>
            </a:r>
            <a:endParaRPr lang="en-US" altLang="zh-CN" dirty="0" smtClean="0"/>
          </a:p>
          <a:p>
            <a:pPr marL="514350" indent="-514350">
              <a:buAutoNum type="arabicPeriod"/>
            </a:pPr>
            <a:r>
              <a:rPr lang="en-US" altLang="zh-CN" dirty="0" err="1" smtClean="0"/>
              <a:t>Ans</a:t>
            </a:r>
            <a:r>
              <a:rPr lang="zh-CN" altLang="en-US" dirty="0" smtClean="0"/>
              <a:t>：</a:t>
            </a:r>
            <a:r>
              <a:rPr lang="en-US" altLang="zh-CN" dirty="0" smtClean="0"/>
              <a:t>B	</a:t>
            </a:r>
          </a:p>
          <a:p>
            <a:pPr marL="514350" indent="-514350">
              <a:buNone/>
            </a:pPr>
            <a:r>
              <a:rPr lang="en-US" altLang="zh-CN" dirty="0" smtClean="0"/>
              <a:t>	</a:t>
            </a:r>
            <a:r>
              <a:rPr lang="zh-CN" altLang="en-US" dirty="0" smtClean="0"/>
              <a:t>例</a:t>
            </a:r>
            <a:r>
              <a:rPr lang="en-US" altLang="zh-CN" dirty="0" smtClean="0"/>
              <a:t>AlCl</a:t>
            </a:r>
            <a:r>
              <a:rPr lang="en-US" altLang="zh-CN" baseline="-25000" dirty="0" smtClean="0"/>
              <a:t>3</a:t>
            </a:r>
            <a:r>
              <a:rPr lang="zh-CN" altLang="en-US" dirty="0" smtClean="0"/>
              <a:t>是共价化合物</a:t>
            </a:r>
            <a:endParaRPr lang="en-US" altLang="zh-CN" dirty="0" smtClean="0"/>
          </a:p>
          <a:p>
            <a:pPr marL="514350" indent="-514350">
              <a:buNone/>
            </a:pPr>
            <a:r>
              <a:rPr lang="en-US" altLang="zh-CN" dirty="0" smtClean="0"/>
              <a:t>	</a:t>
            </a:r>
          </a:p>
          <a:p>
            <a:pPr marL="514350" indent="-514350">
              <a:buNone/>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altLang="zh-CN" sz="4800" dirty="0" smtClean="0">
                <a:solidFill>
                  <a:schemeClr val="bg1"/>
                </a:solidFill>
              </a:rPr>
              <a:t>7.3.2 </a:t>
            </a:r>
            <a:r>
              <a:rPr lang="zh-CN" altLang="en-US" sz="4800" dirty="0" smtClean="0">
                <a:solidFill>
                  <a:schemeClr val="bg1"/>
                </a:solidFill>
              </a:rPr>
              <a:t>原子晶体</a:t>
            </a:r>
            <a:endParaRPr lang="en-US" sz="4800" dirty="0">
              <a:solidFill>
                <a:schemeClr val="bg1"/>
              </a:solidFill>
            </a:endParaRPr>
          </a:p>
        </p:txBody>
      </p:sp>
      <p:sp>
        <p:nvSpPr>
          <p:cNvPr id="3" name="Content Placeholder 2"/>
          <p:cNvSpPr>
            <a:spLocks noGrp="1"/>
          </p:cNvSpPr>
          <p:nvPr>
            <p:ph idx="1"/>
          </p:nvPr>
        </p:nvSpPr>
        <p:spPr>
          <a:xfrm>
            <a:off x="381000" y="1219200"/>
            <a:ext cx="8382000" cy="5410200"/>
          </a:xfrm>
        </p:spPr>
        <p:txBody>
          <a:bodyPr>
            <a:normAutofit/>
          </a:bodyPr>
          <a:lstStyle/>
          <a:p>
            <a:pPr>
              <a:buFont typeface="Wingdings" pitchFamily="2" charset="2"/>
              <a:buChar char="Ø"/>
            </a:pPr>
            <a:r>
              <a:rPr lang="zh-CN" altLang="en-US" dirty="0" smtClean="0"/>
              <a:t>相邻原子之间</a:t>
            </a:r>
            <a:r>
              <a:rPr lang="zh-CN" altLang="en-US" b="1" dirty="0" smtClean="0">
                <a:solidFill>
                  <a:schemeClr val="bg1"/>
                </a:solidFill>
              </a:rPr>
              <a:t>只通过强烈的共价键</a:t>
            </a:r>
            <a:r>
              <a:rPr lang="zh-CN" altLang="en-US" dirty="0" smtClean="0"/>
              <a:t>结合形成空间网状结构的晶体。</a:t>
            </a:r>
            <a:endParaRPr lang="en-US" altLang="zh-CN" dirty="0" smtClean="0"/>
          </a:p>
          <a:p>
            <a:pPr>
              <a:buFont typeface="Wingdings" pitchFamily="2" charset="2"/>
              <a:buChar char="Ø"/>
            </a:pPr>
            <a:r>
              <a:rPr lang="zh-CN" altLang="en-US" dirty="0" smtClean="0"/>
              <a:t>例：金刚石、碳化硅、二氧化硅、晶体硅、氮化硼。</a:t>
            </a:r>
            <a:endParaRPr lang="en-US" altLang="zh-CN" dirty="0" smtClean="0"/>
          </a:p>
          <a:p>
            <a:pPr>
              <a:buFont typeface="Wingdings" pitchFamily="2" charset="2"/>
              <a:buChar char="Ø"/>
            </a:pPr>
            <a:r>
              <a:rPr lang="zh-CN" altLang="en-US" dirty="0" smtClean="0"/>
              <a:t>在原子晶体中，不存在独立的小分子。</a:t>
            </a:r>
            <a:endParaRPr lang="en-US" altLang="zh-CN" dirty="0" smtClean="0"/>
          </a:p>
          <a:p>
            <a:pPr>
              <a:buFont typeface="Wingdings" pitchFamily="2" charset="2"/>
              <a:buChar char="Ø"/>
            </a:pPr>
            <a:r>
              <a:rPr lang="zh-CN" altLang="en-US" dirty="0" smtClean="0"/>
              <a:t>原子晶体</a:t>
            </a:r>
            <a:r>
              <a:rPr lang="zh-CN" altLang="en-US" b="1" u="sng" dirty="0" smtClean="0">
                <a:solidFill>
                  <a:schemeClr val="bg1"/>
                </a:solidFill>
              </a:rPr>
              <a:t>一般</a:t>
            </a:r>
            <a:r>
              <a:rPr lang="zh-CN" altLang="en-US" dirty="0" smtClean="0"/>
              <a:t>具有</a:t>
            </a:r>
            <a:endParaRPr lang="en-US" altLang="zh-CN" dirty="0" smtClean="0"/>
          </a:p>
          <a:p>
            <a:pPr lvl="1">
              <a:buFont typeface="Wingdings" pitchFamily="2" charset="2"/>
              <a:buChar char="Ø"/>
            </a:pPr>
            <a:r>
              <a:rPr lang="zh-CN" altLang="en-US" dirty="0" smtClean="0"/>
              <a:t>高熔点、高沸点</a:t>
            </a:r>
            <a:endParaRPr lang="en-US" altLang="zh-CN" dirty="0" smtClean="0"/>
          </a:p>
          <a:p>
            <a:pPr lvl="1">
              <a:buFont typeface="Wingdings" pitchFamily="2" charset="2"/>
              <a:buChar char="Ø"/>
            </a:pPr>
            <a:r>
              <a:rPr lang="zh-CN" altLang="en-US" dirty="0" smtClean="0"/>
              <a:t>硬度大</a:t>
            </a:r>
            <a:endParaRPr lang="en-US" altLang="zh-CN" dirty="0" smtClean="0"/>
          </a:p>
          <a:p>
            <a:pPr lvl="1">
              <a:buFont typeface="Wingdings" pitchFamily="2" charset="2"/>
              <a:buChar char="Ø"/>
            </a:pPr>
            <a:r>
              <a:rPr lang="zh-CN" altLang="en-US" dirty="0" smtClean="0"/>
              <a:t>不导电</a:t>
            </a:r>
            <a:endParaRPr lang="en-US" altLang="zh-CN" dirty="0" smtClean="0"/>
          </a:p>
          <a:p>
            <a:pPr lvl="1">
              <a:buFont typeface="Wingdings" pitchFamily="2" charset="2"/>
              <a:buChar char="Ø"/>
            </a:pPr>
            <a:r>
              <a:rPr lang="zh-CN" altLang="en-US" dirty="0" smtClean="0"/>
              <a:t>化学性质稳定</a:t>
            </a:r>
            <a:endParaRPr lang="en-US" altLang="zh-CN" dirty="0" smtClean="0"/>
          </a:p>
          <a:p>
            <a:pPr lvl="1">
              <a:buFont typeface="Wingdings" pitchFamily="2" charset="2"/>
              <a:buChar char="Ø"/>
            </a:pPr>
            <a:endParaRPr lang="en-US" altLang="zh-CN" dirty="0" smtClean="0"/>
          </a:p>
          <a:p>
            <a:pPr lvl="1">
              <a:buFont typeface="Wingdings" pitchFamily="2" charset="2"/>
              <a:buChar char="Ø"/>
            </a:pPr>
            <a:endParaRPr lang="en-US" dirty="0"/>
          </a:p>
        </p:txBody>
      </p:sp>
      <p:pic>
        <p:nvPicPr>
          <p:cNvPr id="1026" name="Picture 2" descr="C:\Users\user\Desktop\3.jpg"/>
          <p:cNvPicPr>
            <a:picLocks noChangeAspect="1" noChangeArrowheads="1"/>
          </p:cNvPicPr>
          <p:nvPr/>
        </p:nvPicPr>
        <p:blipFill>
          <a:blip r:embed="rId2"/>
          <a:srcRect/>
          <a:stretch>
            <a:fillRect/>
          </a:stretch>
        </p:blipFill>
        <p:spPr bwMode="auto">
          <a:xfrm>
            <a:off x="4343400" y="990600"/>
            <a:ext cx="4638675" cy="5562600"/>
          </a:xfrm>
          <a:prstGeom prst="rect">
            <a:avLst/>
          </a:prstGeom>
          <a:noFill/>
        </p:spPr>
      </p:pic>
      <p:pic>
        <p:nvPicPr>
          <p:cNvPr id="1027" name="Picture 3" descr="C:\Users\user\Desktop\1.GIF"/>
          <p:cNvPicPr>
            <a:picLocks noChangeAspect="1" noChangeArrowheads="1"/>
          </p:cNvPicPr>
          <p:nvPr/>
        </p:nvPicPr>
        <p:blipFill>
          <a:blip r:embed="rId3"/>
          <a:srcRect/>
          <a:stretch>
            <a:fillRect/>
          </a:stretch>
        </p:blipFill>
        <p:spPr bwMode="auto">
          <a:xfrm>
            <a:off x="228600" y="990600"/>
            <a:ext cx="4419600" cy="495156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27"/>
                                        </p:tgtEl>
                                        <p:attrNameLst>
                                          <p:attrName>style.visibility</p:attrName>
                                        </p:attrNameLst>
                                      </p:cBhvr>
                                      <p:to>
                                        <p:strVal val="visible"/>
                                      </p:to>
                                    </p:set>
                                    <p:anim calcmode="lin" valueType="num">
                                      <p:cBhvr additive="base">
                                        <p:cTn id="19" dur="500" fill="hold"/>
                                        <p:tgtEl>
                                          <p:spTgt spid="1027"/>
                                        </p:tgtEl>
                                        <p:attrNameLst>
                                          <p:attrName>ppt_x</p:attrName>
                                        </p:attrNameLst>
                                      </p:cBhvr>
                                      <p:tavLst>
                                        <p:tav tm="0">
                                          <p:val>
                                            <p:strVal val="#ppt_x"/>
                                          </p:val>
                                        </p:tav>
                                        <p:tav tm="100000">
                                          <p:val>
                                            <p:strVal val="#ppt_x"/>
                                          </p:val>
                                        </p:tav>
                                      </p:tavLst>
                                    </p:anim>
                                    <p:anim calcmode="lin" valueType="num">
                                      <p:cBhvr additive="base">
                                        <p:cTn id="20"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nodeType="clickEffect">
                                  <p:stCondLst>
                                    <p:cond delay="0"/>
                                  </p:stCondLst>
                                  <p:childTnLst>
                                    <p:anim calcmode="lin" valueType="num">
                                      <p:cBhvr additive="base">
                                        <p:cTn id="24" dur="500"/>
                                        <p:tgtEl>
                                          <p:spTgt spid="1027"/>
                                        </p:tgtEl>
                                        <p:attrNameLst>
                                          <p:attrName>ppt_x</p:attrName>
                                        </p:attrNameLst>
                                      </p:cBhvr>
                                      <p:tavLst>
                                        <p:tav tm="0">
                                          <p:val>
                                            <p:strVal val="ppt_x"/>
                                          </p:val>
                                        </p:tav>
                                        <p:tav tm="100000">
                                          <p:val>
                                            <p:strVal val="ppt_x"/>
                                          </p:val>
                                        </p:tav>
                                      </p:tavLst>
                                    </p:anim>
                                    <p:anim calcmode="lin" valueType="num">
                                      <p:cBhvr additive="base">
                                        <p:cTn id="25" dur="500"/>
                                        <p:tgtEl>
                                          <p:spTgt spid="1027"/>
                                        </p:tgtEl>
                                        <p:attrNameLst>
                                          <p:attrName>ppt_y</p:attrName>
                                        </p:attrNameLst>
                                      </p:cBhvr>
                                      <p:tavLst>
                                        <p:tav tm="0">
                                          <p:val>
                                            <p:strVal val="ppt_y"/>
                                          </p:val>
                                        </p:tav>
                                        <p:tav tm="100000">
                                          <p:val>
                                            <p:strVal val="1+ppt_h/2"/>
                                          </p:val>
                                        </p:tav>
                                      </p:tavLst>
                                    </p:anim>
                                    <p:set>
                                      <p:cBhvr>
                                        <p:cTn id="26" dur="1" fill="hold">
                                          <p:stCondLst>
                                            <p:cond delay="499"/>
                                          </p:stCondLst>
                                        </p:cTn>
                                        <p:tgtEl>
                                          <p:spTgt spid="102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26"/>
                                        </p:tgtEl>
                                        <p:attrNameLst>
                                          <p:attrName>style.visibility</p:attrName>
                                        </p:attrNameLst>
                                      </p:cBhvr>
                                      <p:to>
                                        <p:strVal val="visible"/>
                                      </p:to>
                                    </p:set>
                                    <p:anim calcmode="lin" valueType="num">
                                      <p:cBhvr additive="base">
                                        <p:cTn id="37" dur="500" fill="hold"/>
                                        <p:tgtEl>
                                          <p:spTgt spid="1026"/>
                                        </p:tgtEl>
                                        <p:attrNameLst>
                                          <p:attrName>ppt_x</p:attrName>
                                        </p:attrNameLst>
                                      </p:cBhvr>
                                      <p:tavLst>
                                        <p:tav tm="0">
                                          <p:val>
                                            <p:strVal val="#ppt_x"/>
                                          </p:val>
                                        </p:tav>
                                        <p:tav tm="100000">
                                          <p:val>
                                            <p:strVal val="#ppt_x"/>
                                          </p:val>
                                        </p:tav>
                                      </p:tavLst>
                                    </p:anim>
                                    <p:anim calcmode="lin" valueType="num">
                                      <p:cBhvr additive="base">
                                        <p:cTn id="3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nodeType="clickEffect">
                                  <p:stCondLst>
                                    <p:cond delay="0"/>
                                  </p:stCondLst>
                                  <p:childTnLst>
                                    <p:anim calcmode="lin" valueType="num">
                                      <p:cBhvr additive="base">
                                        <p:cTn id="42" dur="500"/>
                                        <p:tgtEl>
                                          <p:spTgt spid="1026"/>
                                        </p:tgtEl>
                                        <p:attrNameLst>
                                          <p:attrName>ppt_x</p:attrName>
                                        </p:attrNameLst>
                                      </p:cBhvr>
                                      <p:tavLst>
                                        <p:tav tm="0">
                                          <p:val>
                                            <p:strVal val="ppt_x"/>
                                          </p:val>
                                        </p:tav>
                                        <p:tav tm="100000">
                                          <p:val>
                                            <p:strVal val="ppt_x"/>
                                          </p:val>
                                        </p:tav>
                                      </p:tavLst>
                                    </p:anim>
                                    <p:anim calcmode="lin" valueType="num">
                                      <p:cBhvr additive="base">
                                        <p:cTn id="43" dur="500"/>
                                        <p:tgtEl>
                                          <p:spTgt spid="1026"/>
                                        </p:tgtEl>
                                        <p:attrNameLst>
                                          <p:attrName>ppt_y</p:attrName>
                                        </p:attrNameLst>
                                      </p:cBhvr>
                                      <p:tavLst>
                                        <p:tav tm="0">
                                          <p:val>
                                            <p:strVal val="ppt_y"/>
                                          </p:val>
                                        </p:tav>
                                        <p:tav tm="100000">
                                          <p:val>
                                            <p:strVal val="1+ppt_h/2"/>
                                          </p:val>
                                        </p:tav>
                                      </p:tavLst>
                                    </p:anim>
                                    <p:set>
                                      <p:cBhvr>
                                        <p:cTn id="44" dur="1" fill="hold">
                                          <p:stCondLst>
                                            <p:cond delay="499"/>
                                          </p:stCondLst>
                                        </p:cTn>
                                        <p:tgtEl>
                                          <p:spTgt spid="102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 calcmode="lin" valueType="num">
                                      <p:cBhvr additive="base">
                                        <p:cTn id="4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additive="base">
                                        <p:cTn id="5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5" end="5"/>
                                            </p:txEl>
                                          </p:spTgt>
                                        </p:tgtEl>
                                        <p:attrNameLst>
                                          <p:attrName>style.visibility</p:attrName>
                                        </p:attrNameLst>
                                      </p:cBhvr>
                                      <p:to>
                                        <p:strVal val="visible"/>
                                      </p:to>
                                    </p:set>
                                    <p:anim calcmode="lin" valueType="num">
                                      <p:cBhvr additive="base">
                                        <p:cTn id="6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6" end="6"/>
                                            </p:txEl>
                                          </p:spTgt>
                                        </p:tgtEl>
                                        <p:attrNameLst>
                                          <p:attrName>style.visibility</p:attrName>
                                        </p:attrNameLst>
                                      </p:cBhvr>
                                      <p:to>
                                        <p:strVal val="visible"/>
                                      </p:to>
                                    </p:set>
                                    <p:anim calcmode="lin" valueType="num">
                                      <p:cBhvr additive="base">
                                        <p:cTn id="6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7" end="7"/>
                                            </p:txEl>
                                          </p:spTgt>
                                        </p:tgtEl>
                                        <p:attrNameLst>
                                          <p:attrName>style.visibility</p:attrName>
                                        </p:attrNameLst>
                                      </p:cBhvr>
                                      <p:to>
                                        <p:strVal val="visible"/>
                                      </p:to>
                                    </p:set>
                                    <p:anim calcmode="lin" valueType="num">
                                      <p:cBhvr additive="base">
                                        <p:cTn id="7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solidFill>
                  <a:schemeClr val="bg1"/>
                </a:solidFill>
              </a:rPr>
              <a:t>7.</a:t>
            </a:r>
            <a:r>
              <a:rPr lang="en-US" altLang="zh-CN" sz="4800" dirty="0" smtClean="0">
                <a:solidFill>
                  <a:schemeClr val="bg1"/>
                </a:solidFill>
              </a:rPr>
              <a:t>3.3</a:t>
            </a:r>
            <a:r>
              <a:rPr lang="en-US" sz="4800" dirty="0" smtClean="0">
                <a:solidFill>
                  <a:schemeClr val="bg1"/>
                </a:solidFill>
              </a:rPr>
              <a:t> </a:t>
            </a:r>
            <a:r>
              <a:rPr lang="zh-CN" altLang="en-US" sz="4800" dirty="0" smtClean="0">
                <a:solidFill>
                  <a:schemeClr val="bg1"/>
                </a:solidFill>
              </a:rPr>
              <a:t>分子晶体</a:t>
            </a:r>
            <a:endParaRPr lang="en-MY" sz="4800" dirty="0">
              <a:solidFill>
                <a:schemeClr val="bg1"/>
              </a:solidFill>
            </a:endParaRPr>
          </a:p>
        </p:txBody>
      </p:sp>
      <p:sp>
        <p:nvSpPr>
          <p:cNvPr id="3" name="Content Placeholder 2"/>
          <p:cNvSpPr>
            <a:spLocks noGrp="1"/>
          </p:cNvSpPr>
          <p:nvPr>
            <p:ph idx="1"/>
          </p:nvPr>
        </p:nvSpPr>
        <p:spPr>
          <a:xfrm>
            <a:off x="457200" y="1219200"/>
            <a:ext cx="8239944" cy="5181600"/>
          </a:xfrm>
        </p:spPr>
        <p:txBody>
          <a:bodyPr>
            <a:noAutofit/>
          </a:bodyPr>
          <a:lstStyle/>
          <a:p>
            <a:pPr>
              <a:buFont typeface="Wingdings" pitchFamily="2" charset="2"/>
              <a:buChar char="Ø"/>
            </a:pPr>
            <a:r>
              <a:rPr lang="zh-CN" altLang="en-US" dirty="0" smtClean="0"/>
              <a:t>分子通过</a:t>
            </a:r>
            <a:r>
              <a:rPr lang="zh-CN" altLang="en-US" b="1" dirty="0" smtClean="0">
                <a:solidFill>
                  <a:srgbClr val="002060"/>
                </a:solidFill>
                <a:effectLst>
                  <a:outerShdw blurRad="38100" dist="38100" dir="2700000" algn="tl">
                    <a:srgbClr val="000000">
                      <a:alpha val="43137"/>
                    </a:srgbClr>
                  </a:outerShdw>
                </a:effectLst>
              </a:rPr>
              <a:t>分子间作用</a:t>
            </a:r>
            <a:r>
              <a:rPr lang="zh-CN" altLang="en-US" dirty="0" smtClean="0"/>
              <a:t>力互相吸引，有规律的排列形成的固态物质。</a:t>
            </a:r>
            <a:endParaRPr lang="en-US" altLang="zh-CN" dirty="0" smtClean="0"/>
          </a:p>
          <a:p>
            <a:pPr>
              <a:buFont typeface="Wingdings" pitchFamily="2" charset="2"/>
              <a:buChar char="Ø"/>
            </a:pPr>
            <a:r>
              <a:rPr lang="zh-CN" altLang="en-US" dirty="0" smtClean="0"/>
              <a:t>分子晶体</a:t>
            </a:r>
            <a:r>
              <a:rPr lang="zh-CN" altLang="en-US" b="1" dirty="0" smtClean="0">
                <a:solidFill>
                  <a:srgbClr val="002060"/>
                </a:solidFill>
                <a:effectLst>
                  <a:outerShdw blurRad="38100" dist="38100" dir="2700000" algn="tl">
                    <a:srgbClr val="000000">
                      <a:alpha val="43137"/>
                    </a:srgbClr>
                  </a:outerShdw>
                </a:effectLst>
              </a:rPr>
              <a:t>熔点沸点低、硬度小</a:t>
            </a:r>
            <a:r>
              <a:rPr lang="zh-CN" altLang="en-US" dirty="0" smtClean="0"/>
              <a:t>。</a:t>
            </a:r>
            <a:endParaRPr lang="en-US" altLang="zh-CN" dirty="0" smtClean="0"/>
          </a:p>
          <a:p>
            <a:pPr>
              <a:buFont typeface="Wingdings" pitchFamily="2" charset="2"/>
              <a:buChar char="Ø"/>
            </a:pPr>
            <a:r>
              <a:rPr lang="zh-CN" altLang="en-US" dirty="0" smtClean="0"/>
              <a:t>在固态和熔融状态</a:t>
            </a:r>
            <a:r>
              <a:rPr lang="zh-CN" altLang="en-US" b="1" dirty="0" smtClean="0">
                <a:solidFill>
                  <a:srgbClr val="002060"/>
                </a:solidFill>
                <a:effectLst>
                  <a:outerShdw blurRad="38100" dist="38100" dir="2700000" algn="tl">
                    <a:srgbClr val="000000">
                      <a:alpha val="43137"/>
                    </a:srgbClr>
                  </a:outerShdw>
                </a:effectLst>
              </a:rPr>
              <a:t>不导电</a:t>
            </a:r>
            <a:r>
              <a:rPr lang="zh-CN" altLang="en-US" dirty="0" smtClean="0"/>
              <a:t>。</a:t>
            </a:r>
            <a:endParaRPr lang="en-US" altLang="zh-CN" dirty="0" smtClean="0"/>
          </a:p>
          <a:p>
            <a:pPr>
              <a:buFont typeface="Wingdings" pitchFamily="2" charset="2"/>
              <a:buChar char="Ø"/>
            </a:pPr>
            <a:r>
              <a:rPr lang="zh-CN" altLang="en-US" dirty="0" smtClean="0"/>
              <a:t>为什么在常温下只有少部分的分子晶体是以固体的形式存在？</a:t>
            </a:r>
            <a:endParaRPr lang="en-US" altLang="zh-CN" dirty="0" smtClean="0"/>
          </a:p>
          <a:p>
            <a:r>
              <a:rPr lang="zh-CN" altLang="en-US" dirty="0" smtClean="0"/>
              <a:t>分子组成的物质以分子间的作用力相互吸引形成晶体，而分子间的作用力比化学键弱得多，因此熔点低，所以少部分在常温下是固体。</a:t>
            </a:r>
            <a:endParaRPr lang="en-MY" dirty="0"/>
          </a:p>
        </p:txBody>
      </p:sp>
    </p:spTree>
    <p:extLst>
      <p:ext uri="{BB962C8B-B14F-4D97-AF65-F5344CB8AC3E}">
        <p14:creationId xmlns="" xmlns:p14="http://schemas.microsoft.com/office/powerpoint/2010/main" val="166870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问题解决</a:t>
            </a:r>
            <a:endParaRPr lang="en-US" sz="4800" dirty="0">
              <a:solidFill>
                <a:schemeClr val="bg1"/>
              </a:solidFill>
            </a:endParaRPr>
          </a:p>
        </p:txBody>
      </p:sp>
      <p:sp>
        <p:nvSpPr>
          <p:cNvPr id="3" name="Content Placeholder 2"/>
          <p:cNvSpPr>
            <a:spLocks noGrp="1"/>
          </p:cNvSpPr>
          <p:nvPr>
            <p:ph idx="1"/>
          </p:nvPr>
        </p:nvSpPr>
        <p:spPr>
          <a:xfrm>
            <a:off x="457200" y="1325562"/>
            <a:ext cx="8229600" cy="5151438"/>
          </a:xfrm>
        </p:spPr>
        <p:txBody>
          <a:bodyPr>
            <a:normAutofit/>
          </a:bodyPr>
          <a:lstStyle/>
          <a:p>
            <a:pPr marL="514350" indent="-514350">
              <a:buAutoNum type="arabicPeriod"/>
            </a:pPr>
            <a:r>
              <a:rPr lang="en-US" altLang="zh-CN" dirty="0" smtClean="0"/>
              <a:t>F</a:t>
            </a:r>
            <a:r>
              <a:rPr lang="en-US" altLang="zh-CN" baseline="-25000" dirty="0" smtClean="0"/>
              <a:t>2</a:t>
            </a:r>
            <a:r>
              <a:rPr lang="en-US" altLang="zh-CN" dirty="0" smtClean="0"/>
              <a:t> </a:t>
            </a:r>
            <a:r>
              <a:rPr lang="zh-CN" altLang="en-US" dirty="0" smtClean="0"/>
              <a:t>、</a:t>
            </a:r>
            <a:r>
              <a:rPr lang="en-US" altLang="zh-CN" dirty="0" smtClean="0"/>
              <a:t>Cl</a:t>
            </a:r>
            <a:r>
              <a:rPr lang="en-US" altLang="zh-CN" baseline="-25000" dirty="0" smtClean="0"/>
              <a:t>2</a:t>
            </a:r>
            <a:r>
              <a:rPr lang="en-US" altLang="zh-CN" dirty="0" smtClean="0"/>
              <a:t> </a:t>
            </a:r>
            <a:r>
              <a:rPr lang="zh-CN" altLang="en-US" dirty="0" smtClean="0"/>
              <a:t>、</a:t>
            </a:r>
            <a:r>
              <a:rPr lang="en-US" altLang="zh-CN" dirty="0" smtClean="0"/>
              <a:t> Br</a:t>
            </a:r>
            <a:r>
              <a:rPr lang="en-US" altLang="zh-CN" baseline="-25000" dirty="0" smtClean="0"/>
              <a:t>2</a:t>
            </a:r>
            <a:r>
              <a:rPr lang="en-US" altLang="zh-CN" dirty="0" smtClean="0"/>
              <a:t> </a:t>
            </a:r>
            <a:r>
              <a:rPr lang="zh-CN" altLang="en-US" dirty="0" smtClean="0"/>
              <a:t>、</a:t>
            </a:r>
            <a:r>
              <a:rPr lang="en-US" altLang="zh-CN" dirty="0" smtClean="0"/>
              <a:t>I</a:t>
            </a:r>
            <a:r>
              <a:rPr lang="en-US" altLang="zh-CN" baseline="-25000" dirty="0" smtClean="0"/>
              <a:t>2</a:t>
            </a:r>
            <a:r>
              <a:rPr lang="en-US" altLang="zh-CN" dirty="0" smtClean="0"/>
              <a:t> </a:t>
            </a:r>
            <a:r>
              <a:rPr lang="zh-CN" altLang="en-US" dirty="0" smtClean="0"/>
              <a:t>的式量逐渐增大，分子间的范德华力逐渐增强，因此熔点沸点逐渐升高。</a:t>
            </a:r>
            <a:endParaRPr lang="en-US" altLang="zh-CN" dirty="0" smtClean="0"/>
          </a:p>
          <a:p>
            <a:pPr marL="514350" indent="-514350">
              <a:buNone/>
            </a:pPr>
            <a:r>
              <a:rPr lang="en-US" altLang="zh-CN" dirty="0" smtClean="0"/>
              <a:t>	</a:t>
            </a:r>
            <a:r>
              <a:rPr lang="zh-CN" altLang="en-US" dirty="0" smtClean="0"/>
              <a:t>分子晶体的物理性质受分子间作用力影响。</a:t>
            </a:r>
            <a:endParaRPr lang="en-US" altLang="zh-CN" dirty="0" smtClean="0"/>
          </a:p>
          <a:p>
            <a:pPr marL="514350" indent="-514350">
              <a:buNone/>
            </a:pPr>
            <a:r>
              <a:rPr lang="en-US" altLang="zh-CN" dirty="0" smtClean="0"/>
              <a:t>2. </a:t>
            </a:r>
            <a:r>
              <a:rPr lang="zh-CN" altLang="en-US" dirty="0" smtClean="0"/>
              <a:t>水分子间除了有范德华力还有氢键因此需消耗较多的能量才能使冰融化，所以其熔点比其他分子晶体高。</a:t>
            </a:r>
            <a:endParaRPr lang="en-US" altLang="zh-CN" dirty="0" smtClean="0"/>
          </a:p>
          <a:p>
            <a:pPr marL="514350" indent="-514350">
              <a:buNone/>
            </a:pPr>
            <a:r>
              <a:rPr lang="en-US" altLang="zh-CN" dirty="0" smtClean="0"/>
              <a:t>3. 	</a:t>
            </a:r>
            <a:r>
              <a:rPr lang="zh-CN" altLang="en-US" dirty="0" smtClean="0"/>
              <a:t>原子晶体熔点沸点高，硬度大。</a:t>
            </a:r>
            <a:endParaRPr lang="en-US" altLang="zh-CN" dirty="0" smtClean="0"/>
          </a:p>
          <a:p>
            <a:pPr marL="514350" indent="-514350">
              <a:buNone/>
            </a:pPr>
            <a:r>
              <a:rPr lang="en-US" altLang="zh-CN" dirty="0" smtClean="0"/>
              <a:t>	</a:t>
            </a:r>
            <a:r>
              <a:rPr lang="zh-CN" altLang="en-US" dirty="0" smtClean="0"/>
              <a:t>分子晶体熔点沸点低，一般硬度小。</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800" dirty="0" smtClean="0">
                <a:solidFill>
                  <a:schemeClr val="bg1"/>
                </a:solidFill>
              </a:rPr>
              <a:t>7.</a:t>
            </a:r>
            <a:r>
              <a:rPr lang="en-US" altLang="zh-CN" sz="4800" dirty="0" smtClean="0">
                <a:solidFill>
                  <a:schemeClr val="bg1"/>
                </a:solidFill>
              </a:rPr>
              <a:t>3.4</a:t>
            </a:r>
            <a:r>
              <a:rPr lang="en-US" sz="4800" dirty="0" smtClean="0">
                <a:solidFill>
                  <a:schemeClr val="bg1"/>
                </a:solidFill>
              </a:rPr>
              <a:t> </a:t>
            </a:r>
            <a:r>
              <a:rPr lang="zh-CN" altLang="en-US" sz="4800" dirty="0" smtClean="0">
                <a:solidFill>
                  <a:schemeClr val="bg1"/>
                </a:solidFill>
              </a:rPr>
              <a:t>金属晶体</a:t>
            </a:r>
            <a:endParaRPr lang="en-MY" sz="4800" dirty="0">
              <a:solidFill>
                <a:schemeClr val="bg1"/>
              </a:solidFill>
            </a:endParaRPr>
          </a:p>
        </p:txBody>
      </p:sp>
      <p:sp>
        <p:nvSpPr>
          <p:cNvPr id="3" name="Content Placeholder 2"/>
          <p:cNvSpPr>
            <a:spLocks noGrp="1"/>
          </p:cNvSpPr>
          <p:nvPr>
            <p:ph idx="1"/>
          </p:nvPr>
        </p:nvSpPr>
        <p:spPr>
          <a:xfrm>
            <a:off x="457200" y="990600"/>
            <a:ext cx="8239944" cy="5638800"/>
          </a:xfrm>
        </p:spPr>
        <p:txBody>
          <a:bodyPr>
            <a:noAutofit/>
          </a:bodyPr>
          <a:lstStyle/>
          <a:p>
            <a:pPr>
              <a:buFont typeface="Wingdings" pitchFamily="2" charset="2"/>
              <a:buChar char="Ø"/>
            </a:pPr>
            <a:r>
              <a:rPr lang="zh-CN" altLang="en-US" dirty="0" smtClean="0"/>
              <a:t>金属原子之间通过</a:t>
            </a:r>
            <a:r>
              <a:rPr lang="zh-CN" altLang="en-US" b="1" dirty="0" smtClean="0">
                <a:solidFill>
                  <a:srgbClr val="002060"/>
                </a:solidFill>
                <a:effectLst>
                  <a:outerShdw blurRad="38100" dist="38100" dir="2700000" algn="tl">
                    <a:srgbClr val="000000">
                      <a:alpha val="43137"/>
                    </a:srgbClr>
                  </a:outerShdw>
                </a:effectLst>
              </a:rPr>
              <a:t>金属键</a:t>
            </a:r>
            <a:r>
              <a:rPr lang="zh-CN" altLang="en-US" dirty="0" smtClean="0"/>
              <a:t>紧密堆积成金属晶体。</a:t>
            </a:r>
            <a:endParaRPr lang="en-US" altLang="zh-CN" dirty="0" smtClean="0"/>
          </a:p>
          <a:p>
            <a:pPr>
              <a:buFont typeface="Wingdings" pitchFamily="2" charset="2"/>
              <a:buChar char="Ø"/>
            </a:pPr>
            <a:r>
              <a:rPr lang="zh-CN" altLang="en-US" dirty="0" smtClean="0"/>
              <a:t>金属键越</a:t>
            </a:r>
            <a:r>
              <a:rPr lang="zh-CN" altLang="en-US" b="1" dirty="0" smtClean="0">
                <a:solidFill>
                  <a:srgbClr val="002060"/>
                </a:solidFill>
                <a:effectLst>
                  <a:outerShdw blurRad="38100" dist="38100" dir="2700000" algn="tl">
                    <a:srgbClr val="000000">
                      <a:alpha val="43137"/>
                    </a:srgbClr>
                  </a:outerShdw>
                </a:effectLst>
              </a:rPr>
              <a:t>强</a:t>
            </a:r>
            <a:r>
              <a:rPr lang="zh-CN" altLang="en-US" dirty="0" smtClean="0"/>
              <a:t>，熔点沸点越</a:t>
            </a:r>
            <a:r>
              <a:rPr lang="zh-CN" altLang="en-US" b="1" dirty="0" smtClean="0">
                <a:solidFill>
                  <a:srgbClr val="002060"/>
                </a:solidFill>
                <a:effectLst>
                  <a:outerShdw blurRad="38100" dist="38100" dir="2700000" algn="tl">
                    <a:srgbClr val="000000">
                      <a:alpha val="43137"/>
                    </a:srgbClr>
                  </a:outerShdw>
                </a:effectLst>
              </a:rPr>
              <a:t>高</a:t>
            </a:r>
            <a:r>
              <a:rPr lang="zh-CN" altLang="en-US" dirty="0" smtClean="0"/>
              <a:t>、硬度越</a:t>
            </a:r>
            <a:r>
              <a:rPr lang="zh-CN" altLang="en-US" b="1" dirty="0" smtClean="0">
                <a:solidFill>
                  <a:srgbClr val="002060"/>
                </a:solidFill>
                <a:effectLst>
                  <a:outerShdw blurRad="38100" dist="38100" dir="2700000" algn="tl">
                    <a:srgbClr val="000000">
                      <a:alpha val="43137"/>
                    </a:srgbClr>
                  </a:outerShdw>
                </a:effectLst>
              </a:rPr>
              <a:t>大</a:t>
            </a:r>
            <a:r>
              <a:rPr lang="zh-CN" altLang="en-US" dirty="0" smtClean="0"/>
              <a:t>。</a:t>
            </a:r>
            <a:endParaRPr lang="en-US" altLang="zh-CN" dirty="0" smtClean="0"/>
          </a:p>
          <a:p>
            <a:pPr>
              <a:buFont typeface="Wingdings" pitchFamily="2" charset="2"/>
              <a:buChar char="Ø"/>
            </a:pPr>
            <a:r>
              <a:rPr lang="zh-CN" altLang="en-US" dirty="0" smtClean="0"/>
              <a:t>影响金属键的因素：</a:t>
            </a:r>
            <a:endParaRPr lang="en-US" altLang="zh-CN" dirty="0" smtClean="0"/>
          </a:p>
          <a:p>
            <a:pPr lvl="1">
              <a:buFont typeface="Wingdings" pitchFamily="2" charset="2"/>
              <a:buChar char="Ø"/>
            </a:pPr>
            <a:r>
              <a:rPr lang="zh-CN" altLang="en-US" dirty="0" smtClean="0"/>
              <a:t>金属原子半径</a:t>
            </a:r>
            <a:endParaRPr lang="en-US" altLang="zh-CN" dirty="0" smtClean="0"/>
          </a:p>
          <a:p>
            <a:pPr lvl="1">
              <a:buFont typeface="Wingdings" pitchFamily="2" charset="2"/>
              <a:buChar char="Ø"/>
            </a:pPr>
            <a:r>
              <a:rPr lang="zh-CN" altLang="en-US" dirty="0" smtClean="0"/>
              <a:t>单位体积内自由电子数</a:t>
            </a:r>
            <a:endParaRPr lang="en-US" altLang="zh-CN" dirty="0" smtClean="0"/>
          </a:p>
          <a:p>
            <a:pPr>
              <a:buFont typeface="Wingdings" pitchFamily="2" charset="2"/>
              <a:buChar char="Ø"/>
            </a:pPr>
            <a:r>
              <a:rPr lang="zh-CN" altLang="en-US" dirty="0" smtClean="0"/>
              <a:t>在元素周期表中，</a:t>
            </a:r>
            <a:r>
              <a:rPr lang="zh-CN" altLang="en-US" b="1" dirty="0" smtClean="0">
                <a:solidFill>
                  <a:srgbClr val="C00000"/>
                </a:solidFill>
                <a:effectLst>
                  <a:outerShdw blurRad="38100" dist="38100" dir="2700000" algn="tl">
                    <a:srgbClr val="000000">
                      <a:alpha val="43137"/>
                    </a:srgbClr>
                  </a:outerShdw>
                </a:effectLst>
              </a:rPr>
              <a:t>往左、往下：</a:t>
            </a:r>
            <a:endParaRPr lang="en-US" altLang="zh-CN" b="1" dirty="0" smtClean="0">
              <a:solidFill>
                <a:srgbClr val="C00000"/>
              </a:solidFill>
              <a:effectLst>
                <a:outerShdw blurRad="38100" dist="38100" dir="2700000" algn="tl">
                  <a:srgbClr val="000000">
                    <a:alpha val="43137"/>
                  </a:srgbClr>
                </a:outerShdw>
              </a:effectLst>
            </a:endParaRPr>
          </a:p>
          <a:p>
            <a:pPr>
              <a:buNone/>
            </a:pPr>
            <a:r>
              <a:rPr lang="en-US" altLang="zh-CN" b="1" dirty="0" smtClean="0">
                <a:solidFill>
                  <a:srgbClr val="C00000"/>
                </a:solidFill>
                <a:effectLst>
                  <a:outerShdw blurRad="38100" dist="38100" dir="2700000" algn="tl">
                    <a:srgbClr val="000000">
                      <a:alpha val="43137"/>
                    </a:srgbClr>
                  </a:outerShdw>
                </a:effectLst>
              </a:rPr>
              <a:t>	</a:t>
            </a:r>
            <a:r>
              <a:rPr lang="zh-CN" altLang="en-US" dirty="0" smtClean="0"/>
              <a:t>原子半径逐渐</a:t>
            </a:r>
            <a:r>
              <a:rPr lang="zh-CN" altLang="en-US" b="1" dirty="0" smtClean="0">
                <a:solidFill>
                  <a:srgbClr val="002060"/>
                </a:solidFill>
                <a:effectLst>
                  <a:outerShdw blurRad="38100" dist="38100" dir="2700000" algn="tl">
                    <a:srgbClr val="000000">
                      <a:alpha val="43137"/>
                    </a:srgbClr>
                  </a:outerShdw>
                </a:effectLst>
              </a:rPr>
              <a:t>增大</a:t>
            </a:r>
            <a:r>
              <a:rPr lang="zh-CN" altLang="en-US" dirty="0" smtClean="0"/>
              <a:t>、单位体积内自由电子</a:t>
            </a:r>
            <a:r>
              <a:rPr lang="zh-CN" altLang="en-US" b="1" dirty="0" smtClean="0">
                <a:solidFill>
                  <a:srgbClr val="002060"/>
                </a:solidFill>
                <a:effectLst>
                  <a:outerShdw blurRad="38100" dist="38100" dir="2700000" algn="tl">
                    <a:srgbClr val="000000">
                      <a:alpha val="43137"/>
                    </a:srgbClr>
                  </a:outerShdw>
                </a:effectLst>
              </a:rPr>
              <a:t>减少</a:t>
            </a:r>
            <a:r>
              <a:rPr lang="zh-CN" altLang="en-US" dirty="0" smtClean="0"/>
              <a:t>，</a:t>
            </a:r>
            <a:endParaRPr lang="en-US" altLang="zh-CN" dirty="0" smtClean="0"/>
          </a:p>
          <a:p>
            <a:pPr>
              <a:buNone/>
            </a:pPr>
            <a:r>
              <a:rPr lang="en-US" altLang="zh-CN" dirty="0" smtClean="0"/>
              <a:t>	</a:t>
            </a:r>
            <a:r>
              <a:rPr lang="zh-CN" altLang="en-US" dirty="0" smtClean="0"/>
              <a:t>金属键</a:t>
            </a:r>
            <a:r>
              <a:rPr lang="zh-CN" altLang="en-US" b="1" dirty="0" smtClean="0">
                <a:solidFill>
                  <a:srgbClr val="002060"/>
                </a:solidFill>
                <a:effectLst>
                  <a:outerShdw blurRad="38100" dist="38100" dir="2700000" algn="tl">
                    <a:srgbClr val="000000">
                      <a:alpha val="43137"/>
                    </a:srgbClr>
                  </a:outerShdw>
                </a:effectLst>
              </a:rPr>
              <a:t>减弱</a:t>
            </a:r>
            <a:r>
              <a:rPr lang="zh-CN" altLang="en-US" dirty="0" smtClean="0"/>
              <a:t>，熔点沸点</a:t>
            </a:r>
            <a:r>
              <a:rPr lang="zh-CN" altLang="en-US" b="1" dirty="0" smtClean="0">
                <a:solidFill>
                  <a:srgbClr val="002060"/>
                </a:solidFill>
                <a:effectLst>
                  <a:outerShdw blurRad="38100" dist="38100" dir="2700000" algn="tl">
                    <a:srgbClr val="000000">
                      <a:alpha val="43137"/>
                    </a:srgbClr>
                  </a:outerShdw>
                </a:effectLst>
              </a:rPr>
              <a:t>降低</a:t>
            </a:r>
            <a:r>
              <a:rPr lang="zh-CN" altLang="en-US" dirty="0" smtClean="0"/>
              <a:t>、硬度</a:t>
            </a:r>
            <a:r>
              <a:rPr lang="zh-CN" altLang="en-US" b="1" dirty="0" smtClean="0">
                <a:solidFill>
                  <a:srgbClr val="002060"/>
                </a:solidFill>
                <a:effectLst>
                  <a:outerShdw blurRad="38100" dist="38100" dir="2700000" algn="tl">
                    <a:srgbClr val="000000">
                      <a:alpha val="43137"/>
                    </a:srgbClr>
                  </a:outerShdw>
                </a:effectLst>
              </a:rPr>
              <a:t>减小</a:t>
            </a:r>
            <a:r>
              <a:rPr lang="zh-CN" altLang="en-US" dirty="0" smtClean="0"/>
              <a:t>。</a:t>
            </a:r>
            <a:endParaRPr lang="en-US" altLang="zh-CN" dirty="0" smtClean="0">
              <a:solidFill>
                <a:srgbClr val="C00000"/>
              </a:solidFill>
            </a:endParaRPr>
          </a:p>
          <a:p>
            <a:pPr lvl="1">
              <a:buNone/>
            </a:pPr>
            <a:endParaRPr lang="en-US" altLang="zh-CN" dirty="0" smtClean="0"/>
          </a:p>
        </p:txBody>
      </p:sp>
    </p:spTree>
    <p:extLst>
      <p:ext uri="{BB962C8B-B14F-4D97-AF65-F5344CB8AC3E}">
        <p14:creationId xmlns="" xmlns:p14="http://schemas.microsoft.com/office/powerpoint/2010/main" val="166870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802442" cy="1143000"/>
          </a:xfrm>
        </p:spPr>
        <p:txBody>
          <a:bodyPr>
            <a:normAutofit/>
          </a:bodyPr>
          <a:lstStyle/>
          <a:p>
            <a:r>
              <a:rPr lang="zh-CN" altLang="en-US" sz="3200" b="1" dirty="0"/>
              <a:t>判</a:t>
            </a:r>
            <a:r>
              <a:rPr lang="zh-CN" altLang="en-US" sz="3200" b="1" dirty="0" smtClean="0"/>
              <a:t>断下列物质的晶体类型</a:t>
            </a:r>
            <a:endParaRPr lang="en-MY" sz="3200" b="1"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2288413465"/>
              </p:ext>
            </p:extLst>
          </p:nvPr>
        </p:nvGraphicFramePr>
        <p:xfrm>
          <a:off x="457200" y="1600200"/>
          <a:ext cx="8229600" cy="4632960"/>
        </p:xfrm>
        <a:graphic>
          <a:graphicData uri="http://schemas.openxmlformats.org/drawingml/2006/table">
            <a:tbl>
              <a:tblPr firstRow="1" bandRow="1">
                <a:tableStyleId>{C4B1156A-380E-4F78-BDF5-A606A8083BF9}</a:tableStyleId>
              </a:tblPr>
              <a:tblGrid>
                <a:gridCol w="2057400"/>
                <a:gridCol w="2057400"/>
                <a:gridCol w="2057400"/>
                <a:gridCol w="2057400"/>
              </a:tblGrid>
              <a:tr h="370840">
                <a:tc>
                  <a:txBody>
                    <a:bodyPr/>
                    <a:lstStyle/>
                    <a:p>
                      <a:r>
                        <a:rPr lang="en-US" sz="3200" b="1" dirty="0" smtClean="0"/>
                        <a:t>CO</a:t>
                      </a:r>
                      <a:r>
                        <a:rPr lang="en-US" sz="3200" b="1" baseline="-25000" dirty="0" smtClean="0"/>
                        <a:t>2</a:t>
                      </a:r>
                      <a:r>
                        <a:rPr lang="en-US" sz="3200" b="1" baseline="0" dirty="0" smtClean="0"/>
                        <a:t> (s)</a:t>
                      </a:r>
                      <a:endParaRPr lang="en-MY" sz="3200" b="1" dirty="0"/>
                    </a:p>
                  </a:txBody>
                  <a:tcPr/>
                </a:tc>
                <a:tc>
                  <a:txBody>
                    <a:bodyPr/>
                    <a:lstStyle/>
                    <a:p>
                      <a:r>
                        <a:rPr lang="zh-CN" altLang="en-US" sz="3200" b="1" dirty="0" smtClean="0"/>
                        <a:t>分子晶体</a:t>
                      </a:r>
                      <a:endParaRPr lang="en-MY" sz="3200" b="1" dirty="0"/>
                    </a:p>
                  </a:txBody>
                  <a:tcPr/>
                </a:tc>
                <a:tc>
                  <a:txBody>
                    <a:bodyPr/>
                    <a:lstStyle/>
                    <a:p>
                      <a:r>
                        <a:rPr lang="en-US" altLang="zh-CN" sz="3200" b="1" dirty="0" smtClean="0"/>
                        <a:t>Ne(s)</a:t>
                      </a:r>
                      <a:endParaRPr lang="en-MY" sz="3200" b="1" dirty="0"/>
                    </a:p>
                  </a:txBody>
                  <a:tcPr/>
                </a:tc>
                <a:tc>
                  <a:txBody>
                    <a:bodyPr/>
                    <a:lstStyle/>
                    <a:p>
                      <a:r>
                        <a:rPr lang="zh-CN" altLang="en-US" sz="3200" b="1" dirty="0" smtClean="0"/>
                        <a:t>分子晶体</a:t>
                      </a:r>
                      <a:endParaRPr lang="en-MY" sz="3200" b="1" dirty="0"/>
                    </a:p>
                  </a:txBody>
                  <a:tcPr/>
                </a:tc>
              </a:tr>
              <a:tr h="370840">
                <a:tc>
                  <a:txBody>
                    <a:bodyPr/>
                    <a:lstStyle/>
                    <a:p>
                      <a:r>
                        <a:rPr lang="en-US" sz="3200" b="1" dirty="0" smtClean="0"/>
                        <a:t>Fe</a:t>
                      </a:r>
                      <a:endParaRPr lang="en-MY" sz="3200" b="1" dirty="0"/>
                    </a:p>
                  </a:txBody>
                  <a:tcPr/>
                </a:tc>
                <a:tc>
                  <a:txBody>
                    <a:bodyPr/>
                    <a:lstStyle/>
                    <a:p>
                      <a:r>
                        <a:rPr lang="zh-CN" altLang="en-US" sz="3200" b="1" dirty="0" smtClean="0"/>
                        <a:t>金属晶体</a:t>
                      </a:r>
                      <a:endParaRPr lang="en-MY" sz="3200" b="1" dirty="0"/>
                    </a:p>
                  </a:txBody>
                  <a:tcPr/>
                </a:tc>
                <a:tc>
                  <a:txBody>
                    <a:bodyPr/>
                    <a:lstStyle/>
                    <a:p>
                      <a:r>
                        <a:rPr lang="zh-CN" altLang="en-US" sz="3200" b="1" dirty="0" smtClean="0"/>
                        <a:t>冰</a:t>
                      </a:r>
                      <a:endParaRPr lang="en-MY" sz="3200" b="1" dirty="0"/>
                    </a:p>
                  </a:txBody>
                  <a:tcPr/>
                </a:tc>
                <a:tc>
                  <a:txBody>
                    <a:bodyPr/>
                    <a:lstStyle/>
                    <a:p>
                      <a:r>
                        <a:rPr lang="zh-CN" altLang="en-US" sz="3200" b="1" dirty="0" smtClean="0"/>
                        <a:t>分子晶体</a:t>
                      </a:r>
                      <a:endParaRPr lang="en-MY" sz="3200" b="1" dirty="0"/>
                    </a:p>
                  </a:txBody>
                  <a:tcPr/>
                </a:tc>
              </a:tr>
              <a:tr h="370840">
                <a:tc>
                  <a:txBody>
                    <a:bodyPr/>
                    <a:lstStyle/>
                    <a:p>
                      <a:r>
                        <a:rPr lang="en-US" sz="3200" b="1" dirty="0" smtClean="0"/>
                        <a:t>AlCl</a:t>
                      </a:r>
                      <a:r>
                        <a:rPr lang="en-US" sz="3200" b="1" baseline="-25000" dirty="0" smtClean="0"/>
                        <a:t>3</a:t>
                      </a:r>
                      <a:endParaRPr lang="en-MY" sz="3200" b="1" dirty="0"/>
                    </a:p>
                  </a:txBody>
                  <a:tcPr/>
                </a:tc>
                <a:tc>
                  <a:txBody>
                    <a:bodyPr/>
                    <a:lstStyle/>
                    <a:p>
                      <a:r>
                        <a:rPr lang="zh-CN" altLang="en-US" sz="3200" b="1" dirty="0" smtClean="0"/>
                        <a:t>分子晶体</a:t>
                      </a:r>
                      <a:endParaRPr lang="en-MY" sz="3200" b="1" dirty="0"/>
                    </a:p>
                  </a:txBody>
                  <a:tcPr/>
                </a:tc>
                <a:tc>
                  <a:txBody>
                    <a:bodyPr/>
                    <a:lstStyle/>
                    <a:p>
                      <a:r>
                        <a:rPr lang="en-US" altLang="zh-CN" sz="3200" b="1" dirty="0" smtClean="0"/>
                        <a:t>Al</a:t>
                      </a:r>
                      <a:endParaRPr lang="en-MY" sz="3200" b="1" dirty="0"/>
                    </a:p>
                  </a:txBody>
                  <a:tcPr/>
                </a:tc>
                <a:tc>
                  <a:txBody>
                    <a:bodyPr/>
                    <a:lstStyle/>
                    <a:p>
                      <a:r>
                        <a:rPr lang="zh-CN" altLang="en-US" sz="3200" b="1" dirty="0" smtClean="0"/>
                        <a:t>金属晶体</a:t>
                      </a:r>
                      <a:endParaRPr lang="en-MY" sz="3200" b="1" dirty="0"/>
                    </a:p>
                  </a:txBody>
                  <a:tcPr/>
                </a:tc>
              </a:tr>
              <a:tr h="370840">
                <a:tc>
                  <a:txBody>
                    <a:bodyPr/>
                    <a:lstStyle/>
                    <a:p>
                      <a:r>
                        <a:rPr lang="en-US" altLang="zh-CN" sz="3200" b="1" dirty="0" smtClean="0"/>
                        <a:t>NH</a:t>
                      </a:r>
                      <a:r>
                        <a:rPr lang="en-US" altLang="zh-CN" sz="3200" b="1" baseline="-25000" dirty="0" smtClean="0"/>
                        <a:t>3</a:t>
                      </a:r>
                      <a:r>
                        <a:rPr lang="en-US" altLang="zh-CN" sz="3200" b="1" baseline="0" dirty="0" smtClean="0"/>
                        <a:t> (s)</a:t>
                      </a:r>
                      <a:endParaRPr lang="en-MY" sz="3200" b="1" dirty="0"/>
                    </a:p>
                  </a:txBody>
                  <a:tcPr/>
                </a:tc>
                <a:tc>
                  <a:txBody>
                    <a:bodyPr/>
                    <a:lstStyle/>
                    <a:p>
                      <a:r>
                        <a:rPr lang="zh-CN" altLang="en-US" sz="3200" b="1" dirty="0" smtClean="0"/>
                        <a:t>分子晶体</a:t>
                      </a:r>
                      <a:endParaRPr lang="en-MY" sz="3200" b="1" dirty="0"/>
                    </a:p>
                  </a:txBody>
                  <a:tcPr/>
                </a:tc>
                <a:tc>
                  <a:txBody>
                    <a:bodyPr/>
                    <a:lstStyle/>
                    <a:p>
                      <a:r>
                        <a:rPr lang="en-US" altLang="zh-CN" sz="3200" b="1" dirty="0" smtClean="0"/>
                        <a:t>SiO</a:t>
                      </a:r>
                      <a:r>
                        <a:rPr lang="en-US" altLang="zh-CN" sz="2400" b="1" dirty="0" smtClean="0"/>
                        <a:t>2</a:t>
                      </a:r>
                      <a:r>
                        <a:rPr lang="zh-CN" altLang="en-US" sz="2400" b="1" dirty="0" smtClean="0"/>
                        <a:t>（石英）</a:t>
                      </a:r>
                      <a:endParaRPr lang="en-MY" sz="2400" b="1" dirty="0"/>
                    </a:p>
                  </a:txBody>
                  <a:tcPr/>
                </a:tc>
                <a:tc>
                  <a:txBody>
                    <a:bodyPr/>
                    <a:lstStyle/>
                    <a:p>
                      <a:r>
                        <a:rPr lang="zh-CN" altLang="en-US" sz="3200" b="1" dirty="0" smtClean="0"/>
                        <a:t>原子晶体</a:t>
                      </a:r>
                      <a:endParaRPr lang="en-MY" sz="3200" b="1" dirty="0"/>
                    </a:p>
                  </a:txBody>
                  <a:tcPr/>
                </a:tc>
              </a:tr>
              <a:tr h="370840">
                <a:tc>
                  <a:txBody>
                    <a:bodyPr/>
                    <a:lstStyle/>
                    <a:p>
                      <a:r>
                        <a:rPr lang="zh-CN" altLang="en-US" sz="3200" b="1" dirty="0" smtClean="0"/>
                        <a:t>碘</a:t>
                      </a:r>
                      <a:endParaRPr lang="en-MY" sz="3200" b="1" dirty="0"/>
                    </a:p>
                  </a:txBody>
                  <a:tcPr/>
                </a:tc>
                <a:tc>
                  <a:txBody>
                    <a:bodyPr/>
                    <a:lstStyle/>
                    <a:p>
                      <a:r>
                        <a:rPr lang="zh-CN" altLang="en-US" sz="3200" b="1" dirty="0" smtClean="0"/>
                        <a:t>分子晶体</a:t>
                      </a:r>
                      <a:endParaRPr lang="en-MY" sz="3200" b="1" dirty="0"/>
                    </a:p>
                  </a:txBody>
                  <a:tcPr/>
                </a:tc>
                <a:tc>
                  <a:txBody>
                    <a:bodyPr/>
                    <a:lstStyle/>
                    <a:p>
                      <a:r>
                        <a:rPr lang="en-US" altLang="zh-CN" sz="3200" b="1" dirty="0" err="1" smtClean="0"/>
                        <a:t>KBr</a:t>
                      </a:r>
                      <a:endParaRPr lang="en-MY" sz="3200" b="1" dirty="0"/>
                    </a:p>
                  </a:txBody>
                  <a:tcPr/>
                </a:tc>
                <a:tc>
                  <a:txBody>
                    <a:bodyPr/>
                    <a:lstStyle/>
                    <a:p>
                      <a:r>
                        <a:rPr lang="zh-CN" altLang="en-US" sz="3200" b="1" dirty="0" smtClean="0"/>
                        <a:t>离子晶体</a:t>
                      </a:r>
                      <a:endParaRPr lang="en-MY" sz="3200" b="1" dirty="0"/>
                    </a:p>
                  </a:txBody>
                  <a:tcPr/>
                </a:tc>
              </a:tr>
              <a:tr h="370840">
                <a:tc>
                  <a:txBody>
                    <a:bodyPr/>
                    <a:lstStyle/>
                    <a:p>
                      <a:r>
                        <a:rPr lang="en-US" altLang="zh-CN" sz="3200" b="1" dirty="0" smtClean="0"/>
                        <a:t>MgCl</a:t>
                      </a:r>
                      <a:r>
                        <a:rPr lang="en-US" altLang="zh-CN" sz="3200" b="1" baseline="-25000" dirty="0" smtClean="0"/>
                        <a:t>2</a:t>
                      </a:r>
                      <a:endParaRPr lang="en-MY" sz="3200" b="1" dirty="0"/>
                    </a:p>
                  </a:txBody>
                  <a:tcPr/>
                </a:tc>
                <a:tc>
                  <a:txBody>
                    <a:bodyPr/>
                    <a:lstStyle/>
                    <a:p>
                      <a:r>
                        <a:rPr lang="zh-CN" altLang="en-US" sz="3200" b="1" dirty="0" smtClean="0"/>
                        <a:t>离子晶体</a:t>
                      </a:r>
                      <a:endParaRPr lang="en-MY" sz="3200" b="1" dirty="0"/>
                    </a:p>
                  </a:txBody>
                  <a:tcPr/>
                </a:tc>
                <a:tc>
                  <a:txBody>
                    <a:bodyPr/>
                    <a:lstStyle/>
                    <a:p>
                      <a:r>
                        <a:rPr lang="en-US" altLang="zh-CN" sz="3200" b="1" dirty="0" err="1" smtClean="0"/>
                        <a:t>NaOH</a:t>
                      </a:r>
                      <a:endParaRPr lang="en-MY" sz="3200" b="1" dirty="0"/>
                    </a:p>
                  </a:txBody>
                  <a:tcPr/>
                </a:tc>
                <a:tc>
                  <a:txBody>
                    <a:bodyPr/>
                    <a:lstStyle/>
                    <a:p>
                      <a:r>
                        <a:rPr lang="zh-CN" altLang="en-US" sz="3200" b="1" dirty="0" smtClean="0"/>
                        <a:t>离子晶体</a:t>
                      </a:r>
                      <a:endParaRPr lang="en-MY" sz="3200" b="1" dirty="0"/>
                    </a:p>
                  </a:txBody>
                  <a:tcPr/>
                </a:tc>
              </a:tr>
              <a:tr h="370840">
                <a:tc>
                  <a:txBody>
                    <a:bodyPr/>
                    <a:lstStyle/>
                    <a:p>
                      <a:r>
                        <a:rPr lang="en-US" altLang="zh-CN" sz="3200" b="1" dirty="0" smtClean="0"/>
                        <a:t>Na</a:t>
                      </a:r>
                      <a:r>
                        <a:rPr lang="en-US" altLang="zh-CN" sz="3200" b="1" baseline="-25000" dirty="0" smtClean="0"/>
                        <a:t>2</a:t>
                      </a:r>
                      <a:r>
                        <a:rPr lang="en-US" altLang="zh-CN" sz="3200" b="1" baseline="0" dirty="0" smtClean="0"/>
                        <a:t>O</a:t>
                      </a:r>
                      <a:endParaRPr lang="en-MY" sz="3200" b="1" dirty="0"/>
                    </a:p>
                  </a:txBody>
                  <a:tcPr/>
                </a:tc>
                <a:tc>
                  <a:txBody>
                    <a:bodyPr/>
                    <a:lstStyle/>
                    <a:p>
                      <a:r>
                        <a:rPr lang="zh-CN" altLang="en-US" sz="3200" b="1" dirty="0" smtClean="0"/>
                        <a:t>离子晶体</a:t>
                      </a:r>
                      <a:endParaRPr lang="en-MY" sz="3200" b="1" dirty="0"/>
                    </a:p>
                  </a:txBody>
                  <a:tcPr/>
                </a:tc>
                <a:tc>
                  <a:txBody>
                    <a:bodyPr/>
                    <a:lstStyle/>
                    <a:p>
                      <a:r>
                        <a:rPr lang="en-US" altLang="zh-CN" sz="3200" b="1" dirty="0" smtClean="0"/>
                        <a:t>Al</a:t>
                      </a:r>
                      <a:r>
                        <a:rPr lang="en-US" altLang="zh-CN" sz="2000" b="1" dirty="0" smtClean="0"/>
                        <a:t>2</a:t>
                      </a:r>
                      <a:r>
                        <a:rPr lang="en-US" altLang="zh-CN" sz="3200" b="1" dirty="0" smtClean="0"/>
                        <a:t>O</a:t>
                      </a:r>
                      <a:r>
                        <a:rPr lang="en-US" altLang="zh-CN" sz="2400" b="1" dirty="0" smtClean="0"/>
                        <a:t>3</a:t>
                      </a:r>
                      <a:endParaRPr lang="en-MY" sz="2400" b="1" dirty="0"/>
                    </a:p>
                  </a:txBody>
                  <a:tcPr/>
                </a:tc>
                <a:tc>
                  <a:txBody>
                    <a:bodyPr/>
                    <a:lstStyle/>
                    <a:p>
                      <a:r>
                        <a:rPr lang="zh-CN" altLang="en-US" sz="3200" b="1" dirty="0" smtClean="0"/>
                        <a:t>离子晶体</a:t>
                      </a:r>
                      <a:endParaRPr lang="en-MY" sz="3200" b="1" dirty="0"/>
                    </a:p>
                  </a:txBody>
                  <a:tcPr/>
                </a:tc>
              </a:tr>
              <a:tr h="370840">
                <a:tc>
                  <a:txBody>
                    <a:bodyPr/>
                    <a:lstStyle/>
                    <a:p>
                      <a:r>
                        <a:rPr lang="en-US" altLang="zh-CN" sz="3200" b="1" dirty="0" smtClean="0"/>
                        <a:t>Ag</a:t>
                      </a:r>
                      <a:endParaRPr lang="en-MY" sz="3200" b="1" dirty="0"/>
                    </a:p>
                  </a:txBody>
                  <a:tcPr/>
                </a:tc>
                <a:tc>
                  <a:txBody>
                    <a:bodyPr/>
                    <a:lstStyle/>
                    <a:p>
                      <a:r>
                        <a:rPr lang="zh-CN" altLang="en-US" sz="3200" b="1" dirty="0" smtClean="0"/>
                        <a:t>金属晶体</a:t>
                      </a:r>
                      <a:endParaRPr lang="en-MY" sz="3200" b="1" dirty="0"/>
                    </a:p>
                  </a:txBody>
                  <a:tcPr/>
                </a:tc>
                <a:tc>
                  <a:txBody>
                    <a:bodyPr/>
                    <a:lstStyle/>
                    <a:p>
                      <a:r>
                        <a:rPr lang="zh-CN" altLang="en-US" sz="3200" b="1" dirty="0" smtClean="0"/>
                        <a:t>钻石</a:t>
                      </a:r>
                      <a:endParaRPr lang="en-MY" sz="3200" b="1" dirty="0"/>
                    </a:p>
                  </a:txBody>
                  <a:tcPr/>
                </a:tc>
                <a:tc>
                  <a:txBody>
                    <a:bodyPr/>
                    <a:lstStyle/>
                    <a:p>
                      <a:r>
                        <a:rPr lang="zh-CN" altLang="en-US" sz="3200" b="1" dirty="0" smtClean="0"/>
                        <a:t>原子晶体</a:t>
                      </a:r>
                      <a:endParaRPr lang="en-MY" sz="3200" b="1" dirty="0"/>
                    </a:p>
                  </a:txBody>
                  <a:tcPr/>
                </a:tc>
              </a:tr>
            </a:tbl>
          </a:graphicData>
        </a:graphic>
      </p:graphicFrame>
      <p:sp>
        <p:nvSpPr>
          <p:cNvPr id="5" name="Rounded Rectangle 4"/>
          <p:cNvSpPr/>
          <p:nvPr/>
        </p:nvSpPr>
        <p:spPr>
          <a:xfrm>
            <a:off x="2590800" y="2209800"/>
            <a:ext cx="1905000" cy="5334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2590800" y="1676400"/>
            <a:ext cx="1905000" cy="4572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2590800" y="2819400"/>
            <a:ext cx="1905000" cy="4572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2590800" y="3352800"/>
            <a:ext cx="1905000" cy="5334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590800" y="3962400"/>
            <a:ext cx="1905000" cy="4572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590800" y="4572000"/>
            <a:ext cx="1905000" cy="4572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2590800" y="5105400"/>
            <a:ext cx="1905000" cy="4572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2590800" y="5715000"/>
            <a:ext cx="1905000" cy="4572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6705600" y="1676400"/>
            <a:ext cx="1905000" cy="4572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6705600" y="2209800"/>
            <a:ext cx="1905000" cy="4572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6705600" y="2819400"/>
            <a:ext cx="1905000" cy="4572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6705600" y="3429000"/>
            <a:ext cx="1905000" cy="4572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6705600" y="3962400"/>
            <a:ext cx="1905000" cy="4572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6705600" y="4572000"/>
            <a:ext cx="1905000" cy="4572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6705600" y="5105400"/>
            <a:ext cx="1905000" cy="457200"/>
          </a:xfrm>
          <a:prstGeom prst="round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p:nvSpPr>
        <p:spPr>
          <a:xfrm>
            <a:off x="6705600" y="5715000"/>
            <a:ext cx="1905000" cy="457200"/>
          </a:xfrm>
          <a:prstGeom prst="roundRect">
            <a:avLst/>
          </a:prstGeom>
          <a:solidFill>
            <a:schemeClr val="tx1">
              <a:lumMod val="85000"/>
            </a:schemeClr>
          </a:solidFill>
          <a:ln>
            <a:solidFill>
              <a:srgbClr val="D4D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01561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5"/>
                                        </p:tgtEl>
                                        <p:attrNameLst>
                                          <p:attrName>ppt_x</p:attrName>
                                        </p:attrNameLst>
                                      </p:cBhvr>
                                      <p:tavLst>
                                        <p:tav tm="0">
                                          <p:val>
                                            <p:strVal val="ppt_x"/>
                                          </p:val>
                                        </p:tav>
                                        <p:tav tm="100000">
                                          <p:val>
                                            <p:strVal val="ppt_x"/>
                                          </p:val>
                                        </p:tav>
                                      </p:tavLst>
                                    </p:anim>
                                    <p:anim calcmode="lin" valueType="num">
                                      <p:cBhvr additive="base">
                                        <p:cTn id="13" dur="500"/>
                                        <p:tgtEl>
                                          <p:spTgt spid="5"/>
                                        </p:tgtEl>
                                        <p:attrNameLst>
                                          <p:attrName>ppt_y</p:attrName>
                                        </p:attrNameLst>
                                      </p:cBhvr>
                                      <p:tavLst>
                                        <p:tav tm="0">
                                          <p:val>
                                            <p:strVal val="ppt_y"/>
                                          </p:val>
                                        </p:tav>
                                        <p:tav tm="100000">
                                          <p:val>
                                            <p:strVal val="1+ppt_h/2"/>
                                          </p:val>
                                        </p:tav>
                                      </p:tavLst>
                                    </p:anim>
                                    <p:set>
                                      <p:cBhvr>
                                        <p:cTn id="14" dur="1" fill="hold">
                                          <p:stCondLst>
                                            <p:cond delay="499"/>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7"/>
                                        </p:tgtEl>
                                        <p:attrNameLst>
                                          <p:attrName>ppt_x</p:attrName>
                                        </p:attrNameLst>
                                      </p:cBhvr>
                                      <p:tavLst>
                                        <p:tav tm="0">
                                          <p:val>
                                            <p:strVal val="ppt_x"/>
                                          </p:val>
                                        </p:tav>
                                        <p:tav tm="100000">
                                          <p:val>
                                            <p:strVal val="ppt_x"/>
                                          </p:val>
                                        </p:tav>
                                      </p:tavLst>
                                    </p:anim>
                                    <p:anim calcmode="lin" valueType="num">
                                      <p:cBhvr additive="base">
                                        <p:cTn id="19" dur="500"/>
                                        <p:tgtEl>
                                          <p:spTgt spid="7"/>
                                        </p:tgtEl>
                                        <p:attrNameLst>
                                          <p:attrName>ppt_y</p:attrName>
                                        </p:attrNameLst>
                                      </p:cBhvr>
                                      <p:tavLst>
                                        <p:tav tm="0">
                                          <p:val>
                                            <p:strVal val="ppt_y"/>
                                          </p:val>
                                        </p:tav>
                                        <p:tav tm="100000">
                                          <p:val>
                                            <p:strVal val="1+ppt_h/2"/>
                                          </p:val>
                                        </p:tav>
                                      </p:tavLst>
                                    </p:anim>
                                    <p:set>
                                      <p:cBhvr>
                                        <p:cTn id="20" dur="1" fill="hold">
                                          <p:stCondLst>
                                            <p:cond delay="499"/>
                                          </p:stCondLst>
                                        </p:cTn>
                                        <p:tgtEl>
                                          <p:spTgt spid="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8"/>
                                        </p:tgtEl>
                                        <p:attrNameLst>
                                          <p:attrName>ppt_x</p:attrName>
                                        </p:attrNameLst>
                                      </p:cBhvr>
                                      <p:tavLst>
                                        <p:tav tm="0">
                                          <p:val>
                                            <p:strVal val="ppt_x"/>
                                          </p:val>
                                        </p:tav>
                                        <p:tav tm="100000">
                                          <p:val>
                                            <p:strVal val="ppt_x"/>
                                          </p:val>
                                        </p:tav>
                                      </p:tavLst>
                                    </p:anim>
                                    <p:anim calcmode="lin" valueType="num">
                                      <p:cBhvr additive="base">
                                        <p:cTn id="25" dur="500"/>
                                        <p:tgtEl>
                                          <p:spTgt spid="8"/>
                                        </p:tgtEl>
                                        <p:attrNameLst>
                                          <p:attrName>ppt_y</p:attrName>
                                        </p:attrNameLst>
                                      </p:cBhvr>
                                      <p:tavLst>
                                        <p:tav tm="0">
                                          <p:val>
                                            <p:strVal val="ppt_y"/>
                                          </p:val>
                                        </p:tav>
                                        <p:tav tm="100000">
                                          <p:val>
                                            <p:strVal val="1+ppt_h/2"/>
                                          </p:val>
                                        </p:tav>
                                      </p:tavLst>
                                    </p:anim>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9"/>
                                        </p:tgtEl>
                                        <p:attrNameLst>
                                          <p:attrName>ppt_x</p:attrName>
                                        </p:attrNameLst>
                                      </p:cBhvr>
                                      <p:tavLst>
                                        <p:tav tm="0">
                                          <p:val>
                                            <p:strVal val="ppt_x"/>
                                          </p:val>
                                        </p:tav>
                                        <p:tav tm="100000">
                                          <p:val>
                                            <p:strVal val="ppt_x"/>
                                          </p:val>
                                        </p:tav>
                                      </p:tavLst>
                                    </p:anim>
                                    <p:anim calcmode="lin" valueType="num">
                                      <p:cBhvr additive="base">
                                        <p:cTn id="31" dur="500"/>
                                        <p:tgtEl>
                                          <p:spTgt spid="9"/>
                                        </p:tgtEl>
                                        <p:attrNameLst>
                                          <p:attrName>ppt_y</p:attrName>
                                        </p:attrNameLst>
                                      </p:cBhvr>
                                      <p:tavLst>
                                        <p:tav tm="0">
                                          <p:val>
                                            <p:strVal val="ppt_y"/>
                                          </p:val>
                                        </p:tav>
                                        <p:tav tm="100000">
                                          <p:val>
                                            <p:strVal val="1+ppt_h/2"/>
                                          </p:val>
                                        </p:tav>
                                      </p:tavLst>
                                    </p:anim>
                                    <p:set>
                                      <p:cBhvr>
                                        <p:cTn id="32" dur="1" fill="hold">
                                          <p:stCondLst>
                                            <p:cond delay="499"/>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0" nodeType="clickEffect">
                                  <p:stCondLst>
                                    <p:cond delay="0"/>
                                  </p:stCondLst>
                                  <p:childTnLst>
                                    <p:anim calcmode="lin" valueType="num">
                                      <p:cBhvr additive="base">
                                        <p:cTn id="36" dur="500"/>
                                        <p:tgtEl>
                                          <p:spTgt spid="10"/>
                                        </p:tgtEl>
                                        <p:attrNameLst>
                                          <p:attrName>ppt_x</p:attrName>
                                        </p:attrNameLst>
                                      </p:cBhvr>
                                      <p:tavLst>
                                        <p:tav tm="0">
                                          <p:val>
                                            <p:strVal val="ppt_x"/>
                                          </p:val>
                                        </p:tav>
                                        <p:tav tm="100000">
                                          <p:val>
                                            <p:strVal val="ppt_x"/>
                                          </p:val>
                                        </p:tav>
                                      </p:tavLst>
                                    </p:anim>
                                    <p:anim calcmode="lin" valueType="num">
                                      <p:cBhvr additive="base">
                                        <p:cTn id="37" dur="500"/>
                                        <p:tgtEl>
                                          <p:spTgt spid="10"/>
                                        </p:tgtEl>
                                        <p:attrNameLst>
                                          <p:attrName>ppt_y</p:attrName>
                                        </p:attrNameLst>
                                      </p:cBhvr>
                                      <p:tavLst>
                                        <p:tav tm="0">
                                          <p:val>
                                            <p:strVal val="ppt_y"/>
                                          </p:val>
                                        </p:tav>
                                        <p:tav tm="100000">
                                          <p:val>
                                            <p:strVal val="1+ppt_h/2"/>
                                          </p:val>
                                        </p:tav>
                                      </p:tavLst>
                                    </p:anim>
                                    <p:set>
                                      <p:cBhvr>
                                        <p:cTn id="38" dur="1" fill="hold">
                                          <p:stCondLst>
                                            <p:cond delay="499"/>
                                          </p:stCondLst>
                                        </p:cTn>
                                        <p:tgtEl>
                                          <p:spTgt spid="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additive="base">
                                        <p:cTn id="42" dur="500"/>
                                        <p:tgtEl>
                                          <p:spTgt spid="11"/>
                                        </p:tgtEl>
                                        <p:attrNameLst>
                                          <p:attrName>ppt_x</p:attrName>
                                        </p:attrNameLst>
                                      </p:cBhvr>
                                      <p:tavLst>
                                        <p:tav tm="0">
                                          <p:val>
                                            <p:strVal val="ppt_x"/>
                                          </p:val>
                                        </p:tav>
                                        <p:tav tm="100000">
                                          <p:val>
                                            <p:strVal val="ppt_x"/>
                                          </p:val>
                                        </p:tav>
                                      </p:tavLst>
                                    </p:anim>
                                    <p:anim calcmode="lin" valueType="num">
                                      <p:cBhvr additive="base">
                                        <p:cTn id="43" dur="500"/>
                                        <p:tgtEl>
                                          <p:spTgt spid="11"/>
                                        </p:tgtEl>
                                        <p:attrNameLst>
                                          <p:attrName>ppt_y</p:attrName>
                                        </p:attrNameLst>
                                      </p:cBhvr>
                                      <p:tavLst>
                                        <p:tav tm="0">
                                          <p:val>
                                            <p:strVal val="ppt_y"/>
                                          </p:val>
                                        </p:tav>
                                        <p:tav tm="100000">
                                          <p:val>
                                            <p:strVal val="1+ppt_h/2"/>
                                          </p:val>
                                        </p:tav>
                                      </p:tavLst>
                                    </p:anim>
                                    <p:set>
                                      <p:cBhvr>
                                        <p:cTn id="44" dur="1" fill="hold">
                                          <p:stCondLst>
                                            <p:cond delay="499"/>
                                          </p:stCondLst>
                                        </p:cTn>
                                        <p:tgtEl>
                                          <p:spTgt spid="1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0" nodeType="clickEffect">
                                  <p:stCondLst>
                                    <p:cond delay="0"/>
                                  </p:stCondLst>
                                  <p:childTnLst>
                                    <p:anim calcmode="lin" valueType="num">
                                      <p:cBhvr additive="base">
                                        <p:cTn id="48" dur="500"/>
                                        <p:tgtEl>
                                          <p:spTgt spid="12"/>
                                        </p:tgtEl>
                                        <p:attrNameLst>
                                          <p:attrName>ppt_x</p:attrName>
                                        </p:attrNameLst>
                                      </p:cBhvr>
                                      <p:tavLst>
                                        <p:tav tm="0">
                                          <p:val>
                                            <p:strVal val="ppt_x"/>
                                          </p:val>
                                        </p:tav>
                                        <p:tav tm="100000">
                                          <p:val>
                                            <p:strVal val="ppt_x"/>
                                          </p:val>
                                        </p:tav>
                                      </p:tavLst>
                                    </p:anim>
                                    <p:anim calcmode="lin" valueType="num">
                                      <p:cBhvr additive="base">
                                        <p:cTn id="49" dur="500"/>
                                        <p:tgtEl>
                                          <p:spTgt spid="12"/>
                                        </p:tgtEl>
                                        <p:attrNameLst>
                                          <p:attrName>ppt_y</p:attrName>
                                        </p:attrNameLst>
                                      </p:cBhvr>
                                      <p:tavLst>
                                        <p:tav tm="0">
                                          <p:val>
                                            <p:strVal val="ppt_y"/>
                                          </p:val>
                                        </p:tav>
                                        <p:tav tm="100000">
                                          <p:val>
                                            <p:strVal val="1+ppt_h/2"/>
                                          </p:val>
                                        </p:tav>
                                      </p:tavLst>
                                    </p:anim>
                                    <p:set>
                                      <p:cBhvr>
                                        <p:cTn id="50" dur="1" fill="hold">
                                          <p:stCondLst>
                                            <p:cond delay="499"/>
                                          </p:stCondLst>
                                        </p:cTn>
                                        <p:tgtEl>
                                          <p:spTgt spid="12"/>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xit" presetSubtype="4" fill="hold" grpId="0" nodeType="clickEffect">
                                  <p:stCondLst>
                                    <p:cond delay="0"/>
                                  </p:stCondLst>
                                  <p:childTnLst>
                                    <p:anim calcmode="lin" valueType="num">
                                      <p:cBhvr additive="base">
                                        <p:cTn id="54" dur="500"/>
                                        <p:tgtEl>
                                          <p:spTgt spid="13"/>
                                        </p:tgtEl>
                                        <p:attrNameLst>
                                          <p:attrName>ppt_x</p:attrName>
                                        </p:attrNameLst>
                                      </p:cBhvr>
                                      <p:tavLst>
                                        <p:tav tm="0">
                                          <p:val>
                                            <p:strVal val="ppt_x"/>
                                          </p:val>
                                        </p:tav>
                                        <p:tav tm="100000">
                                          <p:val>
                                            <p:strVal val="ppt_x"/>
                                          </p:val>
                                        </p:tav>
                                      </p:tavLst>
                                    </p:anim>
                                    <p:anim calcmode="lin" valueType="num">
                                      <p:cBhvr additive="base">
                                        <p:cTn id="55" dur="500"/>
                                        <p:tgtEl>
                                          <p:spTgt spid="13"/>
                                        </p:tgtEl>
                                        <p:attrNameLst>
                                          <p:attrName>ppt_y</p:attrName>
                                        </p:attrNameLst>
                                      </p:cBhvr>
                                      <p:tavLst>
                                        <p:tav tm="0">
                                          <p:val>
                                            <p:strVal val="ppt_y"/>
                                          </p:val>
                                        </p:tav>
                                        <p:tav tm="100000">
                                          <p:val>
                                            <p:strVal val="1+ppt_h/2"/>
                                          </p:val>
                                        </p:tav>
                                      </p:tavLst>
                                    </p:anim>
                                    <p:set>
                                      <p:cBhvr>
                                        <p:cTn id="56" dur="1" fill="hold">
                                          <p:stCondLst>
                                            <p:cond delay="499"/>
                                          </p:stCondLst>
                                        </p:cTn>
                                        <p:tgtEl>
                                          <p:spTgt spid="13"/>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0" nodeType="clickEffect">
                                  <p:stCondLst>
                                    <p:cond delay="0"/>
                                  </p:stCondLst>
                                  <p:childTnLst>
                                    <p:anim calcmode="lin" valueType="num">
                                      <p:cBhvr additive="base">
                                        <p:cTn id="60" dur="500"/>
                                        <p:tgtEl>
                                          <p:spTgt spid="14"/>
                                        </p:tgtEl>
                                        <p:attrNameLst>
                                          <p:attrName>ppt_x</p:attrName>
                                        </p:attrNameLst>
                                      </p:cBhvr>
                                      <p:tavLst>
                                        <p:tav tm="0">
                                          <p:val>
                                            <p:strVal val="ppt_x"/>
                                          </p:val>
                                        </p:tav>
                                        <p:tav tm="100000">
                                          <p:val>
                                            <p:strVal val="ppt_x"/>
                                          </p:val>
                                        </p:tav>
                                      </p:tavLst>
                                    </p:anim>
                                    <p:anim calcmode="lin" valueType="num">
                                      <p:cBhvr additive="base">
                                        <p:cTn id="61" dur="500"/>
                                        <p:tgtEl>
                                          <p:spTgt spid="14"/>
                                        </p:tgtEl>
                                        <p:attrNameLst>
                                          <p:attrName>ppt_y</p:attrName>
                                        </p:attrNameLst>
                                      </p:cBhvr>
                                      <p:tavLst>
                                        <p:tav tm="0">
                                          <p:val>
                                            <p:strVal val="ppt_y"/>
                                          </p:val>
                                        </p:tav>
                                        <p:tav tm="100000">
                                          <p:val>
                                            <p:strVal val="1+ppt_h/2"/>
                                          </p:val>
                                        </p:tav>
                                      </p:tavLst>
                                    </p:anim>
                                    <p:set>
                                      <p:cBhvr>
                                        <p:cTn id="62" dur="1" fill="hold">
                                          <p:stCondLst>
                                            <p:cond delay="499"/>
                                          </p:stCondLst>
                                        </p:cTn>
                                        <p:tgtEl>
                                          <p:spTgt spid="1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xit" presetSubtype="4" fill="hold" grpId="0" nodeType="clickEffect">
                                  <p:stCondLst>
                                    <p:cond delay="0"/>
                                  </p:stCondLst>
                                  <p:childTnLst>
                                    <p:anim calcmode="lin" valueType="num">
                                      <p:cBhvr additive="base">
                                        <p:cTn id="66" dur="500"/>
                                        <p:tgtEl>
                                          <p:spTgt spid="15"/>
                                        </p:tgtEl>
                                        <p:attrNameLst>
                                          <p:attrName>ppt_x</p:attrName>
                                        </p:attrNameLst>
                                      </p:cBhvr>
                                      <p:tavLst>
                                        <p:tav tm="0">
                                          <p:val>
                                            <p:strVal val="ppt_x"/>
                                          </p:val>
                                        </p:tav>
                                        <p:tav tm="100000">
                                          <p:val>
                                            <p:strVal val="ppt_x"/>
                                          </p:val>
                                        </p:tav>
                                      </p:tavLst>
                                    </p:anim>
                                    <p:anim calcmode="lin" valueType="num">
                                      <p:cBhvr additive="base">
                                        <p:cTn id="67" dur="500"/>
                                        <p:tgtEl>
                                          <p:spTgt spid="15"/>
                                        </p:tgtEl>
                                        <p:attrNameLst>
                                          <p:attrName>ppt_y</p:attrName>
                                        </p:attrNameLst>
                                      </p:cBhvr>
                                      <p:tavLst>
                                        <p:tav tm="0">
                                          <p:val>
                                            <p:strVal val="ppt_y"/>
                                          </p:val>
                                        </p:tav>
                                        <p:tav tm="100000">
                                          <p:val>
                                            <p:strVal val="1+ppt_h/2"/>
                                          </p:val>
                                        </p:tav>
                                      </p:tavLst>
                                    </p:anim>
                                    <p:set>
                                      <p:cBhvr>
                                        <p:cTn id="68" dur="1" fill="hold">
                                          <p:stCondLst>
                                            <p:cond delay="499"/>
                                          </p:stCondLst>
                                        </p:cTn>
                                        <p:tgtEl>
                                          <p:spTgt spid="15"/>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0" nodeType="clickEffect">
                                  <p:stCondLst>
                                    <p:cond delay="0"/>
                                  </p:stCondLst>
                                  <p:childTnLst>
                                    <p:anim calcmode="lin" valueType="num">
                                      <p:cBhvr additive="base">
                                        <p:cTn id="72" dur="500"/>
                                        <p:tgtEl>
                                          <p:spTgt spid="16"/>
                                        </p:tgtEl>
                                        <p:attrNameLst>
                                          <p:attrName>ppt_x</p:attrName>
                                        </p:attrNameLst>
                                      </p:cBhvr>
                                      <p:tavLst>
                                        <p:tav tm="0">
                                          <p:val>
                                            <p:strVal val="ppt_x"/>
                                          </p:val>
                                        </p:tav>
                                        <p:tav tm="100000">
                                          <p:val>
                                            <p:strVal val="ppt_x"/>
                                          </p:val>
                                        </p:tav>
                                      </p:tavLst>
                                    </p:anim>
                                    <p:anim calcmode="lin" valueType="num">
                                      <p:cBhvr additive="base">
                                        <p:cTn id="73" dur="500"/>
                                        <p:tgtEl>
                                          <p:spTgt spid="16"/>
                                        </p:tgtEl>
                                        <p:attrNameLst>
                                          <p:attrName>ppt_y</p:attrName>
                                        </p:attrNameLst>
                                      </p:cBhvr>
                                      <p:tavLst>
                                        <p:tav tm="0">
                                          <p:val>
                                            <p:strVal val="ppt_y"/>
                                          </p:val>
                                        </p:tav>
                                        <p:tav tm="100000">
                                          <p:val>
                                            <p:strVal val="1+ppt_h/2"/>
                                          </p:val>
                                        </p:tav>
                                      </p:tavLst>
                                    </p:anim>
                                    <p:set>
                                      <p:cBhvr>
                                        <p:cTn id="74" dur="1" fill="hold">
                                          <p:stCondLst>
                                            <p:cond delay="499"/>
                                          </p:stCondLst>
                                        </p:cTn>
                                        <p:tgtEl>
                                          <p:spTgt spid="16"/>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 presetClass="exit" presetSubtype="4" fill="hold" grpId="0" nodeType="clickEffect">
                                  <p:stCondLst>
                                    <p:cond delay="0"/>
                                  </p:stCondLst>
                                  <p:childTnLst>
                                    <p:anim calcmode="lin" valueType="num">
                                      <p:cBhvr additive="base">
                                        <p:cTn id="78" dur="500"/>
                                        <p:tgtEl>
                                          <p:spTgt spid="17"/>
                                        </p:tgtEl>
                                        <p:attrNameLst>
                                          <p:attrName>ppt_x</p:attrName>
                                        </p:attrNameLst>
                                      </p:cBhvr>
                                      <p:tavLst>
                                        <p:tav tm="0">
                                          <p:val>
                                            <p:strVal val="ppt_x"/>
                                          </p:val>
                                        </p:tav>
                                        <p:tav tm="100000">
                                          <p:val>
                                            <p:strVal val="ppt_x"/>
                                          </p:val>
                                        </p:tav>
                                      </p:tavLst>
                                    </p:anim>
                                    <p:anim calcmode="lin" valueType="num">
                                      <p:cBhvr additive="base">
                                        <p:cTn id="79" dur="500"/>
                                        <p:tgtEl>
                                          <p:spTgt spid="17"/>
                                        </p:tgtEl>
                                        <p:attrNameLst>
                                          <p:attrName>ppt_y</p:attrName>
                                        </p:attrNameLst>
                                      </p:cBhvr>
                                      <p:tavLst>
                                        <p:tav tm="0">
                                          <p:val>
                                            <p:strVal val="ppt_y"/>
                                          </p:val>
                                        </p:tav>
                                        <p:tav tm="100000">
                                          <p:val>
                                            <p:strVal val="1+ppt_h/2"/>
                                          </p:val>
                                        </p:tav>
                                      </p:tavLst>
                                    </p:anim>
                                    <p:set>
                                      <p:cBhvr>
                                        <p:cTn id="80" dur="1" fill="hold">
                                          <p:stCondLst>
                                            <p:cond delay="499"/>
                                          </p:stCondLst>
                                        </p:cTn>
                                        <p:tgtEl>
                                          <p:spTgt spid="1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2" presetClass="exit" presetSubtype="4" fill="hold" grpId="0" nodeType="clickEffect">
                                  <p:stCondLst>
                                    <p:cond delay="0"/>
                                  </p:stCondLst>
                                  <p:childTnLst>
                                    <p:anim calcmode="lin" valueType="num">
                                      <p:cBhvr additive="base">
                                        <p:cTn id="84" dur="500"/>
                                        <p:tgtEl>
                                          <p:spTgt spid="19"/>
                                        </p:tgtEl>
                                        <p:attrNameLst>
                                          <p:attrName>ppt_x</p:attrName>
                                        </p:attrNameLst>
                                      </p:cBhvr>
                                      <p:tavLst>
                                        <p:tav tm="0">
                                          <p:val>
                                            <p:strVal val="ppt_x"/>
                                          </p:val>
                                        </p:tav>
                                        <p:tav tm="100000">
                                          <p:val>
                                            <p:strVal val="ppt_x"/>
                                          </p:val>
                                        </p:tav>
                                      </p:tavLst>
                                    </p:anim>
                                    <p:anim calcmode="lin" valueType="num">
                                      <p:cBhvr additive="base">
                                        <p:cTn id="85" dur="500"/>
                                        <p:tgtEl>
                                          <p:spTgt spid="19"/>
                                        </p:tgtEl>
                                        <p:attrNameLst>
                                          <p:attrName>ppt_y</p:attrName>
                                        </p:attrNameLst>
                                      </p:cBhvr>
                                      <p:tavLst>
                                        <p:tav tm="0">
                                          <p:val>
                                            <p:strVal val="ppt_y"/>
                                          </p:val>
                                        </p:tav>
                                        <p:tav tm="100000">
                                          <p:val>
                                            <p:strVal val="1+ppt_h/2"/>
                                          </p:val>
                                        </p:tav>
                                      </p:tavLst>
                                    </p:anim>
                                    <p:set>
                                      <p:cBhvr>
                                        <p:cTn id="86" dur="1" fill="hold">
                                          <p:stCondLst>
                                            <p:cond delay="499"/>
                                          </p:stCondLst>
                                        </p:cTn>
                                        <p:tgtEl>
                                          <p:spTgt spid="19"/>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 presetClass="exit" presetSubtype="4" fill="hold" grpId="0" nodeType="clickEffect">
                                  <p:stCondLst>
                                    <p:cond delay="0"/>
                                  </p:stCondLst>
                                  <p:childTnLst>
                                    <p:anim calcmode="lin" valueType="num">
                                      <p:cBhvr additive="base">
                                        <p:cTn id="90" dur="500"/>
                                        <p:tgtEl>
                                          <p:spTgt spid="20"/>
                                        </p:tgtEl>
                                        <p:attrNameLst>
                                          <p:attrName>ppt_x</p:attrName>
                                        </p:attrNameLst>
                                      </p:cBhvr>
                                      <p:tavLst>
                                        <p:tav tm="0">
                                          <p:val>
                                            <p:strVal val="ppt_x"/>
                                          </p:val>
                                        </p:tav>
                                        <p:tav tm="100000">
                                          <p:val>
                                            <p:strVal val="ppt_x"/>
                                          </p:val>
                                        </p:tav>
                                      </p:tavLst>
                                    </p:anim>
                                    <p:anim calcmode="lin" valueType="num">
                                      <p:cBhvr additive="base">
                                        <p:cTn id="91" dur="500"/>
                                        <p:tgtEl>
                                          <p:spTgt spid="20"/>
                                        </p:tgtEl>
                                        <p:attrNameLst>
                                          <p:attrName>ppt_y</p:attrName>
                                        </p:attrNameLst>
                                      </p:cBhvr>
                                      <p:tavLst>
                                        <p:tav tm="0">
                                          <p:val>
                                            <p:strVal val="ppt_y"/>
                                          </p:val>
                                        </p:tav>
                                        <p:tav tm="100000">
                                          <p:val>
                                            <p:strVal val="1+ppt_h/2"/>
                                          </p:val>
                                        </p:tav>
                                      </p:tavLst>
                                    </p:anim>
                                    <p:set>
                                      <p:cBhvr>
                                        <p:cTn id="92" dur="1" fill="hold">
                                          <p:stCondLst>
                                            <p:cond delay="499"/>
                                          </p:stCondLst>
                                        </p:cTn>
                                        <p:tgtEl>
                                          <p:spTgt spid="20"/>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2" presetClass="exit" presetSubtype="4" fill="hold" grpId="0" nodeType="clickEffect">
                                  <p:stCondLst>
                                    <p:cond delay="0"/>
                                  </p:stCondLst>
                                  <p:childTnLst>
                                    <p:anim calcmode="lin" valueType="num">
                                      <p:cBhvr additive="base">
                                        <p:cTn id="96" dur="500"/>
                                        <p:tgtEl>
                                          <p:spTgt spid="21"/>
                                        </p:tgtEl>
                                        <p:attrNameLst>
                                          <p:attrName>ppt_x</p:attrName>
                                        </p:attrNameLst>
                                      </p:cBhvr>
                                      <p:tavLst>
                                        <p:tav tm="0">
                                          <p:val>
                                            <p:strVal val="ppt_x"/>
                                          </p:val>
                                        </p:tav>
                                        <p:tav tm="100000">
                                          <p:val>
                                            <p:strVal val="ppt_x"/>
                                          </p:val>
                                        </p:tav>
                                      </p:tavLst>
                                    </p:anim>
                                    <p:anim calcmode="lin" valueType="num">
                                      <p:cBhvr additive="base">
                                        <p:cTn id="97" dur="500"/>
                                        <p:tgtEl>
                                          <p:spTgt spid="21"/>
                                        </p:tgtEl>
                                        <p:attrNameLst>
                                          <p:attrName>ppt_y</p:attrName>
                                        </p:attrNameLst>
                                      </p:cBhvr>
                                      <p:tavLst>
                                        <p:tav tm="0">
                                          <p:val>
                                            <p:strVal val="ppt_y"/>
                                          </p:val>
                                        </p:tav>
                                        <p:tav tm="100000">
                                          <p:val>
                                            <p:strVal val="1+ppt_h/2"/>
                                          </p:val>
                                        </p:tav>
                                      </p:tavLst>
                                    </p:anim>
                                    <p:set>
                                      <p:cBhvr>
                                        <p:cTn id="98"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思考题</a:t>
            </a:r>
            <a:r>
              <a:rPr lang="en-US" altLang="zh-CN" sz="4800" dirty="0" smtClean="0">
                <a:solidFill>
                  <a:schemeClr val="bg1"/>
                </a:solidFill>
              </a:rPr>
              <a:t>7f</a:t>
            </a:r>
            <a:endParaRPr lang="en-US" sz="4800" dirty="0">
              <a:solidFill>
                <a:schemeClr val="bg1"/>
              </a:solidFill>
            </a:endParaRPr>
          </a:p>
        </p:txBody>
      </p:sp>
      <p:sp>
        <p:nvSpPr>
          <p:cNvPr id="3" name="Content Placeholder 2"/>
          <p:cNvSpPr>
            <a:spLocks noGrp="1"/>
          </p:cNvSpPr>
          <p:nvPr>
            <p:ph idx="1"/>
          </p:nvPr>
        </p:nvSpPr>
        <p:spPr>
          <a:xfrm>
            <a:off x="457200" y="1143000"/>
            <a:ext cx="8229600" cy="5334000"/>
          </a:xfrm>
        </p:spPr>
        <p:txBody>
          <a:bodyPr>
            <a:normAutofit/>
          </a:bodyPr>
          <a:lstStyle/>
          <a:p>
            <a:pPr marL="514350" indent="-514350">
              <a:buAutoNum type="arabicPeriod"/>
            </a:pPr>
            <a:r>
              <a:rPr lang="en-US" altLang="zh-CN" dirty="0" err="1" smtClean="0"/>
              <a:t>Ans</a:t>
            </a:r>
            <a:r>
              <a:rPr lang="zh-CN" altLang="en-US" dirty="0" smtClean="0"/>
              <a:t>： </a:t>
            </a:r>
            <a:r>
              <a:rPr lang="en-US" altLang="zh-CN" dirty="0" smtClean="0"/>
              <a:t>A </a:t>
            </a:r>
            <a:r>
              <a:rPr lang="zh-CN" altLang="en-US" dirty="0" smtClean="0"/>
              <a:t>固态稀有气体分子内没有共价键。</a:t>
            </a:r>
            <a:endParaRPr lang="en-US" altLang="zh-CN" dirty="0" smtClean="0"/>
          </a:p>
          <a:p>
            <a:pPr marL="514350" indent="-514350">
              <a:buNone/>
            </a:pPr>
            <a:r>
              <a:rPr lang="en-US" altLang="zh-CN" dirty="0" smtClean="0"/>
              <a:t>	D</a:t>
            </a:r>
            <a:r>
              <a:rPr lang="zh-CN" altLang="en-US" dirty="0" smtClean="0"/>
              <a:t>正确，例氢氧化钠。</a:t>
            </a:r>
            <a:endParaRPr lang="en-US" altLang="zh-CN" dirty="0" smtClean="0"/>
          </a:p>
          <a:p>
            <a:pPr marL="514350" indent="-514350">
              <a:buNone/>
            </a:pPr>
            <a:r>
              <a:rPr lang="en-US" altLang="zh-CN" dirty="0" smtClean="0"/>
              <a:t>2a 		</a:t>
            </a:r>
            <a:r>
              <a:rPr lang="en-US" altLang="zh-CN" dirty="0" err="1" smtClean="0"/>
              <a:t>NaCl</a:t>
            </a:r>
            <a:endParaRPr lang="en-US" altLang="zh-CN" dirty="0" smtClean="0"/>
          </a:p>
          <a:p>
            <a:pPr marL="514350" indent="-514350">
              <a:buNone/>
            </a:pPr>
            <a:r>
              <a:rPr lang="en-US" altLang="zh-CN" dirty="0" smtClean="0"/>
              <a:t>2b 		</a:t>
            </a:r>
            <a:r>
              <a:rPr lang="en-US" altLang="zh-CN" dirty="0" err="1" smtClean="0"/>
              <a:t>NaOH</a:t>
            </a:r>
            <a:endParaRPr lang="en-US" altLang="zh-CN" dirty="0" smtClean="0"/>
          </a:p>
          <a:p>
            <a:pPr marL="514350" indent="-514350">
              <a:buNone/>
            </a:pPr>
            <a:r>
              <a:rPr lang="en-US" altLang="zh-CN" dirty="0" smtClean="0"/>
              <a:t>2c		</a:t>
            </a:r>
            <a:r>
              <a:rPr lang="zh-CN" altLang="en-US" b="1" dirty="0" smtClean="0">
                <a:solidFill>
                  <a:srgbClr val="C00000"/>
                </a:solidFill>
                <a:effectLst>
                  <a:outerShdw blurRad="38100" dist="38100" dir="2700000" algn="tl">
                    <a:srgbClr val="000000">
                      <a:alpha val="43137"/>
                    </a:srgbClr>
                  </a:outerShdw>
                </a:effectLst>
              </a:rPr>
              <a:t>非</a:t>
            </a:r>
            <a:r>
              <a:rPr lang="en-US" altLang="zh-CN" b="1" dirty="0" smtClean="0">
                <a:solidFill>
                  <a:srgbClr val="C00000"/>
                </a:solidFill>
                <a:effectLst>
                  <a:outerShdw blurRad="38100" dist="38100" dir="2700000" algn="tl">
                    <a:srgbClr val="000000">
                      <a:alpha val="43137"/>
                    </a:srgbClr>
                  </a:outerShdw>
                </a:effectLst>
              </a:rPr>
              <a:t>	</a:t>
            </a:r>
            <a:r>
              <a:rPr lang="en-US" altLang="zh-CN" dirty="0" smtClean="0"/>
              <a:t>(NH</a:t>
            </a:r>
            <a:r>
              <a:rPr lang="en-US" altLang="zh-CN" baseline="-25000" dirty="0" smtClean="0"/>
              <a:t>4</a:t>
            </a:r>
            <a:r>
              <a:rPr lang="en-US" altLang="zh-CN" dirty="0" smtClean="0"/>
              <a:t>)</a:t>
            </a:r>
            <a:r>
              <a:rPr lang="en-US" altLang="zh-CN" baseline="-25000" dirty="0" smtClean="0"/>
              <a:t>2</a:t>
            </a:r>
            <a:r>
              <a:rPr lang="en-US" altLang="zh-CN" dirty="0" smtClean="0"/>
              <a:t> S</a:t>
            </a:r>
          </a:p>
          <a:p>
            <a:pPr marL="514350" indent="-514350">
              <a:buNone/>
            </a:pPr>
            <a:r>
              <a:rPr lang="en-US" altLang="zh-CN" dirty="0" smtClean="0"/>
              <a:t>2d		Na</a:t>
            </a:r>
            <a:r>
              <a:rPr lang="en-US" altLang="zh-CN" baseline="-25000" dirty="0" smtClean="0"/>
              <a:t>2</a:t>
            </a:r>
            <a:r>
              <a:rPr lang="en-US" altLang="zh-CN" dirty="0" smtClean="0"/>
              <a:t>S</a:t>
            </a:r>
            <a:r>
              <a:rPr lang="en-US" altLang="zh-CN" baseline="-25000" dirty="0" smtClean="0"/>
              <a:t>2</a:t>
            </a:r>
          </a:p>
          <a:p>
            <a:pPr marL="514350" indent="-514350">
              <a:buNone/>
            </a:pPr>
            <a:r>
              <a:rPr lang="en-US" altLang="zh-CN" dirty="0" smtClean="0"/>
              <a:t>2e		CO</a:t>
            </a:r>
            <a:r>
              <a:rPr lang="en-US" altLang="zh-CN" baseline="-25000" dirty="0" smtClean="0"/>
              <a:t>2</a:t>
            </a:r>
            <a:r>
              <a:rPr lang="en-US" altLang="zh-CN" dirty="0" smtClean="0"/>
              <a:t> </a:t>
            </a:r>
            <a:r>
              <a:rPr lang="zh-CN" altLang="en-US" dirty="0" smtClean="0"/>
              <a:t>、</a:t>
            </a:r>
            <a:r>
              <a:rPr lang="en-US" altLang="zh-CN" dirty="0" smtClean="0"/>
              <a:t>CCl</a:t>
            </a:r>
            <a:r>
              <a:rPr lang="en-US" altLang="zh-CN" baseline="-25000" dirty="0" smtClean="0"/>
              <a:t>4</a:t>
            </a:r>
          </a:p>
          <a:p>
            <a:pPr marL="514350" indent="-514350">
              <a:buNone/>
            </a:pPr>
            <a:r>
              <a:rPr lang="en-US" altLang="zh-CN" dirty="0" smtClean="0"/>
              <a:t>2f		C</a:t>
            </a:r>
            <a:r>
              <a:rPr lang="en-US" altLang="zh-CN" baseline="-25000" dirty="0" smtClean="0"/>
              <a:t>2</a:t>
            </a:r>
            <a:r>
              <a:rPr lang="en-US" altLang="zh-CN" dirty="0" smtClean="0"/>
              <a:t>H</a:t>
            </a:r>
            <a:r>
              <a:rPr lang="en-US" altLang="zh-CN" baseline="-25000" dirty="0" smtClean="0"/>
              <a:t>2</a:t>
            </a:r>
            <a:r>
              <a:rPr lang="en-US" altLang="zh-CN" dirty="0" smtClean="0"/>
              <a:t> </a:t>
            </a:r>
          </a:p>
          <a:p>
            <a:pPr marL="514350" indent="-514350">
              <a:buNone/>
            </a:pPr>
            <a:r>
              <a:rPr lang="en-US" altLang="zh-CN" dirty="0" smtClean="0"/>
              <a:t> 2g 	H</a:t>
            </a:r>
            <a:r>
              <a:rPr lang="en-US" altLang="zh-CN" baseline="-25000" dirty="0" smtClean="0"/>
              <a:t>2</a:t>
            </a:r>
            <a:r>
              <a:rPr lang="en-US" altLang="zh-CN" dirty="0" smtClean="0"/>
              <a:t>O</a:t>
            </a:r>
            <a:r>
              <a:rPr lang="en-US" altLang="zh-CN" baseline="-25000" dirty="0" smtClean="0"/>
              <a:t>2</a:t>
            </a:r>
          </a:p>
        </p:txBody>
      </p:sp>
      <p:pic>
        <p:nvPicPr>
          <p:cNvPr id="4" name="Picture 5" descr="C:\Users\user\Desktop\o.jpg"/>
          <p:cNvPicPr>
            <a:picLocks noChangeAspect="1" noChangeArrowheads="1"/>
          </p:cNvPicPr>
          <p:nvPr/>
        </p:nvPicPr>
        <p:blipFill>
          <a:blip r:embed="rId2" cstate="print"/>
          <a:srcRect/>
          <a:stretch>
            <a:fillRect/>
          </a:stretch>
        </p:blipFill>
        <p:spPr bwMode="auto">
          <a:xfrm>
            <a:off x="6022848" y="2337816"/>
            <a:ext cx="2157984" cy="2157984"/>
          </a:xfrm>
          <a:prstGeom prst="rect">
            <a:avLst/>
          </a:prstGeom>
          <a:noFill/>
        </p:spPr>
      </p:pic>
      <p:cxnSp>
        <p:nvCxnSpPr>
          <p:cNvPr id="6" name="Straight Connector 5"/>
          <p:cNvCxnSpPr/>
          <p:nvPr/>
        </p:nvCxnSpPr>
        <p:spPr>
          <a:xfrm>
            <a:off x="1295400" y="3611880"/>
            <a:ext cx="822960" cy="274320"/>
          </a:xfrm>
          <a:prstGeom prst="line">
            <a:avLst/>
          </a:prstGeom>
          <a:ln>
            <a:solidFill>
              <a:schemeClr val="bg1">
                <a:lumMod val="95000"/>
                <a:lumOff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additive="base">
                                        <p:cTn id="61" dur="500" fill="hold"/>
                                        <p:tgtEl>
                                          <p:spTgt spid="4"/>
                                        </p:tgtEl>
                                        <p:attrNameLst>
                                          <p:attrName>ppt_x</p:attrName>
                                        </p:attrNameLst>
                                      </p:cBhvr>
                                      <p:tavLst>
                                        <p:tav tm="0">
                                          <p:val>
                                            <p:strVal val="#ppt_x"/>
                                          </p:val>
                                        </p:tav>
                                        <p:tav tm="100000">
                                          <p:val>
                                            <p:strVal val="#ppt_x"/>
                                          </p:val>
                                        </p:tav>
                                      </p:tavLst>
                                    </p:anim>
                                    <p:anim calcmode="lin" valueType="num">
                                      <p:cBhvr additive="base">
                                        <p:cTn id="6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 calcmode="lin" valueType="num">
                                      <p:cBhvr additive="base">
                                        <p:cTn id="6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思考题</a:t>
            </a:r>
            <a:r>
              <a:rPr lang="en-US" altLang="zh-CN" sz="4800" dirty="0" smtClean="0">
                <a:solidFill>
                  <a:schemeClr val="bg1"/>
                </a:solidFill>
              </a:rPr>
              <a:t>7f</a:t>
            </a:r>
            <a:endParaRPr lang="en-US" sz="4800" dirty="0">
              <a:solidFill>
                <a:schemeClr val="bg1"/>
              </a:solidFill>
            </a:endParaRPr>
          </a:p>
        </p:txBody>
      </p:sp>
      <p:sp>
        <p:nvSpPr>
          <p:cNvPr id="3" name="Content Placeholder 2"/>
          <p:cNvSpPr>
            <a:spLocks noGrp="1"/>
          </p:cNvSpPr>
          <p:nvPr>
            <p:ph idx="1"/>
          </p:nvPr>
        </p:nvSpPr>
        <p:spPr>
          <a:xfrm>
            <a:off x="457200" y="1143000"/>
            <a:ext cx="8229600" cy="5334000"/>
          </a:xfrm>
        </p:spPr>
        <p:txBody>
          <a:bodyPr>
            <a:normAutofit/>
          </a:bodyPr>
          <a:lstStyle/>
          <a:p>
            <a:pPr marL="514350" indent="-514350">
              <a:buNone/>
            </a:pPr>
            <a:r>
              <a:rPr lang="en-US" altLang="zh-CN" dirty="0" smtClean="0"/>
              <a:t>3. 	A 	Al&gt;Mg&gt;Ca</a:t>
            </a:r>
          </a:p>
          <a:p>
            <a:pPr marL="514350" indent="-514350">
              <a:buNone/>
            </a:pPr>
            <a:r>
              <a:rPr lang="en-US" altLang="zh-CN" dirty="0" smtClean="0"/>
              <a:t>	B	Al&gt;Li&gt;Na</a:t>
            </a:r>
          </a:p>
          <a:p>
            <a:pPr marL="514350" indent="-514350">
              <a:buNone/>
            </a:pPr>
            <a:r>
              <a:rPr lang="en-US" altLang="zh-CN" dirty="0" smtClean="0"/>
              <a:t>	C </a:t>
            </a:r>
            <a:r>
              <a:rPr lang="zh-CN" altLang="en-US" dirty="0" smtClean="0"/>
              <a:t>正确</a:t>
            </a:r>
            <a:endParaRPr lang="en-US" altLang="zh-CN" dirty="0" smtClean="0"/>
          </a:p>
          <a:p>
            <a:pPr marL="514350" indent="-514350">
              <a:buNone/>
            </a:pPr>
            <a:r>
              <a:rPr lang="en-US" altLang="zh-CN" dirty="0" smtClean="0"/>
              <a:t>	D Al&gt;Mg&gt;</a:t>
            </a:r>
            <a:r>
              <a:rPr lang="en-US" altLang="zh-CN" dirty="0" err="1" smtClean="0"/>
              <a:t>Ba</a:t>
            </a:r>
            <a:endParaRPr lang="en-US" altLang="zh-CN" dirty="0" smtClean="0"/>
          </a:p>
          <a:p>
            <a:pPr marL="514350" indent="-514350">
              <a:buAutoNum type="arabicPeriod" startAt="4"/>
            </a:pPr>
            <a:r>
              <a:rPr lang="en-US" altLang="zh-CN" dirty="0" smtClean="0"/>
              <a:t>B &amp; D</a:t>
            </a:r>
          </a:p>
          <a:p>
            <a:pPr marL="514350" indent="-514350">
              <a:buAutoNum type="arabicPeriod" startAt="4"/>
            </a:pPr>
            <a:r>
              <a:rPr lang="en-US" altLang="zh-CN" dirty="0" smtClean="0"/>
              <a:t>C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选择题</a:t>
            </a:r>
            <a:endParaRPr lang="en-US" sz="4800" dirty="0">
              <a:solidFill>
                <a:schemeClr val="bg1"/>
              </a:solidFill>
            </a:endParaRPr>
          </a:p>
        </p:txBody>
      </p:sp>
      <p:sp>
        <p:nvSpPr>
          <p:cNvPr id="3" name="Content Placeholder 2"/>
          <p:cNvSpPr>
            <a:spLocks noGrp="1"/>
          </p:cNvSpPr>
          <p:nvPr>
            <p:ph idx="1"/>
          </p:nvPr>
        </p:nvSpPr>
        <p:spPr>
          <a:xfrm>
            <a:off x="457200" y="1143000"/>
            <a:ext cx="8229600" cy="5334000"/>
          </a:xfrm>
        </p:spPr>
        <p:txBody>
          <a:bodyPr>
            <a:normAutofit/>
          </a:bodyPr>
          <a:lstStyle/>
          <a:p>
            <a:pPr marL="514350" indent="-514350">
              <a:buAutoNum type="arabicPeriod"/>
            </a:pPr>
            <a:r>
              <a:rPr lang="zh-CN" altLang="en-US" dirty="0" smtClean="0"/>
              <a:t>冰分子间是范德华力和氢键，分子内</a:t>
            </a:r>
            <a:r>
              <a:rPr lang="en-US" altLang="zh-CN" dirty="0" smtClean="0"/>
              <a:t>H</a:t>
            </a:r>
            <a:r>
              <a:rPr lang="zh-CN" altLang="en-US" dirty="0" smtClean="0"/>
              <a:t>原子与</a:t>
            </a:r>
            <a:r>
              <a:rPr lang="en-US" altLang="zh-CN" dirty="0" smtClean="0"/>
              <a:t>O</a:t>
            </a:r>
            <a:r>
              <a:rPr lang="zh-CN" altLang="en-US" dirty="0" smtClean="0"/>
              <a:t>原子间是共价键</a:t>
            </a:r>
            <a:endParaRPr lang="en-US" altLang="zh-CN" dirty="0" smtClean="0"/>
          </a:p>
          <a:p>
            <a:pPr marL="514350" indent="-514350">
              <a:buNone/>
            </a:pPr>
            <a:r>
              <a:rPr lang="en-US" altLang="zh-CN" dirty="0" smtClean="0"/>
              <a:t>	</a:t>
            </a:r>
            <a:r>
              <a:rPr lang="zh-CN" altLang="en-US" dirty="0" smtClean="0"/>
              <a:t>金属晶体含有阳离子但没有阴离子。</a:t>
            </a:r>
            <a:endParaRPr lang="en-US" altLang="zh-CN" dirty="0" smtClean="0"/>
          </a:p>
          <a:p>
            <a:pPr marL="514350" indent="-514350">
              <a:buNone/>
            </a:pPr>
            <a:r>
              <a:rPr lang="en-US" altLang="zh-CN" dirty="0" smtClean="0"/>
              <a:t>	</a:t>
            </a:r>
            <a:r>
              <a:rPr lang="en-US" altLang="zh-CN" dirty="0" err="1" smtClean="0"/>
              <a:t>Ans</a:t>
            </a:r>
            <a:r>
              <a:rPr lang="en-US" altLang="zh-CN" dirty="0" smtClean="0"/>
              <a:t>: C</a:t>
            </a:r>
          </a:p>
          <a:p>
            <a:pPr marL="514350" indent="-514350">
              <a:buNone/>
            </a:pPr>
            <a:r>
              <a:rPr lang="en-US" altLang="zh-CN" dirty="0" smtClean="0"/>
              <a:t>2. 	B</a:t>
            </a:r>
          </a:p>
          <a:p>
            <a:pPr marL="514350" indent="-514350">
              <a:buNone/>
            </a:pPr>
            <a:r>
              <a:rPr lang="en-US" altLang="zh-CN" dirty="0" smtClean="0"/>
              <a:t>3. 	A </a:t>
            </a:r>
            <a:r>
              <a:rPr lang="zh-CN" altLang="en-US" dirty="0" smtClean="0"/>
              <a:t>分子晶体与原子晶体</a:t>
            </a:r>
            <a:endParaRPr lang="en-US" altLang="zh-CN" dirty="0" smtClean="0"/>
          </a:p>
          <a:p>
            <a:pPr marL="514350" indent="-514350">
              <a:buNone/>
            </a:pPr>
            <a:r>
              <a:rPr lang="en-US" altLang="zh-CN" dirty="0" smtClean="0"/>
              <a:t>	B </a:t>
            </a:r>
            <a:r>
              <a:rPr lang="zh-CN" altLang="en-US" dirty="0" smtClean="0"/>
              <a:t>离子晶体与分子晶体</a:t>
            </a:r>
            <a:endParaRPr lang="en-US" altLang="zh-CN" dirty="0" smtClean="0"/>
          </a:p>
          <a:p>
            <a:pPr marL="514350" indent="-514350">
              <a:buNone/>
            </a:pPr>
            <a:r>
              <a:rPr lang="en-US" altLang="zh-CN" dirty="0" smtClean="0"/>
              <a:t>	C </a:t>
            </a:r>
            <a:r>
              <a:rPr lang="zh-CN" altLang="en-US" dirty="0" smtClean="0"/>
              <a:t>都是分子晶体</a:t>
            </a:r>
            <a:endParaRPr lang="en-US" altLang="zh-CN" dirty="0" smtClean="0"/>
          </a:p>
          <a:p>
            <a:pPr marL="514350" indent="-514350">
              <a:buNone/>
            </a:pPr>
            <a:r>
              <a:rPr lang="en-US" altLang="zh-CN" dirty="0" smtClean="0"/>
              <a:t>	D </a:t>
            </a:r>
            <a:r>
              <a:rPr lang="zh-CN" altLang="en-US" dirty="0" smtClean="0"/>
              <a:t>分子晶体和离子晶体</a:t>
            </a:r>
            <a:endParaRPr lang="en-US" altLang="zh-CN" dirty="0" smtClean="0"/>
          </a:p>
          <a:p>
            <a:pPr marL="514350" indent="-514350">
              <a:buAutoNum type="arabicPeriod"/>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选择题</a:t>
            </a:r>
            <a:endParaRPr lang="en-US" sz="4800" dirty="0">
              <a:solidFill>
                <a:schemeClr val="bg1"/>
              </a:solidFill>
            </a:endParaRPr>
          </a:p>
        </p:txBody>
      </p:sp>
      <p:sp>
        <p:nvSpPr>
          <p:cNvPr id="3" name="Content Placeholder 2"/>
          <p:cNvSpPr>
            <a:spLocks noGrp="1"/>
          </p:cNvSpPr>
          <p:nvPr>
            <p:ph idx="1"/>
          </p:nvPr>
        </p:nvSpPr>
        <p:spPr>
          <a:xfrm>
            <a:off x="457200" y="1143000"/>
            <a:ext cx="8229600" cy="5334000"/>
          </a:xfrm>
        </p:spPr>
        <p:txBody>
          <a:bodyPr>
            <a:normAutofit/>
          </a:bodyPr>
          <a:lstStyle/>
          <a:p>
            <a:pPr marL="514350" indent="-514350">
              <a:buNone/>
            </a:pPr>
            <a:r>
              <a:rPr lang="en-US" altLang="zh-CN" dirty="0" smtClean="0"/>
              <a:t>4. 	A </a:t>
            </a:r>
            <a:r>
              <a:rPr lang="zh-CN" altLang="en-US" dirty="0" smtClean="0"/>
              <a:t>原子晶体，金属晶体亦有高熔点</a:t>
            </a:r>
            <a:endParaRPr lang="en-US" altLang="zh-CN" dirty="0" smtClean="0"/>
          </a:p>
          <a:p>
            <a:pPr marL="514350" indent="-514350">
              <a:buNone/>
            </a:pPr>
            <a:r>
              <a:rPr lang="en-US" altLang="zh-CN" dirty="0" smtClean="0"/>
              <a:t>	B </a:t>
            </a:r>
            <a:r>
              <a:rPr lang="zh-CN" altLang="en-US" dirty="0" smtClean="0"/>
              <a:t>部分分子晶体的水溶液能导电，如盐酸</a:t>
            </a:r>
            <a:endParaRPr lang="en-US" altLang="zh-CN" dirty="0" smtClean="0"/>
          </a:p>
          <a:p>
            <a:pPr marL="514350" indent="-514350">
              <a:buNone/>
            </a:pPr>
            <a:r>
              <a:rPr lang="en-US" altLang="zh-CN" dirty="0" smtClean="0"/>
              <a:t>	C </a:t>
            </a:r>
            <a:r>
              <a:rPr lang="zh-CN" altLang="en-US" dirty="0" smtClean="0"/>
              <a:t>部分分子晶体可溶于水，如酒精，蔗糖</a:t>
            </a:r>
            <a:endParaRPr lang="en-US" altLang="zh-CN" dirty="0" smtClean="0"/>
          </a:p>
          <a:p>
            <a:pPr marL="514350" indent="-514350">
              <a:buNone/>
            </a:pPr>
            <a:r>
              <a:rPr lang="en-US" altLang="zh-CN" dirty="0" smtClean="0"/>
              <a:t>	</a:t>
            </a:r>
            <a:r>
              <a:rPr lang="en-US" altLang="zh-CN" dirty="0" err="1" smtClean="0"/>
              <a:t>Ans:D</a:t>
            </a:r>
            <a:endParaRPr lang="en-US" altLang="zh-CN" dirty="0" smtClean="0"/>
          </a:p>
          <a:p>
            <a:pPr marL="514350" indent="-514350">
              <a:buNone/>
            </a:pPr>
            <a:r>
              <a:rPr lang="en-US" altLang="zh-CN" dirty="0" smtClean="0"/>
              <a:t>5. 	A </a:t>
            </a:r>
            <a:r>
              <a:rPr lang="zh-CN" altLang="en-US" dirty="0" smtClean="0"/>
              <a:t>金属键</a:t>
            </a:r>
            <a:endParaRPr lang="en-US" altLang="zh-CN" dirty="0" smtClean="0"/>
          </a:p>
          <a:p>
            <a:pPr marL="514350" indent="-514350">
              <a:buNone/>
            </a:pPr>
            <a:r>
              <a:rPr lang="en-US" altLang="zh-CN" dirty="0" smtClean="0"/>
              <a:t>	C </a:t>
            </a:r>
            <a:r>
              <a:rPr lang="zh-CN" altLang="en-US" dirty="0" smtClean="0"/>
              <a:t>加热使其分解是化学变化，破坏的是化学键</a:t>
            </a:r>
            <a:r>
              <a:rPr lang="en-US" altLang="zh-CN" dirty="0" smtClean="0"/>
              <a:t>(</a:t>
            </a:r>
            <a:r>
              <a:rPr lang="zh-CN" altLang="en-US" dirty="0" smtClean="0"/>
              <a:t>共价键</a:t>
            </a:r>
            <a:r>
              <a:rPr lang="en-US" altLang="zh-CN" dirty="0" smtClean="0"/>
              <a:t>)</a:t>
            </a:r>
          </a:p>
          <a:p>
            <a:pPr marL="514350" indent="-514350">
              <a:buNone/>
            </a:pPr>
            <a:r>
              <a:rPr lang="en-US" altLang="zh-CN" dirty="0" smtClean="0"/>
              <a:t>	D</a:t>
            </a:r>
            <a:r>
              <a:rPr lang="zh-CN" altLang="en-US" dirty="0" smtClean="0"/>
              <a:t>硅是原子晶体，熔化时破坏的是共价键。</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选择题</a:t>
            </a:r>
            <a:endParaRPr lang="en-US" sz="4800" dirty="0">
              <a:solidFill>
                <a:schemeClr val="bg1"/>
              </a:solidFill>
            </a:endParaRPr>
          </a:p>
        </p:txBody>
      </p:sp>
      <p:sp>
        <p:nvSpPr>
          <p:cNvPr id="3" name="Content Placeholder 2"/>
          <p:cNvSpPr>
            <a:spLocks noGrp="1"/>
          </p:cNvSpPr>
          <p:nvPr>
            <p:ph idx="1"/>
          </p:nvPr>
        </p:nvSpPr>
        <p:spPr>
          <a:xfrm>
            <a:off x="457200" y="1143000"/>
            <a:ext cx="8229600" cy="5334000"/>
          </a:xfrm>
        </p:spPr>
        <p:txBody>
          <a:bodyPr>
            <a:normAutofit/>
          </a:bodyPr>
          <a:lstStyle/>
          <a:p>
            <a:pPr marL="514350" indent="-514350">
              <a:buNone/>
            </a:pPr>
            <a:r>
              <a:rPr lang="en-US" altLang="zh-CN" dirty="0" smtClean="0"/>
              <a:t>6. C</a:t>
            </a:r>
          </a:p>
          <a:p>
            <a:pPr marL="514350" indent="-514350">
              <a:buNone/>
            </a:pPr>
            <a:r>
              <a:rPr lang="en-US" altLang="zh-CN" dirty="0" smtClean="0"/>
              <a:t>7. A </a:t>
            </a:r>
            <a:r>
              <a:rPr lang="zh-CN" altLang="en-US" dirty="0" smtClean="0"/>
              <a:t>以离子键结合的物质一定是化合物</a:t>
            </a:r>
            <a:endParaRPr lang="en-US" altLang="zh-CN" dirty="0" smtClean="0"/>
          </a:p>
          <a:p>
            <a:pPr marL="514350" indent="-514350">
              <a:buNone/>
            </a:pPr>
            <a:r>
              <a:rPr lang="en-US" altLang="zh-CN" dirty="0" smtClean="0"/>
              <a:t>8. B</a:t>
            </a:r>
          </a:p>
          <a:p>
            <a:pPr marL="514350" indent="-514350">
              <a:buNone/>
            </a:pPr>
            <a:r>
              <a:rPr lang="en-US" altLang="zh-CN" dirty="0" smtClean="0"/>
              <a:t>9. B</a:t>
            </a:r>
            <a:r>
              <a:rPr lang="zh-CN" altLang="en-US" dirty="0" smtClean="0"/>
              <a:t>晶体微粒间的作用力是范德华力。</a:t>
            </a:r>
            <a:endParaRPr lang="en-US" altLang="zh-CN" dirty="0" smtClean="0"/>
          </a:p>
          <a:p>
            <a:pPr marL="514350" indent="-514350">
              <a:buNone/>
            </a:pPr>
            <a:r>
              <a:rPr lang="en-US" altLang="zh-CN" dirty="0" smtClean="0"/>
              <a:t>10. A</a:t>
            </a:r>
            <a:r>
              <a:rPr lang="zh-CN" altLang="en-US" dirty="0" smtClean="0"/>
              <a:t>氢键是较强的分子间作用力</a:t>
            </a:r>
            <a:endParaRPr lang="en-US" altLang="zh-CN" dirty="0" smtClean="0"/>
          </a:p>
          <a:p>
            <a:pPr marL="514350" indent="-514350">
              <a:buNone/>
            </a:pPr>
            <a:r>
              <a:rPr lang="en-US" altLang="zh-CN" dirty="0" smtClean="0"/>
              <a:t>	B </a:t>
            </a:r>
            <a:r>
              <a:rPr lang="zh-CN" altLang="en-US" dirty="0" smtClean="0"/>
              <a:t>稳定性没增加</a:t>
            </a:r>
            <a:endParaRPr lang="en-US" altLang="zh-CN" dirty="0" smtClean="0"/>
          </a:p>
          <a:p>
            <a:pPr marL="514350" indent="-514350">
              <a:buNone/>
            </a:pPr>
            <a:r>
              <a:rPr lang="en-US" altLang="zh-CN" dirty="0" smtClean="0"/>
              <a:t>	D </a:t>
            </a:r>
            <a:r>
              <a:rPr lang="zh-CN" altLang="en-US" dirty="0" smtClean="0"/>
              <a:t>蛋白质的二级结构中含氢键</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作答题</a:t>
            </a:r>
            <a:endParaRPr lang="en-US" sz="4800" dirty="0">
              <a:solidFill>
                <a:schemeClr val="bg1"/>
              </a:solidFill>
            </a:endParaRPr>
          </a:p>
        </p:txBody>
      </p:sp>
      <p:sp>
        <p:nvSpPr>
          <p:cNvPr id="3" name="Content Placeholder 2"/>
          <p:cNvSpPr>
            <a:spLocks noGrp="1"/>
          </p:cNvSpPr>
          <p:nvPr>
            <p:ph idx="1"/>
          </p:nvPr>
        </p:nvSpPr>
        <p:spPr>
          <a:xfrm>
            <a:off x="457200" y="1143000"/>
            <a:ext cx="8229600" cy="5334000"/>
          </a:xfrm>
        </p:spPr>
        <p:txBody>
          <a:bodyPr>
            <a:normAutofit/>
          </a:bodyPr>
          <a:lstStyle/>
          <a:p>
            <a:pPr marL="514350" indent="-514350">
              <a:buNone/>
            </a:pPr>
            <a:r>
              <a:rPr lang="en-US" altLang="zh-CN" dirty="0" smtClean="0"/>
              <a:t>1a		BBr</a:t>
            </a:r>
            <a:r>
              <a:rPr lang="en-US" altLang="zh-CN" baseline="-25000" dirty="0" smtClean="0"/>
              <a:t>3</a:t>
            </a:r>
            <a:r>
              <a:rPr lang="en-US" altLang="zh-CN" dirty="0" smtClean="0"/>
              <a:t> </a:t>
            </a:r>
            <a:r>
              <a:rPr lang="zh-CN" altLang="en-US" dirty="0" smtClean="0"/>
              <a:t>：分子晶体</a:t>
            </a:r>
            <a:r>
              <a:rPr lang="en-US" altLang="zh-CN" dirty="0" smtClean="0"/>
              <a:t>	</a:t>
            </a:r>
          </a:p>
          <a:p>
            <a:pPr marL="514350" indent="-514350">
              <a:buNone/>
            </a:pPr>
            <a:r>
              <a:rPr lang="en-US" altLang="zh-CN" dirty="0" smtClean="0"/>
              <a:t>		</a:t>
            </a:r>
            <a:r>
              <a:rPr lang="en-US" altLang="zh-CN" dirty="0" err="1" smtClean="0"/>
              <a:t>SiC</a:t>
            </a:r>
            <a:r>
              <a:rPr lang="en-US" altLang="zh-CN" dirty="0" smtClean="0"/>
              <a:t> </a:t>
            </a:r>
            <a:r>
              <a:rPr lang="zh-CN" altLang="en-US" dirty="0" smtClean="0"/>
              <a:t>：  原子晶体</a:t>
            </a:r>
            <a:endParaRPr lang="en-US" altLang="zh-CN" dirty="0" smtClean="0"/>
          </a:p>
          <a:p>
            <a:pPr marL="514350" indent="-514350">
              <a:buNone/>
            </a:pPr>
            <a:r>
              <a:rPr lang="en-US" altLang="zh-CN" dirty="0" smtClean="0"/>
              <a:t>1b		CO</a:t>
            </a:r>
            <a:r>
              <a:rPr lang="en-US" altLang="zh-CN" baseline="-25000" dirty="0" smtClean="0"/>
              <a:t>2</a:t>
            </a:r>
            <a:r>
              <a:rPr lang="en-US" altLang="zh-CN" dirty="0" smtClean="0"/>
              <a:t> :	 </a:t>
            </a:r>
            <a:r>
              <a:rPr lang="zh-CN" altLang="en-US" dirty="0" smtClean="0"/>
              <a:t>分子晶体</a:t>
            </a:r>
            <a:r>
              <a:rPr lang="en-US" altLang="zh-CN" dirty="0" smtClean="0"/>
              <a:t>	</a:t>
            </a:r>
          </a:p>
          <a:p>
            <a:pPr marL="514350" indent="-514350">
              <a:buNone/>
            </a:pPr>
            <a:r>
              <a:rPr lang="en-US" altLang="zh-CN" dirty="0" smtClean="0"/>
              <a:t>		BN  :   </a:t>
            </a:r>
            <a:r>
              <a:rPr lang="zh-CN" altLang="en-US" dirty="0" smtClean="0"/>
              <a:t>原子晶体</a:t>
            </a:r>
            <a:endParaRPr lang="en-US" altLang="zh-CN" dirty="0" smtClean="0"/>
          </a:p>
          <a:p>
            <a:pPr marL="514350" indent="-514350">
              <a:buNone/>
            </a:pPr>
            <a:r>
              <a:rPr lang="en-US" altLang="zh-CN" dirty="0" smtClean="0"/>
              <a:t>1c 	</a:t>
            </a:r>
            <a:r>
              <a:rPr lang="zh-CN" altLang="en-US" dirty="0" smtClean="0"/>
              <a:t>原子晶体：金刚石、石英、金刚砂</a:t>
            </a:r>
            <a:endParaRPr lang="en-US" altLang="zh-CN" dirty="0" smtClean="0"/>
          </a:p>
          <a:p>
            <a:pPr marL="514350" indent="-514350">
              <a:buNone/>
            </a:pPr>
            <a:r>
              <a:rPr lang="en-US" altLang="zh-CN" dirty="0" smtClean="0"/>
              <a:t>	</a:t>
            </a:r>
            <a:r>
              <a:rPr lang="zh-CN" altLang="en-US" dirty="0" smtClean="0"/>
              <a:t>分子晶体：干冰、冰、硫磺、</a:t>
            </a:r>
            <a:r>
              <a:rPr lang="en-US" altLang="zh-CN" dirty="0" smtClean="0"/>
              <a:t>C</a:t>
            </a:r>
            <a:r>
              <a:rPr lang="en-US" altLang="zh-CN" baseline="-25000" dirty="0" smtClean="0"/>
              <a:t>60</a:t>
            </a:r>
            <a:r>
              <a:rPr lang="en-US" altLang="zh-CN" dirty="0" smtClean="0"/>
              <a:t> </a:t>
            </a:r>
            <a:r>
              <a:rPr lang="zh-CN" altLang="en-US" dirty="0" smtClean="0"/>
              <a:t>、碘、</a:t>
            </a:r>
            <a:endParaRPr lang="en-US" altLang="zh-CN" dirty="0" smtClean="0"/>
          </a:p>
          <a:p>
            <a:pPr marL="514350" indent="-514350">
              <a:buNone/>
            </a:pPr>
            <a:r>
              <a:rPr lang="en-US" altLang="zh-CN" dirty="0" smtClean="0"/>
              <a:t>	</a:t>
            </a:r>
            <a:r>
              <a:rPr lang="zh-CN" altLang="en-US" dirty="0" smtClean="0"/>
              <a:t>白磷、稀有气体晶体、氧晶体、氮晶体</a:t>
            </a:r>
            <a:endParaRPr lang="en-US" altLang="zh-CN" dirty="0" smtClean="0"/>
          </a:p>
          <a:p>
            <a:pPr marL="514350" indent="-514350">
              <a:buNone/>
            </a:pPr>
            <a:endParaRPr lang="en-US" altLang="zh-CN" dirty="0" smtClean="0"/>
          </a:p>
        </p:txBody>
      </p:sp>
      <p:sp>
        <p:nvSpPr>
          <p:cNvPr id="4" name="Rounded Rectangle 3"/>
          <p:cNvSpPr/>
          <p:nvPr/>
        </p:nvSpPr>
        <p:spPr>
          <a:xfrm>
            <a:off x="2590800" y="11430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2590800" y="16764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2438400" y="22860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2438400" y="28194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2971800" y="3505200"/>
            <a:ext cx="16002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971800" y="4038600"/>
            <a:ext cx="10668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3962400" y="4038600"/>
            <a:ext cx="10668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5029200" y="4038600"/>
            <a:ext cx="11430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6172200" y="4038600"/>
            <a:ext cx="1066800" cy="6858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7239000" y="4038600"/>
            <a:ext cx="10668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4495800" y="3505200"/>
            <a:ext cx="12954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990600" y="4648200"/>
            <a:ext cx="10668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5791200" y="3505200"/>
            <a:ext cx="14478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2057400" y="4648200"/>
            <a:ext cx="30480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5105400" y="4648200"/>
            <a:ext cx="15240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6629400" y="4648200"/>
            <a:ext cx="14478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0" nodeType="clickEffect">
                                  <p:stCondLst>
                                    <p:cond delay="0"/>
                                  </p:stCondLst>
                                  <p:childTnLst>
                                    <p:animEffect transition="out" filter="blinds(horizontal)">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0" nodeType="clickEffect">
                                  <p:stCondLst>
                                    <p:cond delay="0"/>
                                  </p:stCondLst>
                                  <p:childTnLst>
                                    <p:animEffect transition="out" filter="blinds(horizontal)">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0" nodeType="clickEffect">
                                  <p:stCondLst>
                                    <p:cond delay="0"/>
                                  </p:stCondLst>
                                  <p:childTnLst>
                                    <p:animEffect transition="out" filter="blinds(horizontal)">
                                      <p:cBhvr>
                                        <p:cTn id="41" dur="500"/>
                                        <p:tgtEl>
                                          <p:spTgt spid="11"/>
                                        </p:tgtEl>
                                      </p:cBhvr>
                                    </p:animEffect>
                                    <p:set>
                                      <p:cBhvr>
                                        <p:cTn id="42" dur="1" fill="hold">
                                          <p:stCondLst>
                                            <p:cond delay="499"/>
                                          </p:stCondLst>
                                        </p:cTn>
                                        <p:tgtEl>
                                          <p:spTgt spid="1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3" presetClass="exit" presetSubtype="10" fill="hold" grpId="0" nodeType="clickEffect">
                                  <p:stCondLst>
                                    <p:cond delay="0"/>
                                  </p:stCondLst>
                                  <p:childTnLst>
                                    <p:animEffect transition="out" filter="blinds(horizontal)">
                                      <p:cBhvr>
                                        <p:cTn id="46" dur="500"/>
                                        <p:tgtEl>
                                          <p:spTgt spid="12"/>
                                        </p:tgtEl>
                                      </p:cBhvr>
                                    </p:animEffect>
                                    <p:set>
                                      <p:cBhvr>
                                        <p:cTn id="47" dur="1" fill="hold">
                                          <p:stCondLst>
                                            <p:cond delay="499"/>
                                          </p:stCondLst>
                                        </p:cTn>
                                        <p:tgtEl>
                                          <p:spTgt spid="1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0" nodeType="clickEffect">
                                  <p:stCondLst>
                                    <p:cond delay="0"/>
                                  </p:stCondLst>
                                  <p:childTnLst>
                                    <p:animEffect transition="out" filter="blinds(horizontal)">
                                      <p:cBhvr>
                                        <p:cTn id="51" dur="500"/>
                                        <p:tgtEl>
                                          <p:spTgt spid="13"/>
                                        </p:tgtEl>
                                      </p:cBhvr>
                                    </p:animEffect>
                                    <p:set>
                                      <p:cBhvr>
                                        <p:cTn id="52" dur="1" fill="hold">
                                          <p:stCondLst>
                                            <p:cond delay="499"/>
                                          </p:stCondLst>
                                        </p:cTn>
                                        <p:tgtEl>
                                          <p:spTgt spid="13"/>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 presetClass="exit" presetSubtype="10" fill="hold" grpId="0" nodeType="clickEffect">
                                  <p:stCondLst>
                                    <p:cond delay="0"/>
                                  </p:stCondLst>
                                  <p:childTnLst>
                                    <p:animEffect transition="out" filter="blinds(horizontal)">
                                      <p:cBhvr>
                                        <p:cTn id="56" dur="500"/>
                                        <p:tgtEl>
                                          <p:spTgt spid="14"/>
                                        </p:tgtEl>
                                      </p:cBhvr>
                                    </p:animEffect>
                                    <p:set>
                                      <p:cBhvr>
                                        <p:cTn id="57" dur="1" fill="hold">
                                          <p:stCondLst>
                                            <p:cond delay="499"/>
                                          </p:stCondLst>
                                        </p:cTn>
                                        <p:tgtEl>
                                          <p:spTgt spid="1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3" presetClass="exit" presetSubtype="10" fill="hold" grpId="0" nodeType="clickEffect">
                                  <p:stCondLst>
                                    <p:cond delay="0"/>
                                  </p:stCondLst>
                                  <p:childTnLst>
                                    <p:animEffect transition="out" filter="blinds(horizontal)">
                                      <p:cBhvr>
                                        <p:cTn id="61" dur="500"/>
                                        <p:tgtEl>
                                          <p:spTgt spid="15"/>
                                        </p:tgtEl>
                                      </p:cBhvr>
                                    </p:animEffect>
                                    <p:set>
                                      <p:cBhvr>
                                        <p:cTn id="62" dur="1" fill="hold">
                                          <p:stCondLst>
                                            <p:cond delay="499"/>
                                          </p:stCondLst>
                                        </p:cTn>
                                        <p:tgtEl>
                                          <p:spTgt spid="1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 presetClass="exit" presetSubtype="10" fill="hold" grpId="0" nodeType="clickEffect">
                                  <p:stCondLst>
                                    <p:cond delay="0"/>
                                  </p:stCondLst>
                                  <p:childTnLst>
                                    <p:animEffect transition="out" filter="blinds(horizontal)">
                                      <p:cBhvr>
                                        <p:cTn id="66" dur="500"/>
                                        <p:tgtEl>
                                          <p:spTgt spid="16"/>
                                        </p:tgtEl>
                                      </p:cBhvr>
                                    </p:animEffect>
                                    <p:set>
                                      <p:cBhvr>
                                        <p:cTn id="67" dur="1" fill="hold">
                                          <p:stCondLst>
                                            <p:cond delay="499"/>
                                          </p:stCondLst>
                                        </p:cTn>
                                        <p:tgtEl>
                                          <p:spTgt spid="16"/>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3" presetClass="exit" presetSubtype="10" fill="hold" grpId="0" nodeType="clickEffect">
                                  <p:stCondLst>
                                    <p:cond delay="0"/>
                                  </p:stCondLst>
                                  <p:childTnLst>
                                    <p:animEffect transition="out" filter="blinds(horizontal)">
                                      <p:cBhvr>
                                        <p:cTn id="71" dur="500"/>
                                        <p:tgtEl>
                                          <p:spTgt spid="17"/>
                                        </p:tgtEl>
                                      </p:cBhvr>
                                    </p:animEffect>
                                    <p:set>
                                      <p:cBhvr>
                                        <p:cTn id="72" dur="1" fill="hold">
                                          <p:stCondLst>
                                            <p:cond delay="499"/>
                                          </p:stCondLst>
                                        </p:cTn>
                                        <p:tgtEl>
                                          <p:spTgt spid="17"/>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3" presetClass="exit" presetSubtype="10" fill="hold" grpId="0" nodeType="clickEffect">
                                  <p:stCondLst>
                                    <p:cond delay="0"/>
                                  </p:stCondLst>
                                  <p:childTnLst>
                                    <p:animEffect transition="out" filter="blinds(horizontal)">
                                      <p:cBhvr>
                                        <p:cTn id="76" dur="500"/>
                                        <p:tgtEl>
                                          <p:spTgt spid="18"/>
                                        </p:tgtEl>
                                      </p:cBhvr>
                                    </p:animEffect>
                                    <p:set>
                                      <p:cBhvr>
                                        <p:cTn id="77" dur="1" fill="hold">
                                          <p:stCondLst>
                                            <p:cond delay="499"/>
                                          </p:stCondLst>
                                        </p:cTn>
                                        <p:tgtEl>
                                          <p:spTgt spid="18"/>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3" presetClass="exit" presetSubtype="10" fill="hold" grpId="0" nodeType="clickEffect">
                                  <p:stCondLst>
                                    <p:cond delay="0"/>
                                  </p:stCondLst>
                                  <p:childTnLst>
                                    <p:animEffect transition="out" filter="blinds(horizontal)">
                                      <p:cBhvr>
                                        <p:cTn id="81" dur="500"/>
                                        <p:tgtEl>
                                          <p:spTgt spid="19"/>
                                        </p:tgtEl>
                                      </p:cBhvr>
                                    </p:animEffect>
                                    <p:set>
                                      <p:cBhvr>
                                        <p:cTn id="8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作答题</a:t>
            </a:r>
            <a:endParaRPr lang="en-US" sz="4800" dirty="0">
              <a:solidFill>
                <a:schemeClr val="bg1"/>
              </a:solidFill>
            </a:endParaRPr>
          </a:p>
        </p:txBody>
      </p:sp>
      <p:sp>
        <p:nvSpPr>
          <p:cNvPr id="3" name="Content Placeholder 2"/>
          <p:cNvSpPr>
            <a:spLocks noGrp="1"/>
          </p:cNvSpPr>
          <p:nvPr>
            <p:ph idx="1"/>
          </p:nvPr>
        </p:nvSpPr>
        <p:spPr>
          <a:xfrm>
            <a:off x="228600" y="1143000"/>
            <a:ext cx="8458200" cy="5334000"/>
          </a:xfrm>
        </p:spPr>
        <p:txBody>
          <a:bodyPr>
            <a:normAutofit/>
          </a:bodyPr>
          <a:lstStyle/>
          <a:p>
            <a:pPr marL="514350" indent="-514350">
              <a:buNone/>
            </a:pPr>
            <a:r>
              <a:rPr lang="en-US" altLang="zh-CN" dirty="0" smtClean="0"/>
              <a:t>2. 	</a:t>
            </a:r>
            <a:r>
              <a:rPr lang="zh-CN" altLang="en-US" dirty="0" smtClean="0"/>
              <a:t>含有配位键：</a:t>
            </a:r>
            <a:r>
              <a:rPr lang="en-US" altLang="zh-CN" dirty="0" smtClean="0"/>
              <a:t>NH</a:t>
            </a:r>
            <a:r>
              <a:rPr lang="en-US" altLang="zh-CN" baseline="-25000" dirty="0" smtClean="0"/>
              <a:t>4</a:t>
            </a:r>
            <a:r>
              <a:rPr lang="en-US" altLang="zh-CN" baseline="30000" dirty="0" smtClean="0"/>
              <a:t>+</a:t>
            </a:r>
            <a:r>
              <a:rPr lang="zh-CN" altLang="en-US" dirty="0" smtClean="0"/>
              <a:t>、</a:t>
            </a:r>
            <a:r>
              <a:rPr lang="en-US" altLang="zh-CN" dirty="0" smtClean="0"/>
              <a:t>H</a:t>
            </a:r>
            <a:r>
              <a:rPr lang="en-US" altLang="zh-CN" baseline="-25000" dirty="0" smtClean="0"/>
              <a:t>3</a:t>
            </a:r>
            <a:r>
              <a:rPr lang="en-US" altLang="zh-CN" dirty="0" smtClean="0"/>
              <a:t>O</a:t>
            </a:r>
            <a:r>
              <a:rPr lang="en-US" altLang="zh-CN" baseline="30000" dirty="0" smtClean="0"/>
              <a:t>+</a:t>
            </a:r>
            <a:endParaRPr lang="en-US" altLang="zh-CN" dirty="0" smtClean="0"/>
          </a:p>
          <a:p>
            <a:pPr marL="514350" indent="-514350">
              <a:buNone/>
            </a:pPr>
            <a:r>
              <a:rPr lang="en-US" altLang="zh-CN" dirty="0" smtClean="0"/>
              <a:t>	</a:t>
            </a:r>
            <a:r>
              <a:rPr lang="zh-CN" altLang="en-US" dirty="0" smtClean="0"/>
              <a:t>含有非极性键： </a:t>
            </a:r>
            <a:r>
              <a:rPr lang="en-US" altLang="zh-CN" dirty="0" smtClean="0"/>
              <a:t>F</a:t>
            </a:r>
            <a:r>
              <a:rPr lang="en-US" altLang="zh-CN" baseline="-25000" dirty="0" smtClean="0"/>
              <a:t>2</a:t>
            </a:r>
            <a:r>
              <a:rPr lang="en-US" altLang="zh-CN" dirty="0" smtClean="0"/>
              <a:t> </a:t>
            </a:r>
            <a:r>
              <a:rPr lang="zh-CN" altLang="en-US" dirty="0" smtClean="0"/>
              <a:t>、</a:t>
            </a:r>
            <a:r>
              <a:rPr lang="en-US" altLang="zh-CN" dirty="0" smtClean="0"/>
              <a:t>H</a:t>
            </a:r>
            <a:r>
              <a:rPr lang="en-US" altLang="zh-CN" baseline="-25000" dirty="0" smtClean="0"/>
              <a:t>2</a:t>
            </a:r>
            <a:r>
              <a:rPr lang="en-US" altLang="zh-CN" dirty="0" smtClean="0"/>
              <a:t> </a:t>
            </a:r>
          </a:p>
          <a:p>
            <a:pPr marL="514350" indent="-514350">
              <a:buNone/>
            </a:pPr>
            <a:r>
              <a:rPr lang="en-US" altLang="zh-CN" dirty="0" smtClean="0"/>
              <a:t>	</a:t>
            </a:r>
            <a:r>
              <a:rPr lang="zh-CN" altLang="en-US" dirty="0" smtClean="0"/>
              <a:t>含有极性</a:t>
            </a:r>
            <a:r>
              <a:rPr lang="zh-CN" altLang="en-US" dirty="0" smtClean="0"/>
              <a:t>键</a:t>
            </a:r>
            <a:r>
              <a:rPr lang="zh-CN" altLang="en-US" dirty="0" smtClean="0"/>
              <a:t>：</a:t>
            </a:r>
            <a:r>
              <a:rPr lang="en-US" altLang="zh-CN" dirty="0" smtClean="0"/>
              <a:t>NH</a:t>
            </a:r>
            <a:r>
              <a:rPr lang="en-US" altLang="zh-CN" baseline="-25000" dirty="0" smtClean="0"/>
              <a:t>4</a:t>
            </a:r>
            <a:r>
              <a:rPr lang="en-US" altLang="zh-CN" baseline="30000" dirty="0" smtClean="0"/>
              <a:t>+</a:t>
            </a:r>
            <a:r>
              <a:rPr lang="zh-CN" altLang="en-US" dirty="0" smtClean="0"/>
              <a:t>、</a:t>
            </a:r>
            <a:r>
              <a:rPr lang="en-US" altLang="zh-CN" dirty="0" smtClean="0"/>
              <a:t>H</a:t>
            </a:r>
            <a:r>
              <a:rPr lang="en-US" altLang="zh-CN" baseline="-25000" dirty="0" smtClean="0"/>
              <a:t>3</a:t>
            </a:r>
            <a:r>
              <a:rPr lang="en-US" altLang="zh-CN" dirty="0" smtClean="0"/>
              <a:t>O</a:t>
            </a:r>
            <a:r>
              <a:rPr lang="en-US" altLang="zh-CN" baseline="30000" dirty="0" smtClean="0"/>
              <a:t>+ </a:t>
            </a:r>
            <a:r>
              <a:rPr lang="zh-CN" altLang="en-US" dirty="0" smtClean="0"/>
              <a:t>、</a:t>
            </a:r>
            <a:r>
              <a:rPr lang="en-US" altLang="zh-CN" dirty="0" smtClean="0"/>
              <a:t>NH</a:t>
            </a:r>
            <a:r>
              <a:rPr lang="en-US" altLang="zh-CN" baseline="-25000" dirty="0" smtClean="0"/>
              <a:t>3</a:t>
            </a:r>
            <a:r>
              <a:rPr lang="zh-CN" altLang="en-US" dirty="0" smtClean="0"/>
              <a:t>、</a:t>
            </a:r>
            <a:r>
              <a:rPr lang="en-US" altLang="zh-CN" dirty="0" smtClean="0"/>
              <a:t>H</a:t>
            </a:r>
            <a:r>
              <a:rPr lang="en-US" altLang="zh-CN" baseline="-25000" dirty="0" smtClean="0"/>
              <a:t>2</a:t>
            </a:r>
            <a:r>
              <a:rPr lang="en-US" altLang="zh-CN" dirty="0" smtClean="0"/>
              <a:t>O</a:t>
            </a:r>
            <a:r>
              <a:rPr lang="zh-CN" altLang="en-US" dirty="0" smtClean="0"/>
              <a:t>、</a:t>
            </a:r>
            <a:r>
              <a:rPr lang="en-US" altLang="zh-CN" dirty="0" err="1" smtClean="0"/>
              <a:t>HBr</a:t>
            </a:r>
            <a:endParaRPr lang="en-US" altLang="zh-CN" dirty="0" smtClean="0"/>
          </a:p>
          <a:p>
            <a:pPr marL="514350" indent="-514350">
              <a:buNone/>
            </a:pPr>
            <a:r>
              <a:rPr lang="en-US" altLang="zh-CN" dirty="0" smtClean="0"/>
              <a:t>	</a:t>
            </a:r>
            <a:r>
              <a:rPr lang="zh-CN" altLang="en-US" dirty="0" smtClean="0"/>
              <a:t>极性键由强至弱排列：</a:t>
            </a:r>
            <a:r>
              <a:rPr lang="en-US" altLang="zh-CN" dirty="0" smtClean="0"/>
              <a:t>H –</a:t>
            </a:r>
            <a:r>
              <a:rPr lang="en-US" altLang="zh-CN" baseline="-25000" dirty="0" smtClean="0"/>
              <a:t> </a:t>
            </a:r>
            <a:r>
              <a:rPr lang="en-US" altLang="zh-CN" dirty="0" smtClean="0"/>
              <a:t>O &gt; N—H  &gt; H—Br </a:t>
            </a:r>
            <a:endParaRPr lang="en-US" altLang="zh-CN" dirty="0" smtClean="0"/>
          </a:p>
          <a:p>
            <a:pPr marL="514350" indent="-514350">
              <a:buNone/>
            </a:pPr>
            <a:r>
              <a:rPr lang="en-US" altLang="zh-CN" dirty="0" smtClean="0"/>
              <a:t>	</a:t>
            </a:r>
            <a:r>
              <a:rPr lang="zh-CN" altLang="en-US" dirty="0" smtClean="0"/>
              <a:t>（电负性差越大，极性越强）</a:t>
            </a:r>
            <a:endParaRPr lang="en-US" altLang="zh-CN" dirty="0" smtClean="0"/>
          </a:p>
          <a:p>
            <a:pPr marL="514350" indent="-514350">
              <a:buNone/>
            </a:pPr>
            <a:r>
              <a:rPr lang="en-US" altLang="zh-CN" dirty="0" smtClean="0"/>
              <a:t>3a 		Ne</a:t>
            </a:r>
          </a:p>
          <a:p>
            <a:pPr marL="514350" indent="-514350">
              <a:buNone/>
            </a:pPr>
            <a:r>
              <a:rPr lang="en-US" altLang="zh-CN" dirty="0" smtClean="0"/>
              <a:t>3b		Cu</a:t>
            </a:r>
          </a:p>
          <a:p>
            <a:pPr marL="514350" indent="-514350">
              <a:buNone/>
            </a:pPr>
            <a:r>
              <a:rPr lang="en-US" altLang="zh-CN" dirty="0" smtClean="0"/>
              <a:t>3c		Si</a:t>
            </a:r>
          </a:p>
        </p:txBody>
      </p:sp>
      <p:sp>
        <p:nvSpPr>
          <p:cNvPr id="4" name="Rounded Rectangle 3"/>
          <p:cNvSpPr/>
          <p:nvPr/>
        </p:nvSpPr>
        <p:spPr>
          <a:xfrm>
            <a:off x="3276600" y="1143000"/>
            <a:ext cx="22098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3657600" y="1752600"/>
            <a:ext cx="22098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276600" y="2362200"/>
            <a:ext cx="54102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4800600" y="2971800"/>
            <a:ext cx="38100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1"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4" grpId="0" animBg="1"/>
      <p:bldP spid="5" grpId="0" animBg="1"/>
      <p:bldP spid="6" grpId="0" animBg="1"/>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作答题</a:t>
            </a:r>
            <a:endParaRPr lang="en-US" sz="4800" dirty="0">
              <a:solidFill>
                <a:schemeClr val="bg1"/>
              </a:solidFill>
            </a:endParaRPr>
          </a:p>
        </p:txBody>
      </p:sp>
      <p:sp>
        <p:nvSpPr>
          <p:cNvPr id="3" name="Content Placeholder 2"/>
          <p:cNvSpPr>
            <a:spLocks noGrp="1"/>
          </p:cNvSpPr>
          <p:nvPr>
            <p:ph idx="1"/>
          </p:nvPr>
        </p:nvSpPr>
        <p:spPr>
          <a:xfrm>
            <a:off x="457200" y="1143000"/>
            <a:ext cx="8686800" cy="5334000"/>
          </a:xfrm>
        </p:spPr>
        <p:txBody>
          <a:bodyPr>
            <a:normAutofit fontScale="92500" lnSpcReduction="20000"/>
          </a:bodyPr>
          <a:lstStyle/>
          <a:p>
            <a:pPr marL="514350" indent="-514350">
              <a:buNone/>
            </a:pPr>
            <a:r>
              <a:rPr lang="en-US" altLang="zh-CN" dirty="0" smtClean="0"/>
              <a:t>4. HF</a:t>
            </a:r>
            <a:r>
              <a:rPr lang="zh-CN" altLang="en-US" dirty="0" smtClean="0"/>
              <a:t>分子</a:t>
            </a:r>
            <a:r>
              <a:rPr lang="zh-CN" altLang="en-US" dirty="0" smtClean="0"/>
              <a:t>间</a:t>
            </a:r>
            <a:r>
              <a:rPr lang="zh-CN" altLang="en-US" dirty="0" smtClean="0"/>
              <a:t>除</a:t>
            </a:r>
            <a:r>
              <a:rPr lang="zh-CN" altLang="en-US" dirty="0" smtClean="0"/>
              <a:t>了有范德华力还</a:t>
            </a:r>
            <a:r>
              <a:rPr lang="zh-CN" altLang="en-US" dirty="0" smtClean="0"/>
              <a:t>有</a:t>
            </a:r>
            <a:r>
              <a:rPr lang="zh-CN" altLang="en-US" dirty="0" smtClean="0"/>
              <a:t>氢键</a:t>
            </a:r>
            <a:r>
              <a:rPr lang="zh-CN" altLang="en-US" dirty="0" smtClean="0"/>
              <a:t>，欲</a:t>
            </a:r>
            <a:r>
              <a:rPr lang="zh-CN" altLang="en-US" dirty="0" smtClean="0"/>
              <a:t>使其熔化需较多的能量，因此其沸点较高。</a:t>
            </a:r>
            <a:endParaRPr lang="en-US" altLang="zh-CN" dirty="0" smtClean="0"/>
          </a:p>
          <a:p>
            <a:pPr marL="514350" indent="-514350">
              <a:buNone/>
            </a:pPr>
            <a:r>
              <a:rPr lang="en-US" altLang="zh-CN" dirty="0" smtClean="0"/>
              <a:t>5a	</a:t>
            </a:r>
            <a:r>
              <a:rPr lang="en-US" altLang="zh-CN" dirty="0" err="1" smtClean="0"/>
              <a:t>NaCl</a:t>
            </a:r>
            <a:r>
              <a:rPr lang="en-US" altLang="zh-CN" dirty="0" smtClean="0"/>
              <a:t>&gt;</a:t>
            </a:r>
            <a:r>
              <a:rPr lang="en-US" altLang="zh-CN" dirty="0" err="1" smtClean="0"/>
              <a:t>KCl</a:t>
            </a:r>
            <a:r>
              <a:rPr lang="en-US" altLang="zh-CN" dirty="0" smtClean="0"/>
              <a:t>&gt;</a:t>
            </a:r>
            <a:r>
              <a:rPr lang="en-US" altLang="zh-CN" dirty="0" err="1" smtClean="0"/>
              <a:t>CsCl</a:t>
            </a:r>
            <a:r>
              <a:rPr lang="en-US" altLang="zh-CN" dirty="0" smtClean="0"/>
              <a:t>	</a:t>
            </a:r>
            <a:endParaRPr lang="en-US" altLang="zh-CN" dirty="0" smtClean="0"/>
          </a:p>
          <a:p>
            <a:pPr marL="514350" indent="-514350">
              <a:buNone/>
            </a:pPr>
            <a:r>
              <a:rPr lang="zh-CN" altLang="en-US" dirty="0" smtClean="0"/>
              <a:t>（</a:t>
            </a:r>
            <a:r>
              <a:rPr lang="zh-CN" altLang="en-US" dirty="0" smtClean="0"/>
              <a:t>离子半</a:t>
            </a:r>
            <a:r>
              <a:rPr lang="zh-CN" altLang="en-US" dirty="0" smtClean="0"/>
              <a:t>径大、</a:t>
            </a:r>
            <a:r>
              <a:rPr lang="zh-CN" altLang="en-US" dirty="0" smtClean="0"/>
              <a:t>离子</a:t>
            </a:r>
            <a:r>
              <a:rPr lang="zh-CN" altLang="en-US" dirty="0" smtClean="0"/>
              <a:t>键弱、熔点低）</a:t>
            </a:r>
            <a:endParaRPr lang="en-US" altLang="zh-CN" dirty="0" smtClean="0"/>
          </a:p>
          <a:p>
            <a:pPr marL="514350" indent="-514350">
              <a:buNone/>
            </a:pPr>
            <a:r>
              <a:rPr lang="en-US" altLang="zh-CN" dirty="0" smtClean="0"/>
              <a:t>5b	SiCl</a:t>
            </a:r>
            <a:r>
              <a:rPr lang="en-US" altLang="zh-CN" baseline="-25000" dirty="0" smtClean="0"/>
              <a:t>4</a:t>
            </a:r>
            <a:r>
              <a:rPr lang="en-US" altLang="zh-CN" dirty="0" smtClean="0"/>
              <a:t> &gt; SiF</a:t>
            </a:r>
            <a:r>
              <a:rPr lang="en-US" altLang="zh-CN" baseline="-25000" dirty="0" smtClean="0"/>
              <a:t>4</a:t>
            </a:r>
            <a:r>
              <a:rPr lang="en-US" altLang="zh-CN" dirty="0" smtClean="0"/>
              <a:t> &gt; SiH</a:t>
            </a:r>
            <a:r>
              <a:rPr lang="en-US" altLang="zh-CN" baseline="-25000" dirty="0" smtClean="0"/>
              <a:t>4</a:t>
            </a:r>
            <a:r>
              <a:rPr lang="en-US" altLang="zh-CN" dirty="0" smtClean="0"/>
              <a:t> </a:t>
            </a:r>
            <a:endParaRPr lang="en-US" altLang="zh-CN" dirty="0" smtClean="0"/>
          </a:p>
          <a:p>
            <a:pPr marL="514350" indent="-514350">
              <a:buNone/>
            </a:pPr>
            <a:r>
              <a:rPr lang="zh-CN" altLang="en-US" dirty="0" smtClean="0"/>
              <a:t>（</a:t>
            </a:r>
            <a:r>
              <a:rPr lang="zh-CN" altLang="en-US" dirty="0" smtClean="0"/>
              <a:t>式</a:t>
            </a:r>
            <a:r>
              <a:rPr lang="zh-CN" altLang="en-US" dirty="0" smtClean="0"/>
              <a:t>量小、</a:t>
            </a:r>
            <a:r>
              <a:rPr lang="zh-CN" altLang="en-US" dirty="0" smtClean="0"/>
              <a:t>范德华</a:t>
            </a:r>
            <a:r>
              <a:rPr lang="zh-CN" altLang="en-US" dirty="0" smtClean="0"/>
              <a:t>力小、熔点低）</a:t>
            </a:r>
            <a:endParaRPr lang="en-US" altLang="zh-CN" dirty="0" smtClean="0"/>
          </a:p>
          <a:p>
            <a:pPr marL="514350" indent="-514350">
              <a:buNone/>
            </a:pPr>
            <a:r>
              <a:rPr lang="en-US" altLang="zh-CN" dirty="0" smtClean="0"/>
              <a:t>5c	H</a:t>
            </a:r>
            <a:r>
              <a:rPr lang="en-US" altLang="zh-CN" baseline="-25000" dirty="0" smtClean="0"/>
              <a:t>2 </a:t>
            </a:r>
            <a:r>
              <a:rPr lang="en-US" altLang="zh-CN" dirty="0" smtClean="0"/>
              <a:t>O &gt; H</a:t>
            </a:r>
            <a:r>
              <a:rPr lang="en-US" altLang="zh-CN" baseline="-25000" dirty="0" smtClean="0"/>
              <a:t>2</a:t>
            </a:r>
            <a:r>
              <a:rPr lang="en-US" altLang="zh-CN" dirty="0" smtClean="0"/>
              <a:t>Se &gt; H</a:t>
            </a:r>
            <a:r>
              <a:rPr lang="en-US" altLang="zh-CN" baseline="-25000" dirty="0" smtClean="0"/>
              <a:t>2</a:t>
            </a:r>
            <a:r>
              <a:rPr lang="en-US" altLang="zh-CN" dirty="0" smtClean="0"/>
              <a:t> S </a:t>
            </a:r>
            <a:endParaRPr lang="en-US" altLang="zh-CN" dirty="0" smtClean="0"/>
          </a:p>
          <a:p>
            <a:pPr marL="514350" indent="-514350">
              <a:buNone/>
            </a:pPr>
            <a:r>
              <a:rPr lang="zh-CN" altLang="en-US" dirty="0" smtClean="0"/>
              <a:t>（水分子间有氢键、熔点最高；</a:t>
            </a:r>
            <a:endParaRPr lang="en-US" altLang="zh-CN" dirty="0" smtClean="0"/>
          </a:p>
          <a:p>
            <a:pPr marL="514350" indent="-514350">
              <a:buNone/>
            </a:pPr>
            <a:r>
              <a:rPr lang="en-US" altLang="zh-CN" dirty="0" smtClean="0"/>
              <a:t>	</a:t>
            </a:r>
            <a:r>
              <a:rPr lang="zh-CN" altLang="en-US" dirty="0" smtClean="0"/>
              <a:t>式量小、</a:t>
            </a:r>
            <a:r>
              <a:rPr lang="zh-CN" altLang="en-US" dirty="0" smtClean="0"/>
              <a:t>范德华</a:t>
            </a:r>
            <a:r>
              <a:rPr lang="zh-CN" altLang="en-US" dirty="0" smtClean="0"/>
              <a:t>力小、熔点低）</a:t>
            </a:r>
            <a:endParaRPr lang="en-US" altLang="zh-CN" dirty="0" smtClean="0"/>
          </a:p>
          <a:p>
            <a:pPr marL="514350" indent="-514350">
              <a:buNone/>
            </a:pPr>
            <a:r>
              <a:rPr lang="en-US" altLang="zh-CN" dirty="0" smtClean="0"/>
              <a:t>5d	</a:t>
            </a:r>
            <a:r>
              <a:rPr lang="zh-CN" altLang="en-US" dirty="0" smtClean="0"/>
              <a:t>金刚石</a:t>
            </a:r>
            <a:r>
              <a:rPr lang="en-US" altLang="zh-CN" dirty="0" smtClean="0"/>
              <a:t>&gt;</a:t>
            </a:r>
            <a:r>
              <a:rPr lang="zh-CN" altLang="en-US" dirty="0" smtClean="0"/>
              <a:t>金刚砂</a:t>
            </a:r>
            <a:r>
              <a:rPr lang="en-US" altLang="zh-CN" dirty="0" smtClean="0"/>
              <a:t>&gt;</a:t>
            </a:r>
            <a:r>
              <a:rPr lang="zh-CN" altLang="en-US" dirty="0" smtClean="0"/>
              <a:t>硅 </a:t>
            </a:r>
            <a:endParaRPr lang="en-US" altLang="zh-CN" dirty="0" smtClean="0"/>
          </a:p>
          <a:p>
            <a:pPr marL="514350" indent="-514350">
              <a:buNone/>
            </a:pPr>
            <a:r>
              <a:rPr lang="zh-CN" altLang="en-US" dirty="0" smtClean="0"/>
              <a:t>（原子半径大、键长长、键能小、熔点低）</a:t>
            </a:r>
            <a:endParaRPr lang="en-US" altLang="zh-CN" dirty="0" smtClean="0"/>
          </a:p>
          <a:p>
            <a:pPr marL="514350" indent="-514350">
              <a:buNone/>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zh-CN" altLang="en-US" sz="4800" dirty="0" smtClean="0">
                <a:solidFill>
                  <a:schemeClr val="bg1"/>
                </a:solidFill>
              </a:rPr>
              <a:t>作答题</a:t>
            </a:r>
            <a:endParaRPr lang="en-US" sz="4800" dirty="0">
              <a:solidFill>
                <a:schemeClr val="bg1"/>
              </a:solidFill>
            </a:endParaRPr>
          </a:p>
        </p:txBody>
      </p:sp>
      <p:sp>
        <p:nvSpPr>
          <p:cNvPr id="3" name="Content Placeholder 2"/>
          <p:cNvSpPr>
            <a:spLocks noGrp="1"/>
          </p:cNvSpPr>
          <p:nvPr>
            <p:ph idx="1"/>
          </p:nvPr>
        </p:nvSpPr>
        <p:spPr>
          <a:xfrm>
            <a:off x="381000" y="1066800"/>
            <a:ext cx="8305800" cy="5638800"/>
          </a:xfrm>
        </p:spPr>
        <p:txBody>
          <a:bodyPr>
            <a:normAutofit lnSpcReduction="10000"/>
          </a:bodyPr>
          <a:lstStyle/>
          <a:p>
            <a:pPr marL="514350" indent="-514350">
              <a:buNone/>
            </a:pPr>
            <a:r>
              <a:rPr lang="en-US" altLang="zh-CN" dirty="0" smtClean="0"/>
              <a:t>6 	</a:t>
            </a:r>
            <a:r>
              <a:rPr lang="zh-CN" altLang="en-US" dirty="0" smtClean="0"/>
              <a:t>氧化钠</a:t>
            </a:r>
            <a:r>
              <a:rPr lang="en-US" altLang="zh-CN" dirty="0" smtClean="0"/>
              <a:t>		</a:t>
            </a:r>
            <a:r>
              <a:rPr lang="zh-CN" altLang="en-US" dirty="0" smtClean="0"/>
              <a:t>离子晶体</a:t>
            </a:r>
            <a:r>
              <a:rPr lang="en-US" altLang="zh-CN" dirty="0" smtClean="0"/>
              <a:t>		</a:t>
            </a:r>
            <a:r>
              <a:rPr lang="zh-CN" altLang="en-US" dirty="0" smtClean="0"/>
              <a:t>离子键</a:t>
            </a:r>
            <a:endParaRPr lang="en-US" altLang="zh-CN" dirty="0" smtClean="0"/>
          </a:p>
          <a:p>
            <a:pPr marL="514350" indent="-514350">
              <a:buNone/>
            </a:pPr>
            <a:r>
              <a:rPr lang="en-US" altLang="zh-CN" dirty="0" smtClean="0"/>
              <a:t>	</a:t>
            </a:r>
            <a:r>
              <a:rPr lang="zh-CN" altLang="en-US" dirty="0" smtClean="0"/>
              <a:t>二氧化硅</a:t>
            </a:r>
            <a:r>
              <a:rPr lang="en-US" altLang="zh-CN" dirty="0" smtClean="0"/>
              <a:t>	</a:t>
            </a:r>
            <a:r>
              <a:rPr lang="zh-CN" altLang="en-US" dirty="0" smtClean="0"/>
              <a:t>原子晶体</a:t>
            </a:r>
            <a:r>
              <a:rPr lang="en-US" altLang="zh-CN" dirty="0" smtClean="0"/>
              <a:t>		</a:t>
            </a:r>
            <a:r>
              <a:rPr lang="zh-CN" altLang="en-US" dirty="0" smtClean="0"/>
              <a:t>共价键</a:t>
            </a:r>
            <a:endParaRPr lang="en-US" altLang="zh-CN" dirty="0" smtClean="0"/>
          </a:p>
          <a:p>
            <a:pPr marL="514350" indent="-514350">
              <a:buNone/>
            </a:pPr>
            <a:r>
              <a:rPr lang="en-US" altLang="zh-CN" dirty="0" smtClean="0"/>
              <a:t>	</a:t>
            </a:r>
            <a:r>
              <a:rPr lang="zh-CN" altLang="en-US" dirty="0" smtClean="0"/>
              <a:t>镁</a:t>
            </a:r>
            <a:r>
              <a:rPr lang="en-US" altLang="zh-CN" dirty="0" smtClean="0"/>
              <a:t>		</a:t>
            </a:r>
            <a:r>
              <a:rPr lang="zh-CN" altLang="en-US" dirty="0" smtClean="0"/>
              <a:t>金属晶体</a:t>
            </a:r>
            <a:r>
              <a:rPr lang="en-US" altLang="zh-CN" dirty="0" smtClean="0"/>
              <a:t>		</a:t>
            </a:r>
            <a:r>
              <a:rPr lang="zh-CN" altLang="en-US" dirty="0" smtClean="0"/>
              <a:t>金属键</a:t>
            </a:r>
            <a:endParaRPr lang="en-US" altLang="zh-CN" dirty="0" smtClean="0"/>
          </a:p>
          <a:p>
            <a:pPr marL="514350" indent="-514350">
              <a:buNone/>
            </a:pPr>
            <a:r>
              <a:rPr lang="en-US" altLang="zh-CN" dirty="0" smtClean="0"/>
              <a:t>	</a:t>
            </a:r>
            <a:r>
              <a:rPr lang="zh-CN" altLang="en-US" dirty="0" smtClean="0"/>
              <a:t>硫</a:t>
            </a:r>
            <a:r>
              <a:rPr lang="en-US" altLang="zh-CN" dirty="0" smtClean="0"/>
              <a:t>		</a:t>
            </a:r>
            <a:r>
              <a:rPr lang="zh-CN" altLang="en-US" dirty="0" smtClean="0"/>
              <a:t>分子晶体</a:t>
            </a:r>
            <a:r>
              <a:rPr lang="en-US" altLang="zh-CN" dirty="0" smtClean="0"/>
              <a:t>		</a:t>
            </a:r>
            <a:r>
              <a:rPr lang="zh-CN" altLang="en-US" dirty="0" smtClean="0"/>
              <a:t>范德华力</a:t>
            </a:r>
            <a:endParaRPr lang="en-US" altLang="zh-CN" dirty="0" smtClean="0"/>
          </a:p>
          <a:p>
            <a:pPr marL="514350" indent="-514350">
              <a:buNone/>
            </a:pPr>
            <a:r>
              <a:rPr lang="en-US" altLang="zh-CN" dirty="0" smtClean="0"/>
              <a:t>	</a:t>
            </a:r>
            <a:r>
              <a:rPr lang="zh-CN" altLang="en-US" dirty="0" smtClean="0"/>
              <a:t>氯化钠</a:t>
            </a:r>
            <a:r>
              <a:rPr lang="en-US" altLang="zh-CN" dirty="0" smtClean="0"/>
              <a:t>		</a:t>
            </a:r>
            <a:r>
              <a:rPr lang="zh-CN" altLang="en-US" dirty="0" smtClean="0"/>
              <a:t>离子晶体</a:t>
            </a:r>
            <a:r>
              <a:rPr lang="en-US" altLang="zh-CN" dirty="0" smtClean="0"/>
              <a:t>		</a:t>
            </a:r>
            <a:r>
              <a:rPr lang="zh-CN" altLang="en-US" dirty="0" smtClean="0"/>
              <a:t>离子键</a:t>
            </a:r>
            <a:endParaRPr lang="en-US" altLang="zh-CN" dirty="0" smtClean="0"/>
          </a:p>
          <a:p>
            <a:pPr marL="514350" indent="-514350">
              <a:buNone/>
            </a:pPr>
            <a:r>
              <a:rPr lang="en-US" altLang="zh-CN" dirty="0" smtClean="0"/>
              <a:t>	</a:t>
            </a:r>
            <a:r>
              <a:rPr lang="zh-CN" altLang="en-US" dirty="0" smtClean="0"/>
              <a:t>蔗糖</a:t>
            </a:r>
            <a:r>
              <a:rPr lang="en-US" altLang="zh-CN" dirty="0" smtClean="0"/>
              <a:t>		</a:t>
            </a:r>
            <a:r>
              <a:rPr lang="zh-CN" altLang="en-US" dirty="0" smtClean="0"/>
              <a:t>分子晶体</a:t>
            </a:r>
            <a:r>
              <a:rPr lang="en-US" altLang="zh-CN" dirty="0" smtClean="0"/>
              <a:t>		</a:t>
            </a:r>
            <a:r>
              <a:rPr lang="zh-CN" altLang="en-US" dirty="0" smtClean="0"/>
              <a:t>范德华力</a:t>
            </a:r>
            <a:endParaRPr lang="en-US" altLang="zh-CN" dirty="0" smtClean="0"/>
          </a:p>
          <a:p>
            <a:pPr marL="514350" indent="-514350">
              <a:buNone/>
            </a:pPr>
            <a:r>
              <a:rPr lang="en-US" altLang="zh-CN" dirty="0" smtClean="0"/>
              <a:t>	</a:t>
            </a:r>
            <a:r>
              <a:rPr lang="zh-CN" altLang="en-US" dirty="0" smtClean="0"/>
              <a:t>碘</a:t>
            </a:r>
            <a:r>
              <a:rPr lang="en-US" altLang="zh-CN" dirty="0" smtClean="0"/>
              <a:t>		</a:t>
            </a:r>
            <a:r>
              <a:rPr lang="zh-CN" altLang="en-US" dirty="0" smtClean="0"/>
              <a:t>分子晶体</a:t>
            </a:r>
            <a:r>
              <a:rPr lang="en-US" altLang="zh-CN" dirty="0" smtClean="0"/>
              <a:t>		</a:t>
            </a:r>
            <a:r>
              <a:rPr lang="zh-CN" altLang="en-US" dirty="0" smtClean="0"/>
              <a:t>范德华力</a:t>
            </a:r>
            <a:endParaRPr lang="en-US" altLang="zh-CN" dirty="0" smtClean="0"/>
          </a:p>
          <a:p>
            <a:pPr marL="514350" indent="-514350">
              <a:buNone/>
            </a:pPr>
            <a:r>
              <a:rPr lang="en-US" altLang="zh-CN" dirty="0" smtClean="0"/>
              <a:t>	</a:t>
            </a:r>
            <a:r>
              <a:rPr lang="zh-CN" altLang="en-US" dirty="0" smtClean="0"/>
              <a:t>干冰</a:t>
            </a:r>
            <a:r>
              <a:rPr lang="en-US" altLang="zh-CN" dirty="0" smtClean="0"/>
              <a:t>		</a:t>
            </a:r>
            <a:r>
              <a:rPr lang="zh-CN" altLang="en-US" dirty="0" smtClean="0"/>
              <a:t>分子晶体</a:t>
            </a:r>
            <a:r>
              <a:rPr lang="en-US" altLang="zh-CN" dirty="0" smtClean="0"/>
              <a:t>		</a:t>
            </a:r>
            <a:r>
              <a:rPr lang="zh-CN" altLang="en-US" dirty="0" smtClean="0"/>
              <a:t>范德华力</a:t>
            </a:r>
            <a:endParaRPr lang="en-US" altLang="zh-CN" dirty="0" smtClean="0"/>
          </a:p>
          <a:p>
            <a:pPr marL="514350" indent="-514350">
              <a:buNone/>
            </a:pPr>
            <a:r>
              <a:rPr lang="en-US" altLang="zh-CN" dirty="0" smtClean="0"/>
              <a:t>	</a:t>
            </a:r>
            <a:r>
              <a:rPr lang="zh-CN" altLang="en-US" dirty="0" smtClean="0"/>
              <a:t>铜</a:t>
            </a:r>
            <a:r>
              <a:rPr lang="en-US" altLang="zh-CN" dirty="0" smtClean="0"/>
              <a:t>		</a:t>
            </a:r>
            <a:r>
              <a:rPr lang="zh-CN" altLang="en-US" dirty="0" smtClean="0"/>
              <a:t>金属晶体</a:t>
            </a:r>
            <a:r>
              <a:rPr lang="en-US" altLang="zh-CN" dirty="0" smtClean="0"/>
              <a:t>		</a:t>
            </a:r>
            <a:r>
              <a:rPr lang="zh-CN" altLang="en-US" dirty="0" smtClean="0"/>
              <a:t>金属键</a:t>
            </a:r>
            <a:endParaRPr lang="en-US" altLang="zh-CN" dirty="0" smtClean="0"/>
          </a:p>
          <a:p>
            <a:pPr marL="514350" indent="-514350">
              <a:buNone/>
            </a:pPr>
            <a:r>
              <a:rPr lang="en-US" altLang="zh-CN" dirty="0" smtClean="0"/>
              <a:t>	</a:t>
            </a:r>
            <a:r>
              <a:rPr lang="zh-CN" altLang="en-US" dirty="0" smtClean="0"/>
              <a:t>硅</a:t>
            </a:r>
            <a:r>
              <a:rPr lang="en-US" altLang="zh-CN" dirty="0" smtClean="0"/>
              <a:t>		</a:t>
            </a:r>
            <a:r>
              <a:rPr lang="zh-CN" altLang="en-US" dirty="0" smtClean="0"/>
              <a:t>原子晶体</a:t>
            </a:r>
            <a:r>
              <a:rPr lang="en-US" altLang="zh-CN" dirty="0" smtClean="0"/>
              <a:t>		</a:t>
            </a:r>
            <a:r>
              <a:rPr lang="zh-CN" altLang="en-US" dirty="0" smtClean="0"/>
              <a:t>共价键</a:t>
            </a:r>
            <a:endParaRPr lang="en-US" altLang="zh-CN" dirty="0" smtClean="0"/>
          </a:p>
          <a:p>
            <a:pPr marL="514350" indent="-514350">
              <a:buNone/>
            </a:pPr>
            <a:endParaRPr lang="en-US" altLang="zh-CN" dirty="0" smtClean="0"/>
          </a:p>
        </p:txBody>
      </p:sp>
      <p:sp>
        <p:nvSpPr>
          <p:cNvPr id="4" name="Rounded Rectangle 3"/>
          <p:cNvSpPr/>
          <p:nvPr/>
        </p:nvSpPr>
        <p:spPr>
          <a:xfrm>
            <a:off x="3124200" y="10668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791200" y="10668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124200" y="16002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791200" y="16002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3124200" y="21336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791200" y="21336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3124200" y="26670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5791200" y="26670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3124200" y="32004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5791200" y="32004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3124200" y="36576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5791200" y="37338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3124200" y="41910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5791200" y="42672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3124200" y="47244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5791200" y="48006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3124200" y="52578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p:nvSpPr>
        <p:spPr>
          <a:xfrm>
            <a:off x="5791200" y="53340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3124200" y="57912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5791200" y="5867400"/>
            <a:ext cx="1752600" cy="53340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1" nodeType="clickEffect">
                                  <p:stCondLst>
                                    <p:cond delay="0"/>
                                  </p:stCondLst>
                                  <p:childTnLst>
                                    <p:animEffect transition="out" filter="blinds(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0" nodeType="clickEffect">
                                  <p:stCondLst>
                                    <p:cond delay="0"/>
                                  </p:stCondLst>
                                  <p:childTnLst>
                                    <p:animEffect transition="out" filter="blinds(horizontal)">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0" nodeType="clickEffect">
                                  <p:stCondLst>
                                    <p:cond delay="0"/>
                                  </p:stCondLst>
                                  <p:childTnLst>
                                    <p:animEffect transition="out" filter="blinds(horizontal)">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0" nodeType="clickEffect">
                                  <p:stCondLst>
                                    <p:cond delay="0"/>
                                  </p:stCondLst>
                                  <p:childTnLst>
                                    <p:animEffect transition="out" filter="blinds(horizontal)">
                                      <p:cBhvr>
                                        <p:cTn id="41" dur="500"/>
                                        <p:tgtEl>
                                          <p:spTgt spid="11"/>
                                        </p:tgtEl>
                                      </p:cBhvr>
                                    </p:animEffect>
                                    <p:set>
                                      <p:cBhvr>
                                        <p:cTn id="42" dur="1" fill="hold">
                                          <p:stCondLst>
                                            <p:cond delay="499"/>
                                          </p:stCondLst>
                                        </p:cTn>
                                        <p:tgtEl>
                                          <p:spTgt spid="1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3" presetClass="exit" presetSubtype="10" fill="hold" grpId="0" nodeType="clickEffect">
                                  <p:stCondLst>
                                    <p:cond delay="0"/>
                                  </p:stCondLst>
                                  <p:childTnLst>
                                    <p:animEffect transition="out" filter="blinds(horizontal)">
                                      <p:cBhvr>
                                        <p:cTn id="46" dur="500"/>
                                        <p:tgtEl>
                                          <p:spTgt spid="12"/>
                                        </p:tgtEl>
                                      </p:cBhvr>
                                    </p:animEffect>
                                    <p:set>
                                      <p:cBhvr>
                                        <p:cTn id="47" dur="1" fill="hold">
                                          <p:stCondLst>
                                            <p:cond delay="499"/>
                                          </p:stCondLst>
                                        </p:cTn>
                                        <p:tgtEl>
                                          <p:spTgt spid="1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0" nodeType="clickEffect">
                                  <p:stCondLst>
                                    <p:cond delay="0"/>
                                  </p:stCondLst>
                                  <p:childTnLst>
                                    <p:animEffect transition="out" filter="blinds(horizontal)">
                                      <p:cBhvr>
                                        <p:cTn id="51" dur="500"/>
                                        <p:tgtEl>
                                          <p:spTgt spid="13"/>
                                        </p:tgtEl>
                                      </p:cBhvr>
                                    </p:animEffect>
                                    <p:set>
                                      <p:cBhvr>
                                        <p:cTn id="52" dur="1" fill="hold">
                                          <p:stCondLst>
                                            <p:cond delay="499"/>
                                          </p:stCondLst>
                                        </p:cTn>
                                        <p:tgtEl>
                                          <p:spTgt spid="13"/>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 presetClass="exit" presetSubtype="10" fill="hold" grpId="0" nodeType="clickEffect">
                                  <p:stCondLst>
                                    <p:cond delay="0"/>
                                  </p:stCondLst>
                                  <p:childTnLst>
                                    <p:animEffect transition="out" filter="blinds(horizontal)">
                                      <p:cBhvr>
                                        <p:cTn id="56" dur="500"/>
                                        <p:tgtEl>
                                          <p:spTgt spid="14"/>
                                        </p:tgtEl>
                                      </p:cBhvr>
                                    </p:animEffect>
                                    <p:set>
                                      <p:cBhvr>
                                        <p:cTn id="57" dur="1" fill="hold">
                                          <p:stCondLst>
                                            <p:cond delay="499"/>
                                          </p:stCondLst>
                                        </p:cTn>
                                        <p:tgtEl>
                                          <p:spTgt spid="1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3" presetClass="exit" presetSubtype="10" fill="hold" grpId="0" nodeType="clickEffect">
                                  <p:stCondLst>
                                    <p:cond delay="0"/>
                                  </p:stCondLst>
                                  <p:childTnLst>
                                    <p:animEffect transition="out" filter="blinds(horizontal)">
                                      <p:cBhvr>
                                        <p:cTn id="61" dur="500"/>
                                        <p:tgtEl>
                                          <p:spTgt spid="15"/>
                                        </p:tgtEl>
                                      </p:cBhvr>
                                    </p:animEffect>
                                    <p:set>
                                      <p:cBhvr>
                                        <p:cTn id="62" dur="1" fill="hold">
                                          <p:stCondLst>
                                            <p:cond delay="499"/>
                                          </p:stCondLst>
                                        </p:cTn>
                                        <p:tgtEl>
                                          <p:spTgt spid="1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 presetClass="exit" presetSubtype="10" fill="hold" grpId="0" nodeType="clickEffect">
                                  <p:stCondLst>
                                    <p:cond delay="0"/>
                                  </p:stCondLst>
                                  <p:childTnLst>
                                    <p:animEffect transition="out" filter="blinds(horizontal)">
                                      <p:cBhvr>
                                        <p:cTn id="66" dur="500"/>
                                        <p:tgtEl>
                                          <p:spTgt spid="16"/>
                                        </p:tgtEl>
                                      </p:cBhvr>
                                    </p:animEffect>
                                    <p:set>
                                      <p:cBhvr>
                                        <p:cTn id="67" dur="1" fill="hold">
                                          <p:stCondLst>
                                            <p:cond delay="499"/>
                                          </p:stCondLst>
                                        </p:cTn>
                                        <p:tgtEl>
                                          <p:spTgt spid="16"/>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3" presetClass="exit" presetSubtype="10" fill="hold" grpId="0" nodeType="clickEffect">
                                  <p:stCondLst>
                                    <p:cond delay="0"/>
                                  </p:stCondLst>
                                  <p:childTnLst>
                                    <p:animEffect transition="out" filter="blinds(horizontal)">
                                      <p:cBhvr>
                                        <p:cTn id="71" dur="500"/>
                                        <p:tgtEl>
                                          <p:spTgt spid="17"/>
                                        </p:tgtEl>
                                      </p:cBhvr>
                                    </p:animEffect>
                                    <p:set>
                                      <p:cBhvr>
                                        <p:cTn id="72" dur="1" fill="hold">
                                          <p:stCondLst>
                                            <p:cond delay="499"/>
                                          </p:stCondLst>
                                        </p:cTn>
                                        <p:tgtEl>
                                          <p:spTgt spid="17"/>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3" presetClass="exit" presetSubtype="10" fill="hold" grpId="0" nodeType="clickEffect">
                                  <p:stCondLst>
                                    <p:cond delay="0"/>
                                  </p:stCondLst>
                                  <p:childTnLst>
                                    <p:animEffect transition="out" filter="blinds(horizontal)">
                                      <p:cBhvr>
                                        <p:cTn id="76" dur="500"/>
                                        <p:tgtEl>
                                          <p:spTgt spid="18"/>
                                        </p:tgtEl>
                                      </p:cBhvr>
                                    </p:animEffect>
                                    <p:set>
                                      <p:cBhvr>
                                        <p:cTn id="77" dur="1" fill="hold">
                                          <p:stCondLst>
                                            <p:cond delay="499"/>
                                          </p:stCondLst>
                                        </p:cTn>
                                        <p:tgtEl>
                                          <p:spTgt spid="18"/>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3" presetClass="exit" presetSubtype="10" fill="hold" grpId="0" nodeType="clickEffect">
                                  <p:stCondLst>
                                    <p:cond delay="0"/>
                                  </p:stCondLst>
                                  <p:childTnLst>
                                    <p:animEffect transition="out" filter="blinds(horizontal)">
                                      <p:cBhvr>
                                        <p:cTn id="81" dur="500"/>
                                        <p:tgtEl>
                                          <p:spTgt spid="19"/>
                                        </p:tgtEl>
                                      </p:cBhvr>
                                    </p:animEffect>
                                    <p:set>
                                      <p:cBhvr>
                                        <p:cTn id="82" dur="1" fill="hold">
                                          <p:stCondLst>
                                            <p:cond delay="499"/>
                                          </p:stCondLst>
                                        </p:cTn>
                                        <p:tgtEl>
                                          <p:spTgt spid="19"/>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3" presetClass="exit" presetSubtype="10" fill="hold" grpId="0" nodeType="clickEffect">
                                  <p:stCondLst>
                                    <p:cond delay="0"/>
                                  </p:stCondLst>
                                  <p:childTnLst>
                                    <p:animEffect transition="out" filter="blinds(horizontal)">
                                      <p:cBhvr>
                                        <p:cTn id="86" dur="500"/>
                                        <p:tgtEl>
                                          <p:spTgt spid="20"/>
                                        </p:tgtEl>
                                      </p:cBhvr>
                                    </p:animEffect>
                                    <p:set>
                                      <p:cBhvr>
                                        <p:cTn id="87" dur="1" fill="hold">
                                          <p:stCondLst>
                                            <p:cond delay="499"/>
                                          </p:stCondLst>
                                        </p:cTn>
                                        <p:tgtEl>
                                          <p:spTgt spid="20"/>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3" presetClass="exit" presetSubtype="10" fill="hold" grpId="0" nodeType="clickEffect">
                                  <p:stCondLst>
                                    <p:cond delay="0"/>
                                  </p:stCondLst>
                                  <p:childTnLst>
                                    <p:animEffect transition="out" filter="blinds(horizontal)">
                                      <p:cBhvr>
                                        <p:cTn id="91" dur="500"/>
                                        <p:tgtEl>
                                          <p:spTgt spid="21"/>
                                        </p:tgtEl>
                                      </p:cBhvr>
                                    </p:animEffect>
                                    <p:set>
                                      <p:cBhvr>
                                        <p:cTn id="92" dur="1" fill="hold">
                                          <p:stCondLst>
                                            <p:cond delay="499"/>
                                          </p:stCondLst>
                                        </p:cTn>
                                        <p:tgtEl>
                                          <p:spTgt spid="21"/>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3" presetClass="exit" presetSubtype="10" fill="hold" grpId="0" nodeType="clickEffect">
                                  <p:stCondLst>
                                    <p:cond delay="0"/>
                                  </p:stCondLst>
                                  <p:childTnLst>
                                    <p:animEffect transition="out" filter="blinds(horizontal)">
                                      <p:cBhvr>
                                        <p:cTn id="96" dur="500"/>
                                        <p:tgtEl>
                                          <p:spTgt spid="22"/>
                                        </p:tgtEl>
                                      </p:cBhvr>
                                    </p:animEffect>
                                    <p:set>
                                      <p:cBhvr>
                                        <p:cTn id="97" dur="1" fill="hold">
                                          <p:stCondLst>
                                            <p:cond delay="499"/>
                                          </p:stCondLst>
                                        </p:cTn>
                                        <p:tgtEl>
                                          <p:spTgt spid="22"/>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3" presetClass="exit" presetSubtype="10" fill="hold" grpId="0" nodeType="clickEffect">
                                  <p:stCondLst>
                                    <p:cond delay="0"/>
                                  </p:stCondLst>
                                  <p:childTnLst>
                                    <p:animEffect transition="out" filter="blinds(horizontal)">
                                      <p:cBhvr>
                                        <p:cTn id="101" dur="500"/>
                                        <p:tgtEl>
                                          <p:spTgt spid="23"/>
                                        </p:tgtEl>
                                      </p:cBhvr>
                                    </p:animEffect>
                                    <p:set>
                                      <p:cBhvr>
                                        <p:cTn id="102"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5901139</TotalTime>
  <Words>3210</Words>
  <Application>Microsoft Office PowerPoint</Application>
  <PresentationFormat>On-screen Show (4:3)</PresentationFormat>
  <Paragraphs>622</Paragraphs>
  <Slides>56</Slides>
  <Notes>1</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第7章   化学键</vt:lpstr>
      <vt:lpstr>什么是化学键？</vt:lpstr>
      <vt:lpstr>分子间的作用力</vt:lpstr>
      <vt:lpstr>7.1.1  离子键</vt:lpstr>
      <vt:lpstr>八隅体规则</vt:lpstr>
      <vt:lpstr>当两种离子接近到某种距离时，吸引和排斥作用达到平衡，正负离子之间就会形成稳定的化学键即离子键。P163(1)</vt:lpstr>
      <vt:lpstr>离子化合物的电子式</vt:lpstr>
      <vt:lpstr>7.1.2 共价键</vt:lpstr>
      <vt:lpstr>Slide 9</vt:lpstr>
      <vt:lpstr>Slide 10</vt:lpstr>
      <vt:lpstr>单键、双键、三键</vt:lpstr>
      <vt:lpstr>Slide 12</vt:lpstr>
      <vt:lpstr>电子式</vt:lpstr>
      <vt:lpstr>Slide 14</vt:lpstr>
      <vt:lpstr>思考题7a</vt:lpstr>
      <vt:lpstr>配位键（特殊共价键）</vt:lpstr>
      <vt:lpstr>思考题7b</vt:lpstr>
      <vt:lpstr>非极性键和极性键</vt:lpstr>
      <vt:lpstr>电负性越大，吸引电子对的能力越强</vt:lpstr>
      <vt:lpstr>Slide 20</vt:lpstr>
      <vt:lpstr>2个成键原子之间电负性差</vt:lpstr>
      <vt:lpstr>Slide 22</vt:lpstr>
      <vt:lpstr>交流分享</vt:lpstr>
      <vt:lpstr>交流分享</vt:lpstr>
      <vt:lpstr>交流分享</vt:lpstr>
      <vt:lpstr>极性分子整个分子的电子云分布不均匀</vt:lpstr>
      <vt:lpstr>极性分子和非极性分子</vt:lpstr>
      <vt:lpstr>价层电子对互斥理论</vt:lpstr>
      <vt:lpstr>Slide 29</vt:lpstr>
      <vt:lpstr>思考题7c</vt:lpstr>
      <vt:lpstr>7.1.3  金属键</vt:lpstr>
      <vt:lpstr>7.2分子间作用力</vt:lpstr>
      <vt:lpstr>7.2.1范德华力</vt:lpstr>
      <vt:lpstr>7.2.2 氢键</vt:lpstr>
      <vt:lpstr>7.2.2氢键</vt:lpstr>
      <vt:lpstr>7.2.2氢键</vt:lpstr>
      <vt:lpstr>思考题7d</vt:lpstr>
      <vt:lpstr>补充题</vt:lpstr>
      <vt:lpstr>7.3 晶体及其特性</vt:lpstr>
      <vt:lpstr>7.3 晶体及其特性</vt:lpstr>
      <vt:lpstr>7.3.1 离子晶体</vt:lpstr>
      <vt:lpstr>思考题7e</vt:lpstr>
      <vt:lpstr>7.3.2 原子晶体</vt:lpstr>
      <vt:lpstr>7.3.3 分子晶体</vt:lpstr>
      <vt:lpstr>问题解决</vt:lpstr>
      <vt:lpstr>7.3.4 金属晶体</vt:lpstr>
      <vt:lpstr>判断下列物质的晶体类型</vt:lpstr>
      <vt:lpstr>思考题7f</vt:lpstr>
      <vt:lpstr>思考题7f</vt:lpstr>
      <vt:lpstr>选择题</vt:lpstr>
      <vt:lpstr>选择题</vt:lpstr>
      <vt:lpstr>选择题</vt:lpstr>
      <vt:lpstr>作答题</vt:lpstr>
      <vt:lpstr>作答题</vt:lpstr>
      <vt:lpstr>作答题</vt:lpstr>
      <vt:lpstr>作答题</vt:lpstr>
    </vt:vector>
  </TitlesOfParts>
  <Company>Office Black Edition - tum0r</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化学键</dc:title>
  <dc:creator>user</dc:creator>
  <cp:lastModifiedBy>user</cp:lastModifiedBy>
  <cp:revision>156</cp:revision>
  <dcterms:created xsi:type="dcterms:W3CDTF">2016-03-19T08:29:52Z</dcterms:created>
  <dcterms:modified xsi:type="dcterms:W3CDTF">2018-11-22T14:59:08Z</dcterms:modified>
</cp:coreProperties>
</file>