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87"/>
  </p:notesMasterIdLst>
  <p:sldIdLst>
    <p:sldId id="258" r:id="rId2"/>
    <p:sldId id="285" r:id="rId3"/>
    <p:sldId id="286" r:id="rId4"/>
    <p:sldId id="288" r:id="rId5"/>
    <p:sldId id="292" r:id="rId6"/>
    <p:sldId id="294" r:id="rId7"/>
    <p:sldId id="293" r:id="rId8"/>
    <p:sldId id="295" r:id="rId9"/>
    <p:sldId id="296" r:id="rId10"/>
    <p:sldId id="289" r:id="rId11"/>
    <p:sldId id="300" r:id="rId12"/>
    <p:sldId id="297" r:id="rId13"/>
    <p:sldId id="318" r:id="rId14"/>
    <p:sldId id="302" r:id="rId15"/>
    <p:sldId id="303" r:id="rId16"/>
    <p:sldId id="306" r:id="rId17"/>
    <p:sldId id="307" r:id="rId18"/>
    <p:sldId id="301" r:id="rId19"/>
    <p:sldId id="299" r:id="rId20"/>
    <p:sldId id="304" r:id="rId21"/>
    <p:sldId id="305" r:id="rId22"/>
    <p:sldId id="308" r:id="rId23"/>
    <p:sldId id="317" r:id="rId24"/>
    <p:sldId id="346" r:id="rId25"/>
    <p:sldId id="309" r:id="rId26"/>
    <p:sldId id="347" r:id="rId27"/>
    <p:sldId id="310" r:id="rId28"/>
    <p:sldId id="311" r:id="rId29"/>
    <p:sldId id="312" r:id="rId30"/>
    <p:sldId id="313" r:id="rId31"/>
    <p:sldId id="314" r:id="rId32"/>
    <p:sldId id="315" r:id="rId33"/>
    <p:sldId id="316" r:id="rId34"/>
    <p:sldId id="319" r:id="rId35"/>
    <p:sldId id="321" r:id="rId36"/>
    <p:sldId id="322" r:id="rId37"/>
    <p:sldId id="287" r:id="rId38"/>
    <p:sldId id="290" r:id="rId39"/>
    <p:sldId id="323" r:id="rId40"/>
    <p:sldId id="324" r:id="rId41"/>
    <p:sldId id="325" r:id="rId42"/>
    <p:sldId id="291" r:id="rId43"/>
    <p:sldId id="326" r:id="rId44"/>
    <p:sldId id="327" r:id="rId45"/>
    <p:sldId id="328" r:id="rId46"/>
    <p:sldId id="329" r:id="rId47"/>
    <p:sldId id="330" r:id="rId48"/>
    <p:sldId id="298" r:id="rId49"/>
    <p:sldId id="348" r:id="rId50"/>
    <p:sldId id="331" r:id="rId51"/>
    <p:sldId id="332" r:id="rId52"/>
    <p:sldId id="333" r:id="rId53"/>
    <p:sldId id="334" r:id="rId54"/>
    <p:sldId id="335" r:id="rId55"/>
    <p:sldId id="336" r:id="rId56"/>
    <p:sldId id="337" r:id="rId57"/>
    <p:sldId id="338" r:id="rId58"/>
    <p:sldId id="339" r:id="rId59"/>
    <p:sldId id="340" r:id="rId60"/>
    <p:sldId id="341" r:id="rId61"/>
    <p:sldId id="342" r:id="rId62"/>
    <p:sldId id="343" r:id="rId63"/>
    <p:sldId id="344" r:id="rId64"/>
    <p:sldId id="345" r:id="rId65"/>
    <p:sldId id="349" r:id="rId66"/>
    <p:sldId id="350" r:id="rId67"/>
    <p:sldId id="355" r:id="rId68"/>
    <p:sldId id="356" r:id="rId69"/>
    <p:sldId id="351" r:id="rId70"/>
    <p:sldId id="357" r:id="rId71"/>
    <p:sldId id="352" r:id="rId72"/>
    <p:sldId id="353" r:id="rId73"/>
    <p:sldId id="358" r:id="rId74"/>
    <p:sldId id="359" r:id="rId75"/>
    <p:sldId id="360" r:id="rId76"/>
    <p:sldId id="354" r:id="rId77"/>
    <p:sldId id="361" r:id="rId78"/>
    <p:sldId id="362" r:id="rId79"/>
    <p:sldId id="364" r:id="rId80"/>
    <p:sldId id="363" r:id="rId81"/>
    <p:sldId id="365" r:id="rId82"/>
    <p:sldId id="366" r:id="rId83"/>
    <p:sldId id="367" r:id="rId84"/>
    <p:sldId id="368" r:id="rId85"/>
    <p:sldId id="369" r:id="rId8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1ABC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29" autoAdjust="0"/>
    <p:restoredTop sz="94660"/>
  </p:normalViewPr>
  <p:slideViewPr>
    <p:cSldViewPr>
      <p:cViewPr varScale="1">
        <p:scale>
          <a:sx n="68" d="100"/>
          <a:sy n="68" d="100"/>
        </p:scale>
        <p:origin x="54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556F51-9C76-487D-9ECB-C8AE5B1B4879}" type="datetimeFigureOut">
              <a:rPr lang="en-MY" smtClean="0"/>
              <a:t>29/3/2020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2DD0A5-3CF9-4019-893D-F0E0CF8FC55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01405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F71C6-9FD8-42E2-9AD0-C7EDC8F21205}" type="slidenum">
              <a:rPr lang="en-US" smtClean="0"/>
              <a:t>82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gi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jp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gif"/><Relationship Id="rId5" Type="http://schemas.openxmlformats.org/officeDocument/2006/relationships/image" Target="../media/image44.gif"/><Relationship Id="rId4" Type="http://schemas.openxmlformats.org/officeDocument/2006/relationships/image" Target="../media/image43.gif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85800"/>
            <a:ext cx="9144000" cy="5562600"/>
          </a:xfrm>
        </p:spPr>
        <p:txBody>
          <a:bodyPr>
            <a:noAutofit/>
          </a:bodyPr>
          <a:lstStyle/>
          <a:p>
            <a:r>
              <a:rPr lang="zh-CN" altLang="en-US" sz="8000" b="1" dirty="0">
                <a:ln w="17780" cmpd="sng">
                  <a:solidFill>
                    <a:srgbClr val="92D050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第</a:t>
            </a:r>
            <a:r>
              <a:rPr lang="en-US" altLang="zh-CN" sz="8000" b="1" dirty="0">
                <a:ln w="17780" cmpd="sng">
                  <a:solidFill>
                    <a:srgbClr val="92D050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34</a:t>
            </a:r>
            <a:r>
              <a:rPr lang="zh-CN" altLang="en-US" sz="8000" b="1" dirty="0">
                <a:ln w="17780" cmpd="sng">
                  <a:solidFill>
                    <a:srgbClr val="92D050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章 </a:t>
            </a:r>
            <a:br>
              <a:rPr lang="en-US" altLang="zh-CN" sz="8000" b="1" dirty="0">
                <a:ln w="17780" cmpd="sng">
                  <a:solidFill>
                    <a:srgbClr val="92D050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</a:br>
            <a:r>
              <a:rPr lang="zh-CN" altLang="en-US" sz="8000" b="1" dirty="0">
                <a:ln w="17780" cmpd="sng">
                  <a:solidFill>
                    <a:srgbClr val="92D050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有机酸及其衍生物</a:t>
            </a:r>
            <a:endParaRPr lang="en-US" sz="8000" b="1" dirty="0">
              <a:ln w="17780" cmpd="sng">
                <a:solidFill>
                  <a:srgbClr val="92D050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34.1 </a:t>
            </a:r>
            <a:r>
              <a:rPr lang="zh-CN" altLang="en-US" sz="4000" b="1" dirty="0">
                <a:latin typeface="+mn-ea"/>
              </a:rPr>
              <a:t>羧酸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官能团：</a:t>
            </a:r>
            <a:r>
              <a:rPr lang="en-US" altLang="zh-CN" sz="2800" dirty="0"/>
              <a:t>—COOH</a:t>
            </a:r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常见的羧酸：</a:t>
            </a:r>
            <a:endParaRPr lang="en-US" altLang="zh-CN" sz="2800" dirty="0"/>
          </a:p>
          <a:p>
            <a:pPr marL="914400" lvl="1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dirty="0"/>
              <a:t>醋酸</a:t>
            </a:r>
            <a:r>
              <a:rPr lang="en-US" altLang="zh-CN" dirty="0"/>
              <a:t>(</a:t>
            </a:r>
            <a:r>
              <a:rPr lang="zh-CN" altLang="en-US" dirty="0"/>
              <a:t>乙酸</a:t>
            </a:r>
            <a:r>
              <a:rPr lang="en-US" altLang="zh-CN" dirty="0"/>
              <a:t>)</a:t>
            </a:r>
          </a:p>
          <a:p>
            <a:pPr marL="914400" lvl="1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dirty="0"/>
              <a:t>果酸</a:t>
            </a:r>
            <a:r>
              <a:rPr lang="en-US" altLang="zh-CN" dirty="0"/>
              <a:t>(</a:t>
            </a:r>
            <a:r>
              <a:rPr lang="el-GR" dirty="0"/>
              <a:t>α-</a:t>
            </a:r>
            <a:r>
              <a:rPr lang="zh-CN" altLang="en-US" dirty="0"/>
              <a:t>羟基酸</a:t>
            </a:r>
            <a:r>
              <a:rPr lang="en-US" altLang="zh-CN" dirty="0"/>
              <a:t>):</a:t>
            </a:r>
            <a:r>
              <a:rPr lang="zh-CN" altLang="en-US" dirty="0"/>
              <a:t>柠檬酸</a:t>
            </a:r>
            <a:r>
              <a:rPr lang="en-US" altLang="zh-CN" dirty="0"/>
              <a:t>(3-</a:t>
            </a:r>
            <a:r>
              <a:rPr lang="zh-CN" altLang="en-US" dirty="0"/>
              <a:t>羟基</a:t>
            </a:r>
            <a:r>
              <a:rPr lang="en-US" altLang="zh-CN" dirty="0"/>
              <a:t>-3-</a:t>
            </a:r>
            <a:r>
              <a:rPr lang="zh-CN" altLang="en-US" dirty="0"/>
              <a:t>羧基</a:t>
            </a:r>
            <a:r>
              <a:rPr lang="en-US" altLang="zh-CN" dirty="0">
                <a:solidFill>
                  <a:srgbClr val="7030A0"/>
                </a:solidFill>
              </a:rPr>
              <a:t>-1,5-</a:t>
            </a:r>
            <a:r>
              <a:rPr lang="zh-CN" altLang="en-US" dirty="0"/>
              <a:t>戊二酸 </a:t>
            </a:r>
            <a:r>
              <a:rPr lang="en-US" altLang="zh-CN" dirty="0"/>
              <a:t>)</a:t>
            </a:r>
          </a:p>
          <a:p>
            <a:pPr marL="914400" lvl="1" indent="-514350">
              <a:spcBef>
                <a:spcPts val="600"/>
              </a:spcBef>
              <a:buNone/>
            </a:pPr>
            <a:r>
              <a:rPr lang="en-US" altLang="zh-CN" dirty="0"/>
              <a:t>			       </a:t>
            </a:r>
            <a:r>
              <a:rPr lang="zh-CN" altLang="en-US" dirty="0"/>
              <a:t>酒石酸</a:t>
            </a:r>
            <a:r>
              <a:rPr lang="en-US" altLang="zh-CN" dirty="0"/>
              <a:t>(2,3-</a:t>
            </a:r>
            <a:r>
              <a:rPr lang="zh-CN" altLang="en-US" dirty="0"/>
              <a:t>二羟基</a:t>
            </a:r>
            <a:r>
              <a:rPr lang="en-US" altLang="zh-CN" dirty="0">
                <a:solidFill>
                  <a:srgbClr val="7030A0"/>
                </a:solidFill>
              </a:rPr>
              <a:t>-1,4-</a:t>
            </a:r>
            <a:r>
              <a:rPr lang="zh-CN" altLang="en-US" dirty="0"/>
              <a:t>丁二酸</a:t>
            </a:r>
            <a:r>
              <a:rPr lang="en-US" altLang="zh-CN" dirty="0"/>
              <a:t>)</a:t>
            </a:r>
          </a:p>
          <a:p>
            <a:pPr marL="914400" lvl="1" indent="-514350">
              <a:spcBef>
                <a:spcPts val="600"/>
              </a:spcBef>
              <a:buNone/>
            </a:pPr>
            <a:r>
              <a:rPr lang="en-US" altLang="zh-CN" dirty="0"/>
              <a:t>			       </a:t>
            </a:r>
            <a:r>
              <a:rPr lang="zh-CN" altLang="en-US" dirty="0"/>
              <a:t>乳酸</a:t>
            </a:r>
            <a:r>
              <a:rPr lang="en-US" altLang="zh-CN" dirty="0"/>
              <a:t>(2-</a:t>
            </a:r>
            <a:r>
              <a:rPr lang="zh-CN" altLang="en-US" dirty="0"/>
              <a:t>羟基丙酸</a:t>
            </a:r>
            <a:r>
              <a:rPr lang="en-US" altLang="zh-CN" dirty="0"/>
              <a:t>)</a:t>
            </a:r>
          </a:p>
          <a:p>
            <a:pPr marL="914400" lvl="1" indent="-514350">
              <a:spcBef>
                <a:spcPts val="600"/>
              </a:spcBef>
              <a:buNone/>
            </a:pPr>
            <a:r>
              <a:rPr lang="en-US" altLang="zh-CN" dirty="0"/>
              <a:t>			       </a:t>
            </a:r>
            <a:r>
              <a:rPr lang="zh-CN" altLang="en-US" dirty="0"/>
              <a:t>苹果酸</a:t>
            </a:r>
            <a:r>
              <a:rPr lang="en-US" altLang="zh-CN" dirty="0"/>
              <a:t>(2-</a:t>
            </a:r>
            <a:r>
              <a:rPr lang="zh-CN" altLang="en-US" dirty="0"/>
              <a:t>羟基</a:t>
            </a:r>
            <a:r>
              <a:rPr lang="en-US" altLang="zh-CN" dirty="0">
                <a:solidFill>
                  <a:srgbClr val="7030A0"/>
                </a:solidFill>
              </a:rPr>
              <a:t>-1,4-</a:t>
            </a:r>
            <a:r>
              <a:rPr lang="zh-CN" altLang="en-US" dirty="0"/>
              <a:t>丁二酸</a:t>
            </a:r>
            <a:r>
              <a:rPr lang="en-US" altLang="zh-CN" dirty="0"/>
              <a:t>)</a:t>
            </a:r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存在形式：</a:t>
            </a:r>
            <a:endParaRPr lang="en-US" altLang="zh-CN" sz="2800" dirty="0"/>
          </a:p>
          <a:p>
            <a:pPr marL="914400" lvl="1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dirty="0"/>
              <a:t>盐类：肥皂</a:t>
            </a:r>
            <a:r>
              <a:rPr lang="en-US" altLang="zh-CN" dirty="0"/>
              <a:t>(</a:t>
            </a:r>
            <a:r>
              <a:rPr lang="zh-CN" altLang="en-US" dirty="0"/>
              <a:t>脂肪酸钠</a:t>
            </a:r>
            <a:r>
              <a:rPr lang="en-US" altLang="zh-CN" dirty="0"/>
              <a:t>)</a:t>
            </a:r>
          </a:p>
          <a:p>
            <a:pPr marL="914400" lvl="1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dirty="0"/>
              <a:t>酯类：液态植物油、固态动物脂肪</a:t>
            </a:r>
            <a:endParaRPr lang="en-US" altLang="zh-CN" dirty="0"/>
          </a:p>
          <a:p>
            <a:pPr marL="914400" lvl="1" indent="-514350"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600" dirty="0"/>
          </a:p>
          <a:p>
            <a:pPr marL="914400" lvl="1" indent="-514350">
              <a:spcBef>
                <a:spcPts val="600"/>
              </a:spcBef>
              <a:buNone/>
            </a:pPr>
            <a:endParaRPr lang="en-US" altLang="zh-CN" sz="2600" dirty="0"/>
          </a:p>
        </p:txBody>
      </p:sp>
      <p:grpSp>
        <p:nvGrpSpPr>
          <p:cNvPr id="5" name="Group 4"/>
          <p:cNvGrpSpPr/>
          <p:nvPr/>
        </p:nvGrpSpPr>
        <p:grpSpPr>
          <a:xfrm>
            <a:off x="4876800" y="762000"/>
            <a:ext cx="2438400" cy="1410422"/>
            <a:chOff x="6974840" y="5410200"/>
            <a:chExt cx="2438400" cy="1410422"/>
          </a:xfrm>
        </p:grpSpPr>
        <p:sp>
          <p:nvSpPr>
            <p:cNvPr id="6" name="Rectangle 5"/>
            <p:cNvSpPr/>
            <p:nvPr/>
          </p:nvSpPr>
          <p:spPr>
            <a:xfrm>
              <a:off x="7239000" y="6266624"/>
              <a:ext cx="217424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3000" dirty="0"/>
                <a:t>   —C—OH</a:t>
              </a:r>
            </a:p>
          </p:txBody>
        </p:sp>
        <p:pic>
          <p:nvPicPr>
            <p:cNvPr id="7" name="Picture 6" descr="137.3.gif"/>
            <p:cNvPicPr>
              <a:picLocks noChangeAspect="1"/>
            </p:cNvPicPr>
            <p:nvPr/>
          </p:nvPicPr>
          <p:blipFill>
            <a:blip r:embed="rId3"/>
            <a:srcRect t="48648" r="82979" b="34512"/>
            <a:stretch>
              <a:fillRect/>
            </a:stretch>
          </p:blipFill>
          <p:spPr>
            <a:xfrm>
              <a:off x="6974840" y="5410200"/>
              <a:ext cx="1788160" cy="10058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34.1.1 </a:t>
            </a:r>
            <a:r>
              <a:rPr lang="zh-CN" altLang="en-US" sz="4000" b="1" dirty="0">
                <a:latin typeface="+mn-ea"/>
              </a:rPr>
              <a:t>羧酸的分类和命名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None/>
            </a:pPr>
            <a:r>
              <a:rPr lang="zh-CN" altLang="en-US" sz="2800" dirty="0"/>
              <a:t>羧酸的分类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1.	</a:t>
            </a:r>
            <a:r>
              <a:rPr lang="zh-CN" altLang="en-US" sz="2800" dirty="0"/>
              <a:t>按烃基分类</a:t>
            </a:r>
            <a:endParaRPr lang="en-US" altLang="zh-CN" sz="2800" dirty="0"/>
          </a:p>
          <a:p>
            <a:pPr marL="914400" lvl="1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dirty="0"/>
              <a:t>脂肪羧酸（若烃基</a:t>
            </a:r>
            <a:r>
              <a:rPr lang="en-US" altLang="zh-CN" dirty="0"/>
              <a:t>C</a:t>
            </a:r>
            <a:r>
              <a:rPr lang="zh-CN" altLang="en-US" dirty="0"/>
              <a:t>数多称：高级脂肪酸）</a:t>
            </a:r>
            <a:endParaRPr lang="en-US" altLang="zh-CN" dirty="0"/>
          </a:p>
          <a:p>
            <a:pPr marL="1314450" lvl="2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饱和脂肪酸：乙酸</a:t>
            </a:r>
            <a:endParaRPr lang="en-US" altLang="zh-CN" sz="2800" dirty="0"/>
          </a:p>
          <a:p>
            <a:pPr marL="1314450" lvl="2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不饱和脂肪酸：丙烯酸</a:t>
            </a:r>
            <a:endParaRPr lang="en-US" altLang="zh-CN" sz="2800" dirty="0"/>
          </a:p>
          <a:p>
            <a:pPr marL="914400" lvl="1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dirty="0"/>
              <a:t>芳香羧酸：苯甲酸</a:t>
            </a:r>
            <a:endParaRPr lang="en-US" altLang="zh-CN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2.	</a:t>
            </a:r>
            <a:r>
              <a:rPr lang="zh-CN" altLang="en-US" sz="2800" dirty="0"/>
              <a:t>按羧基分类</a:t>
            </a:r>
            <a:endParaRPr lang="en-US" altLang="zh-CN" sz="2800" dirty="0"/>
          </a:p>
          <a:p>
            <a:pPr marL="914400" lvl="1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dirty="0"/>
              <a:t>一元酸：乙酸</a:t>
            </a:r>
            <a:r>
              <a:rPr lang="en-US" altLang="zh-CN" dirty="0"/>
              <a:t>	</a:t>
            </a:r>
            <a:r>
              <a:rPr lang="zh-CN" altLang="en-US" dirty="0"/>
              <a:t>多元酸</a:t>
            </a:r>
            <a:endParaRPr lang="en-US" altLang="zh-CN" dirty="0"/>
          </a:p>
          <a:p>
            <a:pPr marL="1314450" lvl="2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二元酸：草酸</a:t>
            </a:r>
            <a:r>
              <a:rPr lang="en-US" altLang="zh-CN" sz="2800" dirty="0"/>
              <a:t>(</a:t>
            </a:r>
            <a:r>
              <a:rPr lang="zh-CN" altLang="en-US" sz="2800" dirty="0"/>
              <a:t>乙二酸</a:t>
            </a:r>
            <a:r>
              <a:rPr lang="en-US" altLang="zh-CN" sz="2800" dirty="0"/>
              <a:t>)</a:t>
            </a:r>
          </a:p>
          <a:p>
            <a:pPr marL="1314450" lvl="2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三元酸：柠檬酸</a:t>
            </a:r>
            <a:r>
              <a:rPr lang="en-US" altLang="zh-CN" sz="2800" dirty="0"/>
              <a:t>(3-</a:t>
            </a:r>
            <a:r>
              <a:rPr lang="zh-CN" altLang="en-US" sz="2800" dirty="0"/>
              <a:t>羟基</a:t>
            </a:r>
            <a:r>
              <a:rPr lang="en-US" altLang="zh-CN" sz="2800" dirty="0"/>
              <a:t>-3-</a:t>
            </a:r>
            <a:r>
              <a:rPr lang="zh-CN" altLang="en-US" sz="2800" dirty="0"/>
              <a:t>羧基戊二酸 </a:t>
            </a:r>
            <a:r>
              <a:rPr lang="en-US" altLang="zh-CN" sz="2800" dirty="0"/>
              <a:t>)</a:t>
            </a:r>
          </a:p>
          <a:p>
            <a:pPr marL="914400" lvl="1" indent="-514350">
              <a:spcBef>
                <a:spcPts val="600"/>
              </a:spcBef>
              <a:buFont typeface="Wingdings" pitchFamily="2" charset="2"/>
              <a:buChar char="Ø"/>
            </a:pPr>
            <a:endParaRPr lang="en-US" altLang="zh-CN" dirty="0"/>
          </a:p>
          <a:p>
            <a:pPr marL="914400" lvl="1" indent="-514350">
              <a:spcBef>
                <a:spcPts val="600"/>
              </a:spcBef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34.1.1 </a:t>
            </a:r>
            <a:r>
              <a:rPr lang="zh-CN" altLang="en-US" sz="4000" b="1" dirty="0">
                <a:latin typeface="+mn-ea"/>
              </a:rPr>
              <a:t>羧酸的分类和命名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2800" dirty="0"/>
              <a:t>命名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选主链：含羧基的最长碳链，称“某酸”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编号：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从羧基一端开始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取代基的位置与名称注明在“某酸”前</a:t>
            </a:r>
            <a:endParaRPr lang="en-US" altLang="zh-CN" sz="2800" dirty="0"/>
          </a:p>
          <a:p>
            <a:pPr marL="914400" lvl="1" indent="-514350"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600" dirty="0"/>
          </a:p>
          <a:p>
            <a:pPr marL="914400" lvl="1" indent="-514350">
              <a:spcBef>
                <a:spcPts val="600"/>
              </a:spcBef>
              <a:buNone/>
            </a:pPr>
            <a:endParaRPr lang="en-US" altLang="zh-CN" sz="26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34.1.1 </a:t>
            </a:r>
            <a:r>
              <a:rPr lang="zh-CN" altLang="en-US" sz="4000" b="1" dirty="0">
                <a:latin typeface="+mn-ea"/>
              </a:rPr>
              <a:t>羧酸的分类和命名</a:t>
            </a:r>
            <a:endParaRPr lang="en-US" sz="4000" b="1" dirty="0"/>
          </a:p>
        </p:txBody>
      </p:sp>
      <p:sp>
        <p:nvSpPr>
          <p:cNvPr id="7" name="Rectangle 6"/>
          <p:cNvSpPr/>
          <p:nvPr/>
        </p:nvSpPr>
        <p:spPr>
          <a:xfrm>
            <a:off x="3962400" y="1676400"/>
            <a:ext cx="2743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514350">
              <a:spcBef>
                <a:spcPts val="600"/>
              </a:spcBef>
              <a:buNone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3-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甲基戊酸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962400" y="2819400"/>
            <a:ext cx="3505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514350">
              <a:spcBef>
                <a:spcPts val="600"/>
              </a:spcBef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2-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甲基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-3-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羟基丁酸</a:t>
            </a:r>
            <a:endParaRPr lang="en-US" altLang="zh-CN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62400" y="4455349"/>
            <a:ext cx="4724400" cy="10310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514350">
              <a:spcBef>
                <a:spcPts val="600"/>
              </a:spcBef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5-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甲基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-2-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乙基庚酸</a:t>
            </a:r>
            <a:endParaRPr lang="en-US" altLang="zh-CN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1" indent="-514350">
              <a:spcBef>
                <a:spcPts val="600"/>
              </a:spcBef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2" name="Picture 11" descr="146.4.png"/>
          <p:cNvPicPr>
            <a:picLocks noChangeAspect="1"/>
          </p:cNvPicPr>
          <p:nvPr/>
        </p:nvPicPr>
        <p:blipFill>
          <a:blip r:embed="rId3"/>
          <a:srcRect t="59064" b="12459"/>
          <a:stretch>
            <a:fillRect/>
          </a:stretch>
        </p:blipFill>
        <p:spPr>
          <a:xfrm>
            <a:off x="457200" y="2895600"/>
            <a:ext cx="3905250" cy="914400"/>
          </a:xfrm>
          <a:prstGeom prst="rect">
            <a:avLst/>
          </a:prstGeom>
        </p:spPr>
      </p:pic>
      <p:pic>
        <p:nvPicPr>
          <p:cNvPr id="14" name="Picture 13" descr="146.4.png"/>
          <p:cNvPicPr>
            <a:picLocks noChangeAspect="1"/>
          </p:cNvPicPr>
          <p:nvPr/>
        </p:nvPicPr>
        <p:blipFill>
          <a:blip r:embed="rId3"/>
          <a:srcRect t="6856" b="64667"/>
          <a:stretch>
            <a:fillRect/>
          </a:stretch>
        </p:blipFill>
        <p:spPr>
          <a:xfrm>
            <a:off x="457200" y="1600200"/>
            <a:ext cx="3905250" cy="914400"/>
          </a:xfrm>
          <a:prstGeom prst="rect">
            <a:avLst/>
          </a:prstGeom>
        </p:spPr>
      </p:pic>
      <p:pic>
        <p:nvPicPr>
          <p:cNvPr id="15" name="Picture 14" descr="146.2.gif"/>
          <p:cNvPicPr>
            <a:picLocks noChangeAspect="1"/>
          </p:cNvPicPr>
          <p:nvPr/>
        </p:nvPicPr>
        <p:blipFill>
          <a:blip r:embed="rId4"/>
          <a:srcRect l="36942" t="10256" r="29282" b="64103"/>
          <a:stretch>
            <a:fillRect/>
          </a:stretch>
        </p:blipFill>
        <p:spPr>
          <a:xfrm>
            <a:off x="381000" y="4191000"/>
            <a:ext cx="414528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34.1.1 </a:t>
            </a:r>
            <a:r>
              <a:rPr lang="zh-CN" altLang="en-US" sz="4000" b="1" dirty="0">
                <a:latin typeface="+mn-ea"/>
              </a:rPr>
              <a:t>羧酸的分类和命名</a:t>
            </a:r>
            <a:endParaRPr lang="en-US" sz="4000" b="1" dirty="0"/>
          </a:p>
        </p:txBody>
      </p:sp>
      <p:sp>
        <p:nvSpPr>
          <p:cNvPr id="7" name="Rectangle 6"/>
          <p:cNvSpPr/>
          <p:nvPr/>
        </p:nvSpPr>
        <p:spPr>
          <a:xfrm>
            <a:off x="4114800" y="1676400"/>
            <a:ext cx="3429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514350">
              <a:spcBef>
                <a:spcPts val="600"/>
              </a:spcBef>
              <a:buNone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4-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二甲基戊酸</a:t>
            </a:r>
            <a:endParaRPr lang="en-US" altLang="zh-CN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038600" y="3124200"/>
            <a:ext cx="3505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514350">
              <a:spcBef>
                <a:spcPts val="600"/>
              </a:spcBef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3-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甲基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-2-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丁烯酸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038600" y="4353580"/>
            <a:ext cx="4724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514350">
              <a:spcBef>
                <a:spcPts val="600"/>
              </a:spcBef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3-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氯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-4-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戊炔酸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1" name="Picture 10" descr="146.2.gif"/>
          <p:cNvPicPr>
            <a:picLocks noChangeAspect="1"/>
          </p:cNvPicPr>
          <p:nvPr/>
        </p:nvPicPr>
        <p:blipFill>
          <a:blip r:embed="rId3"/>
          <a:srcRect t="10256" r="66225" b="61539"/>
          <a:stretch>
            <a:fillRect/>
          </a:stretch>
        </p:blipFill>
        <p:spPr>
          <a:xfrm>
            <a:off x="685800" y="1447797"/>
            <a:ext cx="3990096" cy="1371600"/>
          </a:xfrm>
          <a:prstGeom prst="rect">
            <a:avLst/>
          </a:prstGeom>
        </p:spPr>
      </p:pic>
      <p:pic>
        <p:nvPicPr>
          <p:cNvPr id="15" name="Picture 14" descr="146.2.gif"/>
          <p:cNvPicPr>
            <a:picLocks noChangeAspect="1"/>
          </p:cNvPicPr>
          <p:nvPr/>
        </p:nvPicPr>
        <p:blipFill>
          <a:blip r:embed="rId3"/>
          <a:srcRect l="72828" b="71795"/>
          <a:stretch>
            <a:fillRect/>
          </a:stretch>
        </p:blipFill>
        <p:spPr>
          <a:xfrm>
            <a:off x="533400" y="2667000"/>
            <a:ext cx="3200400" cy="1367510"/>
          </a:xfrm>
          <a:prstGeom prst="rect">
            <a:avLst/>
          </a:prstGeom>
        </p:spPr>
      </p:pic>
      <p:pic>
        <p:nvPicPr>
          <p:cNvPr id="16" name="Picture 15" descr="146.2.gif"/>
          <p:cNvPicPr>
            <a:picLocks noChangeAspect="1"/>
          </p:cNvPicPr>
          <p:nvPr/>
        </p:nvPicPr>
        <p:blipFill>
          <a:blip r:embed="rId3"/>
          <a:srcRect l="47497" t="58974" r="20839" b="15385"/>
          <a:stretch>
            <a:fillRect/>
          </a:stretch>
        </p:blipFill>
        <p:spPr>
          <a:xfrm>
            <a:off x="304800" y="4191000"/>
            <a:ext cx="4114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28.2.1 </a:t>
            </a:r>
            <a:r>
              <a:rPr lang="zh-CN" altLang="en-US" sz="4000" b="1" dirty="0">
                <a:latin typeface="+mn-ea"/>
              </a:rPr>
              <a:t>羧酸的分类和命名</a:t>
            </a:r>
            <a:endParaRPr lang="en-US" sz="4000" b="1" dirty="0"/>
          </a:p>
        </p:txBody>
      </p:sp>
      <p:pic>
        <p:nvPicPr>
          <p:cNvPr id="5" name="Picture 4" descr="146.jpg"/>
          <p:cNvPicPr>
            <a:picLocks noChangeAspect="1"/>
          </p:cNvPicPr>
          <p:nvPr/>
        </p:nvPicPr>
        <p:blipFill>
          <a:blip r:embed="rId3"/>
          <a:srcRect t="14458" r="44578" b="18072"/>
          <a:stretch>
            <a:fillRect/>
          </a:stretch>
        </p:blipFill>
        <p:spPr>
          <a:xfrm>
            <a:off x="762000" y="1752600"/>
            <a:ext cx="3505200" cy="3200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962400" y="1676400"/>
            <a:ext cx="2743200" cy="10310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514350">
              <a:spcBef>
                <a:spcPts val="600"/>
              </a:spcBef>
              <a:buNone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2-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羟基丙酸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1" indent="-514350">
              <a:spcBef>
                <a:spcPts val="600"/>
              </a:spcBef>
              <a:buNone/>
            </a:pP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乳酸</a:t>
            </a:r>
            <a:endParaRPr lang="en-US" altLang="zh-CN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962400" y="2819400"/>
            <a:ext cx="3505200" cy="10310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514350">
              <a:spcBef>
                <a:spcPts val="600"/>
              </a:spcBef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2-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羟基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-1,4-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丁二酸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1" indent="-514350">
              <a:spcBef>
                <a:spcPts val="600"/>
              </a:spcBef>
              <a:buNone/>
            </a:pP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苹果酸</a:t>
            </a:r>
            <a:endParaRPr lang="en-US" altLang="zh-CN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038600" y="4114800"/>
            <a:ext cx="4724400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514350">
              <a:spcBef>
                <a:spcPts val="600"/>
              </a:spcBef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3-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羟基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-3-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羧基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-1,5-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戊二酸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1" indent="-514350">
              <a:spcBef>
                <a:spcPts val="600"/>
              </a:spcBef>
            </a:pP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柠檬酸</a:t>
            </a:r>
            <a:endParaRPr lang="en-US" altLang="zh-CN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1" indent="-514350">
              <a:spcBef>
                <a:spcPts val="600"/>
              </a:spcBef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34.1.1 </a:t>
            </a:r>
            <a:r>
              <a:rPr lang="zh-CN" altLang="en-US" sz="4000" b="1" dirty="0">
                <a:latin typeface="+mn-ea"/>
              </a:rPr>
              <a:t>羧酸的分类和命名</a:t>
            </a:r>
            <a:endParaRPr lang="en-US" sz="4000" b="1" dirty="0"/>
          </a:p>
        </p:txBody>
      </p:sp>
      <p:sp>
        <p:nvSpPr>
          <p:cNvPr id="7" name="Rectangle 6"/>
          <p:cNvSpPr/>
          <p:nvPr/>
        </p:nvSpPr>
        <p:spPr>
          <a:xfrm>
            <a:off x="0" y="2743200"/>
            <a:ext cx="4953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514350">
              <a:spcBef>
                <a:spcPts val="600"/>
              </a:spcBef>
              <a:buNone/>
            </a:pP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4-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甲基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-4-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苯基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-3-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己酮酸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48200" y="2743200"/>
            <a:ext cx="3505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514350">
              <a:spcBef>
                <a:spcPts val="600"/>
              </a:spcBef>
              <a:buNone/>
            </a:pP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3-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环戊基丁酸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5039380"/>
            <a:ext cx="2819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514350">
              <a:spcBef>
                <a:spcPts val="600"/>
              </a:spcBef>
            </a:pP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3-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苯基丙烯酸 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1" name="Picture 10" descr="146.1.jpg"/>
          <p:cNvPicPr>
            <a:picLocks noChangeAspect="1"/>
          </p:cNvPicPr>
          <p:nvPr/>
        </p:nvPicPr>
        <p:blipFill>
          <a:blip r:embed="rId3"/>
          <a:srcRect l="3255" r="46289" b="58767"/>
          <a:stretch>
            <a:fillRect/>
          </a:stretch>
        </p:blipFill>
        <p:spPr>
          <a:xfrm>
            <a:off x="990600" y="1219200"/>
            <a:ext cx="2362200" cy="1447800"/>
          </a:xfrm>
          <a:prstGeom prst="rect">
            <a:avLst/>
          </a:prstGeom>
        </p:spPr>
      </p:pic>
      <p:pic>
        <p:nvPicPr>
          <p:cNvPr id="13" name="Picture 12" descr="146.5.png"/>
          <p:cNvPicPr>
            <a:picLocks noChangeAspect="1"/>
          </p:cNvPicPr>
          <p:nvPr/>
        </p:nvPicPr>
        <p:blipFill>
          <a:blip r:embed="rId4"/>
          <a:srcRect l="69697" t="53125" b="10937"/>
          <a:stretch>
            <a:fillRect/>
          </a:stretch>
        </p:blipFill>
        <p:spPr>
          <a:xfrm>
            <a:off x="5029200" y="3505200"/>
            <a:ext cx="1524000" cy="17526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343400" y="5029200"/>
            <a:ext cx="2819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514350">
              <a:spcBef>
                <a:spcPts val="600"/>
              </a:spcBef>
            </a:pP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1,2-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苯二甲酸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14" descr="146.5.png"/>
          <p:cNvPicPr>
            <a:picLocks noChangeAspect="1"/>
          </p:cNvPicPr>
          <p:nvPr/>
        </p:nvPicPr>
        <p:blipFill>
          <a:blip r:embed="rId4"/>
          <a:srcRect t="57812" r="53030" b="17188"/>
          <a:stretch>
            <a:fillRect/>
          </a:stretch>
        </p:blipFill>
        <p:spPr>
          <a:xfrm>
            <a:off x="838199" y="3505200"/>
            <a:ext cx="2805113" cy="1447800"/>
          </a:xfrm>
          <a:prstGeom prst="rect">
            <a:avLst/>
          </a:prstGeom>
        </p:spPr>
      </p:pic>
      <p:pic>
        <p:nvPicPr>
          <p:cNvPr id="16" name="Picture 15" descr="146.5.png"/>
          <p:cNvPicPr>
            <a:picLocks noChangeAspect="1"/>
          </p:cNvPicPr>
          <p:nvPr/>
        </p:nvPicPr>
        <p:blipFill>
          <a:blip r:embed="rId4"/>
          <a:srcRect l="4545" t="7813" r="50000" b="57812"/>
          <a:stretch>
            <a:fillRect/>
          </a:stretch>
        </p:blipFill>
        <p:spPr>
          <a:xfrm>
            <a:off x="5181600" y="1066800"/>
            <a:ext cx="22860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34.1.1 </a:t>
            </a:r>
            <a:r>
              <a:rPr lang="zh-CN" altLang="en-US" sz="4000" b="1" dirty="0">
                <a:latin typeface="+mn-ea"/>
              </a:rPr>
              <a:t>羧酸的分类和命名</a:t>
            </a:r>
            <a:endParaRPr lang="en-US" sz="4000" b="1" dirty="0"/>
          </a:p>
        </p:txBody>
      </p:sp>
      <p:sp>
        <p:nvSpPr>
          <p:cNvPr id="7" name="Rectangle 6"/>
          <p:cNvSpPr/>
          <p:nvPr/>
        </p:nvSpPr>
        <p:spPr>
          <a:xfrm>
            <a:off x="4419600" y="1600200"/>
            <a:ext cx="2743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514350">
              <a:spcBef>
                <a:spcPts val="600"/>
              </a:spcBef>
              <a:buNone/>
            </a:pP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5-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羟基戊酸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66800" y="4531549"/>
            <a:ext cx="3505200" cy="10310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514350">
              <a:spcBef>
                <a:spcPts val="600"/>
              </a:spcBef>
            </a:pP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2-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羟基苯甲酸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1" indent="-514350">
              <a:spcBef>
                <a:spcPts val="600"/>
              </a:spcBef>
            </a:pP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水杨酸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4495800"/>
            <a:ext cx="4724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514350">
              <a:spcBef>
                <a:spcPts val="600"/>
              </a:spcBef>
            </a:pP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4-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二羟基苯甲酸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2" name="Picture 11" descr="146.3.gif"/>
          <p:cNvPicPr>
            <a:picLocks noChangeAspect="1"/>
          </p:cNvPicPr>
          <p:nvPr/>
        </p:nvPicPr>
        <p:blipFill>
          <a:blip r:embed="rId3"/>
          <a:srcRect t="37668" r="45946" b="24664"/>
          <a:stretch>
            <a:fillRect/>
          </a:stretch>
        </p:blipFill>
        <p:spPr>
          <a:xfrm>
            <a:off x="685798" y="2743200"/>
            <a:ext cx="3657598" cy="1920240"/>
          </a:xfrm>
          <a:prstGeom prst="rect">
            <a:avLst/>
          </a:prstGeom>
        </p:spPr>
      </p:pic>
      <p:pic>
        <p:nvPicPr>
          <p:cNvPr id="14" name="Picture 13" descr="146.3.gif"/>
          <p:cNvPicPr>
            <a:picLocks noChangeAspect="1"/>
          </p:cNvPicPr>
          <p:nvPr/>
        </p:nvPicPr>
        <p:blipFill>
          <a:blip r:embed="rId3"/>
          <a:srcRect l="55405" t="37668" b="15695"/>
          <a:stretch>
            <a:fillRect/>
          </a:stretch>
        </p:blipFill>
        <p:spPr>
          <a:xfrm>
            <a:off x="4718540" y="2362200"/>
            <a:ext cx="2901460" cy="2286000"/>
          </a:xfrm>
          <a:prstGeom prst="rect">
            <a:avLst/>
          </a:prstGeom>
        </p:spPr>
      </p:pic>
      <p:pic>
        <p:nvPicPr>
          <p:cNvPr id="15" name="Picture 14" descr="146.3.gif"/>
          <p:cNvPicPr>
            <a:picLocks noChangeAspect="1"/>
          </p:cNvPicPr>
          <p:nvPr/>
        </p:nvPicPr>
        <p:blipFill>
          <a:blip r:embed="rId3"/>
          <a:srcRect l="51351" b="78475"/>
          <a:stretch>
            <a:fillRect/>
          </a:stretch>
        </p:blipFill>
        <p:spPr>
          <a:xfrm>
            <a:off x="1066800" y="1295400"/>
            <a:ext cx="4114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34.1.2 </a:t>
            </a:r>
            <a:r>
              <a:rPr lang="zh-CN" altLang="en-US" sz="4000" b="1" dirty="0">
                <a:latin typeface="+mn-ea"/>
              </a:rPr>
              <a:t>羧酸的物理性质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常态下，</a:t>
            </a:r>
            <a:endParaRPr lang="en-US" altLang="zh-CN" sz="2800" dirty="0"/>
          </a:p>
          <a:p>
            <a:pPr marL="914400" lvl="1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2400" dirty="0"/>
              <a:t>1C</a:t>
            </a:r>
            <a:r>
              <a:rPr lang="zh-CN" altLang="en-US" sz="2400" dirty="0"/>
              <a:t>～</a:t>
            </a:r>
            <a:r>
              <a:rPr lang="en-US" altLang="zh-CN" sz="2400" dirty="0"/>
              <a:t>9C</a:t>
            </a:r>
            <a:r>
              <a:rPr lang="zh-CN" altLang="en-US" sz="2400" dirty="0"/>
              <a:t>的羧酸呈液态，有气味；</a:t>
            </a:r>
            <a:endParaRPr lang="en-US" altLang="zh-CN" sz="2400" dirty="0"/>
          </a:p>
          <a:p>
            <a:pPr marL="914400" lvl="1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400" dirty="0"/>
              <a:t>高级脂肪酸固态。</a:t>
            </a:r>
            <a:endParaRPr lang="en-US" altLang="zh-CN" sz="24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式量相近，沸点：羧酸</a:t>
            </a:r>
            <a:r>
              <a:rPr lang="en-US" altLang="zh-CN" sz="2800" dirty="0"/>
              <a:t>&gt;</a:t>
            </a:r>
            <a:r>
              <a:rPr lang="zh-CN" altLang="en-US" sz="2800" dirty="0"/>
              <a:t>醇</a:t>
            </a:r>
            <a:endParaRPr lang="en-US" altLang="zh-CN" sz="2800" dirty="0"/>
          </a:p>
          <a:p>
            <a:pPr marL="914400" lvl="1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400" dirty="0"/>
              <a:t>羧酸分子间能形成氢键</a:t>
            </a:r>
            <a:endParaRPr lang="en-US" altLang="zh-CN" sz="24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在水中的溶解度：式量越大，溶解度减弱</a:t>
            </a:r>
            <a:endParaRPr lang="en-US" altLang="zh-CN" sz="2800" dirty="0"/>
          </a:p>
          <a:p>
            <a:pPr marL="914400" lvl="1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400" dirty="0"/>
              <a:t>从十二酸起完全不溶于水</a:t>
            </a:r>
            <a:endParaRPr lang="en-US" altLang="zh-CN" sz="2400" dirty="0"/>
          </a:p>
          <a:p>
            <a:pPr marL="914400" lvl="1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400" dirty="0"/>
              <a:t>羧酸能与水分子形成氢键</a:t>
            </a:r>
            <a:endParaRPr lang="en-US" altLang="zh-CN" sz="2400" dirty="0"/>
          </a:p>
          <a:p>
            <a:pPr marL="914400" lvl="1" indent="-514350">
              <a:spcBef>
                <a:spcPts val="600"/>
              </a:spcBef>
              <a:buNone/>
            </a:pPr>
            <a:endParaRPr lang="en-US" altLang="zh-CN" sz="2600" dirty="0"/>
          </a:p>
          <a:p>
            <a:pPr marL="914400" lvl="1" indent="-514350">
              <a:spcBef>
                <a:spcPts val="600"/>
              </a:spcBef>
              <a:buNone/>
            </a:pPr>
            <a:endParaRPr lang="en-US" altLang="zh-CN" sz="2600" dirty="0"/>
          </a:p>
        </p:txBody>
      </p:sp>
      <p:pic>
        <p:nvPicPr>
          <p:cNvPr id="5" name="Picture 4" descr="148.jpg"/>
          <p:cNvPicPr>
            <a:picLocks noChangeAspect="1"/>
          </p:cNvPicPr>
          <p:nvPr/>
        </p:nvPicPr>
        <p:blipFill>
          <a:blip r:embed="rId3"/>
          <a:srcRect l="18039" t="35808" r="59582" b="44661"/>
          <a:stretch>
            <a:fillRect/>
          </a:stretch>
        </p:blipFill>
        <p:spPr>
          <a:xfrm>
            <a:off x="5461000" y="3962400"/>
            <a:ext cx="3073400" cy="2011680"/>
          </a:xfrm>
          <a:prstGeom prst="rect">
            <a:avLst/>
          </a:prstGeom>
        </p:spPr>
      </p:pic>
      <p:pic>
        <p:nvPicPr>
          <p:cNvPr id="6" name="Picture 5" descr="148.jpg"/>
          <p:cNvPicPr>
            <a:picLocks noChangeAspect="1"/>
          </p:cNvPicPr>
          <p:nvPr/>
        </p:nvPicPr>
        <p:blipFill>
          <a:blip r:embed="rId3"/>
          <a:srcRect l="53304" t="39425" r="21875" b="47916"/>
          <a:stretch>
            <a:fillRect/>
          </a:stretch>
        </p:blipFill>
        <p:spPr>
          <a:xfrm>
            <a:off x="5562600" y="2209800"/>
            <a:ext cx="3346703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34.1.3 </a:t>
            </a:r>
            <a:r>
              <a:rPr lang="zh-CN" altLang="en-US" sz="4000" b="1" dirty="0">
                <a:latin typeface="+mn-ea"/>
              </a:rPr>
              <a:t>羧酸的化学性质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None/>
            </a:pPr>
            <a:r>
              <a:rPr lang="zh-CN" altLang="en-US" sz="2800" dirty="0"/>
              <a:t>化学性质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endParaRPr lang="en-US" altLang="zh-CN" sz="2600" dirty="0"/>
          </a:p>
          <a:p>
            <a:pPr marL="914400" lvl="1" indent="-514350">
              <a:spcBef>
                <a:spcPts val="600"/>
              </a:spcBef>
              <a:buNone/>
            </a:pPr>
            <a:endParaRPr lang="en-US" altLang="zh-CN" sz="2600" dirty="0"/>
          </a:p>
        </p:txBody>
      </p:sp>
      <p:pic>
        <p:nvPicPr>
          <p:cNvPr id="9" name="Picture 8" descr="1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063" y="1828800"/>
            <a:ext cx="6947874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34.1.3 </a:t>
            </a:r>
            <a:r>
              <a:rPr lang="zh-CN" altLang="en-US" sz="4000" b="1" dirty="0">
                <a:latin typeface="+mn-ea"/>
              </a:rPr>
              <a:t>羧酸的化学性质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大部分</a:t>
            </a:r>
            <a:r>
              <a:rPr lang="zh-CN" altLang="en-US" sz="2800" dirty="0"/>
              <a:t>羧酸的化学反应都是发生在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羧基中的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-OH</a:t>
            </a:r>
            <a:r>
              <a:rPr lang="zh-CN" altLang="en-US" sz="2800" dirty="0"/>
              <a:t>部分。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羧酸的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弱酸性</a:t>
            </a:r>
            <a:endParaRPr lang="en-US" altLang="zh-CN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RCOOH(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 		 RCOO</a:t>
            </a:r>
            <a:r>
              <a:rPr lang="en-US" altLang="zh-CN" sz="2800" baseline="30000" dirty="0"/>
              <a:t>-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 + H</a:t>
            </a:r>
            <a:r>
              <a:rPr lang="en-US" altLang="zh-CN" sz="2800" baseline="30000" dirty="0"/>
              <a:t>+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</a:t>
            </a:r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酸性的比较</a:t>
            </a:r>
            <a:endParaRPr lang="en-US" altLang="zh-CN" sz="2800" dirty="0"/>
          </a:p>
          <a:p>
            <a:pPr marL="914400" lvl="1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400" dirty="0"/>
              <a:t>甲酸</a:t>
            </a:r>
            <a:r>
              <a:rPr lang="en-US" altLang="zh-CN" sz="2400" dirty="0"/>
              <a:t>&gt;</a:t>
            </a:r>
            <a:r>
              <a:rPr lang="zh-CN" altLang="en-US" sz="2400" dirty="0"/>
              <a:t>乙酸</a:t>
            </a:r>
            <a:r>
              <a:rPr lang="en-US" altLang="zh-CN" sz="2400" dirty="0"/>
              <a:t>&gt;</a:t>
            </a:r>
            <a:r>
              <a:rPr lang="zh-CN" altLang="en-US" sz="2400" dirty="0"/>
              <a:t>丙酸</a:t>
            </a:r>
            <a:r>
              <a:rPr lang="en-US" altLang="zh-CN" sz="2400" dirty="0"/>
              <a:t>…</a:t>
            </a:r>
          </a:p>
          <a:p>
            <a:pPr marL="914400" lvl="1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2400" dirty="0"/>
              <a:t>Cl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CCOOH &gt; Cl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CHCOOH &gt; ClCH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COOH &gt; CH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COOH</a:t>
            </a:r>
          </a:p>
          <a:p>
            <a:pPr marL="914400" lvl="1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2400" dirty="0"/>
              <a:t>FCH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COOH &gt; ClCH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COOH &gt; BrCH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COOH</a:t>
            </a:r>
          </a:p>
          <a:p>
            <a:pPr marL="914400" lvl="1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2400" dirty="0"/>
              <a:t>2-</a:t>
            </a:r>
            <a:r>
              <a:rPr lang="zh-CN" altLang="en-US" sz="2400" dirty="0"/>
              <a:t>氯丁酸</a:t>
            </a:r>
            <a:r>
              <a:rPr lang="en-US" altLang="zh-CN" sz="2400" dirty="0"/>
              <a:t>&gt;3-</a:t>
            </a:r>
            <a:r>
              <a:rPr lang="zh-CN" altLang="en-US" sz="2400" dirty="0"/>
              <a:t>氯丁酸</a:t>
            </a:r>
            <a:r>
              <a:rPr lang="en-US" altLang="zh-CN" sz="2400" dirty="0"/>
              <a:t>&gt;4-</a:t>
            </a:r>
            <a:r>
              <a:rPr lang="zh-CN" altLang="en-US" sz="2400" dirty="0"/>
              <a:t>氯丁酸</a:t>
            </a:r>
            <a:endParaRPr lang="en-US" altLang="zh-CN" sz="2400" dirty="0"/>
          </a:p>
          <a:p>
            <a:pPr marL="914400" lvl="1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400" dirty="0"/>
              <a:t>苯甲酸</a:t>
            </a:r>
            <a:r>
              <a:rPr lang="en-US" altLang="zh-CN" sz="2400" dirty="0"/>
              <a:t>&gt;</a:t>
            </a:r>
            <a:r>
              <a:rPr lang="zh-CN" altLang="en-US" sz="2400" dirty="0"/>
              <a:t>苯乙酸</a:t>
            </a:r>
            <a:r>
              <a:rPr lang="en-US" altLang="zh-CN" sz="2400" dirty="0"/>
              <a:t>&gt;</a:t>
            </a:r>
            <a:r>
              <a:rPr lang="zh-CN" altLang="en-US" sz="2400" dirty="0"/>
              <a:t>乙酸</a:t>
            </a:r>
            <a:endParaRPr lang="en-US" altLang="zh-CN" sz="2400" dirty="0"/>
          </a:p>
          <a:p>
            <a:pPr marL="914400" lvl="1" indent="-514350"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400" dirty="0"/>
          </a:p>
          <a:p>
            <a:pPr marL="514350" indent="-514350">
              <a:spcBef>
                <a:spcPts val="600"/>
              </a:spcBef>
              <a:buNone/>
            </a:pP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endParaRPr lang="en-US" altLang="zh-CN" sz="2600" dirty="0"/>
          </a:p>
          <a:p>
            <a:pPr marL="914400" lvl="1" indent="-514350">
              <a:spcBef>
                <a:spcPts val="600"/>
              </a:spcBef>
              <a:buNone/>
            </a:pPr>
            <a:endParaRPr lang="en-US" altLang="zh-CN" sz="2600" dirty="0"/>
          </a:p>
        </p:txBody>
      </p:sp>
      <p:grpSp>
        <p:nvGrpSpPr>
          <p:cNvPr id="5" name="Group 11"/>
          <p:cNvGrpSpPr/>
          <p:nvPr/>
        </p:nvGrpSpPr>
        <p:grpSpPr>
          <a:xfrm>
            <a:off x="2133600" y="2819400"/>
            <a:ext cx="822960" cy="76199"/>
            <a:chOff x="2895600" y="6324600"/>
            <a:chExt cx="2133600" cy="76199"/>
          </a:xfrm>
        </p:grpSpPr>
        <p:cxnSp>
          <p:nvCxnSpPr>
            <p:cNvPr id="6" name="Straight Arrow Connector 5"/>
            <p:cNvCxnSpPr/>
            <p:nvPr/>
          </p:nvCxnSpPr>
          <p:spPr>
            <a:xfrm rot="10800000">
              <a:off x="2895600" y="6399210"/>
              <a:ext cx="2057400" cy="1589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>
              <a:off x="2895600" y="6324600"/>
              <a:ext cx="213360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34.1.3 </a:t>
            </a:r>
            <a:r>
              <a:rPr lang="zh-CN" altLang="en-US" sz="4000" b="1" dirty="0">
                <a:latin typeface="+mn-ea"/>
              </a:rPr>
              <a:t>羧酸的化学性质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2800" dirty="0"/>
              <a:t>pg237</a:t>
            </a:r>
            <a:r>
              <a:rPr lang="zh-CN" altLang="en-US" sz="2800" dirty="0"/>
              <a:t>活动</a:t>
            </a:r>
            <a:r>
              <a:rPr lang="en-US" altLang="zh-CN" sz="2800" dirty="0"/>
              <a:t>1</a:t>
            </a:r>
            <a:r>
              <a:rPr lang="zh-CN" altLang="en-US" sz="2800" dirty="0"/>
              <a:t>；羧酸的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弱酸性，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具有酸的通性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RCOOH(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 		 RCOO</a:t>
            </a:r>
            <a:r>
              <a:rPr lang="en-US" altLang="zh-CN" sz="2800" baseline="30000" dirty="0"/>
              <a:t>-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 + H</a:t>
            </a:r>
            <a:r>
              <a:rPr lang="en-US" altLang="zh-CN" sz="2800" baseline="30000" dirty="0"/>
              <a:t>+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</a:t>
            </a:r>
          </a:p>
          <a:p>
            <a:pPr marL="514350" indent="-514350">
              <a:spcBef>
                <a:spcPts val="600"/>
              </a:spcBef>
              <a:buNone/>
            </a:pP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endParaRPr lang="en-US" altLang="zh-CN" sz="2600" dirty="0"/>
          </a:p>
          <a:p>
            <a:pPr marL="914400" lvl="1" indent="-514350">
              <a:spcBef>
                <a:spcPts val="600"/>
              </a:spcBef>
              <a:buNone/>
            </a:pPr>
            <a:endParaRPr lang="en-US" altLang="zh-CN" sz="2600" dirty="0"/>
          </a:p>
        </p:txBody>
      </p:sp>
      <p:grpSp>
        <p:nvGrpSpPr>
          <p:cNvPr id="4" name="Group 11"/>
          <p:cNvGrpSpPr/>
          <p:nvPr/>
        </p:nvGrpSpPr>
        <p:grpSpPr>
          <a:xfrm>
            <a:off x="2209800" y="1905000"/>
            <a:ext cx="822960" cy="76199"/>
            <a:chOff x="2895600" y="6324600"/>
            <a:chExt cx="2133600" cy="76199"/>
          </a:xfrm>
        </p:grpSpPr>
        <p:cxnSp>
          <p:nvCxnSpPr>
            <p:cNvPr id="6" name="Straight Arrow Connector 5"/>
            <p:cNvCxnSpPr/>
            <p:nvPr/>
          </p:nvCxnSpPr>
          <p:spPr>
            <a:xfrm rot="10800000">
              <a:off x="2895600" y="6399210"/>
              <a:ext cx="2057400" cy="1589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>
              <a:off x="2895600" y="6324600"/>
              <a:ext cx="213360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7" descr="150.gif"/>
          <p:cNvPicPr>
            <a:picLocks noChangeAspect="1"/>
          </p:cNvPicPr>
          <p:nvPr/>
        </p:nvPicPr>
        <p:blipFill>
          <a:blip r:embed="rId3"/>
          <a:srcRect r="40541"/>
          <a:stretch>
            <a:fillRect/>
          </a:stretch>
        </p:blipFill>
        <p:spPr>
          <a:xfrm>
            <a:off x="1143000" y="2514600"/>
            <a:ext cx="3352800" cy="3657600"/>
          </a:xfrm>
          <a:prstGeom prst="rect">
            <a:avLst/>
          </a:prstGeom>
        </p:spPr>
      </p:pic>
      <p:pic>
        <p:nvPicPr>
          <p:cNvPr id="9" name="Picture 8" descr="150.gif"/>
          <p:cNvPicPr>
            <a:picLocks noChangeAspect="1"/>
          </p:cNvPicPr>
          <p:nvPr/>
        </p:nvPicPr>
        <p:blipFill>
          <a:blip r:embed="rId3"/>
          <a:srcRect l="59459" b="83333"/>
          <a:stretch>
            <a:fillRect/>
          </a:stretch>
        </p:blipFill>
        <p:spPr>
          <a:xfrm>
            <a:off x="4572000" y="2514600"/>
            <a:ext cx="2286000" cy="609600"/>
          </a:xfrm>
          <a:prstGeom prst="rect">
            <a:avLst/>
          </a:prstGeom>
        </p:spPr>
      </p:pic>
      <p:pic>
        <p:nvPicPr>
          <p:cNvPr id="11" name="Picture 10" descr="150.gif"/>
          <p:cNvPicPr>
            <a:picLocks noChangeAspect="1"/>
          </p:cNvPicPr>
          <p:nvPr/>
        </p:nvPicPr>
        <p:blipFill>
          <a:blip r:embed="rId3"/>
          <a:srcRect l="59459" t="85417"/>
          <a:stretch>
            <a:fillRect/>
          </a:stretch>
        </p:blipFill>
        <p:spPr>
          <a:xfrm>
            <a:off x="4495800" y="5562600"/>
            <a:ext cx="2286000" cy="533400"/>
          </a:xfrm>
          <a:prstGeom prst="rect">
            <a:avLst/>
          </a:prstGeom>
        </p:spPr>
      </p:pic>
      <p:pic>
        <p:nvPicPr>
          <p:cNvPr id="12" name="Picture 11" descr="150.gif"/>
          <p:cNvPicPr>
            <a:picLocks noChangeAspect="1"/>
          </p:cNvPicPr>
          <p:nvPr/>
        </p:nvPicPr>
        <p:blipFill>
          <a:blip r:embed="rId3"/>
          <a:srcRect l="59459" t="27083" b="54167"/>
          <a:stretch>
            <a:fillRect/>
          </a:stretch>
        </p:blipFill>
        <p:spPr>
          <a:xfrm>
            <a:off x="4495800" y="3429000"/>
            <a:ext cx="2286000" cy="685800"/>
          </a:xfrm>
          <a:prstGeom prst="rect">
            <a:avLst/>
          </a:prstGeom>
        </p:spPr>
      </p:pic>
      <p:pic>
        <p:nvPicPr>
          <p:cNvPr id="13" name="Picture 12" descr="150.gif"/>
          <p:cNvPicPr>
            <a:picLocks noChangeAspect="1"/>
          </p:cNvPicPr>
          <p:nvPr/>
        </p:nvPicPr>
        <p:blipFill>
          <a:blip r:embed="rId3"/>
          <a:srcRect l="59459" t="58333" b="22917"/>
          <a:stretch>
            <a:fillRect/>
          </a:stretch>
        </p:blipFill>
        <p:spPr>
          <a:xfrm>
            <a:off x="4495800" y="4572000"/>
            <a:ext cx="2286000" cy="6858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55294BB-D8F0-4B7E-B851-07989DC10C89}"/>
              </a:ext>
            </a:extLst>
          </p:cNvPr>
          <p:cNvSpPr/>
          <p:nvPr/>
        </p:nvSpPr>
        <p:spPr>
          <a:xfrm>
            <a:off x="3782400" y="2514600"/>
            <a:ext cx="180000" cy="288000"/>
          </a:xfrm>
          <a:prstGeom prst="round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24564FB-C597-47CF-88BD-E9F0F134B7CF}"/>
              </a:ext>
            </a:extLst>
          </p:cNvPr>
          <p:cNvSpPr/>
          <p:nvPr/>
        </p:nvSpPr>
        <p:spPr>
          <a:xfrm>
            <a:off x="6248400" y="2683800"/>
            <a:ext cx="180000" cy="288000"/>
          </a:xfrm>
          <a:prstGeom prst="round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34.1.3 </a:t>
            </a:r>
            <a:r>
              <a:rPr lang="zh-CN" altLang="en-US" sz="4000" b="1" dirty="0">
                <a:latin typeface="+mn-ea"/>
              </a:rPr>
              <a:t>羧酸的化学性质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羧酸衍生物：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	</a:t>
            </a:r>
            <a:r>
              <a:rPr lang="zh-CN" altLang="en-US" sz="2800" dirty="0"/>
              <a:t>羧酸分子中羧基</a:t>
            </a:r>
            <a:r>
              <a:rPr lang="en-US" altLang="zh-CN" sz="2800" dirty="0"/>
              <a:t>(-COOH)</a:t>
            </a:r>
            <a:r>
              <a:rPr lang="zh-CN" altLang="en-US" sz="2800" dirty="0"/>
              <a:t>上的羟基</a:t>
            </a:r>
            <a:r>
              <a:rPr lang="en-US" altLang="zh-CN" sz="2800" dirty="0"/>
              <a:t>(-OH)</a:t>
            </a:r>
            <a:r>
              <a:rPr lang="zh-CN" altLang="en-US" sz="2800" dirty="0"/>
              <a:t>被其他原子或基取代而生成的化合物。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>
                <a:sym typeface="Wingdings" pitchFamily="2" charset="2"/>
              </a:rPr>
              <a:t>羧酸和羧酸的衍生物中都含有酰基，因此也被称为酰基化合物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spcBef>
                <a:spcPts val="600"/>
              </a:spcBef>
              <a:buNone/>
            </a:pP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spcBef>
                <a:spcPts val="600"/>
              </a:spcBef>
              <a:buNone/>
            </a:pPr>
            <a:endParaRPr lang="en-US" altLang="zh-CN" sz="2800" dirty="0">
              <a:sym typeface="Wingdings" pitchFamily="2" charset="2"/>
            </a:endParaRPr>
          </a:p>
          <a:p>
            <a:pPr marL="914400" lvl="1" indent="-514350">
              <a:spcBef>
                <a:spcPts val="600"/>
              </a:spcBef>
              <a:buNone/>
            </a:pPr>
            <a:endParaRPr lang="en-US" altLang="zh-CN" sz="2600" dirty="0"/>
          </a:p>
          <a:p>
            <a:pPr marL="914400" lvl="1" indent="-514350">
              <a:spcBef>
                <a:spcPts val="600"/>
              </a:spcBef>
              <a:buNone/>
            </a:pPr>
            <a:endParaRPr lang="en-US" altLang="zh-CN" sz="2600" dirty="0"/>
          </a:p>
        </p:txBody>
      </p:sp>
      <p:pic>
        <p:nvPicPr>
          <p:cNvPr id="12" name="Picture 11" descr="122.jpg"/>
          <p:cNvPicPr>
            <a:picLocks noChangeAspect="1"/>
          </p:cNvPicPr>
          <p:nvPr/>
        </p:nvPicPr>
        <p:blipFill>
          <a:blip r:embed="rId3"/>
          <a:srcRect l="8889" t="57407" r="6667" b="1111"/>
          <a:stretch>
            <a:fillRect/>
          </a:stretch>
        </p:blipFill>
        <p:spPr>
          <a:xfrm>
            <a:off x="457200" y="3657600"/>
            <a:ext cx="7652657" cy="2819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3400" y="3810000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羧酸</a:t>
            </a:r>
            <a:endParaRPr lang="en-US" sz="2800" b="1" dirty="0">
              <a:solidFill>
                <a:srgbClr val="FF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64658" y="3810000"/>
            <a:ext cx="545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酯</a:t>
            </a:r>
            <a:endParaRPr lang="en-US" sz="2800" b="1" dirty="0">
              <a:solidFill>
                <a:srgbClr val="FF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41058" y="3810000"/>
            <a:ext cx="545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酐</a:t>
            </a:r>
            <a:endParaRPr lang="en-US" sz="2800" b="1" dirty="0">
              <a:solidFill>
                <a:srgbClr val="FF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2400" y="4810780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酰卤</a:t>
            </a:r>
            <a:endParaRPr lang="en-US" sz="2800" b="1" dirty="0">
              <a:solidFill>
                <a:srgbClr val="FF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43800" y="4648200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酰胺</a:t>
            </a:r>
            <a:endParaRPr lang="en-US" sz="2800" b="1" dirty="0">
              <a:solidFill>
                <a:srgbClr val="FF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/>
      <p:bldP spid="14" grpId="0"/>
      <p:bldP spid="15" grpId="0"/>
      <p:bldP spid="16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34.1.3 </a:t>
            </a:r>
            <a:r>
              <a:rPr lang="zh-CN" altLang="en-US" sz="4000" b="1" dirty="0">
                <a:latin typeface="+mn-ea"/>
              </a:rPr>
              <a:t>羧酸的化学性质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zh-CN" sz="2800" dirty="0"/>
              <a:t>1. </a:t>
            </a:r>
            <a:r>
              <a:rPr lang="zh-CN" altLang="en-US" sz="2800" dirty="0"/>
              <a:t>酯的生成：在</a:t>
            </a:r>
            <a:r>
              <a:rPr lang="zh-CN" altLang="en-US" sz="28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酸的催化下</a:t>
            </a:r>
            <a:r>
              <a:rPr lang="zh-CN" altLang="en-US" sz="2800" dirty="0"/>
              <a:t>，羧酸和醇起酯化反应生成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酯，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RCOOR</a:t>
            </a:r>
            <a:r>
              <a:rPr lang="en-US" altLang="zh-CN" sz="2800" b="1" baseline="30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羧酸 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醇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酯 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水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spcBef>
                <a:spcPts val="600"/>
              </a:spcBef>
              <a:buNone/>
            </a:pP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RC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OH</a:t>
            </a:r>
            <a:r>
              <a:rPr lang="en-US" altLang="zh-CN" sz="2800" dirty="0"/>
              <a:t>+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</a:t>
            </a:r>
            <a:r>
              <a:rPr lang="en-US" altLang="zh-CN" sz="2800" b="1" baseline="30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sz="2800" dirty="0"/>
              <a:t>  </a:t>
            </a:r>
            <a:r>
              <a:rPr lang="en-US" altLang="zh-CN" sz="2800" dirty="0">
                <a:sym typeface="Wingdings" pitchFamily="2" charset="2"/>
              </a:rPr>
              <a:t>		 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R- C- 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OR</a:t>
            </a:r>
            <a:r>
              <a:rPr lang="en-US" altLang="zh-CN" sz="2800" b="1" baseline="30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’</a:t>
            </a:r>
            <a:r>
              <a:rPr lang="en-US" altLang="zh-CN" sz="2800" dirty="0">
                <a:sym typeface="Wingdings" pitchFamily="2" charset="2"/>
              </a:rPr>
              <a:t>  +</a:t>
            </a:r>
            <a:r>
              <a:rPr lang="en-US" altLang="zh-CN" sz="2800" dirty="0">
                <a:solidFill>
                  <a:srgbClr val="7030A0"/>
                </a:solidFill>
                <a:sym typeface="Wingdings" pitchFamily="2" charset="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H</a:t>
            </a:r>
            <a:r>
              <a:rPr lang="en-US" altLang="zh-CN" sz="28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2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O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1" indent="-514350">
              <a:spcBef>
                <a:spcPts val="600"/>
              </a:spcBef>
              <a:buNone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羧酸去羟基，醇去氢</a:t>
            </a:r>
            <a:endParaRPr lang="en-US" altLang="zh-CN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1" indent="-514350">
              <a:spcBef>
                <a:spcPts val="600"/>
              </a:spcBef>
              <a:buNone/>
            </a:pPr>
            <a:endParaRPr lang="en-US" altLang="zh-CN" sz="2600" dirty="0"/>
          </a:p>
          <a:p>
            <a:pPr marL="914400" lvl="1" indent="-514350">
              <a:spcBef>
                <a:spcPts val="600"/>
              </a:spcBef>
              <a:buNone/>
            </a:pPr>
            <a:endParaRPr lang="en-US" altLang="zh-CN" sz="2600" dirty="0"/>
          </a:p>
        </p:txBody>
      </p:sp>
      <p:grpSp>
        <p:nvGrpSpPr>
          <p:cNvPr id="5" name="Group 27"/>
          <p:cNvGrpSpPr/>
          <p:nvPr/>
        </p:nvGrpSpPr>
        <p:grpSpPr>
          <a:xfrm>
            <a:off x="2590800" y="1981200"/>
            <a:ext cx="548640" cy="461665"/>
            <a:chOff x="2926081" y="5710535"/>
            <a:chExt cx="548640" cy="461665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2926081" y="6096000"/>
              <a:ext cx="548640" cy="1588"/>
            </a:xfrm>
            <a:prstGeom prst="straightConnector1">
              <a:avLst/>
            </a:prstGeom>
            <a:ln w="25400">
              <a:solidFill>
                <a:srgbClr val="FF00FF">
                  <a:alpha val="95000"/>
                </a:srgb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2932539" y="5710535"/>
              <a:ext cx="4812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FF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H</a:t>
              </a:r>
              <a:r>
                <a:rPr lang="en-US" sz="2400" b="1" baseline="30000" dirty="0">
                  <a:solidFill>
                    <a:srgbClr val="FF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+</a:t>
              </a:r>
              <a:endParaRPr lang="en-US" sz="24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8" name="Picture 7" descr="137.3.gif"/>
          <p:cNvPicPr>
            <a:picLocks noChangeAspect="1"/>
          </p:cNvPicPr>
          <p:nvPr/>
        </p:nvPicPr>
        <p:blipFill>
          <a:blip r:embed="rId3"/>
          <a:srcRect t="48648" r="82979" b="34512"/>
          <a:stretch>
            <a:fillRect/>
          </a:stretch>
        </p:blipFill>
        <p:spPr>
          <a:xfrm>
            <a:off x="381000" y="2286000"/>
            <a:ext cx="1625600" cy="914400"/>
          </a:xfrm>
          <a:prstGeom prst="rect">
            <a:avLst/>
          </a:prstGeom>
        </p:spPr>
      </p:pic>
      <p:pic>
        <p:nvPicPr>
          <p:cNvPr id="9" name="Picture 8" descr="137.3.gif"/>
          <p:cNvPicPr>
            <a:picLocks noChangeAspect="1"/>
          </p:cNvPicPr>
          <p:nvPr/>
        </p:nvPicPr>
        <p:blipFill>
          <a:blip r:embed="rId3"/>
          <a:srcRect t="48648" r="82979" b="34512"/>
          <a:stretch>
            <a:fillRect/>
          </a:stretch>
        </p:blipFill>
        <p:spPr>
          <a:xfrm>
            <a:off x="3708400" y="2286000"/>
            <a:ext cx="1625600" cy="914400"/>
          </a:xfrm>
          <a:prstGeom prst="rect">
            <a:avLst/>
          </a:prstGeom>
        </p:spPr>
      </p:pic>
      <p:grpSp>
        <p:nvGrpSpPr>
          <p:cNvPr id="11" name="Group 27"/>
          <p:cNvGrpSpPr/>
          <p:nvPr/>
        </p:nvGrpSpPr>
        <p:grpSpPr>
          <a:xfrm>
            <a:off x="3185160" y="2967335"/>
            <a:ext cx="548640" cy="461665"/>
            <a:chOff x="2926081" y="5710535"/>
            <a:chExt cx="548640" cy="461665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2926081" y="6096000"/>
              <a:ext cx="548640" cy="1588"/>
            </a:xfrm>
            <a:prstGeom prst="straightConnector1">
              <a:avLst/>
            </a:prstGeom>
            <a:ln w="25400">
              <a:solidFill>
                <a:srgbClr val="FF00FF">
                  <a:alpha val="95000"/>
                </a:srgb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2932539" y="5710535"/>
              <a:ext cx="4812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FF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H</a:t>
              </a:r>
              <a:r>
                <a:rPr lang="en-US" sz="2400" b="1" baseline="30000" dirty="0">
                  <a:solidFill>
                    <a:srgbClr val="FF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+</a:t>
              </a:r>
              <a:endParaRPr lang="en-US" sz="24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14" name="Picture 13" descr="156.1.jpg"/>
          <p:cNvPicPr>
            <a:picLocks noChangeAspect="1"/>
          </p:cNvPicPr>
          <p:nvPr/>
        </p:nvPicPr>
        <p:blipFill>
          <a:blip r:embed="rId4"/>
          <a:srcRect l="13379" t="50000" r="3613" b="17448"/>
          <a:stretch>
            <a:fillRect/>
          </a:stretch>
        </p:blipFill>
        <p:spPr>
          <a:xfrm>
            <a:off x="716280" y="4114800"/>
            <a:ext cx="7589520" cy="223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34.1.3 </a:t>
            </a:r>
            <a:r>
              <a:rPr lang="zh-CN" altLang="en-US" sz="4000" b="1" dirty="0">
                <a:latin typeface="+mn-ea"/>
              </a:rPr>
              <a:t>羧酸的化学性质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zh-CN" sz="2800" dirty="0"/>
              <a:t>2. </a:t>
            </a:r>
            <a:r>
              <a:rPr lang="zh-CN" altLang="en-US" sz="2800" dirty="0"/>
              <a:t>酰胺的生成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羧酸与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氨</a:t>
            </a:r>
            <a:r>
              <a:rPr lang="zh-CN" altLang="en-US" sz="2800" dirty="0"/>
              <a:t>或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碳酸铵</a:t>
            </a:r>
            <a:r>
              <a:rPr lang="zh-CN" altLang="en-US" sz="2800" dirty="0"/>
              <a:t>作用生成羧酸的铵盐。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铵盐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受热</a:t>
            </a:r>
            <a:r>
              <a:rPr lang="zh-CN" altLang="en-US" sz="2800" dirty="0"/>
              <a:t>或在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脱水剂</a:t>
            </a:r>
            <a:r>
              <a:rPr lang="zh-CN" altLang="en-US" sz="2800" dirty="0"/>
              <a:t>的作用下，发生分子内脱水生成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酰胺，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RCONH</a:t>
            </a:r>
            <a:r>
              <a:rPr lang="en-US" altLang="zh-CN" sz="28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marL="914400" lvl="1" indent="-514350"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600" dirty="0"/>
          </a:p>
          <a:p>
            <a:pPr marL="914400" lvl="1" indent="-514350">
              <a:spcBef>
                <a:spcPts val="600"/>
              </a:spcBef>
              <a:buNone/>
            </a:pPr>
            <a:endParaRPr lang="en-US" altLang="zh-CN" sz="2600" dirty="0"/>
          </a:p>
        </p:txBody>
      </p:sp>
      <p:pic>
        <p:nvPicPr>
          <p:cNvPr id="5" name="Picture 4" descr="151.1.jpg"/>
          <p:cNvPicPr>
            <a:picLocks noChangeAspect="1"/>
          </p:cNvPicPr>
          <p:nvPr/>
        </p:nvPicPr>
        <p:blipFill>
          <a:blip r:embed="rId3"/>
          <a:srcRect l="13224" t="45031" r="47781" b="41406"/>
          <a:stretch>
            <a:fillRect/>
          </a:stretch>
        </p:blipFill>
        <p:spPr>
          <a:xfrm>
            <a:off x="1066800" y="4114800"/>
            <a:ext cx="3505200" cy="914400"/>
          </a:xfrm>
          <a:prstGeom prst="rect">
            <a:avLst/>
          </a:prstGeom>
        </p:spPr>
      </p:pic>
      <p:pic>
        <p:nvPicPr>
          <p:cNvPr id="6" name="Picture 5" descr="151.1.jpg"/>
          <p:cNvPicPr>
            <a:picLocks noChangeAspect="1"/>
          </p:cNvPicPr>
          <p:nvPr/>
        </p:nvPicPr>
        <p:blipFill>
          <a:blip r:embed="rId3"/>
          <a:srcRect l="13224" t="26042" r="57106" b="56326"/>
          <a:stretch>
            <a:fillRect/>
          </a:stretch>
        </p:blipFill>
        <p:spPr>
          <a:xfrm>
            <a:off x="1066800" y="3078480"/>
            <a:ext cx="2667000" cy="1188720"/>
          </a:xfrm>
          <a:prstGeom prst="rect">
            <a:avLst/>
          </a:prstGeom>
        </p:spPr>
      </p:pic>
      <p:pic>
        <p:nvPicPr>
          <p:cNvPr id="8" name="Picture 7" descr="151.1.jpg"/>
          <p:cNvPicPr>
            <a:picLocks noChangeAspect="1"/>
          </p:cNvPicPr>
          <p:nvPr/>
        </p:nvPicPr>
        <p:blipFill>
          <a:blip r:embed="rId3"/>
          <a:srcRect l="42725" t="26042" r="31844" b="56326"/>
          <a:stretch>
            <a:fillRect/>
          </a:stretch>
        </p:blipFill>
        <p:spPr>
          <a:xfrm>
            <a:off x="1066800" y="5059680"/>
            <a:ext cx="2286001" cy="1188720"/>
          </a:xfrm>
          <a:prstGeom prst="rect">
            <a:avLst/>
          </a:prstGeom>
        </p:spPr>
      </p:pic>
      <p:pic>
        <p:nvPicPr>
          <p:cNvPr id="9" name="Picture 8" descr="151.1.jpg"/>
          <p:cNvPicPr>
            <a:picLocks noChangeAspect="1"/>
          </p:cNvPicPr>
          <p:nvPr/>
        </p:nvPicPr>
        <p:blipFill>
          <a:blip r:embed="rId3"/>
          <a:srcRect l="42894" t="26042" r="40999" b="56326"/>
          <a:stretch>
            <a:fillRect/>
          </a:stretch>
        </p:blipFill>
        <p:spPr>
          <a:xfrm>
            <a:off x="3733800" y="3002280"/>
            <a:ext cx="1447800" cy="1188720"/>
          </a:xfrm>
          <a:prstGeom prst="rect">
            <a:avLst/>
          </a:prstGeom>
        </p:spPr>
      </p:pic>
      <p:pic>
        <p:nvPicPr>
          <p:cNvPr id="11" name="Picture 10" descr="151.1.jpg"/>
          <p:cNvPicPr>
            <a:picLocks noChangeAspect="1"/>
          </p:cNvPicPr>
          <p:nvPr/>
        </p:nvPicPr>
        <p:blipFill>
          <a:blip r:embed="rId3"/>
          <a:srcRect l="51371" t="45031" r="16585" b="41406"/>
          <a:stretch>
            <a:fillRect/>
          </a:stretch>
        </p:blipFill>
        <p:spPr>
          <a:xfrm>
            <a:off x="4495800" y="4114800"/>
            <a:ext cx="2880360" cy="914400"/>
          </a:xfrm>
          <a:prstGeom prst="rect">
            <a:avLst/>
          </a:prstGeom>
        </p:spPr>
      </p:pic>
      <p:pic>
        <p:nvPicPr>
          <p:cNvPr id="12" name="Picture 11" descr="151.1.jpg"/>
          <p:cNvPicPr>
            <a:picLocks noChangeAspect="1"/>
          </p:cNvPicPr>
          <p:nvPr/>
        </p:nvPicPr>
        <p:blipFill>
          <a:blip r:embed="rId3"/>
          <a:srcRect l="68156" t="26042" r="8447" b="56326"/>
          <a:stretch>
            <a:fillRect/>
          </a:stretch>
        </p:blipFill>
        <p:spPr>
          <a:xfrm>
            <a:off x="3307080" y="5029200"/>
            <a:ext cx="2103120" cy="118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34.1.3 </a:t>
            </a:r>
            <a:r>
              <a:rPr lang="zh-CN" altLang="en-US" sz="4000" b="1" dirty="0">
                <a:latin typeface="+mn-ea"/>
              </a:rPr>
              <a:t>羧酸的化学性质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zh-CN" sz="2800" dirty="0"/>
              <a:t>2. </a:t>
            </a:r>
            <a:r>
              <a:rPr lang="zh-CN" altLang="en-US" sz="2800" dirty="0"/>
              <a:t>酰胺的命名（补充）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endParaRPr lang="en-US" altLang="zh-CN" sz="2800" dirty="0"/>
          </a:p>
          <a:p>
            <a:pPr marL="914400" lvl="1" indent="-514350"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600" dirty="0"/>
          </a:p>
          <a:p>
            <a:pPr marL="914400" lvl="1" indent="-514350">
              <a:spcBef>
                <a:spcPts val="600"/>
              </a:spcBef>
              <a:buNone/>
            </a:pPr>
            <a:endParaRPr lang="en-US" altLang="zh-CN" sz="2600" dirty="0"/>
          </a:p>
        </p:txBody>
      </p:sp>
      <p:pic>
        <p:nvPicPr>
          <p:cNvPr id="5" name="Picture 4" descr="151.2.png"/>
          <p:cNvPicPr>
            <a:picLocks noChangeAspect="1"/>
          </p:cNvPicPr>
          <p:nvPr/>
        </p:nvPicPr>
        <p:blipFill>
          <a:blip r:embed="rId3"/>
          <a:srcRect l="4494" t="11529" r="10909" b="15059"/>
          <a:stretch>
            <a:fillRect/>
          </a:stretch>
        </p:blipFill>
        <p:spPr>
          <a:xfrm>
            <a:off x="304800" y="1676400"/>
            <a:ext cx="4572000" cy="2971800"/>
          </a:xfrm>
          <a:prstGeom prst="rect">
            <a:avLst/>
          </a:prstGeom>
        </p:spPr>
      </p:pic>
      <p:pic>
        <p:nvPicPr>
          <p:cNvPr id="6" name="Picture 5" descr="151.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209800"/>
            <a:ext cx="7229747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34.1.3 </a:t>
            </a:r>
            <a:r>
              <a:rPr lang="zh-CN" altLang="en-US" sz="4000" b="1" dirty="0">
                <a:latin typeface="+mn-ea"/>
              </a:rPr>
              <a:t>羧酸的化学性质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3. </a:t>
            </a:r>
            <a:r>
              <a:rPr lang="zh-CN" altLang="en-US" sz="2800" dirty="0"/>
              <a:t>酰卤的生成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酰卤：羧酸分子中羧基</a:t>
            </a:r>
            <a:r>
              <a:rPr lang="en-US" altLang="zh-CN" sz="2800" dirty="0"/>
              <a:t>(-COOH)</a:t>
            </a:r>
            <a:r>
              <a:rPr lang="zh-CN" altLang="en-US" sz="2800" dirty="0"/>
              <a:t>上的羟基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			(-OH)</a:t>
            </a:r>
            <a:r>
              <a:rPr lang="zh-CN" altLang="en-US" sz="2800" dirty="0"/>
              <a:t>被卤素原子取代后的产物，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RCOX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羧酸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除甲酸外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与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PCl</a:t>
            </a:r>
            <a:r>
              <a:rPr lang="en-US" altLang="zh-CN" sz="2800" b="1" baseline="-25000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PCl</a:t>
            </a:r>
            <a:r>
              <a:rPr lang="en-US" altLang="zh-CN" sz="2800" b="1" baseline="-25000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作用生成酰氯。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8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8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8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8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醇与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PCl</a:t>
            </a:r>
            <a:r>
              <a:rPr lang="en-US" altLang="zh-CN" sz="2800" b="1" baseline="-25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PCl</a:t>
            </a:r>
            <a:r>
              <a:rPr lang="en-US" altLang="zh-CN" sz="2800" b="1" baseline="-25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作用生成卤代烷</a:t>
            </a:r>
            <a:endParaRPr lang="en-MY" altLang="zh-CN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羧酸、醇与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PCl</a:t>
            </a:r>
            <a:r>
              <a:rPr lang="en-US" altLang="zh-CN" sz="2800" b="1" baseline="-25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作用生成白雾（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HCl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endParaRPr lang="en-US" altLang="zh-CN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1" indent="-514350">
              <a:spcBef>
                <a:spcPts val="600"/>
              </a:spcBef>
              <a:buNone/>
            </a:pPr>
            <a:endParaRPr lang="en-US" altLang="zh-CN" sz="2600" dirty="0"/>
          </a:p>
        </p:txBody>
      </p:sp>
      <p:grpSp>
        <p:nvGrpSpPr>
          <p:cNvPr id="5" name="Group 4"/>
          <p:cNvGrpSpPr/>
          <p:nvPr/>
        </p:nvGrpSpPr>
        <p:grpSpPr>
          <a:xfrm>
            <a:off x="6969760" y="457200"/>
            <a:ext cx="1945640" cy="1410422"/>
            <a:chOff x="6822440" y="5410200"/>
            <a:chExt cx="1945640" cy="1410422"/>
          </a:xfrm>
        </p:grpSpPr>
        <p:sp>
          <p:nvSpPr>
            <p:cNvPr id="6" name="Rectangle 5"/>
            <p:cNvSpPr/>
            <p:nvPr/>
          </p:nvSpPr>
          <p:spPr>
            <a:xfrm>
              <a:off x="6822440" y="6266624"/>
              <a:ext cx="194564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3000" dirty="0"/>
                <a:t>   R—C—X</a:t>
              </a:r>
              <a:endParaRPr lang="en-US" altLang="zh-CN" sz="30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pic>
          <p:nvPicPr>
            <p:cNvPr id="7" name="Picture 6" descr="137.3.gif"/>
            <p:cNvPicPr>
              <a:picLocks noChangeAspect="1"/>
            </p:cNvPicPr>
            <p:nvPr/>
          </p:nvPicPr>
          <p:blipFill>
            <a:blip r:embed="rId3"/>
            <a:srcRect t="48648" r="82979" b="34512"/>
            <a:stretch>
              <a:fillRect/>
            </a:stretch>
          </p:blipFill>
          <p:spPr>
            <a:xfrm>
              <a:off x="6822440" y="5410200"/>
              <a:ext cx="1788160" cy="1005840"/>
            </a:xfrm>
            <a:prstGeom prst="rect">
              <a:avLst/>
            </a:prstGeom>
          </p:spPr>
        </p:pic>
      </p:grpSp>
      <p:pic>
        <p:nvPicPr>
          <p:cNvPr id="12" name="Picture 11" descr="150.1.jpg"/>
          <p:cNvPicPr>
            <a:picLocks noChangeAspect="1"/>
          </p:cNvPicPr>
          <p:nvPr/>
        </p:nvPicPr>
        <p:blipFill>
          <a:blip r:embed="rId4"/>
          <a:srcRect l="9430" t="54484" r="21417" b="30847"/>
          <a:stretch>
            <a:fillRect/>
          </a:stretch>
        </p:blipFill>
        <p:spPr>
          <a:xfrm>
            <a:off x="1143000" y="3200400"/>
            <a:ext cx="5747658" cy="914400"/>
          </a:xfrm>
          <a:prstGeom prst="rect">
            <a:avLst/>
          </a:prstGeom>
        </p:spPr>
      </p:pic>
      <p:pic>
        <p:nvPicPr>
          <p:cNvPr id="13" name="Picture 12" descr="150.1.jpg"/>
          <p:cNvPicPr>
            <a:picLocks noChangeAspect="1"/>
          </p:cNvPicPr>
          <p:nvPr/>
        </p:nvPicPr>
        <p:blipFill>
          <a:blip r:embed="rId4"/>
          <a:srcRect l="9009" t="74846" r="15541" b="9891"/>
          <a:stretch>
            <a:fillRect/>
          </a:stretch>
        </p:blipFill>
        <p:spPr>
          <a:xfrm>
            <a:off x="1143000" y="4343400"/>
            <a:ext cx="6026964" cy="9144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81E523-B4FA-4288-B454-6F04D80CB89E}"/>
              </a:ext>
            </a:extLst>
          </p:cNvPr>
          <p:cNvSpPr/>
          <p:nvPr/>
        </p:nvSpPr>
        <p:spPr>
          <a:xfrm>
            <a:off x="3782400" y="2514600"/>
            <a:ext cx="180000" cy="288000"/>
          </a:xfrm>
          <a:prstGeom prst="round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34.1.3 </a:t>
            </a:r>
            <a:r>
              <a:rPr lang="zh-CN" altLang="en-US" sz="4000" b="1" dirty="0">
                <a:latin typeface="+mn-ea"/>
              </a:rPr>
              <a:t>羧酸的化学性质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4.  </a:t>
            </a:r>
            <a:r>
              <a:rPr lang="zh-CN" altLang="en-US" sz="2800" dirty="0"/>
              <a:t>酸酐的生成：在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脱水剂：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US" altLang="zh-CN" sz="2800" b="1" baseline="-25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</a:t>
            </a:r>
            <a:r>
              <a:rPr lang="en-US" altLang="zh-CN" sz="2800" b="1" baseline="-25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2800" dirty="0"/>
              <a:t>的作用下，两分子羧酸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除甲酸外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脱去一个水分子</a:t>
            </a:r>
            <a:r>
              <a:rPr lang="zh-CN" altLang="en-US" sz="2800" dirty="0"/>
              <a:t>生成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酸酐</a:t>
            </a:r>
            <a:r>
              <a:rPr lang="zh-CN" altLang="en-US" sz="2800" dirty="0"/>
              <a:t>，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RCOOCOR</a:t>
            </a:r>
            <a:r>
              <a:rPr lang="en-US" altLang="zh-CN" sz="2800" b="1" baseline="30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2600" dirty="0"/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2600" dirty="0"/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2600" dirty="0"/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</a:t>
            </a:r>
            <a:r>
              <a:rPr lang="zh-CN" altLang="en-US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羧酸 </a:t>
            </a:r>
            <a:r>
              <a:rPr lang="en-US" altLang="zh-CN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</a:t>
            </a:r>
            <a:r>
              <a:rPr lang="zh-CN" altLang="en-US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酐 </a:t>
            </a:r>
            <a:r>
              <a:rPr lang="en-US" altLang="zh-CN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</a:t>
            </a:r>
            <a:r>
              <a:rPr lang="zh-CN" altLang="en-US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水</a:t>
            </a:r>
            <a:endParaRPr lang="en-US" altLang="zh-CN" sz="2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2600" dirty="0"/>
          </a:p>
        </p:txBody>
      </p:sp>
      <p:grpSp>
        <p:nvGrpSpPr>
          <p:cNvPr id="5" name="Group 47"/>
          <p:cNvGrpSpPr/>
          <p:nvPr/>
        </p:nvGrpSpPr>
        <p:grpSpPr>
          <a:xfrm>
            <a:off x="3489960" y="2779232"/>
            <a:ext cx="1005840" cy="461665"/>
            <a:chOff x="2667000" y="5555158"/>
            <a:chExt cx="1005840" cy="461665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2667000" y="6015235"/>
              <a:ext cx="1005840" cy="1588"/>
            </a:xfrm>
            <a:prstGeom prst="straightConnector1">
              <a:avLst/>
            </a:prstGeom>
            <a:ln w="25400"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2826065" y="5555158"/>
              <a:ext cx="7553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rgbClr val="002060"/>
                  </a:solidFill>
                </a:rPr>
                <a:t>P</a:t>
              </a:r>
              <a:r>
                <a:rPr lang="en-US" altLang="zh-CN" sz="2400" baseline="-25000" dirty="0">
                  <a:solidFill>
                    <a:srgbClr val="002060"/>
                  </a:solidFill>
                </a:rPr>
                <a:t>2</a:t>
              </a:r>
              <a:r>
                <a:rPr lang="en-US" altLang="zh-CN" sz="2400" dirty="0">
                  <a:solidFill>
                    <a:srgbClr val="002060"/>
                  </a:solidFill>
                </a:rPr>
                <a:t>O</a:t>
              </a:r>
              <a:r>
                <a:rPr lang="en-US" altLang="zh-CN" sz="2400" baseline="-25000" dirty="0">
                  <a:solidFill>
                    <a:srgbClr val="002060"/>
                  </a:solidFill>
                </a:rPr>
                <a:t>5</a:t>
              </a:r>
              <a:endParaRPr lang="en-US" sz="2400" dirty="0">
                <a:solidFill>
                  <a:srgbClr val="002060"/>
                </a:solidFill>
              </a:endParaRPr>
            </a:p>
          </p:txBody>
        </p:sp>
      </p:grpSp>
      <p:pic>
        <p:nvPicPr>
          <p:cNvPr id="11" name="Picture 10" descr="151.gif"/>
          <p:cNvPicPr>
            <a:picLocks noChangeAspect="1"/>
          </p:cNvPicPr>
          <p:nvPr/>
        </p:nvPicPr>
        <p:blipFill>
          <a:blip r:embed="rId3"/>
          <a:srcRect r="70423"/>
          <a:stretch>
            <a:fillRect/>
          </a:stretch>
        </p:blipFill>
        <p:spPr>
          <a:xfrm>
            <a:off x="1524000" y="2057400"/>
            <a:ext cx="1600200" cy="2474432"/>
          </a:xfrm>
          <a:prstGeom prst="rect">
            <a:avLst/>
          </a:prstGeom>
        </p:spPr>
      </p:pic>
      <p:pic>
        <p:nvPicPr>
          <p:cNvPr id="12" name="Picture 11" descr="151.gif"/>
          <p:cNvPicPr>
            <a:picLocks noChangeAspect="1"/>
          </p:cNvPicPr>
          <p:nvPr/>
        </p:nvPicPr>
        <p:blipFill>
          <a:blip r:embed="rId3"/>
          <a:srcRect l="61972"/>
          <a:stretch>
            <a:fillRect/>
          </a:stretch>
        </p:blipFill>
        <p:spPr>
          <a:xfrm>
            <a:off x="4876800" y="2209800"/>
            <a:ext cx="2057400" cy="2474432"/>
          </a:xfrm>
          <a:prstGeom prst="rect">
            <a:avLst/>
          </a:prstGeom>
        </p:spPr>
      </p:pic>
      <p:grpSp>
        <p:nvGrpSpPr>
          <p:cNvPr id="14" name="Group 47"/>
          <p:cNvGrpSpPr/>
          <p:nvPr/>
        </p:nvGrpSpPr>
        <p:grpSpPr>
          <a:xfrm>
            <a:off x="1981200" y="4724400"/>
            <a:ext cx="1005840" cy="461665"/>
            <a:chOff x="2667000" y="5555158"/>
            <a:chExt cx="1005840" cy="461665"/>
          </a:xfrm>
        </p:grpSpPr>
        <p:cxnSp>
          <p:nvCxnSpPr>
            <p:cNvPr id="15" name="Straight Arrow Connector 14"/>
            <p:cNvCxnSpPr/>
            <p:nvPr/>
          </p:nvCxnSpPr>
          <p:spPr>
            <a:xfrm>
              <a:off x="2667000" y="6015235"/>
              <a:ext cx="1005840" cy="1588"/>
            </a:xfrm>
            <a:prstGeom prst="straightConnector1">
              <a:avLst/>
            </a:prstGeom>
            <a:ln w="25400"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2826065" y="5555158"/>
              <a:ext cx="7553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rgbClr val="002060"/>
                  </a:solidFill>
                </a:rPr>
                <a:t>P</a:t>
              </a:r>
              <a:r>
                <a:rPr lang="en-US" altLang="zh-CN" sz="2400" baseline="-25000" dirty="0">
                  <a:solidFill>
                    <a:srgbClr val="002060"/>
                  </a:solidFill>
                </a:rPr>
                <a:t>2</a:t>
              </a:r>
              <a:r>
                <a:rPr lang="en-US" altLang="zh-CN" sz="2400" dirty="0">
                  <a:solidFill>
                    <a:srgbClr val="002060"/>
                  </a:solidFill>
                </a:rPr>
                <a:t>O</a:t>
              </a:r>
              <a:r>
                <a:rPr lang="en-US" altLang="zh-CN" sz="2400" baseline="-25000" dirty="0">
                  <a:solidFill>
                    <a:srgbClr val="002060"/>
                  </a:solidFill>
                </a:rPr>
                <a:t>5</a:t>
              </a:r>
              <a:endParaRPr lang="en-US" sz="2400" dirty="0">
                <a:solidFill>
                  <a:srgbClr val="00206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28.2.2 </a:t>
            </a:r>
            <a:r>
              <a:rPr lang="zh-CN" altLang="en-US" sz="4000" b="1" dirty="0">
                <a:latin typeface="+mn-ea"/>
              </a:rPr>
              <a:t>羧酸的性质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zh-CN" sz="2800" dirty="0"/>
              <a:t>4.  </a:t>
            </a:r>
            <a:r>
              <a:rPr lang="zh-CN" altLang="en-US" sz="2800" dirty="0"/>
              <a:t>酐的生成（补充）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某些二元羧酸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分子内脱水</a:t>
            </a:r>
            <a:r>
              <a:rPr lang="zh-CN" altLang="en-US" sz="2800" dirty="0"/>
              <a:t>生成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内酸酐</a:t>
            </a:r>
            <a:endParaRPr lang="en-US" altLang="zh-CN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2600" dirty="0"/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2600" dirty="0"/>
          </a:p>
        </p:txBody>
      </p:sp>
      <p:pic>
        <p:nvPicPr>
          <p:cNvPr id="12" name="Picture 11" descr="151.2.jpg"/>
          <p:cNvPicPr>
            <a:picLocks noChangeAspect="1"/>
          </p:cNvPicPr>
          <p:nvPr/>
        </p:nvPicPr>
        <p:blipFill>
          <a:blip r:embed="rId3"/>
          <a:srcRect l="19708" t="58509" r="24279" b="6915"/>
          <a:stretch>
            <a:fillRect/>
          </a:stretch>
        </p:blipFill>
        <p:spPr>
          <a:xfrm>
            <a:off x="1143000" y="2362200"/>
            <a:ext cx="6748272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34.1.3 </a:t>
            </a:r>
            <a:r>
              <a:rPr lang="zh-CN" altLang="en-US" sz="4000" b="1" dirty="0">
                <a:latin typeface="+mn-ea"/>
              </a:rPr>
              <a:t>羧酸的化学性质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zh-CN" sz="2800" dirty="0"/>
              <a:t>4. </a:t>
            </a:r>
            <a:r>
              <a:rPr lang="zh-CN" altLang="en-US" sz="2800" dirty="0"/>
              <a:t>酐的生成（补充）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zh-CN" altLang="en-US" sz="2800" dirty="0"/>
              <a:t>酸酐的命名：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2600" dirty="0"/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2600" dirty="0"/>
          </a:p>
        </p:txBody>
      </p:sp>
      <p:pic>
        <p:nvPicPr>
          <p:cNvPr id="8" name="Picture 7" descr="151.1.jpg"/>
          <p:cNvPicPr>
            <a:picLocks noChangeAspect="1"/>
          </p:cNvPicPr>
          <p:nvPr/>
        </p:nvPicPr>
        <p:blipFill>
          <a:blip r:embed="rId3"/>
          <a:srcRect l="13051" t="19335" r="7193" b="14926"/>
          <a:stretch>
            <a:fillRect/>
          </a:stretch>
        </p:blipFill>
        <p:spPr>
          <a:xfrm>
            <a:off x="1214719" y="2133600"/>
            <a:ext cx="7395881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34.1.3 </a:t>
            </a:r>
            <a:r>
              <a:rPr lang="zh-CN" altLang="en-US" sz="4000" b="1" dirty="0">
                <a:latin typeface="+mn-ea"/>
              </a:rPr>
              <a:t>羧酸的化学性质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5. </a:t>
            </a:r>
            <a:r>
              <a:rPr lang="zh-CN" altLang="en-US" sz="2800" dirty="0"/>
              <a:t>羧酸的还原反应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羧酸在强还原剂的作用下能被还原为醇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强还原剂：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LiAlH</a:t>
            </a:r>
            <a:r>
              <a:rPr lang="en-US" altLang="zh-CN" sz="28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marL="514350" indent="-514350">
              <a:spcBef>
                <a:spcPts val="600"/>
              </a:spcBef>
              <a:buNone/>
            </a:pP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	RCOOH 		    R-CH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OH</a:t>
            </a:r>
          </a:p>
          <a:p>
            <a:pPr marL="914400" lvl="1" indent="-514350"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600" dirty="0"/>
          </a:p>
          <a:p>
            <a:pPr marL="914400" lvl="1" indent="-514350">
              <a:spcBef>
                <a:spcPts val="600"/>
              </a:spcBef>
              <a:buNone/>
            </a:pPr>
            <a:endParaRPr lang="en-US" altLang="zh-CN" sz="2600" dirty="0"/>
          </a:p>
        </p:txBody>
      </p:sp>
      <p:grpSp>
        <p:nvGrpSpPr>
          <p:cNvPr id="5" name="Group 47"/>
          <p:cNvGrpSpPr/>
          <p:nvPr/>
        </p:nvGrpSpPr>
        <p:grpSpPr>
          <a:xfrm>
            <a:off x="2118360" y="2971800"/>
            <a:ext cx="1188720" cy="461665"/>
            <a:chOff x="2667000" y="5555158"/>
            <a:chExt cx="1188720" cy="461665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2667000" y="6015235"/>
              <a:ext cx="1188720" cy="1588"/>
            </a:xfrm>
            <a:prstGeom prst="straightConnector1">
              <a:avLst/>
            </a:prstGeom>
            <a:ln w="25400"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2742777" y="5555158"/>
              <a:ext cx="94929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LiAlH</a:t>
              </a:r>
              <a:r>
                <a:rPr lang="en-US" altLang="zh-CN" sz="2400" b="1" baseline="-25000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endPara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/>
              <a:t>练习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686800" cy="59436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2800" dirty="0"/>
              <a:t>2</a:t>
            </a:r>
            <a:r>
              <a:rPr lang="zh-CN" altLang="en-US" sz="2800" dirty="0"/>
              <a:t>份丙酸在五氧化二磷的作用下反应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2800" dirty="0"/>
              <a:t>2-</a:t>
            </a:r>
            <a:r>
              <a:rPr lang="zh-CN" altLang="en-US" sz="2800" dirty="0"/>
              <a:t>甲基丁酸</a:t>
            </a:r>
            <a:r>
              <a:rPr lang="en-US" altLang="zh-CN" sz="2800" dirty="0"/>
              <a:t>+</a:t>
            </a:r>
            <a:r>
              <a:rPr lang="zh-CN" altLang="en-US" sz="2800" dirty="0"/>
              <a:t>乙醇在酸性条件下反应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苯甲酸</a:t>
            </a:r>
            <a:r>
              <a:rPr lang="en-US" altLang="zh-CN" sz="2800" dirty="0"/>
              <a:t>+2-</a:t>
            </a:r>
            <a:r>
              <a:rPr lang="zh-CN" altLang="en-US" sz="2800" dirty="0"/>
              <a:t>甲基</a:t>
            </a:r>
            <a:r>
              <a:rPr lang="en-US" altLang="zh-CN" sz="2800" dirty="0"/>
              <a:t>-2-</a:t>
            </a:r>
            <a:r>
              <a:rPr lang="zh-CN" altLang="en-US" sz="2800" dirty="0"/>
              <a:t>丙醇在酸性条件下反应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2800" dirty="0"/>
              <a:t>2</a:t>
            </a:r>
            <a:r>
              <a:rPr lang="zh-CN" altLang="en-US" sz="2800" dirty="0"/>
              <a:t>，</a:t>
            </a:r>
            <a:r>
              <a:rPr lang="en-US" altLang="zh-CN" sz="2800" dirty="0"/>
              <a:t>2-</a:t>
            </a:r>
            <a:r>
              <a:rPr lang="zh-CN" altLang="en-US" sz="2800" dirty="0"/>
              <a:t>二甲基戊酸与</a:t>
            </a:r>
            <a:r>
              <a:rPr lang="en-US" altLang="zh-CN" sz="2800" dirty="0"/>
              <a:t>PCl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</a:t>
            </a:r>
            <a:r>
              <a:rPr lang="zh-CN" altLang="en-US" sz="2800" dirty="0"/>
              <a:t>反应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丙酸和丁酸的混合液在五氧化二磷的作用下反应后的产物是：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丙酸</a:t>
            </a:r>
            <a:r>
              <a:rPr lang="en-US" altLang="zh-CN" sz="2800" dirty="0"/>
              <a:t>+</a:t>
            </a:r>
            <a:r>
              <a:rPr lang="zh-CN" altLang="en-US" sz="2800" dirty="0"/>
              <a:t>碳酸氢铵在加热条件下反应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将金属钠加入乙酸中发生的化学反应的反应式。</a:t>
            </a:r>
            <a:endParaRPr lang="en-US" altLang="zh-CN" sz="2800" dirty="0"/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600" dirty="0"/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2600" dirty="0"/>
          </a:p>
        </p:txBody>
      </p:sp>
    </p:spTree>
    <p:extLst>
      <p:ext uri="{BB962C8B-B14F-4D97-AF65-F5344CB8AC3E}">
        <p14:creationId xmlns:p14="http://schemas.microsoft.com/office/powerpoint/2010/main" val="3027278781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34.1.4 </a:t>
            </a:r>
            <a:r>
              <a:rPr lang="zh-CN" altLang="en-US" sz="4000" b="1" dirty="0">
                <a:latin typeface="+mn-ea"/>
              </a:rPr>
              <a:t>羧酸的制备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None/>
            </a:pPr>
            <a:r>
              <a:rPr lang="zh-CN" altLang="en-US" sz="2800" dirty="0"/>
              <a:t>（一）氧化法</a:t>
            </a:r>
            <a:endParaRPr lang="en-MY" altLang="zh-CN" sz="2800" dirty="0"/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800" dirty="0"/>
              <a:t>1. </a:t>
            </a:r>
            <a:r>
              <a:rPr lang="zh-CN" altLang="en-US" sz="2800" dirty="0"/>
              <a:t>一级醇氧化</a:t>
            </a:r>
            <a:endParaRPr lang="en-MY" altLang="zh-CN" sz="2800" dirty="0"/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800" dirty="0"/>
              <a:t>2. </a:t>
            </a:r>
            <a:r>
              <a:rPr lang="zh-CN" altLang="en-US" sz="2800" dirty="0"/>
              <a:t>醛的氧化</a:t>
            </a:r>
            <a:endParaRPr lang="en-MY" altLang="zh-CN" sz="2800" dirty="0"/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800" dirty="0"/>
              <a:t>3. </a:t>
            </a:r>
            <a:r>
              <a:rPr lang="zh-CN" altLang="en-US" sz="2800" dirty="0"/>
              <a:t>芳烃的支链氧化</a:t>
            </a:r>
            <a:endParaRPr lang="en-MY" altLang="zh-CN" sz="2800" dirty="0"/>
          </a:p>
          <a:p>
            <a:pPr marL="0" indent="0">
              <a:spcBef>
                <a:spcPts val="600"/>
              </a:spcBef>
              <a:buNone/>
            </a:pPr>
            <a:r>
              <a:rPr lang="en-MY" altLang="zh-CN" sz="2800" dirty="0"/>
              <a:t>			</a:t>
            </a:r>
            <a:r>
              <a:rPr lang="zh-CN" altLang="en-US" sz="2800" dirty="0"/>
              <a:t>甲苯</a:t>
            </a:r>
            <a:r>
              <a:rPr lang="en-MY" altLang="zh-CN" sz="2800" dirty="0"/>
              <a:t>			   </a:t>
            </a:r>
            <a:r>
              <a:rPr lang="zh-CN" altLang="en-US" sz="2800" dirty="0"/>
              <a:t>苯甲酸</a:t>
            </a:r>
            <a:endParaRPr lang="en-US" altLang="zh-CN" sz="2800" dirty="0"/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800" dirty="0"/>
              <a:t>4. </a:t>
            </a:r>
            <a:r>
              <a:rPr lang="zh-CN" altLang="en-US" sz="2800" dirty="0"/>
              <a:t>烯烃经酸性</a:t>
            </a:r>
            <a:r>
              <a:rPr lang="en-US" altLang="zh-CN" sz="2800" dirty="0"/>
              <a:t>KMnO</a:t>
            </a:r>
            <a:r>
              <a:rPr lang="en-US" altLang="zh-CN" sz="2800" baseline="-25000" dirty="0"/>
              <a:t>4</a:t>
            </a:r>
            <a:r>
              <a:rPr lang="zh-CN" altLang="en-US" sz="2800" dirty="0"/>
              <a:t>的氧化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=CHCH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	      	    CO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+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O+CH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COOH </a:t>
            </a:r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(CH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)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C =CHCH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		(CH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)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C=O + CH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COOH</a:t>
            </a:r>
          </a:p>
          <a:p>
            <a:pPr marL="514350" indent="-514350">
              <a:spcBef>
                <a:spcPts val="600"/>
              </a:spcBef>
              <a:buNone/>
            </a:pP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endParaRPr lang="en-US" altLang="zh-CN" sz="2800" dirty="0"/>
          </a:p>
        </p:txBody>
      </p:sp>
      <p:grpSp>
        <p:nvGrpSpPr>
          <p:cNvPr id="8" name="Group 7"/>
          <p:cNvGrpSpPr/>
          <p:nvPr/>
        </p:nvGrpSpPr>
        <p:grpSpPr>
          <a:xfrm>
            <a:off x="2667000" y="1447800"/>
            <a:ext cx="6172200" cy="1066800"/>
            <a:chOff x="1796940" y="2438400"/>
            <a:chExt cx="6017317" cy="1008611"/>
          </a:xfrm>
        </p:grpSpPr>
        <p:pic>
          <p:nvPicPr>
            <p:cNvPr id="9" name="Picture 8" descr="118.gif"/>
            <p:cNvPicPr>
              <a:picLocks noChangeAspect="1"/>
            </p:cNvPicPr>
            <p:nvPr/>
          </p:nvPicPr>
          <p:blipFill>
            <a:blip r:embed="rId3"/>
            <a:srcRect l="17061" b="74545"/>
            <a:stretch>
              <a:fillRect/>
            </a:stretch>
          </p:blipFill>
          <p:spPr>
            <a:xfrm>
              <a:off x="1796940" y="2438400"/>
              <a:ext cx="6017317" cy="1008611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4495800" y="2895600"/>
              <a:ext cx="792268" cy="52322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RCH</a:t>
              </a:r>
              <a:endParaRPr lang="en-US" sz="2800" dirty="0"/>
            </a:p>
          </p:txBody>
        </p:sp>
      </p:grpSp>
      <p:grpSp>
        <p:nvGrpSpPr>
          <p:cNvPr id="16" name="Group 27"/>
          <p:cNvGrpSpPr/>
          <p:nvPr/>
        </p:nvGrpSpPr>
        <p:grpSpPr>
          <a:xfrm>
            <a:off x="4047510" y="2971800"/>
            <a:ext cx="1584000" cy="707886"/>
            <a:chOff x="2926081" y="5715000"/>
            <a:chExt cx="1584000" cy="707886"/>
          </a:xfrm>
        </p:grpSpPr>
        <p:cxnSp>
          <p:nvCxnSpPr>
            <p:cNvPr id="17" name="Straight Arrow Connector 16"/>
            <p:cNvCxnSpPr/>
            <p:nvPr/>
          </p:nvCxnSpPr>
          <p:spPr>
            <a:xfrm>
              <a:off x="2926081" y="6096000"/>
              <a:ext cx="1584000" cy="1588"/>
            </a:xfrm>
            <a:prstGeom prst="straightConnector1">
              <a:avLst/>
            </a:prstGeom>
            <a:ln w="25400"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3027001" y="5715000"/>
              <a:ext cx="141417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KMnO</a:t>
              </a:r>
              <a:r>
                <a:rPr lang="en-US" altLang="zh-CN" sz="2000" b="1" baseline="-25000" dirty="0"/>
                <a:t>4</a:t>
              </a:r>
              <a:r>
                <a:rPr lang="en-US" altLang="zh-CN" sz="2000" b="1" dirty="0"/>
                <a:t> , </a:t>
              </a:r>
              <a:r>
                <a:rPr lang="en-US" sz="2000" b="1" dirty="0"/>
                <a:t>H</a:t>
              </a:r>
              <a:r>
                <a:rPr lang="en-US" sz="2000" b="1" baseline="30000" dirty="0"/>
                <a:t>+ </a:t>
              </a:r>
            </a:p>
            <a:p>
              <a:r>
                <a:rPr lang="en-US" sz="2000" b="1" dirty="0"/>
                <a:t>          ∆</a:t>
              </a:r>
              <a:r>
                <a:rPr lang="en-US" sz="2000" b="1" baseline="30000" dirty="0"/>
                <a:t> </a:t>
              </a:r>
              <a:endParaRPr lang="en-US" sz="2000" b="1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2BE0632-EF10-4B85-BE63-55919F9D69A9}"/>
              </a:ext>
            </a:extLst>
          </p:cNvPr>
          <p:cNvGrpSpPr/>
          <p:nvPr/>
        </p:nvGrpSpPr>
        <p:grpSpPr>
          <a:xfrm>
            <a:off x="2286000" y="4191000"/>
            <a:ext cx="1101207" cy="628710"/>
            <a:chOff x="1981200" y="5410200"/>
            <a:chExt cx="1101207" cy="628710"/>
          </a:xfrm>
        </p:grpSpPr>
        <p:grpSp>
          <p:nvGrpSpPr>
            <p:cNvPr id="20" name="Group 47">
              <a:extLst>
                <a:ext uri="{FF2B5EF4-FFF2-40B4-BE49-F238E27FC236}">
                  <a16:creationId xmlns:a16="http://schemas.microsoft.com/office/drawing/2014/main" id="{55EE697A-41A6-4C7A-9DB2-D42DE7690A6D}"/>
                </a:ext>
              </a:extLst>
            </p:cNvPr>
            <p:cNvGrpSpPr/>
            <p:nvPr/>
          </p:nvGrpSpPr>
          <p:grpSpPr>
            <a:xfrm>
              <a:off x="1981200" y="5410200"/>
              <a:ext cx="1101207" cy="338554"/>
              <a:chOff x="2819400" y="5940623"/>
              <a:chExt cx="1101207" cy="338554"/>
            </a:xfrm>
          </p:grpSpPr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ADDB2410-EED5-4DA6-9E96-49E0E11760B8}"/>
                  </a:ext>
                </a:extLst>
              </p:cNvPr>
              <p:cNvCxnSpPr/>
              <p:nvPr/>
            </p:nvCxnSpPr>
            <p:spPr>
              <a:xfrm>
                <a:off x="2819400" y="6246812"/>
                <a:ext cx="1005840" cy="1588"/>
              </a:xfrm>
              <a:prstGeom prst="straightConnector1">
                <a:avLst/>
              </a:prstGeom>
              <a:ln>
                <a:solidFill>
                  <a:schemeClr val="tx1">
                    <a:alpha val="9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C44AA2E-CD74-4B31-B200-290597E7369F}"/>
                  </a:ext>
                </a:extLst>
              </p:cNvPr>
              <p:cNvSpPr txBox="1"/>
              <p:nvPr/>
            </p:nvSpPr>
            <p:spPr>
              <a:xfrm>
                <a:off x="2847877" y="5940623"/>
                <a:ext cx="10727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dirty="0"/>
                  <a:t>KMnO</a:t>
                </a:r>
                <a:r>
                  <a:rPr lang="en-US" altLang="zh-CN" sz="1600" baseline="-25000" dirty="0"/>
                  <a:t>4</a:t>
                </a:r>
                <a:r>
                  <a:rPr lang="en-US" altLang="zh-CN" sz="1600" dirty="0"/>
                  <a:t> ,H</a:t>
                </a:r>
                <a:r>
                  <a:rPr lang="en-US" altLang="zh-CN" sz="1600" baseline="30000" dirty="0"/>
                  <a:t>+</a:t>
                </a:r>
                <a:endParaRPr lang="en-US" sz="1600" dirty="0"/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9F7D9F6-6BAA-422D-81BE-032A1512CF53}"/>
                </a:ext>
              </a:extLst>
            </p:cNvPr>
            <p:cNvSpPr/>
            <p:nvPr/>
          </p:nvSpPr>
          <p:spPr>
            <a:xfrm>
              <a:off x="2362200" y="5638800"/>
              <a:ext cx="3048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000" dirty="0"/>
                <a:t>∆</a:t>
              </a:r>
              <a:endParaRPr lang="en-US" sz="200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96F91EC-AD49-452F-99FE-A603869C9FFB}"/>
              </a:ext>
            </a:extLst>
          </p:cNvPr>
          <p:cNvGrpSpPr/>
          <p:nvPr/>
        </p:nvGrpSpPr>
        <p:grpSpPr>
          <a:xfrm>
            <a:off x="2895600" y="4648200"/>
            <a:ext cx="1101207" cy="628710"/>
            <a:chOff x="1981200" y="5410200"/>
            <a:chExt cx="1101207" cy="628710"/>
          </a:xfrm>
        </p:grpSpPr>
        <p:grpSp>
          <p:nvGrpSpPr>
            <p:cNvPr id="31" name="Group 47">
              <a:extLst>
                <a:ext uri="{FF2B5EF4-FFF2-40B4-BE49-F238E27FC236}">
                  <a16:creationId xmlns:a16="http://schemas.microsoft.com/office/drawing/2014/main" id="{865B4261-98BA-4506-B376-761550180BF9}"/>
                </a:ext>
              </a:extLst>
            </p:cNvPr>
            <p:cNvGrpSpPr/>
            <p:nvPr/>
          </p:nvGrpSpPr>
          <p:grpSpPr>
            <a:xfrm>
              <a:off x="1981200" y="5410200"/>
              <a:ext cx="1101207" cy="338554"/>
              <a:chOff x="2819400" y="5940623"/>
              <a:chExt cx="1101207" cy="338554"/>
            </a:xfrm>
          </p:grpSpPr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BA2786C0-A1A5-4945-809D-A70617770275}"/>
                  </a:ext>
                </a:extLst>
              </p:cNvPr>
              <p:cNvCxnSpPr/>
              <p:nvPr/>
            </p:nvCxnSpPr>
            <p:spPr>
              <a:xfrm>
                <a:off x="2819400" y="6246812"/>
                <a:ext cx="1005840" cy="1588"/>
              </a:xfrm>
              <a:prstGeom prst="straightConnector1">
                <a:avLst/>
              </a:prstGeom>
              <a:ln>
                <a:solidFill>
                  <a:schemeClr val="tx1">
                    <a:alpha val="9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BAF7C19-07AB-450F-AACA-1A870BDED55F}"/>
                  </a:ext>
                </a:extLst>
              </p:cNvPr>
              <p:cNvSpPr txBox="1"/>
              <p:nvPr/>
            </p:nvSpPr>
            <p:spPr>
              <a:xfrm>
                <a:off x="2847877" y="5940623"/>
                <a:ext cx="10727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dirty="0"/>
                  <a:t>KMnO</a:t>
                </a:r>
                <a:r>
                  <a:rPr lang="en-US" altLang="zh-CN" sz="1600" baseline="-25000" dirty="0"/>
                  <a:t>4</a:t>
                </a:r>
                <a:r>
                  <a:rPr lang="en-US" altLang="zh-CN" sz="1600" dirty="0"/>
                  <a:t> ,H</a:t>
                </a:r>
                <a:r>
                  <a:rPr lang="en-US" altLang="zh-CN" sz="1600" baseline="30000" dirty="0"/>
                  <a:t>+</a:t>
                </a:r>
                <a:endParaRPr lang="en-US" sz="1600" dirty="0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E1469F1-55B6-4CA7-9ACC-8430E044C913}"/>
                </a:ext>
              </a:extLst>
            </p:cNvPr>
            <p:cNvSpPr/>
            <p:nvPr/>
          </p:nvSpPr>
          <p:spPr>
            <a:xfrm>
              <a:off x="2362200" y="5638800"/>
              <a:ext cx="3048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000" dirty="0"/>
                <a:t>∆</a:t>
              </a:r>
              <a:endParaRPr lang="en-US" sz="2000" dirty="0"/>
            </a:p>
          </p:txBody>
        </p:sp>
      </p:grpSp>
      <p:sp>
        <p:nvSpPr>
          <p:cNvPr id="35" name="Rounded Rectangle 28">
            <a:extLst>
              <a:ext uri="{FF2B5EF4-FFF2-40B4-BE49-F238E27FC236}">
                <a16:creationId xmlns:a16="http://schemas.microsoft.com/office/drawing/2014/main" id="{16D00F6F-4B36-40A6-8645-497EF6C99EF2}"/>
              </a:ext>
            </a:extLst>
          </p:cNvPr>
          <p:cNvSpPr/>
          <p:nvPr/>
        </p:nvSpPr>
        <p:spPr>
          <a:xfrm>
            <a:off x="4025284" y="4724288"/>
            <a:ext cx="3505200" cy="4572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28">
            <a:extLst>
              <a:ext uri="{FF2B5EF4-FFF2-40B4-BE49-F238E27FC236}">
                <a16:creationId xmlns:a16="http://schemas.microsoft.com/office/drawing/2014/main" id="{6D4BCCFE-817D-496C-B53B-402BF793B9F1}"/>
              </a:ext>
            </a:extLst>
          </p:cNvPr>
          <p:cNvSpPr/>
          <p:nvPr/>
        </p:nvSpPr>
        <p:spPr>
          <a:xfrm>
            <a:off x="3442892" y="4170390"/>
            <a:ext cx="3505200" cy="4572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28">
            <a:extLst>
              <a:ext uri="{FF2B5EF4-FFF2-40B4-BE49-F238E27FC236}">
                <a16:creationId xmlns:a16="http://schemas.microsoft.com/office/drawing/2014/main" id="{5D6C20AE-3A4D-4EC2-B305-071D2A78E5E0}"/>
              </a:ext>
            </a:extLst>
          </p:cNvPr>
          <p:cNvSpPr/>
          <p:nvPr/>
        </p:nvSpPr>
        <p:spPr>
          <a:xfrm>
            <a:off x="5845126" y="3124863"/>
            <a:ext cx="1584000" cy="4572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28">
            <a:extLst>
              <a:ext uri="{FF2B5EF4-FFF2-40B4-BE49-F238E27FC236}">
                <a16:creationId xmlns:a16="http://schemas.microsoft.com/office/drawing/2014/main" id="{1B028ABE-A72B-4BC5-B036-038EEEEE6605}"/>
              </a:ext>
            </a:extLst>
          </p:cNvPr>
          <p:cNvSpPr/>
          <p:nvPr/>
        </p:nvSpPr>
        <p:spPr>
          <a:xfrm>
            <a:off x="5435327" y="1435904"/>
            <a:ext cx="883896" cy="978048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28">
            <a:extLst>
              <a:ext uri="{FF2B5EF4-FFF2-40B4-BE49-F238E27FC236}">
                <a16:creationId xmlns:a16="http://schemas.microsoft.com/office/drawing/2014/main" id="{531E3E30-FD23-48A2-A48E-0CBBAA4FDA2C}"/>
              </a:ext>
            </a:extLst>
          </p:cNvPr>
          <p:cNvSpPr/>
          <p:nvPr/>
        </p:nvSpPr>
        <p:spPr>
          <a:xfrm>
            <a:off x="7747083" y="1801780"/>
            <a:ext cx="1092117" cy="4572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1338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34.1.4 </a:t>
            </a:r>
            <a:r>
              <a:rPr lang="zh-CN" altLang="en-US" sz="4000" b="1" dirty="0">
                <a:latin typeface="+mn-ea"/>
              </a:rPr>
              <a:t>羧酸的制备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None/>
            </a:pPr>
            <a:r>
              <a:rPr lang="zh-CN" altLang="en-US" sz="2800" dirty="0"/>
              <a:t>（二）由腈水解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		R-X</a:t>
            </a:r>
            <a:r>
              <a:rPr lang="zh-CN" altLang="en-US" sz="2800" dirty="0"/>
              <a:t> </a:t>
            </a:r>
            <a:r>
              <a:rPr lang="en-US" altLang="zh-CN" sz="2800" dirty="0"/>
              <a:t>+ </a:t>
            </a:r>
            <a:r>
              <a:rPr lang="en-US" altLang="zh-CN" sz="2800" dirty="0" err="1"/>
              <a:t>NaCN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itchFamily="2" charset="2"/>
              </a:rPr>
              <a:t> R-CN+ </a:t>
            </a:r>
            <a:r>
              <a:rPr lang="en-US" altLang="zh-CN" sz="2800" dirty="0" err="1">
                <a:sym typeface="Wingdings" pitchFamily="2" charset="2"/>
              </a:rPr>
              <a:t>NaX</a:t>
            </a:r>
            <a:endParaRPr lang="en-US" altLang="zh-CN" sz="2800" dirty="0"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altLang="zh-CN" sz="2800" dirty="0">
                <a:sym typeface="Wingdings" pitchFamily="2" charset="2"/>
              </a:rPr>
              <a:t>		R-CN + 2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	R-COOH +NH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</a:p>
          <a:p>
            <a:pPr marL="514350" indent="-514350">
              <a:spcBef>
                <a:spcPts val="600"/>
              </a:spcBef>
              <a:buNone/>
            </a:pPr>
            <a:r>
              <a:rPr lang="zh-CN" altLang="en-US" sz="2800" dirty="0"/>
              <a:t>（三）由格氏试剂制备</a:t>
            </a:r>
            <a:endParaRPr lang="en-US" altLang="zh-CN" sz="2800" dirty="0"/>
          </a:p>
          <a:p>
            <a:pPr>
              <a:spcBef>
                <a:spcPts val="600"/>
              </a:spcBef>
              <a:buNone/>
            </a:pPr>
            <a:r>
              <a:rPr lang="en-US" altLang="zh-CN" sz="2800" dirty="0">
                <a:sym typeface="Wingdings" pitchFamily="2" charset="2"/>
              </a:rPr>
              <a:t>		</a:t>
            </a:r>
            <a:r>
              <a:rPr lang="en-US" altLang="zh-CN" sz="2800" dirty="0" err="1">
                <a:sym typeface="Wingdings" pitchFamily="2" charset="2"/>
              </a:rPr>
              <a:t>RMgX</a:t>
            </a:r>
            <a:r>
              <a:rPr lang="en-US" altLang="zh-CN" sz="2800" dirty="0">
                <a:sym typeface="Wingdings" pitchFamily="2" charset="2"/>
              </a:rPr>
              <a:t> + CO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 	      </a:t>
            </a:r>
            <a:r>
              <a:rPr lang="en-US" altLang="zh-CN" sz="2800" dirty="0" err="1">
                <a:sym typeface="Wingdings" pitchFamily="2" charset="2"/>
              </a:rPr>
              <a:t>RCOOMgX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dirty="0">
                <a:sym typeface="Wingdings" pitchFamily="2" charset="2"/>
              </a:rPr>
              <a:t>		</a:t>
            </a:r>
            <a:r>
              <a:rPr lang="en-US" altLang="zh-CN" sz="2800" dirty="0" err="1">
                <a:sym typeface="Wingdings" pitchFamily="2" charset="2"/>
              </a:rPr>
              <a:t>RCOOMgX</a:t>
            </a:r>
            <a:r>
              <a:rPr lang="en-US" altLang="zh-CN" sz="2800" dirty="0">
                <a:sym typeface="Wingdings" pitchFamily="2" charset="2"/>
              </a:rPr>
              <a:t>  +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		RCOOH+ </a:t>
            </a:r>
            <a:r>
              <a:rPr lang="en-US" altLang="zh-CN" sz="2800" dirty="0" err="1">
                <a:sym typeface="Wingdings" pitchFamily="2" charset="2"/>
              </a:rPr>
              <a:t>MgOHX</a:t>
            </a:r>
            <a:endParaRPr lang="en-US" altLang="zh-CN" sz="2800" dirty="0"/>
          </a:p>
          <a:p>
            <a:pPr marL="914400" lvl="1" indent="-514350">
              <a:spcBef>
                <a:spcPts val="600"/>
              </a:spcBef>
              <a:buNone/>
            </a:pPr>
            <a:r>
              <a:rPr lang="zh-CN" altLang="en-US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方法（二）及（三）能增加一个</a:t>
            </a:r>
            <a:r>
              <a:rPr lang="en-US" altLang="zh-CN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zh-CN" altLang="en-US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原子</a:t>
            </a:r>
            <a:endParaRPr lang="en-US" altLang="zh-CN" sz="2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6" name="Group 27"/>
          <p:cNvGrpSpPr/>
          <p:nvPr/>
        </p:nvGrpSpPr>
        <p:grpSpPr>
          <a:xfrm>
            <a:off x="3429000" y="2286000"/>
            <a:ext cx="548640" cy="461665"/>
            <a:chOff x="2926081" y="5710535"/>
            <a:chExt cx="548640" cy="461665"/>
          </a:xfrm>
        </p:grpSpPr>
        <p:cxnSp>
          <p:nvCxnSpPr>
            <p:cNvPr id="17" name="Straight Arrow Connector 16"/>
            <p:cNvCxnSpPr/>
            <p:nvPr/>
          </p:nvCxnSpPr>
          <p:spPr>
            <a:xfrm>
              <a:off x="2926081" y="6096000"/>
              <a:ext cx="548640" cy="1588"/>
            </a:xfrm>
            <a:prstGeom prst="straightConnector1">
              <a:avLst/>
            </a:prstGeom>
            <a:ln w="25400"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2932539" y="5710535"/>
              <a:ext cx="4812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H</a:t>
              </a:r>
              <a:r>
                <a:rPr lang="en-US" sz="2400" b="1" baseline="30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+</a:t>
              </a: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1" name="Group 47"/>
          <p:cNvGrpSpPr/>
          <p:nvPr/>
        </p:nvGrpSpPr>
        <p:grpSpPr>
          <a:xfrm>
            <a:off x="3264773" y="3509665"/>
            <a:ext cx="902811" cy="307777"/>
            <a:chOff x="2667000" y="5940623"/>
            <a:chExt cx="902811" cy="307777"/>
          </a:xfrm>
        </p:grpSpPr>
        <p:cxnSp>
          <p:nvCxnSpPr>
            <p:cNvPr id="22" name="Straight Arrow Connector 21"/>
            <p:cNvCxnSpPr/>
            <p:nvPr/>
          </p:nvCxnSpPr>
          <p:spPr>
            <a:xfrm>
              <a:off x="2819400" y="62468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2667000" y="594062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干燥乙醚</a:t>
              </a:r>
              <a:endParaRPr lang="en-US" sz="1400" b="1" dirty="0"/>
            </a:p>
          </p:txBody>
        </p:sp>
      </p:grpSp>
      <p:grpSp>
        <p:nvGrpSpPr>
          <p:cNvPr id="24" name="Group 47"/>
          <p:cNvGrpSpPr/>
          <p:nvPr/>
        </p:nvGrpSpPr>
        <p:grpSpPr>
          <a:xfrm>
            <a:off x="4026773" y="3944779"/>
            <a:ext cx="731520" cy="400110"/>
            <a:chOff x="2819400" y="5918537"/>
            <a:chExt cx="731520" cy="400110"/>
          </a:xfrm>
        </p:grpSpPr>
        <p:cxnSp>
          <p:nvCxnSpPr>
            <p:cNvPr id="25" name="Straight Arrow Connector 24"/>
            <p:cNvCxnSpPr/>
            <p:nvPr/>
          </p:nvCxnSpPr>
          <p:spPr>
            <a:xfrm>
              <a:off x="2819400" y="62468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2895600" y="5918537"/>
              <a:ext cx="6030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  H</a:t>
              </a:r>
              <a:r>
                <a:rPr lang="en-US" sz="2000" b="1" baseline="30000" dirty="0"/>
                <a:t>+</a:t>
              </a:r>
              <a:r>
                <a:rPr lang="en-US" sz="2000" b="1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34.1 </a:t>
            </a:r>
            <a:r>
              <a:rPr lang="zh-CN" altLang="en-US" sz="4000" b="1" dirty="0">
                <a:latin typeface="+mn-ea"/>
              </a:rPr>
              <a:t>羧酸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None/>
            </a:pPr>
            <a:r>
              <a:rPr lang="zh-CN" altLang="en-US" sz="2800" dirty="0">
                <a:sym typeface="Wingdings" pitchFamily="2" charset="2"/>
              </a:rPr>
              <a:t>交流分享</a:t>
            </a:r>
            <a:r>
              <a:rPr lang="en-MY" altLang="zh-CN" sz="2800" dirty="0">
                <a:sym typeface="Wingdings" pitchFamily="2" charset="2"/>
              </a:rPr>
              <a:t>pg240</a:t>
            </a:r>
            <a:endParaRPr lang="en-US" altLang="zh-CN" sz="2800" dirty="0">
              <a:sym typeface="Wingdings" pitchFamily="2" charset="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MY" altLang="zh-CN" sz="2800" dirty="0">
                <a:sym typeface="Wingdings" pitchFamily="2" charset="2"/>
              </a:rPr>
              <a:t>	</a:t>
            </a:r>
            <a:r>
              <a:rPr lang="zh-CN" altLang="en-US" sz="2800" dirty="0">
                <a:sym typeface="Wingdings" pitchFamily="2" charset="2"/>
              </a:rPr>
              <a:t>甲醇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乙酸（利用腈的水解）</a:t>
            </a:r>
            <a:endParaRPr lang="en-MY" altLang="zh-CN" sz="2800" dirty="0">
              <a:sym typeface="Wingdings" pitchFamily="2" charset="2"/>
            </a:endParaRPr>
          </a:p>
          <a:p>
            <a:pPr marL="0" indent="0">
              <a:spcBef>
                <a:spcPts val="600"/>
              </a:spcBef>
              <a:buNone/>
            </a:pPr>
            <a:endParaRPr lang="en-MY" altLang="zh-CN" sz="2800" dirty="0">
              <a:sym typeface="Wingdings" pitchFamily="2" charset="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2800" dirty="0">
                <a:sym typeface="Wingdings" pitchFamily="2" charset="2"/>
              </a:rPr>
              <a:t>问题解决</a:t>
            </a:r>
            <a:r>
              <a:rPr lang="en-MY" altLang="zh-CN" sz="2800" dirty="0">
                <a:sym typeface="Wingdings" pitchFamily="2" charset="2"/>
              </a:rPr>
              <a:t>pg241</a:t>
            </a:r>
            <a:endParaRPr lang="en-US" altLang="zh-CN" sz="2800" dirty="0">
              <a:sym typeface="Wingdings" pitchFamily="2" charset="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MY" altLang="zh-CN" sz="2800" dirty="0">
                <a:sym typeface="Wingdings" pitchFamily="2" charset="2"/>
              </a:rPr>
              <a:t>	</a:t>
            </a:r>
            <a:r>
              <a:rPr lang="zh-CN" altLang="en-US" sz="2800" dirty="0">
                <a:sym typeface="Wingdings" pitchFamily="2" charset="2"/>
              </a:rPr>
              <a:t>乙醇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丙酸（利用格式试剂）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spcBef>
                <a:spcPts val="600"/>
              </a:spcBef>
              <a:buNone/>
            </a:pPr>
            <a:r>
              <a:rPr lang="zh-CN" altLang="en-US" sz="2800" dirty="0">
                <a:sym typeface="Wingdings" pitchFamily="2" charset="2"/>
              </a:rPr>
              <a:t>答案提示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spcBef>
                <a:spcPts val="600"/>
              </a:spcBef>
              <a:buNone/>
            </a:pPr>
            <a:r>
              <a:rPr lang="zh-CN" altLang="en-US" sz="2800" dirty="0">
                <a:sym typeface="Wingdings" pitchFamily="2" charset="2"/>
              </a:rPr>
              <a:t>甲醇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一氯甲烷</a:t>
            </a:r>
            <a:r>
              <a:rPr lang="en-US" altLang="zh-CN" sz="2800" dirty="0">
                <a:sym typeface="Wingdings" pitchFamily="2" charset="2"/>
              </a:rPr>
              <a:t> </a:t>
            </a:r>
            <a:r>
              <a:rPr lang="zh-CN" altLang="en-US" sz="2800" dirty="0">
                <a:sym typeface="Wingdings" pitchFamily="2" charset="2"/>
              </a:rPr>
              <a:t>乙腈 </a:t>
            </a:r>
            <a:r>
              <a:rPr lang="en-US" altLang="zh-CN" sz="2800" dirty="0">
                <a:sym typeface="Wingdings" pitchFamily="2" charset="2"/>
              </a:rPr>
              <a:t> </a:t>
            </a:r>
            <a:r>
              <a:rPr lang="zh-CN" altLang="en-US" sz="2800" dirty="0">
                <a:sym typeface="Wingdings" pitchFamily="2" charset="2"/>
              </a:rPr>
              <a:t>乙酸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zh-CN" altLang="en-US" sz="2800" dirty="0">
                <a:sym typeface="Wingdings" pitchFamily="2" charset="2"/>
              </a:rPr>
              <a:t>乙醇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一氯乙烷</a:t>
            </a:r>
            <a:r>
              <a:rPr lang="en-US" altLang="zh-CN" sz="2800" dirty="0">
                <a:sym typeface="Wingdings" pitchFamily="2" charset="2"/>
              </a:rPr>
              <a:t> </a:t>
            </a:r>
            <a:r>
              <a:rPr lang="zh-CN" altLang="en-US" sz="2800" dirty="0">
                <a:sym typeface="Wingdings" pitchFamily="2" charset="2"/>
              </a:rPr>
              <a:t>格氏试剂</a:t>
            </a:r>
            <a:r>
              <a:rPr lang="en-US" altLang="zh-CN" sz="2800" dirty="0">
                <a:sym typeface="Wingdings" pitchFamily="2" charset="2"/>
              </a:rPr>
              <a:t> </a:t>
            </a:r>
            <a:r>
              <a:rPr lang="zh-CN" altLang="en-US" sz="2800" dirty="0">
                <a:sym typeface="Wingdings" pitchFamily="2" charset="2"/>
              </a:rPr>
              <a:t>丙酸</a:t>
            </a:r>
            <a:endParaRPr lang="en-US" altLang="zh-CN" sz="28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6486497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34.1 </a:t>
            </a:r>
            <a:r>
              <a:rPr lang="zh-CN" altLang="en-US" sz="4000" b="1" dirty="0">
                <a:latin typeface="+mn-ea"/>
              </a:rPr>
              <a:t>羧酸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None/>
            </a:pPr>
            <a:r>
              <a:rPr lang="zh-CN" altLang="en-US" sz="2800" dirty="0"/>
              <a:t>练习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spcBef>
                <a:spcPts val="600"/>
              </a:spcBef>
              <a:buAutoNum type="arabicPeriod"/>
            </a:pPr>
            <a:r>
              <a:rPr lang="zh-CN" altLang="en-US" sz="2800" dirty="0">
                <a:sym typeface="Wingdings" pitchFamily="2" charset="2"/>
              </a:rPr>
              <a:t>甲烷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甲酸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spcBef>
                <a:spcPts val="600"/>
              </a:spcBef>
              <a:buAutoNum type="arabicPeriod"/>
            </a:pPr>
            <a:r>
              <a:rPr lang="zh-CN" altLang="en-US" sz="2800" dirty="0">
                <a:sym typeface="Wingdings" pitchFamily="2" charset="2"/>
              </a:rPr>
              <a:t>甲烷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乙酸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spcBef>
                <a:spcPts val="600"/>
              </a:spcBef>
              <a:buAutoNum type="arabicPeriod"/>
            </a:pPr>
            <a:r>
              <a:rPr lang="zh-CN" altLang="en-US" sz="2800" dirty="0">
                <a:sym typeface="Wingdings" pitchFamily="2" charset="2"/>
              </a:rPr>
              <a:t>甲烷</a:t>
            </a:r>
            <a:r>
              <a:rPr lang="en-US" altLang="zh-CN" sz="2800" dirty="0">
                <a:sym typeface="Wingdings" pitchFamily="2" charset="2"/>
              </a:rPr>
              <a:t>2-</a:t>
            </a:r>
            <a:r>
              <a:rPr lang="zh-CN" altLang="en-US" sz="2800" dirty="0">
                <a:sym typeface="Wingdings" pitchFamily="2" charset="2"/>
              </a:rPr>
              <a:t>甲基丁酸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spcBef>
                <a:spcPts val="600"/>
              </a:spcBef>
              <a:buNone/>
            </a:pPr>
            <a:r>
              <a:rPr lang="zh-CN" altLang="en-US" sz="2800" dirty="0">
                <a:sym typeface="Wingdings" pitchFamily="2" charset="2"/>
              </a:rPr>
              <a:t>答案提示：</a:t>
            </a:r>
            <a:endParaRPr lang="en-MY" altLang="zh-CN" sz="2800" dirty="0">
              <a:sym typeface="Wingdings" pitchFamily="2" charset="2"/>
            </a:endParaRPr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>
                <a:sym typeface="Wingdings" pitchFamily="2" charset="2"/>
              </a:rPr>
              <a:t>1. </a:t>
            </a:r>
            <a:r>
              <a:rPr lang="zh-CN" altLang="en-US" sz="2800" dirty="0">
                <a:sym typeface="Wingdings" pitchFamily="2" charset="2"/>
              </a:rPr>
              <a:t>甲烷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一氯甲烷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甲醇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甲酸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>
                <a:sym typeface="Wingdings" pitchFamily="2" charset="2"/>
              </a:rPr>
              <a:t>2. </a:t>
            </a:r>
            <a:r>
              <a:rPr lang="zh-CN" altLang="en-US" sz="2800" dirty="0">
                <a:sym typeface="Wingdings" pitchFamily="2" charset="2"/>
              </a:rPr>
              <a:t>甲烷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一氯甲烷</a:t>
            </a:r>
            <a:r>
              <a:rPr lang="en-US" altLang="zh-CN" sz="2800" dirty="0">
                <a:sym typeface="Wingdings" pitchFamily="2" charset="2"/>
              </a:rPr>
              <a:t> </a:t>
            </a:r>
            <a:r>
              <a:rPr lang="zh-CN" altLang="en-US" sz="2800" dirty="0">
                <a:sym typeface="Wingdings" pitchFamily="2" charset="2"/>
              </a:rPr>
              <a:t>乙腈 </a:t>
            </a:r>
            <a:r>
              <a:rPr lang="en-US" altLang="zh-CN" sz="2800" dirty="0">
                <a:sym typeface="Wingdings" pitchFamily="2" charset="2"/>
              </a:rPr>
              <a:t> </a:t>
            </a:r>
            <a:r>
              <a:rPr lang="zh-CN" altLang="en-US" sz="2800" dirty="0">
                <a:sym typeface="Wingdings" pitchFamily="2" charset="2"/>
              </a:rPr>
              <a:t>乙酸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>
                <a:sym typeface="Wingdings" pitchFamily="2" charset="2"/>
              </a:rPr>
              <a:t>2. </a:t>
            </a:r>
            <a:r>
              <a:rPr lang="zh-CN" altLang="en-US" sz="2800" dirty="0">
                <a:sym typeface="Wingdings" pitchFamily="2" charset="2"/>
              </a:rPr>
              <a:t>甲烷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一氯甲烷</a:t>
            </a:r>
            <a:r>
              <a:rPr lang="en-US" altLang="zh-CN" sz="2800" dirty="0">
                <a:sym typeface="Wingdings" pitchFamily="2" charset="2"/>
              </a:rPr>
              <a:t> </a:t>
            </a:r>
            <a:r>
              <a:rPr lang="zh-CN" altLang="en-US" sz="2800" dirty="0">
                <a:sym typeface="Wingdings" pitchFamily="2" charset="2"/>
              </a:rPr>
              <a:t>格氏试剂</a:t>
            </a:r>
            <a:r>
              <a:rPr lang="en-US" altLang="zh-CN" sz="2800" dirty="0">
                <a:sym typeface="Wingdings" pitchFamily="2" charset="2"/>
              </a:rPr>
              <a:t> </a:t>
            </a:r>
            <a:r>
              <a:rPr lang="zh-CN" altLang="en-US" sz="2800" dirty="0">
                <a:sym typeface="Wingdings" pitchFamily="2" charset="2"/>
              </a:rPr>
              <a:t>乙酸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>
                <a:sym typeface="Wingdings" pitchFamily="2" charset="2"/>
              </a:rPr>
              <a:t>3. </a:t>
            </a:r>
            <a:r>
              <a:rPr lang="zh-CN" altLang="en-US" sz="2800" dirty="0">
                <a:sym typeface="Wingdings" pitchFamily="2" charset="2"/>
              </a:rPr>
              <a:t>甲烷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一氯甲烷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乙烷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一氯乙烷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丁烷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>
                <a:sym typeface="Wingdings" pitchFamily="2" charset="2"/>
              </a:rPr>
              <a:t>	2-</a:t>
            </a:r>
            <a:r>
              <a:rPr lang="zh-CN" altLang="en-US" sz="2800" dirty="0">
                <a:sym typeface="Wingdings" pitchFamily="2" charset="2"/>
              </a:rPr>
              <a:t>氯丁烷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二甲基丁腈</a:t>
            </a:r>
            <a:r>
              <a:rPr lang="en-US" altLang="zh-CN" sz="2800" dirty="0">
                <a:sym typeface="Wingdings" pitchFamily="2" charset="2"/>
              </a:rPr>
              <a:t>2-</a:t>
            </a:r>
            <a:r>
              <a:rPr lang="zh-CN" altLang="en-US" sz="2800" dirty="0">
                <a:sym typeface="Wingdings" pitchFamily="2" charset="2"/>
              </a:rPr>
              <a:t>甲基丁酸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34.1.5 </a:t>
            </a:r>
            <a:r>
              <a:rPr lang="zh-CN" altLang="en-US" sz="4000" b="1" dirty="0">
                <a:latin typeface="+mn-ea"/>
              </a:rPr>
              <a:t>甲酸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俗称：蚁酸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有刺激臭味的无色液体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沸点</a:t>
            </a:r>
            <a:r>
              <a:rPr lang="en-US" altLang="zh-CN" sz="2800" dirty="0"/>
              <a:t>100.5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C 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溶解度无限大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在同系物中，酸性最大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具有腐蚀性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800" dirty="0"/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600" dirty="0"/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26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34.1.5 </a:t>
            </a:r>
            <a:r>
              <a:rPr lang="zh-CN" altLang="en-US" sz="4000" b="1" dirty="0">
                <a:latin typeface="+mn-ea"/>
              </a:rPr>
              <a:t>甲酸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结构式：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800" dirty="0"/>
          </a:p>
          <a:p>
            <a:pPr marL="914400" lvl="1" indent="-514350"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600" dirty="0"/>
          </a:p>
          <a:p>
            <a:pPr marL="914400" lvl="1" indent="-514350">
              <a:spcBef>
                <a:spcPts val="600"/>
              </a:spcBef>
              <a:buNone/>
            </a:pPr>
            <a:endParaRPr lang="en-US" altLang="zh-CN" sz="2600" dirty="0"/>
          </a:p>
        </p:txBody>
      </p:sp>
      <p:pic>
        <p:nvPicPr>
          <p:cNvPr id="5" name="Picture 4" descr="1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1905000"/>
            <a:ext cx="3171825" cy="2562835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2590800" y="1752600"/>
            <a:ext cx="2362200" cy="2667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295400" y="4038600"/>
            <a:ext cx="1005403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醛基</a:t>
            </a:r>
            <a:endParaRPr lang="en-US" sz="3000" b="1" dirty="0">
              <a:solidFill>
                <a:srgbClr val="FF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Oval 7"/>
          <p:cNvSpPr/>
          <p:nvPr/>
        </p:nvSpPr>
        <p:spPr>
          <a:xfrm>
            <a:off x="3733800" y="1828800"/>
            <a:ext cx="2971800" cy="2667000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147997" y="4038600"/>
            <a:ext cx="1008609" cy="58477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羧基</a:t>
            </a:r>
            <a:endParaRPr lang="en-US" sz="3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34.1.5 </a:t>
            </a:r>
            <a:r>
              <a:rPr lang="zh-CN" altLang="en-US" sz="4000" b="1" dirty="0">
                <a:latin typeface="+mn-ea"/>
              </a:rPr>
              <a:t>甲酸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dirty="0"/>
              <a:t>甲酸的化学性质与其他羧酸的不同点：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不能生成酐</a:t>
            </a:r>
            <a:r>
              <a:rPr lang="zh-CN" altLang="en-US" sz="2800" dirty="0"/>
              <a:t>，因没有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烷基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酰基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能被氧化为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</a:t>
            </a:r>
            <a:r>
              <a:rPr lang="en-US" altLang="zh-CN" sz="28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H</a:t>
            </a:r>
            <a:r>
              <a:rPr lang="en-US" altLang="zh-CN" sz="28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</a:p>
          <a:p>
            <a:pPr marL="914400" lvl="1" indent="-514350"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</a:rPr>
              <a:t>能使</a:t>
            </a:r>
            <a:r>
              <a:rPr lang="en-US" altLang="zh-CN" b="1" dirty="0">
                <a:solidFill>
                  <a:srgbClr val="C00000"/>
                </a:solidFill>
              </a:rPr>
              <a:t>KMnO</a:t>
            </a:r>
            <a:r>
              <a:rPr lang="en-US" altLang="zh-CN" b="1" baseline="-25000" dirty="0">
                <a:solidFill>
                  <a:srgbClr val="C00000"/>
                </a:solidFill>
              </a:rPr>
              <a:t>4</a:t>
            </a:r>
            <a:r>
              <a:rPr lang="en-US" altLang="zh-CN" b="1" dirty="0">
                <a:solidFill>
                  <a:srgbClr val="C00000"/>
                </a:solidFill>
              </a:rPr>
              <a:t> </a:t>
            </a:r>
            <a:r>
              <a:rPr lang="zh-CN" altLang="en-US" b="1" dirty="0">
                <a:solidFill>
                  <a:srgbClr val="C00000"/>
                </a:solidFill>
              </a:rPr>
              <a:t>褪色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914400" lvl="1" indent="-514350"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00B0F0"/>
                </a:solidFill>
              </a:rPr>
              <a:t>能发生银镜反应</a:t>
            </a:r>
            <a:endParaRPr lang="en-US" altLang="zh-CN" b="1" dirty="0">
              <a:solidFill>
                <a:srgbClr val="00B0F0"/>
              </a:solidFill>
            </a:endParaRPr>
          </a:p>
          <a:p>
            <a:pPr marL="914400" lvl="1" indent="-514350"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accent4">
                    <a:lumMod val="50000"/>
                  </a:schemeClr>
                </a:solidFill>
              </a:rPr>
              <a:t>能发生斐林反应</a:t>
            </a:r>
            <a:endParaRPr lang="en-US" altLang="zh-CN" sz="3200" b="1" dirty="0">
              <a:solidFill>
                <a:schemeClr val="accent4">
                  <a:lumMod val="50000"/>
                </a:schemeClr>
              </a:solidFill>
            </a:endParaRP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FF00FF"/>
                </a:solidFill>
              </a:rPr>
              <a:t>高温时，易分解</a:t>
            </a:r>
            <a:endParaRPr lang="en-US" altLang="zh-CN" sz="2800" b="1" dirty="0">
              <a:solidFill>
                <a:srgbClr val="FF00FF"/>
              </a:solidFill>
            </a:endParaRP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/>
              <a:t>	HCOOH 	 	CO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+ H</a:t>
            </a:r>
            <a:r>
              <a:rPr lang="en-US" altLang="zh-CN" sz="2800" baseline="-25000" dirty="0"/>
              <a:t>2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zh-CN" altLang="en-US" sz="2800" b="1" dirty="0"/>
              <a:t>甲酸</a:t>
            </a:r>
            <a:r>
              <a:rPr lang="zh-CN" altLang="en-US" sz="2800" b="1" dirty="0">
                <a:solidFill>
                  <a:srgbClr val="0070C0"/>
                </a:solidFill>
              </a:rPr>
              <a:t>用途</a:t>
            </a:r>
            <a:r>
              <a:rPr lang="zh-CN" altLang="en-US" sz="2800" b="1" dirty="0"/>
              <a:t>：</a:t>
            </a:r>
            <a:r>
              <a:rPr lang="zh-CN" altLang="en-US" sz="2800" b="1" dirty="0">
                <a:solidFill>
                  <a:srgbClr val="7030A0"/>
                </a:solidFill>
              </a:rPr>
              <a:t>作为还原剂</a:t>
            </a:r>
            <a:r>
              <a:rPr lang="zh-CN" altLang="en-US" sz="2800" b="1" dirty="0"/>
              <a:t>、</a:t>
            </a:r>
            <a:r>
              <a:rPr lang="zh-CN" altLang="en-US" sz="2800" b="1" dirty="0">
                <a:solidFill>
                  <a:srgbClr val="002060"/>
                </a:solidFill>
              </a:rPr>
              <a:t>橡胶的凝聚剂</a:t>
            </a:r>
            <a:endParaRPr lang="en-US" altLang="zh-CN" sz="2800" b="1" dirty="0">
              <a:solidFill>
                <a:srgbClr val="002060"/>
              </a:solidFill>
            </a:endParaRPr>
          </a:p>
          <a:p>
            <a:pPr marL="914400" lvl="1" indent="-51435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endParaRPr lang="en-US" altLang="zh-CN" sz="2600" dirty="0"/>
          </a:p>
          <a:p>
            <a:pPr marL="914400" lvl="1" indent="-51435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600" dirty="0"/>
          </a:p>
        </p:txBody>
      </p:sp>
      <p:grpSp>
        <p:nvGrpSpPr>
          <p:cNvPr id="5" name="Group 4"/>
          <p:cNvGrpSpPr/>
          <p:nvPr/>
        </p:nvGrpSpPr>
        <p:grpSpPr>
          <a:xfrm>
            <a:off x="6781800" y="3352800"/>
            <a:ext cx="1945640" cy="1410422"/>
            <a:chOff x="6822440" y="5410200"/>
            <a:chExt cx="1945640" cy="1410422"/>
          </a:xfrm>
        </p:grpSpPr>
        <p:sp>
          <p:nvSpPr>
            <p:cNvPr id="6" name="Rectangle 5"/>
            <p:cNvSpPr/>
            <p:nvPr/>
          </p:nvSpPr>
          <p:spPr>
            <a:xfrm>
              <a:off x="6822440" y="6266624"/>
              <a:ext cx="194564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3000" dirty="0"/>
                <a:t>   </a:t>
              </a:r>
              <a:r>
                <a:rPr lang="en-US" altLang="zh-CN" sz="3000" b="1" dirty="0">
                  <a:solidFill>
                    <a:srgbClr val="2D1AB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</a:t>
              </a:r>
              <a:r>
                <a:rPr lang="en-US" altLang="zh-CN" sz="3000" dirty="0"/>
                <a:t>—C—</a:t>
              </a:r>
              <a:endParaRPr lang="en-US" altLang="zh-CN" sz="30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pic>
          <p:nvPicPr>
            <p:cNvPr id="7" name="Picture 6" descr="137.3.gif"/>
            <p:cNvPicPr>
              <a:picLocks noChangeAspect="1"/>
            </p:cNvPicPr>
            <p:nvPr/>
          </p:nvPicPr>
          <p:blipFill>
            <a:blip r:embed="rId3"/>
            <a:srcRect t="48648" r="82979" b="34512"/>
            <a:stretch>
              <a:fillRect/>
            </a:stretch>
          </p:blipFill>
          <p:spPr>
            <a:xfrm>
              <a:off x="6822440" y="5410200"/>
              <a:ext cx="1788160" cy="1005840"/>
            </a:xfrm>
            <a:prstGeom prst="rect">
              <a:avLst/>
            </a:prstGeom>
          </p:spPr>
        </p:pic>
      </p:grpSp>
      <p:pic>
        <p:nvPicPr>
          <p:cNvPr id="8" name="Picture 7" descr="151.gif"/>
          <p:cNvPicPr>
            <a:picLocks noChangeAspect="1"/>
          </p:cNvPicPr>
          <p:nvPr/>
        </p:nvPicPr>
        <p:blipFill>
          <a:blip r:embed="rId4"/>
          <a:srcRect l="61972" r="12676"/>
          <a:stretch>
            <a:fillRect/>
          </a:stretch>
        </p:blipFill>
        <p:spPr>
          <a:xfrm>
            <a:off x="6629400" y="304800"/>
            <a:ext cx="1676400" cy="3024306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133600" y="5086290"/>
            <a:ext cx="917239" cy="400110"/>
            <a:chOff x="2743200" y="5800825"/>
            <a:chExt cx="917239" cy="400110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2819400" y="6172117"/>
              <a:ext cx="838200" cy="3060"/>
            </a:xfrm>
            <a:prstGeom prst="straightConnector1">
              <a:avLst/>
            </a:prstGeom>
            <a:ln w="22225"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2743200" y="5800825"/>
              <a:ext cx="9172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160</a:t>
              </a:r>
              <a:r>
                <a:rPr lang="en-US" altLang="zh-CN" sz="2000" b="1" baseline="30000" dirty="0"/>
                <a:t>o</a:t>
              </a:r>
              <a:r>
                <a:rPr lang="en-US" altLang="zh-CN" sz="2000" b="1" dirty="0"/>
                <a:t> C </a:t>
              </a:r>
              <a:endParaRPr lang="en-US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34.1.5 </a:t>
            </a:r>
            <a:r>
              <a:rPr lang="zh-CN" altLang="en-US" sz="4000" b="1" dirty="0">
                <a:latin typeface="+mn-ea"/>
              </a:rPr>
              <a:t>甲酸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2800" dirty="0"/>
              <a:t>甲酸的制取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2800" dirty="0"/>
              <a:t>CO + </a:t>
            </a:r>
            <a:r>
              <a:rPr lang="en-US" altLang="zh-CN" sz="2800" dirty="0" err="1"/>
              <a:t>NaOH</a:t>
            </a:r>
            <a:r>
              <a:rPr lang="en-US" altLang="zh-CN" sz="2800" dirty="0"/>
              <a:t> 		</a:t>
            </a:r>
            <a:r>
              <a:rPr lang="en-US" altLang="zh-CN" sz="2800" dirty="0" err="1"/>
              <a:t>HCOONa</a:t>
            </a:r>
            <a:r>
              <a:rPr lang="en-US" altLang="zh-CN" sz="2800" dirty="0"/>
              <a:t> </a:t>
            </a:r>
            <a:r>
              <a:rPr lang="zh-CN" altLang="en-US" sz="2800" dirty="0"/>
              <a:t>（甲酸钠）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2800" dirty="0" err="1"/>
              <a:t>HCOONa</a:t>
            </a:r>
            <a:r>
              <a:rPr lang="en-US" altLang="zh-CN" sz="2800" dirty="0"/>
              <a:t> +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  </a:t>
            </a:r>
            <a:r>
              <a:rPr lang="en-US" altLang="zh-CN" sz="2800" dirty="0">
                <a:sym typeface="Wingdings" pitchFamily="2" charset="2"/>
              </a:rPr>
              <a:t> HCOOH + NaHSO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 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800" dirty="0"/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600" dirty="0"/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2600" dirty="0"/>
          </a:p>
        </p:txBody>
      </p:sp>
      <p:grpSp>
        <p:nvGrpSpPr>
          <p:cNvPr id="5" name="Group 4"/>
          <p:cNvGrpSpPr/>
          <p:nvPr/>
        </p:nvGrpSpPr>
        <p:grpSpPr>
          <a:xfrm>
            <a:off x="2865428" y="1867319"/>
            <a:ext cx="914400" cy="875881"/>
            <a:chOff x="2819400" y="5690198"/>
            <a:chExt cx="914400" cy="875881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2819400" y="6172117"/>
              <a:ext cx="914400" cy="1588"/>
            </a:xfrm>
            <a:prstGeom prst="straightConnector1">
              <a:avLst/>
            </a:prstGeom>
            <a:ln w="25400"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925772" y="5690198"/>
              <a:ext cx="649537" cy="8758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 dirty="0"/>
                <a:t>高温</a:t>
              </a:r>
              <a:endParaRPr lang="en-US" altLang="zh-CN" b="1" dirty="0"/>
            </a:p>
            <a:p>
              <a:pPr>
                <a:lnSpc>
                  <a:spcPct val="150000"/>
                </a:lnSpc>
              </a:pPr>
              <a:r>
                <a:rPr lang="zh-CN" altLang="en-US" b="1" dirty="0"/>
                <a:t>高压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34.1.6 </a:t>
            </a:r>
            <a:r>
              <a:rPr lang="zh-CN" altLang="en-US" sz="4000" b="1" dirty="0">
                <a:latin typeface="+mn-ea"/>
              </a:rPr>
              <a:t>乙酸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俗称：醋酸</a:t>
            </a:r>
            <a:r>
              <a:rPr lang="en-US" altLang="zh-CN" sz="3000" dirty="0"/>
              <a:t>(</a:t>
            </a:r>
            <a:r>
              <a:rPr lang="zh-CN" altLang="en-US" sz="3000" dirty="0"/>
              <a:t>食醋中约含</a:t>
            </a:r>
            <a:r>
              <a:rPr lang="en-US" altLang="zh-CN" sz="3000" dirty="0"/>
              <a:t>6%</a:t>
            </a:r>
            <a:r>
              <a:rPr lang="zh-CN" altLang="en-US" sz="3000" dirty="0"/>
              <a:t>～</a:t>
            </a:r>
            <a:r>
              <a:rPr lang="en-US" altLang="zh-CN" sz="3000" dirty="0"/>
              <a:t>10%</a:t>
            </a:r>
            <a:r>
              <a:rPr lang="zh-CN" altLang="en-US" sz="3000" dirty="0"/>
              <a:t>乙酸</a:t>
            </a:r>
            <a:r>
              <a:rPr lang="en-US" altLang="zh-CN" sz="3000" dirty="0"/>
              <a:t>)</a:t>
            </a:r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制取：</a:t>
            </a:r>
            <a:endParaRPr lang="en-US" altLang="zh-CN" sz="30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3000" dirty="0"/>
              <a:t>1.	</a:t>
            </a:r>
            <a:r>
              <a:rPr lang="zh-CN" altLang="en-US" sz="3000" dirty="0"/>
              <a:t>与酿酒相似，酒精在醋酸菌的作用下被空气氧化成醋酸。</a:t>
            </a:r>
            <a:endParaRPr lang="en-US" altLang="zh-CN" sz="30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3000" dirty="0"/>
              <a:t>	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OH + O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	   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COOH + 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</a:t>
            </a:r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3000" dirty="0"/>
              <a:t>2.	</a:t>
            </a:r>
            <a:r>
              <a:rPr lang="zh-CN" altLang="en-US" sz="3000" dirty="0"/>
              <a:t>乙炔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zh-CN" altLang="en-US" sz="3000" dirty="0">
                <a:sym typeface="Wingdings" pitchFamily="2" charset="2"/>
              </a:rPr>
              <a:t>乙醛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zh-CN" altLang="en-US" sz="3000" dirty="0">
                <a:sym typeface="Wingdings" pitchFamily="2" charset="2"/>
              </a:rPr>
              <a:t>乙酸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（问题解决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pg242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）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itchFamily="2" charset="2"/>
            </a:endParaRPr>
          </a:p>
          <a:p>
            <a:pPr marL="1314450" lvl="2" indent="-514350">
              <a:spcBef>
                <a:spcPts val="600"/>
              </a:spcBef>
              <a:buNone/>
            </a:pPr>
            <a:endParaRPr lang="en-US" altLang="zh-CN" sz="28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8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endParaRPr lang="en-US" altLang="zh-CN" sz="28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800" dirty="0"/>
          </a:p>
          <a:p>
            <a:pPr marL="914400" lvl="1" indent="-514350">
              <a:spcBef>
                <a:spcPts val="600"/>
              </a:spcBef>
              <a:buFont typeface="Wingdings" pitchFamily="2" charset="2"/>
              <a:buChar char="Ø"/>
            </a:pPr>
            <a:endParaRPr lang="en-US" altLang="zh-CN" dirty="0"/>
          </a:p>
          <a:p>
            <a:pPr marL="914400" lvl="1" indent="-514350">
              <a:spcBef>
                <a:spcPts val="600"/>
              </a:spcBef>
              <a:buNone/>
            </a:pPr>
            <a:endParaRPr lang="en-US" altLang="zh-CN" dirty="0"/>
          </a:p>
        </p:txBody>
      </p:sp>
      <p:pic>
        <p:nvPicPr>
          <p:cNvPr id="5" name="Picture 4" descr="炔+水.jpg"/>
          <p:cNvPicPr>
            <a:picLocks noChangeAspect="1"/>
          </p:cNvPicPr>
          <p:nvPr/>
        </p:nvPicPr>
        <p:blipFill>
          <a:blip r:embed="rId3"/>
          <a:srcRect l="2273"/>
          <a:stretch>
            <a:fillRect/>
          </a:stretch>
        </p:blipFill>
        <p:spPr>
          <a:xfrm>
            <a:off x="1066800" y="4495800"/>
            <a:ext cx="3276600" cy="1676400"/>
          </a:xfrm>
          <a:prstGeom prst="rect">
            <a:avLst/>
          </a:prstGeom>
        </p:spPr>
      </p:pic>
      <p:pic>
        <p:nvPicPr>
          <p:cNvPr id="6" name="Picture 5" descr="炔+水.jpg"/>
          <p:cNvPicPr>
            <a:picLocks noChangeAspect="1"/>
          </p:cNvPicPr>
          <p:nvPr/>
        </p:nvPicPr>
        <p:blipFill>
          <a:blip r:embed="rId4"/>
          <a:srcRect r="5769"/>
          <a:stretch>
            <a:fillRect/>
          </a:stretch>
        </p:blipFill>
        <p:spPr>
          <a:xfrm>
            <a:off x="6527800" y="4495800"/>
            <a:ext cx="1244600" cy="1676400"/>
          </a:xfrm>
          <a:prstGeom prst="rect">
            <a:avLst/>
          </a:prstGeom>
        </p:spPr>
      </p:pic>
      <p:pic>
        <p:nvPicPr>
          <p:cNvPr id="7" name="Picture 6" descr="炔+水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267200" y="4495800"/>
            <a:ext cx="2286000" cy="1676400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3309027" y="3097893"/>
            <a:ext cx="958173" cy="483507"/>
            <a:chOff x="2775627" y="5690198"/>
            <a:chExt cx="958173" cy="483507"/>
          </a:xfrm>
        </p:grpSpPr>
        <p:cxnSp>
          <p:nvCxnSpPr>
            <p:cNvPr id="9" name="Straight Arrow Connector 8"/>
            <p:cNvCxnSpPr/>
            <p:nvPr/>
          </p:nvCxnSpPr>
          <p:spPr>
            <a:xfrm>
              <a:off x="2819400" y="6172117"/>
              <a:ext cx="914400" cy="1588"/>
            </a:xfrm>
            <a:prstGeom prst="straightConnector1">
              <a:avLst/>
            </a:prstGeom>
            <a:ln w="25400"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775627" y="5690198"/>
              <a:ext cx="881973" cy="4603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 dirty="0"/>
                <a:t>醋酸菌</a:t>
              </a:r>
              <a:endParaRPr lang="en-US" altLang="zh-CN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34.1.6 </a:t>
            </a:r>
            <a:r>
              <a:rPr lang="zh-CN" altLang="en-US" sz="4000" b="1" dirty="0">
                <a:latin typeface="+mn-ea"/>
              </a:rPr>
              <a:t>乙酸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有刺激臭味的无色液体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沸点</a:t>
            </a:r>
            <a:r>
              <a:rPr lang="en-US" altLang="zh-CN" sz="2800" dirty="0"/>
              <a:t>118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C 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溶解度无限大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熔点</a:t>
            </a:r>
            <a:r>
              <a:rPr lang="en-US" altLang="zh-CN" sz="2800" dirty="0"/>
              <a:t>16.5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C 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无水乙酸容易结成冰状晶体，又称“冰醋酸”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具有腐蚀性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用途：</a:t>
            </a:r>
            <a:r>
              <a:rPr lang="zh-CN" altLang="en-US" sz="2800" b="1" dirty="0"/>
              <a:t>溶剂，橡胶的凝聚剂，脱水剂（冰醋酸）</a:t>
            </a:r>
            <a:endParaRPr lang="en-US" altLang="zh-CN" sz="2800" b="1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800" dirty="0"/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endParaRPr lang="en-US" altLang="zh-CN" dirty="0"/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思考题 </a:t>
            </a:r>
            <a:r>
              <a:rPr lang="en-US" altLang="zh-CN" sz="4000" b="1" dirty="0">
                <a:latin typeface="+mn-ea"/>
              </a:rPr>
              <a:t>34a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839200" cy="5715000"/>
          </a:xfrm>
        </p:spPr>
        <p:txBody>
          <a:bodyPr>
            <a:noAutofit/>
          </a:bodyPr>
          <a:lstStyle/>
          <a:p>
            <a:pPr marL="457200" indent="-457200">
              <a:spcBef>
                <a:spcPts val="600"/>
              </a:spcBef>
              <a:buAutoNum type="arabicParenBoth"/>
            </a:pPr>
            <a:r>
              <a:rPr lang="zh-CN" altLang="en-US" sz="2800" dirty="0"/>
              <a:t>增大反应物浓度，使平衡向生成酯的方向移动，提高酯的产率；</a:t>
            </a:r>
            <a:endParaRPr lang="en-MY" altLang="zh-CN" sz="2800" dirty="0"/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2800" dirty="0"/>
              <a:t>浓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4</a:t>
            </a:r>
            <a:r>
              <a:rPr lang="zh-CN" altLang="en-US" sz="2800" dirty="0"/>
              <a:t>能吸收生成的水，使平衡向生成酯的方向移动，提高酯的产率；</a:t>
            </a:r>
            <a:endParaRPr lang="en-MY" altLang="zh-CN" sz="2800" dirty="0"/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2800" dirty="0"/>
              <a:t>浓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4</a:t>
            </a:r>
            <a:r>
              <a:rPr lang="zh-CN" altLang="en-US" sz="2800" dirty="0"/>
              <a:t>具有强氧化性和脱水性，会使有机物碳化，降低酯的产率。</a:t>
            </a:r>
            <a:endParaRPr lang="en-MY" altLang="zh-CN" sz="2800" dirty="0"/>
          </a:p>
          <a:p>
            <a:pPr marL="0" indent="0">
              <a:spcBef>
                <a:spcPts val="600"/>
              </a:spcBef>
              <a:buNone/>
            </a:pPr>
            <a:r>
              <a:rPr lang="en-MY" altLang="zh-CN" sz="2800" dirty="0"/>
              <a:t>(2) </a:t>
            </a:r>
            <a:r>
              <a:rPr lang="zh-CN" altLang="en-US" sz="2800" dirty="0"/>
              <a:t>中和乙酸、溶解乙醇、减少乙酸乙酯在水中的溶解</a:t>
            </a:r>
            <a:endParaRPr lang="en-MY" altLang="zh-CN" sz="2800" dirty="0"/>
          </a:p>
          <a:p>
            <a:pPr marL="0" indent="0">
              <a:spcBef>
                <a:spcPts val="600"/>
              </a:spcBef>
              <a:buNone/>
            </a:pPr>
            <a:r>
              <a:rPr lang="en-MY" altLang="zh-CN" sz="2800" dirty="0"/>
              <a:t>(3) </a:t>
            </a:r>
            <a:r>
              <a:rPr lang="zh-CN" altLang="en-US" sz="2800" dirty="0"/>
              <a:t>振荡、静置</a:t>
            </a:r>
            <a:endParaRPr lang="en-MY" altLang="zh-CN" sz="2800" dirty="0"/>
          </a:p>
          <a:p>
            <a:pPr marL="0" indent="0">
              <a:spcBef>
                <a:spcPts val="600"/>
              </a:spcBef>
              <a:buNone/>
            </a:pPr>
            <a:r>
              <a:rPr lang="en-MY" altLang="zh-CN" sz="2800" dirty="0"/>
              <a:t>(4) </a:t>
            </a:r>
            <a:r>
              <a:rPr lang="zh-CN" altLang="en-US" sz="2800" dirty="0"/>
              <a:t>原料损失较大、易发生副反应；乙醚；蒸馏</a:t>
            </a:r>
            <a:endParaRPr lang="en-MY" altLang="zh-CN" sz="2800" dirty="0"/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800" dirty="0"/>
              <a:t>b</a:t>
            </a:r>
            <a:r>
              <a:rPr lang="zh-CN" altLang="en-US" sz="2800" dirty="0"/>
              <a:t>装置不是水浴加热，温度不易控制，因此原料损失较大、易发生副反应（乙醇溶液发生分子间脱水生成乙醚）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endParaRPr lang="en-US" altLang="zh-CN" sz="28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800" dirty="0"/>
          </a:p>
          <a:p>
            <a:pPr marL="914400" lvl="1" indent="-514350">
              <a:spcBef>
                <a:spcPts val="600"/>
              </a:spcBef>
              <a:buFont typeface="Wingdings" pitchFamily="2" charset="2"/>
              <a:buChar char="Ø"/>
            </a:pPr>
            <a:endParaRPr lang="en-US" altLang="zh-CN" dirty="0"/>
          </a:p>
          <a:p>
            <a:pPr marL="914400" lvl="1" indent="-514350">
              <a:spcBef>
                <a:spcPts val="600"/>
              </a:spcBef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092561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34.2 </a:t>
            </a:r>
            <a:r>
              <a:rPr lang="zh-CN" altLang="en-US" sz="4000" b="1" dirty="0">
                <a:latin typeface="+mn-ea"/>
              </a:rPr>
              <a:t>酯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None/>
            </a:pPr>
            <a:r>
              <a:rPr lang="zh-CN" altLang="en-US" sz="2800" dirty="0"/>
              <a:t>酯的结构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通式</a:t>
            </a:r>
            <a:r>
              <a:rPr lang="en-US" altLang="zh-CN" sz="2800" dirty="0"/>
              <a:t>RCOOR</a:t>
            </a:r>
            <a:r>
              <a:rPr lang="en-US" altLang="zh-CN" sz="2800" baseline="30000" dirty="0"/>
              <a:t>’</a:t>
            </a:r>
            <a:endParaRPr lang="en-US" altLang="zh-CN" sz="2600" dirty="0"/>
          </a:p>
          <a:p>
            <a:pPr marL="914400" lvl="1" indent="-514350">
              <a:spcBef>
                <a:spcPts val="600"/>
              </a:spcBef>
              <a:buNone/>
            </a:pPr>
            <a:endParaRPr lang="en-US" altLang="zh-CN" sz="2600" dirty="0"/>
          </a:p>
        </p:txBody>
      </p:sp>
      <p:grpSp>
        <p:nvGrpSpPr>
          <p:cNvPr id="5" name="Group 4"/>
          <p:cNvGrpSpPr/>
          <p:nvPr/>
        </p:nvGrpSpPr>
        <p:grpSpPr>
          <a:xfrm>
            <a:off x="3151418" y="990600"/>
            <a:ext cx="3048000" cy="2135683"/>
            <a:chOff x="6746240" y="4900382"/>
            <a:chExt cx="3048000" cy="2135683"/>
          </a:xfrm>
        </p:grpSpPr>
        <p:sp>
          <p:nvSpPr>
            <p:cNvPr id="6" name="Rectangle 5"/>
            <p:cNvSpPr/>
            <p:nvPr/>
          </p:nvSpPr>
          <p:spPr>
            <a:xfrm>
              <a:off x="6822440" y="6266624"/>
              <a:ext cx="2971800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4400" dirty="0"/>
                <a:t>   R—C—OR</a:t>
              </a:r>
              <a:r>
                <a:rPr lang="en-US" altLang="zh-CN" sz="4400" baseline="30000" dirty="0"/>
                <a:t>’</a:t>
              </a:r>
              <a:endParaRPr lang="en-US" altLang="zh-CN" sz="4400" dirty="0"/>
            </a:p>
          </p:txBody>
        </p:sp>
        <p:pic>
          <p:nvPicPr>
            <p:cNvPr id="7" name="Picture 6" descr="137.3.gif"/>
            <p:cNvPicPr>
              <a:picLocks noChangeAspect="1"/>
            </p:cNvPicPr>
            <p:nvPr/>
          </p:nvPicPr>
          <p:blipFill>
            <a:blip r:embed="rId3"/>
            <a:srcRect t="48648" r="82979" b="34512"/>
            <a:stretch>
              <a:fillRect/>
            </a:stretch>
          </p:blipFill>
          <p:spPr>
            <a:xfrm>
              <a:off x="6746240" y="4900382"/>
              <a:ext cx="2600960" cy="1463040"/>
            </a:xfrm>
            <a:prstGeom prst="rect">
              <a:avLst/>
            </a:prstGeom>
          </p:spPr>
        </p:pic>
      </p:grpSp>
      <p:sp>
        <p:nvSpPr>
          <p:cNvPr id="8" name="Oval 7"/>
          <p:cNvSpPr/>
          <p:nvPr/>
        </p:nvSpPr>
        <p:spPr>
          <a:xfrm>
            <a:off x="3578138" y="1234440"/>
            <a:ext cx="1554480" cy="21031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084618" y="2423160"/>
            <a:ext cx="1008609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酰基</a:t>
            </a:r>
            <a:endParaRPr lang="en-US" sz="3000" b="1" dirty="0">
              <a:solidFill>
                <a:srgbClr val="FF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Oval 10"/>
          <p:cNvSpPr/>
          <p:nvPr/>
        </p:nvSpPr>
        <p:spPr>
          <a:xfrm>
            <a:off x="5132618" y="2011680"/>
            <a:ext cx="1371600" cy="1280160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2818" y="2447985"/>
            <a:ext cx="1420582" cy="58477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烷氧基</a:t>
            </a:r>
            <a:endParaRPr lang="en-US" sz="3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00400" y="4488359"/>
            <a:ext cx="2971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4400" dirty="0"/>
              <a:t>     —C—OR</a:t>
            </a:r>
            <a:r>
              <a:rPr lang="en-US" altLang="zh-CN" sz="4400" baseline="30000" dirty="0"/>
              <a:t>’</a:t>
            </a:r>
            <a:endParaRPr lang="en-US" altLang="zh-CN" sz="4400" dirty="0"/>
          </a:p>
        </p:txBody>
      </p:sp>
      <p:pic>
        <p:nvPicPr>
          <p:cNvPr id="14" name="Picture 13" descr="137.3.gif"/>
          <p:cNvPicPr>
            <a:picLocks noChangeAspect="1"/>
          </p:cNvPicPr>
          <p:nvPr/>
        </p:nvPicPr>
        <p:blipFill>
          <a:blip r:embed="rId3"/>
          <a:srcRect t="48648" r="82979" b="34512"/>
          <a:stretch>
            <a:fillRect/>
          </a:stretch>
        </p:blipFill>
        <p:spPr>
          <a:xfrm>
            <a:off x="3124200" y="3122117"/>
            <a:ext cx="2600960" cy="1463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04800" y="4139625"/>
            <a:ext cx="2981907" cy="584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官能团：酯基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577051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9" grpId="0" animBg="1"/>
      <p:bldP spid="11" grpId="0" animBg="1"/>
      <p:bldP spid="12" grpId="0" animBg="1"/>
      <p:bldP spid="13" grpId="0"/>
      <p:bldP spid="1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34.2</a:t>
            </a:r>
            <a:r>
              <a:rPr lang="en-MY" altLang="zh-CN" sz="4000" b="1" dirty="0">
                <a:latin typeface="+mn-ea"/>
              </a:rPr>
              <a:t>.1</a:t>
            </a:r>
            <a:r>
              <a:rPr lang="en-US" altLang="zh-CN" sz="4000" b="1" dirty="0">
                <a:latin typeface="+mn-ea"/>
              </a:rPr>
              <a:t> </a:t>
            </a:r>
            <a:r>
              <a:rPr lang="zh-CN" altLang="en-US" sz="4000" b="1" dirty="0">
                <a:latin typeface="+mn-ea"/>
              </a:rPr>
              <a:t>酯的命名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endParaRPr lang="en-MY" altLang="zh-CN" sz="28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按照生成酯的羧酸和醇来命名。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羧酸的名字在前，醇的名字在后，再将“醇”字换成“酯”字，称为“某酸某酯”。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600" dirty="0"/>
          </a:p>
          <a:p>
            <a:pPr marL="914400" lvl="1" indent="-514350">
              <a:spcBef>
                <a:spcPts val="600"/>
              </a:spcBef>
              <a:buNone/>
            </a:pPr>
            <a:endParaRPr lang="en-US" altLang="zh-CN" sz="2600" dirty="0"/>
          </a:p>
        </p:txBody>
      </p:sp>
      <p:pic>
        <p:nvPicPr>
          <p:cNvPr id="9" name="Picture 8" descr="156.1.jpg"/>
          <p:cNvPicPr>
            <a:picLocks noChangeAspect="1"/>
          </p:cNvPicPr>
          <p:nvPr/>
        </p:nvPicPr>
        <p:blipFill>
          <a:blip r:embed="rId3"/>
          <a:srcRect l="13379" t="50000" r="3613" b="17448"/>
          <a:stretch>
            <a:fillRect/>
          </a:stretch>
        </p:blipFill>
        <p:spPr>
          <a:xfrm>
            <a:off x="685800" y="3276600"/>
            <a:ext cx="7589520" cy="223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4526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34.2</a:t>
            </a:r>
            <a:r>
              <a:rPr lang="en-MY" altLang="zh-CN" sz="4000" b="1" dirty="0">
                <a:latin typeface="+mn-ea"/>
              </a:rPr>
              <a:t>.1</a:t>
            </a:r>
            <a:r>
              <a:rPr lang="en-US" altLang="zh-CN" sz="4000" b="1" dirty="0">
                <a:latin typeface="+mn-ea"/>
              </a:rPr>
              <a:t> </a:t>
            </a:r>
            <a:r>
              <a:rPr lang="zh-CN" altLang="en-US" sz="4000" b="1" dirty="0">
                <a:latin typeface="+mn-ea"/>
              </a:rPr>
              <a:t>酯的命名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None/>
            </a:pPr>
            <a:r>
              <a:rPr lang="zh-CN" altLang="en-US" sz="2800" dirty="0"/>
              <a:t>酯的命名</a:t>
            </a:r>
            <a:endParaRPr lang="en-US" altLang="zh-CN" sz="2600" dirty="0"/>
          </a:p>
          <a:p>
            <a:pPr marL="914400" lvl="1" indent="-514350">
              <a:spcBef>
                <a:spcPts val="600"/>
              </a:spcBef>
              <a:buNone/>
            </a:pPr>
            <a:endParaRPr lang="en-US" altLang="zh-CN" sz="2600" dirty="0"/>
          </a:p>
        </p:txBody>
      </p:sp>
      <p:pic>
        <p:nvPicPr>
          <p:cNvPr id="6" name="Picture 5" descr="156.gif"/>
          <p:cNvPicPr>
            <a:picLocks noChangeAspect="1"/>
          </p:cNvPicPr>
          <p:nvPr/>
        </p:nvPicPr>
        <p:blipFill>
          <a:blip r:embed="rId3"/>
          <a:srcRect r="70898" b="73642"/>
          <a:stretch>
            <a:fillRect/>
          </a:stretch>
        </p:blipFill>
        <p:spPr>
          <a:xfrm>
            <a:off x="838200" y="1524000"/>
            <a:ext cx="3505200" cy="1295400"/>
          </a:xfrm>
          <a:prstGeom prst="rect">
            <a:avLst/>
          </a:prstGeom>
        </p:spPr>
      </p:pic>
      <p:pic>
        <p:nvPicPr>
          <p:cNvPr id="9" name="Picture 8" descr="156.gif"/>
          <p:cNvPicPr>
            <a:picLocks noChangeAspect="1"/>
          </p:cNvPicPr>
          <p:nvPr/>
        </p:nvPicPr>
        <p:blipFill>
          <a:blip r:embed="rId3"/>
          <a:srcRect l="29102" r="36946" b="75106"/>
          <a:stretch>
            <a:fillRect/>
          </a:stretch>
        </p:blipFill>
        <p:spPr>
          <a:xfrm>
            <a:off x="4343400" y="1447800"/>
            <a:ext cx="4329954" cy="1295400"/>
          </a:xfrm>
          <a:prstGeom prst="rect">
            <a:avLst/>
          </a:prstGeom>
        </p:spPr>
      </p:pic>
      <p:pic>
        <p:nvPicPr>
          <p:cNvPr id="12" name="Picture 11" descr="156.gif"/>
          <p:cNvPicPr>
            <a:picLocks noChangeAspect="1"/>
          </p:cNvPicPr>
          <p:nvPr/>
        </p:nvPicPr>
        <p:blipFill>
          <a:blip r:embed="rId3"/>
          <a:srcRect t="40416" r="69928" b="14896"/>
          <a:stretch>
            <a:fillRect/>
          </a:stretch>
        </p:blipFill>
        <p:spPr>
          <a:xfrm>
            <a:off x="1066800" y="3352800"/>
            <a:ext cx="3393086" cy="20574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295400" y="2895600"/>
            <a:ext cx="2743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514350">
              <a:spcBef>
                <a:spcPts val="600"/>
              </a:spcBef>
              <a:buNone/>
            </a:pP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乙酸乙酯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953000" y="2819400"/>
            <a:ext cx="2743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514350">
              <a:spcBef>
                <a:spcPts val="600"/>
              </a:spcBef>
              <a:buNone/>
            </a:pP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甲酸乙烯酯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724400" y="4038600"/>
            <a:ext cx="2743200" cy="10310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514350">
              <a:spcBef>
                <a:spcPts val="600"/>
              </a:spcBef>
              <a:buNone/>
            </a:pP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苯甲酸甲酯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1" indent="-514350">
              <a:spcBef>
                <a:spcPts val="600"/>
              </a:spcBef>
              <a:buNone/>
            </a:pP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茉莉花香</a:t>
            </a:r>
            <a:endParaRPr lang="en-US" altLang="zh-CN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072512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34.2</a:t>
            </a:r>
            <a:r>
              <a:rPr lang="en-MY" altLang="zh-CN" sz="4000" b="1" dirty="0">
                <a:latin typeface="+mn-ea"/>
              </a:rPr>
              <a:t>.1</a:t>
            </a:r>
            <a:r>
              <a:rPr lang="en-US" altLang="zh-CN" sz="4000" b="1" dirty="0">
                <a:latin typeface="+mn-ea"/>
              </a:rPr>
              <a:t> </a:t>
            </a:r>
            <a:r>
              <a:rPr lang="zh-CN" altLang="en-US" sz="4000" b="1" dirty="0">
                <a:latin typeface="+mn-ea"/>
              </a:rPr>
              <a:t>酯的命名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None/>
            </a:pPr>
            <a:r>
              <a:rPr lang="zh-CN" altLang="en-US" sz="2800" dirty="0"/>
              <a:t>酯的命名</a:t>
            </a:r>
            <a:endParaRPr lang="en-US" altLang="zh-CN" sz="2600" dirty="0"/>
          </a:p>
          <a:p>
            <a:pPr marL="914400" lvl="1" indent="-514350">
              <a:spcBef>
                <a:spcPts val="600"/>
              </a:spcBef>
              <a:buNone/>
            </a:pPr>
            <a:endParaRPr lang="en-US" altLang="zh-CN" sz="2600" dirty="0"/>
          </a:p>
        </p:txBody>
      </p:sp>
      <p:pic>
        <p:nvPicPr>
          <p:cNvPr id="7" name="Picture 6" descr="156.gif"/>
          <p:cNvPicPr>
            <a:picLocks noChangeAspect="1"/>
          </p:cNvPicPr>
          <p:nvPr/>
        </p:nvPicPr>
        <p:blipFill>
          <a:blip r:embed="rId3"/>
          <a:srcRect l="30155" t="40416" r="29102" b="17689"/>
          <a:stretch>
            <a:fillRect/>
          </a:stretch>
        </p:blipFill>
        <p:spPr>
          <a:xfrm>
            <a:off x="304800" y="3581399"/>
            <a:ext cx="4903553" cy="2057401"/>
          </a:xfrm>
          <a:prstGeom prst="rect">
            <a:avLst/>
          </a:prstGeom>
        </p:spPr>
      </p:pic>
      <p:pic>
        <p:nvPicPr>
          <p:cNvPr id="11" name="Picture 10" descr="156.gif"/>
          <p:cNvPicPr>
            <a:picLocks noChangeAspect="1"/>
          </p:cNvPicPr>
          <p:nvPr/>
        </p:nvPicPr>
        <p:blipFill>
          <a:blip r:embed="rId3"/>
          <a:srcRect l="63054" b="74740"/>
          <a:stretch>
            <a:fillRect/>
          </a:stretch>
        </p:blipFill>
        <p:spPr>
          <a:xfrm>
            <a:off x="304800" y="1676400"/>
            <a:ext cx="4261025" cy="1188720"/>
          </a:xfrm>
          <a:prstGeom prst="rect">
            <a:avLst/>
          </a:prstGeom>
        </p:spPr>
      </p:pic>
      <p:pic>
        <p:nvPicPr>
          <p:cNvPr id="13" name="Picture 12" descr="156.gif"/>
          <p:cNvPicPr>
            <a:picLocks noChangeAspect="1"/>
          </p:cNvPicPr>
          <p:nvPr/>
        </p:nvPicPr>
        <p:blipFill>
          <a:blip r:embed="rId3"/>
          <a:srcRect l="71527" t="40416" b="11348"/>
          <a:stretch>
            <a:fillRect/>
          </a:stretch>
        </p:blipFill>
        <p:spPr>
          <a:xfrm>
            <a:off x="4953000" y="990599"/>
            <a:ext cx="3307080" cy="228600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66800" y="2829580"/>
            <a:ext cx="2743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514350">
              <a:spcBef>
                <a:spcPts val="600"/>
              </a:spcBef>
              <a:buNone/>
            </a:pP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乙酸苯甲酯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724400" y="3276600"/>
            <a:ext cx="3733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514350">
              <a:spcBef>
                <a:spcPts val="600"/>
              </a:spcBef>
              <a:buNone/>
            </a:pP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1,2-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苯二甲酸二甲酯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724400" y="4505980"/>
            <a:ext cx="4038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514350">
              <a:spcBef>
                <a:spcPts val="600"/>
              </a:spcBef>
              <a:buNone/>
            </a:pP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苯甲酸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-3-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甲基丁酯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900152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34.2</a:t>
            </a:r>
            <a:r>
              <a:rPr lang="en-MY" altLang="zh-CN" sz="4000" b="1" dirty="0">
                <a:latin typeface="+mn-ea"/>
              </a:rPr>
              <a:t>.1</a:t>
            </a:r>
            <a:r>
              <a:rPr lang="en-US" altLang="zh-CN" sz="4000" b="1" dirty="0">
                <a:latin typeface="+mn-ea"/>
              </a:rPr>
              <a:t> </a:t>
            </a:r>
            <a:r>
              <a:rPr lang="zh-CN" altLang="en-US" sz="4000" b="1" dirty="0">
                <a:latin typeface="+mn-ea"/>
              </a:rPr>
              <a:t>酯的命名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914400" lvl="1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3000" dirty="0"/>
              <a:t>写出下列物质的结构简式</a:t>
            </a:r>
            <a:endParaRPr lang="en-US" altLang="zh-CN" sz="3000" dirty="0"/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en-US" altLang="zh-CN" sz="3000" dirty="0"/>
              <a:t>2-</a:t>
            </a:r>
            <a:r>
              <a:rPr lang="zh-CN" altLang="en-US" sz="3000" dirty="0"/>
              <a:t>苯基丁酸乙酯</a:t>
            </a:r>
            <a:endParaRPr lang="en-US" altLang="zh-CN" sz="3000" dirty="0"/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en-US" altLang="zh-CN" sz="3000" dirty="0"/>
              <a:t>2-</a:t>
            </a:r>
            <a:r>
              <a:rPr lang="zh-CN" altLang="en-US" sz="3000" dirty="0"/>
              <a:t>羟基戊酸苯甲酯</a:t>
            </a:r>
            <a:endParaRPr lang="en-US" altLang="zh-CN" sz="3000" dirty="0"/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zh-CN" altLang="en-US" sz="3000" dirty="0"/>
              <a:t>三氟乙酸</a:t>
            </a:r>
            <a:r>
              <a:rPr lang="en-US" altLang="zh-CN" sz="3000" dirty="0"/>
              <a:t>-2-</a:t>
            </a:r>
            <a:r>
              <a:rPr lang="zh-CN" altLang="en-US" sz="3000" dirty="0"/>
              <a:t>辛酯</a:t>
            </a:r>
            <a:endParaRPr lang="en-US" altLang="zh-CN" sz="3000" dirty="0"/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en-US" altLang="zh-CN" sz="3000" dirty="0"/>
              <a:t>2-</a:t>
            </a:r>
            <a:r>
              <a:rPr lang="zh-CN" altLang="en-US" sz="3000" dirty="0"/>
              <a:t>丁烯酸甲酯</a:t>
            </a:r>
            <a:endParaRPr lang="en-US" altLang="zh-CN" sz="3000" dirty="0"/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3000" dirty="0"/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1117306631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34.2.2 </a:t>
            </a:r>
            <a:r>
              <a:rPr lang="zh-CN" altLang="en-US" sz="4000" b="1" dirty="0">
                <a:latin typeface="+mn-ea"/>
              </a:rPr>
              <a:t>酯的物理性质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低级酯是有芳香气味的液体</a:t>
            </a:r>
            <a:r>
              <a:rPr lang="en-US" altLang="zh-CN" sz="2800" dirty="0"/>
              <a:t>—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果香油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dirty="0"/>
              <a:t>香蕉油</a:t>
            </a:r>
            <a:r>
              <a:rPr lang="en-US" altLang="zh-CN" dirty="0"/>
              <a:t>—</a:t>
            </a:r>
            <a:r>
              <a:rPr lang="zh-CN" altLang="en-US" dirty="0"/>
              <a:t>乙酸戊酯</a:t>
            </a:r>
            <a:endParaRPr lang="en-US" altLang="zh-CN" dirty="0"/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dirty="0"/>
              <a:t>橘子油</a:t>
            </a:r>
            <a:r>
              <a:rPr lang="en-US" altLang="zh-CN" dirty="0"/>
              <a:t>—</a:t>
            </a:r>
            <a:r>
              <a:rPr lang="zh-CN" altLang="en-US" dirty="0"/>
              <a:t>乙酸辛酯</a:t>
            </a:r>
            <a:endParaRPr lang="en-US" altLang="zh-CN" dirty="0"/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dirty="0"/>
              <a:t>凤梨油</a:t>
            </a:r>
            <a:r>
              <a:rPr lang="en-US" altLang="zh-CN" dirty="0"/>
              <a:t>– </a:t>
            </a:r>
            <a:r>
              <a:rPr lang="zh-CN" altLang="en-US" dirty="0"/>
              <a:t>丁酸乙酯</a:t>
            </a:r>
            <a:endParaRPr lang="en-US" altLang="zh-CN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可用人工方法合成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2060"/>
                </a:solidFill>
              </a:rPr>
              <a:t>用途：食品饮料加工的香料、有机化合物的溶剂</a:t>
            </a:r>
            <a:endParaRPr lang="en-US" altLang="zh-CN" sz="2800" b="1" dirty="0">
              <a:solidFill>
                <a:srgbClr val="002060"/>
              </a:solidFill>
            </a:endParaRPr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200" dirty="0"/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2600" dirty="0"/>
          </a:p>
        </p:txBody>
      </p:sp>
    </p:spTree>
    <p:extLst>
      <p:ext uri="{BB962C8B-B14F-4D97-AF65-F5344CB8AC3E}">
        <p14:creationId xmlns:p14="http://schemas.microsoft.com/office/powerpoint/2010/main" val="15955647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34.2.2 </a:t>
            </a:r>
            <a:r>
              <a:rPr lang="zh-CN" altLang="en-US" sz="4000" b="1" dirty="0">
                <a:latin typeface="+mn-ea"/>
              </a:rPr>
              <a:t>酯的物理性质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低级酯具有芳香气味的液体</a:t>
            </a:r>
            <a:endParaRPr lang="en-MY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密度一般比水小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一般难溶于水，易溶于乙醇、乙醚等有机溶剂</a:t>
            </a:r>
            <a:endParaRPr lang="en-MY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沸点随相对分子质量增加而递增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200" dirty="0"/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2600" dirty="0"/>
          </a:p>
        </p:txBody>
      </p:sp>
    </p:spTree>
    <p:extLst>
      <p:ext uri="{BB962C8B-B14F-4D97-AF65-F5344CB8AC3E}">
        <p14:creationId xmlns:p14="http://schemas.microsoft.com/office/powerpoint/2010/main" val="32044049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34.2.2 </a:t>
            </a:r>
            <a:r>
              <a:rPr lang="zh-CN" altLang="en-US" sz="4000" b="1" dirty="0">
                <a:latin typeface="+mn-ea"/>
              </a:rPr>
              <a:t>酯的物理性质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蜡：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高级饱和脂肪酸</a:t>
            </a:r>
            <a:r>
              <a:rPr lang="zh-CN" altLang="en-US" sz="2800" dirty="0"/>
              <a:t>和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高级一元醇</a:t>
            </a:r>
            <a:r>
              <a:rPr lang="zh-CN" altLang="en-US" sz="2800" dirty="0"/>
              <a:t>所组成的酯</a:t>
            </a:r>
            <a:endParaRPr lang="en-US" altLang="zh-CN" sz="2800" dirty="0"/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没味道</a:t>
            </a:r>
            <a:endParaRPr lang="en-US" altLang="zh-CN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dirty="0"/>
              <a:t>蜂蜡</a:t>
            </a:r>
            <a:r>
              <a:rPr lang="en-US" altLang="zh-CN" dirty="0"/>
              <a:t>—</a:t>
            </a:r>
            <a:r>
              <a:rPr lang="zh-CN" altLang="en-US" dirty="0"/>
              <a:t>十六酸三十酯</a:t>
            </a:r>
            <a:endParaRPr lang="en-US" altLang="zh-CN" dirty="0"/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dirty="0"/>
              <a:t>鲸蜡</a:t>
            </a:r>
            <a:r>
              <a:rPr lang="en-US" altLang="zh-CN" dirty="0"/>
              <a:t>—</a:t>
            </a:r>
            <a:r>
              <a:rPr lang="zh-CN" altLang="en-US" dirty="0"/>
              <a:t>十六酸十六酯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2060"/>
                </a:solidFill>
              </a:rPr>
              <a:t>用途：制造蜡烛、蜡模，芳香酯、软膏</a:t>
            </a:r>
            <a:endParaRPr lang="en-US" altLang="zh-CN" sz="2800" b="1" dirty="0">
              <a:solidFill>
                <a:srgbClr val="002060"/>
              </a:solidFill>
            </a:endParaRPr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200" dirty="0"/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2600" dirty="0"/>
          </a:p>
        </p:txBody>
      </p:sp>
    </p:spTree>
    <p:extLst>
      <p:ext uri="{BB962C8B-B14F-4D97-AF65-F5344CB8AC3E}">
        <p14:creationId xmlns:p14="http://schemas.microsoft.com/office/powerpoint/2010/main" val="39543844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34.2.3 </a:t>
            </a:r>
            <a:r>
              <a:rPr lang="zh-CN" altLang="en-US" sz="4000" b="1" dirty="0">
                <a:latin typeface="+mn-ea"/>
              </a:rPr>
              <a:t>酯的化学性质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2800" dirty="0"/>
              <a:t>化学性质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酯分子里的烷氧基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—OR</a:t>
            </a:r>
            <a:r>
              <a:rPr lang="en-US" altLang="zh-CN" sz="2800" b="1" baseline="30000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2800" dirty="0"/>
              <a:t>，在酸或碱的催化下可被其他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（带负电荷的）</a:t>
            </a:r>
            <a:r>
              <a:rPr lang="zh-CN" altLang="en-US" sz="2800" dirty="0"/>
              <a:t>原子或原子团取代。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水解反应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还原反应</a:t>
            </a:r>
            <a:endParaRPr lang="en-US" altLang="zh-CN" sz="2200" dirty="0"/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2600" dirty="0"/>
          </a:p>
        </p:txBody>
      </p:sp>
    </p:spTree>
    <p:extLst>
      <p:ext uri="{BB962C8B-B14F-4D97-AF65-F5344CB8AC3E}">
        <p14:creationId xmlns:p14="http://schemas.microsoft.com/office/powerpoint/2010/main" val="21833101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34.2.3 </a:t>
            </a:r>
            <a:r>
              <a:rPr lang="zh-CN" altLang="en-US" sz="4000" b="1" dirty="0">
                <a:latin typeface="+mn-ea"/>
              </a:rPr>
              <a:t>酯的化学性质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None/>
            </a:pPr>
            <a:r>
              <a:rPr lang="zh-CN" altLang="en-US" sz="2800" dirty="0"/>
              <a:t>水解反应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酯的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水解</a:t>
            </a:r>
            <a:r>
              <a:rPr lang="zh-CN" altLang="en-US" sz="2800" dirty="0"/>
              <a:t>是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酯化</a:t>
            </a:r>
            <a:r>
              <a:rPr lang="zh-CN" altLang="en-US" sz="2800" dirty="0"/>
              <a:t>的逆反应。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酸或碱</a:t>
            </a:r>
            <a:r>
              <a:rPr lang="zh-CN" altLang="en-US" sz="2800" dirty="0"/>
              <a:t>都能加速水解反应。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但在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碱</a:t>
            </a:r>
            <a:r>
              <a:rPr lang="zh-CN" altLang="en-US" sz="2800" dirty="0"/>
              <a:t>的催化下使水解变成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不可逆</a:t>
            </a:r>
            <a:r>
              <a:rPr lang="zh-CN" altLang="en-US" sz="2800" dirty="0"/>
              <a:t>，因为水解产物</a:t>
            </a:r>
            <a:r>
              <a:rPr lang="en-US" altLang="zh-CN" sz="2800" dirty="0"/>
              <a:t>(</a:t>
            </a:r>
            <a:r>
              <a:rPr lang="zh-CN" altLang="en-US" sz="2800" dirty="0"/>
              <a:t>羧酸</a:t>
            </a:r>
            <a:r>
              <a:rPr lang="en-US" altLang="zh-CN" sz="2800" dirty="0"/>
              <a:t>)</a:t>
            </a:r>
            <a:r>
              <a:rPr lang="zh-CN" altLang="en-US" sz="2800" dirty="0"/>
              <a:t>与碱作用生成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羧酸盐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酯 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水 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羧酸 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醇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			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RCO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OR</a:t>
            </a:r>
            <a:r>
              <a:rPr lang="en-US" altLang="zh-CN" sz="2800" b="1" baseline="30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’</a:t>
            </a:r>
            <a:r>
              <a:rPr lang="en-US" altLang="zh-CN" sz="2800" dirty="0">
                <a:sym typeface="Wingdings" pitchFamily="2" charset="2"/>
              </a:rPr>
              <a:t>  +</a:t>
            </a:r>
            <a:r>
              <a:rPr lang="en-US" altLang="zh-CN" sz="2800" dirty="0">
                <a:solidFill>
                  <a:srgbClr val="7030A0"/>
                </a:solidFill>
                <a:sym typeface="Wingdings" pitchFamily="2" charset="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H</a:t>
            </a:r>
            <a:r>
              <a:rPr lang="en-US" altLang="zh-CN" sz="28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2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O		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RCO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OH</a:t>
            </a:r>
            <a:r>
              <a:rPr lang="en-US" altLang="zh-CN" sz="2800" dirty="0"/>
              <a:t>+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</a:t>
            </a:r>
            <a:r>
              <a:rPr lang="en-US" altLang="zh-CN" sz="2800" b="1" baseline="30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sz="2800" dirty="0"/>
              <a:t>  </a:t>
            </a: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en-US" altLang="zh-CN" sz="2400" dirty="0">
                <a:sym typeface="Wingdings" pitchFamily="2" charset="2"/>
              </a:rPr>
              <a:t>	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皂化反应：</a:t>
            </a:r>
            <a:r>
              <a:rPr lang="zh-CN" altLang="en-US" sz="2800" dirty="0"/>
              <a:t>酯的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碱性水解</a:t>
            </a:r>
            <a:r>
              <a:rPr lang="zh-CN" altLang="en-US" sz="2800" dirty="0"/>
              <a:t>反应</a:t>
            </a:r>
            <a:endParaRPr lang="en-US" altLang="zh-CN" sz="2800" dirty="0"/>
          </a:p>
          <a:p>
            <a:pPr marL="914400" lvl="1" indent="-514350">
              <a:spcBef>
                <a:spcPts val="600"/>
              </a:spcBef>
              <a:buNone/>
            </a:pPr>
            <a:endParaRPr lang="en-US" altLang="zh-CN" sz="2600" dirty="0"/>
          </a:p>
        </p:txBody>
      </p:sp>
      <p:grpSp>
        <p:nvGrpSpPr>
          <p:cNvPr id="5" name="Group 27"/>
          <p:cNvGrpSpPr/>
          <p:nvPr/>
        </p:nvGrpSpPr>
        <p:grpSpPr>
          <a:xfrm>
            <a:off x="3581401" y="3562290"/>
            <a:ext cx="990599" cy="857310"/>
            <a:chOff x="2895602" y="5791200"/>
            <a:chExt cx="990599" cy="857310"/>
          </a:xfrm>
        </p:grpSpPr>
        <p:grpSp>
          <p:nvGrpSpPr>
            <p:cNvPr id="6" name="Group 11"/>
            <p:cNvGrpSpPr/>
            <p:nvPr/>
          </p:nvGrpSpPr>
          <p:grpSpPr>
            <a:xfrm>
              <a:off x="2895602" y="6172117"/>
              <a:ext cx="990599" cy="76199"/>
              <a:chOff x="3028952" y="6324600"/>
              <a:chExt cx="1733548" cy="76199"/>
            </a:xfrm>
          </p:grpSpPr>
          <p:cxnSp>
            <p:nvCxnSpPr>
              <p:cNvPr id="9" name="Straight Arrow Connector 8"/>
              <p:cNvCxnSpPr/>
              <p:nvPr/>
            </p:nvCxnSpPr>
            <p:spPr>
              <a:xfrm rot="10800000">
                <a:off x="3028952" y="6399210"/>
                <a:ext cx="1600200" cy="1589"/>
              </a:xfrm>
              <a:prstGeom prst="straightConnector1">
                <a:avLst/>
              </a:prstGeom>
              <a:ln w="25400">
                <a:solidFill>
                  <a:srgbClr val="7030A0">
                    <a:alpha val="95000"/>
                  </a:srgb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>
                <a:off x="3162300" y="6324600"/>
                <a:ext cx="1600200" cy="1588"/>
              </a:xfrm>
              <a:prstGeom prst="straightConnector1">
                <a:avLst/>
              </a:prstGeom>
              <a:ln w="25400">
                <a:solidFill>
                  <a:srgbClr val="2D1ABC">
                    <a:alpha val="95000"/>
                  </a:srgb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TextBox 6"/>
            <p:cNvSpPr txBox="1"/>
            <p:nvPr/>
          </p:nvSpPr>
          <p:spPr>
            <a:xfrm>
              <a:off x="3048000" y="6248400"/>
              <a:ext cx="7232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酯化</a:t>
              </a:r>
              <a:endParaRPr lang="en-US" sz="2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032967" y="5791200"/>
              <a:ext cx="7008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2D1AB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水解</a:t>
              </a:r>
              <a:endParaRPr lang="en-US" sz="2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2" name="Group 27"/>
          <p:cNvGrpSpPr/>
          <p:nvPr/>
        </p:nvGrpSpPr>
        <p:grpSpPr>
          <a:xfrm>
            <a:off x="4724401" y="4267200"/>
            <a:ext cx="990599" cy="857310"/>
            <a:chOff x="2895602" y="5791200"/>
            <a:chExt cx="990599" cy="857310"/>
          </a:xfrm>
        </p:grpSpPr>
        <p:grpSp>
          <p:nvGrpSpPr>
            <p:cNvPr id="13" name="Group 11"/>
            <p:cNvGrpSpPr/>
            <p:nvPr/>
          </p:nvGrpSpPr>
          <p:grpSpPr>
            <a:xfrm>
              <a:off x="2895602" y="6172117"/>
              <a:ext cx="990599" cy="76199"/>
              <a:chOff x="3028952" y="6324600"/>
              <a:chExt cx="1733548" cy="76199"/>
            </a:xfrm>
          </p:grpSpPr>
          <p:cxnSp>
            <p:nvCxnSpPr>
              <p:cNvPr id="16" name="Straight Arrow Connector 15"/>
              <p:cNvCxnSpPr/>
              <p:nvPr/>
            </p:nvCxnSpPr>
            <p:spPr>
              <a:xfrm rot="10800000">
                <a:off x="3028952" y="6399210"/>
                <a:ext cx="1600200" cy="1589"/>
              </a:xfrm>
              <a:prstGeom prst="straightConnector1">
                <a:avLst/>
              </a:prstGeom>
              <a:ln w="25400">
                <a:solidFill>
                  <a:srgbClr val="7030A0">
                    <a:alpha val="95000"/>
                  </a:srgb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/>
              <p:cNvCxnSpPr/>
              <p:nvPr/>
            </p:nvCxnSpPr>
            <p:spPr>
              <a:xfrm>
                <a:off x="3162300" y="6324600"/>
                <a:ext cx="1600200" cy="1588"/>
              </a:xfrm>
              <a:prstGeom prst="straightConnector1">
                <a:avLst/>
              </a:prstGeom>
              <a:ln w="25400">
                <a:solidFill>
                  <a:srgbClr val="2D1ABC">
                    <a:alpha val="95000"/>
                  </a:srgb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/>
            <p:cNvSpPr txBox="1"/>
            <p:nvPr/>
          </p:nvSpPr>
          <p:spPr>
            <a:xfrm>
              <a:off x="3048000" y="6248400"/>
              <a:ext cx="7232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酯化</a:t>
              </a:r>
              <a:endParaRPr lang="en-US" sz="2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032967" y="5791200"/>
              <a:ext cx="7008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2D1AB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水解</a:t>
              </a:r>
              <a:endParaRPr lang="en-US" sz="20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cxnSp>
        <p:nvCxnSpPr>
          <p:cNvPr id="18" name="Straight Arrow Connector 17"/>
          <p:cNvCxnSpPr/>
          <p:nvPr/>
        </p:nvCxnSpPr>
        <p:spPr>
          <a:xfrm rot="5400000">
            <a:off x="6172618" y="5150701"/>
            <a:ext cx="457200" cy="8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0" y="4800600"/>
            <a:ext cx="12474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r>
              <a:rPr lang="en-US" sz="28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NaOH</a:t>
            </a:r>
            <a:endParaRPr lang="en-US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867400" y="5334000"/>
            <a:ext cx="14714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RCOONa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471058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9" grpId="0"/>
      <p:bldP spid="2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34.2.3 </a:t>
            </a:r>
            <a:r>
              <a:rPr lang="zh-CN" altLang="en-US" sz="4000" b="1" dirty="0">
                <a:latin typeface="+mn-ea"/>
              </a:rPr>
              <a:t>酯的化学性质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None/>
            </a:pPr>
            <a:r>
              <a:rPr lang="zh-CN" altLang="en-US" sz="2800" dirty="0"/>
              <a:t>水解反应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zh-CN" altLang="en-US" sz="2800" dirty="0"/>
              <a:t>例：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endParaRPr lang="en-US" altLang="zh-CN" sz="2800" dirty="0"/>
          </a:p>
        </p:txBody>
      </p:sp>
      <p:pic>
        <p:nvPicPr>
          <p:cNvPr id="5" name="Picture 4" descr="157.png"/>
          <p:cNvPicPr>
            <a:picLocks noChangeAspect="1"/>
          </p:cNvPicPr>
          <p:nvPr/>
        </p:nvPicPr>
        <p:blipFill>
          <a:blip r:embed="rId3"/>
          <a:srcRect t="62222" r="45109"/>
          <a:stretch>
            <a:fillRect/>
          </a:stretch>
        </p:blipFill>
        <p:spPr>
          <a:xfrm>
            <a:off x="914400" y="2743200"/>
            <a:ext cx="4044875" cy="1097280"/>
          </a:xfrm>
          <a:prstGeom prst="rect">
            <a:avLst/>
          </a:prstGeom>
        </p:spPr>
      </p:pic>
      <p:pic>
        <p:nvPicPr>
          <p:cNvPr id="6" name="Picture 5" descr="157.png"/>
          <p:cNvPicPr>
            <a:picLocks noChangeAspect="1"/>
          </p:cNvPicPr>
          <p:nvPr/>
        </p:nvPicPr>
        <p:blipFill>
          <a:blip r:embed="rId3"/>
          <a:srcRect r="47445" b="64444"/>
          <a:stretch>
            <a:fillRect/>
          </a:stretch>
        </p:blipFill>
        <p:spPr>
          <a:xfrm>
            <a:off x="990600" y="1752600"/>
            <a:ext cx="3771900" cy="1005840"/>
          </a:xfrm>
          <a:prstGeom prst="rect">
            <a:avLst/>
          </a:prstGeom>
        </p:spPr>
      </p:pic>
      <p:pic>
        <p:nvPicPr>
          <p:cNvPr id="7" name="Picture 6" descr="157.png"/>
          <p:cNvPicPr>
            <a:picLocks noChangeAspect="1"/>
          </p:cNvPicPr>
          <p:nvPr/>
        </p:nvPicPr>
        <p:blipFill>
          <a:blip r:embed="rId3"/>
          <a:srcRect l="53723" r="7737" b="64444"/>
          <a:stretch>
            <a:fillRect/>
          </a:stretch>
        </p:blipFill>
        <p:spPr>
          <a:xfrm>
            <a:off x="4724400" y="1752600"/>
            <a:ext cx="2766060" cy="1005840"/>
          </a:xfrm>
          <a:prstGeom prst="rect">
            <a:avLst/>
          </a:prstGeom>
        </p:spPr>
      </p:pic>
      <p:pic>
        <p:nvPicPr>
          <p:cNvPr id="8" name="Picture 7" descr="157.png"/>
          <p:cNvPicPr>
            <a:picLocks noChangeAspect="1"/>
          </p:cNvPicPr>
          <p:nvPr/>
        </p:nvPicPr>
        <p:blipFill>
          <a:blip r:embed="rId3"/>
          <a:srcRect l="58394" t="62222"/>
          <a:stretch>
            <a:fillRect/>
          </a:stretch>
        </p:blipFill>
        <p:spPr>
          <a:xfrm>
            <a:off x="4953000" y="2762250"/>
            <a:ext cx="3065929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6231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34.2.3 </a:t>
            </a:r>
            <a:r>
              <a:rPr lang="zh-CN" altLang="en-US" sz="4000" b="1" dirty="0">
                <a:latin typeface="+mn-ea"/>
              </a:rPr>
              <a:t>酯的化学性质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None/>
            </a:pPr>
            <a:r>
              <a:rPr lang="zh-CN" altLang="en-US" sz="2800" dirty="0"/>
              <a:t>还原反应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酯比羧酸容易还原为醇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酯 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	    2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份醇</a:t>
            </a:r>
            <a:endParaRPr lang="en-US" altLang="zh-CN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强还原剂</a:t>
            </a:r>
            <a:r>
              <a:rPr lang="zh-CN" altLang="en-US" sz="2800" dirty="0"/>
              <a:t>：</a:t>
            </a:r>
            <a:r>
              <a:rPr lang="en-US" altLang="zh-CN" sz="2800" dirty="0"/>
              <a:t>Na+</a:t>
            </a:r>
            <a:r>
              <a:rPr lang="zh-CN" altLang="en-US" sz="2800" dirty="0"/>
              <a:t>乙醇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8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8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8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还原剂</a:t>
            </a:r>
            <a:r>
              <a:rPr lang="zh-CN" altLang="en-US" sz="2800" dirty="0"/>
              <a:t>：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	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反应条件</a:t>
            </a:r>
            <a:r>
              <a:rPr lang="zh-CN" altLang="en-US" sz="2800" dirty="0"/>
              <a:t>：</a:t>
            </a:r>
            <a:r>
              <a:rPr lang="en-US" altLang="zh-CN" sz="2800" dirty="0"/>
              <a:t>CuO</a:t>
            </a:r>
            <a:r>
              <a:rPr lang="en-US" altLang="zh-CN" sz="2800" dirty="0">
                <a:cs typeface="Arial"/>
              </a:rPr>
              <a:t>·Cr</a:t>
            </a:r>
            <a:r>
              <a:rPr lang="en-US" altLang="zh-CN" sz="2800" baseline="-25000" dirty="0">
                <a:cs typeface="Arial"/>
              </a:rPr>
              <a:t>2</a:t>
            </a:r>
            <a:r>
              <a:rPr lang="en-US" altLang="zh-CN" sz="2800" dirty="0">
                <a:cs typeface="Arial"/>
              </a:rPr>
              <a:t>O</a:t>
            </a:r>
            <a:r>
              <a:rPr lang="en-US" altLang="zh-CN" sz="2800" baseline="-25000" dirty="0">
                <a:cs typeface="Arial"/>
              </a:rPr>
              <a:t>3</a:t>
            </a:r>
            <a:r>
              <a:rPr lang="en-US" altLang="zh-CN" sz="2800" dirty="0">
                <a:cs typeface="Arial"/>
              </a:rPr>
              <a:t> </a:t>
            </a:r>
            <a:r>
              <a:rPr lang="zh-CN" altLang="en-US" sz="2800" dirty="0">
                <a:cs typeface="Arial"/>
              </a:rPr>
              <a:t>、高温、高压</a:t>
            </a:r>
            <a:endParaRPr lang="en-US" altLang="zh-CN" sz="2800" dirty="0"/>
          </a:p>
          <a:p>
            <a:pPr marL="914400" lvl="1" indent="-514350">
              <a:spcBef>
                <a:spcPts val="600"/>
              </a:spcBef>
              <a:buNone/>
            </a:pPr>
            <a:endParaRPr lang="en-US" altLang="zh-CN" sz="2600" dirty="0"/>
          </a:p>
        </p:txBody>
      </p:sp>
      <p:pic>
        <p:nvPicPr>
          <p:cNvPr id="5" name="Picture 4" descr="61011390_2396716377229119_3153264125711220736_n.png"/>
          <p:cNvPicPr>
            <a:picLocks noChangeAspect="1"/>
          </p:cNvPicPr>
          <p:nvPr/>
        </p:nvPicPr>
        <p:blipFill>
          <a:blip r:embed="rId3"/>
          <a:srcRect l="6667" t="21826" r="45000" b="29872"/>
          <a:stretch>
            <a:fillRect/>
          </a:stretch>
        </p:blipFill>
        <p:spPr>
          <a:xfrm>
            <a:off x="533400" y="2667000"/>
            <a:ext cx="4419600" cy="1219200"/>
          </a:xfrm>
          <a:prstGeom prst="rect">
            <a:avLst/>
          </a:prstGeom>
        </p:spPr>
      </p:pic>
      <p:pic>
        <p:nvPicPr>
          <p:cNvPr id="6" name="Picture 5" descr="61025720_354698575396766_552930481914511360_n.png"/>
          <p:cNvPicPr>
            <a:picLocks noChangeAspect="1"/>
          </p:cNvPicPr>
          <p:nvPr/>
        </p:nvPicPr>
        <p:blipFill>
          <a:blip r:embed="rId4"/>
          <a:srcRect l="6667" t="12194" r="35833" b="10578"/>
          <a:stretch>
            <a:fillRect/>
          </a:stretch>
        </p:blipFill>
        <p:spPr>
          <a:xfrm>
            <a:off x="381000" y="4724400"/>
            <a:ext cx="5257800" cy="1447800"/>
          </a:xfrm>
          <a:prstGeom prst="rect">
            <a:avLst/>
          </a:prstGeom>
        </p:spPr>
      </p:pic>
      <p:pic>
        <p:nvPicPr>
          <p:cNvPr id="7" name="Picture 6" descr="61025720_354698575396766_552930481914511360_n.png"/>
          <p:cNvPicPr>
            <a:picLocks noChangeAspect="1"/>
          </p:cNvPicPr>
          <p:nvPr/>
        </p:nvPicPr>
        <p:blipFill>
          <a:blip r:embed="rId4"/>
          <a:srcRect l="65833" t="12194" r="4167" b="10578"/>
          <a:stretch>
            <a:fillRect/>
          </a:stretch>
        </p:blipFill>
        <p:spPr>
          <a:xfrm>
            <a:off x="5638800" y="4724400"/>
            <a:ext cx="2743200" cy="1447800"/>
          </a:xfrm>
          <a:prstGeom prst="rect">
            <a:avLst/>
          </a:prstGeom>
        </p:spPr>
      </p:pic>
      <p:pic>
        <p:nvPicPr>
          <p:cNvPr id="8" name="Picture 7" descr="61011390_2396716377229119_3153264125711220736_n.png"/>
          <p:cNvPicPr>
            <a:picLocks noChangeAspect="1"/>
          </p:cNvPicPr>
          <p:nvPr/>
        </p:nvPicPr>
        <p:blipFill>
          <a:blip r:embed="rId3"/>
          <a:srcRect l="57500" t="21826" r="4167" b="29872"/>
          <a:stretch>
            <a:fillRect/>
          </a:stretch>
        </p:blipFill>
        <p:spPr>
          <a:xfrm>
            <a:off x="4953000" y="2667000"/>
            <a:ext cx="3505200" cy="1219200"/>
          </a:xfrm>
          <a:prstGeom prst="rect">
            <a:avLst/>
          </a:prstGeom>
        </p:spPr>
      </p:pic>
      <p:grpSp>
        <p:nvGrpSpPr>
          <p:cNvPr id="9" name="Group 47"/>
          <p:cNvGrpSpPr/>
          <p:nvPr/>
        </p:nvGrpSpPr>
        <p:grpSpPr>
          <a:xfrm>
            <a:off x="5455920" y="1581090"/>
            <a:ext cx="716280" cy="400110"/>
            <a:chOff x="2743200" y="5921513"/>
            <a:chExt cx="716280" cy="400110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2819400" y="6246812"/>
              <a:ext cx="640080" cy="1588"/>
            </a:xfrm>
            <a:prstGeom prst="straightConnector1">
              <a:avLst/>
            </a:prstGeom>
            <a:ln w="25400">
              <a:solidFill>
                <a:srgbClr val="C00000">
                  <a:alpha val="95000"/>
                </a:srgb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2743200" y="5921513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还原</a:t>
              </a:r>
              <a:endParaRPr 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63621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34.2.4 </a:t>
            </a:r>
            <a:r>
              <a:rPr lang="zh-CN" altLang="en-US" sz="4000" b="1" dirty="0">
                <a:latin typeface="+mn-ea"/>
              </a:rPr>
              <a:t>酯类的制备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2800" dirty="0"/>
              <a:t>有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酰基</a:t>
            </a:r>
            <a:r>
              <a:rPr lang="zh-CN" altLang="en-US" sz="2800" dirty="0"/>
              <a:t>的化合物与</a:t>
            </a:r>
            <a:r>
              <a:rPr lang="zh-CN" altLang="en-US" sz="2800" b="1" dirty="0">
                <a:solidFill>
                  <a:srgbClr val="7030A0"/>
                </a:solidFill>
              </a:rPr>
              <a:t>醇</a:t>
            </a:r>
            <a:r>
              <a:rPr lang="zh-CN" altLang="en-US" sz="2800" dirty="0"/>
              <a:t>反应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(</a:t>
            </a:r>
            <a:r>
              <a:rPr lang="zh-CN" altLang="en-US" sz="2800" dirty="0"/>
              <a:t>一</a:t>
            </a:r>
            <a:r>
              <a:rPr lang="en-US" altLang="zh-CN" sz="2800" dirty="0"/>
              <a:t>)</a:t>
            </a:r>
            <a:r>
              <a:rPr lang="zh-CN" altLang="en-US" sz="2800" dirty="0"/>
              <a:t>羧酸与醇反应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RCO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OH</a:t>
            </a:r>
            <a:r>
              <a:rPr lang="en-US" altLang="zh-CN" sz="2800" dirty="0"/>
              <a:t>+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</a:t>
            </a:r>
            <a:r>
              <a:rPr lang="en-US" altLang="zh-CN" sz="2800" b="1" baseline="30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sz="2800" dirty="0"/>
              <a:t>  </a:t>
            </a:r>
            <a:r>
              <a:rPr lang="en-US" altLang="zh-CN" sz="2800" dirty="0">
                <a:sym typeface="Wingdings" pitchFamily="2" charset="2"/>
              </a:rPr>
              <a:t>	 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RCO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OR</a:t>
            </a:r>
            <a:r>
              <a:rPr lang="en-US" altLang="zh-CN" sz="2800" b="1" baseline="30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’</a:t>
            </a:r>
            <a:r>
              <a:rPr lang="en-US" altLang="zh-CN" sz="2800" dirty="0">
                <a:sym typeface="Wingdings" pitchFamily="2" charset="2"/>
              </a:rPr>
              <a:t>  +</a:t>
            </a:r>
            <a:r>
              <a:rPr lang="en-US" altLang="zh-CN" sz="2800" dirty="0">
                <a:solidFill>
                  <a:srgbClr val="7030A0"/>
                </a:solidFill>
                <a:sym typeface="Wingdings" pitchFamily="2" charset="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H</a:t>
            </a:r>
            <a:r>
              <a:rPr lang="en-US" altLang="zh-CN" sz="28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2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O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(</a:t>
            </a:r>
            <a:r>
              <a:rPr lang="zh-CN" altLang="en-US" sz="2800" dirty="0"/>
              <a:t>二</a:t>
            </a:r>
            <a:r>
              <a:rPr lang="en-US" altLang="zh-CN" sz="2800" dirty="0"/>
              <a:t>)</a:t>
            </a:r>
            <a:r>
              <a:rPr lang="zh-CN" altLang="en-US" sz="2800" dirty="0"/>
              <a:t>酰卤和醇反应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RCO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altLang="zh-CN" sz="2800" dirty="0"/>
              <a:t>+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</a:t>
            </a:r>
            <a:r>
              <a:rPr lang="en-US" altLang="zh-CN" sz="2800" b="1" baseline="30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sz="2800" dirty="0"/>
              <a:t>  </a:t>
            </a:r>
            <a:r>
              <a:rPr lang="en-US" altLang="zh-CN" sz="2800" dirty="0">
                <a:sym typeface="Wingdings" pitchFamily="2" charset="2"/>
              </a:rPr>
              <a:t> 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RCO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OR</a:t>
            </a:r>
            <a:r>
              <a:rPr lang="en-US" altLang="zh-CN" sz="2800" b="1" baseline="30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’</a:t>
            </a:r>
            <a:r>
              <a:rPr lang="en-US" altLang="zh-CN" sz="2800" dirty="0">
                <a:sym typeface="Wingdings" pitchFamily="2" charset="2"/>
              </a:rPr>
              <a:t>  +</a:t>
            </a:r>
            <a:r>
              <a:rPr lang="en-US" altLang="zh-CN" sz="2800" dirty="0">
                <a:solidFill>
                  <a:srgbClr val="7030A0"/>
                </a:solidFill>
                <a:sym typeface="Wingdings" pitchFamily="2" charset="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HX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(</a:t>
            </a:r>
            <a:r>
              <a:rPr lang="zh-CN" altLang="en-US" sz="2800" dirty="0"/>
              <a:t>三</a:t>
            </a:r>
            <a:r>
              <a:rPr lang="en-US" altLang="zh-CN" sz="2800" dirty="0"/>
              <a:t>)</a:t>
            </a:r>
            <a:r>
              <a:rPr lang="zh-CN" altLang="en-US" sz="2800" dirty="0"/>
              <a:t>酐和醇反应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RCOCR </a:t>
            </a:r>
            <a:r>
              <a:rPr lang="en-US" altLang="zh-CN" sz="2800" dirty="0"/>
              <a:t>  + 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altLang="zh-CN" sz="2800" b="1" baseline="30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 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 RCO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OR</a:t>
            </a:r>
            <a:r>
              <a:rPr lang="en-US" altLang="zh-CN" sz="2800" b="1" baseline="30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’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  + 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RCOO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H</a:t>
            </a:r>
          </a:p>
          <a:p>
            <a:pPr marL="514350" indent="-514350">
              <a:spcBef>
                <a:spcPts val="600"/>
              </a:spcBef>
              <a:buNone/>
            </a:pPr>
            <a:endParaRPr lang="en-US" altLang="zh-CN" sz="2800" b="1" dirty="0">
              <a:solidFill>
                <a:srgbClr val="0070C0"/>
              </a:solidFill>
            </a:endParaRPr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b="1" dirty="0">
                <a:solidFill>
                  <a:srgbClr val="0070C0"/>
                </a:solidFill>
              </a:rPr>
              <a:t>**</a:t>
            </a:r>
            <a:r>
              <a:rPr lang="zh-CN" altLang="en-US" sz="2800" b="1" dirty="0">
                <a:solidFill>
                  <a:srgbClr val="0070C0"/>
                </a:solidFill>
              </a:rPr>
              <a:t>醛</a:t>
            </a:r>
            <a:r>
              <a:rPr lang="en-US" altLang="zh-CN" sz="2800" b="1" dirty="0">
                <a:solidFill>
                  <a:srgbClr val="0070C0"/>
                </a:solidFill>
              </a:rPr>
              <a:t>+</a:t>
            </a:r>
            <a:r>
              <a:rPr lang="zh-CN" altLang="en-US" sz="2800" b="1" dirty="0">
                <a:solidFill>
                  <a:srgbClr val="0070C0"/>
                </a:solidFill>
              </a:rPr>
              <a:t>醇不能生成酯，因为</a:t>
            </a:r>
            <a:r>
              <a:rPr lang="en-US" altLang="zh-CN" sz="2800" b="1" dirty="0">
                <a:solidFill>
                  <a:srgbClr val="0070C0"/>
                </a:solidFill>
              </a:rPr>
              <a:t>H</a:t>
            </a:r>
            <a:r>
              <a:rPr lang="zh-CN" altLang="en-US" sz="2800" b="1" dirty="0">
                <a:solidFill>
                  <a:srgbClr val="0070C0"/>
                </a:solidFill>
              </a:rPr>
              <a:t>捉</a:t>
            </a:r>
            <a:r>
              <a:rPr lang="en-US" altLang="zh-CN" sz="2800" b="1" dirty="0">
                <a:solidFill>
                  <a:srgbClr val="0070C0"/>
                </a:solidFill>
              </a:rPr>
              <a:t>H</a:t>
            </a:r>
            <a:r>
              <a:rPr lang="zh-CN" altLang="en-US" sz="2800" b="1" dirty="0">
                <a:solidFill>
                  <a:srgbClr val="0070C0"/>
                </a:solidFill>
              </a:rPr>
              <a:t>笑死人</a:t>
            </a:r>
            <a:endParaRPr lang="en-US" altLang="zh-CN" sz="2800" b="1" dirty="0">
              <a:solidFill>
                <a:srgbClr val="0070C0"/>
              </a:solidFill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590801" y="2205335"/>
            <a:ext cx="609599" cy="467718"/>
            <a:chOff x="2590801" y="1896070"/>
            <a:chExt cx="609599" cy="467718"/>
          </a:xfrm>
        </p:grpSpPr>
        <p:grpSp>
          <p:nvGrpSpPr>
            <p:cNvPr id="5" name="Group 27"/>
            <p:cNvGrpSpPr/>
            <p:nvPr/>
          </p:nvGrpSpPr>
          <p:grpSpPr>
            <a:xfrm>
              <a:off x="2651760" y="1896070"/>
              <a:ext cx="548640" cy="461665"/>
              <a:chOff x="2926081" y="5701605"/>
              <a:chExt cx="548640" cy="461665"/>
            </a:xfrm>
          </p:grpSpPr>
          <p:cxnSp>
            <p:nvCxnSpPr>
              <p:cNvPr id="6" name="Straight Arrow Connector 5"/>
              <p:cNvCxnSpPr/>
              <p:nvPr/>
            </p:nvCxnSpPr>
            <p:spPr>
              <a:xfrm>
                <a:off x="2926081" y="6096000"/>
                <a:ext cx="548640" cy="1588"/>
              </a:xfrm>
              <a:prstGeom prst="straightConnector1">
                <a:avLst/>
              </a:prstGeom>
              <a:ln w="25400">
                <a:solidFill>
                  <a:srgbClr val="FF00FF">
                    <a:alpha val="95000"/>
                  </a:srgb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TextBox 6"/>
              <p:cNvSpPr txBox="1"/>
              <p:nvPr/>
            </p:nvSpPr>
            <p:spPr>
              <a:xfrm>
                <a:off x="2932539" y="5701605"/>
                <a:ext cx="4812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H</a:t>
                </a:r>
                <a:r>
                  <a:rPr lang="en-US" sz="2400" b="1" baseline="30000" dirty="0">
                    <a:solidFill>
                      <a:srgbClr val="FF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+</a:t>
                </a:r>
                <a:endParaRPr lang="en-US" sz="2400" b="1" dirty="0">
                  <a:solidFill>
                    <a:srgbClr val="FF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cxnSp>
          <p:nvCxnSpPr>
            <p:cNvPr id="8" name="Straight Arrow Connector 7"/>
            <p:cNvCxnSpPr/>
            <p:nvPr/>
          </p:nvCxnSpPr>
          <p:spPr>
            <a:xfrm rot="10800000">
              <a:off x="2590801" y="2362200"/>
              <a:ext cx="548640" cy="1588"/>
            </a:xfrm>
            <a:prstGeom prst="straightConnector1">
              <a:avLst/>
            </a:prstGeom>
            <a:ln w="25400">
              <a:solidFill>
                <a:srgbClr val="FF00FF">
                  <a:alpha val="95000"/>
                </a:srgb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-228600" y="4419600"/>
            <a:ext cx="2057400" cy="609600"/>
            <a:chOff x="-228600" y="4114800"/>
            <a:chExt cx="2057400" cy="914400"/>
          </a:xfrm>
        </p:grpSpPr>
        <p:pic>
          <p:nvPicPr>
            <p:cNvPr id="11" name="Picture 10" descr="137.3.gif"/>
            <p:cNvPicPr>
              <a:picLocks noChangeAspect="1"/>
            </p:cNvPicPr>
            <p:nvPr/>
          </p:nvPicPr>
          <p:blipFill>
            <a:blip r:embed="rId3">
              <a:lum/>
            </a:blip>
            <a:srcRect t="48648" r="82979" b="34512"/>
            <a:stretch>
              <a:fillRect/>
            </a:stretch>
          </p:blipFill>
          <p:spPr>
            <a:xfrm>
              <a:off x="-228600" y="4114800"/>
              <a:ext cx="1625600" cy="914400"/>
            </a:xfrm>
            <a:prstGeom prst="rect">
              <a:avLst/>
            </a:prstGeom>
          </p:spPr>
        </p:pic>
        <p:pic>
          <p:nvPicPr>
            <p:cNvPr id="12" name="Picture 11" descr="137.3.gif"/>
            <p:cNvPicPr>
              <a:picLocks noChangeAspect="1"/>
            </p:cNvPicPr>
            <p:nvPr/>
          </p:nvPicPr>
          <p:blipFill>
            <a:blip r:embed="rId3">
              <a:lum/>
            </a:blip>
            <a:srcRect t="48648" r="82979" b="34512"/>
            <a:stretch>
              <a:fillRect/>
            </a:stretch>
          </p:blipFill>
          <p:spPr>
            <a:xfrm>
              <a:off x="203200" y="4114800"/>
              <a:ext cx="1625600" cy="914400"/>
            </a:xfrm>
            <a:prstGeom prst="rect">
              <a:avLst/>
            </a:prstGeom>
          </p:spPr>
        </p:pic>
      </p:grpSp>
      <p:grpSp>
        <p:nvGrpSpPr>
          <p:cNvPr id="14" name="Group 13"/>
          <p:cNvGrpSpPr/>
          <p:nvPr/>
        </p:nvGrpSpPr>
        <p:grpSpPr>
          <a:xfrm>
            <a:off x="4267200" y="685800"/>
            <a:ext cx="1828800" cy="1143000"/>
            <a:chOff x="7203440" y="5677622"/>
            <a:chExt cx="1828800" cy="1143000"/>
          </a:xfrm>
        </p:grpSpPr>
        <p:sp>
          <p:nvSpPr>
            <p:cNvPr id="15" name="Rectangle 14"/>
            <p:cNvSpPr/>
            <p:nvPr/>
          </p:nvSpPr>
          <p:spPr>
            <a:xfrm>
              <a:off x="7239000" y="6266624"/>
              <a:ext cx="179324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3000" dirty="0"/>
                <a:t>   </a:t>
              </a:r>
              <a:r>
                <a:rPr lang="en-US" altLang="zh-CN" sz="3000" b="1" dirty="0"/>
                <a:t>R—C— </a:t>
              </a:r>
            </a:p>
          </p:txBody>
        </p:sp>
        <p:pic>
          <p:nvPicPr>
            <p:cNvPr id="16" name="Picture 15" descr="137.3.gif"/>
            <p:cNvPicPr>
              <a:picLocks noChangeAspect="1"/>
            </p:cNvPicPr>
            <p:nvPr/>
          </p:nvPicPr>
          <p:blipFill>
            <a:blip r:embed="rId3"/>
            <a:srcRect t="48648" r="82979" b="34512"/>
            <a:stretch>
              <a:fillRect/>
            </a:stretch>
          </p:blipFill>
          <p:spPr>
            <a:xfrm>
              <a:off x="7203440" y="5677622"/>
              <a:ext cx="1788160" cy="738418"/>
            </a:xfrm>
            <a:prstGeom prst="rect">
              <a:avLst/>
            </a:prstGeom>
          </p:spPr>
        </p:pic>
      </p:grpSp>
      <p:sp>
        <p:nvSpPr>
          <p:cNvPr id="17" name="TextBox 16"/>
          <p:cNvSpPr txBox="1"/>
          <p:nvPr/>
        </p:nvSpPr>
        <p:spPr>
          <a:xfrm>
            <a:off x="5850966" y="1219200"/>
            <a:ext cx="13118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+</a:t>
            </a:r>
            <a:r>
              <a:rPr lang="en-US" altLang="zh-CN" sz="32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</a:t>
            </a:r>
            <a:r>
              <a:rPr lang="en-US" altLang="zh-CN" sz="3200" b="1" baseline="30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</a:t>
            </a:r>
            <a:r>
              <a:rPr lang="en-US" altLang="zh-CN" sz="32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endParaRPr lang="en-US" sz="3000" dirty="0"/>
          </a:p>
        </p:txBody>
      </p:sp>
      <p:sp>
        <p:nvSpPr>
          <p:cNvPr id="18" name="TextBox 17"/>
          <p:cNvSpPr txBox="1"/>
          <p:nvPr/>
        </p:nvSpPr>
        <p:spPr>
          <a:xfrm>
            <a:off x="7268191" y="1244025"/>
            <a:ext cx="19788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ym typeface="Wingdings" pitchFamily="2" charset="2"/>
              </a:rPr>
              <a:t>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RCO</a:t>
            </a:r>
            <a:r>
              <a:rPr lang="en-US" sz="32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OR</a:t>
            </a:r>
            <a:r>
              <a:rPr lang="en-US" sz="3200" b="1" baseline="30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’</a:t>
            </a:r>
            <a:endParaRPr lang="en-US" sz="30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1496" y="5344180"/>
            <a:ext cx="46891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最好是简单酐，即两个</a:t>
            </a:r>
            <a:r>
              <a:rPr lang="en-US" altLang="zh-CN" sz="28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R</a:t>
            </a:r>
            <a:r>
              <a:rPr lang="zh-CN" altLang="en-US" sz="28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一样</a:t>
            </a:r>
            <a:endParaRPr lang="en-US" sz="2800" b="1" dirty="0">
              <a:solidFill>
                <a:srgbClr val="FF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434385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7" grpId="0"/>
      <p:bldP spid="18" grpId="0"/>
      <p:bldP spid="1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34.2.4 </a:t>
            </a:r>
            <a:r>
              <a:rPr lang="zh-CN" altLang="en-US" sz="4000" b="1" dirty="0">
                <a:latin typeface="+mn-ea"/>
              </a:rPr>
              <a:t>酯类的制备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None/>
            </a:pPr>
            <a:r>
              <a:rPr lang="zh-CN" altLang="en-US" sz="2800" dirty="0"/>
              <a:t>练习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1.</a:t>
            </a:r>
            <a:r>
              <a:rPr lang="zh-CN" altLang="en-US" sz="2800" dirty="0"/>
              <a:t>写出乙酸</a:t>
            </a:r>
            <a:r>
              <a:rPr lang="en-US" altLang="zh-CN" sz="2800" dirty="0"/>
              <a:t>-2-</a:t>
            </a:r>
            <a:r>
              <a:rPr lang="zh-CN" altLang="en-US" sz="2800" dirty="0"/>
              <a:t>丙酯在碱性条件下的水解反应式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2. </a:t>
            </a:r>
            <a:r>
              <a:rPr lang="zh-CN" altLang="en-US" sz="2800" dirty="0"/>
              <a:t>写出甲酸丙酯被还原的反应式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3. </a:t>
            </a:r>
            <a:r>
              <a:rPr lang="zh-CN" altLang="en-US" sz="2800" dirty="0"/>
              <a:t>写出乙酰氯与苯甲醇反应的反应式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4. </a:t>
            </a:r>
            <a:r>
              <a:rPr lang="zh-CN" altLang="en-US" sz="2800" dirty="0"/>
              <a:t>乙酸酐与</a:t>
            </a:r>
            <a:r>
              <a:rPr lang="en-US" altLang="zh-CN" sz="2800" dirty="0"/>
              <a:t>2-</a:t>
            </a:r>
            <a:r>
              <a:rPr lang="zh-CN" altLang="en-US" sz="2800" dirty="0"/>
              <a:t>丙醇反应的反应式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3147731556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思考题 </a:t>
            </a:r>
            <a:r>
              <a:rPr lang="en-US" altLang="zh-CN" sz="4000" b="1" dirty="0">
                <a:latin typeface="+mn-ea"/>
              </a:rPr>
              <a:t>34b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AutoNum type="arabicPeriod"/>
            </a:pPr>
            <a:r>
              <a:rPr lang="en-US" altLang="zh-CN" sz="2800" dirty="0"/>
              <a:t>C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2800" dirty="0"/>
              <a:t>溴苯密度大于水，在下层；</a:t>
            </a:r>
            <a:endParaRPr lang="en-MY" altLang="zh-CN" sz="2800" dirty="0"/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2800" dirty="0"/>
              <a:t>乙酸乙酯密度小于水，在上层；</a:t>
            </a:r>
            <a:endParaRPr lang="en-MY" altLang="zh-CN" sz="2800" dirty="0"/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2800" dirty="0"/>
              <a:t>乙酸可溶于水。</a:t>
            </a:r>
            <a:endParaRPr lang="en-MY" altLang="zh-CN" sz="2800" dirty="0"/>
          </a:p>
          <a:p>
            <a:pPr marL="514350" indent="-514350">
              <a:spcBef>
                <a:spcPts val="600"/>
              </a:spcBef>
              <a:buAutoNum type="arabicPeriod" startAt="2"/>
            </a:pPr>
            <a:r>
              <a:rPr lang="zh-CN" altLang="en-US" sz="2800" dirty="0"/>
              <a:t>一个</a:t>
            </a:r>
            <a:r>
              <a:rPr lang="en-MY" altLang="zh-CN" sz="2800" baseline="30000" dirty="0"/>
              <a:t>18</a:t>
            </a:r>
            <a:r>
              <a:rPr lang="en-MY" altLang="zh-CN" sz="2800" dirty="0"/>
              <a:t>O</a:t>
            </a:r>
            <a:r>
              <a:rPr lang="en-US" altLang="zh-CN" sz="2800" dirty="0"/>
              <a:t> </a:t>
            </a:r>
            <a:r>
              <a:rPr lang="zh-CN" altLang="en-US" sz="2800" dirty="0"/>
              <a:t>含有</a:t>
            </a:r>
            <a:r>
              <a:rPr lang="en-MY" altLang="zh-CN" sz="2800" dirty="0"/>
              <a:t>10</a:t>
            </a:r>
            <a:r>
              <a:rPr lang="zh-CN" altLang="en-US" sz="2800" dirty="0"/>
              <a:t>个中子</a:t>
            </a:r>
            <a:endParaRPr lang="en-MY" altLang="zh-CN" sz="2800" dirty="0"/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800" dirty="0"/>
              <a:t>0.1mol</a:t>
            </a:r>
            <a:r>
              <a:rPr lang="zh-CN" altLang="en-US" sz="2800" dirty="0"/>
              <a:t>酯水解后生成</a:t>
            </a:r>
            <a:r>
              <a:rPr lang="en-US" altLang="zh-CN" sz="2800" dirty="0"/>
              <a:t>0.1mol</a:t>
            </a:r>
            <a:r>
              <a:rPr lang="zh-CN" altLang="en-US" sz="2800" dirty="0"/>
              <a:t>醇</a:t>
            </a:r>
            <a:endParaRPr lang="en-MY" altLang="zh-CN" sz="2800" dirty="0"/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2800" dirty="0"/>
              <a:t>乙醇的</a:t>
            </a:r>
            <a:r>
              <a:rPr lang="en-US" altLang="zh-CN" sz="2800" dirty="0"/>
              <a:t>O</a:t>
            </a:r>
            <a:r>
              <a:rPr lang="zh-CN" altLang="en-US" sz="2800" dirty="0"/>
              <a:t>原子为</a:t>
            </a:r>
            <a:r>
              <a:rPr lang="en-MY" altLang="zh-CN" sz="2800" baseline="30000" dirty="0"/>
              <a:t>18</a:t>
            </a:r>
            <a:r>
              <a:rPr lang="en-MY" altLang="zh-CN" sz="2800" dirty="0"/>
              <a:t>O</a:t>
            </a:r>
            <a:r>
              <a:rPr lang="en-US" altLang="zh-CN" sz="2800" dirty="0"/>
              <a:t> </a:t>
            </a:r>
            <a:r>
              <a:rPr lang="zh-CN" altLang="en-US" sz="2800" dirty="0"/>
              <a:t>，中子数</a:t>
            </a:r>
            <a:r>
              <a:rPr lang="en-US" altLang="zh-CN" sz="2800" dirty="0"/>
              <a:t>=0.1molx10 = 1mol	   Ans: C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800" dirty="0"/>
              <a:t>3. A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3000" dirty="0"/>
              <a:t>乙醇</a:t>
            </a:r>
            <a:r>
              <a:rPr lang="en-US" altLang="zh-CN" sz="3000" dirty="0"/>
              <a:t> </a:t>
            </a:r>
            <a:r>
              <a:rPr lang="en-US" altLang="zh-CN" sz="3000" dirty="0">
                <a:sym typeface="Wingdings" panose="05000000000000000000" pitchFamily="2" charset="2"/>
              </a:rPr>
              <a:t></a:t>
            </a:r>
            <a:r>
              <a:rPr lang="zh-CN" altLang="en-US" sz="3000" dirty="0"/>
              <a:t>乙烯</a:t>
            </a:r>
            <a:r>
              <a:rPr lang="en-US" altLang="zh-CN" sz="3000" dirty="0"/>
              <a:t> </a:t>
            </a:r>
            <a:r>
              <a:rPr lang="en-US" altLang="zh-CN" sz="3000" dirty="0">
                <a:sym typeface="Wingdings" panose="05000000000000000000" pitchFamily="2" charset="2"/>
              </a:rPr>
              <a:t> </a:t>
            </a:r>
            <a:r>
              <a:rPr lang="en-US" altLang="zh-CN" sz="3000" dirty="0"/>
              <a:t>1</a:t>
            </a:r>
            <a:r>
              <a:rPr lang="en-MY" altLang="zh-CN" sz="3000" dirty="0"/>
              <a:t>,</a:t>
            </a:r>
            <a:r>
              <a:rPr lang="en-US" altLang="zh-CN" sz="3000" dirty="0"/>
              <a:t>2-</a:t>
            </a:r>
            <a:r>
              <a:rPr lang="zh-CN" altLang="en-US" sz="3000" dirty="0"/>
              <a:t>二氯乙烷</a:t>
            </a:r>
            <a:r>
              <a:rPr lang="en-US" altLang="zh-CN" sz="3000" dirty="0"/>
              <a:t> </a:t>
            </a:r>
            <a:r>
              <a:rPr lang="en-US" altLang="zh-CN" sz="3000" dirty="0">
                <a:sym typeface="Wingdings" panose="05000000000000000000" pitchFamily="2" charset="2"/>
              </a:rPr>
              <a:t></a:t>
            </a:r>
            <a:r>
              <a:rPr lang="zh-CN" altLang="en-US" sz="3000" dirty="0"/>
              <a:t>乙二醇</a:t>
            </a:r>
            <a:r>
              <a:rPr lang="en-US" altLang="zh-CN" sz="3000" dirty="0"/>
              <a:t> </a:t>
            </a:r>
            <a:r>
              <a:rPr lang="en-US" altLang="zh-CN" sz="3000" dirty="0">
                <a:sym typeface="Wingdings" panose="05000000000000000000" pitchFamily="2" charset="2"/>
              </a:rPr>
              <a:t> </a:t>
            </a:r>
            <a:r>
              <a:rPr lang="zh-CN" altLang="en-US" sz="3000" dirty="0"/>
              <a:t>乙二酸</a:t>
            </a:r>
            <a:endParaRPr lang="en-US" altLang="zh-CN" sz="3000" dirty="0"/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3000" dirty="0"/>
              <a:t>乙二醇</a:t>
            </a:r>
            <a:r>
              <a:rPr lang="en-US" altLang="zh-CN" sz="3000" dirty="0"/>
              <a:t>+ </a:t>
            </a:r>
            <a:r>
              <a:rPr lang="zh-CN" altLang="en-US" sz="3000" dirty="0"/>
              <a:t>乙二酸</a:t>
            </a:r>
            <a:r>
              <a:rPr lang="en-US" altLang="zh-CN" sz="3000" dirty="0"/>
              <a:t> </a:t>
            </a:r>
            <a:r>
              <a:rPr lang="en-US" altLang="zh-CN" sz="3000" dirty="0">
                <a:sym typeface="Wingdings" panose="05000000000000000000" pitchFamily="2" charset="2"/>
              </a:rPr>
              <a:t></a:t>
            </a:r>
            <a:r>
              <a:rPr lang="zh-CN" altLang="en-US" sz="3000" dirty="0"/>
              <a:t>乙二酸乙二酯</a:t>
            </a:r>
            <a:r>
              <a:rPr lang="en-US" altLang="zh-CN" sz="3000" dirty="0"/>
              <a:t> </a:t>
            </a:r>
            <a:endParaRPr lang="en-MY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1838176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34.3 </a:t>
            </a:r>
            <a:r>
              <a:rPr lang="zh-CN" altLang="en-US" sz="4000" b="1" dirty="0">
                <a:latin typeface="+mn-ea"/>
              </a:rPr>
              <a:t>油酯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常温下，呈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固态</a:t>
            </a:r>
            <a:r>
              <a:rPr lang="zh-CN" altLang="en-US" sz="2800" dirty="0"/>
              <a:t>称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脂肪</a:t>
            </a:r>
            <a:r>
              <a:rPr lang="zh-CN" altLang="en-US" sz="2800" dirty="0"/>
              <a:t>，呈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液态</a:t>
            </a:r>
            <a:r>
              <a:rPr lang="zh-CN" altLang="en-US" sz="2800" dirty="0"/>
              <a:t>称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油。</a:t>
            </a:r>
            <a:endParaRPr lang="en-US" altLang="zh-CN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植物油脂通常液态，动物油脂通常固态。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脂肪和油统称为油脂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油脂：高级脂肪酸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甘油（丙三醇）生成的酯类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在生物体内它能被氧化而提供能量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1189793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34.3.1 </a:t>
            </a:r>
            <a:r>
              <a:rPr lang="zh-CN" altLang="en-US" sz="4000" b="1" dirty="0">
                <a:latin typeface="+mn-ea"/>
              </a:rPr>
              <a:t>油酯的组成和结构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油脂：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高级脂肪酸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甘油（丙三醇）生成的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甘油酯</a:t>
            </a:r>
            <a:endParaRPr lang="en-US" altLang="zh-CN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高级脂肪酸：硬脂酸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十八酸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、软脂酸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十六酸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endParaRPr lang="en-US" altLang="zh-CN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油酸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反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-9-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十八烯酸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altLang="zh-CN" sz="28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altLang="zh-CN" sz="28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28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、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</a:t>
            </a:r>
            <a:r>
              <a:rPr lang="en-US" altLang="zh-CN" sz="28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代表烃基</a:t>
            </a:r>
            <a:endParaRPr lang="en-US" altLang="zh-CN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越饱和，油脂的熔点越高 </a:t>
            </a:r>
            <a:endParaRPr lang="en-US" altLang="zh-CN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皆相同</a:t>
            </a:r>
            <a:r>
              <a:rPr lang="zh-CN" altLang="en-US" sz="2800" dirty="0"/>
              <a:t>，这油脂称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单甘油酯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不相同</a:t>
            </a:r>
            <a:r>
              <a:rPr lang="zh-CN" altLang="en-US" sz="2800" dirty="0"/>
              <a:t>，这油脂称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混甘油酯</a:t>
            </a:r>
            <a:endParaRPr lang="en-US" altLang="zh-CN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8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天然油脂</a:t>
            </a:r>
            <a:r>
              <a:rPr lang="zh-CN" altLang="en-US" sz="2800" dirty="0"/>
              <a:t>大都是混甘油酯，且大都是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多种混甘油酯</a:t>
            </a:r>
            <a:r>
              <a:rPr lang="zh-CN" altLang="en-US" sz="2800" dirty="0"/>
              <a:t>的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混合物</a:t>
            </a:r>
            <a:r>
              <a:rPr lang="zh-CN" altLang="en-US" sz="2800" dirty="0"/>
              <a:t>，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无固定熔、沸点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Picture 6" descr="159.2.jpg"/>
          <p:cNvPicPr>
            <a:picLocks noChangeAspect="1"/>
          </p:cNvPicPr>
          <p:nvPr/>
        </p:nvPicPr>
        <p:blipFill>
          <a:blip r:embed="rId3"/>
          <a:srcRect t="19531" r="60938" b="21875"/>
          <a:stretch>
            <a:fillRect/>
          </a:stretch>
        </p:blipFill>
        <p:spPr>
          <a:xfrm>
            <a:off x="5791200" y="2286000"/>
            <a:ext cx="2600960" cy="29260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5867400" y="2362200"/>
            <a:ext cx="1219200" cy="838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826457" y="2357735"/>
            <a:ext cx="2040943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高级脂肪酸的</a:t>
            </a:r>
            <a:endParaRPr lang="en-US" altLang="zh-CN" sz="2400" b="1" dirty="0">
              <a:solidFill>
                <a:srgbClr val="FF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zh-CN" altLang="en-US" sz="24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酰基</a:t>
            </a:r>
            <a:endParaRPr lang="en-US" sz="2000" b="1" dirty="0">
              <a:solidFill>
                <a:srgbClr val="FF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Oval 11"/>
          <p:cNvSpPr/>
          <p:nvPr/>
        </p:nvSpPr>
        <p:spPr>
          <a:xfrm>
            <a:off x="6858000" y="2438400"/>
            <a:ext cx="1752600" cy="2819400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858000" y="2057400"/>
            <a:ext cx="2040943" cy="46166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甘油的烷氧基</a:t>
            </a:r>
            <a:endParaRPr lang="en-US" sz="24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Oval 13"/>
          <p:cNvSpPr/>
          <p:nvPr/>
        </p:nvSpPr>
        <p:spPr>
          <a:xfrm>
            <a:off x="5867400" y="3276600"/>
            <a:ext cx="1219200" cy="838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943600" y="4191000"/>
            <a:ext cx="1219200" cy="914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4090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34.3.1 </a:t>
            </a:r>
            <a:r>
              <a:rPr lang="zh-CN" altLang="en-US" sz="4000" b="1" dirty="0">
                <a:latin typeface="+mn-ea"/>
              </a:rPr>
              <a:t>油酯的组成和结构</a:t>
            </a:r>
            <a:endParaRPr lang="en-US" sz="4000" b="1" dirty="0"/>
          </a:p>
        </p:txBody>
      </p:sp>
      <p:pic>
        <p:nvPicPr>
          <p:cNvPr id="5" name="Content Placeholder 4" descr="159.3.jp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4800" y="59703"/>
            <a:ext cx="8534400" cy="6738594"/>
          </a:xfrm>
        </p:spPr>
      </p:pic>
    </p:spTree>
    <p:extLst>
      <p:ext uri="{BB962C8B-B14F-4D97-AF65-F5344CB8AC3E}">
        <p14:creationId xmlns:p14="http://schemas.microsoft.com/office/powerpoint/2010/main" val="1276100774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34.3.2 </a:t>
            </a:r>
            <a:r>
              <a:rPr lang="zh-CN" altLang="en-US" sz="4000" b="1" dirty="0">
                <a:latin typeface="+mn-ea"/>
              </a:rPr>
              <a:t>油脂的物理性质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2800" dirty="0"/>
              <a:t>物理性质</a:t>
            </a:r>
            <a:endParaRPr lang="en-MY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密度：比水小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在水中溶解度：不溶于水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易溶于汽油、乙醚、苯等有机溶剂</a:t>
            </a:r>
            <a:endParaRPr lang="en-US" altLang="zh-CN" sz="2800" dirty="0"/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2800" dirty="0"/>
              <a:t>化学性质</a:t>
            </a:r>
            <a:endParaRPr lang="en-MY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油脂中的高级脂肪酸有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饱和脂肪酸和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不饱和脂肪酸</a:t>
            </a:r>
            <a:r>
              <a:rPr lang="zh-CN" altLang="en-US" sz="2800" dirty="0"/>
              <a:t>，因此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油脂兼有酯类和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烯烃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的化学性质</a:t>
            </a:r>
            <a:r>
              <a:rPr lang="zh-CN" altLang="en-US" sz="2800" dirty="0"/>
              <a:t>。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6473237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34.3.2 </a:t>
            </a:r>
            <a:r>
              <a:rPr lang="zh-CN" altLang="en-US" sz="4000" b="1" dirty="0">
                <a:latin typeface="+mn-ea"/>
              </a:rPr>
              <a:t>油脂的化学性质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None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油脂的氢化（油脂的硬化）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液态油</a:t>
            </a:r>
            <a:r>
              <a:rPr lang="en-US" altLang="zh-CN" sz="2800" dirty="0"/>
              <a:t>(</a:t>
            </a:r>
            <a:r>
              <a:rPr lang="zh-CN" altLang="en-US" sz="2800" dirty="0"/>
              <a:t>含</a:t>
            </a:r>
            <a:r>
              <a:rPr lang="en-US" altLang="zh-CN" sz="2800" dirty="0"/>
              <a:t>C=C</a:t>
            </a:r>
            <a:r>
              <a:rPr lang="zh-CN" altLang="en-US" sz="2800" dirty="0"/>
              <a:t>双键</a:t>
            </a:r>
            <a:r>
              <a:rPr lang="en-US" altLang="zh-CN" sz="2800" dirty="0"/>
              <a:t>)</a:t>
            </a:r>
            <a:r>
              <a:rPr lang="zh-CN" altLang="en-US" sz="2800" dirty="0"/>
              <a:t>可与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氢气、卤素</a:t>
            </a:r>
            <a:r>
              <a:rPr lang="zh-CN" altLang="en-US" sz="2800" dirty="0"/>
              <a:t>进行加成反应。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8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8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8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8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800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工业目的：硬化油性质稳定，不易变质，便于运输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硬化油的用途：制造肥皂、人造奶油、酥油</a:t>
            </a:r>
            <a:endParaRPr lang="en-US" altLang="zh-CN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2819400" y="3072825"/>
            <a:ext cx="11384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+ 3 H</a:t>
            </a:r>
            <a:r>
              <a:rPr lang="en-US" sz="2800" baseline="-25000" dirty="0"/>
              <a:t>2</a:t>
            </a:r>
            <a:r>
              <a:rPr lang="en-US" sz="2800" dirty="0"/>
              <a:t> 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3733800" y="3087469"/>
            <a:ext cx="1234748" cy="646331"/>
            <a:chOff x="2773372" y="5880279"/>
            <a:chExt cx="1234748" cy="646331"/>
          </a:xfrm>
        </p:grpSpPr>
        <p:cxnSp>
          <p:nvCxnSpPr>
            <p:cNvPr id="13" name="Straight Arrow Connector 12"/>
            <p:cNvCxnSpPr/>
            <p:nvPr/>
          </p:nvCxnSpPr>
          <p:spPr>
            <a:xfrm>
              <a:off x="2819400" y="6172117"/>
              <a:ext cx="11887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3017520" y="5880279"/>
              <a:ext cx="9144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/>
                <a:t>催化剂</a:t>
              </a:r>
              <a:endParaRPr lang="en-US" sz="1600" b="1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773372" y="6188056"/>
              <a:ext cx="12186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/>
                <a:t>加热、加压</a:t>
              </a:r>
              <a:endParaRPr lang="en-US" sz="1600" b="1" dirty="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33400" y="2209800"/>
            <a:ext cx="2194560" cy="2286000"/>
            <a:chOff x="914400" y="2209800"/>
            <a:chExt cx="1828800" cy="2286000"/>
          </a:xfrm>
        </p:grpSpPr>
        <p:pic>
          <p:nvPicPr>
            <p:cNvPr id="5" name="Picture 4" descr="161.jpg"/>
            <p:cNvPicPr>
              <a:picLocks noChangeAspect="1"/>
            </p:cNvPicPr>
            <p:nvPr/>
          </p:nvPicPr>
          <p:blipFill>
            <a:blip r:embed="rId3"/>
            <a:srcRect t="14815" r="73334" b="40741"/>
            <a:stretch>
              <a:fillRect/>
            </a:stretch>
          </p:blipFill>
          <p:spPr>
            <a:xfrm>
              <a:off x="914400" y="2209800"/>
              <a:ext cx="1828800" cy="2286000"/>
            </a:xfrm>
            <a:prstGeom prst="rect">
              <a:avLst/>
            </a:prstGeom>
          </p:spPr>
        </p:pic>
        <p:cxnSp>
          <p:nvCxnSpPr>
            <p:cNvPr id="17" name="Straight Connector 16"/>
            <p:cNvCxnSpPr/>
            <p:nvPr/>
          </p:nvCxnSpPr>
          <p:spPr>
            <a:xfrm rot="5400000">
              <a:off x="2254726" y="3077686"/>
              <a:ext cx="36576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5400000">
              <a:off x="2256314" y="3687286"/>
              <a:ext cx="36576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5105400" y="2209800"/>
            <a:ext cx="1920240" cy="2377440"/>
            <a:chOff x="5105400" y="2209800"/>
            <a:chExt cx="1600200" cy="2286000"/>
          </a:xfrm>
        </p:grpSpPr>
        <p:pic>
          <p:nvPicPr>
            <p:cNvPr id="8" name="Picture 7" descr="161.jpg"/>
            <p:cNvPicPr>
              <a:picLocks noChangeAspect="1"/>
            </p:cNvPicPr>
            <p:nvPr/>
          </p:nvPicPr>
          <p:blipFill>
            <a:blip r:embed="rId3"/>
            <a:srcRect l="63333" t="14815" r="13334" b="40741"/>
            <a:stretch>
              <a:fillRect/>
            </a:stretch>
          </p:blipFill>
          <p:spPr>
            <a:xfrm>
              <a:off x="5105400" y="2209800"/>
              <a:ext cx="1600200" cy="2286000"/>
            </a:xfrm>
            <a:prstGeom prst="rect">
              <a:avLst/>
            </a:prstGeom>
          </p:spPr>
        </p:pic>
        <p:cxnSp>
          <p:nvCxnSpPr>
            <p:cNvPr id="20" name="Straight Connector 19"/>
            <p:cNvCxnSpPr/>
            <p:nvPr/>
          </p:nvCxnSpPr>
          <p:spPr>
            <a:xfrm rot="5400000">
              <a:off x="6215538" y="3077686"/>
              <a:ext cx="36576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>
              <a:off x="6217126" y="3687286"/>
              <a:ext cx="36576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457200" y="4495800"/>
            <a:ext cx="30380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油酸：不饱和脂肪酸</a:t>
            </a:r>
            <a:endParaRPr lang="en-US" altLang="zh-CN" sz="24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24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油酸甘油酯：液态油</a:t>
            </a:r>
            <a:r>
              <a:rPr lang="en-US" sz="24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0589" y="4495800"/>
            <a:ext cx="36567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硬脂酸：饱和脂肪酸</a:t>
            </a:r>
            <a:endParaRPr lang="en-US" altLang="zh-CN" sz="24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硬脂酸甘油酯：固态脂肪</a:t>
            </a:r>
            <a:r>
              <a:rPr lang="en-US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129412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/>
      <p:bldP spid="23" grpId="0"/>
      <p:bldP spid="2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34.3.2 </a:t>
            </a:r>
            <a:r>
              <a:rPr lang="zh-CN" altLang="en-US" sz="4000" b="1" dirty="0">
                <a:latin typeface="+mn-ea"/>
              </a:rPr>
              <a:t>油脂的化学性质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2800" dirty="0"/>
              <a:t>思考：为把溴水中的溴单质萃取出来，应加入</a:t>
            </a:r>
            <a:r>
              <a:rPr lang="zh-CN" altLang="en-US" sz="2800" u="sng" dirty="0"/>
              <a:t>             </a:t>
            </a:r>
            <a:r>
              <a:rPr lang="zh-CN" altLang="en-US" sz="2800" baseline="-25000" dirty="0"/>
              <a:t>。</a:t>
            </a:r>
            <a:r>
              <a:rPr lang="en-US" altLang="zh-CN" sz="2800" dirty="0"/>
              <a:t> 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800" dirty="0"/>
              <a:t> A </a:t>
            </a:r>
            <a:r>
              <a:rPr lang="zh-CN" altLang="en-US" sz="2800" dirty="0"/>
              <a:t>甲苯</a:t>
            </a:r>
            <a:r>
              <a:rPr lang="en-US" altLang="zh-CN" sz="2800" dirty="0"/>
              <a:t>	B</a:t>
            </a:r>
            <a:r>
              <a:rPr lang="zh-CN" altLang="en-US" sz="2800" dirty="0"/>
              <a:t>苯酚溶液</a:t>
            </a:r>
            <a:r>
              <a:rPr lang="en-US" altLang="zh-CN" sz="2800" dirty="0"/>
              <a:t>		C </a:t>
            </a:r>
            <a:r>
              <a:rPr lang="zh-CN" altLang="en-US" sz="2800" dirty="0"/>
              <a:t>乙醇</a:t>
            </a:r>
            <a:r>
              <a:rPr lang="en-US" altLang="zh-CN" sz="2800" dirty="0"/>
              <a:t>	D</a:t>
            </a:r>
            <a:r>
              <a:rPr lang="zh-CN" altLang="en-US" sz="2800" dirty="0"/>
              <a:t>植物油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800" dirty="0"/>
              <a:t> </a:t>
            </a:r>
            <a:r>
              <a:rPr lang="zh-CN" altLang="en-US" sz="2800" dirty="0"/>
              <a:t>萃取剂必须与原溶剂互不相容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800" dirty="0"/>
              <a:t> </a:t>
            </a:r>
            <a:r>
              <a:rPr lang="zh-CN" altLang="en-US" sz="2800" dirty="0"/>
              <a:t>苯酚、植物油会于</a:t>
            </a:r>
            <a:r>
              <a:rPr lang="en-US" altLang="zh-CN" sz="2800" dirty="0"/>
              <a:t>Br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反应。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800" dirty="0"/>
              <a:t> </a:t>
            </a:r>
            <a:r>
              <a:rPr lang="en-US" altLang="zh-CN" sz="2800" dirty="0" err="1"/>
              <a:t>Ans</a:t>
            </a:r>
            <a:r>
              <a:rPr lang="zh-CN" altLang="en-US" sz="2800" dirty="0"/>
              <a:t>：</a:t>
            </a:r>
            <a:r>
              <a:rPr lang="en-US" altLang="zh-CN" sz="2800" dirty="0"/>
              <a:t>A</a:t>
            </a:r>
            <a:endParaRPr lang="en-US" altLang="zh-CN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15878984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34.3.2 </a:t>
            </a:r>
            <a:r>
              <a:rPr lang="zh-CN" altLang="en-US" sz="4000" b="1" dirty="0">
                <a:latin typeface="+mn-ea"/>
              </a:rPr>
              <a:t>油脂的化学性质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None/>
            </a:pPr>
            <a:r>
              <a:rPr lang="zh-CN" altLang="en-US" sz="2800" dirty="0"/>
              <a:t>油脂的酸败（氧化作用）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zh-CN" altLang="en-US" sz="2800" dirty="0"/>
              <a:t>原因：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1. 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微生物</a:t>
            </a:r>
            <a:r>
              <a:rPr lang="zh-CN" altLang="en-US" sz="2800" dirty="0"/>
              <a:t>将油脂水解为甘油和脂肪酸。脂肪酸再反应为带有臭味的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低级醛和酮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2. </a:t>
            </a:r>
            <a:r>
              <a:rPr lang="zh-CN" altLang="en-US" sz="2800" dirty="0"/>
              <a:t>不饱和油脂分子中的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C=C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双键</a:t>
            </a:r>
            <a:r>
              <a:rPr lang="zh-CN" altLang="en-US" sz="2800" dirty="0"/>
              <a:t>被空气氧化并分解为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低级醛和酮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zh-CN" altLang="en-US" sz="2800" dirty="0"/>
              <a:t>存储：密封、干燥、阴凉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zh-CN" altLang="en-US" sz="2800" dirty="0"/>
              <a:t>加工：</a:t>
            </a:r>
            <a:r>
              <a:rPr lang="en-US" altLang="zh-CN" sz="2800" dirty="0"/>
              <a:t>1. </a:t>
            </a:r>
            <a:r>
              <a:rPr lang="zh-CN" altLang="en-US" sz="2800" dirty="0"/>
              <a:t>加入少量抗氧化剂；</a:t>
            </a:r>
            <a:r>
              <a:rPr lang="en-US" altLang="zh-CN" sz="2800" dirty="0"/>
              <a:t>2.</a:t>
            </a:r>
            <a:r>
              <a:rPr lang="zh-CN" altLang="en-US" sz="2800" dirty="0"/>
              <a:t>将植物油硬化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77031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34.3.2 </a:t>
            </a:r>
            <a:r>
              <a:rPr lang="zh-CN" altLang="en-US" sz="4000" b="1" dirty="0">
                <a:latin typeface="+mn-ea"/>
              </a:rPr>
              <a:t>油脂的化学性质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800" dirty="0"/>
              <a:t>	</a:t>
            </a:r>
            <a:r>
              <a:rPr lang="zh-CN" altLang="en-US" sz="2800" dirty="0"/>
              <a:t>油脂的水解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800" dirty="0"/>
              <a:t>	</a:t>
            </a:r>
            <a:r>
              <a:rPr lang="zh-CN" altLang="en-US" sz="2800" dirty="0"/>
              <a:t>工业上，利用这反应原理制取高级脂肪酸和甘油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2800" dirty="0"/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None/>
            </a:pPr>
            <a:endParaRPr lang="en-US" altLang="zh-CN" sz="2800" dirty="0"/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None/>
            </a:pPr>
            <a:r>
              <a:rPr lang="en-US" altLang="zh-CN" sz="2800" dirty="0"/>
              <a:t>	</a:t>
            </a:r>
            <a:r>
              <a:rPr lang="zh-CN" altLang="en-US" sz="2800" dirty="0"/>
              <a:t>工业上，利用这反应原理制取肥皂</a:t>
            </a:r>
            <a:endParaRPr lang="en-US" altLang="zh-CN" sz="2800" dirty="0"/>
          </a:p>
        </p:txBody>
      </p:sp>
      <p:pic>
        <p:nvPicPr>
          <p:cNvPr id="8" name="Picture 7" descr="162.1.jpg"/>
          <p:cNvPicPr>
            <a:picLocks noChangeAspect="1"/>
          </p:cNvPicPr>
          <p:nvPr/>
        </p:nvPicPr>
        <p:blipFill>
          <a:blip r:embed="rId3"/>
          <a:srcRect l="5556" t="12963" r="47048" b="57407"/>
          <a:stretch>
            <a:fillRect/>
          </a:stretch>
        </p:blipFill>
        <p:spPr>
          <a:xfrm>
            <a:off x="533400" y="1418772"/>
            <a:ext cx="3962400" cy="1857828"/>
          </a:xfrm>
          <a:prstGeom prst="rect">
            <a:avLst/>
          </a:prstGeom>
        </p:spPr>
      </p:pic>
      <p:pic>
        <p:nvPicPr>
          <p:cNvPr id="9" name="Picture 8" descr="162.1.jpg"/>
          <p:cNvPicPr>
            <a:picLocks noChangeAspect="1"/>
          </p:cNvPicPr>
          <p:nvPr/>
        </p:nvPicPr>
        <p:blipFill>
          <a:blip r:embed="rId3"/>
          <a:srcRect t="44444" r="46296" b="28395"/>
          <a:stretch>
            <a:fillRect/>
          </a:stretch>
        </p:blipFill>
        <p:spPr>
          <a:xfrm>
            <a:off x="228600" y="4343400"/>
            <a:ext cx="4419600" cy="1676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321058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硬脂酸甘油酯</a:t>
            </a:r>
            <a:endParaRPr lang="en-US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2" name="Picture 11" descr="162.1.jpg"/>
          <p:cNvPicPr>
            <a:picLocks noChangeAspect="1"/>
          </p:cNvPicPr>
          <p:nvPr/>
        </p:nvPicPr>
        <p:blipFill>
          <a:blip r:embed="rId3"/>
          <a:srcRect l="52952" t="12963" r="6944" b="57407"/>
          <a:stretch>
            <a:fillRect/>
          </a:stretch>
        </p:blipFill>
        <p:spPr>
          <a:xfrm>
            <a:off x="4495800" y="1418772"/>
            <a:ext cx="3352800" cy="1857828"/>
          </a:xfrm>
          <a:prstGeom prst="rect">
            <a:avLst/>
          </a:prstGeom>
        </p:spPr>
      </p:pic>
      <p:pic>
        <p:nvPicPr>
          <p:cNvPr id="13" name="Picture 12" descr="162.1.jpg"/>
          <p:cNvPicPr>
            <a:picLocks noChangeAspect="1"/>
          </p:cNvPicPr>
          <p:nvPr/>
        </p:nvPicPr>
        <p:blipFill>
          <a:blip r:embed="rId3"/>
          <a:srcRect l="53704" t="44444" r="4167" b="28395"/>
          <a:stretch>
            <a:fillRect/>
          </a:stretch>
        </p:blipFill>
        <p:spPr>
          <a:xfrm>
            <a:off x="4648200" y="4343400"/>
            <a:ext cx="34671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016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34.3.4 </a:t>
            </a:r>
            <a:r>
              <a:rPr lang="zh-CN" altLang="en-US" sz="4000" b="1" dirty="0">
                <a:latin typeface="+mn-ea"/>
              </a:rPr>
              <a:t>肥皂与合成洗涤剂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2800" dirty="0"/>
          </a:p>
        </p:txBody>
      </p:sp>
      <p:pic>
        <p:nvPicPr>
          <p:cNvPr id="6" name="Picture 5" descr="16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066800"/>
            <a:ext cx="8650274" cy="545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78870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34.3.4 </a:t>
            </a:r>
            <a:r>
              <a:rPr lang="zh-CN" altLang="en-US" sz="4000" b="1" dirty="0">
                <a:latin typeface="+mn-ea"/>
              </a:rPr>
              <a:t>肥皂与合成洗涤剂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2800" dirty="0"/>
              <a:t>肥皂的去污原理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硬肥皂：高级脂肪酸钠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软肥皂：高级脂肪酸钾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高级脂肪酸盐可分为两个部分：</a:t>
            </a:r>
            <a:endParaRPr lang="en-US" altLang="zh-CN" sz="2800" dirty="0"/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极性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en-US" altLang="zh-CN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COONa</a:t>
            </a: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，亲水基（亲水端）</a:t>
            </a:r>
            <a:endParaRPr lang="en-US" altLang="zh-CN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1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非极性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-R</a:t>
            </a: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（链状烃基），憎水基（亲油端）</a:t>
            </a:r>
            <a:endParaRPr lang="en-US" altLang="zh-CN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9919072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34.3.4 </a:t>
            </a:r>
            <a:r>
              <a:rPr lang="zh-CN" altLang="en-US" sz="4000" b="1" dirty="0">
                <a:latin typeface="+mn-ea"/>
              </a:rPr>
              <a:t>肥皂与合成洗涤剂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2800" dirty="0"/>
              <a:t>肥皂的去污原理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2800" dirty="0"/>
          </a:p>
        </p:txBody>
      </p:sp>
      <p:pic>
        <p:nvPicPr>
          <p:cNvPr id="13" name="Picture 12" descr="165.jpg"/>
          <p:cNvPicPr>
            <a:picLocks noChangeAspect="1"/>
          </p:cNvPicPr>
          <p:nvPr/>
        </p:nvPicPr>
        <p:blipFill>
          <a:blip r:embed="rId3"/>
          <a:srcRect t="24573" b="26280"/>
          <a:stretch>
            <a:fillRect/>
          </a:stretch>
        </p:blipFill>
        <p:spPr>
          <a:xfrm>
            <a:off x="417689" y="2057400"/>
            <a:ext cx="8269111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800382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34.3.4 </a:t>
            </a:r>
            <a:r>
              <a:rPr lang="zh-CN" altLang="en-US" sz="4000" b="1" dirty="0">
                <a:latin typeface="+mn-ea"/>
              </a:rPr>
              <a:t>肥皂与合成洗涤剂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2800" dirty="0"/>
              <a:t>肥皂的去污原理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2800" dirty="0"/>
          </a:p>
        </p:txBody>
      </p:sp>
      <p:pic>
        <p:nvPicPr>
          <p:cNvPr id="5" name="Picture 4" descr="164.jpg"/>
          <p:cNvPicPr>
            <a:picLocks noChangeAspect="1"/>
          </p:cNvPicPr>
          <p:nvPr/>
        </p:nvPicPr>
        <p:blipFill>
          <a:blip r:embed="rId3"/>
          <a:srcRect r="51667" b="57037"/>
          <a:stretch>
            <a:fillRect/>
          </a:stretch>
        </p:blipFill>
        <p:spPr>
          <a:xfrm>
            <a:off x="152400" y="1752600"/>
            <a:ext cx="4419600" cy="2209800"/>
          </a:xfrm>
          <a:prstGeom prst="rect">
            <a:avLst/>
          </a:prstGeom>
        </p:spPr>
      </p:pic>
      <p:pic>
        <p:nvPicPr>
          <p:cNvPr id="6" name="Picture 5" descr="164.jpg"/>
          <p:cNvPicPr>
            <a:picLocks noChangeAspect="1"/>
          </p:cNvPicPr>
          <p:nvPr/>
        </p:nvPicPr>
        <p:blipFill>
          <a:blip r:embed="rId3"/>
          <a:srcRect l="51667" b="57037"/>
          <a:stretch>
            <a:fillRect/>
          </a:stretch>
        </p:blipFill>
        <p:spPr>
          <a:xfrm>
            <a:off x="4495800" y="1752600"/>
            <a:ext cx="4419600" cy="2209800"/>
          </a:xfrm>
          <a:prstGeom prst="rect">
            <a:avLst/>
          </a:prstGeom>
        </p:spPr>
      </p:pic>
      <p:pic>
        <p:nvPicPr>
          <p:cNvPr id="7" name="Picture 6" descr="164.jpg"/>
          <p:cNvPicPr>
            <a:picLocks noChangeAspect="1"/>
          </p:cNvPicPr>
          <p:nvPr/>
        </p:nvPicPr>
        <p:blipFill>
          <a:blip r:embed="rId3"/>
          <a:srcRect t="41481" r="50833" b="3703"/>
          <a:stretch>
            <a:fillRect/>
          </a:stretch>
        </p:blipFill>
        <p:spPr>
          <a:xfrm>
            <a:off x="152400" y="3810000"/>
            <a:ext cx="4495800" cy="2819400"/>
          </a:xfrm>
          <a:prstGeom prst="rect">
            <a:avLst/>
          </a:prstGeom>
        </p:spPr>
      </p:pic>
      <p:pic>
        <p:nvPicPr>
          <p:cNvPr id="8" name="Picture 7" descr="164.jpg"/>
          <p:cNvPicPr>
            <a:picLocks noChangeAspect="1"/>
          </p:cNvPicPr>
          <p:nvPr/>
        </p:nvPicPr>
        <p:blipFill>
          <a:blip r:embed="rId3"/>
          <a:srcRect l="52500" t="45926" b="741"/>
          <a:stretch>
            <a:fillRect/>
          </a:stretch>
        </p:blipFill>
        <p:spPr>
          <a:xfrm>
            <a:off x="4495800" y="3886200"/>
            <a:ext cx="43434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676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34.3.4 </a:t>
            </a:r>
            <a:r>
              <a:rPr lang="zh-CN" altLang="en-US" sz="4000" b="1" dirty="0">
                <a:latin typeface="+mn-ea"/>
              </a:rPr>
              <a:t>肥皂与合成洗涤剂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肥皂的缺点</a:t>
            </a:r>
            <a:r>
              <a:rPr lang="en-US" altLang="zh-CN" sz="2800" dirty="0"/>
              <a:t>: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zh-CN" altLang="en-US" sz="2800" dirty="0"/>
              <a:t>不适合在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硬水</a:t>
            </a:r>
            <a:r>
              <a:rPr lang="zh-CN" altLang="en-US" sz="2800" dirty="0"/>
              <a:t>（含有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</a:t>
            </a:r>
            <a:r>
              <a:rPr lang="en-US" altLang="zh-CN" sz="2800" b="1" baseline="30000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2+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Mg</a:t>
            </a:r>
            <a:r>
              <a:rPr lang="en-US" altLang="zh-CN" sz="2800" b="1" baseline="30000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2+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2800" dirty="0"/>
              <a:t>）中使用。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800" dirty="0"/>
              <a:t>	</a:t>
            </a:r>
            <a:r>
              <a:rPr lang="en-US" altLang="zh-CN" sz="2400" dirty="0"/>
              <a:t>RCOO</a:t>
            </a:r>
            <a:r>
              <a:rPr lang="en-US" altLang="zh-CN" sz="2400" baseline="30000" dirty="0"/>
              <a:t>-</a:t>
            </a:r>
            <a:r>
              <a:rPr lang="en-US" altLang="zh-CN" sz="2400" dirty="0"/>
              <a:t> (</a:t>
            </a:r>
            <a:r>
              <a:rPr lang="en-US" altLang="zh-CN" sz="2400" dirty="0" err="1"/>
              <a:t>aq</a:t>
            </a:r>
            <a:r>
              <a:rPr lang="en-US" altLang="zh-CN" sz="2400" dirty="0"/>
              <a:t>) + Ca</a:t>
            </a:r>
            <a:r>
              <a:rPr lang="en-US" altLang="zh-CN" sz="2400" baseline="30000" dirty="0"/>
              <a:t>2+</a:t>
            </a:r>
            <a:r>
              <a:rPr lang="en-US" altLang="zh-CN" sz="2400" dirty="0"/>
              <a:t> (</a:t>
            </a:r>
            <a:r>
              <a:rPr lang="en-US" altLang="zh-CN" sz="2400" dirty="0" err="1"/>
              <a:t>aq</a:t>
            </a:r>
            <a:r>
              <a:rPr lang="en-US" altLang="zh-CN" sz="2400" dirty="0"/>
              <a:t>) </a:t>
            </a:r>
            <a:r>
              <a:rPr lang="en-US" altLang="zh-CN" sz="2400" dirty="0">
                <a:sym typeface="Wingdings" pitchFamily="2" charset="2"/>
              </a:rPr>
              <a:t> (RCOO)</a:t>
            </a:r>
            <a:r>
              <a:rPr lang="en-US" altLang="zh-CN" sz="2400" baseline="-25000" dirty="0">
                <a:sym typeface="Wingdings" pitchFamily="2" charset="2"/>
              </a:rPr>
              <a:t>2</a:t>
            </a:r>
            <a:r>
              <a:rPr lang="en-US" altLang="zh-CN" sz="2400" dirty="0">
                <a:sym typeface="Wingdings" pitchFamily="2" charset="2"/>
              </a:rPr>
              <a:t>Ca (s)</a:t>
            </a:r>
            <a:endParaRPr lang="en-US" altLang="zh-CN" sz="2400" dirty="0"/>
          </a:p>
          <a:p>
            <a:pPr marL="514350" lvl="1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400" dirty="0"/>
              <a:t>	RCOO</a:t>
            </a:r>
            <a:r>
              <a:rPr lang="en-US" altLang="zh-CN" sz="2400" baseline="30000" dirty="0"/>
              <a:t>-</a:t>
            </a:r>
            <a:r>
              <a:rPr lang="en-US" altLang="zh-CN" sz="2400" dirty="0"/>
              <a:t> (</a:t>
            </a:r>
            <a:r>
              <a:rPr lang="en-US" altLang="zh-CN" sz="2400" dirty="0" err="1"/>
              <a:t>aq</a:t>
            </a:r>
            <a:r>
              <a:rPr lang="en-US" altLang="zh-CN" sz="2400" dirty="0"/>
              <a:t>) + Mg</a:t>
            </a:r>
            <a:r>
              <a:rPr lang="en-US" altLang="zh-CN" sz="2400" baseline="30000" dirty="0"/>
              <a:t>2+</a:t>
            </a:r>
            <a:r>
              <a:rPr lang="en-US" altLang="zh-CN" sz="2400" dirty="0"/>
              <a:t> (</a:t>
            </a:r>
            <a:r>
              <a:rPr lang="en-US" altLang="zh-CN" sz="2400" dirty="0" err="1"/>
              <a:t>aq</a:t>
            </a:r>
            <a:r>
              <a:rPr lang="en-US" altLang="zh-CN" sz="2400" dirty="0"/>
              <a:t>) </a:t>
            </a:r>
            <a:r>
              <a:rPr lang="en-US" altLang="zh-CN" sz="2400" dirty="0">
                <a:sym typeface="Wingdings" pitchFamily="2" charset="2"/>
              </a:rPr>
              <a:t> (RCOO)</a:t>
            </a:r>
            <a:r>
              <a:rPr lang="en-US" altLang="zh-CN" sz="2400" baseline="-25000" dirty="0">
                <a:sym typeface="Wingdings" pitchFamily="2" charset="2"/>
              </a:rPr>
              <a:t>2</a:t>
            </a:r>
            <a:r>
              <a:rPr lang="en-US" altLang="zh-CN" sz="2400" dirty="0">
                <a:sym typeface="Wingdings" pitchFamily="2" charset="2"/>
              </a:rPr>
              <a:t>Mg (s)</a:t>
            </a:r>
            <a:endParaRPr lang="en-US" altLang="zh-CN" sz="24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800" dirty="0"/>
              <a:t>	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浪费肥皂、钙盐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镁盐沉淀粘附在衣物上</a:t>
            </a:r>
            <a:endParaRPr lang="en-US" altLang="zh-CN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800" dirty="0"/>
              <a:t>2. </a:t>
            </a:r>
            <a:r>
              <a:rPr lang="zh-CN" altLang="en-US" sz="2800" dirty="0"/>
              <a:t>制造肥皂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消耗大量油脂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6864869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34.3.4 </a:t>
            </a:r>
            <a:r>
              <a:rPr lang="zh-CN" altLang="en-US" sz="4000" b="1" dirty="0">
                <a:latin typeface="+mn-ea"/>
              </a:rPr>
              <a:t>肥皂与合成洗涤剂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2800" dirty="0"/>
              <a:t>合成洗涤剂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原料：石油化工产品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组成：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憎水基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和</a:t>
            </a:r>
            <a:r>
              <a:rPr lang="zh-CN" altLang="en-US" sz="28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亲水基</a:t>
            </a:r>
            <a:r>
              <a:rPr lang="zh-CN" altLang="en-US" sz="2800" dirty="0"/>
              <a:t>（与肥皂相似）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2800" dirty="0"/>
          </a:p>
        </p:txBody>
      </p:sp>
      <p:pic>
        <p:nvPicPr>
          <p:cNvPr id="6" name="Picture 5" descr="165.2.jpg"/>
          <p:cNvPicPr>
            <a:picLocks noChangeAspect="1"/>
          </p:cNvPicPr>
          <p:nvPr/>
        </p:nvPicPr>
        <p:blipFill>
          <a:blip r:embed="rId3"/>
          <a:srcRect t="35807" r="11642" b="2344"/>
          <a:stretch>
            <a:fillRect/>
          </a:stretch>
        </p:blipFill>
        <p:spPr>
          <a:xfrm>
            <a:off x="1371600" y="3505200"/>
            <a:ext cx="5181600" cy="27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1790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atin typeface="+mn-ea"/>
              </a:rPr>
              <a:t>34.3.4 </a:t>
            </a:r>
            <a:r>
              <a:rPr lang="zh-CN" altLang="en-US" sz="4000" b="1" dirty="0">
                <a:latin typeface="+mn-ea"/>
              </a:rPr>
              <a:t>肥皂与合成洗涤剂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143000"/>
            <a:ext cx="9067800" cy="57150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2800" dirty="0"/>
              <a:t>合成洗涤剂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优点</a:t>
            </a:r>
            <a:r>
              <a:rPr lang="en-MY" altLang="zh-CN" sz="2800" dirty="0"/>
              <a:t>:</a:t>
            </a:r>
            <a:r>
              <a:rPr lang="zh-CN" altLang="en-US" sz="2800" dirty="0"/>
              <a:t>去污能力更强、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可在硬水中使用、原料廉价易得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缺点：性质稳定，不易被分解，污染水源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改良：用直链烃基代替洗涤剂分子中的支链烃基，</a:t>
            </a:r>
            <a:endParaRPr lang="en-MY" altLang="zh-CN" sz="2800" dirty="0"/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MY" altLang="zh-CN" sz="2800" dirty="0"/>
              <a:t>		</a:t>
            </a:r>
            <a:r>
              <a:rPr lang="zh-CN" altLang="en-US" sz="2800" dirty="0"/>
              <a:t>目前洗涤剂多能被微生物分解。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制取：苯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烷基苯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烷基苯磺酸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烷基苯磺酸钠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970981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思考题 </a:t>
            </a:r>
            <a:r>
              <a:rPr lang="en-US" altLang="zh-CN" sz="4000" b="1" dirty="0">
                <a:latin typeface="+mn-ea"/>
              </a:rPr>
              <a:t>34c</a:t>
            </a:r>
            <a:endParaRPr lang="en-U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685800"/>
                <a:ext cx="8686800" cy="5715000"/>
              </a:xfrm>
            </p:spPr>
            <p:txBody>
              <a:bodyPr>
                <a:noAutofit/>
              </a:bodyPr>
              <a:lstStyle/>
              <a:p>
                <a:pPr marL="514350" indent="-514350">
                  <a:spcBef>
                    <a:spcPts val="600"/>
                  </a:spcBef>
                  <a:buAutoNum type="arabicPeriod"/>
                </a:pPr>
                <a:r>
                  <a:rPr lang="en-US" altLang="zh-CN" sz="2800" dirty="0"/>
                  <a:t>A </a:t>
                </a:r>
              </a:p>
              <a:p>
                <a:pPr marL="514350" indent="-514350">
                  <a:spcBef>
                    <a:spcPts val="600"/>
                  </a:spcBef>
                  <a:buAutoNum type="arabicPeriod"/>
                </a:pPr>
                <a:r>
                  <a:rPr lang="en-US" altLang="zh-CN" sz="2800" dirty="0"/>
                  <a:t>D </a:t>
                </a:r>
              </a:p>
              <a:p>
                <a:pPr marL="514350" indent="-514350">
                  <a:spcBef>
                    <a:spcPts val="600"/>
                  </a:spcBef>
                  <a:buAutoNum type="arabicPeriod"/>
                </a:pPr>
                <a:r>
                  <a:rPr lang="zh-CN" altLang="en-US" sz="2800" dirty="0"/>
                  <a:t>设该天然酯为</a:t>
                </a:r>
                <a:r>
                  <a:rPr lang="en-US" altLang="zh-CN" sz="2800" dirty="0"/>
                  <a:t>X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altLang="zh-CN" sz="2800" dirty="0"/>
                  <a:t>	X     +    3NaOH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altLang="zh-CN" sz="2800" dirty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g</m:t>
                        </m:r>
                      </m:num>
                      <m:den>
                        <m:r>
                          <a:rPr lang="en-MY" altLang="zh-CN" sz="2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MY" altLang="zh-CN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altLang="zh-CN" sz="2800" dirty="0"/>
                  <a:t>	    1.8g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altLang="zh-CN" sz="2800" dirty="0"/>
                  <a:t>	1mol 	     3x40g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altLang="zh-CN" sz="2800" dirty="0"/>
                  <a:t>      M = 666.67g/mol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altLang="zh-CN" sz="2800" dirty="0"/>
                  <a:t>1000g X </a:t>
                </a:r>
                <a:r>
                  <a:rPr lang="zh-CN" altLang="en-US" sz="2800" dirty="0"/>
                  <a:t>物质的量 </a:t>
                </a:r>
                <a:r>
                  <a:rPr lang="en-US" altLang="zh-CN" sz="2800" dirty="0"/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1000</m:t>
                        </m:r>
                        <m:r>
                          <m:rPr>
                            <m:sty m:val="p"/>
                          </m:rPr>
                          <a:rPr lang="en-US" altLang="zh-CN" sz="2800" i="1">
                            <a:latin typeface="Cambria Math" panose="02040503050406030204" pitchFamily="18" charset="0"/>
                          </a:rPr>
                          <m:t>g</m:t>
                        </m:r>
                      </m:num>
                      <m:den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666.67</m:t>
                        </m:r>
                        <m:r>
                          <a:rPr lang="en-MY" altLang="zh-CN" sz="2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MY" altLang="zh-CN" sz="2800" i="1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altLang="zh-CN" sz="2800" dirty="0"/>
                  <a:t> = 1.5mol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altLang="zh-CN" sz="2800" dirty="0"/>
                  <a:t>n</a:t>
                </a:r>
                <a:r>
                  <a:rPr lang="en-MY" altLang="zh-CN" sz="2800" dirty="0"/>
                  <a:t>(X) : n(H</a:t>
                </a:r>
                <a:r>
                  <a:rPr lang="en-MY" altLang="zh-CN" sz="2800" baseline="-25000" dirty="0"/>
                  <a:t>2</a:t>
                </a:r>
                <a:r>
                  <a:rPr lang="en-MY" altLang="zh-CN" sz="2800" dirty="0"/>
                  <a:t>) = 1.5mol : 6mol 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MY" altLang="zh-CN" sz="2800" dirty="0"/>
                  <a:t>	         = 1:4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zh-CN" altLang="en-US" sz="2800" dirty="0"/>
                  <a:t>答：</a:t>
                </a:r>
                <a:r>
                  <a:rPr lang="en-US" altLang="zh-CN" sz="2800" dirty="0"/>
                  <a:t>1mol</a:t>
                </a:r>
                <a:r>
                  <a:rPr lang="zh-CN" altLang="en-US" sz="2800" dirty="0"/>
                  <a:t>该油脂平均含</a:t>
                </a:r>
                <a:r>
                  <a:rPr lang="en-US" altLang="zh-CN" sz="2800" dirty="0"/>
                  <a:t>4molC=C</a:t>
                </a:r>
                <a:r>
                  <a:rPr lang="zh-CN" altLang="en-US" sz="2800" dirty="0"/>
                  <a:t>双键。</a:t>
                </a:r>
                <a:endParaRPr lang="en-US" altLang="zh-CN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685800"/>
                <a:ext cx="8686800" cy="5715000"/>
              </a:xfrm>
              <a:blipFill>
                <a:blip r:embed="rId3"/>
                <a:stretch>
                  <a:fillRect l="-1474" t="-1174" b="-7364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56929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MY" altLang="zh-CN" sz="4000" b="1" dirty="0">
                <a:latin typeface="+mn-ea"/>
              </a:rPr>
              <a:t>34.4 </a:t>
            </a:r>
            <a:r>
              <a:rPr lang="zh-CN" altLang="en-US" sz="4000" b="1" dirty="0">
                <a:latin typeface="+mn-ea"/>
              </a:rPr>
              <a:t>蛋白质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/>
              <a:t>天然蛋白质水解后得到的氨基酸均为</a:t>
            </a:r>
            <a:r>
              <a:rPr lang="el-GR" altLang="zh-CN" sz="2800" dirty="0"/>
              <a:t>α</a:t>
            </a:r>
            <a:r>
              <a:rPr lang="en-US" altLang="zh-CN" sz="2800" dirty="0"/>
              <a:t>-</a:t>
            </a:r>
            <a:r>
              <a:rPr lang="zh-CN" altLang="en-US" sz="2800" dirty="0"/>
              <a:t>氨基酸。</a:t>
            </a:r>
            <a:endParaRPr lang="en-MY" altLang="zh-CN" sz="2800" dirty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l-GR" altLang="zh-CN" sz="2800" dirty="0"/>
              <a:t>α</a:t>
            </a:r>
            <a:r>
              <a:rPr lang="en-US" altLang="zh-CN" sz="2800" dirty="0"/>
              <a:t>-</a:t>
            </a:r>
            <a:r>
              <a:rPr lang="zh-CN" altLang="en-US" sz="2800" dirty="0"/>
              <a:t>氨基酸：分子中氨基和羧基链接在同一个</a:t>
            </a:r>
            <a:r>
              <a:rPr lang="en-US" altLang="zh-CN" sz="2800" dirty="0"/>
              <a:t>C</a:t>
            </a:r>
            <a:r>
              <a:rPr lang="zh-CN" altLang="en-US" sz="2800" dirty="0"/>
              <a:t>原子上。</a:t>
            </a:r>
            <a:endParaRPr lang="en-MY" altLang="zh-CN" sz="2800" dirty="0"/>
          </a:p>
          <a:p>
            <a:pPr marL="0" indent="0">
              <a:spcBef>
                <a:spcPts val="600"/>
              </a:spcBef>
              <a:buNone/>
            </a:pPr>
            <a:endParaRPr lang="en-MY" altLang="zh-CN" sz="2800" dirty="0"/>
          </a:p>
          <a:p>
            <a:pPr marL="0" indent="0">
              <a:spcBef>
                <a:spcPts val="600"/>
              </a:spcBef>
              <a:buNone/>
            </a:pPr>
            <a:endParaRPr lang="en-MY" altLang="zh-CN" sz="2800" dirty="0"/>
          </a:p>
          <a:p>
            <a:pPr marL="0" indent="0">
              <a:spcBef>
                <a:spcPts val="600"/>
              </a:spcBef>
              <a:buNone/>
            </a:pPr>
            <a:endParaRPr lang="en-MY" altLang="zh-CN" sz="2800" dirty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800" dirty="0"/>
              <a:t>20</a:t>
            </a:r>
            <a:r>
              <a:rPr lang="zh-CN" altLang="en-US" sz="2800" dirty="0"/>
              <a:t>中常见氨基酸中，除甘氨酸外，其余都是</a:t>
            </a:r>
            <a:r>
              <a:rPr lang="en-US" altLang="zh-CN" sz="2800" dirty="0"/>
              <a:t>L-</a:t>
            </a:r>
            <a:r>
              <a:rPr lang="zh-CN" altLang="en-US" sz="2800" dirty="0"/>
              <a:t>型手性分子。</a:t>
            </a:r>
            <a:endParaRPr lang="en-MY" altLang="zh-CN" sz="2800" dirty="0"/>
          </a:p>
          <a:p>
            <a:pPr marL="514350" indent="-514350">
              <a:spcBef>
                <a:spcPts val="600"/>
              </a:spcBef>
              <a:buNone/>
            </a:pPr>
            <a:endParaRPr lang="en-US" altLang="zh-C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82A804-FA27-411F-9BB1-8BD5EE3A8C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2057377"/>
            <a:ext cx="3505200" cy="16978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590129-D642-42C9-8E63-37E4CBC2C4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4193498"/>
            <a:ext cx="3257691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9621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MY" altLang="zh-CN" sz="4000" b="1" dirty="0">
                <a:latin typeface="+mn-ea"/>
              </a:rPr>
              <a:t>34.4 </a:t>
            </a:r>
            <a:r>
              <a:rPr lang="zh-CN" altLang="en-US" sz="4000" b="1" dirty="0">
                <a:latin typeface="+mn-ea"/>
              </a:rPr>
              <a:t>蛋白质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2800" dirty="0"/>
              <a:t>氨基酸的性质</a:t>
            </a:r>
            <a:endParaRPr lang="en-MY" altLang="zh-CN" sz="2800" dirty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/>
              <a:t>氨基酸的氨基具有碱性，羧基具有酸性。</a:t>
            </a:r>
            <a:endParaRPr lang="en-MY" altLang="zh-CN" sz="2800" dirty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/>
              <a:t>氨基酸是两性化合物：能与酸反应生成盐和水，也能与碱反应生成盐和水。</a:t>
            </a:r>
            <a:endParaRPr lang="en-MY" altLang="zh-CN" sz="2800" dirty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/>
              <a:t>氨基酸可形成内盐。</a:t>
            </a:r>
            <a:endParaRPr lang="en-MY" altLang="zh-CN" sz="2800" dirty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/>
              <a:t>物理性质：无色晶体、一般易溶于水、难溶于有机溶剂、熔点一般高于</a:t>
            </a:r>
            <a:r>
              <a:rPr lang="en-US" altLang="zh-CN" sz="2800" dirty="0"/>
              <a:t>200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C</a:t>
            </a:r>
            <a:r>
              <a:rPr lang="zh-CN" altLang="en-US" sz="2800" dirty="0"/>
              <a:t>，温度高于</a:t>
            </a:r>
            <a:r>
              <a:rPr lang="en-US" altLang="zh-CN" sz="2800" dirty="0"/>
              <a:t>300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C</a:t>
            </a:r>
            <a:r>
              <a:rPr lang="zh-CN" altLang="en-US" sz="2800" dirty="0"/>
              <a:t>时会分解。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4650568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MY" altLang="zh-CN" sz="4000" b="1" dirty="0">
                <a:latin typeface="+mn-ea"/>
              </a:rPr>
              <a:t>34.4 </a:t>
            </a:r>
            <a:r>
              <a:rPr lang="zh-CN" altLang="en-US" sz="4000" b="1" dirty="0">
                <a:latin typeface="+mn-ea"/>
              </a:rPr>
              <a:t>蛋白质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2800" dirty="0"/>
              <a:t>肽</a:t>
            </a:r>
            <a:endParaRPr lang="en-MY" altLang="zh-CN" sz="2800" dirty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/>
              <a:t>肽键又称酰胺键（</a:t>
            </a:r>
            <a:r>
              <a:rPr lang="en-US" altLang="zh-CN" sz="2800" dirty="0"/>
              <a:t>-NHCO-</a:t>
            </a:r>
            <a:r>
              <a:rPr lang="zh-CN" altLang="en-US" sz="2800" dirty="0"/>
              <a:t>）。</a:t>
            </a:r>
            <a:endParaRPr lang="en-MY" altLang="zh-CN" sz="2800" dirty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/>
              <a:t>氨基酸残基：组成肽的氨基酸单元</a:t>
            </a:r>
            <a:endParaRPr lang="en-MY" altLang="zh-CN" sz="2800" dirty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/>
              <a:t>多肽：</a:t>
            </a:r>
            <a:r>
              <a:rPr lang="en-US" altLang="zh-CN" sz="2800" dirty="0"/>
              <a:t>n</a:t>
            </a:r>
            <a:r>
              <a:rPr lang="zh-CN" altLang="en-US" sz="2800" dirty="0"/>
              <a:t>个氨基酸分子经过缩合反应生成</a:t>
            </a:r>
            <a:endParaRPr lang="en-MY" altLang="zh-CN" sz="2800" dirty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/>
              <a:t>一般所含的氨基酸残基少于</a:t>
            </a:r>
            <a:r>
              <a:rPr lang="en-US" altLang="zh-CN" sz="2800" dirty="0"/>
              <a:t>100</a:t>
            </a:r>
            <a:r>
              <a:rPr lang="zh-CN" altLang="en-US" sz="2800" dirty="0"/>
              <a:t>个：多肽</a:t>
            </a:r>
            <a:endParaRPr lang="en-MY" altLang="zh-CN" sz="2800" dirty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/>
              <a:t>一般所含的氨基酸残基多于</a:t>
            </a:r>
            <a:r>
              <a:rPr lang="en-US" altLang="zh-CN" sz="2800" dirty="0"/>
              <a:t>100</a:t>
            </a:r>
            <a:r>
              <a:rPr lang="zh-CN" altLang="en-US" sz="2800" dirty="0"/>
              <a:t>个：蛋白质</a:t>
            </a:r>
            <a:endParaRPr lang="en-MY" altLang="zh-C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12A91E-E6CB-4CA4-A25F-CC0158A672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923108"/>
            <a:ext cx="7620000" cy="593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0938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思考题 </a:t>
            </a:r>
            <a:r>
              <a:rPr lang="en-US" altLang="zh-CN" sz="4000" b="1" dirty="0">
                <a:latin typeface="+mn-ea"/>
              </a:rPr>
              <a:t>34d</a:t>
            </a:r>
            <a:endParaRPr lang="en-U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143000"/>
                <a:ext cx="8686800" cy="5715000"/>
              </a:xfrm>
            </p:spPr>
            <p:txBody>
              <a:bodyPr>
                <a:noAutofit/>
              </a:bodyPr>
              <a:lstStyle/>
              <a:p>
                <a:pPr marL="514350" indent="-514350">
                  <a:lnSpc>
                    <a:spcPct val="150000"/>
                  </a:lnSpc>
                  <a:spcBef>
                    <a:spcPts val="600"/>
                  </a:spcBef>
                  <a:buNone/>
                </a:pPr>
                <a:r>
                  <a:rPr lang="en-US" altLang="zh-CN" sz="2800" dirty="0"/>
                  <a:t>1.D 	2</a:t>
                </a:r>
                <a:r>
                  <a:rPr lang="en-US" altLang="zh-CN" sz="2800" baseline="30000" dirty="0"/>
                  <a:t>3</a:t>
                </a:r>
                <a:r>
                  <a:rPr lang="en-US" altLang="zh-CN" sz="2800" dirty="0"/>
                  <a:t>  </a:t>
                </a:r>
              </a:p>
              <a:p>
                <a:pPr marL="514350" indent="-514350">
                  <a:lnSpc>
                    <a:spcPct val="150000"/>
                  </a:lnSpc>
                  <a:spcBef>
                    <a:spcPts val="600"/>
                  </a:spcBef>
                  <a:buAutoNum type="arabicPeriod" startAt="2"/>
                </a:pPr>
                <a:r>
                  <a:rPr lang="en-US" altLang="zh-CN" sz="2800" dirty="0"/>
                  <a:t>M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altLang="zh-CN" sz="2800" b="0" i="1" smtClean="0">
                            <a:latin typeface="Cambria Math" panose="02040503050406030204" pitchFamily="18" charset="0"/>
                          </a:rPr>
                          <m:t>33</m:t>
                        </m:r>
                        <m:r>
                          <a:rPr lang="en-MY" altLang="zh-CN" sz="2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MY" altLang="zh-CN" sz="2800" b="0" i="1" smtClean="0">
                            <a:latin typeface="Cambria Math" panose="02040503050406030204" pitchFamily="18" charset="0"/>
                          </a:rPr>
                          <m:t>0.2</m:t>
                        </m:r>
                        <m:r>
                          <a:rPr lang="en-MY" altLang="zh-CN" sz="2800" b="0" i="1" smtClean="0">
                            <a:latin typeface="Cambria Math" panose="02040503050406030204" pitchFamily="18" charset="0"/>
                          </a:rPr>
                          <m:t>𝑚𝑜𝑙</m:t>
                        </m:r>
                      </m:den>
                    </m:f>
                    <m:r>
                      <a:rPr lang="en-MY" altLang="zh-CN" sz="2800" b="0" i="1" smtClean="0">
                        <a:latin typeface="Cambria Math" panose="02040503050406030204" pitchFamily="18" charset="0"/>
                      </a:rPr>
                      <m:t>=165 </m:t>
                    </m:r>
                  </m:oMath>
                </a14:m>
                <a:r>
                  <a:rPr lang="en-MY" altLang="zh-CN" sz="2800" b="0" dirty="0"/>
                  <a:t>g/mol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600"/>
                  </a:spcBef>
                  <a:buNone/>
                </a:pPr>
                <a:r>
                  <a:rPr lang="zh-CN" altLang="en-US" sz="2800" dirty="0"/>
                  <a:t>氨基</a:t>
                </a:r>
                <a:r>
                  <a:rPr lang="en-US" altLang="zh-CN" sz="2800" dirty="0"/>
                  <a:t>-NH</a:t>
                </a:r>
                <a:r>
                  <a:rPr lang="en-US" altLang="zh-CN" sz="2800" baseline="-25000" dirty="0"/>
                  <a:t>2</a:t>
                </a:r>
                <a:r>
                  <a:rPr lang="en-US" altLang="zh-CN" sz="2800" dirty="0"/>
                  <a:t> </a:t>
                </a:r>
                <a:r>
                  <a:rPr lang="zh-CN" altLang="en-US" sz="2800" dirty="0"/>
                  <a:t>、羧基 </a:t>
                </a:r>
                <a:r>
                  <a:rPr lang="en-US" altLang="zh-CN" sz="2800" dirty="0"/>
                  <a:t>–COOH</a:t>
                </a:r>
                <a:r>
                  <a:rPr lang="zh-CN" altLang="en-US" sz="2800" dirty="0"/>
                  <a:t>、</a:t>
                </a:r>
                <a:r>
                  <a:rPr lang="en-US" altLang="zh-CN" sz="2800" dirty="0"/>
                  <a:t> </a:t>
                </a:r>
                <a:r>
                  <a:rPr lang="zh-CN" altLang="en-US" sz="2800" dirty="0"/>
                  <a:t>苯基 </a:t>
                </a:r>
                <a:r>
                  <a:rPr lang="en-US" altLang="zh-CN" sz="2800" dirty="0"/>
                  <a:t>– C</a:t>
                </a:r>
                <a:r>
                  <a:rPr lang="en-US" altLang="zh-CN" sz="2800" baseline="-25000" dirty="0"/>
                  <a:t>6</a:t>
                </a:r>
                <a:r>
                  <a:rPr lang="en-US" altLang="zh-CN" sz="2800" dirty="0"/>
                  <a:t>H</a:t>
                </a:r>
                <a:r>
                  <a:rPr lang="en-US" altLang="zh-CN" sz="2800" baseline="-25000" dirty="0"/>
                  <a:t>5</a:t>
                </a:r>
                <a:r>
                  <a:rPr lang="en-US" altLang="zh-CN" sz="2800" dirty="0"/>
                  <a:t> </a:t>
                </a:r>
                <a:r>
                  <a:rPr lang="zh-CN" altLang="en-US" sz="2800" dirty="0"/>
                  <a:t>、手性碳 </a:t>
                </a:r>
                <a:r>
                  <a:rPr lang="en-US" altLang="zh-CN" sz="2800" dirty="0"/>
                  <a:t>C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600"/>
                  </a:spcBef>
                  <a:buNone/>
                </a:pPr>
                <a:r>
                  <a:rPr lang="zh-CN" altLang="en-US" sz="2800" dirty="0"/>
                  <a:t>则饱和烃基式量</a:t>
                </a:r>
                <a:r>
                  <a:rPr lang="en-US" altLang="zh-CN" sz="2800" dirty="0"/>
                  <a:t>=165-16-45-77-12=15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600"/>
                  </a:spcBef>
                  <a:buNone/>
                </a:pPr>
                <a:r>
                  <a:rPr lang="zh-CN" altLang="en-US" sz="2800" b="0" dirty="0"/>
                  <a:t>则饱和烃基为甲基 </a:t>
                </a:r>
                <a:r>
                  <a:rPr lang="en-MY" altLang="zh-CN" sz="2800" b="0" dirty="0"/>
                  <a:t>-</a:t>
                </a:r>
                <a:r>
                  <a:rPr lang="en-US" altLang="zh-CN" sz="2800" b="0" dirty="0"/>
                  <a:t>CH</a:t>
                </a:r>
                <a:r>
                  <a:rPr lang="en-US" altLang="zh-CN" sz="2800" b="0" baseline="-25000" dirty="0"/>
                  <a:t>3</a:t>
                </a:r>
                <a:r>
                  <a:rPr lang="en-US" altLang="zh-CN" sz="2800" dirty="0"/>
                  <a:t> 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600"/>
                  </a:spcBef>
                  <a:buNone/>
                </a:pPr>
                <a:r>
                  <a:rPr lang="zh-CN" altLang="en-US" sz="2800" dirty="0"/>
                  <a:t>名称：苯丙氨酸</a:t>
                </a:r>
                <a:endParaRPr lang="en-MY" altLang="zh-CN" sz="2800" b="0" dirty="0"/>
              </a:p>
              <a:p>
                <a:pPr marL="0" indent="0">
                  <a:lnSpc>
                    <a:spcPct val="150000"/>
                  </a:lnSpc>
                  <a:spcBef>
                    <a:spcPts val="600"/>
                  </a:spcBef>
                  <a:buNone/>
                </a:pPr>
                <a:r>
                  <a:rPr lang="en-US" altLang="zh-CN" sz="28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143000"/>
                <a:ext cx="8686800" cy="5715000"/>
              </a:xfrm>
              <a:blipFill>
                <a:blip r:embed="rId3"/>
                <a:stretch>
                  <a:fillRect l="-1474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8D08471-56CA-4736-9D9C-E152917787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4267200"/>
            <a:ext cx="4157870" cy="229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6399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思考题 </a:t>
            </a:r>
            <a:r>
              <a:rPr lang="en-US" altLang="zh-CN" sz="4000" b="1" dirty="0">
                <a:latin typeface="+mn-ea"/>
              </a:rPr>
              <a:t>34d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800" dirty="0"/>
              <a:t>3. A					B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2800" dirty="0"/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800" dirty="0"/>
              <a:t>    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800" dirty="0"/>
              <a:t>   C					D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800" dirty="0"/>
              <a:t> 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F0F906AC-F368-4BDA-92CF-C4B8F3D2E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141" y="1530454"/>
            <a:ext cx="2903377" cy="1589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A19864E-5268-460D-AA3E-37801DB01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530454"/>
            <a:ext cx="2903377" cy="1484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6F86D97C-B35D-4706-9914-CA136113A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657611"/>
            <a:ext cx="3017496" cy="1371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41278F57-D0AB-4428-B69F-82440EA2C4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762" y="3697728"/>
            <a:ext cx="2903377" cy="1371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87861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选择题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800" dirty="0"/>
              <a:t>1. B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800" dirty="0"/>
              <a:t>2. A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800" dirty="0"/>
              <a:t>3. B 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800" dirty="0"/>
              <a:t>4. D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800" dirty="0"/>
              <a:t>5.-  A</a:t>
            </a:r>
            <a:r>
              <a:rPr lang="zh-CN" altLang="en-US" sz="2800" dirty="0"/>
              <a:t>都不能 </a:t>
            </a:r>
            <a:r>
              <a:rPr lang="en-MY" altLang="zh-CN" sz="2800" dirty="0"/>
              <a:t>	</a:t>
            </a:r>
            <a:r>
              <a:rPr lang="en-US" altLang="zh-CN" sz="2800" dirty="0"/>
              <a:t>BC</a:t>
            </a:r>
            <a:r>
              <a:rPr lang="zh-CN" altLang="en-US" sz="2800" dirty="0"/>
              <a:t>能水解</a:t>
            </a:r>
            <a:r>
              <a:rPr lang="en-MY" altLang="zh-CN" sz="2800" dirty="0"/>
              <a:t>	</a:t>
            </a:r>
            <a:r>
              <a:rPr lang="en-US" altLang="zh-CN" sz="2800" dirty="0"/>
              <a:t>D</a:t>
            </a:r>
            <a:r>
              <a:rPr lang="zh-CN" altLang="en-US" sz="2800" dirty="0"/>
              <a:t>能氢化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800" dirty="0"/>
              <a:t>6.  D </a:t>
            </a:r>
            <a:r>
              <a:rPr lang="zh-CN" altLang="en-US" sz="2800" dirty="0"/>
              <a:t>同离子效应电离度变小；</a:t>
            </a:r>
            <a:r>
              <a:rPr lang="en-MY" altLang="zh-CN" sz="2800" dirty="0"/>
              <a:t>[</a:t>
            </a:r>
            <a:r>
              <a:rPr lang="en-US" altLang="zh-CN" sz="2800" dirty="0"/>
              <a:t>H</a:t>
            </a:r>
            <a:r>
              <a:rPr lang="en-US" altLang="zh-CN" sz="2800" baseline="30000" dirty="0"/>
              <a:t>+</a:t>
            </a:r>
            <a:r>
              <a:rPr lang="en-US" altLang="zh-CN" sz="2800" dirty="0"/>
              <a:t> ]</a:t>
            </a:r>
            <a:r>
              <a:rPr lang="zh-CN" altLang="en-US" sz="2800" dirty="0"/>
              <a:t>上升，</a:t>
            </a:r>
            <a:r>
              <a:rPr lang="en-US" altLang="zh-CN" sz="2800" dirty="0"/>
              <a:t>pH</a:t>
            </a:r>
            <a:r>
              <a:rPr lang="zh-CN" altLang="en-US" sz="2800" dirty="0"/>
              <a:t>变小</a:t>
            </a:r>
            <a:endParaRPr lang="en-MY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800" dirty="0"/>
              <a:t>7. C</a:t>
            </a:r>
          </a:p>
        </p:txBody>
      </p:sp>
    </p:spTree>
    <p:extLst>
      <p:ext uri="{BB962C8B-B14F-4D97-AF65-F5344CB8AC3E}">
        <p14:creationId xmlns:p14="http://schemas.microsoft.com/office/powerpoint/2010/main" val="13394095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选择题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8. C</a:t>
            </a:r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ABD</a:t>
            </a:r>
            <a:r>
              <a:rPr lang="zh-CN" altLang="en-US" sz="2800" dirty="0"/>
              <a:t>是酸的通性，与强弱无关</a:t>
            </a:r>
            <a:endParaRPr lang="en-MY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9. A 	</a:t>
            </a:r>
            <a:r>
              <a:rPr lang="zh-CN" altLang="en-US" sz="2800" dirty="0"/>
              <a:t>羧酸去羟基，醇去氢；</a:t>
            </a:r>
            <a:endParaRPr lang="en-MY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10. B </a:t>
            </a:r>
            <a:r>
              <a:rPr lang="zh-CN" altLang="en-US" sz="2800" dirty="0"/>
              <a:t>乙酸与甲醇酯化生成乙酸甲酯</a:t>
            </a:r>
            <a:endParaRPr lang="en-MY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11. B</a:t>
            </a:r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12. ROH + CH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COOH  </a:t>
            </a:r>
            <a:r>
              <a:rPr lang="en-US" altLang="zh-CN" sz="2800" dirty="0">
                <a:sym typeface="Wingdings" panose="05000000000000000000" pitchFamily="2" charset="2"/>
              </a:rPr>
              <a:t> CH</a:t>
            </a:r>
            <a:r>
              <a:rPr lang="en-US" altLang="zh-CN" sz="2800" baseline="-25000" dirty="0">
                <a:sym typeface="Wingdings" panose="05000000000000000000" pitchFamily="2" charset="2"/>
              </a:rPr>
              <a:t>3</a:t>
            </a:r>
            <a:r>
              <a:rPr lang="en-US" altLang="zh-CN" sz="2800" dirty="0">
                <a:sym typeface="Wingdings" panose="05000000000000000000" pitchFamily="2" charset="2"/>
              </a:rPr>
              <a:t> COOR + H</a:t>
            </a:r>
            <a:r>
              <a:rPr lang="en-US" altLang="zh-CN" sz="2800" baseline="-25000" dirty="0">
                <a:sym typeface="Wingdings" panose="05000000000000000000" pitchFamily="2" charset="2"/>
              </a:rPr>
              <a:t>2</a:t>
            </a:r>
            <a:r>
              <a:rPr lang="en-US" altLang="zh-CN" sz="2800" dirty="0">
                <a:sym typeface="Wingdings" panose="05000000000000000000" pitchFamily="2" charset="2"/>
              </a:rPr>
              <a:t>O </a:t>
            </a:r>
            <a:r>
              <a:rPr lang="en-US" altLang="zh-CN" sz="2800" dirty="0"/>
              <a:t> </a:t>
            </a:r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	8.2g			11.2g</a:t>
            </a:r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	M 				42+M</a:t>
            </a:r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			M = 114.8</a:t>
            </a:r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Ans: B </a:t>
            </a:r>
          </a:p>
        </p:txBody>
      </p:sp>
    </p:spTree>
    <p:extLst>
      <p:ext uri="{BB962C8B-B14F-4D97-AF65-F5344CB8AC3E}">
        <p14:creationId xmlns:p14="http://schemas.microsoft.com/office/powerpoint/2010/main" val="39607188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选择题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None/>
            </a:pPr>
            <a:r>
              <a:rPr lang="en-MY" altLang="zh-CN" sz="2800" dirty="0"/>
              <a:t>13. B </a:t>
            </a:r>
          </a:p>
          <a:p>
            <a:pPr marL="514350" indent="-514350">
              <a:spcBef>
                <a:spcPts val="600"/>
              </a:spcBef>
              <a:buNone/>
            </a:pPr>
            <a:r>
              <a:rPr lang="zh-CN" altLang="en-US" sz="2800" dirty="0"/>
              <a:t>皂化反应（酯在碱性条件下水解）：断①</a:t>
            </a:r>
            <a:endParaRPr lang="en-MY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zh-CN" altLang="en-US" sz="2800" dirty="0"/>
              <a:t>羧酸与碱中和：断④</a:t>
            </a:r>
            <a:endParaRPr lang="en-MY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14. C </a:t>
            </a:r>
          </a:p>
          <a:p>
            <a:pPr marL="514350" indent="-514350">
              <a:spcBef>
                <a:spcPts val="600"/>
              </a:spcBef>
              <a:buNone/>
            </a:pPr>
            <a:r>
              <a:rPr lang="zh-CN" altLang="en-US" sz="2800" dirty="0"/>
              <a:t>三级醇不能被氧化，醇与羧酸能与</a:t>
            </a:r>
            <a:r>
              <a:rPr lang="en-US" altLang="zh-CN" sz="2800" dirty="0"/>
              <a:t>PCl</a:t>
            </a:r>
            <a:r>
              <a:rPr lang="en-US" altLang="zh-CN" sz="2800" baseline="-25000" dirty="0"/>
              <a:t>5</a:t>
            </a:r>
            <a:r>
              <a:rPr lang="en-US" altLang="zh-CN" sz="2800" dirty="0"/>
              <a:t> </a:t>
            </a:r>
            <a:r>
              <a:rPr lang="zh-CN" altLang="en-US" sz="2800" dirty="0"/>
              <a:t>反应生成白雾（</a:t>
            </a:r>
            <a:r>
              <a:rPr lang="en-US" altLang="zh-CN" sz="2800" dirty="0"/>
              <a:t>HCl</a:t>
            </a:r>
            <a:r>
              <a:rPr lang="zh-CN" altLang="en-US" sz="2800" dirty="0"/>
              <a:t>溶于空气中的水汽）</a:t>
            </a:r>
            <a:endParaRPr lang="en-MY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15. B</a:t>
            </a:r>
          </a:p>
          <a:p>
            <a:pPr marL="514350" indent="-514350">
              <a:spcBef>
                <a:spcPts val="600"/>
              </a:spcBef>
              <a:buNone/>
            </a:pPr>
            <a:r>
              <a:rPr lang="zh-CN" altLang="en-US" sz="2800" dirty="0"/>
              <a:t>酸性：苯磺酸</a:t>
            </a:r>
            <a:r>
              <a:rPr lang="en-US" altLang="zh-CN" sz="2800" dirty="0"/>
              <a:t>&gt;</a:t>
            </a:r>
            <a:r>
              <a:rPr lang="zh-CN" altLang="en-US" sz="2800" dirty="0"/>
              <a:t>苯甲酸</a:t>
            </a:r>
            <a:r>
              <a:rPr lang="en-US" altLang="zh-CN" sz="2800" dirty="0"/>
              <a:t>&gt;</a:t>
            </a:r>
            <a:r>
              <a:rPr lang="zh-CN" altLang="en-US" sz="2800" dirty="0"/>
              <a:t>醋酸</a:t>
            </a:r>
            <a:r>
              <a:rPr lang="en-US" altLang="zh-CN" sz="2800" dirty="0"/>
              <a:t>&gt;</a:t>
            </a:r>
            <a:r>
              <a:rPr lang="zh-CN" altLang="en-US" sz="2800" dirty="0"/>
              <a:t>碳酸</a:t>
            </a:r>
            <a:r>
              <a:rPr lang="en-US" altLang="zh-CN" sz="2800" dirty="0"/>
              <a:t>&gt;</a:t>
            </a:r>
            <a:r>
              <a:rPr lang="zh-CN" altLang="en-US" sz="2800" dirty="0"/>
              <a:t>石炭酸</a:t>
            </a:r>
            <a:r>
              <a:rPr lang="en-MY" altLang="zh-CN" sz="2800" dirty="0"/>
              <a:t>(</a:t>
            </a:r>
            <a:r>
              <a:rPr lang="zh-CN" altLang="en-US" sz="2800" dirty="0"/>
              <a:t>苯酚</a:t>
            </a:r>
            <a:r>
              <a:rPr lang="en-MY" altLang="zh-CN" sz="2800" dirty="0"/>
              <a:t>)</a:t>
            </a:r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16. B</a:t>
            </a:r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17. A</a:t>
            </a:r>
            <a:endParaRPr lang="en-MY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sz="2800" dirty="0"/>
              <a:t>③</a:t>
            </a:r>
            <a:r>
              <a:rPr lang="zh-CN" altLang="en-US" sz="2800" dirty="0"/>
              <a:t>苯酚 </a:t>
            </a:r>
            <a:r>
              <a:rPr lang="en-US" sz="2800" dirty="0"/>
              <a:t>④</a:t>
            </a:r>
            <a:r>
              <a:rPr lang="zh-CN" altLang="en-US" sz="2800" dirty="0"/>
              <a:t>羧酸</a:t>
            </a:r>
            <a:endParaRPr lang="en-US" sz="2800" dirty="0"/>
          </a:p>
          <a:p>
            <a:pPr marL="514350" indent="-514350">
              <a:spcBef>
                <a:spcPts val="600"/>
              </a:spcBef>
              <a:buNone/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7553489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选择题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18</a:t>
            </a:r>
            <a:r>
              <a:rPr lang="en-MY" altLang="zh-CN" sz="2800" dirty="0"/>
              <a:t>. </a:t>
            </a:r>
            <a:r>
              <a:rPr lang="en-US" altLang="zh-CN" sz="2800" dirty="0"/>
              <a:t>C</a:t>
            </a:r>
          </a:p>
          <a:p>
            <a:pPr marL="514350" indent="-514350">
              <a:spcBef>
                <a:spcPts val="600"/>
              </a:spcBef>
              <a:buNone/>
            </a:pPr>
            <a:r>
              <a:rPr lang="zh-CN" altLang="en-US" sz="2800" dirty="0"/>
              <a:t>苯酚与福尔马林（甲醛）反应制取酚醛树脂（聚合物）</a:t>
            </a:r>
            <a:endParaRPr lang="en-MY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19. A </a:t>
            </a:r>
            <a:r>
              <a:rPr lang="zh-CN" altLang="en-US" sz="2800" dirty="0"/>
              <a:t>酯化反应，羧酸去羟基，醇去氢，断①</a:t>
            </a:r>
            <a:endParaRPr lang="en-MY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C </a:t>
            </a:r>
            <a:r>
              <a:rPr lang="zh-CN" altLang="en-US" sz="2800" dirty="0"/>
              <a:t>分子内脱水（消去反应）生成烯</a:t>
            </a:r>
            <a:endParaRPr lang="en-MY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D </a:t>
            </a:r>
            <a:r>
              <a:rPr lang="zh-CN" altLang="en-US" sz="2800" dirty="0"/>
              <a:t>催化氧化生成醛</a:t>
            </a:r>
            <a:endParaRPr lang="en-MY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Ans: A</a:t>
            </a:r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20. B</a:t>
            </a:r>
            <a:r>
              <a:rPr lang="zh-CN" altLang="en-US" sz="2800" dirty="0"/>
              <a:t>（酯化：羧酸与醇反应）</a:t>
            </a:r>
            <a:endParaRPr lang="en-MY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A </a:t>
            </a:r>
            <a:r>
              <a:rPr lang="zh-CN" altLang="en-US" sz="2800" dirty="0"/>
              <a:t>卤代烃能水解</a:t>
            </a:r>
            <a:r>
              <a:rPr lang="en-MY" altLang="zh-CN" sz="2800" dirty="0"/>
              <a:t>    </a:t>
            </a:r>
            <a:r>
              <a:rPr lang="en-US" altLang="zh-CN" sz="2800" dirty="0"/>
              <a:t>C </a:t>
            </a:r>
            <a:r>
              <a:rPr lang="zh-CN" altLang="en-US" sz="2800" dirty="0"/>
              <a:t>烯烃能加成    </a:t>
            </a:r>
            <a:r>
              <a:rPr lang="en-US" altLang="zh-CN" sz="2800" dirty="0"/>
              <a:t>D </a:t>
            </a:r>
            <a:r>
              <a:rPr lang="zh-CN" altLang="en-US" sz="2800" dirty="0"/>
              <a:t>烯烃与醛能被氧化</a:t>
            </a:r>
            <a:endParaRPr lang="en-MY" altLang="zh-CN" sz="2800" dirty="0"/>
          </a:p>
        </p:txBody>
      </p:sp>
    </p:spTree>
    <p:extLst>
      <p:ext uri="{BB962C8B-B14F-4D97-AF65-F5344CB8AC3E}">
        <p14:creationId xmlns:p14="http://schemas.microsoft.com/office/powerpoint/2010/main" val="34721469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选择题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21</a:t>
            </a:r>
            <a:r>
              <a:rPr lang="en-MY" altLang="zh-CN" sz="2800" dirty="0"/>
              <a:t>. </a:t>
            </a:r>
            <a:r>
              <a:rPr lang="en-US" altLang="zh-CN" sz="2800" dirty="0"/>
              <a:t>D </a:t>
            </a:r>
            <a:r>
              <a:rPr lang="zh-CN" altLang="en-US" sz="2800" dirty="0"/>
              <a:t>棕榈油属于酯类</a:t>
            </a:r>
            <a:r>
              <a:rPr lang="en-MY" altLang="zh-CN" sz="2800" dirty="0"/>
              <a:t> </a:t>
            </a:r>
            <a:r>
              <a:rPr lang="en-US" altLang="zh-CN" sz="2800" dirty="0"/>
              <a:t> </a:t>
            </a:r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22. B </a:t>
            </a:r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A </a:t>
            </a:r>
            <a:r>
              <a:rPr lang="zh-CN" altLang="en-US" sz="2800" dirty="0"/>
              <a:t>苯环在一定条件下能与氢气发生加成反应</a:t>
            </a:r>
            <a:endParaRPr lang="en-MY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B </a:t>
            </a:r>
            <a:r>
              <a:rPr lang="zh-CN" altLang="en-US" sz="2800" dirty="0"/>
              <a:t>苯酚能与</a:t>
            </a:r>
            <a:r>
              <a:rPr lang="en-US" altLang="zh-CN" sz="2800" dirty="0"/>
              <a:t>FeCl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</a:t>
            </a:r>
            <a:r>
              <a:rPr lang="zh-CN" altLang="en-US" sz="2800" dirty="0"/>
              <a:t>发生显色反应</a:t>
            </a:r>
            <a:endParaRPr lang="en-MY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C  	2</a:t>
            </a:r>
            <a:r>
              <a:rPr lang="zh-CN" altLang="en-US" sz="2800" dirty="0"/>
              <a:t>个卤原子、</a:t>
            </a:r>
            <a:r>
              <a:rPr lang="en-US" altLang="zh-CN" sz="2800" dirty="0"/>
              <a:t>1</a:t>
            </a:r>
            <a:r>
              <a:rPr lang="zh-CN" altLang="en-US" sz="2800" dirty="0"/>
              <a:t>个羧基、</a:t>
            </a:r>
            <a:r>
              <a:rPr lang="en-US" altLang="zh-CN" sz="2800" dirty="0"/>
              <a:t>1</a:t>
            </a:r>
            <a:r>
              <a:rPr lang="zh-CN" altLang="en-US" sz="2800" dirty="0"/>
              <a:t>个酯基、</a:t>
            </a:r>
            <a:r>
              <a:rPr lang="en-US" altLang="zh-CN" sz="2800" dirty="0"/>
              <a:t>1</a:t>
            </a:r>
            <a:r>
              <a:rPr lang="zh-CN" altLang="en-US" sz="2800" dirty="0"/>
              <a:t>苯酚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	</a:t>
            </a:r>
            <a:r>
              <a:rPr lang="zh-CN" altLang="en-US" sz="2800" dirty="0"/>
              <a:t>消耗</a:t>
            </a:r>
            <a:r>
              <a:rPr lang="en-US" altLang="zh-CN" sz="2800" dirty="0"/>
              <a:t>5molNaOH </a:t>
            </a:r>
            <a:endParaRPr lang="en-MY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D H</a:t>
            </a:r>
            <a:r>
              <a:rPr lang="zh-CN" altLang="en-US" sz="2800" dirty="0"/>
              <a:t>有</a:t>
            </a:r>
            <a:r>
              <a:rPr lang="en-US" altLang="zh-CN" sz="2800" dirty="0"/>
              <a:t>10</a:t>
            </a:r>
            <a:r>
              <a:rPr lang="zh-CN" altLang="en-US" sz="2800" dirty="0"/>
              <a:t>个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42281902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作答题（</a:t>
            </a:r>
            <a:r>
              <a:rPr lang="en-US" altLang="zh-CN" sz="4000" b="1" dirty="0">
                <a:latin typeface="+mn-ea"/>
              </a:rPr>
              <a:t>3</a:t>
            </a:r>
            <a:r>
              <a:rPr lang="zh-CN" altLang="en-US" sz="4000" b="1" dirty="0">
                <a:latin typeface="+mn-ea"/>
              </a:rPr>
              <a:t>，</a:t>
            </a:r>
            <a:r>
              <a:rPr lang="en-US" altLang="zh-CN" sz="4000" b="1" dirty="0">
                <a:latin typeface="+mn-ea"/>
              </a:rPr>
              <a:t>4</a:t>
            </a:r>
            <a:r>
              <a:rPr lang="zh-CN" altLang="en-US" sz="4000" b="1" dirty="0">
                <a:latin typeface="+mn-ea"/>
              </a:rPr>
              <a:t>，</a:t>
            </a:r>
            <a:r>
              <a:rPr lang="en-US" altLang="zh-CN" sz="4000" b="1" dirty="0">
                <a:latin typeface="+mn-ea"/>
              </a:rPr>
              <a:t>6</a:t>
            </a:r>
            <a:r>
              <a:rPr lang="zh-CN" altLang="en-US" sz="4000" b="1" dirty="0">
                <a:latin typeface="+mn-ea"/>
              </a:rPr>
              <a:t>，</a:t>
            </a:r>
            <a:r>
              <a:rPr lang="en-US" altLang="zh-CN" sz="4000" b="1">
                <a:latin typeface="+mn-ea"/>
              </a:rPr>
              <a:t>7</a:t>
            </a:r>
            <a:r>
              <a:rPr lang="zh-CN" altLang="en-US" sz="4000" b="1">
                <a:latin typeface="+mn-ea"/>
              </a:rPr>
              <a:t>）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AutoNum type="arabicPeriod"/>
            </a:pPr>
            <a:r>
              <a:rPr lang="zh-CN" altLang="en-US" sz="3000" dirty="0"/>
              <a:t>①甲得到了不溶于水的中性酯，没有酸，说明</a:t>
            </a:r>
            <a:endParaRPr lang="en-MY" altLang="zh-CN" sz="3000" dirty="0"/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3000" u="sng" dirty="0"/>
              <a:t>所加</a:t>
            </a:r>
            <a:r>
              <a:rPr lang="en-US" altLang="zh-CN" sz="3000" u="sng" dirty="0"/>
              <a:t>NaOH</a:t>
            </a:r>
            <a:r>
              <a:rPr lang="zh-CN" altLang="en-US" sz="3000" u="sng" dirty="0"/>
              <a:t>溶液恰好中和了过量的酸</a:t>
            </a:r>
            <a:r>
              <a:rPr lang="zh-CN" altLang="en-US" sz="3000" dirty="0"/>
              <a:t>。</a:t>
            </a:r>
            <a:br>
              <a:rPr lang="zh-CN" altLang="en-US" sz="3000" dirty="0"/>
            </a:br>
            <a:endParaRPr lang="en-MY" altLang="zh-CN" sz="3000" dirty="0"/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3000" dirty="0"/>
              <a:t>②乙得到显酸性的酯的混合物，酸有剩余，说明是</a:t>
            </a:r>
            <a:endParaRPr lang="en-MY" altLang="zh-CN" sz="3000" dirty="0"/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3000" u="sng" dirty="0"/>
              <a:t>所加</a:t>
            </a:r>
            <a:r>
              <a:rPr lang="en-US" altLang="zh-CN" sz="3000" u="sng" dirty="0"/>
              <a:t>NaOH</a:t>
            </a:r>
            <a:r>
              <a:rPr lang="zh-CN" altLang="en-US" sz="3000" u="sng" dirty="0"/>
              <a:t>溶液不足未将酸完全反应。</a:t>
            </a:r>
            <a:br>
              <a:rPr lang="zh-CN" altLang="en-US" sz="3000" dirty="0"/>
            </a:br>
            <a:endParaRPr lang="en-MY" altLang="zh-CN" sz="3000" dirty="0"/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3000" dirty="0"/>
              <a:t>③丙得到大量水溶性物质，说明没有酯，是因为</a:t>
            </a:r>
            <a:endParaRPr lang="en-MY" altLang="zh-CN" sz="3000" dirty="0"/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3000" u="sng" dirty="0"/>
              <a:t>所加</a:t>
            </a:r>
            <a:r>
              <a:rPr lang="en-US" altLang="zh-CN" sz="3000" u="sng" dirty="0"/>
              <a:t>NaOH</a:t>
            </a:r>
            <a:r>
              <a:rPr lang="zh-CN" altLang="en-US" sz="3000" u="sng" dirty="0"/>
              <a:t>溶液过量，酯发生水解</a:t>
            </a:r>
            <a:r>
              <a:rPr lang="zh-CN" altLang="en-US" sz="3000" dirty="0"/>
              <a:t>。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14194790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作答题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800" dirty="0"/>
              <a:t>2. (1) C 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800" dirty="0"/>
              <a:t>(2) B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800" dirty="0"/>
              <a:t>(3) A 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800" dirty="0"/>
              <a:t>(4) A</a:t>
            </a:r>
            <a:r>
              <a:rPr lang="zh-CN" altLang="en-US" sz="2800" dirty="0"/>
              <a:t>皂化</a:t>
            </a:r>
            <a:r>
              <a:rPr lang="en-MY" altLang="zh-CN" sz="2800" dirty="0"/>
              <a:t>	</a:t>
            </a:r>
            <a:r>
              <a:rPr lang="en-US" altLang="zh-CN" sz="2800" dirty="0"/>
              <a:t>E </a:t>
            </a:r>
            <a:r>
              <a:rPr lang="zh-CN" altLang="en-US" sz="2800" dirty="0"/>
              <a:t>催化加氢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508388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作答题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800" dirty="0"/>
              <a:t>3. </a:t>
            </a:r>
            <a:r>
              <a:rPr lang="zh-CN" altLang="en-US" sz="2800" dirty="0"/>
              <a:t>答案提示</a:t>
            </a:r>
            <a:endParaRPr lang="en-MY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arenBoth"/>
            </a:pPr>
            <a:r>
              <a:rPr lang="en-MY" altLang="zh-CN" sz="2800" dirty="0"/>
              <a:t>FeCl</a:t>
            </a:r>
            <a:r>
              <a:rPr lang="en-MY" altLang="zh-CN" sz="2800" baseline="-25000" dirty="0"/>
              <a:t>3</a:t>
            </a:r>
            <a:r>
              <a:rPr lang="en-MY" altLang="zh-CN" sz="2800" dirty="0"/>
              <a:t> </a:t>
            </a:r>
            <a:r>
              <a:rPr lang="zh-CN" altLang="en-US" sz="2800" dirty="0"/>
              <a:t>；</a:t>
            </a:r>
            <a:r>
              <a:rPr lang="en-US" altLang="zh-CN" sz="2800" dirty="0"/>
              <a:t>KMnO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 </a:t>
            </a:r>
            <a:r>
              <a:rPr lang="zh-CN" altLang="en-US" sz="2800" dirty="0"/>
              <a:t>；托伦试剂；</a:t>
            </a:r>
            <a:r>
              <a:rPr lang="en-US" altLang="zh-CN" sz="2800" dirty="0"/>
              <a:t>PCl</a:t>
            </a:r>
            <a:r>
              <a:rPr lang="en-US" altLang="zh-CN" sz="2800" baseline="-25000" dirty="0"/>
              <a:t>5</a:t>
            </a:r>
            <a:r>
              <a:rPr lang="en-US" altLang="zh-CN" sz="2800" dirty="0"/>
              <a:t> </a:t>
            </a:r>
            <a:r>
              <a:rPr lang="zh-CN" altLang="en-US" sz="2800" dirty="0"/>
              <a:t>；溴水</a:t>
            </a:r>
            <a:endParaRPr lang="en-MY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arenBoth"/>
            </a:pPr>
            <a:r>
              <a:rPr lang="en-US" altLang="zh-CN" sz="2800" dirty="0"/>
              <a:t>KMnO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 </a:t>
            </a:r>
            <a:r>
              <a:rPr lang="zh-CN" altLang="en-US" sz="2800" dirty="0"/>
              <a:t>；托伦试剂</a:t>
            </a:r>
            <a:r>
              <a:rPr lang="en-US" altLang="zh-CN" sz="2800" dirty="0"/>
              <a:t> 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Font typeface="Arial" pitchFamily="34" charset="0"/>
              <a:buAutoNum type="arabicParenBoth"/>
            </a:pPr>
            <a:r>
              <a:rPr lang="en-US" altLang="zh-CN" sz="2800" dirty="0"/>
              <a:t>PCl</a:t>
            </a:r>
            <a:r>
              <a:rPr lang="en-US" altLang="zh-CN" sz="2800" baseline="-25000" dirty="0"/>
              <a:t>5</a:t>
            </a:r>
            <a:r>
              <a:rPr lang="en-US" altLang="zh-CN" sz="2800" dirty="0"/>
              <a:t> </a:t>
            </a:r>
            <a:r>
              <a:rPr lang="zh-CN" altLang="en-US" sz="2800" dirty="0"/>
              <a:t>；托伦试剂</a:t>
            </a:r>
            <a:r>
              <a:rPr lang="en-US" altLang="zh-CN" sz="2800" dirty="0"/>
              <a:t> </a:t>
            </a:r>
            <a:r>
              <a:rPr lang="zh-CN" altLang="en-US" sz="2800" dirty="0"/>
              <a:t>；</a:t>
            </a:r>
            <a:r>
              <a:rPr lang="en-US" altLang="zh-CN" sz="2800" dirty="0"/>
              <a:t> KMnO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 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arenBoth"/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5692006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作答题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4. </a:t>
            </a:r>
            <a:r>
              <a:rPr lang="zh-CN" altLang="en-US" sz="2800" dirty="0"/>
              <a:t>答案提示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A 					    B </a:t>
            </a:r>
            <a:endParaRPr lang="en-US" altLang="zh-CN" sz="2600" dirty="0"/>
          </a:p>
          <a:p>
            <a:pPr marL="514350" indent="-514350">
              <a:spcBef>
                <a:spcPts val="600"/>
              </a:spcBef>
              <a:buNone/>
            </a:pPr>
            <a:endParaRPr lang="en-US" altLang="zh-CN" sz="2600" dirty="0"/>
          </a:p>
          <a:p>
            <a:pPr marL="514350" indent="-514350">
              <a:spcBef>
                <a:spcPts val="600"/>
              </a:spcBef>
              <a:buNone/>
            </a:pPr>
            <a:endParaRPr lang="en-US" altLang="zh-CN" sz="26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600" dirty="0"/>
              <a:t>C </a:t>
            </a:r>
            <a:r>
              <a:rPr lang="zh-CN" altLang="en-US" sz="2600" dirty="0"/>
              <a:t> </a:t>
            </a:r>
            <a:r>
              <a:rPr lang="en-US" altLang="zh-CN" sz="2600" dirty="0"/>
              <a:t>CH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OHCH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OH</a:t>
            </a:r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① NaOH</a:t>
            </a:r>
            <a:r>
              <a:rPr lang="zh-CN" altLang="en-US" sz="2800" dirty="0"/>
              <a:t>的水溶液，加热；取代反应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② Cu</a:t>
            </a:r>
            <a:r>
              <a:rPr lang="zh-CN" altLang="en-US" sz="2800" dirty="0"/>
              <a:t>、</a:t>
            </a:r>
            <a:r>
              <a:rPr lang="en-US" altLang="zh-CN" sz="2800" dirty="0"/>
              <a:t>300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 C </a:t>
            </a:r>
            <a:r>
              <a:rPr lang="zh-CN" altLang="en-US" sz="2800" dirty="0"/>
              <a:t>；氧化反应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③ Br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的</a:t>
            </a:r>
            <a:r>
              <a:rPr lang="en-US" altLang="zh-CN" sz="2800" dirty="0"/>
              <a:t>CCl</a:t>
            </a:r>
            <a:r>
              <a:rPr lang="en-US" altLang="zh-CN" sz="2800" baseline="-25000" dirty="0"/>
              <a:t>4</a:t>
            </a:r>
            <a:r>
              <a:rPr lang="zh-CN" altLang="en-US" sz="2800" dirty="0"/>
              <a:t>溶液；加成反应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④ H</a:t>
            </a:r>
            <a:r>
              <a:rPr lang="en-US" altLang="zh-CN" sz="2800" baseline="30000" dirty="0"/>
              <a:t>+</a:t>
            </a:r>
            <a:r>
              <a:rPr lang="en-US" altLang="zh-CN" sz="2800" dirty="0"/>
              <a:t> </a:t>
            </a:r>
            <a:r>
              <a:rPr lang="zh-CN" altLang="en-US" sz="2800" dirty="0"/>
              <a:t>；酯化反应</a:t>
            </a:r>
            <a:endParaRPr lang="en-US" altLang="zh-CN" sz="2800" dirty="0"/>
          </a:p>
        </p:txBody>
      </p:sp>
      <p:pic>
        <p:nvPicPr>
          <p:cNvPr id="6" name="Picture 5" descr="175.png"/>
          <p:cNvPicPr>
            <a:picLocks noChangeAspect="1"/>
          </p:cNvPicPr>
          <p:nvPr/>
        </p:nvPicPr>
        <p:blipFill>
          <a:blip r:embed="rId3"/>
          <a:srcRect t="13559" b="14124"/>
          <a:stretch>
            <a:fillRect/>
          </a:stretch>
        </p:blipFill>
        <p:spPr>
          <a:xfrm>
            <a:off x="914400" y="1735885"/>
            <a:ext cx="2714625" cy="1219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BDA016-EAEA-47FA-9715-D48EB8F842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1569198"/>
            <a:ext cx="2971800" cy="127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1254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作答题</a:t>
            </a:r>
            <a:endParaRPr lang="en-US" sz="40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762000"/>
                <a:ext cx="8686800" cy="5715000"/>
              </a:xfrm>
            </p:spPr>
            <p:txBody>
              <a:bodyPr>
                <a:noAutofit/>
              </a:bodyPr>
              <a:lstStyle/>
              <a:p>
                <a:pPr marL="514350" indent="-514350">
                  <a:spcBef>
                    <a:spcPts val="600"/>
                  </a:spcBef>
                  <a:buAutoNum type="arabicPeriod" startAt="5"/>
                </a:pPr>
                <a:r>
                  <a:rPr lang="en-US" altLang="zh-CN" sz="2800" dirty="0"/>
                  <a:t>n(H</a:t>
                </a:r>
                <a:r>
                  <a:rPr lang="en-US" altLang="zh-CN" sz="2800" baseline="-25000" dirty="0"/>
                  <a:t>2</a:t>
                </a:r>
                <a:r>
                  <a:rPr lang="en-US" altLang="zh-CN" sz="2800" dirty="0"/>
                  <a:t>SO</a:t>
                </a:r>
                <a:r>
                  <a:rPr lang="en-US" altLang="zh-CN" sz="2800" baseline="-25000" dirty="0"/>
                  <a:t>4</a:t>
                </a:r>
                <a:r>
                  <a:rPr lang="en-US" altLang="zh-CN" sz="2800" dirty="0"/>
                  <a:t>)</a:t>
                </a:r>
                <a:r>
                  <a:rPr lang="zh-CN" altLang="en-US" sz="2800" baseline="-25000" dirty="0"/>
                  <a:t>总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= 0.5M x 0.05L = 0.025mol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zh-CN" altLang="en-US" sz="2800" dirty="0"/>
                  <a:t>设剩余的硫酸物质的量为</a:t>
                </a:r>
                <a14:m>
                  <m:oMath xmlns:m="http://schemas.openxmlformats.org/officeDocument/2006/math">
                    <m:r>
                      <a:rPr lang="en-MY" altLang="zh-CN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MY" altLang="zh-CN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/>
                  <a:t>mol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altLang="zh-CN" sz="2800" dirty="0"/>
                  <a:t>H</a:t>
                </a:r>
                <a:r>
                  <a:rPr lang="en-US" altLang="zh-CN" sz="2800" baseline="-25000" dirty="0"/>
                  <a:t>2</a:t>
                </a:r>
                <a:r>
                  <a:rPr lang="en-US" altLang="zh-CN" sz="2800" dirty="0"/>
                  <a:t>SO</a:t>
                </a:r>
                <a:r>
                  <a:rPr lang="en-US" altLang="zh-CN" sz="2800" baseline="-25000" dirty="0"/>
                  <a:t>4</a:t>
                </a:r>
                <a:r>
                  <a:rPr lang="en-US" altLang="zh-CN" sz="2800" dirty="0"/>
                  <a:t> + 2NaOH 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 Na</a:t>
                </a:r>
                <a:r>
                  <a:rPr lang="en-US" altLang="zh-CN" sz="2800" baseline="-25000" dirty="0"/>
                  <a:t>2</a:t>
                </a:r>
                <a:r>
                  <a:rPr lang="en-US" altLang="zh-CN" sz="2800" dirty="0"/>
                  <a:t>SO</a:t>
                </a:r>
                <a:r>
                  <a:rPr lang="en-US" altLang="zh-CN" sz="2800" baseline="-25000" dirty="0"/>
                  <a:t>4</a:t>
                </a:r>
                <a:r>
                  <a:rPr lang="en-US" altLang="zh-CN" sz="2800" dirty="0"/>
                  <a:t> + 2H</a:t>
                </a:r>
                <a:r>
                  <a:rPr lang="en-US" altLang="zh-CN" sz="2800" baseline="-25000" dirty="0"/>
                  <a:t>2</a:t>
                </a:r>
                <a:r>
                  <a:rPr lang="en-US" altLang="zh-CN" sz="2800" dirty="0"/>
                  <a:t>O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r>
                      <a:rPr lang="en-MY" altLang="zh-CN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800" dirty="0"/>
                  <a:t>mol	     1Mx 0.038L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altLang="zh-CN" sz="2800" dirty="0"/>
                  <a:t>1mol	     2 mol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r>
                      <a:rPr lang="en-MY" altLang="zh-CN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MY" altLang="zh-CN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/>
                  <a:t>= 0.019mol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zh-CN" altLang="en-US" sz="2800" dirty="0"/>
                  <a:t>则与氨气反应的硫酸物质的量</a:t>
                </a:r>
                <a:r>
                  <a:rPr lang="en-US" altLang="zh-CN" sz="2800" dirty="0"/>
                  <a:t>= 0.025mol – 0.019mol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altLang="zh-CN" sz="2800" dirty="0"/>
                  <a:t>				            = 0.006mol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zh-CN" altLang="en-US" sz="2800" dirty="0"/>
                  <a:t>根据：</a:t>
                </a:r>
                <a:r>
                  <a:rPr lang="en-US" altLang="zh-CN" sz="2800" dirty="0"/>
                  <a:t>H</a:t>
                </a:r>
                <a:r>
                  <a:rPr lang="en-US" altLang="zh-CN" sz="2800" baseline="-25000" dirty="0"/>
                  <a:t>2</a:t>
                </a:r>
                <a:r>
                  <a:rPr lang="en-US" altLang="zh-CN" sz="2800" dirty="0"/>
                  <a:t>SO</a:t>
                </a:r>
                <a:r>
                  <a:rPr lang="en-US" altLang="zh-CN" sz="2800" baseline="-25000" dirty="0"/>
                  <a:t>4</a:t>
                </a:r>
                <a:r>
                  <a:rPr lang="en-US" altLang="zh-CN" sz="2800" dirty="0"/>
                  <a:t> + 2NH</a:t>
                </a:r>
                <a:r>
                  <a:rPr lang="en-US" altLang="zh-CN" sz="2800" baseline="-25000" dirty="0"/>
                  <a:t>3</a:t>
                </a:r>
                <a:r>
                  <a:rPr lang="en-US" altLang="zh-CN" sz="2800" dirty="0"/>
                  <a:t> 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 (NH</a:t>
                </a:r>
                <a:r>
                  <a:rPr lang="en-US" altLang="zh-CN" sz="2800" baseline="-25000" dirty="0">
                    <a:sym typeface="Wingdings" panose="05000000000000000000" pitchFamily="2" charset="2"/>
                  </a:rPr>
                  <a:t>4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)</a:t>
                </a:r>
                <a:r>
                  <a:rPr lang="en-US" altLang="zh-CN" sz="2800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 SO</a:t>
                </a:r>
                <a:r>
                  <a:rPr lang="en-US" altLang="zh-CN" sz="2800" baseline="-25000" dirty="0">
                    <a:sym typeface="Wingdings" panose="05000000000000000000" pitchFamily="2" charset="2"/>
                  </a:rPr>
                  <a:t>4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 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zh-CN" altLang="en-US" sz="2800" dirty="0"/>
                  <a:t>则</a:t>
                </a:r>
                <a:r>
                  <a:rPr lang="en-US" altLang="zh-CN" sz="2800" dirty="0"/>
                  <a:t>NH</a:t>
                </a:r>
                <a:r>
                  <a:rPr lang="en-US" altLang="zh-CN" sz="2800" baseline="-25000" dirty="0"/>
                  <a:t>3</a:t>
                </a:r>
                <a:r>
                  <a:rPr lang="zh-CN" altLang="en-US" sz="2800" dirty="0"/>
                  <a:t>的物质的量</a:t>
                </a:r>
                <a:r>
                  <a:rPr lang="en-US" altLang="zh-CN" sz="2800" dirty="0"/>
                  <a:t>= 0.012mol</a:t>
                </a:r>
              </a:p>
              <a:p>
                <a:pPr marL="514350" indent="-514350">
                  <a:spcBef>
                    <a:spcPts val="600"/>
                  </a:spcBef>
                  <a:buAutoNum type="arabicParenBoth"/>
                </a:pPr>
                <a:r>
                  <a:rPr lang="en-US" altLang="zh-CN" sz="2800" dirty="0"/>
                  <a:t>30ml</a:t>
                </a:r>
                <a:r>
                  <a:rPr lang="zh-CN" altLang="en-US" sz="2800" dirty="0"/>
                  <a:t>牛奶中氮元素的质量</a:t>
                </a:r>
                <a:r>
                  <a:rPr lang="en-US" altLang="zh-CN" sz="2800" dirty="0"/>
                  <a:t>=0.012mol x 14g/mol 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altLang="zh-CN" sz="2800" dirty="0"/>
                  <a:t>				         = 0.168g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762000"/>
                <a:ext cx="8686800" cy="5715000"/>
              </a:xfrm>
              <a:blipFill>
                <a:blip r:embed="rId3"/>
                <a:stretch>
                  <a:fillRect l="-1474" t="-1173" b="-8849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72159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作答题</a:t>
            </a:r>
            <a:endParaRPr lang="en-US" sz="40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990600"/>
                <a:ext cx="8686800" cy="5715000"/>
              </a:xfrm>
            </p:spPr>
            <p:txBody>
              <a:bodyPr>
                <a:noAutofit/>
              </a:bodyPr>
              <a:lstStyle/>
              <a:p>
                <a:pPr marL="514350" indent="-514350">
                  <a:spcBef>
                    <a:spcPts val="600"/>
                  </a:spcBef>
                  <a:buAutoNum type="arabicPeriod" startAt="5"/>
                </a:pPr>
                <a:r>
                  <a:rPr lang="en-US" altLang="zh-CN" sz="2800" dirty="0"/>
                  <a:t>(2) </a:t>
                </a:r>
                <a:r>
                  <a:rPr lang="zh-CN" altLang="en-US" sz="2800" dirty="0"/>
                  <a:t>已知</a:t>
                </a:r>
                <a:r>
                  <a:rPr lang="en-US" altLang="zh-CN" sz="2800" dirty="0"/>
                  <a:t>30ml</a:t>
                </a:r>
                <a:r>
                  <a:rPr lang="zh-CN" altLang="en-US" sz="2800" dirty="0"/>
                  <a:t>牛奶中</a:t>
                </a:r>
                <a:r>
                  <a:rPr lang="en-US" altLang="zh-CN" sz="2800" dirty="0"/>
                  <a:t>N</a:t>
                </a:r>
                <a:r>
                  <a:rPr lang="zh-CN" altLang="en-US" sz="2800" dirty="0"/>
                  <a:t>元素质量为</a:t>
                </a:r>
                <a:r>
                  <a:rPr lang="en-US" altLang="zh-CN" sz="2800" dirty="0"/>
                  <a:t>0.168g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altLang="zh-CN" sz="2800" dirty="0"/>
                  <a:t>m</a:t>
                </a:r>
                <a:r>
                  <a:rPr lang="zh-CN" altLang="en-US" sz="2800" dirty="0"/>
                  <a:t>牛奶 </a:t>
                </a:r>
                <a:r>
                  <a:rPr lang="en-US" altLang="zh-CN" sz="2800" dirty="0"/>
                  <a:t>= </a:t>
                </a:r>
                <a:r>
                  <a:rPr lang="el-GR" sz="2800" dirty="0"/>
                  <a:t>ρ</a:t>
                </a:r>
                <a:r>
                  <a:rPr lang="en-MY" sz="2800" dirty="0"/>
                  <a:t> </a:t>
                </a:r>
                <a:r>
                  <a:rPr lang="en-US" altLang="zh-CN" sz="2800" dirty="0"/>
                  <a:t>V 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sz="2800" dirty="0"/>
                  <a:t>	  </a:t>
                </a:r>
                <a:r>
                  <a:rPr lang="en-US" altLang="zh-CN" sz="2800" dirty="0"/>
                  <a:t>= 1.03g/mL x 30mL 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sz="2800" dirty="0"/>
                  <a:t>	  = 30.9g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sz="2800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sz="2800" b="0" i="1" smtClean="0">
                            <a:latin typeface="Cambria Math" panose="02040503050406030204" pitchFamily="18" charset="0"/>
                          </a:rPr>
                          <m:t>𝑚𝑁</m:t>
                        </m:r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元素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800" i="1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zh-CN" altLang="en-US" sz="2800" i="1" smtClean="0">
                            <a:latin typeface="Cambria Math" panose="02040503050406030204" pitchFamily="18" charset="0"/>
                          </a:rPr>
                          <m:t>蛋白质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  <a:r>
                  <a:rPr lang="en-US" altLang="zh-CN" sz="2800" dirty="0"/>
                  <a:t>x 100%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= 16%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altLang="zh-CN" sz="2800" dirty="0"/>
                  <a:t>	m</a:t>
                </a:r>
                <a:r>
                  <a:rPr lang="zh-CN" altLang="en-US" sz="2800" dirty="0"/>
                  <a:t>蛋白质 </a:t>
                </a:r>
                <a:r>
                  <a:rPr lang="en-US" altLang="zh-CN" sz="2800" dirty="0"/>
                  <a:t>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sz="2800" b="0" i="1" smtClean="0">
                            <a:latin typeface="Cambria Math" panose="02040503050406030204" pitchFamily="18" charset="0"/>
                          </a:rPr>
                          <m:t>0.168</m:t>
                        </m:r>
                        <m:r>
                          <a:rPr lang="en-MY" sz="2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0.16</m:t>
                        </m:r>
                      </m:den>
                    </m:f>
                  </m:oMath>
                </a14:m>
                <a:endParaRPr lang="en-MY" altLang="zh-CN" sz="2800" dirty="0"/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MY" altLang="zh-CN" sz="2800" dirty="0"/>
                  <a:t>		         </a:t>
                </a:r>
                <a:r>
                  <a:rPr lang="en-US" altLang="zh-CN" sz="2800" dirty="0"/>
                  <a:t>= 1.05g</a:t>
                </a:r>
                <a:r>
                  <a:rPr lang="zh-CN" altLang="en-US" sz="2800" dirty="0"/>
                  <a:t> </a:t>
                </a:r>
                <a:endParaRPr lang="en-MY" altLang="zh-CN" sz="2800" dirty="0"/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zh-CN" altLang="en-US" sz="2800" dirty="0"/>
                  <a:t>牛奶中蛋白质的质量百分比</a:t>
                </a:r>
                <a:r>
                  <a:rPr lang="en-US" altLang="zh-CN" sz="28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MY" sz="2800" i="1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30.9</m:t>
                        </m:r>
                        <m:r>
                          <m:rPr>
                            <m:sty m:val="p"/>
                          </m:rPr>
                          <a:rPr lang="en-US" altLang="zh-CN" sz="2800" i="1">
                            <a:latin typeface="Cambria Math" panose="02040503050406030204" pitchFamily="18" charset="0"/>
                          </a:rPr>
                          <m:t>g</m:t>
                        </m:r>
                      </m:den>
                    </m:f>
                    <m:r>
                      <a:rPr lang="en-MY" altLang="zh-CN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MY" sz="2800" dirty="0"/>
                  <a:t>x 100%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MY" sz="2800" dirty="0"/>
                  <a:t>				        = 3.4%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endParaRPr lang="en-US" altLang="zh-CN" sz="28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990600"/>
                <a:ext cx="8686800" cy="5715000"/>
              </a:xfrm>
              <a:blipFill>
                <a:blip r:embed="rId3"/>
                <a:stretch>
                  <a:fillRect l="-1474" t="-160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45061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作答题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57150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800" dirty="0"/>
              <a:t>6. 	</a:t>
            </a:r>
            <a:r>
              <a:rPr lang="zh-CN" altLang="en-US" sz="2800" dirty="0"/>
              <a:t>答案提示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800" dirty="0"/>
              <a:t>	A 	C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H</a:t>
            </a:r>
            <a:r>
              <a:rPr lang="en-US" altLang="zh-CN" sz="2800" baseline="-25000" dirty="0"/>
              <a:t>6</a:t>
            </a:r>
            <a:r>
              <a:rPr lang="en-US" altLang="zh-CN" sz="2800" dirty="0"/>
              <a:t> 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		</a:t>
            </a:r>
          </a:p>
          <a:p>
            <a:pPr marL="914400" lvl="1" indent="-514350">
              <a:spcBef>
                <a:spcPts val="600"/>
              </a:spcBef>
              <a:buNone/>
            </a:pPr>
            <a:endParaRPr lang="en-US" altLang="zh-CN" sz="2600" dirty="0"/>
          </a:p>
        </p:txBody>
      </p:sp>
      <p:grpSp>
        <p:nvGrpSpPr>
          <p:cNvPr id="5" name="Group 4"/>
          <p:cNvGrpSpPr/>
          <p:nvPr/>
        </p:nvGrpSpPr>
        <p:grpSpPr>
          <a:xfrm>
            <a:off x="2772180" y="1905000"/>
            <a:ext cx="829713" cy="762000"/>
            <a:chOff x="2819400" y="5804079"/>
            <a:chExt cx="829713" cy="762000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2819400" y="6172117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2866620" y="6196747"/>
              <a:ext cx="7232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加热</a:t>
              </a:r>
              <a:endParaRPr lang="en-US" b="1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844084" y="5804079"/>
              <a:ext cx="8050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/>
                <a:t>NaOH</a:t>
              </a:r>
              <a:r>
                <a:rPr lang="en-US" b="1" dirty="0"/>
                <a:t> </a:t>
              </a:r>
            </a:p>
          </p:txBody>
        </p:sp>
      </p:grpSp>
      <p:sp>
        <p:nvSpPr>
          <p:cNvPr id="9" name="Rectangle 8"/>
          <p:cNvSpPr/>
          <p:nvPr/>
        </p:nvSpPr>
        <p:spPr>
          <a:xfrm>
            <a:off x="3610839" y="2057400"/>
            <a:ext cx="4619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B </a:t>
            </a:r>
            <a:endParaRPr lang="en-US" sz="2800" dirty="0"/>
          </a:p>
        </p:txBody>
      </p:sp>
      <p:grpSp>
        <p:nvGrpSpPr>
          <p:cNvPr id="11" name="Group 10"/>
          <p:cNvGrpSpPr/>
          <p:nvPr/>
        </p:nvGrpSpPr>
        <p:grpSpPr>
          <a:xfrm>
            <a:off x="4038600" y="1905000"/>
            <a:ext cx="917650" cy="762000"/>
            <a:chOff x="2672245" y="5804079"/>
            <a:chExt cx="917650" cy="762000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2819400" y="6172117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2866620" y="6196747"/>
              <a:ext cx="7232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加热</a:t>
              </a:r>
              <a:endParaRPr lang="en-US" b="1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672245" y="5804079"/>
              <a:ext cx="8819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/>
                <a:t>浓硫酸</a:t>
              </a:r>
              <a:endParaRPr lang="en-US" b="1" dirty="0"/>
            </a:p>
          </p:txBody>
        </p:sp>
      </p:grpSp>
      <p:sp>
        <p:nvSpPr>
          <p:cNvPr id="15" name="Rectangle 14"/>
          <p:cNvSpPr/>
          <p:nvPr/>
        </p:nvSpPr>
        <p:spPr>
          <a:xfrm>
            <a:off x="5024414" y="2057400"/>
            <a:ext cx="4571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C </a:t>
            </a:r>
            <a:endParaRPr lang="en-US" sz="2800" dirty="0"/>
          </a:p>
        </p:txBody>
      </p:sp>
      <p:sp>
        <p:nvSpPr>
          <p:cNvPr id="16" name="Rectangle 15"/>
          <p:cNvSpPr/>
          <p:nvPr/>
        </p:nvSpPr>
        <p:spPr>
          <a:xfrm>
            <a:off x="5029200" y="2514600"/>
            <a:ext cx="1143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乙烯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576614" y="2514600"/>
            <a:ext cx="107158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乙醇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62000" y="2600980"/>
            <a:ext cx="2209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甲酸乙酯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38200" y="3276600"/>
            <a:ext cx="4619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B </a:t>
            </a:r>
            <a:endParaRPr lang="en-US" sz="2800" dirty="0"/>
          </a:p>
        </p:txBody>
      </p:sp>
      <p:grpSp>
        <p:nvGrpSpPr>
          <p:cNvPr id="20" name="Group 19"/>
          <p:cNvGrpSpPr/>
          <p:nvPr/>
        </p:nvGrpSpPr>
        <p:grpSpPr>
          <a:xfrm>
            <a:off x="1413116" y="3124200"/>
            <a:ext cx="770495" cy="762000"/>
            <a:chOff x="2819400" y="5804079"/>
            <a:chExt cx="770495" cy="762000"/>
          </a:xfrm>
        </p:grpSpPr>
        <p:cxnSp>
          <p:nvCxnSpPr>
            <p:cNvPr id="21" name="Straight Arrow Connector 20"/>
            <p:cNvCxnSpPr/>
            <p:nvPr/>
          </p:nvCxnSpPr>
          <p:spPr>
            <a:xfrm>
              <a:off x="2819400" y="6172117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2866620" y="6196747"/>
              <a:ext cx="7232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加热</a:t>
              </a:r>
              <a:endParaRPr lang="en-US" b="1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957558" y="5804079"/>
              <a:ext cx="4299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Cu</a:t>
              </a:r>
            </a:p>
          </p:txBody>
        </p:sp>
      </p:grpSp>
      <p:sp>
        <p:nvSpPr>
          <p:cNvPr id="24" name="Rectangle 23"/>
          <p:cNvSpPr/>
          <p:nvPr/>
        </p:nvSpPr>
        <p:spPr>
          <a:xfrm>
            <a:off x="2251775" y="3276600"/>
            <a:ext cx="4876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D </a:t>
            </a:r>
            <a:endParaRPr lang="en-US" sz="2800" dirty="0"/>
          </a:p>
        </p:txBody>
      </p:sp>
      <p:grpSp>
        <p:nvGrpSpPr>
          <p:cNvPr id="26" name="Group 25"/>
          <p:cNvGrpSpPr/>
          <p:nvPr/>
        </p:nvGrpSpPr>
        <p:grpSpPr>
          <a:xfrm>
            <a:off x="2773680" y="3124200"/>
            <a:ext cx="1188720" cy="738664"/>
            <a:chOff x="2625484" y="5815747"/>
            <a:chExt cx="1188720" cy="738664"/>
          </a:xfrm>
        </p:grpSpPr>
        <p:cxnSp>
          <p:nvCxnSpPr>
            <p:cNvPr id="27" name="Straight Arrow Connector 26"/>
            <p:cNvCxnSpPr/>
            <p:nvPr/>
          </p:nvCxnSpPr>
          <p:spPr>
            <a:xfrm>
              <a:off x="2625484" y="6172117"/>
              <a:ext cx="11887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2866620" y="6185079"/>
              <a:ext cx="7232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加热</a:t>
              </a:r>
              <a:endParaRPr lang="en-US" b="1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625484" y="5815747"/>
              <a:ext cx="1114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/>
                <a:t>斐林试剂</a:t>
              </a:r>
              <a:endParaRPr lang="en-US" b="1" dirty="0"/>
            </a:p>
          </p:txBody>
        </p:sp>
      </p:grpSp>
      <p:sp>
        <p:nvSpPr>
          <p:cNvPr id="30" name="Rectangle 29"/>
          <p:cNvSpPr/>
          <p:nvPr/>
        </p:nvSpPr>
        <p:spPr>
          <a:xfrm>
            <a:off x="4080575" y="3276600"/>
            <a:ext cx="29594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E + Cu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 </a:t>
            </a:r>
            <a:r>
              <a:rPr lang="zh-CN" altLang="en-US" sz="2800" dirty="0"/>
              <a:t>红色沉淀</a:t>
            </a:r>
            <a:endParaRPr lang="en-US" sz="2800" dirty="0"/>
          </a:p>
        </p:txBody>
      </p:sp>
      <p:sp>
        <p:nvSpPr>
          <p:cNvPr id="31" name="Rectangle 30"/>
          <p:cNvSpPr/>
          <p:nvPr/>
        </p:nvSpPr>
        <p:spPr>
          <a:xfrm>
            <a:off x="4191000" y="3896380"/>
            <a:ext cx="1676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乙酸钠</a:t>
            </a:r>
            <a:endParaRPr lang="en-US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209800" y="3896380"/>
            <a:ext cx="106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乙醛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62000" y="3896380"/>
            <a:ext cx="990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乙醇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792404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  <p:bldP spid="15" grpId="0"/>
      <p:bldP spid="16" grpId="0"/>
      <p:bldP spid="17" grpId="0"/>
      <p:bldP spid="18" grpId="0"/>
      <p:bldP spid="19" grpId="0"/>
      <p:bldP spid="24" grpId="0"/>
      <p:bldP spid="30" grpId="0"/>
      <p:bldP spid="31" grpId="0"/>
      <p:bldP spid="32" grpId="0"/>
      <p:bldP spid="33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作答题</a:t>
            </a:r>
            <a:endParaRPr 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143000"/>
                <a:ext cx="8686800" cy="5715000"/>
              </a:xfrm>
            </p:spPr>
            <p:txBody>
              <a:bodyPr>
                <a:noAutofit/>
              </a:bodyPr>
              <a:lstStyle/>
              <a:p>
                <a:pPr marL="514350" indent="-514350">
                  <a:spcBef>
                    <a:spcPts val="600"/>
                  </a:spcBef>
                  <a:buNone/>
                </a:pPr>
                <a:r>
                  <a:rPr lang="en-US" altLang="zh-CN" sz="2800" dirty="0"/>
                  <a:t>7. 	M	= 30x2 </a:t>
                </a:r>
              </a:p>
              <a:p>
                <a:pPr marL="514350" indent="-514350">
                  <a:spcBef>
                    <a:spcPts val="600"/>
                  </a:spcBef>
                  <a:buNone/>
                </a:pPr>
                <a:r>
                  <a:rPr lang="en-US" altLang="zh-CN" sz="2800" dirty="0"/>
                  <a:t>		= 60</a:t>
                </a:r>
              </a:p>
              <a:p>
                <a:pPr marL="514350" indent="-514350">
                  <a:spcBef>
                    <a:spcPts val="600"/>
                  </a:spcBef>
                  <a:buNone/>
                </a:pPr>
                <a:r>
                  <a:rPr lang="en-US" altLang="zh-CN" sz="2800" dirty="0"/>
                  <a:t>C</a:t>
                </a:r>
                <a:r>
                  <a:rPr lang="zh-CN" altLang="en-US" sz="2800" dirty="0"/>
                  <a:t>、</a:t>
                </a:r>
                <a:r>
                  <a:rPr lang="en-US" altLang="zh-CN" sz="2800" dirty="0"/>
                  <a:t>H</a:t>
                </a:r>
                <a:r>
                  <a:rPr lang="zh-CN" altLang="en-US" sz="2800" dirty="0"/>
                  <a:t>、</a:t>
                </a:r>
                <a:r>
                  <a:rPr lang="en-US" altLang="zh-CN" sz="2800" dirty="0"/>
                  <a:t>O</a:t>
                </a:r>
                <a:r>
                  <a:rPr lang="zh-CN" altLang="en-US" sz="2800" dirty="0"/>
                  <a:t>的原子个数比</a:t>
                </a:r>
                <a:r>
                  <a:rPr lang="en-US" altLang="zh-CN" sz="2800" dirty="0"/>
                  <a:t>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US" altLang="zh-CN" sz="2800" dirty="0"/>
                  <a:t>  </a:t>
                </a:r>
                <a:r>
                  <a:rPr lang="zh-CN" altLang="en-US" sz="2800" dirty="0"/>
                  <a:t>：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6.6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US" altLang="zh-CN" sz="2800" dirty="0"/>
                  <a:t>    </a:t>
                </a:r>
                <a:r>
                  <a:rPr lang="zh-CN" altLang="en-US" sz="2800" dirty="0"/>
                  <a:t>：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53.4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altLang="zh-CN" sz="2800" dirty="0"/>
                  <a:t> </a:t>
                </a:r>
              </a:p>
              <a:p>
                <a:pPr marL="514350" indent="-514350">
                  <a:spcBef>
                    <a:spcPts val="600"/>
                  </a:spcBef>
                  <a:buNone/>
                </a:pPr>
                <a:r>
                  <a:rPr lang="en-US" altLang="zh-CN" sz="2800" dirty="0"/>
                  <a:t>				 	= 3.3 </a:t>
                </a:r>
                <a:r>
                  <a:rPr lang="zh-CN" altLang="en-US" sz="2800" dirty="0"/>
                  <a:t>： </a:t>
                </a:r>
                <a:r>
                  <a:rPr lang="en-US" altLang="zh-CN" sz="2800" dirty="0"/>
                  <a:t>6.6 </a:t>
                </a:r>
                <a:r>
                  <a:rPr lang="zh-CN" altLang="en-US" sz="2800" dirty="0"/>
                  <a:t>： </a:t>
                </a:r>
                <a:r>
                  <a:rPr lang="en-US" altLang="zh-CN" sz="2800" dirty="0"/>
                  <a:t>3.3</a:t>
                </a:r>
              </a:p>
              <a:p>
                <a:pPr marL="514350" indent="-514350">
                  <a:spcBef>
                    <a:spcPts val="600"/>
                  </a:spcBef>
                  <a:buNone/>
                </a:pPr>
                <a:r>
                  <a:rPr lang="en-US" altLang="zh-CN" sz="2800" dirty="0"/>
                  <a:t>					= 1</a:t>
                </a:r>
                <a:r>
                  <a:rPr lang="zh-CN" altLang="en-US" sz="2800" dirty="0"/>
                  <a:t>：</a:t>
                </a:r>
                <a:r>
                  <a:rPr lang="en-US" altLang="zh-CN" sz="2800" dirty="0"/>
                  <a:t>2</a:t>
                </a:r>
                <a:r>
                  <a:rPr lang="zh-CN" altLang="en-US" sz="2800" dirty="0"/>
                  <a:t>：</a:t>
                </a:r>
                <a:r>
                  <a:rPr lang="en-US" altLang="zh-CN" sz="2800" dirty="0"/>
                  <a:t>1</a:t>
                </a:r>
              </a:p>
              <a:p>
                <a:pPr marL="514350" indent="-514350">
                  <a:spcBef>
                    <a:spcPts val="600"/>
                  </a:spcBef>
                  <a:buNone/>
                </a:pPr>
                <a:r>
                  <a:rPr lang="en-US" altLang="zh-CN" sz="2800" dirty="0" err="1"/>
                  <a:t>Mr</a:t>
                </a:r>
                <a:r>
                  <a:rPr lang="en-US" altLang="zh-CN" sz="2800" dirty="0"/>
                  <a:t> (</a:t>
                </a:r>
                <a:r>
                  <a:rPr lang="en-US" altLang="zh-CN" sz="2800" dirty="0" err="1"/>
                  <a:t>C</a:t>
                </a:r>
                <a:r>
                  <a:rPr lang="en-US" altLang="zh-CN" sz="2800" baseline="-25000" dirty="0" err="1"/>
                  <a:t>n</a:t>
                </a:r>
                <a:r>
                  <a:rPr lang="en-US" altLang="zh-CN" sz="2800" baseline="-25000" dirty="0"/>
                  <a:t> </a:t>
                </a:r>
                <a:r>
                  <a:rPr lang="en-US" altLang="zh-CN" sz="2800" dirty="0"/>
                  <a:t>H</a:t>
                </a:r>
                <a:r>
                  <a:rPr lang="en-US" altLang="zh-CN" sz="2800" baseline="-25000" dirty="0"/>
                  <a:t>2n</a:t>
                </a:r>
                <a:r>
                  <a:rPr lang="en-US" altLang="zh-CN" sz="2800" dirty="0"/>
                  <a:t>O</a:t>
                </a:r>
                <a:r>
                  <a:rPr lang="en-US" altLang="zh-CN" sz="2800" baseline="-25000" dirty="0"/>
                  <a:t>n</a:t>
                </a:r>
                <a:r>
                  <a:rPr lang="en-US" altLang="zh-CN" sz="2800" dirty="0"/>
                  <a:t> ) = 60 </a:t>
                </a:r>
              </a:p>
              <a:p>
                <a:pPr marL="514350" indent="-514350">
                  <a:spcBef>
                    <a:spcPts val="600"/>
                  </a:spcBef>
                  <a:buNone/>
                </a:pPr>
                <a:r>
                  <a:rPr lang="en-US" altLang="zh-CN" sz="2800" dirty="0"/>
                  <a:t>12n + 2n +16n = 60</a:t>
                </a:r>
              </a:p>
              <a:p>
                <a:pPr marL="514350" indent="-514350">
                  <a:spcBef>
                    <a:spcPts val="600"/>
                  </a:spcBef>
                  <a:buNone/>
                </a:pPr>
                <a:r>
                  <a:rPr lang="en-US" altLang="zh-CN" sz="2800" dirty="0"/>
                  <a:t>			n = 2</a:t>
                </a:r>
              </a:p>
              <a:p>
                <a:pPr marL="514350" indent="-514350">
                  <a:spcBef>
                    <a:spcPts val="600"/>
                  </a:spcBef>
                  <a:buNone/>
                </a:pPr>
                <a:r>
                  <a:rPr lang="zh-CN" altLang="en-US" sz="2800" dirty="0"/>
                  <a:t>此有机物具有酸的通性，则此有机物为乙酸</a:t>
                </a:r>
                <a:endParaRPr lang="en-US" altLang="zh-CN" sz="2800" dirty="0"/>
              </a:p>
              <a:p>
                <a:pPr marL="514350" indent="-514350">
                  <a:spcBef>
                    <a:spcPts val="600"/>
                  </a:spcBef>
                  <a:buNone/>
                </a:pPr>
                <a:endParaRPr lang="en-US" altLang="zh-CN" sz="2800" dirty="0"/>
              </a:p>
              <a:p>
                <a:pPr marL="514350" indent="-514350">
                  <a:spcBef>
                    <a:spcPts val="600"/>
                  </a:spcBef>
                  <a:buNone/>
                </a:pPr>
                <a:endParaRPr lang="en-US" altLang="zh-CN" sz="2800" dirty="0"/>
              </a:p>
              <a:p>
                <a:pPr marL="514350" indent="-514350">
                  <a:spcBef>
                    <a:spcPts val="600"/>
                  </a:spcBef>
                  <a:buNone/>
                </a:pPr>
                <a:endParaRPr lang="en-US" altLang="zh-CN" sz="2800" dirty="0"/>
              </a:p>
              <a:p>
                <a:pPr marL="914400" lvl="1" indent="-514350">
                  <a:spcBef>
                    <a:spcPts val="600"/>
                  </a:spcBef>
                  <a:buNone/>
                </a:pPr>
                <a:endParaRPr lang="en-US" altLang="zh-CN" sz="26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143000"/>
                <a:ext cx="8686800" cy="5715000"/>
              </a:xfrm>
              <a:blipFill>
                <a:blip r:embed="rId3"/>
                <a:stretch>
                  <a:fillRect l="-1404" t="-106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4114800" y="4191000"/>
            <a:ext cx="3429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分子式：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altLang="zh-CN" sz="2800" b="1" baseline="-25000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</a:t>
            </a:r>
            <a:r>
              <a:rPr lang="en-US" altLang="zh-CN" sz="2800" b="1" baseline="-25000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</a:t>
            </a:r>
            <a:r>
              <a:rPr lang="en-US" altLang="zh-CN" sz="2800" b="1" baseline="-25000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86200" y="5648980"/>
            <a:ext cx="4038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结构简式：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</a:t>
            </a:r>
            <a:r>
              <a:rPr lang="en-US" altLang="zh-CN" sz="2800" b="1" baseline="-25000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COOH</a:t>
            </a:r>
          </a:p>
        </p:txBody>
      </p:sp>
    </p:spTree>
    <p:extLst>
      <p:ext uri="{BB962C8B-B14F-4D97-AF65-F5344CB8AC3E}">
        <p14:creationId xmlns:p14="http://schemas.microsoft.com/office/powerpoint/2010/main" val="36308473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作答题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839200" cy="5715000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zh-CN" sz="2800" dirty="0"/>
              <a:t>8. </a:t>
            </a:r>
            <a:r>
              <a:rPr lang="en-MY" altLang="zh-CN" sz="2800" dirty="0"/>
              <a:t>(1) </a:t>
            </a:r>
            <a:r>
              <a:rPr lang="en-US" altLang="zh-CN" sz="2800" dirty="0"/>
              <a:t>A</a:t>
            </a:r>
            <a:r>
              <a:rPr lang="zh-CN" altLang="en-US" sz="2800" dirty="0"/>
              <a:t>、</a:t>
            </a:r>
            <a:r>
              <a:rPr lang="en-US" altLang="zh-CN" sz="2800" dirty="0"/>
              <a:t>B</a:t>
            </a:r>
            <a:r>
              <a:rPr lang="zh-CN" altLang="en-US" sz="2800" dirty="0"/>
              <a:t>、</a:t>
            </a:r>
            <a:r>
              <a:rPr lang="en-US" altLang="zh-CN" sz="2800" dirty="0"/>
              <a:t>C</a:t>
            </a:r>
            <a:r>
              <a:rPr lang="zh-CN" altLang="en-US" sz="2800" dirty="0"/>
              <a:t>、</a:t>
            </a:r>
            <a:r>
              <a:rPr lang="en-US" altLang="zh-CN" sz="2800" dirty="0"/>
              <a:t>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800" dirty="0"/>
              <a:t>(2) ①</a:t>
            </a:r>
            <a:r>
              <a:rPr lang="zh-CN" altLang="en-US" sz="2800" dirty="0"/>
              <a:t>饱和碳酸钠溶液   </a:t>
            </a:r>
            <a:endParaRPr lang="en-MY" altLang="zh-CN" sz="2800" dirty="0"/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2800" dirty="0"/>
              <a:t>②分液   分液漏斗   </a:t>
            </a:r>
            <a:endParaRPr lang="en-MY" altLang="zh-CN" sz="2800" dirty="0"/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2800" dirty="0"/>
              <a:t>③稀硫酸   </a:t>
            </a:r>
            <a:endParaRPr lang="en-MY" altLang="zh-CN" sz="2800" dirty="0"/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2800" dirty="0"/>
              <a:t>④蒸馏  </a:t>
            </a:r>
            <a:endParaRPr lang="en-MY" altLang="zh-CN" sz="2800" dirty="0"/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2800" dirty="0"/>
              <a:t>⑤</a:t>
            </a:r>
            <a:r>
              <a:rPr lang="en-US" altLang="zh-CN" sz="2800" dirty="0"/>
              <a:t>b</a:t>
            </a:r>
            <a:r>
              <a:rPr lang="zh-CN" altLang="en-US" sz="2800" dirty="0"/>
              <a:t>；</a:t>
            </a:r>
            <a:endParaRPr lang="en-MY" altLang="zh-CN" sz="2800" dirty="0"/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2800" dirty="0"/>
              <a:t>酒精灯、冷凝管、牛角管、锥形瓶；</a:t>
            </a:r>
            <a:endParaRPr lang="en-MY" altLang="zh-CN" sz="2800" dirty="0"/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2800" dirty="0"/>
              <a:t>略高于</a:t>
            </a:r>
            <a:r>
              <a:rPr lang="en-US" altLang="zh-CN" sz="2800" dirty="0"/>
              <a:t>118 ℃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3830E64-96BF-45B7-B184-C3E7130CC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305" y="456096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8011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+mn-ea"/>
              </a:rPr>
              <a:t>作答题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839200" cy="5715000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zh-CN" sz="2800" dirty="0"/>
              <a:t>8 </a:t>
            </a:r>
            <a:r>
              <a:rPr lang="zh-CN" altLang="en-US" sz="2800" dirty="0"/>
              <a:t>解析：</a:t>
            </a:r>
            <a:r>
              <a:rPr lang="en-US" altLang="zh-CN" sz="2800" dirty="0"/>
              <a:t>(1)</a:t>
            </a:r>
            <a:r>
              <a:rPr lang="zh-CN" altLang="en-US" sz="2800" dirty="0"/>
              <a:t>制取乙酸乙酯的反应是可逆反应，蒸发出来的气体除了含有乙酸乙酯外，还有乙酸和乙醇。乙酸可以和饱和碳酸钠溶液反应放出二氧化碳气体，乙醇可以溶解在饱和碳酸钠溶液，乙酸乙酯的密度小于水的，所以在上层。因此</a:t>
            </a:r>
            <a:r>
              <a:rPr lang="en-US" altLang="zh-CN" sz="2800" dirty="0"/>
              <a:t>A</a:t>
            </a:r>
            <a:r>
              <a:rPr lang="zh-CN" altLang="en-US" sz="2800" dirty="0"/>
              <a:t>、</a:t>
            </a:r>
            <a:r>
              <a:rPr lang="en-US" altLang="zh-CN" sz="2800" dirty="0"/>
              <a:t>B</a:t>
            </a:r>
            <a:r>
              <a:rPr lang="zh-CN" altLang="en-US" sz="2800" dirty="0"/>
              <a:t>、</a:t>
            </a:r>
            <a:r>
              <a:rPr lang="en-US" altLang="zh-CN" sz="2800" dirty="0"/>
              <a:t>C</a:t>
            </a:r>
            <a:r>
              <a:rPr lang="zh-CN" altLang="en-US" sz="2800" dirty="0"/>
              <a:t>、</a:t>
            </a:r>
            <a:r>
              <a:rPr lang="en-US" altLang="zh-CN" sz="2800" dirty="0"/>
              <a:t>D</a:t>
            </a:r>
            <a:r>
              <a:rPr lang="zh-CN" altLang="en-US" sz="2800" dirty="0"/>
              <a:t>均正确。</a:t>
            </a:r>
            <a:endParaRPr lang="en-MY" altLang="zh-CN" sz="2800" dirty="0"/>
          </a:p>
          <a:p>
            <a:pPr marL="0" indent="0">
              <a:spcBef>
                <a:spcPts val="600"/>
              </a:spcBef>
              <a:buNone/>
            </a:pPr>
            <a:r>
              <a:rPr lang="en-MY" altLang="zh-CN" sz="2800" dirty="0"/>
              <a:t>(2) </a:t>
            </a:r>
            <a:r>
              <a:rPr lang="zh-CN" altLang="en-US" sz="2800" dirty="0"/>
              <a:t>因为饱和碳酸钠溶液可以吸收乙酸，溶解乙醇，同时降低乙酸乙酯在水中的溶解度，所以可以通过饱和碳酸钠溶液分液，分液的主要仪器是分液漏斗。</a:t>
            </a:r>
            <a:r>
              <a:rPr lang="en-US" altLang="zh-CN" sz="2800" dirty="0"/>
              <a:t>B</a:t>
            </a:r>
            <a:r>
              <a:rPr lang="zh-CN" altLang="en-US" sz="2800" dirty="0"/>
              <a:t>中主要是乙醇、碳酸钠和乙酸钠的混合液，通过蒸馏得到乙醇，要得到乙酸，需要加入硫酸重新生成乙酸，最后再通过蒸馏得到乙酸。蒸馏时需要控制蒸汽的温度，所以温度计的水银球应放在蒸馏烧瓶支管的出口处，即</a:t>
            </a:r>
            <a:r>
              <a:rPr lang="en-US" altLang="zh-CN" sz="2800" dirty="0"/>
              <a:t>b</a:t>
            </a:r>
            <a:r>
              <a:rPr lang="zh-CN" altLang="en-US" sz="2800" dirty="0"/>
              <a:t>处。因为乙酸的沸点是</a:t>
            </a:r>
            <a:r>
              <a:rPr lang="en-US" altLang="zh-CN" sz="2800" dirty="0"/>
              <a:t>118℃</a:t>
            </a:r>
            <a:r>
              <a:rPr lang="zh-CN" altLang="en-US" sz="2800" dirty="0"/>
              <a:t>，所以温度应略高于</a:t>
            </a:r>
            <a:r>
              <a:rPr lang="en-US" altLang="zh-CN" sz="2800" dirty="0"/>
              <a:t>118℃</a:t>
            </a:r>
            <a:r>
              <a:rPr lang="zh-CN" altLang="en-US" sz="2800" dirty="0"/>
              <a:t>。</a:t>
            </a:r>
            <a:endParaRPr lang="en-US" altLang="zh-CN" sz="28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3830E64-96BF-45B7-B184-C3E7130CC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305" y="456096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9116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6145920</TotalTime>
  <Words>6228</Words>
  <Application>Microsoft Office PowerPoint</Application>
  <PresentationFormat>On-screen Show (4:3)</PresentationFormat>
  <Paragraphs>674</Paragraphs>
  <Slides>85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1" baseType="lpstr">
      <vt:lpstr>宋体</vt:lpstr>
      <vt:lpstr>Arial</vt:lpstr>
      <vt:lpstr>Calibri</vt:lpstr>
      <vt:lpstr>Cambria Math</vt:lpstr>
      <vt:lpstr>Wingdings</vt:lpstr>
      <vt:lpstr>Office Theme</vt:lpstr>
      <vt:lpstr>第34章  有机酸及其衍生物</vt:lpstr>
      <vt:lpstr>34.1 羧酸</vt:lpstr>
      <vt:lpstr>34.1.1 羧酸的分类和命名</vt:lpstr>
      <vt:lpstr>34.1.1 羧酸的分类和命名</vt:lpstr>
      <vt:lpstr>34.1.1 羧酸的分类和命名</vt:lpstr>
      <vt:lpstr>34.1.1 羧酸的分类和命名</vt:lpstr>
      <vt:lpstr>28.2.1 羧酸的分类和命名</vt:lpstr>
      <vt:lpstr>34.1.1 羧酸的分类和命名</vt:lpstr>
      <vt:lpstr>34.1.1 羧酸的分类和命名</vt:lpstr>
      <vt:lpstr>34.1.2 羧酸的物理性质</vt:lpstr>
      <vt:lpstr>34.1.3 羧酸的化学性质</vt:lpstr>
      <vt:lpstr>34.1.3 羧酸的化学性质</vt:lpstr>
      <vt:lpstr>34.1.3 羧酸的化学性质</vt:lpstr>
      <vt:lpstr>34.1.3 羧酸的化学性质</vt:lpstr>
      <vt:lpstr>34.1.3 羧酸的化学性质</vt:lpstr>
      <vt:lpstr>34.1.3 羧酸的化学性质</vt:lpstr>
      <vt:lpstr>34.1.3 羧酸的化学性质</vt:lpstr>
      <vt:lpstr>34.1.3 羧酸的化学性质</vt:lpstr>
      <vt:lpstr>34.1.3 羧酸的化学性质</vt:lpstr>
      <vt:lpstr>28.2.2 羧酸的性质</vt:lpstr>
      <vt:lpstr>34.1.3 羧酸的化学性质</vt:lpstr>
      <vt:lpstr>34.1.3 羧酸的化学性质</vt:lpstr>
      <vt:lpstr>练习</vt:lpstr>
      <vt:lpstr>34.1.4 羧酸的制备</vt:lpstr>
      <vt:lpstr>34.1.4 羧酸的制备</vt:lpstr>
      <vt:lpstr>34.1 羧酸</vt:lpstr>
      <vt:lpstr>34.1 羧酸</vt:lpstr>
      <vt:lpstr>34.1.5 甲酸</vt:lpstr>
      <vt:lpstr>34.1.5 甲酸</vt:lpstr>
      <vt:lpstr>34.1.5 甲酸</vt:lpstr>
      <vt:lpstr>34.1.5 甲酸</vt:lpstr>
      <vt:lpstr>34.1.6 乙酸</vt:lpstr>
      <vt:lpstr>34.1.6 乙酸</vt:lpstr>
      <vt:lpstr>思考题 34a</vt:lpstr>
      <vt:lpstr>34.2 酯</vt:lpstr>
      <vt:lpstr>34.2.1 酯的命名</vt:lpstr>
      <vt:lpstr>34.2.1 酯的命名</vt:lpstr>
      <vt:lpstr>34.2.1 酯的命名</vt:lpstr>
      <vt:lpstr>34.2.1 酯的命名</vt:lpstr>
      <vt:lpstr>34.2.2 酯的物理性质</vt:lpstr>
      <vt:lpstr>34.2.2 酯的物理性质</vt:lpstr>
      <vt:lpstr>34.2.2 酯的物理性质</vt:lpstr>
      <vt:lpstr>34.2.3 酯的化学性质</vt:lpstr>
      <vt:lpstr>34.2.3 酯的化学性质</vt:lpstr>
      <vt:lpstr>34.2.3 酯的化学性质</vt:lpstr>
      <vt:lpstr>34.2.3 酯的化学性质</vt:lpstr>
      <vt:lpstr>34.2.4 酯类的制备</vt:lpstr>
      <vt:lpstr>34.2.4 酯类的制备</vt:lpstr>
      <vt:lpstr>思考题 34b</vt:lpstr>
      <vt:lpstr>34.3 油酯</vt:lpstr>
      <vt:lpstr>34.3.1 油酯的组成和结构</vt:lpstr>
      <vt:lpstr>34.3.1 油酯的组成和结构</vt:lpstr>
      <vt:lpstr>34.3.2 油脂的物理性质</vt:lpstr>
      <vt:lpstr>34.3.2 油脂的化学性质</vt:lpstr>
      <vt:lpstr>34.3.2 油脂的化学性质</vt:lpstr>
      <vt:lpstr>34.3.2 油脂的化学性质</vt:lpstr>
      <vt:lpstr>34.3.2 油脂的化学性质</vt:lpstr>
      <vt:lpstr>34.3.4 肥皂与合成洗涤剂</vt:lpstr>
      <vt:lpstr>34.3.4 肥皂与合成洗涤剂</vt:lpstr>
      <vt:lpstr>34.3.4 肥皂与合成洗涤剂</vt:lpstr>
      <vt:lpstr>34.3.4 肥皂与合成洗涤剂</vt:lpstr>
      <vt:lpstr>34.3.4 肥皂与合成洗涤剂</vt:lpstr>
      <vt:lpstr>34.3.4 肥皂与合成洗涤剂</vt:lpstr>
      <vt:lpstr>34.3.4 肥皂与合成洗涤剂</vt:lpstr>
      <vt:lpstr>思考题 34c</vt:lpstr>
      <vt:lpstr>34.4 蛋白质</vt:lpstr>
      <vt:lpstr>34.4 蛋白质</vt:lpstr>
      <vt:lpstr>34.4 蛋白质</vt:lpstr>
      <vt:lpstr>思考题 34d</vt:lpstr>
      <vt:lpstr>思考题 34d</vt:lpstr>
      <vt:lpstr>选择题</vt:lpstr>
      <vt:lpstr>选择题</vt:lpstr>
      <vt:lpstr>选择题</vt:lpstr>
      <vt:lpstr>选择题</vt:lpstr>
      <vt:lpstr>选择题</vt:lpstr>
      <vt:lpstr>作答题（3，4，6，7）</vt:lpstr>
      <vt:lpstr>作答题</vt:lpstr>
      <vt:lpstr>作答题</vt:lpstr>
      <vt:lpstr>作答题</vt:lpstr>
      <vt:lpstr>作答题</vt:lpstr>
      <vt:lpstr>作答题</vt:lpstr>
      <vt:lpstr>作答题</vt:lpstr>
      <vt:lpstr>作答题</vt:lpstr>
      <vt:lpstr>作答题</vt:lpstr>
      <vt:lpstr>作答题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763</cp:revision>
  <dcterms:created xsi:type="dcterms:W3CDTF">2018-09-03T09:52:37Z</dcterms:created>
  <dcterms:modified xsi:type="dcterms:W3CDTF">2020-03-29T08:22:46Z</dcterms:modified>
</cp:coreProperties>
</file>