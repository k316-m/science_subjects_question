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sldIdLst>
    <p:sldId id="256" r:id="rId2"/>
    <p:sldId id="257" r:id="rId3"/>
    <p:sldId id="259" r:id="rId4"/>
    <p:sldId id="260" r:id="rId5"/>
    <p:sldId id="327" r:id="rId6"/>
    <p:sldId id="328" r:id="rId7"/>
    <p:sldId id="319" r:id="rId8"/>
    <p:sldId id="320" r:id="rId9"/>
    <p:sldId id="263" r:id="rId10"/>
    <p:sldId id="264" r:id="rId11"/>
    <p:sldId id="321" r:id="rId12"/>
    <p:sldId id="265" r:id="rId13"/>
    <p:sldId id="266" r:id="rId14"/>
    <p:sldId id="267" r:id="rId15"/>
    <p:sldId id="268" r:id="rId16"/>
    <p:sldId id="322" r:id="rId17"/>
    <p:sldId id="326" r:id="rId18"/>
    <p:sldId id="308" r:id="rId19"/>
    <p:sldId id="309" r:id="rId20"/>
    <p:sldId id="323" r:id="rId21"/>
    <p:sldId id="318" r:id="rId22"/>
    <p:sldId id="324" r:id="rId23"/>
    <p:sldId id="325" r:id="rId24"/>
    <p:sldId id="311" r:id="rId25"/>
    <p:sldId id="313" r:id="rId26"/>
    <p:sldId id="316" r:id="rId27"/>
    <p:sldId id="317" r:id="rId28"/>
    <p:sldId id="329" r:id="rId29"/>
    <p:sldId id="330" r:id="rId30"/>
    <p:sldId id="331" r:id="rId31"/>
    <p:sldId id="273" r:id="rId32"/>
    <p:sldId id="333" r:id="rId33"/>
    <p:sldId id="274" r:id="rId34"/>
    <p:sldId id="303" r:id="rId35"/>
    <p:sldId id="304" r:id="rId36"/>
    <p:sldId id="305" r:id="rId37"/>
    <p:sldId id="306" r:id="rId38"/>
    <p:sldId id="307" r:id="rId39"/>
    <p:sldId id="334" r:id="rId40"/>
    <p:sldId id="310" r:id="rId41"/>
    <p:sldId id="275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15" r:id="rId51"/>
    <p:sldId id="343" r:id="rId52"/>
    <p:sldId id="344" r:id="rId53"/>
    <p:sldId id="332" r:id="rId54"/>
    <p:sldId id="345" r:id="rId55"/>
    <p:sldId id="346" r:id="rId56"/>
    <p:sldId id="347" r:id="rId57"/>
    <p:sldId id="348" r:id="rId58"/>
    <p:sldId id="349" r:id="rId59"/>
    <p:sldId id="350" r:id="rId60"/>
    <p:sldId id="312" r:id="rId61"/>
    <p:sldId id="351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59" r:id="rId70"/>
    <p:sldId id="360" r:id="rId71"/>
    <p:sldId id="284" r:id="rId72"/>
    <p:sldId id="285" r:id="rId73"/>
    <p:sldId id="286" r:id="rId74"/>
    <p:sldId id="299" r:id="rId75"/>
    <p:sldId id="298" r:id="rId76"/>
    <p:sldId id="300" r:id="rId77"/>
    <p:sldId id="301" r:id="rId78"/>
    <p:sldId id="361" r:id="rId79"/>
    <p:sldId id="362" r:id="rId80"/>
    <p:sldId id="293" r:id="rId81"/>
    <p:sldId id="363" r:id="rId82"/>
    <p:sldId id="364" r:id="rId83"/>
    <p:sldId id="365" r:id="rId84"/>
    <p:sldId id="294" r:id="rId85"/>
    <p:sldId id="366" r:id="rId86"/>
    <p:sldId id="296" r:id="rId87"/>
    <p:sldId id="367" r:id="rId88"/>
    <p:sldId id="368" r:id="rId89"/>
    <p:sldId id="369" r:id="rId90"/>
    <p:sldId id="370" r:id="rId91"/>
    <p:sldId id="371" r:id="rId92"/>
    <p:sldId id="372" r:id="rId93"/>
    <p:sldId id="373" r:id="rId94"/>
    <p:sldId id="314" r:id="rId95"/>
    <p:sldId id="374" r:id="rId96"/>
    <p:sldId id="375" r:id="rId97"/>
    <p:sldId id="376" r:id="rId98"/>
    <p:sldId id="377" r:id="rId99"/>
    <p:sldId id="258" r:id="rId100"/>
    <p:sldId id="378" r:id="rId101"/>
    <p:sldId id="379" r:id="rId102"/>
    <p:sldId id="262" r:id="rId103"/>
    <p:sldId id="380" r:id="rId104"/>
    <p:sldId id="381" r:id="rId105"/>
    <p:sldId id="269" r:id="rId106"/>
    <p:sldId id="270" r:id="rId107"/>
    <p:sldId id="382" r:id="rId108"/>
    <p:sldId id="383" r:id="rId109"/>
    <p:sldId id="384" r:id="rId110"/>
    <p:sldId id="385" r:id="rId111"/>
    <p:sldId id="271" r:id="rId112"/>
    <p:sldId id="386" r:id="rId113"/>
    <p:sldId id="272" r:id="rId114"/>
    <p:sldId id="387" r:id="rId115"/>
    <p:sldId id="388" r:id="rId1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6" autoAdjust="0"/>
    <p:restoredTop sz="94660"/>
  </p:normalViewPr>
  <p:slideViewPr>
    <p:cSldViewPr>
      <p:cViewPr varScale="1">
        <p:scale>
          <a:sx n="82" d="100"/>
          <a:sy n="82" d="100"/>
        </p:scale>
        <p:origin x="12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D65BD-6AF3-4F44-ADF6-40034B5AA842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37070-F495-4351-9AA8-1C72CB4EB4C0}" type="slidenum">
              <a:rPr lang="en-MY" smtClean="0"/>
              <a:pPr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37070-F495-4351-9AA8-1C72CB4EB4C0}" type="slidenum">
              <a:rPr lang="en-MY" smtClean="0"/>
              <a:pPr/>
              <a:t>2</a:t>
            </a:fld>
            <a:endParaRPr lang="en-M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7CA54-78C3-474E-8026-5E41A433C08C}" type="datetimeFigureOut">
              <a:rPr lang="en-MY" smtClean="0"/>
              <a:pPr/>
              <a:t>13/4/2024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A8F3C-EAAC-4073-BAC0-B73A867276B0}" type="slidenum">
              <a:rPr lang="en-MY" smtClean="0"/>
              <a:pPr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wmf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0.wmf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ppt 图片\31802605_27.jpg"/>
          <p:cNvPicPr>
            <a:picLocks noChangeAspect="1" noChangeArrowheads="1"/>
          </p:cNvPicPr>
          <p:nvPr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0" y="-633"/>
            <a:ext cx="9143999" cy="6858869"/>
          </a:xfrm>
          <a:prstGeom prst="rect">
            <a:avLst/>
          </a:prstGeom>
          <a:noFill/>
        </p:spPr>
      </p:pic>
      <p:pic>
        <p:nvPicPr>
          <p:cNvPr id="5" name="Picture 4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571604" y="2714620"/>
            <a:ext cx="650085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2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72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  <a:r>
              <a:rPr lang="zh-CN" altLang="en-US" sz="7200" b="1" cap="none" spc="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章：溶液</a:t>
            </a:r>
            <a:endParaRPr lang="en-MY" sz="72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51520" y="188640"/>
            <a:ext cx="6224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18.1 </a:t>
            </a:r>
            <a:r>
              <a:rPr lang="zh-CN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溶质 溶剂 溶液 </a:t>
            </a:r>
            <a:endParaRPr lang="en-MY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79512" y="1142984"/>
            <a:ext cx="8460432" cy="5500726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糖水</a:t>
            </a:r>
            <a:endParaRPr lang="en-US" altLang="zh-CN" sz="3600" dirty="0"/>
          </a:p>
          <a:p>
            <a:pPr lvl="1"/>
            <a:r>
              <a:rPr lang="zh-CN" altLang="en-US" sz="3200" dirty="0"/>
              <a:t>溶质：</a:t>
            </a:r>
            <a:endParaRPr lang="en-US" altLang="zh-CN" sz="3200" dirty="0"/>
          </a:p>
          <a:p>
            <a:pPr lvl="1"/>
            <a:r>
              <a:rPr lang="zh-CN" altLang="en-US" sz="3200" dirty="0"/>
              <a:t>溶剂：</a:t>
            </a:r>
            <a:endParaRPr lang="en-US" altLang="zh-CN" sz="3200" dirty="0"/>
          </a:p>
          <a:p>
            <a:pPr lvl="1"/>
            <a:r>
              <a:rPr lang="zh-CN" altLang="en-US" sz="3200" dirty="0"/>
              <a:t>溶液：</a:t>
            </a:r>
            <a:endParaRPr lang="en-US" altLang="zh-CN" sz="3600" dirty="0"/>
          </a:p>
          <a:p>
            <a:r>
              <a:rPr lang="zh-CN" altLang="en-US" sz="3600" dirty="0"/>
              <a:t>水是最常见的溶剂。</a:t>
            </a:r>
            <a:endParaRPr lang="en-US" altLang="zh-CN" sz="3600" dirty="0"/>
          </a:p>
          <a:p>
            <a:r>
              <a:rPr lang="zh-CN" altLang="en-US" sz="3600" dirty="0"/>
              <a:t>碘酒</a:t>
            </a:r>
            <a:endParaRPr lang="en-US" altLang="zh-CN" sz="3600" dirty="0"/>
          </a:p>
          <a:p>
            <a:pPr lvl="1"/>
            <a:r>
              <a:rPr lang="zh-CN" altLang="en-US" sz="3200" dirty="0"/>
              <a:t>溶质：</a:t>
            </a:r>
            <a:endParaRPr lang="en-US" altLang="zh-CN" sz="3200" dirty="0"/>
          </a:p>
          <a:p>
            <a:pPr lvl="1"/>
            <a:r>
              <a:rPr lang="zh-CN" altLang="en-US" sz="3200" dirty="0"/>
              <a:t>溶剂：</a:t>
            </a:r>
            <a:endParaRPr lang="en-US" altLang="zh-CN" sz="3200" dirty="0"/>
          </a:p>
          <a:p>
            <a:pPr lvl="1"/>
            <a:r>
              <a:rPr lang="zh-CN" altLang="en-US" sz="3200" dirty="0"/>
              <a:t>溶液：</a:t>
            </a:r>
            <a:endParaRPr lang="en-US" altLang="zh-CN" sz="3200" dirty="0"/>
          </a:p>
          <a:p>
            <a:endParaRPr lang="en-MY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2285984" y="178592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糖</a:t>
            </a:r>
            <a:endParaRPr lang="en-US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285984" y="2415597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水</a:t>
            </a:r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214546" y="2987101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糖水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071670" y="4857760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碘</a:t>
            </a:r>
            <a:endParaRPr lang="en-US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71670" y="5487431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酒精</a:t>
            </a:r>
            <a:endParaRPr lang="en-US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071670" y="6058935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碘酒</a:t>
            </a:r>
            <a:endParaRPr lang="en-US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283546" y="1928802"/>
            <a:ext cx="157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7030A0"/>
                </a:solidFill>
              </a:rPr>
              <a:t>水溶液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48907" y="4572008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7030A0"/>
                </a:solidFill>
              </a:rPr>
              <a:t>非水溶液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4942" y="5211561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7030A0"/>
                </a:solidFill>
              </a:rPr>
              <a:t>酒精溶液</a:t>
            </a:r>
            <a:endParaRPr lang="en-US" sz="3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6240186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溶液、溶质、溶剂可呈固态，液态或气态。</a:t>
            </a:r>
            <a:endParaRPr lang="en-US" altLang="zh-CN" sz="4000" dirty="0"/>
          </a:p>
          <a:p>
            <a:r>
              <a:rPr lang="zh-CN" altLang="en-US" sz="4000" dirty="0"/>
              <a:t>气态溶液</a:t>
            </a:r>
            <a:endParaRPr lang="en-US" altLang="zh-CN" sz="4000" dirty="0"/>
          </a:p>
          <a:p>
            <a:pPr lvl="1"/>
            <a:r>
              <a:rPr lang="zh-CN" altLang="en-US" sz="3600" dirty="0"/>
              <a:t>溶质和溶剂都是气体。</a:t>
            </a:r>
            <a:endParaRPr lang="en-US" altLang="zh-CN" sz="3600" dirty="0"/>
          </a:p>
          <a:p>
            <a:pPr lvl="1"/>
            <a:r>
              <a:rPr lang="zh-CN" altLang="en-US" sz="3600" dirty="0"/>
              <a:t>例：空气</a:t>
            </a:r>
            <a:endParaRPr lang="en-US" altLang="zh-CN" sz="4000" dirty="0"/>
          </a:p>
          <a:p>
            <a:r>
              <a:rPr lang="zh-CN" altLang="en-US" sz="4000" dirty="0"/>
              <a:t>固态溶液</a:t>
            </a:r>
            <a:endParaRPr lang="en-US" altLang="zh-CN" sz="4000" dirty="0"/>
          </a:p>
          <a:p>
            <a:pPr lvl="1"/>
            <a:r>
              <a:rPr lang="zh-CN" altLang="en-US" sz="3600" dirty="0"/>
              <a:t>固体混合物</a:t>
            </a:r>
            <a:endParaRPr lang="en-US" altLang="zh-CN" sz="3600" dirty="0"/>
          </a:p>
          <a:p>
            <a:pPr lvl="1"/>
            <a:r>
              <a:rPr lang="zh-CN" altLang="en-US" sz="3600" dirty="0"/>
              <a:t>例：合金。</a:t>
            </a:r>
            <a:endParaRPr lang="en-US" altLang="zh-CN" sz="3600" dirty="0"/>
          </a:p>
          <a:p>
            <a:pPr>
              <a:buNone/>
            </a:pPr>
            <a:endParaRPr lang="en-US" sz="4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4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4400" dirty="0"/>
              <a:t>液态溶液最常见的三种类型：</a:t>
            </a:r>
            <a:endParaRPr lang="en-US" altLang="zh-CN" sz="4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4400" dirty="0"/>
              <a:t>气</a:t>
            </a:r>
            <a:r>
              <a:rPr lang="en-US" altLang="zh-CN" sz="4400" dirty="0"/>
              <a:t>—</a:t>
            </a:r>
            <a:r>
              <a:rPr lang="zh-CN" altLang="en-US" sz="4400" dirty="0"/>
              <a:t>液型</a:t>
            </a:r>
            <a:endParaRPr lang="en-US" altLang="zh-CN" sz="4400" dirty="0"/>
          </a:p>
          <a:p>
            <a:pPr marL="857250" lvl="1" indent="-457200">
              <a:buNone/>
            </a:pPr>
            <a:r>
              <a:rPr lang="en-US" altLang="zh-CN" sz="4000" dirty="0"/>
              <a:t>	</a:t>
            </a:r>
            <a:r>
              <a:rPr lang="zh-CN" altLang="en-US" sz="4000" dirty="0"/>
              <a:t>例：盐酸、汽水</a:t>
            </a:r>
            <a:endParaRPr lang="en-US" altLang="zh-CN" sz="4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4400" dirty="0"/>
              <a:t>固</a:t>
            </a:r>
            <a:r>
              <a:rPr lang="en-US" altLang="zh-CN" sz="4400" dirty="0"/>
              <a:t>—</a:t>
            </a:r>
            <a:r>
              <a:rPr lang="zh-CN" altLang="en-US" sz="4400" dirty="0"/>
              <a:t>液型</a:t>
            </a:r>
            <a:endParaRPr lang="en-US" altLang="zh-CN" sz="4400" dirty="0"/>
          </a:p>
          <a:p>
            <a:pPr marL="857250" lvl="1" indent="-457200">
              <a:buNone/>
            </a:pPr>
            <a:r>
              <a:rPr lang="en-US" altLang="zh-CN" sz="4000" dirty="0"/>
              <a:t>	</a:t>
            </a:r>
            <a:r>
              <a:rPr lang="zh-CN" altLang="en-US" sz="4000" dirty="0"/>
              <a:t>例：盐水、糖水</a:t>
            </a:r>
            <a:endParaRPr lang="en-US" altLang="zh-CN" sz="4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4400" dirty="0"/>
              <a:t>液</a:t>
            </a:r>
            <a:r>
              <a:rPr lang="en-US" altLang="zh-CN" sz="4400" dirty="0"/>
              <a:t>—</a:t>
            </a:r>
            <a:r>
              <a:rPr lang="zh-CN" altLang="en-US" sz="4400" dirty="0"/>
              <a:t>液型</a:t>
            </a:r>
            <a:endParaRPr lang="en-US" altLang="zh-CN" sz="4400" dirty="0"/>
          </a:p>
          <a:p>
            <a:pPr lvl="1">
              <a:buNone/>
            </a:pPr>
            <a:r>
              <a:rPr lang="en-US" altLang="zh-CN" sz="4400" dirty="0"/>
              <a:t>		</a:t>
            </a:r>
            <a:r>
              <a:rPr lang="zh-CN" altLang="en-US" sz="4400" dirty="0"/>
              <a:t>例：酒</a:t>
            </a:r>
            <a:endParaRPr lang="en-US" altLang="zh-CN" sz="4400" dirty="0"/>
          </a:p>
          <a:p>
            <a:pPr>
              <a:buNone/>
            </a:pPr>
            <a:endParaRPr lang="en-US" altLang="zh-CN" sz="4800" dirty="0"/>
          </a:p>
          <a:p>
            <a:endParaRPr lang="en-MY" sz="5400" dirty="0"/>
          </a:p>
        </p:txBody>
      </p:sp>
      <p:sp>
        <p:nvSpPr>
          <p:cNvPr id="4" name="Rectangle 3"/>
          <p:cNvSpPr/>
          <p:nvPr/>
        </p:nvSpPr>
        <p:spPr>
          <a:xfrm>
            <a:off x="1979712" y="0"/>
            <a:ext cx="50545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液态溶液</a:t>
            </a:r>
            <a:r>
              <a:rPr lang="zh-CN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的</a:t>
            </a:r>
            <a:r>
              <a:rPr lang="zh-CN" altLang="en-U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类型</a:t>
            </a:r>
            <a:endParaRPr lang="en-MY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/>
              <a:t>(1)</a:t>
            </a:r>
            <a:r>
              <a:rPr lang="zh-CN" altLang="en-US" sz="3600" dirty="0"/>
              <a:t>溶液是由</a:t>
            </a:r>
            <a:r>
              <a:rPr lang="zh-CN" altLang="en-US" sz="3600" b="1" dirty="0">
                <a:solidFill>
                  <a:srgbClr val="7030A0"/>
                </a:solidFill>
              </a:rPr>
              <a:t>两种或多种物质</a:t>
            </a:r>
            <a:r>
              <a:rPr lang="en-US" altLang="zh-CN" sz="3600" dirty="0"/>
              <a:t>(</a:t>
            </a:r>
            <a:r>
              <a:rPr lang="zh-CN" altLang="en-US" sz="3600" dirty="0"/>
              <a:t>溶质和溶剂</a:t>
            </a:r>
            <a:r>
              <a:rPr lang="en-US" altLang="zh-CN" sz="3600" dirty="0"/>
              <a:t>)</a:t>
            </a:r>
            <a:r>
              <a:rPr lang="zh-CN" altLang="en-US" sz="3600" dirty="0"/>
              <a:t>组成的</a:t>
            </a:r>
            <a:r>
              <a:rPr lang="zh-CN" altLang="en-US" sz="3600" b="1" dirty="0">
                <a:solidFill>
                  <a:srgbClr val="7030A0"/>
                </a:solidFill>
              </a:rPr>
              <a:t>均相</a:t>
            </a:r>
            <a:r>
              <a:rPr lang="zh-CN" altLang="en-US" sz="3600" dirty="0"/>
              <a:t>混合物。 </a:t>
            </a:r>
            <a:endParaRPr lang="en-US" altLang="zh-CN" sz="3600" dirty="0"/>
          </a:p>
          <a:p>
            <a:pPr marL="457200" indent="-457200">
              <a:buNone/>
            </a:pPr>
            <a:r>
              <a:rPr lang="en-US" altLang="zh-CN" sz="3600" dirty="0"/>
              <a:t>(2)</a:t>
            </a:r>
            <a:r>
              <a:rPr lang="zh-CN" altLang="en-US" sz="3600" dirty="0"/>
              <a:t>溶质是以</a:t>
            </a:r>
            <a:r>
              <a:rPr lang="zh-CN" altLang="en-US" sz="3600" b="1" dirty="0">
                <a:solidFill>
                  <a:srgbClr val="7030A0"/>
                </a:solidFill>
              </a:rPr>
              <a:t>分子</a:t>
            </a:r>
            <a:r>
              <a:rPr lang="zh-CN" altLang="en-US" sz="3600" dirty="0"/>
              <a:t>或</a:t>
            </a:r>
            <a:r>
              <a:rPr lang="zh-CN" altLang="en-US" sz="3600" b="1" dirty="0">
                <a:solidFill>
                  <a:srgbClr val="7030A0"/>
                </a:solidFill>
              </a:rPr>
              <a:t>离子</a:t>
            </a:r>
            <a:r>
              <a:rPr lang="zh-CN" altLang="en-US" sz="3600" dirty="0"/>
              <a:t>的形式</a:t>
            </a:r>
            <a:r>
              <a:rPr lang="zh-CN" altLang="en-US" sz="3600" b="1" dirty="0">
                <a:solidFill>
                  <a:srgbClr val="7030A0"/>
                </a:solidFill>
              </a:rPr>
              <a:t>分散</a:t>
            </a:r>
            <a:r>
              <a:rPr lang="zh-CN" altLang="en-US" sz="3600" dirty="0"/>
              <a:t>在溶剂中。</a:t>
            </a:r>
            <a:endParaRPr lang="en-US" altLang="zh-CN" sz="3600" dirty="0"/>
          </a:p>
          <a:p>
            <a:pPr marL="457200" indent="-457200">
              <a:buNone/>
            </a:pPr>
            <a:r>
              <a:rPr lang="en-US" altLang="zh-CN" sz="3600" dirty="0"/>
              <a:t>(3)</a:t>
            </a:r>
            <a:r>
              <a:rPr lang="zh-CN" altLang="en-US" sz="3600" dirty="0"/>
              <a:t>溶液的组成可以在一定的范围内变化。</a:t>
            </a:r>
            <a:endParaRPr lang="en-US" altLang="zh-CN" sz="3600" dirty="0"/>
          </a:p>
          <a:p>
            <a:pPr marL="457200" indent="-457200">
              <a:buNone/>
            </a:pPr>
            <a:r>
              <a:rPr lang="en-US" altLang="zh-CN" sz="3600" dirty="0"/>
              <a:t>(4)</a:t>
            </a:r>
            <a:r>
              <a:rPr lang="zh-CN" altLang="en-US" sz="3600" dirty="0"/>
              <a:t>溶质均匀分地散在整个溶液中，不随时间的增长而沉淀。</a:t>
            </a:r>
            <a:r>
              <a:rPr lang="zh-CN" altLang="en-US" sz="3600" b="1" dirty="0">
                <a:solidFill>
                  <a:srgbClr val="7030A0"/>
                </a:solidFill>
              </a:rPr>
              <a:t>均匀</a:t>
            </a:r>
            <a:endParaRPr lang="en-US" altLang="zh-CN" sz="3600" dirty="0"/>
          </a:p>
          <a:p>
            <a:pPr marL="0" indent="0">
              <a:buNone/>
            </a:pPr>
            <a:endParaRPr lang="en-MY" sz="3600" dirty="0"/>
          </a:p>
        </p:txBody>
      </p:sp>
      <p:sp>
        <p:nvSpPr>
          <p:cNvPr id="4" name="Rectangle 3"/>
          <p:cNvSpPr/>
          <p:nvPr/>
        </p:nvSpPr>
        <p:spPr>
          <a:xfrm>
            <a:off x="1979712" y="0"/>
            <a:ext cx="36631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溶液</a:t>
            </a:r>
            <a:r>
              <a:rPr lang="zh-CN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的</a:t>
            </a:r>
            <a:r>
              <a:rPr lang="zh-CN" alt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</a:rPr>
              <a:t>特征</a:t>
            </a:r>
            <a:endParaRPr lang="en-MY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4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/>
              <a:t>(5)</a:t>
            </a:r>
            <a:r>
              <a:rPr lang="zh-CN" altLang="en-US" sz="3600" dirty="0"/>
              <a:t>不论溶液是否具有颜色，一般都是</a:t>
            </a:r>
            <a:r>
              <a:rPr lang="zh-CN" altLang="en-US" sz="3600" b="1" dirty="0">
                <a:solidFill>
                  <a:srgbClr val="7030A0"/>
                </a:solidFill>
              </a:rPr>
              <a:t>透明</a:t>
            </a:r>
            <a:r>
              <a:rPr lang="zh-CN" altLang="en-US" sz="3600" dirty="0"/>
              <a:t>的。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(6)</a:t>
            </a:r>
            <a:r>
              <a:rPr lang="zh-CN" altLang="en-US" sz="3600" dirty="0"/>
              <a:t>一种溶液中各个部分的化学组成，化学性质和物理性质都是相同的。</a:t>
            </a:r>
            <a:r>
              <a:rPr lang="zh-CN" altLang="en-US" sz="3600" b="1" dirty="0">
                <a:solidFill>
                  <a:srgbClr val="7030A0"/>
                </a:solidFill>
              </a:rPr>
              <a:t>均匀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(7)</a:t>
            </a:r>
            <a:r>
              <a:rPr lang="zh-CN" altLang="en-US" sz="3600" dirty="0"/>
              <a:t>在大多数情况下，可以用</a:t>
            </a:r>
            <a:r>
              <a:rPr lang="zh-CN" altLang="en-US" sz="3600" b="1" dirty="0">
                <a:solidFill>
                  <a:srgbClr val="7030A0"/>
                </a:solidFill>
              </a:rPr>
              <a:t>物理</a:t>
            </a:r>
            <a:r>
              <a:rPr lang="zh-CN" altLang="en-US" sz="3600" dirty="0"/>
              <a:t>的方法将溶质从溶液中</a:t>
            </a:r>
            <a:r>
              <a:rPr lang="zh-CN" altLang="en-US" sz="3600" b="1" dirty="0">
                <a:solidFill>
                  <a:srgbClr val="7030A0"/>
                </a:solidFill>
              </a:rPr>
              <a:t>分离</a:t>
            </a:r>
            <a:r>
              <a:rPr lang="zh-CN" altLang="en-US" sz="3600" dirty="0"/>
              <a:t>出来。</a:t>
            </a:r>
            <a:endParaRPr lang="en-MY" sz="3600" dirty="0"/>
          </a:p>
        </p:txBody>
      </p:sp>
      <p:sp>
        <p:nvSpPr>
          <p:cNvPr id="4" name="Rectangle 3"/>
          <p:cNvSpPr/>
          <p:nvPr/>
        </p:nvSpPr>
        <p:spPr>
          <a:xfrm>
            <a:off x="1979712" y="0"/>
            <a:ext cx="36631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溶液</a:t>
            </a:r>
            <a:r>
              <a:rPr lang="zh-CN" alt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的</a:t>
            </a:r>
            <a:r>
              <a:rPr lang="zh-CN" alt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</a:rPr>
              <a:t>特征</a:t>
            </a:r>
            <a:endParaRPr lang="en-MY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00108"/>
            <a:ext cx="8229600" cy="5400600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zh-CN" altLang="en-US" sz="3600" dirty="0"/>
              <a:t>水能溶解离子化合物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电离：固体离子化合物中带电离子相互分离的过程。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NaCl</a:t>
            </a:r>
            <a:r>
              <a:rPr lang="en-US" altLang="zh-CN" sz="3600" dirty="0"/>
              <a:t>(</a:t>
            </a:r>
            <a:r>
              <a:rPr lang="en-US" altLang="zh-CN" sz="3600" dirty="0" err="1"/>
              <a:t>aq</a:t>
            </a:r>
            <a:r>
              <a:rPr lang="en-US" altLang="zh-CN" sz="3600" dirty="0"/>
              <a:t>)</a:t>
            </a:r>
            <a:r>
              <a:rPr lang="en-US" altLang="zh-CN" sz="3600" dirty="0">
                <a:sym typeface="Wingdings" pitchFamily="2" charset="2"/>
              </a:rPr>
              <a:t> Na</a:t>
            </a:r>
            <a:r>
              <a:rPr lang="en-US" altLang="zh-CN" sz="3600" baseline="30000" dirty="0">
                <a:sym typeface="Wingdings" pitchFamily="2" charset="2"/>
              </a:rPr>
              <a:t>+ </a:t>
            </a:r>
            <a:r>
              <a:rPr lang="en-US" altLang="zh-CN" sz="3600" dirty="0">
                <a:sym typeface="Wingdings" pitchFamily="2" charset="2"/>
              </a:rPr>
              <a:t> (</a:t>
            </a:r>
            <a:r>
              <a:rPr lang="en-US" altLang="zh-CN" sz="3600" dirty="0" err="1">
                <a:sym typeface="Wingdings" pitchFamily="2" charset="2"/>
              </a:rPr>
              <a:t>aq</a:t>
            </a:r>
            <a:r>
              <a:rPr lang="en-US" altLang="zh-CN" sz="3600" dirty="0">
                <a:sym typeface="Wingdings" pitchFamily="2" charset="2"/>
              </a:rPr>
              <a:t>) + </a:t>
            </a:r>
            <a:r>
              <a:rPr lang="en-US" altLang="zh-CN" sz="3600" dirty="0" err="1">
                <a:sym typeface="Wingdings" pitchFamily="2" charset="2"/>
              </a:rPr>
              <a:t>Cl</a:t>
            </a:r>
            <a:r>
              <a:rPr lang="en-US" altLang="zh-CN" sz="3600" baseline="30000" dirty="0">
                <a:sym typeface="Wingdings" pitchFamily="2" charset="2"/>
              </a:rPr>
              <a:t>-</a:t>
            </a:r>
            <a:r>
              <a:rPr lang="en-US" altLang="zh-CN" sz="3600" dirty="0">
                <a:sym typeface="Wingdings" pitchFamily="2" charset="2"/>
              </a:rPr>
              <a:t> (</a:t>
            </a:r>
            <a:r>
              <a:rPr lang="en-US" altLang="zh-CN" sz="3600" dirty="0" err="1">
                <a:sym typeface="Wingdings" pitchFamily="2" charset="2"/>
              </a:rPr>
              <a:t>aq</a:t>
            </a:r>
            <a:r>
              <a:rPr lang="en-US" altLang="zh-CN" sz="36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离子化合物的水溶液能导电</a:t>
            </a:r>
            <a:endParaRPr lang="en-US" altLang="zh-CN" sz="36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742950" indent="-742950">
              <a:buAutoNum type="arabicPeriod" startAt="2"/>
            </a:pPr>
            <a:r>
              <a:rPr lang="zh-CN" altLang="en-US" sz="3600" dirty="0">
                <a:sym typeface="Wingdings" pitchFamily="2" charset="2"/>
              </a:rPr>
              <a:t>水能溶解共价化合物</a:t>
            </a:r>
            <a:endParaRPr lang="en-US" altLang="zh-CN" sz="3600" dirty="0">
              <a:sym typeface="Wingdings" pitchFamily="2" charset="2"/>
            </a:endParaRPr>
          </a:p>
          <a:p>
            <a:pPr marL="742950" indent="-742950">
              <a:buNone/>
            </a:pPr>
            <a:r>
              <a:rPr lang="zh-CN" altLang="en-US" sz="3600" dirty="0">
                <a:sym typeface="Wingdings" pitchFamily="2" charset="2"/>
              </a:rPr>
              <a:t>共价化合物的分子本身没有电离，只是简单的被水分子隔开。</a:t>
            </a:r>
            <a:endParaRPr lang="en-US" altLang="zh-CN" sz="3600" dirty="0">
              <a:sym typeface="Wingdings" pitchFamily="2" charset="2"/>
            </a:endParaRPr>
          </a:p>
          <a:p>
            <a:pPr marL="742950" indent="-742950">
              <a:buNone/>
            </a:pPr>
            <a:r>
              <a:rPr lang="zh-CN" altLang="en-US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蔗糖溶液是电的不良导体</a:t>
            </a:r>
            <a:endParaRPr lang="en-US" altLang="zh-CN" sz="3600" dirty="0">
              <a:sym typeface="Wingdings" pitchFamily="2" charset="2"/>
            </a:endParaRPr>
          </a:p>
          <a:p>
            <a:pPr marL="742950" indent="-742950">
              <a:buAutoNum type="arabicPeriod" startAt="2"/>
            </a:pPr>
            <a:endParaRPr lang="en-US" altLang="zh-CN" sz="3600" dirty="0"/>
          </a:p>
          <a:p>
            <a:endParaRPr lang="en-MY" sz="5400" dirty="0"/>
          </a:p>
        </p:txBody>
      </p:sp>
      <p:sp>
        <p:nvSpPr>
          <p:cNvPr id="4" name="Rectangle 3"/>
          <p:cNvSpPr/>
          <p:nvPr/>
        </p:nvSpPr>
        <p:spPr>
          <a:xfrm>
            <a:off x="1979712" y="0"/>
            <a:ext cx="43620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zh-CN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18.2 </a:t>
            </a:r>
            <a:r>
              <a:rPr lang="zh-CN" alt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溶解过程</a:t>
            </a:r>
            <a:endParaRPr lang="en-MY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00600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altLang="zh-CN" sz="3600" dirty="0"/>
              <a:t>3. </a:t>
            </a:r>
            <a:r>
              <a:rPr lang="zh-CN" altLang="en-US" sz="3600" dirty="0"/>
              <a:t>相似相溶</a:t>
            </a:r>
            <a:endParaRPr lang="en-US" altLang="zh-CN" sz="3600" dirty="0"/>
          </a:p>
          <a:p>
            <a:pPr marL="742950" indent="-742950"/>
            <a:r>
              <a:rPr lang="zh-CN" altLang="en-US" sz="3600" dirty="0"/>
              <a:t>极性分子易溶于极性溶剂</a:t>
            </a:r>
            <a:endParaRPr lang="en-US" altLang="zh-CN" sz="3600" dirty="0"/>
          </a:p>
          <a:p>
            <a:pPr marL="742950" indent="-742950"/>
            <a:r>
              <a:rPr lang="zh-CN" altLang="en-US" sz="3600" dirty="0"/>
              <a:t>非极性分子易溶于非极性溶剂</a:t>
            </a:r>
            <a:endParaRPr lang="en-US" altLang="zh-CN" sz="3600" dirty="0"/>
          </a:p>
          <a:p>
            <a:pPr marL="742950" indent="-742950">
              <a:buNone/>
            </a:pPr>
            <a:r>
              <a:rPr lang="zh-CN" altLang="en-US" sz="3600" dirty="0"/>
              <a:t>问题解决</a:t>
            </a:r>
            <a:r>
              <a:rPr lang="en-US" altLang="zh-CN" sz="3600" dirty="0"/>
              <a:t>pg72</a:t>
            </a:r>
          </a:p>
          <a:p>
            <a:pPr marL="742950" indent="-742950">
              <a:spcBef>
                <a:spcPts val="600"/>
              </a:spcBef>
              <a:spcAft>
                <a:spcPts val="1800"/>
              </a:spcAft>
              <a:buNone/>
            </a:pPr>
            <a:r>
              <a:rPr lang="zh-CN" altLang="en-US" sz="3600" dirty="0"/>
              <a:t>易溶于水：</a:t>
            </a:r>
            <a:r>
              <a:rPr lang="en-US" altLang="zh-CN" sz="3600" dirty="0" err="1"/>
              <a:t>HCl</a:t>
            </a:r>
            <a:r>
              <a:rPr lang="zh-CN" altLang="en-US" sz="3600" dirty="0"/>
              <a:t>、</a:t>
            </a:r>
            <a:r>
              <a:rPr lang="en-US" altLang="zh-CN" sz="3600" dirty="0" err="1"/>
              <a:t>NaOH</a:t>
            </a:r>
            <a:r>
              <a:rPr lang="zh-CN" altLang="en-US" sz="3600" dirty="0"/>
              <a:t>、</a:t>
            </a:r>
            <a:r>
              <a:rPr lang="en-US" altLang="zh-CN" sz="3600" dirty="0"/>
              <a:t>CH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COOH</a:t>
            </a:r>
          </a:p>
          <a:p>
            <a:pPr marL="742950" indent="-742950">
              <a:buNone/>
            </a:pPr>
            <a:r>
              <a:rPr lang="zh-CN" altLang="en-US" sz="3600" dirty="0"/>
              <a:t>问题解决</a:t>
            </a:r>
            <a:r>
              <a:rPr lang="en-US" altLang="zh-CN" sz="3600" dirty="0"/>
              <a:t>pg73</a:t>
            </a:r>
          </a:p>
          <a:p>
            <a:pPr marL="742950" indent="-742950">
              <a:buNone/>
            </a:pPr>
            <a:r>
              <a:rPr lang="zh-CN" altLang="en-US" sz="3600" dirty="0"/>
              <a:t>让身上的油污溶解在油里，然后把它擦去。</a:t>
            </a:r>
            <a:endParaRPr lang="en-US" altLang="zh-CN" sz="3600" dirty="0"/>
          </a:p>
        </p:txBody>
      </p:sp>
      <p:sp>
        <p:nvSpPr>
          <p:cNvPr id="4" name="Rectangle 3"/>
          <p:cNvSpPr/>
          <p:nvPr/>
        </p:nvSpPr>
        <p:spPr>
          <a:xfrm>
            <a:off x="1979712" y="0"/>
            <a:ext cx="43620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zh-CN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18.2 </a:t>
            </a:r>
            <a:r>
              <a:rPr lang="zh-CN" alt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/>
              </a:rPr>
              <a:t>溶解过程</a:t>
            </a:r>
            <a:endParaRPr lang="en-MY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pPr algn="l"/>
            <a:r>
              <a:rPr lang="en-US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1</a:t>
            </a:r>
            <a:r>
              <a:rPr lang="en-US" altLang="zh-CN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8</a:t>
            </a:r>
            <a:r>
              <a:rPr lang="en-US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.</a:t>
            </a:r>
            <a:r>
              <a:rPr lang="en-US" altLang="zh-CN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3</a:t>
            </a:r>
            <a:r>
              <a:rPr lang="en-US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</a:t>
            </a:r>
            <a:r>
              <a:rPr lang="zh-CN" altLang="en-US" sz="4200" b="1" dirty="0">
                <a:ln w="17780" cmpd="sng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不饱和溶液 饱和溶液过饱和溶液</a:t>
            </a:r>
            <a:endParaRPr lang="en-MY" sz="4200" b="1" dirty="0">
              <a:ln w="17780" cmpd="sng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00519" y="857232"/>
            <a:ext cx="140017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85720" y="1028226"/>
            <a:ext cx="8229600" cy="686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dirty="0"/>
              <a:t>未溶解的固态溶质                  溶液里的溶质</a:t>
            </a:r>
          </a:p>
          <a:p>
            <a:pPr marL="342900" lvl="0" indent="-342900">
              <a:spcBef>
                <a:spcPct val="20000"/>
              </a:spcBef>
            </a:pPr>
            <a:endParaRPr kumimoji="0" lang="en-MY" sz="3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1406" y="1742606"/>
            <a:ext cx="8786842" cy="16149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3200" dirty="0"/>
              <a:t>在一定温度下，向一定量溶剂里加入某种溶质，当溶质</a:t>
            </a:r>
            <a:r>
              <a:rPr lang="zh-CN" altLang="en-US" sz="3200" b="1" dirty="0">
                <a:solidFill>
                  <a:srgbClr val="7030A0"/>
                </a:solidFill>
              </a:rPr>
              <a:t>不能继续溶解</a:t>
            </a:r>
            <a:r>
              <a:rPr lang="zh-CN" altLang="en-US" sz="3200" dirty="0"/>
              <a:t>时，所得的溶液叫做这种溶质在这种条件下的</a:t>
            </a:r>
            <a:r>
              <a:rPr lang="zh-CN" altLang="en-US" sz="3200" b="1" dirty="0">
                <a:solidFill>
                  <a:srgbClr val="7030A0"/>
                </a:solidFill>
              </a:rPr>
              <a:t>饱和溶液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marL="342900" lvl="0" indent="-342900">
              <a:spcBef>
                <a:spcPct val="20000"/>
              </a:spcBef>
            </a:pPr>
            <a:endParaRPr kumimoji="0" lang="en-MY" sz="3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1438" y="3357562"/>
            <a:ext cx="8929718" cy="1714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3200" dirty="0"/>
              <a:t>在一定温度下，在一定量的溶剂里，</a:t>
            </a:r>
            <a:r>
              <a:rPr lang="zh-CN" altLang="en-US" sz="3200" b="1" dirty="0">
                <a:solidFill>
                  <a:srgbClr val="7030A0"/>
                </a:solidFill>
              </a:rPr>
              <a:t>还能再溶解</a:t>
            </a:r>
            <a:r>
              <a:rPr lang="zh-CN" altLang="en-US" sz="3200" dirty="0"/>
              <a:t>某种物质的溶液叫做这种溶质的</a:t>
            </a:r>
            <a:r>
              <a:rPr lang="zh-CN" altLang="en-US" sz="3200" b="1" dirty="0">
                <a:solidFill>
                  <a:srgbClr val="7030A0"/>
                </a:solidFill>
              </a:rPr>
              <a:t>不饱和溶液</a:t>
            </a:r>
            <a:r>
              <a:rPr lang="zh-CN" altLang="en-US" sz="3200" dirty="0"/>
              <a:t>。</a:t>
            </a:r>
            <a:endParaRPr lang="en-US" altLang="zh-CN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2876" y="4572008"/>
            <a:ext cx="8786842" cy="19907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3200" dirty="0"/>
              <a:t>一定温度、压力下，当溶液中溶质的</a:t>
            </a:r>
            <a:r>
              <a:rPr lang="zh-CN" altLang="en-US" sz="3200" b="1" dirty="0">
                <a:solidFill>
                  <a:srgbClr val="7030A0"/>
                </a:solidFill>
              </a:rPr>
              <a:t>浓度已超过</a:t>
            </a:r>
            <a:r>
              <a:rPr lang="zh-CN" altLang="en-US" sz="3200" dirty="0"/>
              <a:t>该温度、压力下溶质的溶解度，而溶质仍不析出的现象叫过饱和现象，此时的溶液称为</a:t>
            </a:r>
            <a:r>
              <a:rPr lang="zh-CN" altLang="en-US" sz="3200" b="1" dirty="0">
                <a:solidFill>
                  <a:srgbClr val="7030A0"/>
                </a:solidFill>
              </a:rPr>
              <a:t>过饱和溶液。（不稳定、容易结晶）</a:t>
            </a:r>
            <a:endParaRPr kumimoji="0" lang="en-MY" sz="32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357166"/>
            <a:ext cx="8686800" cy="6286544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要使饱和溶液变成不饱和溶液</a:t>
            </a:r>
            <a:endParaRPr lang="en-US" altLang="zh-CN" sz="3600" dirty="0"/>
          </a:p>
          <a:p>
            <a:pPr lvl="1"/>
            <a:r>
              <a:rPr lang="zh-CN" altLang="en-US" sz="3600" dirty="0"/>
              <a:t>可以增加溶剂的量</a:t>
            </a:r>
            <a:endParaRPr lang="en-US" altLang="zh-CN" sz="3600" dirty="0"/>
          </a:p>
          <a:p>
            <a:pPr lvl="1"/>
            <a:r>
              <a:rPr lang="zh-CN" altLang="en-US" sz="3600" dirty="0"/>
              <a:t>升高溶液的温度</a:t>
            </a:r>
            <a:r>
              <a:rPr lang="zh-CN" altLang="en-US" sz="3600" b="1" dirty="0">
                <a:solidFill>
                  <a:srgbClr val="7030A0"/>
                </a:solidFill>
              </a:rPr>
              <a:t>（对溶解度随温度上升而增加的物质）。</a:t>
            </a:r>
            <a:endParaRPr lang="en-US" altLang="zh-CN" sz="4000" dirty="0"/>
          </a:p>
          <a:p>
            <a:r>
              <a:rPr lang="zh-CN" altLang="en-US" sz="3600" dirty="0"/>
              <a:t>要将不饱和溶液变成饱和溶液</a:t>
            </a:r>
            <a:r>
              <a:rPr lang="en-US" altLang="zh-CN" sz="3600" dirty="0"/>
              <a:t>(</a:t>
            </a:r>
            <a:r>
              <a:rPr lang="en-US" altLang="zh-CN" dirty="0"/>
              <a:t>pg76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题</a:t>
            </a:r>
            <a:r>
              <a:rPr lang="en-US" altLang="zh-CN" dirty="0"/>
              <a:t>)</a:t>
            </a:r>
            <a:endParaRPr lang="en-US" altLang="zh-CN" sz="4000" dirty="0"/>
          </a:p>
          <a:p>
            <a:pPr lvl="1"/>
            <a:r>
              <a:rPr lang="zh-CN" altLang="en-US" sz="3600" dirty="0"/>
              <a:t>减少溶剂的量</a:t>
            </a:r>
            <a:endParaRPr lang="en-US" altLang="zh-CN" sz="3600" dirty="0"/>
          </a:p>
          <a:p>
            <a:pPr lvl="1"/>
            <a:r>
              <a:rPr lang="zh-CN" altLang="en-US" sz="3600" dirty="0"/>
              <a:t>增加溶质的量</a:t>
            </a:r>
            <a:endParaRPr lang="en-US" altLang="zh-CN" sz="3600" dirty="0"/>
          </a:p>
          <a:p>
            <a:pPr lvl="1"/>
            <a:r>
              <a:rPr lang="zh-CN" altLang="en-US" sz="3600" dirty="0"/>
              <a:t>降低温度</a:t>
            </a:r>
            <a:r>
              <a:rPr lang="zh-CN" altLang="en-US" sz="3600" b="1" dirty="0">
                <a:solidFill>
                  <a:srgbClr val="7030A0"/>
                </a:solidFill>
              </a:rPr>
              <a:t>（对溶解度随温度上升而增加的物质）。</a:t>
            </a:r>
            <a:endParaRPr lang="en-US" altLang="zh-CN" sz="3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winddesktop.com/Wallpaper/02455/Original/02455_032_uZNKkbs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交流分享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2. </a:t>
            </a:r>
            <a:r>
              <a:rPr lang="en-US" altLang="zh-CN" sz="3600" dirty="0" err="1"/>
              <a:t>AgI</a:t>
            </a:r>
            <a:r>
              <a:rPr lang="zh-CN" altLang="en-US" sz="3600" dirty="0"/>
              <a:t>：投入晶种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干冰：使温度降低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思考题</a:t>
            </a:r>
            <a:r>
              <a:rPr lang="en-US" altLang="zh-CN" sz="3600" dirty="0"/>
              <a:t>18a</a:t>
            </a:r>
          </a:p>
          <a:p>
            <a:pPr>
              <a:buNone/>
            </a:pPr>
            <a:r>
              <a:rPr lang="en-US" altLang="zh-CN" sz="3600" dirty="0"/>
              <a:t>1.(1)</a:t>
            </a:r>
            <a:r>
              <a:rPr lang="zh-CN" altLang="en-US" sz="3600" dirty="0"/>
              <a:t>错。溶解度与温度有关。低温的</a:t>
            </a:r>
            <a:r>
              <a:rPr lang="en-US" altLang="zh-CN" sz="3600" dirty="0"/>
              <a:t>[</a:t>
            </a:r>
            <a:r>
              <a:rPr lang="zh-CN" altLang="en-US" sz="3600" dirty="0"/>
              <a:t>饱和溶液</a:t>
            </a:r>
            <a:r>
              <a:rPr lang="en-US" altLang="zh-CN" sz="3600" dirty="0"/>
              <a:t>]</a:t>
            </a:r>
            <a:r>
              <a:rPr lang="zh-CN" altLang="en-US" sz="3600" dirty="0"/>
              <a:t>可能</a:t>
            </a:r>
            <a:r>
              <a:rPr lang="en-US" altLang="zh-CN" sz="3600" dirty="0"/>
              <a:t>&lt;</a:t>
            </a:r>
            <a:r>
              <a:rPr lang="zh-CN" altLang="en-US" sz="3600" dirty="0"/>
              <a:t>高温的</a:t>
            </a:r>
            <a:r>
              <a:rPr lang="en-US" altLang="zh-CN" sz="3600" dirty="0"/>
              <a:t>[</a:t>
            </a:r>
            <a:r>
              <a:rPr lang="zh-CN" altLang="en-US" sz="3600" dirty="0"/>
              <a:t>不饱和溶液</a:t>
            </a:r>
            <a:r>
              <a:rPr lang="en-US" altLang="zh-CN" sz="3600" dirty="0"/>
              <a:t>]</a:t>
            </a:r>
            <a:r>
              <a:rPr lang="zh-CN" altLang="en-US" sz="3600" dirty="0"/>
              <a:t>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(2) </a:t>
            </a:r>
            <a:r>
              <a:rPr lang="zh-CN" altLang="en-US" sz="3600" dirty="0"/>
              <a:t>错。硫酸钙难溶于水，其饱和溶液是稀溶液。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2. 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2.sc.chinaz.com/files/pic/pic9/201206/xpic52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7749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在一定温度下，</a:t>
            </a:r>
            <a:r>
              <a:rPr lang="en-US" altLang="zh-CN" sz="3600" dirty="0"/>
              <a:t>100g</a:t>
            </a:r>
            <a:r>
              <a:rPr lang="zh-CN" altLang="en-US" sz="3600" dirty="0"/>
              <a:t>溶剂所能溶解某溶质的最大量，叫做这种物质在这种溶剂中的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溶解度</a:t>
            </a:r>
            <a:r>
              <a:rPr lang="zh-CN" altLang="en-US" sz="3600" dirty="0"/>
              <a:t>。</a:t>
            </a:r>
            <a:endParaRPr lang="en-MY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286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</a:rPr>
              <a:t>18.4 </a:t>
            </a:r>
            <a:r>
              <a:rPr lang="zh-CN" altLang="en-US" sz="5400" b="1" dirty="0">
                <a:solidFill>
                  <a:srgbClr val="0070C0"/>
                </a:solidFill>
              </a:rPr>
              <a:t>溶解度曲线</a:t>
            </a:r>
            <a:endParaRPr lang="en-MY" sz="5400" b="1" dirty="0">
              <a:solidFill>
                <a:srgbClr val="0070C0"/>
              </a:solidFill>
            </a:endParaRPr>
          </a:p>
        </p:txBody>
      </p:sp>
      <p:pic>
        <p:nvPicPr>
          <p:cNvPr id="23554" name="Picture 2" descr="C:\Users\user\Desktop\ppt 图片\Image29421.gif"/>
          <p:cNvPicPr>
            <a:picLocks noChangeAspect="1" noChangeArrowheads="1"/>
          </p:cNvPicPr>
          <p:nvPr/>
        </p:nvPicPr>
        <p:blipFill>
          <a:blip r:embed="rId3" cstate="print"/>
          <a:srcRect b="8946"/>
          <a:stretch>
            <a:fillRect/>
          </a:stretch>
        </p:blipFill>
        <p:spPr bwMode="auto">
          <a:xfrm>
            <a:off x="2357422" y="3008284"/>
            <a:ext cx="4735428" cy="363542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://pic2.sc.chinaz.com/files/pic/pic9/201206/xpic52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7749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 纵坐标：溶解度</a:t>
            </a:r>
            <a:endParaRPr lang="en-US" altLang="zh-CN" sz="3600" dirty="0"/>
          </a:p>
          <a:p>
            <a:r>
              <a:rPr lang="zh-CN" altLang="en-US" sz="3600" dirty="0"/>
              <a:t>横坐标：温度</a:t>
            </a:r>
            <a:endParaRPr lang="en-US" altLang="zh-CN" sz="3600" dirty="0"/>
          </a:p>
          <a:p>
            <a:r>
              <a:rPr lang="zh-CN" altLang="en-US" sz="3600" dirty="0"/>
              <a:t>物质的溶解度随温度变化的曲线，这种曲线叫做溶解度曲线。</a:t>
            </a:r>
            <a:endParaRPr lang="en-US" altLang="zh-CN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</a:t>
            </a:r>
            <a:r>
              <a:rPr lang="en-US" altLang="zh-CN" sz="5400" b="1" cap="none" spc="0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8.4 </a:t>
            </a:r>
            <a:r>
              <a:rPr lang="zh-CN" altLang="en-US" sz="5400" b="1" cap="none" spc="0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溶解度曲线</a:t>
            </a:r>
            <a:endParaRPr lang="en-MY" sz="5400" b="1" cap="none" spc="0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2.sc.chinaz.com/files/pic/pic9/201206/xpic52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7749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66" y="642918"/>
            <a:ext cx="3857652" cy="5383219"/>
          </a:xfrm>
        </p:spPr>
        <p:txBody>
          <a:bodyPr/>
          <a:lstStyle/>
          <a:p>
            <a:r>
              <a:rPr lang="zh-CN" altLang="en-US" dirty="0"/>
              <a:t>大多物质温度高、溶解度高；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r>
              <a:rPr lang="zh-CN" altLang="en-US" dirty="0"/>
              <a:t>少部分物质温度高、溶解度低。</a:t>
            </a:r>
            <a:endParaRPr lang="en-MY" dirty="0"/>
          </a:p>
          <a:p>
            <a:endParaRPr lang="en-MY" dirty="0"/>
          </a:p>
        </p:txBody>
      </p:sp>
      <p:pic>
        <p:nvPicPr>
          <p:cNvPr id="24578" name="Picture 2" descr="http://www.zjgsczzx.cn/shiyan/UploadFiles_3405/200905/20090505105302617.GIF"/>
          <p:cNvPicPr>
            <a:picLocks noChangeAspect="1" noChangeArrowheads="1"/>
          </p:cNvPicPr>
          <p:nvPr/>
        </p:nvPicPr>
        <p:blipFill>
          <a:blip r:embed="rId3" cstate="print"/>
          <a:srcRect r="46094"/>
          <a:stretch>
            <a:fillRect/>
          </a:stretch>
        </p:blipFill>
        <p:spPr bwMode="auto">
          <a:xfrm>
            <a:off x="0" y="0"/>
            <a:ext cx="4929190" cy="68580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2.sc.chinaz.com/files/pic/pic9/201206/xpic52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7749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500042"/>
            <a:ext cx="8229600" cy="5929354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影响溶解度的因素：</a:t>
            </a:r>
            <a:endParaRPr lang="en-US" altLang="zh-CN" sz="3600" dirty="0"/>
          </a:p>
          <a:p>
            <a:pPr lvl="1"/>
            <a:r>
              <a:rPr lang="zh-CN" altLang="en-US" sz="3200" dirty="0"/>
              <a:t>溶质本性</a:t>
            </a:r>
            <a:endParaRPr lang="en-US" altLang="zh-CN" sz="3200" dirty="0"/>
          </a:p>
          <a:p>
            <a:pPr lvl="1"/>
            <a:r>
              <a:rPr lang="zh-CN" altLang="en-US" sz="3200" dirty="0"/>
              <a:t>溶剂本性</a:t>
            </a:r>
            <a:endParaRPr lang="en-US" altLang="zh-CN" sz="3200" dirty="0"/>
          </a:p>
          <a:p>
            <a:pPr lvl="1"/>
            <a:r>
              <a:rPr lang="zh-CN" altLang="en-US" sz="3200" dirty="0"/>
              <a:t>温度</a:t>
            </a:r>
            <a:endParaRPr lang="en-US" altLang="zh-CN" sz="3200" dirty="0"/>
          </a:p>
          <a:p>
            <a:pPr lvl="1"/>
            <a:r>
              <a:rPr lang="zh-CN" altLang="en-US" sz="3200" dirty="0"/>
              <a:t>压强（气体溶质）</a:t>
            </a:r>
            <a:endParaRPr lang="en-US" altLang="zh-CN" sz="3200" dirty="0"/>
          </a:p>
          <a:p>
            <a:r>
              <a:rPr lang="zh-CN" altLang="en-US" sz="3600" dirty="0"/>
              <a:t>气体溶质溶解度，压强增加而增加，温度越高而降低。</a:t>
            </a:r>
          </a:p>
          <a:p>
            <a:endParaRPr lang="en-US" altLang="zh-CN" sz="3600" dirty="0"/>
          </a:p>
          <a:p>
            <a:pPr>
              <a:buNone/>
            </a:pPr>
            <a:endParaRPr lang="zh-CN" altLang="en-US" sz="3600" dirty="0"/>
          </a:p>
          <a:p>
            <a:endParaRPr lang="en-MY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ttp://pic2.sc.chinaz.com/files/pic/pic9/201206/xpic52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77499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Autofit/>
          </a:bodyPr>
          <a:lstStyle/>
          <a:p>
            <a:pPr marL="742950" indent="-742950">
              <a:buAutoNum type="arabicPeriod"/>
            </a:pPr>
            <a:r>
              <a:rPr lang="zh-CN" altLang="en-US" sz="3600" dirty="0"/>
              <a:t>气温较高气压较低，湖里缺氧。</a:t>
            </a:r>
            <a:endParaRPr lang="en-US" altLang="zh-CN" sz="3600" dirty="0"/>
          </a:p>
          <a:p>
            <a:pPr marL="742950" indent="-742950"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措施：增加湖水流动、增氧泵。</a:t>
            </a:r>
            <a:endParaRPr lang="en-US" altLang="zh-CN" sz="3600" dirty="0"/>
          </a:p>
          <a:p>
            <a:pPr marL="742950" indent="-742950">
              <a:buNone/>
            </a:pPr>
            <a:endParaRPr lang="en-US" altLang="zh-CN" sz="3600" dirty="0"/>
          </a:p>
          <a:p>
            <a:pPr marL="742950" indent="-742950">
              <a:buNone/>
            </a:pPr>
            <a:r>
              <a:rPr lang="en-US" altLang="zh-CN" sz="3600" dirty="0"/>
              <a:t>2. Na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CO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 </a:t>
            </a:r>
            <a:r>
              <a:rPr lang="zh-CN" altLang="en-US" sz="3600" dirty="0"/>
              <a:t>溶解度随温度降低而降低，温度降低，以晶体的形式析出。</a:t>
            </a:r>
            <a:endParaRPr lang="en-US" altLang="zh-CN" sz="3600" dirty="0"/>
          </a:p>
          <a:p>
            <a:pPr marL="742950" indent="-742950"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NaCl</a:t>
            </a:r>
            <a:r>
              <a:rPr lang="zh-CN" altLang="en-US" sz="3600" dirty="0"/>
              <a:t>溶解度随温度变化小，以蒸发溶剂的形式使其析出。</a:t>
            </a:r>
            <a:endParaRPr lang="en-US" altLang="zh-CN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思考题</a:t>
            </a:r>
            <a:r>
              <a:rPr lang="en-US" altLang="zh-CN" sz="54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18b</a:t>
            </a:r>
            <a:endParaRPr lang="en-MY" sz="5400" b="1" cap="none" spc="0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例</a:t>
            </a:r>
            <a:r>
              <a:rPr lang="en-US" altLang="zh-CN" sz="3600" dirty="0"/>
              <a:t>1</a:t>
            </a:r>
          </a:p>
          <a:p>
            <a:pPr>
              <a:buNone/>
            </a:pPr>
            <a:r>
              <a:rPr lang="en-US" altLang="zh-CN" sz="3600" dirty="0"/>
              <a:t>(1)	</a:t>
            </a:r>
            <a:r>
              <a:rPr lang="zh-CN" altLang="en-US" sz="3600" dirty="0"/>
              <a:t>溶质</a:t>
            </a:r>
            <a:r>
              <a:rPr lang="en-US" altLang="zh-CN" sz="3600" dirty="0"/>
              <a:t> 	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      3g			8g</a:t>
            </a:r>
            <a:endParaRPr lang="zh-CN" altLang="en-US" sz="3600" dirty="0"/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</a:t>
            </a:r>
            <a:r>
              <a:rPr lang="en-MY" sz="3600" dirty="0" err="1"/>
              <a:t>xg</a:t>
            </a:r>
            <a:r>
              <a:rPr lang="en-MY" sz="3600" dirty="0"/>
              <a:t>			100g</a:t>
            </a:r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	x=37.5g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(2)</a:t>
            </a:r>
            <a:r>
              <a:rPr lang="zh-CN" altLang="en-US" sz="3600" dirty="0"/>
              <a:t>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	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      </a:t>
            </a:r>
            <a:r>
              <a:rPr lang="en-US" altLang="zh-CN" sz="3600" dirty="0" err="1"/>
              <a:t>yg</a:t>
            </a:r>
            <a:r>
              <a:rPr lang="en-US" altLang="zh-CN" sz="3600" dirty="0"/>
              <a:t>			60g</a:t>
            </a:r>
            <a:endParaRPr lang="zh-CN" altLang="en-US" sz="3600" dirty="0"/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37.5g  	       100g	</a:t>
            </a:r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	y=22.5g</a:t>
            </a:r>
          </a:p>
          <a:p>
            <a:pPr>
              <a:spcBef>
                <a:spcPts val="300"/>
              </a:spcBef>
              <a:buNone/>
            </a:pP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1142976" y="2228054"/>
            <a:ext cx="4357718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grpSp>
        <p:nvGrpSpPr>
          <p:cNvPr id="4" name="Group 9"/>
          <p:cNvGrpSpPr/>
          <p:nvPr/>
        </p:nvGrpSpPr>
        <p:grpSpPr>
          <a:xfrm>
            <a:off x="1214414" y="4585508"/>
            <a:ext cx="4143404" cy="915194"/>
            <a:chOff x="2285190" y="2895600"/>
            <a:chExt cx="3929884" cy="915194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例</a:t>
            </a:r>
            <a:r>
              <a:rPr lang="en-US" altLang="zh-CN" sz="3600" dirty="0"/>
              <a:t>2.</a:t>
            </a:r>
            <a:r>
              <a:rPr lang="zh-CN" altLang="en-US" sz="3600" dirty="0"/>
              <a:t>将</a:t>
            </a:r>
            <a:r>
              <a:rPr lang="en-US" altLang="zh-CN" sz="3600" dirty="0"/>
              <a:t>100g 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饱和溶液的温度由</a:t>
            </a:r>
            <a:r>
              <a:rPr lang="en-US" altLang="zh-CN" sz="3600" dirty="0"/>
              <a:t>80</a:t>
            </a:r>
            <a:r>
              <a:rPr lang="zh-CN" altLang="en-US" sz="3600" dirty="0"/>
              <a:t>℃降至</a:t>
            </a:r>
            <a:r>
              <a:rPr lang="en-US" altLang="zh-CN" sz="3600" dirty="0"/>
              <a:t>20</a:t>
            </a:r>
            <a:r>
              <a:rPr lang="zh-CN" altLang="en-US" sz="3600" dirty="0"/>
              <a:t>℃，可析出</a:t>
            </a:r>
            <a:r>
              <a:rPr lang="en-US" altLang="zh-CN" sz="3600" dirty="0"/>
              <a:t>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晶体多少克？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查表得知</a:t>
            </a:r>
            <a:r>
              <a:rPr lang="en-US" altLang="zh-CN" sz="3600" dirty="0"/>
              <a:t>: 80</a:t>
            </a:r>
            <a:r>
              <a:rPr lang="zh-CN" altLang="en-US" sz="3600" dirty="0"/>
              <a:t>℃</a:t>
            </a:r>
            <a:r>
              <a:rPr lang="en-US" altLang="zh-CN" sz="3600" dirty="0"/>
              <a:t>,KNO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溶解度</a:t>
            </a:r>
            <a:r>
              <a:rPr lang="en-US" altLang="zh-CN" sz="3600" dirty="0"/>
              <a:t>169g/100g</a:t>
            </a:r>
            <a:r>
              <a:rPr lang="zh-CN" altLang="en-US" sz="3600" dirty="0"/>
              <a:t>水</a:t>
            </a:r>
            <a:r>
              <a:rPr lang="en-US" altLang="zh-CN" sz="3600" baseline="-25000" dirty="0"/>
              <a:t> 		</a:t>
            </a:r>
            <a:r>
              <a:rPr lang="en-US" altLang="zh-CN" sz="3600" dirty="0"/>
              <a:t>20</a:t>
            </a:r>
            <a:r>
              <a:rPr lang="zh-CN" altLang="en-US" sz="3600" dirty="0"/>
              <a:t>℃</a:t>
            </a:r>
            <a:r>
              <a:rPr lang="en-US" altLang="zh-CN" sz="3600" dirty="0"/>
              <a:t>,KNO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溶解度</a:t>
            </a:r>
            <a:r>
              <a:rPr lang="en-US" altLang="zh-CN" sz="3600" dirty="0"/>
              <a:t> 31.6g/100g</a:t>
            </a:r>
            <a:r>
              <a:rPr lang="zh-CN" altLang="en-US" sz="3600" dirty="0"/>
              <a:t>水</a:t>
            </a:r>
          </a:p>
          <a:p>
            <a:pPr>
              <a:buNone/>
            </a:pPr>
            <a:r>
              <a:rPr lang="en-US" altLang="zh-CN" sz="3600" dirty="0"/>
              <a:t>80</a:t>
            </a:r>
            <a:r>
              <a:rPr lang="zh-CN" altLang="en-US" sz="3600" dirty="0"/>
              <a:t>℃ 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 	        x       		y    		  100g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169		      100g		269g</a:t>
            </a:r>
          </a:p>
          <a:p>
            <a:pPr>
              <a:buNone/>
            </a:pPr>
            <a:r>
              <a:rPr lang="en-MY" sz="3600" dirty="0"/>
              <a:t>			x=62.83</a:t>
            </a:r>
            <a:r>
              <a:rPr lang="en-US" altLang="zh-CN" sz="3600" dirty="0"/>
              <a:t>g  </a:t>
            </a:r>
          </a:p>
          <a:p>
            <a:pPr>
              <a:buNone/>
            </a:pPr>
            <a:r>
              <a:rPr lang="en-MY" sz="3600" dirty="0"/>
              <a:t>		 	y= 37.17g  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溶剂的质量不变</a:t>
            </a:r>
            <a:endParaRPr lang="en-MY" sz="3600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85852" y="4071942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000760" y="407194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214413" y="4214819"/>
            <a:ext cx="6215107" cy="915194"/>
            <a:chOff x="1214413" y="3513939"/>
            <a:chExt cx="6215107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ounded Rectangle 16"/>
          <p:cNvSpPr/>
          <p:nvPr/>
        </p:nvSpPr>
        <p:spPr>
          <a:xfrm>
            <a:off x="3714744" y="471488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285852" y="4643446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000760" y="471488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786182" y="407194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4" grpId="0" uiExpand="1" animBg="1"/>
      <p:bldP spid="17" grpId="0" uiExpand="1" animBg="1"/>
      <p:bldP spid="18" grpId="0" uiExpand="1" animBg="1"/>
      <p:bldP spid="19" grpId="0" uiExpand="1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例</a:t>
            </a:r>
            <a:r>
              <a:rPr lang="en-US" altLang="zh-CN" sz="3600" dirty="0"/>
              <a:t>2.</a:t>
            </a:r>
            <a:r>
              <a:rPr lang="zh-CN" altLang="en-US" sz="3600" dirty="0"/>
              <a:t>将</a:t>
            </a:r>
            <a:r>
              <a:rPr lang="en-US" altLang="zh-CN" sz="3600" dirty="0"/>
              <a:t>100g 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饱和溶液的温度由</a:t>
            </a:r>
            <a:r>
              <a:rPr lang="en-US" altLang="zh-CN" sz="3600" dirty="0"/>
              <a:t>80</a:t>
            </a:r>
            <a:r>
              <a:rPr lang="zh-CN" altLang="en-US" sz="3600" dirty="0"/>
              <a:t>℃降至</a:t>
            </a:r>
            <a:r>
              <a:rPr lang="en-US" altLang="zh-CN" sz="3600" dirty="0"/>
              <a:t>20</a:t>
            </a:r>
            <a:r>
              <a:rPr lang="zh-CN" altLang="en-US" sz="3600" dirty="0"/>
              <a:t>℃，可析出</a:t>
            </a:r>
            <a:r>
              <a:rPr lang="en-US" altLang="zh-CN" sz="3600" dirty="0"/>
              <a:t>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晶体多少克？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20</a:t>
            </a:r>
            <a:r>
              <a:rPr lang="zh-CN" altLang="en-US" sz="3600" dirty="0"/>
              <a:t>℃</a:t>
            </a:r>
            <a:r>
              <a:rPr lang="en-US" altLang="zh-CN" sz="3600" dirty="0"/>
              <a:t>,KNO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溶解度</a:t>
            </a:r>
            <a:r>
              <a:rPr lang="en-US" altLang="zh-CN" sz="3600" dirty="0"/>
              <a:t> 31.6g/100g</a:t>
            </a:r>
            <a:r>
              <a:rPr lang="zh-CN" altLang="en-US" sz="3600" dirty="0"/>
              <a:t>水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20</a:t>
            </a:r>
            <a:r>
              <a:rPr lang="zh-CN" altLang="en-US" sz="3600" dirty="0"/>
              <a:t>℃  溶质</a:t>
            </a:r>
            <a:r>
              <a:rPr lang="en-US" altLang="zh-CN" sz="3600" dirty="0"/>
              <a:t> 	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	</a:t>
            </a:r>
          </a:p>
          <a:p>
            <a:pPr>
              <a:buNone/>
            </a:pPr>
            <a:r>
              <a:rPr lang="en-US" altLang="zh-CN" sz="3600" dirty="0"/>
              <a:t>	       z	   	     37.17g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31.6g	      100g	</a:t>
            </a:r>
          </a:p>
          <a:p>
            <a:pPr>
              <a:buNone/>
            </a:pPr>
            <a:r>
              <a:rPr lang="en-MY" sz="3600" dirty="0"/>
              <a:t>			z=11.75g</a:t>
            </a:r>
          </a:p>
          <a:p>
            <a:pPr>
              <a:buNone/>
            </a:pPr>
            <a:r>
              <a:rPr lang="en-MY" sz="3600" dirty="0"/>
              <a:t>	</a:t>
            </a:r>
            <a:r>
              <a:rPr lang="zh-CN" altLang="en-US" sz="3600" dirty="0"/>
              <a:t>析出的晶体质量</a:t>
            </a:r>
            <a:r>
              <a:rPr lang="en-US" altLang="zh-CN" sz="3600" dirty="0"/>
              <a:t>=62.83 – 11.75g</a:t>
            </a:r>
          </a:p>
          <a:p>
            <a:pPr>
              <a:buNone/>
            </a:pPr>
            <a:r>
              <a:rPr lang="en-US" sz="3600" dirty="0"/>
              <a:t>				       = 51.08</a:t>
            </a:r>
            <a:r>
              <a:rPr lang="en-US" altLang="zh-CN" sz="3600" dirty="0"/>
              <a:t>g</a:t>
            </a: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1357290" y="3500438"/>
            <a:ext cx="3786214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4744" y="3500438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357290" y="3500438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uiExpan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44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3.</a:t>
            </a:r>
            <a:r>
              <a:rPr lang="zh-CN" altLang="en-US" sz="2800" dirty="0"/>
              <a:t>将</a:t>
            </a:r>
            <a:r>
              <a:rPr lang="en-US" altLang="zh-CN" sz="2800" dirty="0"/>
              <a:t>25.1g 30</a:t>
            </a:r>
            <a:r>
              <a:rPr lang="zh-CN" altLang="en-US" sz="2800" dirty="0"/>
              <a:t>℃时的</a:t>
            </a:r>
            <a:r>
              <a:rPr lang="en-US" altLang="zh-CN" sz="2800" dirty="0" err="1"/>
              <a:t>Ba</a:t>
            </a:r>
            <a:r>
              <a:rPr lang="en-US" altLang="zh-CN" sz="2800" dirty="0"/>
              <a:t>(NO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饱和溶液与足量的</a:t>
            </a:r>
            <a:r>
              <a:rPr lang="en-US" altLang="zh-CN" sz="2800" dirty="0"/>
              <a:t>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溶液反应，可以得到</a:t>
            </a:r>
            <a:r>
              <a:rPr lang="en-US" altLang="zh-CN" sz="2800" dirty="0"/>
              <a:t>2.33g</a:t>
            </a:r>
            <a:r>
              <a:rPr lang="zh-CN" altLang="en-US" sz="2800" dirty="0"/>
              <a:t>干燥的</a:t>
            </a:r>
            <a:r>
              <a:rPr lang="en-US" altLang="zh-CN" sz="2800" dirty="0"/>
              <a:t>BaSO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沉淀。计算</a:t>
            </a:r>
            <a:r>
              <a:rPr lang="en-US" altLang="zh-CN" sz="2800" dirty="0"/>
              <a:t>30</a:t>
            </a:r>
            <a:r>
              <a:rPr lang="zh-CN" altLang="en-US" sz="2800" dirty="0"/>
              <a:t>℃时</a:t>
            </a:r>
            <a:r>
              <a:rPr lang="en-US" altLang="zh-CN" sz="2800" dirty="0" err="1"/>
              <a:t>Ba</a:t>
            </a:r>
            <a:r>
              <a:rPr lang="en-US" altLang="zh-CN" sz="2800" dirty="0"/>
              <a:t>(NO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zh-CN" altLang="en-US" sz="2800" dirty="0"/>
              <a:t>的溶解度。</a:t>
            </a:r>
            <a:endParaRPr lang="en-US" altLang="zh-CN" sz="2800" dirty="0"/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</a:t>
            </a:r>
            <a:r>
              <a:rPr lang="en-US" altLang="zh-CN" sz="2800" dirty="0"/>
              <a:t>Ba(NO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 BaSO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/>
              <a:t>(s) </a:t>
            </a:r>
            <a:r>
              <a:rPr lang="en-US" altLang="zh-CN" sz="2800" dirty="0">
                <a:sym typeface="Wingdings" pitchFamily="2" charset="2"/>
              </a:rPr>
              <a:t>+ 2 NaNO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       x	   	   	        2.33g</a:t>
            </a:r>
            <a:endParaRPr lang="zh-CN" altLang="en-US" sz="3600" dirty="0"/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 261g	      		233g	</a:t>
            </a:r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		x=2.61g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	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3600" dirty="0"/>
              <a:t>	      2.61g	       22.49g	25.1g</a:t>
            </a:r>
            <a:endParaRPr lang="zh-CN" altLang="en-US" sz="3600" dirty="0"/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  </a:t>
            </a:r>
            <a:r>
              <a:rPr lang="en-MY" sz="3600" dirty="0" err="1"/>
              <a:t>yg</a:t>
            </a:r>
            <a:r>
              <a:rPr lang="en-MY" sz="3600" dirty="0"/>
              <a:t>	  	       100g	</a:t>
            </a:r>
          </a:p>
          <a:p>
            <a:pPr>
              <a:spcBef>
                <a:spcPts val="300"/>
              </a:spcBef>
              <a:buNone/>
            </a:pPr>
            <a:r>
              <a:rPr lang="en-MY" sz="3600" dirty="0"/>
              <a:t>			y=11.61g</a:t>
            </a:r>
          </a:p>
          <a:p>
            <a:pPr>
              <a:spcBef>
                <a:spcPts val="300"/>
              </a:spcBef>
              <a:buNone/>
            </a:pP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1214414" y="2857496"/>
            <a:ext cx="5214974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grpSp>
        <p:nvGrpSpPr>
          <p:cNvPr id="4" name="Group 9"/>
          <p:cNvGrpSpPr/>
          <p:nvPr/>
        </p:nvGrpSpPr>
        <p:grpSpPr>
          <a:xfrm>
            <a:off x="1214414" y="5286388"/>
            <a:ext cx="4143404" cy="915194"/>
            <a:chOff x="2285190" y="2895600"/>
            <a:chExt cx="3929884" cy="915194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ounded Rectangle 15"/>
          <p:cNvSpPr/>
          <p:nvPr/>
        </p:nvSpPr>
        <p:spPr>
          <a:xfrm>
            <a:off x="6000760" y="5214950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428728" y="521495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929058" y="5214950"/>
            <a:ext cx="1357322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462174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在一定温度下，向</a:t>
            </a:r>
            <a:r>
              <a:rPr lang="en-US" altLang="zh-CN" sz="2800" dirty="0"/>
              <a:t>11.74gKCl</a:t>
            </a:r>
            <a:r>
              <a:rPr lang="zh-CN" altLang="en-US" sz="2800" dirty="0"/>
              <a:t>饱和溶液中加入</a:t>
            </a:r>
            <a:r>
              <a:rPr lang="en-US" altLang="zh-CN" sz="2800" dirty="0"/>
              <a:t>200g3.4%</a:t>
            </a:r>
          </a:p>
          <a:p>
            <a:pPr>
              <a:buNone/>
            </a:pPr>
            <a:r>
              <a:rPr lang="zh-CN" altLang="en-US" sz="2800" dirty="0"/>
              <a:t>的</a:t>
            </a:r>
            <a:r>
              <a:rPr lang="en-US" altLang="zh-CN" sz="2800" dirty="0"/>
              <a:t>AgNO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溶液，恰好使溶液中的</a:t>
            </a:r>
            <a:r>
              <a:rPr lang="en-US" altLang="zh-CN" sz="2800" dirty="0" err="1"/>
              <a:t>Cl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</a:t>
            </a:r>
            <a:r>
              <a:rPr lang="zh-CN" altLang="en-US" sz="2800" dirty="0"/>
              <a:t>全部生成沉淀。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计算</a:t>
            </a:r>
            <a:r>
              <a:rPr lang="en-US" altLang="zh-CN" sz="2800" dirty="0" err="1"/>
              <a:t>KCl</a:t>
            </a:r>
            <a:r>
              <a:rPr lang="zh-CN" altLang="en-US" sz="2800" dirty="0"/>
              <a:t>在该温度时的溶解度。</a:t>
            </a:r>
            <a:r>
              <a:rPr lang="en-US" altLang="zh-CN" sz="2800" dirty="0"/>
              <a:t>K=39,Cl=35.5,Ag=108</a:t>
            </a:r>
          </a:p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 err="1"/>
              <a:t>KCl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+   AgNO</a:t>
            </a:r>
            <a:r>
              <a:rPr lang="en-US" altLang="zh-CN" baseline="-25000" dirty="0"/>
              <a:t>3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dirty="0">
                <a:sym typeface="Wingdings" pitchFamily="2" charset="2"/>
              </a:rPr>
              <a:t> KNO</a:t>
            </a:r>
            <a:r>
              <a:rPr lang="en-US" altLang="zh-CN" baseline="-25000" dirty="0">
                <a:sym typeface="Wingdings" pitchFamily="2" charset="2"/>
              </a:rPr>
              <a:t>3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en-US" altLang="zh-CN" dirty="0">
                <a:sym typeface="Wingdings" pitchFamily="2" charset="2"/>
              </a:rPr>
              <a:t> + AgCl</a:t>
            </a:r>
            <a:r>
              <a:rPr lang="en-US" altLang="zh-CN" dirty="0"/>
              <a:t> (s) </a:t>
            </a:r>
            <a:endParaRPr lang="en-US" altLang="zh-CN" sz="3600" dirty="0"/>
          </a:p>
          <a:p>
            <a:pPr>
              <a:buNone/>
            </a:pPr>
            <a:r>
              <a:rPr lang="en-US" altLang="zh-CN" dirty="0"/>
              <a:t>	   x		   6.8g</a:t>
            </a:r>
            <a:endParaRPr lang="zh-CN" altLang="en-US" dirty="0"/>
          </a:p>
          <a:p>
            <a:pPr>
              <a:buNone/>
            </a:pPr>
            <a:r>
              <a:rPr lang="en-MY" dirty="0"/>
              <a:t>   74.5</a:t>
            </a:r>
            <a:r>
              <a:rPr lang="en-US" altLang="zh-CN" dirty="0"/>
              <a:t>g</a:t>
            </a:r>
            <a:r>
              <a:rPr lang="en-MY" dirty="0"/>
              <a:t>	   170</a:t>
            </a:r>
            <a:r>
              <a:rPr lang="en-US" altLang="zh-CN" dirty="0"/>
              <a:t>g</a:t>
            </a:r>
            <a:endParaRPr lang="en-MY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 溶质</a:t>
            </a:r>
            <a:r>
              <a:rPr lang="en-US" altLang="zh-CN" dirty="0"/>
              <a:t> 	      	  </a:t>
            </a:r>
            <a:r>
              <a:rPr lang="zh-CN" altLang="en-US" dirty="0"/>
              <a:t>溶剂</a:t>
            </a:r>
            <a:r>
              <a:rPr lang="en-US" altLang="zh-CN" dirty="0"/>
              <a:t>	</a:t>
            </a:r>
            <a:r>
              <a:rPr lang="zh-CN" altLang="en-US" dirty="0"/>
              <a:t>溶液</a:t>
            </a:r>
            <a:r>
              <a:rPr lang="en-US" altLang="zh-CN" dirty="0"/>
              <a:t>	</a:t>
            </a:r>
          </a:p>
          <a:p>
            <a:pPr>
              <a:buNone/>
            </a:pPr>
            <a:r>
              <a:rPr lang="en-US" altLang="zh-CN" dirty="0"/>
              <a:t>	  2.98g	           8.76g	11.74g</a:t>
            </a:r>
            <a:endParaRPr lang="zh-CN" altLang="en-US" dirty="0"/>
          </a:p>
          <a:p>
            <a:pPr>
              <a:buNone/>
            </a:pPr>
            <a:r>
              <a:rPr lang="en-MY" dirty="0"/>
              <a:t>	  </a:t>
            </a:r>
            <a:r>
              <a:rPr lang="en-MY" dirty="0" err="1"/>
              <a:t>yg</a:t>
            </a:r>
            <a:r>
              <a:rPr lang="en-MY" dirty="0"/>
              <a:t>		  	  100g	</a:t>
            </a:r>
          </a:p>
          <a:p>
            <a:pPr>
              <a:buNone/>
            </a:pPr>
            <a:endParaRPr lang="en-MY" dirty="0"/>
          </a:p>
          <a:p>
            <a:pPr>
              <a:buNone/>
            </a:pP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706261" y="3185717"/>
            <a:ext cx="2857520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0" y="0"/>
            <a:ext cx="41793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Pg114 </a:t>
            </a:r>
            <a:r>
              <a:rPr lang="zh-CN" altLang="en-US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作答题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71472" y="4857760"/>
            <a:ext cx="4143404" cy="915194"/>
            <a:chOff x="2285190" y="2895600"/>
            <a:chExt cx="3929884" cy="915194"/>
          </a:xfrm>
        </p:grpSpPr>
        <p:cxnSp>
          <p:nvCxnSpPr>
            <p:cNvPr id="12" name="Straight Arrow Connector 11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ounded Rectangle 15"/>
          <p:cNvSpPr/>
          <p:nvPr/>
        </p:nvSpPr>
        <p:spPr>
          <a:xfrm>
            <a:off x="5072066" y="4857760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57224" y="485776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357554" y="485776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773994" y="3344291"/>
            <a:ext cx="1584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x =2.98</a:t>
            </a:r>
            <a:r>
              <a:rPr lang="en-US" altLang="zh-CN" sz="3200" dirty="0"/>
              <a:t>g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5786446" y="5344555"/>
            <a:ext cx="1800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y</a:t>
            </a:r>
            <a:r>
              <a:rPr lang="en-US" sz="3200" dirty="0"/>
              <a:t> =34.02</a:t>
            </a:r>
            <a:r>
              <a:rPr lang="en-US" altLang="zh-CN" sz="3200" dirty="0"/>
              <a:t>g</a:t>
            </a:r>
            <a:endParaRPr lang="en-US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7" grpId="0" animBg="1"/>
      <p:bldP spid="18" grpId="0" animBg="1"/>
      <p:bldP spid="19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补充题</a:t>
            </a:r>
            <a:r>
              <a:rPr lang="en-US" altLang="zh-CN" sz="3600" dirty="0"/>
              <a:t>1</a:t>
            </a:r>
            <a:r>
              <a:rPr lang="zh-CN" altLang="en-US" sz="3600" dirty="0"/>
              <a:t>：把</a:t>
            </a:r>
            <a:r>
              <a:rPr lang="en-US" altLang="zh-CN" sz="3600" dirty="0"/>
              <a:t>50g 20</a:t>
            </a:r>
            <a:r>
              <a:rPr lang="zh-CN" altLang="en-US" sz="3600" dirty="0"/>
              <a:t>℃时的</a:t>
            </a:r>
            <a:r>
              <a:rPr lang="en-US" altLang="zh-CN" sz="3600" dirty="0"/>
              <a:t>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饱和溶液蒸干，可以得到</a:t>
            </a:r>
            <a:r>
              <a:rPr lang="en-US" altLang="zh-CN" sz="3600" dirty="0"/>
              <a:t>12g</a:t>
            </a:r>
            <a:r>
              <a:rPr lang="zh-CN" altLang="en-US" sz="3600" dirty="0"/>
              <a:t>干燥的</a:t>
            </a:r>
            <a:r>
              <a:rPr lang="en-US" altLang="zh-CN" sz="3600" dirty="0"/>
              <a:t>KNO</a:t>
            </a:r>
            <a:r>
              <a:rPr lang="en-US" altLang="zh-CN" sz="3600" baseline="-25000" dirty="0"/>
              <a:t>3</a:t>
            </a:r>
            <a:r>
              <a:rPr lang="zh-CN" altLang="en-US" sz="3600" dirty="0"/>
              <a:t>晶体。计算</a:t>
            </a:r>
            <a:r>
              <a:rPr lang="en-US" altLang="zh-CN" sz="3600" dirty="0"/>
              <a:t>20</a:t>
            </a:r>
            <a:r>
              <a:rPr lang="zh-CN" altLang="en-US" sz="3600" dirty="0"/>
              <a:t>℃时</a:t>
            </a:r>
            <a:r>
              <a:rPr lang="en-US" altLang="zh-CN" sz="3600" dirty="0"/>
              <a:t>KNO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  </a:t>
            </a:r>
            <a:r>
              <a:rPr lang="zh-CN" altLang="en-US" sz="3600" dirty="0"/>
              <a:t>的溶解度。</a:t>
            </a:r>
          </a:p>
          <a:p>
            <a:pPr>
              <a:buNone/>
            </a:pPr>
            <a:r>
              <a:rPr lang="zh-CN" altLang="en-US" sz="3600" dirty="0"/>
              <a:t>解：溶质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	     12g		       38g		50g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x		      100g	</a:t>
            </a:r>
          </a:p>
          <a:p>
            <a:pPr>
              <a:buNone/>
            </a:pPr>
            <a:r>
              <a:rPr lang="en-MY" sz="3600" dirty="0"/>
              <a:t>			38x=1200</a:t>
            </a:r>
          </a:p>
          <a:p>
            <a:pPr>
              <a:buNone/>
            </a:pPr>
            <a:r>
              <a:rPr lang="en-MY" sz="3600" dirty="0"/>
              <a:t>			     x= 31.58g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1214414" y="3513938"/>
            <a:ext cx="3786214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85852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000496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000760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补充题</a:t>
            </a:r>
            <a:r>
              <a:rPr lang="en-US" altLang="zh-CN" sz="3600" dirty="0"/>
              <a:t>2</a:t>
            </a:r>
            <a:r>
              <a:rPr lang="zh-CN" altLang="en-US" sz="3600" dirty="0"/>
              <a:t>：在</a:t>
            </a:r>
            <a:r>
              <a:rPr lang="en-US" altLang="zh-CN" sz="3600" dirty="0"/>
              <a:t>20</a:t>
            </a:r>
            <a:r>
              <a:rPr lang="zh-CN" altLang="en-US" sz="3600" dirty="0"/>
              <a:t>℃时</a:t>
            </a:r>
            <a:r>
              <a:rPr lang="en-US" altLang="zh-CN" sz="3600" dirty="0"/>
              <a:t>1000gNH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Cl</a:t>
            </a:r>
            <a:r>
              <a:rPr lang="zh-CN" altLang="en-US" sz="3600" dirty="0"/>
              <a:t>饱和溶液中含有多少克</a:t>
            </a:r>
            <a:r>
              <a:rPr lang="en-US" altLang="zh-CN" sz="3600" dirty="0"/>
              <a:t>NH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Cl</a:t>
            </a:r>
            <a:r>
              <a:rPr lang="zh-CN" altLang="en-US" sz="3600" dirty="0"/>
              <a:t>？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查图得知</a:t>
            </a:r>
            <a:r>
              <a:rPr lang="en-US" altLang="zh-CN" sz="3600" dirty="0"/>
              <a:t>20</a:t>
            </a:r>
            <a:r>
              <a:rPr lang="zh-CN" altLang="en-US" sz="3600" dirty="0"/>
              <a:t>℃，</a:t>
            </a:r>
            <a:r>
              <a:rPr lang="en-US" altLang="zh-CN" sz="3600" dirty="0"/>
              <a:t>NH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Cl</a:t>
            </a:r>
            <a:r>
              <a:rPr lang="zh-CN" altLang="en-US" sz="3600" dirty="0"/>
              <a:t>溶解度</a:t>
            </a:r>
            <a:r>
              <a:rPr lang="en-US" altLang="zh-CN" sz="3600" dirty="0"/>
              <a:t> 37g/100g</a:t>
            </a:r>
            <a:r>
              <a:rPr lang="zh-CN" altLang="en-US" sz="3600" dirty="0"/>
              <a:t>水</a:t>
            </a:r>
          </a:p>
          <a:p>
            <a:pPr>
              <a:buNone/>
            </a:pPr>
            <a:r>
              <a:rPr lang="zh-CN" altLang="en-US" sz="3600" dirty="0"/>
              <a:t>解：溶质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	       x		       			1000g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37		      100g		137g</a:t>
            </a:r>
          </a:p>
          <a:p>
            <a:pPr>
              <a:buNone/>
            </a:pPr>
            <a:r>
              <a:rPr lang="en-MY" sz="3600" dirty="0"/>
              <a:t>			137x=37000</a:t>
            </a:r>
          </a:p>
          <a:p>
            <a:pPr>
              <a:buNone/>
            </a:pPr>
            <a:r>
              <a:rPr lang="en-MY" sz="3600" dirty="0"/>
              <a:t>			      x= 270.07g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85852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000760" y="3500438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214413" y="3500439"/>
            <a:ext cx="6215107" cy="915194"/>
            <a:chOff x="1214413" y="3513939"/>
            <a:chExt cx="6215107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ounded Rectangle 16"/>
          <p:cNvSpPr/>
          <p:nvPr/>
        </p:nvSpPr>
        <p:spPr>
          <a:xfrm>
            <a:off x="3714744" y="414338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142976" y="414338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000760" y="414338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补充题</a:t>
            </a:r>
            <a:r>
              <a:rPr lang="en-US" altLang="zh-CN" sz="3600" dirty="0"/>
              <a:t>3</a:t>
            </a:r>
            <a:r>
              <a:rPr lang="zh-CN" altLang="en-US" sz="3600" dirty="0"/>
              <a:t>：蔗糖在</a:t>
            </a:r>
            <a:r>
              <a:rPr lang="en-US" altLang="zh-CN" sz="3600" dirty="0"/>
              <a:t> 20</a:t>
            </a:r>
            <a:r>
              <a:rPr lang="zh-CN" altLang="en-US" sz="3600" dirty="0"/>
              <a:t>℃时的溶解度是</a:t>
            </a:r>
            <a:r>
              <a:rPr lang="en-US" altLang="zh-CN" sz="3600" dirty="0"/>
              <a:t>203g/100g</a:t>
            </a:r>
            <a:r>
              <a:rPr lang="zh-CN" altLang="en-US" sz="3600" dirty="0"/>
              <a:t>水。要制取蔗糖饱和溶液</a:t>
            </a:r>
            <a:r>
              <a:rPr lang="en-US" altLang="zh-CN" sz="3600" dirty="0"/>
              <a:t>100g</a:t>
            </a:r>
            <a:r>
              <a:rPr lang="zh-CN" altLang="en-US" sz="3600" dirty="0"/>
              <a:t>，需要蔗糖和水各多少克？</a:t>
            </a:r>
          </a:p>
          <a:p>
            <a:pPr>
              <a:buNone/>
            </a:pPr>
            <a:r>
              <a:rPr lang="zh-CN" altLang="en-US" sz="3600" dirty="0"/>
              <a:t>解：溶质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		  x			 y		100g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      </a:t>
            </a:r>
            <a:r>
              <a:rPr lang="en-US" altLang="zh-CN" sz="3600" dirty="0"/>
              <a:t>203g</a:t>
            </a:r>
            <a:r>
              <a:rPr lang="en-MY" sz="3600" dirty="0"/>
              <a:t>	      100g		</a:t>
            </a:r>
            <a:r>
              <a:rPr lang="en-US" altLang="zh-CN" sz="3600" dirty="0"/>
              <a:t>303g</a:t>
            </a:r>
            <a:endParaRPr lang="en-MY" sz="3600" dirty="0"/>
          </a:p>
          <a:p>
            <a:pPr>
              <a:buNone/>
            </a:pPr>
            <a:r>
              <a:rPr lang="en-MY" sz="3600" dirty="0"/>
              <a:t>			x= 67</a:t>
            </a:r>
            <a:r>
              <a:rPr lang="en-US" altLang="zh-CN" sz="3600" dirty="0"/>
              <a:t>g</a:t>
            </a:r>
            <a:endParaRPr lang="en-MY" sz="3600" dirty="0"/>
          </a:p>
          <a:p>
            <a:pPr>
              <a:buNone/>
            </a:pPr>
            <a:r>
              <a:rPr lang="en-MY" sz="3600" dirty="0"/>
              <a:t>			</a:t>
            </a:r>
            <a:r>
              <a:rPr lang="en-US" altLang="zh-CN" sz="3600" dirty="0"/>
              <a:t>y</a:t>
            </a:r>
            <a:r>
              <a:rPr lang="en-MY" sz="3600" dirty="0"/>
              <a:t>= 33g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1214414" y="3513938"/>
            <a:ext cx="6143668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11"/>
          <p:cNvSpPr/>
          <p:nvPr/>
        </p:nvSpPr>
        <p:spPr>
          <a:xfrm>
            <a:off x="1428728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000496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000760" y="3429000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929058" y="4071942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500166" y="4071942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072198" y="4071942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uiExpand="1" animBg="1"/>
      <p:bldP spid="14" grpId="0" uiExpand="1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600" dirty="0"/>
              <a:t>补充题</a:t>
            </a:r>
            <a:r>
              <a:rPr lang="en-US" altLang="zh-CN" sz="3600" dirty="0"/>
              <a:t>4</a:t>
            </a:r>
            <a:r>
              <a:rPr lang="zh-CN" altLang="en-US" sz="3600" dirty="0"/>
              <a:t>：将</a:t>
            </a:r>
            <a:r>
              <a:rPr lang="en-US" altLang="zh-CN" sz="3600" dirty="0"/>
              <a:t>200g 20</a:t>
            </a:r>
            <a:r>
              <a:rPr lang="zh-CN" altLang="en-US" sz="3600" dirty="0"/>
              <a:t>℃时的</a:t>
            </a:r>
            <a:r>
              <a:rPr lang="en-US" altLang="zh-CN" sz="3600" dirty="0" err="1"/>
              <a:t>NaCl</a:t>
            </a:r>
            <a:r>
              <a:rPr lang="zh-CN" altLang="en-US" sz="3600" dirty="0"/>
              <a:t>饱和溶液加热蒸发掉</a:t>
            </a:r>
            <a:r>
              <a:rPr lang="en-US" altLang="zh-CN" sz="3600" dirty="0"/>
              <a:t>40g</a:t>
            </a:r>
            <a:r>
              <a:rPr lang="zh-CN" altLang="en-US" sz="3600" dirty="0"/>
              <a:t>水，当溶液温度再冷却至</a:t>
            </a:r>
            <a:r>
              <a:rPr lang="en-US" altLang="zh-CN" sz="3600" dirty="0"/>
              <a:t>20</a:t>
            </a:r>
            <a:r>
              <a:rPr lang="en-US" altLang="zh-CN" sz="3600" baseline="30000" dirty="0"/>
              <a:t>o</a:t>
            </a:r>
            <a:r>
              <a:rPr lang="en-US" altLang="zh-CN" sz="3600" dirty="0"/>
              <a:t>C</a:t>
            </a:r>
            <a:r>
              <a:rPr lang="zh-CN" altLang="en-US" sz="3600" dirty="0"/>
              <a:t>时，有多少晶体析出？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已知</a:t>
            </a:r>
            <a:r>
              <a:rPr lang="en-US" altLang="zh-CN" sz="3600" dirty="0"/>
              <a:t> 20</a:t>
            </a:r>
            <a:r>
              <a:rPr lang="zh-CN" altLang="en-US" sz="3600" dirty="0"/>
              <a:t>℃</a:t>
            </a:r>
            <a:r>
              <a:rPr lang="en-US" altLang="zh-CN" sz="3600" dirty="0"/>
              <a:t> </a:t>
            </a:r>
            <a:r>
              <a:rPr lang="en-US" altLang="zh-CN" sz="3600" dirty="0" err="1"/>
              <a:t>NaCl</a:t>
            </a:r>
            <a:r>
              <a:rPr lang="zh-CN" altLang="en-US" sz="3600" dirty="0"/>
              <a:t>溶解度</a:t>
            </a:r>
            <a:r>
              <a:rPr lang="en-US" altLang="zh-CN" sz="3600" dirty="0"/>
              <a:t> 36g/100g</a:t>
            </a:r>
            <a:r>
              <a:rPr lang="zh-CN" altLang="en-US" sz="3600" dirty="0"/>
              <a:t>水</a:t>
            </a:r>
          </a:p>
          <a:p>
            <a:pPr>
              <a:buNone/>
            </a:pPr>
            <a:r>
              <a:rPr lang="zh-CN" altLang="en-US" sz="3600" dirty="0"/>
              <a:t>解：溶质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</a:p>
          <a:p>
            <a:pPr>
              <a:buNone/>
            </a:pPr>
            <a:r>
              <a:rPr lang="en-US" altLang="zh-CN" sz="3600" dirty="0"/>
              <a:t>           x			40g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</a:t>
            </a:r>
            <a:r>
              <a:rPr lang="en-US" altLang="zh-CN" sz="3600" dirty="0"/>
              <a:t>36g</a:t>
            </a:r>
            <a:r>
              <a:rPr lang="en-MY" sz="3600" dirty="0"/>
              <a:t>		      100g	</a:t>
            </a:r>
          </a:p>
          <a:p>
            <a:pPr>
              <a:buNone/>
            </a:pPr>
            <a:r>
              <a:rPr lang="en-MY" sz="3600" dirty="0"/>
              <a:t>			x=</a:t>
            </a:r>
            <a:r>
              <a:rPr lang="en-US" sz="3600" dirty="0"/>
              <a:t>14.4</a:t>
            </a:r>
            <a:r>
              <a:rPr lang="en-US" altLang="zh-CN" sz="3600" dirty="0"/>
              <a:t>g</a:t>
            </a: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1071538" y="4156880"/>
            <a:ext cx="4214842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11"/>
          <p:cNvSpPr/>
          <p:nvPr/>
        </p:nvSpPr>
        <p:spPr>
          <a:xfrm>
            <a:off x="3929058" y="407194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214414" y="4071942"/>
            <a:ext cx="1357322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857620" y="471488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285852" y="471488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uiExpand="1" animBg="1"/>
      <p:bldP spid="14" grpId="0" uiExpand="1" animBg="1"/>
      <p:bldP spid="15" grpId="0" uiExpan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补充题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HgCl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的溶解度在</a:t>
            </a:r>
            <a:r>
              <a:rPr lang="en-US" altLang="zh-CN" dirty="0"/>
              <a:t> 18</a:t>
            </a:r>
            <a:r>
              <a:rPr lang="zh-CN" altLang="en-US" dirty="0"/>
              <a:t>℃时是</a:t>
            </a:r>
            <a:r>
              <a:rPr lang="en-US" altLang="zh-CN" dirty="0"/>
              <a:t>6g/100g</a:t>
            </a:r>
            <a:r>
              <a:rPr lang="zh-CN" altLang="en-US" dirty="0"/>
              <a:t>水，在</a:t>
            </a:r>
            <a:r>
              <a:rPr lang="en-US" altLang="zh-CN" dirty="0"/>
              <a:t>78</a:t>
            </a:r>
            <a:r>
              <a:rPr lang="zh-CN" altLang="en-US" dirty="0"/>
              <a:t>℃时是</a:t>
            </a:r>
            <a:r>
              <a:rPr lang="en-US" altLang="zh-CN" dirty="0"/>
              <a:t>25g/100g</a:t>
            </a:r>
            <a:r>
              <a:rPr lang="zh-CN" altLang="en-US" dirty="0"/>
              <a:t>水。如果把</a:t>
            </a:r>
            <a:r>
              <a:rPr lang="en-US" altLang="zh-CN" dirty="0"/>
              <a:t>78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en-US" altLang="zh-CN" dirty="0"/>
              <a:t>HgCl</a:t>
            </a:r>
            <a:r>
              <a:rPr lang="en-US" altLang="zh-CN" baseline="-25000" dirty="0"/>
              <a:t>2</a:t>
            </a:r>
            <a:r>
              <a:rPr lang="zh-CN" altLang="en-US" dirty="0"/>
              <a:t>饱和溶液冷却到</a:t>
            </a:r>
            <a:r>
              <a:rPr lang="en-US" altLang="zh-CN" dirty="0"/>
              <a:t>18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时，析出了</a:t>
            </a:r>
            <a:r>
              <a:rPr lang="en-US" altLang="zh-CN" dirty="0"/>
              <a:t>38g</a:t>
            </a:r>
            <a:r>
              <a:rPr lang="zh-CN" altLang="en-US" dirty="0"/>
              <a:t>晶体，问原饱和溶液是多少克？</a:t>
            </a:r>
          </a:p>
          <a:p>
            <a:pPr>
              <a:buNone/>
            </a:pPr>
            <a:r>
              <a:rPr lang="en-US" altLang="zh-CN" sz="3600" dirty="0"/>
              <a:t>78</a:t>
            </a:r>
            <a:r>
              <a:rPr lang="zh-CN" altLang="en-US" sz="3600" dirty="0"/>
              <a:t>℃ 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	</a:t>
            </a:r>
          </a:p>
          <a:p>
            <a:pPr>
              <a:buNone/>
            </a:pPr>
            <a:r>
              <a:rPr lang="en-US" altLang="zh-CN" sz="3600" dirty="0"/>
              <a:t> 	       25g       	      100g   		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  x		  	y</a:t>
            </a:r>
          </a:p>
          <a:p>
            <a:pPr>
              <a:buNone/>
            </a:pPr>
            <a:r>
              <a:rPr lang="en-MY" sz="3600" dirty="0"/>
              <a:t>			100x = 25y</a:t>
            </a:r>
            <a:endParaRPr lang="en-US" altLang="zh-CN" sz="3600" dirty="0"/>
          </a:p>
          <a:p>
            <a:pPr>
              <a:buNone/>
            </a:pPr>
            <a:r>
              <a:rPr lang="en-MY" sz="3600" dirty="0"/>
              <a:t>		 	        y= 4x   </a:t>
            </a:r>
            <a:endParaRPr lang="en-MY" sz="3600" dirty="0">
              <a:solidFill>
                <a:srgbClr val="C0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57290" y="3714752"/>
            <a:ext cx="92869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214413" y="3857629"/>
            <a:ext cx="4214843" cy="915194"/>
            <a:chOff x="1214413" y="3513939"/>
            <a:chExt cx="6215107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ounded Rectangle 16"/>
          <p:cNvSpPr/>
          <p:nvPr/>
        </p:nvSpPr>
        <p:spPr>
          <a:xfrm>
            <a:off x="3714744" y="435769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142976" y="4286256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786182" y="371475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7" grpId="0" animBg="1"/>
      <p:bldP spid="18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6641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dirty="0"/>
              <a:t>续补充题</a:t>
            </a:r>
            <a:r>
              <a:rPr lang="en-US" altLang="zh-CN" dirty="0"/>
              <a:t>5. </a:t>
            </a:r>
            <a:r>
              <a:rPr lang="zh-CN" altLang="en-US" dirty="0"/>
              <a:t>已知  </a:t>
            </a:r>
            <a:r>
              <a:rPr lang="en-US" altLang="zh-CN" dirty="0"/>
              <a:t>y=4x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18</a:t>
            </a:r>
            <a:r>
              <a:rPr lang="zh-CN" altLang="en-US" sz="3600" dirty="0"/>
              <a:t>℃  溶质</a:t>
            </a:r>
            <a:r>
              <a:rPr lang="en-US" altLang="zh-CN" sz="3600" dirty="0"/>
              <a:t> 	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		</a:t>
            </a:r>
          </a:p>
          <a:p>
            <a:pPr>
              <a:buNone/>
            </a:pPr>
            <a:r>
              <a:rPr lang="en-US" altLang="zh-CN" sz="3600" dirty="0"/>
              <a:t>	       6g	   	     100g</a:t>
            </a:r>
            <a:endParaRPr lang="zh-CN" altLang="en-US" sz="3600" dirty="0"/>
          </a:p>
          <a:p>
            <a:pPr>
              <a:buNone/>
            </a:pPr>
            <a:r>
              <a:rPr lang="en-MY" sz="3600" dirty="0"/>
              <a:t>		 x-38		      y	</a:t>
            </a:r>
          </a:p>
          <a:p>
            <a:pPr>
              <a:buNone/>
            </a:pPr>
            <a:r>
              <a:rPr lang="en-MY" sz="3600" dirty="0"/>
              <a:t>			6y=100(x-38)</a:t>
            </a:r>
          </a:p>
          <a:p>
            <a:pPr>
              <a:buNone/>
            </a:pPr>
            <a:r>
              <a:rPr lang="en-MY" sz="3600" dirty="0"/>
              <a:t>		   6(4x) = 100x</a:t>
            </a:r>
            <a:r>
              <a:rPr lang="en-US" altLang="zh-CN" sz="3600" dirty="0"/>
              <a:t>- 3800</a:t>
            </a:r>
          </a:p>
          <a:p>
            <a:pPr>
              <a:buNone/>
            </a:pPr>
            <a:r>
              <a:rPr lang="en-US" sz="3600" dirty="0"/>
              <a:t>		     76x = 3800</a:t>
            </a:r>
          </a:p>
          <a:p>
            <a:pPr>
              <a:buNone/>
            </a:pPr>
            <a:r>
              <a:rPr lang="en-US" sz="3600" dirty="0"/>
              <a:t>		 	 x = 50</a:t>
            </a:r>
          </a:p>
          <a:p>
            <a:pPr>
              <a:buNone/>
            </a:pPr>
            <a:r>
              <a:rPr lang="zh-CN" altLang="en-US" sz="3600" dirty="0"/>
              <a:t>原饱和溶液质量</a:t>
            </a:r>
            <a:r>
              <a:rPr lang="en-US" altLang="zh-CN" sz="3600" dirty="0"/>
              <a:t>= x + y = 50 + 4(50) = 250g</a:t>
            </a:r>
            <a:endParaRPr lang="en-MY" sz="3600" dirty="0"/>
          </a:p>
        </p:txBody>
      </p:sp>
      <p:grpSp>
        <p:nvGrpSpPr>
          <p:cNvPr id="2" name="Group 9"/>
          <p:cNvGrpSpPr/>
          <p:nvPr/>
        </p:nvGrpSpPr>
        <p:grpSpPr>
          <a:xfrm>
            <a:off x="1214414" y="2214554"/>
            <a:ext cx="3786214" cy="915194"/>
            <a:chOff x="2285190" y="2895600"/>
            <a:chExt cx="3929884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11"/>
          <p:cNvSpPr/>
          <p:nvPr/>
        </p:nvSpPr>
        <p:spPr>
          <a:xfrm>
            <a:off x="3714744" y="2214554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357290" y="2214554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3714744" y="3000372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357290" y="2928934"/>
            <a:ext cx="142876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71449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18.5 </a:t>
            </a:r>
            <a:r>
              <a:rPr lang="zh-CN" altLang="en-US" sz="54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有关溶解度的计算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uiExpand="1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664122"/>
          </a:xfrm>
        </p:spPr>
        <p:txBody>
          <a:bodyPr>
            <a:noAutofit/>
          </a:bodyPr>
          <a:lstStyle/>
          <a:p>
            <a:pPr marL="742950" indent="-742950">
              <a:spcBef>
                <a:spcPts val="0"/>
              </a:spcBef>
              <a:buAutoNum type="arabicPeriod"/>
            </a:pPr>
            <a:r>
              <a:rPr lang="en-US" altLang="zh-CN" sz="3600" dirty="0"/>
              <a:t>m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200gx10%</a:t>
            </a:r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sz="3600" dirty="0"/>
              <a:t>		      = 20g</a:t>
            </a:r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sz="3600" dirty="0"/>
              <a:t>	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180g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	</a:t>
            </a:r>
            <a:r>
              <a:rPr lang="zh-CN" altLang="en-US" sz="3600" dirty="0"/>
              <a:t>溶质</a:t>
            </a:r>
            <a:r>
              <a:rPr lang="en-US" altLang="zh-CN" sz="3600" dirty="0"/>
              <a:t>	       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      </a:t>
            </a:r>
            <a:r>
              <a:rPr lang="en-MY" sz="3600" dirty="0"/>
              <a:t>25g		      100g		</a:t>
            </a:r>
            <a:endParaRPr lang="en-US" altLang="zh-CN" sz="3600" dirty="0"/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	</a:t>
            </a:r>
            <a:r>
              <a:rPr lang="en-US" altLang="zh-CN" sz="3600" dirty="0" err="1"/>
              <a:t>xg</a:t>
            </a:r>
            <a:r>
              <a:rPr lang="en-US" altLang="zh-CN" sz="3600" dirty="0"/>
              <a:t>	      	      180g		</a:t>
            </a:r>
            <a:endParaRPr lang="zh-CN" altLang="en-US" sz="3600" dirty="0"/>
          </a:p>
          <a:p>
            <a:pPr>
              <a:spcBef>
                <a:spcPts val="0"/>
              </a:spcBef>
              <a:buNone/>
            </a:pPr>
            <a:r>
              <a:rPr lang="en-MY" sz="3600" dirty="0"/>
              <a:t>			x = </a:t>
            </a:r>
            <a:r>
              <a:rPr lang="en-US" altLang="zh-CN" sz="3600" dirty="0"/>
              <a:t>45g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m</a:t>
            </a:r>
            <a:r>
              <a:rPr lang="zh-CN" altLang="en-US" sz="3600" dirty="0"/>
              <a:t>质</a:t>
            </a:r>
            <a:r>
              <a:rPr lang="en-US" altLang="zh-CN" sz="3600" dirty="0"/>
              <a:t>=45g		</a:t>
            </a:r>
            <a:r>
              <a:rPr lang="en-US" sz="3600" dirty="0"/>
              <a:t>m</a:t>
            </a:r>
            <a:r>
              <a:rPr lang="zh-CN" altLang="en-US" sz="3600" dirty="0"/>
              <a:t>剂</a:t>
            </a:r>
            <a:r>
              <a:rPr lang="en-US" altLang="zh-CN" sz="3600" dirty="0"/>
              <a:t>=180g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m</a:t>
            </a:r>
            <a:r>
              <a:rPr lang="zh-CN" altLang="en-US" sz="3600" dirty="0"/>
              <a:t>液</a:t>
            </a:r>
            <a:r>
              <a:rPr lang="en-US" altLang="zh-CN" sz="3600" dirty="0"/>
              <a:t>=225g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 err="1"/>
              <a:t>Ans</a:t>
            </a:r>
            <a:r>
              <a:rPr lang="en-US" sz="3600" dirty="0"/>
              <a:t>: D </a:t>
            </a:r>
            <a:endParaRPr lang="en-MY" sz="3600" dirty="0"/>
          </a:p>
          <a:p>
            <a:pPr>
              <a:spcBef>
                <a:spcPts val="0"/>
              </a:spcBef>
              <a:buNone/>
            </a:pPr>
            <a:r>
              <a:rPr lang="en-MY" sz="3600" dirty="0"/>
              <a:t>		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264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18c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59325" y="3668773"/>
            <a:ext cx="1071570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9"/>
          <p:cNvGrpSpPr/>
          <p:nvPr/>
        </p:nvGrpSpPr>
        <p:grpSpPr>
          <a:xfrm>
            <a:off x="1071538" y="3156748"/>
            <a:ext cx="4214842" cy="915194"/>
            <a:chOff x="2285190" y="2895600"/>
            <a:chExt cx="3929884" cy="915194"/>
          </a:xfrm>
        </p:grpSpPr>
        <p:cxnSp>
          <p:nvCxnSpPr>
            <p:cNvPr id="16" name="Straight Arrow Connector 1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65208"/>
            <a:ext cx="8929718" cy="5664122"/>
          </a:xfrm>
        </p:spPr>
        <p:txBody>
          <a:bodyPr>
            <a:noAutofit/>
          </a:bodyPr>
          <a:lstStyle/>
          <a:p>
            <a:pPr marL="742950" indent="-742950">
              <a:spcBef>
                <a:spcPts val="0"/>
              </a:spcBef>
              <a:buAutoNum type="arabicPeriod" startAt="2"/>
            </a:pPr>
            <a:r>
              <a:rPr lang="en-US" altLang="zh-CN" dirty="0"/>
              <a:t>400g</a:t>
            </a:r>
            <a:r>
              <a:rPr lang="zh-CN" altLang="en-US" dirty="0"/>
              <a:t>溶液中，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  <a:r>
              <a:rPr lang="en-US" altLang="zh-CN" dirty="0"/>
              <a:t> = 400g – 68.7g = 331.3g</a:t>
            </a:r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dirty="0"/>
              <a:t>		</a:t>
            </a:r>
            <a:r>
              <a:rPr lang="zh-CN" altLang="en-US" dirty="0"/>
              <a:t>溶质</a:t>
            </a:r>
            <a:r>
              <a:rPr lang="en-US" altLang="zh-CN" dirty="0"/>
              <a:t>	       	</a:t>
            </a:r>
            <a:r>
              <a:rPr lang="zh-CN" altLang="en-US" dirty="0"/>
              <a:t>溶剂</a:t>
            </a:r>
            <a:r>
              <a:rPr lang="en-US" altLang="zh-CN" dirty="0"/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      </a:t>
            </a:r>
            <a:r>
              <a:rPr lang="en-MY" altLang="zh-CN" dirty="0"/>
              <a:t>45.8g		</a:t>
            </a:r>
            <a:r>
              <a:rPr lang="en-MY" dirty="0"/>
              <a:t>100g		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xg</a:t>
            </a:r>
            <a:r>
              <a:rPr lang="en-US" altLang="zh-CN" dirty="0"/>
              <a:t>	      	331.3g		</a:t>
            </a:r>
            <a:endParaRPr lang="zh-CN" altLang="en-US" dirty="0"/>
          </a:p>
          <a:p>
            <a:pPr>
              <a:spcBef>
                <a:spcPts val="0"/>
              </a:spcBef>
              <a:buNone/>
            </a:pPr>
            <a:r>
              <a:rPr lang="en-MY" dirty="0"/>
              <a:t>			x = </a:t>
            </a:r>
            <a:r>
              <a:rPr lang="en-US" dirty="0"/>
              <a:t>151.74</a:t>
            </a:r>
            <a:r>
              <a:rPr lang="en-US" altLang="zh-CN" dirty="0"/>
              <a:t>g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	</a:t>
            </a:r>
            <a:r>
              <a:rPr lang="zh-CN" altLang="en-US" dirty="0"/>
              <a:t>溶质</a:t>
            </a:r>
            <a:r>
              <a:rPr lang="en-US" altLang="zh-CN" dirty="0"/>
              <a:t>	       	</a:t>
            </a:r>
            <a:r>
              <a:rPr lang="zh-CN" altLang="en-US" dirty="0"/>
              <a:t>溶剂</a:t>
            </a:r>
            <a:r>
              <a:rPr lang="en-US" altLang="zh-CN" dirty="0"/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      </a:t>
            </a:r>
            <a:r>
              <a:rPr lang="en-MY" altLang="zh-CN" dirty="0"/>
              <a:t>45.8g		</a:t>
            </a:r>
            <a:r>
              <a:rPr lang="en-MY" dirty="0"/>
              <a:t>100g		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	68.7g	 </a:t>
            </a:r>
            <a:r>
              <a:rPr lang="en-US" altLang="zh-CN" dirty="0" err="1"/>
              <a:t>yg</a:t>
            </a:r>
            <a:r>
              <a:rPr lang="en-US" altLang="zh-CN" dirty="0"/>
              <a:t>		</a:t>
            </a:r>
            <a:endParaRPr lang="zh-CN" altLang="en-US" dirty="0"/>
          </a:p>
          <a:p>
            <a:pPr>
              <a:spcBef>
                <a:spcPts val="0"/>
              </a:spcBef>
              <a:buNone/>
            </a:pPr>
            <a:r>
              <a:rPr lang="en-MY" dirty="0"/>
              <a:t>			y = </a:t>
            </a:r>
            <a:r>
              <a:rPr lang="en-US" dirty="0"/>
              <a:t>150</a:t>
            </a:r>
            <a:r>
              <a:rPr lang="en-US" altLang="zh-CN" dirty="0"/>
              <a:t>g</a:t>
            </a:r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dirty="0"/>
              <a:t>(1)	</a:t>
            </a:r>
            <a:r>
              <a:rPr lang="zh-CN" altLang="en-US" dirty="0"/>
              <a:t>不饱和</a:t>
            </a:r>
            <a:endParaRPr lang="en-US" altLang="zh-CN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dirty="0"/>
              <a:t>(2)	1. </a:t>
            </a:r>
            <a:r>
              <a:rPr lang="zh-CN" altLang="en-US" dirty="0"/>
              <a:t>需蒸发</a:t>
            </a:r>
            <a:r>
              <a:rPr lang="en-US" altLang="zh-CN" dirty="0"/>
              <a:t>331.3g-150g=181.3g</a:t>
            </a:r>
            <a:r>
              <a:rPr lang="zh-CN" altLang="en-US" dirty="0"/>
              <a:t>水</a:t>
            </a:r>
            <a:endParaRPr lang="en-US" altLang="zh-CN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dirty="0"/>
              <a:t>	2. </a:t>
            </a:r>
            <a:r>
              <a:rPr lang="zh-CN" altLang="en-US" dirty="0"/>
              <a:t>需加入</a:t>
            </a:r>
            <a:r>
              <a:rPr lang="en-US" altLang="zh-CN" dirty="0"/>
              <a:t>151.74g-68.7g=83.04g</a:t>
            </a:r>
            <a:r>
              <a:rPr lang="zh-CN" altLang="en-US" dirty="0"/>
              <a:t>氯化铵</a:t>
            </a:r>
            <a:endParaRPr lang="en-US" altLang="zh-CN" dirty="0"/>
          </a:p>
          <a:p>
            <a:pPr marL="742950" indent="-742950">
              <a:spcBef>
                <a:spcPts val="0"/>
              </a:spcBef>
              <a:buNone/>
            </a:pPr>
            <a:endParaRPr lang="en-MY" dirty="0"/>
          </a:p>
          <a:p>
            <a:pPr>
              <a:spcBef>
                <a:spcPts val="0"/>
              </a:spcBef>
              <a:buNone/>
            </a:pPr>
            <a:r>
              <a:rPr lang="en-MY" dirty="0"/>
              <a:t>		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9124" y="285728"/>
            <a:ext cx="2286016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9"/>
          <p:cNvGrpSpPr/>
          <p:nvPr/>
        </p:nvGrpSpPr>
        <p:grpSpPr>
          <a:xfrm>
            <a:off x="857224" y="1357298"/>
            <a:ext cx="3643338" cy="915194"/>
            <a:chOff x="2285190" y="2895600"/>
            <a:chExt cx="3929884" cy="915194"/>
          </a:xfrm>
        </p:grpSpPr>
        <p:cxnSp>
          <p:nvCxnSpPr>
            <p:cNvPr id="16" name="Straight Arrow Connector 15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ounded Rectangle 12"/>
          <p:cNvSpPr/>
          <p:nvPr/>
        </p:nvSpPr>
        <p:spPr>
          <a:xfrm>
            <a:off x="7000892" y="285728"/>
            <a:ext cx="1357290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929322" y="1071546"/>
            <a:ext cx="2957861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/>
              <a:t>331.3g</a:t>
            </a:r>
            <a:r>
              <a:rPr lang="zh-CN" altLang="en-US" sz="3200" dirty="0"/>
              <a:t>水能溶解</a:t>
            </a:r>
            <a:endParaRPr lang="en-US" altLang="zh-CN" sz="3200" dirty="0"/>
          </a:p>
          <a:p>
            <a:r>
              <a:rPr lang="en-US" altLang="zh-CN" sz="3200" dirty="0"/>
              <a:t>151.74g</a:t>
            </a:r>
            <a:r>
              <a:rPr lang="zh-CN" altLang="en-US" sz="3200" dirty="0"/>
              <a:t>氯化铵</a:t>
            </a:r>
            <a:endParaRPr lang="en-US" sz="3000" dirty="0"/>
          </a:p>
        </p:txBody>
      </p:sp>
      <p:sp>
        <p:nvSpPr>
          <p:cNvPr id="15" name="TextBox 14"/>
          <p:cNvSpPr txBox="1"/>
          <p:nvPr/>
        </p:nvSpPr>
        <p:spPr>
          <a:xfrm>
            <a:off x="5884389" y="3286124"/>
            <a:ext cx="2973891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000" dirty="0"/>
              <a:t>68.7g</a:t>
            </a:r>
            <a:r>
              <a:rPr lang="zh-CN" altLang="en-US" sz="3000" dirty="0"/>
              <a:t>氯化铵只需</a:t>
            </a:r>
            <a:endParaRPr lang="en-US" altLang="zh-CN" sz="3000" dirty="0"/>
          </a:p>
          <a:p>
            <a:r>
              <a:rPr lang="en-US" altLang="zh-CN" sz="3000" dirty="0"/>
              <a:t>150g</a:t>
            </a:r>
            <a:r>
              <a:rPr lang="zh-CN" altLang="en-US" sz="3000" dirty="0"/>
              <a:t>水</a:t>
            </a:r>
            <a:endParaRPr lang="en-US" sz="3000" dirty="0"/>
          </a:p>
        </p:txBody>
      </p:sp>
      <p:grpSp>
        <p:nvGrpSpPr>
          <p:cNvPr id="17" name="Group 9"/>
          <p:cNvGrpSpPr/>
          <p:nvPr/>
        </p:nvGrpSpPr>
        <p:grpSpPr>
          <a:xfrm>
            <a:off x="857224" y="3371062"/>
            <a:ext cx="3562376" cy="915194"/>
            <a:chOff x="2285190" y="2895600"/>
            <a:chExt cx="3929884" cy="915194"/>
          </a:xfrm>
        </p:grpSpPr>
        <p:cxnSp>
          <p:nvCxnSpPr>
            <p:cNvPr id="18" name="Straight Arrow Connector 17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ounded Rectangle 24"/>
          <p:cNvSpPr/>
          <p:nvPr/>
        </p:nvSpPr>
        <p:spPr>
          <a:xfrm>
            <a:off x="2705088" y="5143512"/>
            <a:ext cx="3438548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643174" y="5715016"/>
            <a:ext cx="3714776" cy="50006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animBg="1"/>
      <p:bldP spid="13" grpId="0" animBg="1"/>
      <p:bldP spid="14" grpId="0" animBg="1"/>
      <p:bldP spid="15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elearning.slps.ntpc.edu.tw/4/98A/%E7%99%BE%E5%AF%B6%E5%9C%96%E5%BA%AB/%E8%83%8C%E6%99%AF%E5%9C%96/%E8%83%8C%E6%99%AF%E5%9C%96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929718" cy="4572032"/>
          </a:xfrm>
        </p:spPr>
        <p:txBody>
          <a:bodyPr>
            <a:noAutofit/>
          </a:bodyPr>
          <a:lstStyle/>
          <a:p>
            <a:pPr marL="742950" indent="-742950">
              <a:spcBef>
                <a:spcPts val="0"/>
              </a:spcBef>
              <a:buNone/>
            </a:pPr>
            <a:r>
              <a:rPr lang="en-US" altLang="zh-CN" sz="3600" dirty="0"/>
              <a:t>3. (1) </a:t>
            </a:r>
            <a:r>
              <a:rPr lang="zh-CN" altLang="en-US" sz="3600" dirty="0"/>
              <a:t>实验</a:t>
            </a:r>
            <a:r>
              <a:rPr lang="en-US" altLang="zh-CN" sz="3600" dirty="0"/>
              <a:t>1</a:t>
            </a:r>
            <a:r>
              <a:rPr lang="zh-CN" altLang="en-US" sz="3600" dirty="0"/>
              <a:t>：不饱和</a:t>
            </a:r>
            <a:endParaRPr lang="en-US" altLang="zh-CN" sz="3600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sz="3600" dirty="0"/>
              <a:t>		</a:t>
            </a:r>
            <a:r>
              <a:rPr lang="zh-CN" altLang="en-US" sz="3600" dirty="0"/>
              <a:t>实验</a:t>
            </a:r>
            <a:r>
              <a:rPr lang="en-US" altLang="zh-CN" sz="3600" dirty="0"/>
              <a:t>2</a:t>
            </a:r>
            <a:r>
              <a:rPr lang="zh-CN" altLang="en-US" sz="3600" dirty="0"/>
              <a:t>：不饱和</a:t>
            </a:r>
            <a:endParaRPr lang="en-US" altLang="zh-CN" sz="3600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sz="3600" dirty="0"/>
              <a:t>		</a:t>
            </a:r>
            <a:r>
              <a:rPr lang="zh-CN" altLang="en-US" sz="3600" dirty="0"/>
              <a:t>实验</a:t>
            </a:r>
            <a:r>
              <a:rPr lang="en-US" altLang="zh-CN" sz="3600" dirty="0"/>
              <a:t>3</a:t>
            </a:r>
            <a:r>
              <a:rPr lang="zh-CN" altLang="en-US" sz="3600" dirty="0"/>
              <a:t>：</a:t>
            </a:r>
            <a:r>
              <a:rPr lang="en-US" altLang="zh-CN" sz="3600" dirty="0"/>
              <a:t>m</a:t>
            </a:r>
            <a:r>
              <a:rPr lang="zh-CN" altLang="en-US" sz="3600" dirty="0"/>
              <a:t>液</a:t>
            </a:r>
            <a:r>
              <a:rPr lang="en-US" altLang="zh-CN" sz="3600" dirty="0"/>
              <a:t>=m</a:t>
            </a:r>
            <a:r>
              <a:rPr lang="zh-CN" altLang="en-US" sz="3600" dirty="0"/>
              <a:t>剂</a:t>
            </a:r>
            <a:r>
              <a:rPr lang="en-US" altLang="zh-CN" sz="3600" dirty="0"/>
              <a:t>+m</a:t>
            </a:r>
            <a:r>
              <a:rPr lang="zh-CN" altLang="en-US" sz="3600" dirty="0"/>
              <a:t>溶解的溶质</a:t>
            </a:r>
            <a:endParaRPr lang="en-US" altLang="zh-CN" sz="3600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altLang="zh-CN" sz="3600" dirty="0"/>
              <a:t>				</a:t>
            </a:r>
            <a:r>
              <a:rPr lang="zh-CN" altLang="en-US" sz="3600" dirty="0"/>
              <a:t>饱和</a:t>
            </a:r>
            <a:endParaRPr lang="en-US" altLang="zh-CN" sz="3600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sz="3600" dirty="0"/>
              <a:t>	(2) 1</a:t>
            </a:r>
            <a:r>
              <a:rPr lang="en-US" altLang="zh-CN" sz="3600" dirty="0"/>
              <a:t>10g/100g</a:t>
            </a:r>
            <a:r>
              <a:rPr lang="zh-CN" altLang="en-US" sz="3600" dirty="0"/>
              <a:t>水</a:t>
            </a:r>
            <a:endParaRPr lang="en-US" altLang="zh-CN" sz="3600" dirty="0"/>
          </a:p>
          <a:p>
            <a:pPr marL="742950" indent="-742950">
              <a:spcBef>
                <a:spcPts val="0"/>
              </a:spcBef>
              <a:buNone/>
            </a:pPr>
            <a:r>
              <a:rPr lang="en-US" sz="3600" dirty="0"/>
              <a:t>	(3) 210</a:t>
            </a:r>
            <a:r>
              <a:rPr lang="en-US" altLang="zh-CN" sz="3600" dirty="0"/>
              <a:t>g</a:t>
            </a:r>
            <a:endParaRPr lang="en-MY" sz="3600" dirty="0"/>
          </a:p>
          <a:p>
            <a:pPr>
              <a:spcBef>
                <a:spcPts val="0"/>
              </a:spcBef>
              <a:buNone/>
            </a:pPr>
            <a:r>
              <a:rPr lang="en-MY" sz="3600" dirty="0"/>
              <a:t>		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32640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18c</a:t>
            </a:r>
            <a:endParaRPr lang="en-MY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40260"/>
            <a:ext cx="8568952" cy="5117698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在一定温度下，将两种液体混合在一起时，可以出现三种情况：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    (1)</a:t>
            </a:r>
            <a:r>
              <a:rPr lang="zh-CN" altLang="en-US" dirty="0"/>
              <a:t>两种液体以任何比例互相混溶。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    (2)</a:t>
            </a:r>
            <a:r>
              <a:rPr lang="zh-CN" altLang="en-US" dirty="0"/>
              <a:t>两种液体只形成部分混溶体。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    (3)</a:t>
            </a:r>
            <a:r>
              <a:rPr lang="zh-CN" altLang="en-US" b="1" dirty="0">
                <a:solidFill>
                  <a:srgbClr val="002060"/>
                </a:solidFill>
              </a:rPr>
              <a:t>两种液体互不混溶</a:t>
            </a:r>
            <a:r>
              <a:rPr lang="zh-CN" altLang="en-US" dirty="0"/>
              <a:t>。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620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18.6 </a:t>
            </a:r>
            <a:r>
              <a:rPr lang="zh-CN" alt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分配定律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15140" y="2415597"/>
            <a:ext cx="1620957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/>
              <a:t>酒精</a:t>
            </a:r>
            <a:r>
              <a:rPr lang="en-US" altLang="zh-CN" sz="3200" dirty="0"/>
              <a:t>+</a:t>
            </a:r>
            <a:r>
              <a:rPr lang="zh-CN" altLang="en-US" sz="3200" dirty="0"/>
              <a:t>水</a:t>
            </a: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6715140" y="3344291"/>
            <a:ext cx="130516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/>
              <a:t>Br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+</a:t>
            </a:r>
            <a:r>
              <a:rPr lang="zh-CN" altLang="en-US" sz="3200" dirty="0"/>
              <a:t>水</a:t>
            </a:r>
            <a:endParaRPr 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6715140" y="4143380"/>
            <a:ext cx="1210588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/>
              <a:t>油</a:t>
            </a:r>
            <a:r>
              <a:rPr lang="en-US" altLang="zh-CN" sz="3200" dirty="0"/>
              <a:t>+</a:t>
            </a:r>
            <a:r>
              <a:rPr lang="zh-CN" altLang="en-US" sz="3200" dirty="0"/>
              <a:t>水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81407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5433467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zh-CN" altLang="en-US" sz="3600" dirty="0"/>
              <a:t>萃取：利用物质在互不相溶的两种溶剂中溶解度的不同，将物质从一种溶剂转移到另一种溶剂中，从而实现分离的方法。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交流分享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1.</a:t>
            </a:r>
            <a:r>
              <a:rPr lang="zh-CN" altLang="en-US" sz="3600" dirty="0"/>
              <a:t>条件：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萃取剂与原溶剂互不相溶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溶质在萃取剂中的溶解度比在原溶剂中的溶解度大。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酒精与水互溶。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CCl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 </a:t>
            </a:r>
            <a:r>
              <a:rPr lang="zh-CN" altLang="en-US" sz="3600" dirty="0"/>
              <a:t>，环己烷，苯，汽油等有机溶剂。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5456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5433467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分配定律</a:t>
            </a:r>
            <a:r>
              <a:rPr lang="zh-CN" altLang="en-US" sz="3600" dirty="0"/>
              <a:t>：溶质在两种不相混溶的溶剂中按溶解度之比相分配的关系。</a:t>
            </a:r>
            <a:endParaRPr lang="en-US" altLang="zh-CN" sz="3600" dirty="0"/>
          </a:p>
          <a:p>
            <a:r>
              <a:rPr lang="en-US" altLang="zh-CN" sz="3600" dirty="0"/>
              <a:t>K</a:t>
            </a:r>
            <a:r>
              <a:rPr lang="zh-CN" altLang="en-US" sz="3600" dirty="0"/>
              <a:t>：溶质在两种互不混溶的溶剂中的分配系数。</a:t>
            </a:r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局限：溶质在两溶剂中不发生任何变化</a:t>
            </a:r>
            <a:r>
              <a:rPr lang="en-US" altLang="zh-CN" dirty="0"/>
              <a:t> </a:t>
            </a:r>
          </a:p>
          <a:p>
            <a:r>
              <a:rPr lang="zh-CN" altLang="en-US" sz="3600" dirty="0"/>
              <a:t>用途：进行萃取计算</a:t>
            </a:r>
            <a:endParaRPr lang="en-US" altLang="zh-CN" sz="3600" dirty="0"/>
          </a:p>
          <a:p>
            <a:pPr>
              <a:buNone/>
            </a:pPr>
            <a:endParaRPr lang="zh-CN" altLang="en-US" sz="3600" dirty="0"/>
          </a:p>
          <a:p>
            <a:pPr>
              <a:buNone/>
            </a:pPr>
            <a:endParaRPr lang="zh-CN" altLang="en-US" sz="3600" dirty="0"/>
          </a:p>
        </p:txBody>
      </p:sp>
      <p:grpSp>
        <p:nvGrpSpPr>
          <p:cNvPr id="13" name="Group 3"/>
          <p:cNvGrpSpPr/>
          <p:nvPr/>
        </p:nvGrpSpPr>
        <p:grpSpPr>
          <a:xfrm>
            <a:off x="1142975" y="2786058"/>
            <a:ext cx="2571769" cy="1207952"/>
            <a:chOff x="1981199" y="1309686"/>
            <a:chExt cx="1811545" cy="1207952"/>
          </a:xfrm>
        </p:grpSpPr>
        <p:grpSp>
          <p:nvGrpSpPr>
            <p:cNvPr id="14" name="Group 24"/>
            <p:cNvGrpSpPr/>
            <p:nvPr/>
          </p:nvGrpSpPr>
          <p:grpSpPr>
            <a:xfrm>
              <a:off x="1981199" y="1309686"/>
              <a:ext cx="1811545" cy="1109842"/>
              <a:chOff x="1981199" y="1309686"/>
              <a:chExt cx="1811545" cy="1109842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1981199" y="1650087"/>
                <a:ext cx="9750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/>
                  <a:t> K   =</a:t>
                </a:r>
                <a:endParaRPr lang="en-US" sz="4400" dirty="0"/>
              </a:p>
            </p:txBody>
          </p:sp>
          <p:cxnSp>
            <p:nvCxnSpPr>
              <p:cNvPr id="17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878345" y="1309686"/>
                <a:ext cx="9143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  </a:t>
                </a:r>
                <a:r>
                  <a:rPr lang="en-US" sz="4000" dirty="0" err="1"/>
                  <a:t>s</a:t>
                </a:r>
                <a:r>
                  <a:rPr lang="en-US" sz="4000" baseline="-25000" dirty="0" err="1"/>
                  <a:t>A</a:t>
                </a:r>
                <a:endParaRPr lang="en-US" sz="4000" dirty="0"/>
              </a:p>
            </p:txBody>
          </p:sp>
        </p:grpSp>
        <p:sp>
          <p:nvSpPr>
            <p:cNvPr id="15" name="TextBox 5"/>
            <p:cNvSpPr txBox="1"/>
            <p:nvPr/>
          </p:nvSpPr>
          <p:spPr>
            <a:xfrm>
              <a:off x="2736010" y="1809752"/>
              <a:ext cx="9143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/>
                <a:t>    </a:t>
              </a:r>
              <a:r>
                <a:rPr lang="en-US" altLang="zh-CN" sz="4000" dirty="0" err="1"/>
                <a:t>s</a:t>
              </a:r>
              <a:r>
                <a:rPr lang="en-US" altLang="zh-CN" sz="4000" baseline="-25000" dirty="0" err="1"/>
                <a:t>B</a:t>
              </a:r>
              <a:endParaRPr lang="en-US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076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61653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sz="3600" dirty="0"/>
              <a:t>例</a:t>
            </a:r>
            <a:r>
              <a:rPr lang="en-US" altLang="zh-CN" sz="3600" dirty="0"/>
              <a:t>4</a:t>
            </a:r>
            <a:r>
              <a:rPr lang="zh-CN" altLang="en-US" sz="3600" dirty="0"/>
              <a:t>：在</a:t>
            </a:r>
            <a:r>
              <a:rPr lang="en-US" altLang="zh-CN" sz="3600" dirty="0"/>
              <a:t>1L</a:t>
            </a:r>
            <a:r>
              <a:rPr lang="zh-CN" altLang="en-US" sz="3600" dirty="0"/>
              <a:t>水中溶有</a:t>
            </a:r>
            <a:r>
              <a:rPr lang="en-US" altLang="zh-CN" sz="3600" dirty="0"/>
              <a:t>100g</a:t>
            </a:r>
            <a:r>
              <a:rPr lang="zh-CN" altLang="en-US" sz="3600" dirty="0"/>
              <a:t>有机化合物</a:t>
            </a:r>
            <a:r>
              <a:rPr lang="en-US" altLang="zh-CN" sz="3600" dirty="0"/>
              <a:t>X</a:t>
            </a:r>
            <a:r>
              <a:rPr lang="zh-CN" altLang="en-US" sz="3600" dirty="0"/>
              <a:t>，利用</a:t>
            </a:r>
            <a:r>
              <a:rPr lang="en-US" altLang="zh-CN" sz="3600" dirty="0"/>
              <a:t>1L</a:t>
            </a:r>
            <a:r>
              <a:rPr lang="zh-CN" altLang="en-US" sz="3600" dirty="0"/>
              <a:t>乙醚萃取一次，有多少克</a:t>
            </a:r>
            <a:r>
              <a:rPr lang="en-US" altLang="zh-CN" sz="3600" dirty="0"/>
              <a:t>X</a:t>
            </a:r>
            <a:r>
              <a:rPr lang="zh-CN" altLang="en-US" sz="3600" dirty="0"/>
              <a:t>溶于乙醚层中？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已知</a:t>
            </a:r>
            <a:r>
              <a:rPr lang="en-US" altLang="zh-CN" sz="3600" dirty="0"/>
              <a:t>				= </a:t>
            </a:r>
          </a:p>
          <a:p>
            <a:pPr>
              <a:buNone/>
            </a:pPr>
            <a:r>
              <a:rPr lang="zh-CN" altLang="en-US" sz="3600" dirty="0"/>
              <a:t>设萃取出</a:t>
            </a:r>
            <a:r>
              <a:rPr lang="en-US" altLang="zh-CN" sz="3600" dirty="0" err="1"/>
              <a:t>xg</a:t>
            </a:r>
            <a:endParaRPr lang="en-US" altLang="zh-CN" sz="3600" dirty="0"/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	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     200-2x = x</a:t>
            </a:r>
          </a:p>
          <a:p>
            <a:pPr>
              <a:buNone/>
            </a:pPr>
            <a:r>
              <a:rPr lang="en-US" altLang="zh-CN" sz="3600" dirty="0"/>
              <a:t>			        x= 66.67</a:t>
            </a:r>
            <a:endParaRPr lang="zh-CN" altLang="en-US" sz="3600" dirty="0"/>
          </a:p>
        </p:txBody>
      </p:sp>
      <p:grpSp>
        <p:nvGrpSpPr>
          <p:cNvPr id="2" name="Group 3"/>
          <p:cNvGrpSpPr/>
          <p:nvPr/>
        </p:nvGrpSpPr>
        <p:grpSpPr>
          <a:xfrm>
            <a:off x="2071669" y="1857364"/>
            <a:ext cx="2643207" cy="1207952"/>
            <a:chOff x="1981199" y="1309686"/>
            <a:chExt cx="1861866" cy="1207952"/>
          </a:xfrm>
        </p:grpSpPr>
        <p:grpSp>
          <p:nvGrpSpPr>
            <p:cNvPr id="5" name="Group 24"/>
            <p:cNvGrpSpPr/>
            <p:nvPr/>
          </p:nvGrpSpPr>
          <p:grpSpPr>
            <a:xfrm>
              <a:off x="1981199" y="1309686"/>
              <a:ext cx="1811545" cy="1109842"/>
              <a:chOff x="1981199" y="1309686"/>
              <a:chExt cx="1811545" cy="1109842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1981199" y="1650087"/>
                <a:ext cx="9750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/>
                  <a:t> K   =</a:t>
                </a:r>
                <a:endParaRPr lang="en-US" sz="4400" dirty="0"/>
              </a:p>
            </p:txBody>
          </p:sp>
          <p:cxnSp>
            <p:nvCxnSpPr>
              <p:cNvPr id="17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878345" y="1309686"/>
                <a:ext cx="9143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  s</a:t>
                </a:r>
                <a:r>
                  <a:rPr lang="zh-CN" altLang="en-US" sz="4000" baseline="-25000" dirty="0" err="1"/>
                  <a:t>水</a:t>
                </a:r>
                <a:endParaRPr lang="en-US" sz="4000" dirty="0"/>
              </a:p>
            </p:txBody>
          </p:sp>
        </p:grpSp>
        <p:sp>
          <p:nvSpPr>
            <p:cNvPr id="15" name="TextBox 5"/>
            <p:cNvSpPr txBox="1"/>
            <p:nvPr/>
          </p:nvSpPr>
          <p:spPr>
            <a:xfrm>
              <a:off x="2736010" y="1809752"/>
              <a:ext cx="11070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/>
                <a:t>    s</a:t>
              </a:r>
              <a:r>
                <a:rPr lang="zh-CN" altLang="en-US" sz="4000" baseline="-25000" dirty="0"/>
                <a:t>乙醚</a:t>
              </a:r>
              <a:endParaRPr lang="en-US" sz="4000" dirty="0"/>
            </a:p>
          </p:txBody>
        </p:sp>
      </p:grpSp>
      <p:grpSp>
        <p:nvGrpSpPr>
          <p:cNvPr id="10" name="Group 3"/>
          <p:cNvGrpSpPr/>
          <p:nvPr/>
        </p:nvGrpSpPr>
        <p:grpSpPr>
          <a:xfrm>
            <a:off x="5500694" y="2106035"/>
            <a:ext cx="990598" cy="965775"/>
            <a:chOff x="3651252" y="1421487"/>
            <a:chExt cx="1073148" cy="965775"/>
          </a:xfrm>
        </p:grpSpPr>
        <p:grpSp>
          <p:nvGrpSpPr>
            <p:cNvPr id="11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1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1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223948" y="3619748"/>
            <a:ext cx="2011680" cy="1523764"/>
            <a:chOff x="1142976" y="3926807"/>
            <a:chExt cx="2011680" cy="1523764"/>
          </a:xfrm>
        </p:grpSpPr>
        <p:grpSp>
          <p:nvGrpSpPr>
            <p:cNvPr id="19" name="Group 18"/>
            <p:cNvGrpSpPr/>
            <p:nvPr/>
          </p:nvGrpSpPr>
          <p:grpSpPr>
            <a:xfrm>
              <a:off x="1374446" y="3926807"/>
              <a:ext cx="1411604" cy="1523764"/>
              <a:chOff x="1507798" y="1521741"/>
              <a:chExt cx="1411604" cy="1523764"/>
            </a:xfrm>
          </p:grpSpPr>
          <p:grpSp>
            <p:nvGrpSpPr>
              <p:cNvPr id="20" name="Group 10"/>
              <p:cNvGrpSpPr/>
              <p:nvPr/>
            </p:nvGrpSpPr>
            <p:grpSpPr>
              <a:xfrm>
                <a:off x="1507798" y="1521741"/>
                <a:ext cx="1411604" cy="1218964"/>
                <a:chOff x="1507798" y="1521741"/>
                <a:chExt cx="1411604" cy="1218964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(100-x)g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24012" y="2664505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2019288" y="188119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876412" y="2309818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x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947850" y="2614618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1L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3"/>
          <p:cNvGrpSpPr/>
          <p:nvPr/>
        </p:nvGrpSpPr>
        <p:grpSpPr>
          <a:xfrm>
            <a:off x="3786182" y="3857628"/>
            <a:ext cx="990598" cy="965775"/>
            <a:chOff x="3651252" y="1421487"/>
            <a:chExt cx="1073148" cy="965775"/>
          </a:xfrm>
        </p:grpSpPr>
        <p:grpSp>
          <p:nvGrpSpPr>
            <p:cNvPr id="31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3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3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2471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14290"/>
            <a:ext cx="8686800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4(2)</a:t>
            </a:r>
            <a:r>
              <a:rPr lang="zh-CN" altLang="en-US" dirty="0"/>
              <a:t>：在</a:t>
            </a:r>
            <a:r>
              <a:rPr lang="en-US" altLang="zh-CN" dirty="0"/>
              <a:t>1L</a:t>
            </a:r>
            <a:r>
              <a:rPr lang="zh-CN" altLang="en-US" dirty="0"/>
              <a:t>水中溶有</a:t>
            </a:r>
            <a:r>
              <a:rPr lang="en-US" altLang="zh-CN" dirty="0"/>
              <a:t>100g</a:t>
            </a:r>
            <a:r>
              <a:rPr lang="zh-CN" altLang="en-US" dirty="0"/>
              <a:t>有机化合物</a:t>
            </a:r>
            <a:r>
              <a:rPr lang="en-US" altLang="zh-CN" dirty="0"/>
              <a:t>X</a:t>
            </a:r>
            <a:r>
              <a:rPr lang="zh-CN" altLang="en-US" dirty="0"/>
              <a:t>，利</a:t>
            </a:r>
            <a:r>
              <a:rPr lang="zh-CN" altLang="en-US" b="1" dirty="0">
                <a:solidFill>
                  <a:srgbClr val="002060"/>
                </a:solidFill>
              </a:rPr>
              <a:t>用</a:t>
            </a:r>
            <a:r>
              <a:rPr lang="en-US" altLang="zh-CN" b="1" dirty="0">
                <a:solidFill>
                  <a:srgbClr val="002060"/>
                </a:solidFill>
              </a:rPr>
              <a:t>1L</a:t>
            </a:r>
            <a:r>
              <a:rPr lang="zh-CN" altLang="en-US" b="1" dirty="0">
                <a:solidFill>
                  <a:srgbClr val="002060"/>
                </a:solidFill>
              </a:rPr>
              <a:t>乙醚等量分两次萃取</a:t>
            </a:r>
            <a:r>
              <a:rPr lang="zh-CN" altLang="en-US" dirty="0"/>
              <a:t>，可萃取出多少克</a:t>
            </a:r>
            <a:r>
              <a:rPr lang="en-US" altLang="zh-CN" dirty="0"/>
              <a:t>X</a:t>
            </a:r>
            <a:r>
              <a:rPr lang="zh-CN" altLang="en-US" dirty="0"/>
              <a:t>？</a:t>
            </a:r>
            <a:endParaRPr lang="en-US" altLang="zh-CN" dirty="0"/>
          </a:p>
          <a:p>
            <a:pPr>
              <a:buNone/>
            </a:pPr>
            <a:r>
              <a:rPr lang="en-US" altLang="zh-CN" sz="3600" dirty="0"/>
              <a:t> </a:t>
            </a:r>
            <a:r>
              <a:rPr lang="zh-CN" altLang="en-US" sz="3600" dirty="0"/>
              <a:t>设第一次萃取出</a:t>
            </a:r>
            <a:r>
              <a:rPr lang="en-US" altLang="zh-CN" sz="3600" dirty="0" err="1"/>
              <a:t>yg</a:t>
            </a:r>
            <a:endParaRPr lang="en-US" altLang="zh-CN" sz="3600" dirty="0"/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	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   			 = </a:t>
            </a:r>
          </a:p>
          <a:p>
            <a:pPr>
              <a:buNone/>
            </a:pPr>
            <a:r>
              <a:rPr lang="en-US" altLang="zh-CN" sz="3600" dirty="0"/>
              <a:t>			      2y= 2(100-y)</a:t>
            </a:r>
          </a:p>
          <a:p>
            <a:pPr>
              <a:buNone/>
            </a:pPr>
            <a:r>
              <a:rPr lang="en-US" altLang="zh-CN" sz="3600" dirty="0"/>
              <a:t>	  		      4y= 200</a:t>
            </a:r>
          </a:p>
          <a:p>
            <a:pPr>
              <a:buNone/>
            </a:pPr>
            <a:r>
              <a:rPr lang="en-US" altLang="zh-CN" sz="3600" dirty="0"/>
              <a:t>				y=50	</a:t>
            </a:r>
          </a:p>
        </p:txBody>
      </p:sp>
      <p:grpSp>
        <p:nvGrpSpPr>
          <p:cNvPr id="8" name="Group 28"/>
          <p:cNvGrpSpPr/>
          <p:nvPr/>
        </p:nvGrpSpPr>
        <p:grpSpPr>
          <a:xfrm>
            <a:off x="1042934" y="2212648"/>
            <a:ext cx="2011680" cy="1523764"/>
            <a:chOff x="1142976" y="3926807"/>
            <a:chExt cx="2011680" cy="1523764"/>
          </a:xfrm>
        </p:grpSpPr>
        <p:grpSp>
          <p:nvGrpSpPr>
            <p:cNvPr id="9" name="Group 18"/>
            <p:cNvGrpSpPr/>
            <p:nvPr/>
          </p:nvGrpSpPr>
          <p:grpSpPr>
            <a:xfrm>
              <a:off x="1374446" y="3926807"/>
              <a:ext cx="1483042" cy="1523764"/>
              <a:chOff x="1507798" y="1521741"/>
              <a:chExt cx="1483042" cy="1523764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1507798" y="1521741"/>
                <a:ext cx="1483042" cy="1218964"/>
                <a:chOff x="1507798" y="1521741"/>
                <a:chExt cx="1483042" cy="1218964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(100-y)g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24012" y="2664505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1633518" y="1881190"/>
                  <a:ext cx="135732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1000mL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876412" y="2309818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y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633518" y="2614618"/>
                <a:ext cx="11430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500mL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"/>
          <p:cNvGrpSpPr/>
          <p:nvPr/>
        </p:nvGrpSpPr>
        <p:grpSpPr>
          <a:xfrm>
            <a:off x="3614702" y="2450528"/>
            <a:ext cx="990598" cy="965775"/>
            <a:chOff x="3651252" y="1421487"/>
            <a:chExt cx="1073148" cy="965775"/>
          </a:xfrm>
        </p:grpSpPr>
        <p:grpSp>
          <p:nvGrpSpPr>
            <p:cNvPr id="19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3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3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grpSp>
        <p:nvGrpSpPr>
          <p:cNvPr id="38" name="Group 3"/>
          <p:cNvGrpSpPr/>
          <p:nvPr/>
        </p:nvGrpSpPr>
        <p:grpSpPr>
          <a:xfrm>
            <a:off x="3614702" y="3770769"/>
            <a:ext cx="990598" cy="965775"/>
            <a:chOff x="3651252" y="1421487"/>
            <a:chExt cx="1073148" cy="965775"/>
          </a:xfrm>
        </p:grpSpPr>
        <p:grpSp>
          <p:nvGrpSpPr>
            <p:cNvPr id="39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41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grpSp>
        <p:nvGrpSpPr>
          <p:cNvPr id="43" name="Group 3"/>
          <p:cNvGrpSpPr/>
          <p:nvPr/>
        </p:nvGrpSpPr>
        <p:grpSpPr>
          <a:xfrm>
            <a:off x="1058148" y="3809826"/>
            <a:ext cx="2699430" cy="1569660"/>
            <a:chOff x="3651252" y="1421487"/>
            <a:chExt cx="965502" cy="1569660"/>
          </a:xfrm>
        </p:grpSpPr>
        <p:grpSp>
          <p:nvGrpSpPr>
            <p:cNvPr id="44" name="Group 24"/>
            <p:cNvGrpSpPr/>
            <p:nvPr/>
          </p:nvGrpSpPr>
          <p:grpSpPr>
            <a:xfrm>
              <a:off x="3702354" y="1421487"/>
              <a:ext cx="914400" cy="1569660"/>
              <a:chOff x="3702354" y="1421487"/>
              <a:chExt cx="914400" cy="1569660"/>
            </a:xfrm>
          </p:grpSpPr>
          <p:cxnSp>
            <p:nvCxnSpPr>
              <p:cNvPr id="46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702354" y="1421487"/>
                <a:ext cx="914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500(100-y)</a:t>
                </a:r>
              </a:p>
            </p:txBody>
          </p:sp>
        </p:grpSp>
        <p:sp>
          <p:nvSpPr>
            <p:cNvPr id="45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     1000y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453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14290"/>
            <a:ext cx="8686800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4(2)</a:t>
            </a:r>
            <a:r>
              <a:rPr lang="zh-CN" altLang="en-US" dirty="0"/>
              <a:t>：在</a:t>
            </a:r>
            <a:r>
              <a:rPr lang="en-US" altLang="zh-CN" dirty="0"/>
              <a:t>1L</a:t>
            </a:r>
            <a:r>
              <a:rPr lang="zh-CN" altLang="en-US" dirty="0"/>
              <a:t>水中溶有</a:t>
            </a:r>
            <a:r>
              <a:rPr lang="en-US" altLang="zh-CN" dirty="0"/>
              <a:t>100g</a:t>
            </a:r>
            <a:r>
              <a:rPr lang="zh-CN" altLang="en-US" dirty="0"/>
              <a:t>有机化合物</a:t>
            </a:r>
            <a:r>
              <a:rPr lang="en-US" altLang="zh-CN" dirty="0"/>
              <a:t>X</a:t>
            </a:r>
            <a:r>
              <a:rPr lang="zh-CN" altLang="en-US" dirty="0"/>
              <a:t>，利</a:t>
            </a:r>
            <a:r>
              <a:rPr lang="zh-CN" altLang="en-US" b="1" dirty="0">
                <a:solidFill>
                  <a:srgbClr val="002060"/>
                </a:solidFill>
              </a:rPr>
              <a:t>用</a:t>
            </a:r>
            <a:r>
              <a:rPr lang="en-US" altLang="zh-CN" b="1" dirty="0">
                <a:solidFill>
                  <a:srgbClr val="002060"/>
                </a:solidFill>
              </a:rPr>
              <a:t>1L</a:t>
            </a:r>
            <a:r>
              <a:rPr lang="zh-CN" altLang="en-US" b="1" dirty="0">
                <a:solidFill>
                  <a:srgbClr val="002060"/>
                </a:solidFill>
              </a:rPr>
              <a:t>乙醚等量分两次萃取</a:t>
            </a:r>
            <a:r>
              <a:rPr lang="zh-CN" altLang="en-US" dirty="0"/>
              <a:t>，可萃取出多少克</a:t>
            </a:r>
            <a:r>
              <a:rPr lang="en-US" altLang="zh-CN" dirty="0"/>
              <a:t>X </a:t>
            </a:r>
            <a:r>
              <a:rPr lang="zh-CN" altLang="en-US" dirty="0"/>
              <a:t>？</a:t>
            </a:r>
            <a:endParaRPr lang="en-US" altLang="zh-CN" dirty="0"/>
          </a:p>
          <a:p>
            <a:pPr>
              <a:buNone/>
            </a:pPr>
            <a:r>
              <a:rPr lang="en-US" altLang="zh-CN" sz="3600" dirty="0"/>
              <a:t> </a:t>
            </a:r>
            <a:r>
              <a:rPr lang="zh-CN" altLang="en-US" sz="3600" dirty="0"/>
              <a:t>设第二次萃取出</a:t>
            </a:r>
            <a:r>
              <a:rPr lang="en-US" altLang="zh-CN" sz="3600" dirty="0" err="1"/>
              <a:t>zg</a:t>
            </a:r>
            <a:endParaRPr lang="en-US" altLang="zh-CN" sz="3600" dirty="0"/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	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   			 = </a:t>
            </a:r>
          </a:p>
          <a:p>
            <a:pPr>
              <a:buNone/>
            </a:pPr>
            <a:r>
              <a:rPr lang="en-US" altLang="zh-CN" sz="3600" dirty="0"/>
              <a:t>				z=25</a:t>
            </a:r>
          </a:p>
          <a:p>
            <a:pPr>
              <a:buNone/>
            </a:pPr>
            <a:r>
              <a:rPr lang="zh-CN" altLang="en-US" sz="3600" dirty="0"/>
              <a:t>两次共萃取出</a:t>
            </a:r>
            <a:r>
              <a:rPr lang="en-US" altLang="zh-CN" sz="3600" dirty="0"/>
              <a:t>=50g+25g</a:t>
            </a:r>
          </a:p>
          <a:p>
            <a:pPr>
              <a:buNone/>
            </a:pPr>
            <a:r>
              <a:rPr lang="en-US" altLang="zh-CN" sz="3600" dirty="0"/>
              <a:t>				=75g</a:t>
            </a:r>
          </a:p>
        </p:txBody>
      </p:sp>
      <p:grpSp>
        <p:nvGrpSpPr>
          <p:cNvPr id="2" name="Group 28"/>
          <p:cNvGrpSpPr/>
          <p:nvPr/>
        </p:nvGrpSpPr>
        <p:grpSpPr>
          <a:xfrm>
            <a:off x="1042934" y="2212648"/>
            <a:ext cx="2011680" cy="1523764"/>
            <a:chOff x="1142976" y="3926807"/>
            <a:chExt cx="2011680" cy="1523764"/>
          </a:xfrm>
        </p:grpSpPr>
        <p:grpSp>
          <p:nvGrpSpPr>
            <p:cNvPr id="5" name="Group 18"/>
            <p:cNvGrpSpPr/>
            <p:nvPr/>
          </p:nvGrpSpPr>
          <p:grpSpPr>
            <a:xfrm>
              <a:off x="1374446" y="3926807"/>
              <a:ext cx="1483042" cy="1523764"/>
              <a:chOff x="1507798" y="1521741"/>
              <a:chExt cx="1483042" cy="1523764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1507798" y="1521741"/>
                <a:ext cx="1483042" cy="1218964"/>
                <a:chOff x="1507798" y="1521741"/>
                <a:chExt cx="1483042" cy="1218964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(50-z)g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24012" y="2664505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1633518" y="1881190"/>
                  <a:ext cx="135732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1000mL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876412" y="2309818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z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633518" y="2614618"/>
                <a:ext cx="11430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500mL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3"/>
          <p:cNvGrpSpPr/>
          <p:nvPr/>
        </p:nvGrpSpPr>
        <p:grpSpPr>
          <a:xfrm>
            <a:off x="3614702" y="2450528"/>
            <a:ext cx="990598" cy="965775"/>
            <a:chOff x="3651252" y="1421487"/>
            <a:chExt cx="1073148" cy="965775"/>
          </a:xfrm>
        </p:grpSpPr>
        <p:grpSp>
          <p:nvGrpSpPr>
            <p:cNvPr id="8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3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3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grpSp>
        <p:nvGrpSpPr>
          <p:cNvPr id="9" name="Group 3"/>
          <p:cNvGrpSpPr/>
          <p:nvPr/>
        </p:nvGrpSpPr>
        <p:grpSpPr>
          <a:xfrm>
            <a:off x="3614702" y="3770769"/>
            <a:ext cx="990598" cy="965775"/>
            <a:chOff x="3651252" y="1421487"/>
            <a:chExt cx="1073148" cy="965775"/>
          </a:xfrm>
        </p:grpSpPr>
        <p:grpSp>
          <p:nvGrpSpPr>
            <p:cNvPr id="10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41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grpSp>
        <p:nvGrpSpPr>
          <p:cNvPr id="11" name="Group 3"/>
          <p:cNvGrpSpPr/>
          <p:nvPr/>
        </p:nvGrpSpPr>
        <p:grpSpPr>
          <a:xfrm>
            <a:off x="1058148" y="3809826"/>
            <a:ext cx="2699430" cy="965775"/>
            <a:chOff x="3651252" y="1421487"/>
            <a:chExt cx="965502" cy="965775"/>
          </a:xfrm>
        </p:grpSpPr>
        <p:grpSp>
          <p:nvGrpSpPr>
            <p:cNvPr id="12" name="Group 24"/>
            <p:cNvGrpSpPr/>
            <p:nvPr/>
          </p:nvGrpSpPr>
          <p:grpSpPr>
            <a:xfrm>
              <a:off x="3702354" y="1421487"/>
              <a:ext cx="914400" cy="584775"/>
              <a:chOff x="3702354" y="1421487"/>
              <a:chExt cx="914400" cy="584775"/>
            </a:xfrm>
          </p:grpSpPr>
          <p:cxnSp>
            <p:nvCxnSpPr>
              <p:cNvPr id="46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702354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500(50-z)</a:t>
                </a:r>
              </a:p>
            </p:txBody>
          </p:sp>
        </p:grpSp>
        <p:sp>
          <p:nvSpPr>
            <p:cNvPr id="45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     1000z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418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问题解决：在</a:t>
            </a:r>
            <a:r>
              <a:rPr lang="en-US" altLang="zh-CN" dirty="0"/>
              <a:t>1L</a:t>
            </a:r>
            <a:r>
              <a:rPr lang="zh-CN" altLang="en-US" dirty="0"/>
              <a:t>水中溶有</a:t>
            </a:r>
            <a:r>
              <a:rPr lang="en-US" altLang="zh-CN" dirty="0"/>
              <a:t>100g</a:t>
            </a:r>
            <a:r>
              <a:rPr lang="zh-CN" altLang="en-US" dirty="0"/>
              <a:t>有机化合物</a:t>
            </a:r>
            <a:r>
              <a:rPr lang="en-US" altLang="zh-CN" dirty="0"/>
              <a:t>X</a:t>
            </a:r>
            <a:r>
              <a:rPr lang="zh-CN" altLang="en-US" dirty="0"/>
              <a:t>，利</a:t>
            </a:r>
            <a:r>
              <a:rPr lang="zh-CN" altLang="en-US" b="1" dirty="0">
                <a:solidFill>
                  <a:srgbClr val="002060"/>
                </a:solidFill>
              </a:rPr>
              <a:t>用</a:t>
            </a:r>
            <a:r>
              <a:rPr lang="en-US" altLang="zh-CN" b="1" dirty="0">
                <a:solidFill>
                  <a:srgbClr val="002060"/>
                </a:solidFill>
              </a:rPr>
              <a:t>1L</a:t>
            </a:r>
            <a:r>
              <a:rPr lang="zh-CN" altLang="en-US" b="1" dirty="0">
                <a:solidFill>
                  <a:srgbClr val="002060"/>
                </a:solidFill>
              </a:rPr>
              <a:t>乙醚等量分三次萃取</a:t>
            </a:r>
            <a:r>
              <a:rPr lang="zh-CN" altLang="en-US" dirty="0"/>
              <a:t>，可萃取出多少克</a:t>
            </a:r>
            <a:r>
              <a:rPr lang="en-US" altLang="zh-CN" dirty="0"/>
              <a:t>X </a:t>
            </a:r>
            <a:r>
              <a:rPr lang="zh-CN" altLang="en-US" dirty="0"/>
              <a:t>？</a:t>
            </a: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设</a:t>
            </a: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次萃取出</a:t>
            </a:r>
            <a:r>
              <a:rPr lang="en-US" altLang="zh-CN" dirty="0" err="1"/>
              <a:t>xg</a:t>
            </a:r>
            <a:r>
              <a:rPr lang="en-US" altLang="zh-CN" dirty="0"/>
              <a:t>,</a:t>
            </a: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次萃取出</a:t>
            </a:r>
            <a:r>
              <a:rPr lang="en-US" altLang="zh-CN" dirty="0" err="1"/>
              <a:t>yg</a:t>
            </a:r>
            <a:r>
              <a:rPr lang="en-US" altLang="zh-CN" dirty="0"/>
              <a:t>,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次萃取出</a:t>
            </a:r>
            <a:r>
              <a:rPr lang="en-US" altLang="zh-CN" dirty="0" err="1"/>
              <a:t>zg</a:t>
            </a:r>
            <a:endParaRPr lang="en-US" altLang="zh-CN" sz="3600" dirty="0"/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	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     	          = </a:t>
            </a:r>
          </a:p>
          <a:p>
            <a:pPr>
              <a:buNone/>
            </a:pPr>
            <a:r>
              <a:rPr lang="en-US" altLang="zh-CN" sz="3600" dirty="0"/>
              <a:t>			         </a:t>
            </a:r>
          </a:p>
          <a:p>
            <a:pPr>
              <a:buNone/>
            </a:pPr>
            <a:r>
              <a:rPr lang="en-US" altLang="zh-CN" sz="3600" dirty="0"/>
              <a:t>				  =</a:t>
            </a:r>
          </a:p>
        </p:txBody>
      </p:sp>
      <p:grpSp>
        <p:nvGrpSpPr>
          <p:cNvPr id="8" name="Group 28"/>
          <p:cNvGrpSpPr/>
          <p:nvPr/>
        </p:nvGrpSpPr>
        <p:grpSpPr>
          <a:xfrm>
            <a:off x="1071538" y="2405302"/>
            <a:ext cx="2011680" cy="1383147"/>
            <a:chOff x="1142976" y="3926807"/>
            <a:chExt cx="2011680" cy="1383147"/>
          </a:xfrm>
        </p:grpSpPr>
        <p:grpSp>
          <p:nvGrpSpPr>
            <p:cNvPr id="9" name="Group 18"/>
            <p:cNvGrpSpPr/>
            <p:nvPr/>
          </p:nvGrpSpPr>
          <p:grpSpPr>
            <a:xfrm>
              <a:off x="1374446" y="3926807"/>
              <a:ext cx="1411604" cy="1383147"/>
              <a:chOff x="1507798" y="1521741"/>
              <a:chExt cx="1411604" cy="1383147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1507798" y="1521741"/>
                <a:ext cx="1411604" cy="1097395"/>
                <a:chOff x="1507798" y="1521741"/>
                <a:chExt cx="1411604" cy="1097395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(100-x)g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95450" y="2545439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2019288" y="188119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876412" y="2188249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x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828764" y="2474001"/>
                <a:ext cx="9382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1</a:t>
                </a:r>
                <a:r>
                  <a:rPr lang="en-US" altLang="zh-CN" sz="2200" b="1" dirty="0"/>
                  <a:t>/3</a:t>
                </a:r>
                <a:r>
                  <a:rPr lang="en-US" sz="2200" b="1" dirty="0"/>
                  <a:t>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"/>
          <p:cNvGrpSpPr/>
          <p:nvPr/>
        </p:nvGrpSpPr>
        <p:grpSpPr>
          <a:xfrm>
            <a:off x="3571868" y="2677539"/>
            <a:ext cx="990598" cy="965775"/>
            <a:chOff x="3651252" y="1421487"/>
            <a:chExt cx="1073148" cy="965775"/>
          </a:xfrm>
        </p:grpSpPr>
        <p:grpSp>
          <p:nvGrpSpPr>
            <p:cNvPr id="19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3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3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57818" y="2786058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7030A0"/>
                </a:solidFill>
              </a:rPr>
              <a:t>x=40</a:t>
            </a:r>
            <a:endParaRPr lang="en-US" sz="3600" b="1" dirty="0">
              <a:solidFill>
                <a:srgbClr val="7030A0"/>
              </a:solidFill>
            </a:endParaRPr>
          </a:p>
        </p:txBody>
      </p:sp>
      <p:grpSp>
        <p:nvGrpSpPr>
          <p:cNvPr id="31" name="Group 28"/>
          <p:cNvGrpSpPr/>
          <p:nvPr/>
        </p:nvGrpSpPr>
        <p:grpSpPr>
          <a:xfrm>
            <a:off x="1071538" y="3786190"/>
            <a:ext cx="2011680" cy="1431019"/>
            <a:chOff x="1142976" y="3926807"/>
            <a:chExt cx="2011680" cy="1431019"/>
          </a:xfrm>
        </p:grpSpPr>
        <p:grpSp>
          <p:nvGrpSpPr>
            <p:cNvPr id="35" name="Group 18"/>
            <p:cNvGrpSpPr/>
            <p:nvPr/>
          </p:nvGrpSpPr>
          <p:grpSpPr>
            <a:xfrm>
              <a:off x="1374446" y="3926807"/>
              <a:ext cx="1411604" cy="1431019"/>
              <a:chOff x="1507798" y="1521741"/>
              <a:chExt cx="1411604" cy="1431019"/>
            </a:xfrm>
          </p:grpSpPr>
          <p:grpSp>
            <p:nvGrpSpPr>
              <p:cNvPr id="37" name="Group 10"/>
              <p:cNvGrpSpPr/>
              <p:nvPr/>
            </p:nvGrpSpPr>
            <p:grpSpPr>
              <a:xfrm>
                <a:off x="1507798" y="1521741"/>
                <a:ext cx="1411604" cy="1073829"/>
                <a:chOff x="1507798" y="1521741"/>
                <a:chExt cx="1411604" cy="1073829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(60-y)g</a:t>
                  </a:r>
                </a:p>
              </p:txBody>
            </p: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1724012" y="2521873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/>
                <p:cNvSpPr txBox="1"/>
                <p:nvPr/>
              </p:nvSpPr>
              <p:spPr>
                <a:xfrm>
                  <a:off x="2019288" y="188119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1L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1876412" y="216468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y g</a:t>
                  </a:r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1828764" y="2521873"/>
                <a:ext cx="9382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1</a:t>
                </a:r>
                <a:r>
                  <a:rPr lang="en-US" altLang="zh-CN" sz="2200" b="1" dirty="0"/>
                  <a:t>/3</a:t>
                </a:r>
                <a:r>
                  <a:rPr lang="en-US" sz="2200" b="1" dirty="0"/>
                  <a:t>L</a:t>
                </a:r>
              </a:p>
            </p:txBody>
          </p:sp>
        </p:grpSp>
        <p:cxnSp>
          <p:nvCxnSpPr>
            <p:cNvPr id="36" name="Straight Connector 35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3"/>
          <p:cNvGrpSpPr/>
          <p:nvPr/>
        </p:nvGrpSpPr>
        <p:grpSpPr>
          <a:xfrm>
            <a:off x="3571868" y="4034861"/>
            <a:ext cx="990598" cy="965775"/>
            <a:chOff x="3651252" y="1421487"/>
            <a:chExt cx="1073148" cy="965775"/>
          </a:xfrm>
        </p:grpSpPr>
        <p:grpSp>
          <p:nvGrpSpPr>
            <p:cNvPr id="45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47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46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357818" y="4071942"/>
            <a:ext cx="1099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7030A0"/>
                </a:solidFill>
              </a:rPr>
              <a:t>y=24</a:t>
            </a:r>
            <a:endParaRPr lang="en-US" sz="3600" b="1" dirty="0">
              <a:solidFill>
                <a:srgbClr val="7030A0"/>
              </a:solidFill>
            </a:endParaRPr>
          </a:p>
        </p:txBody>
      </p:sp>
      <p:grpSp>
        <p:nvGrpSpPr>
          <p:cNvPr id="50" name="Group 28"/>
          <p:cNvGrpSpPr/>
          <p:nvPr/>
        </p:nvGrpSpPr>
        <p:grpSpPr>
          <a:xfrm>
            <a:off x="1071538" y="5143512"/>
            <a:ext cx="2011680" cy="1431019"/>
            <a:chOff x="1142976" y="3926807"/>
            <a:chExt cx="2011680" cy="1431019"/>
          </a:xfrm>
        </p:grpSpPr>
        <p:grpSp>
          <p:nvGrpSpPr>
            <p:cNvPr id="51" name="Group 18"/>
            <p:cNvGrpSpPr/>
            <p:nvPr/>
          </p:nvGrpSpPr>
          <p:grpSpPr>
            <a:xfrm>
              <a:off x="1374446" y="3926807"/>
              <a:ext cx="1411604" cy="1431019"/>
              <a:chOff x="1507798" y="1521741"/>
              <a:chExt cx="1411604" cy="1431019"/>
            </a:xfrm>
          </p:grpSpPr>
          <p:grpSp>
            <p:nvGrpSpPr>
              <p:cNvPr id="53" name="Group 10"/>
              <p:cNvGrpSpPr/>
              <p:nvPr/>
            </p:nvGrpSpPr>
            <p:grpSpPr>
              <a:xfrm>
                <a:off x="1507798" y="1521741"/>
                <a:ext cx="1411604" cy="1073829"/>
                <a:chOff x="1507798" y="1521741"/>
                <a:chExt cx="1411604" cy="1073829"/>
              </a:xfrm>
            </p:grpSpPr>
            <p:sp>
              <p:nvSpPr>
                <p:cNvPr id="55" name="TextBox 54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(36-z)g</a:t>
                  </a:r>
                </a:p>
              </p:txBody>
            </p: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1724012" y="2521873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/>
                <p:cNvSpPr txBox="1"/>
                <p:nvPr/>
              </p:nvSpPr>
              <p:spPr>
                <a:xfrm>
                  <a:off x="2019288" y="188119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1L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1876412" y="216468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z g</a:t>
                  </a:r>
                </a:p>
              </p:txBody>
            </p:sp>
          </p:grpSp>
          <p:sp>
            <p:nvSpPr>
              <p:cNvPr id="54" name="TextBox 53"/>
              <p:cNvSpPr txBox="1"/>
              <p:nvPr/>
            </p:nvSpPr>
            <p:spPr>
              <a:xfrm>
                <a:off x="1828764" y="2521873"/>
                <a:ext cx="9382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1</a:t>
                </a:r>
                <a:r>
                  <a:rPr lang="en-US" altLang="zh-CN" sz="2200" b="1" dirty="0"/>
                  <a:t>/3</a:t>
                </a:r>
                <a:r>
                  <a:rPr lang="en-US" sz="2200" b="1" dirty="0"/>
                  <a:t>L</a:t>
                </a:r>
              </a:p>
            </p:txBody>
          </p:sp>
        </p:grpSp>
        <p:cxnSp>
          <p:nvCxnSpPr>
            <p:cNvPr id="52" name="Straight Connector 51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3"/>
          <p:cNvGrpSpPr/>
          <p:nvPr/>
        </p:nvGrpSpPr>
        <p:grpSpPr>
          <a:xfrm>
            <a:off x="3571868" y="5357826"/>
            <a:ext cx="990598" cy="965775"/>
            <a:chOff x="3651252" y="1421487"/>
            <a:chExt cx="1073148" cy="965775"/>
          </a:xfrm>
        </p:grpSpPr>
        <p:grpSp>
          <p:nvGrpSpPr>
            <p:cNvPr id="61" name="Group 24"/>
            <p:cNvGrpSpPr/>
            <p:nvPr/>
          </p:nvGrpSpPr>
          <p:grpSpPr>
            <a:xfrm>
              <a:off x="3733800" y="1421487"/>
              <a:ext cx="990600" cy="584775"/>
              <a:chOff x="3733800" y="1421487"/>
              <a:chExt cx="990600" cy="584775"/>
            </a:xfrm>
          </p:grpSpPr>
          <p:cxnSp>
            <p:nvCxnSpPr>
              <p:cNvPr id="6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3810000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</a:t>
                </a:r>
              </a:p>
            </p:txBody>
          </p:sp>
        </p:grpSp>
        <p:sp>
          <p:nvSpPr>
            <p:cNvPr id="62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2</a:t>
              </a:r>
              <a:endParaRPr lang="en-US" sz="3200" dirty="0"/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5357818" y="5425875"/>
            <a:ext cx="1422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7030A0"/>
                </a:solidFill>
              </a:rPr>
              <a:t>z=14.4</a:t>
            </a:r>
            <a:endParaRPr lang="en-US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28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/>
      <p:bldP spid="49" grpId="0"/>
      <p:bldP spid="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14290"/>
            <a:ext cx="8686800" cy="66437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100" dirty="0"/>
              <a:t>历届考题：</a:t>
            </a:r>
            <a:endParaRPr lang="en-US" altLang="zh-CN" sz="3100" dirty="0"/>
          </a:p>
          <a:p>
            <a:pPr>
              <a:buNone/>
            </a:pPr>
            <a:r>
              <a:rPr lang="zh-CN" altLang="en-US" sz="3100" dirty="0"/>
              <a:t>当</a:t>
            </a:r>
            <a:r>
              <a:rPr lang="en-US" altLang="zh-CN" sz="3100" dirty="0"/>
              <a:t>150mL</a:t>
            </a:r>
            <a:r>
              <a:rPr lang="zh-CN" altLang="en-US" sz="3100" dirty="0"/>
              <a:t>乙醚加入</a:t>
            </a:r>
            <a:r>
              <a:rPr lang="en-US" altLang="zh-CN" sz="3100" dirty="0"/>
              <a:t>300mL</a:t>
            </a:r>
            <a:r>
              <a:rPr lang="zh-CN" altLang="en-US" sz="2800" dirty="0"/>
              <a:t>水中溶有</a:t>
            </a:r>
            <a:r>
              <a:rPr lang="en-US" altLang="zh-CN" sz="3100" dirty="0"/>
              <a:t>20g</a:t>
            </a:r>
            <a:r>
              <a:rPr lang="zh-CN" altLang="en-US" sz="3100" dirty="0"/>
              <a:t>有机物</a:t>
            </a:r>
            <a:r>
              <a:rPr lang="en-US" altLang="zh-CN" sz="3100" dirty="0"/>
              <a:t>A</a:t>
            </a:r>
            <a:r>
              <a:rPr lang="zh-CN" altLang="en-US" sz="3100" dirty="0"/>
              <a:t>的溶液时，可萃取出</a:t>
            </a:r>
            <a:r>
              <a:rPr lang="en-US" altLang="zh-CN" sz="3100" dirty="0"/>
              <a:t>9gA</a:t>
            </a:r>
            <a:r>
              <a:rPr lang="zh-CN" altLang="en-US" sz="3100" dirty="0"/>
              <a:t>，如果以另外</a:t>
            </a:r>
            <a:r>
              <a:rPr lang="en-US" altLang="zh-CN" sz="3100" dirty="0"/>
              <a:t>100mL</a:t>
            </a:r>
            <a:r>
              <a:rPr lang="zh-CN" altLang="en-US" sz="3100" dirty="0"/>
              <a:t>乙醚加入第一次萃取后的水溶液，可再萃取多少</a:t>
            </a:r>
            <a:r>
              <a:rPr lang="en-US" altLang="zh-CN" sz="3100" dirty="0" err="1"/>
              <a:t>gA</a:t>
            </a:r>
            <a:r>
              <a:rPr lang="zh-CN" altLang="en-US" sz="3100" dirty="0"/>
              <a:t>？</a:t>
            </a:r>
            <a:endParaRPr lang="en-US" altLang="zh-CN" sz="3100" dirty="0"/>
          </a:p>
          <a:p>
            <a:pPr>
              <a:buNone/>
            </a:pPr>
            <a:r>
              <a:rPr lang="en-US" altLang="zh-CN" sz="3600" dirty="0"/>
              <a:t> </a:t>
            </a:r>
          </a:p>
          <a:p>
            <a:pPr>
              <a:buNone/>
            </a:pPr>
            <a:r>
              <a:rPr lang="en-US" altLang="zh-CN" sz="3600" dirty="0"/>
              <a:t> </a:t>
            </a:r>
          </a:p>
          <a:p>
            <a:pPr>
              <a:buNone/>
            </a:pPr>
            <a:r>
              <a:rPr lang="en-US" altLang="zh-CN" sz="3600" dirty="0"/>
              <a:t>			   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    =</a:t>
            </a:r>
          </a:p>
          <a:p>
            <a:pPr>
              <a:buNone/>
            </a:pPr>
            <a:r>
              <a:rPr lang="en-US" altLang="zh-CN" sz="3600" dirty="0"/>
              <a:t>	   	</a:t>
            </a:r>
          </a:p>
        </p:txBody>
      </p:sp>
      <p:grpSp>
        <p:nvGrpSpPr>
          <p:cNvPr id="2" name="Group 28"/>
          <p:cNvGrpSpPr/>
          <p:nvPr/>
        </p:nvGrpSpPr>
        <p:grpSpPr>
          <a:xfrm>
            <a:off x="2988948" y="3429000"/>
            <a:ext cx="2011680" cy="1523764"/>
            <a:chOff x="1142976" y="3926807"/>
            <a:chExt cx="2011680" cy="1523764"/>
          </a:xfrm>
        </p:grpSpPr>
        <p:grpSp>
          <p:nvGrpSpPr>
            <p:cNvPr id="5" name="Group 18"/>
            <p:cNvGrpSpPr/>
            <p:nvPr/>
          </p:nvGrpSpPr>
          <p:grpSpPr>
            <a:xfrm>
              <a:off x="1374446" y="3926807"/>
              <a:ext cx="1637334" cy="1523764"/>
              <a:chOff x="1507798" y="1521741"/>
              <a:chExt cx="1637334" cy="1523764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1507798" y="1521741"/>
                <a:ext cx="1637334" cy="1218964"/>
                <a:chOff x="1507798" y="1521741"/>
                <a:chExt cx="1637334" cy="1218964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85924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9g</a:t>
                  </a:r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24012" y="2664505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1633518" y="1881190"/>
                  <a:ext cx="135732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150mL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656350" y="2309818"/>
                  <a:ext cx="113159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11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633518" y="2614618"/>
                <a:ext cx="11430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300mL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3"/>
          <p:cNvGrpSpPr/>
          <p:nvPr/>
        </p:nvGrpSpPr>
        <p:grpSpPr>
          <a:xfrm>
            <a:off x="3084997" y="4929198"/>
            <a:ext cx="986937" cy="965775"/>
            <a:chOff x="3486142" y="1421487"/>
            <a:chExt cx="1069182" cy="965775"/>
          </a:xfrm>
        </p:grpSpPr>
        <p:grpSp>
          <p:nvGrpSpPr>
            <p:cNvPr id="10" name="Group 24"/>
            <p:cNvGrpSpPr/>
            <p:nvPr/>
          </p:nvGrpSpPr>
          <p:grpSpPr>
            <a:xfrm>
              <a:off x="3640924" y="1421487"/>
              <a:ext cx="914400" cy="584775"/>
              <a:chOff x="3640924" y="1421487"/>
              <a:chExt cx="914400" cy="584775"/>
            </a:xfrm>
          </p:grpSpPr>
          <p:cxnSp>
            <p:nvCxnSpPr>
              <p:cNvPr id="41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3640924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18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348614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11</a:t>
              </a:r>
              <a:endParaRPr lang="en-US" sz="3200" dirty="0"/>
            </a:p>
          </p:txBody>
        </p:sp>
      </p:grpSp>
      <p:grpSp>
        <p:nvGrpSpPr>
          <p:cNvPr id="29" name="Group 3"/>
          <p:cNvGrpSpPr/>
          <p:nvPr/>
        </p:nvGrpSpPr>
        <p:grpSpPr>
          <a:xfrm>
            <a:off x="1785918" y="2214554"/>
            <a:ext cx="2643207" cy="1207952"/>
            <a:chOff x="1981199" y="1309686"/>
            <a:chExt cx="1861866" cy="1207952"/>
          </a:xfrm>
        </p:grpSpPr>
        <p:grpSp>
          <p:nvGrpSpPr>
            <p:cNvPr id="30" name="Group 24"/>
            <p:cNvGrpSpPr/>
            <p:nvPr/>
          </p:nvGrpSpPr>
          <p:grpSpPr>
            <a:xfrm>
              <a:off x="1981199" y="1309686"/>
              <a:ext cx="1811545" cy="1109842"/>
              <a:chOff x="1981199" y="1309686"/>
              <a:chExt cx="1811545" cy="1109842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1981199" y="1650087"/>
                <a:ext cx="97503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400" dirty="0"/>
                  <a:t> K   =</a:t>
                </a:r>
                <a:endParaRPr lang="en-US" sz="4400" dirty="0"/>
              </a:p>
            </p:txBody>
          </p:sp>
          <p:cxnSp>
            <p:nvCxnSpPr>
              <p:cNvPr id="36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2878345" y="1309686"/>
                <a:ext cx="9143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  s</a:t>
                </a:r>
                <a:r>
                  <a:rPr lang="zh-CN" altLang="en-US" sz="4000" baseline="-25000" dirty="0" err="1"/>
                  <a:t>乙醚</a:t>
                </a:r>
                <a:endParaRPr lang="en-US" sz="4000" dirty="0"/>
              </a:p>
            </p:txBody>
          </p:sp>
        </p:grpSp>
        <p:sp>
          <p:nvSpPr>
            <p:cNvPr id="31" name="TextBox 5"/>
            <p:cNvSpPr txBox="1"/>
            <p:nvPr/>
          </p:nvSpPr>
          <p:spPr>
            <a:xfrm>
              <a:off x="2736010" y="1809752"/>
              <a:ext cx="11070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/>
                <a:t>    s</a:t>
              </a:r>
              <a:r>
                <a:rPr lang="zh-CN" altLang="en-US" sz="4000" baseline="-25000" dirty="0"/>
                <a:t>水</a:t>
              </a:r>
              <a:endParaRPr lang="en-US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1869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14290"/>
            <a:ext cx="8686800" cy="664371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zh-CN" altLang="en-US" dirty="0"/>
              <a:t>历届考题：</a:t>
            </a:r>
            <a:endParaRPr lang="en-US" altLang="zh-CN" dirty="0"/>
          </a:p>
          <a:p>
            <a:pPr>
              <a:buNone/>
            </a:pPr>
            <a:r>
              <a:rPr lang="zh-CN" altLang="en-US" sz="3500" dirty="0"/>
              <a:t>当</a:t>
            </a:r>
            <a:r>
              <a:rPr lang="en-US" altLang="zh-CN" sz="3500" dirty="0"/>
              <a:t>150mL</a:t>
            </a:r>
            <a:r>
              <a:rPr lang="zh-CN" altLang="en-US" sz="3500" dirty="0"/>
              <a:t>乙醚加入</a:t>
            </a:r>
            <a:r>
              <a:rPr lang="en-US" altLang="zh-CN" sz="3500" dirty="0"/>
              <a:t>300mL</a:t>
            </a:r>
            <a:r>
              <a:rPr lang="zh-CN" altLang="en-US" sz="3500" dirty="0"/>
              <a:t>水中溶有</a:t>
            </a:r>
            <a:r>
              <a:rPr lang="en-US" altLang="zh-CN" sz="3500" dirty="0"/>
              <a:t>20g</a:t>
            </a:r>
            <a:r>
              <a:rPr lang="zh-CN" altLang="en-US" sz="3500" dirty="0"/>
              <a:t>有机物</a:t>
            </a:r>
            <a:r>
              <a:rPr lang="en-US" altLang="zh-CN" sz="3500" dirty="0"/>
              <a:t>A</a:t>
            </a:r>
            <a:r>
              <a:rPr lang="zh-CN" altLang="en-US" sz="3500" dirty="0"/>
              <a:t>的溶液时，可萃取出</a:t>
            </a:r>
            <a:r>
              <a:rPr lang="en-US" altLang="zh-CN" sz="3500" dirty="0"/>
              <a:t>9gA</a:t>
            </a:r>
            <a:r>
              <a:rPr lang="zh-CN" altLang="en-US" sz="3500" dirty="0"/>
              <a:t>，如果以另外</a:t>
            </a:r>
            <a:r>
              <a:rPr lang="en-US" altLang="zh-CN" sz="3500" dirty="0"/>
              <a:t>100mL</a:t>
            </a:r>
            <a:r>
              <a:rPr lang="zh-CN" altLang="en-US" sz="3500" dirty="0"/>
              <a:t>乙醚加入第一次萃取后的水溶液，可再萃取多少</a:t>
            </a:r>
            <a:r>
              <a:rPr lang="en-US" altLang="zh-CN" sz="3500" dirty="0" err="1"/>
              <a:t>gA</a:t>
            </a:r>
            <a:r>
              <a:rPr lang="zh-CN" altLang="en-US" sz="3500" dirty="0"/>
              <a:t>？</a:t>
            </a:r>
            <a:endParaRPr lang="en-US" altLang="zh-CN" sz="3500" dirty="0"/>
          </a:p>
          <a:p>
            <a:pPr>
              <a:buNone/>
            </a:pPr>
            <a:r>
              <a:rPr lang="en-US" altLang="zh-CN" sz="3500" dirty="0"/>
              <a:t> </a:t>
            </a:r>
            <a:r>
              <a:rPr lang="zh-CN" altLang="en-US" sz="3500" dirty="0"/>
              <a:t>设可再萃取出</a:t>
            </a:r>
            <a:r>
              <a:rPr lang="en-US" altLang="zh-CN" sz="3500" dirty="0" err="1"/>
              <a:t>xg</a:t>
            </a:r>
            <a:endParaRPr lang="en-US" altLang="zh-CN" sz="3500" dirty="0"/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		 =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   			 = </a:t>
            </a:r>
          </a:p>
          <a:p>
            <a:pPr>
              <a:buNone/>
            </a:pPr>
            <a:r>
              <a:rPr lang="en-US" altLang="zh-CN" sz="3600" dirty="0"/>
              <a:t>		    </a:t>
            </a:r>
          </a:p>
          <a:p>
            <a:pPr>
              <a:buNone/>
            </a:pPr>
            <a:r>
              <a:rPr lang="en-US" altLang="zh-CN" sz="3600" dirty="0"/>
              <a:t>		    18(11-x) = 33x</a:t>
            </a:r>
          </a:p>
          <a:p>
            <a:pPr>
              <a:buNone/>
            </a:pPr>
            <a:r>
              <a:rPr lang="en-US" altLang="zh-CN" sz="3600" dirty="0"/>
              <a:t>	  		   51x = 198</a:t>
            </a:r>
          </a:p>
          <a:p>
            <a:pPr>
              <a:buNone/>
            </a:pPr>
            <a:r>
              <a:rPr lang="en-US" altLang="zh-CN" sz="3600" dirty="0"/>
              <a:t> 			       x = 3.88g</a:t>
            </a:r>
          </a:p>
        </p:txBody>
      </p:sp>
      <p:grpSp>
        <p:nvGrpSpPr>
          <p:cNvPr id="2" name="Group 28"/>
          <p:cNvGrpSpPr/>
          <p:nvPr/>
        </p:nvGrpSpPr>
        <p:grpSpPr>
          <a:xfrm>
            <a:off x="1042934" y="2833930"/>
            <a:ext cx="2011680" cy="1523764"/>
            <a:chOff x="1142976" y="3926807"/>
            <a:chExt cx="2011680" cy="1523764"/>
          </a:xfrm>
        </p:grpSpPr>
        <p:grpSp>
          <p:nvGrpSpPr>
            <p:cNvPr id="5" name="Group 18"/>
            <p:cNvGrpSpPr/>
            <p:nvPr/>
          </p:nvGrpSpPr>
          <p:grpSpPr>
            <a:xfrm>
              <a:off x="1374446" y="3926807"/>
              <a:ext cx="1483042" cy="1523764"/>
              <a:chOff x="1507798" y="1521741"/>
              <a:chExt cx="1483042" cy="1523764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1507798" y="1521741"/>
                <a:ext cx="1483042" cy="1218964"/>
                <a:chOff x="1507798" y="1521741"/>
                <a:chExt cx="1483042" cy="1218964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633518" y="1521741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   </a:t>
                  </a:r>
                  <a:r>
                    <a:rPr lang="en-US" sz="2200" b="1" dirty="0" err="1"/>
                    <a:t>xg</a:t>
                  </a:r>
                  <a:endParaRPr lang="en-US" sz="2200" b="1" dirty="0"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1507798" y="1905000"/>
                  <a:ext cx="13716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1724012" y="2664505"/>
                  <a:ext cx="838200" cy="1588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1633518" y="1881190"/>
                  <a:ext cx="135732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100mL</a:t>
                  </a:r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1519246" y="2309818"/>
                  <a:ext cx="128588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/>
                    <a:t> (11-</a:t>
                  </a:r>
                  <a:r>
                    <a:rPr lang="en-US" altLang="zh-CN" sz="2200" b="1" dirty="0"/>
                    <a:t>x)</a:t>
                  </a:r>
                  <a:r>
                    <a:rPr lang="en-US" sz="2200" b="1" dirty="0"/>
                    <a:t> g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1633518" y="2614618"/>
                <a:ext cx="11430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300mL</a:t>
                </a:r>
              </a:p>
            </p:txBody>
          </p:sp>
        </p:grpSp>
        <p:cxnSp>
          <p:nvCxnSpPr>
            <p:cNvPr id="28" name="Straight Connector 27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3"/>
          <p:cNvGrpSpPr/>
          <p:nvPr/>
        </p:nvGrpSpPr>
        <p:grpSpPr>
          <a:xfrm>
            <a:off x="1058148" y="4177737"/>
            <a:ext cx="2699430" cy="965775"/>
            <a:chOff x="3651252" y="1421487"/>
            <a:chExt cx="965502" cy="965775"/>
          </a:xfrm>
        </p:grpSpPr>
        <p:grpSp>
          <p:nvGrpSpPr>
            <p:cNvPr id="12" name="Group 24"/>
            <p:cNvGrpSpPr/>
            <p:nvPr/>
          </p:nvGrpSpPr>
          <p:grpSpPr>
            <a:xfrm>
              <a:off x="3702354" y="1421487"/>
              <a:ext cx="914400" cy="584775"/>
              <a:chOff x="3702354" y="1421487"/>
              <a:chExt cx="914400" cy="584775"/>
            </a:xfrm>
          </p:grpSpPr>
          <p:cxnSp>
            <p:nvCxnSpPr>
              <p:cNvPr id="46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702354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  300</a:t>
                </a:r>
                <a:r>
                  <a:rPr lang="en-US" altLang="zh-CN" sz="3200" dirty="0"/>
                  <a:t>x</a:t>
                </a:r>
                <a:endParaRPr lang="en-US" sz="3200" dirty="0"/>
              </a:p>
            </p:txBody>
          </p:sp>
        </p:grpSp>
        <p:sp>
          <p:nvSpPr>
            <p:cNvPr id="45" name="TextBox 5"/>
            <p:cNvSpPr txBox="1"/>
            <p:nvPr/>
          </p:nvSpPr>
          <p:spPr>
            <a:xfrm>
              <a:off x="365125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100(11-x)</a:t>
              </a:r>
              <a:endParaRPr lang="en-US" sz="3200" dirty="0"/>
            </a:p>
          </p:txBody>
        </p:sp>
      </p:grpSp>
      <p:grpSp>
        <p:nvGrpSpPr>
          <p:cNvPr id="29" name="Group 3"/>
          <p:cNvGrpSpPr/>
          <p:nvPr/>
        </p:nvGrpSpPr>
        <p:grpSpPr>
          <a:xfrm>
            <a:off x="3500430" y="3106167"/>
            <a:ext cx="986937" cy="965775"/>
            <a:chOff x="3486142" y="1421487"/>
            <a:chExt cx="1069182" cy="965775"/>
          </a:xfrm>
        </p:grpSpPr>
        <p:grpSp>
          <p:nvGrpSpPr>
            <p:cNvPr id="30" name="Group 24"/>
            <p:cNvGrpSpPr/>
            <p:nvPr/>
          </p:nvGrpSpPr>
          <p:grpSpPr>
            <a:xfrm>
              <a:off x="3640924" y="1421487"/>
              <a:ext cx="914400" cy="584775"/>
              <a:chOff x="3640924" y="1421487"/>
              <a:chExt cx="914400" cy="584775"/>
            </a:xfrm>
          </p:grpSpPr>
          <p:cxnSp>
            <p:nvCxnSpPr>
              <p:cNvPr id="35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3640924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18</a:t>
                </a:r>
              </a:p>
            </p:txBody>
          </p:sp>
        </p:grpSp>
        <p:sp>
          <p:nvSpPr>
            <p:cNvPr id="31" name="TextBox 5"/>
            <p:cNvSpPr txBox="1"/>
            <p:nvPr/>
          </p:nvSpPr>
          <p:spPr>
            <a:xfrm>
              <a:off x="348614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11</a:t>
              </a:r>
              <a:endParaRPr lang="en-US" sz="3200" dirty="0"/>
            </a:p>
          </p:txBody>
        </p:sp>
      </p:grpSp>
      <p:grpSp>
        <p:nvGrpSpPr>
          <p:cNvPr id="37" name="Group 3"/>
          <p:cNvGrpSpPr/>
          <p:nvPr/>
        </p:nvGrpSpPr>
        <p:grpSpPr>
          <a:xfrm>
            <a:off x="3357554" y="4249175"/>
            <a:ext cx="986937" cy="965775"/>
            <a:chOff x="3486142" y="1421487"/>
            <a:chExt cx="1069182" cy="965775"/>
          </a:xfrm>
        </p:grpSpPr>
        <p:grpSp>
          <p:nvGrpSpPr>
            <p:cNvPr id="38" name="Group 24"/>
            <p:cNvGrpSpPr/>
            <p:nvPr/>
          </p:nvGrpSpPr>
          <p:grpSpPr>
            <a:xfrm>
              <a:off x="3640924" y="1421487"/>
              <a:ext cx="914400" cy="584775"/>
              <a:chOff x="3640924" y="1421487"/>
              <a:chExt cx="914400" cy="584775"/>
            </a:xfrm>
          </p:grpSpPr>
          <p:cxnSp>
            <p:nvCxnSpPr>
              <p:cNvPr id="43" name="Straight Connector 8"/>
              <p:cNvCxnSpPr/>
              <p:nvPr/>
            </p:nvCxnSpPr>
            <p:spPr>
              <a:xfrm>
                <a:off x="3733800" y="1905000"/>
                <a:ext cx="609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/>
              <p:cNvSpPr txBox="1"/>
              <p:nvPr/>
            </p:nvSpPr>
            <p:spPr>
              <a:xfrm>
                <a:off x="3640924" y="1421487"/>
                <a:ext cx="914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18</a:t>
                </a:r>
              </a:p>
            </p:txBody>
          </p:sp>
        </p:grpSp>
        <p:sp>
          <p:nvSpPr>
            <p:cNvPr id="39" name="TextBox 5"/>
            <p:cNvSpPr txBox="1"/>
            <p:nvPr/>
          </p:nvSpPr>
          <p:spPr>
            <a:xfrm>
              <a:off x="3486142" y="1802487"/>
              <a:ext cx="91440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11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2327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686800" cy="54334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600" dirty="0"/>
              <a:t>思考题</a:t>
            </a:r>
            <a:r>
              <a:rPr lang="en-US" altLang="zh-CN" sz="3600" dirty="0"/>
              <a:t>18d</a:t>
            </a:r>
          </a:p>
          <a:p>
            <a:pPr>
              <a:buNone/>
            </a:pPr>
            <a:r>
              <a:rPr lang="en-US" altLang="zh-CN" sz="3600" dirty="0"/>
              <a:t>1.(1) </a:t>
            </a:r>
            <a:r>
              <a:rPr lang="zh-CN" altLang="en-US" sz="3600" dirty="0"/>
              <a:t>对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(2) </a:t>
            </a:r>
            <a:r>
              <a:rPr lang="zh-CN" altLang="en-US" sz="3600" dirty="0"/>
              <a:t>对（在萃取剂中的溶解度较大则</a:t>
            </a:r>
            <a:r>
              <a:rPr lang="en-US" altLang="zh-CN" sz="3600" dirty="0"/>
              <a:t>K&gt;1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(3) </a:t>
            </a:r>
            <a:r>
              <a:rPr lang="zh-CN" altLang="en-US" sz="3600" dirty="0"/>
              <a:t>错（</a:t>
            </a:r>
            <a:r>
              <a:rPr lang="en-US" altLang="zh-CN" sz="3600" dirty="0"/>
              <a:t>CCl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 </a:t>
            </a:r>
            <a:r>
              <a:rPr lang="zh-CN" altLang="en-US" sz="3600" dirty="0"/>
              <a:t>密度较大，下层为紫红色）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2. 50mL</a:t>
            </a:r>
            <a:r>
              <a:rPr lang="zh-CN" altLang="en-US" sz="3600" dirty="0"/>
              <a:t>萃取一次，萃取出</a:t>
            </a:r>
            <a:r>
              <a:rPr lang="en-US" altLang="zh-CN" sz="3600" dirty="0"/>
              <a:t>0.0191g</a:t>
            </a:r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残留</a:t>
            </a:r>
            <a:r>
              <a:rPr lang="en-US" altLang="zh-CN" sz="3600" dirty="0"/>
              <a:t>m(I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)=9x10</a:t>
            </a:r>
            <a:r>
              <a:rPr lang="en-US" altLang="zh-CN" sz="3600" baseline="30000" dirty="0"/>
              <a:t>-4</a:t>
            </a:r>
            <a:r>
              <a:rPr lang="en-US" altLang="zh-CN" sz="3600" dirty="0"/>
              <a:t> g</a:t>
            </a:r>
            <a:endParaRPr lang="zh-CN" altLang="en-US" sz="3600" dirty="0"/>
          </a:p>
          <a:p>
            <a:pPr>
              <a:buNone/>
            </a:pPr>
            <a:r>
              <a:rPr lang="en-US" altLang="zh-CN" sz="3600" dirty="0"/>
              <a:t>	50mL</a:t>
            </a:r>
            <a:r>
              <a:rPr lang="zh-CN" altLang="en-US" sz="3600" dirty="0"/>
              <a:t>萃取两次，萃取出</a:t>
            </a:r>
            <a:r>
              <a:rPr lang="en-US" altLang="zh-CN" sz="3600" dirty="0"/>
              <a:t>0.018g</a:t>
            </a:r>
            <a:r>
              <a:rPr lang="zh-CN" altLang="en-US" sz="3600" dirty="0"/>
              <a:t>和</a:t>
            </a:r>
            <a:r>
              <a:rPr lang="en-US" altLang="zh-CN" sz="3600" dirty="0"/>
              <a:t>0.0018</a:t>
            </a:r>
          </a:p>
          <a:p>
            <a:pPr>
              <a:buNone/>
            </a:pPr>
            <a:r>
              <a:rPr lang="en-US" altLang="zh-CN" sz="3600" dirty="0"/>
              <a:t>	</a:t>
            </a:r>
            <a:r>
              <a:rPr lang="zh-CN" altLang="en-US" sz="3600" dirty="0"/>
              <a:t>残留</a:t>
            </a:r>
            <a:r>
              <a:rPr lang="en-US" altLang="zh-CN" sz="3600" dirty="0"/>
              <a:t>m(I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)= 2x10</a:t>
            </a:r>
            <a:r>
              <a:rPr lang="en-US" altLang="zh-CN" sz="3600" baseline="30000" dirty="0"/>
              <a:t>-4</a:t>
            </a:r>
            <a:r>
              <a:rPr lang="en-US" altLang="zh-CN" sz="3600" dirty="0"/>
              <a:t> g</a:t>
            </a:r>
            <a:endParaRPr lang="zh-CN" altLang="en-US" sz="3600" dirty="0"/>
          </a:p>
          <a:p>
            <a:pPr>
              <a:buNone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0374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09860"/>
            <a:ext cx="8748464" cy="5376660"/>
          </a:xfrm>
        </p:spPr>
        <p:txBody>
          <a:bodyPr>
            <a:normAutofit/>
          </a:bodyPr>
          <a:lstStyle/>
          <a:p>
            <a:r>
              <a:rPr lang="zh-CN" altLang="en-US" dirty="0"/>
              <a:t>溶液浓度：在一定量溶液中所含溶质的量。</a:t>
            </a:r>
            <a:endParaRPr lang="en-US" altLang="zh-CN" dirty="0"/>
          </a:p>
          <a:p>
            <a:r>
              <a:rPr lang="zh-CN" altLang="en-US" dirty="0"/>
              <a:t>浓度的表示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3200" dirty="0"/>
              <a:t>质量百分比浓度</a:t>
            </a:r>
            <a:r>
              <a:rPr lang="el-GR" altLang="zh-CN" sz="3200" dirty="0"/>
              <a:t>ω</a:t>
            </a:r>
            <a:r>
              <a:rPr lang="en-US" altLang="zh-CN" sz="3200" dirty="0"/>
              <a:t>=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zh-CN" sz="3200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3200" dirty="0"/>
              <a:t>体积百分比浓度</a:t>
            </a:r>
            <a:r>
              <a:rPr lang="en-US" altLang="zh-CN" sz="3200" dirty="0"/>
              <a:t>=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zh-CN" sz="3200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3200" dirty="0"/>
              <a:t>质量摩尔浓度</a:t>
            </a:r>
            <a:r>
              <a:rPr lang="en-US" altLang="zh-CN" sz="3200" dirty="0"/>
              <a:t>c</a:t>
            </a:r>
            <a:r>
              <a:rPr lang="en-US" altLang="zh-CN" sz="3200" baseline="-25000" dirty="0"/>
              <a:t>m</a:t>
            </a:r>
            <a:r>
              <a:rPr lang="en-US" altLang="zh-CN" sz="3200" dirty="0"/>
              <a:t> =			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zh-CN" sz="3200" dirty="0"/>
          </a:p>
          <a:p>
            <a:pPr marL="971550" lvl="1" indent="-514350">
              <a:buFont typeface="+mj-lt"/>
              <a:buAutoNum type="arabicPeriod"/>
            </a:pPr>
            <a:r>
              <a:rPr lang="zh-CN" altLang="en-US" sz="3200" dirty="0"/>
              <a:t>物质的量浓度 </a:t>
            </a:r>
            <a:r>
              <a:rPr lang="en-US" altLang="zh-CN" sz="3200" dirty="0" err="1"/>
              <a:t>c</a:t>
            </a:r>
            <a:r>
              <a:rPr lang="en-US" altLang="zh-CN" sz="3200" baseline="-25000" dirty="0" err="1"/>
              <a:t>M</a:t>
            </a:r>
            <a:r>
              <a:rPr lang="en-US" altLang="zh-CN" sz="3200" dirty="0"/>
              <a:t> =</a:t>
            </a:r>
            <a:endParaRPr lang="en-MY" sz="3200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5057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8.7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溶液的浓度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" name="Group 3"/>
          <p:cNvGrpSpPr/>
          <p:nvPr/>
        </p:nvGrpSpPr>
        <p:grpSpPr>
          <a:xfrm>
            <a:off x="4462175" y="1714488"/>
            <a:ext cx="3643348" cy="1146397"/>
            <a:chOff x="2736010" y="1309686"/>
            <a:chExt cx="2566364" cy="1146397"/>
          </a:xfrm>
        </p:grpSpPr>
        <p:grpSp>
          <p:nvGrpSpPr>
            <p:cNvPr id="13" name="Group 24"/>
            <p:cNvGrpSpPr/>
            <p:nvPr/>
          </p:nvGrpSpPr>
          <p:grpSpPr>
            <a:xfrm>
              <a:off x="2878345" y="1309686"/>
              <a:ext cx="2424029" cy="1000132"/>
              <a:chOff x="2878345" y="1309686"/>
              <a:chExt cx="2424029" cy="1000132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16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</a:t>
                </a:r>
                <a:r>
                  <a:rPr lang="en-US" altLang="zh-CN" sz="3600" dirty="0"/>
                  <a:t>m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14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m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grpSp>
        <p:nvGrpSpPr>
          <p:cNvPr id="28" name="Group 3"/>
          <p:cNvGrpSpPr/>
          <p:nvPr/>
        </p:nvGrpSpPr>
        <p:grpSpPr>
          <a:xfrm>
            <a:off x="4390747" y="2857496"/>
            <a:ext cx="3643340" cy="1285884"/>
            <a:chOff x="2736010" y="1309686"/>
            <a:chExt cx="2566358" cy="1285884"/>
          </a:xfrm>
        </p:grpSpPr>
        <p:grpSp>
          <p:nvGrpSpPr>
            <p:cNvPr id="29" name="Group 24"/>
            <p:cNvGrpSpPr/>
            <p:nvPr/>
          </p:nvGrpSpPr>
          <p:grpSpPr>
            <a:xfrm>
              <a:off x="2878345" y="1309686"/>
              <a:ext cx="2424023" cy="1000132"/>
              <a:chOff x="2878345" y="1309686"/>
              <a:chExt cx="2424023" cy="1000132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3692104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32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V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30" name="TextBox 5"/>
            <p:cNvSpPr txBox="1"/>
            <p:nvPr/>
          </p:nvSpPr>
          <p:spPr>
            <a:xfrm>
              <a:off x="2736010" y="1949239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grpSp>
        <p:nvGrpSpPr>
          <p:cNvPr id="34" name="Group 3"/>
          <p:cNvGrpSpPr/>
          <p:nvPr/>
        </p:nvGrpSpPr>
        <p:grpSpPr>
          <a:xfrm>
            <a:off x="4319307" y="4139991"/>
            <a:ext cx="1571637" cy="1013404"/>
            <a:chOff x="2736010" y="1442679"/>
            <a:chExt cx="1107054" cy="1013404"/>
          </a:xfrm>
        </p:grpSpPr>
        <p:grpSp>
          <p:nvGrpSpPr>
            <p:cNvPr id="35" name="Group 24"/>
            <p:cNvGrpSpPr/>
            <p:nvPr/>
          </p:nvGrpSpPr>
          <p:grpSpPr>
            <a:xfrm>
              <a:off x="2878345" y="1442679"/>
              <a:ext cx="914399" cy="646331"/>
              <a:chOff x="2878345" y="1442679"/>
              <a:chExt cx="914399" cy="646331"/>
            </a:xfrm>
          </p:grpSpPr>
          <p:cxnSp>
            <p:nvCxnSpPr>
              <p:cNvPr id="38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2878345" y="1442679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36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</a:t>
              </a:r>
              <a:r>
                <a:rPr lang="en-US" altLang="zh-CN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</a:t>
              </a:r>
              <a:r>
                <a:rPr lang="zh-CN" altLang="en-US" sz="36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剂</a:t>
              </a:r>
              <a:endPara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76696" y="4357694"/>
            <a:ext cx="2643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单位：</a:t>
            </a:r>
            <a:r>
              <a:rPr lang="en-US" sz="3200" b="1" dirty="0">
                <a:solidFill>
                  <a:srgbClr val="002060"/>
                </a:solidFill>
              </a:rPr>
              <a:t>mol/kg</a:t>
            </a:r>
          </a:p>
        </p:txBody>
      </p:sp>
      <p:grpSp>
        <p:nvGrpSpPr>
          <p:cNvPr id="41" name="Group 3"/>
          <p:cNvGrpSpPr/>
          <p:nvPr/>
        </p:nvGrpSpPr>
        <p:grpSpPr>
          <a:xfrm>
            <a:off x="4471707" y="5344554"/>
            <a:ext cx="1571637" cy="1084842"/>
            <a:chOff x="2736010" y="1442679"/>
            <a:chExt cx="1107054" cy="1084842"/>
          </a:xfrm>
        </p:grpSpPr>
        <p:grpSp>
          <p:nvGrpSpPr>
            <p:cNvPr id="42" name="Group 24"/>
            <p:cNvGrpSpPr/>
            <p:nvPr/>
          </p:nvGrpSpPr>
          <p:grpSpPr>
            <a:xfrm>
              <a:off x="2878345" y="1442679"/>
              <a:ext cx="914399" cy="646331"/>
              <a:chOff x="2878345" y="1442679"/>
              <a:chExt cx="914399" cy="646331"/>
            </a:xfrm>
          </p:grpSpPr>
          <p:cxnSp>
            <p:nvCxnSpPr>
              <p:cNvPr id="44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2878345" y="1442679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43" name="TextBox 5"/>
            <p:cNvSpPr txBox="1"/>
            <p:nvPr/>
          </p:nvSpPr>
          <p:spPr>
            <a:xfrm>
              <a:off x="2736010" y="1881190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176696" y="5630307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</a:rPr>
              <a:t>单位：</a:t>
            </a:r>
            <a:r>
              <a:rPr lang="en-US" sz="3200" b="1" dirty="0">
                <a:solidFill>
                  <a:srgbClr val="002060"/>
                </a:solidFill>
              </a:rPr>
              <a:t>mol/</a:t>
            </a:r>
            <a:r>
              <a:rPr lang="en-US" altLang="zh-CN" sz="3200" b="1" dirty="0">
                <a:solidFill>
                  <a:srgbClr val="002060"/>
                </a:solidFill>
              </a:rPr>
              <a:t>L</a:t>
            </a:r>
            <a:endParaRPr lang="en-US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73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0" grpId="0"/>
      <p:bldP spid="4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578647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CN" dirty="0"/>
              <a:t>100g</a:t>
            </a:r>
            <a:r>
              <a:rPr lang="zh-CN" altLang="en-US" dirty="0"/>
              <a:t>溶液中所含溶质的克数。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质量百分比浓度</a:t>
            </a:r>
            <a:r>
              <a:rPr lang="el-GR" altLang="zh-CN" dirty="0"/>
              <a:t>ω </a:t>
            </a:r>
            <a:r>
              <a:rPr lang="en-US" altLang="zh-CN" dirty="0"/>
              <a:t>=</a:t>
            </a:r>
            <a:endParaRPr lang="en-US" dirty="0"/>
          </a:p>
          <a:p>
            <a:pPr>
              <a:buNone/>
            </a:pPr>
            <a:r>
              <a:rPr lang="zh-CN" altLang="en-US" dirty="0"/>
              <a:t>单位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%</a:t>
            </a:r>
          </a:p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5</a:t>
            </a:r>
          </a:p>
          <a:p>
            <a:pPr>
              <a:buNone/>
            </a:pPr>
            <a:r>
              <a:rPr lang="en-US" altLang="zh-CN" dirty="0"/>
              <a:t>8gNaOH</a:t>
            </a:r>
            <a:r>
              <a:rPr lang="zh-CN" altLang="en-US" dirty="0"/>
              <a:t>溶解于</a:t>
            </a:r>
            <a:r>
              <a:rPr lang="en-US" altLang="zh-CN" dirty="0"/>
              <a:t>50g</a:t>
            </a:r>
            <a:r>
              <a:rPr lang="zh-CN" altLang="en-US" dirty="0"/>
              <a:t>水中，求所得溶液的质量百分比浓度。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</a:t>
            </a:r>
            <a:r>
              <a:rPr lang="el-GR" altLang="zh-CN" dirty="0"/>
              <a:t>ω </a:t>
            </a:r>
            <a:r>
              <a:rPr lang="en-US" altLang="zh-CN" dirty="0"/>
              <a:t>=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   </a:t>
            </a:r>
            <a:r>
              <a:rPr lang="en-US" altLang="zh-CN" dirty="0"/>
              <a:t>= 13.79%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9846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8.7.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质量百分比浓度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3"/>
          <p:cNvGrpSpPr/>
          <p:nvPr/>
        </p:nvGrpSpPr>
        <p:grpSpPr>
          <a:xfrm>
            <a:off x="3786172" y="1587033"/>
            <a:ext cx="3643348" cy="1146397"/>
            <a:chOff x="2736010" y="1309686"/>
            <a:chExt cx="2566364" cy="1146397"/>
          </a:xfrm>
        </p:grpSpPr>
        <p:grpSp>
          <p:nvGrpSpPr>
            <p:cNvPr id="8" name="Group 24"/>
            <p:cNvGrpSpPr/>
            <p:nvPr/>
          </p:nvGrpSpPr>
          <p:grpSpPr>
            <a:xfrm>
              <a:off x="2878345" y="1309686"/>
              <a:ext cx="2424029" cy="1000132"/>
              <a:chOff x="2878345" y="1309686"/>
              <a:chExt cx="2424029" cy="1000132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11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</a:t>
                </a:r>
                <a:r>
                  <a:rPr lang="en-US" altLang="zh-CN" sz="3600" dirty="0"/>
                  <a:t>m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9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m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grpSp>
        <p:nvGrpSpPr>
          <p:cNvPr id="25" name="Group 3"/>
          <p:cNvGrpSpPr/>
          <p:nvPr/>
        </p:nvGrpSpPr>
        <p:grpSpPr>
          <a:xfrm>
            <a:off x="2857488" y="4500570"/>
            <a:ext cx="3643348" cy="1000132"/>
            <a:chOff x="2736010" y="1364378"/>
            <a:chExt cx="2566364" cy="1234581"/>
          </a:xfrm>
        </p:grpSpPr>
        <p:grpSp>
          <p:nvGrpSpPr>
            <p:cNvPr id="26" name="Group 24"/>
            <p:cNvGrpSpPr/>
            <p:nvPr/>
          </p:nvGrpSpPr>
          <p:grpSpPr>
            <a:xfrm>
              <a:off x="2881221" y="1364378"/>
              <a:ext cx="2421153" cy="945440"/>
              <a:chOff x="2881221" y="1364378"/>
              <a:chExt cx="2421153" cy="945440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29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3029316" y="1364378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</a:t>
                </a:r>
                <a:r>
                  <a:rPr lang="en-US" altLang="zh-CN" sz="3600" dirty="0"/>
                  <a:t>8</a:t>
                </a:r>
                <a:endParaRPr lang="en-US" sz="3600" dirty="0"/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2736010" y="1952628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58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6430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pic1.bbzhi.com/chahuabizhi/lansedongjidongjixuehuashiliangbeijing/cartoon_vector_winter_36111_12.jpg">
            <a:extLst>
              <a:ext uri="{FF2B5EF4-FFF2-40B4-BE49-F238E27FC236}">
                <a16:creationId xmlns:a16="http://schemas.microsoft.com/office/drawing/2014/main" id="{A91359BA-9BF3-F331-D16E-E4BA73295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zh-CN" altLang="en-US" sz="36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m</a:t>
            </a:r>
            <a:r>
              <a:rPr lang="zh-CN" altLang="en-US" sz="36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液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质量百分比浓度</a:t>
            </a:r>
            <a:endParaRPr lang="en-US" altLang="zh-CN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稀释前后</a:t>
            </a: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zh-CN" altLang="en-US" sz="36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</a:t>
            </a:r>
            <a:r>
              <a:rPr lang="zh-CN" alt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不变</a:t>
            </a:r>
            <a:endParaRPr lang="en-US" altLang="zh-CN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6</a:t>
            </a:r>
            <a:r>
              <a:rPr lang="zh-CN" altLang="en-US" dirty="0"/>
              <a:t>将</a:t>
            </a:r>
            <a:r>
              <a:rPr lang="en-US" altLang="zh-CN" dirty="0"/>
              <a:t>50g 98% </a:t>
            </a:r>
            <a:r>
              <a:rPr lang="zh-CN" altLang="en-US" dirty="0"/>
              <a:t>的硫酸稀释成</a:t>
            </a:r>
            <a:r>
              <a:rPr lang="en-US" altLang="zh-CN" dirty="0"/>
              <a:t>20%</a:t>
            </a:r>
            <a:r>
              <a:rPr lang="zh-CN" altLang="en-US" dirty="0"/>
              <a:t>的溶液，需要加入多少克水？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m</a:t>
            </a:r>
            <a:r>
              <a:rPr lang="en-US" altLang="zh-CN" baseline="-25000" dirty="0"/>
              <a:t> </a:t>
            </a:r>
            <a:r>
              <a:rPr lang="zh-CN" altLang="en-US" baseline="-25000" dirty="0"/>
              <a:t>质前</a:t>
            </a:r>
            <a:r>
              <a:rPr lang="zh-CN" altLang="en-US" dirty="0"/>
              <a:t> </a:t>
            </a:r>
            <a:r>
              <a:rPr lang="en-US" altLang="zh-CN" dirty="0"/>
              <a:t>= m</a:t>
            </a:r>
            <a:r>
              <a:rPr lang="en-US" altLang="zh-CN" baseline="-25000" dirty="0"/>
              <a:t> </a:t>
            </a:r>
            <a:r>
              <a:rPr lang="zh-CN" altLang="en-US" baseline="-25000" dirty="0"/>
              <a:t>质后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altLang="zh-CN" dirty="0"/>
              <a:t>m</a:t>
            </a:r>
            <a:r>
              <a:rPr lang="zh-CN" altLang="en-US" baseline="-25000" dirty="0"/>
              <a:t>液前</a:t>
            </a:r>
            <a:r>
              <a:rPr lang="el-GR" altLang="zh-CN" dirty="0"/>
              <a:t>ω</a:t>
            </a:r>
            <a:r>
              <a:rPr lang="zh-CN" altLang="en-US" baseline="-25000" dirty="0"/>
              <a:t>前</a:t>
            </a:r>
            <a:r>
              <a:rPr lang="en-US" altLang="zh-CN" dirty="0"/>
              <a:t>	 = m</a:t>
            </a:r>
            <a:r>
              <a:rPr lang="zh-CN" altLang="en-US" baseline="-25000" dirty="0"/>
              <a:t>液后</a:t>
            </a:r>
            <a:r>
              <a:rPr lang="el-GR" altLang="zh-CN" dirty="0"/>
              <a:t>ω</a:t>
            </a:r>
            <a:r>
              <a:rPr lang="zh-CN" altLang="en-US" baseline="-25000" dirty="0"/>
              <a:t>后</a:t>
            </a:r>
            <a:r>
              <a:rPr lang="en-US" altLang="zh-CN" dirty="0"/>
              <a:t>	</a:t>
            </a:r>
            <a:endParaRPr lang="en-US" dirty="0"/>
          </a:p>
          <a:p>
            <a:pPr>
              <a:buNone/>
            </a:pPr>
            <a:r>
              <a:rPr lang="en-US" altLang="zh-CN" dirty="0"/>
              <a:t>  50g x 98% = m</a:t>
            </a:r>
            <a:r>
              <a:rPr lang="zh-CN" altLang="en-US" baseline="-25000" dirty="0"/>
              <a:t>液后</a:t>
            </a:r>
            <a:r>
              <a:rPr lang="zh-CN" altLang="en-US" dirty="0"/>
              <a:t> </a:t>
            </a:r>
            <a:r>
              <a:rPr lang="en-US" altLang="zh-CN" dirty="0"/>
              <a:t>x 20%</a:t>
            </a:r>
          </a:p>
          <a:p>
            <a:pPr>
              <a:buNone/>
            </a:pPr>
            <a:r>
              <a:rPr lang="en-US" altLang="zh-CN" dirty="0"/>
              <a:t>           m</a:t>
            </a:r>
            <a:r>
              <a:rPr lang="zh-CN" altLang="en-US" baseline="-25000" dirty="0"/>
              <a:t>液后</a:t>
            </a:r>
            <a:r>
              <a:rPr lang="zh-CN" altLang="en-US" dirty="0"/>
              <a:t> </a:t>
            </a:r>
            <a:r>
              <a:rPr lang="en-US" altLang="zh-CN" dirty="0"/>
              <a:t>= 245g</a:t>
            </a: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zh-CN" altLang="en-US" dirty="0"/>
              <a:t>加入的水</a:t>
            </a:r>
            <a:r>
              <a:rPr lang="en-US" altLang="zh-CN" dirty="0"/>
              <a:t>=245g-50g </a:t>
            </a:r>
          </a:p>
          <a:p>
            <a:pPr>
              <a:buNone/>
            </a:pPr>
            <a:r>
              <a:rPr lang="en-US" altLang="zh-CN" dirty="0"/>
              <a:t>			 =195g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9846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8.7.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质量百分比浓度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207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07220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原溶液中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200g x 20% =40g</a:t>
            </a:r>
          </a:p>
          <a:p>
            <a:pPr marL="514350" indent="-514350">
              <a:buNone/>
            </a:pPr>
            <a:r>
              <a:rPr lang="zh-CN" altLang="en-US" dirty="0"/>
              <a:t>设加入</a:t>
            </a:r>
            <a:r>
              <a:rPr lang="en-US" altLang="zh-CN" dirty="0" err="1"/>
              <a:t>xg</a:t>
            </a:r>
            <a:r>
              <a:rPr lang="en-US" altLang="zh-CN" dirty="0"/>
              <a:t> </a:t>
            </a:r>
            <a:r>
              <a:rPr lang="en-US" altLang="zh-CN" dirty="0" err="1"/>
              <a:t>NaOH</a:t>
            </a:r>
            <a:r>
              <a:rPr lang="en-US" altLang="zh-CN" dirty="0"/>
              <a:t>(s)</a:t>
            </a:r>
            <a:r>
              <a:rPr lang="zh-CN" altLang="en-US" dirty="0"/>
              <a:t>后浓度增大到</a:t>
            </a:r>
            <a:r>
              <a:rPr lang="en-US" altLang="zh-CN" dirty="0"/>
              <a:t>40%</a:t>
            </a:r>
          </a:p>
          <a:p>
            <a:pPr marL="514350" indent="-514350">
              <a:buNone/>
            </a:pPr>
            <a:r>
              <a:rPr lang="en-US" altLang="zh-CN" dirty="0"/>
              <a:t>	</a:t>
            </a:r>
            <a:r>
              <a:rPr lang="zh-CN" altLang="en-US" dirty="0"/>
              <a:t>后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40+x</a:t>
            </a:r>
          </a:p>
          <a:p>
            <a:pPr marL="514350" indent="-514350">
              <a:buNone/>
            </a:pPr>
            <a:r>
              <a:rPr lang="en-US" altLang="zh-CN" dirty="0"/>
              <a:t>		m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200+x</a:t>
            </a:r>
          </a:p>
          <a:p>
            <a:pPr marL="514350" indent="-514350">
              <a:buNone/>
            </a:pPr>
            <a:r>
              <a:rPr lang="en-US" altLang="zh-CN" dirty="0"/>
              <a:t>					 </a:t>
            </a:r>
          </a:p>
          <a:p>
            <a:pPr marL="514350" indent="-514350">
              <a:buNone/>
            </a:pPr>
            <a:r>
              <a:rPr lang="en-US" altLang="zh-CN" dirty="0"/>
              <a:t>					 = 40%</a:t>
            </a:r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		40+ x   = 0.4(200+x)</a:t>
            </a:r>
          </a:p>
          <a:p>
            <a:pPr marL="514350" indent="-514350">
              <a:buNone/>
            </a:pPr>
            <a:r>
              <a:rPr lang="en-US" altLang="zh-CN" dirty="0"/>
              <a:t>				x =  66.67g</a:t>
            </a:r>
          </a:p>
          <a:p>
            <a:pPr marL="514350" indent="-514350">
              <a:buNone/>
            </a:pPr>
            <a:r>
              <a:rPr lang="zh-CN" altLang="en-US" dirty="0"/>
              <a:t>答：加入</a:t>
            </a:r>
            <a:r>
              <a:rPr lang="en-US" altLang="zh-CN" dirty="0"/>
              <a:t>66.67g </a:t>
            </a:r>
            <a:r>
              <a:rPr lang="en-US" altLang="zh-CN" dirty="0" err="1"/>
              <a:t>NaOH</a:t>
            </a:r>
            <a:r>
              <a:rPr lang="en-US" altLang="zh-CN" dirty="0"/>
              <a:t>(s)</a:t>
            </a:r>
            <a:r>
              <a:rPr lang="zh-CN" altLang="en-US" dirty="0"/>
              <a:t>后浓度增大到</a:t>
            </a:r>
            <a:r>
              <a:rPr lang="en-US" altLang="zh-CN" dirty="0"/>
              <a:t>40%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29674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71868" y="857232"/>
            <a:ext cx="192882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786446" y="85723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3"/>
          <p:cNvGrpSpPr/>
          <p:nvPr/>
        </p:nvGrpSpPr>
        <p:grpSpPr>
          <a:xfrm>
            <a:off x="928661" y="3429000"/>
            <a:ext cx="4000537" cy="1146397"/>
            <a:chOff x="2484407" y="1452562"/>
            <a:chExt cx="2817967" cy="1146397"/>
          </a:xfrm>
        </p:grpSpPr>
        <p:grpSp>
          <p:nvGrpSpPr>
            <p:cNvPr id="15" name="Group 24"/>
            <p:cNvGrpSpPr/>
            <p:nvPr/>
          </p:nvGrpSpPr>
          <p:grpSpPr>
            <a:xfrm>
              <a:off x="2635369" y="1452562"/>
              <a:ext cx="2667005" cy="857256"/>
              <a:chOff x="2635369" y="1452562"/>
              <a:chExt cx="2667005" cy="857256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25" name="Straight Connector 8"/>
              <p:cNvCxnSpPr/>
              <p:nvPr/>
            </p:nvCxnSpPr>
            <p:spPr>
              <a:xfrm>
                <a:off x="2635369" y="2022478"/>
                <a:ext cx="1094971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635370" y="1452562"/>
                <a:ext cx="10064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</a:t>
                </a:r>
                <a:r>
                  <a:rPr lang="en-US" altLang="zh-CN" sz="3600" dirty="0"/>
                  <a:t>40 + x</a:t>
                </a:r>
                <a:endParaRPr lang="en-US" sz="3600" dirty="0"/>
              </a:p>
            </p:txBody>
          </p:sp>
        </p:grpSp>
        <p:sp>
          <p:nvSpPr>
            <p:cNvPr id="19" name="TextBox 5"/>
            <p:cNvSpPr txBox="1"/>
            <p:nvPr/>
          </p:nvSpPr>
          <p:spPr>
            <a:xfrm>
              <a:off x="2484407" y="1952628"/>
              <a:ext cx="12580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200 + x</a:t>
              </a:r>
              <a:endParaRPr lang="en-US" sz="3600" dirty="0"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2357422" y="2071678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2285984" y="271462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31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animBg="1"/>
      <p:bldP spid="18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7384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48464" cy="607220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dirty="0"/>
              <a:t>2.</a:t>
            </a:r>
          </a:p>
          <a:p>
            <a:pPr marL="514350" indent="-514350">
              <a:buNone/>
            </a:pPr>
            <a:r>
              <a:rPr lang="zh-CN" altLang="en-US" dirty="0"/>
              <a:t>计算</a:t>
            </a:r>
            <a:r>
              <a:rPr lang="en-US" altLang="zh-CN" dirty="0"/>
              <a:t> 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500g x 0.9% </a:t>
            </a:r>
          </a:p>
          <a:p>
            <a:pPr marL="514350" indent="-514350">
              <a:buNone/>
            </a:pPr>
            <a:r>
              <a:rPr lang="en-US" altLang="zh-CN" dirty="0"/>
              <a:t>		       =4.5g</a:t>
            </a:r>
          </a:p>
          <a:p>
            <a:pPr marL="514350" indent="-514350">
              <a:buNone/>
            </a:pPr>
            <a:r>
              <a:rPr lang="en-US" altLang="zh-CN" dirty="0"/>
              <a:t>	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500g-4.5g</a:t>
            </a:r>
          </a:p>
          <a:p>
            <a:pPr marL="514350" indent="-514350">
              <a:buNone/>
            </a:pPr>
            <a:r>
              <a:rPr lang="en-US" altLang="zh-CN" dirty="0"/>
              <a:t>		   = 495.5g</a:t>
            </a:r>
          </a:p>
          <a:p>
            <a:pPr marL="514350" indent="-514350">
              <a:buNone/>
            </a:pPr>
            <a:r>
              <a:rPr lang="zh-CN" altLang="en-US" dirty="0"/>
              <a:t>称量：称</a:t>
            </a:r>
            <a:r>
              <a:rPr lang="en-US" altLang="zh-CN" dirty="0"/>
              <a:t>4.5gNaCl</a:t>
            </a:r>
            <a:r>
              <a:rPr lang="zh-CN" altLang="en-US" dirty="0"/>
              <a:t>、量</a:t>
            </a:r>
            <a:r>
              <a:rPr lang="en-US" altLang="zh-CN" dirty="0"/>
              <a:t>495.5mL</a:t>
            </a:r>
            <a:r>
              <a:rPr lang="zh-CN" altLang="en-US" dirty="0"/>
              <a:t>水（水密度</a:t>
            </a:r>
            <a:r>
              <a:rPr lang="en-US" altLang="zh-CN" dirty="0"/>
              <a:t>1g/</a:t>
            </a:r>
            <a:r>
              <a:rPr lang="en-US" altLang="zh-CN" dirty="0" err="1"/>
              <a:t>mL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14350" indent="-514350">
              <a:buNone/>
            </a:pPr>
            <a:r>
              <a:rPr lang="zh-CN" altLang="en-US" dirty="0"/>
              <a:t>溶解</a:t>
            </a:r>
            <a:endParaRPr lang="en-US" altLang="zh-CN" dirty="0"/>
          </a:p>
          <a:p>
            <a:pPr marL="514350" indent="-514350">
              <a:buNone/>
            </a:pPr>
            <a:r>
              <a:rPr lang="zh-CN" altLang="en-US" dirty="0"/>
              <a:t>装瓶</a:t>
            </a:r>
            <a:endParaRPr lang="en-US" altLang="zh-CN" dirty="0"/>
          </a:p>
          <a:p>
            <a:pPr marL="514350" indent="-514350">
              <a:buNone/>
            </a:pPr>
            <a:r>
              <a:rPr lang="zh-CN" altLang="en-US" dirty="0"/>
              <a:t>贴标签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29674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76168" y="1500174"/>
            <a:ext cx="2071702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164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 uiExpan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48464" cy="607220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已知</a:t>
            </a:r>
            <a:r>
              <a:rPr lang="en-US" altLang="zh-CN" sz="2800" dirty="0"/>
              <a:t> m</a:t>
            </a:r>
            <a:r>
              <a:rPr lang="zh-CN" altLang="en-US" sz="2800" baseline="-25000" dirty="0"/>
              <a:t>液</a:t>
            </a:r>
            <a:r>
              <a:rPr lang="zh-CN" altLang="en-US" sz="2800" dirty="0"/>
              <a:t> </a:t>
            </a:r>
            <a:r>
              <a:rPr lang="en-US" altLang="zh-CN" sz="2800" dirty="0"/>
              <a:t>= 35g	,m</a:t>
            </a:r>
            <a:r>
              <a:rPr lang="zh-CN" altLang="en-US" sz="2800" baseline="-25000" dirty="0"/>
              <a:t>质</a:t>
            </a:r>
            <a:r>
              <a:rPr lang="zh-CN" altLang="en-US" sz="2800" dirty="0"/>
              <a:t> </a:t>
            </a:r>
            <a:r>
              <a:rPr lang="en-US" altLang="zh-CN" sz="2800" dirty="0"/>
              <a:t>= 10g</a:t>
            </a:r>
          </a:p>
          <a:p>
            <a:pPr marL="514350" indent="-514350">
              <a:buNone/>
            </a:pPr>
            <a:r>
              <a:rPr lang="en-US" altLang="zh-CN" sz="2800" dirty="0"/>
              <a:t>           	  </a:t>
            </a:r>
            <a:r>
              <a:rPr lang="el-GR" altLang="zh-CN" sz="2800" dirty="0"/>
              <a:t>ω </a:t>
            </a:r>
            <a:r>
              <a:rPr lang="en-US" altLang="zh-CN" sz="2800" dirty="0"/>
              <a:t>=</a:t>
            </a:r>
            <a:endParaRPr lang="en-US" sz="2800" dirty="0"/>
          </a:p>
          <a:p>
            <a:pPr marL="514350" indent="-514350">
              <a:buNone/>
            </a:pPr>
            <a:r>
              <a:rPr lang="en-US" altLang="zh-CN" sz="2800" dirty="0"/>
              <a:t>		      = 28.57%</a:t>
            </a:r>
          </a:p>
          <a:p>
            <a:pPr>
              <a:buNone/>
            </a:pPr>
            <a:r>
              <a:rPr lang="en-US" altLang="zh-CN" sz="2800" dirty="0"/>
              <a:t>2. m</a:t>
            </a:r>
            <a:r>
              <a:rPr lang="en-US" altLang="zh-CN" sz="2800" baseline="-25000" dirty="0"/>
              <a:t> </a:t>
            </a:r>
            <a:r>
              <a:rPr lang="zh-CN" altLang="en-US" sz="2800" baseline="-25000" dirty="0"/>
              <a:t>质前</a:t>
            </a:r>
            <a:r>
              <a:rPr lang="zh-CN" altLang="en-US" sz="2800" dirty="0"/>
              <a:t> </a:t>
            </a:r>
            <a:r>
              <a:rPr lang="en-US" altLang="zh-CN" sz="2800" dirty="0"/>
              <a:t>= m</a:t>
            </a:r>
            <a:r>
              <a:rPr lang="en-US" altLang="zh-CN" sz="2800" baseline="-25000" dirty="0"/>
              <a:t> </a:t>
            </a:r>
            <a:r>
              <a:rPr lang="zh-CN" altLang="en-US" sz="2800" baseline="-25000" dirty="0"/>
              <a:t>质后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>
              <a:buNone/>
            </a:pPr>
            <a:r>
              <a:rPr lang="en-US" sz="2800" dirty="0"/>
              <a:t>	</a:t>
            </a:r>
            <a:r>
              <a:rPr lang="en-US" altLang="zh-CN" sz="2800" dirty="0"/>
              <a:t>m</a:t>
            </a:r>
            <a:r>
              <a:rPr lang="zh-CN" altLang="en-US" sz="2800" baseline="-25000" dirty="0"/>
              <a:t>液前</a:t>
            </a:r>
            <a:r>
              <a:rPr lang="el-GR" altLang="zh-CN" sz="2800" dirty="0"/>
              <a:t>ω</a:t>
            </a:r>
            <a:r>
              <a:rPr lang="zh-CN" altLang="en-US" sz="2800" baseline="-25000" dirty="0"/>
              <a:t>前</a:t>
            </a:r>
            <a:r>
              <a:rPr lang="en-US" altLang="zh-CN" sz="2800" dirty="0"/>
              <a:t>	 = m</a:t>
            </a:r>
            <a:r>
              <a:rPr lang="zh-CN" altLang="en-US" sz="2800" baseline="-25000" dirty="0"/>
              <a:t>液后</a:t>
            </a:r>
            <a:r>
              <a:rPr lang="el-GR" altLang="zh-CN" sz="2800" dirty="0"/>
              <a:t>ω</a:t>
            </a:r>
            <a:r>
              <a:rPr lang="zh-CN" altLang="en-US" sz="2800" baseline="-25000" dirty="0"/>
              <a:t>后</a:t>
            </a:r>
            <a:r>
              <a:rPr lang="en-US" altLang="zh-CN" sz="2800" dirty="0"/>
              <a:t>	</a:t>
            </a:r>
            <a:endParaRPr lang="en-US" sz="2800" dirty="0"/>
          </a:p>
          <a:p>
            <a:pPr>
              <a:buNone/>
            </a:pPr>
            <a:r>
              <a:rPr lang="en-US" altLang="zh-CN" sz="2800" dirty="0"/>
              <a:t> m</a:t>
            </a:r>
            <a:r>
              <a:rPr lang="zh-CN" altLang="en-US" sz="2800" baseline="-25000" dirty="0"/>
              <a:t>液前</a:t>
            </a:r>
            <a:r>
              <a:rPr lang="en-US" altLang="zh-CN" sz="2800" dirty="0"/>
              <a:t> x 38% = 5000g</a:t>
            </a:r>
            <a:r>
              <a:rPr lang="zh-CN" altLang="en-US" sz="2800" dirty="0"/>
              <a:t> </a:t>
            </a:r>
            <a:r>
              <a:rPr lang="en-US" altLang="zh-CN" sz="2800" dirty="0"/>
              <a:t>x 20%</a:t>
            </a:r>
          </a:p>
          <a:p>
            <a:pPr>
              <a:buNone/>
            </a:pPr>
            <a:r>
              <a:rPr lang="en-US" altLang="zh-CN" sz="2800" dirty="0"/>
              <a:t>           m</a:t>
            </a:r>
            <a:r>
              <a:rPr lang="zh-CN" altLang="en-US" sz="2800" baseline="-25000" dirty="0"/>
              <a:t>液前</a:t>
            </a:r>
            <a:r>
              <a:rPr lang="zh-CN" altLang="en-US" sz="2800" dirty="0"/>
              <a:t> </a:t>
            </a:r>
            <a:r>
              <a:rPr lang="en-US" altLang="zh-CN" sz="2800" dirty="0"/>
              <a:t>= 2631.58g</a:t>
            </a:r>
          </a:p>
          <a:p>
            <a:pPr>
              <a:buNone/>
            </a:pPr>
            <a:r>
              <a:rPr lang="en-US" altLang="zh-CN" sz="2800" dirty="0"/>
              <a:t>V</a:t>
            </a:r>
            <a:r>
              <a:rPr lang="zh-CN" altLang="en-US" sz="2800" baseline="-25000" dirty="0"/>
              <a:t>液</a:t>
            </a:r>
            <a:r>
              <a:rPr lang="zh-CN" altLang="en-US" sz="2800" dirty="0"/>
              <a:t> </a:t>
            </a:r>
            <a:r>
              <a:rPr lang="en-US" altLang="zh-CN" sz="2800" dirty="0"/>
              <a:t>=</a:t>
            </a:r>
            <a:r>
              <a:rPr lang="en-US" sz="2800" dirty="0"/>
              <a:t> 	    m</a:t>
            </a:r>
            <a:r>
              <a:rPr lang="zh-CN" altLang="en-US" sz="2800" baseline="-25000" dirty="0"/>
              <a:t>液</a:t>
            </a:r>
            <a:r>
              <a:rPr lang="en-US" altLang="zh-CN" sz="2800" baseline="-25000" dirty="0"/>
              <a:t>  </a:t>
            </a:r>
            <a:r>
              <a:rPr lang="en-US" altLang="zh-CN" sz="2800" dirty="0"/>
              <a:t>/  </a:t>
            </a:r>
            <a:r>
              <a:rPr lang="el-GR" sz="2800" dirty="0"/>
              <a:t>ρ</a:t>
            </a:r>
            <a:r>
              <a:rPr lang="zh-CN" altLang="en-US" sz="2800" baseline="-25000" dirty="0"/>
              <a:t>液   </a:t>
            </a:r>
            <a:endParaRPr lang="en-US" altLang="zh-CN" sz="2800" baseline="-25000" dirty="0"/>
          </a:p>
          <a:p>
            <a:pPr>
              <a:buNone/>
            </a:pPr>
            <a:r>
              <a:rPr lang="en-US" altLang="zh-CN" sz="2800" dirty="0"/>
              <a:t>	  =               	 </a:t>
            </a:r>
          </a:p>
          <a:p>
            <a:pPr>
              <a:buNone/>
            </a:pP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	 =      2211.41mL</a:t>
            </a:r>
          </a:p>
          <a:p>
            <a:pPr marL="514350" indent="-514350">
              <a:buNone/>
            </a:pPr>
            <a:endParaRPr lang="en-US" altLang="zh-CN" sz="2800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33217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18e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3"/>
          <p:cNvGrpSpPr/>
          <p:nvPr/>
        </p:nvGrpSpPr>
        <p:grpSpPr>
          <a:xfrm>
            <a:off x="1857349" y="1142983"/>
            <a:ext cx="3357595" cy="857257"/>
            <a:chOff x="2786333" y="1512165"/>
            <a:chExt cx="2365080" cy="1058215"/>
          </a:xfrm>
        </p:grpSpPr>
        <p:grpSp>
          <p:nvGrpSpPr>
            <p:cNvPr id="8" name="Group 24"/>
            <p:cNvGrpSpPr/>
            <p:nvPr/>
          </p:nvGrpSpPr>
          <p:grpSpPr>
            <a:xfrm>
              <a:off x="2937300" y="1512165"/>
              <a:ext cx="2214113" cy="797198"/>
              <a:chOff x="2937300" y="1512165"/>
              <a:chExt cx="2214113" cy="797198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541149" y="1663490"/>
                <a:ext cx="1610264" cy="645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x 100%</a:t>
                </a:r>
                <a:endParaRPr lang="en-US" sz="2800" dirty="0"/>
              </a:p>
            </p:txBody>
          </p:sp>
          <p:cxnSp>
            <p:nvCxnSpPr>
              <p:cNvPr id="11" name="Straight Connector 8"/>
              <p:cNvCxnSpPr/>
              <p:nvPr/>
            </p:nvCxnSpPr>
            <p:spPr>
              <a:xfrm>
                <a:off x="2937300" y="2041272"/>
                <a:ext cx="57969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2978995" y="1512165"/>
                <a:ext cx="914399" cy="645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10</a:t>
                </a:r>
              </a:p>
            </p:txBody>
          </p:sp>
        </p:grpSp>
        <p:sp>
          <p:nvSpPr>
            <p:cNvPr id="9" name="TextBox 5"/>
            <p:cNvSpPr txBox="1"/>
            <p:nvPr/>
          </p:nvSpPr>
          <p:spPr>
            <a:xfrm>
              <a:off x="2786333" y="1924507"/>
              <a:ext cx="1107054" cy="645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    35</a:t>
              </a:r>
              <a:endParaRPr lang="en-US" sz="2800" dirty="0"/>
            </a:p>
          </p:txBody>
        </p:sp>
      </p:grp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1428729" y="4929198"/>
          <a:ext cx="1643074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9" y="4929198"/>
                        <a:ext cx="1643074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6469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3.</a:t>
            </a:r>
            <a:r>
              <a:rPr lang="zh-CN" altLang="en-US" dirty="0"/>
              <a:t>在</a:t>
            </a:r>
            <a:r>
              <a:rPr lang="en-US" altLang="zh-CN" dirty="0"/>
              <a:t>50g10%</a:t>
            </a:r>
            <a:r>
              <a:rPr lang="zh-CN" altLang="en-US" dirty="0"/>
              <a:t>的</a:t>
            </a: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zh-CN" altLang="en-US" dirty="0"/>
              <a:t>中，再加入多少克</a:t>
            </a:r>
            <a:r>
              <a:rPr lang="en-US" altLang="zh-CN" dirty="0"/>
              <a:t>30%</a:t>
            </a:r>
            <a:r>
              <a:rPr lang="zh-CN" altLang="en-US" dirty="0"/>
              <a:t>的</a:t>
            </a: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zh-CN" altLang="en-US" dirty="0"/>
              <a:t>，才能配成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15%</a:t>
            </a:r>
            <a:r>
              <a:rPr lang="zh-CN" altLang="en-US" dirty="0"/>
              <a:t>的</a:t>
            </a:r>
            <a:r>
              <a:rPr lang="en-US" altLang="zh-CN" dirty="0" err="1"/>
              <a:t>NaOH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)?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设：需加入</a:t>
            </a:r>
            <a:r>
              <a:rPr lang="en-US" altLang="zh-CN" dirty="0" err="1"/>
              <a:t>xg</a:t>
            </a:r>
            <a:r>
              <a:rPr lang="en-US" altLang="zh-CN" dirty="0"/>
              <a:t> 30%</a:t>
            </a:r>
            <a:r>
              <a:rPr lang="zh-CN" altLang="en-US" dirty="0"/>
              <a:t>的</a:t>
            </a:r>
            <a:r>
              <a:rPr lang="en-US" altLang="zh-CN" dirty="0" err="1"/>
              <a:t>NaOH</a:t>
            </a:r>
            <a:r>
              <a:rPr lang="zh-CN" altLang="en-US" dirty="0"/>
              <a:t>溶液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则混合后</a:t>
            </a:r>
            <a:r>
              <a:rPr lang="en-US" altLang="zh-CN" dirty="0"/>
              <a:t>m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(50 + x)g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     m</a:t>
            </a:r>
            <a:r>
              <a:rPr lang="en-US" altLang="zh-CN" baseline="-25000" dirty="0"/>
              <a:t> 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1</a:t>
            </a:r>
            <a:r>
              <a:rPr lang="en-US" altLang="zh-CN" dirty="0"/>
              <a:t> + m</a:t>
            </a:r>
            <a:r>
              <a:rPr lang="en-US" altLang="zh-CN" baseline="-25000" dirty="0"/>
              <a:t> 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2</a:t>
            </a:r>
            <a:r>
              <a:rPr lang="en-US" altLang="zh-CN" dirty="0"/>
              <a:t> = m</a:t>
            </a:r>
            <a:r>
              <a:rPr lang="en-US" altLang="zh-CN" baseline="-25000" dirty="0"/>
              <a:t> </a:t>
            </a:r>
            <a:r>
              <a:rPr lang="zh-CN" altLang="en-US" baseline="-25000" dirty="0"/>
              <a:t>质总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50x10% + </a:t>
            </a:r>
            <a:r>
              <a:rPr lang="en-US" altLang="zh-CN" dirty="0" err="1"/>
              <a:t>xg</a:t>
            </a:r>
            <a:r>
              <a:rPr lang="en-US" altLang="zh-CN" dirty="0"/>
              <a:t> 30% = (50+x)15%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dirty="0"/>
              <a:t>  		       5+ 0.3x = 0.15(50+x)</a:t>
            </a:r>
          </a:p>
          <a:p>
            <a:pPr>
              <a:buNone/>
            </a:pPr>
            <a:r>
              <a:rPr lang="en-US" altLang="zh-CN" dirty="0"/>
              <a:t>			         x = 16.67g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33217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18e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1402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578647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欲配制</a:t>
            </a:r>
            <a:r>
              <a:rPr lang="en-US" altLang="zh-CN" dirty="0"/>
              <a:t>0.2%</a:t>
            </a:r>
            <a:r>
              <a:rPr lang="zh-CN" altLang="en-US" dirty="0"/>
              <a:t>的</a:t>
            </a:r>
            <a:r>
              <a:rPr lang="en-US" altLang="zh-CN" dirty="0"/>
              <a:t>CuSO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溶液</a:t>
            </a:r>
            <a:r>
              <a:rPr lang="en-US" altLang="zh-CN" dirty="0"/>
              <a:t>50kg</a:t>
            </a:r>
            <a:r>
              <a:rPr lang="zh-CN" altLang="en-US" dirty="0"/>
              <a:t>，需要</a:t>
            </a:r>
            <a:endParaRPr lang="en-US" altLang="zh-CN" dirty="0"/>
          </a:p>
          <a:p>
            <a:pPr marL="514350" indent="-514350">
              <a:buNone/>
            </a:pPr>
            <a:r>
              <a:rPr lang="en-US" dirty="0"/>
              <a:t>	CuSO</a:t>
            </a:r>
            <a:r>
              <a:rPr lang="en-US" baseline="-25000" dirty="0"/>
              <a:t>4</a:t>
            </a:r>
            <a:r>
              <a:rPr lang="en-US" dirty="0"/>
              <a:t> · 5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zh-CN" altLang="en-US" dirty="0"/>
              <a:t>多少克？</a:t>
            </a:r>
            <a:endParaRPr lang="en-US" altLang="zh-CN" dirty="0"/>
          </a:p>
          <a:p>
            <a:pPr marL="514350" indent="-514350">
              <a:buNone/>
            </a:pP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2060"/>
                </a:solidFill>
              </a:rPr>
              <a:t>结晶水</a:t>
            </a:r>
            <a:r>
              <a:rPr lang="zh-CN" altLang="en-US" dirty="0"/>
              <a:t>的质量算在</a:t>
            </a:r>
            <a:r>
              <a:rPr lang="zh-CN" altLang="en-US" b="1" dirty="0">
                <a:solidFill>
                  <a:srgbClr val="002060"/>
                </a:solidFill>
              </a:rPr>
              <a:t>溶剂</a:t>
            </a:r>
            <a:r>
              <a:rPr lang="zh-CN" altLang="en-US" dirty="0"/>
              <a:t>质量中</a:t>
            </a:r>
            <a:r>
              <a:rPr lang="en-US" altLang="zh-CN" dirty="0"/>
              <a:t>,</a:t>
            </a:r>
            <a:r>
              <a:rPr lang="zh-CN" altLang="en-US" dirty="0"/>
              <a:t>不算在溶质。</a:t>
            </a:r>
            <a:endParaRPr lang="en-US" dirty="0"/>
          </a:p>
          <a:p>
            <a:pPr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50kg x 0.2% </a:t>
            </a:r>
          </a:p>
          <a:p>
            <a:pPr>
              <a:buNone/>
            </a:pPr>
            <a:r>
              <a:rPr lang="en-US" dirty="0"/>
              <a:t>	    = 0.1</a:t>
            </a:r>
            <a:r>
              <a:rPr lang="en-US" altLang="zh-CN" dirty="0"/>
              <a:t>kg</a:t>
            </a:r>
          </a:p>
          <a:p>
            <a:pPr>
              <a:buNone/>
            </a:pPr>
            <a:r>
              <a:rPr lang="en-US" dirty="0"/>
              <a:t>	    </a:t>
            </a:r>
            <a:r>
              <a:rPr lang="en-US" altLang="zh-CN" dirty="0"/>
              <a:t>= 100g</a:t>
            </a:r>
          </a:p>
          <a:p>
            <a:pPr>
              <a:buNone/>
            </a:pPr>
            <a:r>
              <a:rPr lang="en-US" dirty="0"/>
              <a:t>	m(CuSO</a:t>
            </a:r>
            <a:r>
              <a:rPr lang="en-US" baseline="-25000" dirty="0"/>
              <a:t>4</a:t>
            </a:r>
            <a:r>
              <a:rPr lang="en-US" dirty="0"/>
              <a:t>)	m(CuSO</a:t>
            </a:r>
            <a:r>
              <a:rPr lang="en-US" baseline="-25000" dirty="0"/>
              <a:t>4</a:t>
            </a:r>
            <a:r>
              <a:rPr lang="en-US" dirty="0"/>
              <a:t> · 5 H</a:t>
            </a:r>
            <a:r>
              <a:rPr lang="en-US" baseline="-25000" dirty="0"/>
              <a:t>2</a:t>
            </a:r>
            <a:r>
              <a:rPr lang="en-US" dirty="0"/>
              <a:t>O)</a:t>
            </a:r>
          </a:p>
          <a:p>
            <a:pPr>
              <a:buNone/>
            </a:pPr>
            <a:r>
              <a:rPr lang="en-US" dirty="0"/>
              <a:t>	100g			</a:t>
            </a:r>
            <a:r>
              <a:rPr lang="en-US" dirty="0" err="1"/>
              <a:t>xg</a:t>
            </a:r>
            <a:endParaRPr lang="en-US" dirty="0"/>
          </a:p>
          <a:p>
            <a:pPr>
              <a:buNone/>
            </a:pPr>
            <a:r>
              <a:rPr lang="en-US" dirty="0"/>
              <a:t>	160g			250g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altLang="zh-CN" dirty="0"/>
              <a:t>x = 156.25g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2271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补充题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2910" y="4572008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071934" y="4572008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642910" y="514351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143372" y="514351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357158" y="4643446"/>
            <a:ext cx="5286412" cy="915194"/>
            <a:chOff x="2285190" y="2895600"/>
            <a:chExt cx="3929884" cy="915194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768165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0800000" flipV="1">
              <a:off x="3768166" y="3048000"/>
              <a:ext cx="838200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47562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578647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CN" dirty="0"/>
              <a:t>100mL</a:t>
            </a:r>
            <a:r>
              <a:rPr lang="zh-CN" altLang="en-US" dirty="0"/>
              <a:t>溶液中所含溶质的体积。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体积百分比浓度</a:t>
            </a:r>
            <a:r>
              <a:rPr lang="en-US" altLang="zh-CN" dirty="0"/>
              <a:t>=</a:t>
            </a:r>
            <a:endParaRPr lang="en-US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单位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% V/V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8533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资料链接：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体积百分比浓度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28982" y="1639661"/>
            <a:ext cx="3643348" cy="1289273"/>
            <a:chOff x="2736010" y="1309686"/>
            <a:chExt cx="2566364" cy="1289273"/>
          </a:xfrm>
        </p:grpSpPr>
        <p:grpSp>
          <p:nvGrpSpPr>
            <p:cNvPr id="5" name="Group 24"/>
            <p:cNvGrpSpPr/>
            <p:nvPr/>
          </p:nvGrpSpPr>
          <p:grpSpPr>
            <a:xfrm>
              <a:off x="2878345" y="1309686"/>
              <a:ext cx="2424029" cy="1000132"/>
              <a:chOff x="2878345" y="1309686"/>
              <a:chExt cx="2424029" cy="1000132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11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</a:t>
                </a:r>
                <a:r>
                  <a:rPr lang="en-US" altLang="zh-CN" sz="3600" dirty="0"/>
                  <a:t>V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9" name="TextBox 5"/>
            <p:cNvSpPr txBox="1"/>
            <p:nvPr/>
          </p:nvSpPr>
          <p:spPr>
            <a:xfrm>
              <a:off x="2736010" y="1952628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pic>
        <p:nvPicPr>
          <p:cNvPr id="18" name="Picture 2" descr="C:\Users\user\Desktop\96.jpg"/>
          <p:cNvPicPr>
            <a:picLocks noChangeAspect="1" noChangeArrowheads="1"/>
          </p:cNvPicPr>
          <p:nvPr/>
        </p:nvPicPr>
        <p:blipFill>
          <a:blip r:embed="rId3"/>
          <a:srcRect l="25000" r="46875"/>
          <a:stretch>
            <a:fillRect/>
          </a:stretch>
        </p:blipFill>
        <p:spPr bwMode="auto">
          <a:xfrm>
            <a:off x="6357950" y="825500"/>
            <a:ext cx="2143140" cy="6032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89085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dirty="0"/>
              <a:t>1L</a:t>
            </a:r>
            <a:r>
              <a:rPr lang="zh-CN" altLang="en-US" dirty="0"/>
              <a:t>溶液中所含溶质的摩尔数。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物质的量浓度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M</a:t>
            </a:r>
            <a:r>
              <a:rPr lang="en-US" altLang="zh-CN" dirty="0"/>
              <a:t> =				</a:t>
            </a:r>
          </a:p>
          <a:p>
            <a:pPr>
              <a:buNone/>
            </a:pP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u="sng" dirty="0"/>
              <a:t>例题</a:t>
            </a:r>
            <a:r>
              <a:rPr lang="en-US" altLang="zh-CN" u="sng" dirty="0"/>
              <a:t>7</a:t>
            </a:r>
          </a:p>
          <a:p>
            <a:pPr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	= 8.19g/58.5gmol</a:t>
            </a:r>
            <a:r>
              <a:rPr lang="en-US" altLang="zh-CN" baseline="30000" dirty="0"/>
              <a:t>-1</a:t>
            </a:r>
          </a:p>
          <a:p>
            <a:pPr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= 0.14 mol</a:t>
            </a:r>
          </a:p>
          <a:p>
            <a:pPr>
              <a:buFont typeface="Wingdings" pitchFamily="2" charset="2"/>
              <a:buChar char="Ø"/>
            </a:pPr>
            <a:r>
              <a:rPr lang="zh-CN" altLang="en-US" u="sng" dirty="0"/>
              <a:t>问题解决</a:t>
            </a:r>
            <a:endParaRPr lang="en-US" altLang="zh-CN" u="sng" dirty="0"/>
          </a:p>
          <a:p>
            <a:pPr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	= 0.2Mx 0.25L </a:t>
            </a:r>
          </a:p>
          <a:p>
            <a:pPr>
              <a:buNone/>
            </a:pPr>
            <a:r>
              <a:rPr lang="en-US" altLang="zh-CN" dirty="0"/>
              <a:t>		= 0.05mol</a:t>
            </a:r>
          </a:p>
          <a:p>
            <a:pPr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 	= 0.05mol x 58.5gmol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	= 2.925g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物质的量浓度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3"/>
          <p:cNvGrpSpPr/>
          <p:nvPr/>
        </p:nvGrpSpPr>
        <p:grpSpPr>
          <a:xfrm>
            <a:off x="3214678" y="1428736"/>
            <a:ext cx="1571637" cy="1084842"/>
            <a:chOff x="2736010" y="1442679"/>
            <a:chExt cx="1107054" cy="1084842"/>
          </a:xfrm>
        </p:grpSpPr>
        <p:grpSp>
          <p:nvGrpSpPr>
            <p:cNvPr id="8" name="Group 24"/>
            <p:cNvGrpSpPr/>
            <p:nvPr/>
          </p:nvGrpSpPr>
          <p:grpSpPr>
            <a:xfrm>
              <a:off x="2878345" y="1442679"/>
              <a:ext cx="914399" cy="646331"/>
              <a:chOff x="2878345" y="1442679"/>
              <a:chExt cx="914399" cy="646331"/>
            </a:xfrm>
          </p:grpSpPr>
          <p:cxnSp>
            <p:nvCxnSpPr>
              <p:cNvPr id="2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78345" y="1442679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19" name="TextBox 5"/>
            <p:cNvSpPr txBox="1"/>
            <p:nvPr/>
          </p:nvSpPr>
          <p:spPr>
            <a:xfrm>
              <a:off x="2736010" y="1881190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5510218" y="1643050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单位</a:t>
            </a:r>
            <a:r>
              <a:rPr lang="en-US" altLang="zh-CN" sz="3600" dirty="0"/>
              <a:t>:</a:t>
            </a:r>
            <a:r>
              <a:rPr lang="zh-CN" altLang="en-US" sz="3600" dirty="0"/>
              <a:t> </a:t>
            </a:r>
            <a:r>
              <a:rPr lang="en-US" altLang="zh-CN" sz="3600" dirty="0"/>
              <a:t>mol/L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571381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u="sng" dirty="0"/>
              <a:t>交流分享</a:t>
            </a:r>
            <a:endParaRPr lang="en-US" altLang="zh-CN" u="sng" dirty="0"/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不是。</a:t>
            </a:r>
            <a:r>
              <a:rPr lang="en-US" altLang="zh-CN" dirty="0"/>
              <a:t>V</a:t>
            </a:r>
            <a:r>
              <a:rPr lang="zh-CN" altLang="en-US" baseline="-25000" dirty="0"/>
              <a:t>剂</a:t>
            </a:r>
            <a:r>
              <a:rPr lang="zh-CN" altLang="en-US" dirty="0"/>
              <a:t> ≠</a:t>
            </a:r>
            <a:r>
              <a:rPr lang="en-US" altLang="zh-CN" dirty="0"/>
              <a:t>V</a:t>
            </a:r>
            <a:r>
              <a:rPr lang="zh-CN" altLang="en-US" baseline="-25000" dirty="0"/>
              <a:t>液</a:t>
            </a:r>
            <a:r>
              <a:rPr lang="en-US" altLang="zh-CN" dirty="0"/>
              <a:t> </a:t>
            </a:r>
          </a:p>
          <a:p>
            <a:pPr>
              <a:spcBef>
                <a:spcPts val="0"/>
              </a:spcBef>
              <a:buNone/>
            </a:pP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zh-CN" altLang="en-US" u="sng" dirty="0"/>
              <a:t>问题解决</a:t>
            </a:r>
            <a:endParaRPr lang="en-US" altLang="zh-CN" u="sng" dirty="0"/>
          </a:p>
          <a:p>
            <a:pPr>
              <a:spcBef>
                <a:spcPts val="0"/>
              </a:spcBef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	= 0.15molL</a:t>
            </a:r>
            <a:r>
              <a:rPr lang="en-US" altLang="zh-CN" baseline="30000" dirty="0"/>
              <a:t>-1</a:t>
            </a:r>
            <a:r>
              <a:rPr lang="en-US" altLang="zh-CN" dirty="0"/>
              <a:t>x0.5Lx 58.5gmol</a:t>
            </a:r>
            <a:r>
              <a:rPr lang="en-US" altLang="zh-CN" baseline="30000" dirty="0"/>
              <a:t>-1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=4.39g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</a:p>
          <a:p>
            <a:pPr>
              <a:spcBef>
                <a:spcPts val="0"/>
              </a:spcBef>
              <a:buNone/>
            </a:pP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zh-CN" altLang="en-US" u="sng" dirty="0"/>
              <a:t>交流分享</a:t>
            </a:r>
            <a:endParaRPr lang="en-US" altLang="zh-CN" u="sng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 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	= 1.5molL</a:t>
            </a:r>
            <a:r>
              <a:rPr lang="en-US" altLang="zh-CN" baseline="30000" dirty="0"/>
              <a:t>-1</a:t>
            </a:r>
            <a:r>
              <a:rPr lang="en-US" altLang="zh-CN" dirty="0"/>
              <a:t>x1Lx 180gmol</a:t>
            </a:r>
            <a:r>
              <a:rPr lang="en-US" altLang="zh-CN" baseline="30000" dirty="0"/>
              <a:t>-1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		=  270g  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步骤：计算，称量，溶解，转移，洗涤，定容，摇匀，装瓶。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物质的量浓度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6820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5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8</a:t>
            </a:r>
          </a:p>
          <a:p>
            <a:pPr>
              <a:buNone/>
            </a:pPr>
            <a:r>
              <a:rPr lang="zh-CN" altLang="en-US" sz="3000" dirty="0"/>
              <a:t>将</a:t>
            </a:r>
            <a:r>
              <a:rPr lang="en-US" altLang="zh-CN" sz="3000" dirty="0"/>
              <a:t>20gNaOH</a:t>
            </a:r>
            <a:r>
              <a:rPr lang="zh-CN" altLang="en-US" sz="3000" dirty="0"/>
              <a:t>溶于水中配成</a:t>
            </a:r>
            <a:r>
              <a:rPr lang="en-US" altLang="zh-CN" sz="3000" dirty="0"/>
              <a:t>250mL</a:t>
            </a:r>
            <a:r>
              <a:rPr lang="zh-CN" altLang="en-US" sz="3000" dirty="0"/>
              <a:t>的溶液，计算所得的溶液的物质的量浓度。</a:t>
            </a:r>
            <a:endParaRPr lang="en-US" altLang="zh-CN" sz="3000" dirty="0"/>
          </a:p>
          <a:p>
            <a:pPr>
              <a:buNone/>
            </a:pPr>
            <a:r>
              <a:rPr lang="en-US" altLang="zh-CN" sz="3600" dirty="0"/>
              <a:t>M(</a:t>
            </a:r>
            <a:r>
              <a:rPr lang="en-US" altLang="zh-CN" sz="3600" dirty="0" err="1"/>
              <a:t>NaOH</a:t>
            </a:r>
            <a:r>
              <a:rPr lang="en-US" altLang="zh-CN" sz="3600" dirty="0"/>
              <a:t>)=40g/mol</a:t>
            </a:r>
            <a:endParaRPr lang="en-US" altLang="zh-CN" sz="4000" dirty="0"/>
          </a:p>
          <a:p>
            <a:pPr>
              <a:buNone/>
            </a:pPr>
            <a:r>
              <a:rPr lang="en-US" altLang="zh-CN" sz="4000" dirty="0"/>
              <a:t>n</a:t>
            </a:r>
            <a:r>
              <a:rPr lang="zh-CN" altLang="en-US" sz="4000" baseline="-25000" dirty="0"/>
              <a:t>质</a:t>
            </a:r>
            <a:r>
              <a:rPr lang="en-US" altLang="zh-CN" sz="4000" dirty="0"/>
              <a:t> =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   </a:t>
            </a:r>
            <a:r>
              <a:rPr lang="en-US" altLang="zh-CN" sz="3600" dirty="0"/>
              <a:t>= 0.5mol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物质的量浓度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000100" y="2925545"/>
            <a:ext cx="3071834" cy="1149786"/>
            <a:chOff x="2657733" y="1360195"/>
            <a:chExt cx="1682959" cy="1419316"/>
          </a:xfrm>
        </p:grpSpPr>
        <p:grpSp>
          <p:nvGrpSpPr>
            <p:cNvPr id="5" name="Group 24"/>
            <p:cNvGrpSpPr/>
            <p:nvPr/>
          </p:nvGrpSpPr>
          <p:grpSpPr>
            <a:xfrm>
              <a:off x="2881221" y="1360195"/>
              <a:ext cx="1224640" cy="797842"/>
              <a:chOff x="2881221" y="1360195"/>
              <a:chExt cx="1224640" cy="797842"/>
            </a:xfrm>
          </p:grpSpPr>
          <p:cxnSp>
            <p:nvCxnSpPr>
              <p:cNvPr id="29" name="Straight Connector 8"/>
              <p:cNvCxnSpPr/>
              <p:nvPr/>
            </p:nvCxnSpPr>
            <p:spPr>
              <a:xfrm>
                <a:off x="2881221" y="2022478"/>
                <a:ext cx="1202329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2990178" y="1360195"/>
                <a:ext cx="1115683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</a:t>
                </a:r>
                <a:r>
                  <a:rPr lang="en-US" altLang="zh-CN" sz="3600" dirty="0"/>
                  <a:t>20g</a:t>
                </a:r>
                <a:endParaRPr lang="en-US" sz="3600" dirty="0"/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2657733" y="1981669"/>
              <a:ext cx="1682959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40g/mol</a:t>
              </a:r>
              <a:endParaRPr lang="en-US" sz="3600" dirty="0"/>
            </a:p>
          </p:txBody>
        </p:sp>
      </p:grpSp>
      <p:grpSp>
        <p:nvGrpSpPr>
          <p:cNvPr id="9" name="Group 3"/>
          <p:cNvGrpSpPr/>
          <p:nvPr/>
        </p:nvGrpSpPr>
        <p:grpSpPr>
          <a:xfrm>
            <a:off x="4286247" y="2996983"/>
            <a:ext cx="3857653" cy="1146397"/>
            <a:chOff x="1628952" y="1452562"/>
            <a:chExt cx="2214112" cy="1146397"/>
          </a:xfrm>
        </p:grpSpPr>
        <p:grpSp>
          <p:nvGrpSpPr>
            <p:cNvPr id="10" name="Group 24"/>
            <p:cNvGrpSpPr/>
            <p:nvPr/>
          </p:nvGrpSpPr>
          <p:grpSpPr>
            <a:xfrm>
              <a:off x="1628952" y="1452562"/>
              <a:ext cx="2163792" cy="857256"/>
              <a:chOff x="1628952" y="1452562"/>
              <a:chExt cx="2163792" cy="857256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628952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[</a:t>
                </a:r>
                <a:r>
                  <a:rPr lang="en-US" altLang="zh-CN" sz="3600" b="1" dirty="0" err="1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NaOH</a:t>
                </a:r>
                <a:r>
                  <a:rPr lang="en-US" altLang="zh-CN" sz="36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 =</a:t>
                </a:r>
                <a:endParaRPr lang="en-US" sz="3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6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878345" y="1452562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24" name="TextBox 5"/>
            <p:cNvSpPr txBox="1"/>
            <p:nvPr/>
          </p:nvSpPr>
          <p:spPr>
            <a:xfrm>
              <a:off x="2736010" y="1952628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grpSp>
        <p:nvGrpSpPr>
          <p:cNvPr id="11" name="Group 3"/>
          <p:cNvGrpSpPr/>
          <p:nvPr/>
        </p:nvGrpSpPr>
        <p:grpSpPr>
          <a:xfrm>
            <a:off x="5140247" y="4143380"/>
            <a:ext cx="3360843" cy="1071570"/>
            <a:chOff x="1930875" y="1455951"/>
            <a:chExt cx="2367368" cy="1071570"/>
          </a:xfrm>
        </p:grpSpPr>
        <p:grpSp>
          <p:nvGrpSpPr>
            <p:cNvPr id="12" name="Group 24"/>
            <p:cNvGrpSpPr/>
            <p:nvPr/>
          </p:nvGrpSpPr>
          <p:grpSpPr>
            <a:xfrm>
              <a:off x="1930875" y="1455951"/>
              <a:ext cx="2367368" cy="853867"/>
              <a:chOff x="1930875" y="1455951"/>
              <a:chExt cx="2367368" cy="85386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      =</a:t>
                </a:r>
                <a:endParaRPr lang="en-US" sz="3600" dirty="0"/>
              </a:p>
            </p:txBody>
          </p:sp>
          <p:cxnSp>
            <p:nvCxnSpPr>
              <p:cNvPr id="42" name="Straight Connector 8"/>
              <p:cNvCxnSpPr/>
              <p:nvPr/>
            </p:nvCxnSpPr>
            <p:spPr>
              <a:xfrm>
                <a:off x="2881221" y="2022478"/>
                <a:ext cx="141702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736006" y="1455951"/>
                <a:ext cx="1559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0.</a:t>
                </a:r>
                <a:r>
                  <a:rPr lang="en-US" altLang="zh-CN" sz="3600" dirty="0"/>
                  <a:t>5</a:t>
                </a:r>
                <a:r>
                  <a:rPr lang="en-US" sz="3600" dirty="0"/>
                  <a:t>mol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2736010" y="1881190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0.25L</a:t>
              </a:r>
              <a:endParaRPr lang="en-US" sz="3600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845638" y="5214950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</a:t>
            </a:r>
            <a:r>
              <a:rPr lang="en-US" altLang="zh-CN" sz="3600" dirty="0"/>
              <a:t>2</a:t>
            </a:r>
            <a:r>
              <a:rPr lang="en-US" sz="3600" dirty="0"/>
              <a:t>mol/</a:t>
            </a:r>
            <a:r>
              <a:rPr lang="en-US" altLang="zh-CN" sz="3600" dirty="0"/>
              <a:t>L</a:t>
            </a:r>
            <a:endParaRPr lang="en-US" sz="3600" dirty="0"/>
          </a:p>
        </p:txBody>
      </p:sp>
      <p:sp>
        <p:nvSpPr>
          <p:cNvPr id="32" name="TextBox 31"/>
          <p:cNvSpPr txBox="1"/>
          <p:nvPr/>
        </p:nvSpPr>
        <p:spPr>
          <a:xfrm>
            <a:off x="5857884" y="5854503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M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87518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3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9</a:t>
            </a:r>
          </a:p>
          <a:p>
            <a:pPr>
              <a:buNone/>
            </a:pPr>
            <a:r>
              <a:rPr lang="en-US" altLang="zh-CN" sz="3000" dirty="0"/>
              <a:t>		NaOH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en-US" altLang="zh-CN" sz="3000" dirty="0"/>
              <a:t> +  HCl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sz="3000" dirty="0">
                <a:sym typeface="Wingdings" pitchFamily="2" charset="2"/>
              </a:rPr>
              <a:t> NaCl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sz="3000" dirty="0">
                <a:sym typeface="Wingdings" pitchFamily="2" charset="2"/>
              </a:rPr>
              <a:t>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  <a:r>
              <a:rPr lang="en-US" altLang="zh-CN" dirty="0"/>
              <a:t>(l) </a:t>
            </a:r>
            <a:endParaRPr lang="en-US" altLang="zh-CN" sz="3000" dirty="0"/>
          </a:p>
          <a:p>
            <a:pPr>
              <a:buNone/>
            </a:pPr>
            <a:r>
              <a:rPr lang="en-US" altLang="zh-CN" sz="3600" dirty="0"/>
              <a:t>		1mol	      </a:t>
            </a:r>
            <a:r>
              <a:rPr lang="en-US" altLang="zh-CN" sz="3600" dirty="0" err="1"/>
              <a:t>1mol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	</a:t>
            </a:r>
            <a:r>
              <a:rPr lang="en-US" altLang="zh-CN" sz="3600" dirty="0" err="1"/>
              <a:t>c</a:t>
            </a:r>
            <a:r>
              <a:rPr lang="en-US" altLang="zh-CN" sz="3600" baseline="-25000" dirty="0" err="1"/>
              <a:t>M</a:t>
            </a:r>
            <a:r>
              <a:rPr lang="en-US" altLang="zh-CN" sz="3600" dirty="0"/>
              <a:t> x0.025L    0.1Mx0.0245L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C</a:t>
            </a:r>
            <a:r>
              <a:rPr lang="en-US" altLang="zh-CN" sz="3600" baseline="-25000" dirty="0"/>
              <a:t>M</a:t>
            </a:r>
            <a:r>
              <a:rPr lang="en-US" altLang="zh-CN" sz="3600" dirty="0"/>
              <a:t> x 0.025L = 0.1M x 0.0245L</a:t>
            </a:r>
          </a:p>
          <a:p>
            <a:pPr>
              <a:buNone/>
            </a:pPr>
            <a:r>
              <a:rPr lang="en-US" altLang="zh-CN" sz="3600" dirty="0"/>
              <a:t>		     C</a:t>
            </a:r>
            <a:r>
              <a:rPr lang="en-US" altLang="zh-CN" sz="3600" baseline="-25000" dirty="0"/>
              <a:t>M</a:t>
            </a:r>
            <a:r>
              <a:rPr lang="en-US" altLang="zh-CN" sz="3600" dirty="0"/>
              <a:t> = 0.098M</a:t>
            </a:r>
            <a:endParaRPr lang="en-US" altLang="zh-CN" sz="4000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物质的量浓度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071538" y="2071678"/>
            <a:ext cx="5286412" cy="915194"/>
            <a:chOff x="2285190" y="2895600"/>
            <a:chExt cx="3929884" cy="915194"/>
          </a:xfrm>
        </p:grpSpPr>
        <p:cxnSp>
          <p:nvCxnSpPr>
            <p:cNvPr id="33" name="Straight Arrow Connector 32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85775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31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问题解决</a:t>
            </a:r>
            <a:endParaRPr lang="en-US" altLang="zh-CN" dirty="0"/>
          </a:p>
          <a:p>
            <a:pPr>
              <a:buNone/>
            </a:pPr>
            <a:r>
              <a:rPr lang="en-US" altLang="zh-CN" sz="3000" dirty="0"/>
              <a:t>Na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SO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sz="3000" dirty="0"/>
              <a:t>+ BaCl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sz="3000" dirty="0">
                <a:sym typeface="Wingdings" pitchFamily="2" charset="2"/>
              </a:rPr>
              <a:t> 2 NaCl </a:t>
            </a:r>
            <a:r>
              <a:rPr lang="en-US" altLang="zh-CN" dirty="0"/>
              <a:t>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sz="3000" dirty="0">
                <a:sym typeface="Wingdings" pitchFamily="2" charset="2"/>
              </a:rPr>
              <a:t>+ BaSO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dirty="0"/>
              <a:t> (s) </a:t>
            </a:r>
            <a:endParaRPr lang="en-US" altLang="zh-CN" sz="3000" dirty="0"/>
          </a:p>
          <a:p>
            <a:pPr>
              <a:buNone/>
            </a:pPr>
            <a:r>
              <a:rPr lang="en-US" altLang="zh-CN" sz="3600" dirty="0"/>
              <a:t>  1mol	                     		          233g</a:t>
            </a:r>
          </a:p>
          <a:p>
            <a:pPr>
              <a:buNone/>
            </a:pPr>
            <a:r>
              <a:rPr lang="en-US" altLang="zh-CN" sz="3600" dirty="0"/>
              <a:t> </a:t>
            </a:r>
            <a:r>
              <a:rPr lang="en-US" altLang="zh-CN" sz="3600" dirty="0" err="1"/>
              <a:t>c</a:t>
            </a:r>
            <a:r>
              <a:rPr lang="en-US" altLang="zh-CN" sz="3600" baseline="-25000" dirty="0" err="1"/>
              <a:t>M</a:t>
            </a:r>
            <a:r>
              <a:rPr lang="en-US" altLang="zh-CN" sz="3600" dirty="0"/>
              <a:t> x0.025L     			                 1.165g</a:t>
            </a:r>
          </a:p>
          <a:p>
            <a:pPr>
              <a:buNone/>
            </a:pPr>
            <a:r>
              <a:rPr lang="en-US" altLang="zh-CN" sz="3600" dirty="0"/>
              <a:t> </a:t>
            </a:r>
          </a:p>
          <a:p>
            <a:pPr>
              <a:buNone/>
            </a:pPr>
            <a:r>
              <a:rPr lang="en-US" altLang="zh-CN" sz="3600" dirty="0"/>
              <a:t>C</a:t>
            </a:r>
            <a:r>
              <a:rPr lang="en-US" altLang="zh-CN" sz="3600" baseline="-25000" dirty="0"/>
              <a:t>M</a:t>
            </a:r>
            <a:r>
              <a:rPr lang="en-US" altLang="zh-CN" sz="3600" dirty="0"/>
              <a:t> x 0.025L x 233g = 1.165g</a:t>
            </a:r>
          </a:p>
          <a:p>
            <a:pPr>
              <a:buNone/>
            </a:pPr>
            <a:r>
              <a:rPr lang="en-US" altLang="zh-CN" sz="3600" dirty="0"/>
              <a:t>		     		C</a:t>
            </a:r>
            <a:r>
              <a:rPr lang="en-US" altLang="zh-CN" sz="3600" baseline="-25000" dirty="0"/>
              <a:t>M</a:t>
            </a:r>
            <a:r>
              <a:rPr lang="en-US" altLang="zh-CN" sz="3600" dirty="0"/>
              <a:t>   = 0.2M</a:t>
            </a:r>
            <a:endParaRPr lang="en-US" altLang="zh-CN" sz="4000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物质的量浓度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212253" y="2060848"/>
            <a:ext cx="7848872" cy="915194"/>
            <a:chOff x="2285190" y="2895600"/>
            <a:chExt cx="3929884" cy="915194"/>
          </a:xfrm>
        </p:grpSpPr>
        <p:cxnSp>
          <p:nvCxnSpPr>
            <p:cNvPr id="33" name="Straight Arrow Connector 32"/>
            <p:cNvCxnSpPr/>
            <p:nvPr/>
          </p:nvCxnSpPr>
          <p:spPr>
            <a:xfrm rot="5400000">
              <a:off x="1827990" y="3352800"/>
              <a:ext cx="915194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5795180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4366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7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/>
              <a:t>(1) </a:t>
            </a:r>
            <a:r>
              <a:rPr lang="zh-CN" altLang="en-US" dirty="0"/>
              <a:t>溶质物质的量偏小，浓度偏小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	(2)</a:t>
            </a:r>
            <a:r>
              <a:rPr lang="zh-CN" altLang="en-US" dirty="0"/>
              <a:t>无影响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	(3) </a:t>
            </a:r>
            <a:r>
              <a:rPr lang="zh-CN" altLang="en-US" dirty="0"/>
              <a:t>溶液体积偏小，浓度偏大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	(4) </a:t>
            </a:r>
            <a:r>
              <a:rPr lang="zh-CN" altLang="en-US" dirty="0"/>
              <a:t>溶液体积热胀，冷却后偏小，浓度偏大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3193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18f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7793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547" y="-6778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/>
              <a:t>2.</a:t>
            </a:r>
            <a:endParaRPr lang="en-US" sz="3600" dirty="0"/>
          </a:p>
          <a:p>
            <a:pPr>
              <a:buNone/>
            </a:pP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36.5%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V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</a:t>
            </a:r>
            <a:r>
              <a:rPr lang="en-US" sz="3600" dirty="0"/>
              <a:t> 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 </a:t>
            </a:r>
            <a:r>
              <a:rPr lang="en-US" altLang="zh-CN" sz="3600" dirty="0"/>
              <a:t>/ </a:t>
            </a:r>
            <a:r>
              <a:rPr lang="el-GR" sz="3600" dirty="0"/>
              <a:t>ρ</a:t>
            </a:r>
            <a:r>
              <a:rPr lang="zh-CN" altLang="en-US" sz="3600" baseline="-25000" dirty="0"/>
              <a:t>液</a:t>
            </a:r>
            <a:endParaRPr lang="en-US" altLang="zh-CN" sz="3600" baseline="-25000" dirty="0"/>
          </a:p>
          <a:p>
            <a:pPr>
              <a:buNone/>
            </a:pPr>
            <a:r>
              <a:rPr lang="en-US" altLang="zh-CN" sz="3600" dirty="0"/>
              <a:t>	   = 100g/1.19gmL</a:t>
            </a:r>
            <a:r>
              <a:rPr lang="en-US" altLang="zh-CN" sz="3600" baseline="30000" dirty="0"/>
              <a:t>-1</a:t>
            </a:r>
          </a:p>
          <a:p>
            <a:pPr>
              <a:buNone/>
            </a:pPr>
            <a:r>
              <a:rPr lang="en-US" altLang="zh-CN" sz="3600" dirty="0"/>
              <a:t>	   = 84.03mL</a:t>
            </a:r>
          </a:p>
          <a:p>
            <a:pPr>
              <a:buNone/>
            </a:pPr>
            <a:r>
              <a:rPr lang="en-US" sz="36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9190" y="1496785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/>
              <a:t>ρ</a:t>
            </a:r>
            <a:r>
              <a:rPr lang="zh-CN" altLang="en-US" sz="3600" baseline="-25000" dirty="0"/>
              <a:t>液  </a:t>
            </a:r>
            <a:r>
              <a:rPr lang="en-US" altLang="zh-CN" sz="3600" dirty="0"/>
              <a:t>= 1.19g/</a:t>
            </a:r>
            <a:r>
              <a:rPr lang="en-US" altLang="zh-CN" sz="3600" dirty="0" err="1"/>
              <a:t>mL</a:t>
            </a:r>
            <a:endParaRPr lang="en-US" sz="3600" dirty="0"/>
          </a:p>
        </p:txBody>
      </p:sp>
      <p:sp>
        <p:nvSpPr>
          <p:cNvPr id="32" name="Left Brace 31"/>
          <p:cNvSpPr/>
          <p:nvPr/>
        </p:nvSpPr>
        <p:spPr>
          <a:xfrm>
            <a:off x="1867979" y="1709124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14546" y="1496785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m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36.5g</a:t>
            </a:r>
            <a:endParaRPr 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2071670" y="2496917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 100g</a:t>
            </a:r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-32" y="0"/>
            <a:ext cx="3193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18f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9" name="Group 3"/>
          <p:cNvGrpSpPr/>
          <p:nvPr/>
        </p:nvGrpSpPr>
        <p:grpSpPr>
          <a:xfrm>
            <a:off x="4714876" y="3211297"/>
            <a:ext cx="3305633" cy="1146397"/>
            <a:chOff x="1945785" y="1452562"/>
            <a:chExt cx="1897279" cy="1146397"/>
          </a:xfrm>
        </p:grpSpPr>
        <p:grpSp>
          <p:nvGrpSpPr>
            <p:cNvPr id="20" name="Group 24"/>
            <p:cNvGrpSpPr/>
            <p:nvPr/>
          </p:nvGrpSpPr>
          <p:grpSpPr>
            <a:xfrm>
              <a:off x="1945785" y="1452562"/>
              <a:ext cx="1846959" cy="857256"/>
              <a:chOff x="1945785" y="1452562"/>
              <a:chExt cx="1846959" cy="857256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1945785" y="1663487"/>
                <a:ext cx="16102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[</a:t>
                </a:r>
                <a:r>
                  <a:rPr lang="en-US" altLang="zh-CN" sz="3600" b="1" dirty="0" err="1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HCl</a:t>
                </a:r>
                <a:r>
                  <a:rPr lang="en-US" altLang="zh-CN" sz="36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 =</a:t>
                </a:r>
                <a:endParaRPr lang="en-US" sz="3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cxnSp>
            <p:nvCxnSpPr>
              <p:cNvPr id="24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2878345" y="1452562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21" name="TextBox 5"/>
            <p:cNvSpPr txBox="1"/>
            <p:nvPr/>
          </p:nvSpPr>
          <p:spPr>
            <a:xfrm>
              <a:off x="2736010" y="1952628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V</a:t>
              </a:r>
              <a:r>
                <a:rPr lang="zh-CN" altLang="en-US" sz="3600" baseline="-25000" dirty="0"/>
                <a:t>液</a:t>
              </a:r>
              <a:endParaRPr lang="en-US" sz="3600" dirty="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4929190" y="2282603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M(</a:t>
            </a:r>
            <a:r>
              <a:rPr lang="en-US" altLang="zh-CN" sz="3600" dirty="0" err="1"/>
              <a:t>HCl</a:t>
            </a:r>
            <a:r>
              <a:rPr lang="en-US" altLang="zh-CN" sz="3600" dirty="0"/>
              <a:t>)</a:t>
            </a:r>
            <a:r>
              <a:rPr lang="zh-CN" altLang="en-US" sz="3600" baseline="-25000" dirty="0"/>
              <a:t>  </a:t>
            </a:r>
            <a:r>
              <a:rPr lang="en-US" altLang="zh-CN" sz="3600" dirty="0"/>
              <a:t>= 36.5g/mol</a:t>
            </a:r>
            <a:endParaRPr lang="en-US" sz="3600" dirty="0"/>
          </a:p>
        </p:txBody>
      </p:sp>
      <p:grpSp>
        <p:nvGrpSpPr>
          <p:cNvPr id="27" name="Group 3"/>
          <p:cNvGrpSpPr/>
          <p:nvPr/>
        </p:nvGrpSpPr>
        <p:grpSpPr>
          <a:xfrm>
            <a:off x="5140247" y="4286256"/>
            <a:ext cx="3789470" cy="1071570"/>
            <a:chOff x="1930875" y="1455951"/>
            <a:chExt cx="2669292" cy="1071570"/>
          </a:xfrm>
        </p:grpSpPr>
        <p:grpSp>
          <p:nvGrpSpPr>
            <p:cNvPr id="28" name="Group 24"/>
            <p:cNvGrpSpPr/>
            <p:nvPr/>
          </p:nvGrpSpPr>
          <p:grpSpPr>
            <a:xfrm>
              <a:off x="1930875" y="1455951"/>
              <a:ext cx="2669292" cy="853867"/>
              <a:chOff x="1930875" y="1455951"/>
              <a:chExt cx="2669292" cy="853867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      =</a:t>
                </a:r>
                <a:endParaRPr lang="en-US" sz="3600" dirty="0"/>
              </a:p>
            </p:txBody>
          </p:sp>
          <p:cxnSp>
            <p:nvCxnSpPr>
              <p:cNvPr id="31" name="Straight Connector 8"/>
              <p:cNvCxnSpPr/>
              <p:nvPr/>
            </p:nvCxnSpPr>
            <p:spPr>
              <a:xfrm>
                <a:off x="2881221" y="2022478"/>
                <a:ext cx="141702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2486697" y="1455951"/>
                <a:ext cx="211347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3</a:t>
                </a:r>
                <a:r>
                  <a:rPr lang="en-US" altLang="zh-CN" sz="3600" dirty="0"/>
                  <a:t>6.5</a:t>
                </a:r>
                <a:r>
                  <a:rPr lang="en-US" sz="3600" dirty="0"/>
                  <a:t>/36.5mol</a:t>
                </a:r>
              </a:p>
            </p:txBody>
          </p:sp>
        </p:grpSp>
        <p:sp>
          <p:nvSpPr>
            <p:cNvPr id="29" name="TextBox 5"/>
            <p:cNvSpPr txBox="1"/>
            <p:nvPr/>
          </p:nvSpPr>
          <p:spPr>
            <a:xfrm>
              <a:off x="2736010" y="1881190"/>
              <a:ext cx="15119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0.08403L</a:t>
              </a:r>
              <a:endParaRPr lang="en-US" sz="3600" dirty="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845638" y="5214950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</a:t>
            </a:r>
            <a:r>
              <a:rPr lang="en-US" altLang="zh-CN" sz="3600" dirty="0"/>
              <a:t>11.9</a:t>
            </a:r>
            <a:r>
              <a:rPr lang="en-US" sz="3600" dirty="0"/>
              <a:t>mol/</a:t>
            </a:r>
            <a:r>
              <a:rPr lang="en-US" altLang="zh-CN" sz="3600" dirty="0"/>
              <a:t>L</a:t>
            </a:r>
            <a:endParaRPr lang="en-US" sz="3600" dirty="0"/>
          </a:p>
        </p:txBody>
      </p:sp>
      <p:sp>
        <p:nvSpPr>
          <p:cNvPr id="42" name="TextBox 41"/>
          <p:cNvSpPr txBox="1"/>
          <p:nvPr/>
        </p:nvSpPr>
        <p:spPr>
          <a:xfrm>
            <a:off x="5857884" y="5854503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11.9 M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5" name="Group 3"/>
          <p:cNvGrpSpPr/>
          <p:nvPr/>
        </p:nvGrpSpPr>
        <p:grpSpPr>
          <a:xfrm>
            <a:off x="1857356" y="5415993"/>
            <a:ext cx="2898987" cy="1013403"/>
            <a:chOff x="2322593" y="1490658"/>
            <a:chExt cx="1218363" cy="1013403"/>
          </a:xfrm>
        </p:grpSpPr>
        <p:grpSp>
          <p:nvGrpSpPr>
            <p:cNvPr id="38" name="Group 24"/>
            <p:cNvGrpSpPr/>
            <p:nvPr/>
          </p:nvGrpSpPr>
          <p:grpSpPr>
            <a:xfrm>
              <a:off x="2322593" y="1490658"/>
              <a:ext cx="1218363" cy="809628"/>
              <a:chOff x="2322593" y="1490658"/>
              <a:chExt cx="1218363" cy="809628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2322593" y="1715511"/>
                <a:ext cx="7125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solidFill>
                      <a:srgbClr val="C00000"/>
                    </a:solidFill>
                  </a:rPr>
                  <a:t> C</a:t>
                </a:r>
                <a:r>
                  <a:rPr lang="en-US" altLang="zh-CN" sz="3200" b="1" baseline="-25000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solidFill>
                      <a:srgbClr val="C00000"/>
                    </a:solidFill>
                  </a:rPr>
                  <a:t>M</a:t>
                </a:r>
                <a:r>
                  <a:rPr lang="en-US" altLang="zh-CN" sz="3200" b="1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solidFill>
                      <a:srgbClr val="C00000"/>
                    </a:solidFill>
                  </a:rPr>
                  <a:t> =</a:t>
                </a:r>
                <a:endParaRPr lang="en-US" sz="3200" b="1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solidFill>
                    <a:srgbClr val="C00000"/>
                  </a:solidFill>
                </a:endParaRPr>
              </a:p>
            </p:txBody>
          </p:sp>
          <p:cxnSp>
            <p:nvCxnSpPr>
              <p:cNvPr id="41" name="Straight Connector 8"/>
              <p:cNvCxnSpPr/>
              <p:nvPr/>
            </p:nvCxnSpPr>
            <p:spPr>
              <a:xfrm>
                <a:off x="2712898" y="2022478"/>
                <a:ext cx="768594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712897" y="1490658"/>
                <a:ext cx="8280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solidFill>
                      <a:srgbClr val="C00000"/>
                    </a:solidFill>
                  </a:rPr>
                  <a:t>1000</a:t>
                </a:r>
                <a:r>
                  <a:rPr lang="el-GR" sz="3200" b="1" dirty="0">
                    <a:ln w="10541" cmpd="sng">
                      <a:solidFill>
                        <a:schemeClr val="accent1">
                          <a:shade val="88000"/>
                          <a:satMod val="110000"/>
                        </a:schemeClr>
                      </a:solidFill>
                      <a:prstDash val="solid"/>
                    </a:ln>
                    <a:solidFill>
                      <a:srgbClr val="C00000"/>
                    </a:solidFill>
                  </a:rPr>
                  <a:t>ω ρ</a:t>
                </a:r>
                <a:endParaRPr lang="en-US" sz="3200" b="1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39" name="TextBox 5"/>
            <p:cNvSpPr txBox="1"/>
            <p:nvPr/>
          </p:nvSpPr>
          <p:spPr>
            <a:xfrm>
              <a:off x="2893037" y="1919286"/>
              <a:ext cx="4462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solidFill>
                    <a:srgbClr val="C00000"/>
                  </a:solidFill>
                </a:rPr>
                <a:t>M </a:t>
              </a:r>
              <a:endParaRPr lang="en-US" sz="3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704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32" grpId="0" animBg="1"/>
      <p:bldP spid="33" grpId="0"/>
      <p:bldP spid="34" grpId="0"/>
      <p:bldP spid="26" grpId="0"/>
      <p:bldP spid="37" grpId="0"/>
      <p:bldP spid="4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CN" dirty="0"/>
              <a:t>1kg</a:t>
            </a:r>
            <a:r>
              <a:rPr lang="zh-CN" altLang="en-US" dirty="0"/>
              <a:t>溶剂中所含溶质的摩尔数。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质量摩尔浓度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 =				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sz="3000" dirty="0"/>
              <a:t>计算</a:t>
            </a:r>
            <a:r>
              <a:rPr lang="en-US" altLang="zh-CN" sz="3000" dirty="0"/>
              <a:t>32.7gH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PO</a:t>
            </a:r>
            <a:r>
              <a:rPr lang="en-US" altLang="zh-CN" sz="3000" baseline="-25000" dirty="0"/>
              <a:t>4</a:t>
            </a:r>
            <a:r>
              <a:rPr lang="zh-CN" altLang="en-US" sz="3000" dirty="0"/>
              <a:t>溶于</a:t>
            </a:r>
            <a:r>
              <a:rPr lang="en-US" altLang="zh-CN" sz="3000" dirty="0"/>
              <a:t>100g</a:t>
            </a:r>
            <a:r>
              <a:rPr lang="zh-CN" altLang="en-US" sz="3000" dirty="0"/>
              <a:t>水所得溶液的质量摩尔浓度。</a:t>
            </a:r>
            <a:endParaRPr lang="en-US" altLang="zh-CN" sz="3000" dirty="0"/>
          </a:p>
          <a:p>
            <a:pPr>
              <a:buNone/>
            </a:pPr>
            <a:r>
              <a:rPr lang="en-US" altLang="zh-CN" sz="3600" dirty="0"/>
              <a:t>M(H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PO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 )=98g/mo</a:t>
            </a:r>
            <a:r>
              <a:rPr lang="en-US" altLang="zh-CN" sz="4000" dirty="0"/>
              <a:t>l</a:t>
            </a:r>
          </a:p>
          <a:p>
            <a:pPr>
              <a:buNone/>
            </a:pPr>
            <a:r>
              <a:rPr lang="en-US" altLang="zh-CN" sz="4000" dirty="0"/>
              <a:t>n</a:t>
            </a:r>
            <a:r>
              <a:rPr lang="zh-CN" altLang="en-US" sz="4000" baseline="-25000" dirty="0"/>
              <a:t>质</a:t>
            </a:r>
            <a:r>
              <a:rPr lang="en-US" altLang="zh-CN" sz="4000" dirty="0"/>
              <a:t> =</a:t>
            </a:r>
            <a:endParaRPr lang="en-US" sz="40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   </a:t>
            </a:r>
            <a:r>
              <a:rPr lang="en-US" altLang="zh-CN" sz="3600" dirty="0"/>
              <a:t>= 0.334mol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1318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质量</a:t>
            </a:r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摩尔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3"/>
          <p:cNvGrpSpPr/>
          <p:nvPr/>
        </p:nvGrpSpPr>
        <p:grpSpPr>
          <a:xfrm>
            <a:off x="1000100" y="4306393"/>
            <a:ext cx="2465038" cy="1122871"/>
            <a:chOff x="2657733" y="1364378"/>
            <a:chExt cx="1350515" cy="1386092"/>
          </a:xfrm>
        </p:grpSpPr>
        <p:grpSp>
          <p:nvGrpSpPr>
            <p:cNvPr id="8" name="Group 24"/>
            <p:cNvGrpSpPr/>
            <p:nvPr/>
          </p:nvGrpSpPr>
          <p:grpSpPr>
            <a:xfrm>
              <a:off x="2881221" y="1364378"/>
              <a:ext cx="1127027" cy="797843"/>
              <a:chOff x="2881221" y="1364378"/>
              <a:chExt cx="1127027" cy="797843"/>
            </a:xfrm>
          </p:grpSpPr>
          <p:cxnSp>
            <p:nvCxnSpPr>
              <p:cNvPr id="29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2892565" y="1364378"/>
                <a:ext cx="1115683" cy="797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</a:t>
                </a:r>
                <a:r>
                  <a:rPr lang="en-US" altLang="zh-CN" sz="3600" dirty="0"/>
                  <a:t>32.7g</a:t>
                </a:r>
                <a:endParaRPr lang="en-US" sz="3600" dirty="0"/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2657733" y="1952627"/>
              <a:ext cx="1291573" cy="797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98g/mol</a:t>
              </a:r>
              <a:endParaRPr lang="en-US" sz="3600" dirty="0"/>
            </a:p>
          </p:txBody>
        </p:sp>
      </p:grpSp>
      <p:grpSp>
        <p:nvGrpSpPr>
          <p:cNvPr id="17" name="Group 3"/>
          <p:cNvGrpSpPr/>
          <p:nvPr/>
        </p:nvGrpSpPr>
        <p:grpSpPr>
          <a:xfrm>
            <a:off x="3571868" y="1701216"/>
            <a:ext cx="1571637" cy="1013404"/>
            <a:chOff x="2736010" y="1442679"/>
            <a:chExt cx="1107054" cy="1013404"/>
          </a:xfrm>
        </p:grpSpPr>
        <p:grpSp>
          <p:nvGrpSpPr>
            <p:cNvPr id="18" name="Group 24"/>
            <p:cNvGrpSpPr/>
            <p:nvPr/>
          </p:nvGrpSpPr>
          <p:grpSpPr>
            <a:xfrm>
              <a:off x="2878345" y="1442679"/>
              <a:ext cx="914399" cy="646331"/>
              <a:chOff x="2878345" y="1442679"/>
              <a:chExt cx="914399" cy="646331"/>
            </a:xfrm>
          </p:grpSpPr>
          <p:cxnSp>
            <p:nvCxnSpPr>
              <p:cNvPr id="2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78345" y="1442679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19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</a:t>
              </a:r>
              <a:r>
                <a:rPr lang="en-US" altLang="zh-CN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</a:t>
              </a:r>
              <a:r>
                <a:rPr lang="zh-CN" altLang="en-US" sz="36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剂</a:t>
              </a:r>
              <a:endPara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2" name="Group 3"/>
          <p:cNvGrpSpPr/>
          <p:nvPr/>
        </p:nvGrpSpPr>
        <p:grpSpPr>
          <a:xfrm>
            <a:off x="4643437" y="3429000"/>
            <a:ext cx="2714647" cy="1146397"/>
            <a:chOff x="1930875" y="1309686"/>
            <a:chExt cx="1912189" cy="1146397"/>
          </a:xfrm>
        </p:grpSpPr>
        <p:grpSp>
          <p:nvGrpSpPr>
            <p:cNvPr id="23" name="Group 24"/>
            <p:cNvGrpSpPr/>
            <p:nvPr/>
          </p:nvGrpSpPr>
          <p:grpSpPr>
            <a:xfrm>
              <a:off x="1930875" y="1309686"/>
              <a:ext cx="1861869" cy="1000132"/>
              <a:chOff x="1930875" y="1309686"/>
              <a:chExt cx="1861869" cy="1000132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26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24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m</a:t>
              </a:r>
              <a:r>
                <a:rPr lang="zh-CN" altLang="en-US" sz="3600" baseline="-25000" dirty="0"/>
                <a:t>剂</a:t>
              </a:r>
              <a:endParaRPr lang="en-US" sz="3600" dirty="0"/>
            </a:p>
          </p:txBody>
        </p:sp>
      </p:grpSp>
      <p:grpSp>
        <p:nvGrpSpPr>
          <p:cNvPr id="38" name="Group 3"/>
          <p:cNvGrpSpPr/>
          <p:nvPr/>
        </p:nvGrpSpPr>
        <p:grpSpPr>
          <a:xfrm>
            <a:off x="4643438" y="4500570"/>
            <a:ext cx="3360843" cy="1071570"/>
            <a:chOff x="1930875" y="1455951"/>
            <a:chExt cx="2367368" cy="1071570"/>
          </a:xfrm>
        </p:grpSpPr>
        <p:grpSp>
          <p:nvGrpSpPr>
            <p:cNvPr id="39" name="Group 24"/>
            <p:cNvGrpSpPr/>
            <p:nvPr/>
          </p:nvGrpSpPr>
          <p:grpSpPr>
            <a:xfrm>
              <a:off x="1930875" y="1455951"/>
              <a:ext cx="2367368" cy="853867"/>
              <a:chOff x="1930875" y="1455951"/>
              <a:chExt cx="2367368" cy="85386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      =</a:t>
                </a:r>
                <a:endParaRPr lang="en-US" sz="3600" dirty="0"/>
              </a:p>
            </p:txBody>
          </p:sp>
          <p:cxnSp>
            <p:nvCxnSpPr>
              <p:cNvPr id="42" name="Straight Connector 8"/>
              <p:cNvCxnSpPr/>
              <p:nvPr/>
            </p:nvCxnSpPr>
            <p:spPr>
              <a:xfrm>
                <a:off x="2881221" y="2022478"/>
                <a:ext cx="141702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736006" y="1455951"/>
                <a:ext cx="1559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0.334mol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2736010" y="1881190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0.1kg</a:t>
              </a:r>
              <a:endParaRPr lang="en-US" sz="3600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357818" y="5715016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3.34mol/kg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10218" y="1925413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单位</a:t>
            </a:r>
            <a:r>
              <a:rPr lang="en-US" altLang="zh-CN" sz="3600" dirty="0"/>
              <a:t>:</a:t>
            </a:r>
            <a:r>
              <a:rPr lang="zh-CN" altLang="en-US" sz="3600" dirty="0"/>
              <a:t> </a:t>
            </a:r>
            <a:r>
              <a:rPr lang="en-US" altLang="zh-CN" sz="3600" dirty="0"/>
              <a:t>mol/kg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89410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4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600" dirty="0"/>
              <a:t>例</a:t>
            </a:r>
            <a:r>
              <a:rPr lang="en-US" altLang="zh-CN" sz="3600" dirty="0"/>
              <a:t>10 </a:t>
            </a:r>
          </a:p>
          <a:p>
            <a:pPr>
              <a:buNone/>
            </a:pPr>
            <a:r>
              <a:rPr lang="zh-CN" altLang="en-US" sz="3600" dirty="0"/>
              <a:t>计算</a:t>
            </a:r>
            <a:r>
              <a:rPr lang="en-US" altLang="zh-CN" sz="3600" dirty="0"/>
              <a:t>40%</a:t>
            </a:r>
            <a:r>
              <a:rPr lang="zh-CN" altLang="en-US" sz="3600" dirty="0"/>
              <a:t>的</a:t>
            </a:r>
            <a:r>
              <a:rPr lang="en-US" altLang="zh-CN" sz="3600" dirty="0"/>
              <a:t>H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SO</a:t>
            </a:r>
            <a:r>
              <a:rPr lang="en-US" altLang="zh-CN" sz="3600" baseline="-25000" dirty="0"/>
              <a:t>4</a:t>
            </a:r>
            <a:r>
              <a:rPr lang="zh-CN" altLang="en-US" sz="3600" dirty="0"/>
              <a:t>溶液的质量摩尔浓度。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M(H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SO</a:t>
            </a:r>
            <a:r>
              <a:rPr lang="en-US" altLang="zh-CN" sz="3600" baseline="-25000" dirty="0"/>
              <a:t>4</a:t>
            </a:r>
            <a:r>
              <a:rPr lang="en-US" altLang="zh-CN" sz="3600" dirty="0"/>
              <a:t>) =98g/mol</a:t>
            </a:r>
            <a:endParaRPr lang="en-US" sz="3600" dirty="0"/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dirty="0"/>
              <a:t>40%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altLang="zh-CN" sz="3600" dirty="0"/>
              <a:t>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60g</a:t>
            </a:r>
          </a:p>
          <a:p>
            <a:pPr>
              <a:buNone/>
            </a:pPr>
            <a:r>
              <a:rPr lang="en-US" sz="3600" dirty="0"/>
              <a:t>	    = 0.06kg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62889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altLang="zh-CN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.3 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质量</a:t>
            </a:r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摩尔</a:t>
            </a:r>
            <a:r>
              <a:rPr lang="zh-CN" altLang="en-US" sz="5400" b="1" cap="none" spc="0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浓度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9" name="Group 3"/>
          <p:cNvGrpSpPr/>
          <p:nvPr/>
        </p:nvGrpSpPr>
        <p:grpSpPr>
          <a:xfrm>
            <a:off x="4643437" y="2714620"/>
            <a:ext cx="2714647" cy="1146397"/>
            <a:chOff x="1930875" y="1309686"/>
            <a:chExt cx="1912189" cy="1146397"/>
          </a:xfrm>
        </p:grpSpPr>
        <p:grpSp>
          <p:nvGrpSpPr>
            <p:cNvPr id="10" name="Group 24"/>
            <p:cNvGrpSpPr/>
            <p:nvPr/>
          </p:nvGrpSpPr>
          <p:grpSpPr>
            <a:xfrm>
              <a:off x="1930875" y="1309686"/>
              <a:ext cx="1861869" cy="1000132"/>
              <a:chOff x="1930875" y="1309686"/>
              <a:chExt cx="1861869" cy="1000132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26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24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m</a:t>
              </a:r>
              <a:r>
                <a:rPr lang="zh-CN" altLang="en-US" sz="3600" baseline="-25000" dirty="0"/>
                <a:t>剂</a:t>
              </a:r>
              <a:endParaRPr lang="en-US" sz="3600" dirty="0"/>
            </a:p>
          </p:txBody>
        </p:sp>
      </p:grpSp>
      <p:grpSp>
        <p:nvGrpSpPr>
          <p:cNvPr id="11" name="Group 3"/>
          <p:cNvGrpSpPr/>
          <p:nvPr/>
        </p:nvGrpSpPr>
        <p:grpSpPr>
          <a:xfrm>
            <a:off x="4643438" y="3786190"/>
            <a:ext cx="3360843" cy="1071570"/>
            <a:chOff x="1930875" y="1455951"/>
            <a:chExt cx="2367368" cy="1071570"/>
          </a:xfrm>
        </p:grpSpPr>
        <p:grpSp>
          <p:nvGrpSpPr>
            <p:cNvPr id="12" name="Group 24"/>
            <p:cNvGrpSpPr/>
            <p:nvPr/>
          </p:nvGrpSpPr>
          <p:grpSpPr>
            <a:xfrm>
              <a:off x="1930875" y="1455951"/>
              <a:ext cx="2367368" cy="853867"/>
              <a:chOff x="1930875" y="1455951"/>
              <a:chExt cx="2367368" cy="85386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      =</a:t>
                </a:r>
                <a:endParaRPr lang="en-US" sz="3600" dirty="0"/>
              </a:p>
            </p:txBody>
          </p:sp>
          <p:cxnSp>
            <p:nvCxnSpPr>
              <p:cNvPr id="42" name="Straight Connector 8"/>
              <p:cNvCxnSpPr/>
              <p:nvPr/>
            </p:nvCxnSpPr>
            <p:spPr>
              <a:xfrm>
                <a:off x="2881221" y="2022478"/>
                <a:ext cx="141702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736006" y="1455951"/>
                <a:ext cx="1559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</a:t>
                </a:r>
                <a:r>
                  <a:rPr lang="en-US" altLang="zh-CN" sz="3600" dirty="0"/>
                  <a:t>40/98</a:t>
                </a:r>
                <a:r>
                  <a:rPr lang="en-US" sz="3600" dirty="0"/>
                  <a:t>mol</a:t>
                </a:r>
              </a:p>
            </p:txBody>
          </p:sp>
        </p:grpSp>
        <p:sp>
          <p:nvSpPr>
            <p:cNvPr id="40" name="TextBox 5"/>
            <p:cNvSpPr txBox="1"/>
            <p:nvPr/>
          </p:nvSpPr>
          <p:spPr>
            <a:xfrm>
              <a:off x="2736010" y="1881190"/>
              <a:ext cx="1459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0.06kg</a:t>
              </a:r>
              <a:endParaRPr lang="en-US" sz="3600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357818" y="5000636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</a:t>
            </a:r>
            <a:r>
              <a:rPr lang="en-US" altLang="zh-CN" sz="3600" dirty="0"/>
              <a:t>6.80</a:t>
            </a:r>
            <a:r>
              <a:rPr lang="en-US" sz="3600" dirty="0"/>
              <a:t>mol/kg</a:t>
            </a:r>
          </a:p>
        </p:txBody>
      </p:sp>
      <p:sp>
        <p:nvSpPr>
          <p:cNvPr id="32" name="Left Brace 31"/>
          <p:cNvSpPr/>
          <p:nvPr/>
        </p:nvSpPr>
        <p:spPr>
          <a:xfrm>
            <a:off x="1142976" y="3143248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0166" y="2854107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40g</a:t>
            </a:r>
            <a:endParaRPr 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1357290" y="3854239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 100g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572146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32" grpId="0" animBg="1"/>
      <p:bldP spid="33" grpId="0"/>
      <p:bldP spid="3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altLang="zh-CN" sz="3600" dirty="0"/>
              <a:t>M(C</a:t>
            </a:r>
            <a:r>
              <a:rPr lang="en-US" altLang="zh-CN" sz="3600" baseline="-25000" dirty="0"/>
              <a:t>6</a:t>
            </a:r>
            <a:r>
              <a:rPr lang="en-US" altLang="zh-CN" sz="3600" dirty="0"/>
              <a:t>H</a:t>
            </a:r>
            <a:r>
              <a:rPr lang="en-US" altLang="zh-CN" sz="3600" baseline="-25000" dirty="0"/>
              <a:t>12</a:t>
            </a:r>
            <a:r>
              <a:rPr lang="en-US" altLang="zh-CN" sz="3600" dirty="0"/>
              <a:t>O</a:t>
            </a:r>
            <a:r>
              <a:rPr lang="en-US" altLang="zh-CN" sz="3600" baseline="-25000" dirty="0"/>
              <a:t>6</a:t>
            </a:r>
            <a:r>
              <a:rPr lang="en-US" altLang="zh-CN" sz="3600" dirty="0"/>
              <a:t>) =180g/mol</a:t>
            </a:r>
          </a:p>
          <a:p>
            <a:pPr marL="742950" indent="-742950">
              <a:buNone/>
            </a:pPr>
            <a:endParaRPr lang="en-US" sz="3600" dirty="0"/>
          </a:p>
          <a:p>
            <a:pPr>
              <a:buNone/>
            </a:pPr>
            <a:endParaRPr lang="en-US" sz="3600" dirty="0"/>
          </a:p>
          <a:p>
            <a:pPr>
              <a:spcBef>
                <a:spcPts val="1800"/>
              </a:spcBef>
              <a:buNone/>
            </a:pPr>
            <a:r>
              <a:rPr lang="en-US" i="1" dirty="0"/>
              <a:t>2. </a:t>
            </a:r>
            <a:r>
              <a:rPr lang="en-US" altLang="zh-CN" i="1" dirty="0"/>
              <a:t>6.84%</a:t>
            </a:r>
            <a:r>
              <a:rPr lang="zh-CN" altLang="en-US" i="1" dirty="0"/>
              <a:t>的蔗糖溶液的质量摩尔浓度是多少</a:t>
            </a:r>
            <a:r>
              <a:rPr lang="zh-CN" altLang="en-US" sz="3600" dirty="0"/>
              <a:t>？</a:t>
            </a:r>
            <a:endParaRPr lang="en-US" sz="3600" dirty="0"/>
          </a:p>
          <a:p>
            <a:pPr>
              <a:buNone/>
            </a:pP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6.84%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altLang="zh-CN" sz="3600" dirty="0"/>
              <a:t>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93.16g</a:t>
            </a:r>
          </a:p>
          <a:p>
            <a:pPr>
              <a:buNone/>
            </a:pPr>
            <a:r>
              <a:rPr lang="en-US" sz="3600" dirty="0"/>
              <a:t>	    = 0.0</a:t>
            </a:r>
            <a:r>
              <a:rPr lang="en-US" altLang="zh-CN" sz="3600" dirty="0"/>
              <a:t>9316</a:t>
            </a:r>
            <a:r>
              <a:rPr lang="en-US" sz="3600" dirty="0"/>
              <a:t>kg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29674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643437" y="4497181"/>
            <a:ext cx="4214843" cy="1149786"/>
            <a:chOff x="1930875" y="1381124"/>
            <a:chExt cx="2968923" cy="1149786"/>
          </a:xfrm>
        </p:grpSpPr>
        <p:grpSp>
          <p:nvGrpSpPr>
            <p:cNvPr id="5" name="Group 24"/>
            <p:cNvGrpSpPr/>
            <p:nvPr/>
          </p:nvGrpSpPr>
          <p:grpSpPr>
            <a:xfrm>
              <a:off x="1930875" y="1381124"/>
              <a:ext cx="2968923" cy="928694"/>
              <a:chOff x="1930875" y="1381124"/>
              <a:chExt cx="2968923" cy="928694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26" name="Straight Connector 8"/>
              <p:cNvCxnSpPr/>
              <p:nvPr/>
            </p:nvCxnSpPr>
            <p:spPr>
              <a:xfrm>
                <a:off x="2736007" y="1956017"/>
                <a:ext cx="186789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2736007" y="1381124"/>
                <a:ext cx="21637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6.84/342 mol</a:t>
                </a:r>
                <a:endParaRPr lang="en-US" sz="3600" dirty="0"/>
              </a:p>
            </p:txBody>
          </p:sp>
        </p:grpSp>
        <p:sp>
          <p:nvSpPr>
            <p:cNvPr id="24" name="TextBox 5"/>
            <p:cNvSpPr txBox="1"/>
            <p:nvPr/>
          </p:nvSpPr>
          <p:spPr>
            <a:xfrm>
              <a:off x="2685686" y="1884579"/>
              <a:ext cx="2113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0.09316kg</a:t>
              </a:r>
              <a:endParaRPr lang="en-US" sz="3600" dirty="0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357818" y="5997379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0.21 mol/kg</a:t>
            </a:r>
          </a:p>
        </p:txBody>
      </p:sp>
      <p:sp>
        <p:nvSpPr>
          <p:cNvPr id="32" name="Left Brace 31"/>
          <p:cNvSpPr/>
          <p:nvPr/>
        </p:nvSpPr>
        <p:spPr>
          <a:xfrm>
            <a:off x="1563034" y="3854239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85918" y="3565098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6.84g</a:t>
            </a:r>
            <a:endParaRPr 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1643042" y="4565230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 100g</a:t>
            </a:r>
            <a:endParaRPr lang="en-US" sz="3600" dirty="0"/>
          </a:p>
        </p:txBody>
      </p:sp>
      <p:grpSp>
        <p:nvGrpSpPr>
          <p:cNvPr id="21" name="Group 3"/>
          <p:cNvGrpSpPr/>
          <p:nvPr/>
        </p:nvGrpSpPr>
        <p:grpSpPr>
          <a:xfrm>
            <a:off x="1559358" y="1425347"/>
            <a:ext cx="3360843" cy="1071570"/>
            <a:chOff x="1930875" y="1455951"/>
            <a:chExt cx="2367368" cy="1071570"/>
          </a:xfrm>
        </p:grpSpPr>
        <p:grpSp>
          <p:nvGrpSpPr>
            <p:cNvPr id="22" name="Group 24"/>
            <p:cNvGrpSpPr/>
            <p:nvPr/>
          </p:nvGrpSpPr>
          <p:grpSpPr>
            <a:xfrm>
              <a:off x="1930875" y="1455951"/>
              <a:ext cx="2367368" cy="853867"/>
              <a:chOff x="1930875" y="1455951"/>
              <a:chExt cx="2367368" cy="853867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28" name="Straight Connector 8"/>
              <p:cNvCxnSpPr/>
              <p:nvPr/>
            </p:nvCxnSpPr>
            <p:spPr>
              <a:xfrm>
                <a:off x="2881221" y="2022478"/>
                <a:ext cx="1417022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2736006" y="1455951"/>
                <a:ext cx="1559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9</a:t>
                </a:r>
                <a:r>
                  <a:rPr lang="en-US" altLang="zh-CN" sz="3600" dirty="0"/>
                  <a:t>/180</a:t>
                </a:r>
                <a:r>
                  <a:rPr lang="en-US" sz="3600" dirty="0"/>
                  <a:t>mol</a:t>
                </a:r>
              </a:p>
            </p:txBody>
          </p:sp>
        </p:grpSp>
        <p:sp>
          <p:nvSpPr>
            <p:cNvPr id="23" name="TextBox 5"/>
            <p:cNvSpPr txBox="1"/>
            <p:nvPr/>
          </p:nvSpPr>
          <p:spPr>
            <a:xfrm>
              <a:off x="2736010" y="1881190"/>
              <a:ext cx="14592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0.2kg</a:t>
              </a:r>
              <a:endParaRPr lang="en-US" sz="36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273738" y="2357430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0.25mol/kg</a:t>
            </a:r>
          </a:p>
        </p:txBody>
      </p:sp>
    </p:spTree>
    <p:extLst>
      <p:ext uri="{BB962C8B-B14F-4D97-AF65-F5344CB8AC3E}">
        <p14:creationId xmlns:p14="http://schemas.microsoft.com/office/powerpoint/2010/main" val="21995621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32" grpId="0" uiExpand="1" animBg="1"/>
      <p:bldP spid="33" grpId="0" uiExpand="1"/>
      <p:bldP spid="34" grpId="0" uiExpand="1"/>
      <p:bldP spid="3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altLang="zh-CN" sz="3600" dirty="0"/>
              <a:t>1. M(KNO</a:t>
            </a:r>
            <a:r>
              <a:rPr lang="en-US" altLang="zh-CN" sz="3600" baseline="-25000" dirty="0"/>
              <a:t>3</a:t>
            </a:r>
            <a:r>
              <a:rPr lang="en-US" altLang="zh-CN" sz="3600" dirty="0"/>
              <a:t>) =101g/mol</a:t>
            </a:r>
          </a:p>
          <a:p>
            <a:pPr marL="742950" indent="-742950">
              <a:buNone/>
            </a:pPr>
            <a:r>
              <a:rPr lang="en-US" sz="3600" dirty="0"/>
              <a:t> </a:t>
            </a:r>
            <a:r>
              <a:rPr lang="en-US" altLang="zh-CN" sz="3600" dirty="0"/>
              <a:t>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0.25kg</a:t>
            </a:r>
          </a:p>
          <a:p>
            <a:pPr marL="742950" indent="-742950">
              <a:buNone/>
            </a:pPr>
            <a:r>
              <a:rPr lang="en-US" sz="3600" dirty="0"/>
              <a:t>C</a:t>
            </a:r>
            <a:r>
              <a:rPr lang="en-US" sz="3600" baseline="-25000" dirty="0"/>
              <a:t>m</a:t>
            </a:r>
            <a:r>
              <a:rPr lang="en-US" sz="3600" dirty="0"/>
              <a:t> = 0.2mol/kg</a:t>
            </a:r>
          </a:p>
          <a:p>
            <a:pPr marL="742950" indent="-742950">
              <a:buNone/>
            </a:pPr>
            <a:endParaRPr lang="en-US" sz="3600" dirty="0"/>
          </a:p>
          <a:p>
            <a:pPr marL="742950" indent="-742950">
              <a:buNone/>
            </a:pPr>
            <a:endParaRPr lang="en-US" sz="3600" dirty="0"/>
          </a:p>
          <a:p>
            <a:pPr>
              <a:buNone/>
            </a:pPr>
            <a:r>
              <a:rPr lang="en-US" altLang="zh-CN" sz="3600" dirty="0"/>
              <a:t> 		 n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0.2mol/kg x 0.25kg</a:t>
            </a:r>
            <a:endParaRPr lang="en-US" sz="3600" dirty="0"/>
          </a:p>
          <a:p>
            <a:pPr>
              <a:buNone/>
            </a:pPr>
            <a:r>
              <a:rPr lang="en-US" sz="3600" dirty="0"/>
              <a:t>		       = 0.05mol</a:t>
            </a:r>
          </a:p>
          <a:p>
            <a:pPr>
              <a:buNone/>
            </a:pPr>
            <a:r>
              <a:rPr lang="en-US" sz="3600" dirty="0"/>
              <a:t>		 m</a:t>
            </a:r>
            <a:r>
              <a:rPr lang="zh-CN" altLang="en-US" sz="3600" baseline="-25000" dirty="0"/>
              <a:t>质</a:t>
            </a:r>
            <a:r>
              <a:rPr lang="en-US" sz="3600" dirty="0"/>
              <a:t>= 0.05mol x 101g/mol</a:t>
            </a:r>
          </a:p>
          <a:p>
            <a:pPr>
              <a:buNone/>
            </a:pPr>
            <a:r>
              <a:rPr lang="en-US" sz="3600" dirty="0"/>
              <a:t>		        = 5.05g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33025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18g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3"/>
          <p:cNvGrpSpPr/>
          <p:nvPr/>
        </p:nvGrpSpPr>
        <p:grpSpPr>
          <a:xfrm>
            <a:off x="1071538" y="2714620"/>
            <a:ext cx="2714647" cy="1146397"/>
            <a:chOff x="1930875" y="1309686"/>
            <a:chExt cx="1912189" cy="1146397"/>
          </a:xfrm>
        </p:grpSpPr>
        <p:grpSp>
          <p:nvGrpSpPr>
            <p:cNvPr id="17" name="Group 24"/>
            <p:cNvGrpSpPr/>
            <p:nvPr/>
          </p:nvGrpSpPr>
          <p:grpSpPr>
            <a:xfrm>
              <a:off x="1930875" y="1309686"/>
              <a:ext cx="1861869" cy="1000132"/>
              <a:chOff x="1930875" y="1309686"/>
              <a:chExt cx="1861869" cy="1000132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2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78345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n</a:t>
                </a:r>
                <a:r>
                  <a:rPr lang="zh-CN" altLang="en-US" sz="3600" baseline="-25000" dirty="0"/>
                  <a:t>质</a:t>
                </a:r>
                <a:endParaRPr lang="en-US" sz="3600" dirty="0"/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2736010" y="1809752"/>
              <a:ext cx="1107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m</a:t>
              </a:r>
              <a:r>
                <a:rPr lang="zh-CN" altLang="en-US" sz="3600" baseline="-25000" dirty="0"/>
                <a:t>剂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17387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altLang="zh-CN" sz="3600" dirty="0"/>
              <a:t>2. M(</a:t>
            </a:r>
            <a:r>
              <a:rPr lang="en-US" altLang="zh-CN" sz="3600" dirty="0" err="1"/>
              <a:t>NaOH</a:t>
            </a:r>
            <a:r>
              <a:rPr lang="en-US" altLang="zh-CN" sz="3600" dirty="0"/>
              <a:t>) =40g/mol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dirty="0"/>
              <a:t>3mol/kg</a:t>
            </a:r>
          </a:p>
          <a:p>
            <a:pPr>
              <a:buNone/>
            </a:pPr>
            <a:endParaRPr lang="en-US" sz="3600" dirty="0"/>
          </a:p>
          <a:p>
            <a:pPr>
              <a:spcBef>
                <a:spcPts val="0"/>
              </a:spcBef>
              <a:buNone/>
            </a:pPr>
            <a:endParaRPr lang="en-US" altLang="zh-CN" sz="3600" dirty="0"/>
          </a:p>
          <a:p>
            <a:pPr>
              <a:buNone/>
            </a:pPr>
            <a:r>
              <a:rPr lang="zh-CN" altLang="en-US" sz="3600" dirty="0"/>
              <a:t>质量百分比浓度 </a:t>
            </a:r>
            <a:r>
              <a:rPr lang="en-US" altLang="zh-CN" sz="3600" dirty="0"/>
              <a:t>= </a:t>
            </a:r>
          </a:p>
          <a:p>
            <a:pPr>
              <a:buNone/>
            </a:pPr>
            <a:r>
              <a:rPr lang="en-US" sz="3600" dirty="0"/>
              <a:t>	    	</a:t>
            </a:r>
          </a:p>
          <a:p>
            <a:pPr>
              <a:buNone/>
            </a:pPr>
            <a:r>
              <a:rPr lang="en-US" sz="3600" dirty="0"/>
              <a:t>				     = 10.71%</a:t>
            </a:r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33025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18g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29190" y="1496785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m</a:t>
            </a:r>
            <a:r>
              <a:rPr lang="zh-CN" altLang="en-US" sz="3600" baseline="-25000" dirty="0"/>
              <a:t>质 </a:t>
            </a:r>
            <a:r>
              <a:rPr lang="en-US" altLang="zh-CN" sz="3600" dirty="0"/>
              <a:t>= 3molx40g/mol</a:t>
            </a:r>
            <a:endParaRPr lang="en-US" sz="3600" dirty="0"/>
          </a:p>
        </p:txBody>
      </p:sp>
      <p:sp>
        <p:nvSpPr>
          <p:cNvPr id="32" name="Left Brace 31"/>
          <p:cNvSpPr/>
          <p:nvPr/>
        </p:nvSpPr>
        <p:spPr>
          <a:xfrm>
            <a:off x="1991662" y="1785926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98651" y="1720210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  <a:r>
              <a:rPr lang="en-US" altLang="zh-CN" sz="3600" dirty="0"/>
              <a:t>n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3mol</a:t>
            </a:r>
            <a:endParaRPr 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2071670" y="2496917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1kg</a:t>
            </a:r>
            <a:endParaRPr lang="en-US" sz="3600" dirty="0"/>
          </a:p>
        </p:txBody>
      </p:sp>
      <p:sp>
        <p:nvSpPr>
          <p:cNvPr id="22" name="TextBox 21"/>
          <p:cNvSpPr txBox="1"/>
          <p:nvPr/>
        </p:nvSpPr>
        <p:spPr>
          <a:xfrm>
            <a:off x="4929190" y="1996851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       </a:t>
            </a:r>
            <a:r>
              <a:rPr lang="zh-CN" altLang="en-US" sz="3600" baseline="-25000" dirty="0"/>
              <a:t> </a:t>
            </a:r>
            <a:r>
              <a:rPr lang="en-US" altLang="zh-CN" sz="3600" dirty="0"/>
              <a:t>= 120g</a:t>
            </a:r>
            <a:endParaRPr lang="en-US" sz="3600" dirty="0"/>
          </a:p>
        </p:txBody>
      </p:sp>
      <p:sp>
        <p:nvSpPr>
          <p:cNvPr id="35" name="TextBox 34"/>
          <p:cNvSpPr txBox="1"/>
          <p:nvPr/>
        </p:nvSpPr>
        <p:spPr>
          <a:xfrm>
            <a:off x="4929190" y="2643182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 m</a:t>
            </a:r>
            <a:r>
              <a:rPr lang="zh-CN" altLang="en-US" sz="3600" baseline="-25000" dirty="0"/>
              <a:t>液 </a:t>
            </a:r>
            <a:r>
              <a:rPr lang="en-US" altLang="zh-CN" sz="3600" dirty="0"/>
              <a:t>= 1120g</a:t>
            </a:r>
            <a:endParaRPr lang="en-US" sz="3600" dirty="0"/>
          </a:p>
        </p:txBody>
      </p:sp>
      <p:grpSp>
        <p:nvGrpSpPr>
          <p:cNvPr id="36" name="Group 3"/>
          <p:cNvGrpSpPr/>
          <p:nvPr/>
        </p:nvGrpSpPr>
        <p:grpSpPr>
          <a:xfrm>
            <a:off x="3643306" y="3806326"/>
            <a:ext cx="3857661" cy="1122872"/>
            <a:chOff x="2585048" y="1364378"/>
            <a:chExt cx="2717326" cy="1386093"/>
          </a:xfrm>
        </p:grpSpPr>
        <p:grpSp>
          <p:nvGrpSpPr>
            <p:cNvPr id="37" name="Group 24"/>
            <p:cNvGrpSpPr/>
            <p:nvPr/>
          </p:nvGrpSpPr>
          <p:grpSpPr>
            <a:xfrm>
              <a:off x="2881221" y="1364378"/>
              <a:ext cx="2421153" cy="945440"/>
              <a:chOff x="2881221" y="1364378"/>
              <a:chExt cx="2421153" cy="945440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3692110" y="1663487"/>
                <a:ext cx="1610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x 100%</a:t>
                </a:r>
                <a:endParaRPr lang="en-US" sz="3600" dirty="0"/>
              </a:p>
            </p:txBody>
          </p:sp>
          <p:cxnSp>
            <p:nvCxnSpPr>
              <p:cNvPr id="4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2886973" y="1364378"/>
                <a:ext cx="914399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120g</a:t>
                </a:r>
              </a:p>
            </p:txBody>
          </p:sp>
        </p:grpSp>
        <p:sp>
          <p:nvSpPr>
            <p:cNvPr id="38" name="TextBox 5"/>
            <p:cNvSpPr txBox="1"/>
            <p:nvPr/>
          </p:nvSpPr>
          <p:spPr>
            <a:xfrm>
              <a:off x="2585048" y="1952628"/>
              <a:ext cx="1308339" cy="797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1120g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2598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/>
      <p:bldP spid="32" grpId="0" uiExpand="1" animBg="1"/>
      <p:bldP spid="33" grpId="0" uiExpand="1"/>
      <p:bldP spid="34" grpId="0" uiExpand="1"/>
      <p:bldP spid="22" grpId="0"/>
      <p:bldP spid="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41" y="785794"/>
            <a:ext cx="8929718" cy="607220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altLang="zh-CN" sz="3000" dirty="0"/>
              <a:t>1. </a:t>
            </a:r>
            <a:r>
              <a:rPr lang="en-US" sz="3000" dirty="0"/>
              <a:t>[KOH]=4.24M</a:t>
            </a:r>
            <a:r>
              <a:rPr lang="zh-CN" altLang="en-US" sz="3000" dirty="0"/>
              <a:t>，</a:t>
            </a:r>
            <a:r>
              <a:rPr lang="el-GR" sz="3000" dirty="0"/>
              <a:t>ρ</a:t>
            </a:r>
            <a:r>
              <a:rPr lang="zh-CN" altLang="en-US" sz="3000" baseline="-25000" dirty="0"/>
              <a:t>液  </a:t>
            </a:r>
            <a:r>
              <a:rPr lang="en-US" altLang="zh-CN" sz="3000" dirty="0"/>
              <a:t>= 1.188g/</a:t>
            </a:r>
            <a:r>
              <a:rPr lang="en-US" altLang="zh-CN" sz="3000" dirty="0" err="1"/>
              <a:t>mL</a:t>
            </a:r>
            <a:r>
              <a:rPr lang="zh-CN" altLang="en-US" sz="3000" dirty="0"/>
              <a:t>计算此溶液的</a:t>
            </a:r>
            <a:r>
              <a:rPr lang="el-GR" altLang="zh-CN" sz="3000" dirty="0"/>
              <a:t>ω</a:t>
            </a:r>
            <a:r>
              <a:rPr lang="en-US" altLang="zh-CN" sz="3000" dirty="0"/>
              <a:t>,C</a:t>
            </a:r>
            <a:r>
              <a:rPr lang="en-US" altLang="zh-CN" sz="3000" baseline="-25000" dirty="0"/>
              <a:t>m</a:t>
            </a:r>
            <a:r>
              <a:rPr lang="en-US" altLang="zh-CN" sz="3000" dirty="0"/>
              <a:t> ,</a:t>
            </a:r>
            <a:r>
              <a:rPr lang="el-GR" altLang="zh-CN" sz="3000" dirty="0"/>
              <a:t>χ</a:t>
            </a:r>
            <a:r>
              <a:rPr lang="zh-CN" altLang="en-US" sz="3000" baseline="-25000" dirty="0"/>
              <a:t>质</a:t>
            </a:r>
            <a:r>
              <a:rPr lang="en-US" altLang="zh-CN" sz="3000" baseline="-25000" dirty="0"/>
              <a:t>.</a:t>
            </a:r>
            <a:endParaRPr lang="en-US" sz="3000" dirty="0"/>
          </a:p>
          <a:p>
            <a:pPr>
              <a:buNone/>
            </a:pPr>
            <a:endParaRPr lang="en-US" sz="3600" dirty="0"/>
          </a:p>
          <a:p>
            <a:pPr>
              <a:buNone/>
            </a:pP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4.24M</a:t>
            </a:r>
          </a:p>
          <a:p>
            <a:pPr>
              <a:buNone/>
            </a:pP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m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</a:t>
            </a:r>
            <a:r>
              <a:rPr lang="en-US" sz="3600" dirty="0"/>
              <a:t> </a:t>
            </a:r>
            <a:r>
              <a:rPr lang="en-US" altLang="zh-CN" sz="3600" dirty="0"/>
              <a:t> </a:t>
            </a:r>
            <a:r>
              <a:rPr lang="el-GR" sz="3600" dirty="0"/>
              <a:t>ρ</a:t>
            </a:r>
            <a:r>
              <a:rPr lang="zh-CN" altLang="en-US" sz="3600" baseline="-25000" dirty="0"/>
              <a:t>液</a:t>
            </a:r>
            <a:r>
              <a:rPr lang="en-US" altLang="zh-CN" sz="3600" dirty="0"/>
              <a:t>V</a:t>
            </a:r>
            <a:r>
              <a:rPr lang="zh-CN" altLang="en-US" sz="3600" baseline="-25000" dirty="0"/>
              <a:t>液</a:t>
            </a:r>
            <a:endParaRPr lang="en-US" altLang="zh-CN" sz="3600" baseline="-25000" dirty="0"/>
          </a:p>
          <a:p>
            <a:pPr>
              <a:buNone/>
            </a:pPr>
            <a:r>
              <a:rPr lang="en-US" altLang="zh-CN" sz="3600" dirty="0"/>
              <a:t>	= 1.188g/</a:t>
            </a:r>
            <a:r>
              <a:rPr lang="en-US" altLang="zh-CN" sz="3600" dirty="0" err="1"/>
              <a:t>mL</a:t>
            </a:r>
            <a:r>
              <a:rPr lang="en-US" altLang="zh-CN" sz="3600" dirty="0"/>
              <a:t> x 1L</a:t>
            </a:r>
            <a:endParaRPr lang="en-US" altLang="zh-CN" sz="3600" baseline="30000" dirty="0"/>
          </a:p>
          <a:p>
            <a:pPr>
              <a:buNone/>
            </a:pPr>
            <a:r>
              <a:rPr lang="en-US" altLang="zh-CN" sz="3600" dirty="0"/>
              <a:t>	= 1.188gmL</a:t>
            </a:r>
            <a:r>
              <a:rPr lang="en-US" altLang="zh-CN" sz="3600" baseline="30000" dirty="0"/>
              <a:t>-1</a:t>
            </a:r>
            <a:r>
              <a:rPr lang="en-US" altLang="zh-CN" sz="3600" dirty="0"/>
              <a:t>x1000mL</a:t>
            </a:r>
          </a:p>
          <a:p>
            <a:pPr>
              <a:buNone/>
            </a:pPr>
            <a:r>
              <a:rPr lang="en-US" altLang="zh-CN" sz="3600" dirty="0"/>
              <a:t>	= 1188g</a:t>
            </a:r>
          </a:p>
          <a:p>
            <a:pPr>
              <a:buNone/>
            </a:pPr>
            <a:r>
              <a:rPr lang="en-US" sz="3600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9190" y="1818256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/>
              <a:t>ρ</a:t>
            </a:r>
            <a:r>
              <a:rPr lang="zh-CN" altLang="en-US" sz="3600" baseline="-25000" dirty="0"/>
              <a:t>液  </a:t>
            </a:r>
            <a:r>
              <a:rPr lang="en-US" altLang="zh-CN" sz="3600" dirty="0"/>
              <a:t>= 1.188g/</a:t>
            </a:r>
            <a:r>
              <a:rPr lang="en-US" altLang="zh-CN" sz="3600" dirty="0" err="1"/>
              <a:t>mL</a:t>
            </a:r>
            <a:endParaRPr lang="en-US" sz="3600" dirty="0"/>
          </a:p>
        </p:txBody>
      </p:sp>
      <p:sp>
        <p:nvSpPr>
          <p:cNvPr id="32" name="Left Brace 31"/>
          <p:cNvSpPr/>
          <p:nvPr/>
        </p:nvSpPr>
        <p:spPr>
          <a:xfrm>
            <a:off x="1426943" y="2047001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79832" y="1973019"/>
            <a:ext cx="278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n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4.24mol</a:t>
            </a:r>
            <a:endParaRPr lang="en-US" sz="3600" dirty="0"/>
          </a:p>
        </p:txBody>
      </p:sp>
      <p:sp>
        <p:nvSpPr>
          <p:cNvPr id="34" name="TextBox 33"/>
          <p:cNvSpPr txBox="1"/>
          <p:nvPr/>
        </p:nvSpPr>
        <p:spPr>
          <a:xfrm>
            <a:off x="1602704" y="2663757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V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 1L </a:t>
            </a:r>
            <a:endParaRPr lang="en-US" sz="3600" dirty="0"/>
          </a:p>
        </p:txBody>
      </p:sp>
      <p:sp>
        <p:nvSpPr>
          <p:cNvPr id="17" name="Rectangle 16"/>
          <p:cNvSpPr/>
          <p:nvPr/>
        </p:nvSpPr>
        <p:spPr>
          <a:xfrm>
            <a:off x="-32" y="0"/>
            <a:ext cx="2271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补充题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29190" y="2462892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M(KOH)</a:t>
            </a:r>
            <a:r>
              <a:rPr lang="zh-CN" altLang="en-US" sz="3600" baseline="-25000" dirty="0"/>
              <a:t>  </a:t>
            </a:r>
            <a:r>
              <a:rPr lang="en-US" altLang="zh-CN" sz="3600" dirty="0"/>
              <a:t>= 56g/mol</a:t>
            </a:r>
            <a:endParaRPr lang="en-US" sz="3600" dirty="0"/>
          </a:p>
        </p:txBody>
      </p:sp>
      <p:sp>
        <p:nvSpPr>
          <p:cNvPr id="37" name="TextBox 36"/>
          <p:cNvSpPr txBox="1"/>
          <p:nvPr/>
        </p:nvSpPr>
        <p:spPr>
          <a:xfrm>
            <a:off x="4786346" y="3645024"/>
            <a:ext cx="450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  <a:r>
              <a:rPr lang="zh-CN" altLang="en-US" sz="3600" baseline="-25000" dirty="0"/>
              <a:t>质</a:t>
            </a:r>
            <a:r>
              <a:rPr lang="en-US" sz="3600" dirty="0"/>
              <a:t>=</a:t>
            </a:r>
            <a:r>
              <a:rPr lang="en-US" altLang="zh-CN" sz="3600" dirty="0"/>
              <a:t>4.24</a:t>
            </a:r>
            <a:r>
              <a:rPr lang="en-US" sz="3600" dirty="0"/>
              <a:t>mol</a:t>
            </a:r>
            <a:r>
              <a:rPr lang="en-US" altLang="zh-CN" sz="3600" dirty="0"/>
              <a:t>x56g/mol</a:t>
            </a:r>
            <a:endParaRPr lang="en-US" sz="3600" dirty="0"/>
          </a:p>
        </p:txBody>
      </p:sp>
      <p:sp>
        <p:nvSpPr>
          <p:cNvPr id="42" name="TextBox 41"/>
          <p:cNvSpPr txBox="1"/>
          <p:nvPr/>
        </p:nvSpPr>
        <p:spPr>
          <a:xfrm>
            <a:off x="5488448" y="4359404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237.44g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8581" y="4930908"/>
            <a:ext cx="4500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</a:t>
            </a:r>
            <a:r>
              <a:rPr lang="zh-CN" altLang="en-US" sz="3600" baseline="-25000" dirty="0"/>
              <a:t>剂</a:t>
            </a:r>
            <a:r>
              <a:rPr lang="en-US" sz="3600" dirty="0"/>
              <a:t> = </a:t>
            </a:r>
            <a:r>
              <a:rPr lang="en-US" altLang="zh-CN" sz="3600" dirty="0"/>
              <a:t>1188g–237.44g</a:t>
            </a:r>
            <a:endParaRPr lang="en-US" sz="3600" dirty="0"/>
          </a:p>
        </p:txBody>
      </p:sp>
      <p:sp>
        <p:nvSpPr>
          <p:cNvPr id="28" name="TextBox 27"/>
          <p:cNvSpPr txBox="1"/>
          <p:nvPr/>
        </p:nvSpPr>
        <p:spPr>
          <a:xfrm>
            <a:off x="4593425" y="5502412"/>
            <a:ext cx="371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     = 950.56g</a:t>
            </a:r>
          </a:p>
        </p:txBody>
      </p:sp>
    </p:spTree>
    <p:extLst>
      <p:ext uri="{BB962C8B-B14F-4D97-AF65-F5344CB8AC3E}">
        <p14:creationId xmlns:p14="http://schemas.microsoft.com/office/powerpoint/2010/main" val="1299518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4" grpId="0"/>
      <p:bldP spid="32" grpId="0" animBg="1"/>
      <p:bldP spid="33" grpId="0"/>
      <p:bldP spid="34" grpId="0"/>
      <p:bldP spid="26" grpId="0"/>
      <p:bldP spid="37" grpId="0"/>
      <p:bldP spid="42" grpId="0"/>
      <p:bldP spid="27" grpId="0"/>
      <p:bldP spid="2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=237.44g, 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=950.56g , m</a:t>
            </a:r>
            <a:r>
              <a:rPr lang="zh-CN" altLang="en-US" baseline="-25000" dirty="0"/>
              <a:t>液</a:t>
            </a:r>
            <a:r>
              <a:rPr lang="en-US" altLang="zh-CN" dirty="0"/>
              <a:t>= 1188g</a:t>
            </a:r>
          </a:p>
          <a:p>
            <a:pPr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4.24mol</a:t>
            </a:r>
          </a:p>
          <a:p>
            <a:pPr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950.56g/18gmol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  = 52.81mol</a:t>
            </a:r>
          </a:p>
          <a:p>
            <a:pPr>
              <a:buNone/>
            </a:pPr>
            <a:r>
              <a:rPr lang="zh-CN" altLang="en-US" dirty="0"/>
              <a:t>质量百分比浓度</a:t>
            </a:r>
            <a:r>
              <a:rPr lang="en-US" altLang="zh-CN" dirty="0"/>
              <a:t>= </a:t>
            </a:r>
          </a:p>
          <a:p>
            <a:pPr>
              <a:buNone/>
            </a:pPr>
            <a:r>
              <a:rPr lang="en-US" altLang="zh-CN" dirty="0"/>
              <a:t>				 = 19.99%</a:t>
            </a:r>
          </a:p>
          <a:p>
            <a:pPr>
              <a:buNone/>
            </a:pPr>
            <a:r>
              <a:rPr lang="zh-CN" altLang="en-US" dirty="0"/>
              <a:t>质量摩尔浓度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=</a:t>
            </a:r>
          </a:p>
          <a:p>
            <a:pPr>
              <a:buNone/>
            </a:pPr>
            <a:r>
              <a:rPr lang="en-US" altLang="zh-CN" dirty="0"/>
              <a:t>			           = 4.46mol/kg</a:t>
            </a:r>
          </a:p>
          <a:p>
            <a:pPr>
              <a:buNone/>
            </a:pPr>
            <a:r>
              <a:rPr lang="zh-CN" altLang="en-US" dirty="0"/>
              <a:t>溶质的摩尔分数</a:t>
            </a:r>
            <a:r>
              <a:rPr lang="el-GR" altLang="zh-CN" dirty="0"/>
              <a:t>χ</a:t>
            </a:r>
            <a:r>
              <a:rPr lang="zh-CN" altLang="en-US" baseline="-25000" dirty="0"/>
              <a:t>质 </a:t>
            </a:r>
            <a:r>
              <a:rPr lang="en-US" altLang="zh-CN" dirty="0"/>
              <a:t>= </a:t>
            </a:r>
          </a:p>
          <a:p>
            <a:pPr>
              <a:buNone/>
            </a:pPr>
            <a:r>
              <a:rPr lang="en-US" altLang="zh-CN" dirty="0"/>
              <a:t>				       = 0.074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2941190" y="3987233"/>
            <a:ext cx="2514580" cy="1016792"/>
            <a:chOff x="2451353" y="1500846"/>
            <a:chExt cx="1771258" cy="1016792"/>
          </a:xfrm>
        </p:grpSpPr>
        <p:grpSp>
          <p:nvGrpSpPr>
            <p:cNvPr id="4" name="Group 24"/>
            <p:cNvGrpSpPr/>
            <p:nvPr/>
          </p:nvGrpSpPr>
          <p:grpSpPr>
            <a:xfrm>
              <a:off x="2685689" y="1500846"/>
              <a:ext cx="1417604" cy="584775"/>
              <a:chOff x="2685689" y="1500846"/>
              <a:chExt cx="1417604" cy="584775"/>
            </a:xfrm>
          </p:grpSpPr>
          <p:cxnSp>
            <p:nvCxnSpPr>
              <p:cNvPr id="2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685689" y="1500846"/>
                <a:ext cx="14176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</a:t>
                </a:r>
                <a:r>
                  <a:rPr lang="en-US" altLang="zh-CN" sz="3200" dirty="0"/>
                  <a:t>4.24mol</a:t>
                </a:r>
                <a:endParaRPr lang="en-US" sz="3200" dirty="0"/>
              </a:p>
            </p:txBody>
          </p:sp>
        </p:grpSp>
        <p:sp>
          <p:nvSpPr>
            <p:cNvPr id="19" name="TextBox 5"/>
            <p:cNvSpPr txBox="1"/>
            <p:nvPr/>
          </p:nvSpPr>
          <p:spPr>
            <a:xfrm>
              <a:off x="2451353" y="1932863"/>
              <a:ext cx="1771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 0.95056kg</a:t>
              </a:r>
              <a:endParaRPr lang="en-US" sz="3200" dirty="0"/>
            </a:p>
          </p:txBody>
        </p:sp>
      </p:grpSp>
      <p:grpSp>
        <p:nvGrpSpPr>
          <p:cNvPr id="5" name="Group 3"/>
          <p:cNvGrpSpPr/>
          <p:nvPr/>
        </p:nvGrpSpPr>
        <p:grpSpPr>
          <a:xfrm>
            <a:off x="3131841" y="2782669"/>
            <a:ext cx="3797613" cy="941965"/>
            <a:chOff x="2627346" y="1520611"/>
            <a:chExt cx="2675028" cy="941965"/>
          </a:xfrm>
        </p:grpSpPr>
        <p:grpSp>
          <p:nvGrpSpPr>
            <p:cNvPr id="7" name="Group 24"/>
            <p:cNvGrpSpPr/>
            <p:nvPr/>
          </p:nvGrpSpPr>
          <p:grpSpPr>
            <a:xfrm>
              <a:off x="2627346" y="1520611"/>
              <a:ext cx="2675028" cy="727651"/>
              <a:chOff x="2627346" y="1520611"/>
              <a:chExt cx="2675028" cy="727651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3692110" y="1663487"/>
                <a:ext cx="1610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 x 100%</a:t>
                </a:r>
                <a:endParaRPr lang="en-US" sz="3200" dirty="0"/>
              </a:p>
            </p:txBody>
          </p:sp>
          <p:cxnSp>
            <p:nvCxnSpPr>
              <p:cNvPr id="15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2627346" y="1520611"/>
                <a:ext cx="130833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</a:t>
                </a:r>
                <a:r>
                  <a:rPr lang="en-US" altLang="zh-CN" sz="3200" dirty="0"/>
                  <a:t>237.44g</a:t>
                </a:r>
                <a:endParaRPr lang="en-US" sz="3200" dirty="0"/>
              </a:p>
            </p:txBody>
          </p:sp>
        </p:grpSp>
        <p:sp>
          <p:nvSpPr>
            <p:cNvPr id="13" name="TextBox 5"/>
            <p:cNvSpPr txBox="1"/>
            <p:nvPr/>
          </p:nvSpPr>
          <p:spPr>
            <a:xfrm>
              <a:off x="2685696" y="1877801"/>
              <a:ext cx="12580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1188g</a:t>
              </a:r>
              <a:endParaRPr lang="en-US" sz="3200" dirty="0"/>
            </a:p>
          </p:txBody>
        </p:sp>
      </p:grpSp>
      <p:grpSp>
        <p:nvGrpSpPr>
          <p:cNvPr id="8" name="Group 3"/>
          <p:cNvGrpSpPr/>
          <p:nvPr/>
        </p:nvGrpSpPr>
        <p:grpSpPr>
          <a:xfrm>
            <a:off x="3643306" y="5136734"/>
            <a:ext cx="3143272" cy="1078348"/>
            <a:chOff x="2585046" y="1339522"/>
            <a:chExt cx="2214111" cy="1331131"/>
          </a:xfrm>
        </p:grpSpPr>
        <p:grpSp>
          <p:nvGrpSpPr>
            <p:cNvPr id="9" name="Group 24"/>
            <p:cNvGrpSpPr/>
            <p:nvPr/>
          </p:nvGrpSpPr>
          <p:grpSpPr>
            <a:xfrm>
              <a:off x="2881217" y="1339522"/>
              <a:ext cx="1674661" cy="797841"/>
              <a:chOff x="2881217" y="1339522"/>
              <a:chExt cx="1674661" cy="797841"/>
            </a:xfrm>
          </p:grpSpPr>
          <p:cxnSp>
            <p:nvCxnSpPr>
              <p:cNvPr id="23" name="Straight Connector 8"/>
              <p:cNvCxnSpPr/>
              <p:nvPr/>
            </p:nvCxnSpPr>
            <p:spPr>
              <a:xfrm>
                <a:off x="2881217" y="2022478"/>
                <a:ext cx="167466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129947" y="1339522"/>
                <a:ext cx="914399" cy="79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4.24</a:t>
                </a:r>
              </a:p>
            </p:txBody>
          </p:sp>
        </p:grpSp>
        <p:sp>
          <p:nvSpPr>
            <p:cNvPr id="22" name="TextBox 5"/>
            <p:cNvSpPr txBox="1"/>
            <p:nvPr/>
          </p:nvSpPr>
          <p:spPr>
            <a:xfrm>
              <a:off x="2585046" y="1872811"/>
              <a:ext cx="2214111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4.24 + 52.81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015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2. </a:t>
            </a:r>
            <a:r>
              <a:rPr lang="zh-CN" altLang="en-US" dirty="0"/>
              <a:t>某硫酸溶液由</a:t>
            </a:r>
            <a:r>
              <a:rPr lang="en-US" altLang="zh-CN" dirty="0"/>
              <a:t>294gH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1000g</a:t>
            </a:r>
            <a:r>
              <a:rPr lang="zh-CN" altLang="en-US" dirty="0"/>
              <a:t>水配成，密度为</a:t>
            </a:r>
            <a:r>
              <a:rPr lang="en-US" altLang="zh-CN" dirty="0"/>
              <a:t>1.16g/</a:t>
            </a:r>
            <a:r>
              <a:rPr lang="en-US" altLang="zh-CN" dirty="0" err="1"/>
              <a:t>mL</a:t>
            </a:r>
            <a:r>
              <a:rPr lang="zh-CN" altLang="en-US" dirty="0"/>
              <a:t>。计算此溶液的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zh-CN" altLang="en-US" dirty="0"/>
              <a:t>。</a:t>
            </a:r>
            <a:endParaRPr lang="en-US" dirty="0"/>
          </a:p>
          <a:p>
            <a:pPr>
              <a:buNone/>
            </a:pPr>
            <a:r>
              <a:rPr lang="zh-CN" altLang="en-US" dirty="0"/>
              <a:t>已知：</a:t>
            </a:r>
            <a:r>
              <a:rPr lang="en-US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294g</a:t>
            </a:r>
            <a:r>
              <a:rPr lang="zh-CN" altLang="en-US" dirty="0"/>
              <a:t>，</a:t>
            </a:r>
            <a:r>
              <a:rPr lang="en-US" dirty="0"/>
              <a:t>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1000g</a:t>
            </a:r>
            <a:r>
              <a:rPr lang="zh-CN" altLang="en-US" dirty="0"/>
              <a:t>，</a:t>
            </a:r>
            <a:r>
              <a:rPr lang="el-GR" dirty="0"/>
              <a:t>ρ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1.16g/</a:t>
            </a:r>
            <a:r>
              <a:rPr lang="en-US" altLang="zh-CN" dirty="0" err="1"/>
              <a:t>mL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M(H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) = 98g/mol</a:t>
            </a:r>
          </a:p>
          <a:p>
            <a:pPr>
              <a:buNone/>
            </a:pPr>
            <a:r>
              <a:rPr lang="en-US" altLang="zh-CN" dirty="0"/>
              <a:t>	n</a:t>
            </a:r>
            <a:r>
              <a:rPr lang="zh-CN" altLang="en-US" baseline="-25000" dirty="0"/>
              <a:t>质</a:t>
            </a:r>
            <a:r>
              <a:rPr lang="en-US" altLang="zh-CN" dirty="0"/>
              <a:t>	= 294g/98gmol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buNone/>
            </a:pPr>
            <a:r>
              <a:rPr lang="en-US" altLang="zh-CN" dirty="0"/>
              <a:t>		= 3mol</a:t>
            </a:r>
          </a:p>
          <a:p>
            <a:pPr>
              <a:buNone/>
            </a:pPr>
            <a:r>
              <a:rPr lang="en-US" altLang="zh-CN" dirty="0"/>
              <a:t>  </a:t>
            </a:r>
          </a:p>
          <a:p>
            <a:pPr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en-US" dirty="0"/>
              <a:t> </a:t>
            </a:r>
            <a:r>
              <a:rPr lang="en-US" altLang="zh-CN" dirty="0"/>
              <a:t> 1294g</a:t>
            </a:r>
            <a:endParaRPr lang="en-US" altLang="zh-CN" baseline="-25000" dirty="0"/>
          </a:p>
          <a:p>
            <a:pPr>
              <a:buNone/>
            </a:pPr>
            <a:r>
              <a:rPr lang="en-US" altLang="zh-CN" dirty="0"/>
              <a:t>	V </a:t>
            </a:r>
            <a:r>
              <a:rPr lang="zh-CN" altLang="en-US" baseline="-25000" dirty="0"/>
              <a:t>液</a:t>
            </a:r>
            <a:r>
              <a:rPr lang="en-US" altLang="zh-CN" dirty="0"/>
              <a:t>= 1294g/1.16gmL</a:t>
            </a:r>
            <a:r>
              <a:rPr lang="en-US" altLang="zh-CN" baseline="30000" dirty="0"/>
              <a:t>-1</a:t>
            </a:r>
          </a:p>
          <a:p>
            <a:pPr>
              <a:buNone/>
            </a:pPr>
            <a:r>
              <a:rPr lang="en-US" altLang="zh-CN" dirty="0"/>
              <a:t>		 = 1115.52mL</a:t>
            </a:r>
            <a:r>
              <a:rPr lang="en-US" dirty="0"/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2132" y="3429000"/>
            <a:ext cx="3369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= 3mol/kg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4" y="5500702"/>
            <a:ext cx="371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       = 2.69mol/L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32" y="0"/>
            <a:ext cx="2271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补充题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929190" y="2571744"/>
            <a:ext cx="3234196" cy="955236"/>
            <a:chOff x="2109793" y="1517507"/>
            <a:chExt cx="1856278" cy="955236"/>
          </a:xfrm>
        </p:grpSpPr>
        <p:grpSp>
          <p:nvGrpSpPr>
            <p:cNvPr id="4" name="Group 24"/>
            <p:cNvGrpSpPr/>
            <p:nvPr/>
          </p:nvGrpSpPr>
          <p:grpSpPr>
            <a:xfrm>
              <a:off x="2109793" y="1517507"/>
              <a:ext cx="1682951" cy="730755"/>
              <a:chOff x="2109793" y="1517507"/>
              <a:chExt cx="1682951" cy="730755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2109793" y="1663487"/>
                <a:ext cx="161026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 C</a:t>
                </a:r>
                <a:r>
                  <a:rPr lang="en-US" altLang="zh-CN" sz="3200" baseline="-25000" dirty="0"/>
                  <a:t>m</a:t>
                </a:r>
                <a:r>
                  <a:rPr lang="en-US" altLang="zh-CN" sz="3200" dirty="0"/>
                  <a:t> =</a:t>
                </a:r>
                <a:endParaRPr lang="en-US" sz="3200" dirty="0"/>
              </a:p>
            </p:txBody>
          </p:sp>
          <p:cxnSp>
            <p:nvCxnSpPr>
              <p:cNvPr id="20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2878345" y="1517507"/>
                <a:ext cx="9143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3mol</a:t>
                </a:r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2777010" y="1887968"/>
              <a:ext cx="11890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 1kg</a:t>
              </a:r>
              <a:endParaRPr lang="en-US" sz="3200" dirty="0"/>
            </a:p>
          </p:txBody>
        </p:sp>
      </p:grpSp>
      <p:grpSp>
        <p:nvGrpSpPr>
          <p:cNvPr id="5" name="Group 3"/>
          <p:cNvGrpSpPr/>
          <p:nvPr/>
        </p:nvGrpSpPr>
        <p:grpSpPr>
          <a:xfrm>
            <a:off x="4500562" y="4572008"/>
            <a:ext cx="3981044" cy="1019896"/>
            <a:chOff x="1658771" y="1517507"/>
            <a:chExt cx="2284933" cy="1019896"/>
          </a:xfrm>
        </p:grpSpPr>
        <p:grpSp>
          <p:nvGrpSpPr>
            <p:cNvPr id="7" name="Group 24"/>
            <p:cNvGrpSpPr/>
            <p:nvPr/>
          </p:nvGrpSpPr>
          <p:grpSpPr>
            <a:xfrm>
              <a:off x="1658771" y="1517507"/>
              <a:ext cx="2133973" cy="730755"/>
              <a:chOff x="1658771" y="1517507"/>
              <a:chExt cx="2133973" cy="730755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658771" y="1663487"/>
                <a:ext cx="1610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 [H</a:t>
                </a:r>
                <a:r>
                  <a:rPr lang="en-US" altLang="zh-CN" sz="3200" baseline="-25000" dirty="0"/>
                  <a:t>2</a:t>
                </a:r>
                <a:r>
                  <a:rPr lang="en-US" altLang="zh-CN" sz="3200" dirty="0"/>
                  <a:t>SO</a:t>
                </a:r>
                <a:r>
                  <a:rPr lang="en-US" altLang="zh-CN" sz="3200" baseline="-25000" dirty="0"/>
                  <a:t>4</a:t>
                </a:r>
                <a:r>
                  <a:rPr lang="en-US" altLang="zh-CN" sz="3200" dirty="0"/>
                  <a:t>] =</a:t>
                </a:r>
                <a:endParaRPr lang="en-US" sz="3200" dirty="0"/>
              </a:p>
            </p:txBody>
          </p:sp>
          <p:cxnSp>
            <p:nvCxnSpPr>
              <p:cNvPr id="29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2878345" y="1517507"/>
                <a:ext cx="9143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3mol</a:t>
                </a:r>
              </a:p>
            </p:txBody>
          </p:sp>
        </p:grpSp>
        <p:sp>
          <p:nvSpPr>
            <p:cNvPr id="24" name="TextBox 5"/>
            <p:cNvSpPr txBox="1"/>
            <p:nvPr/>
          </p:nvSpPr>
          <p:spPr>
            <a:xfrm>
              <a:off x="2601819" y="1952628"/>
              <a:ext cx="13418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 1.11552L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10558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2" grpId="0"/>
      <p:bldP spid="2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dirty="0"/>
              <a:t>3. </a:t>
            </a:r>
            <a:r>
              <a:rPr lang="zh-CN" altLang="en-US" sz="3600" dirty="0"/>
              <a:t>市售浓硫酸的质量百分比浓度为</a:t>
            </a:r>
            <a:r>
              <a:rPr lang="en-US" altLang="zh-CN" sz="3600" dirty="0"/>
              <a:t>98%</a:t>
            </a:r>
            <a:r>
              <a:rPr lang="zh-CN" altLang="en-US" sz="3600" dirty="0"/>
              <a:t>，密度为</a:t>
            </a:r>
            <a:r>
              <a:rPr lang="en-US" altLang="zh-CN" sz="3600" dirty="0"/>
              <a:t>1.84g/</a:t>
            </a:r>
            <a:r>
              <a:rPr lang="en-US" altLang="zh-CN" sz="3600" dirty="0" err="1"/>
              <a:t>mL</a:t>
            </a:r>
            <a:r>
              <a:rPr lang="zh-CN" altLang="en-US" sz="3600" dirty="0"/>
              <a:t>。试求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(a) </a:t>
            </a:r>
            <a:r>
              <a:rPr lang="zh-CN" altLang="en-US" sz="3600" dirty="0"/>
              <a:t>欲配制</a:t>
            </a:r>
            <a:r>
              <a:rPr lang="en-US" altLang="zh-CN" sz="3600" dirty="0"/>
              <a:t>15%</a:t>
            </a:r>
            <a:r>
              <a:rPr lang="zh-CN" altLang="en-US" sz="3600" dirty="0"/>
              <a:t>的硫酸溶液</a:t>
            </a:r>
            <a:r>
              <a:rPr lang="en-US" altLang="zh-CN" sz="3600" dirty="0"/>
              <a:t>500g</a:t>
            </a:r>
            <a:r>
              <a:rPr lang="zh-CN" altLang="en-US" sz="3600" dirty="0"/>
              <a:t>，需该市售硫酸多少毫升？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(b) </a:t>
            </a:r>
            <a:r>
              <a:rPr lang="zh-CN" altLang="en-US" sz="3600" dirty="0"/>
              <a:t>欲配制</a:t>
            </a:r>
            <a:r>
              <a:rPr lang="en-US" altLang="zh-CN" sz="3600" dirty="0"/>
              <a:t>3mol/kg</a:t>
            </a:r>
            <a:r>
              <a:rPr lang="zh-CN" altLang="en-US" sz="3600" dirty="0"/>
              <a:t>的硫酸溶液</a:t>
            </a:r>
            <a:r>
              <a:rPr lang="en-US" altLang="zh-CN" sz="3600" dirty="0"/>
              <a:t>400g</a:t>
            </a:r>
            <a:r>
              <a:rPr lang="zh-CN" altLang="en-US" sz="3600" dirty="0"/>
              <a:t>，需该市售硫酸多少毫升？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	(c) </a:t>
            </a:r>
            <a:r>
              <a:rPr lang="zh-CN" altLang="en-US" sz="3600" dirty="0"/>
              <a:t>取</a:t>
            </a:r>
            <a:r>
              <a:rPr lang="en-US" altLang="zh-CN" sz="3600" dirty="0"/>
              <a:t>50mL</a:t>
            </a:r>
            <a:r>
              <a:rPr lang="zh-CN" altLang="en-US" sz="3600" dirty="0"/>
              <a:t>该市售硫酸溶于</a:t>
            </a:r>
            <a:r>
              <a:rPr lang="en-US" altLang="zh-CN" sz="3600" dirty="0"/>
              <a:t>200g</a:t>
            </a:r>
            <a:r>
              <a:rPr lang="zh-CN" altLang="en-US" sz="3600" dirty="0"/>
              <a:t>水中，此溶液的质量百分比浓度和质量摩尔浓度各是多少？</a:t>
            </a:r>
            <a:endParaRPr lang="en-US" altLang="zh-CN" sz="3600" dirty="0"/>
          </a:p>
        </p:txBody>
      </p:sp>
      <p:sp>
        <p:nvSpPr>
          <p:cNvPr id="4" name="Rectangle 3"/>
          <p:cNvSpPr/>
          <p:nvPr/>
        </p:nvSpPr>
        <p:spPr>
          <a:xfrm>
            <a:off x="-32" y="0"/>
            <a:ext cx="2271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zh-CN" altLang="en-US" sz="5400" b="1" dirty="0">
                <a:ln w="50800"/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补充题</a:t>
            </a:r>
            <a:endParaRPr lang="en-MY" sz="5400" b="1" cap="none" spc="0" dirty="0">
              <a:ln w="50800"/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9143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3600" dirty="0"/>
              <a:t>解</a:t>
            </a:r>
            <a:r>
              <a:rPr lang="en-US" altLang="zh-CN" sz="3600" dirty="0"/>
              <a:t>3a) </a:t>
            </a:r>
            <a:r>
              <a:rPr lang="zh-CN" altLang="en-US" sz="3600" dirty="0"/>
              <a:t>稀释前后溶质质量不变</a:t>
            </a:r>
            <a:endParaRPr lang="en-US" altLang="zh-CN" sz="3600" dirty="0"/>
          </a:p>
          <a:p>
            <a:pPr>
              <a:buNone/>
            </a:pPr>
            <a:r>
              <a:rPr lang="en-US" sz="3600" dirty="0"/>
              <a:t>   c</a:t>
            </a:r>
            <a:r>
              <a:rPr lang="en-US" sz="3600" baseline="-25000" dirty="0"/>
              <a:t>1</a:t>
            </a:r>
            <a:r>
              <a:rPr lang="en-US" sz="3600" dirty="0"/>
              <a:t> 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zh-CN" altLang="en-US" sz="3600" dirty="0"/>
              <a:t> </a:t>
            </a:r>
            <a:r>
              <a:rPr lang="en-US" altLang="zh-CN" sz="3600" dirty="0"/>
              <a:t>=  c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 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 </a:t>
            </a:r>
          </a:p>
          <a:p>
            <a:pPr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l-GR" dirty="0"/>
              <a:t>ρ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V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  c</a:t>
            </a:r>
            <a:r>
              <a:rPr lang="en-US" altLang="zh-CN" baseline="-25000" dirty="0"/>
              <a:t>2</a:t>
            </a:r>
            <a:r>
              <a:rPr lang="en-US" altLang="zh-CN" dirty="0"/>
              <a:t> 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V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	        </a:t>
            </a:r>
            <a:r>
              <a:rPr lang="en-US" altLang="zh-CN" dirty="0"/>
              <a:t>= 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        </a:t>
            </a:r>
            <a:r>
              <a:rPr lang="en-US" altLang="zh-CN" dirty="0"/>
              <a:t>= 41.59mL</a:t>
            </a:r>
            <a:endParaRPr lang="en-US" dirty="0"/>
          </a:p>
        </p:txBody>
      </p:sp>
      <p:grpSp>
        <p:nvGrpSpPr>
          <p:cNvPr id="2" name="Group 3"/>
          <p:cNvGrpSpPr/>
          <p:nvPr/>
        </p:nvGrpSpPr>
        <p:grpSpPr>
          <a:xfrm>
            <a:off x="2857488" y="2571744"/>
            <a:ext cx="3143272" cy="1149786"/>
            <a:chOff x="2836651" y="1251338"/>
            <a:chExt cx="2214111" cy="1419315"/>
          </a:xfrm>
        </p:grpSpPr>
        <p:grpSp>
          <p:nvGrpSpPr>
            <p:cNvPr id="4" name="Group 24"/>
            <p:cNvGrpSpPr/>
            <p:nvPr/>
          </p:nvGrpSpPr>
          <p:grpSpPr>
            <a:xfrm>
              <a:off x="2881217" y="1251338"/>
              <a:ext cx="1674661" cy="797842"/>
              <a:chOff x="2881217" y="1251338"/>
              <a:chExt cx="1674661" cy="797842"/>
            </a:xfrm>
          </p:grpSpPr>
          <p:cxnSp>
            <p:nvCxnSpPr>
              <p:cNvPr id="16" name="Straight Connector 8"/>
              <p:cNvCxnSpPr/>
              <p:nvPr/>
            </p:nvCxnSpPr>
            <p:spPr>
              <a:xfrm>
                <a:off x="2881217" y="2022478"/>
                <a:ext cx="167466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037933" y="1251338"/>
                <a:ext cx="1316965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c</a:t>
                </a:r>
                <a:r>
                  <a:rPr lang="en-US" sz="3600" baseline="-25000" dirty="0"/>
                  <a:t>2</a:t>
                </a:r>
                <a:r>
                  <a:rPr lang="en-US" sz="3600" dirty="0"/>
                  <a:t> m</a:t>
                </a:r>
                <a:r>
                  <a:rPr lang="zh-CN" altLang="en-US" sz="3600" baseline="-25000" dirty="0"/>
                  <a:t>液</a:t>
                </a:r>
                <a:r>
                  <a:rPr lang="en-US" altLang="zh-CN" sz="3600" baseline="-25000" dirty="0"/>
                  <a:t>2</a:t>
                </a:r>
                <a:endParaRPr lang="en-US" sz="3600" dirty="0"/>
              </a:p>
            </p:txBody>
          </p:sp>
        </p:grpSp>
        <p:sp>
          <p:nvSpPr>
            <p:cNvPr id="15" name="TextBox 5"/>
            <p:cNvSpPr txBox="1"/>
            <p:nvPr/>
          </p:nvSpPr>
          <p:spPr>
            <a:xfrm>
              <a:off x="2836651" y="1872811"/>
              <a:ext cx="2214111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</a:t>
              </a:r>
              <a:r>
                <a:rPr lang="en-US" sz="3600" dirty="0"/>
                <a:t> c</a:t>
              </a:r>
              <a:r>
                <a:rPr lang="en-US" altLang="zh-CN" sz="3600" baseline="-25000" dirty="0"/>
                <a:t>1</a:t>
              </a:r>
              <a:r>
                <a:rPr lang="en-US" sz="3600" dirty="0"/>
                <a:t> </a:t>
              </a:r>
              <a:r>
                <a:rPr lang="el-GR" sz="3600" dirty="0"/>
                <a:t>ρ</a:t>
              </a:r>
              <a:r>
                <a:rPr lang="zh-CN" altLang="en-US" sz="3600" baseline="-25000" dirty="0"/>
                <a:t>液</a:t>
              </a:r>
              <a:r>
                <a:rPr lang="en-US" altLang="zh-CN" sz="3600" baseline="-25000" dirty="0"/>
                <a:t>1</a:t>
              </a:r>
              <a:endParaRPr lang="en-US" sz="3600" dirty="0"/>
            </a:p>
          </p:txBody>
        </p:sp>
      </p:grpSp>
      <p:grpSp>
        <p:nvGrpSpPr>
          <p:cNvPr id="5" name="Group 3"/>
          <p:cNvGrpSpPr/>
          <p:nvPr/>
        </p:nvGrpSpPr>
        <p:grpSpPr>
          <a:xfrm>
            <a:off x="2357422" y="3511166"/>
            <a:ext cx="4429156" cy="1149786"/>
            <a:chOff x="2724069" y="1251338"/>
            <a:chExt cx="2326693" cy="1419315"/>
          </a:xfrm>
        </p:grpSpPr>
        <p:grpSp>
          <p:nvGrpSpPr>
            <p:cNvPr id="6" name="Group 24"/>
            <p:cNvGrpSpPr/>
            <p:nvPr/>
          </p:nvGrpSpPr>
          <p:grpSpPr>
            <a:xfrm>
              <a:off x="2881217" y="1251338"/>
              <a:ext cx="1674661" cy="797842"/>
              <a:chOff x="2881217" y="1251338"/>
              <a:chExt cx="1674661" cy="797842"/>
            </a:xfrm>
          </p:grpSpPr>
          <p:cxnSp>
            <p:nvCxnSpPr>
              <p:cNvPr id="28" name="Straight Connector 8"/>
              <p:cNvCxnSpPr/>
              <p:nvPr/>
            </p:nvCxnSpPr>
            <p:spPr>
              <a:xfrm>
                <a:off x="2881217" y="2022478"/>
                <a:ext cx="167466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3037933" y="1251338"/>
                <a:ext cx="1316965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15% x 500</a:t>
                </a:r>
                <a:r>
                  <a:rPr lang="en-US" altLang="zh-CN" sz="3600" dirty="0"/>
                  <a:t>g</a:t>
                </a:r>
                <a:endParaRPr lang="en-US" sz="3600" dirty="0"/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2724069" y="1872811"/>
              <a:ext cx="2326693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</a:t>
              </a:r>
              <a:r>
                <a:rPr lang="en-US" sz="3600" dirty="0"/>
                <a:t> </a:t>
              </a:r>
              <a:r>
                <a:rPr lang="en-US" altLang="zh-CN" sz="3600" dirty="0"/>
                <a:t>98% x 1.84g/</a:t>
              </a:r>
              <a:r>
                <a:rPr lang="en-US" altLang="zh-CN" sz="3600" dirty="0" err="1"/>
                <a:t>mL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40389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35798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3600" dirty="0"/>
              <a:t>3a)    m</a:t>
            </a:r>
            <a:r>
              <a:rPr lang="zh-CN" altLang="en-US" sz="3600" baseline="-25000" dirty="0"/>
              <a:t>质</a:t>
            </a:r>
            <a:r>
              <a:rPr lang="en-US" altLang="zh-CN" sz="3600" baseline="-25000" dirty="0"/>
              <a:t> </a:t>
            </a:r>
            <a:r>
              <a:rPr lang="en-US" altLang="zh-CN" sz="3600" dirty="0"/>
              <a:t>= 500g x 15%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= 75g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   c</a:t>
            </a:r>
            <a:r>
              <a:rPr lang="en-US" sz="3600" baseline="-25000" dirty="0"/>
              <a:t>1</a:t>
            </a:r>
            <a:r>
              <a:rPr lang="en-US" altLang="zh-CN" sz="3600" dirty="0"/>
              <a:t>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=  m</a:t>
            </a:r>
            <a:r>
              <a:rPr lang="zh-CN" altLang="en-US" sz="3600" baseline="-25000" dirty="0"/>
              <a:t>质</a:t>
            </a:r>
            <a:endParaRPr lang="en-US" altLang="zh-CN" sz="3600" dirty="0"/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	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= 75g/98%</a:t>
            </a: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</a:t>
            </a:r>
            <a:r>
              <a:rPr lang="en-US" altLang="zh-CN" sz="3600" dirty="0"/>
              <a:t>= 76.53g</a:t>
            </a: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V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en-US" sz="3600" dirty="0"/>
              <a:t> </a:t>
            </a:r>
            <a:r>
              <a:rPr lang="en-US" altLang="zh-CN" sz="3600" dirty="0"/>
              <a:t>= 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zh-CN" altLang="en-US" sz="3600" dirty="0"/>
              <a:t> </a:t>
            </a:r>
            <a:r>
              <a:rPr lang="en-US" altLang="zh-CN" sz="3600" dirty="0"/>
              <a:t>/</a:t>
            </a:r>
            <a:r>
              <a:rPr lang="el-GR" sz="3600" dirty="0"/>
              <a:t> ρ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</a:t>
            </a:r>
            <a:r>
              <a:rPr lang="en-US" altLang="zh-CN" sz="3600" dirty="0"/>
              <a:t>= 76.53g / 1.84gmL</a:t>
            </a:r>
            <a:r>
              <a:rPr lang="en-US" altLang="zh-CN" sz="3600" baseline="30000" dirty="0"/>
              <a:t>-1</a:t>
            </a:r>
            <a:r>
              <a:rPr lang="en-US" altLang="zh-CN" sz="36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= 41.59</a:t>
            </a:r>
            <a:r>
              <a:rPr lang="en-US" altLang="zh-CN" sz="3600" dirty="0"/>
              <a:t>mL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38904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35798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3b) </a:t>
            </a:r>
            <a:r>
              <a:rPr lang="zh-CN" altLang="en-US" sz="3600" dirty="0"/>
              <a:t>溶质</a:t>
            </a:r>
            <a:r>
              <a:rPr lang="en-US" altLang="zh-CN" sz="3600" dirty="0"/>
              <a:t>		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  <a:r>
              <a:rPr lang="zh-CN" altLang="en-US" sz="3600" dirty="0"/>
              <a:t>溶液</a:t>
            </a:r>
            <a:endParaRPr lang="en-US" altLang="zh-CN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   </a:t>
            </a:r>
            <a:r>
              <a:rPr lang="en-US" altLang="zh-CN" sz="3600" dirty="0"/>
              <a:t> 3mol		1kg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294g		1000g	1294g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  x					400g</a:t>
            </a:r>
          </a:p>
          <a:p>
            <a:pPr>
              <a:buNone/>
            </a:pPr>
            <a:r>
              <a:rPr lang="en-US" sz="3600" dirty="0"/>
              <a:t>			x = 90.88</a:t>
            </a:r>
            <a:r>
              <a:rPr lang="en-US" altLang="zh-CN" sz="3600" dirty="0"/>
              <a:t>g</a:t>
            </a:r>
            <a:endParaRPr lang="en-US" sz="3600" dirty="0"/>
          </a:p>
          <a:p>
            <a:pPr>
              <a:buNone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l-GR" dirty="0"/>
              <a:t>ρ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V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  m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V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	        </a:t>
            </a:r>
            <a:r>
              <a:rPr lang="en-US" altLang="zh-CN" dirty="0"/>
              <a:t>= </a:t>
            </a:r>
            <a:endParaRPr lang="en-US" dirty="0"/>
          </a:p>
          <a:p>
            <a:pPr>
              <a:buNone/>
            </a:pPr>
            <a:r>
              <a:rPr lang="en-US" dirty="0"/>
              <a:t>		        </a:t>
            </a:r>
            <a:r>
              <a:rPr lang="en-US" altLang="zh-CN" dirty="0"/>
              <a:t>= 50.40mL</a:t>
            </a:r>
            <a:endParaRPr lang="en-US" dirty="0"/>
          </a:p>
        </p:txBody>
      </p:sp>
      <p:grpSp>
        <p:nvGrpSpPr>
          <p:cNvPr id="2" name="Group 3"/>
          <p:cNvGrpSpPr/>
          <p:nvPr/>
        </p:nvGrpSpPr>
        <p:grpSpPr>
          <a:xfrm>
            <a:off x="2714612" y="4065164"/>
            <a:ext cx="3143272" cy="1149786"/>
            <a:chOff x="2836651" y="1251338"/>
            <a:chExt cx="2214111" cy="1419315"/>
          </a:xfrm>
        </p:grpSpPr>
        <p:grpSp>
          <p:nvGrpSpPr>
            <p:cNvPr id="4" name="Group 24"/>
            <p:cNvGrpSpPr/>
            <p:nvPr/>
          </p:nvGrpSpPr>
          <p:grpSpPr>
            <a:xfrm>
              <a:off x="2881217" y="1251338"/>
              <a:ext cx="1674661" cy="797842"/>
              <a:chOff x="2881217" y="1251338"/>
              <a:chExt cx="1674661" cy="797842"/>
            </a:xfrm>
          </p:grpSpPr>
          <p:cxnSp>
            <p:nvCxnSpPr>
              <p:cNvPr id="16" name="Straight Connector 8"/>
              <p:cNvCxnSpPr/>
              <p:nvPr/>
            </p:nvCxnSpPr>
            <p:spPr>
              <a:xfrm>
                <a:off x="2881217" y="2022478"/>
                <a:ext cx="167466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3037933" y="1251338"/>
                <a:ext cx="1316965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m</a:t>
                </a:r>
                <a:r>
                  <a:rPr lang="zh-CN" altLang="en-US" sz="3600" baseline="-25000" dirty="0"/>
                  <a:t>质</a:t>
                </a:r>
                <a:r>
                  <a:rPr lang="en-US" altLang="zh-CN" sz="3600" baseline="-25000" dirty="0"/>
                  <a:t>2</a:t>
                </a:r>
                <a:endParaRPr lang="en-US" sz="3600" dirty="0"/>
              </a:p>
            </p:txBody>
          </p:sp>
        </p:grpSp>
        <p:sp>
          <p:nvSpPr>
            <p:cNvPr id="15" name="TextBox 5"/>
            <p:cNvSpPr txBox="1"/>
            <p:nvPr/>
          </p:nvSpPr>
          <p:spPr>
            <a:xfrm>
              <a:off x="2836651" y="1872811"/>
              <a:ext cx="2214111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</a:t>
              </a:r>
              <a:r>
                <a:rPr lang="en-US" sz="3600" dirty="0"/>
                <a:t> c</a:t>
              </a:r>
              <a:r>
                <a:rPr lang="en-US" altLang="zh-CN" sz="3600" baseline="-25000" dirty="0"/>
                <a:t>1</a:t>
              </a:r>
              <a:r>
                <a:rPr lang="en-US" sz="3600" dirty="0"/>
                <a:t> </a:t>
              </a:r>
              <a:r>
                <a:rPr lang="el-GR" sz="3600" dirty="0"/>
                <a:t>ρ</a:t>
              </a:r>
              <a:r>
                <a:rPr lang="zh-CN" altLang="en-US" sz="3600" baseline="-25000" dirty="0"/>
                <a:t>液</a:t>
              </a:r>
              <a:r>
                <a:rPr lang="en-US" altLang="zh-CN" sz="3600" baseline="-25000" dirty="0"/>
                <a:t>1</a:t>
              </a:r>
              <a:endParaRPr lang="en-US" sz="3600" dirty="0"/>
            </a:p>
          </p:txBody>
        </p:sp>
      </p:grpSp>
      <p:grpSp>
        <p:nvGrpSpPr>
          <p:cNvPr id="5" name="Group 3"/>
          <p:cNvGrpSpPr/>
          <p:nvPr/>
        </p:nvGrpSpPr>
        <p:grpSpPr>
          <a:xfrm>
            <a:off x="2357422" y="5065296"/>
            <a:ext cx="4429156" cy="1149786"/>
            <a:chOff x="2724069" y="1251338"/>
            <a:chExt cx="2326693" cy="1419315"/>
          </a:xfrm>
        </p:grpSpPr>
        <p:grpSp>
          <p:nvGrpSpPr>
            <p:cNvPr id="6" name="Group 24"/>
            <p:cNvGrpSpPr/>
            <p:nvPr/>
          </p:nvGrpSpPr>
          <p:grpSpPr>
            <a:xfrm>
              <a:off x="2881217" y="1251338"/>
              <a:ext cx="1674661" cy="797842"/>
              <a:chOff x="2881217" y="1251338"/>
              <a:chExt cx="1674661" cy="797842"/>
            </a:xfrm>
          </p:grpSpPr>
          <p:cxnSp>
            <p:nvCxnSpPr>
              <p:cNvPr id="28" name="Straight Connector 8"/>
              <p:cNvCxnSpPr/>
              <p:nvPr/>
            </p:nvCxnSpPr>
            <p:spPr>
              <a:xfrm>
                <a:off x="2881217" y="2022478"/>
                <a:ext cx="1674661" cy="158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3037933" y="1251338"/>
                <a:ext cx="1316965" cy="797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</a:t>
                </a:r>
                <a:r>
                  <a:rPr lang="en-US" altLang="zh-CN" sz="3600" dirty="0"/>
                  <a:t>90.88g</a:t>
                </a:r>
                <a:endParaRPr lang="en-US" sz="3600" dirty="0"/>
              </a:p>
            </p:txBody>
          </p:sp>
        </p:grpSp>
        <p:sp>
          <p:nvSpPr>
            <p:cNvPr id="27" name="TextBox 5"/>
            <p:cNvSpPr txBox="1"/>
            <p:nvPr/>
          </p:nvSpPr>
          <p:spPr>
            <a:xfrm>
              <a:off x="2724069" y="1872811"/>
              <a:ext cx="2326693" cy="79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</a:t>
              </a:r>
              <a:r>
                <a:rPr lang="en-US" sz="3600" dirty="0"/>
                <a:t> </a:t>
              </a:r>
              <a:r>
                <a:rPr lang="en-US" altLang="zh-CN" sz="3600" dirty="0"/>
                <a:t>98% x 1.84g/</a:t>
              </a:r>
              <a:r>
                <a:rPr lang="en-US" altLang="zh-CN" sz="3600" dirty="0" err="1"/>
                <a:t>mL</a:t>
              </a:r>
              <a:endParaRPr lang="en-US" sz="3600" dirty="0"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714348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15"/>
          <p:cNvGrpSpPr/>
          <p:nvPr/>
        </p:nvGrpSpPr>
        <p:grpSpPr>
          <a:xfrm>
            <a:off x="571472" y="2000240"/>
            <a:ext cx="6072230" cy="915194"/>
            <a:chOff x="1214413" y="3513939"/>
            <a:chExt cx="6215107" cy="915194"/>
          </a:xfrm>
        </p:grpSpPr>
        <p:cxnSp>
          <p:nvCxnSpPr>
            <p:cNvPr id="19" name="Straight Arrow Connector 18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ounded Rectangle 20"/>
          <p:cNvSpPr/>
          <p:nvPr/>
        </p:nvSpPr>
        <p:spPr>
          <a:xfrm>
            <a:off x="3000364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857752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857752" y="2571744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785786" y="2571744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37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7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635798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3b) </a:t>
            </a:r>
            <a:r>
              <a:rPr lang="zh-CN" altLang="en-US" sz="3600" dirty="0"/>
              <a:t>溶质</a:t>
            </a:r>
            <a:r>
              <a:rPr lang="en-US" altLang="zh-CN" sz="3600" dirty="0"/>
              <a:t>		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  <a:r>
              <a:rPr lang="zh-CN" altLang="en-US" sz="3600" dirty="0"/>
              <a:t>溶液</a:t>
            </a:r>
            <a:endParaRPr lang="en-US" altLang="zh-CN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   </a:t>
            </a:r>
            <a:r>
              <a:rPr lang="en-US" altLang="zh-CN" sz="3600" dirty="0"/>
              <a:t> 3mol		1kg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294g		1000g	1294g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  x					400g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			x = 90.88</a:t>
            </a:r>
            <a:r>
              <a:rPr lang="en-US" altLang="zh-CN" dirty="0"/>
              <a:t>g</a:t>
            </a:r>
            <a:endParaRPr lang="en-US" dirty="0"/>
          </a:p>
          <a:p>
            <a:pPr>
              <a:spcBef>
                <a:spcPts val="0"/>
              </a:spcBef>
              <a:buNone/>
            </a:pPr>
            <a:r>
              <a:rPr lang="en-US" dirty="0"/>
              <a:t>	   c</a:t>
            </a:r>
            <a:r>
              <a:rPr lang="en-US" baseline="-25000" dirty="0"/>
              <a:t>1</a:t>
            </a:r>
            <a:r>
              <a:rPr lang="en-US" altLang="zh-CN" dirty="0"/>
              <a:t>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=  m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	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= 90.88g/98%</a:t>
            </a:r>
            <a:endParaRPr lang="en-US" dirty="0"/>
          </a:p>
          <a:p>
            <a:pPr>
              <a:spcBef>
                <a:spcPts val="0"/>
              </a:spcBef>
              <a:buNone/>
            </a:pPr>
            <a:r>
              <a:rPr lang="en-US" dirty="0"/>
              <a:t>		        </a:t>
            </a:r>
            <a:r>
              <a:rPr lang="en-US" altLang="zh-CN" dirty="0"/>
              <a:t>= 92.73g</a:t>
            </a:r>
            <a:endParaRPr lang="en-US" dirty="0"/>
          </a:p>
          <a:p>
            <a:pPr>
              <a:spcBef>
                <a:spcPts val="0"/>
              </a:spcBef>
              <a:buNone/>
            </a:pPr>
            <a:r>
              <a:rPr lang="en-US" dirty="0"/>
              <a:t>		V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dirty="0"/>
              <a:t> </a:t>
            </a:r>
            <a:r>
              <a:rPr lang="en-US" altLang="zh-CN" dirty="0"/>
              <a:t>= 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el-GR" dirty="0"/>
              <a:t> ρ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		        </a:t>
            </a:r>
            <a:r>
              <a:rPr lang="en-US" altLang="zh-CN" dirty="0"/>
              <a:t>= 92.73g / 1.84gmL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dirty="0"/>
              <a:t>		        = 50.40</a:t>
            </a:r>
            <a:r>
              <a:rPr lang="en-US" altLang="zh-CN" dirty="0"/>
              <a:t>mL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714348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571472" y="2000240"/>
            <a:ext cx="6072230" cy="915194"/>
            <a:chOff x="1214413" y="3513939"/>
            <a:chExt cx="6215107" cy="915194"/>
          </a:xfrm>
        </p:grpSpPr>
        <p:cxnSp>
          <p:nvCxnSpPr>
            <p:cNvPr id="19" name="Straight Arrow Connector 18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ounded Rectangle 20"/>
          <p:cNvSpPr/>
          <p:nvPr/>
        </p:nvSpPr>
        <p:spPr>
          <a:xfrm>
            <a:off x="3000364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857752" y="2000240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857752" y="2571744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785786" y="2571744"/>
            <a:ext cx="1488124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445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7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.bbzhi.com/chahuabizhi/lansedongjidongjixuehuashiliangbeijing/cartoon_vector_winter_36111_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85794"/>
            <a:ext cx="8229600" cy="814393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3600" dirty="0"/>
              <a:t>3c)    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	</a:t>
            </a:r>
            <a:r>
              <a:rPr lang="en-US" altLang="zh-CN" sz="3600" dirty="0"/>
              <a:t>= V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 </a:t>
            </a:r>
            <a:r>
              <a:rPr lang="en-US" altLang="zh-CN" sz="3600" dirty="0"/>
              <a:t> x</a:t>
            </a:r>
            <a:r>
              <a:rPr lang="el-GR" sz="3600" dirty="0"/>
              <a:t> ρ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  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	= </a:t>
            </a:r>
            <a:r>
              <a:rPr lang="en-US" altLang="zh-CN" sz="3600" dirty="0"/>
              <a:t>50mL x 1.84g/</a:t>
            </a:r>
            <a:r>
              <a:rPr lang="en-US" altLang="zh-CN" sz="3600" dirty="0" err="1"/>
              <a:t>mL</a:t>
            </a:r>
            <a:endParaRPr lang="en-US" altLang="zh-CN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	= 92g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m</a:t>
            </a:r>
            <a:r>
              <a:rPr lang="zh-CN" altLang="en-US" sz="3600" baseline="-25000" dirty="0"/>
              <a:t>质</a:t>
            </a:r>
            <a:r>
              <a:rPr lang="en-US" altLang="zh-CN" sz="3600" baseline="-25000" dirty="0"/>
              <a:t> </a:t>
            </a:r>
            <a:r>
              <a:rPr lang="en-US" altLang="zh-CN" sz="3600" dirty="0"/>
              <a:t>= 92g x 98%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   = 90.16g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m</a:t>
            </a:r>
            <a:r>
              <a:rPr lang="zh-CN" altLang="en-US" sz="3600" baseline="-25000" dirty="0"/>
              <a:t>剂</a:t>
            </a:r>
            <a:r>
              <a:rPr lang="en-US" altLang="zh-CN" sz="3600" baseline="-25000" dirty="0"/>
              <a:t>1</a:t>
            </a:r>
            <a:r>
              <a:rPr lang="zh-CN" altLang="en-US" sz="3600" dirty="0"/>
              <a:t> </a:t>
            </a:r>
            <a:r>
              <a:rPr lang="en-US" altLang="zh-CN" sz="3600" dirty="0"/>
              <a:t>= 1.84g</a:t>
            </a:r>
            <a:endParaRPr lang="en-US" sz="3600" dirty="0"/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   	</a:t>
            </a:r>
            <a:r>
              <a:rPr lang="en-US" altLang="zh-CN" sz="3600" dirty="0"/>
              <a:t>m</a:t>
            </a:r>
            <a:r>
              <a:rPr lang="zh-CN" altLang="en-US" sz="3600" baseline="-25000" dirty="0"/>
              <a:t>剂</a:t>
            </a:r>
            <a:r>
              <a:rPr lang="en-US" altLang="zh-CN" sz="3600" baseline="-25000" dirty="0"/>
              <a:t>2	</a:t>
            </a:r>
            <a:r>
              <a:rPr lang="en-US" altLang="zh-CN" sz="3600" dirty="0"/>
              <a:t>= 201.84g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		m</a:t>
            </a:r>
            <a:r>
              <a:rPr lang="zh-CN" altLang="en-US" sz="3600" baseline="-25000" dirty="0"/>
              <a:t>液</a:t>
            </a:r>
            <a:r>
              <a:rPr lang="en-US" altLang="zh-CN" sz="3600" baseline="-25000" dirty="0"/>
              <a:t>2	</a:t>
            </a:r>
            <a:r>
              <a:rPr lang="en-US" altLang="zh-CN" sz="3600" dirty="0"/>
              <a:t>= 292g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/>
              <a:t>质量百分比浓度</a:t>
            </a:r>
            <a:r>
              <a:rPr lang="en-US" altLang="zh-CN" sz="3600" dirty="0"/>
              <a:t>=</a:t>
            </a:r>
          </a:p>
          <a:p>
            <a:pPr>
              <a:spcBef>
                <a:spcPts val="0"/>
              </a:spcBef>
              <a:buNone/>
            </a:pPr>
            <a:r>
              <a:rPr lang="en-US" sz="3600" dirty="0"/>
              <a:t>		           = </a:t>
            </a:r>
            <a:r>
              <a:rPr lang="en-US" altLang="zh-CN" sz="3600" dirty="0"/>
              <a:t>30.88%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786314" y="2357430"/>
            <a:ext cx="4357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n</a:t>
            </a:r>
            <a:r>
              <a:rPr lang="zh-CN" altLang="en-US" sz="3600" baseline="-25000" dirty="0"/>
              <a:t>质</a:t>
            </a:r>
            <a:r>
              <a:rPr lang="en-US" altLang="zh-CN" sz="3600" dirty="0"/>
              <a:t>= 90.16g/98gmol</a:t>
            </a:r>
            <a:r>
              <a:rPr lang="en-US" altLang="zh-CN" sz="3600" baseline="30000" dirty="0"/>
              <a:t>-1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4786314" y="2854107"/>
            <a:ext cx="4357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      = 0.92mol</a:t>
            </a:r>
            <a:endParaRPr lang="en-US" sz="3600" dirty="0"/>
          </a:p>
        </p:txBody>
      </p:sp>
      <p:grpSp>
        <p:nvGrpSpPr>
          <p:cNvPr id="2" name="Group 3"/>
          <p:cNvGrpSpPr/>
          <p:nvPr/>
        </p:nvGrpSpPr>
        <p:grpSpPr>
          <a:xfrm>
            <a:off x="2643174" y="5058803"/>
            <a:ext cx="3714776" cy="941965"/>
            <a:chOff x="2685696" y="1520611"/>
            <a:chExt cx="2616678" cy="941965"/>
          </a:xfrm>
        </p:grpSpPr>
        <p:grpSp>
          <p:nvGrpSpPr>
            <p:cNvPr id="4" name="Group 24"/>
            <p:cNvGrpSpPr/>
            <p:nvPr/>
          </p:nvGrpSpPr>
          <p:grpSpPr>
            <a:xfrm>
              <a:off x="2736017" y="1520611"/>
              <a:ext cx="2566357" cy="727651"/>
              <a:chOff x="2736017" y="1520611"/>
              <a:chExt cx="2566357" cy="727651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692110" y="1663487"/>
                <a:ext cx="1610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/>
                  <a:t> x 100%</a:t>
                </a:r>
                <a:endParaRPr lang="en-US" sz="3200" dirty="0"/>
              </a:p>
            </p:txBody>
          </p:sp>
          <p:cxnSp>
            <p:nvCxnSpPr>
              <p:cNvPr id="11" name="Straight Connector 8"/>
              <p:cNvCxnSpPr/>
              <p:nvPr/>
            </p:nvCxnSpPr>
            <p:spPr>
              <a:xfrm>
                <a:off x="2881221" y="2022478"/>
                <a:ext cx="911523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2736017" y="1520611"/>
                <a:ext cx="13083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  </a:t>
                </a:r>
                <a:r>
                  <a:rPr lang="en-US" altLang="zh-CN" sz="3200" dirty="0"/>
                  <a:t>90.16g</a:t>
                </a:r>
                <a:endParaRPr lang="en-US" sz="3200" dirty="0"/>
              </a:p>
            </p:txBody>
          </p:sp>
        </p:grpSp>
        <p:sp>
          <p:nvSpPr>
            <p:cNvPr id="9" name="TextBox 5"/>
            <p:cNvSpPr txBox="1"/>
            <p:nvPr/>
          </p:nvSpPr>
          <p:spPr>
            <a:xfrm>
              <a:off x="2685696" y="1877801"/>
              <a:ext cx="12580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/>
                <a:t>   292g</a:t>
              </a:r>
              <a:endParaRPr lang="en-US" sz="32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274266" y="5640189"/>
            <a:ext cx="336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 4.56mol/kg</a:t>
            </a:r>
          </a:p>
        </p:txBody>
      </p:sp>
      <p:grpSp>
        <p:nvGrpSpPr>
          <p:cNvPr id="7" name="Group 3"/>
          <p:cNvGrpSpPr/>
          <p:nvPr/>
        </p:nvGrpSpPr>
        <p:grpSpPr>
          <a:xfrm>
            <a:off x="5624083" y="4497181"/>
            <a:ext cx="3377073" cy="1006910"/>
            <a:chOff x="2109793" y="1524000"/>
            <a:chExt cx="1938283" cy="1006910"/>
          </a:xfrm>
        </p:grpSpPr>
        <p:grpSp>
          <p:nvGrpSpPr>
            <p:cNvPr id="8" name="Group 24"/>
            <p:cNvGrpSpPr/>
            <p:nvPr/>
          </p:nvGrpSpPr>
          <p:grpSpPr>
            <a:xfrm>
              <a:off x="2109793" y="1524000"/>
              <a:ext cx="1856278" cy="785818"/>
              <a:chOff x="2109793" y="1524000"/>
              <a:chExt cx="1856278" cy="785818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2109793" y="1663487"/>
                <a:ext cx="16102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dirty="0"/>
                  <a:t> C</a:t>
                </a:r>
                <a:r>
                  <a:rPr lang="en-US" altLang="zh-CN" sz="3600" baseline="-25000" dirty="0"/>
                  <a:t>m</a:t>
                </a:r>
                <a:r>
                  <a:rPr lang="en-US" altLang="zh-CN" sz="3600" dirty="0"/>
                  <a:t> =</a:t>
                </a:r>
                <a:endParaRPr lang="en-US" sz="3600" dirty="0"/>
              </a:p>
            </p:txBody>
          </p:sp>
          <p:cxnSp>
            <p:nvCxnSpPr>
              <p:cNvPr id="19" name="Straight Connector 8"/>
              <p:cNvCxnSpPr/>
              <p:nvPr/>
            </p:nvCxnSpPr>
            <p:spPr>
              <a:xfrm>
                <a:off x="2706496" y="2022478"/>
                <a:ext cx="125957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2745328" y="1524000"/>
                <a:ext cx="10977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  0.92mol</a:t>
                </a:r>
              </a:p>
            </p:txBody>
          </p:sp>
        </p:grpSp>
        <p:sp>
          <p:nvSpPr>
            <p:cNvPr id="17" name="TextBox 5"/>
            <p:cNvSpPr txBox="1"/>
            <p:nvPr/>
          </p:nvSpPr>
          <p:spPr>
            <a:xfrm>
              <a:off x="2448994" y="1884579"/>
              <a:ext cx="15990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/>
                <a:t>    0.20184kg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48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pic26.nipic.com/20121228/9356147_093354899000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Autofit/>
          </a:bodyPr>
          <a:lstStyle/>
          <a:p>
            <a:r>
              <a:rPr lang="zh-CN" altLang="en-US" dirty="0"/>
              <a:t>溶质与溶剂混合后分子间的作用力与混合前时并无差别。</a:t>
            </a:r>
            <a:endParaRPr lang="en-US" altLang="zh-CN" dirty="0"/>
          </a:p>
          <a:p>
            <a:r>
              <a:rPr lang="zh-CN" altLang="en-US" dirty="0"/>
              <a:t>特征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	(1)</a:t>
            </a:r>
            <a:r>
              <a:rPr lang="zh-CN" altLang="en-US" dirty="0">
                <a:sym typeface="Wingdings" pitchFamily="2" charset="2"/>
              </a:rPr>
              <a:t>组成溶液的各个成分在量上无论按什么比例都能互相溶解。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(2)</a:t>
            </a:r>
            <a:r>
              <a:rPr lang="zh-CN" altLang="en-US" dirty="0">
                <a:sym typeface="Wingdings" pitchFamily="2" charset="2"/>
              </a:rPr>
              <a:t>形成溶液时没有热效应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zh-CN" altLang="en-US" dirty="0">
                <a:sym typeface="Wingdings" pitchFamily="2" charset="2"/>
              </a:rPr>
              <a:t>即在溶解是没有吸热或放热现象</a:t>
            </a:r>
            <a:r>
              <a:rPr lang="en-US" altLang="zh-CN" dirty="0">
                <a:sym typeface="Wingdings" pitchFamily="2" charset="2"/>
              </a:rPr>
              <a:t>)</a:t>
            </a:r>
            <a:r>
              <a:rPr lang="zh-CN" altLang="en-US" dirty="0">
                <a:sym typeface="Wingdings" pitchFamily="2" charset="2"/>
              </a:rPr>
              <a:t>。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(3)</a:t>
            </a:r>
            <a:r>
              <a:rPr lang="zh-CN" altLang="en-US" dirty="0">
                <a:sym typeface="Wingdings" pitchFamily="2" charset="2"/>
              </a:rPr>
              <a:t>溶液的体积是各组成部分单独存在时的体积总和。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	(4)</a:t>
            </a:r>
            <a:r>
              <a:rPr lang="zh-CN" altLang="en-US" dirty="0">
                <a:sym typeface="Wingdings" pitchFamily="2" charset="2"/>
              </a:rPr>
              <a:t>在任何组成时，各组成部分的蒸气压与液相中组成的关系必须符合拉乌尔定律。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endParaRPr lang="en-MY" altLang="zh-CN" dirty="0">
              <a:sym typeface="Wingdings" pitchFamily="2" charset="2"/>
            </a:endParaRPr>
          </a:p>
          <a:p>
            <a:pPr>
              <a:buNone/>
            </a:pPr>
            <a:endParaRPr lang="en-US" altLang="zh-CN" dirty="0">
              <a:sym typeface="Wingdings" pitchFamily="2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340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18.8</a:t>
            </a:r>
            <a:r>
              <a:rPr 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理想溶液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612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26.nipic.com/20121228/9356147_093354899000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18" y="1136525"/>
            <a:ext cx="8686800" cy="5721499"/>
          </a:xfrm>
        </p:spPr>
        <p:txBody>
          <a:bodyPr>
            <a:normAutofit/>
          </a:bodyPr>
          <a:lstStyle/>
          <a:p>
            <a:r>
              <a:rPr lang="zh-CN" altLang="en-US" dirty="0"/>
              <a:t>真实溶液在下面两种情况下还是可以接近于理想溶液的：</a:t>
            </a:r>
            <a:endParaRPr lang="en-US" altLang="zh-CN" dirty="0"/>
          </a:p>
          <a:p>
            <a:pPr>
              <a:buNone/>
            </a:pPr>
            <a:r>
              <a:rPr lang="en-US" dirty="0"/>
              <a:t>     (1)</a:t>
            </a:r>
            <a:r>
              <a:rPr lang="zh-CN" altLang="en-US" dirty="0"/>
              <a:t>当真实溶液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无限稀</a:t>
            </a:r>
            <a:r>
              <a:rPr lang="zh-CN" altLang="en-US" dirty="0"/>
              <a:t>时，它接近于理想溶液。</a:t>
            </a:r>
            <a:endParaRPr lang="en-US" altLang="zh-CN" dirty="0"/>
          </a:p>
          <a:p>
            <a:pPr>
              <a:buNone/>
            </a:pPr>
            <a:r>
              <a:rPr lang="en-US" dirty="0"/>
              <a:t>     (2)</a:t>
            </a:r>
            <a:r>
              <a:rPr lang="zh-CN" altLang="en-US" dirty="0"/>
              <a:t>由化学成分和物理性质相似的物质所组成的溶液（例如苯和甲苯），也接近于理想溶液。</a:t>
            </a:r>
            <a:endParaRPr lang="en-MY" dirty="0"/>
          </a:p>
        </p:txBody>
      </p:sp>
      <p:sp>
        <p:nvSpPr>
          <p:cNvPr id="5" name="Rectangle 4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18.8</a:t>
            </a:r>
            <a:r>
              <a:rPr 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理想溶液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404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/>
              <a:t>溶解的结果是使溶质和溶剂的某些性质发生一定的变化。</a:t>
            </a: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溶液的性质既不同于溶质也不同于溶剂。</a:t>
            </a:r>
            <a:endParaRPr lang="en-MY" dirty="0"/>
          </a:p>
          <a:p>
            <a:pPr>
              <a:buNone/>
            </a:pPr>
            <a:endParaRPr lang="en-US" altLang="zh-CN" dirty="0"/>
          </a:p>
          <a:p>
            <a:pP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</a:rPr>
              <a:t>稀溶液</a:t>
            </a:r>
            <a:r>
              <a:rPr lang="zh-CN" altLang="en-US" dirty="0"/>
              <a:t>的性质</a:t>
            </a:r>
            <a:r>
              <a:rPr lang="en-US" altLang="zh-CN" dirty="0"/>
              <a:t>(</a:t>
            </a:r>
            <a:r>
              <a:rPr lang="zh-CN" altLang="en-US" dirty="0"/>
              <a:t>如：蒸气压，沸点，凝固点，渗透压等</a:t>
            </a:r>
            <a:r>
              <a:rPr lang="en-US" altLang="zh-CN" dirty="0"/>
              <a:t>)</a:t>
            </a:r>
            <a:r>
              <a:rPr lang="zh-CN" altLang="en-US" dirty="0"/>
              <a:t>决定于浓度，而浓度</a:t>
            </a:r>
            <a:r>
              <a:rPr lang="zh-CN" altLang="en-US" b="1" dirty="0">
                <a:solidFill>
                  <a:srgbClr val="7030A0"/>
                </a:solidFill>
              </a:rPr>
              <a:t>依</a:t>
            </a:r>
            <a:r>
              <a:rPr lang="zh-CN" altLang="en-US" dirty="0"/>
              <a:t>溶质的</a:t>
            </a:r>
            <a:r>
              <a:rPr lang="zh-CN" altLang="en-US" b="1" dirty="0">
                <a:solidFill>
                  <a:srgbClr val="7030A0"/>
                </a:solidFill>
              </a:rPr>
              <a:t>摩尔分数</a:t>
            </a:r>
            <a:r>
              <a:rPr lang="zh-CN" altLang="en-US" dirty="0"/>
              <a:t>而变。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</a:t>
            </a:r>
            <a:r>
              <a:rPr 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</a:t>
            </a:r>
            <a:r>
              <a:rPr lang="zh-CN" alt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稀溶液的依数性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663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4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56" y="2857496"/>
            <a:ext cx="8686800" cy="385765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zh-CN" altLang="en-US" dirty="0"/>
              <a:t>哪杯蒸发出较多的水分子？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</a:t>
            </a:r>
            <a:r>
              <a:rPr lang="zh-CN" altLang="en-US" dirty="0"/>
              <a:t>水。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原因：糖水表面的水分较少，造成较少的水分子能脱离液面，糖水的蒸气压较小。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结论：在相同温度下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剂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P</a:t>
            </a:r>
            <a:r>
              <a:rPr lang="zh-CN" altLang="en-US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液</a:t>
            </a:r>
            <a:endParaRPr lang="en-MY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Flowchart: Manual Operation 9"/>
          <p:cNvSpPr/>
          <p:nvPr/>
        </p:nvSpPr>
        <p:spPr>
          <a:xfrm>
            <a:off x="2051720" y="2059708"/>
            <a:ext cx="1642617" cy="1182684"/>
          </a:xfrm>
          <a:prstGeom prst="flowChartManualOperation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100ml</a:t>
            </a:r>
          </a:p>
          <a:p>
            <a:pPr algn="ctr"/>
            <a:r>
              <a:rPr lang="zh-CN" altLang="en-US" sz="2400" b="1" dirty="0"/>
              <a:t>水</a:t>
            </a:r>
            <a:endParaRPr lang="en-MY" sz="2400" b="1" dirty="0"/>
          </a:p>
        </p:txBody>
      </p:sp>
      <p:sp>
        <p:nvSpPr>
          <p:cNvPr id="11" name="Flowchart: Manual Operation 10"/>
          <p:cNvSpPr/>
          <p:nvPr/>
        </p:nvSpPr>
        <p:spPr>
          <a:xfrm>
            <a:off x="5551842" y="2059708"/>
            <a:ext cx="1642617" cy="1182684"/>
          </a:xfrm>
          <a:prstGeom prst="flowChartManualOperation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100ml</a:t>
            </a:r>
          </a:p>
          <a:p>
            <a:pPr algn="ctr"/>
            <a:r>
              <a:rPr lang="zh-CN" altLang="en-US" sz="2400" b="1" dirty="0"/>
              <a:t>糖水</a:t>
            </a:r>
            <a:endParaRPr lang="en-MY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1475656" y="1123604"/>
            <a:ext cx="2693891" cy="2233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/>
          <p:cNvSpPr/>
          <p:nvPr/>
        </p:nvSpPr>
        <p:spPr>
          <a:xfrm>
            <a:off x="5004048" y="1123604"/>
            <a:ext cx="2693891" cy="2233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9.1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拉乌尔定律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28728" y="1129713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25</a:t>
            </a:r>
            <a:r>
              <a:rPr lang="en-US" altLang="zh-CN" sz="3200" baseline="30000" dirty="0"/>
              <a:t>o</a:t>
            </a:r>
            <a:r>
              <a:rPr lang="en-US" altLang="zh-CN" sz="3200" dirty="0"/>
              <a:t> C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5000628" y="1129713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25</a:t>
            </a:r>
            <a:r>
              <a:rPr lang="en-US" altLang="zh-CN" sz="3200" baseline="30000" dirty="0"/>
              <a:t>o</a:t>
            </a:r>
            <a:r>
              <a:rPr lang="en-US" altLang="zh-CN" sz="3200" dirty="0"/>
              <a:t> 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2395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178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Wingdings" pitchFamily="2" charset="2"/>
              <a:buChar char="Ø"/>
            </a:pPr>
            <a:r>
              <a:rPr lang="zh-CN" altLang="en-US" dirty="0"/>
              <a:t>在一定温度下，一种含有</a:t>
            </a:r>
            <a:r>
              <a:rPr lang="zh-CN" altLang="en-US" b="1" dirty="0">
                <a:solidFill>
                  <a:srgbClr val="00B0F0"/>
                </a:solidFill>
              </a:rPr>
              <a:t>非挥发性，非电解质</a:t>
            </a:r>
            <a:r>
              <a:rPr lang="zh-CN" altLang="en-US" dirty="0"/>
              <a:t>溶质的</a:t>
            </a:r>
            <a:r>
              <a:rPr lang="zh-CN" altLang="en-US" b="1" dirty="0">
                <a:solidFill>
                  <a:srgbClr val="00B0F0"/>
                </a:solidFill>
              </a:rPr>
              <a:t>稀</a:t>
            </a:r>
            <a:r>
              <a:rPr lang="zh-CN" altLang="en-US" dirty="0"/>
              <a:t>溶液，其蒸气压</a:t>
            </a:r>
            <a:r>
              <a:rPr lang="en-US" altLang="zh-CN" dirty="0"/>
              <a:t>(p</a:t>
            </a:r>
            <a:r>
              <a:rPr lang="zh-CN" altLang="en-US" baseline="-25000" dirty="0"/>
              <a:t>液</a:t>
            </a:r>
            <a:r>
              <a:rPr lang="en-US" altLang="zh-CN" dirty="0"/>
              <a:t>)</a:t>
            </a:r>
            <a:r>
              <a:rPr lang="zh-CN" altLang="en-US" dirty="0"/>
              <a:t>等于纯溶剂的蒸气压</a:t>
            </a:r>
            <a:r>
              <a:rPr lang="en-US" altLang="zh-CN" dirty="0"/>
              <a:t>(p</a:t>
            </a:r>
            <a:r>
              <a:rPr lang="zh-CN" altLang="en-US" baseline="-25000" dirty="0"/>
              <a:t>剂</a:t>
            </a:r>
            <a:r>
              <a:rPr lang="en-US" altLang="zh-CN" dirty="0"/>
              <a:t>)</a:t>
            </a:r>
            <a:r>
              <a:rPr lang="zh-CN" altLang="en-US" dirty="0"/>
              <a:t>乘上溶液中溶剂的摩尔分数</a:t>
            </a:r>
            <a:r>
              <a:rPr lang="en-US" altLang="zh-CN" dirty="0"/>
              <a:t>(χ</a:t>
            </a:r>
            <a:r>
              <a:rPr lang="zh-CN" altLang="en-US" baseline="-25000" dirty="0"/>
              <a:t>剂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</a:t>
            </a:r>
            <a:r>
              <a:rPr lang="zh-CN" altLang="en-US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液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p</a:t>
            </a:r>
            <a:r>
              <a:rPr lang="zh-CN" altLang="en-US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剂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χ</a:t>
            </a:r>
            <a:r>
              <a:rPr lang="zh-CN" altLang="en-US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剂</a:t>
            </a:r>
            <a:endParaRPr lang="en-US" altLang="zh-CN" b="1" baseline="-25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</a:t>
            </a:r>
            <a:endParaRPr lang="en-MY" altLang="zh-CN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∆p</a:t>
            </a:r>
            <a:r>
              <a:rPr lang="en-US" altLang="zh-CN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p</a:t>
            </a:r>
            <a:r>
              <a:rPr lang="zh-CN" altLang="en-US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剂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χ</a:t>
            </a:r>
            <a:r>
              <a:rPr lang="zh-CN" altLang="en-US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质</a:t>
            </a:r>
            <a:r>
              <a:rPr lang="en-US" altLang="zh-CN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</a:t>
            </a:r>
            <a:r>
              <a:rPr lang="en-US" altLang="zh-C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MY" altLang="zh-CN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9.1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拉乌尔定律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pSp>
        <p:nvGrpSpPr>
          <p:cNvPr id="15" name="Group 3"/>
          <p:cNvGrpSpPr/>
          <p:nvPr/>
        </p:nvGrpSpPr>
        <p:grpSpPr>
          <a:xfrm>
            <a:off x="5286377" y="2857496"/>
            <a:ext cx="3143276" cy="1217835"/>
            <a:chOff x="1930875" y="1309686"/>
            <a:chExt cx="2214113" cy="1217835"/>
          </a:xfrm>
        </p:grpSpPr>
        <p:grpSp>
          <p:nvGrpSpPr>
            <p:cNvPr id="16" name="Group 24"/>
            <p:cNvGrpSpPr/>
            <p:nvPr/>
          </p:nvGrpSpPr>
          <p:grpSpPr>
            <a:xfrm>
              <a:off x="1930875" y="1309686"/>
              <a:ext cx="2174136" cy="1000132"/>
              <a:chOff x="1930875" y="1309686"/>
              <a:chExt cx="2174136" cy="1000132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rgbClr val="002060"/>
                    </a:solidFill>
                  </a:rPr>
                  <a:t> χ</a:t>
                </a:r>
                <a:r>
                  <a:rPr lang="zh-CN" altLang="en-US" sz="3600" b="1" baseline="-25000" dirty="0">
                    <a:solidFill>
                      <a:srgbClr val="002060"/>
                    </a:solidFill>
                  </a:rPr>
                  <a:t>剂</a:t>
                </a:r>
                <a:r>
                  <a:rPr lang="en-US" altLang="zh-CN" sz="3600" b="1" dirty="0">
                    <a:solidFill>
                      <a:srgbClr val="002060"/>
                    </a:solidFill>
                  </a:rPr>
                  <a:t> =</a:t>
                </a:r>
                <a:endParaRPr lang="en-US" sz="3600" b="1" dirty="0">
                  <a:solidFill>
                    <a:srgbClr val="002060"/>
                  </a:solidFill>
                </a:endParaRPr>
              </a:p>
            </p:txBody>
          </p:sp>
          <p:cxnSp>
            <p:nvCxnSpPr>
              <p:cNvPr id="19" name="Straight Connector 8"/>
              <p:cNvCxnSpPr/>
              <p:nvPr/>
            </p:nvCxnSpPr>
            <p:spPr>
              <a:xfrm>
                <a:off x="2881220" y="2022478"/>
                <a:ext cx="1223791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3029306" y="1309686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2060"/>
                    </a:solidFill>
                  </a:rPr>
                  <a:t>  n</a:t>
                </a:r>
                <a:r>
                  <a:rPr lang="zh-CN" altLang="en-US" sz="3600" b="1" baseline="-25000" dirty="0">
                    <a:solidFill>
                      <a:srgbClr val="002060"/>
                    </a:solidFill>
                  </a:rPr>
                  <a:t>剂</a:t>
                </a:r>
                <a:endParaRPr lang="en-US" sz="3600" b="1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" name="TextBox 5"/>
            <p:cNvSpPr txBox="1"/>
            <p:nvPr/>
          </p:nvSpPr>
          <p:spPr>
            <a:xfrm>
              <a:off x="2635367" y="1881190"/>
              <a:ext cx="15096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002060"/>
                  </a:solidFill>
                </a:rPr>
                <a:t>    n</a:t>
              </a:r>
              <a:r>
                <a:rPr lang="zh-CN" altLang="en-US" sz="3600" b="1" baseline="-25000" dirty="0">
                  <a:solidFill>
                    <a:srgbClr val="002060"/>
                  </a:solidFill>
                </a:rPr>
                <a:t>质</a:t>
              </a:r>
              <a:r>
                <a:rPr lang="zh-CN" altLang="en-US" sz="3600" b="1" dirty="0">
                  <a:solidFill>
                    <a:srgbClr val="002060"/>
                  </a:solidFill>
                </a:rPr>
                <a:t> </a:t>
              </a:r>
              <a:r>
                <a:rPr lang="en-US" altLang="zh-CN" sz="3600" b="1" dirty="0">
                  <a:solidFill>
                    <a:srgbClr val="002060"/>
                  </a:solidFill>
                </a:rPr>
                <a:t>+ n</a:t>
              </a:r>
              <a:r>
                <a:rPr lang="zh-CN" altLang="en-US" sz="3600" b="1" baseline="-25000" dirty="0">
                  <a:solidFill>
                    <a:srgbClr val="002060"/>
                  </a:solidFill>
                </a:rPr>
                <a:t>剂</a:t>
              </a:r>
              <a:endParaRPr lang="en-US" sz="36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oup 3"/>
          <p:cNvGrpSpPr/>
          <p:nvPr/>
        </p:nvGrpSpPr>
        <p:grpSpPr>
          <a:xfrm>
            <a:off x="5286380" y="4139991"/>
            <a:ext cx="3214709" cy="1149786"/>
            <a:chOff x="1930875" y="1377735"/>
            <a:chExt cx="2264431" cy="1149786"/>
          </a:xfrm>
        </p:grpSpPr>
        <p:grpSp>
          <p:nvGrpSpPr>
            <p:cNvPr id="22" name="Group 24"/>
            <p:cNvGrpSpPr/>
            <p:nvPr/>
          </p:nvGrpSpPr>
          <p:grpSpPr>
            <a:xfrm>
              <a:off x="1930875" y="1377735"/>
              <a:ext cx="2045316" cy="932083"/>
              <a:chOff x="1930875" y="1377735"/>
              <a:chExt cx="2045316" cy="932083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1930875" y="1663487"/>
                <a:ext cx="16102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solidFill>
                      <a:srgbClr val="7030A0"/>
                    </a:solidFill>
                  </a:rPr>
                  <a:t> χ</a:t>
                </a:r>
                <a:r>
                  <a:rPr lang="zh-CN" altLang="en-US" sz="3600" b="1" baseline="-25000" dirty="0">
                    <a:solidFill>
                      <a:srgbClr val="7030A0"/>
                    </a:solidFill>
                  </a:rPr>
                  <a:t>质</a:t>
                </a:r>
                <a:r>
                  <a:rPr lang="en-US" altLang="zh-CN" sz="3600" b="1" dirty="0">
                    <a:solidFill>
                      <a:srgbClr val="7030A0"/>
                    </a:solidFill>
                  </a:rPr>
                  <a:t> =</a:t>
                </a:r>
                <a:endParaRPr lang="en-US" sz="3600" b="1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25" name="Straight Connector 8"/>
              <p:cNvCxnSpPr/>
              <p:nvPr/>
            </p:nvCxnSpPr>
            <p:spPr>
              <a:xfrm>
                <a:off x="2881220" y="2022478"/>
                <a:ext cx="1094971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928663" y="1377735"/>
                <a:ext cx="9143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  n</a:t>
                </a:r>
                <a:r>
                  <a:rPr lang="zh-CN" altLang="en-US" sz="3600" b="1" baseline="-25000" dirty="0">
                    <a:solidFill>
                      <a:srgbClr val="7030A0"/>
                    </a:solidFill>
                  </a:rPr>
                  <a:t>质</a:t>
                </a:r>
                <a:endParaRPr lang="en-US" sz="3600" b="1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23" name="TextBox 5"/>
            <p:cNvSpPr txBox="1"/>
            <p:nvPr/>
          </p:nvSpPr>
          <p:spPr>
            <a:xfrm>
              <a:off x="2534723" y="1881190"/>
              <a:ext cx="16605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rgbClr val="7030A0"/>
                  </a:solidFill>
                </a:rPr>
                <a:t>    n</a:t>
              </a:r>
              <a:r>
                <a:rPr lang="zh-CN" altLang="en-US" sz="3600" b="1" baseline="-25000" dirty="0">
                  <a:solidFill>
                    <a:srgbClr val="7030A0"/>
                  </a:solidFill>
                </a:rPr>
                <a:t>质</a:t>
              </a:r>
              <a:r>
                <a:rPr lang="zh-CN" altLang="en-US" sz="3600" b="1" dirty="0">
                  <a:solidFill>
                    <a:srgbClr val="7030A0"/>
                  </a:solidFill>
                </a:rPr>
                <a:t> </a:t>
              </a:r>
              <a:r>
                <a:rPr lang="en-US" altLang="zh-CN" sz="3600" b="1" dirty="0">
                  <a:solidFill>
                    <a:srgbClr val="7030A0"/>
                  </a:solidFill>
                </a:rPr>
                <a:t>+ n</a:t>
              </a:r>
              <a:r>
                <a:rPr lang="zh-CN" altLang="en-US" sz="3600" b="1" baseline="-25000" dirty="0">
                  <a:solidFill>
                    <a:srgbClr val="7030A0"/>
                  </a:solidFill>
                </a:rPr>
                <a:t>剂</a:t>
              </a:r>
              <a:endParaRPr lang="en-US" sz="36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890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021956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11.</a:t>
            </a:r>
            <a:r>
              <a:rPr lang="zh-CN" altLang="en-US" dirty="0"/>
              <a:t>已知：</a:t>
            </a:r>
            <a:r>
              <a:rPr lang="en-US" altLang="zh-CN" dirty="0"/>
              <a:t> p</a:t>
            </a:r>
            <a:r>
              <a:rPr lang="zh-CN" altLang="en-US" baseline="-25000" dirty="0"/>
              <a:t>剂</a:t>
            </a:r>
            <a:r>
              <a:rPr lang="en-US" altLang="zh-CN" dirty="0"/>
              <a:t>= 3.17kPa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=0.1molkg</a:t>
            </a:r>
            <a:r>
              <a:rPr lang="en-US" altLang="zh-CN" baseline="30000" dirty="0"/>
              <a:t>-1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		mol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∆p</a:t>
            </a:r>
            <a:r>
              <a:rPr lang="en-US" altLang="zh-CN" baseline="-25000" dirty="0"/>
              <a:t>  </a:t>
            </a:r>
            <a:r>
              <a:rPr lang="en-US" altLang="zh-CN" dirty="0"/>
              <a:t> = p</a:t>
            </a:r>
            <a:r>
              <a:rPr lang="zh-CN" altLang="en-US" baseline="-25000" dirty="0"/>
              <a:t>剂</a:t>
            </a:r>
            <a:r>
              <a:rPr lang="en-US" altLang="zh-CN" dirty="0"/>
              <a:t>χ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= 3.17kPa 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       = 5.70 x 10</a:t>
            </a:r>
            <a:r>
              <a:rPr lang="en-US" altLang="zh-CN" baseline="30000" dirty="0"/>
              <a:t>-3</a:t>
            </a:r>
            <a:r>
              <a:rPr lang="en-US" altLang="zh-CN" dirty="0"/>
              <a:t> </a:t>
            </a:r>
            <a:r>
              <a:rPr lang="en-US" altLang="zh-CN" dirty="0" err="1"/>
              <a:t>kPa</a:t>
            </a:r>
            <a:r>
              <a:rPr lang="en-US" altLang="zh-CN" dirty="0"/>
              <a:t>  </a:t>
            </a:r>
            <a:endParaRPr lang="en-MY" altLang="zh-CN" dirty="0"/>
          </a:p>
        </p:txBody>
      </p:sp>
      <p:grpSp>
        <p:nvGrpSpPr>
          <p:cNvPr id="5" name="Group 4"/>
          <p:cNvGrpSpPr/>
          <p:nvPr/>
        </p:nvGrpSpPr>
        <p:grpSpPr>
          <a:xfrm>
            <a:off x="1461218" y="3307618"/>
            <a:ext cx="1018227" cy="1026136"/>
            <a:chOff x="1835696" y="2852936"/>
            <a:chExt cx="1018227" cy="1026136"/>
          </a:xfrm>
        </p:grpSpPr>
        <p:sp>
          <p:nvSpPr>
            <p:cNvPr id="6" name="TextBox 5"/>
            <p:cNvSpPr txBox="1"/>
            <p:nvPr/>
          </p:nvSpPr>
          <p:spPr>
            <a:xfrm>
              <a:off x="1835696" y="2852936"/>
              <a:ext cx="10182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1000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851186" y="3356992"/>
              <a:ext cx="7765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999340" y="329429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18</a:t>
              </a:r>
              <a:endParaRPr lang="en-MY" sz="3200" dirty="0">
                <a:ea typeface="宋体" pitchFamily="2" charset="-122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91466" y="4976696"/>
            <a:ext cx="2330580" cy="1084841"/>
            <a:chOff x="1851185" y="2839451"/>
            <a:chExt cx="2330580" cy="1084841"/>
          </a:xfrm>
        </p:grpSpPr>
        <p:sp>
          <p:nvSpPr>
            <p:cNvPr id="10" name="TextBox 9"/>
            <p:cNvSpPr txBox="1"/>
            <p:nvPr/>
          </p:nvSpPr>
          <p:spPr>
            <a:xfrm>
              <a:off x="2411760" y="2839451"/>
              <a:ext cx="7056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0.1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851185" y="3356992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861899" y="3339517"/>
              <a:ext cx="231986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0.1+1000/18</a:t>
              </a:r>
              <a:endParaRPr lang="en-MY" sz="3200" dirty="0">
                <a:ea typeface="宋体" pitchFamily="2" charset="-122"/>
              </a:endParaRPr>
            </a:p>
          </p:txBody>
        </p:sp>
      </p:grpSp>
      <p:sp>
        <p:nvSpPr>
          <p:cNvPr id="14" name="Left Brace 13"/>
          <p:cNvSpPr/>
          <p:nvPr/>
        </p:nvSpPr>
        <p:spPr>
          <a:xfrm>
            <a:off x="3024284" y="1908251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47168" y="1619110"/>
            <a:ext cx="285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  <a:r>
              <a:rPr lang="en-US" altLang="zh-CN" sz="3600" dirty="0"/>
              <a:t>n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0.1mol</a:t>
            </a:r>
            <a:endParaRPr lang="en-US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3104292" y="2619242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1kg</a:t>
            </a:r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9.1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拉乌尔定律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914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/>
      <p:bldP spid="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64766"/>
            <a:ext cx="8229600" cy="6264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例</a:t>
            </a:r>
            <a:r>
              <a:rPr lang="en-US" altLang="zh-CN" dirty="0"/>
              <a:t>12.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改题目：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CO(NH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 </a:t>
            </a:r>
            <a:r>
              <a:rPr lang="zh-CN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某有机化合物</a:t>
            </a:r>
            <a:endParaRPr lang="en-US" altLang="zh-CN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/>
              <a:t>已知：</a:t>
            </a:r>
            <a:r>
              <a:rPr lang="en-US" altLang="zh-CN" dirty="0"/>
              <a:t> p</a:t>
            </a:r>
            <a:r>
              <a:rPr lang="zh-CN" altLang="en-US" baseline="-25000" dirty="0"/>
              <a:t>剂</a:t>
            </a:r>
            <a:r>
              <a:rPr lang="en-US" altLang="zh-CN" dirty="0"/>
              <a:t>= 12.3kPa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= 19.1g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  <a:r>
              <a:rPr lang="en-US" altLang="zh-CN" dirty="0"/>
              <a:t>=100g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	∆p</a:t>
            </a:r>
            <a:r>
              <a:rPr lang="en-US" altLang="zh-CN" baseline="-25000" dirty="0"/>
              <a:t> </a:t>
            </a:r>
            <a:r>
              <a:rPr lang="en-US" altLang="zh-CN" dirty="0"/>
              <a:t> = 0.667kPa, 	n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		   mol</a:t>
            </a:r>
            <a:endParaRPr lang="en-US" altLang="zh-CN" baseline="-25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	∆p</a:t>
            </a:r>
            <a:r>
              <a:rPr lang="en-US" altLang="zh-CN" baseline="-25000" dirty="0"/>
              <a:t>  </a:t>
            </a:r>
            <a:r>
              <a:rPr lang="en-US" altLang="zh-CN" dirty="0"/>
              <a:t> = p</a:t>
            </a:r>
            <a:r>
              <a:rPr lang="zh-CN" altLang="en-US" baseline="-25000" dirty="0"/>
              <a:t>剂</a:t>
            </a:r>
            <a:r>
              <a:rPr lang="en-US" altLang="zh-CN" dirty="0"/>
              <a:t>χ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0.667kPa = 12.3kPa x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      	 n</a:t>
            </a:r>
            <a:r>
              <a:rPr lang="zh-CN" altLang="en-US" baseline="-25000" dirty="0"/>
              <a:t>质</a:t>
            </a:r>
            <a:r>
              <a:rPr lang="en-US" altLang="zh-CN" dirty="0"/>
              <a:t> = 0.3185mol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       = 59.97 g/mol </a:t>
            </a:r>
            <a:endParaRPr lang="en-MY" altLang="zh-CN" dirty="0"/>
          </a:p>
        </p:txBody>
      </p:sp>
      <p:grpSp>
        <p:nvGrpSpPr>
          <p:cNvPr id="8" name="Group 7"/>
          <p:cNvGrpSpPr/>
          <p:nvPr/>
        </p:nvGrpSpPr>
        <p:grpSpPr>
          <a:xfrm>
            <a:off x="5143504" y="2119176"/>
            <a:ext cx="809837" cy="1026136"/>
            <a:chOff x="1835696" y="2852936"/>
            <a:chExt cx="809837" cy="1026136"/>
          </a:xfrm>
        </p:grpSpPr>
        <p:sp>
          <p:nvSpPr>
            <p:cNvPr id="9" name="TextBox 8"/>
            <p:cNvSpPr txBox="1"/>
            <p:nvPr/>
          </p:nvSpPr>
          <p:spPr>
            <a:xfrm>
              <a:off x="1835696" y="2852936"/>
              <a:ext cx="8098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100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51186" y="3356992"/>
              <a:ext cx="7765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999340" y="329429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18</a:t>
              </a:r>
              <a:endParaRPr lang="en-MY" sz="3200" dirty="0">
                <a:ea typeface="宋体" pitchFamily="2" charset="-122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500166" y="5048134"/>
            <a:ext cx="1970411" cy="1037343"/>
            <a:chOff x="1708310" y="2865669"/>
            <a:chExt cx="1970411" cy="1037343"/>
          </a:xfrm>
        </p:grpSpPr>
        <p:sp>
          <p:nvSpPr>
            <p:cNvPr id="16" name="TextBox 15"/>
            <p:cNvSpPr txBox="1"/>
            <p:nvPr/>
          </p:nvSpPr>
          <p:spPr>
            <a:xfrm>
              <a:off x="2022155" y="2865669"/>
              <a:ext cx="1107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19.1g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1851186" y="3356992"/>
              <a:ext cx="17373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708310" y="3318237"/>
              <a:ext cx="19704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0.3185mol</a:t>
              </a:r>
              <a:endParaRPr lang="en-MY" sz="3200" dirty="0">
                <a:ea typeface="宋体" pitchFamily="2" charset="-122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9.1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拉乌尔定律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43373" y="5357826"/>
            <a:ext cx="47149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答：</a:t>
            </a:r>
            <a:r>
              <a:rPr lang="en-US" altLang="zh-CN" sz="3200" dirty="0"/>
              <a:t>	</a:t>
            </a:r>
            <a:r>
              <a:rPr lang="zh-CN" altLang="en-US" sz="3200" dirty="0"/>
              <a:t>此有机化合物的相对分子质量为</a:t>
            </a:r>
            <a:r>
              <a:rPr lang="en-US" altLang="zh-CN" sz="3200" b="1" dirty="0"/>
              <a:t>59.97</a:t>
            </a:r>
            <a:r>
              <a:rPr lang="zh-CN" altLang="en-US" sz="3200" dirty="0"/>
              <a:t>。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8016800" y="6344687"/>
            <a:ext cx="1127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</a:rPr>
              <a:t>59.96</a:t>
            </a:r>
            <a:endParaRPr lang="en-US" sz="3200" dirty="0">
              <a:solidFill>
                <a:srgbClr val="00206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043381" y="3552710"/>
            <a:ext cx="1937885" cy="1233612"/>
            <a:chOff x="4043381" y="3552710"/>
            <a:chExt cx="1937885" cy="1233612"/>
          </a:xfrm>
        </p:grpSpPr>
        <p:grpSp>
          <p:nvGrpSpPr>
            <p:cNvPr id="2" name="Group 8"/>
            <p:cNvGrpSpPr/>
            <p:nvPr/>
          </p:nvGrpSpPr>
          <p:grpSpPr>
            <a:xfrm>
              <a:off x="4043381" y="3552710"/>
              <a:ext cx="1937885" cy="1066796"/>
              <a:chOff x="1797828" y="2783799"/>
              <a:chExt cx="1937885" cy="106679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2411760" y="2783799"/>
                <a:ext cx="67518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ea typeface="宋体" pitchFamily="2" charset="-122"/>
                  </a:rPr>
                  <a:t>n</a:t>
                </a:r>
                <a:r>
                  <a:rPr lang="zh-CN" altLang="en-US" sz="3200" baseline="-25000" dirty="0">
                    <a:ea typeface="宋体" pitchFamily="2" charset="-122"/>
                  </a:rPr>
                  <a:t>质</a:t>
                </a:r>
                <a:endParaRPr lang="en-MY" sz="3200" dirty="0">
                  <a:ea typeface="宋体" pitchFamily="2" charset="-122"/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1851186" y="3356992"/>
                <a:ext cx="188452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1797828" y="3265820"/>
                <a:ext cx="88036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ea typeface="宋体" pitchFamily="2" charset="-122"/>
                  </a:rPr>
                  <a:t>n</a:t>
                </a:r>
                <a:r>
                  <a:rPr lang="zh-CN" altLang="en-US" sz="3200" baseline="-25000" dirty="0">
                    <a:ea typeface="宋体" pitchFamily="2" charset="-122"/>
                  </a:rPr>
                  <a:t>质</a:t>
                </a:r>
                <a:r>
                  <a:rPr lang="en-US" sz="3200" dirty="0">
                    <a:ea typeface="宋体" pitchFamily="2" charset="-122"/>
                  </a:rPr>
                  <a:t>+</a:t>
                </a:r>
                <a:endParaRPr lang="en-MY" sz="3200" dirty="0">
                  <a:ea typeface="宋体" pitchFamily="2" charset="-122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000628" y="4045938"/>
              <a:ext cx="776598" cy="740384"/>
              <a:chOff x="1764258" y="2852936"/>
              <a:chExt cx="776598" cy="740384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1835696" y="2852936"/>
                <a:ext cx="651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ea typeface="宋体" pitchFamily="2" charset="-122"/>
                  </a:rPr>
                  <a:t>100</a:t>
                </a:r>
                <a:endParaRPr lang="en-MY" sz="2400" dirty="0">
                  <a:ea typeface="宋体" pitchFamily="2" charset="-122"/>
                </a:endParaRPr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1764258" y="3236130"/>
                <a:ext cx="77659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1907134" y="3131655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宋体" pitchFamily="2" charset="-122"/>
                  </a:rPr>
                  <a:t>18</a:t>
                </a:r>
                <a:endParaRPr lang="en-MY" sz="2400" dirty="0"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263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64766"/>
            <a:ext cx="8229600" cy="6264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1)</a:t>
            </a:r>
            <a:r>
              <a:rPr lang="zh-CN" altLang="en-US" dirty="0"/>
              <a:t>已知</a:t>
            </a:r>
            <a:r>
              <a:rPr lang="en-US" altLang="zh-CN" dirty="0"/>
              <a:t>:p</a:t>
            </a:r>
            <a:r>
              <a:rPr lang="zh-CN" altLang="en-US" baseline="-25000" dirty="0"/>
              <a:t>剂</a:t>
            </a:r>
            <a:r>
              <a:rPr lang="en-US" altLang="zh-CN" dirty="0"/>
              <a:t>= 2.33kPa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= 114g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  <a:r>
              <a:rPr lang="en-US" altLang="zh-CN" dirty="0"/>
              <a:t>=1000g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	∆p</a:t>
            </a:r>
            <a:r>
              <a:rPr lang="en-US" altLang="zh-CN" baseline="-25000" dirty="0"/>
              <a:t> </a:t>
            </a:r>
            <a:r>
              <a:rPr lang="en-US" altLang="zh-CN" dirty="0"/>
              <a:t> = 0.014kPa, 	n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 		   mol</a:t>
            </a:r>
            <a:endParaRPr lang="en-US" altLang="zh-CN" baseline="-25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	∆p</a:t>
            </a:r>
            <a:r>
              <a:rPr lang="en-US" altLang="zh-CN" baseline="-25000" dirty="0"/>
              <a:t>  </a:t>
            </a:r>
            <a:r>
              <a:rPr lang="en-US" altLang="zh-CN" dirty="0"/>
              <a:t> = p</a:t>
            </a:r>
            <a:r>
              <a:rPr lang="zh-CN" altLang="en-US" baseline="-25000" dirty="0"/>
              <a:t>剂</a:t>
            </a:r>
            <a:r>
              <a:rPr lang="en-US" altLang="zh-CN" dirty="0"/>
              <a:t>χ</a:t>
            </a:r>
            <a:r>
              <a:rPr lang="zh-CN" altLang="en-US" baseline="-25000" dirty="0"/>
              <a:t>质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0.014kPa = 2.33kPa x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      	 n</a:t>
            </a:r>
            <a:r>
              <a:rPr lang="zh-CN" altLang="en-US" baseline="-25000" dirty="0"/>
              <a:t>质</a:t>
            </a:r>
            <a:r>
              <a:rPr lang="en-US" altLang="zh-CN" dirty="0"/>
              <a:t> = 0.3358mol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        = 339.49 g/mol </a:t>
            </a:r>
            <a:endParaRPr lang="en-MY" altLang="zh-CN" dirty="0"/>
          </a:p>
        </p:txBody>
      </p:sp>
      <p:grpSp>
        <p:nvGrpSpPr>
          <p:cNvPr id="2" name="Group 8"/>
          <p:cNvGrpSpPr/>
          <p:nvPr/>
        </p:nvGrpSpPr>
        <p:grpSpPr>
          <a:xfrm>
            <a:off x="4114819" y="2790832"/>
            <a:ext cx="2289409" cy="1066796"/>
            <a:chOff x="1797828" y="2783799"/>
            <a:chExt cx="2289409" cy="1066796"/>
          </a:xfrm>
        </p:grpSpPr>
        <p:sp>
          <p:nvSpPr>
            <p:cNvPr id="10" name="TextBox 9"/>
            <p:cNvSpPr txBox="1"/>
            <p:nvPr/>
          </p:nvSpPr>
          <p:spPr>
            <a:xfrm>
              <a:off x="2411760" y="2783799"/>
              <a:ext cx="6751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n</a:t>
              </a:r>
              <a:r>
                <a:rPr lang="zh-CN" altLang="en-US" sz="3200" baseline="-25000" dirty="0">
                  <a:ea typeface="宋体" pitchFamily="2" charset="-122"/>
                </a:rPr>
                <a:t>质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851186" y="3356992"/>
              <a:ext cx="18845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797828" y="3265820"/>
              <a:ext cx="22894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n</a:t>
              </a:r>
              <a:r>
                <a:rPr lang="zh-CN" altLang="en-US" sz="3200" baseline="-25000" dirty="0">
                  <a:ea typeface="宋体" pitchFamily="2" charset="-122"/>
                </a:rPr>
                <a:t>质</a:t>
              </a:r>
              <a:r>
                <a:rPr lang="en-US" sz="3200" dirty="0">
                  <a:ea typeface="宋体" pitchFamily="2" charset="-122"/>
                </a:rPr>
                <a:t>+1000/18</a:t>
              </a:r>
              <a:endParaRPr lang="en-MY" sz="3200" dirty="0">
                <a:ea typeface="宋体" pitchFamily="2" charset="-122"/>
              </a:endParaRPr>
            </a:p>
          </p:txBody>
        </p:sp>
      </p:grpSp>
      <p:grpSp>
        <p:nvGrpSpPr>
          <p:cNvPr id="4" name="Group 7"/>
          <p:cNvGrpSpPr/>
          <p:nvPr/>
        </p:nvGrpSpPr>
        <p:grpSpPr>
          <a:xfrm>
            <a:off x="5143504" y="1357298"/>
            <a:ext cx="1018227" cy="1026136"/>
            <a:chOff x="1835696" y="2852936"/>
            <a:chExt cx="1018227" cy="1026136"/>
          </a:xfrm>
        </p:grpSpPr>
        <p:sp>
          <p:nvSpPr>
            <p:cNvPr id="9" name="TextBox 8"/>
            <p:cNvSpPr txBox="1"/>
            <p:nvPr/>
          </p:nvSpPr>
          <p:spPr>
            <a:xfrm>
              <a:off x="1835696" y="2852936"/>
              <a:ext cx="10182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1000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51186" y="3356992"/>
              <a:ext cx="7765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999340" y="3294297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18</a:t>
              </a:r>
              <a:endParaRPr lang="en-MY" sz="3200" dirty="0">
                <a:ea typeface="宋体" pitchFamily="2" charset="-122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1571604" y="4286256"/>
            <a:ext cx="1970411" cy="1013403"/>
            <a:chOff x="1779748" y="2865669"/>
            <a:chExt cx="1970411" cy="1013403"/>
          </a:xfrm>
        </p:grpSpPr>
        <p:sp>
          <p:nvSpPr>
            <p:cNvPr id="16" name="TextBox 15"/>
            <p:cNvSpPr txBox="1"/>
            <p:nvPr/>
          </p:nvSpPr>
          <p:spPr>
            <a:xfrm>
              <a:off x="2022155" y="2865669"/>
              <a:ext cx="10038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ea typeface="宋体" pitchFamily="2" charset="-122"/>
                </a:rPr>
                <a:t>114g</a:t>
              </a:r>
              <a:endParaRPr lang="en-MY" sz="3200" dirty="0">
                <a:ea typeface="宋体" pitchFamily="2" charset="-12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1851186" y="3356992"/>
              <a:ext cx="17373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779748" y="3294297"/>
              <a:ext cx="19704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ea typeface="宋体" pitchFamily="2" charset="-122"/>
                </a:rPr>
                <a:t>0.3358mol</a:t>
              </a:r>
              <a:endParaRPr lang="en-MY" sz="3200" dirty="0">
                <a:ea typeface="宋体" pitchFamily="2" charset="-122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问题解决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43372" y="5357826"/>
            <a:ext cx="48013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答：</a:t>
            </a:r>
            <a:r>
              <a:rPr lang="en-US" altLang="zh-CN" sz="3200" dirty="0"/>
              <a:t>	</a:t>
            </a:r>
            <a:r>
              <a:rPr lang="zh-CN" altLang="en-US" sz="3200" dirty="0"/>
              <a:t>蔗糖的相对分子质量</a:t>
            </a:r>
            <a:endParaRPr lang="en-US" altLang="zh-CN" sz="3200" dirty="0"/>
          </a:p>
          <a:p>
            <a:r>
              <a:rPr lang="en-US" altLang="zh-CN" sz="3200" dirty="0"/>
              <a:t>	</a:t>
            </a:r>
            <a:r>
              <a:rPr lang="zh-CN" altLang="en-US" sz="3200" dirty="0"/>
              <a:t>为</a:t>
            </a:r>
            <a:r>
              <a:rPr lang="en-US" altLang="zh-CN" sz="3200" b="1" dirty="0"/>
              <a:t>339.49</a:t>
            </a:r>
            <a:r>
              <a:rPr lang="zh-CN" altLang="en-US" sz="3200" dirty="0"/>
              <a:t>。</a:t>
            </a:r>
            <a:endParaRPr lang="en-US" sz="3200" dirty="0"/>
          </a:p>
        </p:txBody>
      </p:sp>
      <p:sp>
        <p:nvSpPr>
          <p:cNvPr id="21" name="TextBox 20"/>
          <p:cNvSpPr txBox="1"/>
          <p:nvPr/>
        </p:nvSpPr>
        <p:spPr>
          <a:xfrm>
            <a:off x="7858148" y="6344687"/>
            <a:ext cx="1335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339.46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16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021956"/>
            <a:ext cx="8229600" cy="626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已知：</a:t>
            </a:r>
            <a:r>
              <a:rPr lang="en-US" altLang="zh-CN" dirty="0"/>
              <a:t> M(</a:t>
            </a:r>
            <a:r>
              <a:rPr lang="zh-CN" altLang="en-US" dirty="0"/>
              <a:t>尿素</a:t>
            </a:r>
            <a:r>
              <a:rPr lang="en-US" altLang="zh-CN" dirty="0"/>
              <a:t>)= 60g/mol</a:t>
            </a:r>
            <a:r>
              <a:rPr lang="zh-CN" altLang="en-US" dirty="0"/>
              <a:t>，</a:t>
            </a:r>
            <a:r>
              <a:rPr lang="en-US" altLang="zh-CN" dirty="0"/>
              <a:t> p</a:t>
            </a:r>
            <a:r>
              <a:rPr lang="zh-CN" altLang="en-US" baseline="-25000" dirty="0"/>
              <a:t>剂</a:t>
            </a:r>
            <a:r>
              <a:rPr lang="en-US" altLang="zh-CN" dirty="0"/>
              <a:t>= 3.17kPa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	20% 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dirty="0"/>
              <a:t>n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		mol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p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  </a:t>
            </a:r>
            <a:r>
              <a:rPr lang="en-US" altLang="zh-CN" dirty="0"/>
              <a:t> = p</a:t>
            </a:r>
            <a:r>
              <a:rPr lang="zh-CN" altLang="en-US" baseline="-25000" dirty="0"/>
              <a:t>剂</a:t>
            </a:r>
            <a:r>
              <a:rPr lang="en-US" altLang="zh-CN" dirty="0"/>
              <a:t>χ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       = 3.17kPa x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       = 3.17 </a:t>
            </a:r>
            <a:r>
              <a:rPr lang="en-US" altLang="zh-CN" dirty="0" err="1"/>
              <a:t>kPa</a:t>
            </a:r>
            <a:r>
              <a:rPr lang="en-US" altLang="zh-CN" dirty="0"/>
              <a:t> x 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       = 2.95 </a:t>
            </a:r>
            <a:r>
              <a:rPr lang="en-US" altLang="zh-CN" dirty="0" err="1"/>
              <a:t>kPa</a:t>
            </a:r>
            <a:endParaRPr lang="en-MY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461218" y="2893047"/>
            <a:ext cx="792088" cy="964581"/>
            <a:chOff x="1835696" y="2852936"/>
            <a:chExt cx="792088" cy="964581"/>
          </a:xfrm>
        </p:grpSpPr>
        <p:sp>
          <p:nvSpPr>
            <p:cNvPr id="6" name="TextBox 5"/>
            <p:cNvSpPr txBox="1"/>
            <p:nvPr/>
          </p:nvSpPr>
          <p:spPr>
            <a:xfrm>
              <a:off x="1835696" y="2852936"/>
              <a:ext cx="7136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ea typeface="宋体" pitchFamily="2" charset="-122"/>
                </a:rPr>
                <a:t>  20</a:t>
              </a:r>
              <a:endParaRPr lang="en-MY" sz="2800" dirty="0">
                <a:ea typeface="宋体" pitchFamily="2" charset="-122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851186" y="3356992"/>
              <a:ext cx="7765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999340" y="3294297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ea typeface="宋体" pitchFamily="2" charset="-122"/>
                </a:rPr>
                <a:t>60</a:t>
              </a:r>
              <a:endParaRPr lang="en-MY" sz="2800" dirty="0">
                <a:ea typeface="宋体" pitchFamily="2" charset="-122"/>
              </a:endParaRPr>
            </a:p>
          </p:txBody>
        </p:sp>
      </p:grpSp>
      <p:grpSp>
        <p:nvGrpSpPr>
          <p:cNvPr id="4" name="Group 8"/>
          <p:cNvGrpSpPr/>
          <p:nvPr/>
        </p:nvGrpSpPr>
        <p:grpSpPr>
          <a:xfrm>
            <a:off x="3214678" y="4233453"/>
            <a:ext cx="2286000" cy="1023286"/>
            <a:chOff x="1851185" y="2839451"/>
            <a:chExt cx="2286000" cy="1023286"/>
          </a:xfrm>
        </p:grpSpPr>
        <p:sp>
          <p:nvSpPr>
            <p:cNvPr id="10" name="TextBox 9"/>
            <p:cNvSpPr txBox="1"/>
            <p:nvPr/>
          </p:nvSpPr>
          <p:spPr>
            <a:xfrm>
              <a:off x="2411760" y="2839451"/>
              <a:ext cx="10550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ea typeface="宋体" pitchFamily="2" charset="-122"/>
                </a:rPr>
                <a:t>80/18</a:t>
              </a:r>
              <a:endParaRPr lang="en-MY" sz="2800" dirty="0">
                <a:ea typeface="宋体" pitchFamily="2" charset="-122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1851185" y="3356992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861899" y="3339517"/>
              <a:ext cx="22685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ea typeface="宋体" pitchFamily="2" charset="-122"/>
                </a:rPr>
                <a:t>20/60 </a:t>
              </a:r>
              <a:r>
                <a:rPr lang="en-US" sz="2800" dirty="0">
                  <a:ea typeface="宋体" pitchFamily="2" charset="-122"/>
                </a:rPr>
                <a:t>+ </a:t>
              </a:r>
              <a:r>
                <a:rPr lang="en-US" altLang="zh-CN" sz="2800" dirty="0">
                  <a:ea typeface="宋体" pitchFamily="2" charset="-122"/>
                </a:rPr>
                <a:t>8</a:t>
              </a:r>
              <a:r>
                <a:rPr lang="en-US" sz="2800" dirty="0">
                  <a:ea typeface="宋体" pitchFamily="2" charset="-122"/>
                </a:rPr>
                <a:t>0/18</a:t>
              </a:r>
              <a:endParaRPr lang="en-MY" sz="2800" dirty="0">
                <a:ea typeface="宋体" pitchFamily="2" charset="-122"/>
              </a:endParaRPr>
            </a:p>
          </p:txBody>
        </p:sp>
      </p:grpSp>
      <p:sp>
        <p:nvSpPr>
          <p:cNvPr id="14" name="Left Brace 13"/>
          <p:cNvSpPr/>
          <p:nvPr/>
        </p:nvSpPr>
        <p:spPr>
          <a:xfrm>
            <a:off x="2285984" y="1714488"/>
            <a:ext cx="294322" cy="128588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08868" y="1428736"/>
            <a:ext cx="285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质</a:t>
            </a:r>
            <a:r>
              <a:rPr lang="zh-CN" altLang="en-US" sz="3600" dirty="0"/>
              <a:t> </a:t>
            </a:r>
            <a:r>
              <a:rPr lang="en-US" altLang="zh-CN" sz="3600" dirty="0"/>
              <a:t>= 20g</a:t>
            </a:r>
            <a:endParaRPr lang="en-US" sz="3600" dirty="0"/>
          </a:p>
        </p:txBody>
      </p:sp>
      <p:sp>
        <p:nvSpPr>
          <p:cNvPr id="16" name="TextBox 15"/>
          <p:cNvSpPr txBox="1"/>
          <p:nvPr/>
        </p:nvSpPr>
        <p:spPr>
          <a:xfrm>
            <a:off x="2365992" y="2428868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液</a:t>
            </a:r>
            <a:r>
              <a:rPr lang="zh-CN" altLang="en-US" sz="3600" dirty="0"/>
              <a:t> </a:t>
            </a:r>
            <a:r>
              <a:rPr lang="en-US" altLang="zh-CN" sz="3600" dirty="0"/>
              <a:t>= 100g</a:t>
            </a:r>
            <a:endParaRPr lang="en-US" sz="3600" dirty="0"/>
          </a:p>
        </p:txBody>
      </p:sp>
      <p:sp>
        <p:nvSpPr>
          <p:cNvPr id="18" name="Rectangle 17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问题解决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3504" y="1449287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m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80g</a:t>
            </a:r>
            <a:endParaRPr lang="en-US" sz="3600" dirty="0"/>
          </a:p>
        </p:txBody>
      </p:sp>
      <p:sp>
        <p:nvSpPr>
          <p:cNvPr id="19" name="TextBox 18"/>
          <p:cNvSpPr txBox="1"/>
          <p:nvPr/>
        </p:nvSpPr>
        <p:spPr>
          <a:xfrm>
            <a:off x="5143504" y="2377981"/>
            <a:ext cx="342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</a:t>
            </a:r>
            <a:r>
              <a:rPr lang="en-US" altLang="zh-CN" sz="3600" dirty="0"/>
              <a:t>n</a:t>
            </a:r>
            <a:r>
              <a:rPr lang="zh-CN" altLang="en-US" sz="3600" baseline="-25000" dirty="0"/>
              <a:t>剂</a:t>
            </a:r>
            <a:r>
              <a:rPr lang="zh-CN" altLang="en-US" sz="3600" dirty="0"/>
              <a:t> </a:t>
            </a:r>
            <a:r>
              <a:rPr lang="en-US" altLang="zh-CN" sz="3600" dirty="0"/>
              <a:t>= 80/18 mol</a:t>
            </a:r>
            <a:endParaRPr lang="en-US" sz="3600" dirty="0"/>
          </a:p>
        </p:txBody>
      </p:sp>
      <p:grpSp>
        <p:nvGrpSpPr>
          <p:cNvPr id="20" name="Group 4"/>
          <p:cNvGrpSpPr/>
          <p:nvPr/>
        </p:nvGrpSpPr>
        <p:grpSpPr>
          <a:xfrm>
            <a:off x="3214678" y="5162147"/>
            <a:ext cx="792088" cy="767183"/>
            <a:chOff x="1835696" y="2988779"/>
            <a:chExt cx="792088" cy="767183"/>
          </a:xfrm>
        </p:grpSpPr>
        <p:sp>
          <p:nvSpPr>
            <p:cNvPr id="21" name="TextBox 20"/>
            <p:cNvSpPr txBox="1"/>
            <p:nvPr/>
          </p:nvSpPr>
          <p:spPr>
            <a:xfrm>
              <a:off x="1835696" y="2988779"/>
              <a:ext cx="6335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ea typeface="宋体" pitchFamily="2" charset="-122"/>
                </a:rPr>
                <a:t>  40</a:t>
              </a:r>
              <a:endParaRPr lang="en-MY" sz="2400" dirty="0">
                <a:ea typeface="宋体" pitchFamily="2" charset="-122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851186" y="3356992"/>
              <a:ext cx="7765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999340" y="3294297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ea typeface="宋体" pitchFamily="2" charset="-122"/>
                </a:rPr>
                <a:t>43</a:t>
              </a:r>
              <a:endParaRPr lang="en-MY" sz="2400" dirty="0"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58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uiExpand="1" animBg="1"/>
      <p:bldP spid="15" grpId="0" uiExpand="1"/>
      <p:bldP spid="16" grpId="0" uiExpand="1"/>
      <p:bldP spid="17" grpId="0"/>
      <p:bldP spid="1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Autofit/>
          </a:bodyPr>
          <a:lstStyle/>
          <a:p>
            <a:r>
              <a:rPr lang="zh-CN" altLang="en-US" dirty="0"/>
              <a:t>如果溶液是由两种挥发性物质组成的，则依道尔顿分压定律，溶液的总蒸气压是各成分蒸气分压的总和。</a:t>
            </a:r>
            <a:endParaRPr lang="en-US" altLang="zh-CN" dirty="0"/>
          </a:p>
          <a:p>
            <a:pPr>
              <a:buNone/>
            </a:pPr>
            <a:r>
              <a:rPr lang="en-US" dirty="0"/>
              <a:t>                                   </a:t>
            </a:r>
            <a:r>
              <a:rPr lang="en-MY" dirty="0" err="1"/>
              <a:t>p</a:t>
            </a:r>
            <a:r>
              <a:rPr lang="en-MY" baseline="-25000" dirty="0" err="1"/>
              <a:t>T</a:t>
            </a:r>
            <a:r>
              <a:rPr lang="en-MY" dirty="0"/>
              <a:t> </a:t>
            </a:r>
            <a:r>
              <a:rPr lang="en-US" altLang="zh-CN" dirty="0"/>
              <a:t>=</a:t>
            </a:r>
            <a:r>
              <a:rPr lang="en-MY" dirty="0" err="1"/>
              <a:t>p</a:t>
            </a:r>
            <a:r>
              <a:rPr lang="en-MY" baseline="-25000" dirty="0" err="1"/>
              <a:t>A</a:t>
            </a:r>
            <a:r>
              <a:rPr lang="en-MY" dirty="0"/>
              <a:t> + </a:t>
            </a:r>
            <a:r>
              <a:rPr lang="en-MY" dirty="0" err="1"/>
              <a:t>p</a:t>
            </a:r>
            <a:r>
              <a:rPr lang="en-MY" baseline="-25000" dirty="0" err="1"/>
              <a:t>B</a:t>
            </a:r>
            <a:r>
              <a:rPr lang="en-US" baseline="-25000" dirty="0"/>
              <a:t> 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zh-CN" altLang="en-US" dirty="0"/>
              <a:t>每一成分的蒸气分压可由拉乌尔定律求得，</a:t>
            </a:r>
            <a:r>
              <a:rPr lang="en-US" altLang="zh-CN" dirty="0"/>
              <a:t>			</a:t>
            </a:r>
            <a:r>
              <a:rPr lang="en-MY" dirty="0" err="1"/>
              <a:t>p</a:t>
            </a:r>
            <a:r>
              <a:rPr lang="en-MY" baseline="-25000" dirty="0" err="1"/>
              <a:t>A</a:t>
            </a:r>
            <a:r>
              <a:rPr lang="en-US" altLang="zh-CN" dirty="0"/>
              <a:t>=</a:t>
            </a:r>
            <a:r>
              <a:rPr lang="en-MY" dirty="0"/>
              <a:t>p</a:t>
            </a:r>
            <a:r>
              <a:rPr lang="zh-CN" altLang="en-US" baseline="-25000" dirty="0"/>
              <a:t>纯</a:t>
            </a:r>
            <a:r>
              <a:rPr lang="en-MY" baseline="-25000" dirty="0"/>
              <a:t>A</a:t>
            </a:r>
            <a:r>
              <a:rPr lang="en-MY" baseline="30000" dirty="0"/>
              <a:t> </a:t>
            </a:r>
            <a:r>
              <a:rPr lang="el-GR" dirty="0"/>
              <a:t>χ</a:t>
            </a:r>
            <a:r>
              <a:rPr lang="en-US" baseline="-25000" dirty="0"/>
              <a:t>A</a:t>
            </a:r>
            <a:r>
              <a:rPr lang="zh-CN" altLang="en-US" baseline="-25000" dirty="0"/>
              <a:t> </a:t>
            </a:r>
            <a:br>
              <a:rPr lang="en-US" altLang="zh-CN" dirty="0"/>
            </a:br>
            <a:r>
              <a:rPr lang="en-MY" dirty="0"/>
              <a:t>  		</a:t>
            </a:r>
            <a:r>
              <a:rPr lang="en-MY" dirty="0" err="1"/>
              <a:t>p</a:t>
            </a:r>
            <a:r>
              <a:rPr lang="en-MY" baseline="-25000" dirty="0" err="1"/>
              <a:t>B</a:t>
            </a:r>
            <a:r>
              <a:rPr lang="en-US" altLang="zh-CN" dirty="0"/>
              <a:t>=</a:t>
            </a:r>
            <a:r>
              <a:rPr lang="en-MY" dirty="0"/>
              <a:t>p</a:t>
            </a:r>
            <a:r>
              <a:rPr lang="zh-CN" altLang="en-US" baseline="-25000" dirty="0"/>
              <a:t>纯</a:t>
            </a:r>
            <a:r>
              <a:rPr lang="en-MY" baseline="-25000" dirty="0"/>
              <a:t>B</a:t>
            </a:r>
            <a:r>
              <a:rPr lang="en-MY" dirty="0"/>
              <a:t> </a:t>
            </a:r>
            <a:r>
              <a:rPr lang="el-GR" dirty="0"/>
              <a:t>χ</a:t>
            </a:r>
            <a:r>
              <a:rPr lang="en-US" baseline="-25000" dirty="0"/>
              <a:t>B</a:t>
            </a:r>
            <a:r>
              <a:rPr lang="el-GR" dirty="0"/>
              <a:t> </a:t>
            </a:r>
            <a:endParaRPr lang="en-US" dirty="0"/>
          </a:p>
          <a:p>
            <a:pPr>
              <a:buNone/>
            </a:pPr>
            <a:r>
              <a:rPr lang="en-MY" dirty="0"/>
              <a:t>			</a:t>
            </a:r>
            <a:r>
              <a:rPr lang="en-MY" dirty="0" err="1"/>
              <a:t>p</a:t>
            </a:r>
            <a:r>
              <a:rPr lang="en-MY" baseline="-25000" dirty="0" err="1"/>
              <a:t>T</a:t>
            </a:r>
            <a:r>
              <a:rPr lang="en-US" baseline="-25000" dirty="0"/>
              <a:t> </a:t>
            </a:r>
            <a:r>
              <a:rPr lang="en-US" altLang="zh-CN" dirty="0"/>
              <a:t>=</a:t>
            </a:r>
            <a:r>
              <a:rPr lang="en-MY" dirty="0"/>
              <a:t> p</a:t>
            </a:r>
            <a:r>
              <a:rPr lang="zh-CN" altLang="en-US" baseline="-25000" dirty="0"/>
              <a:t>纯</a:t>
            </a:r>
            <a:r>
              <a:rPr lang="en-MY" baseline="-25000" dirty="0"/>
              <a:t>A</a:t>
            </a:r>
            <a:r>
              <a:rPr lang="en-MY" dirty="0"/>
              <a:t> </a:t>
            </a:r>
            <a:r>
              <a:rPr lang="el-GR" dirty="0"/>
              <a:t>χ</a:t>
            </a:r>
            <a:r>
              <a:rPr lang="en-US" baseline="-25000" dirty="0"/>
              <a:t>A </a:t>
            </a:r>
            <a:r>
              <a:rPr lang="en-US" altLang="zh-CN" dirty="0"/>
              <a:t>+</a:t>
            </a:r>
            <a:r>
              <a:rPr lang="en-MY" dirty="0"/>
              <a:t> p</a:t>
            </a:r>
            <a:r>
              <a:rPr lang="zh-CN" altLang="en-US" baseline="-25000" dirty="0"/>
              <a:t>纯</a:t>
            </a:r>
            <a:r>
              <a:rPr lang="en-MY" baseline="-25000" dirty="0"/>
              <a:t>B</a:t>
            </a:r>
            <a:r>
              <a:rPr lang="en-MY" dirty="0"/>
              <a:t> </a:t>
            </a:r>
            <a:r>
              <a:rPr lang="el-GR" dirty="0"/>
              <a:t>χ</a:t>
            </a:r>
            <a:r>
              <a:rPr lang="en-US" baseline="-25000" dirty="0"/>
              <a:t>B</a:t>
            </a:r>
            <a:r>
              <a:rPr lang="el-GR" dirty="0"/>
              <a:t> </a:t>
            </a:r>
            <a:endParaRPr lang="en-US" dirty="0"/>
          </a:p>
          <a:p>
            <a:pPr>
              <a:buNone/>
            </a:pPr>
            <a:r>
              <a:rPr lang="en-US" baseline="-25000" dirty="0"/>
              <a:t> </a:t>
            </a:r>
            <a:r>
              <a:rPr lang="zh-CN" altLang="en-US" dirty="0"/>
              <a:t>图</a:t>
            </a:r>
            <a:r>
              <a:rPr lang="en-US" altLang="zh-CN" dirty="0"/>
              <a:t>18-35</a:t>
            </a:r>
            <a:endParaRPr lang="en-US" baseline="-25000" dirty="0"/>
          </a:p>
          <a:p>
            <a:pPr>
              <a:buNone/>
            </a:pPr>
            <a:r>
              <a:rPr lang="el-G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                                  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en-MY" dirty="0"/>
          </a:p>
          <a:p>
            <a:pPr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072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l-GR" dirty="0"/>
              <a:t> </a:t>
            </a:r>
            <a:endParaRPr lang="en-US" baseline="-25000" dirty="0"/>
          </a:p>
          <a:p>
            <a:pPr>
              <a:buNone/>
            </a:pPr>
            <a:r>
              <a:rPr lang="el-G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                                  </a:t>
            </a:r>
            <a:r>
              <a:rPr lang="en-US" baseline="-25000" dirty="0">
                <a:solidFill>
                  <a:srgbClr val="FF0000"/>
                </a:solidFill>
              </a:rPr>
              <a:t> </a:t>
            </a:r>
            <a:br>
              <a:rPr lang="en-US" altLang="zh-CN" dirty="0">
                <a:solidFill>
                  <a:srgbClr val="FF0000"/>
                </a:solidFill>
              </a:rPr>
            </a:br>
            <a:endParaRPr lang="en-MY" dirty="0"/>
          </a:p>
          <a:p>
            <a:pPr>
              <a:buNone/>
            </a:pPr>
            <a:endParaRPr lang="en-US" altLang="zh-CN" dirty="0"/>
          </a:p>
        </p:txBody>
      </p:sp>
      <p:pic>
        <p:nvPicPr>
          <p:cNvPr id="1026" name="Picture 2" descr="C:\Users\user\Desktop\lawuer2.gif"/>
          <p:cNvPicPr>
            <a:picLocks noChangeAspect="1" noChangeArrowheads="1"/>
          </p:cNvPicPr>
          <p:nvPr/>
        </p:nvPicPr>
        <p:blipFill>
          <a:blip r:embed="rId3">
            <a:lum bright="-40000" contrast="-30000"/>
          </a:blip>
          <a:srcRect b="19768"/>
          <a:stretch>
            <a:fillRect/>
          </a:stretch>
        </p:blipFill>
        <p:spPr bwMode="auto">
          <a:xfrm>
            <a:off x="500034" y="214290"/>
            <a:ext cx="8054922" cy="457203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928662" y="4643446"/>
            <a:ext cx="261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F</a:t>
            </a:r>
            <a:r>
              <a:rPr lang="en-US" altLang="zh-CN" sz="3200" baseline="-25000" dirty="0"/>
              <a:t>AB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</a:t>
            </a:r>
            <a:r>
              <a:rPr lang="en-US" altLang="zh-CN" sz="3200" dirty="0"/>
              <a:t>F</a:t>
            </a:r>
            <a:r>
              <a:rPr lang="en-US" altLang="zh-CN" sz="3200" baseline="-25000" dirty="0"/>
              <a:t>AA</a:t>
            </a:r>
            <a:r>
              <a:rPr lang="en-US" altLang="zh-CN" sz="3200" dirty="0"/>
              <a:t> </a:t>
            </a:r>
            <a:r>
              <a:rPr lang="zh-CN" altLang="en-US" sz="3200" dirty="0"/>
              <a:t>、</a:t>
            </a:r>
            <a:r>
              <a:rPr lang="en-US" altLang="zh-CN" sz="3200" dirty="0"/>
              <a:t>F</a:t>
            </a:r>
            <a:r>
              <a:rPr lang="en-US" altLang="zh-CN" sz="3200" baseline="-25000" dirty="0"/>
              <a:t>BB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928662" y="5130241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分子</a:t>
            </a:r>
            <a:r>
              <a:rPr lang="en-US" altLang="zh-CN" sz="3200" dirty="0"/>
              <a:t>A</a:t>
            </a:r>
            <a:r>
              <a:rPr lang="zh-CN" altLang="en-US" sz="3200" dirty="0"/>
              <a:t>与</a:t>
            </a:r>
            <a:r>
              <a:rPr lang="en-US" altLang="zh-CN" sz="3200" dirty="0"/>
              <a:t>B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易</a:t>
            </a:r>
            <a:r>
              <a:rPr lang="zh-CN" altLang="en-US" sz="3200" dirty="0"/>
              <a:t>飞出液面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928662" y="5630307"/>
            <a:ext cx="377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P</a:t>
            </a:r>
            <a:r>
              <a:rPr lang="zh-CN" altLang="en-US" sz="3200" baseline="-25000" dirty="0"/>
              <a:t>液</a:t>
            </a:r>
            <a:r>
              <a:rPr lang="en-US" altLang="zh-CN" sz="3200" baseline="-25000" dirty="0"/>
              <a:t> 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 </a:t>
            </a:r>
            <a:r>
              <a:rPr lang="zh-CN" altLang="en-US" sz="3200" dirty="0"/>
              <a:t>理论，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</a:t>
            </a:r>
            <a:r>
              <a:rPr lang="zh-CN" altLang="en-US" sz="3200" dirty="0"/>
              <a:t>偏差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194818" y="4643446"/>
            <a:ext cx="2616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F</a:t>
            </a:r>
            <a:r>
              <a:rPr lang="en-US" altLang="zh-CN" sz="3200" baseline="-25000" dirty="0"/>
              <a:t>AB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</a:t>
            </a:r>
            <a:r>
              <a:rPr lang="en-US" altLang="zh-CN" sz="3200" dirty="0"/>
              <a:t>F</a:t>
            </a:r>
            <a:r>
              <a:rPr lang="en-US" altLang="zh-CN" sz="3200" baseline="-25000" dirty="0"/>
              <a:t>AA</a:t>
            </a:r>
            <a:r>
              <a:rPr lang="en-US" altLang="zh-CN" sz="3200" dirty="0"/>
              <a:t> </a:t>
            </a:r>
            <a:r>
              <a:rPr lang="zh-CN" altLang="en-US" sz="3200" dirty="0"/>
              <a:t>、</a:t>
            </a:r>
            <a:r>
              <a:rPr lang="en-US" altLang="zh-CN" sz="3200" dirty="0"/>
              <a:t>F</a:t>
            </a:r>
            <a:r>
              <a:rPr lang="en-US" altLang="zh-CN" sz="3200" baseline="-25000" dirty="0"/>
              <a:t>BB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5194818" y="5130241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分子</a:t>
            </a:r>
            <a:r>
              <a:rPr lang="en-US" altLang="zh-CN" sz="3200" dirty="0"/>
              <a:t>A</a:t>
            </a:r>
            <a:r>
              <a:rPr lang="zh-CN" altLang="en-US" sz="3200" dirty="0"/>
              <a:t>与</a:t>
            </a:r>
            <a:r>
              <a:rPr lang="en-US" altLang="zh-CN" sz="3200" dirty="0"/>
              <a:t>B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难</a:t>
            </a:r>
            <a:r>
              <a:rPr lang="zh-CN" altLang="en-US" sz="3200" dirty="0"/>
              <a:t>飞出液面</a:t>
            </a:r>
            <a:r>
              <a:rPr lang="en-US" altLang="zh-CN" sz="3200" dirty="0"/>
              <a:t> 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5227366" y="5630307"/>
            <a:ext cx="3680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P</a:t>
            </a:r>
            <a:r>
              <a:rPr lang="zh-CN" altLang="en-US" sz="3200" baseline="-25000" dirty="0"/>
              <a:t>液</a:t>
            </a:r>
            <a:r>
              <a:rPr lang="en-US" altLang="zh-CN" sz="3200" baseline="-25000" dirty="0"/>
              <a:t> 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 </a:t>
            </a:r>
            <a:r>
              <a:rPr lang="zh-CN" altLang="en-US" sz="3200" dirty="0"/>
              <a:t>理论，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</a:t>
            </a:r>
            <a:r>
              <a:rPr lang="zh-CN" altLang="en-US" sz="3200" dirty="0"/>
              <a:t>偏差</a:t>
            </a:r>
            <a:r>
              <a:rPr lang="en-US" altLang="zh-CN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931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在某温度下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两种易挥发的物质的压强分别为</a:t>
            </a:r>
            <a:r>
              <a:rPr lang="en-US" altLang="zh-CN" dirty="0"/>
              <a:t>3kPa </a:t>
            </a:r>
            <a:r>
              <a:rPr lang="zh-CN" altLang="en-US" dirty="0"/>
              <a:t>、</a:t>
            </a:r>
            <a:r>
              <a:rPr lang="en-US" altLang="zh-CN" dirty="0"/>
              <a:t>6kPa</a:t>
            </a:r>
            <a:r>
              <a:rPr lang="zh-CN" altLang="en-US" dirty="0"/>
              <a:t>。在此温度下，将</a:t>
            </a:r>
            <a:r>
              <a:rPr lang="en-US" altLang="zh-CN" dirty="0"/>
              <a:t>2molA </a:t>
            </a:r>
            <a:r>
              <a:rPr lang="zh-CN" altLang="en-US" dirty="0"/>
              <a:t>与</a:t>
            </a:r>
            <a:r>
              <a:rPr lang="en-US" altLang="zh-CN" dirty="0"/>
              <a:t>4molB </a:t>
            </a:r>
            <a:r>
              <a:rPr lang="zh-CN" altLang="en-US" dirty="0"/>
              <a:t>混合组成理想溶液，求此温度下溶液的蒸气压。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n</a:t>
            </a:r>
            <a:r>
              <a:rPr lang="en-US" altLang="zh-CN" baseline="-25000" dirty="0" err="1"/>
              <a:t>T</a:t>
            </a:r>
            <a:r>
              <a:rPr lang="en-US" altLang="zh-CN" dirty="0"/>
              <a:t> 	= 2mol+ 4mol = 6mol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公式：</a:t>
            </a:r>
            <a:r>
              <a:rPr lang="en-MY" dirty="0" err="1"/>
              <a:t>p</a:t>
            </a:r>
            <a:r>
              <a:rPr lang="en-MY" baseline="-25000" dirty="0" err="1"/>
              <a:t>T</a:t>
            </a:r>
            <a:r>
              <a:rPr lang="en-US" baseline="-25000" dirty="0"/>
              <a:t> 	</a:t>
            </a:r>
            <a:r>
              <a:rPr lang="en-US" altLang="zh-CN" dirty="0"/>
              <a:t>=</a:t>
            </a:r>
            <a:r>
              <a:rPr lang="en-MY" dirty="0"/>
              <a:t> p</a:t>
            </a:r>
            <a:r>
              <a:rPr lang="zh-CN" altLang="en-US" baseline="-25000" dirty="0"/>
              <a:t>纯</a:t>
            </a:r>
            <a:r>
              <a:rPr lang="en-MY" baseline="-25000" dirty="0"/>
              <a:t>A</a:t>
            </a:r>
            <a:r>
              <a:rPr lang="en-MY" dirty="0"/>
              <a:t> </a:t>
            </a:r>
            <a:r>
              <a:rPr lang="el-GR" dirty="0"/>
              <a:t>χ</a:t>
            </a:r>
            <a:r>
              <a:rPr lang="en-US" baseline="-25000" dirty="0"/>
              <a:t>A </a:t>
            </a:r>
            <a:r>
              <a:rPr lang="en-US" altLang="zh-CN" dirty="0"/>
              <a:t>+</a:t>
            </a:r>
            <a:r>
              <a:rPr lang="en-MY" dirty="0"/>
              <a:t> p</a:t>
            </a:r>
            <a:r>
              <a:rPr lang="zh-CN" altLang="en-US" baseline="-25000" dirty="0"/>
              <a:t>纯</a:t>
            </a:r>
            <a:r>
              <a:rPr lang="en-MY" baseline="-25000" dirty="0"/>
              <a:t>B</a:t>
            </a:r>
            <a:r>
              <a:rPr lang="en-MY" dirty="0"/>
              <a:t> </a:t>
            </a:r>
            <a:r>
              <a:rPr lang="el-GR" dirty="0"/>
              <a:t>χ</a:t>
            </a:r>
            <a:r>
              <a:rPr lang="en-US" baseline="-25000" dirty="0"/>
              <a:t>B</a:t>
            </a:r>
            <a:endParaRPr lang="en-US" altLang="zh-CN" b="1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	= 3kPa x 	+ 6kPa x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	= 5kPa</a:t>
            </a:r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补充题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5572132" y="4357694"/>
          <a:ext cx="453970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393480" progId="Equation.3">
                  <p:embed/>
                </p:oleObj>
              </mc:Choice>
              <mc:Fallback>
                <p:oleObj name="Equation" r:id="rId3" imgW="152280" imgH="39348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2" y="4357694"/>
                        <a:ext cx="453970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786182" y="4357694"/>
          <a:ext cx="504828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393480" progId="Equation.3">
                  <p:embed/>
                </p:oleObj>
              </mc:Choice>
              <mc:Fallback>
                <p:oleObj name="Equation" r:id="rId5" imgW="152280" imgH="393480" progId="Equation.3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4357694"/>
                        <a:ext cx="504828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522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r>
              <a:rPr lang="zh-CN" altLang="en-US" dirty="0"/>
              <a:t>液体的蒸气压等于外界压力时的温度称为该液体的沸点。</a:t>
            </a:r>
            <a:endParaRPr lang="en-US" altLang="zh-CN" dirty="0"/>
          </a:p>
          <a:p>
            <a:r>
              <a:rPr lang="zh-CN" altLang="en-US" dirty="0"/>
              <a:t>当外压为</a:t>
            </a:r>
            <a:r>
              <a:rPr lang="en-US" altLang="zh-CN" dirty="0"/>
              <a:t>101.325kPa</a:t>
            </a:r>
            <a:r>
              <a:rPr lang="zh-CN" altLang="en-US" dirty="0"/>
              <a:t>时的沸点则称为正常沸点。</a:t>
            </a:r>
            <a:endParaRPr lang="en-US" altLang="zh-CN" dirty="0"/>
          </a:p>
          <a:p>
            <a:r>
              <a:rPr lang="zh-CN" altLang="en-US" dirty="0"/>
              <a:t>根据拉乌尔定律</a:t>
            </a:r>
            <a:r>
              <a:rPr lang="en-US" altLang="zh-CN" dirty="0"/>
              <a:t>p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&lt; p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</a:t>
            </a:r>
            <a:r>
              <a:rPr lang="en-US" altLang="zh-CN" dirty="0"/>
              <a:t>1atm,100</a:t>
            </a:r>
            <a:r>
              <a:rPr lang="en-US" altLang="zh-CN" baseline="30000" dirty="0"/>
              <a:t>o</a:t>
            </a:r>
            <a:r>
              <a:rPr lang="en-US" altLang="zh-CN" dirty="0"/>
              <a:t> C</a:t>
            </a:r>
            <a:r>
              <a:rPr lang="zh-CN" altLang="en-US" dirty="0"/>
              <a:t>时 </a:t>
            </a:r>
            <a:r>
              <a:rPr lang="en-US" altLang="zh-CN" dirty="0"/>
              <a:t>p</a:t>
            </a:r>
            <a:r>
              <a:rPr lang="zh-CN" altLang="en-US" baseline="-25000" dirty="0"/>
              <a:t>水</a:t>
            </a:r>
            <a:r>
              <a:rPr lang="zh-CN" altLang="en-US" dirty="0"/>
              <a:t> </a:t>
            </a:r>
            <a:r>
              <a:rPr lang="en-US" altLang="zh-CN" dirty="0"/>
              <a:t>= 1atm </a:t>
            </a:r>
            <a:r>
              <a:rPr lang="zh-CN" altLang="en-US" dirty="0"/>
              <a:t>，水沸腾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</a:t>
            </a:r>
            <a:r>
              <a:rPr lang="en-US" altLang="zh-CN" dirty="0"/>
              <a:t>1atm,100</a:t>
            </a:r>
            <a:r>
              <a:rPr lang="en-US" altLang="zh-CN" baseline="30000" dirty="0"/>
              <a:t>o</a:t>
            </a:r>
            <a:r>
              <a:rPr lang="en-US" altLang="zh-CN" dirty="0"/>
              <a:t> C</a:t>
            </a:r>
            <a:r>
              <a:rPr lang="zh-CN" altLang="en-US" dirty="0"/>
              <a:t>时 </a:t>
            </a:r>
            <a:r>
              <a:rPr lang="en-US" altLang="zh-CN" dirty="0"/>
              <a:t>p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&lt; 1atm </a:t>
            </a:r>
            <a:r>
              <a:rPr lang="zh-CN" altLang="en-US" dirty="0"/>
              <a:t>，水溶液不沸腾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在</a:t>
            </a:r>
            <a:r>
              <a:rPr lang="en-US" altLang="zh-CN" dirty="0"/>
              <a:t>1atm,</a:t>
            </a:r>
            <a:r>
              <a:rPr lang="zh-CN" altLang="en-US" dirty="0"/>
              <a:t>温度</a:t>
            </a:r>
            <a:r>
              <a:rPr lang="en-US" altLang="zh-CN" dirty="0"/>
              <a:t>&gt;100</a:t>
            </a:r>
            <a:r>
              <a:rPr lang="en-US" altLang="zh-CN" baseline="30000" dirty="0"/>
              <a:t>o </a:t>
            </a:r>
            <a:r>
              <a:rPr lang="en-US" altLang="zh-CN" dirty="0"/>
              <a:t>C</a:t>
            </a:r>
            <a:r>
              <a:rPr lang="en-US" altLang="zh-CN" baseline="30000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时</a:t>
            </a:r>
            <a:r>
              <a:rPr lang="en-US" altLang="zh-CN" dirty="0"/>
              <a:t>,p</a:t>
            </a:r>
            <a:r>
              <a:rPr lang="zh-CN" altLang="en-US" baseline="-25000" dirty="0"/>
              <a:t>液</a:t>
            </a:r>
            <a:r>
              <a:rPr lang="en-US" altLang="zh-CN" dirty="0"/>
              <a:t>=1atm,</a:t>
            </a:r>
            <a:r>
              <a:rPr lang="zh-CN" altLang="en-US" dirty="0"/>
              <a:t>水溶液沸腾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endParaRPr lang="en-MY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溶液的沸点上升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000496" y="3714752"/>
            <a:ext cx="357190" cy="2857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643570" y="3500438"/>
            <a:ext cx="1357322" cy="64294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071934" y="4357694"/>
            <a:ext cx="285752" cy="21431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572132" y="4071942"/>
            <a:ext cx="2857520" cy="64294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4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altLang="zh-CN"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溶液的沸点上升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1" name="Picture 10" descr="IMG_20180511_122316.jpg"/>
          <p:cNvPicPr>
            <a:picLocks noChangeAspect="1"/>
          </p:cNvPicPr>
          <p:nvPr/>
        </p:nvPicPr>
        <p:blipFill>
          <a:blip r:embed="rId3" cstate="print">
            <a:lum contrast="20000"/>
          </a:blip>
          <a:srcRect l="19186" t="19767" r="30233" b="19768"/>
          <a:stretch>
            <a:fillRect/>
          </a:stretch>
        </p:blipFill>
        <p:spPr>
          <a:xfrm>
            <a:off x="928662" y="857232"/>
            <a:ext cx="7215238" cy="576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T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zh-CN" altLang="en-US" dirty="0"/>
              <a:t>沸点 </a:t>
            </a:r>
            <a:r>
              <a:rPr lang="en-US" altLang="zh-CN" dirty="0"/>
              <a:t>boiling point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沸点上升值</a:t>
            </a:r>
            <a:r>
              <a:rPr lang="en-US" altLang="zh-CN" dirty="0"/>
              <a:t>	∆ </a:t>
            </a:r>
            <a:r>
              <a:rPr lang="en-US" altLang="zh-CN" dirty="0">
                <a:ea typeface="+mj-ea"/>
              </a:rPr>
              <a:t>T</a:t>
            </a:r>
            <a:r>
              <a:rPr lang="en-US" altLang="zh-CN" baseline="-25000" dirty="0">
                <a:ea typeface="+mj-ea"/>
              </a:rPr>
              <a:t>b</a:t>
            </a:r>
            <a:r>
              <a:rPr lang="en-US" altLang="zh-CN" dirty="0">
                <a:ea typeface="+mj-ea"/>
              </a:rPr>
              <a:t>=T</a:t>
            </a:r>
            <a:r>
              <a:rPr lang="en-US" altLang="zh-CN" baseline="-25000" dirty="0">
                <a:ea typeface="+mj-ea"/>
              </a:rPr>
              <a:t>b</a:t>
            </a:r>
            <a:r>
              <a:rPr lang="zh-CN" altLang="en-US" baseline="-25000" dirty="0">
                <a:ea typeface="+mj-ea"/>
              </a:rPr>
              <a:t>液</a:t>
            </a:r>
            <a:r>
              <a:rPr lang="en-US" altLang="zh-CN" dirty="0">
                <a:ea typeface="+mj-ea"/>
              </a:rPr>
              <a:t>-T</a:t>
            </a:r>
            <a:r>
              <a:rPr lang="en-US" altLang="zh-CN" baseline="-25000" dirty="0">
                <a:ea typeface="+mj-ea"/>
              </a:rPr>
              <a:t>b</a:t>
            </a:r>
            <a:r>
              <a:rPr lang="zh-CN" altLang="en-US" baseline="-25000" dirty="0">
                <a:ea typeface="+mj-ea"/>
              </a:rPr>
              <a:t>剂</a:t>
            </a:r>
            <a:endParaRPr lang="en-US" altLang="zh-CN" baseline="-25000" dirty="0">
              <a:ea typeface="+mj-ea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 </a:t>
            </a:r>
            <a:r>
              <a:rPr lang="zh-CN" altLang="en-US" dirty="0"/>
              <a:t>根据拉乌尔定律</a:t>
            </a:r>
            <a:r>
              <a:rPr lang="en-US" altLang="zh-CN" dirty="0"/>
              <a:t>,</a:t>
            </a:r>
            <a:r>
              <a:rPr lang="zh-CN" altLang="en-US" dirty="0"/>
              <a:t>难挥发非电解质溶质的溶液浓度高，沸点高。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∆ T</a:t>
            </a:r>
            <a:r>
              <a:rPr lang="en-US" altLang="zh-CN" baseline="-25000" dirty="0"/>
              <a:t>b</a:t>
            </a:r>
            <a:r>
              <a:rPr lang="en-US" altLang="zh-CN" dirty="0"/>
              <a:t> </a:t>
            </a:r>
            <a:r>
              <a:rPr lang="el-GR" altLang="zh-CN" dirty="0"/>
              <a:t>α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∆ T</a:t>
            </a:r>
            <a:r>
              <a:rPr lang="en-US" altLang="zh-CN" baseline="-25000" dirty="0"/>
              <a:t>b</a:t>
            </a:r>
            <a:r>
              <a:rPr lang="en-US" altLang="zh-CN" dirty="0"/>
              <a:t> =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b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K</a:t>
            </a:r>
            <a:r>
              <a:rPr lang="en-US" altLang="zh-CN" baseline="-25000" dirty="0"/>
              <a:t>b </a:t>
            </a:r>
            <a:r>
              <a:rPr lang="en-US" altLang="zh-CN" dirty="0"/>
              <a:t> </a:t>
            </a:r>
            <a:r>
              <a:rPr lang="zh-CN" altLang="en-US" dirty="0"/>
              <a:t>沸点上升常数，溶剂的特征常数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溶液的沸点上升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0430" y="4211429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mol/kg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636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溶液的凝固点下降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836712"/>
            <a:ext cx="8229600" cy="60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lang="en-US" altLang="zh-CN" sz="3200" baseline="-25000" dirty="0"/>
              <a:t>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zh-CN" altLang="en-US" sz="3200" noProof="0" dirty="0"/>
              <a:t>凝固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点 </a:t>
            </a:r>
            <a:r>
              <a:rPr lang="en-US" altLang="zh-CN" sz="3200" dirty="0"/>
              <a:t>freezing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point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zh-CN" altLang="en-US" sz="3200" noProof="0" dirty="0"/>
              <a:t>凝固点下降值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∆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T</a:t>
            </a:r>
            <a:r>
              <a:rPr lang="en-US" altLang="zh-CN" sz="3200" baseline="-25000" dirty="0">
                <a:ea typeface="+mj-ea"/>
              </a:rPr>
              <a:t>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=T</a:t>
            </a:r>
            <a:r>
              <a:rPr lang="en-US" altLang="zh-CN" sz="3200" baseline="-25000" dirty="0">
                <a:ea typeface="+mj-ea"/>
              </a:rPr>
              <a:t>f</a:t>
            </a:r>
            <a:r>
              <a:rPr lang="zh-CN" altLang="en-US" sz="3200" baseline="-25000" noProof="0" dirty="0">
                <a:ea typeface="+mj-ea"/>
              </a:rPr>
              <a:t>剂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-T</a:t>
            </a:r>
            <a:r>
              <a:rPr lang="en-US" altLang="zh-CN" sz="3200" baseline="-25000" dirty="0">
                <a:ea typeface="+mj-ea"/>
              </a:rPr>
              <a:t>f</a:t>
            </a:r>
            <a:r>
              <a:rPr lang="zh-CN" altLang="en-US" sz="3200" baseline="-25000" dirty="0">
                <a:ea typeface="+mj-ea"/>
              </a:rPr>
              <a:t>液</a:t>
            </a:r>
            <a:endParaRPr kumimoji="0" lang="en-US" altLang="zh-CN" sz="32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342900" lvl="0" indent="-34290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/>
              <a:t> </a:t>
            </a:r>
            <a:r>
              <a:rPr lang="zh-CN" altLang="en-US" sz="3200" dirty="0"/>
              <a:t>根据拉乌尔定律</a:t>
            </a:r>
            <a:r>
              <a:rPr lang="en-US" altLang="zh-CN" sz="3200" dirty="0"/>
              <a:t>,</a:t>
            </a:r>
            <a:r>
              <a:rPr lang="zh-CN" altLang="en-US" sz="3200" dirty="0"/>
              <a:t>难挥发非电解质溶质的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溶液浓度高，凝固点越低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∆ T</a:t>
            </a:r>
            <a:r>
              <a:rPr lang="en-US" altLang="zh-CN" sz="3200" baseline="-25000" dirty="0"/>
              <a:t>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l-GR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α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∆ T</a:t>
            </a:r>
            <a:r>
              <a:rPr lang="en-US" altLang="zh-CN" sz="3200" baseline="-25000" dirty="0"/>
              <a:t>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=K</a:t>
            </a:r>
            <a:r>
              <a:rPr lang="en-US" altLang="zh-CN" sz="3200" baseline="-25000" dirty="0"/>
              <a:t>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lang="en-US" altLang="zh-CN" sz="3200" baseline="-25000" dirty="0"/>
              <a:t>f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凝固点下降常数，溶剂的特征常数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71934" y="4143380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mol/kg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904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例</a:t>
            </a:r>
            <a:r>
              <a:rPr lang="en-US" altLang="zh-CN" dirty="0"/>
              <a:t>13</a:t>
            </a:r>
            <a:r>
              <a:rPr lang="zh-CN" altLang="en-US" dirty="0"/>
              <a:t>已知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=200g, 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=10g , K</a:t>
            </a:r>
            <a:r>
              <a:rPr lang="en-US" altLang="zh-CN" baseline="-25000" dirty="0"/>
              <a:t>b</a:t>
            </a:r>
            <a:r>
              <a:rPr lang="en-US" altLang="zh-CN" dirty="0"/>
              <a:t>=0.52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aseline="30000" dirty="0"/>
              <a:t> </a:t>
            </a:r>
            <a:r>
              <a:rPr lang="en-US" altLang="zh-CN" dirty="0"/>
              <a:t> M(C</a:t>
            </a:r>
            <a:r>
              <a:rPr lang="en-US" altLang="zh-CN" baseline="-25000" dirty="0"/>
              <a:t>6</a:t>
            </a:r>
            <a:r>
              <a:rPr lang="en-US" altLang="zh-CN" dirty="0"/>
              <a:t>H</a:t>
            </a:r>
            <a:r>
              <a:rPr lang="en-US" altLang="zh-CN" baseline="-25000" dirty="0"/>
              <a:t>12</a:t>
            </a:r>
            <a:r>
              <a:rPr lang="en-US" altLang="zh-CN" dirty="0"/>
              <a:t>O</a:t>
            </a:r>
            <a:r>
              <a:rPr lang="en-US" altLang="zh-CN" baseline="-25000" dirty="0"/>
              <a:t>6</a:t>
            </a:r>
            <a:r>
              <a:rPr lang="en-US" altLang="zh-CN" dirty="0"/>
              <a:t>) =180g/mol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∆ T</a:t>
            </a:r>
            <a:r>
              <a:rPr lang="en-US" altLang="zh-CN" baseline="-25000" dirty="0"/>
              <a:t>b</a:t>
            </a:r>
            <a:r>
              <a:rPr lang="en-US" altLang="zh-CN" dirty="0"/>
              <a:t> =K</a:t>
            </a:r>
            <a:r>
              <a:rPr lang="en-US" altLang="zh-CN" baseline="-25000" dirty="0"/>
              <a:t>b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 = 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 = 0.144</a:t>
            </a:r>
            <a:r>
              <a:rPr lang="en-US" altLang="zh-CN" baseline="30000" dirty="0"/>
              <a:t>o</a:t>
            </a:r>
            <a:r>
              <a:rPr lang="en-US" altLang="zh-CN" dirty="0"/>
              <a:t> C</a:t>
            </a:r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溶液的沸点上升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232087" y="4071942"/>
            <a:ext cx="2268871" cy="1023286"/>
            <a:chOff x="1851185" y="2839451"/>
            <a:chExt cx="2788147" cy="1023286"/>
          </a:xfrm>
        </p:grpSpPr>
        <p:sp>
          <p:nvSpPr>
            <p:cNvPr id="9" name="TextBox 8"/>
            <p:cNvSpPr txBox="1"/>
            <p:nvPr/>
          </p:nvSpPr>
          <p:spPr>
            <a:xfrm>
              <a:off x="1917904" y="2839451"/>
              <a:ext cx="27214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ea typeface="宋体" pitchFamily="2" charset="-122"/>
                </a:rPr>
                <a:t>10/180mol</a:t>
              </a:r>
              <a:endParaRPr lang="en-MY" sz="2800" dirty="0">
                <a:ea typeface="宋体" pitchFamily="2" charset="-12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1851185" y="3356992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378024" y="3339517"/>
              <a:ext cx="9733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ea typeface="宋体" pitchFamily="2" charset="-122"/>
                </a:rPr>
                <a:t>0.2kg</a:t>
              </a:r>
              <a:endParaRPr lang="en-MY" sz="2800" dirty="0"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4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例</a:t>
            </a:r>
            <a:r>
              <a:rPr lang="en-US" altLang="zh-CN" dirty="0"/>
              <a:t>14</a:t>
            </a:r>
            <a:r>
              <a:rPr lang="zh-CN" altLang="en-US" dirty="0"/>
              <a:t>已知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en-US" altLang="zh-CN" dirty="0"/>
              <a:t>=10g ,m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=100g,K</a:t>
            </a:r>
            <a:r>
              <a:rPr lang="en-US" altLang="zh-CN" baseline="-25000" dirty="0"/>
              <a:t>b</a:t>
            </a:r>
            <a:r>
              <a:rPr lang="en-US" altLang="zh-CN" dirty="0"/>
              <a:t>=0.52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aseline="30000" dirty="0"/>
              <a:t>  </a:t>
            </a:r>
            <a:r>
              <a:rPr lang="en-US" altLang="zh-CN" dirty="0"/>
              <a:t> T</a:t>
            </a:r>
            <a:r>
              <a:rPr lang="en-US" altLang="zh-CN" baseline="-25000" dirty="0"/>
              <a:t>b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100.98</a:t>
            </a:r>
            <a:r>
              <a:rPr lang="en-US" altLang="zh-CN" baseline="30000" dirty="0"/>
              <a:t>o</a:t>
            </a:r>
            <a:r>
              <a:rPr lang="en-US" altLang="zh-CN" dirty="0"/>
              <a:t> C  , T</a:t>
            </a:r>
            <a:r>
              <a:rPr lang="en-US" altLang="zh-CN" baseline="-25000" dirty="0"/>
              <a:t>b</a:t>
            </a:r>
            <a:r>
              <a:rPr lang="zh-CN" altLang="en-US" baseline="-25000" dirty="0"/>
              <a:t>剂</a:t>
            </a:r>
            <a:r>
              <a:rPr lang="en-US" altLang="zh-CN" dirty="0"/>
              <a:t>= 100</a:t>
            </a:r>
            <a:r>
              <a:rPr lang="en-US" altLang="zh-CN" baseline="30000" dirty="0"/>
              <a:t>o</a:t>
            </a:r>
            <a:r>
              <a:rPr lang="en-US" altLang="zh-CN" dirty="0"/>
              <a:t> C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		∆ T</a:t>
            </a:r>
            <a:r>
              <a:rPr lang="en-US" altLang="zh-CN" baseline="-25000" dirty="0"/>
              <a:t>b</a:t>
            </a:r>
            <a:r>
              <a:rPr lang="en-US" altLang="zh-CN" dirty="0"/>
              <a:t> = K</a:t>
            </a:r>
            <a:r>
              <a:rPr lang="en-US" altLang="zh-CN" baseline="-25000" dirty="0"/>
              <a:t>b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100.98</a:t>
            </a:r>
            <a:r>
              <a:rPr lang="en-US" altLang="zh-CN" baseline="30000" dirty="0"/>
              <a:t>o</a:t>
            </a:r>
            <a:r>
              <a:rPr lang="en-US" altLang="zh-CN" dirty="0"/>
              <a:t> C - 100</a:t>
            </a:r>
            <a:r>
              <a:rPr lang="en-US" altLang="zh-CN" baseline="30000" dirty="0"/>
              <a:t>o</a:t>
            </a:r>
            <a:r>
              <a:rPr lang="en-US" altLang="zh-CN" dirty="0"/>
              <a:t> C  = 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		   M = 53.06g/mol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答：该物质的相对分子质量为</a:t>
            </a:r>
            <a:r>
              <a:rPr lang="en-US" altLang="zh-CN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53.06</a:t>
            </a:r>
            <a:r>
              <a:rPr lang="zh-CN" altLang="en-US" b="1" dirty="0">
                <a:solidFill>
                  <a:srgbClr val="C00000"/>
                </a:solidFill>
              </a:rPr>
              <a:t>（没单位）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溶液的沸点上升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pSp>
        <p:nvGrpSpPr>
          <p:cNvPr id="12" name="Group 28"/>
          <p:cNvGrpSpPr/>
          <p:nvPr/>
        </p:nvGrpSpPr>
        <p:grpSpPr>
          <a:xfrm>
            <a:off x="6929454" y="3071810"/>
            <a:ext cx="2011680" cy="1359169"/>
            <a:chOff x="1142976" y="3878935"/>
            <a:chExt cx="2011680" cy="1359169"/>
          </a:xfrm>
        </p:grpSpPr>
        <p:grpSp>
          <p:nvGrpSpPr>
            <p:cNvPr id="15" name="Group 10"/>
            <p:cNvGrpSpPr/>
            <p:nvPr/>
          </p:nvGrpSpPr>
          <p:grpSpPr>
            <a:xfrm>
              <a:off x="1374446" y="3878935"/>
              <a:ext cx="1494458" cy="1359169"/>
              <a:chOff x="1507798" y="1473869"/>
              <a:chExt cx="1494458" cy="135916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633518" y="1473869"/>
                <a:ext cx="1285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 10g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1507798" y="1905000"/>
                <a:ext cx="1371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633518" y="1881190"/>
                <a:ext cx="13573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  M</a:t>
                </a:r>
                <a:endParaRPr lang="en-US" sz="28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662098" y="2309818"/>
                <a:ext cx="13401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altLang="zh-CN" sz="2800" dirty="0"/>
                  <a:t>0.1k</a:t>
                </a:r>
                <a:r>
                  <a:rPr lang="en-US" sz="2800" dirty="0"/>
                  <a:t> g</a:t>
                </a:r>
              </a:p>
            </p:txBody>
          </p:sp>
        </p:grpSp>
        <p:cxnSp>
          <p:nvCxnSpPr>
            <p:cNvPr id="14" name="Straight Connector 13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163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/>
              <a:t>例</a:t>
            </a:r>
            <a:r>
              <a:rPr lang="en-US" altLang="zh-CN" dirty="0"/>
              <a:t>15</a:t>
            </a:r>
            <a:r>
              <a:rPr lang="zh-CN" altLang="en-US" dirty="0"/>
              <a:t>已知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=15g, m</a:t>
            </a:r>
            <a:r>
              <a:rPr lang="zh-CN" altLang="en-US" baseline="-25000" dirty="0"/>
              <a:t>剂</a:t>
            </a:r>
            <a:r>
              <a:rPr lang="en-US" altLang="zh-CN" dirty="0"/>
              <a:t>=150g ,</a:t>
            </a:r>
            <a:r>
              <a:rPr lang="en-US" altLang="zh-CN" baseline="30000" dirty="0"/>
              <a:t> </a:t>
            </a:r>
            <a:r>
              <a:rPr lang="en-US" altLang="zh-CN" dirty="0"/>
              <a:t>∆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f</a:t>
            </a:r>
            <a:r>
              <a:rPr lang="zh-CN" altLang="en-US" dirty="0"/>
              <a:t> </a:t>
            </a:r>
            <a:r>
              <a:rPr lang="en-US" altLang="zh-CN" dirty="0"/>
              <a:t>= 1.2</a:t>
            </a:r>
            <a:r>
              <a:rPr lang="en-US" altLang="zh-CN" baseline="30000" dirty="0"/>
              <a:t>o</a:t>
            </a:r>
            <a:r>
              <a:rPr lang="en-US" altLang="zh-CN" dirty="0"/>
              <a:t> C 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f</a:t>
            </a:r>
            <a:r>
              <a:rPr lang="en-US" altLang="zh-CN" dirty="0"/>
              <a:t>=1.86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 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∆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f</a:t>
            </a:r>
            <a:r>
              <a:rPr lang="en-US" altLang="zh-CN" dirty="0"/>
              <a:t> =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f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1.2</a:t>
            </a:r>
            <a:r>
              <a:rPr lang="en-US" altLang="zh-CN" baseline="30000" dirty="0"/>
              <a:t>o</a:t>
            </a:r>
            <a:r>
              <a:rPr lang="en-US" altLang="zh-CN" dirty="0"/>
              <a:t> C  = 1.86 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		   M = 155g/mol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答：该物质的相对分子质量为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155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r>
              <a:rPr lang="en-US" altLang="zh-CN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8</a:t>
            </a:r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溶液的凝固点下降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5857884" y="2928934"/>
            <a:ext cx="2011680" cy="1359169"/>
            <a:chOff x="1142976" y="3878935"/>
            <a:chExt cx="2011680" cy="1359169"/>
          </a:xfrm>
        </p:grpSpPr>
        <p:grpSp>
          <p:nvGrpSpPr>
            <p:cNvPr id="4" name="Group 10"/>
            <p:cNvGrpSpPr/>
            <p:nvPr/>
          </p:nvGrpSpPr>
          <p:grpSpPr>
            <a:xfrm>
              <a:off x="1374446" y="3878935"/>
              <a:ext cx="1494458" cy="1359169"/>
              <a:chOff x="1507798" y="1473869"/>
              <a:chExt cx="1494458" cy="135916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633518" y="1473869"/>
                <a:ext cx="1285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 15g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1507798" y="1905000"/>
                <a:ext cx="1371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633518" y="1881190"/>
                <a:ext cx="13573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  M</a:t>
                </a:r>
                <a:endParaRPr lang="en-US" sz="28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662098" y="2309818"/>
                <a:ext cx="13401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altLang="zh-CN" sz="2800" dirty="0"/>
                  <a:t>0.15k</a:t>
                </a:r>
                <a:r>
                  <a:rPr lang="en-US" sz="2800" dirty="0"/>
                  <a:t> g</a:t>
                </a:r>
              </a:p>
            </p:txBody>
          </p:sp>
        </p:grpSp>
        <p:cxnSp>
          <p:nvCxnSpPr>
            <p:cNvPr id="14" name="Straight Connector 13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387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溶液的凝固点较纯溶剂的低。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溶液沸点高，散热器中的水就不易沸腾。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汤的沸点比水高。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交流分享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15627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已知</a:t>
            </a:r>
            <a:r>
              <a:rPr lang="en-US" altLang="zh-CN" dirty="0"/>
              <a:t>M(C</a:t>
            </a:r>
            <a:r>
              <a:rPr lang="en-US" altLang="zh-CN" baseline="-25000" dirty="0"/>
              <a:t>6</a:t>
            </a:r>
            <a:r>
              <a:rPr lang="en-US" altLang="zh-CN" dirty="0"/>
              <a:t>H</a:t>
            </a:r>
            <a:r>
              <a:rPr lang="en-US" altLang="zh-CN" baseline="-25000" dirty="0"/>
              <a:t>12</a:t>
            </a:r>
            <a:r>
              <a:rPr lang="en-US" altLang="zh-CN" dirty="0"/>
              <a:t>O</a:t>
            </a:r>
            <a:r>
              <a:rPr lang="en-US" altLang="zh-CN" baseline="-25000" dirty="0"/>
              <a:t>6</a:t>
            </a:r>
            <a:r>
              <a:rPr lang="en-US" altLang="zh-CN" dirty="0"/>
              <a:t>) =180g/mol,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	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=100g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en-US" altLang="zh-CN" baseline="-25000" dirty="0"/>
              <a:t>b</a:t>
            </a:r>
            <a:r>
              <a:rPr lang="en-US" altLang="zh-CN" dirty="0"/>
              <a:t>=0.52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aseline="30000" dirty="0"/>
              <a:t>  </a:t>
            </a:r>
            <a:r>
              <a:rPr lang="en-US" altLang="zh-CN" dirty="0"/>
              <a:t> T</a:t>
            </a:r>
            <a:r>
              <a:rPr lang="en-US" altLang="zh-CN" baseline="-25000" dirty="0"/>
              <a:t>b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100.20</a:t>
            </a:r>
            <a:r>
              <a:rPr lang="en-US" altLang="zh-CN" baseline="30000" dirty="0"/>
              <a:t>o</a:t>
            </a:r>
            <a:r>
              <a:rPr lang="en-US" altLang="zh-CN" dirty="0"/>
              <a:t> C  , T</a:t>
            </a:r>
            <a:r>
              <a:rPr lang="en-US" altLang="zh-CN" baseline="-25000" dirty="0"/>
              <a:t>b</a:t>
            </a:r>
            <a:r>
              <a:rPr lang="zh-CN" altLang="en-US" baseline="-25000" dirty="0"/>
              <a:t>剂</a:t>
            </a:r>
            <a:r>
              <a:rPr lang="en-US" altLang="zh-CN" dirty="0"/>
              <a:t>= 100</a:t>
            </a:r>
            <a:r>
              <a:rPr lang="en-US" altLang="zh-CN" baseline="30000" dirty="0"/>
              <a:t>o</a:t>
            </a:r>
            <a:r>
              <a:rPr lang="en-US" altLang="zh-CN" dirty="0"/>
              <a:t> C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		∆ T</a:t>
            </a:r>
            <a:r>
              <a:rPr lang="en-US" altLang="zh-CN" baseline="-25000" dirty="0"/>
              <a:t>b</a:t>
            </a:r>
            <a:r>
              <a:rPr lang="en-US" altLang="zh-CN" dirty="0"/>
              <a:t> = K</a:t>
            </a:r>
            <a:r>
              <a:rPr lang="en-US" altLang="zh-CN" baseline="-25000" dirty="0"/>
              <a:t>b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100.20</a:t>
            </a:r>
            <a:r>
              <a:rPr lang="en-US" altLang="zh-CN" baseline="30000" dirty="0"/>
              <a:t>o</a:t>
            </a:r>
            <a:r>
              <a:rPr lang="en-US" altLang="zh-CN" dirty="0"/>
              <a:t> C - 100</a:t>
            </a:r>
            <a:r>
              <a:rPr lang="en-US" altLang="zh-CN" baseline="30000" dirty="0"/>
              <a:t>o</a:t>
            </a:r>
            <a:r>
              <a:rPr lang="en-US" altLang="zh-CN" dirty="0"/>
              <a:t> C  = 0.52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		 m</a:t>
            </a:r>
            <a:r>
              <a:rPr lang="zh-CN" altLang="en-US" baseline="-25000" dirty="0"/>
              <a:t>质 </a:t>
            </a:r>
            <a:r>
              <a:rPr lang="en-US" altLang="zh-CN" dirty="0"/>
              <a:t>= 6.92g</a:t>
            </a:r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18h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6918038" y="3771037"/>
            <a:ext cx="2262474" cy="1405319"/>
            <a:chOff x="1142976" y="3792344"/>
            <a:chExt cx="2262474" cy="1405319"/>
          </a:xfrm>
        </p:grpSpPr>
        <p:grpSp>
          <p:nvGrpSpPr>
            <p:cNvPr id="4" name="Group 10"/>
            <p:cNvGrpSpPr/>
            <p:nvPr/>
          </p:nvGrpSpPr>
          <p:grpSpPr>
            <a:xfrm>
              <a:off x="1368706" y="3792344"/>
              <a:ext cx="2036744" cy="1405319"/>
              <a:chOff x="1502058" y="1387278"/>
              <a:chExt cx="2036744" cy="140531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633518" y="1473869"/>
                <a:ext cx="1285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 </a:t>
                </a:r>
                <a:r>
                  <a:rPr lang="en-US" altLang="zh-CN" sz="2800" dirty="0"/>
                  <a:t>m</a:t>
                </a:r>
                <a:r>
                  <a:rPr lang="zh-CN" altLang="en-US" sz="2800" baseline="-25000" dirty="0"/>
                  <a:t>质</a:t>
                </a:r>
                <a:endParaRPr lang="en-US" sz="2800" dirty="0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1507798" y="1905000"/>
                <a:ext cx="1371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502058" y="1387278"/>
                <a:ext cx="178595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  180gmol</a:t>
                </a:r>
                <a:r>
                  <a:rPr lang="en-US" altLang="zh-CN" sz="2800" baseline="30000" dirty="0"/>
                  <a:t>-1</a:t>
                </a:r>
                <a:endParaRPr lang="en-US" sz="28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527122" y="2269377"/>
                <a:ext cx="20116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altLang="zh-CN" sz="2800" dirty="0"/>
                  <a:t>0.1k</a:t>
                </a:r>
                <a:r>
                  <a:rPr lang="en-US" sz="2800" dirty="0"/>
                  <a:t> g</a:t>
                </a:r>
              </a:p>
            </p:txBody>
          </p:sp>
        </p:grpSp>
        <p:cxnSp>
          <p:nvCxnSpPr>
            <p:cNvPr id="14" name="Straight Connector 13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402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458200" cy="6858000"/>
          </a:xfrm>
        </p:spPr>
        <p:txBody>
          <a:bodyPr>
            <a:noAutofit/>
          </a:bodyPr>
          <a:lstStyle/>
          <a:p>
            <a:pPr marL="342900" lvl="1" indent="-342900">
              <a:spcBef>
                <a:spcPts val="0"/>
              </a:spcBef>
              <a:buNone/>
            </a:pPr>
            <a:r>
              <a:rPr lang="zh-CN" altLang="en-US" sz="2400" dirty="0"/>
              <a:t>高一第三章</a:t>
            </a:r>
            <a:endParaRPr lang="en-US" altLang="zh-CN" sz="2400" dirty="0"/>
          </a:p>
          <a:p>
            <a:pPr marL="342900" lvl="1" indent="-342900"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某碳氢化合物完全燃烧会产生</a:t>
            </a:r>
            <a:r>
              <a:rPr lang="en-US" altLang="zh-CN" sz="2400" dirty="0"/>
              <a:t>0</a:t>
            </a:r>
            <a:r>
              <a:rPr lang="en-GB" sz="2400" dirty="0"/>
              <a:t>.</a:t>
            </a:r>
            <a:r>
              <a:rPr lang="en-US" altLang="zh-CN" sz="2400" dirty="0"/>
              <a:t>66</a:t>
            </a:r>
            <a:r>
              <a:rPr lang="en-GB" sz="2400" dirty="0"/>
              <a:t>g</a:t>
            </a:r>
            <a:r>
              <a:rPr lang="zh-CN" altLang="en-US" sz="2400" dirty="0"/>
              <a:t>的二氧化碳，</a:t>
            </a:r>
            <a:r>
              <a:rPr lang="en-US" altLang="zh-CN" sz="2400" dirty="0"/>
              <a:t>0</a:t>
            </a:r>
            <a:r>
              <a:rPr lang="en-GB" sz="2400" dirty="0"/>
              <a:t>.</a:t>
            </a:r>
            <a:r>
              <a:rPr lang="en-US" altLang="zh-CN" sz="2400" dirty="0"/>
              <a:t>36</a:t>
            </a:r>
            <a:r>
              <a:rPr lang="en-GB" sz="2400" dirty="0"/>
              <a:t>g</a:t>
            </a:r>
            <a:r>
              <a:rPr lang="zh-CN" altLang="en-US" sz="2400" dirty="0"/>
              <a:t>的水。求此碳氢化合物的实验式。</a:t>
            </a:r>
            <a:endParaRPr lang="en-US" altLang="zh-CN" sz="2400" dirty="0"/>
          </a:p>
          <a:p>
            <a:pPr marL="342900" lvl="1" indent="-342900">
              <a:spcBef>
                <a:spcPts val="0"/>
              </a:spcBef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(H)=1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(C)=12</a:t>
            </a:r>
            <a:r>
              <a:rPr lang="zh-CN" altLang="en-US" sz="2400" dirty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r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(O)=16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	0.66g</a:t>
            </a:r>
            <a:r>
              <a:rPr lang="zh-CN" altLang="en-US" sz="2400" dirty="0"/>
              <a:t>的二氧化碳中</a:t>
            </a:r>
            <a:r>
              <a:rPr lang="en-US" altLang="zh-CN" sz="2400" dirty="0"/>
              <a:t>C</a:t>
            </a:r>
            <a:r>
              <a:rPr lang="zh-CN" altLang="en-US" sz="2400" dirty="0"/>
              <a:t>的质量</a:t>
            </a:r>
            <a:endParaRPr lang="en-US" altLang="zh-CN" sz="2400" dirty="0"/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                          x0.66g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=12/44  x 0.66g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 0.18g</a:t>
            </a:r>
          </a:p>
          <a:p>
            <a:pPr>
              <a:spcBef>
                <a:spcPts val="0"/>
              </a:spcBef>
            </a:pPr>
            <a:r>
              <a:rPr lang="en-US" altLang="zh-CN" sz="2400" dirty="0"/>
              <a:t>	0.36g</a:t>
            </a:r>
            <a:r>
              <a:rPr lang="zh-CN" altLang="en-US" sz="2400" dirty="0"/>
              <a:t>的水中</a:t>
            </a:r>
            <a:r>
              <a:rPr lang="en-US" altLang="zh-CN" sz="2400" dirty="0"/>
              <a:t>H</a:t>
            </a:r>
            <a:r>
              <a:rPr lang="zh-CN" altLang="en-US" sz="2400" dirty="0"/>
              <a:t>的质量</a:t>
            </a:r>
            <a:endParaRPr lang="en-US" altLang="zh-CN" sz="2400" dirty="0"/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	            x 0.36g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 2/18    x 0.36g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		= 0.04g</a:t>
            </a:r>
          </a:p>
          <a:p>
            <a:pPr>
              <a:spcBef>
                <a:spcPts val="0"/>
              </a:spcBef>
            </a:pPr>
            <a:r>
              <a:rPr lang="zh-CN" altLang="en-US" sz="2400" dirty="0"/>
              <a:t>碳氢化合物中</a:t>
            </a:r>
            <a:r>
              <a:rPr lang="en-US" altLang="zh-CN" sz="2400" dirty="0"/>
              <a:t>C</a:t>
            </a:r>
            <a:r>
              <a:rPr lang="zh-CN" altLang="en-US" sz="2400" dirty="0"/>
              <a:t>与</a:t>
            </a:r>
            <a:r>
              <a:rPr lang="en-US" altLang="zh-CN" sz="2400" dirty="0"/>
              <a:t>H</a:t>
            </a:r>
            <a:r>
              <a:rPr lang="zh-CN" altLang="en-US" sz="2400" dirty="0"/>
              <a:t>的原子个数比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2400" dirty="0"/>
              <a:t>=               </a:t>
            </a:r>
            <a:r>
              <a:rPr lang="zh-CN" altLang="en-US" sz="2400" dirty="0"/>
              <a:t>  </a:t>
            </a:r>
            <a:r>
              <a:rPr lang="en-US" altLang="zh-CN" sz="2400" dirty="0"/>
              <a:t>: 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2400" dirty="0"/>
              <a:t>= 0.015  : 0.04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2400" dirty="0"/>
              <a:t>=       1    :  2.6667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2400" dirty="0"/>
              <a:t>=       3    :  8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zh-CN" altLang="en-US" sz="2400" dirty="0"/>
              <a:t>此碳氢化合物的实验式为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H</a:t>
            </a:r>
            <a:r>
              <a:rPr lang="en-US" altLang="zh-CN" sz="2400" baseline="-25000" dirty="0"/>
              <a:t>8</a:t>
            </a:r>
            <a:endParaRPr lang="en-US" altLang="zh-CN" sz="24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0" y="2055812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05000" y="35052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27686" y="1733490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A</a:t>
            </a:r>
            <a:r>
              <a:rPr lang="en-US" sz="2000" baseline="-25000" dirty="0" err="1"/>
              <a:t>r</a:t>
            </a:r>
            <a:r>
              <a:rPr lang="en-US" sz="2000" dirty="0"/>
              <a:t> 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7610" y="1962090"/>
            <a:ext cx="1126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</a:t>
            </a:r>
            <a:r>
              <a:rPr lang="en-US" sz="2000" baseline="-25000" dirty="0" err="1"/>
              <a:t>r</a:t>
            </a:r>
            <a:r>
              <a:rPr lang="en-US" sz="2000" dirty="0"/>
              <a:t> (CO</a:t>
            </a:r>
            <a:r>
              <a:rPr lang="en-US" sz="2000" baseline="-25000" dirty="0"/>
              <a:t>2</a:t>
            </a:r>
            <a:r>
              <a:rPr lang="en-US" sz="2000" dirty="0"/>
              <a:t>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485769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2514600" y="462909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0.04</a:t>
            </a:r>
            <a:r>
              <a:rPr lang="en-US" altLang="zh-CN" sz="2000" dirty="0"/>
              <a:t>g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371600" y="487680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12</a:t>
            </a:r>
            <a:endParaRPr lang="en-US" sz="2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19200" y="4953000"/>
            <a:ext cx="685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3200400"/>
            <a:ext cx="100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2xA</a:t>
            </a:r>
            <a:r>
              <a:rPr lang="en-US" sz="2000" baseline="-25000" dirty="0"/>
              <a:t>r</a:t>
            </a:r>
            <a:r>
              <a:rPr lang="en-US" sz="2000" dirty="0"/>
              <a:t> (</a:t>
            </a:r>
            <a:r>
              <a:rPr lang="en-US" altLang="zh-CN" sz="2000" dirty="0"/>
              <a:t>H</a:t>
            </a:r>
            <a:r>
              <a:rPr lang="en-US" sz="2000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29000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</a:t>
            </a:r>
            <a:r>
              <a:rPr lang="en-US" sz="2000" baseline="-25000" dirty="0" err="1"/>
              <a:t>r</a:t>
            </a:r>
            <a:r>
              <a:rPr lang="en-US" sz="2000" dirty="0"/>
              <a:t> (</a:t>
            </a:r>
            <a:r>
              <a:rPr lang="en-US" altLang="zh-CN" sz="2000" dirty="0"/>
              <a:t>H</a:t>
            </a:r>
            <a:r>
              <a:rPr lang="en-US" sz="2000" baseline="-25000" dirty="0"/>
              <a:t>2</a:t>
            </a:r>
            <a:r>
              <a:rPr lang="en-US" altLang="zh-CN" sz="2000" dirty="0"/>
              <a:t>O</a:t>
            </a:r>
            <a:r>
              <a:rPr lang="en-US" sz="2000" dirty="0"/>
              <a:t>)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438400" y="4951412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22659" y="464820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0.18</a:t>
            </a:r>
            <a:r>
              <a:rPr lang="en-US" altLang="zh-CN" sz="2000" dirty="0"/>
              <a:t>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071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9" grpId="0"/>
      <p:bldP spid="10" grpId="0"/>
      <p:bldP spid="12" grpId="0"/>
      <p:bldP spid="13" grpId="0"/>
      <p:bldP spid="14" grpId="0"/>
      <p:bldP spid="16" grpId="0"/>
      <p:bldP spid="17" grpId="0"/>
      <p:bldP spid="1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-52390"/>
            <a:ext cx="8229600" cy="691041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0"/>
              </a:spcBef>
              <a:buNone/>
            </a:pPr>
            <a:r>
              <a:rPr lang="zh-CN" altLang="en-US" dirty="0"/>
              <a:t>高一第三章</a:t>
            </a:r>
            <a:endParaRPr lang="en-US" altLang="zh-CN" dirty="0"/>
          </a:p>
          <a:p>
            <a:pPr marL="342900" lvl="1" indent="-342900">
              <a:spcBef>
                <a:spcPts val="0"/>
              </a:spcBef>
              <a:buNone/>
            </a:pPr>
            <a:r>
              <a:rPr lang="zh-CN" altLang="en-US" dirty="0"/>
              <a:t>某碳氢化合物式量为</a:t>
            </a:r>
            <a:r>
              <a:rPr lang="en-US" altLang="zh-CN" dirty="0"/>
              <a:t>30.2</a:t>
            </a:r>
            <a:r>
              <a:rPr lang="zh-CN" altLang="en-US" dirty="0"/>
              <a:t>。其中碳元素与氢元素的质量百分比分别为</a:t>
            </a:r>
            <a:r>
              <a:rPr lang="en-US" altLang="zh-CN" dirty="0"/>
              <a:t>80%</a:t>
            </a:r>
            <a:r>
              <a:rPr lang="zh-CN" altLang="en-US" dirty="0"/>
              <a:t>和</a:t>
            </a:r>
            <a:r>
              <a:rPr lang="en-US" altLang="zh-CN" dirty="0"/>
              <a:t>20%</a:t>
            </a:r>
            <a:r>
              <a:rPr lang="zh-CN" altLang="en-US" dirty="0"/>
              <a:t>。求此碳氢化合物的化学式。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r</a:t>
            </a:r>
            <a:r>
              <a:rPr lang="en-US" altLang="zh-CN" baseline="-25000" dirty="0"/>
              <a:t> </a:t>
            </a:r>
            <a:r>
              <a:rPr lang="en-US" altLang="zh-CN" dirty="0"/>
              <a:t>(H)=1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r</a:t>
            </a:r>
            <a:r>
              <a:rPr lang="en-US" altLang="zh-CN" baseline="-25000" dirty="0"/>
              <a:t> </a:t>
            </a:r>
            <a:r>
              <a:rPr lang="en-US" altLang="zh-CN" dirty="0"/>
              <a:t>(C)=12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000" dirty="0"/>
              <a:t>	C</a:t>
            </a:r>
            <a:r>
              <a:rPr lang="zh-CN" altLang="en-US" sz="3000" dirty="0"/>
              <a:t>与</a:t>
            </a:r>
            <a:r>
              <a:rPr lang="en-US" altLang="zh-CN" sz="3000" dirty="0"/>
              <a:t>H</a:t>
            </a:r>
            <a:r>
              <a:rPr lang="zh-CN" altLang="en-US" sz="3000" dirty="0"/>
              <a:t>的原子个数比</a:t>
            </a:r>
            <a:endParaRPr lang="en-US" altLang="zh-CN" sz="3000" dirty="0"/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                   </a:t>
            </a:r>
            <a:r>
              <a:rPr lang="zh-CN" altLang="en-US" sz="3000" dirty="0"/>
              <a:t>：</a:t>
            </a:r>
            <a:endParaRPr lang="en-US" altLang="zh-CN" sz="3000" dirty="0"/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6.6667 : 20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r>
              <a:rPr lang="en-US" altLang="zh-CN" sz="3000" dirty="0"/>
              <a:t>= 1:3</a:t>
            </a:r>
          </a:p>
          <a:p>
            <a:pPr>
              <a:spcBef>
                <a:spcPts val="0"/>
              </a:spcBef>
            </a:pPr>
            <a:r>
              <a:rPr lang="zh-CN" altLang="en-US" sz="3000" dirty="0"/>
              <a:t>实验式为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endParaRPr lang="en-US" altLang="zh-CN" sz="3000" dirty="0"/>
          </a:p>
          <a:p>
            <a:pPr>
              <a:spcBef>
                <a:spcPts val="0"/>
              </a:spcBef>
            </a:pPr>
            <a:r>
              <a:rPr lang="zh-CN" altLang="en-US" sz="3000" dirty="0"/>
              <a:t>分子式可能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 </a:t>
            </a:r>
            <a:r>
              <a:rPr lang="en-US" altLang="zh-CN" sz="3000" dirty="0"/>
              <a:t> </a:t>
            </a:r>
            <a:r>
              <a:rPr lang="zh-CN" altLang="en-US" sz="3000" dirty="0"/>
              <a:t>、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zh-CN" altLang="en-US" sz="3000" baseline="-25000" dirty="0"/>
              <a:t> </a:t>
            </a:r>
            <a:r>
              <a:rPr lang="zh-CN" altLang="en-US" sz="3000" dirty="0"/>
              <a:t> 、</a:t>
            </a:r>
            <a:r>
              <a:rPr lang="en-US" altLang="zh-CN" sz="3000" dirty="0"/>
              <a:t> C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9</a:t>
            </a:r>
            <a:r>
              <a:rPr lang="en-US" altLang="zh-CN" sz="3000" dirty="0"/>
              <a:t> …… 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3n</a:t>
            </a:r>
            <a:endParaRPr lang="en-US" altLang="zh-CN" sz="3000" dirty="0"/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</a:t>
            </a:r>
            <a:r>
              <a:rPr lang="en-US" sz="3000" dirty="0" err="1"/>
              <a:t>M</a:t>
            </a:r>
            <a:r>
              <a:rPr lang="en-US" sz="3000" baseline="-25000" dirty="0" err="1"/>
              <a:t>r</a:t>
            </a:r>
            <a:r>
              <a:rPr lang="en-US" sz="3000" dirty="0"/>
              <a:t> (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3n</a:t>
            </a:r>
            <a:r>
              <a:rPr lang="en-US" sz="3000" dirty="0"/>
              <a:t>) = 30.2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12</a:t>
            </a:r>
            <a:r>
              <a:rPr lang="en-US" altLang="zh-CN" sz="3000" dirty="0"/>
              <a:t>n + 3n   = 30.2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	15n = 30.2</a:t>
            </a:r>
          </a:p>
          <a:p>
            <a:pPr>
              <a:spcBef>
                <a:spcPts val="0"/>
              </a:spcBef>
              <a:buNone/>
            </a:pPr>
            <a:r>
              <a:rPr lang="en-US" sz="3000" dirty="0"/>
              <a:t>				    n = 2</a:t>
            </a:r>
          </a:p>
          <a:p>
            <a:pPr>
              <a:spcBef>
                <a:spcPts val="0"/>
              </a:spcBef>
            </a:pPr>
            <a:r>
              <a:rPr lang="zh-CN" altLang="en-US" sz="2800" dirty="0"/>
              <a:t>此碳氢化合物的化学式为 </a:t>
            </a:r>
            <a:r>
              <a:rPr lang="en-US" altLang="zh-CN" sz="3000" dirty="0"/>
              <a:t>C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H</a:t>
            </a:r>
            <a:r>
              <a:rPr lang="en-US" altLang="zh-CN" sz="3000" baseline="-25000" dirty="0"/>
              <a:t>6</a:t>
            </a:r>
            <a:r>
              <a:rPr lang="zh-CN" altLang="en-US" sz="3000" baseline="-25000" dirty="0"/>
              <a:t> </a:t>
            </a:r>
            <a:endParaRPr lang="en-US" sz="3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95400" y="2400593"/>
            <a:ext cx="1143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24200" y="2400593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14619" y="2019593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80%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447800" y="232439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200400" y="2019593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20%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393642" y="23243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39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9" grpId="0"/>
      <p:bldP spid="10" grpId="0"/>
      <p:bldP spid="11" grpId="0"/>
      <p:bldP spid="1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已知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=0.5g 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=50g</a:t>
            </a:r>
            <a:r>
              <a:rPr lang="zh-CN" altLang="en-US" dirty="0"/>
              <a:t>，</a:t>
            </a:r>
            <a:r>
              <a:rPr lang="en-US" altLang="zh-CN" dirty="0"/>
              <a:t>∆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f</a:t>
            </a:r>
            <a:r>
              <a:rPr lang="zh-CN" altLang="en-US" dirty="0"/>
              <a:t> </a:t>
            </a:r>
            <a:r>
              <a:rPr lang="en-US" altLang="zh-CN" dirty="0"/>
              <a:t>= 0.848</a:t>
            </a:r>
            <a:r>
              <a:rPr lang="en-US" altLang="zh-CN" baseline="30000" dirty="0"/>
              <a:t>o</a:t>
            </a:r>
            <a:r>
              <a:rPr lang="en-US" altLang="zh-CN" dirty="0"/>
              <a:t> C </a:t>
            </a:r>
            <a:r>
              <a:rPr lang="zh-CN" altLang="en-US" dirty="0"/>
              <a:t>，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f</a:t>
            </a:r>
            <a:r>
              <a:rPr lang="en-US" altLang="zh-CN" dirty="0"/>
              <a:t>=5.12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 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∆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f</a:t>
            </a:r>
            <a:r>
              <a:rPr lang="en-US" altLang="zh-CN" dirty="0"/>
              <a:t> = </a:t>
            </a:r>
            <a:r>
              <a:rPr lang="en-US" altLang="zh-CN"/>
              <a:t>K</a:t>
            </a:r>
            <a:r>
              <a:rPr lang="en-US" altLang="zh-CN" baseline="-25000" dirty="0"/>
              <a:t>f</a:t>
            </a:r>
            <a:r>
              <a:rPr lang="en-US" altLang="zh-CN"/>
              <a:t> 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0.848</a:t>
            </a:r>
            <a:r>
              <a:rPr lang="en-US" altLang="zh-CN" baseline="30000" dirty="0"/>
              <a:t>o</a:t>
            </a:r>
            <a:r>
              <a:rPr lang="en-US" altLang="zh-CN" dirty="0"/>
              <a:t> C  = 5.12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M</a:t>
            </a:r>
            <a:r>
              <a:rPr lang="zh-CN" altLang="en-US" baseline="-25000" dirty="0"/>
              <a:t> </a:t>
            </a:r>
            <a:r>
              <a:rPr lang="en-US" altLang="zh-CN" dirty="0"/>
              <a:t>= 60.38g/mol</a:t>
            </a:r>
          </a:p>
          <a:p>
            <a:pPr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  <a:buNone/>
            </a:pPr>
            <a:endParaRPr lang="en-US" altLang="zh-CN" baseline="-25000" dirty="0"/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ea typeface="+mj-ea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5500694" y="3000372"/>
            <a:ext cx="2011680" cy="1359169"/>
            <a:chOff x="1142976" y="3878935"/>
            <a:chExt cx="2011680" cy="1359169"/>
          </a:xfrm>
        </p:grpSpPr>
        <p:grpSp>
          <p:nvGrpSpPr>
            <p:cNvPr id="4" name="Group 10"/>
            <p:cNvGrpSpPr/>
            <p:nvPr/>
          </p:nvGrpSpPr>
          <p:grpSpPr>
            <a:xfrm>
              <a:off x="1368706" y="3878935"/>
              <a:ext cx="1500198" cy="1359169"/>
              <a:chOff x="1502058" y="1473869"/>
              <a:chExt cx="1500198" cy="135916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633518" y="1473869"/>
                <a:ext cx="1285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</a:t>
                </a:r>
                <a:r>
                  <a:rPr lang="en-US" altLang="zh-CN" sz="2800" dirty="0"/>
                  <a:t>0.5g</a:t>
                </a:r>
                <a:endParaRPr lang="en-US" sz="2800" dirty="0"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1507798" y="1905000"/>
                <a:ext cx="1371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>
              <a:xfrm>
                <a:off x="1502058" y="1831059"/>
                <a:ext cx="13573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   M</a:t>
                </a:r>
                <a:endParaRPr lang="en-US" sz="28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662098" y="2309818"/>
                <a:ext cx="13401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altLang="zh-CN" sz="2800" dirty="0"/>
                  <a:t>0.05k</a:t>
                </a:r>
                <a:r>
                  <a:rPr lang="en-US" sz="2800" dirty="0"/>
                  <a:t> g</a:t>
                </a:r>
              </a:p>
            </p:txBody>
          </p:sp>
        </p:grpSp>
        <p:cxnSp>
          <p:nvCxnSpPr>
            <p:cNvPr id="14" name="Straight Connector 13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思考题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18h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59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458200" cy="6858000"/>
          </a:xfrm>
        </p:spPr>
        <p:txBody>
          <a:bodyPr>
            <a:noAutofit/>
          </a:bodyPr>
          <a:lstStyle/>
          <a:p>
            <a:pPr>
              <a:spcBef>
                <a:spcPts val="100"/>
              </a:spcBef>
              <a:buNone/>
            </a:pPr>
            <a:r>
              <a:rPr lang="en-US" altLang="zh-CN" sz="2800" dirty="0"/>
              <a:t>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C</a:t>
            </a:r>
            <a:r>
              <a:rPr lang="en-US" altLang="zh-CN" baseline="-25000" dirty="0"/>
              <a:t>	</a:t>
            </a:r>
            <a:r>
              <a:rPr lang="en-US" altLang="zh-CN" dirty="0"/>
              <a:t>= 12/44  x 1.47g</a:t>
            </a:r>
          </a:p>
          <a:p>
            <a:pPr>
              <a:spcBef>
                <a:spcPts val="100"/>
              </a:spcBef>
              <a:buNone/>
            </a:pPr>
            <a:r>
              <a:rPr lang="en-US" altLang="zh-CN" dirty="0"/>
              <a:t>		= 0.401g</a:t>
            </a:r>
          </a:p>
          <a:p>
            <a:pPr>
              <a:spcBef>
                <a:spcPts val="10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H</a:t>
            </a:r>
            <a:r>
              <a:rPr lang="en-US" altLang="zh-CN" dirty="0"/>
              <a:t> = 2/18    x 0.6g</a:t>
            </a:r>
          </a:p>
          <a:p>
            <a:pPr>
              <a:spcBef>
                <a:spcPts val="100"/>
              </a:spcBef>
              <a:buNone/>
            </a:pPr>
            <a:r>
              <a:rPr lang="en-US" altLang="zh-CN" dirty="0"/>
              <a:t>		= 0.067g</a:t>
            </a:r>
          </a:p>
          <a:p>
            <a:pPr>
              <a:spcBef>
                <a:spcPts val="100"/>
              </a:spcBef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O</a:t>
            </a:r>
            <a:r>
              <a:rPr lang="en-US" altLang="zh-CN" dirty="0"/>
              <a:t> = 1g – 0.401g – 0.067g</a:t>
            </a:r>
          </a:p>
          <a:p>
            <a:pPr>
              <a:spcBef>
                <a:spcPts val="100"/>
              </a:spcBef>
              <a:buNone/>
            </a:pPr>
            <a:r>
              <a:rPr lang="en-US" altLang="zh-CN" dirty="0"/>
              <a:t>		= 0.532g</a:t>
            </a:r>
          </a:p>
          <a:p>
            <a:pPr>
              <a:spcBef>
                <a:spcPts val="100"/>
              </a:spcBef>
              <a:buNone/>
            </a:pPr>
            <a:r>
              <a:rPr lang="zh-CN" altLang="en-US" dirty="0"/>
              <a:t>化合物</a:t>
            </a:r>
            <a:r>
              <a:rPr lang="en-US" altLang="zh-CN" dirty="0"/>
              <a:t>A</a:t>
            </a:r>
            <a:r>
              <a:rPr lang="zh-CN" altLang="en-US" dirty="0"/>
              <a:t>中，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H</a:t>
            </a:r>
            <a:r>
              <a:rPr lang="zh-CN" altLang="en-US" dirty="0"/>
              <a:t>、</a:t>
            </a:r>
            <a:r>
              <a:rPr lang="en-US" altLang="zh-CN" dirty="0"/>
              <a:t>O</a:t>
            </a:r>
            <a:r>
              <a:rPr lang="zh-CN" altLang="en-US" dirty="0"/>
              <a:t>的原子个数比</a:t>
            </a:r>
            <a:endParaRPr lang="en-US" altLang="zh-CN" dirty="0"/>
          </a:p>
          <a:p>
            <a:pPr>
              <a:spcBef>
                <a:spcPts val="100"/>
              </a:spcBef>
              <a:buClr>
                <a:schemeClr val="bg1"/>
              </a:buClr>
            </a:pPr>
            <a:r>
              <a:rPr lang="en-US" altLang="zh-CN" dirty="0"/>
              <a:t>=             </a:t>
            </a:r>
            <a:r>
              <a:rPr lang="zh-CN" altLang="en-US" dirty="0"/>
              <a:t>  </a:t>
            </a:r>
            <a:r>
              <a:rPr lang="en-US" altLang="zh-CN" dirty="0"/>
              <a:t>:	      : </a:t>
            </a:r>
          </a:p>
          <a:p>
            <a:pPr>
              <a:spcBef>
                <a:spcPts val="100"/>
              </a:spcBef>
              <a:buClr>
                <a:schemeClr val="bg1"/>
              </a:buClr>
            </a:pPr>
            <a:r>
              <a:rPr lang="en-US" altLang="zh-CN" dirty="0"/>
              <a:t>= 0.033  : 0.067 : 0.033</a:t>
            </a:r>
          </a:p>
          <a:p>
            <a:pPr>
              <a:spcBef>
                <a:spcPts val="100"/>
              </a:spcBef>
              <a:buClr>
                <a:schemeClr val="bg1"/>
              </a:buClr>
            </a:pPr>
            <a:r>
              <a:rPr lang="en-US" altLang="zh-CN" dirty="0"/>
              <a:t>=       1    : 2  :  1</a:t>
            </a:r>
          </a:p>
          <a:p>
            <a:pPr>
              <a:spcBef>
                <a:spcPts val="100"/>
              </a:spcBef>
              <a:buNone/>
            </a:pPr>
            <a:r>
              <a:rPr lang="en-US" dirty="0"/>
              <a:t>		</a:t>
            </a:r>
            <a:r>
              <a:rPr lang="en-US" dirty="0" err="1"/>
              <a:t>M</a:t>
            </a:r>
            <a:r>
              <a:rPr lang="en-US" baseline="-25000" dirty="0" err="1"/>
              <a:t>r</a:t>
            </a:r>
            <a:r>
              <a:rPr lang="en-US" dirty="0"/>
              <a:t> (</a:t>
            </a:r>
            <a:r>
              <a:rPr lang="en-US" altLang="zh-CN" dirty="0"/>
              <a:t>C</a:t>
            </a:r>
            <a:r>
              <a:rPr lang="en-US" altLang="zh-CN" baseline="-25000" dirty="0"/>
              <a:t>n</a:t>
            </a:r>
            <a:r>
              <a:rPr lang="en-US" altLang="zh-CN" dirty="0"/>
              <a:t>H</a:t>
            </a:r>
            <a:r>
              <a:rPr lang="en-US" altLang="zh-CN" baseline="-25000" dirty="0"/>
              <a:t>2n</a:t>
            </a:r>
            <a:r>
              <a:rPr lang="en-US" altLang="zh-CN" dirty="0"/>
              <a:t>O</a:t>
            </a:r>
            <a:r>
              <a:rPr lang="en-US" altLang="zh-CN" baseline="-25000" dirty="0"/>
              <a:t>n</a:t>
            </a:r>
            <a:r>
              <a:rPr lang="en-US" dirty="0"/>
              <a:t>) = 60.38</a:t>
            </a:r>
          </a:p>
          <a:p>
            <a:pPr>
              <a:spcBef>
                <a:spcPts val="100"/>
              </a:spcBef>
              <a:buNone/>
            </a:pPr>
            <a:r>
              <a:rPr lang="en-US" dirty="0"/>
              <a:t>	   12</a:t>
            </a:r>
            <a:r>
              <a:rPr lang="en-US" altLang="zh-CN" dirty="0"/>
              <a:t>n + 2n +16n = 60.38</a:t>
            </a:r>
            <a:endParaRPr lang="en-US" dirty="0"/>
          </a:p>
          <a:p>
            <a:pPr>
              <a:spcBef>
                <a:spcPts val="100"/>
              </a:spcBef>
              <a:buNone/>
            </a:pPr>
            <a:r>
              <a:rPr lang="en-US" dirty="0"/>
              <a:t>   			          n = 2</a:t>
            </a:r>
          </a:p>
          <a:p>
            <a:pPr>
              <a:spcBef>
                <a:spcPts val="0"/>
              </a:spcBef>
              <a:buClr>
                <a:schemeClr val="bg1"/>
              </a:buClr>
            </a:pPr>
            <a:endParaRPr lang="en-US" altLang="zh-CN" dirty="0"/>
          </a:p>
        </p:txBody>
      </p:sp>
      <p:sp>
        <p:nvSpPr>
          <p:cNvPr id="12" name="TextBox 11"/>
          <p:cNvSpPr txBox="1"/>
          <p:nvPr/>
        </p:nvSpPr>
        <p:spPr>
          <a:xfrm>
            <a:off x="3139409" y="36428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795566" y="3357562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0.067</a:t>
            </a:r>
            <a:r>
              <a:rPr lang="en-US" altLang="zh-CN" sz="2400" dirty="0"/>
              <a:t>g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652566" y="367671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</a:t>
            </a:r>
            <a:endParaRPr lang="en-US" sz="24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00166" y="3752910"/>
            <a:ext cx="685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863764" y="3751322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28728" y="3334408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0.401</a:t>
            </a:r>
            <a:r>
              <a:rPr lang="en-US" altLang="zh-CN" sz="2400" dirty="0"/>
              <a:t>g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4329973" y="3357562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0.532</a:t>
            </a:r>
            <a:r>
              <a:rPr lang="en-US" altLang="zh-CN" sz="2400" dirty="0"/>
              <a:t>g</a:t>
            </a:r>
            <a:endParaRPr lang="en-US" sz="24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4371980" y="3714752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6070" y="364282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16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5429256" y="4429132"/>
            <a:ext cx="3357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实验式： </a:t>
            </a:r>
            <a:r>
              <a:rPr lang="en-US" altLang="zh-CN" sz="3200" dirty="0"/>
              <a:t>C</a:t>
            </a:r>
            <a:r>
              <a:rPr lang="en-US" altLang="zh-CN" sz="3200" baseline="-25000" dirty="0"/>
              <a:t> </a:t>
            </a:r>
            <a:r>
              <a:rPr lang="en-US" altLang="zh-CN" sz="3200" dirty="0"/>
              <a:t> 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 O</a:t>
            </a:r>
            <a:endParaRPr lang="en-US" sz="3200" dirty="0"/>
          </a:p>
        </p:txBody>
      </p:sp>
      <p:sp>
        <p:nvSpPr>
          <p:cNvPr id="26" name="TextBox 25"/>
          <p:cNvSpPr txBox="1"/>
          <p:nvPr/>
        </p:nvSpPr>
        <p:spPr>
          <a:xfrm>
            <a:off x="5500694" y="5630307"/>
            <a:ext cx="3357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化学式： </a:t>
            </a:r>
            <a:r>
              <a:rPr lang="en-US" altLang="zh-CN" sz="3200" dirty="0"/>
              <a:t>C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H</a:t>
            </a:r>
            <a:r>
              <a:rPr lang="en-US" altLang="zh-CN" sz="3200" baseline="-25000" dirty="0"/>
              <a:t>4</a:t>
            </a:r>
            <a:r>
              <a:rPr lang="en-US" altLang="zh-CN" sz="3200" dirty="0"/>
              <a:t>O</a:t>
            </a:r>
            <a:r>
              <a:rPr lang="en-US" altLang="zh-CN" sz="3200" baseline="-25000" dirty="0"/>
              <a:t>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2093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uiExpand="1" build="p"/>
      <p:bldP spid="12" grpId="0"/>
      <p:bldP spid="13" grpId="0"/>
      <p:bldP spid="14" grpId="0"/>
      <p:bldP spid="19" grpId="0"/>
      <p:bldP spid="22" grpId="0"/>
      <p:bldP spid="24" grpId="0"/>
      <p:bldP spid="25" grpId="0"/>
      <p:bldP spid="2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</a:t>
            </a:r>
            <a:r>
              <a:rPr 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补充资料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836712"/>
            <a:ext cx="8229600" cy="3735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3200" dirty="0"/>
              <a:t>若溶质为两种难挥发非电解质溶质</a:t>
            </a:r>
            <a:endParaRPr lang="en-US" altLang="zh-CN" sz="3200" dirty="0"/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lang="en-US" altLang="zh-CN" sz="3200" dirty="0"/>
              <a:t> ∆ T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=K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C</a:t>
            </a:r>
            <a:r>
              <a:rPr lang="en-US" altLang="zh-CN" sz="3200" baseline="-25000" dirty="0"/>
              <a:t>m</a:t>
            </a:r>
            <a:r>
              <a:rPr lang="en-US" altLang="zh-CN" sz="3200" dirty="0"/>
              <a:t> 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endParaRPr lang="en-US" altLang="zh-CN" sz="3200" dirty="0"/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dirty="0"/>
              <a:t>	∆ T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=K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500298" y="3139859"/>
            <a:ext cx="2208563" cy="1217835"/>
            <a:chOff x="1851185" y="2696575"/>
            <a:chExt cx="2617537" cy="1217835"/>
          </a:xfrm>
        </p:grpSpPr>
        <p:sp>
          <p:nvSpPr>
            <p:cNvPr id="13" name="TextBox 12"/>
            <p:cNvSpPr txBox="1"/>
            <p:nvPr/>
          </p:nvSpPr>
          <p:spPr>
            <a:xfrm>
              <a:off x="1935852" y="2696575"/>
              <a:ext cx="25328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ea typeface="宋体" pitchFamily="2" charset="-122"/>
                </a:rPr>
                <a:t>n</a:t>
              </a:r>
              <a:r>
                <a:rPr lang="zh-CN" altLang="en-US" sz="3600" baseline="-25000" dirty="0">
                  <a:ea typeface="宋体" pitchFamily="2" charset="-122"/>
                </a:rPr>
                <a:t>质</a:t>
              </a:r>
              <a:r>
                <a:rPr lang="en-US" altLang="zh-CN" sz="3600" baseline="-25000" dirty="0">
                  <a:ea typeface="宋体" pitchFamily="2" charset="-122"/>
                </a:rPr>
                <a:t>1</a:t>
              </a:r>
              <a:r>
                <a:rPr lang="en-US" altLang="zh-CN" sz="3600" dirty="0">
                  <a:ea typeface="宋体" pitchFamily="2" charset="-122"/>
                </a:rPr>
                <a:t> + n</a:t>
              </a:r>
              <a:r>
                <a:rPr lang="zh-CN" altLang="en-US" sz="3600" baseline="-25000" dirty="0">
                  <a:ea typeface="宋体" pitchFamily="2" charset="-122"/>
                </a:rPr>
                <a:t>质</a:t>
              </a:r>
              <a:r>
                <a:rPr lang="en-US" altLang="zh-CN" sz="3600" baseline="-25000" dirty="0">
                  <a:ea typeface="宋体" pitchFamily="2" charset="-122"/>
                </a:rPr>
                <a:t>2</a:t>
              </a:r>
              <a:r>
                <a:rPr lang="en-US" altLang="zh-CN" sz="3600" dirty="0">
                  <a:ea typeface="宋体" pitchFamily="2" charset="-122"/>
                </a:rPr>
                <a:t> </a:t>
              </a:r>
              <a:endParaRPr lang="en-MY" sz="3600" dirty="0">
                <a:ea typeface="宋体" pitchFamily="2" charset="-12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1851185" y="3356992"/>
              <a:ext cx="228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565564" y="3268079"/>
              <a:ext cx="10205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ea typeface="宋体" pitchFamily="2" charset="-122"/>
                </a:rPr>
                <a:t>m</a:t>
              </a:r>
              <a:r>
                <a:rPr lang="zh-CN" altLang="en-US" sz="3600" baseline="-25000" dirty="0">
                  <a:ea typeface="宋体" pitchFamily="2" charset="-122"/>
                </a:rPr>
                <a:t>剂</a:t>
              </a:r>
              <a:endParaRPr lang="en-MY" sz="3600" dirty="0"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82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pic12.nipic.com/20110211/5617203_171854745111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7051" cy="6858000"/>
          </a:xfrm>
          <a:prstGeom prst="rect">
            <a:avLst/>
          </a:prstGeom>
          <a:noFill/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57200" y="836712"/>
            <a:ext cx="8229600" cy="60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lvl="0" indent="-514350">
              <a:lnSpc>
                <a:spcPct val="150000"/>
              </a:lnSpc>
              <a:spcBef>
                <a:spcPct val="20000"/>
              </a:spcBef>
              <a:buAutoNum type="arabicPeriod" startAt="2"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溶质为电解质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dirty="0"/>
              <a:t>	 ∆ T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=K</a:t>
            </a:r>
            <a:r>
              <a:rPr lang="en-US" altLang="zh-CN" sz="3200" baseline="-25000" dirty="0"/>
              <a:t>b</a:t>
            </a:r>
            <a:r>
              <a:rPr lang="en-US" altLang="zh-CN" sz="3200" dirty="0"/>
              <a:t> </a:t>
            </a:r>
            <a:r>
              <a:rPr lang="en-US" altLang="zh-CN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 err="1"/>
              <a:t>C</a:t>
            </a:r>
            <a:r>
              <a:rPr lang="en-US" altLang="zh-CN" sz="3200" baseline="-25000" dirty="0" err="1"/>
              <a:t>m</a:t>
            </a:r>
            <a:r>
              <a:rPr lang="en-US" altLang="zh-CN" sz="3200" dirty="0"/>
              <a:t> </a:t>
            </a: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n: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zh-CN" sz="3200" dirty="0"/>
              <a:t>1mol</a:t>
            </a:r>
            <a:r>
              <a:rPr lang="zh-CN" altLang="en-US" sz="3200" dirty="0"/>
              <a:t>该溶质解离出的离子摩尔总数</a:t>
            </a:r>
            <a:endParaRPr lang="en-US" altLang="zh-CN" sz="3200" dirty="0"/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NaCl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i="0" u="none" strike="noStrike" kern="1200" cap="none" spc="0" normalizeH="0" baseline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aq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Na</a:t>
            </a:r>
            <a:r>
              <a:rPr kumimoji="0" lang="en-US" altLang="zh-CN" sz="3200" i="0" u="none" strike="noStrike" kern="1200" cap="none" spc="0" normalizeH="0" baseline="3000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+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 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+ </a:t>
            </a:r>
            <a:r>
              <a:rPr kumimoji="0" lang="en-US" altLang="zh-CN" sz="3200" i="0" u="none" strike="noStrike" kern="1200" cap="none" spc="0" normalizeH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Cl</a:t>
            </a:r>
            <a:r>
              <a:rPr kumimoji="0" lang="en-US" altLang="zh-CN" sz="3200" i="0" u="none" strike="noStrike" kern="1200" cap="none" spc="0" normalizeH="0" baseline="3000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-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(</a:t>
            </a:r>
            <a:r>
              <a:rPr kumimoji="0" lang="en-US" altLang="zh-CN" sz="3200" i="0" u="none" strike="noStrike" kern="1200" cap="none" spc="0" normalizeH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aq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</a:t>
            </a:r>
            <a:endParaRPr kumimoji="0" lang="en-US" altLang="zh-CN" sz="3200" i="0" u="none" strike="noStrike" kern="1200" cap="none" spc="0" normalizeH="0" baseline="3000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	MgCl</a:t>
            </a:r>
            <a:r>
              <a:rPr kumimoji="0" lang="en-US" altLang="zh-CN" sz="3200" i="0" u="none" strike="noStrike" kern="1200" cap="none" spc="0" normalizeH="0" baseline="-2500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altLang="zh-CN" sz="3200" i="0" u="none" strike="noStrike" kern="1200" cap="none" spc="0" normalizeH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aq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Mg</a:t>
            </a:r>
            <a:r>
              <a:rPr kumimoji="0" lang="en-US" altLang="zh-CN" sz="3200" i="0" u="none" strike="noStrike" kern="1200" cap="none" spc="0" normalizeH="0" baseline="3000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2+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 </a:t>
            </a:r>
            <a:r>
              <a:rPr kumimoji="0" lang="en-US" altLang="zh-CN" sz="3200" i="0" u="none" strike="noStrike" kern="1200" cap="none" spc="0" normalizeH="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+ 2 </a:t>
            </a:r>
            <a:r>
              <a:rPr kumimoji="0" lang="en-US" altLang="zh-CN" sz="3200" i="0" u="none" strike="noStrike" kern="1200" cap="none" spc="0" normalizeH="0" noProof="0" dirty="0" err="1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Cl</a:t>
            </a:r>
            <a:r>
              <a:rPr kumimoji="0" lang="en-US" altLang="zh-CN" sz="3200" i="0" u="none" strike="noStrike" kern="1200" cap="none" spc="0" normalizeH="0" baseline="30000" noProof="0" dirty="0">
                <a:ln>
                  <a:noFill/>
                </a:ln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-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</a:t>
            </a:r>
            <a:endParaRPr kumimoji="0" lang="en-US" altLang="zh-CN" sz="3200" i="0" u="none" strike="noStrike" kern="1200" cap="none" spc="0" normalizeH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lvl="0" indent="-514350">
              <a:lnSpc>
                <a:spcPct val="150000"/>
              </a:lnSpc>
              <a:spcBef>
                <a:spcPct val="20000"/>
              </a:spcBef>
            </a:pPr>
            <a:r>
              <a:rPr lang="en-US" altLang="zh-CN" sz="3200" baseline="0" dirty="0">
                <a:sym typeface="Wingdings" pitchFamily="2" charset="2"/>
              </a:rPr>
              <a:t>	Al(NO</a:t>
            </a:r>
            <a:r>
              <a:rPr lang="en-US" altLang="zh-CN" sz="3200" baseline="-25000" dirty="0">
                <a:sym typeface="Wingdings" pitchFamily="2" charset="2"/>
              </a:rPr>
              <a:t>3</a:t>
            </a:r>
            <a:r>
              <a:rPr lang="en-US" altLang="zh-CN" sz="3200" baseline="0" dirty="0">
                <a:sym typeface="Wingdings" pitchFamily="2" charset="2"/>
              </a:rPr>
              <a:t>)</a:t>
            </a:r>
            <a:r>
              <a:rPr lang="en-US" altLang="zh-CN" sz="3200" baseline="-25000" dirty="0">
                <a:sym typeface="Wingdings" pitchFamily="2" charset="2"/>
              </a:rPr>
              <a:t>3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) Al</a:t>
            </a:r>
            <a:r>
              <a:rPr lang="en-US" altLang="zh-CN" sz="3200" baseline="30000" dirty="0">
                <a:sym typeface="Wingdings" pitchFamily="2" charset="2"/>
              </a:rPr>
              <a:t>3+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 + 3 NO</a:t>
            </a:r>
            <a:r>
              <a:rPr lang="en-US" altLang="zh-CN" sz="3200" baseline="-25000" dirty="0">
                <a:sym typeface="Wingdings" pitchFamily="2" charset="2"/>
              </a:rPr>
              <a:t>3</a:t>
            </a:r>
            <a:r>
              <a:rPr lang="en-US" altLang="zh-CN" sz="3200" baseline="30000" dirty="0">
                <a:sym typeface="Wingdings" pitchFamily="2" charset="2"/>
              </a:rPr>
              <a:t>-</a:t>
            </a:r>
            <a:r>
              <a:rPr lang="en-US" altLang="zh-CN" sz="3200" dirty="0">
                <a:sym typeface="Wingdings" pitchFamily="2" charset="2"/>
              </a:rPr>
              <a:t> (</a:t>
            </a:r>
            <a:r>
              <a:rPr lang="en-US" altLang="zh-CN" sz="3200" dirty="0" err="1">
                <a:sym typeface="Wingdings" pitchFamily="2" charset="2"/>
              </a:rPr>
              <a:t>aq</a:t>
            </a:r>
            <a:r>
              <a:rPr lang="en-US" altLang="zh-CN" sz="3200" dirty="0">
                <a:sym typeface="Wingdings" pitchFamily="2" charset="2"/>
              </a:rPr>
              <a:t>)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72396" y="3500438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2396" y="4282867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3834" y="5140123"/>
            <a:ext cx="1571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-2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18.</a:t>
            </a:r>
            <a:r>
              <a:rPr 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9</a:t>
            </a:r>
            <a:r>
              <a:rPr lang="en-US" altLang="zh-CN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.2 </a:t>
            </a:r>
            <a:r>
              <a:rPr lang="zh-CN" altLang="en-US" sz="5400" b="1" dirty="0">
                <a:ln w="11430"/>
                <a:solidFill>
                  <a:srgbClr val="0070C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补充资料</a:t>
            </a:r>
            <a:endParaRPr lang="en-MY" sz="5400" b="1" cap="none" spc="0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999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9" grpId="0"/>
      <p:bldP spid="11" grpId="0"/>
      <p:bldP spid="1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第</a:t>
            </a:r>
            <a:r>
              <a:rPr lang="en-US" altLang="zh-CN" sz="7200" dirty="0"/>
              <a:t>18</a:t>
            </a:r>
            <a:r>
              <a:rPr lang="zh-CN" altLang="en-US" sz="7200" dirty="0"/>
              <a:t>章</a:t>
            </a:r>
            <a:endParaRPr lang="en-US" sz="72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6,7,8,9</a:t>
            </a:r>
          </a:p>
          <a:p>
            <a:r>
              <a:rPr lang="en-US" dirty="0">
                <a:solidFill>
                  <a:srgbClr val="002060"/>
                </a:solidFill>
              </a:rPr>
              <a:t>13,14,15,16,17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406183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60437"/>
            <a:ext cx="8229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B</a:t>
            </a:r>
          </a:p>
          <a:p>
            <a:pPr marL="514350" indent="-514350">
              <a:buNone/>
            </a:pPr>
            <a:r>
              <a:rPr lang="en-US" altLang="zh-CN" dirty="0"/>
              <a:t>2.  C</a:t>
            </a:r>
          </a:p>
          <a:p>
            <a:pPr marL="514350" indent="-514350">
              <a:buNone/>
            </a:pPr>
            <a:endParaRPr lang="en-US" altLang="zh-CN" dirty="0"/>
          </a:p>
        </p:txBody>
      </p:sp>
      <p:pic>
        <p:nvPicPr>
          <p:cNvPr id="3076" name="Picture 4" descr="C:\Users\user\Desktop\CaOH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286000"/>
            <a:ext cx="8051800" cy="350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5528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3. B</a:t>
            </a:r>
          </a:p>
          <a:p>
            <a:pPr>
              <a:buNone/>
            </a:pPr>
            <a:r>
              <a:rPr lang="en-US" altLang="zh-CN" dirty="0"/>
              <a:t>4. A </a:t>
            </a:r>
          </a:p>
          <a:p>
            <a:pPr>
              <a:buNone/>
            </a:pPr>
            <a:r>
              <a:rPr lang="en-US" altLang="zh-CN" dirty="0"/>
              <a:t>5. D</a:t>
            </a:r>
          </a:p>
          <a:p>
            <a:pPr>
              <a:buNone/>
            </a:pPr>
            <a:r>
              <a:rPr lang="en-US" altLang="zh-CN" dirty="0"/>
              <a:t>6. </a:t>
            </a:r>
            <a:r>
              <a:rPr lang="zh-CN" altLang="en-US" dirty="0"/>
              <a:t>溶解度：在一定温度下，</a:t>
            </a:r>
            <a:r>
              <a:rPr lang="en-US" altLang="zh-CN" dirty="0"/>
              <a:t>100g</a:t>
            </a:r>
            <a:r>
              <a:rPr lang="zh-CN" altLang="en-US" dirty="0"/>
              <a:t>水所能溶解某溶质的最大量。</a:t>
            </a:r>
            <a:endParaRPr lang="en-US" altLang="zh-CN" dirty="0"/>
          </a:p>
          <a:p>
            <a:pPr>
              <a:buNone/>
            </a:pPr>
            <a:r>
              <a:rPr lang="en-US" dirty="0"/>
              <a:t>	</a:t>
            </a:r>
            <a:r>
              <a:rPr lang="en-US" altLang="zh-CN" dirty="0"/>
              <a:t>B</a:t>
            </a:r>
          </a:p>
          <a:p>
            <a:pPr>
              <a:buNone/>
            </a:pPr>
            <a:r>
              <a:rPr lang="en-US" altLang="zh-CN" dirty="0"/>
              <a:t>7. D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zh-CN" altLang="en-US" dirty="0"/>
              <a:t>温度不同不能比。 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dirty="0"/>
          </a:p>
        </p:txBody>
      </p:sp>
      <p:pic>
        <p:nvPicPr>
          <p:cNvPr id="2056" name="Picture 8" descr="C:\Users\user\Desktop\q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2133600"/>
            <a:ext cx="3752850" cy="457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4955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8. </a:t>
            </a:r>
            <a:r>
              <a:rPr lang="zh-CN" altLang="en-US" dirty="0"/>
              <a:t>即在</a:t>
            </a:r>
            <a:r>
              <a:rPr lang="en-US" altLang="zh-CN" dirty="0"/>
              <a:t>20</a:t>
            </a:r>
            <a:r>
              <a:rPr lang="en-US" altLang="zh-CN" baseline="30000" dirty="0"/>
              <a:t>o</a:t>
            </a:r>
            <a:r>
              <a:rPr lang="en-US" altLang="zh-CN" dirty="0"/>
              <a:t>C</a:t>
            </a:r>
            <a:r>
              <a:rPr lang="zh-CN" altLang="en-US" dirty="0"/>
              <a:t>时，</a:t>
            </a:r>
            <a:r>
              <a:rPr lang="en-US" altLang="zh-CN" dirty="0"/>
              <a:t> 32.3g</a:t>
            </a:r>
            <a:r>
              <a:rPr lang="zh-CN" altLang="en-US" dirty="0"/>
              <a:t>水最多能溶解</a:t>
            </a:r>
            <a:r>
              <a:rPr lang="en-US" altLang="zh-CN" dirty="0"/>
              <a:t>5g</a:t>
            </a:r>
            <a:r>
              <a:rPr lang="zh-CN" altLang="en-US" dirty="0"/>
              <a:t>该物质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则</a:t>
            </a:r>
            <a:r>
              <a:rPr lang="en-US" altLang="zh-CN" dirty="0"/>
              <a:t>			100g</a:t>
            </a:r>
            <a:r>
              <a:rPr lang="zh-CN" altLang="en-US" dirty="0"/>
              <a:t>水</a:t>
            </a:r>
            <a:r>
              <a:rPr lang="en-US" altLang="zh-CN" dirty="0"/>
              <a:t>		</a:t>
            </a:r>
            <a:r>
              <a:rPr lang="zh-CN" altLang="en-US" dirty="0"/>
              <a:t>溶解</a:t>
            </a:r>
            <a:r>
              <a:rPr lang="en-US" altLang="zh-CN" dirty="0"/>
              <a:t>X g</a:t>
            </a:r>
          </a:p>
          <a:p>
            <a:pPr>
              <a:buNone/>
            </a:pPr>
            <a:r>
              <a:rPr lang="en-US" altLang="zh-CN" dirty="0"/>
              <a:t>					     </a:t>
            </a:r>
            <a:r>
              <a:rPr lang="en-US" altLang="zh-CN" dirty="0" err="1"/>
              <a:t>Ans</a:t>
            </a:r>
            <a:r>
              <a:rPr lang="en-US" altLang="zh-CN" dirty="0"/>
              <a:t>: C </a:t>
            </a:r>
          </a:p>
          <a:p>
            <a:pPr>
              <a:buNone/>
            </a:pPr>
            <a:r>
              <a:rPr lang="en-US" altLang="zh-CN" dirty="0"/>
              <a:t>9. </a:t>
            </a:r>
            <a:r>
              <a:rPr lang="zh-CN" altLang="en-US" dirty="0"/>
              <a:t>一开始</a:t>
            </a:r>
            <a:r>
              <a:rPr lang="en-US" altLang="zh-CN" dirty="0"/>
              <a:t>300g</a:t>
            </a:r>
            <a:r>
              <a:rPr lang="zh-CN" altLang="en-US" dirty="0"/>
              <a:t>溶液不是饱和溶液。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析出晶体后必为饱和溶液。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再蒸去</a:t>
            </a:r>
            <a:r>
              <a:rPr lang="en-US" altLang="zh-CN" dirty="0"/>
              <a:t>20g</a:t>
            </a:r>
            <a:r>
              <a:rPr lang="zh-CN" altLang="en-US" dirty="0"/>
              <a:t>水，析出</a:t>
            </a:r>
            <a:r>
              <a:rPr lang="en-US" altLang="zh-CN" dirty="0"/>
              <a:t>8g</a:t>
            </a:r>
            <a:r>
              <a:rPr lang="zh-CN" altLang="en-US" dirty="0"/>
              <a:t>晶体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即</a:t>
            </a:r>
            <a:r>
              <a:rPr lang="en-US" altLang="zh-CN" dirty="0"/>
              <a:t>20g</a:t>
            </a:r>
            <a:r>
              <a:rPr lang="zh-CN" altLang="en-US" dirty="0"/>
              <a:t>水，最多溶解</a:t>
            </a:r>
            <a:r>
              <a:rPr lang="en-US" altLang="zh-CN" dirty="0"/>
              <a:t>8g</a:t>
            </a:r>
            <a:r>
              <a:rPr lang="zh-CN" altLang="en-US" dirty="0"/>
              <a:t>晶体，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100g</a:t>
            </a:r>
            <a:r>
              <a:rPr lang="zh-CN" altLang="en-US" dirty="0"/>
              <a:t>水</a:t>
            </a:r>
            <a:r>
              <a:rPr lang="en-US" altLang="zh-CN" dirty="0"/>
              <a:t>		</a:t>
            </a:r>
            <a:r>
              <a:rPr lang="zh-CN" altLang="en-US" dirty="0"/>
              <a:t>溶解</a:t>
            </a:r>
            <a:r>
              <a:rPr lang="en-US" altLang="zh-CN" dirty="0" err="1"/>
              <a:t>Xg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	</a:t>
            </a:r>
            <a:r>
              <a:rPr lang="en-US" altLang="zh-CN" dirty="0" err="1"/>
              <a:t>Ans:C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54804" y="144780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</a:rPr>
              <a:t>15.5g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24189" y="4977825"/>
            <a:ext cx="795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</a:rPr>
              <a:t>40g</a:t>
            </a:r>
            <a:endParaRPr lang="en-US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203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10.A</a:t>
            </a:r>
          </a:p>
          <a:p>
            <a:pPr>
              <a:buNone/>
            </a:pPr>
            <a:r>
              <a:rPr lang="en-US" altLang="zh-CN" dirty="0"/>
              <a:t>	20g</a:t>
            </a:r>
            <a:r>
              <a:rPr lang="zh-CN" altLang="en-US" dirty="0"/>
              <a:t>水能溶解的</a:t>
            </a:r>
            <a:r>
              <a:rPr lang="en-US" altLang="zh-CN" dirty="0"/>
              <a:t>NH</a:t>
            </a:r>
            <a:r>
              <a:rPr lang="en-US" altLang="zh-CN" baseline="-25000" dirty="0"/>
              <a:t>4</a:t>
            </a:r>
            <a:r>
              <a:rPr lang="zh-CN" altLang="en-US" baseline="-25000" dirty="0"/>
              <a:t> </a:t>
            </a:r>
            <a:r>
              <a:rPr lang="en-US" altLang="zh-CN" dirty="0"/>
              <a:t>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一样多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11. A</a:t>
            </a:r>
          </a:p>
          <a:p>
            <a:pPr>
              <a:buNone/>
            </a:pPr>
            <a:r>
              <a:rPr lang="en-US" altLang="zh-CN" dirty="0"/>
              <a:t>12. </a:t>
            </a:r>
            <a:r>
              <a:rPr lang="zh-CN" altLang="en-US" dirty="0"/>
              <a:t>设原溶液</a:t>
            </a:r>
            <a:r>
              <a:rPr lang="en-US" altLang="zh-CN" dirty="0"/>
              <a:t>100g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=10g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baseline="-25000" dirty="0"/>
              <a:t>剂</a:t>
            </a:r>
            <a:r>
              <a:rPr lang="zh-CN" altLang="en-US" dirty="0"/>
              <a:t> </a:t>
            </a:r>
            <a:r>
              <a:rPr lang="en-US" altLang="zh-CN" dirty="0"/>
              <a:t>=90g</a:t>
            </a:r>
          </a:p>
          <a:p>
            <a:pPr>
              <a:buNone/>
            </a:pPr>
            <a:r>
              <a:rPr lang="en-US" altLang="zh-CN" dirty="0"/>
              <a:t>A </a:t>
            </a:r>
            <a:r>
              <a:rPr lang="zh-CN" altLang="en-US" dirty="0"/>
              <a:t>蒸发掉</a:t>
            </a:r>
            <a:r>
              <a:rPr lang="en-US" altLang="zh-CN" dirty="0"/>
              <a:t>45g</a:t>
            </a:r>
            <a:r>
              <a:rPr lang="zh-CN" altLang="en-US" dirty="0"/>
              <a:t>水</a:t>
            </a:r>
            <a:r>
              <a:rPr lang="en-US" altLang="zh-CN" dirty="0"/>
              <a:t>		10/55 x 100% </a:t>
            </a:r>
          </a:p>
          <a:p>
            <a:pPr>
              <a:buNone/>
            </a:pPr>
            <a:r>
              <a:rPr lang="en-US" altLang="zh-CN" dirty="0"/>
              <a:t>B </a:t>
            </a:r>
            <a:r>
              <a:rPr lang="zh-CN" altLang="en-US" dirty="0"/>
              <a:t>加入</a:t>
            </a:r>
            <a:r>
              <a:rPr lang="en-US" altLang="zh-CN" dirty="0"/>
              <a:t>10g</a:t>
            </a:r>
            <a:r>
              <a:rPr lang="zh-CN" altLang="en-US" dirty="0"/>
              <a:t>溶质</a:t>
            </a:r>
            <a:r>
              <a:rPr lang="en-US" altLang="zh-CN" dirty="0"/>
              <a:t>		20/110 x100%</a:t>
            </a:r>
          </a:p>
          <a:p>
            <a:pPr>
              <a:buNone/>
            </a:pPr>
            <a:r>
              <a:rPr lang="en-US" altLang="zh-CN" dirty="0"/>
              <a:t>C </a:t>
            </a:r>
            <a:r>
              <a:rPr lang="zh-CN" altLang="en-US" dirty="0"/>
              <a:t>蒸发</a:t>
            </a:r>
            <a:r>
              <a:rPr lang="en-US" altLang="zh-CN" dirty="0"/>
              <a:t>50g</a:t>
            </a:r>
            <a:r>
              <a:rPr lang="zh-CN" altLang="en-US" dirty="0"/>
              <a:t>水</a:t>
            </a:r>
            <a:r>
              <a:rPr lang="en-US" altLang="zh-CN" dirty="0"/>
              <a:t>		10/50  x 100%</a:t>
            </a:r>
          </a:p>
          <a:p>
            <a:pPr>
              <a:buNone/>
            </a:pPr>
            <a:r>
              <a:rPr lang="en-US" altLang="zh-CN" dirty="0" err="1"/>
              <a:t>Ans</a:t>
            </a:r>
            <a:r>
              <a:rPr lang="en-US" altLang="zh-CN" dirty="0"/>
              <a:t>: C 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191000" y="3200400"/>
            <a:ext cx="2362200" cy="533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191000" y="3810000"/>
            <a:ext cx="2362200" cy="533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191000" y="4495800"/>
            <a:ext cx="2362200" cy="5334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03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13. </a:t>
            </a:r>
            <a:r>
              <a:rPr lang="zh-CN" altLang="en-US" dirty="0"/>
              <a:t>溶解度</a:t>
            </a:r>
            <a:r>
              <a:rPr lang="en-US" altLang="zh-CN" dirty="0"/>
              <a:t>36g/100g</a:t>
            </a:r>
            <a:r>
              <a:rPr lang="zh-CN" altLang="en-US" dirty="0"/>
              <a:t>水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质量百分比浓度</a:t>
            </a:r>
            <a:r>
              <a:rPr lang="en-US" altLang="zh-CN" dirty="0"/>
              <a:t>=36/136 x 100% 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Ans</a:t>
            </a:r>
            <a:r>
              <a:rPr lang="en-US" altLang="zh-CN" dirty="0"/>
              <a:t>: B </a:t>
            </a:r>
          </a:p>
          <a:p>
            <a:pPr>
              <a:buNone/>
            </a:pPr>
            <a:r>
              <a:rPr lang="en-US" altLang="zh-CN" dirty="0"/>
              <a:t>14. </a:t>
            </a:r>
            <a:r>
              <a:rPr lang="zh-CN" altLang="en-US" dirty="0"/>
              <a:t>设原溶液质量为</a:t>
            </a:r>
            <a:r>
              <a:rPr lang="en-US" altLang="zh-CN" dirty="0" err="1"/>
              <a:t>xg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蒸发后</a:t>
            </a:r>
            <a:r>
              <a:rPr lang="en-US" altLang="zh-CN" dirty="0"/>
              <a:t>m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x-120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前后溶质质量不变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   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1</a:t>
            </a:r>
            <a:r>
              <a:rPr lang="en-US" altLang="zh-CN" dirty="0"/>
              <a:t> x </a:t>
            </a:r>
            <a:r>
              <a:rPr lang="el-GR" altLang="zh-CN" dirty="0"/>
              <a:t>ω</a:t>
            </a:r>
            <a:r>
              <a:rPr lang="en-US" altLang="zh-CN" baseline="-25000" dirty="0"/>
              <a:t>1</a:t>
            </a:r>
            <a:r>
              <a:rPr lang="en-US" altLang="zh-CN" dirty="0"/>
              <a:t> = m</a:t>
            </a:r>
            <a:r>
              <a:rPr lang="zh-CN" altLang="en-US" baseline="-25000" dirty="0"/>
              <a:t>液</a:t>
            </a:r>
            <a:r>
              <a:rPr lang="en-US" altLang="zh-CN" baseline="-25000" dirty="0"/>
              <a:t>2</a:t>
            </a:r>
            <a:r>
              <a:rPr lang="en-US" altLang="zh-CN" dirty="0"/>
              <a:t> x </a:t>
            </a:r>
            <a:r>
              <a:rPr lang="el-GR" altLang="zh-CN" dirty="0"/>
              <a:t>ω</a:t>
            </a:r>
            <a:r>
              <a:rPr lang="en-US" altLang="zh-CN" baseline="-25000" dirty="0"/>
              <a:t>2</a:t>
            </a:r>
            <a:endParaRPr lang="en-US" altLang="zh-CN" dirty="0"/>
          </a:p>
          <a:p>
            <a:pPr marL="514350" indent="-514350">
              <a:buNone/>
            </a:pPr>
            <a:r>
              <a:rPr lang="en-US" dirty="0"/>
              <a:t>			0.12x = 0.24(x-120)</a:t>
            </a:r>
          </a:p>
          <a:p>
            <a:pPr marL="514350" indent="-514350">
              <a:buNone/>
            </a:pPr>
            <a:r>
              <a:rPr lang="en-US" dirty="0"/>
              <a:t>		0.12x-0.24x = -28.8</a:t>
            </a:r>
          </a:p>
          <a:p>
            <a:pPr marL="514350" indent="-514350">
              <a:buNone/>
            </a:pPr>
            <a:r>
              <a:rPr lang="en-US" dirty="0"/>
              <a:t>			0.12x  = 28.</a:t>
            </a:r>
            <a:r>
              <a:rPr lang="en-US" altLang="zh-CN" dirty="0"/>
              <a:t>8		</a:t>
            </a:r>
            <a:r>
              <a:rPr lang="en-US" altLang="zh-CN" dirty="0" err="1"/>
              <a:t>Ans:D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74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15. </a:t>
            </a:r>
            <a:r>
              <a:rPr lang="zh-CN" altLang="en-US" dirty="0"/>
              <a:t>设需加入</a:t>
            </a:r>
            <a:r>
              <a:rPr lang="en-US" altLang="zh-CN" dirty="0" err="1"/>
              <a:t>xg</a:t>
            </a:r>
            <a:r>
              <a:rPr lang="en-US" altLang="zh-CN" dirty="0"/>
              <a:t> NH</a:t>
            </a:r>
            <a:r>
              <a:rPr lang="en-US" altLang="zh-CN" baseline="-25000" dirty="0"/>
              <a:t>4</a:t>
            </a:r>
            <a:r>
              <a:rPr lang="en-US" altLang="zh-CN" dirty="0"/>
              <a:t>Cl</a:t>
            </a:r>
          </a:p>
          <a:p>
            <a:pPr>
              <a:buNone/>
            </a:pPr>
            <a:r>
              <a:rPr lang="zh-CN" altLang="en-US" dirty="0"/>
              <a:t>原溶液：</a:t>
            </a:r>
            <a:r>
              <a:rPr lang="en-US" altLang="zh-CN" dirty="0"/>
              <a:t>	</a:t>
            </a:r>
            <a:r>
              <a:rPr lang="en-US" dirty="0"/>
              <a:t>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50g x 4% = 2g</a:t>
            </a:r>
          </a:p>
          <a:p>
            <a:pPr>
              <a:buNone/>
            </a:pPr>
            <a:r>
              <a:rPr lang="en-US" altLang="zh-CN" dirty="0"/>
              <a:t>		  	m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50g</a:t>
            </a:r>
          </a:p>
          <a:p>
            <a:pPr>
              <a:buNone/>
            </a:pPr>
            <a:r>
              <a:rPr lang="zh-CN" altLang="en-US" dirty="0"/>
              <a:t>后溶液</a:t>
            </a:r>
            <a:r>
              <a:rPr lang="en-US" altLang="zh-CN" dirty="0"/>
              <a:t>20%</a:t>
            </a:r>
          </a:p>
          <a:p>
            <a:pPr>
              <a:buNone/>
            </a:pPr>
            <a:r>
              <a:rPr lang="en-US" altLang="zh-CN" dirty="0"/>
              <a:t>			x 100% = 20%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				    = 0.2 </a:t>
            </a:r>
          </a:p>
          <a:p>
            <a:pPr>
              <a:buNone/>
            </a:pPr>
            <a:r>
              <a:rPr lang="en-US" altLang="zh-CN" dirty="0"/>
              <a:t>			   2 + x   = 0.2(50 + x)</a:t>
            </a:r>
          </a:p>
          <a:p>
            <a:pPr>
              <a:buNone/>
            </a:pPr>
            <a:r>
              <a:rPr lang="en-US" altLang="zh-CN" dirty="0"/>
              <a:t>			      0.8x = 8</a:t>
            </a:r>
          </a:p>
          <a:p>
            <a:pPr>
              <a:buNone/>
            </a:pPr>
            <a:r>
              <a:rPr lang="en-US" altLang="zh-CN" dirty="0"/>
              <a:t>				  x = 10		</a:t>
            </a:r>
            <a:r>
              <a:rPr lang="en-US" altLang="zh-CN" dirty="0" err="1"/>
              <a:t>Ans</a:t>
            </a:r>
            <a:r>
              <a:rPr lang="en-US" altLang="zh-CN" dirty="0"/>
              <a:t>: C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66800" y="2514600"/>
          <a:ext cx="1295400" cy="882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393480" progId="Equation.3">
                  <p:embed/>
                </p:oleObj>
              </mc:Choice>
              <mc:Fallback>
                <p:oleObj name="Equation" r:id="rId3" imgW="431640" imgH="3934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1295400" cy="8826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286000" y="3505200"/>
          <a:ext cx="12954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1640" imgH="393480" progId="Equation.3">
                  <p:embed/>
                </p:oleObj>
              </mc:Choice>
              <mc:Fallback>
                <p:oleObj name="Equation" r:id="rId5" imgW="431640" imgH="39348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05200"/>
                        <a:ext cx="129540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47517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16. 	A </a:t>
            </a:r>
            <a:r>
              <a:rPr lang="zh-CN" altLang="en-US" dirty="0"/>
              <a:t>酒精与水互溶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17. 	A 0.1mol</a:t>
            </a:r>
            <a:r>
              <a:rPr lang="zh-CN" altLang="en-US" dirty="0"/>
              <a:t>；</a:t>
            </a:r>
            <a:r>
              <a:rPr lang="en-US" altLang="zh-CN" dirty="0"/>
              <a:t>10.1g</a:t>
            </a:r>
          </a:p>
          <a:p>
            <a:pPr>
              <a:buNone/>
            </a:pPr>
            <a:r>
              <a:rPr lang="en-US" altLang="zh-CN" dirty="0"/>
              <a:t>		C </a:t>
            </a:r>
            <a:r>
              <a:rPr lang="zh-CN" altLang="en-US" dirty="0"/>
              <a:t>浓度不变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D </a:t>
            </a:r>
            <a:r>
              <a:rPr lang="en-US" altLang="zh-CN" b="1" dirty="0">
                <a:solidFill>
                  <a:srgbClr val="7030A0"/>
                </a:solidFill>
              </a:rPr>
              <a:t>0.1mol</a:t>
            </a:r>
            <a:r>
              <a:rPr lang="en-US" altLang="zh-CN" dirty="0"/>
              <a:t>KNO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zh-CN" altLang="en-US" dirty="0"/>
              <a:t>加水加至</a:t>
            </a:r>
            <a:r>
              <a:rPr lang="zh-CN" altLang="en-US" b="1" dirty="0">
                <a:solidFill>
                  <a:srgbClr val="7030A0"/>
                </a:solidFill>
              </a:rPr>
              <a:t>溶液</a:t>
            </a:r>
            <a:r>
              <a:rPr lang="en-US" altLang="zh-CN" dirty="0"/>
              <a:t>1L</a:t>
            </a:r>
          </a:p>
          <a:p>
            <a:pPr>
              <a:buNone/>
            </a:pPr>
            <a:r>
              <a:rPr lang="en-US" altLang="zh-CN" dirty="0" err="1"/>
              <a:t>Ans:B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18. A	1M		B 2M		C 1M		D 1.5M</a:t>
            </a:r>
          </a:p>
          <a:p>
            <a:pPr>
              <a:buNone/>
            </a:pPr>
            <a:r>
              <a:rPr lang="en-US" altLang="zh-CN" dirty="0" err="1"/>
              <a:t>Ans:B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19. 1M </a:t>
            </a:r>
            <a:r>
              <a:rPr lang="zh-CN" altLang="en-US" dirty="0"/>
              <a:t>为稀溶液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2Al (s)  + 3 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dirty="0">
                <a:sym typeface="Wingdings" pitchFamily="2" charset="2"/>
              </a:rPr>
              <a:t> Al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(SO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dirty="0">
                <a:sym typeface="Wingdings" pitchFamily="2" charset="2"/>
              </a:rPr>
              <a:t>)</a:t>
            </a:r>
            <a:r>
              <a:rPr lang="en-US" altLang="zh-CN" baseline="-25000" dirty="0">
                <a:sym typeface="Wingdings" pitchFamily="2" charset="2"/>
              </a:rPr>
              <a:t>3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</a:t>
            </a:r>
            <a:r>
              <a:rPr lang="en-US" altLang="zh-CN" dirty="0">
                <a:sym typeface="Wingdings" pitchFamily="2" charset="2"/>
              </a:rPr>
              <a:t> + 3H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en-US" altLang="zh-CN" dirty="0"/>
              <a:t>(g) </a:t>
            </a:r>
            <a:endParaRPr lang="en-US" altLang="zh-CN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2mol		3mol</a:t>
            </a:r>
          </a:p>
          <a:p>
            <a:pPr>
              <a:buNone/>
            </a:pPr>
            <a:r>
              <a:rPr lang="en-US" altLang="zh-CN" dirty="0">
                <a:sym typeface="Wingdings" pitchFamily="2" charset="2"/>
              </a:rPr>
              <a:t>1mol		(1.5mol)			</a:t>
            </a:r>
            <a:r>
              <a:rPr lang="en-US" altLang="zh-CN" dirty="0" err="1">
                <a:sym typeface="Wingdings" pitchFamily="2" charset="2"/>
              </a:rPr>
              <a:t>Ans</a:t>
            </a:r>
            <a:r>
              <a:rPr lang="en-US" altLang="zh-CN" dirty="0">
                <a:sym typeface="Wingdings" pitchFamily="2" charset="2"/>
              </a:rPr>
              <a:t>: B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15571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20. D </a:t>
            </a:r>
          </a:p>
          <a:p>
            <a:pPr>
              <a:buNone/>
            </a:pPr>
            <a:r>
              <a:rPr lang="en-US" altLang="zh-CN" dirty="0"/>
              <a:t>21. D </a:t>
            </a:r>
          </a:p>
          <a:p>
            <a:pPr>
              <a:buNone/>
            </a:pPr>
            <a:r>
              <a:rPr lang="en-US" altLang="zh-CN" dirty="0"/>
              <a:t>22. P</a:t>
            </a:r>
            <a:r>
              <a:rPr lang="zh-CN" altLang="en-US" baseline="-25000" dirty="0"/>
              <a:t>液</a:t>
            </a:r>
            <a:r>
              <a:rPr lang="zh-CN" altLang="en-US" dirty="0"/>
              <a:t> </a:t>
            </a:r>
            <a:r>
              <a:rPr lang="en-US" altLang="zh-CN" dirty="0"/>
              <a:t>= p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  <a:r>
              <a:rPr lang="el-GR" altLang="zh-CN" dirty="0"/>
              <a:t>χ</a:t>
            </a:r>
            <a:r>
              <a:rPr lang="zh-CN" altLang="en-US" baseline="-25000" dirty="0"/>
              <a:t>剂</a:t>
            </a:r>
            <a:endParaRPr lang="en-US" altLang="zh-CN" baseline="-25000" dirty="0"/>
          </a:p>
          <a:p>
            <a:pPr>
              <a:buNone/>
            </a:pPr>
            <a:r>
              <a:rPr lang="en-US" altLang="zh-CN" baseline="-25000" dirty="0"/>
              <a:t>		</a:t>
            </a:r>
            <a:r>
              <a:rPr lang="en-US" altLang="zh-CN" dirty="0"/>
              <a:t>   = 	  p</a:t>
            </a:r>
            <a:r>
              <a:rPr lang="zh-CN" altLang="en-US" baseline="-25000" dirty="0"/>
              <a:t>剂</a:t>
            </a:r>
            <a:r>
              <a:rPr lang="en-US" altLang="zh-CN" baseline="-25000" dirty="0"/>
              <a:t> </a:t>
            </a:r>
          </a:p>
          <a:p>
            <a:pPr>
              <a:buNone/>
            </a:pPr>
            <a:r>
              <a:rPr lang="en-US" altLang="zh-CN" baseline="-25000" dirty="0"/>
              <a:t> </a:t>
            </a:r>
            <a:r>
              <a:rPr lang="en-US" altLang="zh-CN" dirty="0"/>
              <a:t> </a:t>
            </a:r>
            <a:r>
              <a:rPr lang="en-US" altLang="zh-CN" dirty="0" err="1"/>
              <a:t>Ans</a:t>
            </a:r>
            <a:r>
              <a:rPr lang="en-US" altLang="zh-CN" dirty="0"/>
              <a:t>: C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23. 	       ∆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f</a:t>
            </a:r>
            <a:r>
              <a:rPr lang="en-US" altLang="zh-CN" dirty="0"/>
              <a:t> = </a:t>
            </a:r>
            <a:r>
              <a:rPr lang="en-US" altLang="zh-CN" dirty="0" err="1"/>
              <a:t>K</a:t>
            </a:r>
            <a:r>
              <a:rPr lang="en-US" altLang="zh-CN" baseline="-25000" dirty="0" err="1"/>
              <a:t>f</a:t>
            </a:r>
            <a:r>
              <a:rPr lang="en-US" altLang="zh-CN" dirty="0"/>
              <a:t> C</a:t>
            </a:r>
            <a:r>
              <a:rPr lang="en-US" altLang="zh-CN" baseline="-25000" dirty="0"/>
              <a:t>m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0.5</a:t>
            </a:r>
            <a:r>
              <a:rPr lang="en-US" altLang="zh-CN" baseline="30000" dirty="0"/>
              <a:t>o</a:t>
            </a:r>
            <a:r>
              <a:rPr lang="en-US" altLang="zh-CN" dirty="0"/>
              <a:t> C  = 1.86 </a:t>
            </a:r>
            <a:r>
              <a:rPr lang="en-US" altLang="zh-CN" baseline="30000" dirty="0"/>
              <a:t>o</a:t>
            </a:r>
            <a:r>
              <a:rPr lang="en-US" altLang="zh-CN" dirty="0"/>
              <a:t>Ckgmol</a:t>
            </a:r>
            <a:r>
              <a:rPr lang="en-US" altLang="zh-CN" baseline="30000" dirty="0"/>
              <a:t>-1</a:t>
            </a:r>
            <a:r>
              <a:rPr lang="en-US" altLang="zh-CN" dirty="0"/>
              <a:t> x 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/>
              <a:t>		         M = 186</a:t>
            </a:r>
          </a:p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 err="1"/>
              <a:t>Ans</a:t>
            </a:r>
            <a:r>
              <a:rPr lang="en-US" altLang="zh-CN" dirty="0"/>
              <a:t>: D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09800" y="2012950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393480" progId="Equation.3">
                  <p:embed/>
                </p:oleObj>
              </mc:Choice>
              <mc:Fallback>
                <p:oleObj name="Equation" r:id="rId3" imgW="152280" imgH="3934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012950"/>
                        <a:ext cx="38100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8"/>
          <p:cNvGrpSpPr/>
          <p:nvPr/>
        </p:nvGrpSpPr>
        <p:grpSpPr>
          <a:xfrm>
            <a:off x="5857884" y="3822431"/>
            <a:ext cx="2024042" cy="1359169"/>
            <a:chOff x="1142976" y="3878935"/>
            <a:chExt cx="2024042" cy="1359169"/>
          </a:xfrm>
        </p:grpSpPr>
        <p:grpSp>
          <p:nvGrpSpPr>
            <p:cNvPr id="6" name="Group 10"/>
            <p:cNvGrpSpPr/>
            <p:nvPr/>
          </p:nvGrpSpPr>
          <p:grpSpPr>
            <a:xfrm>
              <a:off x="1228692" y="3878935"/>
              <a:ext cx="1938326" cy="1359169"/>
              <a:chOff x="1362044" y="1473869"/>
              <a:chExt cx="1938326" cy="1359169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1633518" y="1473869"/>
                <a:ext cx="1285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 1g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1507798" y="1905000"/>
                <a:ext cx="1371600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362044" y="1852618"/>
                <a:ext cx="19383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    Mgmol</a:t>
                </a:r>
                <a:r>
                  <a:rPr lang="en-US" altLang="zh-CN" sz="2800" baseline="30000" dirty="0"/>
                  <a:t>-1</a:t>
                </a:r>
                <a:endParaRPr lang="en-US" sz="2800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2098" y="2309818"/>
                <a:ext cx="13401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</a:t>
                </a:r>
                <a:r>
                  <a:rPr lang="en-US" altLang="zh-CN" sz="2800" dirty="0"/>
                  <a:t>0.02k</a:t>
                </a:r>
                <a:r>
                  <a:rPr lang="en-US" sz="2800" dirty="0"/>
                  <a:t> g</a:t>
                </a:r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1142976" y="4643446"/>
              <a:ext cx="2011680" cy="158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7433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algn="ctr">
              <a:buNone/>
            </a:pPr>
            <a:r>
              <a:rPr lang="zh-CN" altLang="en-US" sz="4000" dirty="0"/>
              <a:t>问答题</a:t>
            </a:r>
            <a:endParaRPr lang="en-US" altLang="zh-CN" sz="4000" dirty="0"/>
          </a:p>
          <a:p>
            <a:pPr marL="514350" indent="-514350">
              <a:buAutoNum type="arabicPeriod"/>
            </a:pPr>
            <a:r>
              <a:rPr lang="zh-CN" altLang="en-US" dirty="0"/>
              <a:t>不饱和，温度上升，</a:t>
            </a:r>
            <a:r>
              <a:rPr lang="en-US" altLang="zh-CN" dirty="0" err="1"/>
              <a:t>KCl</a:t>
            </a:r>
            <a:r>
              <a:rPr lang="zh-CN" altLang="en-US" dirty="0"/>
              <a:t>溶解度上升。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在溶液中加入过量溶质，再加热，使溶质溶解后，缓慢冷却溶液。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en-US" altLang="zh-CN" dirty="0"/>
              <a:t>36g/100g</a:t>
            </a:r>
            <a:r>
              <a:rPr lang="zh-CN" altLang="en-US" dirty="0"/>
              <a:t>水</a:t>
            </a:r>
            <a:endParaRPr lang="en-US" altLang="zh-CN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altLang="zh-CN" dirty="0"/>
              <a:t>110g/100g</a:t>
            </a:r>
            <a:r>
              <a:rPr lang="zh-CN" altLang="en-US" dirty="0"/>
              <a:t>水</a:t>
            </a:r>
            <a:endParaRPr lang="en-US" altLang="zh-CN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US" dirty="0"/>
              <a:t> </a:t>
            </a:r>
            <a:r>
              <a:rPr lang="en-US" altLang="zh-CN" dirty="0"/>
              <a:t>200g</a:t>
            </a:r>
            <a:r>
              <a:rPr lang="zh-CN" altLang="en-US" dirty="0"/>
              <a:t>水</a:t>
            </a:r>
            <a:endParaRPr lang="en-US" altLang="zh-CN" dirty="0"/>
          </a:p>
          <a:p>
            <a:pPr marL="514350" indent="-51435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216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76456" cy="6629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600" dirty="0"/>
              <a:t>6. 20</a:t>
            </a:r>
            <a:r>
              <a:rPr lang="zh-CN" altLang="en-US" sz="3600" dirty="0"/>
              <a:t>℃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      	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  <a:r>
              <a:rPr lang="zh-CN" altLang="en-US" sz="3600" dirty="0"/>
              <a:t>溶液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 	         	   x     	240-x 	  	240g</a:t>
            </a:r>
            <a:endParaRPr lang="zh-CN" altLang="en-US" sz="3600" dirty="0"/>
          </a:p>
          <a:p>
            <a:pPr>
              <a:buNone/>
            </a:pPr>
            <a:r>
              <a:rPr lang="en-US" altLang="zh-CN" sz="3600" dirty="0"/>
              <a:t>0</a:t>
            </a:r>
            <a:r>
              <a:rPr lang="zh-CN" altLang="en-US" sz="3600" dirty="0"/>
              <a:t>℃ </a:t>
            </a:r>
            <a:r>
              <a:rPr lang="en-US" altLang="zh-CN" sz="3600" dirty="0"/>
              <a:t>		</a:t>
            </a:r>
            <a:r>
              <a:rPr lang="zh-CN" altLang="en-US" sz="3600" dirty="0"/>
              <a:t>溶质</a:t>
            </a:r>
            <a:r>
              <a:rPr lang="en-US" altLang="zh-CN" sz="3600" dirty="0"/>
              <a:t>	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</a:p>
          <a:p>
            <a:pPr>
              <a:buNone/>
            </a:pPr>
            <a:r>
              <a:rPr lang="en-US" altLang="zh-CN" sz="3600" dirty="0"/>
              <a:t>			122g		100g</a:t>
            </a:r>
          </a:p>
          <a:p>
            <a:pPr>
              <a:buNone/>
            </a:pPr>
            <a:r>
              <a:rPr lang="en-US" altLang="zh-CN" sz="3600" dirty="0"/>
              <a:t> 	     		x-74.5 	240-x </a:t>
            </a:r>
          </a:p>
          <a:p>
            <a:pPr>
              <a:buNone/>
            </a:pPr>
            <a:r>
              <a:rPr lang="en-US" altLang="zh-CN" sz="3600" dirty="0"/>
              <a:t>		  </a:t>
            </a:r>
            <a:r>
              <a:rPr lang="en-MY" sz="3600" dirty="0"/>
              <a:t>	x=165.45g</a:t>
            </a:r>
            <a:r>
              <a:rPr lang="en-US" altLang="zh-CN" sz="3600" dirty="0"/>
              <a:t>  </a:t>
            </a:r>
          </a:p>
          <a:p>
            <a:pPr>
              <a:buNone/>
            </a:pPr>
            <a:r>
              <a:rPr lang="en-US" altLang="zh-CN" sz="3600" dirty="0"/>
              <a:t> 20</a:t>
            </a:r>
            <a:r>
              <a:rPr lang="zh-CN" altLang="en-US" sz="3600" dirty="0"/>
              <a:t>℃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     	</a:t>
            </a:r>
            <a:r>
              <a:rPr lang="zh-CN" altLang="en-US" sz="3600" dirty="0"/>
              <a:t>溶剂</a:t>
            </a:r>
            <a:r>
              <a:rPr lang="en-US" altLang="zh-CN" sz="3600" dirty="0"/>
              <a:t>		</a:t>
            </a:r>
          </a:p>
          <a:p>
            <a:pPr>
              <a:buNone/>
            </a:pPr>
            <a:r>
              <a:rPr lang="en-US" altLang="zh-CN" sz="3600" dirty="0"/>
              <a:t> 	         	164.45g   	74.55g</a:t>
            </a:r>
          </a:p>
          <a:p>
            <a:pPr>
              <a:buNone/>
            </a:pPr>
            <a:r>
              <a:rPr lang="en-US" sz="3600" dirty="0"/>
              <a:t>			y		100g</a:t>
            </a:r>
            <a:r>
              <a:rPr lang="en-MY" sz="3600" dirty="0"/>
              <a:t>	 	</a:t>
            </a:r>
            <a:endParaRPr lang="en-MY" sz="3600" dirty="0">
              <a:solidFill>
                <a:srgbClr val="C0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990600"/>
            <a:ext cx="928694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629400" y="1066800"/>
            <a:ext cx="1214446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508869" y="2438400"/>
            <a:ext cx="4053731" cy="915194"/>
            <a:chOff x="1214413" y="3513939"/>
            <a:chExt cx="6215107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ounded Rectangle 16"/>
          <p:cNvSpPr/>
          <p:nvPr/>
        </p:nvSpPr>
        <p:spPr>
          <a:xfrm>
            <a:off x="3886200" y="239077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981200" y="236220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886200" y="990600"/>
            <a:ext cx="1214446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886200" y="300037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2062154" y="297180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2133600" y="4981572"/>
            <a:ext cx="15192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962400" y="5029200"/>
            <a:ext cx="15192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5"/>
          <p:cNvGrpSpPr/>
          <p:nvPr/>
        </p:nvGrpSpPr>
        <p:grpSpPr>
          <a:xfrm>
            <a:off x="1432669" y="5029200"/>
            <a:ext cx="4358531" cy="915194"/>
            <a:chOff x="1214413" y="3513939"/>
            <a:chExt cx="6215107" cy="915194"/>
          </a:xfrm>
        </p:grpSpPr>
        <p:cxnSp>
          <p:nvCxnSpPr>
            <p:cNvPr id="25" name="Straight Arrow Connector 24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6781800" y="5130225"/>
            <a:ext cx="1928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y=221.93g</a:t>
            </a:r>
          </a:p>
        </p:txBody>
      </p:sp>
    </p:spTree>
    <p:extLst>
      <p:ext uri="{BB962C8B-B14F-4D97-AF65-F5344CB8AC3E}">
        <p14:creationId xmlns:p14="http://schemas.microsoft.com/office/powerpoint/2010/main" val="2663569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2" grpId="0" uiExpand="1" animBg="1"/>
      <p:bldP spid="14" grpId="0" uiExpand="1" animBg="1"/>
      <p:bldP spid="17" grpId="0" uiExpand="1" animBg="1"/>
      <p:bldP spid="18" grpId="0" uiExpand="1" animBg="1"/>
      <p:bldP spid="13" grpId="0" uiExpand="1" animBg="1"/>
      <p:bldP spid="20" grpId="0" animBg="1"/>
      <p:bldP spid="21" grpId="0" animBg="1"/>
      <p:bldP spid="22" grpId="0" animBg="1"/>
      <p:bldP spid="23" grpId="0" animBg="1"/>
      <p:bldP spid="27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76456" cy="6629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600" dirty="0"/>
              <a:t>7. </a:t>
            </a:r>
            <a:r>
              <a:rPr lang="zh-CN" altLang="en-US" sz="3600" dirty="0"/>
              <a:t>该题目，饱和溶液</a:t>
            </a:r>
            <a:r>
              <a:rPr lang="en-US" altLang="zh-CN" sz="3600" dirty="0"/>
              <a:t>95g</a:t>
            </a:r>
          </a:p>
          <a:p>
            <a:pPr>
              <a:buNone/>
            </a:pPr>
            <a:r>
              <a:rPr lang="en-US" altLang="zh-CN" sz="3600" dirty="0"/>
              <a:t>(a)  30</a:t>
            </a:r>
            <a:r>
              <a:rPr lang="zh-CN" altLang="en-US" sz="3600" dirty="0"/>
              <a:t>℃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      	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 	         	  x		25g</a:t>
            </a:r>
          </a:p>
          <a:p>
            <a:pPr>
              <a:buNone/>
            </a:pPr>
            <a:r>
              <a:rPr lang="en-US" altLang="zh-CN" sz="3600" dirty="0"/>
              <a:t>			  78g     	100g</a:t>
            </a:r>
          </a:p>
          <a:p>
            <a:pPr>
              <a:buNone/>
            </a:pPr>
            <a:r>
              <a:rPr lang="en-US" altLang="zh-CN" sz="3600" dirty="0"/>
              <a:t> (b) </a:t>
            </a:r>
            <a:r>
              <a:rPr lang="zh-CN" altLang="en-US" sz="3600" dirty="0"/>
              <a:t>蒸发后溶液质量</a:t>
            </a:r>
            <a:r>
              <a:rPr lang="en-US" altLang="zh-CN" sz="3600" dirty="0"/>
              <a:t>=95g-25g-19.5g=50.5g </a:t>
            </a:r>
          </a:p>
          <a:p>
            <a:pPr>
              <a:buNone/>
            </a:pPr>
            <a:r>
              <a:rPr lang="en-US" altLang="zh-CN" sz="3600" dirty="0"/>
              <a:t>30</a:t>
            </a:r>
            <a:r>
              <a:rPr lang="zh-CN" altLang="en-US" sz="3600" dirty="0"/>
              <a:t>℃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     	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  <a:r>
              <a:rPr lang="zh-CN" altLang="en-US" sz="3600" dirty="0"/>
              <a:t>溶液</a:t>
            </a:r>
            <a:endParaRPr lang="en-US" altLang="zh-CN" sz="3600" dirty="0"/>
          </a:p>
          <a:p>
            <a:pPr>
              <a:buNone/>
            </a:pPr>
            <a:r>
              <a:rPr lang="en-US" altLang="zh-CN" sz="3600" dirty="0"/>
              <a:t> 	         	   z   		  y		50.5g</a:t>
            </a:r>
          </a:p>
          <a:p>
            <a:pPr>
              <a:buNone/>
            </a:pPr>
            <a:r>
              <a:rPr lang="en-US" sz="3600" dirty="0"/>
              <a:t>			 78</a:t>
            </a:r>
            <a:r>
              <a:rPr lang="en-US" altLang="zh-CN" sz="3600" dirty="0"/>
              <a:t>g</a:t>
            </a:r>
            <a:r>
              <a:rPr lang="en-US" sz="3600" dirty="0"/>
              <a:t>		100g</a:t>
            </a:r>
            <a:r>
              <a:rPr lang="en-MY" sz="3600" dirty="0"/>
              <a:t>	 	178g</a:t>
            </a:r>
          </a:p>
          <a:p>
            <a:pPr>
              <a:buNone/>
            </a:pPr>
            <a:r>
              <a:rPr lang="en-MY" sz="3600" dirty="0">
                <a:solidFill>
                  <a:srgbClr val="C00000"/>
                </a:solidFill>
              </a:rPr>
              <a:t> 			</a:t>
            </a:r>
            <a:r>
              <a:rPr lang="en-MY" sz="3600" dirty="0"/>
              <a:t>z=22.13g		y=28.37g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676400"/>
            <a:ext cx="928694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810000" y="1676400"/>
            <a:ext cx="1214446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5"/>
          <p:cNvGrpSpPr/>
          <p:nvPr/>
        </p:nvGrpSpPr>
        <p:grpSpPr>
          <a:xfrm>
            <a:off x="1447800" y="1752600"/>
            <a:ext cx="4053731" cy="915194"/>
            <a:chOff x="1214413" y="3513939"/>
            <a:chExt cx="6215107" cy="915194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ounded Rectangle 16"/>
          <p:cNvSpPr/>
          <p:nvPr/>
        </p:nvSpPr>
        <p:spPr>
          <a:xfrm>
            <a:off x="1985954" y="2314572"/>
            <a:ext cx="1214446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419600" y="3000372"/>
            <a:ext cx="403860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890954" y="2314572"/>
            <a:ext cx="1214446" cy="4286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886200" y="434340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981200" y="4343400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638800" y="5029200"/>
            <a:ext cx="15192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5"/>
          <p:cNvGrpSpPr/>
          <p:nvPr/>
        </p:nvGrpSpPr>
        <p:grpSpPr>
          <a:xfrm>
            <a:off x="1600199" y="4419600"/>
            <a:ext cx="5410201" cy="915194"/>
            <a:chOff x="1214413" y="3513939"/>
            <a:chExt cx="6215107" cy="915194"/>
          </a:xfrm>
        </p:grpSpPr>
        <p:cxnSp>
          <p:nvCxnSpPr>
            <p:cNvPr id="25" name="Straight Arrow Connector 24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6096000" y="1676400"/>
            <a:ext cx="1600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x= 19.5g</a:t>
            </a:r>
          </a:p>
        </p:txBody>
      </p:sp>
    </p:spTree>
    <p:extLst>
      <p:ext uri="{BB962C8B-B14F-4D97-AF65-F5344CB8AC3E}">
        <p14:creationId xmlns:p14="http://schemas.microsoft.com/office/powerpoint/2010/main" val="11234227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4" grpId="0" animBg="1"/>
      <p:bldP spid="17" grpId="0" animBg="1"/>
      <p:bldP spid="18" grpId="0" animBg="1"/>
      <p:bldP spid="13" grpId="0" animBg="1"/>
      <p:bldP spid="20" grpId="0" animBg="1"/>
      <p:bldP spid="21" grpId="0" animBg="1"/>
      <p:bldP spid="23" grpId="0" animBg="1"/>
      <p:bldP spid="2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76456" cy="6629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600" dirty="0"/>
              <a:t>7. (b) </a:t>
            </a:r>
            <a:r>
              <a:rPr lang="zh-CN" altLang="en-US" sz="3600" dirty="0"/>
              <a:t>蒸发后</a:t>
            </a:r>
            <a:r>
              <a:rPr lang="en-US" altLang="zh-CN" sz="3600" dirty="0"/>
              <a:t>,</a:t>
            </a:r>
          </a:p>
          <a:p>
            <a:pPr>
              <a:buNone/>
            </a:pPr>
            <a:r>
              <a:rPr lang="en-US" altLang="zh-CN" sz="3600" dirty="0"/>
              <a:t>30</a:t>
            </a:r>
            <a:r>
              <a:rPr lang="en-US" altLang="zh-CN" sz="3600" baseline="30000" dirty="0"/>
              <a:t>o</a:t>
            </a:r>
            <a:r>
              <a:rPr lang="en-US" altLang="zh-CN" sz="3600" dirty="0"/>
              <a:t>C </a:t>
            </a:r>
            <a:r>
              <a:rPr lang="zh-CN" altLang="en-US" sz="3600" dirty="0"/>
              <a:t>溶液</a:t>
            </a:r>
            <a:r>
              <a:rPr lang="en-US" altLang="zh-CN" sz="3600" dirty="0"/>
              <a:t>50.5g</a:t>
            </a:r>
          </a:p>
          <a:p>
            <a:pPr>
              <a:buNone/>
            </a:pPr>
            <a:r>
              <a:rPr lang="en-US" altLang="zh-CN" sz="3600" dirty="0"/>
              <a:t>		</a:t>
            </a:r>
            <a:r>
              <a:rPr lang="zh-CN" altLang="en-US" sz="3600" dirty="0"/>
              <a:t>溶剂</a:t>
            </a:r>
            <a:r>
              <a:rPr lang="en-US" altLang="zh-CN" sz="3600" dirty="0"/>
              <a:t>=28.37g</a:t>
            </a:r>
          </a:p>
          <a:p>
            <a:pPr>
              <a:buNone/>
            </a:pPr>
            <a:r>
              <a:rPr lang="en-US" altLang="zh-CN" sz="3600" dirty="0"/>
              <a:t>		</a:t>
            </a:r>
            <a:r>
              <a:rPr lang="zh-CN" altLang="en-US" sz="3600" dirty="0"/>
              <a:t>溶质</a:t>
            </a:r>
            <a:r>
              <a:rPr lang="en-US" altLang="zh-CN" sz="3600" dirty="0"/>
              <a:t>=22.13g </a:t>
            </a:r>
          </a:p>
          <a:p>
            <a:pPr>
              <a:buNone/>
            </a:pPr>
            <a:r>
              <a:rPr lang="en-US" altLang="zh-CN" sz="3600" dirty="0"/>
              <a:t>10</a:t>
            </a:r>
            <a:r>
              <a:rPr lang="zh-CN" altLang="en-US" sz="3600" dirty="0"/>
              <a:t>℃ </a:t>
            </a:r>
            <a:r>
              <a:rPr lang="en-US" altLang="zh-CN" sz="3600" dirty="0"/>
              <a:t>	</a:t>
            </a:r>
            <a:r>
              <a:rPr lang="zh-CN" altLang="en-US" sz="3600" dirty="0"/>
              <a:t>溶质</a:t>
            </a:r>
            <a:r>
              <a:rPr lang="en-US" altLang="zh-CN" sz="3600" dirty="0"/>
              <a:t>      	</a:t>
            </a:r>
            <a:r>
              <a:rPr lang="zh-CN" altLang="en-US" sz="3600" dirty="0"/>
              <a:t>溶剂</a:t>
            </a:r>
            <a:r>
              <a:rPr lang="en-US" altLang="zh-CN" sz="3600" dirty="0"/>
              <a:t>	</a:t>
            </a:r>
          </a:p>
          <a:p>
            <a:pPr>
              <a:buNone/>
            </a:pPr>
            <a:r>
              <a:rPr lang="en-US" altLang="zh-CN" sz="3600" dirty="0"/>
              <a:t> 	         	   a   		  28.37g	</a:t>
            </a:r>
          </a:p>
          <a:p>
            <a:pPr>
              <a:buNone/>
            </a:pPr>
            <a:r>
              <a:rPr lang="en-US" sz="3600" dirty="0"/>
              <a:t>			 73</a:t>
            </a:r>
            <a:r>
              <a:rPr lang="en-US" altLang="zh-CN" sz="3600" dirty="0"/>
              <a:t>g</a:t>
            </a:r>
            <a:r>
              <a:rPr lang="en-US" sz="3600" dirty="0"/>
              <a:t>		100g</a:t>
            </a:r>
            <a:r>
              <a:rPr lang="en-MY" sz="3600" dirty="0"/>
              <a:t>	 	</a:t>
            </a:r>
            <a:r>
              <a:rPr lang="en-MY" sz="3600" dirty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MY" sz="3600" dirty="0">
                <a:solidFill>
                  <a:srgbClr val="C00000"/>
                </a:solidFill>
              </a:rPr>
              <a:t>			</a:t>
            </a:r>
            <a:r>
              <a:rPr lang="en-US" altLang="zh-CN" sz="3600" dirty="0"/>
              <a:t>a=20.71g</a:t>
            </a:r>
          </a:p>
          <a:p>
            <a:pPr>
              <a:buNone/>
            </a:pPr>
            <a:r>
              <a:rPr lang="zh-CN" altLang="en-US" sz="3600" dirty="0"/>
              <a:t>析出的晶体</a:t>
            </a:r>
            <a:r>
              <a:rPr lang="en-US" altLang="zh-CN" sz="3600" dirty="0"/>
              <a:t>=22.13g-20.71g</a:t>
            </a:r>
          </a:p>
          <a:p>
            <a:pPr>
              <a:buNone/>
            </a:pPr>
            <a:r>
              <a:rPr lang="en-US" sz="3600" dirty="0"/>
              <a:t>			     </a:t>
            </a:r>
            <a:r>
              <a:rPr lang="en-US" altLang="zh-CN" sz="3600" dirty="0"/>
              <a:t>= 1.42g</a:t>
            </a:r>
            <a:endParaRPr lang="en-MY" sz="3600" dirty="0"/>
          </a:p>
        </p:txBody>
      </p:sp>
      <p:sp>
        <p:nvSpPr>
          <p:cNvPr id="20" name="Rounded Rectangle 19"/>
          <p:cNvSpPr/>
          <p:nvPr/>
        </p:nvSpPr>
        <p:spPr>
          <a:xfrm>
            <a:off x="4114800" y="3657600"/>
            <a:ext cx="1371600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2209800" y="3686172"/>
            <a:ext cx="1214446" cy="4286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5"/>
          <p:cNvGrpSpPr/>
          <p:nvPr/>
        </p:nvGrpSpPr>
        <p:grpSpPr>
          <a:xfrm>
            <a:off x="1752600" y="3733006"/>
            <a:ext cx="3886201" cy="915194"/>
            <a:chOff x="1214413" y="3513939"/>
            <a:chExt cx="6215107" cy="915194"/>
          </a:xfrm>
        </p:grpSpPr>
        <p:cxnSp>
          <p:nvCxnSpPr>
            <p:cNvPr id="25" name="Straight Arrow Connector 24"/>
            <p:cNvCxnSpPr/>
            <p:nvPr/>
          </p:nvCxnSpPr>
          <p:spPr>
            <a:xfrm rot="5400000">
              <a:off x="757199" y="3971153"/>
              <a:ext cx="915194" cy="7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>
              <a:off x="7009655" y="3937829"/>
              <a:ext cx="838200" cy="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82357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uiExpand="1" animBg="1"/>
      <p:bldP spid="21" grpId="0" uiExpand="1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pPr marL="514350" indent="-514350">
              <a:buNone/>
            </a:pPr>
            <a:r>
              <a:rPr lang="en-US" altLang="zh-CN" dirty="0"/>
              <a:t>8. 	m</a:t>
            </a:r>
            <a:r>
              <a:rPr lang="zh-CN" altLang="en-US" baseline="-25000" dirty="0"/>
              <a:t>质</a:t>
            </a:r>
            <a:r>
              <a:rPr lang="zh-CN" altLang="en-US" dirty="0"/>
              <a:t> </a:t>
            </a:r>
            <a:r>
              <a:rPr lang="en-US" altLang="zh-CN" dirty="0"/>
              <a:t>= 6.53g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zh-CN" altLang="en-US" dirty="0"/>
              <a:t>质量百分比浓度</a:t>
            </a:r>
            <a:r>
              <a:rPr lang="en-US" altLang="zh-CN" dirty="0"/>
              <a:t>=18.04%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en-US" altLang="zh-CN" dirty="0"/>
              <a:t>C</a:t>
            </a:r>
            <a:r>
              <a:rPr lang="en-US" altLang="zh-CN" baseline="-25000" dirty="0"/>
              <a:t>M</a:t>
            </a:r>
            <a:r>
              <a:rPr lang="en-US" altLang="zh-CN" dirty="0"/>
              <a:t> =1.36M</a:t>
            </a:r>
          </a:p>
          <a:p>
            <a:pPr marL="514350" indent="-514350">
              <a:buNone/>
            </a:pPr>
            <a:r>
              <a:rPr lang="en-US" dirty="0"/>
              <a:t>	</a:t>
            </a:r>
            <a:r>
              <a:rPr lang="zh-CN" altLang="en-US" dirty="0"/>
              <a:t>该温度下的溶解度</a:t>
            </a:r>
            <a:r>
              <a:rPr lang="en-US" altLang="zh-CN" dirty="0"/>
              <a:t>22.01g/100g</a:t>
            </a:r>
            <a:r>
              <a:rPr lang="zh-CN" altLang="en-US" dirty="0"/>
              <a:t>水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10. </a:t>
            </a:r>
            <a:endParaRPr lang="en-US" dirty="0"/>
          </a:p>
        </p:txBody>
      </p:sp>
      <p:pic>
        <p:nvPicPr>
          <p:cNvPr id="4" name="Content Placeholder 3" descr="IMG_20170509_065949.jpg"/>
          <p:cNvPicPr>
            <a:picLocks noChangeAspect="1"/>
          </p:cNvPicPr>
          <p:nvPr/>
        </p:nvPicPr>
        <p:blipFill>
          <a:blip r:embed="rId3" cstate="print"/>
          <a:srcRect l="10897" t="10577" r="41034" b="19231"/>
          <a:stretch>
            <a:fillRect/>
          </a:stretch>
        </p:blipFill>
        <p:spPr>
          <a:xfrm rot="16200000">
            <a:off x="2705622" y="1332978"/>
            <a:ext cx="3808957" cy="678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8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11.(1) 30</a:t>
            </a:r>
            <a:r>
              <a:rPr lang="zh-CN" altLang="en-US" dirty="0"/>
              <a:t>℃ 时饱和浓度</a:t>
            </a:r>
            <a:r>
              <a:rPr lang="en-US" altLang="zh-CN" dirty="0"/>
              <a:t>=20%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即</a:t>
            </a:r>
            <a:r>
              <a:rPr lang="en-US" altLang="zh-CN" dirty="0"/>
              <a:t>100g</a:t>
            </a:r>
            <a:r>
              <a:rPr lang="zh-CN" altLang="en-US" dirty="0"/>
              <a:t>溶液中含有</a:t>
            </a:r>
            <a:r>
              <a:rPr lang="en-US" altLang="zh-CN" dirty="0"/>
              <a:t>20g</a:t>
            </a:r>
            <a:r>
              <a:rPr lang="zh-CN" altLang="en-US" dirty="0"/>
              <a:t>溶质，</a:t>
            </a:r>
            <a:r>
              <a:rPr lang="en-US" altLang="zh-CN" dirty="0"/>
              <a:t>80g</a:t>
            </a:r>
            <a:r>
              <a:rPr lang="zh-CN" altLang="en-US" dirty="0"/>
              <a:t>溶剂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30</a:t>
            </a:r>
            <a:r>
              <a:rPr lang="zh-CN" altLang="en-US" dirty="0"/>
              <a:t>℃溶解度 </a:t>
            </a:r>
            <a:r>
              <a:rPr lang="en-US" altLang="zh-CN" dirty="0"/>
              <a:t>= 	   x 100g</a:t>
            </a:r>
          </a:p>
          <a:p>
            <a:pPr>
              <a:spcBef>
                <a:spcPts val="0"/>
              </a:spcBef>
              <a:buNone/>
            </a:pPr>
            <a:endParaRPr lang="en-US" altLang="zh-CN" sz="1200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			   = 25g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30</a:t>
            </a:r>
            <a:r>
              <a:rPr lang="zh-CN" altLang="en-US" dirty="0"/>
              <a:t>℃溶解度</a:t>
            </a:r>
            <a:r>
              <a:rPr lang="en-US" altLang="zh-CN" dirty="0"/>
              <a:t>25g/100g</a:t>
            </a:r>
            <a:r>
              <a:rPr lang="zh-CN" altLang="en-US" dirty="0"/>
              <a:t>水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(2)</a:t>
            </a:r>
            <a:r>
              <a:rPr lang="zh-CN" altLang="en-US" dirty="0"/>
              <a:t>原溶液</a:t>
            </a:r>
            <a:r>
              <a:rPr lang="en-US" altLang="zh-CN" dirty="0"/>
              <a:t>100g</a:t>
            </a:r>
            <a:r>
              <a:rPr lang="zh-CN" altLang="en-US" dirty="0"/>
              <a:t>，析出</a:t>
            </a:r>
            <a:r>
              <a:rPr lang="en-US" altLang="zh-CN" dirty="0"/>
              <a:t>10g</a:t>
            </a:r>
            <a:r>
              <a:rPr lang="zh-CN" altLang="en-US" dirty="0"/>
              <a:t>晶体后溶液</a:t>
            </a:r>
            <a:r>
              <a:rPr lang="en-US" altLang="zh-CN" dirty="0"/>
              <a:t>90g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30 </a:t>
            </a:r>
            <a:r>
              <a:rPr lang="zh-CN" altLang="en-US" dirty="0"/>
              <a:t>℃ </a:t>
            </a:r>
            <a:r>
              <a:rPr lang="en-US" altLang="zh-CN" dirty="0"/>
              <a:t>	</a:t>
            </a:r>
            <a:r>
              <a:rPr lang="zh-CN" altLang="en-US" dirty="0"/>
              <a:t>溶质</a:t>
            </a:r>
            <a:r>
              <a:rPr lang="en-US" altLang="zh-CN" dirty="0"/>
              <a:t>	       	</a:t>
            </a:r>
            <a:r>
              <a:rPr lang="zh-CN" altLang="en-US" dirty="0"/>
              <a:t>溶剂</a:t>
            </a:r>
            <a:r>
              <a:rPr lang="en-US" altLang="zh-CN" dirty="0"/>
              <a:t>		</a:t>
            </a:r>
            <a:r>
              <a:rPr lang="zh-CN" altLang="en-US" dirty="0"/>
              <a:t>溶液</a:t>
            </a:r>
            <a:r>
              <a:rPr lang="en-US" altLang="zh-CN" dirty="0"/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/>
              <a:t> 	       	x	     	90-x		90</a:t>
            </a:r>
            <a:endParaRPr lang="zh-CN" altLang="en-US" dirty="0"/>
          </a:p>
          <a:p>
            <a:pPr>
              <a:spcBef>
                <a:spcPts val="0"/>
              </a:spcBef>
              <a:buNone/>
            </a:pPr>
            <a:r>
              <a:rPr lang="en-MY" dirty="0"/>
              <a:t>		    	</a:t>
            </a:r>
            <a:r>
              <a:rPr lang="en-US" altLang="zh-CN" dirty="0"/>
              <a:t>25</a:t>
            </a:r>
            <a:r>
              <a:rPr lang="en-MY" dirty="0"/>
              <a:t>	  	100</a:t>
            </a:r>
          </a:p>
          <a:p>
            <a:pPr>
              <a:spcBef>
                <a:spcPts val="0"/>
              </a:spcBef>
              <a:buNone/>
            </a:pPr>
            <a:r>
              <a:rPr lang="en-MY" dirty="0"/>
              <a:t>				x= 18</a:t>
            </a:r>
          </a:p>
          <a:p>
            <a:pPr>
              <a:spcBef>
                <a:spcPts val="0"/>
              </a:spcBef>
              <a:buNone/>
            </a:pPr>
            <a:r>
              <a:rPr lang="en-MY" altLang="zh-CN" dirty="0"/>
              <a:t>60</a:t>
            </a:r>
            <a:r>
              <a:rPr lang="en-MY" altLang="zh-CN" baseline="30000" dirty="0"/>
              <a:t> </a:t>
            </a:r>
            <a:r>
              <a:rPr lang="zh-CN" altLang="en-US" dirty="0"/>
              <a:t>℃</a:t>
            </a:r>
            <a:r>
              <a:rPr lang="en-US" altLang="zh-CN" dirty="0"/>
              <a:t>	</a:t>
            </a:r>
            <a:r>
              <a:rPr lang="zh-CN" altLang="en-US" dirty="0"/>
              <a:t>时，溶液</a:t>
            </a:r>
            <a:r>
              <a:rPr lang="en-US" altLang="zh-CN" dirty="0"/>
              <a:t>100g</a:t>
            </a:r>
            <a:r>
              <a:rPr lang="zh-CN" altLang="en-US" dirty="0"/>
              <a:t>，溶质</a:t>
            </a:r>
            <a:r>
              <a:rPr lang="en-US" altLang="zh-CN" dirty="0"/>
              <a:t>28g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/>
              <a:t>则质量百分比浓度</a:t>
            </a:r>
            <a:r>
              <a:rPr lang="en-US" altLang="zh-CN" dirty="0"/>
              <a:t>=28%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009900" y="1371600"/>
          <a:ext cx="5715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393480" progId="Equation.3">
                  <p:embed/>
                </p:oleObj>
              </mc:Choice>
              <mc:Fallback>
                <p:oleObj name="Equation" r:id="rId3" imgW="228600" imgH="3934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1371600"/>
                        <a:ext cx="57150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37353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dirty="0"/>
              <a:t>12. </a:t>
            </a:r>
          </a:p>
        </p:txBody>
      </p:sp>
      <p:pic>
        <p:nvPicPr>
          <p:cNvPr id="6" name="Content Placeholder 3" descr="IMG_20170509_070004.jpg"/>
          <p:cNvPicPr>
            <a:picLocks noChangeAspect="1"/>
          </p:cNvPicPr>
          <p:nvPr/>
        </p:nvPicPr>
        <p:blipFill>
          <a:blip r:embed="rId3" cstate="print"/>
          <a:srcRect t="18868" r="36016" b="12264"/>
          <a:stretch>
            <a:fillRect/>
          </a:stretch>
        </p:blipFill>
        <p:spPr>
          <a:xfrm rot="16200000">
            <a:off x="2019031" y="-266969"/>
            <a:ext cx="5563137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18718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dirty="0"/>
              <a:t>12. </a:t>
            </a:r>
          </a:p>
        </p:txBody>
      </p:sp>
      <p:pic>
        <p:nvPicPr>
          <p:cNvPr id="7" name="Content Placeholder 3" descr="IMG_20170509_070013.jpg"/>
          <p:cNvPicPr>
            <a:picLocks noChangeAspect="1"/>
          </p:cNvPicPr>
          <p:nvPr/>
        </p:nvPicPr>
        <p:blipFill>
          <a:blip r:embed="rId3" cstate="print"/>
          <a:srcRect l="44708" t="14686" b="17961"/>
          <a:stretch>
            <a:fillRect/>
          </a:stretch>
        </p:blipFill>
        <p:spPr>
          <a:xfrm rot="16200000">
            <a:off x="1943100" y="-419101"/>
            <a:ext cx="541020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77338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第16章 溶液\Picture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938" y="-7938"/>
            <a:ext cx="9161463" cy="687546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dirty="0"/>
              <a:t>13. </a:t>
            </a:r>
            <a:r>
              <a:rPr lang="zh-CN" altLang="en-US" dirty="0"/>
              <a:t>设碳酸钠溶液浓度 </a:t>
            </a:r>
            <a:r>
              <a:rPr lang="en-US" altLang="zh-CN" dirty="0" err="1"/>
              <a:t>xmol</a:t>
            </a:r>
            <a:r>
              <a:rPr lang="en-US" altLang="zh-CN" dirty="0"/>
              <a:t>/L </a:t>
            </a:r>
          </a:p>
          <a:p>
            <a:pPr marL="514350" indent="-514350">
              <a:buNone/>
            </a:pPr>
            <a:r>
              <a:rPr lang="en-US" altLang="zh-CN" sz="2800" dirty="0"/>
              <a:t>Ca(OH)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Na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 CaCO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/>
              <a:t> (s)</a:t>
            </a:r>
            <a:r>
              <a:rPr lang="en-US" altLang="zh-CN" sz="2800" dirty="0">
                <a:sym typeface="Wingdings" pitchFamily="2" charset="2"/>
              </a:rPr>
              <a:t> + 2NaOH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		  </a:t>
            </a:r>
            <a:r>
              <a:rPr lang="en-US" altLang="zh-CN" dirty="0" err="1">
                <a:sym typeface="Wingdings" pitchFamily="2" charset="2"/>
              </a:rPr>
              <a:t>xM</a:t>
            </a:r>
            <a:r>
              <a:rPr lang="en-US" altLang="zh-CN" dirty="0">
                <a:sym typeface="Wingdings" pitchFamily="2" charset="2"/>
              </a:rPr>
              <a:t>(0.5L)		20g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		  1mol		100g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			x= 0.4(mol/L)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14. 180.47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15. 2.326kPa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16. 9.172kPa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17. 0.51</a:t>
            </a:r>
            <a:r>
              <a:rPr lang="en-US" altLang="zh-CN" baseline="30000" dirty="0">
                <a:sym typeface="Wingdings" pitchFamily="2" charset="2"/>
              </a:rPr>
              <a:t>o</a:t>
            </a:r>
            <a:r>
              <a:rPr lang="en-US" altLang="zh-CN" dirty="0">
                <a:sym typeface="Wingdings" pitchFamily="2" charset="2"/>
              </a:rPr>
              <a:t>Ckgmol</a:t>
            </a:r>
            <a:r>
              <a:rPr lang="en-US" altLang="zh-CN" baseline="30000" dirty="0">
                <a:sym typeface="Wingdings" pitchFamily="2" charset="2"/>
              </a:rPr>
              <a:t>-1</a:t>
            </a:r>
            <a:endParaRPr lang="en-US" altLang="zh-C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A22732-2EC9-11D5-21A4-8D98BCFE7D56}"/>
              </a:ext>
            </a:extLst>
          </p:cNvPr>
          <p:cNvGrpSpPr/>
          <p:nvPr/>
        </p:nvGrpSpPr>
        <p:grpSpPr>
          <a:xfrm>
            <a:off x="2290762" y="1556792"/>
            <a:ext cx="3867126" cy="915194"/>
            <a:chOff x="2290762" y="1556792"/>
            <a:chExt cx="3867126" cy="915194"/>
          </a:xfrm>
        </p:grpSpPr>
        <p:cxnSp>
          <p:nvCxnSpPr>
            <p:cNvPr id="8" name="Straight Arrow Connector 7"/>
            <p:cNvCxnSpPr/>
            <p:nvPr/>
          </p:nvCxnSpPr>
          <p:spPr>
            <a:xfrm rot="5400000">
              <a:off x="1833593" y="2013961"/>
              <a:ext cx="915194" cy="8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rot="5400000">
              <a:off x="5737932" y="1975036"/>
              <a:ext cx="838200" cy="17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094912" y="1709192"/>
              <a:ext cx="903428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4094914" y="1709192"/>
              <a:ext cx="903428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878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8053</Words>
  <Application>Microsoft Office PowerPoint</Application>
  <PresentationFormat>On-screen Show (4:3)</PresentationFormat>
  <Paragraphs>1256</Paragraphs>
  <Slides>115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1" baseType="lpstr">
      <vt:lpstr>宋体</vt:lpstr>
      <vt:lpstr>Arial</vt:lpstr>
      <vt:lpstr>Calibri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18.3 不饱和溶液 饱和溶液过饱和溶液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第18章</vt:lpstr>
      <vt:lpstr>选择题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Low Yi Heng</cp:lastModifiedBy>
  <cp:revision>101</cp:revision>
  <dcterms:created xsi:type="dcterms:W3CDTF">2016-03-14T04:09:05Z</dcterms:created>
  <dcterms:modified xsi:type="dcterms:W3CDTF">2024-04-13T12:22:00Z</dcterms:modified>
</cp:coreProperties>
</file>