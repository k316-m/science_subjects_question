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5"/>
  </p:notesMasterIdLst>
  <p:sldIdLst>
    <p:sldId id="352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9" r:id="rId14"/>
    <p:sldId id="364" r:id="rId15"/>
    <p:sldId id="365" r:id="rId16"/>
    <p:sldId id="366" r:id="rId17"/>
    <p:sldId id="367" r:id="rId18"/>
    <p:sldId id="368" r:id="rId19"/>
    <p:sldId id="370" r:id="rId20"/>
    <p:sldId id="371" r:id="rId21"/>
    <p:sldId id="372" r:id="rId22"/>
    <p:sldId id="373" r:id="rId23"/>
    <p:sldId id="37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882" autoAdjust="0"/>
    <p:restoredTop sz="92185" autoAdjust="0"/>
  </p:normalViewPr>
  <p:slideViewPr>
    <p:cSldViewPr>
      <p:cViewPr>
        <p:scale>
          <a:sx n="66" d="100"/>
          <a:sy n="66" d="100"/>
        </p:scale>
        <p:origin x="-720" y="-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99D6-FAC0-47F2-855B-7AEF8E760288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37C18-B1B0-4EAB-B49A-503C0EF2392F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32483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37B0351-9886-40CC-823D-279C442E472B}" type="datetimeFigureOut">
              <a:rPr lang="en-MY" smtClean="0"/>
              <a:pPr/>
              <a:t>27/11/2018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66950A9-A0FE-4B4E-9B82-5258CFF84F3F}" type="slidenum">
              <a:rPr lang="en-MY" smtClean="0"/>
              <a:pPr/>
              <a:t>‹#›</a:t>
            </a:fld>
            <a:endParaRPr lang="en-MY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52400" y="0"/>
            <a:ext cx="9296400" cy="69723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4114800"/>
          </a:xfrm>
        </p:spPr>
        <p:txBody>
          <a:bodyPr>
            <a:normAutofit/>
          </a:bodyPr>
          <a:lstStyle/>
          <a:p>
            <a:r>
              <a:rPr lang="zh-CN" altLang="en-US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第</a:t>
            </a:r>
            <a:r>
              <a:rPr lang="en-US" altLang="zh-CN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12</a:t>
            </a:r>
            <a:r>
              <a:rPr lang="zh-CN" altLang="en-US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章</a:t>
            </a:r>
            <a:r>
              <a:rPr lang="en-US" altLang="zh-CN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/>
            </a:r>
            <a:br>
              <a:rPr lang="en-US" altLang="zh-CN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</a:br>
            <a:r>
              <a:rPr lang="en-US" altLang="zh-CN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IVA</a:t>
            </a:r>
            <a:r>
              <a:rPr lang="zh-CN" altLang="en-US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族元素</a:t>
            </a:r>
            <a:r>
              <a:rPr lang="en-US" altLang="zh-CN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/>
            </a:r>
            <a:br>
              <a:rPr lang="en-US" altLang="zh-CN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</a:br>
            <a:r>
              <a:rPr lang="zh-CN" altLang="en-US" sz="6000" dirty="0" smtClean="0">
                <a:solidFill>
                  <a:schemeClr val="accent5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碳和硅</a:t>
            </a:r>
            <a:endParaRPr lang="en-US" sz="6000" b="1" dirty="0">
              <a:solidFill>
                <a:schemeClr val="accent5">
                  <a:lumMod val="5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交流分享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pg268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碳的化学性质稳定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问题解决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pg269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随着原子序数的递增，原子半径增大，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失去电子的能力增强，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金属性递增，非金属性递减。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交流分享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pg269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甲同学正确。它们都是由碳元素构成，但原子排列方式不同。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交流分享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pg270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甲同学正确。金刚石和石墨是两种物质。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问题解决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pg272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明矾在水中解离出的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Al</a:t>
            </a:r>
            <a:r>
              <a:rPr lang="en-US" altLang="zh-CN" sz="3200" b="1" baseline="30000" dirty="0" smtClean="0">
                <a:solidFill>
                  <a:schemeClr val="bg1"/>
                </a:solidFill>
              </a:rPr>
              <a:t>3+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和水反应生成的氢氧化铝胶体有强吸附性，能吸附水中的悬浮物，并形成沉淀，使水变澄清。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活性炭的表面积很大，有强吸附能力，可以吸附水中的异味。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问题解决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pg273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 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CO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 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思考题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12a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1. D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2. D 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3. C 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4.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金刚石；石墨；焦炭；活性炭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86000" y="1371600"/>
            <a:ext cx="914400" cy="0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743200" y="1981200"/>
            <a:ext cx="914400" cy="0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观察思考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pg275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活动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1</a:t>
            </a: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现象：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产生蓝色火焰；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烧杯中的石灰水变浑浊。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2CO+ 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点燃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2CO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Ca(OH)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</a:t>
            </a: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14600" y="3124200"/>
            <a:ext cx="914400" cy="0"/>
          </a:xfrm>
          <a:prstGeom prst="straightConnector1">
            <a:avLst/>
          </a:prstGeom>
          <a:ln w="158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4582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活动探究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1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pg277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活动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2</a:t>
            </a: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现象：产生气泡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反应式：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+ 2 </a:t>
            </a:r>
            <a:r>
              <a:rPr lang="en-US" altLang="zh-CN" sz="3000" b="1" dirty="0" err="1" smtClean="0">
                <a:solidFill>
                  <a:schemeClr val="bg1"/>
                </a:solidFill>
              </a:rPr>
              <a:t>HCl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CaCl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 + 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活动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3</a:t>
            </a: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现象：溶液变成红色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  &lt;--&gt;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活动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4</a:t>
            </a: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现象：石灰水先变浑浊，后变澄清</a:t>
            </a:r>
            <a:endParaRPr lang="en-US" altLang="zh-CN" sz="3000" b="1" baseline="-25000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Ca(OH)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</a:t>
            </a:r>
            <a:r>
              <a:rPr lang="zh-CN" altLang="en-US" sz="3000" b="1" dirty="0" smtClean="0">
                <a:solidFill>
                  <a:schemeClr val="bg1"/>
                </a:solidFill>
              </a:rPr>
              <a:t>  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</a:t>
            </a: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 + 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 Ca(HCO</a:t>
            </a:r>
            <a:r>
              <a:rPr lang="en-US" altLang="zh-CN" sz="3000" b="1" baseline="-25000" dirty="0" smtClean="0">
                <a:solidFill>
                  <a:schemeClr val="bg1"/>
                </a:solidFill>
                <a:sym typeface="Wingdings" pitchFamily="2" charset="2"/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)</a:t>
            </a:r>
            <a:r>
              <a:rPr lang="en-US" altLang="zh-CN" sz="30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458200" cy="6400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活动探究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2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pg278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活动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5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现象：通入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000" b="1" dirty="0" smtClean="0">
                <a:solidFill>
                  <a:schemeClr val="bg1"/>
                </a:solidFill>
              </a:rPr>
              <a:t>后溶液变红，加热后溶液恢复至原来的紫色。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  &lt;--&gt;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		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2286000" y="4722812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 bwMode="auto">
          <a:xfrm>
            <a:off x="2590800" y="4570412"/>
            <a:ext cx="2286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458200" cy="6400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感知生活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pg279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自来水是硬水，水中含有可溶于水的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Ca(HCO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000" b="1" dirty="0" smtClean="0">
                <a:solidFill>
                  <a:schemeClr val="bg1"/>
                </a:solidFill>
              </a:rPr>
              <a:t>，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Mg(HCO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zh-CN" altLang="en-US" sz="3000" b="1" baseline="-25000" dirty="0" smtClean="0">
                <a:solidFill>
                  <a:schemeClr val="bg1"/>
                </a:solidFill>
              </a:rPr>
              <a:t> </a:t>
            </a:r>
            <a:r>
              <a:rPr lang="zh-CN" altLang="en-US" sz="3000" b="1" dirty="0" smtClean="0">
                <a:solidFill>
                  <a:schemeClr val="bg1"/>
                </a:solidFill>
              </a:rPr>
              <a:t> ， 加热分解生成难溶于水的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000" b="1" dirty="0" smtClean="0">
                <a:solidFill>
                  <a:schemeClr val="bg1"/>
                </a:solidFill>
              </a:rPr>
              <a:t>，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MgCO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000" b="1" dirty="0" smtClean="0">
                <a:solidFill>
                  <a:schemeClr val="bg1"/>
                </a:solidFill>
              </a:rPr>
              <a:t>等物质，导致内壁出现水垢。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Ca(HCO</a:t>
            </a:r>
            <a:r>
              <a:rPr lang="en-US" altLang="zh-CN" sz="3000" b="1" baseline="-25000" dirty="0" smtClean="0">
                <a:solidFill>
                  <a:schemeClr val="bg1"/>
                </a:solidFill>
                <a:sym typeface="Wingdings" pitchFamily="2" charset="2"/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)</a:t>
            </a:r>
            <a:r>
              <a:rPr lang="en-US" altLang="zh-CN" sz="30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	   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Mg(HCO</a:t>
            </a:r>
            <a:r>
              <a:rPr lang="en-US" altLang="zh-CN" sz="3000" b="1" baseline="-25000" dirty="0" smtClean="0">
                <a:solidFill>
                  <a:schemeClr val="bg1"/>
                </a:solidFill>
                <a:sym typeface="Wingdings" pitchFamily="2" charset="2"/>
              </a:rPr>
              <a:t>3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)</a:t>
            </a:r>
            <a:r>
              <a:rPr lang="en-US" altLang="zh-CN" sz="30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  <a:sym typeface="Wingdings" pitchFamily="2" charset="2"/>
              </a:rPr>
              <a:t>	    Mg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3 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CO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 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2743200" y="38100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 bwMode="auto">
          <a:xfrm>
            <a:off x="3048000" y="3657600"/>
            <a:ext cx="2286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2819400" y="4646612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 bwMode="auto">
          <a:xfrm>
            <a:off x="3124200" y="4494212"/>
            <a:ext cx="2286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思考题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12b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1. D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2. A</a:t>
            </a: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感知生活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pg284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高温下，碳能将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还原为粗硅。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+ 2C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 Si + 2CO</a:t>
            </a: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  <a:sym typeface="Wingdings" pitchFamily="2" charset="2"/>
              </a:rPr>
              <a:t>粗硅在经过精炼制成高纯度的硅。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交流分享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pg286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可制成传输信息的光导纤维，构成了发达的信息高速公路。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Si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是良好的半导体，是电子工业的重要材料。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感知生活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pg286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err="1" smtClean="0">
                <a:solidFill>
                  <a:schemeClr val="bg1"/>
                </a:solidFill>
              </a:rPr>
              <a:t>NaOH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溶液会跟玻璃中的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反应生成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，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具有黏性，会使瓶口与玻璃瓶黏在一起。可改用橡皮塞，就可以避免这种情况。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问题解决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pg287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是分子晶体，分子间是容易被破坏的范德华力，熔点沸点低，常温下是气态。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是原子晶体，原子间以强烈的共价键相连接，熔点沸点高，常温下是固态。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感知生活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pg289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住：水泥砖、瓷砖、钢筋水泥建筑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用：陶瓷碗碟、玻璃杯、眼镜片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如何证明碳的非金属性强于硅？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1: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电负性大，非金属性强。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电负性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2.5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，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电负性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1.8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	HF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</a:t>
            </a:r>
            <a:r>
              <a:rPr lang="en-US" altLang="zh-CN" sz="3200" b="1" dirty="0" err="1" smtClean="0">
                <a:solidFill>
                  <a:schemeClr val="bg1"/>
                </a:solidFill>
              </a:rPr>
              <a:t>HCl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</a:t>
            </a:r>
            <a:r>
              <a:rPr lang="en-US" altLang="zh-CN" sz="3200" b="1" dirty="0" err="1" smtClean="0">
                <a:solidFill>
                  <a:schemeClr val="bg1"/>
                </a:solidFill>
              </a:rPr>
              <a:t>HBr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HI</a:t>
            </a: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该元素越容易与氢元素化合，产生的氢化物越稳定，则其非金属性越强。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4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与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4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何者较稳定？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3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HNO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PO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4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该元素的含氧酸酸性越强，其非金属性越强。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zh-CN" altLang="en-US" sz="3200" b="1" baseline="-25000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何者酸性强？</a:t>
            </a: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思考题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12c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1.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高；大；金刚石；弱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2. D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3.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水玻璃与空气中的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反应生成硅酸沉淀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选择题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1. 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2. 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3. D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4. D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5. B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6. C</a:t>
            </a: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选择题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7. A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食盐：离子晶体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干冰：分子晶体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C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铁：金属晶体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石灰石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：离子晶体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D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玻璃：非晶体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大理石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：离子晶体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选择题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8. B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9.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氢氟酸与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热浓氢氧化钠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10. D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11. B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12. B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13. A 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难溶于水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B 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与硫酸反应后生成物亦是沉淀物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 </a:t>
            </a:r>
            <a:r>
              <a:rPr lang="zh-CN" altLang="en-US" sz="3200" b="1" dirty="0" smtClean="0">
                <a:solidFill>
                  <a:schemeClr val="bg1"/>
                </a:solidFill>
                <a:sym typeface="Wingdings" pitchFamily="2" charset="2"/>
              </a:rPr>
              <a:t>酒精灯不够高温，不能使碳酸钙分解。</a:t>
            </a:r>
            <a:endParaRPr lang="en-US" altLang="zh-CN" sz="3200" b="1" dirty="0" smtClean="0">
              <a:solidFill>
                <a:schemeClr val="bg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altLang="zh-CN" sz="3200" b="1" dirty="0" err="1" smtClean="0">
                <a:solidFill>
                  <a:schemeClr val="bg1"/>
                </a:solidFill>
              </a:rPr>
              <a:t>Ans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D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 2HCl 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CaCl</a:t>
            </a:r>
            <a:r>
              <a:rPr lang="en-US" altLang="zh-CN" sz="32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 + H</a:t>
            </a:r>
            <a:r>
              <a:rPr lang="en-US" altLang="zh-CN" sz="32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O + CO</a:t>
            </a:r>
            <a:r>
              <a:rPr lang="en-US" altLang="zh-CN" sz="32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 </a:t>
            </a: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5216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作答题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2.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减少燃烧化石燃料、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处理汽车或工厂排放的尾气、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植树造林。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3. (1)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镁能将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baseline="-25000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中的碳置换出来。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2Mg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  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点燃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2 </a:t>
            </a:r>
            <a:r>
              <a:rPr lang="en-US" altLang="zh-CN" sz="3200" b="1" dirty="0" err="1" smtClean="0">
                <a:solidFill>
                  <a:schemeClr val="bg1"/>
                </a:solidFill>
              </a:rPr>
              <a:t>MgO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(2)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石灰石与溶于水的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反应生成可溶于水的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Ca(HCO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。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Ca(HCO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受热时分解转化回碳酸钙。由于这两个反应不断地反复发生，导致碳酸钙从一个地方转移到另一个地方。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Ca(HCO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Ca(HCO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	         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3276600" y="32766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 bwMode="auto">
          <a:xfrm>
            <a:off x="3200400" y="59436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 bwMode="auto">
          <a:xfrm>
            <a:off x="3505200" y="5791200"/>
            <a:ext cx="2286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作答题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4.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石灰乳与空气中的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baseline="-25000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反应生成坚硬的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固体。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Ca(OH)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5. (2) 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Ca(HCO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Ca(HCO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	  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</a:p>
          <a:p>
            <a:pPr>
              <a:buNone/>
            </a:pP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	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 	    </a:t>
            </a:r>
            <a:r>
              <a:rPr lang="en-US" altLang="zh-CN" sz="3200" b="1" dirty="0" err="1" smtClean="0">
                <a:solidFill>
                  <a:schemeClr val="bg1"/>
                </a:solidFill>
              </a:rPr>
              <a:t>CaO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</a:t>
            </a:r>
            <a:r>
              <a:rPr lang="en-US" altLang="zh-CN" sz="3200" b="1" dirty="0" err="1" smtClean="0">
                <a:solidFill>
                  <a:schemeClr val="bg1"/>
                </a:solidFill>
              </a:rPr>
              <a:t>CaO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+ 3C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CaC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CO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CaC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+ 2H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C</a:t>
            </a:r>
            <a:r>
              <a:rPr lang="en-US" altLang="zh-CN" sz="32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H</a:t>
            </a:r>
            <a:r>
              <a:rPr lang="en-US" altLang="zh-CN" sz="3200" b="1" baseline="-25000" dirty="0" smtClean="0">
                <a:solidFill>
                  <a:schemeClr val="bg1"/>
                </a:solidFill>
                <a:sym typeface="Wingdings" pitchFamily="2" charset="2"/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 +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Ca(OH)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3200400" y="3579812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 bwMode="auto">
          <a:xfrm>
            <a:off x="3505200" y="3427412"/>
            <a:ext cx="2286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2514600" y="41148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 bwMode="auto">
          <a:xfrm>
            <a:off x="2819400" y="3962400"/>
            <a:ext cx="2286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2743200" y="4799012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6106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作答题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7. </a:t>
            </a:r>
            <a:r>
              <a:rPr lang="en-US" altLang="zh-CN" sz="3000" b="1" dirty="0" err="1" smtClean="0">
                <a:solidFill>
                  <a:schemeClr val="bg1"/>
                </a:solidFill>
              </a:rPr>
              <a:t>Mr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(Na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O) = 23x2 + 16 = 62</a:t>
            </a: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	 </a:t>
            </a:r>
            <a:r>
              <a:rPr lang="en-US" altLang="zh-CN" sz="3000" b="1" dirty="0" err="1" smtClean="0">
                <a:solidFill>
                  <a:schemeClr val="bg1"/>
                </a:solidFill>
              </a:rPr>
              <a:t>Mr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(</a:t>
            </a:r>
            <a:r>
              <a:rPr lang="en-US" altLang="zh-CN" sz="3000" b="1" dirty="0" err="1" smtClean="0">
                <a:solidFill>
                  <a:schemeClr val="bg1"/>
                </a:solidFill>
              </a:rPr>
              <a:t>CaO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 = 40 + 16 = 56</a:t>
            </a: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	 </a:t>
            </a:r>
            <a:r>
              <a:rPr lang="en-US" altLang="zh-CN" sz="3000" b="1" dirty="0" err="1" smtClean="0">
                <a:solidFill>
                  <a:schemeClr val="bg1"/>
                </a:solidFill>
              </a:rPr>
              <a:t>Mr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(SiO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 = 28 + 16x2 = 60</a:t>
            </a:r>
          </a:p>
          <a:p>
            <a:pPr>
              <a:buNone/>
            </a:pPr>
            <a:r>
              <a:rPr lang="zh-CN" altLang="en-US" sz="3000" b="1" dirty="0" smtClean="0">
                <a:solidFill>
                  <a:schemeClr val="bg1"/>
                </a:solidFill>
              </a:rPr>
              <a:t>设玻璃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100g</a:t>
            </a:r>
            <a:r>
              <a:rPr lang="zh-CN" altLang="en-US" sz="3000" b="1" dirty="0" smtClean="0">
                <a:solidFill>
                  <a:schemeClr val="bg1"/>
                </a:solidFill>
              </a:rPr>
              <a:t>，则</a:t>
            </a:r>
            <a:endParaRPr lang="en-US" altLang="zh-CN" sz="30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m(Na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O) =13g , m(</a:t>
            </a:r>
            <a:r>
              <a:rPr lang="en-US" altLang="zh-CN" sz="3000" b="1" dirty="0" err="1" smtClean="0">
                <a:solidFill>
                  <a:schemeClr val="bg1"/>
                </a:solidFill>
              </a:rPr>
              <a:t>CaO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)=11.7g m(SiO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)=75.3g</a:t>
            </a: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n(Na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 O) : n(</a:t>
            </a:r>
            <a:r>
              <a:rPr lang="en-US" altLang="zh-CN" sz="3000" b="1" dirty="0" err="1" smtClean="0">
                <a:solidFill>
                  <a:schemeClr val="bg1"/>
                </a:solidFill>
              </a:rPr>
              <a:t>CaO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 :  n(SiO</a:t>
            </a:r>
            <a:r>
              <a:rPr lang="en-US" altLang="zh-CN" sz="30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000" b="1" dirty="0" smtClean="0">
                <a:solidFill>
                  <a:schemeClr val="bg1"/>
                </a:solidFill>
              </a:rPr>
              <a:t>)</a:t>
            </a: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= 			:		:</a:t>
            </a:r>
          </a:p>
          <a:p>
            <a:pPr>
              <a:buNone/>
            </a:pPr>
            <a:r>
              <a:rPr lang="en-US" altLang="zh-CN" sz="3000" b="1" dirty="0" smtClean="0">
                <a:solidFill>
                  <a:schemeClr val="bg1"/>
                </a:solidFill>
              </a:rPr>
              <a:t>= 1:1:6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914400" y="4607243"/>
            <a:ext cx="114300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634951" y="4605655"/>
            <a:ext cx="1175049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00961" y="4191000"/>
            <a:ext cx="70403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 smtClean="0">
                <a:solidFill>
                  <a:schemeClr val="bg1"/>
                </a:solidFill>
              </a:rPr>
              <a:t>13g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3116" y="4572000"/>
            <a:ext cx="51809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62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7000" y="4191000"/>
            <a:ext cx="9541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 smtClean="0">
                <a:solidFill>
                  <a:schemeClr val="bg1"/>
                </a:solidFill>
              </a:rPr>
              <a:t>11.7g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83903" y="4572000"/>
            <a:ext cx="51809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56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2619" y="4226243"/>
            <a:ext cx="9541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 smtClean="0">
                <a:solidFill>
                  <a:schemeClr val="bg1"/>
                </a:solidFill>
              </a:rPr>
              <a:t>75.3g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24400" y="4572000"/>
            <a:ext cx="51809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60</a:t>
            </a:r>
            <a:endParaRPr lang="en-US" sz="2600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4343400" y="4607243"/>
            <a:ext cx="129540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作答题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7. (1) NaHCO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;NH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4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Cl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(2)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不利于产生高浓度的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，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则难析出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晶体。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(3)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加热</a:t>
            </a:r>
            <a:endParaRPr lang="en-US" altLang="zh-CN" sz="3200" b="1" baseline="-25000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2 NaHCO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	  	 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</a:p>
          <a:p>
            <a:pPr>
              <a:buNone/>
            </a:pP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	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3200400" y="3579812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 bwMode="auto">
          <a:xfrm>
            <a:off x="3505200" y="3427412"/>
            <a:ext cx="2286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作答题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8. (1) 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CaCO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CaSiO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+ 2 </a:t>
            </a:r>
            <a:r>
              <a:rPr lang="en-US" altLang="zh-CN" sz="3200" b="1" dirty="0" err="1" smtClean="0">
                <a:solidFill>
                  <a:schemeClr val="bg1"/>
                </a:solidFill>
              </a:rPr>
              <a:t>NaOH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(2) 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+ 2C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 + 2CO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1:2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(3) 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+ 3C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err="1" smtClean="0">
                <a:solidFill>
                  <a:schemeClr val="bg1"/>
                </a:solidFill>
              </a:rPr>
              <a:t>SiC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+ 2CO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1:2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(4)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收集反应生成的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用作燃料或工业原料。</a:t>
            </a:r>
            <a:endParaRPr lang="en-US" altLang="zh-CN" sz="3200" b="1" dirty="0" smtClean="0">
              <a:solidFill>
                <a:schemeClr val="bg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2895600" y="31242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 bwMode="auto">
          <a:xfrm>
            <a:off x="4267200" y="13716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 bwMode="auto">
          <a:xfrm>
            <a:off x="3886200" y="19812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4114800" y="25146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>
            <a:off x="2819400" y="43434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lated image"/>
          <p:cNvPicPr>
            <a:picLocks noChangeAspect="1" noChangeArrowheads="1"/>
          </p:cNvPicPr>
          <p:nvPr/>
        </p:nvPicPr>
        <p:blipFill>
          <a:blip r:embed="rId2">
            <a:lum contrast="-1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852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200" b="1" dirty="0" smtClean="0">
                <a:solidFill>
                  <a:schemeClr val="bg1"/>
                </a:solidFill>
              </a:rPr>
              <a:t>作答题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9. (1) A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  B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en-US" altLang="zh-CN" sz="3200" b="1" dirty="0" smtClean="0">
                <a:solidFill>
                  <a:schemeClr val="bg1"/>
                </a:solidFill>
              </a:rPr>
              <a:t>		  C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：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</a:p>
          <a:p>
            <a:pPr>
              <a:buNone/>
            </a:pP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		  D :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4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4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en-US" altLang="zh-CN" sz="3200" b="1" baseline="-25000" dirty="0" smtClean="0">
                <a:solidFill>
                  <a:schemeClr val="bg1"/>
                </a:solidFill>
              </a:rPr>
              <a:t>		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E :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</a:p>
          <a:p>
            <a:pPr>
              <a:buNone/>
            </a:pP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(2) 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baseline="30000" dirty="0" smtClean="0">
                <a:solidFill>
                  <a:schemeClr val="bg1"/>
                </a:solidFill>
              </a:rPr>
              <a:t>高温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 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endParaRPr lang="en-US" altLang="zh-CN" sz="3200" b="1" baseline="-25000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 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Na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CO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+ H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SiO</a:t>
            </a:r>
            <a:r>
              <a:rPr lang="en-US" altLang="zh-CN" sz="3200" b="1" baseline="-25000" dirty="0" smtClean="0">
                <a:solidFill>
                  <a:schemeClr val="bg1"/>
                </a:solidFill>
              </a:rPr>
              <a:t>3</a:t>
            </a:r>
            <a:endParaRPr lang="en-US" altLang="zh-CN" sz="3200" b="1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altLang="zh-CN" sz="3200" b="1" dirty="0" smtClean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4038600" y="4267200"/>
            <a:ext cx="838200" cy="1588"/>
          </a:xfrm>
          <a:prstGeom prst="straightConnector1">
            <a:avLst/>
          </a:prstGeom>
          <a:ln w="12700">
            <a:solidFill>
              <a:schemeClr val="bg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</TotalTime>
  <Words>1001</Words>
  <Application>Microsoft Office PowerPoint</Application>
  <PresentationFormat>On-screen Show (4:3)</PresentationFormat>
  <Paragraphs>187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Apex</vt:lpstr>
      <vt:lpstr>第12章 IVA族元素 碳和硅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MSI</dc:creator>
  <cp:lastModifiedBy>user</cp:lastModifiedBy>
  <cp:revision>120</cp:revision>
  <dcterms:created xsi:type="dcterms:W3CDTF">2016-03-20T16:30:54Z</dcterms:created>
  <dcterms:modified xsi:type="dcterms:W3CDTF">2018-11-27T08:07:12Z</dcterms:modified>
</cp:coreProperties>
</file>