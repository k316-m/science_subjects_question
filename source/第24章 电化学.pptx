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  <p:sldId id="260" r:id="rId3"/>
    <p:sldId id="261" r:id="rId4"/>
    <p:sldId id="352" r:id="rId5"/>
    <p:sldId id="353" r:id="rId6"/>
    <p:sldId id="354" r:id="rId7"/>
    <p:sldId id="264" r:id="rId8"/>
    <p:sldId id="263" r:id="rId9"/>
    <p:sldId id="265" r:id="rId10"/>
    <p:sldId id="355" r:id="rId11"/>
    <p:sldId id="356" r:id="rId12"/>
    <p:sldId id="278" r:id="rId13"/>
    <p:sldId id="358" r:id="rId14"/>
    <p:sldId id="362" r:id="rId15"/>
    <p:sldId id="357" r:id="rId16"/>
    <p:sldId id="359" r:id="rId17"/>
    <p:sldId id="360" r:id="rId18"/>
    <p:sldId id="361" r:id="rId19"/>
    <p:sldId id="363" r:id="rId20"/>
    <p:sldId id="266" r:id="rId21"/>
    <p:sldId id="267" r:id="rId22"/>
    <p:sldId id="268" r:id="rId23"/>
    <p:sldId id="269" r:id="rId24"/>
    <p:sldId id="270" r:id="rId25"/>
    <p:sldId id="364" r:id="rId26"/>
    <p:sldId id="271" r:id="rId27"/>
    <p:sldId id="272" r:id="rId28"/>
    <p:sldId id="273" r:id="rId29"/>
    <p:sldId id="366" r:id="rId30"/>
    <p:sldId id="365" r:id="rId31"/>
    <p:sldId id="367" r:id="rId32"/>
    <p:sldId id="282" r:id="rId33"/>
    <p:sldId id="283" r:id="rId34"/>
    <p:sldId id="277" r:id="rId35"/>
    <p:sldId id="274" r:id="rId36"/>
    <p:sldId id="275" r:id="rId37"/>
    <p:sldId id="276" r:id="rId38"/>
    <p:sldId id="334" r:id="rId39"/>
    <p:sldId id="339" r:id="rId40"/>
    <p:sldId id="335" r:id="rId41"/>
    <p:sldId id="336" r:id="rId42"/>
    <p:sldId id="337" r:id="rId43"/>
    <p:sldId id="338" r:id="rId44"/>
    <p:sldId id="279" r:id="rId45"/>
    <p:sldId id="368" r:id="rId46"/>
    <p:sldId id="369" r:id="rId47"/>
    <p:sldId id="280" r:id="rId48"/>
    <p:sldId id="344" r:id="rId49"/>
    <p:sldId id="281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4" r:id="rId59"/>
    <p:sldId id="370" r:id="rId60"/>
    <p:sldId id="295" r:id="rId61"/>
    <p:sldId id="296" r:id="rId62"/>
    <p:sldId id="371" r:id="rId63"/>
    <p:sldId id="372" r:id="rId64"/>
    <p:sldId id="373" r:id="rId65"/>
    <p:sldId id="327" r:id="rId66"/>
    <p:sldId id="328" r:id="rId67"/>
    <p:sldId id="329" r:id="rId68"/>
    <p:sldId id="349" r:id="rId69"/>
    <p:sldId id="297" r:id="rId70"/>
    <p:sldId id="374" r:id="rId71"/>
    <p:sldId id="375" r:id="rId72"/>
    <p:sldId id="298" r:id="rId73"/>
    <p:sldId id="300" r:id="rId74"/>
    <p:sldId id="299" r:id="rId75"/>
    <p:sldId id="377" r:id="rId76"/>
    <p:sldId id="378" r:id="rId77"/>
    <p:sldId id="301" r:id="rId78"/>
    <p:sldId id="330" r:id="rId79"/>
    <p:sldId id="376" r:id="rId80"/>
    <p:sldId id="302" r:id="rId81"/>
    <p:sldId id="303" r:id="rId82"/>
    <p:sldId id="304" r:id="rId83"/>
    <p:sldId id="305" r:id="rId84"/>
    <p:sldId id="306" r:id="rId85"/>
    <p:sldId id="307" r:id="rId86"/>
    <p:sldId id="308" r:id="rId87"/>
    <p:sldId id="309" r:id="rId88"/>
    <p:sldId id="379" r:id="rId89"/>
    <p:sldId id="310" r:id="rId90"/>
    <p:sldId id="311" r:id="rId91"/>
    <p:sldId id="331" r:id="rId92"/>
    <p:sldId id="332" r:id="rId93"/>
    <p:sldId id="333" r:id="rId94"/>
    <p:sldId id="345" r:id="rId95"/>
    <p:sldId id="346" r:id="rId96"/>
    <p:sldId id="347" r:id="rId97"/>
    <p:sldId id="350" r:id="rId98"/>
    <p:sldId id="348" r:id="rId99"/>
    <p:sldId id="380" r:id="rId100"/>
    <p:sldId id="381" r:id="rId101"/>
    <p:sldId id="382" r:id="rId102"/>
    <p:sldId id="386" r:id="rId103"/>
    <p:sldId id="387" r:id="rId104"/>
    <p:sldId id="388" r:id="rId105"/>
    <p:sldId id="390" r:id="rId106"/>
    <p:sldId id="389" r:id="rId107"/>
    <p:sldId id="383" r:id="rId108"/>
    <p:sldId id="313" r:id="rId109"/>
    <p:sldId id="384" r:id="rId110"/>
    <p:sldId id="385" r:id="rId111"/>
    <p:sldId id="314" r:id="rId112"/>
    <p:sldId id="315" r:id="rId113"/>
    <p:sldId id="316" r:id="rId114"/>
    <p:sldId id="317" r:id="rId115"/>
    <p:sldId id="391" r:id="rId116"/>
    <p:sldId id="392" r:id="rId117"/>
    <p:sldId id="318" r:id="rId118"/>
    <p:sldId id="319" r:id="rId119"/>
    <p:sldId id="320" r:id="rId120"/>
    <p:sldId id="324" r:id="rId121"/>
    <p:sldId id="321" r:id="rId122"/>
    <p:sldId id="325" r:id="rId123"/>
    <p:sldId id="322" r:id="rId1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0" autoAdjust="0"/>
    <p:restoredTop sz="94660"/>
  </p:normalViewPr>
  <p:slideViewPr>
    <p:cSldViewPr>
      <p:cViewPr varScale="1">
        <p:scale>
          <a:sx n="68" d="100"/>
          <a:sy n="68" d="100"/>
        </p:scale>
        <p:origin x="1440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2/26/2020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04800"/>
            <a:ext cx="6096000" cy="38100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第</a:t>
            </a:r>
            <a:r>
              <a:rPr lang="en-US" altLang="zh-CN" sz="60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24</a:t>
            </a:r>
            <a:r>
              <a:rPr lang="zh-CN" altLang="en-US" sz="60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章 </a:t>
            </a:r>
            <a:br>
              <a:rPr lang="en-US" altLang="zh-CN" sz="60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</a:br>
            <a:r>
              <a:rPr lang="zh-CN" altLang="en-US" sz="60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电化学</a:t>
            </a:r>
            <a:endParaRPr lang="en-US" sz="6000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009" y="3799582"/>
            <a:ext cx="83920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电化学：研究化学能与电能互相转化的装置、</a:t>
            </a:r>
            <a:endParaRPr lang="en-US" altLang="zh-CN" sz="3200" dirty="0">
              <a:ln w="17780" cmpd="sng">
                <a:solidFill>
                  <a:schemeClr val="tx1"/>
                </a:solidFill>
                <a:prstDash val="solid"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32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zh-CN" altLang="en-US" sz="32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过程和效率的科学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6962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715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复习氧化还原反应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失电子，氧化数上升，被氧化，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作为还原剂，具有还原性。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金属单质都是还原剂。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金属越活泼其还原性越强。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氧化还原反应的本质是电子转移。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/>
              <a:t>有一种物质被氧化，就有另一种物质被还原。</a:t>
            </a:r>
            <a:endParaRPr lang="en-US" altLang="zh-CN" sz="3000" dirty="0"/>
          </a:p>
          <a:p>
            <a:pPr>
              <a:buNone/>
            </a:pPr>
            <a:r>
              <a:rPr lang="zh-CN" altLang="en-US" sz="3000" dirty="0"/>
              <a:t>氧化与还原是同时发生的</a:t>
            </a:r>
            <a:endParaRPr lang="en-US" altLang="zh-CN" sz="3000" dirty="0"/>
          </a:p>
        </p:txBody>
      </p:sp>
      <p:sp>
        <p:nvSpPr>
          <p:cNvPr id="5" name="Rounded Rectangle 4"/>
          <p:cNvSpPr/>
          <p:nvPr/>
        </p:nvSpPr>
        <p:spPr>
          <a:xfrm>
            <a:off x="2895600" y="3124200"/>
            <a:ext cx="14478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038600" y="3733800"/>
            <a:ext cx="9906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419600" y="4800600"/>
            <a:ext cx="17526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6962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22.1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氧化还原反应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还原剂失电子，氧化剂得电子。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将氧化反应与还原反应“分隔”开，使被转移到电子通过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导体</a:t>
            </a:r>
            <a:r>
              <a:rPr lang="zh-CN" altLang="en-US" sz="3000" dirty="0">
                <a:sym typeface="Wingdings" pitchFamily="2" charset="2"/>
              </a:rPr>
              <a:t>定向移动，产生电流。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sp>
        <p:nvSpPr>
          <p:cNvPr id="8" name="Rounded Rectangle 7"/>
          <p:cNvSpPr/>
          <p:nvPr/>
        </p:nvSpPr>
        <p:spPr>
          <a:xfrm>
            <a:off x="2057400" y="1905000"/>
            <a:ext cx="4572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724400" y="1905000"/>
            <a:ext cx="4572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6962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22.1.1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活动探究</a:t>
            </a:r>
            <a:r>
              <a:rPr lang="en-US" altLang="zh-CN" sz="3000" dirty="0">
                <a:sym typeface="Wingdings" pitchFamily="2" charset="2"/>
              </a:rPr>
              <a:t>pg290 </a:t>
            </a:r>
            <a:r>
              <a:rPr lang="zh-CN" altLang="en-US" sz="3000" dirty="0">
                <a:sym typeface="Wingdings" pitchFamily="2" charset="2"/>
              </a:rPr>
              <a:t>答案</a:t>
            </a:r>
            <a:r>
              <a:rPr lang="en-US" altLang="zh-CN" sz="3000" dirty="0">
                <a:sym typeface="Wingdings" pitchFamily="2" charset="2"/>
              </a:rPr>
              <a:t>pg291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828800"/>
          <a:ext cx="8458200" cy="33832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56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3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现象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结论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活动</a:t>
                      </a:r>
                      <a:r>
                        <a:rPr lang="en-US" altLang="zh-CN" sz="2800" dirty="0"/>
                        <a:t>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锌片上有气泡，铜片上无气泡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Zn</a:t>
                      </a:r>
                      <a:r>
                        <a:rPr lang="zh-CN" altLang="en-US" sz="2800" dirty="0"/>
                        <a:t>能与硫酸反应，</a:t>
                      </a:r>
                      <a:r>
                        <a:rPr lang="en-US" altLang="zh-CN" sz="2800" dirty="0"/>
                        <a:t>Cu</a:t>
                      </a:r>
                      <a:r>
                        <a:rPr lang="zh-CN" altLang="en-US" sz="2800" dirty="0"/>
                        <a:t>不反应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活动</a:t>
                      </a:r>
                      <a:r>
                        <a:rPr lang="en-US" altLang="zh-CN" sz="2800" dirty="0"/>
                        <a:t>2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/>
                        <a:t>锌片和铜片上都有气泡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800" dirty="0"/>
                        <a:t>Zn</a:t>
                      </a:r>
                      <a:r>
                        <a:rPr lang="zh-CN" altLang="en-US" sz="2800" dirty="0"/>
                        <a:t>失去电子转移到</a:t>
                      </a:r>
                      <a:r>
                        <a:rPr lang="en-US" altLang="zh-CN" sz="2800" dirty="0"/>
                        <a:t>Cu</a:t>
                      </a:r>
                      <a:r>
                        <a:rPr lang="zh-CN" altLang="en-US" sz="2800" dirty="0"/>
                        <a:t>上，</a:t>
                      </a:r>
                      <a:endParaRPr lang="en-US" altLang="zh-CN" sz="2800" dirty="0"/>
                    </a:p>
                    <a:p>
                      <a:r>
                        <a:rPr lang="en-US" altLang="zh-CN" sz="2800" dirty="0"/>
                        <a:t>H</a:t>
                      </a:r>
                      <a:r>
                        <a:rPr lang="en-US" altLang="zh-CN" sz="2800" baseline="30000" dirty="0"/>
                        <a:t>+</a:t>
                      </a:r>
                      <a:r>
                        <a:rPr lang="en-US" altLang="zh-CN" sz="2800" baseline="0" dirty="0"/>
                        <a:t> </a:t>
                      </a:r>
                      <a:r>
                        <a:rPr lang="zh-CN" altLang="en-US" sz="2800" baseline="0" dirty="0"/>
                        <a:t>在铜片上得到电子生成</a:t>
                      </a:r>
                      <a:r>
                        <a:rPr lang="en-US" altLang="zh-CN" sz="2800" baseline="0" dirty="0"/>
                        <a:t>H</a:t>
                      </a:r>
                      <a:r>
                        <a:rPr lang="en-US" altLang="zh-CN" sz="2800" baseline="-25000" dirty="0"/>
                        <a:t>2 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活动</a:t>
                      </a:r>
                      <a:r>
                        <a:rPr lang="en-US" altLang="zh-CN" sz="2800" dirty="0"/>
                        <a:t>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电流计指针发生偏转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有电流产生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447800" y="2362200"/>
            <a:ext cx="265176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114800" y="2362200"/>
            <a:ext cx="466344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447800" y="3276600"/>
            <a:ext cx="2651760" cy="9601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114800" y="3276600"/>
            <a:ext cx="4663440" cy="96012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447800" y="4267200"/>
            <a:ext cx="265176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114800" y="4267200"/>
            <a:ext cx="466344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6962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22.1.1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48006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原电池：将化学能转化为电能的装置。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负极：电子流出，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</a:t>
            </a:r>
            <a:r>
              <a:rPr lang="zh-CN" altLang="en-US" sz="3000" dirty="0">
                <a:sym typeface="Wingdings" pitchFamily="2" charset="2"/>
              </a:rPr>
              <a:t>发生氧化反应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Zn(s) 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正极：电子流入，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</a:t>
            </a:r>
            <a:r>
              <a:rPr lang="zh-CN" altLang="en-US" sz="3000" dirty="0">
                <a:sym typeface="Wingdings" pitchFamily="2" charset="2"/>
              </a:rPr>
              <a:t>发生还原反应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2H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H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(g)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总反应：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Zn(s)+2H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)Zn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)+H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(g)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6" name="Picture 5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914400"/>
            <a:ext cx="3810000" cy="533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6962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22.1.1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429000"/>
            <a:ext cx="4876800" cy="30480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>
                <a:sym typeface="Wingdings" pitchFamily="2" charset="2"/>
              </a:rPr>
              <a:t>两电极</a:t>
            </a:r>
            <a:r>
              <a:rPr lang="zh-CN" altLang="en-US" sz="2800" b="1" dirty="0">
                <a:sym typeface="Wingdings" pitchFamily="2" charset="2"/>
              </a:rPr>
              <a:t>分开</a:t>
            </a:r>
            <a:r>
              <a:rPr lang="zh-CN" altLang="en-US" sz="2800" dirty="0">
                <a:sym typeface="Wingdings" pitchFamily="2" charset="2"/>
              </a:rPr>
              <a:t>在两个装置中，氧化还原的两个半反应分别在两个装置中进行，能持续产生电流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构成原电池必须形成</a:t>
            </a:r>
            <a:r>
              <a:rPr lang="zh-CN" altLang="en-US" sz="3000" b="1" dirty="0">
                <a:sym typeface="Wingdings" pitchFamily="2" charset="2"/>
              </a:rPr>
              <a:t>闭合回路。</a:t>
            </a:r>
            <a:endParaRPr lang="en-US" altLang="zh-CN" sz="3000" b="1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pic>
        <p:nvPicPr>
          <p:cNvPr id="6" name="Picture 5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3352800"/>
            <a:ext cx="3733800" cy="3352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1920" y="914400"/>
          <a:ext cx="9011604" cy="2362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3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活动</a:t>
                      </a:r>
                      <a:r>
                        <a:rPr lang="en-US" altLang="zh-CN" sz="2700" dirty="0"/>
                        <a:t>4</a:t>
                      </a:r>
                      <a:endParaRPr lang="en-US" sz="2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现象</a:t>
                      </a:r>
                      <a:endParaRPr lang="en-US" sz="2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结论</a:t>
                      </a:r>
                      <a:endParaRPr lang="en-US" sz="2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有盐桥</a:t>
                      </a:r>
                      <a:endParaRPr lang="en-US" sz="2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安培计指针偏转，</a:t>
                      </a:r>
                      <a:endParaRPr lang="en-US" altLang="zh-CN" sz="27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ym typeface="Wingdings" pitchFamily="2" charset="2"/>
                        </a:rPr>
                        <a:t>Zn</a:t>
                      </a:r>
                      <a:r>
                        <a:rPr lang="zh-CN" altLang="en-US" sz="2800" dirty="0">
                          <a:sym typeface="Wingdings" pitchFamily="2" charset="2"/>
                        </a:rPr>
                        <a:t>棒变细，</a:t>
                      </a:r>
                      <a:r>
                        <a:rPr lang="en-US" altLang="zh-CN" sz="2800" dirty="0">
                          <a:sym typeface="Wingdings" pitchFamily="2" charset="2"/>
                        </a:rPr>
                        <a:t>Cu</a:t>
                      </a:r>
                      <a:r>
                        <a:rPr lang="zh-CN" altLang="en-US" sz="2800" dirty="0">
                          <a:sym typeface="Wingdings" pitchFamily="2" charset="2"/>
                        </a:rPr>
                        <a:t>棒变粗</a:t>
                      </a:r>
                      <a:endParaRPr lang="en-US" altLang="zh-CN" sz="2800" dirty="0"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构成原电池，产生电流</a:t>
                      </a:r>
                      <a:endParaRPr lang="en-US" sz="2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取出盐桥</a:t>
                      </a:r>
                      <a:endParaRPr lang="en-US" sz="2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700" dirty="0"/>
                        <a:t>安培计指针不偏转</a:t>
                      </a:r>
                      <a:endParaRPr lang="en-US" sz="2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700" dirty="0"/>
                        <a:t>不构成原电池，无电流产生</a:t>
                      </a:r>
                      <a:endParaRPr lang="en-US" sz="2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798320" y="1447800"/>
            <a:ext cx="347472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303520" y="1447800"/>
            <a:ext cx="384048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798320" y="2362200"/>
            <a:ext cx="347472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303520" y="2362200"/>
            <a:ext cx="3840480" cy="9144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19200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氧化还原与半电池反应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Zn– Cu</a:t>
            </a:r>
            <a:r>
              <a:rPr lang="zh-CN" altLang="en-US" sz="3000" dirty="0">
                <a:sym typeface="Wingdings" pitchFamily="2" charset="2"/>
              </a:rPr>
              <a:t>原电池为例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负极：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输出电子（失电子）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发生氧化反应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Zn</a:t>
            </a:r>
            <a:r>
              <a:rPr lang="zh-CN" altLang="en-US" sz="3000" dirty="0">
                <a:sym typeface="Wingdings" pitchFamily="2" charset="2"/>
              </a:rPr>
              <a:t>电极： </a:t>
            </a:r>
            <a:r>
              <a:rPr lang="en-US" altLang="zh-CN" sz="3000" dirty="0">
                <a:sym typeface="Wingdings" pitchFamily="2" charset="2"/>
              </a:rPr>
              <a:t>Zn 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+ 2e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	(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输入电子（得电子）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发生还原反应</a:t>
            </a:r>
            <a:endParaRPr lang="en-US" altLang="zh-CN" sz="26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Cu</a:t>
            </a:r>
            <a:r>
              <a:rPr lang="zh-CN" altLang="en-US" sz="3000" dirty="0">
                <a:sym typeface="Wingdings" pitchFamily="2" charset="2"/>
              </a:rPr>
              <a:t>电极： 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Cu 	(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r>
              <a:rPr lang="en-US" altLang="zh-CN" sz="3000" dirty="0">
                <a:sym typeface="Wingdings" pitchFamily="2" charset="2"/>
              </a:rPr>
              <a:t>)</a:t>
            </a:r>
            <a:endParaRPr lang="en-US" altLang="zh-CN" sz="26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总反应：</a:t>
            </a:r>
            <a:r>
              <a:rPr lang="en-US" altLang="zh-CN" sz="3000" dirty="0">
                <a:sym typeface="Wingdings" pitchFamily="2" charset="2"/>
              </a:rPr>
              <a:t> Zn(s)  + Cu</a:t>
            </a:r>
            <a:r>
              <a:rPr lang="en-US" altLang="zh-CN" sz="3000" baseline="30000" dirty="0">
                <a:sym typeface="Wingdings" pitchFamily="2" charset="2"/>
              </a:rPr>
              <a:t>2+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+  Cu (s)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总反应叫作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电池反应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/>
          </a:p>
        </p:txBody>
      </p:sp>
      <p:grpSp>
        <p:nvGrpSpPr>
          <p:cNvPr id="9" name="Group 8"/>
          <p:cNvGrpSpPr/>
          <p:nvPr/>
        </p:nvGrpSpPr>
        <p:grpSpPr>
          <a:xfrm>
            <a:off x="6705600" y="3505200"/>
            <a:ext cx="1988045" cy="1371600"/>
            <a:chOff x="6646716" y="2971800"/>
            <a:chExt cx="2208541" cy="1775012"/>
          </a:xfrm>
        </p:grpSpPr>
        <p:sp>
          <p:nvSpPr>
            <p:cNvPr id="8" name="Up-Down Arrow 7"/>
            <p:cNvSpPr/>
            <p:nvPr/>
          </p:nvSpPr>
          <p:spPr>
            <a:xfrm>
              <a:off x="7408579" y="2971800"/>
              <a:ext cx="381000" cy="1775012"/>
            </a:xfrm>
            <a:prstGeom prst="up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646716" y="3267635"/>
              <a:ext cx="2208541" cy="1234727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002060"/>
                  </a:solidFill>
                  <a:sym typeface="Wingdings" pitchFamily="2" charset="2"/>
                </a:rPr>
                <a:t>半电池反应</a:t>
              </a:r>
              <a:endParaRPr lang="en-US" altLang="zh-CN" sz="2800" b="1" dirty="0">
                <a:solidFill>
                  <a:srgbClr val="002060"/>
                </a:solidFill>
                <a:sym typeface="Wingdings" pitchFamily="2" charset="2"/>
              </a:endParaRPr>
            </a:p>
            <a:p>
              <a:r>
                <a:rPr lang="zh-CN" altLang="en-US" sz="2800" b="1" dirty="0">
                  <a:solidFill>
                    <a:srgbClr val="002060"/>
                  </a:solidFill>
                  <a:sym typeface="Wingdings" pitchFamily="2" charset="2"/>
                </a:rPr>
                <a:t>电极反应</a:t>
              </a:r>
              <a:endParaRPr lang="en-US" altLang="zh-CN" sz="2800" b="1" dirty="0">
                <a:solidFill>
                  <a:srgbClr val="002060"/>
                </a:solidFill>
                <a:sym typeface="Wingdings" pitchFamily="2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76962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原电池的组成：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两个隔离的半电池：电极材料（两个活泼性不同的电极常为金属或石墨）和电解质溶液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盐桥或多孔隔板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导线</a:t>
            </a:r>
            <a:endParaRPr lang="en-US" altLang="zh-CN" sz="26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盐桥：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内：饱和的强电解质溶液，如：</a:t>
            </a:r>
            <a:r>
              <a:rPr lang="en-US" altLang="zh-CN" sz="2600" dirty="0" err="1">
                <a:sym typeface="Wingdings" pitchFamily="2" charset="2"/>
              </a:rPr>
              <a:t>KCl</a:t>
            </a:r>
            <a:r>
              <a:rPr lang="en-US" altLang="zh-CN" sz="2600" dirty="0">
                <a:sym typeface="Wingdings" pitchFamily="2" charset="2"/>
              </a:rPr>
              <a:t>(</a:t>
            </a:r>
            <a:r>
              <a:rPr lang="en-US" altLang="zh-CN" sz="2600" dirty="0" err="1">
                <a:sym typeface="Wingdings" pitchFamily="2" charset="2"/>
              </a:rPr>
              <a:t>aq</a:t>
            </a:r>
            <a:r>
              <a:rPr lang="en-US" altLang="zh-CN" sz="2600" dirty="0">
                <a:sym typeface="Wingdings" pitchFamily="2" charset="2"/>
              </a:rPr>
              <a:t>)</a:t>
            </a:r>
            <a:r>
              <a:rPr lang="zh-CN" altLang="en-US" sz="2600" dirty="0">
                <a:sym typeface="Wingdings" pitchFamily="2" charset="2"/>
              </a:rPr>
              <a:t>、</a:t>
            </a:r>
            <a:r>
              <a:rPr lang="en-US" altLang="zh-CN" sz="2600" dirty="0">
                <a:sym typeface="Wingdings" pitchFamily="2" charset="2"/>
              </a:rPr>
              <a:t>NH</a:t>
            </a:r>
            <a:r>
              <a:rPr lang="en-US" altLang="zh-CN" sz="2600" baseline="-25000" dirty="0">
                <a:sym typeface="Wingdings" pitchFamily="2" charset="2"/>
              </a:rPr>
              <a:t>4</a:t>
            </a:r>
            <a:r>
              <a:rPr lang="en-US" altLang="zh-CN" sz="2600" dirty="0">
                <a:sym typeface="Wingdings" pitchFamily="2" charset="2"/>
              </a:rPr>
              <a:t>NO</a:t>
            </a:r>
            <a:r>
              <a:rPr lang="en-US" altLang="zh-CN" sz="2600" baseline="-25000" dirty="0">
                <a:sym typeface="Wingdings" pitchFamily="2" charset="2"/>
              </a:rPr>
              <a:t>3</a:t>
            </a:r>
            <a:r>
              <a:rPr lang="en-US" altLang="zh-CN" sz="2600" dirty="0">
                <a:sym typeface="Wingdings" pitchFamily="2" charset="2"/>
              </a:rPr>
              <a:t> (</a:t>
            </a:r>
            <a:r>
              <a:rPr lang="en-US" altLang="zh-CN" sz="2600" dirty="0" err="1">
                <a:sym typeface="Wingdings" pitchFamily="2" charset="2"/>
              </a:rPr>
              <a:t>aq</a:t>
            </a:r>
            <a:r>
              <a:rPr lang="en-US" altLang="zh-CN" sz="2600" dirty="0">
                <a:sym typeface="Wingdings" pitchFamily="2" charset="2"/>
              </a:rPr>
              <a:t>)</a:t>
            </a: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两端：多孔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作用：使烧杯内的离子保持通路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原理：负极</a:t>
            </a:r>
            <a:r>
              <a:rPr lang="en-US" altLang="zh-CN" sz="2600" dirty="0">
                <a:sym typeface="Wingdings" pitchFamily="2" charset="2"/>
              </a:rPr>
              <a:t>Zn</a:t>
            </a:r>
            <a:r>
              <a:rPr lang="en-US" altLang="zh-CN" sz="2600" baseline="30000" dirty="0">
                <a:sym typeface="Wingdings" pitchFamily="2" charset="2"/>
              </a:rPr>
              <a:t>2+</a:t>
            </a:r>
            <a:r>
              <a:rPr lang="zh-CN" altLang="en-US" sz="2600" dirty="0">
                <a:sym typeface="Wingdings" pitchFamily="2" charset="2"/>
              </a:rPr>
              <a:t>过多，盐桥中的</a:t>
            </a:r>
            <a:r>
              <a:rPr lang="en-US" altLang="zh-CN" sz="2600" dirty="0" err="1">
                <a:sym typeface="Wingdings" pitchFamily="2" charset="2"/>
              </a:rPr>
              <a:t>Cl</a:t>
            </a:r>
            <a:r>
              <a:rPr lang="en-US" altLang="zh-CN" sz="2600" baseline="30000" dirty="0">
                <a:sym typeface="Wingdings" pitchFamily="2" charset="2"/>
              </a:rPr>
              <a:t>-</a:t>
            </a:r>
            <a:r>
              <a:rPr lang="zh-CN" altLang="en-US" sz="2600" dirty="0">
                <a:sym typeface="Wingdings" pitchFamily="2" charset="2"/>
              </a:rPr>
              <a:t>移向</a:t>
            </a:r>
            <a:r>
              <a:rPr lang="en-US" altLang="zh-CN" sz="2600" dirty="0">
                <a:sym typeface="Wingdings" pitchFamily="2" charset="2"/>
              </a:rPr>
              <a:t>ZnSO</a:t>
            </a:r>
            <a:r>
              <a:rPr lang="en-US" altLang="zh-CN" sz="2600" baseline="-25000" dirty="0">
                <a:sym typeface="Wingdings" pitchFamily="2" charset="2"/>
              </a:rPr>
              <a:t>4</a:t>
            </a:r>
            <a:r>
              <a:rPr lang="en-US" altLang="zh-CN" sz="2600" dirty="0">
                <a:sym typeface="Wingdings" pitchFamily="2" charset="2"/>
              </a:rPr>
              <a:t>(</a:t>
            </a:r>
            <a:r>
              <a:rPr lang="en-US" altLang="zh-CN" sz="2600" dirty="0" err="1">
                <a:sym typeface="Wingdings" pitchFamily="2" charset="2"/>
              </a:rPr>
              <a:t>aq</a:t>
            </a:r>
            <a:r>
              <a:rPr lang="en-US" altLang="zh-CN" sz="2600" dirty="0">
                <a:sym typeface="Wingdings" pitchFamily="2" charset="2"/>
              </a:rPr>
              <a:t>)</a:t>
            </a:r>
            <a:r>
              <a:rPr lang="zh-CN" altLang="en-US" sz="2600" dirty="0">
                <a:sym typeface="Wingdings" pitchFamily="2" charset="2"/>
              </a:rPr>
              <a:t>；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None/>
            </a:pPr>
            <a:r>
              <a:rPr lang="en-US" altLang="zh-CN" sz="2600" dirty="0">
                <a:sym typeface="Wingdings" pitchFamily="2" charset="2"/>
              </a:rPr>
              <a:t>			</a:t>
            </a:r>
            <a:r>
              <a:rPr lang="zh-CN" altLang="en-US" sz="2600" dirty="0">
                <a:sym typeface="Wingdings" pitchFamily="2" charset="2"/>
              </a:rPr>
              <a:t>正极</a:t>
            </a:r>
            <a:r>
              <a:rPr lang="en-US" altLang="zh-CN" sz="2600" dirty="0">
                <a:sym typeface="Wingdings" pitchFamily="2" charset="2"/>
              </a:rPr>
              <a:t>Cu</a:t>
            </a:r>
            <a:r>
              <a:rPr lang="en-US" altLang="zh-CN" sz="2600" baseline="30000" dirty="0">
                <a:sym typeface="Wingdings" pitchFamily="2" charset="2"/>
              </a:rPr>
              <a:t>2+</a:t>
            </a:r>
            <a:r>
              <a:rPr lang="zh-CN" altLang="en-US" sz="2600" dirty="0">
                <a:sym typeface="Wingdings" pitchFamily="2" charset="2"/>
              </a:rPr>
              <a:t>减少，盐桥中的</a:t>
            </a:r>
            <a:r>
              <a:rPr lang="en-US" altLang="zh-CN" sz="2600" dirty="0">
                <a:sym typeface="Wingdings" pitchFamily="2" charset="2"/>
              </a:rPr>
              <a:t>K</a:t>
            </a:r>
            <a:r>
              <a:rPr lang="en-US" altLang="zh-CN" sz="2600" baseline="30000" dirty="0">
                <a:sym typeface="Wingdings" pitchFamily="2" charset="2"/>
              </a:rPr>
              <a:t>+</a:t>
            </a:r>
            <a:r>
              <a:rPr lang="zh-CN" altLang="en-US" sz="2600" dirty="0">
                <a:sym typeface="Wingdings" pitchFamily="2" charset="2"/>
              </a:rPr>
              <a:t>移向</a:t>
            </a:r>
            <a:r>
              <a:rPr lang="en-US" altLang="zh-CN" sz="2600" dirty="0">
                <a:sym typeface="Wingdings" pitchFamily="2" charset="2"/>
              </a:rPr>
              <a:t>CuSO</a:t>
            </a:r>
            <a:r>
              <a:rPr lang="en-US" altLang="zh-CN" sz="2600" baseline="-25000" dirty="0">
                <a:sym typeface="Wingdings" pitchFamily="2" charset="2"/>
              </a:rPr>
              <a:t>4</a:t>
            </a:r>
            <a:r>
              <a:rPr lang="en-US" altLang="zh-CN" sz="2600" dirty="0">
                <a:sym typeface="Wingdings" pitchFamily="2" charset="2"/>
              </a:rPr>
              <a:t>(</a:t>
            </a:r>
            <a:r>
              <a:rPr lang="en-US" altLang="zh-CN" sz="2600" dirty="0" err="1">
                <a:sym typeface="Wingdings" pitchFamily="2" charset="2"/>
              </a:rPr>
              <a:t>aq</a:t>
            </a:r>
            <a:r>
              <a:rPr lang="en-US" altLang="zh-CN" sz="2600" dirty="0">
                <a:sym typeface="Wingdings" pitchFamily="2" charset="2"/>
              </a:rPr>
              <a:t>)</a:t>
            </a:r>
            <a:r>
              <a:rPr lang="zh-CN" altLang="en-US" sz="2600" dirty="0">
                <a:sym typeface="Wingdings" pitchFamily="2" charset="2"/>
              </a:rPr>
              <a:t>，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None/>
            </a:pPr>
            <a:r>
              <a:rPr lang="en-US" altLang="zh-CN" sz="2600" dirty="0">
                <a:sym typeface="Wingdings" pitchFamily="2" charset="2"/>
              </a:rPr>
              <a:t>		</a:t>
            </a:r>
            <a:r>
              <a:rPr lang="zh-CN" altLang="en-US" sz="2600" b="1" dirty="0">
                <a:sym typeface="Wingdings" pitchFamily="2" charset="2"/>
              </a:rPr>
              <a:t>使两电解质溶液保持电中性，反应可以继续进行。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buNone/>
            </a:pPr>
            <a:endParaRPr lang="en-US" altLang="zh-CN" sz="26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   </a:t>
            </a:r>
          </a:p>
          <a:p>
            <a:pPr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每个半电池需有还原态物质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如：</a:t>
            </a: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Cu)</a:t>
            </a:r>
            <a:r>
              <a:rPr lang="zh-CN" altLang="en-US" sz="3000" dirty="0">
                <a:sym typeface="Wingdings" pitchFamily="2" charset="2"/>
              </a:rPr>
              <a:t>及氧化态物质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如：</a:t>
            </a:r>
            <a:r>
              <a:rPr lang="en-US" altLang="zh-CN" sz="3000" dirty="0">
                <a:sym typeface="Wingdings" pitchFamily="2" charset="2"/>
              </a:rPr>
              <a:t>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)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原电池的组成可用电池符号表示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sz="3000" dirty="0">
                <a:sym typeface="Wingdings" pitchFamily="2" charset="2"/>
              </a:rPr>
              <a:t>Zn l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(c</a:t>
            </a:r>
            <a:r>
              <a:rPr lang="en-US" altLang="zh-CN" sz="3000" baseline="-25000" dirty="0">
                <a:sym typeface="Wingdings" pitchFamily="2" charset="2"/>
              </a:rPr>
              <a:t>1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en-US" altLang="zh-CN" sz="3000" dirty="0">
                <a:sym typeface="Wingdings" pitchFamily="2" charset="2"/>
              </a:rPr>
              <a:t>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(c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) l Cu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sz="2600" dirty="0">
                <a:sym typeface="Wingdings" pitchFamily="2" charset="2"/>
              </a:rPr>
              <a:t> “ l ” </a:t>
            </a:r>
            <a:r>
              <a:rPr lang="zh-CN" altLang="en-US" sz="2600" dirty="0">
                <a:sym typeface="Wingdings" pitchFamily="2" charset="2"/>
              </a:rPr>
              <a:t>：固、液相之间的界面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sz="2600" dirty="0">
                <a:sym typeface="Wingdings" pitchFamily="2" charset="2"/>
              </a:rPr>
              <a:t>“ </a:t>
            </a:r>
            <a:r>
              <a:rPr lang="en-US" altLang="zh-CN" sz="2600" dirty="0" err="1">
                <a:sym typeface="Wingdings" pitchFamily="2" charset="2"/>
              </a:rPr>
              <a:t>ll</a:t>
            </a:r>
            <a:r>
              <a:rPr lang="en-US" altLang="zh-CN" sz="2600" dirty="0">
                <a:sym typeface="Wingdings" pitchFamily="2" charset="2"/>
              </a:rPr>
              <a:t> ”</a:t>
            </a:r>
            <a:r>
              <a:rPr lang="zh-CN" altLang="en-US" sz="2600" dirty="0">
                <a:sym typeface="Wingdings" pitchFamily="2" charset="2"/>
              </a:rPr>
              <a:t> ：盐桥、多孔隔板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sz="2600" dirty="0">
                <a:sym typeface="Wingdings" pitchFamily="2" charset="2"/>
              </a:rPr>
              <a:t> C </a:t>
            </a:r>
            <a:r>
              <a:rPr lang="zh-CN" altLang="en-US" sz="2600" dirty="0">
                <a:sym typeface="Wingdings" pitchFamily="2" charset="2"/>
              </a:rPr>
              <a:t>：溶液的浓度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sz="2600" dirty="0">
                <a:sym typeface="Wingdings" pitchFamily="2" charset="2"/>
              </a:rPr>
              <a:t> </a:t>
            </a:r>
            <a:r>
              <a:rPr lang="zh-CN" altLang="en-US" sz="2600" dirty="0">
                <a:sym typeface="Wingdings" pitchFamily="2" charset="2"/>
              </a:rPr>
              <a:t>先写负极（氧化反应），后写正极（还原反应）</a:t>
            </a:r>
            <a:endParaRPr lang="en-US" altLang="zh-CN" sz="26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        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问题解决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负极：</a:t>
            </a:r>
            <a:r>
              <a:rPr lang="en-US" altLang="zh-CN" sz="3000" dirty="0">
                <a:sym typeface="Wingdings" pitchFamily="2" charset="2"/>
              </a:rPr>
              <a:t>Cu(s)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Cu(NO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或</a:t>
            </a:r>
            <a:r>
              <a:rPr lang="en-US" altLang="zh-CN" sz="3000" dirty="0">
                <a:sym typeface="Wingdings" pitchFamily="2" charset="2"/>
              </a:rPr>
              <a:t>CuSO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2000" dirty="0">
                <a:sym typeface="Wingdings" pitchFamily="2" charset="2"/>
              </a:rPr>
              <a:t>(</a:t>
            </a:r>
            <a:r>
              <a:rPr lang="zh-CN" altLang="en-US" sz="2000" dirty="0">
                <a:sym typeface="Wingdings" pitchFamily="2" charset="2"/>
              </a:rPr>
              <a:t>很贵</a:t>
            </a:r>
            <a:r>
              <a:rPr lang="en-US" altLang="zh-CN" sz="2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或石墨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AgNO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导线，安培计，盐桥，电流流向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 </a:t>
            </a:r>
            <a:r>
              <a:rPr lang="zh-CN" altLang="en-US" sz="3000" dirty="0">
                <a:sym typeface="Wingdings" pitchFamily="2" charset="2"/>
              </a:rPr>
              <a:t>负极： </a:t>
            </a:r>
            <a:r>
              <a:rPr lang="en-US" altLang="zh-CN" sz="3000" dirty="0">
                <a:sym typeface="Wingdings" pitchFamily="2" charset="2"/>
              </a:rPr>
              <a:t>Cu(s)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+ 2e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</a:p>
          <a:p>
            <a:pPr marL="514350" indent="-514350">
              <a:buNone/>
            </a:pP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	</a:t>
            </a:r>
            <a:r>
              <a:rPr lang="zh-CN" altLang="en-US" sz="3000" dirty="0">
                <a:sym typeface="Wingdings" pitchFamily="2" charset="2"/>
              </a:rPr>
              <a:t>正极： </a:t>
            </a:r>
            <a:r>
              <a:rPr lang="en-US" altLang="zh-CN" sz="3000" dirty="0">
                <a:sym typeface="Wingdings" pitchFamily="2" charset="2"/>
              </a:rPr>
              <a:t>2 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2Ag (s)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总反应：</a:t>
            </a:r>
            <a:r>
              <a:rPr lang="en-US" altLang="zh-CN" sz="3000" dirty="0">
                <a:sym typeface="Wingdings" pitchFamily="2" charset="2"/>
              </a:rPr>
              <a:t> Cu(s)  + 2Ag</a:t>
            </a:r>
            <a:r>
              <a:rPr lang="en-US" altLang="zh-CN" sz="3000" baseline="30000" dirty="0">
                <a:sym typeface="Wingdings" pitchFamily="2" charset="2"/>
              </a:rPr>
              <a:t>+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+  2Ag (s)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电池符号：</a:t>
            </a:r>
            <a:r>
              <a:rPr lang="en-US" altLang="zh-CN" sz="3000" dirty="0">
                <a:sym typeface="Wingdings" pitchFamily="2" charset="2"/>
              </a:rPr>
              <a:t>Cu l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(c</a:t>
            </a:r>
            <a:r>
              <a:rPr lang="en-US" altLang="zh-CN" sz="3000" baseline="-25000" dirty="0">
                <a:sym typeface="Wingdings" pitchFamily="2" charset="2"/>
              </a:rPr>
              <a:t>1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en-US" altLang="zh-CN" sz="3000" dirty="0">
                <a:sym typeface="Wingdings" pitchFamily="2" charset="2"/>
              </a:rPr>
              <a:t> 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(c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) l Ag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原电池的工作原理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思考题</a:t>
            </a:r>
            <a:r>
              <a:rPr lang="en-US" altLang="zh-CN" sz="3000" dirty="0">
                <a:sym typeface="Wingdings" pitchFamily="2" charset="2"/>
              </a:rPr>
              <a:t>24a	</a:t>
            </a:r>
          </a:p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A </a:t>
            </a:r>
            <a:r>
              <a:rPr lang="zh-CN" altLang="en-US" sz="3000" dirty="0">
                <a:sym typeface="Wingdings" pitchFamily="2" charset="2"/>
              </a:rPr>
              <a:t>没有构成闭合回路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B </a:t>
            </a:r>
            <a:r>
              <a:rPr lang="zh-CN" altLang="en-US" sz="3000" dirty="0">
                <a:sym typeface="Wingdings" pitchFamily="2" charset="2"/>
              </a:rPr>
              <a:t>两电极均失去电子，电子无法迁移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 </a:t>
            </a:r>
            <a:r>
              <a:rPr lang="zh-CN" altLang="en-US" sz="3000" dirty="0">
                <a:sym typeface="Wingdings" pitchFamily="2" charset="2"/>
              </a:rPr>
              <a:t>酒精不能导电，没有构成闭合回路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C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2.(1) </a:t>
            </a:r>
            <a:r>
              <a:rPr lang="zh-CN" altLang="en-US" sz="3000" dirty="0">
                <a:sym typeface="Wingdings" pitchFamily="2" charset="2"/>
              </a:rPr>
              <a:t>正极不能用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zh-CN" altLang="en-US" sz="3000" dirty="0">
                <a:sym typeface="Wingdings" pitchFamily="2" charset="2"/>
              </a:rPr>
              <a:t>否则反应不同。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(2) </a:t>
            </a:r>
            <a:r>
              <a:rPr lang="zh-CN" altLang="en-US" sz="3000" dirty="0">
                <a:sym typeface="Wingdings" pitchFamily="2" charset="2"/>
              </a:rPr>
              <a:t>负极：</a:t>
            </a:r>
            <a:r>
              <a:rPr lang="en-US" altLang="zh-CN" sz="3000" dirty="0">
                <a:sym typeface="Wingdings" pitchFamily="2" charset="2"/>
              </a:rPr>
              <a:t>Cu(s)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+ 2e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</a:p>
          <a:p>
            <a:pPr marL="514350" indent="-514350">
              <a:buNone/>
            </a:pP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	 </a:t>
            </a: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2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总反应：</a:t>
            </a:r>
            <a:r>
              <a:rPr lang="en-US" altLang="zh-CN" sz="3000" dirty="0">
                <a:sym typeface="Wingdings" pitchFamily="2" charset="2"/>
              </a:rPr>
              <a:t> Cu(s)  + 2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+ 2Fe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(3) </a:t>
            </a:r>
            <a:r>
              <a:rPr lang="zh-CN" altLang="en-US" sz="3000" dirty="0">
                <a:sym typeface="Wingdings" pitchFamily="2" charset="2"/>
              </a:rPr>
              <a:t>电池符号：</a:t>
            </a:r>
            <a:r>
              <a:rPr lang="en-US" altLang="zh-CN" sz="3000" dirty="0">
                <a:sym typeface="Wingdings" pitchFamily="2" charset="2"/>
              </a:rPr>
              <a:t> Cu l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(c</a:t>
            </a:r>
            <a:r>
              <a:rPr lang="en-US" altLang="zh-CN" sz="3000" baseline="-25000" dirty="0">
                <a:sym typeface="Wingdings" pitchFamily="2" charset="2"/>
              </a:rPr>
              <a:t>1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en-US" altLang="zh-CN" sz="3000" dirty="0">
                <a:sym typeface="Wingdings" pitchFamily="2" charset="2"/>
              </a:rPr>
              <a:t>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(c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) l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(c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 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       </a:t>
            </a:r>
          </a:p>
        </p:txBody>
      </p:sp>
      <p:pic>
        <p:nvPicPr>
          <p:cNvPr id="5" name="Picture 4" descr="01.jpg"/>
          <p:cNvPicPr>
            <a:picLocks noChangeAspect="1"/>
          </p:cNvPicPr>
          <p:nvPr/>
        </p:nvPicPr>
        <p:blipFill>
          <a:blip r:embed="rId3"/>
          <a:srcRect l="73895" t="6968" r="2587" b="49480"/>
          <a:stretch>
            <a:fillRect/>
          </a:stretch>
        </p:blipFill>
        <p:spPr>
          <a:xfrm>
            <a:off x="6172200" y="1143000"/>
            <a:ext cx="274320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4478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负极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67581" y="1447800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</a:rPr>
              <a:t>正极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10400" y="757535"/>
            <a:ext cx="114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sym typeface="Wingdings" pitchFamily="2" charset="2"/>
              </a:rPr>
              <a:t> </a:t>
            </a:r>
            <a:r>
              <a:rPr lang="en-US" altLang="zh-CN" sz="2400" b="1" dirty="0">
                <a:solidFill>
                  <a:srgbClr val="002060"/>
                </a:solidFill>
              </a:rPr>
              <a:t>e</a:t>
            </a:r>
            <a:r>
              <a:rPr lang="en-US" altLang="zh-CN" sz="2400" b="1" baseline="30000" dirty="0">
                <a:solidFill>
                  <a:srgbClr val="002060"/>
                </a:solidFill>
              </a:rPr>
              <a:t>-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r>
              <a:rPr lang="en-US" altLang="zh-CN" sz="2400" b="1" dirty="0">
                <a:solidFill>
                  <a:srgbClr val="002060"/>
                </a:solidFill>
                <a:sym typeface="Wingdings" pitchFamily="2" charset="2"/>
              </a:rPr>
              <a:t>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化学电源：将氧化还原反应中产生的化学能转变为电能的装置。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可分为：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一次电池：不能再生（</a:t>
            </a:r>
            <a:r>
              <a:rPr lang="en-US" altLang="zh-CN" sz="2600" dirty="0">
                <a:sym typeface="Wingdings" pitchFamily="2" charset="2"/>
              </a:rPr>
              <a:t>Zn – </a:t>
            </a:r>
            <a:r>
              <a:rPr lang="en-US" altLang="zh-CN" sz="2600" dirty="0" err="1">
                <a:sym typeface="Wingdings" pitchFamily="2" charset="2"/>
              </a:rPr>
              <a:t>Mn</a:t>
            </a:r>
            <a:r>
              <a:rPr lang="en-US" altLang="zh-CN" sz="2600" dirty="0">
                <a:sym typeface="Wingdings" pitchFamily="2" charset="2"/>
              </a:rPr>
              <a:t> </a:t>
            </a:r>
            <a:r>
              <a:rPr lang="zh-CN" altLang="en-US" sz="2600" dirty="0">
                <a:sym typeface="Wingdings" pitchFamily="2" charset="2"/>
              </a:rPr>
              <a:t>干电池、银锌纽扣电池）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二次电池：可再生（铅蓄电池）</a:t>
            </a:r>
            <a:endParaRPr lang="en-US" altLang="zh-CN" sz="26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实用电池的特点：能产生稳定的电流；安全、耐用且便于携带；便于回收处理，不污染环境。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None/>
            </a:pPr>
            <a:endParaRPr lang="en-US" altLang="zh-CN" sz="26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锌锰干电池</a:t>
            </a:r>
            <a:r>
              <a:rPr lang="en-US" altLang="zh-CN" sz="3000" dirty="0"/>
              <a:t>			 </a:t>
            </a:r>
            <a:r>
              <a:rPr lang="zh-CN" altLang="en-US" sz="3000" dirty="0"/>
              <a:t>碱性锌锰干电池</a:t>
            </a:r>
            <a:endParaRPr lang="en-US" altLang="zh-CN" sz="3000" dirty="0"/>
          </a:p>
        </p:txBody>
      </p:sp>
      <p:pic>
        <p:nvPicPr>
          <p:cNvPr id="5" name="Picture 4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11300"/>
            <a:ext cx="3888987" cy="3962400"/>
          </a:xfrm>
          <a:prstGeom prst="rect">
            <a:avLst/>
          </a:prstGeom>
        </p:spPr>
      </p:pic>
      <p:pic>
        <p:nvPicPr>
          <p:cNvPr id="6" name="Picture 5" descr="0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435100"/>
            <a:ext cx="3543300" cy="412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33800" y="2971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负极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33800" y="23622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正极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u="sng" dirty="0"/>
              <a:t>锌锰干电池</a:t>
            </a:r>
            <a:endParaRPr lang="en-US" altLang="zh-CN" sz="3000" u="sng" dirty="0"/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/>
              <a:t>负极：</a:t>
            </a:r>
            <a:r>
              <a:rPr lang="en-US" altLang="zh-CN" sz="3000" dirty="0"/>
              <a:t>Zn(s) </a:t>
            </a:r>
            <a:r>
              <a:rPr lang="en-US" altLang="zh-CN" sz="3000" dirty="0">
                <a:sym typeface="Wingdings" pitchFamily="2" charset="2"/>
              </a:rPr>
              <a:t>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2Mn</a:t>
            </a:r>
            <a:r>
              <a:rPr lang="en-US" altLang="zh-CN" sz="3000" baseline="30000" dirty="0">
                <a:sym typeface="Wingdings" pitchFamily="2" charset="2"/>
              </a:rPr>
              <a:t>4+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2Mn</a:t>
            </a:r>
            <a:r>
              <a:rPr lang="en-US" altLang="zh-CN" sz="3000" baseline="30000" dirty="0">
                <a:sym typeface="Wingdings" pitchFamily="2" charset="2"/>
              </a:rPr>
              <a:t>3+ 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en-US" altLang="zh-CN" sz="3000" dirty="0">
                <a:sym typeface="Wingdings" pitchFamily="2" charset="2"/>
              </a:rPr>
              <a:t>Zn + 2MnO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+ 2NH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Cl  ZnCl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Mn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+ 2NH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特点：原料丰富、价格低廉、易于制造、方便携带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缺点：寿命短、放电后电压下降快、外壳容易变软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碱性锌锰干电池比普通锌锰干电池性能优越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提供较大电流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并连续放电</a:t>
            </a:r>
            <a:endParaRPr lang="en-US" altLang="zh-CN" sz="2600" dirty="0"/>
          </a:p>
          <a:p>
            <a:pPr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/>
              <a:t>问题解决</a:t>
            </a:r>
            <a:endParaRPr lang="en-US" altLang="zh-CN" sz="3000" dirty="0"/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正极材料：</a:t>
            </a:r>
            <a:r>
              <a:rPr lang="en-US" altLang="zh-CN" sz="3000" dirty="0"/>
              <a:t>MnO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负极材料：</a:t>
            </a:r>
            <a:r>
              <a:rPr lang="en-US" altLang="zh-CN" sz="3000" dirty="0"/>
              <a:t>Zn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/>
              <a:t>负极的电极反应：</a:t>
            </a:r>
            <a:r>
              <a:rPr lang="en-US" altLang="zh-CN" sz="3000" dirty="0"/>
              <a:t>Zn(s) + 2OH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 </a:t>
            </a:r>
            <a:r>
              <a:rPr lang="en-US" altLang="zh-CN" sz="3000" dirty="0">
                <a:sym typeface="Wingdings" pitchFamily="2" charset="2"/>
              </a:rPr>
              <a:t> Zn(OH)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(s)+ 2e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2800" u="sng" dirty="0">
                <a:sym typeface="Wingdings" pitchFamily="2" charset="2"/>
              </a:rPr>
              <a:t>铅蓄电池</a:t>
            </a:r>
            <a:endParaRPr lang="en-US" altLang="zh-CN" sz="2800" u="sng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放电时，化学能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电能（原电池原理）</a:t>
            </a: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负极：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正极：</a:t>
            </a:r>
            <a:r>
              <a:rPr lang="en-US" altLang="zh-CN" sz="2800" dirty="0">
                <a:sym typeface="Wingdings" pitchFamily="2" charset="2"/>
              </a:rPr>
              <a:t>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电解质溶液：</a:t>
            </a:r>
            <a:r>
              <a:rPr lang="en-US" altLang="zh-CN" sz="2800" dirty="0">
                <a:sym typeface="Wingdings" pitchFamily="2" charset="2"/>
              </a:rPr>
              <a:t>30%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负极：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(s) 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(s)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正极：</a:t>
            </a:r>
            <a:r>
              <a:rPr lang="en-US" altLang="zh-CN" sz="2800" dirty="0">
                <a:sym typeface="Wingdings" pitchFamily="2" charset="2"/>
              </a:rPr>
              <a:t>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 + 4H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总反应：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>
                <a:sym typeface="Wingdings" pitchFamily="2" charset="2"/>
              </a:rPr>
              <a:t>(s) + 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 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) 2PbSO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</a:t>
            </a:r>
          </a:p>
          <a:p>
            <a:pPr marL="514350" indent="-514350"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两极皆产生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</a:t>
            </a:r>
            <a:r>
              <a:rPr lang="zh-CN" altLang="en-US" sz="2800" dirty="0">
                <a:sym typeface="Wingdings" pitchFamily="2" charset="2"/>
              </a:rPr>
              <a:t>沉淀在两极上（充电时将被电解）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被消耗成水，浓度逐渐降低。（需充电）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2800" u="sng" dirty="0">
                <a:sym typeface="Wingdings" pitchFamily="2" charset="2"/>
              </a:rPr>
              <a:t>铅蓄电池</a:t>
            </a:r>
            <a:endParaRPr lang="en-US" altLang="zh-CN" sz="2800" u="sng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充电时，电能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化学能（电解原理）</a:t>
            </a: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阴极：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阳极：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阴极：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(s)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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(s) 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阳极：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 +2H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O(l)PbO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(s)+4H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总反应：</a:t>
            </a:r>
            <a:r>
              <a:rPr lang="en-US" altLang="zh-CN" sz="2800" dirty="0">
                <a:sym typeface="Wingdings" pitchFamily="2" charset="2"/>
              </a:rPr>
              <a:t>2PbSO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 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>
                <a:sym typeface="Wingdings" pitchFamily="2" charset="2"/>
              </a:rPr>
              <a:t>(s) + 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 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为放电时的逆反应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两极皆将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</a:t>
            </a:r>
            <a:r>
              <a:rPr lang="zh-CN" altLang="en-US" sz="2800" dirty="0">
                <a:sym typeface="Wingdings" pitchFamily="2" charset="2"/>
              </a:rPr>
              <a:t>沉淀除去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再度产生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(1)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有关铅蓄电池，下列叙述，何者为正确？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正极为</a:t>
            </a:r>
            <a:r>
              <a:rPr lang="en-US" altLang="zh-CN" sz="3000" dirty="0">
                <a:sym typeface="Wingdings" pitchFamily="2" charset="2"/>
              </a:rPr>
              <a:t>PbO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	</a:t>
            </a: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负极为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电解质为稀硫酸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充电时</a:t>
            </a:r>
            <a:r>
              <a:rPr lang="en-US" altLang="zh-CN" sz="3000" dirty="0">
                <a:sym typeface="Wingdings" pitchFamily="2" charset="2"/>
              </a:rPr>
              <a:t>PbSO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zh-CN" altLang="en-US" sz="3000" dirty="0">
                <a:sym typeface="Wingdings" pitchFamily="2" charset="2"/>
              </a:rPr>
              <a:t>从两极除去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A 2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4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B 1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3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C </a:t>
            </a:r>
            <a:r>
              <a:rPr lang="zh-CN" altLang="en-US" sz="3000" dirty="0">
                <a:sym typeface="Wingdings" pitchFamily="2" charset="2"/>
              </a:rPr>
              <a:t>全部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D </a:t>
            </a:r>
            <a:r>
              <a:rPr lang="zh-CN" altLang="en-US" sz="3000" dirty="0">
                <a:sym typeface="Wingdings" pitchFamily="2" charset="2"/>
              </a:rPr>
              <a:t>其他组合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C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思考题</a:t>
            </a:r>
            <a:r>
              <a:rPr lang="en-US" altLang="zh-CN" sz="3000" dirty="0">
                <a:sym typeface="Wingdings" pitchFamily="2" charset="2"/>
              </a:rPr>
              <a:t>24b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1. </a:t>
            </a:r>
            <a:r>
              <a:rPr lang="zh-CN" altLang="en-US" sz="3000" dirty="0">
                <a:sym typeface="Wingdings" pitchFamily="2" charset="2"/>
              </a:rPr>
              <a:t>一次性电池使用后如果处理不当，当电极和电解质溶液非常容易对环境造成污染，且一次性电池相比充电电池而言，电池电量储存得较少，充电电池克服了这个缺点，不仅电量大，而且可以循环使用，非常节能环保，可以长时间保存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负极： </a:t>
            </a:r>
            <a:r>
              <a:rPr lang="en-US" altLang="zh-CN" sz="3000" dirty="0">
                <a:sym typeface="Wingdings" pitchFamily="2" charset="2"/>
              </a:rPr>
              <a:t>4Al(s)  4Al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+ 12e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正极： </a:t>
            </a:r>
            <a:r>
              <a:rPr lang="en-US" altLang="zh-CN" sz="3000" dirty="0">
                <a:sym typeface="Wingdings" pitchFamily="2" charset="2"/>
              </a:rPr>
              <a:t>3O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(g) + 6H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O(l) + 12e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12OH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电极电势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pic>
        <p:nvPicPr>
          <p:cNvPr id="5" name="Picture 4" descr="IMG_20181211_141220.jpg"/>
          <p:cNvPicPr>
            <a:picLocks noChangeAspect="1"/>
          </p:cNvPicPr>
          <p:nvPr/>
        </p:nvPicPr>
        <p:blipFill>
          <a:blip r:embed="rId3" cstate="print"/>
          <a:srcRect l="33333" t="23333" r="33333" b="40000"/>
          <a:stretch>
            <a:fillRect/>
          </a:stretch>
        </p:blipFill>
        <p:spPr>
          <a:xfrm rot="5400000">
            <a:off x="6362700" y="2781300"/>
            <a:ext cx="3048000" cy="25146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电势差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电动势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能表示得失电子的能力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金属</a:t>
            </a:r>
            <a:r>
              <a:rPr lang="en-US" altLang="zh-CN" sz="3000" dirty="0">
                <a:sym typeface="Wingdings" pitchFamily="2" charset="2"/>
              </a:rPr>
              <a:t>M(s) 	  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n 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金属越活泼，溶液越稀，利于正反应</a:t>
            </a:r>
            <a:r>
              <a:rPr lang="en-US" altLang="zh-CN" sz="2600" dirty="0">
                <a:sym typeface="Wingdings" pitchFamily="2" charset="2"/>
              </a:rPr>
              <a:t>(</a:t>
            </a:r>
            <a:r>
              <a:rPr lang="zh-CN" altLang="en-US" sz="2600" dirty="0">
                <a:sym typeface="Wingdings" pitchFamily="2" charset="2"/>
              </a:rPr>
              <a:t>溶解</a:t>
            </a:r>
            <a:r>
              <a:rPr lang="en-US" altLang="zh-CN" sz="2600" dirty="0">
                <a:sym typeface="Wingdings" pitchFamily="2" charset="2"/>
              </a:rPr>
              <a:t>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金属越稳定，溶液越浓，利于逆反应</a:t>
            </a:r>
            <a:r>
              <a:rPr lang="en-US" altLang="zh-CN" sz="2600" dirty="0">
                <a:sym typeface="Wingdings" pitchFamily="2" charset="2"/>
              </a:rPr>
              <a:t>(</a:t>
            </a:r>
            <a:r>
              <a:rPr lang="zh-CN" altLang="en-US" sz="2600" dirty="0">
                <a:sym typeface="Wingdings" pitchFamily="2" charset="2"/>
              </a:rPr>
              <a:t>沉积</a:t>
            </a:r>
            <a:r>
              <a:rPr lang="en-US" altLang="zh-CN" sz="2600" dirty="0">
                <a:sym typeface="Wingdings" pitchFamily="2" charset="2"/>
              </a:rPr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一定浓度下，若</a:t>
            </a:r>
            <a:r>
              <a:rPr lang="en-US" altLang="zh-CN" sz="3000" dirty="0">
                <a:sym typeface="Wingdings" pitchFamily="2" charset="2"/>
              </a:rPr>
              <a:t>R</a:t>
            </a:r>
            <a:r>
              <a:rPr lang="zh-CN" altLang="en-US" sz="3000" baseline="-25000" dirty="0">
                <a:sym typeface="Wingdings" pitchFamily="2" charset="2"/>
              </a:rPr>
              <a:t>溶解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&gt; R</a:t>
            </a:r>
            <a:r>
              <a:rPr lang="zh-CN" altLang="en-US" sz="3000" baseline="-25000" dirty="0">
                <a:sym typeface="Wingdings" pitchFamily="2" charset="2"/>
              </a:rPr>
              <a:t>沉积</a:t>
            </a:r>
            <a:r>
              <a:rPr lang="zh-CN" altLang="en-US" sz="3000" dirty="0">
                <a:sym typeface="Wingdings" pitchFamily="2" charset="2"/>
              </a:rPr>
              <a:t> ，则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这时金属和盐溶液间就产生了电势差。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这种金属与其盐溶液之间的电位差叫金属的电极电势。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  <p:grpSp>
        <p:nvGrpSpPr>
          <p:cNvPr id="6" name="Group 11"/>
          <p:cNvGrpSpPr/>
          <p:nvPr/>
        </p:nvGrpSpPr>
        <p:grpSpPr>
          <a:xfrm>
            <a:off x="2301240" y="2057400"/>
            <a:ext cx="822960" cy="76199"/>
            <a:chOff x="2895600" y="6324600"/>
            <a:chExt cx="2133600" cy="76199"/>
          </a:xfrm>
        </p:grpSpPr>
        <p:cxnSp>
          <p:nvCxnSpPr>
            <p:cNvPr id="7" name="Straight Arrow Connector 6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ight Arrow 8"/>
          <p:cNvSpPr/>
          <p:nvPr/>
        </p:nvSpPr>
        <p:spPr>
          <a:xfrm>
            <a:off x="6096000" y="4191000"/>
            <a:ext cx="990600" cy="152400"/>
          </a:xfrm>
          <a:prstGeom prst="rightArrow">
            <a:avLst/>
          </a:prstGeom>
          <a:solidFill>
            <a:srgbClr val="7030A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标准电极电势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电极电势单位：伏特</a:t>
            </a:r>
            <a:r>
              <a:rPr lang="en-US" altLang="zh-CN" sz="3000" dirty="0">
                <a:sym typeface="Wingdings" pitchFamily="2" charset="2"/>
              </a:rPr>
              <a:t>(V)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两种表示法：还原电势、氧化电势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(</a:t>
            </a:r>
            <a:r>
              <a:rPr lang="zh-CN" altLang="en-US" sz="3000" dirty="0">
                <a:sym typeface="Wingdings" pitchFamily="2" charset="2"/>
              </a:rPr>
              <a:t>数值相等、符号相反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标准电极电势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氧化还原电对：</a:t>
            </a: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/ Zn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	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与</a:t>
            </a:r>
            <a:r>
              <a:rPr lang="en-US" altLang="zh-CN" sz="3000" dirty="0">
                <a:sym typeface="Wingdings" pitchFamily="2" charset="2"/>
              </a:rPr>
              <a:t> Zn</a:t>
            </a:r>
            <a:r>
              <a:rPr lang="zh-CN" altLang="en-US" sz="3000" dirty="0">
                <a:sym typeface="Wingdings" pitchFamily="2" charset="2"/>
              </a:rPr>
              <a:t>之间的电势差：还原电势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		Zn/ Zn</a:t>
            </a:r>
            <a:r>
              <a:rPr lang="en-US" altLang="zh-CN" sz="3000" baseline="30000" dirty="0">
                <a:sym typeface="Wingdings" pitchFamily="2" charset="2"/>
              </a:rPr>
              <a:t>2+ 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		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Zn</a:t>
            </a:r>
            <a:r>
              <a:rPr lang="zh-CN" altLang="en-US" sz="3000" dirty="0">
                <a:sym typeface="Wingdings" pitchFamily="2" charset="2"/>
              </a:rPr>
              <a:t>与</a:t>
            </a:r>
            <a:r>
              <a:rPr lang="en-US" altLang="zh-CN" sz="3000" dirty="0">
                <a:sym typeface="Wingdings" pitchFamily="2" charset="2"/>
              </a:rPr>
              <a:t>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之间的电势差：氧化电势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/ Zn</a:t>
            </a:r>
            <a:r>
              <a:rPr lang="zh-CN" altLang="en-US" sz="3000" dirty="0">
                <a:sym typeface="Wingdings" pitchFamily="2" charset="2"/>
              </a:rPr>
              <a:t>电对的电极电势 </a:t>
            </a:r>
            <a:r>
              <a:rPr lang="en-US" altLang="zh-CN" sz="3000" dirty="0">
                <a:sym typeface="Wingdings" pitchFamily="2" charset="2"/>
              </a:rPr>
              <a:t>&lt;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/ Cu</a:t>
            </a:r>
            <a:r>
              <a:rPr lang="zh-CN" altLang="en-US" sz="3000" dirty="0">
                <a:sym typeface="Wingdings" pitchFamily="2" charset="2"/>
              </a:rPr>
              <a:t>电对的电极电势 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还原电势越大，越容易被还原，越容易得电子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  <p:sp>
        <p:nvSpPr>
          <p:cNvPr id="5" name="Curved Up Arrow 4"/>
          <p:cNvSpPr/>
          <p:nvPr/>
        </p:nvSpPr>
        <p:spPr>
          <a:xfrm>
            <a:off x="3581400" y="1600200"/>
            <a:ext cx="762000" cy="2286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urved Up Arrow 5"/>
          <p:cNvSpPr/>
          <p:nvPr/>
        </p:nvSpPr>
        <p:spPr>
          <a:xfrm>
            <a:off x="3276600" y="3657600"/>
            <a:ext cx="762000" cy="2286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标准电极电势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金属的电极电势：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金属在其盐溶液中</a:t>
            </a: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得失电子</a:t>
            </a:r>
            <a:r>
              <a:rPr lang="zh-CN" altLang="en-US" sz="2600" dirty="0">
                <a:sym typeface="Wingdings" pitchFamily="2" charset="2"/>
              </a:rPr>
              <a:t>的能力、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判断氧化剂还原剂的</a:t>
            </a:r>
            <a:r>
              <a:rPr lang="zh-CN" alt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相对强弱</a:t>
            </a:r>
            <a:endParaRPr lang="en-US" altLang="zh-CN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无法单独测定</a:t>
            </a:r>
            <a:endParaRPr lang="en-US" altLang="zh-CN" sz="26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标准氢电极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  <p:pic>
        <p:nvPicPr>
          <p:cNvPr id="6" name="Picture 5" descr="hh.jpg"/>
          <p:cNvPicPr>
            <a:picLocks noChangeAspect="1"/>
          </p:cNvPicPr>
          <p:nvPr/>
        </p:nvPicPr>
        <p:blipFill>
          <a:blip r:embed="rId3"/>
          <a:srcRect l="11006" t="7295" r="58805" b="24377"/>
          <a:stretch>
            <a:fillRect/>
          </a:stretch>
        </p:blipFill>
        <p:spPr>
          <a:xfrm>
            <a:off x="36576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标准电极电势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测定标准电极电势的装置</a:t>
            </a:r>
            <a:endParaRPr lang="en-US" altLang="zh-CN" sz="28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标准电极电势符号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o</a:t>
            </a:r>
          </a:p>
          <a:p>
            <a:pPr>
              <a:buNone/>
            </a:pP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Zn(s)+ 2H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+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(</a:t>
            </a:r>
            <a:r>
              <a:rPr lang="en-US" altLang="zh-CN" sz="2800" dirty="0" err="1">
                <a:latin typeface="Arial"/>
                <a:cs typeface="Arial"/>
                <a:sym typeface="Wingdings" pitchFamily="2" charset="2"/>
              </a:rPr>
              <a:t>aq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)  Zn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2+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(</a:t>
            </a:r>
            <a:r>
              <a:rPr lang="en-US" altLang="zh-CN" sz="2800" dirty="0" err="1">
                <a:latin typeface="Arial"/>
                <a:cs typeface="Arial"/>
                <a:sym typeface="Wingdings" pitchFamily="2" charset="2"/>
              </a:rPr>
              <a:t>aq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) +H</a:t>
            </a:r>
            <a:r>
              <a:rPr lang="en-US" altLang="zh-CN" sz="2800" baseline="-25000" dirty="0">
                <a:latin typeface="Arial"/>
                <a:cs typeface="Arial"/>
                <a:sym typeface="Wingdings" pitchFamily="2" charset="2"/>
              </a:rPr>
              <a:t>2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(g) 		</a:t>
            </a:r>
            <a:r>
              <a:rPr lang="en-US" altLang="zh-CN" sz="2800" dirty="0" err="1">
                <a:latin typeface="Arial"/>
                <a:cs typeface="Arial"/>
                <a:sym typeface="Wingdings" pitchFamily="2" charset="2"/>
              </a:rPr>
              <a:t>E</a:t>
            </a:r>
            <a:r>
              <a:rPr lang="en-US" altLang="zh-CN" sz="2800" baseline="30000" dirty="0" err="1">
                <a:latin typeface="Arial"/>
                <a:cs typeface="Arial"/>
                <a:sym typeface="Wingdings" pitchFamily="2" charset="2"/>
              </a:rPr>
              <a:t>o</a:t>
            </a:r>
            <a:r>
              <a:rPr lang="en-US" altLang="zh-CN" sz="2800" baseline="-25000" dirty="0" err="1">
                <a:latin typeface="Arial"/>
                <a:cs typeface="Arial"/>
                <a:sym typeface="Wingdings" pitchFamily="2" charset="2"/>
              </a:rPr>
              <a:t>cell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= 0.76V </a:t>
            </a:r>
          </a:p>
          <a:p>
            <a:pPr>
              <a:buNone/>
            </a:pPr>
            <a:r>
              <a:rPr lang="zh-CN" altLang="en-US" sz="2800" dirty="0">
                <a:latin typeface="Arial"/>
                <a:cs typeface="Arial"/>
                <a:sym typeface="Wingdings" pitchFamily="2" charset="2"/>
              </a:rPr>
              <a:t>负极：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Zn  Zn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2+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+ 2e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-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  	 </a:t>
            </a:r>
            <a:r>
              <a:rPr lang="en-US" sz="2800" dirty="0"/>
              <a:t>E</a:t>
            </a:r>
            <a:r>
              <a:rPr lang="en-US" sz="2800" baseline="-25000" dirty="0"/>
              <a:t>-</a:t>
            </a:r>
            <a:r>
              <a:rPr lang="en-US" sz="2800" dirty="0"/>
              <a:t> 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= ? 	</a:t>
            </a:r>
            <a:endParaRPr lang="en-US" altLang="zh-CN" sz="2800" baseline="30000" dirty="0">
              <a:latin typeface="Arial"/>
              <a:cs typeface="Arial"/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latin typeface="Arial"/>
                <a:cs typeface="Arial"/>
                <a:sym typeface="Wingdings" pitchFamily="2" charset="2"/>
              </a:rPr>
              <a:t>正极：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2H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+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+ 2e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-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  H</a:t>
            </a:r>
            <a:r>
              <a:rPr lang="en-US" altLang="zh-CN" sz="2800" baseline="-25000" dirty="0">
                <a:latin typeface="Arial"/>
                <a:cs typeface="Arial"/>
                <a:sym typeface="Wingdings" pitchFamily="2" charset="2"/>
              </a:rPr>
              <a:t>2 	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 	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n-US" altLang="zh-CN" sz="2800" baseline="-25000" dirty="0"/>
              <a:t>+</a:t>
            </a:r>
            <a:r>
              <a:rPr lang="en-US" sz="2800" baseline="-25000" dirty="0"/>
              <a:t> 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= 0V </a:t>
            </a:r>
            <a:endParaRPr lang="en-US" altLang="zh-CN" sz="2800" dirty="0">
              <a:cs typeface="Calibri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altLang="zh-CN" sz="2800" b="1" baseline="30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2800" b="1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负极氧化电位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正极还原电位 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dirty="0"/>
              <a:t>E</a:t>
            </a:r>
            <a:r>
              <a:rPr lang="en-US" altLang="zh-CN" sz="2800" baseline="-25000" dirty="0"/>
              <a:t>-</a:t>
            </a:r>
            <a:r>
              <a:rPr lang="en-US" altLang="zh-CN" sz="2800" dirty="0"/>
              <a:t> + E</a:t>
            </a:r>
            <a:r>
              <a:rPr lang="en-US" altLang="zh-CN" sz="2800" baseline="-25000" dirty="0"/>
              <a:t>+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0.76V = 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+ 0</a:t>
            </a:r>
            <a:endParaRPr lang="en-US" altLang="zh-CN" sz="2800" baseline="30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baseline="30000" dirty="0">
                <a:sym typeface="Wingdings" pitchFamily="2" charset="2"/>
              </a:rPr>
              <a:t>	          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= 0.76V</a:t>
            </a:r>
          </a:p>
          <a:p>
            <a:pPr>
              <a:buNone/>
            </a:pP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Zn/ Zn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2+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</a:t>
            </a:r>
            <a:r>
              <a:rPr lang="zh-CN" altLang="en-US" sz="2800" dirty="0">
                <a:latin typeface="Arial"/>
                <a:cs typeface="Arial"/>
                <a:sym typeface="Wingdings" pitchFamily="2" charset="2"/>
              </a:rPr>
              <a:t>电对的标准氧化电势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=   0.76V</a:t>
            </a:r>
          </a:p>
          <a:p>
            <a:pPr>
              <a:buNone/>
            </a:pP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Zn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2+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/ Zn </a:t>
            </a:r>
            <a:r>
              <a:rPr lang="zh-CN" altLang="en-US" sz="2800" dirty="0">
                <a:latin typeface="Arial"/>
                <a:cs typeface="Arial"/>
                <a:sym typeface="Wingdings" pitchFamily="2" charset="2"/>
              </a:rPr>
              <a:t>电对的标准还原电势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=  - 0.76V</a:t>
            </a:r>
            <a:r>
              <a:rPr lang="en-US" altLang="zh-CN" sz="2800" baseline="30000" dirty="0">
                <a:latin typeface="Arial"/>
                <a:cs typeface="Arial"/>
                <a:sym typeface="Wingdings" pitchFamily="2" charset="2"/>
              </a:rPr>
              <a:t> </a:t>
            </a:r>
            <a:r>
              <a:rPr lang="en-US" altLang="zh-CN" sz="2800" dirty="0">
                <a:latin typeface="Arial"/>
                <a:cs typeface="Arial"/>
                <a:sym typeface="Wingdings" pitchFamily="2" charset="2"/>
              </a:rPr>
              <a:t> </a:t>
            </a:r>
            <a:endParaRPr lang="en-US" altLang="zh-CN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2800" dirty="0"/>
          </a:p>
        </p:txBody>
      </p:sp>
      <p:pic>
        <p:nvPicPr>
          <p:cNvPr id="5" name="Picture 4" descr="Hdianji1.jpg"/>
          <p:cNvPicPr>
            <a:picLocks noChangeAspect="1"/>
          </p:cNvPicPr>
          <p:nvPr/>
        </p:nvPicPr>
        <p:blipFill>
          <a:blip r:embed="rId3"/>
          <a:srcRect l="46242" t="6156" b="28584"/>
          <a:stretch>
            <a:fillRect/>
          </a:stretch>
        </p:blipFill>
        <p:spPr>
          <a:xfrm>
            <a:off x="304800" y="2514600"/>
            <a:ext cx="7529854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91200" y="5572780"/>
            <a:ext cx="2379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 </a:t>
            </a:r>
            <a:r>
              <a:rPr lang="en-US" altLang="zh-CN" sz="2800" b="1" dirty="0">
                <a:solidFill>
                  <a:srgbClr val="002060"/>
                </a:solidFill>
              </a:rPr>
              <a:t>1 M </a:t>
            </a:r>
            <a:r>
              <a:rPr lang="en-US" altLang="zh-CN" sz="2800" b="1" dirty="0" err="1">
                <a:solidFill>
                  <a:srgbClr val="002060"/>
                </a:solidFill>
              </a:rPr>
              <a:t>HCl</a:t>
            </a:r>
            <a:r>
              <a:rPr lang="en-US" altLang="zh-CN" sz="2800" b="1" dirty="0">
                <a:solidFill>
                  <a:srgbClr val="002060"/>
                </a:solidFill>
              </a:rPr>
              <a:t>(</a:t>
            </a:r>
            <a:r>
              <a:rPr lang="en-US" altLang="zh-CN" sz="2800" b="1" dirty="0" err="1">
                <a:solidFill>
                  <a:srgbClr val="002060"/>
                </a:solidFill>
              </a:rPr>
              <a:t>aq</a:t>
            </a:r>
            <a:r>
              <a:rPr lang="en-US" altLang="zh-CN" sz="2800" b="1" dirty="0">
                <a:solidFill>
                  <a:srgbClr val="002060"/>
                </a:solidFill>
              </a:rPr>
              <a:t>)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0" y="3200400"/>
            <a:ext cx="2845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sym typeface="Wingdings" pitchFamily="2" charset="2"/>
              </a:rPr>
              <a:t>1.01x10</a:t>
            </a:r>
            <a:r>
              <a:rPr lang="en-US" sz="2800" b="1" baseline="30000" dirty="0">
                <a:solidFill>
                  <a:srgbClr val="002060"/>
                </a:solidFill>
                <a:sym typeface="Wingdings" pitchFamily="2" charset="2"/>
              </a:rPr>
              <a:t>5</a:t>
            </a:r>
            <a:r>
              <a:rPr lang="en-US" sz="2800" b="1" dirty="0">
                <a:solidFill>
                  <a:srgbClr val="002060"/>
                </a:solidFill>
                <a:sym typeface="Wingdings" pitchFamily="2" charset="2"/>
              </a:rPr>
              <a:t> Pa, 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298K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6" grpId="1"/>
      <p:bldP spid="7" grpId="0"/>
      <p:bldP spid="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标准电极电势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影响金属的电极电势的因素：</a:t>
            </a:r>
            <a:r>
              <a:rPr lang="en-US" altLang="zh-CN" sz="3000" dirty="0">
                <a:sym typeface="Wingdings" pitchFamily="2" charset="2"/>
              </a:rPr>
              <a:t>pg303</a:t>
            </a:r>
          </a:p>
          <a:p>
            <a:pPr lvl="1">
              <a:buFont typeface="Wingdings" pitchFamily="2" charset="2"/>
              <a:buChar char="v"/>
            </a:pPr>
            <a:r>
              <a:rPr lang="zh-CN" altLang="en-US" dirty="0">
                <a:sym typeface="Wingdings" pitchFamily="2" charset="2"/>
              </a:rPr>
              <a:t>金属的本性</a:t>
            </a:r>
            <a:endParaRPr lang="en-US" altLang="zh-CN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dirty="0">
                <a:sym typeface="Wingdings" pitchFamily="2" charset="2"/>
              </a:rPr>
              <a:t>温度、压强</a:t>
            </a:r>
            <a:endParaRPr lang="en-US" altLang="zh-CN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dirty="0">
                <a:sym typeface="Wingdings" pitchFamily="2" charset="2"/>
              </a:rPr>
              <a:t>金属离子的浓度</a:t>
            </a:r>
            <a:endParaRPr lang="en-US" altLang="zh-CN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电极电势的应用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判断氧化剂和还原剂的相对强弱（交流分享</a:t>
            </a:r>
            <a:r>
              <a:rPr lang="en-US" altLang="zh-CN" sz="3000" dirty="0">
                <a:sym typeface="Wingdings" pitchFamily="2" charset="2"/>
              </a:rPr>
              <a:t>pg304</a:t>
            </a:r>
            <a:r>
              <a:rPr lang="zh-CN" altLang="en-US" sz="3000" dirty="0">
                <a:sym typeface="Wingdings" pitchFamily="2" charset="2"/>
              </a:rPr>
              <a:t>）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标准还原电势越大、越容易被还原、强氧化剂。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判断氧化还原反应进行的方向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arenR"/>
            </a:pPr>
            <a:r>
              <a:rPr lang="zh-CN" altLang="en-US" sz="3000" dirty="0">
                <a:sym typeface="Wingdings" pitchFamily="2" charset="2"/>
              </a:rPr>
              <a:t>氧化反应：负极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arenR"/>
            </a:pPr>
            <a:r>
              <a:rPr lang="zh-CN" altLang="en-US" sz="3000" dirty="0">
                <a:sym typeface="Wingdings" pitchFamily="2" charset="2"/>
              </a:rPr>
              <a:t>还原反应：正极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arenR"/>
            </a:pPr>
            <a:r>
              <a:rPr lang="zh-CN" altLang="en-US" sz="3000" dirty="0">
                <a:sym typeface="Wingdings" pitchFamily="2" charset="2"/>
              </a:rPr>
              <a:t>查出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两个半反应的标准电位</a:t>
            </a:r>
            <a:endParaRPr lang="en-US" altLang="zh-CN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 marL="514350" indent="-514350">
              <a:buFont typeface="+mj-lt"/>
              <a:buAutoNum type="arabicParenR"/>
            </a:pPr>
            <a:r>
              <a:rPr lang="zh-CN" altLang="en-US" sz="3000" dirty="0">
                <a:sym typeface="Wingdings" pitchFamily="2" charset="2"/>
              </a:rPr>
              <a:t>计算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baseline="-25000" dirty="0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=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+ 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3000" baseline="-25000" dirty="0" err="1">
                <a:sym typeface="Wingdings" pitchFamily="2" charset="2"/>
              </a:rPr>
              <a:t>+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&gt; 0 </a:t>
            </a:r>
            <a:r>
              <a:rPr lang="zh-CN" altLang="en-US" sz="3000" dirty="0">
                <a:sym typeface="Wingdings" pitchFamily="2" charset="2"/>
              </a:rPr>
              <a:t>，反应能进行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&lt; 0</a:t>
            </a:r>
            <a:r>
              <a:rPr lang="zh-CN" altLang="en-US" sz="3000" dirty="0">
                <a:sym typeface="Wingdings" pitchFamily="2" charset="2"/>
              </a:rPr>
              <a:t>，反应不能进行，反应式写反了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电极电势的应用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例题：判断</a:t>
            </a:r>
            <a:r>
              <a:rPr lang="en-US" altLang="zh-CN" sz="3000" dirty="0">
                <a:sym typeface="Wingdings" pitchFamily="2" charset="2"/>
              </a:rPr>
              <a:t>Cu(s) + 2Fe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能否向右进行。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负极氧化反应：</a:t>
            </a:r>
            <a:r>
              <a:rPr lang="en-US" altLang="zh-CN" sz="3000" dirty="0">
                <a:sym typeface="Wingdings" pitchFamily="2" charset="2"/>
              </a:rPr>
              <a:t>Cu Cu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	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=- 0.34V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正极还原反应：</a:t>
            </a:r>
            <a:r>
              <a:rPr lang="en-US" altLang="zh-CN" sz="3000" dirty="0">
                <a:sym typeface="Wingdings" pitchFamily="2" charset="2"/>
              </a:rPr>
              <a:t>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+2e2Fe</a:t>
            </a:r>
            <a:r>
              <a:rPr lang="en-US" altLang="zh-CN" sz="3000" baseline="30000" dirty="0">
                <a:sym typeface="Wingdings" pitchFamily="2" charset="2"/>
              </a:rPr>
              <a:t>2+	 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2800" baseline="-25000" dirty="0" err="1">
                <a:sym typeface="Wingdings" pitchFamily="2" charset="2"/>
              </a:rPr>
              <a:t>+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= 0.77V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=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+  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3000" baseline="-25000" dirty="0" err="1">
                <a:sym typeface="Wingdings" pitchFamily="2" charset="2"/>
              </a:rPr>
              <a:t>+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/>
              <a:t>		= -0.34V + 0.77V </a:t>
            </a:r>
          </a:p>
          <a:p>
            <a:pPr>
              <a:buNone/>
            </a:pPr>
            <a:r>
              <a:rPr lang="en-US" altLang="zh-CN" sz="3000" dirty="0"/>
              <a:t>		= 0.43V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 &gt; 0 </a:t>
            </a:r>
            <a:r>
              <a:rPr lang="zh-CN" altLang="en-US" sz="3000" dirty="0">
                <a:sym typeface="Wingdings" pitchFamily="2" charset="2"/>
              </a:rPr>
              <a:t>，此反应能向右进行。</a:t>
            </a:r>
            <a:endParaRPr lang="en-US" altLang="zh-CN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6705600" y="289560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E</a:t>
            </a:r>
            <a:r>
              <a:rPr lang="el-GR" sz="3200" dirty="0"/>
              <a:t> </a:t>
            </a:r>
            <a:r>
              <a:rPr lang="en-US" sz="30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值不变</a:t>
            </a:r>
            <a:endParaRPr lang="en-US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5400" y="3657600"/>
            <a:ext cx="3962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</a:rPr>
              <a:t>E</a:t>
            </a:r>
            <a:r>
              <a:rPr lang="el-GR" sz="3200" dirty="0"/>
              <a:t> </a:t>
            </a:r>
            <a:r>
              <a:rPr lang="en-US" sz="30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仅与反应物本性、反应进行方向有关；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与反应物的质量无关。</a:t>
            </a:r>
            <a:endParaRPr lang="en-US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电极电势的应用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交流分享</a:t>
            </a:r>
            <a:r>
              <a:rPr lang="en-US" altLang="zh-CN" sz="3000" dirty="0">
                <a:sym typeface="Wingdings" pitchFamily="2" charset="2"/>
              </a:rPr>
              <a:t>pg304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查表得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(Br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/Br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)= 1.08V	</a:t>
            </a: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(Cl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/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)= 1.36V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还原电势越大，越容易被还原，强氧化剂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的氧化性强于</a:t>
            </a:r>
            <a:r>
              <a:rPr lang="en-US" altLang="zh-CN" sz="3000" dirty="0">
                <a:sym typeface="Wingdings" pitchFamily="2" charset="2"/>
              </a:rPr>
              <a:t>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能将</a:t>
            </a:r>
            <a:r>
              <a:rPr lang="en-US" altLang="zh-CN" sz="3000" dirty="0">
                <a:sym typeface="Wingdings" pitchFamily="2" charset="2"/>
              </a:rPr>
              <a:t>Br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氧化为</a:t>
            </a:r>
            <a:r>
              <a:rPr lang="en-US" altLang="zh-CN" sz="3000" dirty="0">
                <a:sym typeface="Wingdings" pitchFamily="2" charset="2"/>
              </a:rPr>
              <a:t>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endParaRPr lang="en-US" altLang="zh-CN" sz="3000" dirty="0"/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发生</a:t>
            </a: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 Br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2Cl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(l)</a:t>
            </a:r>
          </a:p>
          <a:p>
            <a:pPr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24.2.2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电极电势的应用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问题解决</a:t>
            </a:r>
            <a:r>
              <a:rPr lang="en-US" altLang="zh-CN" sz="3000" dirty="0">
                <a:sym typeface="Wingdings" pitchFamily="2" charset="2"/>
              </a:rPr>
              <a:t>pg305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查表得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(MnO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/Mn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)= 1.49V	</a:t>
            </a: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(H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/H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)= 1.77V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还原电势越大，越容易被还原，强氧化剂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的氧化性强于</a:t>
            </a:r>
            <a:r>
              <a:rPr lang="en-US" altLang="zh-CN" sz="3000" dirty="0">
                <a:sym typeface="Wingdings" pitchFamily="2" charset="2"/>
              </a:rPr>
              <a:t>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能将</a:t>
            </a:r>
            <a:r>
              <a:rPr lang="en-US" altLang="zh-CN" sz="3000" dirty="0">
                <a:sym typeface="Wingdings" pitchFamily="2" charset="2"/>
              </a:rPr>
              <a:t>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氧化为</a:t>
            </a:r>
            <a:r>
              <a:rPr lang="en-US" altLang="zh-CN" sz="3000" dirty="0">
                <a:sym typeface="Wingdings" pitchFamily="2" charset="2"/>
              </a:rPr>
              <a:t>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  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  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 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(l) </a:t>
            </a:r>
            <a:r>
              <a:rPr lang="zh-CN" altLang="en-US" sz="3000" dirty="0">
                <a:sym typeface="Wingdings" pitchFamily="2" charset="2"/>
              </a:rPr>
              <a:t> 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/>
              <a:t>			2O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+ 2e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2O</a:t>
            </a:r>
            <a:r>
              <a:rPr lang="en-US" altLang="zh-CN" sz="3000" baseline="30000" dirty="0">
                <a:sym typeface="Wingdings" pitchFamily="2" charset="2"/>
              </a:rPr>
              <a:t>2- </a:t>
            </a:r>
          </a:p>
          <a:p>
            <a:pPr>
              <a:buNone/>
            </a:pP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			      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 Mn</a:t>
            </a:r>
            <a:r>
              <a:rPr lang="en-US" altLang="zh-CN" sz="3000" baseline="30000" dirty="0">
                <a:sym typeface="Wingdings" pitchFamily="2" charset="2"/>
              </a:rPr>
              <a:t>7+</a:t>
            </a:r>
            <a:r>
              <a:rPr lang="en-US" altLang="zh-CN" sz="3000" dirty="0">
                <a:sym typeface="Wingdings" pitchFamily="2" charset="2"/>
              </a:rPr>
              <a:t> + 5e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endParaRPr lang="en-US" altLang="zh-CN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5791200" y="47345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x5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1200" y="526798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x2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" y="41910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5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41910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2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91000" y="41910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2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4600" y="41910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2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0" y="4191000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+</a:t>
            </a:r>
            <a:r>
              <a:rPr lang="zh-CN" altLang="en-US" sz="2800" b="1" dirty="0">
                <a:solidFill>
                  <a:srgbClr val="7030A0"/>
                </a:solidFill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</a:rPr>
              <a:t>6H</a:t>
            </a:r>
            <a:r>
              <a:rPr lang="en-US" altLang="zh-CN" sz="2800" b="1" baseline="30000" dirty="0">
                <a:solidFill>
                  <a:srgbClr val="7030A0"/>
                </a:solidFill>
              </a:rPr>
              <a:t>+</a:t>
            </a:r>
            <a:r>
              <a:rPr lang="en-US" altLang="zh-CN" sz="2800" b="1" dirty="0">
                <a:solidFill>
                  <a:srgbClr val="7030A0"/>
                </a:solidFill>
              </a:rPr>
              <a:t>(</a:t>
            </a:r>
            <a:r>
              <a:rPr lang="en-US" altLang="zh-CN" sz="2800" b="1" dirty="0" err="1">
                <a:solidFill>
                  <a:srgbClr val="7030A0"/>
                </a:solidFill>
              </a:rPr>
              <a:t>aq</a:t>
            </a:r>
            <a:r>
              <a:rPr lang="en-US" altLang="zh-CN" sz="2800" b="1" dirty="0">
                <a:solidFill>
                  <a:srgbClr val="7030A0"/>
                </a:solidFill>
              </a:rPr>
              <a:t>)</a:t>
            </a:r>
            <a:endParaRPr lang="en-US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思考题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24c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1. 	2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+ 2I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 I</a:t>
            </a:r>
            <a:r>
              <a:rPr lang="en-US" altLang="zh-CN" sz="3000" baseline="-25000" dirty="0">
                <a:sym typeface="Wingdings" pitchFamily="2" charset="2"/>
              </a:rPr>
              <a:t>2 </a:t>
            </a:r>
            <a:r>
              <a:rPr lang="en-US" altLang="zh-CN" sz="3000" dirty="0">
                <a:sym typeface="Wingdings" pitchFamily="2" charset="2"/>
              </a:rPr>
              <a:t>(s)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查表</a:t>
            </a:r>
            <a:r>
              <a:rPr lang="en-US" altLang="zh-CN" sz="3000" dirty="0">
                <a:sym typeface="Wingdings" pitchFamily="2" charset="2"/>
              </a:rPr>
              <a:t>	E(Fe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/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)  = 0.77V   	   E(I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/ I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) = 0.54V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负极，氧化反应：</a:t>
            </a:r>
            <a:r>
              <a:rPr lang="en-US" altLang="zh-CN" sz="3000" dirty="0">
                <a:sym typeface="Wingdings" pitchFamily="2" charset="2"/>
              </a:rPr>
              <a:t>2I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I</a:t>
            </a:r>
            <a:r>
              <a:rPr lang="en-US" altLang="zh-CN" sz="3000" baseline="-25000" dirty="0">
                <a:sym typeface="Wingdings" pitchFamily="2" charset="2"/>
              </a:rPr>
              <a:t>2 </a:t>
            </a:r>
            <a:r>
              <a:rPr lang="en-US" altLang="zh-CN" sz="3000" dirty="0">
                <a:sym typeface="Wingdings" pitchFamily="2" charset="2"/>
              </a:rPr>
              <a:t>(s)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	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=-0.54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正极，还原反应：</a:t>
            </a:r>
            <a:r>
              <a:rPr lang="en-US" altLang="zh-CN" sz="3000" dirty="0">
                <a:sym typeface="Wingdings" pitchFamily="2" charset="2"/>
              </a:rPr>
              <a:t>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)+ 2e 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= 0.77V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=  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+ 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altLang="zh-CN" sz="3000" dirty="0"/>
              <a:t>		= -0.54V + 0.77V </a:t>
            </a:r>
          </a:p>
          <a:p>
            <a:pPr>
              <a:buNone/>
            </a:pPr>
            <a:r>
              <a:rPr lang="en-US" altLang="zh-CN" sz="3000" dirty="0"/>
              <a:t>		= 0.23V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 &gt; 0 </a:t>
            </a:r>
            <a:r>
              <a:rPr lang="zh-CN" altLang="en-US" sz="3000" dirty="0">
                <a:sym typeface="Wingdings" pitchFamily="2" charset="2"/>
              </a:rPr>
              <a:t>，此反应能自发地进行。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思考题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</a:rPr>
              <a:t>24c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查表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2800" dirty="0"/>
              <a:t> </a:t>
            </a:r>
          </a:p>
          <a:p>
            <a:pPr>
              <a:buNone/>
            </a:pPr>
            <a:r>
              <a:rPr lang="en-US" altLang="zh-CN" sz="2800" dirty="0"/>
              <a:t>		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(MnO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/Mn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)= 1.49V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(Cl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/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)= 1.36V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还原电势越大，越容易被还原，强氧化剂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的氧化性强于</a:t>
            </a: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能将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氧化为</a:t>
            </a: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因此不能用</a:t>
            </a:r>
            <a:r>
              <a:rPr lang="en-US" altLang="zh-CN" sz="3000" dirty="0" err="1">
                <a:sym typeface="Wingdings" pitchFamily="2" charset="2"/>
              </a:rPr>
              <a:t>HCl</a:t>
            </a:r>
            <a:r>
              <a:rPr lang="zh-CN" altLang="en-US" sz="3000" dirty="0">
                <a:sym typeface="Wingdings" pitchFamily="2" charset="2"/>
              </a:rPr>
              <a:t>酸化</a:t>
            </a:r>
            <a:r>
              <a:rPr lang="en-US" altLang="zh-CN" sz="3000" dirty="0">
                <a:sym typeface="Wingdings" pitchFamily="2" charset="2"/>
              </a:rPr>
              <a:t>KMnO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zh-CN" alt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氧化剂的氧化性强于氧化产物</a:t>
            </a:r>
            <a:endParaRPr lang="en-US" altLang="zh-CN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buNone/>
            </a:pPr>
            <a:r>
              <a:rPr lang="zh-CN" altLang="en-US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还原剂的还原性强于还原产物</a:t>
            </a:r>
            <a:endParaRPr lang="en-US" altLang="zh-CN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补充题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(1)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判断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(l)+ Hg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) Sn</a:t>
            </a:r>
            <a:r>
              <a:rPr lang="en-US" altLang="zh-CN" sz="3000" baseline="30000" dirty="0">
                <a:sym typeface="Wingdings" pitchFamily="2" charset="2"/>
              </a:rPr>
              <a:t>4+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)+ Hg(l)</a:t>
            </a:r>
            <a:r>
              <a:rPr lang="zh-CN" altLang="en-US" sz="3000" dirty="0">
                <a:sym typeface="Wingdings" pitchFamily="2" charset="2"/>
              </a:rPr>
              <a:t>能否自发地进行已知：</a:t>
            </a:r>
            <a:r>
              <a:rPr lang="en-US" altLang="zh-CN" sz="3000" dirty="0">
                <a:sym typeface="Wingdings" pitchFamily="2" charset="2"/>
              </a:rPr>
              <a:t>	E(Hg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/ Hg)= 0.85V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	E(Sn</a:t>
            </a:r>
            <a:r>
              <a:rPr lang="en-US" altLang="zh-CN" sz="3000" baseline="30000" dirty="0">
                <a:sym typeface="Wingdings" pitchFamily="2" charset="2"/>
              </a:rPr>
              <a:t>4+</a:t>
            </a:r>
            <a:r>
              <a:rPr lang="en-US" altLang="zh-CN" sz="3000" dirty="0">
                <a:sym typeface="Wingdings" pitchFamily="2" charset="2"/>
              </a:rPr>
              <a:t> / 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)= 0.15V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负极</a:t>
            </a:r>
            <a:r>
              <a:rPr lang="en-US" altLang="zh-CN" sz="3000" dirty="0">
                <a:sym typeface="Wingdings" pitchFamily="2" charset="2"/>
              </a:rPr>
              <a:t>,</a:t>
            </a:r>
            <a:r>
              <a:rPr lang="zh-CN" altLang="en-US" sz="3000" dirty="0">
                <a:sym typeface="Wingdings" pitchFamily="2" charset="2"/>
              </a:rPr>
              <a:t>氧化反应： 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 Sn</a:t>
            </a:r>
            <a:r>
              <a:rPr lang="en-US" altLang="zh-CN" sz="3000" baseline="30000" dirty="0">
                <a:sym typeface="Wingdings" pitchFamily="2" charset="2"/>
              </a:rPr>
              <a:t>4+ 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=-0.15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正极</a:t>
            </a:r>
            <a:r>
              <a:rPr lang="en-US" altLang="zh-CN" sz="3000" dirty="0">
                <a:sym typeface="Wingdings" pitchFamily="2" charset="2"/>
              </a:rPr>
              <a:t>,</a:t>
            </a:r>
            <a:r>
              <a:rPr lang="zh-CN" altLang="en-US" sz="3000" dirty="0">
                <a:sym typeface="Wingdings" pitchFamily="2" charset="2"/>
              </a:rPr>
              <a:t>还原反应：</a:t>
            </a:r>
            <a:r>
              <a:rPr lang="en-US" altLang="zh-CN" sz="3000" dirty="0">
                <a:sym typeface="Wingdings" pitchFamily="2" charset="2"/>
              </a:rPr>
              <a:t>Hg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  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Hg 		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=0.85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=  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+ 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altLang="zh-CN" sz="3000" dirty="0"/>
              <a:t>		= – 0.15V + 0.85V</a:t>
            </a:r>
          </a:p>
          <a:p>
            <a:pPr>
              <a:buNone/>
            </a:pPr>
            <a:r>
              <a:rPr lang="en-US" altLang="zh-CN" sz="3000" dirty="0"/>
              <a:t>		= 0.7V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baseline="-25000" dirty="0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&gt; 0 </a:t>
            </a:r>
            <a:r>
              <a:rPr lang="zh-CN" altLang="en-US" sz="3000" dirty="0">
                <a:sym typeface="Wingdings" pitchFamily="2" charset="2"/>
              </a:rPr>
              <a:t>，此反应能自发地进行。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补充题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(2)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下列为四种电极的标准电极电位：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Cd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</a:t>
            </a:r>
            <a:r>
              <a:rPr lang="en-US" altLang="zh-CN" sz="2800" dirty="0" err="1">
                <a:sym typeface="Wingdings" pitchFamily="2" charset="2"/>
              </a:rPr>
              <a:t>Cd</a:t>
            </a:r>
            <a:r>
              <a:rPr lang="en-US" altLang="zh-CN" sz="2800" dirty="0">
                <a:sym typeface="Wingdings" pitchFamily="2" charset="2"/>
              </a:rPr>
              <a:t> (s) 		-0.4V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BrO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Br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(l) 		1.52V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Fe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	0.77V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(g)/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		1.36V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a) </a:t>
            </a:r>
            <a:r>
              <a:rPr lang="zh-CN" altLang="en-US" sz="2800" dirty="0">
                <a:sym typeface="Wingdings" pitchFamily="2" charset="2"/>
              </a:rPr>
              <a:t>以上何者可使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氧化？写出其反应式及电位差。</a:t>
            </a:r>
            <a:endParaRPr lang="en-US" altLang="zh-CN" sz="2800" dirty="0">
              <a:sym typeface="Wingdings" pitchFamily="2" charset="2"/>
            </a:endParaRPr>
          </a:p>
          <a:p>
            <a:pPr marL="571500" indent="-571500">
              <a:buNone/>
            </a:pPr>
            <a:r>
              <a:rPr lang="en-US" altLang="zh-CN" sz="2800" dirty="0">
                <a:sym typeface="Wingdings" pitchFamily="2" charset="2"/>
              </a:rPr>
              <a:t>b) </a:t>
            </a:r>
            <a:r>
              <a:rPr lang="zh-CN" altLang="en-US" sz="2800" dirty="0">
                <a:sym typeface="Wingdings" pitchFamily="2" charset="2"/>
              </a:rPr>
              <a:t>以上何者可使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还原为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71500" indent="-571500">
              <a:buNone/>
            </a:pPr>
            <a:r>
              <a:rPr lang="zh-CN" altLang="en-US" sz="2800" dirty="0">
                <a:sym typeface="Wingdings" pitchFamily="2" charset="2"/>
              </a:rPr>
              <a:t>解：</a:t>
            </a:r>
            <a:r>
              <a:rPr lang="en-US" altLang="zh-CN" sz="2800" dirty="0">
                <a:sym typeface="Wingdings" pitchFamily="2" charset="2"/>
              </a:rPr>
              <a:t>a) </a:t>
            </a:r>
            <a:r>
              <a:rPr lang="zh-CN" altLang="en-US" sz="2800" dirty="0">
                <a:sym typeface="Wingdings" pitchFamily="2" charset="2"/>
              </a:rPr>
              <a:t>还原电位大、易被还原、强氧化剂</a:t>
            </a:r>
            <a:endParaRPr lang="en-US" altLang="zh-CN" sz="2800" dirty="0">
              <a:sym typeface="Wingdings" pitchFamily="2" charset="2"/>
            </a:endParaRPr>
          </a:p>
          <a:p>
            <a:pPr marL="571500" indent="-571500"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    BrO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            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 Br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71500" indent="-571500">
              <a:buNone/>
            </a:pPr>
            <a:r>
              <a:rPr lang="zh-CN" altLang="en-US" sz="2800" dirty="0">
                <a:sym typeface="Wingdings" pitchFamily="2" charset="2"/>
              </a:rPr>
              <a:t>负极</a:t>
            </a:r>
            <a:r>
              <a:rPr lang="en-US" altLang="zh-CN" sz="2800" dirty="0">
                <a:sym typeface="Wingdings" pitchFamily="2" charset="2"/>
              </a:rPr>
              <a:t>		2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71500" indent="-571500">
              <a:buNone/>
            </a:pPr>
            <a:r>
              <a:rPr lang="zh-CN" altLang="en-US" sz="2800" dirty="0">
                <a:sym typeface="Wingdings" pitchFamily="2" charset="2"/>
              </a:rPr>
              <a:t>正极</a:t>
            </a:r>
            <a:r>
              <a:rPr lang="en-US" altLang="zh-CN" sz="2800" dirty="0">
                <a:sym typeface="Wingdings" pitchFamily="2" charset="2"/>
              </a:rPr>
              <a:t>		2 Br</a:t>
            </a:r>
            <a:r>
              <a:rPr lang="en-US" altLang="zh-CN" sz="2800" baseline="30000" dirty="0">
                <a:sym typeface="Wingdings" pitchFamily="2" charset="2"/>
              </a:rPr>
              <a:t>5+</a:t>
            </a:r>
            <a:r>
              <a:rPr lang="en-US" altLang="zh-CN" sz="2800" dirty="0">
                <a:sym typeface="Wingdings" pitchFamily="2" charset="2"/>
              </a:rPr>
              <a:t>  +  10e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 Br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1752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48640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x5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49" y="50393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4592" y="50393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50292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8029" y="2209800"/>
            <a:ext cx="34360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BrO</a:t>
            </a:r>
            <a:r>
              <a:rPr lang="en-US" sz="2800" b="1" baseline="-25000" dirty="0">
                <a:solidFill>
                  <a:srgbClr val="002060"/>
                </a:solidFill>
              </a:rPr>
              <a:t>3</a:t>
            </a:r>
            <a:r>
              <a:rPr lang="en-US" sz="2800" b="1" baseline="30000" dirty="0">
                <a:solidFill>
                  <a:srgbClr val="002060"/>
                </a:solidFill>
              </a:rPr>
              <a:t>-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</a:rPr>
              <a:t>能将</a:t>
            </a:r>
            <a:r>
              <a:rPr lang="en-US" altLang="zh-CN" sz="2800" b="1" dirty="0" err="1">
                <a:solidFill>
                  <a:srgbClr val="002060"/>
                </a:solidFill>
              </a:rPr>
              <a:t>Cl</a:t>
            </a:r>
            <a:r>
              <a:rPr lang="en-US" altLang="zh-CN" sz="2800" b="1" baseline="30000" dirty="0">
                <a:solidFill>
                  <a:srgbClr val="002060"/>
                </a:solidFill>
              </a:rPr>
              <a:t>-</a:t>
            </a:r>
            <a:r>
              <a:rPr lang="en-US" altLang="zh-CN" sz="2800" b="1" dirty="0">
                <a:solidFill>
                  <a:srgbClr val="002060"/>
                </a:solidFill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</a:rPr>
              <a:t>氧化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r>
              <a:rPr lang="en-US" altLang="zh-CN" sz="2800" b="1" baseline="300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err="1">
                <a:solidFill>
                  <a:srgbClr val="002060"/>
                </a:solidFill>
              </a:rPr>
              <a:t>E</a:t>
            </a:r>
            <a:r>
              <a:rPr lang="en-US" sz="2800" b="1" baseline="30000" dirty="0" err="1">
                <a:solidFill>
                  <a:srgbClr val="002060"/>
                </a:solidFill>
              </a:rPr>
              <a:t>o</a:t>
            </a:r>
            <a:r>
              <a:rPr lang="en-US" sz="2800" b="1" baseline="-25000" dirty="0" err="1">
                <a:solidFill>
                  <a:srgbClr val="002060"/>
                </a:solidFill>
              </a:rPr>
              <a:t>cell</a:t>
            </a:r>
            <a:r>
              <a:rPr lang="en-US" sz="2800" b="1" dirty="0">
                <a:solidFill>
                  <a:srgbClr val="002060"/>
                </a:solidFill>
              </a:rPr>
              <a:t> = 1.52V – 1.36V 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         = 0.16V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0" y="3972580"/>
            <a:ext cx="649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7030A0"/>
                </a:solidFill>
              </a:rPr>
              <a:t>Cd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6244" y="5039380"/>
            <a:ext cx="1300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+ 6 H</a:t>
            </a:r>
            <a:r>
              <a:rPr lang="en-US" altLang="zh-CN" sz="2800" b="1" baseline="-25000" dirty="0">
                <a:solidFill>
                  <a:srgbClr val="7030A0"/>
                </a:solidFill>
              </a:rPr>
              <a:t>2</a:t>
            </a:r>
            <a:r>
              <a:rPr lang="en-US" altLang="zh-CN" sz="2800" b="1" dirty="0">
                <a:solidFill>
                  <a:srgbClr val="7030A0"/>
                </a:solidFill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5029200"/>
            <a:ext cx="1156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+ 12H</a:t>
            </a:r>
            <a:r>
              <a:rPr lang="en-US" altLang="zh-CN" sz="2800" b="1" baseline="30000" dirty="0">
                <a:solidFill>
                  <a:srgbClr val="7030A0"/>
                </a:solidFill>
              </a:rPr>
              <a:t>+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3" grpId="0"/>
      <p:bldP spid="17" grpId="0"/>
      <p:bldP spid="18" grpId="0"/>
      <p:bldP spid="19" grpId="0"/>
      <p:bldP spid="20" grpId="0"/>
      <p:bldP spid="21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(1)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判断</a:t>
            </a:r>
            <a:r>
              <a:rPr lang="en-US" altLang="zh-CN" sz="3000" dirty="0">
                <a:sym typeface="Wingdings" pitchFamily="2" charset="2"/>
              </a:rPr>
              <a:t>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(l) + 2Fe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) 2Br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能否自发地进行。已知：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/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	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= 0.77V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  	   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/ Br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		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l-GR" sz="2800" dirty="0"/>
              <a:t> </a:t>
            </a:r>
            <a:r>
              <a:rPr lang="en-US" altLang="zh-CN" sz="3000" baseline="30000" dirty="0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= 1.08V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负极，氧化反应： </a:t>
            </a:r>
            <a:r>
              <a:rPr lang="en-US" altLang="zh-CN" sz="3000" dirty="0">
                <a:sym typeface="Wingdings" pitchFamily="2" charset="2"/>
              </a:rPr>
              <a:t>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 2Fe</a:t>
            </a:r>
            <a:r>
              <a:rPr lang="en-US" altLang="zh-CN" sz="3000" baseline="30000" dirty="0">
                <a:sym typeface="Wingdings" pitchFamily="2" charset="2"/>
              </a:rPr>
              <a:t>3+ 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E</a:t>
            </a:r>
            <a:r>
              <a:rPr lang="en-US" altLang="zh-CN" sz="3000" baseline="-25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= -0.77V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正极，还原反应：</a:t>
            </a:r>
            <a:r>
              <a:rPr lang="en-US" altLang="zh-CN" sz="3000" dirty="0">
                <a:sym typeface="Wingdings" pitchFamily="2" charset="2"/>
              </a:rPr>
              <a:t>Br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+ 2e  2Br</a:t>
            </a:r>
            <a:r>
              <a:rPr lang="en-US" altLang="zh-CN" sz="3000" baseline="30000" dirty="0">
                <a:sym typeface="Wingdings" pitchFamily="2" charset="2"/>
              </a:rPr>
              <a:t>- 	</a:t>
            </a:r>
            <a:r>
              <a:rPr lang="en-US" altLang="zh-CN" sz="3000" dirty="0">
                <a:sym typeface="Wingdings" pitchFamily="2" charset="2"/>
              </a:rPr>
              <a:t> 	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=1.08V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2800" baseline="30000" dirty="0" err="1">
                <a:sym typeface="Wingdings" pitchFamily="2" charset="2"/>
              </a:rPr>
              <a:t>o</a:t>
            </a:r>
            <a:r>
              <a:rPr lang="en-US" altLang="zh-CN" sz="2800" baseline="-25000" dirty="0" err="1">
                <a:sym typeface="Wingdings" pitchFamily="2" charset="2"/>
              </a:rPr>
              <a:t>cell</a:t>
            </a:r>
            <a:r>
              <a:rPr lang="en-US" altLang="zh-CN" sz="2800" dirty="0">
                <a:sym typeface="Wingdings" pitchFamily="2" charset="2"/>
              </a:rPr>
              <a:t>=  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E</a:t>
            </a:r>
            <a:r>
              <a:rPr lang="en-US" altLang="zh-CN" sz="2800" baseline="-25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altLang="zh-CN" sz="3000" dirty="0"/>
              <a:t>		= – 0.77V + 1.08V</a:t>
            </a:r>
          </a:p>
          <a:p>
            <a:pPr>
              <a:buNone/>
            </a:pPr>
            <a:r>
              <a:rPr lang="en-US" altLang="zh-CN" sz="3000" dirty="0"/>
              <a:t>		= 0.31V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28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2800" baseline="-25000" dirty="0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&gt; 0 </a:t>
            </a:r>
            <a:r>
              <a:rPr lang="zh-CN" altLang="en-US" sz="3000" dirty="0">
                <a:sym typeface="Wingdings" pitchFamily="2" charset="2"/>
              </a:rPr>
              <a:t>，此反应能自发地进行。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(2)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已知下列半电池的标准电极电位为：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Cr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)/ Cr (s) 			-0.74V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Hg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)/ Hg (l) 			0.80V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计算电池</a:t>
            </a:r>
            <a:r>
              <a:rPr lang="en-US" altLang="zh-CN" sz="3000" dirty="0">
                <a:sym typeface="Wingdings" pitchFamily="2" charset="2"/>
              </a:rPr>
              <a:t>Cr(s) lCr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en-US" altLang="zh-CN" sz="3000" dirty="0">
                <a:sym typeface="Wingdings" pitchFamily="2" charset="2"/>
              </a:rPr>
              <a:t> Hg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l Hg(l)</a:t>
            </a:r>
            <a:r>
              <a:rPr lang="zh-CN" altLang="en-US" sz="3000" dirty="0">
                <a:sym typeface="Wingdings" pitchFamily="2" charset="2"/>
              </a:rPr>
              <a:t>的标准电动势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负极</a:t>
            </a: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正极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2800" baseline="30000" dirty="0" err="1">
                <a:sym typeface="Wingdings" pitchFamily="2" charset="2"/>
              </a:rPr>
              <a:t>o</a:t>
            </a:r>
            <a:r>
              <a:rPr lang="en-US" altLang="zh-CN" sz="2800" baseline="-25000" dirty="0" err="1">
                <a:sym typeface="Wingdings" pitchFamily="2" charset="2"/>
              </a:rPr>
              <a:t>cell</a:t>
            </a:r>
            <a:r>
              <a:rPr lang="en-US" altLang="zh-CN" sz="2800" dirty="0">
                <a:sym typeface="Wingdings" pitchFamily="2" charset="2"/>
              </a:rPr>
              <a:t>=  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E</a:t>
            </a:r>
            <a:r>
              <a:rPr lang="en-US" altLang="zh-CN" sz="2800" baseline="-25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altLang="zh-CN" sz="3000" dirty="0"/>
              <a:t>		     = 0.74V + 0.80V </a:t>
            </a:r>
          </a:p>
          <a:p>
            <a:pPr>
              <a:buNone/>
            </a:pPr>
            <a:r>
              <a:rPr lang="en-US" altLang="zh-CN" sz="3000" dirty="0"/>
              <a:t>		     = 1.54V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5" name="Rounded Rectangle 4"/>
          <p:cNvSpPr/>
          <p:nvPr/>
        </p:nvSpPr>
        <p:spPr>
          <a:xfrm>
            <a:off x="2133600" y="3124200"/>
            <a:ext cx="16002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800600" y="3124200"/>
            <a:ext cx="16002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133600" y="3657600"/>
            <a:ext cx="9906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800600" y="3657600"/>
            <a:ext cx="9906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(3)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已知下列半电池的标准电极电位为：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)/ </a:t>
            </a:r>
            <a:r>
              <a:rPr lang="en-US" altLang="zh-CN" sz="3000" dirty="0" err="1">
                <a:sym typeface="Wingdings" pitchFamily="2" charset="2"/>
              </a:rPr>
              <a:t>Mn</a:t>
            </a:r>
            <a:r>
              <a:rPr lang="en-US" altLang="zh-CN" sz="3000" dirty="0">
                <a:sym typeface="Wingdings" pitchFamily="2" charset="2"/>
              </a:rPr>
              <a:t> (s) 		-1.19V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)/ Ag (s) 			0.80V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计算电池</a:t>
            </a:r>
            <a:r>
              <a:rPr lang="en-US" altLang="zh-CN" sz="3000" dirty="0" err="1">
                <a:sym typeface="Wingdings" pitchFamily="2" charset="2"/>
              </a:rPr>
              <a:t>Mn</a:t>
            </a:r>
            <a:r>
              <a:rPr lang="en-US" altLang="zh-CN" sz="3000" dirty="0">
                <a:sym typeface="Wingdings" pitchFamily="2" charset="2"/>
              </a:rPr>
              <a:t>(s) l Mn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en-US" altLang="zh-CN" sz="3000" dirty="0" err="1">
                <a:sym typeface="Wingdings" pitchFamily="2" charset="2"/>
              </a:rPr>
              <a:t>llAg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l Ag(s)</a:t>
            </a:r>
            <a:r>
              <a:rPr lang="zh-CN" altLang="en-US" sz="3000" dirty="0">
                <a:sym typeface="Wingdings" pitchFamily="2" charset="2"/>
              </a:rPr>
              <a:t>的标准电动势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负极</a:t>
            </a: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正极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2800" baseline="30000" dirty="0" err="1">
                <a:sym typeface="Wingdings" pitchFamily="2" charset="2"/>
              </a:rPr>
              <a:t>o</a:t>
            </a:r>
            <a:r>
              <a:rPr lang="en-US" altLang="zh-CN" sz="2800" baseline="-25000" dirty="0" err="1">
                <a:sym typeface="Wingdings" pitchFamily="2" charset="2"/>
              </a:rPr>
              <a:t>cell</a:t>
            </a:r>
            <a:r>
              <a:rPr lang="en-US" altLang="zh-CN" sz="2800" dirty="0">
                <a:sym typeface="Wingdings" pitchFamily="2" charset="2"/>
              </a:rPr>
              <a:t>=  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E</a:t>
            </a:r>
            <a:r>
              <a:rPr lang="en-US" altLang="zh-CN" sz="2800" baseline="-25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altLang="zh-CN" sz="3000" dirty="0"/>
              <a:t>   		     = 1.19V + 0.80V </a:t>
            </a:r>
          </a:p>
          <a:p>
            <a:pPr>
              <a:buNone/>
            </a:pPr>
            <a:r>
              <a:rPr lang="en-US" altLang="zh-CN" sz="3000" dirty="0"/>
              <a:t>		     = 1.99V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/>
          </a:p>
        </p:txBody>
      </p:sp>
      <p:sp>
        <p:nvSpPr>
          <p:cNvPr id="5" name="Rounded Rectangle 4"/>
          <p:cNvSpPr/>
          <p:nvPr/>
        </p:nvSpPr>
        <p:spPr>
          <a:xfrm>
            <a:off x="2133600" y="3124200"/>
            <a:ext cx="16002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800600" y="3124200"/>
            <a:ext cx="16002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133600" y="3657600"/>
            <a:ext cx="9906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800600" y="3657600"/>
            <a:ext cx="990600" cy="45720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 animBg="1"/>
      <p:bldP spid="6" grpId="0" uiExpand="1" animBg="1"/>
      <p:bldP spid="8" grpId="0" uiExpand="1" animBg="1"/>
      <p:bldP spid="9" grpId="0" uiExpan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(4)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下列为四种电极的标准电极电位：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M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M (s) 		0.9V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N (s) 		0.3V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P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P (s) 		-0.3V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Q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)/ Q (s) 		-0.9V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某原电池的标准电动势为</a:t>
            </a:r>
            <a:r>
              <a:rPr lang="en-US" altLang="zh-CN" sz="2800" dirty="0">
                <a:sym typeface="Wingdings" pitchFamily="2" charset="2"/>
              </a:rPr>
              <a:t>1.2V</a:t>
            </a:r>
            <a:r>
              <a:rPr lang="zh-CN" altLang="en-US" sz="2800" dirty="0">
                <a:sym typeface="Wingdings" pitchFamily="2" charset="2"/>
              </a:rPr>
              <a:t>，可以组成该原电池的两个电极是：</a:t>
            </a:r>
            <a:endParaRPr lang="en-US" altLang="zh-CN" sz="2800" dirty="0">
              <a:sym typeface="Wingdings" pitchFamily="2" charset="2"/>
            </a:endParaRPr>
          </a:p>
          <a:p>
            <a:pPr marL="571500" indent="-571500">
              <a:buAutoNum type="romanLcParenR"/>
            </a:pPr>
            <a:r>
              <a:rPr lang="en-US" altLang="zh-CN" sz="2800" dirty="0">
                <a:sym typeface="Wingdings" pitchFamily="2" charset="2"/>
              </a:rPr>
              <a:t>P(s) l P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</a:t>
            </a:r>
            <a:r>
              <a:rPr lang="en-US" altLang="zh-CN" sz="2800" dirty="0" err="1">
                <a:sym typeface="Wingdings" pitchFamily="2" charset="2"/>
              </a:rPr>
              <a:t>ll</a:t>
            </a:r>
            <a:r>
              <a:rPr lang="en-US" altLang="zh-CN" sz="2800" dirty="0">
                <a:sym typeface="Wingdings" pitchFamily="2" charset="2"/>
              </a:rPr>
              <a:t> M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l M (s)</a:t>
            </a:r>
          </a:p>
          <a:p>
            <a:pPr marL="571500" indent="-571500">
              <a:buFont typeface="Arial" pitchFamily="34" charset="0"/>
              <a:buAutoNum type="romanLcParenR"/>
            </a:pPr>
            <a:r>
              <a:rPr lang="en-US" altLang="zh-CN" sz="2800" dirty="0">
                <a:sym typeface="Wingdings" pitchFamily="2" charset="2"/>
              </a:rPr>
              <a:t>M(s) l M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</a:t>
            </a:r>
            <a:r>
              <a:rPr lang="en-US" altLang="zh-CN" sz="2800" dirty="0" err="1">
                <a:sym typeface="Wingdings" pitchFamily="2" charset="2"/>
              </a:rPr>
              <a:t>ll</a:t>
            </a:r>
            <a:r>
              <a:rPr lang="en-US" altLang="zh-CN" sz="2800" dirty="0">
                <a:sym typeface="Wingdings" pitchFamily="2" charset="2"/>
              </a:rPr>
              <a:t> 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l N (s)</a:t>
            </a:r>
          </a:p>
          <a:p>
            <a:pPr marL="571500" indent="-571500">
              <a:buFont typeface="Arial" pitchFamily="34" charset="0"/>
              <a:buAutoNum type="romanLcParenR"/>
            </a:pPr>
            <a:r>
              <a:rPr lang="en-US" altLang="zh-CN" sz="2800" dirty="0">
                <a:sym typeface="Wingdings" pitchFamily="2" charset="2"/>
              </a:rPr>
              <a:t>Q(s) l Q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</a:t>
            </a:r>
            <a:r>
              <a:rPr lang="en-US" altLang="zh-CN" sz="2800" dirty="0" err="1">
                <a:sym typeface="Wingdings" pitchFamily="2" charset="2"/>
              </a:rPr>
              <a:t>ll</a:t>
            </a:r>
            <a:r>
              <a:rPr lang="en-US" altLang="zh-CN" sz="2800" dirty="0">
                <a:sym typeface="Wingdings" pitchFamily="2" charset="2"/>
              </a:rPr>
              <a:t> 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l N (s)</a:t>
            </a:r>
          </a:p>
          <a:p>
            <a:pPr marL="571500" indent="-571500">
              <a:buFont typeface="Arial" pitchFamily="34" charset="0"/>
              <a:buAutoNum type="romanLcParenR"/>
            </a:pPr>
            <a:r>
              <a:rPr lang="en-US" altLang="zh-CN" sz="2800" dirty="0">
                <a:sym typeface="Wingdings" pitchFamily="2" charset="2"/>
              </a:rPr>
              <a:t>P(s) l P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</a:t>
            </a:r>
            <a:r>
              <a:rPr lang="en-US" altLang="zh-CN" sz="2800" dirty="0" err="1">
                <a:sym typeface="Wingdings" pitchFamily="2" charset="2"/>
              </a:rPr>
              <a:t>ll</a:t>
            </a:r>
            <a:r>
              <a:rPr lang="en-US" altLang="zh-CN" sz="2800" dirty="0">
                <a:sym typeface="Wingdings" pitchFamily="2" charset="2"/>
              </a:rPr>
              <a:t> Q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l Q (s)</a:t>
            </a:r>
            <a:endParaRPr lang="en-US" altLang="zh-CN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257800" y="4343400"/>
            <a:ext cx="8915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1.2V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4932402"/>
            <a:ext cx="10086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-0.6V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465802"/>
            <a:ext cx="8915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1.2V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5943600"/>
            <a:ext cx="10086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-0.6V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3810000"/>
            <a:ext cx="14847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C00000"/>
                </a:solidFill>
              </a:rPr>
              <a:t>Ans</a:t>
            </a:r>
            <a:r>
              <a:rPr lang="en-US" sz="3000" dirty="0">
                <a:solidFill>
                  <a:srgbClr val="C00000"/>
                </a:solidFill>
              </a:rPr>
              <a:t>: </a:t>
            </a:r>
            <a:r>
              <a:rPr lang="en-US" sz="3000" dirty="0" err="1">
                <a:solidFill>
                  <a:srgbClr val="C00000"/>
                </a:solidFill>
              </a:rPr>
              <a:t>i,iii</a:t>
            </a:r>
            <a:r>
              <a:rPr lang="en-US" sz="3000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(1)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下列说法中，正确的是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A </a:t>
            </a:r>
            <a:r>
              <a:rPr lang="zh-CN" altLang="en-US" sz="2800" dirty="0">
                <a:sym typeface="Wingdings" pitchFamily="2" charset="2"/>
              </a:rPr>
              <a:t>有新单质生成的化学反应是氧化还原反应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B </a:t>
            </a:r>
            <a:r>
              <a:rPr lang="zh-CN" altLang="en-US" sz="2800" dirty="0">
                <a:sym typeface="Wingdings" pitchFamily="2" charset="2"/>
              </a:rPr>
              <a:t>金属阳离子被还原不一定得到金属单质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C </a:t>
            </a:r>
            <a:r>
              <a:rPr lang="zh-CN" altLang="en-US" sz="2800" dirty="0">
                <a:sym typeface="Wingdings" pitchFamily="2" charset="2"/>
              </a:rPr>
              <a:t>某元素从化合态变成游离态，该元素一定被还原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D </a:t>
            </a:r>
            <a:r>
              <a:rPr lang="zh-CN" altLang="en-US" sz="2800" dirty="0">
                <a:sym typeface="Wingdings" pitchFamily="2" charset="2"/>
              </a:rPr>
              <a:t>在氧化还原反应中，非金属都是氧化剂，金属都是还原剂。</a:t>
            </a: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962400"/>
            <a:ext cx="20393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2 O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 </a:t>
            </a:r>
            <a:r>
              <a:rPr lang="en-US" altLang="zh-CN" sz="3000" dirty="0">
                <a:solidFill>
                  <a:srgbClr val="002060"/>
                </a:solidFill>
              </a:rPr>
              <a:t> </a:t>
            </a:r>
            <a:r>
              <a:rPr lang="en-US" altLang="zh-CN" sz="3000" dirty="0">
                <a:solidFill>
                  <a:srgbClr val="002060"/>
                </a:solidFill>
                <a:sym typeface="Wingdings" pitchFamily="2" charset="2"/>
              </a:rPr>
              <a:t> 3O</a:t>
            </a:r>
            <a:r>
              <a:rPr lang="en-US" altLang="zh-CN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4516398"/>
            <a:ext cx="28471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Fe</a:t>
            </a:r>
            <a:r>
              <a:rPr lang="en-US" sz="3000" baseline="30000" dirty="0">
                <a:solidFill>
                  <a:srgbClr val="002060"/>
                </a:solidFill>
              </a:rPr>
              <a:t>3+</a:t>
            </a:r>
            <a:r>
              <a:rPr lang="en-US" sz="3000" dirty="0">
                <a:solidFill>
                  <a:srgbClr val="002060"/>
                </a:solidFill>
              </a:rPr>
              <a:t>   + e  </a:t>
            </a: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 Fe</a:t>
            </a:r>
            <a:r>
              <a:rPr lang="en-US" sz="3000" baseline="30000" dirty="0">
                <a:solidFill>
                  <a:srgbClr val="002060"/>
                </a:solidFill>
                <a:sym typeface="Wingdings" pitchFamily="2" charset="2"/>
              </a:rPr>
              <a:t>2+ 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5049798"/>
            <a:ext cx="2795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2 Br</a:t>
            </a:r>
            <a:r>
              <a:rPr lang="en-US" altLang="zh-CN" sz="2800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  Br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2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 + 2e</a:t>
            </a:r>
            <a:r>
              <a:rPr lang="en-US" altLang="zh-CN" sz="2800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" y="5562600"/>
            <a:ext cx="23086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S  + O</a:t>
            </a:r>
            <a:r>
              <a:rPr lang="en-US" sz="3000" baseline="-25000" dirty="0">
                <a:solidFill>
                  <a:srgbClr val="002060"/>
                </a:solidFill>
              </a:rPr>
              <a:t>2</a:t>
            </a:r>
            <a:r>
              <a:rPr lang="en-US" sz="3000" dirty="0">
                <a:solidFill>
                  <a:srgbClr val="002060"/>
                </a:solidFill>
              </a:rPr>
              <a:t> </a:t>
            </a:r>
            <a:r>
              <a:rPr lang="en-US" sz="3000" dirty="0">
                <a:solidFill>
                  <a:srgbClr val="002060"/>
                </a:solidFill>
                <a:sym typeface="Wingdings" pitchFamily="2" charset="2"/>
              </a:rPr>
              <a:t> SO</a:t>
            </a:r>
            <a:r>
              <a:rPr lang="en-US" sz="3000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4066" y="6048232"/>
            <a:ext cx="12458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C00000"/>
                </a:solidFill>
              </a:rPr>
              <a:t>Ans</a:t>
            </a:r>
            <a:r>
              <a:rPr lang="en-US" sz="3000" dirty="0">
                <a:solidFill>
                  <a:srgbClr val="C00000"/>
                </a:solidFill>
              </a:rPr>
              <a:t>: </a:t>
            </a:r>
            <a:r>
              <a:rPr lang="en-US" altLang="zh-CN" sz="3000" dirty="0">
                <a:solidFill>
                  <a:srgbClr val="C00000"/>
                </a:solidFill>
              </a:rPr>
              <a:t>B</a:t>
            </a:r>
            <a:r>
              <a:rPr lang="en-US" sz="3000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(2)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已知常温下在溶液中可发生如下两个离子反应，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Ce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  <a:r>
              <a:rPr lang="en-US" altLang="zh-CN" sz="2800" dirty="0">
                <a:sym typeface="Wingdings" pitchFamily="2" charset="2"/>
              </a:rPr>
              <a:t> + Fe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 Fe</a:t>
            </a:r>
            <a:r>
              <a:rPr lang="en-US" altLang="zh-CN" sz="2800" baseline="30000" dirty="0">
                <a:sym typeface="Wingdings" pitchFamily="2" charset="2"/>
              </a:rPr>
              <a:t>3+ </a:t>
            </a:r>
            <a:r>
              <a:rPr lang="en-US" altLang="zh-CN" sz="2800" dirty="0">
                <a:sym typeface="Wingdings" pitchFamily="2" charset="2"/>
              </a:rPr>
              <a:t> + Ce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Sn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+ 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 Fe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+ Sn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</a:p>
          <a:p>
            <a:pPr>
              <a:buNone/>
            </a:pP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由此可以确定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Ce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Sn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三种离子的氧化性由强至弱的顺序是：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b="1" i="1" dirty="0">
                <a:solidFill>
                  <a:srgbClr val="0070C0"/>
                </a:solidFill>
                <a:sym typeface="Wingdings" pitchFamily="2" charset="2"/>
              </a:rPr>
              <a:t>氧化剂的氧化性强于氧化产物</a:t>
            </a:r>
            <a:endParaRPr lang="en-US" altLang="zh-CN" sz="2800" b="1" i="1" dirty="0">
              <a:solidFill>
                <a:srgbClr val="0070C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由反应</a:t>
            </a:r>
            <a:r>
              <a:rPr lang="en-US" altLang="zh-CN" sz="2800" dirty="0">
                <a:sym typeface="Wingdings" pitchFamily="2" charset="2"/>
              </a:rPr>
              <a:t>1</a:t>
            </a:r>
            <a:r>
              <a:rPr lang="zh-CN" altLang="en-US" sz="2800" dirty="0">
                <a:sym typeface="Wingdings" pitchFamily="2" charset="2"/>
              </a:rPr>
              <a:t>得：氧化性：</a:t>
            </a:r>
            <a:r>
              <a:rPr lang="en-US" altLang="zh-CN" sz="2800" dirty="0">
                <a:sym typeface="Wingdings" pitchFamily="2" charset="2"/>
              </a:rPr>
              <a:t>Ce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&gt; 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由反应</a:t>
            </a:r>
            <a:r>
              <a:rPr lang="en-US" altLang="zh-CN" sz="2800" dirty="0">
                <a:sym typeface="Wingdings" pitchFamily="2" charset="2"/>
              </a:rPr>
              <a:t>1</a:t>
            </a:r>
            <a:r>
              <a:rPr lang="zh-CN" altLang="en-US" sz="2800" dirty="0">
                <a:sym typeface="Wingdings" pitchFamily="2" charset="2"/>
              </a:rPr>
              <a:t>得：氧化性：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&gt; Sn</a:t>
            </a:r>
            <a:r>
              <a:rPr lang="en-US" altLang="zh-CN" sz="2800" baseline="30000" dirty="0">
                <a:sym typeface="Wingdings" pitchFamily="2" charset="2"/>
              </a:rPr>
              <a:t>4+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5084802"/>
            <a:ext cx="39749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 err="1">
                <a:solidFill>
                  <a:srgbClr val="002060"/>
                </a:solidFill>
              </a:rPr>
              <a:t>Ans</a:t>
            </a:r>
            <a:r>
              <a:rPr lang="en-US" altLang="zh-CN" sz="3000" dirty="0">
                <a:solidFill>
                  <a:srgbClr val="002060"/>
                </a:solidFill>
              </a:rPr>
              <a:t>: Ce</a:t>
            </a:r>
            <a:r>
              <a:rPr lang="en-US" altLang="zh-CN" sz="3000" baseline="30000" dirty="0">
                <a:solidFill>
                  <a:srgbClr val="002060"/>
                </a:solidFill>
              </a:rPr>
              <a:t>4+</a:t>
            </a:r>
            <a:r>
              <a:rPr lang="en-US" altLang="zh-CN" sz="3000" dirty="0">
                <a:solidFill>
                  <a:srgbClr val="002060"/>
                </a:solidFill>
              </a:rPr>
              <a:t> </a:t>
            </a:r>
            <a:r>
              <a:rPr lang="zh-CN" altLang="en-US" sz="3000" dirty="0">
                <a:solidFill>
                  <a:srgbClr val="002060"/>
                </a:solidFill>
              </a:rPr>
              <a:t>，</a:t>
            </a:r>
            <a:r>
              <a:rPr lang="en-US" altLang="zh-CN" sz="3000" dirty="0">
                <a:solidFill>
                  <a:srgbClr val="002060"/>
                </a:solidFill>
              </a:rPr>
              <a:t>Fe</a:t>
            </a:r>
            <a:r>
              <a:rPr lang="en-US" altLang="zh-CN" sz="3000" baseline="30000" dirty="0">
                <a:solidFill>
                  <a:srgbClr val="002060"/>
                </a:solidFill>
              </a:rPr>
              <a:t>3+</a:t>
            </a:r>
            <a:r>
              <a:rPr lang="en-US" altLang="zh-CN" sz="3000" dirty="0">
                <a:solidFill>
                  <a:srgbClr val="002060"/>
                </a:solidFill>
              </a:rPr>
              <a:t> </a:t>
            </a:r>
            <a:r>
              <a:rPr lang="zh-CN" altLang="en-US" sz="3000" dirty="0">
                <a:solidFill>
                  <a:srgbClr val="002060"/>
                </a:solidFill>
              </a:rPr>
              <a:t>，</a:t>
            </a:r>
            <a:r>
              <a:rPr lang="en-US" altLang="zh-CN" sz="3000" dirty="0">
                <a:solidFill>
                  <a:srgbClr val="002060"/>
                </a:solidFill>
              </a:rPr>
              <a:t>Sn</a:t>
            </a:r>
            <a:r>
              <a:rPr lang="en-US" altLang="zh-CN" sz="3000" baseline="30000" dirty="0">
                <a:solidFill>
                  <a:srgbClr val="002060"/>
                </a:solidFill>
              </a:rPr>
              <a:t>4+</a:t>
            </a:r>
            <a:r>
              <a:rPr lang="en-US" altLang="zh-CN" sz="3000" dirty="0">
                <a:solidFill>
                  <a:srgbClr val="002060"/>
                </a:solidFill>
              </a:rPr>
              <a:t> </a:t>
            </a:r>
            <a:r>
              <a:rPr lang="en-US" sz="3000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(3)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下列为还原半反应电位：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MnO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+ 8H</a:t>
            </a:r>
            <a:r>
              <a:rPr lang="en-US" altLang="zh-CN" sz="2800" baseline="30000" dirty="0">
                <a:sym typeface="Wingdings" pitchFamily="2" charset="2"/>
              </a:rPr>
              <a:t>+ </a:t>
            </a:r>
            <a:r>
              <a:rPr lang="en-US" altLang="zh-CN" sz="2800" dirty="0">
                <a:sym typeface="Wingdings" pitchFamily="2" charset="2"/>
              </a:rPr>
              <a:t>+ 5e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Mn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+ 4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		1.52V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 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+ 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Ag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				0.80V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I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2 I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					0.54V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Br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2 Br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					1.07V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以下哪个反应会自然进行</a:t>
            </a:r>
            <a:r>
              <a:rPr lang="en-US" altLang="zh-CN" sz="2800" dirty="0">
                <a:sym typeface="Wingdings" pitchFamily="2" charset="2"/>
              </a:rPr>
              <a:t>?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A 	Ag </a:t>
            </a:r>
            <a:r>
              <a:rPr lang="zh-CN" altLang="en-US" sz="2800" dirty="0">
                <a:sym typeface="Wingdings" pitchFamily="2" charset="2"/>
              </a:rPr>
              <a:t>与</a:t>
            </a:r>
            <a:r>
              <a:rPr lang="en-US" altLang="zh-CN" sz="2800" dirty="0">
                <a:sym typeface="Wingdings" pitchFamily="2" charset="2"/>
              </a:rPr>
              <a:t>I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B	</a:t>
            </a:r>
            <a:r>
              <a:rPr lang="en-US" altLang="zh-CN" sz="2800" dirty="0" err="1">
                <a:sym typeface="Wingdings" pitchFamily="2" charset="2"/>
              </a:rPr>
              <a:t>KBr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与 </a:t>
            </a:r>
            <a:r>
              <a:rPr lang="en-US" altLang="zh-CN" sz="2800" dirty="0">
                <a:sym typeface="Wingdings" pitchFamily="2" charset="2"/>
              </a:rPr>
              <a:t>I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C	</a:t>
            </a:r>
            <a:r>
              <a:rPr lang="zh-CN" altLang="en-US" sz="2800" dirty="0">
                <a:sym typeface="Wingdings" pitchFamily="2" charset="2"/>
              </a:rPr>
              <a:t>酸化</a:t>
            </a:r>
            <a:r>
              <a:rPr lang="en-US" altLang="zh-CN" sz="2800" dirty="0">
                <a:sym typeface="Wingdings" pitchFamily="2" charset="2"/>
              </a:rPr>
              <a:t>KMnO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与 </a:t>
            </a:r>
            <a:r>
              <a:rPr lang="en-US" altLang="zh-CN" sz="2800" dirty="0">
                <a:sym typeface="Wingdings" pitchFamily="2" charset="2"/>
              </a:rPr>
              <a:t>Br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D	</a:t>
            </a:r>
            <a:r>
              <a:rPr lang="zh-CN" altLang="en-US" sz="2800" dirty="0">
                <a:sym typeface="Wingdings" pitchFamily="2" charset="2"/>
              </a:rPr>
              <a:t>酸化</a:t>
            </a:r>
            <a:r>
              <a:rPr lang="en-US" altLang="zh-CN" sz="2800" dirty="0">
                <a:sym typeface="Wingdings" pitchFamily="2" charset="2"/>
              </a:rPr>
              <a:t>KMnO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与 </a:t>
            </a:r>
            <a:r>
              <a:rPr lang="en-US" altLang="zh-CN" sz="2800" dirty="0">
                <a:sym typeface="Wingdings" pitchFamily="2" charset="2"/>
              </a:rPr>
              <a:t>Ag </a:t>
            </a:r>
            <a:endParaRPr lang="en-US" altLang="zh-CN" sz="2800" baseline="-25000" dirty="0">
              <a:sym typeface="Wingdings" pitchFamily="2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6336" y="3962400"/>
            <a:ext cx="1416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002060"/>
                </a:solidFill>
              </a:rPr>
              <a:t>E</a:t>
            </a:r>
            <a:r>
              <a:rPr lang="en-US" sz="3000" baseline="30000" dirty="0" err="1">
                <a:solidFill>
                  <a:srgbClr val="002060"/>
                </a:solidFill>
              </a:rPr>
              <a:t>o</a:t>
            </a:r>
            <a:r>
              <a:rPr lang="en-US" sz="3000" baseline="-25000" dirty="0" err="1">
                <a:solidFill>
                  <a:srgbClr val="002060"/>
                </a:solidFill>
              </a:rPr>
              <a:t>cell</a:t>
            </a:r>
            <a:r>
              <a:rPr lang="en-US" sz="3000" dirty="0">
                <a:solidFill>
                  <a:srgbClr val="002060"/>
                </a:solidFill>
              </a:rPr>
              <a:t> &lt;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945" y="4516398"/>
            <a:ext cx="1416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002060"/>
                </a:solidFill>
              </a:rPr>
              <a:t>E</a:t>
            </a:r>
            <a:r>
              <a:rPr lang="en-US" sz="3000" baseline="30000" dirty="0" err="1">
                <a:solidFill>
                  <a:srgbClr val="002060"/>
                </a:solidFill>
              </a:rPr>
              <a:t>o</a:t>
            </a:r>
            <a:r>
              <a:rPr lang="en-US" sz="3000" baseline="-25000" dirty="0" err="1">
                <a:solidFill>
                  <a:srgbClr val="002060"/>
                </a:solidFill>
              </a:rPr>
              <a:t>cell</a:t>
            </a:r>
            <a:r>
              <a:rPr lang="en-US" sz="3000" dirty="0">
                <a:solidFill>
                  <a:srgbClr val="002060"/>
                </a:solidFill>
              </a:rPr>
              <a:t> &lt;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600" y="5049798"/>
            <a:ext cx="54553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</a:rPr>
              <a:t>两者皆为氧化剂；</a:t>
            </a:r>
            <a:endParaRPr lang="en-US" altLang="zh-CN" sz="2800" dirty="0">
              <a:solidFill>
                <a:srgbClr val="002060"/>
              </a:solidFill>
            </a:endParaRPr>
          </a:p>
          <a:p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酸化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KMnO</a:t>
            </a:r>
            <a:r>
              <a:rPr lang="en-US" altLang="zh-CN" sz="2800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(</a:t>
            </a:r>
            <a:r>
              <a:rPr lang="en-US" altLang="zh-CN" sz="2800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)</a:t>
            </a: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与 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Br</a:t>
            </a:r>
            <a:r>
              <a:rPr lang="en-US" altLang="zh-CN" sz="2800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altLang="zh-CN" sz="2800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sz="2800" dirty="0">
                <a:solidFill>
                  <a:srgbClr val="002060"/>
                </a:solidFill>
                <a:sym typeface="Wingdings" pitchFamily="2" charset="2"/>
              </a:rPr>
              <a:t>)</a:t>
            </a:r>
            <a:r>
              <a:rPr lang="zh-CN" altLang="en-US" sz="2800" dirty="0">
                <a:solidFill>
                  <a:srgbClr val="002060"/>
                </a:solidFill>
                <a:sym typeface="Wingdings" pitchFamily="2" charset="2"/>
              </a:rPr>
              <a:t>就能反应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9600" y="5943600"/>
            <a:ext cx="1416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 err="1">
                <a:solidFill>
                  <a:srgbClr val="002060"/>
                </a:solidFill>
              </a:rPr>
              <a:t>E</a:t>
            </a:r>
            <a:r>
              <a:rPr lang="en-US" altLang="zh-CN" sz="3000" baseline="30000" dirty="0" err="1">
                <a:solidFill>
                  <a:srgbClr val="002060"/>
                </a:solidFill>
              </a:rPr>
              <a:t>o</a:t>
            </a:r>
            <a:r>
              <a:rPr lang="en-US" altLang="zh-CN" sz="3000" baseline="-25000" dirty="0" err="1">
                <a:solidFill>
                  <a:srgbClr val="002060"/>
                </a:solidFill>
              </a:rPr>
              <a:t>cell</a:t>
            </a:r>
            <a:r>
              <a:rPr lang="en-US" altLang="zh-CN" sz="3000" dirty="0">
                <a:solidFill>
                  <a:srgbClr val="002060"/>
                </a:solidFill>
              </a:rPr>
              <a:t> &gt; 0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4066" y="6048232"/>
            <a:ext cx="12731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err="1">
                <a:solidFill>
                  <a:srgbClr val="C00000"/>
                </a:solidFill>
              </a:rPr>
              <a:t>Ans</a:t>
            </a:r>
            <a:r>
              <a:rPr lang="en-US" sz="3000" dirty="0">
                <a:solidFill>
                  <a:srgbClr val="C00000"/>
                </a:solidFill>
              </a:rPr>
              <a:t>: D </a:t>
            </a:r>
          </a:p>
        </p:txBody>
      </p:sp>
    </p:spTree>
    <p:extLst>
      <p:ext uri="{BB962C8B-B14F-4D97-AF65-F5344CB8AC3E}">
        <p14:creationId xmlns:p14="http://schemas.microsoft.com/office/powerpoint/2010/main" val="3342145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(4)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电化电池</a:t>
            </a:r>
            <a:r>
              <a:rPr lang="en-US" altLang="zh-CN" sz="2800" dirty="0">
                <a:sym typeface="Wingdings" pitchFamily="2" charset="2"/>
              </a:rPr>
              <a:t>A</a:t>
            </a:r>
            <a:r>
              <a:rPr lang="en-US" altLang="zh-CN" sz="2800" dirty="0"/>
              <a:t> (s)/A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  <a:r>
              <a:rPr lang="en-US" altLang="zh-CN" sz="2800" dirty="0" err="1"/>
              <a:t>ll</a:t>
            </a:r>
            <a:r>
              <a:rPr lang="en-US" altLang="zh-CN" sz="2800" dirty="0"/>
              <a:t> B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(g)/B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</a:t>
            </a:r>
            <a:r>
              <a:rPr lang="zh-CN" altLang="en-US" sz="2800" dirty="0"/>
              <a:t>的标准电位差</a:t>
            </a:r>
            <a:r>
              <a:rPr lang="en-US" altLang="zh-CN" sz="2800" dirty="0"/>
              <a:t>=2.09V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已知：</a:t>
            </a:r>
            <a:r>
              <a:rPr lang="en-US" altLang="zh-CN" sz="2800" dirty="0">
                <a:sym typeface="Wingdings" pitchFamily="2" charset="2"/>
              </a:rPr>
              <a:t>	A</a:t>
            </a:r>
            <a:r>
              <a:rPr lang="en-US" altLang="zh-CN" sz="2800" baseline="30000" dirty="0">
                <a:sym typeface="Wingdings" pitchFamily="2" charset="2"/>
              </a:rPr>
              <a:t>2+ </a:t>
            </a:r>
            <a:r>
              <a:rPr lang="en-US" altLang="zh-CN" sz="2800" dirty="0">
                <a:sym typeface="Wingdings" pitchFamily="2" charset="2"/>
              </a:rPr>
              <a:t>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A 	E= -0.93V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则</a:t>
            </a:r>
            <a:r>
              <a:rPr lang="en-US" altLang="zh-CN" sz="2800" dirty="0">
                <a:sym typeface="Wingdings" pitchFamily="2" charset="2"/>
              </a:rPr>
              <a:t>		2B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B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r>
              <a:rPr lang="en-US" altLang="zh-CN" sz="2800" dirty="0">
                <a:sym typeface="Wingdings" pitchFamily="2" charset="2"/>
              </a:rPr>
              <a:t>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	E= </a:t>
            </a:r>
            <a:r>
              <a:rPr lang="zh-CN" altLang="en-US" sz="2800" dirty="0">
                <a:sym typeface="Wingdings" pitchFamily="2" charset="2"/>
              </a:rPr>
              <a:t>？</a:t>
            </a:r>
            <a:r>
              <a:rPr lang="en-US" altLang="zh-CN" sz="2800" dirty="0">
                <a:sym typeface="Wingdings" pitchFamily="2" charset="2"/>
              </a:rPr>
              <a:t>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altLang="zh-CN" sz="2800" baseline="30000" dirty="0" err="1">
                <a:sym typeface="Wingdings" pitchFamily="2" charset="2"/>
              </a:rPr>
              <a:t>o</a:t>
            </a:r>
            <a:r>
              <a:rPr lang="en-US" altLang="zh-CN" sz="2800" baseline="-25000" dirty="0" err="1">
                <a:sym typeface="Wingdings" pitchFamily="2" charset="2"/>
              </a:rPr>
              <a:t>cell</a:t>
            </a:r>
            <a:r>
              <a:rPr lang="en-US" altLang="zh-CN" sz="2800" dirty="0">
                <a:sym typeface="Wingdings" pitchFamily="2" charset="2"/>
              </a:rPr>
              <a:t>=  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E</a:t>
            </a:r>
            <a:r>
              <a:rPr lang="en-US" altLang="zh-CN" sz="2800" baseline="-25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altLang="zh-CN" sz="2800" dirty="0"/>
              <a:t>2.09	=</a:t>
            </a:r>
            <a:r>
              <a:rPr lang="el-GR" sz="2800" dirty="0"/>
              <a:t> </a:t>
            </a:r>
            <a:r>
              <a:rPr lang="en-US" altLang="zh-CN" sz="2800" dirty="0"/>
              <a:t>0.93V  + E</a:t>
            </a:r>
            <a:r>
              <a:rPr lang="en-US" altLang="zh-CN" sz="2800" baseline="-25000" dirty="0"/>
              <a:t>+</a:t>
            </a:r>
            <a:endParaRPr lang="en-US" altLang="zh-CN" sz="2800" dirty="0"/>
          </a:p>
          <a:p>
            <a:pPr>
              <a:buNone/>
            </a:pPr>
            <a:r>
              <a:rPr lang="el-GR" sz="2800" dirty="0"/>
              <a:t> </a:t>
            </a:r>
            <a:r>
              <a:rPr lang="en-US" sz="2800" dirty="0"/>
              <a:t>	  E</a:t>
            </a:r>
            <a:r>
              <a:rPr lang="en-US" sz="2800" baseline="-25000" dirty="0"/>
              <a:t>+</a:t>
            </a:r>
            <a:r>
              <a:rPr lang="en-US" altLang="zh-CN" sz="2800" dirty="0"/>
              <a:t> = 1.16V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正极发生还原反应，</a:t>
            </a:r>
            <a:r>
              <a:rPr lang="en-US" altLang="zh-CN" sz="2800" dirty="0">
                <a:sym typeface="Wingdings" pitchFamily="2" charset="2"/>
              </a:rPr>
              <a:t>E(B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/B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)=1.16V 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其氧化电位</a:t>
            </a:r>
            <a:r>
              <a:rPr lang="en-US" altLang="zh-CN" sz="2800" dirty="0">
                <a:sym typeface="Wingdings" pitchFamily="2" charset="2"/>
              </a:rPr>
              <a:t>= </a:t>
            </a:r>
            <a:r>
              <a:rPr lang="en-US" altLang="zh-CN" sz="2800" dirty="0">
                <a:solidFill>
                  <a:srgbClr val="FF0000"/>
                </a:solidFill>
                <a:sym typeface="Wingdings" pitchFamily="2" charset="2"/>
              </a:rPr>
              <a:t>-1.16V</a:t>
            </a:r>
          </a:p>
        </p:txBody>
      </p:sp>
    </p:spTree>
    <p:extLst>
      <p:ext uri="{BB962C8B-B14F-4D97-AF65-F5344CB8AC3E}">
        <p14:creationId xmlns:p14="http://schemas.microsoft.com/office/powerpoint/2010/main" val="2352964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(5)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某电池中两个半反应的标准电极电位如下：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电极</a:t>
            </a:r>
            <a:r>
              <a:rPr lang="en-US" altLang="zh-CN" sz="2800" dirty="0">
                <a:sym typeface="Wingdings" pitchFamily="2" charset="2"/>
              </a:rPr>
              <a:t>A</a:t>
            </a:r>
            <a:r>
              <a:rPr lang="zh-CN" altLang="en-US" sz="2800" dirty="0">
                <a:sym typeface="Wingdings" pitchFamily="2" charset="2"/>
              </a:rPr>
              <a:t>：</a:t>
            </a:r>
            <a:r>
              <a:rPr lang="en-US" altLang="zh-CN" sz="2800" dirty="0">
                <a:sym typeface="Wingdings" pitchFamily="2" charset="2"/>
              </a:rPr>
              <a:t>MnO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+ 8H</a:t>
            </a:r>
            <a:r>
              <a:rPr lang="en-US" altLang="zh-CN" sz="2800" baseline="30000" dirty="0">
                <a:sym typeface="Wingdings" pitchFamily="2" charset="2"/>
              </a:rPr>
              <a:t>+ </a:t>
            </a:r>
            <a:r>
              <a:rPr lang="en-US" altLang="zh-CN" sz="2800" dirty="0">
                <a:sym typeface="Wingdings" pitchFamily="2" charset="2"/>
              </a:rPr>
              <a:t>+ 5e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Mn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+ 4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	1.52V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电极</a:t>
            </a:r>
            <a:r>
              <a:rPr lang="en-US" altLang="zh-CN" sz="2800" dirty="0">
                <a:sym typeface="Wingdings" pitchFamily="2" charset="2"/>
              </a:rPr>
              <a:t>B</a:t>
            </a:r>
            <a:r>
              <a:rPr lang="zh-CN" altLang="en-US" sz="2800" dirty="0">
                <a:sym typeface="Wingdings" pitchFamily="2" charset="2"/>
              </a:rPr>
              <a:t>： </a:t>
            </a:r>
            <a:r>
              <a:rPr lang="en-US" altLang="zh-CN" sz="2800" dirty="0">
                <a:sym typeface="Wingdings" pitchFamily="2" charset="2"/>
              </a:rPr>
              <a:t>Cl</a:t>
            </a:r>
            <a:r>
              <a:rPr lang="en-US" altLang="zh-CN" sz="2800" baseline="-25000" dirty="0">
                <a:sym typeface="Wingdings" pitchFamily="2" charset="2"/>
              </a:rPr>
              <a:t>2 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  2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				1.36V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(a) </a:t>
            </a:r>
            <a:r>
              <a:rPr lang="zh-CN" altLang="en-US" sz="2800" dirty="0">
                <a:sym typeface="Wingdings" pitchFamily="2" charset="2"/>
              </a:rPr>
              <a:t>此电池的标准电动势是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(b) </a:t>
            </a:r>
            <a:r>
              <a:rPr lang="zh-CN" altLang="en-US" sz="2800" dirty="0">
                <a:sym typeface="Wingdings" pitchFamily="2" charset="2"/>
              </a:rPr>
              <a:t>电子从电极</a:t>
            </a: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流向电极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(c) </a:t>
            </a:r>
            <a:r>
              <a:rPr lang="zh-CN" altLang="en-US" sz="2800" dirty="0">
                <a:sym typeface="Wingdings" pitchFamily="2" charset="2"/>
              </a:rPr>
              <a:t>电池符号是</a:t>
            </a: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643" y="2433851"/>
            <a:ext cx="10871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0.16V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44715" y="2951189"/>
            <a:ext cx="3946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B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17693" y="298784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7625" y="1419367"/>
            <a:ext cx="5186035" cy="55399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000" dirty="0">
                <a:solidFill>
                  <a:srgbClr val="002060"/>
                </a:solidFill>
              </a:rPr>
              <a:t>还原电位大，易被还原，正极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4715" y="3505187"/>
            <a:ext cx="63516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Cl</a:t>
            </a:r>
            <a:r>
              <a:rPr lang="en-US" altLang="zh-CN" sz="3000" baseline="30000" dirty="0">
                <a:solidFill>
                  <a:srgbClr val="002060"/>
                </a:solidFill>
              </a:rPr>
              <a:t>- </a:t>
            </a:r>
            <a:r>
              <a:rPr lang="en-US" altLang="zh-CN" sz="3000" dirty="0">
                <a:solidFill>
                  <a:srgbClr val="002060"/>
                </a:solidFill>
              </a:rPr>
              <a:t> (c1) / Cl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dirty="0">
                <a:solidFill>
                  <a:srgbClr val="002060"/>
                </a:solidFill>
              </a:rPr>
              <a:t> (g) </a:t>
            </a:r>
            <a:r>
              <a:rPr lang="en-US" altLang="zh-CN" sz="3000" dirty="0" err="1">
                <a:solidFill>
                  <a:srgbClr val="002060"/>
                </a:solidFill>
              </a:rPr>
              <a:t>ll</a:t>
            </a:r>
            <a:r>
              <a:rPr lang="en-US" altLang="zh-CN" sz="3000" dirty="0">
                <a:solidFill>
                  <a:srgbClr val="002060"/>
                </a:solidFill>
              </a:rPr>
              <a:t> MnO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4</a:t>
            </a:r>
            <a:r>
              <a:rPr lang="en-US" altLang="zh-CN" sz="3000" baseline="30000" dirty="0">
                <a:solidFill>
                  <a:srgbClr val="002060"/>
                </a:solidFill>
              </a:rPr>
              <a:t>-</a:t>
            </a:r>
            <a:r>
              <a:rPr lang="en-US" altLang="zh-CN" sz="3000" dirty="0">
                <a:solidFill>
                  <a:srgbClr val="002060"/>
                </a:solidFill>
              </a:rPr>
              <a:t> (c2) / Mn</a:t>
            </a:r>
            <a:r>
              <a:rPr lang="en-US" altLang="zh-CN" sz="3000" baseline="30000" dirty="0">
                <a:solidFill>
                  <a:srgbClr val="002060"/>
                </a:solidFill>
              </a:rPr>
              <a:t>2+</a:t>
            </a:r>
            <a:r>
              <a:rPr lang="en-US" altLang="zh-CN" sz="3000" dirty="0">
                <a:solidFill>
                  <a:srgbClr val="002060"/>
                </a:solidFill>
              </a:rPr>
              <a:t> (c3)</a:t>
            </a:r>
            <a:endParaRPr lang="en-US" sz="3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3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(6)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zh-CN" altLang="en-US" sz="2800" dirty="0">
                <a:sym typeface="Wingdings" pitchFamily="2" charset="2"/>
              </a:rPr>
              <a:t>氧化还原电对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zh-CN" altLang="en-US" sz="2800" dirty="0">
                <a:sym typeface="Wingdings" pitchFamily="2" charset="2"/>
              </a:rPr>
              <a:t>标准还原电位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BrO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/ Br</a:t>
            </a:r>
            <a:r>
              <a:rPr lang="en-US" altLang="zh-CN" sz="2800" baseline="-25000" dirty="0">
                <a:sym typeface="Wingdings" pitchFamily="2" charset="2"/>
              </a:rPr>
              <a:t>2 			</a:t>
            </a:r>
            <a:r>
              <a:rPr lang="en-US" altLang="zh-CN" sz="2800" dirty="0">
                <a:sym typeface="Wingdings" pitchFamily="2" charset="2"/>
              </a:rPr>
              <a:t> 1.52V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/ Fe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			0.77V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S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6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/ S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		0.09V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Zn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/ Zn			-0.76V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MnO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/ Mn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		1.49V </a:t>
            </a:r>
          </a:p>
          <a:p>
            <a:pPr marL="514350" indent="-514350">
              <a:buAutoNum type="alphaLcParenBoth"/>
            </a:pPr>
            <a:r>
              <a:rPr lang="zh-CN" altLang="en-US" sz="2800" dirty="0">
                <a:sym typeface="Wingdings" pitchFamily="2" charset="2"/>
              </a:rPr>
              <a:t>强还原剂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zh-CN" altLang="en-US" sz="2800" dirty="0">
                <a:sym typeface="Wingdings" pitchFamily="2" charset="2"/>
              </a:rPr>
              <a:t>强氧化剂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(b) </a:t>
            </a:r>
            <a:r>
              <a:rPr lang="zh-CN" altLang="en-US" sz="2800" dirty="0">
                <a:sym typeface="Wingdings" pitchFamily="2" charset="2"/>
              </a:rPr>
              <a:t>可将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氧化为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30000" dirty="0">
                <a:sym typeface="Wingdings" pitchFamily="2" charset="2"/>
              </a:rPr>
              <a:t>3+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的是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(c) </a:t>
            </a:r>
            <a:r>
              <a:rPr lang="zh-CN" altLang="en-US" sz="2800" dirty="0">
                <a:sym typeface="Wingdings" pitchFamily="2" charset="2"/>
              </a:rPr>
              <a:t>组成电动势最大的电池，其电动势</a:t>
            </a:r>
            <a:r>
              <a:rPr lang="en-US" altLang="zh-CN" sz="2800" dirty="0">
                <a:sym typeface="Wingdings" pitchFamily="2" charset="2"/>
              </a:rPr>
              <a:t>=</a:t>
            </a:r>
            <a:endParaRPr lang="en-MY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符号是</a:t>
            </a:r>
            <a:endParaRPr lang="en-US" altLang="zh-CN" sz="2800" dirty="0">
              <a:sym typeface="Wingdings" pitchFamily="2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73194" y="3962400"/>
            <a:ext cx="5661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Zn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0" y="3941802"/>
            <a:ext cx="11079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BrO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 </a:t>
            </a:r>
            <a:r>
              <a:rPr lang="en-US" altLang="zh-CN" sz="3000" baseline="30000" dirty="0">
                <a:solidFill>
                  <a:srgbClr val="002060"/>
                </a:solidFill>
              </a:rPr>
              <a:t>- 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37311" y="5029200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</a:rPr>
              <a:t>2.28V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5542002"/>
            <a:ext cx="60150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>
                <a:solidFill>
                  <a:srgbClr val="002060"/>
                </a:solidFill>
              </a:rPr>
              <a:t> Zn (s) / Zn</a:t>
            </a:r>
            <a:r>
              <a:rPr lang="en-US" altLang="zh-CN" sz="3000" baseline="30000" dirty="0">
                <a:solidFill>
                  <a:srgbClr val="002060"/>
                </a:solidFill>
              </a:rPr>
              <a:t>2+</a:t>
            </a:r>
            <a:r>
              <a:rPr lang="en-US" altLang="zh-CN" sz="3000" dirty="0">
                <a:solidFill>
                  <a:srgbClr val="002060"/>
                </a:solidFill>
              </a:rPr>
              <a:t> (c1) </a:t>
            </a:r>
            <a:r>
              <a:rPr lang="en-US" altLang="zh-CN" sz="3000" dirty="0" err="1">
                <a:solidFill>
                  <a:srgbClr val="002060"/>
                </a:solidFill>
              </a:rPr>
              <a:t>ll</a:t>
            </a:r>
            <a:r>
              <a:rPr lang="en-US" altLang="zh-CN" sz="3000" dirty="0">
                <a:solidFill>
                  <a:srgbClr val="002060"/>
                </a:solidFill>
              </a:rPr>
              <a:t> BrO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 </a:t>
            </a:r>
            <a:r>
              <a:rPr lang="en-US" altLang="zh-CN" sz="3000" baseline="30000" dirty="0">
                <a:solidFill>
                  <a:srgbClr val="002060"/>
                </a:solidFill>
              </a:rPr>
              <a:t>- </a:t>
            </a:r>
            <a:r>
              <a:rPr lang="en-US" altLang="zh-CN" sz="3000" dirty="0">
                <a:solidFill>
                  <a:srgbClr val="002060"/>
                </a:solidFill>
              </a:rPr>
              <a:t> (c2) / Br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2</a:t>
            </a:r>
            <a:r>
              <a:rPr lang="en-US" altLang="zh-CN" sz="3000" dirty="0">
                <a:solidFill>
                  <a:srgbClr val="002060"/>
                </a:solidFill>
              </a:rPr>
              <a:t> (g)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14221" y="4419600"/>
            <a:ext cx="328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sym typeface="Wingdings" pitchFamily="2" charset="2"/>
              </a:rPr>
              <a:t>MnO</a:t>
            </a:r>
            <a:r>
              <a:rPr lang="en-US" altLang="zh-CN" sz="3200" baseline="-25000" dirty="0">
                <a:solidFill>
                  <a:srgbClr val="002060"/>
                </a:solidFill>
                <a:sym typeface="Wingdings" pitchFamily="2" charset="2"/>
              </a:rPr>
              <a:t>4 </a:t>
            </a:r>
            <a:r>
              <a:rPr lang="en-US" altLang="zh-CN" sz="3200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3200" dirty="0">
                <a:solidFill>
                  <a:srgbClr val="002060"/>
                </a:solidFill>
                <a:sym typeface="Wingdings" pitchFamily="2" charset="2"/>
              </a:rPr>
              <a:t> 	</a:t>
            </a:r>
            <a:r>
              <a:rPr lang="en-US" altLang="zh-CN" sz="3000" dirty="0">
                <a:solidFill>
                  <a:srgbClr val="002060"/>
                </a:solidFill>
              </a:rPr>
              <a:t>BrO</a:t>
            </a:r>
            <a:r>
              <a:rPr lang="en-US" altLang="zh-CN" sz="3000" baseline="-25000" dirty="0">
                <a:solidFill>
                  <a:srgbClr val="002060"/>
                </a:solidFill>
              </a:rPr>
              <a:t>3 </a:t>
            </a:r>
            <a:r>
              <a:rPr lang="en-US" altLang="zh-CN" sz="3000" baseline="30000" dirty="0">
                <a:solidFill>
                  <a:srgbClr val="002060"/>
                </a:solidFill>
              </a:rPr>
              <a:t>- </a:t>
            </a:r>
            <a:endParaRPr lang="en-US" sz="3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542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24.3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电解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电解</a:t>
            </a:r>
            <a:r>
              <a:rPr lang="en-US" altLang="zh-CN" sz="3000" dirty="0">
                <a:sym typeface="Wingdings" pitchFamily="2" charset="2"/>
              </a:rPr>
              <a:t>: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电能转化成化学能</a:t>
            </a:r>
            <a:r>
              <a:rPr lang="zh-CN" altLang="en-US" sz="3000" dirty="0">
                <a:sym typeface="Wingdings" pitchFamily="2" charset="2"/>
              </a:rPr>
              <a:t>促使氧化还原反应的发生。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24.3.1 </a:t>
            </a:r>
            <a:r>
              <a:rPr lang="zh-CN" altLang="en-US" sz="3000" dirty="0">
                <a:sym typeface="Wingdings" pitchFamily="2" charset="2"/>
              </a:rPr>
              <a:t>电解原理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电解：利用直流电使电解质发生化学反应的过程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阳极：与直流电正极相连的电极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阴极：与直流电负极相连的电极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24.3.1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电解原理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交流分享</a:t>
            </a:r>
            <a:r>
              <a:rPr lang="zh-CN" altLang="en-US" sz="2400" dirty="0">
                <a:sym typeface="Wingdings" pitchFamily="2" charset="2"/>
              </a:rPr>
              <a:t>答案</a:t>
            </a:r>
            <a:r>
              <a:rPr lang="en-US" altLang="zh-CN" sz="2400" dirty="0">
                <a:sym typeface="Wingdings" pitchFamily="2" charset="2"/>
              </a:rPr>
              <a:t>pg307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电解熔融状态的氯化钠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>
                <a:sym typeface="Wingdings" pitchFamily="2" charset="2"/>
              </a:rPr>
              <a:t>通电前：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做无规则的热运动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通电后：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向阴极移动，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向阳极移动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2. </a:t>
            </a:r>
            <a:r>
              <a:rPr lang="zh-CN" altLang="en-US" sz="3000" dirty="0"/>
              <a:t>阴极：</a:t>
            </a:r>
            <a:r>
              <a:rPr lang="en-US" altLang="zh-CN" sz="3000" dirty="0"/>
              <a:t>2Na</a:t>
            </a:r>
            <a:r>
              <a:rPr lang="en-US" altLang="zh-CN" sz="3000" baseline="30000" dirty="0"/>
              <a:t>+</a:t>
            </a:r>
            <a:r>
              <a:rPr lang="en-US" altLang="zh-CN" sz="3000" dirty="0"/>
              <a:t> (l) + 2e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--&gt; 2Na (l)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/>
              <a:t>	</a:t>
            </a:r>
            <a:r>
              <a:rPr lang="zh-CN" altLang="en-US" sz="3000" dirty="0"/>
              <a:t>阳极： </a:t>
            </a:r>
            <a:r>
              <a:rPr lang="en-US" altLang="zh-CN" sz="3000" dirty="0"/>
              <a:t>2Cl</a:t>
            </a:r>
            <a:r>
              <a:rPr lang="en-US" altLang="zh-CN" sz="3000" baseline="30000" dirty="0"/>
              <a:t>-</a:t>
            </a:r>
            <a:r>
              <a:rPr lang="en-US" altLang="zh-CN" sz="3000" dirty="0"/>
              <a:t> (l) </a:t>
            </a:r>
            <a:r>
              <a:rPr lang="en-US" altLang="zh-CN" sz="3000" dirty="0">
                <a:sym typeface="Wingdings" pitchFamily="2" charset="2"/>
              </a:rPr>
              <a:t> 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总反应（电解反应）：</a:t>
            </a:r>
            <a:r>
              <a:rPr lang="en-US" altLang="zh-CN" sz="3000" dirty="0">
                <a:sym typeface="Wingdings" pitchFamily="2" charset="2"/>
              </a:rPr>
              <a:t>2NaCl(l)  		2Na(l) + 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</a:t>
            </a:r>
          </a:p>
          <a:p>
            <a:pPr>
              <a:lnSpc>
                <a:spcPct val="150000"/>
              </a:lnSpc>
              <a:buNone/>
            </a:pPr>
            <a:endParaRPr lang="en-US" altLang="zh-CN" sz="3000" dirty="0"/>
          </a:p>
        </p:txBody>
      </p:sp>
      <p:grpSp>
        <p:nvGrpSpPr>
          <p:cNvPr id="5" name="Group 47"/>
          <p:cNvGrpSpPr/>
          <p:nvPr/>
        </p:nvGrpSpPr>
        <p:grpSpPr>
          <a:xfrm>
            <a:off x="5638800" y="5715000"/>
            <a:ext cx="731520" cy="307777"/>
            <a:chOff x="2819400" y="5940623"/>
            <a:chExt cx="731520" cy="30777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24.3.1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电解原理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电解：直流电通过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电解质溶液或熔融的电解质</a:t>
            </a:r>
            <a:r>
              <a:rPr lang="zh-CN" altLang="en-US" sz="3000" dirty="0">
                <a:solidFill>
                  <a:srgbClr val="002060"/>
                </a:solidFill>
                <a:sym typeface="Wingdings" pitchFamily="2" charset="2"/>
              </a:rPr>
              <a:t>，</a:t>
            </a:r>
            <a:r>
              <a:rPr lang="zh-CN" altLang="en-US" sz="3000" dirty="0">
                <a:sym typeface="Wingdings" pitchFamily="2" charset="2"/>
              </a:rPr>
              <a:t>使其在两个电极上分别发生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氧化反应和还原反应</a:t>
            </a:r>
            <a:r>
              <a:rPr lang="zh-CN" altLang="en-US" sz="3000" dirty="0">
                <a:sym typeface="Wingdings" pitchFamily="2" charset="2"/>
              </a:rPr>
              <a:t>的过程。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电解池：将电能转化为化学能的装置。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电解池的组成：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2400" dirty="0">
                <a:sym typeface="Wingdings" pitchFamily="2" charset="2"/>
              </a:rPr>
              <a:t>直流电源</a:t>
            </a:r>
            <a:endParaRPr lang="en-US" altLang="zh-CN" sz="2400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2400" dirty="0">
                <a:sym typeface="Wingdings" pitchFamily="2" charset="2"/>
              </a:rPr>
              <a:t>固体电极材料</a:t>
            </a:r>
            <a:endParaRPr lang="en-US" altLang="zh-CN" sz="2400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2400" dirty="0">
                <a:sym typeface="Wingdings" pitchFamily="2" charset="2"/>
              </a:rPr>
              <a:t>电解质溶液</a:t>
            </a:r>
            <a:r>
              <a:rPr lang="en-US" altLang="zh-CN" sz="2400" dirty="0">
                <a:sym typeface="Wingdings" pitchFamily="2" charset="2"/>
              </a:rPr>
              <a:t>/</a:t>
            </a:r>
            <a:r>
              <a:rPr lang="zh-CN" altLang="en-US" sz="2400" dirty="0">
                <a:sym typeface="Wingdings" pitchFamily="2" charset="2"/>
              </a:rPr>
              <a:t>熔融的电解质</a:t>
            </a:r>
            <a:endParaRPr lang="en-US" altLang="zh-CN" sz="24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阳极：与直流电正极相连的电极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阴极：与直流电负极相连的电极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24.3.1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电解原理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决定电解后阴阳两极产物的因素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离子电位</a:t>
            </a:r>
            <a:endParaRPr lang="en-US" altLang="zh-CN" sz="3000" dirty="0">
              <a:sym typeface="Wingdings" pitchFamily="2" charset="2"/>
            </a:endParaRPr>
          </a:p>
          <a:p>
            <a:pPr marL="914400" lvl="1" indent="-514350">
              <a:buNone/>
            </a:pP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阴极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正离子：还原电位大者，易被还原</a:t>
            </a:r>
            <a:endParaRPr lang="en-US" altLang="zh-CN" sz="3000" dirty="0">
              <a:sym typeface="Wingdings" pitchFamily="2" charset="2"/>
            </a:endParaRPr>
          </a:p>
          <a:p>
            <a:pPr marL="914400" lvl="1" indent="-514350">
              <a:buNone/>
            </a:pP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阳极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负离子：氧化电位大者，易被氧化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离子浓度</a:t>
            </a:r>
            <a:r>
              <a:rPr lang="en-US" altLang="zh-CN" sz="3000" dirty="0">
                <a:sym typeface="Wingdings" pitchFamily="2" charset="2"/>
              </a:rPr>
              <a:t>pg309</a:t>
            </a:r>
          </a:p>
          <a:p>
            <a:pPr marL="914400" lvl="1" indent="-514350">
              <a:buNone/>
            </a:pPr>
            <a:r>
              <a:rPr lang="zh-CN" altLang="en-US" sz="3000" dirty="0">
                <a:sym typeface="Wingdings" pitchFamily="2" charset="2"/>
              </a:rPr>
              <a:t>若电化序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电位差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相差不大，浓者易被氧化或还原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电极种类</a:t>
            </a:r>
            <a:r>
              <a:rPr lang="en-US" altLang="zh-CN" sz="3000" dirty="0">
                <a:sym typeface="Wingdings" pitchFamily="2" charset="2"/>
              </a:rPr>
              <a:t>pg311</a:t>
            </a:r>
          </a:p>
          <a:p>
            <a:pPr marL="914400" lvl="1" indent="-514350">
              <a:buNone/>
            </a:pPr>
            <a:r>
              <a:rPr lang="zh-CN" altLang="en-US" sz="3000" dirty="0">
                <a:sym typeface="Wingdings" pitchFamily="2" charset="2"/>
              </a:rPr>
              <a:t>惰性电极不参与反应，如：</a:t>
            </a:r>
            <a:r>
              <a:rPr lang="en-US" altLang="zh-CN" sz="3000" dirty="0">
                <a:sym typeface="Wingdings" pitchFamily="2" charset="2"/>
              </a:rPr>
              <a:t>Pt</a:t>
            </a:r>
            <a:r>
              <a:rPr lang="zh-CN" altLang="en-US" sz="3000" dirty="0">
                <a:sym typeface="Wingdings" pitchFamily="2" charset="2"/>
              </a:rPr>
              <a:t>、石墨。</a:t>
            </a:r>
            <a:endParaRPr lang="en-US" altLang="zh-CN" sz="3000" dirty="0">
              <a:sym typeface="Wingdings" pitchFamily="2" charset="2"/>
            </a:endParaRPr>
          </a:p>
          <a:p>
            <a:pPr marL="914400" lvl="1" indent="-514350">
              <a:buNone/>
            </a:pPr>
            <a:r>
              <a:rPr lang="zh-CN" altLang="en-US" sz="3000" dirty="0">
                <a:sym typeface="Wingdings" pitchFamily="2" charset="2"/>
              </a:rPr>
              <a:t>活泼电极会参与反应，如：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、大部分金属电极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/>
          </a:p>
        </p:txBody>
      </p:sp>
      <p:sp>
        <p:nvSpPr>
          <p:cNvPr id="5" name="Rectangle 4"/>
          <p:cNvSpPr/>
          <p:nvPr/>
        </p:nvSpPr>
        <p:spPr>
          <a:xfrm>
            <a:off x="5600639" y="3244334"/>
            <a:ext cx="194316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浓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≥</a:t>
            </a:r>
            <a:r>
              <a:rPr lang="en-US" sz="3000" b="1" dirty="0">
                <a:solidFill>
                  <a:srgbClr val="002060"/>
                </a:solidFill>
                <a:sym typeface="Wingdings" pitchFamily="2" charset="2"/>
              </a:rPr>
              <a:t>1molL</a:t>
            </a:r>
            <a:r>
              <a:rPr lang="en-US" sz="3000" b="1" baseline="30000" dirty="0">
                <a:solidFill>
                  <a:srgbClr val="002060"/>
                </a:solidFill>
                <a:sym typeface="Wingdings" pitchFamily="2" charset="2"/>
              </a:rPr>
              <a:t>-1</a:t>
            </a:r>
            <a:endParaRPr lang="en-US" sz="3000" dirty="0"/>
          </a:p>
        </p:txBody>
      </p:sp>
      <p:sp>
        <p:nvSpPr>
          <p:cNvPr id="6" name="Rectangle 5"/>
          <p:cNvSpPr/>
          <p:nvPr/>
        </p:nvSpPr>
        <p:spPr>
          <a:xfrm>
            <a:off x="5562600" y="4018002"/>
            <a:ext cx="211628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稀 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&lt; </a:t>
            </a:r>
            <a:r>
              <a:rPr lang="en-US" sz="3000" b="1" dirty="0">
                <a:solidFill>
                  <a:srgbClr val="002060"/>
                </a:solidFill>
                <a:sym typeface="Wingdings" pitchFamily="2" charset="2"/>
              </a:rPr>
              <a:t>1molL</a:t>
            </a:r>
            <a:r>
              <a:rPr lang="en-US" sz="3000" b="1" baseline="30000" dirty="0">
                <a:solidFill>
                  <a:srgbClr val="002060"/>
                </a:solidFill>
                <a:sym typeface="Wingdings" pitchFamily="2" charset="2"/>
              </a:rPr>
              <a:t>-1</a:t>
            </a:r>
            <a:endParaRPr lang="en-US" sz="3000" dirty="0"/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245612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baseline="300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en-US" sz="3000" b="1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最多差</a:t>
            </a:r>
            <a:r>
              <a:rPr lang="en-US" altLang="zh-CN" sz="3000" b="1" dirty="0">
                <a:solidFill>
                  <a:srgbClr val="7030A0"/>
                </a:solidFill>
                <a:sym typeface="Wingdings" pitchFamily="2" charset="2"/>
              </a:rPr>
              <a:t>3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个位</a:t>
            </a:r>
            <a:endParaRPr lang="en-US" sz="3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24.3.1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电解原理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电化序</a:t>
            </a:r>
            <a:endParaRPr lang="en-US" altLang="zh-CN" sz="3000" dirty="0">
              <a:sym typeface="Wingdings" pitchFamily="2" charset="2"/>
            </a:endParaRPr>
          </a:p>
        </p:txBody>
      </p:sp>
      <p:pic>
        <p:nvPicPr>
          <p:cNvPr id="9" name="Picture 8" descr="化序.jpg"/>
          <p:cNvPicPr>
            <a:picLocks noChangeAspect="1"/>
          </p:cNvPicPr>
          <p:nvPr/>
        </p:nvPicPr>
        <p:blipFill>
          <a:blip r:embed="rId3"/>
          <a:srcRect l="24065" t="29206" r="49650"/>
          <a:stretch>
            <a:fillRect/>
          </a:stretch>
        </p:blipFill>
        <p:spPr>
          <a:xfrm>
            <a:off x="1752600" y="990600"/>
            <a:ext cx="2286000" cy="545253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819400" y="5846802"/>
            <a:ext cx="134363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得电子</a:t>
            </a:r>
            <a:endParaRPr lang="en-US" sz="3000" dirty="0"/>
          </a:p>
        </p:txBody>
      </p:sp>
      <p:sp>
        <p:nvSpPr>
          <p:cNvPr id="11" name="Rectangle 10"/>
          <p:cNvSpPr/>
          <p:nvPr/>
        </p:nvSpPr>
        <p:spPr>
          <a:xfrm>
            <a:off x="4980962" y="1274802"/>
            <a:ext cx="1050288" cy="378565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F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</a:p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SO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2-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</a:p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NO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</a:p>
          <a:p>
            <a:r>
              <a:rPr lang="en-US" altLang="zh-CN" sz="3000" b="1" dirty="0" err="1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</a:p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Br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</a:p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I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</a:p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OH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</a:p>
          <a:p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S</a:t>
            </a:r>
            <a:r>
              <a:rPr lang="en-US" altLang="zh-CN" sz="3000" b="1" baseline="30000" dirty="0">
                <a:solidFill>
                  <a:srgbClr val="002060"/>
                </a:solidFill>
                <a:sym typeface="Wingdings" pitchFamily="2" charset="2"/>
              </a:rPr>
              <a:t>2-</a:t>
            </a:r>
            <a:endParaRPr lang="en-US" sz="3000" dirty="0"/>
          </a:p>
        </p:txBody>
      </p:sp>
      <p:pic>
        <p:nvPicPr>
          <p:cNvPr id="12" name="Picture 11" descr="化序.jpg"/>
          <p:cNvPicPr>
            <a:picLocks noChangeAspect="1"/>
          </p:cNvPicPr>
          <p:nvPr/>
        </p:nvPicPr>
        <p:blipFill>
          <a:blip r:embed="rId3"/>
          <a:srcRect l="38960" t="29206" r="51402"/>
          <a:stretch>
            <a:fillRect/>
          </a:stretch>
        </p:blipFill>
        <p:spPr>
          <a:xfrm>
            <a:off x="6019800" y="1295400"/>
            <a:ext cx="838200" cy="3810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15000" y="4648200"/>
            <a:ext cx="134363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失电子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915400" cy="6172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：电解熔融的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zh-CN" altLang="en-US" sz="3000" dirty="0">
                <a:sym typeface="Wingdings" pitchFamily="2" charset="2"/>
              </a:rPr>
              <a:t>，以</a:t>
            </a:r>
            <a:r>
              <a:rPr lang="en-US" altLang="zh-CN" sz="3000" dirty="0">
                <a:sym typeface="Wingdings" pitchFamily="2" charset="2"/>
              </a:rPr>
              <a:t>Pt</a:t>
            </a:r>
            <a:r>
              <a:rPr lang="zh-CN" altLang="en-US" sz="3000" dirty="0">
                <a:sym typeface="Wingdings" pitchFamily="2" charset="2"/>
              </a:rPr>
              <a:t>为电极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熔融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zh-CN" altLang="en-US" sz="3000" dirty="0">
                <a:sym typeface="Wingdings" pitchFamily="2" charset="2"/>
              </a:rPr>
              <a:t>中含有：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通电后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阳极：</a:t>
            </a:r>
            <a:r>
              <a:rPr lang="en-US" altLang="zh-CN" sz="3000" dirty="0">
                <a:sym typeface="Wingdings" pitchFamily="2" charset="2"/>
              </a:rPr>
              <a:t>2 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阴极： 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+ 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 Na		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000" dirty="0">
                <a:sym typeface="Wingdings" pitchFamily="2" charset="2"/>
              </a:rPr>
              <a:t>总反应： 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2Na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(l) + 2Cl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(l)           2Na(l) + 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3505200"/>
            <a:ext cx="6335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2060"/>
                </a:solidFill>
              </a:rPr>
              <a:t>x 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971800" y="5181600"/>
            <a:ext cx="731520" cy="307777"/>
            <a:chOff x="2819400" y="5940623"/>
            <a:chExt cx="73152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：电解稀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，以</a:t>
            </a:r>
            <a:r>
              <a:rPr lang="en-US" altLang="zh-CN" sz="3000" dirty="0">
                <a:sym typeface="Wingdings" pitchFamily="2" charset="2"/>
              </a:rPr>
              <a:t>Pt</a:t>
            </a:r>
            <a:r>
              <a:rPr lang="zh-CN" altLang="en-US" sz="3000" dirty="0">
                <a:sym typeface="Wingdings" pitchFamily="2" charset="2"/>
              </a:rPr>
              <a:t>为电极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稀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中含有：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(H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通电后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阴极有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 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的还原电位较大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电化序较低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	2 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+ 2e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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		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阳极有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3000" baseline="30000" dirty="0">
                <a:sym typeface="Wingdings" pitchFamily="2" charset="2"/>
              </a:rPr>
              <a:t>	</a:t>
            </a:r>
            <a:r>
              <a:rPr lang="en-US" altLang="zh-CN" sz="3000" dirty="0">
                <a:sym typeface="Wingdings" pitchFamily="2" charset="2"/>
              </a:rPr>
              <a:t>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的氧化电位较大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电化序较低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+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+ 4e</a:t>
            </a:r>
            <a:r>
              <a:rPr lang="en-US" altLang="zh-CN" sz="3000" baseline="30000" dirty="0">
                <a:sym typeface="Wingdings" pitchFamily="2" charset="2"/>
              </a:rPr>
              <a:t>-	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溶液中：</a:t>
            </a:r>
            <a:r>
              <a:rPr lang="en-US" altLang="zh-CN" sz="3000" dirty="0">
                <a:sym typeface="Wingdings" pitchFamily="2" charset="2"/>
              </a:rPr>
              <a:t>Na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总反应： </a:t>
            </a:r>
            <a:r>
              <a:rPr lang="en-US" altLang="zh-CN" sz="3000" dirty="0">
                <a:sym typeface="Wingdings" pitchFamily="2" charset="2"/>
              </a:rPr>
              <a:t>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(l)          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</a:t>
            </a:r>
          </a:p>
          <a:p>
            <a:pPr>
              <a:buNone/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电解稀溶液为水之电解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5235" y="6019800"/>
            <a:ext cx="5254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水被电解后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NaCl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浓度会增加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383280" y="5559623"/>
            <a:ext cx="731520" cy="307777"/>
            <a:chOff x="2819400" y="5940623"/>
            <a:chExt cx="73152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505200" y="274320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3</a:t>
            </a:r>
            <a:r>
              <a:rPr lang="zh-CN" altLang="en-US" sz="2800" dirty="0">
                <a:sym typeface="Wingdings" pitchFamily="2" charset="2"/>
              </a:rPr>
              <a:t>：电解浓</a:t>
            </a:r>
            <a:r>
              <a:rPr lang="en-US" altLang="zh-CN" sz="2800" dirty="0" err="1">
                <a:sym typeface="Wingdings" pitchFamily="2" charset="2"/>
              </a:rPr>
              <a:t>NaCl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，以</a:t>
            </a:r>
            <a:r>
              <a:rPr lang="en-US" altLang="zh-CN" sz="2800" dirty="0">
                <a:sym typeface="Wingdings" pitchFamily="2" charset="2"/>
              </a:rPr>
              <a:t>Pt</a:t>
            </a:r>
            <a:r>
              <a:rPr lang="zh-CN" altLang="en-US" sz="2800" dirty="0">
                <a:sym typeface="Wingdings" pitchFamily="2" charset="2"/>
              </a:rPr>
              <a:t>为电极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浓</a:t>
            </a:r>
            <a:r>
              <a:rPr lang="en-US" altLang="zh-CN" sz="2800" dirty="0" err="1">
                <a:sym typeface="Wingdings" pitchFamily="2" charset="2"/>
              </a:rPr>
              <a:t>NaCl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还原电位较大，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虽多，但电位差相差太多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2 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氧化电位较大，但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较多，且电位差相差不多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2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</a:t>
            </a:r>
            <a:r>
              <a:rPr lang="en-US" altLang="zh-CN" sz="2800" dirty="0" err="1">
                <a:sym typeface="Wingdings" pitchFamily="2" charset="2"/>
              </a:rPr>
              <a:t>NaOH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总反应： </a:t>
            </a:r>
            <a:r>
              <a:rPr lang="en-US" altLang="zh-CN" sz="2800" dirty="0">
                <a:sym typeface="Wingdings" pitchFamily="2" charset="2"/>
              </a:rPr>
              <a:t>2NaCl  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      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+ 2NaOH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0155" y="518160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溶液呈碱性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916680" y="5712023"/>
            <a:ext cx="731520" cy="307777"/>
            <a:chOff x="2819400" y="5940623"/>
            <a:chExt cx="73152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4</a:t>
            </a:r>
            <a:r>
              <a:rPr lang="zh-CN" altLang="en-US" sz="2800" dirty="0">
                <a:sym typeface="Wingdings" pitchFamily="2" charset="2"/>
              </a:rPr>
              <a:t>：电解浓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，以石墨为电极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浓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 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Cu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氧化电位较大，但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较多，且电位差相差不多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2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(l)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总反应： 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	      Cu + 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621280" y="5715000"/>
            <a:ext cx="731520" cy="307777"/>
            <a:chOff x="2819400" y="5940623"/>
            <a:chExt cx="73152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5</a:t>
            </a:r>
            <a:r>
              <a:rPr lang="zh-CN" altLang="en-US" sz="2800" dirty="0">
                <a:sym typeface="Wingdings" pitchFamily="2" charset="2"/>
              </a:rPr>
              <a:t>：电解稀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，以</a:t>
            </a:r>
            <a:r>
              <a:rPr lang="en-US" altLang="zh-CN" sz="2800" dirty="0">
                <a:sym typeface="Wingdings" pitchFamily="2" charset="2"/>
              </a:rPr>
              <a:t>Pt</a:t>
            </a:r>
            <a:r>
              <a:rPr lang="zh-CN" altLang="en-US" sz="2800" dirty="0">
                <a:sym typeface="Wingdings" pitchFamily="2" charset="2"/>
              </a:rPr>
              <a:t>为电极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稀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还原电位较大，（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少，因为水是弱电解质）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 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Cu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氧化电位较大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4OH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+ 4e</a:t>
            </a:r>
            <a:r>
              <a:rPr lang="en-US" altLang="zh-CN" sz="2800" baseline="30000" dirty="0">
                <a:sym typeface="Wingdings" pitchFamily="2" charset="2"/>
              </a:rPr>
              <a:t>-	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</a:t>
            </a:r>
            <a:r>
              <a:rPr lang="en-US" altLang="zh-CN" sz="2800" dirty="0" err="1">
                <a:sym typeface="Wingdings" pitchFamily="2" charset="2"/>
              </a:rPr>
              <a:t>HCl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总反应： </a:t>
            </a:r>
            <a:r>
              <a:rPr lang="en-US" altLang="zh-CN" sz="2800" dirty="0">
                <a:sym typeface="Wingdings" pitchFamily="2" charset="2"/>
              </a:rPr>
              <a:t>2CuCl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	2 Cu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>
                <a:sym typeface="Wingdings" pitchFamily="2" charset="2"/>
              </a:rPr>
              <a:t>+ 4HCl</a:t>
            </a:r>
            <a:endParaRPr lang="en-US" altLang="zh-CN" sz="2800" dirty="0">
              <a:sym typeface="Wingdings" pitchFamily="2" charset="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992880" y="5715000"/>
            <a:ext cx="731520" cy="307777"/>
            <a:chOff x="2819400" y="5940623"/>
            <a:chExt cx="73152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248400" y="518160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溶液呈酸性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2800" y="259080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6</a:t>
            </a:r>
            <a:r>
              <a:rPr lang="zh-CN" altLang="en-US" sz="2800" dirty="0">
                <a:sym typeface="Wingdings" pitchFamily="2" charset="2"/>
              </a:rPr>
              <a:t>：电解稀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</a:t>
            </a: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以</a:t>
            </a:r>
            <a:r>
              <a:rPr lang="en-US" altLang="zh-CN" sz="2800" b="1" dirty="0">
                <a:solidFill>
                  <a:srgbClr val="7030A0"/>
                </a:solidFill>
                <a:sym typeface="Wingdings" pitchFamily="2" charset="2"/>
              </a:rPr>
              <a:t>Cu</a:t>
            </a: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为电极</a:t>
            </a:r>
            <a:endParaRPr lang="en-US" altLang="zh-CN" sz="2800" b="1" dirty="0">
              <a:solidFill>
                <a:srgbClr val="7030A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稀</a:t>
            </a:r>
            <a:r>
              <a:rPr lang="en-US" altLang="zh-CN" sz="2800" dirty="0">
                <a:sym typeface="Wingdings" pitchFamily="2" charset="2"/>
              </a:rPr>
              <a:t>CuCl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还原电位较大，（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少，因为水是弱电解质）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 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Cu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 err="1">
                <a:sym typeface="Wingdings" pitchFamily="2" charset="2"/>
              </a:rPr>
              <a:t>Cl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Cu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为电极</a:t>
            </a:r>
            <a:endParaRPr lang="en-US" altLang="zh-CN" sz="2800" b="1" baseline="300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金属单质比阴离子更容易被氧化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Cu   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+ 2e</a:t>
            </a:r>
            <a:r>
              <a:rPr lang="en-US" altLang="zh-CN" sz="2800" baseline="30000" dirty="0">
                <a:sym typeface="Wingdings" pitchFamily="2" charset="2"/>
              </a:rPr>
              <a:t>-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溶液中：无变化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现象：阴极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zh-CN" altLang="en-US" sz="2800" dirty="0">
                <a:sym typeface="Wingdings" pitchFamily="2" charset="2"/>
              </a:rPr>
              <a:t>棒变粗、阳极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zh-CN" altLang="en-US" sz="2800" dirty="0">
                <a:sym typeface="Wingdings" pitchFamily="2" charset="2"/>
              </a:rPr>
              <a:t>棒溶解。</a:t>
            </a: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7</a:t>
            </a:r>
            <a:r>
              <a:rPr lang="zh-CN" altLang="en-US" sz="2800" dirty="0">
                <a:sym typeface="Wingdings" pitchFamily="2" charset="2"/>
              </a:rPr>
              <a:t>：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问题解决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pg311</a:t>
            </a:r>
            <a:r>
              <a:rPr lang="zh-CN" altLang="en-US" sz="2800" dirty="0">
                <a:sym typeface="Wingdings" pitchFamily="2" charset="2"/>
              </a:rPr>
              <a:t>电解稀</a:t>
            </a:r>
            <a:r>
              <a:rPr lang="en-US" altLang="zh-CN" sz="2800" dirty="0">
                <a:sym typeface="Wingdings" pitchFamily="2" charset="2"/>
              </a:rPr>
              <a:t>/</a:t>
            </a:r>
            <a:r>
              <a:rPr lang="zh-CN" altLang="en-US" sz="2800" dirty="0">
                <a:sym typeface="Wingdings" pitchFamily="2" charset="2"/>
              </a:rPr>
              <a:t>浓</a:t>
            </a:r>
            <a:r>
              <a:rPr lang="en-US" altLang="zh-CN" sz="2800" dirty="0">
                <a:sym typeface="Wingdings" pitchFamily="2" charset="2"/>
              </a:rPr>
              <a:t>CuSO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</a:t>
            </a: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以</a:t>
            </a:r>
            <a:r>
              <a:rPr lang="en-US" altLang="zh-CN" sz="2800" b="1" dirty="0">
                <a:solidFill>
                  <a:srgbClr val="7030A0"/>
                </a:solidFill>
                <a:sym typeface="Wingdings" pitchFamily="2" charset="2"/>
              </a:rPr>
              <a:t>Cu</a:t>
            </a: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为电极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稀</a:t>
            </a:r>
            <a:r>
              <a:rPr lang="en-US" altLang="zh-CN" sz="2800" dirty="0">
                <a:sym typeface="Wingdings" pitchFamily="2" charset="2"/>
              </a:rPr>
              <a:t>CuSO</a:t>
            </a:r>
            <a:r>
              <a:rPr lang="en-US" altLang="zh-CN" sz="2800" baseline="-25000" dirty="0">
                <a:sym typeface="Wingdings" pitchFamily="2" charset="2"/>
              </a:rPr>
              <a:t>4 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还原电位较大，（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少，因为水是弱电解质）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 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Cu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Cu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为电极</a:t>
            </a:r>
            <a:endParaRPr lang="en-US" altLang="zh-CN" sz="2800" b="1" baseline="300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金属单质比阴离子更容易被氧化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Cu   Cu</a:t>
            </a:r>
            <a:r>
              <a:rPr lang="en-US" altLang="zh-CN" sz="2800" baseline="30000" dirty="0">
                <a:sym typeface="Wingdings" pitchFamily="2" charset="2"/>
              </a:rPr>
              <a:t>2+</a:t>
            </a:r>
            <a:r>
              <a:rPr lang="en-US" altLang="zh-CN" sz="2800" dirty="0">
                <a:sym typeface="Wingdings" pitchFamily="2" charset="2"/>
              </a:rPr>
              <a:t> + 2e</a:t>
            </a:r>
            <a:r>
              <a:rPr lang="en-US" altLang="zh-CN" sz="2800" baseline="30000" dirty="0">
                <a:sym typeface="Wingdings" pitchFamily="2" charset="2"/>
              </a:rPr>
              <a:t>-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溶液中：无变化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现象：阴极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zh-CN" altLang="en-US" sz="2800" dirty="0">
                <a:sym typeface="Wingdings" pitchFamily="2" charset="2"/>
              </a:rPr>
              <a:t>棒变粗、阳极</a:t>
            </a:r>
            <a:r>
              <a:rPr lang="en-US" altLang="zh-CN" sz="2800" dirty="0">
                <a:sym typeface="Wingdings" pitchFamily="2" charset="2"/>
              </a:rPr>
              <a:t>Cu</a:t>
            </a:r>
            <a:r>
              <a:rPr lang="zh-CN" altLang="en-US" sz="2800" dirty="0">
                <a:sym typeface="Wingdings" pitchFamily="2" charset="2"/>
              </a:rPr>
              <a:t>棒溶解。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题目的潮湿淀粉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KI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试纸是要检验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的与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CuSO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4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电解无关。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8</a:t>
            </a:r>
            <a:r>
              <a:rPr lang="zh-CN" altLang="en-US" sz="2800" dirty="0">
                <a:sym typeface="Wingdings" pitchFamily="2" charset="2"/>
              </a:rPr>
              <a:t>：电解稀</a:t>
            </a:r>
            <a:r>
              <a:rPr lang="en-US" altLang="zh-CN" sz="2800" dirty="0">
                <a:sym typeface="Wingdings" pitchFamily="2" charset="2"/>
              </a:rPr>
              <a:t>AgNO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，以</a:t>
            </a:r>
            <a:r>
              <a:rPr lang="en-US" altLang="zh-CN" sz="2800" dirty="0">
                <a:sym typeface="Wingdings" pitchFamily="2" charset="2"/>
              </a:rPr>
              <a:t>Pt</a:t>
            </a:r>
            <a:r>
              <a:rPr lang="zh-CN" altLang="en-US" sz="2800" dirty="0">
                <a:sym typeface="Wingdings" pitchFamily="2" charset="2"/>
              </a:rPr>
              <a:t>为电极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稀</a:t>
            </a:r>
            <a:r>
              <a:rPr lang="en-US" altLang="zh-CN" sz="2800" dirty="0">
                <a:sym typeface="Wingdings" pitchFamily="2" charset="2"/>
              </a:rPr>
              <a:t>AgNO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 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还原电位较大，（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少，因为水是弱电解质）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 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+ 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Ag		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>
                <a:sym typeface="Wingdings" pitchFamily="2" charset="2"/>
              </a:rPr>
              <a:t>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氧化电位较大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4OH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+ 4e</a:t>
            </a:r>
            <a:r>
              <a:rPr lang="en-US" altLang="zh-CN" sz="2800" baseline="30000" dirty="0">
                <a:sym typeface="Wingdings" pitchFamily="2" charset="2"/>
              </a:rPr>
              <a:t>-	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HNO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总反应：</a:t>
            </a:r>
            <a:r>
              <a:rPr lang="en-US" altLang="zh-CN" sz="2800" dirty="0">
                <a:sym typeface="Wingdings" pitchFamily="2" charset="2"/>
              </a:rPr>
              <a:t>4</a:t>
            </a: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AgNO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	4Ag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+ 4HNO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endParaRPr lang="en-US" altLang="zh-CN" sz="2800" dirty="0">
              <a:sym typeface="Wingdings" pitchFamily="2" charset="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069080" y="5715000"/>
            <a:ext cx="731520" cy="307777"/>
            <a:chOff x="2819400" y="5940623"/>
            <a:chExt cx="73152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248400" y="518160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溶液呈酸性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2800" y="259080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例</a:t>
            </a:r>
            <a:r>
              <a:rPr lang="en-US" altLang="zh-CN" sz="2800" dirty="0">
                <a:sym typeface="Wingdings" pitchFamily="2" charset="2"/>
              </a:rPr>
              <a:t>9</a:t>
            </a:r>
            <a:r>
              <a:rPr lang="zh-CN" altLang="en-US" sz="2800" dirty="0">
                <a:sym typeface="Wingdings" pitchFamily="2" charset="2"/>
              </a:rPr>
              <a:t>：电解浓</a:t>
            </a:r>
            <a:r>
              <a:rPr lang="en-US" altLang="zh-CN" sz="2800" dirty="0">
                <a:sym typeface="Wingdings" pitchFamily="2" charset="2"/>
              </a:rPr>
              <a:t>AgNO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，以</a:t>
            </a:r>
            <a:r>
              <a:rPr lang="en-US" altLang="zh-CN" sz="2800" dirty="0">
                <a:sym typeface="Wingdings" pitchFamily="2" charset="2"/>
              </a:rPr>
              <a:t>Pt</a:t>
            </a:r>
            <a:r>
              <a:rPr lang="zh-CN" altLang="en-US" sz="2800" dirty="0">
                <a:sym typeface="Wingdings" pitchFamily="2" charset="2"/>
              </a:rPr>
              <a:t>为电极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浓</a:t>
            </a:r>
            <a:r>
              <a:rPr lang="en-US" altLang="zh-CN" sz="2800" dirty="0">
                <a:sym typeface="Wingdings" pitchFamily="2" charset="2"/>
              </a:rPr>
              <a:t>AgNO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 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 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+ 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Ag		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>
                <a:sym typeface="Wingdings" pitchFamily="2" charset="2"/>
              </a:rPr>
              <a:t>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氧化电位较大，虽然</a:t>
            </a:r>
            <a:r>
              <a:rPr lang="en-US" altLang="zh-CN" sz="2800" dirty="0">
                <a:sym typeface="Wingdings" pitchFamily="2" charset="2"/>
              </a:rPr>
              <a:t>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zh-CN" altLang="en-US" sz="2800" dirty="0">
                <a:sym typeface="Wingdings" pitchFamily="2" charset="2"/>
              </a:rPr>
              <a:t>多，但电位差相差大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4OH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+ 4e</a:t>
            </a:r>
            <a:r>
              <a:rPr lang="en-US" altLang="zh-CN" sz="2800" baseline="30000" dirty="0">
                <a:sym typeface="Wingdings" pitchFamily="2" charset="2"/>
              </a:rPr>
              <a:t>-	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HNO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总反应：</a:t>
            </a:r>
            <a:r>
              <a:rPr lang="en-US" altLang="zh-CN" sz="2800" dirty="0">
                <a:sym typeface="Wingdings" pitchFamily="2" charset="2"/>
              </a:rPr>
              <a:t>4</a:t>
            </a: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AgNO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	4Ag +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+ 4HNO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endParaRPr lang="en-US" altLang="zh-CN" sz="2800" dirty="0">
              <a:sym typeface="Wingdings" pitchFamily="2" charset="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069080" y="5715000"/>
            <a:ext cx="731520" cy="307777"/>
            <a:chOff x="2819400" y="5940623"/>
            <a:chExt cx="731520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248400" y="518160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溶液呈酸性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2800" y="259080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练习：电解浓</a:t>
            </a:r>
            <a:r>
              <a:rPr lang="en-US" altLang="zh-CN" sz="2800" dirty="0" err="1">
                <a:sym typeface="Wingdings" pitchFamily="2" charset="2"/>
              </a:rPr>
              <a:t>Nal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，以</a:t>
            </a:r>
            <a:r>
              <a:rPr lang="en-US" altLang="zh-CN" sz="2800" dirty="0">
                <a:sym typeface="Wingdings" pitchFamily="2" charset="2"/>
              </a:rPr>
              <a:t>Pt</a:t>
            </a:r>
            <a:r>
              <a:rPr lang="zh-CN" altLang="en-US" sz="2800" dirty="0">
                <a:sym typeface="Wingdings" pitchFamily="2" charset="2"/>
              </a:rPr>
              <a:t>为电极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浓</a:t>
            </a:r>
            <a:r>
              <a:rPr lang="en-US" altLang="zh-CN" sz="2800" dirty="0" err="1">
                <a:sym typeface="Wingdings" pitchFamily="2" charset="2"/>
              </a:rPr>
              <a:t>Nal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中含有：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通电后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阴极有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还原电位较大，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虽多，但电位差相差太多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	2 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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	</a:t>
            </a:r>
            <a:r>
              <a:rPr lang="zh-CN" altLang="en-US" sz="2800" dirty="0">
                <a:sym typeface="Wingdings" pitchFamily="2" charset="2"/>
              </a:rPr>
              <a:t>还原反应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阳极有</a:t>
            </a:r>
            <a:r>
              <a:rPr lang="en-US" altLang="zh-CN" sz="2800" dirty="0">
                <a:sym typeface="Wingdings" pitchFamily="2" charset="2"/>
              </a:rPr>
              <a:t>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氧化电位较大，但</a:t>
            </a:r>
            <a:r>
              <a:rPr lang="en-US" altLang="zh-CN" sz="2800" dirty="0">
                <a:sym typeface="Wingdings" pitchFamily="2" charset="2"/>
              </a:rPr>
              <a:t>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较多，且电位差相差不多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 2 l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 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	</a:t>
            </a:r>
            <a:r>
              <a:rPr lang="zh-CN" altLang="en-US" sz="2800" dirty="0">
                <a:sym typeface="Wingdings" pitchFamily="2" charset="2"/>
              </a:rPr>
              <a:t>氧化反应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溶液中：</a:t>
            </a:r>
            <a:r>
              <a:rPr lang="en-US" altLang="zh-CN" sz="2800" dirty="0">
                <a:sym typeface="Wingdings" pitchFamily="2" charset="2"/>
              </a:rPr>
              <a:t>Na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</a:t>
            </a:r>
            <a:r>
              <a:rPr lang="en-US" altLang="zh-CN" sz="2800" dirty="0" err="1">
                <a:sym typeface="Wingdings" pitchFamily="2" charset="2"/>
              </a:rPr>
              <a:t>NaOH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总反应： </a:t>
            </a:r>
            <a:r>
              <a:rPr lang="en-US" altLang="zh-CN" sz="2800" dirty="0">
                <a:sym typeface="Wingdings" pitchFamily="2" charset="2"/>
              </a:rPr>
              <a:t>2Nal  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           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+ 2NaOH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0155" y="5181600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溶液呈碱性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916680" y="5712023"/>
            <a:ext cx="731520" cy="307777"/>
            <a:chOff x="2819400" y="5940623"/>
            <a:chExt cx="73152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24.3.1 </a:t>
            </a:r>
            <a:r>
              <a:rPr lang="zh-CN" altLang="en-US" b="1" dirty="0">
                <a:sym typeface="Wingdings" pitchFamily="2" charset="2"/>
              </a:rPr>
              <a:t>电解原理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交流分享</a:t>
            </a:r>
            <a:r>
              <a:rPr lang="en-US" altLang="zh-CN" sz="3000" dirty="0">
                <a:sym typeface="Wingdings" pitchFamily="2" charset="2"/>
              </a:rPr>
              <a:t>pg308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1&amp;2.</a:t>
            </a:r>
            <a:r>
              <a:rPr lang="zh-CN" altLang="en-US" sz="3000" dirty="0">
                <a:sym typeface="Wingdings" pitchFamily="2" charset="2"/>
              </a:rPr>
              <a:t>答案</a:t>
            </a:r>
            <a:r>
              <a:rPr lang="en-US" altLang="zh-CN" sz="3000" dirty="0">
                <a:sym typeface="Wingdings" pitchFamily="2" charset="2"/>
              </a:rPr>
              <a:t>pg309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en-US" altLang="zh-CN" sz="3000" dirty="0" err="1">
                <a:sym typeface="Wingdings" pitchFamily="2" charset="2"/>
              </a:rPr>
              <a:t>NaOH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不参加电极反应，且能使溶液中离子浓度增大，溶液的导电性增强。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问题解决</a:t>
            </a:r>
            <a:r>
              <a:rPr lang="en-US" altLang="zh-CN" sz="3000" dirty="0">
                <a:sym typeface="Wingdings" pitchFamily="2" charset="2"/>
              </a:rPr>
              <a:t>pg310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阴极：</a:t>
            </a:r>
            <a:r>
              <a:rPr lang="en-US" altLang="zh-CN" sz="3000" dirty="0">
                <a:sym typeface="Wingdings" pitchFamily="2" charset="2"/>
              </a:rPr>
              <a:t>Al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(l) +3e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Al (l)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阳极：</a:t>
            </a:r>
            <a:r>
              <a:rPr lang="en-US" altLang="zh-CN" sz="3000" dirty="0">
                <a:sym typeface="Wingdings" pitchFamily="2" charset="2"/>
              </a:rPr>
              <a:t>2O</a:t>
            </a:r>
            <a:r>
              <a:rPr lang="en-US" altLang="zh-CN" sz="3000" baseline="30000" dirty="0">
                <a:sym typeface="Wingdings" pitchFamily="2" charset="2"/>
              </a:rPr>
              <a:t>2-</a:t>
            </a:r>
            <a:r>
              <a:rPr lang="en-US" altLang="zh-CN" sz="3000" dirty="0">
                <a:sym typeface="Wingdings" pitchFamily="2" charset="2"/>
              </a:rPr>
              <a:t> (l) 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+ 4e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电解反应：</a:t>
            </a:r>
            <a:r>
              <a:rPr lang="en-US" altLang="zh-CN" sz="3000" dirty="0">
                <a:sym typeface="Wingdings" pitchFamily="2" charset="2"/>
              </a:rPr>
              <a:t> 2Al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(l) 		4Al (l) + 3O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350520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4124980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x3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16680" y="4721423"/>
            <a:ext cx="731520" cy="307777"/>
            <a:chOff x="2819400" y="5940623"/>
            <a:chExt cx="731520" cy="307777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电解池与原电池的差别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	</a:t>
            </a:r>
            <a:r>
              <a:rPr lang="zh-CN" altLang="en-US" sz="3000" dirty="0">
                <a:sym typeface="Wingdings" pitchFamily="2" charset="2"/>
              </a:rPr>
              <a:t>电解池</a:t>
            </a: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原电池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电子流动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阳极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阴极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负极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正极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电极名称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阴极</a:t>
            </a:r>
            <a:r>
              <a:rPr lang="zh-CN" altLang="en-US" sz="3000" dirty="0">
                <a:sym typeface="Wingdings" pitchFamily="2" charset="2"/>
              </a:rPr>
              <a:t>；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阳极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负极</a:t>
            </a:r>
            <a:r>
              <a:rPr lang="zh-CN" altLang="en-US" sz="3000" dirty="0">
                <a:sym typeface="Wingdings" pitchFamily="2" charset="2"/>
              </a:rPr>
              <a:t>；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正极</a:t>
            </a:r>
            <a:endParaRPr lang="en-US" altLang="zh-CN" sz="3000" b="1" dirty="0">
              <a:solidFill>
                <a:srgbClr val="7030A0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连接电源</a:t>
            </a:r>
            <a:r>
              <a:rPr lang="en-US" altLang="zh-CN" sz="3000" dirty="0">
                <a:sym typeface="Wingdings" pitchFamily="2" charset="2"/>
              </a:rPr>
              <a:t>: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负极</a:t>
            </a:r>
            <a:r>
              <a:rPr lang="zh-CN" altLang="en-US" sz="3000" dirty="0">
                <a:sym typeface="Wingdings" pitchFamily="2" charset="2"/>
              </a:rPr>
              <a:t>；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正极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电子</a:t>
            </a:r>
            <a:r>
              <a:rPr lang="en-US" altLang="zh-CN" sz="3000" dirty="0">
                <a:sym typeface="Wingdings" pitchFamily="2" charset="2"/>
              </a:rPr>
              <a:t>: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流出</a:t>
            </a:r>
            <a:r>
              <a:rPr lang="zh-CN" altLang="en-US" sz="3000" dirty="0">
                <a:sym typeface="Wingdings" pitchFamily="2" charset="2"/>
              </a:rPr>
              <a:t>；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流入</a:t>
            </a:r>
            <a:endParaRPr lang="en-US" altLang="zh-CN" sz="3000" b="1" dirty="0">
              <a:solidFill>
                <a:srgbClr val="7030A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电极反应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还原</a:t>
            </a:r>
            <a:r>
              <a:rPr lang="zh-CN" altLang="en-US" sz="3000" dirty="0">
                <a:sym typeface="Wingdings" pitchFamily="2" charset="2"/>
              </a:rPr>
              <a:t>；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氧化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氧化</a:t>
            </a:r>
            <a:r>
              <a:rPr lang="zh-CN" altLang="en-US" sz="3000" dirty="0">
                <a:sym typeface="Wingdings" pitchFamily="2" charset="2"/>
              </a:rPr>
              <a:t>；</a:t>
            </a:r>
            <a:r>
              <a:rPr lang="zh-CN" altLang="en-US" sz="3000" b="1" dirty="0">
                <a:solidFill>
                  <a:srgbClr val="7030A0"/>
                </a:solidFill>
                <a:sym typeface="Wingdings" pitchFamily="2" charset="2"/>
              </a:rPr>
              <a:t>还原</a:t>
            </a:r>
            <a:endParaRPr lang="en-US" altLang="zh-CN" sz="3000" b="1" dirty="0">
              <a:solidFill>
                <a:srgbClr val="7030A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装置作用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电能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化学能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化学能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电能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氧化还原反应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非自发性</a:t>
            </a: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自发性</a:t>
            </a:r>
            <a:r>
              <a:rPr lang="en-US" altLang="zh-CN" sz="3000" dirty="0">
                <a:sym typeface="Wingdings" pitchFamily="2" charset="2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电解池与原电池的差别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5" name="Picture 4" descr="原电池vs电解池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8200"/>
            <a:ext cx="9144000" cy="5940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2876" y="6248400"/>
            <a:ext cx="444352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氯碱工业；电镀；冶炼</a:t>
            </a:r>
            <a:r>
              <a:rPr lang="en-US" altLang="zh-CN" dirty="0" err="1"/>
              <a:t>Na,Mg,Al</a:t>
            </a:r>
            <a:r>
              <a:rPr lang="zh-CN" altLang="en-US" dirty="0"/>
              <a:t>；精炼</a:t>
            </a:r>
            <a:r>
              <a:rPr lang="en-US" altLang="zh-CN" dirty="0"/>
              <a:t>(Cu)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电解池与原电池的差别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7" name="Picture 6" descr="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2723"/>
            <a:ext cx="9144000" cy="589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电解池与原电池的差别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/>
          </a:p>
        </p:txBody>
      </p:sp>
      <p:pic>
        <p:nvPicPr>
          <p:cNvPr id="8" name="Picture 7" descr="01.jpg"/>
          <p:cNvPicPr>
            <a:picLocks noChangeAspect="1"/>
          </p:cNvPicPr>
          <p:nvPr/>
        </p:nvPicPr>
        <p:blipFill>
          <a:blip r:embed="rId3"/>
          <a:srcRect l="10127" t="19831" r="8861" b="17722"/>
          <a:stretch>
            <a:fillRect/>
          </a:stretch>
        </p:blipFill>
        <p:spPr>
          <a:xfrm>
            <a:off x="304800" y="990600"/>
            <a:ext cx="8610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思考题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24d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A—b		B—e		C—f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D—c		E—d		F—a	</a:t>
            </a:r>
          </a:p>
          <a:p>
            <a:pPr marL="514350" indent="-514350">
              <a:buAutoNum type="arabicPeriod" startAt="2"/>
            </a:pPr>
            <a:r>
              <a:rPr lang="en-US" altLang="zh-CN" sz="3000" dirty="0">
                <a:sym typeface="Wingdings" pitchFamily="2" charset="2"/>
              </a:rPr>
              <a:t>(1) Al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(l) +  3e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  Al (l)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              3mol	     27g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   	    </a:t>
            </a:r>
            <a:r>
              <a:rPr lang="en-US" altLang="zh-CN" sz="3000" dirty="0" err="1">
                <a:sym typeface="Wingdings" pitchFamily="2" charset="2"/>
              </a:rPr>
              <a:t>xmol</a:t>
            </a:r>
            <a:r>
              <a:rPr lang="en-US" altLang="zh-CN" sz="3000" dirty="0">
                <a:sym typeface="Wingdings" pitchFamily="2" charset="2"/>
              </a:rPr>
              <a:t>	      1t = 10</a:t>
            </a:r>
            <a:r>
              <a:rPr lang="en-US" altLang="zh-CN" sz="3000" baseline="30000" dirty="0">
                <a:sym typeface="Wingdings" pitchFamily="2" charset="2"/>
              </a:rPr>
              <a:t>6</a:t>
            </a:r>
            <a:r>
              <a:rPr lang="en-US" altLang="zh-CN" sz="3000" dirty="0">
                <a:sym typeface="Wingdings" pitchFamily="2" charset="2"/>
              </a:rPr>
              <a:t> g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x= 1.11x10</a:t>
            </a:r>
            <a:r>
              <a:rPr lang="en-US" altLang="zh-CN" sz="3000" baseline="30000" dirty="0">
                <a:sym typeface="Wingdings" pitchFamily="2" charset="2"/>
              </a:rPr>
              <a:t>5</a:t>
            </a:r>
            <a:r>
              <a:rPr lang="en-US" altLang="zh-CN" sz="3000" dirty="0">
                <a:sym typeface="Wingdings" pitchFamily="2" charset="2"/>
              </a:rPr>
              <a:t> mol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(2) 2Al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(l)          4Al (l) + 3O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		C+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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各物质转化比例</a:t>
            </a:r>
            <a:r>
              <a:rPr lang="en-US" altLang="zh-CN" sz="3000" dirty="0">
                <a:sym typeface="Wingdings" pitchFamily="2" charset="2"/>
              </a:rPr>
              <a:t>: 4Al –  3O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–  3CO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– 3C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4x27		     	      3x12</a:t>
            </a:r>
          </a:p>
          <a:p>
            <a:pPr marL="514350" indent="-514350">
              <a:buNone/>
            </a:pPr>
            <a:r>
              <a:rPr lang="en-US" altLang="zh-CN" sz="2600" dirty="0">
                <a:sym typeface="Wingdings" pitchFamily="2" charset="2"/>
              </a:rPr>
              <a:t>			</a:t>
            </a:r>
            <a:r>
              <a:rPr lang="en-US" altLang="zh-CN" sz="3000" dirty="0">
                <a:sym typeface="Wingdings" pitchFamily="2" charset="2"/>
              </a:rPr>
              <a:t>	1 t			      </a:t>
            </a:r>
            <a:r>
              <a:rPr lang="en-US" altLang="zh-CN" sz="3000" dirty="0" err="1">
                <a:sym typeface="Wingdings" pitchFamily="2" charset="2"/>
              </a:rPr>
              <a:t>yt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 	y= 0.33t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361264" y="2590800"/>
            <a:ext cx="3659471" cy="915195"/>
            <a:chOff x="2075000" y="2895600"/>
            <a:chExt cx="6213283" cy="915195"/>
          </a:xfrm>
        </p:grpSpPr>
        <p:cxnSp>
          <p:nvCxnSpPr>
            <p:cNvPr id="6" name="Straight Arrow Connector 5"/>
            <p:cNvCxnSpPr/>
            <p:nvPr/>
          </p:nvCxnSpPr>
          <p:spPr>
            <a:xfrm rot="5400000">
              <a:off x="1617801" y="3352800"/>
              <a:ext cx="915194" cy="7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7868389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146625" y="3124200"/>
              <a:ext cx="2458167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V="1">
              <a:off x="3887870" y="3124200"/>
              <a:ext cx="1413475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286000" y="4188023"/>
            <a:ext cx="731520" cy="307777"/>
            <a:chOff x="2819400" y="5940623"/>
            <a:chExt cx="731520" cy="307777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电解</a:t>
              </a:r>
              <a:endParaRPr lang="en-US" sz="14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667000" y="5410200"/>
            <a:ext cx="5105400" cy="915195"/>
            <a:chOff x="2075000" y="2895600"/>
            <a:chExt cx="6213283" cy="915195"/>
          </a:xfrm>
        </p:grpSpPr>
        <p:cxnSp>
          <p:nvCxnSpPr>
            <p:cNvPr id="17" name="Straight Arrow Connector 16"/>
            <p:cNvCxnSpPr/>
            <p:nvPr/>
          </p:nvCxnSpPr>
          <p:spPr>
            <a:xfrm rot="5400000">
              <a:off x="1617801" y="3352800"/>
              <a:ext cx="915194" cy="7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>
              <a:off x="7868389" y="3313906"/>
              <a:ext cx="8382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146625" y="3124200"/>
              <a:ext cx="2101476" cy="533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0800000" flipV="1">
              <a:off x="4022447" y="3048000"/>
              <a:ext cx="2132918" cy="609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下列有关</a:t>
            </a:r>
            <a:r>
              <a:rPr lang="en-US" altLang="zh-CN" sz="3000" dirty="0">
                <a:sym typeface="Wingdings" pitchFamily="2" charset="2"/>
              </a:rPr>
              <a:t>IA</a:t>
            </a:r>
            <a:r>
              <a:rPr lang="zh-CN" altLang="en-US" sz="3000" dirty="0">
                <a:sym typeface="Wingdings" pitchFamily="2" charset="2"/>
              </a:rPr>
              <a:t>族元素的叙述错误的是？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</a:t>
            </a:r>
            <a:r>
              <a:rPr lang="zh-CN" altLang="en-US" sz="3000" dirty="0">
                <a:sym typeface="Wingdings" pitchFamily="2" charset="2"/>
              </a:rPr>
              <a:t>它们都是强还原剂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B </a:t>
            </a:r>
            <a:r>
              <a:rPr lang="zh-CN" altLang="en-US" sz="3000" dirty="0">
                <a:sym typeface="Wingdings" pitchFamily="2" charset="2"/>
              </a:rPr>
              <a:t>它们的氯化物都能溶于水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 </a:t>
            </a:r>
            <a:r>
              <a:rPr lang="zh-CN" altLang="en-US" sz="3000" dirty="0">
                <a:sym typeface="Wingdings" pitchFamily="2" charset="2"/>
              </a:rPr>
              <a:t>在熔融时，它们都能导电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 </a:t>
            </a:r>
            <a:r>
              <a:rPr lang="zh-CN" altLang="en-US" sz="3000" dirty="0">
                <a:sym typeface="Wingdings" pitchFamily="2" charset="2"/>
              </a:rPr>
              <a:t>电解它们的水溶液时，阴极上会释放出它们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</a:t>
            </a:r>
          </a:p>
          <a:p>
            <a:pPr marL="514350" indent="-514350">
              <a:buAutoNum type="arabicPeriod" startAt="2"/>
            </a:pPr>
            <a:r>
              <a:rPr lang="zh-CN" altLang="en-US" sz="3000" dirty="0">
                <a:sym typeface="Wingdings" pitchFamily="2" charset="2"/>
              </a:rPr>
              <a:t>用石墨作电极，电解</a:t>
            </a:r>
            <a:r>
              <a:rPr lang="en-US" altLang="zh-CN" sz="3000" dirty="0">
                <a:sym typeface="Wingdings" pitchFamily="2" charset="2"/>
              </a:rPr>
              <a:t>1M</a:t>
            </a:r>
            <a:r>
              <a:rPr lang="zh-CN" altLang="en-US" sz="3000" dirty="0">
                <a:sym typeface="Wingdings" pitchFamily="2" charset="2"/>
              </a:rPr>
              <a:t>的下列各溶液，在电解过程中，哪种溶液的</a:t>
            </a:r>
            <a:r>
              <a:rPr lang="en-US" altLang="zh-CN" sz="3000" dirty="0">
                <a:sym typeface="Wingdings" pitchFamily="2" charset="2"/>
              </a:rPr>
              <a:t>pH</a:t>
            </a:r>
            <a:r>
              <a:rPr lang="zh-CN" altLang="en-US" sz="3000" dirty="0">
                <a:sym typeface="Wingdings" pitchFamily="2" charset="2"/>
              </a:rPr>
              <a:t>值保持不变？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en-US" altLang="zh-CN" sz="3000" dirty="0">
                <a:sym typeface="Wingdings" pitchFamily="2" charset="2"/>
              </a:rPr>
              <a:t>		B </a:t>
            </a:r>
            <a:r>
              <a:rPr lang="en-US" altLang="zh-CN" sz="3000" dirty="0" err="1">
                <a:sym typeface="Wingdings" pitchFamily="2" charset="2"/>
              </a:rPr>
              <a:t>NaOH</a:t>
            </a:r>
            <a:r>
              <a:rPr lang="en-US" altLang="zh-CN" sz="3000" dirty="0">
                <a:sym typeface="Wingdings" pitchFamily="2" charset="2"/>
              </a:rPr>
              <a:t> 	C CuSO</a:t>
            </a:r>
            <a:r>
              <a:rPr lang="en-US" altLang="zh-CN" sz="3000" baseline="-25000" dirty="0">
                <a:sym typeface="Wingdings" pitchFamily="2" charset="2"/>
              </a:rPr>
              <a:t>4 </a:t>
            </a:r>
            <a:r>
              <a:rPr lang="en-US" altLang="zh-CN" sz="3000" dirty="0">
                <a:sym typeface="Wingdings" pitchFamily="2" charset="2"/>
              </a:rPr>
              <a:t>  	D Na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</a:p>
          <a:p>
            <a:pPr marL="514350" indent="-514350">
              <a:buNone/>
            </a:pPr>
            <a:r>
              <a:rPr lang="en-US" altLang="zh-CN" sz="3000" baseline="-25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电解稀</a:t>
            </a:r>
            <a:r>
              <a:rPr lang="en-US" altLang="zh-CN" sz="3000" dirty="0">
                <a:sym typeface="Wingdings" pitchFamily="2" charset="2"/>
              </a:rPr>
              <a:t>CuSO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溶液时，电极上释放的是什么物质？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阴极（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）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阳极（</a:t>
            </a:r>
            <a:r>
              <a:rPr lang="en-US" altLang="zh-CN" sz="3000" dirty="0">
                <a:sym typeface="Wingdings" pitchFamily="2" charset="2"/>
              </a:rPr>
              <a:t>Pt</a:t>
            </a:r>
            <a:r>
              <a:rPr lang="zh-CN" altLang="en-US" sz="3000" dirty="0">
                <a:sym typeface="Wingdings" pitchFamily="2" charset="2"/>
              </a:rPr>
              <a:t>）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A 		</a:t>
            </a:r>
            <a:r>
              <a:rPr lang="zh-CN" altLang="en-US" sz="3000" dirty="0">
                <a:sym typeface="Wingdings" pitchFamily="2" charset="2"/>
              </a:rPr>
              <a:t>铜</a:t>
            </a:r>
            <a:r>
              <a:rPr lang="en-US" altLang="zh-CN" sz="3000" dirty="0">
                <a:sym typeface="Wingdings" pitchFamily="2" charset="2"/>
              </a:rPr>
              <a:t>				</a:t>
            </a:r>
            <a:r>
              <a:rPr lang="zh-CN" altLang="en-US" sz="3000" dirty="0">
                <a:sym typeface="Wingdings" pitchFamily="2" charset="2"/>
              </a:rPr>
              <a:t>氧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B		</a:t>
            </a:r>
            <a:r>
              <a:rPr lang="zh-CN" altLang="en-US" sz="3000" dirty="0">
                <a:sym typeface="Wingdings" pitchFamily="2" charset="2"/>
              </a:rPr>
              <a:t>氧</a:t>
            </a:r>
            <a:r>
              <a:rPr lang="en-US" altLang="zh-CN" sz="3000" dirty="0">
                <a:sym typeface="Wingdings" pitchFamily="2" charset="2"/>
              </a:rPr>
              <a:t>				</a:t>
            </a:r>
            <a:r>
              <a:rPr lang="zh-CN" altLang="en-US" sz="3000" dirty="0">
                <a:sym typeface="Wingdings" pitchFamily="2" charset="2"/>
              </a:rPr>
              <a:t>铜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 		</a:t>
            </a:r>
            <a:r>
              <a:rPr lang="zh-CN" altLang="en-US" sz="3000" dirty="0">
                <a:sym typeface="Wingdings" pitchFamily="2" charset="2"/>
              </a:rPr>
              <a:t>氢</a:t>
            </a:r>
            <a:r>
              <a:rPr lang="en-US" altLang="zh-CN" sz="3000" dirty="0">
                <a:sym typeface="Wingdings" pitchFamily="2" charset="2"/>
              </a:rPr>
              <a:t>				</a:t>
            </a:r>
            <a:r>
              <a:rPr lang="zh-CN" altLang="en-US" sz="3000" dirty="0">
                <a:sym typeface="Wingdings" pitchFamily="2" charset="2"/>
              </a:rPr>
              <a:t>氧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D 		</a:t>
            </a:r>
            <a:r>
              <a:rPr lang="zh-CN" altLang="en-US" sz="3000" dirty="0">
                <a:sym typeface="Wingdings" pitchFamily="2" charset="2"/>
              </a:rPr>
              <a:t>阴极的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溶于水</a:t>
            </a: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铜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 </a:t>
            </a:r>
            <a:r>
              <a:rPr lang="en-US" altLang="zh-CN" sz="3000" dirty="0">
                <a:sym typeface="Wingdings" pitchFamily="2" charset="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IMG_20181225_122627.jpg"/>
          <p:cNvPicPr>
            <a:picLocks noChangeAspect="1"/>
          </p:cNvPicPr>
          <p:nvPr/>
        </p:nvPicPr>
        <p:blipFill>
          <a:blip r:embed="rId3" cstate="print"/>
          <a:srcRect l="24193" t="42257" r="11640" b="28854"/>
          <a:stretch>
            <a:fillRect/>
          </a:stretch>
        </p:blipFill>
        <p:spPr>
          <a:xfrm>
            <a:off x="381000" y="4495800"/>
            <a:ext cx="7696200" cy="1981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9154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4. </a:t>
            </a:r>
            <a:r>
              <a:rPr lang="zh-CN" altLang="en-US" sz="3000" dirty="0">
                <a:sym typeface="Wingdings" pitchFamily="2" charset="2"/>
              </a:rPr>
              <a:t>下图所示的电解池装置，在线路接通后，经过一段时间，哪个溶液的</a:t>
            </a:r>
            <a:r>
              <a:rPr lang="en-US" altLang="zh-CN" sz="3000" dirty="0">
                <a:sym typeface="Wingdings" pitchFamily="2" charset="2"/>
              </a:rPr>
              <a:t>pH</a:t>
            </a:r>
            <a:r>
              <a:rPr lang="zh-CN" altLang="en-US" sz="3000" dirty="0">
                <a:sym typeface="Wingdings" pitchFamily="2" charset="2"/>
              </a:rPr>
              <a:t>值明显下降？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5. </a:t>
            </a:r>
            <a:r>
              <a:rPr lang="zh-CN" altLang="en-US" sz="3000" dirty="0">
                <a:sym typeface="Wingdings" pitchFamily="2" charset="2"/>
              </a:rPr>
              <a:t>下列能组成原电池产生电流的装置是：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A</a:t>
            </a:r>
          </a:p>
        </p:txBody>
      </p:sp>
      <p:pic>
        <p:nvPicPr>
          <p:cNvPr id="5" name="Picture 4" descr="IMG_20181225_122607.jpg"/>
          <p:cNvPicPr>
            <a:picLocks noChangeAspect="1"/>
          </p:cNvPicPr>
          <p:nvPr/>
        </p:nvPicPr>
        <p:blipFill>
          <a:blip r:embed="rId4" cstate="print"/>
          <a:srcRect l="15834" t="37778" r="6667" b="42222"/>
          <a:stretch>
            <a:fillRect/>
          </a:stretch>
        </p:blipFill>
        <p:spPr>
          <a:xfrm>
            <a:off x="304800" y="1828800"/>
            <a:ext cx="8534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在</a:t>
            </a:r>
            <a:r>
              <a:rPr lang="en-US" altLang="zh-CN" sz="3000" dirty="0">
                <a:sym typeface="Wingdings" pitchFamily="2" charset="2"/>
              </a:rPr>
              <a:t>1L</a:t>
            </a:r>
            <a:r>
              <a:rPr lang="zh-CN" altLang="en-US" sz="3000" dirty="0">
                <a:sym typeface="Wingdings" pitchFamily="2" charset="2"/>
              </a:rPr>
              <a:t>的水溶液中含有</a:t>
            </a:r>
            <a:r>
              <a:rPr lang="en-US" altLang="zh-CN" sz="3000" dirty="0">
                <a:sym typeface="Wingdings" pitchFamily="2" charset="2"/>
              </a:rPr>
              <a:t>K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Pb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baseline="30000" dirty="0">
                <a:sym typeface="Wingdings" pitchFamily="2" charset="2"/>
              </a:rPr>
              <a:t>2-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各</a:t>
            </a:r>
            <a:r>
              <a:rPr lang="en-US" altLang="zh-CN" sz="3000" dirty="0">
                <a:sym typeface="Wingdings" pitchFamily="2" charset="2"/>
              </a:rPr>
              <a:t>1mol</a:t>
            </a:r>
            <a:r>
              <a:rPr lang="zh-CN" altLang="en-US" sz="3000" dirty="0">
                <a:sym typeface="Wingdings" pitchFamily="2" charset="2"/>
              </a:rPr>
              <a:t>。将此混合溶液放入一个使用惰性电极的电解槽进行电解。通电一段时间后，此电解槽的氧化产物与还原产物的质量比是多少？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216:35.5		B 35.5:108	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 16:207		D 8:1</a:t>
            </a: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用石墨作电极，电解下列各溶液。在电解过程中，下列溶液的</a:t>
            </a:r>
            <a:r>
              <a:rPr lang="en-US" altLang="zh-CN" sz="3000" dirty="0">
                <a:sym typeface="Wingdings" pitchFamily="2" charset="2"/>
              </a:rPr>
              <a:t>pH</a:t>
            </a:r>
            <a:r>
              <a:rPr lang="zh-CN" altLang="en-US" sz="3000" dirty="0">
                <a:sym typeface="Wingdings" pitchFamily="2" charset="2"/>
              </a:rPr>
              <a:t>值有何变化？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 1M CaCl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			B 0.1M KOH 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 0.1M AgNO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		D 0.1M 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9400" y="5496580"/>
            <a:ext cx="132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上升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3385" y="5065693"/>
            <a:ext cx="365061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由于实际是电解水；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[KOH]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会上升，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升高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76707" y="6029980"/>
            <a:ext cx="132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下降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81398" y="601980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变化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53001" y="3429000"/>
            <a:ext cx="41910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AgCl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PbSO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均沉淀；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电解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</a:t>
            </a:r>
            <a:r>
              <a:rPr lang="en-US" altLang="zh-CN" sz="28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</a:t>
            </a: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为电解水。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  <p:bldP spid="7" grpId="0"/>
      <p:bldP spid="8" grpId="0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制取活泼的金属或非金属单质</a:t>
            </a:r>
            <a:endParaRPr lang="en-US" altLang="zh-CN" sz="3000" dirty="0">
              <a:sym typeface="Wingdings" pitchFamily="2" charset="2"/>
            </a:endParaRPr>
          </a:p>
          <a:p>
            <a:pPr marL="971550" lvl="1" indent="-571500">
              <a:buFont typeface="+mj-lt"/>
              <a:buAutoNum type="romanLcPeriod"/>
            </a:pPr>
            <a:r>
              <a:rPr lang="zh-CN" altLang="en-US" sz="3000" dirty="0">
                <a:sym typeface="Wingdings" pitchFamily="2" charset="2"/>
              </a:rPr>
              <a:t>氯碱工业：电解饱和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914400" lvl="1" indent="-514350">
              <a:buAutoNum type="romanLcPeriod"/>
            </a:pPr>
            <a:r>
              <a:rPr lang="zh-CN" altLang="en-US" sz="3000" dirty="0">
                <a:sym typeface="Wingdings" pitchFamily="2" charset="2"/>
              </a:rPr>
              <a:t>电解活泼金属的熔融盐或氧化物</a:t>
            </a:r>
            <a:endParaRPr lang="en-US" altLang="zh-CN" sz="3000" dirty="0">
              <a:sym typeface="Wingdings" pitchFamily="2" charset="2"/>
            </a:endParaRPr>
          </a:p>
          <a:p>
            <a:pPr marL="1314450" lvl="2" indent="-514350"/>
            <a:r>
              <a:rPr lang="zh-CN" altLang="en-US" sz="3000" dirty="0">
                <a:sym typeface="Wingdings" pitchFamily="2" charset="2"/>
              </a:rPr>
              <a:t>电解熔融的</a:t>
            </a:r>
            <a:r>
              <a:rPr lang="en-US" altLang="zh-CN" sz="3000" dirty="0" err="1">
                <a:sym typeface="Wingdings" pitchFamily="2" charset="2"/>
              </a:rPr>
              <a:t>NaCl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MgCl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Al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endParaRPr lang="en-US" altLang="zh-CN" sz="3000" dirty="0">
              <a:sym typeface="Wingdings" pitchFamily="2" charset="2"/>
            </a:endParaRPr>
          </a:p>
        </p:txBody>
      </p:sp>
      <p:pic>
        <p:nvPicPr>
          <p:cNvPr id="6" name="Picture 5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981201"/>
            <a:ext cx="62674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氯碱工业：电解饱和</a:t>
            </a:r>
            <a:r>
              <a:rPr lang="en-US" altLang="zh-CN" sz="2800" dirty="0" err="1">
                <a:sym typeface="Wingdings" pitchFamily="2" charset="2"/>
              </a:rPr>
              <a:t>NaCl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lvl="2" indent="-51435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为何</a:t>
            </a:r>
            <a:r>
              <a:rPr lang="en-US" altLang="zh-CN" sz="2800" b="1" dirty="0" err="1">
                <a:solidFill>
                  <a:srgbClr val="7030A0"/>
                </a:solidFill>
                <a:sym typeface="Wingdings" pitchFamily="2" charset="2"/>
              </a:rPr>
              <a:t>NaOH</a:t>
            </a: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在阴极产生？</a:t>
            </a:r>
            <a:endParaRPr lang="en-US" altLang="zh-CN" sz="2800" b="1" dirty="0">
              <a:solidFill>
                <a:srgbClr val="7030A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在阴极被还原为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，使阴极附近的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[H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]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下降，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破坏了水的电离平衡。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因此水分子不断电离，使得阴极附近溶液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[OH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]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增加，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所以在阴极附近形成了</a:t>
            </a:r>
            <a:r>
              <a:rPr lang="en-US" altLang="zh-CN" sz="2800" b="1" dirty="0" err="1">
                <a:solidFill>
                  <a:srgbClr val="002060"/>
                </a:solidFill>
                <a:sym typeface="Wingdings" pitchFamily="2" charset="2"/>
              </a:rPr>
              <a:t>NaOH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(</a:t>
            </a:r>
            <a:r>
              <a:rPr lang="en-US" altLang="zh-CN" sz="2800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)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。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514350" lvl="2" indent="-51435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7030A0"/>
                </a:solidFill>
                <a:sym typeface="Wingdings" pitchFamily="2" charset="2"/>
              </a:rPr>
              <a:t>为何使用离子交换膜电解槽？</a:t>
            </a:r>
            <a:endParaRPr lang="en-US" altLang="zh-CN" sz="2800" b="1" dirty="0">
              <a:solidFill>
                <a:srgbClr val="7030A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阳离子交换膜只允许阳离子透过。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在阳极室产生，溶液中的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Na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透过阳离子交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换膜进入阴极室，</a:t>
            </a:r>
            <a:r>
              <a:rPr lang="en-US" altLang="zh-CN" sz="2800" b="1" dirty="0" err="1">
                <a:solidFill>
                  <a:srgbClr val="002060"/>
                </a:solidFill>
                <a:sym typeface="Wingdings" pitchFamily="2" charset="2"/>
              </a:rPr>
              <a:t>NaOH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与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在阴极室产生，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能避免与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接触防止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与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反应引起爆炸、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亦防止</a:t>
            </a:r>
            <a:r>
              <a:rPr lang="en-US" altLang="zh-CN" sz="2800" b="1" dirty="0" err="1">
                <a:solidFill>
                  <a:srgbClr val="002060"/>
                </a:solidFill>
                <a:sym typeface="Wingdings" pitchFamily="2" charset="2"/>
              </a:rPr>
              <a:t>NaOH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与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反应消耗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。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练习</a:t>
            </a:r>
            <a:r>
              <a:rPr lang="en-US" altLang="zh-CN" sz="3000" dirty="0">
                <a:sym typeface="Wingdings" pitchFamily="2" charset="2"/>
              </a:rPr>
              <a:t>1.</a:t>
            </a:r>
            <a:r>
              <a:rPr lang="zh-CN" altLang="en-US" sz="2800" dirty="0"/>
              <a:t>下列装置中能验证氯化钠溶液</a:t>
            </a:r>
            <a:r>
              <a:rPr lang="en-US" altLang="zh-CN" sz="2800" dirty="0"/>
              <a:t>(</a:t>
            </a:r>
            <a:r>
              <a:rPr lang="zh-CN" altLang="en-US" sz="2800" dirty="0"/>
              <a:t>含酚酞</a:t>
            </a:r>
            <a:r>
              <a:rPr lang="en-US" altLang="zh-CN" sz="2800" dirty="0"/>
              <a:t>)</a:t>
            </a:r>
            <a:r>
              <a:rPr lang="zh-CN" altLang="en-US" sz="2800" dirty="0"/>
              <a:t>电解产物的装置是</a:t>
            </a:r>
            <a:r>
              <a:rPr lang="en-US" altLang="zh-CN" sz="2800" dirty="0"/>
              <a:t>(</a:t>
            </a:r>
            <a:r>
              <a:rPr lang="zh-CN" altLang="en-US" sz="2800" dirty="0"/>
              <a:t>电极均为石墨</a:t>
            </a:r>
            <a:r>
              <a:rPr lang="en-US" altLang="zh-CN" sz="2800" dirty="0"/>
              <a:t>)</a:t>
            </a:r>
          </a:p>
          <a:p>
            <a:pPr marL="514350" indent="-51435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 marL="1371600" lvl="2" indent="-571500"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</p:txBody>
      </p:sp>
      <p:pic>
        <p:nvPicPr>
          <p:cNvPr id="5" name="Picture 4" descr="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9" y="1828800"/>
            <a:ext cx="7973471" cy="495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67600" y="1905000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Ans:C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电解精炼（不纯的金属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纯金属）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阳极：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粗铜（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被氧化为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 ）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阴极：纯铜片（溶液中的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被还原为</a:t>
            </a:r>
            <a:r>
              <a:rPr lang="en-US" altLang="zh-CN" sz="3000" dirty="0">
                <a:sym typeface="Wingdings" pitchFamily="2" charset="2"/>
              </a:rPr>
              <a:t>Cu </a:t>
            </a:r>
            <a:r>
              <a:rPr lang="zh-CN" altLang="en-US" sz="3000" dirty="0">
                <a:sym typeface="Wingdings" pitchFamily="2" charset="2"/>
              </a:rPr>
              <a:t>）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电解质溶液：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zh-CN" altLang="en-US" sz="3000" dirty="0">
                <a:sym typeface="Wingdings" pitchFamily="2" charset="2"/>
              </a:rPr>
              <a:t>如：</a:t>
            </a:r>
            <a:r>
              <a:rPr lang="en-US" altLang="zh-CN" sz="3000" dirty="0">
                <a:sym typeface="Wingdings" pitchFamily="2" charset="2"/>
              </a:rPr>
              <a:t>CuSO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28600" y="3048000"/>
            <a:ext cx="8534400" cy="3770531"/>
            <a:chOff x="228600" y="3048000"/>
            <a:chExt cx="8534400" cy="3770531"/>
          </a:xfrm>
        </p:grpSpPr>
        <p:pic>
          <p:nvPicPr>
            <p:cNvPr id="5" name="Picture 4" descr="ccuu.jpg"/>
            <p:cNvPicPr>
              <a:picLocks noChangeAspect="1"/>
            </p:cNvPicPr>
            <p:nvPr/>
          </p:nvPicPr>
          <p:blipFill>
            <a:blip r:embed="rId3"/>
            <a:srcRect t="55850" b="9049"/>
            <a:stretch>
              <a:fillRect/>
            </a:stretch>
          </p:blipFill>
          <p:spPr>
            <a:xfrm>
              <a:off x="303610" y="3048000"/>
              <a:ext cx="8459390" cy="37338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228600" y="4916269"/>
              <a:ext cx="1481496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/>
                <a:t>阳极</a:t>
              </a:r>
              <a:endParaRPr lang="en-US" altLang="zh-CN" sz="2000" b="1" dirty="0"/>
            </a:p>
            <a:p>
              <a:pPr algn="ctr"/>
              <a:r>
                <a:rPr lang="zh-CN" altLang="en-US" sz="2000" b="1" dirty="0"/>
                <a:t>含杂质的</a:t>
              </a:r>
              <a:r>
                <a:rPr lang="en-US" altLang="zh-CN" sz="2000" b="1" dirty="0"/>
                <a:t>Cu</a:t>
              </a:r>
              <a:endParaRPr lang="en-US" sz="2000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81000" y="5848290"/>
              <a:ext cx="1322799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 dirty="0"/>
                <a:t>CuSO</a:t>
              </a:r>
              <a:r>
                <a:rPr lang="en-US" altLang="zh-CN" sz="2000" b="1" baseline="-25000" dirty="0"/>
                <a:t>4</a:t>
              </a:r>
              <a:r>
                <a:rPr lang="en-US" altLang="zh-CN" sz="2000" b="1" dirty="0"/>
                <a:t> (</a:t>
              </a:r>
              <a:r>
                <a:rPr lang="en-US" altLang="zh-CN" sz="2000" b="1" dirty="0" err="1"/>
                <a:t>aq</a:t>
              </a:r>
              <a:r>
                <a:rPr lang="en-US" altLang="zh-CN" sz="2000" b="1" dirty="0"/>
                <a:t>)</a:t>
              </a:r>
              <a:endParaRPr lang="en-US" sz="2000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29000" y="5540514"/>
              <a:ext cx="1217000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/>
                <a:t>阴极</a:t>
              </a:r>
              <a:endParaRPr lang="en-US" altLang="zh-CN" sz="2000" b="1" dirty="0"/>
            </a:p>
            <a:p>
              <a:pPr algn="ctr"/>
              <a:r>
                <a:rPr lang="zh-CN" altLang="en-US" sz="2000" b="1" dirty="0"/>
                <a:t>纯铜薄片</a:t>
              </a:r>
              <a:endParaRPr lang="en-US" sz="20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75967" y="4705290"/>
              <a:ext cx="700833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/>
                <a:t>电解</a:t>
              </a:r>
              <a:endParaRPr lang="en-US" altLang="zh-CN" sz="20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64322" y="6172200"/>
              <a:ext cx="1579278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从阳极沉积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下来的</a:t>
              </a:r>
              <a:r>
                <a:rPr lang="zh-CN" altLang="en-US" b="1" dirty="0">
                  <a:solidFill>
                    <a:srgbClr val="002060"/>
                  </a:solidFill>
                </a:rPr>
                <a:t>阳极泥</a:t>
              </a:r>
              <a:endParaRPr lang="en-US" altLang="zh-CN" b="1" dirty="0">
                <a:solidFill>
                  <a:srgbClr val="00206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96200" y="5373469"/>
              <a:ext cx="881972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/>
                <a:t>纯铜片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变厚</a:t>
              </a:r>
              <a:endParaRPr lang="en-US" altLang="zh-C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铜的精炼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粗铜：含有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Ni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Au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zh-CN" altLang="en-US" sz="3000" dirty="0">
                <a:sym typeface="Wingdings" pitchFamily="2" charset="2"/>
              </a:rPr>
              <a:t>等金属杂质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阳极泥：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Ag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、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Au</a:t>
            </a:r>
            <a:r>
              <a:rPr lang="zh-CN" altLang="en-US" sz="3000" dirty="0">
                <a:sym typeface="Wingdings" pitchFamily="2" charset="2"/>
              </a:rPr>
              <a:t>，难被氧化，沉积在电解池底部。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Ni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 err="1">
                <a:sym typeface="Wingdings" pitchFamily="2" charset="2"/>
              </a:rPr>
              <a:t>Pb</a:t>
            </a:r>
            <a:r>
              <a:rPr lang="zh-CN" altLang="en-US" sz="3000" dirty="0">
                <a:sym typeface="Wingdings" pitchFamily="2" charset="2"/>
              </a:rPr>
              <a:t>易被氧化为金属离子进入溶液中。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的还原电位较</a:t>
            </a:r>
            <a:r>
              <a:rPr lang="en-US" altLang="zh-CN" sz="3000" dirty="0">
                <a:sym typeface="Wingdings" pitchFamily="2" charset="2"/>
              </a:rPr>
              <a:t>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Ni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baseline="30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Pb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高，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所以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不断被还原为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沉积在阴极表面，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Ni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baseline="30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Pb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留在溶液中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</a:t>
            </a:r>
            <a:r>
              <a:rPr lang="en-US" altLang="zh-CN" sz="3000" dirty="0">
                <a:sym typeface="Wingdings" pitchFamily="2" charset="2"/>
              </a:rPr>
              <a:t>: Cu 		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	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氧化</a:t>
            </a:r>
            <a:endParaRPr lang="en-US" altLang="zh-CN" sz="3000" baseline="30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阴极</a:t>
            </a:r>
            <a:r>
              <a:rPr lang="en-US" altLang="zh-CN" sz="3000" dirty="0">
                <a:sym typeface="Wingdings" pitchFamily="2" charset="2"/>
              </a:rPr>
              <a:t>: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+ 2e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 Cu  		</a:t>
            </a:r>
            <a:r>
              <a:rPr lang="zh-CN" altLang="en-US" sz="3000" dirty="0">
                <a:sym typeface="Wingdings" pitchFamily="2" charset="2"/>
              </a:rPr>
              <a:t>还原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电镀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阳极：欲镀上的纯金属</a:t>
            </a:r>
            <a:r>
              <a:rPr lang="en-US" altLang="zh-CN" sz="3000" dirty="0">
                <a:sym typeface="Wingdings" pitchFamily="2" charset="2"/>
              </a:rPr>
              <a:t>M</a:t>
            </a: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阴极：被镀物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电解质溶液：阳极金属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的盐溶液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</a:t>
            </a:r>
            <a:r>
              <a:rPr lang="en-US" altLang="zh-CN" sz="3000" dirty="0">
                <a:sym typeface="Wingdings" pitchFamily="2" charset="2"/>
              </a:rPr>
              <a:t>: M		  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+ ne</a:t>
            </a:r>
            <a:r>
              <a:rPr lang="en-US" altLang="zh-CN" sz="3000" baseline="30000" dirty="0">
                <a:sym typeface="Wingdings" pitchFamily="2" charset="2"/>
              </a:rPr>
              <a:t>-	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氧化</a:t>
            </a:r>
            <a:endParaRPr lang="en-US" altLang="zh-CN" sz="3000" baseline="30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阴极</a:t>
            </a:r>
            <a:r>
              <a:rPr lang="en-US" altLang="zh-CN" sz="3000" dirty="0">
                <a:sym typeface="Wingdings" pitchFamily="2" charset="2"/>
              </a:rPr>
              <a:t>: 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+ ne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 M  		</a:t>
            </a:r>
            <a:r>
              <a:rPr lang="zh-CN" altLang="en-US" sz="3000" dirty="0">
                <a:sym typeface="Wingdings" pitchFamily="2" charset="2"/>
              </a:rPr>
              <a:t>还原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阳极减少的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质量</a:t>
            </a:r>
            <a:r>
              <a:rPr lang="en-US" altLang="zh-CN" sz="3000" dirty="0">
                <a:sym typeface="Wingdings" pitchFamily="2" charset="2"/>
              </a:rPr>
              <a:t>=</a:t>
            </a:r>
            <a:r>
              <a:rPr lang="zh-CN" altLang="en-US" sz="3000" dirty="0">
                <a:sym typeface="Wingdings" pitchFamily="2" charset="2"/>
              </a:rPr>
              <a:t>阴极增加的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质量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溶液中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含量没变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电镀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阳极：欲镀上的纯金属</a:t>
            </a:r>
            <a:r>
              <a:rPr lang="en-US" altLang="zh-CN" sz="3000" dirty="0">
                <a:sym typeface="Wingdings" pitchFamily="2" charset="2"/>
              </a:rPr>
              <a:t>M</a:t>
            </a: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阴极：被镀物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电解质溶液：阳极金属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的盐溶液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</a:t>
            </a:r>
            <a:r>
              <a:rPr lang="en-US" altLang="zh-CN" sz="3000" dirty="0">
                <a:sym typeface="Wingdings" pitchFamily="2" charset="2"/>
              </a:rPr>
              <a:t>: M		  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+ ne</a:t>
            </a:r>
            <a:r>
              <a:rPr lang="en-US" altLang="zh-CN" sz="3000" baseline="30000" dirty="0">
                <a:sym typeface="Wingdings" pitchFamily="2" charset="2"/>
              </a:rPr>
              <a:t>-	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氧化</a:t>
            </a:r>
            <a:endParaRPr lang="en-US" altLang="zh-CN" sz="3000" baseline="30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阴极</a:t>
            </a:r>
            <a:r>
              <a:rPr lang="en-US" altLang="zh-CN" sz="3000" dirty="0">
                <a:sym typeface="Wingdings" pitchFamily="2" charset="2"/>
              </a:rPr>
              <a:t>: 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+ ne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 M  		</a:t>
            </a:r>
            <a:r>
              <a:rPr lang="zh-CN" altLang="en-US" sz="3000" dirty="0">
                <a:sym typeface="Wingdings" pitchFamily="2" charset="2"/>
              </a:rPr>
              <a:t>还原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阳极减少的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质量</a:t>
            </a:r>
            <a:r>
              <a:rPr lang="en-US" altLang="zh-CN" sz="3000" dirty="0">
                <a:sym typeface="Wingdings" pitchFamily="2" charset="2"/>
              </a:rPr>
              <a:t>=</a:t>
            </a:r>
            <a:r>
              <a:rPr lang="zh-CN" altLang="en-US" sz="3000" dirty="0">
                <a:sym typeface="Wingdings" pitchFamily="2" charset="2"/>
              </a:rPr>
              <a:t>阴极增加的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质量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溶液中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n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含量没变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电镀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问题解决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(1) </a:t>
            </a:r>
            <a:r>
              <a:rPr lang="zh-CN" altLang="en-US" sz="3000" dirty="0">
                <a:sym typeface="Wingdings" pitchFamily="2" charset="2"/>
              </a:rPr>
              <a:t>电镀过程中电能转化为化学能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(2)</a:t>
            </a:r>
            <a:r>
              <a:rPr lang="zh-CN" altLang="en-US" sz="3000" dirty="0">
                <a:sym typeface="Wingdings" pitchFamily="2" charset="2"/>
              </a:rPr>
              <a:t>电子由电源的负极流出，正极流入。阳极区银棒失去电子形成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，不断补充到溶液中；溶液中的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从阳极区移向阴极区，在待镀金属表面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获得电子被还原成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zh-CN" altLang="en-US" sz="3000" dirty="0">
                <a:sym typeface="Wingdings" pitchFamily="2" charset="2"/>
              </a:rPr>
              <a:t>，形成镀层。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(3)</a:t>
            </a:r>
            <a:r>
              <a:rPr lang="zh-CN" altLang="en-US" sz="3000" dirty="0">
                <a:sym typeface="Wingdings" pitchFamily="2" charset="2"/>
              </a:rPr>
              <a:t>阳极：</a:t>
            </a:r>
            <a:r>
              <a:rPr lang="en-US" altLang="zh-CN" sz="3000" dirty="0">
                <a:sym typeface="Wingdings" pitchFamily="2" charset="2"/>
              </a:rPr>
              <a:t>Ag(s)  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阴极： </a:t>
            </a:r>
            <a:r>
              <a:rPr lang="en-US" altLang="zh-CN" sz="3000" dirty="0">
                <a:sym typeface="Wingdings" pitchFamily="2" charset="2"/>
              </a:rPr>
              <a:t> 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Ag(s) 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24.3.2 </a:t>
            </a:r>
            <a:r>
              <a:rPr lang="zh-CN" altLang="en-US" b="1" dirty="0">
                <a:sym typeface="Wingdings" pitchFamily="2" charset="2"/>
              </a:rPr>
              <a:t>电解原理的应用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pic>
        <p:nvPicPr>
          <p:cNvPr id="5" name="Picture 4" descr="du.jpg"/>
          <p:cNvPicPr>
            <a:picLocks noChangeAspect="1"/>
          </p:cNvPicPr>
          <p:nvPr/>
        </p:nvPicPr>
        <p:blipFill>
          <a:blip r:embed="rId3"/>
          <a:srcRect l="22758" r="27589"/>
          <a:stretch>
            <a:fillRect/>
          </a:stretch>
        </p:blipFill>
        <p:spPr>
          <a:xfrm>
            <a:off x="5638800" y="914400"/>
            <a:ext cx="2819400" cy="3454234"/>
          </a:xfrm>
          <a:prstGeom prst="rect">
            <a:avLst/>
          </a:prstGeom>
        </p:spPr>
      </p:pic>
      <p:pic>
        <p:nvPicPr>
          <p:cNvPr id="8" name="Content Placeholder 7" descr="dudud.jpg"/>
          <p:cNvPicPr>
            <a:picLocks noGrp="1" noChangeAspect="1"/>
          </p:cNvPicPr>
          <p:nvPr>
            <p:ph idx="1"/>
          </p:nvPr>
        </p:nvPicPr>
        <p:blipFill>
          <a:blip r:embed="rId4"/>
          <a:srcRect l="15109" t="35014" r="24455" b="17021"/>
          <a:stretch>
            <a:fillRect/>
          </a:stretch>
        </p:blipFill>
        <p:spPr>
          <a:xfrm>
            <a:off x="533400" y="1854034"/>
            <a:ext cx="4086337" cy="243233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228600" y="914400"/>
            <a:ext cx="8915400" cy="556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30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电镀</a:t>
            </a:r>
            <a:r>
              <a:rPr lang="zh-CN" altLang="en-US" sz="3000" u="sng" noProof="0" dirty="0">
                <a:sym typeface="Wingdings" pitchFamily="2" charset="2"/>
              </a:rPr>
              <a:t>练习 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			    2.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1.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3000" dirty="0">
              <a:sym typeface="Wingdings" pitchFamily="2" charset="2"/>
            </a:endParaRPr>
          </a:p>
          <a:p>
            <a:pPr marL="514350" marR="0" lvl="0" indent="-5143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marR="0" lvl="0" indent="-5143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000" noProof="0" dirty="0">
                <a:sym typeface="Wingdings" pitchFamily="2" charset="2"/>
              </a:rPr>
              <a:t>	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叉表面镀上铜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		</a:t>
            </a:r>
            <a:r>
              <a:rPr kumimoji="0" lang="en-US" altLang="zh-CN" sz="3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</a:p>
          <a:p>
            <a:pPr marL="514350" marR="0" lvl="0" indent="-5143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000" b="1" dirty="0">
                <a:sym typeface="Wingdings" pitchFamily="2" charset="2"/>
              </a:rPr>
              <a:t>							</a:t>
            </a:r>
            <a:r>
              <a:rPr kumimoji="0" lang="zh-CN" altLang="en-US" sz="3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铜片表面镀上银</a:t>
            </a:r>
            <a:endParaRPr kumimoji="0" lang="en-US" altLang="zh-CN" sz="3000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marR="0" lvl="0" indent="-5143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某</a:t>
            </a:r>
            <a:r>
              <a:rPr kumimoji="0" lang="zh-CN" altLang="en-US" sz="3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生欲在铁片上镀铬，问阴阳两极需用什么金属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？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514350" marR="0" lvl="0" indent="-514350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</a:t>
            </a:r>
            <a:r>
              <a:rPr lang="zh-CN" altLang="en-US" sz="3000" b="1" dirty="0">
                <a:sym typeface="Wingdings" pitchFamily="2" charset="2"/>
              </a:rPr>
              <a:t>阳极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Cr	</a:t>
            </a:r>
            <a:r>
              <a:rPr lang="zh-CN" altLang="en-US" sz="3000" b="1" noProof="0" dirty="0">
                <a:sym typeface="Wingdings" pitchFamily="2" charset="2"/>
              </a:rPr>
              <a:t>阴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极：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Fe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根据下列</a:t>
            </a:r>
            <a:r>
              <a:rPr lang="en-US" altLang="zh-CN" sz="3000" dirty="0">
                <a:sym typeface="Wingdings" pitchFamily="2" charset="2"/>
              </a:rPr>
              <a:t>Al</a:t>
            </a:r>
            <a:r>
              <a:rPr lang="zh-CN" altLang="en-US" sz="3000" dirty="0">
                <a:sym typeface="Wingdings" pitchFamily="2" charset="2"/>
              </a:rPr>
              <a:t>和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zh-CN" altLang="en-US" sz="3000" dirty="0">
                <a:sym typeface="Wingdings" pitchFamily="2" charset="2"/>
              </a:rPr>
              <a:t>的标准还原电位，试解释为何工业上必须使用电解法从熔融</a:t>
            </a:r>
            <a:r>
              <a:rPr lang="en-US" altLang="zh-CN" sz="3000" dirty="0">
                <a:sym typeface="Wingdings" pitchFamily="2" charset="2"/>
              </a:rPr>
              <a:t>Al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中提炼铝，但却可用焦炭还原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zh-CN" altLang="en-US" sz="3000" dirty="0">
                <a:sym typeface="Wingdings" pitchFamily="2" charset="2"/>
              </a:rPr>
              <a:t>来提炼铁。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l-GR" sz="2800" dirty="0"/>
              <a:t> </a:t>
            </a: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600" dirty="0">
                <a:sym typeface="Wingdings" pitchFamily="2" charset="2"/>
              </a:rPr>
              <a:t> (Al</a:t>
            </a:r>
            <a:r>
              <a:rPr lang="en-US" altLang="zh-CN" sz="3600" baseline="30000" dirty="0">
                <a:sym typeface="Wingdings" pitchFamily="2" charset="2"/>
              </a:rPr>
              <a:t>3+</a:t>
            </a:r>
            <a:r>
              <a:rPr lang="en-US" altLang="zh-CN" sz="3600" dirty="0">
                <a:sym typeface="Wingdings" pitchFamily="2" charset="2"/>
              </a:rPr>
              <a:t> /Al) = -1.66V </a:t>
            </a:r>
          </a:p>
          <a:p>
            <a:pPr marL="514350" indent="-514350">
              <a:buNone/>
            </a:pPr>
            <a:r>
              <a:rPr lang="en-US" altLang="zh-CN" sz="3600" dirty="0">
                <a:sym typeface="Wingdings" pitchFamily="2" charset="2"/>
              </a:rPr>
              <a:t>	</a:t>
            </a:r>
            <a:r>
              <a:rPr lang="el-GR" sz="2800" dirty="0"/>
              <a:t> </a:t>
            </a:r>
            <a:r>
              <a:rPr lang="en-US" altLang="zh-CN" sz="2800" dirty="0"/>
              <a:t>E</a:t>
            </a:r>
            <a:r>
              <a:rPr lang="el-GR" sz="2800" dirty="0"/>
              <a:t> </a:t>
            </a:r>
            <a:r>
              <a:rPr lang="en-US" altLang="zh-CN" sz="3600" dirty="0">
                <a:sym typeface="Wingdings" pitchFamily="2" charset="2"/>
              </a:rPr>
              <a:t> (Fe</a:t>
            </a:r>
            <a:r>
              <a:rPr lang="en-US" altLang="zh-CN" sz="3600" baseline="30000" dirty="0">
                <a:sym typeface="Wingdings" pitchFamily="2" charset="2"/>
              </a:rPr>
              <a:t>3+</a:t>
            </a:r>
            <a:r>
              <a:rPr lang="en-US" altLang="zh-CN" sz="3600" dirty="0">
                <a:sym typeface="Wingdings" pitchFamily="2" charset="2"/>
              </a:rPr>
              <a:t> /Fe) = -0.04V</a:t>
            </a:r>
          </a:p>
          <a:p>
            <a:pPr marL="514350" indent="-514350">
              <a:buNone/>
            </a:pPr>
            <a:r>
              <a:rPr lang="en-US" altLang="zh-CN" sz="3600" dirty="0">
                <a:sym typeface="Wingdings" pitchFamily="2" charset="2"/>
              </a:rPr>
              <a:t> 	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思考题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24e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都应用了电解原理，都需要外接电源，装置中都有阴极和阳极，发生的反应类型相同。</a:t>
            </a:r>
            <a:endParaRPr lang="en-US" altLang="zh-CN" sz="3000" dirty="0">
              <a:sym typeface="Wingdings" pitchFamily="2" charset="2"/>
            </a:endParaRPr>
          </a:p>
          <a:p>
            <a:pPr marL="742950" indent="-7429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阳极区铜棒失去电子形成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，不断补充到溶液中；溶液中的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从阳极区移向阴极区，在待镀金属表面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获得电子被还原成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，形成镀层。溶液中的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浓度基本不变。</a:t>
            </a:r>
            <a:endParaRPr lang="en-US" altLang="zh-CN" sz="3000" dirty="0">
              <a:sym typeface="Wingdings" pitchFamily="2" charset="2"/>
            </a:endParaRPr>
          </a:p>
          <a:p>
            <a:pPr marL="742950" indent="-7429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阳极：</a:t>
            </a:r>
            <a:r>
              <a:rPr lang="en-US" altLang="zh-CN" sz="3000" dirty="0">
                <a:sym typeface="Wingdings" pitchFamily="2" charset="2"/>
              </a:rPr>
              <a:t>Cu(s)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742950" indent="-7429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阴极：</a:t>
            </a:r>
            <a:r>
              <a:rPr lang="en-US" altLang="zh-CN" sz="3000" dirty="0">
                <a:sym typeface="Wingdings" pitchFamily="2" charset="2"/>
              </a:rPr>
              <a:t>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Cu (s)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24.3.3 </a:t>
            </a:r>
            <a:r>
              <a:rPr lang="zh-CN" altLang="en-US" b="1" dirty="0">
                <a:sym typeface="Wingdings" pitchFamily="2" charset="2"/>
              </a:rPr>
              <a:t>电解定律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3000" dirty="0">
                <a:latin typeface="+mn-ea"/>
                <a:sym typeface="Wingdings" pitchFamily="2" charset="2"/>
              </a:rPr>
              <a:t>电解定律：在电解过程中，电极上析出物的物质的量</a:t>
            </a:r>
            <a:r>
              <a:rPr lang="en-US" altLang="zh-CN" sz="3000" dirty="0">
                <a:latin typeface="+mn-ea"/>
                <a:sym typeface="Wingdings" pitchFamily="2" charset="2"/>
              </a:rPr>
              <a:t>(</a:t>
            </a:r>
            <a:r>
              <a:rPr lang="zh-CN" altLang="en-US" sz="3000" dirty="0">
                <a:latin typeface="+mn-ea"/>
                <a:sym typeface="Wingdings" pitchFamily="2" charset="2"/>
              </a:rPr>
              <a:t>摩尔数</a:t>
            </a:r>
            <a:r>
              <a:rPr lang="en-US" altLang="zh-CN" sz="3000" dirty="0">
                <a:latin typeface="+mn-ea"/>
                <a:sym typeface="Wingdings" pitchFamily="2" charset="2"/>
              </a:rPr>
              <a:t>)n</a:t>
            </a:r>
            <a:r>
              <a:rPr lang="zh-CN" altLang="en-US" sz="3000" dirty="0">
                <a:latin typeface="+mn-ea"/>
                <a:sym typeface="Wingdings" pitchFamily="2" charset="2"/>
              </a:rPr>
              <a:t>，与通过电解池的电量</a:t>
            </a:r>
            <a:r>
              <a:rPr lang="en-US" altLang="zh-CN" sz="3000" dirty="0">
                <a:latin typeface="+mn-ea"/>
                <a:sym typeface="Wingdings" pitchFamily="2" charset="2"/>
              </a:rPr>
              <a:t>Q</a:t>
            </a:r>
            <a:r>
              <a:rPr lang="zh-CN" altLang="en-US" sz="3000" dirty="0">
                <a:latin typeface="+mn-ea"/>
                <a:sym typeface="Wingdings" pitchFamily="2" charset="2"/>
              </a:rPr>
              <a:t>成正比。</a:t>
            </a:r>
            <a:endParaRPr lang="en-US" altLang="zh-CN" sz="3000" dirty="0">
              <a:latin typeface="+mn-ea"/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			n</a:t>
            </a:r>
            <a:r>
              <a:rPr lang="el-GR" altLang="zh-CN" sz="3000" dirty="0">
                <a:latin typeface="+mn-ea"/>
                <a:sym typeface="Wingdings" pitchFamily="2" charset="2"/>
              </a:rPr>
              <a:t>α</a:t>
            </a:r>
            <a:r>
              <a:rPr lang="en-US" altLang="zh-CN" sz="3000" dirty="0">
                <a:latin typeface="+mn-ea"/>
                <a:sym typeface="Wingdings" pitchFamily="2" charset="2"/>
              </a:rPr>
              <a:t>Q </a:t>
            </a: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		</a:t>
            </a: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F </a:t>
            </a:r>
            <a:r>
              <a:rPr lang="zh-CN" altLang="en-US" sz="3000" dirty="0">
                <a:latin typeface="+mn-ea"/>
                <a:sym typeface="Wingdings" pitchFamily="2" charset="2"/>
              </a:rPr>
              <a:t>为法拉第常数，</a:t>
            </a:r>
            <a:r>
              <a:rPr lang="en-US" altLang="zh-CN" sz="3000" dirty="0">
                <a:latin typeface="+mn-ea"/>
                <a:sym typeface="Wingdings" pitchFamily="2" charset="2"/>
              </a:rPr>
              <a:t>1mol</a:t>
            </a:r>
            <a:r>
              <a:rPr lang="zh-CN" altLang="en-US" sz="3000" dirty="0">
                <a:latin typeface="+mn-ea"/>
                <a:sym typeface="Wingdings" pitchFamily="2" charset="2"/>
              </a:rPr>
              <a:t>电子所带的电量</a:t>
            </a:r>
            <a:endParaRPr lang="en-US" altLang="zh-CN" sz="3000" dirty="0">
              <a:latin typeface="+mn-ea"/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F = N</a:t>
            </a:r>
            <a:r>
              <a:rPr lang="en-US" altLang="zh-CN" sz="3000" baseline="-25000" dirty="0">
                <a:latin typeface="+mn-ea"/>
                <a:sym typeface="Wingdings" pitchFamily="2" charset="2"/>
              </a:rPr>
              <a:t>A</a:t>
            </a:r>
            <a:r>
              <a:rPr lang="en-US" altLang="zh-CN" sz="3000" dirty="0">
                <a:latin typeface="+mn-ea"/>
                <a:sym typeface="Wingdings" pitchFamily="2" charset="2"/>
              </a:rPr>
              <a:t> x e = 96500  Cmol</a:t>
            </a:r>
            <a:r>
              <a:rPr lang="en-US" altLang="zh-CN" sz="3000" baseline="30000" dirty="0">
                <a:latin typeface="+mn-ea"/>
                <a:sym typeface="Wingdings" pitchFamily="2" charset="2"/>
              </a:rPr>
              <a:t>-1</a:t>
            </a:r>
            <a:r>
              <a:rPr lang="en-US" altLang="zh-CN" sz="3000" dirty="0">
                <a:latin typeface="+mn-ea"/>
                <a:sym typeface="Wingdings" pitchFamily="2" charset="2"/>
              </a:rPr>
              <a:t> (</a:t>
            </a:r>
            <a:r>
              <a:rPr lang="zh-CN" altLang="en-US" sz="3000" dirty="0">
                <a:latin typeface="+mn-ea"/>
                <a:sym typeface="Wingdings" pitchFamily="2" charset="2"/>
              </a:rPr>
              <a:t>库仑每摩尔</a:t>
            </a:r>
            <a:r>
              <a:rPr lang="en-US" altLang="zh-CN" sz="3000" dirty="0">
                <a:latin typeface="+mn-ea"/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zh-CN" altLang="en-US" sz="3000" dirty="0">
                <a:latin typeface="+mn-ea"/>
                <a:sym typeface="Wingdings" pitchFamily="2" charset="2"/>
              </a:rPr>
              <a:t>通常 </a:t>
            </a:r>
            <a:r>
              <a:rPr lang="en-US" altLang="zh-CN" sz="3000" dirty="0">
                <a:latin typeface="+mn-ea"/>
                <a:sym typeface="Wingdings" pitchFamily="2" charset="2"/>
              </a:rPr>
              <a:t>1F </a:t>
            </a:r>
            <a:r>
              <a:rPr lang="zh-CN" altLang="en-US" sz="3000" dirty="0">
                <a:latin typeface="+mn-ea"/>
                <a:sym typeface="Wingdings" pitchFamily="2" charset="2"/>
              </a:rPr>
              <a:t>代表</a:t>
            </a:r>
            <a:r>
              <a:rPr lang="en-US" altLang="zh-CN" sz="3000" dirty="0">
                <a:latin typeface="+mn-ea"/>
                <a:sym typeface="Wingdings" pitchFamily="2" charset="2"/>
              </a:rPr>
              <a:t>96500 C</a:t>
            </a: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Q=  I t</a:t>
            </a: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I</a:t>
            </a:r>
            <a:r>
              <a:rPr lang="zh-CN" altLang="en-US" sz="3000" dirty="0">
                <a:latin typeface="+mn-ea"/>
                <a:sym typeface="Wingdings" pitchFamily="2" charset="2"/>
              </a:rPr>
              <a:t>：电流</a:t>
            </a:r>
            <a:r>
              <a:rPr lang="en-US" altLang="zh-CN" sz="3000" dirty="0">
                <a:latin typeface="+mn-ea"/>
                <a:sym typeface="Wingdings" pitchFamily="2" charset="2"/>
              </a:rPr>
              <a:t>	</a:t>
            </a:r>
            <a:r>
              <a:rPr lang="zh-CN" altLang="en-US" sz="3000" dirty="0">
                <a:latin typeface="+mn-ea"/>
                <a:sym typeface="Wingdings" pitchFamily="2" charset="2"/>
              </a:rPr>
              <a:t>单位：安培 </a:t>
            </a:r>
            <a:r>
              <a:rPr lang="en-US" altLang="zh-CN" sz="3000" dirty="0">
                <a:latin typeface="+mn-ea"/>
                <a:sym typeface="Wingdings" pitchFamily="2" charset="2"/>
              </a:rPr>
              <a:t>A</a:t>
            </a:r>
          </a:p>
          <a:p>
            <a:pPr marL="514350" indent="-514350">
              <a:buNone/>
            </a:pPr>
            <a:r>
              <a:rPr lang="en-US" altLang="zh-CN" sz="3000" dirty="0">
                <a:latin typeface="+mn-ea"/>
                <a:sym typeface="Wingdings" pitchFamily="2" charset="2"/>
              </a:rPr>
              <a:t>t</a:t>
            </a:r>
            <a:r>
              <a:rPr lang="zh-CN" altLang="en-US" sz="3000" dirty="0">
                <a:latin typeface="+mn-ea"/>
                <a:sym typeface="Wingdings" pitchFamily="2" charset="2"/>
              </a:rPr>
              <a:t>：时间</a:t>
            </a:r>
            <a:r>
              <a:rPr lang="en-US" altLang="zh-CN" sz="3000" dirty="0">
                <a:latin typeface="+mn-ea"/>
                <a:sym typeface="Wingdings" pitchFamily="2" charset="2"/>
              </a:rPr>
              <a:t>	</a:t>
            </a:r>
            <a:r>
              <a:rPr lang="zh-CN" altLang="en-US" sz="3000" dirty="0">
                <a:latin typeface="+mn-ea"/>
                <a:sym typeface="Wingdings" pitchFamily="2" charset="2"/>
              </a:rPr>
              <a:t>单位：秒 </a:t>
            </a:r>
            <a:r>
              <a:rPr lang="en-US" altLang="zh-CN" sz="3000" dirty="0">
                <a:latin typeface="+mn-ea"/>
                <a:sym typeface="Wingdings" pitchFamily="2" charset="2"/>
              </a:rPr>
              <a:t>s</a:t>
            </a:r>
          </a:p>
        </p:txBody>
      </p:sp>
      <p:grpSp>
        <p:nvGrpSpPr>
          <p:cNvPr id="5" name="Group 3"/>
          <p:cNvGrpSpPr/>
          <p:nvPr/>
        </p:nvGrpSpPr>
        <p:grpSpPr>
          <a:xfrm>
            <a:off x="1997440" y="2257703"/>
            <a:ext cx="1447800" cy="942697"/>
            <a:chOff x="2322594" y="1486911"/>
            <a:chExt cx="1088965" cy="1048627"/>
          </a:xfrm>
        </p:grpSpPr>
        <p:grpSp>
          <p:nvGrpSpPr>
            <p:cNvPr id="6" name="Group 24"/>
            <p:cNvGrpSpPr/>
            <p:nvPr/>
          </p:nvGrpSpPr>
          <p:grpSpPr>
            <a:xfrm>
              <a:off x="2322594" y="1486911"/>
              <a:ext cx="1088965" cy="844850"/>
              <a:chOff x="2322594" y="1486911"/>
              <a:chExt cx="1088965" cy="84485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2322594" y="1715511"/>
                <a:ext cx="712571" cy="616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000" dirty="0"/>
                  <a:t> n =</a:t>
                </a:r>
                <a:endParaRPr lang="en-US" sz="3000" dirty="0"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2881220" y="2022478"/>
                <a:ext cx="481437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2935658" y="1486911"/>
                <a:ext cx="475901" cy="616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Q</a:t>
                </a:r>
              </a:p>
            </p:txBody>
          </p:sp>
        </p:grpSp>
        <p:sp>
          <p:nvSpPr>
            <p:cNvPr id="7" name="TextBox 5"/>
            <p:cNvSpPr txBox="1"/>
            <p:nvPr/>
          </p:nvSpPr>
          <p:spPr>
            <a:xfrm>
              <a:off x="2953049" y="1919288"/>
              <a:ext cx="446295" cy="61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/>
                <a:t>F </a:t>
              </a:r>
              <a:endParaRPr lang="en-US" sz="3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24.3.3 </a:t>
            </a:r>
            <a:r>
              <a:rPr lang="zh-CN" altLang="en-US" b="1" dirty="0">
                <a:sym typeface="Wingdings" pitchFamily="2" charset="2"/>
              </a:rPr>
              <a:t>电解定律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+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Ag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所需的电量</a:t>
            </a:r>
            <a:r>
              <a:rPr lang="en-US" altLang="zh-CN" sz="3000" dirty="0">
                <a:sym typeface="Wingdings" pitchFamily="2" charset="2"/>
              </a:rPr>
              <a:t>1F	</a:t>
            </a:r>
            <a:r>
              <a:rPr lang="zh-CN" altLang="en-US" sz="3000" dirty="0">
                <a:sym typeface="Wingdings" pitchFamily="2" charset="2"/>
              </a:rPr>
              <a:t>析出</a:t>
            </a:r>
            <a:r>
              <a:rPr lang="en-US" altLang="zh-CN" sz="3000" dirty="0">
                <a:sym typeface="Wingdings" pitchFamily="2" charset="2"/>
              </a:rPr>
              <a:t>1mol(108g)Ag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Cu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所需的电量</a:t>
            </a:r>
            <a:r>
              <a:rPr lang="en-US" altLang="zh-CN" sz="3000" dirty="0">
                <a:sym typeface="Wingdings" pitchFamily="2" charset="2"/>
              </a:rPr>
              <a:t>2F	</a:t>
            </a:r>
            <a:r>
              <a:rPr lang="zh-CN" altLang="en-US" sz="3000" dirty="0">
                <a:sym typeface="Wingdings" pitchFamily="2" charset="2"/>
              </a:rPr>
              <a:t>析出</a:t>
            </a:r>
            <a:r>
              <a:rPr lang="en-US" altLang="zh-CN" sz="3000" dirty="0">
                <a:sym typeface="Wingdings" pitchFamily="2" charset="2"/>
              </a:rPr>
              <a:t>1mol(64g)Cu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Au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+ 3e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Au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所需的电量</a:t>
            </a:r>
            <a:r>
              <a:rPr lang="en-US" altLang="zh-CN" sz="3000" dirty="0">
                <a:sym typeface="Wingdings" pitchFamily="2" charset="2"/>
              </a:rPr>
              <a:t>3F	</a:t>
            </a:r>
            <a:r>
              <a:rPr lang="zh-CN" altLang="en-US" sz="3000" dirty="0">
                <a:sym typeface="Wingdings" pitchFamily="2" charset="2"/>
              </a:rPr>
              <a:t>析出</a:t>
            </a:r>
            <a:r>
              <a:rPr lang="en-US" altLang="zh-CN" sz="3000" dirty="0">
                <a:sym typeface="Wingdings" pitchFamily="2" charset="2"/>
              </a:rPr>
              <a:t>1mol(197g)Au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24.3.3 </a:t>
            </a:r>
            <a:r>
              <a:rPr lang="zh-CN" altLang="en-US" b="1" dirty="0">
                <a:sym typeface="Wingdings" pitchFamily="2" charset="2"/>
              </a:rPr>
              <a:t>电解定律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：已知 </a:t>
            </a:r>
            <a:r>
              <a:rPr lang="en-US" altLang="zh-CN" sz="3000" dirty="0">
                <a:latin typeface="+mn-ea"/>
                <a:sym typeface="Wingdings" pitchFamily="2" charset="2"/>
              </a:rPr>
              <a:t>I</a:t>
            </a:r>
            <a:r>
              <a:rPr lang="en-US" altLang="zh-CN" sz="3000" dirty="0">
                <a:sym typeface="Wingdings" pitchFamily="2" charset="2"/>
              </a:rPr>
              <a:t> = 0.5A </a:t>
            </a:r>
            <a:r>
              <a:rPr lang="zh-CN" altLang="en-US" sz="3000" dirty="0">
                <a:sym typeface="Wingdings" pitchFamily="2" charset="2"/>
              </a:rPr>
              <a:t>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t = 30min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  = 1800s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公式</a:t>
            </a:r>
            <a:r>
              <a:rPr lang="en-US" altLang="zh-CN" sz="3000" dirty="0">
                <a:sym typeface="Wingdings" pitchFamily="2" charset="2"/>
              </a:rPr>
              <a:t>Q = </a:t>
            </a:r>
            <a:r>
              <a:rPr lang="en-US" altLang="zh-CN" sz="3000" dirty="0">
                <a:latin typeface="+mn-ea"/>
                <a:sym typeface="Wingdings" pitchFamily="2" charset="2"/>
              </a:rPr>
              <a:t>I </a:t>
            </a:r>
            <a:r>
              <a:rPr lang="en-US" altLang="zh-CN" sz="3000" dirty="0">
                <a:sym typeface="Wingdings" pitchFamily="2" charset="2"/>
              </a:rPr>
              <a:t>t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= 0.5A x 1800s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= 900 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设将镀上</a:t>
            </a:r>
            <a:r>
              <a:rPr lang="en-US" altLang="zh-CN" sz="3000" dirty="0" err="1">
                <a:sym typeface="Wingdings" pitchFamily="2" charset="2"/>
              </a:rPr>
              <a:t>xg</a:t>
            </a:r>
            <a:r>
              <a:rPr lang="zh-CN" altLang="en-US" sz="3000" dirty="0">
                <a:sym typeface="Wingdings" pitchFamily="2" charset="2"/>
              </a:rPr>
              <a:t>银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	+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 	Ag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1F=96500C		108g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900C		 </a:t>
            </a:r>
            <a:r>
              <a:rPr lang="en-US" altLang="zh-CN" sz="3000" dirty="0" err="1">
                <a:sym typeface="Wingdings" pitchFamily="2" charset="2"/>
              </a:rPr>
              <a:t>xg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x= 1.01g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答：铁汤匙表面将镀上</a:t>
            </a:r>
            <a:r>
              <a:rPr lang="en-US" altLang="zh-CN" sz="3000" dirty="0">
                <a:sym typeface="Wingdings" pitchFamily="2" charset="2"/>
              </a:rPr>
              <a:t>1.01g</a:t>
            </a:r>
            <a:r>
              <a:rPr lang="zh-CN" altLang="en-US" sz="3000" dirty="0">
                <a:sym typeface="Wingdings" pitchFamily="2" charset="2"/>
              </a:rPr>
              <a:t>银。</a:t>
            </a:r>
            <a:endParaRPr lang="en-US" altLang="zh-CN" sz="3000" dirty="0"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610394" y="51046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4572794" y="5028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24.3.3 </a:t>
            </a:r>
            <a:r>
              <a:rPr lang="zh-CN" altLang="en-US" b="1" dirty="0">
                <a:sym typeface="Wingdings" pitchFamily="2" charset="2"/>
              </a:rPr>
              <a:t>电解定律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2(1)</a:t>
            </a:r>
            <a:r>
              <a:rPr lang="zh-CN" altLang="en-US" sz="3000" dirty="0">
                <a:sym typeface="Wingdings" pitchFamily="2" charset="2"/>
              </a:rPr>
              <a:t>：已知 </a:t>
            </a:r>
            <a:r>
              <a:rPr lang="en-US" altLang="zh-CN" sz="3000" dirty="0">
                <a:latin typeface="+mn-ea"/>
                <a:sym typeface="Wingdings" pitchFamily="2" charset="2"/>
              </a:rPr>
              <a:t>I</a:t>
            </a:r>
            <a:r>
              <a:rPr lang="en-US" altLang="zh-CN" sz="3000" dirty="0">
                <a:sym typeface="Wingdings" pitchFamily="2" charset="2"/>
              </a:rPr>
              <a:t> = 5A </a:t>
            </a:r>
            <a:r>
              <a:rPr lang="zh-CN" altLang="en-US" sz="3000" dirty="0">
                <a:sym typeface="Wingdings" pitchFamily="2" charset="2"/>
              </a:rPr>
              <a:t>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m(Cu)=0.635g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t = </a:t>
            </a:r>
            <a:r>
              <a:rPr lang="zh-CN" altLang="en-US" sz="3000" dirty="0">
                <a:sym typeface="Wingdings" pitchFamily="2" charset="2"/>
              </a:rPr>
              <a:t>？，</a:t>
            </a:r>
            <a:r>
              <a:rPr lang="en-US" altLang="zh-CN" sz="3000" dirty="0">
                <a:sym typeface="Wingdings" pitchFamily="2" charset="2"/>
              </a:rPr>
              <a:t>Q=</a:t>
            </a:r>
            <a:r>
              <a:rPr lang="zh-CN" altLang="en-US" sz="3000" dirty="0">
                <a:sym typeface="Wingdings" pitchFamily="2" charset="2"/>
              </a:rPr>
              <a:t>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设所通电量为 </a:t>
            </a:r>
            <a:r>
              <a:rPr lang="en-US" altLang="zh-CN" sz="3000" dirty="0">
                <a:sym typeface="Wingdings" pitchFamily="2" charset="2"/>
              </a:rPr>
              <a:t>x 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	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 	Cu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2F= 2(96500C)	63.5g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x C	         0.635g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      x= 1930C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Q    = </a:t>
            </a:r>
            <a:r>
              <a:rPr lang="en-US" altLang="zh-CN" sz="3000" dirty="0">
                <a:latin typeface="+mn-ea"/>
                <a:sym typeface="Wingdings" pitchFamily="2" charset="2"/>
              </a:rPr>
              <a:t>I </a:t>
            </a:r>
            <a:r>
              <a:rPr lang="en-US" altLang="zh-CN" sz="3000" dirty="0">
                <a:sym typeface="Wingdings" pitchFamily="2" charset="2"/>
              </a:rPr>
              <a:t>t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1930C = 5A x t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t   = 386 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答：需通电</a:t>
            </a:r>
            <a:r>
              <a:rPr lang="en-US" altLang="zh-CN" sz="3000" dirty="0">
                <a:sym typeface="Wingdings" pitchFamily="2" charset="2"/>
              </a:rPr>
              <a:t>386s.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685006" y="37330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4496594" y="37330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>
                <a:sym typeface="Wingdings" pitchFamily="2" charset="2"/>
              </a:rPr>
              <a:t>24.3.3 </a:t>
            </a:r>
            <a:r>
              <a:rPr lang="zh-CN" altLang="en-US" b="1" dirty="0">
                <a:sym typeface="Wingdings" pitchFamily="2" charset="2"/>
              </a:rPr>
              <a:t>电解定律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例</a:t>
            </a:r>
            <a:r>
              <a:rPr lang="en-US" altLang="zh-CN" sz="3000" dirty="0">
                <a:sym typeface="Wingdings" pitchFamily="2" charset="2"/>
              </a:rPr>
              <a:t>2(2)</a:t>
            </a:r>
            <a:r>
              <a:rPr lang="zh-CN" altLang="en-US" sz="3000" dirty="0">
                <a:sym typeface="Wingdings" pitchFamily="2" charset="2"/>
              </a:rPr>
              <a:t>：已知 </a:t>
            </a:r>
            <a:r>
              <a:rPr lang="en-US" altLang="zh-CN" sz="3000" dirty="0">
                <a:sym typeface="Wingdings" pitchFamily="2" charset="2"/>
              </a:rPr>
              <a:t>Q=1930C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设阳极产生的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在</a:t>
            </a:r>
            <a:r>
              <a:rPr lang="en-US" altLang="zh-CN" sz="3000" dirty="0">
                <a:sym typeface="Wingdings" pitchFamily="2" charset="2"/>
              </a:rPr>
              <a:t>STP</a:t>
            </a:r>
            <a:r>
              <a:rPr lang="zh-CN" altLang="en-US" sz="3000" dirty="0">
                <a:sym typeface="Wingdings" pitchFamily="2" charset="2"/>
              </a:rPr>
              <a:t>时的体积为</a:t>
            </a:r>
            <a:r>
              <a:rPr lang="en-US" altLang="zh-CN" sz="3000" dirty="0" err="1">
                <a:sym typeface="Wingdings" pitchFamily="2" charset="2"/>
              </a:rPr>
              <a:t>yL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   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 +  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  +        4e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22.4L		4F= 4(96500C)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 </a:t>
            </a:r>
            <a:r>
              <a:rPr lang="en-US" altLang="zh-CN" sz="3000" dirty="0" err="1">
                <a:sym typeface="Wingdings" pitchFamily="2" charset="2"/>
              </a:rPr>
              <a:t>yL</a:t>
            </a:r>
            <a:r>
              <a:rPr lang="en-US" altLang="zh-CN" sz="3000" dirty="0">
                <a:sym typeface="Wingdings" pitchFamily="2" charset="2"/>
              </a:rPr>
              <a:t>		       1930C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	y= 0.112L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 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答：阳极产生的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在</a:t>
            </a:r>
            <a:r>
              <a:rPr lang="en-US" altLang="zh-CN" sz="3000" dirty="0">
                <a:sym typeface="Wingdings" pitchFamily="2" charset="2"/>
              </a:rPr>
              <a:t>STP</a:t>
            </a:r>
            <a:r>
              <a:rPr lang="zh-CN" altLang="en-US" sz="3000" dirty="0">
                <a:sym typeface="Wingdings" pitchFamily="2" charset="2"/>
              </a:rPr>
              <a:t>时的体积为</a:t>
            </a:r>
            <a:r>
              <a:rPr lang="en-US" altLang="zh-CN" sz="3000" dirty="0">
                <a:sym typeface="Wingdings" pitchFamily="2" charset="2"/>
              </a:rPr>
              <a:t>0.112L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3429794" y="28186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7696994" y="2742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4770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zh-CN" altLang="en-US" sz="2900" dirty="0">
                <a:sym typeface="Wingdings" pitchFamily="2" charset="2"/>
              </a:rPr>
              <a:t>例</a:t>
            </a:r>
            <a:r>
              <a:rPr lang="en-US" altLang="zh-CN" sz="2900" dirty="0">
                <a:sym typeface="Wingdings" pitchFamily="2" charset="2"/>
              </a:rPr>
              <a:t>3</a:t>
            </a:r>
            <a:r>
              <a:rPr lang="zh-CN" altLang="en-US" sz="2900" dirty="0">
                <a:sym typeface="Wingdings" pitchFamily="2" charset="2"/>
              </a:rPr>
              <a:t>：已知 </a:t>
            </a:r>
            <a:r>
              <a:rPr lang="en-US" altLang="zh-CN" sz="2900" dirty="0">
                <a:sym typeface="Wingdings" pitchFamily="2" charset="2"/>
              </a:rPr>
              <a:t>100</a:t>
            </a:r>
            <a:r>
              <a:rPr lang="zh-CN" altLang="en-US" sz="2900" dirty="0">
                <a:sym typeface="Wingdings" pitchFamily="2" charset="2"/>
              </a:rPr>
              <a:t>个电解池</a:t>
            </a:r>
            <a:endParaRPr lang="en-US" altLang="zh-CN" sz="29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latin typeface="+mn-ea"/>
                <a:sym typeface="Wingdings" pitchFamily="2" charset="2"/>
              </a:rPr>
              <a:t>			I</a:t>
            </a:r>
            <a:r>
              <a:rPr lang="en-US" altLang="zh-CN" sz="2900" dirty="0">
                <a:sym typeface="Wingdings" pitchFamily="2" charset="2"/>
              </a:rPr>
              <a:t> = 2.2 x 10</a:t>
            </a:r>
            <a:r>
              <a:rPr lang="en-US" altLang="zh-CN" sz="2900" baseline="30000" dirty="0">
                <a:sym typeface="Wingdings" pitchFamily="2" charset="2"/>
              </a:rPr>
              <a:t>4</a:t>
            </a:r>
            <a:r>
              <a:rPr lang="en-US" altLang="zh-CN" sz="2900" dirty="0">
                <a:sym typeface="Wingdings" pitchFamily="2" charset="2"/>
              </a:rPr>
              <a:t> A </a:t>
            </a:r>
            <a:r>
              <a:rPr lang="zh-CN" altLang="en-US" sz="2900" dirty="0">
                <a:sym typeface="Wingdings" pitchFamily="2" charset="2"/>
              </a:rPr>
              <a:t>，</a:t>
            </a:r>
            <a:endParaRPr lang="en-US" altLang="zh-CN" sz="29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	t =24h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	  = 24x 3600s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100</a:t>
            </a:r>
            <a:r>
              <a:rPr lang="zh-CN" altLang="en-US" sz="2900" dirty="0">
                <a:sym typeface="Wingdings" pitchFamily="2" charset="2"/>
              </a:rPr>
              <a:t>个电解池在</a:t>
            </a:r>
            <a:r>
              <a:rPr lang="en-US" altLang="zh-CN" sz="2900" dirty="0">
                <a:sym typeface="Wingdings" pitchFamily="2" charset="2"/>
              </a:rPr>
              <a:t>24h</a:t>
            </a:r>
            <a:r>
              <a:rPr lang="zh-CN" altLang="en-US" sz="2900" dirty="0">
                <a:sym typeface="Wingdings" pitchFamily="2" charset="2"/>
              </a:rPr>
              <a:t>内通过的总电量</a:t>
            </a:r>
            <a:endParaRPr lang="en-US" altLang="zh-CN" sz="29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Q	= </a:t>
            </a:r>
            <a:r>
              <a:rPr lang="en-US" altLang="zh-CN" sz="2900" dirty="0">
                <a:latin typeface="+mn-ea"/>
                <a:sym typeface="Wingdings" pitchFamily="2" charset="2"/>
              </a:rPr>
              <a:t>I </a:t>
            </a:r>
            <a:r>
              <a:rPr lang="en-US" altLang="zh-CN" sz="2900" dirty="0">
                <a:sym typeface="Wingdings" pitchFamily="2" charset="2"/>
              </a:rPr>
              <a:t>t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= 2.2 x 10</a:t>
            </a:r>
            <a:r>
              <a:rPr lang="en-US" altLang="zh-CN" sz="2900" baseline="30000" dirty="0">
                <a:sym typeface="Wingdings" pitchFamily="2" charset="2"/>
              </a:rPr>
              <a:t>4</a:t>
            </a:r>
            <a:r>
              <a:rPr lang="en-US" altLang="zh-CN" sz="2900" dirty="0">
                <a:sym typeface="Wingdings" pitchFamily="2" charset="2"/>
              </a:rPr>
              <a:t> A x 24x 3600s x 100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= 1.90 x 10</a:t>
            </a:r>
            <a:r>
              <a:rPr lang="en-US" altLang="zh-CN" sz="2900" baseline="30000" dirty="0">
                <a:sym typeface="Wingdings" pitchFamily="2" charset="2"/>
              </a:rPr>
              <a:t>11</a:t>
            </a:r>
            <a:r>
              <a:rPr lang="en-US" altLang="zh-CN" sz="2900" dirty="0">
                <a:sym typeface="Wingdings" pitchFamily="2" charset="2"/>
              </a:rPr>
              <a:t> 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 2H</a:t>
            </a:r>
            <a:r>
              <a:rPr lang="en-US" altLang="zh-CN" sz="2900" baseline="30000" dirty="0">
                <a:sym typeface="Wingdings" pitchFamily="2" charset="2"/>
              </a:rPr>
              <a:t>+</a:t>
            </a:r>
            <a:r>
              <a:rPr lang="en-US" altLang="zh-CN" sz="2900" dirty="0">
                <a:sym typeface="Wingdings" pitchFamily="2" charset="2"/>
              </a:rPr>
              <a:t> + 2e</a:t>
            </a:r>
            <a:r>
              <a:rPr lang="en-US" altLang="zh-CN" sz="2900" baseline="30000" dirty="0">
                <a:sym typeface="Wingdings" pitchFamily="2" charset="2"/>
              </a:rPr>
              <a:t>-</a:t>
            </a:r>
            <a:r>
              <a:rPr lang="en-US" altLang="zh-CN" sz="2900" dirty="0">
                <a:sym typeface="Wingdings" pitchFamily="2" charset="2"/>
              </a:rPr>
              <a:t>  H</a:t>
            </a:r>
            <a:r>
              <a:rPr lang="en-US" altLang="zh-CN" sz="2900" baseline="-25000" dirty="0">
                <a:sym typeface="Wingdings" pitchFamily="2" charset="2"/>
              </a:rPr>
              <a:t>2</a:t>
            </a:r>
            <a:r>
              <a:rPr lang="en-US" altLang="zh-CN" sz="2900" dirty="0">
                <a:sym typeface="Wingdings" pitchFamily="2" charset="2"/>
              </a:rPr>
              <a:t>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2F	1mol		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2NaCl  + 2H</a:t>
            </a:r>
            <a:r>
              <a:rPr lang="en-US" altLang="zh-CN" sz="2900" baseline="-25000" dirty="0">
                <a:sym typeface="Wingdings" pitchFamily="2" charset="2"/>
              </a:rPr>
              <a:t>2</a:t>
            </a:r>
            <a:r>
              <a:rPr lang="en-US" altLang="zh-CN" sz="2900" dirty="0">
                <a:sym typeface="Wingdings" pitchFamily="2" charset="2"/>
              </a:rPr>
              <a:t>O      H</a:t>
            </a:r>
            <a:r>
              <a:rPr lang="en-US" altLang="zh-CN" sz="2900" baseline="-25000" dirty="0">
                <a:sym typeface="Wingdings" pitchFamily="2" charset="2"/>
              </a:rPr>
              <a:t>2</a:t>
            </a:r>
            <a:r>
              <a:rPr lang="en-US" altLang="zh-CN" sz="2900" dirty="0">
                <a:sym typeface="Wingdings" pitchFamily="2" charset="2"/>
              </a:rPr>
              <a:t> + Cl</a:t>
            </a:r>
            <a:r>
              <a:rPr lang="en-US" altLang="zh-CN" sz="2900" baseline="-25000" dirty="0">
                <a:sym typeface="Wingdings" pitchFamily="2" charset="2"/>
              </a:rPr>
              <a:t>2</a:t>
            </a:r>
            <a:r>
              <a:rPr lang="en-US" altLang="zh-CN" sz="2900" dirty="0">
                <a:sym typeface="Wingdings" pitchFamily="2" charset="2"/>
              </a:rPr>
              <a:t>  + 2NaOH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	2F=2(96500C)	2(40g)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	   1.90 x 10</a:t>
            </a:r>
            <a:r>
              <a:rPr lang="en-US" altLang="zh-CN" sz="2900" baseline="30000" dirty="0">
                <a:sym typeface="Wingdings" pitchFamily="2" charset="2"/>
              </a:rPr>
              <a:t>11</a:t>
            </a:r>
            <a:r>
              <a:rPr lang="en-US" altLang="zh-CN" sz="2900" dirty="0">
                <a:sym typeface="Wingdings" pitchFamily="2" charset="2"/>
              </a:rPr>
              <a:t> C	  x 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		 x =7.88x10</a:t>
            </a:r>
            <a:r>
              <a:rPr lang="en-US" altLang="zh-CN" sz="2900" baseline="30000" dirty="0">
                <a:sym typeface="Wingdings" pitchFamily="2" charset="2"/>
              </a:rPr>
              <a:t>7</a:t>
            </a:r>
            <a:r>
              <a:rPr lang="en-US" altLang="zh-CN" sz="2900" dirty="0">
                <a:sym typeface="Wingdings" pitchFamily="2" charset="2"/>
              </a:rPr>
              <a:t> g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2900" dirty="0">
                <a:sym typeface="Wingdings" pitchFamily="2" charset="2"/>
              </a:rPr>
              <a:t>				    = 7.88x10</a:t>
            </a:r>
            <a:r>
              <a:rPr lang="en-US" altLang="zh-CN" sz="2900" baseline="30000" dirty="0">
                <a:sym typeface="Wingdings" pitchFamily="2" charset="2"/>
              </a:rPr>
              <a:t>4</a:t>
            </a:r>
            <a:r>
              <a:rPr lang="en-US" altLang="zh-CN" sz="2900" dirty="0">
                <a:sym typeface="Wingdings" pitchFamily="2" charset="2"/>
              </a:rPr>
              <a:t> kg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1616234" y="5546566"/>
            <a:ext cx="73152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5578634" y="5470366"/>
            <a:ext cx="73152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交流分享 </a:t>
            </a:r>
            <a:r>
              <a:rPr lang="en-US" altLang="zh-CN" sz="3200" b="1" dirty="0">
                <a:sym typeface="Wingdings" pitchFamily="2" charset="2"/>
              </a:rPr>
              <a:t>pg320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1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Au=197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已知 </a:t>
            </a:r>
            <a:r>
              <a:rPr lang="en-US" altLang="zh-CN" sz="3000" dirty="0">
                <a:sym typeface="Wingdings" pitchFamily="2" charset="2"/>
              </a:rPr>
              <a:t>	    </a:t>
            </a:r>
            <a:r>
              <a:rPr lang="en-US" altLang="zh-CN" sz="3000" dirty="0">
                <a:latin typeface="+mn-ea"/>
                <a:sym typeface="Wingdings" pitchFamily="2" charset="2"/>
              </a:rPr>
              <a:t>I</a:t>
            </a:r>
            <a:r>
              <a:rPr lang="en-US" altLang="zh-CN" sz="3000" dirty="0">
                <a:sym typeface="Wingdings" pitchFamily="2" charset="2"/>
              </a:rPr>
              <a:t> = 0.2A </a:t>
            </a:r>
            <a:r>
              <a:rPr lang="zh-CN" altLang="en-US" sz="3000" dirty="0">
                <a:sym typeface="Wingdings" pitchFamily="2" charset="2"/>
              </a:rPr>
              <a:t>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m(Au)= 0.61g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t = </a:t>
            </a:r>
            <a:r>
              <a:rPr lang="zh-CN" altLang="en-US" sz="3000" dirty="0">
                <a:sym typeface="Wingdings" pitchFamily="2" charset="2"/>
              </a:rPr>
              <a:t>？，</a:t>
            </a:r>
            <a:r>
              <a:rPr lang="en-US" altLang="zh-CN" sz="3000" dirty="0">
                <a:sym typeface="Wingdings" pitchFamily="2" charset="2"/>
              </a:rPr>
              <a:t>Q=</a:t>
            </a:r>
            <a:r>
              <a:rPr lang="zh-CN" altLang="en-US" sz="3000" dirty="0">
                <a:sym typeface="Wingdings" pitchFamily="2" charset="2"/>
              </a:rPr>
              <a:t>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设所通电量为 </a:t>
            </a:r>
            <a:r>
              <a:rPr lang="en-US" altLang="zh-CN" sz="3000" dirty="0">
                <a:sym typeface="Wingdings" pitchFamily="2" charset="2"/>
              </a:rPr>
              <a:t>x 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Au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	+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 	Au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1F= 96500C		197g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x C		0.61g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      x= 298.8C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Q      = </a:t>
            </a:r>
            <a:r>
              <a:rPr lang="en-US" altLang="zh-CN" sz="3000" dirty="0">
                <a:latin typeface="+mn-ea"/>
                <a:sym typeface="Wingdings" pitchFamily="2" charset="2"/>
              </a:rPr>
              <a:t>I </a:t>
            </a:r>
            <a:r>
              <a:rPr lang="en-US" altLang="zh-CN" sz="3000" dirty="0">
                <a:sym typeface="Wingdings" pitchFamily="2" charset="2"/>
              </a:rPr>
              <a:t>t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298.8C = 0.2A x t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   t   = 1494 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答：需通电</a:t>
            </a:r>
            <a:r>
              <a:rPr lang="en-US" altLang="zh-CN" sz="3000" dirty="0">
                <a:sym typeface="Wingdings" pitchFamily="2" charset="2"/>
              </a:rPr>
              <a:t>24.9min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762794" y="40378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4496594" y="39616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交流分享 </a:t>
            </a:r>
            <a:r>
              <a:rPr lang="en-US" altLang="zh-CN" sz="3200" b="1" dirty="0">
                <a:sym typeface="Wingdings" pitchFamily="2" charset="2"/>
              </a:rPr>
              <a:t>pg320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的化合价为</a:t>
            </a:r>
            <a:r>
              <a:rPr lang="en-US" altLang="zh-CN" sz="3000" dirty="0">
                <a:sym typeface="Wingdings" pitchFamily="2" charset="2"/>
              </a:rPr>
              <a:t>+2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已知 </a:t>
            </a:r>
            <a:r>
              <a:rPr lang="en-US" altLang="zh-CN" sz="3000" dirty="0">
                <a:sym typeface="Wingdings" pitchFamily="2" charset="2"/>
              </a:rPr>
              <a:t>	   V(O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) = 0.448L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  m(M)= 2.56g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设所通电量为 </a:t>
            </a:r>
            <a:r>
              <a:rPr lang="en-US" altLang="zh-CN" sz="3000" dirty="0" err="1">
                <a:sym typeface="Wingdings" pitchFamily="2" charset="2"/>
              </a:rPr>
              <a:t>xF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   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 +  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  +   4e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   22.4L	4F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	 0.448L	</a:t>
            </a:r>
            <a:r>
              <a:rPr lang="en-US" altLang="zh-CN" sz="3000" dirty="0" err="1">
                <a:sym typeface="Wingdings" pitchFamily="2" charset="2"/>
              </a:rPr>
              <a:t>xF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</a:t>
            </a:r>
            <a:r>
              <a:rPr lang="en-US" altLang="zh-CN" sz="3000" dirty="0">
                <a:sym typeface="Wingdings" pitchFamily="2" charset="2"/>
              </a:rPr>
              <a:t>1mol</a:t>
            </a:r>
            <a:r>
              <a:rPr lang="zh-CN" altLang="en-US" sz="3000" dirty="0">
                <a:sym typeface="Wingdings" pitchFamily="2" charset="2"/>
              </a:rPr>
              <a:t>的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质量为</a:t>
            </a:r>
            <a:r>
              <a:rPr lang="en-US" altLang="zh-CN" sz="3000" dirty="0" err="1">
                <a:sym typeface="Wingdings" pitchFamily="2" charset="2"/>
              </a:rPr>
              <a:t>yg</a:t>
            </a:r>
            <a:r>
              <a:rPr lang="en-US" altLang="zh-CN" sz="3000" dirty="0">
                <a:sym typeface="Wingdings" pitchFamily="2" charset="2"/>
              </a:rPr>
              <a:t> 		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M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  	M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2F 		</a:t>
            </a:r>
            <a:r>
              <a:rPr lang="en-US" altLang="zh-CN" sz="3000" dirty="0" err="1">
                <a:sym typeface="Wingdings" pitchFamily="2" charset="2"/>
              </a:rPr>
              <a:t>yg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0.08F		2.56g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y=64g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的相对原子质量为</a:t>
            </a:r>
            <a:r>
              <a:rPr lang="en-US" altLang="zh-CN" sz="3000" dirty="0">
                <a:sym typeface="Wingdings" pitchFamily="2" charset="2"/>
              </a:rPr>
              <a:t>64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3505994" y="3504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5944394" y="3504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1600994" y="5409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4495006" y="5409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0" y="3962400"/>
            <a:ext cx="15776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x = 0.08F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思考题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24f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+  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 +    4e</a:t>
            </a:r>
            <a:r>
              <a:rPr lang="en-US" altLang="zh-CN" sz="3000" baseline="30000" dirty="0">
                <a:sym typeface="Wingdings" pitchFamily="2" charset="2"/>
              </a:rPr>
              <a:t>-	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	      32g       4F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	     0.8g        </a:t>
            </a:r>
            <a:r>
              <a:rPr lang="en-US" altLang="zh-CN" sz="3000" dirty="0" err="1">
                <a:sym typeface="Wingdings" pitchFamily="2" charset="2"/>
              </a:rPr>
              <a:t>yF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x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 + x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M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x F          </a:t>
            </a:r>
            <a:r>
              <a:rPr lang="en-US" altLang="zh-CN" sz="3000" dirty="0" err="1">
                <a:sym typeface="Wingdings" pitchFamily="2" charset="2"/>
              </a:rPr>
              <a:t>bg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0.1F        a g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		 (0.1F)(b) = (</a:t>
            </a:r>
            <a:r>
              <a:rPr lang="en-US" altLang="zh-CN" sz="3000" dirty="0" err="1">
                <a:sym typeface="Wingdings" pitchFamily="2" charset="2"/>
              </a:rPr>
              <a:t>xF</a:t>
            </a:r>
            <a:r>
              <a:rPr lang="en-US" altLang="zh-CN" sz="3000" dirty="0">
                <a:sym typeface="Wingdings" pitchFamily="2" charset="2"/>
              </a:rPr>
              <a:t>)(a)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	    x = 0.1b / a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219200"/>
            <a:ext cx="265970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y= (4)(0.8) / 32</a:t>
            </a:r>
          </a:p>
          <a:p>
            <a:r>
              <a:rPr lang="en-US" sz="3200" dirty="0"/>
              <a:t>  = 0.1 F 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补充题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1. </a:t>
            </a:r>
            <a:r>
              <a:rPr lang="zh-CN" altLang="en-US" sz="3000" dirty="0">
                <a:sym typeface="Wingdings" pitchFamily="2" charset="2"/>
              </a:rPr>
              <a:t>以</a:t>
            </a:r>
            <a:r>
              <a:rPr lang="en-US" altLang="zh-CN" sz="3000" dirty="0">
                <a:sym typeface="Wingdings" pitchFamily="2" charset="2"/>
              </a:rPr>
              <a:t>2.5A</a:t>
            </a:r>
            <a:r>
              <a:rPr lang="zh-CN" altLang="en-US" sz="3000" dirty="0">
                <a:sym typeface="Wingdings" pitchFamily="2" charset="2"/>
              </a:rPr>
              <a:t>电流通入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中，电解</a:t>
            </a:r>
            <a:r>
              <a:rPr lang="en-US" altLang="zh-CN" sz="3000" dirty="0">
                <a:sym typeface="Wingdings" pitchFamily="2" charset="2"/>
              </a:rPr>
              <a:t>1h18min42s</a:t>
            </a:r>
            <a:r>
              <a:rPr lang="zh-CN" altLang="en-US" sz="3000" dirty="0">
                <a:sym typeface="Wingdings" pitchFamily="2" charset="2"/>
              </a:rPr>
              <a:t>，在阴极析出</a:t>
            </a:r>
            <a:r>
              <a:rPr lang="en-US" altLang="zh-CN" sz="3000" dirty="0">
                <a:sym typeface="Wingdings" pitchFamily="2" charset="2"/>
              </a:rPr>
              <a:t>4g</a:t>
            </a:r>
            <a:r>
              <a:rPr lang="zh-CN" altLang="en-US" sz="3000" dirty="0">
                <a:sym typeface="Wingdings" pitchFamily="2" charset="2"/>
              </a:rPr>
              <a:t>金属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，求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的相对原子质量。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已知 </a:t>
            </a:r>
            <a:r>
              <a:rPr lang="en-US" altLang="zh-CN" sz="3000" dirty="0">
                <a:sym typeface="Wingdings" pitchFamily="2" charset="2"/>
              </a:rPr>
              <a:t>	 </a:t>
            </a:r>
            <a:r>
              <a:rPr lang="en-US" altLang="zh-CN" sz="3000" dirty="0">
                <a:latin typeface="+mn-ea"/>
                <a:sym typeface="Wingdings" pitchFamily="2" charset="2"/>
              </a:rPr>
              <a:t>I</a:t>
            </a:r>
            <a:r>
              <a:rPr lang="en-US" altLang="zh-CN" sz="3000" dirty="0">
                <a:sym typeface="Wingdings" pitchFamily="2" charset="2"/>
              </a:rPr>
              <a:t> = 2.5 A </a:t>
            </a:r>
            <a:r>
              <a:rPr lang="zh-CN" altLang="en-US" sz="3000" dirty="0">
                <a:sym typeface="Wingdings" pitchFamily="2" charset="2"/>
              </a:rPr>
              <a:t>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t =1h18min42s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 = (1x3600 + 18x60 + 42)s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Q = 2.5 A x 4722s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    = 11805C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设</a:t>
            </a:r>
            <a:r>
              <a:rPr lang="en-US" altLang="zh-CN" sz="3000" dirty="0">
                <a:sym typeface="Wingdings" pitchFamily="2" charset="2"/>
              </a:rPr>
              <a:t>1mol</a:t>
            </a:r>
            <a:r>
              <a:rPr lang="zh-CN" altLang="en-US" sz="3000" dirty="0">
                <a:sym typeface="Wingdings" pitchFamily="2" charset="2"/>
              </a:rPr>
              <a:t>的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质量为</a:t>
            </a:r>
            <a:r>
              <a:rPr lang="en-US" altLang="zh-CN" sz="3000" dirty="0" err="1">
                <a:sym typeface="Wingdings" pitchFamily="2" charset="2"/>
              </a:rPr>
              <a:t>yg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M</a:t>
            </a:r>
            <a:r>
              <a:rPr lang="en-US" altLang="zh-CN" sz="3000" baseline="30000" dirty="0">
                <a:sym typeface="Wingdings" pitchFamily="2" charset="2"/>
              </a:rPr>
              <a:t>2+  </a:t>
            </a:r>
            <a:r>
              <a:rPr lang="en-US" altLang="zh-CN" sz="3000" dirty="0">
                <a:sym typeface="Wingdings" pitchFamily="2" charset="2"/>
              </a:rPr>
              <a:t> +     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  	M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2F=2(96500) 	</a:t>
            </a:r>
            <a:r>
              <a:rPr lang="en-US" altLang="zh-CN" sz="3000" dirty="0" err="1">
                <a:sym typeface="Wingdings" pitchFamily="2" charset="2"/>
              </a:rPr>
              <a:t>yg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      11805C	4g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	y=65.4g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的相对原子质量为</a:t>
            </a:r>
            <a:r>
              <a:rPr lang="en-US" altLang="zh-CN" sz="3000" dirty="0">
                <a:sym typeface="Wingdings" pitchFamily="2" charset="2"/>
              </a:rPr>
              <a:t>65.4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762794" y="54094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4267994" y="53332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补充题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以</a:t>
            </a:r>
            <a:r>
              <a:rPr lang="en-US" altLang="zh-CN" sz="3000" dirty="0">
                <a:sym typeface="Wingdings" pitchFamily="2" charset="2"/>
              </a:rPr>
              <a:t>2.5A</a:t>
            </a:r>
            <a:r>
              <a:rPr lang="zh-CN" altLang="en-US" sz="3000" dirty="0">
                <a:sym typeface="Wingdings" pitchFamily="2" charset="2"/>
              </a:rPr>
              <a:t>之电流通电</a:t>
            </a:r>
            <a:r>
              <a:rPr lang="en-US" altLang="zh-CN" sz="3000" dirty="0">
                <a:sym typeface="Wingdings" pitchFamily="2" charset="2"/>
              </a:rPr>
              <a:t>10h43min20s</a:t>
            </a:r>
            <a:r>
              <a:rPr lang="zh-CN" altLang="en-US" sz="3000" dirty="0">
                <a:sym typeface="Wingdings" pitchFamily="2" charset="2"/>
              </a:rPr>
              <a:t>电解熔融的</a:t>
            </a:r>
            <a:r>
              <a:rPr lang="en-US" altLang="zh-CN" sz="3000" dirty="0" err="1">
                <a:sym typeface="Wingdings" pitchFamily="2" charset="2"/>
              </a:rPr>
              <a:t>A</a:t>
            </a:r>
            <a:r>
              <a:rPr lang="en-US" altLang="zh-CN" sz="3000" baseline="-25000" dirty="0" err="1">
                <a:sym typeface="Wingdings" pitchFamily="2" charset="2"/>
              </a:rPr>
              <a:t>x</a:t>
            </a:r>
            <a:r>
              <a:rPr lang="en-US" altLang="zh-CN" sz="3000" dirty="0" err="1">
                <a:sym typeface="Wingdings" pitchFamily="2" charset="2"/>
              </a:rPr>
              <a:t>B</a:t>
            </a:r>
            <a:r>
              <a:rPr lang="en-US" altLang="zh-CN" sz="3000" baseline="-25000" dirty="0" err="1">
                <a:sym typeface="Wingdings" pitchFamily="2" charset="2"/>
              </a:rPr>
              <a:t>y</a:t>
            </a:r>
            <a:r>
              <a:rPr lang="en-US" altLang="zh-CN" sz="3000" baseline="-25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得</a:t>
            </a:r>
            <a:r>
              <a:rPr lang="en-US" altLang="zh-CN" sz="3000" dirty="0">
                <a:sym typeface="Wingdings" pitchFamily="2" charset="2"/>
              </a:rPr>
              <a:t>1/3 mol</a:t>
            </a:r>
            <a:r>
              <a:rPr lang="zh-CN" altLang="en-US" sz="3000" dirty="0">
                <a:sym typeface="Wingdings" pitchFamily="2" charset="2"/>
              </a:rPr>
              <a:t>的金属</a:t>
            </a:r>
            <a:r>
              <a:rPr lang="en-US" altLang="zh-CN" sz="3000" dirty="0">
                <a:sym typeface="Wingdings" pitchFamily="2" charset="2"/>
              </a:rPr>
              <a:t>A</a:t>
            </a:r>
            <a:r>
              <a:rPr lang="zh-CN" altLang="en-US" sz="3000" dirty="0">
                <a:sym typeface="Wingdings" pitchFamily="2" charset="2"/>
              </a:rPr>
              <a:t>，和</a:t>
            </a:r>
            <a:r>
              <a:rPr lang="en-US" altLang="zh-CN" sz="3000" dirty="0">
                <a:sym typeface="Wingdings" pitchFamily="2" charset="2"/>
              </a:rPr>
              <a:t>1/4mol</a:t>
            </a:r>
            <a:r>
              <a:rPr lang="zh-CN" altLang="en-US" sz="3000" dirty="0">
                <a:sym typeface="Wingdings" pitchFamily="2" charset="2"/>
              </a:rPr>
              <a:t>的气体</a:t>
            </a:r>
            <a:r>
              <a:rPr lang="en-US" altLang="zh-CN" sz="3000" dirty="0">
                <a:sym typeface="Wingdings" pitchFamily="2" charset="2"/>
              </a:rPr>
              <a:t>B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，求此化合物的化学式。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已知 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>
                <a:latin typeface="+mn-ea"/>
                <a:sym typeface="Wingdings" pitchFamily="2" charset="2"/>
              </a:rPr>
              <a:t> I</a:t>
            </a:r>
            <a:r>
              <a:rPr lang="en-US" altLang="zh-CN" sz="3000" dirty="0">
                <a:sym typeface="Wingdings" pitchFamily="2" charset="2"/>
              </a:rPr>
              <a:t> = 2.5 A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 t = 10h43min20s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   		     = 10x3600 + 43x60 + 20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Q = 2.5 A x 38600s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    		    = 96500C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A</a:t>
            </a:r>
            <a:r>
              <a:rPr lang="en-US" altLang="zh-CN" sz="3000" baseline="30000" dirty="0">
                <a:sym typeface="Wingdings" pitchFamily="2" charset="2"/>
              </a:rPr>
              <a:t>y+</a:t>
            </a:r>
            <a:r>
              <a:rPr lang="en-US" altLang="zh-CN" sz="3000" dirty="0">
                <a:sym typeface="Wingdings" pitchFamily="2" charset="2"/>
              </a:rPr>
              <a:t>   +   ye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     A 		 2B</a:t>
            </a:r>
            <a:r>
              <a:rPr lang="en-US" altLang="zh-CN" sz="3000" baseline="30000" dirty="0">
                <a:sym typeface="Wingdings" pitchFamily="2" charset="2"/>
              </a:rPr>
              <a:t>x-   </a:t>
            </a:r>
            <a:r>
              <a:rPr lang="en-US" altLang="zh-CN" sz="3000" dirty="0">
                <a:sym typeface="Wingdings" pitchFamily="2" charset="2"/>
              </a:rPr>
              <a:t>   B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     2x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en-US" altLang="zh-CN" sz="3000" dirty="0" err="1">
                <a:sym typeface="Wingdings" pitchFamily="2" charset="2"/>
              </a:rPr>
              <a:t>yF</a:t>
            </a:r>
            <a:r>
              <a:rPr lang="en-US" altLang="zh-CN" sz="3000" dirty="0">
                <a:sym typeface="Wingdings" pitchFamily="2" charset="2"/>
              </a:rPr>
              <a:t>	 1mol			   </a:t>
            </a:r>
            <a:r>
              <a:rPr lang="en-US" altLang="zh-CN" sz="3000" dirty="0" err="1">
                <a:sym typeface="Wingdings" pitchFamily="2" charset="2"/>
              </a:rPr>
              <a:t>1mol</a:t>
            </a:r>
            <a:r>
              <a:rPr lang="en-US" altLang="zh-CN" sz="3000" dirty="0">
                <a:sym typeface="Wingdings" pitchFamily="2" charset="2"/>
              </a:rPr>
              <a:t>	2xF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1F	1/3 mol		   1/4mol      1F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     y=3			           x=2</a:t>
            </a:r>
          </a:p>
          <a:p>
            <a:pPr marL="514350" indent="-514350">
              <a:spcBef>
                <a:spcPts val="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答：此化合物的化学式 </a:t>
            </a:r>
            <a:r>
              <a:rPr lang="en-US" altLang="zh-CN" sz="3000" dirty="0">
                <a:sym typeface="Wingdings" pitchFamily="2" charset="2"/>
              </a:rPr>
              <a:t>A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B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1600994" y="49522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3963194" y="49522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5487194" y="49522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7849394" y="49522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当</a:t>
            </a:r>
            <a:r>
              <a:rPr lang="en-US" altLang="zh-CN" sz="3000" dirty="0">
                <a:sym typeface="Wingdings" pitchFamily="2" charset="2"/>
              </a:rPr>
              <a:t>5mol</a:t>
            </a:r>
            <a:r>
              <a:rPr lang="zh-CN" altLang="en-US" sz="3000" dirty="0">
                <a:sym typeface="Wingdings" pitchFamily="2" charset="2"/>
              </a:rPr>
              <a:t>电子通过处于熔融状态下的铝盐时，在阴极析出的铝的最大质量是多少克？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当电流通过熔融状态的氯化钙，有</a:t>
            </a:r>
            <a:r>
              <a:rPr lang="en-US" altLang="zh-CN" sz="3000" dirty="0">
                <a:sym typeface="Wingdings" pitchFamily="2" charset="2"/>
              </a:rPr>
              <a:t>2g</a:t>
            </a:r>
            <a:r>
              <a:rPr lang="zh-CN" altLang="en-US" sz="3000" dirty="0">
                <a:sym typeface="Wingdings" pitchFamily="2" charset="2"/>
              </a:rPr>
              <a:t>的钙在阴极形成。问有多少质量的氯气在阳极形成？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电解硫酸铜溶液时，需消耗多少库仑的电量才能析出</a:t>
            </a:r>
            <a:r>
              <a:rPr lang="en-US" altLang="zh-CN" sz="3000" dirty="0">
                <a:sym typeface="Wingdings" pitchFamily="2" charset="2"/>
              </a:rPr>
              <a:t>128g</a:t>
            </a:r>
            <a:r>
              <a:rPr lang="zh-CN" altLang="en-US" sz="3000" dirty="0">
                <a:sym typeface="Wingdings" pitchFamily="2" charset="2"/>
              </a:rPr>
              <a:t>的铜？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当</a:t>
            </a:r>
            <a:r>
              <a:rPr lang="en-US" altLang="zh-CN" sz="3000" dirty="0">
                <a:sym typeface="Wingdings" pitchFamily="2" charset="2"/>
              </a:rPr>
              <a:t>2A</a:t>
            </a:r>
            <a:r>
              <a:rPr lang="zh-CN" altLang="en-US" sz="3000" dirty="0">
                <a:sym typeface="Wingdings" pitchFamily="2" charset="2"/>
              </a:rPr>
              <a:t>的电流通过熔融的铝盐</a:t>
            </a:r>
            <a:r>
              <a:rPr lang="en-US" altLang="zh-CN" sz="3000" dirty="0">
                <a:sym typeface="Wingdings" pitchFamily="2" charset="2"/>
              </a:rPr>
              <a:t>402</a:t>
            </a:r>
            <a:r>
              <a:rPr lang="zh-CN" altLang="en-US" sz="3000" dirty="0">
                <a:sym typeface="Wingdings" pitchFamily="2" charset="2"/>
              </a:rPr>
              <a:t>分钟，试问在阴极可得到多少克铝金属？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当</a:t>
            </a:r>
            <a:r>
              <a:rPr lang="en-US" altLang="zh-CN" sz="3000" dirty="0">
                <a:sym typeface="Wingdings" pitchFamily="2" charset="2"/>
              </a:rPr>
              <a:t>2F</a:t>
            </a:r>
            <a:r>
              <a:rPr lang="zh-CN" altLang="en-US" sz="3000" dirty="0">
                <a:sym typeface="Wingdings" pitchFamily="2" charset="2"/>
              </a:rPr>
              <a:t>的电量通过一电解池，会在阴极产生</a:t>
            </a:r>
            <a:r>
              <a:rPr lang="en-US" altLang="zh-CN" sz="3000" dirty="0">
                <a:sym typeface="Wingdings" pitchFamily="2" charset="2"/>
              </a:rPr>
              <a:t>30g</a:t>
            </a:r>
            <a:r>
              <a:rPr lang="zh-CN" altLang="en-US" sz="3000" dirty="0">
                <a:sym typeface="Wingdings" pitchFamily="2" charset="2"/>
              </a:rPr>
              <a:t>的元素</a:t>
            </a:r>
            <a:r>
              <a:rPr lang="en-US" altLang="zh-CN" sz="3000" dirty="0">
                <a:sym typeface="Wingdings" pitchFamily="2" charset="2"/>
              </a:rPr>
              <a:t>W</a:t>
            </a:r>
            <a:r>
              <a:rPr lang="zh-CN" altLang="en-US" sz="3000" dirty="0">
                <a:sym typeface="Wingdings" pitchFamily="2" charset="2"/>
              </a:rPr>
              <a:t>（相对原子质量</a:t>
            </a:r>
            <a:r>
              <a:rPr lang="en-US" altLang="zh-CN" sz="3000" dirty="0">
                <a:sym typeface="Wingdings" pitchFamily="2" charset="2"/>
              </a:rPr>
              <a:t>=45</a:t>
            </a:r>
            <a:r>
              <a:rPr lang="zh-CN" altLang="en-US" sz="3000" dirty="0">
                <a:sym typeface="Wingdings" pitchFamily="2" charset="2"/>
              </a:rPr>
              <a:t>）。</a:t>
            </a:r>
            <a:r>
              <a:rPr lang="en-US" altLang="zh-CN" sz="3000" dirty="0">
                <a:sym typeface="Wingdings" pitchFamily="2" charset="2"/>
              </a:rPr>
              <a:t>W</a:t>
            </a:r>
            <a:r>
              <a:rPr lang="zh-CN" altLang="en-US" sz="3000" dirty="0">
                <a:sym typeface="Wingdings" pitchFamily="2" charset="2"/>
              </a:rPr>
              <a:t>的离子氧化数是多少？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62789" y="1295400"/>
            <a:ext cx="795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45g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6589" y="2286000"/>
            <a:ext cx="1112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3.55g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34200" y="3377625"/>
            <a:ext cx="1975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3.86x10</a:t>
            </a:r>
            <a:r>
              <a:rPr lang="en-US" altLang="zh-CN" sz="3200" b="1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39000" y="4343400"/>
            <a:ext cx="1321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4.499g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39000" y="5816025"/>
            <a:ext cx="598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+3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6. </a:t>
            </a:r>
            <a:r>
              <a:rPr lang="zh-CN" altLang="en-US" sz="3000" dirty="0">
                <a:sym typeface="Wingdings" pitchFamily="2" charset="2"/>
              </a:rPr>
              <a:t>当</a:t>
            </a:r>
            <a:r>
              <a:rPr lang="en-US" altLang="zh-CN" sz="3000" dirty="0">
                <a:sym typeface="Wingdings" pitchFamily="2" charset="2"/>
              </a:rPr>
              <a:t>0.5A</a:t>
            </a:r>
            <a:r>
              <a:rPr lang="zh-CN" altLang="en-US" sz="3000" dirty="0">
                <a:sym typeface="Wingdings" pitchFamily="2" charset="2"/>
              </a:rPr>
              <a:t>电流通过</a:t>
            </a:r>
            <a:r>
              <a:rPr lang="en-US" altLang="zh-CN" sz="3000" dirty="0">
                <a:sym typeface="Wingdings" pitchFamily="2" charset="2"/>
              </a:rPr>
              <a:t>AgNO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zh-CN" altLang="en-US" sz="3000" dirty="0">
                <a:sym typeface="Wingdings" pitchFamily="2" charset="2"/>
              </a:rPr>
              <a:t>溶液电解池时（使用惰性电极），在阴极获得</a:t>
            </a:r>
            <a:r>
              <a:rPr lang="en-US" altLang="zh-CN" sz="3000" dirty="0">
                <a:sym typeface="Wingdings" pitchFamily="2" charset="2"/>
              </a:rPr>
              <a:t>0.54g</a:t>
            </a:r>
            <a:r>
              <a:rPr lang="zh-CN" altLang="en-US" sz="3000" dirty="0">
                <a:sym typeface="Wingdings" pitchFamily="2" charset="2"/>
              </a:rPr>
              <a:t>的银。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i</a:t>
            </a:r>
            <a:r>
              <a:rPr lang="en-US" altLang="zh-CN" sz="3000" dirty="0">
                <a:sym typeface="Wingdings" pitchFamily="2" charset="2"/>
              </a:rPr>
              <a:t>) </a:t>
            </a:r>
            <a:r>
              <a:rPr lang="zh-CN" altLang="en-US" sz="3000" dirty="0">
                <a:sym typeface="Wingdings" pitchFamily="2" charset="2"/>
              </a:rPr>
              <a:t>写出各电极反应的离子方程式，并指出氧化剂和还原剂。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(ii)</a:t>
            </a:r>
            <a:r>
              <a:rPr lang="zh-CN" altLang="en-US" sz="3000" dirty="0">
                <a:sym typeface="Wingdings" pitchFamily="2" charset="2"/>
              </a:rPr>
              <a:t>需通电多少秒？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(iii) </a:t>
            </a:r>
            <a:r>
              <a:rPr lang="zh-CN" altLang="en-US" sz="3000" dirty="0">
                <a:sym typeface="Wingdings" pitchFamily="2" charset="2"/>
              </a:rPr>
              <a:t>阳极上产生什么气体？在</a:t>
            </a:r>
            <a:r>
              <a:rPr lang="en-US" altLang="zh-CN" sz="3000" dirty="0">
                <a:sym typeface="Wingdings" pitchFamily="2" charset="2"/>
              </a:rPr>
              <a:t>STP</a:t>
            </a:r>
            <a:r>
              <a:rPr lang="zh-CN" altLang="en-US" sz="3000" dirty="0">
                <a:sym typeface="Wingdings" pitchFamily="2" charset="2"/>
              </a:rPr>
              <a:t>时，气体的体积是多少公升？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答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i</a:t>
            </a:r>
            <a:r>
              <a:rPr lang="en-US" altLang="zh-CN" sz="3000" dirty="0">
                <a:sym typeface="Wingdings" pitchFamily="2" charset="2"/>
              </a:rPr>
              <a:t>)	</a:t>
            </a:r>
            <a:r>
              <a:rPr lang="zh-CN" altLang="en-US" sz="3000" dirty="0">
                <a:sym typeface="Wingdings" pitchFamily="2" charset="2"/>
              </a:rPr>
              <a:t>阴极：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+ 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 Ag		  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</a:t>
            </a:r>
            <a:r>
              <a:rPr lang="zh-CN" altLang="en-US" sz="3000" dirty="0">
                <a:sym typeface="Wingdings" pitchFamily="2" charset="2"/>
              </a:rPr>
              <a:t>阳极：</a:t>
            </a:r>
            <a:r>
              <a:rPr lang="en-US" altLang="zh-CN" sz="3000" dirty="0">
                <a:sym typeface="Wingdings" pitchFamily="2" charset="2"/>
              </a:rPr>
              <a:t>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+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+ 4e</a:t>
            </a:r>
            <a:r>
              <a:rPr lang="en-US" altLang="zh-CN" sz="3000" baseline="30000" dirty="0">
                <a:sym typeface="Wingdings" pitchFamily="2" charset="2"/>
              </a:rPr>
              <a:t>-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氧化剂：</a:t>
            </a:r>
            <a:r>
              <a:rPr lang="en-US" altLang="zh-CN" sz="3000" dirty="0">
                <a:sym typeface="Wingdings" pitchFamily="2" charset="2"/>
              </a:rPr>
              <a:t>AgNO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还原剂：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统考题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6. (ii)	Ag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      +  e</a:t>
            </a:r>
            <a:r>
              <a:rPr lang="en-US" altLang="zh-CN" sz="2800" baseline="30000" dirty="0">
                <a:sym typeface="Wingdings" pitchFamily="2" charset="2"/>
              </a:rPr>
              <a:t>-  </a:t>
            </a:r>
            <a:r>
              <a:rPr lang="en-US" altLang="zh-CN" sz="2800" dirty="0">
                <a:sym typeface="Wingdings" pitchFamily="2" charset="2"/>
              </a:rPr>
              <a:t>       	Ag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1F=96500C	        	108g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x C		0.54g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x= 482.5C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Q= </a:t>
            </a:r>
            <a:r>
              <a:rPr lang="en-US" altLang="zh-CN" sz="2800" dirty="0">
                <a:latin typeface="+mn-ea"/>
                <a:sym typeface="Wingdings" pitchFamily="2" charset="2"/>
              </a:rPr>
              <a:t>I</a:t>
            </a:r>
            <a:r>
              <a:rPr lang="en-US" altLang="zh-CN" sz="2800" dirty="0">
                <a:sym typeface="Wingdings" pitchFamily="2" charset="2"/>
              </a:rPr>
              <a:t> t 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t = 482.5/0.5  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  = 965s</a:t>
            </a:r>
          </a:p>
          <a:p>
            <a:pPr marL="571500" indent="-571500">
              <a:spcBef>
                <a:spcPts val="0"/>
              </a:spcBef>
              <a:buAutoNum type="romanLcParenBoth" startAt="3"/>
            </a:pPr>
            <a:r>
              <a:rPr lang="en-US" altLang="zh-CN" sz="2800" dirty="0">
                <a:sym typeface="Wingdings" pitchFamily="2" charset="2"/>
              </a:rPr>
              <a:t>4OH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     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 + 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    +	 4e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71500" indent="-571500"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	     22.4L 	4F = 4x96500C	</a:t>
            </a:r>
          </a:p>
          <a:p>
            <a:pPr marL="571500" indent="-571500"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	      </a:t>
            </a:r>
            <a:r>
              <a:rPr lang="en-US" altLang="zh-CN" sz="2800" dirty="0" err="1">
                <a:sym typeface="Wingdings" pitchFamily="2" charset="2"/>
              </a:rPr>
              <a:t>yL</a:t>
            </a:r>
            <a:r>
              <a:rPr lang="en-US" altLang="zh-CN" sz="2800" dirty="0">
                <a:sym typeface="Wingdings" pitchFamily="2" charset="2"/>
              </a:rPr>
              <a:t>		482.5C</a:t>
            </a:r>
          </a:p>
          <a:p>
            <a:pPr marL="571500" indent="-571500">
              <a:spcBef>
                <a:spcPts val="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					y=0.028L </a:t>
            </a:r>
          </a:p>
          <a:p>
            <a:pPr marL="571500" indent="-571500">
              <a:spcBef>
                <a:spcPts val="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阳极产生的气体是氧气，在</a:t>
            </a:r>
            <a:r>
              <a:rPr lang="en-US" altLang="zh-CN" sz="2800" dirty="0">
                <a:sym typeface="Wingdings" pitchFamily="2" charset="2"/>
              </a:rPr>
              <a:t>STP</a:t>
            </a:r>
            <a:r>
              <a:rPr lang="zh-CN" altLang="en-US" sz="2800" dirty="0">
                <a:sym typeface="Wingdings" pitchFamily="2" charset="2"/>
              </a:rPr>
              <a:t>时体积为</a:t>
            </a:r>
            <a:r>
              <a:rPr lang="en-US" altLang="zh-CN" sz="2800" dirty="0">
                <a:sym typeface="Wingdings" pitchFamily="2" charset="2"/>
              </a:rPr>
              <a:t>0.028L</a:t>
            </a:r>
            <a:r>
              <a:rPr lang="zh-CN" altLang="en-US" sz="2800" dirty="0">
                <a:sym typeface="Wingdings" pitchFamily="2" charset="2"/>
              </a:rPr>
              <a:t>。</a:t>
            </a:r>
            <a:endParaRPr lang="en-US" altLang="zh-CN" sz="2800" dirty="0"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762794" y="18280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4418806" y="18280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2896394" y="48760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6552406" y="4876006"/>
            <a:ext cx="914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(1)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用惰性电极电解</a:t>
            </a:r>
            <a:r>
              <a:rPr lang="en-US" altLang="zh-CN" sz="3000" dirty="0">
                <a:sym typeface="Wingdings" pitchFamily="2" charset="2"/>
              </a:rPr>
              <a:t>M(NO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en-US" altLang="zh-CN" sz="3000" baseline="-25000" dirty="0">
                <a:sym typeface="Wingdings" pitchFamily="2" charset="2"/>
              </a:rPr>
              <a:t>x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的水溶液，当阴极上有</a:t>
            </a:r>
            <a:r>
              <a:rPr lang="en-US" altLang="zh-CN" sz="3000" dirty="0">
                <a:sym typeface="Wingdings" pitchFamily="2" charset="2"/>
              </a:rPr>
              <a:t>a g</a:t>
            </a:r>
            <a:r>
              <a:rPr lang="zh-CN" altLang="en-US" sz="3000" dirty="0">
                <a:sym typeface="Wingdings" pitchFamily="2" charset="2"/>
              </a:rPr>
              <a:t>沉淀物产生，同时在阳极上产生</a:t>
            </a:r>
            <a:r>
              <a:rPr lang="en-US" altLang="zh-CN" sz="3000" dirty="0">
                <a:sym typeface="Wingdings" pitchFamily="2" charset="2"/>
              </a:rPr>
              <a:t>b L</a:t>
            </a:r>
            <a:r>
              <a:rPr lang="zh-CN" altLang="en-US" sz="3000" dirty="0">
                <a:sym typeface="Wingdings" pitchFamily="2" charset="2"/>
              </a:rPr>
              <a:t>氧气（在</a:t>
            </a:r>
            <a:r>
              <a:rPr lang="en-US" altLang="zh-CN" sz="3000" dirty="0">
                <a:sym typeface="Wingdings" pitchFamily="2" charset="2"/>
              </a:rPr>
              <a:t>STP</a:t>
            </a:r>
            <a:r>
              <a:rPr lang="zh-CN" altLang="en-US" sz="3000" dirty="0">
                <a:sym typeface="Wingdings" pitchFamily="2" charset="2"/>
              </a:rPr>
              <a:t>）从而可知</a:t>
            </a:r>
            <a:r>
              <a:rPr lang="en-US" altLang="zh-CN" sz="3000" dirty="0">
                <a:sym typeface="Wingdings" pitchFamily="2" charset="2"/>
              </a:rPr>
              <a:t>M</a:t>
            </a:r>
            <a:r>
              <a:rPr lang="zh-CN" altLang="en-US" sz="3000" dirty="0">
                <a:sym typeface="Wingdings" pitchFamily="2" charset="2"/>
              </a:rPr>
              <a:t>的相对原子质量为</a:t>
            </a:r>
            <a:r>
              <a:rPr lang="en-US" altLang="zh-CN" sz="3000" dirty="0">
                <a:sym typeface="Wingdings" pitchFamily="2" charset="2"/>
              </a:rPr>
              <a:t>=</a:t>
            </a:r>
            <a:r>
              <a:rPr lang="zh-CN" altLang="en-US" sz="3000" dirty="0">
                <a:sym typeface="Wingdings" pitchFamily="2" charset="2"/>
              </a:rPr>
              <a:t>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+  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 +    4e</a:t>
            </a:r>
            <a:r>
              <a:rPr lang="en-US" altLang="zh-CN" sz="3000" baseline="30000" dirty="0">
                <a:sym typeface="Wingdings" pitchFamily="2" charset="2"/>
              </a:rPr>
              <a:t>-	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	  22.4L       4F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		    b L 	        </a:t>
            </a:r>
            <a:r>
              <a:rPr lang="en-US" altLang="zh-CN" sz="3000" dirty="0" err="1">
                <a:sym typeface="Wingdings" pitchFamily="2" charset="2"/>
              </a:rPr>
              <a:t>yF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M</a:t>
            </a:r>
            <a:r>
              <a:rPr lang="en-US" altLang="zh-CN" sz="3000" baseline="30000" dirty="0" err="1">
                <a:sym typeface="Wingdings" pitchFamily="2" charset="2"/>
              </a:rPr>
              <a:t>x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 + x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M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x F         Mg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y F	        a g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						b/5.6 = ax / M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   					      M = 5.6ax /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7400" y="3124200"/>
            <a:ext cx="216758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y= 4b / 22.4</a:t>
            </a:r>
          </a:p>
          <a:p>
            <a:r>
              <a:rPr lang="en-US" sz="3200" dirty="0"/>
              <a:t>  = b/5.6</a:t>
            </a:r>
            <a:endParaRPr lang="en-US" sz="30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7400" y="4673025"/>
            <a:ext cx="1735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y= ax / M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(2)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锂电池是新一代的高能电池。它以质轻，高能而受重视。某锂电池的总反应如下所示，若该电池提供</a:t>
            </a:r>
            <a:r>
              <a:rPr lang="en-US" altLang="zh-CN" sz="3000" dirty="0">
                <a:sym typeface="Wingdings" pitchFamily="2" charset="2"/>
              </a:rPr>
              <a:t>5C </a:t>
            </a:r>
            <a:r>
              <a:rPr lang="zh-CN" altLang="en-US" sz="3000" dirty="0">
                <a:sym typeface="Wingdings" pitchFamily="2" charset="2"/>
              </a:rPr>
              <a:t>点亮，则消耗正极的质量为</a:t>
            </a:r>
            <a:r>
              <a:rPr lang="en-US" altLang="zh-CN" sz="3000" dirty="0">
                <a:sym typeface="Wingdings" pitchFamily="2" charset="2"/>
              </a:rPr>
              <a:t>(Li=7,Mn=55,O=16)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Li  +  MnO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 LiMnO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供电即化学能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电能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原电池装置正极为还原反应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MnO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 + e</a:t>
            </a:r>
            <a:r>
              <a:rPr lang="en-US" altLang="zh-CN" sz="3000" baseline="30000" dirty="0">
                <a:sym typeface="Wingdings" pitchFamily="2" charset="2"/>
              </a:rPr>
              <a:t>-	 </a:t>
            </a:r>
            <a:r>
              <a:rPr lang="en-US" altLang="zh-CN" sz="3000" dirty="0">
                <a:sym typeface="Wingdings" pitchFamily="2" charset="2"/>
              </a:rPr>
              <a:t>  MnO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96500 C       87g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5 C             x g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		x= 4.51 x 10</a:t>
            </a:r>
            <a:r>
              <a:rPr lang="en-US" altLang="zh-CN" sz="3000" baseline="30000" dirty="0">
                <a:sym typeface="Wingdings" pitchFamily="2" charset="2"/>
              </a:rPr>
              <a:t>-3</a:t>
            </a:r>
            <a:r>
              <a:rPr lang="en-US" altLang="zh-CN" sz="3000" dirty="0">
                <a:sym typeface="Wingdings" pitchFamily="2" charset="2"/>
              </a:rPr>
              <a:t> g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(3)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当</a:t>
            </a:r>
            <a:r>
              <a:rPr lang="en-US" altLang="zh-CN" sz="3000" dirty="0">
                <a:sym typeface="Wingdings" pitchFamily="2" charset="2"/>
              </a:rPr>
              <a:t>3F</a:t>
            </a:r>
            <a:r>
              <a:rPr lang="zh-CN" altLang="en-US" sz="3000" dirty="0">
                <a:sym typeface="Wingdings" pitchFamily="2" charset="2"/>
              </a:rPr>
              <a:t>的电量通过一电解池，在阴极产生</a:t>
            </a:r>
            <a:r>
              <a:rPr lang="en-US" altLang="zh-CN" sz="3000" dirty="0">
                <a:sym typeface="Wingdings" pitchFamily="2" charset="2"/>
              </a:rPr>
              <a:t>80g</a:t>
            </a:r>
            <a:r>
              <a:rPr lang="zh-CN" altLang="en-US" sz="3000" dirty="0">
                <a:sym typeface="Wingdings" pitchFamily="2" charset="2"/>
              </a:rPr>
              <a:t>的元素</a:t>
            </a:r>
            <a:r>
              <a:rPr lang="en-US" altLang="zh-CN" sz="3000" dirty="0">
                <a:sym typeface="Wingdings" pitchFamily="2" charset="2"/>
              </a:rPr>
              <a:t>Q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Q</a:t>
            </a:r>
            <a:r>
              <a:rPr lang="zh-CN" altLang="en-US" sz="3000" dirty="0">
                <a:sym typeface="Wingdings" pitchFamily="2" charset="2"/>
              </a:rPr>
              <a:t>离子的化合价是</a:t>
            </a:r>
            <a:r>
              <a:rPr lang="en-US" altLang="zh-CN" sz="3000" dirty="0">
                <a:sym typeface="Wingdings" pitchFamily="2" charset="2"/>
              </a:rPr>
              <a:t>=</a:t>
            </a:r>
            <a:r>
              <a:rPr lang="zh-CN" altLang="en-US" sz="3000" dirty="0">
                <a:sym typeface="Wingdings" pitchFamily="2" charset="2"/>
              </a:rPr>
              <a:t>？（</a:t>
            </a:r>
            <a:r>
              <a:rPr lang="en-US" altLang="zh-CN" sz="3000" dirty="0">
                <a:sym typeface="Wingdings" pitchFamily="2" charset="2"/>
              </a:rPr>
              <a:t>Q</a:t>
            </a:r>
            <a:r>
              <a:rPr lang="zh-CN" altLang="en-US" sz="3000" dirty="0">
                <a:sym typeface="Wingdings" pitchFamily="2" charset="2"/>
              </a:rPr>
              <a:t>的相对原子质量</a:t>
            </a:r>
            <a:r>
              <a:rPr lang="en-US" altLang="zh-CN" sz="3000" dirty="0">
                <a:sym typeface="Wingdings" pitchFamily="2" charset="2"/>
              </a:rPr>
              <a:t>=160</a:t>
            </a:r>
            <a:r>
              <a:rPr lang="zh-CN" altLang="en-US" sz="3000" dirty="0">
                <a:sym typeface="Wingdings" pitchFamily="2" charset="2"/>
              </a:rPr>
              <a:t>）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Q</a:t>
            </a:r>
            <a:r>
              <a:rPr lang="en-US" altLang="zh-CN" sz="3000" baseline="30000" dirty="0" err="1">
                <a:sym typeface="Wingdings" pitchFamily="2" charset="2"/>
              </a:rPr>
              <a:t>x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 + x 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    Q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x F       	160 g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     3 F           80g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		x= 6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Q</a:t>
            </a:r>
            <a:r>
              <a:rPr lang="zh-CN" altLang="en-US" sz="3000" dirty="0">
                <a:sym typeface="Wingdings" pitchFamily="2" charset="2"/>
              </a:rPr>
              <a:t>离子化合价</a:t>
            </a:r>
            <a:r>
              <a:rPr lang="en-US" altLang="zh-CN" sz="3000" dirty="0">
                <a:sym typeface="Wingdings" pitchFamily="2" charset="2"/>
              </a:rPr>
              <a:t>=+6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(4)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利用电解法可将含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Pt</a:t>
            </a:r>
            <a:r>
              <a:rPr lang="zh-CN" altLang="en-US" sz="3000" dirty="0">
                <a:sym typeface="Wingdings" pitchFamily="2" charset="2"/>
              </a:rPr>
              <a:t>等杂质的粗铜提纯，下列叙述正确的是：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I </a:t>
            </a:r>
            <a:r>
              <a:rPr lang="zh-CN" altLang="en-US" sz="3000" dirty="0">
                <a:sym typeface="Wingdings" pitchFamily="2" charset="2"/>
              </a:rPr>
              <a:t>电解时以精铜作阳极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II </a:t>
            </a:r>
            <a:r>
              <a:rPr lang="zh-CN" altLang="en-US" sz="3000" dirty="0">
                <a:sym typeface="Wingdings" pitchFamily="2" charset="2"/>
              </a:rPr>
              <a:t>电解时阴极发生还原反应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III </a:t>
            </a:r>
            <a:r>
              <a:rPr lang="zh-CN" altLang="en-US" sz="3000" dirty="0">
                <a:sym typeface="Wingdings" pitchFamily="2" charset="2"/>
              </a:rPr>
              <a:t>粗铜连接电源负极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IV </a:t>
            </a:r>
            <a:r>
              <a:rPr lang="zh-CN" altLang="en-US" sz="3000" dirty="0">
                <a:sym typeface="Wingdings" pitchFamily="2" charset="2"/>
              </a:rPr>
              <a:t>电解后，电解槽底会形成少量</a:t>
            </a:r>
            <a:r>
              <a:rPr lang="en-US" altLang="zh-CN" sz="3000" dirty="0" err="1">
                <a:sym typeface="Wingdings" pitchFamily="2" charset="2"/>
              </a:rPr>
              <a:t>Ag,Pt</a:t>
            </a:r>
            <a:r>
              <a:rPr lang="zh-CN" altLang="en-US" sz="3000" dirty="0">
                <a:sym typeface="Wingdings" pitchFamily="2" charset="2"/>
              </a:rPr>
              <a:t>等金属阳极泥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A 1,2		B 3,4		C 2,4		D </a:t>
            </a:r>
            <a:r>
              <a:rPr lang="zh-CN" altLang="en-US" sz="3000" dirty="0">
                <a:sym typeface="Wingdings" pitchFamily="2" charset="2"/>
              </a:rPr>
              <a:t>其他组合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C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历届考题</a:t>
            </a:r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(5)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以</a:t>
            </a:r>
            <a:r>
              <a:rPr lang="en-US" altLang="zh-CN" sz="3000" dirty="0">
                <a:sym typeface="Wingdings" pitchFamily="2" charset="2"/>
              </a:rPr>
              <a:t>Pt</a:t>
            </a:r>
            <a:r>
              <a:rPr lang="zh-CN" altLang="en-US" sz="3000" dirty="0">
                <a:sym typeface="Wingdings" pitchFamily="2" charset="2"/>
              </a:rPr>
              <a:t>为电极电解稀硫酸铜溶液，若通入</a:t>
            </a:r>
            <a:r>
              <a:rPr lang="en-US" altLang="zh-CN" sz="3000" dirty="0">
                <a:sym typeface="Wingdings" pitchFamily="2" charset="2"/>
              </a:rPr>
              <a:t>1.5A</a:t>
            </a:r>
            <a:r>
              <a:rPr lang="zh-CN" altLang="en-US" sz="3000" dirty="0">
                <a:sym typeface="Wingdings" pitchFamily="2" charset="2"/>
              </a:rPr>
              <a:t>电流经过</a:t>
            </a:r>
            <a:r>
              <a:rPr lang="en-US" altLang="zh-CN" sz="3000" dirty="0">
                <a:sym typeface="Wingdings" pitchFamily="2" charset="2"/>
              </a:rPr>
              <a:t>30min</a:t>
            </a:r>
            <a:r>
              <a:rPr lang="zh-CN" altLang="en-US" sz="3000" dirty="0">
                <a:sym typeface="Wingdings" pitchFamily="2" charset="2"/>
              </a:rPr>
              <a:t>后，求</a:t>
            </a:r>
            <a:r>
              <a:rPr lang="en-US" altLang="zh-CN" sz="3000" dirty="0">
                <a:sym typeface="Wingdings" pitchFamily="2" charset="2"/>
              </a:rPr>
              <a:t>(a)</a:t>
            </a:r>
            <a:r>
              <a:rPr lang="zh-CN" altLang="en-US" sz="3000" dirty="0">
                <a:sym typeface="Wingdings" pitchFamily="2" charset="2"/>
              </a:rPr>
              <a:t>在阴极析出多少克的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zh-CN" altLang="en-US" sz="3000" dirty="0">
                <a:sym typeface="Wingdings" pitchFamily="2" charset="2"/>
              </a:rPr>
              <a:t>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(b)</a:t>
            </a:r>
            <a:r>
              <a:rPr lang="zh-CN" altLang="en-US" sz="3000" dirty="0">
                <a:sym typeface="Wingdings" pitchFamily="2" charset="2"/>
              </a:rPr>
              <a:t>若在</a:t>
            </a:r>
            <a:r>
              <a:rPr lang="en-US" altLang="zh-CN" sz="3000" dirty="0">
                <a:sym typeface="Wingdings" pitchFamily="2" charset="2"/>
              </a:rPr>
              <a:t>STP</a:t>
            </a:r>
            <a:r>
              <a:rPr lang="zh-CN" altLang="en-US" sz="3000" dirty="0">
                <a:sym typeface="Wingdings" pitchFamily="2" charset="2"/>
              </a:rPr>
              <a:t>时进行，阳极产生多少</a:t>
            </a:r>
            <a:r>
              <a:rPr lang="en-US" altLang="zh-CN" sz="3000" dirty="0">
                <a:sym typeface="Wingdings" pitchFamily="2" charset="2"/>
              </a:rPr>
              <a:t>L</a:t>
            </a:r>
            <a:r>
              <a:rPr lang="zh-CN" altLang="en-US" sz="3000" dirty="0">
                <a:sym typeface="Wingdings" pitchFamily="2" charset="2"/>
              </a:rPr>
              <a:t>的气体？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Q = I t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    = 1.5A x (30x60)s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    = 2700 C 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 + 2 e</a:t>
            </a:r>
            <a:r>
              <a:rPr lang="en-US" altLang="zh-CN" sz="3000" baseline="30000" dirty="0">
                <a:sym typeface="Wingdings" pitchFamily="2" charset="2"/>
              </a:rPr>
              <a:t>-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    Cu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    2(96500C)     64 g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	2700C           </a:t>
            </a:r>
            <a:r>
              <a:rPr lang="en-US" altLang="zh-CN" sz="3000" dirty="0" err="1">
                <a:sym typeface="Wingdings" pitchFamily="2" charset="2"/>
              </a:rPr>
              <a:t>xg</a:t>
            </a:r>
            <a:r>
              <a:rPr lang="en-US" altLang="zh-CN" sz="3000" dirty="0">
                <a:sym typeface="Wingdings" pitchFamily="2" charset="2"/>
              </a:rPr>
              <a:t>	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 		x= 0.90g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3541693"/>
            <a:ext cx="5791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4OH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  2 H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O  +   O</a:t>
            </a:r>
            <a:r>
              <a:rPr lang="en-US" altLang="zh-CN" sz="28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 +  4e</a:t>
            </a:r>
            <a:r>
              <a:rPr lang="en-US" altLang="zh-CN" sz="2800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buNone/>
            </a:pP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21860" y="5029200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y =0.16L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419600"/>
            <a:ext cx="2765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y L 	        2700C 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5867400" y="4038600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  <a:sym typeface="Wingdings" pitchFamily="2" charset="2"/>
              </a:rPr>
              <a:t>  22.4L    4(96500C)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金属的腐蚀：化学腐蚀、电化学腐蚀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化学腐蚀：金属与其他物质直接接触发生氧化还原反应而引起的腐蚀。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例：铁丝高温下直接与氧气反应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铜片与浓硫酸反应</a:t>
            </a:r>
            <a:endParaRPr lang="en-US" altLang="zh-CN" sz="26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铝与</a:t>
            </a:r>
            <a:r>
              <a:rPr lang="en-US" altLang="zh-CN" sz="2600" dirty="0" err="1">
                <a:sym typeface="Wingdings" pitchFamily="2" charset="2"/>
              </a:rPr>
              <a:t>NaOH</a:t>
            </a:r>
            <a:r>
              <a:rPr lang="en-US" altLang="zh-CN" sz="2600" dirty="0">
                <a:sym typeface="Wingdings" pitchFamily="2" charset="2"/>
              </a:rPr>
              <a:t>(</a:t>
            </a:r>
            <a:r>
              <a:rPr lang="en-US" altLang="zh-CN" sz="2600" dirty="0" err="1">
                <a:sym typeface="Wingdings" pitchFamily="2" charset="2"/>
              </a:rPr>
              <a:t>aq</a:t>
            </a:r>
            <a:r>
              <a:rPr lang="en-US" altLang="zh-CN" sz="2600" dirty="0">
                <a:sym typeface="Wingdings" pitchFamily="2" charset="2"/>
              </a:rPr>
              <a:t>)</a:t>
            </a:r>
            <a:r>
              <a:rPr lang="zh-CN" altLang="en-US" sz="2600" dirty="0">
                <a:sym typeface="Wingdings" pitchFamily="2" charset="2"/>
              </a:rPr>
              <a:t>反应</a:t>
            </a:r>
            <a:endParaRPr lang="en-US" altLang="zh-CN" sz="26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电化学腐蚀：不纯的金属或合金发生原电池反应，使较活泼的金属失去电子被氧化而引起的腐蚀。</a:t>
            </a:r>
            <a:endParaRPr lang="en-US" altLang="zh-CN" sz="3000" dirty="0">
              <a:sym typeface="Wingdings" pitchFamily="2" charset="2"/>
            </a:endParaRPr>
          </a:p>
          <a:p>
            <a:pPr lvl="1">
              <a:buFont typeface="Wingdings" pitchFamily="2" charset="2"/>
              <a:buChar char="v"/>
            </a:pPr>
            <a:r>
              <a:rPr lang="zh-CN" altLang="en-US" sz="2600" dirty="0">
                <a:sym typeface="Wingdings" pitchFamily="2" charset="2"/>
              </a:rPr>
              <a:t>例：钢铁在潮湿的空气中生锈</a:t>
            </a:r>
            <a:endParaRPr lang="en-US" altLang="zh-CN" sz="26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活动</a:t>
            </a:r>
            <a:r>
              <a:rPr lang="en-US" altLang="zh-CN" sz="3000" dirty="0">
                <a:sym typeface="Wingdings" pitchFamily="2" charset="2"/>
              </a:rPr>
              <a:t>7 </a:t>
            </a:r>
            <a:r>
              <a:rPr lang="zh-CN" altLang="en-US" sz="3000" dirty="0">
                <a:sym typeface="Wingdings" pitchFamily="2" charset="2"/>
              </a:rPr>
              <a:t>答案</a:t>
            </a:r>
            <a:r>
              <a:rPr lang="en-US" altLang="zh-CN" sz="3000" dirty="0">
                <a:sym typeface="Wingdings" pitchFamily="2" charset="2"/>
              </a:rPr>
              <a:t>pg322</a:t>
            </a: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构成铁</a:t>
            </a:r>
            <a:r>
              <a:rPr lang="en-US" altLang="zh-CN" sz="3000" dirty="0">
                <a:sym typeface="Wingdings" pitchFamily="2" charset="2"/>
              </a:rPr>
              <a:t>-</a:t>
            </a:r>
            <a:r>
              <a:rPr lang="zh-CN" altLang="en-US" sz="3000" dirty="0">
                <a:sym typeface="Wingdings" pitchFamily="2" charset="2"/>
              </a:rPr>
              <a:t>碳原电池，炭粉作为原电池的正极。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烧瓶中的铁发生了吸氧腐蚀，其中氧气在正极被消耗。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O(l) + 4e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buFont typeface="Wingdings" pitchFamily="2" charset="2"/>
              <a:buChar char="v"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钢铁的吸氧腐蚀，发生在钢铁表面的水膜酸性很弱或呈中性时。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铁</a:t>
            </a:r>
            <a:r>
              <a:rPr lang="en-US" altLang="zh-CN" sz="3000" dirty="0">
                <a:sym typeface="Wingdings" pitchFamily="2" charset="2"/>
              </a:rPr>
              <a:t>-</a:t>
            </a:r>
            <a:r>
              <a:rPr lang="zh-CN" altLang="en-US" sz="3000" dirty="0">
                <a:sym typeface="Wingdings" pitchFamily="2" charset="2"/>
              </a:rPr>
              <a:t>碳原电池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负极：</a:t>
            </a:r>
            <a:r>
              <a:rPr lang="en-US" altLang="zh-CN" sz="3000" dirty="0">
                <a:sym typeface="Wingdings" pitchFamily="2" charset="2"/>
              </a:rPr>
              <a:t>Fe(s) 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O(l) + 4e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4OH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 总反应： </a:t>
            </a:r>
            <a:r>
              <a:rPr lang="en-US" altLang="zh-CN" sz="3000" dirty="0">
                <a:sym typeface="Wingdings" pitchFamily="2" charset="2"/>
              </a:rPr>
              <a:t>2 Fe(s) +  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+ 2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O(l)   2 Fe(OH)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(s) 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铁锈的主要成分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  <a:sym typeface="Wingdings" pitchFamily="2" charset="2"/>
              </a:rPr>
              <a:t>·nH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2</a:t>
            </a:r>
            <a:r>
              <a:rPr lang="en-US" altLang="zh-CN" sz="3000" dirty="0">
                <a:cs typeface="Arial"/>
                <a:sym typeface="Wingdings" pitchFamily="2" charset="2"/>
              </a:rPr>
              <a:t>O</a:t>
            </a:r>
          </a:p>
          <a:p>
            <a:pPr lvl="1">
              <a:buFont typeface="Wingdings" pitchFamily="2" charset="2"/>
              <a:buChar char="v"/>
            </a:pPr>
            <a:r>
              <a:rPr lang="en-US" altLang="zh-CN" sz="2400" dirty="0">
                <a:sym typeface="Wingdings" pitchFamily="2" charset="2"/>
              </a:rPr>
              <a:t>Fe(OH)</a:t>
            </a:r>
            <a:r>
              <a:rPr lang="en-US" altLang="zh-CN" sz="2400" baseline="-25000" dirty="0">
                <a:sym typeface="Wingdings" pitchFamily="2" charset="2"/>
              </a:rPr>
              <a:t>2</a:t>
            </a:r>
            <a:r>
              <a:rPr lang="en-US" altLang="zh-CN" sz="2400" dirty="0">
                <a:sym typeface="Wingdings" pitchFamily="2" charset="2"/>
              </a:rPr>
              <a:t> (s) </a:t>
            </a:r>
            <a:r>
              <a:rPr lang="zh-CN" altLang="en-US" sz="2400" dirty="0">
                <a:sym typeface="Wingdings" pitchFamily="2" charset="2"/>
              </a:rPr>
              <a:t>被氧化 </a:t>
            </a:r>
            <a:r>
              <a:rPr lang="en-US" altLang="zh-CN" sz="2400" dirty="0">
                <a:sym typeface="Wingdings" pitchFamily="2" charset="2"/>
              </a:rPr>
              <a:t>Fe(OH)</a:t>
            </a:r>
            <a:r>
              <a:rPr lang="en-US" altLang="zh-CN" sz="2400" baseline="-25000" dirty="0">
                <a:sym typeface="Wingdings" pitchFamily="2" charset="2"/>
              </a:rPr>
              <a:t>3</a:t>
            </a:r>
            <a:r>
              <a:rPr lang="en-US" altLang="zh-CN" sz="2400" dirty="0">
                <a:sym typeface="Wingdings" pitchFamily="2" charset="2"/>
              </a:rPr>
              <a:t> (s) </a:t>
            </a:r>
            <a:r>
              <a:rPr lang="zh-CN" altLang="en-US" sz="2400" dirty="0">
                <a:sym typeface="Wingdings" pitchFamily="2" charset="2"/>
              </a:rPr>
              <a:t>，</a:t>
            </a:r>
            <a:r>
              <a:rPr lang="en-US" altLang="zh-CN" sz="2400" dirty="0">
                <a:sym typeface="Wingdings" pitchFamily="2" charset="2"/>
              </a:rPr>
              <a:t> Fe(OH)</a:t>
            </a:r>
            <a:r>
              <a:rPr lang="en-US" altLang="zh-CN" sz="2400" baseline="-25000" dirty="0">
                <a:sym typeface="Wingdings" pitchFamily="2" charset="2"/>
              </a:rPr>
              <a:t>3</a:t>
            </a:r>
            <a:r>
              <a:rPr lang="en-US" altLang="zh-CN" sz="2400" dirty="0">
                <a:sym typeface="Wingdings" pitchFamily="2" charset="2"/>
              </a:rPr>
              <a:t> (s) </a:t>
            </a:r>
            <a:r>
              <a:rPr lang="zh-CN" altLang="en-US" sz="2400" dirty="0">
                <a:sym typeface="Wingdings" pitchFamily="2" charset="2"/>
              </a:rPr>
              <a:t>脱去一部分水形成</a:t>
            </a:r>
            <a:r>
              <a:rPr lang="en-US" altLang="zh-CN" sz="2400" dirty="0">
                <a:sym typeface="Wingdings" pitchFamily="2" charset="2"/>
              </a:rPr>
              <a:t>Fe</a:t>
            </a:r>
            <a:r>
              <a:rPr lang="en-US" altLang="zh-CN" sz="2400" baseline="-25000" dirty="0">
                <a:sym typeface="Wingdings" pitchFamily="2" charset="2"/>
              </a:rPr>
              <a:t>2</a:t>
            </a:r>
            <a:r>
              <a:rPr lang="en-US" altLang="zh-CN" sz="2400" dirty="0">
                <a:sym typeface="Wingdings" pitchFamily="2" charset="2"/>
              </a:rPr>
              <a:t>O</a:t>
            </a:r>
            <a:r>
              <a:rPr lang="en-US" altLang="zh-CN" sz="2400" baseline="-25000" dirty="0">
                <a:sym typeface="Wingdings" pitchFamily="2" charset="2"/>
              </a:rPr>
              <a:t>3</a:t>
            </a:r>
            <a:r>
              <a:rPr lang="en-US" altLang="zh-CN" sz="2400" dirty="0">
                <a:cs typeface="Arial"/>
                <a:sym typeface="Wingdings" pitchFamily="2" charset="2"/>
              </a:rPr>
              <a:t>·nH</a:t>
            </a:r>
            <a:r>
              <a:rPr lang="en-US" altLang="zh-CN" sz="2400" baseline="-25000" dirty="0">
                <a:cs typeface="Arial"/>
                <a:sym typeface="Wingdings" pitchFamily="2" charset="2"/>
              </a:rPr>
              <a:t>2</a:t>
            </a:r>
            <a:r>
              <a:rPr lang="en-US" altLang="zh-CN" sz="2400" dirty="0">
                <a:cs typeface="Arial"/>
                <a:sym typeface="Wingdings" pitchFamily="2" charset="2"/>
              </a:rPr>
              <a:t>O</a:t>
            </a:r>
            <a:r>
              <a:rPr lang="zh-CN" altLang="en-US" sz="2400" dirty="0">
                <a:cs typeface="Arial"/>
                <a:sym typeface="Wingdings" pitchFamily="2" charset="2"/>
              </a:rPr>
              <a:t>。</a:t>
            </a:r>
            <a:endParaRPr lang="en-US" altLang="zh-CN" sz="26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钢铁的析氢腐蚀，发生于钢铁在酸性较强的溶液中。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铁</a:t>
            </a:r>
            <a:r>
              <a:rPr lang="en-US" altLang="zh-CN" sz="3000" dirty="0">
                <a:sym typeface="Wingdings" pitchFamily="2" charset="2"/>
              </a:rPr>
              <a:t>-</a:t>
            </a:r>
            <a:r>
              <a:rPr lang="zh-CN" altLang="en-US" sz="3000" dirty="0">
                <a:sym typeface="Wingdings" pitchFamily="2" charset="2"/>
              </a:rPr>
              <a:t>碳原电池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负极：</a:t>
            </a:r>
            <a:r>
              <a:rPr lang="en-US" altLang="zh-CN" sz="3000" dirty="0">
                <a:sym typeface="Wingdings" pitchFamily="2" charset="2"/>
              </a:rPr>
              <a:t>Fe(s) 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2H</a:t>
            </a:r>
            <a:r>
              <a:rPr lang="en-US" altLang="zh-CN" sz="3000" baseline="30000" dirty="0">
                <a:sym typeface="Wingdings" pitchFamily="2" charset="2"/>
              </a:rPr>
              <a:t>+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 总反应：</a:t>
            </a:r>
            <a:r>
              <a:rPr lang="en-US" altLang="zh-CN" sz="3000" dirty="0">
                <a:sym typeface="Wingdings" pitchFamily="2" charset="2"/>
              </a:rPr>
              <a:t> Fe(s) + 2H</a:t>
            </a:r>
            <a:r>
              <a:rPr lang="en-US" altLang="zh-CN" sz="3000" baseline="30000" dirty="0">
                <a:sym typeface="Wingdings" pitchFamily="2" charset="2"/>
              </a:rPr>
              <a:t>+ 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  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(g) 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随着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释出，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与 </a:t>
            </a:r>
            <a:r>
              <a:rPr lang="en-US" altLang="zh-CN" sz="3000" dirty="0">
                <a:sym typeface="Wingdings" pitchFamily="2" charset="2"/>
              </a:rPr>
              <a:t>OH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结合成</a:t>
            </a:r>
            <a:r>
              <a:rPr lang="en-US" altLang="zh-CN" sz="2800" dirty="0">
                <a:sym typeface="Wingdings" pitchFamily="2" charset="2"/>
              </a:rPr>
              <a:t>Fe(OH)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</a:t>
            </a:r>
            <a:endParaRPr lang="en-US" altLang="zh-CN" sz="30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铁锈的主要成分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cs typeface="Arial"/>
                <a:sym typeface="Wingdings" pitchFamily="2" charset="2"/>
              </a:rPr>
              <a:t>·nH</a:t>
            </a:r>
            <a:r>
              <a:rPr lang="en-US" altLang="zh-CN" sz="3000" baseline="-25000" dirty="0">
                <a:cs typeface="Arial"/>
                <a:sym typeface="Wingdings" pitchFamily="2" charset="2"/>
              </a:rPr>
              <a:t>2</a:t>
            </a:r>
            <a:r>
              <a:rPr lang="en-US" altLang="zh-CN" sz="3000" dirty="0">
                <a:cs typeface="Arial"/>
                <a:sym typeface="Wingdings" pitchFamily="2" charset="2"/>
              </a:rPr>
              <a:t>O</a:t>
            </a:r>
          </a:p>
          <a:p>
            <a:pPr lvl="1">
              <a:buFont typeface="Wingdings" pitchFamily="2" charset="2"/>
              <a:buChar char="v"/>
            </a:pPr>
            <a:r>
              <a:rPr lang="en-US" altLang="zh-CN" sz="2400" dirty="0">
                <a:sym typeface="Wingdings" pitchFamily="2" charset="2"/>
              </a:rPr>
              <a:t>Fe(OH)</a:t>
            </a:r>
            <a:r>
              <a:rPr lang="en-US" altLang="zh-CN" sz="2400" baseline="-25000" dirty="0">
                <a:sym typeface="Wingdings" pitchFamily="2" charset="2"/>
              </a:rPr>
              <a:t>2</a:t>
            </a:r>
            <a:r>
              <a:rPr lang="en-US" altLang="zh-CN" sz="2400" dirty="0">
                <a:sym typeface="Wingdings" pitchFamily="2" charset="2"/>
              </a:rPr>
              <a:t> (s) </a:t>
            </a:r>
            <a:r>
              <a:rPr lang="zh-CN" altLang="en-US" sz="2400" dirty="0">
                <a:sym typeface="Wingdings" pitchFamily="2" charset="2"/>
              </a:rPr>
              <a:t>被氧化 </a:t>
            </a:r>
            <a:r>
              <a:rPr lang="en-US" altLang="zh-CN" sz="2400" dirty="0">
                <a:sym typeface="Wingdings" pitchFamily="2" charset="2"/>
              </a:rPr>
              <a:t>Fe(OH)</a:t>
            </a:r>
            <a:r>
              <a:rPr lang="en-US" altLang="zh-CN" sz="2400" baseline="-25000" dirty="0">
                <a:sym typeface="Wingdings" pitchFamily="2" charset="2"/>
              </a:rPr>
              <a:t>3</a:t>
            </a:r>
            <a:r>
              <a:rPr lang="en-US" altLang="zh-CN" sz="2400" dirty="0">
                <a:sym typeface="Wingdings" pitchFamily="2" charset="2"/>
              </a:rPr>
              <a:t> (s) </a:t>
            </a:r>
            <a:r>
              <a:rPr lang="zh-CN" altLang="en-US" sz="2400" dirty="0">
                <a:sym typeface="Wingdings" pitchFamily="2" charset="2"/>
              </a:rPr>
              <a:t>，</a:t>
            </a:r>
            <a:r>
              <a:rPr lang="en-US" altLang="zh-CN" sz="2400" dirty="0">
                <a:sym typeface="Wingdings" pitchFamily="2" charset="2"/>
              </a:rPr>
              <a:t> Fe(OH)</a:t>
            </a:r>
            <a:r>
              <a:rPr lang="en-US" altLang="zh-CN" sz="2400" baseline="-25000" dirty="0">
                <a:sym typeface="Wingdings" pitchFamily="2" charset="2"/>
              </a:rPr>
              <a:t>3</a:t>
            </a:r>
            <a:r>
              <a:rPr lang="en-US" altLang="zh-CN" sz="2400" dirty="0">
                <a:sym typeface="Wingdings" pitchFamily="2" charset="2"/>
              </a:rPr>
              <a:t> (s) </a:t>
            </a:r>
            <a:r>
              <a:rPr lang="zh-CN" altLang="en-US" sz="2400" dirty="0">
                <a:sym typeface="Wingdings" pitchFamily="2" charset="2"/>
              </a:rPr>
              <a:t>脱去一部分水形成</a:t>
            </a:r>
            <a:r>
              <a:rPr lang="en-US" altLang="zh-CN" sz="2400" dirty="0">
                <a:sym typeface="Wingdings" pitchFamily="2" charset="2"/>
              </a:rPr>
              <a:t>Fe</a:t>
            </a:r>
            <a:r>
              <a:rPr lang="en-US" altLang="zh-CN" sz="2400" baseline="-25000" dirty="0">
                <a:sym typeface="Wingdings" pitchFamily="2" charset="2"/>
              </a:rPr>
              <a:t>2</a:t>
            </a:r>
            <a:r>
              <a:rPr lang="en-US" altLang="zh-CN" sz="2400" dirty="0">
                <a:sym typeface="Wingdings" pitchFamily="2" charset="2"/>
              </a:rPr>
              <a:t>O</a:t>
            </a:r>
            <a:r>
              <a:rPr lang="en-US" altLang="zh-CN" sz="2400" baseline="-25000" dirty="0">
                <a:sym typeface="Wingdings" pitchFamily="2" charset="2"/>
              </a:rPr>
              <a:t>3</a:t>
            </a:r>
            <a:r>
              <a:rPr lang="en-US" altLang="zh-CN" sz="2400" dirty="0">
                <a:cs typeface="Arial"/>
                <a:sym typeface="Wingdings" pitchFamily="2" charset="2"/>
              </a:rPr>
              <a:t>·nH</a:t>
            </a:r>
            <a:r>
              <a:rPr lang="en-US" altLang="zh-CN" sz="2400" baseline="-25000" dirty="0">
                <a:cs typeface="Arial"/>
                <a:sym typeface="Wingdings" pitchFamily="2" charset="2"/>
              </a:rPr>
              <a:t>2</a:t>
            </a:r>
            <a:r>
              <a:rPr lang="en-US" altLang="zh-CN" sz="2400" dirty="0">
                <a:cs typeface="Arial"/>
                <a:sym typeface="Wingdings" pitchFamily="2" charset="2"/>
              </a:rPr>
              <a:t>O</a:t>
            </a:r>
            <a:r>
              <a:rPr lang="zh-CN" altLang="en-US" sz="2400" dirty="0">
                <a:cs typeface="Arial"/>
                <a:sym typeface="Wingdings" pitchFamily="2" charset="2"/>
              </a:rPr>
              <a:t>。</a:t>
            </a:r>
            <a:endParaRPr lang="en-US" altLang="zh-CN" sz="2600" dirty="0">
              <a:sym typeface="Wingdings" pitchFamily="2" charset="2"/>
            </a:endParaRP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防止金属的腐蚀</a:t>
            </a:r>
            <a:endParaRPr lang="en-US" altLang="zh-CN" sz="28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方法</a:t>
            </a:r>
            <a:r>
              <a:rPr lang="en-US" altLang="zh-CN" sz="2800" dirty="0">
                <a:sym typeface="Wingdings" pitchFamily="2" charset="2"/>
              </a:rPr>
              <a:t>1</a:t>
            </a:r>
            <a:r>
              <a:rPr lang="zh-CN" altLang="en-US" sz="2800" dirty="0">
                <a:sym typeface="Wingdings" pitchFamily="2" charset="2"/>
              </a:rPr>
              <a:t>：在金属表面覆盖致密的保护层。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原理：使金属与空气、水等物质隔绝。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例：在铁表面涂油、喷漆、覆盖搪瓷、塑料、有机高分子薄膜等。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例：电镀、热镀、喷镀等方法，在金属表面镀上一层不容易被腐蚀的金属</a:t>
            </a:r>
            <a:r>
              <a:rPr lang="en-US" altLang="zh-CN" sz="2800" dirty="0">
                <a:sym typeface="Wingdings" pitchFamily="2" charset="2"/>
              </a:rPr>
              <a:t>– </a:t>
            </a:r>
            <a:r>
              <a:rPr lang="en-US" altLang="zh-CN" sz="2800" dirty="0" err="1">
                <a:sym typeface="Wingdings" pitchFamily="2" charset="2"/>
              </a:rPr>
              <a:t>Zn,Cr,Ni</a:t>
            </a:r>
            <a:r>
              <a:rPr lang="zh-CN" altLang="en-US" sz="2800" dirty="0">
                <a:sym typeface="Wingdings" pitchFamily="2" charset="2"/>
              </a:rPr>
              <a:t> ，这些金属能与氧气反应生成致密的氧化物薄膜。如：白铁、马口铁等。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例：使钢铁表面被氧化形成一层致密的氧化膜</a:t>
            </a:r>
            <a:r>
              <a:rPr lang="en-US" altLang="zh-CN" sz="2800" dirty="0">
                <a:sym typeface="Wingdings" pitchFamily="2" charset="2"/>
              </a:rPr>
              <a:t>Fe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zh-CN" altLang="en-US" sz="2800" dirty="0">
                <a:sym typeface="Wingdings" pitchFamily="2" charset="2"/>
              </a:rPr>
              <a:t>，从而达到保护作用。 </a:t>
            </a: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防止金属的腐蚀</a:t>
            </a:r>
            <a:r>
              <a:rPr lang="en-US" altLang="zh-CN" sz="2800" dirty="0">
                <a:sym typeface="Wingdings" pitchFamily="2" charset="2"/>
              </a:rPr>
              <a:t>pg325</a:t>
            </a:r>
          </a:p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方法</a:t>
            </a:r>
            <a:r>
              <a:rPr lang="en-US" altLang="zh-CN" sz="2800" dirty="0">
                <a:sym typeface="Wingdings" pitchFamily="2" charset="2"/>
              </a:rPr>
              <a:t>2. </a:t>
            </a:r>
            <a:r>
              <a:rPr lang="zh-CN" altLang="en-US" sz="2800" dirty="0">
                <a:sym typeface="Wingdings" pitchFamily="2" charset="2"/>
              </a:rPr>
              <a:t>名称：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牺牲阳极的阴极保护法</a:t>
            </a:r>
            <a:endParaRPr lang="en-US" altLang="zh-CN" sz="28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操作：在钢铁上连接比铁活泼的金属。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原理：更活泼的金属与铁构成原电池，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此活泼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金属作为负极（阳极）</a:t>
            </a:r>
            <a:r>
              <a:rPr lang="zh-CN" altLang="en-US" sz="2800" dirty="0">
                <a:sym typeface="Wingdings" pitchFamily="2" charset="2"/>
              </a:rPr>
              <a:t>不断被腐蚀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zh-CN" altLang="en-US" sz="2800" dirty="0">
                <a:sym typeface="Wingdings" pitchFamily="2" charset="2"/>
              </a:rPr>
              <a:t>需定期更换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，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铁作为正极（阴极</a:t>
            </a:r>
            <a:r>
              <a:rPr lang="zh-CN" altLang="en-US" sz="2800" dirty="0">
                <a:sym typeface="Wingdings" pitchFamily="2" charset="2"/>
              </a:rPr>
              <a:t>）而得到保护。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用途：保护海轮外壳及石油管道等。</a:t>
            </a:r>
            <a:endParaRPr lang="en-US" altLang="zh-CN" sz="28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交流分享</a:t>
            </a:r>
            <a:r>
              <a:rPr lang="en-US" altLang="zh-CN" sz="2800" dirty="0">
                <a:sym typeface="Wingdings" pitchFamily="2" charset="2"/>
              </a:rPr>
              <a:t>pg324</a:t>
            </a: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马口铁的</a:t>
            </a:r>
            <a:r>
              <a:rPr lang="en-US" altLang="zh-CN" sz="2800" dirty="0" err="1">
                <a:sym typeface="Wingdings" pitchFamily="2" charset="2"/>
              </a:rPr>
              <a:t>Sn</a:t>
            </a:r>
            <a:r>
              <a:rPr lang="zh-CN" altLang="en-US" sz="2800" dirty="0">
                <a:sym typeface="Wingdings" pitchFamily="2" charset="2"/>
              </a:rPr>
              <a:t>镀层损坏后就构成了</a:t>
            </a:r>
            <a:r>
              <a:rPr lang="en-US" altLang="zh-CN" sz="2800" dirty="0">
                <a:sym typeface="Wingdings" pitchFamily="2" charset="2"/>
              </a:rPr>
              <a:t>Fe-</a:t>
            </a:r>
            <a:r>
              <a:rPr lang="en-US" altLang="zh-CN" sz="2800" dirty="0" err="1">
                <a:sym typeface="Wingdings" pitchFamily="2" charset="2"/>
              </a:rPr>
              <a:t>Sn</a:t>
            </a:r>
            <a:r>
              <a:rPr lang="zh-CN" altLang="en-US" sz="2800" dirty="0">
                <a:sym typeface="Wingdings" pitchFamily="2" charset="2"/>
              </a:rPr>
              <a:t>原电池，铁比锡活泼，铁作为负极，加速了腐蚀。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zh-CN" altLang="en-US" sz="2800" dirty="0">
                <a:sym typeface="Wingdings" pitchFamily="2" charset="2"/>
              </a:rPr>
              <a:t>白铁的</a:t>
            </a:r>
            <a:r>
              <a:rPr lang="en-US" altLang="zh-CN" sz="2800" dirty="0">
                <a:sym typeface="Wingdings" pitchFamily="2" charset="2"/>
              </a:rPr>
              <a:t>Zn</a:t>
            </a:r>
            <a:r>
              <a:rPr lang="zh-CN" altLang="en-US" sz="2800" dirty="0">
                <a:sym typeface="Wingdings" pitchFamily="2" charset="2"/>
              </a:rPr>
              <a:t>镀层损坏后就构成了</a:t>
            </a:r>
            <a:r>
              <a:rPr lang="en-US" altLang="zh-CN" sz="2800" dirty="0">
                <a:sym typeface="Wingdings" pitchFamily="2" charset="2"/>
              </a:rPr>
              <a:t>Fe-Zn</a:t>
            </a:r>
            <a:r>
              <a:rPr lang="zh-CN" altLang="en-US" sz="2800" dirty="0">
                <a:sym typeface="Wingdings" pitchFamily="2" charset="2"/>
              </a:rPr>
              <a:t>原电池，锌比铁活泼，铁作为正极，不易被腐蚀。</a:t>
            </a: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防止金属的腐蚀</a:t>
            </a:r>
            <a:endParaRPr lang="en-US" altLang="zh-CN" sz="2800" dirty="0">
              <a:sym typeface="Wingdings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方法</a:t>
            </a:r>
            <a:r>
              <a:rPr lang="en-US" altLang="zh-CN" sz="2800" dirty="0">
                <a:sym typeface="Wingdings" pitchFamily="2" charset="2"/>
              </a:rPr>
              <a:t>3.</a:t>
            </a:r>
            <a:r>
              <a:rPr lang="zh-CN" altLang="en-US" sz="2800" dirty="0">
                <a:sym typeface="Wingdings" pitchFamily="2" charset="2"/>
              </a:rPr>
              <a:t>名称：</a:t>
            </a:r>
            <a:r>
              <a:rPr lang="zh-CN" altLang="en-US" sz="2800" b="1" dirty="0">
                <a:solidFill>
                  <a:srgbClr val="002060"/>
                </a:solidFill>
                <a:sym typeface="Wingdings" pitchFamily="2" charset="2"/>
              </a:rPr>
              <a:t>外加电流的阴极保护法</a:t>
            </a:r>
            <a:endParaRPr lang="en-US" altLang="zh-CN" sz="28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操作：外接直流电，被保护的钢铁（阴极）连接直流电的负极，直流电正极连接惰性电极（阳极），阴阳两极需处在电解质溶液中。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原理：通电后，电子从电源的负极流向钢铁，钢铁表面累积大量负电荷，抑制了钢铁失去电子，从而阻止钢铁的腐蚀。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用途：防止土壤、海水、河水中的金属设备被腐蚀。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方法</a:t>
            </a:r>
            <a:r>
              <a:rPr lang="en-US" altLang="zh-CN" sz="2800" dirty="0">
                <a:sym typeface="Wingdings" pitchFamily="2" charset="2"/>
              </a:rPr>
              <a:t>4</a:t>
            </a:r>
            <a:r>
              <a:rPr lang="zh-CN" altLang="en-US" sz="2800" dirty="0">
                <a:sym typeface="Wingdings" pitchFamily="2" charset="2"/>
              </a:rPr>
              <a:t>：改变金属内部结构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例：在钢铁中加入</a:t>
            </a:r>
            <a:r>
              <a:rPr lang="en-US" altLang="zh-CN" sz="2800" dirty="0">
                <a:sym typeface="Wingdings" pitchFamily="2" charset="2"/>
              </a:rPr>
              <a:t>Cr</a:t>
            </a:r>
            <a:r>
              <a:rPr lang="zh-CN" altLang="en-US" sz="2800" dirty="0">
                <a:sym typeface="Wingdings" pitchFamily="2" charset="2"/>
              </a:rPr>
              <a:t>、</a:t>
            </a:r>
            <a:r>
              <a:rPr lang="en-US" altLang="zh-CN" sz="2800" dirty="0">
                <a:sym typeface="Wingdings" pitchFamily="2" charset="2"/>
              </a:rPr>
              <a:t>Ni</a:t>
            </a:r>
            <a:r>
              <a:rPr lang="zh-CN" altLang="en-US" sz="2800" dirty="0">
                <a:sym typeface="Wingdings" pitchFamily="2" charset="2"/>
              </a:rPr>
              <a:t>等金属制成合金钢。</a:t>
            </a: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问题解决</a:t>
            </a:r>
            <a:r>
              <a:rPr lang="en-US" altLang="zh-CN" sz="3000" dirty="0">
                <a:sym typeface="Wingdings" pitchFamily="2" charset="2"/>
              </a:rPr>
              <a:t>pg324-325</a:t>
            </a:r>
          </a:p>
          <a:p>
            <a:pPr marL="514350" indent="-514350">
              <a:buAutoNum type="arabicPeriod"/>
            </a:pPr>
            <a:r>
              <a:rPr lang="zh-CN" altLang="en-US" sz="3000" dirty="0">
                <a:sym typeface="Wingdings" pitchFamily="2" charset="2"/>
              </a:rPr>
              <a:t>钢铁中含杂质碳，在海水中会构成原电池，铁作为负极而被腐蚀。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可以在钢铁表面涂上防锈漆等；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可在浸入海水里的轮船表面贴上</a:t>
            </a: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zh-CN" altLang="en-US" sz="3000" dirty="0">
                <a:sym typeface="Wingdings" pitchFamily="2" charset="2"/>
              </a:rPr>
              <a:t>等比铁活泼的金属构成原电池，钢铁作为正极而被保护。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可外加电源构成电解池，将钢铁与电源的负极相接。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外加电源，使钢铁与电源的负极相接，构成电解池，通电后电子从电源的负极流向钢铁，从而阻止钢铁的腐蚀。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-17463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24.4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金属的腐蚀和防护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562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zh-CN" altLang="en-US" sz="3000" dirty="0">
                <a:sym typeface="Wingdings" pitchFamily="2" charset="2"/>
              </a:rPr>
              <a:t>思考题</a:t>
            </a:r>
            <a:r>
              <a:rPr lang="en-US" altLang="zh-CN" sz="3000" dirty="0">
                <a:sym typeface="Wingdings" pitchFamily="2" charset="2"/>
              </a:rPr>
              <a:t>24g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1. B </a:t>
            </a:r>
            <a:r>
              <a:rPr lang="zh-CN" altLang="en-US" sz="3000" dirty="0">
                <a:sym typeface="Wingdings" pitchFamily="2" charset="2"/>
              </a:rPr>
              <a:t>铝比铁活泼，铝为负极，被腐蚀。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2. D</a:t>
            </a: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都是在金属表面覆盖一层保护层，防止金属与空气、水接触。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其中烤蓝是使钢铁表面被氧化形成一层致密的氧化膜，从而达到保护作用。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11638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C</a:t>
            </a:r>
          </a:p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A </a:t>
            </a:r>
            <a:r>
              <a:rPr lang="zh-CN" altLang="en-US" sz="3000" dirty="0">
                <a:sym typeface="Wingdings" pitchFamily="2" charset="2"/>
              </a:rPr>
              <a:t>一般是氧化还原反应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altLang="zh-CN" sz="3000" dirty="0">
                <a:sym typeface="Wingdings" pitchFamily="2" charset="2"/>
              </a:rPr>
              <a:t> Zn</a:t>
            </a:r>
            <a:r>
              <a:rPr lang="zh-CN" altLang="en-US" sz="3000" dirty="0">
                <a:sym typeface="Wingdings" pitchFamily="2" charset="2"/>
              </a:rPr>
              <a:t>极失去电子，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带正电荷，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吸引阴离子。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Cu</a:t>
            </a:r>
            <a:r>
              <a:rPr lang="zh-CN" altLang="en-US" sz="3000" dirty="0">
                <a:sym typeface="Wingdings" pitchFamily="2" charset="2"/>
              </a:rPr>
              <a:t>极充满负电荷，</a:t>
            </a:r>
            <a:r>
              <a:rPr lang="en-US" altLang="zh-CN" sz="3000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吸引阳离子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B</a:t>
            </a:r>
          </a:p>
          <a:p>
            <a:pPr marL="514350" indent="-514350">
              <a:buNone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原电池阴离子移向负极；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阳离子移向正极。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</p:txBody>
      </p:sp>
      <p:pic>
        <p:nvPicPr>
          <p:cNvPr id="5" name="Picture 4" descr="ZnCue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956375"/>
            <a:ext cx="4724400" cy="4077462"/>
          </a:xfrm>
          <a:prstGeom prst="rect">
            <a:avLst/>
          </a:prstGeom>
        </p:spPr>
      </p:pic>
      <p:sp>
        <p:nvSpPr>
          <p:cNvPr id="6" name="Curved Down Arrow 5"/>
          <p:cNvSpPr/>
          <p:nvPr/>
        </p:nvSpPr>
        <p:spPr>
          <a:xfrm>
            <a:off x="5638800" y="1118175"/>
            <a:ext cx="2590800" cy="762000"/>
          </a:xfrm>
          <a:prstGeom prst="curved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1216" y="533400"/>
            <a:ext cx="567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</a:t>
            </a:r>
            <a:r>
              <a:rPr lang="en-US" sz="32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77200" y="3480375"/>
            <a:ext cx="71846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-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</a:p>
          <a:p>
            <a:pPr>
              <a:buFontTx/>
              <a:buChar char="-"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-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</a:p>
          <a:p>
            <a:pPr>
              <a:buFontTx/>
              <a:buChar char="-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3480375"/>
            <a:ext cx="8627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    +</a:t>
            </a:r>
          </a:p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    +</a:t>
            </a:r>
          </a:p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/>
      <p:bldP spid="8" grpId="0"/>
      <p:bldP spid="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4. </a:t>
            </a:r>
            <a:r>
              <a:rPr lang="zh-CN" altLang="en-US" sz="2800" dirty="0">
                <a:sym typeface="Wingdings" pitchFamily="2" charset="2"/>
              </a:rPr>
              <a:t>一般金属腐蚀： 电解池阳极溶解速率</a:t>
            </a:r>
            <a:r>
              <a:rPr lang="en-US" altLang="zh-CN" sz="2800" dirty="0">
                <a:sym typeface="Wingdings" pitchFamily="2" charset="2"/>
              </a:rPr>
              <a:t>&gt;</a:t>
            </a:r>
            <a:r>
              <a:rPr lang="zh-CN" altLang="en-US" sz="2800" dirty="0">
                <a:sym typeface="Wingdings" pitchFamily="2" charset="2"/>
              </a:rPr>
              <a:t>原电池负极氧化速率</a:t>
            </a:r>
            <a:r>
              <a:rPr lang="en-US" altLang="zh-CN" sz="2800" dirty="0">
                <a:sym typeface="Wingdings" pitchFamily="2" charset="2"/>
              </a:rPr>
              <a:t>&gt;</a:t>
            </a:r>
            <a:r>
              <a:rPr lang="zh-CN" altLang="en-US" sz="2800" dirty="0">
                <a:sym typeface="Wingdings" pitchFamily="2" charset="2"/>
              </a:rPr>
              <a:t>化学腐蚀速率。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① </a:t>
            </a:r>
            <a:r>
              <a:rPr lang="zh-CN" altLang="en-US" sz="2800" dirty="0">
                <a:sym typeface="Wingdings" pitchFamily="2" charset="2"/>
              </a:rPr>
              <a:t>化学腐蚀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② </a:t>
            </a:r>
            <a:r>
              <a:rPr lang="zh-CN" altLang="en-US" sz="2800" dirty="0">
                <a:sym typeface="Wingdings" pitchFamily="2" charset="2"/>
              </a:rPr>
              <a:t>原电池装置，铁为负极，加快腐蚀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③ </a:t>
            </a:r>
            <a:r>
              <a:rPr lang="zh-CN" altLang="en-US" sz="2800" dirty="0">
                <a:sym typeface="Wingdings" pitchFamily="2" charset="2"/>
              </a:rPr>
              <a:t>原电池装置， 铁为正极，被保护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④ </a:t>
            </a:r>
            <a:r>
              <a:rPr lang="zh-CN" altLang="en-US" sz="2800" dirty="0">
                <a:sym typeface="Wingdings" pitchFamily="2" charset="2"/>
              </a:rPr>
              <a:t>电解装置，铁为阴极，被保护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⑤ </a:t>
            </a:r>
            <a:r>
              <a:rPr lang="zh-CN" altLang="en-US" sz="2800" dirty="0">
                <a:sym typeface="Wingdings" pitchFamily="2" charset="2"/>
              </a:rPr>
              <a:t>电解池装置，铁为阳极，加快腐蚀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en-US" altLang="zh-CN" sz="2800" dirty="0" err="1">
                <a:sym typeface="Wingdings" pitchFamily="2" charset="2"/>
              </a:rPr>
              <a:t>Ans</a:t>
            </a:r>
            <a:r>
              <a:rPr lang="en-US" altLang="zh-CN" sz="2800" dirty="0">
                <a:sym typeface="Wingdings" pitchFamily="2" charset="2"/>
              </a:rPr>
              <a:t>: B</a:t>
            </a:r>
          </a:p>
        </p:txBody>
      </p:sp>
      <p:pic>
        <p:nvPicPr>
          <p:cNvPr id="9" name="Picture 8" descr="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752600"/>
            <a:ext cx="8610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5. 	A Fe-Cu </a:t>
            </a:r>
            <a:r>
              <a:rPr lang="zh-CN" altLang="en-US" sz="3000" dirty="0">
                <a:sym typeface="Wingdings" pitchFamily="2" charset="2"/>
              </a:rPr>
              <a:t>构成原电池，铁为负极，加快腐蚀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B Fe-</a:t>
            </a:r>
            <a:r>
              <a:rPr lang="zh-CN" altLang="en-US" sz="3000" dirty="0">
                <a:sym typeface="Wingdings" pitchFamily="2" charset="2"/>
              </a:rPr>
              <a:t>石墨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构成原电池，铁为负极，加快腐蚀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C Fe-Zn </a:t>
            </a:r>
            <a:r>
              <a:rPr lang="zh-CN" altLang="en-US" sz="3000" dirty="0">
                <a:sym typeface="Wingdings" pitchFamily="2" charset="2"/>
              </a:rPr>
              <a:t>构成原电池，铁为正极，被保护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 </a:t>
            </a:r>
            <a:r>
              <a:rPr lang="zh-CN" altLang="en-US" sz="3000" dirty="0">
                <a:sym typeface="Wingdings" pitchFamily="2" charset="2"/>
              </a:rPr>
              <a:t>铁作为电解池阳极，加快腐蚀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 </a:t>
            </a:r>
            <a:r>
              <a:rPr lang="en-US" altLang="zh-CN" sz="3000" dirty="0">
                <a:sym typeface="Wingdings" pitchFamily="2" charset="2"/>
              </a:rPr>
              <a:t>C</a:t>
            </a:r>
          </a:p>
          <a:p>
            <a:pPr marL="514350" indent="-514350">
              <a:buAutoNum type="arabicPeriod" startAt="6"/>
            </a:pP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还原电势大，被还原为正极，</a:t>
            </a:r>
            <a:r>
              <a:rPr lang="en-US" altLang="zh-CN" sz="3000" dirty="0">
                <a:sym typeface="Wingdings" pitchFamily="2" charset="2"/>
              </a:rPr>
              <a:t>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= 0.8V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Mn</a:t>
            </a:r>
            <a:r>
              <a:rPr lang="zh-CN" altLang="en-US" sz="3000" dirty="0">
                <a:sym typeface="Wingdings" pitchFamily="2" charset="2"/>
              </a:rPr>
              <a:t>被氧化 为负极，氧化电势 </a:t>
            </a:r>
            <a:r>
              <a:rPr lang="en-US" altLang="zh-CN" sz="3000" dirty="0">
                <a:sym typeface="Wingdings" pitchFamily="2" charset="2"/>
              </a:rPr>
              <a:t>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= 1.19V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 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=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n-US" sz="2800" baseline="-25000" dirty="0"/>
              <a:t>-</a:t>
            </a:r>
            <a:r>
              <a:rPr lang="en-US" sz="2800" dirty="0"/>
              <a:t> + E</a:t>
            </a:r>
            <a:r>
              <a:rPr lang="en-US" sz="2800" baseline="-25000" dirty="0"/>
              <a:t>+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    		    = 1.19V + 0.8V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        = 1.99V  		</a:t>
            </a: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B 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7.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 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Cu + 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负极：氧化</a:t>
            </a: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被氧化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正极：还原</a:t>
            </a:r>
            <a:r>
              <a:rPr lang="en-US" altLang="zh-CN" sz="3000" dirty="0">
                <a:sym typeface="Wingdings" pitchFamily="2" charset="2"/>
              </a:rPr>
              <a:t>	Cu</a:t>
            </a:r>
            <a:r>
              <a:rPr lang="zh-CN" altLang="en-US" sz="3000" dirty="0">
                <a:sym typeface="Wingdings" pitchFamily="2" charset="2"/>
              </a:rPr>
              <a:t>被还原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=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n-US" sz="2800" baseline="-25000" dirty="0"/>
              <a:t>-</a:t>
            </a:r>
            <a:r>
              <a:rPr lang="en-US" sz="2800" dirty="0"/>
              <a:t> + E</a:t>
            </a:r>
            <a:r>
              <a:rPr lang="en-US" sz="2800" baseline="-25000" dirty="0"/>
              <a:t>+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baseline="-25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	= -1.36V + 0.34V </a:t>
            </a:r>
          </a:p>
          <a:p>
            <a:pPr marL="514350" indent="-514350">
              <a:buNone/>
            </a:pPr>
            <a:r>
              <a:rPr lang="en-US" altLang="zh-CN" sz="3000" baseline="-25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 	=-1.02V		</a:t>
            </a:r>
            <a:r>
              <a:rPr lang="en-US" altLang="zh-CN" sz="3000" dirty="0" err="1">
                <a:sym typeface="Wingdings" pitchFamily="2" charset="2"/>
              </a:rPr>
              <a:t>Ans:B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8. D </a:t>
            </a:r>
            <a:r>
              <a:rPr lang="zh-CN" altLang="en-US" sz="3000" dirty="0">
                <a:sym typeface="Wingdings" pitchFamily="2" charset="2"/>
              </a:rPr>
              <a:t>无法得知</a:t>
            </a:r>
            <a:r>
              <a:rPr lang="en-US" altLang="zh-CN" sz="3000" dirty="0">
                <a:sym typeface="Wingdings" pitchFamily="2" charset="2"/>
              </a:rPr>
              <a:t>B</a:t>
            </a:r>
            <a:r>
              <a:rPr lang="zh-CN" altLang="en-US" sz="3000" dirty="0">
                <a:sym typeface="Wingdings" pitchFamily="2" charset="2"/>
              </a:rPr>
              <a:t>与</a:t>
            </a: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zh-CN" altLang="en-US" sz="3000" dirty="0">
                <a:sym typeface="Wingdings" pitchFamily="2" charset="2"/>
              </a:rPr>
              <a:t>之间的活泼性，亦不知电位差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AutoNum type="arabicPeriod" startAt="9"/>
            </a:pPr>
            <a:r>
              <a:rPr lang="zh-CN" altLang="en-US" sz="3000" dirty="0">
                <a:sym typeface="Wingdings" pitchFamily="2" charset="2"/>
              </a:rPr>
              <a:t>离子浓度越大，电极电势越大。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增大</a:t>
            </a:r>
            <a:r>
              <a:rPr lang="en-US" altLang="zh-CN" sz="3000" dirty="0">
                <a:sym typeface="Wingdings" pitchFamily="2" charset="2"/>
              </a:rPr>
              <a:t>[Cu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]</a:t>
            </a:r>
            <a:r>
              <a:rPr lang="zh-CN" altLang="en-US" sz="3000" dirty="0">
                <a:sym typeface="Wingdings" pitchFamily="2" charset="2"/>
              </a:rPr>
              <a:t>，可增加正极的电极电势，从而增大电池的电压</a:t>
            </a:r>
            <a:endParaRPr lang="en-US" altLang="zh-CN" sz="26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B</a:t>
            </a:r>
            <a:endParaRPr lang="en-US" altLang="zh-CN" sz="3000" baseline="-25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10. </a:t>
            </a:r>
            <a:r>
              <a:rPr lang="zh-CN" altLang="en-US" sz="3000" dirty="0">
                <a:sym typeface="Wingdings" pitchFamily="2" charset="2"/>
              </a:rPr>
              <a:t>电池负极被氧化，电池装置为放电装置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放电时</a:t>
            </a:r>
            <a:r>
              <a:rPr lang="en-US" altLang="zh-CN" sz="3000" dirty="0" err="1">
                <a:sym typeface="Wingdings" pitchFamily="2" charset="2"/>
              </a:rPr>
              <a:t>Cd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被氧化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C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11. X-Y</a:t>
            </a:r>
            <a:r>
              <a:rPr lang="zh-CN" altLang="en-US" sz="3000" dirty="0">
                <a:sym typeface="Wingdings" pitchFamily="2" charset="2"/>
              </a:rPr>
              <a:t>原电池中，</a:t>
            </a:r>
            <a:r>
              <a:rPr lang="en-US" altLang="zh-CN" sz="3000" dirty="0">
                <a:sym typeface="Wingdings" pitchFamily="2" charset="2"/>
              </a:rPr>
              <a:t>Y</a:t>
            </a:r>
            <a:r>
              <a:rPr lang="zh-CN" altLang="en-US" sz="3000" dirty="0">
                <a:sym typeface="Wingdings" pitchFamily="2" charset="2"/>
              </a:rPr>
              <a:t>发生氧化反应而溶解，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		</a:t>
            </a:r>
            <a:r>
              <a:rPr lang="zh-CN" altLang="en-US" sz="3000" dirty="0">
                <a:sym typeface="Wingdings" pitchFamily="2" charset="2"/>
              </a:rPr>
              <a:t>活泼性</a:t>
            </a:r>
            <a:r>
              <a:rPr lang="en-US" altLang="zh-CN" sz="3000" dirty="0">
                <a:sym typeface="Wingdings" pitchFamily="2" charset="2"/>
              </a:rPr>
              <a:t>Y&gt;X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电解</a:t>
            </a:r>
            <a:r>
              <a:rPr lang="en-US" altLang="zh-CN" sz="3000" dirty="0">
                <a:sym typeface="Wingdings" pitchFamily="2" charset="2"/>
              </a:rPr>
              <a:t>X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Z</a:t>
            </a:r>
            <a:r>
              <a:rPr lang="zh-CN" altLang="en-US" sz="3000" dirty="0">
                <a:sym typeface="Wingdings" pitchFamily="2" charset="2"/>
              </a:rPr>
              <a:t>盐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时，</a:t>
            </a:r>
            <a:r>
              <a:rPr lang="en-US" altLang="zh-CN" sz="3000" dirty="0">
                <a:sym typeface="Wingdings" pitchFamily="2" charset="2"/>
              </a:rPr>
              <a:t>Z</a:t>
            </a:r>
            <a:r>
              <a:rPr lang="zh-CN" altLang="en-US" sz="3000" dirty="0">
                <a:sym typeface="Wingdings" pitchFamily="2" charset="2"/>
              </a:rPr>
              <a:t>离子易被还原，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		</a:t>
            </a:r>
            <a:r>
              <a:rPr lang="zh-CN" altLang="en-US" sz="3000" dirty="0">
                <a:sym typeface="Wingdings" pitchFamily="2" charset="2"/>
              </a:rPr>
              <a:t>活泼性</a:t>
            </a:r>
            <a:r>
              <a:rPr lang="en-US" altLang="zh-CN" sz="3000" dirty="0">
                <a:sym typeface="Wingdings" pitchFamily="2" charset="2"/>
              </a:rPr>
              <a:t>X&gt;Z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置换反应，</a:t>
            </a:r>
            <a:r>
              <a:rPr lang="en-US" altLang="zh-CN" sz="3000" dirty="0">
                <a:sym typeface="Wingdings" pitchFamily="2" charset="2"/>
              </a:rPr>
              <a:t>Y</a:t>
            </a:r>
            <a:r>
              <a:rPr lang="zh-CN" altLang="en-US" sz="3000" dirty="0">
                <a:sym typeface="Wingdings" pitchFamily="2" charset="2"/>
              </a:rPr>
              <a:t>离子被还原，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		</a:t>
            </a:r>
            <a:r>
              <a:rPr lang="zh-CN" altLang="en-US" sz="3000" dirty="0">
                <a:sym typeface="Wingdings" pitchFamily="2" charset="2"/>
              </a:rPr>
              <a:t>活泼性</a:t>
            </a:r>
            <a:r>
              <a:rPr lang="en-US" altLang="zh-CN" sz="3000" dirty="0">
                <a:sym typeface="Wingdings" pitchFamily="2" charset="2"/>
              </a:rPr>
              <a:t>M&gt;Y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C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12. </a:t>
            </a:r>
            <a:r>
              <a:rPr lang="zh-CN" altLang="en-US" sz="3000" dirty="0">
                <a:sym typeface="Wingdings" pitchFamily="2" charset="2"/>
              </a:rPr>
              <a:t>电解时，阳极只有</a:t>
            </a:r>
            <a:r>
              <a:rPr lang="en-US" altLang="zh-CN" sz="3000" dirty="0" err="1">
                <a:sym typeface="Wingdings" pitchFamily="2" charset="2"/>
              </a:rPr>
              <a:t>Cl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 熔融的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MgCl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没有水分子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D</a:t>
            </a:r>
            <a:r>
              <a:rPr lang="zh-CN" altLang="en-US" sz="3000" dirty="0">
                <a:sym typeface="Wingdings" pitchFamily="2" charset="2"/>
              </a:rPr>
              <a:t>为总反应</a:t>
            </a:r>
            <a:r>
              <a:rPr lang="en-US" altLang="zh-CN" sz="3000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 </a:t>
            </a:r>
            <a:r>
              <a:rPr lang="en-US" altLang="zh-CN" sz="3000" dirty="0">
                <a:sym typeface="Wingdings" pitchFamily="2" charset="2"/>
              </a:rPr>
              <a:t>C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13. </a:t>
            </a:r>
            <a:r>
              <a:rPr lang="zh-CN" altLang="en-US" sz="3000" dirty="0">
                <a:sym typeface="Wingdings" pitchFamily="2" charset="2"/>
              </a:rPr>
              <a:t>电解精炼，阳极：粗铜被氧化，阴极析出纯铜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B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14. Ag=108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Al=27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 + 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Ag 		Al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 + 3e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 Al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  1mol     108g			3mol	    27g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		? mol     9g</a:t>
            </a:r>
          </a:p>
          <a:p>
            <a:pPr marL="514350" indent="-514350">
              <a:buNone/>
            </a:pP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A x</a:t>
            </a:r>
            <a:r>
              <a:rPr lang="zh-CN" altLang="en-US" sz="3000" dirty="0">
                <a:sym typeface="Wingdings" pitchFamily="2" charset="2"/>
              </a:rPr>
              <a:t>个电子即</a:t>
            </a:r>
            <a:r>
              <a:rPr lang="en-US" altLang="zh-CN" sz="3000" dirty="0">
                <a:sym typeface="Wingdings" pitchFamily="2" charset="2"/>
              </a:rPr>
              <a:t>1mol</a:t>
            </a:r>
            <a:r>
              <a:rPr lang="zh-CN" altLang="en-US" sz="3000" dirty="0">
                <a:sym typeface="Wingdings" pitchFamily="2" charset="2"/>
              </a:rPr>
              <a:t>电子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选择题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15. </a:t>
            </a:r>
            <a:r>
              <a:rPr lang="zh-CN" altLang="en-US" sz="3000" dirty="0">
                <a:sym typeface="Wingdings" pitchFamily="2" charset="2"/>
              </a:rPr>
              <a:t>需</a:t>
            </a:r>
            <a:r>
              <a:rPr lang="en-US" altLang="zh-CN" sz="3000" dirty="0">
                <a:sym typeface="Wingdings" pitchFamily="2" charset="2"/>
              </a:rPr>
              <a:t>3F </a:t>
            </a:r>
            <a:r>
              <a:rPr lang="zh-CN" altLang="en-US" sz="3000" dirty="0">
                <a:sym typeface="Wingdings" pitchFamily="2" charset="2"/>
              </a:rPr>
              <a:t>才能析出</a:t>
            </a:r>
            <a:r>
              <a:rPr lang="en-US" altLang="zh-CN" sz="3000" dirty="0">
                <a:sym typeface="Wingdings" pitchFamily="2" charset="2"/>
              </a:rPr>
              <a:t>1mol</a:t>
            </a:r>
            <a:r>
              <a:rPr lang="zh-CN" altLang="en-US" sz="3000" dirty="0">
                <a:sym typeface="Wingdings" pitchFamily="2" charset="2"/>
              </a:rPr>
              <a:t>该金属，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表示该金属离子</a:t>
            </a:r>
            <a:r>
              <a:rPr lang="en-US" altLang="zh-CN" sz="3000" dirty="0">
                <a:sym typeface="Wingdings" pitchFamily="2" charset="2"/>
              </a:rPr>
              <a:t>+3</a:t>
            </a:r>
            <a:r>
              <a:rPr lang="zh-CN" altLang="en-US" sz="3000" dirty="0">
                <a:sym typeface="Wingdings" pitchFamily="2" charset="2"/>
              </a:rPr>
              <a:t>价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</a:t>
            </a:r>
            <a:r>
              <a:rPr lang="en-US" altLang="zh-CN" sz="3000" dirty="0">
                <a:sym typeface="Wingdings" pitchFamily="2" charset="2"/>
              </a:rPr>
              <a:t>D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16. </a:t>
            </a:r>
            <a:r>
              <a:rPr lang="zh-CN" altLang="en-US" sz="3000" dirty="0">
                <a:sym typeface="Wingdings" pitchFamily="2" charset="2"/>
              </a:rPr>
              <a:t>电解，阴极： </a:t>
            </a:r>
            <a:r>
              <a:rPr lang="en-US" altLang="zh-CN" sz="3000" dirty="0">
                <a:sym typeface="Wingdings" pitchFamily="2" charset="2"/>
              </a:rPr>
              <a:t>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Ag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较容易被还原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zh-CN" altLang="en-US" sz="3000" dirty="0">
                <a:sym typeface="Wingdings" pitchFamily="2" charset="2"/>
              </a:rPr>
              <a:t>： </a:t>
            </a:r>
            <a:r>
              <a:rPr lang="en-US" altLang="zh-CN" sz="3000" dirty="0">
                <a:sym typeface="Wingdings" pitchFamily="2" charset="2"/>
              </a:rPr>
              <a:t>A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问阳极产物是什么？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答：氧气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18. A </a:t>
            </a:r>
            <a:r>
              <a:rPr lang="zh-CN" altLang="en-US" sz="3000" dirty="0">
                <a:sym typeface="Wingdings" pitchFamily="2" charset="2"/>
              </a:rPr>
              <a:t>原电池负极氧化反应，</a:t>
            </a: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zh-CN" altLang="en-US" sz="3000" dirty="0">
                <a:sym typeface="Wingdings" pitchFamily="2" charset="2"/>
              </a:rPr>
              <a:t>被氧化为负极。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17. A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2800" u="sng" dirty="0">
                <a:sym typeface="Wingdings" pitchFamily="2" charset="2"/>
              </a:rPr>
              <a:t>铅蓄电池</a:t>
            </a:r>
            <a:endParaRPr lang="en-US" altLang="zh-CN" sz="2800" u="sng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放电时，化学能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电能（原电池原理）</a:t>
            </a: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负极：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正极：</a:t>
            </a:r>
            <a:r>
              <a:rPr lang="en-US" altLang="zh-CN" sz="2800" dirty="0">
                <a:sym typeface="Wingdings" pitchFamily="2" charset="2"/>
              </a:rPr>
              <a:t>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电解质溶液：</a:t>
            </a:r>
            <a:r>
              <a:rPr lang="en-US" altLang="zh-CN" sz="2800" dirty="0">
                <a:sym typeface="Wingdings" pitchFamily="2" charset="2"/>
              </a:rPr>
              <a:t>30%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负极：</a:t>
            </a:r>
            <a:r>
              <a:rPr lang="en-US" altLang="zh-CN" sz="2800" dirty="0">
                <a:sym typeface="Wingdings" pitchFamily="2" charset="2"/>
              </a:rPr>
              <a:t>		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(s) 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(s)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正极：</a:t>
            </a:r>
            <a:r>
              <a:rPr lang="en-US" altLang="zh-CN" sz="2800" dirty="0">
                <a:sym typeface="Wingdings" pitchFamily="2" charset="2"/>
              </a:rPr>
              <a:t>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 + 4H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 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总反应：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>
                <a:sym typeface="Wingdings" pitchFamily="2" charset="2"/>
              </a:rPr>
              <a:t>(s) + 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 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) 2PbSO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 (l)</a:t>
            </a:r>
          </a:p>
          <a:p>
            <a:pPr marL="514350" indent="-514350"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两极皆产生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</a:t>
            </a:r>
            <a:r>
              <a:rPr lang="zh-CN" altLang="en-US" sz="2800" dirty="0">
                <a:sym typeface="Wingdings" pitchFamily="2" charset="2"/>
              </a:rPr>
              <a:t>沉淀在两极上（充电时将被电解）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被消耗成水，浓度逐渐降低。（需充电）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24.1.2 </a:t>
            </a:r>
            <a:r>
              <a:rPr lang="zh-CN" altLang="en-US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+mn-ea"/>
              </a:rPr>
              <a:t>常用的化学电源</a:t>
            </a:r>
            <a:endParaRPr lang="en-US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zh-CN" altLang="en-US" sz="2800" u="sng" dirty="0">
                <a:sym typeface="Wingdings" pitchFamily="2" charset="2"/>
              </a:rPr>
              <a:t>铅蓄电池</a:t>
            </a:r>
            <a:endParaRPr lang="en-US" altLang="zh-CN" sz="2800" u="sng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充电时，电能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化学能（电解原理）</a:t>
            </a:r>
            <a:r>
              <a:rPr lang="en-US" altLang="zh-CN" sz="2800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阴极：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阳极：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阴极：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(s)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r>
              <a:rPr lang="en-US" altLang="zh-CN" sz="2800" dirty="0">
                <a:sym typeface="Wingdings" pitchFamily="2" charset="2"/>
              </a:rPr>
              <a:t> 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baseline="30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 (s) 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 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阳极：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 +2H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O(l)PbO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(s)+4H</a:t>
            </a:r>
            <a:r>
              <a:rPr lang="en-US" altLang="zh-CN" sz="2800" baseline="30000" dirty="0">
                <a:sym typeface="Wingdings" pitchFamily="2" charset="2"/>
              </a:rPr>
              <a:t>+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)+ 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baseline="30000" dirty="0">
                <a:sym typeface="Wingdings" pitchFamily="2" charset="2"/>
              </a:rPr>
              <a:t>2-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 + 2e</a:t>
            </a:r>
            <a:r>
              <a:rPr lang="en-US" altLang="zh-CN" sz="2800" baseline="30000" dirty="0">
                <a:sym typeface="Wingdings" pitchFamily="2" charset="2"/>
              </a:rPr>
              <a:t>-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总反应：</a:t>
            </a:r>
            <a:r>
              <a:rPr lang="en-US" altLang="zh-CN" sz="2800" dirty="0">
                <a:sym typeface="Wingdings" pitchFamily="2" charset="2"/>
              </a:rPr>
              <a:t>2PbSO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(s)+ 2H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 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>
                <a:sym typeface="Wingdings" pitchFamily="2" charset="2"/>
              </a:rPr>
              <a:t>(s) + 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(s) + 2H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为放电时的逆反应</a:t>
            </a:r>
            <a:endParaRPr lang="en-US" altLang="zh-CN" sz="2800" dirty="0">
              <a:sym typeface="Wingdings" pitchFamily="2" charset="2"/>
            </a:endParaRPr>
          </a:p>
          <a:p>
            <a:pPr marL="514350" indent="-514350">
              <a:buFont typeface="Wingdings" pitchFamily="2" charset="2"/>
              <a:buChar char="v"/>
            </a:pPr>
            <a:r>
              <a:rPr lang="zh-CN" altLang="en-US" sz="2800" dirty="0">
                <a:sym typeface="Wingdings" pitchFamily="2" charset="2"/>
              </a:rPr>
              <a:t>两极皆将</a:t>
            </a:r>
            <a:r>
              <a:rPr lang="en-US" altLang="zh-CN" sz="2800" dirty="0">
                <a:sym typeface="Wingdings" pitchFamily="2" charset="2"/>
              </a:rPr>
              <a:t>PbSO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zh-CN" altLang="en-US" sz="2800" dirty="0">
                <a:sym typeface="Wingdings" pitchFamily="2" charset="2"/>
              </a:rPr>
              <a:t>沉淀除去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zh-CN" altLang="en-US" sz="2800" dirty="0">
                <a:sym typeface="Wingdings" pitchFamily="2" charset="2"/>
              </a:rPr>
              <a:t>阳极产生</a:t>
            </a:r>
            <a:r>
              <a:rPr lang="en-US" altLang="zh-CN" sz="2800" dirty="0">
                <a:sym typeface="Wingdings" pitchFamily="2" charset="2"/>
              </a:rPr>
              <a:t>PbO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,</a:t>
            </a:r>
            <a:r>
              <a:rPr lang="zh-CN" altLang="en-US" sz="2800" dirty="0">
                <a:sym typeface="Wingdings" pitchFamily="2" charset="2"/>
              </a:rPr>
              <a:t>阴极产生</a:t>
            </a:r>
            <a:r>
              <a:rPr lang="en-US" altLang="zh-CN" sz="2800" dirty="0" err="1">
                <a:sym typeface="Wingdings" pitchFamily="2" charset="2"/>
              </a:rPr>
              <a:t>Pb</a:t>
            </a:r>
            <a:r>
              <a:rPr lang="en-US" altLang="zh-CN" sz="2800" dirty="0">
                <a:sym typeface="Wingdings" pitchFamily="2" charset="2"/>
              </a:rPr>
              <a:t>)</a:t>
            </a:r>
          </a:p>
          <a:p>
            <a:pPr marL="514350" indent="-514350">
              <a:buFont typeface="Wingdings" pitchFamily="2" charset="2"/>
              <a:buChar char="v"/>
            </a:pP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(</a:t>
            </a:r>
            <a:r>
              <a:rPr lang="en-US" altLang="zh-CN" sz="2800" dirty="0" err="1">
                <a:sym typeface="Wingdings" pitchFamily="2" charset="2"/>
              </a:rPr>
              <a:t>aq</a:t>
            </a:r>
            <a:r>
              <a:rPr lang="en-US" altLang="zh-CN" sz="2800" dirty="0">
                <a:sym typeface="Wingdings" pitchFamily="2" charset="2"/>
              </a:rPr>
              <a:t>)</a:t>
            </a:r>
            <a:r>
              <a:rPr lang="zh-CN" altLang="en-US" sz="2800" dirty="0">
                <a:sym typeface="Wingdings" pitchFamily="2" charset="2"/>
              </a:rPr>
              <a:t>再度产生</a:t>
            </a:r>
            <a:endParaRPr lang="en-US" altLang="zh-CN" sz="28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1(2)(3),3,4,5,7(2)(4),9,13,14,15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1. (1)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/Zn 	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sz="2800" baseline="30000" dirty="0" err="1"/>
              <a:t>o</a:t>
            </a:r>
            <a:r>
              <a:rPr lang="en-US" sz="2800" dirty="0"/>
              <a:t> =</a:t>
            </a:r>
            <a:r>
              <a:rPr lang="en-US" altLang="zh-CN" sz="3000" dirty="0">
                <a:sym typeface="Wingdings" pitchFamily="2" charset="2"/>
              </a:rPr>
              <a:t> -0.76 V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/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r>
              <a:rPr lang="en-US" altLang="zh-CN" sz="3000" dirty="0">
                <a:sym typeface="Wingdings" pitchFamily="2" charset="2"/>
              </a:rPr>
              <a:t> 	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sz="2800" baseline="30000" dirty="0" err="1"/>
              <a:t>o</a:t>
            </a:r>
            <a:r>
              <a:rPr lang="en-US" sz="2800" dirty="0"/>
              <a:t> =</a:t>
            </a:r>
            <a:r>
              <a:rPr lang="en-US" altLang="zh-CN" sz="3000" dirty="0">
                <a:sym typeface="Wingdings" pitchFamily="2" charset="2"/>
              </a:rPr>
              <a:t> -0.14 V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负极：    </a:t>
            </a:r>
            <a:r>
              <a:rPr lang="en-US" altLang="zh-CN" sz="3000" dirty="0">
                <a:sym typeface="Wingdings" pitchFamily="2" charset="2"/>
              </a:rPr>
              <a:t>Zn 	      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</a:t>
            </a:r>
            <a:r>
              <a:rPr lang="zh-CN" altLang="en-US" sz="3000" dirty="0">
                <a:sym typeface="Wingdings" pitchFamily="2" charset="2"/>
              </a:rPr>
              <a:t>氧化反应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正极： 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r>
              <a:rPr lang="en-US" altLang="zh-CN" sz="3000" dirty="0">
                <a:sym typeface="Wingdings" pitchFamily="2" charset="2"/>
              </a:rPr>
              <a:t> 		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原电池的化学方程式： 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Zn(s) +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 Zn</a:t>
            </a:r>
            <a:r>
              <a:rPr lang="en-US" altLang="zh-CN" sz="3000" baseline="30000" dirty="0">
                <a:sym typeface="Wingdings" pitchFamily="2" charset="2"/>
              </a:rPr>
              <a:t>2+ 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+ 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r>
              <a:rPr lang="en-US" altLang="zh-CN" sz="3000" dirty="0">
                <a:sym typeface="Wingdings" pitchFamily="2" charset="2"/>
              </a:rPr>
              <a:t>(s) 	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电池的标准电位差</a:t>
            </a:r>
            <a:r>
              <a:rPr lang="en-US" altLang="zh-CN" sz="3000" dirty="0">
                <a:sym typeface="Wingdings" pitchFamily="2" charset="2"/>
              </a:rPr>
              <a:t>     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=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n-US" sz="2800" baseline="-25000" dirty="0"/>
              <a:t>-</a:t>
            </a:r>
            <a:r>
              <a:rPr lang="en-US" sz="2800" dirty="0"/>
              <a:t> + E</a:t>
            </a:r>
            <a:r>
              <a:rPr lang="en-US" sz="2800" baseline="-25000" dirty="0"/>
              <a:t>+ </a:t>
            </a:r>
            <a:r>
              <a:rPr lang="en-US" altLang="zh-CN" sz="3000" dirty="0">
                <a:sym typeface="Wingdings" pitchFamily="2" charset="2"/>
              </a:rPr>
              <a:t>= 0.76V+(-0.14V)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		    		= 0.62V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反应可自发进行，电子从</a:t>
            </a:r>
            <a:r>
              <a:rPr lang="en-US" altLang="zh-CN" sz="3000" dirty="0">
                <a:sym typeface="Wingdings" pitchFamily="2" charset="2"/>
              </a:rPr>
              <a:t>Zn</a:t>
            </a:r>
            <a:r>
              <a:rPr lang="zh-CN" altLang="en-US" sz="3000" dirty="0">
                <a:sym typeface="Wingdings" pitchFamily="2" charset="2"/>
              </a:rPr>
              <a:t>电极流向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r>
              <a:rPr lang="zh-CN" altLang="en-US" sz="3000" dirty="0">
                <a:sym typeface="Wingdings" pitchFamily="2" charset="2"/>
              </a:rPr>
              <a:t>电极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电池符号 </a:t>
            </a:r>
            <a:r>
              <a:rPr lang="en-US" altLang="zh-CN" sz="3000" dirty="0">
                <a:sym typeface="Wingdings" pitchFamily="2" charset="2"/>
              </a:rPr>
              <a:t>Zn /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en-US" altLang="zh-CN" sz="3000" dirty="0">
                <a:sym typeface="Wingdings" pitchFamily="2" charset="2"/>
              </a:rPr>
              <a:t> Sn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/ </a:t>
            </a:r>
            <a:r>
              <a:rPr lang="en-US" altLang="zh-CN" sz="3000" dirty="0" err="1">
                <a:sym typeface="Wingdings" pitchFamily="2" charset="2"/>
              </a:rPr>
              <a:t>Sn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AutoNum type="arabicPeriod" startAt="2"/>
            </a:pPr>
            <a:r>
              <a:rPr lang="zh-CN" altLang="en-US" sz="3000" dirty="0">
                <a:sym typeface="Wingdings" pitchFamily="2" charset="2"/>
              </a:rPr>
              <a:t>提示：氧化反应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zh-CN" altLang="en-US" sz="3000" dirty="0">
                <a:sym typeface="Wingdings" pitchFamily="2" charset="2"/>
              </a:rPr>
              <a:t>还原反应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这反应需用到惰性电极</a:t>
            </a:r>
            <a:r>
              <a:rPr lang="en-US" altLang="zh-CN" sz="3000" dirty="0">
                <a:sym typeface="Wingdings" pitchFamily="2" charset="2"/>
              </a:rPr>
              <a:t>Pt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请画出原电池装置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Pt(s)l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)l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en-US" altLang="zh-CN" sz="3000" dirty="0" err="1">
                <a:sym typeface="Wingdings" pitchFamily="2" charset="2"/>
              </a:rPr>
              <a:t>ll</a:t>
            </a:r>
            <a:r>
              <a:rPr lang="en-US" altLang="zh-CN" sz="3000" dirty="0">
                <a:sym typeface="Wingdings" pitchFamily="2" charset="2"/>
              </a:rPr>
              <a:t> Cr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7</a:t>
            </a:r>
            <a:r>
              <a:rPr lang="en-US" altLang="zh-CN" sz="3000" baseline="30000" dirty="0">
                <a:sym typeface="Wingdings" pitchFamily="2" charset="2"/>
              </a:rPr>
              <a:t>2-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)l Cr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)l Pt(s)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5. </a:t>
            </a:r>
            <a:r>
              <a:rPr lang="zh-CN" altLang="en-US" sz="3000" dirty="0">
                <a:sym typeface="Wingdings" pitchFamily="2" charset="2"/>
              </a:rPr>
              <a:t>参考</a:t>
            </a:r>
            <a:r>
              <a:rPr lang="en-US" altLang="zh-CN" sz="3000" dirty="0">
                <a:sym typeface="Wingdings" pitchFamily="2" charset="2"/>
              </a:rPr>
              <a:t>pg302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还原电位越大，越容易被还原，氧化性越强。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6. </a:t>
            </a:r>
            <a:r>
              <a:rPr lang="zh-CN" altLang="en-US" sz="3000" dirty="0">
                <a:sym typeface="Wingdings" pitchFamily="2" charset="2"/>
              </a:rPr>
              <a:t>参考</a:t>
            </a:r>
            <a:r>
              <a:rPr lang="en-US" altLang="zh-CN" sz="3000" dirty="0">
                <a:sym typeface="Wingdings" pitchFamily="2" charset="2"/>
              </a:rPr>
              <a:t>pg302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还原性：</a:t>
            </a:r>
            <a:r>
              <a:rPr lang="en-US" altLang="zh-CN" sz="3000" dirty="0">
                <a:sym typeface="Wingdings" pitchFamily="2" charset="2"/>
              </a:rPr>
              <a:t>FeCl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&lt; KI &lt; SnCl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&lt;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&lt; Al &lt; Mg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	</a:t>
            </a:r>
            <a:r>
              <a:rPr lang="zh-CN" altLang="en-US" sz="3000" dirty="0">
                <a:sym typeface="Wingdings" pitchFamily="2" charset="2"/>
              </a:rPr>
              <a:t>氧化产物：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I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Sn</a:t>
            </a:r>
            <a:r>
              <a:rPr lang="en-US" altLang="zh-CN" sz="3000" baseline="30000" dirty="0">
                <a:sym typeface="Wingdings" pitchFamily="2" charset="2"/>
              </a:rPr>
              <a:t>4+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30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Al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、</a:t>
            </a:r>
            <a:r>
              <a:rPr lang="en-US" altLang="zh-CN" sz="3000" dirty="0">
                <a:sym typeface="Wingdings" pitchFamily="2" charset="2"/>
              </a:rPr>
              <a:t>Mg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7.(1) 	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/ Zn  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sz="2800" baseline="30000" dirty="0" err="1"/>
              <a:t>o</a:t>
            </a:r>
            <a:r>
              <a:rPr lang="en-US" sz="2800" dirty="0"/>
              <a:t>  = -0.76V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Ni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/ Ni 	</a:t>
            </a:r>
            <a:r>
              <a:rPr lang="en-US" altLang="zh-CN" sz="2800" dirty="0" err="1">
                <a:sym typeface="Wingdings" pitchFamily="2" charset="2"/>
              </a:rPr>
              <a:t>E</a:t>
            </a:r>
            <a:r>
              <a:rPr lang="en-US" sz="2800" baseline="30000" dirty="0" err="1"/>
              <a:t>o</a:t>
            </a:r>
            <a:r>
              <a:rPr lang="en-US" sz="2800" dirty="0"/>
              <a:t> = -0.23V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负极氧化反应： </a:t>
            </a:r>
            <a:r>
              <a:rPr lang="en-US" altLang="zh-CN" sz="3000" dirty="0">
                <a:sym typeface="Wingdings" pitchFamily="2" charset="2"/>
              </a:rPr>
              <a:t>Zn       Zn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正极还原反应： </a:t>
            </a:r>
            <a:r>
              <a:rPr lang="en-US" altLang="zh-CN" sz="3000" dirty="0">
                <a:sym typeface="Wingdings" pitchFamily="2" charset="2"/>
              </a:rPr>
              <a:t>Ni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Ni 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=</a:t>
            </a:r>
            <a:r>
              <a:rPr lang="el-GR" sz="2800" dirty="0"/>
              <a:t> </a:t>
            </a:r>
            <a:r>
              <a:rPr lang="en-US" sz="2800" dirty="0"/>
              <a:t>E</a:t>
            </a:r>
            <a:r>
              <a:rPr lang="en-US" sz="2800" baseline="-25000" dirty="0"/>
              <a:t>-</a:t>
            </a:r>
            <a:r>
              <a:rPr lang="en-US" sz="2800" dirty="0"/>
              <a:t> + E</a:t>
            </a:r>
            <a:r>
              <a:rPr lang="en-US" sz="2800" baseline="-25000" dirty="0"/>
              <a:t>+</a:t>
            </a:r>
            <a:endParaRPr lang="en-US" altLang="zh-CN" sz="3000" baseline="30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baseline="30000" dirty="0">
                <a:sym typeface="Wingdings" pitchFamily="2" charset="2"/>
              </a:rPr>
              <a:t>			</a:t>
            </a:r>
            <a:r>
              <a:rPr lang="en-US" altLang="zh-CN" sz="3000" dirty="0">
                <a:sym typeface="Wingdings" pitchFamily="2" charset="2"/>
              </a:rPr>
              <a:t>    = 0.76V + (-0.23V)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	    = 0.53V  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 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&gt; 0 </a:t>
            </a:r>
            <a:r>
              <a:rPr lang="zh-CN" altLang="en-US" sz="3000" dirty="0">
                <a:sym typeface="Wingdings" pitchFamily="2" charset="2"/>
              </a:rPr>
              <a:t>，可反应。</a:t>
            </a: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8.</a:t>
            </a:r>
            <a:r>
              <a:rPr lang="zh-CN" altLang="en-US" sz="3000" dirty="0">
                <a:sym typeface="Wingdings" pitchFamily="2" charset="2"/>
              </a:rPr>
              <a:t>正极： 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Cu  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=0.34V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负极： </a:t>
            </a:r>
            <a:r>
              <a:rPr lang="en-US" altLang="zh-CN" sz="3000" dirty="0">
                <a:sym typeface="Wingdings" pitchFamily="2" charset="2"/>
              </a:rPr>
              <a:t>Fe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 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= 0.44V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或负极： </a:t>
            </a:r>
            <a:r>
              <a:rPr lang="en-US" altLang="zh-CN" sz="3000" dirty="0">
                <a:sym typeface="Wingdings" pitchFamily="2" charset="2"/>
              </a:rPr>
              <a:t>Fe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+ 3e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  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= 0.036V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+ Fe  Cu +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	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baseline="-25000" dirty="0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= 0.78V 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 3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+ 2 Fe  3 Cu +  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 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baseline="-25000" dirty="0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= 0.376V 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电位差</a:t>
            </a:r>
            <a:r>
              <a:rPr lang="en-US" altLang="zh-CN" sz="3000" dirty="0">
                <a:sym typeface="Wingdings" pitchFamily="2" charset="2"/>
              </a:rPr>
              <a:t>(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)</a:t>
            </a:r>
            <a:r>
              <a:rPr lang="zh-CN" altLang="en-US" sz="3000" dirty="0">
                <a:sym typeface="Wingdings" pitchFamily="2" charset="2"/>
              </a:rPr>
              <a:t>较大者比较容易进行，所以氧化产物为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或 氧化电势越大，越容易被氧化，还原性强。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/Fe </a:t>
            </a:r>
            <a:r>
              <a:rPr lang="zh-CN" altLang="en-US" sz="3000" dirty="0">
                <a:sym typeface="Wingdings" pitchFamily="2" charset="2"/>
              </a:rPr>
              <a:t>的还原性比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/Fe</a:t>
            </a:r>
            <a:r>
              <a:rPr lang="zh-CN" altLang="en-US" sz="3000" dirty="0">
                <a:sym typeface="Wingdings" pitchFamily="2" charset="2"/>
              </a:rPr>
              <a:t>强，所以氧化产物为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9. </a:t>
            </a:r>
            <a:r>
              <a:rPr lang="zh-CN" altLang="en-US" sz="3000" dirty="0">
                <a:sym typeface="Wingdings" pitchFamily="2" charset="2"/>
              </a:rPr>
              <a:t>在配制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溶液时加入少量铁丝，目的是防止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被氧化为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负极：</a:t>
            </a:r>
            <a:r>
              <a:rPr lang="en-US" altLang="zh-CN" sz="3000" dirty="0">
                <a:sym typeface="Wingdings" pitchFamily="2" charset="2"/>
              </a:rPr>
              <a:t>Fe 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+ 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 	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2800" baseline="-25000" dirty="0">
                <a:sym typeface="Wingdings" pitchFamily="2" charset="2"/>
              </a:rPr>
              <a:t>-</a:t>
            </a:r>
            <a:r>
              <a:rPr lang="en-US" sz="2800" dirty="0"/>
              <a:t> = 0.44V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正极： </a:t>
            </a:r>
            <a:r>
              <a:rPr lang="en-US" altLang="zh-CN" sz="3000" dirty="0">
                <a:sym typeface="Wingdings" pitchFamily="2" charset="2"/>
              </a:rPr>
              <a:t>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 2Fe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 	E</a:t>
            </a:r>
            <a:r>
              <a:rPr lang="en-US" altLang="zh-CN" sz="3000" baseline="-25000" dirty="0">
                <a:sym typeface="Wingdings" pitchFamily="2" charset="2"/>
              </a:rPr>
              <a:t>+</a:t>
            </a:r>
            <a:r>
              <a:rPr lang="en-US" sz="2800" dirty="0"/>
              <a:t> = 0.77V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总反应： </a:t>
            </a:r>
            <a:r>
              <a:rPr lang="en-US" altLang="zh-CN" sz="3000" dirty="0">
                <a:sym typeface="Wingdings" pitchFamily="2" charset="2"/>
              </a:rPr>
              <a:t>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+ Fe  3 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	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baseline="-25000" dirty="0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= 0.77V+0.44V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	     = 1.21V &gt; 0</a:t>
            </a:r>
          </a:p>
          <a:p>
            <a:pPr marL="514350" indent="-514350">
              <a:buNone/>
            </a:pPr>
            <a:r>
              <a:rPr lang="zh-CN" altLang="en-US" sz="3000" dirty="0">
                <a:sym typeface="Wingdings" pitchFamily="2" charset="2"/>
              </a:rPr>
              <a:t>反应可自然发生。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容易被氧化成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，加入铁丝能将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3+ 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还原为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。</a:t>
            </a:r>
            <a:r>
              <a:rPr lang="en-US" altLang="zh-CN" sz="3000" dirty="0">
                <a:sym typeface="Wingdings" pitchFamily="2" charset="2"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altLang="zh-CN" sz="3000" dirty="0">
                <a:sym typeface="Wingdings" pitchFamily="2" charset="2"/>
              </a:rPr>
              <a:t>11. Cu + 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  Cu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+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Fe</a:t>
            </a:r>
            <a:r>
              <a:rPr lang="en-US" altLang="zh-CN" sz="3000" baseline="30000" dirty="0">
                <a:sym typeface="Wingdings" pitchFamily="2" charset="2"/>
              </a:rPr>
              <a:t>2+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负极： </a:t>
            </a:r>
            <a:r>
              <a:rPr lang="en-US" altLang="zh-CN" sz="3000" dirty="0">
                <a:sym typeface="Wingdings" pitchFamily="2" charset="2"/>
              </a:rPr>
              <a:t>Cu  Cu</a:t>
            </a:r>
            <a:r>
              <a:rPr lang="en-US" altLang="zh-CN" sz="3000" baseline="30000" dirty="0">
                <a:sym typeface="Wingdings" pitchFamily="2" charset="2"/>
              </a:rPr>
              <a:t>2+ </a:t>
            </a:r>
            <a:r>
              <a:rPr lang="en-US" altLang="zh-CN" sz="3000" dirty="0">
                <a:sym typeface="Wingdings" pitchFamily="2" charset="2"/>
              </a:rPr>
              <a:t> + 2e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	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2800" baseline="-25000" dirty="0">
                <a:sym typeface="Wingdings" pitchFamily="2" charset="2"/>
              </a:rPr>
              <a:t>- 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= -0.34V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正极：</a:t>
            </a:r>
            <a:r>
              <a:rPr lang="en-US" altLang="zh-CN" sz="3000" dirty="0">
                <a:sym typeface="Wingdings" pitchFamily="2" charset="2"/>
              </a:rPr>
              <a:t>2Fe</a:t>
            </a:r>
            <a:r>
              <a:rPr lang="en-US" altLang="zh-CN" sz="3000" baseline="30000" dirty="0">
                <a:sym typeface="Wingdings" pitchFamily="2" charset="2"/>
              </a:rPr>
              <a:t>3+</a:t>
            </a:r>
            <a:r>
              <a:rPr lang="en-US" altLang="zh-CN" sz="3000" dirty="0">
                <a:sym typeface="Wingdings" pitchFamily="2" charset="2"/>
              </a:rPr>
              <a:t> + 2e  2Fe</a:t>
            </a:r>
            <a:r>
              <a:rPr lang="en-US" altLang="zh-CN" sz="3000" baseline="30000" dirty="0">
                <a:sym typeface="Wingdings" pitchFamily="2" charset="2"/>
              </a:rPr>
              <a:t>2+ 	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2800" baseline="-25000" dirty="0">
                <a:sym typeface="Wingdings" pitchFamily="2" charset="2"/>
              </a:rPr>
              <a:t>+</a:t>
            </a:r>
            <a:r>
              <a:rPr lang="en-US" altLang="zh-CN" sz="3000" dirty="0">
                <a:sym typeface="Wingdings" pitchFamily="2" charset="2"/>
              </a:rPr>
              <a:t> = 0.77V</a:t>
            </a:r>
          </a:p>
          <a:p>
            <a:pPr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baseline="30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=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altLang="zh-CN" sz="3000" baseline="-25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+ </a:t>
            </a:r>
            <a:r>
              <a:rPr lang="en-US" altLang="zh-CN" sz="2800" dirty="0">
                <a:sym typeface="Wingdings" pitchFamily="2" charset="2"/>
              </a:rPr>
              <a:t>E</a:t>
            </a:r>
            <a:r>
              <a:rPr lang="en-US" sz="3000" baseline="-25000" dirty="0">
                <a:sym typeface="Wingdings" pitchFamily="2" charset="2"/>
              </a:rPr>
              <a:t>+</a:t>
            </a:r>
            <a:endParaRPr lang="en-US" altLang="zh-CN" sz="3000" dirty="0"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/>
              <a:t>		= 0.77V + (– 0.34V)</a:t>
            </a:r>
          </a:p>
          <a:p>
            <a:pPr>
              <a:buNone/>
            </a:pPr>
            <a:r>
              <a:rPr lang="en-US" altLang="zh-CN" sz="3000" dirty="0"/>
              <a:t>		= 0.43V </a:t>
            </a:r>
          </a:p>
          <a:p>
            <a:pPr>
              <a:buNone/>
            </a:pP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en-US" altLang="zh-CN" sz="3000" dirty="0" err="1">
                <a:sym typeface="Wingdings" pitchFamily="2" charset="2"/>
              </a:rPr>
              <a:t>E</a:t>
            </a:r>
            <a:r>
              <a:rPr lang="en-US" altLang="zh-CN" sz="3000" baseline="30000" dirty="0" err="1">
                <a:sym typeface="Wingdings" pitchFamily="2" charset="2"/>
              </a:rPr>
              <a:t>o</a:t>
            </a:r>
            <a:r>
              <a:rPr lang="en-US" altLang="zh-CN" sz="3000" baseline="-25000" dirty="0" err="1">
                <a:sym typeface="Wingdings" pitchFamily="2" charset="2"/>
              </a:rPr>
              <a:t>cell</a:t>
            </a:r>
            <a:r>
              <a:rPr lang="en-US" altLang="zh-CN" sz="3000" dirty="0">
                <a:sym typeface="Wingdings" pitchFamily="2" charset="2"/>
              </a:rPr>
              <a:t> &gt; 0 </a:t>
            </a:r>
            <a:r>
              <a:rPr lang="zh-CN" altLang="en-US" sz="3000" dirty="0">
                <a:sym typeface="Wingdings" pitchFamily="2" charset="2"/>
              </a:rPr>
              <a:t>，</a:t>
            </a:r>
            <a:r>
              <a:rPr lang="en-US" altLang="zh-CN" sz="3000" dirty="0">
                <a:sym typeface="Wingdings" pitchFamily="2" charset="2"/>
              </a:rPr>
              <a:t>FeCl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可用来溶解</a:t>
            </a:r>
            <a:r>
              <a:rPr lang="en-US" altLang="zh-CN" sz="3000" dirty="0">
                <a:sym typeface="Wingdings" pitchFamily="2" charset="2"/>
              </a:rPr>
              <a:t>Cu </a:t>
            </a:r>
            <a:r>
              <a:rPr lang="zh-CN" altLang="en-US" sz="3000" dirty="0">
                <a:sym typeface="Wingdings" pitchFamily="2" charset="2"/>
              </a:rPr>
              <a:t>。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3000" baseline="30000" dirty="0">
                <a:sym typeface="Wingdings" pitchFamily="2" charset="2"/>
              </a:rPr>
              <a:t> 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buNone/>
            </a:pPr>
            <a:endParaRPr lang="en-US" altLang="zh-CN" sz="3000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第16章 溶液\背景图\Picture2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-17463"/>
            <a:ext cx="9161463" cy="6875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20248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ym typeface="Wingdings" pitchFamily="2" charset="2"/>
              </a:rPr>
              <a:t>作答题</a:t>
            </a:r>
            <a:endParaRPr lang="en-US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562600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12. </a:t>
            </a:r>
            <a:r>
              <a:rPr lang="zh-CN" altLang="en-US" sz="3000" dirty="0">
                <a:sym typeface="Wingdings" pitchFamily="2" charset="2"/>
              </a:rPr>
              <a:t>电解</a:t>
            </a:r>
            <a:r>
              <a:rPr lang="en-US" altLang="zh-CN" sz="3000" dirty="0">
                <a:sym typeface="Wingdings" pitchFamily="2" charset="2"/>
              </a:rPr>
              <a:t>CuCl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),</a:t>
            </a:r>
            <a:r>
              <a:rPr lang="zh-CN" altLang="en-US" sz="3000" dirty="0">
                <a:sym typeface="Wingdings" pitchFamily="2" charset="2"/>
              </a:rPr>
              <a:t>题目没注明浓度，理解为浓</a:t>
            </a:r>
            <a:r>
              <a:rPr lang="en-US" altLang="zh-CN" sz="3000" dirty="0">
                <a:sym typeface="Wingdings" pitchFamily="2" charset="2"/>
              </a:rPr>
              <a:t>CuCl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13. </a:t>
            </a:r>
            <a:r>
              <a:rPr lang="zh-CN" altLang="en-US" sz="3000" dirty="0">
                <a:sym typeface="Wingdings" pitchFamily="2" charset="2"/>
              </a:rPr>
              <a:t>需用到</a:t>
            </a:r>
            <a:r>
              <a:rPr lang="en-US" altLang="zh-CN" sz="3000" dirty="0" err="1">
                <a:sym typeface="Wingdings" pitchFamily="2" charset="2"/>
              </a:rPr>
              <a:t>pV</a:t>
            </a:r>
            <a:r>
              <a:rPr lang="en-US" altLang="zh-CN" sz="3000" dirty="0">
                <a:sym typeface="Wingdings" pitchFamily="2" charset="2"/>
              </a:rPr>
              <a:t> = </a:t>
            </a:r>
            <a:r>
              <a:rPr lang="en-US" altLang="zh-CN" sz="3000" dirty="0" err="1">
                <a:sym typeface="Wingdings" pitchFamily="2" charset="2"/>
              </a:rPr>
              <a:t>nRT</a:t>
            </a:r>
            <a:r>
              <a:rPr lang="en-US" altLang="zh-CN" sz="3000" dirty="0">
                <a:sym typeface="Wingdings" pitchFamily="2" charset="2"/>
              </a:rPr>
              <a:t>  </a:t>
            </a:r>
            <a:r>
              <a:rPr lang="zh-CN" altLang="en-US" sz="3000" dirty="0">
                <a:sym typeface="Wingdings" pitchFamily="2" charset="2"/>
              </a:rPr>
              <a:t>或  </a:t>
            </a: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</a:t>
            </a:r>
            <a:r>
              <a:rPr lang="en-US" altLang="zh-CN" sz="3000" dirty="0" err="1">
                <a:sym typeface="Wingdings" pitchFamily="2" charset="2"/>
              </a:rPr>
              <a:t>Ans</a:t>
            </a:r>
            <a:r>
              <a:rPr lang="en-US" altLang="zh-CN" sz="3000" dirty="0">
                <a:sym typeface="Wingdings" pitchFamily="2" charset="2"/>
              </a:rPr>
              <a:t>: 0.546L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14. Pt = 195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Ans:4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15. (a) 124A</a:t>
            </a: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	(b) 6.69 x 10</a:t>
            </a:r>
            <a:r>
              <a:rPr lang="en-US" altLang="zh-CN" sz="3000" baseline="30000" dirty="0">
                <a:sym typeface="Wingdings" pitchFamily="2" charset="2"/>
              </a:rPr>
              <a:t>25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个</a:t>
            </a:r>
            <a:endParaRPr lang="en-US" altLang="zh-CN" sz="3000" dirty="0">
              <a:sym typeface="Wingdings" pitchFamily="2" charset="2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038600" y="1981200"/>
            <a:ext cx="2209800" cy="762000"/>
            <a:chOff x="2209800" y="2362200"/>
            <a:chExt cx="2209800" cy="762000"/>
          </a:xfrm>
        </p:grpSpPr>
        <p:grpSp>
          <p:nvGrpSpPr>
            <p:cNvPr id="5" name="Group 4"/>
            <p:cNvGrpSpPr/>
            <p:nvPr/>
          </p:nvGrpSpPr>
          <p:grpSpPr>
            <a:xfrm>
              <a:off x="2209800" y="2362200"/>
              <a:ext cx="2209800" cy="762000"/>
              <a:chOff x="2209800" y="1524000"/>
              <a:chExt cx="2209800" cy="762000"/>
            </a:xfrm>
          </p:grpSpPr>
          <p:grpSp>
            <p:nvGrpSpPr>
              <p:cNvPr id="6" name="Group 10"/>
              <p:cNvGrpSpPr/>
              <p:nvPr/>
            </p:nvGrpSpPr>
            <p:grpSpPr>
              <a:xfrm>
                <a:off x="2209800" y="1524000"/>
                <a:ext cx="2209800" cy="762000"/>
                <a:chOff x="2209800" y="1524000"/>
                <a:chExt cx="2209800" cy="762000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2438400" y="1524000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V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  <p:cxnSp>
              <p:nvCxnSpPr>
                <p:cNvPr id="9" name="Straight Connector 8"/>
                <p:cNvCxnSpPr/>
                <p:nvPr/>
              </p:nvCxnSpPr>
              <p:spPr>
                <a:xfrm>
                  <a:off x="2209800" y="1905000"/>
                  <a:ext cx="838200" cy="1588"/>
                </a:xfrm>
                <a:prstGeom prst="line">
                  <a:avLst/>
                </a:pr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3581400" y="1905000"/>
                  <a:ext cx="838200" cy="1588"/>
                </a:xfrm>
                <a:prstGeom prst="line">
                  <a:avLst/>
                </a:pr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/>
                <p:cNvSpPr txBox="1"/>
                <p:nvPr/>
              </p:nvSpPr>
              <p:spPr>
                <a:xfrm>
                  <a:off x="2438400" y="18551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V</a:t>
                  </a:r>
                  <a:r>
                    <a:rPr lang="en-US" altLang="zh-CN" sz="2200" b="1" baseline="-25000" dirty="0"/>
                    <a:t>2</a:t>
                  </a:r>
                  <a:endParaRPr lang="en-US" sz="2200" b="1" dirty="0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733800" y="1550313"/>
                  <a:ext cx="6858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b="1" dirty="0"/>
                    <a:t>T</a:t>
                  </a:r>
                  <a:r>
                    <a:rPr lang="en-US" altLang="zh-CN" sz="2200" b="1" baseline="-25000" dirty="0"/>
                    <a:t>1</a:t>
                  </a:r>
                  <a:endParaRPr lang="en-US" sz="2200" b="1" dirty="0"/>
                </a:p>
              </p:txBody>
            </p:sp>
          </p:grpSp>
          <p:sp>
            <p:nvSpPr>
              <p:cNvPr id="7" name="TextBox 6"/>
              <p:cNvSpPr txBox="1"/>
              <p:nvPr/>
            </p:nvSpPr>
            <p:spPr>
              <a:xfrm>
                <a:off x="3733800" y="1855113"/>
                <a:ext cx="685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b="1" dirty="0"/>
                  <a:t>T</a:t>
                </a:r>
                <a:r>
                  <a:rPr lang="en-US" altLang="zh-CN" sz="2200" b="1" baseline="-25000" dirty="0"/>
                  <a:t>2</a:t>
                </a:r>
                <a:endParaRPr lang="en-US" sz="2200" b="1" dirty="0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3200400" y="2540913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=</a:t>
              </a:r>
              <a:endParaRPr 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6141300</TotalTime>
  <Words>15014</Words>
  <Application>Microsoft Office PowerPoint</Application>
  <PresentationFormat>On-screen Show (4:3)</PresentationFormat>
  <Paragraphs>1309</Paragraphs>
  <Slides>123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8" baseType="lpstr">
      <vt:lpstr>宋体</vt:lpstr>
      <vt:lpstr>Arial</vt:lpstr>
      <vt:lpstr>Calibri</vt:lpstr>
      <vt:lpstr>Wingdings</vt:lpstr>
      <vt:lpstr>Office Theme</vt:lpstr>
      <vt:lpstr>第24章  电化学</vt:lpstr>
      <vt:lpstr>24.1 原电池</vt:lpstr>
      <vt:lpstr>22.1 原电池</vt:lpstr>
      <vt:lpstr>22.1.1 原电池的工作原理</vt:lpstr>
      <vt:lpstr>22.1.1 原电池的工作原理</vt:lpstr>
      <vt:lpstr>22.1.1 原电池的工作原理</vt:lpstr>
      <vt:lpstr>24.1.1 原电池的工作原理</vt:lpstr>
      <vt:lpstr>24.1.1 原电池的工作原理</vt:lpstr>
      <vt:lpstr>24.1.1 原电池的工作原理</vt:lpstr>
      <vt:lpstr>24.1.1 原电池的工作原理</vt:lpstr>
      <vt:lpstr>24.1.1 原电池的工作原理</vt:lpstr>
      <vt:lpstr>24.1.2 常用的化学电源</vt:lpstr>
      <vt:lpstr>24.1.2 常用的化学电源</vt:lpstr>
      <vt:lpstr>24.1.2 常用的化学电源</vt:lpstr>
      <vt:lpstr>24.1.2 常用的化学电源</vt:lpstr>
      <vt:lpstr>24.1.2 常用的化学电源</vt:lpstr>
      <vt:lpstr>24.1.2 常用的化学电源</vt:lpstr>
      <vt:lpstr>历届考题(1)</vt:lpstr>
      <vt:lpstr>24.1.2 常用的化学电源</vt:lpstr>
      <vt:lpstr>24.2 电极电势</vt:lpstr>
      <vt:lpstr>24.2.1 标准电极电势</vt:lpstr>
      <vt:lpstr>24.2.1 标准电极电势</vt:lpstr>
      <vt:lpstr>24.2.1 标准电极电势</vt:lpstr>
      <vt:lpstr>24.2.1 标准电极电势</vt:lpstr>
      <vt:lpstr>24.2.1 标准电极电势</vt:lpstr>
      <vt:lpstr>24.2.2 电极电势的应用</vt:lpstr>
      <vt:lpstr>24.2.2 电极电势的应用</vt:lpstr>
      <vt:lpstr>24.2.2 电极电势的应用</vt:lpstr>
      <vt:lpstr>24.2.2 电极电势的应用</vt:lpstr>
      <vt:lpstr>思考题24c</vt:lpstr>
      <vt:lpstr>思考题24c</vt:lpstr>
      <vt:lpstr>补充题(1)</vt:lpstr>
      <vt:lpstr>补充题(2)</vt:lpstr>
      <vt:lpstr>统考题(1)</vt:lpstr>
      <vt:lpstr>统考题(2)</vt:lpstr>
      <vt:lpstr>统考题(3)</vt:lpstr>
      <vt:lpstr>统考题(4)</vt:lpstr>
      <vt:lpstr>历届考题(1)</vt:lpstr>
      <vt:lpstr>历届考题(2)</vt:lpstr>
      <vt:lpstr>历届考题(3)</vt:lpstr>
      <vt:lpstr>历届考题(4)</vt:lpstr>
      <vt:lpstr>历届考题(5)</vt:lpstr>
      <vt:lpstr>历届考题(6)</vt:lpstr>
      <vt:lpstr>24.3 电解</vt:lpstr>
      <vt:lpstr>24.3.1 电解原理</vt:lpstr>
      <vt:lpstr>24.3.1 电解原理</vt:lpstr>
      <vt:lpstr>24.3.1 电解原理</vt:lpstr>
      <vt:lpstr>24.3.1 电解原理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24.3.1 电解原理</vt:lpstr>
      <vt:lpstr>电解池与原电池的差别</vt:lpstr>
      <vt:lpstr>电解池与原电池的差别</vt:lpstr>
      <vt:lpstr>电解池与原电池的差别</vt:lpstr>
      <vt:lpstr>电解池与原电池的差别</vt:lpstr>
      <vt:lpstr>思考题24d</vt:lpstr>
      <vt:lpstr>统考题</vt:lpstr>
      <vt:lpstr>统考题</vt:lpstr>
      <vt:lpstr>统考题</vt:lpstr>
      <vt:lpstr>历届考题</vt:lpstr>
      <vt:lpstr>24.3.2 电解原理的应用</vt:lpstr>
      <vt:lpstr>24.3.2 电解原理的应用</vt:lpstr>
      <vt:lpstr>24.3.2 电解原理的应用</vt:lpstr>
      <vt:lpstr>24.3.2 电解原理的应用</vt:lpstr>
      <vt:lpstr>24.3.2 电解原理的应用</vt:lpstr>
      <vt:lpstr>24.3.2 电解原理的应用</vt:lpstr>
      <vt:lpstr>24.3.2 电解原理的应用</vt:lpstr>
      <vt:lpstr>24.3.2 电解原理的应用</vt:lpstr>
      <vt:lpstr>24.3.2 电解原理的应用</vt:lpstr>
      <vt:lpstr>统考题</vt:lpstr>
      <vt:lpstr>思考题24e</vt:lpstr>
      <vt:lpstr>24.3.3 电解定律</vt:lpstr>
      <vt:lpstr>24.3.3 电解定律</vt:lpstr>
      <vt:lpstr>24.3.3 电解定律</vt:lpstr>
      <vt:lpstr>24.3.3 电解定律</vt:lpstr>
      <vt:lpstr>24.3.3 电解定律</vt:lpstr>
      <vt:lpstr>PowerPoint Presentation</vt:lpstr>
      <vt:lpstr>交流分享 pg320</vt:lpstr>
      <vt:lpstr>交流分享 pg320</vt:lpstr>
      <vt:lpstr>思考题24f</vt:lpstr>
      <vt:lpstr>补充题</vt:lpstr>
      <vt:lpstr>补充题</vt:lpstr>
      <vt:lpstr>统考题</vt:lpstr>
      <vt:lpstr>统考题</vt:lpstr>
      <vt:lpstr>统考题</vt:lpstr>
      <vt:lpstr>历届考题(1)</vt:lpstr>
      <vt:lpstr>历届考题(2)</vt:lpstr>
      <vt:lpstr>历届考题(3)</vt:lpstr>
      <vt:lpstr>历届考题(4)</vt:lpstr>
      <vt:lpstr>历届考题(5)</vt:lpstr>
      <vt:lpstr>24.4 金属的腐蚀和防护</vt:lpstr>
      <vt:lpstr>24.4 金属的腐蚀和防护</vt:lpstr>
      <vt:lpstr>24.4 金属的腐蚀和防护</vt:lpstr>
      <vt:lpstr>24.4 金属的腐蚀和防护</vt:lpstr>
      <vt:lpstr>24.4 金属的腐蚀和防护</vt:lpstr>
      <vt:lpstr>24.4 金属的腐蚀和防护</vt:lpstr>
      <vt:lpstr>24.4 金属的腐蚀和防护</vt:lpstr>
      <vt:lpstr>24.4 金属的腐蚀和防护</vt:lpstr>
      <vt:lpstr>24.4 金属的腐蚀和防护</vt:lpstr>
      <vt:lpstr>选择题</vt:lpstr>
      <vt:lpstr>选择题</vt:lpstr>
      <vt:lpstr>选择题</vt:lpstr>
      <vt:lpstr>选择题</vt:lpstr>
      <vt:lpstr>选择题</vt:lpstr>
      <vt:lpstr>选择题</vt:lpstr>
      <vt:lpstr>选择题</vt:lpstr>
      <vt:lpstr>24.1.2 常用的化学电源</vt:lpstr>
      <vt:lpstr>24.1.2 常用的化学电源</vt:lpstr>
      <vt:lpstr>作答题1(2)(3),3,4,5,7(2)(4),9,13,14,15</vt:lpstr>
      <vt:lpstr>作答题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492</cp:revision>
  <dcterms:created xsi:type="dcterms:W3CDTF">2018-09-03T09:52:37Z</dcterms:created>
  <dcterms:modified xsi:type="dcterms:W3CDTF">2020-02-26T13:02:41Z</dcterms:modified>
</cp:coreProperties>
</file>