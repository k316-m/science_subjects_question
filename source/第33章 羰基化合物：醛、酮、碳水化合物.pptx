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8" r:id="rId2"/>
    <p:sldId id="309" r:id="rId3"/>
    <p:sldId id="266" r:id="rId4"/>
    <p:sldId id="261" r:id="rId5"/>
    <p:sldId id="296" r:id="rId6"/>
    <p:sldId id="315" r:id="rId7"/>
    <p:sldId id="263" r:id="rId8"/>
    <p:sldId id="272" r:id="rId9"/>
    <p:sldId id="265" r:id="rId10"/>
    <p:sldId id="264" r:id="rId11"/>
    <p:sldId id="271" r:id="rId12"/>
    <p:sldId id="297" r:id="rId13"/>
    <p:sldId id="316" r:id="rId14"/>
    <p:sldId id="262" r:id="rId15"/>
    <p:sldId id="318" r:id="rId16"/>
    <p:sldId id="267" r:id="rId17"/>
    <p:sldId id="268" r:id="rId18"/>
    <p:sldId id="273" r:id="rId19"/>
    <p:sldId id="286" r:id="rId20"/>
    <p:sldId id="274" r:id="rId21"/>
    <p:sldId id="275" r:id="rId22"/>
    <p:sldId id="288" r:id="rId23"/>
    <p:sldId id="298" r:id="rId24"/>
    <p:sldId id="332" r:id="rId25"/>
    <p:sldId id="276" r:id="rId26"/>
    <p:sldId id="290" r:id="rId27"/>
    <p:sldId id="299" r:id="rId28"/>
    <p:sldId id="277" r:id="rId29"/>
    <p:sldId id="291" r:id="rId30"/>
    <p:sldId id="278" r:id="rId31"/>
    <p:sldId id="292" r:id="rId32"/>
    <p:sldId id="293" r:id="rId33"/>
    <p:sldId id="294" r:id="rId34"/>
    <p:sldId id="295" r:id="rId35"/>
    <p:sldId id="283" r:id="rId36"/>
    <p:sldId id="305" r:id="rId37"/>
    <p:sldId id="281" r:id="rId38"/>
    <p:sldId id="303" r:id="rId39"/>
    <p:sldId id="304" r:id="rId40"/>
    <p:sldId id="279" r:id="rId41"/>
    <p:sldId id="280" r:id="rId42"/>
    <p:sldId id="300" r:id="rId43"/>
    <p:sldId id="301" r:id="rId44"/>
    <p:sldId id="317" r:id="rId45"/>
    <p:sldId id="319" r:id="rId46"/>
    <p:sldId id="284" r:id="rId47"/>
    <p:sldId id="306" r:id="rId48"/>
    <p:sldId id="307" r:id="rId49"/>
    <p:sldId id="308" r:id="rId50"/>
    <p:sldId id="302" r:id="rId51"/>
    <p:sldId id="310" r:id="rId52"/>
    <p:sldId id="311" r:id="rId53"/>
    <p:sldId id="320" r:id="rId54"/>
    <p:sldId id="322" r:id="rId55"/>
    <p:sldId id="323" r:id="rId56"/>
    <p:sldId id="324" r:id="rId57"/>
    <p:sldId id="321" r:id="rId58"/>
    <p:sldId id="312" r:id="rId59"/>
    <p:sldId id="325" r:id="rId60"/>
    <p:sldId id="326" r:id="rId61"/>
    <p:sldId id="313" r:id="rId62"/>
    <p:sldId id="327" r:id="rId63"/>
    <p:sldId id="314" r:id="rId64"/>
    <p:sldId id="328" r:id="rId65"/>
    <p:sldId id="329" r:id="rId66"/>
    <p:sldId id="330" r:id="rId67"/>
    <p:sldId id="331" r:id="rId6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1ABC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29" autoAdjust="0"/>
    <p:restoredTop sz="94660"/>
  </p:normalViewPr>
  <p:slideViewPr>
    <p:cSldViewPr>
      <p:cViewPr varScale="1">
        <p:scale>
          <a:sx n="68" d="100"/>
          <a:sy n="68" d="100"/>
        </p:scale>
        <p:origin x="14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5800"/>
            <a:ext cx="9144000" cy="5562600"/>
          </a:xfrm>
        </p:spPr>
        <p:txBody>
          <a:bodyPr>
            <a:noAutofit/>
          </a:bodyPr>
          <a:lstStyle/>
          <a:p>
            <a:r>
              <a:rPr lang="zh-CN" altLang="en-US" sz="7200" b="1" dirty="0">
                <a:ln w="17780" cmpd="sng">
                  <a:solidFill>
                    <a:srgbClr val="92D050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第</a:t>
            </a:r>
            <a:r>
              <a:rPr lang="en-US" altLang="zh-CN" sz="7200" b="1" dirty="0">
                <a:ln w="17780" cmpd="sng">
                  <a:solidFill>
                    <a:srgbClr val="92D050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33</a:t>
            </a:r>
            <a:r>
              <a:rPr lang="zh-CN" altLang="en-US" sz="7200" b="1" dirty="0">
                <a:ln w="17780" cmpd="sng">
                  <a:solidFill>
                    <a:srgbClr val="92D050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章 </a:t>
            </a:r>
            <a:br>
              <a:rPr lang="en-US" altLang="zh-CN" sz="7200" b="1" dirty="0">
                <a:ln w="17780" cmpd="sng">
                  <a:solidFill>
                    <a:srgbClr val="92D050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</a:br>
            <a:r>
              <a:rPr lang="zh-CN" altLang="en-US" sz="7200" b="1" dirty="0">
                <a:ln w="17780" cmpd="sng">
                  <a:solidFill>
                    <a:srgbClr val="92D050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羰基化合物</a:t>
            </a:r>
            <a:br>
              <a:rPr lang="en-US" altLang="zh-CN" sz="7200" b="1" dirty="0">
                <a:ln w="17780" cmpd="sng">
                  <a:solidFill>
                    <a:srgbClr val="92D050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</a:br>
            <a:r>
              <a:rPr lang="zh-CN" altLang="en-US" sz="7200" b="1" dirty="0">
                <a:ln w="17780" cmpd="sng">
                  <a:solidFill>
                    <a:srgbClr val="92D050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醛、酮、碳水化合物</a:t>
            </a:r>
            <a:endParaRPr lang="en-US" sz="7200" b="1" dirty="0">
              <a:ln w="17780" cmpd="sng">
                <a:solidFill>
                  <a:srgbClr val="92D050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通式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3000" dirty="0"/>
              <a:t>烷烃：</a:t>
            </a:r>
            <a:r>
              <a:rPr lang="en-US" altLang="zh-CN" sz="3000" dirty="0"/>
              <a:t>				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2n+2</a:t>
            </a:r>
            <a:r>
              <a:rPr lang="en-US" altLang="zh-CN" sz="3000" dirty="0"/>
              <a:t> 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3000" dirty="0"/>
              <a:t>烯烃</a:t>
            </a:r>
            <a:r>
              <a:rPr lang="en-US" altLang="zh-CN" sz="3000" dirty="0"/>
              <a:t>/</a:t>
            </a:r>
            <a:r>
              <a:rPr lang="zh-CN" altLang="en-US" sz="3000" dirty="0"/>
              <a:t>环烷烃：</a:t>
            </a:r>
            <a:r>
              <a:rPr lang="en-US" altLang="zh-CN" sz="3000" dirty="0"/>
              <a:t>			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3000" dirty="0"/>
              <a:t>炔烃</a:t>
            </a:r>
            <a:r>
              <a:rPr lang="en-US" altLang="zh-CN" sz="3000" dirty="0"/>
              <a:t>/</a:t>
            </a:r>
            <a:r>
              <a:rPr lang="zh-CN" altLang="en-US" sz="3000" dirty="0"/>
              <a:t>环烯烃</a:t>
            </a:r>
            <a:r>
              <a:rPr lang="en-US" altLang="zh-CN" sz="3000" dirty="0"/>
              <a:t>/</a:t>
            </a:r>
            <a:r>
              <a:rPr lang="zh-CN" altLang="en-US" sz="3000" dirty="0"/>
              <a:t>二烯烃：</a:t>
            </a:r>
            <a:r>
              <a:rPr lang="en-US" altLang="zh-CN" sz="3000" dirty="0"/>
              <a:t>	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2n-2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3000" dirty="0"/>
              <a:t>一元饱和脂肪族醇</a:t>
            </a:r>
            <a:r>
              <a:rPr lang="en-US" altLang="zh-CN" sz="3000" dirty="0"/>
              <a:t>/</a:t>
            </a:r>
            <a:r>
              <a:rPr lang="zh-CN" altLang="en-US" sz="3000" dirty="0"/>
              <a:t>醚：</a:t>
            </a:r>
            <a:r>
              <a:rPr lang="en-US" altLang="zh-CN" sz="3000" dirty="0"/>
              <a:t>	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2n+2</a:t>
            </a:r>
            <a:r>
              <a:rPr lang="en-US" altLang="zh-CN" sz="3000" dirty="0"/>
              <a:t>O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3000" dirty="0"/>
              <a:t>饱和脂肪族醛</a:t>
            </a:r>
            <a:r>
              <a:rPr lang="en-US" altLang="zh-CN" sz="3000" dirty="0"/>
              <a:t>/</a:t>
            </a:r>
            <a:r>
              <a:rPr lang="zh-CN" altLang="en-US" sz="3000" dirty="0"/>
              <a:t>酮：</a:t>
            </a:r>
            <a:r>
              <a:rPr lang="en-US" altLang="zh-CN" sz="3000" dirty="0"/>
              <a:t>		</a:t>
            </a:r>
            <a:r>
              <a:rPr lang="en-US" altLang="zh-CN" sz="3000" dirty="0" err="1"/>
              <a:t>C</a:t>
            </a:r>
            <a:r>
              <a:rPr lang="en-US" altLang="zh-CN" sz="3000" baseline="-25000" dirty="0" err="1"/>
              <a:t>n</a:t>
            </a:r>
            <a:r>
              <a:rPr lang="en-US" altLang="zh-CN" sz="3000" baseline="-25000" dirty="0"/>
              <a:t> 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</a:t>
            </a:r>
            <a:r>
              <a:rPr lang="en-US" altLang="zh-CN" sz="3000" dirty="0"/>
              <a:t>O 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3000" dirty="0"/>
              <a:t>一元饱和脂肪族羧酸</a:t>
            </a:r>
            <a:r>
              <a:rPr lang="en-US" altLang="zh-CN" sz="3000" dirty="0"/>
              <a:t>/</a:t>
            </a:r>
            <a:r>
              <a:rPr lang="zh-CN" altLang="en-US" sz="3000" dirty="0"/>
              <a:t>酯：</a:t>
            </a:r>
            <a:r>
              <a:rPr lang="en-US" altLang="zh-CN" sz="3000" dirty="0"/>
              <a:t>	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</a:t>
            </a:r>
            <a:r>
              <a:rPr lang="en-US" altLang="zh-CN" sz="3000" dirty="0"/>
              <a:t>O</a:t>
            </a:r>
            <a:r>
              <a:rPr lang="en-US" altLang="zh-CN" sz="3000" baseline="-25000" dirty="0"/>
              <a:t>2</a:t>
            </a:r>
            <a:endParaRPr lang="en-US" altLang="zh-CN" sz="3000" dirty="0"/>
          </a:p>
          <a:p>
            <a:pPr lvl="1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>
                <a:latin typeface="+mn-ea"/>
              </a:rPr>
              <a:t>33.1 </a:t>
            </a:r>
            <a:r>
              <a:rPr lang="zh-CN" altLang="en-US" sz="4800" b="1" dirty="0">
                <a:latin typeface="+mn-ea"/>
              </a:rPr>
              <a:t>醛和酮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153400" cy="5715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羰基：由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碳和氧</a:t>
            </a:r>
            <a:r>
              <a:rPr lang="zh-CN" altLang="en-US" sz="3000" dirty="0"/>
              <a:t>两种原子通过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双键</a:t>
            </a:r>
            <a:r>
              <a:rPr lang="zh-CN" altLang="en-US" sz="3000" dirty="0"/>
              <a:t>连接而成的有机官能团。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羰基化合物：</a:t>
            </a:r>
            <a:endParaRPr lang="en-US" altLang="zh-CN" sz="3000" dirty="0"/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简单羰基化合物：醛，酮</a:t>
            </a:r>
            <a:endParaRPr lang="en-US" altLang="zh-CN" sz="3000" dirty="0"/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羧酸和羧酸衍生物</a:t>
            </a:r>
            <a:r>
              <a:rPr lang="en-US" altLang="zh-CN" sz="3000" dirty="0"/>
              <a:t>(</a:t>
            </a:r>
            <a:r>
              <a:rPr lang="zh-CN" altLang="en-US" sz="3000" dirty="0"/>
              <a:t>酰卤、酸酐、酯、酰胺</a:t>
            </a:r>
            <a:r>
              <a:rPr lang="en-US" altLang="zh-CN" sz="3000" dirty="0"/>
              <a:t>)</a:t>
            </a:r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600" dirty="0"/>
              <a:t>羧酸：</a:t>
            </a:r>
            <a:r>
              <a:rPr lang="en-US" altLang="zh-CN" sz="2600" dirty="0"/>
              <a:t>RCOOH		-COOH </a:t>
            </a:r>
            <a:r>
              <a:rPr lang="zh-CN" altLang="en-US" sz="2600" dirty="0"/>
              <a:t>羧基</a:t>
            </a:r>
            <a:endParaRPr lang="en-US" altLang="zh-CN" sz="2600" dirty="0"/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600" dirty="0"/>
              <a:t>酯：</a:t>
            </a:r>
            <a:r>
              <a:rPr lang="en-US" altLang="zh-CN" sz="2600" dirty="0"/>
              <a:t>RCOOR</a:t>
            </a:r>
            <a:r>
              <a:rPr lang="en-US" altLang="zh-CN" sz="2600" baseline="30000" dirty="0"/>
              <a:t>’</a:t>
            </a:r>
            <a:r>
              <a:rPr lang="en-US" altLang="zh-CN" sz="2600" dirty="0"/>
              <a:t> 		-OR </a:t>
            </a:r>
            <a:r>
              <a:rPr lang="zh-CN" altLang="en-US" sz="2600" dirty="0"/>
              <a:t>烷氧基</a:t>
            </a:r>
            <a:endParaRPr lang="en-US" altLang="zh-CN" sz="26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 lvl="1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</p:txBody>
      </p:sp>
      <p:grpSp>
        <p:nvGrpSpPr>
          <p:cNvPr id="8" name="Group 7"/>
          <p:cNvGrpSpPr/>
          <p:nvPr/>
        </p:nvGrpSpPr>
        <p:grpSpPr>
          <a:xfrm>
            <a:off x="6746240" y="1676400"/>
            <a:ext cx="1788160" cy="1410422"/>
            <a:chOff x="6974840" y="5410200"/>
            <a:chExt cx="1788160" cy="1410422"/>
          </a:xfrm>
        </p:grpSpPr>
        <p:sp>
          <p:nvSpPr>
            <p:cNvPr id="9" name="Rectangle 8"/>
            <p:cNvSpPr/>
            <p:nvPr/>
          </p:nvSpPr>
          <p:spPr>
            <a:xfrm>
              <a:off x="7239000" y="6266624"/>
              <a:ext cx="144780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dirty="0"/>
                <a:t>   —C—</a:t>
              </a:r>
            </a:p>
          </p:txBody>
        </p:sp>
        <p:pic>
          <p:nvPicPr>
            <p:cNvPr id="10" name="Picture 9" descr="137.3.gif"/>
            <p:cNvPicPr>
              <a:picLocks noChangeAspect="1"/>
            </p:cNvPicPr>
            <p:nvPr/>
          </p:nvPicPr>
          <p:blipFill>
            <a:blip r:embed="rId3"/>
            <a:srcRect t="48648" r="82979" b="34512"/>
            <a:stretch>
              <a:fillRect/>
            </a:stretch>
          </p:blipFill>
          <p:spPr>
            <a:xfrm>
              <a:off x="6974840" y="5410200"/>
              <a:ext cx="1788160" cy="1005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>
                <a:latin typeface="+mn-ea"/>
              </a:rPr>
              <a:t>33.1 </a:t>
            </a:r>
            <a:r>
              <a:rPr lang="zh-CN" altLang="en-US" sz="4800" b="1" dirty="0">
                <a:latin typeface="+mn-ea"/>
              </a:rPr>
              <a:t>醛和酮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酰基：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醛基：</a:t>
            </a:r>
            <a:r>
              <a:rPr lang="en-US" altLang="zh-CN" sz="3000" dirty="0"/>
              <a:t>				</a:t>
            </a:r>
            <a:r>
              <a:rPr lang="zh-CN" altLang="en-US" sz="3000" dirty="0"/>
              <a:t>醛：</a:t>
            </a:r>
            <a:r>
              <a:rPr lang="en-US" altLang="zh-CN" sz="3000" dirty="0"/>
              <a:t>		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羰基</a:t>
            </a:r>
            <a:r>
              <a:rPr lang="en-US" altLang="zh-CN" sz="3000" dirty="0"/>
              <a:t>/</a:t>
            </a:r>
            <a:r>
              <a:rPr lang="zh-CN" altLang="en-US" sz="3000" dirty="0"/>
              <a:t>酮基：</a:t>
            </a:r>
            <a:r>
              <a:rPr lang="en-US" altLang="zh-CN" sz="3000" dirty="0"/>
              <a:t>			</a:t>
            </a:r>
            <a:r>
              <a:rPr lang="zh-CN" altLang="en-US" sz="3000" dirty="0"/>
              <a:t>酮：</a:t>
            </a:r>
            <a:r>
              <a:rPr lang="en-US" altLang="zh-CN" sz="3000" dirty="0"/>
              <a:t>			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</p:txBody>
      </p:sp>
      <p:sp>
        <p:nvSpPr>
          <p:cNvPr id="26" name="Rectangle 25"/>
          <p:cNvSpPr/>
          <p:nvPr/>
        </p:nvSpPr>
        <p:spPr>
          <a:xfrm>
            <a:off x="7239000" y="2798802"/>
            <a:ext cx="156145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000" dirty="0"/>
              <a:t>或 </a:t>
            </a:r>
            <a:r>
              <a:rPr lang="en-US" altLang="zh-CN" sz="3000" dirty="0"/>
              <a:t>R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429000" y="2819400"/>
            <a:ext cx="147829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000" dirty="0"/>
              <a:t>或 </a:t>
            </a:r>
            <a:r>
              <a:rPr lang="en-US" altLang="zh-CN" sz="3000" dirty="0"/>
              <a:t>-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667000" y="5237202"/>
            <a:ext cx="150393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000" dirty="0"/>
              <a:t>或 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&gt;C=O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524000" y="2399578"/>
            <a:ext cx="2057400" cy="1410422"/>
            <a:chOff x="6974840" y="5410200"/>
            <a:chExt cx="2057400" cy="1410422"/>
          </a:xfrm>
        </p:grpSpPr>
        <p:sp>
          <p:nvSpPr>
            <p:cNvPr id="29" name="Rectangle 28"/>
            <p:cNvSpPr/>
            <p:nvPr/>
          </p:nvSpPr>
          <p:spPr>
            <a:xfrm>
              <a:off x="7239000" y="6266624"/>
              <a:ext cx="179324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dirty="0"/>
                <a:t>   —C—H</a:t>
              </a:r>
            </a:p>
          </p:txBody>
        </p:sp>
        <p:pic>
          <p:nvPicPr>
            <p:cNvPr id="30" name="Picture 29" descr="137.3.gif"/>
            <p:cNvPicPr>
              <a:picLocks noChangeAspect="1"/>
            </p:cNvPicPr>
            <p:nvPr/>
          </p:nvPicPr>
          <p:blipFill>
            <a:blip r:embed="rId3"/>
            <a:srcRect t="48648" r="82979" b="34512"/>
            <a:stretch>
              <a:fillRect/>
            </a:stretch>
          </p:blipFill>
          <p:spPr>
            <a:xfrm>
              <a:off x="6974840" y="5410200"/>
              <a:ext cx="1788160" cy="1005840"/>
            </a:xfrm>
            <a:prstGeom prst="rect">
              <a:avLst/>
            </a:prstGeom>
          </p:spPr>
        </p:pic>
      </p:grpSp>
      <p:grpSp>
        <p:nvGrpSpPr>
          <p:cNvPr id="31" name="Group 30"/>
          <p:cNvGrpSpPr/>
          <p:nvPr/>
        </p:nvGrpSpPr>
        <p:grpSpPr>
          <a:xfrm>
            <a:off x="5293360" y="2057400"/>
            <a:ext cx="1793240" cy="1410422"/>
            <a:chOff x="6974840" y="5410200"/>
            <a:chExt cx="1793240" cy="1410422"/>
          </a:xfrm>
        </p:grpSpPr>
        <p:sp>
          <p:nvSpPr>
            <p:cNvPr id="32" name="Rectangle 31"/>
            <p:cNvSpPr/>
            <p:nvPr/>
          </p:nvSpPr>
          <p:spPr>
            <a:xfrm>
              <a:off x="6974840" y="6266624"/>
              <a:ext cx="179324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dirty="0"/>
                <a:t>   R—C—H</a:t>
              </a:r>
            </a:p>
          </p:txBody>
        </p:sp>
        <p:pic>
          <p:nvPicPr>
            <p:cNvPr id="33" name="Picture 32" descr="137.3.gif"/>
            <p:cNvPicPr>
              <a:picLocks noChangeAspect="1"/>
            </p:cNvPicPr>
            <p:nvPr/>
          </p:nvPicPr>
          <p:blipFill>
            <a:blip r:embed="rId3"/>
            <a:srcRect t="48648" r="82979" b="34512"/>
            <a:stretch>
              <a:fillRect/>
            </a:stretch>
          </p:blipFill>
          <p:spPr>
            <a:xfrm>
              <a:off x="6974840" y="5410200"/>
              <a:ext cx="1788160" cy="1005840"/>
            </a:xfrm>
            <a:prstGeom prst="rect">
              <a:avLst/>
            </a:prstGeom>
          </p:spPr>
        </p:pic>
      </p:grpSp>
      <p:grpSp>
        <p:nvGrpSpPr>
          <p:cNvPr id="34" name="Group 33"/>
          <p:cNvGrpSpPr/>
          <p:nvPr/>
        </p:nvGrpSpPr>
        <p:grpSpPr>
          <a:xfrm>
            <a:off x="2209800" y="3657600"/>
            <a:ext cx="1788160" cy="1410422"/>
            <a:chOff x="6974840" y="5410200"/>
            <a:chExt cx="1788160" cy="1410422"/>
          </a:xfrm>
        </p:grpSpPr>
        <p:sp>
          <p:nvSpPr>
            <p:cNvPr id="35" name="Rectangle 34"/>
            <p:cNvSpPr/>
            <p:nvPr/>
          </p:nvSpPr>
          <p:spPr>
            <a:xfrm>
              <a:off x="7239000" y="6266624"/>
              <a:ext cx="144780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dirty="0"/>
                <a:t>   —C—</a:t>
              </a:r>
            </a:p>
          </p:txBody>
        </p:sp>
        <p:pic>
          <p:nvPicPr>
            <p:cNvPr id="36" name="Picture 35" descr="137.3.gif"/>
            <p:cNvPicPr>
              <a:picLocks noChangeAspect="1"/>
            </p:cNvPicPr>
            <p:nvPr/>
          </p:nvPicPr>
          <p:blipFill>
            <a:blip r:embed="rId3"/>
            <a:srcRect t="48648" r="82979" b="34512"/>
            <a:stretch>
              <a:fillRect/>
            </a:stretch>
          </p:blipFill>
          <p:spPr>
            <a:xfrm>
              <a:off x="6974840" y="5410200"/>
              <a:ext cx="1788160" cy="1005840"/>
            </a:xfrm>
            <a:prstGeom prst="rect">
              <a:avLst/>
            </a:prstGeom>
          </p:spPr>
        </p:pic>
      </p:grpSp>
      <p:grpSp>
        <p:nvGrpSpPr>
          <p:cNvPr id="37" name="Group 36"/>
          <p:cNvGrpSpPr/>
          <p:nvPr/>
        </p:nvGrpSpPr>
        <p:grpSpPr>
          <a:xfrm>
            <a:off x="5410200" y="3694978"/>
            <a:ext cx="1793240" cy="1410422"/>
            <a:chOff x="6974840" y="5410200"/>
            <a:chExt cx="1793240" cy="1410422"/>
          </a:xfrm>
        </p:grpSpPr>
        <p:sp>
          <p:nvSpPr>
            <p:cNvPr id="38" name="Rectangle 37"/>
            <p:cNvSpPr/>
            <p:nvPr/>
          </p:nvSpPr>
          <p:spPr>
            <a:xfrm>
              <a:off x="6974840" y="6266624"/>
              <a:ext cx="179324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dirty="0"/>
                <a:t>   R—C—R</a:t>
              </a:r>
              <a:r>
                <a:rPr lang="en-US" altLang="zh-CN" sz="3000" baseline="30000" dirty="0"/>
                <a:t>’</a:t>
              </a:r>
              <a:endParaRPr lang="en-US" altLang="zh-CN" sz="3000" dirty="0"/>
            </a:p>
          </p:txBody>
        </p:sp>
        <p:pic>
          <p:nvPicPr>
            <p:cNvPr id="39" name="Picture 38" descr="137.3.gif"/>
            <p:cNvPicPr>
              <a:picLocks noChangeAspect="1"/>
            </p:cNvPicPr>
            <p:nvPr/>
          </p:nvPicPr>
          <p:blipFill>
            <a:blip r:embed="rId3"/>
            <a:srcRect t="48648" r="82979" b="34512"/>
            <a:stretch>
              <a:fillRect/>
            </a:stretch>
          </p:blipFill>
          <p:spPr>
            <a:xfrm>
              <a:off x="6974840" y="5410200"/>
              <a:ext cx="1788160" cy="1005840"/>
            </a:xfrm>
            <a:prstGeom prst="rect">
              <a:avLst/>
            </a:prstGeom>
          </p:spPr>
        </p:pic>
      </p:grpSp>
      <p:grpSp>
        <p:nvGrpSpPr>
          <p:cNvPr id="40" name="Group 39"/>
          <p:cNvGrpSpPr/>
          <p:nvPr/>
        </p:nvGrpSpPr>
        <p:grpSpPr>
          <a:xfrm>
            <a:off x="1945640" y="1027978"/>
            <a:ext cx="1864360" cy="1410422"/>
            <a:chOff x="7167880" y="5410200"/>
            <a:chExt cx="1864360" cy="1410422"/>
          </a:xfrm>
        </p:grpSpPr>
        <p:sp>
          <p:nvSpPr>
            <p:cNvPr id="41" name="Rectangle 40"/>
            <p:cNvSpPr/>
            <p:nvPr/>
          </p:nvSpPr>
          <p:spPr>
            <a:xfrm>
              <a:off x="7239000" y="6266624"/>
              <a:ext cx="179324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dirty="0"/>
                <a:t>   R—C— </a:t>
              </a:r>
            </a:p>
          </p:txBody>
        </p:sp>
        <p:pic>
          <p:nvPicPr>
            <p:cNvPr id="42" name="Picture 41" descr="137.3.gif"/>
            <p:cNvPicPr>
              <a:picLocks noChangeAspect="1"/>
            </p:cNvPicPr>
            <p:nvPr/>
          </p:nvPicPr>
          <p:blipFill>
            <a:blip r:embed="rId3"/>
            <a:srcRect t="48648" r="82979" b="34512"/>
            <a:stretch>
              <a:fillRect/>
            </a:stretch>
          </p:blipFill>
          <p:spPr>
            <a:xfrm>
              <a:off x="7167880" y="5410200"/>
              <a:ext cx="1788160" cy="1005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6" grpId="0"/>
      <p:bldP spid="27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>
                <a:latin typeface="+mn-ea"/>
              </a:rPr>
              <a:t>33.1 </a:t>
            </a:r>
            <a:r>
              <a:rPr lang="zh-CN" altLang="en-US" sz="4800" b="1" dirty="0">
                <a:latin typeface="+mn-ea"/>
              </a:rPr>
              <a:t>醛和酮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153400" cy="46482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000" dirty="0"/>
              <a:t>分类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脂肪族醛</a:t>
            </a:r>
            <a:r>
              <a:rPr lang="en-US" altLang="zh-CN" sz="3000" dirty="0"/>
              <a:t>		R-CHO</a:t>
            </a: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芳香族醛</a:t>
            </a:r>
            <a:r>
              <a:rPr lang="en-US" altLang="zh-CN" sz="3000" dirty="0"/>
              <a:t>		</a:t>
            </a:r>
            <a:r>
              <a:rPr lang="en-US" altLang="zh-CN" sz="3000" dirty="0" err="1"/>
              <a:t>Ar</a:t>
            </a:r>
            <a:r>
              <a:rPr lang="en-US" altLang="zh-CN" sz="3000" dirty="0"/>
              <a:t>-CHO</a:t>
            </a: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简单脂肪族酮</a:t>
            </a:r>
            <a:r>
              <a:rPr lang="en-US" altLang="zh-CN" sz="3000" dirty="0"/>
              <a:t>		RCOR</a:t>
            </a: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混合脂肪酮</a:t>
            </a:r>
            <a:r>
              <a:rPr lang="en-US" altLang="zh-CN" sz="3000" dirty="0"/>
              <a:t>		RCOR</a:t>
            </a:r>
            <a:r>
              <a:rPr lang="en-US" altLang="zh-CN" sz="3000" baseline="30000" dirty="0"/>
              <a:t>’</a:t>
            </a:r>
            <a:endParaRPr lang="en-US" altLang="zh-CN" sz="3000" baseline="-25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芳香族酮</a:t>
            </a:r>
            <a:r>
              <a:rPr lang="en-US" altLang="zh-CN" sz="3000" dirty="0"/>
              <a:t>		</a:t>
            </a:r>
            <a:r>
              <a:rPr lang="en-US" altLang="zh-CN" sz="3000" dirty="0" err="1"/>
              <a:t>ArCOAr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脂肪族芳香族酮</a:t>
            </a:r>
            <a:r>
              <a:rPr lang="en-US" altLang="zh-CN" sz="3000" dirty="0"/>
              <a:t>	</a:t>
            </a:r>
            <a:r>
              <a:rPr lang="en-US" altLang="zh-CN" sz="3000" dirty="0" err="1"/>
              <a:t>RCOAr</a:t>
            </a: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  <p:sp>
        <p:nvSpPr>
          <p:cNvPr id="8" name="Rounded Rectangle 7"/>
          <p:cNvSpPr/>
          <p:nvPr/>
        </p:nvSpPr>
        <p:spPr>
          <a:xfrm>
            <a:off x="4038600" y="1676400"/>
            <a:ext cx="12192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4038600" y="2209800"/>
            <a:ext cx="12192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4038600" y="2743200"/>
            <a:ext cx="12192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4038600" y="3276600"/>
            <a:ext cx="12192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4038600" y="3810000"/>
            <a:ext cx="12192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4038600" y="4343400"/>
            <a:ext cx="12192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思考题 </a:t>
            </a:r>
            <a:r>
              <a:rPr lang="en-US" altLang="zh-CN" sz="4000" b="1" dirty="0">
                <a:latin typeface="+mn-ea"/>
              </a:rPr>
              <a:t>33a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3000" dirty="0"/>
              <a:t>(1) </a:t>
            </a:r>
            <a:r>
              <a:rPr lang="zh-CN" altLang="en-US" sz="3000" dirty="0"/>
              <a:t>醛</a:t>
            </a: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r>
              <a:rPr lang="en-US" altLang="zh-CN" sz="3000" dirty="0"/>
              <a:t>(2) </a:t>
            </a:r>
            <a:r>
              <a:rPr lang="zh-CN" altLang="en-US" sz="3000" dirty="0"/>
              <a:t>醛</a:t>
            </a: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r>
              <a:rPr lang="en-US" altLang="zh-CN" sz="3000" dirty="0"/>
              <a:t>(3) </a:t>
            </a:r>
            <a:r>
              <a:rPr lang="zh-CN" altLang="en-US" sz="3000" dirty="0"/>
              <a:t>酮</a:t>
            </a: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r>
              <a:rPr lang="en-US" altLang="zh-CN" sz="3000" dirty="0"/>
              <a:t>(4) </a:t>
            </a:r>
            <a:r>
              <a:rPr lang="zh-CN" altLang="en-US" sz="3000" dirty="0"/>
              <a:t>酮</a:t>
            </a: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r>
              <a:rPr lang="en-US" altLang="zh-CN" sz="3000" dirty="0"/>
              <a:t>(5) </a:t>
            </a:r>
            <a:r>
              <a:rPr lang="zh-CN" altLang="en-US" sz="3000" dirty="0"/>
              <a:t>醛</a:t>
            </a: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r>
              <a:rPr lang="en-US" altLang="zh-CN" sz="3000" dirty="0"/>
              <a:t>(6) </a:t>
            </a:r>
            <a:r>
              <a:rPr lang="zh-CN" altLang="en-US" sz="3000" dirty="0"/>
              <a:t>羧酸</a:t>
            </a: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r>
              <a:rPr lang="en-US" altLang="zh-CN" sz="3000" dirty="0"/>
              <a:t>(7) </a:t>
            </a:r>
            <a:r>
              <a:rPr lang="zh-CN" altLang="en-US" sz="3000" dirty="0"/>
              <a:t>酯</a:t>
            </a: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r>
              <a:rPr lang="en-US" altLang="zh-CN" sz="3000" dirty="0"/>
              <a:t>(8) </a:t>
            </a:r>
            <a:r>
              <a:rPr lang="zh-CN" altLang="en-US" sz="3000" dirty="0"/>
              <a:t>酮</a:t>
            </a: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232785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33.2 </a:t>
            </a:r>
            <a:r>
              <a:rPr lang="zh-CN" altLang="en-US" sz="4000" b="1" dirty="0">
                <a:latin typeface="+mn-ea"/>
              </a:rPr>
              <a:t>醛和酮的命名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3000" dirty="0"/>
              <a:t>命名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选主链：含羰基的最长碳链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编号：从靠近羰基一端开始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醛基</a:t>
            </a:r>
            <a:r>
              <a:rPr lang="zh-CN" altLang="en-US" sz="3000" dirty="0"/>
              <a:t>必处于第一位，其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位置不需标明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酮</a:t>
            </a:r>
            <a:r>
              <a:rPr lang="zh-CN" altLang="en-US" sz="3000" dirty="0"/>
              <a:t>分子中的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羰基需</a:t>
            </a:r>
            <a:r>
              <a:rPr lang="zh-CN" altLang="en-US" sz="3000" dirty="0"/>
              <a:t>表示在酮前面</a:t>
            </a:r>
            <a:r>
              <a:rPr lang="en-US" altLang="zh-CN" sz="3000" dirty="0"/>
              <a:t>(</a:t>
            </a:r>
            <a:r>
              <a:rPr lang="zh-CN" altLang="en-US" sz="3000" dirty="0"/>
              <a:t>当</a:t>
            </a:r>
            <a:r>
              <a:rPr lang="en-US" altLang="zh-CN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C&gt;4</a:t>
            </a:r>
            <a:r>
              <a:rPr lang="en-US" altLang="zh-CN" sz="3000" dirty="0"/>
              <a:t>)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取代基的位置与名称</a:t>
            </a:r>
            <a:endParaRPr lang="en-US" altLang="zh-CN" sz="3000" dirty="0"/>
          </a:p>
          <a:p>
            <a:pPr lvl="1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33.2 </a:t>
            </a:r>
            <a:r>
              <a:rPr lang="zh-CN" altLang="en-US" sz="4000" b="1" dirty="0">
                <a:latin typeface="+mn-ea"/>
              </a:rPr>
              <a:t>醛和酮的命名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  <p:pic>
        <p:nvPicPr>
          <p:cNvPr id="8" name="Picture 7" descr="醛酮name1.gif"/>
          <p:cNvPicPr>
            <a:picLocks noChangeAspect="1"/>
          </p:cNvPicPr>
          <p:nvPr/>
        </p:nvPicPr>
        <p:blipFill>
          <a:blip r:embed="rId3"/>
          <a:srcRect l="35345" t="33333" r="43103" b="42029"/>
          <a:stretch>
            <a:fillRect/>
          </a:stretch>
        </p:blipFill>
        <p:spPr>
          <a:xfrm>
            <a:off x="4876800" y="1078992"/>
            <a:ext cx="2895600" cy="1969008"/>
          </a:xfrm>
          <a:prstGeom prst="rect">
            <a:avLst/>
          </a:prstGeom>
        </p:spPr>
      </p:pic>
      <p:pic>
        <p:nvPicPr>
          <p:cNvPr id="11" name="Picture 10" descr="醛酮name1.gif"/>
          <p:cNvPicPr>
            <a:picLocks noChangeAspect="1"/>
          </p:cNvPicPr>
          <p:nvPr/>
        </p:nvPicPr>
        <p:blipFill>
          <a:blip r:embed="rId3"/>
          <a:srcRect t="33333" r="83621" b="42029"/>
          <a:stretch>
            <a:fillRect/>
          </a:stretch>
        </p:blipFill>
        <p:spPr>
          <a:xfrm>
            <a:off x="990600" y="1207168"/>
            <a:ext cx="2057400" cy="1840832"/>
          </a:xfrm>
          <a:prstGeom prst="rect">
            <a:avLst/>
          </a:prstGeom>
        </p:spPr>
      </p:pic>
      <p:pic>
        <p:nvPicPr>
          <p:cNvPr id="13" name="Picture 12" descr="醛酮name1.gif"/>
          <p:cNvPicPr>
            <a:picLocks noChangeAspect="1"/>
          </p:cNvPicPr>
          <p:nvPr/>
        </p:nvPicPr>
        <p:blipFill>
          <a:blip r:embed="rId3"/>
          <a:srcRect l="31034" t="78261" r="38793"/>
          <a:stretch>
            <a:fillRect/>
          </a:stretch>
        </p:blipFill>
        <p:spPr>
          <a:xfrm>
            <a:off x="-76200" y="3505200"/>
            <a:ext cx="4724400" cy="2024743"/>
          </a:xfrm>
          <a:prstGeom prst="rect">
            <a:avLst/>
          </a:prstGeom>
        </p:spPr>
      </p:pic>
      <p:pic>
        <p:nvPicPr>
          <p:cNvPr id="14" name="Picture 13" descr="醛酮name1.gif"/>
          <p:cNvPicPr>
            <a:picLocks noChangeAspect="1"/>
          </p:cNvPicPr>
          <p:nvPr/>
        </p:nvPicPr>
        <p:blipFill>
          <a:blip r:embed="rId3"/>
          <a:srcRect r="79310" b="65218"/>
          <a:stretch>
            <a:fillRect/>
          </a:stretch>
        </p:blipFill>
        <p:spPr>
          <a:xfrm>
            <a:off x="5105400" y="3657600"/>
            <a:ext cx="3429000" cy="2590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600200" y="2514600"/>
            <a:ext cx="10668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5562600" y="2514600"/>
            <a:ext cx="10668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1219200" y="4800600"/>
            <a:ext cx="2590800" cy="6096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5257800" y="5638800"/>
            <a:ext cx="2590800" cy="6096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33.2 </a:t>
            </a:r>
            <a:r>
              <a:rPr lang="zh-CN" altLang="en-US" sz="4000" b="1" dirty="0">
                <a:latin typeface="+mn-ea"/>
              </a:rPr>
              <a:t>醛和酮的命名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  <p:pic>
        <p:nvPicPr>
          <p:cNvPr id="5" name="Picture 4" descr="135.2.jpg"/>
          <p:cNvPicPr>
            <a:picLocks noChangeAspect="1"/>
          </p:cNvPicPr>
          <p:nvPr/>
        </p:nvPicPr>
        <p:blipFill>
          <a:blip r:embed="rId3"/>
          <a:srcRect l="61694" t="69355" r="15322" b="22581"/>
          <a:stretch>
            <a:fillRect/>
          </a:stretch>
        </p:blipFill>
        <p:spPr>
          <a:xfrm>
            <a:off x="5181600" y="3352800"/>
            <a:ext cx="2606040" cy="685800"/>
          </a:xfrm>
          <a:prstGeom prst="rect">
            <a:avLst/>
          </a:prstGeom>
        </p:spPr>
      </p:pic>
      <p:pic>
        <p:nvPicPr>
          <p:cNvPr id="8" name="Picture 7" descr="135.gif"/>
          <p:cNvPicPr>
            <a:picLocks noChangeAspect="1"/>
          </p:cNvPicPr>
          <p:nvPr/>
        </p:nvPicPr>
        <p:blipFill>
          <a:blip r:embed="rId4"/>
          <a:srcRect r="60996" b="64000"/>
          <a:stretch>
            <a:fillRect/>
          </a:stretch>
        </p:blipFill>
        <p:spPr>
          <a:xfrm>
            <a:off x="609600" y="4419600"/>
            <a:ext cx="3657601" cy="1447800"/>
          </a:xfrm>
          <a:prstGeom prst="rect">
            <a:avLst/>
          </a:prstGeom>
        </p:spPr>
      </p:pic>
      <p:pic>
        <p:nvPicPr>
          <p:cNvPr id="9" name="Picture 8" descr="135.2.jpg"/>
          <p:cNvPicPr>
            <a:picLocks noChangeAspect="1"/>
          </p:cNvPicPr>
          <p:nvPr/>
        </p:nvPicPr>
        <p:blipFill>
          <a:blip r:embed="rId3"/>
          <a:srcRect l="6048" t="41936" r="51613" b="35484"/>
          <a:stretch>
            <a:fillRect/>
          </a:stretch>
        </p:blipFill>
        <p:spPr>
          <a:xfrm>
            <a:off x="457199" y="1600200"/>
            <a:ext cx="3737113" cy="1828800"/>
          </a:xfrm>
          <a:prstGeom prst="rect">
            <a:avLst/>
          </a:prstGeom>
        </p:spPr>
      </p:pic>
      <p:pic>
        <p:nvPicPr>
          <p:cNvPr id="11" name="Picture 10" descr="135.2.jpg"/>
          <p:cNvPicPr>
            <a:picLocks noChangeAspect="1"/>
          </p:cNvPicPr>
          <p:nvPr/>
        </p:nvPicPr>
        <p:blipFill>
          <a:blip r:embed="rId3"/>
          <a:srcRect l="12097" t="70968" r="62500" b="19355"/>
          <a:stretch>
            <a:fillRect/>
          </a:stretch>
        </p:blipFill>
        <p:spPr>
          <a:xfrm>
            <a:off x="914400" y="3352800"/>
            <a:ext cx="2667000" cy="762000"/>
          </a:xfrm>
          <a:prstGeom prst="rect">
            <a:avLst/>
          </a:prstGeom>
        </p:spPr>
      </p:pic>
      <p:pic>
        <p:nvPicPr>
          <p:cNvPr id="12" name="Picture 11" descr="135.2.jpg"/>
          <p:cNvPicPr>
            <a:picLocks noChangeAspect="1"/>
          </p:cNvPicPr>
          <p:nvPr/>
        </p:nvPicPr>
        <p:blipFill>
          <a:blip r:embed="rId3"/>
          <a:srcRect l="56855" t="40323" r="6855" b="35484"/>
          <a:stretch>
            <a:fillRect/>
          </a:stretch>
        </p:blipFill>
        <p:spPr>
          <a:xfrm>
            <a:off x="4724400" y="1600200"/>
            <a:ext cx="3657600" cy="18288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202865" y="4856202"/>
            <a:ext cx="203613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甲基丁醛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33.2 </a:t>
            </a:r>
            <a:r>
              <a:rPr lang="zh-CN" altLang="en-US" sz="4000" b="1" dirty="0">
                <a:latin typeface="+mn-ea"/>
              </a:rPr>
              <a:t>醛和酮的命名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  <p:pic>
        <p:nvPicPr>
          <p:cNvPr id="12" name="Picture 11" descr="醛酮name1.gif"/>
          <p:cNvPicPr>
            <a:picLocks noChangeAspect="1"/>
          </p:cNvPicPr>
          <p:nvPr/>
        </p:nvPicPr>
        <p:blipFill>
          <a:blip r:embed="rId3"/>
          <a:srcRect t="60870" r="73276"/>
          <a:stretch>
            <a:fillRect/>
          </a:stretch>
        </p:blipFill>
        <p:spPr>
          <a:xfrm>
            <a:off x="381000" y="1447800"/>
            <a:ext cx="3810000" cy="2362200"/>
          </a:xfrm>
          <a:prstGeom prst="rect">
            <a:avLst/>
          </a:prstGeom>
        </p:spPr>
      </p:pic>
      <p:pic>
        <p:nvPicPr>
          <p:cNvPr id="16" name="Picture 15" descr="醛酮name1.gif"/>
          <p:cNvPicPr>
            <a:picLocks noChangeAspect="1"/>
          </p:cNvPicPr>
          <p:nvPr/>
        </p:nvPicPr>
        <p:blipFill>
          <a:blip r:embed="rId3"/>
          <a:srcRect l="25862" r="33621" b="65218"/>
          <a:stretch>
            <a:fillRect/>
          </a:stretch>
        </p:blipFill>
        <p:spPr>
          <a:xfrm>
            <a:off x="3505200" y="3962400"/>
            <a:ext cx="5334000" cy="2514600"/>
          </a:xfrm>
          <a:prstGeom prst="rect">
            <a:avLst/>
          </a:prstGeom>
        </p:spPr>
      </p:pic>
      <p:pic>
        <p:nvPicPr>
          <p:cNvPr id="18" name="Picture 17" descr="醛酮name1.gif"/>
          <p:cNvPicPr>
            <a:picLocks noChangeAspect="1"/>
          </p:cNvPicPr>
          <p:nvPr/>
        </p:nvPicPr>
        <p:blipFill>
          <a:blip r:embed="rId3"/>
          <a:srcRect l="66379" t="78261"/>
          <a:stretch>
            <a:fillRect/>
          </a:stretch>
        </p:blipFill>
        <p:spPr>
          <a:xfrm>
            <a:off x="4373880" y="1752600"/>
            <a:ext cx="4160520" cy="16002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62000" y="3124200"/>
            <a:ext cx="3124200" cy="6096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5029200" y="2667000"/>
            <a:ext cx="2590800" cy="6096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4191000" y="5867400"/>
            <a:ext cx="3657600" cy="6096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8200" y="3733800"/>
            <a:ext cx="2428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反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-3-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烯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-2-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戊酮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33.2 </a:t>
            </a:r>
            <a:r>
              <a:rPr lang="zh-CN" altLang="en-US" sz="4000" b="1" dirty="0">
                <a:latin typeface="+mn-ea"/>
              </a:rPr>
              <a:t>醛和酮的命名</a:t>
            </a:r>
            <a:endParaRPr lang="en-US" sz="4000" b="1" dirty="0"/>
          </a:p>
        </p:txBody>
      </p:sp>
      <p:pic>
        <p:nvPicPr>
          <p:cNvPr id="16" name="Picture 15" descr="135.3.jpg"/>
          <p:cNvPicPr>
            <a:picLocks noChangeAspect="1"/>
          </p:cNvPicPr>
          <p:nvPr/>
        </p:nvPicPr>
        <p:blipFill>
          <a:blip r:embed="rId3"/>
          <a:srcRect l="36523" t="45573" r="34180" b="35454"/>
          <a:stretch>
            <a:fillRect/>
          </a:stretch>
        </p:blipFill>
        <p:spPr>
          <a:xfrm>
            <a:off x="4876800" y="1447800"/>
            <a:ext cx="2667000" cy="1295400"/>
          </a:xfrm>
          <a:prstGeom prst="rect">
            <a:avLst/>
          </a:prstGeom>
        </p:spPr>
      </p:pic>
      <p:pic>
        <p:nvPicPr>
          <p:cNvPr id="17" name="Picture 16" descr="135.3.jpg"/>
          <p:cNvPicPr>
            <a:picLocks noChangeAspect="1"/>
          </p:cNvPicPr>
          <p:nvPr/>
        </p:nvPicPr>
        <p:blipFill>
          <a:blip r:embed="rId3"/>
          <a:srcRect l="68262" t="42318" b="33943"/>
          <a:stretch>
            <a:fillRect/>
          </a:stretch>
        </p:blipFill>
        <p:spPr>
          <a:xfrm>
            <a:off x="4876800" y="3657600"/>
            <a:ext cx="3124200" cy="1752600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990600" y="3886200"/>
            <a:ext cx="3429000" cy="1600200"/>
            <a:chOff x="4876800" y="3886200"/>
            <a:chExt cx="3429000" cy="1600200"/>
          </a:xfrm>
        </p:grpSpPr>
        <p:pic>
          <p:nvPicPr>
            <p:cNvPr id="15" name="Picture 14" descr="135.gif"/>
            <p:cNvPicPr>
              <a:picLocks noChangeAspect="1"/>
            </p:cNvPicPr>
            <p:nvPr/>
          </p:nvPicPr>
          <p:blipFill>
            <a:blip r:embed="rId4"/>
            <a:srcRect l="7504" t="56000" r="50287" b="11000"/>
            <a:stretch>
              <a:fillRect/>
            </a:stretch>
          </p:blipFill>
          <p:spPr>
            <a:xfrm>
              <a:off x="4876800" y="3886200"/>
              <a:ext cx="3429000" cy="16002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477000" y="4419600"/>
              <a:ext cx="304800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sz="30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=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1524000" y="5562600"/>
            <a:ext cx="242887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苯基丙烯醛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9" name="Picture 18" descr="135.3.jpg"/>
          <p:cNvPicPr>
            <a:picLocks noChangeAspect="1"/>
          </p:cNvPicPr>
          <p:nvPr/>
        </p:nvPicPr>
        <p:blipFill>
          <a:blip r:embed="rId3"/>
          <a:srcRect l="36523" t="64546" r="34180" b="28758"/>
          <a:stretch>
            <a:fillRect/>
          </a:stretch>
        </p:blipFill>
        <p:spPr>
          <a:xfrm>
            <a:off x="4953000" y="2895600"/>
            <a:ext cx="2667000" cy="4572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447800" y="3124200"/>
            <a:ext cx="242887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甲基环己酮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1" name="Picture 20" descr="135.gif"/>
          <p:cNvPicPr>
            <a:picLocks noChangeAspect="1"/>
          </p:cNvPicPr>
          <p:nvPr/>
        </p:nvPicPr>
        <p:blipFill>
          <a:blip r:embed="rId4"/>
          <a:srcRect l="71359" t="49123" b="11629"/>
          <a:stretch>
            <a:fillRect/>
          </a:stretch>
        </p:blipFill>
        <p:spPr>
          <a:xfrm>
            <a:off x="1295400" y="1143000"/>
            <a:ext cx="3122815" cy="2057400"/>
          </a:xfrm>
          <a:prstGeom prst="rect">
            <a:avLst/>
          </a:prstGeom>
        </p:spPr>
      </p:pic>
      <p:pic>
        <p:nvPicPr>
          <p:cNvPr id="22" name="Picture 21" descr="135.3.jpg"/>
          <p:cNvPicPr>
            <a:picLocks noChangeAspect="1"/>
          </p:cNvPicPr>
          <p:nvPr/>
        </p:nvPicPr>
        <p:blipFill>
          <a:blip r:embed="rId3"/>
          <a:srcRect l="68262" t="67089" b="26718"/>
          <a:stretch>
            <a:fillRect/>
          </a:stretch>
        </p:blipFill>
        <p:spPr>
          <a:xfrm>
            <a:off x="5029200" y="5562600"/>
            <a:ext cx="3124200" cy="4572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2667000" y="2158425"/>
            <a:ext cx="381000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1"/>
      <p:bldP spid="20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33.2 </a:t>
            </a:r>
            <a:r>
              <a:rPr lang="zh-CN" altLang="en-US" sz="4000" b="1" dirty="0">
                <a:latin typeface="+mn-ea"/>
              </a:rPr>
              <a:t>醛和酮的命名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000" dirty="0"/>
              <a:t>写出下列有机物的结构简式</a:t>
            </a:r>
            <a:endParaRPr lang="en-US" altLang="zh-CN" sz="3000" dirty="0"/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zh-CN" altLang="en-US" sz="3000" dirty="0"/>
              <a:t>顺</a:t>
            </a:r>
            <a:r>
              <a:rPr lang="en-US" altLang="zh-CN" sz="3000" dirty="0"/>
              <a:t>-2-</a:t>
            </a:r>
            <a:r>
              <a:rPr lang="zh-CN" altLang="en-US" sz="3000" dirty="0"/>
              <a:t>烯丁醛</a:t>
            </a:r>
            <a:endParaRPr lang="en-US" altLang="zh-CN" sz="3000" dirty="0"/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en-US" altLang="zh-CN" sz="3000" dirty="0"/>
              <a:t>2-</a:t>
            </a:r>
            <a:r>
              <a:rPr lang="zh-CN" altLang="en-US" sz="3000" dirty="0"/>
              <a:t>苯乙醛</a:t>
            </a:r>
            <a:endParaRPr lang="en-US" altLang="zh-CN" sz="3000" dirty="0"/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en-US" altLang="zh-CN" sz="3000" dirty="0"/>
              <a:t>4-</a:t>
            </a:r>
            <a:r>
              <a:rPr lang="zh-CN" altLang="en-US" sz="3000" dirty="0"/>
              <a:t>硝基苯甲醛</a:t>
            </a:r>
            <a:endParaRPr lang="en-US" altLang="zh-CN" sz="3000" dirty="0"/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en-US" altLang="zh-CN" sz="3000" dirty="0"/>
              <a:t>2-</a:t>
            </a:r>
            <a:r>
              <a:rPr lang="zh-CN" altLang="en-US" sz="3000" dirty="0"/>
              <a:t>羟基苯甲醛</a:t>
            </a:r>
            <a:endParaRPr lang="en-US" altLang="zh-CN" sz="3000" dirty="0"/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en-US" altLang="zh-CN" sz="3000" dirty="0"/>
              <a:t>6-</a:t>
            </a:r>
            <a:r>
              <a:rPr lang="zh-CN" altLang="en-US" sz="3000" dirty="0"/>
              <a:t>氯</a:t>
            </a:r>
            <a:r>
              <a:rPr lang="en-US" altLang="zh-CN" sz="3000" dirty="0"/>
              <a:t>-2-</a:t>
            </a:r>
            <a:r>
              <a:rPr lang="zh-CN" altLang="en-US" sz="3000" dirty="0"/>
              <a:t>庚酮</a:t>
            </a:r>
            <a:endParaRPr lang="en-US" altLang="zh-CN" sz="3000" dirty="0"/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zh-CN" altLang="en-US" sz="3000" dirty="0"/>
              <a:t>苯乙酮</a:t>
            </a:r>
            <a:endParaRPr lang="en-US" altLang="zh-CN" sz="3000" dirty="0"/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zh-CN" altLang="en-US" sz="3000" dirty="0"/>
              <a:t>二苯基甲酮</a:t>
            </a: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思考题 </a:t>
            </a:r>
            <a:r>
              <a:rPr lang="en-US" altLang="zh-CN" sz="4000" b="1" dirty="0">
                <a:latin typeface="+mn-ea"/>
              </a:rPr>
              <a:t>33b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AutoNum type="arabicPeriod"/>
            </a:pPr>
            <a:r>
              <a:rPr lang="en-US" altLang="zh-CN" sz="3000" dirty="0"/>
              <a:t>2-</a:t>
            </a:r>
            <a:r>
              <a:rPr lang="zh-CN" altLang="en-US" sz="3000" dirty="0"/>
              <a:t>羟基丙醛</a:t>
            </a:r>
            <a:endParaRPr lang="en-US" altLang="zh-CN" sz="3000" dirty="0"/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en-US" altLang="zh-CN" sz="3000" dirty="0"/>
              <a:t>2-</a:t>
            </a:r>
            <a:r>
              <a:rPr lang="zh-CN" altLang="en-US" sz="3000" dirty="0"/>
              <a:t>甲基苯丙酮</a:t>
            </a:r>
            <a:endParaRPr lang="en-US" altLang="zh-CN" sz="3000" dirty="0"/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en-US" altLang="zh-CN" sz="3000" dirty="0"/>
              <a:t>5-</a:t>
            </a:r>
            <a:r>
              <a:rPr lang="zh-CN" altLang="en-US" sz="3000" dirty="0"/>
              <a:t>甲基</a:t>
            </a:r>
            <a:r>
              <a:rPr lang="en-US" altLang="zh-CN" sz="3000" dirty="0"/>
              <a:t>-3-</a:t>
            </a:r>
            <a:r>
              <a:rPr lang="zh-CN" altLang="en-US" sz="3000" dirty="0"/>
              <a:t>庚酮</a:t>
            </a: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20208274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33.3 </a:t>
            </a:r>
            <a:r>
              <a:rPr lang="zh-CN" altLang="en-US" sz="4000" b="1" dirty="0">
                <a:latin typeface="+mn-ea"/>
              </a:rPr>
              <a:t>醛和酮的物理性质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54864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羰基是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强极性基团</a:t>
            </a:r>
            <a:r>
              <a:rPr lang="zh-CN" altLang="en-US" sz="3000" dirty="0"/>
              <a:t>，但</a:t>
            </a: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分子间不能形成氢键</a:t>
            </a:r>
            <a:r>
              <a:rPr lang="zh-CN" altLang="en-US" sz="3000" dirty="0"/>
              <a:t>。</a:t>
            </a:r>
            <a:endParaRPr lang="en-US" altLang="zh-CN" sz="3000" dirty="0"/>
          </a:p>
          <a:p>
            <a:pPr lvl="1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600" dirty="0"/>
              <a:t>影响分子晶体沸点的因素：</a:t>
            </a:r>
            <a:r>
              <a:rPr lang="zh-CN" altLang="en-US" sz="26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氢键、范德华力</a:t>
            </a:r>
            <a:endParaRPr lang="en-US" altLang="zh-CN" sz="2600" b="1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600" dirty="0"/>
              <a:t>影响范德华力的因素：</a:t>
            </a:r>
            <a:endParaRPr lang="en-US" altLang="zh-CN" sz="2600" dirty="0"/>
          </a:p>
          <a:p>
            <a:pPr lvl="2">
              <a:spcBef>
                <a:spcPts val="600"/>
              </a:spcBef>
              <a:buNone/>
            </a:pPr>
            <a:r>
              <a:rPr lang="en-US" altLang="zh-CN" sz="2600" dirty="0"/>
              <a:t>		</a:t>
            </a:r>
            <a:r>
              <a:rPr lang="zh-CN" altLang="en-US" sz="2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式量、分子的形状</a:t>
            </a:r>
            <a:r>
              <a:rPr lang="en-US" altLang="zh-CN" sz="2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2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接触面积</a:t>
            </a:r>
            <a:r>
              <a:rPr lang="en-US" altLang="zh-CN" sz="2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2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、分子的极性</a:t>
            </a:r>
            <a:endParaRPr lang="en-US" altLang="zh-CN" sz="26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2060"/>
                </a:solidFill>
              </a:rPr>
              <a:t>式量相近</a:t>
            </a:r>
            <a:r>
              <a:rPr lang="zh-CN" altLang="en-US" sz="3000" dirty="0"/>
              <a:t>，沸点：</a:t>
            </a: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醇 </a:t>
            </a:r>
            <a:r>
              <a:rPr lang="en-US" altLang="zh-CN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酮</a:t>
            </a:r>
            <a:r>
              <a:rPr lang="en-US" altLang="zh-CN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醛 </a:t>
            </a:r>
            <a:r>
              <a:rPr lang="en-US" altLang="zh-CN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 </a:t>
            </a: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卤代烷 </a:t>
            </a:r>
            <a:r>
              <a:rPr lang="en-US" altLang="zh-CN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 </a:t>
            </a: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烷</a:t>
            </a:r>
            <a:endParaRPr lang="en-US" altLang="zh-CN" sz="3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羰基上的</a:t>
            </a:r>
            <a:r>
              <a:rPr lang="en-US" altLang="zh-CN" sz="3000" dirty="0"/>
              <a:t>O</a:t>
            </a:r>
            <a:r>
              <a:rPr lang="zh-CN" altLang="en-US" sz="3000" dirty="0"/>
              <a:t>能和水分子形成氢键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在水中的溶解度：式量越大，溶解度减弱</a:t>
            </a: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r>
              <a:rPr lang="zh-CN" altLang="en-US" sz="3000" dirty="0"/>
              <a:t>思考题</a:t>
            </a: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r>
              <a:rPr lang="zh-CN" altLang="en-US" sz="3000" dirty="0"/>
              <a:t>为何醛或酮分子间不能形成氢键？</a:t>
            </a: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r>
              <a:rPr lang="zh-CN" altLang="en-US" sz="3000" dirty="0"/>
              <a:t>醛或酮分子中没有几乎裸露的</a:t>
            </a:r>
            <a:r>
              <a:rPr lang="en-US" altLang="zh-CN" sz="3000" dirty="0"/>
              <a:t>H</a:t>
            </a:r>
            <a:r>
              <a:rPr lang="zh-CN" altLang="en-US" sz="3000" dirty="0"/>
              <a:t>原子（没有</a:t>
            </a:r>
            <a:r>
              <a:rPr lang="en-US" altLang="zh-CN" sz="3000" dirty="0"/>
              <a:t>H</a:t>
            </a:r>
            <a:r>
              <a:rPr lang="zh-CN" altLang="en-US" sz="3000" dirty="0"/>
              <a:t>接</a:t>
            </a:r>
            <a:r>
              <a:rPr lang="en-US" altLang="zh-CN" sz="3000" dirty="0"/>
              <a:t>O</a:t>
            </a:r>
            <a:r>
              <a:rPr lang="zh-CN" altLang="en-US" sz="3000" dirty="0"/>
              <a:t>）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思考题 </a:t>
            </a:r>
            <a:r>
              <a:rPr lang="en-US" altLang="zh-CN" sz="4000" b="1" dirty="0">
                <a:latin typeface="+mn-ea"/>
              </a:rPr>
              <a:t>33c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US" altLang="zh-CN" sz="3000" dirty="0"/>
              <a:t>Ans: B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MY" altLang="zh-CN" sz="3000" dirty="0"/>
              <a:t>A </a:t>
            </a:r>
            <a:r>
              <a:rPr lang="zh-CN" altLang="en-US" sz="3000" dirty="0"/>
              <a:t>乙醛结构简式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CHO</a:t>
            </a:r>
            <a:r>
              <a:rPr lang="zh-CN" altLang="en-US" sz="3000" dirty="0"/>
              <a:t>、乙醛分子式：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O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000" dirty="0"/>
              <a:t>C </a:t>
            </a:r>
            <a:r>
              <a:rPr lang="zh-CN" altLang="en-US" sz="3000" dirty="0"/>
              <a:t>乙醛无色易流动液体，有刺激性气味</a:t>
            </a:r>
            <a:endParaRPr lang="en-US" altLang="zh-CN" sz="30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000" dirty="0"/>
              <a:t>D </a:t>
            </a:r>
            <a:r>
              <a:rPr lang="zh-CN" altLang="en-US" sz="3000" dirty="0"/>
              <a:t>乙醛可溶于水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000" dirty="0"/>
              <a:t>2. C 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  <a:p>
            <a:pPr lvl="1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21338671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>
                <a:latin typeface="+mn-ea"/>
              </a:rPr>
              <a:t>33.4 </a:t>
            </a:r>
            <a:r>
              <a:rPr lang="zh-CN" altLang="en-US" sz="4800" b="1" dirty="0">
                <a:latin typeface="+mn-ea"/>
              </a:rPr>
              <a:t>醛和酮的化学性质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534400" cy="5715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羰基</a:t>
            </a:r>
            <a:r>
              <a:rPr lang="en-US" altLang="zh-CN" sz="3000" dirty="0"/>
              <a:t>&gt;C=O</a:t>
            </a:r>
            <a:r>
              <a:rPr lang="zh-CN" altLang="en-US" sz="3000" dirty="0"/>
              <a:t>：一个</a:t>
            </a:r>
            <a:r>
              <a:rPr lang="el-GR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σ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键</a:t>
            </a:r>
            <a:r>
              <a:rPr lang="zh-CN" altLang="en-US" sz="3000" dirty="0"/>
              <a:t>、一个</a:t>
            </a:r>
            <a:r>
              <a:rPr lang="az-Cyrl-AZ" altLang="zh-CN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ᴫ</a:t>
            </a: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键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羰基中的</a:t>
            </a:r>
            <a:r>
              <a:rPr lang="en-US" altLang="zh-CN" sz="3000" dirty="0"/>
              <a:t>C</a:t>
            </a:r>
            <a:r>
              <a:rPr lang="zh-CN" altLang="en-US" sz="3000" dirty="0"/>
              <a:t>和</a:t>
            </a:r>
            <a:r>
              <a:rPr lang="en-US" altLang="zh-CN" sz="3000" dirty="0"/>
              <a:t>O</a:t>
            </a:r>
            <a:r>
              <a:rPr lang="zh-CN" altLang="en-US" sz="3000" dirty="0"/>
              <a:t>均为</a:t>
            </a:r>
            <a:r>
              <a:rPr lang="en-US" altLang="zh-CN" sz="3000" dirty="0"/>
              <a:t>sp</a:t>
            </a:r>
            <a:r>
              <a:rPr lang="en-US" altLang="zh-CN" sz="3000" baseline="30000" dirty="0"/>
              <a:t>2</a:t>
            </a:r>
            <a:r>
              <a:rPr lang="zh-CN" altLang="en-US" sz="3000" baseline="30000" dirty="0"/>
              <a:t> </a:t>
            </a:r>
            <a:r>
              <a:rPr lang="zh-CN" altLang="en-US" sz="3000" dirty="0"/>
              <a:t>杂化，接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近平面三角形</a:t>
            </a: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羰基的</a:t>
            </a:r>
            <a:r>
              <a:rPr lang="en-US" altLang="zh-CN" sz="3000" dirty="0"/>
              <a:t>C=O</a:t>
            </a:r>
            <a:r>
              <a:rPr lang="zh-CN" altLang="en-US" sz="3000" dirty="0"/>
              <a:t>电子云偏向</a:t>
            </a:r>
            <a:r>
              <a:rPr lang="en-US" altLang="zh-CN" sz="3000" dirty="0"/>
              <a:t>O</a:t>
            </a:r>
            <a:r>
              <a:rPr lang="zh-CN" altLang="en-US" sz="3000" dirty="0"/>
              <a:t>原子，羰基是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强极性性</a:t>
            </a:r>
            <a:r>
              <a:rPr lang="zh-CN" altLang="en-US" sz="3000" dirty="0"/>
              <a:t>基团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α</a:t>
            </a:r>
            <a:r>
              <a:rPr lang="en-US" altLang="zh-CN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-C</a:t>
            </a:r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：最靠近羰基的</a:t>
            </a:r>
            <a:r>
              <a:rPr lang="en-US" altLang="zh-CN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原子，其次是</a:t>
            </a:r>
            <a:r>
              <a:rPr lang="el-GR" altLang="zh-CN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β</a:t>
            </a:r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ɤ…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</p:txBody>
      </p:sp>
      <p:pic>
        <p:nvPicPr>
          <p:cNvPr id="26" name="Picture 25" descr="134.Bm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3291785"/>
            <a:ext cx="7010400" cy="211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醛和酮的化学性质主要由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羰基</a:t>
            </a:r>
            <a:r>
              <a:rPr lang="zh-CN" altLang="en-US" sz="3000" dirty="0"/>
              <a:t>决定。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羰基上的加成和羰基旁</a:t>
            </a:r>
            <a:r>
              <a:rPr lang="el-GR" altLang="zh-CN" sz="3000" dirty="0">
                <a:solidFill>
                  <a:srgbClr val="FF00FF"/>
                </a:solidFill>
              </a:rPr>
              <a:t>α</a:t>
            </a:r>
            <a:r>
              <a:rPr lang="en-US" altLang="zh-CN" sz="3000" dirty="0">
                <a:solidFill>
                  <a:srgbClr val="FF00FF"/>
                </a:solidFill>
              </a:rPr>
              <a:t>-C</a:t>
            </a:r>
            <a:r>
              <a:rPr lang="zh-CN" altLang="en-US" sz="3000" dirty="0"/>
              <a:t>上</a:t>
            </a:r>
            <a:r>
              <a:rPr lang="en-US" altLang="zh-CN" sz="3000" dirty="0">
                <a:solidFill>
                  <a:srgbClr val="FF00FF"/>
                </a:solidFill>
              </a:rPr>
              <a:t>H</a:t>
            </a:r>
            <a:r>
              <a:rPr lang="zh-CN" altLang="en-US" sz="3000" dirty="0"/>
              <a:t>的反应。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一般上，醛较酮活泼。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  <p:pic>
        <p:nvPicPr>
          <p:cNvPr id="5" name="Picture 4" descr="137.png"/>
          <p:cNvPicPr>
            <a:picLocks noChangeAspect="1"/>
          </p:cNvPicPr>
          <p:nvPr/>
        </p:nvPicPr>
        <p:blipFill>
          <a:blip r:embed="rId3"/>
          <a:srcRect l="25264" t="19461" r="23157" b="28609"/>
          <a:stretch>
            <a:fillRect/>
          </a:stretch>
        </p:blipFill>
        <p:spPr>
          <a:xfrm>
            <a:off x="1743297" y="3276600"/>
            <a:ext cx="3733800" cy="2819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34000" y="3134380"/>
            <a:ext cx="2008883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吸引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28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</a:t>
            </a:r>
            <a:r>
              <a:rPr lang="en-US" altLang="zh-CN" sz="28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05400" y="5029200"/>
            <a:ext cx="224292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吸引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OH</a:t>
            </a:r>
            <a:r>
              <a:rPr lang="en-US" altLang="zh-CN" sz="2800" b="1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</a:t>
            </a:r>
            <a:r>
              <a:rPr lang="en-US" altLang="zh-CN" sz="2800" b="1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5231" y="5029200"/>
            <a:ext cx="1627369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与碱反应</a:t>
            </a:r>
            <a:endParaRPr lang="en-US" sz="2800" b="1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34000" y="3886200"/>
            <a:ext cx="3791423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容易与氧或游离基反应</a:t>
            </a:r>
            <a:endParaRPr lang="en-US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加成反应：</a:t>
            </a:r>
            <a:endParaRPr lang="en-US" altLang="zh-CN" sz="2600" dirty="0"/>
          </a:p>
          <a:p>
            <a:pPr lvl="1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dirty="0"/>
              <a:t>发生在</a:t>
            </a:r>
            <a:r>
              <a:rPr lang="en-US" altLang="zh-CN" dirty="0"/>
              <a:t>C=O</a:t>
            </a:r>
            <a:r>
              <a:rPr lang="zh-CN" altLang="en-US" dirty="0"/>
              <a:t>上</a:t>
            </a:r>
            <a:endParaRPr lang="en-US" altLang="zh-CN" dirty="0"/>
          </a:p>
          <a:p>
            <a:pPr lvl="1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dirty="0"/>
              <a:t>带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正电的原子</a:t>
            </a:r>
            <a:r>
              <a:rPr lang="zh-CN" altLang="en-US" dirty="0"/>
              <a:t>或基团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加在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原子上</a:t>
            </a:r>
            <a:endParaRPr lang="en-US" altLang="zh-CN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dirty="0"/>
              <a:t>带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负电的原子</a:t>
            </a:r>
            <a:r>
              <a:rPr lang="zh-CN" altLang="en-US" dirty="0"/>
              <a:t>或基团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加在</a:t>
            </a:r>
            <a:r>
              <a:rPr lang="en-US" altLang="zh-CN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原子上</a:t>
            </a:r>
            <a:endParaRPr lang="en-US" altLang="zh-CN" sz="32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spcBef>
                <a:spcPts val="600"/>
              </a:spcBef>
              <a:buNone/>
            </a:pPr>
            <a:endParaRPr lang="en-US" altLang="zh-CN" sz="26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sz="3000" dirty="0"/>
              <a:t>与</a:t>
            </a:r>
            <a:r>
              <a:rPr lang="en-US" altLang="zh-CN" sz="3000" dirty="0"/>
              <a:t>H-CN</a:t>
            </a:r>
            <a:r>
              <a:rPr lang="zh-CN" altLang="en-US" sz="3000" dirty="0"/>
              <a:t>反应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sz="3000" dirty="0"/>
              <a:t>与醇</a:t>
            </a:r>
            <a:r>
              <a:rPr lang="en-US" altLang="zh-CN" sz="3000" dirty="0"/>
              <a:t>R-OH</a:t>
            </a:r>
            <a:r>
              <a:rPr lang="zh-CN" altLang="en-US" sz="3000" dirty="0"/>
              <a:t>反应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sz="3000" dirty="0"/>
              <a:t>与格氏试剂</a:t>
            </a:r>
            <a:r>
              <a:rPr lang="en-US" altLang="zh-CN" sz="3000" dirty="0"/>
              <a:t>R-</a:t>
            </a:r>
            <a:r>
              <a:rPr lang="en-US" altLang="zh-CN" sz="3000" dirty="0" err="1"/>
              <a:t>MgX</a:t>
            </a:r>
            <a:r>
              <a:rPr lang="zh-CN" altLang="en-US" sz="3000" dirty="0"/>
              <a:t>反应</a:t>
            </a: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2600" dirty="0"/>
          </a:p>
        </p:txBody>
      </p:sp>
      <p:sp>
        <p:nvSpPr>
          <p:cNvPr id="5" name="Rectangle 4"/>
          <p:cNvSpPr/>
          <p:nvPr/>
        </p:nvSpPr>
        <p:spPr>
          <a:xfrm>
            <a:off x="6553200" y="2209800"/>
            <a:ext cx="25731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(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带部分负电荷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)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53200" y="2667000"/>
            <a:ext cx="25731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(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带部分正电荷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)</a:t>
            </a:r>
            <a:endParaRPr lang="en-US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23174" y="3560802"/>
            <a:ext cx="37702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</a:p>
        </p:txBody>
      </p:sp>
      <p:sp>
        <p:nvSpPr>
          <p:cNvPr id="8" name="Rectangle 7"/>
          <p:cNvSpPr/>
          <p:nvPr/>
        </p:nvSpPr>
        <p:spPr>
          <a:xfrm>
            <a:off x="1908114" y="3560802"/>
            <a:ext cx="30168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4174" y="4246602"/>
            <a:ext cx="37702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9114" y="4246602"/>
            <a:ext cx="30168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5374" y="5008602"/>
            <a:ext cx="37702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9400" y="5008602"/>
            <a:ext cx="30168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9" grpId="0"/>
      <p:bldP spid="11" grpId="0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加成反应</a:t>
            </a:r>
            <a:r>
              <a:rPr lang="en-US" altLang="zh-CN" sz="3000" dirty="0"/>
              <a:t>-</a:t>
            </a:r>
            <a:r>
              <a:rPr lang="zh-CN" altLang="en-US" sz="3000" dirty="0"/>
              <a:t>与</a:t>
            </a:r>
            <a:r>
              <a:rPr lang="en-US" altLang="zh-CN" sz="3000" dirty="0"/>
              <a:t>HCN</a:t>
            </a:r>
            <a:r>
              <a:rPr lang="zh-CN" altLang="en-US" sz="3000" dirty="0"/>
              <a:t>反应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催化剂：碱，如：</a:t>
            </a:r>
            <a:r>
              <a:rPr lang="en-US" altLang="zh-CN" sz="3000" dirty="0" err="1"/>
              <a:t>NaOH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3000" dirty="0"/>
              <a:t>HCN(</a:t>
            </a:r>
            <a:r>
              <a:rPr lang="en-US" altLang="zh-CN" sz="3000" dirty="0" err="1"/>
              <a:t>aq</a:t>
            </a:r>
            <a:r>
              <a:rPr lang="en-US" altLang="zh-CN" sz="3000" dirty="0"/>
              <a:t>) 		H</a:t>
            </a:r>
            <a:r>
              <a:rPr lang="en-US" altLang="zh-CN" sz="3000" baseline="30000" dirty="0"/>
              <a:t>+</a:t>
            </a:r>
            <a:r>
              <a:rPr lang="en-US" altLang="zh-CN" sz="3000" dirty="0"/>
              <a:t> (</a:t>
            </a:r>
            <a:r>
              <a:rPr lang="en-US" altLang="zh-CN" sz="3000" dirty="0" err="1"/>
              <a:t>aq</a:t>
            </a:r>
            <a:r>
              <a:rPr lang="en-US" altLang="zh-CN" sz="3000" dirty="0"/>
              <a:t>)+ CN</a:t>
            </a:r>
            <a:r>
              <a:rPr lang="en-US" altLang="zh-CN" sz="3000" baseline="30000" dirty="0"/>
              <a:t>-</a:t>
            </a:r>
            <a:r>
              <a:rPr lang="en-US" altLang="zh-CN" sz="3000" dirty="0"/>
              <a:t> (</a:t>
            </a:r>
            <a:r>
              <a:rPr lang="en-US" altLang="zh-CN" sz="3000" dirty="0" err="1"/>
              <a:t>aq</a:t>
            </a:r>
            <a:r>
              <a:rPr lang="en-US" altLang="zh-CN" sz="3000" dirty="0"/>
              <a:t>)</a:t>
            </a: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3000" dirty="0" err="1"/>
              <a:t>NaOH</a:t>
            </a:r>
            <a:r>
              <a:rPr lang="en-US" altLang="zh-CN" sz="3000" dirty="0"/>
              <a:t>(</a:t>
            </a:r>
            <a:r>
              <a:rPr lang="en-US" altLang="zh-CN" sz="3000" dirty="0" err="1"/>
              <a:t>aq</a:t>
            </a:r>
            <a:r>
              <a:rPr lang="en-US" altLang="zh-CN" sz="3000" dirty="0"/>
              <a:t>) </a:t>
            </a:r>
            <a:r>
              <a:rPr lang="en-US" altLang="zh-CN" sz="3000" dirty="0">
                <a:sym typeface="Wingdings" pitchFamily="2" charset="2"/>
              </a:rPr>
              <a:t> 	OH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Na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	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  <p:pic>
        <p:nvPicPr>
          <p:cNvPr id="6" name="Picture 5" descr="137.2.jpg"/>
          <p:cNvPicPr>
            <a:picLocks noChangeAspect="1"/>
          </p:cNvPicPr>
          <p:nvPr/>
        </p:nvPicPr>
        <p:blipFill>
          <a:blip r:embed="rId3"/>
          <a:srcRect l="4025" t="15714" r="9434" b="61982"/>
          <a:stretch>
            <a:fillRect/>
          </a:stretch>
        </p:blipFill>
        <p:spPr>
          <a:xfrm>
            <a:off x="381000" y="3962400"/>
            <a:ext cx="7744691" cy="1676400"/>
          </a:xfrm>
          <a:prstGeom prst="rect">
            <a:avLst/>
          </a:prstGeom>
        </p:spPr>
      </p:pic>
      <p:grpSp>
        <p:nvGrpSpPr>
          <p:cNvPr id="9" name="Group 11"/>
          <p:cNvGrpSpPr/>
          <p:nvPr/>
        </p:nvGrpSpPr>
        <p:grpSpPr>
          <a:xfrm>
            <a:off x="2133600" y="2438400"/>
            <a:ext cx="822960" cy="76199"/>
            <a:chOff x="2895600" y="6324600"/>
            <a:chExt cx="2133600" cy="76199"/>
          </a:xfrm>
        </p:grpSpPr>
        <p:cxnSp>
          <p:nvCxnSpPr>
            <p:cNvPr id="11" name="Straight Arrow Connector 10"/>
            <p:cNvCxnSpPr/>
            <p:nvPr/>
          </p:nvCxnSpPr>
          <p:spPr>
            <a:xfrm rot="10800000">
              <a:off x="2895600" y="6399210"/>
              <a:ext cx="2057400" cy="1589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2895600" y="6324600"/>
              <a:ext cx="21336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1"/>
          <p:cNvGrpSpPr/>
          <p:nvPr/>
        </p:nvGrpSpPr>
        <p:grpSpPr>
          <a:xfrm rot="5400000">
            <a:off x="3200400" y="3352800"/>
            <a:ext cx="381001" cy="76199"/>
            <a:chOff x="2895600" y="6324600"/>
            <a:chExt cx="2133600" cy="76199"/>
          </a:xfrm>
        </p:grpSpPr>
        <p:cxnSp>
          <p:nvCxnSpPr>
            <p:cNvPr id="14" name="Straight Arrow Connector 13"/>
            <p:cNvCxnSpPr/>
            <p:nvPr/>
          </p:nvCxnSpPr>
          <p:spPr>
            <a:xfrm rot="10800000">
              <a:off x="2895600" y="6399210"/>
              <a:ext cx="2057400" cy="1589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2895600" y="6324600"/>
              <a:ext cx="21336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/>
          <p:cNvSpPr/>
          <p:nvPr/>
        </p:nvSpPr>
        <p:spPr>
          <a:xfrm>
            <a:off x="5698826" y="2362200"/>
            <a:ext cx="34451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碱的存在使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[CN</a:t>
            </a:r>
            <a:r>
              <a:rPr lang="en-US" altLang="zh-CN" sz="2800" b="1" baseline="30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-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]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增加</a:t>
            </a:r>
            <a:endParaRPr lang="en-US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470863" y="5725180"/>
            <a:ext cx="45640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/>
              <a:t>-OH</a:t>
            </a:r>
            <a:r>
              <a:rPr lang="zh-CN" altLang="en-US" sz="2800" b="1" dirty="0"/>
              <a:t>链接在</a:t>
            </a:r>
            <a:r>
              <a:rPr lang="zh-CN" altLang="en-US" sz="2800" b="1" dirty="0">
                <a:solidFill>
                  <a:srgbClr val="2D1ABC"/>
                </a:solidFill>
              </a:rPr>
              <a:t>氰基</a:t>
            </a:r>
            <a:r>
              <a:rPr lang="en-US" altLang="zh-CN" sz="2800" b="1" dirty="0">
                <a:solidFill>
                  <a:srgbClr val="2D1ABC"/>
                </a:solidFill>
              </a:rPr>
              <a:t>(-CN)</a:t>
            </a:r>
            <a:r>
              <a:rPr lang="zh-CN" altLang="en-US" sz="2800" b="1" dirty="0"/>
              <a:t>的</a:t>
            </a:r>
            <a:r>
              <a:rPr lang="el-GR" altLang="zh-CN" sz="2800" b="1" dirty="0"/>
              <a:t>α</a:t>
            </a:r>
            <a:r>
              <a:rPr lang="en-US" altLang="zh-CN" sz="2800" b="1" dirty="0"/>
              <a:t>-C</a:t>
            </a:r>
            <a:r>
              <a:rPr lang="zh-CN" altLang="en-US" sz="2800" b="1" dirty="0"/>
              <a:t>上</a:t>
            </a:r>
            <a:endParaRPr lang="en-US" sz="2800" b="1" dirty="0"/>
          </a:p>
        </p:txBody>
      </p:sp>
      <p:pic>
        <p:nvPicPr>
          <p:cNvPr id="18" name="Picture 17" descr="137.2.jpg"/>
          <p:cNvPicPr>
            <a:picLocks noChangeAspect="1"/>
          </p:cNvPicPr>
          <p:nvPr/>
        </p:nvPicPr>
        <p:blipFill>
          <a:blip r:embed="rId3"/>
          <a:srcRect l="69589" t="41059" r="15936" b="52858"/>
          <a:stretch>
            <a:fillRect/>
          </a:stretch>
        </p:blipFill>
        <p:spPr>
          <a:xfrm>
            <a:off x="6096000" y="3657600"/>
            <a:ext cx="12954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6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加成反应</a:t>
            </a:r>
            <a:r>
              <a:rPr lang="en-US" altLang="zh-CN" sz="3000" dirty="0"/>
              <a:t>-</a:t>
            </a:r>
            <a:r>
              <a:rPr lang="zh-CN" altLang="en-US" sz="3000" dirty="0"/>
              <a:t>与</a:t>
            </a:r>
            <a:r>
              <a:rPr lang="en-US" altLang="zh-CN" sz="3000" dirty="0"/>
              <a:t>HCN</a:t>
            </a:r>
            <a:r>
              <a:rPr lang="zh-CN" altLang="en-US" sz="3000" dirty="0"/>
              <a:t>反应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zh-CN" sz="3000" dirty="0"/>
              <a:t>α</a:t>
            </a:r>
            <a:r>
              <a:rPr lang="en-US" altLang="zh-CN" sz="3000" dirty="0"/>
              <a:t>-</a:t>
            </a:r>
            <a:r>
              <a:rPr lang="zh-CN" altLang="en-US" sz="3000" dirty="0"/>
              <a:t>羟基腈</a:t>
            </a:r>
            <a:r>
              <a:rPr lang="en-US" altLang="zh-CN" sz="3000" dirty="0"/>
              <a:t>+ 2H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 	 </a:t>
            </a:r>
            <a:r>
              <a:rPr lang="zh-CN" altLang="zh-CN" sz="3000" dirty="0"/>
              <a:t>α</a:t>
            </a:r>
            <a:r>
              <a:rPr lang="en-US" altLang="zh-CN" sz="3000" dirty="0"/>
              <a:t>-</a:t>
            </a:r>
            <a:r>
              <a:rPr lang="zh-CN" altLang="en-US" sz="3000" dirty="0"/>
              <a:t>羟基酸 </a:t>
            </a:r>
            <a:r>
              <a:rPr lang="en-US" altLang="zh-CN" sz="3000" dirty="0"/>
              <a:t>+ NH</a:t>
            </a:r>
            <a:r>
              <a:rPr lang="en-US" altLang="zh-CN" sz="3000" baseline="-25000" dirty="0"/>
              <a:t>3 </a:t>
            </a: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增加碳链的方法</a:t>
            </a:r>
            <a:endParaRPr lang="en-US" altLang="zh-CN" sz="3000" baseline="30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  <p:pic>
        <p:nvPicPr>
          <p:cNvPr id="7" name="Picture 6" descr="137.3.gif"/>
          <p:cNvPicPr>
            <a:picLocks noChangeAspect="1"/>
          </p:cNvPicPr>
          <p:nvPr/>
        </p:nvPicPr>
        <p:blipFill>
          <a:blip r:embed="rId3"/>
          <a:srcRect r="64894" b="53223"/>
          <a:stretch>
            <a:fillRect/>
          </a:stretch>
        </p:blipFill>
        <p:spPr>
          <a:xfrm>
            <a:off x="381000" y="2785496"/>
            <a:ext cx="2514600" cy="1905000"/>
          </a:xfrm>
          <a:prstGeom prst="rect">
            <a:avLst/>
          </a:prstGeom>
        </p:spPr>
      </p:pic>
      <p:grpSp>
        <p:nvGrpSpPr>
          <p:cNvPr id="9" name="Group 47"/>
          <p:cNvGrpSpPr/>
          <p:nvPr/>
        </p:nvGrpSpPr>
        <p:grpSpPr>
          <a:xfrm>
            <a:off x="3383280" y="1676400"/>
            <a:ext cx="731520" cy="400110"/>
            <a:chOff x="2819400" y="5940623"/>
            <a:chExt cx="731520" cy="400110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971800" y="5940623"/>
              <a:ext cx="4876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H</a:t>
              </a:r>
              <a:r>
                <a:rPr lang="en-US" altLang="zh-CN" sz="2000" baseline="30000" dirty="0"/>
                <a:t>+</a:t>
              </a:r>
              <a:r>
                <a:rPr lang="en-US" altLang="zh-CN" sz="2000" dirty="0"/>
                <a:t> </a:t>
              </a:r>
              <a:endParaRPr lang="en-US" sz="2000" dirty="0"/>
            </a:p>
          </p:txBody>
        </p:sp>
      </p:grpSp>
      <p:pic>
        <p:nvPicPr>
          <p:cNvPr id="13" name="Picture 12" descr="137.3.gif"/>
          <p:cNvPicPr>
            <a:picLocks noChangeAspect="1"/>
          </p:cNvPicPr>
          <p:nvPr/>
        </p:nvPicPr>
        <p:blipFill>
          <a:blip r:embed="rId3"/>
          <a:srcRect t="48648" r="58511"/>
          <a:stretch>
            <a:fillRect/>
          </a:stretch>
        </p:blipFill>
        <p:spPr>
          <a:xfrm>
            <a:off x="533400" y="4842896"/>
            <a:ext cx="2971800" cy="2091304"/>
          </a:xfrm>
          <a:prstGeom prst="rect">
            <a:avLst/>
          </a:prstGeom>
        </p:spPr>
      </p:pic>
      <p:pic>
        <p:nvPicPr>
          <p:cNvPr id="14" name="Picture 13" descr="137.3.gif"/>
          <p:cNvPicPr>
            <a:picLocks noChangeAspect="1"/>
          </p:cNvPicPr>
          <p:nvPr/>
        </p:nvPicPr>
        <p:blipFill>
          <a:blip r:embed="rId3"/>
          <a:srcRect l="34043" r="31915" b="53223"/>
          <a:stretch>
            <a:fillRect/>
          </a:stretch>
        </p:blipFill>
        <p:spPr>
          <a:xfrm>
            <a:off x="2819400" y="2785496"/>
            <a:ext cx="2438400" cy="1905000"/>
          </a:xfrm>
          <a:prstGeom prst="rect">
            <a:avLst/>
          </a:prstGeom>
        </p:spPr>
      </p:pic>
      <p:pic>
        <p:nvPicPr>
          <p:cNvPr id="15" name="Picture 14" descr="137.3.gif"/>
          <p:cNvPicPr>
            <a:picLocks noChangeAspect="1"/>
          </p:cNvPicPr>
          <p:nvPr/>
        </p:nvPicPr>
        <p:blipFill>
          <a:blip r:embed="rId3"/>
          <a:srcRect l="67022" b="65488"/>
          <a:stretch>
            <a:fillRect/>
          </a:stretch>
        </p:blipFill>
        <p:spPr>
          <a:xfrm>
            <a:off x="5257800" y="2785496"/>
            <a:ext cx="2362200" cy="1405504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3581400" y="4842896"/>
            <a:ext cx="2362200" cy="2091304"/>
            <a:chOff x="3581400" y="4495800"/>
            <a:chExt cx="2362200" cy="2091304"/>
          </a:xfrm>
        </p:grpSpPr>
        <p:pic>
          <p:nvPicPr>
            <p:cNvPr id="16" name="Picture 15" descr="137.3.gif"/>
            <p:cNvPicPr>
              <a:picLocks noChangeAspect="1"/>
            </p:cNvPicPr>
            <p:nvPr/>
          </p:nvPicPr>
          <p:blipFill>
            <a:blip r:embed="rId3"/>
            <a:srcRect l="41489" t="48648" r="25532"/>
            <a:stretch>
              <a:fillRect/>
            </a:stretch>
          </p:blipFill>
          <p:spPr>
            <a:xfrm>
              <a:off x="3581400" y="4495800"/>
              <a:ext cx="2362200" cy="2091304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3962400" y="5638800"/>
              <a:ext cx="351378" cy="46166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R</a:t>
              </a:r>
              <a:endParaRPr lang="en-US" sz="2400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943600" y="4766696"/>
            <a:ext cx="1828800" cy="1634104"/>
            <a:chOff x="5943600" y="4419600"/>
            <a:chExt cx="1828800" cy="1634104"/>
          </a:xfrm>
        </p:grpSpPr>
        <p:pic>
          <p:nvPicPr>
            <p:cNvPr id="17" name="Picture 16" descr="137.3.gif"/>
            <p:cNvPicPr>
              <a:picLocks noChangeAspect="1"/>
            </p:cNvPicPr>
            <p:nvPr/>
          </p:nvPicPr>
          <p:blipFill>
            <a:blip r:embed="rId3"/>
            <a:srcRect l="74468" t="48648" b="11227"/>
            <a:stretch>
              <a:fillRect/>
            </a:stretch>
          </p:blipFill>
          <p:spPr>
            <a:xfrm>
              <a:off x="5943600" y="4419600"/>
              <a:ext cx="1828800" cy="1634104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6400800" y="5562600"/>
              <a:ext cx="351378" cy="46166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R</a:t>
              </a:r>
              <a:endParaRPr lang="en-US" sz="2400" dirty="0"/>
            </a:p>
          </p:txBody>
        </p:sp>
      </p:grpSp>
      <p:sp>
        <p:nvSpPr>
          <p:cNvPr id="22" name="Rectangle 21"/>
          <p:cNvSpPr/>
          <p:nvPr/>
        </p:nvSpPr>
        <p:spPr>
          <a:xfrm>
            <a:off x="4114800" y="2286000"/>
            <a:ext cx="50343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/>
              <a:t>-OH</a:t>
            </a:r>
            <a:r>
              <a:rPr lang="zh-CN" altLang="en-US" sz="2800" b="1" dirty="0"/>
              <a:t>链接在</a:t>
            </a:r>
            <a:r>
              <a:rPr lang="zh-CN" altLang="en-US" sz="2800" b="1" dirty="0">
                <a:solidFill>
                  <a:srgbClr val="2D1ABC"/>
                </a:solidFill>
              </a:rPr>
              <a:t>羧基</a:t>
            </a:r>
            <a:r>
              <a:rPr lang="en-US" altLang="zh-CN" sz="2800" b="1" dirty="0">
                <a:solidFill>
                  <a:srgbClr val="2D1ABC"/>
                </a:solidFill>
              </a:rPr>
              <a:t>(-COOH)</a:t>
            </a:r>
            <a:r>
              <a:rPr lang="zh-CN" altLang="en-US" sz="2800" b="1" dirty="0"/>
              <a:t>的</a:t>
            </a:r>
            <a:r>
              <a:rPr lang="el-GR" altLang="zh-CN" sz="2800" b="1" dirty="0">
                <a:solidFill>
                  <a:srgbClr val="FF0000"/>
                </a:solidFill>
              </a:rPr>
              <a:t>α</a:t>
            </a:r>
            <a:r>
              <a:rPr lang="en-US" altLang="zh-CN" sz="2800" b="1" dirty="0">
                <a:solidFill>
                  <a:srgbClr val="FF0000"/>
                </a:solidFill>
              </a:rPr>
              <a:t>-C</a:t>
            </a:r>
            <a:r>
              <a:rPr lang="zh-CN" altLang="en-US" sz="2800" b="1" dirty="0"/>
              <a:t>上</a:t>
            </a:r>
            <a:endParaRPr lang="en-US" sz="2800" b="1" dirty="0"/>
          </a:p>
        </p:txBody>
      </p:sp>
      <p:pic>
        <p:nvPicPr>
          <p:cNvPr id="23" name="Picture 22" descr="137.3.gif"/>
          <p:cNvPicPr>
            <a:picLocks noChangeAspect="1"/>
          </p:cNvPicPr>
          <p:nvPr/>
        </p:nvPicPr>
        <p:blipFill>
          <a:blip r:embed="rId3"/>
          <a:srcRect l="67022" t="36383" b="53223"/>
          <a:stretch>
            <a:fillRect/>
          </a:stretch>
        </p:blipFill>
        <p:spPr>
          <a:xfrm>
            <a:off x="5334000" y="4224904"/>
            <a:ext cx="2362200" cy="423296"/>
          </a:xfrm>
          <a:prstGeom prst="rect">
            <a:avLst/>
          </a:prstGeom>
        </p:spPr>
      </p:pic>
      <p:pic>
        <p:nvPicPr>
          <p:cNvPr id="24" name="Picture 23" descr="137.3.gif"/>
          <p:cNvPicPr>
            <a:picLocks noChangeAspect="1"/>
          </p:cNvPicPr>
          <p:nvPr/>
        </p:nvPicPr>
        <p:blipFill>
          <a:blip r:embed="rId3"/>
          <a:srcRect l="67022" t="36383" b="53223"/>
          <a:stretch>
            <a:fillRect/>
          </a:stretch>
        </p:blipFill>
        <p:spPr>
          <a:xfrm>
            <a:off x="5791200" y="6358504"/>
            <a:ext cx="2362200" cy="42329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705600" y="1676400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</a:rPr>
              <a:t>水解反应</a:t>
            </a:r>
            <a:endParaRPr lang="en-US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2" grpId="0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加成反应</a:t>
            </a:r>
            <a:r>
              <a:rPr lang="en-US" altLang="zh-CN" sz="3000" dirty="0"/>
              <a:t>-</a:t>
            </a:r>
            <a:r>
              <a:rPr lang="zh-CN" altLang="en-US" sz="3000" dirty="0"/>
              <a:t>与醇反应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很少考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醛</a:t>
            </a:r>
            <a:r>
              <a:rPr lang="en-US" altLang="zh-CN" sz="3000" dirty="0"/>
              <a:t>+  ROH </a:t>
            </a:r>
            <a:r>
              <a:rPr lang="en-US" altLang="zh-CN" sz="3000" dirty="0">
                <a:sym typeface="Wingdings" pitchFamily="2" charset="2"/>
              </a:rPr>
              <a:t>	 	</a:t>
            </a:r>
            <a:r>
              <a:rPr lang="zh-CN" altLang="en-US" sz="3000" dirty="0">
                <a:sym typeface="Wingdings" pitchFamily="2" charset="2"/>
              </a:rPr>
              <a:t>半缩醛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半缩醛 </a:t>
            </a:r>
            <a:r>
              <a:rPr lang="en-US" altLang="zh-CN" sz="3000" dirty="0">
                <a:sym typeface="Wingdings" pitchFamily="2" charset="2"/>
              </a:rPr>
              <a:t>+ ROH 		    </a:t>
            </a:r>
            <a:r>
              <a:rPr lang="zh-CN" altLang="en-US" sz="3000" dirty="0">
                <a:sym typeface="Wingdings" pitchFamily="2" charset="2"/>
              </a:rPr>
              <a:t>缩醛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酮</a:t>
            </a:r>
            <a:r>
              <a:rPr lang="en-US" altLang="zh-CN" sz="3000" dirty="0"/>
              <a:t>+ ROH </a:t>
            </a:r>
            <a:r>
              <a:rPr lang="en-US" altLang="zh-CN" sz="3000" dirty="0">
                <a:sym typeface="Wingdings" pitchFamily="2" charset="2"/>
              </a:rPr>
              <a:t>		   </a:t>
            </a:r>
            <a:r>
              <a:rPr lang="zh-CN" altLang="en-US" sz="3000" dirty="0">
                <a:sym typeface="Wingdings" pitchFamily="2" charset="2"/>
              </a:rPr>
              <a:t>半缩</a:t>
            </a:r>
            <a:r>
              <a:rPr lang="zh-CN" altLang="en-US" sz="3000" dirty="0"/>
              <a:t>酮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半缩</a:t>
            </a:r>
            <a:r>
              <a:rPr lang="zh-CN" altLang="en-US" sz="3000" dirty="0"/>
              <a:t>酮</a:t>
            </a:r>
            <a:r>
              <a:rPr lang="en-US" altLang="zh-CN" sz="3000" dirty="0">
                <a:sym typeface="Wingdings" pitchFamily="2" charset="2"/>
              </a:rPr>
              <a:t>+ ROH 		   </a:t>
            </a:r>
            <a:r>
              <a:rPr lang="zh-CN" altLang="en-US" sz="3000" dirty="0">
                <a:sym typeface="Wingdings" pitchFamily="2" charset="2"/>
              </a:rPr>
              <a:t>缩</a:t>
            </a:r>
            <a:r>
              <a:rPr lang="zh-CN" altLang="en-US" sz="3000" dirty="0"/>
              <a:t>酮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</p:txBody>
      </p:sp>
      <p:grpSp>
        <p:nvGrpSpPr>
          <p:cNvPr id="5" name="Group 4"/>
          <p:cNvGrpSpPr/>
          <p:nvPr/>
        </p:nvGrpSpPr>
        <p:grpSpPr>
          <a:xfrm>
            <a:off x="2590800" y="1676400"/>
            <a:ext cx="1028199" cy="369332"/>
            <a:chOff x="2797041" y="5891947"/>
            <a:chExt cx="1028199" cy="369332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2819400" y="6172117"/>
              <a:ext cx="100584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797041" y="5891947"/>
              <a:ext cx="966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干燥</a:t>
              </a:r>
              <a:r>
                <a:rPr lang="en-US" altLang="zh-CN" dirty="0" err="1"/>
                <a:t>HCl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048000" y="2209800"/>
            <a:ext cx="1028199" cy="369332"/>
            <a:chOff x="2797041" y="5891947"/>
            <a:chExt cx="1028199" cy="369332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2819400" y="6172117"/>
              <a:ext cx="100584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797041" y="5891947"/>
              <a:ext cx="966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干燥</a:t>
              </a:r>
              <a:r>
                <a:rPr lang="en-US" altLang="zh-CN" dirty="0" err="1"/>
                <a:t>HCl</a:t>
              </a:r>
              <a:endParaRPr lang="en-US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172201" y="3276600"/>
            <a:ext cx="1028199" cy="369332"/>
            <a:chOff x="2797041" y="5891947"/>
            <a:chExt cx="1028199" cy="369332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2819400" y="6172117"/>
              <a:ext cx="100584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797041" y="5891947"/>
              <a:ext cx="966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干燥</a:t>
              </a:r>
              <a:r>
                <a:rPr lang="en-US" altLang="zh-CN" dirty="0" err="1"/>
                <a:t>HCl</a:t>
              </a:r>
              <a:endParaRPr lang="en-US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124200" y="3821668"/>
            <a:ext cx="1028199" cy="369332"/>
            <a:chOff x="2797041" y="5891947"/>
            <a:chExt cx="1028199" cy="369332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2819400" y="6172117"/>
              <a:ext cx="100584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2797041" y="5891947"/>
              <a:ext cx="966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干燥</a:t>
              </a:r>
              <a:r>
                <a:rPr lang="en-US" altLang="zh-CN" dirty="0" err="1"/>
                <a:t>HCl</a:t>
              </a:r>
              <a:endParaRPr lang="en-US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334000" y="3429000"/>
            <a:ext cx="2283341" cy="685800"/>
            <a:chOff x="5715000" y="2895600"/>
            <a:chExt cx="2283341" cy="685800"/>
          </a:xfrm>
        </p:grpSpPr>
        <p:sp>
          <p:nvSpPr>
            <p:cNvPr id="19" name="TextBox 18"/>
            <p:cNvSpPr txBox="1"/>
            <p:nvPr/>
          </p:nvSpPr>
          <p:spPr>
            <a:xfrm>
              <a:off x="6172200" y="2971800"/>
              <a:ext cx="1826141" cy="58477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sz="3200" dirty="0"/>
                <a:t>较难进行</a:t>
              </a:r>
              <a:endParaRPr lang="en-US" sz="3000" dirty="0"/>
            </a:p>
          </p:txBody>
        </p:sp>
        <p:sp>
          <p:nvSpPr>
            <p:cNvPr id="20" name="Right Brace 19"/>
            <p:cNvSpPr/>
            <p:nvPr/>
          </p:nvSpPr>
          <p:spPr>
            <a:xfrm>
              <a:off x="5715000" y="2895600"/>
              <a:ext cx="381000" cy="68580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加成反应</a:t>
            </a:r>
            <a:r>
              <a:rPr lang="en-US" altLang="zh-CN" sz="3000" dirty="0"/>
              <a:t>-</a:t>
            </a:r>
            <a:r>
              <a:rPr lang="zh-CN" altLang="en-US" sz="3000" dirty="0"/>
              <a:t>与醇反应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半缩醛</a:t>
            </a:r>
            <a:r>
              <a:rPr lang="zh-CN" altLang="en-US" sz="3000" dirty="0"/>
              <a:t>与醇反应</a:t>
            </a:r>
            <a:r>
              <a:rPr lang="en-US" altLang="zh-CN" sz="3000" dirty="0"/>
              <a:t>-</a:t>
            </a:r>
            <a:r>
              <a:rPr lang="zh-CN" altLang="en-US" sz="3000" dirty="0"/>
              <a:t>取代反应</a:t>
            </a: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endParaRPr lang="en-US" altLang="zh-CN" sz="3000" dirty="0"/>
          </a:p>
        </p:txBody>
      </p:sp>
      <p:pic>
        <p:nvPicPr>
          <p:cNvPr id="6" name="Picture 5" descr="138.gif"/>
          <p:cNvPicPr>
            <a:picLocks noChangeAspect="1"/>
          </p:cNvPicPr>
          <p:nvPr/>
        </p:nvPicPr>
        <p:blipFill>
          <a:blip r:embed="rId3"/>
          <a:srcRect r="43220" b="52000"/>
          <a:stretch>
            <a:fillRect/>
          </a:stretch>
        </p:blipFill>
        <p:spPr>
          <a:xfrm>
            <a:off x="609600" y="1524000"/>
            <a:ext cx="4495800" cy="1828800"/>
          </a:xfrm>
          <a:prstGeom prst="rect">
            <a:avLst/>
          </a:prstGeom>
        </p:spPr>
      </p:pic>
      <p:pic>
        <p:nvPicPr>
          <p:cNvPr id="11" name="Picture 10" descr="138.gif"/>
          <p:cNvPicPr>
            <a:picLocks noChangeAspect="1"/>
          </p:cNvPicPr>
          <p:nvPr/>
        </p:nvPicPr>
        <p:blipFill>
          <a:blip r:embed="rId3"/>
          <a:srcRect l="56780" b="52000"/>
          <a:stretch>
            <a:fillRect/>
          </a:stretch>
        </p:blipFill>
        <p:spPr>
          <a:xfrm>
            <a:off x="5181600" y="1524000"/>
            <a:ext cx="3422189" cy="1828800"/>
          </a:xfrm>
          <a:prstGeom prst="rect">
            <a:avLst/>
          </a:prstGeom>
        </p:spPr>
      </p:pic>
      <p:pic>
        <p:nvPicPr>
          <p:cNvPr id="17" name="Picture 16" descr="138.gif"/>
          <p:cNvPicPr>
            <a:picLocks noChangeAspect="1"/>
          </p:cNvPicPr>
          <p:nvPr/>
        </p:nvPicPr>
        <p:blipFill>
          <a:blip r:embed="rId3"/>
          <a:srcRect l="14436" r="43220" b="52000"/>
          <a:stretch>
            <a:fillRect/>
          </a:stretch>
        </p:blipFill>
        <p:spPr>
          <a:xfrm>
            <a:off x="2438400" y="3886200"/>
            <a:ext cx="3352800" cy="1828800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609600" y="3962400"/>
            <a:ext cx="1981200" cy="1752600"/>
            <a:chOff x="5181600" y="1981200"/>
            <a:chExt cx="1981200" cy="1752600"/>
          </a:xfrm>
        </p:grpSpPr>
        <p:pic>
          <p:nvPicPr>
            <p:cNvPr id="19" name="Picture 18" descr="138.gif"/>
            <p:cNvPicPr>
              <a:picLocks noChangeAspect="1"/>
            </p:cNvPicPr>
            <p:nvPr/>
          </p:nvPicPr>
          <p:blipFill>
            <a:blip r:embed="rId3"/>
            <a:srcRect l="56780" t="18000" r="20123" b="52000"/>
            <a:stretch>
              <a:fillRect/>
            </a:stretch>
          </p:blipFill>
          <p:spPr>
            <a:xfrm>
              <a:off x="5334000" y="2590800"/>
              <a:ext cx="1828800" cy="1143000"/>
            </a:xfrm>
            <a:prstGeom prst="rect">
              <a:avLst/>
            </a:prstGeom>
          </p:spPr>
        </p:pic>
        <p:pic>
          <p:nvPicPr>
            <p:cNvPr id="20" name="Picture 19" descr="138.gif"/>
            <p:cNvPicPr>
              <a:picLocks noChangeAspect="1"/>
            </p:cNvPicPr>
            <p:nvPr/>
          </p:nvPicPr>
          <p:blipFill>
            <a:blip r:embed="rId3"/>
            <a:srcRect l="50043" t="50000" r="29748" b="34000"/>
            <a:stretch>
              <a:fillRect/>
            </a:stretch>
          </p:blipFill>
          <p:spPr>
            <a:xfrm>
              <a:off x="5181600" y="1981200"/>
              <a:ext cx="1676400" cy="609600"/>
            </a:xfrm>
            <a:prstGeom prst="rect">
              <a:avLst/>
            </a:prstGeom>
          </p:spPr>
        </p:pic>
      </p:grpSp>
      <p:grpSp>
        <p:nvGrpSpPr>
          <p:cNvPr id="21" name="Group 20"/>
          <p:cNvGrpSpPr/>
          <p:nvPr/>
        </p:nvGrpSpPr>
        <p:grpSpPr>
          <a:xfrm>
            <a:off x="5715000" y="4114800"/>
            <a:ext cx="1981200" cy="1371600"/>
            <a:chOff x="5715000" y="1981200"/>
            <a:chExt cx="1981200" cy="1371600"/>
          </a:xfrm>
        </p:grpSpPr>
        <p:grpSp>
          <p:nvGrpSpPr>
            <p:cNvPr id="22" name="Group 14"/>
            <p:cNvGrpSpPr/>
            <p:nvPr/>
          </p:nvGrpSpPr>
          <p:grpSpPr>
            <a:xfrm>
              <a:off x="5715000" y="2209800"/>
              <a:ext cx="1981200" cy="1143000"/>
              <a:chOff x="5181600" y="2286000"/>
              <a:chExt cx="1981200" cy="1143000"/>
            </a:xfrm>
          </p:grpSpPr>
          <p:pic>
            <p:nvPicPr>
              <p:cNvPr id="24" name="Picture 23" descr="138.gif"/>
              <p:cNvPicPr>
                <a:picLocks noChangeAspect="1"/>
              </p:cNvPicPr>
              <p:nvPr/>
            </p:nvPicPr>
            <p:blipFill>
              <a:blip r:embed="rId3"/>
              <a:srcRect l="56780" t="18000" r="20123" b="60000"/>
              <a:stretch>
                <a:fillRect/>
              </a:stretch>
            </p:blipFill>
            <p:spPr>
              <a:xfrm>
                <a:off x="5334000" y="2590800"/>
                <a:ext cx="1828800" cy="838200"/>
              </a:xfrm>
              <a:prstGeom prst="rect">
                <a:avLst/>
              </a:prstGeom>
            </p:spPr>
          </p:pic>
          <p:pic>
            <p:nvPicPr>
              <p:cNvPr id="25" name="Picture 24" descr="138.gif"/>
              <p:cNvPicPr>
                <a:picLocks noChangeAspect="1"/>
              </p:cNvPicPr>
              <p:nvPr/>
            </p:nvPicPr>
            <p:blipFill>
              <a:blip r:embed="rId3"/>
              <a:srcRect l="50043" t="58000" r="29748" b="34000"/>
              <a:stretch>
                <a:fillRect/>
              </a:stretch>
            </p:blipFill>
            <p:spPr>
              <a:xfrm>
                <a:off x="5181600" y="2286000"/>
                <a:ext cx="1676400" cy="304800"/>
              </a:xfrm>
              <a:prstGeom prst="rect">
                <a:avLst/>
              </a:prstGeom>
            </p:spPr>
          </p:pic>
        </p:grpSp>
        <p:pic>
          <p:nvPicPr>
            <p:cNvPr id="23" name="Picture 22" descr="138.gif"/>
            <p:cNvPicPr>
              <a:picLocks noChangeAspect="1"/>
            </p:cNvPicPr>
            <p:nvPr/>
          </p:nvPicPr>
          <p:blipFill>
            <a:blip r:embed="rId3"/>
            <a:srcRect l="71216" t="18000" r="20123" b="68000"/>
            <a:stretch>
              <a:fillRect/>
            </a:stretch>
          </p:blipFill>
          <p:spPr>
            <a:xfrm>
              <a:off x="6400800" y="1981200"/>
              <a:ext cx="685800" cy="533400"/>
            </a:xfrm>
            <a:prstGeom prst="rect">
              <a:avLst/>
            </a:prstGeom>
          </p:spPr>
        </p:pic>
      </p:grpSp>
      <p:sp>
        <p:nvSpPr>
          <p:cNvPr id="26" name="TextBox 25"/>
          <p:cNvSpPr txBox="1"/>
          <p:nvPr/>
        </p:nvSpPr>
        <p:spPr>
          <a:xfrm>
            <a:off x="7772400" y="4495800"/>
            <a:ext cx="1117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+ H</a:t>
            </a:r>
            <a:r>
              <a:rPr lang="en-US" sz="2800" b="1" baseline="-25000" dirty="0">
                <a:solidFill>
                  <a:srgbClr val="C00000"/>
                </a:solidFill>
              </a:rPr>
              <a:t>2</a:t>
            </a:r>
            <a:r>
              <a:rPr lang="en-US" sz="2800" b="1" dirty="0">
                <a:solidFill>
                  <a:srgbClr val="C00000"/>
                </a:solidFill>
              </a:rPr>
              <a:t>O </a:t>
            </a:r>
          </a:p>
        </p:txBody>
      </p:sp>
      <p:pic>
        <p:nvPicPr>
          <p:cNvPr id="27" name="Picture 26" descr="138.gif"/>
          <p:cNvPicPr>
            <a:picLocks noChangeAspect="1"/>
          </p:cNvPicPr>
          <p:nvPr/>
        </p:nvPicPr>
        <p:blipFill>
          <a:blip r:embed="rId3"/>
          <a:srcRect l="70253" t="88000" r="22048"/>
          <a:stretch>
            <a:fillRect/>
          </a:stretch>
        </p:blipFill>
        <p:spPr>
          <a:xfrm>
            <a:off x="6324600" y="5562600"/>
            <a:ext cx="609600" cy="4572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1524000" y="3977640"/>
            <a:ext cx="274320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2697480" y="4434840"/>
            <a:ext cx="807720" cy="5181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6" grpId="0"/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000" dirty="0"/>
              <a:t>例：</a:t>
            </a:r>
            <a:endParaRPr lang="en-US" altLang="zh-CN" sz="3000" dirty="0"/>
          </a:p>
        </p:txBody>
      </p:sp>
      <p:pic>
        <p:nvPicPr>
          <p:cNvPr id="28" name="Picture 27" descr="138.gif"/>
          <p:cNvPicPr>
            <a:picLocks noChangeAspect="1"/>
          </p:cNvPicPr>
          <p:nvPr/>
        </p:nvPicPr>
        <p:blipFill>
          <a:blip r:embed="rId3"/>
          <a:srcRect t="50000" r="51882" b="12000"/>
          <a:stretch>
            <a:fillRect/>
          </a:stretch>
        </p:blipFill>
        <p:spPr>
          <a:xfrm>
            <a:off x="990600" y="1524000"/>
            <a:ext cx="3810000" cy="1447800"/>
          </a:xfrm>
          <a:prstGeom prst="rect">
            <a:avLst/>
          </a:prstGeom>
        </p:spPr>
      </p:pic>
      <p:pic>
        <p:nvPicPr>
          <p:cNvPr id="29" name="Picture 28" descr="138.gif"/>
          <p:cNvPicPr>
            <a:picLocks noChangeAspect="1"/>
          </p:cNvPicPr>
          <p:nvPr/>
        </p:nvPicPr>
        <p:blipFill>
          <a:blip r:embed="rId3"/>
          <a:srcRect l="47156" t="50000" r="23011" b="12000"/>
          <a:stretch>
            <a:fillRect/>
          </a:stretch>
        </p:blipFill>
        <p:spPr>
          <a:xfrm>
            <a:off x="4800600" y="1524000"/>
            <a:ext cx="2362200" cy="1447800"/>
          </a:xfrm>
          <a:prstGeom prst="rect">
            <a:avLst/>
          </a:prstGeom>
        </p:spPr>
      </p:pic>
      <p:pic>
        <p:nvPicPr>
          <p:cNvPr id="31" name="Picture 30" descr="138.gif"/>
          <p:cNvPicPr>
            <a:picLocks noChangeAspect="1"/>
          </p:cNvPicPr>
          <p:nvPr/>
        </p:nvPicPr>
        <p:blipFill>
          <a:blip r:embed="rId3"/>
          <a:srcRect l="47156" t="50000" r="23011" b="12000"/>
          <a:stretch>
            <a:fillRect/>
          </a:stretch>
        </p:blipFill>
        <p:spPr>
          <a:xfrm>
            <a:off x="152400" y="3276600"/>
            <a:ext cx="2362200" cy="1447800"/>
          </a:xfrm>
          <a:prstGeom prst="rect">
            <a:avLst/>
          </a:prstGeom>
        </p:spPr>
      </p:pic>
      <p:pic>
        <p:nvPicPr>
          <p:cNvPr id="32" name="Picture 31" descr="138.gif"/>
          <p:cNvPicPr>
            <a:picLocks noChangeAspect="1"/>
          </p:cNvPicPr>
          <p:nvPr/>
        </p:nvPicPr>
        <p:blipFill>
          <a:blip r:embed="rId3"/>
          <a:srcRect l="14435" t="50000" r="51882" b="12000"/>
          <a:stretch>
            <a:fillRect/>
          </a:stretch>
        </p:blipFill>
        <p:spPr>
          <a:xfrm>
            <a:off x="2362200" y="3276600"/>
            <a:ext cx="2667000" cy="1447800"/>
          </a:xfrm>
          <a:prstGeom prst="rect">
            <a:avLst/>
          </a:prstGeom>
        </p:spPr>
      </p:pic>
      <p:grpSp>
        <p:nvGrpSpPr>
          <p:cNvPr id="35" name="Group 34"/>
          <p:cNvGrpSpPr/>
          <p:nvPr/>
        </p:nvGrpSpPr>
        <p:grpSpPr>
          <a:xfrm>
            <a:off x="4876800" y="3124200"/>
            <a:ext cx="2362200" cy="1676400"/>
            <a:chOff x="5943600" y="3124200"/>
            <a:chExt cx="2362200" cy="1676400"/>
          </a:xfrm>
        </p:grpSpPr>
        <p:pic>
          <p:nvPicPr>
            <p:cNvPr id="33" name="Picture 32" descr="138.gif"/>
            <p:cNvPicPr>
              <a:picLocks noChangeAspect="1"/>
            </p:cNvPicPr>
            <p:nvPr/>
          </p:nvPicPr>
          <p:blipFill>
            <a:blip r:embed="rId3"/>
            <a:srcRect l="47156" t="58000" r="23011" b="12000"/>
            <a:stretch>
              <a:fillRect/>
            </a:stretch>
          </p:blipFill>
          <p:spPr>
            <a:xfrm>
              <a:off x="5943600" y="3657600"/>
              <a:ext cx="2362200" cy="1143000"/>
            </a:xfrm>
            <a:prstGeom prst="rect">
              <a:avLst/>
            </a:prstGeom>
          </p:spPr>
        </p:pic>
        <p:pic>
          <p:nvPicPr>
            <p:cNvPr id="34" name="Picture 33" descr="138.gif"/>
            <p:cNvPicPr>
              <a:picLocks noChangeAspect="1"/>
            </p:cNvPicPr>
            <p:nvPr/>
          </p:nvPicPr>
          <p:blipFill>
            <a:blip r:embed="rId3"/>
            <a:srcRect l="66403" t="60000" r="23011" b="22000"/>
            <a:stretch>
              <a:fillRect/>
            </a:stretch>
          </p:blipFill>
          <p:spPr>
            <a:xfrm>
              <a:off x="6858000" y="3124200"/>
              <a:ext cx="838200" cy="685800"/>
            </a:xfrm>
            <a:prstGeom prst="rect">
              <a:avLst/>
            </a:prstGeom>
          </p:spPr>
        </p:pic>
      </p:grpSp>
      <p:sp>
        <p:nvSpPr>
          <p:cNvPr id="36" name="TextBox 35"/>
          <p:cNvSpPr txBox="1"/>
          <p:nvPr/>
        </p:nvSpPr>
        <p:spPr>
          <a:xfrm>
            <a:off x="7111986" y="3810000"/>
            <a:ext cx="1117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+ H</a:t>
            </a:r>
            <a:r>
              <a:rPr lang="en-US" sz="2800" baseline="-25000" dirty="0"/>
              <a:t>2</a:t>
            </a:r>
            <a:r>
              <a:rPr lang="en-US" sz="2800" dirty="0"/>
              <a:t>O 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9916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缩醛和缩酮在碱性条件下稳定，但在酸性水溶液中易水解成醛或酮。</a:t>
            </a:r>
            <a:endParaRPr lang="en-MY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3000" dirty="0"/>
              <a:t>例</a:t>
            </a:r>
            <a:endParaRPr lang="en-MY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en-MY" altLang="zh-CN" sz="2800" dirty="0"/>
              <a:t>				       OC</a:t>
            </a:r>
            <a:r>
              <a:rPr lang="en-MY" altLang="zh-CN" sz="2800" baseline="-25000" dirty="0"/>
              <a:t>2</a:t>
            </a:r>
            <a:r>
              <a:rPr lang="en-MY" altLang="zh-CN" sz="2800" dirty="0"/>
              <a:t>H</a:t>
            </a:r>
            <a:r>
              <a:rPr lang="en-MY" altLang="zh-CN" sz="2800" baseline="-25000" dirty="0"/>
              <a:t>5	</a:t>
            </a:r>
            <a:r>
              <a:rPr lang="en-MY" altLang="zh-CN" sz="2800" dirty="0"/>
              <a:t>  		     OC</a:t>
            </a:r>
            <a:r>
              <a:rPr lang="en-MY" altLang="zh-CN" sz="2800" baseline="-25000" dirty="0"/>
              <a:t>2</a:t>
            </a:r>
            <a:r>
              <a:rPr lang="en-MY" altLang="zh-CN" sz="2800" dirty="0"/>
              <a:t>H</a:t>
            </a:r>
            <a:r>
              <a:rPr lang="en-MY" altLang="zh-CN" sz="2800" baseline="-25000" dirty="0"/>
              <a:t>5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800" dirty="0"/>
              <a:t>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CHCHO  	 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CHCH           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(OH)CH(OH)CH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800" dirty="0"/>
              <a:t>			</a:t>
            </a:r>
            <a:r>
              <a:rPr lang="en-MY" altLang="zh-CN" sz="2800" dirty="0"/>
              <a:t>   	       OC</a:t>
            </a:r>
            <a:r>
              <a:rPr lang="en-MY" altLang="zh-CN" sz="2800" baseline="-25000" dirty="0"/>
              <a:t>2</a:t>
            </a:r>
            <a:r>
              <a:rPr lang="en-MY" altLang="zh-CN" sz="2800" dirty="0"/>
              <a:t>H</a:t>
            </a:r>
            <a:r>
              <a:rPr lang="en-MY" altLang="zh-CN" sz="2800" baseline="-25000" dirty="0"/>
              <a:t>5	</a:t>
            </a:r>
            <a:r>
              <a:rPr lang="en-MY" altLang="zh-CN" sz="2800" dirty="0"/>
              <a:t>  		     OC</a:t>
            </a:r>
            <a:r>
              <a:rPr lang="en-MY" altLang="zh-CN" sz="2800" baseline="-25000" dirty="0"/>
              <a:t>2</a:t>
            </a:r>
            <a:r>
              <a:rPr lang="en-MY" altLang="zh-CN" sz="2800" dirty="0"/>
              <a:t>H</a:t>
            </a:r>
            <a:r>
              <a:rPr lang="en-MY" altLang="zh-CN" sz="2800" baseline="-25000" dirty="0"/>
              <a:t>5</a:t>
            </a:r>
            <a:r>
              <a:rPr lang="en-MY" altLang="zh-CN" sz="2800" dirty="0"/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MY" altLang="zh-CN" sz="2800" dirty="0"/>
              <a:t>							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MY" altLang="zh-CN" sz="2800" dirty="0"/>
              <a:t>						</a:t>
            </a:r>
            <a:r>
              <a:rPr lang="en-US" altLang="zh-CN" sz="2800" dirty="0"/>
              <a:t> 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(OH)CH(OH)CHO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B810BA7-DDBF-447D-8782-7E3795D2858F}"/>
              </a:ext>
            </a:extLst>
          </p:cNvPr>
          <p:cNvGrpSpPr/>
          <p:nvPr/>
        </p:nvGrpSpPr>
        <p:grpSpPr>
          <a:xfrm>
            <a:off x="2133600" y="3124200"/>
            <a:ext cx="990600" cy="572866"/>
            <a:chOff x="2712720" y="5880279"/>
            <a:chExt cx="990600" cy="572866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84A6585-D281-4C61-937C-E5C66A68988B}"/>
                </a:ext>
              </a:extLst>
            </p:cNvPr>
            <p:cNvCxnSpPr/>
            <p:nvPr/>
          </p:nvCxnSpPr>
          <p:spPr>
            <a:xfrm>
              <a:off x="2819400" y="6172117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66D699C-EDA3-4A38-861A-5717AE6E8DAC}"/>
                </a:ext>
              </a:extLst>
            </p:cNvPr>
            <p:cNvSpPr txBox="1"/>
            <p:nvPr/>
          </p:nvSpPr>
          <p:spPr>
            <a:xfrm>
              <a:off x="2790420" y="6145368"/>
              <a:ext cx="912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干燥</a:t>
              </a:r>
              <a:r>
                <a:rPr lang="en-US" altLang="zh-CN" sz="1400" dirty="0"/>
                <a:t>HCl</a:t>
              </a:r>
              <a:endParaRPr lang="en-US" sz="14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3A8197B-139E-42E9-BB91-D4E14F7FCF33}"/>
                </a:ext>
              </a:extLst>
            </p:cNvPr>
            <p:cNvSpPr txBox="1"/>
            <p:nvPr/>
          </p:nvSpPr>
          <p:spPr>
            <a:xfrm>
              <a:off x="2712720" y="5880279"/>
              <a:ext cx="8771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2 C</a:t>
              </a:r>
              <a:r>
                <a:rPr lang="en-US" altLang="zh-CN" sz="1400" baseline="-25000" dirty="0"/>
                <a:t>2</a:t>
              </a:r>
              <a:r>
                <a:rPr lang="en-US" altLang="zh-CN" sz="1400" dirty="0"/>
                <a:t>H</a:t>
              </a:r>
              <a:r>
                <a:rPr lang="en-US" altLang="zh-CN" sz="1400" baseline="-25000" dirty="0"/>
                <a:t>5</a:t>
              </a:r>
              <a:r>
                <a:rPr lang="en-US" altLang="zh-CN" sz="1400" dirty="0"/>
                <a:t>OH</a:t>
              </a:r>
              <a:endParaRPr lang="en-US" sz="14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BBF43D9-2F33-43D8-B95D-C4A479D255DA}"/>
              </a:ext>
            </a:extLst>
          </p:cNvPr>
          <p:cNvGrpSpPr/>
          <p:nvPr/>
        </p:nvGrpSpPr>
        <p:grpSpPr>
          <a:xfrm>
            <a:off x="5181600" y="3124200"/>
            <a:ext cx="457200" cy="307777"/>
            <a:chOff x="2712720" y="5880279"/>
            <a:chExt cx="457200" cy="307777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8A707BD-E6DF-49D6-9606-381B708E9C51}"/>
                </a:ext>
              </a:extLst>
            </p:cNvPr>
            <p:cNvCxnSpPr/>
            <p:nvPr/>
          </p:nvCxnSpPr>
          <p:spPr>
            <a:xfrm>
              <a:off x="2773920" y="6172117"/>
              <a:ext cx="3960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D2BEFA4-C52A-45DB-BFCF-0E1E8B948458}"/>
                </a:ext>
              </a:extLst>
            </p:cNvPr>
            <p:cNvSpPr txBox="1"/>
            <p:nvPr/>
          </p:nvSpPr>
          <p:spPr>
            <a:xfrm>
              <a:off x="2712720" y="5880279"/>
              <a:ext cx="4122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[O]</a:t>
              </a: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CB2C1A-AB17-4714-8293-E5828E731959}"/>
              </a:ext>
            </a:extLst>
          </p:cNvPr>
          <p:cNvCxnSpPr>
            <a:cxnSpLocks/>
          </p:cNvCxnSpPr>
          <p:nvPr/>
        </p:nvCxnSpPr>
        <p:spPr>
          <a:xfrm flipH="1">
            <a:off x="4419600" y="3048000"/>
            <a:ext cx="76200" cy="228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6FC564A-8B4B-4CB2-BCBF-30E3BEB59A76}"/>
              </a:ext>
            </a:extLst>
          </p:cNvPr>
          <p:cNvCxnSpPr>
            <a:cxnSpLocks/>
          </p:cNvCxnSpPr>
          <p:nvPr/>
        </p:nvCxnSpPr>
        <p:spPr>
          <a:xfrm flipH="1" flipV="1">
            <a:off x="4419600" y="3581646"/>
            <a:ext cx="76200" cy="15215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D0BD2CA-0363-43D4-B5F2-F49B76EBC5F4}"/>
              </a:ext>
            </a:extLst>
          </p:cNvPr>
          <p:cNvCxnSpPr>
            <a:cxnSpLocks/>
          </p:cNvCxnSpPr>
          <p:nvPr/>
        </p:nvCxnSpPr>
        <p:spPr>
          <a:xfrm flipH="1">
            <a:off x="8001000" y="3048000"/>
            <a:ext cx="76200" cy="228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D8FB316-B19E-4DCA-8D8F-B25DFE792063}"/>
              </a:ext>
            </a:extLst>
          </p:cNvPr>
          <p:cNvCxnSpPr>
            <a:cxnSpLocks/>
          </p:cNvCxnSpPr>
          <p:nvPr/>
        </p:nvCxnSpPr>
        <p:spPr>
          <a:xfrm flipH="1" flipV="1">
            <a:off x="8001000" y="3581646"/>
            <a:ext cx="76200" cy="15215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0C12F61-387E-46B1-8CA0-D8B4C63A5C98}"/>
              </a:ext>
            </a:extLst>
          </p:cNvPr>
          <p:cNvGrpSpPr/>
          <p:nvPr/>
        </p:nvGrpSpPr>
        <p:grpSpPr>
          <a:xfrm>
            <a:off x="6454253" y="3733800"/>
            <a:ext cx="937147" cy="822960"/>
            <a:chOff x="5924093" y="4485621"/>
            <a:chExt cx="937147" cy="822960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B03BD39-5016-4C98-AA2D-C582DB672EF6}"/>
                </a:ext>
              </a:extLst>
            </p:cNvPr>
            <p:cNvCxnSpPr/>
            <p:nvPr/>
          </p:nvCxnSpPr>
          <p:spPr>
            <a:xfrm rot="5400000">
              <a:off x="6168686" y="4895906"/>
              <a:ext cx="822960" cy="239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E02588B-E8BD-436B-A778-2D2BA9688385}"/>
                </a:ext>
              </a:extLst>
            </p:cNvPr>
            <p:cNvSpPr txBox="1"/>
            <p:nvPr/>
          </p:nvSpPr>
          <p:spPr>
            <a:xfrm>
              <a:off x="5924093" y="4709671"/>
              <a:ext cx="7815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1400" dirty="0"/>
                <a:t>H</a:t>
              </a:r>
              <a:r>
                <a:rPr lang="en-MY" altLang="zh-CN" sz="1400" baseline="-25000" dirty="0"/>
                <a:t>2</a:t>
              </a:r>
              <a:r>
                <a:rPr lang="en-MY" sz="1400" dirty="0"/>
                <a:t>O/ H</a:t>
              </a:r>
              <a:r>
                <a:rPr lang="en-MY" sz="1400" baseline="30000" dirty="0"/>
                <a:t>+</a:t>
              </a:r>
              <a:endParaRPr lang="en-US" sz="1400" dirty="0"/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751E4FB3-F0A8-4800-A453-5E8147F05F9A}"/>
                </a:ext>
              </a:extLst>
            </p:cNvPr>
            <p:cNvSpPr/>
            <p:nvPr/>
          </p:nvSpPr>
          <p:spPr>
            <a:xfrm>
              <a:off x="6690552" y="4747136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34863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加成反应</a:t>
            </a:r>
            <a:r>
              <a:rPr lang="en-US" altLang="zh-CN" sz="3000" dirty="0"/>
              <a:t>-</a:t>
            </a:r>
            <a:r>
              <a:rPr lang="zh-CN" altLang="en-US" sz="3000" dirty="0"/>
              <a:t>与格氏试剂</a:t>
            </a:r>
            <a:r>
              <a:rPr lang="en-US" altLang="zh-CN" sz="3000" dirty="0"/>
              <a:t>(R—Mg—X)</a:t>
            </a:r>
            <a:r>
              <a:rPr lang="zh-CN" altLang="en-US" sz="3000" dirty="0"/>
              <a:t>反应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醛、酮与格氏试剂的加成产物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水解</a:t>
            </a:r>
            <a:r>
              <a:rPr lang="zh-CN" altLang="en-US" sz="3000" dirty="0"/>
              <a:t>后得醇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醛 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</a:t>
            </a:r>
            <a:r>
              <a:rPr lang="zh-CN" altLang="en-US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格氏试剂  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 </a:t>
            </a:r>
            <a:r>
              <a:rPr lang="zh-CN" altLang="en-US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二级醇 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	**</a:t>
            </a:r>
            <a:r>
              <a:rPr lang="zh-CN" altLang="en-US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除了甲醛</a:t>
            </a:r>
            <a:endParaRPr lang="en-US" altLang="zh-CN" sz="3000" b="1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  <p:pic>
        <p:nvPicPr>
          <p:cNvPr id="8" name="Picture 7" descr="138.3.png"/>
          <p:cNvPicPr>
            <a:picLocks noChangeAspect="1"/>
          </p:cNvPicPr>
          <p:nvPr/>
        </p:nvPicPr>
        <p:blipFill>
          <a:blip r:embed="rId3"/>
          <a:srcRect t="28810" r="71088" b="59554"/>
          <a:stretch>
            <a:fillRect/>
          </a:stretch>
        </p:blipFill>
        <p:spPr>
          <a:xfrm>
            <a:off x="76200" y="2362201"/>
            <a:ext cx="2590800" cy="1355419"/>
          </a:xfrm>
          <a:prstGeom prst="rect">
            <a:avLst/>
          </a:prstGeom>
        </p:spPr>
      </p:pic>
      <p:pic>
        <p:nvPicPr>
          <p:cNvPr id="11" name="Picture 10" descr="138.3.png"/>
          <p:cNvPicPr>
            <a:picLocks noChangeAspect="1"/>
          </p:cNvPicPr>
          <p:nvPr/>
        </p:nvPicPr>
        <p:blipFill>
          <a:blip r:embed="rId3"/>
          <a:srcRect t="40410" r="71198" b="49214"/>
          <a:stretch>
            <a:fillRect/>
          </a:stretch>
        </p:blipFill>
        <p:spPr>
          <a:xfrm>
            <a:off x="162225" y="4267200"/>
            <a:ext cx="2580975" cy="12192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28600" y="3667780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甲醛</a:t>
            </a:r>
            <a:endParaRPr lang="en-US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Picture 12" descr="138.3.png"/>
          <p:cNvPicPr>
            <a:picLocks noChangeAspect="1"/>
          </p:cNvPicPr>
          <p:nvPr/>
        </p:nvPicPr>
        <p:blipFill>
          <a:blip r:embed="rId3"/>
          <a:srcRect l="36565" t="28810" r="43027" b="59554"/>
          <a:stretch>
            <a:fillRect/>
          </a:stretch>
        </p:blipFill>
        <p:spPr>
          <a:xfrm>
            <a:off x="3352800" y="2378381"/>
            <a:ext cx="1828800" cy="1355419"/>
          </a:xfrm>
          <a:prstGeom prst="rect">
            <a:avLst/>
          </a:prstGeom>
        </p:spPr>
      </p:pic>
      <p:pic>
        <p:nvPicPr>
          <p:cNvPr id="14" name="Picture 13" descr="138.3.png"/>
          <p:cNvPicPr>
            <a:picLocks noChangeAspect="1"/>
          </p:cNvPicPr>
          <p:nvPr/>
        </p:nvPicPr>
        <p:blipFill>
          <a:blip r:embed="rId3"/>
          <a:srcRect l="66327" t="28810" r="2211" b="59554"/>
          <a:stretch>
            <a:fillRect/>
          </a:stretch>
        </p:blipFill>
        <p:spPr>
          <a:xfrm>
            <a:off x="6248400" y="2362200"/>
            <a:ext cx="2819400" cy="1355419"/>
          </a:xfrm>
          <a:prstGeom prst="rect">
            <a:avLst/>
          </a:prstGeom>
        </p:spPr>
      </p:pic>
      <p:pic>
        <p:nvPicPr>
          <p:cNvPr id="15" name="Picture 14" descr="138.3.png"/>
          <p:cNvPicPr>
            <a:picLocks noChangeAspect="1"/>
          </p:cNvPicPr>
          <p:nvPr/>
        </p:nvPicPr>
        <p:blipFill>
          <a:blip r:embed="rId3"/>
          <a:srcRect l="36455" t="40410" r="43137" b="48565"/>
          <a:stretch>
            <a:fillRect/>
          </a:stretch>
        </p:blipFill>
        <p:spPr>
          <a:xfrm>
            <a:off x="3429000" y="4191000"/>
            <a:ext cx="1828800" cy="1295400"/>
          </a:xfrm>
          <a:prstGeom prst="rect">
            <a:avLst/>
          </a:prstGeom>
        </p:spPr>
      </p:pic>
      <p:pic>
        <p:nvPicPr>
          <p:cNvPr id="16" name="Picture 15" descr="138.3.png"/>
          <p:cNvPicPr>
            <a:picLocks noChangeAspect="1"/>
          </p:cNvPicPr>
          <p:nvPr/>
        </p:nvPicPr>
        <p:blipFill>
          <a:blip r:embed="rId3"/>
          <a:srcRect l="66217" t="40410" r="2321" b="48565"/>
          <a:stretch>
            <a:fillRect/>
          </a:stretch>
        </p:blipFill>
        <p:spPr>
          <a:xfrm>
            <a:off x="6096000" y="4191000"/>
            <a:ext cx="2819400" cy="1295400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4876800" y="2743200"/>
            <a:ext cx="1256799" cy="954107"/>
            <a:chOff x="2568441" y="5703054"/>
            <a:chExt cx="1256799" cy="954107"/>
          </a:xfrm>
        </p:grpSpPr>
        <p:cxnSp>
          <p:nvCxnSpPr>
            <p:cNvPr id="18" name="Straight Arrow Connector 17"/>
            <p:cNvCxnSpPr/>
            <p:nvPr/>
          </p:nvCxnSpPr>
          <p:spPr>
            <a:xfrm>
              <a:off x="2819400" y="6172117"/>
              <a:ext cx="1005840" cy="1588"/>
            </a:xfrm>
            <a:prstGeom prst="straightConnector1">
              <a:avLst/>
            </a:prstGeom>
            <a:ln w="3175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2568441" y="5703054"/>
              <a:ext cx="118173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solidFill>
                    <a:srgbClr val="002060"/>
                  </a:solidFill>
                </a:rPr>
                <a:t>       H</a:t>
              </a:r>
              <a:r>
                <a:rPr lang="en-US" altLang="zh-CN" sz="2800" b="1" baseline="30000" dirty="0">
                  <a:solidFill>
                    <a:srgbClr val="002060"/>
                  </a:solidFill>
                </a:rPr>
                <a:t>+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 </a:t>
              </a:r>
            </a:p>
            <a:p>
              <a:r>
                <a:rPr lang="en-US" sz="2800" b="1" dirty="0">
                  <a:solidFill>
                    <a:srgbClr val="002060"/>
                  </a:solidFill>
                </a:rPr>
                <a:t>     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H</a:t>
              </a:r>
              <a:r>
                <a:rPr lang="en-US" altLang="zh-CN" sz="2800" b="1" baseline="-25000" dirty="0">
                  <a:solidFill>
                    <a:srgbClr val="002060"/>
                  </a:solidFill>
                </a:rPr>
                <a:t>2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O</a:t>
              </a:r>
              <a:endParaRPr lang="en-US" sz="2800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839201" y="4532293"/>
            <a:ext cx="1256799" cy="954107"/>
            <a:chOff x="2568441" y="5703054"/>
            <a:chExt cx="1256799" cy="954107"/>
          </a:xfrm>
        </p:grpSpPr>
        <p:cxnSp>
          <p:nvCxnSpPr>
            <p:cNvPr id="21" name="Straight Arrow Connector 20"/>
            <p:cNvCxnSpPr/>
            <p:nvPr/>
          </p:nvCxnSpPr>
          <p:spPr>
            <a:xfrm>
              <a:off x="2819400" y="6172117"/>
              <a:ext cx="1005840" cy="1588"/>
            </a:xfrm>
            <a:prstGeom prst="straightConnector1">
              <a:avLst/>
            </a:prstGeom>
            <a:ln w="3175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2568441" y="5703054"/>
              <a:ext cx="118173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solidFill>
                    <a:srgbClr val="002060"/>
                  </a:solidFill>
                </a:rPr>
                <a:t>       H</a:t>
              </a:r>
              <a:r>
                <a:rPr lang="en-US" altLang="zh-CN" sz="2800" b="1" baseline="30000" dirty="0">
                  <a:solidFill>
                    <a:srgbClr val="002060"/>
                  </a:solidFill>
                </a:rPr>
                <a:t>+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 </a:t>
              </a:r>
            </a:p>
            <a:p>
              <a:r>
                <a:rPr lang="en-US" sz="2800" b="1" dirty="0">
                  <a:solidFill>
                    <a:srgbClr val="002060"/>
                  </a:solidFill>
                </a:rPr>
                <a:t>     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H</a:t>
              </a:r>
              <a:r>
                <a:rPr lang="en-US" altLang="zh-CN" sz="2800" b="1" baseline="-25000" dirty="0">
                  <a:solidFill>
                    <a:srgbClr val="002060"/>
                  </a:solidFill>
                </a:rPr>
                <a:t>2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O</a:t>
              </a:r>
              <a:endParaRPr lang="en-US" sz="2800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590800" y="2797314"/>
            <a:ext cx="789636" cy="707886"/>
            <a:chOff x="2761284" y="5811282"/>
            <a:chExt cx="789636" cy="707886"/>
          </a:xfrm>
        </p:grpSpPr>
        <p:cxnSp>
          <p:nvCxnSpPr>
            <p:cNvPr id="24" name="Straight Arrow Connector 23"/>
            <p:cNvCxnSpPr/>
            <p:nvPr/>
          </p:nvCxnSpPr>
          <p:spPr>
            <a:xfrm>
              <a:off x="2819400" y="6172117"/>
              <a:ext cx="731520" cy="1588"/>
            </a:xfrm>
            <a:prstGeom prst="straightConnector1">
              <a:avLst/>
            </a:prstGeom>
            <a:ln w="3175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2761284" y="5811282"/>
              <a:ext cx="70083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</a:rPr>
                <a:t>干燥</a:t>
              </a:r>
              <a:endParaRPr lang="en-US" altLang="zh-CN" sz="2000" b="1" dirty="0">
                <a:solidFill>
                  <a:srgbClr val="002060"/>
                </a:solidFill>
              </a:endParaRPr>
            </a:p>
            <a:p>
              <a:r>
                <a:rPr lang="zh-CN" altLang="en-US" sz="2000" b="1" dirty="0">
                  <a:solidFill>
                    <a:srgbClr val="002060"/>
                  </a:solidFill>
                </a:rPr>
                <a:t>乙醚</a:t>
              </a:r>
              <a:endParaRPr lang="en-US" altLang="zh-CN" sz="2000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2667000" y="4626114"/>
            <a:ext cx="789636" cy="707886"/>
            <a:chOff x="2761284" y="5846819"/>
            <a:chExt cx="789636" cy="707886"/>
          </a:xfrm>
        </p:grpSpPr>
        <p:cxnSp>
          <p:nvCxnSpPr>
            <p:cNvPr id="27" name="Straight Arrow Connector 26"/>
            <p:cNvCxnSpPr/>
            <p:nvPr/>
          </p:nvCxnSpPr>
          <p:spPr>
            <a:xfrm>
              <a:off x="2819400" y="6172117"/>
              <a:ext cx="731520" cy="1588"/>
            </a:xfrm>
            <a:prstGeom prst="straightConnector1">
              <a:avLst/>
            </a:prstGeom>
            <a:ln w="3175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2761284" y="5846819"/>
              <a:ext cx="70083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</a:rPr>
                <a:t>干燥</a:t>
              </a:r>
              <a:endParaRPr lang="en-US" altLang="zh-CN" sz="2000" b="1" dirty="0">
                <a:solidFill>
                  <a:srgbClr val="002060"/>
                </a:solidFill>
              </a:endParaRPr>
            </a:p>
            <a:p>
              <a:r>
                <a:rPr lang="zh-CN" altLang="en-US" sz="2000" b="1" dirty="0">
                  <a:solidFill>
                    <a:srgbClr val="002060"/>
                  </a:solidFill>
                </a:rPr>
                <a:t>乙醚</a:t>
              </a:r>
              <a:endParaRPr lang="en-US" altLang="zh-CN" sz="2000" b="1" dirty="0">
                <a:solidFill>
                  <a:srgbClr val="002060"/>
                </a:solidFill>
              </a:endParaRPr>
            </a:p>
          </p:txBody>
        </p:sp>
      </p:grpSp>
      <p:sp>
        <p:nvSpPr>
          <p:cNvPr id="29" name="Rectangle 28"/>
          <p:cNvSpPr/>
          <p:nvPr/>
        </p:nvSpPr>
        <p:spPr>
          <a:xfrm>
            <a:off x="228600" y="5334000"/>
            <a:ext cx="11801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 醛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C≥2</a:t>
            </a:r>
            <a:endParaRPr lang="en-US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248400" y="3657600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一级醇</a:t>
            </a:r>
            <a:endParaRPr lang="en-US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724907" y="3657600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碱式盐</a:t>
            </a:r>
            <a:endParaRPr lang="en-US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248400" y="5267980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二级醇</a:t>
            </a:r>
            <a:endParaRPr lang="en-US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724907" y="5267980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碱式盐</a:t>
            </a:r>
            <a:endParaRPr lang="en-US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/>
      <p:bldP spid="29" grpId="0"/>
      <p:bldP spid="30" grpId="0"/>
      <p:bldP spid="31" grpId="0"/>
      <p:bldP spid="32" grpId="0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加成反应</a:t>
            </a:r>
            <a:r>
              <a:rPr lang="en-US" altLang="zh-CN" sz="3000" dirty="0"/>
              <a:t>-</a:t>
            </a:r>
            <a:r>
              <a:rPr lang="zh-CN" altLang="en-US" sz="3000" dirty="0"/>
              <a:t>与格氏试剂</a:t>
            </a:r>
            <a:r>
              <a:rPr lang="en-US" altLang="zh-CN" sz="3000" dirty="0"/>
              <a:t>(R—Mg—X)</a:t>
            </a:r>
            <a:r>
              <a:rPr lang="zh-CN" altLang="en-US" sz="3000" dirty="0"/>
              <a:t>反应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醛、酮与格氏试剂的加成产物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水解</a:t>
            </a:r>
            <a:r>
              <a:rPr lang="zh-CN" altLang="en-US" sz="3000" dirty="0"/>
              <a:t>后得醇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酮 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</a:t>
            </a:r>
            <a:r>
              <a:rPr lang="zh-CN" altLang="en-US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格氏试剂  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 </a:t>
            </a:r>
            <a:r>
              <a:rPr lang="zh-CN" altLang="en-US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三级醇</a:t>
            </a: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  <p:pic>
        <p:nvPicPr>
          <p:cNvPr id="7" name="Picture 6" descr="138.3.png"/>
          <p:cNvPicPr>
            <a:picLocks noChangeAspect="1"/>
          </p:cNvPicPr>
          <p:nvPr/>
        </p:nvPicPr>
        <p:blipFill>
          <a:blip r:embed="rId3"/>
          <a:srcRect t="50715" r="71322" b="38035"/>
          <a:stretch>
            <a:fillRect/>
          </a:stretch>
        </p:blipFill>
        <p:spPr>
          <a:xfrm>
            <a:off x="228600" y="2819400"/>
            <a:ext cx="2438400" cy="1600200"/>
          </a:xfrm>
          <a:prstGeom prst="rect">
            <a:avLst/>
          </a:prstGeom>
        </p:spPr>
      </p:pic>
      <p:pic>
        <p:nvPicPr>
          <p:cNvPr id="11" name="Picture 10" descr="138.3.png"/>
          <p:cNvPicPr>
            <a:picLocks noChangeAspect="1"/>
          </p:cNvPicPr>
          <p:nvPr/>
        </p:nvPicPr>
        <p:blipFill>
          <a:blip r:embed="rId3"/>
          <a:srcRect l="36744" t="51251" r="43540" b="38035"/>
          <a:stretch>
            <a:fillRect/>
          </a:stretch>
        </p:blipFill>
        <p:spPr>
          <a:xfrm>
            <a:off x="3429000" y="2743200"/>
            <a:ext cx="1676400" cy="1524000"/>
          </a:xfrm>
          <a:prstGeom prst="rect">
            <a:avLst/>
          </a:prstGeom>
        </p:spPr>
      </p:pic>
      <p:pic>
        <p:nvPicPr>
          <p:cNvPr id="12" name="Picture 11" descr="138.3.png"/>
          <p:cNvPicPr>
            <a:picLocks noChangeAspect="1"/>
          </p:cNvPicPr>
          <p:nvPr/>
        </p:nvPicPr>
        <p:blipFill>
          <a:blip r:embed="rId3"/>
          <a:srcRect l="66318" t="51786" r="4107" b="38035"/>
          <a:stretch>
            <a:fillRect/>
          </a:stretch>
        </p:blipFill>
        <p:spPr>
          <a:xfrm>
            <a:off x="6172200" y="2819400"/>
            <a:ext cx="2514600" cy="1447800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4800600" y="3160693"/>
            <a:ext cx="1256799" cy="954107"/>
            <a:chOff x="2568441" y="5703054"/>
            <a:chExt cx="1256799" cy="954107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2819400" y="6172117"/>
              <a:ext cx="1005840" cy="1588"/>
            </a:xfrm>
            <a:prstGeom prst="straightConnector1">
              <a:avLst/>
            </a:prstGeom>
            <a:ln w="3175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568441" y="5703054"/>
              <a:ext cx="118173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solidFill>
                    <a:srgbClr val="002060"/>
                  </a:solidFill>
                </a:rPr>
                <a:t>       H</a:t>
              </a:r>
              <a:r>
                <a:rPr lang="en-US" altLang="zh-CN" sz="2800" b="1" baseline="30000" dirty="0">
                  <a:solidFill>
                    <a:srgbClr val="002060"/>
                  </a:solidFill>
                </a:rPr>
                <a:t>+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 </a:t>
              </a:r>
            </a:p>
            <a:p>
              <a:r>
                <a:rPr lang="en-US" sz="2800" b="1" dirty="0">
                  <a:solidFill>
                    <a:srgbClr val="002060"/>
                  </a:solidFill>
                </a:rPr>
                <a:t>     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H</a:t>
              </a:r>
              <a:r>
                <a:rPr lang="en-US" altLang="zh-CN" sz="2800" b="1" baseline="-25000" dirty="0">
                  <a:solidFill>
                    <a:srgbClr val="002060"/>
                  </a:solidFill>
                </a:rPr>
                <a:t>2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O</a:t>
              </a:r>
              <a:endParaRPr lang="en-US" sz="2800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590800" y="3254514"/>
            <a:ext cx="789636" cy="707886"/>
            <a:chOff x="2761284" y="5811282"/>
            <a:chExt cx="789636" cy="707886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2819400" y="6172117"/>
              <a:ext cx="731520" cy="1588"/>
            </a:xfrm>
            <a:prstGeom prst="straightConnector1">
              <a:avLst/>
            </a:prstGeom>
            <a:ln w="3175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2761284" y="5811282"/>
              <a:ext cx="70083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</a:rPr>
                <a:t>干燥</a:t>
              </a:r>
              <a:endParaRPr lang="en-US" altLang="zh-CN" sz="2000" b="1" dirty="0">
                <a:solidFill>
                  <a:srgbClr val="002060"/>
                </a:solidFill>
              </a:endParaRPr>
            </a:p>
            <a:p>
              <a:r>
                <a:rPr lang="zh-CN" altLang="en-US" sz="2000" b="1" dirty="0">
                  <a:solidFill>
                    <a:srgbClr val="002060"/>
                  </a:solidFill>
                </a:rPr>
                <a:t>乙醚</a:t>
              </a:r>
              <a:endParaRPr lang="en-US" altLang="zh-CN" sz="2000" b="1" dirty="0">
                <a:solidFill>
                  <a:srgbClr val="002060"/>
                </a:solidFill>
              </a:endParaRPr>
            </a:p>
          </p:txBody>
        </p:sp>
      </p:grpSp>
      <p:sp>
        <p:nvSpPr>
          <p:cNvPr id="19" name="Rectangle 18"/>
          <p:cNvSpPr/>
          <p:nvPr/>
        </p:nvSpPr>
        <p:spPr>
          <a:xfrm>
            <a:off x="228600" y="4201180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酮</a:t>
            </a:r>
            <a:endParaRPr lang="en-US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48400" y="4135160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三级醇</a:t>
            </a:r>
            <a:endParaRPr lang="en-US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620000" y="4135160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碱式盐</a:t>
            </a:r>
            <a:endParaRPr lang="en-US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9" grpId="0"/>
      <p:bldP spid="20" grpId="0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000" dirty="0"/>
              <a:t>练习：</a:t>
            </a: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r>
              <a:rPr lang="en-US" altLang="zh-CN" sz="3000" dirty="0"/>
              <a:t>1. </a:t>
            </a:r>
            <a:r>
              <a:rPr lang="zh-CN" altLang="en-US" sz="3000" dirty="0"/>
              <a:t>有机物</a:t>
            </a:r>
            <a:r>
              <a:rPr lang="en-US" altLang="zh-CN" sz="3000" dirty="0"/>
              <a:t>A  + 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MgBr </a:t>
            </a:r>
            <a:r>
              <a:rPr lang="en-US" altLang="zh-CN" sz="3000" dirty="0">
                <a:sym typeface="Wingdings" pitchFamily="2" charset="2"/>
              </a:rPr>
              <a:t> 		      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		       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CH(CH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)C(OH)(CH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)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r>
              <a:rPr lang="en-US" altLang="zh-CN" sz="3000" dirty="0"/>
              <a:t>2.</a:t>
            </a:r>
            <a:r>
              <a:rPr lang="zh-CN" altLang="en-US" sz="3000" dirty="0"/>
              <a:t>有机物</a:t>
            </a:r>
            <a:r>
              <a:rPr lang="en-US" altLang="zh-CN" sz="3000" dirty="0"/>
              <a:t>B  + 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MgBr </a:t>
            </a:r>
            <a:r>
              <a:rPr lang="en-US" altLang="zh-CN" sz="3000" dirty="0">
                <a:sym typeface="Wingdings" pitchFamily="2" charset="2"/>
              </a:rPr>
              <a:t> 		      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		 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CH(CH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)CH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CH(OH)CH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3. </a:t>
            </a:r>
            <a:r>
              <a:rPr lang="zh-CN" altLang="en-US" sz="3000" dirty="0">
                <a:sym typeface="Wingdings" pitchFamily="2" charset="2"/>
              </a:rPr>
              <a:t>乙醇 </a:t>
            </a:r>
            <a:r>
              <a:rPr lang="en-US" altLang="zh-CN" sz="3000" dirty="0">
                <a:sym typeface="Wingdings" pitchFamily="2" charset="2"/>
              </a:rPr>
              <a:t> 2- </a:t>
            </a:r>
            <a:r>
              <a:rPr lang="zh-CN" altLang="en-US" sz="3000" dirty="0">
                <a:sym typeface="Wingdings" pitchFamily="2" charset="2"/>
              </a:rPr>
              <a:t>戊醇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1. A </a:t>
            </a:r>
            <a:r>
              <a:rPr lang="zh-CN" altLang="en-US" sz="3000" dirty="0">
                <a:sym typeface="Wingdings" pitchFamily="2" charset="2"/>
              </a:rPr>
              <a:t>：</a:t>
            </a:r>
            <a:r>
              <a:rPr lang="en-US" altLang="zh-CN" sz="3000" dirty="0">
                <a:sym typeface="Wingdings" pitchFamily="2" charset="2"/>
              </a:rPr>
              <a:t>3-</a:t>
            </a:r>
            <a:r>
              <a:rPr lang="zh-CN" altLang="en-US" sz="3000" dirty="0">
                <a:sym typeface="Wingdings" pitchFamily="2" charset="2"/>
              </a:rPr>
              <a:t>甲基</a:t>
            </a:r>
            <a:r>
              <a:rPr lang="en-US" altLang="zh-CN" sz="3000" dirty="0">
                <a:sym typeface="Wingdings" pitchFamily="2" charset="2"/>
              </a:rPr>
              <a:t>-2-</a:t>
            </a:r>
            <a:r>
              <a:rPr lang="zh-CN" altLang="en-US" sz="3000" dirty="0">
                <a:sym typeface="Wingdings" pitchFamily="2" charset="2"/>
              </a:rPr>
              <a:t>戊酮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2. B</a:t>
            </a:r>
            <a:r>
              <a:rPr lang="zh-CN" altLang="en-US" sz="3000" dirty="0">
                <a:sym typeface="Wingdings" pitchFamily="2" charset="2"/>
              </a:rPr>
              <a:t>：</a:t>
            </a:r>
            <a:r>
              <a:rPr lang="en-US" altLang="zh-CN" sz="3000" dirty="0">
                <a:sym typeface="Wingdings" pitchFamily="2" charset="2"/>
              </a:rPr>
              <a:t>3-</a:t>
            </a:r>
            <a:r>
              <a:rPr lang="zh-CN" altLang="en-US" sz="3000" dirty="0">
                <a:sym typeface="Wingdings" pitchFamily="2" charset="2"/>
              </a:rPr>
              <a:t>甲基丁醛</a:t>
            </a: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r>
              <a:rPr lang="en-US" altLang="zh-CN" sz="3000" dirty="0"/>
              <a:t>3. </a:t>
            </a:r>
            <a:r>
              <a:rPr lang="zh-CN" altLang="en-US" sz="3000" dirty="0"/>
              <a:t>乙醇</a:t>
            </a:r>
            <a:r>
              <a:rPr lang="zh-CN" altLang="en-US" sz="3000" dirty="0">
                <a:sym typeface="Wingdings" pitchFamily="2" charset="2"/>
              </a:rPr>
              <a:t>氧化为乙醛，再加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MgBr </a:t>
            </a:r>
            <a:r>
              <a:rPr lang="zh-CN" altLang="en-US" sz="3000" dirty="0"/>
              <a:t>，再水解</a:t>
            </a:r>
            <a:endParaRPr lang="en-US" altLang="zh-CN" sz="3000" dirty="0"/>
          </a:p>
        </p:txBody>
      </p:sp>
      <p:grpSp>
        <p:nvGrpSpPr>
          <p:cNvPr id="22" name="Group 21"/>
          <p:cNvGrpSpPr/>
          <p:nvPr/>
        </p:nvGrpSpPr>
        <p:grpSpPr>
          <a:xfrm>
            <a:off x="4685799" y="1103293"/>
            <a:ext cx="1256799" cy="954107"/>
            <a:chOff x="2568441" y="5703054"/>
            <a:chExt cx="1256799" cy="954107"/>
          </a:xfrm>
        </p:grpSpPr>
        <p:cxnSp>
          <p:nvCxnSpPr>
            <p:cNvPr id="23" name="Straight Arrow Connector 22"/>
            <p:cNvCxnSpPr/>
            <p:nvPr/>
          </p:nvCxnSpPr>
          <p:spPr>
            <a:xfrm>
              <a:off x="2819400" y="6172117"/>
              <a:ext cx="1005840" cy="1588"/>
            </a:xfrm>
            <a:prstGeom prst="straightConnector1">
              <a:avLst/>
            </a:prstGeom>
            <a:ln w="3175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2568441" y="5703054"/>
              <a:ext cx="118173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solidFill>
                    <a:srgbClr val="002060"/>
                  </a:solidFill>
                </a:rPr>
                <a:t>       H</a:t>
              </a:r>
              <a:r>
                <a:rPr lang="en-US" altLang="zh-CN" sz="2800" b="1" baseline="30000" dirty="0">
                  <a:solidFill>
                    <a:srgbClr val="002060"/>
                  </a:solidFill>
                </a:rPr>
                <a:t>+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 </a:t>
              </a:r>
            </a:p>
            <a:p>
              <a:r>
                <a:rPr lang="en-US" sz="2800" b="1" dirty="0">
                  <a:solidFill>
                    <a:srgbClr val="002060"/>
                  </a:solidFill>
                </a:rPr>
                <a:t>     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H</a:t>
              </a:r>
              <a:r>
                <a:rPr lang="en-US" altLang="zh-CN" sz="2800" b="1" baseline="-25000" dirty="0">
                  <a:solidFill>
                    <a:srgbClr val="002060"/>
                  </a:solidFill>
                </a:rPr>
                <a:t>2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O</a:t>
              </a:r>
              <a:endParaRPr lang="en-US" sz="2800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114800" y="1197114"/>
            <a:ext cx="789636" cy="707886"/>
            <a:chOff x="2761284" y="5811282"/>
            <a:chExt cx="789636" cy="707886"/>
          </a:xfrm>
        </p:grpSpPr>
        <p:cxnSp>
          <p:nvCxnSpPr>
            <p:cNvPr id="26" name="Straight Arrow Connector 25"/>
            <p:cNvCxnSpPr/>
            <p:nvPr/>
          </p:nvCxnSpPr>
          <p:spPr>
            <a:xfrm>
              <a:off x="2819400" y="6172117"/>
              <a:ext cx="731520" cy="1588"/>
            </a:xfrm>
            <a:prstGeom prst="straightConnector1">
              <a:avLst/>
            </a:prstGeom>
            <a:ln w="3175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2761284" y="5811282"/>
              <a:ext cx="70083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</a:rPr>
                <a:t>干燥</a:t>
              </a:r>
              <a:endParaRPr lang="en-US" altLang="zh-CN" sz="2000" b="1" dirty="0">
                <a:solidFill>
                  <a:srgbClr val="002060"/>
                </a:solidFill>
              </a:endParaRPr>
            </a:p>
            <a:p>
              <a:r>
                <a:rPr lang="zh-CN" altLang="en-US" sz="2000" b="1" dirty="0">
                  <a:solidFill>
                    <a:srgbClr val="002060"/>
                  </a:solidFill>
                </a:rPr>
                <a:t>乙醚</a:t>
              </a:r>
              <a:endParaRPr lang="en-US" altLang="zh-CN" sz="2000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5144001" y="2703493"/>
            <a:ext cx="1256799" cy="954107"/>
            <a:chOff x="2568441" y="5703054"/>
            <a:chExt cx="1256799" cy="954107"/>
          </a:xfrm>
        </p:grpSpPr>
        <p:cxnSp>
          <p:nvCxnSpPr>
            <p:cNvPr id="29" name="Straight Arrow Connector 28"/>
            <p:cNvCxnSpPr/>
            <p:nvPr/>
          </p:nvCxnSpPr>
          <p:spPr>
            <a:xfrm>
              <a:off x="2819400" y="6172117"/>
              <a:ext cx="1005840" cy="1588"/>
            </a:xfrm>
            <a:prstGeom prst="straightConnector1">
              <a:avLst/>
            </a:prstGeom>
            <a:ln w="3175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2568441" y="5703054"/>
              <a:ext cx="118173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solidFill>
                    <a:srgbClr val="002060"/>
                  </a:solidFill>
                </a:rPr>
                <a:t>       H</a:t>
              </a:r>
              <a:r>
                <a:rPr lang="en-US" altLang="zh-CN" sz="2800" b="1" baseline="30000" dirty="0">
                  <a:solidFill>
                    <a:srgbClr val="002060"/>
                  </a:solidFill>
                </a:rPr>
                <a:t>+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 </a:t>
              </a:r>
            </a:p>
            <a:p>
              <a:r>
                <a:rPr lang="en-US" sz="2800" b="1" dirty="0">
                  <a:solidFill>
                    <a:srgbClr val="002060"/>
                  </a:solidFill>
                </a:rPr>
                <a:t>     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H</a:t>
              </a:r>
              <a:r>
                <a:rPr lang="en-US" altLang="zh-CN" sz="2800" b="1" baseline="-25000" dirty="0">
                  <a:solidFill>
                    <a:srgbClr val="002060"/>
                  </a:solidFill>
                </a:rPr>
                <a:t>2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O</a:t>
              </a:r>
              <a:endParaRPr lang="en-US" sz="2800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4573002" y="2797314"/>
            <a:ext cx="789636" cy="707886"/>
            <a:chOff x="2761284" y="5811282"/>
            <a:chExt cx="789636" cy="707886"/>
          </a:xfrm>
        </p:grpSpPr>
        <p:cxnSp>
          <p:nvCxnSpPr>
            <p:cNvPr id="32" name="Straight Arrow Connector 31"/>
            <p:cNvCxnSpPr/>
            <p:nvPr/>
          </p:nvCxnSpPr>
          <p:spPr>
            <a:xfrm>
              <a:off x="2819400" y="6172117"/>
              <a:ext cx="731520" cy="1588"/>
            </a:xfrm>
            <a:prstGeom prst="straightConnector1">
              <a:avLst/>
            </a:prstGeom>
            <a:ln w="3175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2761284" y="5811282"/>
              <a:ext cx="70083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</a:rPr>
                <a:t>干燥</a:t>
              </a:r>
              <a:endParaRPr lang="en-US" altLang="zh-CN" sz="2000" b="1" dirty="0">
                <a:solidFill>
                  <a:srgbClr val="002060"/>
                </a:solidFill>
              </a:endParaRPr>
            </a:p>
            <a:p>
              <a:r>
                <a:rPr lang="zh-CN" altLang="en-US" sz="2000" b="1" dirty="0">
                  <a:solidFill>
                    <a:srgbClr val="002060"/>
                  </a:solidFill>
                </a:rPr>
                <a:t>乙醚</a:t>
              </a:r>
              <a:endParaRPr lang="en-US" altLang="zh-CN" sz="2000" b="1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氧化还原反应 </a:t>
            </a:r>
            <a:r>
              <a:rPr lang="en-US" altLang="zh-CN" sz="2800" dirty="0"/>
              <a:t>-- </a:t>
            </a:r>
            <a:r>
              <a:rPr lang="zh-CN" altLang="en-US" sz="2800" dirty="0"/>
              <a:t>还原反应</a:t>
            </a:r>
            <a:endParaRPr lang="en-US" altLang="zh-CN" sz="2800" b="1" dirty="0">
              <a:solidFill>
                <a:srgbClr val="002060"/>
              </a:solidFill>
            </a:endParaRPr>
          </a:p>
          <a:p>
            <a:pPr marL="914400" lvl="1" indent="-514350">
              <a:spcBef>
                <a:spcPts val="600"/>
              </a:spcBef>
              <a:buNone/>
            </a:pP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b="1" dirty="0">
                <a:solidFill>
                  <a:srgbClr val="7030A0"/>
                </a:solidFill>
              </a:rPr>
              <a:t>羰基</a:t>
            </a:r>
            <a:r>
              <a:rPr lang="en-US" altLang="zh-CN" dirty="0"/>
              <a:t>(&gt;C=O)</a:t>
            </a:r>
            <a:r>
              <a:rPr lang="zh-CN" altLang="en-US" dirty="0"/>
              <a:t>被还原成</a:t>
            </a:r>
            <a:r>
              <a:rPr lang="zh-CN" altLang="en-US" b="1" dirty="0">
                <a:solidFill>
                  <a:srgbClr val="7030A0"/>
                </a:solidFill>
              </a:rPr>
              <a:t>羟基</a:t>
            </a:r>
            <a:r>
              <a:rPr lang="en-US" altLang="zh-CN" dirty="0"/>
              <a:t>(-OH)		</a:t>
            </a:r>
          </a:p>
          <a:p>
            <a:pPr marL="914400" lvl="1" indent="-514350">
              <a:spcBef>
                <a:spcPts val="600"/>
              </a:spcBef>
              <a:buNone/>
            </a:pPr>
            <a:r>
              <a:rPr lang="zh-CN" altLang="en-US" dirty="0"/>
              <a:t>弱还原剂：</a:t>
            </a:r>
            <a:r>
              <a:rPr lang="en-US" altLang="zh-CN" dirty="0"/>
              <a:t>H</a:t>
            </a:r>
            <a:r>
              <a:rPr lang="en-US" altLang="zh-CN" baseline="-25000" dirty="0"/>
              <a:t>2</a:t>
            </a:r>
            <a:r>
              <a:rPr lang="zh-CN" altLang="en-US" baseline="-25000" dirty="0"/>
              <a:t> </a:t>
            </a:r>
            <a:r>
              <a:rPr lang="en-US" altLang="zh-CN" baseline="-25000" dirty="0"/>
              <a:t> </a:t>
            </a:r>
            <a:r>
              <a:rPr lang="en-US" altLang="zh-CN" dirty="0"/>
              <a:t>/Ni</a:t>
            </a:r>
            <a:endParaRPr lang="en-US" altLang="zh-CN" baseline="-25000" dirty="0"/>
          </a:p>
          <a:p>
            <a:pPr marL="914400" lvl="1" indent="-514350">
              <a:spcBef>
                <a:spcPts val="600"/>
              </a:spcBef>
              <a:buNone/>
            </a:pPr>
            <a:r>
              <a:rPr lang="zh-CN" altLang="en-US" dirty="0"/>
              <a:t>强还原剂： </a:t>
            </a:r>
            <a:r>
              <a:rPr lang="en-US" altLang="zh-CN" dirty="0"/>
              <a:t>LiAlH</a:t>
            </a:r>
            <a:r>
              <a:rPr lang="en-US" altLang="zh-CN" baseline="-25000" dirty="0"/>
              <a:t>4</a:t>
            </a:r>
            <a:r>
              <a:rPr lang="en-US" altLang="zh-CN" dirty="0"/>
              <a:t> </a:t>
            </a:r>
            <a:r>
              <a:rPr lang="zh-CN" altLang="en-US" dirty="0"/>
              <a:t>氢化铝锂</a:t>
            </a:r>
            <a:endParaRPr lang="en-US" altLang="zh-CN" dirty="0"/>
          </a:p>
          <a:p>
            <a:pPr marL="914400" lvl="1" indent="-514350">
              <a:spcBef>
                <a:spcPts val="600"/>
              </a:spcBef>
              <a:buNone/>
            </a:pPr>
            <a:r>
              <a:rPr lang="zh-CN" altLang="en-US" dirty="0"/>
              <a:t>强还原剂符号：</a:t>
            </a:r>
            <a:r>
              <a:rPr lang="en-US" altLang="zh-CN" dirty="0"/>
              <a:t>[H]		</a:t>
            </a:r>
          </a:p>
          <a:p>
            <a:pPr marL="914400" lvl="1" indent="-514350">
              <a:spcBef>
                <a:spcPts val="600"/>
              </a:spcBef>
              <a:buNone/>
            </a:pP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醛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一级醇</a:t>
            </a:r>
            <a:endParaRPr lang="en-US" altLang="zh-CN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dirty="0"/>
          </a:p>
          <a:p>
            <a:pPr marL="914400" lvl="1" indent="-514350">
              <a:spcBef>
                <a:spcPts val="600"/>
              </a:spcBef>
              <a:buNone/>
            </a:pP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酮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	 	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二级醇</a:t>
            </a:r>
            <a:endParaRPr lang="en-US" altLang="zh-CN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dirty="0"/>
          </a:p>
        </p:txBody>
      </p:sp>
      <p:pic>
        <p:nvPicPr>
          <p:cNvPr id="6" name="Picture 5" descr="139.gif"/>
          <p:cNvPicPr>
            <a:picLocks noChangeAspect="1"/>
          </p:cNvPicPr>
          <p:nvPr/>
        </p:nvPicPr>
        <p:blipFill>
          <a:blip r:embed="rId3"/>
          <a:srcRect b="54032"/>
          <a:stretch>
            <a:fillRect/>
          </a:stretch>
        </p:blipFill>
        <p:spPr>
          <a:xfrm>
            <a:off x="3464332" y="3505200"/>
            <a:ext cx="5603468" cy="1219200"/>
          </a:xfrm>
          <a:prstGeom prst="rect">
            <a:avLst/>
          </a:prstGeom>
        </p:spPr>
      </p:pic>
      <p:pic>
        <p:nvPicPr>
          <p:cNvPr id="14" name="Picture 13" descr="139.gif"/>
          <p:cNvPicPr>
            <a:picLocks noChangeAspect="1"/>
          </p:cNvPicPr>
          <p:nvPr/>
        </p:nvPicPr>
        <p:blipFill>
          <a:blip r:embed="rId3"/>
          <a:srcRect t="45968"/>
          <a:stretch>
            <a:fillRect/>
          </a:stretch>
        </p:blipFill>
        <p:spPr>
          <a:xfrm>
            <a:off x="3657600" y="4648200"/>
            <a:ext cx="5562600" cy="13184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72200" y="2133600"/>
            <a:ext cx="21852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加</a:t>
            </a:r>
            <a:r>
              <a:rPr lang="en-US" altLang="zh-CN" sz="32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zh-CN" altLang="en-US" sz="32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叫还原</a:t>
            </a:r>
            <a:endParaRPr lang="en-US" sz="3200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6" name="Group 27"/>
          <p:cNvGrpSpPr/>
          <p:nvPr/>
        </p:nvGrpSpPr>
        <p:grpSpPr>
          <a:xfrm>
            <a:off x="1295400" y="3576935"/>
            <a:ext cx="855616" cy="918865"/>
            <a:chOff x="3139440" y="5717977"/>
            <a:chExt cx="855616" cy="918865"/>
          </a:xfrm>
        </p:grpSpPr>
        <p:grpSp>
          <p:nvGrpSpPr>
            <p:cNvPr id="17" name="Group 11"/>
            <p:cNvGrpSpPr/>
            <p:nvPr/>
          </p:nvGrpSpPr>
          <p:grpSpPr>
            <a:xfrm>
              <a:off x="3139440" y="6172117"/>
              <a:ext cx="855616" cy="76199"/>
              <a:chOff x="3455670" y="6324600"/>
              <a:chExt cx="1497328" cy="76199"/>
            </a:xfrm>
          </p:grpSpPr>
          <p:cxnSp>
            <p:nvCxnSpPr>
              <p:cNvPr id="20" name="Straight Arrow Connector 19"/>
              <p:cNvCxnSpPr/>
              <p:nvPr/>
            </p:nvCxnSpPr>
            <p:spPr>
              <a:xfrm rot="10800000">
                <a:off x="3512818" y="6399210"/>
                <a:ext cx="1440180" cy="1589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>
                <a:off x="3455670" y="6324600"/>
                <a:ext cx="1440180" cy="1588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/>
            <p:cNvSpPr txBox="1"/>
            <p:nvPr/>
          </p:nvSpPr>
          <p:spPr>
            <a:xfrm>
              <a:off x="3239125" y="6175177"/>
              <a:ext cx="7232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[O]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243819" y="5717977"/>
              <a:ext cx="5661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[H]</a:t>
              </a:r>
            </a:p>
          </p:txBody>
        </p:sp>
      </p:grpSp>
      <p:grpSp>
        <p:nvGrpSpPr>
          <p:cNvPr id="22" name="Group 27"/>
          <p:cNvGrpSpPr/>
          <p:nvPr/>
        </p:nvGrpSpPr>
        <p:grpSpPr>
          <a:xfrm>
            <a:off x="1277984" y="4491335"/>
            <a:ext cx="855616" cy="918865"/>
            <a:chOff x="3139440" y="5717977"/>
            <a:chExt cx="855616" cy="918865"/>
          </a:xfrm>
        </p:grpSpPr>
        <p:grpSp>
          <p:nvGrpSpPr>
            <p:cNvPr id="23" name="Group 11"/>
            <p:cNvGrpSpPr/>
            <p:nvPr/>
          </p:nvGrpSpPr>
          <p:grpSpPr>
            <a:xfrm>
              <a:off x="3139440" y="6172117"/>
              <a:ext cx="855616" cy="76199"/>
              <a:chOff x="3455670" y="6324600"/>
              <a:chExt cx="1497328" cy="76199"/>
            </a:xfrm>
          </p:grpSpPr>
          <p:cxnSp>
            <p:nvCxnSpPr>
              <p:cNvPr id="26" name="Straight Arrow Connector 25"/>
              <p:cNvCxnSpPr/>
              <p:nvPr/>
            </p:nvCxnSpPr>
            <p:spPr>
              <a:xfrm rot="10800000">
                <a:off x="3512818" y="6399210"/>
                <a:ext cx="1440180" cy="1589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>
              <a:xfrm>
                <a:off x="3455670" y="6324600"/>
                <a:ext cx="1440180" cy="1588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/>
            <p:cNvSpPr txBox="1"/>
            <p:nvPr/>
          </p:nvSpPr>
          <p:spPr>
            <a:xfrm>
              <a:off x="3239125" y="6175177"/>
              <a:ext cx="7232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[O]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43819" y="5717977"/>
              <a:ext cx="5661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[H]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氧化还原反应 </a:t>
            </a:r>
            <a:r>
              <a:rPr lang="en-US" altLang="zh-CN" sz="2800" dirty="0"/>
              <a:t>-- </a:t>
            </a:r>
            <a:r>
              <a:rPr lang="zh-CN" altLang="en-US" sz="2800" b="1" u="sng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还原反应</a:t>
            </a:r>
            <a:endParaRPr lang="en-US" altLang="zh-CN" sz="2800" b="1" u="sng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514350">
              <a:spcBef>
                <a:spcPts val="600"/>
              </a:spcBef>
              <a:buNone/>
            </a:pPr>
            <a:r>
              <a:rPr lang="en-US" altLang="zh-CN" dirty="0"/>
              <a:t>ii 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羰基</a:t>
            </a:r>
            <a:r>
              <a:rPr lang="zh-CN" altLang="en-US" dirty="0"/>
              <a:t>被还原成</a:t>
            </a:r>
            <a:r>
              <a:rPr lang="zh-CN" altLang="en-US" b="1" dirty="0">
                <a:solidFill>
                  <a:srgbClr val="7030A0"/>
                </a:solidFill>
              </a:rPr>
              <a:t>烷烃</a:t>
            </a:r>
            <a:r>
              <a:rPr lang="en-US" altLang="zh-CN" dirty="0"/>
              <a:t>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克里孟生反应</a:t>
            </a:r>
            <a:endParaRPr lang="en-US" altLang="zh-CN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spcBef>
                <a:spcPts val="600"/>
              </a:spcBef>
              <a:buNone/>
            </a:pP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超强还原剂：</a:t>
            </a:r>
            <a:r>
              <a:rPr lang="zh-CN" altLang="en-US" dirty="0"/>
              <a:t>锌汞齐</a:t>
            </a:r>
            <a:r>
              <a:rPr lang="en-US" altLang="zh-CN" dirty="0"/>
              <a:t>(Zn-Hg</a:t>
            </a:r>
            <a:r>
              <a:rPr lang="zh-CN" altLang="en-US" dirty="0"/>
              <a:t>合金</a:t>
            </a:r>
            <a:r>
              <a:rPr lang="en-US" altLang="zh-CN" dirty="0"/>
              <a:t>)</a:t>
            </a:r>
            <a:r>
              <a:rPr lang="zh-CN" altLang="en-US" dirty="0"/>
              <a:t>、浓</a:t>
            </a:r>
            <a:r>
              <a:rPr lang="en-US" altLang="zh-CN" dirty="0" err="1"/>
              <a:t>HCl</a:t>
            </a:r>
            <a:r>
              <a:rPr lang="zh-CN" altLang="en-US" dirty="0"/>
              <a:t>、加热</a:t>
            </a:r>
            <a:endParaRPr lang="en-US" altLang="zh-CN" dirty="0"/>
          </a:p>
          <a:p>
            <a:pPr lvl="1">
              <a:spcBef>
                <a:spcPts val="600"/>
              </a:spcBef>
              <a:buNone/>
            </a:pPr>
            <a:r>
              <a:rPr lang="zh-CN" altLang="en-US" dirty="0"/>
              <a:t>通式：</a:t>
            </a:r>
            <a:endParaRPr lang="en-US" altLang="zh-CN" dirty="0"/>
          </a:p>
          <a:p>
            <a:pPr lvl="1">
              <a:spcBef>
                <a:spcPts val="600"/>
              </a:spcBef>
              <a:buNone/>
            </a:pPr>
            <a:endParaRPr lang="en-US" altLang="zh-CN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spcBef>
                <a:spcPts val="600"/>
              </a:spcBef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醛或酮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     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烃</a:t>
            </a:r>
            <a:endParaRPr lang="en-US" altLang="zh-CN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spcBef>
                <a:spcPts val="600"/>
              </a:spcBef>
              <a:buNone/>
            </a:pPr>
            <a:r>
              <a:rPr lang="zh-CN" altLang="en-US" dirty="0"/>
              <a:t>例：</a:t>
            </a:r>
            <a:endParaRPr lang="en-US" altLang="zh-CN" dirty="0"/>
          </a:p>
        </p:txBody>
      </p:sp>
      <p:pic>
        <p:nvPicPr>
          <p:cNvPr id="15" name="Picture 14" descr="139.1.gif"/>
          <p:cNvPicPr>
            <a:picLocks noChangeAspect="1"/>
          </p:cNvPicPr>
          <p:nvPr/>
        </p:nvPicPr>
        <p:blipFill>
          <a:blip r:embed="rId3"/>
          <a:srcRect t="19209" r="37634" b="50910"/>
          <a:stretch>
            <a:fillRect/>
          </a:stretch>
        </p:blipFill>
        <p:spPr>
          <a:xfrm>
            <a:off x="685800" y="4267200"/>
            <a:ext cx="4419600" cy="1752600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1600200" y="2667000"/>
            <a:ext cx="5562600" cy="1295400"/>
            <a:chOff x="1981200" y="2667000"/>
            <a:chExt cx="5334000" cy="1143000"/>
          </a:xfrm>
        </p:grpSpPr>
        <p:pic>
          <p:nvPicPr>
            <p:cNvPr id="5" name="Picture 4" descr="139.1.gif"/>
            <p:cNvPicPr>
              <a:picLocks noChangeAspect="1"/>
            </p:cNvPicPr>
            <p:nvPr/>
          </p:nvPicPr>
          <p:blipFill>
            <a:blip r:embed="rId3"/>
            <a:srcRect l="17745" r="20148" b="80791"/>
            <a:stretch>
              <a:fillRect/>
            </a:stretch>
          </p:blipFill>
          <p:spPr>
            <a:xfrm>
              <a:off x="1981200" y="2667000"/>
              <a:ext cx="5334000" cy="1143000"/>
            </a:xfrm>
            <a:prstGeom prst="rect">
              <a:avLst/>
            </a:prstGeom>
          </p:spPr>
        </p:pic>
        <p:pic>
          <p:nvPicPr>
            <p:cNvPr id="17" name="Picture 16" descr="139.1.gif"/>
            <p:cNvPicPr>
              <a:picLocks noChangeAspect="1"/>
            </p:cNvPicPr>
            <p:nvPr/>
          </p:nvPicPr>
          <p:blipFill>
            <a:blip r:embed="rId3"/>
            <a:srcRect l="44086" t="36098" r="49462" b="54808"/>
            <a:stretch>
              <a:fillRect/>
            </a:stretch>
          </p:blipFill>
          <p:spPr>
            <a:xfrm>
              <a:off x="5638800" y="3200400"/>
              <a:ext cx="457200" cy="533400"/>
            </a:xfrm>
            <a:prstGeom prst="rect">
              <a:avLst/>
            </a:prstGeom>
          </p:spPr>
        </p:pic>
      </p:grpSp>
      <p:pic>
        <p:nvPicPr>
          <p:cNvPr id="19" name="Picture 18" descr="139.1.gif"/>
          <p:cNvPicPr>
            <a:picLocks noChangeAspect="1"/>
          </p:cNvPicPr>
          <p:nvPr/>
        </p:nvPicPr>
        <p:blipFill>
          <a:blip r:embed="rId3"/>
          <a:srcRect l="62366" t="19209" b="50910"/>
          <a:stretch>
            <a:fillRect/>
          </a:stretch>
        </p:blipFill>
        <p:spPr>
          <a:xfrm>
            <a:off x="5181600" y="4267200"/>
            <a:ext cx="2667000" cy="17526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828187" y="2858631"/>
            <a:ext cx="55381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加</a:t>
            </a:r>
            <a:r>
              <a:rPr lang="en-US" altLang="zh-CN" sz="32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zh-CN" altLang="en-US" sz="32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又去氧</a:t>
            </a:r>
            <a:endParaRPr lang="en-US" sz="3200" dirty="0">
              <a:solidFill>
                <a:srgbClr val="2D1AB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000" dirty="0"/>
              <a:t>氧化还原反应 </a:t>
            </a:r>
            <a:r>
              <a:rPr lang="en-US" altLang="zh-CN" sz="3000" dirty="0"/>
              <a:t>-- </a:t>
            </a:r>
            <a:r>
              <a:rPr lang="zh-CN" altLang="en-US" sz="3000" b="1" u="sng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氧化反应</a:t>
            </a:r>
            <a:endParaRPr lang="en-US" altLang="zh-CN" sz="3000" b="1" u="sng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醛易被氧化</a:t>
            </a:r>
            <a:r>
              <a:rPr lang="zh-CN" altLang="en-US" sz="3000" dirty="0"/>
              <a:t>，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酮不易被氧化</a:t>
            </a:r>
            <a:r>
              <a:rPr lang="zh-CN" altLang="en-US" sz="3000" dirty="0"/>
              <a:t>。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两种</a:t>
            </a:r>
            <a:r>
              <a:rPr lang="zh-CN" altLang="en-US" sz="3000" dirty="0">
                <a:solidFill>
                  <a:srgbClr val="C00000"/>
                </a:solidFill>
              </a:rPr>
              <a:t>弱氧化剂</a:t>
            </a:r>
            <a:r>
              <a:rPr lang="zh-CN" altLang="en-US" sz="3000" dirty="0"/>
              <a:t>能</a:t>
            </a: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区别醛和酮</a:t>
            </a:r>
            <a:r>
              <a:rPr lang="zh-CN" altLang="en-US" sz="3000" dirty="0"/>
              <a:t>：</a:t>
            </a:r>
            <a:endParaRPr lang="en-US" altLang="zh-CN" sz="3000" dirty="0"/>
          </a:p>
          <a:p>
            <a:pPr lvl="1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托伦试剂：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Ag(NH</a:t>
            </a:r>
            <a:r>
              <a:rPr lang="en-US" altLang="zh-CN" sz="30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altLang="zh-CN" sz="30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OH	</a:t>
            </a:r>
            <a:r>
              <a:rPr lang="zh-CN" altLang="en-US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（氢氧化银的氨溶液）</a:t>
            </a:r>
            <a:endParaRPr lang="en-US" altLang="zh-CN" sz="30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斐林试剂：</a:t>
            </a:r>
            <a:r>
              <a:rPr lang="en-US" altLang="zh-CN" sz="3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CuSO</a:t>
            </a:r>
            <a:r>
              <a:rPr lang="en-US" altLang="zh-CN" sz="3000" b="1" baseline="-25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altLang="zh-CN" sz="3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NaKC</a:t>
            </a:r>
            <a:r>
              <a:rPr lang="en-US" altLang="zh-CN" sz="3000" b="1" baseline="-25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altLang="zh-CN" sz="3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3000" b="1" baseline="-25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altLang="zh-CN" sz="3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altLang="zh-CN" sz="3000" b="1" baseline="-25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r>
              <a:rPr lang="en-US" altLang="zh-CN" sz="3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en-US" altLang="zh-CN" sz="30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NaOH</a:t>
            </a:r>
            <a:endParaRPr lang="en-US" altLang="zh-CN" sz="30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3000" dirty="0"/>
              <a:t>C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O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 </a:t>
            </a:r>
            <a:r>
              <a:rPr lang="en-US" altLang="zh-CN" sz="3000" baseline="30000" dirty="0"/>
              <a:t>2-</a:t>
            </a:r>
            <a:r>
              <a:rPr lang="en-US" altLang="zh-CN" sz="3000" dirty="0"/>
              <a:t> (</a:t>
            </a:r>
            <a:r>
              <a:rPr lang="zh-CN" altLang="en-US" sz="3000" dirty="0"/>
              <a:t>酒石酸根</a:t>
            </a:r>
            <a:r>
              <a:rPr lang="en-US" altLang="zh-CN" sz="3000" dirty="0"/>
              <a:t>)</a:t>
            </a:r>
            <a:r>
              <a:rPr lang="zh-CN" altLang="en-US" sz="3000" dirty="0"/>
              <a:t>与</a:t>
            </a:r>
            <a:r>
              <a:rPr lang="en-US" altLang="zh-CN" sz="3000" dirty="0"/>
              <a:t> Cu</a:t>
            </a:r>
            <a:r>
              <a:rPr lang="en-US" altLang="zh-CN" sz="3000" baseline="30000" dirty="0"/>
              <a:t>2+</a:t>
            </a:r>
            <a:r>
              <a:rPr lang="en-US" altLang="zh-CN" sz="3000" dirty="0"/>
              <a:t> </a:t>
            </a:r>
            <a:r>
              <a:rPr lang="zh-CN" altLang="en-US" sz="3000" dirty="0"/>
              <a:t>形成配位化合物，防止</a:t>
            </a:r>
            <a:r>
              <a:rPr lang="en-US" altLang="zh-CN" sz="3000" dirty="0"/>
              <a:t>Cu</a:t>
            </a:r>
            <a:r>
              <a:rPr lang="en-US" altLang="zh-CN" sz="3000" baseline="30000" dirty="0"/>
              <a:t>2+</a:t>
            </a:r>
            <a:r>
              <a:rPr lang="en-US" altLang="zh-CN" sz="3000" dirty="0"/>
              <a:t> </a:t>
            </a:r>
            <a:r>
              <a:rPr lang="zh-CN" altLang="en-US" sz="3000" dirty="0"/>
              <a:t>与</a:t>
            </a:r>
            <a:r>
              <a:rPr lang="en-US" altLang="zh-CN" sz="3000" dirty="0"/>
              <a:t>OH</a:t>
            </a:r>
            <a:r>
              <a:rPr lang="en-US" altLang="zh-CN" sz="3000" baseline="30000" dirty="0"/>
              <a:t>-</a:t>
            </a:r>
            <a:r>
              <a:rPr lang="en-US" altLang="zh-CN" sz="3000" dirty="0"/>
              <a:t> </a:t>
            </a:r>
            <a:r>
              <a:rPr lang="zh-CN" altLang="en-US" sz="3000" dirty="0"/>
              <a:t>生成</a:t>
            </a:r>
            <a:r>
              <a:rPr lang="en-US" altLang="zh-CN" sz="3000" dirty="0"/>
              <a:t>Cu(OH)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zh-CN" altLang="en-US" sz="3000" dirty="0"/>
              <a:t>沉淀。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即稳定剂</a:t>
            </a:r>
            <a:endParaRPr lang="en-US" altLang="zh-CN" sz="3000" b="1" baseline="-25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9916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000" b="1" u="sng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托伦试剂</a:t>
            </a:r>
            <a:r>
              <a:rPr lang="zh-CN" altLang="en-US" sz="3000" u="sng" dirty="0"/>
              <a:t>的氧化反应</a:t>
            </a:r>
            <a:endParaRPr lang="en-US" altLang="zh-CN" sz="3000" u="sng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托伦试剂：</a:t>
            </a:r>
            <a:r>
              <a:rPr lang="en-US" altLang="zh-CN" sz="3000" dirty="0"/>
              <a:t>Ag(NH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)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OH	</a:t>
            </a:r>
            <a:r>
              <a:rPr lang="zh-CN" altLang="en-US" sz="3000" dirty="0"/>
              <a:t>（氢氧化银的氨溶液）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3000" b="1" dirty="0">
                <a:solidFill>
                  <a:srgbClr val="C00000"/>
                </a:solidFill>
              </a:rPr>
              <a:t>RCHO + 2Ag(NH</a:t>
            </a:r>
            <a:r>
              <a:rPr lang="en-US" altLang="zh-CN" sz="3000" b="1" baseline="-25000" dirty="0">
                <a:solidFill>
                  <a:srgbClr val="C00000"/>
                </a:solidFill>
              </a:rPr>
              <a:t>3</a:t>
            </a:r>
            <a:r>
              <a:rPr lang="en-US" altLang="zh-CN" sz="3000" b="1" dirty="0">
                <a:solidFill>
                  <a:srgbClr val="C00000"/>
                </a:solidFill>
              </a:rPr>
              <a:t>)</a:t>
            </a:r>
            <a:r>
              <a:rPr lang="en-US" altLang="zh-CN" sz="3000" b="1" baseline="-25000" dirty="0">
                <a:solidFill>
                  <a:srgbClr val="C00000"/>
                </a:solidFill>
              </a:rPr>
              <a:t>2</a:t>
            </a:r>
            <a:r>
              <a:rPr lang="en-US" altLang="zh-CN" sz="3000" b="1" dirty="0">
                <a:solidFill>
                  <a:srgbClr val="C00000"/>
                </a:solidFill>
              </a:rPr>
              <a:t>OH </a:t>
            </a:r>
            <a:r>
              <a:rPr lang="en-US" altLang="zh-CN" sz="3000" b="1" dirty="0">
                <a:solidFill>
                  <a:srgbClr val="C00000"/>
                </a:solidFill>
                <a:sym typeface="Wingdings" pitchFamily="2" charset="2"/>
              </a:rPr>
              <a:t> RCOONH</a:t>
            </a:r>
            <a:r>
              <a:rPr lang="en-US" altLang="zh-CN" sz="3000" b="1" baseline="-25000" dirty="0">
                <a:solidFill>
                  <a:srgbClr val="C00000"/>
                </a:solidFill>
                <a:sym typeface="Wingdings" pitchFamily="2" charset="2"/>
              </a:rPr>
              <a:t>4 </a:t>
            </a:r>
            <a:r>
              <a:rPr lang="en-US" altLang="zh-CN" sz="3000" b="1" dirty="0">
                <a:solidFill>
                  <a:srgbClr val="C00000"/>
                </a:solidFill>
                <a:sym typeface="Wingdings" pitchFamily="2" charset="2"/>
              </a:rPr>
              <a:t>+ 2Ag + H</a:t>
            </a:r>
            <a:r>
              <a:rPr lang="en-US" altLang="zh-CN" sz="3000" b="1" baseline="-25000" dirty="0">
                <a:solidFill>
                  <a:srgbClr val="C00000"/>
                </a:solidFill>
                <a:sym typeface="Wingdings" pitchFamily="2" charset="2"/>
              </a:rPr>
              <a:t>2</a:t>
            </a:r>
            <a:r>
              <a:rPr lang="en-US" altLang="zh-CN" sz="3000" b="1" dirty="0">
                <a:solidFill>
                  <a:srgbClr val="C00000"/>
                </a:solidFill>
                <a:sym typeface="Wingdings" pitchFamily="2" charset="2"/>
              </a:rPr>
              <a:t>O +3NH</a:t>
            </a:r>
            <a:r>
              <a:rPr lang="en-US" altLang="zh-CN" sz="3000" b="1" baseline="-25000" dirty="0">
                <a:solidFill>
                  <a:srgbClr val="C00000"/>
                </a:solidFill>
                <a:sym typeface="Wingdings" pitchFamily="2" charset="2"/>
              </a:rPr>
              <a:t>3</a:t>
            </a:r>
          </a:p>
          <a:p>
            <a:pPr>
              <a:spcBef>
                <a:spcPts val="600"/>
              </a:spcBef>
              <a:buNone/>
            </a:pP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3000" dirty="0"/>
              <a:t>RCHO </a:t>
            </a:r>
            <a:r>
              <a:rPr lang="zh-CN" altLang="en-US" sz="3000" dirty="0"/>
              <a:t>被氧化成 </a:t>
            </a:r>
            <a:r>
              <a:rPr lang="en-US" altLang="zh-CN" sz="3000" dirty="0"/>
              <a:t>RCOOH</a:t>
            </a: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3000" dirty="0"/>
              <a:t>C</a:t>
            </a:r>
            <a:r>
              <a:rPr lang="zh-CN" altLang="en-US" sz="3000" dirty="0"/>
              <a:t>氧化数上升，被氧化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3000" dirty="0"/>
              <a:t>Ag</a:t>
            </a:r>
            <a:r>
              <a:rPr lang="en-US" altLang="zh-CN" sz="3000" baseline="30000" dirty="0"/>
              <a:t>+</a:t>
            </a:r>
            <a:r>
              <a:rPr lang="en-US" altLang="zh-CN" sz="3000" dirty="0"/>
              <a:t> </a:t>
            </a:r>
            <a:r>
              <a:rPr lang="zh-CN" altLang="en-US" sz="3000" dirty="0"/>
              <a:t>被还原为</a:t>
            </a:r>
            <a:r>
              <a:rPr lang="en-US" altLang="zh-CN" sz="3000" dirty="0"/>
              <a:t>Ag</a:t>
            </a:r>
            <a:r>
              <a:rPr lang="zh-CN" altLang="en-US" sz="3000" dirty="0"/>
              <a:t>单质，氧化数下降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3000" dirty="0">
                <a:solidFill>
                  <a:srgbClr val="002060"/>
                </a:solidFill>
              </a:rPr>
              <a:t>RCHO</a:t>
            </a:r>
            <a:r>
              <a:rPr lang="en-US" altLang="zh-CN" sz="3000" dirty="0">
                <a:solidFill>
                  <a:srgbClr val="002060"/>
                </a:solidFill>
                <a:sym typeface="Wingdings" pitchFamily="2" charset="2"/>
              </a:rPr>
              <a:t>RCOOHRCOONH</a:t>
            </a:r>
            <a:r>
              <a:rPr lang="en-US" altLang="zh-CN" sz="3000" baseline="-25000" dirty="0">
                <a:solidFill>
                  <a:srgbClr val="002060"/>
                </a:solidFill>
                <a:sym typeface="Wingdings" pitchFamily="2" charset="2"/>
              </a:rPr>
              <a:t>4</a:t>
            </a:r>
            <a:endParaRPr lang="en-US" altLang="zh-CN" sz="3000" dirty="0">
              <a:solidFill>
                <a:srgbClr val="00206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38507" y="2753380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氧化剂</a:t>
            </a:r>
            <a:endParaRPr lang="en-US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2763560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还原剂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67200" y="2753380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氧化产物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68831" y="2753380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还原产物</a:t>
            </a:r>
            <a:endParaRPr lang="en-US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10200" y="3820180"/>
            <a:ext cx="1869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加</a:t>
            </a:r>
            <a:r>
              <a:rPr lang="en-US" altLang="zh-CN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zh-CN" altLang="en-US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叫氧化</a:t>
            </a:r>
            <a:endParaRPr lang="en-US" sz="2800" b="1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" y="3439180"/>
            <a:ext cx="5469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+1</a:t>
            </a:r>
            <a:endParaRPr lang="en-US" sz="2800" b="1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86855" y="3439180"/>
            <a:ext cx="5469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+3</a:t>
            </a:r>
            <a:endParaRPr lang="en-US" sz="2800" b="1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8" grpId="0"/>
      <p:bldP spid="9" grpId="0"/>
      <p:bldP spid="11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915400" cy="5715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3000" b="1" u="sng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托伦试剂</a:t>
            </a:r>
            <a:r>
              <a:rPr lang="zh-CN" altLang="en-US" sz="3000" u="sng" dirty="0"/>
              <a:t>的氧化反应</a:t>
            </a:r>
            <a:endParaRPr lang="en-US" altLang="zh-CN" sz="3000" u="sng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RCHO + 2Ag(NH</a:t>
            </a:r>
            <a:r>
              <a:rPr lang="en-US" altLang="zh-CN" sz="3000" b="1" baseline="-25000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altLang="zh-CN" sz="3000" b="1" baseline="-25000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OH 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 RCOONH</a:t>
            </a:r>
            <a:r>
              <a:rPr lang="en-US" altLang="zh-CN" sz="3000" b="1" baseline="-25000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4 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+ 2Ag +H</a:t>
            </a:r>
            <a:r>
              <a:rPr lang="en-US" altLang="zh-CN" sz="3000" b="1" baseline="-25000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2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O+ 3NH</a:t>
            </a:r>
            <a:r>
              <a:rPr lang="en-US" altLang="zh-CN" sz="3000" b="1" baseline="-25000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3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若在干净的玻璃器皿上反应，析出的金属银均匀附在的玻璃上</a:t>
            </a:r>
            <a:r>
              <a:rPr lang="zh-CN" altLang="en-US" sz="3000" dirty="0"/>
              <a:t>，形成银镜</a:t>
            </a:r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称银镜反应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葡萄糖能发生银镜反应，葡萄糖是醇也是醛。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运用：将银均匀地镀在玻璃上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制成镜或保温瓶胆</a:t>
            </a:r>
            <a:r>
              <a:rPr lang="zh-CN" altLang="en-US" sz="3000" dirty="0"/>
              <a:t>。</a:t>
            </a:r>
            <a:endParaRPr lang="en-US" altLang="zh-CN" sz="3000" b="1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b="1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</p:txBody>
      </p:sp>
      <p:pic>
        <p:nvPicPr>
          <p:cNvPr id="5" name="Picture 4" descr="danta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981200"/>
            <a:ext cx="83820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000" b="1" u="sng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斐林试剂</a:t>
            </a:r>
            <a:r>
              <a:rPr lang="zh-CN" altLang="en-US" sz="3000" u="sng" dirty="0"/>
              <a:t>的氧化反应</a:t>
            </a:r>
            <a:endParaRPr lang="en-US" altLang="zh-CN" sz="3000" u="sng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斐林试剂：</a:t>
            </a:r>
            <a:r>
              <a:rPr lang="en-US" altLang="zh-CN" sz="3000" dirty="0"/>
              <a:t>CuSO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+ NaKC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O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 + </a:t>
            </a:r>
            <a:r>
              <a:rPr lang="en-US" altLang="zh-CN" sz="3000" dirty="0" err="1"/>
              <a:t>NaOH</a:t>
            </a:r>
            <a:endParaRPr lang="en-US" altLang="zh-CN" sz="3000" dirty="0"/>
          </a:p>
          <a:p>
            <a:pPr marL="342900" lvl="2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3000" dirty="0"/>
              <a:t>C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O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 </a:t>
            </a:r>
            <a:r>
              <a:rPr lang="en-US" altLang="zh-CN" sz="3000" baseline="30000" dirty="0"/>
              <a:t>2-</a:t>
            </a:r>
            <a:r>
              <a:rPr lang="en-US" altLang="zh-CN" sz="3000" dirty="0"/>
              <a:t> (</a:t>
            </a:r>
            <a:r>
              <a:rPr lang="zh-CN" altLang="en-US" sz="3000" dirty="0"/>
              <a:t>酒石酸根</a:t>
            </a:r>
            <a:r>
              <a:rPr lang="en-US" altLang="zh-CN" sz="3000" dirty="0"/>
              <a:t>)</a:t>
            </a:r>
            <a:r>
              <a:rPr lang="zh-CN" altLang="en-US" sz="3000" dirty="0"/>
              <a:t>与</a:t>
            </a:r>
            <a:r>
              <a:rPr lang="en-US" altLang="zh-CN" sz="3000" dirty="0"/>
              <a:t> Cu</a:t>
            </a:r>
            <a:r>
              <a:rPr lang="en-US" altLang="zh-CN" sz="3000" baseline="30000" dirty="0"/>
              <a:t>2+</a:t>
            </a:r>
            <a:r>
              <a:rPr lang="en-US" altLang="zh-CN" sz="3000" dirty="0"/>
              <a:t> </a:t>
            </a:r>
            <a:r>
              <a:rPr lang="zh-CN" altLang="en-US" sz="3000" dirty="0"/>
              <a:t>形成配位化合物，防止</a:t>
            </a:r>
            <a:r>
              <a:rPr lang="en-US" altLang="zh-CN" sz="3000" dirty="0"/>
              <a:t>Cu</a:t>
            </a:r>
            <a:r>
              <a:rPr lang="en-US" altLang="zh-CN" sz="3000" baseline="30000" dirty="0"/>
              <a:t>2+</a:t>
            </a:r>
            <a:r>
              <a:rPr lang="en-US" altLang="zh-CN" sz="3000" dirty="0"/>
              <a:t> </a:t>
            </a:r>
            <a:r>
              <a:rPr lang="zh-CN" altLang="en-US" sz="3000" dirty="0"/>
              <a:t>与</a:t>
            </a:r>
            <a:r>
              <a:rPr lang="en-US" altLang="zh-CN" sz="3000" dirty="0"/>
              <a:t>OH</a:t>
            </a:r>
            <a:r>
              <a:rPr lang="en-US" altLang="zh-CN" sz="3000" baseline="30000" dirty="0"/>
              <a:t>-</a:t>
            </a:r>
            <a:r>
              <a:rPr lang="en-US" altLang="zh-CN" sz="3000" dirty="0"/>
              <a:t> </a:t>
            </a:r>
            <a:r>
              <a:rPr lang="zh-CN" altLang="en-US" sz="3000" dirty="0"/>
              <a:t>生成</a:t>
            </a:r>
            <a:r>
              <a:rPr lang="en-US" altLang="zh-CN" sz="3000" dirty="0"/>
              <a:t>Cu(OH)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zh-CN" altLang="en-US" sz="3000" dirty="0"/>
              <a:t>沉淀。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即稳定剂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3000" dirty="0">
                <a:solidFill>
                  <a:srgbClr val="C00000"/>
                </a:solidFill>
              </a:rPr>
              <a:t>RCHO +2Cu</a:t>
            </a:r>
            <a:r>
              <a:rPr lang="en-US" altLang="zh-CN" sz="3000" baseline="30000" dirty="0">
                <a:solidFill>
                  <a:srgbClr val="C00000"/>
                </a:solidFill>
              </a:rPr>
              <a:t>2+</a:t>
            </a:r>
            <a:r>
              <a:rPr lang="en-US" altLang="zh-CN" sz="3000" dirty="0">
                <a:solidFill>
                  <a:srgbClr val="C00000"/>
                </a:solidFill>
              </a:rPr>
              <a:t>+NaOH+H</a:t>
            </a:r>
            <a:r>
              <a:rPr lang="en-US" altLang="zh-CN" sz="3000" baseline="-25000" dirty="0">
                <a:solidFill>
                  <a:srgbClr val="C00000"/>
                </a:solidFill>
              </a:rPr>
              <a:t>2</a:t>
            </a:r>
            <a:r>
              <a:rPr lang="en-US" altLang="zh-CN" sz="3000" dirty="0">
                <a:solidFill>
                  <a:srgbClr val="C00000"/>
                </a:solidFill>
              </a:rPr>
              <a:t>O</a:t>
            </a:r>
            <a:r>
              <a:rPr lang="en-US" altLang="zh-CN" sz="3000" dirty="0">
                <a:solidFill>
                  <a:srgbClr val="C00000"/>
                </a:solidFill>
                <a:sym typeface="Wingdings" pitchFamily="2" charset="2"/>
              </a:rPr>
              <a:t> </a:t>
            </a:r>
            <a:r>
              <a:rPr lang="en-US" altLang="zh-CN" sz="3000" dirty="0" err="1">
                <a:solidFill>
                  <a:srgbClr val="C00000"/>
                </a:solidFill>
                <a:sym typeface="Wingdings" pitchFamily="2" charset="2"/>
              </a:rPr>
              <a:t>RCOONa</a:t>
            </a:r>
            <a:r>
              <a:rPr lang="en-US" altLang="zh-CN" sz="3000" baseline="-25000" dirty="0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lang="en-US" altLang="zh-CN" sz="3000" dirty="0">
                <a:solidFill>
                  <a:srgbClr val="C00000"/>
                </a:solidFill>
                <a:sym typeface="Wingdings" pitchFamily="2" charset="2"/>
              </a:rPr>
              <a:t>+ Cu</a:t>
            </a:r>
            <a:r>
              <a:rPr lang="en-US" altLang="zh-CN" sz="3000" baseline="-25000" dirty="0">
                <a:solidFill>
                  <a:srgbClr val="C00000"/>
                </a:solidFill>
                <a:sym typeface="Wingdings" pitchFamily="2" charset="2"/>
              </a:rPr>
              <a:t>2</a:t>
            </a:r>
            <a:r>
              <a:rPr lang="en-US" altLang="zh-CN" sz="3000" dirty="0">
                <a:solidFill>
                  <a:srgbClr val="C00000"/>
                </a:solidFill>
                <a:sym typeface="Wingdings" pitchFamily="2" charset="2"/>
              </a:rPr>
              <a:t>O+ 4H</a:t>
            </a:r>
            <a:r>
              <a:rPr lang="en-US" altLang="zh-CN" sz="3000" baseline="30000" dirty="0">
                <a:solidFill>
                  <a:srgbClr val="C00000"/>
                </a:solidFill>
                <a:sym typeface="Wingdings" pitchFamily="2" charset="2"/>
              </a:rPr>
              <a:t>+</a:t>
            </a:r>
            <a:endParaRPr lang="en-US" altLang="zh-CN" sz="3000" baseline="-25000" dirty="0">
              <a:solidFill>
                <a:srgbClr val="C00000"/>
              </a:solidFill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3000" dirty="0"/>
              <a:t>RCHO </a:t>
            </a:r>
            <a:r>
              <a:rPr lang="zh-CN" altLang="en-US" sz="3000" dirty="0"/>
              <a:t>被氧化成 </a:t>
            </a:r>
            <a:r>
              <a:rPr lang="en-US" altLang="zh-CN" sz="3000" dirty="0"/>
              <a:t>RCOOH</a:t>
            </a: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3000" dirty="0"/>
              <a:t>C</a:t>
            </a:r>
            <a:r>
              <a:rPr lang="zh-CN" altLang="en-US" sz="3000" dirty="0"/>
              <a:t>氧化数上升，被氧化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3000" dirty="0"/>
              <a:t>Cu</a:t>
            </a:r>
            <a:r>
              <a:rPr lang="en-US" altLang="zh-CN" sz="3000" baseline="30000" dirty="0"/>
              <a:t>2+</a:t>
            </a:r>
            <a:r>
              <a:rPr lang="en-US" altLang="zh-CN" sz="3000" dirty="0"/>
              <a:t> </a:t>
            </a:r>
            <a:r>
              <a:rPr lang="zh-CN" altLang="en-US" sz="3000" dirty="0"/>
              <a:t>被还原为氧化铜</a:t>
            </a:r>
            <a:r>
              <a:rPr lang="en-US" altLang="zh-CN" sz="3000" dirty="0"/>
              <a:t>(I)</a:t>
            </a:r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红色沉淀</a:t>
            </a:r>
            <a:r>
              <a:rPr lang="zh-CN" altLang="en-US" sz="3000" dirty="0"/>
              <a:t>，氧化数下降</a:t>
            </a:r>
            <a:endParaRPr lang="en-US" altLang="zh-CN" sz="3000" dirty="0"/>
          </a:p>
        </p:txBody>
      </p:sp>
      <p:sp>
        <p:nvSpPr>
          <p:cNvPr id="5" name="Rectangle 4"/>
          <p:cNvSpPr/>
          <p:nvPr/>
        </p:nvSpPr>
        <p:spPr>
          <a:xfrm>
            <a:off x="1705107" y="3743980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氧化剂</a:t>
            </a:r>
            <a:endParaRPr lang="en-US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3754160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还原剂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00600" y="3743980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氧化产物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24600" y="3743980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还原产物</a:t>
            </a:r>
            <a:endParaRPr lang="en-US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10200" y="4810780"/>
            <a:ext cx="1869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加</a:t>
            </a:r>
            <a:r>
              <a:rPr lang="en-US" altLang="zh-CN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zh-CN" altLang="en-US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叫氧化</a:t>
            </a:r>
            <a:endParaRPr lang="en-US" sz="2800" b="1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" y="4429780"/>
            <a:ext cx="5469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+1</a:t>
            </a:r>
            <a:endParaRPr lang="en-US" sz="2800" b="1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86855" y="4429780"/>
            <a:ext cx="5469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+3</a:t>
            </a:r>
            <a:endParaRPr lang="en-US" sz="2800" b="1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8" grpId="0"/>
      <p:bldP spid="9" grpId="0"/>
      <p:bldP spid="11" grpId="0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7630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酮</a:t>
            </a:r>
            <a:r>
              <a:rPr lang="zh-CN" altLang="en-US" sz="3000" u="sng" dirty="0"/>
              <a:t>的氧化反应</a:t>
            </a:r>
            <a:endParaRPr lang="en-US" altLang="zh-CN" sz="3000" u="sng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酮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不能</a:t>
            </a:r>
            <a:r>
              <a:rPr lang="zh-CN" altLang="en-US" sz="3000" dirty="0">
                <a:sym typeface="Wingdings" pitchFamily="2" charset="2"/>
              </a:rPr>
              <a:t>被弱氧化剂（托伦试剂、斐林试剂）氧化</a:t>
            </a:r>
            <a:endParaRPr lang="en-US" altLang="zh-CN" sz="3000" baseline="-25000" dirty="0">
              <a:sym typeface="Wingdings" pitchFamily="2" charset="2"/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在加热条件下，酮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能</a:t>
            </a:r>
            <a:r>
              <a:rPr lang="zh-CN" altLang="en-US" sz="3000" dirty="0"/>
              <a:t>被强氧化剂氧化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强氧化剂：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KMnO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或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、浓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zh-CN" altLang="en-US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、加热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通式：酮 </a:t>
            </a:r>
            <a:r>
              <a:rPr lang="en-US" altLang="zh-CN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		 </a:t>
            </a:r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羧酸 </a:t>
            </a:r>
            <a:r>
              <a:rPr lang="en-US" altLang="zh-CN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+ CO</a:t>
            </a:r>
            <a:r>
              <a:rPr lang="en-US" altLang="zh-CN" sz="3000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2</a:t>
            </a:r>
            <a:r>
              <a:rPr lang="en-US" altLang="zh-CN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 + H</a:t>
            </a:r>
            <a:r>
              <a:rPr lang="en-US" altLang="zh-CN" sz="3000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2</a:t>
            </a:r>
            <a:r>
              <a:rPr lang="en-US" altLang="zh-CN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O</a:t>
            </a:r>
            <a:r>
              <a:rPr lang="en-US" altLang="zh-CN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羰基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&gt;C=O</a:t>
            </a:r>
            <a:r>
              <a:rPr lang="zh-CN" altLang="en-US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旁的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C-C</a:t>
            </a:r>
            <a:r>
              <a:rPr lang="zh-CN" altLang="en-US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单键断裂</a:t>
            </a:r>
            <a:endParaRPr lang="en-US" altLang="zh-CN" sz="30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练习：写出丁酮与酸化的高锰酸钾溶液共热的反应式。</a:t>
            </a: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r>
              <a:rPr lang="en-US" altLang="zh-CN" sz="3000" dirty="0">
                <a:solidFill>
                  <a:srgbClr val="002060"/>
                </a:solidFill>
              </a:rPr>
              <a:t>	</a:t>
            </a:r>
            <a:r>
              <a:rPr lang="zh-CN" altLang="en-US" sz="3000" dirty="0">
                <a:solidFill>
                  <a:srgbClr val="002060"/>
                </a:solidFill>
              </a:rPr>
              <a:t>产物：乙酸、丙酸、</a:t>
            </a:r>
            <a:r>
              <a:rPr lang="en-US" altLang="zh-CN" sz="3000" dirty="0">
                <a:solidFill>
                  <a:srgbClr val="002060"/>
                </a:solidFill>
                <a:sym typeface="Wingdings" pitchFamily="2" charset="2"/>
              </a:rPr>
              <a:t> CO</a:t>
            </a:r>
            <a:r>
              <a:rPr lang="en-US" altLang="zh-CN" sz="3000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3000" dirty="0">
                <a:solidFill>
                  <a:srgbClr val="002060"/>
                </a:solidFill>
                <a:sym typeface="Wingdings" pitchFamily="2" charset="2"/>
              </a:rPr>
              <a:t> </a:t>
            </a:r>
            <a:r>
              <a:rPr lang="zh-CN" altLang="en-US" sz="3000" dirty="0">
                <a:solidFill>
                  <a:srgbClr val="002060"/>
                </a:solidFill>
                <a:sym typeface="Wingdings" pitchFamily="2" charset="2"/>
              </a:rPr>
              <a:t>、水</a:t>
            </a:r>
            <a:endParaRPr lang="en-US" altLang="zh-CN" sz="3000" dirty="0">
              <a:solidFill>
                <a:srgbClr val="002060"/>
              </a:solidFill>
            </a:endParaRPr>
          </a:p>
          <a:p>
            <a:pPr>
              <a:spcBef>
                <a:spcPts val="600"/>
              </a:spcBef>
              <a:buNone/>
            </a:pPr>
            <a:endParaRPr lang="en-US" altLang="zh-CN" sz="3000" dirty="0"/>
          </a:p>
        </p:txBody>
      </p:sp>
      <p:grpSp>
        <p:nvGrpSpPr>
          <p:cNvPr id="9" name="Group 8"/>
          <p:cNvGrpSpPr/>
          <p:nvPr/>
        </p:nvGrpSpPr>
        <p:grpSpPr>
          <a:xfrm>
            <a:off x="2743200" y="3505200"/>
            <a:ext cx="914400" cy="675620"/>
            <a:chOff x="1905000" y="5344180"/>
            <a:chExt cx="914400" cy="675620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1905000" y="5789612"/>
              <a:ext cx="914400" cy="1588"/>
            </a:xfrm>
            <a:prstGeom prst="straightConnector1">
              <a:avLst/>
            </a:prstGeom>
            <a:ln w="22225">
              <a:solidFill>
                <a:srgbClr val="C00000">
                  <a:alpha val="95000"/>
                </a:srgb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936569" y="5344180"/>
              <a:ext cx="8066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C00000"/>
                  </a:solidFill>
                </a:rPr>
                <a:t>[ O ]</a:t>
              </a:r>
            </a:p>
          </p:txBody>
        </p:sp>
        <p:sp>
          <p:nvSpPr>
            <p:cNvPr id="8" name="Isosceles Triangle 7"/>
            <p:cNvSpPr/>
            <p:nvPr/>
          </p:nvSpPr>
          <p:spPr bwMode="auto">
            <a:xfrm>
              <a:off x="2209800" y="5867400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000" dirty="0"/>
              <a:t>坎尼查罗反应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醛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不含</a:t>
            </a:r>
            <a:r>
              <a:rPr lang="el-GR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α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-H)</a:t>
            </a:r>
            <a:r>
              <a:rPr lang="en-US" altLang="zh-CN" sz="3000" dirty="0"/>
              <a:t>		   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羧酸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钠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3000" dirty="0"/>
              <a:t>  </a:t>
            </a:r>
            <a:r>
              <a:rPr lang="en-US" altLang="zh-CN" sz="3000" dirty="0"/>
              <a:t>  + 	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醇</a:t>
            </a: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000" dirty="0"/>
              <a:t>					 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氧化产物</a:t>
            </a:r>
            <a:r>
              <a:rPr lang="en-US" altLang="zh-CN" sz="3000" dirty="0"/>
              <a:t>	    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还原产物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不含</a:t>
            </a:r>
            <a:r>
              <a:rPr lang="el-GR" altLang="zh-CN" sz="3000" dirty="0"/>
              <a:t>α</a:t>
            </a:r>
            <a:r>
              <a:rPr lang="en-US" altLang="zh-CN" sz="3000" dirty="0"/>
              <a:t>-H</a:t>
            </a:r>
            <a:r>
              <a:rPr lang="zh-CN" altLang="en-US" sz="3000" dirty="0"/>
              <a:t>的醛</a:t>
            </a:r>
            <a:endParaRPr lang="en-US" altLang="zh-CN" sz="3000" dirty="0"/>
          </a:p>
          <a:p>
            <a:pPr marL="742950" lvl="2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甲醛、</a:t>
            </a:r>
            <a:r>
              <a:rPr lang="el-GR" altLang="zh-CN" sz="2800" dirty="0"/>
              <a:t> </a:t>
            </a:r>
            <a:r>
              <a:rPr lang="zh-CN" altLang="en-US" sz="2800" dirty="0"/>
              <a:t>苯甲醛、</a:t>
            </a:r>
            <a:r>
              <a:rPr lang="el-GR" altLang="zh-CN" sz="2800" dirty="0"/>
              <a:t>α</a:t>
            </a:r>
            <a:r>
              <a:rPr lang="en-US" altLang="zh-CN" sz="2800" dirty="0"/>
              <a:t>-C</a:t>
            </a:r>
            <a:r>
              <a:rPr lang="zh-CN" altLang="en-US" sz="2800" dirty="0"/>
              <a:t>上连接三个烃基的醛</a:t>
            </a:r>
            <a:endParaRPr lang="en-US" altLang="zh-CN" sz="2800" dirty="0"/>
          </a:p>
          <a:p>
            <a:pPr marL="342900" lvl="1" indent="-342900">
              <a:spcBef>
                <a:spcPts val="600"/>
              </a:spcBef>
              <a:buNone/>
            </a:pPr>
            <a:endParaRPr lang="en-US" altLang="zh-CN" sz="3000" dirty="0"/>
          </a:p>
          <a:p>
            <a:pPr marL="342900" lvl="1" indent="-342900">
              <a:spcBef>
                <a:spcPts val="600"/>
              </a:spcBef>
              <a:buNone/>
            </a:pPr>
            <a:r>
              <a:rPr lang="zh-CN" altLang="en-US" sz="3000" dirty="0"/>
              <a:t>练习：写出</a:t>
            </a:r>
            <a:r>
              <a:rPr lang="zh-CN" altLang="en-US" dirty="0"/>
              <a:t>甲醛、</a:t>
            </a:r>
            <a:r>
              <a:rPr lang="el-GR" altLang="zh-CN" dirty="0"/>
              <a:t> </a:t>
            </a:r>
            <a:r>
              <a:rPr lang="zh-CN" altLang="en-US" dirty="0"/>
              <a:t>苯甲醛、</a:t>
            </a:r>
            <a:r>
              <a:rPr lang="el-GR" altLang="zh-CN" dirty="0"/>
              <a:t>α</a:t>
            </a:r>
            <a:r>
              <a:rPr lang="en-US" altLang="zh-CN" dirty="0"/>
              <a:t>-C</a:t>
            </a:r>
            <a:r>
              <a:rPr lang="zh-CN" altLang="en-US" dirty="0"/>
              <a:t>上连接三个烃基的醛发生坎尼查罗反应的化学方程式。</a:t>
            </a:r>
            <a:endParaRPr lang="en-US" altLang="zh-CN" dirty="0"/>
          </a:p>
          <a:p>
            <a:pPr marL="342900" lvl="1" indent="-34290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dirty="0"/>
          </a:p>
        </p:txBody>
      </p:sp>
      <p:grpSp>
        <p:nvGrpSpPr>
          <p:cNvPr id="5" name="Group 47"/>
          <p:cNvGrpSpPr/>
          <p:nvPr/>
        </p:nvGrpSpPr>
        <p:grpSpPr>
          <a:xfrm>
            <a:off x="2971800" y="1447800"/>
            <a:ext cx="1426525" cy="1200329"/>
            <a:chOff x="2682240" y="5712023"/>
            <a:chExt cx="1426525" cy="1200329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2682240" y="6246812"/>
              <a:ext cx="1371600" cy="1588"/>
            </a:xfrm>
            <a:prstGeom prst="straightConnector1">
              <a:avLst/>
            </a:prstGeom>
            <a:ln w="22225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2682240" y="5712023"/>
              <a:ext cx="142652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/>
                <a:t>浓</a:t>
              </a:r>
              <a:r>
                <a:rPr lang="en-US" altLang="zh-CN" sz="2400" b="1" dirty="0" err="1">
                  <a:solidFill>
                    <a:srgbClr val="0070C0"/>
                  </a:solidFill>
                </a:rPr>
                <a:t>Na</a:t>
              </a:r>
              <a:r>
                <a:rPr lang="en-US" altLang="zh-CN" sz="2400" b="1" dirty="0" err="1"/>
                <a:t>OH</a:t>
              </a:r>
              <a:endParaRPr lang="en-US" altLang="zh-CN" sz="2400" b="1" dirty="0"/>
            </a:p>
            <a:p>
              <a:pPr>
                <a:lnSpc>
                  <a:spcPct val="150000"/>
                </a:lnSpc>
              </a:pPr>
              <a:endParaRPr 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000" dirty="0"/>
              <a:t>坎尼查罗反应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醛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不含</a:t>
            </a:r>
            <a:r>
              <a:rPr lang="el-GR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α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-H)</a:t>
            </a:r>
            <a:r>
              <a:rPr lang="en-US" altLang="zh-CN" sz="3000" dirty="0"/>
              <a:t>		   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羧酸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钠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3000" dirty="0"/>
              <a:t>  </a:t>
            </a:r>
            <a:r>
              <a:rPr lang="en-US" altLang="zh-CN" sz="3000" dirty="0"/>
              <a:t>  + 	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醇</a:t>
            </a: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000" dirty="0"/>
              <a:t>					</a:t>
            </a:r>
            <a:endParaRPr lang="en-US" altLang="zh-CN" sz="2600" dirty="0"/>
          </a:p>
        </p:txBody>
      </p:sp>
      <p:grpSp>
        <p:nvGrpSpPr>
          <p:cNvPr id="4" name="Group 47"/>
          <p:cNvGrpSpPr/>
          <p:nvPr/>
        </p:nvGrpSpPr>
        <p:grpSpPr>
          <a:xfrm>
            <a:off x="2971800" y="1447800"/>
            <a:ext cx="1426525" cy="1200329"/>
            <a:chOff x="2682240" y="5712023"/>
            <a:chExt cx="1426525" cy="1200329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2682240" y="6246812"/>
              <a:ext cx="1371600" cy="1588"/>
            </a:xfrm>
            <a:prstGeom prst="straightConnector1">
              <a:avLst/>
            </a:prstGeom>
            <a:ln w="22225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2682240" y="5712023"/>
              <a:ext cx="142652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/>
                <a:t>浓</a:t>
              </a:r>
              <a:r>
                <a:rPr lang="en-US" altLang="zh-CN" sz="2400" b="1" dirty="0" err="1">
                  <a:solidFill>
                    <a:srgbClr val="0070C0"/>
                  </a:solidFill>
                </a:rPr>
                <a:t>Na</a:t>
              </a:r>
              <a:r>
                <a:rPr lang="en-US" altLang="zh-CN" sz="2400" b="1" dirty="0" err="1"/>
                <a:t>OH</a:t>
              </a:r>
              <a:endParaRPr lang="en-US" altLang="zh-CN" sz="2400" b="1" dirty="0"/>
            </a:p>
            <a:p>
              <a:pPr>
                <a:lnSpc>
                  <a:spcPct val="150000"/>
                </a:lnSpc>
              </a:pPr>
              <a:endParaRPr lang="en-US" sz="2400" b="1" dirty="0"/>
            </a:p>
          </p:txBody>
        </p:sp>
      </p:grpSp>
      <p:pic>
        <p:nvPicPr>
          <p:cNvPr id="8" name="Picture 7" descr="143.gif"/>
          <p:cNvPicPr>
            <a:picLocks noChangeAspect="1"/>
          </p:cNvPicPr>
          <p:nvPr/>
        </p:nvPicPr>
        <p:blipFill>
          <a:blip r:embed="rId3"/>
          <a:srcRect t="14286" r="52570" b="44898"/>
          <a:stretch>
            <a:fillRect/>
          </a:stretch>
        </p:blipFill>
        <p:spPr>
          <a:xfrm>
            <a:off x="609600" y="2985655"/>
            <a:ext cx="3657600" cy="1662545"/>
          </a:xfrm>
          <a:prstGeom prst="rect">
            <a:avLst/>
          </a:prstGeom>
        </p:spPr>
      </p:pic>
      <p:pic>
        <p:nvPicPr>
          <p:cNvPr id="9" name="Picture 8" descr="143.gif"/>
          <p:cNvPicPr>
            <a:picLocks noChangeAspect="1"/>
          </p:cNvPicPr>
          <p:nvPr/>
        </p:nvPicPr>
        <p:blipFill>
          <a:blip r:embed="rId3"/>
          <a:srcRect l="56883" r="19403" b="85714"/>
          <a:stretch>
            <a:fillRect/>
          </a:stretch>
        </p:blipFill>
        <p:spPr>
          <a:xfrm>
            <a:off x="4635137" y="2514600"/>
            <a:ext cx="2299063" cy="731520"/>
          </a:xfrm>
          <a:prstGeom prst="rect">
            <a:avLst/>
          </a:prstGeom>
        </p:spPr>
      </p:pic>
      <p:pic>
        <p:nvPicPr>
          <p:cNvPr id="11" name="Picture 10" descr="143.gif"/>
          <p:cNvPicPr>
            <a:picLocks noChangeAspect="1"/>
          </p:cNvPicPr>
          <p:nvPr/>
        </p:nvPicPr>
        <p:blipFill>
          <a:blip r:embed="rId3"/>
          <a:srcRect t="55102" r="54726"/>
          <a:stretch>
            <a:fillRect/>
          </a:stretch>
        </p:blipFill>
        <p:spPr>
          <a:xfrm>
            <a:off x="685800" y="4419600"/>
            <a:ext cx="3491345" cy="1828800"/>
          </a:xfrm>
          <a:prstGeom prst="rect">
            <a:avLst/>
          </a:prstGeom>
        </p:spPr>
      </p:pic>
      <p:pic>
        <p:nvPicPr>
          <p:cNvPr id="12" name="Picture 11" descr="143.gif"/>
          <p:cNvPicPr>
            <a:picLocks noChangeAspect="1"/>
          </p:cNvPicPr>
          <p:nvPr/>
        </p:nvPicPr>
        <p:blipFill>
          <a:blip r:embed="rId3"/>
          <a:srcRect l="18325" r="42869" b="85714"/>
          <a:stretch>
            <a:fillRect/>
          </a:stretch>
        </p:blipFill>
        <p:spPr>
          <a:xfrm>
            <a:off x="914399" y="2514600"/>
            <a:ext cx="3762103" cy="731520"/>
          </a:xfrm>
          <a:prstGeom prst="rect">
            <a:avLst/>
          </a:prstGeom>
        </p:spPr>
      </p:pic>
      <p:pic>
        <p:nvPicPr>
          <p:cNvPr id="13" name="Picture 12" descr="143.gif"/>
          <p:cNvPicPr>
            <a:picLocks noChangeAspect="1"/>
          </p:cNvPicPr>
          <p:nvPr/>
        </p:nvPicPr>
        <p:blipFill>
          <a:blip r:embed="rId3"/>
          <a:srcRect l="47430" t="14286" b="48979"/>
          <a:stretch>
            <a:fillRect/>
          </a:stretch>
        </p:blipFill>
        <p:spPr>
          <a:xfrm>
            <a:off x="4191000" y="2895600"/>
            <a:ext cx="4211711" cy="1554480"/>
          </a:xfrm>
          <a:prstGeom prst="rect">
            <a:avLst/>
          </a:prstGeom>
        </p:spPr>
      </p:pic>
      <p:pic>
        <p:nvPicPr>
          <p:cNvPr id="14" name="Picture 13" descr="143.gif"/>
          <p:cNvPicPr>
            <a:picLocks noChangeAspect="1"/>
          </p:cNvPicPr>
          <p:nvPr/>
        </p:nvPicPr>
        <p:blipFill>
          <a:blip r:embed="rId3"/>
          <a:srcRect l="45274" t="55102"/>
          <a:stretch>
            <a:fillRect/>
          </a:stretch>
        </p:blipFill>
        <p:spPr>
          <a:xfrm>
            <a:off x="4190999" y="4419600"/>
            <a:ext cx="4220307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缩合反应：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羟醛缩合反应</a:t>
            </a:r>
            <a:r>
              <a:rPr lang="zh-CN" altLang="en-US" sz="3000" dirty="0"/>
              <a:t>、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羟酮缩合反应</a:t>
            </a: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醛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酮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含</a:t>
            </a:r>
            <a:r>
              <a:rPr lang="el-GR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α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-H)		   </a:t>
            </a:r>
            <a:r>
              <a:rPr lang="el-GR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β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羟基醛</a:t>
            </a:r>
            <a:r>
              <a:rPr lang="en-US" altLang="zh-CN" sz="3000" dirty="0"/>
              <a:t>/</a:t>
            </a:r>
            <a:r>
              <a:rPr lang="el-GR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β</a:t>
            </a:r>
            <a:r>
              <a:rPr lang="en-US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羟基酮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l-GR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β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羟基醛</a:t>
            </a:r>
            <a:r>
              <a:rPr lang="en-US" altLang="zh-CN" sz="3000" dirty="0"/>
              <a:t>/</a:t>
            </a:r>
            <a:r>
              <a:rPr lang="el-GR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β</a:t>
            </a:r>
            <a:r>
              <a:rPr lang="en-US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羟基酮</a:t>
            </a:r>
            <a:r>
              <a:rPr lang="en-US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     </a:t>
            </a:r>
            <a:r>
              <a:rPr lang="el-GR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α,β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不饱和醛酮</a:t>
            </a:r>
            <a:endParaRPr lang="en-US" altLang="zh-CN" sz="30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l-GR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α,β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不饱和醛酮 </a:t>
            </a:r>
            <a:r>
              <a:rPr lang="en-US" altLang="zh-C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H</a:t>
            </a:r>
            <a:r>
              <a:rPr lang="en-US" altLang="zh-CN" sz="30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		</a:t>
            </a:r>
            <a:r>
              <a:rPr lang="en-US" altLang="zh-C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饱和醇</a:t>
            </a:r>
            <a:endParaRPr lang="en-US" altLang="zh-CN" sz="3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" name="Group 47"/>
          <p:cNvGrpSpPr/>
          <p:nvPr/>
        </p:nvGrpSpPr>
        <p:grpSpPr>
          <a:xfrm>
            <a:off x="3108960" y="1943519"/>
            <a:ext cx="1005840" cy="875881"/>
            <a:chOff x="2819400" y="5788223"/>
            <a:chExt cx="1005840" cy="875881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2819400" y="6246812"/>
              <a:ext cx="100584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2819400" y="5788223"/>
              <a:ext cx="984565" cy="875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/>
                <a:t>稀</a:t>
              </a:r>
              <a:r>
                <a:rPr lang="en-US" altLang="zh-CN" b="1" dirty="0" err="1"/>
                <a:t>NaOH</a:t>
              </a:r>
              <a:endParaRPr lang="en-US" altLang="zh-CN" b="1" dirty="0"/>
            </a:p>
            <a:p>
              <a:pPr>
                <a:lnSpc>
                  <a:spcPct val="150000"/>
                </a:lnSpc>
              </a:pPr>
              <a:r>
                <a:rPr lang="zh-CN" altLang="en-US" b="1" dirty="0"/>
                <a:t>或稀酸</a:t>
              </a:r>
              <a:endParaRPr lang="en-US" b="1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191000" y="2819400"/>
            <a:ext cx="1356265" cy="707152"/>
            <a:chOff x="2492216" y="2487295"/>
            <a:chExt cx="1356265" cy="707152"/>
          </a:xfrm>
        </p:grpSpPr>
        <p:grpSp>
          <p:nvGrpSpPr>
            <p:cNvPr id="9" name="Group 10"/>
            <p:cNvGrpSpPr/>
            <p:nvPr/>
          </p:nvGrpSpPr>
          <p:grpSpPr>
            <a:xfrm>
              <a:off x="2492216" y="2487295"/>
              <a:ext cx="1356265" cy="707152"/>
              <a:chOff x="2492216" y="2487295"/>
              <a:chExt cx="1356265" cy="707152"/>
            </a:xfrm>
          </p:grpSpPr>
          <p:cxnSp>
            <p:nvCxnSpPr>
              <p:cNvPr id="12" name="直接箭头连接符 1"/>
              <p:cNvCxnSpPr/>
              <p:nvPr/>
            </p:nvCxnSpPr>
            <p:spPr>
              <a:xfrm>
                <a:off x="2492216" y="2839720"/>
                <a:ext cx="109728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文本框 5"/>
              <p:cNvSpPr txBox="1"/>
              <p:nvPr/>
            </p:nvSpPr>
            <p:spPr>
              <a:xfrm>
                <a:off x="2720816" y="2487295"/>
                <a:ext cx="11276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稀酸</a:t>
                </a:r>
                <a:endPara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endParaRPr>
              </a:p>
            </p:txBody>
          </p:sp>
          <p:sp>
            <p:nvSpPr>
              <p:cNvPr id="14" name="文本框 6"/>
              <p:cNvSpPr txBox="1"/>
              <p:nvPr/>
            </p:nvSpPr>
            <p:spPr>
              <a:xfrm>
                <a:off x="2740342" y="2825115"/>
                <a:ext cx="1014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11" name="Isosceles Triangle 10"/>
            <p:cNvSpPr/>
            <p:nvPr/>
          </p:nvSpPr>
          <p:spPr>
            <a:xfrm>
              <a:off x="2974848" y="2926080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47"/>
          <p:cNvGrpSpPr/>
          <p:nvPr/>
        </p:nvGrpSpPr>
        <p:grpSpPr>
          <a:xfrm>
            <a:off x="4236720" y="3581400"/>
            <a:ext cx="1097280" cy="369332"/>
            <a:chOff x="2819400" y="5906869"/>
            <a:chExt cx="1097280" cy="369332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2819400" y="6246812"/>
              <a:ext cx="109728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895600" y="5906869"/>
              <a:ext cx="6976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Pt/Ni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缩合反应：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羟醛缩合反应</a:t>
            </a:r>
            <a:r>
              <a:rPr lang="zh-CN" altLang="en-US" sz="3000" dirty="0"/>
              <a:t>、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羟酮缩合反应</a:t>
            </a: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醛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酮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含</a:t>
            </a:r>
            <a:r>
              <a:rPr lang="el-GR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α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-H)		   </a:t>
            </a:r>
            <a:r>
              <a:rPr lang="el-GR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β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羟基醛</a:t>
            </a:r>
            <a:r>
              <a:rPr lang="en-US" altLang="zh-CN" sz="3000" dirty="0"/>
              <a:t>/</a:t>
            </a:r>
            <a:r>
              <a:rPr lang="el-GR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β</a:t>
            </a:r>
            <a:r>
              <a:rPr lang="en-US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羟基酮</a:t>
            </a: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Group 47"/>
          <p:cNvGrpSpPr/>
          <p:nvPr/>
        </p:nvGrpSpPr>
        <p:grpSpPr>
          <a:xfrm>
            <a:off x="3108960" y="1943519"/>
            <a:ext cx="1005840" cy="875881"/>
            <a:chOff x="2819400" y="5788223"/>
            <a:chExt cx="1005840" cy="875881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2819400" y="6246812"/>
              <a:ext cx="100584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2819400" y="5788223"/>
              <a:ext cx="984565" cy="875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/>
                <a:t>稀</a:t>
              </a:r>
              <a:r>
                <a:rPr lang="en-US" altLang="zh-CN" b="1" dirty="0" err="1"/>
                <a:t>NaOH</a:t>
              </a:r>
              <a:endParaRPr lang="en-US" altLang="zh-CN" b="1" dirty="0"/>
            </a:p>
            <a:p>
              <a:pPr>
                <a:lnSpc>
                  <a:spcPct val="150000"/>
                </a:lnSpc>
              </a:pPr>
              <a:r>
                <a:rPr lang="zh-CN" altLang="en-US" b="1" dirty="0"/>
                <a:t>或稀酸</a:t>
              </a:r>
              <a:endParaRPr lang="en-US" b="1" dirty="0"/>
            </a:p>
          </p:txBody>
        </p:sp>
      </p:grpSp>
      <p:pic>
        <p:nvPicPr>
          <p:cNvPr id="18" name="Picture 17" descr="60675075_2198400413583796_1252043371204050944_n.png"/>
          <p:cNvPicPr>
            <a:picLocks noChangeAspect="1"/>
          </p:cNvPicPr>
          <p:nvPr/>
        </p:nvPicPr>
        <p:blipFill>
          <a:blip r:embed="rId3"/>
          <a:srcRect l="9167" t="6820" r="35833" b="15901"/>
          <a:stretch>
            <a:fillRect/>
          </a:stretch>
        </p:blipFill>
        <p:spPr>
          <a:xfrm>
            <a:off x="381000" y="2845054"/>
            <a:ext cx="5029200" cy="1726946"/>
          </a:xfrm>
          <a:prstGeom prst="rect">
            <a:avLst/>
          </a:prstGeom>
        </p:spPr>
      </p:pic>
      <p:pic>
        <p:nvPicPr>
          <p:cNvPr id="19" name="Picture 18" descr="60675075_2198400413583796_1252043371204050944_n.png"/>
          <p:cNvPicPr>
            <a:picLocks noChangeAspect="1"/>
          </p:cNvPicPr>
          <p:nvPr/>
        </p:nvPicPr>
        <p:blipFill>
          <a:blip r:embed="rId3"/>
          <a:srcRect l="63333" t="7933" r="5000" b="20460"/>
          <a:stretch>
            <a:fillRect/>
          </a:stretch>
        </p:blipFill>
        <p:spPr>
          <a:xfrm>
            <a:off x="5410200" y="2819400"/>
            <a:ext cx="2895600" cy="1600200"/>
          </a:xfrm>
          <a:prstGeom prst="rect">
            <a:avLst/>
          </a:prstGeom>
        </p:spPr>
      </p:pic>
      <p:pic>
        <p:nvPicPr>
          <p:cNvPr id="21" name="Picture 20" descr="61353862_2533860173567215_5831061103873884160_n (1).png"/>
          <p:cNvPicPr>
            <a:picLocks noChangeAspect="1"/>
          </p:cNvPicPr>
          <p:nvPr/>
        </p:nvPicPr>
        <p:blipFill>
          <a:blip r:embed="rId4"/>
          <a:srcRect l="9167" t="-1" r="35833" b="30227"/>
          <a:stretch>
            <a:fillRect/>
          </a:stretch>
        </p:blipFill>
        <p:spPr>
          <a:xfrm>
            <a:off x="381000" y="4572000"/>
            <a:ext cx="5029200" cy="1752600"/>
          </a:xfrm>
          <a:prstGeom prst="rect">
            <a:avLst/>
          </a:prstGeom>
        </p:spPr>
      </p:pic>
      <p:pic>
        <p:nvPicPr>
          <p:cNvPr id="22" name="Picture 21" descr="61353862_2533860173567215_5831061103873884160_n (1).png"/>
          <p:cNvPicPr>
            <a:picLocks noChangeAspect="1"/>
          </p:cNvPicPr>
          <p:nvPr/>
        </p:nvPicPr>
        <p:blipFill>
          <a:blip r:embed="rId4"/>
          <a:srcRect l="64167" t="9100" r="2500" b="15059"/>
          <a:stretch>
            <a:fillRect/>
          </a:stretch>
        </p:blipFill>
        <p:spPr>
          <a:xfrm>
            <a:off x="5410200" y="4419600"/>
            <a:ext cx="3048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l-GR" altLang="zh-CN" sz="3000" dirty="0"/>
              <a:t>β</a:t>
            </a:r>
            <a:r>
              <a:rPr lang="en-US" altLang="zh-CN" sz="3000" dirty="0"/>
              <a:t>-</a:t>
            </a:r>
            <a:r>
              <a:rPr lang="zh-CN" altLang="en-US" sz="3000" dirty="0"/>
              <a:t>羟基醛</a:t>
            </a:r>
            <a:r>
              <a:rPr lang="en-US" altLang="zh-CN" sz="3000" dirty="0"/>
              <a:t>/</a:t>
            </a:r>
            <a:r>
              <a:rPr lang="el-GR" altLang="zh-CN" sz="3000" dirty="0"/>
              <a:t>β</a:t>
            </a:r>
            <a:r>
              <a:rPr lang="en-US" altLang="zh-CN" sz="3000" dirty="0"/>
              <a:t>-</a:t>
            </a:r>
            <a:r>
              <a:rPr lang="zh-CN" altLang="en-US" sz="3000" dirty="0"/>
              <a:t>羟基酮脱水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l-GR" altLang="zh-CN" sz="3000" dirty="0"/>
              <a:t>β</a:t>
            </a:r>
            <a:r>
              <a:rPr lang="en-US" altLang="zh-CN" sz="3000" dirty="0"/>
              <a:t>-</a:t>
            </a:r>
            <a:r>
              <a:rPr lang="zh-CN" altLang="en-US" sz="3000" dirty="0"/>
              <a:t>羟基醛</a:t>
            </a:r>
            <a:r>
              <a:rPr lang="en-US" altLang="zh-CN" sz="3000" dirty="0"/>
              <a:t>/</a:t>
            </a:r>
            <a:r>
              <a:rPr lang="el-GR" altLang="zh-CN" sz="3000" dirty="0"/>
              <a:t>β</a:t>
            </a:r>
            <a:r>
              <a:rPr lang="en-US" altLang="zh-CN" sz="3000" dirty="0"/>
              <a:t>-</a:t>
            </a:r>
            <a:r>
              <a:rPr lang="zh-CN" altLang="en-US" sz="3000" dirty="0"/>
              <a:t>羟基酮</a:t>
            </a:r>
            <a:r>
              <a:rPr lang="en-US" altLang="zh-CN" sz="3000" dirty="0"/>
              <a:t>		     </a:t>
            </a:r>
            <a:r>
              <a:rPr lang="el-GR" altLang="zh-CN" sz="3000" dirty="0"/>
              <a:t>α,β</a:t>
            </a:r>
            <a:r>
              <a:rPr lang="en-US" altLang="zh-CN" sz="3000" dirty="0"/>
              <a:t>-</a:t>
            </a:r>
            <a:r>
              <a:rPr lang="zh-CN" altLang="en-US" sz="3000" dirty="0"/>
              <a:t>不饱和醛酮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例：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zh-CN" sz="30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CH(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OH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)C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30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 	      CH</a:t>
            </a:r>
            <a:r>
              <a:rPr lang="en-US" altLang="zh-CN" sz="30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CH=CHCHO + 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3000" b="1" baseline="-25000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l-GR" altLang="zh-CN" sz="3000" dirty="0"/>
              <a:t>α,β</a:t>
            </a:r>
            <a:r>
              <a:rPr lang="en-US" altLang="zh-CN" sz="3000" dirty="0"/>
              <a:t>-</a:t>
            </a:r>
            <a:r>
              <a:rPr lang="zh-CN" altLang="en-US" sz="3000" dirty="0"/>
              <a:t>不饱和醛酮 </a:t>
            </a:r>
            <a:r>
              <a:rPr lang="en-US" altLang="zh-CN" sz="3000" dirty="0"/>
              <a:t>+ H</a:t>
            </a:r>
            <a:r>
              <a:rPr lang="en-US" altLang="zh-CN" sz="3000" baseline="-25000" dirty="0"/>
              <a:t>2		</a:t>
            </a:r>
            <a:r>
              <a:rPr lang="en-US" altLang="zh-CN" sz="3000" dirty="0"/>
              <a:t>      </a:t>
            </a:r>
            <a:r>
              <a:rPr lang="zh-CN" altLang="en-US" sz="3000" dirty="0"/>
              <a:t>饱和醇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例：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zh-CN" sz="30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CH=CHCHO + 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3000" b="1" baseline="-25000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		CH</a:t>
            </a:r>
            <a:r>
              <a:rPr lang="en-US" altLang="zh-CN" sz="30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30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30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 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CH</a:t>
            </a:r>
            <a:r>
              <a:rPr lang="en-US" altLang="zh-CN" sz="30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zh-CN" sz="30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zh-CN" sz="30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  + 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3000" b="1" baseline="-25000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		   CH</a:t>
            </a:r>
            <a:r>
              <a:rPr lang="en-US" altLang="zh-CN" sz="30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zh-CN" sz="30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zh-CN" sz="30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30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</a:p>
        </p:txBody>
      </p:sp>
      <p:grpSp>
        <p:nvGrpSpPr>
          <p:cNvPr id="5" name="Group 7"/>
          <p:cNvGrpSpPr/>
          <p:nvPr/>
        </p:nvGrpSpPr>
        <p:grpSpPr>
          <a:xfrm>
            <a:off x="3962400" y="2057400"/>
            <a:ext cx="1356265" cy="707152"/>
            <a:chOff x="2492216" y="2487295"/>
            <a:chExt cx="1356265" cy="707152"/>
          </a:xfrm>
        </p:grpSpPr>
        <p:grpSp>
          <p:nvGrpSpPr>
            <p:cNvPr id="8" name="Group 10"/>
            <p:cNvGrpSpPr/>
            <p:nvPr/>
          </p:nvGrpSpPr>
          <p:grpSpPr>
            <a:xfrm>
              <a:off x="2492216" y="2487295"/>
              <a:ext cx="1356265" cy="707152"/>
              <a:chOff x="2492216" y="2487295"/>
              <a:chExt cx="1356265" cy="707152"/>
            </a:xfrm>
          </p:grpSpPr>
          <p:cxnSp>
            <p:nvCxnSpPr>
              <p:cNvPr id="12" name="直接箭头连接符 1"/>
              <p:cNvCxnSpPr/>
              <p:nvPr/>
            </p:nvCxnSpPr>
            <p:spPr>
              <a:xfrm>
                <a:off x="2492216" y="2839720"/>
                <a:ext cx="109728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文本框 5"/>
              <p:cNvSpPr txBox="1"/>
              <p:nvPr/>
            </p:nvSpPr>
            <p:spPr>
              <a:xfrm>
                <a:off x="2720816" y="2487295"/>
                <a:ext cx="11276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稀酸</a:t>
                </a:r>
                <a:endPara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endParaRPr>
              </a:p>
            </p:txBody>
          </p:sp>
          <p:sp>
            <p:nvSpPr>
              <p:cNvPr id="14" name="文本框 6"/>
              <p:cNvSpPr txBox="1"/>
              <p:nvPr/>
            </p:nvSpPr>
            <p:spPr>
              <a:xfrm>
                <a:off x="2740342" y="2825115"/>
                <a:ext cx="1014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11" name="Isosceles Triangle 10"/>
            <p:cNvSpPr/>
            <p:nvPr/>
          </p:nvSpPr>
          <p:spPr>
            <a:xfrm>
              <a:off x="2974848" y="2926080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Group 7"/>
          <p:cNvGrpSpPr/>
          <p:nvPr/>
        </p:nvGrpSpPr>
        <p:grpSpPr>
          <a:xfrm>
            <a:off x="4358735" y="2798048"/>
            <a:ext cx="1356265" cy="707152"/>
            <a:chOff x="2492216" y="2487295"/>
            <a:chExt cx="1356265" cy="707152"/>
          </a:xfrm>
        </p:grpSpPr>
        <p:grpSp>
          <p:nvGrpSpPr>
            <p:cNvPr id="21" name="Group 10"/>
            <p:cNvGrpSpPr/>
            <p:nvPr/>
          </p:nvGrpSpPr>
          <p:grpSpPr>
            <a:xfrm>
              <a:off x="2492216" y="2487295"/>
              <a:ext cx="1356265" cy="707152"/>
              <a:chOff x="2492216" y="2487295"/>
              <a:chExt cx="1356265" cy="707152"/>
            </a:xfrm>
          </p:grpSpPr>
          <p:cxnSp>
            <p:nvCxnSpPr>
              <p:cNvPr id="23" name="直接箭头连接符 1"/>
              <p:cNvCxnSpPr/>
              <p:nvPr/>
            </p:nvCxnSpPr>
            <p:spPr>
              <a:xfrm>
                <a:off x="2492216" y="2839720"/>
                <a:ext cx="109728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" name="文本框 5"/>
              <p:cNvSpPr txBox="1"/>
              <p:nvPr/>
            </p:nvSpPr>
            <p:spPr>
              <a:xfrm>
                <a:off x="2720816" y="2487295"/>
                <a:ext cx="11276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稀酸</a:t>
                </a:r>
                <a:endPara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endParaRPr>
              </a:p>
            </p:txBody>
          </p:sp>
          <p:sp>
            <p:nvSpPr>
              <p:cNvPr id="25" name="文本框 6"/>
              <p:cNvSpPr txBox="1"/>
              <p:nvPr/>
            </p:nvSpPr>
            <p:spPr>
              <a:xfrm>
                <a:off x="2740342" y="2825115"/>
                <a:ext cx="1014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22" name="Isosceles Triangle 21"/>
            <p:cNvSpPr/>
            <p:nvPr/>
          </p:nvSpPr>
          <p:spPr>
            <a:xfrm>
              <a:off x="2974848" y="2926080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Group 47"/>
          <p:cNvGrpSpPr/>
          <p:nvPr/>
        </p:nvGrpSpPr>
        <p:grpSpPr>
          <a:xfrm>
            <a:off x="4236720" y="3581400"/>
            <a:ext cx="1097280" cy="369332"/>
            <a:chOff x="2819400" y="5906869"/>
            <a:chExt cx="1097280" cy="369332"/>
          </a:xfrm>
        </p:grpSpPr>
        <p:cxnSp>
          <p:nvCxnSpPr>
            <p:cNvPr id="27" name="Straight Arrow Connector 26"/>
            <p:cNvCxnSpPr/>
            <p:nvPr/>
          </p:nvCxnSpPr>
          <p:spPr>
            <a:xfrm>
              <a:off x="2819400" y="6246812"/>
              <a:ext cx="109728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2895600" y="5906869"/>
              <a:ext cx="6976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Pt/Ni</a:t>
              </a:r>
              <a:endParaRPr lang="en-US" b="1" dirty="0"/>
            </a:p>
          </p:txBody>
        </p:sp>
      </p:grpSp>
      <p:grpSp>
        <p:nvGrpSpPr>
          <p:cNvPr id="29" name="Group 47"/>
          <p:cNvGrpSpPr/>
          <p:nvPr/>
        </p:nvGrpSpPr>
        <p:grpSpPr>
          <a:xfrm>
            <a:off x="4389120" y="4355068"/>
            <a:ext cx="1097280" cy="369332"/>
            <a:chOff x="2819400" y="5906869"/>
            <a:chExt cx="1097280" cy="369332"/>
          </a:xfrm>
        </p:grpSpPr>
        <p:cxnSp>
          <p:nvCxnSpPr>
            <p:cNvPr id="30" name="Straight Arrow Connector 29"/>
            <p:cNvCxnSpPr/>
            <p:nvPr/>
          </p:nvCxnSpPr>
          <p:spPr>
            <a:xfrm>
              <a:off x="2819400" y="6246812"/>
              <a:ext cx="109728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2895600" y="5906869"/>
              <a:ext cx="6976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Pt/Ni</a:t>
              </a:r>
              <a:endParaRPr lang="en-US" b="1" dirty="0"/>
            </a:p>
          </p:txBody>
        </p:sp>
      </p:grpSp>
      <p:grpSp>
        <p:nvGrpSpPr>
          <p:cNvPr id="32" name="Group 47"/>
          <p:cNvGrpSpPr/>
          <p:nvPr/>
        </p:nvGrpSpPr>
        <p:grpSpPr>
          <a:xfrm>
            <a:off x="4038600" y="5117068"/>
            <a:ext cx="1097280" cy="369332"/>
            <a:chOff x="2819400" y="5906869"/>
            <a:chExt cx="1097280" cy="369332"/>
          </a:xfrm>
        </p:grpSpPr>
        <p:cxnSp>
          <p:nvCxnSpPr>
            <p:cNvPr id="33" name="Straight Arrow Connector 32"/>
            <p:cNvCxnSpPr/>
            <p:nvPr/>
          </p:nvCxnSpPr>
          <p:spPr>
            <a:xfrm>
              <a:off x="2819400" y="6246812"/>
              <a:ext cx="109728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895600" y="5906869"/>
              <a:ext cx="6976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Pt/Ni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000" dirty="0"/>
              <a:t>卤仿反应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含</a:t>
            </a:r>
            <a:r>
              <a:rPr lang="en-US" altLang="zh-CN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</a:t>
            </a:r>
            <a:r>
              <a:rPr lang="el-GR" altLang="zh-CN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α</a:t>
            </a:r>
            <a:r>
              <a:rPr lang="en-US" altLang="zh-CN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-H</a:t>
            </a:r>
            <a:r>
              <a:rPr lang="zh-CN" altLang="en-US" sz="3000" dirty="0"/>
              <a:t>的</a:t>
            </a:r>
            <a:r>
              <a:rPr lang="zh-CN" altLang="en-US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醛酮</a:t>
            </a:r>
            <a:r>
              <a:rPr lang="zh-CN" altLang="en-US" sz="3000" dirty="0"/>
              <a:t>与卤素的碱溶液起取代反应，生成三卤甲烷（</a:t>
            </a:r>
            <a:r>
              <a:rPr lang="en-US" altLang="zh-CN" sz="3000" dirty="0"/>
              <a:t>CHX</a:t>
            </a:r>
            <a:r>
              <a:rPr lang="en-US" altLang="zh-CN" sz="3000" baseline="-25000" dirty="0"/>
              <a:t>3</a:t>
            </a:r>
            <a:r>
              <a:rPr lang="zh-CN" altLang="en-US" sz="3000" dirty="0"/>
              <a:t>俗称卤仿）的反应。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下列有机物中哪些能与卤素的碱溶液发生卤仿反应？</a:t>
            </a: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甲醛、乙醛、丙醛、丁醛、丙酮、丁酮、</a:t>
            </a:r>
            <a:r>
              <a:rPr lang="en-US" altLang="zh-CN" sz="3000" dirty="0"/>
              <a:t>2-</a:t>
            </a:r>
            <a:r>
              <a:rPr lang="zh-CN" altLang="en-US" sz="3000" dirty="0"/>
              <a:t>戊酮、</a:t>
            </a:r>
            <a:r>
              <a:rPr lang="en-US" altLang="zh-CN" sz="3000" dirty="0"/>
              <a:t>3-</a:t>
            </a:r>
            <a:r>
              <a:rPr lang="zh-CN" altLang="en-US" sz="3000" dirty="0"/>
              <a:t>戊酮、</a:t>
            </a:r>
            <a:r>
              <a:rPr lang="en-US" altLang="zh-CN" sz="3000" dirty="0"/>
              <a:t>2-</a:t>
            </a:r>
            <a:r>
              <a:rPr lang="zh-CN" altLang="en-US" sz="3000" dirty="0"/>
              <a:t>甲基</a:t>
            </a:r>
            <a:r>
              <a:rPr lang="en-US" altLang="zh-CN" sz="3000" dirty="0"/>
              <a:t>-3-</a:t>
            </a:r>
            <a:r>
              <a:rPr lang="zh-CN" altLang="en-US" sz="3000" dirty="0"/>
              <a:t>戊酮、</a:t>
            </a:r>
            <a:r>
              <a:rPr lang="en-US" altLang="zh-CN" sz="3000" dirty="0"/>
              <a:t>4-</a:t>
            </a:r>
            <a:r>
              <a:rPr lang="zh-CN" altLang="en-US" sz="3000" dirty="0"/>
              <a:t>甲基</a:t>
            </a:r>
            <a:r>
              <a:rPr lang="en-US" altLang="zh-CN" sz="3000" dirty="0"/>
              <a:t>-2-</a:t>
            </a:r>
            <a:r>
              <a:rPr lang="zh-CN" altLang="en-US" sz="3000" dirty="0"/>
              <a:t>己酮</a:t>
            </a: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r>
              <a:rPr lang="en-US" altLang="zh-CN" sz="3000" dirty="0" err="1"/>
              <a:t>Ans</a:t>
            </a:r>
            <a:r>
              <a:rPr lang="en-US" altLang="zh-CN" sz="3000" dirty="0"/>
              <a:t>: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乙醛</a:t>
            </a:r>
            <a:r>
              <a:rPr lang="zh-CN" altLang="en-US" sz="3000" dirty="0"/>
              <a:t>、丙酮、丁酮、</a:t>
            </a:r>
            <a:r>
              <a:rPr lang="en-US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</a:t>
            </a:r>
            <a:r>
              <a:rPr lang="zh-CN" altLang="en-US" sz="3000" dirty="0"/>
              <a:t>戊酮、</a:t>
            </a:r>
            <a:r>
              <a:rPr lang="en-US" altLang="zh-CN" sz="3000" dirty="0"/>
              <a:t>4-</a:t>
            </a:r>
            <a:r>
              <a:rPr lang="zh-CN" altLang="en-US" sz="3000" dirty="0"/>
              <a:t>甲基</a:t>
            </a:r>
            <a:r>
              <a:rPr lang="en-US" altLang="zh-CN" sz="3000" dirty="0"/>
              <a:t>-</a:t>
            </a:r>
            <a:r>
              <a:rPr lang="en-US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</a:t>
            </a:r>
            <a:r>
              <a:rPr lang="zh-CN" altLang="en-US" sz="3000" dirty="0"/>
              <a:t>己酮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醛：乙醛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酮：羰基在第二个碳上</a:t>
            </a:r>
            <a:endParaRPr lang="en-US" altLang="zh-CN" sz="30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醇：</a:t>
            </a:r>
            <a:r>
              <a:rPr lang="en-US" altLang="zh-CN" sz="3000" dirty="0">
                <a:solidFill>
                  <a:srgbClr val="0070C0"/>
                </a:solidFill>
                <a:sym typeface="Wingdings" pitchFamily="2" charset="2"/>
              </a:rPr>
              <a:t> CH</a:t>
            </a:r>
            <a:r>
              <a:rPr lang="en-US" altLang="zh-CN" sz="3000" baseline="-25000" dirty="0">
                <a:solidFill>
                  <a:srgbClr val="0070C0"/>
                </a:solidFill>
                <a:sym typeface="Wingdings" pitchFamily="2" charset="2"/>
              </a:rPr>
              <a:t>3</a:t>
            </a:r>
            <a:r>
              <a:rPr lang="en-US" altLang="zh-CN" sz="3000" dirty="0">
                <a:solidFill>
                  <a:srgbClr val="0070C0"/>
                </a:solidFill>
                <a:sym typeface="Wingdings" pitchFamily="2" charset="2"/>
              </a:rPr>
              <a:t> CHOH- </a:t>
            </a:r>
            <a:endParaRPr lang="en-US" altLang="zh-CN" sz="3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  <p:grpSp>
        <p:nvGrpSpPr>
          <p:cNvPr id="5" name="Group 4"/>
          <p:cNvGrpSpPr/>
          <p:nvPr/>
        </p:nvGrpSpPr>
        <p:grpSpPr>
          <a:xfrm>
            <a:off x="5943600" y="5274582"/>
            <a:ext cx="2057400" cy="1050020"/>
            <a:chOff x="5410200" y="1752600"/>
            <a:chExt cx="2057400" cy="1129146"/>
          </a:xfrm>
        </p:grpSpPr>
        <p:sp>
          <p:nvSpPr>
            <p:cNvPr id="6" name="Rectangle 5"/>
            <p:cNvSpPr/>
            <p:nvPr/>
          </p:nvSpPr>
          <p:spPr>
            <a:xfrm>
              <a:off x="5410200" y="2286000"/>
              <a:ext cx="1828800" cy="59574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dirty="0"/>
                <a:t> CH</a:t>
              </a:r>
              <a:r>
                <a:rPr lang="en-US" altLang="zh-CN" sz="3000" baseline="-25000" dirty="0"/>
                <a:t>3</a:t>
              </a:r>
              <a:r>
                <a:rPr lang="en-US" altLang="zh-CN" sz="3000" dirty="0"/>
                <a:t> —C—</a:t>
              </a:r>
            </a:p>
          </p:txBody>
        </p:sp>
        <p:pic>
          <p:nvPicPr>
            <p:cNvPr id="7" name="Picture 6" descr="pg95.4.pn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5867400" y="1752600"/>
              <a:ext cx="1600200" cy="609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3000" dirty="0"/>
              <a:t>卤仿反应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circleNumDbPlain"/>
            </a:pPr>
            <a:r>
              <a:rPr lang="en-US" altLang="zh-CN" sz="3000" b="1" dirty="0">
                <a:solidFill>
                  <a:srgbClr val="2D1ABC"/>
                </a:solidFill>
              </a:rPr>
              <a:t>I</a:t>
            </a:r>
            <a:r>
              <a:rPr lang="en-US" altLang="zh-CN" sz="3000" b="1" baseline="-25000" dirty="0">
                <a:solidFill>
                  <a:srgbClr val="2D1ABC"/>
                </a:solidFill>
              </a:rPr>
              <a:t>2</a:t>
            </a:r>
            <a:r>
              <a:rPr lang="en-US" altLang="zh-CN" sz="3000" b="1" dirty="0">
                <a:solidFill>
                  <a:srgbClr val="2D1ABC"/>
                </a:solidFill>
              </a:rPr>
              <a:t> + 2NaOH </a:t>
            </a:r>
            <a:r>
              <a:rPr lang="en-US" altLang="zh-CN" sz="3000" b="1" dirty="0">
                <a:solidFill>
                  <a:srgbClr val="2D1ABC"/>
                </a:solidFill>
                <a:sym typeface="Wingdings" pitchFamily="2" charset="2"/>
              </a:rPr>
              <a:t> </a:t>
            </a:r>
            <a:r>
              <a:rPr lang="en-US" altLang="zh-CN" sz="3000" b="1" dirty="0" err="1">
                <a:solidFill>
                  <a:srgbClr val="2D1ABC"/>
                </a:solidFill>
                <a:sym typeface="Wingdings" pitchFamily="2" charset="2"/>
              </a:rPr>
              <a:t>NaOI</a:t>
            </a:r>
            <a:r>
              <a:rPr lang="en-US" altLang="zh-CN" sz="3000" b="1" dirty="0">
                <a:solidFill>
                  <a:srgbClr val="2D1ABC"/>
                </a:solidFill>
                <a:sym typeface="Wingdings" pitchFamily="2" charset="2"/>
              </a:rPr>
              <a:t> + </a:t>
            </a:r>
            <a:r>
              <a:rPr lang="en-US" altLang="zh-CN" sz="3000" b="1" dirty="0" err="1">
                <a:solidFill>
                  <a:srgbClr val="2D1ABC"/>
                </a:solidFill>
                <a:sym typeface="Wingdings" pitchFamily="2" charset="2"/>
              </a:rPr>
              <a:t>NaI</a:t>
            </a:r>
            <a:r>
              <a:rPr lang="en-US" altLang="zh-CN" sz="3000" b="1" dirty="0">
                <a:solidFill>
                  <a:srgbClr val="2D1ABC"/>
                </a:solidFill>
                <a:sym typeface="Wingdings" pitchFamily="2" charset="2"/>
              </a:rPr>
              <a:t> + H</a:t>
            </a:r>
            <a:r>
              <a:rPr lang="en-US" altLang="zh-CN" sz="3000" b="1" baseline="-25000" dirty="0">
                <a:solidFill>
                  <a:srgbClr val="2D1ABC"/>
                </a:solidFill>
                <a:sym typeface="Wingdings" pitchFamily="2" charset="2"/>
              </a:rPr>
              <a:t>2</a:t>
            </a:r>
            <a:r>
              <a:rPr lang="en-US" altLang="zh-CN" sz="3000" b="1" dirty="0">
                <a:solidFill>
                  <a:srgbClr val="2D1ABC"/>
                </a:solidFill>
                <a:sym typeface="Wingdings" pitchFamily="2" charset="2"/>
              </a:rPr>
              <a:t>O 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卤素 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+ </a:t>
            </a:r>
            <a:r>
              <a:rPr lang="zh-CN" altLang="en-US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碱 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 </a:t>
            </a:r>
            <a:r>
              <a:rPr lang="zh-CN" altLang="en-US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次卤酸盐 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+ </a:t>
            </a:r>
            <a:r>
              <a:rPr lang="zh-CN" altLang="en-US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卤化物 </a:t>
            </a:r>
            <a:r>
              <a:rPr lang="en-US" altLang="zh-CN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+ </a:t>
            </a:r>
            <a:r>
              <a:rPr lang="zh-CN" altLang="en-US" sz="3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水</a:t>
            </a:r>
            <a:endParaRPr lang="en-US" altLang="zh-CN" sz="3000" b="1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000" dirty="0"/>
              <a:t>② </a:t>
            </a:r>
            <a:r>
              <a:rPr lang="en-US" altLang="zh-CN" sz="3000" b="1" dirty="0">
                <a:solidFill>
                  <a:srgbClr val="2D1ABC"/>
                </a:solidFill>
              </a:rPr>
              <a:t>CH</a:t>
            </a:r>
            <a:r>
              <a:rPr lang="en-US" altLang="zh-CN" sz="3000" b="1" baseline="-25000" dirty="0">
                <a:solidFill>
                  <a:srgbClr val="2D1ABC"/>
                </a:solidFill>
              </a:rPr>
              <a:t>3</a:t>
            </a:r>
            <a:r>
              <a:rPr lang="en-US" altLang="zh-CN" sz="3000" b="1" dirty="0">
                <a:solidFill>
                  <a:srgbClr val="2D1ABC"/>
                </a:solidFill>
              </a:rPr>
              <a:t>CHO + 3 </a:t>
            </a:r>
            <a:r>
              <a:rPr lang="en-US" altLang="zh-CN" sz="3000" b="1" dirty="0" err="1">
                <a:solidFill>
                  <a:srgbClr val="2D1ABC"/>
                </a:solidFill>
              </a:rPr>
              <a:t>NaOI</a:t>
            </a:r>
            <a:r>
              <a:rPr lang="en-US" altLang="zh-CN" sz="3000" b="1" dirty="0">
                <a:solidFill>
                  <a:srgbClr val="2D1ABC"/>
                </a:solidFill>
              </a:rPr>
              <a:t> </a:t>
            </a:r>
            <a:r>
              <a:rPr lang="en-US" altLang="zh-CN" sz="3000" b="1" dirty="0">
                <a:solidFill>
                  <a:srgbClr val="2D1ABC"/>
                </a:solidFill>
                <a:sym typeface="Wingdings" pitchFamily="2" charset="2"/>
              </a:rPr>
              <a:t> CI</a:t>
            </a:r>
            <a:r>
              <a:rPr lang="en-US" altLang="zh-CN" sz="3000" b="1" baseline="-25000" dirty="0">
                <a:solidFill>
                  <a:srgbClr val="2D1ABC"/>
                </a:solidFill>
                <a:sym typeface="Wingdings" pitchFamily="2" charset="2"/>
              </a:rPr>
              <a:t>3</a:t>
            </a:r>
            <a:r>
              <a:rPr lang="en-US" altLang="zh-CN" sz="3000" b="1" dirty="0">
                <a:solidFill>
                  <a:srgbClr val="2D1ABC"/>
                </a:solidFill>
                <a:sym typeface="Wingdings" pitchFamily="2" charset="2"/>
              </a:rPr>
              <a:t>CHO + 3NaOH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乙醛</a:t>
            </a:r>
            <a:r>
              <a:rPr lang="en-US" altLang="zh-CN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 + </a:t>
            </a:r>
            <a:r>
              <a:rPr lang="zh-CN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次碘酸钠 </a:t>
            </a:r>
            <a:r>
              <a:rPr lang="en-US" altLang="zh-CN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 </a:t>
            </a:r>
            <a:r>
              <a:rPr lang="el-GR" altLang="zh-CN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α</a:t>
            </a:r>
            <a:r>
              <a:rPr lang="en-US" altLang="zh-CN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-</a:t>
            </a:r>
            <a:r>
              <a:rPr lang="zh-CN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三碘乙醛 </a:t>
            </a:r>
            <a:r>
              <a:rPr lang="en-US" altLang="zh-CN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+ </a:t>
            </a:r>
            <a:r>
              <a:rPr lang="zh-CN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氢氧化钠</a:t>
            </a:r>
            <a:endParaRPr lang="en-US" altLang="zh-CN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000" dirty="0"/>
              <a:t>③ </a:t>
            </a:r>
            <a:r>
              <a:rPr lang="en-US" altLang="zh-CN" sz="3000" b="1" dirty="0">
                <a:solidFill>
                  <a:srgbClr val="2D1ABC"/>
                </a:solidFill>
              </a:rPr>
              <a:t>CI</a:t>
            </a:r>
            <a:r>
              <a:rPr lang="en-US" altLang="zh-CN" sz="3000" b="1" baseline="-25000" dirty="0">
                <a:solidFill>
                  <a:srgbClr val="2D1ABC"/>
                </a:solidFill>
              </a:rPr>
              <a:t>3</a:t>
            </a:r>
            <a:r>
              <a:rPr lang="en-US" altLang="zh-CN" sz="3000" b="1" dirty="0">
                <a:solidFill>
                  <a:srgbClr val="2D1ABC"/>
                </a:solidFill>
              </a:rPr>
              <a:t> CHO + </a:t>
            </a:r>
            <a:r>
              <a:rPr lang="en-US" altLang="zh-CN" sz="3000" b="1" dirty="0" err="1">
                <a:solidFill>
                  <a:srgbClr val="2D1ABC"/>
                </a:solidFill>
              </a:rPr>
              <a:t>NaOH</a:t>
            </a:r>
            <a:r>
              <a:rPr lang="en-US" altLang="zh-CN" sz="3000" b="1" dirty="0">
                <a:solidFill>
                  <a:srgbClr val="2D1ABC"/>
                </a:solidFill>
              </a:rPr>
              <a:t> </a:t>
            </a:r>
            <a:r>
              <a:rPr lang="en-US" altLang="zh-CN" sz="3000" b="1" dirty="0">
                <a:solidFill>
                  <a:srgbClr val="2D1ABC"/>
                </a:solidFill>
                <a:sym typeface="Wingdings" pitchFamily="2" charset="2"/>
              </a:rPr>
              <a:t>	 CHI</a:t>
            </a:r>
            <a:r>
              <a:rPr lang="en-US" altLang="zh-CN" sz="3000" b="1" baseline="-25000" dirty="0">
                <a:solidFill>
                  <a:srgbClr val="2D1ABC"/>
                </a:solidFill>
                <a:sym typeface="Wingdings" pitchFamily="2" charset="2"/>
              </a:rPr>
              <a:t>3</a:t>
            </a:r>
            <a:r>
              <a:rPr lang="en-US" altLang="zh-CN" sz="3000" b="1" dirty="0">
                <a:solidFill>
                  <a:srgbClr val="2D1ABC"/>
                </a:solidFill>
                <a:sym typeface="Wingdings" pitchFamily="2" charset="2"/>
              </a:rPr>
              <a:t>     + 	</a:t>
            </a:r>
            <a:r>
              <a:rPr lang="en-US" altLang="zh-CN" sz="3000" b="1" dirty="0" err="1">
                <a:solidFill>
                  <a:srgbClr val="2D1ABC"/>
                </a:solidFill>
                <a:sym typeface="Wingdings" pitchFamily="2" charset="2"/>
              </a:rPr>
              <a:t>HCOONa</a:t>
            </a:r>
            <a:endParaRPr lang="en-US" altLang="zh-CN" sz="3000" b="1" dirty="0">
              <a:solidFill>
                <a:srgbClr val="2D1ABC"/>
              </a:solidFill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		</a:t>
            </a:r>
            <a:r>
              <a:rPr lang="zh-CN" altLang="en-US" sz="3000" dirty="0">
                <a:sym typeface="Wingdings" pitchFamily="2" charset="2"/>
              </a:rPr>
              <a:t>三碘甲烷 </a:t>
            </a: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甲酸钠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endParaRPr lang="en-US" altLang="zh-CN" sz="3000" dirty="0"/>
          </a:p>
          <a:p>
            <a:pPr lvl="1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000" dirty="0"/>
              <a:t>卤仿反应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3000" dirty="0">
                <a:sym typeface="Wingdings" pitchFamily="2" charset="2"/>
              </a:rPr>
              <a:t>CHF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CHCl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CHBr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无色液体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3000" dirty="0">
                <a:sym typeface="Wingdings" pitchFamily="2" charset="2"/>
              </a:rPr>
              <a:t>CHI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黄色固体，有特殊气味，易被察觉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碘仿反应用于鉴别具有</a:t>
            </a:r>
            <a:r>
              <a:rPr lang="en-US" altLang="zh-CN" sz="3000" dirty="0">
                <a:sym typeface="Wingdings" pitchFamily="2" charset="2"/>
              </a:rPr>
              <a:t>			</a:t>
            </a:r>
            <a:r>
              <a:rPr lang="zh-CN" altLang="en-US" sz="3000" dirty="0">
                <a:sym typeface="Wingdings" pitchFamily="2" charset="2"/>
              </a:rPr>
              <a:t>结构的羰基化合物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zh-CN" altLang="en-US" sz="3000" dirty="0">
                <a:sym typeface="Wingdings" pitchFamily="2" charset="2"/>
              </a:rPr>
              <a:t>醛酮</a:t>
            </a:r>
            <a:r>
              <a:rPr lang="en-US" altLang="zh-CN" sz="3000" dirty="0">
                <a:sym typeface="Wingdings" pitchFamily="2" charset="2"/>
              </a:rPr>
              <a:t>)</a:t>
            </a:r>
            <a:r>
              <a:rPr lang="zh-CN" altLang="en-US" sz="3000" dirty="0">
                <a:sym typeface="Wingdings" pitchFamily="2" charset="2"/>
              </a:rPr>
              <a:t>。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亦可鉴别具有</a:t>
            </a: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CHOH- </a:t>
            </a:r>
            <a:r>
              <a:rPr lang="zh-CN" altLang="en-US" sz="3000" dirty="0">
                <a:sym typeface="Wingdings" pitchFamily="2" charset="2"/>
              </a:rPr>
              <a:t>的醇，</a:t>
            </a:r>
            <a:r>
              <a:rPr lang="en-US" altLang="zh-CN" sz="3000" dirty="0" err="1">
                <a:sym typeface="Wingdings" pitchFamily="2" charset="2"/>
              </a:rPr>
              <a:t>NaOI</a:t>
            </a:r>
            <a:r>
              <a:rPr lang="zh-CN" altLang="en-US" sz="3000" dirty="0">
                <a:sym typeface="Wingdings" pitchFamily="2" charset="2"/>
              </a:rPr>
              <a:t>是氧化剂。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CHOHR 	    </a:t>
            </a: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  <p:grpSp>
        <p:nvGrpSpPr>
          <p:cNvPr id="8" name="Group 47"/>
          <p:cNvGrpSpPr/>
          <p:nvPr/>
        </p:nvGrpSpPr>
        <p:grpSpPr>
          <a:xfrm>
            <a:off x="2667000" y="5029200"/>
            <a:ext cx="767392" cy="400110"/>
            <a:chOff x="2819400" y="5867400"/>
            <a:chExt cx="767392" cy="400110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865120" y="5867400"/>
              <a:ext cx="7216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 err="1"/>
                <a:t>NaOI</a:t>
              </a:r>
              <a:endParaRPr lang="en-US" sz="2000" b="1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724398" y="2475778"/>
            <a:ext cx="1981202" cy="1334222"/>
            <a:chOff x="7239000" y="5410200"/>
            <a:chExt cx="1906534" cy="1410422"/>
          </a:xfrm>
        </p:grpSpPr>
        <p:sp>
          <p:nvSpPr>
            <p:cNvPr id="13" name="Rectangle 12"/>
            <p:cNvSpPr/>
            <p:nvPr/>
          </p:nvSpPr>
          <p:spPr>
            <a:xfrm>
              <a:off x="7239000" y="6266624"/>
              <a:ext cx="179324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dirty="0"/>
                <a:t>CH</a:t>
              </a:r>
              <a:r>
                <a:rPr lang="en-US" altLang="zh-CN" sz="3000" baseline="-25000" dirty="0"/>
                <a:t>3</a:t>
              </a:r>
              <a:r>
                <a:rPr lang="en-US" altLang="zh-CN" sz="3000" dirty="0"/>
                <a:t> —C—</a:t>
              </a:r>
            </a:p>
          </p:txBody>
        </p:sp>
        <p:pic>
          <p:nvPicPr>
            <p:cNvPr id="14" name="Picture 13" descr="137.3.gif"/>
            <p:cNvPicPr>
              <a:picLocks noChangeAspect="1"/>
            </p:cNvPicPr>
            <p:nvPr/>
          </p:nvPicPr>
          <p:blipFill>
            <a:blip r:embed="rId3"/>
            <a:srcRect t="48648" r="82979" b="34512"/>
            <a:stretch>
              <a:fillRect/>
            </a:stretch>
          </p:blipFill>
          <p:spPr>
            <a:xfrm>
              <a:off x="7357374" y="5410200"/>
              <a:ext cx="1788160" cy="1005840"/>
            </a:xfrm>
            <a:prstGeom prst="rect">
              <a:avLst/>
            </a:prstGeom>
          </p:spPr>
        </p:pic>
      </p:grpSp>
      <p:grpSp>
        <p:nvGrpSpPr>
          <p:cNvPr id="15" name="Group 14"/>
          <p:cNvGrpSpPr/>
          <p:nvPr/>
        </p:nvGrpSpPr>
        <p:grpSpPr>
          <a:xfrm>
            <a:off x="3429000" y="4655646"/>
            <a:ext cx="2057400" cy="1364154"/>
            <a:chOff x="7238999" y="5410200"/>
            <a:chExt cx="1979860" cy="1442063"/>
          </a:xfrm>
        </p:grpSpPr>
        <p:sp>
          <p:nvSpPr>
            <p:cNvPr id="16" name="Rectangle 15"/>
            <p:cNvSpPr/>
            <p:nvPr/>
          </p:nvSpPr>
          <p:spPr>
            <a:xfrm>
              <a:off x="7238999" y="6266625"/>
              <a:ext cx="1979860" cy="5856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dirty="0"/>
                <a:t>CH</a:t>
              </a:r>
              <a:r>
                <a:rPr lang="en-US" altLang="zh-CN" sz="3000" baseline="-25000" dirty="0"/>
                <a:t>3</a:t>
              </a:r>
              <a:r>
                <a:rPr lang="en-US" altLang="zh-CN" sz="3000" dirty="0"/>
                <a:t> —C—R </a:t>
              </a:r>
            </a:p>
          </p:txBody>
        </p:sp>
        <p:pic>
          <p:nvPicPr>
            <p:cNvPr id="17" name="Picture 16" descr="137.3.gif"/>
            <p:cNvPicPr>
              <a:picLocks noChangeAspect="1"/>
            </p:cNvPicPr>
            <p:nvPr/>
          </p:nvPicPr>
          <p:blipFill>
            <a:blip r:embed="rId3"/>
            <a:srcRect t="48648" r="82979" b="34512"/>
            <a:stretch>
              <a:fillRect/>
            </a:stretch>
          </p:blipFill>
          <p:spPr>
            <a:xfrm>
              <a:off x="7357374" y="5410200"/>
              <a:ext cx="1788160" cy="1005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33.4 </a:t>
            </a:r>
            <a:r>
              <a:rPr lang="zh-CN" altLang="en-US" sz="4000" b="1" dirty="0">
                <a:latin typeface="+mn-ea"/>
              </a:rPr>
              <a:t>醛和酮的化学性质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3000" dirty="0"/>
              <a:t>卤仿反应</a:t>
            </a:r>
            <a:r>
              <a:rPr lang="en-US" altLang="zh-CN" sz="3000" dirty="0"/>
              <a:t>-</a:t>
            </a:r>
            <a:r>
              <a:rPr lang="zh-CN" altLang="en-US" sz="3000" dirty="0"/>
              <a:t>练习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如何鉴别乙醛和丙醛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如何鉴别</a:t>
            </a:r>
            <a:r>
              <a:rPr lang="en-US" altLang="zh-CN" sz="3000" dirty="0"/>
              <a:t>2-</a:t>
            </a:r>
            <a:r>
              <a:rPr lang="zh-CN" altLang="en-US" sz="3000" dirty="0"/>
              <a:t>戊酮和</a:t>
            </a:r>
            <a:r>
              <a:rPr lang="en-US" altLang="zh-CN" sz="3000" dirty="0"/>
              <a:t>3-</a:t>
            </a:r>
            <a:r>
              <a:rPr lang="zh-CN" altLang="en-US" sz="3000" dirty="0"/>
              <a:t>戊酮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如何鉴别丙酮、乙醛和</a:t>
            </a:r>
            <a:r>
              <a:rPr lang="en-US" altLang="zh-CN" sz="3000" dirty="0"/>
              <a:t>2-</a:t>
            </a:r>
            <a:r>
              <a:rPr lang="zh-CN" altLang="en-US" sz="3000" dirty="0"/>
              <a:t>苯基乙醛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  <a:p>
            <a:pPr lvl="1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思考题 </a:t>
            </a:r>
            <a:r>
              <a:rPr lang="en-US" altLang="zh-CN" sz="4000" b="1" dirty="0">
                <a:latin typeface="+mn-ea"/>
              </a:rPr>
              <a:t>33d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000" dirty="0"/>
              <a:t>1. 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CH(OH)CN 	2-</a:t>
            </a:r>
            <a:r>
              <a:rPr lang="zh-CN" altLang="en-US" sz="3000" dirty="0"/>
              <a:t>羟基丁腈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丙醛被强还原剂还原为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	</a:t>
            </a:r>
            <a:r>
              <a:rPr lang="zh-CN" altLang="en-US" sz="3000" dirty="0"/>
              <a:t>丙烷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000" dirty="0"/>
              <a:t>3. </a:t>
            </a:r>
            <a:r>
              <a:rPr lang="zh-CN" altLang="en-US" sz="3000" dirty="0"/>
              <a:t>题目：加水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CH(OH)CH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		3-</a:t>
            </a:r>
            <a:r>
              <a:rPr lang="zh-CN" altLang="en-US" sz="3000" dirty="0"/>
              <a:t>戊醇</a:t>
            </a:r>
            <a:endParaRPr lang="en-MY" altLang="zh-CN" sz="3000" dirty="0"/>
          </a:p>
          <a:p>
            <a:pPr marL="0" indent="0">
              <a:spcBef>
                <a:spcPts val="0"/>
              </a:spcBef>
              <a:buNone/>
            </a:pPr>
            <a:r>
              <a:rPr lang="en-MY" altLang="zh-CN" sz="3000" dirty="0"/>
              <a:t>	         H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MY" altLang="zh-CN" sz="3000" dirty="0"/>
              <a:t>4. CH</a:t>
            </a:r>
            <a:r>
              <a:rPr lang="en-MY" altLang="zh-CN" sz="3000" baseline="-25000" dirty="0"/>
              <a:t>3</a:t>
            </a:r>
            <a:r>
              <a:rPr lang="en-MY" altLang="zh-CN" sz="3000" dirty="0"/>
              <a:t> CH</a:t>
            </a:r>
            <a:r>
              <a:rPr lang="en-MY" altLang="zh-CN" sz="3000" baseline="-25000" dirty="0"/>
              <a:t>2</a:t>
            </a:r>
            <a:r>
              <a:rPr lang="en-MY" altLang="zh-CN" sz="3000" dirty="0"/>
              <a:t> C-O-CH</a:t>
            </a:r>
            <a:r>
              <a:rPr lang="en-MY" altLang="zh-CN" sz="3000" baseline="-25000" dirty="0"/>
              <a:t>2</a:t>
            </a:r>
            <a:r>
              <a:rPr lang="en-MY" altLang="zh-CN" sz="3000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MY" altLang="zh-CN" sz="3000" dirty="0"/>
              <a:t>		 O- CH</a:t>
            </a:r>
            <a:r>
              <a:rPr lang="en-MY" altLang="zh-CN" sz="3000" baseline="-25000" dirty="0"/>
              <a:t>2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  <a:p>
            <a:pPr lvl="1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4519EA-7FF3-4D2C-9939-1A34918328A9}"/>
              </a:ext>
            </a:extLst>
          </p:cNvPr>
          <p:cNvCxnSpPr/>
          <p:nvPr/>
        </p:nvCxnSpPr>
        <p:spPr>
          <a:xfrm>
            <a:off x="2209800" y="4572000"/>
            <a:ext cx="0" cy="1524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331989-3386-47E8-85B5-F872113A9AB0}"/>
              </a:ext>
            </a:extLst>
          </p:cNvPr>
          <p:cNvCxnSpPr>
            <a:cxnSpLocks/>
          </p:cNvCxnSpPr>
          <p:nvPr/>
        </p:nvCxnSpPr>
        <p:spPr>
          <a:xfrm>
            <a:off x="2209800" y="5029200"/>
            <a:ext cx="152400" cy="1524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65220F-BE1B-41FD-8113-1491F6BB426C}"/>
              </a:ext>
            </a:extLst>
          </p:cNvPr>
          <p:cNvCxnSpPr>
            <a:cxnSpLocks/>
          </p:cNvCxnSpPr>
          <p:nvPr/>
        </p:nvCxnSpPr>
        <p:spPr>
          <a:xfrm>
            <a:off x="2895600" y="5029200"/>
            <a:ext cx="0" cy="1524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4165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思考题 </a:t>
            </a:r>
            <a:r>
              <a:rPr lang="en-US" altLang="zh-CN" sz="4000" b="1" dirty="0">
                <a:latin typeface="+mn-ea"/>
              </a:rPr>
              <a:t>33d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MY" altLang="zh-CN" sz="3000" dirty="0"/>
              <a:t>5. </a:t>
            </a:r>
            <a:r>
              <a:rPr lang="zh-CN" altLang="en-US" sz="3000" dirty="0"/>
              <a:t>丙醛被托伦试剂氧化为丙酸铵 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COONH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6. </a:t>
            </a:r>
            <a:r>
              <a:rPr lang="zh-CN" altLang="en-US" sz="3000" dirty="0"/>
              <a:t>丙醛与苯甲醛发生缩合反应生成</a:t>
            </a:r>
            <a:endParaRPr lang="en-MY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2-</a:t>
            </a:r>
            <a:r>
              <a:rPr lang="zh-CN" altLang="en-US" sz="3000" dirty="0"/>
              <a:t>甲基</a:t>
            </a:r>
            <a:r>
              <a:rPr lang="en-US" altLang="zh-CN" sz="3000" dirty="0"/>
              <a:t>-3-</a:t>
            </a:r>
            <a:r>
              <a:rPr lang="zh-CN" altLang="en-US" sz="3000" dirty="0"/>
              <a:t>羟基</a:t>
            </a:r>
            <a:r>
              <a:rPr lang="en-US" altLang="zh-CN" sz="3000" dirty="0"/>
              <a:t>-3-</a:t>
            </a:r>
            <a:r>
              <a:rPr lang="zh-CN" altLang="en-US" sz="3000" dirty="0"/>
              <a:t>苯基丙醛，</a:t>
            </a:r>
            <a:endParaRPr lang="en-MY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3000" dirty="0"/>
              <a:t>经加热生成</a:t>
            </a:r>
            <a:r>
              <a:rPr lang="en-US" altLang="zh-CN" sz="3000" dirty="0"/>
              <a:t>2-</a:t>
            </a:r>
            <a:r>
              <a:rPr lang="zh-CN" altLang="en-US" sz="3000" dirty="0"/>
              <a:t>甲基</a:t>
            </a:r>
            <a:r>
              <a:rPr lang="en-US" altLang="zh-CN" sz="3000" dirty="0"/>
              <a:t>-3</a:t>
            </a:r>
            <a:r>
              <a:rPr lang="zh-CN" altLang="en-US" sz="3000" dirty="0"/>
              <a:t>苯基丙烯醛</a:t>
            </a: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CD46F01-0A79-4CC3-B27C-F8AB0C2DE419}"/>
              </a:ext>
            </a:extLst>
          </p:cNvPr>
          <p:cNvGrpSpPr/>
          <p:nvPr/>
        </p:nvGrpSpPr>
        <p:grpSpPr>
          <a:xfrm>
            <a:off x="838200" y="3784937"/>
            <a:ext cx="3429000" cy="2158663"/>
            <a:chOff x="838200" y="3784937"/>
            <a:chExt cx="3429000" cy="215866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1CEC5B7-3754-4581-8246-765225B666EA}"/>
                </a:ext>
              </a:extLst>
            </p:cNvPr>
            <p:cNvGrpSpPr/>
            <p:nvPr/>
          </p:nvGrpSpPr>
          <p:grpSpPr>
            <a:xfrm>
              <a:off x="838200" y="3784937"/>
              <a:ext cx="3429000" cy="1798178"/>
              <a:chOff x="4876800" y="3688222"/>
              <a:chExt cx="3429000" cy="1798178"/>
            </a:xfrm>
          </p:grpSpPr>
          <p:pic>
            <p:nvPicPr>
              <p:cNvPr id="6" name="Picture 5" descr="135.gif">
                <a:extLst>
                  <a:ext uri="{FF2B5EF4-FFF2-40B4-BE49-F238E27FC236}">
                    <a16:creationId xmlns:a16="http://schemas.microsoft.com/office/drawing/2014/main" id="{AF17F245-8B56-4C66-A7D3-617FE56933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7504" t="56000" r="50287" b="11000"/>
              <a:stretch>
                <a:fillRect/>
              </a:stretch>
            </p:blipFill>
            <p:spPr>
              <a:xfrm>
                <a:off x="4876800" y="3886200"/>
                <a:ext cx="3429000" cy="1600200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F2D3018-EC66-4841-AC8C-7B0385682AF0}"/>
                  </a:ext>
                </a:extLst>
              </p:cNvPr>
              <p:cNvSpPr/>
              <p:nvPr/>
            </p:nvSpPr>
            <p:spPr>
              <a:xfrm>
                <a:off x="5943600" y="3688222"/>
                <a:ext cx="838200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3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O H</a:t>
                </a:r>
              </a:p>
              <a:p>
                <a:r>
                  <a:rPr lang="en-US" altLang="zh-CN" sz="3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l</a:t>
                </a:r>
                <a:endParaRPr lang="en-US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5416545-EF39-4474-8C91-F9EE3634B1F8}"/>
                </a:ext>
              </a:extLst>
            </p:cNvPr>
            <p:cNvSpPr/>
            <p:nvPr/>
          </p:nvSpPr>
          <p:spPr>
            <a:xfrm>
              <a:off x="2667000" y="4927937"/>
              <a:ext cx="9906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</a:t>
              </a:r>
            </a:p>
            <a:p>
              <a:r>
                <a:rPr lang="en-US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 H</a:t>
              </a:r>
              <a:r>
                <a:rPr lang="en-US" sz="3000" baseline="-25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CAB7CC4-EA15-49E5-AD89-662D91EA0F39}"/>
              </a:ext>
            </a:extLst>
          </p:cNvPr>
          <p:cNvGrpSpPr/>
          <p:nvPr/>
        </p:nvGrpSpPr>
        <p:grpSpPr>
          <a:xfrm>
            <a:off x="4572000" y="3931778"/>
            <a:ext cx="3429000" cy="1960685"/>
            <a:chOff x="838200" y="3982915"/>
            <a:chExt cx="3429000" cy="196068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FEECBDD-DC0A-44D7-9032-29D53286BC46}"/>
                </a:ext>
              </a:extLst>
            </p:cNvPr>
            <p:cNvGrpSpPr/>
            <p:nvPr/>
          </p:nvGrpSpPr>
          <p:grpSpPr>
            <a:xfrm>
              <a:off x="838200" y="3982915"/>
              <a:ext cx="3429000" cy="1600200"/>
              <a:chOff x="4876800" y="3886200"/>
              <a:chExt cx="3429000" cy="1600200"/>
            </a:xfrm>
          </p:grpSpPr>
          <p:pic>
            <p:nvPicPr>
              <p:cNvPr id="14" name="Picture 13" descr="135.gif">
                <a:extLst>
                  <a:ext uri="{FF2B5EF4-FFF2-40B4-BE49-F238E27FC236}">
                    <a16:creationId xmlns:a16="http://schemas.microsoft.com/office/drawing/2014/main" id="{21E6A1C0-2372-4A4C-97DF-2AF1BA00D8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7504" t="56000" r="50287" b="11000"/>
              <a:stretch>
                <a:fillRect/>
              </a:stretch>
            </p:blipFill>
            <p:spPr>
              <a:xfrm>
                <a:off x="4876800" y="3886200"/>
                <a:ext cx="3429000" cy="1600200"/>
              </a:xfrm>
              <a:prstGeom prst="rect">
                <a:avLst/>
              </a:prstGeom>
            </p:spPr>
          </p:pic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80342CD-693D-4635-8D07-EE1BC63EC1E7}"/>
                  </a:ext>
                </a:extLst>
              </p:cNvPr>
              <p:cNvSpPr/>
              <p:nvPr/>
            </p:nvSpPr>
            <p:spPr>
              <a:xfrm>
                <a:off x="6477000" y="4398847"/>
                <a:ext cx="864000" cy="58477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32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=C</a:t>
                </a: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2DFA61E-B9DE-4644-B0F5-64197548C58F}"/>
                </a:ext>
              </a:extLst>
            </p:cNvPr>
            <p:cNvSpPr/>
            <p:nvPr/>
          </p:nvSpPr>
          <p:spPr>
            <a:xfrm>
              <a:off x="2667000" y="4927937"/>
              <a:ext cx="9906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</a:t>
              </a:r>
            </a:p>
            <a:p>
              <a:r>
                <a:rPr lang="en-US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 H</a:t>
              </a:r>
              <a:r>
                <a:rPr lang="en-US" sz="3000" baseline="-25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1217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33.5 </a:t>
            </a:r>
            <a:r>
              <a:rPr lang="zh-CN" altLang="en-US" sz="4000" b="1" dirty="0">
                <a:latin typeface="+mn-ea"/>
              </a:rPr>
              <a:t>醛和酮的制取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Font typeface="+mj-lt"/>
              <a:buAutoNum type="arabicPeriod"/>
            </a:pPr>
            <a:r>
              <a:rPr lang="zh-CN" altLang="en-US" sz="3000" dirty="0"/>
              <a:t>醇的氧化</a:t>
            </a:r>
            <a:endParaRPr lang="en-US" altLang="zh-CN" sz="3000" dirty="0"/>
          </a:p>
          <a:p>
            <a:pPr marL="514350" indent="-514350">
              <a:spcBef>
                <a:spcPts val="600"/>
              </a:spcBef>
              <a:buFont typeface="+mj-lt"/>
              <a:buAutoNum type="arabicPeriod"/>
            </a:pPr>
            <a:r>
              <a:rPr lang="zh-CN" altLang="en-US" sz="3000" dirty="0"/>
              <a:t>酰氯的还原</a:t>
            </a:r>
            <a:endParaRPr lang="en-US" altLang="zh-CN" sz="3000" dirty="0"/>
          </a:p>
          <a:p>
            <a:pPr marL="514350" indent="-514350">
              <a:spcBef>
                <a:spcPts val="600"/>
              </a:spcBef>
              <a:buFont typeface="+mj-lt"/>
              <a:buAutoNum type="arabicPeriod"/>
            </a:pPr>
            <a:r>
              <a:rPr lang="zh-CN" altLang="en-US" sz="3000" dirty="0"/>
              <a:t>格氏试剂与腈的反应</a:t>
            </a: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33.5 </a:t>
            </a:r>
            <a:r>
              <a:rPr lang="zh-CN" altLang="en-US" sz="4000" b="1" dirty="0">
                <a:latin typeface="+mn-ea"/>
              </a:rPr>
              <a:t>醛和酮的制取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Font typeface="+mj-lt"/>
              <a:buAutoNum type="arabicPeriod"/>
            </a:pPr>
            <a:r>
              <a:rPr lang="zh-CN" altLang="en-US" sz="3000" dirty="0"/>
              <a:t>醇的氧化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一级醇</a:t>
            </a:r>
            <a:r>
              <a:rPr lang="en-US" altLang="zh-CN" sz="3000" dirty="0"/>
              <a:t>		   </a:t>
            </a:r>
            <a:r>
              <a:rPr lang="zh-CN" altLang="en-US" sz="3000" dirty="0"/>
              <a:t>醛 </a:t>
            </a:r>
            <a:r>
              <a:rPr lang="en-US" altLang="zh-CN" sz="3000" dirty="0"/>
              <a:t>		</a:t>
            </a:r>
            <a:r>
              <a:rPr lang="zh-CN" altLang="en-US" sz="3000" dirty="0"/>
              <a:t>二级醇</a:t>
            </a:r>
            <a:r>
              <a:rPr lang="en-US" altLang="zh-CN" sz="3000" dirty="0"/>
              <a:t>		  </a:t>
            </a:r>
            <a:r>
              <a:rPr lang="zh-CN" altLang="en-US" sz="3000" dirty="0"/>
              <a:t>酮</a:t>
            </a:r>
            <a:endParaRPr lang="en-US" altLang="zh-CN" sz="30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>
                <a:solidFill>
                  <a:srgbClr val="002060"/>
                </a:solidFill>
              </a:rPr>
              <a:t>强氧化剂：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KMnO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或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、稀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zh-CN" altLang="en-US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、加热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沸点：醛</a:t>
            </a:r>
            <a:r>
              <a:rPr lang="en-US" altLang="zh-CN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醇，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反应温度应保持在</a:t>
            </a:r>
            <a:r>
              <a:rPr lang="en-US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Bp</a:t>
            </a:r>
            <a:r>
              <a:rPr lang="zh-CN" altLang="en-US" sz="3000" b="1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醛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～</a:t>
            </a:r>
            <a:r>
              <a:rPr lang="en-US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Bp</a:t>
            </a:r>
            <a:r>
              <a:rPr lang="zh-CN" altLang="en-US" sz="3000" b="1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醇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之间，使先醛蒸发出，避免醛被氧化为羧酸。</a:t>
            </a: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>
                <a:solidFill>
                  <a:srgbClr val="2D1ABC"/>
                </a:solidFill>
              </a:rPr>
              <a:t>温和氧化剂：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</a:t>
            </a:r>
            <a:r>
              <a:rPr lang="zh-CN" altLang="en-US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，高温</a:t>
            </a:r>
            <a:endParaRPr lang="en-US" altLang="zh-CN" sz="30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600" dirty="0"/>
              <a:t>高温下</a:t>
            </a:r>
            <a:r>
              <a:rPr lang="en-US" altLang="zh-CN" sz="2600" dirty="0"/>
              <a:t>Cu</a:t>
            </a:r>
            <a:r>
              <a:rPr lang="zh-CN" altLang="en-US" sz="2600" dirty="0"/>
              <a:t>被氧化为</a:t>
            </a:r>
            <a:r>
              <a:rPr lang="en-US" altLang="zh-CN" sz="2600" dirty="0" err="1"/>
              <a:t>CuO</a:t>
            </a:r>
            <a:r>
              <a:rPr lang="zh-CN" altLang="en-US" sz="2600" dirty="0"/>
              <a:t>，</a:t>
            </a:r>
            <a:r>
              <a:rPr lang="en-US" altLang="zh-CN" sz="2600" dirty="0" err="1"/>
              <a:t>CuO</a:t>
            </a:r>
            <a:r>
              <a:rPr lang="zh-CN" altLang="en-US" sz="2600" dirty="0"/>
              <a:t>作为氧化剂将醇氧化，本身被还原为</a:t>
            </a:r>
            <a:r>
              <a:rPr lang="en-US" altLang="zh-CN" sz="2600" dirty="0"/>
              <a:t>Cu</a:t>
            </a:r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zh-CN" altLang="en-US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醇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</a:t>
            </a:r>
            <a:r>
              <a:rPr lang="zh-CN" altLang="en-US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醛</a:t>
            </a:r>
            <a:endParaRPr lang="en-US" altLang="zh-CN" sz="30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</p:txBody>
      </p:sp>
      <p:grpSp>
        <p:nvGrpSpPr>
          <p:cNvPr id="5" name="Group 27"/>
          <p:cNvGrpSpPr/>
          <p:nvPr/>
        </p:nvGrpSpPr>
        <p:grpSpPr>
          <a:xfrm>
            <a:off x="2286002" y="1524000"/>
            <a:ext cx="899159" cy="918865"/>
            <a:chOff x="2743202" y="5715000"/>
            <a:chExt cx="899159" cy="918865"/>
          </a:xfrm>
        </p:grpSpPr>
        <p:grpSp>
          <p:nvGrpSpPr>
            <p:cNvPr id="6" name="Group 11"/>
            <p:cNvGrpSpPr/>
            <p:nvPr/>
          </p:nvGrpSpPr>
          <p:grpSpPr>
            <a:xfrm>
              <a:off x="2743202" y="6172117"/>
              <a:ext cx="899159" cy="76199"/>
              <a:chOff x="2762252" y="6324600"/>
              <a:chExt cx="1573528" cy="76199"/>
            </a:xfrm>
          </p:grpSpPr>
          <p:cxnSp>
            <p:nvCxnSpPr>
              <p:cNvPr id="9" name="Straight Arrow Connector 8"/>
              <p:cNvCxnSpPr/>
              <p:nvPr/>
            </p:nvCxnSpPr>
            <p:spPr>
              <a:xfrm rot="10800000">
                <a:off x="2762252" y="6399210"/>
                <a:ext cx="1440180" cy="1589"/>
              </a:xfrm>
              <a:prstGeom prst="straightConnector1">
                <a:avLst/>
              </a:prstGeom>
              <a:ln w="25400"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>
                <a:off x="2895600" y="6324600"/>
                <a:ext cx="1440180" cy="1588"/>
              </a:xfrm>
              <a:prstGeom prst="straightConnector1">
                <a:avLst/>
              </a:prstGeom>
              <a:ln w="25400"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TextBox 6"/>
            <p:cNvSpPr txBox="1"/>
            <p:nvPr/>
          </p:nvSpPr>
          <p:spPr>
            <a:xfrm>
              <a:off x="2858125" y="6172200"/>
              <a:ext cx="7232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[H]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819400" y="5715000"/>
              <a:ext cx="5918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[O]</a:t>
              </a:r>
            </a:p>
          </p:txBody>
        </p:sp>
      </p:grpSp>
      <p:grpSp>
        <p:nvGrpSpPr>
          <p:cNvPr id="12" name="Group 27"/>
          <p:cNvGrpSpPr/>
          <p:nvPr/>
        </p:nvGrpSpPr>
        <p:grpSpPr>
          <a:xfrm>
            <a:off x="6568441" y="1524000"/>
            <a:ext cx="899159" cy="918865"/>
            <a:chOff x="2743202" y="5715000"/>
            <a:chExt cx="899159" cy="918865"/>
          </a:xfrm>
        </p:grpSpPr>
        <p:grpSp>
          <p:nvGrpSpPr>
            <p:cNvPr id="13" name="Group 11"/>
            <p:cNvGrpSpPr/>
            <p:nvPr/>
          </p:nvGrpSpPr>
          <p:grpSpPr>
            <a:xfrm>
              <a:off x="2743202" y="6172117"/>
              <a:ext cx="899159" cy="76199"/>
              <a:chOff x="2762252" y="6324600"/>
              <a:chExt cx="1573528" cy="76199"/>
            </a:xfrm>
          </p:grpSpPr>
          <p:cxnSp>
            <p:nvCxnSpPr>
              <p:cNvPr id="16" name="Straight Arrow Connector 15"/>
              <p:cNvCxnSpPr/>
              <p:nvPr/>
            </p:nvCxnSpPr>
            <p:spPr>
              <a:xfrm rot="10800000">
                <a:off x="2762252" y="6399210"/>
                <a:ext cx="1440180" cy="1589"/>
              </a:xfrm>
              <a:prstGeom prst="straightConnector1">
                <a:avLst/>
              </a:prstGeom>
              <a:ln w="25400"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>
                <a:off x="2895600" y="6324600"/>
                <a:ext cx="1440180" cy="1588"/>
              </a:xfrm>
              <a:prstGeom prst="straightConnector1">
                <a:avLst/>
              </a:prstGeom>
              <a:ln w="25400"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/>
            <p:cNvSpPr txBox="1"/>
            <p:nvPr/>
          </p:nvSpPr>
          <p:spPr>
            <a:xfrm>
              <a:off x="2858125" y="6172200"/>
              <a:ext cx="7232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[H]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819400" y="5715000"/>
              <a:ext cx="5918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[O]</a:t>
              </a:r>
            </a:p>
          </p:txBody>
        </p:sp>
      </p:grpSp>
      <p:grpSp>
        <p:nvGrpSpPr>
          <p:cNvPr id="18" name="Group 27"/>
          <p:cNvGrpSpPr/>
          <p:nvPr/>
        </p:nvGrpSpPr>
        <p:grpSpPr>
          <a:xfrm>
            <a:off x="1981200" y="5329535"/>
            <a:ext cx="1066800" cy="770930"/>
            <a:chOff x="2727961" y="5786735"/>
            <a:chExt cx="1066800" cy="770930"/>
          </a:xfrm>
        </p:grpSpPr>
        <p:cxnSp>
          <p:nvCxnSpPr>
            <p:cNvPr id="23" name="Straight Arrow Connector 22"/>
            <p:cNvCxnSpPr/>
            <p:nvPr/>
          </p:nvCxnSpPr>
          <p:spPr>
            <a:xfrm>
              <a:off x="2819401" y="6172200"/>
              <a:ext cx="822960" cy="1588"/>
            </a:xfrm>
            <a:prstGeom prst="straightConnector1">
              <a:avLst/>
            </a:prstGeom>
            <a:ln w="25400">
              <a:solidFill>
                <a:srgbClr val="2D1ABC">
                  <a:alpha val="95000"/>
                </a:srgb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2727961" y="6096000"/>
              <a:ext cx="1066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2D1ABC"/>
                  </a:solidFill>
                </a:rPr>
                <a:t>300</a:t>
              </a:r>
              <a:r>
                <a:rPr lang="en-US" altLang="zh-CN" sz="2400" b="1" baseline="30000" dirty="0">
                  <a:solidFill>
                    <a:srgbClr val="2D1ABC"/>
                  </a:solidFill>
                </a:rPr>
                <a:t>o</a:t>
              </a:r>
              <a:r>
                <a:rPr lang="en-US" altLang="zh-CN" sz="2400" b="1" dirty="0">
                  <a:solidFill>
                    <a:srgbClr val="2D1ABC"/>
                  </a:solidFill>
                </a:rPr>
                <a:t>C</a:t>
              </a:r>
              <a:endParaRPr lang="en-US" sz="2400" b="1" dirty="0">
                <a:solidFill>
                  <a:srgbClr val="2D1ABC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900479" y="5786735"/>
              <a:ext cx="5132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solidFill>
                    <a:srgbClr val="2D1ABC"/>
                  </a:solidFill>
                </a:rPr>
                <a:t>Cu</a:t>
              </a:r>
              <a:endParaRPr lang="en-US" sz="2400" b="1" dirty="0">
                <a:solidFill>
                  <a:srgbClr val="2D1AB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33.5 </a:t>
            </a:r>
            <a:r>
              <a:rPr lang="zh-CN" altLang="en-US" sz="4000" b="1" dirty="0">
                <a:latin typeface="+mn-ea"/>
              </a:rPr>
              <a:t>醛和酮的制取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酰氯的还原</a:t>
            </a:r>
            <a:endParaRPr lang="en-US" altLang="zh-CN" sz="30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酰氯</a:t>
            </a:r>
            <a:r>
              <a:rPr lang="en-US" altLang="zh-CN" sz="3000" dirty="0"/>
              <a:t>					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醛</a:t>
            </a: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721360" y="1866178"/>
            <a:ext cx="1945640" cy="1410422"/>
            <a:chOff x="6822440" y="5410200"/>
            <a:chExt cx="1945640" cy="1410422"/>
          </a:xfrm>
        </p:grpSpPr>
        <p:sp>
          <p:nvSpPr>
            <p:cNvPr id="7" name="Rectangle 6"/>
            <p:cNvSpPr/>
            <p:nvPr/>
          </p:nvSpPr>
          <p:spPr>
            <a:xfrm>
              <a:off x="6822440" y="6266624"/>
              <a:ext cx="194564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dirty="0"/>
                <a:t>   R—C—</a:t>
              </a:r>
              <a:r>
                <a:rPr lang="en-US" altLang="zh-CN" sz="3000" b="1" dirty="0" err="1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Cl</a:t>
              </a:r>
              <a:endParaRPr lang="en-US" altLang="zh-CN" sz="30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8" name="Picture 7" descr="137.3.gif"/>
            <p:cNvPicPr>
              <a:picLocks noChangeAspect="1"/>
            </p:cNvPicPr>
            <p:nvPr/>
          </p:nvPicPr>
          <p:blipFill>
            <a:blip r:embed="rId3"/>
            <a:srcRect t="48648" r="82979" b="34512"/>
            <a:stretch>
              <a:fillRect/>
            </a:stretch>
          </p:blipFill>
          <p:spPr>
            <a:xfrm>
              <a:off x="6822440" y="5410200"/>
              <a:ext cx="1788160" cy="1005840"/>
            </a:xfrm>
            <a:prstGeom prst="rect">
              <a:avLst/>
            </a:prstGeom>
          </p:spPr>
        </p:pic>
      </p:grpSp>
      <p:grpSp>
        <p:nvGrpSpPr>
          <p:cNvPr id="9" name="Group 47"/>
          <p:cNvGrpSpPr/>
          <p:nvPr/>
        </p:nvGrpSpPr>
        <p:grpSpPr>
          <a:xfrm>
            <a:off x="3755075" y="2521803"/>
            <a:ext cx="1426525" cy="830997"/>
            <a:chOff x="2682240" y="5769352"/>
            <a:chExt cx="1426525" cy="830997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2682240" y="6246812"/>
              <a:ext cx="1371600" cy="1588"/>
            </a:xfrm>
            <a:prstGeom prst="straightConnector1">
              <a:avLst/>
            </a:prstGeom>
            <a:ln w="22225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682240" y="5769352"/>
              <a:ext cx="142652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Pd/BaSO</a:t>
              </a:r>
              <a:r>
                <a:rPr lang="en-US" altLang="zh-CN" sz="2400" baseline="-25000" dirty="0"/>
                <a:t>4</a:t>
              </a:r>
              <a:r>
                <a:rPr lang="en-US" altLang="zh-CN" sz="2400" dirty="0"/>
                <a:t> </a:t>
              </a:r>
            </a:p>
            <a:p>
              <a:r>
                <a:rPr lang="en-US" altLang="zh-CN" sz="2400" dirty="0"/>
                <a:t>      ∆</a:t>
              </a:r>
              <a:endParaRPr lang="en-US" sz="2400" dirty="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819400" y="2691825"/>
            <a:ext cx="8787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H</a:t>
            </a:r>
            <a:r>
              <a:rPr lang="en-US" altLang="zh-CN" sz="32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US" sz="30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4532" y="2691825"/>
            <a:ext cx="1146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 + </a:t>
            </a:r>
            <a:r>
              <a:rPr lang="en-US" altLang="zh-CN" sz="3200" b="1" dirty="0" err="1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32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</a:t>
            </a:r>
            <a:endParaRPr lang="en-US" sz="30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4988560" y="1828800"/>
            <a:ext cx="1945640" cy="1410422"/>
            <a:chOff x="6822440" y="5410200"/>
            <a:chExt cx="1945640" cy="1410422"/>
          </a:xfrm>
        </p:grpSpPr>
        <p:sp>
          <p:nvSpPr>
            <p:cNvPr id="17" name="Rectangle 16"/>
            <p:cNvSpPr/>
            <p:nvPr/>
          </p:nvSpPr>
          <p:spPr>
            <a:xfrm>
              <a:off x="6822440" y="6266624"/>
              <a:ext cx="194564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dirty="0"/>
                <a:t>   R—C—</a:t>
              </a:r>
              <a:r>
                <a:rPr lang="en-US" altLang="zh-CN" sz="3000" b="1" dirty="0">
                  <a:solidFill>
                    <a:srgbClr val="2D1AB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H</a:t>
              </a:r>
            </a:p>
          </p:txBody>
        </p:sp>
        <p:pic>
          <p:nvPicPr>
            <p:cNvPr id="18" name="Picture 17" descr="137.3.gif"/>
            <p:cNvPicPr>
              <a:picLocks noChangeAspect="1"/>
            </p:cNvPicPr>
            <p:nvPr/>
          </p:nvPicPr>
          <p:blipFill>
            <a:blip r:embed="rId3"/>
            <a:srcRect t="48648" r="82979" b="34512"/>
            <a:stretch>
              <a:fillRect/>
            </a:stretch>
          </p:blipFill>
          <p:spPr>
            <a:xfrm>
              <a:off x="6822440" y="5410200"/>
              <a:ext cx="1788160" cy="1005840"/>
            </a:xfrm>
            <a:prstGeom prst="rect">
              <a:avLst/>
            </a:prstGeom>
          </p:spPr>
        </p:pic>
      </p:grpSp>
      <p:grpSp>
        <p:nvGrpSpPr>
          <p:cNvPr id="19" name="Group 18"/>
          <p:cNvGrpSpPr/>
          <p:nvPr/>
        </p:nvGrpSpPr>
        <p:grpSpPr>
          <a:xfrm>
            <a:off x="873760" y="4228378"/>
            <a:ext cx="1945640" cy="1410422"/>
            <a:chOff x="6822440" y="5410200"/>
            <a:chExt cx="1945640" cy="1410422"/>
          </a:xfrm>
        </p:grpSpPr>
        <p:sp>
          <p:nvSpPr>
            <p:cNvPr id="20" name="Rectangle 19"/>
            <p:cNvSpPr/>
            <p:nvPr/>
          </p:nvSpPr>
          <p:spPr>
            <a:xfrm>
              <a:off x="6822440" y="6266624"/>
              <a:ext cx="194564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dirty="0"/>
                <a:t>   R—C—</a:t>
              </a:r>
              <a:endParaRPr lang="en-US" altLang="zh-CN" sz="30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21" name="Picture 20" descr="137.3.gif"/>
            <p:cNvPicPr>
              <a:picLocks noChangeAspect="1"/>
            </p:cNvPicPr>
            <p:nvPr/>
          </p:nvPicPr>
          <p:blipFill>
            <a:blip r:embed="rId3"/>
            <a:srcRect t="48648" r="82979" b="34512"/>
            <a:stretch>
              <a:fillRect/>
            </a:stretch>
          </p:blipFill>
          <p:spPr>
            <a:xfrm>
              <a:off x="6822440" y="5410200"/>
              <a:ext cx="1788160" cy="1005840"/>
            </a:xfrm>
            <a:prstGeom prst="rect">
              <a:avLst/>
            </a:prstGeom>
          </p:spPr>
        </p:pic>
      </p:grpSp>
      <p:sp>
        <p:nvSpPr>
          <p:cNvPr id="22" name="TextBox 21"/>
          <p:cNvSpPr txBox="1"/>
          <p:nvPr/>
        </p:nvSpPr>
        <p:spPr>
          <a:xfrm>
            <a:off x="2743200" y="502920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酰基</a:t>
            </a:r>
            <a:endParaRPr lang="en-US" sz="3000" dirty="0"/>
          </a:p>
        </p:txBody>
      </p:sp>
      <p:grpSp>
        <p:nvGrpSpPr>
          <p:cNvPr id="23" name="Group 22"/>
          <p:cNvGrpSpPr/>
          <p:nvPr/>
        </p:nvGrpSpPr>
        <p:grpSpPr>
          <a:xfrm>
            <a:off x="3906957" y="4191000"/>
            <a:ext cx="1945640" cy="1410422"/>
            <a:chOff x="6822440" y="5410200"/>
            <a:chExt cx="1945640" cy="1410422"/>
          </a:xfrm>
        </p:grpSpPr>
        <p:sp>
          <p:nvSpPr>
            <p:cNvPr id="24" name="Rectangle 23"/>
            <p:cNvSpPr/>
            <p:nvPr/>
          </p:nvSpPr>
          <p:spPr>
            <a:xfrm>
              <a:off x="6822440" y="6266624"/>
              <a:ext cx="194564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dirty="0"/>
                <a:t>   R—C—X</a:t>
              </a:r>
              <a:endParaRPr lang="en-US" altLang="zh-CN" sz="30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25" name="Picture 24" descr="137.3.gif"/>
            <p:cNvPicPr>
              <a:picLocks noChangeAspect="1"/>
            </p:cNvPicPr>
            <p:nvPr/>
          </p:nvPicPr>
          <p:blipFill>
            <a:blip r:embed="rId3"/>
            <a:srcRect t="48648" r="82979" b="34512"/>
            <a:stretch>
              <a:fillRect/>
            </a:stretch>
          </p:blipFill>
          <p:spPr>
            <a:xfrm>
              <a:off x="6822440" y="5410200"/>
              <a:ext cx="1788160" cy="1005840"/>
            </a:xfrm>
            <a:prstGeom prst="rect">
              <a:avLst/>
            </a:prstGeom>
          </p:spPr>
        </p:pic>
      </p:grpSp>
      <p:sp>
        <p:nvSpPr>
          <p:cNvPr id="26" name="TextBox 25"/>
          <p:cNvSpPr txBox="1"/>
          <p:nvPr/>
        </p:nvSpPr>
        <p:spPr>
          <a:xfrm>
            <a:off x="5776397" y="4991822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酰卤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/>
      <p:bldP spid="15" grpId="0"/>
      <p:bldP spid="22" grpId="0"/>
      <p:bldP spid="2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33.5 </a:t>
            </a:r>
            <a:r>
              <a:rPr lang="zh-CN" altLang="en-US" sz="4000" b="1" dirty="0">
                <a:latin typeface="+mn-ea"/>
              </a:rPr>
              <a:t>醛和酮的制取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en-US" altLang="zh-CN" sz="3000" dirty="0"/>
              <a:t>	3. </a:t>
            </a:r>
            <a:r>
              <a:rPr lang="zh-CN" altLang="en-US" sz="3000" dirty="0"/>
              <a:t>格氏试剂与腈的反应</a:t>
            </a: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R-CN</a:t>
            </a:r>
            <a:r>
              <a:rPr lang="en-US" altLang="zh-CN" sz="3000" dirty="0"/>
              <a:t> + </a:t>
            </a:r>
            <a:r>
              <a:rPr lang="en-US" altLang="zh-CN" sz="30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sz="3000" b="1" baseline="30000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r>
              <a:rPr lang="en-US" altLang="zh-CN" sz="30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-MgX</a:t>
            </a:r>
            <a:r>
              <a:rPr lang="en-US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altLang="zh-CN" sz="3000" dirty="0">
                <a:sym typeface="Wingdings" pitchFamily="2" charset="2"/>
              </a:rPr>
              <a:t> 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R –C=</a:t>
            </a:r>
            <a:r>
              <a:rPr lang="en-US" altLang="zh-CN" sz="3000" b="1" dirty="0" err="1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N</a:t>
            </a:r>
            <a:r>
              <a:rPr lang="en-US" altLang="zh-CN" sz="30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MgX</a:t>
            </a: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  <a:p>
            <a:pPr lvl="1">
              <a:spcBef>
                <a:spcPts val="600"/>
              </a:spcBef>
              <a:buNone/>
            </a:pP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  <a:p>
            <a:pPr lvl="1">
              <a:spcBef>
                <a:spcPts val="600"/>
              </a:spcBef>
              <a:buNone/>
            </a:pP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  <a:p>
            <a:pPr lvl="1">
              <a:spcBef>
                <a:spcPts val="600"/>
              </a:spcBef>
              <a:buNone/>
            </a:pP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R –C=</a:t>
            </a:r>
            <a:r>
              <a:rPr lang="en-US" altLang="zh-CN" sz="3000" b="1" dirty="0" err="1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N</a:t>
            </a:r>
            <a:r>
              <a:rPr lang="en-US" altLang="zh-CN" sz="30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MgX</a:t>
            </a:r>
            <a:r>
              <a:rPr lang="en-US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 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 + </a:t>
            </a:r>
            <a:r>
              <a:rPr lang="en-US" altLang="zh-C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2 H</a:t>
            </a:r>
            <a:r>
              <a:rPr lang="en-US" altLang="zh-CN" sz="30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2</a:t>
            </a:r>
            <a:r>
              <a:rPr lang="en-US" altLang="zh-C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O 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 		      + </a:t>
            </a:r>
            <a:r>
              <a:rPr lang="en-US" altLang="zh-CN" sz="3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N</a:t>
            </a:r>
            <a:r>
              <a:rPr lang="en-US" altLang="zh-C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H</a:t>
            </a:r>
            <a:r>
              <a:rPr lang="en-US" altLang="zh-CN" sz="30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3</a:t>
            </a:r>
            <a:r>
              <a:rPr lang="en-US" altLang="zh-C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 + </a:t>
            </a:r>
            <a:r>
              <a:rPr lang="en-US" altLang="zh-CN" sz="30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Mg</a:t>
            </a:r>
            <a:r>
              <a:rPr lang="en-US" altLang="zh-CN" sz="3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OH</a:t>
            </a:r>
            <a:r>
              <a:rPr lang="en-US" altLang="zh-CN" sz="30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X</a:t>
            </a: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86200" y="2033826"/>
            <a:ext cx="447558" cy="86177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l</a:t>
            </a:r>
          </a:p>
          <a:p>
            <a:r>
              <a:rPr 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sz="2800" b="1" baseline="30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endParaRPr lang="en-US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6442" y="3634026"/>
            <a:ext cx="447558" cy="86177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l</a:t>
            </a:r>
          </a:p>
          <a:p>
            <a:r>
              <a:rPr 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sz="2800" b="1" baseline="30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endParaRPr lang="en-US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4343400" y="2438400"/>
            <a:ext cx="1945640" cy="1410422"/>
            <a:chOff x="6822440" y="5410200"/>
            <a:chExt cx="1945640" cy="1410422"/>
          </a:xfrm>
        </p:grpSpPr>
        <p:sp>
          <p:nvSpPr>
            <p:cNvPr id="8" name="Rectangle 7"/>
            <p:cNvSpPr/>
            <p:nvPr/>
          </p:nvSpPr>
          <p:spPr>
            <a:xfrm>
              <a:off x="6822440" y="6266624"/>
              <a:ext cx="194564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b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  </a:t>
              </a:r>
              <a:r>
                <a:rPr lang="en-US" altLang="zh-CN" sz="3000" b="1" dirty="0">
                  <a:solidFill>
                    <a:srgbClr val="2D1AB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R—C</a:t>
              </a:r>
              <a:r>
                <a:rPr lang="en-US" altLang="zh-CN" sz="3000" b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—R</a:t>
              </a:r>
              <a:r>
                <a:rPr lang="en-US" altLang="zh-CN" sz="3000" b="1" baseline="300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’</a:t>
              </a:r>
              <a:endParaRPr lang="en-US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9" name="Picture 8" descr="137.3.gif"/>
            <p:cNvPicPr>
              <a:picLocks noChangeAspect="1"/>
            </p:cNvPicPr>
            <p:nvPr/>
          </p:nvPicPr>
          <p:blipFill>
            <a:blip r:embed="rId3"/>
            <a:srcRect t="48648" r="82979" b="34512"/>
            <a:stretch>
              <a:fillRect/>
            </a:stretch>
          </p:blipFill>
          <p:spPr>
            <a:xfrm>
              <a:off x="6822440" y="5410200"/>
              <a:ext cx="1788160" cy="1005840"/>
            </a:xfrm>
            <a:prstGeom prst="rect">
              <a:avLst/>
            </a:prstGeom>
          </p:spPr>
        </p:pic>
      </p:grpSp>
      <p:grpSp>
        <p:nvGrpSpPr>
          <p:cNvPr id="11" name="Group 27"/>
          <p:cNvGrpSpPr/>
          <p:nvPr/>
        </p:nvGrpSpPr>
        <p:grpSpPr>
          <a:xfrm>
            <a:off x="3962400" y="3195935"/>
            <a:ext cx="548640" cy="461665"/>
            <a:chOff x="2926081" y="5715000"/>
            <a:chExt cx="548640" cy="461665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2926081" y="6096000"/>
              <a:ext cx="548640" cy="1588"/>
            </a:xfrm>
            <a:prstGeom prst="straightConnector1">
              <a:avLst/>
            </a:prstGeom>
            <a:ln w="2540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2932539" y="5715000"/>
              <a:ext cx="4812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H</a:t>
              </a:r>
              <a:r>
                <a:rPr lang="en-US" sz="2400" b="1" baseline="30000" dirty="0"/>
                <a:t>+</a:t>
              </a:r>
              <a:endParaRPr 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补充练习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000" dirty="0"/>
              <a:t>请写出下列物质转化的化学方程式</a:t>
            </a:r>
            <a:endParaRPr lang="en-US" altLang="zh-CN" sz="3000" dirty="0"/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zh-CN" altLang="en-US" sz="3000" dirty="0"/>
              <a:t>丙烷 </a:t>
            </a:r>
            <a:r>
              <a:rPr lang="en-US" altLang="zh-CN" sz="3000" dirty="0">
                <a:sym typeface="Wingdings" pitchFamily="2" charset="2"/>
              </a:rPr>
              <a:t>2-</a:t>
            </a:r>
            <a:r>
              <a:rPr lang="zh-CN" altLang="en-US" sz="3000" dirty="0">
                <a:sym typeface="Wingdings" pitchFamily="2" charset="2"/>
              </a:rPr>
              <a:t>羟基</a:t>
            </a:r>
            <a:r>
              <a:rPr lang="en-US" altLang="zh-CN" sz="3000" dirty="0">
                <a:sym typeface="Wingdings" pitchFamily="2" charset="2"/>
              </a:rPr>
              <a:t>-2-</a:t>
            </a:r>
            <a:r>
              <a:rPr lang="zh-CN" altLang="en-US" sz="3000" dirty="0">
                <a:sym typeface="Wingdings" pitchFamily="2" charset="2"/>
              </a:rPr>
              <a:t>甲基丙酸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zh-CN" altLang="en-US" sz="3000" dirty="0">
                <a:sym typeface="Wingdings" pitchFamily="2" charset="2"/>
              </a:rPr>
              <a:t>乙醇</a:t>
            </a:r>
            <a:r>
              <a:rPr lang="en-US" altLang="zh-CN" sz="3000" dirty="0">
                <a:sym typeface="Wingdings" pitchFamily="2" charset="2"/>
              </a:rPr>
              <a:t> 2-</a:t>
            </a:r>
            <a:r>
              <a:rPr lang="zh-CN" altLang="en-US" sz="3000" dirty="0">
                <a:sym typeface="Wingdings" pitchFamily="2" charset="2"/>
              </a:rPr>
              <a:t>羟基丙酸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zh-CN" altLang="en-US" sz="3000" dirty="0">
                <a:sym typeface="Wingdings" pitchFamily="2" charset="2"/>
              </a:rPr>
              <a:t>丙烷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丙酮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zh-CN" altLang="en-US" sz="3000" dirty="0">
                <a:sym typeface="Wingdings" pitchFamily="2" charset="2"/>
              </a:rPr>
              <a:t>丙烯</a:t>
            </a:r>
            <a:r>
              <a:rPr lang="en-US" altLang="zh-CN" sz="3000" dirty="0">
                <a:sym typeface="Wingdings" pitchFamily="2" charset="2"/>
              </a:rPr>
              <a:t>2-</a:t>
            </a:r>
            <a:r>
              <a:rPr lang="zh-CN" altLang="en-US" sz="3000" dirty="0">
                <a:sym typeface="Wingdings" pitchFamily="2" charset="2"/>
              </a:rPr>
              <a:t>甲基</a:t>
            </a:r>
            <a:r>
              <a:rPr lang="en-US" altLang="zh-CN" sz="3000" dirty="0">
                <a:sym typeface="Wingdings" pitchFamily="2" charset="2"/>
              </a:rPr>
              <a:t>-2</a:t>
            </a:r>
            <a:r>
              <a:rPr lang="zh-CN" altLang="en-US" sz="3000" dirty="0">
                <a:sym typeface="Wingdings" pitchFamily="2" charset="2"/>
              </a:rPr>
              <a:t>戊酮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zh-CN" altLang="en-US" sz="3000" dirty="0">
                <a:sym typeface="Wingdings" pitchFamily="2" charset="2"/>
              </a:rPr>
              <a:t>乙烷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丁酮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zh-CN" altLang="en-US" sz="3000" dirty="0">
                <a:sym typeface="Wingdings" pitchFamily="2" charset="2"/>
              </a:rPr>
              <a:t>甲醛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丁醛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zh-CN" altLang="en-US" sz="3000" dirty="0">
                <a:sym typeface="Wingdings" pitchFamily="2" charset="2"/>
              </a:rPr>
              <a:t>乙酰氯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乙醛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zh-CN" altLang="en-US" sz="3000" dirty="0">
                <a:sym typeface="Wingdings" pitchFamily="2" charset="2"/>
              </a:rPr>
              <a:t>丁酮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>
                <a:sym typeface="Wingdings" pitchFamily="2" charset="2"/>
              </a:rPr>
              <a:t>丙酸</a:t>
            </a: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33.6 </a:t>
            </a:r>
            <a:r>
              <a:rPr lang="zh-CN" altLang="en-US" sz="4000" b="1" dirty="0">
                <a:latin typeface="+mn-ea"/>
              </a:rPr>
              <a:t>醛和酮的用途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甲醛：制酚醛树脂产品</a:t>
            </a:r>
            <a:endParaRPr lang="en-MY" altLang="zh-CN" sz="30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环己酮：制锦纶产品</a:t>
            </a:r>
            <a:endParaRPr lang="en-MY" altLang="zh-CN" sz="30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苯甲醛：制风信子精油</a:t>
            </a:r>
            <a:endParaRPr lang="en-MY" altLang="zh-CN" sz="30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丙酮：制抗生素、食品防腐剂、有机玻璃等</a:t>
            </a:r>
            <a:endParaRPr lang="en-US" altLang="zh-CN" sz="3000" dirty="0"/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600" dirty="0"/>
              <a:t>指甲水中含有丙酮</a:t>
            </a:r>
            <a:endParaRPr lang="en-US" altLang="zh-CN" sz="26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福尔马林：甲醛含量为</a:t>
            </a:r>
            <a:r>
              <a:rPr lang="en-US" altLang="zh-CN" sz="3000" dirty="0"/>
              <a:t>35%-40%</a:t>
            </a:r>
            <a:r>
              <a:rPr lang="zh-CN" altLang="en-US" sz="3000" dirty="0"/>
              <a:t>的水溶液。</a:t>
            </a:r>
            <a:endParaRPr lang="en-MY" altLang="zh-CN" sz="3000" dirty="0"/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600" dirty="0"/>
              <a:t>功能：防腐、消毒、漂白</a:t>
            </a:r>
            <a:endParaRPr lang="en-MY" altLang="zh-CN" sz="2600" dirty="0"/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600" dirty="0"/>
              <a:t>具有刺鼻的气味，对人体有害</a:t>
            </a:r>
            <a:endParaRPr lang="en-MY" altLang="zh-CN" sz="2600" dirty="0"/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600" dirty="0"/>
              <a:t>生物学中有福尔马林作为标本的保存媒介</a:t>
            </a:r>
            <a:endParaRPr lang="en-MY" altLang="zh-CN" sz="2600" dirty="0"/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600" dirty="0"/>
              <a:t>医学生有福尔马林保存病理切片，消毒病房手术机械</a:t>
            </a:r>
            <a:endParaRPr lang="en-MY" altLang="zh-CN" sz="26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271630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33.7 </a:t>
            </a:r>
            <a:r>
              <a:rPr lang="zh-CN" altLang="en-US" sz="4000" b="1" dirty="0">
                <a:latin typeface="+mn-ea"/>
              </a:rPr>
              <a:t>碳水化合物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某些糖类</a:t>
            </a:r>
            <a:r>
              <a:rPr lang="zh-CN" altLang="en-US" sz="3000" dirty="0"/>
              <a:t>分子式可以写成：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(H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O)</a:t>
            </a:r>
            <a:r>
              <a:rPr lang="en-US" altLang="zh-CN" sz="3000" baseline="-25000" dirty="0"/>
              <a:t>m</a:t>
            </a:r>
            <a:r>
              <a:rPr lang="en-US" altLang="zh-CN" sz="3000" dirty="0"/>
              <a:t> 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分类：</a:t>
            </a:r>
            <a:endParaRPr lang="en-MY" altLang="zh-CN" sz="3000" dirty="0"/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多羟基醛、多羟基酮</a:t>
            </a:r>
            <a:endParaRPr lang="en-MY" altLang="zh-CN" sz="3000" dirty="0"/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根据能否水解和水解后产物：单糖、双糖、低聚糖、多糖</a:t>
            </a:r>
            <a:endParaRPr lang="en-US" altLang="zh-CN" sz="3000" dirty="0"/>
          </a:p>
          <a:p>
            <a:pPr lvl="1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23229969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33.7 </a:t>
            </a:r>
            <a:r>
              <a:rPr lang="zh-CN" altLang="en-US" sz="4000" b="1" dirty="0">
                <a:latin typeface="+mn-ea"/>
              </a:rPr>
              <a:t>碳水化合物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手性碳原子</a:t>
            </a:r>
            <a:r>
              <a:rPr lang="zh-CN" altLang="en-US" sz="3000" dirty="0"/>
              <a:t>：该碳原子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连有四个不相同</a:t>
            </a:r>
            <a:r>
              <a:rPr lang="zh-CN" altLang="en-US" sz="3000" dirty="0"/>
              <a:t>的原子和原子团，又称不对称碳原子。</a:t>
            </a:r>
            <a:endParaRPr lang="en-MY" altLang="zh-CN" sz="30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对映异构，旋光异构现象</a:t>
            </a:r>
            <a:endParaRPr lang="en-US" altLang="zh-CN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26C440-C773-4462-885F-844721A23F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5" t="5709" r="14607" b="22053"/>
          <a:stretch/>
        </p:blipFill>
        <p:spPr>
          <a:xfrm>
            <a:off x="1828800" y="2590800"/>
            <a:ext cx="5867400" cy="410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6752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33.7 </a:t>
            </a:r>
            <a:r>
              <a:rPr lang="zh-CN" altLang="en-US" sz="4000" b="1" dirty="0">
                <a:latin typeface="+mn-ea"/>
              </a:rPr>
              <a:t>碳水化合物</a:t>
            </a:r>
            <a:endParaRPr lang="en-US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C7CA7A-74FD-4CB7-A3B1-E97FA6F8C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14400"/>
            <a:ext cx="8001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963827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33.7 </a:t>
            </a:r>
            <a:r>
              <a:rPr lang="zh-CN" altLang="en-US" sz="4000" b="1" dirty="0">
                <a:latin typeface="+mn-ea"/>
              </a:rPr>
              <a:t>碳水化合物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还原性糖：</a:t>
            </a:r>
            <a:r>
              <a:rPr lang="zh-CN" altLang="en-US" sz="3000" dirty="0"/>
              <a:t>葡萄糖、果糖、半乳糖等的所有单</a:t>
            </a:r>
            <a:r>
              <a:rPr lang="zh-CN" altLang="en-US" sz="3000" b="1" dirty="0"/>
              <a:t>糖、</a:t>
            </a:r>
            <a:r>
              <a:rPr lang="zh-CN" altLang="en-US" sz="3000" dirty="0"/>
              <a:t>乳糖、麦芽糖。 </a:t>
            </a:r>
            <a:endParaRPr lang="en-MY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还原糖能与斐林试剂或托伦试剂反应</a:t>
            </a:r>
            <a:endParaRPr lang="en-MY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非还原性糖：</a:t>
            </a:r>
            <a:r>
              <a:rPr lang="zh-CN" altLang="en-US" sz="3000" dirty="0"/>
              <a:t>蔗糖</a:t>
            </a:r>
            <a:endParaRPr lang="en-MY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非还原糖不能与斐林试剂或托伦试剂反应</a:t>
            </a:r>
            <a:endParaRPr lang="en-MY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2728337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33.7 </a:t>
            </a:r>
            <a:r>
              <a:rPr lang="zh-CN" altLang="en-US" sz="4000" b="1" dirty="0">
                <a:latin typeface="+mn-ea"/>
              </a:rPr>
              <a:t>碳水化合物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直链淀粉含有</a:t>
            </a:r>
            <a:r>
              <a:rPr lang="en-US" altLang="zh-CN" sz="3000" dirty="0"/>
              <a:t>100-1000</a:t>
            </a:r>
            <a:r>
              <a:rPr lang="zh-CN" altLang="en-US" sz="3000" dirty="0"/>
              <a:t>个葡萄糖单元，葡萄糖分子通过</a:t>
            </a:r>
            <a:r>
              <a:rPr lang="el-GR" altLang="zh-CN" sz="3000" dirty="0"/>
              <a:t>α</a:t>
            </a:r>
            <a:r>
              <a:rPr lang="en-US" altLang="zh-CN" sz="3000" dirty="0"/>
              <a:t>-1,4-</a:t>
            </a:r>
            <a:r>
              <a:rPr lang="zh-CN" altLang="en-US" sz="3000" dirty="0"/>
              <a:t>苷键结合。</a:t>
            </a:r>
            <a:endParaRPr lang="en-MY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支链淀粉含有</a:t>
            </a:r>
            <a:r>
              <a:rPr lang="en-US" altLang="zh-CN" sz="3000" dirty="0"/>
              <a:t>1000-5000</a:t>
            </a:r>
            <a:r>
              <a:rPr lang="zh-CN" altLang="en-US" sz="3000" dirty="0"/>
              <a:t>个葡萄糖单元，葡萄糖分子通过</a:t>
            </a:r>
            <a:r>
              <a:rPr lang="el-GR" altLang="zh-CN" sz="3000" dirty="0"/>
              <a:t>α</a:t>
            </a:r>
            <a:r>
              <a:rPr lang="en-US" altLang="zh-CN" sz="3000" dirty="0"/>
              <a:t>-1,6-</a:t>
            </a:r>
            <a:r>
              <a:rPr lang="zh-CN" altLang="en-US" sz="3000" dirty="0"/>
              <a:t>苷键形成分支。</a:t>
            </a:r>
            <a:endParaRPr lang="en-MY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纤维素含有</a:t>
            </a:r>
            <a:r>
              <a:rPr lang="en-US" altLang="zh-CN" sz="3000" dirty="0"/>
              <a:t>1000-6000</a:t>
            </a:r>
            <a:r>
              <a:rPr lang="zh-CN" altLang="en-US" sz="3000" dirty="0"/>
              <a:t>个葡萄糖单元，葡萄糖分子通过</a:t>
            </a:r>
            <a:r>
              <a:rPr lang="el-GR" altLang="zh-CN" sz="3000" dirty="0"/>
              <a:t>β</a:t>
            </a:r>
            <a:r>
              <a:rPr lang="en-US" altLang="zh-CN" sz="3000" dirty="0"/>
              <a:t>-1,4-</a:t>
            </a:r>
            <a:r>
              <a:rPr lang="zh-CN" altLang="en-US" sz="3000" dirty="0"/>
              <a:t>苷键结合。</a:t>
            </a:r>
            <a:endParaRPr lang="en-MY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糖原结构类似支链淀粉，但分支间距离较短，且分支多。</a:t>
            </a:r>
            <a:endParaRPr lang="en-MY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MY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0573266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思考题 </a:t>
            </a:r>
            <a:r>
              <a:rPr lang="en-US" altLang="zh-CN" sz="4000" b="1" dirty="0">
                <a:latin typeface="+mn-ea"/>
              </a:rPr>
              <a:t>33e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AutoNum type="arabicPeriod"/>
            </a:pPr>
            <a:r>
              <a:rPr lang="en-US" altLang="zh-CN" sz="3000" dirty="0"/>
              <a:t>A 	</a:t>
            </a:r>
            <a:r>
              <a:rPr lang="zh-CN" altLang="en-US" sz="3000" dirty="0"/>
              <a:t>木糖醇不含醛基或酮基</a:t>
            </a:r>
            <a:endParaRPr lang="en-MY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en-MY" altLang="zh-CN" sz="3000" dirty="0"/>
              <a:t>					</a:t>
            </a:r>
            <a:r>
              <a:rPr lang="zh-CN" altLang="en-US" sz="3000" dirty="0"/>
              <a:t>式量</a:t>
            </a:r>
            <a:r>
              <a:rPr lang="en-MY" altLang="zh-CN" sz="3000" dirty="0"/>
              <a:t>		</a:t>
            </a:r>
            <a:r>
              <a:rPr lang="zh-CN" altLang="en-US" sz="3000" dirty="0"/>
              <a:t>含碳百分比</a:t>
            </a:r>
            <a:endParaRPr lang="en-US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2.  	</a:t>
            </a:r>
            <a:r>
              <a:rPr lang="zh-CN" altLang="en-US" sz="3000" dirty="0"/>
              <a:t>冰醋酸 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COOH	60		24/60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甲醛     </a:t>
            </a:r>
            <a:r>
              <a:rPr lang="en-US" altLang="zh-CN" sz="3000" dirty="0"/>
              <a:t>HCHO		30 		12/30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葡萄糖</a:t>
            </a:r>
            <a:r>
              <a:rPr lang="en-US" altLang="zh-CN" sz="3000" dirty="0"/>
              <a:t>/</a:t>
            </a:r>
            <a:r>
              <a:rPr lang="zh-CN" altLang="en-US" sz="3000" dirty="0"/>
              <a:t>果糖 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12</a:t>
            </a:r>
            <a:r>
              <a:rPr lang="en-US" altLang="zh-CN" sz="3000" dirty="0"/>
              <a:t>O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 	180		72/180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甲酸甲酯 </a:t>
            </a:r>
            <a:r>
              <a:rPr lang="en-US" altLang="zh-CN" sz="3000" dirty="0"/>
              <a:t>HCOOCH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	60		24/60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3000" dirty="0"/>
              <a:t>这五种化合物中碳的质量百分比皆为</a:t>
            </a:r>
            <a:r>
              <a:rPr lang="en-US" altLang="zh-CN" sz="3000" dirty="0"/>
              <a:t>40%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3000" dirty="0"/>
              <a:t>因此，无论以什么比例混合</a:t>
            </a:r>
            <a:r>
              <a:rPr lang="en-US" altLang="zh-CN" sz="3000" dirty="0"/>
              <a:t>Ans: B</a:t>
            </a:r>
          </a:p>
          <a:p>
            <a:pPr marL="514350" indent="-514350">
              <a:spcBef>
                <a:spcPts val="600"/>
              </a:spcBef>
              <a:buAutoNum type="arabicPeriod"/>
            </a:pP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567A1F-35CC-46D9-ADE2-932116202DBA}"/>
              </a:ext>
            </a:extLst>
          </p:cNvPr>
          <p:cNvSpPr/>
          <p:nvPr/>
        </p:nvSpPr>
        <p:spPr>
          <a:xfrm>
            <a:off x="4876800" y="2209800"/>
            <a:ext cx="685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135264-F6A9-4FDC-BA26-138D9DA945B7}"/>
              </a:ext>
            </a:extLst>
          </p:cNvPr>
          <p:cNvSpPr/>
          <p:nvPr/>
        </p:nvSpPr>
        <p:spPr>
          <a:xfrm>
            <a:off x="6705600" y="2209800"/>
            <a:ext cx="1066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840683-5EC9-4DD8-BD2E-F574F71EF782}"/>
              </a:ext>
            </a:extLst>
          </p:cNvPr>
          <p:cNvSpPr/>
          <p:nvPr/>
        </p:nvSpPr>
        <p:spPr>
          <a:xfrm>
            <a:off x="4876800" y="2819400"/>
            <a:ext cx="685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E32D85-27AC-41CD-B64F-63ADE9FDCBA0}"/>
              </a:ext>
            </a:extLst>
          </p:cNvPr>
          <p:cNvSpPr/>
          <p:nvPr/>
        </p:nvSpPr>
        <p:spPr>
          <a:xfrm>
            <a:off x="6743700" y="2819400"/>
            <a:ext cx="1066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BB82108-8131-4D9B-87FC-0365CFAFAA2D}"/>
              </a:ext>
            </a:extLst>
          </p:cNvPr>
          <p:cNvSpPr/>
          <p:nvPr/>
        </p:nvSpPr>
        <p:spPr>
          <a:xfrm>
            <a:off x="4876800" y="3352800"/>
            <a:ext cx="685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724978-9517-4B42-8569-DDFF24C97062}"/>
              </a:ext>
            </a:extLst>
          </p:cNvPr>
          <p:cNvSpPr/>
          <p:nvPr/>
        </p:nvSpPr>
        <p:spPr>
          <a:xfrm>
            <a:off x="6743700" y="3352800"/>
            <a:ext cx="11811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C734073-8BB6-4304-B1C8-18FB522B7B26}"/>
              </a:ext>
            </a:extLst>
          </p:cNvPr>
          <p:cNvSpPr/>
          <p:nvPr/>
        </p:nvSpPr>
        <p:spPr>
          <a:xfrm>
            <a:off x="4876800" y="3886200"/>
            <a:ext cx="685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8DC84B7-75E0-4B38-9270-E794441E680A}"/>
              </a:ext>
            </a:extLst>
          </p:cNvPr>
          <p:cNvSpPr/>
          <p:nvPr/>
        </p:nvSpPr>
        <p:spPr>
          <a:xfrm>
            <a:off x="6743700" y="3886200"/>
            <a:ext cx="1066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19481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选择题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AutoNum type="arabicPeriod"/>
            </a:pPr>
            <a:r>
              <a:rPr lang="en-US" altLang="zh-CN" sz="3000" dirty="0"/>
              <a:t> 	A </a:t>
            </a:r>
            <a:r>
              <a:rPr lang="zh-CN" altLang="en-US" sz="3000" dirty="0"/>
              <a:t>醛的官能团</a:t>
            </a:r>
            <a:r>
              <a:rPr lang="en-US" altLang="zh-CN" sz="3000" dirty="0"/>
              <a:t>-CHO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	B </a:t>
            </a:r>
            <a:r>
              <a:rPr lang="zh-CN" altLang="en-US" sz="3000" dirty="0"/>
              <a:t>甲醛不含烃基</a:t>
            </a:r>
            <a:endParaRPr lang="en-MY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en-MY" altLang="zh-CN" sz="3000" dirty="0"/>
              <a:t>	</a:t>
            </a:r>
            <a:r>
              <a:rPr lang="en-US" altLang="zh-CN" sz="3000" dirty="0"/>
              <a:t>D </a:t>
            </a:r>
            <a:r>
              <a:rPr lang="zh-CN" altLang="en-US" sz="3000" dirty="0"/>
              <a:t>一元饱和脂肪醛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</a:t>
            </a:r>
            <a:r>
              <a:rPr lang="en-US" altLang="zh-CN" sz="3000" dirty="0"/>
              <a:t>O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Ans: C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2. C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600"/>
              </a:spcBef>
              <a:buAutoNum type="arabicPeriod"/>
            </a:pP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4739182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选择题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8686800" cy="5715000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3000" dirty="0"/>
                  <a:t>3. </a:t>
                </a:r>
                <a:r>
                  <a:rPr lang="zh-CN" altLang="en-US" sz="3000" dirty="0"/>
                  <a:t>设乙醛</a:t>
                </a:r>
                <a:r>
                  <a:rPr lang="en-MY" altLang="zh-CN" sz="3000" dirty="0"/>
                  <a:t>CH</a:t>
                </a:r>
                <a:r>
                  <a:rPr lang="en-MY" altLang="zh-CN" sz="3000" baseline="-25000" dirty="0"/>
                  <a:t>3</a:t>
                </a:r>
                <a:r>
                  <a:rPr lang="en-MY" altLang="zh-CN" sz="3000" dirty="0"/>
                  <a:t>CHO </a:t>
                </a:r>
                <a:r>
                  <a:rPr lang="zh-CN" altLang="en-US" sz="3000" dirty="0"/>
                  <a:t>占</a:t>
                </a:r>
                <a:r>
                  <a:rPr lang="en-US" altLang="zh-CN" sz="3000" dirty="0" err="1"/>
                  <a:t>aL</a:t>
                </a:r>
                <a:r>
                  <a:rPr lang="zh-CN" altLang="en-US" sz="3000" dirty="0"/>
                  <a:t>，乙炔</a:t>
                </a:r>
                <a:r>
                  <a:rPr lang="en-MY" altLang="zh-CN" sz="3000" dirty="0"/>
                  <a:t>C</a:t>
                </a:r>
                <a:r>
                  <a:rPr lang="en-MY" altLang="zh-CN" sz="3000" baseline="-25000" dirty="0"/>
                  <a:t>2</a:t>
                </a:r>
                <a:r>
                  <a:rPr lang="en-MY" altLang="zh-CN" sz="3000" dirty="0"/>
                  <a:t>H</a:t>
                </a:r>
                <a:r>
                  <a:rPr lang="en-MY" altLang="zh-CN" sz="3000" baseline="-25000" dirty="0"/>
                  <a:t>2</a:t>
                </a:r>
                <a:r>
                  <a:rPr lang="zh-CN" altLang="en-US" sz="3000" dirty="0"/>
                  <a:t>占</a:t>
                </a:r>
                <a:r>
                  <a:rPr lang="en-US" altLang="zh-CN" sz="3000" dirty="0" err="1"/>
                  <a:t>bL</a:t>
                </a:r>
                <a:endParaRPr lang="en-US" altLang="zh-CN" sz="3000" dirty="0"/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+24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44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+26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altLang="zh-CN" sz="3000" dirty="0"/>
                  <a:t>x100% = 72%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zh-CN" altLang="en-US" sz="3000" dirty="0"/>
                  <a:t>解得：</a:t>
                </a:r>
                <a:r>
                  <a:rPr lang="en-MY" altLang="zh-CN" sz="3000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MY" altLang="zh-CN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3000" i="1"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altLang="zh-CN" sz="3000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b="0" i="1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MY" altLang="zh-CN" sz="3000" b="0" i="1" dirty="0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en-US" altLang="zh-CN" sz="3000" dirty="0"/>
                  <a:t> 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zh-CN" altLang="en-US" sz="3000" dirty="0"/>
                  <a:t>混合气体中氧的质量百分比</a:t>
                </a:r>
                <a:r>
                  <a:rPr lang="en-US" altLang="zh-CN" sz="30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US" altLang="zh-CN" sz="3000" i="1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44</m:t>
                        </m:r>
                        <m:r>
                          <m:rPr>
                            <m:sty m:val="p"/>
                          </m:rPr>
                          <a:rPr lang="en-US" altLang="zh-CN" sz="30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11+26</m:t>
                        </m:r>
                        <m:r>
                          <m:rPr>
                            <m:sty m:val="p"/>
                          </m:rPr>
                          <a:rPr lang="en-US" altLang="zh-CN" sz="30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en-US" altLang="zh-CN" sz="3000" dirty="0"/>
                  <a:t>x100%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3000" dirty="0"/>
                  <a:t>					= 19.56%		Ans: A 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endParaRPr lang="en-US" altLang="zh-CN" sz="3000" dirty="0"/>
              </a:p>
              <a:p>
                <a:pPr marL="0" indent="0">
                  <a:spcBef>
                    <a:spcPts val="600"/>
                  </a:spcBef>
                  <a:buNone/>
                </a:pPr>
                <a:endParaRPr lang="en-US" altLang="zh-CN" sz="3000" dirty="0"/>
              </a:p>
              <a:p>
                <a:pPr marL="514350" indent="-514350">
                  <a:spcBef>
                    <a:spcPts val="600"/>
                  </a:spcBef>
                  <a:buAutoNum type="arabicPeriod"/>
                </a:pPr>
                <a:endParaRPr lang="en-US" altLang="zh-CN" sz="3000" dirty="0"/>
              </a:p>
              <a:p>
                <a:pPr>
                  <a:spcBef>
                    <a:spcPts val="600"/>
                  </a:spcBef>
                  <a:buNone/>
                </a:pPr>
                <a:endParaRPr lang="en-US" altLang="zh-CN" sz="3000" dirty="0"/>
              </a:p>
              <a:p>
                <a:pPr lvl="1">
                  <a:spcBef>
                    <a:spcPts val="600"/>
                  </a:spcBef>
                  <a:buNone/>
                </a:pPr>
                <a:endParaRPr lang="en-US" altLang="zh-CN" sz="3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8686800" cy="5715000"/>
              </a:xfrm>
              <a:blipFill>
                <a:blip r:embed="rId3"/>
                <a:stretch>
                  <a:fillRect l="-1614" t="-1814" r="-14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52249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选择题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4. B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3000" dirty="0"/>
              <a:t>能与托伦试剂发生银镜反应的是丙醛，能使溴的</a:t>
            </a:r>
            <a:r>
              <a:rPr lang="en-US" altLang="zh-CN" sz="3000" dirty="0"/>
              <a:t>CCl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</a:t>
            </a:r>
            <a:r>
              <a:rPr lang="zh-CN" altLang="en-US" sz="3000" dirty="0"/>
              <a:t>溶液褪色的是</a:t>
            </a:r>
            <a:r>
              <a:rPr lang="en-US" altLang="zh-CN" sz="3000" dirty="0"/>
              <a:t>1-</a:t>
            </a:r>
            <a:r>
              <a:rPr lang="zh-CN" altLang="en-US" sz="3000" dirty="0"/>
              <a:t>己烯。</a:t>
            </a:r>
            <a:endParaRPr lang="en-MY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3000" dirty="0"/>
              <a:t>甲苯与液溴反应需光照或</a:t>
            </a:r>
            <a:r>
              <a:rPr lang="en-US" altLang="zh-CN" sz="3000" dirty="0"/>
              <a:t>FeBr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</a:t>
            </a:r>
            <a:r>
              <a:rPr lang="zh-CN" altLang="en-US" sz="3000" dirty="0"/>
              <a:t>作催化剂。</a:t>
            </a:r>
            <a:endParaRPr lang="en-MY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5. A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B </a:t>
            </a:r>
            <a:r>
              <a:rPr lang="zh-CN" altLang="en-US" sz="3000" dirty="0"/>
              <a:t>酮不能发生银镜反应</a:t>
            </a:r>
            <a:endParaRPr lang="en-MY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C </a:t>
            </a:r>
            <a:r>
              <a:rPr lang="zh-CN" altLang="en-US" sz="3000" dirty="0"/>
              <a:t>含</a:t>
            </a:r>
            <a:r>
              <a:rPr lang="en-US" altLang="zh-CN" sz="3000" dirty="0"/>
              <a:t>C=C</a:t>
            </a:r>
            <a:r>
              <a:rPr lang="zh-CN" altLang="en-US" sz="3000" dirty="0"/>
              <a:t>能发生加成也能被氧化</a:t>
            </a:r>
            <a:endParaRPr lang="en-MY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D 1mol</a:t>
            </a:r>
            <a:r>
              <a:rPr lang="zh-CN" altLang="en-US" sz="3000" dirty="0"/>
              <a:t>该有机物能与</a:t>
            </a:r>
            <a:r>
              <a:rPr lang="en-US" altLang="zh-CN" sz="3000" dirty="0"/>
              <a:t>3molH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zh-CN" altLang="en-US" sz="3000" dirty="0"/>
              <a:t>反应。（</a:t>
            </a:r>
            <a:r>
              <a:rPr lang="en-US" altLang="zh-CN" sz="3000" dirty="0"/>
              <a:t>2</a:t>
            </a:r>
            <a:r>
              <a:rPr lang="zh-CN" altLang="en-US" sz="3000" dirty="0"/>
              <a:t>个</a:t>
            </a:r>
            <a:r>
              <a:rPr lang="en-US" altLang="zh-CN" sz="3000" dirty="0"/>
              <a:t>C=C</a:t>
            </a:r>
            <a:r>
              <a:rPr lang="zh-CN" altLang="en-US" sz="3000" dirty="0"/>
              <a:t>，</a:t>
            </a:r>
            <a:r>
              <a:rPr lang="en-US" altLang="zh-CN" sz="3000" dirty="0"/>
              <a:t>1</a:t>
            </a:r>
            <a:r>
              <a:rPr lang="zh-CN" altLang="en-US" sz="3000" dirty="0"/>
              <a:t>个羰基）</a:t>
            </a:r>
            <a:endParaRPr lang="en-US" altLang="zh-CN" sz="3000" dirty="0"/>
          </a:p>
          <a:p>
            <a:pPr marL="514350" indent="-514350">
              <a:spcBef>
                <a:spcPts val="600"/>
              </a:spcBef>
              <a:buAutoNum type="arabicPeriod"/>
            </a:pP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endParaRPr lang="en-US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2893075257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选择题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8686800" cy="5715000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3000" dirty="0"/>
                  <a:t>6. </a:t>
                </a:r>
                <a:r>
                  <a:rPr lang="zh-CN" altLang="en-US" sz="30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题目：</a:t>
                </a:r>
                <a:r>
                  <a:rPr lang="en-US" altLang="zh-CN" sz="30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3g</a:t>
                </a:r>
                <a:r>
                  <a:rPr lang="zh-CN" altLang="en-US" sz="30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改成</a:t>
                </a:r>
                <a:r>
                  <a:rPr lang="en-US" altLang="zh-CN" sz="30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6g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3000" dirty="0"/>
                  <a:t>	RCHO  </a:t>
                </a:r>
                <a:r>
                  <a:rPr lang="en-US" altLang="zh-CN" sz="3000" dirty="0">
                    <a:sym typeface="Wingdings" panose="05000000000000000000" pitchFamily="2" charset="2"/>
                  </a:rPr>
                  <a:t>    2  Ag 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3000" dirty="0">
                    <a:sym typeface="Wingdings" panose="05000000000000000000" pitchFamily="2" charset="2"/>
                  </a:rPr>
                  <a:t>	</a:t>
                </a:r>
                <a:r>
                  <a:rPr lang="en-US" altLang="zh-CN" sz="3000" dirty="0" err="1">
                    <a:sym typeface="Wingdings" panose="05000000000000000000" pitchFamily="2" charset="2"/>
                  </a:rPr>
                  <a:t>xmol</a:t>
                </a:r>
                <a:r>
                  <a:rPr lang="en-US" altLang="zh-CN" sz="3000" dirty="0">
                    <a:sym typeface="Wingdings" panose="05000000000000000000" pitchFamily="2" charset="2"/>
                  </a:rPr>
                  <a:t>		43.2g</a:t>
                </a:r>
                <a:endParaRPr lang="en-US" altLang="zh-CN" sz="3000" dirty="0"/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3000" dirty="0">
                    <a:sym typeface="Wingdings" panose="05000000000000000000" pitchFamily="2" charset="2"/>
                  </a:rPr>
                  <a:t>	1mol		2x108g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3000" dirty="0">
                    <a:sym typeface="Wingdings" panose="05000000000000000000" pitchFamily="2" charset="2"/>
                  </a:rPr>
                  <a:t>	x=0.2mol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3000" dirty="0">
                    <a:sym typeface="Wingdings" panose="05000000000000000000" pitchFamily="2" charset="2"/>
                  </a:rPr>
                  <a:t>M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MY" altLang="zh-CN" sz="3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6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𝑔</m:t>
                        </m:r>
                      </m:num>
                      <m:den>
                        <m:r>
                          <a:rPr lang="en-MY" altLang="zh-CN" sz="3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0.2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altLang="zh-CN" sz="3000" dirty="0"/>
                  <a:t> =30g/mol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3000" dirty="0"/>
                  <a:t>Ans:  D </a:t>
                </a:r>
              </a:p>
              <a:p>
                <a:pPr>
                  <a:spcBef>
                    <a:spcPts val="600"/>
                  </a:spcBef>
                  <a:buNone/>
                </a:pPr>
                <a:endParaRPr lang="en-US" altLang="zh-CN" sz="3000" dirty="0"/>
              </a:p>
              <a:p>
                <a:pPr lvl="1">
                  <a:spcBef>
                    <a:spcPts val="600"/>
                  </a:spcBef>
                  <a:buNone/>
                </a:pPr>
                <a:endParaRPr lang="en-US" altLang="zh-CN" sz="3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8686800" cy="5715000"/>
              </a:xfrm>
              <a:blipFill>
                <a:blip r:embed="rId3"/>
                <a:stretch>
                  <a:fillRect l="-1614" t="-192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10280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选择题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7150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7. </a:t>
            </a:r>
            <a:r>
              <a:rPr lang="zh-CN" altLang="en-US" sz="3000" dirty="0"/>
              <a:t>碘仿反应</a:t>
            </a:r>
            <a:r>
              <a:rPr lang="en-MY" altLang="zh-CN" sz="3000" dirty="0"/>
              <a:t>:</a:t>
            </a:r>
            <a:r>
              <a:rPr lang="zh-CN" altLang="en-US" sz="3000" dirty="0"/>
              <a:t>需含有</a:t>
            </a:r>
            <a:r>
              <a:rPr lang="en-US" altLang="zh-CN" sz="3000" dirty="0"/>
              <a:t>3</a:t>
            </a:r>
            <a:r>
              <a:rPr lang="zh-CN" altLang="en-US" sz="3000" dirty="0"/>
              <a:t>个</a:t>
            </a:r>
            <a:r>
              <a:rPr lang="el-GR" altLang="zh-CN" sz="3000" dirty="0"/>
              <a:t>α</a:t>
            </a:r>
            <a:r>
              <a:rPr lang="en-US" altLang="zh-CN" sz="3000" dirty="0"/>
              <a:t>-H</a:t>
            </a:r>
            <a:r>
              <a:rPr lang="zh-CN" altLang="en-US" sz="3000" dirty="0"/>
              <a:t>的醛或酮，或</a:t>
            </a:r>
            <a:r>
              <a:rPr lang="en-MY" altLang="zh-CN" sz="3000" dirty="0"/>
              <a:t> –CH(OH)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	Ans: C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8. B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9. C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10. B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3000" dirty="0"/>
              <a:t>某些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(H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O)</a:t>
            </a:r>
            <a:r>
              <a:rPr lang="en-US" altLang="zh-CN" sz="3000" baseline="-25000" dirty="0"/>
              <a:t>m</a:t>
            </a:r>
            <a:r>
              <a:rPr lang="zh-CN" altLang="en-US" sz="3000" dirty="0"/>
              <a:t>不是糖类、某些糖类并不符合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(H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O)</a:t>
            </a:r>
            <a:r>
              <a:rPr lang="en-US" altLang="zh-CN" sz="3000" baseline="-25000" dirty="0"/>
              <a:t>m</a:t>
            </a:r>
            <a:r>
              <a:rPr lang="en-US" altLang="zh-CN" sz="3000" dirty="0"/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11. 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12. A </a:t>
            </a:r>
            <a:r>
              <a:rPr lang="zh-CN" altLang="en-US" sz="3000" dirty="0"/>
              <a:t>葡萄糖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12</a:t>
            </a:r>
            <a:r>
              <a:rPr lang="en-US" altLang="zh-CN" sz="3000" dirty="0"/>
              <a:t>O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 	</a:t>
            </a:r>
            <a:r>
              <a:rPr lang="zh-CN" altLang="en-US" sz="3000" dirty="0"/>
              <a:t>蔗糖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12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22</a:t>
            </a:r>
            <a:r>
              <a:rPr lang="en-US" altLang="zh-CN" sz="3000" dirty="0"/>
              <a:t>O</a:t>
            </a:r>
            <a:r>
              <a:rPr lang="en-US" altLang="zh-CN" sz="3000" baseline="-25000" dirty="0"/>
              <a:t>11</a:t>
            </a:r>
            <a:r>
              <a:rPr lang="en-US" altLang="zh-CN" sz="3000" dirty="0"/>
              <a:t> 	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	180				342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13.A </a:t>
            </a:r>
            <a:r>
              <a:rPr lang="zh-CN" altLang="en-US" sz="3000" dirty="0"/>
              <a:t>缩合聚合反应，不是化合反应（无机化学）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993216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作答题（</a:t>
            </a:r>
            <a:r>
              <a:rPr lang="en-US" altLang="zh-CN" sz="4000" b="1" dirty="0">
                <a:latin typeface="+mn-ea"/>
              </a:rPr>
              <a:t>2</a:t>
            </a:r>
            <a:r>
              <a:rPr lang="zh-CN" altLang="en-US" sz="4000" b="1" dirty="0">
                <a:latin typeface="+mn-ea"/>
              </a:rPr>
              <a:t>，</a:t>
            </a:r>
            <a:r>
              <a:rPr lang="en-US" altLang="zh-CN" sz="4000" b="1" dirty="0">
                <a:latin typeface="+mn-ea"/>
              </a:rPr>
              <a:t>3</a:t>
            </a:r>
            <a:r>
              <a:rPr lang="zh-CN" altLang="en-US" sz="4000" b="1" dirty="0">
                <a:latin typeface="+mn-ea"/>
              </a:rPr>
              <a:t>，</a:t>
            </a:r>
            <a:r>
              <a:rPr lang="en-US" altLang="zh-CN" sz="4000" b="1" dirty="0">
                <a:latin typeface="+mn-ea"/>
              </a:rPr>
              <a:t>5</a:t>
            </a:r>
            <a:r>
              <a:rPr lang="zh-CN" altLang="en-US" sz="4000" b="1" dirty="0">
                <a:latin typeface="+mn-ea"/>
              </a:rPr>
              <a:t>，</a:t>
            </a:r>
            <a:r>
              <a:rPr lang="en-US" altLang="zh-CN" sz="4000" b="1" dirty="0">
                <a:latin typeface="+mn-ea"/>
              </a:rPr>
              <a:t>7</a:t>
            </a:r>
            <a:r>
              <a:rPr lang="zh-CN" altLang="en-US" sz="4000" b="1" dirty="0">
                <a:latin typeface="+mn-ea"/>
              </a:rPr>
              <a:t>）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US" altLang="zh-CN" sz="3000" dirty="0"/>
              <a:t>C</a:t>
            </a:r>
            <a:r>
              <a:rPr lang="en-US" altLang="zh-CN" sz="3000" baseline="-25000" dirty="0"/>
              <a:t>5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10</a:t>
            </a:r>
            <a:r>
              <a:rPr lang="en-US" altLang="zh-CN" sz="3000" dirty="0"/>
              <a:t>O </a:t>
            </a:r>
            <a:r>
              <a:rPr lang="zh-CN" altLang="en-US" sz="3000" dirty="0"/>
              <a:t>醛类有</a:t>
            </a:r>
            <a:r>
              <a:rPr lang="en-US" altLang="zh-CN" sz="3000" dirty="0"/>
              <a:t>4</a:t>
            </a:r>
            <a:r>
              <a:rPr lang="zh-CN" altLang="en-US" sz="3000" dirty="0"/>
              <a:t>种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3000" dirty="0"/>
              <a:t>（戊醛、</a:t>
            </a:r>
            <a:r>
              <a:rPr lang="en-US" altLang="zh-CN" sz="3000" dirty="0"/>
              <a:t>2-</a:t>
            </a:r>
            <a:r>
              <a:rPr lang="zh-CN" altLang="en-US" sz="3000" dirty="0"/>
              <a:t>甲基丁醛、</a:t>
            </a:r>
            <a:r>
              <a:rPr lang="en-US" altLang="zh-CN" sz="3000" dirty="0"/>
              <a:t>3-</a:t>
            </a:r>
            <a:r>
              <a:rPr lang="zh-CN" altLang="en-US" sz="3000" dirty="0"/>
              <a:t>甲基丁醛、</a:t>
            </a:r>
            <a:r>
              <a:rPr lang="en-US" altLang="zh-CN" sz="3000" dirty="0"/>
              <a:t>2,2-</a:t>
            </a:r>
            <a:r>
              <a:rPr lang="zh-CN" altLang="en-US" sz="3000" dirty="0"/>
              <a:t>二甲基丙醛）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000" dirty="0"/>
              <a:t>C</a:t>
            </a:r>
            <a:r>
              <a:rPr lang="en-US" altLang="zh-CN" sz="3000" baseline="-25000" dirty="0"/>
              <a:t>5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10</a:t>
            </a:r>
            <a:r>
              <a:rPr lang="en-US" altLang="zh-CN" sz="3000" dirty="0"/>
              <a:t>O </a:t>
            </a:r>
            <a:r>
              <a:rPr lang="zh-CN" altLang="en-US" sz="3000" dirty="0"/>
              <a:t>的</a:t>
            </a:r>
            <a:r>
              <a:rPr lang="en-US" altLang="zh-CN" sz="3000" dirty="0"/>
              <a:t>3</a:t>
            </a:r>
            <a:r>
              <a:rPr lang="zh-CN" altLang="en-US" sz="3000" dirty="0"/>
              <a:t>种酮类：</a:t>
            </a:r>
            <a:r>
              <a:rPr lang="en-US" altLang="zh-CN" sz="3000" dirty="0"/>
              <a:t>2-</a:t>
            </a:r>
            <a:r>
              <a:rPr lang="zh-CN" altLang="en-US" sz="3000" dirty="0"/>
              <a:t>戊酮、</a:t>
            </a:r>
            <a:r>
              <a:rPr lang="en-US" altLang="zh-CN" sz="3000" dirty="0"/>
              <a:t>3-</a:t>
            </a:r>
            <a:r>
              <a:rPr lang="zh-CN" altLang="en-US" sz="3000" dirty="0"/>
              <a:t>戊酮、</a:t>
            </a:r>
            <a:r>
              <a:rPr lang="en-US" altLang="zh-CN" sz="3000" dirty="0"/>
              <a:t>3-</a:t>
            </a:r>
            <a:r>
              <a:rPr lang="zh-CN" altLang="en-US" sz="3000" dirty="0"/>
              <a:t>甲基</a:t>
            </a:r>
            <a:r>
              <a:rPr lang="en-US" altLang="zh-CN" sz="3000" dirty="0"/>
              <a:t>-2-</a:t>
            </a:r>
            <a:r>
              <a:rPr lang="zh-CN" altLang="en-US" sz="3000" dirty="0"/>
              <a:t>丁酮</a:t>
            </a:r>
            <a:endParaRPr lang="en-MY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000" dirty="0"/>
              <a:t>3. </a:t>
            </a:r>
            <a:r>
              <a:rPr lang="zh-CN" altLang="en-US" sz="3000" dirty="0"/>
              <a:t>答案提示：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3000" dirty="0"/>
              <a:t>乙烯</a:t>
            </a:r>
            <a:r>
              <a:rPr lang="en-US" altLang="zh-CN" sz="3000" dirty="0">
                <a:sym typeface="Wingdings" panose="05000000000000000000" pitchFamily="2" charset="2"/>
              </a:rPr>
              <a:t> </a:t>
            </a:r>
            <a:r>
              <a:rPr lang="zh-CN" altLang="en-US" sz="3000" dirty="0">
                <a:sym typeface="Wingdings" panose="05000000000000000000" pitchFamily="2" charset="2"/>
              </a:rPr>
              <a:t>氯乙烷</a:t>
            </a:r>
            <a:r>
              <a:rPr lang="en-US" altLang="zh-CN" sz="3000" dirty="0">
                <a:sym typeface="Wingdings" panose="05000000000000000000" pitchFamily="2" charset="2"/>
              </a:rPr>
              <a:t></a:t>
            </a:r>
            <a:r>
              <a:rPr lang="zh-CN" altLang="en-US" sz="3000" dirty="0">
                <a:sym typeface="Wingdings" panose="05000000000000000000" pitchFamily="2" charset="2"/>
              </a:rPr>
              <a:t>乙醇</a:t>
            </a:r>
            <a:r>
              <a:rPr lang="en-US" altLang="zh-CN" sz="3000" dirty="0">
                <a:sym typeface="Wingdings" panose="05000000000000000000" pitchFamily="2" charset="2"/>
              </a:rPr>
              <a:t></a:t>
            </a:r>
            <a:r>
              <a:rPr lang="zh-CN" altLang="en-US" sz="3000" dirty="0">
                <a:sym typeface="Wingdings" panose="05000000000000000000" pitchFamily="2" charset="2"/>
              </a:rPr>
              <a:t>乙醛</a:t>
            </a:r>
            <a:r>
              <a:rPr lang="en-US" altLang="zh-CN" sz="3000" dirty="0">
                <a:sym typeface="Wingdings" panose="05000000000000000000" pitchFamily="2" charset="2"/>
              </a:rPr>
              <a:t>3-</a:t>
            </a:r>
            <a:r>
              <a:rPr lang="zh-CN" altLang="en-US" sz="3000" dirty="0">
                <a:sym typeface="Wingdings" panose="05000000000000000000" pitchFamily="2" charset="2"/>
              </a:rPr>
              <a:t>羟基丁醛</a:t>
            </a:r>
            <a:r>
              <a:rPr lang="en-US" altLang="zh-CN" sz="3000" dirty="0">
                <a:sym typeface="Wingdings" panose="05000000000000000000" pitchFamily="2" charset="2"/>
              </a:rPr>
              <a:t>2-</a:t>
            </a:r>
            <a:r>
              <a:rPr lang="zh-CN" altLang="en-US" sz="3000" dirty="0">
                <a:sym typeface="Wingdings" panose="05000000000000000000" pitchFamily="2" charset="2"/>
              </a:rPr>
              <a:t>丁烯醛</a:t>
            </a:r>
            <a:r>
              <a:rPr lang="en-US" altLang="zh-CN" sz="3000" dirty="0">
                <a:sym typeface="Wingdings" panose="05000000000000000000" pitchFamily="2" charset="2"/>
              </a:rPr>
              <a:t></a:t>
            </a:r>
            <a:r>
              <a:rPr lang="zh-CN" altLang="en-US" sz="3000" dirty="0">
                <a:sym typeface="Wingdings" panose="05000000000000000000" pitchFamily="2" charset="2"/>
              </a:rPr>
              <a:t>丁醛</a:t>
            </a:r>
            <a:r>
              <a:rPr lang="en-US" altLang="zh-CN" sz="3000" dirty="0">
                <a:sym typeface="Wingdings" panose="05000000000000000000" pitchFamily="2" charset="2"/>
              </a:rPr>
              <a:t>1-</a:t>
            </a:r>
            <a:r>
              <a:rPr lang="zh-CN" altLang="en-US" sz="3000" dirty="0">
                <a:sym typeface="Wingdings" panose="05000000000000000000" pitchFamily="2" charset="2"/>
              </a:rPr>
              <a:t>丁醇</a:t>
            </a:r>
            <a:endParaRPr lang="en-MY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  <a:p>
            <a:pPr lvl="1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4902202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作答题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dirty="0"/>
              <a:t>4. 			 OCH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endParaRPr lang="en-US" altLang="zh-CN" sz="30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/>
              <a:t>	BrCH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CH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000" dirty="0"/>
              <a:t>				 OCH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/>
              <a:t>			 OCH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endParaRPr lang="en-US" altLang="zh-CN" sz="30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/>
              <a:t>      BrMgCH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CH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000" dirty="0"/>
              <a:t>				 OCH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/>
              <a:t>			   OCH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endParaRPr lang="en-US" altLang="zh-CN" sz="30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/>
              <a:t> 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COCH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000" dirty="0"/>
              <a:t>				   OCH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</a:t>
            </a:r>
          </a:p>
          <a:p>
            <a:pPr>
              <a:spcBef>
                <a:spcPts val="0"/>
              </a:spcBef>
              <a:buNone/>
            </a:pPr>
            <a:endParaRPr lang="en-US" altLang="zh-CN" sz="3000" dirty="0"/>
          </a:p>
          <a:p>
            <a:pPr>
              <a:spcBef>
                <a:spcPts val="0"/>
              </a:spcBef>
              <a:buNone/>
            </a:pP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COCH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CHO</a:t>
            </a:r>
          </a:p>
          <a:p>
            <a:pPr lvl="1">
              <a:spcBef>
                <a:spcPts val="0"/>
              </a:spcBef>
              <a:buNone/>
            </a:pPr>
            <a:endParaRPr lang="en-US" altLang="zh-CN" sz="3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2B6A49-CB3A-460E-ABDB-EC845B1FF68B}"/>
              </a:ext>
            </a:extLst>
          </p:cNvPr>
          <p:cNvCxnSpPr>
            <a:cxnSpLocks/>
          </p:cNvCxnSpPr>
          <p:nvPr/>
        </p:nvCxnSpPr>
        <p:spPr>
          <a:xfrm>
            <a:off x="3124200" y="2057400"/>
            <a:ext cx="152400" cy="1524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06E721-521C-40C4-B44D-E55136D0C9FE}"/>
              </a:ext>
            </a:extLst>
          </p:cNvPr>
          <p:cNvCxnSpPr>
            <a:cxnSpLocks/>
          </p:cNvCxnSpPr>
          <p:nvPr/>
        </p:nvCxnSpPr>
        <p:spPr>
          <a:xfrm flipV="1">
            <a:off x="3048000" y="1524000"/>
            <a:ext cx="152400" cy="2286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04BDB8-96DF-4BA5-9726-E9E189FCBFD6}"/>
              </a:ext>
            </a:extLst>
          </p:cNvPr>
          <p:cNvCxnSpPr>
            <a:cxnSpLocks/>
          </p:cNvCxnSpPr>
          <p:nvPr/>
        </p:nvCxnSpPr>
        <p:spPr>
          <a:xfrm>
            <a:off x="3200400" y="3429000"/>
            <a:ext cx="152400" cy="1524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A4E8F2-4911-43DD-9F69-DF2D7D9C0926}"/>
              </a:ext>
            </a:extLst>
          </p:cNvPr>
          <p:cNvCxnSpPr>
            <a:cxnSpLocks/>
          </p:cNvCxnSpPr>
          <p:nvPr/>
        </p:nvCxnSpPr>
        <p:spPr>
          <a:xfrm flipV="1">
            <a:off x="3124200" y="2895600"/>
            <a:ext cx="152400" cy="2286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7A96C8-2E97-4870-9CFF-4487CD80BF7B}"/>
              </a:ext>
            </a:extLst>
          </p:cNvPr>
          <p:cNvCxnSpPr>
            <a:cxnSpLocks/>
          </p:cNvCxnSpPr>
          <p:nvPr/>
        </p:nvCxnSpPr>
        <p:spPr>
          <a:xfrm>
            <a:off x="3352800" y="4800600"/>
            <a:ext cx="152400" cy="1524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9D8F1DC-46C1-4540-9B7E-7D5883BCC7C9}"/>
              </a:ext>
            </a:extLst>
          </p:cNvPr>
          <p:cNvCxnSpPr>
            <a:cxnSpLocks/>
          </p:cNvCxnSpPr>
          <p:nvPr/>
        </p:nvCxnSpPr>
        <p:spPr>
          <a:xfrm flipV="1">
            <a:off x="3276600" y="4267200"/>
            <a:ext cx="152400" cy="2286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2071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作答题（</a:t>
            </a:r>
            <a:r>
              <a:rPr lang="en-US" altLang="zh-CN" sz="4000" b="1" dirty="0">
                <a:latin typeface="+mn-ea"/>
              </a:rPr>
              <a:t>2</a:t>
            </a:r>
            <a:r>
              <a:rPr lang="zh-CN" altLang="en-US" sz="4000" b="1" dirty="0">
                <a:latin typeface="+mn-ea"/>
              </a:rPr>
              <a:t>，</a:t>
            </a:r>
            <a:r>
              <a:rPr lang="en-US" altLang="zh-CN" sz="4000" b="1" dirty="0">
                <a:latin typeface="+mn-ea"/>
              </a:rPr>
              <a:t>3</a:t>
            </a:r>
            <a:r>
              <a:rPr lang="zh-CN" altLang="en-US" sz="4000" b="1" dirty="0">
                <a:latin typeface="+mn-ea"/>
              </a:rPr>
              <a:t>，</a:t>
            </a:r>
            <a:r>
              <a:rPr lang="en-US" altLang="zh-CN" sz="4000" b="1" dirty="0">
                <a:latin typeface="+mn-ea"/>
              </a:rPr>
              <a:t>5</a:t>
            </a:r>
            <a:r>
              <a:rPr lang="zh-CN" altLang="en-US" sz="4000" b="1" dirty="0">
                <a:latin typeface="+mn-ea"/>
              </a:rPr>
              <a:t>，</a:t>
            </a:r>
            <a:r>
              <a:rPr lang="en-US" altLang="zh-CN" sz="4000" b="1" dirty="0">
                <a:latin typeface="+mn-ea"/>
              </a:rPr>
              <a:t>7</a:t>
            </a:r>
            <a:r>
              <a:rPr lang="zh-CN" altLang="en-US" sz="4000" b="1" dirty="0">
                <a:latin typeface="+mn-ea"/>
              </a:rPr>
              <a:t>）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8686800" cy="571500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  <a:buNone/>
                </a:pPr>
                <a:r>
                  <a:rPr lang="en-US" altLang="zh-CN" sz="3000" dirty="0"/>
                  <a:t>5. </a:t>
                </a:r>
                <a:r>
                  <a:rPr lang="zh-CN" altLang="en-US" sz="3000" dirty="0"/>
                  <a:t>设该有机物为</a:t>
                </a:r>
                <a:r>
                  <a:rPr lang="en-US" altLang="zh-CN" sz="3000" dirty="0"/>
                  <a:t>X</a:t>
                </a:r>
              </a:p>
              <a:p>
                <a:pPr>
                  <a:spcBef>
                    <a:spcPts val="600"/>
                  </a:spcBef>
                  <a:buNone/>
                </a:pPr>
                <a:r>
                  <a:rPr lang="en-US" altLang="zh-CN" sz="3000" dirty="0"/>
                  <a:t>M</a:t>
                </a:r>
                <a:r>
                  <a:rPr lang="en-US" altLang="zh-CN" sz="3000" baseline="-25000" dirty="0"/>
                  <a:t>X</a:t>
                </a:r>
                <a:r>
                  <a:rPr lang="en-US" altLang="zh-CN" sz="3000" dirty="0"/>
                  <a:t> = 29x2 g/mol </a:t>
                </a:r>
              </a:p>
              <a:p>
                <a:pPr>
                  <a:spcBef>
                    <a:spcPts val="600"/>
                  </a:spcBef>
                  <a:buNone/>
                </a:pPr>
                <a:r>
                  <a:rPr lang="en-US" altLang="zh-CN" sz="3000" dirty="0"/>
                  <a:t>	  =58g/mol</a:t>
                </a:r>
              </a:p>
              <a:p>
                <a:pPr>
                  <a:spcBef>
                    <a:spcPts val="600"/>
                  </a:spcBef>
                  <a:buNone/>
                </a:pPr>
                <a:r>
                  <a:rPr lang="en-US" altLang="zh-CN" sz="3000" dirty="0" err="1"/>
                  <a:t>n</a:t>
                </a:r>
                <a:r>
                  <a:rPr lang="en-US" altLang="zh-CN" sz="3000" baseline="-25000" dirty="0" err="1"/>
                  <a:t>x</a:t>
                </a:r>
                <a:r>
                  <a:rPr lang="en-US" altLang="zh-CN" sz="3000" baseline="-25000" dirty="0"/>
                  <a:t> </a:t>
                </a:r>
                <a:r>
                  <a:rPr lang="en-US" altLang="zh-CN" sz="30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2.9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58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altLang="zh-CN" sz="3000" dirty="0"/>
                  <a:t> = 0.05mol</a:t>
                </a:r>
              </a:p>
              <a:p>
                <a:pPr>
                  <a:spcBef>
                    <a:spcPts val="600"/>
                  </a:spcBef>
                  <a:buNone/>
                </a:pPr>
                <a:r>
                  <a:rPr lang="en-US" altLang="zh-CN" sz="3000" dirty="0"/>
                  <a:t>n(CO</a:t>
                </a:r>
                <a:r>
                  <a:rPr lang="en-US" altLang="zh-CN" sz="3000" baseline="-25000" dirty="0"/>
                  <a:t>2</a:t>
                </a:r>
                <a:r>
                  <a:rPr lang="en-US" altLang="zh-CN" sz="3000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3.36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22.4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  <m:r>
                      <a:rPr lang="en-MY" altLang="zh-CN" sz="3000" b="0" i="1" smtClean="0">
                        <a:latin typeface="Cambria Math" panose="02040503050406030204" pitchFamily="18" charset="0"/>
                      </a:rPr>
                      <m:t>=0.15</m:t>
                    </m:r>
                    <m:r>
                      <a:rPr lang="en-MY" altLang="zh-CN" sz="3000" b="0" i="1" smtClean="0">
                        <a:latin typeface="Cambria Math" panose="02040503050406030204" pitchFamily="18" charset="0"/>
                      </a:rPr>
                      <m:t>𝑚𝑜𝑙</m:t>
                    </m:r>
                    <m:r>
                      <a:rPr lang="en-MY" altLang="zh-CN" sz="3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MY" altLang="zh-CN" sz="3000" b="0" dirty="0"/>
              </a:p>
              <a:p>
                <a:pPr>
                  <a:spcBef>
                    <a:spcPts val="600"/>
                  </a:spcBef>
                  <a:buNone/>
                </a:pPr>
                <a:r>
                  <a:rPr lang="en-US" altLang="zh-CN" sz="3000" dirty="0" err="1"/>
                  <a:t>n</a:t>
                </a:r>
                <a:r>
                  <a:rPr lang="en-US" altLang="zh-CN" sz="3000" baseline="-25000" dirty="0" err="1"/>
                  <a:t>x</a:t>
                </a:r>
                <a:r>
                  <a:rPr lang="en-US" altLang="zh-CN" sz="3000" baseline="-25000" dirty="0"/>
                  <a:t> </a:t>
                </a:r>
                <a:r>
                  <a:rPr lang="en-US" altLang="zh-CN" sz="3000" dirty="0"/>
                  <a:t> : n (CO</a:t>
                </a:r>
                <a:r>
                  <a:rPr lang="en-US" altLang="zh-CN" sz="3000" baseline="-25000" dirty="0"/>
                  <a:t>2</a:t>
                </a:r>
                <a:r>
                  <a:rPr lang="en-US" altLang="zh-CN" sz="3000" dirty="0"/>
                  <a:t>)  = 0.05 : 0.15</a:t>
                </a:r>
              </a:p>
              <a:p>
                <a:pPr>
                  <a:spcBef>
                    <a:spcPts val="600"/>
                  </a:spcBef>
                  <a:buNone/>
                </a:pPr>
                <a:r>
                  <a:rPr lang="en-US" altLang="zh-CN" sz="3000" dirty="0"/>
                  <a:t>			= 1:3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8686800" cy="5715000"/>
              </a:xfrm>
              <a:blipFill>
                <a:blip r:embed="rId3"/>
                <a:stretch>
                  <a:fillRect l="-1614" t="-181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50681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作答题（</a:t>
            </a:r>
            <a:r>
              <a:rPr lang="en-US" altLang="zh-CN" sz="4000" b="1" dirty="0">
                <a:latin typeface="+mn-ea"/>
              </a:rPr>
              <a:t>2</a:t>
            </a:r>
            <a:r>
              <a:rPr lang="zh-CN" altLang="en-US" sz="4000" b="1" dirty="0">
                <a:latin typeface="+mn-ea"/>
              </a:rPr>
              <a:t>，</a:t>
            </a:r>
            <a:r>
              <a:rPr lang="en-US" altLang="zh-CN" sz="4000" b="1" dirty="0">
                <a:latin typeface="+mn-ea"/>
              </a:rPr>
              <a:t>3</a:t>
            </a:r>
            <a:r>
              <a:rPr lang="zh-CN" altLang="en-US" sz="4000" b="1" dirty="0">
                <a:latin typeface="+mn-ea"/>
              </a:rPr>
              <a:t>，</a:t>
            </a:r>
            <a:r>
              <a:rPr lang="en-US" altLang="zh-CN" sz="4000" b="1" dirty="0">
                <a:latin typeface="+mn-ea"/>
              </a:rPr>
              <a:t>5</a:t>
            </a:r>
            <a:r>
              <a:rPr lang="zh-CN" altLang="en-US" sz="4000" b="1" dirty="0">
                <a:latin typeface="+mn-ea"/>
              </a:rPr>
              <a:t>，</a:t>
            </a:r>
            <a:r>
              <a:rPr lang="en-US" altLang="zh-CN" sz="4000" b="1" dirty="0">
                <a:latin typeface="+mn-ea"/>
              </a:rPr>
              <a:t>7</a:t>
            </a:r>
            <a:r>
              <a:rPr lang="zh-CN" altLang="en-US" sz="4000" b="1" dirty="0">
                <a:latin typeface="+mn-ea"/>
              </a:rPr>
              <a:t>）</a:t>
            </a:r>
            <a:endParaRPr 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1143000"/>
                <a:ext cx="8915400" cy="571500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  <a:buNone/>
                </a:pPr>
                <a:r>
                  <a:rPr lang="en-US" altLang="zh-CN" sz="3000" dirty="0"/>
                  <a:t>5. </a:t>
                </a:r>
                <a:r>
                  <a:rPr lang="zh-CN" altLang="en-US" sz="3000" dirty="0"/>
                  <a:t>即</a:t>
                </a:r>
                <a:r>
                  <a:rPr lang="en-US" altLang="zh-CN" sz="3000" dirty="0"/>
                  <a:t>1mol</a:t>
                </a:r>
                <a:r>
                  <a:rPr lang="zh-CN" altLang="en-US" sz="3000" dirty="0"/>
                  <a:t>有机物</a:t>
                </a:r>
                <a:r>
                  <a:rPr lang="en-US" altLang="zh-CN" sz="3000" dirty="0"/>
                  <a:t>X</a:t>
                </a:r>
                <a:r>
                  <a:rPr lang="zh-CN" altLang="en-US" sz="3000" dirty="0"/>
                  <a:t>含有</a:t>
                </a:r>
                <a:r>
                  <a:rPr lang="en-US" altLang="zh-CN" sz="3000" dirty="0"/>
                  <a:t>3molC</a:t>
                </a:r>
                <a:r>
                  <a:rPr lang="zh-CN" altLang="en-US" sz="3000" dirty="0"/>
                  <a:t>原子</a:t>
                </a:r>
                <a:endParaRPr lang="en-US" altLang="zh-CN" sz="3000" dirty="0"/>
              </a:p>
              <a:p>
                <a:pPr lvl="1">
                  <a:spcBef>
                    <a:spcPts val="600"/>
                  </a:spcBef>
                  <a:buNone/>
                </a:pPr>
                <a:r>
                  <a:rPr lang="en-US" altLang="zh-CN" sz="3000" dirty="0"/>
                  <a:t>3molC </a:t>
                </a:r>
                <a:r>
                  <a:rPr lang="zh-CN" altLang="en-US" sz="3000" dirty="0"/>
                  <a:t>原子 </a:t>
                </a:r>
                <a:r>
                  <a:rPr lang="en-US" altLang="zh-CN" sz="3000" dirty="0"/>
                  <a:t>36g </a:t>
                </a:r>
              </a:p>
              <a:p>
                <a:pPr lvl="1">
                  <a:spcBef>
                    <a:spcPts val="600"/>
                  </a:spcBef>
                  <a:buNone/>
                </a:pPr>
                <a:r>
                  <a:rPr lang="zh-CN" altLang="en-US" sz="3000" dirty="0"/>
                  <a:t>则该</a:t>
                </a:r>
                <a:r>
                  <a:rPr lang="en-US" altLang="zh-CN" sz="3000" dirty="0"/>
                  <a:t>1mol</a:t>
                </a:r>
                <a:r>
                  <a:rPr lang="zh-CN" altLang="en-US" sz="3000" dirty="0"/>
                  <a:t>有机物必含有</a:t>
                </a:r>
                <a:r>
                  <a:rPr lang="en-US" altLang="zh-CN" sz="3000" dirty="0"/>
                  <a:t>1molO </a:t>
                </a:r>
                <a:r>
                  <a:rPr lang="zh-CN" altLang="en-US" sz="3000" dirty="0"/>
                  <a:t>原子</a:t>
                </a:r>
                <a:endParaRPr lang="en-MY" altLang="zh-CN" sz="3000" dirty="0"/>
              </a:p>
              <a:p>
                <a:pPr lvl="1">
                  <a:spcBef>
                    <a:spcPts val="600"/>
                  </a:spcBef>
                  <a:buNone/>
                </a:pPr>
                <a:r>
                  <a:rPr lang="zh-CN" altLang="en-US" sz="3000" dirty="0"/>
                  <a:t>氢原子个数</a:t>
                </a:r>
                <a:r>
                  <a:rPr lang="en-US" altLang="zh-CN" sz="3000" dirty="0"/>
                  <a:t>=58-3x12-16 = 6</a:t>
                </a:r>
              </a:p>
              <a:p>
                <a:pPr lvl="1">
                  <a:spcBef>
                    <a:spcPts val="600"/>
                  </a:spcBef>
                  <a:buNone/>
                </a:pPr>
                <a:r>
                  <a:rPr lang="zh-CN" altLang="en-US" sz="3000" dirty="0"/>
                  <a:t>该有机物的分子式：</a:t>
                </a:r>
                <a:r>
                  <a:rPr lang="en-US" altLang="zh-CN" sz="3000" dirty="0"/>
                  <a:t>   C</a:t>
                </a:r>
                <a:r>
                  <a:rPr lang="en-US" altLang="zh-CN" sz="3000" baseline="-25000" dirty="0"/>
                  <a:t>3</a:t>
                </a:r>
                <a:r>
                  <a:rPr lang="en-MY" altLang="zh-CN" sz="3000" dirty="0"/>
                  <a:t>H</a:t>
                </a:r>
                <a:r>
                  <a:rPr lang="en-MY" altLang="zh-CN" sz="3000" baseline="-25000" dirty="0"/>
                  <a:t>6</a:t>
                </a:r>
                <a:r>
                  <a:rPr lang="en-MY" altLang="zh-CN" sz="3000" dirty="0"/>
                  <a:t>O </a:t>
                </a:r>
              </a:p>
              <a:p>
                <a:pPr lvl="1">
                  <a:spcBef>
                    <a:spcPts val="600"/>
                  </a:spcBef>
                  <a:buNone/>
                </a:pPr>
                <a:r>
                  <a:rPr lang="en-MY" altLang="zh-CN" sz="3000" dirty="0"/>
                  <a:t>(2) </a:t>
                </a:r>
                <a:r>
                  <a:rPr lang="en-MY" altLang="zh-CN" sz="3000" dirty="0" err="1"/>
                  <a:t>n</a:t>
                </a:r>
                <a:r>
                  <a:rPr lang="en-MY" altLang="zh-CN" sz="3000" baseline="-25000" dirty="0" err="1"/>
                  <a:t>x</a:t>
                </a:r>
                <a:r>
                  <a:rPr lang="en-MY" altLang="zh-CN" sz="3000" baseline="-25000" dirty="0"/>
                  <a:t>  </a:t>
                </a:r>
                <a:r>
                  <a:rPr lang="en-MY" altLang="zh-CN" sz="30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MY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i="1">
                            <a:latin typeface="Cambria Math" panose="02040503050406030204" pitchFamily="18" charset="0"/>
                          </a:rPr>
                          <m:t>0.58</m:t>
                        </m:r>
                        <m:r>
                          <a:rPr lang="en-MY" altLang="zh-CN" sz="3000" i="1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MY" altLang="zh-CN" sz="3000" i="1">
                            <a:latin typeface="Cambria Math" panose="02040503050406030204" pitchFamily="18" charset="0"/>
                          </a:rPr>
                          <m:t>58</m:t>
                        </m:r>
                        <m:r>
                          <a:rPr lang="en-MY" altLang="zh-CN" sz="30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MY" altLang="zh-CN" sz="30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MY" altLang="zh-CN" sz="3000" i="1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MY" altLang="zh-CN" sz="3000" dirty="0"/>
                  <a:t> = 0.01 mol </a:t>
                </a:r>
              </a:p>
              <a:p>
                <a:pPr lvl="1">
                  <a:spcBef>
                    <a:spcPts val="600"/>
                  </a:spcBef>
                  <a:buNone/>
                </a:pPr>
                <a:r>
                  <a:rPr lang="en-MY" altLang="zh-CN" sz="3000" dirty="0"/>
                  <a:t>		</a:t>
                </a:r>
                <a:r>
                  <a:rPr lang="en-MY" altLang="zh-CN" sz="3000" dirty="0" err="1"/>
                  <a:t>n</a:t>
                </a:r>
                <a:r>
                  <a:rPr lang="en-MY" altLang="zh-CN" sz="3000" baseline="-25000" dirty="0" err="1"/>
                  <a:t>Ag</a:t>
                </a:r>
                <a:r>
                  <a:rPr lang="en-MY" altLang="zh-CN" sz="3000" baseline="-25000" dirty="0"/>
                  <a:t>  </a:t>
                </a:r>
                <a:r>
                  <a:rPr lang="en-MY" altLang="zh-CN" sz="30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MY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2.16</m:t>
                        </m:r>
                        <m:r>
                          <a:rPr lang="en-MY" altLang="zh-CN" sz="3000" i="1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MY" altLang="zh-CN" sz="3000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MY" altLang="zh-CN" sz="30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MY" altLang="zh-CN" sz="30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MY" altLang="zh-CN" sz="3000" i="1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MY" altLang="zh-CN" sz="3000" dirty="0"/>
                  <a:t> = 0.02 mol</a:t>
                </a:r>
              </a:p>
              <a:p>
                <a:pPr lvl="1">
                  <a:spcBef>
                    <a:spcPts val="600"/>
                  </a:spcBef>
                  <a:buNone/>
                </a:pPr>
                <a:r>
                  <a:rPr lang="zh-CN" altLang="en-US" sz="3000" dirty="0"/>
                  <a:t>此</a:t>
                </a:r>
                <a:r>
                  <a:rPr lang="en-US" altLang="zh-CN" sz="3000" dirty="0"/>
                  <a:t>0.01mol</a:t>
                </a:r>
                <a:r>
                  <a:rPr lang="zh-CN" altLang="en-US" sz="3000" dirty="0"/>
                  <a:t>有机物</a:t>
                </a:r>
                <a:r>
                  <a:rPr lang="en-MY" altLang="zh-CN" sz="3000" dirty="0"/>
                  <a:t>X</a:t>
                </a:r>
                <a:r>
                  <a:rPr lang="zh-CN" altLang="en-US" sz="3000" dirty="0"/>
                  <a:t>能发生银镜反应生成</a:t>
                </a:r>
                <a:r>
                  <a:rPr lang="en-US" altLang="zh-CN" sz="3000" dirty="0"/>
                  <a:t>0.02mol</a:t>
                </a:r>
                <a:r>
                  <a:rPr lang="zh-CN" altLang="en-US" sz="3000" dirty="0"/>
                  <a:t>银，则</a:t>
                </a:r>
                <a:r>
                  <a:rPr lang="zh-CN" altLang="en-US" sz="3000" dirty="0">
                    <a:sym typeface="Wingdings" pitchFamily="2" charset="2"/>
                  </a:rPr>
                  <a:t>此有机物中含有一个醛基，</a:t>
                </a:r>
                <a:endParaRPr lang="en-MY" altLang="zh-CN" sz="3000" dirty="0">
                  <a:sym typeface="Wingdings" pitchFamily="2" charset="2"/>
                </a:endParaRPr>
              </a:p>
              <a:p>
                <a:pPr lvl="1">
                  <a:spcBef>
                    <a:spcPts val="600"/>
                  </a:spcBef>
                  <a:buNone/>
                </a:pPr>
                <a:r>
                  <a:rPr lang="zh-CN" altLang="en-US" sz="3000" dirty="0">
                    <a:sym typeface="Wingdings" pitchFamily="2" charset="2"/>
                  </a:rPr>
                  <a:t>此有机物为</a:t>
                </a:r>
                <a:r>
                  <a:rPr lang="zh-CN" altLang="en-US" sz="3000" dirty="0"/>
                  <a:t>丙醛，结构简式：</a:t>
                </a:r>
                <a:r>
                  <a:rPr lang="en-US" altLang="zh-CN" sz="3000" dirty="0"/>
                  <a:t>CH</a:t>
                </a:r>
                <a:r>
                  <a:rPr lang="en-US" altLang="zh-CN" sz="3000" baseline="-25000" dirty="0"/>
                  <a:t>3</a:t>
                </a:r>
                <a:r>
                  <a:rPr lang="en-US" altLang="zh-CN" sz="3000" dirty="0"/>
                  <a:t>CH</a:t>
                </a:r>
                <a:r>
                  <a:rPr lang="en-US" altLang="zh-CN" sz="3000" baseline="-25000" dirty="0"/>
                  <a:t>2</a:t>
                </a:r>
                <a:r>
                  <a:rPr lang="en-US" altLang="zh-CN" sz="3000" dirty="0"/>
                  <a:t>CHO</a:t>
                </a:r>
                <a:endParaRPr lang="en-MY" altLang="zh-CN" sz="3000" dirty="0"/>
              </a:p>
              <a:p>
                <a:pPr lvl="1">
                  <a:spcBef>
                    <a:spcPts val="600"/>
                  </a:spcBef>
                  <a:buNone/>
                </a:pPr>
                <a:endParaRPr lang="en-US" altLang="zh-CN" sz="3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143000"/>
                <a:ext cx="8915400" cy="5715000"/>
              </a:xfrm>
              <a:blipFill>
                <a:blip r:embed="rId3"/>
                <a:stretch>
                  <a:fillRect l="-1642" t="-1814" r="-3625" b="-448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20020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作答题（</a:t>
            </a:r>
            <a:r>
              <a:rPr lang="en-US" altLang="zh-CN" sz="4000" b="1" dirty="0">
                <a:latin typeface="+mn-ea"/>
              </a:rPr>
              <a:t>2</a:t>
            </a:r>
            <a:r>
              <a:rPr lang="zh-CN" altLang="en-US" sz="4000" b="1" dirty="0">
                <a:latin typeface="+mn-ea"/>
              </a:rPr>
              <a:t>，</a:t>
            </a:r>
            <a:r>
              <a:rPr lang="en-US" altLang="zh-CN" sz="4000" b="1" dirty="0">
                <a:latin typeface="+mn-ea"/>
              </a:rPr>
              <a:t>3</a:t>
            </a:r>
            <a:r>
              <a:rPr lang="zh-CN" altLang="en-US" sz="4000" b="1" dirty="0">
                <a:latin typeface="+mn-ea"/>
              </a:rPr>
              <a:t>，</a:t>
            </a:r>
            <a:r>
              <a:rPr lang="en-US" altLang="zh-CN" sz="4000" b="1" dirty="0">
                <a:latin typeface="+mn-ea"/>
              </a:rPr>
              <a:t>5</a:t>
            </a:r>
            <a:r>
              <a:rPr lang="zh-CN" altLang="en-US" sz="4000" b="1" dirty="0">
                <a:latin typeface="+mn-ea"/>
              </a:rPr>
              <a:t>，</a:t>
            </a:r>
            <a:r>
              <a:rPr lang="en-US" altLang="zh-CN" sz="4000" b="1" dirty="0">
                <a:latin typeface="+mn-ea"/>
              </a:rPr>
              <a:t>7</a:t>
            </a:r>
            <a:r>
              <a:rPr lang="zh-CN" altLang="en-US" sz="4000" b="1" dirty="0">
                <a:latin typeface="+mn-ea"/>
              </a:rPr>
              <a:t>）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143000"/>
            <a:ext cx="89154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en-MY" altLang="zh-CN" sz="3000" dirty="0"/>
              <a:t>6. </a:t>
            </a:r>
          </a:p>
          <a:p>
            <a:pPr>
              <a:spcBef>
                <a:spcPts val="600"/>
              </a:spcBef>
              <a:buNone/>
            </a:pPr>
            <a:r>
              <a:rPr lang="en-MY" altLang="zh-CN" sz="3000" dirty="0"/>
              <a:t>(1) </a:t>
            </a:r>
            <a:r>
              <a:rPr lang="zh-CN" altLang="en-US" sz="3000" dirty="0"/>
              <a:t>麦芽糖、乳糖、蔗糖</a:t>
            </a:r>
            <a:endParaRPr lang="en-MY" altLang="zh-CN" sz="3000" dirty="0"/>
          </a:p>
          <a:p>
            <a:pPr>
              <a:spcBef>
                <a:spcPts val="600"/>
              </a:spcBef>
              <a:buNone/>
            </a:pPr>
            <a:r>
              <a:rPr lang="en-MY" altLang="zh-CN" sz="3000" dirty="0"/>
              <a:t>(2) </a:t>
            </a:r>
            <a:r>
              <a:rPr lang="zh-CN" altLang="en-US" sz="3000" dirty="0"/>
              <a:t>甘油醛 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O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 </a:t>
            </a:r>
            <a:endParaRPr lang="en-MY" altLang="zh-CN" sz="3000" dirty="0"/>
          </a:p>
          <a:p>
            <a:pPr>
              <a:spcBef>
                <a:spcPts val="600"/>
              </a:spcBef>
              <a:buNone/>
            </a:pPr>
            <a:r>
              <a:rPr lang="en-MY" altLang="zh-CN" sz="3000" dirty="0"/>
              <a:t>(3) </a:t>
            </a:r>
            <a:r>
              <a:rPr lang="zh-CN" altLang="en-US" sz="3000" dirty="0"/>
              <a:t>果糖</a:t>
            </a:r>
            <a:endParaRPr lang="en-MY" altLang="zh-CN" sz="3000" dirty="0"/>
          </a:p>
          <a:p>
            <a:pPr>
              <a:spcBef>
                <a:spcPts val="600"/>
              </a:spcBef>
              <a:buNone/>
            </a:pPr>
            <a:r>
              <a:rPr lang="en-MY" altLang="zh-CN" sz="3000" dirty="0"/>
              <a:t>(4) </a:t>
            </a:r>
            <a:r>
              <a:rPr lang="zh-CN" altLang="en-US" sz="3000" dirty="0"/>
              <a:t>淀粉、纤维素、糖原</a:t>
            </a:r>
            <a:endParaRPr lang="en-MY" altLang="zh-CN" sz="3000" dirty="0"/>
          </a:p>
          <a:p>
            <a:pPr>
              <a:spcBef>
                <a:spcPts val="600"/>
              </a:spcBef>
              <a:buNone/>
            </a:pPr>
            <a:r>
              <a:rPr lang="en-MY" altLang="zh-CN" sz="3000" dirty="0"/>
              <a:t>(5) </a:t>
            </a:r>
            <a:r>
              <a:rPr lang="zh-CN" altLang="en-US" sz="3000" dirty="0"/>
              <a:t>葡萄糖、乳糖、麦芽糖等</a:t>
            </a:r>
            <a:endParaRPr lang="en-MY" altLang="zh-CN" sz="3000" dirty="0"/>
          </a:p>
          <a:p>
            <a:pPr>
              <a:spcBef>
                <a:spcPts val="600"/>
              </a:spcBef>
              <a:buNone/>
            </a:pPr>
            <a:r>
              <a:rPr lang="en-MY" altLang="zh-CN" sz="3000" dirty="0"/>
              <a:t>(6) </a:t>
            </a:r>
            <a:r>
              <a:rPr lang="zh-CN" altLang="en-US" sz="3000" dirty="0"/>
              <a:t>蔗糖、淀粉、纤维素等</a:t>
            </a:r>
            <a:endParaRPr lang="en-MY" altLang="zh-CN" sz="3000" dirty="0"/>
          </a:p>
          <a:p>
            <a:pPr lvl="1">
              <a:spcBef>
                <a:spcPts val="600"/>
              </a:spcBef>
              <a:buNone/>
            </a:pPr>
            <a:endParaRPr lang="en-US" altLang="zh-CN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C8D007-01A6-4F17-8BFF-1A47DD451B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399" y="1354884"/>
            <a:ext cx="1971881" cy="176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1611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6145853</TotalTime>
  <Words>5153</Words>
  <Application>Microsoft Office PowerPoint</Application>
  <PresentationFormat>On-screen Show (4:3)</PresentationFormat>
  <Paragraphs>603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4" baseType="lpstr">
      <vt:lpstr>宋体</vt:lpstr>
      <vt:lpstr>宋体</vt:lpstr>
      <vt:lpstr>Arial</vt:lpstr>
      <vt:lpstr>Calibri</vt:lpstr>
      <vt:lpstr>Cambria Math</vt:lpstr>
      <vt:lpstr>Wingdings</vt:lpstr>
      <vt:lpstr>Office Theme</vt:lpstr>
      <vt:lpstr>第33章  羰基化合物 醛、酮、碳水化合物</vt:lpstr>
      <vt:lpstr>通式</vt:lpstr>
      <vt:lpstr>33.1 醛和酮</vt:lpstr>
      <vt:lpstr>33.1 醛和酮</vt:lpstr>
      <vt:lpstr>33.1 醛和酮</vt:lpstr>
      <vt:lpstr>思考题 33a</vt:lpstr>
      <vt:lpstr>33.2 醛和酮的命名</vt:lpstr>
      <vt:lpstr>33.2 醛和酮的命名</vt:lpstr>
      <vt:lpstr>33.2 醛和酮的命名</vt:lpstr>
      <vt:lpstr>33.2 醛和酮的命名</vt:lpstr>
      <vt:lpstr>33.2 醛和酮的命名</vt:lpstr>
      <vt:lpstr>33.2 醛和酮的命名</vt:lpstr>
      <vt:lpstr>思考题 33b</vt:lpstr>
      <vt:lpstr>33.3 醛和酮的物理性质</vt:lpstr>
      <vt:lpstr>思考题 33c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33.4 醛和酮的化学性质</vt:lpstr>
      <vt:lpstr>思考题 33d</vt:lpstr>
      <vt:lpstr>思考题 33d</vt:lpstr>
      <vt:lpstr>33.5 醛和酮的制取</vt:lpstr>
      <vt:lpstr>33.5 醛和酮的制取</vt:lpstr>
      <vt:lpstr>33.5 醛和酮的制取</vt:lpstr>
      <vt:lpstr>33.5 醛和酮的制取</vt:lpstr>
      <vt:lpstr>补充练习</vt:lpstr>
      <vt:lpstr>33.6 醛和酮的用途</vt:lpstr>
      <vt:lpstr>33.7 碳水化合物</vt:lpstr>
      <vt:lpstr>33.7 碳水化合物</vt:lpstr>
      <vt:lpstr>33.7 碳水化合物</vt:lpstr>
      <vt:lpstr>33.7 碳水化合物</vt:lpstr>
      <vt:lpstr>33.7 碳水化合物</vt:lpstr>
      <vt:lpstr>思考题 33e</vt:lpstr>
      <vt:lpstr>选择题</vt:lpstr>
      <vt:lpstr>选择题</vt:lpstr>
      <vt:lpstr>选择题</vt:lpstr>
      <vt:lpstr>选择题</vt:lpstr>
      <vt:lpstr>选择题</vt:lpstr>
      <vt:lpstr>作答题（2，3，5，7）</vt:lpstr>
      <vt:lpstr>作答题</vt:lpstr>
      <vt:lpstr>作答题（2，3，5，7）</vt:lpstr>
      <vt:lpstr>作答题（2，3，5，7）</vt:lpstr>
      <vt:lpstr>作答题（2，3，5，7）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722</cp:revision>
  <dcterms:created xsi:type="dcterms:W3CDTF">2018-09-03T09:52:37Z</dcterms:created>
  <dcterms:modified xsi:type="dcterms:W3CDTF">2020-03-29T08:04:11Z</dcterms:modified>
</cp:coreProperties>
</file>