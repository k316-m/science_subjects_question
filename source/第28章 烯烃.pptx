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68"/>
  </p:notesMasterIdLst>
  <p:sldIdLst>
    <p:sldId id="258" r:id="rId2"/>
    <p:sldId id="296" r:id="rId3"/>
    <p:sldId id="388" r:id="rId4"/>
    <p:sldId id="298" r:id="rId5"/>
    <p:sldId id="303" r:id="rId6"/>
    <p:sldId id="306" r:id="rId7"/>
    <p:sldId id="305" r:id="rId8"/>
    <p:sldId id="301" r:id="rId9"/>
    <p:sldId id="304" r:id="rId10"/>
    <p:sldId id="307" r:id="rId11"/>
    <p:sldId id="308" r:id="rId12"/>
    <p:sldId id="360" r:id="rId13"/>
    <p:sldId id="369" r:id="rId14"/>
    <p:sldId id="309" r:id="rId15"/>
    <p:sldId id="310" r:id="rId16"/>
    <p:sldId id="313" r:id="rId17"/>
    <p:sldId id="312" r:id="rId18"/>
    <p:sldId id="314" r:id="rId19"/>
    <p:sldId id="361" r:id="rId20"/>
    <p:sldId id="363" r:id="rId21"/>
    <p:sldId id="362" r:id="rId22"/>
    <p:sldId id="315" r:id="rId23"/>
    <p:sldId id="364" r:id="rId24"/>
    <p:sldId id="318" r:id="rId25"/>
    <p:sldId id="319" r:id="rId26"/>
    <p:sldId id="365" r:id="rId27"/>
    <p:sldId id="320" r:id="rId28"/>
    <p:sldId id="367" r:id="rId29"/>
    <p:sldId id="366" r:id="rId30"/>
    <p:sldId id="322" r:id="rId31"/>
    <p:sldId id="390" r:id="rId32"/>
    <p:sldId id="391" r:id="rId33"/>
    <p:sldId id="368" r:id="rId34"/>
    <p:sldId id="323" r:id="rId35"/>
    <p:sldId id="370" r:id="rId36"/>
    <p:sldId id="327" r:id="rId37"/>
    <p:sldId id="324" r:id="rId38"/>
    <p:sldId id="371" r:id="rId39"/>
    <p:sldId id="326" r:id="rId40"/>
    <p:sldId id="328" r:id="rId41"/>
    <p:sldId id="331" r:id="rId42"/>
    <p:sldId id="330" r:id="rId43"/>
    <p:sldId id="332" r:id="rId44"/>
    <p:sldId id="373" r:id="rId45"/>
    <p:sldId id="372" r:id="rId46"/>
    <p:sldId id="354" r:id="rId47"/>
    <p:sldId id="334" r:id="rId48"/>
    <p:sldId id="374" r:id="rId49"/>
    <p:sldId id="375" r:id="rId50"/>
    <p:sldId id="376" r:id="rId51"/>
    <p:sldId id="325" r:id="rId52"/>
    <p:sldId id="335" r:id="rId53"/>
    <p:sldId id="377" r:id="rId54"/>
    <p:sldId id="378" r:id="rId55"/>
    <p:sldId id="379" r:id="rId56"/>
    <p:sldId id="359" r:id="rId57"/>
    <p:sldId id="380" r:id="rId58"/>
    <p:sldId id="381" r:id="rId59"/>
    <p:sldId id="382" r:id="rId60"/>
    <p:sldId id="383" r:id="rId61"/>
    <p:sldId id="384" r:id="rId62"/>
    <p:sldId id="385" r:id="rId63"/>
    <p:sldId id="346" r:id="rId64"/>
    <p:sldId id="386" r:id="rId65"/>
    <p:sldId id="389" r:id="rId66"/>
    <p:sldId id="387" r:id="rId6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32" autoAdjust="0"/>
    <p:restoredTop sz="94660"/>
  </p:normalViewPr>
  <p:slideViewPr>
    <p:cSldViewPr>
      <p:cViewPr varScale="1">
        <p:scale>
          <a:sx n="68" d="100"/>
          <a:sy n="68" d="100"/>
        </p:scale>
        <p:origin x="135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0008A1-DEA0-495B-A669-C41BBEA99C43}" type="datetimeFigureOut">
              <a:rPr lang="en-US" smtClean="0"/>
              <a:pPr/>
              <a:t>6/11/2020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71B9D7-B003-42ED-AB71-0E33BD694F6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71B9D7-B003-42ED-AB71-0E33BD694F6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091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71B9D7-B003-42ED-AB71-0E33BD694F6B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71B9D7-B003-42ED-AB71-0E33BD694F6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648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6/11/2020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6/11/2020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6/11/2020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6/11/2020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6/11/2020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6/11/2020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6/11/2020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6/11/2020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6/11/2020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6/11/2020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6/11/2020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6D6688-5DD1-44BC-B31A-EC1609157C8F}" type="datetimeFigureOut">
              <a:rPr lang="en-US" smtClean="0"/>
              <a:pPr/>
              <a:t>6/11/2020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e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Autofit/>
          </a:bodyPr>
          <a:lstStyle/>
          <a:p>
            <a:r>
              <a:rPr lang="zh-CN" altLang="en-US" sz="88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ea"/>
              </a:rPr>
              <a:t>第</a:t>
            </a:r>
            <a:r>
              <a:rPr lang="en-US" altLang="zh-CN" sz="88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ea"/>
              </a:rPr>
              <a:t>28</a:t>
            </a:r>
            <a:r>
              <a:rPr lang="zh-CN" altLang="en-US" sz="88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ea"/>
              </a:rPr>
              <a:t>章 </a:t>
            </a:r>
            <a:br>
              <a:rPr lang="en-US" altLang="zh-CN" sz="88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ea"/>
              </a:rPr>
            </a:br>
            <a:r>
              <a:rPr lang="zh-CN" altLang="en-US" sz="88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ea"/>
              </a:rPr>
              <a:t>烯烃</a:t>
            </a:r>
            <a:endParaRPr lang="en-US" sz="88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28.1 </a:t>
            </a:r>
            <a:r>
              <a:rPr lang="zh-CN" altLang="en-US" sz="4800" b="1" dirty="0">
                <a:latin typeface="+mn-ea"/>
              </a:rPr>
              <a:t>烯烃的通式和结构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sz="3000" dirty="0"/>
              <a:t>最简单的烯烃：乙烯</a:t>
            </a:r>
            <a:r>
              <a:rPr lang="en-US" altLang="zh-CN" sz="3000" dirty="0"/>
              <a:t> C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4</a:t>
            </a:r>
          </a:p>
          <a:p>
            <a:pPr lvl="1">
              <a:buFont typeface="Wingdings" pitchFamily="2" charset="2"/>
              <a:buChar char="Ø"/>
            </a:pPr>
            <a:r>
              <a:rPr lang="zh-CN" altLang="en-US" sz="2600" dirty="0"/>
              <a:t>乙烯是石油化学工业中的基础原料</a:t>
            </a:r>
            <a:endParaRPr lang="en-US" altLang="zh-CN" sz="2600" dirty="0"/>
          </a:p>
          <a:p>
            <a:pPr lvl="1">
              <a:buFont typeface="Wingdings" pitchFamily="2" charset="2"/>
              <a:buChar char="Ø"/>
            </a:pPr>
            <a:r>
              <a:rPr lang="zh-CN" altLang="en-US" sz="2600" dirty="0"/>
              <a:t>乙烯还能作为植物生长剂和果实催熟剂</a:t>
            </a:r>
            <a:endParaRPr lang="en-US" altLang="zh-CN" sz="2600" dirty="0"/>
          </a:p>
          <a:p>
            <a:pPr>
              <a:buFont typeface="Wingdings" pitchFamily="2" charset="2"/>
              <a:buChar char="Ø"/>
            </a:pPr>
            <a:r>
              <a:rPr lang="zh-CN" altLang="en-US" sz="3000" dirty="0"/>
              <a:t>烯烃：链烃分子中含有</a:t>
            </a:r>
            <a:r>
              <a:rPr lang="en-US" altLang="zh-CN" sz="3000" dirty="0"/>
              <a:t>C=C</a:t>
            </a:r>
            <a:r>
              <a:rPr lang="zh-CN" altLang="en-US" sz="3000" dirty="0"/>
              <a:t>双键的不饱和烃</a:t>
            </a: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r>
              <a:rPr lang="zh-CN" altLang="en-US" sz="3000" dirty="0"/>
              <a:t>通式：</a:t>
            </a:r>
            <a:r>
              <a:rPr lang="en-US" altLang="zh-CN" sz="3000" dirty="0" err="1"/>
              <a:t>C</a:t>
            </a:r>
            <a:r>
              <a:rPr lang="en-US" altLang="zh-CN" sz="3000" baseline="-25000" dirty="0" err="1"/>
              <a:t>n</a:t>
            </a:r>
            <a:r>
              <a:rPr lang="en-US" altLang="zh-CN" sz="3000" baseline="-25000" dirty="0"/>
              <a:t> 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2n </a:t>
            </a:r>
            <a:r>
              <a:rPr lang="en-US" altLang="zh-CN" sz="3000" dirty="0"/>
              <a:t>  </a:t>
            </a:r>
            <a:r>
              <a:rPr lang="zh-CN" altLang="en-US" sz="3000" dirty="0"/>
              <a:t>，</a:t>
            </a:r>
            <a:r>
              <a:rPr lang="en-US" altLang="zh-CN" sz="3000" dirty="0"/>
              <a:t>n≥2</a:t>
            </a:r>
          </a:p>
          <a:p>
            <a:pPr>
              <a:buFont typeface="Wingdings" pitchFamily="2" charset="2"/>
              <a:buChar char="Ø"/>
            </a:pPr>
            <a:endParaRPr lang="en-US" altLang="zh-CN" sz="3000" dirty="0"/>
          </a:p>
        </p:txBody>
      </p:sp>
      <p:pic>
        <p:nvPicPr>
          <p:cNvPr id="6" name="Picture 5" descr="yixi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733800"/>
            <a:ext cx="3200400" cy="26510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953000" y="3505200"/>
            <a:ext cx="223651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结构简式：</a:t>
            </a:r>
            <a:endParaRPr lang="en-US" altLang="zh-CN" sz="3200" dirty="0"/>
          </a:p>
          <a:p>
            <a:r>
              <a:rPr lang="en-US" altLang="zh-CN" sz="3200" dirty="0"/>
              <a:t>CH</a:t>
            </a:r>
            <a:r>
              <a:rPr lang="en-US" altLang="zh-CN" sz="3200" baseline="-25000" dirty="0"/>
              <a:t>2</a:t>
            </a:r>
            <a:r>
              <a:rPr lang="en-US" altLang="zh-CN" sz="3200" dirty="0"/>
              <a:t> = CH</a:t>
            </a:r>
            <a:r>
              <a:rPr lang="en-US" altLang="zh-CN" sz="3200" baseline="-25000" dirty="0"/>
              <a:t>2</a:t>
            </a:r>
            <a:r>
              <a:rPr lang="en-US" altLang="zh-CN" sz="3200" dirty="0"/>
              <a:t> </a:t>
            </a:r>
            <a:endParaRPr lang="en-US" sz="3000" dirty="0"/>
          </a:p>
        </p:txBody>
      </p:sp>
      <p:sp>
        <p:nvSpPr>
          <p:cNvPr id="9" name="TextBox 8"/>
          <p:cNvSpPr txBox="1"/>
          <p:nvPr/>
        </p:nvSpPr>
        <p:spPr>
          <a:xfrm>
            <a:off x="5105400" y="4673025"/>
            <a:ext cx="16017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CH</a:t>
            </a:r>
            <a:r>
              <a:rPr lang="en-US" altLang="zh-CN" sz="3200" baseline="-25000" dirty="0"/>
              <a:t>2</a:t>
            </a:r>
            <a:r>
              <a:rPr lang="en-US" altLang="zh-CN" sz="3200" dirty="0"/>
              <a:t> </a:t>
            </a:r>
            <a:r>
              <a:rPr lang="en-US" altLang="zh-CN" sz="3200" dirty="0" err="1"/>
              <a:t>CH</a:t>
            </a:r>
            <a:r>
              <a:rPr lang="en-US" altLang="zh-CN" sz="3200" baseline="-25000" dirty="0" err="1"/>
              <a:t>2</a:t>
            </a:r>
            <a:r>
              <a:rPr lang="en-US" altLang="zh-CN" sz="3200" dirty="0"/>
              <a:t> </a:t>
            </a:r>
            <a:endParaRPr lang="en-US" sz="3000" dirty="0"/>
          </a:p>
        </p:txBody>
      </p:sp>
      <p:sp>
        <p:nvSpPr>
          <p:cNvPr id="13" name="TextBox 12"/>
          <p:cNvSpPr txBox="1"/>
          <p:nvPr/>
        </p:nvSpPr>
        <p:spPr>
          <a:xfrm>
            <a:off x="5486400" y="4315361"/>
            <a:ext cx="685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dirty="0">
                <a:solidFill>
                  <a:srgbClr val="C00000"/>
                </a:solidFill>
              </a:rPr>
              <a:t>X</a:t>
            </a:r>
            <a:endParaRPr lang="en-US" sz="7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  <p:bldP spid="9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28.1 </a:t>
            </a:r>
            <a:r>
              <a:rPr lang="zh-CN" altLang="en-US" sz="4800" b="1" dirty="0">
                <a:latin typeface="+mn-ea"/>
              </a:rPr>
              <a:t>烯烃的通式和结构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dirty="0"/>
              <a:t>开链单烯烃、环烷烃具有相同的通式</a:t>
            </a:r>
            <a:endParaRPr lang="en-US" altLang="zh-CN" sz="3000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dirty="0"/>
              <a:t>单烯烃通式：</a:t>
            </a:r>
            <a:r>
              <a:rPr lang="en-US" altLang="zh-CN" sz="3000" dirty="0"/>
              <a:t>C</a:t>
            </a:r>
            <a:r>
              <a:rPr lang="en-US" altLang="zh-CN" sz="3000" baseline="-25000" dirty="0"/>
              <a:t>n 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2n</a:t>
            </a:r>
            <a:r>
              <a:rPr lang="en-US" altLang="zh-CN" sz="3000" dirty="0"/>
              <a:t>  </a:t>
            </a:r>
            <a:r>
              <a:rPr lang="zh-CN" altLang="en-US" sz="3000" dirty="0"/>
              <a:t>，</a:t>
            </a:r>
            <a:r>
              <a:rPr lang="en-US" altLang="zh-CN" sz="3000" dirty="0"/>
              <a:t>n  ≥  2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dirty="0"/>
              <a:t>环烷烃通式：</a:t>
            </a:r>
            <a:r>
              <a:rPr lang="en-US" altLang="zh-CN" sz="3000" dirty="0"/>
              <a:t>C</a:t>
            </a:r>
            <a:r>
              <a:rPr lang="en-US" altLang="zh-CN" sz="3000" baseline="-25000" dirty="0"/>
              <a:t>n 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2n </a:t>
            </a:r>
            <a:r>
              <a:rPr lang="en-US" altLang="zh-CN" sz="3000" dirty="0"/>
              <a:t>  </a:t>
            </a:r>
            <a:r>
              <a:rPr lang="zh-CN" altLang="en-US" sz="3000" dirty="0"/>
              <a:t>，</a:t>
            </a:r>
            <a:r>
              <a:rPr lang="en-US" altLang="zh-CN" sz="3000" dirty="0"/>
              <a:t>n  ≥  3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dirty="0"/>
              <a:t>具有相同碳原子数的开链单烯</a:t>
            </a:r>
            <a:r>
              <a:rPr lang="zh-CN" altLang="en-US" sz="3000"/>
              <a:t>烃、环</a:t>
            </a:r>
            <a:r>
              <a:rPr lang="zh-CN" altLang="en-US" sz="3000" dirty="0"/>
              <a:t>烷</a:t>
            </a:r>
            <a:r>
              <a:rPr lang="zh-CN" altLang="en-US" sz="3000"/>
              <a:t>烃</a:t>
            </a:r>
            <a:r>
              <a:rPr lang="zh-CN" altLang="en-US" sz="3000" dirty="0"/>
              <a:t>互为同分异构体。</a:t>
            </a: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2126123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28.1 </a:t>
            </a:r>
            <a:r>
              <a:rPr lang="zh-CN" altLang="en-US" sz="4800" b="1" dirty="0">
                <a:latin typeface="+mn-ea"/>
              </a:rPr>
              <a:t>烯烃的通式和结构 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000" dirty="0"/>
              <a:t>乙烯的结构</a:t>
            </a: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r>
              <a:rPr lang="zh-CN" altLang="en-US" sz="3000" dirty="0"/>
              <a:t>乙烯分子是平面的</a:t>
            </a: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r>
              <a:rPr lang="zh-CN" altLang="en-US" sz="3000" dirty="0"/>
              <a:t>键能：</a:t>
            </a:r>
            <a:r>
              <a:rPr lang="en-US" altLang="zh-CN" sz="3000" dirty="0"/>
              <a:t>C=C &gt; C—C </a:t>
            </a:r>
            <a:r>
              <a:rPr lang="zh-CN" altLang="en-US" sz="3000" dirty="0"/>
              <a:t>，但不是两倍</a:t>
            </a: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r>
              <a:rPr lang="en-US" altLang="zh-CN" sz="3000" dirty="0"/>
              <a:t>sp</a:t>
            </a:r>
            <a:r>
              <a:rPr lang="en-US" altLang="zh-CN" sz="3000" baseline="30000" dirty="0"/>
              <a:t>2</a:t>
            </a:r>
            <a:r>
              <a:rPr lang="en-US" altLang="zh-CN" sz="3000" dirty="0"/>
              <a:t> </a:t>
            </a:r>
            <a:r>
              <a:rPr lang="zh-CN" altLang="en-US" sz="3000" dirty="0"/>
              <a:t>杂化轨域</a:t>
            </a:r>
            <a:r>
              <a:rPr lang="en-US" altLang="zh-CN" sz="3000" dirty="0"/>
              <a:t>:</a:t>
            </a:r>
            <a:r>
              <a:rPr lang="zh-CN" altLang="en-US" sz="2800" dirty="0"/>
              <a:t> 同一原子内由一个</a:t>
            </a:r>
            <a:r>
              <a:rPr lang="en-US" altLang="zh-CN" sz="2800" dirty="0"/>
              <a:t>ns</a:t>
            </a:r>
            <a:r>
              <a:rPr lang="zh-CN" altLang="en-US" sz="2800" dirty="0"/>
              <a:t>轨道和两个</a:t>
            </a:r>
            <a:r>
              <a:rPr lang="en-US" altLang="zh-CN" sz="2800" dirty="0" err="1"/>
              <a:t>np</a:t>
            </a:r>
            <a:r>
              <a:rPr lang="zh-CN" altLang="en-US" sz="2800" dirty="0"/>
              <a:t>轨道发生的杂化，称为</a:t>
            </a:r>
            <a:r>
              <a:rPr lang="en-US" altLang="zh-CN" sz="2800" dirty="0"/>
              <a:t>sp</a:t>
            </a:r>
            <a:r>
              <a:rPr lang="en-US" altLang="zh-CN" sz="2800" baseline="30000" dirty="0"/>
              <a:t>2</a:t>
            </a:r>
            <a:r>
              <a:rPr lang="zh-CN" altLang="en-US" sz="2800" dirty="0"/>
              <a:t>杂化</a:t>
            </a:r>
            <a:endParaRPr lang="en-US" altLang="zh-CN" sz="3000" dirty="0"/>
          </a:p>
        </p:txBody>
      </p:sp>
      <p:pic>
        <p:nvPicPr>
          <p:cNvPr id="6" name="Picture 5" descr="sp3.jpg"/>
          <p:cNvPicPr>
            <a:picLocks noChangeAspect="1"/>
          </p:cNvPicPr>
          <p:nvPr/>
        </p:nvPicPr>
        <p:blipFill>
          <a:blip r:embed="rId3"/>
          <a:srcRect l="7477" t="29032" b="29032"/>
          <a:stretch>
            <a:fillRect/>
          </a:stretch>
        </p:blipFill>
        <p:spPr>
          <a:xfrm>
            <a:off x="76200" y="3962400"/>
            <a:ext cx="7543800" cy="2133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88479" y="4536757"/>
            <a:ext cx="854721" cy="49244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26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激发</a:t>
            </a:r>
            <a:endParaRPr lang="en-US" sz="26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7000" y="3352800"/>
            <a:ext cx="2529860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6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还有一个未参与</a:t>
            </a:r>
            <a:endParaRPr lang="en-US" altLang="zh-CN" sz="26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26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杂化的</a:t>
            </a:r>
            <a:r>
              <a:rPr lang="en-US" altLang="zh-CN" sz="26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2p</a:t>
            </a:r>
            <a:r>
              <a:rPr lang="zh-CN" altLang="en-US" sz="26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轨域</a:t>
            </a:r>
            <a:endParaRPr lang="en-US" sz="26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Picture 9" descr="yixi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6988" y="683846"/>
            <a:ext cx="2764612" cy="228795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69425" y="5584448"/>
            <a:ext cx="2698175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zh-CN" altLang="en-US" sz="26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个轨域能量相同</a:t>
            </a:r>
            <a:endParaRPr lang="en-US" altLang="zh-CN" sz="26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26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</a:t>
            </a:r>
            <a:r>
              <a:rPr lang="en-US" altLang="zh-CN" sz="26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</a:t>
            </a:r>
            <a:r>
              <a:rPr lang="en-US" altLang="zh-CN" sz="2600" b="1" baseline="30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26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26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杂化轨域</a:t>
            </a:r>
            <a:endParaRPr lang="en-US" sz="26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  <p:bldP spid="9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28.1 </a:t>
            </a:r>
            <a:r>
              <a:rPr lang="zh-CN" altLang="en-US" sz="4800" b="1" dirty="0">
                <a:latin typeface="+mn-ea"/>
              </a:rPr>
              <a:t>烯烃的通式和结构 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sz="3000" dirty="0"/>
              <a:t>sp</a:t>
            </a:r>
            <a:r>
              <a:rPr lang="en-US" altLang="zh-CN" sz="3000" baseline="30000" dirty="0"/>
              <a:t>2</a:t>
            </a:r>
            <a:r>
              <a:rPr lang="en-US" altLang="zh-CN" sz="3000" dirty="0"/>
              <a:t> </a:t>
            </a:r>
            <a:r>
              <a:rPr lang="zh-CN" altLang="en-US" sz="3000" dirty="0"/>
              <a:t>杂化轨域</a:t>
            </a:r>
            <a:endParaRPr lang="en-US" altLang="zh-CN" sz="3000" dirty="0"/>
          </a:p>
        </p:txBody>
      </p:sp>
      <p:pic>
        <p:nvPicPr>
          <p:cNvPr id="11" name="Picture 10" descr="sp2.png"/>
          <p:cNvPicPr>
            <a:picLocks noChangeAspect="1"/>
          </p:cNvPicPr>
          <p:nvPr/>
        </p:nvPicPr>
        <p:blipFill>
          <a:blip r:embed="rId3"/>
          <a:srcRect b="8843"/>
          <a:stretch>
            <a:fillRect/>
          </a:stretch>
        </p:blipFill>
        <p:spPr>
          <a:xfrm>
            <a:off x="152400" y="1447800"/>
            <a:ext cx="8991600" cy="2356485"/>
          </a:xfrm>
          <a:prstGeom prst="rect">
            <a:avLst/>
          </a:prstGeom>
        </p:spPr>
      </p:pic>
      <p:pic>
        <p:nvPicPr>
          <p:cNvPr id="10" name="Picture 9" descr="s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962400"/>
            <a:ext cx="91440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28.1 </a:t>
            </a:r>
            <a:r>
              <a:rPr lang="zh-CN" altLang="en-US" sz="4800" b="1" dirty="0">
                <a:latin typeface="+mn-ea"/>
              </a:rPr>
              <a:t>烯烃的通式和结构 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sz="3000" dirty="0"/>
              <a:t>sp</a:t>
            </a:r>
            <a:r>
              <a:rPr lang="en-US" altLang="zh-CN" sz="3000" baseline="30000" dirty="0"/>
              <a:t>2</a:t>
            </a:r>
            <a:r>
              <a:rPr lang="en-US" altLang="zh-CN" sz="3000" dirty="0"/>
              <a:t> </a:t>
            </a:r>
            <a:r>
              <a:rPr lang="zh-CN" altLang="en-US" sz="3000" dirty="0"/>
              <a:t>杂化轨域</a:t>
            </a:r>
            <a:endParaRPr lang="en-US" altLang="zh-CN" sz="3000" dirty="0"/>
          </a:p>
        </p:txBody>
      </p:sp>
      <p:pic>
        <p:nvPicPr>
          <p:cNvPr id="6" name="Picture 5" descr="sp33.jpg"/>
          <p:cNvPicPr>
            <a:picLocks noChangeAspect="1"/>
          </p:cNvPicPr>
          <p:nvPr/>
        </p:nvPicPr>
        <p:blipFill>
          <a:blip r:embed="rId3" cstate="print"/>
          <a:srcRect l="8889" t="12444" r="14444" b="9778"/>
          <a:stretch>
            <a:fillRect/>
          </a:stretch>
        </p:blipFill>
        <p:spPr>
          <a:xfrm>
            <a:off x="1447800" y="1558332"/>
            <a:ext cx="6781800" cy="4918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28.1 </a:t>
            </a:r>
            <a:r>
              <a:rPr lang="zh-CN" altLang="en-US" sz="4800" b="1" dirty="0">
                <a:latin typeface="+mn-ea"/>
              </a:rPr>
              <a:t>烯烃的通式和结构 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sz="3000" dirty="0"/>
              <a:t>sp</a:t>
            </a:r>
            <a:r>
              <a:rPr lang="en-US" altLang="zh-CN" sz="3000" baseline="30000" dirty="0"/>
              <a:t>2</a:t>
            </a:r>
            <a:r>
              <a:rPr lang="en-US" altLang="zh-CN" sz="3000" dirty="0"/>
              <a:t> </a:t>
            </a:r>
            <a:r>
              <a:rPr lang="zh-CN" altLang="en-US" sz="3000" dirty="0"/>
              <a:t>杂化轨域</a:t>
            </a:r>
            <a:endParaRPr lang="en-US" altLang="zh-CN" sz="3000" dirty="0"/>
          </a:p>
        </p:txBody>
      </p:sp>
      <p:pic>
        <p:nvPicPr>
          <p:cNvPr id="11" name="Picture 10" descr="s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1828800"/>
            <a:ext cx="5384798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l-GR" sz="2800" dirty="0"/>
              <a:t>π </a:t>
            </a:r>
            <a:r>
              <a:rPr lang="zh-CN" altLang="en-US" sz="3000" dirty="0"/>
              <a:t>键：</a:t>
            </a:r>
            <a:r>
              <a:rPr lang="zh-CN" altLang="en-US" sz="2800" dirty="0"/>
              <a:t> 原子轨道垂直于键轴以“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肩并肩</a:t>
            </a:r>
            <a:r>
              <a:rPr lang="zh-CN" altLang="en-US" sz="2800" dirty="0"/>
              <a:t>”方式重叠所形成的共建键称为</a:t>
            </a:r>
            <a:r>
              <a:rPr lang="en-US" altLang="zh-CN" sz="2800" dirty="0"/>
              <a:t>π </a:t>
            </a:r>
            <a:r>
              <a:rPr lang="zh-CN" altLang="en-US" sz="2800" dirty="0"/>
              <a:t>键</a:t>
            </a:r>
            <a:endParaRPr lang="en-US" altLang="zh-CN" sz="3000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0" y="0"/>
            <a:ext cx="8001000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j-ea"/>
                <a:cs typeface="+mj-cs"/>
              </a:rPr>
              <a:t>28.1 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j-ea"/>
                <a:cs typeface="+mj-cs"/>
              </a:rPr>
              <a:t>烯烃的通式和结构 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" name="Picture 9" descr="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8629" y="2209800"/>
            <a:ext cx="4799371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28.1 </a:t>
            </a:r>
            <a:r>
              <a:rPr lang="zh-CN" altLang="en-US" sz="4800" b="1" dirty="0">
                <a:latin typeface="+mn-ea"/>
              </a:rPr>
              <a:t>烯烃的通式和结构 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l-GR" altLang="zh-CN" sz="3000" dirty="0"/>
              <a:t>σ</a:t>
            </a:r>
            <a:r>
              <a:rPr lang="zh-CN" altLang="en-US" sz="3000" dirty="0"/>
              <a:t>键和</a:t>
            </a:r>
            <a:r>
              <a:rPr lang="el-GR" sz="2800" dirty="0"/>
              <a:t>π </a:t>
            </a:r>
            <a:r>
              <a:rPr lang="zh-CN" altLang="en-US" sz="3000" dirty="0"/>
              <a:t>键</a:t>
            </a:r>
            <a:endParaRPr lang="en-US" altLang="zh-CN" sz="3000" dirty="0"/>
          </a:p>
        </p:txBody>
      </p:sp>
      <p:pic>
        <p:nvPicPr>
          <p:cNvPr id="11" name="Picture 10" descr="s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11" y="1600200"/>
            <a:ext cx="6371589" cy="477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28.1 </a:t>
            </a:r>
            <a:r>
              <a:rPr lang="zh-CN" altLang="en-US" sz="4800" b="1" dirty="0">
                <a:latin typeface="+mn-ea"/>
              </a:rPr>
              <a:t>烯烃的通式和结构 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l-GR" altLang="zh-CN" sz="3000" dirty="0"/>
              <a:t>σ</a:t>
            </a:r>
            <a:r>
              <a:rPr lang="zh-CN" altLang="en-US" sz="3000" dirty="0"/>
              <a:t>键和</a:t>
            </a:r>
            <a:r>
              <a:rPr lang="el-GR" sz="2800" dirty="0"/>
              <a:t>π </a:t>
            </a:r>
            <a:r>
              <a:rPr lang="zh-CN" altLang="en-US" sz="3000" dirty="0"/>
              <a:t>键</a:t>
            </a:r>
            <a:endParaRPr lang="en-US" altLang="zh-CN" sz="3000" dirty="0"/>
          </a:p>
        </p:txBody>
      </p:sp>
      <p:pic>
        <p:nvPicPr>
          <p:cNvPr id="11" name="Picture 10" descr="s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11" y="914400"/>
            <a:ext cx="7848600" cy="588644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66800" y="5638800"/>
            <a:ext cx="3581400" cy="6096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singmpai.jpg"/>
          <p:cNvPicPr>
            <a:picLocks noChangeAspect="1"/>
          </p:cNvPicPr>
          <p:nvPr/>
        </p:nvPicPr>
        <p:blipFill>
          <a:blip r:embed="rId4"/>
          <a:srcRect t="39603" r="16717" b="32356"/>
          <a:stretch>
            <a:fillRect/>
          </a:stretch>
        </p:blipFill>
        <p:spPr>
          <a:xfrm>
            <a:off x="533400" y="1524000"/>
            <a:ext cx="8424672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28.1 </a:t>
            </a:r>
            <a:r>
              <a:rPr lang="zh-CN" altLang="en-US" sz="4800" b="1" dirty="0">
                <a:latin typeface="+mn-ea"/>
              </a:rPr>
              <a:t>烯烃的通式和结构 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l-GR" altLang="zh-CN" sz="3000" dirty="0"/>
              <a:t>σ</a:t>
            </a:r>
            <a:r>
              <a:rPr lang="zh-CN" altLang="en-US" sz="3000" dirty="0"/>
              <a:t>键和</a:t>
            </a:r>
            <a:r>
              <a:rPr lang="el-GR" sz="3000" dirty="0"/>
              <a:t>π </a:t>
            </a:r>
            <a:r>
              <a:rPr lang="zh-CN" altLang="en-US" sz="3000" dirty="0"/>
              <a:t>键</a:t>
            </a:r>
            <a:endParaRPr lang="en-US" altLang="zh-CN" sz="3000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l-GR" sz="3000" dirty="0"/>
              <a:t>π </a:t>
            </a:r>
            <a:r>
              <a:rPr lang="zh-CN" altLang="en-US" sz="3000" dirty="0"/>
              <a:t>键重叠程度较</a:t>
            </a:r>
            <a:r>
              <a:rPr lang="el-GR" altLang="zh-CN" sz="3000" dirty="0"/>
              <a:t>σ</a:t>
            </a:r>
            <a:r>
              <a:rPr lang="zh-CN" altLang="en-US" sz="3000" dirty="0"/>
              <a:t>键小，因此键能：</a:t>
            </a:r>
            <a:r>
              <a:rPr lang="el-GR" sz="3000" dirty="0"/>
              <a:t>π </a:t>
            </a:r>
            <a:r>
              <a:rPr lang="zh-CN" altLang="en-US" sz="3000" dirty="0"/>
              <a:t>键 </a:t>
            </a:r>
            <a:r>
              <a:rPr lang="en-US" altLang="zh-CN" sz="3000" dirty="0"/>
              <a:t>&lt; </a:t>
            </a:r>
            <a:r>
              <a:rPr lang="el-GR" altLang="zh-CN" sz="3000" dirty="0"/>
              <a:t>σ</a:t>
            </a:r>
            <a:r>
              <a:rPr lang="zh-CN" altLang="en-US" sz="3000" dirty="0"/>
              <a:t>键</a:t>
            </a:r>
            <a:endParaRPr lang="en-US" altLang="zh-CN" sz="3000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l-GR" sz="3000" dirty="0"/>
              <a:t>π </a:t>
            </a:r>
            <a:r>
              <a:rPr lang="zh-CN" altLang="en-US" sz="3000" dirty="0"/>
              <a:t>键电子云分散在两核上下，离核远，原子核对</a:t>
            </a:r>
            <a:r>
              <a:rPr lang="el-GR" sz="3000" dirty="0"/>
              <a:t>π </a:t>
            </a:r>
            <a:r>
              <a:rPr lang="zh-CN" altLang="en-US" sz="3000" dirty="0"/>
              <a:t>电子的束缚力小，所以</a:t>
            </a:r>
            <a:r>
              <a:rPr lang="el-GR" sz="3000" dirty="0"/>
              <a:t>π </a:t>
            </a:r>
            <a:r>
              <a:rPr lang="zh-CN" altLang="en-US" sz="3000" dirty="0"/>
              <a:t>电子云流动性大，易受外界影响，易断裂，</a:t>
            </a:r>
            <a:r>
              <a:rPr lang="en-US" altLang="zh-CN" sz="3000" dirty="0"/>
              <a:t>C=C</a:t>
            </a:r>
            <a:r>
              <a:rPr lang="zh-CN" altLang="en-US" sz="3000" dirty="0"/>
              <a:t>双键很活泼。</a:t>
            </a:r>
            <a:endParaRPr lang="en-US" altLang="zh-CN" sz="3000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l-GR" sz="3000" dirty="0"/>
              <a:t>π </a:t>
            </a:r>
            <a:r>
              <a:rPr lang="zh-CN" altLang="en-US" sz="3000" dirty="0"/>
              <a:t>键不能绕轴旋转，</a:t>
            </a:r>
            <a:r>
              <a:rPr lang="en-US" altLang="zh-CN" sz="3000" dirty="0"/>
              <a:t>C=C</a:t>
            </a:r>
            <a:r>
              <a:rPr lang="zh-CN" altLang="en-US" sz="3000" dirty="0"/>
              <a:t>双键的碳原子不能像</a:t>
            </a:r>
            <a:r>
              <a:rPr lang="en-US" altLang="zh-CN" sz="3000" dirty="0"/>
              <a:t>C—C </a:t>
            </a:r>
            <a:r>
              <a:rPr lang="zh-CN" altLang="en-US" sz="3000" dirty="0"/>
              <a:t>单键那样自由旋转。</a:t>
            </a:r>
            <a:endParaRPr lang="en-US" altLang="zh-CN" sz="3000" dirty="0"/>
          </a:p>
          <a:p>
            <a:pPr>
              <a:lnSpc>
                <a:spcPct val="150000"/>
              </a:lnSpc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800" b="1" dirty="0">
                <a:latin typeface="+mn-ea"/>
              </a:rPr>
              <a:t>思考题 </a:t>
            </a:r>
            <a:r>
              <a:rPr lang="en-US" altLang="zh-CN" sz="4800" b="1" dirty="0">
                <a:latin typeface="+mn-ea"/>
              </a:rPr>
              <a:t>28a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zh-CN" sz="3000" dirty="0"/>
              <a:t>B 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zh-CN" sz="3000" dirty="0"/>
              <a:t>A 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zh-CN" sz="3000" dirty="0"/>
              <a:t>C </a:t>
            </a:r>
          </a:p>
        </p:txBody>
      </p:sp>
    </p:spTree>
    <p:extLst>
      <p:ext uri="{BB962C8B-B14F-4D97-AF65-F5344CB8AC3E}">
        <p14:creationId xmlns:p14="http://schemas.microsoft.com/office/powerpoint/2010/main" val="32516317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b="1" dirty="0">
                <a:latin typeface="+mn-ea"/>
              </a:rPr>
              <a:t>28.3 </a:t>
            </a:r>
            <a:r>
              <a:rPr lang="zh-CN" altLang="en-US" b="1" dirty="0">
                <a:latin typeface="+mn-ea"/>
              </a:rPr>
              <a:t>烯烃的系统命名法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3000" dirty="0"/>
              <a:t>系统命名法</a:t>
            </a:r>
            <a:endParaRPr lang="en-US" altLang="zh-CN" sz="3000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dirty="0"/>
              <a:t>与烷烃命名法相似</a:t>
            </a:r>
            <a:endParaRPr lang="en-US" altLang="zh-CN" sz="30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sz="3000" dirty="0"/>
              <a:t>选最长且含</a:t>
            </a:r>
            <a:r>
              <a:rPr lang="en-US" altLang="zh-CN" sz="3000" dirty="0"/>
              <a:t>C=C</a:t>
            </a:r>
            <a:r>
              <a:rPr lang="zh-CN" altLang="en-US" sz="3000" dirty="0"/>
              <a:t>双键的碳链为主链</a:t>
            </a:r>
            <a:endParaRPr lang="en-US" altLang="zh-CN" sz="30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sz="3000" dirty="0"/>
              <a:t>给碳原子编号必须从靠近</a:t>
            </a:r>
            <a:r>
              <a:rPr lang="en-US" altLang="zh-CN" sz="3000" dirty="0"/>
              <a:t>C=C</a:t>
            </a:r>
            <a:r>
              <a:rPr lang="zh-CN" altLang="en-US" sz="3000" dirty="0"/>
              <a:t>双键一端编起</a:t>
            </a:r>
            <a:endParaRPr lang="en-US" altLang="zh-CN" sz="30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sz="3000" dirty="0"/>
              <a:t>用阿拉伯数字标明</a:t>
            </a:r>
            <a:r>
              <a:rPr lang="en-US" altLang="zh-CN" sz="3000" dirty="0"/>
              <a:t>C=C</a:t>
            </a:r>
            <a:r>
              <a:rPr lang="zh-CN" altLang="en-US" sz="3000" dirty="0"/>
              <a:t>双键的位置</a:t>
            </a:r>
            <a:endParaRPr lang="en-MY" altLang="zh-CN" sz="30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sz="3000" dirty="0"/>
              <a:t>取代基的命名</a:t>
            </a: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26755436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b="1" dirty="0">
                <a:latin typeface="+mn-ea"/>
              </a:rPr>
              <a:t>28.2 </a:t>
            </a:r>
            <a:r>
              <a:rPr lang="zh-CN" altLang="en-US" b="1" dirty="0">
                <a:latin typeface="+mn-ea"/>
              </a:rPr>
              <a:t>烯烃的同分异构体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dirty="0"/>
              <a:t>烯烃</a:t>
            </a:r>
            <a:r>
              <a:rPr lang="en-US" altLang="zh-CN" sz="3000" dirty="0"/>
              <a:t>C</a:t>
            </a:r>
            <a:r>
              <a:rPr lang="en-US" altLang="zh-CN" sz="3000" baseline="-25000" dirty="0"/>
              <a:t>n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2n </a:t>
            </a:r>
            <a:r>
              <a:rPr lang="en-US" altLang="zh-CN" sz="3000" dirty="0"/>
              <a:t> n≥2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dirty="0"/>
              <a:t>烯烃的同分异构现象</a:t>
            </a:r>
            <a:r>
              <a:rPr lang="en-US" altLang="zh-CN" sz="3000" dirty="0"/>
              <a:t> n≥4</a:t>
            </a:r>
            <a:r>
              <a:rPr lang="zh-CN" altLang="en-US" sz="3000" dirty="0"/>
              <a:t>（同系物）</a:t>
            </a:r>
            <a:endParaRPr lang="en-US" altLang="zh-CN" sz="30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000" dirty="0"/>
              <a:t>碳链异构</a:t>
            </a:r>
            <a:endParaRPr lang="en-US" altLang="zh-CN" sz="30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000" dirty="0"/>
              <a:t>位置异构</a:t>
            </a:r>
            <a:endParaRPr lang="en-US" altLang="zh-CN" sz="30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000" dirty="0"/>
              <a:t>立体异构 </a:t>
            </a:r>
            <a:r>
              <a:rPr lang="en-US" altLang="zh-CN" sz="3000" dirty="0"/>
              <a:t>-- </a:t>
            </a:r>
            <a:r>
              <a:rPr lang="zh-CN" altLang="en-US" sz="3000" dirty="0"/>
              <a:t>顺反异构</a:t>
            </a:r>
            <a:endParaRPr lang="en-US" altLang="zh-CN" sz="30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000" dirty="0"/>
              <a:t>官能团异构：环烷烃与烯烃（</a:t>
            </a:r>
            <a:r>
              <a:rPr lang="en-US" altLang="zh-CN" sz="3000" dirty="0"/>
              <a:t>n≥3</a:t>
            </a:r>
            <a:r>
              <a:rPr lang="zh-CN" altLang="en-US" sz="3000" dirty="0"/>
              <a:t>）</a:t>
            </a:r>
            <a:endParaRPr lang="en-MY" altLang="zh-CN" sz="3000" dirty="0"/>
          </a:p>
          <a:p>
            <a:pPr marL="0" indent="0">
              <a:lnSpc>
                <a:spcPct val="150000"/>
              </a:lnSpc>
              <a:buNone/>
            </a:pPr>
            <a:r>
              <a:rPr lang="en-MY" altLang="zh-CN" sz="3000" dirty="0"/>
              <a:t>	</a:t>
            </a:r>
            <a:r>
              <a:rPr lang="zh-CN" altLang="en-US" sz="3000"/>
              <a:t>例：环丙烷、丙烯</a:t>
            </a:r>
            <a:endParaRPr lang="en-US" altLang="zh-CN" sz="3000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lnSpc>
                <a:spcPct val="150000"/>
              </a:lnSpc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b="1" dirty="0">
                <a:latin typeface="+mn-ea"/>
              </a:rPr>
              <a:t>28.2 </a:t>
            </a:r>
            <a:r>
              <a:rPr lang="zh-CN" altLang="en-US" b="1" dirty="0">
                <a:latin typeface="+mn-ea"/>
              </a:rPr>
              <a:t>烯烃的同分异构体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3000" dirty="0"/>
              <a:t>1. </a:t>
            </a:r>
            <a:r>
              <a:rPr lang="zh-CN" altLang="en-US" sz="3000" dirty="0"/>
              <a:t>碳链异构：碳链结构不同而引起的。</a:t>
            </a:r>
            <a:endParaRPr lang="en-US" altLang="zh-CN" sz="3000" dirty="0"/>
          </a:p>
          <a:p>
            <a:pPr>
              <a:lnSpc>
                <a:spcPct val="150000"/>
              </a:lnSpc>
              <a:buNone/>
            </a:pPr>
            <a:r>
              <a:rPr lang="en-US" altLang="zh-CN" sz="3000" dirty="0"/>
              <a:t>		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= CH 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</a:t>
            </a:r>
            <a:r>
              <a:rPr lang="en-US" altLang="zh-CN" sz="3000" dirty="0" err="1"/>
              <a:t>CH</a:t>
            </a:r>
            <a:r>
              <a:rPr lang="en-US" altLang="zh-CN" sz="3000" baseline="-25000" dirty="0" err="1"/>
              <a:t>2</a:t>
            </a:r>
            <a:r>
              <a:rPr lang="en-US" altLang="zh-CN" sz="3000" dirty="0"/>
              <a:t> </a:t>
            </a:r>
            <a:r>
              <a:rPr lang="en-US" altLang="zh-CN" sz="3000" dirty="0" err="1"/>
              <a:t>CH</a:t>
            </a:r>
            <a:r>
              <a:rPr lang="en-US" altLang="zh-CN" sz="3000" baseline="-25000" dirty="0" err="1"/>
              <a:t>2</a:t>
            </a:r>
            <a:r>
              <a:rPr lang="en-US" altLang="zh-CN" sz="3000" dirty="0"/>
              <a:t> 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		</a:t>
            </a:r>
          </a:p>
          <a:p>
            <a:pPr>
              <a:lnSpc>
                <a:spcPct val="150000"/>
              </a:lnSpc>
              <a:buNone/>
            </a:pPr>
            <a:endParaRPr lang="en-US" altLang="zh-CN" sz="3000" dirty="0"/>
          </a:p>
        </p:txBody>
      </p:sp>
      <p:pic>
        <p:nvPicPr>
          <p:cNvPr id="7" name="Picture 6" descr="xiting1.jpg"/>
          <p:cNvPicPr>
            <a:picLocks noChangeAspect="1"/>
          </p:cNvPicPr>
          <p:nvPr/>
        </p:nvPicPr>
        <p:blipFill>
          <a:blip r:embed="rId3"/>
          <a:srcRect l="11666" t="66666" r="66667" b="20000"/>
          <a:stretch>
            <a:fillRect/>
          </a:stretch>
        </p:blipFill>
        <p:spPr>
          <a:xfrm>
            <a:off x="990600" y="2642175"/>
            <a:ext cx="4419600" cy="1905000"/>
          </a:xfrm>
          <a:prstGeom prst="rect">
            <a:avLst/>
          </a:prstGeom>
        </p:spPr>
      </p:pic>
      <p:pic>
        <p:nvPicPr>
          <p:cNvPr id="8" name="Picture 7" descr="xiting1.jpg"/>
          <p:cNvPicPr>
            <a:picLocks noChangeAspect="1"/>
          </p:cNvPicPr>
          <p:nvPr/>
        </p:nvPicPr>
        <p:blipFill>
          <a:blip r:embed="rId3"/>
          <a:srcRect l="11666" t="82222" r="65000" b="7778"/>
          <a:stretch>
            <a:fillRect/>
          </a:stretch>
        </p:blipFill>
        <p:spPr>
          <a:xfrm>
            <a:off x="990600" y="4623375"/>
            <a:ext cx="4648200" cy="1549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876242" y="2057400"/>
            <a:ext cx="15151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1–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己烯</a:t>
            </a:r>
            <a:endParaRPr lang="en-US" sz="3200" dirty="0"/>
          </a:p>
        </p:txBody>
      </p:sp>
      <p:sp>
        <p:nvSpPr>
          <p:cNvPr id="10" name="Rectangle 9"/>
          <p:cNvSpPr/>
          <p:nvPr/>
        </p:nvSpPr>
        <p:spPr>
          <a:xfrm>
            <a:off x="5867400" y="3276600"/>
            <a:ext cx="295786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2–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甲基</a:t>
            </a:r>
            <a:r>
              <a:rPr lang="en-US" altLang="zh-CN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–2 –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戊烯</a:t>
            </a:r>
            <a:endParaRPr lang="en-US" sz="3200" dirty="0"/>
          </a:p>
        </p:txBody>
      </p:sp>
      <p:sp>
        <p:nvSpPr>
          <p:cNvPr id="11" name="Rectangle 10"/>
          <p:cNvSpPr/>
          <p:nvPr/>
        </p:nvSpPr>
        <p:spPr>
          <a:xfrm>
            <a:off x="5867400" y="4953000"/>
            <a:ext cx="295786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2–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甲基</a:t>
            </a:r>
            <a:r>
              <a:rPr lang="en-US" altLang="zh-CN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–1 –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戊烯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/>
      <p:bldP spid="10" grpId="0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b="1" dirty="0">
                <a:latin typeface="+mn-ea"/>
              </a:rPr>
              <a:t>28.2 </a:t>
            </a:r>
            <a:r>
              <a:rPr lang="zh-CN" altLang="en-US" b="1" dirty="0">
                <a:latin typeface="+mn-ea"/>
              </a:rPr>
              <a:t>烯烃的同分异构体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3000" dirty="0"/>
              <a:t>2. </a:t>
            </a:r>
            <a:r>
              <a:rPr lang="zh-CN" altLang="en-US" sz="3000" dirty="0"/>
              <a:t>位置异构：</a:t>
            </a:r>
            <a:r>
              <a:rPr lang="en-US" altLang="zh-CN" sz="3000" dirty="0"/>
              <a:t>C=C</a:t>
            </a:r>
            <a:r>
              <a:rPr lang="zh-CN" altLang="en-US" sz="3000" dirty="0"/>
              <a:t>双键的位置不同而引起的。</a:t>
            </a:r>
            <a:endParaRPr lang="en-US" altLang="zh-CN" sz="3000" dirty="0"/>
          </a:p>
          <a:p>
            <a:pPr>
              <a:lnSpc>
                <a:spcPct val="150000"/>
              </a:lnSpc>
              <a:buNone/>
            </a:pPr>
            <a:endParaRPr lang="en-US" altLang="zh-CN" sz="3000" dirty="0"/>
          </a:p>
          <a:p>
            <a:pPr>
              <a:lnSpc>
                <a:spcPct val="150000"/>
              </a:lnSpc>
              <a:buNone/>
            </a:pPr>
            <a:endParaRPr lang="en-US" altLang="zh-CN" sz="3000" dirty="0"/>
          </a:p>
        </p:txBody>
      </p:sp>
      <p:pic>
        <p:nvPicPr>
          <p:cNvPr id="6" name="Picture 5" descr="xiting1.jpg"/>
          <p:cNvPicPr>
            <a:picLocks noChangeAspect="1"/>
          </p:cNvPicPr>
          <p:nvPr/>
        </p:nvPicPr>
        <p:blipFill>
          <a:blip r:embed="rId3"/>
          <a:srcRect l="5833" t="26667" r="55833" b="38889"/>
          <a:stretch>
            <a:fillRect/>
          </a:stretch>
        </p:blipFill>
        <p:spPr>
          <a:xfrm>
            <a:off x="533400" y="1828800"/>
            <a:ext cx="4953000" cy="3810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876242" y="1929824"/>
            <a:ext cx="15151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1–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己烯</a:t>
            </a:r>
            <a:endParaRPr lang="en-US" sz="3200" dirty="0"/>
          </a:p>
        </p:txBody>
      </p:sp>
      <p:sp>
        <p:nvSpPr>
          <p:cNvPr id="9" name="Rectangle 8"/>
          <p:cNvSpPr/>
          <p:nvPr/>
        </p:nvSpPr>
        <p:spPr>
          <a:xfrm>
            <a:off x="5867400" y="3149024"/>
            <a:ext cx="15151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2–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己烯</a:t>
            </a:r>
            <a:endParaRPr lang="en-US" sz="3200" dirty="0"/>
          </a:p>
        </p:txBody>
      </p:sp>
      <p:sp>
        <p:nvSpPr>
          <p:cNvPr id="10" name="Rectangle 9"/>
          <p:cNvSpPr/>
          <p:nvPr/>
        </p:nvSpPr>
        <p:spPr>
          <a:xfrm>
            <a:off x="5943600" y="4724399"/>
            <a:ext cx="15151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3–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己烯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  <p:bldP spid="9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b="1" dirty="0">
                <a:latin typeface="+mn-ea"/>
              </a:rPr>
              <a:t>28.2 </a:t>
            </a:r>
            <a:r>
              <a:rPr lang="zh-CN" altLang="en-US" b="1" dirty="0">
                <a:latin typeface="+mn-ea"/>
              </a:rPr>
              <a:t>烯烃的同分异构体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sz="3000" dirty="0"/>
              <a:t>3. </a:t>
            </a:r>
            <a:r>
              <a:rPr lang="zh-CN" altLang="en-US" sz="3000" dirty="0"/>
              <a:t>顺反异构：由于</a:t>
            </a:r>
            <a:r>
              <a:rPr lang="en-US" altLang="zh-CN" sz="3000" dirty="0"/>
              <a:t>C=C</a:t>
            </a:r>
            <a:r>
              <a:rPr lang="zh-CN" altLang="en-US" sz="3000" dirty="0"/>
              <a:t>双键（其中的</a:t>
            </a:r>
            <a:r>
              <a:rPr lang="el-GR" sz="3000" dirty="0"/>
              <a:t> π</a:t>
            </a:r>
            <a:r>
              <a:rPr lang="zh-CN" altLang="en-US" sz="3000" dirty="0"/>
              <a:t>键）不能相对旋转，而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双键的两端</a:t>
            </a:r>
            <a:r>
              <a:rPr lang="zh-CN" altLang="en-US" sz="3000" dirty="0"/>
              <a:t>又</a:t>
            </a:r>
            <a:r>
              <a:rPr lang="zh-CN" altLang="en-US" sz="3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分别</a:t>
            </a:r>
            <a:r>
              <a:rPr lang="zh-CN" altLang="en-US" sz="3000" dirty="0"/>
              <a:t>连接着</a:t>
            </a:r>
            <a:r>
              <a:rPr lang="zh-CN" altLang="en-US" sz="3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两个不同的原子或原子团</a:t>
            </a:r>
            <a:r>
              <a:rPr lang="zh-CN" altLang="en-US" sz="3000" dirty="0"/>
              <a:t>时，便出现了顺反异构体。</a:t>
            </a:r>
            <a:endParaRPr lang="en-US" altLang="zh-CN" sz="3000" dirty="0"/>
          </a:p>
          <a:p>
            <a:pPr>
              <a:buFont typeface="Wingdings" pitchFamily="2" charset="2"/>
              <a:buChar char="v"/>
            </a:pPr>
            <a:r>
              <a:rPr lang="zh-CN" altLang="en-US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若</a:t>
            </a:r>
            <a:r>
              <a:rPr lang="en-US" altLang="zh-CN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C=C</a:t>
            </a:r>
            <a:r>
              <a:rPr lang="zh-CN" altLang="en-US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双键的</a:t>
            </a:r>
            <a:r>
              <a:rPr lang="zh-CN" altLang="en-US" sz="30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其中</a:t>
            </a:r>
            <a:r>
              <a:rPr lang="zh-CN" altLang="en-US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一端连接着</a:t>
            </a:r>
            <a:r>
              <a:rPr lang="zh-CN" altLang="en-US" sz="30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两个相同</a:t>
            </a:r>
            <a:r>
              <a:rPr lang="zh-CN" altLang="en-US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的原子或原子团则此烯烃</a:t>
            </a:r>
            <a:r>
              <a:rPr lang="zh-CN" altLang="en-US" sz="30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不含顺反异构</a:t>
            </a:r>
            <a:r>
              <a:rPr lang="zh-CN" altLang="en-US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。</a:t>
            </a:r>
            <a:endParaRPr lang="en-US" altLang="zh-CN" sz="3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000" dirty="0"/>
          </a:p>
          <a:p>
            <a:pPr>
              <a:lnSpc>
                <a:spcPct val="150000"/>
              </a:lnSpc>
              <a:buNone/>
            </a:pPr>
            <a:endParaRPr lang="en-US" altLang="zh-CN" sz="3000" dirty="0"/>
          </a:p>
          <a:p>
            <a:pPr>
              <a:lnSpc>
                <a:spcPct val="150000"/>
              </a:lnSpc>
              <a:buNone/>
            </a:pPr>
            <a:endParaRPr lang="en-US" altLang="zh-CN" sz="3000" dirty="0"/>
          </a:p>
        </p:txBody>
      </p:sp>
      <p:pic>
        <p:nvPicPr>
          <p:cNvPr id="6" name="Picture 5" descr="cistran2.jpg"/>
          <p:cNvPicPr>
            <a:picLocks noChangeAspect="1"/>
          </p:cNvPicPr>
          <p:nvPr/>
        </p:nvPicPr>
        <p:blipFill>
          <a:blip r:embed="rId3"/>
          <a:srcRect l="7673" t="42718" r="10116" b="20388"/>
          <a:stretch>
            <a:fillRect/>
          </a:stretch>
        </p:blipFill>
        <p:spPr>
          <a:xfrm>
            <a:off x="76200" y="3429000"/>
            <a:ext cx="883920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b="1" dirty="0">
                <a:latin typeface="+mn-ea"/>
              </a:rPr>
              <a:t>28.2 </a:t>
            </a:r>
            <a:r>
              <a:rPr lang="zh-CN" altLang="en-US" b="1" dirty="0">
                <a:latin typeface="+mn-ea"/>
              </a:rPr>
              <a:t>烯烃的同分异构体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3000" dirty="0"/>
              <a:t>顺反异构</a:t>
            </a:r>
            <a:endParaRPr lang="en-US" altLang="zh-CN" sz="3000" dirty="0"/>
          </a:p>
          <a:p>
            <a:pPr>
              <a:lnSpc>
                <a:spcPct val="150000"/>
              </a:lnSpc>
              <a:buNone/>
            </a:pPr>
            <a:endParaRPr lang="en-US" altLang="zh-CN" sz="3000" dirty="0"/>
          </a:p>
          <a:p>
            <a:pPr>
              <a:lnSpc>
                <a:spcPct val="150000"/>
              </a:lnSpc>
              <a:buNone/>
            </a:pPr>
            <a:endParaRPr lang="en-US" altLang="zh-CN" sz="3000" dirty="0"/>
          </a:p>
          <a:p>
            <a:pPr>
              <a:lnSpc>
                <a:spcPct val="150000"/>
              </a:lnSpc>
              <a:buNone/>
            </a:pPr>
            <a:endParaRPr lang="en-US" altLang="zh-CN" sz="3000" dirty="0"/>
          </a:p>
          <a:p>
            <a:pPr>
              <a:lnSpc>
                <a:spcPct val="150000"/>
              </a:lnSpc>
              <a:buNone/>
            </a:pPr>
            <a:endParaRPr lang="en-US" altLang="zh-CN" sz="3000" dirty="0"/>
          </a:p>
          <a:p>
            <a:pPr>
              <a:buNone/>
            </a:pPr>
            <a:endParaRPr lang="en-US" altLang="zh-CN" sz="3000" dirty="0"/>
          </a:p>
          <a:p>
            <a:pPr>
              <a:lnSpc>
                <a:spcPct val="150000"/>
              </a:lnSpc>
              <a:buNone/>
            </a:pPr>
            <a:endParaRPr lang="en-US" altLang="zh-CN" sz="3000" dirty="0"/>
          </a:p>
        </p:txBody>
      </p:sp>
      <p:pic>
        <p:nvPicPr>
          <p:cNvPr id="6" name="Picture 5" descr="Cis-trans1.png"/>
          <p:cNvPicPr>
            <a:picLocks noChangeAspect="1"/>
          </p:cNvPicPr>
          <p:nvPr/>
        </p:nvPicPr>
        <p:blipFill>
          <a:blip r:embed="rId3"/>
          <a:srcRect b="16209"/>
          <a:stretch>
            <a:fillRect/>
          </a:stretch>
        </p:blipFill>
        <p:spPr>
          <a:xfrm>
            <a:off x="609599" y="1890776"/>
            <a:ext cx="7712869" cy="275742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00200" y="4800600"/>
            <a:ext cx="213231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顺</a:t>
            </a:r>
            <a:r>
              <a:rPr lang="en-US" altLang="zh-CN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–2–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丁烯</a:t>
            </a:r>
            <a:endParaRPr lang="en-US" sz="3200" dirty="0"/>
          </a:p>
        </p:txBody>
      </p:sp>
      <p:sp>
        <p:nvSpPr>
          <p:cNvPr id="8" name="Rectangle 7"/>
          <p:cNvSpPr/>
          <p:nvPr/>
        </p:nvSpPr>
        <p:spPr>
          <a:xfrm>
            <a:off x="5106685" y="4800600"/>
            <a:ext cx="213231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反</a:t>
            </a:r>
            <a:r>
              <a:rPr lang="en-US" altLang="zh-CN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–2–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丁烯</a:t>
            </a:r>
            <a:endParaRPr lang="en-US" sz="3200" dirty="0"/>
          </a:p>
        </p:txBody>
      </p:sp>
      <p:sp>
        <p:nvSpPr>
          <p:cNvPr id="9" name="Rounded Rectangle 8"/>
          <p:cNvSpPr/>
          <p:nvPr/>
        </p:nvSpPr>
        <p:spPr>
          <a:xfrm>
            <a:off x="685800" y="1981200"/>
            <a:ext cx="3657600" cy="8382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363485" y="1447800"/>
            <a:ext cx="18325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相同，顺</a:t>
            </a: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876800" y="1981200"/>
            <a:ext cx="3657600" cy="8382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554485" y="1447800"/>
            <a:ext cx="18325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不同，反</a:t>
            </a:r>
            <a:endParaRPr lang="en-US" sz="3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  <p:bldP spid="8" grpId="0"/>
      <p:bldP spid="9" grpId="0" animBg="1"/>
      <p:bldP spid="10" grpId="0"/>
      <p:bldP spid="11" grpId="0" animBg="1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b="1" dirty="0">
                <a:latin typeface="+mn-ea"/>
              </a:rPr>
              <a:t>28.2 </a:t>
            </a:r>
            <a:r>
              <a:rPr lang="zh-CN" altLang="en-US" b="1" dirty="0">
                <a:latin typeface="+mn-ea"/>
              </a:rPr>
              <a:t>烯烃的同分异构体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zh-CN" altLang="en-US" sz="3000" dirty="0"/>
              <a:t>交流分享</a:t>
            </a:r>
            <a:endParaRPr lang="en-MY" altLang="zh-CN" sz="3000" dirty="0"/>
          </a:p>
          <a:p>
            <a:pPr marL="514350" indent="-514350">
              <a:spcBef>
                <a:spcPts val="600"/>
              </a:spcBef>
              <a:buAutoNum type="arabicPeriod"/>
            </a:pPr>
            <a:r>
              <a:rPr lang="zh-CN" altLang="en-US" sz="3000" dirty="0"/>
              <a:t>产生同分异构现象的本质是：原子的排列顺序不同、碳原子的连接方式不同、成键类型不同。</a:t>
            </a:r>
            <a:endParaRPr lang="en-MY" altLang="zh-CN" sz="3000" dirty="0"/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/>
              <a:t>2. 10</a:t>
            </a:r>
            <a:r>
              <a:rPr lang="zh-CN" altLang="en-US" sz="3000" dirty="0"/>
              <a:t>种。</a:t>
            </a:r>
          </a:p>
          <a:p>
            <a:pPr>
              <a:spcBef>
                <a:spcPts val="600"/>
              </a:spcBef>
            </a:pPr>
            <a:r>
              <a:rPr lang="en-US" altLang="zh-CN" sz="3000" dirty="0"/>
              <a:t>1-</a:t>
            </a:r>
            <a:r>
              <a:rPr lang="zh-CN" altLang="en-US" sz="3000" dirty="0"/>
              <a:t>戊烯、顺</a:t>
            </a:r>
            <a:r>
              <a:rPr lang="en-US" altLang="zh-CN" sz="3000" dirty="0"/>
              <a:t>-2-</a:t>
            </a:r>
            <a:r>
              <a:rPr lang="zh-CN" altLang="en-US" sz="3000" dirty="0"/>
              <a:t>戊烯、反</a:t>
            </a:r>
            <a:r>
              <a:rPr lang="en-US" altLang="zh-CN" sz="3000" dirty="0"/>
              <a:t>-2-</a:t>
            </a:r>
            <a:r>
              <a:rPr lang="zh-CN" altLang="en-US" sz="3000" dirty="0"/>
              <a:t>戊烯</a:t>
            </a:r>
            <a:endParaRPr lang="en-MY" altLang="zh-CN" sz="3000" dirty="0"/>
          </a:p>
          <a:p>
            <a:pPr>
              <a:spcBef>
                <a:spcPts val="600"/>
              </a:spcBef>
            </a:pPr>
            <a:r>
              <a:rPr lang="en-US" altLang="zh-CN" sz="3000" dirty="0"/>
              <a:t>2-</a:t>
            </a:r>
            <a:r>
              <a:rPr lang="zh-CN" altLang="en-US" sz="3000" dirty="0"/>
              <a:t>甲基</a:t>
            </a:r>
            <a:r>
              <a:rPr lang="en-US" altLang="zh-CN" sz="3000" dirty="0"/>
              <a:t>-1-</a:t>
            </a:r>
            <a:r>
              <a:rPr lang="zh-CN" altLang="en-US" sz="3000" dirty="0"/>
              <a:t>丁烯、</a:t>
            </a:r>
            <a:r>
              <a:rPr lang="en-US" altLang="zh-CN" sz="3000" dirty="0"/>
              <a:t> 3-</a:t>
            </a:r>
            <a:r>
              <a:rPr lang="zh-CN" altLang="en-US" sz="3000" dirty="0"/>
              <a:t>甲基</a:t>
            </a:r>
            <a:r>
              <a:rPr lang="en-US" altLang="zh-CN" sz="3000" dirty="0"/>
              <a:t>-1-</a:t>
            </a:r>
            <a:r>
              <a:rPr lang="zh-CN" altLang="en-US" sz="3000" dirty="0"/>
              <a:t>丁烯、</a:t>
            </a:r>
            <a:r>
              <a:rPr lang="en-US" altLang="zh-CN" sz="3000" dirty="0"/>
              <a:t> 2-</a:t>
            </a:r>
            <a:r>
              <a:rPr lang="zh-CN" altLang="en-US" sz="3000" dirty="0"/>
              <a:t>甲基</a:t>
            </a:r>
            <a:r>
              <a:rPr lang="en-US" altLang="zh-CN" sz="3000" dirty="0"/>
              <a:t>-2-</a:t>
            </a:r>
            <a:r>
              <a:rPr lang="zh-CN" altLang="en-US" sz="3000" dirty="0"/>
              <a:t>丁烯</a:t>
            </a:r>
            <a:endParaRPr lang="en-MY" altLang="zh-CN" sz="3000" dirty="0"/>
          </a:p>
          <a:p>
            <a:pPr>
              <a:spcBef>
                <a:spcPts val="600"/>
              </a:spcBef>
            </a:pPr>
            <a:r>
              <a:rPr lang="zh-CN" altLang="en-US" sz="3000" dirty="0"/>
              <a:t>环戊烷、甲基环丁烷、二甲基环丙烷、乙基环丙烷</a:t>
            </a:r>
            <a:endParaRPr lang="en-MY" sz="3000" dirty="0"/>
          </a:p>
          <a:p>
            <a:pPr marL="0" indent="0">
              <a:spcBef>
                <a:spcPts val="600"/>
              </a:spcBef>
              <a:buNone/>
            </a:pPr>
            <a:endParaRPr lang="en-US" altLang="zh-CN" sz="3000" dirty="0"/>
          </a:p>
          <a:p>
            <a:pPr>
              <a:spcBef>
                <a:spcPts val="600"/>
              </a:spcBef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1340675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b="1" dirty="0">
                <a:latin typeface="+mn-ea"/>
              </a:rPr>
              <a:t>28.2 </a:t>
            </a:r>
            <a:r>
              <a:rPr lang="zh-CN" altLang="en-US" b="1" dirty="0">
                <a:latin typeface="+mn-ea"/>
              </a:rPr>
              <a:t>烯烃的同分异构体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3000" dirty="0"/>
              <a:t>C</a:t>
            </a:r>
            <a:r>
              <a:rPr lang="en-US" altLang="zh-CN" sz="3000" baseline="-25000" dirty="0"/>
              <a:t>5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10</a:t>
            </a:r>
            <a:r>
              <a:rPr lang="en-US" altLang="zh-CN" sz="3000" dirty="0"/>
              <a:t> </a:t>
            </a:r>
            <a:r>
              <a:rPr lang="zh-CN" altLang="en-US" sz="3000" dirty="0"/>
              <a:t>的烯烃同分异构体</a:t>
            </a:r>
            <a:endParaRPr lang="en-US" altLang="zh-CN" sz="3000" dirty="0"/>
          </a:p>
        </p:txBody>
      </p:sp>
      <p:pic>
        <p:nvPicPr>
          <p:cNvPr id="6" name="Picture 5" descr="二烯烃的命名.jpg"/>
          <p:cNvPicPr>
            <a:picLocks noChangeAspect="1"/>
          </p:cNvPicPr>
          <p:nvPr/>
        </p:nvPicPr>
        <p:blipFill>
          <a:blip r:embed="rId3"/>
          <a:srcRect t="39307" b="38710"/>
          <a:stretch>
            <a:fillRect/>
          </a:stretch>
        </p:blipFill>
        <p:spPr>
          <a:xfrm>
            <a:off x="6016" y="1676400"/>
            <a:ext cx="9137984" cy="1752600"/>
          </a:xfrm>
          <a:prstGeom prst="rect">
            <a:avLst/>
          </a:prstGeom>
        </p:spPr>
      </p:pic>
      <p:pic>
        <p:nvPicPr>
          <p:cNvPr id="7" name="Picture 6" descr="二烯烃的命名.jpg"/>
          <p:cNvPicPr>
            <a:picLocks noChangeAspect="1"/>
          </p:cNvPicPr>
          <p:nvPr/>
        </p:nvPicPr>
        <p:blipFill>
          <a:blip r:embed="rId3"/>
          <a:srcRect t="62246" b="12903"/>
          <a:stretch>
            <a:fillRect/>
          </a:stretch>
        </p:blipFill>
        <p:spPr>
          <a:xfrm>
            <a:off x="6016" y="4038600"/>
            <a:ext cx="9137984" cy="1981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99442" y="3352800"/>
            <a:ext cx="1431802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1– 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戊烯</a:t>
            </a:r>
            <a:endParaRPr lang="en-US" sz="3000" dirty="0"/>
          </a:p>
        </p:txBody>
      </p:sp>
      <p:sp>
        <p:nvSpPr>
          <p:cNvPr id="9" name="Rectangle 8"/>
          <p:cNvSpPr/>
          <p:nvPr/>
        </p:nvSpPr>
        <p:spPr>
          <a:xfrm>
            <a:off x="3971242" y="3352800"/>
            <a:ext cx="2097049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反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 2– 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戊烯</a:t>
            </a:r>
            <a:endParaRPr lang="en-US" sz="3000" dirty="0"/>
          </a:p>
        </p:txBody>
      </p:sp>
      <p:sp>
        <p:nvSpPr>
          <p:cNvPr id="10" name="Rectangle 9"/>
          <p:cNvSpPr/>
          <p:nvPr/>
        </p:nvSpPr>
        <p:spPr>
          <a:xfrm>
            <a:off x="6766311" y="3352800"/>
            <a:ext cx="2097049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顺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 2– 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戊烯</a:t>
            </a:r>
            <a:endParaRPr lang="en-US" sz="3000" dirty="0"/>
          </a:p>
        </p:txBody>
      </p:sp>
      <p:sp>
        <p:nvSpPr>
          <p:cNvPr id="11" name="Rectangle 10"/>
          <p:cNvSpPr/>
          <p:nvPr/>
        </p:nvSpPr>
        <p:spPr>
          <a:xfrm>
            <a:off x="152400" y="5562600"/>
            <a:ext cx="2698175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2–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甲基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–1–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丁烯</a:t>
            </a:r>
            <a:endParaRPr lang="en-US" sz="3000" dirty="0"/>
          </a:p>
        </p:txBody>
      </p:sp>
      <p:sp>
        <p:nvSpPr>
          <p:cNvPr id="13" name="Rectangle 12"/>
          <p:cNvSpPr/>
          <p:nvPr/>
        </p:nvSpPr>
        <p:spPr>
          <a:xfrm>
            <a:off x="3200400" y="5943600"/>
            <a:ext cx="2698175" cy="553998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3–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甲基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–1–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丁烯</a:t>
            </a:r>
            <a:endParaRPr lang="en-US" sz="3000" dirty="0"/>
          </a:p>
        </p:txBody>
      </p:sp>
      <p:sp>
        <p:nvSpPr>
          <p:cNvPr id="14" name="Rectangle 13"/>
          <p:cNvSpPr/>
          <p:nvPr/>
        </p:nvSpPr>
        <p:spPr>
          <a:xfrm>
            <a:off x="6324600" y="5486400"/>
            <a:ext cx="2698175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2–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甲基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–2–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丁烯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30837440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  <p:bldP spid="9" grpId="0"/>
      <p:bldP spid="10" grpId="0"/>
      <p:bldP spid="11" grpId="0"/>
      <p:bldP spid="13" grpId="0" animBg="1"/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800" b="1" dirty="0">
                <a:latin typeface="+mn-ea"/>
              </a:rPr>
              <a:t>思考题 </a:t>
            </a:r>
            <a:r>
              <a:rPr lang="en-US" altLang="zh-CN" sz="4800" b="1" dirty="0">
                <a:latin typeface="+mn-ea"/>
              </a:rPr>
              <a:t>28b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en-US" altLang="zh-CN" sz="3000" dirty="0"/>
              <a:t>B</a:t>
            </a:r>
          </a:p>
          <a:p>
            <a:pPr marL="514350" indent="-514350">
              <a:buAutoNum type="arabicPeriod"/>
            </a:pPr>
            <a:r>
              <a:rPr lang="en-US" altLang="zh-CN" sz="3000" dirty="0"/>
              <a:t>B  4</a:t>
            </a:r>
            <a:r>
              <a:rPr lang="zh-CN" altLang="en-US" sz="3000" dirty="0"/>
              <a:t>种</a:t>
            </a:r>
            <a:endParaRPr lang="en-US" altLang="zh-CN" sz="3000" dirty="0"/>
          </a:p>
          <a:p>
            <a:pPr marL="0" indent="0">
              <a:buNone/>
            </a:pPr>
            <a:r>
              <a:rPr lang="en-US" altLang="zh-CN" sz="3000" dirty="0"/>
              <a:t>  </a:t>
            </a:r>
            <a:r>
              <a:rPr lang="zh-CN" altLang="en-US" sz="3000" dirty="0"/>
              <a:t>顺</a:t>
            </a:r>
            <a:r>
              <a:rPr lang="en-US" altLang="zh-CN" sz="3000" dirty="0"/>
              <a:t>-1-</a:t>
            </a:r>
            <a:r>
              <a:rPr lang="zh-CN" altLang="en-US" sz="3000" dirty="0"/>
              <a:t>氯丙烯、反</a:t>
            </a:r>
            <a:r>
              <a:rPr lang="en-US" altLang="zh-CN" sz="3000" dirty="0"/>
              <a:t>-1-</a:t>
            </a:r>
            <a:r>
              <a:rPr lang="zh-CN" altLang="en-US" sz="3000" dirty="0"/>
              <a:t>氯丙烯、</a:t>
            </a:r>
            <a:r>
              <a:rPr lang="en-US" altLang="zh-CN" sz="3000" dirty="0"/>
              <a:t>2-</a:t>
            </a:r>
            <a:r>
              <a:rPr lang="zh-CN" altLang="en-US" sz="3000" dirty="0"/>
              <a:t>氯丙烯、</a:t>
            </a:r>
            <a:r>
              <a:rPr lang="en-US" altLang="zh-CN" sz="3000" dirty="0"/>
              <a:t>3-</a:t>
            </a:r>
            <a:r>
              <a:rPr lang="zh-CN" altLang="en-US" sz="3000" dirty="0"/>
              <a:t>氯丙烯</a:t>
            </a:r>
            <a:endParaRPr lang="en-US" altLang="zh-CN" sz="3000" dirty="0"/>
          </a:p>
          <a:p>
            <a:pPr marL="514350" indent="-514350">
              <a:buAutoNum type="arabicPeriod" startAt="3"/>
            </a:pPr>
            <a:r>
              <a:rPr lang="en-US" altLang="zh-CN" sz="3000"/>
              <a:t>C</a:t>
            </a:r>
            <a:r>
              <a:rPr lang="en-MY" altLang="zh-CN" sz="3000"/>
              <a:t>  </a:t>
            </a:r>
            <a:endParaRPr lang="en-MY" altLang="zh-CN" sz="3000" dirty="0"/>
          </a:p>
          <a:p>
            <a:pPr marL="514350" indent="-514350">
              <a:buAutoNum type="arabicPeriod" startAt="3"/>
            </a:pPr>
            <a:r>
              <a:rPr lang="en-MY" altLang="zh-CN" sz="3000" dirty="0"/>
              <a:t> 	(1) </a:t>
            </a:r>
            <a:r>
              <a:rPr lang="zh-CN" altLang="en-US" sz="3000" dirty="0"/>
              <a:t>同系物：碳数不同，都是烷烃</a:t>
            </a:r>
            <a:endParaRPr lang="en-MY" altLang="zh-CN" sz="3000" dirty="0"/>
          </a:p>
          <a:p>
            <a:pPr marL="0" indent="0">
              <a:buNone/>
            </a:pPr>
            <a:r>
              <a:rPr lang="en-US" altLang="zh-CN" sz="3000" dirty="0"/>
              <a:t>	(2) </a:t>
            </a:r>
            <a:r>
              <a:rPr lang="zh-CN" altLang="en-US" sz="3000" dirty="0"/>
              <a:t>同一物质：分子式和结构式都相同</a:t>
            </a:r>
            <a:endParaRPr lang="en-MY" altLang="zh-CN" sz="3000" dirty="0"/>
          </a:p>
          <a:p>
            <a:pPr marL="0" indent="0">
              <a:buNone/>
            </a:pPr>
            <a:r>
              <a:rPr lang="en-MY" altLang="zh-CN" sz="3000" dirty="0"/>
              <a:t>	(3) </a:t>
            </a:r>
            <a:r>
              <a:rPr lang="zh-CN" altLang="en-US" sz="3000" dirty="0"/>
              <a:t>同分异构体：碳数相同，都是烯烃</a:t>
            </a:r>
            <a:endParaRPr lang="en-MY" altLang="zh-CN" sz="3000" dirty="0"/>
          </a:p>
          <a:p>
            <a:pPr marL="0" indent="0">
              <a:buNone/>
            </a:pPr>
            <a:r>
              <a:rPr lang="en-MY" altLang="zh-CN" sz="3000" dirty="0"/>
              <a:t>	(4) </a:t>
            </a:r>
            <a:r>
              <a:rPr lang="zh-CN" altLang="en-US" sz="3000" dirty="0"/>
              <a:t>同分异构体：碳数相同的烯烃和环烷烃</a:t>
            </a: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39197435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b="1" dirty="0">
                <a:latin typeface="+mn-ea"/>
              </a:rPr>
              <a:t>28.3 </a:t>
            </a:r>
            <a:r>
              <a:rPr lang="zh-CN" altLang="en-US" b="1" dirty="0">
                <a:latin typeface="+mn-ea"/>
              </a:rPr>
              <a:t>烯烃的系统命名法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3000" dirty="0"/>
              <a:t>系统命名法</a:t>
            </a:r>
            <a:endParaRPr lang="en-US" altLang="zh-CN" sz="3000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dirty="0"/>
              <a:t>与烷烃命名法相似</a:t>
            </a:r>
            <a:endParaRPr lang="en-US" altLang="zh-CN" sz="30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sz="3000" dirty="0"/>
              <a:t>选最长且含</a:t>
            </a:r>
            <a:r>
              <a:rPr lang="en-US" altLang="zh-CN" sz="3000" dirty="0"/>
              <a:t>C=C</a:t>
            </a:r>
            <a:r>
              <a:rPr lang="zh-CN" altLang="en-US" sz="3000" dirty="0"/>
              <a:t>双键的碳链为主链</a:t>
            </a:r>
            <a:endParaRPr lang="en-US" altLang="zh-CN" sz="30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sz="3000" dirty="0"/>
              <a:t>给碳原子编号必须从靠近</a:t>
            </a:r>
            <a:r>
              <a:rPr lang="en-US" altLang="zh-CN" sz="3000" dirty="0"/>
              <a:t>C=C</a:t>
            </a:r>
            <a:r>
              <a:rPr lang="zh-CN" altLang="en-US" sz="3000" dirty="0"/>
              <a:t>双键一端编起</a:t>
            </a:r>
            <a:endParaRPr lang="en-US" altLang="zh-CN" sz="30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sz="3000" dirty="0"/>
              <a:t>用阿拉伯数字标明</a:t>
            </a:r>
            <a:r>
              <a:rPr lang="en-US" altLang="zh-CN" sz="3000" dirty="0"/>
              <a:t>C=C</a:t>
            </a:r>
            <a:r>
              <a:rPr lang="zh-CN" altLang="en-US" sz="3000" dirty="0"/>
              <a:t>双键的位置</a:t>
            </a:r>
            <a:endParaRPr lang="en-MY" altLang="zh-CN" sz="30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sz="3000" dirty="0"/>
              <a:t>取代基的命名</a:t>
            </a: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b="1" dirty="0">
                <a:latin typeface="+mn-ea"/>
              </a:rPr>
              <a:t>28.3 </a:t>
            </a:r>
            <a:r>
              <a:rPr lang="zh-CN" altLang="en-US" b="1" dirty="0">
                <a:latin typeface="+mn-ea"/>
              </a:rPr>
              <a:t>烯烃的系统命名法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3000" dirty="0"/>
              <a:t>系统命名法</a:t>
            </a:r>
            <a:endParaRPr lang="en-MY" altLang="zh-CN" sz="3000" dirty="0"/>
          </a:p>
          <a:p>
            <a:pPr>
              <a:lnSpc>
                <a:spcPct val="150000"/>
              </a:lnSpc>
              <a:buNone/>
            </a:pPr>
            <a:r>
              <a:rPr lang="en-US" altLang="zh-CN" sz="3000" dirty="0"/>
              <a:t>Pg69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3000" dirty="0"/>
              <a:t>问这四种烯烃哪些</a:t>
            </a:r>
            <a:r>
              <a:rPr lang="en-MY" altLang="zh-CN" sz="3000" dirty="0"/>
              <a:t>(</a:t>
            </a:r>
            <a:r>
              <a:rPr lang="zh-CN" altLang="en-US" sz="3000" dirty="0"/>
              <a:t>个</a:t>
            </a:r>
            <a:r>
              <a:rPr lang="en-MY" altLang="zh-CN" sz="3000" dirty="0"/>
              <a:t>)</a:t>
            </a:r>
            <a:r>
              <a:rPr lang="zh-CN" altLang="en-US" sz="3000" dirty="0"/>
              <a:t>含顺反异构体？</a:t>
            </a:r>
            <a:endParaRPr lang="en-MY" altLang="zh-CN" sz="3000" dirty="0"/>
          </a:p>
          <a:p>
            <a:pPr>
              <a:lnSpc>
                <a:spcPct val="150000"/>
              </a:lnSpc>
              <a:buNone/>
            </a:pPr>
            <a:r>
              <a:rPr lang="en-US" altLang="zh-CN" sz="3000" dirty="0"/>
              <a:t>5-</a:t>
            </a:r>
            <a:r>
              <a:rPr lang="zh-CN" altLang="en-US" sz="3000" dirty="0"/>
              <a:t>甲基</a:t>
            </a:r>
            <a:r>
              <a:rPr lang="en-US" altLang="zh-CN" sz="3000" dirty="0"/>
              <a:t>-2-</a:t>
            </a:r>
            <a:r>
              <a:rPr lang="zh-CN" altLang="en-US" sz="3000" dirty="0"/>
              <a:t>己烯</a:t>
            </a:r>
            <a:endParaRPr lang="en-MY" altLang="zh-CN" sz="3000" dirty="0"/>
          </a:p>
          <a:p>
            <a:pPr>
              <a:lnSpc>
                <a:spcPct val="150000"/>
              </a:lnSpc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619063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b="1" dirty="0">
                <a:latin typeface="+mn-ea"/>
              </a:rPr>
              <a:t>28.3 </a:t>
            </a:r>
            <a:r>
              <a:rPr lang="zh-CN" altLang="en-US" b="1" dirty="0">
                <a:latin typeface="+mn-ea"/>
              </a:rPr>
              <a:t>烯烃的系统命名法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3000" dirty="0"/>
              <a:t>补充练习</a:t>
            </a:r>
            <a:endParaRPr lang="en-US" altLang="zh-CN" sz="3000" dirty="0"/>
          </a:p>
          <a:p>
            <a:pPr>
              <a:lnSpc>
                <a:spcPct val="150000"/>
              </a:lnSpc>
              <a:buNone/>
            </a:pPr>
            <a:endParaRPr lang="en-US" altLang="zh-CN" sz="3000" dirty="0"/>
          </a:p>
        </p:txBody>
      </p:sp>
      <p:pic>
        <p:nvPicPr>
          <p:cNvPr id="7" name="Picture 6" descr="name1.jpg"/>
          <p:cNvPicPr>
            <a:picLocks noChangeAspect="1"/>
          </p:cNvPicPr>
          <p:nvPr/>
        </p:nvPicPr>
        <p:blipFill>
          <a:blip r:embed="rId3"/>
          <a:srcRect l="51111" t="80000" r="6667" b="11111"/>
          <a:stretch>
            <a:fillRect/>
          </a:stretch>
        </p:blipFill>
        <p:spPr>
          <a:xfrm>
            <a:off x="4876800" y="3886200"/>
            <a:ext cx="2895600" cy="457200"/>
          </a:xfrm>
          <a:prstGeom prst="rect">
            <a:avLst/>
          </a:prstGeom>
        </p:spPr>
      </p:pic>
      <p:pic>
        <p:nvPicPr>
          <p:cNvPr id="13" name="Picture 12" descr="name1.jpg"/>
          <p:cNvPicPr>
            <a:picLocks noChangeAspect="1"/>
          </p:cNvPicPr>
          <p:nvPr/>
        </p:nvPicPr>
        <p:blipFill>
          <a:blip r:embed="rId3"/>
          <a:srcRect l="5333" t="55703" r="50222" b="22963"/>
          <a:stretch>
            <a:fillRect/>
          </a:stretch>
        </p:blipFill>
        <p:spPr>
          <a:xfrm>
            <a:off x="609600" y="1752600"/>
            <a:ext cx="3810000" cy="1371600"/>
          </a:xfrm>
          <a:prstGeom prst="rect">
            <a:avLst/>
          </a:prstGeom>
        </p:spPr>
      </p:pic>
      <p:pic>
        <p:nvPicPr>
          <p:cNvPr id="14" name="Picture 13" descr="name1.jpg"/>
          <p:cNvPicPr>
            <a:picLocks noChangeAspect="1"/>
          </p:cNvPicPr>
          <p:nvPr/>
        </p:nvPicPr>
        <p:blipFill>
          <a:blip r:embed="rId3"/>
          <a:srcRect l="6667" t="78518" r="51111" b="11111"/>
          <a:stretch>
            <a:fillRect/>
          </a:stretch>
        </p:blipFill>
        <p:spPr>
          <a:xfrm>
            <a:off x="4876800" y="1981200"/>
            <a:ext cx="2895600" cy="533400"/>
          </a:xfrm>
          <a:prstGeom prst="rect">
            <a:avLst/>
          </a:prstGeom>
        </p:spPr>
      </p:pic>
      <p:pic>
        <p:nvPicPr>
          <p:cNvPr id="16" name="Picture 15" descr="name1.jpg"/>
          <p:cNvPicPr>
            <a:picLocks noChangeAspect="1"/>
          </p:cNvPicPr>
          <p:nvPr/>
        </p:nvPicPr>
        <p:blipFill>
          <a:blip r:embed="rId3"/>
          <a:srcRect l="52445" t="56889" r="3111" b="22963"/>
          <a:stretch>
            <a:fillRect/>
          </a:stretch>
        </p:blipFill>
        <p:spPr>
          <a:xfrm>
            <a:off x="685800" y="3733800"/>
            <a:ext cx="381000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b="1" dirty="0">
                <a:latin typeface="+mn-ea"/>
              </a:rPr>
              <a:t>28.3 </a:t>
            </a:r>
            <a:r>
              <a:rPr lang="zh-CN" altLang="en-US" b="1" dirty="0">
                <a:latin typeface="+mn-ea"/>
              </a:rPr>
              <a:t>烯烃的系统命名法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3000" dirty="0"/>
              <a:t>补充练习</a:t>
            </a:r>
            <a:endParaRPr lang="en-US" altLang="zh-CN" sz="3000" dirty="0"/>
          </a:p>
          <a:p>
            <a:pPr>
              <a:lnSpc>
                <a:spcPct val="150000"/>
              </a:lnSpc>
              <a:buNone/>
            </a:pPr>
            <a:endParaRPr lang="en-US" altLang="zh-CN" sz="3000" dirty="0"/>
          </a:p>
        </p:txBody>
      </p:sp>
      <p:pic>
        <p:nvPicPr>
          <p:cNvPr id="8" name="Picture 7" descr="nam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905000"/>
            <a:ext cx="3352800" cy="2895600"/>
          </a:xfrm>
          <a:prstGeom prst="rect">
            <a:avLst/>
          </a:prstGeom>
        </p:spPr>
      </p:pic>
      <p:pic>
        <p:nvPicPr>
          <p:cNvPr id="10" name="Picture 9" descr="nam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905000"/>
            <a:ext cx="4419600" cy="22098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28600" y="4953000"/>
            <a:ext cx="433484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 –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三甲基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–1–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戊烯</a:t>
            </a:r>
            <a:endParaRPr lang="en-US" sz="3000" dirty="0"/>
          </a:p>
        </p:txBody>
      </p:sp>
      <p:sp>
        <p:nvSpPr>
          <p:cNvPr id="14" name="Rectangle 13"/>
          <p:cNvSpPr/>
          <p:nvPr/>
        </p:nvSpPr>
        <p:spPr>
          <a:xfrm>
            <a:off x="4572000" y="4191000"/>
            <a:ext cx="4248279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4–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三甲基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–2–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戊烯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b="1" dirty="0">
                <a:latin typeface="+mn-ea"/>
              </a:rPr>
              <a:t>28.3 </a:t>
            </a:r>
            <a:r>
              <a:rPr lang="zh-CN" altLang="en-US" b="1" dirty="0">
                <a:latin typeface="+mn-ea"/>
              </a:rPr>
              <a:t>烯烃的系统命名法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3000" dirty="0"/>
              <a:t>补充练习</a:t>
            </a:r>
            <a:endParaRPr lang="en-US" altLang="zh-CN" sz="3000" dirty="0"/>
          </a:p>
          <a:p>
            <a:pPr>
              <a:lnSpc>
                <a:spcPct val="150000"/>
              </a:lnSpc>
              <a:buNone/>
            </a:pPr>
            <a:endParaRPr lang="en-US" altLang="zh-CN" sz="30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297" y="1905000"/>
            <a:ext cx="3766103" cy="170123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2000" y="1333500"/>
            <a:ext cx="3962400" cy="30861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28600" y="4343400"/>
            <a:ext cx="3752950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 –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甲基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–1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3–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戊二烯</a:t>
            </a:r>
            <a:endParaRPr lang="en-US" sz="3000" dirty="0"/>
          </a:p>
        </p:txBody>
      </p:sp>
      <p:sp>
        <p:nvSpPr>
          <p:cNvPr id="14" name="Rectangle 13"/>
          <p:cNvSpPr/>
          <p:nvPr/>
        </p:nvSpPr>
        <p:spPr>
          <a:xfrm>
            <a:off x="4419600" y="4343400"/>
            <a:ext cx="4634602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3–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二甲基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–1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3–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丁二烯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0005180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b="1" dirty="0">
                <a:latin typeface="+mn-ea"/>
              </a:rPr>
              <a:t>28.3 </a:t>
            </a:r>
            <a:r>
              <a:rPr lang="zh-CN" altLang="en-US" b="1" dirty="0">
                <a:latin typeface="+mn-ea"/>
              </a:rPr>
              <a:t>烯烃的系统命名法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3000" dirty="0"/>
              <a:t>补充练习</a:t>
            </a:r>
            <a:endParaRPr lang="en-US" altLang="zh-CN" sz="3000" dirty="0"/>
          </a:p>
          <a:p>
            <a:pPr>
              <a:lnSpc>
                <a:spcPct val="150000"/>
              </a:lnSpc>
              <a:buNone/>
            </a:pPr>
            <a:endParaRPr lang="en-US" altLang="zh-CN" sz="3000" dirty="0"/>
          </a:p>
        </p:txBody>
      </p:sp>
      <p:pic>
        <p:nvPicPr>
          <p:cNvPr id="11" name="Picture 10" descr="name5.png"/>
          <p:cNvPicPr>
            <a:picLocks noChangeAspect="1"/>
          </p:cNvPicPr>
          <p:nvPr/>
        </p:nvPicPr>
        <p:blipFill>
          <a:blip r:embed="rId3"/>
          <a:srcRect l="17778" t="39111" r="18518" b="38666"/>
          <a:stretch>
            <a:fillRect/>
          </a:stretch>
        </p:blipFill>
        <p:spPr>
          <a:xfrm>
            <a:off x="609600" y="1981200"/>
            <a:ext cx="4191000" cy="1461977"/>
          </a:xfrm>
          <a:prstGeom prst="rect">
            <a:avLst/>
          </a:prstGeom>
        </p:spPr>
      </p:pic>
      <p:pic>
        <p:nvPicPr>
          <p:cNvPr id="12" name="Picture 11" descr="name6.png"/>
          <p:cNvPicPr>
            <a:picLocks noChangeAspect="1"/>
          </p:cNvPicPr>
          <p:nvPr/>
        </p:nvPicPr>
        <p:blipFill>
          <a:blip r:embed="rId4"/>
          <a:srcRect t="31996" b="28010"/>
          <a:stretch>
            <a:fillRect/>
          </a:stretch>
        </p:blipFill>
        <p:spPr>
          <a:xfrm>
            <a:off x="685800" y="3657600"/>
            <a:ext cx="4343400" cy="13716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791200" y="2209800"/>
            <a:ext cx="2698175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6–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甲基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–1–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庚烯</a:t>
            </a:r>
            <a:endParaRPr lang="en-US" sz="3000" dirty="0"/>
          </a:p>
        </p:txBody>
      </p:sp>
      <p:sp>
        <p:nvSpPr>
          <p:cNvPr id="14" name="Rectangle 13"/>
          <p:cNvSpPr/>
          <p:nvPr/>
        </p:nvSpPr>
        <p:spPr>
          <a:xfrm>
            <a:off x="5715000" y="3733800"/>
            <a:ext cx="320151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顺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-3–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甲基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–2–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庚烯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b="1" dirty="0">
                <a:latin typeface="+mn-ea"/>
              </a:rPr>
              <a:t>28.3 </a:t>
            </a:r>
            <a:r>
              <a:rPr lang="zh-CN" altLang="en-US" b="1" dirty="0">
                <a:latin typeface="+mn-ea"/>
              </a:rPr>
              <a:t>烯烃的系统命名法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3000" dirty="0"/>
              <a:t>交流分享</a:t>
            </a:r>
            <a:endParaRPr lang="en-MY" altLang="zh-CN" sz="3000" dirty="0"/>
          </a:p>
          <a:p>
            <a:pPr>
              <a:lnSpc>
                <a:spcPct val="150000"/>
              </a:lnSpc>
              <a:buNone/>
            </a:pPr>
            <a:r>
              <a:rPr lang="en-US" altLang="zh-CN" sz="3000" dirty="0"/>
              <a:t>1. </a:t>
            </a:r>
            <a:r>
              <a:rPr lang="zh-CN" altLang="en-US" sz="3000" dirty="0"/>
              <a:t>写</a:t>
            </a:r>
            <a:r>
              <a:rPr lang="en-US" altLang="zh-CN" sz="3000" dirty="0"/>
              <a:t>2-</a:t>
            </a:r>
            <a:r>
              <a:rPr lang="zh-CN" altLang="en-US" sz="3000" dirty="0"/>
              <a:t>氯</a:t>
            </a:r>
            <a:r>
              <a:rPr lang="en-US" altLang="zh-CN" sz="3000" dirty="0"/>
              <a:t>-1</a:t>
            </a:r>
            <a:r>
              <a:rPr lang="en-MY" altLang="zh-CN" sz="3000" dirty="0"/>
              <a:t>,4-</a:t>
            </a:r>
            <a:r>
              <a:rPr lang="zh-CN" altLang="en-US" sz="3000" dirty="0"/>
              <a:t>戊二烯结构简式</a:t>
            </a:r>
            <a:endParaRPr lang="en-US" altLang="zh-CN" sz="3000" dirty="0"/>
          </a:p>
          <a:p>
            <a:pPr>
              <a:lnSpc>
                <a:spcPct val="150000"/>
              </a:lnSpc>
              <a:buNone/>
            </a:pP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=C</a:t>
            </a:r>
            <a:r>
              <a:rPr lang="en-US" altLang="zh-CN" sz="3000" b="1" dirty="0">
                <a:solidFill>
                  <a:srgbClr val="002060"/>
                </a:solidFill>
              </a:rPr>
              <a:t>Cl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CH=CH</a:t>
            </a:r>
            <a:r>
              <a:rPr lang="en-US" altLang="zh-CN" sz="3000" baseline="-25000" dirty="0"/>
              <a:t>2  </a:t>
            </a:r>
          </a:p>
          <a:p>
            <a:pPr>
              <a:lnSpc>
                <a:spcPct val="150000"/>
              </a:lnSpc>
              <a:buNone/>
            </a:pPr>
            <a:endParaRPr lang="en-US" altLang="zh-CN" sz="3000" baseline="-25000" dirty="0"/>
          </a:p>
          <a:p>
            <a:pPr>
              <a:lnSpc>
                <a:spcPct val="150000"/>
              </a:lnSpc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3429831979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800" b="1" dirty="0">
                <a:latin typeface="+mn-ea"/>
              </a:rPr>
              <a:t>思考题 </a:t>
            </a:r>
            <a:r>
              <a:rPr lang="en-US" altLang="zh-CN" sz="4800" b="1" dirty="0">
                <a:latin typeface="+mn-ea"/>
              </a:rPr>
              <a:t>28c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en-US" altLang="zh-CN" sz="3000" dirty="0"/>
              <a:t>A </a:t>
            </a:r>
          </a:p>
          <a:p>
            <a:pPr marL="0" indent="0">
              <a:buNone/>
            </a:pPr>
            <a:r>
              <a:rPr lang="en-US" altLang="zh-CN" sz="3000" dirty="0"/>
              <a:t>B 3,3-</a:t>
            </a:r>
            <a:r>
              <a:rPr lang="zh-CN" altLang="en-US" sz="3000" dirty="0"/>
              <a:t>二甲基</a:t>
            </a:r>
            <a:r>
              <a:rPr lang="en-US" altLang="zh-CN" sz="3000"/>
              <a:t>-1-</a:t>
            </a:r>
            <a:r>
              <a:rPr lang="zh-CN" altLang="en-US" sz="3000" dirty="0"/>
              <a:t>丁烯</a:t>
            </a:r>
            <a:endParaRPr lang="en-MY" altLang="zh-CN" sz="3000" dirty="0"/>
          </a:p>
          <a:p>
            <a:pPr marL="0" indent="0">
              <a:buNone/>
            </a:pPr>
            <a:r>
              <a:rPr lang="en-US" altLang="zh-CN" sz="3000" dirty="0"/>
              <a:t>CD </a:t>
            </a:r>
            <a:r>
              <a:rPr lang="zh-CN" altLang="en-US" sz="3000" dirty="0"/>
              <a:t>不存在</a:t>
            </a:r>
            <a:endParaRPr lang="en-US" altLang="zh-CN" sz="3000" dirty="0"/>
          </a:p>
          <a:p>
            <a:pPr marL="0" indent="0">
              <a:buNone/>
            </a:pPr>
            <a:r>
              <a:rPr lang="en-US" altLang="zh-CN" sz="3000" dirty="0"/>
              <a:t>2.  	(1) 1-</a:t>
            </a:r>
            <a:r>
              <a:rPr lang="zh-CN" altLang="en-US" sz="3000" dirty="0"/>
              <a:t>丁烯</a:t>
            </a:r>
            <a:endParaRPr lang="en-US" altLang="zh-CN" sz="3000" dirty="0"/>
          </a:p>
          <a:p>
            <a:pPr marL="0" indent="0">
              <a:buNone/>
            </a:pPr>
            <a:r>
              <a:rPr lang="en-US" altLang="zh-CN" sz="3000" dirty="0"/>
              <a:t>	</a:t>
            </a:r>
            <a:r>
              <a:rPr lang="en-MY" altLang="zh-CN" sz="3000" dirty="0"/>
              <a:t>(2) </a:t>
            </a:r>
            <a:r>
              <a:rPr lang="en-US" altLang="zh-CN" sz="3000" dirty="0"/>
              <a:t>2</a:t>
            </a:r>
            <a:r>
              <a:rPr lang="en-MY" altLang="zh-CN" sz="3000" dirty="0"/>
              <a:t>,3,3-</a:t>
            </a:r>
            <a:r>
              <a:rPr lang="zh-CN" altLang="en-US" sz="3000" dirty="0"/>
              <a:t>三甲基</a:t>
            </a:r>
            <a:r>
              <a:rPr lang="en-US" altLang="zh-CN" sz="3000" dirty="0"/>
              <a:t>-1-</a:t>
            </a:r>
            <a:r>
              <a:rPr lang="zh-CN" altLang="en-US" sz="3000" dirty="0"/>
              <a:t>戊烯</a:t>
            </a:r>
            <a:endParaRPr lang="en-MY" altLang="zh-CN" sz="3000" dirty="0"/>
          </a:p>
          <a:p>
            <a:pPr marL="0" indent="0">
              <a:buNone/>
            </a:pPr>
            <a:r>
              <a:rPr lang="en-MY" altLang="zh-CN" sz="3000" dirty="0"/>
              <a:t>	(3)</a:t>
            </a:r>
            <a:r>
              <a:rPr lang="en-US" altLang="zh-CN" sz="3000" dirty="0"/>
              <a:t> 1</a:t>
            </a:r>
            <a:r>
              <a:rPr lang="en-MY" altLang="zh-CN" sz="3000" dirty="0"/>
              <a:t>,</a:t>
            </a:r>
            <a:r>
              <a:rPr lang="en-US" altLang="zh-CN" sz="3000" dirty="0"/>
              <a:t>3-</a:t>
            </a:r>
            <a:r>
              <a:rPr lang="zh-CN" altLang="en-US" sz="3000" dirty="0"/>
              <a:t>戊二烯</a:t>
            </a:r>
            <a:endParaRPr lang="en-US" altLang="zh-CN" sz="3000" dirty="0"/>
          </a:p>
          <a:p>
            <a:pPr marL="0" indent="0">
              <a:buNone/>
            </a:pPr>
            <a:r>
              <a:rPr lang="en-US" altLang="zh-CN" sz="3000" dirty="0"/>
              <a:t>	</a:t>
            </a:r>
            <a:r>
              <a:rPr lang="en-MY" altLang="zh-CN" sz="3000" dirty="0"/>
              <a:t>(4) </a:t>
            </a:r>
            <a:r>
              <a:rPr lang="en-US" altLang="zh-CN" sz="3000" dirty="0"/>
              <a:t>2-</a:t>
            </a:r>
            <a:r>
              <a:rPr lang="zh-CN" altLang="en-US" sz="3000" dirty="0"/>
              <a:t>甲基</a:t>
            </a:r>
            <a:r>
              <a:rPr lang="en-US" altLang="zh-CN" sz="3000" dirty="0"/>
              <a:t>-2</a:t>
            </a:r>
            <a:r>
              <a:rPr lang="en-MY" altLang="zh-CN" sz="3000" dirty="0"/>
              <a:t>,</a:t>
            </a:r>
            <a:r>
              <a:rPr lang="en-US" altLang="zh-CN" sz="3000" dirty="0"/>
              <a:t>4-</a:t>
            </a:r>
            <a:r>
              <a:rPr lang="zh-CN" altLang="en-US" sz="3000" dirty="0"/>
              <a:t>己二烯</a:t>
            </a:r>
            <a:endParaRPr lang="en-MY" altLang="zh-CN" sz="3000" dirty="0"/>
          </a:p>
          <a:p>
            <a:pPr marL="0" indent="0">
              <a:buNone/>
            </a:pPr>
            <a:r>
              <a:rPr lang="en-MY" altLang="zh-CN" sz="3000" dirty="0"/>
              <a:t>	(5)</a:t>
            </a:r>
            <a:r>
              <a:rPr lang="en-US" altLang="zh-CN" sz="3000" dirty="0"/>
              <a:t> 4-</a:t>
            </a:r>
            <a:r>
              <a:rPr lang="zh-CN" altLang="en-US" sz="3000" dirty="0"/>
              <a:t>甲基</a:t>
            </a:r>
            <a:r>
              <a:rPr lang="en-US" altLang="zh-CN" sz="3000" dirty="0"/>
              <a:t>-3-</a:t>
            </a:r>
            <a:r>
              <a:rPr lang="zh-CN" altLang="en-US" sz="3000" dirty="0"/>
              <a:t>乙基</a:t>
            </a:r>
            <a:r>
              <a:rPr lang="en-US" altLang="zh-CN" sz="3000" dirty="0"/>
              <a:t>-2-</a:t>
            </a:r>
            <a:r>
              <a:rPr lang="zh-CN" altLang="en-US" sz="3000" dirty="0"/>
              <a:t>戊烯</a:t>
            </a:r>
            <a:endParaRPr lang="en-US" altLang="zh-CN" sz="3000" dirty="0"/>
          </a:p>
          <a:p>
            <a:pPr marL="0" indent="0">
              <a:buNone/>
            </a:pPr>
            <a:r>
              <a:rPr lang="en-US" altLang="zh-CN" sz="3000" dirty="0"/>
              <a:t>	</a:t>
            </a:r>
            <a:r>
              <a:rPr lang="en-MY" altLang="zh-CN" sz="3000" dirty="0"/>
              <a:t>(6)</a:t>
            </a:r>
            <a:r>
              <a:rPr lang="en-US" altLang="zh-CN" sz="3000" dirty="0"/>
              <a:t> 2,4-</a:t>
            </a:r>
            <a:r>
              <a:rPr lang="zh-CN" altLang="en-US" sz="3000" dirty="0"/>
              <a:t>二甲基</a:t>
            </a:r>
            <a:r>
              <a:rPr lang="en-US" altLang="zh-CN" sz="3000" dirty="0"/>
              <a:t>-1</a:t>
            </a:r>
            <a:r>
              <a:rPr lang="en-MY" altLang="zh-CN" sz="3000" dirty="0"/>
              <a:t>,3</a:t>
            </a:r>
            <a:r>
              <a:rPr lang="en-US" altLang="zh-CN" sz="3000" dirty="0"/>
              <a:t>-</a:t>
            </a:r>
            <a:r>
              <a:rPr lang="zh-CN" altLang="en-US" sz="3000" dirty="0"/>
              <a:t>戊二烯</a:t>
            </a:r>
            <a:endParaRPr lang="en-US" altLang="zh-CN" sz="3000" dirty="0"/>
          </a:p>
          <a:p>
            <a:pPr marL="0" indent="0"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5831963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b="1" dirty="0">
                <a:latin typeface="+mn-ea"/>
              </a:rPr>
              <a:t>28.4 </a:t>
            </a:r>
            <a:r>
              <a:rPr lang="zh-CN" altLang="en-US" b="1" dirty="0">
                <a:latin typeface="+mn-ea"/>
              </a:rPr>
              <a:t>烯烃的物理性质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3000" dirty="0"/>
              <a:t>物理性质</a:t>
            </a:r>
            <a:endParaRPr lang="en-US" altLang="zh-CN" sz="3000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dirty="0"/>
              <a:t>无色、不溶于水、易溶于某些有机溶剂</a:t>
            </a:r>
            <a:endParaRPr lang="en-US" altLang="zh-CN" sz="3000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b="1" dirty="0">
                <a:solidFill>
                  <a:srgbClr val="7030A0"/>
                </a:solidFill>
              </a:rPr>
              <a:t>沸点</a:t>
            </a:r>
            <a:r>
              <a:rPr lang="zh-CN" altLang="en-US" sz="3000" dirty="0"/>
              <a:t>随碳数增加而上升，比相应的</a:t>
            </a: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烷烃稍低</a:t>
            </a:r>
            <a:endParaRPr lang="en-US" altLang="zh-CN" sz="30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dirty="0"/>
              <a:t>对称性越高、晶体中分子</a:t>
            </a: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排列越紧密熔点越高</a:t>
            </a:r>
            <a:endParaRPr lang="en-US" altLang="zh-CN" sz="30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  <a:buNone/>
            </a:pPr>
            <a:endParaRPr lang="en-MY" altLang="zh-CN" sz="3000" dirty="0"/>
          </a:p>
          <a:p>
            <a:pPr>
              <a:lnSpc>
                <a:spcPct val="150000"/>
              </a:lnSpc>
              <a:buNone/>
            </a:pPr>
            <a:endParaRPr lang="en-MY" altLang="zh-CN" sz="3000" dirty="0"/>
          </a:p>
          <a:p>
            <a:pPr>
              <a:lnSpc>
                <a:spcPct val="150000"/>
              </a:lnSpc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b="1" dirty="0">
                <a:latin typeface="+mn-ea"/>
              </a:rPr>
              <a:t>28.4 </a:t>
            </a:r>
            <a:r>
              <a:rPr lang="zh-CN" altLang="en-US" b="1" dirty="0">
                <a:latin typeface="+mn-ea"/>
              </a:rPr>
              <a:t>烯烃的物理性质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3000" dirty="0"/>
              <a:t>顺</a:t>
            </a:r>
            <a:r>
              <a:rPr lang="en-US" altLang="zh-CN" sz="3000" dirty="0"/>
              <a:t>-2-</a:t>
            </a:r>
            <a:r>
              <a:rPr lang="zh-CN" altLang="en-US" sz="3000" dirty="0"/>
              <a:t>丁烯</a:t>
            </a:r>
            <a:r>
              <a:rPr lang="en-MY" altLang="zh-CN" sz="3000" dirty="0"/>
              <a:t>				</a:t>
            </a:r>
            <a:r>
              <a:rPr lang="zh-CN" altLang="en-US" sz="3000" dirty="0"/>
              <a:t>反</a:t>
            </a:r>
            <a:r>
              <a:rPr lang="en-US" altLang="zh-CN" sz="3000" dirty="0"/>
              <a:t>-2-</a:t>
            </a:r>
            <a:r>
              <a:rPr lang="zh-CN" altLang="en-US" sz="3000" dirty="0"/>
              <a:t>丁烯</a:t>
            </a:r>
            <a:endParaRPr lang="en-MY" altLang="zh-CN" sz="3000" dirty="0"/>
          </a:p>
          <a:p>
            <a:pPr>
              <a:lnSpc>
                <a:spcPct val="150000"/>
              </a:lnSpc>
              <a:buNone/>
            </a:pPr>
            <a:endParaRPr lang="en-MY" altLang="zh-CN" sz="3000" dirty="0"/>
          </a:p>
          <a:p>
            <a:pPr>
              <a:lnSpc>
                <a:spcPct val="150000"/>
              </a:lnSpc>
              <a:buNone/>
            </a:pPr>
            <a:endParaRPr lang="en-MY" altLang="zh-CN" sz="3000" dirty="0"/>
          </a:p>
          <a:p>
            <a:pPr>
              <a:lnSpc>
                <a:spcPct val="150000"/>
              </a:lnSpc>
              <a:buNone/>
            </a:pPr>
            <a:endParaRPr lang="en-MY" altLang="zh-CN" sz="3000" dirty="0"/>
          </a:p>
          <a:p>
            <a:pPr>
              <a:lnSpc>
                <a:spcPct val="150000"/>
              </a:lnSpc>
              <a:buNone/>
            </a:pPr>
            <a:r>
              <a:rPr lang="en-MY" altLang="zh-CN" sz="3000" dirty="0"/>
              <a:t>	</a:t>
            </a:r>
            <a:r>
              <a:rPr lang="zh-CN" altLang="en-US" sz="3000" dirty="0"/>
              <a:t>极性分子</a:t>
            </a:r>
            <a:r>
              <a:rPr lang="en-MY" altLang="zh-CN" sz="3000" dirty="0"/>
              <a:t>			</a:t>
            </a:r>
            <a:r>
              <a:rPr lang="zh-CN" altLang="en-US" sz="3000" dirty="0"/>
              <a:t>分子形状较对称</a:t>
            </a:r>
            <a:r>
              <a:rPr lang="zh-CN" altLang="en-US" sz="3000" dirty="0">
                <a:solidFill>
                  <a:schemeClr val="bg1">
                    <a:lumMod val="85000"/>
                  </a:schemeClr>
                </a:solidFill>
              </a:rPr>
              <a:t>？？</a:t>
            </a:r>
            <a:endParaRPr lang="en-MY" altLang="zh-CN" sz="3000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3000" dirty="0"/>
              <a:t>沸点：顺</a:t>
            </a:r>
            <a:r>
              <a:rPr lang="en-US" altLang="zh-CN" sz="3000" dirty="0"/>
              <a:t>-2-</a:t>
            </a:r>
            <a:r>
              <a:rPr lang="zh-CN" altLang="en-US" sz="3000" dirty="0"/>
              <a:t>丁烯 </a:t>
            </a:r>
            <a:r>
              <a:rPr lang="en-MY" altLang="zh-CN" sz="3000" dirty="0"/>
              <a:t>&gt; </a:t>
            </a:r>
            <a:r>
              <a:rPr lang="zh-CN" altLang="en-US" sz="3000" dirty="0"/>
              <a:t>反</a:t>
            </a:r>
            <a:r>
              <a:rPr lang="en-US" altLang="zh-CN" sz="3000" dirty="0"/>
              <a:t>-2-</a:t>
            </a:r>
            <a:r>
              <a:rPr lang="zh-CN" altLang="en-US" sz="3000" dirty="0"/>
              <a:t>丁烯</a:t>
            </a:r>
            <a:endParaRPr lang="en-MY" altLang="zh-CN" sz="3000" dirty="0"/>
          </a:p>
          <a:p>
            <a:pPr>
              <a:lnSpc>
                <a:spcPct val="150000"/>
              </a:lnSpc>
              <a:buNone/>
            </a:pPr>
            <a:r>
              <a:rPr lang="zh-CN" altLang="en-US" sz="3000" dirty="0"/>
              <a:t>熔点：反</a:t>
            </a:r>
            <a:r>
              <a:rPr lang="en-US" altLang="zh-CN" sz="3000" dirty="0"/>
              <a:t>-2-</a:t>
            </a:r>
            <a:r>
              <a:rPr lang="zh-CN" altLang="en-US" sz="3000" dirty="0"/>
              <a:t>丁烯 </a:t>
            </a:r>
            <a:r>
              <a:rPr lang="en-US" altLang="zh-CN" sz="3000" dirty="0"/>
              <a:t>&gt; </a:t>
            </a:r>
            <a:r>
              <a:rPr lang="zh-CN" altLang="en-US" sz="3000" dirty="0"/>
              <a:t>顺</a:t>
            </a:r>
            <a:r>
              <a:rPr lang="en-US" altLang="zh-CN" sz="3000" dirty="0"/>
              <a:t>-2-</a:t>
            </a:r>
            <a:r>
              <a:rPr lang="zh-CN" altLang="en-US" sz="3000" dirty="0"/>
              <a:t>丁烯</a:t>
            </a:r>
            <a:endParaRPr lang="en-MY" altLang="zh-CN" sz="3000" dirty="0"/>
          </a:p>
          <a:p>
            <a:pPr>
              <a:lnSpc>
                <a:spcPct val="150000"/>
              </a:lnSpc>
              <a:buNone/>
            </a:pPr>
            <a:endParaRPr lang="en-MY" altLang="zh-CN" sz="3000" dirty="0"/>
          </a:p>
          <a:p>
            <a:pPr>
              <a:lnSpc>
                <a:spcPct val="150000"/>
              </a:lnSpc>
              <a:buNone/>
            </a:pPr>
            <a:endParaRPr lang="en-MY" altLang="zh-CN" sz="3000" dirty="0"/>
          </a:p>
          <a:p>
            <a:pPr>
              <a:lnSpc>
                <a:spcPct val="150000"/>
              </a:lnSpc>
              <a:buNone/>
            </a:pPr>
            <a:endParaRPr lang="en-US" altLang="zh-CN" sz="3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8FC428-5A85-4088-A70F-A96DCBAA36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905000"/>
            <a:ext cx="2495550" cy="18383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C4B8CD-0E66-47B9-8D66-3996F13CE7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776672"/>
            <a:ext cx="2590800" cy="1966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2191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b="1" dirty="0">
                <a:latin typeface="+mn-ea"/>
              </a:rPr>
              <a:t>28.4 </a:t>
            </a:r>
            <a:r>
              <a:rPr lang="zh-CN" altLang="en-US" b="1" dirty="0">
                <a:latin typeface="+mn-ea"/>
              </a:rPr>
              <a:t>烯烃的物理性质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000" dirty="0"/>
              <a:t>乙烯</a:t>
            </a:r>
            <a:r>
              <a:rPr lang="en-MY" altLang="zh-CN" sz="3000" dirty="0"/>
              <a:t>				</a:t>
            </a:r>
            <a:r>
              <a:rPr lang="zh-CN" altLang="en-US" sz="3000" dirty="0"/>
              <a:t>丙烯</a:t>
            </a:r>
            <a:endParaRPr lang="en-MY" altLang="zh-CN" sz="3000" dirty="0"/>
          </a:p>
          <a:p>
            <a:pPr>
              <a:buNone/>
            </a:pPr>
            <a:r>
              <a:rPr lang="en-MY" altLang="zh-CN" sz="3000" dirty="0"/>
              <a:t>		</a:t>
            </a:r>
          </a:p>
          <a:p>
            <a:pPr>
              <a:buNone/>
            </a:pPr>
            <a:endParaRPr lang="en-MY" altLang="zh-CN" sz="3000" dirty="0"/>
          </a:p>
          <a:p>
            <a:pPr>
              <a:buNone/>
            </a:pPr>
            <a:endParaRPr lang="en-MY" altLang="zh-CN" sz="3000" dirty="0"/>
          </a:p>
          <a:p>
            <a:pPr>
              <a:buNone/>
            </a:pPr>
            <a:endParaRPr lang="en-MY" altLang="zh-CN" sz="3000" dirty="0"/>
          </a:p>
          <a:p>
            <a:pPr>
              <a:buNone/>
            </a:pPr>
            <a:endParaRPr lang="en-MY" altLang="zh-CN" sz="3000" dirty="0"/>
          </a:p>
          <a:p>
            <a:pPr>
              <a:buNone/>
            </a:pPr>
            <a:r>
              <a:rPr lang="zh-CN" altLang="en-US" sz="3000" dirty="0"/>
              <a:t>沸点：丙烯 </a:t>
            </a:r>
            <a:r>
              <a:rPr lang="en-MY" altLang="zh-CN" sz="3000" dirty="0"/>
              <a:t>&gt; </a:t>
            </a:r>
            <a:r>
              <a:rPr lang="zh-CN" altLang="en-US" sz="3000" dirty="0"/>
              <a:t>乙烯</a:t>
            </a:r>
            <a:endParaRPr lang="en-MY" altLang="zh-CN" sz="3000" dirty="0"/>
          </a:p>
          <a:p>
            <a:pPr>
              <a:buNone/>
            </a:pPr>
            <a:r>
              <a:rPr lang="zh-CN" altLang="en-US" sz="3000" dirty="0"/>
              <a:t>熔点：乙烯</a:t>
            </a:r>
            <a:r>
              <a:rPr lang="en-MY" altLang="zh-CN" sz="3000" dirty="0"/>
              <a:t> </a:t>
            </a:r>
            <a:r>
              <a:rPr lang="en-US" altLang="zh-CN" sz="3000" dirty="0"/>
              <a:t>&gt; </a:t>
            </a:r>
            <a:r>
              <a:rPr lang="zh-CN" altLang="en-US" sz="3000" dirty="0"/>
              <a:t>丙烯</a:t>
            </a:r>
            <a:r>
              <a:rPr lang="en-MY" altLang="zh-CN" sz="3000" dirty="0"/>
              <a:t>	</a:t>
            </a:r>
          </a:p>
          <a:p>
            <a:pPr>
              <a:buNone/>
            </a:pPr>
            <a:endParaRPr lang="en-MY" altLang="zh-CN" sz="3000" dirty="0"/>
          </a:p>
          <a:p>
            <a:pPr>
              <a:buNone/>
            </a:pPr>
            <a:endParaRPr lang="en-MY" altLang="zh-CN" sz="3000" dirty="0"/>
          </a:p>
          <a:p>
            <a:pPr>
              <a:buNone/>
            </a:pPr>
            <a:endParaRPr lang="en-US" altLang="zh-CN" sz="3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2E1D5F-4DAA-4906-8F82-D4C4D3AA7434}"/>
              </a:ext>
            </a:extLst>
          </p:cNvPr>
          <p:cNvSpPr/>
          <p:nvPr/>
        </p:nvSpPr>
        <p:spPr>
          <a:xfrm>
            <a:off x="188742" y="2782669"/>
            <a:ext cx="4878259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3000" dirty="0"/>
              <a:t>乙烯分子形状较丙烯对称</a:t>
            </a:r>
            <a:endParaRPr lang="en-MY" altLang="zh-CN" sz="30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3000" dirty="0"/>
              <a:t>单位体积内可堆积的</a:t>
            </a:r>
            <a:endParaRPr lang="en-MY" altLang="zh-CN" sz="3000" dirty="0"/>
          </a:p>
          <a:p>
            <a:r>
              <a:rPr lang="en-MY" altLang="zh-CN" sz="3000" dirty="0"/>
              <a:t>     </a:t>
            </a:r>
            <a:r>
              <a:rPr lang="zh-CN" altLang="en-US" sz="3000" dirty="0"/>
              <a:t>乙烯分子较多</a:t>
            </a:r>
            <a:endParaRPr lang="en-MY" altLang="zh-CN" sz="3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6C42B4-E16C-4EBD-91F1-8179AF335560}"/>
              </a:ext>
            </a:extLst>
          </p:cNvPr>
          <p:cNvSpPr/>
          <p:nvPr/>
        </p:nvSpPr>
        <p:spPr>
          <a:xfrm>
            <a:off x="5579745" y="2782669"/>
            <a:ext cx="2954655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3000" dirty="0"/>
              <a:t>丙烯式量较大</a:t>
            </a:r>
            <a:endParaRPr lang="en-MY" altLang="zh-CN" sz="3000" dirty="0"/>
          </a:p>
        </p:txBody>
      </p:sp>
      <p:pic>
        <p:nvPicPr>
          <p:cNvPr id="9" name="Picture 8" descr="yixi1.jpg">
            <a:extLst>
              <a:ext uri="{FF2B5EF4-FFF2-40B4-BE49-F238E27FC236}">
                <a16:creationId xmlns:a16="http://schemas.microsoft.com/office/drawing/2014/main" id="{3793BFB4-E8B9-4D0B-9A47-0D9209E9E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079384"/>
            <a:ext cx="1783440" cy="14773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E87D896-E5DE-4F9E-88DE-A48DFEDE66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7001" y="957662"/>
            <a:ext cx="2857799" cy="1712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3116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b="1" dirty="0">
                <a:latin typeface="+mn-ea"/>
              </a:rPr>
              <a:t>思考题 </a:t>
            </a:r>
            <a:r>
              <a:rPr lang="en-US" altLang="zh-CN" b="1" dirty="0">
                <a:latin typeface="+mn-ea"/>
              </a:rPr>
              <a:t>28d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MY" altLang="zh-CN" sz="3000" dirty="0"/>
              <a:t>D </a:t>
            </a:r>
          </a:p>
          <a:p>
            <a:pPr marL="514350" indent="-514350">
              <a:lnSpc>
                <a:spcPct val="150000"/>
              </a:lnSpc>
              <a:buFont typeface="Arial" pitchFamily="34" charset="0"/>
              <a:buAutoNum type="arabicPeriod"/>
            </a:pPr>
            <a:r>
              <a:rPr lang="en-MY" altLang="zh-CN" sz="3000" dirty="0"/>
              <a:t> 	CH</a:t>
            </a:r>
            <a:r>
              <a:rPr lang="en-MY" altLang="zh-CN" sz="3000" baseline="-25000" dirty="0"/>
              <a:t>4   </a:t>
            </a:r>
            <a:r>
              <a:rPr lang="en-US" altLang="zh-CN" sz="3000" dirty="0"/>
              <a:t>		</a:t>
            </a:r>
            <a:r>
              <a:rPr lang="en-MY" altLang="zh-CN" sz="3000" dirty="0"/>
              <a:t>C</a:t>
            </a:r>
            <a:r>
              <a:rPr lang="en-MY" altLang="zh-CN" sz="3000" baseline="-25000" dirty="0"/>
              <a:t>3</a:t>
            </a:r>
            <a:r>
              <a:rPr lang="en-MY" altLang="zh-CN" sz="3000" dirty="0"/>
              <a:t>H</a:t>
            </a:r>
            <a:r>
              <a:rPr lang="en-MY" altLang="zh-CN" sz="3000" baseline="-25000" dirty="0"/>
              <a:t>8 </a:t>
            </a:r>
            <a:r>
              <a:rPr lang="en-US" altLang="zh-CN" sz="3000" dirty="0"/>
              <a:t>		</a:t>
            </a:r>
            <a:r>
              <a:rPr lang="en-MY" altLang="zh-CN" sz="3000" dirty="0"/>
              <a:t>C</a:t>
            </a:r>
            <a:r>
              <a:rPr lang="en-MY" altLang="zh-CN" sz="3000" baseline="-25000" dirty="0"/>
              <a:t>2</a:t>
            </a:r>
            <a:r>
              <a:rPr lang="en-MY" altLang="zh-CN" sz="3000" dirty="0"/>
              <a:t>H</a:t>
            </a:r>
            <a:r>
              <a:rPr lang="en-MY" altLang="zh-CN" sz="3000" baseline="-25000" dirty="0"/>
              <a:t>4 </a:t>
            </a:r>
            <a:endParaRPr lang="en-US" altLang="zh-CN" sz="3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3000" dirty="0"/>
              <a:t>	</a:t>
            </a:r>
            <a:r>
              <a:rPr lang="en-MY" altLang="zh-CN" sz="3000" dirty="0"/>
              <a:t>2H</a:t>
            </a:r>
            <a:r>
              <a:rPr lang="en-MY" altLang="zh-CN" sz="3000" baseline="-25000" dirty="0"/>
              <a:t>2</a:t>
            </a:r>
            <a:r>
              <a:rPr lang="en-MY" altLang="zh-CN" sz="3000" dirty="0"/>
              <a:t>O		4 H</a:t>
            </a:r>
            <a:r>
              <a:rPr lang="en-MY" altLang="zh-CN" sz="3000" baseline="-25000" dirty="0"/>
              <a:t>2</a:t>
            </a:r>
            <a:r>
              <a:rPr lang="en-MY" altLang="zh-CN" sz="3000" dirty="0"/>
              <a:t>O		2H</a:t>
            </a:r>
            <a:r>
              <a:rPr lang="en-MY" altLang="zh-CN" sz="3000" baseline="-25000" dirty="0"/>
              <a:t>2</a:t>
            </a:r>
            <a:r>
              <a:rPr lang="en-MY" altLang="zh-CN" sz="3000" dirty="0"/>
              <a:t>O</a:t>
            </a:r>
            <a:endParaRPr lang="en-US" altLang="zh-CN" sz="3000" dirty="0"/>
          </a:p>
          <a:p>
            <a:pPr marL="0" indent="0">
              <a:buNone/>
            </a:pPr>
            <a:r>
              <a:rPr lang="en-US" altLang="zh-CN" sz="3000" dirty="0"/>
              <a:t>1: ½ :1 </a:t>
            </a:r>
          </a:p>
          <a:p>
            <a:pPr marL="0" indent="0">
              <a:buNone/>
            </a:pPr>
            <a:r>
              <a:rPr lang="en-US" altLang="zh-CN" sz="3000" dirty="0"/>
              <a:t>= 2:1:2 </a:t>
            </a:r>
          </a:p>
          <a:p>
            <a:pPr marL="0" indent="0">
              <a:buNone/>
            </a:pPr>
            <a:r>
              <a:rPr lang="en-US" altLang="zh-CN" sz="3000" dirty="0"/>
              <a:t>Ans: D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若求消耗的氧气的体积比，需写出完整的反应式</a:t>
            </a:r>
            <a:endParaRPr lang="en-MY" altLang="zh-CN" sz="30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答：消耗氧气的体积比</a:t>
            </a:r>
            <a:r>
              <a:rPr lang="en-US" altLang="zh-CN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=2:2.5:3=</a:t>
            </a:r>
            <a:r>
              <a:rPr lang="en-MY" altLang="zh-CN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4:5:6</a:t>
            </a:r>
            <a:endParaRPr lang="en-US" altLang="zh-CN" sz="30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2EE91B-7BFB-4F68-87A5-01B130A9FBCC}"/>
              </a:ext>
            </a:extLst>
          </p:cNvPr>
          <p:cNvSpPr txBox="1"/>
          <p:nvPr/>
        </p:nvSpPr>
        <p:spPr>
          <a:xfrm>
            <a:off x="2971800" y="2753380"/>
            <a:ext cx="381000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MY" sz="28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30DD64-03F0-4987-9550-7E0A771DEB8E}"/>
              </a:ext>
            </a:extLst>
          </p:cNvPr>
          <p:cNvSpPr txBox="1"/>
          <p:nvPr/>
        </p:nvSpPr>
        <p:spPr>
          <a:xfrm>
            <a:off x="2743786" y="1913891"/>
            <a:ext cx="381000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MY" sz="2800" dirty="0"/>
              <a:t>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D862BB8-96A3-4939-A890-94510A234922}"/>
                  </a:ext>
                </a:extLst>
              </p:cNvPr>
              <p:cNvSpPr txBox="1"/>
              <p:nvPr/>
            </p:nvSpPr>
            <p:spPr>
              <a:xfrm>
                <a:off x="3277186" y="3458307"/>
                <a:ext cx="5943014" cy="19829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000" dirty="0">
                    <a:solidFill>
                      <a:srgbClr val="0070C0"/>
                    </a:solidFill>
                  </a:rPr>
                  <a:t>CH</a:t>
                </a:r>
                <a:r>
                  <a:rPr lang="en-US" altLang="zh-CN" sz="3000" baseline="-25000" dirty="0">
                    <a:solidFill>
                      <a:srgbClr val="0070C0"/>
                    </a:solidFill>
                  </a:rPr>
                  <a:t>4  </a:t>
                </a:r>
                <a:r>
                  <a:rPr lang="en-US" altLang="zh-CN" sz="3000" dirty="0">
                    <a:solidFill>
                      <a:srgbClr val="0070C0"/>
                    </a:solidFill>
                  </a:rPr>
                  <a:t>+  2 O</a:t>
                </a:r>
                <a:r>
                  <a:rPr lang="en-US" altLang="zh-CN" sz="3000" baseline="-25000" dirty="0">
                    <a:solidFill>
                      <a:srgbClr val="0070C0"/>
                    </a:solidFill>
                  </a:rPr>
                  <a:t>2   </a:t>
                </a:r>
                <a:r>
                  <a:rPr lang="en-US" altLang="zh-CN" sz="30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 C</a:t>
                </a:r>
                <a:r>
                  <a:rPr lang="en-US" altLang="zh-CN" sz="3000" dirty="0">
                    <a:solidFill>
                      <a:srgbClr val="0070C0"/>
                    </a:solidFill>
                  </a:rPr>
                  <a:t>O</a:t>
                </a:r>
                <a:r>
                  <a:rPr lang="en-US" altLang="zh-CN" sz="3000" baseline="-25000" dirty="0">
                    <a:solidFill>
                      <a:srgbClr val="0070C0"/>
                    </a:solidFill>
                  </a:rPr>
                  <a:t>2 </a:t>
                </a:r>
                <a:r>
                  <a:rPr lang="en-MY" altLang="zh-CN" sz="3000" dirty="0">
                    <a:solidFill>
                      <a:srgbClr val="0070C0"/>
                    </a:solidFill>
                  </a:rPr>
                  <a:t> + 2H</a:t>
                </a:r>
                <a:r>
                  <a:rPr lang="en-MY" altLang="zh-CN" sz="3000" baseline="-25000" dirty="0">
                    <a:solidFill>
                      <a:srgbClr val="0070C0"/>
                    </a:solidFill>
                  </a:rPr>
                  <a:t>2</a:t>
                </a:r>
                <a:r>
                  <a:rPr lang="en-MY" altLang="zh-CN" sz="3000" dirty="0">
                    <a:solidFill>
                      <a:srgbClr val="0070C0"/>
                    </a:solidFill>
                  </a:rPr>
                  <a:t>O</a:t>
                </a:r>
                <a:r>
                  <a:rPr lang="en-US" altLang="zh-CN" sz="3000" baseline="-25000" dirty="0">
                    <a:solidFill>
                      <a:srgbClr val="0070C0"/>
                    </a:solidFill>
                  </a:rPr>
                  <a:t>   </a:t>
                </a:r>
              </a:p>
              <a:p>
                <a:r>
                  <a:rPr lang="en-US" altLang="zh-CN" sz="3000" dirty="0">
                    <a:solidFill>
                      <a:srgbClr val="0070C0"/>
                    </a:solidFill>
                  </a:rPr>
                  <a:t>½ C</a:t>
                </a:r>
                <a:r>
                  <a:rPr lang="en-US" altLang="zh-CN" sz="3000" baseline="-25000" dirty="0">
                    <a:solidFill>
                      <a:srgbClr val="0070C0"/>
                    </a:solidFill>
                  </a:rPr>
                  <a:t>3</a:t>
                </a:r>
                <a:r>
                  <a:rPr lang="en-US" altLang="zh-CN" sz="3000" dirty="0">
                    <a:solidFill>
                      <a:srgbClr val="0070C0"/>
                    </a:solidFill>
                  </a:rPr>
                  <a:t>H</a:t>
                </a:r>
                <a:r>
                  <a:rPr lang="en-US" altLang="zh-CN" sz="3000" baseline="-25000" dirty="0">
                    <a:solidFill>
                      <a:srgbClr val="0070C0"/>
                    </a:solidFill>
                  </a:rPr>
                  <a:t>8  </a:t>
                </a:r>
                <a:r>
                  <a:rPr lang="en-US" altLang="zh-CN" sz="3000" dirty="0">
                    <a:solidFill>
                      <a:srgbClr val="0070C0"/>
                    </a:solidFill>
                  </a:rPr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MY" altLang="zh-CN" sz="3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5</m:t>
                        </m:r>
                      </m:num>
                      <m:den>
                        <m:r>
                          <a:rPr lang="en-MY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3000" dirty="0">
                    <a:solidFill>
                      <a:srgbClr val="0070C0"/>
                    </a:solidFill>
                  </a:rPr>
                  <a:t>  O</a:t>
                </a:r>
                <a:r>
                  <a:rPr lang="en-US" altLang="zh-CN" sz="3000" baseline="-25000" dirty="0">
                    <a:solidFill>
                      <a:srgbClr val="0070C0"/>
                    </a:solidFill>
                  </a:rPr>
                  <a:t>2   </a:t>
                </a:r>
                <a:r>
                  <a:rPr lang="en-US" altLang="zh-CN" sz="30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MY" altLang="zh-CN" sz="3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num>
                      <m:den>
                        <m:r>
                          <a:rPr lang="en-MY" altLang="zh-CN" sz="3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30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 C</a:t>
                </a:r>
                <a:r>
                  <a:rPr lang="en-US" altLang="zh-CN" sz="3000" dirty="0">
                    <a:solidFill>
                      <a:srgbClr val="0070C0"/>
                    </a:solidFill>
                  </a:rPr>
                  <a:t>O</a:t>
                </a:r>
                <a:r>
                  <a:rPr lang="en-US" altLang="zh-CN" sz="3000" baseline="-25000" dirty="0">
                    <a:solidFill>
                      <a:srgbClr val="0070C0"/>
                    </a:solidFill>
                  </a:rPr>
                  <a:t>2 </a:t>
                </a:r>
                <a:r>
                  <a:rPr lang="en-MY" altLang="zh-CN" sz="3000" dirty="0">
                    <a:solidFill>
                      <a:srgbClr val="0070C0"/>
                    </a:solidFill>
                  </a:rPr>
                  <a:t> + 2H</a:t>
                </a:r>
                <a:r>
                  <a:rPr lang="en-MY" altLang="zh-CN" sz="3000" baseline="-25000" dirty="0">
                    <a:solidFill>
                      <a:srgbClr val="0070C0"/>
                    </a:solidFill>
                  </a:rPr>
                  <a:t>2</a:t>
                </a:r>
                <a:r>
                  <a:rPr lang="en-MY" altLang="zh-CN" sz="3000" dirty="0">
                    <a:solidFill>
                      <a:srgbClr val="0070C0"/>
                    </a:solidFill>
                  </a:rPr>
                  <a:t>O</a:t>
                </a:r>
                <a:r>
                  <a:rPr lang="en-US" altLang="zh-CN" sz="3000" baseline="-25000" dirty="0">
                    <a:solidFill>
                      <a:srgbClr val="0070C0"/>
                    </a:solidFill>
                  </a:rPr>
                  <a:t>   </a:t>
                </a:r>
              </a:p>
              <a:p>
                <a:r>
                  <a:rPr lang="en-US" altLang="zh-CN" sz="3000" dirty="0">
                    <a:solidFill>
                      <a:srgbClr val="0070C0"/>
                    </a:solidFill>
                  </a:rPr>
                  <a:t>C</a:t>
                </a:r>
                <a:r>
                  <a:rPr lang="en-US" altLang="zh-CN" sz="3000" baseline="-25000" dirty="0">
                    <a:solidFill>
                      <a:srgbClr val="0070C0"/>
                    </a:solidFill>
                  </a:rPr>
                  <a:t>2</a:t>
                </a:r>
                <a:r>
                  <a:rPr lang="en-US" altLang="zh-CN" sz="3000" dirty="0">
                    <a:solidFill>
                      <a:srgbClr val="0070C0"/>
                    </a:solidFill>
                  </a:rPr>
                  <a:t>H</a:t>
                </a:r>
                <a:r>
                  <a:rPr lang="en-US" altLang="zh-CN" sz="3000" baseline="-25000" dirty="0">
                    <a:solidFill>
                      <a:srgbClr val="0070C0"/>
                    </a:solidFill>
                  </a:rPr>
                  <a:t>4  </a:t>
                </a:r>
                <a:r>
                  <a:rPr lang="en-US" altLang="zh-CN" sz="3000" dirty="0">
                    <a:solidFill>
                      <a:srgbClr val="0070C0"/>
                    </a:solidFill>
                  </a:rPr>
                  <a:t>+  3 O</a:t>
                </a:r>
                <a:r>
                  <a:rPr lang="en-US" altLang="zh-CN" sz="3000" baseline="-25000" dirty="0">
                    <a:solidFill>
                      <a:srgbClr val="0070C0"/>
                    </a:solidFill>
                  </a:rPr>
                  <a:t>2   </a:t>
                </a:r>
                <a:r>
                  <a:rPr lang="en-US" altLang="zh-CN" sz="30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 2 C</a:t>
                </a:r>
                <a:r>
                  <a:rPr lang="en-US" altLang="zh-CN" sz="3000" dirty="0">
                    <a:solidFill>
                      <a:srgbClr val="0070C0"/>
                    </a:solidFill>
                  </a:rPr>
                  <a:t>O</a:t>
                </a:r>
                <a:r>
                  <a:rPr lang="en-US" altLang="zh-CN" sz="3000" baseline="-25000" dirty="0">
                    <a:solidFill>
                      <a:srgbClr val="0070C0"/>
                    </a:solidFill>
                  </a:rPr>
                  <a:t>2 </a:t>
                </a:r>
                <a:r>
                  <a:rPr lang="en-MY" altLang="zh-CN" sz="3000" dirty="0">
                    <a:solidFill>
                      <a:srgbClr val="0070C0"/>
                    </a:solidFill>
                  </a:rPr>
                  <a:t> + 2H</a:t>
                </a:r>
                <a:r>
                  <a:rPr lang="en-MY" altLang="zh-CN" sz="3000" baseline="-25000" dirty="0">
                    <a:solidFill>
                      <a:srgbClr val="0070C0"/>
                    </a:solidFill>
                  </a:rPr>
                  <a:t>2</a:t>
                </a:r>
                <a:r>
                  <a:rPr lang="en-MY" altLang="zh-CN" sz="3000" dirty="0">
                    <a:solidFill>
                      <a:srgbClr val="0070C0"/>
                    </a:solidFill>
                  </a:rPr>
                  <a:t>O</a:t>
                </a:r>
                <a:r>
                  <a:rPr lang="en-US" altLang="zh-CN" sz="3000" baseline="-25000" dirty="0">
                    <a:solidFill>
                      <a:srgbClr val="0070C0"/>
                    </a:solidFill>
                  </a:rPr>
                  <a:t>   </a:t>
                </a:r>
              </a:p>
              <a:p>
                <a:endParaRPr lang="en-US" altLang="zh-CN" sz="3000" baseline="-25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D862BB8-96A3-4939-A890-94510A234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7186" y="3458307"/>
                <a:ext cx="5943014" cy="1982915"/>
              </a:xfrm>
              <a:prstGeom prst="rect">
                <a:avLst/>
              </a:prstGeom>
              <a:blipFill>
                <a:blip r:embed="rId3"/>
                <a:stretch>
                  <a:fillRect l="-2462" t="-4601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0108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 animBg="1"/>
      <p:bldP spid="10" grpId="0" animBg="1"/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b="1" dirty="0">
                <a:latin typeface="+mn-ea"/>
              </a:rPr>
              <a:t>28.5 </a:t>
            </a:r>
            <a:r>
              <a:rPr lang="zh-CN" altLang="en-US" b="1" dirty="0">
                <a:latin typeface="+mn-ea"/>
              </a:rPr>
              <a:t>烯烃的化学性质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000" dirty="0"/>
              <a:t>化学性质</a:t>
            </a: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r>
              <a:rPr lang="zh-CN" altLang="en-US" sz="3000" dirty="0"/>
              <a:t>不饱和烃，非常活泼</a:t>
            </a:r>
            <a:endParaRPr lang="en-US" altLang="zh-CN" sz="3000" dirty="0"/>
          </a:p>
          <a:p>
            <a:pPr marL="514350" indent="-514350">
              <a:buAutoNum type="arabicPeriod"/>
            </a:pPr>
            <a:r>
              <a:rPr lang="zh-CN" altLang="en-US" sz="3000" dirty="0"/>
              <a:t>燃烧：在空气中燃烧生成</a:t>
            </a:r>
            <a:r>
              <a:rPr lang="en-US" altLang="zh-CN" sz="3000" dirty="0"/>
              <a:t>CO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+ 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O</a:t>
            </a:r>
          </a:p>
          <a:p>
            <a:pPr marL="514350" indent="-514350">
              <a:buAutoNum type="arabicPeriod"/>
            </a:pPr>
            <a:r>
              <a:rPr lang="zh-CN" altLang="en-US" sz="3000" dirty="0"/>
              <a:t>加成反应</a:t>
            </a:r>
            <a:endParaRPr lang="en-US" altLang="zh-CN" sz="3000" dirty="0"/>
          </a:p>
          <a:p>
            <a:pPr marL="971550" lvl="1" indent="-571500">
              <a:buFont typeface="+mj-lt"/>
              <a:buAutoNum type="romanUcPeriod"/>
            </a:pPr>
            <a:r>
              <a:rPr lang="zh-CN" altLang="en-US" sz="2600" dirty="0"/>
              <a:t>加氢</a:t>
            </a:r>
            <a:endParaRPr lang="en-US" altLang="zh-CN" sz="2600" dirty="0"/>
          </a:p>
          <a:p>
            <a:pPr marL="971550" lvl="1" indent="-571500">
              <a:buFont typeface="+mj-lt"/>
              <a:buAutoNum type="romanUcPeriod"/>
            </a:pPr>
            <a:r>
              <a:rPr lang="zh-CN" altLang="en-US" sz="2600" dirty="0"/>
              <a:t>加卤素</a:t>
            </a:r>
            <a:endParaRPr lang="en-US" altLang="zh-CN" sz="2600" dirty="0"/>
          </a:p>
          <a:p>
            <a:pPr marL="971550" lvl="1" indent="-571500">
              <a:buFont typeface="+mj-lt"/>
              <a:buAutoNum type="romanUcPeriod"/>
            </a:pPr>
            <a:r>
              <a:rPr lang="zh-CN" altLang="en-US" sz="2600" dirty="0"/>
              <a:t>加卤化氢</a:t>
            </a:r>
            <a:endParaRPr lang="en-US" altLang="zh-CN" sz="2600" dirty="0"/>
          </a:p>
          <a:p>
            <a:pPr marL="971550" lvl="1" indent="-571500">
              <a:buFont typeface="+mj-lt"/>
              <a:buAutoNum type="romanUcPeriod"/>
            </a:pPr>
            <a:r>
              <a:rPr lang="zh-CN" altLang="en-US" sz="2600" dirty="0"/>
              <a:t>加水</a:t>
            </a:r>
            <a:endParaRPr lang="en-US" altLang="zh-CN" sz="2600" dirty="0"/>
          </a:p>
          <a:p>
            <a:pPr marL="514350" indent="-514350">
              <a:buAutoNum type="arabicPeriod"/>
            </a:pPr>
            <a:r>
              <a:rPr lang="zh-CN" altLang="en-US" sz="3000" dirty="0"/>
              <a:t>氧化反应</a:t>
            </a:r>
            <a:endParaRPr lang="en-US" altLang="zh-CN" sz="3000" dirty="0"/>
          </a:p>
          <a:p>
            <a:pPr marL="514350" indent="-514350">
              <a:buAutoNum type="arabicPeriod"/>
            </a:pPr>
            <a:r>
              <a:rPr lang="zh-CN" altLang="en-US" sz="3000" dirty="0"/>
              <a:t>聚合反应</a:t>
            </a:r>
            <a:endParaRPr lang="en-US" altLang="zh-CN" sz="3000" dirty="0"/>
          </a:p>
        </p:txBody>
      </p:sp>
      <p:sp>
        <p:nvSpPr>
          <p:cNvPr id="6" name="Rounded Rectangle 5"/>
          <p:cNvSpPr/>
          <p:nvPr/>
        </p:nvSpPr>
        <p:spPr>
          <a:xfrm>
            <a:off x="5105400" y="2133600"/>
            <a:ext cx="1600200" cy="4572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b="1" dirty="0">
                <a:latin typeface="+mn-ea"/>
              </a:rPr>
              <a:t>28.5 </a:t>
            </a:r>
            <a:r>
              <a:rPr lang="zh-CN" altLang="en-US" b="1" dirty="0">
                <a:latin typeface="+mn-ea"/>
              </a:rPr>
              <a:t>烯烃的化学性质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73016"/>
            <a:ext cx="86868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3000" dirty="0"/>
              <a:t>2. </a:t>
            </a:r>
            <a:r>
              <a:rPr lang="zh-CN" altLang="en-US" sz="3000" dirty="0"/>
              <a:t>加成反应：有机化合物中，双键（或三键）两端的碳原子与其他原子或原子团直接结合生成新的化合物的反应。</a:t>
            </a:r>
            <a:endParaRPr lang="en-MY" altLang="zh-CN" sz="30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烯烃经加成反应后生成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较稳定的饱和分子</a:t>
            </a:r>
            <a:r>
              <a:rPr lang="zh-CN" altLang="en-US" sz="3000" dirty="0"/>
              <a:t>。</a:t>
            </a:r>
            <a:endParaRPr lang="en-US" altLang="zh-CN" sz="30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/>
              <a:t>C=C</a:t>
            </a:r>
            <a:r>
              <a:rPr lang="zh-CN" altLang="en-US" sz="3000" dirty="0"/>
              <a:t>双键的</a:t>
            </a:r>
            <a:r>
              <a:rPr lang="el-GR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π</a:t>
            </a: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键易断裂。</a:t>
            </a:r>
            <a:endParaRPr lang="en-US" altLang="zh-CN" sz="3000" dirty="0"/>
          </a:p>
          <a:p>
            <a:pPr>
              <a:lnSpc>
                <a:spcPct val="150000"/>
              </a:lnSpc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31636418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b="1" dirty="0">
                <a:latin typeface="+mn-ea"/>
              </a:rPr>
              <a:t>28.5 </a:t>
            </a:r>
            <a:r>
              <a:rPr lang="zh-CN" altLang="en-US" b="1" dirty="0">
                <a:latin typeface="+mn-ea"/>
              </a:rPr>
              <a:t>烯烃的化学性质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73016"/>
            <a:ext cx="86868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sz="3000" dirty="0"/>
              <a:t>2. </a:t>
            </a:r>
            <a:r>
              <a:rPr lang="zh-CN" altLang="en-US" sz="3000" dirty="0"/>
              <a:t>加成反应</a:t>
            </a:r>
            <a:endParaRPr lang="en-US" altLang="zh-CN" sz="3000" dirty="0"/>
          </a:p>
          <a:p>
            <a:pPr marL="571500" indent="-571500">
              <a:buAutoNum type="romanUcParenBoth"/>
            </a:pPr>
            <a:r>
              <a:rPr lang="zh-CN" altLang="en-US" sz="3000" dirty="0"/>
              <a:t>催化加氢</a:t>
            </a:r>
            <a:endParaRPr lang="en-US" altLang="zh-CN" sz="3000" dirty="0"/>
          </a:p>
          <a:p>
            <a:pPr marL="571500" indent="-571500">
              <a:buNone/>
            </a:pPr>
            <a:r>
              <a:rPr lang="en-US" altLang="zh-CN" sz="3000" dirty="0"/>
              <a:t>	</a:t>
            </a:r>
            <a:r>
              <a:rPr lang="zh-CN" altLang="en-US" sz="3000" dirty="0"/>
              <a:t>通式：烯    </a:t>
            </a:r>
            <a:r>
              <a:rPr lang="en-US" altLang="zh-CN" sz="3000" dirty="0"/>
              <a:t>+    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	  	    </a:t>
            </a:r>
            <a:r>
              <a:rPr lang="zh-CN" altLang="en-US" sz="3000" dirty="0"/>
              <a:t>烷</a:t>
            </a:r>
            <a:endParaRPr lang="en-US" altLang="zh-CN" sz="3000" dirty="0"/>
          </a:p>
          <a:p>
            <a:pPr marL="571500" indent="-571500">
              <a:buNone/>
            </a:pPr>
            <a:endParaRPr lang="en-US" altLang="zh-CN" sz="3000" dirty="0"/>
          </a:p>
          <a:p>
            <a:pPr marL="571500" indent="-571500">
              <a:buNone/>
            </a:pPr>
            <a:endParaRPr lang="en-US" altLang="zh-CN" sz="3000" dirty="0"/>
          </a:p>
          <a:p>
            <a:pPr marL="571500" indent="-571500">
              <a:buNone/>
            </a:pPr>
            <a:r>
              <a:rPr lang="en-US" altLang="zh-CN" sz="3000" dirty="0"/>
              <a:t>	</a:t>
            </a:r>
          </a:p>
          <a:p>
            <a:pPr marL="571500" indent="-571500">
              <a:buNone/>
            </a:pPr>
            <a:r>
              <a:rPr lang="en-US" altLang="zh-CN" sz="3000" dirty="0"/>
              <a:t>	</a:t>
            </a:r>
          </a:p>
          <a:p>
            <a:pPr marL="571500" indent="-571500">
              <a:buNone/>
            </a:pPr>
            <a:r>
              <a:rPr lang="en-US" altLang="zh-CN" sz="3000" dirty="0"/>
              <a:t>	</a:t>
            </a:r>
            <a:r>
              <a:rPr lang="zh-CN" altLang="en-US" sz="3000" dirty="0"/>
              <a:t>例：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= 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 + 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	</a:t>
            </a:r>
          </a:p>
          <a:p>
            <a:pPr>
              <a:buNone/>
            </a:pPr>
            <a:endParaRPr lang="en-US" altLang="zh-CN" sz="3000" dirty="0"/>
          </a:p>
        </p:txBody>
      </p:sp>
      <p:grpSp>
        <p:nvGrpSpPr>
          <p:cNvPr id="4" name="Group 47"/>
          <p:cNvGrpSpPr/>
          <p:nvPr/>
        </p:nvGrpSpPr>
        <p:grpSpPr>
          <a:xfrm>
            <a:off x="4389120" y="4800600"/>
            <a:ext cx="548640" cy="338554"/>
            <a:chOff x="2819400" y="5983069"/>
            <a:chExt cx="548640" cy="338554"/>
          </a:xfrm>
        </p:grpSpPr>
        <p:cxnSp>
          <p:nvCxnSpPr>
            <p:cNvPr id="11" name="Straight Arrow Connector 10"/>
            <p:cNvCxnSpPr/>
            <p:nvPr/>
          </p:nvCxnSpPr>
          <p:spPr>
            <a:xfrm>
              <a:off x="2819400" y="6246812"/>
              <a:ext cx="54864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2895600" y="5983069"/>
              <a:ext cx="36420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Ni</a:t>
              </a:r>
              <a:endParaRPr lang="en-US" sz="1600" dirty="0"/>
            </a:p>
          </p:txBody>
        </p:sp>
      </p:grpSp>
      <p:grpSp>
        <p:nvGrpSpPr>
          <p:cNvPr id="6" name="Group 25"/>
          <p:cNvGrpSpPr/>
          <p:nvPr/>
        </p:nvGrpSpPr>
        <p:grpSpPr>
          <a:xfrm>
            <a:off x="1371600" y="2971800"/>
            <a:ext cx="6781800" cy="1442827"/>
            <a:chOff x="536822" y="2362199"/>
            <a:chExt cx="6477000" cy="1295399"/>
          </a:xfrm>
        </p:grpSpPr>
        <p:grpSp>
          <p:nvGrpSpPr>
            <p:cNvPr id="7" name="Group 18"/>
            <p:cNvGrpSpPr/>
            <p:nvPr/>
          </p:nvGrpSpPr>
          <p:grpSpPr>
            <a:xfrm>
              <a:off x="536822" y="2362199"/>
              <a:ext cx="6477000" cy="1295399"/>
              <a:chOff x="536822" y="2362199"/>
              <a:chExt cx="6477000" cy="1295399"/>
            </a:xfrm>
          </p:grpSpPr>
          <p:pic>
            <p:nvPicPr>
              <p:cNvPr id="14" name="Picture 13" descr="+H.jpg"/>
              <p:cNvPicPr>
                <a:picLocks noChangeAspect="1"/>
              </p:cNvPicPr>
              <p:nvPr/>
            </p:nvPicPr>
            <p:blipFill>
              <a:blip r:embed="rId3"/>
              <a:srcRect l="10076" t="75236" r="9313" b="3267"/>
              <a:stretch>
                <a:fillRect/>
              </a:stretch>
            </p:blipFill>
            <p:spPr>
              <a:xfrm>
                <a:off x="536822" y="2362199"/>
                <a:ext cx="6477000" cy="1295399"/>
              </a:xfrm>
              <a:prstGeom prst="rect">
                <a:avLst/>
              </a:prstGeom>
            </p:spPr>
          </p:pic>
          <p:sp>
            <p:nvSpPr>
              <p:cNvPr id="16" name="TextBox 15"/>
              <p:cNvSpPr txBox="1"/>
              <p:nvPr/>
            </p:nvSpPr>
            <p:spPr>
              <a:xfrm>
                <a:off x="2743200" y="2615625"/>
                <a:ext cx="614271" cy="52322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FF0000"/>
                    </a:solidFill>
                  </a:rPr>
                  <a:t>H</a:t>
                </a:r>
                <a:r>
                  <a:rPr lang="en-US" altLang="zh-CN" sz="2800" b="1" baseline="-25000" dirty="0">
                    <a:solidFill>
                      <a:srgbClr val="FF0000"/>
                    </a:solidFill>
                  </a:rPr>
                  <a:t>2</a:t>
                </a:r>
                <a:r>
                  <a:rPr lang="en-US" altLang="zh-CN" sz="2800" b="1" dirty="0">
                    <a:solidFill>
                      <a:srgbClr val="FF0000"/>
                    </a:solidFill>
                  </a:rPr>
                  <a:t> </a:t>
                </a:r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5194440" y="3183166"/>
                <a:ext cx="492443" cy="46166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FF0000"/>
                    </a:solidFill>
                  </a:rPr>
                  <a:t>H </a:t>
                </a:r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6067743" y="3183166"/>
                <a:ext cx="492443" cy="46166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FF0000"/>
                    </a:solidFill>
                  </a:rPr>
                  <a:t>H </a:t>
                </a:r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25" name="TextBox 24"/>
            <p:cNvSpPr txBox="1"/>
            <p:nvPr/>
          </p:nvSpPr>
          <p:spPr>
            <a:xfrm>
              <a:off x="3317557" y="2379433"/>
              <a:ext cx="1559243" cy="461665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</a:rPr>
                <a:t>Pt/Ni/Pd </a:t>
              </a:r>
              <a:endParaRPr lang="en-US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Group 47"/>
          <p:cNvGrpSpPr/>
          <p:nvPr/>
        </p:nvGrpSpPr>
        <p:grpSpPr>
          <a:xfrm>
            <a:off x="3931920" y="2133600"/>
            <a:ext cx="1097280" cy="338554"/>
            <a:chOff x="2819400" y="5983069"/>
            <a:chExt cx="1097280" cy="338554"/>
          </a:xfrm>
        </p:grpSpPr>
        <p:cxnSp>
          <p:nvCxnSpPr>
            <p:cNvPr id="20" name="Straight Arrow Connector 19"/>
            <p:cNvCxnSpPr/>
            <p:nvPr/>
          </p:nvCxnSpPr>
          <p:spPr>
            <a:xfrm>
              <a:off x="2819400" y="6246812"/>
              <a:ext cx="109728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2895600" y="5983069"/>
              <a:ext cx="90704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Pt/Ni/Pd</a:t>
              </a:r>
              <a:endParaRPr lang="en-US" sz="1600" dirty="0"/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4953000" y="4813756"/>
            <a:ext cx="133562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b="1" dirty="0">
                <a:latin typeface="+mn-ea"/>
              </a:rPr>
              <a:t>28.5 </a:t>
            </a:r>
            <a:r>
              <a:rPr lang="zh-CN" altLang="en-US" b="1" dirty="0">
                <a:latin typeface="+mn-ea"/>
              </a:rPr>
              <a:t>烯烃的化学性质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6868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sz="3000" dirty="0"/>
              <a:t>2. </a:t>
            </a:r>
            <a:r>
              <a:rPr lang="zh-CN" altLang="en-US" sz="3000" dirty="0"/>
              <a:t>加成反应</a:t>
            </a:r>
            <a:endParaRPr lang="en-US" altLang="zh-CN" sz="3000" dirty="0"/>
          </a:p>
          <a:p>
            <a:pPr>
              <a:buNone/>
            </a:pPr>
            <a:r>
              <a:rPr lang="en-US" altLang="zh-CN" sz="3000" dirty="0"/>
              <a:t>(II) </a:t>
            </a:r>
            <a:r>
              <a:rPr lang="zh-CN" altLang="en-US" sz="3000" dirty="0"/>
              <a:t>加卤素：</a:t>
            </a:r>
            <a:r>
              <a:rPr lang="en-US" altLang="zh-CN" sz="3000" dirty="0"/>
              <a:t>Cl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</a:t>
            </a:r>
            <a:r>
              <a:rPr lang="zh-CN" altLang="en-US" sz="3000" dirty="0"/>
              <a:t>、</a:t>
            </a:r>
            <a:r>
              <a:rPr lang="en-US" altLang="zh-CN" sz="3000" dirty="0"/>
              <a:t>Br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</a:t>
            </a:r>
            <a:r>
              <a:rPr lang="zh-CN" altLang="en-US" sz="3000" dirty="0"/>
              <a:t>易与烯烃起加成反应，</a:t>
            </a:r>
            <a:r>
              <a:rPr lang="en-US" altLang="zh-CN" sz="3000" dirty="0"/>
              <a:t>I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</a:t>
            </a:r>
            <a:r>
              <a:rPr lang="zh-CN" altLang="en-US" sz="3000" dirty="0"/>
              <a:t>较难。</a:t>
            </a:r>
            <a:endParaRPr lang="en-US" altLang="zh-CN" sz="3000" dirty="0"/>
          </a:p>
          <a:p>
            <a:pPr>
              <a:buNone/>
            </a:pPr>
            <a:r>
              <a:rPr lang="en-US" altLang="zh-CN" sz="3000" dirty="0"/>
              <a:t>	  </a:t>
            </a:r>
            <a:r>
              <a:rPr lang="zh-CN" altLang="en-US" sz="3000" dirty="0"/>
              <a:t>通式：</a:t>
            </a:r>
            <a:r>
              <a:rPr lang="en-US" altLang="zh-CN" sz="3000" dirty="0"/>
              <a:t>	 </a:t>
            </a:r>
            <a:r>
              <a:rPr lang="zh-CN" altLang="en-US" sz="3000" dirty="0"/>
              <a:t>烯    </a:t>
            </a:r>
            <a:r>
              <a:rPr lang="en-US" altLang="zh-CN" sz="3000" dirty="0"/>
              <a:t>+     X</a:t>
            </a:r>
            <a:r>
              <a:rPr lang="en-US" altLang="zh-CN" sz="3000" baseline="-25000" dirty="0"/>
              <a:t>2 </a:t>
            </a:r>
            <a:r>
              <a:rPr lang="en-US" altLang="zh-CN" sz="3000" dirty="0"/>
              <a:t> 	    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卤代烷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0"/>
              </a:spcBef>
              <a:buNone/>
            </a:pPr>
            <a:endParaRPr lang="en-MY" altLang="zh-CN" sz="3000" dirty="0">
              <a:sym typeface="Wingdings" pitchFamily="2" charset="2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3000" dirty="0">
                <a:sym typeface="Wingdings" pitchFamily="2" charset="2"/>
              </a:rPr>
              <a:t>例</a:t>
            </a:r>
            <a:r>
              <a:rPr lang="en-US" altLang="zh-CN" sz="3000" dirty="0">
                <a:sym typeface="Wingdings" pitchFamily="2" charset="2"/>
              </a:rPr>
              <a:t>: 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= 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 + Br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	       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BrCH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Br</a:t>
            </a: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altLang="zh-CN" sz="3000" dirty="0"/>
              <a:t>Br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</a:t>
            </a:r>
            <a:r>
              <a:rPr lang="zh-CN" altLang="en-US" sz="3000" dirty="0"/>
              <a:t>溶于</a:t>
            </a:r>
            <a:r>
              <a:rPr lang="en-US" altLang="zh-CN" sz="3000" dirty="0"/>
              <a:t>CCl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 </a:t>
            </a:r>
            <a:r>
              <a:rPr lang="zh-CN" altLang="en-US" sz="3000" dirty="0"/>
              <a:t>呈暗红色溶液，乙烯通入溴溶液反应后暗红色将消褪。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3000" dirty="0"/>
              <a:t>这是用来检验烯烃上的不饱和</a:t>
            </a:r>
            <a:r>
              <a:rPr lang="en-US" altLang="zh-CN" sz="3000" dirty="0"/>
              <a:t>C=C</a:t>
            </a:r>
            <a:r>
              <a:rPr lang="zh-CN" altLang="en-US" sz="3000" dirty="0"/>
              <a:t>双键。</a:t>
            </a:r>
            <a:endParaRPr lang="en-US" altLang="zh-CN" sz="3000" dirty="0"/>
          </a:p>
        </p:txBody>
      </p:sp>
      <p:pic>
        <p:nvPicPr>
          <p:cNvPr id="21" name="Picture 20" descr="+H.jpg"/>
          <p:cNvPicPr>
            <a:picLocks noChangeAspect="1"/>
          </p:cNvPicPr>
          <p:nvPr/>
        </p:nvPicPr>
        <p:blipFill>
          <a:blip r:embed="rId3"/>
          <a:srcRect l="10076" t="75236" r="9313" b="3267"/>
          <a:stretch>
            <a:fillRect/>
          </a:stretch>
        </p:blipFill>
        <p:spPr>
          <a:xfrm>
            <a:off x="1447800" y="2438400"/>
            <a:ext cx="6477000" cy="12954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650036" y="3962400"/>
            <a:ext cx="22653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0070C0"/>
                </a:solidFill>
              </a:rPr>
              <a:t>1,2–</a:t>
            </a:r>
            <a:r>
              <a:rPr lang="zh-CN" altLang="en-US" sz="2800" b="1" dirty="0">
                <a:solidFill>
                  <a:srgbClr val="0070C0"/>
                </a:solidFill>
              </a:rPr>
              <a:t>二溴乙烷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455825" y="4953000"/>
            <a:ext cx="576437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000" b="1" dirty="0">
                <a:solidFill>
                  <a:srgbClr val="002060"/>
                </a:solidFill>
              </a:rPr>
              <a:t>CCl</a:t>
            </a:r>
            <a:r>
              <a:rPr lang="en-US" altLang="zh-CN" sz="3000" b="1" baseline="-25000" dirty="0">
                <a:solidFill>
                  <a:srgbClr val="002060"/>
                </a:solidFill>
              </a:rPr>
              <a:t>4</a:t>
            </a:r>
            <a:r>
              <a:rPr lang="zh-CN" altLang="en-US" sz="3000" b="1" baseline="-25000" dirty="0">
                <a:solidFill>
                  <a:srgbClr val="002060"/>
                </a:solidFill>
              </a:rPr>
              <a:t> </a:t>
            </a:r>
            <a:r>
              <a:rPr lang="zh-CN" altLang="en-US" sz="3000" b="1" dirty="0">
                <a:solidFill>
                  <a:srgbClr val="002060"/>
                </a:solidFill>
              </a:rPr>
              <a:t>作为溶剂，使</a:t>
            </a:r>
            <a:r>
              <a:rPr lang="en-US" altLang="zh-CN" sz="3000" b="1" dirty="0">
                <a:solidFill>
                  <a:srgbClr val="002060"/>
                </a:solidFill>
              </a:rPr>
              <a:t>Br</a:t>
            </a:r>
            <a:r>
              <a:rPr lang="en-US" altLang="zh-CN" sz="3000" b="1" baseline="-25000" dirty="0">
                <a:solidFill>
                  <a:srgbClr val="002060"/>
                </a:solidFill>
              </a:rPr>
              <a:t>2</a:t>
            </a:r>
            <a:r>
              <a:rPr lang="zh-CN" altLang="en-US" sz="3000" b="1" dirty="0">
                <a:solidFill>
                  <a:srgbClr val="002060"/>
                </a:solidFill>
              </a:rPr>
              <a:t>不容易汽化。</a:t>
            </a:r>
            <a:r>
              <a:rPr lang="en-US" altLang="zh-CN" sz="3000" b="1" dirty="0">
                <a:solidFill>
                  <a:srgbClr val="002060"/>
                </a:solidFill>
              </a:rPr>
              <a:t> </a:t>
            </a:r>
            <a:endParaRPr lang="en-US" sz="3000" b="1" dirty="0">
              <a:solidFill>
                <a:srgbClr val="00206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226EC9-3EDF-4DDB-ABD0-C96A78867F13}"/>
              </a:ext>
            </a:extLst>
          </p:cNvPr>
          <p:cNvSpPr txBox="1"/>
          <p:nvPr/>
        </p:nvSpPr>
        <p:spPr>
          <a:xfrm>
            <a:off x="4359393" y="2438400"/>
            <a:ext cx="898407" cy="4616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C000"/>
                </a:solidFill>
              </a:rPr>
              <a:t>CCl</a:t>
            </a:r>
            <a:r>
              <a:rPr lang="en-US" altLang="zh-CN" sz="2400" b="1" baseline="-25000" dirty="0">
                <a:solidFill>
                  <a:srgbClr val="FFC000"/>
                </a:solidFill>
              </a:rPr>
              <a:t>4</a:t>
            </a:r>
            <a:r>
              <a:rPr lang="en-US" altLang="zh-CN" sz="2400" b="1" dirty="0">
                <a:solidFill>
                  <a:srgbClr val="FFC000"/>
                </a:solidFill>
              </a:rPr>
              <a:t> </a:t>
            </a:r>
            <a:endParaRPr lang="en-US" sz="2400" b="1" dirty="0">
              <a:solidFill>
                <a:srgbClr val="FFC000"/>
              </a:solidFill>
            </a:endParaRPr>
          </a:p>
        </p:txBody>
      </p:sp>
      <p:grpSp>
        <p:nvGrpSpPr>
          <p:cNvPr id="10" name="Group 47">
            <a:extLst>
              <a:ext uri="{FF2B5EF4-FFF2-40B4-BE49-F238E27FC236}">
                <a16:creationId xmlns:a16="http://schemas.microsoft.com/office/drawing/2014/main" id="{6BF48597-DA3C-4738-AC7F-81C84E8E70BD}"/>
              </a:ext>
            </a:extLst>
          </p:cNvPr>
          <p:cNvGrpSpPr/>
          <p:nvPr/>
        </p:nvGrpSpPr>
        <p:grpSpPr>
          <a:xfrm>
            <a:off x="4312920" y="1828800"/>
            <a:ext cx="1097280" cy="400110"/>
            <a:chOff x="2819400" y="5887759"/>
            <a:chExt cx="1097280" cy="400110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F67E37E-202F-40B3-8C31-E91FC98F1613}"/>
                </a:ext>
              </a:extLst>
            </p:cNvPr>
            <p:cNvCxnSpPr/>
            <p:nvPr/>
          </p:nvCxnSpPr>
          <p:spPr>
            <a:xfrm>
              <a:off x="2819400" y="6246812"/>
              <a:ext cx="109728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40A0CB9-8196-4B04-95FF-2D8219A72FD5}"/>
                </a:ext>
              </a:extLst>
            </p:cNvPr>
            <p:cNvSpPr txBox="1"/>
            <p:nvPr/>
          </p:nvSpPr>
          <p:spPr>
            <a:xfrm>
              <a:off x="3008830" y="5887759"/>
              <a:ext cx="6030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CCl</a:t>
              </a:r>
              <a:r>
                <a:rPr lang="en-US" sz="2000" baseline="-25000" dirty="0"/>
                <a:t>4</a:t>
              </a:r>
              <a:endParaRPr lang="en-US" sz="2000" dirty="0"/>
            </a:p>
          </p:txBody>
        </p:sp>
      </p:grpSp>
      <p:grpSp>
        <p:nvGrpSpPr>
          <p:cNvPr id="13" name="Group 47">
            <a:extLst>
              <a:ext uri="{FF2B5EF4-FFF2-40B4-BE49-F238E27FC236}">
                <a16:creationId xmlns:a16="http://schemas.microsoft.com/office/drawing/2014/main" id="{701DC699-AA6C-4897-BE48-F04EA63DA9E5}"/>
              </a:ext>
            </a:extLst>
          </p:cNvPr>
          <p:cNvGrpSpPr/>
          <p:nvPr/>
        </p:nvGrpSpPr>
        <p:grpSpPr>
          <a:xfrm>
            <a:off x="3474720" y="3886200"/>
            <a:ext cx="1097280" cy="400110"/>
            <a:chOff x="2819400" y="5887759"/>
            <a:chExt cx="1097280" cy="400110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6ECBBF3-2781-4F46-896B-E3FFB3AEBA98}"/>
                </a:ext>
              </a:extLst>
            </p:cNvPr>
            <p:cNvCxnSpPr/>
            <p:nvPr/>
          </p:nvCxnSpPr>
          <p:spPr>
            <a:xfrm>
              <a:off x="2819400" y="6246812"/>
              <a:ext cx="109728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D5B2A47-4408-4C0B-AA9B-3D6B3899C6AE}"/>
                </a:ext>
              </a:extLst>
            </p:cNvPr>
            <p:cNvSpPr txBox="1"/>
            <p:nvPr/>
          </p:nvSpPr>
          <p:spPr>
            <a:xfrm>
              <a:off x="3008830" y="5887759"/>
              <a:ext cx="6030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CCl</a:t>
              </a:r>
              <a:r>
                <a:rPr lang="en-US" sz="2000" baseline="-25000" dirty="0"/>
                <a:t>4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8" grpId="0"/>
      <p:bldP spid="8" grpId="0"/>
      <p:bldP spid="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b="1" dirty="0">
                <a:latin typeface="+mn-ea"/>
              </a:rPr>
              <a:t>28.5 </a:t>
            </a:r>
            <a:r>
              <a:rPr lang="zh-CN" altLang="en-US" b="1" dirty="0">
                <a:latin typeface="+mn-ea"/>
              </a:rPr>
              <a:t>烯烃的化学性质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6868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sz="3000" dirty="0"/>
              <a:t>2. </a:t>
            </a:r>
            <a:r>
              <a:rPr lang="zh-CN" altLang="en-US" sz="3000" dirty="0"/>
              <a:t>加成反应</a:t>
            </a:r>
            <a:endParaRPr lang="en-US" altLang="zh-CN" sz="3000" dirty="0"/>
          </a:p>
          <a:p>
            <a:pPr>
              <a:buNone/>
            </a:pPr>
            <a:r>
              <a:rPr lang="en-US" altLang="zh-CN" sz="3000" dirty="0"/>
              <a:t>(II) </a:t>
            </a:r>
            <a:r>
              <a:rPr lang="zh-CN" altLang="en-US" sz="3000" dirty="0"/>
              <a:t>加卤素的水溶液</a:t>
            </a:r>
            <a:endParaRPr lang="en-US" altLang="zh-CN" sz="3000" dirty="0"/>
          </a:p>
          <a:p>
            <a:pPr>
              <a:buNone/>
            </a:pPr>
            <a:r>
              <a:rPr lang="en-US" altLang="zh-CN" sz="3000" dirty="0"/>
              <a:t>	  </a:t>
            </a:r>
            <a:r>
              <a:rPr lang="zh-CN" altLang="en-US" sz="3000" dirty="0"/>
              <a:t>通式：</a:t>
            </a:r>
            <a:r>
              <a:rPr lang="en-US" altLang="zh-CN" sz="3000" dirty="0"/>
              <a:t>	 </a:t>
            </a:r>
            <a:r>
              <a:rPr lang="zh-CN" altLang="en-US" sz="3000" dirty="0"/>
              <a:t>烯   </a:t>
            </a:r>
            <a:r>
              <a:rPr lang="en-US" altLang="zh-CN" sz="3000" dirty="0"/>
              <a:t>+   X</a:t>
            </a:r>
            <a:r>
              <a:rPr lang="en-US" altLang="zh-CN" sz="3000" baseline="-25000" dirty="0"/>
              <a:t>2 </a:t>
            </a:r>
            <a:r>
              <a:rPr lang="en-US" altLang="zh-CN" sz="3000" dirty="0"/>
              <a:t>   + </a:t>
            </a:r>
            <a:r>
              <a:rPr lang="zh-CN" altLang="en-US" sz="3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水</a:t>
            </a:r>
            <a:r>
              <a:rPr lang="en-US" altLang="zh-CN" sz="3000" dirty="0"/>
              <a:t>   </a:t>
            </a:r>
            <a:r>
              <a:rPr lang="en-US" altLang="zh-CN" sz="3000" dirty="0">
                <a:sym typeface="Wingdings" pitchFamily="2" charset="2"/>
              </a:rPr>
              <a:t> 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卤代醇 </a:t>
            </a:r>
            <a:r>
              <a:rPr lang="en-US" altLang="zh-CN" sz="3000" dirty="0">
                <a:sym typeface="Wingdings" pitchFamily="2" charset="2"/>
              </a:rPr>
              <a:t>+ HX</a:t>
            </a:r>
          </a:p>
          <a:p>
            <a:pPr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例</a:t>
            </a:r>
            <a:r>
              <a:rPr lang="en-US" altLang="zh-CN" sz="3000" dirty="0">
                <a:sym typeface="Wingdings" pitchFamily="2" charset="2"/>
              </a:rPr>
              <a:t>: 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= 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 + Br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+ 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O </a:t>
            </a:r>
            <a:r>
              <a:rPr lang="en-US" altLang="zh-CN" sz="3000" dirty="0">
                <a:sym typeface="Wingdings" pitchFamily="2" charset="2"/>
              </a:rPr>
              <a:t> CH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BrCH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OH + HBr</a:t>
            </a:r>
            <a:endParaRPr lang="en-US" altLang="zh-CN" sz="3000" dirty="0"/>
          </a:p>
          <a:p>
            <a:pPr>
              <a:buNone/>
            </a:pPr>
            <a:r>
              <a:rPr lang="zh-CN" altLang="en-US" sz="3000" dirty="0"/>
              <a:t>练习</a:t>
            </a:r>
            <a:endParaRPr lang="en-US" altLang="zh-CN" sz="3000" dirty="0"/>
          </a:p>
          <a:p>
            <a:pPr>
              <a:buNone/>
            </a:pPr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CH=CHCH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 + Br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+ 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O </a:t>
            </a:r>
            <a:r>
              <a:rPr lang="en-US" altLang="zh-CN" sz="3000" dirty="0">
                <a:sym typeface="Wingdings" pitchFamily="2" charset="2"/>
              </a:rPr>
              <a:t>  </a:t>
            </a:r>
            <a:endParaRPr lang="en-US" altLang="zh-CN" sz="3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C33B3A-7A63-4B38-A5D4-B8884B9034C4}"/>
              </a:ext>
            </a:extLst>
          </p:cNvPr>
          <p:cNvSpPr/>
          <p:nvPr/>
        </p:nvSpPr>
        <p:spPr>
          <a:xfrm>
            <a:off x="3684425" y="4724400"/>
            <a:ext cx="576437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CHBrCHOHCH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 + HBr</a:t>
            </a:r>
            <a:endParaRPr lang="en-US" sz="30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65382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b="1" dirty="0">
                <a:latin typeface="+mn-ea"/>
              </a:rPr>
              <a:t>28.5 </a:t>
            </a:r>
            <a:r>
              <a:rPr lang="zh-CN" altLang="en-US" b="1" dirty="0">
                <a:latin typeface="+mn-ea"/>
              </a:rPr>
              <a:t>烯烃的化学性质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sz="3000" dirty="0"/>
              <a:t>2. </a:t>
            </a:r>
            <a:r>
              <a:rPr lang="zh-CN" altLang="en-US" sz="3000" dirty="0"/>
              <a:t>加成反应</a:t>
            </a:r>
            <a:endParaRPr lang="en-US" altLang="zh-CN" sz="3000" dirty="0"/>
          </a:p>
          <a:p>
            <a:pPr>
              <a:buNone/>
            </a:pPr>
            <a:r>
              <a:rPr lang="en-US" altLang="zh-CN" sz="3000" dirty="0"/>
              <a:t>(III) </a:t>
            </a:r>
            <a:r>
              <a:rPr lang="zh-CN" altLang="en-US" sz="3000" dirty="0"/>
              <a:t>加卤化氢：</a:t>
            </a:r>
            <a:r>
              <a:rPr lang="en-US" altLang="zh-CN" sz="3000" dirty="0" err="1"/>
              <a:t>HCl</a:t>
            </a:r>
            <a:r>
              <a:rPr lang="en-US" altLang="zh-CN" sz="3000" dirty="0"/>
              <a:t>, </a:t>
            </a:r>
            <a:r>
              <a:rPr lang="en-US" altLang="zh-CN" sz="3000" dirty="0" err="1"/>
              <a:t>HBr</a:t>
            </a:r>
            <a:r>
              <a:rPr lang="en-US" altLang="zh-CN" sz="3000" dirty="0"/>
              <a:t>, HI</a:t>
            </a:r>
            <a:r>
              <a:rPr lang="zh-CN" altLang="en-US" sz="3000" dirty="0"/>
              <a:t>都可与烯烃起加成反应。</a:t>
            </a:r>
            <a:endParaRPr lang="en-US" altLang="zh-CN" sz="3000" dirty="0"/>
          </a:p>
          <a:p>
            <a:pPr>
              <a:buNone/>
            </a:pPr>
            <a:r>
              <a:rPr lang="en-US" altLang="zh-CN" sz="3000" dirty="0"/>
              <a:t>	</a:t>
            </a:r>
            <a:r>
              <a:rPr lang="zh-CN" altLang="en-US" sz="3000" dirty="0"/>
              <a:t>通式：   烯</a:t>
            </a:r>
            <a:r>
              <a:rPr lang="en-US" altLang="zh-CN" sz="3000" dirty="0"/>
              <a:t>C</a:t>
            </a:r>
            <a:r>
              <a:rPr lang="en-US" altLang="zh-CN" sz="3000" baseline="-25000" dirty="0"/>
              <a:t>n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2n</a:t>
            </a:r>
            <a:r>
              <a:rPr lang="zh-CN" altLang="en-US" sz="3000" dirty="0"/>
              <a:t>   </a:t>
            </a:r>
            <a:r>
              <a:rPr lang="en-US" altLang="zh-CN" sz="3000" dirty="0"/>
              <a:t>+  HX   </a:t>
            </a:r>
            <a:r>
              <a:rPr lang="en-US" altLang="zh-CN" sz="3000" dirty="0">
                <a:sym typeface="Wingdings" pitchFamily="2" charset="2"/>
              </a:rPr>
              <a:t>  </a:t>
            </a:r>
            <a:r>
              <a:rPr lang="zh-CN" altLang="en-US" sz="3000" dirty="0">
                <a:sym typeface="Wingdings" pitchFamily="2" charset="2"/>
              </a:rPr>
              <a:t>一卤代烷</a:t>
            </a:r>
            <a:r>
              <a:rPr lang="en-US" altLang="zh-CN" sz="3000" dirty="0">
                <a:sym typeface="Wingdings" pitchFamily="2" charset="2"/>
              </a:rPr>
              <a:t>C</a:t>
            </a:r>
            <a:r>
              <a:rPr lang="en-US" altLang="zh-CN" sz="3000" baseline="-25000" dirty="0">
                <a:sym typeface="Wingdings" pitchFamily="2" charset="2"/>
              </a:rPr>
              <a:t>n</a:t>
            </a:r>
            <a:r>
              <a:rPr lang="en-US" altLang="zh-CN" sz="3000" dirty="0">
                <a:sym typeface="Wingdings" pitchFamily="2" charset="2"/>
              </a:rPr>
              <a:t>H</a:t>
            </a:r>
            <a:r>
              <a:rPr lang="en-US" altLang="zh-CN" sz="3000" baseline="-25000" dirty="0">
                <a:sym typeface="Wingdings" pitchFamily="2" charset="2"/>
              </a:rPr>
              <a:t>2n+1</a:t>
            </a:r>
            <a:r>
              <a:rPr lang="en-US" altLang="zh-CN" sz="3000" dirty="0">
                <a:sym typeface="Wingdings" pitchFamily="2" charset="2"/>
              </a:rPr>
              <a:t>X</a:t>
            </a:r>
          </a:p>
          <a:p>
            <a:pPr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马尔可夫尼可夫规则：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当烯烃与卤化氢加成时，卤化氢分子中的</a:t>
            </a:r>
            <a:r>
              <a:rPr lang="en-US" altLang="zh-CN" sz="3000" dirty="0">
                <a:sym typeface="Wingdings" pitchFamily="2" charset="2"/>
              </a:rPr>
              <a:t>H</a:t>
            </a:r>
            <a:r>
              <a:rPr lang="zh-CN" altLang="en-US" sz="3000" dirty="0">
                <a:sym typeface="Wingdings" pitchFamily="2" charset="2"/>
              </a:rPr>
              <a:t>原子加在烯烃分子中双键含</a:t>
            </a:r>
            <a:r>
              <a:rPr lang="en-US" altLang="zh-CN" sz="3000" dirty="0">
                <a:sym typeface="Wingdings" pitchFamily="2" charset="2"/>
              </a:rPr>
              <a:t>H</a:t>
            </a:r>
            <a:r>
              <a:rPr lang="zh-CN" altLang="en-US" sz="3000" dirty="0">
                <a:sym typeface="Wingdings" pitchFamily="2" charset="2"/>
              </a:rPr>
              <a:t>较多的那个</a:t>
            </a:r>
            <a:r>
              <a:rPr lang="en-US" altLang="zh-CN" sz="3000" dirty="0">
                <a:sym typeface="Wingdings" pitchFamily="2" charset="2"/>
              </a:rPr>
              <a:t>C</a:t>
            </a:r>
            <a:r>
              <a:rPr lang="zh-CN" altLang="en-US" sz="3000" dirty="0">
                <a:sym typeface="Wingdings" pitchFamily="2" charset="2"/>
              </a:rPr>
              <a:t>原子上；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卤原子加在含</a:t>
            </a:r>
            <a:r>
              <a:rPr lang="en-US" altLang="zh-CN" sz="3000" dirty="0">
                <a:sym typeface="Wingdings" pitchFamily="2" charset="2"/>
              </a:rPr>
              <a:t>H</a:t>
            </a:r>
            <a:r>
              <a:rPr lang="zh-CN" altLang="en-US" sz="3000" dirty="0">
                <a:sym typeface="Wingdings" pitchFamily="2" charset="2"/>
              </a:rPr>
              <a:t>较少的那个</a:t>
            </a:r>
            <a:r>
              <a:rPr lang="en-US" altLang="zh-CN" sz="3000" dirty="0">
                <a:sym typeface="Wingdings" pitchFamily="2" charset="2"/>
              </a:rPr>
              <a:t>C</a:t>
            </a:r>
            <a:r>
              <a:rPr lang="zh-CN" altLang="en-US" sz="3000" dirty="0">
                <a:sym typeface="Wingdings" pitchFamily="2" charset="2"/>
              </a:rPr>
              <a:t>原子上。</a:t>
            </a:r>
            <a:endParaRPr lang="en-US" altLang="zh-CN" sz="3000" dirty="0"/>
          </a:p>
        </p:txBody>
      </p:sp>
      <p:grpSp>
        <p:nvGrpSpPr>
          <p:cNvPr id="9" name="Group 18"/>
          <p:cNvGrpSpPr/>
          <p:nvPr/>
        </p:nvGrpSpPr>
        <p:grpSpPr>
          <a:xfrm>
            <a:off x="1371600" y="2819400"/>
            <a:ext cx="6781800" cy="1442827"/>
            <a:chOff x="536822" y="2362199"/>
            <a:chExt cx="6477000" cy="1295399"/>
          </a:xfrm>
        </p:grpSpPr>
        <p:pic>
          <p:nvPicPr>
            <p:cNvPr id="11" name="Picture 10" descr="+H.jpg"/>
            <p:cNvPicPr>
              <a:picLocks noChangeAspect="1"/>
            </p:cNvPicPr>
            <p:nvPr/>
          </p:nvPicPr>
          <p:blipFill>
            <a:blip r:embed="rId3"/>
            <a:srcRect l="10076" t="75236" r="9313" b="3267"/>
            <a:stretch>
              <a:fillRect/>
            </a:stretch>
          </p:blipFill>
          <p:spPr>
            <a:xfrm>
              <a:off x="536822" y="2362199"/>
              <a:ext cx="6477000" cy="1295399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2743200" y="2615625"/>
              <a:ext cx="658618" cy="469757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zh-CN" sz="2800" b="1" dirty="0">
                  <a:solidFill>
                    <a:srgbClr val="FF0000"/>
                  </a:solidFill>
                </a:rPr>
                <a:t>HX </a:t>
              </a:r>
              <a:endParaRPr lang="en-US" sz="2800" b="1" dirty="0">
                <a:solidFill>
                  <a:srgbClr val="FF0000"/>
                </a:solidFill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194440" y="3183166"/>
              <a:ext cx="492443" cy="461665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rgbClr val="FF0000"/>
                  </a:solidFill>
                </a:rPr>
                <a:t>H </a:t>
              </a:r>
              <a:endParaRPr lang="en-US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067743" y="3183166"/>
              <a:ext cx="492443" cy="41449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rgbClr val="FF0000"/>
                  </a:solidFill>
                </a:rPr>
                <a:t>X </a:t>
              </a:r>
              <a:endParaRPr lang="en-US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4191000" y="4292025"/>
            <a:ext cx="2597186" cy="58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200" b="1" i="1" dirty="0">
                <a:solidFill>
                  <a:srgbClr val="002060"/>
                </a:solidFill>
                <a:sym typeface="Wingdings" pitchFamily="2" charset="2"/>
              </a:rPr>
              <a:t>H</a:t>
            </a:r>
            <a:r>
              <a:rPr lang="zh-CN" altLang="en-US" sz="3200" b="1" i="1" dirty="0">
                <a:solidFill>
                  <a:srgbClr val="002060"/>
                </a:solidFill>
                <a:sym typeface="Wingdings" pitchFamily="2" charset="2"/>
              </a:rPr>
              <a:t>找朋友规则</a:t>
            </a:r>
            <a:r>
              <a:rPr lang="en-US" altLang="zh-CN" sz="3200" b="1" i="1" dirty="0">
                <a:solidFill>
                  <a:srgbClr val="FF0000"/>
                </a:solidFill>
              </a:rPr>
              <a:t> </a:t>
            </a:r>
            <a:endParaRPr lang="en-US" sz="32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b="1" dirty="0">
                <a:latin typeface="+mn-ea"/>
              </a:rPr>
              <a:t>28.5 </a:t>
            </a:r>
            <a:r>
              <a:rPr lang="zh-CN" altLang="en-US" b="1" dirty="0">
                <a:latin typeface="+mn-ea"/>
              </a:rPr>
              <a:t>烯烃的化学性质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sz="3000" dirty="0"/>
              <a:t>2. </a:t>
            </a:r>
            <a:r>
              <a:rPr lang="zh-CN" altLang="en-US" sz="3000" dirty="0"/>
              <a:t>加成反应</a:t>
            </a:r>
            <a:endParaRPr lang="en-US" altLang="zh-CN" sz="3000" dirty="0"/>
          </a:p>
          <a:p>
            <a:pPr>
              <a:buNone/>
            </a:pPr>
            <a:r>
              <a:rPr lang="en-US" altLang="zh-CN" sz="3000" dirty="0"/>
              <a:t>(III) </a:t>
            </a:r>
            <a:r>
              <a:rPr lang="zh-CN" altLang="en-US" sz="3000" dirty="0"/>
              <a:t>加卤化氢</a:t>
            </a:r>
            <a:endParaRPr lang="en-US" altLang="zh-CN" sz="3000" dirty="0"/>
          </a:p>
          <a:p>
            <a:pPr>
              <a:buNone/>
            </a:pPr>
            <a:r>
              <a:rPr lang="zh-CN" altLang="en-US" sz="3000" dirty="0"/>
              <a:t>例题</a:t>
            </a:r>
            <a:endParaRPr lang="en-US" altLang="zh-CN" sz="3000" dirty="0"/>
          </a:p>
          <a:p>
            <a:pPr>
              <a:buNone/>
            </a:pPr>
            <a:r>
              <a:rPr lang="en-US" altLang="zh-CN" sz="3000" dirty="0">
                <a:solidFill>
                  <a:srgbClr val="002060"/>
                </a:solidFill>
              </a:rPr>
              <a:t>(CH</a:t>
            </a:r>
            <a:r>
              <a:rPr lang="en-US" altLang="zh-CN" sz="3000" baseline="-25000" dirty="0">
                <a:solidFill>
                  <a:srgbClr val="002060"/>
                </a:solidFill>
              </a:rPr>
              <a:t>3</a:t>
            </a:r>
            <a:r>
              <a:rPr lang="en-US" altLang="zh-CN" sz="3000" dirty="0">
                <a:solidFill>
                  <a:srgbClr val="002060"/>
                </a:solidFill>
              </a:rPr>
              <a:t> )</a:t>
            </a:r>
            <a:r>
              <a:rPr lang="en-US" altLang="zh-CN" sz="3000" baseline="-25000" dirty="0">
                <a:solidFill>
                  <a:srgbClr val="002060"/>
                </a:solidFill>
              </a:rPr>
              <a:t>2</a:t>
            </a:r>
            <a:r>
              <a:rPr lang="en-US" altLang="zh-CN" sz="3000" dirty="0">
                <a:solidFill>
                  <a:srgbClr val="002060"/>
                </a:solidFill>
              </a:rPr>
              <a:t>C=CHCH</a:t>
            </a:r>
            <a:r>
              <a:rPr lang="en-US" altLang="zh-CN" sz="3000" baseline="-25000" dirty="0">
                <a:solidFill>
                  <a:srgbClr val="002060"/>
                </a:solidFill>
              </a:rPr>
              <a:t>3</a:t>
            </a:r>
            <a:r>
              <a:rPr lang="en-US" altLang="zh-CN" sz="3000" dirty="0">
                <a:solidFill>
                  <a:srgbClr val="002060"/>
                </a:solidFill>
              </a:rPr>
              <a:t>  + </a:t>
            </a:r>
            <a:r>
              <a:rPr lang="en-US" altLang="zh-CN" sz="3000" dirty="0">
                <a:solidFill>
                  <a:srgbClr val="FF0000"/>
                </a:solidFill>
              </a:rPr>
              <a:t>HBr  </a:t>
            </a:r>
            <a:r>
              <a:rPr lang="en-US" altLang="zh-CN" sz="3000" dirty="0">
                <a:solidFill>
                  <a:srgbClr val="002060"/>
                </a:solidFill>
                <a:sym typeface="Wingdings" pitchFamily="2" charset="2"/>
              </a:rPr>
              <a:t></a:t>
            </a:r>
          </a:p>
          <a:p>
            <a:pPr>
              <a:buNone/>
            </a:pPr>
            <a:endParaRPr lang="en-US" altLang="zh-CN" sz="3000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altLang="zh-CN" sz="3000" dirty="0">
                <a:solidFill>
                  <a:srgbClr val="002060"/>
                </a:solidFill>
              </a:rPr>
              <a:t>(CH</a:t>
            </a:r>
            <a:r>
              <a:rPr lang="en-US" altLang="zh-CN" sz="3000" baseline="-25000" dirty="0">
                <a:solidFill>
                  <a:srgbClr val="002060"/>
                </a:solidFill>
              </a:rPr>
              <a:t>3</a:t>
            </a:r>
            <a:r>
              <a:rPr lang="en-US" altLang="zh-CN" sz="3000" dirty="0">
                <a:solidFill>
                  <a:srgbClr val="002060"/>
                </a:solidFill>
              </a:rPr>
              <a:t> )</a:t>
            </a:r>
            <a:r>
              <a:rPr lang="en-US" altLang="zh-CN" sz="3000" baseline="-25000" dirty="0">
                <a:solidFill>
                  <a:srgbClr val="002060"/>
                </a:solidFill>
              </a:rPr>
              <a:t>3</a:t>
            </a:r>
            <a:r>
              <a:rPr lang="en-US" altLang="zh-CN" sz="3000" dirty="0">
                <a:solidFill>
                  <a:srgbClr val="002060"/>
                </a:solidFill>
              </a:rPr>
              <a:t>CCH=CH</a:t>
            </a:r>
            <a:r>
              <a:rPr lang="en-US" altLang="zh-CN" sz="3000" baseline="-25000" dirty="0">
                <a:solidFill>
                  <a:srgbClr val="002060"/>
                </a:solidFill>
              </a:rPr>
              <a:t>2</a:t>
            </a:r>
            <a:r>
              <a:rPr lang="en-US" altLang="zh-CN" sz="3000" dirty="0">
                <a:solidFill>
                  <a:srgbClr val="002060"/>
                </a:solidFill>
              </a:rPr>
              <a:t>  + </a:t>
            </a:r>
            <a:r>
              <a:rPr lang="en-US" altLang="zh-CN" sz="3000" dirty="0">
                <a:solidFill>
                  <a:srgbClr val="FF0000"/>
                </a:solidFill>
              </a:rPr>
              <a:t>HCl  </a:t>
            </a:r>
            <a:r>
              <a:rPr lang="en-US" altLang="zh-CN" sz="3000" dirty="0">
                <a:solidFill>
                  <a:srgbClr val="002060"/>
                </a:solidFill>
                <a:sym typeface="Wingdings" pitchFamily="2" charset="2"/>
              </a:rPr>
              <a:t></a:t>
            </a:r>
          </a:p>
          <a:p>
            <a:pPr>
              <a:buNone/>
            </a:pPr>
            <a:endParaRPr lang="zh-CN" altLang="en-US" sz="3000" dirty="0">
              <a:solidFill>
                <a:srgbClr val="00206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95800" y="2590800"/>
            <a:ext cx="3305713" cy="58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002060"/>
                </a:solidFill>
                <a:sym typeface="Wingdings" pitchFamily="2" charset="2"/>
              </a:rPr>
              <a:t>(CH</a:t>
            </a:r>
            <a:r>
              <a:rPr lang="en-US" altLang="zh-CN" sz="3200" b="1" baseline="-25000" dirty="0">
                <a:solidFill>
                  <a:srgbClr val="002060"/>
                </a:solidFill>
                <a:sym typeface="Wingdings" pitchFamily="2" charset="2"/>
              </a:rPr>
              <a:t>3</a:t>
            </a:r>
            <a:r>
              <a:rPr lang="en-US" altLang="zh-CN" sz="3200" b="1" dirty="0">
                <a:solidFill>
                  <a:srgbClr val="002060"/>
                </a:solidFill>
                <a:sym typeface="Wingdings" pitchFamily="2" charset="2"/>
              </a:rPr>
              <a:t> )</a:t>
            </a:r>
            <a:r>
              <a:rPr lang="en-US" altLang="zh-CN" sz="3200" b="1" baseline="-25000" dirty="0">
                <a:solidFill>
                  <a:srgbClr val="002060"/>
                </a:solidFill>
                <a:sym typeface="Wingdings" pitchFamily="2" charset="2"/>
              </a:rPr>
              <a:t>2</a:t>
            </a:r>
            <a:r>
              <a:rPr lang="en-US" altLang="zh-CN" sz="3200" b="1" dirty="0">
                <a:solidFill>
                  <a:srgbClr val="002060"/>
                </a:solidFill>
                <a:sym typeface="Wingdings" pitchFamily="2" charset="2"/>
              </a:rPr>
              <a:t>C</a:t>
            </a:r>
            <a:r>
              <a:rPr lang="en-US" altLang="zh-CN" sz="3200" b="1" dirty="0">
                <a:solidFill>
                  <a:srgbClr val="FF0000"/>
                </a:solidFill>
                <a:sym typeface="Wingdings" pitchFamily="2" charset="2"/>
              </a:rPr>
              <a:t>Br</a:t>
            </a:r>
            <a:r>
              <a:rPr lang="en-US" altLang="zh-CN" sz="3200" b="1" dirty="0">
                <a:solidFill>
                  <a:srgbClr val="002060"/>
                </a:solidFill>
                <a:sym typeface="Wingdings" pitchFamily="2" charset="2"/>
              </a:rPr>
              <a:t>CH</a:t>
            </a:r>
            <a:r>
              <a:rPr lang="en-US" altLang="zh-CN" sz="3200" b="1" baseline="-25000" dirty="0">
                <a:solidFill>
                  <a:srgbClr val="002060"/>
                </a:solidFill>
                <a:sym typeface="Wingdings" pitchFamily="2" charset="2"/>
              </a:rPr>
              <a:t>2</a:t>
            </a:r>
            <a:r>
              <a:rPr lang="en-US" altLang="zh-CN" sz="3200" b="1" dirty="0">
                <a:solidFill>
                  <a:srgbClr val="002060"/>
                </a:solidFill>
                <a:sym typeface="Wingdings" pitchFamily="2" charset="2"/>
              </a:rPr>
              <a:t>CH</a:t>
            </a:r>
            <a:r>
              <a:rPr lang="en-US" altLang="zh-CN" sz="3200" b="1" baseline="-25000" dirty="0">
                <a:solidFill>
                  <a:srgbClr val="002060"/>
                </a:solidFill>
                <a:sym typeface="Wingdings" pitchFamily="2" charset="2"/>
              </a:rPr>
              <a:t>3</a:t>
            </a: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45005" y="3657600"/>
            <a:ext cx="2922595" cy="58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002060"/>
                </a:solidFill>
                <a:sym typeface="Wingdings" pitchFamily="2" charset="2"/>
              </a:rPr>
              <a:t>(CH</a:t>
            </a:r>
            <a:r>
              <a:rPr lang="en-US" altLang="zh-CN" sz="3200" b="1" baseline="-25000" dirty="0">
                <a:solidFill>
                  <a:srgbClr val="002060"/>
                </a:solidFill>
                <a:sym typeface="Wingdings" pitchFamily="2" charset="2"/>
              </a:rPr>
              <a:t>3</a:t>
            </a:r>
            <a:r>
              <a:rPr lang="en-US" altLang="zh-CN" sz="3200" b="1" dirty="0">
                <a:solidFill>
                  <a:srgbClr val="002060"/>
                </a:solidFill>
                <a:sym typeface="Wingdings" pitchFamily="2" charset="2"/>
              </a:rPr>
              <a:t>)</a:t>
            </a:r>
            <a:r>
              <a:rPr lang="en-US" altLang="zh-CN" sz="3200" b="1" baseline="-25000" dirty="0">
                <a:solidFill>
                  <a:srgbClr val="002060"/>
                </a:solidFill>
                <a:sym typeface="Wingdings" pitchFamily="2" charset="2"/>
              </a:rPr>
              <a:t>3</a:t>
            </a:r>
            <a:r>
              <a:rPr lang="en-US" altLang="zh-CN" sz="3200" b="1" dirty="0">
                <a:solidFill>
                  <a:srgbClr val="002060"/>
                </a:solidFill>
                <a:sym typeface="Wingdings" pitchFamily="2" charset="2"/>
              </a:rPr>
              <a:t>CCH</a:t>
            </a:r>
            <a:r>
              <a:rPr lang="en-US" altLang="zh-CN" sz="3200" b="1" dirty="0">
                <a:solidFill>
                  <a:srgbClr val="FF0000"/>
                </a:solidFill>
                <a:sym typeface="Wingdings" pitchFamily="2" charset="2"/>
              </a:rPr>
              <a:t>Cl</a:t>
            </a:r>
            <a:r>
              <a:rPr lang="en-US" altLang="zh-CN" sz="3200" b="1" dirty="0">
                <a:solidFill>
                  <a:srgbClr val="002060"/>
                </a:solidFill>
                <a:sym typeface="Wingdings" pitchFamily="2" charset="2"/>
              </a:rPr>
              <a:t>CH</a:t>
            </a:r>
            <a:r>
              <a:rPr lang="en-US" altLang="zh-CN" sz="3200" b="1" baseline="-25000" dirty="0">
                <a:solidFill>
                  <a:srgbClr val="002060"/>
                </a:solidFill>
                <a:sym typeface="Wingdings" pitchFamily="2" charset="2"/>
              </a:rPr>
              <a:t>3</a:t>
            </a: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  <a:endParaRPr 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4" grpId="0" animBg="1"/>
      <p:bldP spid="1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b="1" dirty="0">
                <a:latin typeface="+mn-ea"/>
              </a:rPr>
              <a:t>28.5 </a:t>
            </a:r>
            <a:r>
              <a:rPr lang="zh-CN" altLang="en-US" b="1" dirty="0">
                <a:latin typeface="+mn-ea"/>
              </a:rPr>
              <a:t>烯烃的化学性质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sz="3000" dirty="0"/>
              <a:t>2. </a:t>
            </a:r>
            <a:r>
              <a:rPr lang="zh-CN" altLang="en-US" sz="3000" dirty="0"/>
              <a:t>加成反应</a:t>
            </a:r>
            <a:endParaRPr lang="en-US" altLang="zh-CN" sz="3000" dirty="0"/>
          </a:p>
          <a:p>
            <a:pPr>
              <a:buNone/>
            </a:pPr>
            <a:r>
              <a:rPr lang="en-US" altLang="zh-CN" sz="3000" dirty="0"/>
              <a:t>(IV) </a:t>
            </a:r>
            <a:r>
              <a:rPr lang="zh-CN" altLang="en-US" sz="3000" dirty="0"/>
              <a:t>加水：</a:t>
            </a:r>
            <a:endParaRPr lang="en-MY" altLang="zh-CN" sz="3000" dirty="0"/>
          </a:p>
          <a:p>
            <a:pPr>
              <a:buNone/>
            </a:pPr>
            <a:r>
              <a:rPr lang="en-US" altLang="zh-CN" sz="3000" dirty="0"/>
              <a:t> 	  </a:t>
            </a:r>
            <a:r>
              <a:rPr lang="zh-CN" altLang="en-US" sz="3000" dirty="0"/>
              <a:t>通式：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烯   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  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水       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      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醇</a:t>
            </a:r>
            <a:endParaRPr lang="en-US" altLang="zh-CN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Picture 5" descr="+H2O(2).jpg"/>
          <p:cNvPicPr>
            <a:picLocks noChangeAspect="1"/>
          </p:cNvPicPr>
          <p:nvPr/>
        </p:nvPicPr>
        <p:blipFill>
          <a:blip r:embed="rId3"/>
          <a:srcRect l="7500" t="6667" r="16667" b="51111"/>
          <a:stretch>
            <a:fillRect/>
          </a:stretch>
        </p:blipFill>
        <p:spPr>
          <a:xfrm>
            <a:off x="304800" y="2667000"/>
            <a:ext cx="8576511" cy="3657600"/>
          </a:xfrm>
          <a:prstGeom prst="rect">
            <a:avLst/>
          </a:prstGeom>
        </p:spPr>
      </p:pic>
      <p:grpSp>
        <p:nvGrpSpPr>
          <p:cNvPr id="8" name="Group 47">
            <a:extLst>
              <a:ext uri="{FF2B5EF4-FFF2-40B4-BE49-F238E27FC236}">
                <a16:creationId xmlns:a16="http://schemas.microsoft.com/office/drawing/2014/main" id="{2B6C646F-D967-420F-A926-986CCEFDB535}"/>
              </a:ext>
            </a:extLst>
          </p:cNvPr>
          <p:cNvGrpSpPr/>
          <p:nvPr/>
        </p:nvGrpSpPr>
        <p:grpSpPr>
          <a:xfrm>
            <a:off x="3657600" y="1980437"/>
            <a:ext cx="936000" cy="707886"/>
            <a:chOff x="2819400" y="5887759"/>
            <a:chExt cx="936000" cy="707886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A3F5F2E-EB09-4399-B694-C49C6954C68A}"/>
                </a:ext>
              </a:extLst>
            </p:cNvPr>
            <p:cNvCxnSpPr/>
            <p:nvPr/>
          </p:nvCxnSpPr>
          <p:spPr>
            <a:xfrm>
              <a:off x="2819400" y="6246812"/>
              <a:ext cx="936000" cy="1588"/>
            </a:xfrm>
            <a:prstGeom prst="straightConnector1">
              <a:avLst/>
            </a:prstGeom>
            <a:ln>
              <a:solidFill>
                <a:srgbClr val="002060"/>
              </a:solidFill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CF11C89-0EE9-4274-9933-2D766C995862}"/>
                </a:ext>
              </a:extLst>
            </p:cNvPr>
            <p:cNvSpPr txBox="1"/>
            <p:nvPr/>
          </p:nvSpPr>
          <p:spPr>
            <a:xfrm>
              <a:off x="2883773" y="5887759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 H</a:t>
              </a:r>
              <a:r>
                <a:rPr lang="en-US" altLang="zh-CN" sz="2000" b="1" baseline="30000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+    </a:t>
              </a:r>
              <a:endParaRPr lang="en-MY" altLang="zh-CN" sz="2000" b="1" baseline="30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r>
                <a:rPr lang="zh-CN" altLang="en-US" sz="20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加热</a:t>
              </a:r>
              <a:endParaRPr lang="en-US" altLang="zh-CN" sz="2000" b="1" baseline="30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b="1" dirty="0">
                <a:latin typeface="+mn-ea"/>
              </a:rPr>
              <a:t>28.5 </a:t>
            </a:r>
            <a:r>
              <a:rPr lang="zh-CN" altLang="en-US" b="1" dirty="0">
                <a:latin typeface="+mn-ea"/>
              </a:rPr>
              <a:t>烯烃的化学性质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sz="3000" dirty="0"/>
              <a:t>2. </a:t>
            </a:r>
            <a:r>
              <a:rPr lang="zh-CN" altLang="en-US" sz="3000" dirty="0"/>
              <a:t>加成反应</a:t>
            </a:r>
            <a:endParaRPr lang="en-US" altLang="zh-CN" sz="3000" dirty="0"/>
          </a:p>
          <a:p>
            <a:pPr>
              <a:buNone/>
            </a:pPr>
            <a:r>
              <a:rPr lang="en-US" altLang="zh-CN" sz="3000" dirty="0"/>
              <a:t>(IV) </a:t>
            </a:r>
            <a:r>
              <a:rPr lang="zh-CN" altLang="en-US" sz="3000" dirty="0"/>
              <a:t>加水：烯</a:t>
            </a:r>
            <a:r>
              <a:rPr lang="en-US" altLang="zh-CN" sz="3000" dirty="0"/>
              <a:t>+ </a:t>
            </a:r>
            <a:r>
              <a:rPr lang="zh-CN" altLang="en-US" sz="3000" dirty="0"/>
              <a:t>水 </a:t>
            </a:r>
            <a:r>
              <a:rPr lang="en-US" altLang="zh-CN" sz="3000" dirty="0">
                <a:sym typeface="Wingdings" pitchFamily="2" charset="2"/>
              </a:rPr>
              <a:t>	       </a:t>
            </a:r>
            <a:r>
              <a:rPr lang="zh-CN" altLang="en-US" sz="3000" dirty="0">
                <a:sym typeface="Wingdings" pitchFamily="2" charset="2"/>
              </a:rPr>
              <a:t>醇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CH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=CH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 + 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  		     CH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 CH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OH</a:t>
            </a:r>
          </a:p>
          <a:p>
            <a:pPr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CH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CH=CH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 + 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  		     CH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CH(OH)CH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</a:p>
          <a:p>
            <a:pPr>
              <a:buNone/>
            </a:pPr>
            <a:endParaRPr lang="en-US" altLang="zh-CN" sz="3000" baseline="-250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加水的反应也符合马尔可夫尼可夫规则</a:t>
            </a:r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3200400" y="2657316"/>
            <a:ext cx="1447800" cy="619284"/>
            <a:chOff x="2492216" y="2575163"/>
            <a:chExt cx="1447800" cy="619284"/>
          </a:xfrm>
        </p:grpSpPr>
        <p:grpSp>
          <p:nvGrpSpPr>
            <p:cNvPr id="19" name="Group 10"/>
            <p:cNvGrpSpPr/>
            <p:nvPr/>
          </p:nvGrpSpPr>
          <p:grpSpPr>
            <a:xfrm>
              <a:off x="2492216" y="2575163"/>
              <a:ext cx="1447800" cy="619284"/>
              <a:chOff x="2492216" y="2575163"/>
              <a:chExt cx="1447800" cy="619284"/>
            </a:xfrm>
          </p:grpSpPr>
          <p:cxnSp>
            <p:nvCxnSpPr>
              <p:cNvPr id="21" name="直接箭头连接符 1"/>
              <p:cNvCxnSpPr/>
              <p:nvPr/>
            </p:nvCxnSpPr>
            <p:spPr>
              <a:xfrm>
                <a:off x="2492216" y="2839720"/>
                <a:ext cx="1097280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2" name="文本框 5"/>
              <p:cNvSpPr txBox="1"/>
              <p:nvPr/>
            </p:nvSpPr>
            <p:spPr>
              <a:xfrm>
                <a:off x="2812351" y="2575163"/>
                <a:ext cx="11276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aseline="-25000" dirty="0">
                    <a:ln w="10160">
                      <a:solidFill>
                        <a:schemeClr val="tx1"/>
                      </a:solidFill>
                      <a:prstDash val="solid"/>
                    </a:ln>
                  </a:rPr>
                  <a:t> </a:t>
                </a:r>
                <a:r>
                  <a:rPr lang="en-US" altLang="zh-CN" dirty="0">
                    <a:ln w="10160">
                      <a:solidFill>
                        <a:schemeClr val="tx1"/>
                      </a:solidFill>
                      <a:prstDash val="solid"/>
                    </a:ln>
                  </a:rPr>
                  <a:t> H</a:t>
                </a:r>
                <a:r>
                  <a:rPr lang="en-US" altLang="zh-CN" baseline="30000" dirty="0">
                    <a:ln w="10160">
                      <a:solidFill>
                        <a:schemeClr val="tx1"/>
                      </a:solidFill>
                      <a:prstDash val="solid"/>
                    </a:ln>
                  </a:rPr>
                  <a:t>+</a:t>
                </a:r>
                <a:endParaRPr lang="en-US" altLang="zh-CN" baseline="-25000" dirty="0">
                  <a:ln w="10160">
                    <a:solidFill>
                      <a:schemeClr val="tx1"/>
                    </a:solidFill>
                    <a:prstDash val="solid"/>
                  </a:ln>
                </a:endParaRPr>
              </a:p>
            </p:txBody>
          </p:sp>
          <p:sp>
            <p:nvSpPr>
              <p:cNvPr id="23" name="文本框 6"/>
              <p:cNvSpPr txBox="1"/>
              <p:nvPr/>
            </p:nvSpPr>
            <p:spPr>
              <a:xfrm>
                <a:off x="2740342" y="2825115"/>
                <a:ext cx="10147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CN" dirty="0">
                  <a:ln w="10160">
                    <a:solidFill>
                      <a:schemeClr val="tx1"/>
                    </a:solidFill>
                    <a:prstDash val="solid"/>
                  </a:ln>
                  <a:latin typeface="SimSun" charset="0"/>
                  <a:cs typeface="SimSun" charset="0"/>
                </a:endParaRPr>
              </a:p>
            </p:txBody>
          </p:sp>
        </p:grpSp>
        <p:sp>
          <p:nvSpPr>
            <p:cNvPr id="20" name="Isosceles Triangle 19"/>
            <p:cNvSpPr/>
            <p:nvPr/>
          </p:nvSpPr>
          <p:spPr>
            <a:xfrm>
              <a:off x="2974848" y="2868295"/>
              <a:ext cx="170688" cy="182880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3352800" y="1524000"/>
            <a:ext cx="1447800" cy="619284"/>
            <a:chOff x="2492216" y="2575163"/>
            <a:chExt cx="1447800" cy="619284"/>
          </a:xfrm>
        </p:grpSpPr>
        <p:grpSp>
          <p:nvGrpSpPr>
            <p:cNvPr id="25" name="Group 10"/>
            <p:cNvGrpSpPr/>
            <p:nvPr/>
          </p:nvGrpSpPr>
          <p:grpSpPr>
            <a:xfrm>
              <a:off x="2492216" y="2575163"/>
              <a:ext cx="1447800" cy="619284"/>
              <a:chOff x="2492216" y="2575163"/>
              <a:chExt cx="1447800" cy="619284"/>
            </a:xfrm>
          </p:grpSpPr>
          <p:cxnSp>
            <p:nvCxnSpPr>
              <p:cNvPr id="27" name="直接箭头连接符 1"/>
              <p:cNvCxnSpPr/>
              <p:nvPr/>
            </p:nvCxnSpPr>
            <p:spPr>
              <a:xfrm>
                <a:off x="2492216" y="2839720"/>
                <a:ext cx="1097280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8" name="文本框 5"/>
              <p:cNvSpPr txBox="1"/>
              <p:nvPr/>
            </p:nvSpPr>
            <p:spPr>
              <a:xfrm>
                <a:off x="2812351" y="2575163"/>
                <a:ext cx="11276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aseline="-25000" dirty="0">
                    <a:ln w="10160">
                      <a:solidFill>
                        <a:schemeClr val="tx1"/>
                      </a:solidFill>
                      <a:prstDash val="solid"/>
                    </a:ln>
                  </a:rPr>
                  <a:t> </a:t>
                </a:r>
                <a:r>
                  <a:rPr lang="en-US" altLang="zh-CN" dirty="0">
                    <a:ln w="10160">
                      <a:solidFill>
                        <a:schemeClr val="tx1"/>
                      </a:solidFill>
                      <a:prstDash val="solid"/>
                    </a:ln>
                  </a:rPr>
                  <a:t> H</a:t>
                </a:r>
                <a:r>
                  <a:rPr lang="en-US" altLang="zh-CN" baseline="30000" dirty="0">
                    <a:ln w="10160">
                      <a:solidFill>
                        <a:schemeClr val="tx1"/>
                      </a:solidFill>
                      <a:prstDash val="solid"/>
                    </a:ln>
                  </a:rPr>
                  <a:t>+</a:t>
                </a:r>
                <a:endParaRPr lang="en-US" altLang="zh-CN" baseline="-25000" dirty="0">
                  <a:ln w="10160">
                    <a:solidFill>
                      <a:schemeClr val="tx1"/>
                    </a:solidFill>
                    <a:prstDash val="solid"/>
                  </a:ln>
                </a:endParaRPr>
              </a:p>
            </p:txBody>
          </p:sp>
          <p:sp>
            <p:nvSpPr>
              <p:cNvPr id="29" name="文本框 6"/>
              <p:cNvSpPr txBox="1"/>
              <p:nvPr/>
            </p:nvSpPr>
            <p:spPr>
              <a:xfrm>
                <a:off x="2740342" y="2825115"/>
                <a:ext cx="10147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CN" dirty="0">
                  <a:ln w="10160">
                    <a:solidFill>
                      <a:schemeClr val="tx1"/>
                    </a:solidFill>
                    <a:prstDash val="solid"/>
                  </a:ln>
                  <a:latin typeface="SimSun" charset="0"/>
                  <a:cs typeface="SimSun" charset="0"/>
                </a:endParaRPr>
              </a:p>
            </p:txBody>
          </p:sp>
        </p:grpSp>
        <p:sp>
          <p:nvSpPr>
            <p:cNvPr id="26" name="Isosceles Triangle 25"/>
            <p:cNvSpPr/>
            <p:nvPr/>
          </p:nvSpPr>
          <p:spPr>
            <a:xfrm>
              <a:off x="2974848" y="2868295"/>
              <a:ext cx="170688" cy="182880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3733800" y="3733800"/>
            <a:ext cx="1447800" cy="619284"/>
            <a:chOff x="2492216" y="2575163"/>
            <a:chExt cx="1447800" cy="619284"/>
          </a:xfrm>
        </p:grpSpPr>
        <p:grpSp>
          <p:nvGrpSpPr>
            <p:cNvPr id="32" name="Group 10"/>
            <p:cNvGrpSpPr/>
            <p:nvPr/>
          </p:nvGrpSpPr>
          <p:grpSpPr>
            <a:xfrm>
              <a:off x="2492216" y="2575163"/>
              <a:ext cx="1447800" cy="619284"/>
              <a:chOff x="2492216" y="2575163"/>
              <a:chExt cx="1447800" cy="619284"/>
            </a:xfrm>
          </p:grpSpPr>
          <p:cxnSp>
            <p:nvCxnSpPr>
              <p:cNvPr id="34" name="直接箭头连接符 1"/>
              <p:cNvCxnSpPr/>
              <p:nvPr/>
            </p:nvCxnSpPr>
            <p:spPr>
              <a:xfrm>
                <a:off x="2492216" y="2839720"/>
                <a:ext cx="1097280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5" name="文本框 5"/>
              <p:cNvSpPr txBox="1"/>
              <p:nvPr/>
            </p:nvSpPr>
            <p:spPr>
              <a:xfrm>
                <a:off x="2812351" y="2575163"/>
                <a:ext cx="11276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aseline="-25000" dirty="0">
                    <a:ln w="10160">
                      <a:solidFill>
                        <a:schemeClr val="tx1"/>
                      </a:solidFill>
                      <a:prstDash val="solid"/>
                    </a:ln>
                  </a:rPr>
                  <a:t> </a:t>
                </a:r>
                <a:r>
                  <a:rPr lang="en-US" altLang="zh-CN" dirty="0">
                    <a:ln w="10160">
                      <a:solidFill>
                        <a:schemeClr val="tx1"/>
                      </a:solidFill>
                      <a:prstDash val="solid"/>
                    </a:ln>
                  </a:rPr>
                  <a:t> H</a:t>
                </a:r>
                <a:r>
                  <a:rPr lang="en-US" altLang="zh-CN" baseline="30000" dirty="0">
                    <a:ln w="10160">
                      <a:solidFill>
                        <a:schemeClr val="tx1"/>
                      </a:solidFill>
                      <a:prstDash val="solid"/>
                    </a:ln>
                  </a:rPr>
                  <a:t>+</a:t>
                </a:r>
                <a:endParaRPr lang="en-US" altLang="zh-CN" baseline="-25000" dirty="0">
                  <a:ln w="10160">
                    <a:solidFill>
                      <a:schemeClr val="tx1"/>
                    </a:solidFill>
                    <a:prstDash val="solid"/>
                  </a:ln>
                </a:endParaRPr>
              </a:p>
            </p:txBody>
          </p:sp>
          <p:sp>
            <p:nvSpPr>
              <p:cNvPr id="36" name="文本框 6"/>
              <p:cNvSpPr txBox="1"/>
              <p:nvPr/>
            </p:nvSpPr>
            <p:spPr>
              <a:xfrm>
                <a:off x="2740342" y="2825115"/>
                <a:ext cx="10147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CN" dirty="0">
                  <a:ln w="10160">
                    <a:solidFill>
                      <a:schemeClr val="tx1"/>
                    </a:solidFill>
                    <a:prstDash val="solid"/>
                  </a:ln>
                  <a:latin typeface="SimSun" charset="0"/>
                  <a:cs typeface="SimSun" charset="0"/>
                </a:endParaRPr>
              </a:p>
            </p:txBody>
          </p:sp>
        </p:grpSp>
        <p:sp>
          <p:nvSpPr>
            <p:cNvPr id="33" name="Isosceles Triangle 32"/>
            <p:cNvSpPr/>
            <p:nvPr/>
          </p:nvSpPr>
          <p:spPr>
            <a:xfrm>
              <a:off x="2974848" y="2868295"/>
              <a:ext cx="170688" cy="182880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</a:endParaRPr>
            </a:p>
          </p:txBody>
        </p:sp>
      </p:grpSp>
      <p:sp>
        <p:nvSpPr>
          <p:cNvPr id="37" name="Rounded Rectangle 36"/>
          <p:cNvSpPr/>
          <p:nvPr/>
        </p:nvSpPr>
        <p:spPr>
          <a:xfrm>
            <a:off x="5334000" y="3733800"/>
            <a:ext cx="2514600" cy="5334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b="1" dirty="0">
                <a:latin typeface="+mn-ea"/>
              </a:rPr>
              <a:t>28.5 </a:t>
            </a:r>
            <a:r>
              <a:rPr lang="zh-CN" altLang="en-US" b="1" dirty="0">
                <a:latin typeface="+mn-ea"/>
              </a:rPr>
              <a:t>烯烃的化学性质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en-US" altLang="zh-CN" sz="3000" dirty="0"/>
              <a:t>3. </a:t>
            </a:r>
            <a:r>
              <a:rPr lang="zh-CN" altLang="en-US" sz="3000" dirty="0"/>
              <a:t>氧化反应：烯烃易被氧化。</a:t>
            </a:r>
            <a:endParaRPr lang="en-US" altLang="zh-CN" sz="3000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3000" dirty="0"/>
              <a:t>烯烃与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稀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KMnO</a:t>
            </a:r>
            <a:r>
              <a:rPr lang="en-US" altLang="zh-CN" sz="30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碱性冷</a:t>
            </a:r>
            <a:r>
              <a:rPr lang="zh-CN" altLang="en-US" sz="3000" dirty="0"/>
              <a:t>溶液在常温下反应生成</a:t>
            </a:r>
            <a:endParaRPr lang="en-US" altLang="zh-CN" sz="3000" dirty="0"/>
          </a:p>
          <a:p>
            <a:pPr marL="514350" indent="-514350">
              <a:buNone/>
            </a:pPr>
            <a:r>
              <a:rPr lang="zh-CN" altLang="en-US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二元醇</a:t>
            </a:r>
            <a:r>
              <a:rPr lang="zh-CN" altLang="en-US" sz="3000" dirty="0"/>
              <a:t>，溶液</a:t>
            </a: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紫色</a:t>
            </a:r>
            <a:r>
              <a:rPr lang="zh-CN" alt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消失，</a:t>
            </a:r>
            <a:r>
              <a:rPr lang="zh-CN" altLang="en-US" sz="3000" dirty="0"/>
              <a:t>生成</a:t>
            </a:r>
            <a:r>
              <a:rPr lang="zh-CN" altLang="en-US" sz="3000" b="1" dirty="0">
                <a:solidFill>
                  <a:srgbClr val="66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褐色</a:t>
            </a:r>
            <a:r>
              <a:rPr lang="en-US" altLang="zh-CN" sz="3000" b="1" dirty="0">
                <a:solidFill>
                  <a:srgbClr val="66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MnO</a:t>
            </a:r>
            <a:r>
              <a:rPr lang="en-US" altLang="zh-CN" sz="3000" b="1" baseline="-25000" dirty="0">
                <a:solidFill>
                  <a:srgbClr val="66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3000" b="1" dirty="0">
                <a:solidFill>
                  <a:srgbClr val="66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3000" b="1" dirty="0">
                <a:solidFill>
                  <a:srgbClr val="66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沉淀</a:t>
            </a:r>
            <a:endParaRPr lang="en-US" altLang="zh-CN" sz="3000" b="1" u="sng" dirty="0">
              <a:solidFill>
                <a:srgbClr val="66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buNone/>
            </a:pPr>
            <a:r>
              <a:rPr lang="en-US" altLang="zh-CN" sz="3000" dirty="0"/>
              <a:t>3CH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= 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+ 2KMnO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 + 4 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O  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			3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OHCH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OH </a:t>
            </a:r>
            <a:r>
              <a:rPr lang="en-US" altLang="zh-CN" sz="3000" dirty="0">
                <a:sym typeface="Wingdings" pitchFamily="2" charset="2"/>
              </a:rPr>
              <a:t>+ 2 KOH +</a:t>
            </a:r>
            <a:r>
              <a:rPr lang="en-US" altLang="zh-CN" sz="3000" dirty="0">
                <a:solidFill>
                  <a:srgbClr val="663300"/>
                </a:solidFill>
                <a:sym typeface="Wingdings" pitchFamily="2" charset="2"/>
              </a:rPr>
              <a:t> 2 MnO</a:t>
            </a:r>
            <a:r>
              <a:rPr lang="en-US" altLang="zh-CN" sz="3000" baseline="-25000" dirty="0">
                <a:solidFill>
                  <a:srgbClr val="663300"/>
                </a:solidFill>
                <a:sym typeface="Wingdings" pitchFamily="2" charset="2"/>
              </a:rPr>
              <a:t>2</a:t>
            </a:r>
            <a:r>
              <a:rPr lang="en-US" altLang="zh-CN" sz="3000" dirty="0">
                <a:solidFill>
                  <a:srgbClr val="663300"/>
                </a:solidFill>
                <a:sym typeface="Wingdings" pitchFamily="2" charset="2"/>
              </a:rPr>
              <a:t> </a:t>
            </a:r>
          </a:p>
          <a:p>
            <a:pPr marL="514350" indent="-514350">
              <a:buNone/>
            </a:pPr>
            <a:endParaRPr lang="en-MY" altLang="zh-CN" sz="3000" dirty="0"/>
          </a:p>
          <a:p>
            <a:pPr marL="514350" indent="-514350">
              <a:buNone/>
            </a:pPr>
            <a:r>
              <a:rPr lang="zh-CN" altLang="en-US" sz="3000" dirty="0"/>
              <a:t>可简化为：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= 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		   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OHCH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OH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zh-CN" altLang="en-US" sz="3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用途：鉴别烯烃</a:t>
            </a:r>
            <a:endParaRPr lang="en-US" altLang="zh-CN" sz="3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3915180" y="4191000"/>
            <a:ext cx="1342620" cy="674132"/>
            <a:chOff x="2819400" y="5804079"/>
            <a:chExt cx="1342620" cy="674132"/>
          </a:xfrm>
        </p:grpSpPr>
        <p:cxnSp>
          <p:nvCxnSpPr>
            <p:cNvPr id="8" name="Straight Arrow Connector 7"/>
            <p:cNvCxnSpPr/>
            <p:nvPr/>
          </p:nvCxnSpPr>
          <p:spPr>
            <a:xfrm>
              <a:off x="2819400" y="6172117"/>
              <a:ext cx="128016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3095220" y="6108879"/>
              <a:ext cx="7232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 OH</a:t>
              </a:r>
              <a:r>
                <a:rPr lang="en-US" baseline="30000" dirty="0"/>
                <a:t>-</a:t>
              </a:r>
              <a:endParaRPr lang="en-US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880900" y="5804079"/>
              <a:ext cx="12811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KMnO</a:t>
              </a:r>
              <a:r>
                <a:rPr lang="en-US" altLang="zh-CN" baseline="-25000" dirty="0"/>
                <a:t>4</a:t>
              </a:r>
              <a:r>
                <a:rPr lang="en-US" altLang="zh-CN" dirty="0"/>
                <a:t> (</a:t>
              </a:r>
              <a:r>
                <a:rPr lang="en-US" altLang="zh-CN" dirty="0" err="1"/>
                <a:t>aq</a:t>
              </a:r>
              <a:r>
                <a:rPr lang="en-US" altLang="zh-CN" dirty="0"/>
                <a:t>)</a:t>
              </a:r>
              <a:endParaRPr lang="en-US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C78B3BE-DDE5-4874-A312-94668EA97B0F}"/>
              </a:ext>
            </a:extLst>
          </p:cNvPr>
          <p:cNvGrpSpPr/>
          <p:nvPr/>
        </p:nvGrpSpPr>
        <p:grpSpPr>
          <a:xfrm>
            <a:off x="1828800" y="3396733"/>
            <a:ext cx="1280160" cy="369332"/>
            <a:chOff x="2819400" y="6108879"/>
            <a:chExt cx="1280160" cy="369332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5B71028-C7D7-425B-B0BF-6FD4E229CEDD}"/>
                </a:ext>
              </a:extLst>
            </p:cNvPr>
            <p:cNvCxnSpPr/>
            <p:nvPr/>
          </p:nvCxnSpPr>
          <p:spPr>
            <a:xfrm>
              <a:off x="2819400" y="6172117"/>
              <a:ext cx="128016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95B3C1B-7A8C-4C79-9E13-7DBBB38FF3B5}"/>
                </a:ext>
              </a:extLst>
            </p:cNvPr>
            <p:cNvSpPr txBox="1"/>
            <p:nvPr/>
          </p:nvSpPr>
          <p:spPr>
            <a:xfrm>
              <a:off x="3095220" y="6108879"/>
              <a:ext cx="7232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 OH</a:t>
              </a:r>
              <a:r>
                <a:rPr lang="en-US" baseline="30000" dirty="0"/>
                <a:t>-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b="1" dirty="0">
                <a:latin typeface="+mn-ea"/>
              </a:rPr>
              <a:t>28.5 </a:t>
            </a:r>
            <a:r>
              <a:rPr lang="zh-CN" altLang="en-US" b="1" dirty="0">
                <a:latin typeface="+mn-ea"/>
              </a:rPr>
              <a:t>烯烃的化学性质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None/>
            </a:pPr>
            <a:r>
              <a:rPr lang="en-US" altLang="zh-CN" sz="3000" dirty="0"/>
              <a:t>3. </a:t>
            </a:r>
            <a:r>
              <a:rPr lang="zh-CN" altLang="en-US" sz="3000" dirty="0"/>
              <a:t>氧化反应：烯烃易被氧化。</a:t>
            </a:r>
            <a:endParaRPr lang="en-US" altLang="zh-CN" sz="30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烯烃与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稀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KMnO</a:t>
            </a:r>
            <a:r>
              <a:rPr lang="en-US" altLang="zh-CN" sz="30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酸性冷</a:t>
            </a:r>
            <a:r>
              <a:rPr lang="zh-CN" altLang="en-US" sz="3000" dirty="0"/>
              <a:t>溶液在常温下反应生成</a:t>
            </a:r>
            <a:endParaRPr lang="en-US" altLang="zh-CN" sz="3000" dirty="0"/>
          </a:p>
          <a:p>
            <a:pPr marL="514350" indent="-514350">
              <a:lnSpc>
                <a:spcPct val="150000"/>
              </a:lnSpc>
              <a:buNone/>
            </a:pPr>
            <a:r>
              <a:rPr lang="zh-CN" altLang="en-US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二元醇</a:t>
            </a:r>
            <a:r>
              <a:rPr lang="zh-CN" altLang="en-US" sz="3000" dirty="0"/>
              <a:t>，溶液</a:t>
            </a: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紫色</a:t>
            </a:r>
            <a:r>
              <a:rPr lang="zh-CN" alt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消失，无沉淀（</a:t>
            </a:r>
            <a:r>
              <a:rPr lang="en-US" altLang="zh-C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Mn</a:t>
            </a:r>
            <a:r>
              <a:rPr lang="en-US" altLang="zh-CN" sz="3000" b="1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2+</a:t>
            </a:r>
            <a:r>
              <a:rPr lang="zh-CN" alt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）。</a:t>
            </a:r>
            <a:endParaRPr lang="en-US" altLang="zh-CN" sz="3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lnSpc>
                <a:spcPct val="150000"/>
              </a:lnSpc>
              <a:buNone/>
            </a:pPr>
            <a:r>
              <a:rPr lang="en-US" altLang="zh-CN" sz="3000" dirty="0"/>
              <a:t>5CH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= 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+ MnO</a:t>
            </a:r>
            <a:r>
              <a:rPr lang="en-US" altLang="zh-CN" sz="3000" baseline="-25000" dirty="0"/>
              <a:t>4</a:t>
            </a:r>
            <a:r>
              <a:rPr lang="en-US" altLang="zh-CN" sz="3000" baseline="30000" dirty="0"/>
              <a:t>-  </a:t>
            </a:r>
            <a:r>
              <a:rPr lang="en-US" altLang="zh-CN" sz="3000" dirty="0"/>
              <a:t>+ 2H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O  + 6H</a:t>
            </a:r>
            <a:r>
              <a:rPr lang="en-US" altLang="zh-CN" sz="3000" baseline="30000" dirty="0"/>
              <a:t>+</a:t>
            </a:r>
            <a:r>
              <a:rPr lang="en-US" altLang="zh-CN" sz="3000" dirty="0"/>
              <a:t> </a:t>
            </a:r>
          </a:p>
          <a:p>
            <a:pPr marL="514350" indent="-514350">
              <a:lnSpc>
                <a:spcPct val="150000"/>
              </a:lnSpc>
              <a:buNone/>
            </a:pPr>
            <a:r>
              <a:rPr lang="en-US" altLang="zh-CN" sz="3000" dirty="0">
                <a:sym typeface="Wingdings" pitchFamily="2" charset="2"/>
              </a:rPr>
              <a:t>				5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OHCH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OH </a:t>
            </a:r>
            <a:r>
              <a:rPr lang="en-US" altLang="zh-CN" sz="3000" dirty="0">
                <a:sym typeface="Wingdings" pitchFamily="2" charset="2"/>
              </a:rPr>
              <a:t>+ </a:t>
            </a:r>
            <a:r>
              <a:rPr lang="en-US" altLang="zh-CN" sz="3000" dirty="0">
                <a:solidFill>
                  <a:srgbClr val="663300"/>
                </a:solidFill>
                <a:sym typeface="Wingdings" pitchFamily="2" charset="2"/>
              </a:rPr>
              <a:t> </a:t>
            </a:r>
            <a:r>
              <a:rPr lang="en-US" altLang="zh-CN" sz="3000" dirty="0">
                <a:sym typeface="Wingdings" pitchFamily="2" charset="2"/>
              </a:rPr>
              <a:t>2 Mn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C78B3BE-DDE5-4874-A312-94668EA97B0F}"/>
              </a:ext>
            </a:extLst>
          </p:cNvPr>
          <p:cNvGrpSpPr/>
          <p:nvPr/>
        </p:nvGrpSpPr>
        <p:grpSpPr>
          <a:xfrm>
            <a:off x="1828800" y="4507468"/>
            <a:ext cx="1280160" cy="369332"/>
            <a:chOff x="2819400" y="6108879"/>
            <a:chExt cx="1280160" cy="369332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5B71028-C7D7-425B-B0BF-6FD4E229CEDD}"/>
                </a:ext>
              </a:extLst>
            </p:cNvPr>
            <p:cNvCxnSpPr/>
            <p:nvPr/>
          </p:nvCxnSpPr>
          <p:spPr>
            <a:xfrm>
              <a:off x="2819400" y="6172117"/>
              <a:ext cx="128016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95B3C1B-7A8C-4C79-9E13-7DBBB38FF3B5}"/>
                </a:ext>
              </a:extLst>
            </p:cNvPr>
            <p:cNvSpPr txBox="1"/>
            <p:nvPr/>
          </p:nvSpPr>
          <p:spPr>
            <a:xfrm>
              <a:off x="3095220" y="6108879"/>
              <a:ext cx="7232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 OH</a:t>
              </a:r>
              <a:r>
                <a:rPr lang="en-US" baseline="30000" dirty="0"/>
                <a:t>-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480398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b="1" dirty="0">
                <a:latin typeface="+mn-ea"/>
              </a:rPr>
              <a:t>28.5 </a:t>
            </a:r>
            <a:r>
              <a:rPr lang="zh-CN" altLang="en-US" b="1" dirty="0">
                <a:latin typeface="+mn-ea"/>
              </a:rPr>
              <a:t>烯烃的化学性质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en-US" altLang="zh-CN" sz="3000" dirty="0"/>
              <a:t>3. </a:t>
            </a:r>
            <a:r>
              <a:rPr lang="zh-CN" altLang="en-US" sz="3000" dirty="0"/>
              <a:t>氧化反应：烯烃易被氧化。</a:t>
            </a:r>
            <a:endParaRPr lang="en-US" altLang="zh-CN" sz="3000" dirty="0"/>
          </a:p>
          <a:p>
            <a:pPr marL="514350" indent="-514350">
              <a:buFont typeface="Wingdings" pitchFamily="2" charset="2"/>
              <a:buChar char="Ø"/>
            </a:pPr>
            <a:r>
              <a:rPr lang="zh-CN" altLang="en-US" sz="3000" dirty="0">
                <a:sym typeface="Wingdings" pitchFamily="2" charset="2"/>
              </a:rPr>
              <a:t>烯烃与</a:t>
            </a:r>
            <a:r>
              <a:rPr lang="zh-CN" altLang="en-US" sz="3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浓</a:t>
            </a:r>
            <a:r>
              <a:rPr lang="en-US" altLang="zh-CN" sz="3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KMnO</a:t>
            </a:r>
            <a:r>
              <a:rPr lang="en-US" altLang="zh-CN" sz="3000" b="1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4</a:t>
            </a:r>
            <a:r>
              <a:rPr lang="zh-CN" altLang="en-US" sz="3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酸性热溶液</a:t>
            </a:r>
            <a:r>
              <a:rPr lang="zh-CN" altLang="en-US" sz="3000" dirty="0">
                <a:sym typeface="Wingdings" pitchFamily="2" charset="2"/>
              </a:rPr>
              <a:t>在</a:t>
            </a:r>
            <a:r>
              <a:rPr lang="zh-CN" alt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高温下</a:t>
            </a:r>
            <a:r>
              <a:rPr lang="zh-CN" altLang="en-US" sz="3000" dirty="0">
                <a:sym typeface="Wingdings" pitchFamily="2" charset="2"/>
              </a:rPr>
              <a:t>反应</a:t>
            </a:r>
            <a:r>
              <a:rPr lang="en-US" altLang="zh-CN" sz="3000" dirty="0">
                <a:sym typeface="Wingdings" pitchFamily="2" charset="2"/>
              </a:rPr>
              <a:t>C=C</a:t>
            </a:r>
            <a:r>
              <a:rPr lang="zh-CN" altLang="en-US" sz="3000" dirty="0">
                <a:sym typeface="Wingdings" pitchFamily="2" charset="2"/>
              </a:rPr>
              <a:t>键断裂：</a:t>
            </a:r>
            <a:endParaRPr lang="en-MY" altLang="zh-CN" sz="3000" dirty="0">
              <a:sym typeface="Wingdings" pitchFamily="2" charset="2"/>
            </a:endParaRPr>
          </a:p>
          <a:p>
            <a:pPr marL="514350" indent="-514350">
              <a:buFont typeface="Wingdings" pitchFamily="2" charset="2"/>
              <a:buChar char="Ø"/>
            </a:pPr>
            <a:r>
              <a:rPr lang="zh-CN" altLang="en-US" sz="3000" dirty="0">
                <a:sym typeface="Wingdings" pitchFamily="2" charset="2"/>
              </a:rPr>
              <a:t>产物决定于：</a:t>
            </a:r>
            <a:endParaRPr lang="en-US" altLang="zh-CN" sz="3000" dirty="0">
              <a:sym typeface="Wingdings" pitchFamily="2" charset="2"/>
            </a:endParaRPr>
          </a:p>
          <a:p>
            <a:pPr marL="914400" lvl="1" indent="-514350">
              <a:buFont typeface="Wingdings" pitchFamily="2" charset="2"/>
              <a:buChar char="Ø"/>
            </a:pP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双键在末端的碳（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=CH</a:t>
            </a:r>
            <a:r>
              <a:rPr lang="en-US" altLang="zh-CN" sz="30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2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），氧化成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CO</a:t>
            </a:r>
            <a:r>
              <a:rPr lang="en-US" altLang="zh-CN" sz="30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2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 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和 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H</a:t>
            </a:r>
            <a:r>
              <a:rPr lang="en-US" altLang="zh-CN" sz="30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2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O</a:t>
            </a:r>
          </a:p>
          <a:p>
            <a:pPr marL="914400" lvl="1" indent="-514350">
              <a:buFont typeface="Wingdings" pitchFamily="2" charset="2"/>
              <a:buChar char="Ø"/>
            </a:pPr>
            <a:r>
              <a:rPr lang="zh-CN" altLang="en-US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只有一个烷基的双键碳（</a:t>
            </a:r>
            <a:r>
              <a:rPr lang="en-US" altLang="zh-CN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=CHR</a:t>
            </a:r>
            <a:r>
              <a:rPr lang="zh-CN" altLang="en-US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），氧化成</a:t>
            </a:r>
            <a:r>
              <a:rPr lang="en-US" altLang="zh-CN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RCOOH </a:t>
            </a:r>
            <a:r>
              <a:rPr lang="zh-CN" altLang="en-US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羧酸</a:t>
            </a:r>
            <a:endParaRPr lang="en-US" altLang="zh-CN" sz="3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itchFamily="2" charset="2"/>
            </a:endParaRPr>
          </a:p>
          <a:p>
            <a:pPr marL="914400" lvl="1" indent="-514350">
              <a:buFont typeface="Wingdings" pitchFamily="2" charset="2"/>
              <a:buChar char="Ø"/>
            </a:pP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带有两个烷基的双键碳（</a:t>
            </a:r>
            <a:r>
              <a:rPr lang="en-US" altLang="zh-CN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=CR</a:t>
            </a:r>
            <a:r>
              <a:rPr lang="en-US" altLang="zh-CN" sz="3000" b="1" baseline="-25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2</a:t>
            </a: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），氧化成 </a:t>
            </a:r>
            <a:r>
              <a:rPr lang="en-US" altLang="zh-CN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R</a:t>
            </a:r>
            <a:r>
              <a:rPr lang="en-US" altLang="zh-CN" sz="3000" b="1" baseline="-25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2</a:t>
            </a:r>
            <a:r>
              <a:rPr lang="en-US" altLang="zh-CN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C=O </a:t>
            </a: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酮</a:t>
            </a:r>
            <a:endParaRPr lang="en-US" altLang="zh-CN" sz="30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2723589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b="1" dirty="0">
                <a:latin typeface="+mn-ea"/>
              </a:rPr>
              <a:t>28.5 </a:t>
            </a:r>
            <a:r>
              <a:rPr lang="zh-CN" altLang="en-US" b="1" dirty="0">
                <a:latin typeface="+mn-ea"/>
              </a:rPr>
              <a:t>烯烃的化学性质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/>
              <a:t>例</a:t>
            </a:r>
            <a:r>
              <a:rPr lang="en-US" altLang="zh-CN" sz="3000" dirty="0"/>
              <a:t>1.   (CH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)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C =CHCH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 		(CH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)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C=O + 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COOH </a:t>
            </a:r>
            <a:endParaRPr lang="en-US" altLang="zh-CN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itchFamily="2" charset="2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/>
              <a:t>例</a:t>
            </a:r>
            <a:r>
              <a:rPr lang="en-US" altLang="zh-CN" sz="3000" dirty="0"/>
              <a:t>2. 	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=CH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		 2CO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+ 2 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O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/>
              <a:t>问题解决</a:t>
            </a:r>
            <a:endParaRPr lang="en-MY" altLang="zh-CN" sz="3000" dirty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=CHCH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 	      CO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+ 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O+CH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COOH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CH=CHCH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  	 	2 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COOH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/>
              <a:t>(CH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)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C=CHC</a:t>
            </a:r>
            <a:r>
              <a:rPr lang="en-US" altLang="zh-CN" sz="3000" baseline="-25000" dirty="0"/>
              <a:t>6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11	</a:t>
            </a:r>
            <a:r>
              <a:rPr lang="en-US" altLang="zh-CN" sz="3000" dirty="0"/>
              <a:t>   	    (CH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)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C=O + C</a:t>
            </a:r>
            <a:r>
              <a:rPr lang="en-US" altLang="zh-CN" sz="3000" baseline="-25000" dirty="0"/>
              <a:t>6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11</a:t>
            </a:r>
            <a:r>
              <a:rPr lang="en-US" altLang="zh-CN" sz="3000" dirty="0"/>
              <a:t>COOH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baseline="-25000" dirty="0"/>
              <a:t> </a:t>
            </a:r>
            <a:r>
              <a:rPr lang="en-US" altLang="zh-CN" sz="3000" dirty="0"/>
              <a:t>  </a:t>
            </a:r>
            <a:r>
              <a:rPr lang="en-US" altLang="zh-CN" sz="3000" baseline="-25000" dirty="0"/>
              <a:t>	</a:t>
            </a:r>
            <a:endParaRPr lang="en-US" altLang="zh-CN" sz="3000" dirty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/>
              <a:t>			HOOCCH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COOH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3890354" y="990600"/>
            <a:ext cx="1101207" cy="628710"/>
            <a:chOff x="1981200" y="5410200"/>
            <a:chExt cx="1101207" cy="628710"/>
          </a:xfrm>
        </p:grpSpPr>
        <p:grpSp>
          <p:nvGrpSpPr>
            <p:cNvPr id="7" name="Group 47"/>
            <p:cNvGrpSpPr/>
            <p:nvPr/>
          </p:nvGrpSpPr>
          <p:grpSpPr>
            <a:xfrm>
              <a:off x="1981200" y="5410200"/>
              <a:ext cx="1101207" cy="338554"/>
              <a:chOff x="2819400" y="5940623"/>
              <a:chExt cx="1101207" cy="338554"/>
            </a:xfrm>
          </p:grpSpPr>
          <p:cxnSp>
            <p:nvCxnSpPr>
              <p:cNvPr id="8" name="Straight Arrow Connector 7"/>
              <p:cNvCxnSpPr/>
              <p:nvPr/>
            </p:nvCxnSpPr>
            <p:spPr>
              <a:xfrm>
                <a:off x="2819400" y="6246812"/>
                <a:ext cx="1005840" cy="1588"/>
              </a:xfrm>
              <a:prstGeom prst="straightConnector1">
                <a:avLst/>
              </a:prstGeom>
              <a:ln>
                <a:solidFill>
                  <a:schemeClr val="tx1">
                    <a:alpha val="9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/>
              <p:cNvSpPr txBox="1"/>
              <p:nvPr/>
            </p:nvSpPr>
            <p:spPr>
              <a:xfrm>
                <a:off x="2847877" y="5940623"/>
                <a:ext cx="10727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dirty="0"/>
                  <a:t>KMnO</a:t>
                </a:r>
                <a:r>
                  <a:rPr lang="en-US" altLang="zh-CN" sz="1600" baseline="-25000" dirty="0"/>
                  <a:t>4</a:t>
                </a:r>
                <a:r>
                  <a:rPr lang="en-US" altLang="zh-CN" sz="1600" dirty="0"/>
                  <a:t> ,H</a:t>
                </a:r>
                <a:r>
                  <a:rPr lang="en-US" altLang="zh-CN" sz="1600" baseline="30000" dirty="0"/>
                  <a:t>+</a:t>
                </a:r>
                <a:endParaRPr lang="en-US" sz="1600" dirty="0"/>
              </a:p>
            </p:txBody>
          </p:sp>
        </p:grpSp>
        <p:sp>
          <p:nvSpPr>
            <p:cNvPr id="10" name="Rectangle 9"/>
            <p:cNvSpPr/>
            <p:nvPr/>
          </p:nvSpPr>
          <p:spPr>
            <a:xfrm>
              <a:off x="2362200" y="5638800"/>
              <a:ext cx="3048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000" dirty="0"/>
                <a:t>∆</a:t>
              </a:r>
              <a:endParaRPr lang="en-US" sz="2000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2943441" y="1586938"/>
            <a:ext cx="1101207" cy="628710"/>
            <a:chOff x="1981200" y="5410200"/>
            <a:chExt cx="1101207" cy="628710"/>
          </a:xfrm>
        </p:grpSpPr>
        <p:grpSp>
          <p:nvGrpSpPr>
            <p:cNvPr id="13" name="Group 47"/>
            <p:cNvGrpSpPr/>
            <p:nvPr/>
          </p:nvGrpSpPr>
          <p:grpSpPr>
            <a:xfrm>
              <a:off x="1981200" y="5410200"/>
              <a:ext cx="1101207" cy="338554"/>
              <a:chOff x="2819400" y="5940623"/>
              <a:chExt cx="1101207" cy="338554"/>
            </a:xfrm>
          </p:grpSpPr>
          <p:cxnSp>
            <p:nvCxnSpPr>
              <p:cNvPr id="15" name="Straight Arrow Connector 14"/>
              <p:cNvCxnSpPr/>
              <p:nvPr/>
            </p:nvCxnSpPr>
            <p:spPr>
              <a:xfrm>
                <a:off x="2819400" y="6246812"/>
                <a:ext cx="1005840" cy="1588"/>
              </a:xfrm>
              <a:prstGeom prst="straightConnector1">
                <a:avLst/>
              </a:prstGeom>
              <a:ln>
                <a:solidFill>
                  <a:schemeClr val="tx1">
                    <a:alpha val="9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/>
              <p:cNvSpPr txBox="1"/>
              <p:nvPr/>
            </p:nvSpPr>
            <p:spPr>
              <a:xfrm>
                <a:off x="2847877" y="5940623"/>
                <a:ext cx="10727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dirty="0"/>
                  <a:t>KMnO</a:t>
                </a:r>
                <a:r>
                  <a:rPr lang="en-US" altLang="zh-CN" sz="1600" baseline="-25000" dirty="0"/>
                  <a:t>4</a:t>
                </a:r>
                <a:r>
                  <a:rPr lang="en-US" altLang="zh-CN" sz="1600" dirty="0"/>
                  <a:t> ,H</a:t>
                </a:r>
                <a:r>
                  <a:rPr lang="en-US" altLang="zh-CN" sz="1600" baseline="30000" dirty="0"/>
                  <a:t>+</a:t>
                </a:r>
                <a:endParaRPr lang="en-US" sz="1600" dirty="0"/>
              </a:p>
            </p:txBody>
          </p:sp>
        </p:grpSp>
        <p:sp>
          <p:nvSpPr>
            <p:cNvPr id="14" name="Rectangle 13"/>
            <p:cNvSpPr/>
            <p:nvPr/>
          </p:nvSpPr>
          <p:spPr>
            <a:xfrm>
              <a:off x="2362200" y="5638800"/>
              <a:ext cx="3048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000" dirty="0"/>
                <a:t>∆</a:t>
              </a:r>
              <a:endParaRPr lang="en-US" sz="2000" dirty="0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2392837" y="2782020"/>
            <a:ext cx="1101207" cy="628710"/>
            <a:chOff x="1981200" y="5410200"/>
            <a:chExt cx="1101207" cy="628710"/>
          </a:xfrm>
        </p:grpSpPr>
        <p:grpSp>
          <p:nvGrpSpPr>
            <p:cNvPr id="18" name="Group 47"/>
            <p:cNvGrpSpPr/>
            <p:nvPr/>
          </p:nvGrpSpPr>
          <p:grpSpPr>
            <a:xfrm>
              <a:off x="1981200" y="5410200"/>
              <a:ext cx="1101207" cy="338554"/>
              <a:chOff x="2819400" y="5940623"/>
              <a:chExt cx="1101207" cy="338554"/>
            </a:xfrm>
          </p:grpSpPr>
          <p:cxnSp>
            <p:nvCxnSpPr>
              <p:cNvPr id="20" name="Straight Arrow Connector 19"/>
              <p:cNvCxnSpPr/>
              <p:nvPr/>
            </p:nvCxnSpPr>
            <p:spPr>
              <a:xfrm>
                <a:off x="2819400" y="6246812"/>
                <a:ext cx="1005840" cy="1588"/>
              </a:xfrm>
              <a:prstGeom prst="straightConnector1">
                <a:avLst/>
              </a:prstGeom>
              <a:ln>
                <a:solidFill>
                  <a:schemeClr val="tx1">
                    <a:alpha val="9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20"/>
              <p:cNvSpPr txBox="1"/>
              <p:nvPr/>
            </p:nvSpPr>
            <p:spPr>
              <a:xfrm>
                <a:off x="2847877" y="5940623"/>
                <a:ext cx="10727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dirty="0"/>
                  <a:t>KMnO</a:t>
                </a:r>
                <a:r>
                  <a:rPr lang="en-US" altLang="zh-CN" sz="1600" baseline="-25000" dirty="0"/>
                  <a:t>4</a:t>
                </a:r>
                <a:r>
                  <a:rPr lang="en-US" altLang="zh-CN" sz="1600" dirty="0"/>
                  <a:t> ,H</a:t>
                </a:r>
                <a:r>
                  <a:rPr lang="en-US" altLang="zh-CN" sz="1600" baseline="30000" dirty="0"/>
                  <a:t>+</a:t>
                </a:r>
                <a:endParaRPr lang="en-US" sz="1600" dirty="0"/>
              </a:p>
            </p:txBody>
          </p:sp>
        </p:grpSp>
        <p:sp>
          <p:nvSpPr>
            <p:cNvPr id="19" name="Rectangle 18"/>
            <p:cNvSpPr/>
            <p:nvPr/>
          </p:nvSpPr>
          <p:spPr>
            <a:xfrm>
              <a:off x="2362200" y="5638800"/>
              <a:ext cx="3048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000" dirty="0"/>
                <a:t>∆</a:t>
              </a:r>
              <a:endParaRPr lang="en-US" sz="2000" dirty="0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2773837" y="3455668"/>
            <a:ext cx="1101207" cy="628710"/>
            <a:chOff x="1981200" y="5410200"/>
            <a:chExt cx="1101207" cy="628710"/>
          </a:xfrm>
        </p:grpSpPr>
        <p:grpSp>
          <p:nvGrpSpPr>
            <p:cNvPr id="23" name="Group 47"/>
            <p:cNvGrpSpPr/>
            <p:nvPr/>
          </p:nvGrpSpPr>
          <p:grpSpPr>
            <a:xfrm>
              <a:off x="1981200" y="5410200"/>
              <a:ext cx="1101207" cy="338554"/>
              <a:chOff x="2819400" y="5940623"/>
              <a:chExt cx="1101207" cy="338554"/>
            </a:xfrm>
          </p:grpSpPr>
          <p:cxnSp>
            <p:nvCxnSpPr>
              <p:cNvPr id="25" name="Straight Arrow Connector 24"/>
              <p:cNvCxnSpPr/>
              <p:nvPr/>
            </p:nvCxnSpPr>
            <p:spPr>
              <a:xfrm>
                <a:off x="2819400" y="6246812"/>
                <a:ext cx="1005840" cy="1588"/>
              </a:xfrm>
              <a:prstGeom prst="straightConnector1">
                <a:avLst/>
              </a:prstGeom>
              <a:ln>
                <a:solidFill>
                  <a:schemeClr val="tx1">
                    <a:alpha val="9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extBox 25"/>
              <p:cNvSpPr txBox="1"/>
              <p:nvPr/>
            </p:nvSpPr>
            <p:spPr>
              <a:xfrm>
                <a:off x="2847877" y="5940623"/>
                <a:ext cx="10727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dirty="0"/>
                  <a:t>KMnO</a:t>
                </a:r>
                <a:r>
                  <a:rPr lang="en-US" altLang="zh-CN" sz="1600" baseline="-25000" dirty="0"/>
                  <a:t>4</a:t>
                </a:r>
                <a:r>
                  <a:rPr lang="en-US" altLang="zh-CN" sz="1600" dirty="0"/>
                  <a:t> ,H</a:t>
                </a:r>
                <a:r>
                  <a:rPr lang="en-US" altLang="zh-CN" sz="1600" baseline="30000" dirty="0"/>
                  <a:t>+</a:t>
                </a:r>
                <a:endParaRPr lang="en-US" sz="1600" dirty="0"/>
              </a:p>
            </p:txBody>
          </p:sp>
        </p:grpSp>
        <p:sp>
          <p:nvSpPr>
            <p:cNvPr id="24" name="Rectangle 23"/>
            <p:cNvSpPr/>
            <p:nvPr/>
          </p:nvSpPr>
          <p:spPr>
            <a:xfrm>
              <a:off x="2362200" y="5638800"/>
              <a:ext cx="3048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000" dirty="0"/>
                <a:t>∆</a:t>
              </a:r>
              <a:endParaRPr lang="en-US" sz="2000" dirty="0"/>
            </a:p>
          </p:txBody>
        </p:sp>
      </p:grpSp>
      <p:sp>
        <p:nvSpPr>
          <p:cNvPr id="27" name="Rounded Rectangle 26"/>
          <p:cNvSpPr/>
          <p:nvPr/>
        </p:nvSpPr>
        <p:spPr>
          <a:xfrm>
            <a:off x="4073124" y="1664527"/>
            <a:ext cx="2175275" cy="4572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/>
          <p:cNvSpPr/>
          <p:nvPr/>
        </p:nvSpPr>
        <p:spPr>
          <a:xfrm>
            <a:off x="4335372" y="4116189"/>
            <a:ext cx="3894227" cy="4572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/>
          <p:cNvSpPr/>
          <p:nvPr/>
        </p:nvSpPr>
        <p:spPr>
          <a:xfrm>
            <a:off x="4981010" y="1050085"/>
            <a:ext cx="3505200" cy="4572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29"/>
          <p:cNvSpPr/>
          <p:nvPr/>
        </p:nvSpPr>
        <p:spPr>
          <a:xfrm>
            <a:off x="3629240" y="2859609"/>
            <a:ext cx="3505199" cy="4572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DD37AD-4BC2-415B-98BA-E359D7974BB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53" t="26068" r="16511" b="12328"/>
          <a:stretch/>
        </p:blipFill>
        <p:spPr>
          <a:xfrm rot="10800000">
            <a:off x="457200" y="4831800"/>
            <a:ext cx="1054883" cy="1188000"/>
          </a:xfrm>
          <a:prstGeom prst="rect">
            <a:avLst/>
          </a:prstGeom>
        </p:spPr>
      </p:pic>
      <p:sp>
        <p:nvSpPr>
          <p:cNvPr id="33" name="Rounded Rectangle 26">
            <a:extLst>
              <a:ext uri="{FF2B5EF4-FFF2-40B4-BE49-F238E27FC236}">
                <a16:creationId xmlns:a16="http://schemas.microsoft.com/office/drawing/2014/main" id="{87ACC4DD-BCD3-4439-8830-3D738307F53C}"/>
              </a:ext>
            </a:extLst>
          </p:cNvPr>
          <p:cNvSpPr/>
          <p:nvPr/>
        </p:nvSpPr>
        <p:spPr>
          <a:xfrm>
            <a:off x="3918831" y="3474301"/>
            <a:ext cx="2175275" cy="4572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1C4BFDC-B8AF-4F3F-A586-B24C3B37CC53}"/>
              </a:ext>
            </a:extLst>
          </p:cNvPr>
          <p:cNvGrpSpPr/>
          <p:nvPr/>
        </p:nvGrpSpPr>
        <p:grpSpPr>
          <a:xfrm>
            <a:off x="3165993" y="4038600"/>
            <a:ext cx="1101207" cy="628710"/>
            <a:chOff x="1981200" y="5410200"/>
            <a:chExt cx="1101207" cy="628710"/>
          </a:xfrm>
        </p:grpSpPr>
        <p:grpSp>
          <p:nvGrpSpPr>
            <p:cNvPr id="35" name="Group 47">
              <a:extLst>
                <a:ext uri="{FF2B5EF4-FFF2-40B4-BE49-F238E27FC236}">
                  <a16:creationId xmlns:a16="http://schemas.microsoft.com/office/drawing/2014/main" id="{79FC9FA2-8074-4093-899A-AC30C544D84F}"/>
                </a:ext>
              </a:extLst>
            </p:cNvPr>
            <p:cNvGrpSpPr/>
            <p:nvPr/>
          </p:nvGrpSpPr>
          <p:grpSpPr>
            <a:xfrm>
              <a:off x="1981200" y="5410200"/>
              <a:ext cx="1101207" cy="338554"/>
              <a:chOff x="2819400" y="5940623"/>
              <a:chExt cx="1101207" cy="338554"/>
            </a:xfrm>
          </p:grpSpPr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F95575E4-AE6D-40CE-9FD1-5D37D217AA2F}"/>
                  </a:ext>
                </a:extLst>
              </p:cNvPr>
              <p:cNvCxnSpPr/>
              <p:nvPr/>
            </p:nvCxnSpPr>
            <p:spPr>
              <a:xfrm>
                <a:off x="2819400" y="6246812"/>
                <a:ext cx="1005840" cy="1588"/>
              </a:xfrm>
              <a:prstGeom prst="straightConnector1">
                <a:avLst/>
              </a:prstGeom>
              <a:ln>
                <a:solidFill>
                  <a:schemeClr val="tx1">
                    <a:alpha val="9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562FCA5-1B5D-4BC0-864F-B06347307144}"/>
                  </a:ext>
                </a:extLst>
              </p:cNvPr>
              <p:cNvSpPr txBox="1"/>
              <p:nvPr/>
            </p:nvSpPr>
            <p:spPr>
              <a:xfrm>
                <a:off x="2847877" y="5940623"/>
                <a:ext cx="10727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dirty="0"/>
                  <a:t>KMnO</a:t>
                </a:r>
                <a:r>
                  <a:rPr lang="en-US" altLang="zh-CN" sz="1600" baseline="-25000" dirty="0"/>
                  <a:t>4</a:t>
                </a:r>
                <a:r>
                  <a:rPr lang="en-US" altLang="zh-CN" sz="1600" dirty="0"/>
                  <a:t> ,H</a:t>
                </a:r>
                <a:r>
                  <a:rPr lang="en-US" altLang="zh-CN" sz="1600" baseline="30000" dirty="0"/>
                  <a:t>+</a:t>
                </a:r>
                <a:endParaRPr lang="en-US" sz="1600" dirty="0"/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139C260-5CD8-4757-95CB-C8BC76279E27}"/>
                </a:ext>
              </a:extLst>
            </p:cNvPr>
            <p:cNvSpPr/>
            <p:nvPr/>
          </p:nvSpPr>
          <p:spPr>
            <a:xfrm>
              <a:off x="2362200" y="5638800"/>
              <a:ext cx="3048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000" dirty="0"/>
                <a:t>∆</a:t>
              </a:r>
              <a:endParaRPr lang="en-US" sz="2000" dirty="0"/>
            </a:p>
          </p:txBody>
        </p:sp>
      </p:grpSp>
      <p:sp>
        <p:nvSpPr>
          <p:cNvPr id="39" name="Rounded Rectangle 27">
            <a:extLst>
              <a:ext uri="{FF2B5EF4-FFF2-40B4-BE49-F238E27FC236}">
                <a16:creationId xmlns:a16="http://schemas.microsoft.com/office/drawing/2014/main" id="{A3952380-A0AE-457D-BD4F-DEF0E368638B}"/>
              </a:ext>
            </a:extLst>
          </p:cNvPr>
          <p:cNvSpPr/>
          <p:nvPr/>
        </p:nvSpPr>
        <p:spPr>
          <a:xfrm>
            <a:off x="3129478" y="5323127"/>
            <a:ext cx="4185722" cy="4572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B12C89F-1B9D-46DB-B451-A159BE4EAA1B}"/>
              </a:ext>
            </a:extLst>
          </p:cNvPr>
          <p:cNvGrpSpPr/>
          <p:nvPr/>
        </p:nvGrpSpPr>
        <p:grpSpPr>
          <a:xfrm>
            <a:off x="1828800" y="5162490"/>
            <a:ext cx="1101207" cy="628710"/>
            <a:chOff x="1981200" y="5410200"/>
            <a:chExt cx="1101207" cy="628710"/>
          </a:xfrm>
        </p:grpSpPr>
        <p:grpSp>
          <p:nvGrpSpPr>
            <p:cNvPr id="41" name="Group 47">
              <a:extLst>
                <a:ext uri="{FF2B5EF4-FFF2-40B4-BE49-F238E27FC236}">
                  <a16:creationId xmlns:a16="http://schemas.microsoft.com/office/drawing/2014/main" id="{3BAE95FC-5F89-4280-9B25-7EAAD5263056}"/>
                </a:ext>
              </a:extLst>
            </p:cNvPr>
            <p:cNvGrpSpPr/>
            <p:nvPr/>
          </p:nvGrpSpPr>
          <p:grpSpPr>
            <a:xfrm>
              <a:off x="1981200" y="5410200"/>
              <a:ext cx="1101207" cy="338554"/>
              <a:chOff x="2819400" y="5940623"/>
              <a:chExt cx="1101207" cy="338554"/>
            </a:xfrm>
          </p:grpSpPr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E971BBDF-9335-4C6E-8789-286CF4B13EC0}"/>
                  </a:ext>
                </a:extLst>
              </p:cNvPr>
              <p:cNvCxnSpPr/>
              <p:nvPr/>
            </p:nvCxnSpPr>
            <p:spPr>
              <a:xfrm>
                <a:off x="2819400" y="6246812"/>
                <a:ext cx="1005840" cy="1588"/>
              </a:xfrm>
              <a:prstGeom prst="straightConnector1">
                <a:avLst/>
              </a:prstGeom>
              <a:ln>
                <a:solidFill>
                  <a:schemeClr val="tx1">
                    <a:alpha val="9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C845B99-4C3A-463B-96DB-15CB9FE235CB}"/>
                  </a:ext>
                </a:extLst>
              </p:cNvPr>
              <p:cNvSpPr txBox="1"/>
              <p:nvPr/>
            </p:nvSpPr>
            <p:spPr>
              <a:xfrm>
                <a:off x="2847877" y="5940623"/>
                <a:ext cx="10727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dirty="0"/>
                  <a:t>KMnO</a:t>
                </a:r>
                <a:r>
                  <a:rPr lang="en-US" altLang="zh-CN" sz="1600" baseline="-25000" dirty="0"/>
                  <a:t>4</a:t>
                </a:r>
                <a:r>
                  <a:rPr lang="en-US" altLang="zh-CN" sz="1600" dirty="0"/>
                  <a:t> ,H</a:t>
                </a:r>
                <a:r>
                  <a:rPr lang="en-US" altLang="zh-CN" sz="1600" baseline="30000" dirty="0"/>
                  <a:t>+</a:t>
                </a:r>
                <a:endParaRPr lang="en-US" sz="1600" dirty="0"/>
              </a:p>
            </p:txBody>
          </p:sp>
        </p:grp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B666600-4587-49C5-A4A4-73A4E985A43C}"/>
                </a:ext>
              </a:extLst>
            </p:cNvPr>
            <p:cNvSpPr/>
            <p:nvPr/>
          </p:nvSpPr>
          <p:spPr>
            <a:xfrm>
              <a:off x="2362200" y="5638800"/>
              <a:ext cx="3048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000" dirty="0"/>
                <a:t>∆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7" grpId="0" animBg="1"/>
      <p:bldP spid="28" grpId="0" animBg="1"/>
      <p:bldP spid="29" grpId="0" animBg="1"/>
      <p:bldP spid="30" grpId="0" animBg="1"/>
      <p:bldP spid="33" grpId="0" animBg="1"/>
      <p:bldP spid="3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b="1" dirty="0">
                <a:latin typeface="+mn-ea"/>
              </a:rPr>
              <a:t>28.5 </a:t>
            </a:r>
            <a:r>
              <a:rPr lang="zh-CN" altLang="en-US" b="1" dirty="0">
                <a:latin typeface="+mn-ea"/>
              </a:rPr>
              <a:t>烯烃的化学性质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en-US" altLang="zh-CN" sz="3000" dirty="0"/>
              <a:t>4. </a:t>
            </a:r>
            <a:r>
              <a:rPr lang="zh-CN" altLang="en-US" sz="3000" dirty="0"/>
              <a:t>聚合反应：许多简单的小分子化合物互相结合生成大分子化合物的反应。</a:t>
            </a:r>
            <a:endParaRPr lang="en-MY" altLang="zh-CN" sz="3000" dirty="0"/>
          </a:p>
          <a:p>
            <a:pPr marL="514350" indent="-514350">
              <a:buNone/>
            </a:pPr>
            <a:r>
              <a:rPr lang="zh-CN" altLang="en-US" sz="3000" dirty="0"/>
              <a:t>乙烯分子的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加成聚合反应</a:t>
            </a:r>
            <a:endParaRPr lang="en-US" altLang="zh-CN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buNone/>
            </a:pPr>
            <a:endParaRPr lang="en-US" altLang="zh-CN" sz="3000" dirty="0"/>
          </a:p>
          <a:p>
            <a:pPr marL="514350" indent="-514350">
              <a:buNone/>
            </a:pPr>
            <a:r>
              <a:rPr lang="en-US" altLang="zh-CN" sz="3000" dirty="0"/>
              <a:t>n  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= 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		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				n: </a:t>
            </a:r>
            <a:r>
              <a:rPr lang="zh-CN" altLang="en-US" sz="3000" dirty="0">
                <a:sym typeface="Wingdings" pitchFamily="2" charset="2"/>
              </a:rPr>
              <a:t>聚合度，值很大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1. </a:t>
            </a:r>
            <a:r>
              <a:rPr lang="zh-CN" altLang="en-US" sz="3000" dirty="0">
                <a:sym typeface="Wingdings" pitchFamily="2" charset="2"/>
              </a:rPr>
              <a:t>聚乙烯分子中的</a:t>
            </a:r>
            <a:r>
              <a:rPr lang="en-US" altLang="zh-CN" sz="3000" dirty="0">
                <a:sym typeface="Wingdings" pitchFamily="2" charset="2"/>
              </a:rPr>
              <a:t>C=C</a:t>
            </a:r>
            <a:r>
              <a:rPr lang="zh-CN" altLang="en-US" sz="3000" dirty="0">
                <a:sym typeface="Wingdings" pitchFamily="2" charset="2"/>
              </a:rPr>
              <a:t>双键还在吗？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2. </a:t>
            </a:r>
            <a:r>
              <a:rPr lang="zh-CN" altLang="en-US" sz="3000" dirty="0">
                <a:sym typeface="Wingdings" pitchFamily="2" charset="2"/>
              </a:rPr>
              <a:t>请写出丙烯在一定条件下发生聚合反应的化学方程式。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endParaRPr lang="en-US" altLang="zh-CN" sz="3000" dirty="0"/>
          </a:p>
        </p:txBody>
      </p:sp>
      <p:grpSp>
        <p:nvGrpSpPr>
          <p:cNvPr id="7" name="Group 27"/>
          <p:cNvGrpSpPr/>
          <p:nvPr/>
        </p:nvGrpSpPr>
        <p:grpSpPr>
          <a:xfrm>
            <a:off x="2514600" y="3048000"/>
            <a:ext cx="1219200" cy="615554"/>
            <a:chOff x="2819400" y="5867400"/>
            <a:chExt cx="1219200" cy="615554"/>
          </a:xfrm>
        </p:grpSpPr>
        <p:cxnSp>
          <p:nvCxnSpPr>
            <p:cNvPr id="8" name="Straight Arrow Connector 7"/>
            <p:cNvCxnSpPr/>
            <p:nvPr/>
          </p:nvCxnSpPr>
          <p:spPr>
            <a:xfrm>
              <a:off x="2819400" y="6172117"/>
              <a:ext cx="121920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3048000" y="6175177"/>
              <a:ext cx="7232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/>
                <a:t>催化剂</a:t>
              </a:r>
              <a:endParaRPr lang="en-US" sz="1400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895600" y="5867400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高温、高压</a:t>
              </a:r>
              <a:endParaRPr lang="en-US" sz="1400" dirty="0"/>
            </a:p>
          </p:txBody>
        </p:sp>
      </p:grpSp>
      <p:pic>
        <p:nvPicPr>
          <p:cNvPr id="11" name="Picture 10" descr="w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2438400"/>
            <a:ext cx="1905000" cy="18192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3733800"/>
            <a:ext cx="1005403" cy="584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单体</a:t>
            </a:r>
            <a:endParaRPr lang="en-US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99418" y="3682425"/>
            <a:ext cx="1420582" cy="584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聚合物</a:t>
            </a:r>
            <a:endParaRPr lang="en-US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animBg="1"/>
      <p:bldP spid="1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b="1" dirty="0">
                <a:latin typeface="+mn-ea"/>
              </a:rPr>
              <a:t>28.5 </a:t>
            </a:r>
            <a:r>
              <a:rPr lang="zh-CN" altLang="en-US" b="1" dirty="0">
                <a:latin typeface="+mn-ea"/>
              </a:rPr>
              <a:t>烯烃的化学性质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zh-CN" altLang="en-US" sz="3000" dirty="0"/>
              <a:t>问题解决</a:t>
            </a:r>
            <a:endParaRPr lang="en-MY" altLang="zh-CN" sz="3000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3000" dirty="0">
                <a:sym typeface="Wingdings" pitchFamily="2" charset="2"/>
              </a:rPr>
              <a:t>分别将这两种气体通入溴的</a:t>
            </a:r>
            <a:r>
              <a:rPr lang="en-US" altLang="zh-CN" sz="3000" dirty="0">
                <a:sym typeface="Wingdings" pitchFamily="2" charset="2"/>
              </a:rPr>
              <a:t>CCl</a:t>
            </a:r>
            <a:r>
              <a:rPr lang="en-US" altLang="zh-CN" sz="3000" baseline="-25000" dirty="0">
                <a:sym typeface="Wingdings" pitchFamily="2" charset="2"/>
              </a:rPr>
              <a:t>4</a:t>
            </a:r>
            <a:r>
              <a:rPr lang="zh-CN" altLang="en-US" sz="3000" dirty="0">
                <a:sym typeface="Wingdings" pitchFamily="2" charset="2"/>
              </a:rPr>
              <a:t>溶液，能使溴的</a:t>
            </a:r>
            <a:r>
              <a:rPr lang="en-US" altLang="zh-CN" sz="3000" dirty="0">
                <a:sym typeface="Wingdings" pitchFamily="2" charset="2"/>
              </a:rPr>
              <a:t>CCl</a:t>
            </a:r>
            <a:r>
              <a:rPr lang="en-US" altLang="zh-CN" sz="3000" baseline="-25000" dirty="0">
                <a:sym typeface="Wingdings" pitchFamily="2" charset="2"/>
              </a:rPr>
              <a:t>4</a:t>
            </a:r>
            <a:r>
              <a:rPr lang="zh-CN" altLang="en-US" sz="3000" dirty="0">
                <a:sym typeface="Wingdings" pitchFamily="2" charset="2"/>
              </a:rPr>
              <a:t>溶液褪色的是乙烯，不能的是乙烷。</a:t>
            </a:r>
            <a:endParaRPr lang="en-MY" altLang="zh-CN" sz="3000" dirty="0">
              <a:sym typeface="Wingdings" pitchFamily="2" charset="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3000" dirty="0">
                <a:sym typeface="Wingdings" pitchFamily="2" charset="2"/>
              </a:rPr>
              <a:t>将混有乙烯的气态烷烃通入溴的</a:t>
            </a:r>
            <a:r>
              <a:rPr lang="en-US" altLang="zh-CN" sz="3000" dirty="0">
                <a:sym typeface="Wingdings" pitchFamily="2" charset="2"/>
              </a:rPr>
              <a:t>CCl</a:t>
            </a:r>
            <a:r>
              <a:rPr lang="en-US" altLang="zh-CN" sz="3000" baseline="-25000" dirty="0">
                <a:sym typeface="Wingdings" pitchFamily="2" charset="2"/>
              </a:rPr>
              <a:t>4</a:t>
            </a:r>
            <a:r>
              <a:rPr lang="zh-CN" altLang="en-US" sz="3000" dirty="0">
                <a:sym typeface="Wingdings" pitchFamily="2" charset="2"/>
              </a:rPr>
              <a:t>溶液就能去除乙烯。</a:t>
            </a:r>
            <a:endParaRPr lang="en-MY" altLang="zh-CN" sz="3000" dirty="0">
              <a:sym typeface="Wingdings" pitchFamily="2" charset="2"/>
            </a:endParaRPr>
          </a:p>
          <a:p>
            <a:pPr marL="0" indent="0">
              <a:buNone/>
            </a:pPr>
            <a:r>
              <a:rPr lang="zh-CN" altLang="en-US" sz="3000" dirty="0">
                <a:sym typeface="Wingdings" pitchFamily="2" charset="2"/>
              </a:rPr>
              <a:t>交流分享</a:t>
            </a:r>
            <a:endParaRPr lang="en-MY" altLang="zh-CN" sz="3000" dirty="0">
              <a:sym typeface="Wingdings" pitchFamily="2" charset="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3000" dirty="0">
                <a:sym typeface="Wingdings" pitchFamily="2" charset="2"/>
              </a:rPr>
              <a:t>烷烃不与溴的</a:t>
            </a:r>
            <a:r>
              <a:rPr lang="en-US" altLang="zh-CN" sz="3000" dirty="0">
                <a:sym typeface="Wingdings" pitchFamily="2" charset="2"/>
              </a:rPr>
              <a:t>CCl</a:t>
            </a:r>
            <a:r>
              <a:rPr lang="en-US" altLang="zh-CN" sz="3000" baseline="-25000" dirty="0">
                <a:sym typeface="Wingdings" pitchFamily="2" charset="2"/>
              </a:rPr>
              <a:t>4</a:t>
            </a:r>
            <a:r>
              <a:rPr lang="zh-CN" altLang="en-US" sz="3000" dirty="0">
                <a:sym typeface="Wingdings" pitchFamily="2" charset="2"/>
              </a:rPr>
              <a:t>溶液反应也不与</a:t>
            </a:r>
            <a:r>
              <a:rPr lang="en-US" altLang="zh-CN" sz="3000" dirty="0">
                <a:sym typeface="Wingdings" pitchFamily="2" charset="2"/>
              </a:rPr>
              <a:t>KMnO</a:t>
            </a:r>
            <a:r>
              <a:rPr lang="en-US" altLang="zh-CN" sz="3000" baseline="-25000" dirty="0">
                <a:sym typeface="Wingdings" pitchFamily="2" charset="2"/>
              </a:rPr>
              <a:t>4</a:t>
            </a:r>
            <a:r>
              <a:rPr lang="zh-CN" altLang="en-US" sz="3000" dirty="0">
                <a:sym typeface="Wingdings" pitchFamily="2" charset="2"/>
              </a:rPr>
              <a:t>反应</a:t>
            </a:r>
            <a:endParaRPr lang="en-US" altLang="zh-CN" sz="3000" dirty="0">
              <a:sym typeface="Wingdings" pitchFamily="2" charset="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3000" dirty="0">
                <a:sym typeface="Wingdings" pitchFamily="2" charset="2"/>
              </a:rPr>
              <a:t>烷烃主要反应：取代反应</a:t>
            </a:r>
            <a:endParaRPr lang="en-MY" altLang="zh-CN" sz="3000" dirty="0">
              <a:sym typeface="Wingdings" pitchFamily="2" charset="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3000" dirty="0">
                <a:sym typeface="Wingdings" pitchFamily="2" charset="2"/>
              </a:rPr>
              <a:t>烯烃主要反应：加成反应</a:t>
            </a:r>
            <a:endParaRPr lang="en-MY" altLang="zh-CN" sz="3000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8115334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b="1" dirty="0">
                <a:latin typeface="+mn-ea"/>
              </a:rPr>
              <a:t>思考题 </a:t>
            </a:r>
            <a:r>
              <a:rPr lang="en-US" altLang="zh-CN" b="1" dirty="0">
                <a:latin typeface="+mn-ea"/>
              </a:rPr>
              <a:t>28e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en-US" altLang="zh-CN" sz="3000" dirty="0">
                <a:sym typeface="Wingdings" pitchFamily="2" charset="2"/>
              </a:rPr>
              <a:t>B </a:t>
            </a:r>
          </a:p>
          <a:p>
            <a:pPr marL="0" indent="0">
              <a:buNone/>
            </a:pPr>
            <a:r>
              <a:rPr lang="zh-CN" altLang="en-US" sz="3000" dirty="0">
                <a:sym typeface="Wingdings" pitchFamily="2" charset="2"/>
              </a:rPr>
              <a:t>不选</a:t>
            </a:r>
            <a:r>
              <a:rPr lang="en-US" altLang="zh-CN" sz="3000" dirty="0">
                <a:sym typeface="Wingdings" pitchFamily="2" charset="2"/>
              </a:rPr>
              <a:t>D</a:t>
            </a:r>
            <a:r>
              <a:rPr lang="zh-CN" altLang="en-US" sz="3000" dirty="0">
                <a:sym typeface="Wingdings" pitchFamily="2" charset="2"/>
              </a:rPr>
              <a:t>因为</a:t>
            </a:r>
            <a:r>
              <a:rPr lang="en-US" altLang="zh-CN" sz="3000" dirty="0">
                <a:sym typeface="Wingdings" pitchFamily="2" charset="2"/>
              </a:rPr>
              <a:t>KMnO</a:t>
            </a:r>
            <a:r>
              <a:rPr lang="en-US" altLang="zh-CN" sz="3000" baseline="-25000" dirty="0">
                <a:sym typeface="Wingdings" pitchFamily="2" charset="2"/>
              </a:rPr>
              <a:t>4</a:t>
            </a:r>
            <a:r>
              <a:rPr lang="zh-CN" altLang="en-US" sz="3000" dirty="0">
                <a:sym typeface="Wingdings" pitchFamily="2" charset="2"/>
              </a:rPr>
              <a:t>会把乙烯氧化成</a:t>
            </a:r>
            <a:r>
              <a:rPr lang="en-US" altLang="zh-CN" sz="3000" dirty="0">
                <a:sym typeface="Wingdings" pitchFamily="2" charset="2"/>
              </a:rPr>
              <a:t>CO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,</a:t>
            </a:r>
            <a:r>
              <a:rPr lang="zh-CN" altLang="en-US" sz="3000" dirty="0">
                <a:sym typeface="Wingdings" pitchFamily="2" charset="2"/>
              </a:rPr>
              <a:t>成为新的杂质</a:t>
            </a:r>
            <a:endParaRPr lang="en-MY" altLang="zh-CN" sz="3000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MY" altLang="zh-CN" sz="3000" dirty="0">
                <a:sym typeface="Wingdings" pitchFamily="2" charset="2"/>
              </a:rPr>
              <a:t>2. CO</a:t>
            </a:r>
            <a:r>
              <a:rPr lang="en-MY" altLang="zh-CN" sz="3000" baseline="-25000" dirty="0">
                <a:sym typeface="Wingdings" pitchFamily="2" charset="2"/>
              </a:rPr>
              <a:t>2</a:t>
            </a:r>
            <a:r>
              <a:rPr lang="en-MY" altLang="zh-CN" sz="3000" dirty="0">
                <a:sym typeface="Wingdings" pitchFamily="2" charset="2"/>
              </a:rPr>
              <a:t> + Ca(OH)</a:t>
            </a:r>
            <a:r>
              <a:rPr lang="en-MY" altLang="zh-CN" sz="3000" baseline="-25000" dirty="0">
                <a:sym typeface="Wingdings" pitchFamily="2" charset="2"/>
              </a:rPr>
              <a:t>2</a:t>
            </a:r>
            <a:r>
              <a:rPr lang="en-MY" altLang="zh-CN" sz="3000" dirty="0">
                <a:sym typeface="Wingdings" pitchFamily="2" charset="2"/>
              </a:rPr>
              <a:t>  CaCO</a:t>
            </a:r>
            <a:r>
              <a:rPr lang="en-MY" altLang="zh-CN" sz="3000" baseline="-25000" dirty="0">
                <a:sym typeface="Wingdings" pitchFamily="2" charset="2"/>
              </a:rPr>
              <a:t>3</a:t>
            </a:r>
            <a:r>
              <a:rPr lang="en-MY" altLang="zh-CN" sz="3000" dirty="0">
                <a:sym typeface="Wingdings" pitchFamily="2" charset="2"/>
              </a:rPr>
              <a:t> + H</a:t>
            </a:r>
            <a:r>
              <a:rPr lang="en-MY" altLang="zh-CN" sz="3000" baseline="-25000" dirty="0">
                <a:sym typeface="Wingdings" pitchFamily="2" charset="2"/>
              </a:rPr>
              <a:t>2</a:t>
            </a:r>
            <a:r>
              <a:rPr lang="en-MY" altLang="zh-CN" sz="3000" dirty="0">
                <a:sym typeface="Wingdings" pitchFamily="2" charset="2"/>
              </a:rPr>
              <a:t>O</a:t>
            </a:r>
          </a:p>
          <a:p>
            <a:pPr marL="0" indent="0">
              <a:buNone/>
            </a:pPr>
            <a:r>
              <a:rPr lang="en-US" altLang="zh-CN" sz="3000" dirty="0">
                <a:sym typeface="Wingdings" pitchFamily="2" charset="2"/>
              </a:rPr>
              <a:t>4.4g     7.4g             10g        1.8g</a:t>
            </a:r>
          </a:p>
          <a:p>
            <a:pPr marL="0" indent="0">
              <a:buNone/>
            </a:pPr>
            <a:r>
              <a:rPr lang="zh-CN" altLang="en-US" sz="3000" dirty="0">
                <a:sym typeface="Wingdings" pitchFamily="2" charset="2"/>
              </a:rPr>
              <a:t>此烃燃烧后生成</a:t>
            </a:r>
            <a:r>
              <a:rPr lang="en-US" altLang="zh-CN" sz="3000" dirty="0">
                <a:sym typeface="Wingdings" pitchFamily="2" charset="2"/>
              </a:rPr>
              <a:t>4.4gCO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,</a:t>
            </a:r>
          </a:p>
          <a:p>
            <a:pPr marL="0" indent="0">
              <a:buNone/>
            </a:pPr>
            <a:r>
              <a:rPr lang="zh-CN" altLang="en-US" sz="3000" dirty="0">
                <a:sym typeface="Wingdings" pitchFamily="2" charset="2"/>
              </a:rPr>
              <a:t>   滤液质量变化 </a:t>
            </a:r>
            <a:r>
              <a:rPr lang="en-US" altLang="zh-CN" sz="3000" dirty="0">
                <a:sym typeface="Wingdings" pitchFamily="2" charset="2"/>
              </a:rPr>
              <a:t>= -7.4g+1.8g+</a:t>
            </a:r>
            <a:r>
              <a:rPr lang="zh-CN" altLang="en-US" sz="3000" dirty="0">
                <a:sym typeface="Wingdings" pitchFamily="2" charset="2"/>
              </a:rPr>
              <a:t>燃烧后生成的水</a:t>
            </a:r>
            <a:endParaRPr lang="en-MY" altLang="zh-CN" sz="3000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MY" altLang="zh-CN" sz="3000" dirty="0">
                <a:sym typeface="Wingdings" pitchFamily="2" charset="2"/>
              </a:rPr>
              <a:t>		</a:t>
            </a:r>
            <a:r>
              <a:rPr lang="en-US" altLang="zh-CN" sz="3000" dirty="0">
                <a:sym typeface="Wingdings" pitchFamily="2" charset="2"/>
              </a:rPr>
              <a:t>-3.8g = -7.4g+1.8g+</a:t>
            </a:r>
            <a:r>
              <a:rPr lang="zh-CN" altLang="en-US" sz="3000" dirty="0">
                <a:sym typeface="Wingdings" pitchFamily="2" charset="2"/>
              </a:rPr>
              <a:t>燃烧后生成的水</a:t>
            </a:r>
            <a:endParaRPr lang="en-MY" altLang="zh-CN" sz="3000" dirty="0">
              <a:sym typeface="Wingdings" pitchFamily="2" charset="2"/>
            </a:endParaRPr>
          </a:p>
          <a:p>
            <a:pPr marL="0" indent="0">
              <a:buNone/>
            </a:pPr>
            <a:r>
              <a:rPr lang="zh-CN" altLang="en-US" sz="3000" dirty="0">
                <a:sym typeface="Wingdings" pitchFamily="2" charset="2"/>
              </a:rPr>
              <a:t>燃烧后生成的水 </a:t>
            </a:r>
            <a:r>
              <a:rPr lang="en-US" altLang="zh-CN" sz="3000" dirty="0">
                <a:sym typeface="Wingdings" pitchFamily="2" charset="2"/>
              </a:rPr>
              <a:t>= 1.8g</a:t>
            </a:r>
          </a:p>
          <a:p>
            <a:pPr marL="0" indent="0">
              <a:buNone/>
            </a:pPr>
            <a:r>
              <a:rPr lang="en-US" altLang="zh-CN" sz="3000" dirty="0">
                <a:sym typeface="Wingdings" pitchFamily="2" charset="2"/>
              </a:rPr>
              <a:t>n(CO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) </a:t>
            </a:r>
            <a:r>
              <a:rPr lang="en-MY" altLang="zh-CN" sz="3000" dirty="0">
                <a:sym typeface="Wingdings" pitchFamily="2" charset="2"/>
              </a:rPr>
              <a:t>: n(H</a:t>
            </a:r>
            <a:r>
              <a:rPr lang="en-MY" altLang="zh-CN" sz="3000" baseline="-25000" dirty="0">
                <a:sym typeface="Wingdings" pitchFamily="2" charset="2"/>
              </a:rPr>
              <a:t>2</a:t>
            </a:r>
            <a:r>
              <a:rPr lang="en-MY" altLang="zh-CN" sz="3000" dirty="0">
                <a:sym typeface="Wingdings" pitchFamily="2" charset="2"/>
              </a:rPr>
              <a:t>O)=0.1mol : 0.1 mol = 1:1 </a:t>
            </a:r>
          </a:p>
          <a:p>
            <a:pPr marL="0" indent="0">
              <a:buNone/>
            </a:pPr>
            <a:r>
              <a:rPr lang="en-US" altLang="zh-CN" sz="3000" dirty="0">
                <a:sym typeface="Wingdings" pitchFamily="2" charset="2"/>
              </a:rPr>
              <a:t>n(C) : n(H) = 1:2 </a:t>
            </a:r>
          </a:p>
          <a:p>
            <a:pPr marL="0" indent="0">
              <a:buNone/>
            </a:pPr>
            <a:r>
              <a:rPr lang="en-US" altLang="zh-CN" sz="3000" dirty="0">
                <a:sym typeface="Wingdings" pitchFamily="2" charset="2"/>
              </a:rPr>
              <a:t>Ans: C </a:t>
            </a:r>
            <a:endParaRPr lang="en-MY" altLang="zh-CN" sz="3000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US" altLang="zh-CN" sz="3000" dirty="0">
                <a:sym typeface="Wingdings" pitchFamily="2" charset="2"/>
              </a:rPr>
              <a:t>  	</a:t>
            </a:r>
            <a:endParaRPr lang="en-MY" altLang="zh-CN" sz="3000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9157281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b="1" dirty="0">
                <a:latin typeface="+mn-ea"/>
              </a:rPr>
              <a:t>思考题 </a:t>
            </a:r>
            <a:r>
              <a:rPr lang="en-US" altLang="zh-CN" b="1" dirty="0">
                <a:latin typeface="+mn-ea"/>
              </a:rPr>
              <a:t>28e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839200" cy="5867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3000" dirty="0">
                <a:sym typeface="Wingdings" pitchFamily="2" charset="2"/>
              </a:rPr>
              <a:t>3. C </a:t>
            </a:r>
          </a:p>
          <a:p>
            <a:pPr marL="0" indent="0">
              <a:buNone/>
            </a:pPr>
            <a:r>
              <a:rPr lang="en-US" altLang="zh-CN" sz="3000" dirty="0">
                <a:sym typeface="Wingdings" pitchFamily="2" charset="2"/>
              </a:rPr>
              <a:t>C=C</a:t>
            </a:r>
            <a:r>
              <a:rPr lang="zh-CN" altLang="en-US" sz="3000" dirty="0">
                <a:sym typeface="Wingdings" pitchFamily="2" charset="2"/>
              </a:rPr>
              <a:t>键能较</a:t>
            </a:r>
            <a:r>
              <a:rPr lang="en-US" altLang="zh-CN" sz="3000" dirty="0">
                <a:sym typeface="Wingdings" pitchFamily="2" charset="2"/>
              </a:rPr>
              <a:t>C-C</a:t>
            </a:r>
            <a:r>
              <a:rPr lang="zh-CN" altLang="en-US" sz="3000" dirty="0">
                <a:sym typeface="Wingdings" pitchFamily="2" charset="2"/>
              </a:rPr>
              <a:t>大，键长较短</a:t>
            </a:r>
            <a:r>
              <a:rPr lang="en-US" altLang="zh-CN" sz="3000" dirty="0">
                <a:sym typeface="Wingdings" pitchFamily="2" charset="2"/>
              </a:rPr>
              <a:t>	</a:t>
            </a:r>
          </a:p>
          <a:p>
            <a:pPr marL="514350" indent="-514350">
              <a:buAutoNum type="arabicPeriod" startAt="4"/>
            </a:pPr>
            <a:r>
              <a:rPr lang="en-US" altLang="zh-CN" sz="3000" dirty="0">
                <a:sym typeface="Wingdings" pitchFamily="2" charset="2"/>
              </a:rPr>
              <a:t>(1)ABAD</a:t>
            </a:r>
            <a:endParaRPr lang="en-MY" altLang="zh-CN" sz="3000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MY" altLang="zh-CN" sz="3000" dirty="0">
                <a:sym typeface="Wingdings" pitchFamily="2" charset="2"/>
              </a:rPr>
              <a:t>      (2)</a:t>
            </a:r>
            <a:r>
              <a:rPr lang="zh-CN" altLang="en-US" sz="3000" dirty="0">
                <a:sym typeface="Wingdings" pitchFamily="2" charset="2"/>
              </a:rPr>
              <a:t>品红溶液褪色（</a:t>
            </a:r>
            <a:r>
              <a:rPr lang="zh-CN" altLang="en-US" sz="3000" dirty="0"/>
              <a:t>说明含有</a:t>
            </a:r>
            <a:r>
              <a:rPr lang="en-MY" sz="3000" dirty="0"/>
              <a:t>SO</a:t>
            </a:r>
            <a:r>
              <a:rPr lang="en-MY" sz="3000" baseline="-25000" dirty="0"/>
              <a:t> 2</a:t>
            </a:r>
            <a:r>
              <a:rPr lang="zh-CN" altLang="en-US" sz="3000" baseline="-25000" dirty="0"/>
              <a:t> </a:t>
            </a:r>
            <a:r>
              <a:rPr lang="zh-CN" altLang="en-US" sz="3000" dirty="0"/>
              <a:t> ）</a:t>
            </a:r>
            <a:endParaRPr lang="en-MY" altLang="zh-CN" sz="3000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MY" altLang="zh-CN" sz="3000" dirty="0">
                <a:sym typeface="Wingdings" pitchFamily="2" charset="2"/>
              </a:rPr>
              <a:t>      (3)</a:t>
            </a:r>
            <a:r>
              <a:rPr lang="en-US" altLang="zh-CN" sz="3000" dirty="0">
                <a:sym typeface="Wingdings" pitchFamily="2" charset="2"/>
              </a:rPr>
              <a:t>NaOH</a:t>
            </a:r>
            <a:r>
              <a:rPr lang="zh-CN" altLang="en-US" sz="3000" dirty="0">
                <a:sym typeface="Wingdings" pitchFamily="2" charset="2"/>
              </a:rPr>
              <a:t>能吸收</a:t>
            </a:r>
            <a:r>
              <a:rPr lang="en-US" altLang="zh-CN" sz="3000" dirty="0">
                <a:sym typeface="Wingdings" pitchFamily="2" charset="2"/>
              </a:rPr>
              <a:t>SO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</a:t>
            </a:r>
            <a:endParaRPr lang="en-MY" altLang="zh-CN" sz="3000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MY" altLang="zh-CN" sz="3000" dirty="0">
                <a:sym typeface="Wingdings" pitchFamily="2" charset="2"/>
              </a:rPr>
              <a:t>      (4)</a:t>
            </a:r>
            <a:r>
              <a:rPr lang="zh-CN" altLang="en-US" sz="3000" dirty="0">
                <a:sym typeface="Wingdings" pitchFamily="2" charset="2"/>
              </a:rPr>
              <a:t>证明</a:t>
            </a:r>
            <a:r>
              <a:rPr lang="en-US" altLang="zh-CN" sz="3000" dirty="0">
                <a:sym typeface="Wingdings" pitchFamily="2" charset="2"/>
              </a:rPr>
              <a:t>SO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zh-CN" altLang="en-US" sz="3000" dirty="0">
                <a:sym typeface="Wingdings" pitchFamily="2" charset="2"/>
              </a:rPr>
              <a:t>已经被完全吸收</a:t>
            </a:r>
            <a:endParaRPr lang="en-MY" altLang="zh-CN" sz="3000" dirty="0">
              <a:sym typeface="Wingdings" pitchFamily="2" charset="2"/>
            </a:endParaRPr>
          </a:p>
          <a:p>
            <a:pPr marL="0" indent="0">
              <a:buNone/>
            </a:pPr>
            <a:r>
              <a:rPr lang="zh-CN" altLang="en-US" sz="3000" dirty="0">
                <a:sym typeface="Wingdings" pitchFamily="2" charset="2"/>
              </a:rPr>
              <a:t>（</a:t>
            </a:r>
            <a:r>
              <a:rPr lang="zh-CN" altLang="en-US" sz="3000" dirty="0"/>
              <a:t>品红溶液不褪色确认</a:t>
            </a:r>
            <a:r>
              <a:rPr lang="en-US" altLang="zh-CN" sz="3000" dirty="0"/>
              <a:t>SO</a:t>
            </a:r>
            <a:r>
              <a:rPr lang="zh-CN" altLang="en-US" sz="3000" baseline="-25000" dirty="0"/>
              <a:t> </a:t>
            </a:r>
            <a:r>
              <a:rPr lang="en-US" altLang="zh-CN" sz="3000" baseline="-25000" dirty="0"/>
              <a:t>2</a:t>
            </a:r>
            <a:r>
              <a:rPr lang="zh-CN" altLang="en-US" sz="3000" dirty="0"/>
              <a:t> 已除干净</a:t>
            </a:r>
            <a:r>
              <a:rPr lang="zh-CN" altLang="en-US" sz="3000" dirty="0">
                <a:sym typeface="Wingdings" pitchFamily="2" charset="2"/>
              </a:rPr>
              <a:t>）</a:t>
            </a:r>
            <a:endParaRPr lang="en-MY" altLang="zh-CN" sz="3000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en-MY" altLang="zh-CN" sz="3000" dirty="0">
                <a:sym typeface="Wingdings" pitchFamily="2" charset="2"/>
              </a:rPr>
              <a:t>     (5)</a:t>
            </a:r>
            <a:r>
              <a:rPr lang="zh-CN" altLang="en-US" sz="3000" dirty="0"/>
              <a:t> </a:t>
            </a:r>
            <a:r>
              <a:rPr lang="en-US" altLang="zh-CN" sz="3000" dirty="0"/>
              <a:t>③</a:t>
            </a:r>
            <a:r>
              <a:rPr lang="zh-CN" altLang="en-US" sz="3000" dirty="0"/>
              <a:t>中的品红不褪色，</a:t>
            </a:r>
            <a:r>
              <a:rPr lang="en-US" altLang="zh-CN" sz="3000" dirty="0"/>
              <a:t>④</a:t>
            </a:r>
            <a:r>
              <a:rPr lang="zh-CN" altLang="en-US" sz="3000" dirty="0"/>
              <a:t>中</a:t>
            </a:r>
            <a:r>
              <a:rPr lang="zh-CN" altLang="en-US" sz="3000" dirty="0">
                <a:sym typeface="Wingdings" pitchFamily="2" charset="2"/>
              </a:rPr>
              <a:t>酸性</a:t>
            </a:r>
            <a:r>
              <a:rPr lang="en-US" altLang="zh-CN" sz="3000" dirty="0">
                <a:sym typeface="Wingdings" pitchFamily="2" charset="2"/>
              </a:rPr>
              <a:t>KMnO</a:t>
            </a:r>
            <a:r>
              <a:rPr lang="en-US" altLang="zh-CN" sz="3000" baseline="-25000" dirty="0">
                <a:sym typeface="Wingdings" pitchFamily="2" charset="2"/>
              </a:rPr>
              <a:t>4</a:t>
            </a:r>
            <a:r>
              <a:rPr lang="zh-CN" altLang="en-US" sz="3000" dirty="0">
                <a:sym typeface="Wingdings" pitchFamily="2" charset="2"/>
              </a:rPr>
              <a:t>溶液褪色</a:t>
            </a:r>
            <a:endParaRPr lang="en-US" altLang="zh-CN" sz="3000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8863263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b="1" dirty="0">
                <a:latin typeface="+mn-ea"/>
              </a:rPr>
              <a:t>28.6 </a:t>
            </a:r>
            <a:r>
              <a:rPr lang="zh-CN" altLang="en-US" b="1" dirty="0">
                <a:latin typeface="+mn-ea"/>
              </a:rPr>
              <a:t>烯烃的来源和制取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zh-CN" altLang="en-US" sz="3000" dirty="0"/>
              <a:t>裂解石油（石油裂化）</a:t>
            </a:r>
            <a:r>
              <a:rPr lang="en-US" altLang="zh-CN" sz="3000" dirty="0"/>
              <a:t>pg87</a:t>
            </a:r>
            <a:r>
              <a:rPr lang="zh-CN" altLang="en-US" sz="3000" dirty="0"/>
              <a:t>：</a:t>
            </a:r>
            <a:endParaRPr lang="en-US" altLang="zh-CN" sz="3000" dirty="0"/>
          </a:p>
          <a:p>
            <a:pPr marL="514350" indent="-514350">
              <a:buNone/>
            </a:pPr>
            <a:r>
              <a:rPr lang="en-US" altLang="zh-CN" sz="3000" dirty="0"/>
              <a:t>		</a:t>
            </a:r>
            <a:r>
              <a:rPr lang="zh-CN" altLang="en-US" sz="3000" dirty="0"/>
              <a:t>最廉价、最丰富的小分子烯烃的来源</a:t>
            </a:r>
            <a:endParaRPr lang="en-US" altLang="zh-CN" sz="3000" dirty="0"/>
          </a:p>
          <a:p>
            <a:pPr marL="514350" indent="-514350">
              <a:buNone/>
            </a:pPr>
            <a:r>
              <a:rPr lang="zh-CN" altLang="en-US" sz="3000" dirty="0"/>
              <a:t>例：</a:t>
            </a:r>
            <a:r>
              <a:rPr lang="en-US" altLang="zh-CN" sz="3000" dirty="0"/>
              <a:t>C</a:t>
            </a:r>
            <a:r>
              <a:rPr lang="en-US" altLang="zh-CN" sz="3000" baseline="-25000" dirty="0"/>
              <a:t>16</a:t>
            </a:r>
            <a:r>
              <a:rPr lang="en-US" altLang="zh-CN" sz="3000" dirty="0"/>
              <a:t> H</a:t>
            </a:r>
            <a:r>
              <a:rPr lang="en-US" altLang="zh-CN" sz="3000" baseline="-25000" dirty="0"/>
              <a:t>34</a:t>
            </a:r>
            <a:r>
              <a:rPr lang="en-US" altLang="zh-CN" sz="3000" dirty="0"/>
              <a:t> 	   C</a:t>
            </a:r>
            <a:r>
              <a:rPr lang="en-US" altLang="zh-CN" sz="3000" baseline="-25000" dirty="0"/>
              <a:t>7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16</a:t>
            </a:r>
            <a:r>
              <a:rPr lang="en-US" altLang="zh-CN" sz="3000" dirty="0"/>
              <a:t> + 3 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=CH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+ 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=CHCH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 </a:t>
            </a:r>
          </a:p>
          <a:p>
            <a:pPr marL="514350" indent="-514350">
              <a:buNone/>
            </a:pPr>
            <a:endParaRPr lang="en-US" altLang="zh-CN" sz="3000" dirty="0"/>
          </a:p>
          <a:p>
            <a:pPr marL="514350" indent="-514350">
              <a:buFont typeface="+mj-lt"/>
              <a:buAutoNum type="arabicPeriod" startAt="2"/>
            </a:pPr>
            <a:r>
              <a:rPr lang="zh-CN" altLang="en-US" sz="3000" dirty="0"/>
              <a:t>醇脱水法</a:t>
            </a:r>
            <a:endParaRPr lang="en-US" altLang="zh-CN" sz="3000" dirty="0"/>
          </a:p>
        </p:txBody>
      </p:sp>
      <p:pic>
        <p:nvPicPr>
          <p:cNvPr id="6" name="Picture 5" descr="醇脱水.jpg"/>
          <p:cNvPicPr>
            <a:picLocks noChangeAspect="1"/>
          </p:cNvPicPr>
          <p:nvPr/>
        </p:nvPicPr>
        <p:blipFill>
          <a:blip r:embed="rId3"/>
          <a:srcRect l="10000" t="44074" r="17778" b="45259"/>
          <a:stretch>
            <a:fillRect/>
          </a:stretch>
        </p:blipFill>
        <p:spPr>
          <a:xfrm>
            <a:off x="685800" y="3657600"/>
            <a:ext cx="8255000" cy="914400"/>
          </a:xfrm>
          <a:prstGeom prst="rect">
            <a:avLst/>
          </a:prstGeom>
        </p:spPr>
      </p:pic>
      <p:pic>
        <p:nvPicPr>
          <p:cNvPr id="7" name="Picture 6" descr="醇脱水.jpg"/>
          <p:cNvPicPr>
            <a:picLocks noChangeAspect="1"/>
          </p:cNvPicPr>
          <p:nvPr/>
        </p:nvPicPr>
        <p:blipFill>
          <a:blip r:embed="rId3"/>
          <a:srcRect l="10000" t="59185" r="17778" b="30148"/>
          <a:stretch>
            <a:fillRect/>
          </a:stretch>
        </p:blipFill>
        <p:spPr>
          <a:xfrm>
            <a:off x="457200" y="4800600"/>
            <a:ext cx="8255000" cy="914400"/>
          </a:xfrm>
          <a:prstGeom prst="rect">
            <a:avLst/>
          </a:prstGeom>
        </p:spPr>
      </p:pic>
      <p:grpSp>
        <p:nvGrpSpPr>
          <p:cNvPr id="8" name="Group 47"/>
          <p:cNvGrpSpPr/>
          <p:nvPr/>
        </p:nvGrpSpPr>
        <p:grpSpPr>
          <a:xfrm>
            <a:off x="2438400" y="2133600"/>
            <a:ext cx="731520" cy="307777"/>
            <a:chOff x="2819400" y="5940623"/>
            <a:chExt cx="731520" cy="307777"/>
          </a:xfrm>
        </p:grpSpPr>
        <p:cxnSp>
          <p:nvCxnSpPr>
            <p:cNvPr id="9" name="Straight Arrow Connector 8"/>
            <p:cNvCxnSpPr/>
            <p:nvPr/>
          </p:nvCxnSpPr>
          <p:spPr>
            <a:xfrm>
              <a:off x="2819400" y="6246812"/>
              <a:ext cx="73152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2895600" y="5940623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裂解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b="1" dirty="0">
                <a:latin typeface="+mn-ea"/>
              </a:rPr>
              <a:t>28.6 </a:t>
            </a:r>
            <a:r>
              <a:rPr lang="zh-CN" altLang="en-US" b="1" dirty="0">
                <a:latin typeface="+mn-ea"/>
              </a:rPr>
              <a:t>烯烃的来源和制取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zh-CN" altLang="en-US" sz="3000" dirty="0"/>
              <a:t>卤代烷脱卤化氢法</a:t>
            </a:r>
            <a:endParaRPr lang="en-US" altLang="zh-CN" sz="3000" dirty="0"/>
          </a:p>
        </p:txBody>
      </p:sp>
      <p:pic>
        <p:nvPicPr>
          <p:cNvPr id="8" name="Picture 7" descr="slide_12.jpg"/>
          <p:cNvPicPr>
            <a:picLocks noChangeAspect="1"/>
          </p:cNvPicPr>
          <p:nvPr/>
        </p:nvPicPr>
        <p:blipFill>
          <a:blip r:embed="rId3"/>
          <a:srcRect l="60000" t="38889" r="6667" b="44445"/>
          <a:stretch>
            <a:fillRect/>
          </a:stretch>
        </p:blipFill>
        <p:spPr>
          <a:xfrm>
            <a:off x="4648200" y="3048000"/>
            <a:ext cx="2904226" cy="1089085"/>
          </a:xfrm>
          <a:prstGeom prst="rect">
            <a:avLst/>
          </a:prstGeom>
        </p:spPr>
      </p:pic>
      <p:pic>
        <p:nvPicPr>
          <p:cNvPr id="9" name="Picture 8" descr="slide_12.jpg"/>
          <p:cNvPicPr>
            <a:picLocks noChangeAspect="1"/>
          </p:cNvPicPr>
          <p:nvPr/>
        </p:nvPicPr>
        <p:blipFill>
          <a:blip r:embed="rId3"/>
          <a:srcRect l="5000" t="61111" r="6667" b="6667"/>
          <a:stretch>
            <a:fillRect/>
          </a:stretch>
        </p:blipFill>
        <p:spPr>
          <a:xfrm>
            <a:off x="609600" y="4523836"/>
            <a:ext cx="7696200" cy="2105564"/>
          </a:xfrm>
          <a:prstGeom prst="rect">
            <a:avLst/>
          </a:prstGeom>
        </p:spPr>
      </p:pic>
      <p:pic>
        <p:nvPicPr>
          <p:cNvPr id="10" name="Picture 9" descr="slide_12.jpg"/>
          <p:cNvPicPr>
            <a:picLocks noChangeAspect="1"/>
          </p:cNvPicPr>
          <p:nvPr/>
        </p:nvPicPr>
        <p:blipFill>
          <a:blip r:embed="rId3"/>
          <a:srcRect l="5000" t="10000" r="40834" b="72222"/>
          <a:stretch>
            <a:fillRect/>
          </a:stretch>
        </p:blipFill>
        <p:spPr>
          <a:xfrm>
            <a:off x="76200" y="1810108"/>
            <a:ext cx="4719368" cy="1161691"/>
          </a:xfrm>
          <a:prstGeom prst="rect">
            <a:avLst/>
          </a:prstGeom>
        </p:spPr>
      </p:pic>
      <p:pic>
        <p:nvPicPr>
          <p:cNvPr id="11" name="Picture 10" descr="slide_12.jpg"/>
          <p:cNvPicPr>
            <a:picLocks noChangeAspect="1"/>
          </p:cNvPicPr>
          <p:nvPr/>
        </p:nvPicPr>
        <p:blipFill>
          <a:blip r:embed="rId3"/>
          <a:srcRect l="60000" t="10000" r="6667" b="80000"/>
          <a:stretch>
            <a:fillRect/>
          </a:stretch>
        </p:blipFill>
        <p:spPr>
          <a:xfrm>
            <a:off x="4648200" y="1937348"/>
            <a:ext cx="2904226" cy="653451"/>
          </a:xfrm>
          <a:prstGeom prst="rect">
            <a:avLst/>
          </a:prstGeom>
        </p:spPr>
      </p:pic>
      <p:pic>
        <p:nvPicPr>
          <p:cNvPr id="12" name="Picture 11" descr="slide_12.jpg"/>
          <p:cNvPicPr>
            <a:picLocks noChangeAspect="1"/>
          </p:cNvPicPr>
          <p:nvPr/>
        </p:nvPicPr>
        <p:blipFill>
          <a:blip r:embed="rId3"/>
          <a:srcRect l="5000" t="37777" r="40834" b="44445"/>
          <a:stretch>
            <a:fillRect/>
          </a:stretch>
        </p:blipFill>
        <p:spPr>
          <a:xfrm>
            <a:off x="76200" y="3181708"/>
            <a:ext cx="4719368" cy="116169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95041" y="2057400"/>
            <a:ext cx="20970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+ </a:t>
            </a:r>
            <a:r>
              <a:rPr lang="en-US" sz="2800" dirty="0" err="1"/>
              <a:t>Na</a:t>
            </a:r>
            <a:r>
              <a:rPr lang="en-US" altLang="zh-CN" sz="2800" dirty="0" err="1"/>
              <a:t>Br</a:t>
            </a:r>
            <a:r>
              <a:rPr lang="en-US" sz="2800" dirty="0"/>
              <a:t> + H</a:t>
            </a:r>
            <a:r>
              <a:rPr lang="en-US" sz="2800" baseline="-25000" dirty="0"/>
              <a:t>2</a:t>
            </a:r>
            <a:r>
              <a:rPr lang="en-US" sz="2800" dirty="0"/>
              <a:t>O</a:t>
            </a:r>
            <a:endParaRPr 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7171241" y="3515380"/>
            <a:ext cx="20970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+ </a:t>
            </a:r>
            <a:r>
              <a:rPr lang="en-US" sz="2800"/>
              <a:t>Na</a:t>
            </a:r>
            <a:r>
              <a:rPr lang="en-US" altLang="zh-CN" sz="2800"/>
              <a:t>Br</a:t>
            </a:r>
            <a:r>
              <a:rPr lang="en-US" sz="2800"/>
              <a:t> </a:t>
            </a:r>
            <a:r>
              <a:rPr lang="en-US" sz="2800" dirty="0"/>
              <a:t>+ H</a:t>
            </a:r>
            <a:r>
              <a:rPr lang="en-US" sz="2800" baseline="-25000" dirty="0"/>
              <a:t>2</a:t>
            </a:r>
            <a:r>
              <a:rPr lang="en-US" sz="2800" dirty="0"/>
              <a:t>O</a:t>
            </a:r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4191000" y="4520625"/>
            <a:ext cx="3009157" cy="58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 b="1" i="1" dirty="0">
                <a:solidFill>
                  <a:srgbClr val="002060"/>
                </a:solidFill>
                <a:sym typeface="Wingdings" pitchFamily="2" charset="2"/>
              </a:rPr>
              <a:t>欺负</a:t>
            </a:r>
            <a:r>
              <a:rPr lang="en-US" altLang="zh-CN" sz="3200" b="1" i="1" dirty="0">
                <a:solidFill>
                  <a:srgbClr val="002060"/>
                </a:solidFill>
                <a:sym typeface="Wingdings" pitchFamily="2" charset="2"/>
              </a:rPr>
              <a:t>H</a:t>
            </a:r>
            <a:r>
              <a:rPr lang="zh-CN" altLang="en-US" sz="3200" b="1" i="1" dirty="0">
                <a:solidFill>
                  <a:srgbClr val="002060"/>
                </a:solidFill>
                <a:sym typeface="Wingdings" pitchFamily="2" charset="2"/>
              </a:rPr>
              <a:t>少的规则</a:t>
            </a:r>
            <a:r>
              <a:rPr lang="en-US" altLang="zh-CN" sz="3200" b="1" i="1" dirty="0">
                <a:solidFill>
                  <a:srgbClr val="FF0000"/>
                </a:solidFill>
              </a:rPr>
              <a:t> </a:t>
            </a:r>
            <a:endParaRPr lang="en-US" sz="32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3" grpId="1"/>
      <p:bldP spid="14" grpId="0"/>
      <p:bldP spid="1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b="1" dirty="0">
                <a:latin typeface="+mn-ea"/>
              </a:rPr>
              <a:t>28.6 </a:t>
            </a:r>
            <a:r>
              <a:rPr lang="zh-CN" altLang="en-US" b="1" dirty="0">
                <a:latin typeface="+mn-ea"/>
              </a:rPr>
              <a:t>烯烃的来源和制取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zh-CN" altLang="en-US" sz="3000" dirty="0"/>
              <a:t>卤代烷脱卤化氢法</a:t>
            </a:r>
            <a:endParaRPr lang="en-MY" altLang="zh-CN" sz="3000" dirty="0"/>
          </a:p>
          <a:p>
            <a:pPr marL="0" indent="0">
              <a:buNone/>
            </a:pPr>
            <a:r>
              <a:rPr lang="zh-CN" altLang="en-US" sz="3000" dirty="0"/>
              <a:t>消去反应： 在一定条件下从一个有机分子中脱去一个或几个小分子，生成不饱和化合物的反应。</a:t>
            </a:r>
            <a:endParaRPr lang="en-MY" altLang="zh-CN" sz="3000" dirty="0"/>
          </a:p>
          <a:p>
            <a:pPr marL="0" indent="0">
              <a:buNone/>
            </a:pPr>
            <a:r>
              <a:rPr lang="el-GR" altLang="zh-CN" sz="3000" dirty="0"/>
              <a:t>β</a:t>
            </a:r>
            <a:r>
              <a:rPr lang="en-US" altLang="zh-CN" sz="3000" dirty="0"/>
              <a:t>-</a:t>
            </a:r>
            <a:r>
              <a:rPr lang="zh-CN" altLang="en-US" sz="3000" dirty="0"/>
              <a:t>消去（</a:t>
            </a:r>
            <a:r>
              <a:rPr lang="en-US" altLang="zh-CN" sz="3000" dirty="0"/>
              <a:t>1,2-</a:t>
            </a:r>
            <a:r>
              <a:rPr lang="zh-CN" altLang="en-US" sz="3000" dirty="0"/>
              <a:t>消去）：脱卤化氢反应中</a:t>
            </a:r>
            <a:r>
              <a:rPr lang="en-US" altLang="zh-CN" sz="3000" dirty="0"/>
              <a:t>H</a:t>
            </a:r>
            <a:r>
              <a:rPr lang="zh-CN" altLang="en-US" sz="3000" dirty="0"/>
              <a:t>从</a:t>
            </a:r>
            <a:r>
              <a:rPr lang="el-GR" altLang="zh-CN" sz="3000" dirty="0"/>
              <a:t>β</a:t>
            </a:r>
            <a:r>
              <a:rPr lang="zh-CN" altLang="en-US" sz="3000" dirty="0"/>
              <a:t>碳原子上脱去的反应。</a:t>
            </a:r>
            <a:endParaRPr lang="en-MY" altLang="zh-CN" sz="3000" dirty="0"/>
          </a:p>
          <a:p>
            <a:pPr marL="0" indent="0">
              <a:buNone/>
            </a:pPr>
            <a:r>
              <a:rPr lang="zh-CN" altLang="en-US" sz="3000" dirty="0"/>
              <a:t>何谓</a:t>
            </a:r>
            <a:r>
              <a:rPr lang="el-GR" altLang="zh-CN" sz="3000" dirty="0"/>
              <a:t>α</a:t>
            </a:r>
            <a:r>
              <a:rPr lang="zh-CN" altLang="en-US" sz="3000" dirty="0"/>
              <a:t>碳原子、</a:t>
            </a:r>
            <a:r>
              <a:rPr lang="el-GR" altLang="zh-CN" sz="3000" dirty="0"/>
              <a:t>β</a:t>
            </a:r>
            <a:r>
              <a:rPr lang="zh-CN" altLang="en-US" sz="3000" dirty="0"/>
              <a:t>碳原子、</a:t>
            </a:r>
            <a:r>
              <a:rPr lang="el-GR" altLang="zh-CN" sz="3000" dirty="0"/>
              <a:t>γ</a:t>
            </a:r>
            <a:r>
              <a:rPr lang="zh-CN" altLang="en-US" sz="3000" dirty="0"/>
              <a:t>碳原子、</a:t>
            </a:r>
            <a:r>
              <a:rPr lang="el-GR" altLang="zh-CN" sz="3000" dirty="0"/>
              <a:t> α</a:t>
            </a:r>
            <a:r>
              <a:rPr lang="zh-CN" altLang="en-US" sz="3000" dirty="0"/>
              <a:t>氢、</a:t>
            </a:r>
            <a:r>
              <a:rPr lang="el-GR" altLang="zh-CN" sz="3000" dirty="0"/>
              <a:t>β</a:t>
            </a:r>
            <a:r>
              <a:rPr lang="zh-CN" altLang="en-US" sz="3000" dirty="0"/>
              <a:t>氢等？</a:t>
            </a:r>
            <a:endParaRPr lang="en-US" altLang="zh-CN" sz="3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C09E15-E5A4-458D-941A-A6AB41A824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588" y="4342228"/>
            <a:ext cx="3732811" cy="1752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58FC7D4-F618-46FB-9AB2-4B048A228D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603" y="4305300"/>
            <a:ext cx="2958523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5789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b="1" dirty="0">
                <a:latin typeface="+mn-ea"/>
              </a:rPr>
              <a:t>28.6 </a:t>
            </a:r>
            <a:r>
              <a:rPr lang="zh-CN" altLang="en-US" b="1" dirty="0">
                <a:latin typeface="+mn-ea"/>
              </a:rPr>
              <a:t>烯烃的来源和制取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3000" dirty="0"/>
              <a:t>乙烯</a:t>
            </a:r>
            <a:endParaRPr lang="en-MY" altLang="zh-CN" sz="3000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3000" dirty="0"/>
              <a:t>石油工业重要基础原料</a:t>
            </a:r>
            <a:endParaRPr lang="en-MY" altLang="zh-CN" sz="3000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3000" dirty="0"/>
              <a:t>植物生长的调节剂</a:t>
            </a:r>
            <a:endParaRPr lang="en-MY" altLang="zh-CN" sz="3000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3000" dirty="0"/>
              <a:t>可作为水果催熟剂</a:t>
            </a:r>
            <a:endParaRPr lang="en-MY" altLang="zh-CN" sz="3000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3000" dirty="0"/>
              <a:t>延长果实花朵成熟期，用</a:t>
            </a:r>
            <a:r>
              <a:rPr lang="en-US" altLang="zh-CN" sz="3000" dirty="0"/>
              <a:t>KMnO</a:t>
            </a:r>
            <a:r>
              <a:rPr lang="en-US" altLang="zh-CN" sz="3000" baseline="-25000" dirty="0"/>
              <a:t>4</a:t>
            </a:r>
            <a:r>
              <a:rPr lang="zh-CN" altLang="en-US" sz="3000" dirty="0"/>
              <a:t>吸收乙烯</a:t>
            </a: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15532014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b="1" dirty="0">
                <a:latin typeface="+mn-ea"/>
              </a:rPr>
              <a:t>思考题</a:t>
            </a:r>
            <a:r>
              <a:rPr lang="en-US" altLang="zh-CN" b="1" dirty="0">
                <a:latin typeface="+mn-ea"/>
              </a:rPr>
              <a:t> 28f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zh-CN" sz="3000" dirty="0"/>
              <a:t>B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zh-CN" sz="3000" dirty="0"/>
              <a:t>D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（1）使乙烯转化为乙醇而无催熟作用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MY" altLang="zh-CN" sz="3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MY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（2）CH</a:t>
            </a:r>
            <a:r>
              <a:rPr lang="en-US" altLang="en-US" sz="3000" baseline="-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＝CH</a:t>
            </a:r>
            <a:r>
              <a:rPr lang="en-US" altLang="en-US" sz="3000" baseline="-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＋H</a:t>
            </a:r>
            <a:r>
              <a:rPr lang="en-US" altLang="en-US" sz="3000" baseline="-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2 </a:t>
            </a:r>
            <a:r>
              <a:rPr lang="en-US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           CH</a:t>
            </a:r>
            <a:r>
              <a:rPr lang="en-US" altLang="en-US" sz="3000" baseline="-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altLang="en-US" sz="3000" baseline="-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altLang="zh-CN" sz="3000" dirty="0"/>
          </a:p>
          <a:p>
            <a:pPr marL="514350" indent="-514350">
              <a:buAutoNum type="arabicPeriod"/>
            </a:pPr>
            <a:endParaRPr lang="en-US" altLang="zh-CN" sz="30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5734D81-0320-4150-B652-12AE439FF0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-22225"/>
            <a:ext cx="371475" cy="1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47">
            <a:extLst>
              <a:ext uri="{FF2B5EF4-FFF2-40B4-BE49-F238E27FC236}">
                <a16:creationId xmlns:a16="http://schemas.microsoft.com/office/drawing/2014/main" id="{BE03833D-9850-439A-A036-9963D0841BC0}"/>
              </a:ext>
            </a:extLst>
          </p:cNvPr>
          <p:cNvGrpSpPr/>
          <p:nvPr/>
        </p:nvGrpSpPr>
        <p:grpSpPr>
          <a:xfrm>
            <a:off x="4724400" y="3275110"/>
            <a:ext cx="731520" cy="307777"/>
            <a:chOff x="2819400" y="5940623"/>
            <a:chExt cx="731520" cy="307777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69B711A4-0D4C-4DBA-A7CB-3F220BDA9916}"/>
                </a:ext>
              </a:extLst>
            </p:cNvPr>
            <p:cNvCxnSpPr/>
            <p:nvPr/>
          </p:nvCxnSpPr>
          <p:spPr>
            <a:xfrm>
              <a:off x="2819400" y="6246812"/>
              <a:ext cx="73152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7114B8F-8AAE-4857-8E2C-B1AA4D820C1E}"/>
                </a:ext>
              </a:extLst>
            </p:cNvPr>
            <p:cNvSpPr txBox="1"/>
            <p:nvPr/>
          </p:nvSpPr>
          <p:spPr>
            <a:xfrm>
              <a:off x="2895600" y="5940623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裂解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271672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b="1" dirty="0">
                <a:latin typeface="+mn-ea"/>
              </a:rPr>
              <a:t>补充练习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1200"/>
              </a:spcBef>
              <a:buAutoNum type="arabicPeriod"/>
            </a:pPr>
            <a:r>
              <a:rPr lang="zh-CN" altLang="en-US" sz="2800"/>
              <a:t>乙</a:t>
            </a:r>
            <a:r>
              <a:rPr lang="zh-CN" altLang="en-US" sz="2800" dirty="0"/>
              <a:t>烷</a:t>
            </a:r>
            <a:r>
              <a:rPr lang="en-US" altLang="zh-CN" sz="2800" dirty="0">
                <a:sym typeface="Wingdings" pitchFamily="2" charset="2"/>
              </a:rPr>
              <a:t>1,2-</a:t>
            </a:r>
            <a:r>
              <a:rPr lang="zh-CN" altLang="en-US" sz="2800" dirty="0">
                <a:sym typeface="Wingdings" pitchFamily="2" charset="2"/>
              </a:rPr>
              <a:t>乙二醇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spcBef>
                <a:spcPts val="1200"/>
              </a:spcBef>
              <a:buAutoNum type="arabicPeriod"/>
            </a:pPr>
            <a:r>
              <a:rPr lang="en-US" altLang="zh-CN" sz="2800" dirty="0">
                <a:sym typeface="Wingdings" pitchFamily="2" charset="2"/>
              </a:rPr>
              <a:t>2-</a:t>
            </a:r>
            <a:r>
              <a:rPr lang="zh-CN" altLang="en-US" sz="2800" dirty="0">
                <a:sym typeface="Wingdings" pitchFamily="2" charset="2"/>
              </a:rPr>
              <a:t>氯丙烷</a:t>
            </a:r>
            <a:r>
              <a:rPr lang="en-US" altLang="zh-CN" sz="2800" dirty="0">
                <a:sym typeface="Wingdings" pitchFamily="2" charset="2"/>
              </a:rPr>
              <a:t>2-</a:t>
            </a:r>
            <a:r>
              <a:rPr lang="zh-CN" altLang="en-US" sz="2800" dirty="0">
                <a:sym typeface="Wingdings" pitchFamily="2" charset="2"/>
              </a:rPr>
              <a:t>丙醇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spcBef>
                <a:spcPts val="1200"/>
              </a:spcBef>
              <a:buAutoNum type="arabicPeriod"/>
            </a:pPr>
            <a:r>
              <a:rPr lang="en-US" altLang="zh-CN" sz="2800" dirty="0">
                <a:sym typeface="Wingdings" pitchFamily="2" charset="2"/>
              </a:rPr>
              <a:t>2-</a:t>
            </a:r>
            <a:r>
              <a:rPr lang="zh-CN" altLang="en-US" sz="2800" dirty="0">
                <a:sym typeface="Wingdings" pitchFamily="2" charset="2"/>
              </a:rPr>
              <a:t>丁醇</a:t>
            </a:r>
            <a:r>
              <a:rPr lang="en-US" altLang="zh-CN" sz="2800" dirty="0">
                <a:sym typeface="Wingdings" pitchFamily="2" charset="2"/>
              </a:rPr>
              <a:t></a:t>
            </a:r>
            <a:r>
              <a:rPr lang="zh-CN" altLang="en-US" sz="2800" dirty="0">
                <a:sym typeface="Wingdings" pitchFamily="2" charset="2"/>
              </a:rPr>
              <a:t>丁烷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2800" dirty="0">
                <a:sym typeface="Wingdings" pitchFamily="2" charset="2"/>
              </a:rPr>
              <a:t>4. 1-</a:t>
            </a:r>
            <a:r>
              <a:rPr lang="zh-CN" altLang="en-US" sz="2800" dirty="0">
                <a:sym typeface="Wingdings" pitchFamily="2" charset="2"/>
              </a:rPr>
              <a:t>溴丙烷</a:t>
            </a:r>
            <a:r>
              <a:rPr lang="en-US" altLang="zh-CN" sz="2800" dirty="0">
                <a:sym typeface="Wingdings" pitchFamily="2" charset="2"/>
              </a:rPr>
              <a:t>2-</a:t>
            </a:r>
            <a:r>
              <a:rPr lang="zh-CN" altLang="en-US" sz="2800" dirty="0">
                <a:sym typeface="Wingdings" pitchFamily="2" charset="2"/>
              </a:rPr>
              <a:t>溴丙烷</a:t>
            </a:r>
            <a:r>
              <a:rPr lang="en-US" altLang="zh-CN" sz="2800" dirty="0">
                <a:sym typeface="Wingdings" pitchFamily="2" charset="2"/>
              </a:rPr>
              <a:t>2,2-</a:t>
            </a:r>
            <a:r>
              <a:rPr lang="zh-CN" altLang="en-US" sz="2800" dirty="0">
                <a:sym typeface="Wingdings" pitchFamily="2" charset="2"/>
              </a:rPr>
              <a:t>二溴丙烷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zh-CN" altLang="en-US" sz="2800" dirty="0">
                <a:sym typeface="Wingdings" pitchFamily="2" charset="2"/>
              </a:rPr>
              <a:t>答案提示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spcBef>
                <a:spcPts val="1200"/>
              </a:spcBef>
              <a:buNone/>
            </a:pPr>
            <a:r>
              <a:rPr lang="en-US" altLang="zh-CN" sz="2800" dirty="0">
                <a:sym typeface="Wingdings" pitchFamily="2" charset="2"/>
              </a:rPr>
              <a:t>1. </a:t>
            </a:r>
            <a:r>
              <a:rPr lang="zh-CN" altLang="en-US" sz="2800" dirty="0">
                <a:sym typeface="Wingdings" pitchFamily="2" charset="2"/>
              </a:rPr>
              <a:t>乙烷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zh-CN" altLang="en-US" sz="2800" dirty="0">
                <a:sym typeface="Wingdings" pitchFamily="2" charset="2"/>
              </a:rPr>
              <a:t>氯乙烷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zh-CN" altLang="en-US" sz="2800" dirty="0">
                <a:sym typeface="Wingdings" pitchFamily="2" charset="2"/>
              </a:rPr>
              <a:t>乙烯</a:t>
            </a:r>
            <a:r>
              <a:rPr lang="en-US" altLang="zh-CN" sz="2800" dirty="0">
                <a:sym typeface="Wingdings" pitchFamily="2" charset="2"/>
              </a:rPr>
              <a:t> 1,2-</a:t>
            </a:r>
            <a:r>
              <a:rPr lang="zh-CN" altLang="en-US" sz="2800" dirty="0">
                <a:sym typeface="Wingdings" pitchFamily="2" charset="2"/>
              </a:rPr>
              <a:t>乙二醇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spcBef>
                <a:spcPts val="1200"/>
              </a:spcBef>
              <a:buNone/>
            </a:pPr>
            <a:r>
              <a:rPr lang="en-US" altLang="zh-CN" sz="2800" dirty="0">
                <a:sym typeface="Wingdings" pitchFamily="2" charset="2"/>
              </a:rPr>
              <a:t>2. 2-</a:t>
            </a:r>
            <a:r>
              <a:rPr lang="zh-CN" altLang="en-US" sz="2800" dirty="0">
                <a:sym typeface="Wingdings" pitchFamily="2" charset="2"/>
              </a:rPr>
              <a:t>氯丙烷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zh-CN" altLang="en-US" sz="2800" dirty="0">
                <a:sym typeface="Wingdings" pitchFamily="2" charset="2"/>
              </a:rPr>
              <a:t>丙烯</a:t>
            </a:r>
            <a:r>
              <a:rPr lang="en-US" altLang="zh-CN" sz="2800" dirty="0">
                <a:sym typeface="Wingdings" pitchFamily="2" charset="2"/>
              </a:rPr>
              <a:t>2-</a:t>
            </a:r>
            <a:r>
              <a:rPr lang="zh-CN" altLang="en-US" sz="2800" dirty="0">
                <a:sym typeface="Wingdings" pitchFamily="2" charset="2"/>
              </a:rPr>
              <a:t>丙醇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spcBef>
                <a:spcPts val="1200"/>
              </a:spcBef>
              <a:buNone/>
            </a:pPr>
            <a:r>
              <a:rPr lang="en-US" altLang="zh-CN" sz="2800" dirty="0">
                <a:sym typeface="Wingdings" pitchFamily="2" charset="2"/>
              </a:rPr>
              <a:t>3. 2-</a:t>
            </a:r>
            <a:r>
              <a:rPr lang="zh-CN" altLang="en-US" sz="2800" dirty="0">
                <a:sym typeface="Wingdings" pitchFamily="2" charset="2"/>
              </a:rPr>
              <a:t>丁醇</a:t>
            </a:r>
            <a:r>
              <a:rPr lang="en-US" altLang="zh-CN" sz="2800" dirty="0">
                <a:sym typeface="Wingdings" pitchFamily="2" charset="2"/>
              </a:rPr>
              <a:t>2-</a:t>
            </a:r>
            <a:r>
              <a:rPr lang="zh-CN" altLang="en-US" sz="2800" dirty="0">
                <a:sym typeface="Wingdings" pitchFamily="2" charset="2"/>
              </a:rPr>
              <a:t>丁烯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zh-CN" altLang="en-US" sz="2800" dirty="0">
                <a:sym typeface="Wingdings" pitchFamily="2" charset="2"/>
              </a:rPr>
              <a:t>丁烷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spcBef>
                <a:spcPts val="1200"/>
              </a:spcBef>
              <a:buNone/>
            </a:pPr>
            <a:r>
              <a:rPr lang="en-US" altLang="zh-CN" sz="2800" dirty="0">
                <a:sym typeface="Wingdings" pitchFamily="2" charset="2"/>
              </a:rPr>
              <a:t>4. 1-</a:t>
            </a:r>
            <a:r>
              <a:rPr lang="zh-CN" altLang="en-US" sz="2800" dirty="0">
                <a:sym typeface="Wingdings" pitchFamily="2" charset="2"/>
              </a:rPr>
              <a:t>溴丙烷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zh-CN" altLang="en-US" sz="2800" dirty="0">
                <a:sym typeface="Wingdings" pitchFamily="2" charset="2"/>
              </a:rPr>
              <a:t>丙烯</a:t>
            </a:r>
            <a:r>
              <a:rPr lang="en-US" altLang="zh-CN" sz="2800" dirty="0">
                <a:sym typeface="Wingdings" pitchFamily="2" charset="2"/>
              </a:rPr>
              <a:t>2-</a:t>
            </a:r>
            <a:r>
              <a:rPr lang="zh-CN" altLang="en-US" sz="2800" dirty="0">
                <a:sym typeface="Wingdings" pitchFamily="2" charset="2"/>
              </a:rPr>
              <a:t>溴丙烷</a:t>
            </a:r>
            <a:r>
              <a:rPr lang="en-US" altLang="zh-CN" sz="2800" dirty="0">
                <a:sym typeface="Wingdings" pitchFamily="2" charset="2"/>
              </a:rPr>
              <a:t>2,2-</a:t>
            </a:r>
            <a:r>
              <a:rPr lang="zh-CN" altLang="en-US" sz="2800" dirty="0">
                <a:sym typeface="Wingdings" pitchFamily="2" charset="2"/>
              </a:rPr>
              <a:t>二溴丙烷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None/>
            </a:pP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dirty="0"/>
              <a:t>选择题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en-US" altLang="zh-CN" sz="3000" dirty="0"/>
              <a:t>D</a:t>
            </a:r>
          </a:p>
          <a:p>
            <a:pPr marL="0" indent="0">
              <a:buNone/>
            </a:pPr>
            <a:r>
              <a:rPr lang="en-US" altLang="zh-CN" sz="3000" dirty="0"/>
              <a:t>A </a:t>
            </a:r>
            <a:r>
              <a:rPr lang="zh-CN" altLang="en-US" sz="3000" dirty="0"/>
              <a:t>为球棍模型</a:t>
            </a:r>
            <a:endParaRPr lang="en-MY" altLang="zh-CN" sz="3000" dirty="0"/>
          </a:p>
          <a:p>
            <a:pPr marL="0" indent="0">
              <a:buNone/>
            </a:pPr>
            <a:r>
              <a:rPr lang="en-US" altLang="zh-CN" sz="3000" dirty="0"/>
              <a:t>B Na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S</a:t>
            </a:r>
            <a:r>
              <a:rPr lang="zh-CN" altLang="en-US" sz="3000" dirty="0"/>
              <a:t>离子化合物</a:t>
            </a:r>
            <a:endParaRPr lang="en-MY" altLang="zh-CN" sz="3000" dirty="0"/>
          </a:p>
          <a:p>
            <a:pPr marL="0" indent="0">
              <a:buNone/>
            </a:pPr>
            <a:r>
              <a:rPr lang="en-US" altLang="zh-CN" sz="3000" dirty="0"/>
              <a:t>C </a:t>
            </a:r>
            <a:r>
              <a:rPr lang="en-US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altLang="en-US" sz="3000" baseline="-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＝CH</a:t>
            </a:r>
            <a:r>
              <a:rPr lang="en-US" altLang="en-US" sz="3000" baseline="-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marL="0" indent="0">
              <a:buNone/>
            </a:pPr>
            <a:endParaRPr lang="en-US" altLang="en-US" sz="3000" baseline="-30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3000" baseline="-30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3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</a:t>
            </a:r>
          </a:p>
          <a:p>
            <a:pPr marL="0" indent="0">
              <a:buNone/>
            </a:pPr>
            <a:endParaRPr lang="en-US" altLang="en-US" sz="3000" baseline="-30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3000" baseline="-30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3000" baseline="-30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3000" baseline="-30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3000" dirty="0"/>
          </a:p>
          <a:p>
            <a:pPr marL="0" indent="0">
              <a:buNone/>
            </a:pPr>
            <a:endParaRPr lang="en-US" altLang="zh-CN" sz="3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A1282F-EF3E-41A8-AD1A-8E6AB0325F8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72" t="20086" r="3400" b="15505"/>
          <a:stretch/>
        </p:blipFill>
        <p:spPr>
          <a:xfrm>
            <a:off x="3429000" y="977969"/>
            <a:ext cx="5574323" cy="351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6237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dirty="0"/>
              <a:t>选择题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686800" cy="5867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A </a:t>
            </a:r>
          </a:p>
          <a:p>
            <a:pPr marL="0" indent="0">
              <a:buNone/>
            </a:pP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主链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个碳原子：</a:t>
            </a:r>
            <a:endParaRPr lang="en-MY" altLang="zh-CN" sz="3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丁烯</a:t>
            </a:r>
            <a:r>
              <a:rPr lang="en-MY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(1-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丁烯，顺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反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-2-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丁烯</a:t>
            </a:r>
            <a:r>
              <a:rPr lang="en-MY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含一个甲基的丁烯</a:t>
            </a:r>
            <a:r>
              <a:rPr lang="en-MY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dirty="0"/>
              <a:t>2-</a:t>
            </a:r>
            <a:r>
              <a:rPr lang="zh-CN" altLang="en-US" sz="3000" dirty="0"/>
              <a:t>甲基</a:t>
            </a:r>
            <a:r>
              <a:rPr lang="en-US" altLang="zh-CN" sz="3000" dirty="0"/>
              <a:t>-1-</a:t>
            </a:r>
            <a:r>
              <a:rPr lang="zh-CN" altLang="en-US" sz="3000" dirty="0"/>
              <a:t>丁烯、</a:t>
            </a:r>
            <a:r>
              <a:rPr lang="en-US" altLang="zh-CN" sz="3000" dirty="0"/>
              <a:t> 3-</a:t>
            </a:r>
            <a:r>
              <a:rPr lang="zh-CN" altLang="en-US" sz="3000" dirty="0"/>
              <a:t>甲基</a:t>
            </a:r>
            <a:r>
              <a:rPr lang="en-US" altLang="zh-CN" sz="3000" dirty="0"/>
              <a:t>-1-</a:t>
            </a:r>
            <a:r>
              <a:rPr lang="zh-CN" altLang="en-US" sz="3000" dirty="0"/>
              <a:t>丁烯、</a:t>
            </a:r>
            <a:r>
              <a:rPr lang="en-US" altLang="zh-CN" sz="3000" dirty="0"/>
              <a:t> 2-</a:t>
            </a:r>
            <a:r>
              <a:rPr lang="zh-CN" altLang="en-US" sz="3000" dirty="0"/>
              <a:t>甲基</a:t>
            </a:r>
            <a:r>
              <a:rPr lang="en-US" altLang="zh-CN" sz="3000" dirty="0"/>
              <a:t>-2-</a:t>
            </a:r>
            <a:r>
              <a:rPr lang="zh-CN" altLang="en-US" sz="3000" dirty="0"/>
              <a:t>丁烯</a:t>
            </a:r>
            <a:r>
              <a:rPr lang="en-MY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含两个甲基的丁烯</a:t>
            </a:r>
            <a:r>
              <a:rPr lang="en-MY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MY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,3-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二甲基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-2-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丁烯，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en-MY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,3-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二甲基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-1-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丁烯，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en-MY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乙基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-1-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丁烯，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en-MY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,3-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二甲基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-1-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丁烯</a:t>
            </a:r>
            <a:r>
              <a:rPr lang="en-MY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因此此单烯烃的碳总数为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MY" altLang="zh-CN" sz="3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碳数为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、主链为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个碳原子的烷烃有：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MY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,3-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二甲基丁烷，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en-MY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MY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二甲基丁烷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 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en-US" sz="3000" baseline="-30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3000" baseline="-30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3000" baseline="-30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3000" baseline="-30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3000" dirty="0"/>
          </a:p>
          <a:p>
            <a:pPr marL="0" indent="0"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32495524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dirty="0"/>
              <a:t>选择题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686800" cy="5867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A 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丁烯，环丁烷</a:t>
            </a:r>
            <a:endParaRPr lang="en-MY" altLang="zh-CN" sz="3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MY" altLang="zh-CN" sz="3000" baseline="-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MY" dirty="0"/>
              <a:t>SiO</a:t>
            </a:r>
            <a:r>
              <a:rPr lang="en-MY" baseline="-25000" dirty="0"/>
              <a:t>2</a:t>
            </a:r>
            <a:r>
              <a:rPr lang="zh-CN" altLang="en-US" dirty="0"/>
              <a:t>晶体有多种晶型</a:t>
            </a:r>
            <a:endParaRPr lang="en-MY" altLang="zh-CN" dirty="0"/>
          </a:p>
          <a:p>
            <a:pPr marL="0" indent="0">
              <a:buNone/>
            </a:pPr>
            <a:r>
              <a:rPr lang="en-MY" altLang="zh-CN" sz="3000" baseline="-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MY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红磷、白磷、黑磷、紫磷</a:t>
            </a:r>
            <a:endParaRPr lang="en-MY" altLang="zh-CN" sz="3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Ans: B</a:t>
            </a:r>
          </a:p>
          <a:p>
            <a:pPr marL="0" indent="0">
              <a:buNone/>
            </a:pPr>
            <a:endParaRPr lang="en-US" altLang="zh-CN" sz="3000" baseline="-30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altLang="zh-CN" sz="3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endParaRPr lang="en-US" altLang="zh-CN" sz="3000" baseline="-30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A </a:t>
            </a:r>
          </a:p>
          <a:p>
            <a:pPr marL="0" indent="0">
              <a:buNone/>
            </a:pP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 3</a:t>
            </a:r>
            <a:r>
              <a:rPr lang="en-MY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,3-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二甲基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-1-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丁烯</a:t>
            </a:r>
            <a:endParaRPr lang="en-MY" altLang="zh-CN" sz="3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4</a:t>
            </a:r>
            <a:r>
              <a:rPr lang="en-MY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甲基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-2-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戊烯</a:t>
            </a:r>
            <a:endParaRPr lang="en-MY" altLang="zh-CN" sz="3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2</a:t>
            </a:r>
            <a:r>
              <a:rPr lang="en-MY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甲基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-1-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丁烯</a:t>
            </a:r>
            <a:endParaRPr lang="en-MY" altLang="zh-CN" sz="3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3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24541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dirty="0"/>
              <a:t>选择题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686800" cy="5867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乙烯实验式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altLang="zh-CN" sz="30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 CH</a:t>
            </a:r>
            <a:r>
              <a:rPr lang="en-US" altLang="zh-CN" sz="30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CH</a:t>
            </a:r>
            <a:r>
              <a:rPr lang="en-US" altLang="zh-CN" sz="30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含碳量较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altLang="zh-CN" sz="30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低</a:t>
            </a:r>
            <a:endParaRPr lang="en-MY" altLang="zh-CN" sz="3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CH</a:t>
            </a:r>
            <a:r>
              <a:rPr lang="en-MY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altLang="zh-CN" sz="30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含碳量较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altLang="zh-CN" sz="30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高</a:t>
            </a:r>
            <a:endParaRPr lang="en-MY" altLang="zh-CN" sz="3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都是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altLang="zh-CN" sz="30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含碳量与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altLang="zh-CN" sz="30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一样</a:t>
            </a:r>
            <a:endParaRPr lang="en-MY" altLang="zh-CN" sz="3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都是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含碳量较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altLang="zh-CN" sz="30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高</a:t>
            </a:r>
            <a:endParaRPr lang="en-MY" altLang="zh-CN" sz="3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3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C 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烯烃与卤化氢气体反应不是与其水溶液反应</a:t>
            </a:r>
            <a:endParaRPr lang="en-MY" altLang="zh-CN" sz="3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反应较慢</a:t>
            </a:r>
            <a:r>
              <a:rPr lang="en-MY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生成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二氯乙烷</a:t>
            </a:r>
            <a:endParaRPr lang="en-MY" altLang="zh-CN" sz="3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3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42092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dirty="0"/>
              <a:t>选择题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686800" cy="5867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 	C</a:t>
            </a:r>
            <a:r>
              <a:rPr lang="en-US" altLang="zh-CN" sz="30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30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 3 O</a:t>
            </a:r>
            <a:r>
              <a:rPr lang="en-US" altLang="zh-CN" sz="30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 2  CO</a:t>
            </a:r>
            <a:r>
              <a:rPr lang="en-US" altLang="zh-CN" sz="30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2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+  2  H</a:t>
            </a:r>
            <a:r>
              <a:rPr lang="en-US" altLang="zh-CN" sz="30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2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 </a:t>
            </a:r>
          </a:p>
          <a:p>
            <a:pPr marL="0" indent="0">
              <a:buNone/>
            </a:pP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	 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altLang="zh-CN" sz="30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  2 O</a:t>
            </a:r>
            <a:r>
              <a:rPr lang="en-US" altLang="zh-CN" sz="30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CO</a:t>
            </a:r>
            <a:r>
              <a:rPr lang="en-US" altLang="zh-CN" sz="30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2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+ 2H</a:t>
            </a:r>
            <a:r>
              <a:rPr lang="en-US" altLang="zh-CN" sz="30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2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 </a:t>
            </a:r>
          </a:p>
          <a:p>
            <a:pPr marL="0" indent="0">
              <a:buNone/>
            </a:pP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共消耗氧气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8L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，生成的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CO</a:t>
            </a:r>
            <a:r>
              <a:rPr lang="en-US" altLang="zh-CN" sz="30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2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与水共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11L </a:t>
            </a:r>
          </a:p>
          <a:p>
            <a:pPr marL="0" indent="0">
              <a:buNone/>
            </a:pP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反应后混合气体体积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=20L-8L +11L </a:t>
            </a:r>
          </a:p>
          <a:p>
            <a:pPr marL="0" indent="0">
              <a:buNone/>
            </a:pP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Ans: B</a:t>
            </a:r>
          </a:p>
          <a:p>
            <a:pPr marL="0" indent="0">
              <a:buNone/>
            </a:pP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10. C </a:t>
            </a:r>
          </a:p>
          <a:p>
            <a:pPr marL="0" indent="0">
              <a:buNone/>
            </a:pP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溴水增加的质量</a:t>
            </a:r>
            <a:r>
              <a:rPr lang="en-MY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=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烯烃的质量，烯烃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8</a:t>
            </a:r>
            <a:r>
              <a:rPr lang="en-MY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.4g,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烷烃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1.6g</a:t>
            </a:r>
          </a:p>
          <a:p>
            <a:pPr marL="0" indent="0">
              <a:buNone/>
            </a:pP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若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，甲烷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0.1mol,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丙烯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0.2mol  16x1/3 + 42x2/3 ≠ 25 </a:t>
            </a:r>
          </a:p>
          <a:p>
            <a:pPr marL="0" indent="0">
              <a:buNone/>
            </a:pP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甲烷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0.1mol,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乙烯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0.3mol 16x1/4 + 28x3/4 =25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70BB22-83F0-47EA-868F-C17AA4C8ACDE}"/>
              </a:ext>
            </a:extLst>
          </p:cNvPr>
          <p:cNvSpPr txBox="1"/>
          <p:nvPr/>
        </p:nvSpPr>
        <p:spPr>
          <a:xfrm>
            <a:off x="914400" y="838200"/>
            <a:ext cx="36740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MY" sz="2800" dirty="0">
                <a:solidFill>
                  <a:srgbClr val="002060"/>
                </a:solidFill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FC1B05-772F-4F67-9C12-9E98FD517274}"/>
              </a:ext>
            </a:extLst>
          </p:cNvPr>
          <p:cNvSpPr txBox="1"/>
          <p:nvPr/>
        </p:nvSpPr>
        <p:spPr>
          <a:xfrm>
            <a:off x="2451992" y="838200"/>
            <a:ext cx="36740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MY" sz="2800" dirty="0">
                <a:solidFill>
                  <a:srgbClr val="002060"/>
                </a:solidFill>
              </a:rPr>
              <a:t>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A4D21B-0708-4D49-AE9F-0EAB89982B48}"/>
              </a:ext>
            </a:extLst>
          </p:cNvPr>
          <p:cNvSpPr txBox="1"/>
          <p:nvPr/>
        </p:nvSpPr>
        <p:spPr>
          <a:xfrm>
            <a:off x="3899792" y="838200"/>
            <a:ext cx="36740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MY" sz="2800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B4EB86-9DD4-4AD4-AFA1-A497C582F903}"/>
              </a:ext>
            </a:extLst>
          </p:cNvPr>
          <p:cNvSpPr txBox="1"/>
          <p:nvPr/>
        </p:nvSpPr>
        <p:spPr>
          <a:xfrm>
            <a:off x="5257800" y="838200"/>
            <a:ext cx="36740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MY" sz="2800" dirty="0">
                <a:solidFill>
                  <a:srgbClr val="00206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6782556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6" grpId="0" animBg="1"/>
      <p:bldP spid="7" grpId="0" animBg="1"/>
      <p:bldP spid="8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dirty="0"/>
              <a:t>选择题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686800" cy="5867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MY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11. B </a:t>
            </a:r>
          </a:p>
          <a:p>
            <a:pPr marL="0" indent="0">
              <a:buNone/>
            </a:pPr>
            <a:r>
              <a:rPr lang="en-MY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12. D 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乙烯式量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，空气平均分子质量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=29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，太接近</a:t>
            </a:r>
            <a:endParaRPr lang="en-MY" altLang="zh-CN" sz="3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13. 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此气态烃只能与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1mol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氯气发生加成反应，</a:t>
            </a:r>
            <a:endParaRPr lang="en-MY" altLang="zh-CN" sz="3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MY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即单烯烃</a:t>
            </a:r>
            <a:endParaRPr lang="en-MY" altLang="zh-CN" sz="3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MY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反应后的氯代烷与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4mol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氯气发生完全取代，</a:t>
            </a:r>
            <a:endParaRPr lang="en-MY" altLang="zh-CN" sz="3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MY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即含有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原子</a:t>
            </a:r>
            <a:endParaRPr lang="en-MY" altLang="zh-CN" sz="3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Ans: A </a:t>
            </a:r>
          </a:p>
          <a:p>
            <a:pPr marL="0" indent="0">
              <a:buNone/>
            </a:pP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14. A  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无水乙醇与浓硫酸体积比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MY" altLang="zh-CN" sz="3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温度 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170</a:t>
            </a:r>
            <a:r>
              <a:rPr lang="en-US" altLang="zh-CN" sz="30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pPr marL="0" indent="0">
              <a:buNone/>
            </a:pP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先取导管，才熄灭酒精灯，避免水槽的水倒流</a:t>
            </a:r>
            <a:endParaRPr lang="en-MY" altLang="zh-CN" sz="3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Ans: C</a:t>
            </a:r>
          </a:p>
        </p:txBody>
      </p:sp>
    </p:spTree>
    <p:extLst>
      <p:ext uri="{BB962C8B-B14F-4D97-AF65-F5344CB8AC3E}">
        <p14:creationId xmlns:p14="http://schemas.microsoft.com/office/powerpoint/2010/main" val="1135373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dirty="0"/>
              <a:t>问答题 （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/>
              <a:t>）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en-US" altLang="zh-CN" sz="3000" dirty="0"/>
              <a:t> 	(1) 2,5-</a:t>
            </a:r>
            <a:r>
              <a:rPr lang="zh-CN" altLang="en-US" sz="3000" dirty="0"/>
              <a:t>二甲基</a:t>
            </a:r>
            <a:r>
              <a:rPr lang="en-US" altLang="zh-CN" sz="3000" dirty="0"/>
              <a:t>-3-</a:t>
            </a:r>
            <a:r>
              <a:rPr lang="zh-CN" altLang="en-US" sz="3000" dirty="0"/>
              <a:t>己烯</a:t>
            </a:r>
            <a:r>
              <a:rPr lang="en-US" altLang="zh-CN" sz="3000" dirty="0"/>
              <a:t>	</a:t>
            </a:r>
          </a:p>
          <a:p>
            <a:pPr marL="0" indent="0">
              <a:buNone/>
            </a:pPr>
            <a:r>
              <a:rPr lang="en-US" altLang="zh-CN" sz="3000" dirty="0"/>
              <a:t>	(2) 2,3-</a:t>
            </a:r>
            <a:r>
              <a:rPr lang="zh-CN" altLang="en-US" sz="3000" dirty="0"/>
              <a:t>二甲基</a:t>
            </a:r>
            <a:r>
              <a:rPr lang="en-US" altLang="zh-CN" sz="3000" dirty="0"/>
              <a:t>-1-</a:t>
            </a:r>
            <a:r>
              <a:rPr lang="zh-CN" altLang="en-US" sz="3000" dirty="0"/>
              <a:t>己烯</a:t>
            </a:r>
            <a:endParaRPr lang="en-US" altLang="zh-CN" sz="3000" dirty="0"/>
          </a:p>
          <a:p>
            <a:pPr marL="0" indent="0">
              <a:buNone/>
            </a:pPr>
            <a:r>
              <a:rPr lang="en-US" altLang="zh-CN" sz="3000" dirty="0"/>
              <a:t>	(3) 2,6-</a:t>
            </a:r>
            <a:r>
              <a:rPr lang="zh-CN" altLang="en-US" sz="3000" dirty="0"/>
              <a:t>二甲基</a:t>
            </a:r>
            <a:r>
              <a:rPr lang="en-US" altLang="zh-CN" sz="3000" dirty="0"/>
              <a:t>-4-</a:t>
            </a:r>
            <a:r>
              <a:rPr lang="zh-CN" altLang="en-US" sz="3000" dirty="0"/>
              <a:t>乙基辛烷</a:t>
            </a:r>
            <a:endParaRPr lang="en-MY" altLang="zh-CN" sz="3000" dirty="0"/>
          </a:p>
          <a:p>
            <a:pPr marL="0" indent="0">
              <a:buNone/>
            </a:pPr>
            <a:endParaRPr lang="en-MY" altLang="zh-CN" sz="3000" dirty="0"/>
          </a:p>
          <a:p>
            <a:pPr marL="514350" indent="-514350">
              <a:buAutoNum type="arabicPeriod" startAt="2"/>
            </a:pPr>
            <a:r>
              <a:rPr lang="en-US" altLang="zh-CN" sz="3000" dirty="0"/>
              <a:t>(1) 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CH=CH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+ Br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+H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O </a:t>
            </a:r>
            <a:r>
              <a:rPr lang="en-US" altLang="zh-CN" sz="3000" dirty="0">
                <a:sym typeface="Wingdings" pitchFamily="2" charset="2"/>
              </a:rPr>
              <a:t> CH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CHBrCH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OH + HBr</a:t>
            </a:r>
          </a:p>
          <a:p>
            <a:pPr marL="514350" indent="-514350">
              <a:buAutoNum type="arabicParenBoth" startAt="2"/>
            </a:pPr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CH=CH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+ HCl </a:t>
            </a:r>
            <a:r>
              <a:rPr lang="en-US" altLang="zh-CN" sz="3000" dirty="0">
                <a:sym typeface="Wingdings" panose="05000000000000000000" pitchFamily="2" charset="2"/>
              </a:rPr>
              <a:t> 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CHClCH</a:t>
            </a:r>
            <a:r>
              <a:rPr lang="en-US" altLang="zh-CN" sz="3000" baseline="-25000" dirty="0"/>
              <a:t>3</a:t>
            </a:r>
          </a:p>
          <a:p>
            <a:pPr marL="0" indent="0">
              <a:buNone/>
            </a:pPr>
            <a:endParaRPr lang="en-US" altLang="zh-CN" sz="3000" dirty="0"/>
          </a:p>
          <a:p>
            <a:pPr marL="0" indent="0"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dirty="0"/>
              <a:t>问答题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3000" dirty="0"/>
              <a:t>3.A</a:t>
            </a:r>
            <a:r>
              <a:rPr lang="zh-CN" altLang="en-US" sz="3000" dirty="0"/>
              <a:t>燃烧后</a:t>
            </a:r>
            <a:r>
              <a:rPr lang="en-US" altLang="zh-CN" sz="3000" dirty="0"/>
              <a:t> 	   </a:t>
            </a:r>
            <a:r>
              <a:rPr lang="en-US" altLang="zh-CN" sz="3000" dirty="0">
                <a:sym typeface="Wingdings" pitchFamily="2" charset="2"/>
              </a:rPr>
              <a:t>n(CO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) </a:t>
            </a:r>
            <a:r>
              <a:rPr lang="en-MY" altLang="zh-CN" sz="3000" dirty="0">
                <a:sym typeface="Wingdings" pitchFamily="2" charset="2"/>
              </a:rPr>
              <a:t>: n(H</a:t>
            </a:r>
            <a:r>
              <a:rPr lang="en-MY" altLang="zh-CN" sz="3000" baseline="-25000" dirty="0">
                <a:sym typeface="Wingdings" pitchFamily="2" charset="2"/>
              </a:rPr>
              <a:t>2</a:t>
            </a:r>
            <a:r>
              <a:rPr lang="en-MY" altLang="zh-CN" sz="3000" dirty="0">
                <a:sym typeface="Wingdings" pitchFamily="2" charset="2"/>
              </a:rPr>
              <a:t>O)= 1:2 </a:t>
            </a:r>
          </a:p>
          <a:p>
            <a:pPr marL="0" indent="0">
              <a:buNone/>
            </a:pPr>
            <a:r>
              <a:rPr lang="zh-CN" altLang="en-US" sz="3000" dirty="0">
                <a:sym typeface="Wingdings" pitchFamily="2" charset="2"/>
              </a:rPr>
              <a:t>则</a:t>
            </a:r>
            <a:r>
              <a:rPr lang="en-US" altLang="zh-CN" sz="3000" dirty="0">
                <a:sym typeface="Wingdings" pitchFamily="2" charset="2"/>
              </a:rPr>
              <a:t>A</a:t>
            </a:r>
            <a:r>
              <a:rPr lang="zh-CN" altLang="en-US" sz="3000" dirty="0">
                <a:sym typeface="Wingdings" pitchFamily="2" charset="2"/>
              </a:rPr>
              <a:t>中的</a:t>
            </a:r>
            <a:r>
              <a:rPr lang="en-MY" altLang="zh-CN" sz="3000" dirty="0">
                <a:sym typeface="Wingdings" pitchFamily="2" charset="2"/>
              </a:rPr>
              <a:t>		</a:t>
            </a:r>
            <a:r>
              <a:rPr lang="en-US" altLang="zh-CN" sz="3000" dirty="0">
                <a:sym typeface="Wingdings" pitchFamily="2" charset="2"/>
              </a:rPr>
              <a:t>n(C) : n(H) = 1:4 </a:t>
            </a:r>
          </a:p>
          <a:p>
            <a:pPr marL="0" indent="0">
              <a:buNone/>
            </a:pPr>
            <a:r>
              <a:rPr lang="en-US" altLang="zh-CN" sz="3000" dirty="0">
                <a:sym typeface="Wingdings" pitchFamily="2" charset="2"/>
              </a:rPr>
              <a:t>A  </a:t>
            </a:r>
            <a:r>
              <a:rPr lang="zh-CN" altLang="en-US" sz="3000" dirty="0">
                <a:sym typeface="Wingdings" pitchFamily="2" charset="2"/>
              </a:rPr>
              <a:t>为</a:t>
            </a:r>
            <a:r>
              <a:rPr lang="en-US" altLang="zh-CN" sz="3000" dirty="0">
                <a:sym typeface="Wingdings" pitchFamily="2" charset="2"/>
              </a:rPr>
              <a:t>CH</a:t>
            </a:r>
            <a:r>
              <a:rPr lang="en-US" altLang="zh-CN" sz="3000" baseline="-25000" dirty="0">
                <a:sym typeface="Wingdings" pitchFamily="2" charset="2"/>
              </a:rPr>
              <a:t>4</a:t>
            </a:r>
            <a:r>
              <a:rPr lang="en-US" altLang="zh-CN" sz="3000" dirty="0">
                <a:sym typeface="Wingdings" pitchFamily="2" charset="2"/>
              </a:rPr>
              <a:t> </a:t>
            </a:r>
          </a:p>
          <a:p>
            <a:pPr marL="0" indent="0">
              <a:buNone/>
            </a:pPr>
            <a:r>
              <a:rPr lang="en-US" altLang="zh-CN" sz="3000" dirty="0">
                <a:sym typeface="Wingdings" pitchFamily="2" charset="2"/>
              </a:rPr>
              <a:t>B </a:t>
            </a:r>
            <a:r>
              <a:rPr lang="zh-CN" altLang="en-US" sz="3000" dirty="0">
                <a:sym typeface="Wingdings" pitchFamily="2" charset="2"/>
              </a:rPr>
              <a:t>的式量 </a:t>
            </a:r>
            <a:r>
              <a:rPr lang="en-US" altLang="zh-CN" sz="3000" dirty="0">
                <a:sym typeface="Wingdings" pitchFamily="2" charset="2"/>
              </a:rPr>
              <a:t>= 16x3.5</a:t>
            </a:r>
          </a:p>
          <a:p>
            <a:pPr marL="0" indent="0">
              <a:buNone/>
            </a:pPr>
            <a:r>
              <a:rPr lang="en-US" altLang="zh-CN" sz="3000" dirty="0">
                <a:sym typeface="Wingdings" pitchFamily="2" charset="2"/>
              </a:rPr>
              <a:t>	       =56</a:t>
            </a:r>
          </a:p>
          <a:p>
            <a:pPr marL="0" indent="0">
              <a:buNone/>
            </a:pPr>
            <a:r>
              <a:rPr lang="en-US" altLang="zh-CN" sz="3000" dirty="0">
                <a:sym typeface="Wingdings" pitchFamily="2" charset="2"/>
              </a:rPr>
              <a:t>B </a:t>
            </a:r>
            <a:r>
              <a:rPr lang="zh-CN" altLang="en-US" sz="3000" dirty="0">
                <a:sym typeface="Wingdings" pitchFamily="2" charset="2"/>
              </a:rPr>
              <a:t>分子式为 </a:t>
            </a:r>
            <a:r>
              <a:rPr lang="en-US" altLang="zh-CN" sz="3000" dirty="0">
                <a:sym typeface="Wingdings" pitchFamily="2" charset="2"/>
              </a:rPr>
              <a:t>C</a:t>
            </a:r>
            <a:r>
              <a:rPr lang="en-US" altLang="zh-CN" sz="3000" baseline="-25000" dirty="0">
                <a:sym typeface="Wingdings" pitchFamily="2" charset="2"/>
              </a:rPr>
              <a:t>4</a:t>
            </a:r>
            <a:r>
              <a:rPr lang="en-US" altLang="zh-CN" sz="3000" dirty="0">
                <a:sym typeface="Wingdings" pitchFamily="2" charset="2"/>
              </a:rPr>
              <a:t>H</a:t>
            </a:r>
            <a:r>
              <a:rPr lang="en-US" altLang="zh-CN" sz="3000" baseline="-25000" dirty="0">
                <a:sym typeface="Wingdings" pitchFamily="2" charset="2"/>
              </a:rPr>
              <a:t>8</a:t>
            </a:r>
            <a:endParaRPr lang="en-US" altLang="zh-CN" sz="3000" dirty="0">
              <a:sym typeface="Wingdings" pitchFamily="2" charset="2"/>
            </a:endParaRPr>
          </a:p>
          <a:p>
            <a:pPr marL="0" indent="0">
              <a:buNone/>
            </a:pPr>
            <a:endParaRPr lang="en-US" altLang="zh-CN" sz="3000" dirty="0"/>
          </a:p>
          <a:p>
            <a:pPr marL="0" indent="0"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37908435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dirty="0"/>
              <a:t>问答题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3000" dirty="0"/>
              <a:t>4.  </a:t>
            </a:r>
            <a:r>
              <a:rPr lang="en-US" altLang="en-US" sz="3000" dirty="0">
                <a:solidFill>
                  <a:srgbClr val="000000"/>
                </a:solidFill>
                <a:cs typeface="Times New Roman" panose="02020603050405020304" pitchFamily="18" charset="0"/>
              </a:rPr>
              <a:t>(1)CH</a:t>
            </a:r>
            <a:r>
              <a:rPr lang="en-US" altLang="en-US" sz="3000" baseline="-30000" dirty="0">
                <a:solidFill>
                  <a:srgbClr val="000000"/>
                </a:solidFill>
                <a:cs typeface="Times New Roman" panose="02020603050405020304" pitchFamily="18" charset="0"/>
              </a:rPr>
              <a:t>3</a:t>
            </a:r>
            <a:r>
              <a:rPr lang="en-US" altLang="en-US" sz="3000" dirty="0">
                <a:solidFill>
                  <a:srgbClr val="000000"/>
                </a:solidFill>
                <a:cs typeface="Times New Roman" panose="02020603050405020304" pitchFamily="18" charset="0"/>
              </a:rPr>
              <a:t>CH</a:t>
            </a:r>
            <a:r>
              <a:rPr lang="en-US" altLang="en-US" sz="3000" baseline="-30000" dirty="0">
                <a:solidFill>
                  <a:srgbClr val="000000"/>
                </a:solidFill>
                <a:cs typeface="Times New Roman" panose="02020603050405020304" pitchFamily="18" charset="0"/>
              </a:rPr>
              <a:t>2</a:t>
            </a:r>
            <a:r>
              <a:rPr lang="en-US" altLang="en-US" sz="3000" dirty="0">
                <a:solidFill>
                  <a:srgbClr val="000000"/>
                </a:solidFill>
                <a:cs typeface="Times New Roman" panose="02020603050405020304" pitchFamily="18" charset="0"/>
              </a:rPr>
              <a:t>OH                  CH</a:t>
            </a:r>
            <a:r>
              <a:rPr lang="en-US" altLang="en-US" sz="3000" baseline="-30000" dirty="0">
                <a:solidFill>
                  <a:srgbClr val="000000"/>
                </a:solidFill>
                <a:cs typeface="Times New Roman" panose="02020603050405020304" pitchFamily="18" charset="0"/>
              </a:rPr>
              <a:t>2</a:t>
            </a:r>
            <a:r>
              <a:rPr lang="en-US" altLang="en-US" sz="3000" dirty="0">
                <a:solidFill>
                  <a:srgbClr val="000000"/>
                </a:solidFill>
                <a:cs typeface="Times New Roman" panose="02020603050405020304" pitchFamily="18" charset="0"/>
              </a:rPr>
              <a:t>＝CH</a:t>
            </a:r>
            <a:r>
              <a:rPr lang="en-US" altLang="en-US" sz="3000" baseline="-30000" dirty="0">
                <a:solidFill>
                  <a:srgbClr val="000000"/>
                </a:solidFill>
                <a:cs typeface="Times New Roman" panose="02020603050405020304" pitchFamily="18" charset="0"/>
              </a:rPr>
              <a:t>2</a:t>
            </a:r>
            <a:r>
              <a:rPr lang="en-US" altLang="en-US" sz="3000" dirty="0">
                <a:solidFill>
                  <a:srgbClr val="000000"/>
                </a:solidFill>
                <a:cs typeface="Times New Roman" panose="02020603050405020304" pitchFamily="18" charset="0"/>
              </a:rPr>
              <a:t>↑＋H</a:t>
            </a:r>
            <a:r>
              <a:rPr lang="en-US" altLang="en-US" sz="3000" baseline="-30000" dirty="0">
                <a:solidFill>
                  <a:srgbClr val="000000"/>
                </a:solidFill>
                <a:cs typeface="Times New Roman" panose="02020603050405020304" pitchFamily="18" charset="0"/>
              </a:rPr>
              <a:t>2</a:t>
            </a:r>
            <a:r>
              <a:rPr lang="en-US" altLang="en-US" sz="3000" dirty="0">
                <a:solidFill>
                  <a:srgbClr val="000000"/>
                </a:solidFill>
                <a:cs typeface="Times New Roman" panose="02020603050405020304" pitchFamily="18" charset="0"/>
              </a:rPr>
              <a:t>O</a:t>
            </a:r>
            <a:endParaRPr lang="en-US" altLang="en-US" sz="3000" dirty="0"/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000" dirty="0">
                <a:solidFill>
                  <a:srgbClr val="000000"/>
                </a:solidFill>
                <a:cs typeface="Times New Roman" panose="02020603050405020304" pitchFamily="18" charset="0"/>
              </a:rPr>
              <a:t>　 	CH</a:t>
            </a:r>
            <a:r>
              <a:rPr lang="en-US" altLang="en-US" sz="3000" baseline="-30000" dirty="0">
                <a:solidFill>
                  <a:srgbClr val="000000"/>
                </a:solidFill>
                <a:cs typeface="Times New Roman" panose="02020603050405020304" pitchFamily="18" charset="0"/>
              </a:rPr>
              <a:t>2</a:t>
            </a:r>
            <a:r>
              <a:rPr lang="en-US" altLang="en-US" sz="3000" dirty="0">
                <a:solidFill>
                  <a:srgbClr val="000000"/>
                </a:solidFill>
                <a:cs typeface="Times New Roman" panose="02020603050405020304" pitchFamily="18" charset="0"/>
              </a:rPr>
              <a:t>＝CH</a:t>
            </a:r>
            <a:r>
              <a:rPr lang="en-US" altLang="en-US" sz="3000" baseline="-30000" dirty="0">
                <a:solidFill>
                  <a:srgbClr val="000000"/>
                </a:solidFill>
                <a:cs typeface="Times New Roman" panose="02020603050405020304" pitchFamily="18" charset="0"/>
              </a:rPr>
              <a:t>2</a:t>
            </a:r>
            <a:r>
              <a:rPr lang="en-US" altLang="en-US" sz="3000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3000" dirty="0">
                <a:solidFill>
                  <a:srgbClr val="000000"/>
                </a:solidFill>
                <a:cs typeface="Times New Roman" panose="02020603050405020304" pitchFamily="18" charset="0"/>
              </a:rPr>
              <a:t>+ </a:t>
            </a:r>
            <a:r>
              <a:rPr lang="en-US" altLang="en-US" sz="3000" dirty="0">
                <a:solidFill>
                  <a:srgbClr val="000000"/>
                </a:solidFill>
                <a:cs typeface="Times New Roman" panose="02020603050405020304" pitchFamily="18" charset="0"/>
              </a:rPr>
              <a:t>Br</a:t>
            </a:r>
            <a:r>
              <a:rPr lang="en-US" altLang="en-US" sz="3000" baseline="-25000" dirty="0">
                <a:solidFill>
                  <a:srgbClr val="000000"/>
                </a:solidFill>
                <a:cs typeface="Times New Roman" panose="02020603050405020304" pitchFamily="18" charset="0"/>
              </a:rPr>
              <a:t>2</a:t>
            </a:r>
            <a:r>
              <a:rPr lang="en-US" altLang="en-US" sz="3000" dirty="0">
                <a:solidFill>
                  <a:srgbClr val="000000"/>
                </a:solidFill>
                <a:cs typeface="Times New Roman" panose="02020603050405020304" pitchFamily="18" charset="0"/>
              </a:rPr>
              <a:t> → CH</a:t>
            </a:r>
            <a:r>
              <a:rPr lang="en-US" altLang="en-US" sz="3000" baseline="-30000" dirty="0">
                <a:solidFill>
                  <a:srgbClr val="000000"/>
                </a:solidFill>
                <a:cs typeface="Times New Roman" panose="02020603050405020304" pitchFamily="18" charset="0"/>
              </a:rPr>
              <a:t>2</a:t>
            </a:r>
            <a:r>
              <a:rPr lang="en-US" altLang="en-US" sz="3000" dirty="0">
                <a:solidFill>
                  <a:srgbClr val="000000"/>
                </a:solidFill>
                <a:cs typeface="Times New Roman" panose="02020603050405020304" pitchFamily="18" charset="0"/>
              </a:rPr>
              <a:t>BrCH</a:t>
            </a:r>
            <a:r>
              <a:rPr lang="en-US" altLang="en-US" sz="3000" baseline="-30000" dirty="0">
                <a:solidFill>
                  <a:srgbClr val="000000"/>
                </a:solidFill>
                <a:cs typeface="Times New Roman" panose="02020603050405020304" pitchFamily="18" charset="0"/>
              </a:rPr>
              <a:t>2</a:t>
            </a:r>
            <a:r>
              <a:rPr lang="en-US" altLang="en-US" sz="3000" dirty="0">
                <a:solidFill>
                  <a:srgbClr val="000000"/>
                </a:solidFill>
                <a:cs typeface="Times New Roman" panose="02020603050405020304" pitchFamily="18" charset="0"/>
              </a:rPr>
              <a:t>Br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000" dirty="0">
                <a:solidFill>
                  <a:srgbClr val="000000"/>
                </a:solidFill>
                <a:cs typeface="Times New Roman" panose="02020603050405020304" pitchFamily="18" charset="0"/>
              </a:rPr>
              <a:t>     (2) </a:t>
            </a:r>
            <a:r>
              <a:rPr lang="en-US" altLang="en-US" sz="3000" dirty="0" err="1">
                <a:solidFill>
                  <a:srgbClr val="000000"/>
                </a:solidFill>
                <a:cs typeface="Times New Roman" panose="02020603050405020304" pitchFamily="18" charset="0"/>
              </a:rPr>
              <a:t>b中水面会下降，玻璃管中的水柱会上升</a:t>
            </a:r>
            <a:r>
              <a:rPr lang="en-US" altLang="en-US" sz="3000" dirty="0">
                <a:solidFill>
                  <a:srgbClr val="000000"/>
                </a:solidFill>
                <a:cs typeface="Times New Roman" panose="02020603050405020304" pitchFamily="18" charset="0"/>
              </a:rPr>
              <a:t>，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000" dirty="0">
                <a:solidFill>
                  <a:srgbClr val="000000"/>
                </a:solidFill>
                <a:cs typeface="Times New Roman" panose="02020603050405020304" pitchFamily="18" charset="0"/>
              </a:rPr>
              <a:t>	</a:t>
            </a:r>
            <a:r>
              <a:rPr lang="en-US" altLang="en-US" sz="3000" dirty="0" err="1">
                <a:solidFill>
                  <a:srgbClr val="000000"/>
                </a:solidFill>
                <a:cs typeface="Times New Roman" panose="02020603050405020304" pitchFamily="18" charset="0"/>
              </a:rPr>
              <a:t>甚至溢出</a:t>
            </a:r>
            <a:r>
              <a:rPr lang="en-US" altLang="en-US" sz="3000" dirty="0">
                <a:solidFill>
                  <a:srgbClr val="000000"/>
                </a:solidFill>
                <a:cs typeface="Times New Roman" panose="02020603050405020304" pitchFamily="18" charset="0"/>
              </a:rPr>
              <a:t>。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000" dirty="0">
                <a:solidFill>
                  <a:srgbClr val="000000"/>
                </a:solidFill>
                <a:cs typeface="Times New Roman" panose="02020603050405020304" pitchFamily="18" charset="0"/>
              </a:rPr>
              <a:t>     (3) </a:t>
            </a:r>
            <a:r>
              <a:rPr lang="en-US" altLang="en-US" sz="3000" dirty="0" err="1">
                <a:solidFill>
                  <a:srgbClr val="000000"/>
                </a:solidFill>
                <a:cs typeface="Times New Roman" panose="02020603050405020304" pitchFamily="18" charset="0"/>
              </a:rPr>
              <a:t>除去乙烯中带出的酸性气体</a:t>
            </a:r>
            <a:r>
              <a:rPr lang="en-US" altLang="en-US" sz="3000" dirty="0">
                <a:solidFill>
                  <a:srgbClr val="000000"/>
                </a:solidFill>
                <a:cs typeface="Times New Roman" panose="02020603050405020304" pitchFamily="18" charset="0"/>
              </a:rPr>
              <a:t>。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000" dirty="0">
                <a:solidFill>
                  <a:srgbClr val="000000"/>
                </a:solidFill>
                <a:cs typeface="Times New Roman" panose="02020603050405020304" pitchFamily="18" charset="0"/>
              </a:rPr>
              <a:t>     (4) ①</a:t>
            </a:r>
            <a:r>
              <a:rPr lang="en-US" altLang="en-US" sz="3000" dirty="0" err="1">
                <a:solidFill>
                  <a:srgbClr val="000000"/>
                </a:solidFill>
                <a:cs typeface="Times New Roman" panose="02020603050405020304" pitchFamily="18" charset="0"/>
              </a:rPr>
              <a:t>乙烯发生（或通过液溴）速度过快</a:t>
            </a:r>
            <a:r>
              <a:rPr lang="en-US" altLang="en-US" sz="3000" dirty="0">
                <a:solidFill>
                  <a:srgbClr val="000000"/>
                </a:solidFill>
                <a:cs typeface="Times New Roman" panose="02020603050405020304" pitchFamily="18" charset="0"/>
              </a:rPr>
              <a:t>。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000" dirty="0">
                <a:solidFill>
                  <a:srgbClr val="000000"/>
                </a:solidFill>
                <a:cs typeface="Times New Roman" panose="02020603050405020304" pitchFamily="18" charset="0"/>
              </a:rPr>
              <a:t>　　  ②实验过程中，乙醇和浓H</a:t>
            </a:r>
            <a:r>
              <a:rPr lang="en-US" altLang="en-US" sz="3000" baseline="-30000" dirty="0">
                <a:solidFill>
                  <a:srgbClr val="000000"/>
                </a:solidFill>
                <a:cs typeface="Times New Roman" panose="02020603050405020304" pitchFamily="18" charset="0"/>
              </a:rPr>
              <a:t>2</a:t>
            </a:r>
            <a:r>
              <a:rPr lang="en-US" altLang="en-US" sz="3000" dirty="0">
                <a:solidFill>
                  <a:srgbClr val="000000"/>
                </a:solidFill>
                <a:cs typeface="Times New Roman" panose="02020603050405020304" pitchFamily="18" charset="0"/>
              </a:rPr>
              <a:t>SO</a:t>
            </a:r>
            <a:r>
              <a:rPr lang="en-US" altLang="en-US" sz="3000" baseline="-30000" dirty="0">
                <a:solidFill>
                  <a:srgbClr val="000000"/>
                </a:solidFill>
                <a:cs typeface="Times New Roman" panose="02020603050405020304" pitchFamily="18" charset="0"/>
              </a:rPr>
              <a:t>4</a:t>
            </a:r>
            <a:r>
              <a:rPr lang="en-US" altLang="en-US" sz="3000" dirty="0">
                <a:solidFill>
                  <a:srgbClr val="000000"/>
                </a:solidFill>
                <a:cs typeface="Times New Roman" panose="02020603050405020304" pitchFamily="18" charset="0"/>
              </a:rPr>
              <a:t>的混合液没有迅速达到170℃。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3000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3000" dirty="0"/>
              <a:t>5. </a:t>
            </a:r>
            <a:r>
              <a:rPr lang="zh-CN" altLang="en-US" sz="3000" dirty="0"/>
              <a:t>依据各物质名称写出其分子式，然后依据质量守恒，写出反应方程式。</a:t>
            </a:r>
            <a:endParaRPr lang="en-US" altLang="en-US" sz="3000" dirty="0"/>
          </a:p>
          <a:p>
            <a:pPr marL="0" indent="0">
              <a:buNone/>
            </a:pPr>
            <a:endParaRPr lang="en-US" altLang="zh-CN" sz="30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3A1B843-8866-4D2F-84AA-FF61EA826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700" y="-465138"/>
            <a:ext cx="609600" cy="26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醇脱水.jpg">
            <a:extLst>
              <a:ext uri="{FF2B5EF4-FFF2-40B4-BE49-F238E27FC236}">
                <a16:creationId xmlns:a16="http://schemas.microsoft.com/office/drawing/2014/main" id="{00C59193-0A0F-4B22-B0C7-030B2D8B27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3333" t="46741" r="54000" b="45259"/>
          <a:stretch/>
        </p:blipFill>
        <p:spPr>
          <a:xfrm>
            <a:off x="3200400" y="914400"/>
            <a:ext cx="1126687" cy="533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5881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dirty="0"/>
              <a:t>问答题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3000" dirty="0"/>
              <a:t>6. </a:t>
            </a:r>
            <a:r>
              <a:rPr lang="zh-CN" altLang="en-US" sz="3000" dirty="0"/>
              <a:t>因两气态烃碳数相同，且 </a:t>
            </a:r>
            <a:r>
              <a:rPr lang="en-US" altLang="zh-CN" sz="3000" dirty="0" err="1"/>
              <a:t>aL</a:t>
            </a:r>
            <a:r>
              <a:rPr lang="en-US" altLang="zh-CN" sz="3000" dirty="0"/>
              <a:t> </a:t>
            </a:r>
            <a:r>
              <a:rPr lang="zh-CN" altLang="en-US" sz="3000" dirty="0"/>
              <a:t>烃燃烧生成</a:t>
            </a:r>
            <a:r>
              <a:rPr lang="en-US" altLang="zh-CN" sz="3000" dirty="0"/>
              <a:t>2aL CO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</a:t>
            </a:r>
          </a:p>
          <a:p>
            <a:pPr marL="0" indent="0">
              <a:buNone/>
            </a:pPr>
            <a:r>
              <a:rPr lang="zh-CN" altLang="en-US" sz="3000" dirty="0"/>
              <a:t>表示气态烃的碳原子数为 </a:t>
            </a:r>
            <a:r>
              <a:rPr lang="en-US" altLang="zh-CN" sz="3000" dirty="0"/>
              <a:t>2</a:t>
            </a:r>
            <a:r>
              <a:rPr lang="zh-CN" altLang="en-US" sz="3000" dirty="0"/>
              <a:t>。</a:t>
            </a:r>
            <a:endParaRPr lang="en-MY" altLang="zh-CN" sz="3000" dirty="0"/>
          </a:p>
          <a:p>
            <a:pPr marL="514350" indent="-514350">
              <a:buAutoNum type="arabicParenBoth"/>
            </a:pPr>
            <a:r>
              <a:rPr lang="zh-CN" altLang="en-US" sz="3000" dirty="0"/>
              <a:t>它们是乙烷和乙烯</a:t>
            </a:r>
            <a:endParaRPr lang="en-MY" altLang="zh-CN" sz="3000" dirty="0"/>
          </a:p>
          <a:p>
            <a:pPr marL="514350" indent="-514350">
              <a:buAutoNum type="arabicParenBoth"/>
            </a:pPr>
            <a:r>
              <a:rPr lang="en-MY" altLang="zh-CN" sz="3000" dirty="0"/>
              <a:t> </a:t>
            </a:r>
            <a:r>
              <a:rPr lang="zh-CN" altLang="en-US" sz="3000" dirty="0"/>
              <a:t>设 </a:t>
            </a:r>
            <a:r>
              <a:rPr lang="en-US" altLang="zh-CN" sz="3000" dirty="0"/>
              <a:t>C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6</a:t>
            </a:r>
            <a:r>
              <a:rPr lang="en-US" altLang="zh-CN" sz="3000" dirty="0"/>
              <a:t> </a:t>
            </a:r>
            <a:r>
              <a:rPr lang="en-US" altLang="zh-CN" sz="3000" dirty="0" err="1"/>
              <a:t>xL</a:t>
            </a:r>
            <a:r>
              <a:rPr lang="en-US" altLang="zh-CN" sz="3000" dirty="0"/>
              <a:t> , C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 (a-x)L</a:t>
            </a:r>
          </a:p>
          <a:p>
            <a:pPr marL="0" indent="0">
              <a:buNone/>
            </a:pPr>
            <a:r>
              <a:rPr lang="en-US" altLang="zh-CN" sz="3000" dirty="0"/>
              <a:t>1L C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6</a:t>
            </a:r>
            <a:r>
              <a:rPr lang="zh-CN" altLang="en-US" sz="3000" dirty="0"/>
              <a:t>燃烧能生成 </a:t>
            </a:r>
            <a:r>
              <a:rPr lang="en-US" altLang="zh-CN" sz="3000" dirty="0"/>
              <a:t>3L</a:t>
            </a:r>
            <a:r>
              <a:rPr lang="zh-CN" altLang="en-US" sz="3000" dirty="0"/>
              <a:t>水 </a:t>
            </a:r>
            <a:endParaRPr lang="en-MY" altLang="zh-CN" sz="3000" dirty="0"/>
          </a:p>
          <a:p>
            <a:pPr marL="0" indent="0">
              <a:buNone/>
            </a:pPr>
            <a:r>
              <a:rPr lang="en-US" altLang="zh-CN" sz="3000" dirty="0"/>
              <a:t>1L C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4</a:t>
            </a:r>
            <a:r>
              <a:rPr lang="zh-CN" altLang="en-US" sz="3000" dirty="0"/>
              <a:t>燃烧能生成 </a:t>
            </a:r>
            <a:r>
              <a:rPr lang="en-US" altLang="zh-CN" sz="3000" dirty="0"/>
              <a:t>2L</a:t>
            </a:r>
            <a:r>
              <a:rPr lang="zh-CN" altLang="en-US" sz="3000" dirty="0"/>
              <a:t>水</a:t>
            </a:r>
            <a:endParaRPr lang="en-MY" altLang="zh-CN" sz="3000" dirty="0"/>
          </a:p>
          <a:p>
            <a:pPr marL="0" indent="0">
              <a:buNone/>
            </a:pPr>
            <a:r>
              <a:rPr lang="en-US" altLang="zh-CN" sz="3000" dirty="0"/>
              <a:t>3xL + 2(a-x)L = 2.4aL </a:t>
            </a:r>
          </a:p>
          <a:p>
            <a:pPr marL="0" indent="0">
              <a:buNone/>
            </a:pPr>
            <a:r>
              <a:rPr lang="en-US" altLang="zh-CN" sz="3000" dirty="0"/>
              <a:t>		x= 0.4a</a:t>
            </a:r>
          </a:p>
          <a:p>
            <a:pPr marL="0" indent="0">
              <a:buNone/>
            </a:pPr>
            <a:r>
              <a:rPr lang="zh-CN" altLang="en-US" sz="3000" dirty="0"/>
              <a:t>答：</a:t>
            </a:r>
            <a:r>
              <a:rPr lang="en-US" altLang="zh-CN" sz="3000" dirty="0"/>
              <a:t> </a:t>
            </a:r>
            <a:r>
              <a:rPr lang="zh-CN" altLang="en-US" sz="3000" dirty="0"/>
              <a:t>混合气体中</a:t>
            </a:r>
            <a:r>
              <a:rPr lang="en-US" altLang="zh-CN" sz="3000" dirty="0"/>
              <a:t>C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6</a:t>
            </a:r>
            <a:r>
              <a:rPr lang="en-US" altLang="zh-CN" sz="3000" dirty="0"/>
              <a:t> </a:t>
            </a:r>
            <a:r>
              <a:rPr lang="zh-CN" altLang="en-US" sz="3000" dirty="0"/>
              <a:t>的体积占</a:t>
            </a:r>
            <a:r>
              <a:rPr lang="en-US" altLang="zh-CN" sz="3000" dirty="0"/>
              <a:t>40%</a:t>
            </a:r>
            <a:r>
              <a:rPr lang="zh-CN" altLang="en-US" sz="3000" dirty="0"/>
              <a:t>，</a:t>
            </a:r>
            <a:r>
              <a:rPr lang="en-US" altLang="zh-CN" sz="3000" dirty="0"/>
              <a:t> C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4</a:t>
            </a:r>
            <a:r>
              <a:rPr lang="zh-CN" altLang="en-US" sz="3000" dirty="0"/>
              <a:t>占</a:t>
            </a:r>
            <a:r>
              <a:rPr lang="en-US" altLang="zh-CN" sz="3000" dirty="0"/>
              <a:t>60%</a:t>
            </a:r>
            <a:endParaRPr lang="en-MY" altLang="zh-CN" sz="3000" dirty="0"/>
          </a:p>
        </p:txBody>
      </p:sp>
    </p:spTree>
    <p:extLst>
      <p:ext uri="{BB962C8B-B14F-4D97-AF65-F5344CB8AC3E}">
        <p14:creationId xmlns:p14="http://schemas.microsoft.com/office/powerpoint/2010/main" val="8103742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6143427</TotalTime>
  <Words>4786</Words>
  <Application>Microsoft Office PowerPoint</Application>
  <PresentationFormat>On-screen Show (4:3)</PresentationFormat>
  <Paragraphs>530</Paragraphs>
  <Slides>66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4" baseType="lpstr">
      <vt:lpstr>宋体</vt:lpstr>
      <vt:lpstr>宋体</vt:lpstr>
      <vt:lpstr>Arial</vt:lpstr>
      <vt:lpstr>Calibri</vt:lpstr>
      <vt:lpstr>Cambria Math</vt:lpstr>
      <vt:lpstr>Times New Roman</vt:lpstr>
      <vt:lpstr>Wingdings</vt:lpstr>
      <vt:lpstr>Office Theme</vt:lpstr>
      <vt:lpstr>第28章  烯烃</vt:lpstr>
      <vt:lpstr>28.1 烯烃的通式和结构</vt:lpstr>
      <vt:lpstr>28.1 烯烃的通式和结构</vt:lpstr>
      <vt:lpstr>28.1 烯烃的通式和结构 </vt:lpstr>
      <vt:lpstr>28.1 烯烃的通式和结构 </vt:lpstr>
      <vt:lpstr>28.1 烯烃的通式和结构 </vt:lpstr>
      <vt:lpstr>28.1 烯烃的通式和结构 </vt:lpstr>
      <vt:lpstr>PowerPoint Presentation</vt:lpstr>
      <vt:lpstr>28.1 烯烃的通式和结构 </vt:lpstr>
      <vt:lpstr>28.1 烯烃的通式和结构 </vt:lpstr>
      <vt:lpstr>28.1 烯烃的通式和结构 </vt:lpstr>
      <vt:lpstr>思考题 28a</vt:lpstr>
      <vt:lpstr>28.3 烯烃的系统命名法</vt:lpstr>
      <vt:lpstr>28.2 烯烃的同分异构体</vt:lpstr>
      <vt:lpstr>28.2 烯烃的同分异构体</vt:lpstr>
      <vt:lpstr>28.2 烯烃的同分异构体</vt:lpstr>
      <vt:lpstr>28.2 烯烃的同分异构体</vt:lpstr>
      <vt:lpstr>28.2 烯烃的同分异构体</vt:lpstr>
      <vt:lpstr>28.2 烯烃的同分异构体</vt:lpstr>
      <vt:lpstr>28.2 烯烃的同分异构体</vt:lpstr>
      <vt:lpstr>思考题 28b</vt:lpstr>
      <vt:lpstr>28.3 烯烃的系统命名法</vt:lpstr>
      <vt:lpstr>28.3 烯烃的系统命名法</vt:lpstr>
      <vt:lpstr>28.3 烯烃的系统命名法</vt:lpstr>
      <vt:lpstr>28.3 烯烃的系统命名法</vt:lpstr>
      <vt:lpstr>28.3 烯烃的系统命名法</vt:lpstr>
      <vt:lpstr>28.3 烯烃的系统命名法</vt:lpstr>
      <vt:lpstr>28.3 烯烃的系统命名法</vt:lpstr>
      <vt:lpstr>思考题 28c</vt:lpstr>
      <vt:lpstr>28.4 烯烃的物理性质</vt:lpstr>
      <vt:lpstr>28.4 烯烃的物理性质</vt:lpstr>
      <vt:lpstr>28.4 烯烃的物理性质</vt:lpstr>
      <vt:lpstr>思考题 28d</vt:lpstr>
      <vt:lpstr>28.5 烯烃的化学性质</vt:lpstr>
      <vt:lpstr>28.5 烯烃的化学性质</vt:lpstr>
      <vt:lpstr>28.5 烯烃的化学性质</vt:lpstr>
      <vt:lpstr>28.5 烯烃的化学性质</vt:lpstr>
      <vt:lpstr>28.5 烯烃的化学性质</vt:lpstr>
      <vt:lpstr>28.5 烯烃的化学性质</vt:lpstr>
      <vt:lpstr>28.5 烯烃的化学性质</vt:lpstr>
      <vt:lpstr>28.5 烯烃的化学性质</vt:lpstr>
      <vt:lpstr>28.5 烯烃的化学性质</vt:lpstr>
      <vt:lpstr>28.5 烯烃的化学性质</vt:lpstr>
      <vt:lpstr>28.5 烯烃的化学性质</vt:lpstr>
      <vt:lpstr>28.5 烯烃的化学性质</vt:lpstr>
      <vt:lpstr>28.5 烯烃的化学性质</vt:lpstr>
      <vt:lpstr>28.5 烯烃的化学性质</vt:lpstr>
      <vt:lpstr>28.5 烯烃的化学性质</vt:lpstr>
      <vt:lpstr>思考题 28e</vt:lpstr>
      <vt:lpstr>思考题 28e</vt:lpstr>
      <vt:lpstr>28.6 烯烃的来源和制取</vt:lpstr>
      <vt:lpstr>28.6 烯烃的来源和制取</vt:lpstr>
      <vt:lpstr>28.6 烯烃的来源和制取</vt:lpstr>
      <vt:lpstr>28.6 烯烃的来源和制取</vt:lpstr>
      <vt:lpstr>思考题 28f</vt:lpstr>
      <vt:lpstr>补充练习</vt:lpstr>
      <vt:lpstr>选择题</vt:lpstr>
      <vt:lpstr>选择题</vt:lpstr>
      <vt:lpstr>选择题</vt:lpstr>
      <vt:lpstr>选择题</vt:lpstr>
      <vt:lpstr>选择题</vt:lpstr>
      <vt:lpstr>选择题</vt:lpstr>
      <vt:lpstr>问答题 （1，2，3）</vt:lpstr>
      <vt:lpstr>问答题</vt:lpstr>
      <vt:lpstr>问答题</vt:lpstr>
      <vt:lpstr>问答题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User</cp:lastModifiedBy>
  <cp:revision>499</cp:revision>
  <dcterms:created xsi:type="dcterms:W3CDTF">2018-09-03T09:52:37Z</dcterms:created>
  <dcterms:modified xsi:type="dcterms:W3CDTF">2020-06-11T00:36:36Z</dcterms:modified>
</cp:coreProperties>
</file>