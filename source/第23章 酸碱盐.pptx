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76" r:id="rId2"/>
    <p:sldId id="277" r:id="rId3"/>
    <p:sldId id="291" r:id="rId4"/>
    <p:sldId id="278" r:id="rId5"/>
    <p:sldId id="292" r:id="rId6"/>
    <p:sldId id="279" r:id="rId7"/>
    <p:sldId id="294" r:id="rId8"/>
    <p:sldId id="293" r:id="rId9"/>
    <p:sldId id="295" r:id="rId10"/>
    <p:sldId id="280" r:id="rId11"/>
    <p:sldId id="281" r:id="rId12"/>
    <p:sldId id="296" r:id="rId13"/>
    <p:sldId id="309" r:id="rId14"/>
    <p:sldId id="282" r:id="rId15"/>
    <p:sldId id="283" r:id="rId16"/>
    <p:sldId id="297" r:id="rId17"/>
    <p:sldId id="298" r:id="rId18"/>
    <p:sldId id="284" r:id="rId19"/>
    <p:sldId id="299" r:id="rId20"/>
    <p:sldId id="300" r:id="rId21"/>
    <p:sldId id="285" r:id="rId22"/>
    <p:sldId id="286" r:id="rId23"/>
    <p:sldId id="310" r:id="rId24"/>
    <p:sldId id="287" r:id="rId25"/>
    <p:sldId id="288" r:id="rId26"/>
    <p:sldId id="289" r:id="rId27"/>
    <p:sldId id="301" r:id="rId28"/>
    <p:sldId id="302" r:id="rId29"/>
    <p:sldId id="303" r:id="rId30"/>
    <p:sldId id="304" r:id="rId31"/>
    <p:sldId id="305" r:id="rId32"/>
    <p:sldId id="306" r:id="rId33"/>
    <p:sldId id="311" r:id="rId34"/>
    <p:sldId id="312" r:id="rId35"/>
    <p:sldId id="354" r:id="rId36"/>
    <p:sldId id="313" r:id="rId37"/>
    <p:sldId id="317" r:id="rId38"/>
    <p:sldId id="314" r:id="rId39"/>
    <p:sldId id="315" r:id="rId40"/>
    <p:sldId id="318" r:id="rId41"/>
    <p:sldId id="319" r:id="rId42"/>
    <p:sldId id="316" r:id="rId43"/>
    <p:sldId id="320" r:id="rId44"/>
    <p:sldId id="321" r:id="rId45"/>
    <p:sldId id="355" r:id="rId46"/>
    <p:sldId id="330" r:id="rId47"/>
    <p:sldId id="353" r:id="rId48"/>
    <p:sldId id="356" r:id="rId49"/>
    <p:sldId id="358" r:id="rId50"/>
    <p:sldId id="308" r:id="rId51"/>
    <p:sldId id="323" r:id="rId52"/>
    <p:sldId id="324" r:id="rId53"/>
    <p:sldId id="322" r:id="rId54"/>
    <p:sldId id="325" r:id="rId55"/>
    <p:sldId id="326" r:id="rId56"/>
    <p:sldId id="327" r:id="rId57"/>
    <p:sldId id="328" r:id="rId58"/>
    <p:sldId id="331" r:id="rId59"/>
    <p:sldId id="332" r:id="rId60"/>
    <p:sldId id="329" r:id="rId61"/>
    <p:sldId id="333" r:id="rId62"/>
    <p:sldId id="334" r:id="rId63"/>
    <p:sldId id="359" r:id="rId64"/>
    <p:sldId id="360" r:id="rId65"/>
    <p:sldId id="258" r:id="rId66"/>
    <p:sldId id="259" r:id="rId67"/>
    <p:sldId id="335" r:id="rId68"/>
    <p:sldId id="260" r:id="rId69"/>
    <p:sldId id="261" r:id="rId70"/>
    <p:sldId id="262" r:id="rId71"/>
    <p:sldId id="264" r:id="rId72"/>
    <p:sldId id="265" r:id="rId73"/>
    <p:sldId id="361" r:id="rId74"/>
    <p:sldId id="336" r:id="rId75"/>
    <p:sldId id="338" r:id="rId76"/>
    <p:sldId id="339" r:id="rId77"/>
    <p:sldId id="340" r:id="rId78"/>
    <p:sldId id="341" r:id="rId79"/>
    <p:sldId id="342" r:id="rId80"/>
    <p:sldId id="266" r:id="rId81"/>
    <p:sldId id="267" r:id="rId82"/>
    <p:sldId id="343" r:id="rId83"/>
    <p:sldId id="268" r:id="rId84"/>
    <p:sldId id="269" r:id="rId85"/>
    <p:sldId id="270" r:id="rId86"/>
    <p:sldId id="344" r:id="rId87"/>
    <p:sldId id="345" r:id="rId88"/>
    <p:sldId id="346" r:id="rId89"/>
    <p:sldId id="347" r:id="rId90"/>
    <p:sldId id="348" r:id="rId91"/>
    <p:sldId id="349" r:id="rId92"/>
    <p:sldId id="350" r:id="rId93"/>
    <p:sldId id="351" r:id="rId94"/>
    <p:sldId id="274" r:id="rId95"/>
    <p:sldId id="275" r:id="rId9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D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6D6688-5DD1-44BC-B31A-EC1609157C8F}" type="datetimeFigureOut">
              <a:rPr lang="en-US" smtClean="0"/>
              <a:pPr/>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D6688-5DD1-44BC-B31A-EC1609157C8F}" type="datetimeFigureOut">
              <a:rPr lang="en-US" smtClean="0"/>
              <a:pPr/>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6D6688-5DD1-44BC-B31A-EC1609157C8F}" type="datetimeFigureOut">
              <a:rPr lang="en-US" smtClean="0"/>
              <a:pPr/>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6D6688-5DD1-44BC-B31A-EC1609157C8F}" type="datetimeFigureOut">
              <a:rPr lang="en-US" smtClean="0"/>
              <a:pPr/>
              <a:t>9/14/2025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6D6688-5DD1-44BC-B31A-EC1609157C8F}" type="datetimeFigureOut">
              <a:rPr lang="en-US" smtClean="0"/>
              <a:pPr/>
              <a:t>9/14/2025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6D6688-5DD1-44BC-B31A-EC1609157C8F}" type="datetimeFigureOut">
              <a:rPr lang="en-US" smtClean="0"/>
              <a:pPr/>
              <a:t>9/14/2025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D6688-5DD1-44BC-B31A-EC1609157C8F}" type="datetimeFigureOut">
              <a:rPr lang="en-US" smtClean="0"/>
              <a:pPr/>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D6688-5DD1-44BC-B31A-EC1609157C8F}" type="datetimeFigureOut">
              <a:rPr lang="en-US" smtClean="0"/>
              <a:pPr/>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6D6688-5DD1-44BC-B31A-EC1609157C8F}" type="datetimeFigureOut">
              <a:rPr lang="en-US" smtClean="0"/>
              <a:pPr/>
              <a:t>9/14/2025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260CB-55F0-4242-8A56-5BB902E4085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1.w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8.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8.bin"/></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9.gif"/></Relationships>
</file>

<file path=ppt/slides/_rels/slide5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15.bin"/><Relationship Id="rId4" Type="http://schemas.openxmlformats.org/officeDocument/2006/relationships/image" Target="../media/image24.wmf"/></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19.bin"/><Relationship Id="rId4" Type="http://schemas.openxmlformats.org/officeDocument/2006/relationships/image" Target="../media/image33.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ctrTitle"/>
          </p:nvPr>
        </p:nvSpPr>
        <p:spPr/>
        <p:txBody>
          <a:bodyPr>
            <a:normAutofit/>
          </a:bodyPr>
          <a:lstStyle/>
          <a:p>
            <a:r>
              <a:rPr lang="zh-CN" altLang="en-US" sz="8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第</a:t>
            </a:r>
            <a:r>
              <a:rPr lang="en-US" altLang="zh-CN" sz="8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23</a:t>
            </a:r>
            <a:r>
              <a:rPr lang="zh-CN" altLang="en-US" sz="8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章</a:t>
            </a:r>
            <a:endParaRPr lang="en-US" sz="8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Subtitle 2"/>
          <p:cNvSpPr>
            <a:spLocks noGrp="1"/>
          </p:cNvSpPr>
          <p:nvPr>
            <p:ph type="subTitle" idx="1"/>
          </p:nvPr>
        </p:nvSpPr>
        <p:spPr/>
        <p:txBody>
          <a:bodyPr>
            <a:normAutofit/>
          </a:bodyPr>
          <a:lstStyle/>
          <a:p>
            <a:r>
              <a:rPr lang="zh-CN" altLang="en-US" sz="72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酸</a:t>
            </a:r>
            <a:r>
              <a:rPr lang="en-US" altLang="zh-CN" sz="72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	</a:t>
            </a:r>
            <a:r>
              <a:rPr lang="zh-CN" altLang="en-US" sz="72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碱</a:t>
            </a:r>
            <a:r>
              <a:rPr lang="en-US" altLang="zh-CN" sz="72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	</a:t>
            </a:r>
            <a:r>
              <a:rPr lang="zh-CN" altLang="en-US" sz="72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盐</a:t>
            </a:r>
            <a:endParaRPr lang="en-US" sz="72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酸碱的基本理论</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lnSpc>
                <a:spcPct val="150000"/>
              </a:lnSpc>
              <a:spcBef>
                <a:spcPts val="0"/>
              </a:spcBef>
              <a:buNone/>
            </a:pPr>
            <a:r>
              <a:rPr lang="zh-CN" altLang="en-US" sz="3000" u="sng" dirty="0">
                <a:sym typeface="Wingdings" pitchFamily="2" charset="2"/>
              </a:rPr>
              <a:t>人类对酸和碱认识的发展</a:t>
            </a:r>
            <a:endParaRPr lang="en-US" altLang="zh-CN" sz="3000" u="sng" dirty="0">
              <a:sym typeface="Wingdings" pitchFamily="2" charset="2"/>
            </a:endParaRPr>
          </a:p>
          <a:p>
            <a:pPr>
              <a:lnSpc>
                <a:spcPct val="150000"/>
              </a:lnSpc>
              <a:spcBef>
                <a:spcPts val="0"/>
              </a:spcBef>
              <a:buFont typeface="Wingdings" pitchFamily="2" charset="2"/>
              <a:buChar char="Ø"/>
            </a:pPr>
            <a:r>
              <a:rPr lang="en-US" altLang="zh-CN" sz="3000" dirty="0">
                <a:sym typeface="Wingdings" pitchFamily="2" charset="2"/>
              </a:rPr>
              <a:t>17</a:t>
            </a:r>
            <a:r>
              <a:rPr lang="zh-CN" altLang="en-US" sz="3000" dirty="0">
                <a:sym typeface="Wingdings" pitchFamily="2" charset="2"/>
              </a:rPr>
              <a:t>世纪前：酸</a:t>
            </a:r>
            <a:r>
              <a:rPr lang="en-US" altLang="zh-CN" sz="3000" dirty="0">
                <a:sym typeface="Wingdings" pitchFamily="2" charset="2"/>
              </a:rPr>
              <a:t>—</a:t>
            </a:r>
            <a:r>
              <a:rPr lang="zh-CN" altLang="en-US" sz="3000" dirty="0">
                <a:sym typeface="Wingdings" pitchFamily="2" charset="2"/>
              </a:rPr>
              <a:t>有酸味；碱</a:t>
            </a:r>
            <a:r>
              <a:rPr lang="en-US" altLang="zh-CN" sz="3000" dirty="0">
                <a:sym typeface="Wingdings" pitchFamily="2" charset="2"/>
              </a:rPr>
              <a:t>—</a:t>
            </a:r>
            <a:r>
              <a:rPr lang="zh-CN" altLang="en-US" sz="3000" dirty="0">
                <a:sym typeface="Wingdings" pitchFamily="2" charset="2"/>
              </a:rPr>
              <a:t>有苦涩味和滑腻感</a:t>
            </a:r>
            <a:endParaRPr lang="en-US" altLang="zh-CN" sz="3000" dirty="0">
              <a:sym typeface="Wingdings" pitchFamily="2" charset="2"/>
            </a:endParaRPr>
          </a:p>
          <a:p>
            <a:pPr>
              <a:lnSpc>
                <a:spcPct val="150000"/>
              </a:lnSpc>
              <a:spcBef>
                <a:spcPts val="0"/>
              </a:spcBef>
              <a:buFont typeface="Wingdings" pitchFamily="2" charset="2"/>
              <a:buChar char="Ø"/>
            </a:pPr>
            <a:r>
              <a:rPr lang="en-US" altLang="zh-CN" sz="3000" dirty="0">
                <a:sym typeface="Wingdings" pitchFamily="2" charset="2"/>
              </a:rPr>
              <a:t>17</a:t>
            </a:r>
            <a:r>
              <a:rPr lang="zh-CN" altLang="en-US" sz="3000" dirty="0">
                <a:sym typeface="Wingdings" pitchFamily="2" charset="2"/>
              </a:rPr>
              <a:t>世纪末，波义耳：</a:t>
            </a:r>
            <a:endParaRPr lang="en-US" altLang="zh-CN" sz="3000" dirty="0">
              <a:sym typeface="Wingdings" pitchFamily="2" charset="2"/>
            </a:endParaRPr>
          </a:p>
          <a:p>
            <a:pPr>
              <a:lnSpc>
                <a:spcPct val="150000"/>
              </a:lnSpc>
              <a:spcBef>
                <a:spcPts val="0"/>
              </a:spcBef>
              <a:buNone/>
            </a:pPr>
            <a:r>
              <a:rPr lang="zh-CN" altLang="en-US" sz="3000" dirty="0">
                <a:sym typeface="Wingdings" pitchFamily="2" charset="2"/>
              </a:rPr>
              <a:t>酸</a:t>
            </a:r>
            <a:r>
              <a:rPr lang="en-US" altLang="zh-CN" sz="3000" dirty="0">
                <a:sym typeface="Wingdings" pitchFamily="2" charset="2"/>
              </a:rPr>
              <a:t>—</a:t>
            </a:r>
            <a:r>
              <a:rPr lang="zh-CN" altLang="en-US" sz="3000" dirty="0">
                <a:sym typeface="Wingdings" pitchFamily="2" charset="2"/>
              </a:rPr>
              <a:t>能溶解某些金属，能使石蕊试剂变红。</a:t>
            </a:r>
            <a:endParaRPr lang="en-US" altLang="zh-CN" sz="3000" dirty="0">
              <a:sym typeface="Wingdings" pitchFamily="2" charset="2"/>
            </a:endParaRPr>
          </a:p>
          <a:p>
            <a:pPr>
              <a:lnSpc>
                <a:spcPct val="150000"/>
              </a:lnSpc>
              <a:spcBef>
                <a:spcPts val="0"/>
              </a:spcBef>
              <a:buNone/>
            </a:pPr>
            <a:r>
              <a:rPr lang="zh-CN" altLang="en-US" sz="3000" dirty="0">
                <a:sym typeface="Wingdings" pitchFamily="2" charset="2"/>
              </a:rPr>
              <a:t>碱</a:t>
            </a:r>
            <a:r>
              <a:rPr lang="en-US" altLang="zh-CN" sz="3000" dirty="0">
                <a:sym typeface="Wingdings" pitchFamily="2" charset="2"/>
              </a:rPr>
              <a:t>—</a:t>
            </a:r>
            <a:r>
              <a:rPr lang="zh-CN" altLang="en-US" sz="3000" dirty="0">
                <a:sym typeface="Wingdings" pitchFamily="2" charset="2"/>
              </a:rPr>
              <a:t>水溶液具有腐蚀性，能使石蕊试剂变蓝。</a:t>
            </a:r>
            <a:endParaRPr lang="en-US" altLang="zh-CN" sz="3000" dirty="0">
              <a:sym typeface="Wingdings" pitchFamily="2" charset="2"/>
            </a:endParaRPr>
          </a:p>
          <a:p>
            <a:pPr>
              <a:lnSpc>
                <a:spcPct val="150000"/>
              </a:lnSpc>
              <a:spcBef>
                <a:spcPts val="0"/>
              </a:spcBef>
              <a:buFont typeface="Wingdings" pitchFamily="2" charset="2"/>
              <a:buChar char="Ø"/>
            </a:pPr>
            <a:r>
              <a:rPr lang="en-US" altLang="zh-CN" sz="3000" dirty="0">
                <a:sym typeface="Wingdings" pitchFamily="2" charset="2"/>
              </a:rPr>
              <a:t>1787</a:t>
            </a:r>
            <a:r>
              <a:rPr lang="zh-CN" altLang="en-US" sz="3000" dirty="0">
                <a:sym typeface="Wingdings" pitchFamily="2" charset="2"/>
              </a:rPr>
              <a:t>年，拉瓦锡：</a:t>
            </a:r>
            <a:endParaRPr lang="en-US" altLang="zh-CN" sz="3000" dirty="0">
              <a:sym typeface="Wingdings" pitchFamily="2" charset="2"/>
            </a:endParaRPr>
          </a:p>
          <a:p>
            <a:pPr>
              <a:lnSpc>
                <a:spcPct val="150000"/>
              </a:lnSpc>
              <a:spcBef>
                <a:spcPts val="0"/>
              </a:spcBef>
              <a:buNone/>
            </a:pPr>
            <a:r>
              <a:rPr lang="zh-CN" altLang="en-US" sz="3000" dirty="0">
                <a:sym typeface="Wingdings" pitchFamily="2" charset="2"/>
              </a:rPr>
              <a:t>非金属氧化物溶于水后生成酸</a:t>
            </a:r>
            <a:endParaRPr lang="en-US" altLang="zh-CN" sz="3000" dirty="0">
              <a:sym typeface="Wingdings" pitchFamily="2" charset="2"/>
            </a:endParaRPr>
          </a:p>
          <a:p>
            <a:pPr>
              <a:lnSpc>
                <a:spcPct val="150000"/>
              </a:lnSpc>
              <a:spcBef>
                <a:spcPts val="0"/>
              </a:spcBef>
              <a:buNone/>
            </a:pPr>
            <a:r>
              <a:rPr lang="zh-CN" altLang="en-US" sz="3000" dirty="0">
                <a:sym typeface="Wingdings" pitchFamily="2" charset="2"/>
              </a:rPr>
              <a:t>金属氧化物溶于水后生成碱</a:t>
            </a:r>
            <a:endParaRPr lang="en-US" altLang="zh-CN" sz="3000" dirty="0">
              <a:sym typeface="Wingdings" pitchFamily="2" charset="2"/>
            </a:endParaRPr>
          </a:p>
          <a:p>
            <a:pPr>
              <a:lnSpc>
                <a:spcPct val="150000"/>
              </a:lnSpc>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763000" cy="1202485"/>
          </a:xfrm>
        </p:spPr>
        <p:txBody>
          <a:bodyPr>
            <a:normAutofit/>
          </a:bodyPr>
          <a:lstStyle/>
          <a:p>
            <a:pPr algn="l"/>
            <a:r>
              <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23.1.1 </a:t>
            </a: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阿仑尼乌斯酸碱理论</a:t>
            </a:r>
            <a:r>
              <a:rPr lang="en-US" altLang="zh-CN"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电离理论</a:t>
            </a:r>
            <a:endPar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1200"/>
              </a:spcAft>
              <a:buFont typeface="Wingdings" pitchFamily="2" charset="2"/>
              <a:buChar char="Ø"/>
            </a:pPr>
            <a:r>
              <a:rPr lang="zh-CN" altLang="en-US" sz="3000" dirty="0">
                <a:sym typeface="Wingdings" pitchFamily="2" charset="2"/>
              </a:rPr>
              <a:t>酸：在</a:t>
            </a:r>
            <a:r>
              <a:rPr lang="zh-CN" altLang="en-US" sz="3000" b="1" dirty="0">
                <a:solidFill>
                  <a:srgbClr val="002060"/>
                </a:solidFill>
                <a:effectLst>
                  <a:outerShdw blurRad="38100" dist="38100" dir="2700000" algn="tl">
                    <a:srgbClr val="000000">
                      <a:alpha val="43137"/>
                    </a:srgbClr>
                  </a:outerShdw>
                </a:effectLst>
                <a:sym typeface="Wingdings" pitchFamily="2" charset="2"/>
              </a:rPr>
              <a:t>水溶液</a:t>
            </a:r>
            <a:r>
              <a:rPr lang="zh-CN" altLang="en-US" sz="3000" dirty="0">
                <a:sym typeface="Wingdings" pitchFamily="2" charset="2"/>
              </a:rPr>
              <a:t>中电离时产生的</a:t>
            </a:r>
            <a:r>
              <a:rPr lang="zh-CN" altLang="en-US" sz="3000" b="1" dirty="0">
                <a:solidFill>
                  <a:srgbClr val="002060"/>
                </a:solidFill>
                <a:effectLst>
                  <a:outerShdw blurRad="38100" dist="38100" dir="2700000" algn="tl">
                    <a:srgbClr val="000000">
                      <a:alpha val="43137"/>
                    </a:srgbClr>
                  </a:outerShdw>
                </a:effectLst>
                <a:sym typeface="Wingdings" pitchFamily="2" charset="2"/>
              </a:rPr>
              <a:t>阳离子</a:t>
            </a:r>
            <a:r>
              <a:rPr lang="zh-CN" altLang="en-US" sz="3000" b="1" dirty="0">
                <a:solidFill>
                  <a:srgbClr val="002060"/>
                </a:solidFill>
                <a:effectLst>
                  <a:outerShdw blurRad="38100" dist="38100" dir="2700000" algn="tl">
                    <a:srgbClr val="000000">
                      <a:alpha val="43137"/>
                    </a:srgbClr>
                  </a:outerShdw>
                </a:effectLst>
                <a:highlight>
                  <a:srgbClr val="FFFF00"/>
                </a:highlight>
                <a:sym typeface="Wingdings" pitchFamily="2" charset="2"/>
              </a:rPr>
              <a:t>全部</a:t>
            </a:r>
            <a:r>
              <a:rPr lang="zh-CN" altLang="en-US" sz="3000" dirty="0">
                <a:highlight>
                  <a:srgbClr val="FFFF00"/>
                </a:highlight>
                <a:sym typeface="Wingdings" pitchFamily="2" charset="2"/>
              </a:rPr>
              <a:t>是</a:t>
            </a:r>
            <a:r>
              <a:rPr lang="en-US" altLang="zh-CN" sz="3000" b="1" dirty="0">
                <a:solidFill>
                  <a:srgbClr val="002060"/>
                </a:solidFill>
                <a:effectLst>
                  <a:outerShdw blurRad="38100" dist="38100" dir="2700000" algn="tl">
                    <a:srgbClr val="000000">
                      <a:alpha val="43137"/>
                    </a:srgbClr>
                  </a:outerShdw>
                </a:effectLst>
                <a:highlight>
                  <a:srgbClr val="FFFF00"/>
                </a:highlight>
                <a:sym typeface="Wingdings" pitchFamily="2" charset="2"/>
              </a:rPr>
              <a:t>H</a:t>
            </a:r>
            <a:r>
              <a:rPr lang="en-US" altLang="zh-CN" sz="3000" b="1" baseline="30000" dirty="0">
                <a:solidFill>
                  <a:srgbClr val="002060"/>
                </a:solidFill>
                <a:effectLst>
                  <a:outerShdw blurRad="38100" dist="38100" dir="2700000" algn="tl">
                    <a:srgbClr val="000000">
                      <a:alpha val="43137"/>
                    </a:srgbClr>
                  </a:outerShdw>
                </a:effectLst>
                <a:highlight>
                  <a:srgbClr val="FFFF00"/>
                </a:highlight>
                <a:sym typeface="Wingdings" pitchFamily="2" charset="2"/>
              </a:rPr>
              <a:t>+</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的</a:t>
            </a:r>
            <a:r>
              <a:rPr lang="zh-CN" altLang="en-US" sz="3000" dirty="0">
                <a:sym typeface="Wingdings" pitchFamily="2" charset="2"/>
              </a:rPr>
              <a:t>化合物。</a:t>
            </a:r>
            <a:endParaRPr lang="en-US" altLang="zh-CN" sz="3000" dirty="0">
              <a:sym typeface="Wingdings" pitchFamily="2" charset="2"/>
            </a:endParaRPr>
          </a:p>
          <a:p>
            <a:pPr>
              <a:spcBef>
                <a:spcPts val="0"/>
              </a:spcBef>
              <a:spcAft>
                <a:spcPts val="1200"/>
              </a:spcAft>
              <a:buNone/>
            </a:pPr>
            <a:r>
              <a:rPr lang="en-US" altLang="zh-CN" sz="3000" dirty="0">
                <a:sym typeface="Wingdings" pitchFamily="2" charset="2"/>
              </a:rPr>
              <a:t>	</a:t>
            </a: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r>
              <a:rPr lang="en-US" altLang="zh-CN" sz="3000" dirty="0" err="1">
                <a:sym typeface="Wingdings" pitchFamily="2" charset="2"/>
              </a:rPr>
              <a:t>Cl</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spcAft>
                <a:spcPts val="1200"/>
              </a:spcAft>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2H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SO</a:t>
            </a:r>
            <a:r>
              <a:rPr lang="en-US" altLang="zh-CN" sz="3000" baseline="-25000" dirty="0">
                <a:sym typeface="Wingdings" pitchFamily="2" charset="2"/>
              </a:rPr>
              <a:t>4</a:t>
            </a:r>
            <a:r>
              <a:rPr lang="en-US" altLang="zh-CN" sz="3000" baseline="30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spcAft>
                <a:spcPts val="1200"/>
              </a:spcAft>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 COOH(</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CH</a:t>
            </a:r>
            <a:r>
              <a:rPr lang="en-US" altLang="zh-CN" sz="3000" baseline="-25000" dirty="0">
                <a:sym typeface="Wingdings" pitchFamily="2" charset="2"/>
              </a:rPr>
              <a:t>3</a:t>
            </a:r>
            <a:r>
              <a:rPr lang="en-US" altLang="zh-CN" sz="3000" dirty="0">
                <a:sym typeface="Wingdings" pitchFamily="2" charset="2"/>
              </a:rPr>
              <a:t> COO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spcAft>
                <a:spcPts val="1200"/>
              </a:spcAft>
              <a:buNone/>
            </a:pPr>
            <a:r>
              <a:rPr lang="en-US" altLang="zh-CN" sz="3000" dirty="0">
                <a:sym typeface="Wingdings" pitchFamily="2" charset="2"/>
              </a:rPr>
              <a:t>	KHCO</a:t>
            </a:r>
            <a:r>
              <a:rPr lang="en-US" altLang="zh-CN" sz="3000" baseline="-25000" dirty="0">
                <a:sym typeface="Wingdings" pitchFamily="2" charset="2"/>
              </a:rPr>
              <a:t>3</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r>
              <a:rPr lang="en-US" altLang="zh-CN" sz="3000" b="1" dirty="0">
                <a:solidFill>
                  <a:srgbClr val="0070C0"/>
                </a:solidFill>
                <a:effectLst>
                  <a:outerShdw blurRad="38100" dist="38100" dir="2700000" algn="tl">
                    <a:srgbClr val="000000">
                      <a:alpha val="43137"/>
                    </a:srgbClr>
                  </a:outerShdw>
                </a:effectLst>
                <a:sym typeface="Wingdings" pitchFamily="2" charset="2"/>
              </a:rPr>
              <a:t> K</a:t>
            </a:r>
            <a:r>
              <a:rPr lang="en-US" altLang="zh-CN" sz="3000" b="1" baseline="30000" dirty="0">
                <a:solidFill>
                  <a:srgbClr val="0070C0"/>
                </a:solidFill>
                <a:effectLst>
                  <a:outerShdw blurRad="38100" dist="38100" dir="2700000" algn="tl">
                    <a:srgbClr val="000000">
                      <a:alpha val="43137"/>
                    </a:srgbClr>
                  </a:outerShdw>
                </a:effectLst>
                <a:sym typeface="Wingdings" pitchFamily="2" charset="2"/>
              </a:rPr>
              <a:t>+</a:t>
            </a:r>
            <a:r>
              <a:rPr lang="en-US" altLang="zh-CN" sz="3000" b="1" dirty="0">
                <a:solidFill>
                  <a:srgbClr val="0070C0"/>
                </a:solidFill>
                <a:effectLst>
                  <a:outerShdw blurRad="38100" dist="38100" dir="2700000" algn="tl">
                    <a:srgbClr val="000000">
                      <a:alpha val="43137"/>
                    </a:srgbClr>
                  </a:outerShdw>
                </a:effectLst>
                <a:sym typeface="Wingdings" pitchFamily="2" charset="2"/>
              </a:rPr>
              <a:t> (</a:t>
            </a:r>
            <a:r>
              <a:rPr lang="en-US" altLang="zh-CN" sz="3000" b="1" dirty="0" err="1">
                <a:solidFill>
                  <a:srgbClr val="0070C0"/>
                </a:solidFill>
                <a:effectLst>
                  <a:outerShdw blurRad="38100" dist="38100" dir="2700000" algn="tl">
                    <a:srgbClr val="000000">
                      <a:alpha val="43137"/>
                    </a:srgbClr>
                  </a:outerShdw>
                </a:effectLst>
                <a:sym typeface="Wingdings" pitchFamily="2" charset="2"/>
              </a:rPr>
              <a:t>aq</a:t>
            </a:r>
            <a:r>
              <a:rPr lang="en-US" altLang="zh-CN" sz="3000" b="1" dirty="0">
                <a:solidFill>
                  <a:srgbClr val="0070C0"/>
                </a:solidFill>
                <a:effectLst>
                  <a:outerShdw blurRad="38100" dist="38100" dir="2700000" algn="tl">
                    <a:srgbClr val="000000">
                      <a:alpha val="43137"/>
                    </a:srgbClr>
                  </a:outerShdw>
                </a:effectLst>
                <a:sym typeface="Wingdings" pitchFamily="2" charset="2"/>
              </a:rPr>
              <a:t>) + H</a:t>
            </a:r>
            <a:r>
              <a:rPr lang="en-US" altLang="zh-CN" sz="3000" b="1" baseline="30000" dirty="0">
                <a:solidFill>
                  <a:srgbClr val="0070C0"/>
                </a:solidFill>
                <a:effectLst>
                  <a:outerShdw blurRad="38100" dist="38100" dir="2700000" algn="tl">
                    <a:srgbClr val="000000">
                      <a:alpha val="43137"/>
                    </a:srgbClr>
                  </a:outerShdw>
                </a:effectLst>
                <a:sym typeface="Wingdings" pitchFamily="2" charset="2"/>
              </a:rPr>
              <a:t>+</a:t>
            </a:r>
            <a:r>
              <a:rPr lang="en-US" altLang="zh-CN" sz="3000" b="1" dirty="0">
                <a:solidFill>
                  <a:srgbClr val="0070C0"/>
                </a:solidFill>
                <a:effectLst>
                  <a:outerShdw blurRad="38100" dist="38100" dir="2700000" algn="tl">
                    <a:srgbClr val="000000">
                      <a:alpha val="43137"/>
                    </a:srgbClr>
                  </a:outerShdw>
                </a:effectLst>
                <a:sym typeface="Wingdings" pitchFamily="2" charset="2"/>
              </a:rPr>
              <a:t> (</a:t>
            </a:r>
            <a:r>
              <a:rPr lang="en-US" altLang="zh-CN" sz="3000" b="1" dirty="0" err="1">
                <a:solidFill>
                  <a:srgbClr val="0070C0"/>
                </a:solidFill>
                <a:effectLst>
                  <a:outerShdw blurRad="38100" dist="38100" dir="2700000" algn="tl">
                    <a:srgbClr val="000000">
                      <a:alpha val="43137"/>
                    </a:srgbClr>
                  </a:outerShdw>
                </a:effectLst>
                <a:sym typeface="Wingdings" pitchFamily="2" charset="2"/>
              </a:rPr>
              <a:t>aq</a:t>
            </a:r>
            <a:r>
              <a:rPr lang="en-US" altLang="zh-CN" sz="3000" b="1" dirty="0">
                <a:solidFill>
                  <a:srgbClr val="0070C0"/>
                </a:solidFill>
                <a:effectLst>
                  <a:outerShdw blurRad="38100" dist="38100" dir="2700000" algn="tl">
                    <a:srgbClr val="000000">
                      <a:alpha val="43137"/>
                    </a:srgbClr>
                  </a:outerShdw>
                </a:effectLst>
                <a:sym typeface="Wingdings" pitchFamily="2" charset="2"/>
              </a:rPr>
              <a:t>) </a:t>
            </a:r>
            <a:r>
              <a:rPr lang="en-US" altLang="zh-CN" sz="3000" dirty="0">
                <a:sym typeface="Wingdings" pitchFamily="2" charset="2"/>
              </a:rPr>
              <a:t>+ CO</a:t>
            </a:r>
            <a:r>
              <a:rPr lang="en-US" altLang="zh-CN" sz="3000" baseline="-25000" dirty="0">
                <a:sym typeface="Wingdings" pitchFamily="2" charset="2"/>
              </a:rPr>
              <a:t>3</a:t>
            </a:r>
            <a:r>
              <a:rPr lang="en-US" altLang="zh-CN" sz="3000" baseline="30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buFont typeface="Wingdings" pitchFamily="2" charset="2"/>
              <a:buChar char="Ø"/>
            </a:pP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酸的通性：能使石蕊变红，能与碱起中和反应，能与活泼金属反应，能与碳酸盐反应等。</a:t>
            </a:r>
            <a:endParaRPr lang="en-US" altLang="zh-CN" sz="3000" dirty="0">
              <a:sym typeface="Wingdings" pitchFamily="2" charset="2"/>
            </a:endParaRPr>
          </a:p>
        </p:txBody>
      </p:sp>
      <p:sp>
        <p:nvSpPr>
          <p:cNvPr id="5" name="Right Brace 4"/>
          <p:cNvSpPr/>
          <p:nvPr/>
        </p:nvSpPr>
        <p:spPr>
          <a:xfrm>
            <a:off x="7391400" y="1981200"/>
            <a:ext cx="381000" cy="1676400"/>
          </a:xfrm>
          <a:prstGeom prst="rightBrace">
            <a:avLst/>
          </a:prstGeom>
          <a:ln>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TextBox 5"/>
          <p:cNvSpPr txBox="1"/>
          <p:nvPr/>
        </p:nvSpPr>
        <p:spPr>
          <a:xfrm>
            <a:off x="7863165" y="2539425"/>
            <a:ext cx="595035" cy="58477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b="1" dirty="0">
                <a:solidFill>
                  <a:srgbClr val="002060"/>
                </a:solidFill>
                <a:effectLst>
                  <a:outerShdw blurRad="38100" dist="38100" dir="2700000" algn="tl">
                    <a:srgbClr val="000000">
                      <a:alpha val="43137"/>
                    </a:srgbClr>
                  </a:outerShdw>
                </a:effectLst>
              </a:rPr>
              <a:t>酸</a:t>
            </a:r>
            <a:endParaRPr lang="en-US" sz="3000" b="1" dirty="0">
              <a:solidFill>
                <a:srgbClr val="002060"/>
              </a:solidFill>
              <a:effectLst>
                <a:outerShdw blurRad="38100" dist="38100" dir="2700000" algn="tl">
                  <a:srgbClr val="000000">
                    <a:alpha val="43137"/>
                  </a:srgbClr>
                </a:outerShdw>
              </a:effectLst>
            </a:endParaRPr>
          </a:p>
        </p:txBody>
      </p:sp>
      <p:sp>
        <p:nvSpPr>
          <p:cNvPr id="7" name="TextBox 6"/>
          <p:cNvSpPr txBox="1"/>
          <p:nvPr/>
        </p:nvSpPr>
        <p:spPr>
          <a:xfrm>
            <a:off x="7620000" y="3758625"/>
            <a:ext cx="1420582" cy="58477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b="1" dirty="0">
                <a:solidFill>
                  <a:srgbClr val="0070C0"/>
                </a:solidFill>
                <a:effectLst>
                  <a:outerShdw blurRad="38100" dist="38100" dir="2700000" algn="tl">
                    <a:srgbClr val="000000">
                      <a:alpha val="43137"/>
                    </a:srgbClr>
                  </a:outerShdw>
                </a:effectLst>
              </a:rPr>
              <a:t>酸式盐</a:t>
            </a:r>
            <a:endParaRPr lang="en-US" sz="30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763000" cy="1202485"/>
          </a:xfrm>
        </p:spPr>
        <p:txBody>
          <a:bodyPr>
            <a:normAutofit/>
          </a:bodyPr>
          <a:lstStyle/>
          <a:p>
            <a:pPr algn="l"/>
            <a:r>
              <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23.1.1 </a:t>
            </a: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阿仑尼乌斯酸碱理论</a:t>
            </a:r>
            <a:r>
              <a:rPr lang="en-US" altLang="zh-CN"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电离理论</a:t>
            </a:r>
            <a:endPar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1200"/>
              </a:spcAft>
              <a:buFont typeface="Wingdings" pitchFamily="2" charset="2"/>
              <a:buChar char="Ø"/>
            </a:pPr>
            <a:r>
              <a:rPr lang="zh-CN" altLang="en-US" sz="3000" dirty="0">
                <a:sym typeface="Wingdings" pitchFamily="2" charset="2"/>
              </a:rPr>
              <a:t>碱：在</a:t>
            </a:r>
            <a:r>
              <a:rPr lang="zh-CN" altLang="en-US" sz="3000" b="1" dirty="0">
                <a:solidFill>
                  <a:srgbClr val="002060"/>
                </a:solidFill>
                <a:effectLst>
                  <a:outerShdw blurRad="38100" dist="38100" dir="2700000" algn="tl">
                    <a:srgbClr val="000000">
                      <a:alpha val="43137"/>
                    </a:srgbClr>
                  </a:outerShdw>
                </a:effectLst>
                <a:sym typeface="Wingdings" pitchFamily="2" charset="2"/>
              </a:rPr>
              <a:t>水溶液</a:t>
            </a:r>
            <a:r>
              <a:rPr lang="zh-CN" altLang="en-US" sz="3000" dirty="0">
                <a:sym typeface="Wingdings" pitchFamily="2" charset="2"/>
              </a:rPr>
              <a:t>中电离时产生的</a:t>
            </a:r>
            <a:r>
              <a:rPr lang="zh-CN" altLang="en-US" sz="3000" b="1" dirty="0">
                <a:solidFill>
                  <a:srgbClr val="002060"/>
                </a:solidFill>
                <a:effectLst>
                  <a:outerShdw blurRad="38100" dist="38100" dir="2700000" algn="tl">
                    <a:srgbClr val="000000">
                      <a:alpha val="43137"/>
                    </a:srgbClr>
                  </a:outerShdw>
                </a:effectLst>
                <a:sym typeface="Wingdings" pitchFamily="2" charset="2"/>
              </a:rPr>
              <a:t>阴离子</a:t>
            </a:r>
            <a:r>
              <a:rPr lang="zh-CN" altLang="en-US" sz="3000" b="1" dirty="0">
                <a:solidFill>
                  <a:srgbClr val="002060"/>
                </a:solidFill>
                <a:effectLst>
                  <a:outerShdw blurRad="38100" dist="38100" dir="2700000" algn="tl">
                    <a:srgbClr val="000000">
                      <a:alpha val="43137"/>
                    </a:srgbClr>
                  </a:outerShdw>
                </a:effectLst>
                <a:highlight>
                  <a:srgbClr val="FFFF00"/>
                </a:highlight>
                <a:sym typeface="Wingdings" pitchFamily="2" charset="2"/>
              </a:rPr>
              <a:t>全部</a:t>
            </a:r>
            <a:r>
              <a:rPr lang="zh-CN" altLang="en-US" sz="3000" dirty="0">
                <a:highlight>
                  <a:srgbClr val="FFFF00"/>
                </a:highlight>
                <a:sym typeface="Wingdings" pitchFamily="2" charset="2"/>
              </a:rPr>
              <a:t>是</a:t>
            </a:r>
            <a:r>
              <a:rPr lang="en-US" altLang="zh-CN" sz="3000" b="1" dirty="0">
                <a:solidFill>
                  <a:srgbClr val="002060"/>
                </a:solidFill>
                <a:effectLst>
                  <a:outerShdw blurRad="38100" dist="38100" dir="2700000" algn="tl">
                    <a:srgbClr val="000000">
                      <a:alpha val="43137"/>
                    </a:srgbClr>
                  </a:outerShdw>
                </a:effectLst>
                <a:highlight>
                  <a:srgbClr val="FFFF00"/>
                </a:highlight>
                <a:sym typeface="Wingdings" pitchFamily="2" charset="2"/>
              </a:rPr>
              <a:t>OH</a:t>
            </a:r>
            <a:r>
              <a:rPr lang="en-US" altLang="zh-CN" sz="3000" b="1" baseline="30000" dirty="0">
                <a:solidFill>
                  <a:srgbClr val="002060"/>
                </a:solidFill>
                <a:effectLst>
                  <a:outerShdw blurRad="38100" dist="38100" dir="2700000" algn="tl">
                    <a:srgbClr val="000000">
                      <a:alpha val="43137"/>
                    </a:srgbClr>
                  </a:outerShdw>
                </a:effectLst>
                <a:highlight>
                  <a:srgbClr val="FFFF00"/>
                </a:highlight>
                <a:sym typeface="Wingdings" pitchFamily="2" charset="2"/>
              </a:rPr>
              <a:t>-</a:t>
            </a:r>
            <a:r>
              <a:rPr lang="zh-CN" altLang="en-US" sz="3000" dirty="0">
                <a:highlight>
                  <a:srgbClr val="FFFF00"/>
                </a:highlight>
                <a:sym typeface="Wingdings" pitchFamily="2" charset="2"/>
              </a:rPr>
              <a:t>的</a:t>
            </a:r>
            <a:r>
              <a:rPr lang="zh-CN" altLang="en-US" sz="3000" dirty="0">
                <a:sym typeface="Wingdings" pitchFamily="2" charset="2"/>
              </a:rPr>
              <a:t>化合物。</a:t>
            </a:r>
            <a:endParaRPr lang="en-US" altLang="zh-CN" sz="3000" dirty="0">
              <a:sym typeface="Wingdings" pitchFamily="2" charset="2"/>
            </a:endParaRPr>
          </a:p>
          <a:p>
            <a:pPr>
              <a:spcBef>
                <a:spcPts val="0"/>
              </a:spcBef>
              <a:spcAft>
                <a:spcPts val="1200"/>
              </a:spcAft>
              <a:buNone/>
            </a:pPr>
            <a:r>
              <a:rPr lang="en-US" altLang="zh-CN" sz="3000" dirty="0">
                <a:sym typeface="Wingdings" pitchFamily="2" charset="2"/>
              </a:rPr>
              <a:t>	</a:t>
            </a:r>
            <a:r>
              <a:rPr lang="en-US" altLang="zh-CN" sz="3000" dirty="0" err="1">
                <a:sym typeface="Wingdings" pitchFamily="2" charset="2"/>
              </a:rPr>
              <a:t>NaOH</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Na</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spcAft>
                <a:spcPts val="1200"/>
              </a:spcAft>
              <a:buNone/>
            </a:pPr>
            <a:r>
              <a:rPr lang="en-US" altLang="zh-CN" sz="3000" dirty="0">
                <a:sym typeface="Wingdings" pitchFamily="2" charset="2"/>
              </a:rPr>
              <a:t>	Ca(OH)</a:t>
            </a:r>
            <a:r>
              <a:rPr lang="en-US" altLang="zh-CN" sz="3000" baseline="-25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Ca</a:t>
            </a:r>
            <a:r>
              <a:rPr lang="en-US" altLang="zh-CN" sz="3000" baseline="30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spcAft>
                <a:spcPts val="1200"/>
              </a:spcAft>
              <a:buNone/>
            </a:pPr>
            <a:r>
              <a:rPr lang="en-US" altLang="zh-CN" sz="3000" dirty="0">
                <a:sym typeface="Wingdings" pitchFamily="2" charset="2"/>
              </a:rPr>
              <a:t>	NH</a:t>
            </a:r>
            <a:r>
              <a:rPr lang="en-US" altLang="zh-CN" sz="3000" baseline="-25000" dirty="0">
                <a:sym typeface="Wingdings" pitchFamily="2" charset="2"/>
              </a:rPr>
              <a:t>3</a:t>
            </a:r>
            <a:r>
              <a:rPr lang="en-US" altLang="zh-CN" sz="3000" dirty="0">
                <a:sym typeface="Wingdings" pitchFamily="2" charset="2"/>
              </a:rPr>
              <a:t> </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a:latin typeface="Arial"/>
                <a:cs typeface="Arial"/>
                <a:sym typeface="Wingdings" pitchFamily="2" charset="2"/>
              </a:rPr>
              <a:t>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spcAft>
                <a:spcPts val="1200"/>
              </a:spcAft>
              <a:buNone/>
            </a:pPr>
            <a:r>
              <a:rPr lang="en-US" altLang="zh-CN" sz="3000" dirty="0">
                <a:sym typeface="Wingdings" pitchFamily="2" charset="2"/>
              </a:rPr>
              <a:t>	</a:t>
            </a:r>
            <a:r>
              <a:rPr lang="en-US" sz="2800" dirty="0"/>
              <a:t>Cu</a:t>
            </a:r>
            <a:r>
              <a:rPr lang="en-US" sz="2800" baseline="-25000" dirty="0"/>
              <a:t>2</a:t>
            </a:r>
            <a:r>
              <a:rPr lang="en-US" sz="2800" dirty="0"/>
              <a:t>(OH)</a:t>
            </a:r>
            <a:r>
              <a:rPr lang="en-US" sz="2800" baseline="-25000" dirty="0"/>
              <a:t>2</a:t>
            </a:r>
            <a:r>
              <a:rPr lang="en-US" sz="2800" dirty="0"/>
              <a:t>CO</a:t>
            </a:r>
            <a:r>
              <a:rPr lang="en-US" sz="2800" baseline="-25000" dirty="0"/>
              <a:t>3</a:t>
            </a:r>
            <a:r>
              <a:rPr lang="en-US" altLang="zh-CN" sz="3000" dirty="0">
                <a:sym typeface="Wingdings" pitchFamily="2" charset="2"/>
              </a:rPr>
              <a:t> (s)</a:t>
            </a:r>
            <a:r>
              <a:rPr lang="zh-CN" altLang="en-US" sz="3000" dirty="0">
                <a:sym typeface="Wingdings" pitchFamily="2" charset="2"/>
              </a:rPr>
              <a:t> ↔</a:t>
            </a:r>
            <a:r>
              <a:rPr lang="en-US" altLang="zh-CN" sz="3000" dirty="0">
                <a:sym typeface="Wingdings" pitchFamily="2" charset="2"/>
              </a:rPr>
              <a:t> </a:t>
            </a:r>
            <a:r>
              <a:rPr lang="en-US" altLang="zh-CN" sz="3000" b="1" dirty="0">
                <a:solidFill>
                  <a:srgbClr val="0070C0"/>
                </a:solidFill>
                <a:effectLst>
                  <a:outerShdw blurRad="38100" dist="38100" dir="2700000" algn="tl">
                    <a:srgbClr val="000000">
                      <a:alpha val="43137"/>
                    </a:srgbClr>
                  </a:outerShdw>
                </a:effectLst>
                <a:sym typeface="Wingdings" pitchFamily="2" charset="2"/>
              </a:rPr>
              <a:t>  2OH</a:t>
            </a:r>
            <a:r>
              <a:rPr lang="en-US" altLang="zh-CN" sz="3000" b="1" baseline="30000" dirty="0">
                <a:solidFill>
                  <a:srgbClr val="0070C0"/>
                </a:solidFill>
                <a:effectLst>
                  <a:outerShdw blurRad="38100" dist="38100" dir="2700000" algn="tl">
                    <a:srgbClr val="000000">
                      <a:alpha val="43137"/>
                    </a:srgbClr>
                  </a:outerShdw>
                </a:effectLst>
                <a:sym typeface="Wingdings" pitchFamily="2" charset="2"/>
              </a:rPr>
              <a:t>-</a:t>
            </a:r>
            <a:r>
              <a:rPr lang="en-US" altLang="zh-CN" sz="3000" b="1" dirty="0">
                <a:solidFill>
                  <a:srgbClr val="0070C0"/>
                </a:solidFill>
                <a:effectLst>
                  <a:outerShdw blurRad="38100" dist="38100" dir="2700000" algn="tl">
                    <a:srgbClr val="000000">
                      <a:alpha val="43137"/>
                    </a:srgbClr>
                  </a:outerShdw>
                </a:effectLst>
                <a:sym typeface="Wingdings" pitchFamily="2" charset="2"/>
              </a:rPr>
              <a:t> (</a:t>
            </a:r>
            <a:r>
              <a:rPr lang="en-US" altLang="zh-CN" sz="3000" b="1" dirty="0" err="1">
                <a:solidFill>
                  <a:srgbClr val="0070C0"/>
                </a:solidFill>
                <a:effectLst>
                  <a:outerShdw blurRad="38100" dist="38100" dir="2700000" algn="tl">
                    <a:srgbClr val="000000">
                      <a:alpha val="43137"/>
                    </a:srgbClr>
                  </a:outerShdw>
                </a:effectLst>
                <a:sym typeface="Wingdings" pitchFamily="2" charset="2"/>
              </a:rPr>
              <a:t>aq</a:t>
            </a:r>
            <a:r>
              <a:rPr lang="en-US" altLang="zh-CN" sz="3000" b="1" dirty="0">
                <a:solidFill>
                  <a:srgbClr val="0070C0"/>
                </a:solidFill>
                <a:effectLst>
                  <a:outerShdw blurRad="38100" dist="38100" dir="2700000" algn="tl">
                    <a:srgbClr val="000000">
                      <a:alpha val="43137"/>
                    </a:srgbClr>
                  </a:outerShdw>
                </a:effectLst>
                <a:sym typeface="Wingdings" pitchFamily="2" charset="2"/>
              </a:rPr>
              <a:t>) + CO</a:t>
            </a:r>
            <a:r>
              <a:rPr lang="en-US" altLang="zh-CN" sz="3000" b="1" baseline="-25000" dirty="0">
                <a:solidFill>
                  <a:srgbClr val="0070C0"/>
                </a:solidFill>
                <a:effectLst>
                  <a:outerShdw blurRad="38100" dist="38100" dir="2700000" algn="tl">
                    <a:srgbClr val="000000">
                      <a:alpha val="43137"/>
                    </a:srgbClr>
                  </a:outerShdw>
                </a:effectLst>
                <a:sym typeface="Wingdings" pitchFamily="2" charset="2"/>
              </a:rPr>
              <a:t>3</a:t>
            </a:r>
            <a:r>
              <a:rPr lang="en-US" altLang="zh-CN" sz="3000" b="1" baseline="30000" dirty="0">
                <a:solidFill>
                  <a:srgbClr val="0070C0"/>
                </a:solidFill>
                <a:effectLst>
                  <a:outerShdw blurRad="38100" dist="38100" dir="2700000" algn="tl">
                    <a:srgbClr val="000000">
                      <a:alpha val="43137"/>
                    </a:srgbClr>
                  </a:outerShdw>
                </a:effectLst>
                <a:sym typeface="Wingdings" pitchFamily="2" charset="2"/>
              </a:rPr>
              <a:t>2-</a:t>
            </a:r>
            <a:r>
              <a:rPr lang="en-US" altLang="zh-CN" sz="3000" b="1" dirty="0">
                <a:solidFill>
                  <a:srgbClr val="0070C0"/>
                </a:solidFill>
                <a:effectLst>
                  <a:outerShdw blurRad="38100" dist="38100" dir="2700000" algn="tl">
                    <a:srgbClr val="000000">
                      <a:alpha val="43137"/>
                    </a:srgbClr>
                  </a:outerShdw>
                </a:effectLst>
                <a:sym typeface="Wingdings" pitchFamily="2" charset="2"/>
              </a:rPr>
              <a:t>(</a:t>
            </a:r>
            <a:r>
              <a:rPr lang="en-US" altLang="zh-CN" sz="3000" b="1" dirty="0" err="1">
                <a:solidFill>
                  <a:srgbClr val="0070C0"/>
                </a:solidFill>
                <a:effectLst>
                  <a:outerShdw blurRad="38100" dist="38100" dir="2700000" algn="tl">
                    <a:srgbClr val="000000">
                      <a:alpha val="43137"/>
                    </a:srgbClr>
                  </a:outerShdw>
                </a:effectLst>
                <a:sym typeface="Wingdings" pitchFamily="2" charset="2"/>
              </a:rPr>
              <a:t>aq</a:t>
            </a:r>
            <a:r>
              <a:rPr lang="en-US" altLang="zh-CN" sz="3000" b="1" dirty="0">
                <a:solidFill>
                  <a:srgbClr val="0070C0"/>
                </a:solidFill>
                <a:effectLst>
                  <a:outerShdw blurRad="38100" dist="38100" dir="2700000" algn="tl">
                    <a:srgbClr val="000000">
                      <a:alpha val="43137"/>
                    </a:srgbClr>
                  </a:outerShdw>
                </a:effectLst>
                <a:sym typeface="Wingdings" pitchFamily="2" charset="2"/>
              </a:rPr>
              <a:t>) </a:t>
            </a:r>
            <a:r>
              <a:rPr lang="en-US" altLang="zh-CN" sz="3000" dirty="0">
                <a:sym typeface="Wingdings" pitchFamily="2" charset="2"/>
              </a:rPr>
              <a:t>+ 2Cu</a:t>
            </a:r>
            <a:r>
              <a:rPr lang="en-US" altLang="zh-CN" sz="3000" baseline="30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spcAft>
                <a:spcPts val="1200"/>
              </a:spcAft>
              <a:buFont typeface="Wingdings" pitchFamily="2" charset="2"/>
              <a:buChar char="Ø"/>
            </a:pPr>
            <a:endParaRPr lang="en-US" altLang="zh-CN" sz="3000" dirty="0">
              <a:sym typeface="Wingdings" pitchFamily="2" charset="2"/>
            </a:endParaRPr>
          </a:p>
          <a:p>
            <a:pPr>
              <a:spcBef>
                <a:spcPts val="0"/>
              </a:spcBef>
              <a:spcAft>
                <a:spcPts val="1200"/>
              </a:spcAft>
              <a:buFont typeface="Wingdings" pitchFamily="2" charset="2"/>
              <a:buChar char="Ø"/>
            </a:pPr>
            <a:r>
              <a:rPr lang="zh-CN" altLang="en-US" sz="3000" dirty="0">
                <a:sym typeface="Wingdings" pitchFamily="2" charset="2"/>
              </a:rPr>
              <a:t>碱的通性：能使石蕊变蓝，能与酸起中和反应，能与酸性氧化物反应等。</a:t>
            </a:r>
            <a:endParaRPr lang="en-US" altLang="zh-CN" sz="3000" dirty="0">
              <a:sym typeface="Wingdings" pitchFamily="2" charset="2"/>
            </a:endParaRPr>
          </a:p>
          <a:p>
            <a:pPr>
              <a:spcBef>
                <a:spcPts val="0"/>
              </a:spcBef>
              <a:buFont typeface="Wingdings" pitchFamily="2" charset="2"/>
              <a:buChar char="Ø"/>
            </a:pPr>
            <a:endParaRPr lang="en-US" altLang="zh-CN" sz="3000" dirty="0">
              <a:sym typeface="Wingdings" pitchFamily="2" charset="2"/>
            </a:endParaRPr>
          </a:p>
        </p:txBody>
      </p:sp>
      <p:sp>
        <p:nvSpPr>
          <p:cNvPr id="5" name="Right Brace 4"/>
          <p:cNvSpPr/>
          <p:nvPr/>
        </p:nvSpPr>
        <p:spPr>
          <a:xfrm>
            <a:off x="6705600" y="2133600"/>
            <a:ext cx="381000" cy="1676400"/>
          </a:xfrm>
          <a:prstGeom prst="rightBrace">
            <a:avLst/>
          </a:prstGeom>
          <a:ln>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TextBox 5"/>
          <p:cNvSpPr txBox="1"/>
          <p:nvPr/>
        </p:nvSpPr>
        <p:spPr>
          <a:xfrm>
            <a:off x="7177365" y="2691825"/>
            <a:ext cx="595035" cy="58477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dirty="0"/>
              <a:t>碱</a:t>
            </a:r>
            <a:endParaRPr lang="en-US" sz="3000" dirty="0"/>
          </a:p>
        </p:txBody>
      </p:sp>
      <p:sp>
        <p:nvSpPr>
          <p:cNvPr id="7" name="TextBox 6"/>
          <p:cNvSpPr txBox="1"/>
          <p:nvPr/>
        </p:nvSpPr>
        <p:spPr>
          <a:xfrm>
            <a:off x="6885218" y="4444425"/>
            <a:ext cx="1420582" cy="58477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b="1" dirty="0">
                <a:solidFill>
                  <a:srgbClr val="002060"/>
                </a:solidFill>
                <a:effectLst>
                  <a:outerShdw blurRad="38100" dist="38100" dir="2700000" algn="tl">
                    <a:srgbClr val="000000">
                      <a:alpha val="43137"/>
                    </a:srgbClr>
                  </a:outerShdw>
                </a:effectLst>
              </a:rPr>
              <a:t>碱式盐</a:t>
            </a:r>
            <a:endParaRPr lang="en-US" sz="30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763000" cy="1202485"/>
          </a:xfrm>
        </p:spPr>
        <p:txBody>
          <a:bodyPr>
            <a:normAutofit/>
          </a:bodyPr>
          <a:lstStyle/>
          <a:p>
            <a:pPr algn="l"/>
            <a:r>
              <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23.1.1 </a:t>
            </a: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阿仑尼乌斯酸碱理论</a:t>
            </a:r>
            <a:r>
              <a:rPr lang="en-US" altLang="zh-CN"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电离理论</a:t>
            </a:r>
            <a:endPar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1200"/>
              </a:spcAft>
              <a:buFont typeface="Wingdings" pitchFamily="2" charset="2"/>
              <a:buChar char="Ø"/>
            </a:pPr>
            <a:r>
              <a:rPr lang="zh-CN" altLang="en-US" sz="3000" dirty="0">
                <a:sym typeface="Wingdings" pitchFamily="2" charset="2"/>
              </a:rPr>
              <a:t>揭示了酸碱在</a:t>
            </a:r>
            <a:r>
              <a:rPr lang="zh-CN" altLang="en-US" sz="3000" b="1" dirty="0">
                <a:solidFill>
                  <a:srgbClr val="002060"/>
                </a:solidFill>
                <a:effectLst>
                  <a:outerShdw blurRad="38100" dist="38100" dir="2700000" algn="tl">
                    <a:srgbClr val="000000">
                      <a:alpha val="43137"/>
                    </a:srgbClr>
                  </a:outerShdw>
                </a:effectLst>
                <a:sym typeface="Wingdings" pitchFamily="2" charset="2"/>
              </a:rPr>
              <a:t>水溶液</a:t>
            </a:r>
            <a:r>
              <a:rPr lang="zh-CN" altLang="en-US" sz="3000" dirty="0">
                <a:sym typeface="Wingdings" pitchFamily="2" charset="2"/>
              </a:rPr>
              <a:t>中的本质特征。</a:t>
            </a:r>
            <a:endParaRPr lang="en-US" altLang="zh-CN" sz="3000" dirty="0">
              <a:sym typeface="Wingdings" pitchFamily="2" charset="2"/>
            </a:endParaRPr>
          </a:p>
          <a:p>
            <a:pPr>
              <a:spcBef>
                <a:spcPts val="0"/>
              </a:spcBef>
              <a:spcAft>
                <a:spcPts val="600"/>
              </a:spcAft>
              <a:buFont typeface="Wingdings" pitchFamily="2" charset="2"/>
              <a:buChar char="Ø"/>
            </a:pPr>
            <a:r>
              <a:rPr lang="zh-CN" altLang="en-US" sz="3000" dirty="0">
                <a:sym typeface="Wingdings" pitchFamily="2" charset="2"/>
              </a:rPr>
              <a:t>酸碱中和反应的实质是</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和</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反应生成</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zh-CN" altLang="en-US" sz="3000" dirty="0">
                <a:sym typeface="Wingdings" pitchFamily="2" charset="2"/>
              </a:rPr>
              <a:t>。</a:t>
            </a:r>
            <a:endParaRPr lang="en-US" altLang="zh-CN" sz="2600" dirty="0">
              <a:sym typeface="Wingdings" pitchFamily="2" charset="2"/>
            </a:endParaRPr>
          </a:p>
          <a:p>
            <a:pPr>
              <a:spcBef>
                <a:spcPts val="0"/>
              </a:spcBef>
              <a:spcAft>
                <a:spcPts val="600"/>
              </a:spcAft>
              <a:buNone/>
            </a:pPr>
            <a:r>
              <a:rPr lang="en-US" altLang="zh-CN" sz="3000" dirty="0">
                <a:sym typeface="Wingdings" pitchFamily="2" charset="2"/>
              </a:rPr>
              <a:t>	 		H</a:t>
            </a:r>
            <a:r>
              <a:rPr lang="en-US" altLang="zh-CN" sz="3000" baseline="30000" dirty="0">
                <a:sym typeface="Wingdings" pitchFamily="2" charset="2"/>
              </a:rPr>
              <a:t>+ </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r>
              <a:rPr lang="zh-CN" altLang="en-US" sz="3000" dirty="0">
                <a:sym typeface="Wingdings" pitchFamily="2" charset="2"/>
              </a:rPr>
              <a:t> </a:t>
            </a: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O (l)</a:t>
            </a:r>
          </a:p>
          <a:p>
            <a:pPr>
              <a:spcBef>
                <a:spcPts val="0"/>
              </a:spcBef>
              <a:buNone/>
            </a:pPr>
            <a:r>
              <a:rPr lang="zh-CN" altLang="en-US" sz="3000" u="sng" dirty="0">
                <a:sym typeface="Wingdings" pitchFamily="2" charset="2"/>
              </a:rPr>
              <a:t>交流分享</a:t>
            </a:r>
            <a:endParaRPr lang="en-US" altLang="zh-CN" sz="3000" u="sng"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酸：</a:t>
            </a:r>
            <a:r>
              <a:rPr lang="en-US" altLang="zh-CN" sz="3000" dirty="0">
                <a:sym typeface="Wingdings" pitchFamily="2" charset="2"/>
              </a:rPr>
              <a:t>HClO</a:t>
            </a:r>
            <a:r>
              <a:rPr lang="en-US" altLang="zh-CN" sz="3000" baseline="-25000" dirty="0">
                <a:sym typeface="Wingdings" pitchFamily="2" charset="2"/>
              </a:rPr>
              <a:t>4</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 SO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 CO</a:t>
            </a:r>
            <a:r>
              <a:rPr lang="en-US" altLang="zh-CN" sz="3000" baseline="-25000" dirty="0">
                <a:sym typeface="Wingdings" pitchFamily="2" charset="2"/>
              </a:rPr>
              <a:t>3</a:t>
            </a:r>
            <a:r>
              <a:rPr lang="en-US" altLang="zh-CN" sz="3000" dirty="0">
                <a:sym typeface="Wingdings" pitchFamily="2" charset="2"/>
              </a:rPr>
              <a:t> </a:t>
            </a:r>
          </a:p>
          <a:p>
            <a:pPr>
              <a:spcBef>
                <a:spcPts val="0"/>
              </a:spcBef>
              <a:spcAft>
                <a:spcPts val="1200"/>
              </a:spcAft>
              <a:buNone/>
            </a:pPr>
            <a:r>
              <a:rPr lang="en-US" altLang="zh-CN" sz="3000" dirty="0">
                <a:sym typeface="Wingdings" pitchFamily="2" charset="2"/>
              </a:rPr>
              <a:t>	</a:t>
            </a:r>
            <a:r>
              <a:rPr lang="zh-CN" altLang="en-US" sz="3000" dirty="0">
                <a:sym typeface="Wingdings" pitchFamily="2" charset="2"/>
              </a:rPr>
              <a:t>碱：</a:t>
            </a:r>
            <a:r>
              <a:rPr lang="en-US" altLang="zh-CN" sz="3000" dirty="0">
                <a:sym typeface="Wingdings" pitchFamily="2" charset="2"/>
              </a:rPr>
              <a:t>KOH</a:t>
            </a:r>
            <a:r>
              <a:rPr lang="zh-CN" altLang="en-US" sz="3000" dirty="0">
                <a:sym typeface="Wingdings" pitchFamily="2" charset="2"/>
              </a:rPr>
              <a:t>、</a:t>
            </a:r>
            <a:r>
              <a:rPr lang="en-US" altLang="zh-CN" sz="3000" dirty="0" err="1">
                <a:sym typeface="Wingdings" pitchFamily="2" charset="2"/>
              </a:rPr>
              <a:t>Ba</a:t>
            </a:r>
            <a:r>
              <a:rPr lang="en-US" altLang="zh-CN" sz="3000" dirty="0">
                <a:sym typeface="Wingdings" pitchFamily="2" charset="2"/>
              </a:rPr>
              <a:t>(OH)</a:t>
            </a:r>
            <a:r>
              <a:rPr lang="en-US" altLang="zh-CN" sz="3000" baseline="-25000" dirty="0">
                <a:sym typeface="Wingdings" pitchFamily="2" charset="2"/>
              </a:rPr>
              <a:t>2</a:t>
            </a:r>
            <a:r>
              <a:rPr lang="en-US" altLang="zh-CN" sz="3000" dirty="0">
                <a:sym typeface="Wingdings" pitchFamily="2" charset="2"/>
              </a:rPr>
              <a:t> </a:t>
            </a:r>
          </a:p>
          <a:p>
            <a:pPr>
              <a:spcBef>
                <a:spcPts val="0"/>
              </a:spcBef>
              <a:spcAft>
                <a:spcPts val="1200"/>
              </a:spcAft>
              <a:buFont typeface="Wingdings" pitchFamily="2" charset="2"/>
              <a:buChar char="Ø"/>
            </a:pPr>
            <a:r>
              <a:rPr lang="zh-CN" altLang="en-US" sz="3000" dirty="0">
                <a:sym typeface="Wingdings" pitchFamily="2" charset="2"/>
              </a:rPr>
              <a:t>优点：酸碱的相对</a:t>
            </a:r>
            <a:r>
              <a:rPr lang="zh-CN" altLang="en-US" sz="3000" dirty="0">
                <a:highlight>
                  <a:srgbClr val="FFFF00"/>
                </a:highlight>
                <a:sym typeface="Wingdings" pitchFamily="2" charset="2"/>
              </a:rPr>
              <a:t>强弱</a:t>
            </a:r>
            <a:r>
              <a:rPr lang="zh-CN" altLang="en-US" sz="3000" dirty="0">
                <a:sym typeface="Wingdings" pitchFamily="2" charset="2"/>
              </a:rPr>
              <a:t>取决与在水溶液中</a:t>
            </a:r>
            <a:r>
              <a:rPr lang="zh-CN" altLang="en-US" sz="3000" dirty="0">
                <a:highlight>
                  <a:srgbClr val="FFFF00"/>
                </a:highlight>
                <a:sym typeface="Wingdings" pitchFamily="2" charset="2"/>
              </a:rPr>
              <a:t>电离出</a:t>
            </a:r>
            <a:r>
              <a:rPr lang="en-US" altLang="zh-CN" sz="3000" dirty="0">
                <a:highlight>
                  <a:srgbClr val="FFFF00"/>
                </a:highlight>
                <a:sym typeface="Wingdings" pitchFamily="2" charset="2"/>
              </a:rPr>
              <a:t>H</a:t>
            </a:r>
            <a:r>
              <a:rPr lang="en-US" altLang="zh-CN" sz="3000" baseline="30000" dirty="0">
                <a:highlight>
                  <a:srgbClr val="FFFF00"/>
                </a:highlight>
                <a:sym typeface="Wingdings" pitchFamily="2" charset="2"/>
              </a:rPr>
              <a:t>+ </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或</a:t>
            </a:r>
            <a:r>
              <a:rPr lang="en-US" altLang="zh-CN" sz="3000" dirty="0">
                <a:highlight>
                  <a:srgbClr val="FFFF00"/>
                </a:highlight>
                <a:sym typeface="Wingdings" pitchFamily="2" charset="2"/>
              </a:rPr>
              <a:t>OH</a:t>
            </a:r>
            <a:r>
              <a:rPr lang="en-US" altLang="zh-CN" sz="3000" baseline="30000" dirty="0">
                <a:highlight>
                  <a:srgbClr val="FFFF00"/>
                </a:highlight>
                <a:sym typeface="Wingdings" pitchFamily="2" charset="2"/>
              </a:rPr>
              <a:t>-</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的难易</a:t>
            </a:r>
            <a:r>
              <a:rPr lang="zh-CN" altLang="en-US" sz="3000" dirty="0">
                <a:sym typeface="Wingdings" pitchFamily="2" charset="2"/>
              </a:rPr>
              <a:t>。</a:t>
            </a:r>
            <a:endParaRPr lang="en-US" altLang="zh-CN" sz="3000" dirty="0">
              <a:sym typeface="Wingdings" pitchFamily="2" charset="2"/>
            </a:endParaRPr>
          </a:p>
          <a:p>
            <a:pPr>
              <a:spcBef>
                <a:spcPts val="0"/>
              </a:spcBef>
              <a:spcAft>
                <a:spcPts val="1200"/>
              </a:spcAft>
              <a:buFont typeface="Wingdings" pitchFamily="2" charset="2"/>
              <a:buChar char="Ø"/>
            </a:pPr>
            <a:r>
              <a:rPr lang="zh-CN" altLang="en-US" sz="3000" dirty="0">
                <a:sym typeface="Wingdings" pitchFamily="2" charset="2"/>
              </a:rPr>
              <a:t>局限：无法说明</a:t>
            </a:r>
            <a:r>
              <a:rPr lang="zh-CN" altLang="en-US" sz="3000" dirty="0">
                <a:highlight>
                  <a:srgbClr val="FFFF00"/>
                </a:highlight>
                <a:sym typeface="Wingdings" pitchFamily="2" charset="2"/>
              </a:rPr>
              <a:t>非水溶液</a:t>
            </a:r>
            <a:r>
              <a:rPr lang="zh-CN" altLang="en-US" sz="3000" dirty="0">
                <a:sym typeface="Wingdings" pitchFamily="2" charset="2"/>
              </a:rPr>
              <a:t>的酸碱性问题。</a:t>
            </a:r>
            <a:endParaRPr lang="en-US" altLang="zh-CN" sz="3000" dirty="0">
              <a:sym typeface="Wingdings" pitchFamily="2" charset="2"/>
            </a:endParaRPr>
          </a:p>
          <a:p>
            <a:pPr lvl="1">
              <a:spcBef>
                <a:spcPts val="0"/>
              </a:spcBef>
              <a:spcAft>
                <a:spcPts val="1200"/>
              </a:spcAft>
              <a:buFont typeface="Wingdings" pitchFamily="2" charset="2"/>
              <a:buChar char="Ø"/>
            </a:pPr>
            <a:r>
              <a:rPr lang="zh-CN" altLang="en-US" sz="2600" dirty="0">
                <a:sym typeface="Wingdings" pitchFamily="2" charset="2"/>
              </a:rPr>
              <a:t>如：</a:t>
            </a:r>
            <a:r>
              <a:rPr lang="en-US" altLang="zh-CN" sz="2600" dirty="0">
                <a:sym typeface="Wingdings" pitchFamily="2" charset="2"/>
              </a:rPr>
              <a:t>Na</a:t>
            </a:r>
            <a:r>
              <a:rPr lang="en-US" altLang="zh-CN" sz="2600" baseline="-25000" dirty="0">
                <a:sym typeface="Wingdings" pitchFamily="2" charset="2"/>
              </a:rPr>
              <a:t>2</a:t>
            </a:r>
            <a:r>
              <a:rPr lang="en-US" altLang="zh-CN" sz="2600" dirty="0">
                <a:sym typeface="Wingdings" pitchFamily="2" charset="2"/>
              </a:rPr>
              <a:t>CO</a:t>
            </a:r>
            <a:r>
              <a:rPr lang="en-US" altLang="zh-CN" sz="2600" baseline="-25000" dirty="0">
                <a:sym typeface="Wingdings" pitchFamily="2" charset="2"/>
              </a:rPr>
              <a:t>3</a:t>
            </a:r>
            <a:r>
              <a:rPr lang="en-US" altLang="zh-CN" sz="2600" dirty="0">
                <a:sym typeface="Wingdings" pitchFamily="2" charset="2"/>
              </a:rPr>
              <a:t> (</a:t>
            </a:r>
            <a:r>
              <a:rPr lang="en-US" altLang="zh-CN" sz="2600" dirty="0" err="1">
                <a:sym typeface="Wingdings" pitchFamily="2" charset="2"/>
              </a:rPr>
              <a:t>aq</a:t>
            </a:r>
            <a:r>
              <a:rPr lang="en-US" altLang="zh-CN" sz="2600" dirty="0">
                <a:sym typeface="Wingdings" pitchFamily="2" charset="2"/>
              </a:rPr>
              <a:t>) </a:t>
            </a:r>
            <a:r>
              <a:rPr lang="zh-CN" altLang="en-US" sz="2600" dirty="0">
                <a:sym typeface="Wingdings" pitchFamily="2" charset="2"/>
              </a:rPr>
              <a:t>、氨气为何呈碱性。</a:t>
            </a:r>
            <a:endParaRPr lang="en-US" altLang="zh-CN" sz="2600" dirty="0">
              <a:sym typeface="Wingdings" pitchFamily="2" charset="2"/>
            </a:endParaRPr>
          </a:p>
          <a:p>
            <a:pPr>
              <a:spcBef>
                <a:spcPts val="0"/>
              </a:spcBef>
              <a:spcAft>
                <a:spcPts val="1200"/>
              </a:spcAft>
              <a:buNone/>
            </a:pPr>
            <a:endParaRPr lang="en-US" altLang="zh-CN" sz="3000" dirty="0">
              <a:sym typeface="Wingdings" pitchFamily="2" charset="2"/>
            </a:endParaRPr>
          </a:p>
          <a:p>
            <a:pPr>
              <a:spcBef>
                <a:spcPts val="0"/>
              </a:spcBef>
              <a:spcAft>
                <a:spcPts val="1200"/>
              </a:spcAft>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458200" cy="1202485"/>
          </a:xfrm>
        </p:spPr>
        <p:txBody>
          <a:bodyPr>
            <a:normAutofit fontScale="90000"/>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布朗斯特</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劳莱的酸碱理论</a:t>
            </a:r>
            <a:b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b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质子理论</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1219200"/>
            <a:ext cx="8839200" cy="5257800"/>
          </a:xfrm>
        </p:spPr>
        <p:txBody>
          <a:bodyPr>
            <a:noAutofit/>
          </a:bodyPr>
          <a:lstStyle/>
          <a:p>
            <a:pPr>
              <a:spcBef>
                <a:spcPts val="0"/>
              </a:spcBef>
              <a:buFont typeface="Wingdings" pitchFamily="2" charset="2"/>
              <a:buChar char="Ø"/>
            </a:pPr>
            <a:r>
              <a:rPr lang="zh-CN" altLang="en-US" sz="3000" dirty="0">
                <a:sym typeface="Wingdings" pitchFamily="2" charset="2"/>
              </a:rPr>
              <a:t>酸：在化学反应中，凡能</a:t>
            </a:r>
            <a:r>
              <a:rPr lang="zh-CN" altLang="en-US" sz="3000" b="1" dirty="0">
                <a:solidFill>
                  <a:srgbClr val="002060"/>
                </a:solidFill>
                <a:effectLst>
                  <a:outerShdw blurRad="38100" dist="38100" dir="2700000" algn="tl">
                    <a:srgbClr val="000000">
                      <a:alpha val="43137"/>
                    </a:srgbClr>
                  </a:outerShdw>
                </a:effectLst>
                <a:sym typeface="Wingdings" pitchFamily="2" charset="2"/>
              </a:rPr>
              <a:t>给出质子</a:t>
            </a:r>
            <a:r>
              <a:rPr lang="en-US" altLang="zh-CN" sz="3000" b="1" dirty="0">
                <a:solidFill>
                  <a:srgbClr val="002060"/>
                </a:solidFill>
                <a:effectLst>
                  <a:outerShdw blurRad="38100" dist="38100" dir="2700000" algn="tl">
                    <a:srgbClr val="000000">
                      <a:alpha val="43137"/>
                    </a:srgbClr>
                  </a:outerShdw>
                </a:effectLst>
                <a:sym typeface="Wingdings" pitchFamily="2" charset="2"/>
              </a:rPr>
              <a:t>(H</a:t>
            </a:r>
            <a:r>
              <a:rPr lang="en-US" altLang="zh-CN" sz="3000" b="1" baseline="30000" dirty="0">
                <a:solidFill>
                  <a:srgbClr val="002060"/>
                </a:solidFill>
                <a:effectLst>
                  <a:outerShdw blurRad="38100" dist="38100" dir="2700000" algn="tl">
                    <a:srgbClr val="000000">
                      <a:alpha val="43137"/>
                    </a:srgbClr>
                  </a:outerShdw>
                </a:effectLst>
                <a:sym typeface="Wingdings" pitchFamily="2" charset="2"/>
              </a:rPr>
              <a:t>+</a:t>
            </a:r>
            <a:r>
              <a:rPr lang="en-US" altLang="zh-CN" sz="3000" b="1" dirty="0">
                <a:solidFill>
                  <a:srgbClr val="002060"/>
                </a:solidFill>
                <a:effectLst>
                  <a:outerShdw blurRad="38100" dist="38100" dir="2700000" algn="tl">
                    <a:srgbClr val="000000">
                      <a:alpha val="43137"/>
                    </a:srgbClr>
                  </a:outerShdw>
                </a:effectLst>
                <a:sym typeface="Wingdings" pitchFamily="2" charset="2"/>
              </a:rPr>
              <a:t>) </a:t>
            </a:r>
            <a:r>
              <a:rPr lang="zh-CN" altLang="en-US" sz="3000" dirty="0">
                <a:sym typeface="Wingdings" pitchFamily="2" charset="2"/>
              </a:rPr>
              <a:t>的物质。</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碱：在化学反应中，凡能</a:t>
            </a:r>
            <a:r>
              <a:rPr lang="zh-CN" altLang="en-US" sz="3000" b="1" dirty="0">
                <a:solidFill>
                  <a:srgbClr val="0070C0"/>
                </a:solidFill>
                <a:effectLst>
                  <a:outerShdw blurRad="38100" dist="38100" dir="2700000" algn="tl">
                    <a:srgbClr val="000000">
                      <a:alpha val="43137"/>
                    </a:srgbClr>
                  </a:outerShdw>
                </a:effectLst>
                <a:sym typeface="Wingdings" pitchFamily="2" charset="2"/>
              </a:rPr>
              <a:t>接受质子</a:t>
            </a:r>
            <a:r>
              <a:rPr lang="en-US" altLang="zh-CN" sz="3000" b="1" dirty="0">
                <a:solidFill>
                  <a:srgbClr val="0070C0"/>
                </a:solidFill>
                <a:effectLst>
                  <a:outerShdw blurRad="38100" dist="38100" dir="2700000" algn="tl">
                    <a:srgbClr val="000000">
                      <a:alpha val="43137"/>
                    </a:srgbClr>
                  </a:outerShdw>
                </a:effectLst>
                <a:sym typeface="Wingdings" pitchFamily="2" charset="2"/>
              </a:rPr>
              <a:t>(H</a:t>
            </a:r>
            <a:r>
              <a:rPr lang="en-US" altLang="zh-CN" sz="3000" b="1" baseline="30000" dirty="0">
                <a:solidFill>
                  <a:srgbClr val="0070C0"/>
                </a:solidFill>
                <a:effectLst>
                  <a:outerShdw blurRad="38100" dist="38100" dir="2700000" algn="tl">
                    <a:srgbClr val="000000">
                      <a:alpha val="43137"/>
                    </a:srgbClr>
                  </a:outerShdw>
                </a:effectLst>
                <a:sym typeface="Wingdings" pitchFamily="2" charset="2"/>
              </a:rPr>
              <a:t>+</a:t>
            </a:r>
            <a:r>
              <a:rPr lang="en-US" altLang="zh-CN" sz="3000" b="1" dirty="0">
                <a:solidFill>
                  <a:srgbClr val="0070C0"/>
                </a:solidFill>
                <a:effectLst>
                  <a:outerShdw blurRad="38100" dist="38100" dir="2700000" algn="tl">
                    <a:srgbClr val="000000">
                      <a:alpha val="43137"/>
                    </a:srgbClr>
                  </a:outerShdw>
                </a:effectLst>
                <a:sym typeface="Wingdings" pitchFamily="2" charset="2"/>
              </a:rPr>
              <a:t>) </a:t>
            </a:r>
            <a:r>
              <a:rPr lang="zh-CN" altLang="en-US" sz="3000" dirty="0">
                <a:sym typeface="Wingdings" pitchFamily="2" charset="2"/>
              </a:rPr>
              <a:t>的物质。</a:t>
            </a:r>
            <a:endParaRPr lang="en-US" altLang="zh-CN" sz="3000" dirty="0">
              <a:sym typeface="Wingdings" pitchFamily="2" charset="2"/>
            </a:endParaRPr>
          </a:p>
          <a:p>
            <a:pPr>
              <a:spcBef>
                <a:spcPts val="0"/>
              </a:spcBef>
              <a:buFont typeface="Wingdings" pitchFamily="2" charset="2"/>
              <a:buChar char="Ø"/>
            </a:pPr>
            <a:endParaRPr lang="en-US" altLang="zh-CN" sz="3000" dirty="0">
              <a:sym typeface="Wingdings" pitchFamily="2" charset="2"/>
            </a:endParaRPr>
          </a:p>
          <a:p>
            <a:pPr>
              <a:spcBef>
                <a:spcPts val="0"/>
              </a:spcBef>
              <a:buFont typeface="Wingdings" pitchFamily="2" charset="2"/>
              <a:buChar char="Ø"/>
            </a:pP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r>
              <a:rPr lang="en-US" altLang="zh-CN" sz="3000" dirty="0" err="1">
                <a:sym typeface="Wingdings" pitchFamily="2" charset="2"/>
              </a:rPr>
              <a:t>Cl</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Font typeface="Wingdings" pitchFamily="2" charset="2"/>
              <a:buChar char="Ø"/>
            </a:pP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HSO</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Font typeface="Wingdings" pitchFamily="2" charset="2"/>
              <a:buChar char="Ø"/>
            </a:pP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NH</a:t>
            </a:r>
            <a:r>
              <a:rPr lang="en-US" altLang="zh-CN" sz="3000" baseline="-25000" dirty="0">
                <a:sym typeface="Wingdings" pitchFamily="2" charset="2"/>
              </a:rPr>
              <a:t>3</a:t>
            </a:r>
            <a:r>
              <a:rPr lang="en-US" altLang="zh-CN" sz="3000" dirty="0">
                <a:sym typeface="Wingdings" pitchFamily="2" charset="2"/>
              </a:rPr>
              <a:t> (g) </a:t>
            </a: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布朗斯特酸</a:t>
            </a: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其</a:t>
            </a:r>
            <a:r>
              <a:rPr lang="zh-CN" altLang="en-US" sz="3000" dirty="0">
                <a:highlight>
                  <a:srgbClr val="FFFF00"/>
                </a:highlight>
                <a:sym typeface="Wingdings" pitchFamily="2" charset="2"/>
              </a:rPr>
              <a:t>共轭碱</a:t>
            </a:r>
            <a:endParaRPr lang="en-US" altLang="zh-CN" sz="3000" dirty="0">
              <a:highlight>
                <a:srgbClr val="FFFF00"/>
              </a:highlight>
              <a:sym typeface="Wingdings" pitchFamily="2" charset="2"/>
            </a:endParaRPr>
          </a:p>
          <a:p>
            <a:pPr>
              <a:spcBef>
                <a:spcPts val="0"/>
              </a:spcBef>
              <a:buNone/>
            </a:pPr>
            <a:endParaRPr lang="en-US" altLang="zh-CN" sz="3000" dirty="0">
              <a:sym typeface="Wingdings" pitchFamily="2" charset="2"/>
            </a:endParaRPr>
          </a:p>
          <a:p>
            <a:pPr>
              <a:spcBef>
                <a:spcPts val="0"/>
              </a:spcBef>
              <a:buFont typeface="Wingdings" pitchFamily="2" charset="2"/>
              <a:buChar char="Ø"/>
            </a:pPr>
            <a:r>
              <a:rPr lang="zh-CN" altLang="en-US" sz="3000" b="1" dirty="0">
                <a:solidFill>
                  <a:srgbClr val="7030A0"/>
                </a:solidFill>
                <a:effectLst>
                  <a:outerShdw blurRad="38100" dist="38100" dir="2700000" algn="tl">
                    <a:srgbClr val="000000">
                      <a:alpha val="43137"/>
                    </a:srgbClr>
                  </a:outerShdw>
                </a:effectLst>
                <a:sym typeface="Wingdings" pitchFamily="2" charset="2"/>
              </a:rPr>
              <a:t>酸和碱不是孤立的</a:t>
            </a:r>
            <a:r>
              <a:rPr lang="zh-CN" altLang="en-US" sz="3000" dirty="0">
                <a:sym typeface="Wingdings" pitchFamily="2" charset="2"/>
              </a:rPr>
              <a:t>，它们存在共轭关系，相互对应的酸碱称为</a:t>
            </a:r>
            <a:r>
              <a:rPr lang="zh-CN" altLang="en-US" sz="3000" b="1" dirty="0">
                <a:solidFill>
                  <a:srgbClr val="7030A0"/>
                </a:solidFill>
                <a:effectLst>
                  <a:outerShdw blurRad="38100" dist="38100" dir="2700000" algn="tl">
                    <a:srgbClr val="000000">
                      <a:alpha val="43137"/>
                    </a:srgbClr>
                  </a:outerShdw>
                </a:effectLst>
                <a:highlight>
                  <a:srgbClr val="FFFF00"/>
                </a:highlight>
                <a:sym typeface="Wingdings" pitchFamily="2" charset="2"/>
              </a:rPr>
              <a:t>共轭酸碱对</a:t>
            </a:r>
            <a:r>
              <a:rPr lang="zh-CN" altLang="en-US" sz="3000" b="1" dirty="0">
                <a:solidFill>
                  <a:srgbClr val="7030A0"/>
                </a:solidFill>
                <a:effectLst>
                  <a:outerShdw blurRad="38100" dist="38100" dir="2700000" algn="tl">
                    <a:srgbClr val="000000">
                      <a:alpha val="43137"/>
                    </a:srgbClr>
                  </a:outerShdw>
                </a:effectLst>
                <a:sym typeface="Wingdings" pitchFamily="2" charset="2"/>
              </a:rPr>
              <a:t>。</a:t>
            </a:r>
            <a:endParaRPr lang="en-US" altLang="zh-CN" sz="3000" b="1" dirty="0">
              <a:solidFill>
                <a:srgbClr val="7030A0"/>
              </a:solidFill>
              <a:effectLst>
                <a:outerShdw blurRad="38100" dist="38100" dir="2700000" algn="tl">
                  <a:srgbClr val="000000">
                    <a:alpha val="43137"/>
                  </a:srgbClr>
                </a:outerShdw>
              </a:effectLst>
              <a:sym typeface="Wingdings" pitchFamily="2" charset="2"/>
            </a:endParaRPr>
          </a:p>
          <a:p>
            <a:pPr>
              <a:spcBef>
                <a:spcPts val="0"/>
              </a:spcBef>
              <a:buNone/>
            </a:pPr>
            <a:endParaRPr lang="en-US" altLang="zh-CN" sz="3000" dirty="0">
              <a:sym typeface="Wingdings" pitchFamily="2" charset="2"/>
            </a:endParaRPr>
          </a:p>
        </p:txBody>
      </p:sp>
      <p:sp>
        <p:nvSpPr>
          <p:cNvPr id="5" name="TextBox 4"/>
          <p:cNvSpPr txBox="1"/>
          <p:nvPr/>
        </p:nvSpPr>
        <p:spPr>
          <a:xfrm>
            <a:off x="685800" y="2590800"/>
            <a:ext cx="1752600" cy="1538883"/>
          </a:xfrm>
          <a:prstGeom prst="rect">
            <a:avLst/>
          </a:prstGeom>
          <a:noFill/>
          <a:ln>
            <a:solidFill>
              <a:srgbClr val="00206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sz="3200" dirty="0"/>
          </a:p>
          <a:p>
            <a:endParaRPr lang="en-US" sz="3200" dirty="0"/>
          </a:p>
          <a:p>
            <a:endParaRPr lang="en-US" sz="3000" dirty="0"/>
          </a:p>
        </p:txBody>
      </p:sp>
      <p:sp>
        <p:nvSpPr>
          <p:cNvPr id="6" name="TextBox 5"/>
          <p:cNvSpPr txBox="1"/>
          <p:nvPr/>
        </p:nvSpPr>
        <p:spPr>
          <a:xfrm>
            <a:off x="4191000" y="2590800"/>
            <a:ext cx="1752600" cy="1538883"/>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sz="3200" dirty="0">
              <a:solidFill>
                <a:srgbClr val="0070C0"/>
              </a:solidFill>
            </a:endParaRPr>
          </a:p>
          <a:p>
            <a:endParaRPr lang="en-US" sz="3200" dirty="0">
              <a:solidFill>
                <a:srgbClr val="0070C0"/>
              </a:solidFill>
            </a:endParaRPr>
          </a:p>
          <a:p>
            <a:endParaRPr lang="en-US" sz="3000" dirty="0">
              <a:solidFill>
                <a:srgbClr val="0070C0"/>
              </a:solidFill>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1"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1"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blinds(horizontal)">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458200" cy="1202485"/>
          </a:xfrm>
        </p:spPr>
        <p:txBody>
          <a:bodyPr>
            <a:normAutofit fontScale="90000"/>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布朗斯特</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劳莱的酸碱理论</a:t>
            </a:r>
            <a:b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b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质子理论</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1219200"/>
            <a:ext cx="8839200" cy="5257800"/>
          </a:xfrm>
        </p:spPr>
        <p:txBody>
          <a:bodyPr>
            <a:noAutofit/>
          </a:bodyPr>
          <a:lstStyle/>
          <a:p>
            <a:pPr>
              <a:spcBef>
                <a:spcPts val="0"/>
              </a:spcBef>
              <a:buFont typeface="Wingdings" pitchFamily="2" charset="2"/>
              <a:buChar char="Ø"/>
            </a:pPr>
            <a:r>
              <a:rPr lang="zh-CN" altLang="en-US" sz="3000" dirty="0">
                <a:sym typeface="Wingdings" pitchFamily="2" charset="2"/>
              </a:rPr>
              <a:t>共轭酸碱对</a:t>
            </a: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dirty="0" err="1">
                <a:sym typeface="Wingdings" pitchFamily="2" charset="2"/>
              </a:rPr>
              <a:t>HCl</a:t>
            </a:r>
            <a:r>
              <a:rPr lang="en-US" altLang="zh-CN" sz="3000" dirty="0">
                <a:sym typeface="Wingdings" pitchFamily="2" charset="2"/>
              </a:rPr>
              <a:t>	</a:t>
            </a:r>
            <a:r>
              <a:rPr lang="zh-CN" altLang="en-US" sz="3000" dirty="0">
                <a:sym typeface="Wingdings" pitchFamily="2" charset="2"/>
              </a:rPr>
              <a:t>、 </a:t>
            </a:r>
            <a:r>
              <a:rPr lang="en-US" altLang="zh-CN" sz="3000" dirty="0" err="1">
                <a:sym typeface="Wingdings" pitchFamily="2" charset="2"/>
              </a:rPr>
              <a:t>Cl</a:t>
            </a:r>
            <a:r>
              <a:rPr lang="en-US" altLang="zh-CN" sz="3000" baseline="30000" dirty="0">
                <a:sym typeface="Wingdings" pitchFamily="2" charset="2"/>
              </a:rPr>
              <a:t>-  </a:t>
            </a:r>
          </a:p>
          <a:p>
            <a:pPr>
              <a:spcBef>
                <a:spcPts val="0"/>
              </a:spcBef>
              <a:buNone/>
            </a:pPr>
            <a:r>
              <a:rPr lang="en-US" altLang="zh-CN" sz="3000" baseline="30000" dirty="0">
                <a:sym typeface="Wingdings" pitchFamily="2" charset="2"/>
              </a:rPr>
              <a:t>	 </a:t>
            </a:r>
            <a:r>
              <a:rPr lang="en-US" altLang="zh-CN" sz="3000" dirty="0">
                <a:sym typeface="Wingdings" pitchFamily="2" charset="2"/>
              </a:rPr>
              <a:t>      HF	</a:t>
            </a:r>
            <a:r>
              <a:rPr lang="zh-CN" altLang="en-US" sz="3000" dirty="0">
                <a:sym typeface="Wingdings" pitchFamily="2" charset="2"/>
              </a:rPr>
              <a:t>、 </a:t>
            </a:r>
            <a:r>
              <a:rPr lang="en-US" altLang="zh-CN" sz="3000" dirty="0">
                <a:sym typeface="Wingdings" pitchFamily="2" charset="2"/>
              </a:rPr>
              <a:t>F</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dirty="0">
                <a:sym typeface="Wingdings" pitchFamily="2" charset="2"/>
              </a:rPr>
              <a:t>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2</a:t>
            </a:r>
            <a:r>
              <a:rPr lang="en-US" altLang="zh-CN" sz="3000" dirty="0">
                <a:sym typeface="Wingdings" pitchFamily="2" charset="2"/>
              </a:rPr>
              <a:t> </a:t>
            </a:r>
            <a:r>
              <a:rPr lang="en-US" altLang="zh-CN" sz="3000" baseline="30000" dirty="0">
                <a:sym typeface="Wingdings" pitchFamily="2" charset="2"/>
              </a:rPr>
              <a:t>-</a:t>
            </a:r>
            <a:endParaRPr lang="en-US" altLang="zh-CN" sz="3000" dirty="0">
              <a:sym typeface="Wingdings" pitchFamily="2" charset="2"/>
            </a:endParaRPr>
          </a:p>
          <a:p>
            <a:pPr>
              <a:spcBef>
                <a:spcPts val="0"/>
              </a:spcBef>
              <a:buNone/>
            </a:pPr>
            <a:r>
              <a:rPr lang="en-US" altLang="zh-CN" sz="3000" dirty="0">
                <a:sym typeface="Wingdings" pitchFamily="2" charset="2"/>
              </a:rPr>
              <a:t>		H</a:t>
            </a:r>
            <a:r>
              <a:rPr lang="en-US" altLang="zh-CN" sz="3000" baseline="-25000" dirty="0">
                <a:sym typeface="Wingdings" pitchFamily="2" charset="2"/>
              </a:rPr>
              <a:t>3</a:t>
            </a:r>
            <a:r>
              <a:rPr lang="en-US" altLang="zh-CN" sz="3000" dirty="0">
                <a:sym typeface="Wingdings" pitchFamily="2" charset="2"/>
              </a:rPr>
              <a:t>O</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   </a:t>
            </a:r>
            <a:r>
              <a:rPr lang="zh-CN" altLang="en-US" sz="3000" dirty="0">
                <a:sym typeface="Wingdings" pitchFamily="2" charset="2"/>
              </a:rPr>
              <a:t>、 </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HCO</a:t>
            </a:r>
            <a:r>
              <a:rPr lang="en-US" altLang="zh-CN" sz="3000" baseline="-25000" dirty="0">
                <a:sym typeface="Wingdings" pitchFamily="2" charset="2"/>
              </a:rPr>
              <a:t>3</a:t>
            </a:r>
            <a:r>
              <a:rPr lang="en-US" altLang="zh-CN" sz="3000" dirty="0">
                <a:sym typeface="Wingdings" pitchFamily="2" charset="2"/>
              </a:rPr>
              <a:t> </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a:t>
            </a:r>
            <a:r>
              <a:rPr lang="en-US" altLang="zh-CN" sz="3000" baseline="30000" dirty="0">
                <a:sym typeface="Wingdings" pitchFamily="2" charset="2"/>
              </a:rPr>
              <a:t>2–</a:t>
            </a:r>
            <a:r>
              <a:rPr lang="en-US" altLang="zh-CN" sz="3000" dirty="0">
                <a:sym typeface="Wingdings" pitchFamily="2" charset="2"/>
              </a:rPr>
              <a:t> </a:t>
            </a:r>
          </a:p>
          <a:p>
            <a:pPr>
              <a:spcBef>
                <a:spcPts val="0"/>
              </a:spcBef>
              <a:buNone/>
            </a:pPr>
            <a:r>
              <a:rPr lang="en-US" altLang="zh-CN" sz="3000" dirty="0">
                <a:sym typeface="Wingdings" pitchFamily="2" charset="2"/>
              </a:rPr>
              <a:t> 		HNO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NO</a:t>
            </a:r>
            <a:r>
              <a:rPr lang="en-US" altLang="zh-CN" sz="3000" baseline="-25000" dirty="0">
                <a:sym typeface="Wingdings" pitchFamily="2" charset="2"/>
              </a:rPr>
              <a:t>3</a:t>
            </a:r>
            <a:r>
              <a:rPr lang="en-US" altLang="zh-CN" sz="3000" baseline="30000" dirty="0">
                <a:sym typeface="Wingdings" pitchFamily="2" charset="2"/>
              </a:rPr>
              <a:t>-</a:t>
            </a:r>
            <a:r>
              <a:rPr lang="en-US" altLang="zh-CN" sz="3000" dirty="0">
                <a:sym typeface="Wingdings" pitchFamily="2" charset="2"/>
              </a:rPr>
              <a:t> </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458200" cy="1202485"/>
          </a:xfrm>
        </p:spPr>
        <p:txBody>
          <a:bodyPr>
            <a:normAutofit fontScale="90000"/>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布朗斯特</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劳莱的酸碱理论</a:t>
            </a:r>
            <a:b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b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质子理论</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1219200"/>
            <a:ext cx="8839200" cy="5257800"/>
          </a:xfrm>
        </p:spPr>
        <p:txBody>
          <a:bodyPr>
            <a:noAutofit/>
          </a:bodyPr>
          <a:lstStyle/>
          <a:p>
            <a:pPr>
              <a:spcBef>
                <a:spcPts val="0"/>
              </a:spcBef>
              <a:buFont typeface="Wingdings" pitchFamily="2" charset="2"/>
              <a:buChar char="Ø"/>
            </a:pP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3</a:t>
            </a:r>
            <a:r>
              <a:rPr lang="en-US" altLang="zh-CN" sz="3000" dirty="0">
                <a:sym typeface="Wingdings" pitchFamily="2" charset="2"/>
              </a:rPr>
              <a:t> (g)   	    </a:t>
            </a:r>
            <a:r>
              <a:rPr lang="en-US" altLang="zh-CN" sz="3000" dirty="0" err="1">
                <a:sym typeface="Wingdings" pitchFamily="2" charset="2"/>
              </a:rPr>
              <a:t>Cl</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buNone/>
            </a:pPr>
            <a:r>
              <a:rPr lang="zh-CN" altLang="en-US" sz="3000" dirty="0">
                <a:sym typeface="Wingdings" pitchFamily="2" charset="2"/>
              </a:rPr>
              <a:t>布朗斯特酸</a:t>
            </a:r>
            <a:r>
              <a:rPr lang="en-US" altLang="zh-CN" sz="3000" dirty="0">
                <a:sym typeface="Wingdings" pitchFamily="2" charset="2"/>
              </a:rPr>
              <a:t>   </a:t>
            </a:r>
            <a:r>
              <a:rPr lang="zh-CN" altLang="en-US" sz="3000" dirty="0">
                <a:sym typeface="Wingdings" pitchFamily="2" charset="2"/>
              </a:rPr>
              <a:t>布朗斯特碱</a:t>
            </a:r>
            <a:r>
              <a:rPr lang="en-US" altLang="zh-CN" sz="3000" dirty="0">
                <a:sym typeface="Wingdings" pitchFamily="2" charset="2"/>
              </a:rPr>
              <a:t>   </a:t>
            </a:r>
            <a:r>
              <a:rPr lang="zh-CN" altLang="en-US" sz="3000" dirty="0">
                <a:sym typeface="Wingdings" pitchFamily="2" charset="2"/>
              </a:rPr>
              <a:t>共轭碱</a:t>
            </a:r>
            <a:r>
              <a:rPr lang="en-US" altLang="zh-CN" sz="3000" dirty="0">
                <a:sym typeface="Wingdings" pitchFamily="2" charset="2"/>
              </a:rPr>
              <a:t>		</a:t>
            </a:r>
            <a:r>
              <a:rPr lang="zh-CN" altLang="en-US" sz="3000" dirty="0">
                <a:sym typeface="Wingdings" pitchFamily="2" charset="2"/>
              </a:rPr>
              <a:t>共轭酸</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Font typeface="Wingdings" pitchFamily="2" charset="2"/>
              <a:buChar char="Ø"/>
            </a:pP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a:t>
            </a:r>
            <a:r>
              <a:rPr lang="en-US" altLang="zh-CN" sz="3000" dirty="0" err="1">
                <a:sym typeface="Wingdings" pitchFamily="2" charset="2"/>
              </a:rPr>
              <a:t>NaOH</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a:t>
            </a:r>
            <a:r>
              <a:rPr lang="en-US" altLang="zh-CN" sz="3000" dirty="0" err="1">
                <a:sym typeface="Wingdings" pitchFamily="2" charset="2"/>
              </a:rPr>
              <a:t>NaCl</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 (l)</a:t>
            </a:r>
          </a:p>
          <a:p>
            <a:pPr>
              <a:spcBef>
                <a:spcPts val="0"/>
              </a:spcBef>
              <a:buNone/>
            </a:pPr>
            <a:r>
              <a:rPr lang="zh-CN" altLang="en-US" sz="3000" dirty="0">
                <a:sym typeface="Wingdings" pitchFamily="2" charset="2"/>
              </a:rPr>
              <a:t>布朗斯特酸</a:t>
            </a:r>
            <a:r>
              <a:rPr lang="en-US" altLang="zh-CN" sz="3000" dirty="0">
                <a:sym typeface="Wingdings" pitchFamily="2" charset="2"/>
              </a:rPr>
              <a:t>   </a:t>
            </a:r>
            <a:r>
              <a:rPr lang="zh-CN" altLang="en-US" sz="3000" dirty="0">
                <a:sym typeface="Wingdings" pitchFamily="2" charset="2"/>
              </a:rPr>
              <a:t>布朗斯特碱</a:t>
            </a:r>
            <a:r>
              <a:rPr lang="en-US" altLang="zh-CN" sz="3000" dirty="0">
                <a:sym typeface="Wingdings" pitchFamily="2" charset="2"/>
              </a:rPr>
              <a:t>   </a:t>
            </a:r>
            <a:r>
              <a:rPr lang="zh-CN" altLang="en-US" sz="3000" dirty="0">
                <a:sym typeface="Wingdings" pitchFamily="2" charset="2"/>
              </a:rPr>
              <a:t>共轭碱</a:t>
            </a:r>
            <a:r>
              <a:rPr lang="en-US" altLang="zh-CN" sz="3000" dirty="0">
                <a:sym typeface="Wingdings" pitchFamily="2" charset="2"/>
              </a:rPr>
              <a:t>	    </a:t>
            </a:r>
            <a:r>
              <a:rPr lang="zh-CN" altLang="en-US" sz="3000" dirty="0">
                <a:sym typeface="Wingdings" pitchFamily="2" charset="2"/>
              </a:rPr>
              <a:t>共轭酸</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Font typeface="Wingdings" pitchFamily="2" charset="2"/>
              <a:buChar char="Ø"/>
            </a:pPr>
            <a:r>
              <a:rPr lang="en-US" altLang="zh-CN" sz="3000" dirty="0">
                <a:sym typeface="Wingdings" pitchFamily="2" charset="2"/>
              </a:rPr>
              <a:t>H</a:t>
            </a:r>
            <a:r>
              <a:rPr lang="en-US" altLang="zh-CN" sz="3000" baseline="-25000" dirty="0">
                <a:sym typeface="Wingdings" pitchFamily="2" charset="2"/>
              </a:rPr>
              <a:t>3</a:t>
            </a:r>
            <a:r>
              <a:rPr lang="en-US" altLang="zh-CN" sz="3000" dirty="0">
                <a:sym typeface="Wingdings" pitchFamily="2" charset="2"/>
              </a:rPr>
              <a:t>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NO</a:t>
            </a:r>
            <a:r>
              <a:rPr lang="en-US" altLang="zh-CN" sz="3000" baseline="-25000" dirty="0">
                <a:sym typeface="Wingdings" pitchFamily="2" charset="2"/>
              </a:rPr>
              <a:t>2</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 (l) + HNO</a:t>
            </a:r>
            <a:r>
              <a:rPr lang="en-US" altLang="zh-CN" sz="3000" baseline="-25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zh-CN" altLang="en-US" sz="3000" dirty="0">
                <a:sym typeface="Wingdings" pitchFamily="2" charset="2"/>
              </a:rPr>
              <a:t>布朗斯特酸</a:t>
            </a:r>
            <a:r>
              <a:rPr lang="en-US" altLang="zh-CN" sz="3000" dirty="0">
                <a:sym typeface="Wingdings" pitchFamily="2" charset="2"/>
              </a:rPr>
              <a:t>   </a:t>
            </a:r>
            <a:r>
              <a:rPr lang="zh-CN" altLang="en-US" sz="3000" dirty="0">
                <a:sym typeface="Wingdings" pitchFamily="2" charset="2"/>
              </a:rPr>
              <a:t>布朗斯特碱</a:t>
            </a:r>
            <a:r>
              <a:rPr lang="en-US" altLang="zh-CN" sz="3000" dirty="0">
                <a:sym typeface="Wingdings" pitchFamily="2" charset="2"/>
              </a:rPr>
              <a:t>   </a:t>
            </a:r>
            <a:r>
              <a:rPr lang="zh-CN" altLang="en-US" sz="3000" dirty="0">
                <a:sym typeface="Wingdings" pitchFamily="2" charset="2"/>
              </a:rPr>
              <a:t>共轭碱</a:t>
            </a:r>
            <a:r>
              <a:rPr lang="en-US" altLang="zh-CN" sz="3000" dirty="0">
                <a:sym typeface="Wingdings" pitchFamily="2" charset="2"/>
              </a:rPr>
              <a:t>	    </a:t>
            </a:r>
            <a:r>
              <a:rPr lang="zh-CN" altLang="en-US" sz="3000" dirty="0">
                <a:sym typeface="Wingdings" pitchFamily="2" charset="2"/>
              </a:rPr>
              <a:t>共轭酸</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Font typeface="Wingdings" pitchFamily="2" charset="2"/>
              <a:buChar char="Ø"/>
            </a:pP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 CO</a:t>
            </a:r>
            <a:r>
              <a:rPr lang="en-US" altLang="zh-CN" sz="3000" baseline="-25000" dirty="0">
                <a:sym typeface="Wingdings" pitchFamily="2" charset="2"/>
              </a:rPr>
              <a:t>3</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SO</a:t>
            </a:r>
            <a:r>
              <a:rPr lang="en-US" altLang="zh-CN" sz="3000" baseline="-25000" dirty="0">
                <a:sym typeface="Wingdings" pitchFamily="2" charset="2"/>
              </a:rPr>
              <a:t>4 </a:t>
            </a:r>
            <a:r>
              <a:rPr lang="en-US" altLang="zh-CN" sz="3000" baseline="30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HCO</a:t>
            </a:r>
            <a:r>
              <a:rPr lang="en-US" altLang="zh-CN" sz="3000" baseline="-25000" dirty="0">
                <a:sym typeface="Wingdings" pitchFamily="2" charset="2"/>
              </a:rPr>
              <a:t>3</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HSO</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buNone/>
            </a:pPr>
            <a:r>
              <a:rPr lang="zh-CN" altLang="en-US" sz="3000" dirty="0">
                <a:sym typeface="Wingdings" pitchFamily="2" charset="2"/>
              </a:rPr>
              <a:t>布朗斯特酸</a:t>
            </a:r>
            <a:r>
              <a:rPr lang="en-US" altLang="zh-CN" sz="3000" dirty="0">
                <a:sym typeface="Wingdings" pitchFamily="2" charset="2"/>
              </a:rPr>
              <a:t>   </a:t>
            </a:r>
            <a:r>
              <a:rPr lang="zh-CN" altLang="en-US" sz="3000" dirty="0">
                <a:sym typeface="Wingdings" pitchFamily="2" charset="2"/>
              </a:rPr>
              <a:t>布朗斯特碱</a:t>
            </a:r>
            <a:r>
              <a:rPr lang="en-US" altLang="zh-CN" sz="3000" dirty="0">
                <a:sym typeface="Wingdings" pitchFamily="2" charset="2"/>
              </a:rPr>
              <a:t>   </a:t>
            </a:r>
            <a:r>
              <a:rPr lang="zh-CN" altLang="en-US" sz="3000" dirty="0">
                <a:sym typeface="Wingdings" pitchFamily="2" charset="2"/>
              </a:rPr>
              <a:t>共轭碱</a:t>
            </a:r>
            <a:r>
              <a:rPr lang="en-US" altLang="zh-CN" sz="3000" dirty="0">
                <a:sym typeface="Wingdings" pitchFamily="2" charset="2"/>
              </a:rPr>
              <a:t>	    </a:t>
            </a:r>
            <a:r>
              <a:rPr lang="zh-CN" altLang="en-US" sz="3000" dirty="0">
                <a:sym typeface="Wingdings" pitchFamily="2" charset="2"/>
              </a:rPr>
              <a:t>共轭酸</a:t>
            </a:r>
            <a:endParaRPr lang="en-US" altLang="zh-CN" sz="3000" dirty="0">
              <a:sym typeface="Wingdings" pitchFamily="2" charset="2"/>
            </a:endParaRPr>
          </a:p>
          <a:p>
            <a:pPr>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1"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1"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blinds(horizontal)">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1"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blinds(horizontal)">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458200" cy="1202485"/>
          </a:xfrm>
        </p:spPr>
        <p:txBody>
          <a:bodyPr>
            <a:normAutofit fontScale="90000"/>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布朗斯特</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劳莱的酸碱理论</a:t>
            </a:r>
            <a:b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b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质子理论</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1219200"/>
            <a:ext cx="8839200" cy="5257800"/>
          </a:xfrm>
        </p:spPr>
        <p:txBody>
          <a:bodyPr>
            <a:noAutofit/>
          </a:bodyPr>
          <a:lstStyle/>
          <a:p>
            <a:pPr>
              <a:lnSpc>
                <a:spcPct val="150000"/>
              </a:lnSpc>
              <a:spcBef>
                <a:spcPts val="0"/>
              </a:spcBef>
              <a:buFont typeface="Wingdings" pitchFamily="2" charset="2"/>
              <a:buChar char="Ø"/>
            </a:pPr>
            <a:r>
              <a:rPr lang="zh-CN" altLang="en-US" sz="3000" dirty="0">
                <a:sym typeface="Wingdings" pitchFamily="2" charset="2"/>
              </a:rPr>
              <a:t>优点：扩大了酸碱的范围，适用于</a:t>
            </a:r>
            <a:r>
              <a:rPr lang="zh-CN" altLang="en-US" sz="3000" dirty="0">
                <a:highlight>
                  <a:srgbClr val="FFFF00"/>
                </a:highlight>
                <a:sym typeface="Wingdings" pitchFamily="2" charset="2"/>
              </a:rPr>
              <a:t>水溶液或非水溶液</a:t>
            </a:r>
            <a:r>
              <a:rPr lang="zh-CN" altLang="en-US" sz="3000" dirty="0">
                <a:sym typeface="Wingdings" pitchFamily="2" charset="2"/>
              </a:rPr>
              <a:t>。</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不足：对于</a:t>
            </a:r>
            <a:r>
              <a:rPr lang="zh-CN" altLang="en-US" sz="3000" dirty="0">
                <a:highlight>
                  <a:srgbClr val="FFFF00"/>
                </a:highlight>
                <a:sym typeface="Wingdings" pitchFamily="2" charset="2"/>
              </a:rPr>
              <a:t>没有质子参加</a:t>
            </a:r>
            <a:r>
              <a:rPr lang="zh-CN" altLang="en-US" sz="3000" dirty="0">
                <a:sym typeface="Wingdings" pitchFamily="2" charset="2"/>
              </a:rPr>
              <a:t>的反应，就无法说明。</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763000" cy="1202485"/>
          </a:xfrm>
        </p:spPr>
        <p:txBody>
          <a:bodyPr>
            <a:normAutofit fontScale="90000"/>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23.1 .3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路易斯酸碱理论</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电子理论</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zh-CN" altLang="en-US" sz="3000" b="1" dirty="0">
                <a:solidFill>
                  <a:srgbClr val="002060"/>
                </a:solidFill>
                <a:effectLst>
                  <a:outerShdw blurRad="38100" dist="38100" dir="2700000" algn="tl">
                    <a:srgbClr val="000000">
                      <a:alpha val="43137"/>
                    </a:srgbClr>
                  </a:outerShdw>
                </a:effectLst>
                <a:sym typeface="Wingdings" pitchFamily="2" charset="2"/>
              </a:rPr>
              <a:t>酸</a:t>
            </a:r>
            <a:r>
              <a:rPr lang="zh-CN" altLang="en-US" sz="3000" dirty="0">
                <a:sym typeface="Wingdings" pitchFamily="2" charset="2"/>
              </a:rPr>
              <a:t>：凡是可以</a:t>
            </a:r>
            <a:r>
              <a:rPr lang="zh-CN" altLang="en-US" sz="3000" b="1" dirty="0">
                <a:solidFill>
                  <a:srgbClr val="002060"/>
                </a:solidFill>
                <a:effectLst>
                  <a:outerShdw blurRad="38100" dist="38100" dir="2700000" algn="tl">
                    <a:srgbClr val="000000">
                      <a:alpha val="43137"/>
                    </a:srgbClr>
                  </a:outerShdw>
                </a:effectLst>
                <a:sym typeface="Wingdings" pitchFamily="2" charset="2"/>
              </a:rPr>
              <a:t>接受电子对</a:t>
            </a:r>
            <a:r>
              <a:rPr lang="zh-CN" altLang="en-US" sz="3000" dirty="0">
                <a:sym typeface="Wingdings" pitchFamily="2" charset="2"/>
              </a:rPr>
              <a:t>的物质（</a:t>
            </a:r>
            <a:r>
              <a:rPr lang="zh-CN" altLang="en-US" sz="3000" b="1" dirty="0">
                <a:solidFill>
                  <a:srgbClr val="002060"/>
                </a:solidFill>
                <a:effectLst>
                  <a:outerShdw blurRad="38100" dist="38100" dir="2700000" algn="tl">
                    <a:srgbClr val="000000">
                      <a:alpha val="43137"/>
                    </a:srgbClr>
                  </a:outerShdw>
                </a:effectLst>
                <a:sym typeface="Wingdings" pitchFamily="2" charset="2"/>
              </a:rPr>
              <a:t>缺电子物质</a:t>
            </a:r>
            <a:r>
              <a:rPr lang="zh-CN" altLang="en-US" sz="3000" dirty="0">
                <a:sym typeface="Wingdings" pitchFamily="2" charset="2"/>
              </a:rPr>
              <a:t>）</a:t>
            </a:r>
            <a:endParaRPr lang="en-US" altLang="zh-CN" sz="3000" dirty="0">
              <a:sym typeface="Wingdings" pitchFamily="2" charset="2"/>
            </a:endParaRPr>
          </a:p>
          <a:p>
            <a:pPr>
              <a:spcBef>
                <a:spcPts val="0"/>
              </a:spcBef>
              <a:buFont typeface="Wingdings" pitchFamily="2" charset="2"/>
              <a:buChar char="Ø"/>
            </a:pPr>
            <a:r>
              <a:rPr lang="zh-CN" altLang="en-US" sz="3000" b="1" dirty="0">
                <a:solidFill>
                  <a:srgbClr val="0070C0"/>
                </a:solidFill>
                <a:effectLst>
                  <a:outerShdw blurRad="38100" dist="38100" dir="2700000" algn="tl">
                    <a:srgbClr val="000000">
                      <a:alpha val="43137"/>
                    </a:srgbClr>
                  </a:outerShdw>
                </a:effectLst>
                <a:sym typeface="Wingdings" pitchFamily="2" charset="2"/>
              </a:rPr>
              <a:t>碱</a:t>
            </a:r>
            <a:r>
              <a:rPr lang="zh-CN" altLang="en-US" sz="3000" dirty="0">
                <a:sym typeface="Wingdings" pitchFamily="2" charset="2"/>
              </a:rPr>
              <a:t>：凡是可以</a:t>
            </a:r>
            <a:r>
              <a:rPr lang="zh-CN" altLang="en-US" sz="3000" b="1" dirty="0">
                <a:solidFill>
                  <a:srgbClr val="0070C0"/>
                </a:solidFill>
                <a:effectLst>
                  <a:outerShdw blurRad="38100" dist="38100" dir="2700000" algn="tl">
                    <a:srgbClr val="000000">
                      <a:alpha val="43137"/>
                    </a:srgbClr>
                  </a:outerShdw>
                </a:effectLst>
                <a:sym typeface="Wingdings" pitchFamily="2" charset="2"/>
              </a:rPr>
              <a:t>给出电子对</a:t>
            </a:r>
            <a:r>
              <a:rPr lang="zh-CN" altLang="en-US" sz="3000" dirty="0">
                <a:sym typeface="Wingdings" pitchFamily="2" charset="2"/>
              </a:rPr>
              <a:t>的物质（</a:t>
            </a:r>
            <a:r>
              <a:rPr lang="zh-CN" altLang="en-US" sz="3000" b="1" dirty="0">
                <a:solidFill>
                  <a:srgbClr val="0070C0"/>
                </a:solidFill>
                <a:effectLst>
                  <a:outerShdw blurRad="38100" dist="38100" dir="2700000" algn="tl">
                    <a:srgbClr val="000000">
                      <a:alpha val="43137"/>
                    </a:srgbClr>
                  </a:outerShdw>
                </a:effectLst>
                <a:sym typeface="Wingdings" pitchFamily="2" charset="2"/>
              </a:rPr>
              <a:t>富电子物质</a:t>
            </a:r>
            <a:r>
              <a:rPr lang="zh-CN" altLang="en-US" sz="3000" dirty="0">
                <a:sym typeface="Wingdings" pitchFamily="2" charset="2"/>
              </a:rPr>
              <a:t>）</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H</a:t>
            </a:r>
            <a:r>
              <a:rPr lang="en-US" altLang="zh-CN" sz="3000" baseline="30000" dirty="0">
                <a:sym typeface="Wingdings" pitchFamily="2" charset="2"/>
              </a:rPr>
              <a:t>+ </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 </a:t>
            </a:r>
          </a:p>
          <a:p>
            <a:pPr>
              <a:spcBef>
                <a:spcPts val="0"/>
              </a:spcBef>
              <a:buNone/>
            </a:pPr>
            <a:r>
              <a:rPr lang="en-US" altLang="zh-CN" sz="3000" dirty="0">
                <a:sym typeface="Wingdings" pitchFamily="2" charset="2"/>
              </a:rPr>
              <a:t>		</a:t>
            </a:r>
            <a:r>
              <a:rPr lang="zh-CN" altLang="en-US" sz="3000" dirty="0">
                <a:sym typeface="Wingdings" pitchFamily="2" charset="2"/>
              </a:rPr>
              <a:t>酸</a:t>
            </a:r>
            <a:r>
              <a:rPr lang="en-US" altLang="zh-CN" sz="3000" dirty="0">
                <a:sym typeface="Wingdings" pitchFamily="2" charset="2"/>
              </a:rPr>
              <a:t>	</a:t>
            </a:r>
            <a:r>
              <a:rPr lang="zh-CN" altLang="en-US" sz="3000" dirty="0">
                <a:sym typeface="Wingdings" pitchFamily="2" charset="2"/>
              </a:rPr>
              <a:t>碱</a:t>
            </a: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dirty="0">
                <a:highlight>
                  <a:srgbClr val="FFFF00"/>
                </a:highlight>
                <a:sym typeface="Wingdings" pitchFamily="2" charset="2"/>
              </a:rPr>
              <a:t>NH</a:t>
            </a:r>
            <a:r>
              <a:rPr lang="en-US" altLang="zh-CN" sz="3000" baseline="-25000" dirty="0">
                <a:highlight>
                  <a:srgbClr val="FFFF00"/>
                </a:highlight>
                <a:sym typeface="Wingdings" pitchFamily="2" charset="2"/>
              </a:rPr>
              <a:t>3</a:t>
            </a:r>
            <a:r>
              <a:rPr lang="en-US" altLang="zh-CN" sz="3000" dirty="0">
                <a:highlight>
                  <a:srgbClr val="FFFF00"/>
                </a:highlight>
                <a:sym typeface="Wingdings" pitchFamily="2" charset="2"/>
              </a:rPr>
              <a:t> + </a:t>
            </a:r>
            <a:r>
              <a:rPr lang="en-US" altLang="zh-CN" sz="3000" dirty="0" err="1">
                <a:highlight>
                  <a:srgbClr val="FFFF00"/>
                </a:highlight>
                <a:sym typeface="Wingdings" pitchFamily="2" charset="2"/>
              </a:rPr>
              <a:t>HCl</a:t>
            </a:r>
            <a:r>
              <a:rPr lang="en-US" altLang="zh-CN" sz="3000" dirty="0">
                <a:highlight>
                  <a:srgbClr val="FFFF00"/>
                </a:highlight>
                <a:sym typeface="Wingdings" pitchFamily="2" charset="2"/>
              </a:rPr>
              <a:t>  NH</a:t>
            </a:r>
            <a:r>
              <a:rPr lang="en-US" altLang="zh-CN" sz="3000" baseline="-25000" dirty="0">
                <a:highlight>
                  <a:srgbClr val="FFFF00"/>
                </a:highlight>
                <a:sym typeface="Wingdings" pitchFamily="2" charset="2"/>
              </a:rPr>
              <a:t>4</a:t>
            </a:r>
            <a:r>
              <a:rPr lang="en-US" altLang="zh-CN" sz="3000" dirty="0">
                <a:highlight>
                  <a:srgbClr val="FFFF00"/>
                </a:highlight>
                <a:sym typeface="Wingdings" pitchFamily="2" charset="2"/>
              </a:rPr>
              <a:t>Cl </a:t>
            </a:r>
          </a:p>
          <a:p>
            <a:pPr>
              <a:spcBef>
                <a:spcPts val="0"/>
              </a:spcBef>
              <a:buNone/>
            </a:pPr>
            <a:r>
              <a:rPr lang="en-US" altLang="zh-CN" sz="3000" dirty="0">
                <a:sym typeface="Wingdings" pitchFamily="2" charset="2"/>
              </a:rPr>
              <a:t>		</a:t>
            </a:r>
            <a:r>
              <a:rPr lang="zh-CN" altLang="en-US" sz="3000" dirty="0">
                <a:sym typeface="Wingdings" pitchFamily="2" charset="2"/>
              </a:rPr>
              <a:t>碱</a:t>
            </a:r>
            <a:r>
              <a:rPr lang="en-US" altLang="zh-CN" sz="3000" dirty="0">
                <a:sym typeface="Wingdings" pitchFamily="2" charset="2"/>
              </a:rPr>
              <a:t>	</a:t>
            </a:r>
            <a:r>
              <a:rPr lang="zh-CN" altLang="en-US" sz="3000" dirty="0">
                <a:sym typeface="Wingdings" pitchFamily="2" charset="2"/>
              </a:rPr>
              <a:t>酸</a:t>
            </a:r>
            <a:endParaRPr lang="en-US" altLang="zh-CN" sz="3000" dirty="0">
              <a:sym typeface="Wingdings" pitchFamily="2" charset="2"/>
            </a:endParaRPr>
          </a:p>
          <a:p>
            <a:pPr>
              <a:spcBef>
                <a:spcPts val="0"/>
              </a:spcBef>
              <a:buNone/>
            </a:pPr>
            <a:r>
              <a:rPr lang="en-US" altLang="zh-CN" sz="3000" dirty="0">
                <a:sym typeface="Wingdings" pitchFamily="2" charset="2"/>
              </a:rPr>
              <a:t>		Fe</a:t>
            </a:r>
            <a:r>
              <a:rPr lang="en-US" altLang="zh-CN" sz="3000" baseline="30000" dirty="0">
                <a:sym typeface="Wingdings" pitchFamily="2" charset="2"/>
              </a:rPr>
              <a:t>3+</a:t>
            </a:r>
            <a:r>
              <a:rPr lang="en-US" altLang="zh-CN" sz="3000" dirty="0">
                <a:sym typeface="Wingdings" pitchFamily="2" charset="2"/>
              </a:rPr>
              <a:t>  + 3OH</a:t>
            </a:r>
            <a:r>
              <a:rPr lang="en-US" altLang="zh-CN" sz="3000" baseline="30000" dirty="0">
                <a:sym typeface="Wingdings" pitchFamily="2" charset="2"/>
              </a:rPr>
              <a:t>-</a:t>
            </a:r>
            <a:r>
              <a:rPr lang="en-US" altLang="zh-CN" sz="3000" dirty="0">
                <a:sym typeface="Wingdings" pitchFamily="2" charset="2"/>
              </a:rPr>
              <a:t>  Fe(OH)</a:t>
            </a:r>
            <a:r>
              <a:rPr lang="en-US" altLang="zh-CN" sz="3000" baseline="-25000" dirty="0">
                <a:sym typeface="Wingdings" pitchFamily="2" charset="2"/>
              </a:rPr>
              <a:t>3</a:t>
            </a:r>
            <a:r>
              <a:rPr lang="en-US" altLang="zh-CN" sz="3000" dirty="0">
                <a:sym typeface="Wingdings" pitchFamily="2" charset="2"/>
              </a:rPr>
              <a:t> </a:t>
            </a:r>
          </a:p>
          <a:p>
            <a:pPr>
              <a:spcBef>
                <a:spcPts val="0"/>
              </a:spcBef>
              <a:buNone/>
            </a:pPr>
            <a:r>
              <a:rPr lang="en-US" altLang="zh-CN" sz="3000" dirty="0">
                <a:sym typeface="Wingdings" pitchFamily="2" charset="2"/>
              </a:rPr>
              <a:t>		</a:t>
            </a:r>
            <a:r>
              <a:rPr lang="zh-CN" altLang="en-US" sz="3000" dirty="0">
                <a:sym typeface="Wingdings" pitchFamily="2" charset="2"/>
              </a:rPr>
              <a:t>酸</a:t>
            </a:r>
            <a:r>
              <a:rPr lang="en-US" altLang="zh-CN" sz="3000" dirty="0">
                <a:sym typeface="Wingdings" pitchFamily="2" charset="2"/>
              </a:rPr>
              <a:t>	</a:t>
            </a:r>
            <a:r>
              <a:rPr lang="zh-CN" altLang="en-US" sz="3000" dirty="0">
                <a:sym typeface="Wingdings" pitchFamily="2" charset="2"/>
              </a:rPr>
              <a:t>碱</a:t>
            </a:r>
            <a:endParaRPr lang="en-US" altLang="zh-CN" sz="3000" dirty="0">
              <a:sym typeface="Wingdings" pitchFamily="2" charset="2"/>
            </a:endParaRPr>
          </a:p>
          <a:p>
            <a:pPr>
              <a:spcBef>
                <a:spcPts val="0"/>
              </a:spcBef>
              <a:buNone/>
            </a:pPr>
            <a:r>
              <a:rPr lang="en-US" altLang="zh-CN" sz="3000" dirty="0">
                <a:sym typeface="Wingdings" pitchFamily="2" charset="2"/>
              </a:rPr>
              <a:t>		SO</a:t>
            </a:r>
            <a:r>
              <a:rPr lang="en-US" altLang="zh-CN" sz="3000" baseline="-25000" dirty="0">
                <a:sym typeface="Wingdings" pitchFamily="2" charset="2"/>
              </a:rPr>
              <a:t>3</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  H</a:t>
            </a:r>
            <a:r>
              <a:rPr lang="en-US" altLang="zh-CN" sz="3000" baseline="-25000" dirty="0">
                <a:sym typeface="Wingdings" pitchFamily="2" charset="2"/>
              </a:rPr>
              <a:t>2</a:t>
            </a:r>
            <a:r>
              <a:rPr lang="en-US" altLang="zh-CN" sz="3000" dirty="0">
                <a:sym typeface="Wingdings" pitchFamily="2" charset="2"/>
              </a:rPr>
              <a:t> SO</a:t>
            </a:r>
            <a:r>
              <a:rPr lang="en-US" altLang="zh-CN" sz="3000" baseline="-25000" dirty="0">
                <a:sym typeface="Wingdings" pitchFamily="2" charset="2"/>
              </a:rPr>
              <a:t>4</a:t>
            </a:r>
            <a:r>
              <a:rPr lang="en-US" altLang="zh-CN" sz="3000" dirty="0">
                <a:sym typeface="Wingdings" pitchFamily="2" charset="2"/>
              </a:rPr>
              <a:t>  </a:t>
            </a:r>
          </a:p>
          <a:p>
            <a:pPr>
              <a:spcBef>
                <a:spcPts val="0"/>
              </a:spcBef>
              <a:buNone/>
            </a:pPr>
            <a:r>
              <a:rPr lang="en-US" altLang="zh-CN" sz="3000" dirty="0">
                <a:sym typeface="Wingdings" pitchFamily="2" charset="2"/>
              </a:rPr>
              <a:t>		</a:t>
            </a:r>
            <a:r>
              <a:rPr lang="zh-CN" altLang="en-US" sz="3000" dirty="0">
                <a:sym typeface="Wingdings" pitchFamily="2" charset="2"/>
              </a:rPr>
              <a:t>酸</a:t>
            </a:r>
            <a:r>
              <a:rPr lang="en-US" altLang="zh-CN" sz="3000" dirty="0">
                <a:sym typeface="Wingdings" pitchFamily="2" charset="2"/>
              </a:rPr>
              <a:t>	</a:t>
            </a:r>
            <a:r>
              <a:rPr lang="zh-CN" altLang="en-US" sz="3000" dirty="0">
                <a:sym typeface="Wingdings" pitchFamily="2" charset="2"/>
              </a:rPr>
              <a:t>碱</a:t>
            </a:r>
            <a:endParaRPr lang="en-US" altLang="zh-CN" sz="3000" dirty="0">
              <a:sym typeface="Wingdings" pitchFamily="2" charset="2"/>
            </a:endParaRPr>
          </a:p>
          <a:p>
            <a:pPr>
              <a:spcBef>
                <a:spcPts val="0"/>
              </a:spcBef>
              <a:buNone/>
            </a:pPr>
            <a:r>
              <a:rPr lang="zh-CN" altLang="en-US" sz="3000" dirty="0">
                <a:highlight>
                  <a:srgbClr val="FFFF00"/>
                </a:highlight>
                <a:sym typeface="Wingdings" pitchFamily="2" charset="2"/>
              </a:rPr>
              <a:t>酸碱过于笼统</a:t>
            </a:r>
            <a:r>
              <a:rPr lang="zh-CN" altLang="en-US" sz="3000" dirty="0">
                <a:sym typeface="Wingdings" pitchFamily="2" charset="2"/>
              </a:rPr>
              <a:t>，不易掌握。</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blinds(horizontal)">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blinds(horizontal)">
                                      <p:cBhvr>
                                        <p:cTn id="5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23a</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marL="514350" indent="-514350">
              <a:spcBef>
                <a:spcPts val="0"/>
              </a:spcBef>
              <a:buAutoNum type="arabicPeriod"/>
            </a:pPr>
            <a:r>
              <a:rPr lang="zh-CN" altLang="en-US" sz="3000" dirty="0">
                <a:sym typeface="Wingdings" pitchFamily="2" charset="2"/>
              </a:rPr>
              <a:t>碱性</a:t>
            </a:r>
            <a:r>
              <a:rPr lang="en-US" altLang="zh-CN" sz="3000" dirty="0">
                <a:sym typeface="Wingdings" pitchFamily="2" charset="2"/>
              </a:rPr>
              <a:t>D</a:t>
            </a:r>
          </a:p>
          <a:p>
            <a:pPr marL="514350" indent="-514350">
              <a:spcBef>
                <a:spcPts val="0"/>
              </a:spcBef>
              <a:buAutoNum type="arabicPeriod"/>
            </a:pPr>
            <a:r>
              <a:rPr lang="en-US" altLang="zh-CN" sz="3000" dirty="0">
                <a:sym typeface="Wingdings" pitchFamily="2" charset="2"/>
              </a:rPr>
              <a:t>C</a:t>
            </a:r>
          </a:p>
          <a:p>
            <a:pPr>
              <a:spcBef>
                <a:spcPts val="0"/>
              </a:spcBef>
              <a:buNone/>
            </a:pPr>
            <a:r>
              <a:rPr lang="en-US" altLang="zh-CN" sz="3000" dirty="0">
                <a:sym typeface="Wingdings" pitchFamily="2" charset="2"/>
              </a:rPr>
              <a:t>3. </a:t>
            </a:r>
            <a:r>
              <a:rPr lang="en-US" altLang="zh-CN" sz="3000" baseline="30000" dirty="0">
                <a:sym typeface="Wingdings" pitchFamily="2" charset="2"/>
              </a:rPr>
              <a:t>	</a:t>
            </a:r>
            <a:r>
              <a:rPr lang="en-US" altLang="zh-CN" sz="3000" dirty="0">
                <a:sym typeface="Wingdings" pitchFamily="2" charset="2"/>
              </a:rPr>
              <a:t>H</a:t>
            </a:r>
            <a:r>
              <a:rPr lang="en-US" altLang="zh-CN" sz="3000" baseline="-25000" dirty="0">
                <a:sym typeface="Wingdings" pitchFamily="2" charset="2"/>
              </a:rPr>
              <a:t>3</a:t>
            </a:r>
            <a:r>
              <a:rPr lang="en-US" altLang="zh-CN" sz="3000" dirty="0">
                <a:sym typeface="Wingdings" pitchFamily="2" charset="2"/>
              </a:rPr>
              <a:t>O</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   </a:t>
            </a:r>
            <a:r>
              <a:rPr lang="zh-CN" altLang="en-US" sz="3000" dirty="0">
                <a:sym typeface="Wingdings" pitchFamily="2" charset="2"/>
              </a:rPr>
              <a:t>、 </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baseline="30000" dirty="0">
                <a:sym typeface="Wingdings" pitchFamily="2" charset="2"/>
              </a:rPr>
              <a:t> </a:t>
            </a:r>
            <a:r>
              <a:rPr lang="en-US" altLang="zh-CN" sz="3000" dirty="0">
                <a:sym typeface="Wingdings" pitchFamily="2" charset="2"/>
              </a:rPr>
              <a:t>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 、 </a:t>
            </a:r>
            <a:r>
              <a:rPr lang="en-US" altLang="zh-CN" sz="3000" dirty="0">
                <a:sym typeface="Wingdings" pitchFamily="2" charset="2"/>
              </a:rPr>
              <a:t>NH</a:t>
            </a:r>
            <a:r>
              <a:rPr lang="en-US" altLang="zh-CN" sz="3000" baseline="-25000" dirty="0">
                <a:sym typeface="Wingdings" pitchFamily="2" charset="2"/>
              </a:rPr>
              <a:t>2</a:t>
            </a:r>
            <a:r>
              <a:rPr lang="en-US" altLang="zh-CN" sz="3000" baseline="30000" dirty="0">
                <a:sym typeface="Wingdings" pitchFamily="2" charset="2"/>
              </a:rPr>
              <a:t>-</a:t>
            </a:r>
            <a:endParaRPr lang="en-US" altLang="zh-CN" sz="3000" dirty="0">
              <a:sym typeface="Wingdings" pitchFamily="2" charset="2"/>
            </a:endParaRPr>
          </a:p>
          <a:p>
            <a:pPr>
              <a:spcBef>
                <a:spcPts val="0"/>
              </a:spcBef>
              <a:buNone/>
            </a:pPr>
            <a:r>
              <a:rPr lang="en-US" altLang="zh-CN" sz="3000" dirty="0">
                <a:sym typeface="Wingdings" pitchFamily="2" charset="2"/>
              </a:rPr>
              <a:t>		HNO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NO</a:t>
            </a:r>
            <a:r>
              <a:rPr lang="en-US" altLang="zh-CN" sz="3000" baseline="-25000" dirty="0">
                <a:sym typeface="Wingdings" pitchFamily="2" charset="2"/>
              </a:rPr>
              <a:t>3</a:t>
            </a:r>
            <a:r>
              <a:rPr lang="en-US" altLang="zh-CN" sz="3000" baseline="30000" dirty="0">
                <a:sym typeface="Wingdings" pitchFamily="2" charset="2"/>
              </a:rPr>
              <a:t>-</a:t>
            </a:r>
            <a:endParaRPr lang="en-US" altLang="zh-CN" sz="3000" dirty="0">
              <a:sym typeface="Wingdings" pitchFamily="2" charset="2"/>
            </a:endParaRPr>
          </a:p>
          <a:p>
            <a:pPr>
              <a:spcBef>
                <a:spcPts val="0"/>
              </a:spcBef>
              <a:buNone/>
            </a:pPr>
            <a:r>
              <a:rPr lang="en-US" altLang="zh-CN" sz="3000" dirty="0">
                <a:sym typeface="Wingdings" pitchFamily="2" charset="2"/>
              </a:rPr>
              <a:t>		HF	</a:t>
            </a:r>
            <a:r>
              <a:rPr lang="zh-CN" altLang="en-US" sz="3000" dirty="0">
                <a:sym typeface="Wingdings" pitchFamily="2" charset="2"/>
              </a:rPr>
              <a:t>、 </a:t>
            </a:r>
            <a:r>
              <a:rPr lang="en-US" altLang="zh-CN" sz="3000" dirty="0">
                <a:sym typeface="Wingdings" pitchFamily="2" charset="2"/>
              </a:rPr>
              <a:t>F</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HCO</a:t>
            </a:r>
            <a:r>
              <a:rPr lang="en-US" altLang="zh-CN" sz="3000" baseline="-25000" dirty="0">
                <a:sym typeface="Wingdings" pitchFamily="2" charset="2"/>
              </a:rPr>
              <a:t>3</a:t>
            </a:r>
            <a:r>
              <a:rPr lang="en-US" altLang="zh-CN" sz="3000" dirty="0">
                <a:sym typeface="Wingdings" pitchFamily="2" charset="2"/>
              </a:rPr>
              <a:t> </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a:t>
            </a:r>
            <a:r>
              <a:rPr lang="en-US" altLang="zh-CN" sz="3000" baseline="30000" dirty="0">
                <a:sym typeface="Wingdings" pitchFamily="2" charset="2"/>
              </a:rPr>
              <a:t>2–</a:t>
            </a:r>
            <a:r>
              <a:rPr lang="en-US" altLang="zh-CN" sz="3000" dirty="0">
                <a:sym typeface="Wingdings" pitchFamily="2" charset="2"/>
              </a:rPr>
              <a:t> </a:t>
            </a:r>
          </a:p>
          <a:p>
            <a:pPr>
              <a:spcBef>
                <a:spcPts val="0"/>
              </a:spcBef>
              <a:buNone/>
            </a:pPr>
            <a:r>
              <a:rPr lang="en-US" altLang="zh-CN" sz="3000" dirty="0">
                <a:sym typeface="Wingdings" pitchFamily="2" charset="2"/>
              </a:rPr>
              <a:t>		</a:t>
            </a:r>
          </a:p>
          <a:p>
            <a:pPr>
              <a:spcBef>
                <a:spcPts val="0"/>
              </a:spcBef>
              <a:buNone/>
            </a:pPr>
            <a:r>
              <a:rPr lang="en-US" altLang="zh-CN" sz="3000" dirty="0">
                <a:sym typeface="Wingdings" pitchFamily="2" charset="2"/>
              </a:rPr>
              <a:t> 		</a:t>
            </a:r>
          </a:p>
          <a:p>
            <a:pPr marL="514350" indent="-514350">
              <a:spcBef>
                <a:spcPts val="0"/>
              </a:spcBef>
              <a:buAutoNum type="arabicPeriod"/>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23a</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en-US" altLang="zh-CN" sz="3000" dirty="0">
                <a:sym typeface="Wingdings" pitchFamily="2" charset="2"/>
              </a:rPr>
              <a:t>4. </a:t>
            </a:r>
            <a:r>
              <a:rPr lang="en-US" altLang="zh-CN" sz="3000" dirty="0">
                <a:highlight>
                  <a:srgbClr val="FFFF00"/>
                </a:highlight>
                <a:sym typeface="Wingdings" pitchFamily="2" charset="2"/>
              </a:rPr>
              <a:t>H</a:t>
            </a:r>
            <a:r>
              <a:rPr lang="en-US" altLang="zh-CN" sz="3000" baseline="-25000" dirty="0">
                <a:highlight>
                  <a:srgbClr val="FFFF00"/>
                </a:highlight>
                <a:sym typeface="Wingdings" pitchFamily="2" charset="2"/>
              </a:rPr>
              <a:t>2</a:t>
            </a:r>
            <a:r>
              <a:rPr lang="en-US" altLang="zh-CN" sz="3000" dirty="0">
                <a:highlight>
                  <a:srgbClr val="FFFF00"/>
                </a:highlight>
                <a:sym typeface="Wingdings" pitchFamily="2" charset="2"/>
              </a:rPr>
              <a:t>O        + 	 H</a:t>
            </a:r>
            <a:r>
              <a:rPr lang="en-US" altLang="zh-CN" sz="3000" baseline="-25000" dirty="0">
                <a:highlight>
                  <a:srgbClr val="FFFF00"/>
                </a:highlight>
                <a:sym typeface="Wingdings" pitchFamily="2" charset="2"/>
              </a:rPr>
              <a:t>2</a:t>
            </a:r>
            <a:r>
              <a:rPr lang="en-US" altLang="zh-CN" sz="3000" dirty="0">
                <a:highlight>
                  <a:srgbClr val="FFFF00"/>
                </a:highlight>
                <a:sym typeface="Wingdings" pitchFamily="2" charset="2"/>
              </a:rPr>
              <a:t>O      	 H</a:t>
            </a:r>
            <a:r>
              <a:rPr lang="en-US" altLang="zh-CN" sz="3000" baseline="-25000" dirty="0">
                <a:highlight>
                  <a:srgbClr val="FFFF00"/>
                </a:highlight>
                <a:sym typeface="Wingdings" pitchFamily="2" charset="2"/>
              </a:rPr>
              <a:t>3</a:t>
            </a:r>
            <a:r>
              <a:rPr lang="en-US" altLang="zh-CN" sz="3000" dirty="0">
                <a:highlight>
                  <a:srgbClr val="FFFF00"/>
                </a:highlight>
                <a:sym typeface="Wingdings" pitchFamily="2" charset="2"/>
              </a:rPr>
              <a:t>O</a:t>
            </a:r>
            <a:r>
              <a:rPr lang="en-US" altLang="zh-CN" sz="3000" baseline="30000" dirty="0">
                <a:highlight>
                  <a:srgbClr val="FFFF00"/>
                </a:highlight>
                <a:sym typeface="Wingdings" pitchFamily="2" charset="2"/>
              </a:rPr>
              <a:t>+</a:t>
            </a:r>
            <a:r>
              <a:rPr lang="en-US" altLang="zh-CN" sz="3000" dirty="0">
                <a:highlight>
                  <a:srgbClr val="FFFF00"/>
                </a:highlight>
                <a:sym typeface="Wingdings" pitchFamily="2" charset="2"/>
              </a:rPr>
              <a:t>     +  	OH</a:t>
            </a:r>
            <a:r>
              <a:rPr lang="en-US" altLang="zh-CN" sz="3000" baseline="30000" dirty="0">
                <a:highlight>
                  <a:srgbClr val="FFFF00"/>
                </a:highlight>
                <a:sym typeface="Wingdings" pitchFamily="2" charset="2"/>
              </a:rPr>
              <a:t>-</a:t>
            </a:r>
            <a:endParaRPr lang="en-US" altLang="zh-CN" sz="3000" dirty="0">
              <a:highlight>
                <a:srgbClr val="FFFF00"/>
              </a:highlight>
              <a:sym typeface="Wingdings" pitchFamily="2" charset="2"/>
            </a:endParaRPr>
          </a:p>
          <a:p>
            <a:pPr>
              <a:spcBef>
                <a:spcPts val="0"/>
              </a:spcBef>
              <a:buNone/>
            </a:pP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布朗斯特酸</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布朗斯特碱  </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共轭酸</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共轭碱</a:t>
            </a:r>
            <a:r>
              <a:rPr lang="en-US" altLang="zh-CN" sz="3000" dirty="0">
                <a:highlight>
                  <a:srgbClr val="FFFF00"/>
                </a:highlight>
                <a:sym typeface="Wingdings" pitchFamily="2" charset="2"/>
              </a:rPr>
              <a:t>	</a:t>
            </a:r>
          </a:p>
          <a:p>
            <a:pPr>
              <a:spcBef>
                <a:spcPts val="0"/>
              </a:spcBef>
              <a:buNone/>
            </a:pPr>
            <a:endParaRPr lang="en-US" altLang="zh-CN" sz="3000" dirty="0">
              <a:highlight>
                <a:srgbClr val="FFFF00"/>
              </a:highlight>
              <a:sym typeface="Wingdings" pitchFamily="2" charset="2"/>
            </a:endParaRPr>
          </a:p>
          <a:p>
            <a:pPr>
              <a:spcBef>
                <a:spcPts val="0"/>
              </a:spcBef>
              <a:buNone/>
            </a:pPr>
            <a:r>
              <a:rPr lang="en-US" altLang="zh-CN" sz="3000" dirty="0">
                <a:sym typeface="Wingdings" pitchFamily="2" charset="2"/>
              </a:rPr>
              <a:t>	</a:t>
            </a:r>
            <a:r>
              <a:rPr lang="en-US" altLang="zh-CN" sz="3000" dirty="0">
                <a:highlight>
                  <a:srgbClr val="FFFF00"/>
                </a:highlight>
                <a:sym typeface="Wingdings" pitchFamily="2" charset="2"/>
              </a:rPr>
              <a:t>NH</a:t>
            </a:r>
            <a:r>
              <a:rPr lang="en-US" altLang="zh-CN" sz="3000" baseline="-25000" dirty="0">
                <a:highlight>
                  <a:srgbClr val="FFFF00"/>
                </a:highlight>
                <a:sym typeface="Wingdings" pitchFamily="2" charset="2"/>
              </a:rPr>
              <a:t>3</a:t>
            </a:r>
            <a:r>
              <a:rPr lang="en-US" altLang="zh-CN" sz="3000" dirty="0">
                <a:highlight>
                  <a:srgbClr val="FFFF00"/>
                </a:highlight>
                <a:sym typeface="Wingdings" pitchFamily="2" charset="2"/>
              </a:rPr>
              <a:t>         +        NH</a:t>
            </a:r>
            <a:r>
              <a:rPr lang="en-US" altLang="zh-CN" sz="3000" baseline="-25000" dirty="0">
                <a:highlight>
                  <a:srgbClr val="FFFF00"/>
                </a:highlight>
                <a:sym typeface="Wingdings" pitchFamily="2" charset="2"/>
              </a:rPr>
              <a:t>3</a:t>
            </a:r>
            <a:r>
              <a:rPr lang="en-US" altLang="zh-CN" sz="3000" dirty="0">
                <a:highlight>
                  <a:srgbClr val="FFFF00"/>
                </a:highlight>
                <a:sym typeface="Wingdings" pitchFamily="2" charset="2"/>
              </a:rPr>
              <a:t>             NH</a:t>
            </a:r>
            <a:r>
              <a:rPr lang="en-US" altLang="zh-CN" sz="3000" baseline="-25000" dirty="0">
                <a:highlight>
                  <a:srgbClr val="FFFF00"/>
                </a:highlight>
                <a:sym typeface="Wingdings" pitchFamily="2" charset="2"/>
              </a:rPr>
              <a:t>4</a:t>
            </a:r>
            <a:r>
              <a:rPr lang="en-US" altLang="zh-CN" sz="3000" baseline="30000" dirty="0">
                <a:highlight>
                  <a:srgbClr val="FFFF00"/>
                </a:highlight>
                <a:sym typeface="Wingdings" pitchFamily="2" charset="2"/>
              </a:rPr>
              <a:t>+</a:t>
            </a:r>
            <a:r>
              <a:rPr lang="en-US" altLang="zh-CN" sz="3000" dirty="0">
                <a:highlight>
                  <a:srgbClr val="FFFF00"/>
                </a:highlight>
                <a:sym typeface="Wingdings" pitchFamily="2" charset="2"/>
              </a:rPr>
              <a:t>   +    NH</a:t>
            </a:r>
            <a:r>
              <a:rPr lang="en-US" altLang="zh-CN" sz="3000" baseline="-25000" dirty="0">
                <a:highlight>
                  <a:srgbClr val="FFFF00"/>
                </a:highlight>
                <a:sym typeface="Wingdings" pitchFamily="2" charset="2"/>
              </a:rPr>
              <a:t>2</a:t>
            </a:r>
            <a:r>
              <a:rPr lang="en-US" altLang="zh-CN" sz="3000" dirty="0">
                <a:highlight>
                  <a:srgbClr val="FFFF00"/>
                </a:highlight>
                <a:sym typeface="Wingdings" pitchFamily="2" charset="2"/>
              </a:rPr>
              <a:t> </a:t>
            </a:r>
            <a:r>
              <a:rPr lang="en-US" altLang="zh-CN" sz="3000" baseline="30000" dirty="0">
                <a:highlight>
                  <a:srgbClr val="FFFF00"/>
                </a:highlight>
                <a:sym typeface="Wingdings" pitchFamily="2" charset="2"/>
              </a:rPr>
              <a:t>-</a:t>
            </a:r>
            <a:r>
              <a:rPr lang="en-US" altLang="zh-CN" sz="3000" dirty="0">
                <a:highlight>
                  <a:srgbClr val="FFFF00"/>
                </a:highlight>
                <a:sym typeface="Wingdings" pitchFamily="2" charset="2"/>
              </a:rPr>
              <a:t> </a:t>
            </a:r>
          </a:p>
          <a:p>
            <a:pPr>
              <a:spcBef>
                <a:spcPts val="0"/>
              </a:spcBef>
              <a:buNone/>
            </a:pP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布朗斯特酸</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布朗斯特碱  </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共轭酸</a:t>
            </a:r>
            <a:r>
              <a:rPr lang="en-US" altLang="zh-CN" sz="3000" dirty="0">
                <a:highlight>
                  <a:srgbClr val="FFFF00"/>
                </a:highlight>
                <a:sym typeface="Wingdings" pitchFamily="2" charset="2"/>
              </a:rPr>
              <a:t>	</a:t>
            </a:r>
            <a:r>
              <a:rPr lang="zh-CN" altLang="en-US" sz="3000" dirty="0">
                <a:highlight>
                  <a:srgbClr val="FFFF00"/>
                </a:highlight>
                <a:sym typeface="Wingdings" pitchFamily="2" charset="2"/>
              </a:rPr>
              <a:t>共轭碱</a:t>
            </a:r>
            <a:r>
              <a:rPr lang="en-US" altLang="zh-CN" sz="3000" dirty="0">
                <a:highlight>
                  <a:srgbClr val="FFFF00"/>
                </a:highlight>
                <a:sym typeface="Wingdings" pitchFamily="2" charset="2"/>
              </a:rPr>
              <a:t>	</a:t>
            </a: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5. Na</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 </a:t>
            </a:r>
            <a:r>
              <a:rPr lang="en-US" altLang="zh-CN" sz="3000" dirty="0" err="1">
                <a:sym typeface="Wingdings" pitchFamily="2" charset="2"/>
              </a:rPr>
              <a:t>HCl</a:t>
            </a:r>
            <a:r>
              <a:rPr lang="en-US" altLang="zh-CN" sz="3000" dirty="0">
                <a:sym typeface="Wingdings" pitchFamily="2" charset="2"/>
              </a:rPr>
              <a:t>    </a:t>
            </a:r>
            <a:r>
              <a:rPr lang="en-US" altLang="zh-CN" sz="3000" dirty="0" err="1">
                <a:sym typeface="Wingdings" pitchFamily="2" charset="2"/>
              </a:rPr>
              <a:t>NaCl</a:t>
            </a:r>
            <a:r>
              <a:rPr lang="en-US" altLang="zh-CN" sz="3000" dirty="0">
                <a:sym typeface="Wingdings" pitchFamily="2" charset="2"/>
              </a:rPr>
              <a:t>  + NaHCO</a:t>
            </a:r>
            <a:r>
              <a:rPr lang="en-US" altLang="zh-CN" sz="3000" baseline="-25000" dirty="0">
                <a:sym typeface="Wingdings" pitchFamily="2" charset="2"/>
              </a:rPr>
              <a:t>3</a:t>
            </a:r>
            <a:r>
              <a:rPr lang="en-US" altLang="zh-CN" sz="3000" dirty="0">
                <a:sym typeface="Wingdings" pitchFamily="2" charset="2"/>
              </a:rPr>
              <a:t> </a:t>
            </a:r>
          </a:p>
          <a:p>
            <a:pPr>
              <a:spcBef>
                <a:spcPts val="0"/>
              </a:spcBef>
              <a:buNone/>
            </a:pPr>
            <a:r>
              <a:rPr lang="en-US" altLang="zh-CN" sz="3000" dirty="0">
                <a:sym typeface="Wingdings" pitchFamily="2" charset="2"/>
              </a:rPr>
              <a:t>	</a:t>
            </a:r>
            <a:r>
              <a:rPr lang="zh-CN" altLang="en-US" sz="3000" dirty="0">
                <a:sym typeface="Wingdings" pitchFamily="2" charset="2"/>
              </a:rPr>
              <a:t>碱</a:t>
            </a:r>
            <a:r>
              <a:rPr lang="en-US" altLang="zh-CN" sz="3000" dirty="0">
                <a:sym typeface="Wingdings" pitchFamily="2" charset="2"/>
              </a:rPr>
              <a:t>		</a:t>
            </a:r>
            <a:r>
              <a:rPr lang="zh-CN" altLang="en-US" sz="3000" dirty="0">
                <a:sym typeface="Wingdings" pitchFamily="2" charset="2"/>
              </a:rPr>
              <a:t>酸</a:t>
            </a:r>
            <a:r>
              <a:rPr lang="en-US" altLang="zh-CN" sz="3000" dirty="0">
                <a:sym typeface="Wingdings" pitchFamily="2" charset="2"/>
              </a:rPr>
              <a:t>	</a:t>
            </a: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dirty="0" err="1">
                <a:sym typeface="Wingdings" pitchFamily="2" charset="2"/>
              </a:rPr>
              <a:t>CaO</a:t>
            </a:r>
            <a:r>
              <a:rPr lang="en-US" altLang="zh-CN" sz="3000" dirty="0">
                <a:sym typeface="Wingdings" pitchFamily="2" charset="2"/>
              </a:rPr>
              <a:t> + CO</a:t>
            </a:r>
            <a:r>
              <a:rPr lang="en-US" altLang="zh-CN" sz="3000" baseline="-25000" dirty="0">
                <a:sym typeface="Wingdings" pitchFamily="2" charset="2"/>
              </a:rPr>
              <a:t>2</a:t>
            </a:r>
            <a:r>
              <a:rPr lang="en-US" altLang="zh-CN" sz="3000" dirty="0">
                <a:sym typeface="Wingdings" pitchFamily="2" charset="2"/>
              </a:rPr>
              <a:t>  CaCO</a:t>
            </a:r>
            <a:r>
              <a:rPr lang="en-US" altLang="zh-CN" sz="3000" baseline="-25000" dirty="0">
                <a:sym typeface="Wingdings" pitchFamily="2" charset="2"/>
              </a:rPr>
              <a:t>3 </a:t>
            </a:r>
            <a:r>
              <a:rPr lang="en-US" altLang="zh-CN" sz="3000" dirty="0">
                <a:sym typeface="Wingdings" pitchFamily="2" charset="2"/>
              </a:rPr>
              <a:t> </a:t>
            </a:r>
          </a:p>
          <a:p>
            <a:pPr>
              <a:spcBef>
                <a:spcPts val="0"/>
              </a:spcBef>
              <a:buNone/>
            </a:pPr>
            <a:r>
              <a:rPr lang="en-US" altLang="zh-CN" sz="3000" dirty="0">
                <a:sym typeface="Wingdings" pitchFamily="2" charset="2"/>
              </a:rPr>
              <a:t> 	</a:t>
            </a:r>
            <a:r>
              <a:rPr lang="zh-CN" altLang="en-US" sz="3000" dirty="0">
                <a:sym typeface="Wingdings" pitchFamily="2" charset="2"/>
              </a:rPr>
              <a:t>碱</a:t>
            </a:r>
            <a:r>
              <a:rPr lang="en-US" altLang="zh-CN" sz="3000" dirty="0">
                <a:sym typeface="Wingdings" pitchFamily="2" charset="2"/>
              </a:rPr>
              <a:t>	     </a:t>
            </a:r>
            <a:r>
              <a:rPr lang="zh-CN" altLang="en-US" sz="3000" dirty="0">
                <a:sym typeface="Wingdings" pitchFamily="2" charset="2"/>
              </a:rPr>
              <a:t>酸</a:t>
            </a:r>
            <a:r>
              <a:rPr lang="en-US" altLang="zh-CN" sz="3000" dirty="0">
                <a:sym typeface="Wingdings" pitchFamily="2" charset="2"/>
              </a:rPr>
              <a:t>	</a:t>
            </a:r>
          </a:p>
          <a:p>
            <a:pPr marL="514350" indent="-514350">
              <a:spcBef>
                <a:spcPts val="0"/>
              </a:spcBef>
              <a:buAutoNum type="arabicPeriod"/>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blinds(horizontal)">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blinds(horizontal)">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电离度和电离常数</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1200"/>
              </a:spcAft>
              <a:buNone/>
            </a:pPr>
            <a:r>
              <a:rPr lang="en-US" altLang="zh-CN" sz="3000" dirty="0">
                <a:sym typeface="Wingdings" pitchFamily="2" charset="2"/>
              </a:rPr>
              <a:t>23.2.1 </a:t>
            </a:r>
            <a:r>
              <a:rPr lang="zh-CN" altLang="en-US" sz="3000" dirty="0">
                <a:sym typeface="Wingdings" pitchFamily="2" charset="2"/>
              </a:rPr>
              <a:t>弱电解质的电离平衡</a:t>
            </a:r>
            <a:endParaRPr lang="en-US" altLang="zh-CN" sz="3000" dirty="0">
              <a:sym typeface="Wingdings" pitchFamily="2" charset="2"/>
            </a:endParaRPr>
          </a:p>
          <a:p>
            <a:pPr>
              <a:spcBef>
                <a:spcPts val="0"/>
              </a:spcBef>
              <a:spcAft>
                <a:spcPts val="1200"/>
              </a:spcAft>
              <a:buNone/>
            </a:pPr>
            <a:r>
              <a:rPr lang="zh-CN" altLang="en-US" sz="3000" dirty="0">
                <a:sym typeface="Wingdings" pitchFamily="2" charset="2"/>
              </a:rPr>
              <a:t>问题解决</a:t>
            </a:r>
            <a:r>
              <a:rPr lang="en-US" altLang="zh-CN" sz="3000" dirty="0">
                <a:sym typeface="Wingdings" pitchFamily="2" charset="2"/>
              </a:rPr>
              <a:t>p242</a:t>
            </a:r>
          </a:p>
          <a:p>
            <a:pPr>
              <a:spcBef>
                <a:spcPts val="0"/>
              </a:spcBef>
              <a:spcAft>
                <a:spcPts val="1200"/>
              </a:spcAft>
              <a:buNone/>
            </a:pPr>
            <a:r>
              <a:rPr lang="en-US" altLang="zh-CN" sz="3000" dirty="0">
                <a:sym typeface="Wingdings" pitchFamily="2" charset="2"/>
              </a:rPr>
              <a:t>		</a:t>
            </a:r>
            <a:r>
              <a:rPr lang="en-US" altLang="zh-CN" sz="3000" dirty="0" err="1">
                <a:sym typeface="Wingdings" pitchFamily="2" charset="2"/>
              </a:rPr>
              <a:t>NaCl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a:t>
            </a:r>
            <a:r>
              <a:rPr lang="en-US" altLang="zh-CN" sz="3000" dirty="0" err="1">
                <a:sym typeface="Wingdings" pitchFamily="2" charset="2"/>
              </a:rPr>
              <a:t>NaOH</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氨水</a:t>
            </a:r>
            <a:r>
              <a:rPr lang="en-US" altLang="zh-CN" sz="3000" dirty="0">
                <a:sym typeface="Wingdings" pitchFamily="2" charset="2"/>
              </a:rPr>
              <a:t>	 </a:t>
            </a:r>
            <a:r>
              <a:rPr lang="zh-CN" altLang="en-US" sz="3000" dirty="0">
                <a:sym typeface="Wingdings" pitchFamily="2" charset="2"/>
              </a:rPr>
              <a:t>盐酸</a:t>
            </a:r>
            <a:r>
              <a:rPr lang="en-US" altLang="zh-CN" sz="3000" dirty="0">
                <a:sym typeface="Wingdings" pitchFamily="2" charset="2"/>
              </a:rPr>
              <a:t>     </a:t>
            </a:r>
            <a:r>
              <a:rPr lang="zh-CN" altLang="en-US" sz="3000" dirty="0">
                <a:sym typeface="Wingdings" pitchFamily="2" charset="2"/>
              </a:rPr>
              <a:t>醋酸</a:t>
            </a:r>
            <a:endParaRPr lang="en-US" altLang="zh-CN" sz="3000" dirty="0">
              <a:sym typeface="Wingdings" pitchFamily="2" charset="2"/>
            </a:endParaRPr>
          </a:p>
          <a:p>
            <a:pPr>
              <a:spcBef>
                <a:spcPts val="0"/>
              </a:spcBef>
              <a:spcAft>
                <a:spcPts val="1200"/>
              </a:spcAft>
              <a:buNone/>
            </a:pPr>
            <a:r>
              <a:rPr lang="zh-CN" altLang="en-US" sz="3000" dirty="0">
                <a:sym typeface="Wingdings" pitchFamily="2" charset="2"/>
              </a:rPr>
              <a:t>灯泡  很亮</a:t>
            </a:r>
            <a:r>
              <a:rPr lang="en-US" altLang="zh-CN" sz="3000" dirty="0">
                <a:sym typeface="Wingdings" pitchFamily="2" charset="2"/>
              </a:rPr>
              <a:t>		</a:t>
            </a:r>
            <a:r>
              <a:rPr lang="zh-CN" altLang="en-US" sz="3000" dirty="0">
                <a:sym typeface="Wingdings" pitchFamily="2" charset="2"/>
              </a:rPr>
              <a:t>很亮</a:t>
            </a:r>
            <a:r>
              <a:rPr lang="en-US" altLang="zh-CN" sz="3000" dirty="0">
                <a:sym typeface="Wingdings" pitchFamily="2" charset="2"/>
              </a:rPr>
              <a:t>		</a:t>
            </a:r>
            <a:r>
              <a:rPr lang="zh-CN" altLang="en-US" sz="3000" dirty="0">
                <a:sym typeface="Wingdings" pitchFamily="2" charset="2"/>
              </a:rPr>
              <a:t>较暗</a:t>
            </a:r>
            <a:r>
              <a:rPr lang="en-US" altLang="zh-CN" sz="3000" dirty="0">
                <a:sym typeface="Wingdings" pitchFamily="2" charset="2"/>
              </a:rPr>
              <a:t>		</a:t>
            </a:r>
            <a:r>
              <a:rPr lang="zh-CN" altLang="en-US" sz="3000" dirty="0">
                <a:sym typeface="Wingdings" pitchFamily="2" charset="2"/>
              </a:rPr>
              <a:t>很亮</a:t>
            </a:r>
            <a:r>
              <a:rPr lang="en-US" altLang="zh-CN" sz="3000" dirty="0">
                <a:sym typeface="Wingdings" pitchFamily="2" charset="2"/>
              </a:rPr>
              <a:t>	    </a:t>
            </a:r>
            <a:r>
              <a:rPr lang="zh-CN" altLang="en-US" sz="3000" dirty="0">
                <a:sym typeface="Wingdings" pitchFamily="2" charset="2"/>
              </a:rPr>
              <a:t>较暗</a:t>
            </a:r>
            <a:endParaRPr lang="en-US" altLang="zh-CN" sz="3000" dirty="0">
              <a:sym typeface="Wingdings" pitchFamily="2" charset="2"/>
            </a:endParaRPr>
          </a:p>
          <a:p>
            <a:pPr>
              <a:spcBef>
                <a:spcPts val="0"/>
              </a:spcBef>
              <a:spcAft>
                <a:spcPts val="1200"/>
              </a:spcAft>
              <a:buNone/>
            </a:pPr>
            <a:r>
              <a:rPr lang="zh-CN" altLang="en-US" sz="3000" dirty="0">
                <a:sym typeface="Wingdings" pitchFamily="2" charset="2"/>
              </a:rPr>
              <a:t>结论</a:t>
            </a:r>
            <a:r>
              <a:rPr lang="en-US" altLang="zh-CN" sz="3000" dirty="0">
                <a:sym typeface="Wingdings" pitchFamily="2" charset="2"/>
              </a:rPr>
              <a:t>	</a:t>
            </a:r>
            <a:r>
              <a:rPr lang="zh-CN" altLang="en-US" sz="3000" dirty="0">
                <a:sym typeface="Wingdings" pitchFamily="2" charset="2"/>
              </a:rPr>
              <a:t>强</a:t>
            </a:r>
            <a:r>
              <a:rPr lang="en-US" altLang="zh-CN" sz="3000" dirty="0">
                <a:sym typeface="Wingdings" pitchFamily="2" charset="2"/>
              </a:rPr>
              <a:t>		</a:t>
            </a:r>
            <a:r>
              <a:rPr lang="zh-CN" altLang="en-US" sz="3000" dirty="0">
                <a:sym typeface="Wingdings" pitchFamily="2" charset="2"/>
              </a:rPr>
              <a:t>强</a:t>
            </a:r>
            <a:r>
              <a:rPr lang="en-US" altLang="zh-CN" sz="3000" dirty="0">
                <a:sym typeface="Wingdings" pitchFamily="2" charset="2"/>
              </a:rPr>
              <a:t>		</a:t>
            </a:r>
            <a:r>
              <a:rPr lang="zh-CN" altLang="en-US" sz="3000" dirty="0">
                <a:sym typeface="Wingdings" pitchFamily="2" charset="2"/>
              </a:rPr>
              <a:t>弱</a:t>
            </a:r>
            <a:r>
              <a:rPr lang="en-US" altLang="zh-CN" sz="3000" dirty="0">
                <a:sym typeface="Wingdings" pitchFamily="2" charset="2"/>
              </a:rPr>
              <a:t>		</a:t>
            </a:r>
            <a:r>
              <a:rPr lang="zh-CN" altLang="en-US" sz="3000" dirty="0">
                <a:sym typeface="Wingdings" pitchFamily="2" charset="2"/>
              </a:rPr>
              <a:t>强          弱</a:t>
            </a:r>
            <a:endParaRPr lang="en-US" altLang="zh-CN" sz="3000" dirty="0">
              <a:sym typeface="Wingdings" pitchFamily="2" charset="2"/>
            </a:endParaRPr>
          </a:p>
          <a:p>
            <a:pPr>
              <a:spcBef>
                <a:spcPts val="0"/>
              </a:spcBef>
              <a:spcAft>
                <a:spcPts val="1200"/>
              </a:spcAft>
              <a:buNone/>
            </a:pPr>
            <a:endParaRPr lang="en-US" altLang="zh-CN" sz="3000" dirty="0">
              <a:sym typeface="Wingdings" pitchFamily="2" charset="2"/>
            </a:endParaRPr>
          </a:p>
        </p:txBody>
      </p:sp>
      <p:sp>
        <p:nvSpPr>
          <p:cNvPr id="5" name="TextBox 4">
            <a:extLst>
              <a:ext uri="{FF2B5EF4-FFF2-40B4-BE49-F238E27FC236}">
                <a16:creationId xmlns:a16="http://schemas.microsoft.com/office/drawing/2014/main" id="{BD72ADBA-B154-1F10-50DC-16D7D77AF364}"/>
              </a:ext>
            </a:extLst>
          </p:cNvPr>
          <p:cNvSpPr txBox="1"/>
          <p:nvPr/>
        </p:nvSpPr>
        <p:spPr>
          <a:xfrm>
            <a:off x="756198" y="4953000"/>
            <a:ext cx="7936403" cy="58477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MY" sz="3200" dirty="0"/>
              <a:t>*</a:t>
            </a:r>
            <a:r>
              <a:rPr lang="zh-CN" altLang="en-US" sz="3200" dirty="0"/>
              <a:t>氨水</a:t>
            </a:r>
            <a:r>
              <a:rPr lang="en-MY" altLang="zh-CN" sz="3200" dirty="0"/>
              <a:t>+</a:t>
            </a:r>
            <a:r>
              <a:rPr lang="zh-CN" altLang="en-US" sz="3200" dirty="0"/>
              <a:t>醋酸</a:t>
            </a:r>
            <a:r>
              <a:rPr lang="en-MY" altLang="zh-CN" sz="3200" dirty="0">
                <a:sym typeface="Wingdings" panose="05000000000000000000" pitchFamily="2" charset="2"/>
              </a:rPr>
              <a:t></a:t>
            </a:r>
            <a:r>
              <a:rPr lang="en-US" altLang="zh-CN" sz="3200" dirty="0">
                <a:sym typeface="Wingdings" panose="05000000000000000000" pitchFamily="2" charset="2"/>
              </a:rPr>
              <a:t>CH3COONH4(</a:t>
            </a:r>
            <a:r>
              <a:rPr lang="zh-CN" altLang="en-US" sz="3200" dirty="0">
                <a:sym typeface="Wingdings" panose="05000000000000000000" pitchFamily="2" charset="2"/>
              </a:rPr>
              <a:t>铵盐</a:t>
            </a:r>
            <a:r>
              <a:rPr lang="en-MY" altLang="zh-CN" sz="3200" dirty="0">
                <a:sym typeface="Wingdings" panose="05000000000000000000" pitchFamily="2" charset="2"/>
              </a:rPr>
              <a:t>-</a:t>
            </a:r>
            <a:r>
              <a:rPr lang="zh-CN" altLang="en-US" sz="3200" dirty="0">
                <a:sym typeface="Wingdings" panose="05000000000000000000" pitchFamily="2" charset="2"/>
              </a:rPr>
              <a:t>强电解质）</a:t>
            </a:r>
            <a:endParaRPr lang="en-MY" sz="32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电离度和电离常数</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1200"/>
              </a:spcAft>
              <a:buNone/>
            </a:pPr>
            <a:r>
              <a:rPr lang="en-US" altLang="zh-CN" sz="3000" dirty="0">
                <a:sym typeface="Wingdings" pitchFamily="2" charset="2"/>
              </a:rPr>
              <a:t>23.2.1 </a:t>
            </a:r>
            <a:r>
              <a:rPr lang="zh-CN" altLang="en-US" sz="3000" dirty="0">
                <a:sym typeface="Wingdings" pitchFamily="2" charset="2"/>
              </a:rPr>
              <a:t>弱电解质的电离平衡</a:t>
            </a:r>
            <a:endParaRPr lang="en-US" altLang="zh-CN" sz="3000" dirty="0">
              <a:sym typeface="Wingdings" pitchFamily="2" charset="2"/>
            </a:endParaRPr>
          </a:p>
          <a:p>
            <a:pPr>
              <a:spcBef>
                <a:spcPts val="0"/>
              </a:spcBef>
              <a:spcAft>
                <a:spcPts val="1200"/>
              </a:spcAft>
              <a:buNone/>
            </a:pPr>
            <a:r>
              <a:rPr lang="zh-CN" altLang="en-US" sz="3000" dirty="0">
                <a:sym typeface="Wingdings" pitchFamily="2" charset="2"/>
              </a:rPr>
              <a:t>电解质：在水溶液中或熔融状态下能电离产生自由移动的离子的</a:t>
            </a:r>
            <a:r>
              <a:rPr lang="zh-CN" altLang="en-US" sz="3000" b="1" dirty="0">
                <a:highlight>
                  <a:srgbClr val="FFFF00"/>
                </a:highlight>
                <a:sym typeface="Wingdings" pitchFamily="2" charset="2"/>
              </a:rPr>
              <a:t>化合物</a:t>
            </a:r>
            <a:r>
              <a:rPr lang="zh-CN" altLang="en-US" sz="3000" dirty="0">
                <a:sym typeface="Wingdings" pitchFamily="2" charset="2"/>
              </a:rPr>
              <a:t>。如：酸、碱、盐。</a:t>
            </a:r>
            <a:endParaRPr lang="en-US" altLang="zh-CN" sz="3000" dirty="0">
              <a:sym typeface="Wingdings" pitchFamily="2" charset="2"/>
            </a:endParaRPr>
          </a:p>
          <a:p>
            <a:pPr>
              <a:spcBef>
                <a:spcPts val="0"/>
              </a:spcBef>
              <a:spcAft>
                <a:spcPts val="1200"/>
              </a:spcAft>
              <a:buNone/>
            </a:pPr>
            <a:r>
              <a:rPr lang="zh-CN" altLang="en-US" sz="3000" dirty="0">
                <a:sym typeface="Wingdings" pitchFamily="2" charset="2"/>
              </a:rPr>
              <a:t>强电解质：在水溶液中能</a:t>
            </a:r>
            <a:r>
              <a:rPr lang="zh-CN" altLang="en-US" sz="3000" b="1" dirty="0">
                <a:sym typeface="Wingdings" pitchFamily="2" charset="2"/>
              </a:rPr>
              <a:t>完全电离</a:t>
            </a:r>
            <a:r>
              <a:rPr lang="zh-CN" altLang="en-US" sz="3000" dirty="0">
                <a:sym typeface="Wingdings" pitchFamily="2" charset="2"/>
              </a:rPr>
              <a:t>的电解质。如强酸、强碱、大多数的盐。</a:t>
            </a:r>
            <a:endParaRPr lang="en-US" altLang="zh-CN" sz="3000" dirty="0">
              <a:sym typeface="Wingdings" pitchFamily="2" charset="2"/>
            </a:endParaRPr>
          </a:p>
          <a:p>
            <a:pPr>
              <a:spcBef>
                <a:spcPts val="0"/>
              </a:spcBef>
              <a:spcAft>
                <a:spcPts val="1200"/>
              </a:spcAft>
              <a:buNone/>
            </a:pPr>
            <a:r>
              <a:rPr lang="zh-CN" altLang="en-US" sz="3000" dirty="0">
                <a:sym typeface="Wingdings" pitchFamily="2" charset="2"/>
              </a:rPr>
              <a:t>弱电解质：在水溶液中</a:t>
            </a:r>
            <a:r>
              <a:rPr lang="zh-CN" altLang="en-US" sz="3000" b="1" dirty="0">
                <a:highlight>
                  <a:srgbClr val="FFFF00"/>
                </a:highlight>
                <a:sym typeface="Wingdings" pitchFamily="2" charset="2"/>
              </a:rPr>
              <a:t>不能完全电离</a:t>
            </a:r>
            <a:r>
              <a:rPr lang="zh-CN" altLang="en-US" sz="3000" dirty="0">
                <a:sym typeface="Wingdings" pitchFamily="2" charset="2"/>
              </a:rPr>
              <a:t>的电解质。如弱酸、弱碱。</a:t>
            </a:r>
            <a:endParaRPr lang="en-US" altLang="zh-CN" sz="3000" dirty="0">
              <a:sym typeface="Wingdings" pitchFamily="2" charset="2"/>
            </a:endParaRPr>
          </a:p>
          <a:p>
            <a:pPr>
              <a:spcBef>
                <a:spcPts val="0"/>
              </a:spcBef>
              <a:spcAft>
                <a:spcPts val="1200"/>
              </a:spcAft>
              <a:buNone/>
            </a:pPr>
            <a:r>
              <a:rPr lang="en-US" altLang="zh-CN" sz="3000" dirty="0">
                <a:sym typeface="Wingdings" pitchFamily="2" charset="2"/>
              </a:rPr>
              <a:t>CH</a:t>
            </a:r>
            <a:r>
              <a:rPr lang="en-US" altLang="zh-CN" sz="3000" baseline="-25000" dirty="0">
                <a:sym typeface="Wingdings" pitchFamily="2" charset="2"/>
              </a:rPr>
              <a:t>3</a:t>
            </a:r>
            <a:r>
              <a:rPr lang="en-US" altLang="zh-CN" sz="3000" dirty="0">
                <a:sym typeface="Wingdings" pitchFamily="2" charset="2"/>
              </a:rPr>
              <a:t> COOH(</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CH</a:t>
            </a:r>
            <a:r>
              <a:rPr lang="en-US" altLang="zh-CN" sz="3000" baseline="-25000" dirty="0">
                <a:sym typeface="Wingdings" pitchFamily="2" charset="2"/>
              </a:rPr>
              <a:t>3</a:t>
            </a:r>
            <a:r>
              <a:rPr lang="en-US" altLang="zh-CN" sz="3000" dirty="0">
                <a:sym typeface="Wingdings" pitchFamily="2" charset="2"/>
              </a:rPr>
              <a:t> COO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spcAft>
                <a:spcPts val="1200"/>
              </a:spcAft>
              <a:buNone/>
            </a:pPr>
            <a:r>
              <a:rPr lang="en-US" altLang="zh-CN" sz="3000" dirty="0">
                <a:sym typeface="Wingdings" pitchFamily="2" charset="2"/>
              </a:rPr>
              <a:t>NH</a:t>
            </a:r>
            <a:r>
              <a:rPr lang="en-US" altLang="zh-CN" sz="3000" baseline="-25000" dirty="0">
                <a:sym typeface="Wingdings" pitchFamily="2" charset="2"/>
              </a:rPr>
              <a:t>3</a:t>
            </a:r>
            <a:r>
              <a:rPr lang="en-US" altLang="zh-CN" sz="3000" dirty="0">
                <a:sym typeface="Wingdings" pitchFamily="2" charset="2"/>
              </a:rPr>
              <a:t> </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a:latin typeface="Arial"/>
                <a:cs typeface="Arial"/>
                <a:sym typeface="Wingdings" pitchFamily="2" charset="2"/>
              </a:rPr>
              <a:t>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spcAft>
                <a:spcPts val="1200"/>
              </a:spcAft>
              <a:buNone/>
            </a:pPr>
            <a:endParaRPr lang="en-US" altLang="zh-CN" sz="3000" dirty="0">
              <a:sym typeface="Wingdings" pitchFamily="2" charset="2"/>
            </a:endParaRPr>
          </a:p>
          <a:p>
            <a:pPr>
              <a:spcBef>
                <a:spcPts val="0"/>
              </a:spcBef>
              <a:spcAft>
                <a:spcPts val="1200"/>
              </a:spcAft>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23.2.1</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弱电解质的电离平衡</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zh-CN" altLang="en-US" sz="3000" dirty="0">
                <a:sym typeface="Wingdings" pitchFamily="2" charset="2"/>
              </a:rPr>
              <a:t>弱电解质的电离过程是可逆反应。</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电离平衡：在一定条件下，当</a:t>
            </a:r>
            <a:r>
              <a:rPr lang="zh-CN" altLang="en-US" sz="3000" dirty="0">
                <a:highlight>
                  <a:srgbClr val="FFFF00"/>
                </a:highlight>
                <a:sym typeface="Wingdings" pitchFamily="2" charset="2"/>
              </a:rPr>
              <a:t>电解质分子电离成离子的速率和离子重新结合成分子的速率</a:t>
            </a:r>
            <a:r>
              <a:rPr lang="zh-CN" altLang="en-US" sz="3000" dirty="0">
                <a:sym typeface="Wingdings" pitchFamily="2" charset="2"/>
              </a:rPr>
              <a:t>相等的，溶液中电解质分子和离子的浓度不再发生变化，电离达到最大程度，即处于电离平衡状态。</a:t>
            </a:r>
            <a:endParaRPr lang="en-US" altLang="zh-CN" sz="3000" dirty="0">
              <a:sym typeface="Wingdings" pitchFamily="2" charset="2"/>
            </a:endParaRPr>
          </a:p>
        </p:txBody>
      </p:sp>
      <p:pic>
        <p:nvPicPr>
          <p:cNvPr id="5" name="Picture 4" descr="244.jpg"/>
          <p:cNvPicPr>
            <a:picLocks noChangeAspect="1"/>
          </p:cNvPicPr>
          <p:nvPr/>
        </p:nvPicPr>
        <p:blipFill>
          <a:blip r:embed="rId3"/>
          <a:srcRect b="5128"/>
          <a:stretch>
            <a:fillRect/>
          </a:stretch>
        </p:blipFill>
        <p:spPr>
          <a:xfrm>
            <a:off x="1371601" y="3432680"/>
            <a:ext cx="6077308" cy="289192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23.2.1</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弱电解质的电离平衡</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zh-CN" altLang="en-US" sz="3000" dirty="0">
                <a:sym typeface="Wingdings" pitchFamily="2" charset="2"/>
              </a:rPr>
              <a:t>多元弱酸的电离是</a:t>
            </a:r>
            <a:r>
              <a:rPr lang="zh-CN" altLang="en-US" sz="3000" b="1" dirty="0">
                <a:solidFill>
                  <a:srgbClr val="002060"/>
                </a:solidFill>
                <a:effectLst>
                  <a:outerShdw blurRad="38100" dist="38100" dir="2700000" algn="tl">
                    <a:srgbClr val="000000">
                      <a:alpha val="43137"/>
                    </a:srgbClr>
                  </a:outerShdw>
                </a:effectLst>
                <a:sym typeface="Wingdings" pitchFamily="2" charset="2"/>
              </a:rPr>
              <a:t>分步进行</a:t>
            </a:r>
            <a:r>
              <a:rPr lang="zh-CN" altLang="en-US" sz="3000" dirty="0">
                <a:sym typeface="Wingdings" pitchFamily="2" charset="2"/>
              </a:rPr>
              <a:t>的，存在多个电离平衡。酸性主要由</a:t>
            </a:r>
            <a:r>
              <a:rPr lang="zh-CN" altLang="en-US" sz="3000" b="1" dirty="0">
                <a:solidFill>
                  <a:srgbClr val="002060"/>
                </a:solidFill>
                <a:effectLst>
                  <a:outerShdw blurRad="38100" dist="38100" dir="2700000" algn="tl">
                    <a:srgbClr val="000000">
                      <a:alpha val="43137"/>
                    </a:srgbClr>
                  </a:outerShdw>
                </a:effectLst>
                <a:sym typeface="Wingdings" pitchFamily="2" charset="2"/>
              </a:rPr>
              <a:t>第一步电离</a:t>
            </a:r>
            <a:r>
              <a:rPr lang="zh-CN" altLang="en-US" sz="3000" dirty="0">
                <a:sym typeface="Wingdings" pitchFamily="2" charset="2"/>
              </a:rPr>
              <a:t>所决定。</a:t>
            </a:r>
            <a:endParaRPr lang="en-US" altLang="zh-CN" sz="3000" dirty="0">
              <a:sym typeface="Wingdings" pitchFamily="2" charset="2"/>
            </a:endParaRPr>
          </a:p>
          <a:p>
            <a:pPr>
              <a:spcBef>
                <a:spcPts val="0"/>
              </a:spcBef>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 CO</a:t>
            </a:r>
            <a:r>
              <a:rPr lang="en-US" altLang="zh-CN" sz="3000" baseline="-25000" dirty="0">
                <a:sym typeface="Wingdings" pitchFamily="2" charset="2"/>
              </a:rPr>
              <a:t>3</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 </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HCO</a:t>
            </a:r>
            <a:r>
              <a:rPr lang="en-US" altLang="zh-CN" sz="3000" baseline="-25000" dirty="0">
                <a:sym typeface="Wingdings" pitchFamily="2" charset="2"/>
              </a:rPr>
              <a:t>3</a:t>
            </a:r>
            <a:r>
              <a:rPr lang="en-US" altLang="zh-CN" sz="3000" dirty="0">
                <a:sym typeface="Wingdings" pitchFamily="2" charset="2"/>
              </a:rPr>
              <a:t> </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buNone/>
            </a:pPr>
            <a:r>
              <a:rPr lang="en-US" altLang="zh-CN" sz="3000" dirty="0">
                <a:sym typeface="Wingdings" pitchFamily="2" charset="2"/>
              </a:rPr>
              <a:t>	HCO</a:t>
            </a:r>
            <a:r>
              <a:rPr lang="en-US" altLang="zh-CN" sz="3000" baseline="-25000" dirty="0">
                <a:sym typeface="Wingdings" pitchFamily="2" charset="2"/>
              </a:rPr>
              <a:t>3 </a:t>
            </a:r>
            <a:r>
              <a:rPr lang="en-US" altLang="zh-CN" sz="3000" baseline="30000" dirty="0">
                <a:sym typeface="Wingdings" pitchFamily="2" charset="2"/>
              </a:rPr>
              <a:t>–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 </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CO</a:t>
            </a:r>
            <a:r>
              <a:rPr lang="en-US" altLang="zh-CN" sz="3000" baseline="-25000" dirty="0">
                <a:sym typeface="Wingdings" pitchFamily="2" charset="2"/>
              </a:rPr>
              <a:t>3</a:t>
            </a:r>
            <a:r>
              <a:rPr lang="en-US" altLang="zh-CN" sz="3000" dirty="0">
                <a:sym typeface="Wingdings" pitchFamily="2" charset="2"/>
              </a:rPr>
              <a:t> </a:t>
            </a:r>
            <a:r>
              <a:rPr lang="en-US" altLang="zh-CN" sz="3000" baseline="30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buFont typeface="Wingdings" pitchFamily="2" charset="2"/>
              <a:buChar char="Ø"/>
            </a:pPr>
            <a:endParaRPr lang="en-US" altLang="zh-CN" sz="3000" dirty="0">
              <a:sym typeface="Wingdings" pitchFamily="2" charset="2"/>
            </a:endParaRPr>
          </a:p>
          <a:p>
            <a:pPr>
              <a:spcBef>
                <a:spcPts val="0"/>
              </a:spcBef>
              <a:buFont typeface="Wingdings" pitchFamily="2" charset="2"/>
              <a:buChar char="Ø"/>
            </a:pPr>
            <a:r>
              <a:rPr lang="zh-CN" altLang="en-US" sz="3000" b="1" dirty="0">
                <a:solidFill>
                  <a:srgbClr val="002060"/>
                </a:solidFill>
                <a:effectLst>
                  <a:outerShdw blurRad="38100" dist="38100" dir="2700000" algn="tl">
                    <a:srgbClr val="000000">
                      <a:alpha val="43137"/>
                    </a:srgbClr>
                  </a:outerShdw>
                </a:effectLst>
                <a:sym typeface="Wingdings" pitchFamily="2" charset="2"/>
              </a:rPr>
              <a:t>多元弱碱的电离是一步完成的</a:t>
            </a:r>
            <a:r>
              <a:rPr lang="zh-CN" altLang="en-US" sz="3000" dirty="0">
                <a:sym typeface="Wingdings" pitchFamily="2" charset="2"/>
              </a:rPr>
              <a:t>。</a:t>
            </a:r>
            <a:endParaRPr lang="en-US" altLang="zh-CN" sz="3000" dirty="0">
              <a:sym typeface="Wingdings" pitchFamily="2" charset="2"/>
            </a:endParaRPr>
          </a:p>
          <a:p>
            <a:pPr>
              <a:spcBef>
                <a:spcPts val="0"/>
              </a:spcBef>
              <a:buNone/>
            </a:pPr>
            <a:r>
              <a:rPr lang="en-US" altLang="zh-CN" sz="3000" dirty="0">
                <a:sym typeface="Wingdings" pitchFamily="2" charset="2"/>
              </a:rPr>
              <a:t>		Fe(OH)</a:t>
            </a:r>
            <a:r>
              <a:rPr lang="en-US" altLang="zh-CN" sz="3000" baseline="-25000" dirty="0">
                <a:sym typeface="Wingdings" pitchFamily="2" charset="2"/>
              </a:rPr>
              <a:t>3</a:t>
            </a:r>
            <a:r>
              <a:rPr lang="en-US" altLang="zh-CN" sz="3000" dirty="0">
                <a:sym typeface="Wingdings" pitchFamily="2" charset="2"/>
              </a:rPr>
              <a:t> (s) ↔ Fe</a:t>
            </a:r>
            <a:r>
              <a:rPr lang="en-US" altLang="zh-CN" sz="3000" baseline="30000" dirty="0">
                <a:sym typeface="Wingdings" pitchFamily="2" charset="2"/>
              </a:rPr>
              <a:t>3+ </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+ 3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buNone/>
            </a:pP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电离平衡也是动态平衡。平衡时，</a:t>
            </a:r>
            <a:r>
              <a:rPr lang="en-US" altLang="zh-CN" sz="3000" dirty="0">
                <a:sym typeface="Wingdings" pitchFamily="2" charset="2"/>
              </a:rPr>
              <a:t>			</a:t>
            </a:r>
            <a:r>
              <a:rPr lang="en-US" altLang="zh-CN" sz="3000" b="1" dirty="0">
                <a:solidFill>
                  <a:srgbClr val="002060"/>
                </a:solidFill>
                <a:effectLst>
                  <a:outerShdw blurRad="38100" dist="38100" dir="2700000" algn="tl">
                    <a:srgbClr val="000000">
                      <a:alpha val="43137"/>
                    </a:srgbClr>
                  </a:outerShdw>
                </a:effectLst>
                <a:sym typeface="Wingdings" pitchFamily="2" charset="2"/>
              </a:rPr>
              <a:t>R(</a:t>
            </a:r>
            <a:r>
              <a:rPr lang="zh-CN" altLang="en-US" sz="3000" b="1" dirty="0">
                <a:solidFill>
                  <a:srgbClr val="002060"/>
                </a:solidFill>
                <a:effectLst>
                  <a:outerShdw blurRad="38100" dist="38100" dir="2700000" algn="tl">
                    <a:srgbClr val="000000">
                      <a:alpha val="43137"/>
                    </a:srgbClr>
                  </a:outerShdw>
                </a:effectLst>
                <a:sym typeface="Wingdings" pitchFamily="2" charset="2"/>
              </a:rPr>
              <a:t>电离</a:t>
            </a:r>
            <a:r>
              <a:rPr lang="en-US" altLang="zh-CN" sz="3000" b="1" dirty="0">
                <a:solidFill>
                  <a:srgbClr val="002060"/>
                </a:solidFill>
                <a:effectLst>
                  <a:outerShdw blurRad="38100" dist="38100" dir="2700000" algn="tl">
                    <a:srgbClr val="000000">
                      <a:alpha val="43137"/>
                    </a:srgbClr>
                  </a:outerShdw>
                </a:effectLst>
                <a:sym typeface="Wingdings" pitchFamily="2" charset="2"/>
              </a:rPr>
              <a:t>) = R(</a:t>
            </a:r>
            <a:r>
              <a:rPr lang="zh-CN" altLang="en-US" sz="3000" b="1" dirty="0">
                <a:solidFill>
                  <a:srgbClr val="002060"/>
                </a:solidFill>
                <a:effectLst>
                  <a:outerShdw blurRad="38100" dist="38100" dir="2700000" algn="tl">
                    <a:srgbClr val="000000">
                      <a:alpha val="43137"/>
                    </a:srgbClr>
                  </a:outerShdw>
                </a:effectLst>
                <a:sym typeface="Wingdings" pitchFamily="2" charset="2"/>
              </a:rPr>
              <a:t>结合</a:t>
            </a:r>
            <a:r>
              <a:rPr lang="en-US" altLang="zh-CN" sz="3000" b="1" dirty="0">
                <a:solidFill>
                  <a:srgbClr val="002060"/>
                </a:solidFill>
                <a:effectLst>
                  <a:outerShdw blurRad="38100" dist="38100" dir="2700000" algn="tl">
                    <a:srgbClr val="000000">
                      <a:alpha val="43137"/>
                    </a:srgbClr>
                  </a:outerShdw>
                </a:effectLst>
                <a:sym typeface="Wingdings" pitchFamily="2" charset="2"/>
              </a:rPr>
              <a:t>) </a:t>
            </a:r>
            <a:r>
              <a:rPr lang="zh-CN" altLang="en-US" sz="3000" dirty="0">
                <a:sym typeface="Wingdings" pitchFamily="2" charset="2"/>
              </a:rPr>
              <a:t>，溶液中</a:t>
            </a:r>
            <a:r>
              <a:rPr lang="en-US" altLang="zh-CN" sz="3000" b="1" dirty="0">
                <a:solidFill>
                  <a:srgbClr val="7030A0"/>
                </a:solidFill>
                <a:effectLst>
                  <a:outerShdw blurRad="38100" dist="38100" dir="2700000" algn="tl">
                    <a:srgbClr val="000000">
                      <a:alpha val="43137"/>
                    </a:srgbClr>
                  </a:outerShdw>
                </a:effectLst>
                <a:sym typeface="Wingdings" pitchFamily="2" charset="2"/>
              </a:rPr>
              <a:t>[</a:t>
            </a:r>
            <a:r>
              <a:rPr lang="zh-CN" altLang="en-US" sz="3000" b="1" dirty="0">
                <a:solidFill>
                  <a:srgbClr val="7030A0"/>
                </a:solidFill>
                <a:effectLst>
                  <a:outerShdw blurRad="38100" dist="38100" dir="2700000" algn="tl">
                    <a:srgbClr val="000000">
                      <a:alpha val="43137"/>
                    </a:srgbClr>
                  </a:outerShdw>
                </a:effectLst>
                <a:sym typeface="Wingdings" pitchFamily="2" charset="2"/>
              </a:rPr>
              <a:t>离子</a:t>
            </a:r>
            <a:r>
              <a:rPr lang="en-US" altLang="zh-CN" sz="3000" b="1" dirty="0">
                <a:solidFill>
                  <a:srgbClr val="7030A0"/>
                </a:solidFill>
                <a:effectLst>
                  <a:outerShdw blurRad="38100" dist="38100" dir="2700000" algn="tl">
                    <a:srgbClr val="000000">
                      <a:alpha val="43137"/>
                    </a:srgbClr>
                  </a:outerShdw>
                </a:effectLst>
                <a:sym typeface="Wingdings" pitchFamily="2" charset="2"/>
              </a:rPr>
              <a:t>]</a:t>
            </a:r>
            <a:r>
              <a:rPr lang="zh-CN" altLang="en-US" sz="3000" b="1" dirty="0">
                <a:solidFill>
                  <a:srgbClr val="7030A0"/>
                </a:solidFill>
                <a:effectLst>
                  <a:outerShdw blurRad="38100" dist="38100" dir="2700000" algn="tl">
                    <a:srgbClr val="000000">
                      <a:alpha val="43137"/>
                    </a:srgbClr>
                  </a:outerShdw>
                </a:effectLst>
                <a:sym typeface="Wingdings" pitchFamily="2" charset="2"/>
              </a:rPr>
              <a:t>及</a:t>
            </a:r>
            <a:r>
              <a:rPr lang="en-US" altLang="zh-CN" sz="3000" b="1" dirty="0">
                <a:solidFill>
                  <a:srgbClr val="7030A0"/>
                </a:solidFill>
                <a:effectLst>
                  <a:outerShdw blurRad="38100" dist="38100" dir="2700000" algn="tl">
                    <a:srgbClr val="000000">
                      <a:alpha val="43137"/>
                    </a:srgbClr>
                  </a:outerShdw>
                </a:effectLst>
                <a:sym typeface="Wingdings" pitchFamily="2" charset="2"/>
              </a:rPr>
              <a:t>[</a:t>
            </a:r>
            <a:r>
              <a:rPr lang="zh-CN" altLang="en-US" sz="3000" b="1" dirty="0">
                <a:solidFill>
                  <a:srgbClr val="7030A0"/>
                </a:solidFill>
                <a:effectLst>
                  <a:outerShdw blurRad="38100" dist="38100" dir="2700000" algn="tl">
                    <a:srgbClr val="000000">
                      <a:alpha val="43137"/>
                    </a:srgbClr>
                  </a:outerShdw>
                </a:effectLst>
                <a:sym typeface="Wingdings" pitchFamily="2" charset="2"/>
              </a:rPr>
              <a:t>分子</a:t>
            </a:r>
            <a:r>
              <a:rPr lang="en-US" altLang="zh-CN" sz="3000" b="1" dirty="0">
                <a:solidFill>
                  <a:srgbClr val="7030A0"/>
                </a:solidFill>
                <a:effectLst>
                  <a:outerShdw blurRad="38100" dist="38100" dir="2700000" algn="tl">
                    <a:srgbClr val="000000">
                      <a:alpha val="43137"/>
                    </a:srgbClr>
                  </a:outerShdw>
                </a:effectLst>
                <a:sym typeface="Wingdings" pitchFamily="2" charset="2"/>
              </a:rPr>
              <a:t>]</a:t>
            </a:r>
            <a:r>
              <a:rPr lang="zh-CN" altLang="en-US" sz="3000" b="1" dirty="0">
                <a:solidFill>
                  <a:srgbClr val="7030A0"/>
                </a:solidFill>
                <a:effectLst>
                  <a:outerShdw blurRad="38100" dist="38100" dir="2700000" algn="tl">
                    <a:srgbClr val="000000">
                      <a:alpha val="43137"/>
                    </a:srgbClr>
                  </a:outerShdw>
                </a:effectLst>
                <a:sym typeface="Wingdings" pitchFamily="2" charset="2"/>
              </a:rPr>
              <a:t>不变</a:t>
            </a:r>
            <a:r>
              <a:rPr lang="zh-CN" altLang="en-US" sz="3000" dirty="0">
                <a:sym typeface="Wingdings" pitchFamily="2" charset="2"/>
              </a:rPr>
              <a:t>。</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23.2.1</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弱电解质的电离平衡</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交流分享</a:t>
            </a:r>
            <a:r>
              <a:rPr lang="en-US" altLang="zh-CN" sz="2000" dirty="0">
                <a:sym typeface="Wingdings" pitchFamily="2" charset="2"/>
              </a:rPr>
              <a:t>p245</a:t>
            </a:r>
            <a:r>
              <a:rPr lang="zh-CN" altLang="en-US" sz="2000" dirty="0">
                <a:sym typeface="Wingdings" pitchFamily="2" charset="2"/>
              </a:rPr>
              <a:t>答案同页</a:t>
            </a:r>
            <a:endParaRPr lang="en-US" altLang="zh-CN" sz="3000" dirty="0">
              <a:sym typeface="Wingdings" pitchFamily="2" charset="2"/>
            </a:endParaRPr>
          </a:p>
          <a:p>
            <a:pPr>
              <a:spcBef>
                <a:spcPts val="0"/>
              </a:spcBef>
              <a:buNone/>
            </a:pPr>
            <a:r>
              <a:rPr lang="en-US" altLang="zh-CN" sz="3000" dirty="0">
                <a:sym typeface="Wingdings" pitchFamily="2" charset="2"/>
              </a:rPr>
              <a:t>		NH</a:t>
            </a:r>
            <a:r>
              <a:rPr lang="en-US" altLang="zh-CN" sz="3000" baseline="-25000" dirty="0">
                <a:sym typeface="Wingdings" pitchFamily="2" charset="2"/>
              </a:rPr>
              <a:t>3</a:t>
            </a:r>
            <a:r>
              <a:rPr lang="en-US" altLang="zh-CN" sz="3000" dirty="0">
                <a:sym typeface="Wingdings" pitchFamily="2" charset="2"/>
              </a:rPr>
              <a:t> </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a:latin typeface="Arial"/>
                <a:cs typeface="Arial"/>
                <a:sym typeface="Wingdings" pitchFamily="2" charset="2"/>
              </a:rPr>
              <a:t>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spcBef>
                <a:spcPts val="0"/>
              </a:spcBef>
              <a:buNone/>
            </a:pPr>
            <a:endParaRPr lang="en-US" altLang="zh-CN" sz="3000" dirty="0">
              <a:sym typeface="Wingdings" pitchFamily="2" charset="2"/>
            </a:endParaRPr>
          </a:p>
          <a:p>
            <a:pPr marL="514350" indent="-514350">
              <a:spcBef>
                <a:spcPts val="0"/>
              </a:spcBef>
              <a:buAutoNum type="arabicPeriod"/>
            </a:pPr>
            <a:r>
              <a:rPr lang="zh-CN" altLang="en-US" sz="3000" dirty="0">
                <a:sym typeface="Wingdings" pitchFamily="2" charset="2"/>
              </a:rPr>
              <a:t>加入</a:t>
            </a:r>
            <a:r>
              <a:rPr lang="en-US" altLang="zh-CN" sz="3000" dirty="0" err="1">
                <a:sym typeface="Wingdings" pitchFamily="2" charset="2"/>
              </a:rPr>
              <a:t>HCl</a:t>
            </a:r>
            <a:r>
              <a:rPr lang="zh-CN" altLang="en-US" sz="3000" dirty="0">
                <a:sym typeface="Wingdings" pitchFamily="2" charset="2"/>
              </a:rPr>
              <a:t>，</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与</a:t>
            </a:r>
            <a:r>
              <a:rPr lang="en-US" altLang="zh-CN" sz="3000" dirty="0">
                <a:sym typeface="Wingdings" pitchFamily="2" charset="2"/>
              </a:rPr>
              <a:t> OH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结合，</a:t>
            </a:r>
            <a:r>
              <a:rPr lang="en-US" altLang="zh-CN" sz="3000" dirty="0">
                <a:sym typeface="Wingdings" pitchFamily="2" charset="2"/>
              </a:rPr>
              <a:t>[OH</a:t>
            </a:r>
            <a:r>
              <a:rPr lang="en-US" altLang="zh-CN" sz="3000" baseline="30000" dirty="0">
                <a:sym typeface="Wingdings" pitchFamily="2" charset="2"/>
              </a:rPr>
              <a:t>- </a:t>
            </a:r>
            <a:r>
              <a:rPr lang="en-US" altLang="zh-CN" sz="3000" dirty="0">
                <a:sym typeface="Wingdings" pitchFamily="2" charset="2"/>
              </a:rPr>
              <a:t>]</a:t>
            </a:r>
            <a:r>
              <a:rPr lang="zh-CN" altLang="en-US" sz="3000" dirty="0">
                <a:sym typeface="Wingdings" pitchFamily="2" charset="2"/>
              </a:rPr>
              <a:t>减少，电离平衡向正反应方向进行，氨水电离程度增大。</a:t>
            </a:r>
            <a:endParaRPr lang="en-US" altLang="zh-CN" sz="3000" dirty="0">
              <a:sym typeface="Wingdings" pitchFamily="2" charset="2"/>
            </a:endParaRPr>
          </a:p>
          <a:p>
            <a:pPr marL="514350" indent="-514350">
              <a:spcBef>
                <a:spcPts val="0"/>
              </a:spcBef>
              <a:buAutoNum type="arabicPeriod"/>
            </a:pPr>
            <a:r>
              <a:rPr lang="zh-CN" altLang="en-US" sz="3000" dirty="0">
                <a:sym typeface="Wingdings" pitchFamily="2" charset="2"/>
              </a:rPr>
              <a:t>加入</a:t>
            </a:r>
            <a:r>
              <a:rPr lang="en-US" altLang="zh-CN" sz="3000" dirty="0" err="1">
                <a:sym typeface="Wingdings" pitchFamily="2" charset="2"/>
              </a:rPr>
              <a:t>NaOH</a:t>
            </a:r>
            <a:r>
              <a:rPr lang="en-US" altLang="zh-CN" sz="3000" dirty="0">
                <a:sym typeface="Wingdings" pitchFamily="2" charset="2"/>
              </a:rPr>
              <a:t>(s) </a:t>
            </a:r>
            <a:r>
              <a:rPr lang="zh-CN" altLang="en-US" sz="3000" dirty="0">
                <a:sym typeface="Wingdings" pitchFamily="2" charset="2"/>
              </a:rPr>
              <a:t>，</a:t>
            </a:r>
            <a:r>
              <a:rPr lang="en-US" altLang="zh-CN" sz="3000" dirty="0">
                <a:sym typeface="Wingdings" pitchFamily="2" charset="2"/>
              </a:rPr>
              <a:t> [OH</a:t>
            </a:r>
            <a:r>
              <a:rPr lang="en-US" altLang="zh-CN" sz="3000" baseline="30000" dirty="0">
                <a:sym typeface="Wingdings" pitchFamily="2" charset="2"/>
              </a:rPr>
              <a:t>- </a:t>
            </a:r>
            <a:r>
              <a:rPr lang="en-US" altLang="zh-CN" sz="3000" dirty="0">
                <a:sym typeface="Wingdings" pitchFamily="2" charset="2"/>
              </a:rPr>
              <a:t>]</a:t>
            </a:r>
            <a:r>
              <a:rPr lang="zh-CN" altLang="en-US" sz="3000" dirty="0">
                <a:sym typeface="Wingdings" pitchFamily="2" charset="2"/>
              </a:rPr>
              <a:t>增加，电离平衡向逆反应方向进行，氨水电离程度减少。</a:t>
            </a:r>
            <a:endParaRPr lang="en-US" altLang="zh-CN" sz="3000" dirty="0">
              <a:sym typeface="Wingdings" pitchFamily="2" charset="2"/>
            </a:endParaRPr>
          </a:p>
          <a:p>
            <a:pPr marL="514350" indent="-514350">
              <a:spcBef>
                <a:spcPts val="0"/>
              </a:spcBef>
              <a:buAutoNum type="arabicPeriod"/>
            </a:pPr>
            <a:r>
              <a:rPr lang="zh-CN" altLang="en-US" sz="3000" dirty="0">
                <a:sym typeface="Wingdings" pitchFamily="2" charset="2"/>
              </a:rPr>
              <a:t>加入</a:t>
            </a:r>
            <a:r>
              <a:rPr lang="en-US" altLang="zh-CN" sz="3000" dirty="0">
                <a:sym typeface="Wingdings" pitchFamily="2" charset="2"/>
              </a:rPr>
              <a:t>NH</a:t>
            </a:r>
            <a:r>
              <a:rPr lang="en-US" altLang="zh-CN" sz="3000" baseline="-25000" dirty="0">
                <a:sym typeface="Wingdings" pitchFamily="2" charset="2"/>
              </a:rPr>
              <a:t>4</a:t>
            </a:r>
            <a:r>
              <a:rPr lang="en-US" altLang="zh-CN" sz="3000" dirty="0">
                <a:sym typeface="Wingdings" pitchFamily="2" charset="2"/>
              </a:rPr>
              <a:t> </a:t>
            </a:r>
            <a:r>
              <a:rPr lang="en-US" altLang="zh-CN" sz="3000" dirty="0" err="1">
                <a:sym typeface="Wingdings" pitchFamily="2" charset="2"/>
              </a:rPr>
              <a:t>Cl</a:t>
            </a:r>
            <a:r>
              <a:rPr lang="en-US" altLang="zh-CN" sz="3000" baseline="-25000" dirty="0">
                <a:sym typeface="Wingdings" pitchFamily="2" charset="2"/>
              </a:rPr>
              <a:t> </a:t>
            </a:r>
            <a:r>
              <a:rPr lang="en-US" altLang="zh-CN" sz="3000" dirty="0">
                <a:sym typeface="Wingdings" pitchFamily="2" charset="2"/>
              </a:rPr>
              <a:t>(s)</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 </a:t>
            </a:r>
            <a:r>
              <a:rPr lang="en-US" altLang="zh-CN" sz="3000" dirty="0">
                <a:sym typeface="Wingdings" pitchFamily="2" charset="2"/>
              </a:rPr>
              <a:t>] </a:t>
            </a:r>
            <a:r>
              <a:rPr lang="zh-CN" altLang="en-US" sz="3000" dirty="0">
                <a:sym typeface="Wingdings" pitchFamily="2" charset="2"/>
              </a:rPr>
              <a:t>增加，电离平衡向逆反应方向进行，氨水电离程度减少。</a:t>
            </a:r>
            <a:endParaRPr lang="en-US" altLang="zh-CN" sz="3000" dirty="0">
              <a:sym typeface="Wingdings" pitchFamily="2" charset="2"/>
            </a:endParaRPr>
          </a:p>
        </p:txBody>
      </p:sp>
      <p:sp>
        <p:nvSpPr>
          <p:cNvPr id="5" name="Rounded Rectangle 4"/>
          <p:cNvSpPr/>
          <p:nvPr/>
        </p:nvSpPr>
        <p:spPr>
          <a:xfrm>
            <a:off x="2438400" y="2362200"/>
            <a:ext cx="2438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 name="Rounded Rectangle 5"/>
          <p:cNvSpPr/>
          <p:nvPr/>
        </p:nvSpPr>
        <p:spPr>
          <a:xfrm>
            <a:off x="5181600" y="2362200"/>
            <a:ext cx="1676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7" name="Rounded Rectangle 6"/>
          <p:cNvSpPr/>
          <p:nvPr/>
        </p:nvSpPr>
        <p:spPr>
          <a:xfrm>
            <a:off x="1295400" y="2819400"/>
            <a:ext cx="11430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Rounded Rectangle 7"/>
          <p:cNvSpPr/>
          <p:nvPr/>
        </p:nvSpPr>
        <p:spPr>
          <a:xfrm>
            <a:off x="6629400" y="2819400"/>
            <a:ext cx="9906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Rounded Rectangle 8"/>
          <p:cNvSpPr/>
          <p:nvPr/>
        </p:nvSpPr>
        <p:spPr>
          <a:xfrm>
            <a:off x="3429000" y="3276600"/>
            <a:ext cx="1676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0" name="Rounded Rectangle 9"/>
          <p:cNvSpPr/>
          <p:nvPr/>
        </p:nvSpPr>
        <p:spPr>
          <a:xfrm>
            <a:off x="7391400" y="3276600"/>
            <a:ext cx="11430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Rounded Rectangle 10"/>
          <p:cNvSpPr/>
          <p:nvPr/>
        </p:nvSpPr>
        <p:spPr>
          <a:xfrm>
            <a:off x="4724400" y="3733800"/>
            <a:ext cx="9906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Rounded Rectangle 11"/>
          <p:cNvSpPr/>
          <p:nvPr/>
        </p:nvSpPr>
        <p:spPr>
          <a:xfrm>
            <a:off x="3505200" y="4267200"/>
            <a:ext cx="19050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Rounded Rectangle 12"/>
          <p:cNvSpPr/>
          <p:nvPr/>
        </p:nvSpPr>
        <p:spPr>
          <a:xfrm>
            <a:off x="7696200" y="4191000"/>
            <a:ext cx="11430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4" name="Rounded Rectangle 13"/>
          <p:cNvSpPr/>
          <p:nvPr/>
        </p:nvSpPr>
        <p:spPr>
          <a:xfrm>
            <a:off x="5105400" y="4648200"/>
            <a:ext cx="9906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0" nodeType="clickEffect">
                                  <p:stCondLst>
                                    <p:cond delay="0"/>
                                  </p:stCondLst>
                                  <p:childTnLst>
                                    <p:animEffect transition="out" filter="blinds(horizontal)">
                                      <p:cBhvr>
                                        <p:cTn id="26" dur="500"/>
                                        <p:tgtEl>
                                          <p:spTgt spid="6"/>
                                        </p:tgtEl>
                                      </p:cBhvr>
                                    </p:animEffect>
                                    <p:set>
                                      <p:cBhvr>
                                        <p:cTn id="27" dur="1" fill="hold">
                                          <p:stCondLst>
                                            <p:cond delay="499"/>
                                          </p:stCondLst>
                                        </p:cTn>
                                        <p:tgtEl>
                                          <p:spTgt spid="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blinds(horizontal)">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0" nodeType="clickEffect">
                                  <p:stCondLst>
                                    <p:cond delay="0"/>
                                  </p:stCondLst>
                                  <p:childTnLst>
                                    <p:animEffect transition="out" filter="blinds(horizontal)">
                                      <p:cBhvr>
                                        <p:cTn id="46" dur="500"/>
                                        <p:tgtEl>
                                          <p:spTgt spid="9"/>
                                        </p:tgtEl>
                                      </p:cBhvr>
                                    </p:animEffect>
                                    <p:set>
                                      <p:cBhvr>
                                        <p:cTn id="47" dur="1" fill="hold">
                                          <p:stCondLst>
                                            <p:cond delay="499"/>
                                          </p:stCondLst>
                                        </p:cTn>
                                        <p:tgtEl>
                                          <p:spTgt spid="9"/>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0" nodeType="clickEffect">
                                  <p:stCondLst>
                                    <p:cond delay="0"/>
                                  </p:stCondLst>
                                  <p:childTnLst>
                                    <p:animEffect transition="out" filter="blinds(horizontal)">
                                      <p:cBhvr>
                                        <p:cTn id="51" dur="500"/>
                                        <p:tgtEl>
                                          <p:spTgt spid="10"/>
                                        </p:tgtEl>
                                      </p:cBhvr>
                                    </p:animEffect>
                                    <p:set>
                                      <p:cBhvr>
                                        <p:cTn id="52" dur="1" fill="hold">
                                          <p:stCondLst>
                                            <p:cond delay="499"/>
                                          </p:stCondLst>
                                        </p:cTn>
                                        <p:tgtEl>
                                          <p:spTgt spid="1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grpId="0" nodeType="clickEffect">
                                  <p:stCondLst>
                                    <p:cond delay="0"/>
                                  </p:stCondLst>
                                  <p:childTnLst>
                                    <p:animEffect transition="out" filter="blinds(horizontal)">
                                      <p:cBhvr>
                                        <p:cTn id="56" dur="500"/>
                                        <p:tgtEl>
                                          <p:spTgt spid="11"/>
                                        </p:tgtEl>
                                      </p:cBhvr>
                                    </p:animEffect>
                                    <p:set>
                                      <p:cBhvr>
                                        <p:cTn id="57" dur="1" fill="hold">
                                          <p:stCondLst>
                                            <p:cond delay="499"/>
                                          </p:stCondLst>
                                        </p:cTn>
                                        <p:tgtEl>
                                          <p:spTgt spid="11"/>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blinds(horizontal)">
                                      <p:cBhvr>
                                        <p:cTn id="62" dur="500"/>
                                        <p:tgtEl>
                                          <p:spTgt spid="3">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0" nodeType="clickEffect">
                                  <p:stCondLst>
                                    <p:cond delay="0"/>
                                  </p:stCondLst>
                                  <p:childTnLst>
                                    <p:animEffect transition="out" filter="blinds(horizontal)">
                                      <p:cBhvr>
                                        <p:cTn id="66" dur="500"/>
                                        <p:tgtEl>
                                          <p:spTgt spid="12"/>
                                        </p:tgtEl>
                                      </p:cBhvr>
                                    </p:animEffect>
                                    <p:set>
                                      <p:cBhvr>
                                        <p:cTn id="67" dur="1" fill="hold">
                                          <p:stCondLst>
                                            <p:cond delay="499"/>
                                          </p:stCondLst>
                                        </p:cTn>
                                        <p:tgtEl>
                                          <p:spTgt spid="12"/>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grpId="0" nodeType="clickEffect">
                                  <p:stCondLst>
                                    <p:cond delay="0"/>
                                  </p:stCondLst>
                                  <p:childTnLst>
                                    <p:animEffect transition="out" filter="blinds(horizontal)">
                                      <p:cBhvr>
                                        <p:cTn id="71" dur="500"/>
                                        <p:tgtEl>
                                          <p:spTgt spid="13"/>
                                        </p:tgtEl>
                                      </p:cBhvr>
                                    </p:animEffect>
                                    <p:set>
                                      <p:cBhvr>
                                        <p:cTn id="72" dur="1" fill="hold">
                                          <p:stCondLst>
                                            <p:cond delay="499"/>
                                          </p:stCondLst>
                                        </p:cTn>
                                        <p:tgtEl>
                                          <p:spTgt spid="13"/>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3" presetClass="exit" presetSubtype="10" fill="hold" grpId="0" nodeType="clickEffect">
                                  <p:stCondLst>
                                    <p:cond delay="0"/>
                                  </p:stCondLst>
                                  <p:childTnLst>
                                    <p:animEffect transition="out" filter="blinds(horizontal)">
                                      <p:cBhvr>
                                        <p:cTn id="76" dur="500"/>
                                        <p:tgtEl>
                                          <p:spTgt spid="14"/>
                                        </p:tgtEl>
                                      </p:cBhvr>
                                    </p:animEffect>
                                    <p:set>
                                      <p:cBhvr>
                                        <p:cTn id="7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电离度和电离常数</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zh-CN" altLang="en-US" sz="3000" dirty="0">
                <a:sym typeface="Wingdings" pitchFamily="2" charset="2"/>
              </a:rPr>
              <a:t>电离度：当弱电解质在溶液中达到电离平衡时，溶液中已经电离的电解质分子数占电解质原来总分子数的百分比。</a:t>
            </a:r>
            <a:endParaRPr lang="en-US" altLang="zh-CN" sz="3000" dirty="0">
              <a:sym typeface="Wingdings" pitchFamily="2" charset="2"/>
            </a:endParaRPr>
          </a:p>
          <a:p>
            <a:pPr>
              <a:spcBef>
                <a:spcPts val="0"/>
              </a:spcBef>
              <a:buNone/>
            </a:pPr>
            <a:r>
              <a:rPr lang="en-US" altLang="zh-CN" sz="3000" dirty="0">
                <a:sym typeface="Wingdings" pitchFamily="2" charset="2"/>
              </a:rPr>
              <a:t>	</a:t>
            </a:r>
          </a:p>
          <a:p>
            <a:pPr>
              <a:spcBef>
                <a:spcPts val="0"/>
              </a:spcBef>
              <a:buNone/>
            </a:pPr>
            <a:r>
              <a:rPr lang="en-US" altLang="zh-CN" sz="3000" dirty="0">
                <a:sym typeface="Wingdings" pitchFamily="2" charset="2"/>
              </a:rPr>
              <a:t>			</a:t>
            </a:r>
            <a:r>
              <a:rPr lang="el-GR" altLang="zh-CN" sz="3000" dirty="0">
                <a:sym typeface="Wingdings" pitchFamily="2" charset="2"/>
              </a:rPr>
              <a:t>α</a:t>
            </a:r>
            <a:r>
              <a:rPr lang="en-US" altLang="zh-CN" sz="3000" dirty="0">
                <a:sym typeface="Wingdings" pitchFamily="2" charset="2"/>
              </a:rPr>
              <a:t> = </a:t>
            </a:r>
          </a:p>
          <a:p>
            <a:pPr>
              <a:spcBef>
                <a:spcPts val="0"/>
              </a:spcBef>
              <a:buNone/>
            </a:pPr>
            <a:r>
              <a:rPr lang="zh-CN" altLang="en-US" sz="3000" dirty="0">
                <a:sym typeface="Wingdings" pitchFamily="2" charset="2"/>
              </a:rPr>
              <a:t>观察思考</a:t>
            </a:r>
            <a:r>
              <a:rPr lang="en-US" altLang="zh-CN" sz="2000" dirty="0">
                <a:sym typeface="Wingdings" pitchFamily="2" charset="2"/>
              </a:rPr>
              <a:t>p246(</a:t>
            </a:r>
            <a:r>
              <a:rPr lang="zh-CN" altLang="en-US" sz="2000" dirty="0">
                <a:sym typeface="Wingdings" pitchFamily="2" charset="2"/>
              </a:rPr>
              <a:t>答案</a:t>
            </a:r>
            <a:r>
              <a:rPr lang="en-US" altLang="zh-CN" sz="2000" dirty="0">
                <a:sym typeface="Wingdings" pitchFamily="2" charset="2"/>
              </a:rPr>
              <a:t>p247)</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相同条件下，电离度大小可表示弱电解质的相对强弱。</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同一弱电解质，浓度越稀，离子互相碰撞而结合成分子的机会越少，电离度越大。</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电离是吸热过程，升高温度，电离度将会增加。</a:t>
            </a:r>
            <a:endParaRPr lang="en-US" altLang="zh-CN" sz="3000" dirty="0">
              <a:sym typeface="Wingdings" pitchFamily="2" charset="2"/>
            </a:endParaRPr>
          </a:p>
          <a:p>
            <a:pPr>
              <a:spcBef>
                <a:spcPts val="0"/>
              </a:spcBef>
              <a:buFont typeface="Wingdings" pitchFamily="2" charset="2"/>
              <a:buChar char="Ø"/>
            </a:pPr>
            <a:r>
              <a:rPr lang="zh-CN" altLang="en-US" sz="3000" b="1" u="sng" dirty="0">
                <a:solidFill>
                  <a:srgbClr val="002060"/>
                </a:solidFill>
                <a:effectLst>
                  <a:outerShdw blurRad="38100" dist="38100" dir="2700000" algn="tl">
                    <a:srgbClr val="000000">
                      <a:alpha val="43137"/>
                    </a:srgbClr>
                  </a:outerShdw>
                </a:effectLst>
                <a:sym typeface="Wingdings" pitchFamily="2" charset="2"/>
              </a:rPr>
              <a:t>总结：浓度稀，温度</a:t>
            </a:r>
            <a:r>
              <a:rPr lang="en-US" altLang="zh-CN" sz="3000" b="1" u="sng" dirty="0">
                <a:solidFill>
                  <a:srgbClr val="002060"/>
                </a:solidFill>
                <a:effectLst>
                  <a:outerShdw blurRad="38100" dist="38100" dir="2700000" algn="tl">
                    <a:srgbClr val="000000">
                      <a:alpha val="43137"/>
                    </a:srgbClr>
                  </a:outerShdw>
                </a:effectLst>
                <a:sym typeface="Wingdings" pitchFamily="2" charset="2"/>
              </a:rPr>
              <a:t> </a:t>
            </a:r>
            <a:r>
              <a:rPr lang="zh-CN" altLang="en-US" sz="3000" b="1" u="sng" dirty="0">
                <a:solidFill>
                  <a:srgbClr val="002060"/>
                </a:solidFill>
                <a:effectLst>
                  <a:outerShdw blurRad="38100" dist="38100" dir="2700000" algn="tl">
                    <a:srgbClr val="000000">
                      <a:alpha val="43137"/>
                    </a:srgbClr>
                  </a:outerShdw>
                </a:effectLst>
                <a:sym typeface="Wingdings" pitchFamily="2" charset="2"/>
              </a:rPr>
              <a:t>高，电离度大</a:t>
            </a:r>
            <a:endParaRPr lang="en-US" altLang="zh-CN" sz="3000" b="1" u="sng" dirty="0">
              <a:solidFill>
                <a:srgbClr val="002060"/>
              </a:solidFill>
              <a:effectLst>
                <a:outerShdw blurRad="38100" dist="38100" dir="2700000" algn="tl">
                  <a:srgbClr val="000000">
                    <a:alpha val="43137"/>
                  </a:srgbClr>
                </a:outerShdw>
              </a:effectLst>
              <a:sym typeface="Wingdings" pitchFamily="2" charset="2"/>
            </a:endParaRPr>
          </a:p>
        </p:txBody>
      </p:sp>
      <p:graphicFrame>
        <p:nvGraphicFramePr>
          <p:cNvPr id="5" name="Object 4"/>
          <p:cNvGraphicFramePr>
            <a:graphicFrameLocks noChangeAspect="1"/>
          </p:cNvGraphicFramePr>
          <p:nvPr/>
        </p:nvGraphicFramePr>
        <p:xfrm>
          <a:off x="2971800" y="2609850"/>
          <a:ext cx="4953000" cy="819150"/>
        </p:xfrm>
        <a:graphic>
          <a:graphicData uri="http://schemas.openxmlformats.org/presentationml/2006/ole">
            <mc:AlternateContent xmlns:mc="http://schemas.openxmlformats.org/markup-compatibility/2006">
              <mc:Choice xmlns:v="urn:schemas-microsoft-com:vml" Requires="v">
                <p:oleObj spid="_x0000_s1026" name="Equation" r:id="rId3" imgW="2501640" imgH="419040" progId="Equation.3">
                  <p:embed/>
                </p:oleObj>
              </mc:Choice>
              <mc:Fallback>
                <p:oleObj name="Equation" r:id="rId3" imgW="2501640" imgH="419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609850"/>
                        <a:ext cx="4953000"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电离度和电离常数</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1200"/>
              </a:spcAft>
              <a:buFont typeface="Wingdings" pitchFamily="2" charset="2"/>
              <a:buChar char="Ø"/>
            </a:pPr>
            <a:r>
              <a:rPr lang="zh-CN" altLang="en-US" sz="3000" dirty="0">
                <a:sym typeface="Wingdings" pitchFamily="2" charset="2"/>
              </a:rPr>
              <a:t>电离平衡常数：在一定温度下，弱电解质在水溶液中达到电离平衡时，溶液中各离子浓度的乘积与未电离分子的浓度的比值。</a:t>
            </a:r>
            <a:endParaRPr lang="en-US" altLang="zh-CN" sz="3000" dirty="0">
              <a:sym typeface="Wingdings" pitchFamily="2" charset="2"/>
            </a:endParaRPr>
          </a:p>
          <a:p>
            <a:pPr>
              <a:spcBef>
                <a:spcPts val="0"/>
              </a:spcBef>
              <a:spcAft>
                <a:spcPts val="1200"/>
              </a:spcAft>
              <a:buFont typeface="Wingdings" pitchFamily="2" charset="2"/>
              <a:buChar char="Ø"/>
            </a:pPr>
            <a:r>
              <a:rPr lang="en-US" altLang="zh-CN" sz="3000" dirty="0">
                <a:sym typeface="Wingdings" pitchFamily="2" charset="2"/>
              </a:rPr>
              <a:t>K</a:t>
            </a:r>
            <a:r>
              <a:rPr lang="en-US" altLang="zh-CN" sz="3000" baseline="-25000" dirty="0">
                <a:sym typeface="Wingdings" pitchFamily="2" charset="2"/>
              </a:rPr>
              <a:t>a</a:t>
            </a:r>
            <a:r>
              <a:rPr lang="en-US" altLang="zh-CN" sz="3000" dirty="0">
                <a:sym typeface="Wingdings" pitchFamily="2" charset="2"/>
              </a:rPr>
              <a:t> </a:t>
            </a:r>
            <a:r>
              <a:rPr lang="zh-CN" altLang="en-US" sz="3000" dirty="0">
                <a:sym typeface="Wingdings" pitchFamily="2" charset="2"/>
              </a:rPr>
              <a:t>弱酸的电离常数；</a:t>
            </a:r>
            <a:r>
              <a:rPr lang="en-US" altLang="zh-CN" sz="3000" dirty="0">
                <a:sym typeface="Wingdings" pitchFamily="2" charset="2"/>
              </a:rPr>
              <a:t>K</a:t>
            </a:r>
            <a:r>
              <a:rPr lang="en-US" altLang="zh-CN" sz="3000" baseline="-25000" dirty="0">
                <a:sym typeface="Wingdings" pitchFamily="2" charset="2"/>
              </a:rPr>
              <a:t>b</a:t>
            </a:r>
            <a:r>
              <a:rPr lang="en-US" altLang="zh-CN" sz="3000" dirty="0">
                <a:sym typeface="Wingdings" pitchFamily="2" charset="2"/>
              </a:rPr>
              <a:t> </a:t>
            </a:r>
            <a:r>
              <a:rPr lang="zh-CN" altLang="en-US" sz="3000" dirty="0">
                <a:sym typeface="Wingdings" pitchFamily="2" charset="2"/>
              </a:rPr>
              <a:t>弱碱的电离常数</a:t>
            </a:r>
            <a:endParaRPr lang="en-US" altLang="zh-CN" sz="3000" dirty="0">
              <a:sym typeface="Wingdings" pitchFamily="2" charset="2"/>
            </a:endParaRPr>
          </a:p>
          <a:p>
            <a:pPr>
              <a:spcBef>
                <a:spcPts val="0"/>
              </a:spcBef>
              <a:spcAft>
                <a:spcPts val="600"/>
              </a:spcAft>
              <a:buFont typeface="Wingdings" pitchFamily="2" charset="2"/>
              <a:buChar char="Ø"/>
            </a:pPr>
            <a:r>
              <a:rPr lang="zh-CN" altLang="en-US" sz="3000" dirty="0">
                <a:sym typeface="Wingdings" pitchFamily="2" charset="2"/>
              </a:rPr>
              <a:t>电离常数：</a:t>
            </a:r>
            <a:endParaRPr lang="en-US" altLang="zh-CN" sz="3000" dirty="0">
              <a:sym typeface="Wingdings" pitchFamily="2" charset="2"/>
            </a:endParaRPr>
          </a:p>
          <a:p>
            <a:pPr lvl="1">
              <a:spcBef>
                <a:spcPts val="0"/>
              </a:spcBef>
              <a:spcAft>
                <a:spcPts val="600"/>
              </a:spcAft>
              <a:buFont typeface="Wingdings" pitchFamily="2" charset="2"/>
              <a:buChar char="Ø"/>
            </a:pPr>
            <a:r>
              <a:rPr lang="zh-CN" altLang="en-US" sz="2600" b="1" dirty="0">
                <a:solidFill>
                  <a:srgbClr val="002060"/>
                </a:solidFill>
                <a:effectLst>
                  <a:outerShdw blurRad="38100" dist="38100" dir="2700000" algn="tl">
                    <a:srgbClr val="000000">
                      <a:alpha val="43137"/>
                    </a:srgbClr>
                  </a:outerShdw>
                </a:effectLst>
                <a:sym typeface="Wingdings" pitchFamily="2" charset="2"/>
              </a:rPr>
              <a:t>不随浓度而改变</a:t>
            </a:r>
            <a:endParaRPr lang="en-US" altLang="zh-CN" sz="2600" b="1" dirty="0">
              <a:solidFill>
                <a:srgbClr val="002060"/>
              </a:solidFill>
              <a:effectLst>
                <a:outerShdw blurRad="38100" dist="38100" dir="2700000" algn="tl">
                  <a:srgbClr val="000000">
                    <a:alpha val="43137"/>
                  </a:srgbClr>
                </a:outerShdw>
              </a:effectLst>
              <a:sym typeface="Wingdings" pitchFamily="2" charset="2"/>
            </a:endParaRPr>
          </a:p>
          <a:p>
            <a:pPr lvl="1">
              <a:spcBef>
                <a:spcPts val="0"/>
              </a:spcBef>
              <a:spcAft>
                <a:spcPts val="600"/>
              </a:spcAft>
              <a:buFont typeface="Wingdings" pitchFamily="2" charset="2"/>
              <a:buChar char="Ø"/>
            </a:pPr>
            <a:r>
              <a:rPr lang="zh-CN" altLang="en-US" sz="2600" b="1" dirty="0">
                <a:solidFill>
                  <a:srgbClr val="7030A0"/>
                </a:solidFill>
                <a:effectLst>
                  <a:outerShdw blurRad="38100" dist="38100" dir="2700000" algn="tl">
                    <a:srgbClr val="000000">
                      <a:alpha val="43137"/>
                    </a:srgbClr>
                  </a:outerShdw>
                </a:effectLst>
                <a:sym typeface="Wingdings" pitchFamily="2" charset="2"/>
              </a:rPr>
              <a:t>随温度而变（电离需吸热，温度高，</a:t>
            </a:r>
            <a:r>
              <a:rPr lang="en-US" altLang="zh-CN" sz="2600" b="1" dirty="0">
                <a:solidFill>
                  <a:srgbClr val="7030A0"/>
                </a:solidFill>
                <a:effectLst>
                  <a:outerShdw blurRad="38100" dist="38100" dir="2700000" algn="tl">
                    <a:srgbClr val="000000">
                      <a:alpha val="43137"/>
                    </a:srgbClr>
                  </a:outerShdw>
                </a:effectLst>
                <a:sym typeface="Wingdings" pitchFamily="2" charset="2"/>
              </a:rPr>
              <a:t>K</a:t>
            </a:r>
            <a:r>
              <a:rPr lang="zh-CN" altLang="en-US" sz="2600" b="1" dirty="0">
                <a:solidFill>
                  <a:srgbClr val="7030A0"/>
                </a:solidFill>
                <a:effectLst>
                  <a:outerShdw blurRad="38100" dist="38100" dir="2700000" algn="tl">
                    <a:srgbClr val="000000">
                      <a:alpha val="43137"/>
                    </a:srgbClr>
                  </a:outerShdw>
                </a:effectLst>
                <a:sym typeface="Wingdings" pitchFamily="2" charset="2"/>
              </a:rPr>
              <a:t>增大）</a:t>
            </a:r>
            <a:endParaRPr lang="en-US" altLang="zh-CN" sz="2600" b="1" dirty="0">
              <a:solidFill>
                <a:srgbClr val="7030A0"/>
              </a:solidFill>
              <a:effectLst>
                <a:outerShdw blurRad="38100" dist="38100" dir="2700000" algn="tl">
                  <a:srgbClr val="000000">
                    <a:alpha val="43137"/>
                  </a:srgbClr>
                </a:outerShdw>
              </a:effectLst>
              <a:sym typeface="Wingdings" pitchFamily="2" charset="2"/>
            </a:endParaRPr>
          </a:p>
          <a:p>
            <a:pPr lvl="1">
              <a:spcBef>
                <a:spcPts val="0"/>
              </a:spcBef>
              <a:spcAft>
                <a:spcPts val="600"/>
              </a:spcAft>
              <a:buFont typeface="Wingdings" pitchFamily="2" charset="2"/>
              <a:buChar char="Ø"/>
            </a:pPr>
            <a:r>
              <a:rPr lang="zh-CN" altLang="en-US" sz="2600" dirty="0">
                <a:sym typeface="Wingdings" pitchFamily="2" charset="2"/>
              </a:rPr>
              <a:t>能表示弱电解质的相对强弱</a:t>
            </a:r>
            <a:endParaRPr lang="en-US" altLang="zh-CN" sz="2600" dirty="0">
              <a:sym typeface="Wingdings" pitchFamily="2" charset="2"/>
            </a:endParaRPr>
          </a:p>
          <a:p>
            <a:pPr>
              <a:spcBef>
                <a:spcPts val="0"/>
              </a:spcBef>
              <a:spcAft>
                <a:spcPts val="1200"/>
              </a:spcAft>
              <a:buFont typeface="Wingdings" pitchFamily="2" charset="2"/>
              <a:buChar char="Ø"/>
            </a:pPr>
            <a:r>
              <a:rPr lang="zh-CN" altLang="en-US" sz="3000" dirty="0">
                <a:sym typeface="Wingdings" pitchFamily="2" charset="2"/>
              </a:rPr>
              <a:t>电离度和电离常数都能表示</a:t>
            </a:r>
            <a:r>
              <a:rPr lang="zh-CN" altLang="en-US" sz="2800" dirty="0">
                <a:sym typeface="Wingdings" pitchFamily="2" charset="2"/>
              </a:rPr>
              <a:t>弱电解质的相对强弱，用哪个较好？</a:t>
            </a:r>
            <a:endParaRPr lang="en-US" altLang="zh-CN" sz="2800" dirty="0">
              <a:sym typeface="Wingdings" pitchFamily="2" charset="2"/>
            </a:endParaRPr>
          </a:p>
          <a:p>
            <a:pPr>
              <a:spcBef>
                <a:spcPts val="0"/>
              </a:spcBef>
              <a:spcAft>
                <a:spcPts val="1200"/>
              </a:spcAft>
              <a:buFont typeface="Wingdings" pitchFamily="2" charset="2"/>
              <a:buChar char="Ø"/>
            </a:pPr>
            <a:r>
              <a:rPr lang="zh-CN" altLang="en-US" sz="2800" dirty="0">
                <a:sym typeface="Wingdings" pitchFamily="2" charset="2"/>
              </a:rPr>
              <a:t>电离常数，因为电离常数不受浓度影响。</a:t>
            </a:r>
            <a:endParaRPr lang="en-US" altLang="zh-CN" sz="3000" dirty="0">
              <a:sym typeface="Wingdings" pitchFamily="2" charset="2"/>
            </a:endParaRPr>
          </a:p>
          <a:p>
            <a:pPr>
              <a:spcBef>
                <a:spcPts val="0"/>
              </a:spcBef>
              <a:spcAft>
                <a:spcPts val="1200"/>
              </a:spcAft>
              <a:buNone/>
            </a:pPr>
            <a:endParaRPr lang="en-US" altLang="zh-CN" sz="3000" dirty="0">
              <a:sym typeface="Wingdings" pitchFamily="2" charset="2"/>
            </a:endParaRPr>
          </a:p>
          <a:p>
            <a:pPr>
              <a:spcBef>
                <a:spcPts val="0"/>
              </a:spcBef>
              <a:spcAft>
                <a:spcPts val="1200"/>
              </a:spcAft>
              <a:buNone/>
            </a:pPr>
            <a:endParaRPr lang="en-US" altLang="zh-CN" sz="3000" dirty="0">
              <a:sym typeface="Wingdings" pitchFamily="2" charset="2"/>
            </a:endParaRPr>
          </a:p>
          <a:p>
            <a:pPr>
              <a:spcBef>
                <a:spcPts val="0"/>
              </a:spcBef>
              <a:spcAft>
                <a:spcPts val="1200"/>
              </a:spcAft>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blinds(horizontal)">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电离度和电离常数</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1200"/>
              </a:spcAft>
              <a:buNone/>
            </a:pPr>
            <a:r>
              <a:rPr lang="zh-CN" altLang="en-US" sz="3000" dirty="0">
                <a:sym typeface="Wingdings" pitchFamily="2" charset="2"/>
              </a:rPr>
              <a:t>问题解决</a:t>
            </a:r>
            <a:endParaRPr lang="en-US" altLang="zh-CN" sz="3000" dirty="0">
              <a:sym typeface="Wingdings" pitchFamily="2" charset="2"/>
            </a:endParaRPr>
          </a:p>
          <a:p>
            <a:pPr>
              <a:spcBef>
                <a:spcPts val="0"/>
              </a:spcBef>
              <a:spcAft>
                <a:spcPts val="1200"/>
              </a:spcAft>
              <a:buNone/>
            </a:pPr>
            <a:r>
              <a:rPr lang="en-US" altLang="zh-CN" sz="3000" dirty="0">
                <a:sym typeface="Wingdings" pitchFamily="2" charset="2"/>
              </a:rPr>
              <a:t>			NH</a:t>
            </a:r>
            <a:r>
              <a:rPr lang="en-US" altLang="zh-CN" sz="3000" baseline="-25000" dirty="0">
                <a:sym typeface="Wingdings" pitchFamily="2" charset="2"/>
              </a:rPr>
              <a:t>3</a:t>
            </a:r>
            <a:r>
              <a:rPr lang="en-US" altLang="zh-CN" sz="3000" dirty="0">
                <a:sym typeface="Wingdings" pitchFamily="2" charset="2"/>
              </a:rPr>
              <a:t> </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a:latin typeface="Arial"/>
                <a:cs typeface="Arial"/>
                <a:sym typeface="Wingdings" pitchFamily="2" charset="2"/>
              </a:rPr>
              <a:t>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marL="0" indent="0">
              <a:buNone/>
            </a:pPr>
            <a:r>
              <a:rPr lang="en-US" altLang="zh-CN" sz="3000" dirty="0"/>
              <a:t>[</a:t>
            </a:r>
            <a:r>
              <a:rPr lang="zh-CN" altLang="en-US" sz="3000" dirty="0"/>
              <a:t>开始</a:t>
            </a:r>
            <a:r>
              <a:rPr lang="en-US" altLang="zh-CN" sz="3000" dirty="0"/>
              <a:t>](mol/L)</a:t>
            </a:r>
            <a:r>
              <a:rPr lang="zh-CN" altLang="en-US" sz="3000" dirty="0"/>
              <a:t>   </a:t>
            </a:r>
            <a:r>
              <a:rPr lang="en-US" altLang="zh-CN" sz="3000" dirty="0"/>
              <a:t>1			0		0 	   </a:t>
            </a:r>
          </a:p>
          <a:p>
            <a:pPr>
              <a:buNone/>
            </a:pPr>
            <a:r>
              <a:rPr lang="en-US" altLang="zh-CN" sz="3000" dirty="0"/>
              <a:t>[</a:t>
            </a:r>
            <a:r>
              <a:rPr lang="zh-CN" altLang="en-US" sz="3000" dirty="0"/>
              <a:t>转化</a:t>
            </a:r>
            <a:r>
              <a:rPr lang="en-US" altLang="zh-CN" sz="3000" dirty="0"/>
              <a:t>](mol/L)</a:t>
            </a:r>
            <a:r>
              <a:rPr lang="zh-CN" altLang="en-US" sz="3000" dirty="0"/>
              <a:t>   </a:t>
            </a:r>
            <a:r>
              <a:rPr lang="en-US" altLang="zh-CN" sz="3000" dirty="0"/>
              <a:t>x			</a:t>
            </a:r>
            <a:r>
              <a:rPr lang="en-US" altLang="zh-CN" sz="3000" dirty="0" err="1"/>
              <a:t>x</a:t>
            </a:r>
            <a:r>
              <a:rPr lang="en-US" altLang="zh-CN" sz="3000" dirty="0"/>
              <a:t>		</a:t>
            </a:r>
            <a:r>
              <a:rPr lang="en-US" altLang="zh-CN" sz="3000" dirty="0" err="1"/>
              <a:t>x</a:t>
            </a:r>
            <a:endParaRPr lang="en-US" altLang="zh-CN" sz="3000" dirty="0"/>
          </a:p>
          <a:p>
            <a:pPr>
              <a:buNone/>
            </a:pPr>
            <a:r>
              <a:rPr lang="en-US" altLang="zh-CN" sz="3000" dirty="0"/>
              <a:t>[</a:t>
            </a:r>
            <a:r>
              <a:rPr lang="zh-CN" altLang="en-US" sz="3000" dirty="0"/>
              <a:t>平衡</a:t>
            </a:r>
            <a:r>
              <a:rPr lang="en-US" altLang="zh-CN" sz="3000" dirty="0"/>
              <a:t>](mol/L)   1-x		x		</a:t>
            </a:r>
            <a:r>
              <a:rPr lang="en-US" altLang="zh-CN" sz="3000" dirty="0" err="1"/>
              <a:t>x</a:t>
            </a:r>
            <a:r>
              <a:rPr lang="en-US" altLang="zh-CN" sz="3000" dirty="0"/>
              <a:t> </a:t>
            </a:r>
          </a:p>
          <a:p>
            <a:pPr>
              <a:buNone/>
            </a:pPr>
            <a:endParaRPr lang="en-US" altLang="zh-CN" sz="3000" dirty="0"/>
          </a:p>
          <a:p>
            <a:pPr>
              <a:spcBef>
                <a:spcPts val="0"/>
              </a:spcBef>
              <a:spcAft>
                <a:spcPts val="1200"/>
              </a:spcAft>
              <a:buNone/>
            </a:pPr>
            <a:endParaRPr lang="en-US" altLang="zh-CN" sz="3000" dirty="0">
              <a:sym typeface="Wingdings" pitchFamily="2" charset="2"/>
            </a:endParaRPr>
          </a:p>
          <a:p>
            <a:pPr>
              <a:spcBef>
                <a:spcPts val="0"/>
              </a:spcBef>
              <a:spcAft>
                <a:spcPts val="1200"/>
              </a:spcAft>
              <a:buNone/>
            </a:pPr>
            <a:r>
              <a:rPr lang="en-US" altLang="zh-CN" sz="3000" dirty="0">
                <a:sym typeface="Wingdings" pitchFamily="2" charset="2"/>
              </a:rPr>
              <a:t>			1.77x10</a:t>
            </a:r>
            <a:r>
              <a:rPr lang="en-US" altLang="zh-CN" sz="3000" baseline="30000" dirty="0">
                <a:sym typeface="Wingdings" pitchFamily="2" charset="2"/>
              </a:rPr>
              <a:t>-5</a:t>
            </a:r>
            <a:r>
              <a:rPr lang="en-US" altLang="zh-CN" sz="3000" dirty="0">
                <a:sym typeface="Wingdings" pitchFamily="2" charset="2"/>
              </a:rPr>
              <a:t> = </a:t>
            </a:r>
          </a:p>
          <a:p>
            <a:pPr>
              <a:spcBef>
                <a:spcPts val="0"/>
              </a:spcBef>
              <a:spcAft>
                <a:spcPts val="1200"/>
              </a:spcAft>
              <a:buNone/>
            </a:pPr>
            <a:r>
              <a:rPr lang="en-US" altLang="zh-CN" sz="3000" dirty="0">
                <a:sym typeface="Wingdings" pitchFamily="2" charset="2"/>
              </a:rPr>
              <a:t>				x = 0.0042 (molL</a:t>
            </a:r>
            <a:r>
              <a:rPr lang="en-US" altLang="zh-CN" sz="3000" baseline="30000" dirty="0">
                <a:sym typeface="Wingdings" pitchFamily="2" charset="2"/>
              </a:rPr>
              <a:t>-1</a:t>
            </a:r>
            <a:r>
              <a:rPr lang="en-US" altLang="zh-CN" sz="3000" dirty="0">
                <a:sym typeface="Wingdings" pitchFamily="2" charset="2"/>
              </a:rPr>
              <a:t>)</a:t>
            </a:r>
          </a:p>
        </p:txBody>
      </p:sp>
      <p:sp>
        <p:nvSpPr>
          <p:cNvPr id="5" name="Rounded Rectangle 4"/>
          <p:cNvSpPr/>
          <p:nvPr/>
        </p:nvSpPr>
        <p:spPr>
          <a:xfrm>
            <a:off x="2743200" y="24384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4572000" y="2438400"/>
            <a:ext cx="100584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6400800" y="2438400"/>
            <a:ext cx="100584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4572000" y="3505200"/>
            <a:ext cx="100584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743200" y="35052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572000" y="2971800"/>
            <a:ext cx="100584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2743200" y="29718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6400800" y="2971800"/>
            <a:ext cx="100584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6400800" y="3581400"/>
            <a:ext cx="100584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3"/>
          <p:cNvGrpSpPr/>
          <p:nvPr/>
        </p:nvGrpSpPr>
        <p:grpSpPr>
          <a:xfrm>
            <a:off x="2710223" y="3962400"/>
            <a:ext cx="4147777" cy="1093350"/>
            <a:chOff x="2068535" y="1410711"/>
            <a:chExt cx="3119761" cy="1093350"/>
          </a:xfrm>
        </p:grpSpPr>
        <p:grpSp>
          <p:nvGrpSpPr>
            <p:cNvPr id="15" name="Group 24"/>
            <p:cNvGrpSpPr/>
            <p:nvPr/>
          </p:nvGrpSpPr>
          <p:grpSpPr>
            <a:xfrm>
              <a:off x="2068535" y="1410711"/>
              <a:ext cx="3119761" cy="889575"/>
              <a:chOff x="2068535" y="1410711"/>
              <a:chExt cx="3119761" cy="889575"/>
            </a:xfrm>
          </p:grpSpPr>
          <p:sp>
            <p:nvSpPr>
              <p:cNvPr id="17" name="TextBox 16"/>
              <p:cNvSpPr txBox="1"/>
              <p:nvPr/>
            </p:nvSpPr>
            <p:spPr>
              <a:xfrm>
                <a:off x="2068535" y="1715511"/>
                <a:ext cx="1113770" cy="584775"/>
              </a:xfrm>
              <a:prstGeom prst="rect">
                <a:avLst/>
              </a:prstGeom>
              <a:noFill/>
            </p:spPr>
            <p:txBody>
              <a:bodyPr wrap="square" rtlCol="0">
                <a:spAutoFit/>
              </a:bodyPr>
              <a:lstStyle/>
              <a:p>
                <a:r>
                  <a:rPr lang="en-US" altLang="zh-CN" sz="3200" dirty="0"/>
                  <a:t> K</a:t>
                </a:r>
                <a:r>
                  <a:rPr lang="en-US" altLang="zh-CN" sz="3200" baseline="-25000" dirty="0"/>
                  <a:t>b</a:t>
                </a:r>
                <a:r>
                  <a:rPr lang="en-US" altLang="zh-CN" sz="3200" dirty="0"/>
                  <a:t>   =</a:t>
                </a:r>
                <a:endParaRPr lang="en-US" sz="3200" dirty="0"/>
              </a:p>
            </p:txBody>
          </p:sp>
          <p:cxnSp>
            <p:nvCxnSpPr>
              <p:cNvPr id="18"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878346" y="1410711"/>
                <a:ext cx="2309950" cy="584775"/>
              </a:xfrm>
              <a:prstGeom prst="rect">
                <a:avLst/>
              </a:prstGeom>
              <a:noFill/>
            </p:spPr>
            <p:txBody>
              <a:bodyPr wrap="square" rtlCol="0">
                <a:spAutoFit/>
              </a:bodyPr>
              <a:lstStyle/>
              <a:p>
                <a:r>
                  <a:rPr lang="en-US" sz="3200" dirty="0"/>
                  <a:t> [NH</a:t>
                </a:r>
                <a:r>
                  <a:rPr lang="en-US" sz="3200" baseline="-25000" dirty="0"/>
                  <a:t>4</a:t>
                </a:r>
                <a:r>
                  <a:rPr lang="en-US" sz="3200" baseline="30000" dirty="0"/>
                  <a:t>+</a:t>
                </a:r>
                <a:r>
                  <a:rPr lang="en-US" sz="3200" dirty="0"/>
                  <a:t>][OH</a:t>
                </a:r>
                <a:r>
                  <a:rPr lang="en-US" sz="3200" baseline="30000" dirty="0"/>
                  <a:t>-</a:t>
                </a:r>
                <a:r>
                  <a:rPr lang="en-US" sz="3200" dirty="0"/>
                  <a:t>]</a:t>
                </a:r>
              </a:p>
            </p:txBody>
          </p:sp>
        </p:grpSp>
        <p:sp>
          <p:nvSpPr>
            <p:cNvPr id="16" name="TextBox 5"/>
            <p:cNvSpPr txBox="1"/>
            <p:nvPr/>
          </p:nvSpPr>
          <p:spPr>
            <a:xfrm>
              <a:off x="2609165" y="1919286"/>
              <a:ext cx="1861860" cy="584775"/>
            </a:xfrm>
            <a:prstGeom prst="rect">
              <a:avLst/>
            </a:prstGeom>
            <a:noFill/>
          </p:spPr>
          <p:txBody>
            <a:bodyPr wrap="square" rtlCol="0">
              <a:spAutoFit/>
            </a:bodyPr>
            <a:lstStyle/>
            <a:p>
              <a:r>
                <a:rPr lang="en-US" altLang="zh-CN" sz="3200" dirty="0"/>
                <a:t>    [</a:t>
              </a:r>
              <a:r>
                <a:rPr lang="en-US" altLang="zh-CN" sz="3200" dirty="0">
                  <a:sym typeface="Wingdings" pitchFamily="2" charset="2"/>
                </a:rPr>
                <a:t>NH</a:t>
              </a:r>
              <a:r>
                <a:rPr lang="en-US" altLang="zh-CN" sz="3200" baseline="-25000" dirty="0">
                  <a:sym typeface="Wingdings" pitchFamily="2" charset="2"/>
                </a:rPr>
                <a:t>3</a:t>
              </a:r>
              <a:r>
                <a:rPr lang="en-US" altLang="zh-CN" sz="3200" dirty="0">
                  <a:sym typeface="Wingdings" pitchFamily="2" charset="2"/>
                </a:rPr>
                <a:t> </a:t>
              </a:r>
              <a:r>
                <a:rPr lang="en-US" altLang="zh-CN" sz="3200" dirty="0">
                  <a:latin typeface="Arial"/>
                  <a:cs typeface="Arial"/>
                  <a:sym typeface="Wingdings" pitchFamily="2" charset="2"/>
                </a:rPr>
                <a:t>·</a:t>
              </a:r>
              <a:r>
                <a:rPr lang="en-US" altLang="zh-CN" sz="3200" dirty="0">
                  <a:sym typeface="Wingdings" pitchFamily="2" charset="2"/>
                </a:rPr>
                <a:t>H</a:t>
              </a:r>
              <a:r>
                <a:rPr lang="en-US" altLang="zh-CN" sz="3200" baseline="-25000" dirty="0">
                  <a:sym typeface="Wingdings" pitchFamily="2" charset="2"/>
                </a:rPr>
                <a:t>2</a:t>
              </a:r>
              <a:r>
                <a:rPr lang="en-US" altLang="zh-CN" sz="3200" dirty="0">
                  <a:sym typeface="Wingdings" pitchFamily="2" charset="2"/>
                </a:rPr>
                <a:t>O</a:t>
              </a:r>
              <a:r>
                <a:rPr lang="en-US" altLang="zh-CN" sz="3200" dirty="0">
                  <a:latin typeface="Arial"/>
                  <a:cs typeface="Arial"/>
                  <a:sym typeface="Wingdings" pitchFamily="2" charset="2"/>
                </a:rPr>
                <a:t> </a:t>
              </a:r>
              <a:r>
                <a:rPr lang="en-US" altLang="zh-CN" sz="3200" dirty="0"/>
                <a:t>]</a:t>
              </a:r>
              <a:endParaRPr lang="en-US" sz="3200" dirty="0"/>
            </a:p>
          </p:txBody>
        </p:sp>
      </p:grpSp>
      <p:grpSp>
        <p:nvGrpSpPr>
          <p:cNvPr id="20" name="Group 3"/>
          <p:cNvGrpSpPr/>
          <p:nvPr/>
        </p:nvGrpSpPr>
        <p:grpSpPr>
          <a:xfrm>
            <a:off x="4310803" y="4876800"/>
            <a:ext cx="1632800" cy="965775"/>
            <a:chOff x="3555532" y="1421487"/>
            <a:chExt cx="422023" cy="965775"/>
          </a:xfrm>
        </p:grpSpPr>
        <p:grpSp>
          <p:nvGrpSpPr>
            <p:cNvPr id="21" name="Group 24"/>
            <p:cNvGrpSpPr/>
            <p:nvPr/>
          </p:nvGrpSpPr>
          <p:grpSpPr>
            <a:xfrm>
              <a:off x="3583655" y="1421487"/>
              <a:ext cx="393900" cy="584775"/>
              <a:chOff x="3583655" y="1421487"/>
              <a:chExt cx="393900" cy="584775"/>
            </a:xfrm>
          </p:grpSpPr>
          <p:cxnSp>
            <p:nvCxnSpPr>
              <p:cNvPr id="23" name="Straight Connector 8"/>
              <p:cNvCxnSpPr/>
              <p:nvPr/>
            </p:nvCxnSpPr>
            <p:spPr>
              <a:xfrm>
                <a:off x="3583655" y="1905000"/>
                <a:ext cx="23634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611772" y="1421487"/>
                <a:ext cx="365783" cy="584775"/>
              </a:xfrm>
              <a:prstGeom prst="rect">
                <a:avLst/>
              </a:prstGeom>
              <a:noFill/>
            </p:spPr>
            <p:txBody>
              <a:bodyPr wrap="square" rtlCol="0">
                <a:spAutoFit/>
              </a:bodyPr>
              <a:lstStyle/>
              <a:p>
                <a:r>
                  <a:rPr lang="en-US" altLang="zh-CN" sz="3200" dirty="0"/>
                  <a:t>x</a:t>
                </a:r>
                <a:r>
                  <a:rPr lang="en-US" altLang="zh-CN" sz="3200" baseline="30000" dirty="0"/>
                  <a:t>2</a:t>
                </a:r>
                <a:endParaRPr lang="en-US" sz="3200" dirty="0"/>
              </a:p>
            </p:txBody>
          </p:sp>
        </p:grpSp>
        <p:sp>
          <p:nvSpPr>
            <p:cNvPr id="22" name="TextBox 5"/>
            <p:cNvSpPr txBox="1"/>
            <p:nvPr/>
          </p:nvSpPr>
          <p:spPr>
            <a:xfrm>
              <a:off x="3555532" y="1802487"/>
              <a:ext cx="382633" cy="584775"/>
            </a:xfrm>
            <a:prstGeom prst="rect">
              <a:avLst/>
            </a:prstGeom>
            <a:noFill/>
          </p:spPr>
          <p:txBody>
            <a:bodyPr wrap="square" rtlCol="0">
              <a:spAutoFit/>
            </a:bodyPr>
            <a:lstStyle/>
            <a:p>
              <a:r>
                <a:rPr lang="en-US" altLang="zh-CN" sz="3200" dirty="0"/>
                <a:t>  1-x</a:t>
              </a:r>
              <a:endParaRPr lang="en-US" sz="3200" dirty="0"/>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5"/>
                                        </p:tgtEl>
                                        <p:attrNameLst>
                                          <p:attrName>ppt_x</p:attrName>
                                        </p:attrNameLst>
                                      </p:cBhvr>
                                      <p:tavLst>
                                        <p:tav tm="0">
                                          <p:val>
                                            <p:strVal val="ppt_x"/>
                                          </p:val>
                                        </p:tav>
                                        <p:tav tm="100000">
                                          <p:val>
                                            <p:strVal val="ppt_x"/>
                                          </p:val>
                                        </p:tav>
                                      </p:tavLst>
                                    </p:anim>
                                    <p:anim calcmode="lin" valueType="num">
                                      <p:cBhvr additive="base">
                                        <p:cTn id="32" dur="500"/>
                                        <p:tgtEl>
                                          <p:spTgt spid="5"/>
                                        </p:tgtEl>
                                        <p:attrNameLst>
                                          <p:attrName>ppt_y</p:attrName>
                                        </p:attrNameLst>
                                      </p:cBhvr>
                                      <p:tavLst>
                                        <p:tav tm="0">
                                          <p:val>
                                            <p:strVal val="ppt_y"/>
                                          </p:val>
                                        </p:tav>
                                        <p:tav tm="100000">
                                          <p:val>
                                            <p:strVal val="1+ppt_h/2"/>
                                          </p:val>
                                        </p:tav>
                                      </p:tavLst>
                                    </p:anim>
                                    <p:set>
                                      <p:cBhvr>
                                        <p:cTn id="33" dur="1" fill="hold">
                                          <p:stCondLst>
                                            <p:cond delay="499"/>
                                          </p:stCondLst>
                                        </p:cTn>
                                        <p:tgtEl>
                                          <p:spTgt spid="5"/>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xit" presetSubtype="4" fill="hold" grpId="0" nodeType="clickEffect">
                                  <p:stCondLst>
                                    <p:cond delay="0"/>
                                  </p:stCondLst>
                                  <p:childTnLst>
                                    <p:anim calcmode="lin" valueType="num">
                                      <p:cBhvr additive="base">
                                        <p:cTn id="37" dur="500"/>
                                        <p:tgtEl>
                                          <p:spTgt spid="6"/>
                                        </p:tgtEl>
                                        <p:attrNameLst>
                                          <p:attrName>ppt_x</p:attrName>
                                        </p:attrNameLst>
                                      </p:cBhvr>
                                      <p:tavLst>
                                        <p:tav tm="0">
                                          <p:val>
                                            <p:strVal val="ppt_x"/>
                                          </p:val>
                                        </p:tav>
                                        <p:tav tm="100000">
                                          <p:val>
                                            <p:strVal val="ppt_x"/>
                                          </p:val>
                                        </p:tav>
                                      </p:tavLst>
                                    </p:anim>
                                    <p:anim calcmode="lin" valueType="num">
                                      <p:cBhvr additive="base">
                                        <p:cTn id="38" dur="500"/>
                                        <p:tgtEl>
                                          <p:spTgt spid="6"/>
                                        </p:tgtEl>
                                        <p:attrNameLst>
                                          <p:attrName>ppt_y</p:attrName>
                                        </p:attrNameLst>
                                      </p:cBhvr>
                                      <p:tavLst>
                                        <p:tav tm="0">
                                          <p:val>
                                            <p:strVal val="ppt_y"/>
                                          </p:val>
                                        </p:tav>
                                        <p:tav tm="100000">
                                          <p:val>
                                            <p:strVal val="1+ppt_h/2"/>
                                          </p:val>
                                        </p:tav>
                                      </p:tavLst>
                                    </p:anim>
                                    <p:set>
                                      <p:cBhvr>
                                        <p:cTn id="39" dur="1" fill="hold">
                                          <p:stCondLst>
                                            <p:cond delay="499"/>
                                          </p:stCondLst>
                                        </p:cTn>
                                        <p:tgtEl>
                                          <p:spTgt spid="6"/>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 presetClass="exit" presetSubtype="4" fill="hold" grpId="0" nodeType="clickEffect">
                                  <p:stCondLst>
                                    <p:cond delay="0"/>
                                  </p:stCondLst>
                                  <p:childTnLst>
                                    <p:anim calcmode="lin" valueType="num">
                                      <p:cBhvr additive="base">
                                        <p:cTn id="43" dur="500"/>
                                        <p:tgtEl>
                                          <p:spTgt spid="7"/>
                                        </p:tgtEl>
                                        <p:attrNameLst>
                                          <p:attrName>ppt_x</p:attrName>
                                        </p:attrNameLst>
                                      </p:cBhvr>
                                      <p:tavLst>
                                        <p:tav tm="0">
                                          <p:val>
                                            <p:strVal val="ppt_x"/>
                                          </p:val>
                                        </p:tav>
                                        <p:tav tm="100000">
                                          <p:val>
                                            <p:strVal val="ppt_x"/>
                                          </p:val>
                                        </p:tav>
                                      </p:tavLst>
                                    </p:anim>
                                    <p:anim calcmode="lin" valueType="num">
                                      <p:cBhvr additive="base">
                                        <p:cTn id="44" dur="500"/>
                                        <p:tgtEl>
                                          <p:spTgt spid="7"/>
                                        </p:tgtEl>
                                        <p:attrNameLst>
                                          <p:attrName>ppt_y</p:attrName>
                                        </p:attrNameLst>
                                      </p:cBhvr>
                                      <p:tavLst>
                                        <p:tav tm="0">
                                          <p:val>
                                            <p:strVal val="ppt_y"/>
                                          </p:val>
                                        </p:tav>
                                        <p:tav tm="100000">
                                          <p:val>
                                            <p:strVal val="1+ppt_h/2"/>
                                          </p:val>
                                        </p:tav>
                                      </p:tavLst>
                                    </p:anim>
                                    <p:set>
                                      <p:cBhvr>
                                        <p:cTn id="45" dur="1" fill="hold">
                                          <p:stCondLst>
                                            <p:cond delay="499"/>
                                          </p:stCondLst>
                                        </p:cTn>
                                        <p:tgtEl>
                                          <p:spTgt spid="7"/>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 presetClass="exit" presetSubtype="4" fill="hold" grpId="0" nodeType="clickEffect">
                                  <p:stCondLst>
                                    <p:cond delay="0"/>
                                  </p:stCondLst>
                                  <p:childTnLst>
                                    <p:anim calcmode="lin" valueType="num">
                                      <p:cBhvr additive="base">
                                        <p:cTn id="49" dur="500"/>
                                        <p:tgtEl>
                                          <p:spTgt spid="11"/>
                                        </p:tgtEl>
                                        <p:attrNameLst>
                                          <p:attrName>ppt_x</p:attrName>
                                        </p:attrNameLst>
                                      </p:cBhvr>
                                      <p:tavLst>
                                        <p:tav tm="0">
                                          <p:val>
                                            <p:strVal val="ppt_x"/>
                                          </p:val>
                                        </p:tav>
                                        <p:tav tm="100000">
                                          <p:val>
                                            <p:strVal val="ppt_x"/>
                                          </p:val>
                                        </p:tav>
                                      </p:tavLst>
                                    </p:anim>
                                    <p:anim calcmode="lin" valueType="num">
                                      <p:cBhvr additive="base">
                                        <p:cTn id="50" dur="500"/>
                                        <p:tgtEl>
                                          <p:spTgt spid="11"/>
                                        </p:tgtEl>
                                        <p:attrNameLst>
                                          <p:attrName>ppt_y</p:attrName>
                                        </p:attrNameLst>
                                      </p:cBhvr>
                                      <p:tavLst>
                                        <p:tav tm="0">
                                          <p:val>
                                            <p:strVal val="ppt_y"/>
                                          </p:val>
                                        </p:tav>
                                        <p:tav tm="100000">
                                          <p:val>
                                            <p:strVal val="1+ppt_h/2"/>
                                          </p:val>
                                        </p:tav>
                                      </p:tavLst>
                                    </p:anim>
                                    <p:set>
                                      <p:cBhvr>
                                        <p:cTn id="51" dur="1" fill="hold">
                                          <p:stCondLst>
                                            <p:cond delay="499"/>
                                          </p:stCondLst>
                                        </p:cTn>
                                        <p:tgtEl>
                                          <p:spTgt spid="11"/>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 presetClass="exit" presetSubtype="4" fill="hold" grpId="0" nodeType="clickEffect">
                                  <p:stCondLst>
                                    <p:cond delay="0"/>
                                  </p:stCondLst>
                                  <p:childTnLst>
                                    <p:anim calcmode="lin" valueType="num">
                                      <p:cBhvr additive="base">
                                        <p:cTn id="55" dur="500"/>
                                        <p:tgtEl>
                                          <p:spTgt spid="10"/>
                                        </p:tgtEl>
                                        <p:attrNameLst>
                                          <p:attrName>ppt_x</p:attrName>
                                        </p:attrNameLst>
                                      </p:cBhvr>
                                      <p:tavLst>
                                        <p:tav tm="0">
                                          <p:val>
                                            <p:strVal val="ppt_x"/>
                                          </p:val>
                                        </p:tav>
                                        <p:tav tm="100000">
                                          <p:val>
                                            <p:strVal val="ppt_x"/>
                                          </p:val>
                                        </p:tav>
                                      </p:tavLst>
                                    </p:anim>
                                    <p:anim calcmode="lin" valueType="num">
                                      <p:cBhvr additive="base">
                                        <p:cTn id="56" dur="500"/>
                                        <p:tgtEl>
                                          <p:spTgt spid="10"/>
                                        </p:tgtEl>
                                        <p:attrNameLst>
                                          <p:attrName>ppt_y</p:attrName>
                                        </p:attrNameLst>
                                      </p:cBhvr>
                                      <p:tavLst>
                                        <p:tav tm="0">
                                          <p:val>
                                            <p:strVal val="ppt_y"/>
                                          </p:val>
                                        </p:tav>
                                        <p:tav tm="100000">
                                          <p:val>
                                            <p:strVal val="1+ppt_h/2"/>
                                          </p:val>
                                        </p:tav>
                                      </p:tavLst>
                                    </p:anim>
                                    <p:set>
                                      <p:cBhvr>
                                        <p:cTn id="57" dur="1" fill="hold">
                                          <p:stCondLst>
                                            <p:cond delay="499"/>
                                          </p:stCondLst>
                                        </p:cTn>
                                        <p:tgtEl>
                                          <p:spTgt spid="1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 presetClass="exit" presetSubtype="4" fill="hold" grpId="0" nodeType="clickEffect">
                                  <p:stCondLst>
                                    <p:cond delay="0"/>
                                  </p:stCondLst>
                                  <p:childTnLst>
                                    <p:anim calcmode="lin" valueType="num">
                                      <p:cBhvr additive="base">
                                        <p:cTn id="61" dur="500"/>
                                        <p:tgtEl>
                                          <p:spTgt spid="12"/>
                                        </p:tgtEl>
                                        <p:attrNameLst>
                                          <p:attrName>ppt_x</p:attrName>
                                        </p:attrNameLst>
                                      </p:cBhvr>
                                      <p:tavLst>
                                        <p:tav tm="0">
                                          <p:val>
                                            <p:strVal val="ppt_x"/>
                                          </p:val>
                                        </p:tav>
                                        <p:tav tm="100000">
                                          <p:val>
                                            <p:strVal val="ppt_x"/>
                                          </p:val>
                                        </p:tav>
                                      </p:tavLst>
                                    </p:anim>
                                    <p:anim calcmode="lin" valueType="num">
                                      <p:cBhvr additive="base">
                                        <p:cTn id="62" dur="500"/>
                                        <p:tgtEl>
                                          <p:spTgt spid="12"/>
                                        </p:tgtEl>
                                        <p:attrNameLst>
                                          <p:attrName>ppt_y</p:attrName>
                                        </p:attrNameLst>
                                      </p:cBhvr>
                                      <p:tavLst>
                                        <p:tav tm="0">
                                          <p:val>
                                            <p:strVal val="ppt_y"/>
                                          </p:val>
                                        </p:tav>
                                        <p:tav tm="100000">
                                          <p:val>
                                            <p:strVal val="1+ppt_h/2"/>
                                          </p:val>
                                        </p:tav>
                                      </p:tavLst>
                                    </p:anim>
                                    <p:set>
                                      <p:cBhvr>
                                        <p:cTn id="63" dur="1" fill="hold">
                                          <p:stCondLst>
                                            <p:cond delay="499"/>
                                          </p:stCondLst>
                                        </p:cTn>
                                        <p:tgtEl>
                                          <p:spTgt spid="12"/>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 presetClass="exit" presetSubtype="4" fill="hold" nodeType="clickEffect">
                                  <p:stCondLst>
                                    <p:cond delay="0"/>
                                  </p:stCondLst>
                                  <p:childTnLst>
                                    <p:anim calcmode="lin" valueType="num">
                                      <p:cBhvr additive="base">
                                        <p:cTn id="67" dur="500"/>
                                        <p:tgtEl>
                                          <p:spTgt spid="9"/>
                                        </p:tgtEl>
                                        <p:attrNameLst>
                                          <p:attrName>ppt_x</p:attrName>
                                        </p:attrNameLst>
                                      </p:cBhvr>
                                      <p:tavLst>
                                        <p:tav tm="0">
                                          <p:val>
                                            <p:strVal val="ppt_x"/>
                                          </p:val>
                                        </p:tav>
                                        <p:tav tm="100000">
                                          <p:val>
                                            <p:strVal val="ppt_x"/>
                                          </p:val>
                                        </p:tav>
                                      </p:tavLst>
                                    </p:anim>
                                    <p:anim calcmode="lin" valueType="num">
                                      <p:cBhvr additive="base">
                                        <p:cTn id="68" dur="500"/>
                                        <p:tgtEl>
                                          <p:spTgt spid="9"/>
                                        </p:tgtEl>
                                        <p:attrNameLst>
                                          <p:attrName>ppt_y</p:attrName>
                                        </p:attrNameLst>
                                      </p:cBhvr>
                                      <p:tavLst>
                                        <p:tav tm="0">
                                          <p:val>
                                            <p:strVal val="ppt_y"/>
                                          </p:val>
                                        </p:tav>
                                        <p:tav tm="100000">
                                          <p:val>
                                            <p:strVal val="1+ppt_h/2"/>
                                          </p:val>
                                        </p:tav>
                                      </p:tavLst>
                                    </p:anim>
                                    <p:set>
                                      <p:cBhvr>
                                        <p:cTn id="69" dur="1" fill="hold">
                                          <p:stCondLst>
                                            <p:cond delay="499"/>
                                          </p:stCondLst>
                                        </p:cTn>
                                        <p:tgtEl>
                                          <p:spTgt spid="9"/>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 presetClass="exit" presetSubtype="4" fill="hold" grpId="0" nodeType="clickEffect">
                                  <p:stCondLst>
                                    <p:cond delay="0"/>
                                  </p:stCondLst>
                                  <p:childTnLst>
                                    <p:anim calcmode="lin" valueType="num">
                                      <p:cBhvr additive="base">
                                        <p:cTn id="73" dur="500"/>
                                        <p:tgtEl>
                                          <p:spTgt spid="8"/>
                                        </p:tgtEl>
                                        <p:attrNameLst>
                                          <p:attrName>ppt_x</p:attrName>
                                        </p:attrNameLst>
                                      </p:cBhvr>
                                      <p:tavLst>
                                        <p:tav tm="0">
                                          <p:val>
                                            <p:strVal val="ppt_x"/>
                                          </p:val>
                                        </p:tav>
                                        <p:tav tm="100000">
                                          <p:val>
                                            <p:strVal val="ppt_x"/>
                                          </p:val>
                                        </p:tav>
                                      </p:tavLst>
                                    </p:anim>
                                    <p:anim calcmode="lin" valueType="num">
                                      <p:cBhvr additive="base">
                                        <p:cTn id="74" dur="500"/>
                                        <p:tgtEl>
                                          <p:spTgt spid="8"/>
                                        </p:tgtEl>
                                        <p:attrNameLst>
                                          <p:attrName>ppt_y</p:attrName>
                                        </p:attrNameLst>
                                      </p:cBhvr>
                                      <p:tavLst>
                                        <p:tav tm="0">
                                          <p:val>
                                            <p:strVal val="ppt_y"/>
                                          </p:val>
                                        </p:tav>
                                        <p:tav tm="100000">
                                          <p:val>
                                            <p:strVal val="1+ppt_h/2"/>
                                          </p:val>
                                        </p:tav>
                                      </p:tavLst>
                                    </p:anim>
                                    <p:set>
                                      <p:cBhvr>
                                        <p:cTn id="75" dur="1" fill="hold">
                                          <p:stCondLst>
                                            <p:cond delay="499"/>
                                          </p:stCondLst>
                                        </p:cTn>
                                        <p:tgtEl>
                                          <p:spTgt spid="8"/>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 presetClass="exit" presetSubtype="4" fill="hold" grpId="0" nodeType="clickEffect">
                                  <p:stCondLst>
                                    <p:cond delay="0"/>
                                  </p:stCondLst>
                                  <p:childTnLst>
                                    <p:anim calcmode="lin" valueType="num">
                                      <p:cBhvr additive="base">
                                        <p:cTn id="79" dur="500"/>
                                        <p:tgtEl>
                                          <p:spTgt spid="13"/>
                                        </p:tgtEl>
                                        <p:attrNameLst>
                                          <p:attrName>ppt_x</p:attrName>
                                        </p:attrNameLst>
                                      </p:cBhvr>
                                      <p:tavLst>
                                        <p:tav tm="0">
                                          <p:val>
                                            <p:strVal val="ppt_x"/>
                                          </p:val>
                                        </p:tav>
                                        <p:tav tm="100000">
                                          <p:val>
                                            <p:strVal val="ppt_x"/>
                                          </p:val>
                                        </p:tav>
                                      </p:tavLst>
                                    </p:anim>
                                    <p:anim calcmode="lin" valueType="num">
                                      <p:cBhvr additive="base">
                                        <p:cTn id="80" dur="500"/>
                                        <p:tgtEl>
                                          <p:spTgt spid="13"/>
                                        </p:tgtEl>
                                        <p:attrNameLst>
                                          <p:attrName>ppt_y</p:attrName>
                                        </p:attrNameLst>
                                      </p:cBhvr>
                                      <p:tavLst>
                                        <p:tav tm="0">
                                          <p:val>
                                            <p:strVal val="ppt_y"/>
                                          </p:val>
                                        </p:tav>
                                        <p:tav tm="100000">
                                          <p:val>
                                            <p:strVal val="1+ppt_h/2"/>
                                          </p:val>
                                        </p:tav>
                                      </p:tavLst>
                                    </p:anim>
                                    <p:set>
                                      <p:cBhvr>
                                        <p:cTn id="81" dur="1" fill="hold">
                                          <p:stCondLst>
                                            <p:cond delay="499"/>
                                          </p:stCondLst>
                                        </p:cTn>
                                        <p:tgtEl>
                                          <p:spTgt spid="13"/>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blinds(horizontal)">
                                      <p:cBhvr>
                                        <p:cTn id="86" dur="500"/>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3">
                                            <p:txEl>
                                              <p:pRg st="7" end="7"/>
                                            </p:txEl>
                                          </p:spTgt>
                                        </p:tgtEl>
                                        <p:attrNameLst>
                                          <p:attrName>style.visibility</p:attrName>
                                        </p:attrNameLst>
                                      </p:cBhvr>
                                      <p:to>
                                        <p:strVal val="visible"/>
                                      </p:to>
                                    </p:set>
                                    <p:animEffect transition="in" filter="blinds(horizontal)">
                                      <p:cBhvr>
                                        <p:cTn id="91" dur="500"/>
                                        <p:tgtEl>
                                          <p:spTgt spid="3">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blinds(horizontal)">
                                      <p:cBhvr>
                                        <p:cTn id="96" dur="500"/>
                                        <p:tgtEl>
                                          <p:spTgt spid="20"/>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8" end="8"/>
                                            </p:txEl>
                                          </p:spTgt>
                                        </p:tgtEl>
                                        <p:attrNameLst>
                                          <p:attrName>style.visibility</p:attrName>
                                        </p:attrNameLst>
                                      </p:cBhvr>
                                      <p:to>
                                        <p:strVal val="visible"/>
                                      </p:to>
                                    </p:set>
                                    <p:animEffect transition="in" filter="blinds(horizontal)">
                                      <p:cBhvr>
                                        <p:cTn id="10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P spid="10" grpId="0" animBg="1"/>
      <p:bldP spid="11" grpId="0" animBg="1"/>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电离度和电离常数</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534400" cy="5486400"/>
          </a:xfrm>
        </p:spPr>
        <p:txBody>
          <a:bodyPr>
            <a:noAutofit/>
          </a:bodyPr>
          <a:lstStyle/>
          <a:p>
            <a:pPr>
              <a:lnSpc>
                <a:spcPct val="150000"/>
              </a:lnSpc>
              <a:spcBef>
                <a:spcPts val="0"/>
              </a:spcBef>
              <a:buFont typeface="Wingdings" pitchFamily="2" charset="2"/>
              <a:buChar char="Ø"/>
            </a:pPr>
            <a:r>
              <a:rPr lang="zh-CN" altLang="en-US" sz="3000" dirty="0">
                <a:sym typeface="Wingdings" pitchFamily="2" charset="2"/>
              </a:rPr>
              <a:t>多元弱酸的电离是</a:t>
            </a:r>
            <a:r>
              <a:rPr lang="zh-CN" altLang="en-US" sz="3000" b="1" dirty="0">
                <a:solidFill>
                  <a:srgbClr val="002060"/>
                </a:solidFill>
                <a:effectLst>
                  <a:outerShdw blurRad="38100" dist="38100" dir="2700000" algn="tl">
                    <a:srgbClr val="000000">
                      <a:alpha val="43137"/>
                    </a:srgbClr>
                  </a:outerShdw>
                </a:effectLst>
                <a:sym typeface="Wingdings" pitchFamily="2" charset="2"/>
              </a:rPr>
              <a:t>分步进行</a:t>
            </a:r>
            <a:r>
              <a:rPr lang="zh-CN" altLang="en-US" sz="3000" dirty="0">
                <a:sym typeface="Wingdings" pitchFamily="2" charset="2"/>
              </a:rPr>
              <a:t>的，存在多个电离平衡。</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各步的电离常数用</a:t>
            </a:r>
            <a:r>
              <a:rPr lang="en-US" altLang="zh-CN" sz="3000" dirty="0">
                <a:sym typeface="Wingdings" pitchFamily="2" charset="2"/>
              </a:rPr>
              <a:t>K</a:t>
            </a:r>
            <a:r>
              <a:rPr lang="en-US" altLang="zh-CN" sz="3000" baseline="-25000" dirty="0">
                <a:sym typeface="Wingdings" pitchFamily="2" charset="2"/>
              </a:rPr>
              <a:t>a1</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 K</a:t>
            </a:r>
            <a:r>
              <a:rPr lang="en-US" altLang="zh-CN" sz="3000" baseline="-25000" dirty="0">
                <a:sym typeface="Wingdings" pitchFamily="2" charset="2"/>
              </a:rPr>
              <a:t>a2</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 K</a:t>
            </a:r>
            <a:r>
              <a:rPr lang="en-US" altLang="zh-CN" sz="3000" baseline="-25000" dirty="0">
                <a:sym typeface="Wingdings" pitchFamily="2" charset="2"/>
              </a:rPr>
              <a:t>a3 </a:t>
            </a:r>
            <a:r>
              <a:rPr lang="zh-CN" altLang="en-US" sz="3000" dirty="0">
                <a:sym typeface="Wingdings" pitchFamily="2" charset="2"/>
              </a:rPr>
              <a:t> 来表示。</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多元弱酸的</a:t>
            </a:r>
            <a:r>
              <a:rPr lang="en-US" altLang="zh-CN" sz="3000" dirty="0">
                <a:sym typeface="Wingdings" pitchFamily="2" charset="2"/>
              </a:rPr>
              <a:t>K</a:t>
            </a:r>
            <a:r>
              <a:rPr lang="en-US" altLang="zh-CN" sz="3000" baseline="-25000" dirty="0">
                <a:sym typeface="Wingdings" pitchFamily="2" charset="2"/>
              </a:rPr>
              <a:t>a2</a:t>
            </a:r>
            <a:r>
              <a:rPr lang="en-US" altLang="zh-CN" sz="3000" dirty="0">
                <a:sym typeface="Wingdings" pitchFamily="2" charset="2"/>
              </a:rPr>
              <a:t> &lt; K</a:t>
            </a:r>
            <a:r>
              <a:rPr lang="en-US" altLang="zh-CN" sz="3000" baseline="-25000" dirty="0">
                <a:sym typeface="Wingdings" pitchFamily="2" charset="2"/>
              </a:rPr>
              <a:t>a1</a:t>
            </a:r>
            <a:r>
              <a:rPr lang="en-US" altLang="zh-CN" sz="3000" dirty="0">
                <a:sym typeface="Wingdings" pitchFamily="2" charset="2"/>
              </a:rPr>
              <a:t> </a:t>
            </a:r>
            <a:r>
              <a:rPr lang="zh-CN" altLang="en-US" sz="3000" dirty="0">
                <a:sym typeface="Wingdings" pitchFamily="2" charset="2"/>
              </a:rPr>
              <a:t>，因此酸性主要由</a:t>
            </a:r>
            <a:r>
              <a:rPr lang="zh-CN" altLang="en-US" sz="3000" b="1" dirty="0">
                <a:solidFill>
                  <a:srgbClr val="002060"/>
                </a:solidFill>
                <a:effectLst>
                  <a:outerShdw blurRad="38100" dist="38100" dir="2700000" algn="tl">
                    <a:srgbClr val="000000">
                      <a:alpha val="43137"/>
                    </a:srgbClr>
                  </a:outerShdw>
                </a:effectLst>
                <a:sym typeface="Wingdings" pitchFamily="2" charset="2"/>
              </a:rPr>
              <a:t>第一步电离</a:t>
            </a:r>
            <a:r>
              <a:rPr lang="zh-CN" altLang="en-US" sz="3000" dirty="0">
                <a:sym typeface="Wingdings" pitchFamily="2" charset="2"/>
              </a:rPr>
              <a:t>所决定。</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表</a:t>
            </a:r>
            <a:r>
              <a:rPr lang="en-US" altLang="zh-CN" sz="3000" dirty="0">
                <a:sym typeface="Wingdings" pitchFamily="2" charset="2"/>
              </a:rPr>
              <a:t>23-7</a:t>
            </a:r>
          </a:p>
          <a:p>
            <a:pPr>
              <a:lnSpc>
                <a:spcPct val="150000"/>
              </a:lnSpc>
              <a:spcBef>
                <a:spcPts val="0"/>
              </a:spcBef>
              <a:buFont typeface="Wingdings" pitchFamily="2" charset="2"/>
              <a:buChar char="Ø"/>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 </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23b</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marL="514350" indent="-514350">
              <a:spcBef>
                <a:spcPts val="0"/>
              </a:spcBef>
              <a:buAutoNum type="arabicPeriod"/>
            </a:pPr>
            <a:r>
              <a:rPr lang="zh-CN" altLang="en-US" sz="3000" dirty="0">
                <a:sym typeface="Wingdings" pitchFamily="2" charset="2"/>
              </a:rPr>
              <a:t>减小；增加；相等；电离平衡。</a:t>
            </a:r>
            <a:endParaRPr lang="en-US" altLang="zh-CN" sz="3000" dirty="0">
              <a:sym typeface="Wingdings" pitchFamily="2" charset="2"/>
            </a:endParaRPr>
          </a:p>
          <a:p>
            <a:pPr marL="514350" indent="-514350">
              <a:spcBef>
                <a:spcPts val="0"/>
              </a:spcBef>
              <a:buAutoNum type="arabicPeriod"/>
            </a:pPr>
            <a:endParaRPr lang="en-US" altLang="zh-CN" sz="3000" dirty="0">
              <a:sym typeface="Wingdings" pitchFamily="2" charset="2"/>
            </a:endParaRPr>
          </a:p>
          <a:p>
            <a:pPr marL="514350" indent="-514350">
              <a:spcBef>
                <a:spcPts val="0"/>
              </a:spcBef>
              <a:buAutoNum type="arabicPeriod"/>
            </a:pPr>
            <a:endParaRPr lang="en-US" altLang="zh-CN" sz="3000" dirty="0">
              <a:sym typeface="Wingdings" pitchFamily="2" charset="2"/>
            </a:endParaRPr>
          </a:p>
          <a:p>
            <a:pPr marL="514350" indent="-514350">
              <a:spcBef>
                <a:spcPts val="0"/>
              </a:spcBef>
              <a:buAutoNum type="arabicPeriod"/>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 COOH(</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CH</a:t>
            </a:r>
            <a:r>
              <a:rPr lang="en-US" altLang="zh-CN" sz="3000" baseline="-25000" dirty="0">
                <a:sym typeface="Wingdings" pitchFamily="2" charset="2"/>
              </a:rPr>
              <a:t>3</a:t>
            </a:r>
            <a:r>
              <a:rPr lang="en-US" altLang="zh-CN" sz="3000" dirty="0">
                <a:sym typeface="Wingdings" pitchFamily="2" charset="2"/>
              </a:rPr>
              <a:t> COO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p:txBody>
      </p:sp>
      <p:graphicFrame>
        <p:nvGraphicFramePr>
          <p:cNvPr id="5" name="Table 4"/>
          <p:cNvGraphicFramePr>
            <a:graphicFrameLocks noGrp="1"/>
          </p:cNvGraphicFramePr>
          <p:nvPr/>
        </p:nvGraphicFramePr>
        <p:xfrm>
          <a:off x="152400" y="3200400"/>
          <a:ext cx="8839200" cy="2590800"/>
        </p:xfrm>
        <a:graphic>
          <a:graphicData uri="http://schemas.openxmlformats.org/drawingml/2006/table">
            <a:tbl>
              <a:tblPr firstRow="1" bandRow="1">
                <a:tableStyleId>{F5AB1C69-6EDB-4FF4-983F-18BD219EF322}</a:tableStyleId>
              </a:tblPr>
              <a:tblGrid>
                <a:gridCol w="19050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025611">
                  <a:extLst>
                    <a:ext uri="{9D8B030D-6E8A-4147-A177-3AD203B41FA5}">
                      <a16:colId xmlns:a16="http://schemas.microsoft.com/office/drawing/2014/main" val="20004"/>
                    </a:ext>
                  </a:extLst>
                </a:gridCol>
                <a:gridCol w="955589">
                  <a:extLst>
                    <a:ext uri="{9D8B030D-6E8A-4147-A177-3AD203B41FA5}">
                      <a16:colId xmlns:a16="http://schemas.microsoft.com/office/drawing/2014/main" val="20005"/>
                    </a:ext>
                  </a:extLst>
                </a:gridCol>
              </a:tblGrid>
              <a:tr h="370840">
                <a:tc>
                  <a:txBody>
                    <a:bodyPr/>
                    <a:lstStyle/>
                    <a:p>
                      <a:endParaRPr lang="en-US" sz="2800" dirty="0">
                        <a:latin typeface="宋体" pitchFamily="2" charset="-122"/>
                        <a:ea typeface="宋体" pitchFamily="2" charset="-122"/>
                      </a:endParaRPr>
                    </a:p>
                  </a:txBody>
                  <a:tcPr/>
                </a:tc>
                <a:tc>
                  <a:txBody>
                    <a:bodyPr/>
                    <a:lstStyle/>
                    <a:p>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冰醋酸</a:t>
                      </a:r>
                      <a:endParaRPr lang="en-US" sz="2800" dirty="0">
                        <a:latin typeface="宋体" pitchFamily="2" charset="-122"/>
                        <a:ea typeface="宋体" pitchFamily="2" charset="-122"/>
                      </a:endParaRPr>
                    </a:p>
                  </a:txBody>
                  <a:tcPr/>
                </a:tc>
                <a:tc>
                  <a:txBody>
                    <a:bodyPr/>
                    <a:lstStyle/>
                    <a:p>
                      <a:r>
                        <a:rPr lang="en-US" altLang="zh-CN" sz="2800" dirty="0">
                          <a:latin typeface="宋体" pitchFamily="2" charset="-122"/>
                          <a:ea typeface="宋体" pitchFamily="2" charset="-122"/>
                        </a:rPr>
                        <a:t>+</a:t>
                      </a:r>
                      <a:r>
                        <a:rPr lang="en-US" altLang="zh-CN" sz="2800" dirty="0" err="1">
                          <a:latin typeface="宋体" pitchFamily="2" charset="-122"/>
                          <a:ea typeface="宋体" pitchFamily="2" charset="-122"/>
                        </a:rPr>
                        <a:t>NaOH</a:t>
                      </a:r>
                      <a:r>
                        <a:rPr lang="en-US" altLang="zh-CN" sz="2800" dirty="0">
                          <a:latin typeface="宋体" pitchFamily="2" charset="-122"/>
                          <a:ea typeface="宋体" pitchFamily="2" charset="-122"/>
                        </a:rPr>
                        <a:t>(s)</a:t>
                      </a:r>
                      <a:endParaRPr lang="en-US" sz="2800" dirty="0">
                        <a:latin typeface="宋体" pitchFamily="2" charset="-122"/>
                        <a:ea typeface="宋体" pitchFamily="2" charset="-122"/>
                      </a:endParaRPr>
                    </a:p>
                  </a:txBody>
                  <a:tcPr/>
                </a:tc>
                <a:tc>
                  <a:txBody>
                    <a:bodyPr/>
                    <a:lstStyle/>
                    <a:p>
                      <a:r>
                        <a:rPr lang="en-US" sz="2800" dirty="0">
                          <a:latin typeface="宋体" pitchFamily="2" charset="-122"/>
                          <a:ea typeface="宋体" pitchFamily="2" charset="-122"/>
                        </a:rPr>
                        <a:t>+</a:t>
                      </a:r>
                      <a:r>
                        <a:rPr lang="zh-CN" altLang="en-US" sz="2800" dirty="0">
                          <a:latin typeface="宋体" pitchFamily="2" charset="-122"/>
                          <a:ea typeface="宋体" pitchFamily="2" charset="-122"/>
                        </a:rPr>
                        <a:t>醋酸钠</a:t>
                      </a:r>
                      <a:r>
                        <a:rPr lang="en-US" altLang="zh-CN" sz="2800" dirty="0">
                          <a:latin typeface="宋体" pitchFamily="2" charset="-122"/>
                          <a:ea typeface="宋体" pitchFamily="2" charset="-122"/>
                        </a:rPr>
                        <a:t>(s)</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降温</a:t>
                      </a:r>
                      <a:endParaRPr lang="en-US" sz="2800" dirty="0">
                        <a:latin typeface="宋体" pitchFamily="2" charset="-122"/>
                        <a:ea typeface="宋体" pitchFamily="2" charset="-122"/>
                      </a:endParaRPr>
                    </a:p>
                  </a:txBody>
                  <a:tcPr/>
                </a:tc>
                <a:tc>
                  <a:txBody>
                    <a:bodyPr/>
                    <a:lstStyle/>
                    <a:p>
                      <a:r>
                        <a:rPr lang="en-US" sz="2800" dirty="0">
                          <a:latin typeface="宋体" pitchFamily="2" charset="-122"/>
                          <a:ea typeface="宋体" pitchFamily="2" charset="-122"/>
                        </a:rPr>
                        <a:t>+</a:t>
                      </a:r>
                      <a:r>
                        <a:rPr lang="zh-CN" altLang="en-US" sz="2800" dirty="0">
                          <a:latin typeface="宋体" pitchFamily="2" charset="-122"/>
                          <a:ea typeface="宋体" pitchFamily="2" charset="-122"/>
                        </a:rPr>
                        <a:t>水</a:t>
                      </a:r>
                      <a:endParaRPr lang="en-US" sz="2800" dirty="0">
                        <a:latin typeface="宋体" pitchFamily="2" charset="-122"/>
                        <a:ea typeface="宋体" pitchFamily="2" charset="-122"/>
                      </a:endParaRPr>
                    </a:p>
                  </a:txBody>
                  <a:tcPr/>
                </a:tc>
                <a:extLst>
                  <a:ext uri="{0D108BD9-81ED-4DB2-BD59-A6C34878D82A}">
                    <a16:rowId xmlns:a16="http://schemas.microsoft.com/office/drawing/2014/main" val="10000"/>
                  </a:ext>
                </a:extLst>
              </a:tr>
              <a:tr h="370840">
                <a:tc>
                  <a:txBody>
                    <a:bodyPr/>
                    <a:lstStyle/>
                    <a:p>
                      <a:r>
                        <a:rPr lang="en-US" sz="2800" dirty="0">
                          <a:latin typeface="宋体" pitchFamily="2" charset="-122"/>
                          <a:ea typeface="宋体" pitchFamily="2" charset="-122"/>
                        </a:rPr>
                        <a:t>[CH</a:t>
                      </a:r>
                      <a:r>
                        <a:rPr lang="en-US" sz="2800" baseline="-25000" dirty="0">
                          <a:latin typeface="宋体" pitchFamily="2" charset="-122"/>
                          <a:ea typeface="宋体" pitchFamily="2" charset="-122"/>
                        </a:rPr>
                        <a:t>3</a:t>
                      </a:r>
                      <a:r>
                        <a:rPr lang="en-US" sz="2800" baseline="0" dirty="0">
                          <a:latin typeface="宋体" pitchFamily="2" charset="-122"/>
                          <a:ea typeface="宋体" pitchFamily="2" charset="-122"/>
                        </a:rPr>
                        <a:t>COOH</a:t>
                      </a:r>
                      <a:r>
                        <a:rPr lang="en-US" sz="2800" dirty="0">
                          <a:latin typeface="宋体" pitchFamily="2" charset="-122"/>
                          <a:ea typeface="宋体" pitchFamily="2" charset="-122"/>
                        </a:rPr>
                        <a:t> ]</a:t>
                      </a:r>
                    </a:p>
                  </a:txBody>
                  <a:tcPr/>
                </a:tc>
                <a:tc>
                  <a:txBody>
                    <a:bodyPr/>
                    <a:lstStyle/>
                    <a:p>
                      <a:r>
                        <a:rPr lang="zh-CN" altLang="en-US" sz="2800" dirty="0">
                          <a:latin typeface="宋体" pitchFamily="2" charset="-122"/>
                          <a:ea typeface="宋体" pitchFamily="2" charset="-122"/>
                        </a:rPr>
                        <a:t>增加</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减少</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增加</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增加</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减少</a:t>
                      </a:r>
                      <a:endParaRPr lang="en-US" sz="2800" dirty="0">
                        <a:latin typeface="宋体" pitchFamily="2" charset="-122"/>
                        <a:ea typeface="宋体" pitchFamily="2" charset="-122"/>
                      </a:endParaRPr>
                    </a:p>
                  </a:txBody>
                  <a:tcPr/>
                </a:tc>
                <a:extLst>
                  <a:ext uri="{0D108BD9-81ED-4DB2-BD59-A6C34878D82A}">
                    <a16:rowId xmlns:a16="http://schemas.microsoft.com/office/drawing/2014/main" val="10001"/>
                  </a:ext>
                </a:extLst>
              </a:tr>
              <a:tr h="370840">
                <a:tc>
                  <a:txBody>
                    <a:bodyPr/>
                    <a:lstStyle/>
                    <a:p>
                      <a:r>
                        <a:rPr lang="en-US" sz="2800" dirty="0">
                          <a:latin typeface="宋体" pitchFamily="2" charset="-122"/>
                          <a:ea typeface="宋体" pitchFamily="2" charset="-122"/>
                        </a:rPr>
                        <a:t>[CH</a:t>
                      </a:r>
                      <a:r>
                        <a:rPr lang="en-US" sz="2800" baseline="-25000" dirty="0">
                          <a:latin typeface="宋体" pitchFamily="2" charset="-122"/>
                          <a:ea typeface="宋体" pitchFamily="2" charset="-122"/>
                        </a:rPr>
                        <a:t>3</a:t>
                      </a:r>
                      <a:r>
                        <a:rPr lang="en-US" sz="2800" baseline="0" dirty="0">
                          <a:latin typeface="宋体" pitchFamily="2" charset="-122"/>
                          <a:ea typeface="宋体" pitchFamily="2" charset="-122"/>
                        </a:rPr>
                        <a:t>COO</a:t>
                      </a:r>
                      <a:r>
                        <a:rPr lang="en-US" sz="2800" baseline="30000" dirty="0">
                          <a:latin typeface="宋体" pitchFamily="2" charset="-122"/>
                          <a:ea typeface="宋体" pitchFamily="2" charset="-122"/>
                        </a:rPr>
                        <a:t>-</a:t>
                      </a:r>
                      <a:r>
                        <a:rPr lang="en-US" sz="2800" dirty="0">
                          <a:latin typeface="宋体" pitchFamily="2" charset="-122"/>
                          <a:ea typeface="宋体" pitchFamily="2" charset="-122"/>
                        </a:rPr>
                        <a:t> ]</a:t>
                      </a:r>
                    </a:p>
                  </a:txBody>
                  <a:tcPr/>
                </a:tc>
                <a:tc>
                  <a:txBody>
                    <a:bodyPr/>
                    <a:lstStyle/>
                    <a:p>
                      <a:r>
                        <a:rPr lang="zh-CN" altLang="en-US" sz="2800" dirty="0">
                          <a:latin typeface="宋体" pitchFamily="2" charset="-122"/>
                          <a:ea typeface="宋体" pitchFamily="2" charset="-122"/>
                        </a:rPr>
                        <a:t>增加</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增加</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增加</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减少</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减少</a:t>
                      </a:r>
                      <a:endParaRPr lang="en-US" sz="2800" dirty="0">
                        <a:latin typeface="宋体" pitchFamily="2" charset="-122"/>
                        <a:ea typeface="宋体" pitchFamily="2" charset="-122"/>
                      </a:endParaRPr>
                    </a:p>
                  </a:txBody>
                  <a:tcPr/>
                </a:tc>
                <a:extLst>
                  <a:ext uri="{0D108BD9-81ED-4DB2-BD59-A6C34878D82A}">
                    <a16:rowId xmlns:a16="http://schemas.microsoft.com/office/drawing/2014/main" val="10002"/>
                  </a:ext>
                </a:extLst>
              </a:tr>
              <a:tr h="370840">
                <a:tc>
                  <a:txBody>
                    <a:bodyPr/>
                    <a:lstStyle/>
                    <a:p>
                      <a:r>
                        <a:rPr lang="en-US" sz="2800" dirty="0">
                          <a:latin typeface="宋体" pitchFamily="2" charset="-122"/>
                          <a:ea typeface="宋体" pitchFamily="2" charset="-122"/>
                        </a:rPr>
                        <a:t>[H</a:t>
                      </a:r>
                      <a:r>
                        <a:rPr lang="en-US" sz="2800" baseline="30000" dirty="0">
                          <a:latin typeface="宋体" pitchFamily="2" charset="-122"/>
                          <a:ea typeface="宋体" pitchFamily="2" charset="-122"/>
                        </a:rPr>
                        <a:t>+</a:t>
                      </a:r>
                      <a:r>
                        <a:rPr lang="en-US" sz="2800" dirty="0">
                          <a:latin typeface="宋体" pitchFamily="2" charset="-122"/>
                          <a:ea typeface="宋体" pitchFamily="2" charset="-122"/>
                        </a:rPr>
                        <a:t>]</a:t>
                      </a:r>
                    </a:p>
                  </a:txBody>
                  <a:tcPr/>
                </a:tc>
                <a:tc>
                  <a:txBody>
                    <a:bodyPr/>
                    <a:lstStyle/>
                    <a:p>
                      <a:r>
                        <a:rPr lang="zh-CN" altLang="en-US" sz="2800" dirty="0">
                          <a:latin typeface="宋体" pitchFamily="2" charset="-122"/>
                          <a:ea typeface="宋体" pitchFamily="2" charset="-122"/>
                        </a:rPr>
                        <a:t>增加</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减少</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减少</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减少</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减少</a:t>
                      </a:r>
                      <a:endParaRPr lang="en-US" sz="2800" dirty="0">
                        <a:latin typeface="宋体" pitchFamily="2" charset="-122"/>
                        <a:ea typeface="宋体" pitchFamily="2" charset="-122"/>
                      </a:endParaRPr>
                    </a:p>
                  </a:txBody>
                  <a:tcPr/>
                </a:tc>
                <a:extLst>
                  <a:ext uri="{0D108BD9-81ED-4DB2-BD59-A6C34878D82A}">
                    <a16:rowId xmlns:a16="http://schemas.microsoft.com/office/drawing/2014/main" val="10003"/>
                  </a:ext>
                </a:extLst>
              </a:tr>
              <a:tr h="370840">
                <a:tc>
                  <a:txBody>
                    <a:bodyPr/>
                    <a:lstStyle/>
                    <a:p>
                      <a:r>
                        <a:rPr lang="zh-CN" altLang="en-US" sz="2800" dirty="0">
                          <a:latin typeface="宋体" pitchFamily="2" charset="-122"/>
                          <a:ea typeface="宋体" pitchFamily="2" charset="-122"/>
                        </a:rPr>
                        <a:t>移动方向</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正</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正</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逆</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逆</a:t>
                      </a:r>
                      <a:endParaRPr lang="en-US" sz="2800" dirty="0">
                        <a:latin typeface="宋体" pitchFamily="2" charset="-122"/>
                        <a:ea typeface="宋体" pitchFamily="2" charset="-122"/>
                      </a:endParaRPr>
                    </a:p>
                  </a:txBody>
                  <a:tcPr/>
                </a:tc>
                <a:tc>
                  <a:txBody>
                    <a:bodyPr/>
                    <a:lstStyle/>
                    <a:p>
                      <a:r>
                        <a:rPr lang="zh-CN" altLang="en-US" sz="2800" dirty="0">
                          <a:latin typeface="宋体" pitchFamily="2" charset="-122"/>
                          <a:ea typeface="宋体" pitchFamily="2" charset="-122"/>
                        </a:rPr>
                        <a:t>正</a:t>
                      </a:r>
                      <a:endParaRPr lang="en-US" sz="2800" dirty="0">
                        <a:latin typeface="宋体" pitchFamily="2" charset="-122"/>
                        <a:ea typeface="宋体" pitchFamily="2" charset="-122"/>
                      </a:endParaRPr>
                    </a:p>
                  </a:txBody>
                  <a:tcPr/>
                </a:tc>
                <a:extLst>
                  <a:ext uri="{0D108BD9-81ED-4DB2-BD59-A6C34878D82A}">
                    <a16:rowId xmlns:a16="http://schemas.microsoft.com/office/drawing/2014/main" val="10004"/>
                  </a:ext>
                </a:extLst>
              </a:tr>
            </a:tbl>
          </a:graphicData>
        </a:graphic>
      </p:graphicFrame>
      <p:pic>
        <p:nvPicPr>
          <p:cNvPr id="6" name="Picture 5" descr="244.jpg"/>
          <p:cNvPicPr>
            <a:picLocks noChangeAspect="1"/>
          </p:cNvPicPr>
          <p:nvPr/>
        </p:nvPicPr>
        <p:blipFill>
          <a:blip r:embed="rId3"/>
          <a:srcRect b="5128"/>
          <a:stretch>
            <a:fillRect/>
          </a:stretch>
        </p:blipFill>
        <p:spPr>
          <a:xfrm>
            <a:off x="3276600" y="838200"/>
            <a:ext cx="5604643" cy="2667000"/>
          </a:xfrm>
          <a:prstGeom prst="rect">
            <a:avLst/>
          </a:prstGeom>
        </p:spPr>
      </p:pic>
      <p:sp>
        <p:nvSpPr>
          <p:cNvPr id="7" name="Rounded Rectangle 6"/>
          <p:cNvSpPr/>
          <p:nvPr/>
        </p:nvSpPr>
        <p:spPr>
          <a:xfrm>
            <a:off x="2057400" y="52578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8" name="Rounded Rectangle 7"/>
          <p:cNvSpPr/>
          <p:nvPr/>
        </p:nvSpPr>
        <p:spPr>
          <a:xfrm>
            <a:off x="2103120" y="37338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9" name="Rounded Rectangle 8"/>
          <p:cNvSpPr/>
          <p:nvPr/>
        </p:nvSpPr>
        <p:spPr>
          <a:xfrm>
            <a:off x="2103120" y="42672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0" name="Rounded Rectangle 9"/>
          <p:cNvSpPr/>
          <p:nvPr/>
        </p:nvSpPr>
        <p:spPr>
          <a:xfrm>
            <a:off x="2057400" y="48006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Rounded Rectangle 10"/>
          <p:cNvSpPr/>
          <p:nvPr/>
        </p:nvSpPr>
        <p:spPr>
          <a:xfrm>
            <a:off x="3459480" y="52578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2" name="Rounded Rectangle 11"/>
          <p:cNvSpPr/>
          <p:nvPr/>
        </p:nvSpPr>
        <p:spPr>
          <a:xfrm>
            <a:off x="3505200" y="37338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3" name="Rounded Rectangle 12"/>
          <p:cNvSpPr/>
          <p:nvPr/>
        </p:nvSpPr>
        <p:spPr>
          <a:xfrm>
            <a:off x="3474720" y="42672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4" name="Rounded Rectangle 13"/>
          <p:cNvSpPr/>
          <p:nvPr/>
        </p:nvSpPr>
        <p:spPr>
          <a:xfrm>
            <a:off x="3459480" y="48006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5" name="Rounded Rectangle 14"/>
          <p:cNvSpPr/>
          <p:nvPr/>
        </p:nvSpPr>
        <p:spPr>
          <a:xfrm>
            <a:off x="5151120" y="52578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6" name="Rounded Rectangle 15"/>
          <p:cNvSpPr/>
          <p:nvPr/>
        </p:nvSpPr>
        <p:spPr>
          <a:xfrm>
            <a:off x="5196840" y="37338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7" name="Rounded Rectangle 16"/>
          <p:cNvSpPr/>
          <p:nvPr/>
        </p:nvSpPr>
        <p:spPr>
          <a:xfrm>
            <a:off x="5151120" y="42672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8" name="Rounded Rectangle 17"/>
          <p:cNvSpPr/>
          <p:nvPr/>
        </p:nvSpPr>
        <p:spPr>
          <a:xfrm>
            <a:off x="5151120" y="4800600"/>
            <a:ext cx="118872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9" name="Rounded Rectangle 18"/>
          <p:cNvSpPr/>
          <p:nvPr/>
        </p:nvSpPr>
        <p:spPr>
          <a:xfrm>
            <a:off x="7040880" y="5257800"/>
            <a:ext cx="9144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0" name="Rounded Rectangle 19"/>
          <p:cNvSpPr/>
          <p:nvPr/>
        </p:nvSpPr>
        <p:spPr>
          <a:xfrm>
            <a:off x="7056120" y="3733800"/>
            <a:ext cx="9144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1" name="Rounded Rectangle 20"/>
          <p:cNvSpPr/>
          <p:nvPr/>
        </p:nvSpPr>
        <p:spPr>
          <a:xfrm>
            <a:off x="7056120" y="4267200"/>
            <a:ext cx="9144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2" name="Rounded Rectangle 21"/>
          <p:cNvSpPr/>
          <p:nvPr/>
        </p:nvSpPr>
        <p:spPr>
          <a:xfrm>
            <a:off x="7040880" y="4800600"/>
            <a:ext cx="9144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3" name="Rounded Rectangle 22"/>
          <p:cNvSpPr/>
          <p:nvPr/>
        </p:nvSpPr>
        <p:spPr>
          <a:xfrm>
            <a:off x="8077200" y="5257800"/>
            <a:ext cx="82296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4" name="Rounded Rectangle 23"/>
          <p:cNvSpPr/>
          <p:nvPr/>
        </p:nvSpPr>
        <p:spPr>
          <a:xfrm>
            <a:off x="8092440" y="3733800"/>
            <a:ext cx="82296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5" name="Rounded Rectangle 24"/>
          <p:cNvSpPr/>
          <p:nvPr/>
        </p:nvSpPr>
        <p:spPr>
          <a:xfrm>
            <a:off x="8092440" y="4267200"/>
            <a:ext cx="82296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6" name="Rounded Rectangle 25"/>
          <p:cNvSpPr/>
          <p:nvPr/>
        </p:nvSpPr>
        <p:spPr>
          <a:xfrm>
            <a:off x="8077200" y="4800600"/>
            <a:ext cx="82296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linds(horizontal)">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0" nodeType="clickEffect">
                                  <p:stCondLst>
                                    <p:cond delay="0"/>
                                  </p:stCondLst>
                                  <p:childTnLst>
                                    <p:animEffect transition="out" filter="blinds(horizontal)">
                                      <p:cBhvr>
                                        <p:cTn id="41" dur="500"/>
                                        <p:tgtEl>
                                          <p:spTgt spid="9"/>
                                        </p:tgtEl>
                                      </p:cBhvr>
                                    </p:animEffect>
                                    <p:set>
                                      <p:cBhvr>
                                        <p:cTn id="42" dur="1" fill="hold">
                                          <p:stCondLst>
                                            <p:cond delay="499"/>
                                          </p:stCondLst>
                                        </p:cTn>
                                        <p:tgtEl>
                                          <p:spTgt spid="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0" nodeType="clickEffect">
                                  <p:stCondLst>
                                    <p:cond delay="0"/>
                                  </p:stCondLst>
                                  <p:childTnLst>
                                    <p:animEffect transition="out" filter="blinds(horizontal)">
                                      <p:cBhvr>
                                        <p:cTn id="46" dur="500"/>
                                        <p:tgtEl>
                                          <p:spTgt spid="10"/>
                                        </p:tgtEl>
                                      </p:cBhvr>
                                    </p:animEffect>
                                    <p:set>
                                      <p:cBhvr>
                                        <p:cTn id="47" dur="1" fill="hold">
                                          <p:stCondLst>
                                            <p:cond delay="499"/>
                                          </p:stCondLst>
                                        </p:cTn>
                                        <p:tgtEl>
                                          <p:spTgt spid="10"/>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0" nodeType="clickEffect">
                                  <p:stCondLst>
                                    <p:cond delay="0"/>
                                  </p:stCondLst>
                                  <p:childTnLst>
                                    <p:animEffect transition="out" filter="blinds(horizontal)">
                                      <p:cBhvr>
                                        <p:cTn id="51" dur="500"/>
                                        <p:tgtEl>
                                          <p:spTgt spid="11"/>
                                        </p:tgtEl>
                                      </p:cBhvr>
                                    </p:animEffect>
                                    <p:set>
                                      <p:cBhvr>
                                        <p:cTn id="52" dur="1" fill="hold">
                                          <p:stCondLst>
                                            <p:cond delay="499"/>
                                          </p:stCondLst>
                                        </p:cTn>
                                        <p:tgtEl>
                                          <p:spTgt spid="1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grpId="0" nodeType="clickEffect">
                                  <p:stCondLst>
                                    <p:cond delay="0"/>
                                  </p:stCondLst>
                                  <p:childTnLst>
                                    <p:animEffect transition="out" filter="blinds(horizontal)">
                                      <p:cBhvr>
                                        <p:cTn id="56" dur="500"/>
                                        <p:tgtEl>
                                          <p:spTgt spid="12"/>
                                        </p:tgtEl>
                                      </p:cBhvr>
                                    </p:animEffect>
                                    <p:set>
                                      <p:cBhvr>
                                        <p:cTn id="57" dur="1" fill="hold">
                                          <p:stCondLst>
                                            <p:cond delay="499"/>
                                          </p:stCondLst>
                                        </p:cTn>
                                        <p:tgtEl>
                                          <p:spTgt spid="12"/>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grpId="0" nodeType="clickEffect">
                                  <p:stCondLst>
                                    <p:cond delay="0"/>
                                  </p:stCondLst>
                                  <p:childTnLst>
                                    <p:animEffect transition="out" filter="blinds(horizontal)">
                                      <p:cBhvr>
                                        <p:cTn id="61" dur="500"/>
                                        <p:tgtEl>
                                          <p:spTgt spid="13"/>
                                        </p:tgtEl>
                                      </p:cBhvr>
                                    </p:animEffect>
                                    <p:set>
                                      <p:cBhvr>
                                        <p:cTn id="62" dur="1" fill="hold">
                                          <p:stCondLst>
                                            <p:cond delay="499"/>
                                          </p:stCondLst>
                                        </p:cTn>
                                        <p:tgtEl>
                                          <p:spTgt spid="13"/>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0" nodeType="clickEffect">
                                  <p:stCondLst>
                                    <p:cond delay="0"/>
                                  </p:stCondLst>
                                  <p:childTnLst>
                                    <p:animEffect transition="out" filter="blinds(horizontal)">
                                      <p:cBhvr>
                                        <p:cTn id="66" dur="500"/>
                                        <p:tgtEl>
                                          <p:spTgt spid="14"/>
                                        </p:tgtEl>
                                      </p:cBhvr>
                                    </p:animEffect>
                                    <p:set>
                                      <p:cBhvr>
                                        <p:cTn id="67" dur="1" fill="hold">
                                          <p:stCondLst>
                                            <p:cond delay="499"/>
                                          </p:stCondLst>
                                        </p:cTn>
                                        <p:tgtEl>
                                          <p:spTgt spid="14"/>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grpId="0" nodeType="clickEffect">
                                  <p:stCondLst>
                                    <p:cond delay="0"/>
                                  </p:stCondLst>
                                  <p:childTnLst>
                                    <p:animEffect transition="out" filter="blinds(horizontal)">
                                      <p:cBhvr>
                                        <p:cTn id="71" dur="500"/>
                                        <p:tgtEl>
                                          <p:spTgt spid="15"/>
                                        </p:tgtEl>
                                      </p:cBhvr>
                                    </p:animEffect>
                                    <p:set>
                                      <p:cBhvr>
                                        <p:cTn id="72" dur="1" fill="hold">
                                          <p:stCondLst>
                                            <p:cond delay="499"/>
                                          </p:stCondLst>
                                        </p:cTn>
                                        <p:tgtEl>
                                          <p:spTgt spid="15"/>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3" presetClass="exit" presetSubtype="10" fill="hold" grpId="0" nodeType="clickEffect">
                                  <p:stCondLst>
                                    <p:cond delay="0"/>
                                  </p:stCondLst>
                                  <p:childTnLst>
                                    <p:animEffect transition="out" filter="blinds(horizontal)">
                                      <p:cBhvr>
                                        <p:cTn id="76" dur="500"/>
                                        <p:tgtEl>
                                          <p:spTgt spid="16"/>
                                        </p:tgtEl>
                                      </p:cBhvr>
                                    </p:animEffect>
                                    <p:set>
                                      <p:cBhvr>
                                        <p:cTn id="77" dur="1" fill="hold">
                                          <p:stCondLst>
                                            <p:cond delay="499"/>
                                          </p:stCondLst>
                                        </p:cTn>
                                        <p:tgtEl>
                                          <p:spTgt spid="16"/>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3" presetClass="exit" presetSubtype="10" fill="hold" grpId="0" nodeType="clickEffect">
                                  <p:stCondLst>
                                    <p:cond delay="0"/>
                                  </p:stCondLst>
                                  <p:childTnLst>
                                    <p:animEffect transition="out" filter="blinds(horizontal)">
                                      <p:cBhvr>
                                        <p:cTn id="81" dur="500"/>
                                        <p:tgtEl>
                                          <p:spTgt spid="17"/>
                                        </p:tgtEl>
                                      </p:cBhvr>
                                    </p:animEffect>
                                    <p:set>
                                      <p:cBhvr>
                                        <p:cTn id="82" dur="1" fill="hold">
                                          <p:stCondLst>
                                            <p:cond delay="499"/>
                                          </p:stCondLst>
                                        </p:cTn>
                                        <p:tgtEl>
                                          <p:spTgt spid="17"/>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xit" presetSubtype="10" fill="hold" grpId="0" nodeType="clickEffect">
                                  <p:stCondLst>
                                    <p:cond delay="0"/>
                                  </p:stCondLst>
                                  <p:childTnLst>
                                    <p:animEffect transition="out" filter="blinds(horizontal)">
                                      <p:cBhvr>
                                        <p:cTn id="86" dur="500"/>
                                        <p:tgtEl>
                                          <p:spTgt spid="18"/>
                                        </p:tgtEl>
                                      </p:cBhvr>
                                    </p:animEffect>
                                    <p:set>
                                      <p:cBhvr>
                                        <p:cTn id="87" dur="1" fill="hold">
                                          <p:stCondLst>
                                            <p:cond delay="499"/>
                                          </p:stCondLst>
                                        </p:cTn>
                                        <p:tgtEl>
                                          <p:spTgt spid="18"/>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3" presetClass="exit" presetSubtype="10" fill="hold" grpId="0" nodeType="clickEffect">
                                  <p:stCondLst>
                                    <p:cond delay="0"/>
                                  </p:stCondLst>
                                  <p:childTnLst>
                                    <p:animEffect transition="out" filter="blinds(horizontal)">
                                      <p:cBhvr>
                                        <p:cTn id="91" dur="500"/>
                                        <p:tgtEl>
                                          <p:spTgt spid="19"/>
                                        </p:tgtEl>
                                      </p:cBhvr>
                                    </p:animEffect>
                                    <p:set>
                                      <p:cBhvr>
                                        <p:cTn id="92" dur="1" fill="hold">
                                          <p:stCondLst>
                                            <p:cond delay="499"/>
                                          </p:stCondLst>
                                        </p:cTn>
                                        <p:tgtEl>
                                          <p:spTgt spid="19"/>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3" presetClass="exit" presetSubtype="10" fill="hold" grpId="0" nodeType="clickEffect">
                                  <p:stCondLst>
                                    <p:cond delay="0"/>
                                  </p:stCondLst>
                                  <p:childTnLst>
                                    <p:animEffect transition="out" filter="blinds(horizontal)">
                                      <p:cBhvr>
                                        <p:cTn id="96" dur="500"/>
                                        <p:tgtEl>
                                          <p:spTgt spid="20"/>
                                        </p:tgtEl>
                                      </p:cBhvr>
                                    </p:animEffect>
                                    <p:set>
                                      <p:cBhvr>
                                        <p:cTn id="97" dur="1" fill="hold">
                                          <p:stCondLst>
                                            <p:cond delay="499"/>
                                          </p:stCondLst>
                                        </p:cTn>
                                        <p:tgtEl>
                                          <p:spTgt spid="20"/>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3" presetClass="exit" presetSubtype="10" fill="hold" grpId="0" nodeType="clickEffect">
                                  <p:stCondLst>
                                    <p:cond delay="0"/>
                                  </p:stCondLst>
                                  <p:childTnLst>
                                    <p:animEffect transition="out" filter="blinds(horizontal)">
                                      <p:cBhvr>
                                        <p:cTn id="101" dur="500"/>
                                        <p:tgtEl>
                                          <p:spTgt spid="21"/>
                                        </p:tgtEl>
                                      </p:cBhvr>
                                    </p:animEffect>
                                    <p:set>
                                      <p:cBhvr>
                                        <p:cTn id="102" dur="1" fill="hold">
                                          <p:stCondLst>
                                            <p:cond delay="499"/>
                                          </p:stCondLst>
                                        </p:cTn>
                                        <p:tgtEl>
                                          <p:spTgt spid="2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3" presetClass="exit" presetSubtype="10" fill="hold" grpId="0" nodeType="clickEffect">
                                  <p:stCondLst>
                                    <p:cond delay="0"/>
                                  </p:stCondLst>
                                  <p:childTnLst>
                                    <p:animEffect transition="out" filter="blinds(horizontal)">
                                      <p:cBhvr>
                                        <p:cTn id="106" dur="500"/>
                                        <p:tgtEl>
                                          <p:spTgt spid="22"/>
                                        </p:tgtEl>
                                      </p:cBhvr>
                                    </p:animEffect>
                                    <p:set>
                                      <p:cBhvr>
                                        <p:cTn id="107" dur="1" fill="hold">
                                          <p:stCondLst>
                                            <p:cond delay="499"/>
                                          </p:stCondLst>
                                        </p:cTn>
                                        <p:tgtEl>
                                          <p:spTgt spid="22"/>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3" presetClass="exit" presetSubtype="10" fill="hold" grpId="0" nodeType="clickEffect">
                                  <p:stCondLst>
                                    <p:cond delay="0"/>
                                  </p:stCondLst>
                                  <p:childTnLst>
                                    <p:animEffect transition="out" filter="blinds(horizontal)">
                                      <p:cBhvr>
                                        <p:cTn id="111" dur="500"/>
                                        <p:tgtEl>
                                          <p:spTgt spid="23"/>
                                        </p:tgtEl>
                                      </p:cBhvr>
                                    </p:animEffect>
                                    <p:set>
                                      <p:cBhvr>
                                        <p:cTn id="112" dur="1" fill="hold">
                                          <p:stCondLst>
                                            <p:cond delay="499"/>
                                          </p:stCondLst>
                                        </p:cTn>
                                        <p:tgtEl>
                                          <p:spTgt spid="23"/>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3" presetClass="exit" presetSubtype="10" fill="hold" grpId="0" nodeType="clickEffect">
                                  <p:stCondLst>
                                    <p:cond delay="0"/>
                                  </p:stCondLst>
                                  <p:childTnLst>
                                    <p:animEffect transition="out" filter="blinds(horizontal)">
                                      <p:cBhvr>
                                        <p:cTn id="116" dur="500"/>
                                        <p:tgtEl>
                                          <p:spTgt spid="24"/>
                                        </p:tgtEl>
                                      </p:cBhvr>
                                    </p:animEffect>
                                    <p:set>
                                      <p:cBhvr>
                                        <p:cTn id="117" dur="1" fill="hold">
                                          <p:stCondLst>
                                            <p:cond delay="499"/>
                                          </p:stCondLst>
                                        </p:cTn>
                                        <p:tgtEl>
                                          <p:spTgt spid="24"/>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3" presetClass="exit" presetSubtype="10" fill="hold" grpId="0" nodeType="clickEffect">
                                  <p:stCondLst>
                                    <p:cond delay="0"/>
                                  </p:stCondLst>
                                  <p:childTnLst>
                                    <p:animEffect transition="out" filter="blinds(horizontal)">
                                      <p:cBhvr>
                                        <p:cTn id="121" dur="500"/>
                                        <p:tgtEl>
                                          <p:spTgt spid="25"/>
                                        </p:tgtEl>
                                      </p:cBhvr>
                                    </p:animEffect>
                                    <p:set>
                                      <p:cBhvr>
                                        <p:cTn id="122" dur="1" fill="hold">
                                          <p:stCondLst>
                                            <p:cond delay="499"/>
                                          </p:stCondLst>
                                        </p:cTn>
                                        <p:tgtEl>
                                          <p:spTgt spid="25"/>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3" presetClass="exit" presetSubtype="10" fill="hold" grpId="0" nodeType="clickEffect">
                                  <p:stCondLst>
                                    <p:cond delay="0"/>
                                  </p:stCondLst>
                                  <p:childTnLst>
                                    <p:animEffect transition="out" filter="blinds(horizontal)">
                                      <p:cBhvr>
                                        <p:cTn id="126" dur="500"/>
                                        <p:tgtEl>
                                          <p:spTgt spid="26"/>
                                        </p:tgtEl>
                                      </p:cBhvr>
                                    </p:animEffect>
                                    <p:set>
                                      <p:cBhvr>
                                        <p:cTn id="127" dur="1" fill="hold">
                                          <p:stCondLst>
                                            <p:cond delay="4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23b</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lnSpc>
                <a:spcPct val="150000"/>
              </a:lnSpc>
              <a:spcBef>
                <a:spcPts val="0"/>
              </a:spcBef>
              <a:buNone/>
            </a:pPr>
            <a:r>
              <a:rPr lang="en-US" altLang="zh-CN" sz="3000" dirty="0">
                <a:sym typeface="Wingdings" pitchFamily="2" charset="2"/>
              </a:rPr>
              <a:t>3. </a:t>
            </a:r>
            <a:r>
              <a:rPr lang="zh-CN" altLang="en-US" sz="2800" dirty="0"/>
              <a:t>（</a:t>
            </a:r>
            <a:r>
              <a:rPr lang="en-US" altLang="zh-CN" sz="2800" dirty="0"/>
              <a:t>1</a:t>
            </a:r>
            <a:r>
              <a:rPr lang="zh-CN" altLang="en-US" sz="2800" dirty="0"/>
              <a:t>） 错误。因为强、弱电解质的浓度未知。</a:t>
            </a:r>
            <a:endParaRPr lang="en-US" altLang="zh-CN" sz="2800" dirty="0"/>
          </a:p>
          <a:p>
            <a:pPr>
              <a:lnSpc>
                <a:spcPct val="150000"/>
              </a:lnSpc>
              <a:spcBef>
                <a:spcPts val="0"/>
              </a:spcBef>
              <a:buNone/>
            </a:pPr>
            <a:r>
              <a:rPr lang="en-US" altLang="zh-CN" sz="2800" dirty="0"/>
              <a:t>	</a:t>
            </a:r>
            <a:r>
              <a:rPr lang="zh-CN" altLang="en-US" sz="2800" dirty="0"/>
              <a:t>（</a:t>
            </a:r>
            <a:r>
              <a:rPr lang="en-US" altLang="zh-CN" sz="2800" dirty="0"/>
              <a:t>2</a:t>
            </a:r>
            <a:r>
              <a:rPr lang="zh-CN" altLang="en-US" sz="2800" dirty="0"/>
              <a:t>） 错误。应该一样多，因为两者中氢离子的物质的量一样多，所以消耗的氢氧化钠也一样多。</a:t>
            </a:r>
            <a:endParaRPr lang="en-US" altLang="zh-CN" sz="2800" dirty="0"/>
          </a:p>
          <a:p>
            <a:pPr>
              <a:lnSpc>
                <a:spcPct val="150000"/>
              </a:lnSpc>
              <a:spcBef>
                <a:spcPts val="0"/>
              </a:spcBef>
              <a:buNone/>
            </a:pPr>
            <a:r>
              <a:rPr lang="en-US" altLang="zh-CN" sz="2800" dirty="0"/>
              <a:t>	</a:t>
            </a:r>
            <a:r>
              <a:rPr lang="zh-CN" altLang="en-US" sz="2800" dirty="0"/>
              <a:t>（</a:t>
            </a:r>
            <a:r>
              <a:rPr lang="en-US" altLang="zh-CN" sz="2800" dirty="0"/>
              <a:t>3</a:t>
            </a:r>
            <a:r>
              <a:rPr lang="zh-CN" altLang="en-US" sz="2800" dirty="0"/>
              <a:t>） 错误。磷酸钠是强电解质，完全电离，而磷酸是弱电解质，因此电离出的</a:t>
            </a:r>
            <a:r>
              <a:rPr lang="en-US" altLang="zh-CN" sz="2800" dirty="0"/>
              <a:t>PO</a:t>
            </a:r>
            <a:r>
              <a:rPr lang="en-US" altLang="zh-CN" sz="2800" baseline="-25000" dirty="0"/>
              <a:t>4</a:t>
            </a:r>
            <a:r>
              <a:rPr lang="en-US" altLang="zh-CN" sz="2800" baseline="30000" dirty="0"/>
              <a:t>3-</a:t>
            </a:r>
            <a:r>
              <a:rPr lang="en-US" altLang="zh-CN" sz="2800" dirty="0"/>
              <a:t> </a:t>
            </a:r>
            <a:r>
              <a:rPr lang="zh-CN" altLang="en-US" sz="2800" dirty="0"/>
              <a:t>较少。</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23b</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en-US" altLang="zh-CN" sz="3000" dirty="0">
                <a:sym typeface="Wingdings" pitchFamily="2" charset="2"/>
              </a:rPr>
              <a:t>4. A 0.1L x 0.01M = 0.01L x 0.1M </a:t>
            </a:r>
            <a:r>
              <a:rPr lang="zh-CN" altLang="en-US" sz="3000" dirty="0">
                <a:sym typeface="Wingdings" pitchFamily="2" charset="2"/>
              </a:rPr>
              <a:t>所需的</a:t>
            </a:r>
            <a:r>
              <a:rPr lang="en-US" altLang="zh-CN" sz="3000" dirty="0" err="1">
                <a:sym typeface="Wingdings" pitchFamily="2" charset="2"/>
              </a:rPr>
              <a:t>NaOH</a:t>
            </a:r>
            <a:r>
              <a:rPr lang="zh-CN" altLang="en-US" sz="3000" dirty="0">
                <a:sym typeface="Wingdings" pitchFamily="2" charset="2"/>
              </a:rPr>
              <a:t>量相同</a:t>
            </a:r>
            <a:endParaRPr lang="en-US" altLang="zh-CN" sz="3000" dirty="0">
              <a:sym typeface="Wingdings" pitchFamily="2" charset="2"/>
            </a:endParaRPr>
          </a:p>
          <a:p>
            <a:pPr>
              <a:spcBef>
                <a:spcPts val="0"/>
              </a:spcBef>
              <a:buNone/>
            </a:pPr>
            <a:r>
              <a:rPr lang="en-US" altLang="zh-CN" sz="3000" dirty="0">
                <a:sym typeface="Wingdings" pitchFamily="2" charset="2"/>
              </a:rPr>
              <a:t>	B </a:t>
            </a:r>
            <a:r>
              <a:rPr lang="zh-CN" altLang="en-US" sz="3000" dirty="0">
                <a:sym typeface="Wingdings" pitchFamily="2" charset="2"/>
              </a:rPr>
              <a:t>稀溶液的电离度较大</a:t>
            </a:r>
            <a:endParaRPr lang="en-US" altLang="zh-CN" sz="3000" dirty="0">
              <a:sym typeface="Wingdings" pitchFamily="2" charset="2"/>
            </a:endParaRPr>
          </a:p>
          <a:p>
            <a:pPr>
              <a:spcBef>
                <a:spcPts val="0"/>
              </a:spcBef>
              <a:buNone/>
            </a:pPr>
            <a:r>
              <a:rPr lang="en-US" altLang="zh-CN" sz="3000" dirty="0">
                <a:sym typeface="Wingdings" pitchFamily="2" charset="2"/>
              </a:rPr>
              <a:t>	C n(</a:t>
            </a:r>
            <a:r>
              <a:rPr lang="zh-CN" altLang="en-US" sz="3000" dirty="0">
                <a:sym typeface="Wingdings" pitchFamily="2" charset="2"/>
              </a:rPr>
              <a:t>醋酸</a:t>
            </a:r>
            <a:r>
              <a:rPr lang="en-US" altLang="zh-CN" sz="3000" dirty="0">
                <a:sym typeface="Wingdings" pitchFamily="2" charset="2"/>
              </a:rPr>
              <a:t>)</a:t>
            </a:r>
            <a:r>
              <a:rPr lang="zh-CN" altLang="en-US" sz="3000" dirty="0">
                <a:sym typeface="Wingdings" pitchFamily="2" charset="2"/>
              </a:rPr>
              <a:t>相同，稀溶液的电离度较大，稀溶液电离出的</a:t>
            </a:r>
            <a:r>
              <a:rPr lang="en-US" altLang="zh-CN" sz="3000" dirty="0">
                <a:sym typeface="Wingdings" pitchFamily="2" charset="2"/>
              </a:rPr>
              <a:t>n(H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也越多</a:t>
            </a:r>
            <a:endParaRPr lang="en-US" altLang="zh-CN" sz="3000" dirty="0">
              <a:sym typeface="Wingdings" pitchFamily="2" charset="2"/>
            </a:endParaRPr>
          </a:p>
          <a:p>
            <a:pPr>
              <a:spcBef>
                <a:spcPts val="0"/>
              </a:spcBef>
              <a:buNone/>
            </a:pPr>
            <a:r>
              <a:rPr lang="en-US" altLang="zh-CN" sz="3000" dirty="0">
                <a:sym typeface="Wingdings" pitchFamily="2" charset="2"/>
              </a:rPr>
              <a:t>	D </a:t>
            </a:r>
            <a:r>
              <a:rPr lang="zh-CN" altLang="en-US" sz="3000" dirty="0">
                <a:sym typeface="Wingdings" pitchFamily="2" charset="2"/>
              </a:rPr>
              <a:t>温度相同，</a:t>
            </a:r>
            <a:r>
              <a:rPr lang="en-US" altLang="zh-CN" sz="3000" dirty="0">
                <a:sym typeface="Wingdings" pitchFamily="2" charset="2"/>
              </a:rPr>
              <a:t>K</a:t>
            </a:r>
            <a:r>
              <a:rPr lang="zh-CN" altLang="en-US" sz="3000" dirty="0">
                <a:sym typeface="Wingdings" pitchFamily="2" charset="2"/>
              </a:rPr>
              <a:t>相同</a:t>
            </a:r>
            <a:endParaRPr lang="en-US" altLang="zh-CN" sz="3000" dirty="0">
              <a:sym typeface="Wingdings" pitchFamily="2" charset="2"/>
            </a:endParaRPr>
          </a:p>
          <a:p>
            <a:pPr>
              <a:spcBef>
                <a:spcPts val="0"/>
              </a:spcBef>
              <a:buNone/>
            </a:pPr>
            <a:r>
              <a:rPr lang="en-US" altLang="zh-CN" sz="3000" dirty="0" err="1">
                <a:sym typeface="Wingdings" pitchFamily="2" charset="2"/>
              </a:rPr>
              <a:t>Ans</a:t>
            </a:r>
            <a:r>
              <a:rPr lang="zh-CN" altLang="en-US" sz="3000" dirty="0">
                <a:sym typeface="Wingdings" pitchFamily="2" charset="2"/>
              </a:rPr>
              <a:t>：</a:t>
            </a:r>
            <a:r>
              <a:rPr lang="en-US" altLang="zh-CN" sz="3000" dirty="0">
                <a:sym typeface="Wingdings" pitchFamily="2" charset="2"/>
              </a:rPr>
              <a:t>B</a:t>
            </a:r>
            <a:r>
              <a:rPr lang="zh-CN" altLang="en-US" sz="3000" dirty="0">
                <a:sym typeface="Wingdings" pitchFamily="2" charset="2"/>
              </a:rPr>
              <a:t>、</a:t>
            </a:r>
            <a:r>
              <a:rPr lang="en-US" altLang="zh-CN" sz="3000" dirty="0">
                <a:sym typeface="Wingdings" pitchFamily="2" charset="2"/>
              </a:rPr>
              <a:t>C</a:t>
            </a: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5. BC </a:t>
            </a:r>
            <a:r>
              <a:rPr lang="zh-CN" altLang="en-US" sz="3000" dirty="0">
                <a:sym typeface="Wingdings" pitchFamily="2" charset="2"/>
              </a:rPr>
              <a:t>电离平衡常数与浓度无关</a:t>
            </a:r>
            <a:endParaRPr lang="en-US" altLang="zh-CN" sz="3000" dirty="0">
              <a:sym typeface="Wingdings" pitchFamily="2" charset="2"/>
            </a:endParaRPr>
          </a:p>
          <a:p>
            <a:pPr>
              <a:spcBef>
                <a:spcPts val="0"/>
              </a:spcBef>
              <a:buNone/>
            </a:pPr>
            <a:r>
              <a:rPr lang="en-US" altLang="zh-CN" sz="3000" dirty="0">
                <a:sym typeface="Wingdings" pitchFamily="2" charset="2"/>
              </a:rPr>
              <a:t>	D K</a:t>
            </a:r>
            <a:r>
              <a:rPr lang="en-US" altLang="zh-CN" sz="3000" baseline="-25000" dirty="0">
                <a:sym typeface="Wingdings" pitchFamily="2" charset="2"/>
              </a:rPr>
              <a:t>a1</a:t>
            </a:r>
            <a:r>
              <a:rPr lang="en-US" altLang="zh-CN" sz="3000" dirty="0">
                <a:sym typeface="Wingdings" pitchFamily="2" charset="2"/>
              </a:rPr>
              <a:t> &gt; K</a:t>
            </a:r>
            <a:r>
              <a:rPr lang="en-US" altLang="zh-CN" sz="3000" baseline="-25000" dirty="0">
                <a:sym typeface="Wingdings" pitchFamily="2" charset="2"/>
              </a:rPr>
              <a:t>a2</a:t>
            </a:r>
            <a:r>
              <a:rPr lang="en-US" altLang="zh-CN" sz="3000" dirty="0">
                <a:sym typeface="Wingdings" pitchFamily="2" charset="2"/>
              </a:rPr>
              <a:t> &gt; K</a:t>
            </a:r>
            <a:r>
              <a:rPr lang="en-US" altLang="zh-CN" sz="3000" baseline="-25000" dirty="0">
                <a:sym typeface="Wingdings" pitchFamily="2" charset="2"/>
              </a:rPr>
              <a:t>a3 </a:t>
            </a:r>
            <a:endParaRPr lang="en-US" altLang="zh-CN" sz="3000" dirty="0">
              <a:sym typeface="Wingdings" pitchFamily="2" charset="2"/>
            </a:endParaRPr>
          </a:p>
          <a:p>
            <a:pPr>
              <a:spcBef>
                <a:spcPts val="0"/>
              </a:spcBef>
              <a:buNone/>
            </a:pPr>
            <a:r>
              <a:rPr lang="en-US" altLang="zh-CN" sz="3000" dirty="0" err="1">
                <a:sym typeface="Wingdings" pitchFamily="2" charset="2"/>
              </a:rPr>
              <a:t>Ans</a:t>
            </a:r>
            <a:r>
              <a:rPr lang="zh-CN" altLang="en-US" sz="3000" dirty="0">
                <a:sym typeface="Wingdings" pitchFamily="2" charset="2"/>
              </a:rPr>
              <a:t>：</a:t>
            </a:r>
            <a:r>
              <a:rPr lang="en-US" altLang="zh-CN" sz="3000" dirty="0">
                <a:sym typeface="Wingdings" pitchFamily="2" charset="2"/>
              </a:rPr>
              <a:t>A</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23.2.3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电离常数的计算</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b="1" dirty="0">
                <a:solidFill>
                  <a:srgbClr val="7030A0"/>
                </a:solidFill>
                <a:sym typeface="Wingdings" pitchFamily="2" charset="2"/>
              </a:rPr>
              <a:t>起始浓度</a:t>
            </a:r>
            <a:r>
              <a:rPr lang="en-US" altLang="zh-CN" sz="3000" b="1" dirty="0">
                <a:solidFill>
                  <a:srgbClr val="7030A0"/>
                </a:solidFill>
                <a:sym typeface="Wingdings" pitchFamily="2" charset="2"/>
              </a:rPr>
              <a:t>c molL</a:t>
            </a:r>
            <a:r>
              <a:rPr lang="en-US" altLang="zh-CN" sz="3000" b="1" baseline="30000" dirty="0">
                <a:solidFill>
                  <a:srgbClr val="7030A0"/>
                </a:solidFill>
                <a:sym typeface="Wingdings" pitchFamily="2" charset="2"/>
              </a:rPr>
              <a:t>-1</a:t>
            </a:r>
            <a:r>
              <a:rPr lang="en-US" altLang="zh-CN" sz="3000" b="1" dirty="0">
                <a:solidFill>
                  <a:srgbClr val="7030A0"/>
                </a:solidFill>
                <a:sym typeface="Wingdings" pitchFamily="2" charset="2"/>
              </a:rPr>
              <a:t> </a:t>
            </a:r>
            <a:r>
              <a:rPr lang="zh-CN" altLang="en-US" sz="3000" dirty="0">
                <a:sym typeface="Wingdings" pitchFamily="2" charset="2"/>
              </a:rPr>
              <a:t>，</a:t>
            </a:r>
            <a:r>
              <a:rPr lang="zh-CN" altLang="en-US" sz="3000" b="1" dirty="0">
                <a:solidFill>
                  <a:srgbClr val="7030A0"/>
                </a:solidFill>
                <a:sym typeface="Wingdings" pitchFamily="2" charset="2"/>
              </a:rPr>
              <a:t>电离度</a:t>
            </a:r>
            <a:r>
              <a:rPr lang="el-GR" altLang="zh-CN" sz="3000" b="1" dirty="0">
                <a:solidFill>
                  <a:srgbClr val="7030A0"/>
                </a:solidFill>
                <a:sym typeface="Wingdings" pitchFamily="2" charset="2"/>
              </a:rPr>
              <a:t>α</a:t>
            </a:r>
            <a:endParaRPr lang="en-US" altLang="zh-CN" sz="3000" b="1" dirty="0">
              <a:solidFill>
                <a:srgbClr val="7030A0"/>
              </a:solidFill>
              <a:sym typeface="Wingdings" pitchFamily="2" charset="2"/>
            </a:endParaRPr>
          </a:p>
          <a:p>
            <a:pPr>
              <a:spcBef>
                <a:spcPts val="0"/>
              </a:spcBef>
              <a:spcAft>
                <a:spcPts val="1200"/>
              </a:spcAft>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 COOH(</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CH</a:t>
            </a:r>
            <a:r>
              <a:rPr lang="en-US" altLang="zh-CN" sz="3000" baseline="-25000" dirty="0">
                <a:sym typeface="Wingdings" pitchFamily="2" charset="2"/>
              </a:rPr>
              <a:t>3</a:t>
            </a:r>
            <a:r>
              <a:rPr lang="en-US" altLang="zh-CN" sz="3000" dirty="0">
                <a:sym typeface="Wingdings" pitchFamily="2" charset="2"/>
              </a:rPr>
              <a:t> COO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marL="0" indent="0">
              <a:buNone/>
            </a:pPr>
            <a:r>
              <a:rPr lang="en-US" altLang="zh-CN" sz="3000" dirty="0"/>
              <a:t>[</a:t>
            </a:r>
            <a:r>
              <a:rPr lang="zh-CN" altLang="en-US" sz="3000" dirty="0"/>
              <a:t>开始</a:t>
            </a:r>
            <a:r>
              <a:rPr lang="en-US" altLang="zh-CN" sz="3000" dirty="0"/>
              <a:t>](mol/L)</a:t>
            </a:r>
            <a:r>
              <a:rPr lang="zh-CN" altLang="en-US" sz="3000" dirty="0"/>
              <a:t>   </a:t>
            </a:r>
            <a:r>
              <a:rPr lang="en-US" altLang="zh-CN" sz="3000" dirty="0"/>
              <a:t>c			0		0 	   </a:t>
            </a:r>
          </a:p>
          <a:p>
            <a:pPr>
              <a:buNone/>
            </a:pPr>
            <a:r>
              <a:rPr lang="en-US" altLang="zh-CN" sz="3000" dirty="0"/>
              <a:t>[</a:t>
            </a:r>
            <a:r>
              <a:rPr lang="zh-CN" altLang="en-US" sz="3000" dirty="0"/>
              <a:t>转化</a:t>
            </a:r>
            <a:r>
              <a:rPr lang="en-US" altLang="zh-CN" sz="3000" dirty="0"/>
              <a:t>](mol/L)</a:t>
            </a:r>
            <a:r>
              <a:rPr lang="zh-CN" altLang="en-US" sz="3000" dirty="0"/>
              <a:t>   </a:t>
            </a:r>
            <a:r>
              <a:rPr lang="en-US" altLang="zh-CN" sz="3000" dirty="0"/>
              <a:t>c</a:t>
            </a:r>
            <a:r>
              <a:rPr lang="el-GR" altLang="zh-CN" sz="3000" dirty="0">
                <a:sym typeface="Wingdings" pitchFamily="2" charset="2"/>
              </a:rPr>
              <a:t> α </a:t>
            </a:r>
            <a:r>
              <a:rPr lang="en-US" altLang="zh-CN" sz="3000" dirty="0"/>
              <a:t>		 c</a:t>
            </a:r>
            <a:r>
              <a:rPr lang="el-GR" altLang="zh-CN" sz="3000" dirty="0">
                <a:sym typeface="Wingdings" pitchFamily="2" charset="2"/>
              </a:rPr>
              <a:t> α </a:t>
            </a:r>
            <a:r>
              <a:rPr lang="en-US" altLang="zh-CN" sz="3000" dirty="0"/>
              <a:t>		 c</a:t>
            </a:r>
            <a:r>
              <a:rPr lang="el-GR" altLang="zh-CN" sz="3000" dirty="0">
                <a:sym typeface="Wingdings" pitchFamily="2" charset="2"/>
              </a:rPr>
              <a:t> α </a:t>
            </a:r>
            <a:endParaRPr lang="en-US" altLang="zh-CN" sz="3000" dirty="0"/>
          </a:p>
          <a:p>
            <a:pPr>
              <a:buNone/>
            </a:pPr>
            <a:r>
              <a:rPr lang="en-US" altLang="zh-CN" sz="3000" dirty="0"/>
              <a:t>[</a:t>
            </a:r>
            <a:r>
              <a:rPr lang="zh-CN" altLang="en-US" sz="3000" dirty="0"/>
              <a:t>平衡</a:t>
            </a:r>
            <a:r>
              <a:rPr lang="en-US" altLang="zh-CN" sz="3000" dirty="0"/>
              <a:t>](mol/L)   c(1-</a:t>
            </a:r>
            <a:r>
              <a:rPr lang="el-GR" altLang="zh-CN" sz="3000" dirty="0">
                <a:sym typeface="Wingdings" pitchFamily="2" charset="2"/>
              </a:rPr>
              <a:t>α</a:t>
            </a:r>
            <a:r>
              <a:rPr lang="en-US" altLang="zh-CN" sz="3000" dirty="0">
                <a:sym typeface="Wingdings" pitchFamily="2" charset="2"/>
              </a:rPr>
              <a:t>)</a:t>
            </a:r>
            <a:r>
              <a:rPr lang="el-GR" altLang="zh-CN" sz="3000" dirty="0">
                <a:sym typeface="Wingdings" pitchFamily="2" charset="2"/>
              </a:rPr>
              <a:t> </a:t>
            </a:r>
            <a:r>
              <a:rPr lang="en-US" altLang="zh-CN" sz="3000" dirty="0"/>
              <a:t>		 c</a:t>
            </a:r>
            <a:r>
              <a:rPr lang="el-GR" altLang="zh-CN" sz="3000" dirty="0">
                <a:sym typeface="Wingdings" pitchFamily="2" charset="2"/>
              </a:rPr>
              <a:t> α </a:t>
            </a:r>
            <a:r>
              <a:rPr lang="en-US" altLang="zh-CN" sz="3000" dirty="0"/>
              <a:t>		 c</a:t>
            </a:r>
            <a:r>
              <a:rPr lang="el-GR" altLang="zh-CN" sz="3000" dirty="0">
                <a:sym typeface="Wingdings" pitchFamily="2" charset="2"/>
              </a:rPr>
              <a:t> α </a:t>
            </a:r>
            <a:endParaRPr lang="en-US" altLang="zh-CN" sz="3000" dirty="0">
              <a:sym typeface="Wingdings" pitchFamily="2" charset="2"/>
            </a:endParaRPr>
          </a:p>
          <a:p>
            <a:pPr>
              <a:buNone/>
            </a:pPr>
            <a:endParaRPr lang="en-US" altLang="zh-CN" sz="3000" dirty="0">
              <a:sym typeface="Wingdings" pitchFamily="2" charset="2"/>
            </a:endParaRPr>
          </a:p>
          <a:p>
            <a:pPr>
              <a:buNone/>
            </a:pPr>
            <a:r>
              <a:rPr lang="en-US" altLang="zh-CN" sz="3000" dirty="0">
                <a:sym typeface="Wingdings" pitchFamily="2" charset="2"/>
              </a:rPr>
              <a:t>			                           =			=</a:t>
            </a:r>
          </a:p>
          <a:p>
            <a:pPr>
              <a:buNone/>
            </a:pPr>
            <a:endParaRPr lang="en-US" altLang="zh-CN" sz="3000" dirty="0"/>
          </a:p>
          <a:p>
            <a:pPr>
              <a:spcBef>
                <a:spcPts val="0"/>
              </a:spcBef>
              <a:buFont typeface="Wingdings" pitchFamily="2" charset="2"/>
              <a:buChar char="Ø"/>
            </a:pPr>
            <a:r>
              <a:rPr lang="en-US" altLang="zh-CN" sz="3000" dirty="0">
                <a:sym typeface="Wingdings" pitchFamily="2" charset="2"/>
              </a:rPr>
              <a:t> </a:t>
            </a:r>
            <a:r>
              <a:rPr lang="zh-CN" altLang="en-US" sz="3000" b="1" dirty="0">
                <a:solidFill>
                  <a:srgbClr val="002060"/>
                </a:solidFill>
                <a:effectLst>
                  <a:outerShdw blurRad="38100" dist="38100" dir="2700000" algn="tl">
                    <a:srgbClr val="000000">
                      <a:alpha val="43137"/>
                    </a:srgbClr>
                  </a:outerShdw>
                </a:effectLst>
                <a:sym typeface="Wingdings" pitchFamily="2" charset="2"/>
              </a:rPr>
              <a:t>当</a:t>
            </a:r>
            <a:r>
              <a:rPr lang="en-US" altLang="zh-CN" sz="3000" b="1" dirty="0">
                <a:solidFill>
                  <a:srgbClr val="002060"/>
                </a:solidFill>
                <a:effectLst>
                  <a:outerShdw blurRad="38100" dist="38100" dir="2700000" algn="tl">
                    <a:srgbClr val="000000">
                      <a:alpha val="43137"/>
                    </a:srgbClr>
                  </a:outerShdw>
                </a:effectLst>
                <a:sym typeface="Wingdings" pitchFamily="2" charset="2"/>
              </a:rPr>
              <a:t>K</a:t>
            </a:r>
            <a:r>
              <a:rPr lang="en-US" altLang="zh-CN" sz="3000" b="1" baseline="-25000" dirty="0">
                <a:solidFill>
                  <a:srgbClr val="002060"/>
                </a:solidFill>
                <a:effectLst>
                  <a:outerShdw blurRad="38100" dist="38100" dir="2700000" algn="tl">
                    <a:srgbClr val="000000">
                      <a:alpha val="43137"/>
                    </a:srgbClr>
                  </a:outerShdw>
                </a:effectLst>
                <a:sym typeface="Wingdings" pitchFamily="2" charset="2"/>
              </a:rPr>
              <a:t>a</a:t>
            </a:r>
            <a:r>
              <a:rPr lang="en-US" altLang="zh-CN" sz="3000" b="1" dirty="0">
                <a:solidFill>
                  <a:srgbClr val="002060"/>
                </a:solidFill>
                <a:effectLst>
                  <a:outerShdw blurRad="38100" dist="38100" dir="2700000" algn="tl">
                    <a:srgbClr val="000000">
                      <a:alpha val="43137"/>
                    </a:srgbClr>
                  </a:outerShdw>
                </a:effectLst>
                <a:sym typeface="Wingdings" pitchFamily="2" charset="2"/>
              </a:rPr>
              <a:t> </a:t>
            </a:r>
            <a:r>
              <a:rPr lang="zh-CN" altLang="en-US" sz="3000" b="1" dirty="0">
                <a:solidFill>
                  <a:srgbClr val="002060"/>
                </a:solidFill>
                <a:effectLst>
                  <a:outerShdw blurRad="38100" dist="38100" dir="2700000" algn="tl">
                    <a:srgbClr val="000000">
                      <a:alpha val="43137"/>
                    </a:srgbClr>
                  </a:outerShdw>
                </a:effectLst>
                <a:sym typeface="Wingdings" pitchFamily="2" charset="2"/>
              </a:rPr>
              <a:t>或 </a:t>
            </a:r>
            <a:r>
              <a:rPr lang="en-US" altLang="zh-CN" sz="3000" b="1" dirty="0">
                <a:solidFill>
                  <a:srgbClr val="002060"/>
                </a:solidFill>
                <a:effectLst>
                  <a:outerShdw blurRad="38100" dist="38100" dir="2700000" algn="tl">
                    <a:srgbClr val="000000">
                      <a:alpha val="43137"/>
                    </a:srgbClr>
                  </a:outerShdw>
                </a:effectLst>
                <a:sym typeface="Wingdings" pitchFamily="2" charset="2"/>
              </a:rPr>
              <a:t>K</a:t>
            </a:r>
            <a:r>
              <a:rPr lang="en-US" altLang="zh-CN" sz="3000" b="1" baseline="-25000" dirty="0">
                <a:solidFill>
                  <a:srgbClr val="002060"/>
                </a:solidFill>
                <a:effectLst>
                  <a:outerShdw blurRad="38100" dist="38100" dir="2700000" algn="tl">
                    <a:srgbClr val="000000">
                      <a:alpha val="43137"/>
                    </a:srgbClr>
                  </a:outerShdw>
                </a:effectLst>
                <a:sym typeface="Wingdings" pitchFamily="2" charset="2"/>
              </a:rPr>
              <a:t>b</a:t>
            </a:r>
            <a:r>
              <a:rPr lang="en-US" altLang="zh-CN" sz="3000" b="1" dirty="0">
                <a:solidFill>
                  <a:srgbClr val="002060"/>
                </a:solidFill>
                <a:effectLst>
                  <a:outerShdw blurRad="38100" dist="38100" dir="2700000" algn="tl">
                    <a:srgbClr val="000000">
                      <a:alpha val="43137"/>
                    </a:srgbClr>
                  </a:outerShdw>
                </a:effectLst>
                <a:sym typeface="Wingdings" pitchFamily="2" charset="2"/>
              </a:rPr>
              <a:t> </a:t>
            </a:r>
            <a:r>
              <a:rPr lang="en-US" altLang="zh-CN" sz="3000" b="1" dirty="0">
                <a:solidFill>
                  <a:srgbClr val="C00000"/>
                </a:solidFill>
                <a:effectLst>
                  <a:outerShdw blurRad="38100" dist="38100" dir="2700000" algn="tl">
                    <a:srgbClr val="000000">
                      <a:alpha val="43137"/>
                    </a:srgbClr>
                  </a:outerShdw>
                </a:effectLst>
                <a:sym typeface="Wingdings" pitchFamily="2" charset="2"/>
              </a:rPr>
              <a:t>&lt; 10</a:t>
            </a:r>
            <a:r>
              <a:rPr lang="en-US" altLang="zh-CN" sz="3000" b="1" baseline="30000" dirty="0">
                <a:solidFill>
                  <a:srgbClr val="C00000"/>
                </a:solidFill>
                <a:effectLst>
                  <a:outerShdw blurRad="38100" dist="38100" dir="2700000" algn="tl">
                    <a:srgbClr val="000000">
                      <a:alpha val="43137"/>
                    </a:srgbClr>
                  </a:outerShdw>
                </a:effectLst>
                <a:sym typeface="Wingdings" pitchFamily="2" charset="2"/>
              </a:rPr>
              <a:t>-4</a:t>
            </a:r>
            <a:r>
              <a:rPr lang="en-US" altLang="zh-CN" sz="3000" b="1" dirty="0">
                <a:solidFill>
                  <a:srgbClr val="C00000"/>
                </a:solidFill>
                <a:effectLst>
                  <a:outerShdw blurRad="38100" dist="38100" dir="2700000" algn="tl">
                    <a:srgbClr val="000000">
                      <a:alpha val="43137"/>
                    </a:srgbClr>
                  </a:outerShdw>
                </a:effectLst>
                <a:sym typeface="Wingdings" pitchFamily="2" charset="2"/>
              </a:rPr>
              <a:t> </a:t>
            </a:r>
            <a:r>
              <a:rPr lang="zh-CN" altLang="en-US" sz="3000" b="1" dirty="0">
                <a:solidFill>
                  <a:srgbClr val="002060"/>
                </a:solidFill>
                <a:effectLst>
                  <a:outerShdw blurRad="38100" dist="38100" dir="2700000" algn="tl">
                    <a:srgbClr val="000000">
                      <a:alpha val="43137"/>
                    </a:srgbClr>
                  </a:outerShdw>
                </a:effectLst>
                <a:sym typeface="Wingdings" pitchFamily="2" charset="2"/>
              </a:rPr>
              <a:t>时，</a:t>
            </a:r>
            <a:r>
              <a:rPr lang="el-GR" altLang="zh-CN" sz="3000" b="1" dirty="0">
                <a:solidFill>
                  <a:srgbClr val="002060"/>
                </a:solidFill>
                <a:effectLst>
                  <a:outerShdw blurRad="38100" dist="38100" dir="2700000" algn="tl">
                    <a:srgbClr val="000000">
                      <a:alpha val="43137"/>
                    </a:srgbClr>
                  </a:outerShdw>
                </a:effectLst>
                <a:sym typeface="Wingdings" pitchFamily="2" charset="2"/>
              </a:rPr>
              <a:t> α</a:t>
            </a:r>
            <a:r>
              <a:rPr lang="zh-CN" altLang="en-US" sz="3000" b="1" dirty="0">
                <a:solidFill>
                  <a:srgbClr val="002060"/>
                </a:solidFill>
                <a:effectLst>
                  <a:outerShdw blurRad="38100" dist="38100" dir="2700000" algn="tl">
                    <a:srgbClr val="000000">
                      <a:alpha val="43137"/>
                    </a:srgbClr>
                  </a:outerShdw>
                </a:effectLst>
                <a:sym typeface="Wingdings" pitchFamily="2" charset="2"/>
              </a:rPr>
              <a:t>也很小。</a:t>
            </a:r>
            <a:r>
              <a:rPr lang="en-US" altLang="zh-CN" sz="3000" b="1" dirty="0">
                <a:solidFill>
                  <a:srgbClr val="7030A0"/>
                </a:solidFill>
                <a:effectLst>
                  <a:outerShdw blurRad="38100" dist="38100" dir="2700000" algn="tl">
                    <a:srgbClr val="000000">
                      <a:alpha val="43137"/>
                    </a:srgbClr>
                  </a:outerShdw>
                </a:effectLst>
                <a:sym typeface="Wingdings" pitchFamily="2" charset="2"/>
              </a:rPr>
              <a:t>K</a:t>
            </a:r>
            <a:r>
              <a:rPr lang="en-US" altLang="zh-CN" sz="3000" b="1" baseline="-25000" dirty="0">
                <a:solidFill>
                  <a:srgbClr val="7030A0"/>
                </a:solidFill>
                <a:effectLst>
                  <a:outerShdw blurRad="38100" dist="38100" dir="2700000" algn="tl">
                    <a:srgbClr val="000000">
                      <a:alpha val="43137"/>
                    </a:srgbClr>
                  </a:outerShdw>
                </a:effectLst>
                <a:sym typeface="Wingdings" pitchFamily="2" charset="2"/>
              </a:rPr>
              <a:t>a</a:t>
            </a:r>
            <a:r>
              <a:rPr lang="en-US" altLang="zh-CN" sz="3000" b="1" dirty="0">
                <a:solidFill>
                  <a:srgbClr val="7030A0"/>
                </a:solidFill>
                <a:effectLst>
                  <a:outerShdw blurRad="38100" dist="38100" dir="2700000" algn="tl">
                    <a:srgbClr val="000000">
                      <a:alpha val="43137"/>
                    </a:srgbClr>
                  </a:outerShdw>
                </a:effectLst>
                <a:sym typeface="Wingdings" pitchFamily="2" charset="2"/>
              </a:rPr>
              <a:t> ≈ c</a:t>
            </a:r>
            <a:r>
              <a:rPr lang="el-GR" altLang="zh-CN" sz="3000" b="1" dirty="0">
                <a:solidFill>
                  <a:srgbClr val="7030A0"/>
                </a:solidFill>
                <a:effectLst>
                  <a:outerShdw blurRad="38100" dist="38100" dir="2700000" algn="tl">
                    <a:srgbClr val="000000">
                      <a:alpha val="43137"/>
                    </a:srgbClr>
                  </a:outerShdw>
                </a:effectLst>
                <a:sym typeface="Wingdings" pitchFamily="2" charset="2"/>
              </a:rPr>
              <a:t>α</a:t>
            </a:r>
            <a:r>
              <a:rPr lang="en-US" altLang="zh-CN" sz="3000" b="1" baseline="30000" dirty="0">
                <a:solidFill>
                  <a:srgbClr val="7030A0"/>
                </a:solidFill>
                <a:effectLst>
                  <a:outerShdw blurRad="38100" dist="38100" dir="2700000" algn="tl">
                    <a:srgbClr val="000000">
                      <a:alpha val="43137"/>
                    </a:srgbClr>
                  </a:outerShdw>
                </a:effectLst>
                <a:sym typeface="Wingdings" pitchFamily="2" charset="2"/>
              </a:rPr>
              <a:t>2</a:t>
            </a:r>
            <a:r>
              <a:rPr lang="en-US" altLang="zh-CN" sz="3000" b="1" dirty="0">
                <a:solidFill>
                  <a:srgbClr val="7030A0"/>
                </a:solidFill>
                <a:effectLst>
                  <a:outerShdw blurRad="38100" dist="38100" dir="2700000" algn="tl">
                    <a:srgbClr val="000000">
                      <a:alpha val="43137"/>
                    </a:srgbClr>
                  </a:outerShdw>
                </a:effectLst>
                <a:sym typeface="Wingdings" pitchFamily="2" charset="2"/>
              </a:rPr>
              <a:t> </a:t>
            </a:r>
          </a:p>
        </p:txBody>
      </p:sp>
      <p:grpSp>
        <p:nvGrpSpPr>
          <p:cNvPr id="5" name="Group 3"/>
          <p:cNvGrpSpPr/>
          <p:nvPr/>
        </p:nvGrpSpPr>
        <p:grpSpPr>
          <a:xfrm>
            <a:off x="762000" y="4139625"/>
            <a:ext cx="3995377" cy="1041975"/>
            <a:chOff x="2068535" y="1462086"/>
            <a:chExt cx="3005133" cy="1041975"/>
          </a:xfrm>
        </p:grpSpPr>
        <p:grpSp>
          <p:nvGrpSpPr>
            <p:cNvPr id="6" name="Group 24"/>
            <p:cNvGrpSpPr/>
            <p:nvPr/>
          </p:nvGrpSpPr>
          <p:grpSpPr>
            <a:xfrm>
              <a:off x="2068535" y="1462086"/>
              <a:ext cx="3005133" cy="838200"/>
              <a:chOff x="2068535" y="1462086"/>
              <a:chExt cx="3005133" cy="838200"/>
            </a:xfrm>
          </p:grpSpPr>
          <p:sp>
            <p:nvSpPr>
              <p:cNvPr id="8" name="TextBox 7"/>
              <p:cNvSpPr txBox="1"/>
              <p:nvPr/>
            </p:nvSpPr>
            <p:spPr>
              <a:xfrm>
                <a:off x="2068535" y="1715511"/>
                <a:ext cx="1113770" cy="584775"/>
              </a:xfrm>
              <a:prstGeom prst="rect">
                <a:avLst/>
              </a:prstGeom>
              <a:noFill/>
            </p:spPr>
            <p:txBody>
              <a:bodyPr wrap="square" rtlCol="0">
                <a:spAutoFit/>
              </a:bodyPr>
              <a:lstStyle/>
              <a:p>
                <a:r>
                  <a:rPr lang="en-US" altLang="zh-CN" sz="3200" dirty="0"/>
                  <a:t> K</a:t>
                </a:r>
                <a:r>
                  <a:rPr lang="en-US" altLang="zh-CN" sz="3200" baseline="-25000" dirty="0"/>
                  <a:t>a</a:t>
                </a:r>
                <a:r>
                  <a:rPr lang="en-US" altLang="zh-CN" sz="3200" dirty="0"/>
                  <a:t>   =</a:t>
                </a:r>
                <a:endParaRPr lang="en-US" sz="3200" dirty="0"/>
              </a:p>
            </p:txBody>
          </p:sp>
          <p:cxnSp>
            <p:nvCxnSpPr>
              <p:cNvPr id="9" name="Straight Connector 8"/>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763718" y="1462086"/>
                <a:ext cx="2309950" cy="584775"/>
              </a:xfrm>
              <a:prstGeom prst="rect">
                <a:avLst/>
              </a:prstGeom>
              <a:noFill/>
            </p:spPr>
            <p:txBody>
              <a:bodyPr wrap="square" rtlCol="0">
                <a:spAutoFit/>
              </a:bodyPr>
              <a:lstStyle/>
              <a:p>
                <a:r>
                  <a:rPr lang="en-US" sz="3200" dirty="0"/>
                  <a:t> [H</a:t>
                </a:r>
                <a:r>
                  <a:rPr lang="en-US" sz="3200" baseline="30000" dirty="0"/>
                  <a:t>+</a:t>
                </a:r>
                <a:r>
                  <a:rPr lang="en-US" sz="3200" dirty="0"/>
                  <a:t>] [CH</a:t>
                </a:r>
                <a:r>
                  <a:rPr lang="en-US" sz="3200" baseline="-25000" dirty="0"/>
                  <a:t>3</a:t>
                </a:r>
                <a:r>
                  <a:rPr lang="en-US" sz="3200" dirty="0"/>
                  <a:t>COO</a:t>
                </a:r>
                <a:r>
                  <a:rPr lang="en-US" sz="3200" baseline="30000" dirty="0"/>
                  <a:t>-</a:t>
                </a:r>
                <a:r>
                  <a:rPr lang="en-US" sz="3200" dirty="0"/>
                  <a:t> ]</a:t>
                </a:r>
              </a:p>
            </p:txBody>
          </p:sp>
        </p:grpSp>
        <p:sp>
          <p:nvSpPr>
            <p:cNvPr id="7" name="TextBox 5"/>
            <p:cNvSpPr txBox="1"/>
            <p:nvPr/>
          </p:nvSpPr>
          <p:spPr>
            <a:xfrm>
              <a:off x="2609165" y="1919286"/>
              <a:ext cx="1861860" cy="584775"/>
            </a:xfrm>
            <a:prstGeom prst="rect">
              <a:avLst/>
            </a:prstGeom>
            <a:noFill/>
          </p:spPr>
          <p:txBody>
            <a:bodyPr wrap="square" rtlCol="0">
              <a:spAutoFit/>
            </a:bodyPr>
            <a:lstStyle/>
            <a:p>
              <a:r>
                <a:rPr lang="en-US" altLang="zh-CN" sz="3200" dirty="0"/>
                <a:t>    [</a:t>
              </a:r>
              <a:r>
                <a:rPr lang="en-US" altLang="zh-CN" sz="3200" dirty="0">
                  <a:sym typeface="Wingdings" pitchFamily="2" charset="2"/>
                </a:rPr>
                <a:t>CH</a:t>
              </a:r>
              <a:r>
                <a:rPr lang="en-US" altLang="zh-CN" sz="3200" baseline="-25000" dirty="0">
                  <a:sym typeface="Wingdings" pitchFamily="2" charset="2"/>
                </a:rPr>
                <a:t>3</a:t>
              </a:r>
              <a:r>
                <a:rPr lang="en-US" altLang="zh-CN" sz="3200" dirty="0">
                  <a:sym typeface="Wingdings" pitchFamily="2" charset="2"/>
                </a:rPr>
                <a:t> COOH</a:t>
              </a:r>
              <a:r>
                <a:rPr lang="en-US" altLang="zh-CN" sz="3200" dirty="0"/>
                <a:t>]</a:t>
              </a:r>
              <a:endParaRPr lang="en-US" sz="3200" dirty="0"/>
            </a:p>
          </p:txBody>
        </p:sp>
      </p:grpSp>
      <p:grpSp>
        <p:nvGrpSpPr>
          <p:cNvPr id="11" name="Group 3"/>
          <p:cNvGrpSpPr/>
          <p:nvPr/>
        </p:nvGrpSpPr>
        <p:grpSpPr>
          <a:xfrm>
            <a:off x="4996620" y="4215825"/>
            <a:ext cx="1708980" cy="1041975"/>
            <a:chOff x="3535842" y="1421487"/>
            <a:chExt cx="441713" cy="1041975"/>
          </a:xfrm>
        </p:grpSpPr>
        <p:grpSp>
          <p:nvGrpSpPr>
            <p:cNvPr id="12" name="Group 24"/>
            <p:cNvGrpSpPr/>
            <p:nvPr/>
          </p:nvGrpSpPr>
          <p:grpSpPr>
            <a:xfrm>
              <a:off x="3583655" y="1421487"/>
              <a:ext cx="393900" cy="584775"/>
              <a:chOff x="3583655" y="1421487"/>
              <a:chExt cx="393900" cy="584775"/>
            </a:xfrm>
          </p:grpSpPr>
          <p:cxnSp>
            <p:nvCxnSpPr>
              <p:cNvPr id="14" name="Straight Connector 8"/>
              <p:cNvCxnSpPr/>
              <p:nvPr/>
            </p:nvCxnSpPr>
            <p:spPr>
              <a:xfrm>
                <a:off x="3583655" y="1905000"/>
                <a:ext cx="330878"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611772" y="1421487"/>
                <a:ext cx="365783" cy="584775"/>
              </a:xfrm>
              <a:prstGeom prst="rect">
                <a:avLst/>
              </a:prstGeom>
              <a:noFill/>
            </p:spPr>
            <p:txBody>
              <a:bodyPr wrap="square" rtlCol="0">
                <a:spAutoFit/>
              </a:bodyPr>
              <a:lstStyle/>
              <a:p>
                <a:r>
                  <a:rPr lang="en-US" altLang="zh-CN" sz="3200" dirty="0"/>
                  <a:t>c</a:t>
                </a:r>
                <a:r>
                  <a:rPr lang="en-US" altLang="zh-CN" sz="3200" baseline="30000" dirty="0"/>
                  <a:t>2</a:t>
                </a:r>
                <a:r>
                  <a:rPr lang="el-GR" altLang="zh-CN" sz="3200" dirty="0">
                    <a:sym typeface="Wingdings" pitchFamily="2" charset="2"/>
                  </a:rPr>
                  <a:t> α </a:t>
                </a:r>
                <a:r>
                  <a:rPr lang="en-US" altLang="zh-CN" sz="3200" baseline="30000" dirty="0"/>
                  <a:t>2</a:t>
                </a:r>
                <a:endParaRPr lang="en-US" sz="3200" dirty="0"/>
              </a:p>
            </p:txBody>
          </p:sp>
        </p:grpSp>
        <p:sp>
          <p:nvSpPr>
            <p:cNvPr id="13" name="TextBox 5"/>
            <p:cNvSpPr txBox="1"/>
            <p:nvPr/>
          </p:nvSpPr>
          <p:spPr>
            <a:xfrm>
              <a:off x="3535842" y="1878687"/>
              <a:ext cx="382633" cy="584775"/>
            </a:xfrm>
            <a:prstGeom prst="rect">
              <a:avLst/>
            </a:prstGeom>
            <a:noFill/>
          </p:spPr>
          <p:txBody>
            <a:bodyPr wrap="square" rtlCol="0">
              <a:spAutoFit/>
            </a:bodyPr>
            <a:lstStyle/>
            <a:p>
              <a:r>
                <a:rPr lang="en-US" altLang="zh-CN" sz="3200" dirty="0"/>
                <a:t>  c(1-</a:t>
              </a:r>
              <a:r>
                <a:rPr lang="el-GR" altLang="zh-CN" sz="3200" dirty="0">
                  <a:sym typeface="Wingdings" pitchFamily="2" charset="2"/>
                </a:rPr>
                <a:t> α</a:t>
              </a:r>
              <a:r>
                <a:rPr lang="en-US" altLang="zh-CN" sz="3200" dirty="0">
                  <a:sym typeface="Wingdings" pitchFamily="2" charset="2"/>
                </a:rPr>
                <a:t>)</a:t>
              </a:r>
              <a:endParaRPr lang="en-US" sz="3200" dirty="0"/>
            </a:p>
          </p:txBody>
        </p:sp>
      </p:grpSp>
      <p:grpSp>
        <p:nvGrpSpPr>
          <p:cNvPr id="16" name="Group 3"/>
          <p:cNvGrpSpPr/>
          <p:nvPr/>
        </p:nvGrpSpPr>
        <p:grpSpPr>
          <a:xfrm>
            <a:off x="6977823" y="4191000"/>
            <a:ext cx="1556577" cy="965775"/>
            <a:chOff x="3535842" y="1421487"/>
            <a:chExt cx="402322" cy="965775"/>
          </a:xfrm>
        </p:grpSpPr>
        <p:grpSp>
          <p:nvGrpSpPr>
            <p:cNvPr id="17" name="Group 24"/>
            <p:cNvGrpSpPr/>
            <p:nvPr/>
          </p:nvGrpSpPr>
          <p:grpSpPr>
            <a:xfrm>
              <a:off x="3572381" y="1421487"/>
              <a:ext cx="365783" cy="584775"/>
              <a:chOff x="3572381" y="1421487"/>
              <a:chExt cx="365783" cy="584775"/>
            </a:xfrm>
          </p:grpSpPr>
          <p:cxnSp>
            <p:nvCxnSpPr>
              <p:cNvPr id="19" name="Straight Connector 8"/>
              <p:cNvCxnSpPr/>
              <p:nvPr/>
            </p:nvCxnSpPr>
            <p:spPr>
              <a:xfrm>
                <a:off x="3583655" y="1905000"/>
                <a:ext cx="23634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572381" y="1421487"/>
                <a:ext cx="365783" cy="584775"/>
              </a:xfrm>
              <a:prstGeom prst="rect">
                <a:avLst/>
              </a:prstGeom>
              <a:noFill/>
            </p:spPr>
            <p:txBody>
              <a:bodyPr wrap="square" rtlCol="0">
                <a:spAutoFit/>
              </a:bodyPr>
              <a:lstStyle/>
              <a:p>
                <a:r>
                  <a:rPr lang="en-US" altLang="zh-CN" sz="3200" dirty="0"/>
                  <a:t> c</a:t>
                </a:r>
                <a:r>
                  <a:rPr lang="el-GR" altLang="zh-CN" sz="3200" dirty="0">
                    <a:sym typeface="Wingdings" pitchFamily="2" charset="2"/>
                  </a:rPr>
                  <a:t> α </a:t>
                </a:r>
                <a:r>
                  <a:rPr lang="en-US" altLang="zh-CN" sz="3200" baseline="30000" dirty="0"/>
                  <a:t>2</a:t>
                </a:r>
                <a:endParaRPr lang="en-US" sz="3200" dirty="0"/>
              </a:p>
            </p:txBody>
          </p:sp>
        </p:grpSp>
        <p:sp>
          <p:nvSpPr>
            <p:cNvPr id="18" name="TextBox 5"/>
            <p:cNvSpPr txBox="1"/>
            <p:nvPr/>
          </p:nvSpPr>
          <p:spPr>
            <a:xfrm>
              <a:off x="3535842" y="1802487"/>
              <a:ext cx="382633" cy="584775"/>
            </a:xfrm>
            <a:prstGeom prst="rect">
              <a:avLst/>
            </a:prstGeom>
            <a:noFill/>
          </p:spPr>
          <p:txBody>
            <a:bodyPr wrap="square" rtlCol="0">
              <a:spAutoFit/>
            </a:bodyPr>
            <a:lstStyle/>
            <a:p>
              <a:r>
                <a:rPr lang="en-US" altLang="zh-CN" sz="3200" dirty="0"/>
                <a:t>  1- </a:t>
              </a:r>
              <a:r>
                <a:rPr lang="el-GR" altLang="zh-CN" sz="3200" dirty="0">
                  <a:sym typeface="Wingdings" pitchFamily="2" charset="2"/>
                </a:rPr>
                <a:t>α </a:t>
              </a:r>
              <a:endParaRPr lang="en-US" sz="3200" dirty="0"/>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linds(horizontal)">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blinds(horizontal)">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blinds(horizontal)">
                                      <p:cBhvr>
                                        <p:cTn id="5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23.2.3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电离常数的计算</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600"/>
              </a:spcAft>
              <a:buNone/>
            </a:pPr>
            <a:r>
              <a:rPr lang="zh-CN" altLang="en-US" sz="3000" dirty="0">
                <a:sym typeface="Wingdings" pitchFamily="2" charset="2"/>
              </a:rPr>
              <a:t>例</a:t>
            </a:r>
            <a:r>
              <a:rPr lang="en-US" altLang="zh-CN" sz="3000" dirty="0">
                <a:sym typeface="Wingdings" pitchFamily="2" charset="2"/>
              </a:rPr>
              <a:t>1. </a:t>
            </a:r>
          </a:p>
          <a:p>
            <a:pPr>
              <a:spcBef>
                <a:spcPts val="0"/>
              </a:spcBef>
              <a:spcAft>
                <a:spcPts val="600"/>
              </a:spcAft>
              <a:buNone/>
            </a:pPr>
            <a:r>
              <a:rPr lang="zh-CN" altLang="en-US" sz="3000" dirty="0">
                <a:sym typeface="Wingdings" pitchFamily="2" charset="2"/>
              </a:rPr>
              <a:t>已知：</a:t>
            </a:r>
            <a:r>
              <a:rPr lang="en-US" altLang="zh-CN" sz="3000" dirty="0">
                <a:sym typeface="Wingdings" pitchFamily="2" charset="2"/>
              </a:rPr>
              <a:t>c=0.1M</a:t>
            </a:r>
            <a:r>
              <a:rPr lang="zh-CN" altLang="en-US" sz="3000" dirty="0">
                <a:sym typeface="Wingdings" pitchFamily="2" charset="2"/>
              </a:rPr>
              <a:t>，</a:t>
            </a:r>
            <a:r>
              <a:rPr lang="en-US" altLang="zh-CN" sz="3000" dirty="0">
                <a:sym typeface="Wingdings" pitchFamily="2" charset="2"/>
              </a:rPr>
              <a:t>K</a:t>
            </a:r>
            <a:r>
              <a:rPr lang="en-US" altLang="zh-CN" sz="3000" baseline="-25000" dirty="0">
                <a:sym typeface="Wingdings" pitchFamily="2" charset="2"/>
              </a:rPr>
              <a:t>a</a:t>
            </a:r>
            <a:r>
              <a:rPr lang="en-US" altLang="zh-CN" sz="3000" dirty="0">
                <a:sym typeface="Wingdings" pitchFamily="2" charset="2"/>
              </a:rPr>
              <a:t> = 1.76x10</a:t>
            </a:r>
            <a:r>
              <a:rPr lang="en-US" altLang="zh-CN" sz="3000" baseline="30000" dirty="0">
                <a:sym typeface="Wingdings" pitchFamily="2" charset="2"/>
              </a:rPr>
              <a:t>-5</a:t>
            </a:r>
          </a:p>
          <a:p>
            <a:pPr>
              <a:spcBef>
                <a:spcPts val="0"/>
              </a:spcBef>
              <a:spcAft>
                <a:spcPts val="600"/>
              </a:spcAft>
              <a:buNone/>
            </a:pPr>
            <a:r>
              <a:rPr lang="en-US" altLang="zh-CN" sz="3000" dirty="0">
                <a:sym typeface="Wingdings" pitchFamily="2" charset="2"/>
              </a:rPr>
              <a:t>  </a:t>
            </a:r>
            <a:r>
              <a:rPr lang="zh-CN" altLang="en-US" sz="3000" dirty="0">
                <a:sym typeface="Wingdings" pitchFamily="2" charset="2"/>
              </a:rPr>
              <a:t>求：</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c</a:t>
            </a:r>
            <a:r>
              <a:rPr lang="el-GR" altLang="zh-CN" sz="3000" dirty="0">
                <a:sym typeface="Wingdings" pitchFamily="2" charset="2"/>
              </a:rPr>
              <a:t>α</a:t>
            </a:r>
            <a:endParaRPr lang="en-US" altLang="zh-CN" sz="3000" dirty="0">
              <a:sym typeface="Wingdings" pitchFamily="2" charset="2"/>
            </a:endParaRPr>
          </a:p>
          <a:p>
            <a:pPr>
              <a:spcBef>
                <a:spcPts val="0"/>
              </a:spcBef>
              <a:spcAft>
                <a:spcPts val="600"/>
              </a:spcAft>
              <a:buNone/>
            </a:pPr>
            <a:r>
              <a:rPr lang="en-US" altLang="zh-CN" sz="3000" baseline="30000" dirty="0">
                <a:sym typeface="Wingdings" pitchFamily="2" charset="2"/>
              </a:rPr>
              <a:t> </a:t>
            </a:r>
            <a:r>
              <a:rPr lang="en-US" altLang="zh-CN" sz="3000" dirty="0">
                <a:sym typeface="Wingdings" pitchFamily="2" charset="2"/>
              </a:rPr>
              <a:t>  </a:t>
            </a:r>
            <a:r>
              <a:rPr lang="zh-CN" altLang="en-US" sz="3000" dirty="0">
                <a:sym typeface="Wingdings" pitchFamily="2" charset="2"/>
              </a:rPr>
              <a:t>公式：</a:t>
            </a:r>
            <a:r>
              <a:rPr lang="en-US" altLang="zh-CN" sz="3000" dirty="0">
                <a:sym typeface="Wingdings" pitchFamily="2" charset="2"/>
              </a:rPr>
              <a:t>K</a:t>
            </a:r>
            <a:r>
              <a:rPr lang="en-US" altLang="zh-CN" sz="3000" baseline="-25000" dirty="0">
                <a:sym typeface="Wingdings" pitchFamily="2" charset="2"/>
              </a:rPr>
              <a:t>a</a:t>
            </a:r>
            <a:r>
              <a:rPr lang="en-US" altLang="zh-CN" sz="3000" dirty="0">
                <a:sym typeface="Wingdings" pitchFamily="2" charset="2"/>
              </a:rPr>
              <a:t> = c</a:t>
            </a:r>
            <a:r>
              <a:rPr lang="el-GR" altLang="zh-CN" sz="3000" dirty="0">
                <a:sym typeface="Wingdings" pitchFamily="2" charset="2"/>
              </a:rPr>
              <a:t>α</a:t>
            </a:r>
            <a:r>
              <a:rPr lang="en-US" altLang="zh-CN" sz="3000" baseline="30000" dirty="0">
                <a:sym typeface="Wingdings" pitchFamily="2" charset="2"/>
              </a:rPr>
              <a:t>2 </a:t>
            </a:r>
            <a:r>
              <a:rPr lang="en-US" altLang="zh-CN" sz="3000" dirty="0">
                <a:sym typeface="Wingdings" pitchFamily="2" charset="2"/>
              </a:rPr>
              <a:t> </a:t>
            </a:r>
          </a:p>
          <a:p>
            <a:pPr>
              <a:lnSpc>
                <a:spcPct val="150000"/>
              </a:lnSpc>
              <a:spcBef>
                <a:spcPts val="0"/>
              </a:spcBef>
              <a:spcAft>
                <a:spcPts val="600"/>
              </a:spcAft>
              <a:buNone/>
            </a:pPr>
            <a:r>
              <a:rPr lang="en-US" altLang="zh-CN" sz="3000" baseline="30000" dirty="0">
                <a:sym typeface="Wingdings" pitchFamily="2" charset="2"/>
              </a:rPr>
              <a:t>	</a:t>
            </a:r>
            <a:r>
              <a:rPr lang="en-US" altLang="zh-CN" sz="3000" dirty="0">
                <a:sym typeface="Wingdings" pitchFamily="2" charset="2"/>
              </a:rPr>
              <a:t>  	       </a:t>
            </a:r>
            <a:r>
              <a:rPr lang="el-GR" altLang="zh-CN" sz="3000" dirty="0">
                <a:sym typeface="Wingdings" pitchFamily="2" charset="2"/>
              </a:rPr>
              <a:t>α</a:t>
            </a:r>
            <a:r>
              <a:rPr lang="en-US" altLang="zh-CN" sz="3000" dirty="0">
                <a:sym typeface="Wingdings" pitchFamily="2" charset="2"/>
              </a:rPr>
              <a:t> = </a:t>
            </a:r>
            <a:endParaRPr lang="en-US" altLang="zh-CN" sz="3000" baseline="30000" dirty="0">
              <a:sym typeface="Wingdings" pitchFamily="2" charset="2"/>
            </a:endParaRPr>
          </a:p>
        </p:txBody>
      </p:sp>
      <p:graphicFrame>
        <p:nvGraphicFramePr>
          <p:cNvPr id="5" name="Object 4"/>
          <p:cNvGraphicFramePr>
            <a:graphicFrameLocks noChangeAspect="1"/>
          </p:cNvGraphicFramePr>
          <p:nvPr/>
        </p:nvGraphicFramePr>
        <p:xfrm>
          <a:off x="2514600" y="3124200"/>
          <a:ext cx="793750" cy="957974"/>
        </p:xfrm>
        <a:graphic>
          <a:graphicData uri="http://schemas.openxmlformats.org/presentationml/2006/ole">
            <mc:AlternateContent xmlns:mc="http://schemas.openxmlformats.org/markup-compatibility/2006">
              <mc:Choice xmlns:v="urn:schemas-microsoft-com:vml" Requires="v">
                <p:oleObj spid="_x0000_s32770" name="Equation" r:id="rId3" imgW="368280" imgH="444240" progId="Equation.3">
                  <p:embed/>
                </p:oleObj>
              </mc:Choice>
              <mc:Fallback>
                <p:oleObj name="Equation" r:id="rId3" imgW="368280" imgH="4442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124200"/>
                        <a:ext cx="793750" cy="957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1" name="Object 3"/>
          <p:cNvGraphicFramePr>
            <a:graphicFrameLocks noChangeAspect="1"/>
          </p:cNvGraphicFramePr>
          <p:nvPr/>
        </p:nvGraphicFramePr>
        <p:xfrm>
          <a:off x="2133600" y="4114800"/>
          <a:ext cx="1998662" cy="985837"/>
        </p:xfrm>
        <a:graphic>
          <a:graphicData uri="http://schemas.openxmlformats.org/presentationml/2006/ole">
            <mc:AlternateContent xmlns:mc="http://schemas.openxmlformats.org/markup-compatibility/2006">
              <mc:Choice xmlns:v="urn:schemas-microsoft-com:vml" Requires="v">
                <p:oleObj spid="_x0000_s32771" name="Equation" r:id="rId5" imgW="927000" imgH="457200" progId="Equation.3">
                  <p:embed/>
                </p:oleObj>
              </mc:Choice>
              <mc:Fallback>
                <p:oleObj name="Equation" r:id="rId5" imgW="927000" imgH="4572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4114800"/>
                        <a:ext cx="1998662" cy="985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2" name="Object 4"/>
          <p:cNvGraphicFramePr>
            <a:graphicFrameLocks noChangeAspect="1"/>
          </p:cNvGraphicFramePr>
          <p:nvPr/>
        </p:nvGraphicFramePr>
        <p:xfrm>
          <a:off x="2235200" y="5378450"/>
          <a:ext cx="1643063" cy="438150"/>
        </p:xfrm>
        <a:graphic>
          <a:graphicData uri="http://schemas.openxmlformats.org/presentationml/2006/ole">
            <mc:AlternateContent xmlns:mc="http://schemas.openxmlformats.org/markup-compatibility/2006">
              <mc:Choice xmlns:v="urn:schemas-microsoft-com:vml" Requires="v">
                <p:oleObj spid="_x0000_s32772" name="Equation" r:id="rId7" imgW="761760" imgH="203040" progId="Equation.3">
                  <p:embed/>
                </p:oleObj>
              </mc:Choice>
              <mc:Fallback>
                <p:oleObj name="Equation" r:id="rId7" imgW="761760" imgH="2030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200" y="5378450"/>
                        <a:ext cx="1643063"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p:nvSpPr>
        <p:spPr>
          <a:xfrm>
            <a:off x="5105400" y="3103602"/>
            <a:ext cx="1535998" cy="553998"/>
          </a:xfrm>
          <a:prstGeom prst="rect">
            <a:avLst/>
          </a:prstGeom>
        </p:spPr>
        <p:txBody>
          <a:bodyPr wrap="none">
            <a:spAutoFit/>
          </a:bodyPr>
          <a:lstStyle/>
          <a:p>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c</a:t>
            </a:r>
            <a:r>
              <a:rPr lang="el-GR" altLang="zh-CN" sz="3000" dirty="0">
                <a:sym typeface="Wingdings" pitchFamily="2" charset="2"/>
              </a:rPr>
              <a:t>α</a:t>
            </a:r>
            <a:endParaRPr lang="en-US" sz="3000" dirty="0"/>
          </a:p>
        </p:txBody>
      </p:sp>
      <p:sp>
        <p:nvSpPr>
          <p:cNvPr id="9" name="Rectangle 8"/>
          <p:cNvSpPr/>
          <p:nvPr/>
        </p:nvSpPr>
        <p:spPr>
          <a:xfrm>
            <a:off x="5701687" y="3657600"/>
            <a:ext cx="2985113" cy="553998"/>
          </a:xfrm>
          <a:prstGeom prst="rect">
            <a:avLst/>
          </a:prstGeom>
        </p:spPr>
        <p:txBody>
          <a:bodyPr wrap="none">
            <a:spAutoFit/>
          </a:bodyPr>
          <a:lstStyle/>
          <a:p>
            <a:r>
              <a:rPr lang="en-US" altLang="zh-CN" sz="3000" dirty="0">
                <a:sym typeface="Wingdings" pitchFamily="2" charset="2"/>
              </a:rPr>
              <a:t> = 0.1Mx1.33x10</a:t>
            </a:r>
            <a:r>
              <a:rPr lang="en-US" altLang="zh-CN" sz="3000" baseline="30000" dirty="0">
                <a:sym typeface="Wingdings" pitchFamily="2" charset="2"/>
              </a:rPr>
              <a:t>-2</a:t>
            </a:r>
            <a:endParaRPr lang="en-US" sz="3000" dirty="0"/>
          </a:p>
        </p:txBody>
      </p:sp>
      <p:sp>
        <p:nvSpPr>
          <p:cNvPr id="10" name="Rectangle 9"/>
          <p:cNvSpPr/>
          <p:nvPr/>
        </p:nvSpPr>
        <p:spPr>
          <a:xfrm>
            <a:off x="5715000" y="4191000"/>
            <a:ext cx="2416046" cy="553998"/>
          </a:xfrm>
          <a:prstGeom prst="rect">
            <a:avLst/>
          </a:prstGeom>
        </p:spPr>
        <p:txBody>
          <a:bodyPr wrap="none">
            <a:spAutoFit/>
          </a:bodyPr>
          <a:lstStyle/>
          <a:p>
            <a:r>
              <a:rPr lang="en-US" altLang="zh-CN" sz="3000" dirty="0">
                <a:sym typeface="Wingdings" pitchFamily="2" charset="2"/>
              </a:rPr>
              <a:t> = 1.33x10</a:t>
            </a:r>
            <a:r>
              <a:rPr lang="en-US" altLang="zh-CN" sz="3000" baseline="30000" dirty="0">
                <a:sym typeface="Wingdings" pitchFamily="2" charset="2"/>
              </a:rPr>
              <a:t>-3</a:t>
            </a:r>
            <a:r>
              <a:rPr lang="en-US" altLang="zh-CN" sz="3000" dirty="0">
                <a:sym typeface="Wingdings" pitchFamily="2" charset="2"/>
              </a:rPr>
              <a:t> M</a:t>
            </a:r>
            <a:endParaRPr lang="en-US"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2771"/>
                                        </p:tgtEl>
                                        <p:attrNameLst>
                                          <p:attrName>style.visibility</p:attrName>
                                        </p:attrNameLst>
                                      </p:cBhvr>
                                      <p:to>
                                        <p:strVal val="visible"/>
                                      </p:to>
                                    </p:set>
                                    <p:animEffect transition="in" filter="blinds(horizontal)">
                                      <p:cBhvr>
                                        <p:cTn id="37" dur="500"/>
                                        <p:tgtEl>
                                          <p:spTgt spid="3277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2772"/>
                                        </p:tgtEl>
                                        <p:attrNameLst>
                                          <p:attrName>style.visibility</p:attrName>
                                        </p:attrNameLst>
                                      </p:cBhvr>
                                      <p:to>
                                        <p:strVal val="visible"/>
                                      </p:to>
                                    </p:set>
                                    <p:animEffect transition="in" filter="blinds(horizontal)">
                                      <p:cBhvr>
                                        <p:cTn id="42" dur="500"/>
                                        <p:tgtEl>
                                          <p:spTgt spid="3277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linds(horizontal)">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linds(horizontal)">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blinds(horizontal)">
                                      <p:cBhvr>
                                        <p:cTn id="5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23.2.3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电离常数的计算</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例</a:t>
            </a:r>
            <a:r>
              <a:rPr lang="en-US" altLang="zh-CN" sz="3000" dirty="0">
                <a:sym typeface="Wingdings" pitchFamily="2" charset="2"/>
              </a:rPr>
              <a:t>2. </a:t>
            </a:r>
          </a:p>
          <a:p>
            <a:pPr>
              <a:spcBef>
                <a:spcPts val="0"/>
              </a:spcBef>
              <a:buNone/>
            </a:pPr>
            <a:r>
              <a:rPr lang="en-US" altLang="zh-CN" sz="3000" dirty="0">
                <a:sym typeface="Wingdings" pitchFamily="2" charset="2"/>
              </a:rPr>
              <a:t>	</a:t>
            </a:r>
            <a:r>
              <a:rPr lang="en-US" altLang="zh-CN" sz="3000" dirty="0" err="1">
                <a:sym typeface="Wingdings" pitchFamily="2" charset="2"/>
              </a:rPr>
              <a:t>NaOH</a:t>
            </a:r>
            <a:r>
              <a:rPr lang="en-US" altLang="zh-CN" sz="3000" dirty="0">
                <a:sym typeface="Wingdings" pitchFamily="2" charset="2"/>
              </a:rPr>
              <a:t> + CH</a:t>
            </a:r>
            <a:r>
              <a:rPr lang="en-US" altLang="zh-CN" sz="3000" baseline="-25000" dirty="0">
                <a:sym typeface="Wingdings" pitchFamily="2" charset="2"/>
              </a:rPr>
              <a:t>3</a:t>
            </a:r>
            <a:r>
              <a:rPr lang="en-US" altLang="zh-CN" sz="3000" dirty="0">
                <a:sym typeface="Wingdings" pitchFamily="2" charset="2"/>
              </a:rPr>
              <a:t>COOH  CH</a:t>
            </a:r>
            <a:r>
              <a:rPr lang="en-US" altLang="zh-CN" sz="3000" baseline="-25000" dirty="0">
                <a:sym typeface="Wingdings" pitchFamily="2" charset="2"/>
              </a:rPr>
              <a:t>3</a:t>
            </a:r>
            <a:r>
              <a:rPr lang="en-US" altLang="zh-CN" sz="3000" dirty="0">
                <a:sym typeface="Wingdings" pitchFamily="2" charset="2"/>
              </a:rPr>
              <a:t>COONa + H</a:t>
            </a:r>
            <a:r>
              <a:rPr lang="en-US" altLang="zh-CN" sz="3000" baseline="-25000" dirty="0">
                <a:sym typeface="Wingdings" pitchFamily="2" charset="2"/>
              </a:rPr>
              <a:t>2</a:t>
            </a:r>
            <a:r>
              <a:rPr lang="en-US" altLang="zh-CN" sz="3000" dirty="0">
                <a:sym typeface="Wingdings" pitchFamily="2" charset="2"/>
              </a:rPr>
              <a:t>O</a:t>
            </a:r>
          </a:p>
          <a:p>
            <a:pPr>
              <a:spcBef>
                <a:spcPts val="0"/>
              </a:spcBef>
              <a:buNone/>
            </a:pPr>
            <a:r>
              <a:rPr lang="en-US" altLang="zh-CN" sz="3000" dirty="0">
                <a:sym typeface="Wingdings" pitchFamily="2" charset="2"/>
              </a:rPr>
              <a:t>	0.1mol	0.125mol</a:t>
            </a:r>
          </a:p>
          <a:p>
            <a:pPr>
              <a:spcBef>
                <a:spcPts val="0"/>
              </a:spcBef>
              <a:buNone/>
            </a:pPr>
            <a:r>
              <a:rPr lang="zh-CN" altLang="en-US" sz="3000" dirty="0">
                <a:sym typeface="Wingdings" pitchFamily="2" charset="2"/>
              </a:rPr>
              <a:t>根据化学方程式可知剩下</a:t>
            </a:r>
            <a:r>
              <a:rPr lang="en-US" altLang="zh-CN" sz="3000" dirty="0">
                <a:sym typeface="Wingdings" pitchFamily="2" charset="2"/>
              </a:rPr>
              <a:t>0.025mol CH</a:t>
            </a:r>
            <a:r>
              <a:rPr lang="en-US" altLang="zh-CN" sz="3000" baseline="-25000" dirty="0">
                <a:sym typeface="Wingdings" pitchFamily="2" charset="2"/>
              </a:rPr>
              <a:t>3</a:t>
            </a:r>
            <a:r>
              <a:rPr lang="en-US" altLang="zh-CN" sz="3000" dirty="0">
                <a:sym typeface="Wingdings" pitchFamily="2" charset="2"/>
              </a:rPr>
              <a:t>COOH</a:t>
            </a:r>
          </a:p>
          <a:p>
            <a:pPr>
              <a:spcBef>
                <a:spcPts val="0"/>
              </a:spcBef>
              <a:buNone/>
            </a:pPr>
            <a:r>
              <a:rPr lang="en-US" altLang="zh-CN" sz="3000" dirty="0">
                <a:sym typeface="Wingdings" pitchFamily="2" charset="2"/>
              </a:rPr>
              <a:t>					</a:t>
            </a:r>
            <a:r>
              <a:rPr lang="zh-CN" altLang="en-US" sz="3000" dirty="0">
                <a:sym typeface="Wingdings" pitchFamily="2" charset="2"/>
              </a:rPr>
              <a:t>及产生了</a:t>
            </a:r>
            <a:r>
              <a:rPr lang="en-US" altLang="zh-CN" sz="3000" dirty="0">
                <a:sym typeface="Wingdings" pitchFamily="2" charset="2"/>
              </a:rPr>
              <a:t>0.1mol CH</a:t>
            </a:r>
            <a:r>
              <a:rPr lang="en-US" altLang="zh-CN" sz="3000" baseline="-25000" dirty="0">
                <a:sym typeface="Wingdings" pitchFamily="2" charset="2"/>
              </a:rPr>
              <a:t>3</a:t>
            </a:r>
            <a:r>
              <a:rPr lang="en-US" altLang="zh-CN" sz="3000" dirty="0">
                <a:sym typeface="Wingdings" pitchFamily="2" charset="2"/>
              </a:rPr>
              <a:t>COONa </a:t>
            </a:r>
          </a:p>
          <a:p>
            <a:pPr>
              <a:spcBef>
                <a:spcPts val="0"/>
              </a:spcBef>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COONa (</a:t>
            </a:r>
            <a:r>
              <a:rPr lang="en-US" altLang="zh-CN" sz="3000" dirty="0" err="1">
                <a:sym typeface="Wingdings" pitchFamily="2" charset="2"/>
              </a:rPr>
              <a:t>aq</a:t>
            </a:r>
            <a:r>
              <a:rPr lang="en-US" altLang="zh-CN" sz="3000" dirty="0">
                <a:sym typeface="Wingdings" pitchFamily="2" charset="2"/>
              </a:rPr>
              <a:t>)  CH</a:t>
            </a:r>
            <a:r>
              <a:rPr lang="en-US" altLang="zh-CN" sz="3000" baseline="-25000" dirty="0">
                <a:sym typeface="Wingdings" pitchFamily="2" charset="2"/>
              </a:rPr>
              <a:t>3</a:t>
            </a:r>
            <a:r>
              <a:rPr lang="en-US" altLang="zh-CN" sz="3000" dirty="0">
                <a:sym typeface="Wingdings" pitchFamily="2" charset="2"/>
              </a:rPr>
              <a:t>COO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Na</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en-US" altLang="zh-CN" sz="3000" dirty="0">
                <a:sym typeface="Wingdings" pitchFamily="2" charset="2"/>
              </a:rPr>
              <a:t>			0.1M 			</a:t>
            </a:r>
            <a:r>
              <a:rPr lang="en-US" altLang="zh-CN" sz="3000" dirty="0" err="1">
                <a:sym typeface="Wingdings" pitchFamily="2" charset="2"/>
              </a:rPr>
              <a:t>0.1M</a:t>
            </a:r>
            <a:endParaRPr lang="en-US" altLang="zh-CN" sz="3000" dirty="0">
              <a:sym typeface="Wingdings" pitchFamily="2" charset="2"/>
            </a:endParaRPr>
          </a:p>
          <a:p>
            <a:pPr>
              <a:spcBef>
                <a:spcPts val="0"/>
              </a:spcBef>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COOH (</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CH</a:t>
            </a:r>
            <a:r>
              <a:rPr lang="en-US" altLang="zh-CN" sz="3000" baseline="-25000" dirty="0">
                <a:sym typeface="Wingdings" pitchFamily="2" charset="2"/>
              </a:rPr>
              <a:t>3</a:t>
            </a:r>
            <a:r>
              <a:rPr lang="en-US" altLang="zh-CN" sz="3000" dirty="0">
                <a:sym typeface="Wingdings" pitchFamily="2" charset="2"/>
              </a:rPr>
              <a:t>COO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en-US" altLang="zh-CN" sz="3000" dirty="0">
                <a:sym typeface="Wingdings" pitchFamily="2" charset="2"/>
              </a:rPr>
              <a:t>[</a:t>
            </a:r>
            <a:r>
              <a:rPr lang="zh-CN" altLang="en-US" sz="3000" dirty="0">
                <a:sym typeface="Wingdings" pitchFamily="2" charset="2"/>
              </a:rPr>
              <a:t>平衡</a:t>
            </a:r>
            <a:r>
              <a:rPr lang="en-US" altLang="zh-CN" sz="3000" dirty="0">
                <a:sym typeface="Wingdings" pitchFamily="2" charset="2"/>
              </a:rPr>
              <a:t>]M	0.025-x		x		     </a:t>
            </a:r>
            <a:r>
              <a:rPr lang="en-US" altLang="zh-CN" sz="3000" dirty="0" err="1">
                <a:sym typeface="Wingdings" pitchFamily="2" charset="2"/>
              </a:rPr>
              <a:t>x</a:t>
            </a:r>
            <a:endParaRPr lang="en-US" altLang="zh-CN" sz="3000" dirty="0">
              <a:sym typeface="Wingdings" pitchFamily="2" charset="2"/>
            </a:endParaRPr>
          </a:p>
          <a:p>
            <a:pPr>
              <a:spcBef>
                <a:spcPts val="0"/>
              </a:spcBef>
              <a:buNone/>
            </a:pPr>
            <a:r>
              <a:rPr lang="en-US" altLang="zh-CN" sz="3000" dirty="0">
                <a:sym typeface="Wingdings" pitchFamily="2" charset="2"/>
              </a:rPr>
              <a:t>		 </a:t>
            </a:r>
          </a:p>
        </p:txBody>
      </p:sp>
      <p:sp>
        <p:nvSpPr>
          <p:cNvPr id="5" name="Rounded Rectangle 4"/>
          <p:cNvSpPr/>
          <p:nvPr/>
        </p:nvSpPr>
        <p:spPr>
          <a:xfrm>
            <a:off x="4648200" y="3276600"/>
            <a:ext cx="1447800" cy="1981200"/>
          </a:xfrm>
          <a:prstGeom prst="roundRect">
            <a:avLst/>
          </a:prstGeom>
          <a:noFill/>
          <a:ln>
            <a:solidFill>
              <a:srgbClr val="00206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blinds(horizontal)">
                                      <p:cBhvr>
                                        <p:cTn id="5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23.2.3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电离常数的计算</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例</a:t>
            </a:r>
            <a:r>
              <a:rPr lang="en-US" altLang="zh-CN" sz="3000" dirty="0">
                <a:sym typeface="Wingdings" pitchFamily="2" charset="2"/>
              </a:rPr>
              <a:t>2. </a:t>
            </a: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x = 4.4x10</a:t>
            </a:r>
            <a:r>
              <a:rPr lang="en-US" altLang="zh-CN" sz="3000" baseline="30000" dirty="0">
                <a:sym typeface="Wingdings" pitchFamily="2" charset="2"/>
              </a:rPr>
              <a:t>-6</a:t>
            </a:r>
            <a:r>
              <a:rPr lang="en-US" altLang="zh-CN" sz="3000" dirty="0">
                <a:sym typeface="Wingdings" pitchFamily="2" charset="2"/>
              </a:rPr>
              <a:t> M  </a:t>
            </a:r>
          </a:p>
          <a:p>
            <a:pPr>
              <a:lnSpc>
                <a:spcPct val="150000"/>
              </a:lnSpc>
              <a:spcBef>
                <a:spcPts val="0"/>
              </a:spcBef>
              <a:buNone/>
            </a:pPr>
            <a:r>
              <a:rPr lang="en-US" altLang="zh-CN" sz="3000" dirty="0">
                <a:sym typeface="Wingdings" pitchFamily="2" charset="2"/>
              </a:rPr>
              <a:t>	</a:t>
            </a:r>
            <a:r>
              <a:rPr lang="zh-CN" altLang="en-US" sz="3000" dirty="0">
                <a:sym typeface="Wingdings" pitchFamily="2" charset="2"/>
              </a:rPr>
              <a:t>答：反应后</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4.4x10</a:t>
            </a:r>
            <a:r>
              <a:rPr lang="en-US" altLang="zh-CN" sz="3000" baseline="30000" dirty="0">
                <a:sym typeface="Wingdings" pitchFamily="2" charset="2"/>
              </a:rPr>
              <a:t>-6</a:t>
            </a:r>
            <a:r>
              <a:rPr lang="en-US" altLang="zh-CN" sz="3000" dirty="0">
                <a:sym typeface="Wingdings" pitchFamily="2" charset="2"/>
              </a:rPr>
              <a:t> M </a:t>
            </a:r>
          </a:p>
        </p:txBody>
      </p:sp>
      <p:grpSp>
        <p:nvGrpSpPr>
          <p:cNvPr id="5" name="Group 3"/>
          <p:cNvGrpSpPr/>
          <p:nvPr/>
        </p:nvGrpSpPr>
        <p:grpSpPr>
          <a:xfrm>
            <a:off x="2634023" y="1066800"/>
            <a:ext cx="3995377" cy="1041975"/>
            <a:chOff x="2068535" y="1462086"/>
            <a:chExt cx="3005133" cy="1041975"/>
          </a:xfrm>
        </p:grpSpPr>
        <p:grpSp>
          <p:nvGrpSpPr>
            <p:cNvPr id="6" name="Group 24"/>
            <p:cNvGrpSpPr/>
            <p:nvPr/>
          </p:nvGrpSpPr>
          <p:grpSpPr>
            <a:xfrm>
              <a:off x="2068535" y="1462086"/>
              <a:ext cx="3005133" cy="838200"/>
              <a:chOff x="2068535" y="1462086"/>
              <a:chExt cx="3005133" cy="838200"/>
            </a:xfrm>
          </p:grpSpPr>
          <p:sp>
            <p:nvSpPr>
              <p:cNvPr id="8" name="TextBox 7"/>
              <p:cNvSpPr txBox="1"/>
              <p:nvPr/>
            </p:nvSpPr>
            <p:spPr>
              <a:xfrm>
                <a:off x="2068535" y="1715511"/>
                <a:ext cx="1113770" cy="584775"/>
              </a:xfrm>
              <a:prstGeom prst="rect">
                <a:avLst/>
              </a:prstGeom>
              <a:noFill/>
            </p:spPr>
            <p:txBody>
              <a:bodyPr wrap="square" rtlCol="0">
                <a:spAutoFit/>
              </a:bodyPr>
              <a:lstStyle/>
              <a:p>
                <a:r>
                  <a:rPr lang="en-US" altLang="zh-CN" sz="3200" dirty="0"/>
                  <a:t> K</a:t>
                </a:r>
                <a:r>
                  <a:rPr lang="en-US" altLang="zh-CN" sz="3200" baseline="-25000" dirty="0"/>
                  <a:t>a</a:t>
                </a:r>
                <a:r>
                  <a:rPr lang="en-US" altLang="zh-CN" sz="3200" dirty="0"/>
                  <a:t>   =</a:t>
                </a:r>
                <a:endParaRPr lang="en-US" sz="3200" dirty="0"/>
              </a:p>
            </p:txBody>
          </p:sp>
          <p:cxnSp>
            <p:nvCxnSpPr>
              <p:cNvPr id="9" name="Straight Connector 8"/>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763718" y="1462086"/>
                <a:ext cx="2309950" cy="584775"/>
              </a:xfrm>
              <a:prstGeom prst="rect">
                <a:avLst/>
              </a:prstGeom>
              <a:noFill/>
            </p:spPr>
            <p:txBody>
              <a:bodyPr wrap="square" rtlCol="0">
                <a:spAutoFit/>
              </a:bodyPr>
              <a:lstStyle/>
              <a:p>
                <a:r>
                  <a:rPr lang="en-US" sz="3200" dirty="0"/>
                  <a:t> [H</a:t>
                </a:r>
                <a:r>
                  <a:rPr lang="en-US" sz="3200" baseline="30000" dirty="0"/>
                  <a:t>+</a:t>
                </a:r>
                <a:r>
                  <a:rPr lang="en-US" sz="3200" dirty="0"/>
                  <a:t>] [CH</a:t>
                </a:r>
                <a:r>
                  <a:rPr lang="en-US" sz="3200" baseline="-25000" dirty="0"/>
                  <a:t>3</a:t>
                </a:r>
                <a:r>
                  <a:rPr lang="en-US" sz="3200" dirty="0"/>
                  <a:t>COO</a:t>
                </a:r>
                <a:r>
                  <a:rPr lang="en-US" sz="3200" baseline="30000" dirty="0"/>
                  <a:t>-</a:t>
                </a:r>
                <a:r>
                  <a:rPr lang="en-US" sz="3200" dirty="0"/>
                  <a:t> ]</a:t>
                </a:r>
              </a:p>
            </p:txBody>
          </p:sp>
        </p:grpSp>
        <p:sp>
          <p:nvSpPr>
            <p:cNvPr id="7" name="TextBox 5"/>
            <p:cNvSpPr txBox="1"/>
            <p:nvPr/>
          </p:nvSpPr>
          <p:spPr>
            <a:xfrm>
              <a:off x="2609165" y="1919286"/>
              <a:ext cx="1861860" cy="584775"/>
            </a:xfrm>
            <a:prstGeom prst="rect">
              <a:avLst/>
            </a:prstGeom>
            <a:noFill/>
          </p:spPr>
          <p:txBody>
            <a:bodyPr wrap="square" rtlCol="0">
              <a:spAutoFit/>
            </a:bodyPr>
            <a:lstStyle/>
            <a:p>
              <a:r>
                <a:rPr lang="en-US" altLang="zh-CN" sz="3200" dirty="0"/>
                <a:t>    [</a:t>
              </a:r>
              <a:r>
                <a:rPr lang="en-US" altLang="zh-CN" sz="3200" dirty="0">
                  <a:sym typeface="Wingdings" pitchFamily="2" charset="2"/>
                </a:rPr>
                <a:t>CH</a:t>
              </a:r>
              <a:r>
                <a:rPr lang="en-US" altLang="zh-CN" sz="3200" baseline="-25000" dirty="0">
                  <a:sym typeface="Wingdings" pitchFamily="2" charset="2"/>
                </a:rPr>
                <a:t>3</a:t>
              </a:r>
              <a:r>
                <a:rPr lang="en-US" altLang="zh-CN" sz="3200" dirty="0">
                  <a:sym typeface="Wingdings" pitchFamily="2" charset="2"/>
                </a:rPr>
                <a:t> COOH</a:t>
              </a:r>
              <a:r>
                <a:rPr lang="en-US" altLang="zh-CN" sz="3200" dirty="0"/>
                <a:t>]</a:t>
              </a:r>
              <a:endParaRPr lang="en-US" sz="3200" dirty="0"/>
            </a:p>
          </p:txBody>
        </p:sp>
      </p:grpSp>
      <p:grpSp>
        <p:nvGrpSpPr>
          <p:cNvPr id="11" name="Group 3"/>
          <p:cNvGrpSpPr/>
          <p:nvPr/>
        </p:nvGrpSpPr>
        <p:grpSpPr>
          <a:xfrm>
            <a:off x="1524001" y="2158425"/>
            <a:ext cx="5138375" cy="1041975"/>
            <a:chOff x="1208826" y="1462086"/>
            <a:chExt cx="3864842" cy="1041975"/>
          </a:xfrm>
        </p:grpSpPr>
        <p:grpSp>
          <p:nvGrpSpPr>
            <p:cNvPr id="12" name="Group 24"/>
            <p:cNvGrpSpPr/>
            <p:nvPr/>
          </p:nvGrpSpPr>
          <p:grpSpPr>
            <a:xfrm>
              <a:off x="1208826" y="1462086"/>
              <a:ext cx="3864842" cy="838200"/>
              <a:chOff x="1208826" y="1462086"/>
              <a:chExt cx="3864842" cy="838200"/>
            </a:xfrm>
          </p:grpSpPr>
          <p:sp>
            <p:nvSpPr>
              <p:cNvPr id="14" name="TextBox 13"/>
              <p:cNvSpPr txBox="1"/>
              <p:nvPr/>
            </p:nvSpPr>
            <p:spPr>
              <a:xfrm>
                <a:off x="1208826" y="1715511"/>
                <a:ext cx="2030795" cy="584775"/>
              </a:xfrm>
              <a:prstGeom prst="rect">
                <a:avLst/>
              </a:prstGeom>
              <a:noFill/>
            </p:spPr>
            <p:txBody>
              <a:bodyPr wrap="square" rtlCol="0">
                <a:spAutoFit/>
              </a:bodyPr>
              <a:lstStyle/>
              <a:p>
                <a:r>
                  <a:rPr lang="en-US" altLang="zh-CN" sz="3200" dirty="0"/>
                  <a:t>1.76x10</a:t>
                </a:r>
                <a:r>
                  <a:rPr lang="en-US" altLang="zh-CN" sz="3200" baseline="30000" dirty="0"/>
                  <a:t>-5</a:t>
                </a:r>
                <a:r>
                  <a:rPr lang="en-US" altLang="zh-CN" sz="3200" dirty="0"/>
                  <a:t>   =</a:t>
                </a:r>
                <a:endParaRPr lang="en-US" sz="3200" dirty="0"/>
              </a:p>
            </p:txBody>
          </p:sp>
          <p:cxnSp>
            <p:nvCxnSpPr>
              <p:cNvPr id="15" name="Straight Connector 14"/>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763718" y="1462086"/>
                <a:ext cx="2309950" cy="584775"/>
              </a:xfrm>
              <a:prstGeom prst="rect">
                <a:avLst/>
              </a:prstGeom>
              <a:noFill/>
            </p:spPr>
            <p:txBody>
              <a:bodyPr wrap="square" rtlCol="0">
                <a:spAutoFit/>
              </a:bodyPr>
              <a:lstStyle/>
              <a:p>
                <a:r>
                  <a:rPr lang="en-US" sz="3200" dirty="0"/>
                  <a:t>     (x)(0.1+x)</a:t>
                </a:r>
              </a:p>
            </p:txBody>
          </p:sp>
        </p:grpSp>
        <p:sp>
          <p:nvSpPr>
            <p:cNvPr id="13" name="TextBox 5"/>
            <p:cNvSpPr txBox="1"/>
            <p:nvPr/>
          </p:nvSpPr>
          <p:spPr>
            <a:xfrm>
              <a:off x="2957748" y="1919286"/>
              <a:ext cx="1861860" cy="584775"/>
            </a:xfrm>
            <a:prstGeom prst="rect">
              <a:avLst/>
            </a:prstGeom>
            <a:noFill/>
          </p:spPr>
          <p:txBody>
            <a:bodyPr wrap="square" rtlCol="0">
              <a:spAutoFit/>
            </a:bodyPr>
            <a:lstStyle/>
            <a:p>
              <a:r>
                <a:rPr lang="en-US" altLang="zh-CN" sz="3200" dirty="0"/>
                <a:t>    0.025-x</a:t>
              </a:r>
              <a:endParaRPr lang="en-US" sz="3200" dirty="0"/>
            </a:p>
          </p:txBody>
        </p:sp>
      </p:grpSp>
      <p:grpSp>
        <p:nvGrpSpPr>
          <p:cNvPr id="22" name="Group 15"/>
          <p:cNvGrpSpPr/>
          <p:nvPr/>
        </p:nvGrpSpPr>
        <p:grpSpPr>
          <a:xfrm>
            <a:off x="5181600" y="2209800"/>
            <a:ext cx="1554480" cy="457200"/>
            <a:chOff x="4191000" y="5181600"/>
            <a:chExt cx="1554480" cy="457200"/>
          </a:xfrm>
        </p:grpSpPr>
        <p:sp>
          <p:nvSpPr>
            <p:cNvPr id="23" name="Oval 22"/>
            <p:cNvSpPr/>
            <p:nvPr/>
          </p:nvSpPr>
          <p:spPr>
            <a:xfrm>
              <a:off x="4191000" y="5181600"/>
              <a:ext cx="457200" cy="45720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Curved Connector 23"/>
            <p:cNvCxnSpPr>
              <a:stCxn id="23" idx="6"/>
            </p:cNvCxnSpPr>
            <p:nvPr/>
          </p:nvCxnSpPr>
          <p:spPr>
            <a:xfrm>
              <a:off x="4648200" y="5410200"/>
              <a:ext cx="1097280" cy="91440"/>
            </a:xfrm>
            <a:prstGeom prst="curvedConnector3">
              <a:avLst>
                <a:gd name="adj1" fmla="val 50000"/>
              </a:avLst>
            </a:prstGeom>
            <a:ln w="34925">
              <a:solidFill>
                <a:srgbClr val="002060"/>
              </a:solidFill>
              <a:tailEnd type="arrow"/>
            </a:ln>
          </p:spPr>
          <p:style>
            <a:lnRef idx="1">
              <a:schemeClr val="accent2"/>
            </a:lnRef>
            <a:fillRef idx="0">
              <a:schemeClr val="accent2"/>
            </a:fillRef>
            <a:effectRef idx="0">
              <a:schemeClr val="accent2"/>
            </a:effectRef>
            <a:fontRef idx="minor">
              <a:schemeClr val="tx1"/>
            </a:fontRef>
          </p:style>
        </p:cxnSp>
      </p:grpSp>
      <p:sp>
        <p:nvSpPr>
          <p:cNvPr id="25" name="TextBox 24"/>
          <p:cNvSpPr txBox="1"/>
          <p:nvPr/>
        </p:nvSpPr>
        <p:spPr>
          <a:xfrm>
            <a:off x="6784459" y="2286000"/>
            <a:ext cx="1826141" cy="584775"/>
          </a:xfrm>
          <a:prstGeom prst="rect">
            <a:avLst/>
          </a:prstGeom>
          <a:solidFill>
            <a:srgbClr val="E2CFF1"/>
          </a:solidFill>
          <a:ln>
            <a:solidFill>
              <a:srgbClr val="00206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dirty="0"/>
              <a:t>忽略不计</a:t>
            </a:r>
            <a:endParaRPr lang="en-US" sz="3000" dirty="0"/>
          </a:p>
        </p:txBody>
      </p:sp>
      <p:grpSp>
        <p:nvGrpSpPr>
          <p:cNvPr id="26" name="Group 15"/>
          <p:cNvGrpSpPr/>
          <p:nvPr/>
        </p:nvGrpSpPr>
        <p:grpSpPr>
          <a:xfrm>
            <a:off x="5181600" y="2590800"/>
            <a:ext cx="1600200" cy="533400"/>
            <a:chOff x="4191000" y="5105400"/>
            <a:chExt cx="1600200" cy="533400"/>
          </a:xfrm>
        </p:grpSpPr>
        <p:sp>
          <p:nvSpPr>
            <p:cNvPr id="27" name="Oval 26"/>
            <p:cNvSpPr/>
            <p:nvPr/>
          </p:nvSpPr>
          <p:spPr>
            <a:xfrm>
              <a:off x="4191000" y="5181600"/>
              <a:ext cx="457200" cy="45720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Curved Connector 27"/>
            <p:cNvCxnSpPr>
              <a:stCxn id="27" idx="6"/>
            </p:cNvCxnSpPr>
            <p:nvPr/>
          </p:nvCxnSpPr>
          <p:spPr>
            <a:xfrm flipV="1">
              <a:off x="4648200" y="5105400"/>
              <a:ext cx="1143000" cy="304800"/>
            </a:xfrm>
            <a:prstGeom prst="curvedConnector3">
              <a:avLst>
                <a:gd name="adj1" fmla="val 50000"/>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grpSp>
      <p:grpSp>
        <p:nvGrpSpPr>
          <p:cNvPr id="31" name="Group 3"/>
          <p:cNvGrpSpPr/>
          <p:nvPr/>
        </p:nvGrpSpPr>
        <p:grpSpPr>
          <a:xfrm>
            <a:off x="1524000" y="3377625"/>
            <a:ext cx="5138375" cy="1041975"/>
            <a:chOff x="1208826" y="1462086"/>
            <a:chExt cx="3864842" cy="1041975"/>
          </a:xfrm>
        </p:grpSpPr>
        <p:grpSp>
          <p:nvGrpSpPr>
            <p:cNvPr id="32" name="Group 24"/>
            <p:cNvGrpSpPr/>
            <p:nvPr/>
          </p:nvGrpSpPr>
          <p:grpSpPr>
            <a:xfrm>
              <a:off x="1208826" y="1462086"/>
              <a:ext cx="3864842" cy="838200"/>
              <a:chOff x="1208826" y="1462086"/>
              <a:chExt cx="3864842" cy="838200"/>
            </a:xfrm>
          </p:grpSpPr>
          <p:sp>
            <p:nvSpPr>
              <p:cNvPr id="34" name="TextBox 33"/>
              <p:cNvSpPr txBox="1"/>
              <p:nvPr/>
            </p:nvSpPr>
            <p:spPr>
              <a:xfrm>
                <a:off x="1208826" y="1715511"/>
                <a:ext cx="2030795" cy="584775"/>
              </a:xfrm>
              <a:prstGeom prst="rect">
                <a:avLst/>
              </a:prstGeom>
              <a:noFill/>
            </p:spPr>
            <p:txBody>
              <a:bodyPr wrap="square" rtlCol="0">
                <a:spAutoFit/>
              </a:bodyPr>
              <a:lstStyle/>
              <a:p>
                <a:r>
                  <a:rPr lang="en-US" altLang="zh-CN" sz="3200" dirty="0"/>
                  <a:t>1.76x10</a:t>
                </a:r>
                <a:r>
                  <a:rPr lang="en-US" altLang="zh-CN" sz="3200" baseline="30000" dirty="0"/>
                  <a:t>-5</a:t>
                </a:r>
                <a:r>
                  <a:rPr lang="en-US" altLang="zh-CN" sz="3200" dirty="0"/>
                  <a:t>   =</a:t>
                </a:r>
                <a:endParaRPr lang="en-US" sz="3200" dirty="0"/>
              </a:p>
            </p:txBody>
          </p:sp>
          <p:cxnSp>
            <p:nvCxnSpPr>
              <p:cNvPr id="35" name="Straight Connector 34"/>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763718" y="1462086"/>
                <a:ext cx="2309950" cy="584775"/>
              </a:xfrm>
              <a:prstGeom prst="rect">
                <a:avLst/>
              </a:prstGeom>
              <a:noFill/>
            </p:spPr>
            <p:txBody>
              <a:bodyPr wrap="square" rtlCol="0">
                <a:spAutoFit/>
              </a:bodyPr>
              <a:lstStyle/>
              <a:p>
                <a:r>
                  <a:rPr lang="en-US" sz="3200" dirty="0"/>
                  <a:t>     (x)(0.1)</a:t>
                </a:r>
              </a:p>
            </p:txBody>
          </p:sp>
        </p:grpSp>
        <p:sp>
          <p:nvSpPr>
            <p:cNvPr id="33" name="TextBox 5"/>
            <p:cNvSpPr txBox="1"/>
            <p:nvPr/>
          </p:nvSpPr>
          <p:spPr>
            <a:xfrm>
              <a:off x="2957748" y="1919286"/>
              <a:ext cx="1861860" cy="584775"/>
            </a:xfrm>
            <a:prstGeom prst="rect">
              <a:avLst/>
            </a:prstGeom>
            <a:noFill/>
          </p:spPr>
          <p:txBody>
            <a:bodyPr wrap="square" rtlCol="0">
              <a:spAutoFit/>
            </a:bodyPr>
            <a:lstStyle/>
            <a:p>
              <a:r>
                <a:rPr lang="en-US" altLang="zh-CN" sz="3200" dirty="0"/>
                <a:t>    0.025</a:t>
              </a:r>
              <a:endParaRPr lang="en-US" sz="3200" dirty="0"/>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linds(horizontal)">
                                      <p:cBhvr>
                                        <p:cTn id="22" dur="500"/>
                                        <p:tgtEl>
                                          <p:spTgt spid="22"/>
                                        </p:tgtEl>
                                      </p:cBhvr>
                                    </p:animEffect>
                                  </p:childTnLst>
                                </p:cTn>
                              </p:par>
                              <p:par>
                                <p:cTn id="23" presetID="3" presetClass="entr" presetSubtype="1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blinds(horizontal)">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blinds(horizontal)">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blinds(horizontal)">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blinds(horizontal)">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23.2.3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电离常数的计算</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问题解决</a:t>
            </a:r>
            <a:r>
              <a:rPr lang="en-US" altLang="zh-CN" sz="3000" dirty="0">
                <a:sym typeface="Wingdings" pitchFamily="2" charset="2"/>
              </a:rPr>
              <a:t>p252</a:t>
            </a:r>
          </a:p>
          <a:p>
            <a:pPr>
              <a:spcBef>
                <a:spcPts val="0"/>
              </a:spcBef>
              <a:spcAft>
                <a:spcPts val="600"/>
              </a:spcAft>
              <a:buNone/>
            </a:pPr>
            <a:r>
              <a:rPr lang="zh-CN" altLang="en-US" sz="3000" dirty="0">
                <a:sym typeface="Wingdings" pitchFamily="2" charset="2"/>
              </a:rPr>
              <a:t>已知：</a:t>
            </a:r>
            <a:r>
              <a:rPr lang="en-US" altLang="zh-CN" sz="3000" dirty="0">
                <a:sym typeface="Wingdings" pitchFamily="2" charset="2"/>
              </a:rPr>
              <a:t>c=1M</a:t>
            </a:r>
            <a:r>
              <a:rPr lang="zh-CN" altLang="en-US" sz="3000" dirty="0">
                <a:sym typeface="Wingdings" pitchFamily="2" charset="2"/>
              </a:rPr>
              <a:t>，</a:t>
            </a:r>
            <a:r>
              <a:rPr lang="el-GR" altLang="zh-CN" sz="3000" dirty="0">
                <a:sym typeface="Wingdings" pitchFamily="2" charset="2"/>
              </a:rPr>
              <a:t>α</a:t>
            </a:r>
            <a:r>
              <a:rPr lang="en-US" altLang="zh-CN" sz="3000" dirty="0">
                <a:sym typeface="Wingdings" pitchFamily="2" charset="2"/>
              </a:rPr>
              <a:t> 	= 0.42%</a:t>
            </a:r>
          </a:p>
          <a:p>
            <a:pPr>
              <a:spcBef>
                <a:spcPts val="0"/>
              </a:spcBef>
              <a:spcAft>
                <a:spcPts val="600"/>
              </a:spcAft>
              <a:buNone/>
            </a:pPr>
            <a:r>
              <a:rPr lang="en-US" altLang="zh-CN" sz="3000" dirty="0">
                <a:sym typeface="Wingdings" pitchFamily="2" charset="2"/>
              </a:rPr>
              <a:t>				= 0.0042</a:t>
            </a:r>
          </a:p>
          <a:p>
            <a:pPr>
              <a:spcBef>
                <a:spcPts val="0"/>
              </a:spcBef>
              <a:spcAft>
                <a:spcPts val="600"/>
              </a:spcAft>
              <a:buNone/>
            </a:pPr>
            <a:r>
              <a:rPr lang="en-US" altLang="zh-CN" sz="3000" baseline="30000" dirty="0">
                <a:sym typeface="Wingdings" pitchFamily="2" charset="2"/>
              </a:rPr>
              <a:t> </a:t>
            </a:r>
            <a:r>
              <a:rPr lang="en-US" altLang="zh-CN" sz="3000" dirty="0">
                <a:sym typeface="Wingdings" pitchFamily="2" charset="2"/>
              </a:rPr>
              <a:t>  </a:t>
            </a:r>
            <a:r>
              <a:rPr lang="zh-CN" altLang="en-US" sz="3000" dirty="0">
                <a:sym typeface="Wingdings" pitchFamily="2" charset="2"/>
              </a:rPr>
              <a:t>公式：</a:t>
            </a:r>
            <a:r>
              <a:rPr lang="en-US" altLang="zh-CN" sz="3000" dirty="0">
                <a:sym typeface="Wingdings" pitchFamily="2" charset="2"/>
              </a:rPr>
              <a:t>K</a:t>
            </a:r>
            <a:r>
              <a:rPr lang="en-US" altLang="zh-CN" sz="3000" baseline="-25000" dirty="0">
                <a:sym typeface="Wingdings" pitchFamily="2" charset="2"/>
              </a:rPr>
              <a:t>b</a:t>
            </a:r>
            <a:r>
              <a:rPr lang="en-US" altLang="zh-CN" sz="3000" dirty="0">
                <a:sym typeface="Wingdings" pitchFamily="2" charset="2"/>
              </a:rPr>
              <a:t> = c</a:t>
            </a:r>
            <a:r>
              <a:rPr lang="el-GR" altLang="zh-CN" sz="3000" dirty="0">
                <a:sym typeface="Wingdings" pitchFamily="2" charset="2"/>
              </a:rPr>
              <a:t>α</a:t>
            </a:r>
            <a:r>
              <a:rPr lang="en-US" altLang="zh-CN" sz="3000" baseline="30000" dirty="0">
                <a:sym typeface="Wingdings" pitchFamily="2" charset="2"/>
              </a:rPr>
              <a:t>2</a:t>
            </a:r>
            <a:r>
              <a:rPr lang="en-US" altLang="zh-CN" sz="3000" dirty="0">
                <a:sym typeface="Wingdings" pitchFamily="2" charset="2"/>
              </a:rPr>
              <a:t> </a:t>
            </a:r>
          </a:p>
          <a:p>
            <a:pPr>
              <a:spcBef>
                <a:spcPts val="0"/>
              </a:spcBef>
              <a:spcAft>
                <a:spcPts val="600"/>
              </a:spcAft>
              <a:buNone/>
            </a:pPr>
            <a:r>
              <a:rPr lang="en-US" altLang="zh-CN" sz="3000" dirty="0">
                <a:sym typeface="Wingdings" pitchFamily="2" charset="2"/>
              </a:rPr>
              <a:t>			= 1 x (0.0042)</a:t>
            </a:r>
            <a:r>
              <a:rPr lang="en-US" altLang="zh-CN" sz="3000" baseline="30000" dirty="0">
                <a:sym typeface="Wingdings" pitchFamily="2" charset="2"/>
              </a:rPr>
              <a:t>2</a:t>
            </a:r>
            <a:r>
              <a:rPr lang="en-US" altLang="zh-CN" sz="3000" dirty="0">
                <a:sym typeface="Wingdings" pitchFamily="2" charset="2"/>
              </a:rPr>
              <a:t> </a:t>
            </a:r>
          </a:p>
          <a:p>
            <a:pPr>
              <a:spcBef>
                <a:spcPts val="0"/>
              </a:spcBef>
              <a:spcAft>
                <a:spcPts val="600"/>
              </a:spcAft>
              <a:buNone/>
            </a:pPr>
            <a:r>
              <a:rPr lang="en-US" altLang="zh-CN" sz="3000" dirty="0">
                <a:sym typeface="Wingdings" pitchFamily="2" charset="2"/>
              </a:rPr>
              <a:t>		 	= 1.76 x10</a:t>
            </a:r>
            <a:r>
              <a:rPr lang="en-US" altLang="zh-CN" sz="3000" baseline="30000" dirty="0">
                <a:sym typeface="Wingdings" pitchFamily="2" charset="2"/>
              </a:rPr>
              <a:t>-5</a:t>
            </a:r>
            <a:r>
              <a:rPr lang="en-US" altLang="zh-CN" sz="3000" dirty="0">
                <a:sym typeface="Wingdings" pitchFamily="2" charset="2"/>
              </a:rPr>
              <a:t> </a:t>
            </a:r>
          </a:p>
          <a:p>
            <a:pPr>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23c</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en-US" altLang="zh-CN" sz="3000" dirty="0">
                <a:sym typeface="Wingdings" pitchFamily="2" charset="2"/>
              </a:rPr>
              <a:t>1. 		NH</a:t>
            </a:r>
            <a:r>
              <a:rPr lang="en-US" altLang="zh-CN" sz="3000" baseline="-25000" dirty="0">
                <a:sym typeface="Wingdings" pitchFamily="2" charset="2"/>
              </a:rPr>
              <a:t>4</a:t>
            </a:r>
            <a:r>
              <a:rPr lang="en-US" altLang="zh-CN" sz="3000" dirty="0">
                <a:sym typeface="Wingdings" pitchFamily="2" charset="2"/>
              </a:rPr>
              <a:t>NO</a:t>
            </a:r>
            <a:r>
              <a:rPr lang="en-US" altLang="zh-CN" sz="3000" baseline="-25000" dirty="0">
                <a:sym typeface="Wingdings" pitchFamily="2" charset="2"/>
              </a:rPr>
              <a:t>3</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NO</a:t>
            </a:r>
            <a:r>
              <a:rPr lang="en-US" altLang="zh-CN" sz="3000" baseline="-25000" dirty="0">
                <a:sym typeface="Wingdings" pitchFamily="2" charset="2"/>
              </a:rPr>
              <a:t>3</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en-US" altLang="zh-CN" sz="3000" dirty="0">
                <a:sym typeface="Wingdings" pitchFamily="2" charset="2"/>
              </a:rPr>
              <a:t>			0.1M 			</a:t>
            </a:r>
            <a:r>
              <a:rPr lang="en-US" altLang="zh-CN" sz="3000" dirty="0" err="1">
                <a:sym typeface="Wingdings" pitchFamily="2" charset="2"/>
              </a:rPr>
              <a:t>0.1M</a:t>
            </a:r>
            <a:endParaRPr lang="en-US" altLang="zh-CN" sz="3000" dirty="0">
              <a:sym typeface="Wingdings" pitchFamily="2" charset="2"/>
            </a:endParaRPr>
          </a:p>
          <a:p>
            <a:pPr>
              <a:spcBef>
                <a:spcPts val="0"/>
              </a:spcBef>
              <a:buNone/>
            </a:pPr>
            <a:r>
              <a:rPr lang="en-US" altLang="zh-CN" sz="3000" dirty="0">
                <a:sym typeface="Wingdings" pitchFamily="2" charset="2"/>
              </a:rPr>
              <a:t>		 	NH</a:t>
            </a:r>
            <a:r>
              <a:rPr lang="en-US" altLang="zh-CN" sz="3000" baseline="-25000" dirty="0">
                <a:sym typeface="Wingdings" pitchFamily="2" charset="2"/>
              </a:rPr>
              <a:t>3</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en-US" altLang="zh-CN" sz="3000" dirty="0">
                <a:sym typeface="Wingdings" pitchFamily="2" charset="2"/>
              </a:rPr>
              <a:t>[</a:t>
            </a:r>
            <a:r>
              <a:rPr lang="zh-CN" altLang="en-US" sz="3000" dirty="0">
                <a:sym typeface="Wingdings" pitchFamily="2" charset="2"/>
              </a:rPr>
              <a:t>平衡</a:t>
            </a:r>
            <a:r>
              <a:rPr lang="en-US" altLang="zh-CN" sz="3000" dirty="0">
                <a:sym typeface="Wingdings" pitchFamily="2" charset="2"/>
              </a:rPr>
              <a:t>]M	0.1-x			x		    </a:t>
            </a:r>
            <a:r>
              <a:rPr lang="en-US" altLang="zh-CN" sz="3000" dirty="0" err="1">
                <a:sym typeface="Wingdings" pitchFamily="2" charset="2"/>
              </a:rPr>
              <a:t>x</a:t>
            </a:r>
            <a:r>
              <a:rPr lang="en-US" altLang="zh-CN" sz="3000" dirty="0">
                <a:sym typeface="Wingdings" pitchFamily="2" charset="2"/>
              </a:rPr>
              <a:t> </a:t>
            </a: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x = 1.8x10</a:t>
            </a:r>
            <a:r>
              <a:rPr lang="en-US" altLang="zh-CN" sz="3000" baseline="30000" dirty="0">
                <a:sym typeface="Wingdings" pitchFamily="2" charset="2"/>
              </a:rPr>
              <a:t>-5</a:t>
            </a:r>
            <a:r>
              <a:rPr lang="en-US" altLang="zh-CN" sz="3000" dirty="0">
                <a:sym typeface="Wingdings" pitchFamily="2" charset="2"/>
              </a:rPr>
              <a:t> M </a:t>
            </a:r>
          </a:p>
          <a:p>
            <a:pPr>
              <a:spcBef>
                <a:spcPts val="0"/>
              </a:spcBef>
              <a:buNone/>
            </a:pPr>
            <a:r>
              <a:rPr lang="zh-CN" altLang="en-US" sz="3000" dirty="0">
                <a:sym typeface="Wingdings" pitchFamily="2" charset="2"/>
              </a:rPr>
              <a:t>答：溶液中</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 1.8x10</a:t>
            </a:r>
            <a:r>
              <a:rPr lang="en-US" altLang="zh-CN" sz="3000" baseline="30000" dirty="0">
                <a:sym typeface="Wingdings" pitchFamily="2" charset="2"/>
              </a:rPr>
              <a:t>-5</a:t>
            </a:r>
            <a:r>
              <a:rPr lang="en-US" altLang="zh-CN" sz="3000" dirty="0">
                <a:sym typeface="Wingdings" pitchFamily="2" charset="2"/>
              </a:rPr>
              <a:t> M </a:t>
            </a:r>
          </a:p>
          <a:p>
            <a:pPr>
              <a:spcBef>
                <a:spcPts val="0"/>
              </a:spcBef>
              <a:buNone/>
            </a:pPr>
            <a:endParaRPr lang="en-US" altLang="zh-CN" sz="3000" dirty="0">
              <a:sym typeface="Wingdings" pitchFamily="2" charset="2"/>
            </a:endParaRPr>
          </a:p>
        </p:txBody>
      </p:sp>
      <p:grpSp>
        <p:nvGrpSpPr>
          <p:cNvPr id="5" name="Group 3"/>
          <p:cNvGrpSpPr/>
          <p:nvPr/>
        </p:nvGrpSpPr>
        <p:grpSpPr>
          <a:xfrm>
            <a:off x="2547577" y="2996625"/>
            <a:ext cx="3995377" cy="1041975"/>
            <a:chOff x="2068535" y="1462086"/>
            <a:chExt cx="3005133" cy="1041975"/>
          </a:xfrm>
        </p:grpSpPr>
        <p:grpSp>
          <p:nvGrpSpPr>
            <p:cNvPr id="6" name="Group 24"/>
            <p:cNvGrpSpPr/>
            <p:nvPr/>
          </p:nvGrpSpPr>
          <p:grpSpPr>
            <a:xfrm>
              <a:off x="2068535" y="1462086"/>
              <a:ext cx="3005133" cy="838200"/>
              <a:chOff x="2068535" y="1462086"/>
              <a:chExt cx="3005133" cy="838200"/>
            </a:xfrm>
          </p:grpSpPr>
          <p:sp>
            <p:nvSpPr>
              <p:cNvPr id="8" name="TextBox 7"/>
              <p:cNvSpPr txBox="1"/>
              <p:nvPr/>
            </p:nvSpPr>
            <p:spPr>
              <a:xfrm>
                <a:off x="2068535" y="1715511"/>
                <a:ext cx="1113770" cy="584775"/>
              </a:xfrm>
              <a:prstGeom prst="rect">
                <a:avLst/>
              </a:prstGeom>
              <a:noFill/>
            </p:spPr>
            <p:txBody>
              <a:bodyPr wrap="square" rtlCol="0">
                <a:spAutoFit/>
              </a:bodyPr>
              <a:lstStyle/>
              <a:p>
                <a:r>
                  <a:rPr lang="en-US" altLang="zh-CN" sz="3200" dirty="0"/>
                  <a:t> K</a:t>
                </a:r>
                <a:r>
                  <a:rPr lang="en-US" altLang="zh-CN" sz="3200" baseline="-25000" dirty="0"/>
                  <a:t>b</a:t>
                </a:r>
                <a:r>
                  <a:rPr lang="en-US" altLang="zh-CN" sz="3200" dirty="0"/>
                  <a:t>   =</a:t>
                </a:r>
                <a:endParaRPr lang="en-US" sz="3200" dirty="0"/>
              </a:p>
            </p:txBody>
          </p:sp>
          <p:cxnSp>
            <p:nvCxnSpPr>
              <p:cNvPr id="9" name="Straight Connector 8"/>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763718" y="1462086"/>
                <a:ext cx="2309950" cy="584775"/>
              </a:xfrm>
              <a:prstGeom prst="rect">
                <a:avLst/>
              </a:prstGeom>
              <a:noFill/>
            </p:spPr>
            <p:txBody>
              <a:bodyPr wrap="square" rtlCol="0">
                <a:spAutoFit/>
              </a:bodyPr>
              <a:lstStyle/>
              <a:p>
                <a:r>
                  <a:rPr lang="en-US" sz="3200" dirty="0"/>
                  <a:t> [NH</a:t>
                </a:r>
                <a:r>
                  <a:rPr lang="en-US" sz="3200" baseline="-25000" dirty="0"/>
                  <a:t>4</a:t>
                </a:r>
                <a:r>
                  <a:rPr lang="en-US" sz="3200" baseline="30000" dirty="0"/>
                  <a:t>+</a:t>
                </a:r>
                <a:r>
                  <a:rPr lang="en-US" sz="3200" dirty="0"/>
                  <a:t>] [OH</a:t>
                </a:r>
                <a:r>
                  <a:rPr lang="en-US" sz="3200" baseline="30000" dirty="0"/>
                  <a:t>-</a:t>
                </a:r>
                <a:r>
                  <a:rPr lang="en-US" sz="3200" dirty="0"/>
                  <a:t> ]</a:t>
                </a:r>
              </a:p>
            </p:txBody>
          </p:sp>
        </p:grpSp>
        <p:sp>
          <p:nvSpPr>
            <p:cNvPr id="7" name="TextBox 5"/>
            <p:cNvSpPr txBox="1"/>
            <p:nvPr/>
          </p:nvSpPr>
          <p:spPr>
            <a:xfrm>
              <a:off x="2609165" y="1919286"/>
              <a:ext cx="1861860" cy="584775"/>
            </a:xfrm>
            <a:prstGeom prst="rect">
              <a:avLst/>
            </a:prstGeom>
            <a:noFill/>
          </p:spPr>
          <p:txBody>
            <a:bodyPr wrap="square" rtlCol="0">
              <a:spAutoFit/>
            </a:bodyPr>
            <a:lstStyle/>
            <a:p>
              <a:r>
                <a:rPr lang="en-US" altLang="zh-CN" sz="3200" dirty="0"/>
                <a:t>    [</a:t>
              </a:r>
              <a:r>
                <a:rPr lang="en-US" altLang="zh-CN" sz="3200" dirty="0">
                  <a:sym typeface="Wingdings" pitchFamily="2" charset="2"/>
                </a:rPr>
                <a:t>NH</a:t>
              </a:r>
              <a:r>
                <a:rPr lang="en-US" altLang="zh-CN" sz="3200" baseline="-25000" dirty="0">
                  <a:sym typeface="Wingdings" pitchFamily="2" charset="2"/>
                </a:rPr>
                <a:t>3</a:t>
              </a:r>
              <a:r>
                <a:rPr lang="en-US" altLang="zh-CN" sz="3200" dirty="0">
                  <a:latin typeface="Arial"/>
                  <a:cs typeface="Arial"/>
                  <a:sym typeface="Wingdings" pitchFamily="2" charset="2"/>
                </a:rPr>
                <a:t>·</a:t>
              </a:r>
              <a:r>
                <a:rPr lang="en-US" altLang="zh-CN" sz="3200" dirty="0">
                  <a:sym typeface="Wingdings" pitchFamily="2" charset="2"/>
                </a:rPr>
                <a:t>H</a:t>
              </a:r>
              <a:r>
                <a:rPr lang="en-US" altLang="zh-CN" sz="3200" baseline="-25000" dirty="0">
                  <a:sym typeface="Wingdings" pitchFamily="2" charset="2"/>
                </a:rPr>
                <a:t>2</a:t>
              </a:r>
              <a:r>
                <a:rPr lang="en-US" altLang="zh-CN" sz="3200" dirty="0">
                  <a:sym typeface="Wingdings" pitchFamily="2" charset="2"/>
                </a:rPr>
                <a:t>O</a:t>
              </a:r>
              <a:r>
                <a:rPr lang="en-US" altLang="zh-CN" sz="3200" dirty="0"/>
                <a:t>]</a:t>
              </a:r>
              <a:endParaRPr lang="en-US" sz="3200" dirty="0"/>
            </a:p>
          </p:txBody>
        </p:sp>
      </p:grpSp>
      <p:grpSp>
        <p:nvGrpSpPr>
          <p:cNvPr id="11" name="Group 3"/>
          <p:cNvGrpSpPr/>
          <p:nvPr/>
        </p:nvGrpSpPr>
        <p:grpSpPr>
          <a:xfrm>
            <a:off x="1752600" y="3911025"/>
            <a:ext cx="4909776" cy="1041975"/>
            <a:chOff x="1380767" y="1462086"/>
            <a:chExt cx="3692901" cy="1041975"/>
          </a:xfrm>
        </p:grpSpPr>
        <p:grpSp>
          <p:nvGrpSpPr>
            <p:cNvPr id="12" name="Group 24"/>
            <p:cNvGrpSpPr/>
            <p:nvPr/>
          </p:nvGrpSpPr>
          <p:grpSpPr>
            <a:xfrm>
              <a:off x="1380767" y="1462086"/>
              <a:ext cx="3692901" cy="838200"/>
              <a:chOff x="1380767" y="1462086"/>
              <a:chExt cx="3692901" cy="838200"/>
            </a:xfrm>
          </p:grpSpPr>
          <p:sp>
            <p:nvSpPr>
              <p:cNvPr id="14" name="TextBox 13"/>
              <p:cNvSpPr txBox="1"/>
              <p:nvPr/>
            </p:nvSpPr>
            <p:spPr>
              <a:xfrm>
                <a:off x="1380767" y="1715511"/>
                <a:ext cx="2030795" cy="584775"/>
              </a:xfrm>
              <a:prstGeom prst="rect">
                <a:avLst/>
              </a:prstGeom>
              <a:noFill/>
            </p:spPr>
            <p:txBody>
              <a:bodyPr wrap="square" rtlCol="0">
                <a:spAutoFit/>
              </a:bodyPr>
              <a:lstStyle/>
              <a:p>
                <a:r>
                  <a:rPr lang="en-US" altLang="zh-CN" sz="3200" dirty="0"/>
                  <a:t>1.8x10</a:t>
                </a:r>
                <a:r>
                  <a:rPr lang="en-US" altLang="zh-CN" sz="3200" baseline="30000" dirty="0"/>
                  <a:t>-5</a:t>
                </a:r>
                <a:r>
                  <a:rPr lang="en-US" altLang="zh-CN" sz="3200" dirty="0"/>
                  <a:t>   =</a:t>
                </a:r>
                <a:endParaRPr lang="en-US" sz="3200" dirty="0"/>
              </a:p>
            </p:txBody>
          </p:sp>
          <p:cxnSp>
            <p:nvCxnSpPr>
              <p:cNvPr id="15" name="Straight Connector 14"/>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763718" y="1462086"/>
                <a:ext cx="2309950" cy="584775"/>
              </a:xfrm>
              <a:prstGeom prst="rect">
                <a:avLst/>
              </a:prstGeom>
              <a:noFill/>
            </p:spPr>
            <p:txBody>
              <a:bodyPr wrap="square" rtlCol="0">
                <a:spAutoFit/>
              </a:bodyPr>
              <a:lstStyle/>
              <a:p>
                <a:r>
                  <a:rPr lang="en-US" sz="3200" dirty="0"/>
                  <a:t>     (x)(0.1+x)</a:t>
                </a:r>
              </a:p>
            </p:txBody>
          </p:sp>
        </p:grpSp>
        <p:sp>
          <p:nvSpPr>
            <p:cNvPr id="13" name="TextBox 5"/>
            <p:cNvSpPr txBox="1"/>
            <p:nvPr/>
          </p:nvSpPr>
          <p:spPr>
            <a:xfrm>
              <a:off x="2957748" y="1919286"/>
              <a:ext cx="1861860" cy="584775"/>
            </a:xfrm>
            <a:prstGeom prst="rect">
              <a:avLst/>
            </a:prstGeom>
            <a:noFill/>
          </p:spPr>
          <p:txBody>
            <a:bodyPr wrap="square" rtlCol="0">
              <a:spAutoFit/>
            </a:bodyPr>
            <a:lstStyle/>
            <a:p>
              <a:r>
                <a:rPr lang="en-US" altLang="zh-CN" sz="3200" dirty="0"/>
                <a:t>    0.1-x</a:t>
              </a:r>
              <a:endParaRPr lang="en-US" sz="3200" dirty="0"/>
            </a:p>
          </p:txBody>
        </p:sp>
      </p:grpSp>
      <p:grpSp>
        <p:nvGrpSpPr>
          <p:cNvPr id="17" name="Group 15"/>
          <p:cNvGrpSpPr/>
          <p:nvPr/>
        </p:nvGrpSpPr>
        <p:grpSpPr>
          <a:xfrm>
            <a:off x="5214577" y="3962400"/>
            <a:ext cx="1554480" cy="457200"/>
            <a:chOff x="4191000" y="5181600"/>
            <a:chExt cx="1554480" cy="457200"/>
          </a:xfrm>
        </p:grpSpPr>
        <p:sp>
          <p:nvSpPr>
            <p:cNvPr id="18" name="Oval 17"/>
            <p:cNvSpPr/>
            <p:nvPr/>
          </p:nvSpPr>
          <p:spPr>
            <a:xfrm>
              <a:off x="4191000" y="5181600"/>
              <a:ext cx="457200" cy="45720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Curved Connector 18"/>
            <p:cNvCxnSpPr>
              <a:stCxn id="18" idx="6"/>
            </p:cNvCxnSpPr>
            <p:nvPr/>
          </p:nvCxnSpPr>
          <p:spPr>
            <a:xfrm>
              <a:off x="4648200" y="5410200"/>
              <a:ext cx="1097280" cy="91440"/>
            </a:xfrm>
            <a:prstGeom prst="curvedConnector3">
              <a:avLst>
                <a:gd name="adj1" fmla="val 50000"/>
              </a:avLst>
            </a:prstGeom>
            <a:ln w="34925">
              <a:solidFill>
                <a:srgbClr val="002060"/>
              </a:solidFill>
              <a:tailEnd type="arrow"/>
            </a:ln>
          </p:spPr>
          <p:style>
            <a:lnRef idx="1">
              <a:schemeClr val="accent2"/>
            </a:lnRef>
            <a:fillRef idx="0">
              <a:schemeClr val="accent2"/>
            </a:fillRef>
            <a:effectRef idx="0">
              <a:schemeClr val="accent2"/>
            </a:effectRef>
            <a:fontRef idx="minor">
              <a:schemeClr val="tx1"/>
            </a:fontRef>
          </p:style>
        </p:cxnSp>
      </p:grpSp>
      <p:sp>
        <p:nvSpPr>
          <p:cNvPr id="20" name="TextBox 19"/>
          <p:cNvSpPr txBox="1"/>
          <p:nvPr/>
        </p:nvSpPr>
        <p:spPr>
          <a:xfrm>
            <a:off x="6817436" y="4038600"/>
            <a:ext cx="1826141" cy="584775"/>
          </a:xfrm>
          <a:prstGeom prst="rect">
            <a:avLst/>
          </a:prstGeom>
          <a:solidFill>
            <a:srgbClr val="E2CFF1"/>
          </a:solidFill>
          <a:ln>
            <a:solidFill>
              <a:srgbClr val="00206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dirty="0"/>
              <a:t>忽略不计</a:t>
            </a:r>
            <a:endParaRPr lang="en-US" sz="3000" dirty="0"/>
          </a:p>
        </p:txBody>
      </p:sp>
      <p:grpSp>
        <p:nvGrpSpPr>
          <p:cNvPr id="21" name="Group 15"/>
          <p:cNvGrpSpPr/>
          <p:nvPr/>
        </p:nvGrpSpPr>
        <p:grpSpPr>
          <a:xfrm>
            <a:off x="4757377" y="4267200"/>
            <a:ext cx="1981200" cy="609600"/>
            <a:chOff x="4191000" y="5029200"/>
            <a:chExt cx="1981200" cy="609600"/>
          </a:xfrm>
        </p:grpSpPr>
        <p:sp>
          <p:nvSpPr>
            <p:cNvPr id="22" name="Oval 21"/>
            <p:cNvSpPr/>
            <p:nvPr/>
          </p:nvSpPr>
          <p:spPr>
            <a:xfrm>
              <a:off x="4191000" y="5181600"/>
              <a:ext cx="457200" cy="45720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Curved Connector 22"/>
            <p:cNvCxnSpPr>
              <a:stCxn id="22" idx="6"/>
            </p:cNvCxnSpPr>
            <p:nvPr/>
          </p:nvCxnSpPr>
          <p:spPr>
            <a:xfrm flipV="1">
              <a:off x="4648200" y="5029200"/>
              <a:ext cx="1524000" cy="381000"/>
            </a:xfrm>
            <a:prstGeom prst="curvedConnector3">
              <a:avLst>
                <a:gd name="adj1" fmla="val 50000"/>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grpSp>
      <p:grpSp>
        <p:nvGrpSpPr>
          <p:cNvPr id="25" name="Group 3"/>
          <p:cNvGrpSpPr/>
          <p:nvPr/>
        </p:nvGrpSpPr>
        <p:grpSpPr>
          <a:xfrm>
            <a:off x="1785577" y="4749225"/>
            <a:ext cx="4909776" cy="1041975"/>
            <a:chOff x="1380767" y="1462086"/>
            <a:chExt cx="3692901" cy="1041975"/>
          </a:xfrm>
        </p:grpSpPr>
        <p:grpSp>
          <p:nvGrpSpPr>
            <p:cNvPr id="26" name="Group 24"/>
            <p:cNvGrpSpPr/>
            <p:nvPr/>
          </p:nvGrpSpPr>
          <p:grpSpPr>
            <a:xfrm>
              <a:off x="1380767" y="1462086"/>
              <a:ext cx="3692901" cy="838200"/>
              <a:chOff x="1380767" y="1462086"/>
              <a:chExt cx="3692901" cy="838200"/>
            </a:xfrm>
          </p:grpSpPr>
          <p:sp>
            <p:nvSpPr>
              <p:cNvPr id="28" name="TextBox 27"/>
              <p:cNvSpPr txBox="1"/>
              <p:nvPr/>
            </p:nvSpPr>
            <p:spPr>
              <a:xfrm>
                <a:off x="1380767" y="1715511"/>
                <a:ext cx="2030795" cy="584775"/>
              </a:xfrm>
              <a:prstGeom prst="rect">
                <a:avLst/>
              </a:prstGeom>
              <a:noFill/>
            </p:spPr>
            <p:txBody>
              <a:bodyPr wrap="square" rtlCol="0">
                <a:spAutoFit/>
              </a:bodyPr>
              <a:lstStyle/>
              <a:p>
                <a:r>
                  <a:rPr lang="en-US" altLang="zh-CN" sz="3200" dirty="0"/>
                  <a:t>1.8x10</a:t>
                </a:r>
                <a:r>
                  <a:rPr lang="en-US" altLang="zh-CN" sz="3200" baseline="30000" dirty="0"/>
                  <a:t>-5</a:t>
                </a:r>
                <a:r>
                  <a:rPr lang="en-US" altLang="zh-CN" sz="3200" dirty="0"/>
                  <a:t>   =</a:t>
                </a:r>
                <a:endParaRPr lang="en-US" sz="3200" dirty="0"/>
              </a:p>
            </p:txBody>
          </p:sp>
          <p:cxnSp>
            <p:nvCxnSpPr>
              <p:cNvPr id="29" name="Straight Connector 28"/>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763718" y="1462086"/>
                <a:ext cx="2309950" cy="584775"/>
              </a:xfrm>
              <a:prstGeom prst="rect">
                <a:avLst/>
              </a:prstGeom>
              <a:noFill/>
            </p:spPr>
            <p:txBody>
              <a:bodyPr wrap="square" rtlCol="0">
                <a:spAutoFit/>
              </a:bodyPr>
              <a:lstStyle/>
              <a:p>
                <a:r>
                  <a:rPr lang="en-US" sz="3200" dirty="0"/>
                  <a:t>     (x)(0.1)</a:t>
                </a:r>
              </a:p>
            </p:txBody>
          </p:sp>
        </p:grpSp>
        <p:sp>
          <p:nvSpPr>
            <p:cNvPr id="27" name="TextBox 5"/>
            <p:cNvSpPr txBox="1"/>
            <p:nvPr/>
          </p:nvSpPr>
          <p:spPr>
            <a:xfrm>
              <a:off x="2957748" y="1919286"/>
              <a:ext cx="1861860" cy="584775"/>
            </a:xfrm>
            <a:prstGeom prst="rect">
              <a:avLst/>
            </a:prstGeom>
            <a:noFill/>
          </p:spPr>
          <p:txBody>
            <a:bodyPr wrap="square" rtlCol="0">
              <a:spAutoFit/>
            </a:bodyPr>
            <a:lstStyle/>
            <a:p>
              <a:r>
                <a:rPr lang="en-US" altLang="zh-CN" sz="3200" dirty="0"/>
                <a:t>    0.1</a:t>
              </a:r>
              <a:endParaRPr lang="en-US" sz="3200" dirty="0"/>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par>
                                <p:cTn id="38" presetID="3" presetClass="entr" presetSubtype="1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blinds(horizontal)">
                                      <p:cBhvr>
                                        <p:cTn id="40" dur="500"/>
                                        <p:tgtEl>
                                          <p:spTgt spid="21"/>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blinds(horizontal)">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blinds(horizontal)">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blinds(horizontal)">
                                      <p:cBhvr>
                                        <p:cTn id="53" dur="500"/>
                                        <p:tgtEl>
                                          <p:spTgt spid="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blinds(horizontal)">
                                      <p:cBhvr>
                                        <p:cTn id="5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23c</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spcAft>
                <a:spcPts val="600"/>
              </a:spcAft>
              <a:buNone/>
            </a:pPr>
            <a:r>
              <a:rPr lang="en-US" altLang="zh-CN" sz="3000" dirty="0">
                <a:sym typeface="Wingdings" pitchFamily="2" charset="2"/>
              </a:rPr>
              <a:t>2.</a:t>
            </a:r>
            <a:r>
              <a:rPr lang="zh-CN" altLang="en-US" sz="3000" dirty="0">
                <a:sym typeface="Wingdings" pitchFamily="2" charset="2"/>
              </a:rPr>
              <a:t>已知：</a:t>
            </a:r>
            <a:r>
              <a:rPr lang="en-US" altLang="zh-CN" sz="3000" dirty="0">
                <a:sym typeface="Wingdings" pitchFamily="2" charset="2"/>
              </a:rPr>
              <a:t>c=1M</a:t>
            </a:r>
            <a:r>
              <a:rPr lang="zh-CN" altLang="en-US" sz="3000" dirty="0">
                <a:sym typeface="Wingdings" pitchFamily="2" charset="2"/>
              </a:rPr>
              <a:t>，</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0.0042M</a:t>
            </a:r>
          </a:p>
          <a:p>
            <a:pPr>
              <a:lnSpc>
                <a:spcPct val="150000"/>
              </a:lnSpc>
              <a:spcBef>
                <a:spcPts val="0"/>
              </a:spcBef>
              <a:spcAft>
                <a:spcPts val="600"/>
              </a:spcAft>
              <a:buNone/>
            </a:pPr>
            <a:r>
              <a:rPr lang="en-US" altLang="zh-CN" sz="3000" dirty="0">
                <a:sym typeface="Wingdings" pitchFamily="2" charset="2"/>
              </a:rPr>
              <a:t>				  c</a:t>
            </a:r>
            <a:r>
              <a:rPr lang="el-GR" altLang="zh-CN" sz="3000" dirty="0">
                <a:sym typeface="Wingdings" pitchFamily="2" charset="2"/>
              </a:rPr>
              <a:t>α</a:t>
            </a:r>
            <a:r>
              <a:rPr lang="en-US" altLang="zh-CN" sz="3000" dirty="0">
                <a:sym typeface="Wingdings" pitchFamily="2" charset="2"/>
              </a:rPr>
              <a:t> = 0.0042</a:t>
            </a:r>
          </a:p>
          <a:p>
            <a:pPr>
              <a:lnSpc>
                <a:spcPct val="150000"/>
              </a:lnSpc>
              <a:spcBef>
                <a:spcPts val="0"/>
              </a:spcBef>
              <a:spcAft>
                <a:spcPts val="600"/>
              </a:spcAft>
              <a:buNone/>
            </a:pPr>
            <a:r>
              <a:rPr lang="en-US" altLang="zh-CN" sz="3000" dirty="0">
                <a:sym typeface="Wingdings" pitchFamily="2" charset="2"/>
              </a:rPr>
              <a:t>				    </a:t>
            </a:r>
            <a:r>
              <a:rPr lang="el-GR" altLang="zh-CN" sz="3000" dirty="0">
                <a:sym typeface="Wingdings" pitchFamily="2" charset="2"/>
              </a:rPr>
              <a:t>α</a:t>
            </a:r>
            <a:r>
              <a:rPr lang="en-US" altLang="zh-CN" sz="3000" dirty="0">
                <a:sym typeface="Wingdings" pitchFamily="2" charset="2"/>
              </a:rPr>
              <a:t> = </a:t>
            </a:r>
          </a:p>
          <a:p>
            <a:pPr>
              <a:lnSpc>
                <a:spcPct val="150000"/>
              </a:lnSpc>
              <a:spcBef>
                <a:spcPts val="0"/>
              </a:spcBef>
              <a:spcAft>
                <a:spcPts val="600"/>
              </a:spcAft>
              <a:buNone/>
            </a:pPr>
            <a:r>
              <a:rPr lang="en-US" altLang="zh-CN" sz="3000" dirty="0">
                <a:sym typeface="Wingdings" pitchFamily="2" charset="2"/>
              </a:rPr>
              <a:t>				       = 0.42%</a:t>
            </a:r>
          </a:p>
          <a:p>
            <a:pPr>
              <a:spcBef>
                <a:spcPts val="0"/>
              </a:spcBef>
              <a:spcAft>
                <a:spcPts val="600"/>
              </a:spcAft>
              <a:buNone/>
            </a:pPr>
            <a:r>
              <a:rPr lang="en-US" altLang="zh-CN" sz="3000" baseline="30000" dirty="0">
                <a:sym typeface="Wingdings" pitchFamily="2" charset="2"/>
              </a:rPr>
              <a:t> </a:t>
            </a:r>
            <a:r>
              <a:rPr lang="en-US" altLang="zh-CN" sz="3000" dirty="0">
                <a:sym typeface="Wingdings" pitchFamily="2" charset="2"/>
              </a:rPr>
              <a:t>  </a:t>
            </a:r>
            <a:r>
              <a:rPr lang="zh-CN" altLang="en-US" sz="3000" dirty="0">
                <a:sym typeface="Wingdings" pitchFamily="2" charset="2"/>
              </a:rPr>
              <a:t>公式：</a:t>
            </a:r>
            <a:r>
              <a:rPr lang="en-US" altLang="zh-CN" sz="3000" dirty="0">
                <a:sym typeface="Wingdings" pitchFamily="2" charset="2"/>
              </a:rPr>
              <a:t>K</a:t>
            </a:r>
            <a:r>
              <a:rPr lang="en-US" altLang="zh-CN" sz="3000" baseline="-25000" dirty="0">
                <a:sym typeface="Wingdings" pitchFamily="2" charset="2"/>
              </a:rPr>
              <a:t>a</a:t>
            </a:r>
            <a:r>
              <a:rPr lang="en-US" altLang="zh-CN" sz="3000" dirty="0">
                <a:sym typeface="Wingdings" pitchFamily="2" charset="2"/>
              </a:rPr>
              <a:t> 	= c</a:t>
            </a:r>
            <a:r>
              <a:rPr lang="el-GR" altLang="zh-CN" sz="3000" dirty="0">
                <a:sym typeface="Wingdings" pitchFamily="2" charset="2"/>
              </a:rPr>
              <a:t>α</a:t>
            </a:r>
            <a:r>
              <a:rPr lang="en-US" altLang="zh-CN" sz="3000" baseline="30000" dirty="0">
                <a:sym typeface="Wingdings" pitchFamily="2" charset="2"/>
              </a:rPr>
              <a:t>2</a:t>
            </a:r>
            <a:r>
              <a:rPr lang="en-US" altLang="zh-CN" sz="3000" dirty="0">
                <a:sym typeface="Wingdings" pitchFamily="2" charset="2"/>
              </a:rPr>
              <a:t>  </a:t>
            </a:r>
          </a:p>
          <a:p>
            <a:pPr>
              <a:spcBef>
                <a:spcPts val="0"/>
              </a:spcBef>
              <a:spcAft>
                <a:spcPts val="600"/>
              </a:spcAft>
              <a:buNone/>
            </a:pPr>
            <a:r>
              <a:rPr lang="en-US" altLang="zh-CN" sz="3000" dirty="0">
                <a:sym typeface="Wingdings" pitchFamily="2" charset="2"/>
              </a:rPr>
              <a:t>			= 1 x (0.0042)</a:t>
            </a:r>
            <a:r>
              <a:rPr lang="en-US" altLang="zh-CN" sz="3000" baseline="30000" dirty="0">
                <a:sym typeface="Wingdings" pitchFamily="2" charset="2"/>
              </a:rPr>
              <a:t>2</a:t>
            </a:r>
            <a:r>
              <a:rPr lang="en-US" altLang="zh-CN" sz="3000" dirty="0">
                <a:sym typeface="Wingdings" pitchFamily="2" charset="2"/>
              </a:rPr>
              <a:t> </a:t>
            </a:r>
          </a:p>
          <a:p>
            <a:pPr>
              <a:spcBef>
                <a:spcPts val="0"/>
              </a:spcBef>
              <a:spcAft>
                <a:spcPts val="600"/>
              </a:spcAft>
              <a:buNone/>
            </a:pPr>
            <a:r>
              <a:rPr lang="en-US" altLang="zh-CN" sz="3000" dirty="0">
                <a:sym typeface="Wingdings" pitchFamily="2" charset="2"/>
              </a:rPr>
              <a:t>		 	= 1.76 x10</a:t>
            </a:r>
            <a:r>
              <a:rPr lang="en-US" altLang="zh-CN" sz="3000" baseline="30000" dirty="0">
                <a:sym typeface="Wingdings" pitchFamily="2" charset="2"/>
              </a:rPr>
              <a:t>-5</a:t>
            </a:r>
            <a:r>
              <a:rPr lang="en-US" altLang="zh-CN" sz="3000" dirty="0">
                <a:sym typeface="Wingdings" pitchFamily="2" charset="2"/>
              </a:rPr>
              <a:t> </a:t>
            </a:r>
          </a:p>
          <a:p>
            <a:pPr>
              <a:spcBef>
                <a:spcPts val="0"/>
              </a:spcBef>
              <a:spcAft>
                <a:spcPts val="600"/>
              </a:spcAft>
              <a:buNone/>
            </a:pPr>
            <a:endParaRPr lang="en-US" altLang="zh-CN" sz="3000" dirty="0">
              <a:sym typeface="Wingdings" pitchFamily="2" charset="2"/>
            </a:endParaRPr>
          </a:p>
          <a:p>
            <a:pPr>
              <a:spcBef>
                <a:spcPts val="0"/>
              </a:spcBef>
              <a:buNone/>
            </a:pPr>
            <a:r>
              <a:rPr lang="en-US" altLang="zh-CN" sz="3000" dirty="0">
                <a:sym typeface="Wingdings" pitchFamily="2" charset="2"/>
              </a:rPr>
              <a:t> </a:t>
            </a:r>
          </a:p>
        </p:txBody>
      </p:sp>
      <p:graphicFrame>
        <p:nvGraphicFramePr>
          <p:cNvPr id="5" name="Object 4"/>
          <p:cNvGraphicFramePr>
            <a:graphicFrameLocks noChangeAspect="1"/>
          </p:cNvGraphicFramePr>
          <p:nvPr/>
        </p:nvGraphicFramePr>
        <p:xfrm>
          <a:off x="4019550" y="2362200"/>
          <a:ext cx="1085850" cy="762000"/>
        </p:xfrm>
        <a:graphic>
          <a:graphicData uri="http://schemas.openxmlformats.org/presentationml/2006/ole">
            <mc:AlternateContent xmlns:mc="http://schemas.openxmlformats.org/markup-compatibility/2006">
              <mc:Choice xmlns:v="urn:schemas-microsoft-com:vml" Requires="v">
                <p:oleObj spid="_x0000_s33794" name="Equation" r:id="rId3" imgW="495000" imgH="393480" progId="Equation.3">
                  <p:embed/>
                </p:oleObj>
              </mc:Choice>
              <mc:Fallback>
                <p:oleObj name="Equation" r:id="rId3" imgW="49500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9550" y="2362200"/>
                        <a:ext cx="108585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5" name="Object 3"/>
          <p:cNvGraphicFramePr>
            <a:graphicFrameLocks noChangeAspect="1"/>
          </p:cNvGraphicFramePr>
          <p:nvPr/>
        </p:nvGraphicFramePr>
        <p:xfrm>
          <a:off x="5943600" y="2779713"/>
          <a:ext cx="1477962" cy="1038225"/>
        </p:xfrm>
        <a:graphic>
          <a:graphicData uri="http://schemas.openxmlformats.org/presentationml/2006/ole">
            <mc:AlternateContent xmlns:mc="http://schemas.openxmlformats.org/markup-compatibility/2006">
              <mc:Choice xmlns:v="urn:schemas-microsoft-com:vml" Requires="v">
                <p:oleObj spid="_x0000_s33795" name="Equation" r:id="rId5" imgW="685800" imgH="482400" progId="Equation.3">
                  <p:embed/>
                </p:oleObj>
              </mc:Choice>
              <mc:Fallback>
                <p:oleObj name="Equation" r:id="rId5" imgW="685800" imgH="4824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2779713"/>
                        <a:ext cx="1477962"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6" name="Object 4"/>
          <p:cNvGraphicFramePr>
            <a:graphicFrameLocks noChangeAspect="1"/>
          </p:cNvGraphicFramePr>
          <p:nvPr/>
        </p:nvGraphicFramePr>
        <p:xfrm>
          <a:off x="6337299" y="3810000"/>
          <a:ext cx="1998663" cy="985838"/>
        </p:xfrm>
        <a:graphic>
          <a:graphicData uri="http://schemas.openxmlformats.org/presentationml/2006/ole">
            <mc:AlternateContent xmlns:mc="http://schemas.openxmlformats.org/markup-compatibility/2006">
              <mc:Choice xmlns:v="urn:schemas-microsoft-com:vml" Requires="v">
                <p:oleObj spid="_x0000_s33796" name="Equation" r:id="rId7" imgW="927000" imgH="457200" progId="Equation.3">
                  <p:embed/>
                </p:oleObj>
              </mc:Choice>
              <mc:Fallback>
                <p:oleObj name="Equation" r:id="rId7" imgW="927000" imgH="4572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37299" y="3810000"/>
                        <a:ext cx="1998663"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7" name="Object 5"/>
          <p:cNvGraphicFramePr>
            <a:graphicFrameLocks noChangeAspect="1"/>
          </p:cNvGraphicFramePr>
          <p:nvPr/>
        </p:nvGraphicFramePr>
        <p:xfrm>
          <a:off x="6438899" y="4800600"/>
          <a:ext cx="1643063" cy="438150"/>
        </p:xfrm>
        <a:graphic>
          <a:graphicData uri="http://schemas.openxmlformats.org/presentationml/2006/ole">
            <mc:AlternateContent xmlns:mc="http://schemas.openxmlformats.org/markup-compatibility/2006">
              <mc:Choice xmlns:v="urn:schemas-microsoft-com:vml" Requires="v">
                <p:oleObj spid="_x0000_s33797" name="Equation" r:id="rId9" imgW="761760" imgH="203040" progId="Equation.3">
                  <p:embed/>
                </p:oleObj>
              </mc:Choice>
              <mc:Fallback>
                <p:oleObj name="Equation" r:id="rId9" imgW="761760" imgH="2030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38899" y="4800600"/>
                        <a:ext cx="1643063"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8" name="Object 6"/>
          <p:cNvGraphicFramePr>
            <a:graphicFrameLocks noChangeAspect="1"/>
          </p:cNvGraphicFramePr>
          <p:nvPr/>
        </p:nvGraphicFramePr>
        <p:xfrm>
          <a:off x="6442075" y="5456238"/>
          <a:ext cx="1177925" cy="382587"/>
        </p:xfrm>
        <a:graphic>
          <a:graphicData uri="http://schemas.openxmlformats.org/presentationml/2006/ole">
            <mc:AlternateContent xmlns:mc="http://schemas.openxmlformats.org/markup-compatibility/2006">
              <mc:Choice xmlns:v="urn:schemas-microsoft-com:vml" Requires="v">
                <p:oleObj spid="_x0000_s33798" name="Equation" r:id="rId11" imgW="545760" imgH="177480" progId="Equation.3">
                  <p:embed/>
                </p:oleObj>
              </mc:Choice>
              <mc:Fallback>
                <p:oleObj name="Equation" r:id="rId11" imgW="545760" imgH="17748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42075" y="5456238"/>
                        <a:ext cx="1177925" cy="38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3795"/>
                                        </p:tgtEl>
                                        <p:attrNameLst>
                                          <p:attrName>style.visibility</p:attrName>
                                        </p:attrNameLst>
                                      </p:cBhvr>
                                      <p:to>
                                        <p:strVal val="visible"/>
                                      </p:to>
                                    </p:set>
                                    <p:animEffect transition="in" filter="blinds(horizontal)">
                                      <p:cBhvr>
                                        <p:cTn id="52" dur="500"/>
                                        <p:tgtEl>
                                          <p:spTgt spid="3379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3796"/>
                                        </p:tgtEl>
                                        <p:attrNameLst>
                                          <p:attrName>style.visibility</p:attrName>
                                        </p:attrNameLst>
                                      </p:cBhvr>
                                      <p:to>
                                        <p:strVal val="visible"/>
                                      </p:to>
                                    </p:set>
                                    <p:animEffect transition="in" filter="blinds(horizontal)">
                                      <p:cBhvr>
                                        <p:cTn id="57" dur="500"/>
                                        <p:tgtEl>
                                          <p:spTgt spid="3379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3797"/>
                                        </p:tgtEl>
                                        <p:attrNameLst>
                                          <p:attrName>style.visibility</p:attrName>
                                        </p:attrNameLst>
                                      </p:cBhvr>
                                      <p:to>
                                        <p:strVal val="visible"/>
                                      </p:to>
                                    </p:set>
                                    <p:animEffect transition="in" filter="blinds(horizontal)">
                                      <p:cBhvr>
                                        <p:cTn id="62" dur="500"/>
                                        <p:tgtEl>
                                          <p:spTgt spid="33797"/>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3798"/>
                                        </p:tgtEl>
                                        <p:attrNameLst>
                                          <p:attrName>style.visibility</p:attrName>
                                        </p:attrNameLst>
                                      </p:cBhvr>
                                      <p:to>
                                        <p:strVal val="visible"/>
                                      </p:to>
                                    </p:set>
                                    <p:animEffect transition="in" filter="blinds(horizontal)">
                                      <p:cBhvr>
                                        <p:cTn id="67" dur="500"/>
                                        <p:tgtEl>
                                          <p:spTgt spid="3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水的电离和溶液的</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lnSpc>
                <a:spcPct val="150000"/>
              </a:lnSpc>
              <a:spcBef>
                <a:spcPts val="0"/>
              </a:spcBef>
              <a:buFont typeface="Wingdings" pitchFamily="2" charset="2"/>
              <a:buChar char="Ø"/>
            </a:pPr>
            <a:r>
              <a:rPr lang="zh-CN" altLang="en-US" sz="3000" dirty="0">
                <a:sym typeface="Wingdings" pitchFamily="2" charset="2"/>
              </a:rPr>
              <a:t>水是一种极弱的电解质，能够微弱的电离</a:t>
            </a:r>
            <a:endParaRPr lang="en-US" altLang="zh-CN" sz="3000" dirty="0">
              <a:sym typeface="Wingdings" pitchFamily="2" charset="2"/>
            </a:endParaRPr>
          </a:p>
          <a:p>
            <a:pPr>
              <a:lnSpc>
                <a:spcPct val="150000"/>
              </a:lnSpc>
              <a:spcBef>
                <a:spcPts val="0"/>
              </a:spcBef>
              <a:buNone/>
            </a:pPr>
            <a:r>
              <a:rPr lang="en-US" altLang="zh-CN" sz="3000" dirty="0">
                <a:sym typeface="Wingdings" pitchFamily="2" charset="2"/>
              </a:rPr>
              <a:t>			H</a:t>
            </a:r>
            <a:r>
              <a:rPr lang="en-US" altLang="zh-CN" sz="3000" baseline="-25000" dirty="0">
                <a:sym typeface="Wingdings" pitchFamily="2" charset="2"/>
              </a:rPr>
              <a:t> 2</a:t>
            </a:r>
            <a:r>
              <a:rPr lang="en-US" altLang="zh-CN" sz="3000" dirty="0">
                <a:sym typeface="Wingdings" pitchFamily="2" charset="2"/>
              </a:rPr>
              <a:t>O (l)  </a:t>
            </a:r>
            <a:r>
              <a:rPr lang="zh-CN" altLang="en-US" sz="3000" dirty="0">
                <a:sym typeface="Wingdings" pitchFamily="2" charset="2"/>
              </a:rPr>
              <a:t>↔</a:t>
            </a: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a:t>
            </a:r>
          </a:p>
          <a:p>
            <a:pPr>
              <a:lnSpc>
                <a:spcPct val="150000"/>
              </a:lnSpc>
              <a:spcBef>
                <a:spcPts val="0"/>
              </a:spcBef>
              <a:buNone/>
            </a:pPr>
            <a:r>
              <a:rPr lang="en-US" altLang="zh-CN" sz="3000" dirty="0">
                <a:sym typeface="Wingdings" pitchFamily="2" charset="2"/>
              </a:rPr>
              <a:t>			</a:t>
            </a:r>
            <a:r>
              <a:rPr lang="en-US" altLang="zh-CN" sz="3000" dirty="0" err="1">
                <a:sym typeface="Wingdings" pitchFamily="2" charset="2"/>
              </a:rPr>
              <a:t>K</a:t>
            </a:r>
            <a:r>
              <a:rPr lang="en-US" altLang="zh-CN" sz="3000" baseline="-25000" dirty="0" err="1">
                <a:sym typeface="Wingdings" pitchFamily="2" charset="2"/>
              </a:rPr>
              <a:t>w</a:t>
            </a:r>
            <a:r>
              <a:rPr lang="en-US" altLang="zh-CN" sz="3000" baseline="-25000" dirty="0">
                <a:sym typeface="Wingdings" pitchFamily="2" charset="2"/>
              </a:rPr>
              <a:t> </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[OH</a:t>
            </a:r>
            <a:r>
              <a:rPr lang="en-US" altLang="zh-CN" sz="3000" baseline="30000" dirty="0">
                <a:sym typeface="Wingdings" pitchFamily="2" charset="2"/>
              </a:rPr>
              <a:t>-</a:t>
            </a:r>
            <a:r>
              <a:rPr lang="en-US" altLang="zh-CN" sz="3000" dirty="0">
                <a:sym typeface="Wingdings" pitchFamily="2" charset="2"/>
              </a:rPr>
              <a:t>]</a:t>
            </a:r>
          </a:p>
          <a:p>
            <a:pPr>
              <a:lnSpc>
                <a:spcPct val="150000"/>
              </a:lnSpc>
              <a:spcBef>
                <a:spcPts val="0"/>
              </a:spcBef>
              <a:buNone/>
            </a:pPr>
            <a:r>
              <a:rPr lang="en-US" altLang="zh-CN" sz="3000" dirty="0" err="1">
                <a:sym typeface="Wingdings" pitchFamily="2" charset="2"/>
              </a:rPr>
              <a:t>K</a:t>
            </a:r>
            <a:r>
              <a:rPr lang="en-US" altLang="zh-CN" sz="3000" baseline="-25000" dirty="0" err="1">
                <a:sym typeface="Wingdings" pitchFamily="2" charset="2"/>
              </a:rPr>
              <a:t>w</a:t>
            </a:r>
            <a:r>
              <a:rPr lang="en-US" altLang="zh-CN" sz="3000" baseline="-25000" dirty="0">
                <a:sym typeface="Wingdings" pitchFamily="2" charset="2"/>
              </a:rPr>
              <a:t> </a:t>
            </a:r>
            <a:r>
              <a:rPr lang="en-US" altLang="zh-CN" sz="3000" dirty="0">
                <a:sym typeface="Wingdings" pitchFamily="2" charset="2"/>
              </a:rPr>
              <a:t> </a:t>
            </a:r>
            <a:r>
              <a:rPr lang="zh-CN" altLang="en-US" sz="3000" dirty="0">
                <a:sym typeface="Wingdings" pitchFamily="2" charset="2"/>
              </a:rPr>
              <a:t>水的离子积常数，只随温度而变。</a:t>
            </a:r>
            <a:endParaRPr lang="en-US" altLang="zh-CN" sz="3000" dirty="0">
              <a:sym typeface="Wingdings" pitchFamily="2" charset="2"/>
            </a:endParaRPr>
          </a:p>
          <a:p>
            <a:pPr>
              <a:lnSpc>
                <a:spcPct val="150000"/>
              </a:lnSpc>
              <a:spcBef>
                <a:spcPts val="0"/>
              </a:spcBef>
              <a:buNone/>
            </a:pPr>
            <a:r>
              <a:rPr lang="en-US" altLang="zh-CN" sz="3000" b="1" dirty="0">
                <a:sym typeface="Wingdings" pitchFamily="2" charset="2"/>
              </a:rPr>
              <a:t>25</a:t>
            </a:r>
            <a:r>
              <a:rPr lang="en-US" altLang="zh-CN" sz="3000" b="1" baseline="30000" dirty="0">
                <a:sym typeface="Wingdings" pitchFamily="2" charset="2"/>
              </a:rPr>
              <a:t>o</a:t>
            </a:r>
            <a:r>
              <a:rPr lang="en-US" altLang="zh-CN" sz="3000" b="1" dirty="0">
                <a:sym typeface="Wingdings" pitchFamily="2" charset="2"/>
              </a:rPr>
              <a:t>C </a:t>
            </a:r>
            <a:r>
              <a:rPr lang="zh-CN" altLang="en-US" sz="3000" b="1" dirty="0">
                <a:sym typeface="Wingdings" pitchFamily="2" charset="2"/>
              </a:rPr>
              <a:t>时</a:t>
            </a:r>
            <a:r>
              <a:rPr lang="zh-CN" altLang="en-US" sz="3000" dirty="0">
                <a:sym typeface="Wingdings" pitchFamily="2" charset="2"/>
              </a:rPr>
              <a:t>，</a:t>
            </a:r>
            <a:r>
              <a:rPr lang="en-US" altLang="zh-CN" sz="3000" dirty="0">
                <a:sym typeface="Wingdings" pitchFamily="2" charset="2"/>
              </a:rPr>
              <a:t> </a:t>
            </a:r>
            <a:r>
              <a:rPr lang="en-US" altLang="zh-CN" sz="3000" b="1" dirty="0" err="1">
                <a:sym typeface="Wingdings" pitchFamily="2" charset="2"/>
              </a:rPr>
              <a:t>K</a:t>
            </a:r>
            <a:r>
              <a:rPr lang="en-US" altLang="zh-CN" sz="3000" b="1" baseline="-25000" dirty="0" err="1">
                <a:sym typeface="Wingdings" pitchFamily="2" charset="2"/>
              </a:rPr>
              <a:t>w</a:t>
            </a:r>
            <a:r>
              <a:rPr lang="en-US" altLang="zh-CN" sz="3000" b="1" baseline="-25000" dirty="0">
                <a:sym typeface="Wingdings" pitchFamily="2" charset="2"/>
              </a:rPr>
              <a:t> </a:t>
            </a:r>
            <a:r>
              <a:rPr lang="en-US" altLang="zh-CN" sz="3000" b="1" dirty="0">
                <a:sym typeface="Wingdings" pitchFamily="2" charset="2"/>
              </a:rPr>
              <a:t>= [H</a:t>
            </a:r>
            <a:r>
              <a:rPr lang="en-US" altLang="zh-CN" sz="3000" b="1" baseline="30000" dirty="0">
                <a:sym typeface="Wingdings" pitchFamily="2" charset="2"/>
              </a:rPr>
              <a:t>+</a:t>
            </a:r>
            <a:r>
              <a:rPr lang="en-US" altLang="zh-CN" sz="3000" b="1" dirty="0">
                <a:sym typeface="Wingdings" pitchFamily="2" charset="2"/>
              </a:rPr>
              <a:t>] [OH</a:t>
            </a:r>
            <a:r>
              <a:rPr lang="en-US" altLang="zh-CN" sz="3000" b="1" baseline="30000" dirty="0">
                <a:sym typeface="Wingdings" pitchFamily="2" charset="2"/>
              </a:rPr>
              <a:t>-</a:t>
            </a:r>
            <a:r>
              <a:rPr lang="en-US" altLang="zh-CN" sz="3000" b="1" dirty="0">
                <a:sym typeface="Wingdings" pitchFamily="2" charset="2"/>
              </a:rPr>
              <a:t>] = 1x10</a:t>
            </a:r>
            <a:r>
              <a:rPr lang="en-US" altLang="zh-CN" sz="3000" b="1" baseline="30000" dirty="0">
                <a:sym typeface="Wingdings" pitchFamily="2" charset="2"/>
              </a:rPr>
              <a:t>-14</a:t>
            </a:r>
            <a:r>
              <a:rPr lang="en-US" altLang="zh-CN" sz="3000" b="1" dirty="0">
                <a:sym typeface="Wingdings" pitchFamily="2" charset="2"/>
              </a:rPr>
              <a:t> </a:t>
            </a:r>
          </a:p>
          <a:p>
            <a:pPr>
              <a:lnSpc>
                <a:spcPct val="150000"/>
              </a:lnSpc>
              <a:spcBef>
                <a:spcPts val="0"/>
              </a:spcBef>
              <a:buNone/>
            </a:pPr>
            <a:r>
              <a:rPr lang="zh-CN" altLang="en-US" sz="3000" u="sng" dirty="0">
                <a:sym typeface="Wingdings" pitchFamily="2" charset="2"/>
              </a:rPr>
              <a:t>交流分享</a:t>
            </a:r>
            <a:r>
              <a:rPr lang="en-US" altLang="zh-CN" sz="2000" u="sng" dirty="0">
                <a:sym typeface="Wingdings" pitchFamily="2" charset="2"/>
              </a:rPr>
              <a:t>p254</a:t>
            </a:r>
            <a:r>
              <a:rPr lang="zh-CN" altLang="en-US" sz="2000" u="sng" dirty="0">
                <a:sym typeface="Wingdings" pitchFamily="2" charset="2"/>
              </a:rPr>
              <a:t>答案</a:t>
            </a:r>
            <a:r>
              <a:rPr lang="en-US" altLang="zh-CN" sz="2000" u="sng" dirty="0">
                <a:sym typeface="Wingdings" pitchFamily="2" charset="2"/>
              </a:rPr>
              <a:t>p255</a:t>
            </a:r>
            <a:endParaRPr lang="en-US" altLang="zh-CN" sz="3000" u="sng" dirty="0">
              <a:sym typeface="Wingdings" pitchFamily="2" charset="2"/>
            </a:endParaRPr>
          </a:p>
          <a:p>
            <a:pPr>
              <a:lnSpc>
                <a:spcPct val="150000"/>
              </a:lnSpc>
              <a:spcBef>
                <a:spcPts val="0"/>
              </a:spcBef>
              <a:buNone/>
            </a:pPr>
            <a:r>
              <a:rPr lang="zh-CN" altLang="en-US" sz="3000" dirty="0"/>
              <a:t>水的电离过程是一个</a:t>
            </a:r>
            <a:r>
              <a:rPr lang="zh-CN" altLang="en-US" sz="3000" b="1" dirty="0">
                <a:solidFill>
                  <a:srgbClr val="002060"/>
                </a:solidFill>
              </a:rPr>
              <a:t>吸热过程</a:t>
            </a:r>
            <a:r>
              <a:rPr lang="zh-CN" altLang="en-US" sz="3000" dirty="0"/>
              <a:t>，所以当</a:t>
            </a:r>
            <a:r>
              <a:rPr lang="zh-CN" altLang="en-US" sz="3000" b="1" dirty="0">
                <a:solidFill>
                  <a:srgbClr val="002060"/>
                </a:solidFill>
              </a:rPr>
              <a:t>温度升高</a:t>
            </a:r>
            <a:r>
              <a:rPr lang="zh-CN" altLang="en-US" sz="3000" dirty="0"/>
              <a:t>时，</a:t>
            </a:r>
            <a:endParaRPr lang="en-US" altLang="zh-CN" sz="3000" dirty="0"/>
          </a:p>
          <a:p>
            <a:pPr>
              <a:spcBef>
                <a:spcPts val="0"/>
              </a:spcBef>
              <a:buNone/>
            </a:pPr>
            <a:r>
              <a:rPr lang="zh-CN" altLang="en-US" sz="3000" dirty="0"/>
              <a:t>电离平衡正向移动，</a:t>
            </a:r>
            <a:r>
              <a:rPr lang="en-US" altLang="zh-CN" sz="3000" dirty="0">
                <a:sym typeface="Wingdings" pitchFamily="2" charset="2"/>
              </a:rPr>
              <a:t> </a:t>
            </a:r>
            <a:r>
              <a:rPr lang="en-US" altLang="zh-CN" sz="3000" b="1" dirty="0" err="1">
                <a:solidFill>
                  <a:srgbClr val="002060"/>
                </a:solidFill>
                <a:sym typeface="Wingdings" pitchFamily="2" charset="2"/>
              </a:rPr>
              <a:t>K</a:t>
            </a:r>
            <a:r>
              <a:rPr lang="en-US" altLang="zh-CN" sz="3000" b="1" baseline="-25000" dirty="0" err="1">
                <a:solidFill>
                  <a:srgbClr val="002060"/>
                </a:solidFill>
                <a:sym typeface="Wingdings" pitchFamily="2" charset="2"/>
              </a:rPr>
              <a:t>w</a:t>
            </a:r>
            <a:r>
              <a:rPr lang="zh-CN" altLang="en-US" sz="3000" dirty="0"/>
              <a:t>也随之</a:t>
            </a:r>
            <a:r>
              <a:rPr lang="zh-CN" altLang="en-US" sz="3000" b="1" dirty="0">
                <a:solidFill>
                  <a:srgbClr val="002060"/>
                </a:solidFill>
              </a:rPr>
              <a:t>增大</a:t>
            </a:r>
            <a:r>
              <a:rPr lang="zh-CN" altLang="en-US" sz="3000" dirty="0"/>
              <a:t>。</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en-US" altLang="zh-CN" sz="3000" b="1" dirty="0">
                <a:sym typeface="Wingdings" pitchFamily="2" charset="2"/>
              </a:rPr>
              <a:t>25</a:t>
            </a:r>
            <a:r>
              <a:rPr lang="en-US" altLang="zh-CN" sz="3000" b="1" baseline="30000" dirty="0">
                <a:sym typeface="Wingdings" pitchFamily="2" charset="2"/>
              </a:rPr>
              <a:t>o</a:t>
            </a:r>
            <a:r>
              <a:rPr lang="en-US" altLang="zh-CN" sz="3000" b="1" dirty="0">
                <a:sym typeface="Wingdings" pitchFamily="2" charset="2"/>
              </a:rPr>
              <a:t>C </a:t>
            </a:r>
            <a:r>
              <a:rPr lang="zh-CN" altLang="en-US" sz="3000" b="1" dirty="0">
                <a:sym typeface="Wingdings" pitchFamily="2" charset="2"/>
              </a:rPr>
              <a:t>时</a:t>
            </a:r>
            <a:r>
              <a:rPr lang="zh-CN" altLang="en-US" sz="3000" dirty="0">
                <a:sym typeface="Wingdings" pitchFamily="2" charset="2"/>
              </a:rPr>
              <a:t>，</a:t>
            </a:r>
            <a:endParaRPr lang="en-US" altLang="zh-CN" sz="3000" dirty="0">
              <a:sym typeface="Wingdings" pitchFamily="2" charset="2"/>
            </a:endParaRPr>
          </a:p>
          <a:p>
            <a:pPr>
              <a:spcBef>
                <a:spcPts val="0"/>
              </a:spcBef>
              <a:buNone/>
            </a:pPr>
            <a:r>
              <a:rPr lang="zh-CN" altLang="en-US" sz="3000" dirty="0">
                <a:sym typeface="Wingdings" pitchFamily="2" charset="2"/>
              </a:rPr>
              <a:t>酸性溶液：</a:t>
            </a:r>
            <a:endParaRPr lang="en-US" altLang="zh-CN" sz="3000"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&gt; [OH</a:t>
            </a:r>
            <a:r>
              <a:rPr lang="en-US" altLang="zh-CN" sz="3000" baseline="30000" dirty="0">
                <a:sym typeface="Wingdings" pitchFamily="2" charset="2"/>
              </a:rPr>
              <a:t>-</a:t>
            </a:r>
            <a:r>
              <a:rPr lang="en-US" altLang="zh-CN" sz="3000" dirty="0">
                <a:sym typeface="Wingdings" pitchFamily="2" charset="2"/>
              </a:rPr>
              <a:t>] ,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&gt; 10</a:t>
            </a:r>
            <a:r>
              <a:rPr lang="en-US" altLang="zh-CN" sz="3000" baseline="30000" dirty="0">
                <a:sym typeface="Wingdings" pitchFamily="2" charset="2"/>
              </a:rPr>
              <a:t>-7</a:t>
            </a:r>
            <a:r>
              <a:rPr lang="en-US" altLang="zh-CN" sz="3000" dirty="0">
                <a:sym typeface="Wingdings" pitchFamily="2" charset="2"/>
              </a:rPr>
              <a:t> M , [H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越大酸性越强。</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zh-CN" altLang="en-US" sz="3000" dirty="0">
                <a:sym typeface="Wingdings" pitchFamily="2" charset="2"/>
              </a:rPr>
              <a:t>中性溶液：</a:t>
            </a:r>
            <a:endParaRPr lang="en-US" altLang="zh-CN" sz="3000"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 </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10</a:t>
            </a:r>
            <a:r>
              <a:rPr lang="en-US" altLang="zh-CN" sz="3000" baseline="30000" dirty="0">
                <a:sym typeface="Wingdings" pitchFamily="2" charset="2"/>
              </a:rPr>
              <a:t>-7</a:t>
            </a:r>
            <a:r>
              <a:rPr lang="en-US" altLang="zh-CN" sz="3000" dirty="0">
                <a:sym typeface="Wingdings" pitchFamily="2" charset="2"/>
              </a:rPr>
              <a:t> M </a:t>
            </a:r>
          </a:p>
          <a:p>
            <a:pPr>
              <a:spcBef>
                <a:spcPts val="0"/>
              </a:spcBef>
              <a:buNone/>
            </a:pPr>
            <a:endParaRPr lang="en-US" altLang="zh-CN" sz="3000" dirty="0">
              <a:sym typeface="Wingdings" pitchFamily="2" charset="2"/>
            </a:endParaRPr>
          </a:p>
          <a:p>
            <a:pPr>
              <a:spcBef>
                <a:spcPts val="0"/>
              </a:spcBef>
              <a:buNone/>
            </a:pPr>
            <a:r>
              <a:rPr lang="zh-CN" altLang="en-US" sz="3000" dirty="0">
                <a:sym typeface="Wingdings" pitchFamily="2" charset="2"/>
              </a:rPr>
              <a:t>碱性溶液：</a:t>
            </a:r>
            <a:endParaRPr lang="en-US" altLang="zh-CN" sz="3000" dirty="0">
              <a:sym typeface="Wingdings" pitchFamily="2" charset="2"/>
            </a:endParaRPr>
          </a:p>
          <a:p>
            <a:pPr>
              <a:spcBef>
                <a:spcPts val="0"/>
              </a:spcBef>
              <a:buNone/>
            </a:pPr>
            <a:r>
              <a:rPr lang="en-US" altLang="zh-CN" sz="3000" dirty="0">
                <a:sym typeface="Wingdings" pitchFamily="2" charset="2"/>
              </a:rPr>
              <a:t>		 [OH</a:t>
            </a:r>
            <a:r>
              <a:rPr lang="en-US" altLang="zh-CN" sz="3000" baseline="30000" dirty="0">
                <a:sym typeface="Wingdings" pitchFamily="2" charset="2"/>
              </a:rPr>
              <a:t>-</a:t>
            </a:r>
            <a:r>
              <a:rPr lang="en-US" altLang="zh-CN" sz="3000" dirty="0">
                <a:sym typeface="Wingdings" pitchFamily="2" charset="2"/>
              </a:rPr>
              <a:t>] &gt; [H</a:t>
            </a:r>
            <a:r>
              <a:rPr lang="en-US" altLang="zh-CN" sz="3000" baseline="30000" dirty="0">
                <a:sym typeface="Wingdings" pitchFamily="2" charset="2"/>
              </a:rPr>
              <a:t>+</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&lt; 10</a:t>
            </a:r>
            <a:r>
              <a:rPr lang="en-US" altLang="zh-CN" sz="3000" baseline="30000" dirty="0">
                <a:sym typeface="Wingdings" pitchFamily="2" charset="2"/>
              </a:rPr>
              <a:t>-7</a:t>
            </a:r>
            <a:r>
              <a:rPr lang="en-US" altLang="zh-CN" sz="3000" dirty="0">
                <a:sym typeface="Wingdings" pitchFamily="2" charset="2"/>
              </a:rPr>
              <a:t> M , [OH</a:t>
            </a:r>
            <a:r>
              <a:rPr lang="en-US" altLang="zh-CN" sz="3000" baseline="30000" dirty="0">
                <a:sym typeface="Wingdings" pitchFamily="2" charset="2"/>
              </a:rPr>
              <a:t>-</a:t>
            </a:r>
            <a:r>
              <a:rPr lang="en-US" altLang="zh-CN" sz="3000" dirty="0">
                <a:sym typeface="Wingdings" pitchFamily="2" charset="2"/>
              </a:rPr>
              <a:t>]</a:t>
            </a:r>
            <a:r>
              <a:rPr lang="zh-CN" altLang="en-US" sz="3000" dirty="0">
                <a:sym typeface="Wingdings" pitchFamily="2" charset="2"/>
              </a:rPr>
              <a:t>越大碱性越强。</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b="1" dirty="0">
                <a:solidFill>
                  <a:srgbClr val="002060"/>
                </a:solidFill>
                <a:sym typeface="Wingdings" pitchFamily="2" charset="2"/>
              </a:rPr>
              <a:t>pH</a:t>
            </a:r>
            <a:r>
              <a:rPr lang="zh-CN" altLang="en-US" sz="3000" b="1" dirty="0">
                <a:solidFill>
                  <a:srgbClr val="002060"/>
                </a:solidFill>
                <a:sym typeface="Wingdings" pitchFamily="2" charset="2"/>
              </a:rPr>
              <a:t> </a:t>
            </a:r>
            <a:r>
              <a:rPr lang="en-US" altLang="zh-CN" sz="3000" b="1" dirty="0">
                <a:solidFill>
                  <a:srgbClr val="002060"/>
                </a:solidFill>
                <a:sym typeface="Wingdings" pitchFamily="2" charset="2"/>
              </a:rPr>
              <a:t>= -log[H</a:t>
            </a:r>
            <a:r>
              <a:rPr lang="en-US" altLang="zh-CN" sz="3000" b="1" baseline="30000" dirty="0">
                <a:solidFill>
                  <a:srgbClr val="002060"/>
                </a:solidFill>
                <a:sym typeface="Wingdings" pitchFamily="2" charset="2"/>
              </a:rPr>
              <a:t>+</a:t>
            </a:r>
            <a:r>
              <a:rPr lang="en-US" altLang="zh-CN" sz="3000" b="1" dirty="0">
                <a:solidFill>
                  <a:srgbClr val="002060"/>
                </a:solidFill>
                <a:sym typeface="Wingdings" pitchFamily="2" charset="2"/>
              </a:rPr>
              <a:t>]</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blinds(horizontal)">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u="sng" dirty="0">
                <a:sym typeface="Wingdings" pitchFamily="2" charset="2"/>
              </a:rPr>
              <a:t>问题解决</a:t>
            </a:r>
            <a:r>
              <a:rPr lang="en-US" altLang="zh-CN" sz="3000" u="sng" dirty="0">
                <a:sym typeface="Wingdings" pitchFamily="2" charset="2"/>
              </a:rPr>
              <a:t>p256</a:t>
            </a:r>
          </a:p>
          <a:p>
            <a:pPr>
              <a:spcBef>
                <a:spcPts val="0"/>
              </a:spcBef>
              <a:buNone/>
            </a:pPr>
            <a:r>
              <a:rPr lang="en-US" altLang="zh-CN" sz="3000" b="1" dirty="0">
                <a:sym typeface="Wingdings" pitchFamily="2" charset="2"/>
              </a:rPr>
              <a:t>25</a:t>
            </a:r>
            <a:r>
              <a:rPr lang="en-US" altLang="zh-CN" sz="3000" b="1" baseline="30000" dirty="0">
                <a:sym typeface="Wingdings" pitchFamily="2" charset="2"/>
              </a:rPr>
              <a:t>o</a:t>
            </a:r>
            <a:r>
              <a:rPr lang="en-US" altLang="zh-CN" sz="3000" b="1" dirty="0">
                <a:sym typeface="Wingdings" pitchFamily="2" charset="2"/>
              </a:rPr>
              <a:t>C </a:t>
            </a:r>
            <a:r>
              <a:rPr lang="zh-CN" altLang="en-US" sz="3000" b="1" dirty="0">
                <a:sym typeface="Wingdings" pitchFamily="2" charset="2"/>
              </a:rPr>
              <a:t>时</a:t>
            </a:r>
            <a:endParaRPr lang="en-US" altLang="zh-CN" sz="3000" dirty="0">
              <a:sym typeface="Wingdings" pitchFamily="2" charset="2"/>
            </a:endParaRPr>
          </a:p>
          <a:p>
            <a:pPr>
              <a:spcBef>
                <a:spcPts val="0"/>
              </a:spcBef>
              <a:buNone/>
            </a:pP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 			[OH</a:t>
            </a:r>
            <a:r>
              <a:rPr lang="en-US" altLang="zh-CN" sz="3000" baseline="30000" dirty="0">
                <a:sym typeface="Wingdings" pitchFamily="2" charset="2"/>
              </a:rPr>
              <a:t>-</a:t>
            </a:r>
            <a:r>
              <a:rPr lang="en-US" altLang="zh-CN" sz="3000" dirty="0">
                <a:sym typeface="Wingdings" pitchFamily="2" charset="2"/>
              </a:rPr>
              <a:t>]			pH</a:t>
            </a:r>
          </a:p>
          <a:p>
            <a:pPr>
              <a:spcBef>
                <a:spcPts val="0"/>
              </a:spcBef>
              <a:buNone/>
            </a:pPr>
            <a:r>
              <a:rPr lang="zh-CN" altLang="en-US" sz="3000" dirty="0">
                <a:sym typeface="Wingdings" pitchFamily="2" charset="2"/>
              </a:rPr>
              <a:t>溶液</a:t>
            </a:r>
            <a:r>
              <a:rPr lang="en-US" altLang="zh-CN" sz="3000" dirty="0">
                <a:sym typeface="Wingdings" pitchFamily="2" charset="2"/>
              </a:rPr>
              <a:t>1	10</a:t>
            </a:r>
            <a:r>
              <a:rPr lang="en-US" altLang="zh-CN" sz="3000" baseline="30000" dirty="0">
                <a:sym typeface="Wingdings" pitchFamily="2" charset="2"/>
              </a:rPr>
              <a:t>-4			 </a:t>
            </a:r>
            <a:r>
              <a:rPr lang="en-US" altLang="zh-CN" sz="3000" dirty="0">
                <a:sym typeface="Wingdings" pitchFamily="2" charset="2"/>
              </a:rPr>
              <a:t> 10</a:t>
            </a:r>
            <a:r>
              <a:rPr lang="en-US" altLang="zh-CN" sz="3000" baseline="30000" dirty="0">
                <a:sym typeface="Wingdings" pitchFamily="2" charset="2"/>
              </a:rPr>
              <a:t>-10</a:t>
            </a:r>
            <a:r>
              <a:rPr lang="en-US" altLang="zh-CN" sz="3000" dirty="0">
                <a:sym typeface="Wingdings" pitchFamily="2" charset="2"/>
              </a:rPr>
              <a:t> 		4</a:t>
            </a:r>
          </a:p>
          <a:p>
            <a:pPr>
              <a:spcBef>
                <a:spcPts val="0"/>
              </a:spcBef>
              <a:buNone/>
            </a:pPr>
            <a:r>
              <a:rPr lang="zh-CN" altLang="en-US" sz="3000" dirty="0">
                <a:sym typeface="Wingdings" pitchFamily="2" charset="2"/>
              </a:rPr>
              <a:t>溶液</a:t>
            </a:r>
            <a:r>
              <a:rPr lang="en-US" altLang="zh-CN" sz="3000" dirty="0">
                <a:sym typeface="Wingdings" pitchFamily="2" charset="2"/>
              </a:rPr>
              <a:t>2	10</a:t>
            </a:r>
            <a:r>
              <a:rPr lang="en-US" altLang="zh-CN" sz="3000" baseline="30000" dirty="0">
                <a:sym typeface="Wingdings" pitchFamily="2" charset="2"/>
              </a:rPr>
              <a:t>-7			 </a:t>
            </a:r>
            <a:r>
              <a:rPr lang="en-US" altLang="zh-CN" sz="3000" dirty="0">
                <a:sym typeface="Wingdings" pitchFamily="2" charset="2"/>
              </a:rPr>
              <a:t> 10</a:t>
            </a:r>
            <a:r>
              <a:rPr lang="en-US" altLang="zh-CN" sz="3000" baseline="30000" dirty="0">
                <a:sym typeface="Wingdings" pitchFamily="2" charset="2"/>
              </a:rPr>
              <a:t>-7</a:t>
            </a:r>
            <a:r>
              <a:rPr lang="en-US" altLang="zh-CN" sz="3000" dirty="0">
                <a:sym typeface="Wingdings" pitchFamily="2" charset="2"/>
              </a:rPr>
              <a:t> 			7</a:t>
            </a:r>
          </a:p>
          <a:p>
            <a:pPr>
              <a:spcBef>
                <a:spcPts val="0"/>
              </a:spcBef>
              <a:buNone/>
            </a:pPr>
            <a:r>
              <a:rPr lang="zh-CN" altLang="en-US" sz="3000" dirty="0">
                <a:sym typeface="Wingdings" pitchFamily="2" charset="2"/>
              </a:rPr>
              <a:t>溶液</a:t>
            </a:r>
            <a:r>
              <a:rPr lang="en-US" altLang="zh-CN" sz="3000" dirty="0">
                <a:sym typeface="Wingdings" pitchFamily="2" charset="2"/>
              </a:rPr>
              <a:t>3	10</a:t>
            </a:r>
            <a:r>
              <a:rPr lang="en-US" altLang="zh-CN" sz="3000" baseline="30000" dirty="0">
                <a:sym typeface="Wingdings" pitchFamily="2" charset="2"/>
              </a:rPr>
              <a:t>-11			 </a:t>
            </a:r>
            <a:r>
              <a:rPr lang="en-US" altLang="zh-CN" sz="3000" dirty="0">
                <a:sym typeface="Wingdings" pitchFamily="2" charset="2"/>
              </a:rPr>
              <a:t> 10</a:t>
            </a:r>
            <a:r>
              <a:rPr lang="en-US" altLang="zh-CN" sz="3000" baseline="30000" dirty="0">
                <a:sym typeface="Wingdings" pitchFamily="2" charset="2"/>
              </a:rPr>
              <a:t>-3</a:t>
            </a:r>
            <a:r>
              <a:rPr lang="en-US" altLang="zh-CN" sz="3000" dirty="0">
                <a:sym typeface="Wingdings" pitchFamily="2" charset="2"/>
              </a:rPr>
              <a:t> 			11</a:t>
            </a:r>
          </a:p>
          <a:p>
            <a:pPr>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u="sng" dirty="0">
                <a:sym typeface="Wingdings" pitchFamily="2" charset="2"/>
              </a:rPr>
              <a:t>补充题</a:t>
            </a:r>
            <a:endParaRPr lang="en-US" altLang="zh-CN" sz="3000" u="sng" dirty="0">
              <a:sym typeface="Wingdings" pitchFamily="2" charset="2"/>
            </a:endParaRPr>
          </a:p>
          <a:p>
            <a:pPr>
              <a:spcBef>
                <a:spcPts val="0"/>
              </a:spcBef>
              <a:buNone/>
            </a:pPr>
            <a:r>
              <a:rPr lang="en-US" altLang="zh-CN" sz="3000" dirty="0">
                <a:sym typeface="Wingdings" pitchFamily="2" charset="2"/>
              </a:rPr>
              <a:t>1. </a:t>
            </a:r>
            <a:r>
              <a:rPr lang="zh-CN" altLang="en-US" sz="3000" dirty="0">
                <a:sym typeface="Wingdings" pitchFamily="2" charset="2"/>
              </a:rPr>
              <a:t>（是非题）</a:t>
            </a:r>
            <a:r>
              <a:rPr lang="en-US" altLang="zh-CN" sz="3000" dirty="0">
                <a:sym typeface="Wingdings" pitchFamily="2" charset="2"/>
              </a:rPr>
              <a:t>pH=7</a:t>
            </a:r>
            <a:r>
              <a:rPr lang="zh-CN" altLang="en-US" sz="3000" dirty="0">
                <a:sym typeface="Wingdings" pitchFamily="2" charset="2"/>
              </a:rPr>
              <a:t>的溶液为中性溶液。</a:t>
            </a:r>
            <a:endParaRPr lang="en-US" altLang="zh-CN" sz="3000" dirty="0">
              <a:sym typeface="Wingdings" pitchFamily="2" charset="2"/>
            </a:endParaRPr>
          </a:p>
          <a:p>
            <a:pPr>
              <a:spcBef>
                <a:spcPts val="0"/>
              </a:spcBef>
              <a:buNone/>
            </a:pPr>
            <a:r>
              <a:rPr lang="en-US" altLang="zh-CN" sz="3000" dirty="0" err="1">
                <a:sym typeface="Wingdings" pitchFamily="2" charset="2"/>
              </a:rPr>
              <a:t>Ans</a:t>
            </a:r>
            <a:r>
              <a:rPr lang="en-US" altLang="zh-CN" sz="3000" dirty="0">
                <a:sym typeface="Wingdings" pitchFamily="2" charset="2"/>
              </a:rPr>
              <a:t>: </a:t>
            </a:r>
            <a:r>
              <a:rPr lang="zh-CN" altLang="en-US" sz="3000" dirty="0">
                <a:sym typeface="Wingdings" pitchFamily="2" charset="2"/>
              </a:rPr>
              <a:t>错。在</a:t>
            </a:r>
            <a:r>
              <a:rPr lang="en-US" altLang="zh-CN" sz="3000" dirty="0">
                <a:sym typeface="Wingdings" pitchFamily="2" charset="2"/>
              </a:rPr>
              <a:t>25</a:t>
            </a:r>
            <a:r>
              <a:rPr lang="en-US" altLang="zh-CN" sz="3000" baseline="30000" dirty="0">
                <a:sym typeface="Wingdings" pitchFamily="2" charset="2"/>
              </a:rPr>
              <a:t>o</a:t>
            </a:r>
            <a:r>
              <a:rPr lang="en-US" altLang="zh-CN" sz="3000" dirty="0">
                <a:sym typeface="Wingdings" pitchFamily="2" charset="2"/>
              </a:rPr>
              <a:t> C</a:t>
            </a:r>
            <a:r>
              <a:rPr lang="zh-CN" altLang="en-US" sz="3000" dirty="0">
                <a:sym typeface="Wingdings" pitchFamily="2" charset="2"/>
              </a:rPr>
              <a:t>时就正确。</a:t>
            </a:r>
            <a:endParaRPr lang="en-US" altLang="zh-CN" sz="3000" dirty="0">
              <a:sym typeface="Wingdings" pitchFamily="2" charset="2"/>
            </a:endParaRPr>
          </a:p>
          <a:p>
            <a:pPr>
              <a:spcBef>
                <a:spcPts val="0"/>
              </a:spcBef>
              <a:buNone/>
            </a:pPr>
            <a:r>
              <a:rPr lang="zh-CN" altLang="en-US" sz="3000" dirty="0">
                <a:sym typeface="Wingdings" pitchFamily="2" charset="2"/>
              </a:rPr>
              <a:t>原因：</a:t>
            </a:r>
            <a:r>
              <a:rPr lang="zh-CN" altLang="en-US" sz="3000" b="1" dirty="0">
                <a:solidFill>
                  <a:srgbClr val="002060"/>
                </a:solidFill>
              </a:rPr>
              <a:t>温度升高</a:t>
            </a:r>
            <a:r>
              <a:rPr lang="zh-CN" altLang="en-US" sz="3000" dirty="0"/>
              <a:t>，</a:t>
            </a:r>
            <a:r>
              <a:rPr lang="en-US" altLang="zh-CN" sz="3000" dirty="0">
                <a:sym typeface="Wingdings" pitchFamily="2" charset="2"/>
              </a:rPr>
              <a:t> </a:t>
            </a:r>
            <a:r>
              <a:rPr lang="en-US" altLang="zh-CN" sz="3000" b="1" dirty="0" err="1">
                <a:solidFill>
                  <a:srgbClr val="002060"/>
                </a:solidFill>
                <a:sym typeface="Wingdings" pitchFamily="2" charset="2"/>
              </a:rPr>
              <a:t>K</a:t>
            </a:r>
            <a:r>
              <a:rPr lang="en-US" altLang="zh-CN" sz="3000" b="1" baseline="-25000" dirty="0" err="1">
                <a:solidFill>
                  <a:srgbClr val="002060"/>
                </a:solidFill>
                <a:sym typeface="Wingdings" pitchFamily="2" charset="2"/>
              </a:rPr>
              <a:t>w</a:t>
            </a:r>
            <a:r>
              <a:rPr lang="zh-CN" altLang="en-US" sz="3000" b="1" dirty="0">
                <a:solidFill>
                  <a:srgbClr val="002060"/>
                </a:solidFill>
              </a:rPr>
              <a:t>增大</a:t>
            </a:r>
            <a:r>
              <a:rPr lang="zh-CN" altLang="en-US" sz="3000" dirty="0"/>
              <a:t>。高温时，中性溶液</a:t>
            </a:r>
            <a:r>
              <a:rPr lang="en-US" altLang="zh-CN" sz="3000" dirty="0"/>
              <a:t>pH&lt;7</a:t>
            </a:r>
            <a:r>
              <a:rPr lang="zh-CN" altLang="en-US" sz="3000" dirty="0"/>
              <a:t>。</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2. </a:t>
            </a:r>
            <a:r>
              <a:rPr lang="zh-CN" altLang="en-US" sz="3000" dirty="0">
                <a:sym typeface="Wingdings" pitchFamily="2" charset="2"/>
              </a:rPr>
              <a:t>某高温时，</a:t>
            </a:r>
            <a:r>
              <a:rPr lang="en-US" altLang="zh-CN" sz="3000" dirty="0" err="1">
                <a:sym typeface="Wingdings" pitchFamily="2" charset="2"/>
              </a:rPr>
              <a:t>K</a:t>
            </a:r>
            <a:r>
              <a:rPr lang="en-US" altLang="zh-CN" sz="3000" baseline="-25000" dirty="0" err="1">
                <a:sym typeface="Wingdings" pitchFamily="2" charset="2"/>
              </a:rPr>
              <a:t>w</a:t>
            </a:r>
            <a:r>
              <a:rPr lang="en-US" altLang="zh-CN" sz="3000" baseline="-25000" dirty="0">
                <a:sym typeface="Wingdings" pitchFamily="2" charset="2"/>
              </a:rPr>
              <a:t> </a:t>
            </a:r>
            <a:r>
              <a:rPr lang="en-US" altLang="zh-CN" sz="3000" dirty="0">
                <a:sym typeface="Wingdings" pitchFamily="2" charset="2"/>
              </a:rPr>
              <a:t> = 10</a:t>
            </a:r>
            <a:r>
              <a:rPr lang="en-US" altLang="zh-CN" sz="3000" baseline="30000" dirty="0">
                <a:sym typeface="Wingdings" pitchFamily="2" charset="2"/>
              </a:rPr>
              <a:t>-13</a:t>
            </a:r>
            <a:r>
              <a:rPr lang="en-US" altLang="zh-CN" sz="3000" dirty="0">
                <a:sym typeface="Wingdings" pitchFamily="2" charset="2"/>
              </a:rPr>
              <a:t> </a:t>
            </a:r>
            <a:r>
              <a:rPr lang="zh-CN" altLang="en-US" sz="3000" dirty="0">
                <a:sym typeface="Wingdings" pitchFamily="2" charset="2"/>
              </a:rPr>
              <a:t>，问此时纯水的</a:t>
            </a:r>
            <a:r>
              <a:rPr lang="en-US" altLang="zh-CN" sz="3000" dirty="0">
                <a:sym typeface="Wingdings" pitchFamily="2" charset="2"/>
              </a:rPr>
              <a:t>pH</a:t>
            </a:r>
            <a:r>
              <a:rPr lang="zh-CN" altLang="en-US" sz="3000" dirty="0">
                <a:sym typeface="Wingdings" pitchFamily="2" charset="2"/>
              </a:rPr>
              <a:t>值是多少？</a:t>
            </a:r>
            <a:endParaRPr lang="en-US" altLang="zh-CN" sz="3000"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纯水</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K</a:t>
            </a:r>
            <a:r>
              <a:rPr lang="en-US" altLang="zh-CN" sz="3000" baseline="-25000" dirty="0" err="1">
                <a:sym typeface="Wingdings" pitchFamily="2" charset="2"/>
              </a:rPr>
              <a:t>w</a:t>
            </a:r>
            <a:r>
              <a:rPr lang="en-US" altLang="zh-CN" sz="3000" dirty="0">
                <a:sym typeface="Wingdings" pitchFamily="2" charset="2"/>
              </a:rPr>
              <a:t> </a:t>
            </a:r>
          </a:p>
          <a:p>
            <a:pPr>
              <a:spcBef>
                <a:spcPts val="0"/>
              </a:spcBef>
              <a:buNone/>
            </a:pP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a:t>
            </a:r>
          </a:p>
          <a:p>
            <a:pPr>
              <a:spcBef>
                <a:spcPts val="0"/>
              </a:spcBef>
              <a:buNone/>
            </a:pPr>
            <a:r>
              <a:rPr lang="en-US" altLang="zh-CN" sz="3000" dirty="0">
                <a:sym typeface="Wingdings" pitchFamily="2" charset="2"/>
              </a:rPr>
              <a:t>		pH = - log[H</a:t>
            </a:r>
            <a:r>
              <a:rPr lang="en-US" altLang="zh-CN" sz="3000" baseline="30000" dirty="0">
                <a:sym typeface="Wingdings" pitchFamily="2" charset="2"/>
              </a:rPr>
              <a:t>+</a:t>
            </a:r>
            <a:r>
              <a:rPr lang="en-US" altLang="zh-CN" sz="3000" dirty="0">
                <a:sym typeface="Wingdings" pitchFamily="2" charset="2"/>
              </a:rPr>
              <a:t>]</a:t>
            </a:r>
          </a:p>
          <a:p>
            <a:pPr>
              <a:spcBef>
                <a:spcPts val="0"/>
              </a:spcBef>
              <a:buNone/>
            </a:pPr>
            <a:r>
              <a:rPr lang="en-US" altLang="zh-CN" sz="3000" dirty="0">
                <a:sym typeface="Wingdings" pitchFamily="2" charset="2"/>
              </a:rPr>
              <a:t>		      = 6.5</a:t>
            </a:r>
          </a:p>
        </p:txBody>
      </p:sp>
      <p:graphicFrame>
        <p:nvGraphicFramePr>
          <p:cNvPr id="5" name="Object 4"/>
          <p:cNvGraphicFramePr>
            <a:graphicFrameLocks noChangeAspect="1"/>
          </p:cNvGraphicFramePr>
          <p:nvPr/>
        </p:nvGraphicFramePr>
        <p:xfrm>
          <a:off x="3962400" y="4648200"/>
          <a:ext cx="1143000" cy="635000"/>
        </p:xfrm>
        <a:graphic>
          <a:graphicData uri="http://schemas.openxmlformats.org/presentationml/2006/ole">
            <mc:AlternateContent xmlns:mc="http://schemas.openxmlformats.org/markup-compatibility/2006">
              <mc:Choice xmlns:v="urn:schemas-microsoft-com:vml" Requires="v">
                <p:oleObj spid="_x0000_s101378" name="Equation" r:id="rId3" imgW="457200" imgH="253800" progId="Equation.3">
                  <p:embed/>
                </p:oleObj>
              </mc:Choice>
              <mc:Fallback>
                <p:oleObj name="Equation" r:id="rId3" imgW="457200" imgH="253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4648200"/>
                        <a:ext cx="114300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blinds(horizontal)">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en-US" altLang="zh-CN" sz="3000" b="1" dirty="0">
                <a:sym typeface="Wingdings" pitchFamily="2" charset="2"/>
              </a:rPr>
              <a:t>25</a:t>
            </a:r>
            <a:r>
              <a:rPr lang="en-US" altLang="zh-CN" sz="3000" b="1" baseline="30000" dirty="0">
                <a:sym typeface="Wingdings" pitchFamily="2" charset="2"/>
              </a:rPr>
              <a:t>o</a:t>
            </a:r>
            <a:r>
              <a:rPr lang="en-US" altLang="zh-CN" sz="3000" b="1" dirty="0">
                <a:sym typeface="Wingdings" pitchFamily="2" charset="2"/>
              </a:rPr>
              <a:t>C </a:t>
            </a:r>
            <a:r>
              <a:rPr lang="zh-CN" altLang="en-US" sz="3000" b="1" dirty="0">
                <a:sym typeface="Wingdings" pitchFamily="2" charset="2"/>
              </a:rPr>
              <a:t>时</a:t>
            </a:r>
            <a:r>
              <a:rPr lang="zh-CN" altLang="en-US" sz="3000" dirty="0">
                <a:sym typeface="Wingdings" pitchFamily="2" charset="2"/>
              </a:rPr>
              <a:t>，</a:t>
            </a:r>
            <a:endParaRPr lang="en-US" altLang="zh-CN" sz="3000" dirty="0">
              <a:sym typeface="Wingdings" pitchFamily="2" charset="2"/>
            </a:endParaRPr>
          </a:p>
          <a:p>
            <a:pPr>
              <a:spcBef>
                <a:spcPts val="0"/>
              </a:spcBef>
              <a:buNone/>
            </a:pPr>
            <a:r>
              <a:rPr lang="zh-CN" altLang="en-US" sz="3000" dirty="0">
                <a:sym typeface="Wingdings" pitchFamily="2" charset="2"/>
              </a:rPr>
              <a:t>酸性溶液：</a:t>
            </a:r>
            <a:endParaRPr lang="en-US" altLang="zh-CN" sz="3000"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&gt; 10</a:t>
            </a:r>
            <a:r>
              <a:rPr lang="en-US" altLang="zh-CN" sz="3000" baseline="30000" dirty="0">
                <a:sym typeface="Wingdings" pitchFamily="2" charset="2"/>
              </a:rPr>
              <a:t>-7</a:t>
            </a:r>
            <a:r>
              <a:rPr lang="en-US" altLang="zh-CN" sz="3000" dirty="0">
                <a:sym typeface="Wingdings" pitchFamily="2" charset="2"/>
              </a:rPr>
              <a:t> M , pH &lt;7</a:t>
            </a:r>
            <a:r>
              <a:rPr lang="zh-CN" altLang="en-US" sz="3000" dirty="0">
                <a:sym typeface="Wingdings" pitchFamily="2" charset="2"/>
              </a:rPr>
              <a:t>，酸性越强，</a:t>
            </a:r>
            <a:r>
              <a:rPr lang="en-US" altLang="zh-CN" sz="3000" dirty="0">
                <a:sym typeface="Wingdings" pitchFamily="2" charset="2"/>
              </a:rPr>
              <a:t>pH</a:t>
            </a:r>
            <a:r>
              <a:rPr lang="zh-CN" altLang="en-US" sz="3000" dirty="0">
                <a:sym typeface="Wingdings" pitchFamily="2" charset="2"/>
              </a:rPr>
              <a:t>值越小</a:t>
            </a:r>
            <a:endParaRPr lang="en-US" altLang="zh-CN" sz="3000" dirty="0">
              <a:sym typeface="Wingdings" pitchFamily="2" charset="2"/>
            </a:endParaRPr>
          </a:p>
          <a:p>
            <a:pPr>
              <a:spcBef>
                <a:spcPts val="0"/>
              </a:spcBef>
              <a:buNone/>
            </a:pPr>
            <a:r>
              <a:rPr lang="zh-CN" altLang="en-US" sz="3000" dirty="0">
                <a:sym typeface="Wingdings" pitchFamily="2" charset="2"/>
              </a:rPr>
              <a:t>中性溶液：</a:t>
            </a:r>
            <a:endParaRPr lang="en-US" altLang="zh-CN" sz="3000"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10</a:t>
            </a:r>
            <a:r>
              <a:rPr lang="en-US" altLang="zh-CN" sz="3000" baseline="30000" dirty="0">
                <a:sym typeface="Wingdings" pitchFamily="2" charset="2"/>
              </a:rPr>
              <a:t>-7</a:t>
            </a:r>
            <a:r>
              <a:rPr lang="en-US" altLang="zh-CN" sz="3000" dirty="0">
                <a:sym typeface="Wingdings" pitchFamily="2" charset="2"/>
              </a:rPr>
              <a:t> M </a:t>
            </a:r>
            <a:r>
              <a:rPr lang="zh-CN" altLang="en-US" sz="3000" dirty="0">
                <a:sym typeface="Wingdings" pitchFamily="2" charset="2"/>
              </a:rPr>
              <a:t>，</a:t>
            </a:r>
            <a:r>
              <a:rPr lang="en-US" altLang="zh-CN" sz="3000" dirty="0">
                <a:sym typeface="Wingdings" pitchFamily="2" charset="2"/>
              </a:rPr>
              <a:t>pH=7</a:t>
            </a:r>
          </a:p>
          <a:p>
            <a:pPr>
              <a:spcBef>
                <a:spcPts val="0"/>
              </a:spcBef>
              <a:buNone/>
            </a:pPr>
            <a:r>
              <a:rPr lang="zh-CN" altLang="en-US" sz="3000" dirty="0">
                <a:sym typeface="Wingdings" pitchFamily="2" charset="2"/>
              </a:rPr>
              <a:t>碱性溶液：</a:t>
            </a:r>
            <a:endParaRPr lang="en-US" altLang="zh-CN" sz="3000" dirty="0">
              <a:sym typeface="Wingdings" pitchFamily="2" charset="2"/>
            </a:endParaRPr>
          </a:p>
          <a:p>
            <a:pPr>
              <a:spcBef>
                <a:spcPts val="0"/>
              </a:spcBef>
              <a:buNone/>
            </a:pP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 &lt; 10</a:t>
            </a:r>
            <a:r>
              <a:rPr lang="en-US" altLang="zh-CN" sz="3000" baseline="30000" dirty="0">
                <a:sym typeface="Wingdings" pitchFamily="2" charset="2"/>
              </a:rPr>
              <a:t>-7</a:t>
            </a:r>
            <a:r>
              <a:rPr lang="en-US" altLang="zh-CN" sz="3000" dirty="0">
                <a:sym typeface="Wingdings" pitchFamily="2" charset="2"/>
              </a:rPr>
              <a:t> M , pH &gt;7</a:t>
            </a:r>
            <a:r>
              <a:rPr lang="zh-CN" altLang="en-US" sz="3000" dirty="0">
                <a:sym typeface="Wingdings" pitchFamily="2" charset="2"/>
              </a:rPr>
              <a:t>，碱性越强，</a:t>
            </a:r>
            <a:r>
              <a:rPr lang="en-US" altLang="zh-CN" sz="3000" dirty="0">
                <a:sym typeface="Wingdings" pitchFamily="2" charset="2"/>
              </a:rPr>
              <a:t>pH</a:t>
            </a:r>
            <a:r>
              <a:rPr lang="zh-CN" altLang="en-US" sz="3000" dirty="0">
                <a:sym typeface="Wingdings" pitchFamily="2" charset="2"/>
              </a:rPr>
              <a:t>值越大</a:t>
            </a:r>
            <a:endParaRPr lang="en-US" altLang="zh-CN" sz="3000" dirty="0">
              <a:sym typeface="Wingdings" pitchFamily="2" charset="2"/>
            </a:endParaRPr>
          </a:p>
          <a:p>
            <a:pPr>
              <a:lnSpc>
                <a:spcPct val="150000"/>
              </a:lnSpc>
              <a:spcBef>
                <a:spcPts val="0"/>
              </a:spcBef>
              <a:buFont typeface="Wingdings" pitchFamily="2" charset="2"/>
              <a:buChar char="Ø"/>
            </a:pPr>
            <a:r>
              <a:rPr lang="en-US" altLang="zh-CN" sz="3000" b="1" dirty="0" err="1">
                <a:solidFill>
                  <a:srgbClr val="002060"/>
                </a:solidFill>
                <a:sym typeface="Wingdings" pitchFamily="2" charset="2"/>
              </a:rPr>
              <a:t>pOH</a:t>
            </a:r>
            <a:r>
              <a:rPr lang="zh-CN" altLang="en-US" sz="3000" b="1" dirty="0">
                <a:solidFill>
                  <a:srgbClr val="002060"/>
                </a:solidFill>
                <a:sym typeface="Wingdings" pitchFamily="2" charset="2"/>
              </a:rPr>
              <a:t> </a:t>
            </a:r>
            <a:r>
              <a:rPr lang="en-US" altLang="zh-CN" sz="3000" b="1" dirty="0">
                <a:solidFill>
                  <a:srgbClr val="002060"/>
                </a:solidFill>
                <a:sym typeface="Wingdings" pitchFamily="2" charset="2"/>
              </a:rPr>
              <a:t>= -log[OH</a:t>
            </a:r>
            <a:r>
              <a:rPr lang="en-US" altLang="zh-CN" sz="3000" b="1" baseline="30000" dirty="0">
                <a:solidFill>
                  <a:srgbClr val="002060"/>
                </a:solidFill>
                <a:sym typeface="Wingdings" pitchFamily="2" charset="2"/>
              </a:rPr>
              <a:t>-</a:t>
            </a:r>
            <a:r>
              <a:rPr lang="en-US" altLang="zh-CN" sz="3000" b="1" dirty="0">
                <a:solidFill>
                  <a:srgbClr val="002060"/>
                </a:solidFill>
                <a:sym typeface="Wingdings" pitchFamily="2" charset="2"/>
              </a:rPr>
              <a:t>]</a:t>
            </a:r>
          </a:p>
          <a:p>
            <a:pPr>
              <a:lnSpc>
                <a:spcPct val="150000"/>
              </a:lnSpc>
              <a:spcBef>
                <a:spcPts val="0"/>
              </a:spcBef>
              <a:buFont typeface="Wingdings" pitchFamily="2" charset="2"/>
              <a:buChar char="Ø"/>
            </a:pPr>
            <a:r>
              <a:rPr lang="en-US" altLang="zh-CN" sz="3000" b="1" dirty="0">
                <a:solidFill>
                  <a:srgbClr val="C00000"/>
                </a:solidFill>
                <a:sym typeface="Wingdings" pitchFamily="2" charset="2"/>
              </a:rPr>
              <a:t>25</a:t>
            </a:r>
            <a:r>
              <a:rPr lang="en-US" altLang="zh-CN" sz="3000" b="1" baseline="30000" dirty="0">
                <a:solidFill>
                  <a:srgbClr val="C00000"/>
                </a:solidFill>
                <a:sym typeface="Wingdings" pitchFamily="2" charset="2"/>
              </a:rPr>
              <a:t>o</a:t>
            </a:r>
            <a:r>
              <a:rPr lang="en-US" altLang="zh-CN" sz="3000" b="1" dirty="0">
                <a:solidFill>
                  <a:srgbClr val="C00000"/>
                </a:solidFill>
                <a:sym typeface="Wingdings" pitchFamily="2" charset="2"/>
              </a:rPr>
              <a:t>C </a:t>
            </a:r>
            <a:r>
              <a:rPr lang="zh-CN" altLang="en-US" sz="3000" b="1" dirty="0">
                <a:solidFill>
                  <a:srgbClr val="C00000"/>
                </a:solidFill>
                <a:sym typeface="Wingdings" pitchFamily="2" charset="2"/>
              </a:rPr>
              <a:t>时，</a:t>
            </a:r>
            <a:r>
              <a:rPr lang="en-US" altLang="zh-CN" sz="3000" b="1" dirty="0">
                <a:solidFill>
                  <a:srgbClr val="002060"/>
                </a:solidFill>
                <a:sym typeface="Wingdings" pitchFamily="2" charset="2"/>
              </a:rPr>
              <a:t>pH + </a:t>
            </a:r>
            <a:r>
              <a:rPr lang="en-US" altLang="zh-CN" sz="3000" b="1" dirty="0" err="1">
                <a:solidFill>
                  <a:srgbClr val="002060"/>
                </a:solidFill>
                <a:sym typeface="Wingdings" pitchFamily="2" charset="2"/>
              </a:rPr>
              <a:t>pOH</a:t>
            </a:r>
            <a:r>
              <a:rPr lang="en-US" altLang="zh-CN" sz="3000" b="1" dirty="0">
                <a:solidFill>
                  <a:srgbClr val="002060"/>
                </a:solidFill>
                <a:sym typeface="Wingdings" pitchFamily="2" charset="2"/>
              </a:rPr>
              <a:t> =14</a:t>
            </a:r>
          </a:p>
          <a:p>
            <a:pPr>
              <a:lnSpc>
                <a:spcPct val="150000"/>
              </a:lnSpc>
              <a:spcBef>
                <a:spcPts val="0"/>
              </a:spcBef>
              <a:buFont typeface="Wingdings" pitchFamily="2" charset="2"/>
              <a:buChar char="Ø"/>
            </a:pPr>
            <a:r>
              <a:rPr lang="zh-CN" altLang="en-US" sz="3000" dirty="0">
                <a:sym typeface="Wingdings" pitchFamily="2" charset="2"/>
              </a:rPr>
              <a:t>当</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]&gt;1M</a:t>
            </a:r>
            <a:r>
              <a:rPr lang="zh-CN" altLang="en-US" sz="3000" dirty="0">
                <a:sym typeface="Wingdings" pitchFamily="2" charset="2"/>
              </a:rPr>
              <a:t>时，一般不用</a:t>
            </a:r>
            <a:r>
              <a:rPr lang="en-US" altLang="zh-CN" sz="3000" dirty="0">
                <a:sym typeface="Wingdings" pitchFamily="2" charset="2"/>
              </a:rPr>
              <a:t>pH</a:t>
            </a:r>
            <a:r>
              <a:rPr lang="zh-CN" altLang="en-US" sz="3000" dirty="0">
                <a:sym typeface="Wingdings" pitchFamily="2" charset="2"/>
              </a:rPr>
              <a:t>值表示溶液的酸碱性，</a:t>
            </a:r>
            <a:endParaRPr lang="en-US" altLang="zh-CN" sz="3000" dirty="0">
              <a:sym typeface="Wingdings" pitchFamily="2" charset="2"/>
            </a:endParaRPr>
          </a:p>
          <a:p>
            <a:pPr>
              <a:spcBef>
                <a:spcPts val="0"/>
              </a:spcBef>
              <a:buNone/>
            </a:pPr>
            <a:r>
              <a:rPr lang="zh-CN" altLang="en-US" sz="3000" dirty="0">
                <a:sym typeface="Wingdings" pitchFamily="2" charset="2"/>
              </a:rPr>
              <a:t>而是直接用</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a:t>
            </a:r>
            <a:r>
              <a:rPr lang="zh-CN" altLang="en-US" sz="3000" dirty="0">
                <a:sym typeface="Wingdings" pitchFamily="2" charset="2"/>
              </a:rPr>
              <a:t>表示。</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如何确定溶液的酸碱值？</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酸碱指示剂</a:t>
            </a:r>
            <a:endParaRPr lang="en-US" altLang="zh-CN" sz="3000" dirty="0">
              <a:sym typeface="Wingdings" pitchFamily="2" charset="2"/>
            </a:endParaRPr>
          </a:p>
          <a:p>
            <a:pPr lvl="1">
              <a:spcBef>
                <a:spcPts val="0"/>
              </a:spcBef>
              <a:buFont typeface="Wingdings" pitchFamily="2" charset="2"/>
              <a:buChar char="Ø"/>
            </a:pPr>
            <a:r>
              <a:rPr lang="zh-CN" altLang="en-US" sz="2600" dirty="0">
                <a:sym typeface="Wingdings" pitchFamily="2" charset="2"/>
              </a:rPr>
              <a:t>紫色石蕊试液</a:t>
            </a:r>
            <a:endParaRPr lang="en-US" altLang="zh-CN" sz="2600" dirty="0">
              <a:sym typeface="Wingdings" pitchFamily="2" charset="2"/>
            </a:endParaRPr>
          </a:p>
          <a:p>
            <a:pPr lvl="1">
              <a:spcBef>
                <a:spcPts val="0"/>
              </a:spcBef>
              <a:buFont typeface="Wingdings" pitchFamily="2" charset="2"/>
              <a:buChar char="Ø"/>
            </a:pPr>
            <a:r>
              <a:rPr lang="zh-CN" altLang="en-US" sz="2600" dirty="0">
                <a:sym typeface="Wingdings" pitchFamily="2" charset="2"/>
              </a:rPr>
              <a:t>酚酞试液</a:t>
            </a:r>
            <a:endParaRPr lang="en-US" altLang="zh-CN" sz="2600" dirty="0">
              <a:sym typeface="Wingdings" pitchFamily="2" charset="2"/>
            </a:endParaRPr>
          </a:p>
          <a:p>
            <a:pPr lvl="1">
              <a:spcBef>
                <a:spcPts val="0"/>
              </a:spcBef>
              <a:buFont typeface="Wingdings" pitchFamily="2" charset="2"/>
              <a:buChar char="Ø"/>
            </a:pPr>
            <a:r>
              <a:rPr lang="zh-CN" altLang="en-US" sz="2600" dirty="0">
                <a:sym typeface="Wingdings" pitchFamily="2" charset="2"/>
              </a:rPr>
              <a:t>甲基橙</a:t>
            </a:r>
            <a:endParaRPr lang="en-US" altLang="zh-CN" sz="2600" dirty="0">
              <a:sym typeface="Wingdings" pitchFamily="2" charset="2"/>
            </a:endParaRPr>
          </a:p>
          <a:p>
            <a:pPr>
              <a:spcBef>
                <a:spcPts val="0"/>
              </a:spcBef>
              <a:buFont typeface="Wingdings" pitchFamily="2" charset="2"/>
              <a:buChar char="Ø"/>
            </a:pPr>
            <a:r>
              <a:rPr lang="en-US" altLang="zh-CN" sz="3000" dirty="0">
                <a:sym typeface="Wingdings" pitchFamily="2" charset="2"/>
              </a:rPr>
              <a:t>pH</a:t>
            </a:r>
            <a:r>
              <a:rPr lang="zh-CN" altLang="en-US" sz="3000" dirty="0">
                <a:sym typeface="Wingdings" pitchFamily="2" charset="2"/>
              </a:rPr>
              <a:t>试纸</a:t>
            </a:r>
            <a:endParaRPr lang="en-US" altLang="zh-CN" sz="3000" dirty="0">
              <a:sym typeface="Wingdings" pitchFamily="2" charset="2"/>
            </a:endParaRPr>
          </a:p>
          <a:p>
            <a:pPr>
              <a:spcBef>
                <a:spcPts val="0"/>
              </a:spcBef>
              <a:buFont typeface="Wingdings" pitchFamily="2" charset="2"/>
              <a:buChar char="Ø"/>
            </a:pPr>
            <a:r>
              <a:rPr lang="en-US" altLang="zh-CN" sz="3000" dirty="0">
                <a:sym typeface="Wingdings" pitchFamily="2" charset="2"/>
              </a:rPr>
              <a:t>pH</a:t>
            </a:r>
            <a:r>
              <a:rPr lang="zh-CN" altLang="en-US" sz="3000" dirty="0">
                <a:sym typeface="Wingdings" pitchFamily="2" charset="2"/>
              </a:rPr>
              <a:t>计</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计算</a:t>
            </a:r>
            <a:endParaRPr lang="en-US" altLang="zh-CN" sz="3000" dirty="0">
              <a:sym typeface="Wingdings" pitchFamily="2" charset="2"/>
            </a:endParaRPr>
          </a:p>
          <a:p>
            <a:pPr>
              <a:spcBef>
                <a:spcPts val="0"/>
              </a:spcBef>
              <a:buNone/>
            </a:pPr>
            <a:endParaRPr lang="en-US" altLang="zh-CN" sz="3000" dirty="0">
              <a:sym typeface="Wingdings" pitchFamily="2" charset="2"/>
            </a:endParaRPr>
          </a:p>
        </p:txBody>
      </p:sp>
      <p:pic>
        <p:nvPicPr>
          <p:cNvPr id="5" name="Picture 4" descr="58.jpg"/>
          <p:cNvPicPr>
            <a:picLocks noChangeAspect="1"/>
          </p:cNvPicPr>
          <p:nvPr/>
        </p:nvPicPr>
        <p:blipFill>
          <a:blip r:embed="rId3"/>
          <a:srcRect l="35000" r="10833" b="1111"/>
          <a:stretch>
            <a:fillRect/>
          </a:stretch>
        </p:blipFill>
        <p:spPr>
          <a:xfrm>
            <a:off x="2057400" y="3352800"/>
            <a:ext cx="3413303" cy="3505200"/>
          </a:xfrm>
          <a:prstGeom prst="rect">
            <a:avLst/>
          </a:prstGeom>
        </p:spPr>
      </p:pic>
      <p:pic>
        <p:nvPicPr>
          <p:cNvPr id="6" name="Picture 5" descr="581.jpg"/>
          <p:cNvPicPr>
            <a:picLocks noChangeAspect="1"/>
          </p:cNvPicPr>
          <p:nvPr/>
        </p:nvPicPr>
        <p:blipFill>
          <a:blip r:embed="rId4"/>
          <a:srcRect t="30320" b="8618"/>
          <a:stretch>
            <a:fillRect/>
          </a:stretch>
        </p:blipFill>
        <p:spPr>
          <a:xfrm>
            <a:off x="5029200" y="0"/>
            <a:ext cx="3886200" cy="2362200"/>
          </a:xfrm>
          <a:prstGeom prst="rect">
            <a:avLst/>
          </a:prstGeom>
        </p:spPr>
      </p:pic>
      <p:pic>
        <p:nvPicPr>
          <p:cNvPr id="7" name="Picture 6" descr="583.jpg"/>
          <p:cNvPicPr>
            <a:picLocks noChangeAspect="1"/>
          </p:cNvPicPr>
          <p:nvPr/>
        </p:nvPicPr>
        <p:blipFill>
          <a:blip r:embed="rId5"/>
          <a:srcRect b="11948"/>
          <a:stretch>
            <a:fillRect/>
          </a:stretch>
        </p:blipFill>
        <p:spPr>
          <a:xfrm>
            <a:off x="5029199" y="2286000"/>
            <a:ext cx="4093275" cy="224629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blinds(horizontal)">
                                      <p:cBhvr>
                                        <p:cTn id="5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例</a:t>
            </a:r>
            <a:r>
              <a:rPr lang="en-US" altLang="zh-CN" sz="3000" dirty="0">
                <a:sym typeface="Wingdings" pitchFamily="2" charset="2"/>
              </a:rPr>
              <a:t>3</a:t>
            </a:r>
          </a:p>
          <a:p>
            <a:pPr>
              <a:spcBef>
                <a:spcPts val="0"/>
              </a:spcBef>
              <a:spcAft>
                <a:spcPts val="600"/>
              </a:spcAft>
              <a:buNone/>
            </a:pPr>
            <a:r>
              <a:rPr lang="zh-CN" altLang="en-US" sz="3000" dirty="0">
                <a:sym typeface="Wingdings" pitchFamily="2" charset="2"/>
              </a:rPr>
              <a:t>已知：</a:t>
            </a:r>
            <a:r>
              <a:rPr lang="en-US" altLang="zh-CN" sz="3000" dirty="0">
                <a:sym typeface="Wingdings" pitchFamily="2" charset="2"/>
              </a:rPr>
              <a:t>c=1M</a:t>
            </a:r>
            <a:r>
              <a:rPr lang="zh-CN" altLang="en-US" sz="3000" dirty="0">
                <a:sym typeface="Wingdings" pitchFamily="2" charset="2"/>
              </a:rPr>
              <a:t>，</a:t>
            </a:r>
            <a:r>
              <a:rPr lang="el-GR" altLang="zh-CN" sz="3000" dirty="0">
                <a:sym typeface="Wingdings" pitchFamily="2" charset="2"/>
              </a:rPr>
              <a:t> α</a:t>
            </a:r>
            <a:r>
              <a:rPr lang="en-US" altLang="zh-CN" sz="3000" dirty="0">
                <a:sym typeface="Wingdings" pitchFamily="2" charset="2"/>
              </a:rPr>
              <a:t> = 0.4%</a:t>
            </a:r>
            <a:endParaRPr lang="en-US" altLang="zh-CN" sz="3000" baseline="30000" dirty="0">
              <a:sym typeface="Wingdings" pitchFamily="2" charset="2"/>
            </a:endParaRPr>
          </a:p>
          <a:p>
            <a:pPr>
              <a:spcBef>
                <a:spcPts val="0"/>
              </a:spcBef>
              <a:spcAft>
                <a:spcPts val="600"/>
              </a:spcAft>
              <a:buNone/>
            </a:pPr>
            <a:r>
              <a:rPr lang="en-US" altLang="zh-CN" sz="3000" dirty="0">
                <a:sym typeface="Wingdings" pitchFamily="2" charset="2"/>
              </a:rPr>
              <a:t>  </a:t>
            </a:r>
            <a:r>
              <a:rPr lang="zh-CN" altLang="en-US" sz="3000" dirty="0">
                <a:sym typeface="Wingdings" pitchFamily="2" charset="2"/>
              </a:rPr>
              <a:t>求：</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 c</a:t>
            </a:r>
            <a:r>
              <a:rPr lang="el-GR" altLang="zh-CN" sz="3000" dirty="0">
                <a:sym typeface="Wingdings" pitchFamily="2" charset="2"/>
              </a:rPr>
              <a:t>α</a:t>
            </a:r>
            <a:endParaRPr lang="en-US" altLang="zh-CN" sz="3000" dirty="0">
              <a:sym typeface="Wingdings" pitchFamily="2" charset="2"/>
            </a:endParaRPr>
          </a:p>
          <a:p>
            <a:pPr>
              <a:spcBef>
                <a:spcPts val="0"/>
              </a:spcBef>
              <a:spcAft>
                <a:spcPts val="600"/>
              </a:spcAft>
              <a:buNone/>
            </a:pPr>
            <a:r>
              <a:rPr lang="en-US" altLang="zh-CN" sz="3000" dirty="0">
                <a:sym typeface="Wingdings" pitchFamily="2" charset="2"/>
              </a:rPr>
              <a:t>			= 1M x 0.4% </a:t>
            </a:r>
          </a:p>
          <a:p>
            <a:pPr>
              <a:spcBef>
                <a:spcPts val="0"/>
              </a:spcBef>
              <a:spcAft>
                <a:spcPts val="600"/>
              </a:spcAft>
              <a:buNone/>
            </a:pPr>
            <a:r>
              <a:rPr lang="en-US" altLang="zh-CN" sz="3000" dirty="0">
                <a:sym typeface="Wingdings" pitchFamily="2" charset="2"/>
              </a:rPr>
              <a:t>			= 4 x10</a:t>
            </a:r>
            <a:r>
              <a:rPr lang="en-US" altLang="zh-CN" sz="3000" baseline="30000" dirty="0">
                <a:sym typeface="Wingdings" pitchFamily="2" charset="2"/>
              </a:rPr>
              <a:t>-3 </a:t>
            </a:r>
            <a:r>
              <a:rPr lang="en-US" altLang="zh-CN" sz="3000" dirty="0">
                <a:sym typeface="Wingdings" pitchFamily="2" charset="2"/>
              </a:rPr>
              <a:t> M </a:t>
            </a:r>
          </a:p>
          <a:p>
            <a:pPr>
              <a:spcBef>
                <a:spcPts val="0"/>
              </a:spcBef>
              <a:spcAft>
                <a:spcPts val="600"/>
              </a:spcAft>
              <a:buNone/>
            </a:pPr>
            <a:r>
              <a:rPr lang="en-US" altLang="zh-CN" sz="3000" dirty="0" err="1">
                <a:sym typeface="Wingdings" pitchFamily="2" charset="2"/>
              </a:rPr>
              <a:t>pOH</a:t>
            </a:r>
            <a:r>
              <a:rPr lang="en-US" altLang="zh-CN" sz="3000" dirty="0">
                <a:sym typeface="Wingdings" pitchFamily="2" charset="2"/>
              </a:rPr>
              <a:t> = -log (4 x10</a:t>
            </a:r>
            <a:r>
              <a:rPr lang="en-US" altLang="zh-CN" sz="3000" baseline="30000" dirty="0">
                <a:sym typeface="Wingdings" pitchFamily="2" charset="2"/>
              </a:rPr>
              <a:t>-3</a:t>
            </a:r>
            <a:r>
              <a:rPr lang="en-US" altLang="zh-CN" sz="3000" dirty="0">
                <a:sym typeface="Wingdings" pitchFamily="2" charset="2"/>
              </a:rPr>
              <a:t> ) </a:t>
            </a:r>
          </a:p>
          <a:p>
            <a:pPr>
              <a:spcBef>
                <a:spcPts val="0"/>
              </a:spcBef>
              <a:spcAft>
                <a:spcPts val="600"/>
              </a:spcAft>
              <a:buNone/>
            </a:pPr>
            <a:r>
              <a:rPr lang="en-US" altLang="zh-CN" sz="3000" dirty="0">
                <a:sym typeface="Wingdings" pitchFamily="2" charset="2"/>
              </a:rPr>
              <a:t>	     = 2.40</a:t>
            </a:r>
          </a:p>
          <a:p>
            <a:pPr>
              <a:spcBef>
                <a:spcPts val="0"/>
              </a:spcBef>
              <a:spcAft>
                <a:spcPts val="600"/>
              </a:spcAft>
              <a:buNone/>
            </a:pPr>
            <a:r>
              <a:rPr lang="en-US" altLang="zh-CN" sz="3000" dirty="0">
                <a:sym typeface="Wingdings" pitchFamily="2" charset="2"/>
              </a:rPr>
              <a:t>pH =14 – 2.40</a:t>
            </a:r>
          </a:p>
          <a:p>
            <a:pPr>
              <a:spcBef>
                <a:spcPts val="0"/>
              </a:spcBef>
              <a:spcAft>
                <a:spcPts val="600"/>
              </a:spcAft>
              <a:buNone/>
            </a:pPr>
            <a:r>
              <a:rPr lang="en-US" altLang="zh-CN" sz="3000" dirty="0">
                <a:sym typeface="Wingdings" pitchFamily="2" charset="2"/>
              </a:rPr>
              <a:t>	  = 11.60</a:t>
            </a: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例</a:t>
            </a:r>
            <a:r>
              <a:rPr lang="en-US" altLang="zh-CN" sz="3000" dirty="0">
                <a:sym typeface="Wingdings" pitchFamily="2" charset="2"/>
              </a:rPr>
              <a:t>4</a:t>
            </a:r>
          </a:p>
          <a:p>
            <a:pPr>
              <a:spcBef>
                <a:spcPts val="0"/>
              </a:spcBef>
              <a:spcAft>
                <a:spcPts val="600"/>
              </a:spcAft>
              <a:buNone/>
            </a:pPr>
            <a:r>
              <a:rPr lang="zh-CN" altLang="en-US" sz="3000" dirty="0">
                <a:sym typeface="Wingdings" pitchFamily="2" charset="2"/>
              </a:rPr>
              <a:t>混合前</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a:t>
            </a:r>
            <a:r>
              <a:rPr lang="en-US" altLang="zh-CN" sz="3000" baseline="-25000" dirty="0">
                <a:sym typeface="Wingdings" pitchFamily="2" charset="2"/>
              </a:rPr>
              <a:t>1</a:t>
            </a:r>
            <a:r>
              <a:rPr lang="en-US" altLang="zh-CN" sz="3000" dirty="0">
                <a:sym typeface="Wingdings" pitchFamily="2" charset="2"/>
              </a:rPr>
              <a:t> = 10</a:t>
            </a:r>
            <a:r>
              <a:rPr lang="en-US" altLang="zh-CN" sz="3000" baseline="30000" dirty="0">
                <a:sym typeface="Wingdings" pitchFamily="2" charset="2"/>
              </a:rPr>
              <a:t>-3</a:t>
            </a:r>
            <a:r>
              <a:rPr lang="en-US" altLang="zh-CN" sz="3000" dirty="0">
                <a:sym typeface="Wingdings" pitchFamily="2" charset="2"/>
              </a:rPr>
              <a:t> M</a:t>
            </a:r>
            <a:r>
              <a:rPr lang="zh-CN" altLang="en-US" sz="3000" dirty="0">
                <a:sym typeface="Wingdings" pitchFamily="2" charset="2"/>
              </a:rPr>
              <a:t>，</a:t>
            </a: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a:t>
            </a:r>
            <a:r>
              <a:rPr lang="en-US" altLang="zh-CN" sz="3000" baseline="-25000" dirty="0">
                <a:sym typeface="Wingdings" pitchFamily="2" charset="2"/>
              </a:rPr>
              <a:t>2</a:t>
            </a:r>
            <a:r>
              <a:rPr lang="en-US" altLang="zh-CN" sz="3000" dirty="0">
                <a:sym typeface="Wingdings" pitchFamily="2" charset="2"/>
              </a:rPr>
              <a:t> = 10</a:t>
            </a:r>
            <a:r>
              <a:rPr lang="en-US" altLang="zh-CN" sz="3000" baseline="30000" dirty="0">
                <a:sym typeface="Wingdings" pitchFamily="2" charset="2"/>
              </a:rPr>
              <a:t>-5</a:t>
            </a:r>
            <a:r>
              <a:rPr lang="en-US" altLang="zh-CN" sz="3000" dirty="0">
                <a:sym typeface="Wingdings" pitchFamily="2" charset="2"/>
              </a:rPr>
              <a:t> M </a:t>
            </a:r>
            <a:endParaRPr lang="en-US" altLang="zh-CN" sz="3000" baseline="30000" dirty="0">
              <a:sym typeface="Wingdings" pitchFamily="2" charset="2"/>
            </a:endParaRPr>
          </a:p>
          <a:p>
            <a:pPr>
              <a:spcBef>
                <a:spcPts val="0"/>
              </a:spcBef>
              <a:spcAft>
                <a:spcPts val="600"/>
              </a:spcAft>
              <a:buNone/>
            </a:pPr>
            <a:r>
              <a:rPr lang="zh-CN" altLang="en-US" sz="3000" b="1" dirty="0">
                <a:solidFill>
                  <a:srgbClr val="002060"/>
                </a:solidFill>
                <a:sym typeface="Wingdings" pitchFamily="2" charset="2"/>
              </a:rPr>
              <a:t>等体积混合</a:t>
            </a:r>
            <a:r>
              <a:rPr lang="en-US" altLang="zh-CN" sz="3000" b="1" dirty="0">
                <a:solidFill>
                  <a:srgbClr val="002060"/>
                </a:solidFill>
                <a:sym typeface="Wingdings" pitchFamily="2" charset="2"/>
              </a:rPr>
              <a:t>  </a:t>
            </a:r>
          </a:p>
          <a:p>
            <a:pPr>
              <a:spcBef>
                <a:spcPts val="0"/>
              </a:spcBef>
              <a:spcAft>
                <a:spcPts val="600"/>
              </a:spcAft>
              <a:buNone/>
            </a:pP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10</a:t>
            </a:r>
            <a:r>
              <a:rPr lang="en-US" altLang="zh-CN" sz="3000" baseline="30000" dirty="0">
                <a:sym typeface="Wingdings" pitchFamily="2" charset="2"/>
              </a:rPr>
              <a:t>-3</a:t>
            </a:r>
            <a:r>
              <a:rPr lang="en-US" altLang="zh-CN" sz="3000" dirty="0">
                <a:sym typeface="Wingdings" pitchFamily="2" charset="2"/>
              </a:rPr>
              <a:t> x ½  M + 10</a:t>
            </a:r>
            <a:r>
              <a:rPr lang="en-US" altLang="zh-CN" sz="3000" baseline="30000" dirty="0">
                <a:sym typeface="Wingdings" pitchFamily="2" charset="2"/>
              </a:rPr>
              <a:t>-5 </a:t>
            </a:r>
            <a:r>
              <a:rPr lang="en-US" altLang="zh-CN" sz="3000" dirty="0">
                <a:sym typeface="Wingdings" pitchFamily="2" charset="2"/>
              </a:rPr>
              <a:t>x ½ M</a:t>
            </a:r>
          </a:p>
          <a:p>
            <a:pPr>
              <a:spcBef>
                <a:spcPts val="0"/>
              </a:spcBef>
              <a:buNone/>
            </a:pPr>
            <a:r>
              <a:rPr lang="en-US" altLang="zh-CN" sz="3000" dirty="0">
                <a:sym typeface="Wingdings" pitchFamily="2" charset="2"/>
              </a:rPr>
              <a:t>	    = 5.05 x 10</a:t>
            </a:r>
            <a:r>
              <a:rPr lang="en-US" altLang="zh-CN" sz="3000" baseline="30000" dirty="0">
                <a:sym typeface="Wingdings" pitchFamily="2" charset="2"/>
              </a:rPr>
              <a:t>-4</a:t>
            </a:r>
            <a:r>
              <a:rPr lang="en-US" altLang="zh-CN" sz="3000" dirty="0">
                <a:sym typeface="Wingdings" pitchFamily="2" charset="2"/>
              </a:rPr>
              <a:t> M</a:t>
            </a: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pH = -log (5.05 x 10</a:t>
            </a:r>
            <a:r>
              <a:rPr lang="en-US" altLang="zh-CN" sz="3000" baseline="30000" dirty="0">
                <a:sym typeface="Wingdings" pitchFamily="2" charset="2"/>
              </a:rPr>
              <a:t>-4</a:t>
            </a:r>
            <a:r>
              <a:rPr lang="en-US" altLang="zh-CN" sz="3000" dirty="0">
                <a:sym typeface="Wingdings" pitchFamily="2" charset="2"/>
              </a:rPr>
              <a:t> )</a:t>
            </a:r>
          </a:p>
          <a:p>
            <a:pPr>
              <a:spcBef>
                <a:spcPts val="0"/>
              </a:spcBef>
              <a:buNone/>
            </a:pPr>
            <a:r>
              <a:rPr lang="en-US" altLang="zh-CN" sz="3000" dirty="0">
                <a:sym typeface="Wingdings" pitchFamily="2" charset="2"/>
              </a:rPr>
              <a:t>	  = 3.30</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补充题</a:t>
            </a:r>
            <a:r>
              <a:rPr lang="en-US" altLang="zh-CN" sz="3000" dirty="0">
                <a:sym typeface="Wingdings" pitchFamily="2" charset="2"/>
              </a:rPr>
              <a:t>1</a:t>
            </a:r>
          </a:p>
          <a:p>
            <a:pPr>
              <a:spcBef>
                <a:spcPts val="0"/>
              </a:spcBef>
              <a:spcAft>
                <a:spcPts val="600"/>
              </a:spcAft>
              <a:buNone/>
            </a:pPr>
            <a:r>
              <a:rPr lang="zh-CN" altLang="en-US" sz="3000" dirty="0">
                <a:sym typeface="Wingdings" pitchFamily="2" charset="2"/>
              </a:rPr>
              <a:t>问</a:t>
            </a:r>
            <a:r>
              <a:rPr lang="en-US" altLang="zh-CN" sz="3000" dirty="0">
                <a:sym typeface="Wingdings" pitchFamily="2" charset="2"/>
              </a:rPr>
              <a:t>200ml pH 2</a:t>
            </a:r>
            <a:r>
              <a:rPr lang="zh-CN" altLang="en-US" sz="3000" dirty="0">
                <a:sym typeface="Wingdings" pitchFamily="2" charset="2"/>
              </a:rPr>
              <a:t>，与</a:t>
            </a:r>
            <a:r>
              <a:rPr lang="en-US" altLang="zh-CN" sz="3000" dirty="0">
                <a:sym typeface="Wingdings" pitchFamily="2" charset="2"/>
              </a:rPr>
              <a:t>300mL pH 3 </a:t>
            </a:r>
            <a:r>
              <a:rPr lang="zh-CN" altLang="en-US" sz="3000" dirty="0">
                <a:sym typeface="Wingdings" pitchFamily="2" charset="2"/>
              </a:rPr>
              <a:t>的盐酸混合后</a:t>
            </a:r>
            <a:r>
              <a:rPr lang="en-US" altLang="zh-CN" sz="3000" dirty="0">
                <a:sym typeface="Wingdings" pitchFamily="2" charset="2"/>
              </a:rPr>
              <a:t>pH</a:t>
            </a:r>
            <a:r>
              <a:rPr lang="zh-CN" altLang="en-US" sz="3000" dirty="0">
                <a:sym typeface="Wingdings" pitchFamily="2" charset="2"/>
              </a:rPr>
              <a:t>值</a:t>
            </a:r>
            <a:r>
              <a:rPr lang="en-US" altLang="zh-CN" sz="3000" dirty="0">
                <a:sym typeface="Wingdings" pitchFamily="2" charset="2"/>
              </a:rPr>
              <a:t>=</a:t>
            </a:r>
            <a:r>
              <a:rPr lang="zh-CN" altLang="en-US" sz="3000" dirty="0">
                <a:sym typeface="Wingdings" pitchFamily="2" charset="2"/>
              </a:rPr>
              <a:t>？</a:t>
            </a:r>
            <a:endParaRPr lang="en-US" altLang="zh-CN" sz="3000" dirty="0">
              <a:sym typeface="Wingdings" pitchFamily="2" charset="2"/>
            </a:endParaRPr>
          </a:p>
          <a:p>
            <a:pPr>
              <a:spcBef>
                <a:spcPts val="0"/>
              </a:spcBef>
              <a:spcAft>
                <a:spcPts val="600"/>
              </a:spcAft>
              <a:buNone/>
            </a:pPr>
            <a:r>
              <a:rPr lang="zh-CN" altLang="en-US" sz="3000" dirty="0">
                <a:sym typeface="Wingdings" pitchFamily="2" charset="2"/>
              </a:rPr>
              <a:t>混合前</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a:t>
            </a:r>
            <a:r>
              <a:rPr lang="en-US" altLang="zh-CN" sz="3000" baseline="-25000" dirty="0">
                <a:sym typeface="Wingdings" pitchFamily="2" charset="2"/>
              </a:rPr>
              <a:t>1</a:t>
            </a:r>
            <a:r>
              <a:rPr lang="en-US" altLang="zh-CN" sz="3000" dirty="0">
                <a:sym typeface="Wingdings" pitchFamily="2" charset="2"/>
              </a:rPr>
              <a:t> = 10</a:t>
            </a:r>
            <a:r>
              <a:rPr lang="en-US" altLang="zh-CN" sz="3000" baseline="30000" dirty="0">
                <a:sym typeface="Wingdings" pitchFamily="2" charset="2"/>
              </a:rPr>
              <a:t>-2</a:t>
            </a:r>
            <a:r>
              <a:rPr lang="en-US" altLang="zh-CN" sz="3000" dirty="0">
                <a:sym typeface="Wingdings" pitchFamily="2" charset="2"/>
              </a:rPr>
              <a:t> M</a:t>
            </a:r>
            <a:r>
              <a:rPr lang="zh-CN" altLang="en-US" sz="3000" dirty="0">
                <a:sym typeface="Wingdings" pitchFamily="2" charset="2"/>
              </a:rPr>
              <a:t>，</a:t>
            </a: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a:t>
            </a:r>
            <a:r>
              <a:rPr lang="en-US" altLang="zh-CN" sz="3000" baseline="-25000" dirty="0">
                <a:sym typeface="Wingdings" pitchFamily="2" charset="2"/>
              </a:rPr>
              <a:t>2</a:t>
            </a:r>
            <a:r>
              <a:rPr lang="en-US" altLang="zh-CN" sz="3000" dirty="0">
                <a:sym typeface="Wingdings" pitchFamily="2" charset="2"/>
              </a:rPr>
              <a:t> = 10</a:t>
            </a:r>
            <a:r>
              <a:rPr lang="en-US" altLang="zh-CN" sz="3000" baseline="30000" dirty="0">
                <a:sym typeface="Wingdings" pitchFamily="2" charset="2"/>
              </a:rPr>
              <a:t>-3</a:t>
            </a:r>
            <a:r>
              <a:rPr lang="en-US" altLang="zh-CN" sz="3000" dirty="0">
                <a:sym typeface="Wingdings" pitchFamily="2" charset="2"/>
              </a:rPr>
              <a:t> M </a:t>
            </a:r>
            <a:endParaRPr lang="en-US" altLang="zh-CN" sz="3000" baseline="30000" dirty="0">
              <a:sym typeface="Wingdings" pitchFamily="2" charset="2"/>
            </a:endParaRPr>
          </a:p>
          <a:p>
            <a:pPr>
              <a:spcBef>
                <a:spcPts val="0"/>
              </a:spcBef>
              <a:spcAft>
                <a:spcPts val="600"/>
              </a:spcAft>
              <a:buNone/>
            </a:pPr>
            <a:r>
              <a:rPr lang="zh-CN" altLang="en-US" sz="3000" b="1" dirty="0">
                <a:solidFill>
                  <a:srgbClr val="002060"/>
                </a:solidFill>
                <a:sym typeface="Wingdings" pitchFamily="2" charset="2"/>
              </a:rPr>
              <a:t>混合后</a:t>
            </a:r>
            <a:endParaRPr lang="en-US" altLang="zh-CN" sz="3000" b="1" dirty="0">
              <a:solidFill>
                <a:srgbClr val="002060"/>
              </a:solidFill>
              <a:sym typeface="Wingdings" pitchFamily="2" charset="2"/>
            </a:endParaRPr>
          </a:p>
          <a:p>
            <a:pPr>
              <a:spcBef>
                <a:spcPts val="0"/>
              </a:spcBef>
              <a:spcAft>
                <a:spcPts val="600"/>
              </a:spcAft>
              <a:buNone/>
            </a:pP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10</a:t>
            </a:r>
            <a:r>
              <a:rPr lang="en-US" altLang="zh-CN" sz="3000" baseline="30000" dirty="0">
                <a:sym typeface="Wingdings" pitchFamily="2" charset="2"/>
              </a:rPr>
              <a:t>-2</a:t>
            </a:r>
            <a:r>
              <a:rPr lang="en-US" altLang="zh-CN" sz="3000" dirty="0">
                <a:sym typeface="Wingdings" pitchFamily="2" charset="2"/>
              </a:rPr>
              <a:t> x 2/5  M + 10</a:t>
            </a:r>
            <a:r>
              <a:rPr lang="en-US" altLang="zh-CN" sz="3000" baseline="30000" dirty="0">
                <a:sym typeface="Wingdings" pitchFamily="2" charset="2"/>
              </a:rPr>
              <a:t>-3 </a:t>
            </a:r>
            <a:r>
              <a:rPr lang="en-US" altLang="zh-CN" sz="3000" dirty="0">
                <a:sym typeface="Wingdings" pitchFamily="2" charset="2"/>
              </a:rPr>
              <a:t>x 3/5 M</a:t>
            </a:r>
          </a:p>
          <a:p>
            <a:pPr>
              <a:spcBef>
                <a:spcPts val="0"/>
              </a:spcBef>
              <a:buNone/>
            </a:pPr>
            <a:r>
              <a:rPr lang="en-US" altLang="zh-CN" sz="3000" dirty="0">
                <a:sym typeface="Wingdings" pitchFamily="2" charset="2"/>
              </a:rPr>
              <a:t>	    = 4.6 x 10</a:t>
            </a:r>
            <a:r>
              <a:rPr lang="en-US" altLang="zh-CN" sz="3000" baseline="30000" dirty="0">
                <a:sym typeface="Wingdings" pitchFamily="2" charset="2"/>
              </a:rPr>
              <a:t>-3</a:t>
            </a:r>
            <a:r>
              <a:rPr lang="en-US" altLang="zh-CN" sz="3000" dirty="0">
                <a:sym typeface="Wingdings" pitchFamily="2" charset="2"/>
              </a:rPr>
              <a:t> M</a:t>
            </a: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pH = -log (4.6 x 10</a:t>
            </a:r>
            <a:r>
              <a:rPr lang="en-US" altLang="zh-CN" sz="3000" baseline="30000" dirty="0">
                <a:sym typeface="Wingdings" pitchFamily="2" charset="2"/>
              </a:rPr>
              <a:t>-3</a:t>
            </a:r>
            <a:r>
              <a:rPr lang="en-US" altLang="zh-CN" sz="3000" dirty="0">
                <a:sym typeface="Wingdings" pitchFamily="2" charset="2"/>
              </a:rPr>
              <a:t> )</a:t>
            </a:r>
          </a:p>
          <a:p>
            <a:pPr>
              <a:spcBef>
                <a:spcPts val="0"/>
              </a:spcBef>
              <a:buNone/>
            </a:pPr>
            <a:r>
              <a:rPr lang="en-US" altLang="zh-CN" sz="3000" dirty="0">
                <a:sym typeface="Wingdings" pitchFamily="2" charset="2"/>
              </a:rPr>
              <a:t>	  = 2.34</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补充题</a:t>
            </a:r>
            <a:r>
              <a:rPr lang="en-US" altLang="zh-CN" sz="3000" dirty="0">
                <a:sym typeface="Wingdings" pitchFamily="2" charset="2"/>
              </a:rPr>
              <a:t>2</a:t>
            </a:r>
          </a:p>
          <a:p>
            <a:pPr>
              <a:spcBef>
                <a:spcPts val="0"/>
              </a:spcBef>
              <a:buNone/>
            </a:pPr>
            <a:r>
              <a:rPr lang="en-US" altLang="zh-CN" sz="3000" dirty="0">
                <a:sym typeface="Wingdings" pitchFamily="2" charset="2"/>
              </a:rPr>
              <a:t> </a:t>
            </a:r>
            <a:r>
              <a:rPr lang="zh-CN" altLang="en-US" sz="3000" dirty="0">
                <a:sym typeface="Wingdings" pitchFamily="2" charset="2"/>
              </a:rPr>
              <a:t>将</a:t>
            </a:r>
            <a:r>
              <a:rPr lang="en-US" altLang="zh-CN" sz="3000" dirty="0">
                <a:sym typeface="Wingdings" pitchFamily="2" charset="2"/>
              </a:rPr>
              <a:t>pH 3</a:t>
            </a:r>
            <a:r>
              <a:rPr lang="zh-CN" altLang="en-US" sz="3000" dirty="0">
                <a:sym typeface="Wingdings" pitchFamily="2" charset="2"/>
              </a:rPr>
              <a:t>与</a:t>
            </a:r>
            <a:r>
              <a:rPr lang="en-US" altLang="zh-CN" sz="3000" dirty="0">
                <a:sym typeface="Wingdings" pitchFamily="2" charset="2"/>
              </a:rPr>
              <a:t> pH 9 </a:t>
            </a:r>
            <a:r>
              <a:rPr lang="zh-CN" altLang="en-US" sz="3000" dirty="0">
                <a:sym typeface="Wingdings" pitchFamily="2" charset="2"/>
              </a:rPr>
              <a:t>的溶液混合后得</a:t>
            </a:r>
            <a:r>
              <a:rPr lang="en-US" altLang="zh-CN" sz="3000" dirty="0">
                <a:sym typeface="Wingdings" pitchFamily="2" charset="2"/>
              </a:rPr>
              <a:t>pH7 </a:t>
            </a:r>
            <a:r>
              <a:rPr lang="zh-CN" altLang="en-US" sz="3000" dirty="0">
                <a:sym typeface="Wingdings" pitchFamily="2" charset="2"/>
              </a:rPr>
              <a:t>的溶液，问其体积比应为多少？</a:t>
            </a:r>
            <a:endParaRPr lang="en-US" altLang="zh-CN" sz="3000" dirty="0">
              <a:sym typeface="Wingdings" pitchFamily="2" charset="2"/>
            </a:endParaRPr>
          </a:p>
          <a:p>
            <a:pPr>
              <a:spcBef>
                <a:spcPts val="0"/>
              </a:spcBef>
              <a:spcAft>
                <a:spcPts val="600"/>
              </a:spcAft>
              <a:buNone/>
            </a:pPr>
            <a:r>
              <a:rPr lang="zh-CN" altLang="en-US" sz="3000" dirty="0">
                <a:sym typeface="Wingdings" pitchFamily="2" charset="2"/>
              </a:rPr>
              <a:t>设</a:t>
            </a:r>
            <a:r>
              <a:rPr lang="en-US" altLang="zh-CN" sz="3000" dirty="0" err="1">
                <a:sym typeface="Wingdings" pitchFamily="2" charset="2"/>
              </a:rPr>
              <a:t>aL</a:t>
            </a:r>
            <a:r>
              <a:rPr lang="en-US" altLang="zh-CN" sz="3000" dirty="0">
                <a:sym typeface="Wingdings" pitchFamily="2" charset="2"/>
              </a:rPr>
              <a:t> pH3</a:t>
            </a:r>
            <a:r>
              <a:rPr lang="zh-CN" altLang="en-US" sz="3000" dirty="0">
                <a:sym typeface="Wingdings" pitchFamily="2" charset="2"/>
              </a:rPr>
              <a:t>溶液，其中</a:t>
            </a:r>
            <a:r>
              <a:rPr lang="en-US" altLang="zh-CN" sz="3000" dirty="0">
                <a:sym typeface="Wingdings" pitchFamily="2" charset="2"/>
              </a:rPr>
              <a:t>n(H</a:t>
            </a:r>
            <a:r>
              <a:rPr lang="en-US" altLang="zh-CN" sz="3000" baseline="30000" dirty="0">
                <a:sym typeface="Wingdings" pitchFamily="2" charset="2"/>
              </a:rPr>
              <a:t>+</a:t>
            </a:r>
            <a:r>
              <a:rPr lang="en-US" altLang="zh-CN" sz="3000" dirty="0">
                <a:sym typeface="Wingdings" pitchFamily="2" charset="2"/>
              </a:rPr>
              <a:t>) = 10</a:t>
            </a:r>
            <a:r>
              <a:rPr lang="en-US" altLang="zh-CN" sz="3000" baseline="30000" dirty="0">
                <a:sym typeface="Wingdings" pitchFamily="2" charset="2"/>
              </a:rPr>
              <a:t>-3</a:t>
            </a:r>
            <a:r>
              <a:rPr lang="en-US" altLang="zh-CN" sz="3000" dirty="0">
                <a:sym typeface="Wingdings" pitchFamily="2" charset="2"/>
              </a:rPr>
              <a:t> M x a L = 10</a:t>
            </a:r>
            <a:r>
              <a:rPr lang="en-US" altLang="zh-CN" sz="3000" baseline="30000" dirty="0">
                <a:sym typeface="Wingdings" pitchFamily="2" charset="2"/>
              </a:rPr>
              <a:t>-3</a:t>
            </a:r>
            <a:r>
              <a:rPr lang="en-US" altLang="zh-CN" sz="3000" dirty="0">
                <a:sym typeface="Wingdings" pitchFamily="2" charset="2"/>
              </a:rPr>
              <a:t>a mol </a:t>
            </a:r>
          </a:p>
          <a:p>
            <a:pPr>
              <a:spcBef>
                <a:spcPts val="0"/>
              </a:spcBef>
              <a:spcAft>
                <a:spcPts val="600"/>
              </a:spcAft>
              <a:buNone/>
            </a:pPr>
            <a:r>
              <a:rPr lang="en-US" altLang="zh-CN" sz="3000" dirty="0" err="1">
                <a:sym typeface="Wingdings" pitchFamily="2" charset="2"/>
              </a:rPr>
              <a:t>bL</a:t>
            </a:r>
            <a:r>
              <a:rPr lang="en-US" altLang="zh-CN" sz="3000" dirty="0">
                <a:sym typeface="Wingdings" pitchFamily="2" charset="2"/>
              </a:rPr>
              <a:t> pH9 </a:t>
            </a:r>
            <a:r>
              <a:rPr lang="zh-CN" altLang="en-US" sz="3000" dirty="0">
                <a:sym typeface="Wingdings" pitchFamily="2" charset="2"/>
              </a:rPr>
              <a:t>溶液混合，其中</a:t>
            </a:r>
            <a:r>
              <a:rPr lang="en-US" altLang="zh-CN" sz="3000" dirty="0">
                <a:sym typeface="Wingdings" pitchFamily="2" charset="2"/>
              </a:rPr>
              <a:t>n(OH</a:t>
            </a:r>
            <a:r>
              <a:rPr lang="en-US" altLang="zh-CN" sz="3000" baseline="30000" dirty="0">
                <a:sym typeface="Wingdings" pitchFamily="2" charset="2"/>
              </a:rPr>
              <a:t>-</a:t>
            </a:r>
            <a:r>
              <a:rPr lang="en-US" altLang="zh-CN" sz="3000" dirty="0">
                <a:sym typeface="Wingdings" pitchFamily="2" charset="2"/>
              </a:rPr>
              <a:t>) = 10</a:t>
            </a:r>
            <a:r>
              <a:rPr lang="en-US" altLang="zh-CN" sz="3000" baseline="30000" dirty="0">
                <a:sym typeface="Wingdings" pitchFamily="2" charset="2"/>
              </a:rPr>
              <a:t>-5</a:t>
            </a:r>
            <a:r>
              <a:rPr lang="en-US" altLang="zh-CN" sz="3000" dirty="0">
                <a:sym typeface="Wingdings" pitchFamily="2" charset="2"/>
              </a:rPr>
              <a:t>M x </a:t>
            </a:r>
            <a:r>
              <a:rPr lang="en-US" altLang="zh-CN" sz="3000" dirty="0" err="1">
                <a:sym typeface="Wingdings" pitchFamily="2" charset="2"/>
              </a:rPr>
              <a:t>bL</a:t>
            </a:r>
            <a:r>
              <a:rPr lang="en-US" altLang="zh-CN" sz="3000" dirty="0">
                <a:sym typeface="Wingdings" pitchFamily="2" charset="2"/>
              </a:rPr>
              <a:t> = 10</a:t>
            </a:r>
            <a:r>
              <a:rPr lang="en-US" altLang="zh-CN" sz="3000" baseline="30000" dirty="0">
                <a:sym typeface="Wingdings" pitchFamily="2" charset="2"/>
              </a:rPr>
              <a:t>-5</a:t>
            </a:r>
            <a:r>
              <a:rPr lang="en-US" altLang="zh-CN" sz="3000" dirty="0">
                <a:sym typeface="Wingdings" pitchFamily="2" charset="2"/>
              </a:rPr>
              <a:t>b mol </a:t>
            </a:r>
            <a:endParaRPr lang="en-US" altLang="zh-CN" sz="3000" baseline="30000" dirty="0">
              <a:sym typeface="Wingdings" pitchFamily="2" charset="2"/>
            </a:endParaRPr>
          </a:p>
          <a:p>
            <a:pPr>
              <a:spcBef>
                <a:spcPts val="0"/>
              </a:spcBef>
              <a:spcAft>
                <a:spcPts val="600"/>
              </a:spcAft>
              <a:buNone/>
            </a:pPr>
            <a:r>
              <a:rPr lang="zh-CN" altLang="en-US" sz="3000" b="1" dirty="0">
                <a:solidFill>
                  <a:srgbClr val="002060"/>
                </a:solidFill>
                <a:sym typeface="Wingdings" pitchFamily="2" charset="2"/>
              </a:rPr>
              <a:t>混合后 溶液</a:t>
            </a:r>
            <a:r>
              <a:rPr lang="en-US" altLang="zh-CN" sz="3000" b="1" dirty="0">
                <a:solidFill>
                  <a:srgbClr val="002060"/>
                </a:solidFill>
                <a:sym typeface="Wingdings" pitchFamily="2" charset="2"/>
              </a:rPr>
              <a:t>pH7 </a:t>
            </a:r>
            <a:r>
              <a:rPr lang="zh-CN" altLang="en-US" sz="3000" b="1" dirty="0">
                <a:solidFill>
                  <a:srgbClr val="002060"/>
                </a:solidFill>
                <a:sym typeface="Wingdings" pitchFamily="2" charset="2"/>
              </a:rPr>
              <a:t>即 </a:t>
            </a:r>
            <a:r>
              <a:rPr lang="en-US" altLang="zh-CN" sz="3000" b="1" dirty="0">
                <a:solidFill>
                  <a:srgbClr val="002060"/>
                </a:solidFill>
                <a:sym typeface="Wingdings" pitchFamily="2" charset="2"/>
              </a:rPr>
              <a:t>[H</a:t>
            </a:r>
            <a:r>
              <a:rPr lang="en-US" altLang="zh-CN" sz="3000" b="1" baseline="30000" dirty="0">
                <a:solidFill>
                  <a:srgbClr val="002060"/>
                </a:solidFill>
                <a:sym typeface="Wingdings" pitchFamily="2" charset="2"/>
              </a:rPr>
              <a:t>+</a:t>
            </a:r>
            <a:r>
              <a:rPr lang="en-US" altLang="zh-CN" sz="3000" b="1" dirty="0">
                <a:solidFill>
                  <a:srgbClr val="002060"/>
                </a:solidFill>
                <a:sym typeface="Wingdings" pitchFamily="2" charset="2"/>
              </a:rPr>
              <a:t>] = [OH</a:t>
            </a:r>
            <a:r>
              <a:rPr lang="en-US" altLang="zh-CN" sz="3000" b="1" baseline="30000" dirty="0">
                <a:solidFill>
                  <a:srgbClr val="002060"/>
                </a:solidFill>
                <a:sym typeface="Wingdings" pitchFamily="2" charset="2"/>
              </a:rPr>
              <a:t>-</a:t>
            </a:r>
            <a:r>
              <a:rPr lang="en-US" altLang="zh-CN" sz="3000" b="1" dirty="0">
                <a:solidFill>
                  <a:srgbClr val="002060"/>
                </a:solidFill>
                <a:sym typeface="Wingdings" pitchFamily="2" charset="2"/>
              </a:rPr>
              <a:t>] </a:t>
            </a:r>
            <a:r>
              <a:rPr lang="zh-CN" altLang="en-US" sz="3000" b="1" dirty="0">
                <a:solidFill>
                  <a:srgbClr val="002060"/>
                </a:solidFill>
                <a:sym typeface="Wingdings" pitchFamily="2" charset="2"/>
              </a:rPr>
              <a:t>或</a:t>
            </a:r>
            <a:endParaRPr lang="en-US" altLang="zh-CN" sz="3000" b="1" dirty="0">
              <a:solidFill>
                <a:srgbClr val="002060"/>
              </a:solidFill>
              <a:sym typeface="Wingdings" pitchFamily="2" charset="2"/>
            </a:endParaRPr>
          </a:p>
          <a:p>
            <a:pPr>
              <a:spcBef>
                <a:spcPts val="0"/>
              </a:spcBef>
              <a:spcAft>
                <a:spcPts val="600"/>
              </a:spcAft>
              <a:buNone/>
            </a:pPr>
            <a:r>
              <a:rPr lang="en-US" altLang="zh-CN" sz="3000" b="1" dirty="0">
                <a:solidFill>
                  <a:srgbClr val="002060"/>
                </a:solidFill>
                <a:sym typeface="Wingdings" pitchFamily="2" charset="2"/>
              </a:rPr>
              <a:t>				   n(H</a:t>
            </a:r>
            <a:r>
              <a:rPr lang="en-US" altLang="zh-CN" sz="3000" b="1" baseline="30000" dirty="0">
                <a:solidFill>
                  <a:srgbClr val="002060"/>
                </a:solidFill>
                <a:sym typeface="Wingdings" pitchFamily="2" charset="2"/>
              </a:rPr>
              <a:t>+</a:t>
            </a:r>
            <a:r>
              <a:rPr lang="en-US" altLang="zh-CN" sz="3000" b="1" dirty="0">
                <a:solidFill>
                  <a:srgbClr val="002060"/>
                </a:solidFill>
                <a:sym typeface="Wingdings" pitchFamily="2" charset="2"/>
              </a:rPr>
              <a:t>) =n (OH</a:t>
            </a:r>
            <a:r>
              <a:rPr lang="en-US" altLang="zh-CN" sz="3000" b="1" baseline="30000" dirty="0">
                <a:solidFill>
                  <a:srgbClr val="002060"/>
                </a:solidFill>
                <a:sym typeface="Wingdings" pitchFamily="2" charset="2"/>
              </a:rPr>
              <a:t>-</a:t>
            </a:r>
            <a:r>
              <a:rPr lang="en-US" altLang="zh-CN" sz="3000" b="1" dirty="0">
                <a:solidFill>
                  <a:srgbClr val="002060"/>
                </a:solidFill>
                <a:sym typeface="Wingdings" pitchFamily="2" charset="2"/>
              </a:rPr>
              <a:t> ) </a:t>
            </a:r>
            <a:endParaRPr lang="en-US" altLang="zh-CN" sz="3000" dirty="0">
              <a:sym typeface="Wingdings" pitchFamily="2" charset="2"/>
            </a:endParaRPr>
          </a:p>
          <a:p>
            <a:pPr>
              <a:spcBef>
                <a:spcPts val="0"/>
              </a:spcBef>
              <a:buNone/>
            </a:pPr>
            <a:r>
              <a:rPr lang="en-US" altLang="zh-CN" sz="3000" dirty="0">
                <a:sym typeface="Wingdings" pitchFamily="2" charset="2"/>
              </a:rPr>
              <a:t>			              10</a:t>
            </a:r>
            <a:r>
              <a:rPr lang="en-US" altLang="zh-CN" sz="3000" baseline="30000" dirty="0">
                <a:sym typeface="Wingdings" pitchFamily="2" charset="2"/>
              </a:rPr>
              <a:t>-3</a:t>
            </a:r>
            <a:r>
              <a:rPr lang="en-US" altLang="zh-CN" sz="3000" dirty="0">
                <a:sym typeface="Wingdings" pitchFamily="2" charset="2"/>
              </a:rPr>
              <a:t>a = 10</a:t>
            </a:r>
            <a:r>
              <a:rPr lang="en-US" altLang="zh-CN" sz="3000" baseline="30000" dirty="0">
                <a:sym typeface="Wingdings" pitchFamily="2" charset="2"/>
              </a:rPr>
              <a:t>-5</a:t>
            </a:r>
            <a:r>
              <a:rPr lang="en-US" altLang="zh-CN" sz="3000" dirty="0">
                <a:sym typeface="Wingdings" pitchFamily="2" charset="2"/>
              </a:rPr>
              <a:t>b </a:t>
            </a:r>
          </a:p>
          <a:p>
            <a:pPr>
              <a:spcBef>
                <a:spcPts val="0"/>
              </a:spcBef>
              <a:buNone/>
            </a:pPr>
            <a:r>
              <a:rPr lang="en-US" altLang="zh-CN" sz="3000" dirty="0">
                <a:sym typeface="Wingdings" pitchFamily="2" charset="2"/>
              </a:rPr>
              <a:t> 				       a:b = 10</a:t>
            </a:r>
            <a:r>
              <a:rPr lang="en-US" altLang="zh-CN" sz="3000" baseline="30000" dirty="0">
                <a:sym typeface="Wingdings" pitchFamily="2" charset="2"/>
              </a:rPr>
              <a:t>-5</a:t>
            </a:r>
            <a:r>
              <a:rPr lang="en-US" altLang="zh-CN" sz="3000" dirty="0">
                <a:sym typeface="Wingdings" pitchFamily="2" charset="2"/>
              </a:rPr>
              <a:t> : 10</a:t>
            </a:r>
            <a:r>
              <a:rPr lang="en-US" altLang="zh-CN" sz="3000" baseline="30000" dirty="0">
                <a:sym typeface="Wingdings" pitchFamily="2" charset="2"/>
              </a:rPr>
              <a:t>-3</a:t>
            </a:r>
            <a:endParaRPr lang="en-US" altLang="zh-CN" sz="3000" dirty="0">
              <a:sym typeface="Wingdings" pitchFamily="2" charset="2"/>
            </a:endParaRPr>
          </a:p>
          <a:p>
            <a:pPr>
              <a:spcBef>
                <a:spcPts val="0"/>
              </a:spcBef>
              <a:buNone/>
            </a:pPr>
            <a:r>
              <a:rPr lang="en-US" altLang="zh-CN" sz="3000" dirty="0">
                <a:sym typeface="Wingdings" pitchFamily="2" charset="2"/>
              </a:rPr>
              <a:t>				       a:b = 1:100</a:t>
            </a:r>
          </a:p>
        </p:txBody>
      </p:sp>
      <p:sp>
        <p:nvSpPr>
          <p:cNvPr id="5" name="Rounded Rectangle 4"/>
          <p:cNvSpPr/>
          <p:nvPr/>
        </p:nvSpPr>
        <p:spPr>
          <a:xfrm>
            <a:off x="7010400" y="2362200"/>
            <a:ext cx="16764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Rounded Rectangle 5"/>
          <p:cNvSpPr/>
          <p:nvPr/>
        </p:nvSpPr>
        <p:spPr>
          <a:xfrm>
            <a:off x="4876800" y="2362200"/>
            <a:ext cx="18288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 name="Rounded Rectangle 6"/>
          <p:cNvSpPr/>
          <p:nvPr/>
        </p:nvSpPr>
        <p:spPr>
          <a:xfrm>
            <a:off x="7543800" y="2971800"/>
            <a:ext cx="16002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8" name="Rounded Rectangle 7"/>
          <p:cNvSpPr/>
          <p:nvPr/>
        </p:nvSpPr>
        <p:spPr>
          <a:xfrm>
            <a:off x="5562600" y="2971800"/>
            <a:ext cx="16764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0" nodeType="clickEffect">
                                  <p:stCondLst>
                                    <p:cond delay="0"/>
                                  </p:stCondLst>
                                  <p:childTnLst>
                                    <p:animEffect transition="out" filter="blinds(horizontal)">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blinds(horizontal)">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0" nodeType="clickEffect">
                                  <p:stCondLst>
                                    <p:cond delay="0"/>
                                  </p:stCondLst>
                                  <p:childTnLst>
                                    <p:animEffect transition="out" filter="blinds(horizontal)">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blinds(horizontal)">
                                      <p:cBhvr>
                                        <p:cTn id="47" dur="500"/>
                                        <p:tgtEl>
                                          <p:spTgt spid="3">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5" end="5"/>
                                            </p:txEl>
                                          </p:spTgt>
                                        </p:tgtEl>
                                        <p:attrNameLst>
                                          <p:attrName>style.visibility</p:attrName>
                                        </p:attrNameLst>
                                      </p:cBhvr>
                                      <p:to>
                                        <p:strVal val="visible"/>
                                      </p:to>
                                    </p:set>
                                    <p:animEffect transition="in" filter="blinds(horizontal)">
                                      <p:cBhvr>
                                        <p:cTn id="52" dur="500"/>
                                        <p:tgtEl>
                                          <p:spTgt spid="3">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Effect transition="in" filter="blinds(horizontal)">
                                      <p:cBhvr>
                                        <p:cTn id="57" dur="500"/>
                                        <p:tgtEl>
                                          <p:spTgt spid="3">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blinds(horizontal)">
                                      <p:cBhvr>
                                        <p:cTn id="62" dur="500"/>
                                        <p:tgtEl>
                                          <p:spTgt spid="3">
                                            <p:txEl>
                                              <p:pRg st="7" end="7"/>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blinds(horizontal)">
                                      <p:cBhvr>
                                        <p:cTn id="6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23.3.2 pH</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值</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例</a:t>
            </a:r>
            <a:r>
              <a:rPr lang="en-US" altLang="zh-CN" sz="3000" dirty="0">
                <a:sym typeface="Wingdings" pitchFamily="2" charset="2"/>
              </a:rPr>
              <a:t>5 </a:t>
            </a:r>
          </a:p>
          <a:p>
            <a:pPr>
              <a:spcBef>
                <a:spcPts val="0"/>
              </a:spcBef>
              <a:buNone/>
            </a:pPr>
            <a:r>
              <a:rPr lang="zh-CN" altLang="en-US" sz="3000" dirty="0">
                <a:sym typeface="Wingdings" pitchFamily="2" charset="2"/>
              </a:rPr>
              <a:t>硫酸是二元酸</a:t>
            </a:r>
            <a:endParaRPr lang="en-US" altLang="zh-CN" sz="3000" dirty="0">
              <a:sym typeface="Wingdings" pitchFamily="2" charset="2"/>
            </a:endParaRPr>
          </a:p>
          <a:p>
            <a:pPr>
              <a:spcBef>
                <a:spcPts val="0"/>
              </a:spcBef>
              <a:spcAft>
                <a:spcPts val="600"/>
              </a:spcAft>
              <a:buNone/>
            </a:pPr>
            <a:r>
              <a:rPr lang="en-US" altLang="zh-CN" sz="3000" dirty="0">
                <a:sym typeface="Wingdings" pitchFamily="2" charset="2"/>
              </a:rPr>
              <a:t>n(H</a:t>
            </a:r>
            <a:r>
              <a:rPr lang="en-US" altLang="zh-CN" sz="3000" baseline="30000" dirty="0">
                <a:sym typeface="Wingdings" pitchFamily="2" charset="2"/>
              </a:rPr>
              <a:t>+</a:t>
            </a:r>
            <a:r>
              <a:rPr lang="en-US" altLang="zh-CN" sz="3000" dirty="0">
                <a:sym typeface="Wingdings" pitchFamily="2" charset="2"/>
              </a:rPr>
              <a:t>) = 0.5M x 0.099L x 2</a:t>
            </a:r>
          </a:p>
          <a:p>
            <a:pPr>
              <a:spcBef>
                <a:spcPts val="0"/>
              </a:spcBef>
              <a:buNone/>
            </a:pPr>
            <a:r>
              <a:rPr lang="en-US" altLang="zh-CN" sz="3000" dirty="0">
                <a:sym typeface="Wingdings" pitchFamily="2" charset="2"/>
              </a:rPr>
              <a:t>		= 0.099mol</a:t>
            </a:r>
          </a:p>
          <a:p>
            <a:pPr>
              <a:spcBef>
                <a:spcPts val="0"/>
              </a:spcBef>
              <a:buNone/>
            </a:pPr>
            <a:r>
              <a:rPr lang="en-US" altLang="zh-CN" sz="3000" dirty="0">
                <a:sym typeface="Wingdings" pitchFamily="2" charset="2"/>
              </a:rPr>
              <a:t>n(OH</a:t>
            </a:r>
            <a:r>
              <a:rPr lang="en-US" altLang="zh-CN" sz="3000" baseline="30000" dirty="0">
                <a:sym typeface="Wingdings" pitchFamily="2" charset="2"/>
              </a:rPr>
              <a:t>-</a:t>
            </a:r>
            <a:r>
              <a:rPr lang="en-US" altLang="zh-CN" sz="3000" dirty="0">
                <a:sym typeface="Wingdings" pitchFamily="2" charset="2"/>
              </a:rPr>
              <a:t>) = 1M x 0.101L </a:t>
            </a:r>
          </a:p>
          <a:p>
            <a:pPr>
              <a:spcBef>
                <a:spcPts val="0"/>
              </a:spcBef>
              <a:buNone/>
            </a:pPr>
            <a:r>
              <a:rPr lang="en-US" altLang="zh-CN" sz="3000" dirty="0">
                <a:sym typeface="Wingdings" pitchFamily="2" charset="2"/>
              </a:rPr>
              <a:t>		  = 0.101mol</a:t>
            </a:r>
          </a:p>
          <a:p>
            <a:pPr>
              <a:spcBef>
                <a:spcPts val="0"/>
              </a:spcBef>
              <a:buNone/>
            </a:pPr>
            <a:r>
              <a:rPr lang="zh-CN" altLang="en-US" sz="3000" dirty="0">
                <a:sym typeface="Wingdings" pitchFamily="2" charset="2"/>
              </a:rPr>
              <a:t>过量的</a:t>
            </a:r>
            <a:r>
              <a:rPr lang="en-US" altLang="zh-CN" sz="3000" dirty="0">
                <a:sym typeface="Wingdings" pitchFamily="2" charset="2"/>
              </a:rPr>
              <a:t>n(OH</a:t>
            </a:r>
            <a:r>
              <a:rPr lang="en-US" altLang="zh-CN" sz="3000" baseline="30000" dirty="0">
                <a:sym typeface="Wingdings" pitchFamily="2" charset="2"/>
              </a:rPr>
              <a:t>-</a:t>
            </a:r>
            <a:r>
              <a:rPr lang="en-US" altLang="zh-CN" sz="3000" dirty="0">
                <a:sym typeface="Wingdings" pitchFamily="2" charset="2"/>
              </a:rPr>
              <a:t> ) = 0.101mol – 0.099mol = 0.002mol</a:t>
            </a:r>
          </a:p>
          <a:p>
            <a:pPr>
              <a:spcBef>
                <a:spcPts val="0"/>
              </a:spcBef>
              <a:buNone/>
            </a:pPr>
            <a:r>
              <a:rPr lang="zh-CN" altLang="en-US" sz="3000" dirty="0">
                <a:sym typeface="Wingdings" pitchFamily="2" charset="2"/>
              </a:rPr>
              <a:t>设反应后溶液体积</a:t>
            </a:r>
            <a:r>
              <a:rPr lang="en-US" altLang="zh-CN" sz="3000" dirty="0">
                <a:sym typeface="Wingdings" pitchFamily="2" charset="2"/>
              </a:rPr>
              <a:t>=0.099L + 0.101L =0.2L </a:t>
            </a:r>
          </a:p>
          <a:p>
            <a:pPr>
              <a:spcBef>
                <a:spcPts val="0"/>
              </a:spcBef>
              <a:buNone/>
            </a:pPr>
            <a:r>
              <a:rPr lang="en-US" altLang="zh-CN" sz="3000" dirty="0">
                <a:sym typeface="Wingdings" pitchFamily="2" charset="2"/>
              </a:rPr>
              <a:t>	</a:t>
            </a:r>
            <a:r>
              <a:rPr lang="zh-CN" altLang="en-US" sz="3000" dirty="0">
                <a:sym typeface="Wingdings" pitchFamily="2" charset="2"/>
              </a:rPr>
              <a:t>则</a:t>
            </a:r>
            <a:r>
              <a:rPr lang="en-US" altLang="zh-CN" sz="3000" dirty="0">
                <a:sym typeface="Wingdings" pitchFamily="2" charset="2"/>
              </a:rPr>
              <a:t>	[OH</a:t>
            </a:r>
            <a:r>
              <a:rPr lang="en-US" altLang="zh-CN" sz="3000" baseline="30000" dirty="0">
                <a:sym typeface="Wingdings" pitchFamily="2" charset="2"/>
              </a:rPr>
              <a:t>-</a:t>
            </a:r>
            <a:r>
              <a:rPr lang="en-US" altLang="zh-CN" sz="3000" dirty="0">
                <a:sym typeface="Wingdings" pitchFamily="2" charset="2"/>
              </a:rPr>
              <a:t>] = 0.002mol/0.2L = 0.01 M </a:t>
            </a:r>
          </a:p>
          <a:p>
            <a:pPr>
              <a:spcBef>
                <a:spcPts val="0"/>
              </a:spcBef>
              <a:buNone/>
            </a:pPr>
            <a:r>
              <a:rPr lang="en-US" altLang="zh-CN" sz="3000" dirty="0">
                <a:sym typeface="Wingdings" pitchFamily="2" charset="2"/>
              </a:rPr>
              <a:t>	</a:t>
            </a:r>
            <a:r>
              <a:rPr lang="en-US" altLang="zh-CN" sz="3000" dirty="0" err="1">
                <a:sym typeface="Wingdings" pitchFamily="2" charset="2"/>
              </a:rPr>
              <a:t>pOH</a:t>
            </a:r>
            <a:r>
              <a:rPr lang="en-US" altLang="zh-CN" sz="3000" dirty="0">
                <a:sym typeface="Wingdings" pitchFamily="2" charset="2"/>
              </a:rPr>
              <a:t> = -log0.01 </a:t>
            </a:r>
          </a:p>
          <a:p>
            <a:pPr>
              <a:spcBef>
                <a:spcPts val="0"/>
              </a:spcBef>
              <a:buNone/>
            </a:pPr>
            <a:r>
              <a:rPr lang="en-US" altLang="zh-CN" sz="3000" dirty="0">
                <a:sym typeface="Wingdings" pitchFamily="2" charset="2"/>
              </a:rPr>
              <a:t>		   = 2</a:t>
            </a:r>
          </a:p>
          <a:p>
            <a:pPr>
              <a:spcBef>
                <a:spcPts val="0"/>
              </a:spcBef>
              <a:buNone/>
            </a:pPr>
            <a:r>
              <a:rPr lang="en-US" altLang="zh-CN" sz="3000" dirty="0">
                <a:sym typeface="Wingdings" pitchFamily="2" charset="2"/>
              </a:rPr>
              <a:t>	pH = 12</a:t>
            </a:r>
          </a:p>
          <a:p>
            <a:pPr>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23d</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buNone/>
            </a:pPr>
            <a:r>
              <a:rPr lang="en-US" altLang="zh-CN" sz="3000" dirty="0">
                <a:sym typeface="Wingdings" pitchFamily="2" charset="2"/>
              </a:rPr>
              <a:t>1. </a:t>
            </a:r>
            <a:r>
              <a:rPr lang="zh-CN" altLang="en-US" sz="2800" dirty="0"/>
              <a:t>设混合前两溶液的体积为</a:t>
            </a:r>
            <a:r>
              <a:rPr lang="en-US" altLang="zh-CN" sz="2800" i="1" dirty="0"/>
              <a:t>V L </a:t>
            </a:r>
            <a:endParaRPr lang="zh-CN" altLang="en-US" sz="2800" i="1" dirty="0"/>
          </a:p>
          <a:p>
            <a:pPr>
              <a:spcBef>
                <a:spcPts val="0"/>
              </a:spcBef>
              <a:buNone/>
            </a:pPr>
            <a:r>
              <a:rPr lang="en-US" altLang="zh-CN" sz="3000" dirty="0">
                <a:sym typeface="Wingdings" pitchFamily="2" charset="2"/>
              </a:rPr>
              <a:t>pH 1 </a:t>
            </a:r>
            <a:r>
              <a:rPr lang="zh-CN" altLang="en-US" sz="3000" dirty="0">
                <a:sym typeface="Wingdings" pitchFamily="2" charset="2"/>
              </a:rPr>
              <a:t>溶液，</a:t>
            </a:r>
            <a:r>
              <a:rPr lang="en-US" altLang="zh-CN" sz="3000" dirty="0">
                <a:sym typeface="Wingdings" pitchFamily="2" charset="2"/>
              </a:rPr>
              <a:t>n(H</a:t>
            </a:r>
            <a:r>
              <a:rPr lang="en-US" altLang="zh-CN" sz="3000" baseline="30000" dirty="0">
                <a:sym typeface="Wingdings" pitchFamily="2" charset="2"/>
              </a:rPr>
              <a:t>+</a:t>
            </a:r>
            <a:r>
              <a:rPr lang="en-US" altLang="zh-CN" sz="3000" dirty="0">
                <a:sym typeface="Wingdings" pitchFamily="2" charset="2"/>
              </a:rPr>
              <a:t> ) = 0.1V mol</a:t>
            </a:r>
          </a:p>
          <a:p>
            <a:pPr>
              <a:spcBef>
                <a:spcPts val="0"/>
              </a:spcBef>
              <a:buNone/>
            </a:pPr>
            <a:r>
              <a:rPr lang="en-US" altLang="zh-CN" sz="3000" dirty="0">
                <a:sym typeface="Wingdings" pitchFamily="2" charset="2"/>
              </a:rPr>
              <a:t>pH 12</a:t>
            </a:r>
            <a:r>
              <a:rPr lang="zh-CN" altLang="en-US" sz="3000" dirty="0">
                <a:sym typeface="Wingdings" pitchFamily="2" charset="2"/>
              </a:rPr>
              <a:t>溶液，</a:t>
            </a:r>
            <a:r>
              <a:rPr lang="en-US" altLang="zh-CN" sz="3000" dirty="0" err="1">
                <a:sym typeface="Wingdings" pitchFamily="2" charset="2"/>
              </a:rPr>
              <a:t>pOH</a:t>
            </a:r>
            <a:r>
              <a:rPr lang="en-US" altLang="zh-CN" sz="3000" dirty="0">
                <a:sym typeface="Wingdings" pitchFamily="2" charset="2"/>
              </a:rPr>
              <a:t>=2</a:t>
            </a:r>
            <a:r>
              <a:rPr lang="zh-CN" altLang="en-US" sz="3000" dirty="0">
                <a:sym typeface="Wingdings" pitchFamily="2" charset="2"/>
              </a:rPr>
              <a:t>，</a:t>
            </a:r>
            <a:r>
              <a:rPr lang="en-US" altLang="zh-CN" sz="3000" dirty="0">
                <a:sym typeface="Wingdings" pitchFamily="2" charset="2"/>
              </a:rPr>
              <a:t>n(OH</a:t>
            </a:r>
            <a:r>
              <a:rPr lang="en-US" altLang="zh-CN" sz="3000" baseline="30000" dirty="0">
                <a:sym typeface="Wingdings" pitchFamily="2" charset="2"/>
              </a:rPr>
              <a:t>-</a:t>
            </a:r>
            <a:r>
              <a:rPr lang="en-US" altLang="zh-CN" sz="3000" dirty="0">
                <a:sym typeface="Wingdings" pitchFamily="2" charset="2"/>
              </a:rPr>
              <a:t> ) = 0.01V mol</a:t>
            </a:r>
          </a:p>
          <a:p>
            <a:pPr>
              <a:spcBef>
                <a:spcPts val="0"/>
              </a:spcBef>
              <a:spcAft>
                <a:spcPts val="600"/>
              </a:spcAft>
              <a:buNone/>
            </a:pPr>
            <a:r>
              <a:rPr lang="zh-CN" altLang="en-US" sz="3000" dirty="0">
                <a:sym typeface="Wingdings" pitchFamily="2" charset="2"/>
              </a:rPr>
              <a:t>反应后，过量</a:t>
            </a:r>
            <a:r>
              <a:rPr lang="en-US" altLang="zh-CN" sz="3000" dirty="0">
                <a:sym typeface="Wingdings" pitchFamily="2" charset="2"/>
              </a:rPr>
              <a:t>n(H</a:t>
            </a:r>
            <a:r>
              <a:rPr lang="en-US" altLang="zh-CN" sz="3000" baseline="30000" dirty="0">
                <a:sym typeface="Wingdings" pitchFamily="2" charset="2"/>
              </a:rPr>
              <a:t>+</a:t>
            </a:r>
            <a:r>
              <a:rPr lang="en-US" altLang="zh-CN" sz="3000" dirty="0">
                <a:sym typeface="Wingdings" pitchFamily="2" charset="2"/>
              </a:rPr>
              <a:t> ) = 0.1V mol-0.01V mol</a:t>
            </a:r>
          </a:p>
          <a:p>
            <a:pPr>
              <a:spcBef>
                <a:spcPts val="0"/>
              </a:spcBef>
              <a:spcAft>
                <a:spcPts val="600"/>
              </a:spcAft>
              <a:buNone/>
            </a:pPr>
            <a:r>
              <a:rPr lang="en-US" altLang="zh-CN" sz="3000" dirty="0">
                <a:sym typeface="Wingdings" pitchFamily="2" charset="2"/>
              </a:rPr>
              <a:t>				       = 0.09V mol</a:t>
            </a:r>
          </a:p>
          <a:p>
            <a:pPr>
              <a:spcBef>
                <a:spcPts val="0"/>
              </a:spcBef>
              <a:spcAft>
                <a:spcPts val="600"/>
              </a:spcAft>
              <a:buNone/>
            </a:pPr>
            <a:r>
              <a:rPr lang="zh-CN" altLang="en-US" sz="3000" dirty="0">
                <a:sym typeface="Wingdings" pitchFamily="2" charset="2"/>
              </a:rPr>
              <a:t>反应后，溶液体积</a:t>
            </a:r>
            <a:r>
              <a:rPr lang="en-US" altLang="zh-CN" sz="3000" dirty="0">
                <a:sym typeface="Wingdings" pitchFamily="2" charset="2"/>
              </a:rPr>
              <a:t>=2V L </a:t>
            </a:r>
          </a:p>
          <a:p>
            <a:pPr>
              <a:spcBef>
                <a:spcPts val="0"/>
              </a:spcBef>
              <a:spcAft>
                <a:spcPts val="600"/>
              </a:spcAft>
              <a:buNone/>
            </a:pP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0.9Vmol / 2V L </a:t>
            </a:r>
          </a:p>
          <a:p>
            <a:pPr>
              <a:spcBef>
                <a:spcPts val="0"/>
              </a:spcBef>
              <a:spcAft>
                <a:spcPts val="600"/>
              </a:spcAft>
              <a:buNone/>
            </a:pPr>
            <a:r>
              <a:rPr lang="en-US" altLang="zh-CN" sz="3000" dirty="0">
                <a:sym typeface="Wingdings" pitchFamily="2" charset="2"/>
              </a:rPr>
              <a:t>	   = 0.045M</a:t>
            </a:r>
          </a:p>
          <a:p>
            <a:pPr>
              <a:spcBef>
                <a:spcPts val="0"/>
              </a:spcBef>
              <a:buNone/>
            </a:pPr>
            <a:r>
              <a:rPr lang="en-US" altLang="zh-CN" sz="3000" dirty="0">
                <a:sym typeface="Wingdings" pitchFamily="2" charset="2"/>
              </a:rPr>
              <a:t>pH = -log (0.045 )</a:t>
            </a:r>
          </a:p>
          <a:p>
            <a:pPr>
              <a:spcBef>
                <a:spcPts val="0"/>
              </a:spcBef>
              <a:buNone/>
            </a:pPr>
            <a:r>
              <a:rPr lang="en-US" altLang="zh-CN" sz="3000" dirty="0">
                <a:sym typeface="Wingdings" pitchFamily="2" charset="2"/>
              </a:rPr>
              <a:t>	  = 1.35</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23d</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buNone/>
            </a:pPr>
            <a:r>
              <a:rPr lang="en-US" altLang="zh-CN" sz="3000" dirty="0">
                <a:sym typeface="Wingdings" pitchFamily="2" charset="2"/>
              </a:rPr>
              <a:t>2. </a:t>
            </a:r>
            <a:r>
              <a:rPr lang="zh-CN" altLang="en-US" sz="2800" dirty="0"/>
              <a:t>设混合前两溶液的体积为</a:t>
            </a:r>
            <a:r>
              <a:rPr lang="en-US" altLang="zh-CN" sz="2800" i="1" dirty="0"/>
              <a:t>V L </a:t>
            </a:r>
            <a:endParaRPr lang="zh-CN" altLang="en-US" sz="2800" i="1" dirty="0"/>
          </a:p>
          <a:p>
            <a:pPr>
              <a:spcBef>
                <a:spcPts val="0"/>
              </a:spcBef>
              <a:buNone/>
            </a:pPr>
            <a:r>
              <a:rPr lang="en-US" altLang="zh-CN" sz="3000" dirty="0">
                <a:sym typeface="Wingdings" pitchFamily="2" charset="2"/>
              </a:rPr>
              <a:t>pH 2 </a:t>
            </a:r>
            <a:r>
              <a:rPr lang="zh-CN" altLang="en-US" sz="3000" dirty="0">
                <a:sym typeface="Wingdings" pitchFamily="2" charset="2"/>
              </a:rPr>
              <a:t>溶液，</a:t>
            </a:r>
            <a:r>
              <a:rPr lang="en-US" altLang="zh-CN" sz="3000" dirty="0">
                <a:sym typeface="Wingdings" pitchFamily="2" charset="2"/>
              </a:rPr>
              <a:t>n(H</a:t>
            </a:r>
            <a:r>
              <a:rPr lang="en-US" altLang="zh-CN" sz="3000" baseline="30000" dirty="0">
                <a:sym typeface="Wingdings" pitchFamily="2" charset="2"/>
              </a:rPr>
              <a:t>+</a:t>
            </a:r>
            <a:r>
              <a:rPr lang="en-US" altLang="zh-CN" sz="3000" dirty="0">
                <a:sym typeface="Wingdings" pitchFamily="2" charset="2"/>
              </a:rPr>
              <a:t> ) = 0.01V mol</a:t>
            </a:r>
          </a:p>
          <a:p>
            <a:pPr>
              <a:spcBef>
                <a:spcPts val="0"/>
              </a:spcBef>
              <a:buNone/>
            </a:pPr>
            <a:r>
              <a:rPr lang="en-US" altLang="zh-CN" sz="3000" dirty="0">
                <a:sym typeface="Wingdings" pitchFamily="2" charset="2"/>
              </a:rPr>
              <a:t>pH 13</a:t>
            </a:r>
            <a:r>
              <a:rPr lang="zh-CN" altLang="en-US" sz="3000" dirty="0">
                <a:sym typeface="Wingdings" pitchFamily="2" charset="2"/>
              </a:rPr>
              <a:t>溶液，</a:t>
            </a:r>
            <a:r>
              <a:rPr lang="en-US" altLang="zh-CN" sz="3000" dirty="0" err="1">
                <a:sym typeface="Wingdings" pitchFamily="2" charset="2"/>
              </a:rPr>
              <a:t>pOH</a:t>
            </a:r>
            <a:r>
              <a:rPr lang="en-US" altLang="zh-CN" sz="3000" dirty="0">
                <a:sym typeface="Wingdings" pitchFamily="2" charset="2"/>
              </a:rPr>
              <a:t>=1</a:t>
            </a:r>
            <a:r>
              <a:rPr lang="zh-CN" altLang="en-US" sz="3000" dirty="0">
                <a:sym typeface="Wingdings" pitchFamily="2" charset="2"/>
              </a:rPr>
              <a:t>，</a:t>
            </a:r>
            <a:r>
              <a:rPr lang="en-US" altLang="zh-CN" sz="3000" dirty="0">
                <a:sym typeface="Wingdings" pitchFamily="2" charset="2"/>
              </a:rPr>
              <a:t>n(OH</a:t>
            </a:r>
            <a:r>
              <a:rPr lang="en-US" altLang="zh-CN" sz="3000" baseline="30000" dirty="0">
                <a:sym typeface="Wingdings" pitchFamily="2" charset="2"/>
              </a:rPr>
              <a:t>-</a:t>
            </a:r>
            <a:r>
              <a:rPr lang="en-US" altLang="zh-CN" sz="3000" dirty="0">
                <a:sym typeface="Wingdings" pitchFamily="2" charset="2"/>
              </a:rPr>
              <a:t> ) = 0.1V mol</a:t>
            </a:r>
          </a:p>
          <a:p>
            <a:pPr>
              <a:spcBef>
                <a:spcPts val="0"/>
              </a:spcBef>
              <a:spcAft>
                <a:spcPts val="600"/>
              </a:spcAft>
              <a:buNone/>
            </a:pPr>
            <a:r>
              <a:rPr lang="zh-CN" altLang="en-US" sz="3000" dirty="0">
                <a:sym typeface="Wingdings" pitchFamily="2" charset="2"/>
              </a:rPr>
              <a:t>反应后，过量</a:t>
            </a:r>
            <a:r>
              <a:rPr lang="en-US" altLang="zh-CN" sz="3000" dirty="0">
                <a:sym typeface="Wingdings" pitchFamily="2" charset="2"/>
              </a:rPr>
              <a:t>n(OH</a:t>
            </a:r>
            <a:r>
              <a:rPr lang="en-US" altLang="zh-CN" sz="3000" baseline="30000" dirty="0">
                <a:sym typeface="Wingdings" pitchFamily="2" charset="2"/>
              </a:rPr>
              <a:t>-</a:t>
            </a:r>
            <a:r>
              <a:rPr lang="en-US" altLang="zh-CN" sz="3000" dirty="0">
                <a:sym typeface="Wingdings" pitchFamily="2" charset="2"/>
              </a:rPr>
              <a:t> ) = 0.1V mol-0.01V mol</a:t>
            </a:r>
          </a:p>
          <a:p>
            <a:pPr>
              <a:spcBef>
                <a:spcPts val="0"/>
              </a:spcBef>
              <a:spcAft>
                <a:spcPts val="600"/>
              </a:spcAft>
              <a:buNone/>
            </a:pPr>
            <a:r>
              <a:rPr lang="en-US" altLang="zh-CN" sz="3000" dirty="0">
                <a:sym typeface="Wingdings" pitchFamily="2" charset="2"/>
              </a:rPr>
              <a:t>				       = 0.09V mol</a:t>
            </a:r>
          </a:p>
          <a:p>
            <a:pPr>
              <a:spcBef>
                <a:spcPts val="0"/>
              </a:spcBef>
              <a:spcAft>
                <a:spcPts val="600"/>
              </a:spcAft>
              <a:buNone/>
            </a:pPr>
            <a:r>
              <a:rPr lang="zh-CN" altLang="en-US" sz="3000" dirty="0">
                <a:sym typeface="Wingdings" pitchFamily="2" charset="2"/>
              </a:rPr>
              <a:t>反应后，溶液体积</a:t>
            </a:r>
            <a:r>
              <a:rPr lang="en-US" altLang="zh-CN" sz="3000" dirty="0">
                <a:sym typeface="Wingdings" pitchFamily="2" charset="2"/>
              </a:rPr>
              <a:t>=2V L </a:t>
            </a:r>
          </a:p>
          <a:p>
            <a:pPr>
              <a:spcBef>
                <a:spcPts val="0"/>
              </a:spcBef>
              <a:spcAft>
                <a:spcPts val="600"/>
              </a:spcAft>
              <a:buNone/>
            </a:pP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0.9Vmol / 2V L </a:t>
            </a:r>
          </a:p>
          <a:p>
            <a:pPr>
              <a:spcBef>
                <a:spcPts val="0"/>
              </a:spcBef>
              <a:spcAft>
                <a:spcPts val="600"/>
              </a:spcAft>
              <a:buNone/>
            </a:pPr>
            <a:r>
              <a:rPr lang="en-US" altLang="zh-CN" sz="3000" dirty="0">
                <a:sym typeface="Wingdings" pitchFamily="2" charset="2"/>
              </a:rPr>
              <a:t>	     = 0.045M</a:t>
            </a:r>
          </a:p>
          <a:p>
            <a:pPr>
              <a:spcBef>
                <a:spcPts val="0"/>
              </a:spcBef>
              <a:buNone/>
            </a:pPr>
            <a:r>
              <a:rPr lang="en-US" altLang="zh-CN" sz="3000" dirty="0" err="1">
                <a:sym typeface="Wingdings" pitchFamily="2" charset="2"/>
              </a:rPr>
              <a:t>pOH</a:t>
            </a:r>
            <a:r>
              <a:rPr lang="en-US" altLang="zh-CN" sz="3000" dirty="0">
                <a:sym typeface="Wingdings" pitchFamily="2" charset="2"/>
              </a:rPr>
              <a:t> = -log (0.045 )</a:t>
            </a:r>
          </a:p>
          <a:p>
            <a:pPr>
              <a:spcBef>
                <a:spcPts val="0"/>
              </a:spcBef>
              <a:buNone/>
            </a:pPr>
            <a:r>
              <a:rPr lang="en-US" altLang="zh-CN" sz="3000" dirty="0">
                <a:sym typeface="Wingdings" pitchFamily="2" charset="2"/>
              </a:rPr>
              <a:t>	     = 1.35</a:t>
            </a:r>
          </a:p>
          <a:p>
            <a:pPr>
              <a:spcBef>
                <a:spcPts val="0"/>
              </a:spcBef>
              <a:buNone/>
            </a:pPr>
            <a:r>
              <a:rPr lang="en-US" altLang="zh-CN" sz="3000" dirty="0">
                <a:sym typeface="Wingdings" pitchFamily="2" charset="2"/>
              </a:rPr>
              <a:t>pH = 12.65</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buNone/>
            </a:pPr>
            <a:r>
              <a:rPr lang="en-US" altLang="zh-CN" sz="3000" dirty="0">
                <a:sym typeface="Wingdings" pitchFamily="2" charset="2"/>
              </a:rPr>
              <a:t>3. </a:t>
            </a:r>
            <a:r>
              <a:rPr lang="zh-CN" altLang="en-US" sz="3000" dirty="0">
                <a:sym typeface="Wingdings" pitchFamily="2" charset="2"/>
              </a:rPr>
              <a:t>某一元弱酸</a:t>
            </a:r>
            <a:r>
              <a:rPr lang="en-US" altLang="zh-CN" sz="3000" dirty="0">
                <a:sym typeface="Wingdings" pitchFamily="2" charset="2"/>
              </a:rPr>
              <a:t>HA</a:t>
            </a:r>
            <a:r>
              <a:rPr lang="zh-CN" altLang="en-US" sz="3000" dirty="0">
                <a:sym typeface="Wingdings" pitchFamily="2" charset="2"/>
              </a:rPr>
              <a:t>，在</a:t>
            </a:r>
            <a:r>
              <a:rPr lang="en-US" altLang="zh-CN" sz="3000" dirty="0">
                <a:sym typeface="Wingdings" pitchFamily="2" charset="2"/>
              </a:rPr>
              <a:t>pH=5</a:t>
            </a:r>
            <a:r>
              <a:rPr lang="zh-CN" altLang="en-US" sz="3000" dirty="0">
                <a:sym typeface="Wingdings" pitchFamily="2" charset="2"/>
              </a:rPr>
              <a:t>时，</a:t>
            </a:r>
            <a:r>
              <a:rPr lang="en-US" altLang="zh-CN" sz="3000" dirty="0">
                <a:sym typeface="Wingdings" pitchFamily="2" charset="2"/>
              </a:rPr>
              <a:t>[A</a:t>
            </a:r>
            <a:r>
              <a:rPr lang="en-US" altLang="zh-CN" sz="3000" baseline="30000" dirty="0">
                <a:sym typeface="Wingdings" pitchFamily="2" charset="2"/>
              </a:rPr>
              <a:t>-</a:t>
            </a:r>
            <a:r>
              <a:rPr lang="en-US" altLang="zh-CN" sz="3000" dirty="0">
                <a:sym typeface="Wingdings" pitchFamily="2" charset="2"/>
              </a:rPr>
              <a:t>]: [HA]=2</a:t>
            </a:r>
            <a:r>
              <a:rPr lang="zh-CN" altLang="en-US" sz="3000" dirty="0">
                <a:sym typeface="Wingdings" pitchFamily="2" charset="2"/>
              </a:rPr>
              <a:t>。求此弱酸的</a:t>
            </a:r>
            <a:r>
              <a:rPr lang="en-US" altLang="zh-CN" sz="3000" dirty="0">
                <a:sym typeface="Wingdings" pitchFamily="2" charset="2"/>
              </a:rPr>
              <a:t>K</a:t>
            </a:r>
            <a:r>
              <a:rPr lang="en-US" altLang="zh-CN" sz="3000" baseline="-25000" dirty="0">
                <a:sym typeface="Wingdings" pitchFamily="2" charset="2"/>
              </a:rPr>
              <a:t>a</a:t>
            </a:r>
            <a:r>
              <a:rPr lang="en-US" altLang="zh-CN" sz="3000" dirty="0">
                <a:sym typeface="Wingdings" pitchFamily="2" charset="2"/>
              </a:rPr>
              <a:t> </a:t>
            </a:r>
            <a:r>
              <a:rPr lang="zh-CN" altLang="en-US" sz="3000" dirty="0">
                <a:sym typeface="Wingdings" pitchFamily="2" charset="2"/>
              </a:rPr>
              <a:t>。</a:t>
            </a:r>
            <a:endParaRPr lang="en-US" altLang="zh-CN" sz="3000" dirty="0">
              <a:sym typeface="Wingdings" pitchFamily="2" charset="2"/>
            </a:endParaRPr>
          </a:p>
          <a:p>
            <a:pPr>
              <a:buNone/>
            </a:pPr>
            <a:r>
              <a:rPr lang="en-US" altLang="zh-CN" sz="3000" dirty="0">
                <a:sym typeface="Wingdings" pitchFamily="2" charset="2"/>
              </a:rPr>
              <a:t>	pH=5 </a:t>
            </a:r>
            <a:r>
              <a:rPr lang="zh-CN" altLang="en-US" sz="3000" dirty="0">
                <a:sym typeface="Wingdings" pitchFamily="2" charset="2"/>
              </a:rPr>
              <a:t>，</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10</a:t>
            </a:r>
            <a:r>
              <a:rPr lang="en-US" altLang="zh-CN" sz="3000" baseline="30000" dirty="0">
                <a:sym typeface="Wingdings" pitchFamily="2" charset="2"/>
              </a:rPr>
              <a:t>-5</a:t>
            </a:r>
            <a:r>
              <a:rPr lang="en-US" altLang="zh-CN" sz="3000" dirty="0">
                <a:sym typeface="Wingdings" pitchFamily="2" charset="2"/>
              </a:rPr>
              <a:t> M </a:t>
            </a: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r>
              <a:rPr lang="en-US" altLang="zh-CN" sz="3000" dirty="0">
                <a:sym typeface="Wingdings" pitchFamily="2" charset="2"/>
              </a:rPr>
              <a:t>			K</a:t>
            </a:r>
            <a:r>
              <a:rPr lang="en-US" altLang="zh-CN" sz="3000" baseline="-25000" dirty="0">
                <a:sym typeface="Wingdings" pitchFamily="2" charset="2"/>
              </a:rPr>
              <a:t>a</a:t>
            </a:r>
            <a:r>
              <a:rPr lang="en-US" altLang="zh-CN" sz="3000" dirty="0">
                <a:sym typeface="Wingdings" pitchFamily="2" charset="2"/>
              </a:rPr>
              <a:t> = 10</a:t>
            </a:r>
            <a:r>
              <a:rPr lang="en-US" altLang="zh-CN" sz="3000" baseline="30000" dirty="0">
                <a:sym typeface="Wingdings" pitchFamily="2" charset="2"/>
              </a:rPr>
              <a:t>-5</a:t>
            </a:r>
            <a:r>
              <a:rPr lang="en-US" altLang="zh-CN" sz="3000" dirty="0">
                <a:sym typeface="Wingdings" pitchFamily="2" charset="2"/>
              </a:rPr>
              <a:t> x 2 </a:t>
            </a:r>
          </a:p>
          <a:p>
            <a:pPr>
              <a:buNone/>
            </a:pPr>
            <a:r>
              <a:rPr lang="en-US" altLang="zh-CN" sz="3000" dirty="0">
                <a:sym typeface="Wingdings" pitchFamily="2" charset="2"/>
              </a:rPr>
              <a:t>			     = 2x10</a:t>
            </a:r>
            <a:r>
              <a:rPr lang="en-US" altLang="zh-CN" sz="3000" baseline="30000" dirty="0">
                <a:sym typeface="Wingdings" pitchFamily="2" charset="2"/>
              </a:rPr>
              <a:t>-5</a:t>
            </a:r>
            <a:r>
              <a:rPr lang="en-US" altLang="zh-CN" sz="3000" dirty="0">
                <a:sym typeface="Wingdings" pitchFamily="2" charset="2"/>
              </a:rPr>
              <a:t> </a:t>
            </a:r>
          </a:p>
          <a:p>
            <a:pPr>
              <a:buNone/>
            </a:pPr>
            <a:endParaRPr lang="en-US" altLang="zh-CN" sz="3000" dirty="0">
              <a:sym typeface="Wingdings" pitchFamily="2" charset="2"/>
            </a:endParaRPr>
          </a:p>
          <a:p>
            <a:pPr>
              <a:buNone/>
            </a:pPr>
            <a:endParaRPr lang="en-US" altLang="zh-CN" sz="3000" dirty="0">
              <a:sym typeface="Wingdings" pitchFamily="2" charset="2"/>
            </a:endParaRPr>
          </a:p>
        </p:txBody>
      </p:sp>
      <p:graphicFrame>
        <p:nvGraphicFramePr>
          <p:cNvPr id="5" name="Object 4"/>
          <p:cNvGraphicFramePr>
            <a:graphicFrameLocks noChangeAspect="1"/>
          </p:cNvGraphicFramePr>
          <p:nvPr/>
        </p:nvGraphicFramePr>
        <p:xfrm>
          <a:off x="1981200" y="2590800"/>
          <a:ext cx="2533106" cy="1136650"/>
        </p:xfrm>
        <a:graphic>
          <a:graphicData uri="http://schemas.openxmlformats.org/presentationml/2006/ole">
            <mc:AlternateContent xmlns:mc="http://schemas.openxmlformats.org/markup-compatibility/2006">
              <mc:Choice xmlns:v="urn:schemas-microsoft-com:vml" Requires="v">
                <p:oleObj spid="_x0000_s102402" name="Equation" r:id="rId3" imgW="990360" imgH="444240" progId="Equation.3">
                  <p:embed/>
                </p:oleObj>
              </mc:Choice>
              <mc:Fallback>
                <p:oleObj name="Equation" r:id="rId3" imgW="990360" imgH="4442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590800"/>
                        <a:ext cx="2533106" cy="1136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buNone/>
            </a:pPr>
            <a:r>
              <a:rPr lang="en-US" altLang="zh-CN" sz="3000" dirty="0">
                <a:sym typeface="Wingdings" pitchFamily="2" charset="2"/>
              </a:rPr>
              <a:t>4. </a:t>
            </a:r>
            <a:r>
              <a:rPr lang="zh-CN" altLang="en-US" sz="3000" dirty="0">
                <a:sym typeface="Wingdings" pitchFamily="2" charset="2"/>
              </a:rPr>
              <a:t>计算</a:t>
            </a:r>
            <a:r>
              <a:rPr lang="en-US" altLang="zh-CN" sz="3000" dirty="0">
                <a:sym typeface="Wingdings" pitchFamily="2" charset="2"/>
              </a:rPr>
              <a:t>25</a:t>
            </a:r>
            <a:r>
              <a:rPr lang="en-US" altLang="zh-CN" sz="3000" baseline="30000" dirty="0">
                <a:sym typeface="Wingdings" pitchFamily="2" charset="2"/>
              </a:rPr>
              <a:t>o</a:t>
            </a:r>
            <a:r>
              <a:rPr lang="en-US" altLang="zh-CN" sz="3000" dirty="0">
                <a:sym typeface="Wingdings" pitchFamily="2" charset="2"/>
              </a:rPr>
              <a:t>C</a:t>
            </a:r>
            <a:r>
              <a:rPr lang="zh-CN" altLang="en-US" sz="3000" dirty="0">
                <a:sym typeface="Wingdings" pitchFamily="2" charset="2"/>
              </a:rPr>
              <a:t>，</a:t>
            </a:r>
            <a:r>
              <a:rPr lang="en-US" altLang="zh-CN" sz="3000" dirty="0">
                <a:sym typeface="Wingdings" pitchFamily="2" charset="2"/>
              </a:rPr>
              <a:t>10</a:t>
            </a:r>
            <a:r>
              <a:rPr lang="en-US" altLang="zh-CN" sz="3000" baseline="30000" dirty="0">
                <a:sym typeface="Wingdings" pitchFamily="2" charset="2"/>
              </a:rPr>
              <a:t>-8</a:t>
            </a:r>
            <a:r>
              <a:rPr lang="en-US" altLang="zh-CN" sz="3000" dirty="0">
                <a:sym typeface="Wingdings" pitchFamily="2" charset="2"/>
              </a:rPr>
              <a:t> M</a:t>
            </a:r>
            <a:r>
              <a:rPr lang="zh-CN" altLang="en-US" sz="3000" dirty="0">
                <a:sym typeface="Wingdings" pitchFamily="2" charset="2"/>
              </a:rPr>
              <a:t>的盐酸溶液的</a:t>
            </a:r>
            <a:r>
              <a:rPr lang="en-US" altLang="zh-CN" sz="3000" dirty="0">
                <a:sym typeface="Wingdings" pitchFamily="2" charset="2"/>
              </a:rPr>
              <a:t>pH</a:t>
            </a:r>
            <a:r>
              <a:rPr lang="zh-CN" altLang="en-US" sz="3000" dirty="0">
                <a:sym typeface="Wingdings" pitchFamily="2" charset="2"/>
              </a:rPr>
              <a:t>值。</a:t>
            </a:r>
            <a:endParaRPr lang="en-US" altLang="zh-CN" sz="3000" dirty="0">
              <a:sym typeface="Wingdings" pitchFamily="2" charset="2"/>
            </a:endParaRPr>
          </a:p>
          <a:p>
            <a:pPr>
              <a:buNone/>
            </a:pP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a:t>
            </a:r>
            <a:r>
              <a:rPr lang="en-US" altLang="zh-CN" sz="3000" dirty="0" err="1">
                <a:sym typeface="Wingdings" pitchFamily="2" charset="2"/>
              </a:rPr>
              <a:t>Cl</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			10</a:t>
            </a:r>
            <a:r>
              <a:rPr lang="en-US" altLang="zh-CN" sz="3000" baseline="30000" dirty="0">
                <a:sym typeface="Wingdings" pitchFamily="2" charset="2"/>
              </a:rPr>
              <a:t>-8 </a:t>
            </a:r>
          </a:p>
          <a:p>
            <a:pPr>
              <a:buNone/>
            </a:pPr>
            <a:r>
              <a:rPr lang="en-US" altLang="zh-CN" sz="3000" baseline="30000" dirty="0">
                <a:sym typeface="Wingdings" pitchFamily="2" charset="2"/>
              </a:rPr>
              <a:t> </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 (l) &lt;--&gt; H</a:t>
            </a:r>
            <a:r>
              <a:rPr lang="en-US" altLang="zh-CN" sz="3000" baseline="30000" dirty="0">
                <a:sym typeface="Wingdings" pitchFamily="2" charset="2"/>
              </a:rPr>
              <a:t>+ </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			x		</a:t>
            </a:r>
            <a:r>
              <a:rPr lang="en-US" altLang="zh-CN" sz="3000" dirty="0" err="1">
                <a:sym typeface="Wingdings" pitchFamily="2" charset="2"/>
              </a:rPr>
              <a:t>x</a:t>
            </a:r>
            <a:r>
              <a:rPr lang="en-US" altLang="zh-CN" sz="3000" dirty="0">
                <a:sym typeface="Wingdings" pitchFamily="2" charset="2"/>
              </a:rPr>
              <a:t> </a:t>
            </a:r>
          </a:p>
          <a:p>
            <a:pPr>
              <a:buNone/>
            </a:pPr>
            <a:r>
              <a:rPr lang="en-US" altLang="zh-CN" sz="3000" dirty="0">
                <a:sym typeface="Wingdings" pitchFamily="2" charset="2"/>
              </a:rPr>
              <a:t> 			</a:t>
            </a:r>
            <a:r>
              <a:rPr lang="en-US" altLang="zh-CN" sz="3000" dirty="0" err="1">
                <a:sym typeface="Wingdings" pitchFamily="2" charset="2"/>
              </a:rPr>
              <a:t>K</a:t>
            </a:r>
            <a:r>
              <a:rPr lang="en-US" altLang="zh-CN" sz="3000" baseline="-25000" dirty="0" err="1">
                <a:sym typeface="Wingdings" pitchFamily="2" charset="2"/>
              </a:rPr>
              <a:t>w</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a:t>
            </a:r>
          </a:p>
          <a:p>
            <a:pPr>
              <a:buNone/>
            </a:pPr>
            <a:r>
              <a:rPr lang="en-US" altLang="zh-CN" sz="3000" dirty="0">
                <a:sym typeface="Wingdings" pitchFamily="2" charset="2"/>
              </a:rPr>
              <a:t>		     10</a:t>
            </a:r>
            <a:r>
              <a:rPr lang="en-US" altLang="zh-CN" sz="3000" baseline="30000" dirty="0">
                <a:sym typeface="Wingdings" pitchFamily="2" charset="2"/>
              </a:rPr>
              <a:t>-14 </a:t>
            </a:r>
            <a:r>
              <a:rPr lang="en-US" altLang="zh-CN" sz="3000" dirty="0">
                <a:sym typeface="Wingdings" pitchFamily="2" charset="2"/>
              </a:rPr>
              <a:t>  = (10</a:t>
            </a:r>
            <a:r>
              <a:rPr lang="en-US" altLang="zh-CN" sz="3000" baseline="30000" dirty="0">
                <a:sym typeface="Wingdings" pitchFamily="2" charset="2"/>
              </a:rPr>
              <a:t>-8</a:t>
            </a:r>
            <a:r>
              <a:rPr lang="en-US" altLang="zh-CN" sz="3000" dirty="0">
                <a:sym typeface="Wingdings" pitchFamily="2" charset="2"/>
              </a:rPr>
              <a:t> + x )</a:t>
            </a:r>
            <a:r>
              <a:rPr lang="en-US" altLang="zh-CN" sz="3000" baseline="30000" dirty="0">
                <a:sym typeface="Wingdings" pitchFamily="2" charset="2"/>
              </a:rPr>
              <a:t> </a:t>
            </a:r>
            <a:r>
              <a:rPr lang="en-US" altLang="zh-CN" sz="3000" dirty="0">
                <a:sym typeface="Wingdings" pitchFamily="2" charset="2"/>
              </a:rPr>
              <a:t> (x) </a:t>
            </a:r>
          </a:p>
          <a:p>
            <a:pPr>
              <a:buNone/>
            </a:pPr>
            <a:r>
              <a:rPr lang="en-US" altLang="zh-CN" sz="3000" dirty="0">
                <a:sym typeface="Wingdings" pitchFamily="2" charset="2"/>
              </a:rPr>
              <a:t>			x   = 9.51x10</a:t>
            </a:r>
            <a:r>
              <a:rPr lang="en-US" altLang="zh-CN" sz="3000" baseline="30000" dirty="0">
                <a:sym typeface="Wingdings" pitchFamily="2" charset="2"/>
              </a:rPr>
              <a:t>-8</a:t>
            </a:r>
            <a:r>
              <a:rPr lang="en-US" altLang="zh-CN" sz="3000" dirty="0">
                <a:sym typeface="Wingdings" pitchFamily="2" charset="2"/>
              </a:rPr>
              <a:t>   or  x = -1.05x10</a:t>
            </a:r>
            <a:r>
              <a:rPr lang="en-US" altLang="zh-CN" sz="3000" baseline="30000" dirty="0">
                <a:sym typeface="Wingdings" pitchFamily="2" charset="2"/>
              </a:rPr>
              <a:t>-7</a:t>
            </a:r>
            <a:r>
              <a:rPr lang="en-US" altLang="zh-CN" sz="3000" dirty="0">
                <a:sym typeface="Wingdings" pitchFamily="2" charset="2"/>
              </a:rPr>
              <a:t> (</a:t>
            </a:r>
            <a:r>
              <a:rPr lang="zh-CN" altLang="en-US" sz="3000" dirty="0">
                <a:sym typeface="Wingdings" pitchFamily="2" charset="2"/>
              </a:rPr>
              <a:t>不合</a:t>
            </a:r>
            <a:r>
              <a:rPr lang="en-US" altLang="zh-CN" sz="3000" dirty="0">
                <a:sym typeface="Wingdings" pitchFamily="2" charset="2"/>
              </a:rPr>
              <a:t>)</a:t>
            </a:r>
          </a:p>
          <a:p>
            <a:pPr>
              <a:buNone/>
            </a:pPr>
            <a:r>
              <a:rPr lang="en-US" altLang="zh-CN" sz="3000" dirty="0">
                <a:sym typeface="Wingdings" pitchFamily="2" charset="2"/>
              </a:rPr>
              <a:t>pH = - log (10</a:t>
            </a:r>
            <a:r>
              <a:rPr lang="en-US" altLang="zh-CN" sz="3000" baseline="30000" dirty="0">
                <a:sym typeface="Wingdings" pitchFamily="2" charset="2"/>
              </a:rPr>
              <a:t>-8</a:t>
            </a:r>
            <a:r>
              <a:rPr lang="en-US" altLang="zh-CN" sz="3000" dirty="0">
                <a:sym typeface="Wingdings" pitchFamily="2" charset="2"/>
              </a:rPr>
              <a:t> + 9.51x10</a:t>
            </a:r>
            <a:r>
              <a:rPr lang="en-US" altLang="zh-CN" sz="3000" baseline="30000" dirty="0">
                <a:sym typeface="Wingdings" pitchFamily="2" charset="2"/>
              </a:rPr>
              <a:t>-8</a:t>
            </a:r>
            <a:r>
              <a:rPr lang="en-US" altLang="zh-CN" sz="3000" dirty="0">
                <a:sym typeface="Wingdings" pitchFamily="2" charset="2"/>
              </a:rPr>
              <a:t>)</a:t>
            </a:r>
          </a:p>
          <a:p>
            <a:pPr>
              <a:buNone/>
            </a:pPr>
            <a:r>
              <a:rPr lang="en-US" altLang="zh-CN" sz="3000" dirty="0">
                <a:sym typeface="Wingdings" pitchFamily="2" charset="2"/>
              </a:rPr>
              <a:t>      = 6.98</a:t>
            </a:r>
            <a:endParaRPr lang="zh-CN" altLang="en-US" sz="28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buNone/>
            </a:pPr>
            <a:r>
              <a:rPr lang="en-US" altLang="zh-CN" sz="3000" dirty="0">
                <a:sym typeface="Wingdings" pitchFamily="2" charset="2"/>
              </a:rPr>
              <a:t>5. 0.01M 50mL </a:t>
            </a:r>
            <a:r>
              <a:rPr lang="en-US" altLang="zh-CN" sz="3000" dirty="0" err="1">
                <a:sym typeface="Wingdings" pitchFamily="2" charset="2"/>
              </a:rPr>
              <a:t>HCl</a:t>
            </a:r>
            <a:r>
              <a:rPr lang="zh-CN" altLang="en-US" sz="3000" dirty="0">
                <a:sym typeface="Wingdings" pitchFamily="2" charset="2"/>
              </a:rPr>
              <a:t>与</a:t>
            </a:r>
            <a:r>
              <a:rPr lang="en-US" altLang="zh-CN" sz="3000" dirty="0">
                <a:sym typeface="Wingdings" pitchFamily="2" charset="2"/>
              </a:rPr>
              <a:t>0.02M </a:t>
            </a:r>
            <a:r>
              <a:rPr lang="zh-CN" altLang="en-US" sz="3000" dirty="0">
                <a:sym typeface="Wingdings" pitchFamily="2" charset="2"/>
              </a:rPr>
              <a:t>多少</a:t>
            </a:r>
            <a:r>
              <a:rPr lang="en-US" altLang="zh-CN" sz="3000" dirty="0" err="1">
                <a:sym typeface="Wingdings" pitchFamily="2" charset="2"/>
              </a:rPr>
              <a:t>mL</a:t>
            </a:r>
            <a:r>
              <a:rPr lang="en-US" altLang="zh-CN" sz="3000" dirty="0">
                <a:sym typeface="Wingdings" pitchFamily="2" charset="2"/>
              </a:rPr>
              <a:t> </a:t>
            </a:r>
            <a:r>
              <a:rPr lang="en-US" altLang="zh-CN" sz="3000" dirty="0" err="1">
                <a:sym typeface="Wingdings" pitchFamily="2" charset="2"/>
              </a:rPr>
              <a:t>NaOH</a:t>
            </a:r>
            <a:r>
              <a:rPr lang="zh-CN" altLang="en-US" sz="3000" dirty="0">
                <a:sym typeface="Wingdings" pitchFamily="2" charset="2"/>
              </a:rPr>
              <a:t>反应才能使反应后溶液</a:t>
            </a:r>
            <a:r>
              <a:rPr lang="en-US" altLang="zh-CN" sz="3000" dirty="0">
                <a:sym typeface="Wingdings" pitchFamily="2" charset="2"/>
              </a:rPr>
              <a:t>pH=3</a:t>
            </a:r>
            <a:r>
              <a:rPr lang="zh-CN" altLang="en-US" sz="3000" dirty="0">
                <a:sym typeface="Wingdings" pitchFamily="2" charset="2"/>
              </a:rPr>
              <a:t>？</a:t>
            </a:r>
            <a:endParaRPr lang="zh-CN" altLang="en-US" sz="2800" i="1" dirty="0"/>
          </a:p>
          <a:p>
            <a:pPr>
              <a:spcBef>
                <a:spcPts val="0"/>
              </a:spcBef>
              <a:buNone/>
            </a:pPr>
            <a:r>
              <a:rPr lang="zh-CN" altLang="en-US" sz="3000" dirty="0">
                <a:sym typeface="Wingdings" pitchFamily="2" charset="2"/>
              </a:rPr>
              <a:t>设需</a:t>
            </a:r>
            <a:r>
              <a:rPr lang="en-US" altLang="zh-CN" sz="3000" dirty="0" err="1">
                <a:sym typeface="Wingdings" pitchFamily="2" charset="2"/>
              </a:rPr>
              <a:t>bL</a:t>
            </a:r>
            <a:r>
              <a:rPr lang="en-US" altLang="zh-CN" sz="3000" dirty="0">
                <a:sym typeface="Wingdings" pitchFamily="2" charset="2"/>
              </a:rPr>
              <a:t> 0.02M </a:t>
            </a:r>
            <a:r>
              <a:rPr lang="en-US" altLang="zh-CN" sz="3000" dirty="0" err="1">
                <a:sym typeface="Wingdings" pitchFamily="2" charset="2"/>
              </a:rPr>
              <a:t>NaOH</a:t>
            </a:r>
            <a:endParaRPr lang="en-US" altLang="zh-CN" sz="3000" dirty="0">
              <a:sym typeface="Wingdings" pitchFamily="2" charset="2"/>
            </a:endParaRPr>
          </a:p>
          <a:p>
            <a:pPr>
              <a:spcBef>
                <a:spcPts val="0"/>
              </a:spcBef>
              <a:buNone/>
            </a:pPr>
            <a:r>
              <a:rPr lang="zh-CN" altLang="en-US" sz="3000" dirty="0">
                <a:sym typeface="Wingdings" pitchFamily="2" charset="2"/>
              </a:rPr>
              <a:t>反应后，</a:t>
            </a:r>
            <a:r>
              <a:rPr lang="en-US" altLang="zh-CN" sz="3000" dirty="0">
                <a:sym typeface="Wingdings" pitchFamily="2" charset="2"/>
              </a:rPr>
              <a:t>pH=3</a:t>
            </a:r>
            <a:r>
              <a:rPr lang="zh-CN" altLang="en-US" sz="3000" dirty="0">
                <a:sym typeface="Wingdings" pitchFamily="2" charset="2"/>
              </a:rPr>
              <a:t>，过量</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10</a:t>
            </a:r>
            <a:r>
              <a:rPr lang="en-US" altLang="zh-CN" sz="3000" baseline="30000" dirty="0">
                <a:sym typeface="Wingdings" pitchFamily="2" charset="2"/>
              </a:rPr>
              <a:t>-3</a:t>
            </a:r>
            <a:r>
              <a:rPr lang="en-US" altLang="zh-CN" sz="3000" dirty="0">
                <a:sym typeface="Wingdings" pitchFamily="2" charset="2"/>
              </a:rPr>
              <a:t> M </a:t>
            </a:r>
          </a:p>
          <a:p>
            <a:pPr>
              <a:spcBef>
                <a:spcPts val="0"/>
              </a:spcBef>
              <a:buNone/>
            </a:pPr>
            <a:r>
              <a:rPr lang="en-US" altLang="zh-CN" sz="3000" dirty="0">
                <a:sym typeface="Wingdings" pitchFamily="2" charset="2"/>
              </a:rPr>
              <a:t>n(H</a:t>
            </a:r>
            <a:r>
              <a:rPr lang="en-US" altLang="zh-CN" sz="3000" baseline="30000" dirty="0">
                <a:sym typeface="Wingdings" pitchFamily="2" charset="2"/>
              </a:rPr>
              <a:t>+</a:t>
            </a:r>
            <a:r>
              <a:rPr lang="en-US" altLang="zh-CN" sz="3000" dirty="0">
                <a:sym typeface="Wingdings" pitchFamily="2" charset="2"/>
              </a:rPr>
              <a:t> ) = 0.01M x 0.05L = 5x10</a:t>
            </a:r>
            <a:r>
              <a:rPr lang="en-US" altLang="zh-CN" sz="3000" baseline="30000" dirty="0">
                <a:sym typeface="Wingdings" pitchFamily="2" charset="2"/>
              </a:rPr>
              <a:t>-4</a:t>
            </a:r>
            <a:r>
              <a:rPr lang="en-US" altLang="zh-CN" sz="3000" dirty="0">
                <a:sym typeface="Wingdings" pitchFamily="2" charset="2"/>
              </a:rPr>
              <a:t> mol</a:t>
            </a:r>
          </a:p>
          <a:p>
            <a:pPr>
              <a:spcBef>
                <a:spcPts val="0"/>
              </a:spcBef>
              <a:buNone/>
            </a:pPr>
            <a:r>
              <a:rPr lang="en-US" altLang="zh-CN" sz="3000" dirty="0">
                <a:sym typeface="Wingdings" pitchFamily="2" charset="2"/>
              </a:rPr>
              <a:t>n(OH</a:t>
            </a:r>
            <a:r>
              <a:rPr lang="en-US" altLang="zh-CN" sz="3000" baseline="30000" dirty="0">
                <a:sym typeface="Wingdings" pitchFamily="2" charset="2"/>
              </a:rPr>
              <a:t>-</a:t>
            </a:r>
            <a:r>
              <a:rPr lang="en-US" altLang="zh-CN" sz="3000" dirty="0">
                <a:sym typeface="Wingdings" pitchFamily="2" charset="2"/>
              </a:rPr>
              <a:t> ) = 0.02M x </a:t>
            </a:r>
            <a:r>
              <a:rPr lang="en-US" altLang="zh-CN" sz="3000" dirty="0" err="1">
                <a:sym typeface="Wingdings" pitchFamily="2" charset="2"/>
              </a:rPr>
              <a:t>bL</a:t>
            </a:r>
            <a:r>
              <a:rPr lang="en-US" altLang="zh-CN" sz="3000" dirty="0">
                <a:sym typeface="Wingdings" pitchFamily="2" charset="2"/>
              </a:rPr>
              <a:t> = 0.02b mol</a:t>
            </a:r>
          </a:p>
          <a:p>
            <a:pPr>
              <a:spcBef>
                <a:spcPts val="0"/>
              </a:spcBef>
              <a:spcAft>
                <a:spcPts val="600"/>
              </a:spcAft>
              <a:buNone/>
            </a:pPr>
            <a:r>
              <a:rPr lang="zh-CN" altLang="en-US" sz="3000" dirty="0">
                <a:sym typeface="Wingdings" pitchFamily="2" charset="2"/>
              </a:rPr>
              <a:t>反应后，溶液体积</a:t>
            </a:r>
            <a:r>
              <a:rPr lang="en-US" altLang="zh-CN" sz="3000" dirty="0">
                <a:sym typeface="Wingdings" pitchFamily="2" charset="2"/>
              </a:rPr>
              <a:t>=(0.05 + b)L </a:t>
            </a:r>
          </a:p>
          <a:p>
            <a:pPr>
              <a:spcBef>
                <a:spcPts val="0"/>
              </a:spcBef>
              <a:spcAft>
                <a:spcPts val="600"/>
              </a:spcAft>
              <a:buNone/>
            </a:pPr>
            <a:endParaRPr lang="en-US" altLang="zh-CN" sz="3000" dirty="0">
              <a:sym typeface="Wingdings" pitchFamily="2" charset="2"/>
            </a:endParaRPr>
          </a:p>
          <a:p>
            <a:pPr>
              <a:spcBef>
                <a:spcPts val="0"/>
              </a:spcBef>
              <a:spcAft>
                <a:spcPts val="600"/>
              </a:spcAft>
              <a:buNone/>
            </a:pPr>
            <a:endParaRPr lang="en-US" altLang="zh-CN" sz="3000" dirty="0">
              <a:sym typeface="Wingdings" pitchFamily="2" charset="2"/>
            </a:endParaRPr>
          </a:p>
          <a:p>
            <a:pPr>
              <a:spcBef>
                <a:spcPts val="0"/>
              </a:spcBef>
              <a:spcAft>
                <a:spcPts val="600"/>
              </a:spcAft>
              <a:buNone/>
            </a:pPr>
            <a:r>
              <a:rPr lang="en-US" altLang="zh-CN" sz="3000" dirty="0">
                <a:sym typeface="Wingdings" pitchFamily="2" charset="2"/>
              </a:rPr>
              <a:t>					b = 0.021L</a:t>
            </a:r>
          </a:p>
          <a:p>
            <a:pPr>
              <a:spcBef>
                <a:spcPts val="0"/>
              </a:spcBef>
              <a:spcAft>
                <a:spcPts val="600"/>
              </a:spcAft>
              <a:buNone/>
            </a:pPr>
            <a:r>
              <a:rPr lang="en-US" altLang="zh-CN" sz="3000" dirty="0">
                <a:sym typeface="Wingdings" pitchFamily="2" charset="2"/>
              </a:rPr>
              <a:t>					b = 21mL </a:t>
            </a:r>
          </a:p>
          <a:p>
            <a:pPr>
              <a:spcBef>
                <a:spcPts val="0"/>
              </a:spcBef>
              <a:spcAft>
                <a:spcPts val="600"/>
              </a:spcAft>
              <a:buNone/>
            </a:pPr>
            <a:endParaRPr lang="en-US" altLang="zh-CN" sz="3000" dirty="0">
              <a:sym typeface="Wingdings" pitchFamily="2" charset="2"/>
            </a:endParaRPr>
          </a:p>
        </p:txBody>
      </p:sp>
      <p:graphicFrame>
        <p:nvGraphicFramePr>
          <p:cNvPr id="5" name="Object 4"/>
          <p:cNvGraphicFramePr>
            <a:graphicFrameLocks noChangeAspect="1"/>
          </p:cNvGraphicFramePr>
          <p:nvPr/>
        </p:nvGraphicFramePr>
        <p:xfrm>
          <a:off x="2286000" y="4343399"/>
          <a:ext cx="2819400" cy="861483"/>
        </p:xfrm>
        <a:graphic>
          <a:graphicData uri="http://schemas.openxmlformats.org/presentationml/2006/ole">
            <mc:AlternateContent xmlns:mc="http://schemas.openxmlformats.org/markup-compatibility/2006">
              <mc:Choice xmlns:v="urn:schemas-microsoft-com:vml" Requires="v">
                <p:oleObj spid="_x0000_s100354" name="Equation" r:id="rId3" imgW="1371600" imgH="419040" progId="Equation.3">
                  <p:embed/>
                </p:oleObj>
              </mc:Choice>
              <mc:Fallback>
                <p:oleObj name="Equation" r:id="rId3" imgW="1371600" imgH="419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343399"/>
                        <a:ext cx="2819400" cy="8614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blinds(horizontal)">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buNone/>
            </a:pPr>
            <a:r>
              <a:rPr lang="en-US" altLang="zh-CN" sz="3000" dirty="0">
                <a:sym typeface="Wingdings" pitchFamily="2" charset="2"/>
              </a:rPr>
              <a:t>6.25</a:t>
            </a:r>
            <a:r>
              <a:rPr lang="en-US" altLang="zh-CN" sz="3000" baseline="30000" dirty="0">
                <a:sym typeface="Wingdings" pitchFamily="2" charset="2"/>
              </a:rPr>
              <a:t>o</a:t>
            </a:r>
            <a:r>
              <a:rPr lang="en-US" altLang="zh-CN" sz="3000" dirty="0">
                <a:sym typeface="Wingdings" pitchFamily="2" charset="2"/>
              </a:rPr>
              <a:t>C</a:t>
            </a:r>
            <a:r>
              <a:rPr lang="zh-CN" altLang="en-US" sz="3000" dirty="0">
                <a:sym typeface="Wingdings" pitchFamily="2" charset="2"/>
              </a:rPr>
              <a:t>，在</a:t>
            </a:r>
            <a:r>
              <a:rPr lang="en-US" altLang="zh-CN" sz="3000" dirty="0">
                <a:sym typeface="Wingdings" pitchFamily="2" charset="2"/>
              </a:rPr>
              <a:t>100mL  0.1M </a:t>
            </a:r>
            <a:r>
              <a:rPr lang="zh-CN" altLang="en-US" sz="3000" dirty="0">
                <a:sym typeface="Wingdings" pitchFamily="2" charset="2"/>
              </a:rPr>
              <a:t>的氨水加入</a:t>
            </a:r>
            <a:r>
              <a:rPr lang="en-US" altLang="zh-CN" sz="3000" dirty="0">
                <a:sym typeface="Wingdings" pitchFamily="2" charset="2"/>
              </a:rPr>
              <a:t>0.5mL 10M </a:t>
            </a:r>
            <a:r>
              <a:rPr lang="zh-CN" altLang="en-US" sz="3000" dirty="0">
                <a:sym typeface="Wingdings" pitchFamily="2" charset="2"/>
              </a:rPr>
              <a:t>的</a:t>
            </a:r>
            <a:r>
              <a:rPr lang="en-US" altLang="zh-CN" sz="3000" dirty="0" err="1">
                <a:sym typeface="Wingdings" pitchFamily="2" charset="2"/>
              </a:rPr>
              <a:t>HCl</a:t>
            </a:r>
            <a:r>
              <a:rPr lang="zh-CN" altLang="en-US" sz="3000" dirty="0">
                <a:sym typeface="Wingdings" pitchFamily="2" charset="2"/>
              </a:rPr>
              <a:t>，假设反应后体积是</a:t>
            </a:r>
            <a:r>
              <a:rPr lang="en-US" altLang="zh-CN" sz="3000" dirty="0">
                <a:sym typeface="Wingdings" pitchFamily="2" charset="2"/>
              </a:rPr>
              <a:t>100mL</a:t>
            </a:r>
            <a:r>
              <a:rPr lang="zh-CN" altLang="en-US" sz="3000" dirty="0">
                <a:sym typeface="Wingdings" pitchFamily="2" charset="2"/>
              </a:rPr>
              <a:t>，试计算反应后溶液的</a:t>
            </a:r>
            <a:r>
              <a:rPr lang="en-US" altLang="zh-CN" sz="3000" dirty="0">
                <a:sym typeface="Wingdings" pitchFamily="2" charset="2"/>
              </a:rPr>
              <a:t>pH</a:t>
            </a:r>
            <a:r>
              <a:rPr lang="zh-CN" altLang="en-US" sz="3000" dirty="0">
                <a:sym typeface="Wingdings" pitchFamily="2" charset="2"/>
              </a:rPr>
              <a:t>值。已知氨水</a:t>
            </a:r>
            <a:r>
              <a:rPr lang="en-US" altLang="zh-CN" sz="3000" dirty="0">
                <a:sym typeface="Wingdings" pitchFamily="2" charset="2"/>
              </a:rPr>
              <a:t>K</a:t>
            </a:r>
            <a:r>
              <a:rPr lang="en-US" altLang="zh-CN" sz="3000" baseline="-25000" dirty="0">
                <a:sym typeface="Wingdings" pitchFamily="2" charset="2"/>
              </a:rPr>
              <a:t>b</a:t>
            </a:r>
            <a:r>
              <a:rPr lang="en-US" altLang="zh-CN" sz="3000" dirty="0">
                <a:sym typeface="Wingdings" pitchFamily="2" charset="2"/>
              </a:rPr>
              <a:t> = 1.77x10</a:t>
            </a:r>
            <a:r>
              <a:rPr lang="en-US" altLang="zh-CN" sz="3000" baseline="30000" dirty="0">
                <a:sym typeface="Wingdings" pitchFamily="2" charset="2"/>
              </a:rPr>
              <a:t>-5</a:t>
            </a:r>
            <a:r>
              <a:rPr lang="en-US" altLang="zh-CN" sz="3000" dirty="0">
                <a:sym typeface="Wingdings" pitchFamily="2" charset="2"/>
              </a:rPr>
              <a:t> </a:t>
            </a:r>
            <a:endParaRPr lang="zh-CN" altLang="en-US" sz="2800" i="1" dirty="0"/>
          </a:p>
          <a:p>
            <a:pPr>
              <a:spcBef>
                <a:spcPts val="0"/>
              </a:spcBef>
              <a:buNone/>
            </a:pPr>
            <a:r>
              <a:rPr lang="en-US" altLang="zh-CN" sz="3000" dirty="0">
                <a:sym typeface="Wingdings" pitchFamily="2" charset="2"/>
              </a:rPr>
              <a:t> NH</a:t>
            </a:r>
            <a:r>
              <a:rPr lang="en-US" altLang="zh-CN" sz="3000" baseline="-25000" dirty="0">
                <a:sym typeface="Wingdings" pitchFamily="2" charset="2"/>
              </a:rPr>
              <a:t>3</a:t>
            </a:r>
            <a:r>
              <a:rPr lang="en-US" altLang="zh-CN" sz="3000" dirty="0">
                <a:cs typeface="Arial"/>
                <a:sym typeface="Wingdings" pitchFamily="2" charset="2"/>
              </a:rPr>
              <a:t>·H</a:t>
            </a:r>
            <a:r>
              <a:rPr lang="en-US" altLang="zh-CN" sz="3000" baseline="-25000" dirty="0">
                <a:cs typeface="Arial"/>
                <a:sym typeface="Wingdings" pitchFamily="2" charset="2"/>
              </a:rPr>
              <a:t>2</a:t>
            </a:r>
            <a:r>
              <a:rPr lang="en-US" altLang="zh-CN" sz="3000" dirty="0">
                <a:cs typeface="Arial"/>
                <a:sym typeface="Wingdings" pitchFamily="2" charset="2"/>
              </a:rPr>
              <a:t>O +  </a:t>
            </a:r>
            <a:r>
              <a:rPr lang="en-US" altLang="zh-CN" sz="3000" dirty="0" err="1">
                <a:cs typeface="Arial"/>
                <a:sym typeface="Wingdings" pitchFamily="2" charset="2"/>
              </a:rPr>
              <a:t>HCl</a:t>
            </a:r>
            <a:r>
              <a:rPr lang="en-US" altLang="zh-CN" sz="3000" dirty="0">
                <a:cs typeface="Arial"/>
                <a:sym typeface="Wingdings" pitchFamily="2" charset="2"/>
              </a:rPr>
              <a:t>        NH</a:t>
            </a:r>
            <a:r>
              <a:rPr lang="en-US" altLang="zh-CN" sz="3000" baseline="-25000" dirty="0">
                <a:cs typeface="Arial"/>
                <a:sym typeface="Wingdings" pitchFamily="2" charset="2"/>
              </a:rPr>
              <a:t>4</a:t>
            </a:r>
            <a:r>
              <a:rPr lang="en-US" altLang="zh-CN" sz="3000" dirty="0">
                <a:cs typeface="Arial"/>
                <a:sym typeface="Wingdings" pitchFamily="2" charset="2"/>
              </a:rPr>
              <a:t>Cl + H</a:t>
            </a:r>
            <a:r>
              <a:rPr lang="en-US" altLang="zh-CN" sz="3000" baseline="-25000" dirty="0">
                <a:cs typeface="Arial"/>
                <a:sym typeface="Wingdings" pitchFamily="2" charset="2"/>
              </a:rPr>
              <a:t>2</a:t>
            </a:r>
            <a:r>
              <a:rPr lang="en-US" altLang="zh-CN" sz="3000" dirty="0">
                <a:cs typeface="Arial"/>
                <a:sym typeface="Wingdings" pitchFamily="2" charset="2"/>
              </a:rPr>
              <a:t>O </a:t>
            </a:r>
          </a:p>
          <a:p>
            <a:pPr>
              <a:spcBef>
                <a:spcPts val="0"/>
              </a:spcBef>
              <a:buNone/>
            </a:pPr>
            <a:r>
              <a:rPr lang="en-US" altLang="zh-CN" sz="3000" dirty="0">
                <a:sym typeface="Wingdings" pitchFamily="2" charset="2"/>
              </a:rPr>
              <a:t>0.01mol	0.005mol</a:t>
            </a:r>
          </a:p>
          <a:p>
            <a:pPr>
              <a:spcBef>
                <a:spcPts val="0"/>
              </a:spcBef>
              <a:buNone/>
            </a:pPr>
            <a:r>
              <a:rPr lang="zh-CN" altLang="en-US" sz="3000" dirty="0">
                <a:sym typeface="Wingdings" pitchFamily="2" charset="2"/>
              </a:rPr>
              <a:t>根据化学方程式可知剩下</a:t>
            </a:r>
            <a:r>
              <a:rPr lang="en-US" altLang="zh-CN" sz="3000" dirty="0">
                <a:sym typeface="Wingdings" pitchFamily="2" charset="2"/>
              </a:rPr>
              <a:t>0.005mol NH</a:t>
            </a:r>
            <a:r>
              <a:rPr lang="en-US" altLang="zh-CN" sz="3000" baseline="-25000" dirty="0">
                <a:sym typeface="Wingdings" pitchFamily="2" charset="2"/>
              </a:rPr>
              <a:t>3</a:t>
            </a:r>
            <a:r>
              <a:rPr lang="en-US" altLang="zh-CN" sz="3000" dirty="0">
                <a:cs typeface="Arial"/>
                <a:sym typeface="Wingdings" pitchFamily="2" charset="2"/>
              </a:rPr>
              <a:t>·H</a:t>
            </a:r>
            <a:r>
              <a:rPr lang="en-US" altLang="zh-CN" sz="3000" baseline="-25000" dirty="0">
                <a:cs typeface="Arial"/>
                <a:sym typeface="Wingdings" pitchFamily="2" charset="2"/>
              </a:rPr>
              <a:t>2</a:t>
            </a:r>
            <a:r>
              <a:rPr lang="en-US" altLang="zh-CN" sz="3000" dirty="0">
                <a:cs typeface="Arial"/>
                <a:sym typeface="Wingdings" pitchFamily="2" charset="2"/>
              </a:rPr>
              <a:t>O </a:t>
            </a:r>
            <a:endParaRPr lang="en-US" altLang="zh-CN" sz="3000"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及产生了</a:t>
            </a:r>
            <a:r>
              <a:rPr lang="en-US" altLang="zh-CN" sz="3000" dirty="0">
                <a:sym typeface="Wingdings" pitchFamily="2" charset="2"/>
              </a:rPr>
              <a:t>0.005mol </a:t>
            </a:r>
            <a:r>
              <a:rPr lang="en-US" altLang="zh-CN" sz="3000" dirty="0">
                <a:cs typeface="Arial"/>
                <a:sym typeface="Wingdings" pitchFamily="2" charset="2"/>
              </a:rPr>
              <a:t>NH</a:t>
            </a:r>
            <a:r>
              <a:rPr lang="en-US" altLang="zh-CN" sz="3000" baseline="-25000" dirty="0">
                <a:cs typeface="Arial"/>
                <a:sym typeface="Wingdings" pitchFamily="2" charset="2"/>
              </a:rPr>
              <a:t>4</a:t>
            </a:r>
            <a:r>
              <a:rPr lang="en-US" altLang="zh-CN" sz="3000" dirty="0">
                <a:cs typeface="Arial"/>
                <a:sym typeface="Wingdings" pitchFamily="2" charset="2"/>
              </a:rPr>
              <a:t>Cl</a:t>
            </a:r>
          </a:p>
          <a:p>
            <a:pPr>
              <a:spcBef>
                <a:spcPts val="0"/>
              </a:spcBef>
              <a:buNone/>
            </a:pPr>
            <a:r>
              <a:rPr lang="en-US" altLang="zh-CN" sz="3000" dirty="0">
                <a:cs typeface="Arial"/>
                <a:sym typeface="Wingdings" pitchFamily="2" charset="2"/>
              </a:rPr>
              <a:t>	  		      NH</a:t>
            </a:r>
            <a:r>
              <a:rPr lang="en-US" altLang="zh-CN" sz="3000" baseline="-25000" dirty="0">
                <a:cs typeface="Arial"/>
                <a:sym typeface="Wingdings" pitchFamily="2" charset="2"/>
              </a:rPr>
              <a:t>4</a:t>
            </a:r>
            <a:r>
              <a:rPr lang="en-US" altLang="zh-CN" sz="3000" dirty="0">
                <a:cs typeface="Arial"/>
                <a:sym typeface="Wingdings" pitchFamily="2" charset="2"/>
              </a:rPr>
              <a:t>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a:t>
            </a:r>
            <a:r>
              <a:rPr lang="en-US" altLang="zh-CN" sz="3000" dirty="0" err="1">
                <a:sym typeface="Wingdings" pitchFamily="2" charset="2"/>
              </a:rPr>
              <a:t>Cl</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en-US" altLang="zh-CN" sz="3000" dirty="0">
                <a:sym typeface="Wingdings" pitchFamily="2" charset="2"/>
              </a:rPr>
              <a:t>	      			0.05M 	</a:t>
            </a:r>
            <a:r>
              <a:rPr lang="en-US" altLang="zh-CN" sz="3000" dirty="0" err="1">
                <a:sym typeface="Wingdings" pitchFamily="2" charset="2"/>
              </a:rPr>
              <a:t>0.05M</a:t>
            </a:r>
            <a:endParaRPr lang="en-US" altLang="zh-CN" sz="3000" dirty="0">
              <a:sym typeface="Wingdings" pitchFamily="2" charset="2"/>
            </a:endParaRPr>
          </a:p>
          <a:p>
            <a:pPr>
              <a:spcBef>
                <a:spcPts val="0"/>
              </a:spcBef>
              <a:buNone/>
            </a:pPr>
            <a:r>
              <a:rPr lang="en-US" altLang="zh-CN" sz="3000" dirty="0">
                <a:sym typeface="Wingdings" pitchFamily="2" charset="2"/>
              </a:rPr>
              <a:t> 			NH</a:t>
            </a:r>
            <a:r>
              <a:rPr lang="en-US" altLang="zh-CN" sz="3000" baseline="-25000" dirty="0">
                <a:sym typeface="Wingdings" pitchFamily="2" charset="2"/>
              </a:rPr>
              <a:t>3</a:t>
            </a:r>
            <a:r>
              <a:rPr lang="en-US" altLang="zh-CN" sz="3000" dirty="0">
                <a:cs typeface="Arial"/>
                <a:sym typeface="Wingdings" pitchFamily="2" charset="2"/>
              </a:rPr>
              <a:t>·H</a:t>
            </a:r>
            <a:r>
              <a:rPr lang="en-US" altLang="zh-CN" sz="3000" baseline="-25000" dirty="0">
                <a:cs typeface="Arial"/>
                <a:sym typeface="Wingdings" pitchFamily="2" charset="2"/>
              </a:rPr>
              <a:t>2</a:t>
            </a:r>
            <a:r>
              <a:rPr lang="en-US" altLang="zh-CN" sz="3000" dirty="0">
                <a:cs typeface="Arial"/>
                <a:sym typeface="Wingdings" pitchFamily="2" charset="2"/>
              </a:rPr>
              <a:t>O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en-US" altLang="zh-CN" sz="3000" dirty="0">
                <a:sym typeface="Wingdings" pitchFamily="2" charset="2"/>
              </a:rPr>
              <a:t>[</a:t>
            </a:r>
            <a:r>
              <a:rPr lang="zh-CN" altLang="en-US" sz="3000" dirty="0">
                <a:sym typeface="Wingdings" pitchFamily="2" charset="2"/>
              </a:rPr>
              <a:t>平衡</a:t>
            </a:r>
            <a:r>
              <a:rPr lang="en-US" altLang="zh-CN" sz="3000" dirty="0">
                <a:sym typeface="Wingdings" pitchFamily="2" charset="2"/>
              </a:rPr>
              <a:t>]M	0.05-x     		x		</a:t>
            </a:r>
            <a:r>
              <a:rPr lang="en-US" altLang="zh-CN" sz="3000" dirty="0" err="1">
                <a:sym typeface="Wingdings" pitchFamily="2" charset="2"/>
              </a:rPr>
              <a:t>x</a:t>
            </a:r>
            <a:endParaRPr lang="en-US" altLang="zh-CN" sz="3000" dirty="0">
              <a:sym typeface="Wingdings" pitchFamily="2" charset="2"/>
            </a:endParaRPr>
          </a:p>
          <a:p>
            <a:pPr>
              <a:spcBef>
                <a:spcPts val="0"/>
              </a:spcBef>
              <a:buNone/>
            </a:pPr>
            <a:r>
              <a:rPr lang="en-US" altLang="zh-CN" sz="3000" dirty="0">
                <a:sym typeface="Wingdings" pitchFamily="2" charset="2"/>
              </a:rPr>
              <a:t>		 </a:t>
            </a:r>
          </a:p>
          <a:p>
            <a:pPr>
              <a:spcBef>
                <a:spcPts val="0"/>
              </a:spcBef>
              <a:spcAft>
                <a:spcPts val="600"/>
              </a:spcAft>
              <a:buNone/>
            </a:pPr>
            <a:endParaRPr lang="en-US" altLang="zh-CN" sz="3000" dirty="0">
              <a:sym typeface="Wingdings" pitchFamily="2" charset="2"/>
            </a:endParaRPr>
          </a:p>
        </p:txBody>
      </p:sp>
      <p:sp>
        <p:nvSpPr>
          <p:cNvPr id="6" name="Rounded Rectangle 5"/>
          <p:cNvSpPr/>
          <p:nvPr/>
        </p:nvSpPr>
        <p:spPr>
          <a:xfrm>
            <a:off x="4800600" y="4191000"/>
            <a:ext cx="1447800" cy="1981200"/>
          </a:xfrm>
          <a:prstGeom prst="roundRect">
            <a:avLst/>
          </a:prstGeom>
          <a:noFill/>
          <a:ln>
            <a:solidFill>
              <a:srgbClr val="00206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linds(horizontal)">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en-US" altLang="zh-CN" sz="3000" dirty="0">
                <a:sym typeface="Wingdings" pitchFamily="2" charset="2"/>
              </a:rPr>
              <a:t>6. </a:t>
            </a: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x = 1.77x10</a:t>
            </a:r>
            <a:r>
              <a:rPr lang="en-US" altLang="zh-CN" sz="3000" baseline="30000" dirty="0">
                <a:sym typeface="Wingdings" pitchFamily="2" charset="2"/>
              </a:rPr>
              <a:t>-5</a:t>
            </a:r>
            <a:r>
              <a:rPr lang="en-US" altLang="zh-CN" sz="3000" dirty="0">
                <a:sym typeface="Wingdings" pitchFamily="2" charset="2"/>
              </a:rPr>
              <a:t> M  </a:t>
            </a:r>
          </a:p>
          <a:p>
            <a:pPr>
              <a:spcBef>
                <a:spcPts val="0"/>
              </a:spcBef>
              <a:buNone/>
            </a:pPr>
            <a:r>
              <a:rPr lang="en-US" altLang="zh-CN" sz="3000" dirty="0">
                <a:sym typeface="Wingdings" pitchFamily="2" charset="2"/>
              </a:rPr>
              <a:t>		</a:t>
            </a:r>
            <a:r>
              <a:rPr lang="en-US" altLang="zh-CN" sz="3000" dirty="0" err="1">
                <a:sym typeface="Wingdings" pitchFamily="2" charset="2"/>
              </a:rPr>
              <a:t>pOH</a:t>
            </a:r>
            <a:r>
              <a:rPr lang="en-US" altLang="zh-CN" sz="3000" dirty="0">
                <a:sym typeface="Wingdings" pitchFamily="2" charset="2"/>
              </a:rPr>
              <a:t> = - log (1.77x10</a:t>
            </a:r>
            <a:r>
              <a:rPr lang="en-US" altLang="zh-CN" sz="3000" baseline="30000" dirty="0">
                <a:sym typeface="Wingdings" pitchFamily="2" charset="2"/>
              </a:rPr>
              <a:t>-5</a:t>
            </a:r>
            <a:r>
              <a:rPr lang="en-US" altLang="zh-CN" sz="3000" dirty="0">
                <a:sym typeface="Wingdings" pitchFamily="2" charset="2"/>
              </a:rPr>
              <a:t>) </a:t>
            </a:r>
          </a:p>
          <a:p>
            <a:pPr>
              <a:spcBef>
                <a:spcPts val="0"/>
              </a:spcBef>
              <a:buNone/>
            </a:pPr>
            <a:r>
              <a:rPr lang="en-US" altLang="zh-CN" sz="3000" dirty="0">
                <a:sym typeface="Wingdings" pitchFamily="2" charset="2"/>
              </a:rPr>
              <a:t>		         = 4.75 </a:t>
            </a:r>
          </a:p>
          <a:p>
            <a:pPr>
              <a:spcBef>
                <a:spcPts val="0"/>
              </a:spcBef>
              <a:buNone/>
            </a:pPr>
            <a:r>
              <a:rPr lang="en-US" altLang="zh-CN" sz="3000" dirty="0">
                <a:sym typeface="Wingdings" pitchFamily="2" charset="2"/>
              </a:rPr>
              <a:t>		pH = 9.25</a:t>
            </a:r>
          </a:p>
        </p:txBody>
      </p:sp>
      <p:grpSp>
        <p:nvGrpSpPr>
          <p:cNvPr id="5" name="Group 3"/>
          <p:cNvGrpSpPr/>
          <p:nvPr/>
        </p:nvGrpSpPr>
        <p:grpSpPr>
          <a:xfrm>
            <a:off x="2634023" y="1066800"/>
            <a:ext cx="3995377" cy="1041975"/>
            <a:chOff x="2068535" y="1462086"/>
            <a:chExt cx="3005133" cy="1041975"/>
          </a:xfrm>
        </p:grpSpPr>
        <p:grpSp>
          <p:nvGrpSpPr>
            <p:cNvPr id="6" name="Group 24"/>
            <p:cNvGrpSpPr/>
            <p:nvPr/>
          </p:nvGrpSpPr>
          <p:grpSpPr>
            <a:xfrm>
              <a:off x="2068535" y="1462086"/>
              <a:ext cx="3005133" cy="838200"/>
              <a:chOff x="2068535" y="1462086"/>
              <a:chExt cx="3005133" cy="838200"/>
            </a:xfrm>
          </p:grpSpPr>
          <p:sp>
            <p:nvSpPr>
              <p:cNvPr id="8" name="TextBox 7"/>
              <p:cNvSpPr txBox="1"/>
              <p:nvPr/>
            </p:nvSpPr>
            <p:spPr>
              <a:xfrm>
                <a:off x="2068535" y="1715511"/>
                <a:ext cx="1113770" cy="584775"/>
              </a:xfrm>
              <a:prstGeom prst="rect">
                <a:avLst/>
              </a:prstGeom>
              <a:noFill/>
            </p:spPr>
            <p:txBody>
              <a:bodyPr wrap="square" rtlCol="0">
                <a:spAutoFit/>
              </a:bodyPr>
              <a:lstStyle/>
              <a:p>
                <a:r>
                  <a:rPr lang="en-US" altLang="zh-CN" sz="3200" dirty="0"/>
                  <a:t> K</a:t>
                </a:r>
                <a:r>
                  <a:rPr lang="en-US" altLang="zh-CN" sz="3200" baseline="-25000" dirty="0"/>
                  <a:t>b</a:t>
                </a:r>
                <a:r>
                  <a:rPr lang="en-US" altLang="zh-CN" sz="3200" dirty="0"/>
                  <a:t>   =</a:t>
                </a:r>
                <a:endParaRPr lang="en-US" sz="3200" dirty="0"/>
              </a:p>
            </p:txBody>
          </p:sp>
          <p:cxnSp>
            <p:nvCxnSpPr>
              <p:cNvPr id="9" name="Straight Connector 8"/>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763718" y="1462086"/>
                <a:ext cx="2309950" cy="584775"/>
              </a:xfrm>
              <a:prstGeom prst="rect">
                <a:avLst/>
              </a:prstGeom>
              <a:noFill/>
            </p:spPr>
            <p:txBody>
              <a:bodyPr wrap="square" rtlCol="0">
                <a:spAutoFit/>
              </a:bodyPr>
              <a:lstStyle/>
              <a:p>
                <a:r>
                  <a:rPr lang="en-US" sz="3200" dirty="0"/>
                  <a:t> [NH</a:t>
                </a:r>
                <a:r>
                  <a:rPr lang="en-US" sz="3200" baseline="-25000" dirty="0"/>
                  <a:t>4</a:t>
                </a:r>
                <a:r>
                  <a:rPr lang="en-US" sz="3200" baseline="30000" dirty="0"/>
                  <a:t>+</a:t>
                </a:r>
                <a:r>
                  <a:rPr lang="en-US" sz="3200" dirty="0"/>
                  <a:t>] [OH</a:t>
                </a:r>
                <a:r>
                  <a:rPr lang="en-US" sz="3200" baseline="30000" dirty="0"/>
                  <a:t>-</a:t>
                </a:r>
                <a:r>
                  <a:rPr lang="en-US" sz="3200" dirty="0"/>
                  <a:t> ]</a:t>
                </a:r>
              </a:p>
            </p:txBody>
          </p:sp>
        </p:grpSp>
        <p:sp>
          <p:nvSpPr>
            <p:cNvPr id="7" name="TextBox 5"/>
            <p:cNvSpPr txBox="1"/>
            <p:nvPr/>
          </p:nvSpPr>
          <p:spPr>
            <a:xfrm>
              <a:off x="2609165" y="1919286"/>
              <a:ext cx="1861860" cy="584775"/>
            </a:xfrm>
            <a:prstGeom prst="rect">
              <a:avLst/>
            </a:prstGeom>
            <a:noFill/>
          </p:spPr>
          <p:txBody>
            <a:bodyPr wrap="square" rtlCol="0">
              <a:spAutoFit/>
            </a:bodyPr>
            <a:lstStyle/>
            <a:p>
              <a:r>
                <a:rPr lang="en-US" altLang="zh-CN" sz="3200" dirty="0"/>
                <a:t>    [</a:t>
              </a:r>
              <a:r>
                <a:rPr lang="en-US" altLang="zh-CN" sz="3200" dirty="0">
                  <a:sym typeface="Wingdings" pitchFamily="2" charset="2"/>
                </a:rPr>
                <a:t>NH</a:t>
              </a:r>
              <a:r>
                <a:rPr lang="en-US" altLang="zh-CN" sz="3200" baseline="-25000" dirty="0">
                  <a:sym typeface="Wingdings" pitchFamily="2" charset="2"/>
                </a:rPr>
                <a:t>3</a:t>
              </a:r>
              <a:r>
                <a:rPr lang="en-US" altLang="zh-CN" sz="3200" dirty="0">
                  <a:cs typeface="Arial"/>
                  <a:sym typeface="Wingdings" pitchFamily="2" charset="2"/>
                </a:rPr>
                <a:t>·H</a:t>
              </a:r>
              <a:r>
                <a:rPr lang="en-US" altLang="zh-CN" sz="3200" baseline="-25000" dirty="0">
                  <a:cs typeface="Arial"/>
                  <a:sym typeface="Wingdings" pitchFamily="2" charset="2"/>
                </a:rPr>
                <a:t>2</a:t>
              </a:r>
              <a:r>
                <a:rPr lang="en-US" altLang="zh-CN" sz="3200" dirty="0">
                  <a:cs typeface="Arial"/>
                  <a:sym typeface="Wingdings" pitchFamily="2" charset="2"/>
                </a:rPr>
                <a:t>O</a:t>
              </a:r>
              <a:r>
                <a:rPr lang="en-US" altLang="zh-CN" sz="3200" dirty="0">
                  <a:sym typeface="Wingdings" pitchFamily="2" charset="2"/>
                </a:rPr>
                <a:t> </a:t>
              </a:r>
              <a:r>
                <a:rPr lang="en-US" altLang="zh-CN" sz="3200" dirty="0"/>
                <a:t>]</a:t>
              </a:r>
              <a:endParaRPr lang="en-US" sz="3200" dirty="0"/>
            </a:p>
          </p:txBody>
        </p:sp>
      </p:grpSp>
      <p:grpSp>
        <p:nvGrpSpPr>
          <p:cNvPr id="11" name="Group 3"/>
          <p:cNvGrpSpPr/>
          <p:nvPr/>
        </p:nvGrpSpPr>
        <p:grpSpPr>
          <a:xfrm>
            <a:off x="1524001" y="2158425"/>
            <a:ext cx="5138375" cy="1041975"/>
            <a:chOff x="1208826" y="1462086"/>
            <a:chExt cx="3864842" cy="1041975"/>
          </a:xfrm>
        </p:grpSpPr>
        <p:grpSp>
          <p:nvGrpSpPr>
            <p:cNvPr id="12" name="Group 24"/>
            <p:cNvGrpSpPr/>
            <p:nvPr/>
          </p:nvGrpSpPr>
          <p:grpSpPr>
            <a:xfrm>
              <a:off x="1208826" y="1462086"/>
              <a:ext cx="3864842" cy="838200"/>
              <a:chOff x="1208826" y="1462086"/>
              <a:chExt cx="3864842" cy="838200"/>
            </a:xfrm>
          </p:grpSpPr>
          <p:sp>
            <p:nvSpPr>
              <p:cNvPr id="14" name="TextBox 13"/>
              <p:cNvSpPr txBox="1"/>
              <p:nvPr/>
            </p:nvSpPr>
            <p:spPr>
              <a:xfrm>
                <a:off x="1208826" y="1715511"/>
                <a:ext cx="2030795" cy="584775"/>
              </a:xfrm>
              <a:prstGeom prst="rect">
                <a:avLst/>
              </a:prstGeom>
              <a:noFill/>
            </p:spPr>
            <p:txBody>
              <a:bodyPr wrap="square" rtlCol="0">
                <a:spAutoFit/>
              </a:bodyPr>
              <a:lstStyle/>
              <a:p>
                <a:r>
                  <a:rPr lang="en-US" altLang="zh-CN" sz="3200" dirty="0"/>
                  <a:t>1.77x10</a:t>
                </a:r>
                <a:r>
                  <a:rPr lang="en-US" altLang="zh-CN" sz="3200" baseline="30000" dirty="0"/>
                  <a:t>-5</a:t>
                </a:r>
                <a:r>
                  <a:rPr lang="en-US" altLang="zh-CN" sz="3200" dirty="0"/>
                  <a:t>   =</a:t>
                </a:r>
                <a:endParaRPr lang="en-US" sz="3200" dirty="0"/>
              </a:p>
            </p:txBody>
          </p:sp>
          <p:cxnSp>
            <p:nvCxnSpPr>
              <p:cNvPr id="15" name="Straight Connector 14"/>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763718" y="1462086"/>
                <a:ext cx="2309950" cy="584775"/>
              </a:xfrm>
              <a:prstGeom prst="rect">
                <a:avLst/>
              </a:prstGeom>
              <a:noFill/>
            </p:spPr>
            <p:txBody>
              <a:bodyPr wrap="square" rtlCol="0">
                <a:spAutoFit/>
              </a:bodyPr>
              <a:lstStyle/>
              <a:p>
                <a:r>
                  <a:rPr lang="en-US" sz="3200" dirty="0"/>
                  <a:t>     (0.05+x)(x)</a:t>
                </a:r>
              </a:p>
            </p:txBody>
          </p:sp>
        </p:grpSp>
        <p:sp>
          <p:nvSpPr>
            <p:cNvPr id="13" name="TextBox 5"/>
            <p:cNvSpPr txBox="1"/>
            <p:nvPr/>
          </p:nvSpPr>
          <p:spPr>
            <a:xfrm>
              <a:off x="2957748" y="1919286"/>
              <a:ext cx="1861860" cy="584775"/>
            </a:xfrm>
            <a:prstGeom prst="rect">
              <a:avLst/>
            </a:prstGeom>
            <a:noFill/>
          </p:spPr>
          <p:txBody>
            <a:bodyPr wrap="square" rtlCol="0">
              <a:spAutoFit/>
            </a:bodyPr>
            <a:lstStyle/>
            <a:p>
              <a:r>
                <a:rPr lang="en-US" altLang="zh-CN" sz="3200" dirty="0"/>
                <a:t>    0.05-x</a:t>
              </a:r>
              <a:endParaRPr lang="en-US" sz="3200" dirty="0"/>
            </a:p>
          </p:txBody>
        </p:sp>
      </p:grpSp>
      <p:grpSp>
        <p:nvGrpSpPr>
          <p:cNvPr id="17" name="Group 15"/>
          <p:cNvGrpSpPr/>
          <p:nvPr/>
        </p:nvGrpSpPr>
        <p:grpSpPr>
          <a:xfrm>
            <a:off x="5029200" y="2209800"/>
            <a:ext cx="1554480" cy="457200"/>
            <a:chOff x="4191000" y="5181600"/>
            <a:chExt cx="1554480" cy="457200"/>
          </a:xfrm>
        </p:grpSpPr>
        <p:sp>
          <p:nvSpPr>
            <p:cNvPr id="23" name="Oval 22"/>
            <p:cNvSpPr/>
            <p:nvPr/>
          </p:nvSpPr>
          <p:spPr>
            <a:xfrm>
              <a:off x="4191000" y="5181600"/>
              <a:ext cx="457200" cy="45720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Curved Connector 23"/>
            <p:cNvCxnSpPr>
              <a:stCxn id="23" idx="6"/>
            </p:cNvCxnSpPr>
            <p:nvPr/>
          </p:nvCxnSpPr>
          <p:spPr>
            <a:xfrm>
              <a:off x="4648200" y="5410200"/>
              <a:ext cx="1097280" cy="91440"/>
            </a:xfrm>
            <a:prstGeom prst="curvedConnector3">
              <a:avLst>
                <a:gd name="adj1" fmla="val 50000"/>
              </a:avLst>
            </a:prstGeom>
            <a:ln w="34925">
              <a:solidFill>
                <a:srgbClr val="002060"/>
              </a:solidFill>
              <a:tailEnd type="arrow"/>
            </a:ln>
          </p:spPr>
          <p:style>
            <a:lnRef idx="1">
              <a:schemeClr val="accent2"/>
            </a:lnRef>
            <a:fillRef idx="0">
              <a:schemeClr val="accent2"/>
            </a:fillRef>
            <a:effectRef idx="0">
              <a:schemeClr val="accent2"/>
            </a:effectRef>
            <a:fontRef idx="minor">
              <a:schemeClr val="tx1"/>
            </a:fontRef>
          </p:style>
        </p:cxnSp>
      </p:grpSp>
      <p:sp>
        <p:nvSpPr>
          <p:cNvPr id="25" name="TextBox 24"/>
          <p:cNvSpPr txBox="1"/>
          <p:nvPr/>
        </p:nvSpPr>
        <p:spPr>
          <a:xfrm>
            <a:off x="6632059" y="2286000"/>
            <a:ext cx="1826141" cy="584775"/>
          </a:xfrm>
          <a:prstGeom prst="rect">
            <a:avLst/>
          </a:prstGeom>
          <a:solidFill>
            <a:srgbClr val="E2CFF1"/>
          </a:solidFill>
          <a:ln>
            <a:solidFill>
              <a:srgbClr val="00206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dirty="0"/>
              <a:t>忽略不计</a:t>
            </a:r>
            <a:endParaRPr lang="en-US" sz="3000" dirty="0"/>
          </a:p>
        </p:txBody>
      </p:sp>
      <p:grpSp>
        <p:nvGrpSpPr>
          <p:cNvPr id="18" name="Group 15"/>
          <p:cNvGrpSpPr/>
          <p:nvPr/>
        </p:nvGrpSpPr>
        <p:grpSpPr>
          <a:xfrm>
            <a:off x="5029200" y="2590800"/>
            <a:ext cx="1600200" cy="533400"/>
            <a:chOff x="4191000" y="5105400"/>
            <a:chExt cx="1600200" cy="533400"/>
          </a:xfrm>
        </p:grpSpPr>
        <p:sp>
          <p:nvSpPr>
            <p:cNvPr id="27" name="Oval 26"/>
            <p:cNvSpPr/>
            <p:nvPr/>
          </p:nvSpPr>
          <p:spPr>
            <a:xfrm>
              <a:off x="4191000" y="5181600"/>
              <a:ext cx="457200" cy="45720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Curved Connector 27"/>
            <p:cNvCxnSpPr>
              <a:stCxn id="27" idx="6"/>
            </p:cNvCxnSpPr>
            <p:nvPr/>
          </p:nvCxnSpPr>
          <p:spPr>
            <a:xfrm flipV="1">
              <a:off x="4648200" y="5105400"/>
              <a:ext cx="1143000" cy="304800"/>
            </a:xfrm>
            <a:prstGeom prst="curvedConnector3">
              <a:avLst>
                <a:gd name="adj1" fmla="val 50000"/>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grpSp>
      <p:grpSp>
        <p:nvGrpSpPr>
          <p:cNvPr id="19" name="Group 3"/>
          <p:cNvGrpSpPr/>
          <p:nvPr/>
        </p:nvGrpSpPr>
        <p:grpSpPr>
          <a:xfrm>
            <a:off x="1524000" y="3377625"/>
            <a:ext cx="5138375" cy="1041975"/>
            <a:chOff x="1208826" y="1462086"/>
            <a:chExt cx="3864842" cy="1041975"/>
          </a:xfrm>
        </p:grpSpPr>
        <p:grpSp>
          <p:nvGrpSpPr>
            <p:cNvPr id="20" name="Group 24"/>
            <p:cNvGrpSpPr/>
            <p:nvPr/>
          </p:nvGrpSpPr>
          <p:grpSpPr>
            <a:xfrm>
              <a:off x="1208826" y="1462086"/>
              <a:ext cx="3864842" cy="838200"/>
              <a:chOff x="1208826" y="1462086"/>
              <a:chExt cx="3864842" cy="838200"/>
            </a:xfrm>
          </p:grpSpPr>
          <p:sp>
            <p:nvSpPr>
              <p:cNvPr id="34" name="TextBox 33"/>
              <p:cNvSpPr txBox="1"/>
              <p:nvPr/>
            </p:nvSpPr>
            <p:spPr>
              <a:xfrm>
                <a:off x="1208826" y="1715511"/>
                <a:ext cx="2030795" cy="584775"/>
              </a:xfrm>
              <a:prstGeom prst="rect">
                <a:avLst/>
              </a:prstGeom>
              <a:noFill/>
            </p:spPr>
            <p:txBody>
              <a:bodyPr wrap="square" rtlCol="0">
                <a:spAutoFit/>
              </a:bodyPr>
              <a:lstStyle/>
              <a:p>
                <a:r>
                  <a:rPr lang="en-US" altLang="zh-CN" sz="3200" dirty="0"/>
                  <a:t>1.77x10</a:t>
                </a:r>
                <a:r>
                  <a:rPr lang="en-US" altLang="zh-CN" sz="3200" baseline="30000" dirty="0"/>
                  <a:t>-5</a:t>
                </a:r>
                <a:r>
                  <a:rPr lang="en-US" altLang="zh-CN" sz="3200" dirty="0"/>
                  <a:t>   =</a:t>
                </a:r>
                <a:endParaRPr lang="en-US" sz="3200" dirty="0"/>
              </a:p>
            </p:txBody>
          </p:sp>
          <p:cxnSp>
            <p:nvCxnSpPr>
              <p:cNvPr id="35" name="Straight Connector 34"/>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763718" y="1462086"/>
                <a:ext cx="2309950" cy="584775"/>
              </a:xfrm>
              <a:prstGeom prst="rect">
                <a:avLst/>
              </a:prstGeom>
              <a:noFill/>
            </p:spPr>
            <p:txBody>
              <a:bodyPr wrap="square" rtlCol="0">
                <a:spAutoFit/>
              </a:bodyPr>
              <a:lstStyle/>
              <a:p>
                <a:r>
                  <a:rPr lang="en-US" sz="3200" dirty="0"/>
                  <a:t>     (</a:t>
                </a:r>
                <a:r>
                  <a:rPr lang="en-US" altLang="zh-CN" sz="3200" dirty="0"/>
                  <a:t>0.05</a:t>
                </a:r>
                <a:r>
                  <a:rPr lang="en-US" sz="3200" dirty="0"/>
                  <a:t>)(</a:t>
                </a:r>
                <a:r>
                  <a:rPr lang="en-US" altLang="zh-CN" sz="3200" dirty="0"/>
                  <a:t>x</a:t>
                </a:r>
                <a:r>
                  <a:rPr lang="en-US" sz="3200" dirty="0"/>
                  <a:t>)</a:t>
                </a:r>
              </a:p>
            </p:txBody>
          </p:sp>
        </p:grpSp>
        <p:sp>
          <p:nvSpPr>
            <p:cNvPr id="33" name="TextBox 5"/>
            <p:cNvSpPr txBox="1"/>
            <p:nvPr/>
          </p:nvSpPr>
          <p:spPr>
            <a:xfrm>
              <a:off x="2957748" y="1919286"/>
              <a:ext cx="1861860" cy="584775"/>
            </a:xfrm>
            <a:prstGeom prst="rect">
              <a:avLst/>
            </a:prstGeom>
            <a:noFill/>
          </p:spPr>
          <p:txBody>
            <a:bodyPr wrap="square" rtlCol="0">
              <a:spAutoFit/>
            </a:bodyPr>
            <a:lstStyle/>
            <a:p>
              <a:r>
                <a:rPr lang="en-US" altLang="zh-CN" sz="3200" dirty="0"/>
                <a:t>    0.05</a:t>
              </a:r>
              <a:endParaRPr lang="en-US" sz="3200" dirty="0"/>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par>
                                <p:cTn id="23" presetID="3" presetClass="entr" presetSubtype="1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linds(horizontal)">
                                      <p:cBhvr>
                                        <p:cTn id="25" dur="500"/>
                                        <p:tgtEl>
                                          <p:spTgt spid="18"/>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blinds(horizontal)">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linds(horizontal)">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blinds(horizontal)">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blinds(horizontal)">
                                      <p:cBhvr>
                                        <p:cTn id="43" dur="500"/>
                                        <p:tgtEl>
                                          <p:spTgt spid="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blinds(horizontal)">
                                      <p:cBhvr>
                                        <p:cTn id="48" dur="500"/>
                                        <p:tgtEl>
                                          <p:spTgt spid="3">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Effect transition="in" filter="blinds(horizontal)">
                                      <p:cBhvr>
                                        <p:cTn id="53"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酸碱中和滴定</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lnSpc>
                <a:spcPct val="150000"/>
              </a:lnSpc>
              <a:spcBef>
                <a:spcPts val="0"/>
              </a:spcBef>
              <a:buFont typeface="Wingdings" pitchFamily="2" charset="2"/>
              <a:buChar char="Ø"/>
            </a:pPr>
            <a:r>
              <a:rPr lang="zh-CN" altLang="en-US" sz="3000" dirty="0">
                <a:sym typeface="Wingdings" pitchFamily="2" charset="2"/>
              </a:rPr>
              <a:t>定性分析：鉴定物质是由哪些</a:t>
            </a:r>
            <a:r>
              <a:rPr lang="zh-CN" altLang="en-US" sz="3000" b="1" dirty="0">
                <a:solidFill>
                  <a:srgbClr val="002060"/>
                </a:solidFill>
                <a:sym typeface="Wingdings" pitchFamily="2" charset="2"/>
              </a:rPr>
              <a:t>成分组成</a:t>
            </a:r>
            <a:r>
              <a:rPr lang="zh-CN" altLang="en-US" sz="3000" dirty="0">
                <a:sym typeface="Wingdings" pitchFamily="2" charset="2"/>
              </a:rPr>
              <a:t>。</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定量分析：测定物质中各组成</a:t>
            </a:r>
            <a:r>
              <a:rPr lang="zh-CN" altLang="en-US" sz="3000" b="1" dirty="0">
                <a:solidFill>
                  <a:srgbClr val="002060"/>
                </a:solidFill>
                <a:sym typeface="Wingdings" pitchFamily="2" charset="2"/>
              </a:rPr>
              <a:t>成分的含量</a:t>
            </a:r>
            <a:r>
              <a:rPr lang="zh-CN" altLang="en-US" sz="3000" dirty="0">
                <a:sym typeface="Wingdings" pitchFamily="2" charset="2"/>
              </a:rPr>
              <a:t>。</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容量分析：量度溶液</a:t>
            </a:r>
            <a:r>
              <a:rPr lang="zh-CN" altLang="en-US" sz="3000" b="1" dirty="0">
                <a:solidFill>
                  <a:srgbClr val="002060"/>
                </a:solidFill>
                <a:sym typeface="Wingdings" pitchFamily="2" charset="2"/>
              </a:rPr>
              <a:t>体积</a:t>
            </a:r>
            <a:r>
              <a:rPr lang="zh-CN" altLang="en-US" sz="3000" dirty="0">
                <a:sym typeface="Wingdings" pitchFamily="2" charset="2"/>
              </a:rPr>
              <a:t>的方法进行分析。</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标准溶液：已知准确浓度的溶液。</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等当点：标准溶液与被测物质定量</a:t>
            </a:r>
            <a:r>
              <a:rPr lang="zh-CN" altLang="en-US" sz="3000" b="1" dirty="0">
                <a:solidFill>
                  <a:srgbClr val="002060"/>
                </a:solidFill>
                <a:sym typeface="Wingdings" pitchFamily="2" charset="2"/>
              </a:rPr>
              <a:t>完全反应时</a:t>
            </a:r>
            <a:r>
              <a:rPr lang="zh-CN" altLang="en-US" sz="3000" dirty="0">
                <a:sym typeface="Wingdings" pitchFamily="2" charset="2"/>
              </a:rPr>
              <a:t>。</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滴定终点：指示剂发生颜色变化的转变点。</a:t>
            </a:r>
            <a:endParaRPr lang="en-US" altLang="zh-CN" sz="3000" dirty="0">
              <a:sym typeface="Wingdings" pitchFamily="2" charset="2"/>
            </a:endParaRPr>
          </a:p>
          <a:p>
            <a:pPr>
              <a:lnSpc>
                <a:spcPct val="150000"/>
              </a:lnSpc>
              <a:spcBef>
                <a:spcPts val="0"/>
              </a:spcBef>
              <a:buFont typeface="Wingdings" pitchFamily="2" charset="2"/>
              <a:buChar char="Ø"/>
            </a:pPr>
            <a:r>
              <a:rPr lang="zh-CN" altLang="en-US" sz="3000" dirty="0">
                <a:sym typeface="Wingdings" pitchFamily="2" charset="2"/>
              </a:rPr>
              <a:t>滴定误差：滴定终点与等当点不吻合造成的误差。</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酸碱中和滴定</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zh-CN" altLang="en-US" sz="3000" dirty="0">
                <a:sym typeface="Wingdings" pitchFamily="2" charset="2"/>
              </a:rPr>
              <a:t>标准溶液 </a:t>
            </a:r>
            <a:r>
              <a:rPr lang="en-US" altLang="zh-CN" sz="3000" dirty="0">
                <a:sym typeface="Wingdings" pitchFamily="2" charset="2"/>
              </a:rPr>
              <a:t>0.1M </a:t>
            </a:r>
            <a:r>
              <a:rPr lang="en-US" altLang="zh-CN" sz="3000" dirty="0" err="1">
                <a:sym typeface="Wingdings" pitchFamily="2" charset="2"/>
              </a:rPr>
              <a:t>NaOH</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spcBef>
                <a:spcPts val="0"/>
              </a:spcBef>
              <a:buFont typeface="Wingdings" pitchFamily="2" charset="2"/>
              <a:buChar char="Ø"/>
            </a:pPr>
            <a:r>
              <a:rPr lang="zh-CN" altLang="en-US" sz="3000" dirty="0">
                <a:sym typeface="Wingdings" pitchFamily="2" charset="2"/>
              </a:rPr>
              <a:t>待测溶液 </a:t>
            </a:r>
            <a:r>
              <a:rPr lang="en-US" altLang="zh-CN" sz="3000" dirty="0">
                <a:sym typeface="Wingdings" pitchFamily="2" charset="2"/>
              </a:rPr>
              <a:t>20mL </a:t>
            </a: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p:txBody>
      </p:sp>
      <p:pic>
        <p:nvPicPr>
          <p:cNvPr id="6" name="Picture 5" descr="03.jpg"/>
          <p:cNvPicPr>
            <a:picLocks noChangeAspect="1"/>
          </p:cNvPicPr>
          <p:nvPr/>
        </p:nvPicPr>
        <p:blipFill>
          <a:blip r:embed="rId3"/>
          <a:srcRect l="4427" t="30469" r="64648" b="87"/>
          <a:stretch>
            <a:fillRect/>
          </a:stretch>
        </p:blipFill>
        <p:spPr>
          <a:xfrm>
            <a:off x="764568" y="2386263"/>
            <a:ext cx="2438400" cy="4106779"/>
          </a:xfrm>
          <a:prstGeom prst="rect">
            <a:avLst/>
          </a:prstGeom>
        </p:spPr>
      </p:pic>
      <p:grpSp>
        <p:nvGrpSpPr>
          <p:cNvPr id="14" name="Group 13"/>
          <p:cNvGrpSpPr/>
          <p:nvPr/>
        </p:nvGrpSpPr>
        <p:grpSpPr>
          <a:xfrm>
            <a:off x="3886200" y="2057400"/>
            <a:ext cx="4800600" cy="4800600"/>
            <a:chOff x="3886200" y="2057400"/>
            <a:chExt cx="4800600" cy="4800600"/>
          </a:xfrm>
        </p:grpSpPr>
        <p:pic>
          <p:nvPicPr>
            <p:cNvPr id="8" name="Picture 7" descr="01.gif"/>
            <p:cNvPicPr>
              <a:picLocks noChangeAspect="1"/>
            </p:cNvPicPr>
            <p:nvPr/>
          </p:nvPicPr>
          <p:blipFill>
            <a:blip r:embed="rId4"/>
            <a:srcRect r="44286"/>
            <a:stretch>
              <a:fillRect/>
            </a:stretch>
          </p:blipFill>
          <p:spPr>
            <a:xfrm>
              <a:off x="3886200" y="2057400"/>
              <a:ext cx="4800600" cy="4800600"/>
            </a:xfrm>
            <a:prstGeom prst="rect">
              <a:avLst/>
            </a:prstGeom>
          </p:spPr>
        </p:pic>
        <p:sp>
          <p:nvSpPr>
            <p:cNvPr id="13" name="TextBox 12"/>
            <p:cNvSpPr txBox="1"/>
            <p:nvPr/>
          </p:nvSpPr>
          <p:spPr>
            <a:xfrm>
              <a:off x="3886200" y="2514600"/>
              <a:ext cx="444352" cy="400110"/>
            </a:xfrm>
            <a:prstGeom prst="rect">
              <a:avLst/>
            </a:prstGeom>
            <a:solidFill>
              <a:schemeClr val="bg1"/>
            </a:solidFill>
          </p:spPr>
          <p:txBody>
            <a:bodyPr wrap="none" rtlCol="0">
              <a:spAutoFit/>
            </a:bodyPr>
            <a:lstStyle/>
            <a:p>
              <a:r>
                <a:rPr lang="en-US" altLang="zh-CN" sz="2000" b="1" dirty="0"/>
                <a:t>13</a:t>
              </a:r>
              <a:endParaRPr lang="en-US" sz="2000" b="1" dirty="0"/>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酸碱中和滴定</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zh-CN" altLang="en-US" sz="3000" dirty="0">
                <a:sym typeface="Wingdings" pitchFamily="2" charset="2"/>
              </a:rPr>
              <a:t>标准溶液 </a:t>
            </a:r>
            <a:r>
              <a:rPr lang="en-US" altLang="zh-CN" sz="3000" dirty="0">
                <a:sym typeface="Wingdings" pitchFamily="2" charset="2"/>
              </a:rPr>
              <a:t>0.1M </a:t>
            </a: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spcBef>
                <a:spcPts val="0"/>
              </a:spcBef>
              <a:buFont typeface="Wingdings" pitchFamily="2" charset="2"/>
              <a:buChar char="Ø"/>
            </a:pPr>
            <a:r>
              <a:rPr lang="zh-CN" altLang="en-US" sz="3000" dirty="0">
                <a:sym typeface="Wingdings" pitchFamily="2" charset="2"/>
              </a:rPr>
              <a:t>待测溶液 </a:t>
            </a:r>
            <a:r>
              <a:rPr lang="en-US" altLang="zh-CN" sz="3000" dirty="0">
                <a:sym typeface="Wingdings" pitchFamily="2" charset="2"/>
              </a:rPr>
              <a:t>20mL </a:t>
            </a:r>
            <a:r>
              <a:rPr lang="en-US" altLang="zh-CN" sz="3000" dirty="0" err="1">
                <a:sym typeface="Wingdings" pitchFamily="2" charset="2"/>
              </a:rPr>
              <a:t>NaOH</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p:txBody>
      </p:sp>
      <p:pic>
        <p:nvPicPr>
          <p:cNvPr id="8" name="Picture 7" descr="01.gif"/>
          <p:cNvPicPr>
            <a:picLocks noChangeAspect="1"/>
          </p:cNvPicPr>
          <p:nvPr/>
        </p:nvPicPr>
        <p:blipFill>
          <a:blip r:embed="rId3"/>
          <a:stretch>
            <a:fillRect/>
          </a:stretch>
        </p:blipFill>
        <p:spPr>
          <a:xfrm>
            <a:off x="3429000" y="2057400"/>
            <a:ext cx="5181600" cy="4495799"/>
          </a:xfrm>
          <a:prstGeom prst="rect">
            <a:avLst/>
          </a:prstGeom>
        </p:spPr>
      </p:pic>
      <p:grpSp>
        <p:nvGrpSpPr>
          <p:cNvPr id="9" name="Group 8"/>
          <p:cNvGrpSpPr/>
          <p:nvPr/>
        </p:nvGrpSpPr>
        <p:grpSpPr>
          <a:xfrm>
            <a:off x="457200" y="2209800"/>
            <a:ext cx="2895600" cy="4419600"/>
            <a:chOff x="457200" y="2209800"/>
            <a:chExt cx="2895600" cy="4419600"/>
          </a:xfrm>
        </p:grpSpPr>
        <p:pic>
          <p:nvPicPr>
            <p:cNvPr id="6" name="Picture 5" descr="03.jpg"/>
            <p:cNvPicPr>
              <a:picLocks noChangeAspect="1"/>
            </p:cNvPicPr>
            <p:nvPr/>
          </p:nvPicPr>
          <p:blipFill>
            <a:blip r:embed="rId4"/>
            <a:stretch>
              <a:fillRect/>
            </a:stretch>
          </p:blipFill>
          <p:spPr>
            <a:xfrm>
              <a:off x="457200" y="2209800"/>
              <a:ext cx="2895600" cy="4419600"/>
            </a:xfrm>
            <a:prstGeom prst="rect">
              <a:avLst/>
            </a:prstGeom>
          </p:spPr>
        </p:pic>
        <p:sp>
          <p:nvSpPr>
            <p:cNvPr id="7" name="Rounded Rectangle 6"/>
            <p:cNvSpPr/>
            <p:nvPr/>
          </p:nvSpPr>
          <p:spPr>
            <a:xfrm>
              <a:off x="1981200" y="3886200"/>
              <a:ext cx="304800" cy="38100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酸碱中和滴定</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dirty="0">
                <a:sym typeface="Wingdings" pitchFamily="2" charset="2"/>
              </a:rPr>
              <a:t>问题解决</a:t>
            </a:r>
            <a:r>
              <a:rPr lang="en-US" altLang="zh-CN" sz="3000" dirty="0">
                <a:sym typeface="Wingdings" pitchFamily="2" charset="2"/>
              </a:rPr>
              <a:t>p262 </a:t>
            </a:r>
          </a:p>
          <a:p>
            <a:pPr marL="514350" indent="-514350">
              <a:spcBef>
                <a:spcPts val="0"/>
              </a:spcBef>
              <a:buAutoNum type="arabicPeriod"/>
            </a:pPr>
            <a:r>
              <a:rPr lang="en-US" altLang="zh-CN" sz="3000" dirty="0">
                <a:sym typeface="Wingdings" pitchFamily="2" charset="2"/>
              </a:rPr>
              <a:t> 	   n(H</a:t>
            </a:r>
            <a:r>
              <a:rPr lang="en-US" altLang="zh-CN" sz="3000" baseline="30000" dirty="0">
                <a:sym typeface="Wingdings" pitchFamily="2" charset="2"/>
              </a:rPr>
              <a:t>+</a:t>
            </a:r>
            <a:r>
              <a:rPr lang="en-US" altLang="zh-CN" sz="3000" dirty="0">
                <a:sym typeface="Wingdings" pitchFamily="2" charset="2"/>
              </a:rPr>
              <a:t>) = n(OH</a:t>
            </a:r>
            <a:r>
              <a:rPr lang="en-US" altLang="zh-CN" sz="3000" baseline="30000" dirty="0">
                <a:sym typeface="Wingdings" pitchFamily="2" charset="2"/>
              </a:rPr>
              <a:t>-</a:t>
            </a:r>
            <a:r>
              <a:rPr lang="en-US" altLang="zh-CN" sz="3000" dirty="0">
                <a:sym typeface="Wingdings" pitchFamily="2" charset="2"/>
              </a:rPr>
              <a:t>)</a:t>
            </a:r>
          </a:p>
          <a:p>
            <a:pPr marL="514350" indent="-514350">
              <a:spcBef>
                <a:spcPts val="0"/>
              </a:spcBef>
              <a:buNone/>
            </a:pPr>
            <a:r>
              <a:rPr lang="en-US" altLang="zh-CN" sz="3000" dirty="0">
                <a:sym typeface="Wingdings" pitchFamily="2" charset="2"/>
              </a:rPr>
              <a:t>	c</a:t>
            </a:r>
            <a:r>
              <a:rPr lang="en-US" altLang="zh-CN" sz="3000" baseline="-25000" dirty="0">
                <a:sym typeface="Wingdings" pitchFamily="2" charset="2"/>
              </a:rPr>
              <a:t>a</a:t>
            </a:r>
            <a:r>
              <a:rPr lang="en-US" altLang="zh-CN" sz="3000" dirty="0">
                <a:sym typeface="Wingdings" pitchFamily="2" charset="2"/>
              </a:rPr>
              <a:t> x 25mL = 0.1M x 25.2mL </a:t>
            </a:r>
          </a:p>
          <a:p>
            <a:pPr marL="514350" indent="-514350">
              <a:spcBef>
                <a:spcPts val="0"/>
              </a:spcBef>
              <a:buNone/>
            </a:pPr>
            <a:r>
              <a:rPr lang="en-US" altLang="zh-CN" sz="3000" dirty="0">
                <a:sym typeface="Wingdings" pitchFamily="2" charset="2"/>
              </a:rPr>
              <a:t>		         c</a:t>
            </a:r>
            <a:r>
              <a:rPr lang="en-US" altLang="zh-CN" sz="3000" baseline="-25000" dirty="0">
                <a:sym typeface="Wingdings" pitchFamily="2" charset="2"/>
              </a:rPr>
              <a:t>a</a:t>
            </a:r>
            <a:r>
              <a:rPr lang="en-US" altLang="zh-CN" sz="3000" dirty="0">
                <a:sym typeface="Wingdings" pitchFamily="2" charset="2"/>
              </a:rPr>
              <a:t> = 0.1008 M </a:t>
            </a:r>
          </a:p>
          <a:p>
            <a:pPr marL="514350" indent="-514350">
              <a:spcBef>
                <a:spcPts val="0"/>
              </a:spcBef>
              <a:buAutoNum type="arabicPeriod" startAt="2"/>
            </a:pPr>
            <a:r>
              <a:rPr lang="zh-CN" altLang="en-US" sz="3000" b="1" dirty="0">
                <a:solidFill>
                  <a:srgbClr val="002060"/>
                </a:solidFill>
                <a:sym typeface="Wingdings" pitchFamily="2" charset="2"/>
              </a:rPr>
              <a:t>一元酸与一元碱</a:t>
            </a:r>
            <a:r>
              <a:rPr lang="en-US" altLang="zh-CN" sz="3000" dirty="0">
                <a:solidFill>
                  <a:srgbClr val="002060"/>
                </a:solidFill>
                <a:sym typeface="Wingdings" pitchFamily="2" charset="2"/>
              </a:rPr>
              <a:t>	c</a:t>
            </a:r>
            <a:r>
              <a:rPr lang="en-US" altLang="zh-CN" sz="3000" baseline="-25000" dirty="0">
                <a:solidFill>
                  <a:srgbClr val="002060"/>
                </a:solidFill>
                <a:sym typeface="Wingdings" pitchFamily="2" charset="2"/>
              </a:rPr>
              <a:t>a </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V</a:t>
            </a:r>
            <a:r>
              <a:rPr lang="en-US" altLang="zh-CN" sz="3000" baseline="-25000" dirty="0" err="1">
                <a:solidFill>
                  <a:srgbClr val="002060"/>
                </a:solidFill>
                <a:sym typeface="Wingdings" pitchFamily="2" charset="2"/>
              </a:rPr>
              <a:t>a</a:t>
            </a:r>
            <a:r>
              <a:rPr lang="en-US" altLang="zh-CN" sz="3000" dirty="0">
                <a:solidFill>
                  <a:srgbClr val="002060"/>
                </a:solidFill>
                <a:sym typeface="Wingdings" pitchFamily="2" charset="2"/>
              </a:rPr>
              <a:t> = </a:t>
            </a:r>
            <a:r>
              <a:rPr lang="en-US" altLang="zh-CN" sz="3000" dirty="0" err="1">
                <a:solidFill>
                  <a:srgbClr val="002060"/>
                </a:solidFill>
                <a:sym typeface="Wingdings" pitchFamily="2" charset="2"/>
              </a:rPr>
              <a:t>c</a:t>
            </a:r>
            <a:r>
              <a:rPr lang="en-US" altLang="zh-CN" sz="3000" baseline="-25000" dirty="0" err="1">
                <a:solidFill>
                  <a:srgbClr val="002060"/>
                </a:solidFill>
                <a:sym typeface="Wingdings" pitchFamily="2" charset="2"/>
              </a:rPr>
              <a:t>b</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V</a:t>
            </a:r>
            <a:r>
              <a:rPr lang="en-US" altLang="zh-CN" sz="3000" baseline="-25000" dirty="0" err="1">
                <a:solidFill>
                  <a:srgbClr val="002060"/>
                </a:solidFill>
                <a:sym typeface="Wingdings" pitchFamily="2" charset="2"/>
              </a:rPr>
              <a:t>b</a:t>
            </a:r>
            <a:r>
              <a:rPr lang="en-US" altLang="zh-CN" sz="3000" baseline="-25000" dirty="0">
                <a:solidFill>
                  <a:srgbClr val="002060"/>
                </a:solidFill>
                <a:sym typeface="Wingdings" pitchFamily="2" charset="2"/>
              </a:rPr>
              <a:t> </a:t>
            </a:r>
            <a:r>
              <a:rPr lang="en-US" altLang="zh-CN" sz="3000" baseline="-25000" dirty="0">
                <a:sym typeface="Wingdings" pitchFamily="2" charset="2"/>
              </a:rPr>
              <a:t>		</a:t>
            </a:r>
            <a:endParaRPr lang="en-US" altLang="zh-CN" sz="3000" b="1" dirty="0">
              <a:solidFill>
                <a:srgbClr val="002060"/>
              </a:solidFill>
              <a:sym typeface="Wingdings" pitchFamily="2" charset="2"/>
            </a:endParaRPr>
          </a:p>
          <a:p>
            <a:pPr marL="514350" indent="-514350">
              <a:spcBef>
                <a:spcPts val="0"/>
              </a:spcBef>
              <a:buNone/>
            </a:pPr>
            <a:br>
              <a:rPr lang="en-US" altLang="zh-CN" sz="3000" b="1" dirty="0">
                <a:solidFill>
                  <a:srgbClr val="002060"/>
                </a:solidFill>
                <a:sym typeface="Wingdings" pitchFamily="2" charset="2"/>
              </a:rPr>
            </a:br>
            <a:r>
              <a:rPr lang="zh-CN" altLang="en-US" sz="3000" b="1" dirty="0">
                <a:solidFill>
                  <a:srgbClr val="7030A0"/>
                </a:solidFill>
                <a:sym typeface="Wingdings" pitchFamily="2" charset="2"/>
              </a:rPr>
              <a:t>某元酸与某元碱</a:t>
            </a:r>
            <a:r>
              <a:rPr lang="en-US" altLang="zh-CN" sz="3000" b="1" dirty="0">
                <a:solidFill>
                  <a:srgbClr val="7030A0"/>
                </a:solidFill>
                <a:sym typeface="Wingdings" pitchFamily="2" charset="2"/>
              </a:rPr>
              <a:t>     </a:t>
            </a:r>
          </a:p>
          <a:p>
            <a:pPr marL="514350" indent="-514350">
              <a:spcBef>
                <a:spcPts val="0"/>
              </a:spcBef>
              <a:buNone/>
            </a:pPr>
            <a:r>
              <a:rPr lang="en-US" altLang="zh-CN" sz="3000" b="1" dirty="0">
                <a:solidFill>
                  <a:srgbClr val="7030A0"/>
                </a:solidFill>
                <a:sym typeface="Wingdings" pitchFamily="2" charset="2"/>
              </a:rPr>
              <a:t>	a</a:t>
            </a:r>
            <a:r>
              <a:rPr lang="zh-CN" altLang="en-US" sz="3000" b="1" dirty="0">
                <a:solidFill>
                  <a:srgbClr val="7030A0"/>
                </a:solidFill>
                <a:sym typeface="Wingdings" pitchFamily="2" charset="2"/>
              </a:rPr>
              <a:t>，</a:t>
            </a:r>
            <a:r>
              <a:rPr lang="en-US" altLang="zh-CN" sz="3000" b="1" dirty="0">
                <a:solidFill>
                  <a:srgbClr val="7030A0"/>
                </a:solidFill>
                <a:sym typeface="Wingdings" pitchFamily="2" charset="2"/>
              </a:rPr>
              <a:t>b</a:t>
            </a:r>
            <a:r>
              <a:rPr lang="zh-CN" altLang="en-US" sz="3000" b="1" dirty="0">
                <a:solidFill>
                  <a:srgbClr val="7030A0"/>
                </a:solidFill>
                <a:sym typeface="Wingdings" pitchFamily="2" charset="2"/>
              </a:rPr>
              <a:t>为中和反应中酸和碱的配平系数</a:t>
            </a:r>
            <a:endParaRPr lang="en-US" altLang="zh-CN" sz="3000" b="1" dirty="0">
              <a:solidFill>
                <a:srgbClr val="7030A0"/>
              </a:solidFill>
              <a:sym typeface="Wingdings" pitchFamily="2" charset="2"/>
            </a:endParaRPr>
          </a:p>
          <a:p>
            <a:pPr marL="514350" indent="-514350">
              <a:spcBef>
                <a:spcPts val="0"/>
              </a:spcBef>
              <a:buNone/>
            </a:pPr>
            <a:r>
              <a:rPr lang="en-US" altLang="zh-CN" sz="3000" b="1" dirty="0">
                <a:solidFill>
                  <a:srgbClr val="002060"/>
                </a:solidFill>
                <a:sym typeface="Wingdings" pitchFamily="2" charset="2"/>
              </a:rPr>
              <a:t>	</a:t>
            </a:r>
          </a:p>
          <a:p>
            <a:pPr marL="514350" indent="-514350">
              <a:spcBef>
                <a:spcPts val="0"/>
              </a:spcBef>
              <a:buNone/>
            </a:pPr>
            <a:r>
              <a:rPr lang="en-US" altLang="zh-CN" sz="3000" b="1" dirty="0">
                <a:solidFill>
                  <a:srgbClr val="002060"/>
                </a:solidFill>
                <a:sym typeface="Wingdings" pitchFamily="2" charset="2"/>
              </a:rPr>
              <a:t>	</a:t>
            </a:r>
            <a:r>
              <a:rPr lang="el-GR" altLang="zh-CN" sz="3000" dirty="0">
                <a:solidFill>
                  <a:srgbClr val="002060"/>
                </a:solidFill>
                <a:sym typeface="Wingdings" pitchFamily="2" charset="2"/>
              </a:rPr>
              <a:t> χ</a:t>
            </a:r>
            <a:r>
              <a:rPr lang="zh-CN" altLang="en-US" sz="3000" b="1" dirty="0">
                <a:solidFill>
                  <a:srgbClr val="002060"/>
                </a:solidFill>
                <a:sym typeface="Wingdings" pitchFamily="2" charset="2"/>
              </a:rPr>
              <a:t>元酸与</a:t>
            </a:r>
            <a:r>
              <a:rPr lang="en-US" altLang="zh-CN" sz="3000" b="1" dirty="0">
                <a:solidFill>
                  <a:srgbClr val="002060"/>
                </a:solidFill>
                <a:sym typeface="Wingdings" pitchFamily="2" charset="2"/>
              </a:rPr>
              <a:t>y</a:t>
            </a:r>
            <a:r>
              <a:rPr lang="zh-CN" altLang="en-US" sz="3000" b="1" dirty="0">
                <a:solidFill>
                  <a:srgbClr val="002060"/>
                </a:solidFill>
                <a:sym typeface="Wingdings" pitchFamily="2" charset="2"/>
              </a:rPr>
              <a:t>元碱 </a:t>
            </a:r>
            <a:r>
              <a:rPr lang="en-US" altLang="zh-CN" sz="3000" b="1" dirty="0">
                <a:solidFill>
                  <a:srgbClr val="002060"/>
                </a:solidFill>
                <a:sym typeface="Wingdings" pitchFamily="2" charset="2"/>
              </a:rPr>
              <a:t>	</a:t>
            </a:r>
            <a:r>
              <a:rPr lang="en-US" altLang="zh-CN" sz="3000" dirty="0">
                <a:solidFill>
                  <a:srgbClr val="002060"/>
                </a:solidFill>
                <a:sym typeface="Wingdings" pitchFamily="2" charset="2"/>
              </a:rPr>
              <a:t>n(H</a:t>
            </a:r>
            <a:r>
              <a:rPr lang="en-US" altLang="zh-CN" sz="3000" baseline="30000" dirty="0">
                <a:solidFill>
                  <a:srgbClr val="002060"/>
                </a:solidFill>
                <a:sym typeface="Wingdings" pitchFamily="2" charset="2"/>
              </a:rPr>
              <a:t>+</a:t>
            </a:r>
            <a:r>
              <a:rPr lang="en-US" altLang="zh-CN" sz="3000" dirty="0">
                <a:solidFill>
                  <a:srgbClr val="002060"/>
                </a:solidFill>
                <a:sym typeface="Wingdings" pitchFamily="2" charset="2"/>
              </a:rPr>
              <a:t>) = n(OH</a:t>
            </a:r>
            <a:r>
              <a:rPr lang="en-US" altLang="zh-CN" sz="3000" baseline="30000" dirty="0">
                <a:solidFill>
                  <a:srgbClr val="002060"/>
                </a:solidFill>
                <a:sym typeface="Wingdings" pitchFamily="2" charset="2"/>
              </a:rPr>
              <a:t>-</a:t>
            </a:r>
            <a:r>
              <a:rPr lang="en-US" altLang="zh-CN" sz="3000" dirty="0">
                <a:solidFill>
                  <a:srgbClr val="002060"/>
                </a:solidFill>
                <a:sym typeface="Wingdings" pitchFamily="2" charset="2"/>
              </a:rPr>
              <a:t>)</a:t>
            </a:r>
            <a:endParaRPr lang="en-US" altLang="zh-CN" sz="3000" b="1" dirty="0">
              <a:solidFill>
                <a:srgbClr val="002060"/>
              </a:solidFill>
              <a:sym typeface="Wingdings" pitchFamily="2" charset="2"/>
            </a:endParaRPr>
          </a:p>
          <a:p>
            <a:pPr marL="514350" indent="-514350">
              <a:spcBef>
                <a:spcPts val="0"/>
              </a:spcBef>
              <a:buNone/>
            </a:pPr>
            <a:r>
              <a:rPr lang="en-US" altLang="zh-CN" sz="3000" dirty="0">
                <a:solidFill>
                  <a:srgbClr val="002060"/>
                </a:solidFill>
                <a:sym typeface="Wingdings" pitchFamily="2" charset="2"/>
              </a:rPr>
              <a:t>					</a:t>
            </a:r>
            <a:r>
              <a:rPr lang="el-GR" altLang="zh-CN" sz="3000" dirty="0">
                <a:solidFill>
                  <a:srgbClr val="002060"/>
                </a:solidFill>
                <a:sym typeface="Wingdings" pitchFamily="2" charset="2"/>
              </a:rPr>
              <a:t>χ</a:t>
            </a:r>
            <a:r>
              <a:rPr lang="en-US" altLang="zh-CN" sz="3000" dirty="0">
                <a:solidFill>
                  <a:srgbClr val="002060"/>
                </a:solidFill>
                <a:sym typeface="Wingdings" pitchFamily="2" charset="2"/>
              </a:rPr>
              <a:t> c</a:t>
            </a:r>
            <a:r>
              <a:rPr lang="en-US" altLang="zh-CN" sz="3000" baseline="-25000" dirty="0">
                <a:solidFill>
                  <a:srgbClr val="002060"/>
                </a:solidFill>
                <a:sym typeface="Wingdings" pitchFamily="2" charset="2"/>
              </a:rPr>
              <a:t>a </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V</a:t>
            </a:r>
            <a:r>
              <a:rPr lang="en-US" altLang="zh-CN" sz="3000" baseline="-25000" dirty="0" err="1">
                <a:solidFill>
                  <a:srgbClr val="002060"/>
                </a:solidFill>
                <a:sym typeface="Wingdings" pitchFamily="2" charset="2"/>
              </a:rPr>
              <a:t>a</a:t>
            </a:r>
            <a:r>
              <a:rPr lang="en-US" altLang="zh-CN" sz="3000" dirty="0">
                <a:solidFill>
                  <a:srgbClr val="002060"/>
                </a:solidFill>
                <a:sym typeface="Wingdings" pitchFamily="2" charset="2"/>
              </a:rPr>
              <a:t> = y </a:t>
            </a:r>
            <a:r>
              <a:rPr lang="en-US" altLang="zh-CN" sz="3000" dirty="0" err="1">
                <a:solidFill>
                  <a:srgbClr val="002060"/>
                </a:solidFill>
                <a:sym typeface="Wingdings" pitchFamily="2" charset="2"/>
              </a:rPr>
              <a:t>c</a:t>
            </a:r>
            <a:r>
              <a:rPr lang="en-US" altLang="zh-CN" sz="3000" baseline="-25000" dirty="0" err="1">
                <a:solidFill>
                  <a:srgbClr val="002060"/>
                </a:solidFill>
                <a:sym typeface="Wingdings" pitchFamily="2" charset="2"/>
              </a:rPr>
              <a:t>b</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V</a:t>
            </a:r>
            <a:r>
              <a:rPr lang="en-US" altLang="zh-CN" sz="3000" baseline="-25000" dirty="0" err="1">
                <a:solidFill>
                  <a:srgbClr val="002060"/>
                </a:solidFill>
                <a:sym typeface="Wingdings" pitchFamily="2" charset="2"/>
              </a:rPr>
              <a:t>b</a:t>
            </a:r>
            <a:endParaRPr lang="en-US" altLang="zh-CN" sz="3000" b="1" dirty="0">
              <a:solidFill>
                <a:srgbClr val="002060"/>
              </a:solidFill>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graphicFrame>
        <p:nvGraphicFramePr>
          <p:cNvPr id="5" name="Object 4"/>
          <p:cNvGraphicFramePr>
            <a:graphicFrameLocks noChangeAspect="1"/>
          </p:cNvGraphicFramePr>
          <p:nvPr/>
        </p:nvGraphicFramePr>
        <p:xfrm>
          <a:off x="3962400" y="3276600"/>
          <a:ext cx="2209800" cy="990600"/>
        </p:xfrm>
        <a:graphic>
          <a:graphicData uri="http://schemas.openxmlformats.org/presentationml/2006/ole">
            <mc:AlternateContent xmlns:mc="http://schemas.openxmlformats.org/markup-compatibility/2006">
              <mc:Choice xmlns:v="urn:schemas-microsoft-com:vml" Requires="v">
                <p:oleObj spid="_x0000_s115713" name="Equation" r:id="rId3" imgW="761760" imgH="393480" progId="Equation.3">
                  <p:embed/>
                </p:oleObj>
              </mc:Choice>
              <mc:Fallback>
                <p:oleObj name="Equation" r:id="rId3" imgW="761760" imgH="39348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3276600"/>
                        <a:ext cx="22098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23.4.1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酸碱指示剂的变色原理</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zh-CN" altLang="en-US" sz="3000" dirty="0">
                <a:sym typeface="Wingdings" pitchFamily="2" charset="2"/>
              </a:rPr>
              <a:t>酸碱指示剂一般是有机弱酸或弱碱。</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变色原理：分子与离子的结构和颜色不同。</a:t>
            </a:r>
            <a:endParaRPr lang="en-US" altLang="zh-CN" sz="3000" dirty="0">
              <a:sym typeface="Wingdings" pitchFamily="2" charset="2"/>
            </a:endParaRPr>
          </a:p>
          <a:p>
            <a:pPr marL="514350" indent="-514350">
              <a:spcBef>
                <a:spcPts val="0"/>
              </a:spcBef>
              <a:buNone/>
            </a:pPr>
            <a:r>
              <a:rPr lang="zh-CN" altLang="en-US" sz="3000" dirty="0">
                <a:sym typeface="Wingdings" pitchFamily="2" charset="2"/>
              </a:rPr>
              <a:t>例：石蕊</a:t>
            </a:r>
            <a:r>
              <a:rPr lang="en-US" altLang="zh-CN" sz="3000" dirty="0">
                <a:sym typeface="Wingdings" pitchFamily="2" charset="2"/>
              </a:rPr>
              <a:t>(</a:t>
            </a:r>
            <a:r>
              <a:rPr lang="en-US" altLang="zh-CN" sz="3000" dirty="0" err="1">
                <a:sym typeface="Wingdings" pitchFamily="2" charset="2"/>
              </a:rPr>
              <a:t>HIn</a:t>
            </a:r>
            <a:r>
              <a:rPr lang="en-US" altLang="zh-CN" sz="3000" dirty="0">
                <a:sym typeface="Wingdings" pitchFamily="2" charset="2"/>
              </a:rPr>
              <a:t>) </a:t>
            </a:r>
            <a:r>
              <a:rPr lang="zh-CN" altLang="en-US" sz="3000" dirty="0">
                <a:sym typeface="Wingdings" pitchFamily="2" charset="2"/>
              </a:rPr>
              <a:t>是一种有机弱酸</a:t>
            </a:r>
            <a:endParaRPr lang="en-US" altLang="zh-CN" sz="3000" dirty="0">
              <a:sym typeface="Wingdings" pitchFamily="2" charset="2"/>
            </a:endParaRPr>
          </a:p>
          <a:p>
            <a:pPr marL="514350" indent="-514350">
              <a:spcBef>
                <a:spcPts val="0"/>
              </a:spcBef>
              <a:buNone/>
            </a:pPr>
            <a:r>
              <a:rPr lang="en-US" altLang="zh-CN" sz="3000" dirty="0">
                <a:sym typeface="Wingdings" pitchFamily="2" charset="2"/>
              </a:rPr>
              <a:t>			</a:t>
            </a:r>
            <a:r>
              <a:rPr lang="en-US" altLang="zh-CN" sz="3000" dirty="0" err="1">
                <a:sym typeface="Wingdings" pitchFamily="2" charset="2"/>
              </a:rPr>
              <a:t>HIn</a:t>
            </a:r>
            <a:r>
              <a:rPr lang="en-US" altLang="zh-CN" sz="3000" dirty="0">
                <a:sym typeface="Wingdings" pitchFamily="2" charset="2"/>
              </a:rPr>
              <a:t>  &lt;--&gt; H</a:t>
            </a:r>
            <a:r>
              <a:rPr lang="en-US" altLang="zh-CN" sz="3000" baseline="30000" dirty="0">
                <a:sym typeface="Wingdings" pitchFamily="2" charset="2"/>
              </a:rPr>
              <a:t>+</a:t>
            </a:r>
            <a:r>
              <a:rPr lang="en-US" altLang="zh-CN" sz="3000" dirty="0">
                <a:sym typeface="Wingdings" pitchFamily="2" charset="2"/>
              </a:rPr>
              <a:t> +  In</a:t>
            </a:r>
            <a:r>
              <a:rPr lang="en-US" altLang="zh-CN" sz="3000" baseline="30000" dirty="0">
                <a:sym typeface="Wingdings" pitchFamily="2" charset="2"/>
              </a:rPr>
              <a:t>-</a:t>
            </a:r>
            <a:r>
              <a:rPr lang="en-US" altLang="zh-CN" sz="3000" dirty="0">
                <a:sym typeface="Wingdings" pitchFamily="2" charset="2"/>
              </a:rPr>
              <a:t> </a:t>
            </a:r>
          </a:p>
          <a:p>
            <a:pPr marL="514350" indent="-514350">
              <a:spcBef>
                <a:spcPts val="0"/>
              </a:spcBef>
              <a:buNone/>
            </a:pPr>
            <a:r>
              <a:rPr lang="en-US" altLang="zh-CN" sz="3000" dirty="0">
                <a:sym typeface="Wingdings" pitchFamily="2" charset="2"/>
              </a:rPr>
              <a:t>			</a:t>
            </a:r>
            <a:r>
              <a:rPr lang="zh-CN" altLang="en-US" sz="3000" dirty="0">
                <a:sym typeface="Wingdings" pitchFamily="2" charset="2"/>
              </a:rPr>
              <a:t>红色</a:t>
            </a:r>
            <a:r>
              <a:rPr lang="en-US" altLang="zh-CN" sz="3000" dirty="0">
                <a:sym typeface="Wingdings" pitchFamily="2" charset="2"/>
              </a:rPr>
              <a:t>		    </a:t>
            </a:r>
            <a:r>
              <a:rPr lang="zh-CN" altLang="en-US" sz="3000" dirty="0">
                <a:sym typeface="Wingdings" pitchFamily="2" charset="2"/>
              </a:rPr>
              <a:t>蓝色</a:t>
            </a:r>
            <a:endParaRPr lang="en-US" altLang="zh-CN" sz="3000" dirty="0">
              <a:sym typeface="Wingdings" pitchFamily="2" charset="2"/>
            </a:endParaRPr>
          </a:p>
          <a:p>
            <a:pPr marL="514350" indent="-514350">
              <a:spcBef>
                <a:spcPts val="0"/>
              </a:spcBef>
              <a:buNone/>
            </a:pPr>
            <a:r>
              <a:rPr lang="zh-CN" altLang="en-US" sz="3000" dirty="0">
                <a:sym typeface="Wingdings" pitchFamily="2" charset="2"/>
              </a:rPr>
              <a:t>酸性溶液中，</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增加，平衡将向逆反应方向进行，</a:t>
            </a:r>
            <a:endParaRPr lang="en-US" altLang="zh-CN" sz="3000" dirty="0">
              <a:sym typeface="Wingdings" pitchFamily="2" charset="2"/>
            </a:endParaRPr>
          </a:p>
          <a:p>
            <a:pPr marL="514350" indent="-514350">
              <a:spcBef>
                <a:spcPts val="0"/>
              </a:spcBef>
              <a:buNone/>
            </a:pPr>
            <a:r>
              <a:rPr lang="zh-CN" altLang="en-US" sz="3000" dirty="0">
                <a:sym typeface="Wingdings" pitchFamily="2" charset="2"/>
              </a:rPr>
              <a:t>因此溶液呈红色。</a:t>
            </a:r>
            <a:endParaRPr lang="en-US" altLang="zh-CN" sz="3000" dirty="0">
              <a:sym typeface="Wingdings" pitchFamily="2" charset="2"/>
            </a:endParaRPr>
          </a:p>
          <a:p>
            <a:pPr marL="514350" indent="-514350">
              <a:spcBef>
                <a:spcPts val="0"/>
              </a:spcBef>
              <a:buNone/>
            </a:pPr>
            <a:r>
              <a:rPr lang="zh-CN" altLang="en-US" sz="3000" dirty="0">
                <a:sym typeface="Wingdings" pitchFamily="2" charset="2"/>
              </a:rPr>
              <a:t>碱性溶液中，</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a:t>
            </a:r>
            <a:r>
              <a:rPr lang="zh-CN" altLang="en-US" sz="3000" dirty="0">
                <a:sym typeface="Wingdings" pitchFamily="2" charset="2"/>
              </a:rPr>
              <a:t>增加，</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与</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结合成水，</a:t>
            </a:r>
            <a:endParaRPr lang="en-US" altLang="zh-CN" sz="3000" dirty="0">
              <a:sym typeface="Wingdings" pitchFamily="2" charset="2"/>
            </a:endParaRPr>
          </a:p>
          <a:p>
            <a:pPr marL="514350" indent="-514350">
              <a:spcBef>
                <a:spcPts val="0"/>
              </a:spcBef>
              <a:buNone/>
            </a:pPr>
            <a:r>
              <a:rPr lang="zh-CN" altLang="en-US" sz="3000" dirty="0">
                <a:sym typeface="Wingdings" pitchFamily="2" charset="2"/>
              </a:rPr>
              <a:t>使得</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减少，平衡将向正反应方向进行，</a:t>
            </a:r>
            <a:endParaRPr lang="en-US" altLang="zh-CN" sz="3000" dirty="0">
              <a:sym typeface="Wingdings" pitchFamily="2" charset="2"/>
            </a:endParaRPr>
          </a:p>
          <a:p>
            <a:pPr marL="514350" indent="-514350">
              <a:spcBef>
                <a:spcPts val="0"/>
              </a:spcBef>
              <a:buNone/>
            </a:pPr>
            <a:r>
              <a:rPr lang="zh-CN" altLang="en-US" sz="3000" dirty="0">
                <a:sym typeface="Wingdings" pitchFamily="2" charset="2"/>
              </a:rPr>
              <a:t>因此溶液呈蓝色。</a:t>
            </a:r>
            <a:endParaRPr lang="en-US" altLang="zh-CN" sz="3000" dirty="0">
              <a:sym typeface="Wingdings" pitchFamily="2" charset="2"/>
            </a:endParaRPr>
          </a:p>
          <a:p>
            <a:pPr marL="514350" indent="-514350">
              <a:spcBef>
                <a:spcPts val="0"/>
              </a:spcBef>
              <a:buNone/>
            </a:pPr>
            <a:r>
              <a:rPr lang="zh-CN" altLang="en-US" sz="3000" dirty="0">
                <a:sym typeface="Wingdings" pitchFamily="2" charset="2"/>
              </a:rPr>
              <a:t>如果</a:t>
            </a:r>
            <a:r>
              <a:rPr lang="en-US" altLang="zh-CN" sz="3000" dirty="0">
                <a:sym typeface="Wingdings" pitchFamily="2" charset="2"/>
              </a:rPr>
              <a:t>[</a:t>
            </a:r>
            <a:r>
              <a:rPr lang="en-US" altLang="zh-CN" sz="3000" dirty="0" err="1">
                <a:sym typeface="Wingdings" pitchFamily="2" charset="2"/>
              </a:rPr>
              <a:t>HIn</a:t>
            </a:r>
            <a:r>
              <a:rPr lang="en-US" altLang="zh-CN" sz="3000" dirty="0">
                <a:sym typeface="Wingdings" pitchFamily="2" charset="2"/>
              </a:rPr>
              <a:t> ]=[In</a:t>
            </a:r>
            <a:r>
              <a:rPr lang="en-US" altLang="zh-CN" sz="3000" baseline="30000" dirty="0">
                <a:sym typeface="Wingdings" pitchFamily="2" charset="2"/>
              </a:rPr>
              <a:t>- </a:t>
            </a:r>
            <a:r>
              <a:rPr lang="en-US" altLang="zh-CN" sz="3000" dirty="0">
                <a:sym typeface="Wingdings" pitchFamily="2" charset="2"/>
              </a:rPr>
              <a:t>] </a:t>
            </a:r>
            <a:r>
              <a:rPr lang="zh-CN" altLang="en-US" sz="3000" dirty="0">
                <a:sym typeface="Wingdings" pitchFamily="2" charset="2"/>
              </a:rPr>
              <a:t>，溶液呈紫色。</a:t>
            </a: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sp>
        <p:nvSpPr>
          <p:cNvPr id="5" name="Rounded Rectangle 4"/>
          <p:cNvSpPr/>
          <p:nvPr/>
        </p:nvSpPr>
        <p:spPr>
          <a:xfrm>
            <a:off x="3276600" y="3352800"/>
            <a:ext cx="8382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Rounded Rectangle 5"/>
          <p:cNvSpPr/>
          <p:nvPr/>
        </p:nvSpPr>
        <p:spPr>
          <a:xfrm>
            <a:off x="6019800" y="3352800"/>
            <a:ext cx="11430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 name="Rounded Rectangle 6"/>
          <p:cNvSpPr/>
          <p:nvPr/>
        </p:nvSpPr>
        <p:spPr>
          <a:xfrm>
            <a:off x="1828800" y="4648200"/>
            <a:ext cx="8382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8" name="Rounded Rectangle 7"/>
          <p:cNvSpPr/>
          <p:nvPr/>
        </p:nvSpPr>
        <p:spPr>
          <a:xfrm>
            <a:off x="4495800" y="4648200"/>
            <a:ext cx="1143000" cy="45720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1"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5"/>
                                        </p:tgtEl>
                                      </p:cBhvr>
                                    </p:animEffect>
                                    <p:set>
                                      <p:cBhvr>
                                        <p:cTn id="37" dur="1" fill="hold">
                                          <p:stCondLst>
                                            <p:cond delay="499"/>
                                          </p:stCondLst>
                                        </p:cTn>
                                        <p:tgtEl>
                                          <p:spTgt spid="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0" nodeType="clickEffect">
                                  <p:stCondLst>
                                    <p:cond delay="0"/>
                                  </p:stCondLst>
                                  <p:childTnLst>
                                    <p:animEffect transition="out" filter="blinds(horizontal)">
                                      <p:cBhvr>
                                        <p:cTn id="41" dur="500"/>
                                        <p:tgtEl>
                                          <p:spTgt spid="6"/>
                                        </p:tgtEl>
                                      </p:cBhvr>
                                    </p:animEffect>
                                    <p:set>
                                      <p:cBhvr>
                                        <p:cTn id="42" dur="1" fill="hold">
                                          <p:stCondLst>
                                            <p:cond delay="499"/>
                                          </p:stCondLst>
                                        </p:cTn>
                                        <p:tgtEl>
                                          <p:spTgt spid="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1"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1"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1"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blinds(horizontal)">
                                      <p:cBhvr>
                                        <p:cTn id="57" dur="500"/>
                                        <p:tgtEl>
                                          <p:spTgt spid="3">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grpId="0" nodeType="clickEffect">
                                  <p:stCondLst>
                                    <p:cond delay="0"/>
                                  </p:stCondLst>
                                  <p:childTnLst>
                                    <p:animEffect transition="out" filter="blinds(horizontal)">
                                      <p:cBhvr>
                                        <p:cTn id="61" dur="500"/>
                                        <p:tgtEl>
                                          <p:spTgt spid="7"/>
                                        </p:tgtEl>
                                      </p:cBhvr>
                                    </p:animEffect>
                                    <p:set>
                                      <p:cBhvr>
                                        <p:cTn id="62" dur="1" fill="hold">
                                          <p:stCondLst>
                                            <p:cond delay="499"/>
                                          </p:stCondLst>
                                        </p:cTn>
                                        <p:tgtEl>
                                          <p:spTgt spid="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0" nodeType="clickEffect">
                                  <p:stCondLst>
                                    <p:cond delay="0"/>
                                  </p:stCondLst>
                                  <p:childTnLst>
                                    <p:animEffect transition="out" filter="blinds(horizontal)">
                                      <p:cBhvr>
                                        <p:cTn id="66" dur="500"/>
                                        <p:tgtEl>
                                          <p:spTgt spid="8"/>
                                        </p:tgtEl>
                                      </p:cBhvr>
                                    </p:animEffect>
                                    <p:set>
                                      <p:cBhvr>
                                        <p:cTn id="67" dur="1" fill="hold">
                                          <p:stCondLst>
                                            <p:cond delay="499"/>
                                          </p:stCondLst>
                                        </p:cTn>
                                        <p:tgtEl>
                                          <p:spTgt spid="8"/>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1" nodeType="clickEffect">
                                  <p:stCondLst>
                                    <p:cond delay="0"/>
                                  </p:stCondLst>
                                  <p:childTnLst>
                                    <p:set>
                                      <p:cBhvr>
                                        <p:cTn id="71" dur="1" fill="hold">
                                          <p:stCondLst>
                                            <p:cond delay="0"/>
                                          </p:stCondLst>
                                        </p:cTn>
                                        <p:tgtEl>
                                          <p:spTgt spid="3">
                                            <p:txEl>
                                              <p:pRg st="9" end="9"/>
                                            </p:txEl>
                                          </p:spTgt>
                                        </p:tgtEl>
                                        <p:attrNameLst>
                                          <p:attrName>style.visibility</p:attrName>
                                        </p:attrNameLst>
                                      </p:cBhvr>
                                      <p:to>
                                        <p:strVal val="visible"/>
                                      </p:to>
                                    </p:set>
                                    <p:animEffect transition="in" filter="blinds(horizontal)">
                                      <p:cBhvr>
                                        <p:cTn id="72" dur="500"/>
                                        <p:tgtEl>
                                          <p:spTgt spid="3">
                                            <p:txEl>
                                              <p:pRg st="9" end="9"/>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1"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blinds(horizontal)">
                                      <p:cBhvr>
                                        <p:cTn id="7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build="p"/>
      <p:bldP spid="5" grpId="0" animBg="1"/>
      <p:bldP spid="6" grpId="0" animBg="1"/>
      <p:bldP spid="7" grpId="0" animBg="1"/>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23.4.1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酸碱指示剂的变色原理</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Font typeface="Wingdings" pitchFamily="2" charset="2"/>
              <a:buChar char="Ø"/>
            </a:pPr>
            <a:r>
              <a:rPr lang="zh-CN" altLang="en-US" sz="3000" dirty="0">
                <a:sym typeface="Wingdings" pitchFamily="2" charset="2"/>
              </a:rPr>
              <a:t>酸碱指示剂的变色范围</a:t>
            </a:r>
            <a:endParaRPr lang="en-US" altLang="zh-CN" sz="3000" dirty="0">
              <a:sym typeface="Wingdings" pitchFamily="2" charset="2"/>
            </a:endParaRPr>
          </a:p>
          <a:p>
            <a:pPr>
              <a:spcBef>
                <a:spcPts val="0"/>
              </a:spcBef>
              <a:buFont typeface="Wingdings" pitchFamily="2" charset="2"/>
              <a:buChar char="Ø"/>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pic>
        <p:nvPicPr>
          <p:cNvPr id="9" name="Picture 8" descr="09.jpg"/>
          <p:cNvPicPr>
            <a:picLocks noChangeAspect="1"/>
          </p:cNvPicPr>
          <p:nvPr/>
        </p:nvPicPr>
        <p:blipFill>
          <a:blip r:embed="rId3"/>
          <a:stretch>
            <a:fillRect/>
          </a:stretch>
        </p:blipFill>
        <p:spPr>
          <a:xfrm>
            <a:off x="304800" y="1600200"/>
            <a:ext cx="8686801" cy="388620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滴定曲线</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2800" dirty="0">
                <a:sym typeface="Wingdings" pitchFamily="2" charset="2"/>
              </a:rPr>
              <a:t>强酸强碱的滴定</a:t>
            </a:r>
            <a:endParaRPr lang="en-US" altLang="zh-CN" sz="2800" dirty="0">
              <a:sym typeface="Wingdings" pitchFamily="2" charset="2"/>
            </a:endParaRPr>
          </a:p>
          <a:p>
            <a:pPr>
              <a:spcBef>
                <a:spcPts val="0"/>
              </a:spcBef>
              <a:buNone/>
            </a:pPr>
            <a:r>
              <a:rPr lang="zh-CN" altLang="en-US" sz="2800" dirty="0">
                <a:sym typeface="Wingdings" pitchFamily="2" charset="2"/>
              </a:rPr>
              <a:t>活动</a:t>
            </a:r>
            <a:r>
              <a:rPr lang="en-US" altLang="zh-CN" sz="2800" dirty="0">
                <a:sym typeface="Wingdings" pitchFamily="2" charset="2"/>
              </a:rPr>
              <a:t>2pg264  </a:t>
            </a:r>
            <a:r>
              <a:rPr lang="zh-CN" altLang="en-US" sz="2800" dirty="0">
                <a:sym typeface="Wingdings" pitchFamily="2" charset="2"/>
              </a:rPr>
              <a:t>问题解决</a:t>
            </a:r>
            <a:r>
              <a:rPr lang="en-US" altLang="zh-CN" sz="2800" dirty="0">
                <a:sym typeface="Wingdings" pitchFamily="2" charset="2"/>
              </a:rPr>
              <a:t>pg265  </a:t>
            </a:r>
            <a:r>
              <a:rPr lang="zh-CN" altLang="en-US" sz="2800" dirty="0">
                <a:sym typeface="Wingdings" pitchFamily="2" charset="2"/>
              </a:rPr>
              <a:t>答案</a:t>
            </a:r>
            <a:r>
              <a:rPr lang="en-US" altLang="zh-CN" sz="2800" dirty="0">
                <a:sym typeface="Wingdings" pitchFamily="2" charset="2"/>
              </a:rPr>
              <a:t>pg266</a:t>
            </a:r>
          </a:p>
          <a:p>
            <a:pPr>
              <a:spcBef>
                <a:spcPts val="0"/>
              </a:spcBef>
              <a:buFont typeface="Wingdings" pitchFamily="2" charset="2"/>
              <a:buChar char="Ø"/>
            </a:pPr>
            <a:r>
              <a:rPr lang="en-US" altLang="zh-CN" sz="2800" dirty="0">
                <a:sym typeface="Wingdings" pitchFamily="2" charset="2"/>
              </a:rPr>
              <a:t>0.1M </a:t>
            </a:r>
            <a:r>
              <a:rPr lang="en-US" altLang="zh-CN" sz="2800" dirty="0" err="1">
                <a:sym typeface="Wingdings" pitchFamily="2" charset="2"/>
              </a:rPr>
              <a:t>HCl</a:t>
            </a:r>
            <a:r>
              <a:rPr lang="en-US" altLang="zh-CN" sz="2800" dirty="0">
                <a:sym typeface="Wingdings" pitchFamily="2" charset="2"/>
              </a:rPr>
              <a:t> 25mL </a:t>
            </a:r>
            <a:r>
              <a:rPr lang="zh-CN" altLang="en-US" sz="2800" dirty="0">
                <a:sym typeface="Wingdings" pitchFamily="2" charset="2"/>
              </a:rPr>
              <a:t>与 </a:t>
            </a:r>
            <a:r>
              <a:rPr lang="en-US" altLang="zh-CN" sz="2800" dirty="0">
                <a:sym typeface="Wingdings" pitchFamily="2" charset="2"/>
              </a:rPr>
              <a:t>0.1M </a:t>
            </a:r>
            <a:r>
              <a:rPr lang="en-US" altLang="zh-CN" sz="2800" dirty="0" err="1">
                <a:sym typeface="Wingdings" pitchFamily="2" charset="2"/>
              </a:rPr>
              <a:t>NaOH</a:t>
            </a:r>
            <a:r>
              <a:rPr lang="en-US" altLang="zh-CN" sz="2800" dirty="0">
                <a:sym typeface="Wingdings" pitchFamily="2" charset="2"/>
              </a:rPr>
              <a:t> </a:t>
            </a:r>
            <a:r>
              <a:rPr lang="zh-CN" altLang="en-US" sz="2800" dirty="0">
                <a:sym typeface="Wingdings" pitchFamily="2" charset="2"/>
              </a:rPr>
              <a:t>滴定</a:t>
            </a:r>
            <a:endParaRPr lang="en-US" altLang="zh-CN" sz="2800" dirty="0">
              <a:sym typeface="Wingdings" pitchFamily="2" charset="2"/>
            </a:endParaRPr>
          </a:p>
          <a:p>
            <a:pPr>
              <a:spcBef>
                <a:spcPts val="0"/>
              </a:spcBef>
              <a:buFont typeface="Wingdings" pitchFamily="2" charset="2"/>
              <a:buChar char="Ø"/>
            </a:pPr>
            <a:r>
              <a:rPr lang="zh-CN" altLang="en-US" sz="2800" dirty="0">
                <a:sym typeface="Wingdings" pitchFamily="2" charset="2"/>
              </a:rPr>
              <a:t>当加入</a:t>
            </a:r>
            <a:r>
              <a:rPr lang="en-US" altLang="zh-CN" sz="2800" dirty="0">
                <a:sym typeface="Wingdings" pitchFamily="2" charset="2"/>
              </a:rPr>
              <a:t>5mL 0.1M </a:t>
            </a:r>
            <a:r>
              <a:rPr lang="en-US" altLang="zh-CN" sz="2800" dirty="0" err="1">
                <a:sym typeface="Wingdings" pitchFamily="2" charset="2"/>
              </a:rPr>
              <a:t>NaOH</a:t>
            </a:r>
            <a:r>
              <a:rPr lang="zh-CN" altLang="en-US" sz="2800" dirty="0">
                <a:sym typeface="Wingdings" pitchFamily="2" charset="2"/>
              </a:rPr>
              <a:t>时</a:t>
            </a:r>
            <a:r>
              <a:rPr lang="en-US" altLang="zh-CN" sz="2800" dirty="0">
                <a:sym typeface="Wingdings" pitchFamily="2" charset="2"/>
              </a:rPr>
              <a:t>,</a:t>
            </a:r>
            <a:r>
              <a:rPr lang="zh-CN" altLang="en-US" sz="2800" dirty="0">
                <a:sym typeface="Wingdings" pitchFamily="2" charset="2"/>
              </a:rPr>
              <a:t>酸过量</a:t>
            </a:r>
            <a:r>
              <a:rPr lang="en-US" altLang="zh-CN" sz="2800" dirty="0">
                <a:sym typeface="Wingdings" pitchFamily="2" charset="2"/>
              </a:rPr>
              <a:t> [H</a:t>
            </a:r>
            <a:r>
              <a:rPr lang="en-US" altLang="zh-CN" sz="2800" baseline="30000" dirty="0">
                <a:sym typeface="Wingdings" pitchFamily="2" charset="2"/>
              </a:rPr>
              <a:t>+</a:t>
            </a:r>
            <a:r>
              <a:rPr lang="en-US" altLang="zh-CN" sz="2800" dirty="0">
                <a:sym typeface="Wingdings" pitchFamily="2" charset="2"/>
              </a:rPr>
              <a:t>]=</a:t>
            </a:r>
          </a:p>
          <a:p>
            <a:pPr>
              <a:spcBef>
                <a:spcPts val="0"/>
              </a:spcBef>
              <a:buNone/>
            </a:pPr>
            <a:r>
              <a:rPr lang="en-US" altLang="zh-CN" sz="2800" dirty="0">
                <a:sym typeface="Wingdings" pitchFamily="2" charset="2"/>
              </a:rPr>
              <a:t>	</a:t>
            </a:r>
            <a:r>
              <a:rPr lang="zh-CN" altLang="en-US" sz="2800" dirty="0">
                <a:sym typeface="Wingdings" pitchFamily="2" charset="2"/>
              </a:rPr>
              <a:t>此时</a:t>
            </a:r>
            <a:r>
              <a:rPr lang="en-US" altLang="zh-CN" sz="2800" dirty="0">
                <a:sym typeface="Wingdings" pitchFamily="2" charset="2"/>
              </a:rPr>
              <a:t>pH = -log 0.067 = 1.18 </a:t>
            </a:r>
          </a:p>
          <a:p>
            <a:pPr>
              <a:spcBef>
                <a:spcPts val="0"/>
              </a:spcBef>
              <a:buFont typeface="Wingdings" pitchFamily="2" charset="2"/>
              <a:buChar char="Ø"/>
            </a:pPr>
            <a:r>
              <a:rPr lang="zh-CN" altLang="en-US" sz="2800" dirty="0">
                <a:sym typeface="Wingdings" pitchFamily="2" charset="2"/>
              </a:rPr>
              <a:t>当加入</a:t>
            </a:r>
            <a:r>
              <a:rPr lang="en-US" altLang="zh-CN" sz="2800" dirty="0">
                <a:sym typeface="Wingdings" pitchFamily="2" charset="2"/>
              </a:rPr>
              <a:t>25.05mL 0.1M </a:t>
            </a:r>
            <a:r>
              <a:rPr lang="en-US" altLang="zh-CN" sz="2800" dirty="0" err="1">
                <a:sym typeface="Wingdings" pitchFamily="2" charset="2"/>
              </a:rPr>
              <a:t>NaOH</a:t>
            </a:r>
            <a:r>
              <a:rPr lang="zh-CN" altLang="en-US" sz="2800" dirty="0">
                <a:sym typeface="Wingdings" pitchFamily="2" charset="2"/>
              </a:rPr>
              <a:t>时</a:t>
            </a:r>
            <a:r>
              <a:rPr lang="en-US" altLang="zh-CN" sz="2800" dirty="0">
                <a:sym typeface="Wingdings" pitchFamily="2" charset="2"/>
              </a:rPr>
              <a:t>,</a:t>
            </a:r>
            <a:r>
              <a:rPr lang="zh-CN" altLang="en-US" sz="2800" dirty="0">
                <a:sym typeface="Wingdings" pitchFamily="2" charset="2"/>
              </a:rPr>
              <a:t>碱过量</a:t>
            </a:r>
            <a:r>
              <a:rPr lang="en-US" altLang="zh-CN" sz="2800" dirty="0">
                <a:sym typeface="Wingdings" pitchFamily="2" charset="2"/>
              </a:rPr>
              <a:t> [OH</a:t>
            </a:r>
            <a:r>
              <a:rPr lang="en-US" altLang="zh-CN" sz="2800" baseline="30000" dirty="0">
                <a:sym typeface="Wingdings" pitchFamily="2" charset="2"/>
              </a:rPr>
              <a:t>-</a:t>
            </a:r>
            <a:r>
              <a:rPr lang="en-US" altLang="zh-CN" sz="2800" dirty="0">
                <a:sym typeface="Wingdings" pitchFamily="2" charset="2"/>
              </a:rPr>
              <a:t>]=</a:t>
            </a:r>
          </a:p>
          <a:p>
            <a:pPr>
              <a:spcBef>
                <a:spcPts val="0"/>
              </a:spcBef>
              <a:buNone/>
            </a:pPr>
            <a:r>
              <a:rPr lang="en-US" altLang="zh-CN" sz="2800" dirty="0">
                <a:sym typeface="Wingdings" pitchFamily="2" charset="2"/>
              </a:rPr>
              <a:t>	</a:t>
            </a:r>
            <a:r>
              <a:rPr lang="zh-CN" altLang="en-US" sz="2800" dirty="0">
                <a:sym typeface="Wingdings" pitchFamily="2" charset="2"/>
              </a:rPr>
              <a:t>此时</a:t>
            </a:r>
            <a:r>
              <a:rPr lang="en-US" altLang="zh-CN" sz="2800" dirty="0" err="1">
                <a:sym typeface="Wingdings" pitchFamily="2" charset="2"/>
              </a:rPr>
              <a:t>pOH</a:t>
            </a:r>
            <a:r>
              <a:rPr lang="en-US" altLang="zh-CN" sz="2800" dirty="0">
                <a:sym typeface="Wingdings" pitchFamily="2" charset="2"/>
              </a:rPr>
              <a:t> = -log 9.99x10</a:t>
            </a:r>
            <a:r>
              <a:rPr lang="en-US" altLang="zh-CN" sz="2800" baseline="30000" dirty="0">
                <a:sym typeface="Wingdings" pitchFamily="2" charset="2"/>
              </a:rPr>
              <a:t>-5</a:t>
            </a:r>
            <a:r>
              <a:rPr lang="en-US" altLang="zh-CN" sz="2800" dirty="0">
                <a:sym typeface="Wingdings" pitchFamily="2" charset="2"/>
              </a:rPr>
              <a:t>  = 4 </a:t>
            </a:r>
            <a:r>
              <a:rPr lang="zh-CN" altLang="en-US" sz="2800" dirty="0">
                <a:sym typeface="Wingdings" pitchFamily="2" charset="2"/>
              </a:rPr>
              <a:t>，</a:t>
            </a:r>
            <a:r>
              <a:rPr lang="en-US" altLang="zh-CN" sz="2800" dirty="0">
                <a:sym typeface="Wingdings" pitchFamily="2" charset="2"/>
              </a:rPr>
              <a:t> pH =10</a:t>
            </a:r>
          </a:p>
          <a:p>
            <a:pPr>
              <a:spcBef>
                <a:spcPts val="0"/>
              </a:spcBef>
              <a:buFont typeface="Wingdings" pitchFamily="2" charset="2"/>
              <a:buChar char="Ø"/>
            </a:pPr>
            <a:r>
              <a:rPr lang="zh-CN" altLang="en-US" sz="2800" dirty="0">
                <a:sym typeface="Wingdings" pitchFamily="2" charset="2"/>
              </a:rPr>
              <a:t>表</a:t>
            </a:r>
            <a:r>
              <a:rPr lang="en-US" altLang="zh-CN" sz="2800" dirty="0">
                <a:sym typeface="Wingdings" pitchFamily="2" charset="2"/>
              </a:rPr>
              <a:t>23-16</a:t>
            </a:r>
          </a:p>
          <a:p>
            <a:pPr marL="514350" indent="-514350">
              <a:spcBef>
                <a:spcPts val="0"/>
              </a:spcBef>
              <a:buNone/>
            </a:pPr>
            <a:endParaRPr lang="en-US" altLang="zh-CN" sz="2800" dirty="0">
              <a:sym typeface="Wingdings" pitchFamily="2" charset="2"/>
            </a:endParaRPr>
          </a:p>
          <a:p>
            <a:pPr marL="514350" indent="-514350">
              <a:spcBef>
                <a:spcPts val="0"/>
              </a:spcBef>
              <a:buNone/>
            </a:pPr>
            <a:endParaRPr lang="en-US" altLang="zh-CN" sz="2800" dirty="0">
              <a:sym typeface="Wingdings" pitchFamily="2" charset="2"/>
            </a:endParaRPr>
          </a:p>
          <a:p>
            <a:pPr marL="514350" indent="-514350">
              <a:spcBef>
                <a:spcPts val="0"/>
              </a:spcBef>
              <a:buNone/>
            </a:pPr>
            <a:endParaRPr lang="en-US" altLang="zh-CN" sz="2800" dirty="0">
              <a:sym typeface="Wingdings" pitchFamily="2" charset="2"/>
            </a:endParaRPr>
          </a:p>
          <a:p>
            <a:pPr marL="514350" indent="-514350">
              <a:spcBef>
                <a:spcPts val="0"/>
              </a:spcBef>
              <a:buNone/>
            </a:pPr>
            <a:endParaRPr lang="en-US" altLang="zh-CN" sz="2800" dirty="0">
              <a:sym typeface="Wingdings" pitchFamily="2" charset="2"/>
            </a:endParaRPr>
          </a:p>
        </p:txBody>
      </p:sp>
      <p:graphicFrame>
        <p:nvGraphicFramePr>
          <p:cNvPr id="5" name="Table 4"/>
          <p:cNvGraphicFramePr>
            <a:graphicFrameLocks noGrp="1"/>
          </p:cNvGraphicFramePr>
          <p:nvPr/>
        </p:nvGraphicFramePr>
        <p:xfrm>
          <a:off x="609600" y="4526280"/>
          <a:ext cx="7917183" cy="103632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902018">
                  <a:extLst>
                    <a:ext uri="{9D8B030D-6E8A-4147-A177-3AD203B41FA5}">
                      <a16:colId xmlns:a16="http://schemas.microsoft.com/office/drawing/2014/main" val="20002"/>
                    </a:ext>
                  </a:extLst>
                </a:gridCol>
                <a:gridCol w="1082993">
                  <a:extLst>
                    <a:ext uri="{9D8B030D-6E8A-4147-A177-3AD203B41FA5}">
                      <a16:colId xmlns:a16="http://schemas.microsoft.com/office/drawing/2014/main" val="20003"/>
                    </a:ext>
                  </a:extLst>
                </a:gridCol>
                <a:gridCol w="1082993">
                  <a:extLst>
                    <a:ext uri="{9D8B030D-6E8A-4147-A177-3AD203B41FA5}">
                      <a16:colId xmlns:a16="http://schemas.microsoft.com/office/drawing/2014/main" val="20004"/>
                    </a:ext>
                  </a:extLst>
                </a:gridCol>
                <a:gridCol w="1082993">
                  <a:extLst>
                    <a:ext uri="{9D8B030D-6E8A-4147-A177-3AD203B41FA5}">
                      <a16:colId xmlns:a16="http://schemas.microsoft.com/office/drawing/2014/main" val="20005"/>
                    </a:ext>
                  </a:extLst>
                </a:gridCol>
                <a:gridCol w="1082993">
                  <a:extLst>
                    <a:ext uri="{9D8B030D-6E8A-4147-A177-3AD203B41FA5}">
                      <a16:colId xmlns:a16="http://schemas.microsoft.com/office/drawing/2014/main" val="20006"/>
                    </a:ext>
                  </a:extLst>
                </a:gridCol>
                <a:gridCol w="1082993">
                  <a:extLst>
                    <a:ext uri="{9D8B030D-6E8A-4147-A177-3AD203B41FA5}">
                      <a16:colId xmlns:a16="http://schemas.microsoft.com/office/drawing/2014/main" val="20007"/>
                    </a:ext>
                  </a:extLst>
                </a:gridCol>
              </a:tblGrid>
              <a:tr h="370840">
                <a:tc>
                  <a:txBody>
                    <a:bodyPr/>
                    <a:lstStyle/>
                    <a:p>
                      <a:r>
                        <a:rPr lang="en-US" altLang="zh-CN" sz="2800" dirty="0" err="1"/>
                        <a:t>V</a:t>
                      </a:r>
                      <a:r>
                        <a:rPr lang="en-US" altLang="zh-CN" sz="2800" baseline="-25000" dirty="0" err="1"/>
                        <a:t>NaOH</a:t>
                      </a:r>
                      <a:endParaRPr lang="en-US" sz="2800" dirty="0"/>
                    </a:p>
                  </a:txBody>
                  <a:tcPr/>
                </a:tc>
                <a:tc>
                  <a:txBody>
                    <a:bodyPr/>
                    <a:lstStyle/>
                    <a:p>
                      <a:r>
                        <a:rPr lang="en-US" altLang="zh-CN" sz="2800" dirty="0"/>
                        <a:t>0</a:t>
                      </a:r>
                      <a:endParaRPr lang="en-US" sz="2800" dirty="0"/>
                    </a:p>
                  </a:txBody>
                  <a:tcPr/>
                </a:tc>
                <a:tc>
                  <a:txBody>
                    <a:bodyPr/>
                    <a:lstStyle/>
                    <a:p>
                      <a:r>
                        <a:rPr lang="en-US" altLang="zh-CN" sz="2800" dirty="0"/>
                        <a:t>5.00</a:t>
                      </a:r>
                      <a:endParaRPr lang="en-US" sz="2800" dirty="0"/>
                    </a:p>
                  </a:txBody>
                  <a:tcPr/>
                </a:tc>
                <a:tc>
                  <a:txBody>
                    <a:bodyPr/>
                    <a:lstStyle/>
                    <a:p>
                      <a:r>
                        <a:rPr lang="en-US" altLang="zh-CN" sz="2800" dirty="0"/>
                        <a:t>10.00</a:t>
                      </a:r>
                      <a:endParaRPr lang="en-US" sz="2800" dirty="0"/>
                    </a:p>
                  </a:txBody>
                  <a:tcPr/>
                </a:tc>
                <a:tc>
                  <a:txBody>
                    <a:bodyPr/>
                    <a:lstStyle/>
                    <a:p>
                      <a:r>
                        <a:rPr lang="en-US" altLang="zh-CN" sz="2800" dirty="0"/>
                        <a:t>15.00</a:t>
                      </a:r>
                      <a:endParaRPr lang="en-US" sz="2800" dirty="0"/>
                    </a:p>
                  </a:txBody>
                  <a:tcPr/>
                </a:tc>
                <a:tc>
                  <a:txBody>
                    <a:bodyPr/>
                    <a:lstStyle/>
                    <a:p>
                      <a:r>
                        <a:rPr lang="en-US" altLang="zh-CN" sz="2800" dirty="0"/>
                        <a:t>20.00</a:t>
                      </a:r>
                      <a:endParaRPr lang="en-US" sz="2800" dirty="0"/>
                    </a:p>
                  </a:txBody>
                  <a:tcPr/>
                </a:tc>
                <a:tc>
                  <a:txBody>
                    <a:bodyPr/>
                    <a:lstStyle/>
                    <a:p>
                      <a:r>
                        <a:rPr lang="en-US" altLang="zh-CN" sz="2800" dirty="0"/>
                        <a:t>24.00</a:t>
                      </a:r>
                      <a:endParaRPr lang="en-US" sz="2800" dirty="0"/>
                    </a:p>
                  </a:txBody>
                  <a:tcPr/>
                </a:tc>
                <a:tc>
                  <a:txBody>
                    <a:bodyPr/>
                    <a:lstStyle/>
                    <a:p>
                      <a:r>
                        <a:rPr lang="en-US" altLang="zh-CN" sz="2800" dirty="0"/>
                        <a:t>24.95</a:t>
                      </a:r>
                      <a:endParaRPr lang="en-US" sz="2800" dirty="0"/>
                    </a:p>
                  </a:txBody>
                  <a:tcPr/>
                </a:tc>
                <a:extLst>
                  <a:ext uri="{0D108BD9-81ED-4DB2-BD59-A6C34878D82A}">
                    <a16:rowId xmlns:a16="http://schemas.microsoft.com/office/drawing/2014/main" val="10000"/>
                  </a:ext>
                </a:extLst>
              </a:tr>
              <a:tr h="370840">
                <a:tc>
                  <a:txBody>
                    <a:bodyPr/>
                    <a:lstStyle/>
                    <a:p>
                      <a:r>
                        <a:rPr lang="en-US" altLang="zh-CN" sz="2800" dirty="0"/>
                        <a:t>pH</a:t>
                      </a:r>
                      <a:endParaRPr lang="en-US" sz="2800" dirty="0"/>
                    </a:p>
                  </a:txBody>
                  <a:tcPr/>
                </a:tc>
                <a:tc>
                  <a:txBody>
                    <a:bodyPr/>
                    <a:lstStyle/>
                    <a:p>
                      <a:r>
                        <a:rPr lang="en-US" altLang="zh-CN" sz="2800" dirty="0"/>
                        <a:t>1</a:t>
                      </a:r>
                      <a:endParaRPr lang="en-US" sz="2800" dirty="0"/>
                    </a:p>
                  </a:txBody>
                  <a:tcPr/>
                </a:tc>
                <a:tc>
                  <a:txBody>
                    <a:bodyPr/>
                    <a:lstStyle/>
                    <a:p>
                      <a:r>
                        <a:rPr lang="en-US" altLang="zh-CN" sz="2800" dirty="0"/>
                        <a:t>1.18</a:t>
                      </a:r>
                      <a:endParaRPr lang="en-US" sz="2800" dirty="0"/>
                    </a:p>
                  </a:txBody>
                  <a:tcPr/>
                </a:tc>
                <a:tc>
                  <a:txBody>
                    <a:bodyPr/>
                    <a:lstStyle/>
                    <a:p>
                      <a:r>
                        <a:rPr lang="en-US" altLang="zh-CN" sz="2800" dirty="0"/>
                        <a:t>1.37</a:t>
                      </a:r>
                      <a:endParaRPr lang="en-US" sz="2800" dirty="0"/>
                    </a:p>
                  </a:txBody>
                  <a:tcPr/>
                </a:tc>
                <a:tc>
                  <a:txBody>
                    <a:bodyPr/>
                    <a:lstStyle/>
                    <a:p>
                      <a:r>
                        <a:rPr lang="en-US" sz="2800" dirty="0"/>
                        <a:t>1.60</a:t>
                      </a:r>
                    </a:p>
                  </a:txBody>
                  <a:tcPr/>
                </a:tc>
                <a:tc>
                  <a:txBody>
                    <a:bodyPr/>
                    <a:lstStyle/>
                    <a:p>
                      <a:r>
                        <a:rPr lang="en-US" sz="2800" dirty="0"/>
                        <a:t>1.95</a:t>
                      </a:r>
                    </a:p>
                  </a:txBody>
                  <a:tcPr/>
                </a:tc>
                <a:tc>
                  <a:txBody>
                    <a:bodyPr/>
                    <a:lstStyle/>
                    <a:p>
                      <a:r>
                        <a:rPr lang="en-US" sz="2800" dirty="0"/>
                        <a:t>2.69</a:t>
                      </a:r>
                    </a:p>
                  </a:txBody>
                  <a:tcPr/>
                </a:tc>
                <a:tc>
                  <a:txBody>
                    <a:bodyPr/>
                    <a:lstStyle/>
                    <a:p>
                      <a:r>
                        <a:rPr lang="en-US" sz="2800" dirty="0"/>
                        <a:t>4.00</a:t>
                      </a:r>
                    </a:p>
                  </a:txBody>
                  <a:tcPr/>
                </a:tc>
                <a:extLst>
                  <a:ext uri="{0D108BD9-81ED-4DB2-BD59-A6C34878D82A}">
                    <a16:rowId xmlns:a16="http://schemas.microsoft.com/office/drawing/2014/main" val="10001"/>
                  </a:ext>
                </a:extLst>
              </a:tr>
            </a:tbl>
          </a:graphicData>
        </a:graphic>
      </p:graphicFrame>
      <p:graphicFrame>
        <p:nvGraphicFramePr>
          <p:cNvPr id="6" name="Object 5"/>
          <p:cNvGraphicFramePr>
            <a:graphicFrameLocks noChangeAspect="1"/>
          </p:cNvGraphicFramePr>
          <p:nvPr/>
        </p:nvGraphicFramePr>
        <p:xfrm>
          <a:off x="6781800" y="2057400"/>
          <a:ext cx="1905000" cy="843643"/>
        </p:xfrm>
        <a:graphic>
          <a:graphicData uri="http://schemas.openxmlformats.org/presentationml/2006/ole">
            <mc:AlternateContent xmlns:mc="http://schemas.openxmlformats.org/markup-compatibility/2006">
              <mc:Choice xmlns:v="urn:schemas-microsoft-com:vml" Requires="v">
                <p:oleObj spid="_x0000_s46082" name="Equation" r:id="rId3" imgW="888840" imgH="393480" progId="Equation.3">
                  <p:embed/>
                </p:oleObj>
              </mc:Choice>
              <mc:Fallback>
                <p:oleObj name="Equation" r:id="rId3" imgW="88884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2057400"/>
                        <a:ext cx="1905000" cy="8436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Table 6"/>
          <p:cNvGraphicFramePr>
            <a:graphicFrameLocks noGrp="1"/>
          </p:cNvGraphicFramePr>
          <p:nvPr/>
        </p:nvGraphicFramePr>
        <p:xfrm>
          <a:off x="609600" y="5669280"/>
          <a:ext cx="7488558" cy="103632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082993">
                  <a:extLst>
                    <a:ext uri="{9D8B030D-6E8A-4147-A177-3AD203B41FA5}">
                      <a16:colId xmlns:a16="http://schemas.microsoft.com/office/drawing/2014/main" val="20001"/>
                    </a:ext>
                  </a:extLst>
                </a:gridCol>
                <a:gridCol w="1082993">
                  <a:extLst>
                    <a:ext uri="{9D8B030D-6E8A-4147-A177-3AD203B41FA5}">
                      <a16:colId xmlns:a16="http://schemas.microsoft.com/office/drawing/2014/main" val="20002"/>
                    </a:ext>
                  </a:extLst>
                </a:gridCol>
                <a:gridCol w="1082993">
                  <a:extLst>
                    <a:ext uri="{9D8B030D-6E8A-4147-A177-3AD203B41FA5}">
                      <a16:colId xmlns:a16="http://schemas.microsoft.com/office/drawing/2014/main" val="20003"/>
                    </a:ext>
                  </a:extLst>
                </a:gridCol>
                <a:gridCol w="1082993">
                  <a:extLst>
                    <a:ext uri="{9D8B030D-6E8A-4147-A177-3AD203B41FA5}">
                      <a16:colId xmlns:a16="http://schemas.microsoft.com/office/drawing/2014/main" val="20004"/>
                    </a:ext>
                  </a:extLst>
                </a:gridCol>
                <a:gridCol w="1082993">
                  <a:extLst>
                    <a:ext uri="{9D8B030D-6E8A-4147-A177-3AD203B41FA5}">
                      <a16:colId xmlns:a16="http://schemas.microsoft.com/office/drawing/2014/main" val="20005"/>
                    </a:ext>
                  </a:extLst>
                </a:gridCol>
                <a:gridCol w="1082993">
                  <a:extLst>
                    <a:ext uri="{9D8B030D-6E8A-4147-A177-3AD203B41FA5}">
                      <a16:colId xmlns:a16="http://schemas.microsoft.com/office/drawing/2014/main" val="20006"/>
                    </a:ext>
                  </a:extLst>
                </a:gridCol>
              </a:tblGrid>
              <a:tr h="370840">
                <a:tc>
                  <a:txBody>
                    <a:bodyPr/>
                    <a:lstStyle/>
                    <a:p>
                      <a:r>
                        <a:rPr lang="en-US" altLang="zh-CN" sz="2800" dirty="0" err="1"/>
                        <a:t>V</a:t>
                      </a:r>
                      <a:r>
                        <a:rPr lang="en-US" altLang="zh-CN" sz="2800" baseline="-25000" dirty="0" err="1"/>
                        <a:t>NaOH</a:t>
                      </a:r>
                      <a:endParaRPr lang="en-US" sz="2800" dirty="0"/>
                    </a:p>
                  </a:txBody>
                  <a:tcPr/>
                </a:tc>
                <a:tc>
                  <a:txBody>
                    <a:bodyPr/>
                    <a:lstStyle/>
                    <a:p>
                      <a:r>
                        <a:rPr lang="en-US" sz="2800" dirty="0"/>
                        <a:t>25.00</a:t>
                      </a:r>
                    </a:p>
                  </a:txBody>
                  <a:tcPr/>
                </a:tc>
                <a:tc>
                  <a:txBody>
                    <a:bodyPr/>
                    <a:lstStyle/>
                    <a:p>
                      <a:r>
                        <a:rPr lang="en-US" altLang="zh-CN" sz="2800" dirty="0"/>
                        <a:t>25.05</a:t>
                      </a:r>
                      <a:endParaRPr lang="en-US" sz="2800" dirty="0"/>
                    </a:p>
                  </a:txBody>
                  <a:tcPr/>
                </a:tc>
                <a:tc>
                  <a:txBody>
                    <a:bodyPr/>
                    <a:lstStyle/>
                    <a:p>
                      <a:r>
                        <a:rPr lang="en-US" altLang="zh-CN" sz="2800" dirty="0"/>
                        <a:t>26.00</a:t>
                      </a:r>
                      <a:endParaRPr lang="en-US" sz="2800" dirty="0"/>
                    </a:p>
                  </a:txBody>
                  <a:tcPr/>
                </a:tc>
                <a:tc>
                  <a:txBody>
                    <a:bodyPr/>
                    <a:lstStyle/>
                    <a:p>
                      <a:r>
                        <a:rPr lang="en-US" altLang="zh-CN" sz="2800" dirty="0"/>
                        <a:t>30.00</a:t>
                      </a:r>
                      <a:endParaRPr lang="en-US" sz="2800" dirty="0"/>
                    </a:p>
                  </a:txBody>
                  <a:tcPr/>
                </a:tc>
                <a:tc>
                  <a:txBody>
                    <a:bodyPr/>
                    <a:lstStyle/>
                    <a:p>
                      <a:r>
                        <a:rPr lang="en-US" altLang="zh-CN" sz="2800" dirty="0"/>
                        <a:t>35.00</a:t>
                      </a:r>
                      <a:endParaRPr lang="en-US" sz="2800" dirty="0"/>
                    </a:p>
                  </a:txBody>
                  <a:tcPr/>
                </a:tc>
                <a:tc>
                  <a:txBody>
                    <a:bodyPr/>
                    <a:lstStyle/>
                    <a:p>
                      <a:r>
                        <a:rPr lang="en-US" altLang="zh-CN" sz="2800" dirty="0"/>
                        <a:t>40.00</a:t>
                      </a:r>
                      <a:endParaRPr lang="en-US" sz="2800" dirty="0"/>
                    </a:p>
                  </a:txBody>
                  <a:tcPr/>
                </a:tc>
                <a:extLst>
                  <a:ext uri="{0D108BD9-81ED-4DB2-BD59-A6C34878D82A}">
                    <a16:rowId xmlns:a16="http://schemas.microsoft.com/office/drawing/2014/main" val="10000"/>
                  </a:ext>
                </a:extLst>
              </a:tr>
              <a:tr h="370840">
                <a:tc>
                  <a:txBody>
                    <a:bodyPr/>
                    <a:lstStyle/>
                    <a:p>
                      <a:r>
                        <a:rPr lang="en-US" altLang="zh-CN" sz="2800" dirty="0"/>
                        <a:t>pH</a:t>
                      </a:r>
                      <a:endParaRPr lang="en-US" sz="2800" dirty="0"/>
                    </a:p>
                  </a:txBody>
                  <a:tcPr/>
                </a:tc>
                <a:tc>
                  <a:txBody>
                    <a:bodyPr/>
                    <a:lstStyle/>
                    <a:p>
                      <a:r>
                        <a:rPr lang="en-US" sz="2800" dirty="0"/>
                        <a:t>7</a:t>
                      </a:r>
                    </a:p>
                  </a:txBody>
                  <a:tcPr/>
                </a:tc>
                <a:tc>
                  <a:txBody>
                    <a:bodyPr/>
                    <a:lstStyle/>
                    <a:p>
                      <a:r>
                        <a:rPr lang="en-US" altLang="zh-CN" sz="2800" dirty="0"/>
                        <a:t>10.00</a:t>
                      </a:r>
                      <a:endParaRPr lang="en-US" sz="2800" dirty="0"/>
                    </a:p>
                  </a:txBody>
                  <a:tcPr/>
                </a:tc>
                <a:tc>
                  <a:txBody>
                    <a:bodyPr/>
                    <a:lstStyle/>
                    <a:p>
                      <a:r>
                        <a:rPr lang="en-US" altLang="zh-CN" sz="2800" dirty="0"/>
                        <a:t>11.29</a:t>
                      </a:r>
                      <a:endParaRPr lang="en-US" sz="2800" dirty="0"/>
                    </a:p>
                  </a:txBody>
                  <a:tcPr/>
                </a:tc>
                <a:tc>
                  <a:txBody>
                    <a:bodyPr/>
                    <a:lstStyle/>
                    <a:p>
                      <a:r>
                        <a:rPr lang="en-US" sz="2800" dirty="0"/>
                        <a:t>11.96</a:t>
                      </a:r>
                    </a:p>
                  </a:txBody>
                  <a:tcPr/>
                </a:tc>
                <a:tc>
                  <a:txBody>
                    <a:bodyPr/>
                    <a:lstStyle/>
                    <a:p>
                      <a:r>
                        <a:rPr lang="en-US" sz="2800" dirty="0"/>
                        <a:t>12.22</a:t>
                      </a:r>
                    </a:p>
                  </a:txBody>
                  <a:tcPr/>
                </a:tc>
                <a:tc>
                  <a:txBody>
                    <a:bodyPr/>
                    <a:lstStyle/>
                    <a:p>
                      <a:r>
                        <a:rPr lang="en-US" sz="2800" dirty="0"/>
                        <a:t>12.36</a:t>
                      </a:r>
                    </a:p>
                  </a:txBody>
                  <a:tcPr/>
                </a:tc>
                <a:extLst>
                  <a:ext uri="{0D108BD9-81ED-4DB2-BD59-A6C34878D82A}">
                    <a16:rowId xmlns:a16="http://schemas.microsoft.com/office/drawing/2014/main" val="10001"/>
                  </a:ext>
                </a:extLst>
              </a:tr>
            </a:tbl>
          </a:graphicData>
        </a:graphic>
      </p:graphicFrame>
      <p:graphicFrame>
        <p:nvGraphicFramePr>
          <p:cNvPr id="46083" name="Object 3"/>
          <p:cNvGraphicFramePr>
            <a:graphicFrameLocks noChangeAspect="1"/>
          </p:cNvGraphicFramePr>
          <p:nvPr/>
        </p:nvGraphicFramePr>
        <p:xfrm>
          <a:off x="7315200" y="3032071"/>
          <a:ext cx="1981200" cy="777929"/>
        </p:xfrm>
        <a:graphic>
          <a:graphicData uri="http://schemas.openxmlformats.org/presentationml/2006/ole">
            <mc:AlternateContent xmlns:mc="http://schemas.openxmlformats.org/markup-compatibility/2006">
              <mc:Choice xmlns:v="urn:schemas-microsoft-com:vml" Requires="v">
                <p:oleObj spid="_x0000_s46083" name="Equation" r:id="rId5" imgW="1002960" imgH="393480" progId="Equation.3">
                  <p:embed/>
                </p:oleObj>
              </mc:Choice>
              <mc:Fallback>
                <p:oleObj name="Equation" r:id="rId5" imgW="1002960" imgH="3934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5200" y="3032071"/>
                        <a:ext cx="1981200" cy="7779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6083"/>
                                        </p:tgtEl>
                                        <p:attrNameLst>
                                          <p:attrName>style.visibility</p:attrName>
                                        </p:attrNameLst>
                                      </p:cBhvr>
                                      <p:to>
                                        <p:strVal val="visible"/>
                                      </p:to>
                                    </p:set>
                                    <p:animEffect transition="in" filter="blinds(horizontal)">
                                      <p:cBhvr>
                                        <p:cTn id="42" dur="500"/>
                                        <p:tgtEl>
                                          <p:spTgt spid="4608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blinds(horizontal)">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blinds(horizontal)">
                                      <p:cBhvr>
                                        <p:cTn id="6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滴定曲线</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029200" y="990600"/>
            <a:ext cx="3657600" cy="5334000"/>
          </a:xfrm>
        </p:spPr>
        <p:txBody>
          <a:bodyPr>
            <a:noAutofit/>
          </a:bodyPr>
          <a:lstStyle/>
          <a:p>
            <a:pPr>
              <a:spcBef>
                <a:spcPts val="0"/>
              </a:spcBef>
              <a:buNone/>
            </a:pPr>
            <a:r>
              <a:rPr lang="zh-CN" altLang="en-US" sz="3000" u="sng" dirty="0">
                <a:sym typeface="Wingdings" pitchFamily="2" charset="2"/>
              </a:rPr>
              <a:t>强酸强碱的滴定</a:t>
            </a:r>
            <a:endParaRPr lang="en-US" altLang="zh-CN" sz="3000" u="sng" dirty="0">
              <a:sym typeface="Wingdings" pitchFamily="2" charset="2"/>
            </a:endParaRPr>
          </a:p>
          <a:p>
            <a:pPr>
              <a:spcBef>
                <a:spcPts val="0"/>
              </a:spcBef>
              <a:buFont typeface="Wingdings" pitchFamily="2" charset="2"/>
              <a:buChar char="Ø"/>
            </a:pPr>
            <a:r>
              <a:rPr lang="zh-CN" altLang="en-US" sz="3000" dirty="0">
                <a:sym typeface="Wingdings" pitchFamily="2" charset="2"/>
              </a:rPr>
              <a:t>突跃范围</a:t>
            </a:r>
            <a:r>
              <a:rPr lang="en-US" altLang="zh-CN" sz="3000" dirty="0">
                <a:sym typeface="Wingdings" pitchFamily="2" charset="2"/>
              </a:rPr>
              <a:t>pH4-pH10</a:t>
            </a:r>
          </a:p>
          <a:p>
            <a:pPr>
              <a:spcBef>
                <a:spcPts val="0"/>
              </a:spcBef>
              <a:buFont typeface="Wingdings" pitchFamily="2" charset="2"/>
              <a:buChar char="Ø"/>
            </a:pPr>
            <a:r>
              <a:rPr lang="zh-CN" altLang="en-US" sz="3000" dirty="0">
                <a:sym typeface="Wingdings" pitchFamily="2" charset="2"/>
              </a:rPr>
              <a:t>等当点</a:t>
            </a:r>
            <a:r>
              <a:rPr lang="en-US" altLang="zh-CN" sz="3000" dirty="0">
                <a:sym typeface="Wingdings" pitchFamily="2" charset="2"/>
              </a:rPr>
              <a:t>pH7(</a:t>
            </a:r>
            <a:r>
              <a:rPr lang="zh-CN" altLang="en-US" sz="3000" dirty="0">
                <a:sym typeface="Wingdings" pitchFamily="2" charset="2"/>
              </a:rPr>
              <a:t>中性</a:t>
            </a:r>
            <a:r>
              <a:rPr lang="en-US" altLang="zh-CN" sz="3000" dirty="0">
                <a:sym typeface="Wingdings" pitchFamily="2" charset="2"/>
              </a:rPr>
              <a:t>)</a:t>
            </a:r>
          </a:p>
          <a:p>
            <a:pPr>
              <a:spcBef>
                <a:spcPts val="0"/>
              </a:spcBef>
              <a:buFont typeface="Wingdings" pitchFamily="2" charset="2"/>
              <a:buChar char="Ø"/>
            </a:pPr>
            <a:r>
              <a:rPr lang="zh-CN" altLang="en-US" sz="3000" dirty="0">
                <a:sym typeface="Wingdings" pitchFamily="2" charset="2"/>
              </a:rPr>
              <a:t>在突跃范围内变色的指示剂皆能使用。</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zh-CN" altLang="en-US" sz="3000" dirty="0">
                <a:sym typeface="Wingdings" pitchFamily="2" charset="2"/>
              </a:rPr>
              <a:t>此滴定曲线为</a:t>
            </a:r>
            <a:endParaRPr lang="en-US" altLang="zh-CN" sz="3000" dirty="0">
              <a:sym typeface="Wingdings" pitchFamily="2" charset="2"/>
            </a:endParaRPr>
          </a:p>
          <a:p>
            <a:pPr>
              <a:spcBef>
                <a:spcPts val="0"/>
              </a:spcBef>
              <a:buNone/>
            </a:pPr>
            <a:r>
              <a:rPr lang="zh-CN" altLang="en-US" sz="3000" dirty="0">
                <a:sym typeface="Wingdings" pitchFamily="2" charset="2"/>
              </a:rPr>
              <a:t>锥形瓶：强酸</a:t>
            </a:r>
            <a:endParaRPr lang="en-US" altLang="zh-CN" sz="3000" dirty="0">
              <a:sym typeface="Wingdings" pitchFamily="2" charset="2"/>
            </a:endParaRPr>
          </a:p>
          <a:p>
            <a:pPr>
              <a:spcBef>
                <a:spcPts val="0"/>
              </a:spcBef>
              <a:buNone/>
            </a:pPr>
            <a:r>
              <a:rPr lang="zh-CN" altLang="en-US" sz="3000" dirty="0">
                <a:sym typeface="Wingdings" pitchFamily="2" charset="2"/>
              </a:rPr>
              <a:t>滴定管：强碱</a:t>
            </a:r>
            <a:endParaRPr lang="en-US" altLang="zh-CN" sz="3000" dirty="0">
              <a:sym typeface="Wingdings" pitchFamily="2" charset="2"/>
            </a:endParaRPr>
          </a:p>
          <a:p>
            <a:pPr>
              <a:spcBef>
                <a:spcPts val="0"/>
              </a:spcBef>
              <a:buFont typeface="Wingdings" pitchFamily="2" charset="2"/>
              <a:buChar char="Ø"/>
            </a:pPr>
            <a:endParaRPr lang="en-US" altLang="zh-CN" sz="28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pic>
        <p:nvPicPr>
          <p:cNvPr id="47106" name="Picture 2"/>
          <p:cNvPicPr>
            <a:picLocks noChangeAspect="1" noChangeArrowheads="1"/>
          </p:cNvPicPr>
          <p:nvPr/>
        </p:nvPicPr>
        <p:blipFill>
          <a:blip r:embed="rId3"/>
          <a:srcRect/>
          <a:stretch>
            <a:fillRect/>
          </a:stretch>
        </p:blipFill>
        <p:spPr bwMode="auto">
          <a:xfrm>
            <a:off x="228600" y="990600"/>
            <a:ext cx="4495800" cy="4917544"/>
          </a:xfrm>
          <a:prstGeom prst="rect">
            <a:avLst/>
          </a:prstGeom>
          <a:noFill/>
          <a:ln w="9525">
            <a:noFill/>
            <a:miter lim="800000"/>
            <a:headEnd/>
            <a:tailEnd/>
          </a:ln>
          <a:effectLst/>
        </p:spPr>
      </p:pic>
      <p:grpSp>
        <p:nvGrpSpPr>
          <p:cNvPr id="11" name="Group 10"/>
          <p:cNvGrpSpPr/>
          <p:nvPr/>
        </p:nvGrpSpPr>
        <p:grpSpPr>
          <a:xfrm>
            <a:off x="2743200" y="2514600"/>
            <a:ext cx="2107208" cy="1524000"/>
            <a:chOff x="7086600" y="304800"/>
            <a:chExt cx="2107208" cy="1524000"/>
          </a:xfrm>
        </p:grpSpPr>
        <p:sp>
          <p:nvSpPr>
            <p:cNvPr id="9" name="Right Brace 8"/>
            <p:cNvSpPr/>
            <p:nvPr/>
          </p:nvSpPr>
          <p:spPr>
            <a:xfrm>
              <a:off x="7086600" y="304800"/>
              <a:ext cx="381000" cy="1524000"/>
            </a:xfrm>
            <a:prstGeom prst="rightBrace">
              <a:avLst/>
            </a:prstGeom>
            <a:ln w="317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7572851" y="762000"/>
              <a:ext cx="1620957" cy="523220"/>
            </a:xfrm>
            <a:prstGeom prst="rect">
              <a:avLst/>
            </a:prstGeom>
            <a:solidFill>
              <a:schemeClr val="bg2"/>
            </a:solidFill>
            <a:ln>
              <a:solidFill>
                <a:srgbClr val="00206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800" dirty="0"/>
                <a:t>突跃范围</a:t>
              </a:r>
              <a:endParaRPr lang="en-US" sz="2800" dirty="0"/>
            </a:p>
          </p:txBody>
        </p:sp>
      </p:grpSp>
      <p:grpSp>
        <p:nvGrpSpPr>
          <p:cNvPr id="15" name="Group 14"/>
          <p:cNvGrpSpPr/>
          <p:nvPr/>
        </p:nvGrpSpPr>
        <p:grpSpPr>
          <a:xfrm>
            <a:off x="762000" y="2667000"/>
            <a:ext cx="1828800" cy="609600"/>
            <a:chOff x="762000" y="2667000"/>
            <a:chExt cx="1828800" cy="609600"/>
          </a:xfrm>
        </p:grpSpPr>
        <p:cxnSp>
          <p:nvCxnSpPr>
            <p:cNvPr id="13" name="Straight Connector 12"/>
            <p:cNvCxnSpPr/>
            <p:nvPr/>
          </p:nvCxnSpPr>
          <p:spPr>
            <a:xfrm>
              <a:off x="762000" y="3275012"/>
              <a:ext cx="1828800" cy="1588"/>
            </a:xfrm>
            <a:prstGeom prst="line">
              <a:avLst/>
            </a:prstGeom>
            <a:ln w="31750">
              <a:solidFill>
                <a:srgbClr val="7030A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025604" y="2667000"/>
              <a:ext cx="1261884" cy="523220"/>
            </a:xfrm>
            <a:prstGeom prst="rect">
              <a:avLst/>
            </a:prstGeom>
            <a:solidFill>
              <a:srgbClr val="F7DDF4"/>
            </a:solidFill>
            <a:ln>
              <a:solidFill>
                <a:srgbClr val="7030A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800" dirty="0"/>
                <a:t>等当点</a:t>
              </a:r>
              <a:endParaRPr lang="en-US" sz="2800" dirty="0"/>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blinds(horizontal)">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blinds(horizontal)">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滴定曲线</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029200" y="990600"/>
            <a:ext cx="3657600" cy="5867400"/>
          </a:xfrm>
        </p:spPr>
        <p:txBody>
          <a:bodyPr>
            <a:noAutofit/>
          </a:bodyPr>
          <a:lstStyle/>
          <a:p>
            <a:pPr>
              <a:spcBef>
                <a:spcPts val="0"/>
              </a:spcBef>
              <a:buNone/>
            </a:pPr>
            <a:r>
              <a:rPr lang="zh-CN" altLang="en-US" sz="3000" u="sng" dirty="0">
                <a:sym typeface="Wingdings" pitchFamily="2" charset="2"/>
              </a:rPr>
              <a:t>强酸弱碱的滴定</a:t>
            </a:r>
            <a:endParaRPr lang="en-US" altLang="zh-CN" sz="3000" u="sng" dirty="0">
              <a:sym typeface="Wingdings" pitchFamily="2" charset="2"/>
            </a:endParaRPr>
          </a:p>
          <a:p>
            <a:pPr>
              <a:spcBef>
                <a:spcPts val="0"/>
              </a:spcBef>
              <a:buFont typeface="Wingdings" pitchFamily="2" charset="2"/>
              <a:buChar char="Ø"/>
            </a:pPr>
            <a:r>
              <a:rPr lang="zh-CN" altLang="en-US" sz="3000" dirty="0">
                <a:sym typeface="Wingdings" pitchFamily="2" charset="2"/>
              </a:rPr>
              <a:t>突跃范围</a:t>
            </a:r>
            <a:r>
              <a:rPr lang="en-US" altLang="zh-CN" sz="3000" dirty="0">
                <a:sym typeface="Wingdings" pitchFamily="2" charset="2"/>
              </a:rPr>
              <a:t>pH3-pH7</a:t>
            </a:r>
          </a:p>
          <a:p>
            <a:pPr>
              <a:spcBef>
                <a:spcPts val="0"/>
              </a:spcBef>
              <a:buNone/>
            </a:pPr>
            <a:r>
              <a:rPr lang="en-US" altLang="zh-CN" sz="3000" dirty="0">
                <a:solidFill>
                  <a:srgbClr val="002060"/>
                </a:solidFill>
                <a:sym typeface="Wingdings" pitchFamily="2" charset="2"/>
              </a:rPr>
              <a:t>	</a:t>
            </a:r>
            <a:r>
              <a:rPr lang="zh-CN" altLang="en-US" sz="3000" b="1" dirty="0">
                <a:solidFill>
                  <a:srgbClr val="002060"/>
                </a:solidFill>
                <a:sym typeface="Wingdings" pitchFamily="2" charset="2"/>
              </a:rPr>
              <a:t>酸性范围</a:t>
            </a:r>
            <a:endParaRPr lang="en-US" altLang="zh-CN" sz="3000" b="1" dirty="0">
              <a:solidFill>
                <a:srgbClr val="002060"/>
              </a:solidFill>
              <a:sym typeface="Wingdings" pitchFamily="2" charset="2"/>
            </a:endParaRPr>
          </a:p>
          <a:p>
            <a:pPr>
              <a:spcBef>
                <a:spcPts val="0"/>
              </a:spcBef>
              <a:buFont typeface="Wingdings" pitchFamily="2" charset="2"/>
              <a:buChar char="Ø"/>
            </a:pPr>
            <a:r>
              <a:rPr lang="zh-CN" altLang="en-US" sz="3000" dirty="0">
                <a:sym typeface="Wingdings" pitchFamily="2" charset="2"/>
              </a:rPr>
              <a:t>等当点约</a:t>
            </a:r>
            <a:r>
              <a:rPr lang="en-US" altLang="zh-CN" sz="3000" dirty="0">
                <a:sym typeface="Wingdings" pitchFamily="2" charset="2"/>
              </a:rPr>
              <a:t>pH5</a:t>
            </a:r>
          </a:p>
          <a:p>
            <a:pPr>
              <a:spcBef>
                <a:spcPts val="0"/>
              </a:spcBef>
              <a:buNone/>
            </a:pPr>
            <a:r>
              <a:rPr lang="en-US" altLang="zh-CN" sz="3000" dirty="0">
                <a:sym typeface="Wingdings" pitchFamily="2" charset="2"/>
              </a:rPr>
              <a:t>	</a:t>
            </a:r>
            <a:r>
              <a:rPr lang="zh-CN" altLang="en-US" sz="3000" b="1" dirty="0">
                <a:solidFill>
                  <a:srgbClr val="002060"/>
                </a:solidFill>
                <a:sym typeface="Wingdings" pitchFamily="2" charset="2"/>
              </a:rPr>
              <a:t>酸性范围</a:t>
            </a:r>
            <a:endParaRPr lang="en-US" altLang="zh-CN" sz="3000" b="1" dirty="0">
              <a:solidFill>
                <a:srgbClr val="002060"/>
              </a:solidFill>
              <a:sym typeface="Wingdings" pitchFamily="2" charset="2"/>
            </a:endParaRPr>
          </a:p>
          <a:p>
            <a:pPr>
              <a:spcBef>
                <a:spcPts val="0"/>
              </a:spcBef>
              <a:buFont typeface="Wingdings" pitchFamily="2" charset="2"/>
              <a:buChar char="Ø"/>
            </a:pPr>
            <a:r>
              <a:rPr lang="zh-CN" altLang="en-US" sz="3000" dirty="0">
                <a:sym typeface="Wingdings" pitchFamily="2" charset="2"/>
              </a:rPr>
              <a:t>指示剂：变色范围在</a:t>
            </a:r>
            <a:r>
              <a:rPr lang="zh-CN" altLang="en-US" sz="3000" b="1" dirty="0">
                <a:solidFill>
                  <a:srgbClr val="002060"/>
                </a:solidFill>
                <a:sym typeface="Wingdings" pitchFamily="2" charset="2"/>
              </a:rPr>
              <a:t>酸性范围</a:t>
            </a:r>
            <a:r>
              <a:rPr lang="zh-CN" altLang="en-US" sz="3000" dirty="0">
                <a:sym typeface="Wingdings" pitchFamily="2" charset="2"/>
              </a:rPr>
              <a:t>的指示剂。如：</a:t>
            </a:r>
            <a:r>
              <a:rPr lang="zh-CN" altLang="en-US" sz="3000" b="1" dirty="0">
                <a:solidFill>
                  <a:srgbClr val="7030A0"/>
                </a:solidFill>
                <a:sym typeface="Wingdings" pitchFamily="2" charset="2"/>
              </a:rPr>
              <a:t>甲基橙、甲基红</a:t>
            </a:r>
            <a:endParaRPr lang="en-US" altLang="zh-CN" sz="3000" b="1" dirty="0">
              <a:solidFill>
                <a:srgbClr val="7030A0"/>
              </a:solidFill>
              <a:sym typeface="Wingdings" pitchFamily="2" charset="2"/>
            </a:endParaRPr>
          </a:p>
          <a:p>
            <a:pPr>
              <a:spcBef>
                <a:spcPts val="0"/>
              </a:spcBef>
              <a:buNone/>
            </a:pPr>
            <a:r>
              <a:rPr lang="zh-CN" altLang="en-US" sz="3000" dirty="0">
                <a:sym typeface="Wingdings" pitchFamily="2" charset="2"/>
              </a:rPr>
              <a:t>此滴定曲线为</a:t>
            </a:r>
            <a:endParaRPr lang="en-US" altLang="zh-CN" sz="3000" dirty="0">
              <a:sym typeface="Wingdings" pitchFamily="2" charset="2"/>
            </a:endParaRPr>
          </a:p>
          <a:p>
            <a:pPr>
              <a:spcBef>
                <a:spcPts val="0"/>
              </a:spcBef>
              <a:buNone/>
            </a:pPr>
            <a:r>
              <a:rPr lang="zh-CN" altLang="en-US" sz="3000" dirty="0">
                <a:sym typeface="Wingdings" pitchFamily="2" charset="2"/>
              </a:rPr>
              <a:t>锥形瓶：弱碱</a:t>
            </a:r>
            <a:endParaRPr lang="en-US" altLang="zh-CN" sz="3000" dirty="0">
              <a:sym typeface="Wingdings" pitchFamily="2" charset="2"/>
            </a:endParaRPr>
          </a:p>
          <a:p>
            <a:pPr>
              <a:spcBef>
                <a:spcPts val="0"/>
              </a:spcBef>
              <a:buNone/>
            </a:pPr>
            <a:r>
              <a:rPr lang="zh-CN" altLang="en-US" sz="3000" dirty="0">
                <a:sym typeface="Wingdings" pitchFamily="2" charset="2"/>
              </a:rPr>
              <a:t>滴定管：强酸</a:t>
            </a:r>
            <a:endParaRPr lang="en-US" altLang="zh-CN" sz="3000" dirty="0">
              <a:sym typeface="Wingdings" pitchFamily="2" charset="2"/>
            </a:endParaRPr>
          </a:p>
          <a:p>
            <a:pPr>
              <a:spcBef>
                <a:spcPts val="0"/>
              </a:spcBef>
              <a:buFont typeface="Wingdings" pitchFamily="2" charset="2"/>
              <a:buChar char="Ø"/>
            </a:pPr>
            <a:endParaRPr lang="en-US" altLang="zh-CN" sz="3000" b="1" dirty="0">
              <a:solidFill>
                <a:srgbClr val="7030A0"/>
              </a:solidFill>
              <a:sym typeface="Wingdings" pitchFamily="2" charset="2"/>
            </a:endParaRPr>
          </a:p>
          <a:p>
            <a:pPr>
              <a:spcBef>
                <a:spcPts val="0"/>
              </a:spcBef>
              <a:buFont typeface="Wingdings" pitchFamily="2" charset="2"/>
              <a:buChar char="Ø"/>
            </a:pPr>
            <a:endParaRPr lang="en-US" altLang="zh-CN" sz="28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pic>
        <p:nvPicPr>
          <p:cNvPr id="47106" name="Picture 2"/>
          <p:cNvPicPr>
            <a:picLocks noChangeAspect="1" noChangeArrowheads="1"/>
          </p:cNvPicPr>
          <p:nvPr/>
        </p:nvPicPr>
        <p:blipFill>
          <a:blip r:embed="rId3"/>
          <a:stretch>
            <a:fillRect/>
          </a:stretch>
        </p:blipFill>
        <p:spPr bwMode="auto">
          <a:xfrm>
            <a:off x="228600" y="1219200"/>
            <a:ext cx="4495800" cy="5257800"/>
          </a:xfrm>
          <a:prstGeom prst="rect">
            <a:avLst/>
          </a:prstGeom>
          <a:noFill/>
          <a:ln w="9525">
            <a:noFill/>
            <a:miter lim="800000"/>
            <a:headEnd/>
            <a:tailEnd/>
          </a:ln>
          <a:effectLst/>
        </p:spPr>
      </p:pic>
      <p:grpSp>
        <p:nvGrpSpPr>
          <p:cNvPr id="5" name="Group 10"/>
          <p:cNvGrpSpPr/>
          <p:nvPr/>
        </p:nvGrpSpPr>
        <p:grpSpPr>
          <a:xfrm>
            <a:off x="2971800" y="3581400"/>
            <a:ext cx="2107208" cy="1066800"/>
            <a:chOff x="7086600" y="533400"/>
            <a:chExt cx="2107208" cy="1066800"/>
          </a:xfrm>
        </p:grpSpPr>
        <p:sp>
          <p:nvSpPr>
            <p:cNvPr id="9" name="Right Brace 8"/>
            <p:cNvSpPr/>
            <p:nvPr/>
          </p:nvSpPr>
          <p:spPr>
            <a:xfrm>
              <a:off x="7086600" y="533400"/>
              <a:ext cx="381000" cy="1066800"/>
            </a:xfrm>
            <a:prstGeom prst="rightBrace">
              <a:avLst>
                <a:gd name="adj1" fmla="val 60507"/>
                <a:gd name="adj2" fmla="val 50000"/>
              </a:avLst>
            </a:prstGeom>
            <a:ln w="317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7572851" y="762000"/>
              <a:ext cx="1620957" cy="523220"/>
            </a:xfrm>
            <a:prstGeom prst="rect">
              <a:avLst/>
            </a:prstGeom>
            <a:solidFill>
              <a:schemeClr val="bg2"/>
            </a:solidFill>
            <a:ln>
              <a:solidFill>
                <a:srgbClr val="00206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800" dirty="0"/>
                <a:t>突跃范围</a:t>
              </a:r>
              <a:endParaRPr lang="en-US" sz="2800" dirty="0"/>
            </a:p>
          </p:txBody>
        </p:sp>
      </p:grpSp>
      <p:grpSp>
        <p:nvGrpSpPr>
          <p:cNvPr id="6" name="Group 14"/>
          <p:cNvGrpSpPr/>
          <p:nvPr/>
        </p:nvGrpSpPr>
        <p:grpSpPr>
          <a:xfrm>
            <a:off x="990600" y="3505200"/>
            <a:ext cx="1828800" cy="609600"/>
            <a:chOff x="762000" y="2667000"/>
            <a:chExt cx="1828800" cy="609600"/>
          </a:xfrm>
        </p:grpSpPr>
        <p:cxnSp>
          <p:nvCxnSpPr>
            <p:cNvPr id="13" name="Straight Connector 12"/>
            <p:cNvCxnSpPr/>
            <p:nvPr/>
          </p:nvCxnSpPr>
          <p:spPr>
            <a:xfrm>
              <a:off x="762000" y="3275012"/>
              <a:ext cx="1828800" cy="1588"/>
            </a:xfrm>
            <a:prstGeom prst="line">
              <a:avLst/>
            </a:prstGeom>
            <a:ln w="31750">
              <a:solidFill>
                <a:srgbClr val="7030A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025604" y="2667000"/>
              <a:ext cx="1261884" cy="523220"/>
            </a:xfrm>
            <a:prstGeom prst="rect">
              <a:avLst/>
            </a:prstGeom>
            <a:solidFill>
              <a:srgbClr val="F7DDF4"/>
            </a:solidFill>
            <a:ln>
              <a:solidFill>
                <a:srgbClr val="7030A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800" dirty="0"/>
                <a:t>等当点</a:t>
              </a:r>
              <a:endParaRPr lang="en-US" sz="2800" dirty="0"/>
            </a:p>
          </p:txBody>
        </p:sp>
      </p:grpSp>
      <p:pic>
        <p:nvPicPr>
          <p:cNvPr id="12" name="Picture 11" descr="14.jpg"/>
          <p:cNvPicPr>
            <a:picLocks noChangeAspect="1"/>
          </p:cNvPicPr>
          <p:nvPr/>
        </p:nvPicPr>
        <p:blipFill>
          <a:blip r:embed="rId4"/>
          <a:srcRect l="11337" t="10465" r="10174" b="5814"/>
          <a:stretch>
            <a:fillRect/>
          </a:stretch>
        </p:blipFill>
        <p:spPr>
          <a:xfrm>
            <a:off x="304800" y="975360"/>
            <a:ext cx="8229600" cy="580644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blinds(horizontal)">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blinds(horizontal)">
                                      <p:cBhvr>
                                        <p:cTn id="57" dur="500"/>
                                        <p:tgtEl>
                                          <p:spTgt spid="3">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blinds(horizontal)">
                                      <p:cBhvr>
                                        <p:cTn id="6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滴定曲线</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029200" y="990600"/>
            <a:ext cx="3657600" cy="4191000"/>
          </a:xfrm>
        </p:spPr>
        <p:txBody>
          <a:bodyPr>
            <a:noAutofit/>
          </a:bodyPr>
          <a:lstStyle/>
          <a:p>
            <a:pPr>
              <a:spcBef>
                <a:spcPts val="0"/>
              </a:spcBef>
              <a:buNone/>
            </a:pPr>
            <a:r>
              <a:rPr lang="zh-CN" altLang="en-US" sz="3000" u="sng" dirty="0">
                <a:sym typeface="Wingdings" pitchFamily="2" charset="2"/>
              </a:rPr>
              <a:t>弱酸强碱的滴定</a:t>
            </a:r>
            <a:endParaRPr lang="en-US" altLang="zh-CN" sz="3000" u="sng" dirty="0">
              <a:sym typeface="Wingdings" pitchFamily="2" charset="2"/>
            </a:endParaRPr>
          </a:p>
          <a:p>
            <a:pPr>
              <a:spcBef>
                <a:spcPts val="0"/>
              </a:spcBef>
              <a:buFont typeface="Wingdings" pitchFamily="2" charset="2"/>
              <a:buChar char="Ø"/>
            </a:pPr>
            <a:r>
              <a:rPr lang="zh-CN" altLang="en-US" sz="3000" dirty="0">
                <a:sym typeface="Wingdings" pitchFamily="2" charset="2"/>
              </a:rPr>
              <a:t>突跃范围</a:t>
            </a:r>
            <a:r>
              <a:rPr lang="en-US" altLang="zh-CN" sz="3000" dirty="0">
                <a:sym typeface="Wingdings" pitchFamily="2" charset="2"/>
              </a:rPr>
              <a:t>pH6-pH12</a:t>
            </a:r>
          </a:p>
          <a:p>
            <a:pPr>
              <a:spcBef>
                <a:spcPts val="0"/>
              </a:spcBef>
              <a:buNone/>
            </a:pPr>
            <a:r>
              <a:rPr lang="en-US" altLang="zh-CN" sz="3000" dirty="0">
                <a:solidFill>
                  <a:srgbClr val="002060"/>
                </a:solidFill>
                <a:sym typeface="Wingdings" pitchFamily="2" charset="2"/>
              </a:rPr>
              <a:t>	</a:t>
            </a:r>
            <a:r>
              <a:rPr lang="zh-CN" altLang="en-US" sz="3000" b="1" dirty="0">
                <a:solidFill>
                  <a:srgbClr val="002060"/>
                </a:solidFill>
                <a:sym typeface="Wingdings" pitchFamily="2" charset="2"/>
              </a:rPr>
              <a:t>碱性范围</a:t>
            </a:r>
            <a:endParaRPr lang="en-US" altLang="zh-CN" sz="3000" b="1" dirty="0">
              <a:solidFill>
                <a:srgbClr val="002060"/>
              </a:solidFill>
              <a:sym typeface="Wingdings" pitchFamily="2" charset="2"/>
            </a:endParaRPr>
          </a:p>
          <a:p>
            <a:pPr>
              <a:spcBef>
                <a:spcPts val="0"/>
              </a:spcBef>
              <a:buFont typeface="Wingdings" pitchFamily="2" charset="2"/>
              <a:buChar char="Ø"/>
            </a:pPr>
            <a:r>
              <a:rPr lang="zh-CN" altLang="en-US" sz="3000" dirty="0">
                <a:sym typeface="Wingdings" pitchFamily="2" charset="2"/>
              </a:rPr>
              <a:t>等当点约</a:t>
            </a:r>
            <a:r>
              <a:rPr lang="en-US" altLang="zh-CN" sz="3000" dirty="0">
                <a:sym typeface="Wingdings" pitchFamily="2" charset="2"/>
              </a:rPr>
              <a:t>pH9</a:t>
            </a:r>
          </a:p>
          <a:p>
            <a:pPr>
              <a:spcBef>
                <a:spcPts val="0"/>
              </a:spcBef>
              <a:buNone/>
            </a:pPr>
            <a:r>
              <a:rPr lang="en-US" altLang="zh-CN" sz="3000" dirty="0">
                <a:sym typeface="Wingdings" pitchFamily="2" charset="2"/>
              </a:rPr>
              <a:t>	</a:t>
            </a:r>
            <a:r>
              <a:rPr lang="zh-CN" altLang="en-US" sz="3000" b="1" dirty="0">
                <a:solidFill>
                  <a:srgbClr val="002060"/>
                </a:solidFill>
                <a:sym typeface="Wingdings" pitchFamily="2" charset="2"/>
              </a:rPr>
              <a:t>碱性范围</a:t>
            </a:r>
            <a:endParaRPr lang="en-US" altLang="zh-CN" sz="3000" b="1" dirty="0">
              <a:solidFill>
                <a:srgbClr val="002060"/>
              </a:solidFill>
              <a:sym typeface="Wingdings" pitchFamily="2" charset="2"/>
            </a:endParaRPr>
          </a:p>
          <a:p>
            <a:pPr>
              <a:spcBef>
                <a:spcPts val="0"/>
              </a:spcBef>
              <a:buFont typeface="Wingdings" pitchFamily="2" charset="2"/>
              <a:buChar char="Ø"/>
            </a:pPr>
            <a:r>
              <a:rPr lang="zh-CN" altLang="en-US" sz="3000" dirty="0">
                <a:sym typeface="Wingdings" pitchFamily="2" charset="2"/>
              </a:rPr>
              <a:t>指示剂：变色范围在</a:t>
            </a:r>
            <a:r>
              <a:rPr lang="zh-CN" altLang="en-US" sz="3000" b="1" dirty="0">
                <a:solidFill>
                  <a:srgbClr val="002060"/>
                </a:solidFill>
                <a:sym typeface="Wingdings" pitchFamily="2" charset="2"/>
              </a:rPr>
              <a:t>碱性范围</a:t>
            </a:r>
            <a:r>
              <a:rPr lang="zh-CN" altLang="en-US" sz="3000" dirty="0">
                <a:sym typeface="Wingdings" pitchFamily="2" charset="2"/>
              </a:rPr>
              <a:t>的指示剂。如：</a:t>
            </a:r>
            <a:r>
              <a:rPr lang="zh-CN" altLang="en-US" sz="3000" b="1" dirty="0">
                <a:solidFill>
                  <a:srgbClr val="7030A0"/>
                </a:solidFill>
                <a:sym typeface="Wingdings" pitchFamily="2" charset="2"/>
              </a:rPr>
              <a:t>酚酞</a:t>
            </a:r>
            <a:endParaRPr lang="en-US" altLang="zh-CN" sz="3000" b="1" dirty="0">
              <a:solidFill>
                <a:srgbClr val="7030A0"/>
              </a:solidFill>
              <a:sym typeface="Wingdings" pitchFamily="2" charset="2"/>
            </a:endParaRPr>
          </a:p>
          <a:p>
            <a:pPr>
              <a:spcBef>
                <a:spcPts val="0"/>
              </a:spcBef>
              <a:buNone/>
            </a:pPr>
            <a:r>
              <a:rPr lang="zh-CN" altLang="en-US" sz="3000" dirty="0">
                <a:sym typeface="Wingdings" pitchFamily="2" charset="2"/>
              </a:rPr>
              <a:t>此滴定曲线为</a:t>
            </a:r>
            <a:endParaRPr lang="en-US" altLang="zh-CN" sz="3000" dirty="0">
              <a:sym typeface="Wingdings" pitchFamily="2" charset="2"/>
            </a:endParaRPr>
          </a:p>
          <a:p>
            <a:pPr>
              <a:spcBef>
                <a:spcPts val="0"/>
              </a:spcBef>
              <a:buNone/>
            </a:pPr>
            <a:r>
              <a:rPr lang="zh-CN" altLang="en-US" sz="3000" dirty="0">
                <a:sym typeface="Wingdings" pitchFamily="2" charset="2"/>
              </a:rPr>
              <a:t>锥形瓶：弱酸</a:t>
            </a:r>
            <a:endParaRPr lang="en-US" altLang="zh-CN" sz="3000" dirty="0">
              <a:sym typeface="Wingdings" pitchFamily="2" charset="2"/>
            </a:endParaRPr>
          </a:p>
          <a:p>
            <a:pPr>
              <a:spcBef>
                <a:spcPts val="0"/>
              </a:spcBef>
              <a:buNone/>
            </a:pPr>
            <a:r>
              <a:rPr lang="zh-CN" altLang="en-US" sz="3000" dirty="0">
                <a:sym typeface="Wingdings" pitchFamily="2" charset="2"/>
              </a:rPr>
              <a:t>滴定管：强碱</a:t>
            </a:r>
            <a:endParaRPr lang="en-US" altLang="zh-CN" sz="3000" dirty="0">
              <a:sym typeface="Wingdings" pitchFamily="2" charset="2"/>
            </a:endParaRPr>
          </a:p>
          <a:p>
            <a:pPr>
              <a:spcBef>
                <a:spcPts val="0"/>
              </a:spcBef>
              <a:buFont typeface="Wingdings" pitchFamily="2" charset="2"/>
              <a:buChar char="Ø"/>
            </a:pPr>
            <a:endParaRPr lang="en-US" altLang="zh-CN" sz="3000" b="1" dirty="0">
              <a:solidFill>
                <a:srgbClr val="7030A0"/>
              </a:solidFill>
              <a:sym typeface="Wingdings" pitchFamily="2" charset="2"/>
            </a:endParaRPr>
          </a:p>
          <a:p>
            <a:pPr>
              <a:spcBef>
                <a:spcPts val="0"/>
              </a:spcBef>
              <a:buFont typeface="Wingdings" pitchFamily="2" charset="2"/>
              <a:buChar char="Ø"/>
            </a:pPr>
            <a:endParaRPr lang="en-US" altLang="zh-CN" sz="28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pic>
        <p:nvPicPr>
          <p:cNvPr id="47106" name="Picture 2"/>
          <p:cNvPicPr>
            <a:picLocks noChangeAspect="1" noChangeArrowheads="1"/>
          </p:cNvPicPr>
          <p:nvPr/>
        </p:nvPicPr>
        <p:blipFill>
          <a:blip r:embed="rId3"/>
          <a:srcRect l="6589" r="9907"/>
          <a:stretch>
            <a:fillRect/>
          </a:stretch>
        </p:blipFill>
        <p:spPr bwMode="auto">
          <a:xfrm>
            <a:off x="152400" y="990600"/>
            <a:ext cx="4495800" cy="5486400"/>
          </a:xfrm>
          <a:prstGeom prst="rect">
            <a:avLst/>
          </a:prstGeom>
          <a:noFill/>
          <a:ln w="9525">
            <a:noFill/>
            <a:miter lim="800000"/>
            <a:headEnd/>
            <a:tailEnd/>
          </a:ln>
          <a:effectLst/>
        </p:spPr>
      </p:pic>
      <p:grpSp>
        <p:nvGrpSpPr>
          <p:cNvPr id="5" name="Group 10"/>
          <p:cNvGrpSpPr/>
          <p:nvPr/>
        </p:nvGrpSpPr>
        <p:grpSpPr>
          <a:xfrm>
            <a:off x="2895600" y="1981200"/>
            <a:ext cx="2107208" cy="1676400"/>
            <a:chOff x="7086600" y="-76200"/>
            <a:chExt cx="2107208" cy="1676400"/>
          </a:xfrm>
        </p:grpSpPr>
        <p:sp>
          <p:nvSpPr>
            <p:cNvPr id="9" name="Right Brace 8"/>
            <p:cNvSpPr/>
            <p:nvPr/>
          </p:nvSpPr>
          <p:spPr>
            <a:xfrm>
              <a:off x="7086600" y="-76200"/>
              <a:ext cx="381000" cy="1676400"/>
            </a:xfrm>
            <a:prstGeom prst="rightBrace">
              <a:avLst>
                <a:gd name="adj1" fmla="val 60507"/>
                <a:gd name="adj2" fmla="val 50000"/>
              </a:avLst>
            </a:prstGeom>
            <a:ln w="317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7572851" y="762000"/>
              <a:ext cx="1620957" cy="523220"/>
            </a:xfrm>
            <a:prstGeom prst="rect">
              <a:avLst/>
            </a:prstGeom>
            <a:solidFill>
              <a:schemeClr val="bg2"/>
            </a:solidFill>
            <a:ln>
              <a:solidFill>
                <a:srgbClr val="00206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800" dirty="0"/>
                <a:t>突跃范围</a:t>
              </a:r>
              <a:endParaRPr lang="en-US" sz="2800" dirty="0"/>
            </a:p>
          </p:txBody>
        </p:sp>
      </p:grpSp>
      <p:grpSp>
        <p:nvGrpSpPr>
          <p:cNvPr id="6" name="Group 14"/>
          <p:cNvGrpSpPr/>
          <p:nvPr/>
        </p:nvGrpSpPr>
        <p:grpSpPr>
          <a:xfrm>
            <a:off x="762000" y="2209800"/>
            <a:ext cx="2103120" cy="609600"/>
            <a:chOff x="533400" y="2667000"/>
            <a:chExt cx="2103120" cy="609600"/>
          </a:xfrm>
        </p:grpSpPr>
        <p:cxnSp>
          <p:nvCxnSpPr>
            <p:cNvPr id="13" name="Straight Connector 12"/>
            <p:cNvCxnSpPr/>
            <p:nvPr/>
          </p:nvCxnSpPr>
          <p:spPr>
            <a:xfrm>
              <a:off x="533400" y="3275012"/>
              <a:ext cx="2103120" cy="1588"/>
            </a:xfrm>
            <a:prstGeom prst="line">
              <a:avLst/>
            </a:prstGeom>
            <a:ln w="31750">
              <a:solidFill>
                <a:srgbClr val="7030A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14400" y="2667000"/>
              <a:ext cx="1261884" cy="523220"/>
            </a:xfrm>
            <a:prstGeom prst="rect">
              <a:avLst/>
            </a:prstGeom>
            <a:solidFill>
              <a:srgbClr val="F7DDF4"/>
            </a:solidFill>
            <a:ln>
              <a:solidFill>
                <a:srgbClr val="7030A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800" dirty="0"/>
                <a:t>等当点</a:t>
              </a:r>
              <a:endParaRPr lang="en-US" sz="2800" dirty="0"/>
            </a:p>
          </p:txBody>
        </p:sp>
      </p:grpSp>
      <p:pic>
        <p:nvPicPr>
          <p:cNvPr id="15" name="Picture 14" descr="15.jpg"/>
          <p:cNvPicPr>
            <a:picLocks noChangeAspect="1"/>
          </p:cNvPicPr>
          <p:nvPr/>
        </p:nvPicPr>
        <p:blipFill>
          <a:blip r:embed="rId4"/>
          <a:srcRect l="6044" t="11905" r="10440" b="6044"/>
          <a:stretch>
            <a:fillRect/>
          </a:stretch>
        </p:blipFill>
        <p:spPr>
          <a:xfrm>
            <a:off x="457200" y="914400"/>
            <a:ext cx="8458200" cy="579120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blinds(horizontal)">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blinds(horizontal)">
                                      <p:cBhvr>
                                        <p:cTn id="57" dur="500"/>
                                        <p:tgtEl>
                                          <p:spTgt spid="3">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blinds(horizontal)">
                                      <p:cBhvr>
                                        <p:cTn id="6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滴定曲线</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u="sng" dirty="0">
                <a:sym typeface="Wingdings" pitchFamily="2" charset="2"/>
              </a:rPr>
              <a:t>弱酸弱碱的滴定</a:t>
            </a:r>
            <a:endParaRPr lang="en-US" altLang="zh-CN" sz="3000" u="sng" dirty="0">
              <a:sym typeface="Wingdings" pitchFamily="2" charset="2"/>
            </a:endParaRPr>
          </a:p>
          <a:p>
            <a:pPr>
              <a:spcBef>
                <a:spcPts val="0"/>
              </a:spcBef>
              <a:buFont typeface="Wingdings" pitchFamily="2" charset="2"/>
              <a:buChar char="Ø"/>
            </a:pPr>
            <a:r>
              <a:rPr lang="zh-CN" altLang="en-US" sz="3000" dirty="0">
                <a:sym typeface="Wingdings" pitchFamily="2" charset="2"/>
              </a:rPr>
              <a:t>突跃范围小</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等当点</a:t>
            </a:r>
            <a:endParaRPr lang="en-US" altLang="zh-CN" sz="3000" dirty="0">
              <a:sym typeface="Wingdings" pitchFamily="2" charset="2"/>
            </a:endParaRPr>
          </a:p>
          <a:p>
            <a:pPr lvl="1">
              <a:spcBef>
                <a:spcPts val="0"/>
              </a:spcBef>
              <a:buFont typeface="Wingdings" pitchFamily="2" charset="2"/>
              <a:buChar char="Ø"/>
            </a:pPr>
            <a:r>
              <a:rPr lang="zh-CN" altLang="en-US" sz="2600" dirty="0">
                <a:sym typeface="Wingdings" pitchFamily="2" charset="2"/>
              </a:rPr>
              <a:t>若</a:t>
            </a:r>
            <a:r>
              <a:rPr lang="en-US" altLang="zh-CN" sz="2600" dirty="0">
                <a:sym typeface="Wingdings" pitchFamily="2" charset="2"/>
              </a:rPr>
              <a:t>K</a:t>
            </a:r>
            <a:r>
              <a:rPr lang="en-US" altLang="zh-CN" sz="2600" baseline="-25000" dirty="0">
                <a:sym typeface="Wingdings" pitchFamily="2" charset="2"/>
              </a:rPr>
              <a:t>a</a:t>
            </a:r>
            <a:r>
              <a:rPr lang="en-US" altLang="zh-CN" sz="2600" dirty="0">
                <a:sym typeface="Wingdings" pitchFamily="2" charset="2"/>
              </a:rPr>
              <a:t> &gt; K</a:t>
            </a:r>
            <a:r>
              <a:rPr lang="en-US" altLang="zh-CN" sz="2600" baseline="-25000" dirty="0">
                <a:sym typeface="Wingdings" pitchFamily="2" charset="2"/>
              </a:rPr>
              <a:t>b</a:t>
            </a:r>
            <a:r>
              <a:rPr lang="en-US" altLang="zh-CN" sz="2600" dirty="0">
                <a:sym typeface="Wingdings" pitchFamily="2" charset="2"/>
              </a:rPr>
              <a:t> </a:t>
            </a:r>
            <a:r>
              <a:rPr lang="zh-CN" altLang="en-US" sz="2600" dirty="0">
                <a:sym typeface="Wingdings" pitchFamily="2" charset="2"/>
              </a:rPr>
              <a:t>，酸性范围</a:t>
            </a:r>
            <a:endParaRPr lang="en-US" altLang="zh-CN" sz="2600" dirty="0">
              <a:sym typeface="Wingdings" pitchFamily="2" charset="2"/>
            </a:endParaRPr>
          </a:p>
          <a:p>
            <a:pPr lvl="1">
              <a:spcBef>
                <a:spcPts val="0"/>
              </a:spcBef>
              <a:buFont typeface="Wingdings" pitchFamily="2" charset="2"/>
              <a:buChar char="Ø"/>
            </a:pPr>
            <a:r>
              <a:rPr lang="zh-CN" altLang="en-US" sz="2600" dirty="0">
                <a:sym typeface="Wingdings" pitchFamily="2" charset="2"/>
              </a:rPr>
              <a:t>若</a:t>
            </a:r>
            <a:r>
              <a:rPr lang="en-US" altLang="zh-CN" sz="2600" dirty="0">
                <a:sym typeface="Wingdings" pitchFamily="2" charset="2"/>
              </a:rPr>
              <a:t>K</a:t>
            </a:r>
            <a:r>
              <a:rPr lang="en-US" altLang="zh-CN" sz="2600" baseline="-25000" dirty="0">
                <a:sym typeface="Wingdings" pitchFamily="2" charset="2"/>
              </a:rPr>
              <a:t>a</a:t>
            </a:r>
            <a:r>
              <a:rPr lang="en-US" altLang="zh-CN" sz="2600" dirty="0">
                <a:sym typeface="Wingdings" pitchFamily="2" charset="2"/>
              </a:rPr>
              <a:t> = K</a:t>
            </a:r>
            <a:r>
              <a:rPr lang="en-US" altLang="zh-CN" sz="2600" baseline="-25000" dirty="0">
                <a:sym typeface="Wingdings" pitchFamily="2" charset="2"/>
              </a:rPr>
              <a:t>b</a:t>
            </a:r>
            <a:r>
              <a:rPr lang="en-US" altLang="zh-CN" sz="2600" dirty="0">
                <a:sym typeface="Wingdings" pitchFamily="2" charset="2"/>
              </a:rPr>
              <a:t> </a:t>
            </a:r>
            <a:r>
              <a:rPr lang="zh-CN" altLang="en-US" sz="2600" dirty="0">
                <a:sym typeface="Wingdings" pitchFamily="2" charset="2"/>
              </a:rPr>
              <a:t>，中性范围</a:t>
            </a:r>
            <a:endParaRPr lang="en-US" altLang="zh-CN" sz="2600" dirty="0">
              <a:sym typeface="Wingdings" pitchFamily="2" charset="2"/>
            </a:endParaRPr>
          </a:p>
          <a:p>
            <a:pPr lvl="1">
              <a:spcBef>
                <a:spcPts val="0"/>
              </a:spcBef>
              <a:buFont typeface="Wingdings" pitchFamily="2" charset="2"/>
              <a:buChar char="Ø"/>
            </a:pPr>
            <a:r>
              <a:rPr lang="zh-CN" altLang="en-US" sz="2600" dirty="0">
                <a:sym typeface="Wingdings" pitchFamily="2" charset="2"/>
              </a:rPr>
              <a:t>若</a:t>
            </a:r>
            <a:r>
              <a:rPr lang="en-US" altLang="zh-CN" sz="2600" dirty="0">
                <a:sym typeface="Wingdings" pitchFamily="2" charset="2"/>
              </a:rPr>
              <a:t>K</a:t>
            </a:r>
            <a:r>
              <a:rPr lang="en-US" altLang="zh-CN" sz="2600" baseline="-25000" dirty="0">
                <a:sym typeface="Wingdings" pitchFamily="2" charset="2"/>
              </a:rPr>
              <a:t>a</a:t>
            </a:r>
            <a:r>
              <a:rPr lang="en-US" altLang="zh-CN" sz="2600" dirty="0">
                <a:sym typeface="Wingdings" pitchFamily="2" charset="2"/>
              </a:rPr>
              <a:t> &lt; K</a:t>
            </a:r>
            <a:r>
              <a:rPr lang="en-US" altLang="zh-CN" sz="2600" baseline="-25000" dirty="0">
                <a:sym typeface="Wingdings" pitchFamily="2" charset="2"/>
              </a:rPr>
              <a:t>b</a:t>
            </a:r>
            <a:r>
              <a:rPr lang="en-US" altLang="zh-CN" sz="2600" dirty="0">
                <a:sym typeface="Wingdings" pitchFamily="2" charset="2"/>
              </a:rPr>
              <a:t> </a:t>
            </a:r>
            <a:r>
              <a:rPr lang="zh-CN" altLang="en-US" sz="2600" dirty="0">
                <a:sym typeface="Wingdings" pitchFamily="2" charset="2"/>
              </a:rPr>
              <a:t>，碱性范围</a:t>
            </a: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不易得到明显的滴定终点</a:t>
            </a:r>
            <a:endParaRPr lang="en-US" altLang="zh-CN" sz="3000" dirty="0">
              <a:sym typeface="Wingdings" pitchFamily="2" charset="2"/>
            </a:endParaRPr>
          </a:p>
          <a:p>
            <a:pPr>
              <a:spcBef>
                <a:spcPts val="0"/>
              </a:spcBef>
              <a:buFont typeface="Wingdings" pitchFamily="2" charset="2"/>
              <a:buChar char="Ø"/>
            </a:pPr>
            <a:endParaRPr lang="en-US" altLang="zh-CN" sz="3000" dirty="0">
              <a:sym typeface="Wingdings" pitchFamily="2" charset="2"/>
            </a:endParaRPr>
          </a:p>
          <a:p>
            <a:pPr>
              <a:spcBef>
                <a:spcPts val="0"/>
              </a:spcBef>
              <a:buFont typeface="Wingdings" pitchFamily="2" charset="2"/>
              <a:buChar char="Ø"/>
            </a:pPr>
            <a:r>
              <a:rPr lang="zh-CN" altLang="en-US" sz="3000" dirty="0">
                <a:sym typeface="Wingdings" pitchFamily="2" charset="2"/>
              </a:rPr>
              <a:t>总结，酸碱滴定的等当点不一定是</a:t>
            </a:r>
            <a:r>
              <a:rPr lang="en-US" altLang="zh-CN" sz="3000" dirty="0">
                <a:sym typeface="Wingdings" pitchFamily="2" charset="2"/>
              </a:rPr>
              <a:t>pH7</a:t>
            </a:r>
            <a:r>
              <a:rPr lang="zh-CN" altLang="en-US" sz="3000" dirty="0">
                <a:sym typeface="Wingdings" pitchFamily="2" charset="2"/>
              </a:rPr>
              <a:t>。</a:t>
            </a:r>
            <a:endParaRPr lang="en-US" altLang="zh-CN" sz="3000" dirty="0">
              <a:sym typeface="Wingdings" pitchFamily="2" charset="2"/>
            </a:endParaRPr>
          </a:p>
          <a:p>
            <a:pPr lvl="1">
              <a:spcBef>
                <a:spcPts val="0"/>
              </a:spcBef>
              <a:buNone/>
            </a:pPr>
            <a:endParaRPr lang="en-US" altLang="zh-CN" sz="2600" dirty="0">
              <a:sym typeface="Wingdings" pitchFamily="2" charset="2"/>
            </a:endParaRPr>
          </a:p>
          <a:p>
            <a:pPr lvl="1">
              <a:spcBef>
                <a:spcPts val="0"/>
              </a:spcBef>
              <a:buFont typeface="Wingdings" pitchFamily="2" charset="2"/>
              <a:buChar char="Ø"/>
            </a:pPr>
            <a:endParaRPr lang="en-US" altLang="zh-CN" sz="26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23.4.2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滴定曲线</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u="sng" dirty="0">
                <a:sym typeface="Wingdings" pitchFamily="2" charset="2"/>
              </a:rPr>
              <a:t>问题解决</a:t>
            </a:r>
            <a:r>
              <a:rPr lang="en-US" altLang="zh-CN" sz="3000" u="sng" dirty="0">
                <a:sym typeface="Wingdings" pitchFamily="2" charset="2"/>
              </a:rPr>
              <a:t>pg269</a:t>
            </a:r>
          </a:p>
          <a:p>
            <a:pPr>
              <a:spcBef>
                <a:spcPts val="0"/>
              </a:spcBef>
              <a:buNone/>
            </a:pPr>
            <a:r>
              <a:rPr lang="zh-CN" altLang="en-US" sz="3000" dirty="0">
                <a:sym typeface="Wingdings" pitchFamily="2" charset="2"/>
              </a:rPr>
              <a:t>已知：</a:t>
            </a:r>
            <a:r>
              <a:rPr lang="en-US" altLang="zh-CN" sz="3000" dirty="0">
                <a:sym typeface="Wingdings" pitchFamily="2" charset="2"/>
              </a:rPr>
              <a:t>c</a:t>
            </a:r>
            <a:r>
              <a:rPr lang="en-US" altLang="zh-CN" sz="3000" baseline="-25000" dirty="0">
                <a:sym typeface="Wingdings" pitchFamily="2" charset="2"/>
              </a:rPr>
              <a:t>a</a:t>
            </a:r>
            <a:r>
              <a:rPr lang="en-US" altLang="zh-CN" sz="3000" dirty="0">
                <a:sym typeface="Wingdings" pitchFamily="2" charset="2"/>
              </a:rPr>
              <a:t> = 0.1032M </a:t>
            </a:r>
            <a:r>
              <a:rPr lang="zh-CN" altLang="en-US" sz="3000" dirty="0">
                <a:sym typeface="Wingdings" pitchFamily="2" charset="2"/>
              </a:rPr>
              <a:t>， </a:t>
            </a:r>
            <a:r>
              <a:rPr lang="en-US" altLang="zh-CN" sz="3000" dirty="0" err="1">
                <a:sym typeface="Wingdings" pitchFamily="2" charset="2"/>
              </a:rPr>
              <a:t>V</a:t>
            </a:r>
            <a:r>
              <a:rPr lang="en-US" altLang="zh-CN" sz="3000" baseline="-25000" dirty="0" err="1">
                <a:sym typeface="Wingdings" pitchFamily="2" charset="2"/>
              </a:rPr>
              <a:t>a</a:t>
            </a:r>
            <a:r>
              <a:rPr lang="en-US" altLang="zh-CN" sz="3000" dirty="0">
                <a:sym typeface="Wingdings" pitchFamily="2" charset="2"/>
              </a:rPr>
              <a:t> = 27.84mL (</a:t>
            </a:r>
            <a:r>
              <a:rPr lang="zh-CN" altLang="en-US" sz="3000" dirty="0">
                <a:sym typeface="Wingdings" pitchFamily="2" charset="2"/>
              </a:rPr>
              <a:t>取平均</a:t>
            </a:r>
            <a:r>
              <a:rPr lang="en-US" altLang="zh-CN" sz="3000" dirty="0">
                <a:sym typeface="Wingdings" pitchFamily="2" charset="2"/>
              </a:rPr>
              <a:t>) </a:t>
            </a:r>
          </a:p>
          <a:p>
            <a:pPr>
              <a:spcBef>
                <a:spcPts val="0"/>
              </a:spcBef>
              <a:buNone/>
            </a:pPr>
            <a:r>
              <a:rPr lang="en-US" altLang="zh-CN" sz="3000" dirty="0">
                <a:sym typeface="Wingdings" pitchFamily="2" charset="2"/>
              </a:rPr>
              <a:t>		  </a:t>
            </a:r>
            <a:r>
              <a:rPr lang="en-US" altLang="zh-CN" sz="3000" dirty="0" err="1">
                <a:sym typeface="Wingdings" pitchFamily="2" charset="2"/>
              </a:rPr>
              <a:t>V</a:t>
            </a:r>
            <a:r>
              <a:rPr lang="en-US" altLang="zh-CN" sz="3000" baseline="-25000" dirty="0" err="1">
                <a:sym typeface="Wingdings" pitchFamily="2" charset="2"/>
              </a:rPr>
              <a:t>b</a:t>
            </a:r>
            <a:r>
              <a:rPr lang="en-US" altLang="zh-CN" sz="3000" dirty="0">
                <a:sym typeface="Wingdings" pitchFamily="2" charset="2"/>
              </a:rPr>
              <a:t> = 25mL </a:t>
            </a:r>
          </a:p>
          <a:p>
            <a:pPr>
              <a:spcBef>
                <a:spcPts val="0"/>
              </a:spcBef>
              <a:buNone/>
            </a:pPr>
            <a:r>
              <a:rPr lang="zh-CN" altLang="en-US" sz="3000" dirty="0">
                <a:sym typeface="Wingdings" pitchFamily="2" charset="2"/>
              </a:rPr>
              <a:t>求 ： </a:t>
            </a:r>
            <a:r>
              <a:rPr lang="en-US" altLang="zh-CN" sz="3000" dirty="0" err="1">
                <a:sym typeface="Wingdings" pitchFamily="2" charset="2"/>
              </a:rPr>
              <a:t>c</a:t>
            </a:r>
            <a:r>
              <a:rPr lang="en-US" altLang="zh-CN" sz="3000" baseline="-25000" dirty="0" err="1">
                <a:sym typeface="Wingdings" pitchFamily="2" charset="2"/>
              </a:rPr>
              <a:t>b</a:t>
            </a:r>
            <a:r>
              <a:rPr lang="en-US" altLang="zh-CN" sz="3000" dirty="0">
                <a:sym typeface="Wingdings" pitchFamily="2" charset="2"/>
              </a:rPr>
              <a:t> </a:t>
            </a:r>
          </a:p>
          <a:p>
            <a:pPr>
              <a:spcBef>
                <a:spcPts val="0"/>
              </a:spcBef>
              <a:buNone/>
            </a:pPr>
            <a:r>
              <a:rPr lang="en-US" altLang="zh-CN" sz="3000" dirty="0">
                <a:sym typeface="Wingdings" pitchFamily="2" charset="2"/>
              </a:rPr>
              <a:t>				 c</a:t>
            </a:r>
            <a:r>
              <a:rPr lang="en-US" altLang="zh-CN" sz="3000" baseline="-25000" dirty="0">
                <a:sym typeface="Wingdings" pitchFamily="2" charset="2"/>
              </a:rPr>
              <a:t>a </a:t>
            </a:r>
            <a:r>
              <a:rPr lang="en-US" altLang="zh-CN" sz="3000" dirty="0">
                <a:sym typeface="Wingdings" pitchFamily="2" charset="2"/>
              </a:rPr>
              <a:t> </a:t>
            </a:r>
            <a:r>
              <a:rPr lang="en-US" altLang="zh-CN" sz="3000" dirty="0" err="1">
                <a:sym typeface="Wingdings" pitchFamily="2" charset="2"/>
              </a:rPr>
              <a:t>V</a:t>
            </a:r>
            <a:r>
              <a:rPr lang="en-US" altLang="zh-CN" sz="3000" baseline="-25000" dirty="0" err="1">
                <a:sym typeface="Wingdings" pitchFamily="2" charset="2"/>
              </a:rPr>
              <a:t>a</a:t>
            </a:r>
            <a:r>
              <a:rPr lang="en-US" altLang="zh-CN" sz="3000" dirty="0">
                <a:sym typeface="Wingdings" pitchFamily="2" charset="2"/>
              </a:rPr>
              <a:t> = </a:t>
            </a:r>
            <a:r>
              <a:rPr lang="en-US" altLang="zh-CN" sz="3000" dirty="0" err="1">
                <a:sym typeface="Wingdings" pitchFamily="2" charset="2"/>
              </a:rPr>
              <a:t>c</a:t>
            </a:r>
            <a:r>
              <a:rPr lang="en-US" altLang="zh-CN" sz="3000" baseline="-25000" dirty="0" err="1">
                <a:sym typeface="Wingdings" pitchFamily="2" charset="2"/>
              </a:rPr>
              <a:t>b</a:t>
            </a:r>
            <a:r>
              <a:rPr lang="en-US" altLang="zh-CN" sz="3000" dirty="0">
                <a:sym typeface="Wingdings" pitchFamily="2" charset="2"/>
              </a:rPr>
              <a:t> </a:t>
            </a:r>
            <a:r>
              <a:rPr lang="en-US" altLang="zh-CN" sz="3000" dirty="0" err="1">
                <a:sym typeface="Wingdings" pitchFamily="2" charset="2"/>
              </a:rPr>
              <a:t>V</a:t>
            </a:r>
            <a:r>
              <a:rPr lang="en-US" altLang="zh-CN" sz="3000" baseline="-25000" dirty="0" err="1">
                <a:sym typeface="Wingdings" pitchFamily="2" charset="2"/>
              </a:rPr>
              <a:t>b</a:t>
            </a:r>
            <a:r>
              <a:rPr lang="en-US" altLang="zh-CN" sz="3000" baseline="-25000" dirty="0">
                <a:sym typeface="Wingdings" pitchFamily="2" charset="2"/>
              </a:rPr>
              <a:t>  </a:t>
            </a:r>
          </a:p>
          <a:p>
            <a:pPr>
              <a:spcBef>
                <a:spcPts val="0"/>
              </a:spcBef>
              <a:buNone/>
            </a:pPr>
            <a:endParaRPr lang="en-US" altLang="zh-CN" sz="3000" baseline="-25000" dirty="0">
              <a:sym typeface="Wingdings" pitchFamily="2" charset="2"/>
            </a:endParaRPr>
          </a:p>
          <a:p>
            <a:pPr>
              <a:spcBef>
                <a:spcPts val="0"/>
              </a:spcBef>
              <a:buNone/>
            </a:pPr>
            <a:r>
              <a:rPr lang="en-US" altLang="zh-CN" sz="3000" baseline="-25000" dirty="0">
                <a:sym typeface="Wingdings" pitchFamily="2" charset="2"/>
              </a:rPr>
              <a:t>				</a:t>
            </a:r>
            <a:r>
              <a:rPr lang="en-US" altLang="zh-CN" sz="3000" dirty="0">
                <a:sym typeface="Wingdings" pitchFamily="2" charset="2"/>
              </a:rPr>
              <a:t>      </a:t>
            </a:r>
            <a:r>
              <a:rPr lang="en-US" altLang="zh-CN" sz="3000" dirty="0" err="1">
                <a:sym typeface="Wingdings" pitchFamily="2" charset="2"/>
              </a:rPr>
              <a:t>c</a:t>
            </a:r>
            <a:r>
              <a:rPr lang="en-US" altLang="zh-CN" sz="3000" baseline="-25000" dirty="0" err="1">
                <a:sym typeface="Wingdings" pitchFamily="2" charset="2"/>
              </a:rPr>
              <a:t>b</a:t>
            </a:r>
            <a:r>
              <a:rPr lang="en-US" altLang="zh-CN" sz="3000" baseline="-25000" dirty="0">
                <a:sym typeface="Wingdings" pitchFamily="2" charset="2"/>
              </a:rPr>
              <a:t> </a:t>
            </a:r>
            <a:r>
              <a:rPr lang="en-US" altLang="zh-CN" sz="3000" dirty="0">
                <a:sym typeface="Wingdings" pitchFamily="2" charset="2"/>
              </a:rPr>
              <a:t>=  </a:t>
            </a:r>
          </a:p>
          <a:p>
            <a:pPr>
              <a:spcBef>
                <a:spcPts val="0"/>
              </a:spcBef>
              <a:buNone/>
            </a:pPr>
            <a:r>
              <a:rPr lang="en-US" altLang="zh-CN" sz="3000" dirty="0">
                <a:sym typeface="Wingdings" pitchFamily="2" charset="2"/>
              </a:rPr>
              <a:t>				</a:t>
            </a:r>
          </a:p>
          <a:p>
            <a:pPr lvl="1">
              <a:spcBef>
                <a:spcPts val="0"/>
              </a:spcBef>
              <a:buNone/>
            </a:pPr>
            <a:r>
              <a:rPr lang="en-US" altLang="zh-CN" sz="3000" dirty="0">
                <a:sym typeface="Wingdings" pitchFamily="2" charset="2"/>
              </a:rPr>
              <a:t>					= 0.1149M </a:t>
            </a:r>
          </a:p>
          <a:p>
            <a:pPr lvl="1">
              <a:spcBef>
                <a:spcPts val="0"/>
              </a:spcBef>
              <a:buNone/>
            </a:pPr>
            <a:r>
              <a:rPr lang="zh-CN" altLang="en-US" sz="3000" b="1" dirty="0">
                <a:solidFill>
                  <a:srgbClr val="002060"/>
                </a:solidFill>
                <a:sym typeface="Wingdings" pitchFamily="2" charset="2"/>
              </a:rPr>
              <a:t>题目给的</a:t>
            </a:r>
            <a:r>
              <a:rPr lang="en-US" altLang="zh-CN" sz="3000" b="1" dirty="0">
                <a:solidFill>
                  <a:srgbClr val="002060"/>
                </a:solidFill>
                <a:sym typeface="Wingdings" pitchFamily="2" charset="2"/>
              </a:rPr>
              <a:t>c</a:t>
            </a:r>
            <a:r>
              <a:rPr lang="en-US" altLang="zh-CN" sz="3000" b="1" baseline="-25000" dirty="0">
                <a:solidFill>
                  <a:srgbClr val="002060"/>
                </a:solidFill>
                <a:sym typeface="Wingdings" pitchFamily="2" charset="2"/>
              </a:rPr>
              <a:t>a</a:t>
            </a:r>
            <a:r>
              <a:rPr lang="zh-CN" altLang="en-US" sz="3000" b="1" dirty="0">
                <a:solidFill>
                  <a:srgbClr val="002060"/>
                </a:solidFill>
                <a:sym typeface="Wingdings" pitchFamily="2" charset="2"/>
              </a:rPr>
              <a:t>为</a:t>
            </a:r>
            <a:r>
              <a:rPr lang="en-US" altLang="zh-CN" sz="3000" b="1" dirty="0">
                <a:solidFill>
                  <a:srgbClr val="002060"/>
                </a:solidFill>
                <a:sym typeface="Wingdings" pitchFamily="2" charset="2"/>
              </a:rPr>
              <a:t>4</a:t>
            </a:r>
            <a:r>
              <a:rPr lang="zh-CN" altLang="en-US" sz="3000" b="1" dirty="0">
                <a:solidFill>
                  <a:srgbClr val="002060"/>
                </a:solidFill>
                <a:sym typeface="Wingdings" pitchFamily="2" charset="2"/>
              </a:rPr>
              <a:t>位小数，因此答案</a:t>
            </a:r>
            <a:r>
              <a:rPr lang="en-US" altLang="zh-CN" sz="3000" b="1" dirty="0" err="1">
                <a:solidFill>
                  <a:srgbClr val="002060"/>
                </a:solidFill>
                <a:sym typeface="Wingdings" pitchFamily="2" charset="2"/>
              </a:rPr>
              <a:t>c</a:t>
            </a:r>
            <a:r>
              <a:rPr lang="en-US" altLang="zh-CN" sz="3000" b="1" baseline="-25000" dirty="0" err="1">
                <a:solidFill>
                  <a:srgbClr val="002060"/>
                </a:solidFill>
                <a:sym typeface="Wingdings" pitchFamily="2" charset="2"/>
              </a:rPr>
              <a:t>b</a:t>
            </a:r>
            <a:r>
              <a:rPr lang="en-US" altLang="zh-CN" sz="3000" b="1" dirty="0">
                <a:solidFill>
                  <a:srgbClr val="002060"/>
                </a:solidFill>
                <a:sym typeface="Wingdings" pitchFamily="2" charset="2"/>
              </a:rPr>
              <a:t> </a:t>
            </a:r>
            <a:r>
              <a:rPr lang="zh-CN" altLang="en-US" sz="3000" b="1" dirty="0">
                <a:solidFill>
                  <a:srgbClr val="002060"/>
                </a:solidFill>
                <a:sym typeface="Wingdings" pitchFamily="2" charset="2"/>
              </a:rPr>
              <a:t>亦应</a:t>
            </a:r>
            <a:r>
              <a:rPr lang="en-US" altLang="zh-CN" sz="3000" b="1" dirty="0">
                <a:solidFill>
                  <a:srgbClr val="002060"/>
                </a:solidFill>
                <a:sym typeface="Wingdings" pitchFamily="2" charset="2"/>
              </a:rPr>
              <a:t>4</a:t>
            </a:r>
            <a:r>
              <a:rPr lang="zh-CN" altLang="en-US" sz="3000" b="1" dirty="0">
                <a:solidFill>
                  <a:srgbClr val="002060"/>
                </a:solidFill>
                <a:sym typeface="Wingdings" pitchFamily="2" charset="2"/>
              </a:rPr>
              <a:t>位小数。</a:t>
            </a:r>
            <a:endParaRPr lang="en-US" altLang="zh-CN" sz="3000" b="1" dirty="0">
              <a:solidFill>
                <a:srgbClr val="002060"/>
              </a:solidFill>
              <a:sym typeface="Wingdings" pitchFamily="2" charset="2"/>
            </a:endParaRPr>
          </a:p>
          <a:p>
            <a:pPr lvl="1">
              <a:spcBef>
                <a:spcPts val="0"/>
              </a:spcBef>
              <a:buFont typeface="Wingdings" pitchFamily="2" charset="2"/>
              <a:buChar char="Ø"/>
            </a:pPr>
            <a:endParaRPr lang="en-US" altLang="zh-CN" sz="26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graphicFrame>
        <p:nvGraphicFramePr>
          <p:cNvPr id="5" name="Object 4"/>
          <p:cNvGraphicFramePr>
            <a:graphicFrameLocks noChangeAspect="1"/>
          </p:cNvGraphicFramePr>
          <p:nvPr/>
        </p:nvGraphicFramePr>
        <p:xfrm>
          <a:off x="4343401" y="3352800"/>
          <a:ext cx="3291348" cy="990600"/>
        </p:xfrm>
        <a:graphic>
          <a:graphicData uri="http://schemas.openxmlformats.org/presentationml/2006/ole">
            <mc:AlternateContent xmlns:mc="http://schemas.openxmlformats.org/markup-compatibility/2006">
              <mc:Choice xmlns:v="urn:schemas-microsoft-com:vml" Requires="v">
                <p:oleObj spid="_x0000_s48130" name="Equation" r:id="rId3" imgW="1307880" imgH="393480" progId="Equation.3">
                  <p:embed/>
                </p:oleObj>
              </mc:Choice>
              <mc:Fallback>
                <p:oleObj name="Equation" r:id="rId3" imgW="130788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1" y="3352800"/>
                        <a:ext cx="3291348"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8077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 </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23e</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marL="514350" indent="-514350">
              <a:spcBef>
                <a:spcPts val="0"/>
              </a:spcBef>
              <a:buAutoNum type="arabicPeriod"/>
            </a:pPr>
            <a:r>
              <a:rPr lang="en-US" altLang="zh-CN" sz="3000" dirty="0">
                <a:sym typeface="Wingdings" pitchFamily="2" charset="2"/>
              </a:rPr>
              <a:t>D</a:t>
            </a:r>
          </a:p>
          <a:p>
            <a:pPr marL="514350" indent="-514350">
              <a:spcBef>
                <a:spcPts val="0"/>
              </a:spcBef>
              <a:buNone/>
            </a:pPr>
            <a:r>
              <a:rPr lang="zh-CN" altLang="en-US" sz="2800" dirty="0"/>
              <a:t>解析：酸碱中和反应的实质是</a:t>
            </a:r>
            <a:r>
              <a:rPr lang="en-US" altLang="zh-CN" sz="2800" dirty="0"/>
              <a:t>H</a:t>
            </a:r>
            <a:r>
              <a:rPr lang="en-US" altLang="zh-CN" sz="2800" baseline="30000" dirty="0"/>
              <a:t>+</a:t>
            </a:r>
            <a:r>
              <a:rPr lang="zh-CN" altLang="en-US" sz="2800" dirty="0"/>
              <a:t>和</a:t>
            </a:r>
            <a:r>
              <a:rPr lang="en-US" altLang="zh-CN" sz="2800" dirty="0"/>
              <a:t>OH</a:t>
            </a:r>
            <a:r>
              <a:rPr lang="en-US" altLang="zh-CN" sz="2800" baseline="30000" dirty="0"/>
              <a:t>-</a:t>
            </a:r>
            <a:r>
              <a:rPr lang="zh-CN" altLang="en-US" sz="2800" dirty="0"/>
              <a:t>结合生成水。</a:t>
            </a:r>
            <a:endParaRPr lang="en-US" altLang="zh-CN" sz="3000" dirty="0">
              <a:sym typeface="Wingdings" pitchFamily="2" charset="2"/>
            </a:endParaRPr>
          </a:p>
          <a:p>
            <a:pPr marL="514350" indent="-514350">
              <a:spcBef>
                <a:spcPts val="0"/>
              </a:spcBef>
              <a:buNone/>
            </a:pPr>
            <a:r>
              <a:rPr lang="en-US" altLang="zh-CN" sz="3000" dirty="0">
                <a:sym typeface="Wingdings" pitchFamily="2" charset="2"/>
              </a:rPr>
              <a:t>2. D </a:t>
            </a:r>
          </a:p>
          <a:p>
            <a:pPr marL="514350" indent="-514350">
              <a:spcBef>
                <a:spcPts val="0"/>
              </a:spcBef>
              <a:buNone/>
            </a:pPr>
            <a:r>
              <a:rPr lang="zh-CN" altLang="en-US" sz="2800" dirty="0"/>
              <a:t>解析：反应物的用量（体积）不确定，无法判断。</a:t>
            </a:r>
            <a:endParaRPr lang="en-US" altLang="zh-CN" sz="2600" dirty="0">
              <a:sym typeface="Wingdings" pitchFamily="2" charset="2"/>
            </a:endParaRPr>
          </a:p>
          <a:p>
            <a:pPr marL="514350" indent="-514350">
              <a:spcBef>
                <a:spcPts val="0"/>
              </a:spcBef>
              <a:buNone/>
            </a:pPr>
            <a:endParaRPr lang="en-US" altLang="zh-CN" sz="2600" dirty="0">
              <a:sym typeface="Wingdings" pitchFamily="2" charset="2"/>
            </a:endParaRPr>
          </a:p>
          <a:p>
            <a:pPr marL="514350" indent="-514350">
              <a:spcBef>
                <a:spcPts val="0"/>
              </a:spcBef>
              <a:buNone/>
            </a:pPr>
            <a:r>
              <a:rPr lang="en-US" altLang="zh-CN" sz="2600" dirty="0">
                <a:sym typeface="Wingdings" pitchFamily="2" charset="2"/>
              </a:rPr>
              <a:t>3. </a:t>
            </a: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graphicFrame>
        <p:nvGraphicFramePr>
          <p:cNvPr id="7" name="Table 6"/>
          <p:cNvGraphicFramePr>
            <a:graphicFrameLocks noGrp="1"/>
          </p:cNvGraphicFramePr>
          <p:nvPr/>
        </p:nvGraphicFramePr>
        <p:xfrm>
          <a:off x="866457" y="3048000"/>
          <a:ext cx="7896543" cy="329184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62343">
                  <a:extLst>
                    <a:ext uri="{9D8B030D-6E8A-4147-A177-3AD203B41FA5}">
                      <a16:colId xmlns:a16="http://schemas.microsoft.com/office/drawing/2014/main" val="20005"/>
                    </a:ext>
                  </a:extLst>
                </a:gridCol>
              </a:tblGrid>
              <a:tr h="370840">
                <a:tc>
                  <a:txBody>
                    <a:bodyPr/>
                    <a:lstStyle/>
                    <a:p>
                      <a:r>
                        <a:rPr lang="zh-CN" altLang="en-US" sz="2400" dirty="0"/>
                        <a:t>样品</a:t>
                      </a:r>
                      <a:endParaRPr lang="en-US" altLang="zh-CN" sz="2400" dirty="0"/>
                    </a:p>
                  </a:txBody>
                  <a:tcPr/>
                </a:tc>
                <a:tc>
                  <a:txBody>
                    <a:bodyPr/>
                    <a:lstStyle/>
                    <a:p>
                      <a:r>
                        <a:rPr lang="en-US" altLang="zh-CN" sz="2400" dirty="0"/>
                        <a:t>A</a:t>
                      </a:r>
                      <a:endParaRPr lang="en-US" sz="2400" dirty="0"/>
                    </a:p>
                  </a:txBody>
                  <a:tcPr/>
                </a:tc>
                <a:tc>
                  <a:txBody>
                    <a:bodyPr/>
                    <a:lstStyle/>
                    <a:p>
                      <a:r>
                        <a:rPr lang="en-US" altLang="zh-CN" sz="2400" dirty="0"/>
                        <a:t>B</a:t>
                      </a:r>
                      <a:endParaRPr lang="en-US" sz="2400" dirty="0"/>
                    </a:p>
                  </a:txBody>
                  <a:tcPr/>
                </a:tc>
                <a:tc>
                  <a:txBody>
                    <a:bodyPr/>
                    <a:lstStyle/>
                    <a:p>
                      <a:r>
                        <a:rPr lang="en-US" altLang="zh-CN" sz="2400" dirty="0"/>
                        <a:t>C</a:t>
                      </a:r>
                      <a:endParaRPr lang="en-US" sz="2400" dirty="0"/>
                    </a:p>
                  </a:txBody>
                  <a:tcPr/>
                </a:tc>
                <a:tc>
                  <a:txBody>
                    <a:bodyPr/>
                    <a:lstStyle/>
                    <a:p>
                      <a:r>
                        <a:rPr lang="en-US" altLang="zh-CN" sz="2400" dirty="0"/>
                        <a:t>D</a:t>
                      </a:r>
                      <a:endParaRPr lang="en-US" sz="2400" dirty="0"/>
                    </a:p>
                  </a:txBody>
                  <a:tcPr/>
                </a:tc>
                <a:tc>
                  <a:txBody>
                    <a:bodyPr/>
                    <a:lstStyle/>
                    <a:p>
                      <a:r>
                        <a:rPr lang="en-US" altLang="zh-CN" sz="2400" dirty="0"/>
                        <a:t>E</a:t>
                      </a:r>
                      <a:endParaRPr lang="en-US" sz="2400" dirty="0"/>
                    </a:p>
                  </a:txBody>
                  <a:tcPr/>
                </a:tc>
                <a:extLst>
                  <a:ext uri="{0D108BD9-81ED-4DB2-BD59-A6C34878D82A}">
                    <a16:rowId xmlns:a16="http://schemas.microsoft.com/office/drawing/2014/main" val="10000"/>
                  </a:ext>
                </a:extLst>
              </a:tr>
              <a:tr h="370840">
                <a:tc>
                  <a:txBody>
                    <a:bodyPr/>
                    <a:lstStyle/>
                    <a:p>
                      <a:r>
                        <a:rPr lang="en-US" altLang="zh-CN" sz="2400" dirty="0"/>
                        <a:t>pH</a:t>
                      </a:r>
                      <a:r>
                        <a:rPr lang="zh-CN" altLang="en-US" sz="2400" dirty="0"/>
                        <a:t>值</a:t>
                      </a:r>
                      <a:endParaRPr lang="en-US" sz="2400" dirty="0"/>
                    </a:p>
                  </a:txBody>
                  <a:tcPr/>
                </a:tc>
                <a:tc>
                  <a:txBody>
                    <a:bodyPr/>
                    <a:lstStyle/>
                    <a:p>
                      <a:r>
                        <a:rPr lang="en-US" altLang="zh-CN" sz="2400" dirty="0"/>
                        <a:t>4.20</a:t>
                      </a:r>
                      <a:endParaRPr lang="en-US" sz="2400" dirty="0"/>
                    </a:p>
                  </a:txBody>
                  <a:tcPr/>
                </a:tc>
                <a:tc>
                  <a:txBody>
                    <a:bodyPr/>
                    <a:lstStyle/>
                    <a:p>
                      <a:r>
                        <a:rPr lang="en-US" altLang="zh-CN" sz="2400" dirty="0"/>
                        <a:t>5.14</a:t>
                      </a:r>
                      <a:endParaRPr lang="en-US" sz="2400" dirty="0"/>
                    </a:p>
                  </a:txBody>
                  <a:tcPr/>
                </a:tc>
                <a:tc>
                  <a:txBody>
                    <a:bodyPr/>
                    <a:lstStyle/>
                    <a:p>
                      <a:r>
                        <a:rPr lang="en-US" altLang="zh-CN" sz="2400" dirty="0"/>
                        <a:t>6.07</a:t>
                      </a:r>
                      <a:endParaRPr lang="en-US" sz="2400" dirty="0"/>
                    </a:p>
                  </a:txBody>
                  <a:tcPr/>
                </a:tc>
                <a:tc>
                  <a:txBody>
                    <a:bodyPr/>
                    <a:lstStyle/>
                    <a:p>
                      <a:r>
                        <a:rPr lang="en-US" altLang="zh-CN" sz="2400" dirty="0"/>
                        <a:t>7.25</a:t>
                      </a:r>
                      <a:endParaRPr lang="en-US" sz="2400" dirty="0"/>
                    </a:p>
                  </a:txBody>
                  <a:tcPr/>
                </a:tc>
                <a:tc>
                  <a:txBody>
                    <a:bodyPr/>
                    <a:lstStyle/>
                    <a:p>
                      <a:r>
                        <a:rPr lang="en-US" altLang="zh-CN" sz="2400" dirty="0"/>
                        <a:t>7.68</a:t>
                      </a:r>
                      <a:endParaRPr lang="en-US" sz="2400" dirty="0"/>
                    </a:p>
                  </a:txBody>
                  <a:tcPr/>
                </a:tc>
                <a:extLst>
                  <a:ext uri="{0D108BD9-81ED-4DB2-BD59-A6C34878D82A}">
                    <a16:rowId xmlns:a16="http://schemas.microsoft.com/office/drawing/2014/main" val="10001"/>
                  </a:ext>
                </a:extLst>
              </a:tr>
              <a:tr h="370840">
                <a:tc>
                  <a:txBody>
                    <a:bodyPr/>
                    <a:lstStyle/>
                    <a:p>
                      <a:r>
                        <a:rPr lang="zh-CN" altLang="en-US" sz="2400" dirty="0"/>
                        <a:t>适合种植的农作物</a:t>
                      </a:r>
                      <a:endParaRPr lang="en-US" sz="2400" dirty="0"/>
                    </a:p>
                  </a:txBody>
                  <a:tcPr/>
                </a:tc>
                <a:tc>
                  <a:txBody>
                    <a:bodyPr/>
                    <a:lstStyle/>
                    <a:p>
                      <a:r>
                        <a:rPr lang="en-US" altLang="zh-CN" sz="2400" dirty="0"/>
                        <a:t>-</a:t>
                      </a:r>
                      <a:endParaRPr lang="en-US" sz="2400" dirty="0"/>
                    </a:p>
                  </a:txBody>
                  <a:tcPr/>
                </a:tc>
                <a:tc>
                  <a:txBody>
                    <a:bodyPr/>
                    <a:lstStyle/>
                    <a:p>
                      <a:r>
                        <a:rPr lang="zh-CN" altLang="en-US" sz="2400" dirty="0"/>
                        <a:t>马铃薯、苹果、烟草</a:t>
                      </a:r>
                      <a:endParaRPr lang="en-US" sz="2400" dirty="0"/>
                    </a:p>
                  </a:txBody>
                  <a:tcPr/>
                </a:tc>
                <a:tc>
                  <a:txBody>
                    <a:bodyPr/>
                    <a:lstStyle/>
                    <a:p>
                      <a:r>
                        <a:rPr lang="zh-CN" altLang="en-US" sz="2400" dirty="0"/>
                        <a:t>除了马铃薯、薄荷、烟草以外，其他都可以</a:t>
                      </a:r>
                      <a:endParaRPr lang="en-US" sz="2400" dirty="0"/>
                    </a:p>
                  </a:txBody>
                  <a:tcPr/>
                </a:tc>
                <a:tc>
                  <a:txBody>
                    <a:bodyPr/>
                    <a:lstStyle/>
                    <a:p>
                      <a:r>
                        <a:rPr lang="zh-CN" altLang="en-US" sz="2400" dirty="0"/>
                        <a:t>小麦、薄荷、棉花、草莓</a:t>
                      </a:r>
                      <a:endParaRPr lang="en-US" sz="2400" dirty="0"/>
                    </a:p>
                  </a:txBody>
                  <a:tcPr/>
                </a:tc>
                <a:tc>
                  <a:txBody>
                    <a:bodyPr/>
                    <a:lstStyle/>
                    <a:p>
                      <a:r>
                        <a:rPr lang="zh-CN" altLang="en-US" sz="2400" dirty="0"/>
                        <a:t>棉花、薄荷</a:t>
                      </a:r>
                      <a:endParaRPr lang="en-US" sz="2400" dirty="0"/>
                    </a:p>
                  </a:txBody>
                  <a:tcPr/>
                </a:tc>
                <a:extLst>
                  <a:ext uri="{0D108BD9-81ED-4DB2-BD59-A6C34878D82A}">
                    <a16:rowId xmlns:a16="http://schemas.microsoft.com/office/drawing/2014/main" val="10002"/>
                  </a:ext>
                </a:extLst>
              </a:tr>
              <a:tr h="370840">
                <a:tc>
                  <a:txBody>
                    <a:bodyPr/>
                    <a:lstStyle/>
                    <a:p>
                      <a:r>
                        <a:rPr lang="zh-CN" altLang="en-US" sz="2400" dirty="0"/>
                        <a:t>改良建议</a:t>
                      </a:r>
                      <a:endParaRPr lang="en-US" sz="2400" dirty="0"/>
                    </a:p>
                  </a:txBody>
                  <a:tcPr/>
                </a:tc>
                <a:tc>
                  <a:txBody>
                    <a:bodyPr/>
                    <a:lstStyle/>
                    <a:p>
                      <a:r>
                        <a:rPr lang="zh-CN" altLang="en-US" sz="2400" dirty="0"/>
                        <a:t>撒熟石灰中和</a:t>
                      </a:r>
                      <a:endParaRPr lang="en-US" sz="2400" dirty="0"/>
                    </a:p>
                  </a:txBody>
                  <a:tcPr/>
                </a:tc>
                <a:tc>
                  <a:txBody>
                    <a:bodyPr/>
                    <a:lstStyle/>
                    <a:p>
                      <a:r>
                        <a:rPr lang="en-US" altLang="zh-CN" sz="2400" dirty="0"/>
                        <a:t>-</a:t>
                      </a:r>
                      <a:endParaRPr lang="en-US" sz="2400" dirty="0"/>
                    </a:p>
                  </a:txBody>
                  <a:tcPr/>
                </a:tc>
                <a:tc>
                  <a:txBody>
                    <a:bodyPr/>
                    <a:lstStyle/>
                    <a:p>
                      <a:r>
                        <a:rPr lang="en-US" altLang="zh-CN" sz="2400" dirty="0"/>
                        <a:t>-</a:t>
                      </a:r>
                      <a:endParaRPr lang="en-US" sz="2400" dirty="0"/>
                    </a:p>
                  </a:txBody>
                  <a:tcPr/>
                </a:tc>
                <a:tc>
                  <a:txBody>
                    <a:bodyPr/>
                    <a:lstStyle/>
                    <a:p>
                      <a:r>
                        <a:rPr lang="en-US" altLang="zh-CN" sz="2400" dirty="0"/>
                        <a:t>-</a:t>
                      </a:r>
                      <a:endParaRPr lang="en-US" sz="2400" dirty="0"/>
                    </a:p>
                  </a:txBody>
                  <a:tcPr/>
                </a:tc>
                <a:tc>
                  <a:txBody>
                    <a:bodyPr/>
                    <a:lstStyle/>
                    <a:p>
                      <a:r>
                        <a:rPr lang="en-US" altLang="zh-CN" sz="2400" dirty="0"/>
                        <a:t>-</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marL="514350" indent="-514350">
              <a:buAutoNum type="arabicPeriod"/>
            </a:pPr>
            <a:r>
              <a:rPr lang="zh-CN" altLang="en-US" sz="3000" dirty="0">
                <a:sym typeface="Wingdings" pitchFamily="2" charset="2"/>
              </a:rPr>
              <a:t>把</a:t>
            </a:r>
            <a:r>
              <a:rPr lang="en-US" altLang="zh-CN" sz="3000" dirty="0">
                <a:sym typeface="Wingdings" pitchFamily="2" charset="2"/>
              </a:rPr>
              <a:t>4g</a:t>
            </a:r>
            <a:r>
              <a:rPr lang="zh-CN" altLang="en-US" sz="3000" dirty="0">
                <a:sym typeface="Wingdings" pitchFamily="2" charset="2"/>
              </a:rPr>
              <a:t>不纯的</a:t>
            </a:r>
            <a:r>
              <a:rPr lang="en-US" altLang="zh-CN" sz="3000" dirty="0" err="1">
                <a:sym typeface="Wingdings" pitchFamily="2" charset="2"/>
              </a:rPr>
              <a:t>NaOH</a:t>
            </a:r>
            <a:r>
              <a:rPr lang="zh-CN" altLang="en-US" sz="3000" dirty="0">
                <a:sym typeface="Wingdings" pitchFamily="2" charset="2"/>
              </a:rPr>
              <a:t>固体溶于水中形成</a:t>
            </a:r>
            <a:r>
              <a:rPr lang="en-US" altLang="zh-CN" sz="3000" dirty="0">
                <a:sym typeface="Wingdings" pitchFamily="2" charset="2"/>
              </a:rPr>
              <a:t>500mL</a:t>
            </a:r>
            <a:r>
              <a:rPr lang="zh-CN" altLang="en-US" sz="3000" dirty="0">
                <a:sym typeface="Wingdings" pitchFamily="2" charset="2"/>
              </a:rPr>
              <a:t>溶液。</a:t>
            </a:r>
            <a:endParaRPr lang="en-US" altLang="zh-CN" sz="3000" dirty="0">
              <a:sym typeface="Wingdings" pitchFamily="2" charset="2"/>
            </a:endParaRPr>
          </a:p>
          <a:p>
            <a:pPr marL="514350" indent="-514350">
              <a:buNone/>
            </a:pPr>
            <a:r>
              <a:rPr lang="en-US" altLang="zh-CN" sz="3000" dirty="0">
                <a:sym typeface="Wingdings" pitchFamily="2" charset="2"/>
              </a:rPr>
              <a:t>	 </a:t>
            </a:r>
            <a:r>
              <a:rPr lang="zh-CN" altLang="en-US" sz="3000" dirty="0">
                <a:sym typeface="Wingdings" pitchFamily="2" charset="2"/>
              </a:rPr>
              <a:t>取</a:t>
            </a:r>
            <a:r>
              <a:rPr lang="en-US" altLang="zh-CN" sz="3000" dirty="0">
                <a:sym typeface="Wingdings" pitchFamily="2" charset="2"/>
              </a:rPr>
              <a:t>5mL</a:t>
            </a:r>
            <a:r>
              <a:rPr lang="zh-CN" altLang="en-US" sz="3000" dirty="0">
                <a:sym typeface="Wingdings" pitchFamily="2" charset="2"/>
              </a:rPr>
              <a:t>此溶液，需要</a:t>
            </a:r>
            <a:r>
              <a:rPr lang="en-US" altLang="zh-CN" sz="3000" dirty="0">
                <a:sym typeface="Wingdings" pitchFamily="2" charset="2"/>
              </a:rPr>
              <a:t>8.9mL 0.1M </a:t>
            </a:r>
            <a:r>
              <a:rPr lang="zh-CN" altLang="en-US" sz="3000" dirty="0">
                <a:sym typeface="Wingdings" pitchFamily="2" charset="2"/>
              </a:rPr>
              <a:t>的</a:t>
            </a:r>
            <a:r>
              <a:rPr lang="en-US" altLang="zh-CN" sz="3000" dirty="0" err="1">
                <a:sym typeface="Wingdings" pitchFamily="2" charset="2"/>
              </a:rPr>
              <a:t>HCl</a:t>
            </a:r>
            <a:r>
              <a:rPr lang="zh-CN" altLang="en-US" sz="3000" dirty="0">
                <a:sym typeface="Wingdings" pitchFamily="2" charset="2"/>
              </a:rPr>
              <a:t>溶液来中和。求固体</a:t>
            </a:r>
            <a:r>
              <a:rPr lang="en-US" altLang="zh-CN" sz="3000" dirty="0" err="1">
                <a:sym typeface="Wingdings" pitchFamily="2" charset="2"/>
              </a:rPr>
              <a:t>NaOH</a:t>
            </a:r>
            <a:r>
              <a:rPr lang="zh-CN" altLang="en-US" sz="3000" dirty="0">
                <a:sym typeface="Wingdings" pitchFamily="2" charset="2"/>
              </a:rPr>
              <a:t>的纯度。</a:t>
            </a:r>
            <a:endParaRPr lang="en-US" altLang="zh-CN" sz="3000" dirty="0">
              <a:sym typeface="Wingdings" pitchFamily="2" charset="2"/>
            </a:endParaRPr>
          </a:p>
          <a:p>
            <a:pPr marL="514350" indent="-514350">
              <a:buNone/>
            </a:pPr>
            <a:r>
              <a:rPr lang="en-US" altLang="zh-CN" sz="3000" dirty="0">
                <a:sym typeface="Wingdings" pitchFamily="2" charset="2"/>
              </a:rPr>
              <a:t>				      c</a:t>
            </a:r>
            <a:r>
              <a:rPr lang="en-US" altLang="zh-CN" sz="3000" baseline="-25000" dirty="0">
                <a:sym typeface="Wingdings" pitchFamily="2" charset="2"/>
              </a:rPr>
              <a:t>a</a:t>
            </a:r>
            <a:r>
              <a:rPr lang="en-US" altLang="zh-CN" sz="3000" dirty="0">
                <a:sym typeface="Wingdings" pitchFamily="2" charset="2"/>
              </a:rPr>
              <a:t> </a:t>
            </a:r>
            <a:r>
              <a:rPr lang="en-US" altLang="zh-CN" sz="3000" dirty="0" err="1">
                <a:sym typeface="Wingdings" pitchFamily="2" charset="2"/>
              </a:rPr>
              <a:t>V</a:t>
            </a:r>
            <a:r>
              <a:rPr lang="en-US" altLang="zh-CN" sz="3000" baseline="-25000" dirty="0" err="1">
                <a:sym typeface="Wingdings" pitchFamily="2" charset="2"/>
              </a:rPr>
              <a:t>a</a:t>
            </a:r>
            <a:r>
              <a:rPr lang="en-US" altLang="zh-CN" sz="3000" dirty="0">
                <a:sym typeface="Wingdings" pitchFamily="2" charset="2"/>
              </a:rPr>
              <a:t> = </a:t>
            </a:r>
            <a:r>
              <a:rPr lang="en-US" altLang="zh-CN" sz="3000" dirty="0" err="1">
                <a:sym typeface="Wingdings" pitchFamily="2" charset="2"/>
              </a:rPr>
              <a:t>c</a:t>
            </a:r>
            <a:r>
              <a:rPr lang="en-US" altLang="zh-CN" sz="3000" baseline="-25000" dirty="0" err="1">
                <a:sym typeface="Wingdings" pitchFamily="2" charset="2"/>
              </a:rPr>
              <a:t>b</a:t>
            </a:r>
            <a:r>
              <a:rPr lang="en-US" altLang="zh-CN" sz="3000" dirty="0">
                <a:sym typeface="Wingdings" pitchFamily="2" charset="2"/>
              </a:rPr>
              <a:t> </a:t>
            </a:r>
            <a:r>
              <a:rPr lang="en-US" altLang="zh-CN" sz="3000" dirty="0" err="1">
                <a:sym typeface="Wingdings" pitchFamily="2" charset="2"/>
              </a:rPr>
              <a:t>V</a:t>
            </a:r>
            <a:r>
              <a:rPr lang="en-US" altLang="zh-CN" sz="3000" baseline="-25000" dirty="0" err="1">
                <a:sym typeface="Wingdings" pitchFamily="2" charset="2"/>
              </a:rPr>
              <a:t>b</a:t>
            </a:r>
            <a:endParaRPr lang="en-US" altLang="zh-CN" sz="3000" dirty="0">
              <a:sym typeface="Wingdings" pitchFamily="2" charset="2"/>
            </a:endParaRPr>
          </a:p>
          <a:p>
            <a:pPr>
              <a:buNone/>
            </a:pPr>
            <a:r>
              <a:rPr lang="en-US" altLang="zh-CN" sz="3000" dirty="0">
                <a:sym typeface="Wingdings" pitchFamily="2" charset="2"/>
              </a:rPr>
              <a:t>			0.1M x 8.9mL = </a:t>
            </a:r>
            <a:r>
              <a:rPr lang="en-US" altLang="zh-CN" sz="3000" dirty="0" err="1">
                <a:sym typeface="Wingdings" pitchFamily="2" charset="2"/>
              </a:rPr>
              <a:t>c</a:t>
            </a:r>
            <a:r>
              <a:rPr lang="en-US" altLang="zh-CN" sz="3000" baseline="-25000" dirty="0" err="1">
                <a:sym typeface="Wingdings" pitchFamily="2" charset="2"/>
              </a:rPr>
              <a:t>b</a:t>
            </a:r>
            <a:r>
              <a:rPr lang="en-US" altLang="zh-CN" sz="3000" dirty="0">
                <a:sym typeface="Wingdings" pitchFamily="2" charset="2"/>
              </a:rPr>
              <a:t> x 5mL</a:t>
            </a:r>
          </a:p>
          <a:p>
            <a:pPr>
              <a:buNone/>
            </a:pPr>
            <a:r>
              <a:rPr lang="en-US" altLang="zh-CN" sz="3000" dirty="0">
                <a:sym typeface="Wingdings" pitchFamily="2" charset="2"/>
              </a:rPr>
              <a:t>					</a:t>
            </a:r>
            <a:r>
              <a:rPr lang="en-US" altLang="zh-CN" sz="3000" dirty="0" err="1">
                <a:sym typeface="Wingdings" pitchFamily="2" charset="2"/>
              </a:rPr>
              <a:t>c</a:t>
            </a:r>
            <a:r>
              <a:rPr lang="en-US" altLang="zh-CN" sz="3000" baseline="-25000" dirty="0" err="1">
                <a:sym typeface="Wingdings" pitchFamily="2" charset="2"/>
              </a:rPr>
              <a:t>b</a:t>
            </a:r>
            <a:r>
              <a:rPr lang="en-US" altLang="zh-CN" sz="3000" baseline="-25000" dirty="0">
                <a:sym typeface="Wingdings" pitchFamily="2" charset="2"/>
              </a:rPr>
              <a:t> </a:t>
            </a:r>
            <a:r>
              <a:rPr lang="en-US" altLang="zh-CN" sz="3000" dirty="0">
                <a:sym typeface="Wingdings" pitchFamily="2" charset="2"/>
              </a:rPr>
              <a:t> = 0.178M </a:t>
            </a:r>
          </a:p>
          <a:p>
            <a:pPr>
              <a:buNone/>
            </a:pPr>
            <a:r>
              <a:rPr lang="en-US" altLang="zh-CN" sz="3000" dirty="0">
                <a:sym typeface="Wingdings" pitchFamily="2" charset="2"/>
              </a:rPr>
              <a:t>	500mL</a:t>
            </a:r>
            <a:r>
              <a:rPr lang="zh-CN" altLang="en-US" sz="3000" dirty="0">
                <a:sym typeface="Wingdings" pitchFamily="2" charset="2"/>
              </a:rPr>
              <a:t>中，</a:t>
            </a:r>
            <a:r>
              <a:rPr lang="en-US" altLang="zh-CN" sz="3000" dirty="0">
                <a:sym typeface="Wingdings" pitchFamily="2" charset="2"/>
              </a:rPr>
              <a:t>	m(</a:t>
            </a:r>
            <a:r>
              <a:rPr lang="en-US" altLang="zh-CN" sz="3000" dirty="0" err="1">
                <a:sym typeface="Wingdings" pitchFamily="2" charset="2"/>
              </a:rPr>
              <a:t>NaOH</a:t>
            </a:r>
            <a:r>
              <a:rPr lang="en-US" altLang="zh-CN" sz="3000" dirty="0">
                <a:sym typeface="Wingdings" pitchFamily="2" charset="2"/>
              </a:rPr>
              <a:t>) = 0.178M x 0.5 L x 40g/mol</a:t>
            </a:r>
          </a:p>
          <a:p>
            <a:pPr>
              <a:buNone/>
            </a:pPr>
            <a:r>
              <a:rPr lang="en-US" altLang="zh-CN" sz="3000" dirty="0">
                <a:sym typeface="Wingdings" pitchFamily="2" charset="2"/>
              </a:rPr>
              <a:t>					      = 3.56g </a:t>
            </a:r>
          </a:p>
          <a:p>
            <a:pPr>
              <a:buNone/>
            </a:pPr>
            <a:r>
              <a:rPr lang="en-US" altLang="zh-CN" sz="3000" dirty="0">
                <a:sym typeface="Wingdings" pitchFamily="2" charset="2"/>
              </a:rPr>
              <a:t> 	</a:t>
            </a:r>
            <a:r>
              <a:rPr lang="zh-CN" altLang="en-US" sz="3000" dirty="0">
                <a:sym typeface="Wingdings" pitchFamily="2" charset="2"/>
              </a:rPr>
              <a:t>纯度 </a:t>
            </a:r>
            <a:r>
              <a:rPr lang="en-US" altLang="zh-CN" sz="3000" dirty="0">
                <a:sym typeface="Wingdings" pitchFamily="2" charset="2"/>
              </a:rPr>
              <a:t>= 			= 89%</a:t>
            </a:r>
          </a:p>
          <a:p>
            <a:pPr>
              <a:buNone/>
            </a:pPr>
            <a:endParaRPr lang="en-US" altLang="zh-CN" sz="3000" dirty="0">
              <a:sym typeface="Wingdings" pitchFamily="2" charset="2"/>
            </a:endParaRPr>
          </a:p>
        </p:txBody>
      </p:sp>
      <p:graphicFrame>
        <p:nvGraphicFramePr>
          <p:cNvPr id="6" name="Object 5"/>
          <p:cNvGraphicFramePr>
            <a:graphicFrameLocks noChangeAspect="1"/>
          </p:cNvGraphicFramePr>
          <p:nvPr/>
        </p:nvGraphicFramePr>
        <p:xfrm>
          <a:off x="1981200" y="5181599"/>
          <a:ext cx="1905000" cy="898071"/>
        </p:xfrm>
        <a:graphic>
          <a:graphicData uri="http://schemas.openxmlformats.org/presentationml/2006/ole">
            <mc:AlternateContent xmlns:mc="http://schemas.openxmlformats.org/markup-compatibility/2006">
              <mc:Choice xmlns:v="urn:schemas-microsoft-com:vml" Requires="v">
                <p:oleObj spid="_x0000_s104451" name="Equation" r:id="rId3" imgW="888840" imgH="419040" progId="Equation.3">
                  <p:embed/>
                </p:oleObj>
              </mc:Choice>
              <mc:Fallback>
                <p:oleObj name="Equation" r:id="rId3" imgW="888840" imgH="41904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5181599"/>
                        <a:ext cx="1905000" cy="8980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linds(horizontal)">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228600" y="990600"/>
            <a:ext cx="8839200" cy="5486400"/>
          </a:xfrm>
        </p:spPr>
        <p:txBody>
          <a:bodyPr>
            <a:noAutofit/>
          </a:bodyPr>
          <a:lstStyle/>
          <a:p>
            <a:pPr>
              <a:buNone/>
            </a:pPr>
            <a:r>
              <a:rPr lang="en-US" altLang="zh-CN" sz="3000" dirty="0">
                <a:sym typeface="Wingdings" pitchFamily="2" charset="2"/>
              </a:rPr>
              <a:t>2. </a:t>
            </a:r>
            <a:r>
              <a:rPr lang="zh-CN" altLang="en-US" sz="3000" dirty="0">
                <a:sym typeface="Wingdings" pitchFamily="2" charset="2"/>
              </a:rPr>
              <a:t>中和</a:t>
            </a:r>
            <a:r>
              <a:rPr lang="en-US" altLang="zh-CN" sz="3000" dirty="0">
                <a:sym typeface="Wingdings" pitchFamily="2" charset="2"/>
              </a:rPr>
              <a:t>50mL pH=3 </a:t>
            </a:r>
            <a:r>
              <a:rPr lang="zh-CN" altLang="en-US" sz="3000" dirty="0">
                <a:sym typeface="Wingdings" pitchFamily="2" charset="2"/>
              </a:rPr>
              <a:t>的醋酸溶液，需要</a:t>
            </a:r>
            <a:r>
              <a:rPr lang="en-US" altLang="zh-CN" sz="3000" dirty="0">
                <a:sym typeface="Wingdings" pitchFamily="2" charset="2"/>
              </a:rPr>
              <a:t>KOH 28.5mL</a:t>
            </a:r>
            <a:r>
              <a:rPr lang="zh-CN" altLang="en-US" sz="3000" dirty="0">
                <a:sym typeface="Wingdings" pitchFamily="2" charset="2"/>
              </a:rPr>
              <a:t>。求</a:t>
            </a:r>
            <a:r>
              <a:rPr lang="en-US" altLang="zh-CN" sz="3000" dirty="0">
                <a:sym typeface="Wingdings" pitchFamily="2" charset="2"/>
              </a:rPr>
              <a:t>KOH</a:t>
            </a:r>
            <a:r>
              <a:rPr lang="zh-CN" altLang="en-US" sz="3000" dirty="0">
                <a:sym typeface="Wingdings" pitchFamily="2" charset="2"/>
              </a:rPr>
              <a:t>溶液物质的量浓度。已知醋酸</a:t>
            </a:r>
            <a:r>
              <a:rPr lang="en-US" altLang="zh-CN" sz="3000" dirty="0">
                <a:sym typeface="Wingdings" pitchFamily="2" charset="2"/>
              </a:rPr>
              <a:t>K</a:t>
            </a:r>
            <a:r>
              <a:rPr lang="en-US" altLang="zh-CN" sz="3000" baseline="-25000" dirty="0">
                <a:sym typeface="Wingdings" pitchFamily="2" charset="2"/>
              </a:rPr>
              <a:t>a</a:t>
            </a:r>
            <a:r>
              <a:rPr lang="en-US" altLang="zh-CN" sz="3000" dirty="0">
                <a:sym typeface="Wingdings" pitchFamily="2" charset="2"/>
              </a:rPr>
              <a:t> = 1.76x10</a:t>
            </a:r>
            <a:r>
              <a:rPr lang="en-US" altLang="zh-CN" sz="3000" baseline="30000" dirty="0">
                <a:sym typeface="Wingdings" pitchFamily="2" charset="2"/>
              </a:rPr>
              <a:t>-5</a:t>
            </a:r>
            <a:r>
              <a:rPr lang="zh-CN" altLang="en-US" sz="3000" dirty="0">
                <a:sym typeface="Wingdings" pitchFamily="2" charset="2"/>
              </a:rPr>
              <a:t>。</a:t>
            </a:r>
            <a:endParaRPr lang="en-US" altLang="zh-CN" sz="3000" dirty="0">
              <a:sym typeface="Wingdings" pitchFamily="2" charset="2"/>
            </a:endParaRPr>
          </a:p>
          <a:p>
            <a:pPr>
              <a:buFont typeface="Wingdings" pitchFamily="2" charset="2"/>
              <a:buChar char="v"/>
            </a:pPr>
            <a:r>
              <a:rPr lang="zh-CN" altLang="en-US" sz="3000" dirty="0">
                <a:sym typeface="Wingdings" pitchFamily="2" charset="2"/>
              </a:rPr>
              <a:t>笔记：</a:t>
            </a:r>
            <a:r>
              <a:rPr lang="en-US" altLang="zh-CN" sz="3000" dirty="0">
                <a:sym typeface="Wingdings" pitchFamily="2" charset="2"/>
              </a:rPr>
              <a:t>[</a:t>
            </a:r>
            <a:r>
              <a:rPr lang="zh-CN" altLang="en-US" sz="3000" dirty="0">
                <a:sym typeface="Wingdings" pitchFamily="2" charset="2"/>
              </a:rPr>
              <a:t>醋酸</a:t>
            </a:r>
            <a:r>
              <a:rPr lang="en-US" altLang="zh-CN" sz="3000" dirty="0">
                <a:sym typeface="Wingdings" pitchFamily="2" charset="2"/>
              </a:rPr>
              <a:t>] </a:t>
            </a:r>
            <a:r>
              <a:rPr lang="en-US" altLang="zh-CN" sz="3000" dirty="0">
                <a:cs typeface="Arial"/>
                <a:sym typeface="Wingdings" pitchFamily="2" charset="2"/>
              </a:rPr>
              <a:t>≠ [H</a:t>
            </a:r>
            <a:r>
              <a:rPr lang="en-US" altLang="zh-CN" sz="3000" baseline="30000" dirty="0">
                <a:cs typeface="Arial"/>
                <a:sym typeface="Wingdings" pitchFamily="2" charset="2"/>
              </a:rPr>
              <a:t>+</a:t>
            </a:r>
            <a:r>
              <a:rPr lang="en-US" altLang="zh-CN" sz="3000" dirty="0">
                <a:cs typeface="Arial"/>
                <a:sym typeface="Wingdings" pitchFamily="2" charset="2"/>
              </a:rPr>
              <a:t>]</a:t>
            </a:r>
          </a:p>
          <a:p>
            <a:pPr>
              <a:buNone/>
            </a:pPr>
            <a:r>
              <a:rPr lang="en-US" altLang="zh-CN" sz="3000" dirty="0">
                <a:cs typeface="Arial"/>
                <a:sym typeface="Wingdings" pitchFamily="2" charset="2"/>
              </a:rPr>
              <a:t>pH=3 , [H</a:t>
            </a:r>
            <a:r>
              <a:rPr lang="en-US" altLang="zh-CN" sz="3000" baseline="30000" dirty="0">
                <a:cs typeface="Arial"/>
                <a:sym typeface="Wingdings" pitchFamily="2" charset="2"/>
              </a:rPr>
              <a:t>+</a:t>
            </a:r>
            <a:r>
              <a:rPr lang="en-US" altLang="zh-CN" sz="3000" dirty="0">
                <a:cs typeface="Arial"/>
                <a:sym typeface="Wingdings" pitchFamily="2" charset="2"/>
              </a:rPr>
              <a:t>] = 10</a:t>
            </a:r>
            <a:r>
              <a:rPr lang="en-US" altLang="zh-CN" sz="3000" baseline="30000" dirty="0">
                <a:cs typeface="Arial"/>
                <a:sym typeface="Wingdings" pitchFamily="2" charset="2"/>
              </a:rPr>
              <a:t>-3 </a:t>
            </a:r>
            <a:r>
              <a:rPr lang="en-US" altLang="zh-CN" sz="3000" dirty="0">
                <a:cs typeface="Arial"/>
                <a:sym typeface="Wingdings" pitchFamily="2" charset="2"/>
              </a:rPr>
              <a:t> M </a:t>
            </a:r>
          </a:p>
          <a:p>
            <a:pPr>
              <a:buNone/>
            </a:pPr>
            <a:r>
              <a:rPr lang="en-US" altLang="zh-CN" sz="3000" dirty="0">
                <a:cs typeface="Arial"/>
                <a:sym typeface="Wingdings" pitchFamily="2" charset="2"/>
              </a:rPr>
              <a:t>		CH</a:t>
            </a:r>
            <a:r>
              <a:rPr lang="en-US" altLang="zh-CN" sz="3000" baseline="-25000" dirty="0">
                <a:cs typeface="Arial"/>
                <a:sym typeface="Wingdings" pitchFamily="2" charset="2"/>
              </a:rPr>
              <a:t>3</a:t>
            </a:r>
            <a:r>
              <a:rPr lang="en-US" altLang="zh-CN" sz="3000" dirty="0">
                <a:cs typeface="Arial"/>
                <a:sym typeface="Wingdings" pitchFamily="2" charset="2"/>
              </a:rPr>
              <a:t> COOH (</a:t>
            </a:r>
            <a:r>
              <a:rPr lang="en-US" altLang="zh-CN" sz="3000" dirty="0" err="1">
                <a:cs typeface="Arial"/>
                <a:sym typeface="Wingdings" pitchFamily="2" charset="2"/>
              </a:rPr>
              <a:t>aq</a:t>
            </a:r>
            <a:r>
              <a:rPr lang="en-US" altLang="zh-CN" sz="3000" dirty="0">
                <a:cs typeface="Arial"/>
                <a:sym typeface="Wingdings" pitchFamily="2" charset="2"/>
              </a:rPr>
              <a:t>) &lt;--&gt; CH</a:t>
            </a:r>
            <a:r>
              <a:rPr lang="en-US" altLang="zh-CN" sz="3000" baseline="-25000" dirty="0">
                <a:cs typeface="Arial"/>
                <a:sym typeface="Wingdings" pitchFamily="2" charset="2"/>
              </a:rPr>
              <a:t>3</a:t>
            </a:r>
            <a:r>
              <a:rPr lang="en-US" altLang="zh-CN" sz="3000" dirty="0">
                <a:cs typeface="Arial"/>
                <a:sym typeface="Wingdings" pitchFamily="2" charset="2"/>
              </a:rPr>
              <a:t> COO</a:t>
            </a:r>
            <a:r>
              <a:rPr lang="en-US" altLang="zh-CN" sz="3000" baseline="30000" dirty="0">
                <a:cs typeface="Arial"/>
                <a:sym typeface="Wingdings" pitchFamily="2" charset="2"/>
              </a:rPr>
              <a:t>-</a:t>
            </a:r>
            <a:r>
              <a:rPr lang="en-US" altLang="zh-CN" sz="3000" dirty="0">
                <a:cs typeface="Arial"/>
                <a:sym typeface="Wingdings" pitchFamily="2" charset="2"/>
              </a:rPr>
              <a:t> (</a:t>
            </a:r>
            <a:r>
              <a:rPr lang="en-US" altLang="zh-CN" sz="3000" dirty="0" err="1">
                <a:cs typeface="Arial"/>
                <a:sym typeface="Wingdings" pitchFamily="2" charset="2"/>
              </a:rPr>
              <a:t>aq</a:t>
            </a:r>
            <a:r>
              <a:rPr lang="en-US" altLang="zh-CN" sz="3000" dirty="0">
                <a:cs typeface="Arial"/>
                <a:sym typeface="Wingdings" pitchFamily="2" charset="2"/>
              </a:rPr>
              <a:t>) + H</a:t>
            </a:r>
            <a:r>
              <a:rPr lang="en-US" altLang="zh-CN" sz="3000" baseline="30000" dirty="0">
                <a:cs typeface="Arial"/>
                <a:sym typeface="Wingdings" pitchFamily="2" charset="2"/>
              </a:rPr>
              <a:t>+</a:t>
            </a:r>
            <a:r>
              <a:rPr lang="en-US" altLang="zh-CN" sz="3000" dirty="0">
                <a:cs typeface="Arial"/>
                <a:sym typeface="Wingdings" pitchFamily="2" charset="2"/>
              </a:rPr>
              <a:t> (</a:t>
            </a:r>
            <a:r>
              <a:rPr lang="en-US" altLang="zh-CN" sz="3000" dirty="0" err="1">
                <a:cs typeface="Arial"/>
                <a:sym typeface="Wingdings" pitchFamily="2" charset="2"/>
              </a:rPr>
              <a:t>aq</a:t>
            </a:r>
            <a:r>
              <a:rPr lang="en-US" altLang="zh-CN" sz="3000" dirty="0">
                <a:cs typeface="Arial"/>
                <a:sym typeface="Wingdings" pitchFamily="2" charset="2"/>
              </a:rPr>
              <a:t>)</a:t>
            </a:r>
          </a:p>
          <a:p>
            <a:pPr>
              <a:buNone/>
            </a:pPr>
            <a:r>
              <a:rPr lang="en-US" altLang="zh-CN" sz="3000" dirty="0">
                <a:cs typeface="Arial"/>
                <a:sym typeface="Wingdings" pitchFamily="2" charset="2"/>
              </a:rPr>
              <a:t>			</a:t>
            </a:r>
            <a:r>
              <a:rPr lang="en-US" altLang="zh-CN" sz="3000" dirty="0">
                <a:sym typeface="Wingdings" pitchFamily="2" charset="2"/>
              </a:rPr>
              <a:t> c</a:t>
            </a:r>
            <a:r>
              <a:rPr lang="en-US" altLang="zh-CN" sz="3000" baseline="-25000" dirty="0">
                <a:sym typeface="Wingdings" pitchFamily="2" charset="2"/>
              </a:rPr>
              <a:t>a </a:t>
            </a:r>
            <a:r>
              <a:rPr lang="en-US" altLang="zh-CN" sz="3000" dirty="0">
                <a:cs typeface="Arial"/>
                <a:sym typeface="Wingdings" pitchFamily="2" charset="2"/>
              </a:rPr>
              <a:t>-10</a:t>
            </a:r>
            <a:r>
              <a:rPr lang="en-US" altLang="zh-CN" sz="3000" baseline="30000" dirty="0">
                <a:cs typeface="Arial"/>
                <a:sym typeface="Wingdings" pitchFamily="2" charset="2"/>
              </a:rPr>
              <a:t>-3</a:t>
            </a:r>
            <a:r>
              <a:rPr lang="en-US" altLang="zh-CN" sz="3000" dirty="0">
                <a:cs typeface="Arial"/>
                <a:sym typeface="Wingdings" pitchFamily="2" charset="2"/>
              </a:rPr>
              <a:t> 		10</a:t>
            </a:r>
            <a:r>
              <a:rPr lang="en-US" altLang="zh-CN" sz="3000" baseline="30000" dirty="0">
                <a:cs typeface="Arial"/>
                <a:sym typeface="Wingdings" pitchFamily="2" charset="2"/>
              </a:rPr>
              <a:t>-3	</a:t>
            </a:r>
            <a:r>
              <a:rPr lang="en-US" altLang="zh-CN" sz="3000" dirty="0">
                <a:cs typeface="Arial"/>
                <a:sym typeface="Wingdings" pitchFamily="2" charset="2"/>
              </a:rPr>
              <a:t>  	 10</a:t>
            </a:r>
            <a:r>
              <a:rPr lang="en-US" altLang="zh-CN" sz="3000" baseline="30000" dirty="0">
                <a:cs typeface="Arial"/>
                <a:sym typeface="Wingdings" pitchFamily="2" charset="2"/>
              </a:rPr>
              <a:t>-3</a:t>
            </a:r>
            <a:r>
              <a:rPr lang="en-US" altLang="zh-CN" sz="3000" dirty="0">
                <a:cs typeface="Arial"/>
                <a:sym typeface="Wingdings" pitchFamily="2" charset="2"/>
              </a:rPr>
              <a:t> </a:t>
            </a:r>
          </a:p>
          <a:p>
            <a:pPr>
              <a:buNone/>
            </a:pPr>
            <a:endParaRPr lang="en-US" altLang="zh-CN" sz="3000" dirty="0">
              <a:cs typeface="Arial"/>
              <a:sym typeface="Wingdings" pitchFamily="2" charset="2"/>
            </a:endParaRPr>
          </a:p>
          <a:p>
            <a:pPr>
              <a:buNone/>
            </a:pPr>
            <a:endParaRPr lang="en-US" altLang="zh-CN" sz="3000" dirty="0">
              <a:cs typeface="Arial"/>
              <a:sym typeface="Wingdings" pitchFamily="2" charset="2"/>
            </a:endParaRPr>
          </a:p>
          <a:p>
            <a:pPr>
              <a:buNone/>
            </a:pPr>
            <a:r>
              <a:rPr lang="en-US" altLang="zh-CN" sz="3000" dirty="0">
                <a:cs typeface="Arial"/>
                <a:sym typeface="Wingdings" pitchFamily="2" charset="2"/>
              </a:rPr>
              <a:t>			</a:t>
            </a:r>
            <a:r>
              <a:rPr lang="en-US" altLang="zh-CN" sz="3000" dirty="0">
                <a:sym typeface="Wingdings" pitchFamily="2" charset="2"/>
              </a:rPr>
              <a:t> </a:t>
            </a:r>
          </a:p>
          <a:p>
            <a:pPr>
              <a:buNone/>
            </a:pPr>
            <a:r>
              <a:rPr lang="en-US" altLang="zh-CN" sz="3000" dirty="0">
                <a:sym typeface="Wingdings" pitchFamily="2" charset="2"/>
              </a:rPr>
              <a:t> 		      c</a:t>
            </a:r>
            <a:r>
              <a:rPr lang="en-US" altLang="zh-CN" sz="3000" baseline="-25000" dirty="0">
                <a:sym typeface="Wingdings" pitchFamily="2" charset="2"/>
              </a:rPr>
              <a:t>a</a:t>
            </a:r>
            <a:r>
              <a:rPr lang="en-US" altLang="zh-CN" sz="3000" dirty="0">
                <a:sym typeface="Wingdings" pitchFamily="2" charset="2"/>
              </a:rPr>
              <a:t> = 0.057 M </a:t>
            </a:r>
            <a:endParaRPr lang="en-US" altLang="zh-CN" sz="3000" dirty="0">
              <a:cs typeface="Arial"/>
              <a:sym typeface="Wingdings" pitchFamily="2" charset="2"/>
            </a:endParaRPr>
          </a:p>
          <a:p>
            <a:pPr>
              <a:buNone/>
            </a:pPr>
            <a:r>
              <a:rPr lang="en-US" altLang="zh-CN" sz="3000" dirty="0">
                <a:cs typeface="Arial"/>
                <a:sym typeface="Wingdings" pitchFamily="2" charset="2"/>
              </a:rPr>
              <a:t>			</a:t>
            </a:r>
            <a:endParaRPr lang="en-US" altLang="zh-CN" sz="3000" dirty="0">
              <a:sym typeface="Wingdings" pitchFamily="2" charset="2"/>
            </a:endParaRPr>
          </a:p>
        </p:txBody>
      </p:sp>
      <p:grpSp>
        <p:nvGrpSpPr>
          <p:cNvPr id="7" name="Group 3"/>
          <p:cNvGrpSpPr/>
          <p:nvPr/>
        </p:nvGrpSpPr>
        <p:grpSpPr>
          <a:xfrm>
            <a:off x="1110022" y="3962400"/>
            <a:ext cx="3995377" cy="1041975"/>
            <a:chOff x="2068535" y="1462086"/>
            <a:chExt cx="3005133" cy="1041975"/>
          </a:xfrm>
        </p:grpSpPr>
        <p:grpSp>
          <p:nvGrpSpPr>
            <p:cNvPr id="8" name="Group 24"/>
            <p:cNvGrpSpPr/>
            <p:nvPr/>
          </p:nvGrpSpPr>
          <p:grpSpPr>
            <a:xfrm>
              <a:off x="2068535" y="1462086"/>
              <a:ext cx="3005133" cy="838200"/>
              <a:chOff x="2068535" y="1462086"/>
              <a:chExt cx="3005133" cy="838200"/>
            </a:xfrm>
          </p:grpSpPr>
          <p:sp>
            <p:nvSpPr>
              <p:cNvPr id="10" name="TextBox 9"/>
              <p:cNvSpPr txBox="1"/>
              <p:nvPr/>
            </p:nvSpPr>
            <p:spPr>
              <a:xfrm>
                <a:off x="2068535" y="1715511"/>
                <a:ext cx="1113770" cy="584775"/>
              </a:xfrm>
              <a:prstGeom prst="rect">
                <a:avLst/>
              </a:prstGeom>
              <a:noFill/>
            </p:spPr>
            <p:txBody>
              <a:bodyPr wrap="square" rtlCol="0">
                <a:spAutoFit/>
              </a:bodyPr>
              <a:lstStyle/>
              <a:p>
                <a:r>
                  <a:rPr lang="en-US" altLang="zh-CN" sz="3200" dirty="0"/>
                  <a:t> K</a:t>
                </a:r>
                <a:r>
                  <a:rPr lang="en-US" altLang="zh-CN" sz="3200" baseline="-25000" dirty="0"/>
                  <a:t>a</a:t>
                </a:r>
                <a:r>
                  <a:rPr lang="en-US" altLang="zh-CN" sz="3200" dirty="0"/>
                  <a:t>   =</a:t>
                </a:r>
                <a:endParaRPr lang="en-US" sz="3200" dirty="0"/>
              </a:p>
            </p:txBody>
          </p:sp>
          <p:cxnSp>
            <p:nvCxnSpPr>
              <p:cNvPr id="11" name="Straight Connector 10"/>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763718" y="1462086"/>
                <a:ext cx="2309950" cy="584775"/>
              </a:xfrm>
              <a:prstGeom prst="rect">
                <a:avLst/>
              </a:prstGeom>
              <a:noFill/>
            </p:spPr>
            <p:txBody>
              <a:bodyPr wrap="square" rtlCol="0">
                <a:spAutoFit/>
              </a:bodyPr>
              <a:lstStyle/>
              <a:p>
                <a:r>
                  <a:rPr lang="en-US" sz="3200" dirty="0"/>
                  <a:t> [H</a:t>
                </a:r>
                <a:r>
                  <a:rPr lang="en-US" sz="3200" baseline="30000" dirty="0"/>
                  <a:t>+</a:t>
                </a:r>
                <a:r>
                  <a:rPr lang="en-US" sz="3200" dirty="0"/>
                  <a:t>] [CH</a:t>
                </a:r>
                <a:r>
                  <a:rPr lang="en-US" sz="3200" baseline="-25000" dirty="0"/>
                  <a:t>3</a:t>
                </a:r>
                <a:r>
                  <a:rPr lang="en-US" sz="3200" dirty="0"/>
                  <a:t>COO</a:t>
                </a:r>
                <a:r>
                  <a:rPr lang="en-US" sz="3200" baseline="30000" dirty="0"/>
                  <a:t>-</a:t>
                </a:r>
                <a:r>
                  <a:rPr lang="en-US" sz="3200" dirty="0"/>
                  <a:t> ]</a:t>
                </a:r>
              </a:p>
            </p:txBody>
          </p:sp>
        </p:grpSp>
        <p:sp>
          <p:nvSpPr>
            <p:cNvPr id="9" name="TextBox 5"/>
            <p:cNvSpPr txBox="1"/>
            <p:nvPr/>
          </p:nvSpPr>
          <p:spPr>
            <a:xfrm>
              <a:off x="2609165" y="1919286"/>
              <a:ext cx="1861860" cy="584775"/>
            </a:xfrm>
            <a:prstGeom prst="rect">
              <a:avLst/>
            </a:prstGeom>
            <a:noFill/>
          </p:spPr>
          <p:txBody>
            <a:bodyPr wrap="square" rtlCol="0">
              <a:spAutoFit/>
            </a:bodyPr>
            <a:lstStyle/>
            <a:p>
              <a:r>
                <a:rPr lang="en-US" altLang="zh-CN" sz="3200" dirty="0"/>
                <a:t>    [</a:t>
              </a:r>
              <a:r>
                <a:rPr lang="en-US" altLang="zh-CN" sz="3200" dirty="0">
                  <a:sym typeface="Wingdings" pitchFamily="2" charset="2"/>
                </a:rPr>
                <a:t>CH</a:t>
              </a:r>
              <a:r>
                <a:rPr lang="en-US" altLang="zh-CN" sz="3200" baseline="-25000" dirty="0">
                  <a:sym typeface="Wingdings" pitchFamily="2" charset="2"/>
                </a:rPr>
                <a:t>3</a:t>
              </a:r>
              <a:r>
                <a:rPr lang="en-US" altLang="zh-CN" sz="3200" dirty="0">
                  <a:sym typeface="Wingdings" pitchFamily="2" charset="2"/>
                </a:rPr>
                <a:t> COOH</a:t>
              </a:r>
              <a:r>
                <a:rPr lang="en-US" altLang="zh-CN" sz="3200" dirty="0"/>
                <a:t>]</a:t>
              </a:r>
              <a:endParaRPr lang="en-US" sz="3200" dirty="0"/>
            </a:p>
          </p:txBody>
        </p:sp>
      </p:grpSp>
      <p:grpSp>
        <p:nvGrpSpPr>
          <p:cNvPr id="13" name="Group 3"/>
          <p:cNvGrpSpPr/>
          <p:nvPr/>
        </p:nvGrpSpPr>
        <p:grpSpPr>
          <a:xfrm>
            <a:off x="152400" y="4825425"/>
            <a:ext cx="5138375" cy="1041975"/>
            <a:chOff x="1208826" y="1462086"/>
            <a:chExt cx="3864842" cy="1041975"/>
          </a:xfrm>
        </p:grpSpPr>
        <p:grpSp>
          <p:nvGrpSpPr>
            <p:cNvPr id="14" name="Group 24"/>
            <p:cNvGrpSpPr/>
            <p:nvPr/>
          </p:nvGrpSpPr>
          <p:grpSpPr>
            <a:xfrm>
              <a:off x="1208826" y="1462086"/>
              <a:ext cx="3864842" cy="838200"/>
              <a:chOff x="1208826" y="1462086"/>
              <a:chExt cx="3864842" cy="838200"/>
            </a:xfrm>
          </p:grpSpPr>
          <p:sp>
            <p:nvSpPr>
              <p:cNvPr id="16" name="TextBox 15"/>
              <p:cNvSpPr txBox="1"/>
              <p:nvPr/>
            </p:nvSpPr>
            <p:spPr>
              <a:xfrm>
                <a:off x="1208826" y="1715511"/>
                <a:ext cx="2030795" cy="584775"/>
              </a:xfrm>
              <a:prstGeom prst="rect">
                <a:avLst/>
              </a:prstGeom>
              <a:noFill/>
            </p:spPr>
            <p:txBody>
              <a:bodyPr wrap="square" rtlCol="0">
                <a:spAutoFit/>
              </a:bodyPr>
              <a:lstStyle/>
              <a:p>
                <a:r>
                  <a:rPr lang="en-US" altLang="zh-CN" sz="3200" dirty="0"/>
                  <a:t>1.76x10</a:t>
                </a:r>
                <a:r>
                  <a:rPr lang="en-US" altLang="zh-CN" sz="3200" baseline="30000" dirty="0"/>
                  <a:t>-5</a:t>
                </a:r>
                <a:r>
                  <a:rPr lang="en-US" altLang="zh-CN" sz="3200" dirty="0"/>
                  <a:t>   =</a:t>
                </a:r>
                <a:endParaRPr lang="en-US" sz="3200" dirty="0"/>
              </a:p>
            </p:txBody>
          </p:sp>
          <p:cxnSp>
            <p:nvCxnSpPr>
              <p:cNvPr id="17" name="Straight Connector 16"/>
              <p:cNvCxnSpPr/>
              <p:nvPr/>
            </p:nvCxnSpPr>
            <p:spPr>
              <a:xfrm>
                <a:off x="2881222" y="2022478"/>
                <a:ext cx="1925751"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763718" y="1462086"/>
                <a:ext cx="2309950" cy="584775"/>
              </a:xfrm>
              <a:prstGeom prst="rect">
                <a:avLst/>
              </a:prstGeom>
              <a:noFill/>
            </p:spPr>
            <p:txBody>
              <a:bodyPr wrap="square" rtlCol="0">
                <a:spAutoFit/>
              </a:bodyPr>
              <a:lstStyle/>
              <a:p>
                <a:r>
                  <a:rPr lang="en-US" sz="3200" dirty="0"/>
                  <a:t>     (10</a:t>
                </a:r>
                <a:r>
                  <a:rPr lang="en-US" sz="3200" baseline="30000" dirty="0"/>
                  <a:t>-3</a:t>
                </a:r>
                <a:r>
                  <a:rPr lang="en-US" sz="3200" dirty="0"/>
                  <a:t>)(10</a:t>
                </a:r>
                <a:r>
                  <a:rPr lang="en-US" sz="3200" baseline="30000" dirty="0"/>
                  <a:t>-3</a:t>
                </a:r>
                <a:r>
                  <a:rPr lang="en-US" sz="3200" dirty="0"/>
                  <a:t>)</a:t>
                </a:r>
              </a:p>
            </p:txBody>
          </p:sp>
        </p:grpSp>
        <p:sp>
          <p:nvSpPr>
            <p:cNvPr id="15" name="TextBox 5"/>
            <p:cNvSpPr txBox="1"/>
            <p:nvPr/>
          </p:nvSpPr>
          <p:spPr>
            <a:xfrm>
              <a:off x="2957748" y="1919286"/>
              <a:ext cx="1861860" cy="584775"/>
            </a:xfrm>
            <a:prstGeom prst="rect">
              <a:avLst/>
            </a:prstGeom>
            <a:noFill/>
          </p:spPr>
          <p:txBody>
            <a:bodyPr wrap="square" rtlCol="0">
              <a:spAutoFit/>
            </a:bodyPr>
            <a:lstStyle/>
            <a:p>
              <a:r>
                <a:rPr lang="en-US" altLang="zh-CN" sz="3200" dirty="0"/>
                <a:t>    c</a:t>
              </a:r>
              <a:r>
                <a:rPr lang="en-US" altLang="zh-CN" sz="3200" baseline="-25000" dirty="0"/>
                <a:t>a</a:t>
              </a:r>
              <a:r>
                <a:rPr lang="en-US" altLang="zh-CN" sz="3200" dirty="0"/>
                <a:t> – 10</a:t>
              </a:r>
              <a:r>
                <a:rPr lang="en-US" altLang="zh-CN" sz="3200" baseline="30000" dirty="0"/>
                <a:t>-3</a:t>
              </a:r>
              <a:endParaRPr lang="en-US" sz="3200" dirty="0"/>
            </a:p>
          </p:txBody>
        </p:sp>
      </p:grpSp>
      <p:sp>
        <p:nvSpPr>
          <p:cNvPr id="22" name="TextBox 21"/>
          <p:cNvSpPr txBox="1"/>
          <p:nvPr/>
        </p:nvSpPr>
        <p:spPr>
          <a:xfrm>
            <a:off x="4572000" y="4953001"/>
            <a:ext cx="457201" cy="1569660"/>
          </a:xfrm>
          <a:prstGeom prst="rect">
            <a:avLst/>
          </a:prstGeom>
          <a:solidFill>
            <a:srgbClr val="E2CFF1"/>
          </a:solidFill>
          <a:ln>
            <a:solidFill>
              <a:srgbClr val="00206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400" dirty="0"/>
              <a:t>忽略不计</a:t>
            </a:r>
            <a:endParaRPr lang="en-US" sz="2400" dirty="0"/>
          </a:p>
        </p:txBody>
      </p:sp>
      <p:grpSp>
        <p:nvGrpSpPr>
          <p:cNvPr id="23" name="Group 15"/>
          <p:cNvGrpSpPr/>
          <p:nvPr/>
        </p:nvGrpSpPr>
        <p:grpSpPr>
          <a:xfrm>
            <a:off x="3505200" y="5334000"/>
            <a:ext cx="1143000" cy="457200"/>
            <a:chOff x="4114800" y="5181600"/>
            <a:chExt cx="1143000" cy="457200"/>
          </a:xfrm>
        </p:grpSpPr>
        <p:sp>
          <p:nvSpPr>
            <p:cNvPr id="24" name="Oval 23"/>
            <p:cNvSpPr/>
            <p:nvPr/>
          </p:nvSpPr>
          <p:spPr>
            <a:xfrm>
              <a:off x="4114800" y="5181600"/>
              <a:ext cx="685800" cy="45720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Curved Connector 24"/>
            <p:cNvCxnSpPr>
              <a:stCxn id="24" idx="6"/>
            </p:cNvCxnSpPr>
            <p:nvPr/>
          </p:nvCxnSpPr>
          <p:spPr>
            <a:xfrm flipV="1">
              <a:off x="4800600" y="5181600"/>
              <a:ext cx="457200" cy="228600"/>
            </a:xfrm>
            <a:prstGeom prst="curvedConnector3">
              <a:avLst>
                <a:gd name="adj1" fmla="val 50000"/>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grpSp>
      <p:sp>
        <p:nvSpPr>
          <p:cNvPr id="27" name="Rectangle 26"/>
          <p:cNvSpPr/>
          <p:nvPr/>
        </p:nvSpPr>
        <p:spPr>
          <a:xfrm>
            <a:off x="6473195" y="4094202"/>
            <a:ext cx="2061205" cy="553998"/>
          </a:xfrm>
          <a:prstGeom prst="rect">
            <a:avLst/>
          </a:prstGeom>
        </p:spPr>
        <p:txBody>
          <a:bodyPr wrap="none">
            <a:spAutoFit/>
          </a:bodyPr>
          <a:lstStyle/>
          <a:p>
            <a:r>
              <a:rPr lang="en-US" altLang="zh-CN" sz="3000" dirty="0">
                <a:solidFill>
                  <a:srgbClr val="002060"/>
                </a:solidFill>
                <a:sym typeface="Wingdings" pitchFamily="2" charset="2"/>
              </a:rPr>
              <a:t> c</a:t>
            </a:r>
            <a:r>
              <a:rPr lang="en-US" altLang="zh-CN" sz="3000" baseline="-25000" dirty="0">
                <a:solidFill>
                  <a:srgbClr val="002060"/>
                </a:solidFill>
                <a:sym typeface="Wingdings" pitchFamily="2" charset="2"/>
              </a:rPr>
              <a:t>a</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V</a:t>
            </a:r>
            <a:r>
              <a:rPr lang="en-US" altLang="zh-CN" sz="3000" baseline="-25000" dirty="0" err="1">
                <a:solidFill>
                  <a:srgbClr val="002060"/>
                </a:solidFill>
                <a:sym typeface="Wingdings" pitchFamily="2" charset="2"/>
              </a:rPr>
              <a:t>a</a:t>
            </a:r>
            <a:r>
              <a:rPr lang="en-US" altLang="zh-CN" sz="3000" dirty="0">
                <a:solidFill>
                  <a:srgbClr val="002060"/>
                </a:solidFill>
                <a:sym typeface="Wingdings" pitchFamily="2" charset="2"/>
              </a:rPr>
              <a:t> = </a:t>
            </a:r>
            <a:r>
              <a:rPr lang="en-US" altLang="zh-CN" sz="3000" dirty="0" err="1">
                <a:solidFill>
                  <a:srgbClr val="002060"/>
                </a:solidFill>
                <a:sym typeface="Wingdings" pitchFamily="2" charset="2"/>
              </a:rPr>
              <a:t>c</a:t>
            </a:r>
            <a:r>
              <a:rPr lang="en-US" altLang="zh-CN" sz="3000" baseline="-25000" dirty="0" err="1">
                <a:solidFill>
                  <a:srgbClr val="002060"/>
                </a:solidFill>
                <a:sym typeface="Wingdings" pitchFamily="2" charset="2"/>
              </a:rPr>
              <a:t>b</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V</a:t>
            </a:r>
            <a:r>
              <a:rPr lang="en-US" altLang="zh-CN" sz="3000" baseline="-25000" dirty="0" err="1">
                <a:solidFill>
                  <a:srgbClr val="002060"/>
                </a:solidFill>
                <a:sym typeface="Wingdings" pitchFamily="2" charset="2"/>
              </a:rPr>
              <a:t>b</a:t>
            </a:r>
            <a:endParaRPr lang="en-US" sz="3000" dirty="0">
              <a:solidFill>
                <a:srgbClr val="002060"/>
              </a:solidFill>
            </a:endParaRPr>
          </a:p>
        </p:txBody>
      </p:sp>
      <p:sp>
        <p:nvSpPr>
          <p:cNvPr id="28" name="Rectangle 27"/>
          <p:cNvSpPr/>
          <p:nvPr/>
        </p:nvSpPr>
        <p:spPr>
          <a:xfrm>
            <a:off x="5105400" y="4703802"/>
            <a:ext cx="4572000" cy="523220"/>
          </a:xfrm>
          <a:prstGeom prst="rect">
            <a:avLst/>
          </a:prstGeom>
        </p:spPr>
        <p:txBody>
          <a:bodyPr>
            <a:spAutoFit/>
          </a:bodyPr>
          <a:lstStyle/>
          <a:p>
            <a:r>
              <a:rPr lang="en-US" altLang="zh-CN" sz="2800" dirty="0">
                <a:solidFill>
                  <a:srgbClr val="002060"/>
                </a:solidFill>
                <a:sym typeface="Wingdings" pitchFamily="2" charset="2"/>
              </a:rPr>
              <a:t>0.057Mx50mL = c</a:t>
            </a:r>
            <a:r>
              <a:rPr lang="en-US" altLang="zh-CN" sz="2800" baseline="-25000" dirty="0">
                <a:solidFill>
                  <a:srgbClr val="002060"/>
                </a:solidFill>
                <a:sym typeface="Wingdings" pitchFamily="2" charset="2"/>
              </a:rPr>
              <a:t>b</a:t>
            </a:r>
            <a:r>
              <a:rPr lang="en-US" altLang="zh-CN" sz="2800" dirty="0">
                <a:solidFill>
                  <a:srgbClr val="002060"/>
                </a:solidFill>
                <a:sym typeface="Wingdings" pitchFamily="2" charset="2"/>
              </a:rPr>
              <a:t>x28.5mL</a:t>
            </a:r>
            <a:endParaRPr lang="en-US" sz="2800" dirty="0">
              <a:solidFill>
                <a:srgbClr val="002060"/>
              </a:solidFill>
            </a:endParaRPr>
          </a:p>
        </p:txBody>
      </p:sp>
      <p:sp>
        <p:nvSpPr>
          <p:cNvPr id="30" name="Rectangle 29"/>
          <p:cNvSpPr/>
          <p:nvPr/>
        </p:nvSpPr>
        <p:spPr>
          <a:xfrm>
            <a:off x="6781800" y="5313402"/>
            <a:ext cx="1808508" cy="553998"/>
          </a:xfrm>
          <a:prstGeom prst="rect">
            <a:avLst/>
          </a:prstGeom>
        </p:spPr>
        <p:txBody>
          <a:bodyPr wrap="none">
            <a:spAutoFit/>
          </a:bodyPr>
          <a:lstStyle/>
          <a:p>
            <a:r>
              <a:rPr lang="en-US" altLang="zh-CN" sz="3000" dirty="0" err="1">
                <a:solidFill>
                  <a:srgbClr val="002060"/>
                </a:solidFill>
                <a:sym typeface="Wingdings" pitchFamily="2" charset="2"/>
              </a:rPr>
              <a:t>c</a:t>
            </a:r>
            <a:r>
              <a:rPr lang="en-US" altLang="zh-CN" sz="3000" baseline="-25000" dirty="0" err="1">
                <a:solidFill>
                  <a:srgbClr val="002060"/>
                </a:solidFill>
                <a:sym typeface="Wingdings" pitchFamily="2" charset="2"/>
              </a:rPr>
              <a:t>b</a:t>
            </a:r>
            <a:r>
              <a:rPr lang="en-US" altLang="zh-CN" sz="3000" baseline="-25000" dirty="0">
                <a:solidFill>
                  <a:srgbClr val="002060"/>
                </a:solidFill>
                <a:sym typeface="Wingdings" pitchFamily="2" charset="2"/>
              </a:rPr>
              <a:t> </a:t>
            </a:r>
            <a:r>
              <a:rPr lang="en-US" altLang="zh-CN" sz="3000" dirty="0">
                <a:solidFill>
                  <a:srgbClr val="002060"/>
                </a:solidFill>
                <a:sym typeface="Wingdings" pitchFamily="2" charset="2"/>
              </a:rPr>
              <a:t> = 0.1M </a:t>
            </a:r>
            <a:endParaRPr lang="en-US" sz="3000" dirty="0">
              <a:solidFill>
                <a:srgbClr val="002060"/>
              </a:solidFill>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par>
                                <p:cTn id="33" presetID="3" presetClass="entr" presetSubtype="1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blinds(horizontal)">
                                      <p:cBhvr>
                                        <p:cTn id="35" dur="500"/>
                                        <p:tgtEl>
                                          <p:spTgt spid="2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blinds(horizontal)">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blinds(horizontal)">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blinds(horizontal)">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blinds(horizontal)">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blinds(horizontal)">
                                      <p:cBhvr>
                                        <p:cTn id="5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2" grpId="0" animBg="1"/>
      <p:bldP spid="27" grpId="0"/>
      <p:bldP spid="28" grpId="0"/>
      <p:bldP spid="3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14400"/>
            <a:ext cx="8077200" cy="5562600"/>
          </a:xfrm>
        </p:spPr>
        <p:txBody>
          <a:bodyPr>
            <a:noAutofit/>
          </a:bodyPr>
          <a:lstStyle/>
          <a:p>
            <a:pPr>
              <a:buNone/>
            </a:pPr>
            <a:r>
              <a:rPr lang="en-US" altLang="zh-CN" sz="3000" dirty="0">
                <a:sym typeface="Wingdings" pitchFamily="2" charset="2"/>
              </a:rPr>
              <a:t>		</a:t>
            </a:r>
            <a:r>
              <a:rPr lang="zh-CN" altLang="en-US" sz="3000" dirty="0">
                <a:sym typeface="Wingdings" pitchFamily="2" charset="2"/>
              </a:rPr>
              <a:t>酸 </a:t>
            </a:r>
            <a:r>
              <a:rPr lang="en-US" altLang="zh-CN" sz="3000" dirty="0">
                <a:sym typeface="Wingdings" pitchFamily="2" charset="2"/>
              </a:rPr>
              <a:t>+ </a:t>
            </a:r>
            <a:r>
              <a:rPr lang="zh-CN" altLang="en-US" sz="3000" dirty="0">
                <a:sym typeface="Wingdings" pitchFamily="2" charset="2"/>
              </a:rPr>
              <a:t>碱 </a:t>
            </a:r>
            <a:r>
              <a:rPr lang="en-US" altLang="zh-CN" sz="3000" dirty="0">
                <a:sym typeface="Wingdings" pitchFamily="2" charset="2"/>
              </a:rPr>
              <a:t> </a:t>
            </a:r>
            <a:r>
              <a:rPr lang="zh-CN" altLang="en-US" sz="3000" dirty="0">
                <a:sym typeface="Wingdings" pitchFamily="2" charset="2"/>
              </a:rPr>
              <a:t>盐 </a:t>
            </a:r>
            <a:r>
              <a:rPr lang="en-US" altLang="zh-CN" sz="3000" dirty="0">
                <a:sym typeface="Wingdings" pitchFamily="2" charset="2"/>
              </a:rPr>
              <a:t>+ </a:t>
            </a:r>
            <a:r>
              <a:rPr lang="zh-CN" altLang="en-US" sz="3000" dirty="0">
                <a:sym typeface="Wingdings" pitchFamily="2" charset="2"/>
              </a:rPr>
              <a:t>水</a:t>
            </a:r>
            <a:endParaRPr lang="en-US" altLang="zh-CN" sz="3000" dirty="0">
              <a:sym typeface="Wingdings" pitchFamily="2" charset="2"/>
            </a:endParaRPr>
          </a:p>
          <a:p>
            <a:pPr>
              <a:buNone/>
            </a:pPr>
            <a:r>
              <a:rPr lang="zh-CN" altLang="en-US" sz="3000" dirty="0">
                <a:sym typeface="Wingdings" pitchFamily="2" charset="2"/>
              </a:rPr>
              <a:t>活动</a:t>
            </a:r>
            <a:r>
              <a:rPr lang="en-US" altLang="zh-CN" sz="3000" dirty="0">
                <a:sym typeface="Wingdings" pitchFamily="2" charset="2"/>
              </a:rPr>
              <a:t>4 pg271</a:t>
            </a:r>
          </a:p>
          <a:p>
            <a:pPr>
              <a:buNone/>
            </a:pPr>
            <a:r>
              <a:rPr lang="zh-CN" altLang="en-US" sz="3000" dirty="0">
                <a:sym typeface="Wingdings" pitchFamily="2" charset="2"/>
              </a:rPr>
              <a:t>判断下列物质水溶液的酸碱性、盐的类型。</a:t>
            </a:r>
            <a:endParaRPr lang="en-US" altLang="zh-CN" sz="3000" dirty="0">
              <a:sym typeface="Wingdings" pitchFamily="2" charset="2"/>
            </a:endParaRPr>
          </a:p>
          <a:p>
            <a:pPr>
              <a:buNone/>
            </a:pPr>
            <a:r>
              <a:rPr lang="en-US" altLang="zh-CN" sz="3000" dirty="0">
                <a:sym typeface="Wingdings" pitchFamily="2" charset="2"/>
              </a:rPr>
              <a:t>CH</a:t>
            </a:r>
            <a:r>
              <a:rPr lang="en-US" altLang="zh-CN" sz="3000" baseline="-25000" dirty="0">
                <a:sym typeface="Wingdings" pitchFamily="2" charset="2"/>
              </a:rPr>
              <a:t>3</a:t>
            </a:r>
            <a:r>
              <a:rPr lang="en-US" altLang="zh-CN" sz="3000" dirty="0">
                <a:sym typeface="Wingdings" pitchFamily="2" charset="2"/>
              </a:rPr>
              <a:t>COONa 		</a:t>
            </a:r>
            <a:r>
              <a:rPr lang="zh-CN" altLang="en-US" sz="3000" dirty="0">
                <a:sym typeface="Wingdings" pitchFamily="2" charset="2"/>
              </a:rPr>
              <a:t>碱性</a:t>
            </a:r>
            <a:r>
              <a:rPr lang="en-US" altLang="zh-CN" sz="3000" dirty="0">
                <a:sym typeface="Wingdings" pitchFamily="2" charset="2"/>
              </a:rPr>
              <a:t>		</a:t>
            </a:r>
            <a:r>
              <a:rPr lang="zh-CN" altLang="en-US" sz="3000" dirty="0">
                <a:sym typeface="Wingdings" pitchFamily="2" charset="2"/>
              </a:rPr>
              <a:t>弱酸强碱盐</a:t>
            </a:r>
            <a:endParaRPr lang="en-US" altLang="zh-CN" sz="3000" dirty="0">
              <a:sym typeface="Wingdings" pitchFamily="2" charset="2"/>
            </a:endParaRPr>
          </a:p>
          <a:p>
            <a:pPr>
              <a:buNone/>
            </a:pPr>
            <a:r>
              <a:rPr lang="en-US" altLang="zh-CN" sz="3000" dirty="0">
                <a:sym typeface="Wingdings" pitchFamily="2" charset="2"/>
              </a:rPr>
              <a:t>Na</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碱性</a:t>
            </a:r>
            <a:r>
              <a:rPr lang="en-US" altLang="zh-CN" sz="3000" dirty="0">
                <a:sym typeface="Wingdings" pitchFamily="2" charset="2"/>
              </a:rPr>
              <a:t>		</a:t>
            </a:r>
            <a:r>
              <a:rPr lang="zh-CN" altLang="en-US" sz="3000" dirty="0">
                <a:sym typeface="Wingdings" pitchFamily="2" charset="2"/>
              </a:rPr>
              <a:t>弱酸强碱盐</a:t>
            </a:r>
            <a:endParaRPr lang="en-US" altLang="zh-CN" sz="3000" dirty="0">
              <a:sym typeface="Wingdings" pitchFamily="2" charset="2"/>
            </a:endParaRPr>
          </a:p>
          <a:p>
            <a:pPr>
              <a:buNone/>
            </a:pPr>
            <a:r>
              <a:rPr lang="en-US" altLang="zh-CN" sz="3000" dirty="0">
                <a:sym typeface="Wingdings" pitchFamily="2" charset="2"/>
              </a:rPr>
              <a:t>NH</a:t>
            </a:r>
            <a:r>
              <a:rPr lang="en-US" altLang="zh-CN" sz="3000" baseline="-25000" dirty="0">
                <a:sym typeface="Wingdings" pitchFamily="2" charset="2"/>
              </a:rPr>
              <a:t>4</a:t>
            </a:r>
            <a:r>
              <a:rPr lang="en-US" altLang="zh-CN" sz="3000" dirty="0">
                <a:sym typeface="Wingdings" pitchFamily="2" charset="2"/>
              </a:rPr>
              <a:t>Cl 		</a:t>
            </a:r>
            <a:r>
              <a:rPr lang="zh-CN" altLang="en-US" sz="3000" dirty="0">
                <a:sym typeface="Wingdings" pitchFamily="2" charset="2"/>
              </a:rPr>
              <a:t>酸性</a:t>
            </a:r>
            <a:r>
              <a:rPr lang="en-US" altLang="zh-CN" sz="3000" dirty="0">
                <a:sym typeface="Wingdings" pitchFamily="2" charset="2"/>
              </a:rPr>
              <a:t>		</a:t>
            </a:r>
            <a:r>
              <a:rPr lang="zh-CN" altLang="en-US" sz="3000" dirty="0">
                <a:sym typeface="Wingdings" pitchFamily="2" charset="2"/>
              </a:rPr>
              <a:t>强酸弱碱盐</a:t>
            </a:r>
            <a:endParaRPr lang="en-US" altLang="zh-CN" sz="3000" dirty="0">
              <a:sym typeface="Wingdings" pitchFamily="2" charset="2"/>
            </a:endParaRPr>
          </a:p>
          <a:p>
            <a:pPr>
              <a:buNone/>
            </a:pPr>
            <a:r>
              <a:rPr lang="en-US" altLang="zh-CN" sz="3000" dirty="0">
                <a:sym typeface="Wingdings" pitchFamily="2" charset="2"/>
              </a:rPr>
              <a:t>Fe</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酸性</a:t>
            </a:r>
            <a:r>
              <a:rPr lang="en-US" altLang="zh-CN" sz="3000" dirty="0">
                <a:sym typeface="Wingdings" pitchFamily="2" charset="2"/>
              </a:rPr>
              <a:t>		</a:t>
            </a:r>
            <a:r>
              <a:rPr lang="zh-CN" altLang="en-US" sz="3000" dirty="0">
                <a:sym typeface="Wingdings" pitchFamily="2" charset="2"/>
              </a:rPr>
              <a:t>强酸弱碱盐</a:t>
            </a:r>
            <a:endParaRPr lang="en-US" altLang="zh-CN" sz="3000" dirty="0">
              <a:sym typeface="Wingdings" pitchFamily="2" charset="2"/>
            </a:endParaRPr>
          </a:p>
          <a:p>
            <a:pPr>
              <a:buNone/>
            </a:pPr>
            <a:r>
              <a:rPr lang="en-US" altLang="zh-CN" sz="3000" dirty="0" err="1">
                <a:sym typeface="Wingdings" pitchFamily="2" charset="2"/>
              </a:rPr>
              <a:t>NaCl</a:t>
            </a:r>
            <a:r>
              <a:rPr lang="en-US" altLang="zh-CN" sz="3000" dirty="0">
                <a:sym typeface="Wingdings" pitchFamily="2" charset="2"/>
              </a:rPr>
              <a:t> 			</a:t>
            </a:r>
            <a:r>
              <a:rPr lang="zh-CN" altLang="en-US" sz="3000" dirty="0">
                <a:sym typeface="Wingdings" pitchFamily="2" charset="2"/>
              </a:rPr>
              <a:t>中性</a:t>
            </a:r>
            <a:r>
              <a:rPr lang="en-US" altLang="zh-CN" sz="3000" dirty="0">
                <a:sym typeface="Wingdings" pitchFamily="2" charset="2"/>
              </a:rPr>
              <a:t>		</a:t>
            </a:r>
            <a:r>
              <a:rPr lang="zh-CN" altLang="en-US" sz="3000" dirty="0">
                <a:sym typeface="Wingdings" pitchFamily="2" charset="2"/>
              </a:rPr>
              <a:t>强酸强碱盐</a:t>
            </a:r>
            <a:endParaRPr lang="en-US" altLang="zh-CN" sz="3000" dirty="0">
              <a:sym typeface="Wingdings" pitchFamily="2" charset="2"/>
            </a:endParaRPr>
          </a:p>
          <a:p>
            <a:pPr>
              <a:buNone/>
            </a:pPr>
            <a:r>
              <a:rPr lang="en-US" altLang="zh-CN" sz="3000" dirty="0">
                <a:sym typeface="Wingdings" pitchFamily="2" charset="2"/>
              </a:rPr>
              <a:t>Na</a:t>
            </a:r>
            <a:r>
              <a:rPr lang="en-US" altLang="zh-CN" sz="3000" baseline="-25000" dirty="0">
                <a:sym typeface="Wingdings" pitchFamily="2" charset="2"/>
              </a:rPr>
              <a:t>2</a:t>
            </a:r>
            <a:r>
              <a:rPr lang="en-US" altLang="zh-CN" sz="3000" dirty="0">
                <a:sym typeface="Wingdings" pitchFamily="2" charset="2"/>
              </a:rPr>
              <a:t> SO</a:t>
            </a:r>
            <a:r>
              <a:rPr lang="en-US" altLang="zh-CN" sz="3000" baseline="-25000" dirty="0">
                <a:sym typeface="Wingdings" pitchFamily="2" charset="2"/>
              </a:rPr>
              <a:t>4</a:t>
            </a:r>
            <a:r>
              <a:rPr lang="en-US" altLang="zh-CN" sz="3000" dirty="0">
                <a:sym typeface="Wingdings" pitchFamily="2" charset="2"/>
              </a:rPr>
              <a:t> 		</a:t>
            </a:r>
            <a:r>
              <a:rPr lang="zh-CN" altLang="en-US" sz="3000" dirty="0">
                <a:sym typeface="Wingdings" pitchFamily="2" charset="2"/>
              </a:rPr>
              <a:t>中性</a:t>
            </a:r>
            <a:r>
              <a:rPr lang="en-US" altLang="zh-CN" sz="3000" dirty="0">
                <a:sym typeface="Wingdings" pitchFamily="2" charset="2"/>
              </a:rPr>
              <a:t>		</a:t>
            </a:r>
            <a:r>
              <a:rPr lang="zh-CN" altLang="en-US" sz="3000" dirty="0">
                <a:sym typeface="Wingdings" pitchFamily="2" charset="2"/>
              </a:rPr>
              <a:t>强酸强碱盐</a:t>
            </a: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p>
        </p:txBody>
      </p:sp>
      <p:sp>
        <p:nvSpPr>
          <p:cNvPr id="28" name="Rounded Rectangle 27"/>
          <p:cNvSpPr/>
          <p:nvPr/>
        </p:nvSpPr>
        <p:spPr>
          <a:xfrm>
            <a:off x="3200400" y="25908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9" name="Rounded Rectangle 28"/>
          <p:cNvSpPr/>
          <p:nvPr/>
        </p:nvSpPr>
        <p:spPr>
          <a:xfrm>
            <a:off x="3200400" y="31242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0" name="Rounded Rectangle 29"/>
          <p:cNvSpPr/>
          <p:nvPr/>
        </p:nvSpPr>
        <p:spPr>
          <a:xfrm>
            <a:off x="3200400" y="36576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4" name="Rounded Rectangle 33"/>
          <p:cNvSpPr/>
          <p:nvPr/>
        </p:nvSpPr>
        <p:spPr>
          <a:xfrm>
            <a:off x="3200400" y="41910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5" name="Rounded Rectangle 34"/>
          <p:cNvSpPr/>
          <p:nvPr/>
        </p:nvSpPr>
        <p:spPr>
          <a:xfrm>
            <a:off x="3200400" y="48006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0" name="Rounded Rectangle 9"/>
          <p:cNvSpPr/>
          <p:nvPr/>
        </p:nvSpPr>
        <p:spPr>
          <a:xfrm>
            <a:off x="3200400" y="54102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Rounded Rectangle 10"/>
          <p:cNvSpPr/>
          <p:nvPr/>
        </p:nvSpPr>
        <p:spPr>
          <a:xfrm>
            <a:off x="5105400" y="2590800"/>
            <a:ext cx="2057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Rounded Rectangle 11"/>
          <p:cNvSpPr/>
          <p:nvPr/>
        </p:nvSpPr>
        <p:spPr>
          <a:xfrm>
            <a:off x="5105400" y="3124200"/>
            <a:ext cx="2057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Rounded Rectangle 12"/>
          <p:cNvSpPr/>
          <p:nvPr/>
        </p:nvSpPr>
        <p:spPr>
          <a:xfrm>
            <a:off x="5105400" y="3657600"/>
            <a:ext cx="2057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4" name="Rounded Rectangle 13"/>
          <p:cNvSpPr/>
          <p:nvPr/>
        </p:nvSpPr>
        <p:spPr>
          <a:xfrm>
            <a:off x="5105400" y="4267200"/>
            <a:ext cx="2057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5" name="Rounded Rectangle 14"/>
          <p:cNvSpPr/>
          <p:nvPr/>
        </p:nvSpPr>
        <p:spPr>
          <a:xfrm>
            <a:off x="5105400" y="4800600"/>
            <a:ext cx="2057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6" name="Rounded Rectangle 15"/>
          <p:cNvSpPr/>
          <p:nvPr/>
        </p:nvSpPr>
        <p:spPr>
          <a:xfrm>
            <a:off x="5105400" y="5334000"/>
            <a:ext cx="20574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linds(horizontal)">
                                      <p:cBhvr>
                                        <p:cTn id="25" dur="500"/>
                                        <p:tgtEl>
                                          <p:spTgt spid="3">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xit" presetSubtype="4" fill="hold" grpId="0" nodeType="clickEffect">
                                  <p:stCondLst>
                                    <p:cond delay="0"/>
                                  </p:stCondLst>
                                  <p:childTnLst>
                                    <p:anim calcmode="lin" valueType="num">
                                      <p:cBhvr additive="base">
                                        <p:cTn id="41" dur="500"/>
                                        <p:tgtEl>
                                          <p:spTgt spid="28"/>
                                        </p:tgtEl>
                                        <p:attrNameLst>
                                          <p:attrName>ppt_x</p:attrName>
                                        </p:attrNameLst>
                                      </p:cBhvr>
                                      <p:tavLst>
                                        <p:tav tm="0">
                                          <p:val>
                                            <p:strVal val="ppt_x"/>
                                          </p:val>
                                        </p:tav>
                                        <p:tav tm="100000">
                                          <p:val>
                                            <p:strVal val="ppt_x"/>
                                          </p:val>
                                        </p:tav>
                                      </p:tavLst>
                                    </p:anim>
                                    <p:anim calcmode="lin" valueType="num">
                                      <p:cBhvr additive="base">
                                        <p:cTn id="42" dur="500"/>
                                        <p:tgtEl>
                                          <p:spTgt spid="28"/>
                                        </p:tgtEl>
                                        <p:attrNameLst>
                                          <p:attrName>ppt_y</p:attrName>
                                        </p:attrNameLst>
                                      </p:cBhvr>
                                      <p:tavLst>
                                        <p:tav tm="0">
                                          <p:val>
                                            <p:strVal val="ppt_y"/>
                                          </p:val>
                                        </p:tav>
                                        <p:tav tm="100000">
                                          <p:val>
                                            <p:strVal val="1+ppt_h/2"/>
                                          </p:val>
                                        </p:tav>
                                      </p:tavLst>
                                    </p:anim>
                                    <p:set>
                                      <p:cBhvr>
                                        <p:cTn id="43" dur="1" fill="hold">
                                          <p:stCondLst>
                                            <p:cond delay="499"/>
                                          </p:stCondLst>
                                        </p:cTn>
                                        <p:tgtEl>
                                          <p:spTgt spid="28"/>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 presetClass="exit" presetSubtype="4" fill="hold" grpId="0" nodeType="clickEffect">
                                  <p:stCondLst>
                                    <p:cond delay="0"/>
                                  </p:stCondLst>
                                  <p:childTnLst>
                                    <p:anim calcmode="lin" valueType="num">
                                      <p:cBhvr additive="base">
                                        <p:cTn id="47" dur="500"/>
                                        <p:tgtEl>
                                          <p:spTgt spid="29"/>
                                        </p:tgtEl>
                                        <p:attrNameLst>
                                          <p:attrName>ppt_x</p:attrName>
                                        </p:attrNameLst>
                                      </p:cBhvr>
                                      <p:tavLst>
                                        <p:tav tm="0">
                                          <p:val>
                                            <p:strVal val="ppt_x"/>
                                          </p:val>
                                        </p:tav>
                                        <p:tav tm="100000">
                                          <p:val>
                                            <p:strVal val="ppt_x"/>
                                          </p:val>
                                        </p:tav>
                                      </p:tavLst>
                                    </p:anim>
                                    <p:anim calcmode="lin" valueType="num">
                                      <p:cBhvr additive="base">
                                        <p:cTn id="48" dur="500"/>
                                        <p:tgtEl>
                                          <p:spTgt spid="29"/>
                                        </p:tgtEl>
                                        <p:attrNameLst>
                                          <p:attrName>ppt_y</p:attrName>
                                        </p:attrNameLst>
                                      </p:cBhvr>
                                      <p:tavLst>
                                        <p:tav tm="0">
                                          <p:val>
                                            <p:strVal val="ppt_y"/>
                                          </p:val>
                                        </p:tav>
                                        <p:tav tm="100000">
                                          <p:val>
                                            <p:strVal val="1+ppt_h/2"/>
                                          </p:val>
                                        </p:tav>
                                      </p:tavLst>
                                    </p:anim>
                                    <p:set>
                                      <p:cBhvr>
                                        <p:cTn id="49" dur="1" fill="hold">
                                          <p:stCondLst>
                                            <p:cond delay="499"/>
                                          </p:stCondLst>
                                        </p:cTn>
                                        <p:tgtEl>
                                          <p:spTgt spid="29"/>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 presetClass="exit" presetSubtype="4" fill="hold" grpId="0" nodeType="clickEffect">
                                  <p:stCondLst>
                                    <p:cond delay="0"/>
                                  </p:stCondLst>
                                  <p:childTnLst>
                                    <p:anim calcmode="lin" valueType="num">
                                      <p:cBhvr additive="base">
                                        <p:cTn id="53" dur="500"/>
                                        <p:tgtEl>
                                          <p:spTgt spid="30"/>
                                        </p:tgtEl>
                                        <p:attrNameLst>
                                          <p:attrName>ppt_x</p:attrName>
                                        </p:attrNameLst>
                                      </p:cBhvr>
                                      <p:tavLst>
                                        <p:tav tm="0">
                                          <p:val>
                                            <p:strVal val="ppt_x"/>
                                          </p:val>
                                        </p:tav>
                                        <p:tav tm="100000">
                                          <p:val>
                                            <p:strVal val="ppt_x"/>
                                          </p:val>
                                        </p:tav>
                                      </p:tavLst>
                                    </p:anim>
                                    <p:anim calcmode="lin" valueType="num">
                                      <p:cBhvr additive="base">
                                        <p:cTn id="54" dur="500"/>
                                        <p:tgtEl>
                                          <p:spTgt spid="30"/>
                                        </p:tgtEl>
                                        <p:attrNameLst>
                                          <p:attrName>ppt_y</p:attrName>
                                        </p:attrNameLst>
                                      </p:cBhvr>
                                      <p:tavLst>
                                        <p:tav tm="0">
                                          <p:val>
                                            <p:strVal val="ppt_y"/>
                                          </p:val>
                                        </p:tav>
                                        <p:tav tm="100000">
                                          <p:val>
                                            <p:strVal val="1+ppt_h/2"/>
                                          </p:val>
                                        </p:tav>
                                      </p:tavLst>
                                    </p:anim>
                                    <p:set>
                                      <p:cBhvr>
                                        <p:cTn id="55" dur="1" fill="hold">
                                          <p:stCondLst>
                                            <p:cond delay="499"/>
                                          </p:stCondLst>
                                        </p:cTn>
                                        <p:tgtEl>
                                          <p:spTgt spid="3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 presetClass="exit" presetSubtype="4" fill="hold" grpId="0" nodeType="clickEffect">
                                  <p:stCondLst>
                                    <p:cond delay="0"/>
                                  </p:stCondLst>
                                  <p:childTnLst>
                                    <p:anim calcmode="lin" valueType="num">
                                      <p:cBhvr additive="base">
                                        <p:cTn id="59" dur="500"/>
                                        <p:tgtEl>
                                          <p:spTgt spid="34"/>
                                        </p:tgtEl>
                                        <p:attrNameLst>
                                          <p:attrName>ppt_x</p:attrName>
                                        </p:attrNameLst>
                                      </p:cBhvr>
                                      <p:tavLst>
                                        <p:tav tm="0">
                                          <p:val>
                                            <p:strVal val="ppt_x"/>
                                          </p:val>
                                        </p:tav>
                                        <p:tav tm="100000">
                                          <p:val>
                                            <p:strVal val="ppt_x"/>
                                          </p:val>
                                        </p:tav>
                                      </p:tavLst>
                                    </p:anim>
                                    <p:anim calcmode="lin" valueType="num">
                                      <p:cBhvr additive="base">
                                        <p:cTn id="60" dur="500"/>
                                        <p:tgtEl>
                                          <p:spTgt spid="34"/>
                                        </p:tgtEl>
                                        <p:attrNameLst>
                                          <p:attrName>ppt_y</p:attrName>
                                        </p:attrNameLst>
                                      </p:cBhvr>
                                      <p:tavLst>
                                        <p:tav tm="0">
                                          <p:val>
                                            <p:strVal val="ppt_y"/>
                                          </p:val>
                                        </p:tav>
                                        <p:tav tm="100000">
                                          <p:val>
                                            <p:strVal val="1+ppt_h/2"/>
                                          </p:val>
                                        </p:tav>
                                      </p:tavLst>
                                    </p:anim>
                                    <p:set>
                                      <p:cBhvr>
                                        <p:cTn id="61" dur="1" fill="hold">
                                          <p:stCondLst>
                                            <p:cond delay="499"/>
                                          </p:stCondLst>
                                        </p:cTn>
                                        <p:tgtEl>
                                          <p:spTgt spid="34"/>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 presetClass="exit" presetSubtype="4" fill="hold" grpId="0" nodeType="clickEffect">
                                  <p:stCondLst>
                                    <p:cond delay="0"/>
                                  </p:stCondLst>
                                  <p:childTnLst>
                                    <p:anim calcmode="lin" valueType="num">
                                      <p:cBhvr additive="base">
                                        <p:cTn id="65" dur="500"/>
                                        <p:tgtEl>
                                          <p:spTgt spid="35"/>
                                        </p:tgtEl>
                                        <p:attrNameLst>
                                          <p:attrName>ppt_x</p:attrName>
                                        </p:attrNameLst>
                                      </p:cBhvr>
                                      <p:tavLst>
                                        <p:tav tm="0">
                                          <p:val>
                                            <p:strVal val="ppt_x"/>
                                          </p:val>
                                        </p:tav>
                                        <p:tav tm="100000">
                                          <p:val>
                                            <p:strVal val="ppt_x"/>
                                          </p:val>
                                        </p:tav>
                                      </p:tavLst>
                                    </p:anim>
                                    <p:anim calcmode="lin" valueType="num">
                                      <p:cBhvr additive="base">
                                        <p:cTn id="66" dur="500"/>
                                        <p:tgtEl>
                                          <p:spTgt spid="35"/>
                                        </p:tgtEl>
                                        <p:attrNameLst>
                                          <p:attrName>ppt_y</p:attrName>
                                        </p:attrNameLst>
                                      </p:cBhvr>
                                      <p:tavLst>
                                        <p:tav tm="0">
                                          <p:val>
                                            <p:strVal val="ppt_y"/>
                                          </p:val>
                                        </p:tav>
                                        <p:tav tm="100000">
                                          <p:val>
                                            <p:strVal val="1+ppt_h/2"/>
                                          </p:val>
                                        </p:tav>
                                      </p:tavLst>
                                    </p:anim>
                                    <p:set>
                                      <p:cBhvr>
                                        <p:cTn id="67" dur="1" fill="hold">
                                          <p:stCondLst>
                                            <p:cond delay="499"/>
                                          </p:stCondLst>
                                        </p:cTn>
                                        <p:tgtEl>
                                          <p:spTgt spid="35"/>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 presetClass="exit" presetSubtype="4" fill="hold" grpId="0" nodeType="clickEffect">
                                  <p:stCondLst>
                                    <p:cond delay="0"/>
                                  </p:stCondLst>
                                  <p:childTnLst>
                                    <p:anim calcmode="lin" valueType="num">
                                      <p:cBhvr additive="base">
                                        <p:cTn id="71" dur="500"/>
                                        <p:tgtEl>
                                          <p:spTgt spid="10"/>
                                        </p:tgtEl>
                                        <p:attrNameLst>
                                          <p:attrName>ppt_x</p:attrName>
                                        </p:attrNameLst>
                                      </p:cBhvr>
                                      <p:tavLst>
                                        <p:tav tm="0">
                                          <p:val>
                                            <p:strVal val="ppt_x"/>
                                          </p:val>
                                        </p:tav>
                                        <p:tav tm="100000">
                                          <p:val>
                                            <p:strVal val="ppt_x"/>
                                          </p:val>
                                        </p:tav>
                                      </p:tavLst>
                                    </p:anim>
                                    <p:anim calcmode="lin" valueType="num">
                                      <p:cBhvr additive="base">
                                        <p:cTn id="72" dur="500"/>
                                        <p:tgtEl>
                                          <p:spTgt spid="10"/>
                                        </p:tgtEl>
                                        <p:attrNameLst>
                                          <p:attrName>ppt_y</p:attrName>
                                        </p:attrNameLst>
                                      </p:cBhvr>
                                      <p:tavLst>
                                        <p:tav tm="0">
                                          <p:val>
                                            <p:strVal val="ppt_y"/>
                                          </p:val>
                                        </p:tav>
                                        <p:tav tm="100000">
                                          <p:val>
                                            <p:strVal val="1+ppt_h/2"/>
                                          </p:val>
                                        </p:tav>
                                      </p:tavLst>
                                    </p:anim>
                                    <p:set>
                                      <p:cBhvr>
                                        <p:cTn id="73" dur="1" fill="hold">
                                          <p:stCondLst>
                                            <p:cond delay="499"/>
                                          </p:stCondLst>
                                        </p:cTn>
                                        <p:tgtEl>
                                          <p:spTgt spid="10"/>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2" presetClass="exit" presetSubtype="4" fill="hold" grpId="0" nodeType="clickEffect">
                                  <p:stCondLst>
                                    <p:cond delay="0"/>
                                  </p:stCondLst>
                                  <p:childTnLst>
                                    <p:anim calcmode="lin" valueType="num">
                                      <p:cBhvr additive="base">
                                        <p:cTn id="77" dur="500"/>
                                        <p:tgtEl>
                                          <p:spTgt spid="11"/>
                                        </p:tgtEl>
                                        <p:attrNameLst>
                                          <p:attrName>ppt_x</p:attrName>
                                        </p:attrNameLst>
                                      </p:cBhvr>
                                      <p:tavLst>
                                        <p:tav tm="0">
                                          <p:val>
                                            <p:strVal val="ppt_x"/>
                                          </p:val>
                                        </p:tav>
                                        <p:tav tm="100000">
                                          <p:val>
                                            <p:strVal val="ppt_x"/>
                                          </p:val>
                                        </p:tav>
                                      </p:tavLst>
                                    </p:anim>
                                    <p:anim calcmode="lin" valueType="num">
                                      <p:cBhvr additive="base">
                                        <p:cTn id="78" dur="500"/>
                                        <p:tgtEl>
                                          <p:spTgt spid="11"/>
                                        </p:tgtEl>
                                        <p:attrNameLst>
                                          <p:attrName>ppt_y</p:attrName>
                                        </p:attrNameLst>
                                      </p:cBhvr>
                                      <p:tavLst>
                                        <p:tav tm="0">
                                          <p:val>
                                            <p:strVal val="ppt_y"/>
                                          </p:val>
                                        </p:tav>
                                        <p:tav tm="100000">
                                          <p:val>
                                            <p:strVal val="1+ppt_h/2"/>
                                          </p:val>
                                        </p:tav>
                                      </p:tavLst>
                                    </p:anim>
                                    <p:set>
                                      <p:cBhvr>
                                        <p:cTn id="79" dur="1" fill="hold">
                                          <p:stCondLst>
                                            <p:cond delay="499"/>
                                          </p:stCondLst>
                                        </p:cTn>
                                        <p:tgtEl>
                                          <p:spTgt spid="11"/>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2" presetClass="exit" presetSubtype="4" fill="hold" grpId="0" nodeType="clickEffect">
                                  <p:stCondLst>
                                    <p:cond delay="0"/>
                                  </p:stCondLst>
                                  <p:childTnLst>
                                    <p:anim calcmode="lin" valueType="num">
                                      <p:cBhvr additive="base">
                                        <p:cTn id="83" dur="500"/>
                                        <p:tgtEl>
                                          <p:spTgt spid="12"/>
                                        </p:tgtEl>
                                        <p:attrNameLst>
                                          <p:attrName>ppt_x</p:attrName>
                                        </p:attrNameLst>
                                      </p:cBhvr>
                                      <p:tavLst>
                                        <p:tav tm="0">
                                          <p:val>
                                            <p:strVal val="ppt_x"/>
                                          </p:val>
                                        </p:tav>
                                        <p:tav tm="100000">
                                          <p:val>
                                            <p:strVal val="ppt_x"/>
                                          </p:val>
                                        </p:tav>
                                      </p:tavLst>
                                    </p:anim>
                                    <p:anim calcmode="lin" valueType="num">
                                      <p:cBhvr additive="base">
                                        <p:cTn id="84" dur="500"/>
                                        <p:tgtEl>
                                          <p:spTgt spid="12"/>
                                        </p:tgtEl>
                                        <p:attrNameLst>
                                          <p:attrName>ppt_y</p:attrName>
                                        </p:attrNameLst>
                                      </p:cBhvr>
                                      <p:tavLst>
                                        <p:tav tm="0">
                                          <p:val>
                                            <p:strVal val="ppt_y"/>
                                          </p:val>
                                        </p:tav>
                                        <p:tav tm="100000">
                                          <p:val>
                                            <p:strVal val="1+ppt_h/2"/>
                                          </p:val>
                                        </p:tav>
                                      </p:tavLst>
                                    </p:anim>
                                    <p:set>
                                      <p:cBhvr>
                                        <p:cTn id="85" dur="1" fill="hold">
                                          <p:stCondLst>
                                            <p:cond delay="499"/>
                                          </p:stCondLst>
                                        </p:cTn>
                                        <p:tgtEl>
                                          <p:spTgt spid="12"/>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2" presetClass="exit" presetSubtype="4" fill="hold" grpId="0" nodeType="clickEffect">
                                  <p:stCondLst>
                                    <p:cond delay="0"/>
                                  </p:stCondLst>
                                  <p:childTnLst>
                                    <p:anim calcmode="lin" valueType="num">
                                      <p:cBhvr additive="base">
                                        <p:cTn id="89" dur="500"/>
                                        <p:tgtEl>
                                          <p:spTgt spid="13"/>
                                        </p:tgtEl>
                                        <p:attrNameLst>
                                          <p:attrName>ppt_x</p:attrName>
                                        </p:attrNameLst>
                                      </p:cBhvr>
                                      <p:tavLst>
                                        <p:tav tm="0">
                                          <p:val>
                                            <p:strVal val="ppt_x"/>
                                          </p:val>
                                        </p:tav>
                                        <p:tav tm="100000">
                                          <p:val>
                                            <p:strVal val="ppt_x"/>
                                          </p:val>
                                        </p:tav>
                                      </p:tavLst>
                                    </p:anim>
                                    <p:anim calcmode="lin" valueType="num">
                                      <p:cBhvr additive="base">
                                        <p:cTn id="90" dur="500"/>
                                        <p:tgtEl>
                                          <p:spTgt spid="13"/>
                                        </p:tgtEl>
                                        <p:attrNameLst>
                                          <p:attrName>ppt_y</p:attrName>
                                        </p:attrNameLst>
                                      </p:cBhvr>
                                      <p:tavLst>
                                        <p:tav tm="0">
                                          <p:val>
                                            <p:strVal val="ppt_y"/>
                                          </p:val>
                                        </p:tav>
                                        <p:tav tm="100000">
                                          <p:val>
                                            <p:strVal val="1+ppt_h/2"/>
                                          </p:val>
                                        </p:tav>
                                      </p:tavLst>
                                    </p:anim>
                                    <p:set>
                                      <p:cBhvr>
                                        <p:cTn id="91" dur="1" fill="hold">
                                          <p:stCondLst>
                                            <p:cond delay="499"/>
                                          </p:stCondLst>
                                        </p:cTn>
                                        <p:tgtEl>
                                          <p:spTgt spid="13"/>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2" presetClass="exit" presetSubtype="4" fill="hold" grpId="0" nodeType="clickEffect">
                                  <p:stCondLst>
                                    <p:cond delay="0"/>
                                  </p:stCondLst>
                                  <p:childTnLst>
                                    <p:anim calcmode="lin" valueType="num">
                                      <p:cBhvr additive="base">
                                        <p:cTn id="95" dur="500"/>
                                        <p:tgtEl>
                                          <p:spTgt spid="14"/>
                                        </p:tgtEl>
                                        <p:attrNameLst>
                                          <p:attrName>ppt_x</p:attrName>
                                        </p:attrNameLst>
                                      </p:cBhvr>
                                      <p:tavLst>
                                        <p:tav tm="0">
                                          <p:val>
                                            <p:strVal val="ppt_x"/>
                                          </p:val>
                                        </p:tav>
                                        <p:tav tm="100000">
                                          <p:val>
                                            <p:strVal val="ppt_x"/>
                                          </p:val>
                                        </p:tav>
                                      </p:tavLst>
                                    </p:anim>
                                    <p:anim calcmode="lin" valueType="num">
                                      <p:cBhvr additive="base">
                                        <p:cTn id="96" dur="500"/>
                                        <p:tgtEl>
                                          <p:spTgt spid="14"/>
                                        </p:tgtEl>
                                        <p:attrNameLst>
                                          <p:attrName>ppt_y</p:attrName>
                                        </p:attrNameLst>
                                      </p:cBhvr>
                                      <p:tavLst>
                                        <p:tav tm="0">
                                          <p:val>
                                            <p:strVal val="ppt_y"/>
                                          </p:val>
                                        </p:tav>
                                        <p:tav tm="100000">
                                          <p:val>
                                            <p:strVal val="1+ppt_h/2"/>
                                          </p:val>
                                        </p:tav>
                                      </p:tavLst>
                                    </p:anim>
                                    <p:set>
                                      <p:cBhvr>
                                        <p:cTn id="97" dur="1" fill="hold">
                                          <p:stCondLst>
                                            <p:cond delay="499"/>
                                          </p:stCondLst>
                                        </p:cTn>
                                        <p:tgtEl>
                                          <p:spTgt spid="14"/>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 presetClass="exit" presetSubtype="4" fill="hold" grpId="0" nodeType="clickEffect">
                                  <p:stCondLst>
                                    <p:cond delay="0"/>
                                  </p:stCondLst>
                                  <p:childTnLst>
                                    <p:anim calcmode="lin" valueType="num">
                                      <p:cBhvr additive="base">
                                        <p:cTn id="101" dur="500"/>
                                        <p:tgtEl>
                                          <p:spTgt spid="15"/>
                                        </p:tgtEl>
                                        <p:attrNameLst>
                                          <p:attrName>ppt_x</p:attrName>
                                        </p:attrNameLst>
                                      </p:cBhvr>
                                      <p:tavLst>
                                        <p:tav tm="0">
                                          <p:val>
                                            <p:strVal val="ppt_x"/>
                                          </p:val>
                                        </p:tav>
                                        <p:tav tm="100000">
                                          <p:val>
                                            <p:strVal val="ppt_x"/>
                                          </p:val>
                                        </p:tav>
                                      </p:tavLst>
                                    </p:anim>
                                    <p:anim calcmode="lin" valueType="num">
                                      <p:cBhvr additive="base">
                                        <p:cTn id="102" dur="500"/>
                                        <p:tgtEl>
                                          <p:spTgt spid="15"/>
                                        </p:tgtEl>
                                        <p:attrNameLst>
                                          <p:attrName>ppt_y</p:attrName>
                                        </p:attrNameLst>
                                      </p:cBhvr>
                                      <p:tavLst>
                                        <p:tav tm="0">
                                          <p:val>
                                            <p:strVal val="ppt_y"/>
                                          </p:val>
                                        </p:tav>
                                        <p:tav tm="100000">
                                          <p:val>
                                            <p:strVal val="1+ppt_h/2"/>
                                          </p:val>
                                        </p:tav>
                                      </p:tavLst>
                                    </p:anim>
                                    <p:set>
                                      <p:cBhvr>
                                        <p:cTn id="103" dur="1" fill="hold">
                                          <p:stCondLst>
                                            <p:cond delay="499"/>
                                          </p:stCondLst>
                                        </p:cTn>
                                        <p:tgtEl>
                                          <p:spTgt spid="15"/>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2" presetClass="exit" presetSubtype="4" fill="hold" grpId="0" nodeType="clickEffect">
                                  <p:stCondLst>
                                    <p:cond delay="0"/>
                                  </p:stCondLst>
                                  <p:childTnLst>
                                    <p:anim calcmode="lin" valueType="num">
                                      <p:cBhvr additive="base">
                                        <p:cTn id="107" dur="500"/>
                                        <p:tgtEl>
                                          <p:spTgt spid="16"/>
                                        </p:tgtEl>
                                        <p:attrNameLst>
                                          <p:attrName>ppt_x</p:attrName>
                                        </p:attrNameLst>
                                      </p:cBhvr>
                                      <p:tavLst>
                                        <p:tav tm="0">
                                          <p:val>
                                            <p:strVal val="ppt_x"/>
                                          </p:val>
                                        </p:tav>
                                        <p:tav tm="100000">
                                          <p:val>
                                            <p:strVal val="ppt_x"/>
                                          </p:val>
                                        </p:tav>
                                      </p:tavLst>
                                    </p:anim>
                                    <p:anim calcmode="lin" valueType="num">
                                      <p:cBhvr additive="base">
                                        <p:cTn id="108" dur="500"/>
                                        <p:tgtEl>
                                          <p:spTgt spid="16"/>
                                        </p:tgtEl>
                                        <p:attrNameLst>
                                          <p:attrName>ppt_y</p:attrName>
                                        </p:attrNameLst>
                                      </p:cBhvr>
                                      <p:tavLst>
                                        <p:tav tm="0">
                                          <p:val>
                                            <p:strVal val="ppt_y"/>
                                          </p:val>
                                        </p:tav>
                                        <p:tav tm="100000">
                                          <p:val>
                                            <p:strVal val="1+ppt_h/2"/>
                                          </p:val>
                                        </p:tav>
                                      </p:tavLst>
                                    </p:anim>
                                    <p:set>
                                      <p:cBhvr>
                                        <p:cTn id="109"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animBg="1"/>
      <p:bldP spid="29" grpId="0" animBg="1"/>
      <p:bldP spid="30" grpId="0" animBg="1"/>
      <p:bldP spid="34" grpId="0" animBg="1"/>
      <p:bldP spid="35" grpId="0" animBg="1"/>
      <p:bldP spid="10" grpId="0" animBg="1"/>
      <p:bldP spid="11" grpId="0" animBg="1"/>
      <p:bldP spid="12" grpId="0" animBg="1"/>
      <p:bldP spid="13" grpId="0" animBg="1"/>
      <p:bldP spid="14" grpId="0" animBg="1"/>
      <p:bldP spid="15" grpId="0" animBg="1"/>
      <p:bldP spid="1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23.5.1</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强酸弱碱盐的水解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6096000"/>
          </a:xfrm>
        </p:spPr>
        <p:txBody>
          <a:bodyPr>
            <a:noAutofit/>
          </a:bodyPr>
          <a:lstStyle/>
          <a:p>
            <a:pPr>
              <a:buNone/>
            </a:pPr>
            <a:r>
              <a:rPr lang="zh-CN" altLang="en-US" sz="2800" u="sng" dirty="0">
                <a:solidFill>
                  <a:srgbClr val="002060"/>
                </a:solidFill>
                <a:sym typeface="Wingdings" pitchFamily="2" charset="2"/>
              </a:rPr>
              <a:t>强碱弱酸盐的水解</a:t>
            </a:r>
            <a:endParaRPr lang="en-US" altLang="zh-CN" sz="2800" u="sng" dirty="0">
              <a:solidFill>
                <a:srgbClr val="002060"/>
              </a:solidFill>
              <a:sym typeface="Wingdings" pitchFamily="2" charset="2"/>
            </a:endParaRPr>
          </a:p>
          <a:p>
            <a:pPr>
              <a:buNone/>
            </a:pP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COONa (</a:t>
            </a:r>
            <a:r>
              <a:rPr lang="en-US" altLang="zh-CN" sz="2800" dirty="0" err="1">
                <a:sym typeface="Wingdings" pitchFamily="2" charset="2"/>
              </a:rPr>
              <a:t>aq</a:t>
            </a:r>
            <a:r>
              <a:rPr lang="en-US" altLang="zh-CN" sz="2800" dirty="0">
                <a:sym typeface="Wingdings" pitchFamily="2" charset="2"/>
              </a:rPr>
              <a:t>)	 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Na</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r>
              <a:rPr lang="en-US" altLang="zh-CN" sz="2800" dirty="0">
                <a:sym typeface="Wingdings" pitchFamily="2" charset="2"/>
              </a:rPr>
              <a:t>		H</a:t>
            </a:r>
            <a:r>
              <a:rPr lang="en-US" altLang="zh-CN" sz="2800" baseline="-25000" dirty="0">
                <a:sym typeface="Wingdings" pitchFamily="2" charset="2"/>
              </a:rPr>
              <a:t>2</a:t>
            </a:r>
            <a:r>
              <a:rPr lang="en-US" altLang="zh-CN" sz="2800" dirty="0">
                <a:sym typeface="Wingdings" pitchFamily="2" charset="2"/>
              </a:rPr>
              <a:t>O (l) 	 	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OH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endParaRPr lang="en-US" altLang="zh-CN" sz="2800" dirty="0">
              <a:sym typeface="Wingdings" pitchFamily="2" charset="2"/>
            </a:endParaRPr>
          </a:p>
          <a:p>
            <a:pPr>
              <a:buNone/>
            </a:pPr>
            <a:r>
              <a:rPr lang="en-US" altLang="zh-CN" sz="2800" dirty="0">
                <a:sym typeface="Wingdings" pitchFamily="2" charset="2"/>
              </a:rPr>
              <a:t>				   CH</a:t>
            </a:r>
            <a:r>
              <a:rPr lang="en-US" altLang="zh-CN" sz="2800" baseline="-25000" dirty="0">
                <a:sym typeface="Wingdings" pitchFamily="2" charset="2"/>
              </a:rPr>
              <a:t>3</a:t>
            </a:r>
            <a:r>
              <a:rPr lang="en-US" altLang="zh-CN" sz="2800" dirty="0">
                <a:sym typeface="Wingdings" pitchFamily="2" charset="2"/>
              </a:rPr>
              <a:t>COOH (</a:t>
            </a:r>
            <a:r>
              <a:rPr lang="en-US" altLang="zh-CN" sz="2800" dirty="0" err="1">
                <a:sym typeface="Wingdings" pitchFamily="2" charset="2"/>
              </a:rPr>
              <a:t>aq</a:t>
            </a:r>
            <a:r>
              <a:rPr lang="en-US" altLang="zh-CN" sz="2800" dirty="0">
                <a:sym typeface="Wingdings" pitchFamily="2" charset="2"/>
              </a:rPr>
              <a:t>)</a:t>
            </a:r>
          </a:p>
          <a:p>
            <a:pPr>
              <a:buNone/>
            </a:pP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减小，水电离平衡被破坏而向右移，</a:t>
            </a:r>
            <a:r>
              <a:rPr lang="en-US" altLang="zh-CN" sz="2800" dirty="0">
                <a:sym typeface="Wingdings" pitchFamily="2" charset="2"/>
              </a:rPr>
              <a:t>[OH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增加。</a:t>
            </a:r>
            <a:endParaRPr lang="en-US" altLang="zh-CN" sz="2800" dirty="0">
              <a:sym typeface="Wingdings" pitchFamily="2" charset="2"/>
            </a:endParaRPr>
          </a:p>
          <a:p>
            <a:pPr>
              <a:spcAft>
                <a:spcPts val="600"/>
              </a:spcAft>
              <a:buNone/>
            </a:pPr>
            <a:r>
              <a:rPr lang="en-US" altLang="zh-CN" sz="2800" dirty="0">
                <a:sym typeface="Wingdings" pitchFamily="2" charset="2"/>
              </a:rPr>
              <a:t>[OH</a:t>
            </a:r>
            <a:r>
              <a:rPr lang="en-US" altLang="zh-CN" sz="2800" baseline="30000" dirty="0">
                <a:sym typeface="Wingdings" pitchFamily="2" charset="2"/>
              </a:rPr>
              <a:t>-</a:t>
            </a:r>
            <a:r>
              <a:rPr lang="en-US" altLang="zh-CN" sz="2800" dirty="0">
                <a:sym typeface="Wingdings" pitchFamily="2" charset="2"/>
              </a:rPr>
              <a:t> ] &gt; [H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溶液呈碱性。</a:t>
            </a:r>
            <a:endParaRPr lang="en-US" altLang="zh-CN" sz="2800" dirty="0">
              <a:sym typeface="Wingdings" pitchFamily="2" charset="2"/>
            </a:endParaRPr>
          </a:p>
          <a:p>
            <a:pPr>
              <a:spcAft>
                <a:spcPts val="600"/>
              </a:spcAft>
              <a:buNone/>
            </a:pPr>
            <a:r>
              <a:rPr lang="zh-CN" altLang="en-US" sz="2800" dirty="0">
                <a:sym typeface="Wingdings" pitchFamily="2" charset="2"/>
              </a:rPr>
              <a:t>总</a:t>
            </a:r>
            <a:r>
              <a:rPr lang="en-US" altLang="zh-CN" sz="2800" dirty="0">
                <a:sym typeface="Wingdings" pitchFamily="2" charset="2"/>
              </a:rPr>
              <a:t>:  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a:t>
            </a:r>
            <a:r>
              <a:rPr lang="en-US" altLang="zh-CN" sz="2800" dirty="0" err="1">
                <a:sym typeface="Wingdings" pitchFamily="2" charset="2"/>
              </a:rPr>
              <a:t>aq</a:t>
            </a:r>
            <a:r>
              <a:rPr lang="en-US" altLang="zh-CN" sz="2800" dirty="0">
                <a:sym typeface="Wingdings" pitchFamily="2" charset="2"/>
              </a:rPr>
              <a:t>) + H</a:t>
            </a:r>
            <a:r>
              <a:rPr lang="en-US" altLang="zh-CN" sz="2800" baseline="-25000" dirty="0">
                <a:sym typeface="Wingdings" pitchFamily="2" charset="2"/>
              </a:rPr>
              <a:t>2</a:t>
            </a:r>
            <a:r>
              <a:rPr lang="en-US" altLang="zh-CN" sz="2800" dirty="0">
                <a:sym typeface="Wingdings" pitchFamily="2" charset="2"/>
              </a:rPr>
              <a:t>O (l)            CH</a:t>
            </a:r>
            <a:r>
              <a:rPr lang="en-US" altLang="zh-CN" sz="2800" baseline="-25000" dirty="0">
                <a:sym typeface="Wingdings" pitchFamily="2" charset="2"/>
              </a:rPr>
              <a:t>3</a:t>
            </a:r>
            <a:r>
              <a:rPr lang="en-US" altLang="zh-CN" sz="2800" dirty="0">
                <a:sym typeface="Wingdings" pitchFamily="2" charset="2"/>
              </a:rPr>
              <a:t>COOH(</a:t>
            </a:r>
            <a:r>
              <a:rPr lang="en-US" altLang="zh-CN" sz="2800" dirty="0" err="1">
                <a:sym typeface="Wingdings" pitchFamily="2" charset="2"/>
              </a:rPr>
              <a:t>aq</a:t>
            </a:r>
            <a:r>
              <a:rPr lang="en-US" altLang="zh-CN" sz="2800" dirty="0">
                <a:sym typeface="Wingdings" pitchFamily="2" charset="2"/>
              </a:rPr>
              <a:t>)+OH</a:t>
            </a:r>
            <a:r>
              <a:rPr lang="en-US" altLang="zh-CN" sz="2800" baseline="30000" dirty="0">
                <a:sym typeface="Wingdings" pitchFamily="2" charset="2"/>
              </a:rPr>
              <a:t>-</a:t>
            </a:r>
            <a:r>
              <a:rPr lang="en-US" altLang="zh-CN" sz="2800" dirty="0">
                <a:sym typeface="Wingdings" pitchFamily="2" charset="2"/>
              </a:rPr>
              <a:t>(</a:t>
            </a:r>
            <a:r>
              <a:rPr lang="en-US" altLang="zh-CN" sz="2800" dirty="0" err="1">
                <a:sym typeface="Wingdings" pitchFamily="2" charset="2"/>
              </a:rPr>
              <a:t>aq</a:t>
            </a:r>
            <a:r>
              <a:rPr lang="en-US" altLang="zh-CN" sz="2800" dirty="0">
                <a:sym typeface="Wingdings" pitchFamily="2" charset="2"/>
              </a:rPr>
              <a:t>)</a:t>
            </a:r>
          </a:p>
          <a:p>
            <a:pPr>
              <a:buNone/>
            </a:pPr>
            <a:r>
              <a:rPr lang="zh-CN" altLang="en-US" sz="2800" dirty="0">
                <a:sym typeface="Wingdings" pitchFamily="2" charset="2"/>
              </a:rPr>
              <a:t>水解：溶液中盐的离子跟水电离出来的</a:t>
            </a: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或</a:t>
            </a:r>
            <a:r>
              <a:rPr lang="en-US" altLang="zh-CN" sz="2800" dirty="0">
                <a:sym typeface="Wingdings" pitchFamily="2" charset="2"/>
              </a:rPr>
              <a:t>OH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生成弱电解质的反应。</a:t>
            </a:r>
            <a:r>
              <a:rPr lang="en-US" altLang="zh-CN" sz="2800" dirty="0">
                <a:sym typeface="Wingdings" pitchFamily="2" charset="2"/>
              </a:rPr>
              <a:t>   </a:t>
            </a:r>
            <a:r>
              <a:rPr lang="zh-CN" altLang="en-US" sz="2800" dirty="0">
                <a:sym typeface="Wingdings" pitchFamily="2" charset="2"/>
              </a:rPr>
              <a:t>酸 </a:t>
            </a:r>
            <a:r>
              <a:rPr lang="en-US" altLang="zh-CN" sz="2800" dirty="0">
                <a:sym typeface="Wingdings" pitchFamily="2" charset="2"/>
              </a:rPr>
              <a:t>+ </a:t>
            </a:r>
            <a:r>
              <a:rPr lang="zh-CN" altLang="en-US" sz="2800" dirty="0">
                <a:sym typeface="Wingdings" pitchFamily="2" charset="2"/>
              </a:rPr>
              <a:t>碱 </a:t>
            </a:r>
            <a:r>
              <a:rPr lang="en-US" altLang="zh-CN" sz="2800" dirty="0">
                <a:sym typeface="Wingdings" pitchFamily="2" charset="2"/>
              </a:rPr>
              <a:t>	   </a:t>
            </a:r>
            <a:r>
              <a:rPr lang="zh-CN" altLang="en-US" sz="2800" dirty="0">
                <a:sym typeface="Wingdings" pitchFamily="2" charset="2"/>
              </a:rPr>
              <a:t>盐 </a:t>
            </a:r>
            <a:r>
              <a:rPr lang="en-US" altLang="zh-CN" sz="2800" dirty="0">
                <a:sym typeface="Wingdings" pitchFamily="2" charset="2"/>
              </a:rPr>
              <a:t>+ </a:t>
            </a:r>
            <a:r>
              <a:rPr lang="zh-CN" altLang="en-US" sz="2800" dirty="0">
                <a:sym typeface="Wingdings" pitchFamily="2" charset="2"/>
              </a:rPr>
              <a:t>水</a:t>
            </a:r>
            <a:endParaRPr lang="en-US" altLang="zh-CN" sz="2800" dirty="0">
              <a:sym typeface="Wingdings" pitchFamily="2" charset="2"/>
            </a:endParaRPr>
          </a:p>
          <a:p>
            <a:pPr>
              <a:buNone/>
            </a:pPr>
            <a:endParaRPr lang="en-US" altLang="zh-CN" sz="2800" dirty="0">
              <a:sym typeface="Wingdings" pitchFamily="2" charset="2"/>
            </a:endParaRPr>
          </a:p>
          <a:p>
            <a:pPr>
              <a:buNone/>
            </a:pPr>
            <a:endParaRPr lang="en-US" altLang="zh-CN" sz="2800" dirty="0">
              <a:sym typeface="Wingdings" pitchFamily="2" charset="2"/>
            </a:endParaRPr>
          </a:p>
          <a:p>
            <a:pPr>
              <a:buNone/>
            </a:pPr>
            <a:endParaRPr lang="en-US" altLang="zh-CN" sz="2800" dirty="0"/>
          </a:p>
        </p:txBody>
      </p:sp>
      <p:grpSp>
        <p:nvGrpSpPr>
          <p:cNvPr id="10" name="Group 11"/>
          <p:cNvGrpSpPr/>
          <p:nvPr/>
        </p:nvGrpSpPr>
        <p:grpSpPr>
          <a:xfrm>
            <a:off x="2987040" y="2362201"/>
            <a:ext cx="822960" cy="76199"/>
            <a:chOff x="2895600" y="6324600"/>
            <a:chExt cx="2133600" cy="76199"/>
          </a:xfrm>
        </p:grpSpPr>
        <p:cxnSp>
          <p:nvCxnSpPr>
            <p:cNvPr id="11" name="Straight Arrow Connector 10"/>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 name="Group 11"/>
          <p:cNvGrpSpPr/>
          <p:nvPr/>
        </p:nvGrpSpPr>
        <p:grpSpPr>
          <a:xfrm rot="5400000">
            <a:off x="4434840" y="2842260"/>
            <a:ext cx="640080" cy="76199"/>
            <a:chOff x="2895600" y="6324600"/>
            <a:chExt cx="2133600" cy="76199"/>
          </a:xfrm>
        </p:grpSpPr>
        <p:cxnSp>
          <p:nvCxnSpPr>
            <p:cNvPr id="14" name="Straight Arrow Connector 13"/>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5486400" y="5635822"/>
            <a:ext cx="762000" cy="688778"/>
            <a:chOff x="2819400" y="5867400"/>
            <a:chExt cx="1219200" cy="688778"/>
          </a:xfrm>
        </p:grpSpPr>
        <p:grpSp>
          <p:nvGrpSpPr>
            <p:cNvPr id="20" name="Group 11"/>
            <p:cNvGrpSpPr/>
            <p:nvPr/>
          </p:nvGrpSpPr>
          <p:grpSpPr>
            <a:xfrm>
              <a:off x="2819400" y="6172117"/>
              <a:ext cx="1219200" cy="76199"/>
              <a:chOff x="2895600" y="6324600"/>
              <a:chExt cx="2133600" cy="76199"/>
            </a:xfrm>
          </p:grpSpPr>
          <p:cxnSp>
            <p:nvCxnSpPr>
              <p:cNvPr id="23" name="Straight Arrow Connector 22"/>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2895600" y="6248401"/>
              <a:ext cx="899160" cy="307777"/>
            </a:xfrm>
            <a:prstGeom prst="rect">
              <a:avLst/>
            </a:prstGeom>
            <a:noFill/>
          </p:spPr>
          <p:txBody>
            <a:bodyPr wrap="square" rtlCol="0">
              <a:spAutoFit/>
            </a:bodyPr>
            <a:lstStyle/>
            <a:p>
              <a:r>
                <a:rPr lang="zh-CN" altLang="en-US" sz="1400" dirty="0"/>
                <a:t>水解</a:t>
              </a:r>
              <a:endParaRPr lang="en-US" sz="1400" dirty="0"/>
            </a:p>
          </p:txBody>
        </p:sp>
        <p:sp>
          <p:nvSpPr>
            <p:cNvPr id="22" name="TextBox 21"/>
            <p:cNvSpPr txBox="1"/>
            <p:nvPr/>
          </p:nvSpPr>
          <p:spPr>
            <a:xfrm>
              <a:off x="2895600" y="5867400"/>
              <a:ext cx="543739" cy="307777"/>
            </a:xfrm>
            <a:prstGeom prst="rect">
              <a:avLst/>
            </a:prstGeom>
            <a:noFill/>
          </p:spPr>
          <p:txBody>
            <a:bodyPr wrap="none" rtlCol="0">
              <a:spAutoFit/>
            </a:bodyPr>
            <a:lstStyle/>
            <a:p>
              <a:r>
                <a:rPr lang="zh-CN" altLang="en-US" sz="1400" dirty="0"/>
                <a:t>中和</a:t>
              </a:r>
              <a:endParaRPr lang="en-US" sz="1400" dirty="0"/>
            </a:p>
          </p:txBody>
        </p:sp>
      </p:grpSp>
      <p:sp>
        <p:nvSpPr>
          <p:cNvPr id="25" name="TextBox 24"/>
          <p:cNvSpPr txBox="1"/>
          <p:nvPr/>
        </p:nvSpPr>
        <p:spPr>
          <a:xfrm>
            <a:off x="4191000" y="1732002"/>
            <a:ext cx="377026" cy="553998"/>
          </a:xfrm>
          <a:prstGeom prst="rect">
            <a:avLst/>
          </a:prstGeom>
          <a:noFill/>
        </p:spPr>
        <p:txBody>
          <a:bodyPr wrap="none" rtlCol="0">
            <a:spAutoFit/>
          </a:bodyPr>
          <a:lstStyle/>
          <a:p>
            <a:r>
              <a:rPr lang="en-US" sz="3000" dirty="0"/>
              <a:t>+</a:t>
            </a:r>
          </a:p>
        </p:txBody>
      </p:sp>
      <p:grpSp>
        <p:nvGrpSpPr>
          <p:cNvPr id="18" name="Group 11"/>
          <p:cNvGrpSpPr/>
          <p:nvPr/>
        </p:nvGrpSpPr>
        <p:grpSpPr>
          <a:xfrm>
            <a:off x="4434840" y="4876800"/>
            <a:ext cx="822960" cy="76199"/>
            <a:chOff x="2895600" y="6324600"/>
            <a:chExt cx="2133600" cy="76199"/>
          </a:xfrm>
        </p:grpSpPr>
        <p:cxnSp>
          <p:nvCxnSpPr>
            <p:cNvPr id="26" name="Straight Arrow Connector 25"/>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28" name="Rounded Rectangle 27"/>
          <p:cNvSpPr/>
          <p:nvPr/>
        </p:nvSpPr>
        <p:spPr>
          <a:xfrm>
            <a:off x="3581400" y="1295400"/>
            <a:ext cx="2133600" cy="236220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blinds(horizontal)">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blinds(horizontal)">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blinds(horizontal)">
                                      <p:cBhvr>
                                        <p:cTn id="45" dur="500"/>
                                        <p:tgtEl>
                                          <p:spTgt spid="3">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Effect transition="in" filter="blinds(horizontal)">
                                      <p:cBhvr>
                                        <p:cTn id="50" dur="500"/>
                                        <p:tgtEl>
                                          <p:spTgt spid="3">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Effect transition="in" filter="blinds(horizontal)">
                                      <p:cBhvr>
                                        <p:cTn id="55" dur="500"/>
                                        <p:tgtEl>
                                          <p:spTgt spid="3">
                                            <p:txEl>
                                              <p:pRg st="7" end="7"/>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blinds(horizontal)">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blinds(horizontal)">
                                      <p:cBhvr>
                                        <p:cTn id="63" dur="500"/>
                                        <p:tgtEl>
                                          <p:spTgt spid="3">
                                            <p:txEl>
                                              <p:pRg st="8" end="8"/>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blinds(horizontal)">
                                      <p:cBhvr>
                                        <p:cTn id="6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5" grpId="0"/>
      <p:bldP spid="2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15240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23.5.1</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强酸弱碱盐的水解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685800"/>
            <a:ext cx="8077200" cy="5486400"/>
          </a:xfrm>
        </p:spPr>
        <p:txBody>
          <a:bodyPr>
            <a:noAutofit/>
          </a:bodyPr>
          <a:lstStyle/>
          <a:p>
            <a:pPr>
              <a:buNone/>
            </a:pPr>
            <a:r>
              <a:rPr lang="en-US" altLang="zh-CN" sz="2800" dirty="0">
                <a:sym typeface="Wingdings" pitchFamily="2" charset="2"/>
              </a:rPr>
              <a:t>		Na</a:t>
            </a:r>
            <a:r>
              <a:rPr lang="en-US" altLang="zh-CN" sz="2800" baseline="-25000" dirty="0">
                <a:sym typeface="Wingdings" pitchFamily="2" charset="2"/>
              </a:rPr>
              <a:t>2</a:t>
            </a:r>
            <a:r>
              <a:rPr lang="en-US" altLang="zh-CN" sz="2800" dirty="0">
                <a:sym typeface="Wingdings" pitchFamily="2" charset="2"/>
              </a:rPr>
              <a:t>CO</a:t>
            </a:r>
            <a:r>
              <a:rPr lang="en-US" altLang="zh-CN" sz="2800" baseline="-25000" dirty="0">
                <a:sym typeface="Wingdings" pitchFamily="2" charset="2"/>
              </a:rPr>
              <a:t>3</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CO</a:t>
            </a:r>
            <a:r>
              <a:rPr lang="en-US" altLang="zh-CN" sz="2800" baseline="-25000" dirty="0">
                <a:sym typeface="Wingdings" pitchFamily="2" charset="2"/>
              </a:rPr>
              <a:t>3</a:t>
            </a:r>
            <a:r>
              <a:rPr lang="en-US" altLang="zh-CN" sz="2800" dirty="0">
                <a:sym typeface="Wingdings" pitchFamily="2" charset="2"/>
              </a:rPr>
              <a:t> </a:t>
            </a:r>
            <a:r>
              <a:rPr lang="en-US" altLang="zh-CN" sz="2800" baseline="30000" dirty="0">
                <a:sym typeface="Wingdings" pitchFamily="2" charset="2"/>
              </a:rPr>
              <a:t>2-</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+ 2 Na</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r>
              <a:rPr lang="en-US" altLang="zh-CN" sz="2800" dirty="0">
                <a:sym typeface="Wingdings" pitchFamily="2" charset="2"/>
              </a:rPr>
              <a:t>		 H</a:t>
            </a:r>
            <a:r>
              <a:rPr lang="en-US" altLang="zh-CN" sz="2800" baseline="-25000" dirty="0">
                <a:sym typeface="Wingdings" pitchFamily="2" charset="2"/>
              </a:rPr>
              <a:t>2</a:t>
            </a:r>
            <a:r>
              <a:rPr lang="en-US" altLang="zh-CN" sz="2800" dirty="0">
                <a:sym typeface="Wingdings" pitchFamily="2" charset="2"/>
              </a:rPr>
              <a:t>O (l) 	         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OH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endParaRPr lang="en-US" altLang="zh-CN" sz="2800" dirty="0">
              <a:sym typeface="Wingdings" pitchFamily="2" charset="2"/>
            </a:endParaRPr>
          </a:p>
          <a:p>
            <a:pPr>
              <a:buNone/>
            </a:pPr>
            <a:r>
              <a:rPr lang="en-US" altLang="zh-CN" sz="2800" dirty="0">
                <a:sym typeface="Wingdings" pitchFamily="2" charset="2"/>
              </a:rPr>
              <a:t>				       HCO</a:t>
            </a:r>
            <a:r>
              <a:rPr lang="en-US" altLang="zh-CN" sz="2800" baseline="-25000" dirty="0">
                <a:sym typeface="Wingdings" pitchFamily="2" charset="2"/>
              </a:rPr>
              <a:t>3</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r>
              <a:rPr lang="en-US" altLang="zh-CN" sz="2800" dirty="0">
                <a:sym typeface="Wingdings" pitchFamily="2" charset="2"/>
              </a:rPr>
              <a:t> 		H</a:t>
            </a:r>
            <a:r>
              <a:rPr lang="en-US" altLang="zh-CN" sz="2800" baseline="-25000" dirty="0">
                <a:sym typeface="Wingdings" pitchFamily="2" charset="2"/>
              </a:rPr>
              <a:t>2</a:t>
            </a:r>
            <a:r>
              <a:rPr lang="en-US" altLang="zh-CN" sz="2800" dirty="0">
                <a:sym typeface="Wingdings" pitchFamily="2" charset="2"/>
              </a:rPr>
              <a:t>O (l) 	       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OH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endParaRPr lang="en-US" altLang="zh-CN" sz="2800" dirty="0">
              <a:sym typeface="Wingdings" pitchFamily="2" charset="2"/>
            </a:endParaRPr>
          </a:p>
          <a:p>
            <a:pPr>
              <a:buNone/>
            </a:pPr>
            <a:r>
              <a:rPr lang="en-US" altLang="zh-CN" sz="2800" dirty="0">
                <a:sym typeface="Wingdings" pitchFamily="2" charset="2"/>
              </a:rPr>
              <a:t>				      H</a:t>
            </a:r>
            <a:r>
              <a:rPr lang="en-US" altLang="zh-CN" sz="2800" baseline="-25000" dirty="0">
                <a:sym typeface="Wingdings" pitchFamily="2" charset="2"/>
              </a:rPr>
              <a:t>2</a:t>
            </a:r>
            <a:r>
              <a:rPr lang="en-US" altLang="zh-CN" sz="2800" dirty="0">
                <a:sym typeface="Wingdings" pitchFamily="2" charset="2"/>
              </a:rPr>
              <a:t>CO</a:t>
            </a:r>
            <a:r>
              <a:rPr lang="en-US" altLang="zh-CN" sz="2800" baseline="-25000" dirty="0">
                <a:sym typeface="Wingdings" pitchFamily="2" charset="2"/>
              </a:rPr>
              <a:t>3</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spcBef>
                <a:spcPts val="0"/>
              </a:spcBef>
              <a:buNone/>
            </a:pPr>
            <a:r>
              <a:rPr lang="zh-CN" altLang="en-US" sz="2800" dirty="0">
                <a:sym typeface="Wingdings" pitchFamily="2" charset="2"/>
              </a:rPr>
              <a:t>由于</a:t>
            </a:r>
            <a:r>
              <a:rPr lang="en-US" altLang="zh-CN" sz="2800" dirty="0">
                <a:sym typeface="Wingdings" pitchFamily="2" charset="2"/>
              </a:rPr>
              <a:t>CO</a:t>
            </a:r>
            <a:r>
              <a:rPr lang="en-US" altLang="zh-CN" sz="2800" baseline="-25000" dirty="0">
                <a:sym typeface="Wingdings" pitchFamily="2" charset="2"/>
              </a:rPr>
              <a:t>3</a:t>
            </a:r>
            <a:r>
              <a:rPr lang="en-US" altLang="zh-CN" sz="2800" baseline="30000" dirty="0">
                <a:sym typeface="Wingdings" pitchFamily="2" charset="2"/>
              </a:rPr>
              <a:t>2-</a:t>
            </a:r>
            <a:r>
              <a:rPr lang="en-US" altLang="zh-CN" sz="2800" dirty="0">
                <a:sym typeface="Wingdings" pitchFamily="2" charset="2"/>
              </a:rPr>
              <a:t> </a:t>
            </a:r>
            <a:r>
              <a:rPr lang="zh-CN" altLang="en-US" sz="2800" dirty="0">
                <a:sym typeface="Wingdings" pitchFamily="2" charset="2"/>
              </a:rPr>
              <a:t>与水电离出的</a:t>
            </a: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结合，造成</a:t>
            </a:r>
            <a:r>
              <a:rPr lang="en-US" altLang="zh-CN" sz="2800" dirty="0">
                <a:sym typeface="Wingdings" pitchFamily="2" charset="2"/>
              </a:rPr>
              <a:t> [H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减小，</a:t>
            </a:r>
            <a:endParaRPr lang="en-US" altLang="zh-CN" sz="2800" dirty="0">
              <a:sym typeface="Wingdings" pitchFamily="2" charset="2"/>
            </a:endParaRPr>
          </a:p>
          <a:p>
            <a:pPr>
              <a:spcBef>
                <a:spcPts val="0"/>
              </a:spcBef>
              <a:buNone/>
            </a:pPr>
            <a:r>
              <a:rPr lang="zh-CN" altLang="en-US" sz="2800" dirty="0">
                <a:sym typeface="Wingdings" pitchFamily="2" charset="2"/>
              </a:rPr>
              <a:t>促使水电离平衡向右移，</a:t>
            </a:r>
            <a:r>
              <a:rPr lang="en-US" altLang="zh-CN" sz="2800" dirty="0">
                <a:sym typeface="Wingdings" pitchFamily="2" charset="2"/>
              </a:rPr>
              <a:t>[OH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增加。</a:t>
            </a:r>
            <a:endParaRPr lang="en-US" altLang="zh-CN" sz="2800" dirty="0">
              <a:sym typeface="Wingdings" pitchFamily="2" charset="2"/>
            </a:endParaRPr>
          </a:p>
          <a:p>
            <a:pPr>
              <a:spcBef>
                <a:spcPts val="0"/>
              </a:spcBef>
              <a:buNone/>
            </a:pPr>
            <a:r>
              <a:rPr lang="en-US" altLang="zh-CN" sz="2800" dirty="0">
                <a:sym typeface="Wingdings" pitchFamily="2" charset="2"/>
              </a:rPr>
              <a:t>[OH</a:t>
            </a:r>
            <a:r>
              <a:rPr lang="en-US" altLang="zh-CN" sz="2800" baseline="30000" dirty="0">
                <a:sym typeface="Wingdings" pitchFamily="2" charset="2"/>
              </a:rPr>
              <a:t>-</a:t>
            </a:r>
            <a:r>
              <a:rPr lang="en-US" altLang="zh-CN" sz="2800" dirty="0">
                <a:sym typeface="Wingdings" pitchFamily="2" charset="2"/>
              </a:rPr>
              <a:t> ] &gt; [H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溶液呈碱性。</a:t>
            </a:r>
            <a:endParaRPr lang="en-US" altLang="zh-CN" sz="2800" dirty="0">
              <a:sym typeface="Wingdings" pitchFamily="2" charset="2"/>
            </a:endParaRPr>
          </a:p>
          <a:p>
            <a:pPr>
              <a:spcBef>
                <a:spcPts val="0"/>
              </a:spcBef>
              <a:buNone/>
            </a:pPr>
            <a:r>
              <a:rPr lang="zh-CN" altLang="en-US" sz="2800" dirty="0">
                <a:sym typeface="Wingdings" pitchFamily="2" charset="2"/>
              </a:rPr>
              <a:t>由于第二步水解程度很小，</a:t>
            </a:r>
            <a:r>
              <a:rPr lang="en-US" altLang="zh-CN" sz="2800" dirty="0">
                <a:sym typeface="Wingdings" pitchFamily="2" charset="2"/>
              </a:rPr>
              <a:t>[H</a:t>
            </a:r>
            <a:r>
              <a:rPr lang="en-US" altLang="zh-CN" sz="2800" baseline="-25000" dirty="0">
                <a:sym typeface="Wingdings" pitchFamily="2" charset="2"/>
              </a:rPr>
              <a:t>2</a:t>
            </a:r>
            <a:r>
              <a:rPr lang="en-US" altLang="zh-CN" sz="2800" dirty="0">
                <a:sym typeface="Wingdings" pitchFamily="2" charset="2"/>
              </a:rPr>
              <a:t>CO</a:t>
            </a:r>
            <a:r>
              <a:rPr lang="en-US" altLang="zh-CN" sz="2800" baseline="-25000" dirty="0">
                <a:sym typeface="Wingdings" pitchFamily="2" charset="2"/>
              </a:rPr>
              <a:t>3</a:t>
            </a:r>
            <a:r>
              <a:rPr lang="en-US" altLang="zh-CN" sz="2800" dirty="0">
                <a:sym typeface="Wingdings" pitchFamily="2" charset="2"/>
              </a:rPr>
              <a:t>]</a:t>
            </a:r>
            <a:r>
              <a:rPr lang="zh-CN" altLang="en-US" sz="2800" dirty="0">
                <a:sym typeface="Wingdings" pitchFamily="2" charset="2"/>
              </a:rPr>
              <a:t>小，</a:t>
            </a:r>
            <a:endParaRPr lang="en-US" altLang="zh-CN" sz="2800" dirty="0">
              <a:sym typeface="Wingdings" pitchFamily="2" charset="2"/>
            </a:endParaRPr>
          </a:p>
          <a:p>
            <a:pPr>
              <a:spcBef>
                <a:spcPts val="0"/>
              </a:spcBef>
              <a:buNone/>
            </a:pPr>
            <a:r>
              <a:rPr lang="zh-CN" altLang="en-US" sz="2800" dirty="0">
                <a:sym typeface="Wingdings" pitchFamily="2" charset="2"/>
              </a:rPr>
              <a:t>所以不会放出</a:t>
            </a:r>
            <a:r>
              <a:rPr lang="en-US" altLang="zh-CN" sz="2800" dirty="0">
                <a:sym typeface="Wingdings" pitchFamily="2" charset="2"/>
              </a:rPr>
              <a:t>CO</a:t>
            </a:r>
            <a:r>
              <a:rPr lang="en-US" altLang="zh-CN" sz="2800" baseline="-25000" dirty="0">
                <a:sym typeface="Wingdings" pitchFamily="2" charset="2"/>
              </a:rPr>
              <a:t>2</a:t>
            </a:r>
            <a:r>
              <a:rPr lang="en-US" altLang="zh-CN" sz="2800" dirty="0">
                <a:sym typeface="Wingdings" pitchFamily="2" charset="2"/>
              </a:rPr>
              <a:t> </a:t>
            </a:r>
            <a:r>
              <a:rPr lang="zh-CN" altLang="en-US" sz="2800" dirty="0">
                <a:sym typeface="Wingdings" pitchFamily="2" charset="2"/>
              </a:rPr>
              <a:t>气体。</a:t>
            </a:r>
            <a:endParaRPr lang="en-US" altLang="zh-CN" sz="2800" dirty="0">
              <a:sym typeface="Wingdings" pitchFamily="2" charset="2"/>
            </a:endParaRPr>
          </a:p>
          <a:p>
            <a:pPr>
              <a:spcBef>
                <a:spcPts val="0"/>
              </a:spcBef>
              <a:buNone/>
            </a:pPr>
            <a:r>
              <a:rPr lang="zh-CN" altLang="en-US" sz="2800" dirty="0"/>
              <a:t>在</a:t>
            </a:r>
            <a:r>
              <a:rPr lang="en-US" sz="2800" dirty="0"/>
              <a:t>Na</a:t>
            </a:r>
            <a:r>
              <a:rPr lang="en-US" sz="2800" baseline="-25000" dirty="0"/>
              <a:t>2</a:t>
            </a:r>
            <a:r>
              <a:rPr lang="en-US" sz="2800" dirty="0"/>
              <a:t>CO</a:t>
            </a:r>
            <a:r>
              <a:rPr lang="en-US" sz="2800" baseline="-25000" dirty="0"/>
              <a:t>3</a:t>
            </a:r>
            <a:r>
              <a:rPr lang="en-US" sz="2800" dirty="0"/>
              <a:t> </a:t>
            </a:r>
            <a:r>
              <a:rPr lang="zh-CN" altLang="en-US" sz="2800" dirty="0"/>
              <a:t>溶液中：</a:t>
            </a:r>
            <a:r>
              <a:rPr lang="en-US" altLang="zh-CN" sz="2800" dirty="0"/>
              <a:t> [CO</a:t>
            </a:r>
            <a:r>
              <a:rPr lang="en-US" altLang="zh-CN" sz="2800" baseline="-25000" dirty="0"/>
              <a:t>3</a:t>
            </a:r>
            <a:r>
              <a:rPr lang="en-US" altLang="zh-CN" sz="2800" baseline="30000" dirty="0"/>
              <a:t>2-</a:t>
            </a:r>
            <a:r>
              <a:rPr lang="en-US" altLang="zh-CN" sz="2800" dirty="0"/>
              <a:t>] &gt; [HCO</a:t>
            </a:r>
            <a:r>
              <a:rPr lang="en-US" altLang="zh-CN" sz="2800" baseline="-25000" dirty="0"/>
              <a:t>3</a:t>
            </a:r>
            <a:r>
              <a:rPr lang="en-US" altLang="zh-CN" sz="2800" baseline="30000" dirty="0"/>
              <a:t>-</a:t>
            </a:r>
            <a:r>
              <a:rPr lang="en-US" altLang="zh-CN" sz="2800" dirty="0"/>
              <a:t>] &gt; [H</a:t>
            </a:r>
            <a:r>
              <a:rPr lang="en-US" altLang="zh-CN" sz="2800" baseline="-25000" dirty="0"/>
              <a:t>2</a:t>
            </a:r>
            <a:r>
              <a:rPr lang="en-US" altLang="zh-CN" sz="2800" dirty="0"/>
              <a:t>CO</a:t>
            </a:r>
            <a:r>
              <a:rPr lang="en-US" altLang="zh-CN" sz="2800" baseline="-25000" dirty="0"/>
              <a:t>3</a:t>
            </a:r>
            <a:r>
              <a:rPr lang="en-US" altLang="zh-CN" sz="2800" dirty="0"/>
              <a:t>] </a:t>
            </a:r>
            <a:endParaRPr lang="en-US" altLang="zh-CN" sz="2800" dirty="0">
              <a:sym typeface="Wingdings" pitchFamily="2" charset="2"/>
            </a:endParaRPr>
          </a:p>
          <a:p>
            <a:pPr>
              <a:buNone/>
            </a:pPr>
            <a:endParaRPr lang="en-US" altLang="zh-CN" sz="2800" dirty="0">
              <a:sym typeface="Wingdings" pitchFamily="2" charset="2"/>
            </a:endParaRPr>
          </a:p>
          <a:p>
            <a:pPr>
              <a:buNone/>
            </a:pPr>
            <a:endParaRPr lang="en-US" altLang="zh-CN" sz="2800" b="1" dirty="0">
              <a:effectLst>
                <a:outerShdw blurRad="38100" dist="38100" dir="2700000" algn="tl">
                  <a:srgbClr val="000000">
                    <a:alpha val="43137"/>
                  </a:srgbClr>
                </a:outerShdw>
              </a:effectLst>
              <a:sym typeface="Wingdings" pitchFamily="2" charset="2"/>
            </a:endParaRPr>
          </a:p>
          <a:p>
            <a:pPr>
              <a:buNone/>
            </a:pPr>
            <a:endParaRPr lang="en-US" altLang="zh-CN" sz="2800" dirty="0">
              <a:sym typeface="Wingdings" pitchFamily="2" charset="2"/>
            </a:endParaRPr>
          </a:p>
        </p:txBody>
      </p:sp>
      <p:grpSp>
        <p:nvGrpSpPr>
          <p:cNvPr id="5" name="Group 11"/>
          <p:cNvGrpSpPr/>
          <p:nvPr/>
        </p:nvGrpSpPr>
        <p:grpSpPr>
          <a:xfrm>
            <a:off x="2895600" y="1361420"/>
            <a:ext cx="822960" cy="76199"/>
            <a:chOff x="2895600" y="6324600"/>
            <a:chExt cx="2133600" cy="76199"/>
          </a:xfrm>
        </p:grpSpPr>
        <p:cxnSp>
          <p:nvCxnSpPr>
            <p:cNvPr id="11" name="Straight Arrow Connector 10"/>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Group 11"/>
          <p:cNvGrpSpPr/>
          <p:nvPr/>
        </p:nvGrpSpPr>
        <p:grpSpPr>
          <a:xfrm rot="5400000">
            <a:off x="3909060" y="1871961"/>
            <a:ext cx="640080" cy="76199"/>
            <a:chOff x="2895600" y="6324600"/>
            <a:chExt cx="2133600" cy="76199"/>
          </a:xfrm>
        </p:grpSpPr>
        <p:cxnSp>
          <p:nvCxnSpPr>
            <p:cNvPr id="9" name="Straight Arrow Connector 8"/>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3962400" y="914400"/>
            <a:ext cx="364202" cy="523220"/>
          </a:xfrm>
          <a:prstGeom prst="rect">
            <a:avLst/>
          </a:prstGeom>
          <a:noFill/>
        </p:spPr>
        <p:txBody>
          <a:bodyPr wrap="none" rtlCol="0">
            <a:spAutoFit/>
          </a:bodyPr>
          <a:lstStyle/>
          <a:p>
            <a:r>
              <a:rPr lang="en-US" sz="2800" dirty="0"/>
              <a:t>+</a:t>
            </a:r>
          </a:p>
        </p:txBody>
      </p:sp>
      <p:grpSp>
        <p:nvGrpSpPr>
          <p:cNvPr id="16" name="Group 11"/>
          <p:cNvGrpSpPr/>
          <p:nvPr/>
        </p:nvGrpSpPr>
        <p:grpSpPr>
          <a:xfrm>
            <a:off x="2895600" y="2885420"/>
            <a:ext cx="822960" cy="76199"/>
            <a:chOff x="2895600" y="6324600"/>
            <a:chExt cx="2133600" cy="76199"/>
          </a:xfrm>
        </p:grpSpPr>
        <p:cxnSp>
          <p:nvCxnSpPr>
            <p:cNvPr id="18" name="Straight Arrow Connector 17"/>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4038600" y="2428220"/>
            <a:ext cx="364202" cy="523220"/>
          </a:xfrm>
          <a:prstGeom prst="rect">
            <a:avLst/>
          </a:prstGeom>
          <a:noFill/>
        </p:spPr>
        <p:txBody>
          <a:bodyPr wrap="none" rtlCol="0">
            <a:spAutoFit/>
          </a:bodyPr>
          <a:lstStyle/>
          <a:p>
            <a:r>
              <a:rPr lang="en-US" sz="2800" dirty="0"/>
              <a:t>+</a:t>
            </a:r>
          </a:p>
        </p:txBody>
      </p:sp>
      <p:grpSp>
        <p:nvGrpSpPr>
          <p:cNvPr id="21" name="Group 11"/>
          <p:cNvGrpSpPr/>
          <p:nvPr/>
        </p:nvGrpSpPr>
        <p:grpSpPr>
          <a:xfrm rot="5400000">
            <a:off x="3832860" y="3395961"/>
            <a:ext cx="640080" cy="76199"/>
            <a:chOff x="2895600" y="6324600"/>
            <a:chExt cx="2133600" cy="76199"/>
          </a:xfrm>
        </p:grpSpPr>
        <p:cxnSp>
          <p:nvCxnSpPr>
            <p:cNvPr id="22" name="Straight Arrow Connector 21"/>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blinds(horizontal)">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blinds(horizontal)">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blinds(horizontal)">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blinds(horizontal)">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blinds(horizontal)">
                                      <p:cBhvr>
                                        <p:cTn id="48" dur="500"/>
                                        <p:tgtEl>
                                          <p:spTgt spid="21"/>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animEffect transition="in" filter="blinds(horizontal)">
                                      <p:cBhvr>
                                        <p:cTn id="53" dur="500"/>
                                        <p:tgtEl>
                                          <p:spTgt spid="3">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blinds(horizontal)">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blinds(horizontal)">
                                      <p:cBhvr>
                                        <p:cTn id="63" dur="500"/>
                                        <p:tgtEl>
                                          <p:spTgt spid="3">
                                            <p:txEl>
                                              <p:pRg st="8" end="8"/>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
                                            <p:txEl>
                                              <p:pRg st="9" end="9"/>
                                            </p:txEl>
                                          </p:spTgt>
                                        </p:tgtEl>
                                        <p:attrNameLst>
                                          <p:attrName>style.visibility</p:attrName>
                                        </p:attrNameLst>
                                      </p:cBhvr>
                                      <p:to>
                                        <p:strVal val="visible"/>
                                      </p:to>
                                    </p:set>
                                    <p:animEffect transition="in" filter="blinds(horizontal)">
                                      <p:cBhvr>
                                        <p:cTn id="68" dur="500"/>
                                        <p:tgtEl>
                                          <p:spTgt spid="3">
                                            <p:txEl>
                                              <p:pRg st="9" end="9"/>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
                                            <p:txEl>
                                              <p:pRg st="10" end="10"/>
                                            </p:txEl>
                                          </p:spTgt>
                                        </p:tgtEl>
                                        <p:attrNameLst>
                                          <p:attrName>style.visibility</p:attrName>
                                        </p:attrNameLst>
                                      </p:cBhvr>
                                      <p:to>
                                        <p:strVal val="visible"/>
                                      </p:to>
                                    </p:set>
                                    <p:animEffect transition="in" filter="blinds(horizontal)">
                                      <p:cBhvr>
                                        <p:cTn id="73" dur="500"/>
                                        <p:tgtEl>
                                          <p:spTgt spid="3">
                                            <p:txEl>
                                              <p:pRg st="10" end="1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3">
                                            <p:txEl>
                                              <p:pRg st="11" end="11"/>
                                            </p:txEl>
                                          </p:spTgt>
                                        </p:tgtEl>
                                        <p:attrNameLst>
                                          <p:attrName>style.visibility</p:attrName>
                                        </p:attrNameLst>
                                      </p:cBhvr>
                                      <p:to>
                                        <p:strVal val="visible"/>
                                      </p:to>
                                    </p:set>
                                    <p:animEffect transition="in" filter="blinds(horizontal)">
                                      <p:cBhvr>
                                        <p:cTn id="78" dur="500"/>
                                        <p:tgtEl>
                                          <p:spTgt spid="3">
                                            <p:txEl>
                                              <p:pRg st="11" end="11"/>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3">
                                            <p:txEl>
                                              <p:pRg st="12" end="12"/>
                                            </p:txEl>
                                          </p:spTgt>
                                        </p:tgtEl>
                                        <p:attrNameLst>
                                          <p:attrName>style.visibility</p:attrName>
                                        </p:attrNameLst>
                                      </p:cBhvr>
                                      <p:to>
                                        <p:strVal val="visible"/>
                                      </p:to>
                                    </p:set>
                                    <p:animEffect transition="in" filter="blinds(horizontal)">
                                      <p:cBhvr>
                                        <p:cTn id="83"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7" grpId="0" uiExpand="1"/>
      <p:bldP spid="2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23.5.2</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强酸弱碱盐的水解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None/>
            </a:pPr>
            <a:r>
              <a:rPr lang="zh-CN" altLang="en-US" sz="3000" u="sng" dirty="0">
                <a:solidFill>
                  <a:srgbClr val="002060"/>
                </a:solidFill>
                <a:sym typeface="Wingdings" pitchFamily="2" charset="2"/>
              </a:rPr>
              <a:t>强酸弱碱盐的水解</a:t>
            </a:r>
            <a:endParaRPr lang="en-US" altLang="zh-CN" sz="3000" u="sng" dirty="0">
              <a:solidFill>
                <a:srgbClr val="002060"/>
              </a:solidFill>
              <a:sym typeface="Wingdings" pitchFamily="2" charset="2"/>
            </a:endParaRPr>
          </a:p>
          <a:p>
            <a:pPr>
              <a:buNone/>
            </a:pPr>
            <a:r>
              <a:rPr lang="en-US" altLang="zh-CN" sz="3000" dirty="0">
                <a:sym typeface="Wingdings" pitchFamily="2" charset="2"/>
              </a:rPr>
              <a:t>		NH</a:t>
            </a:r>
            <a:r>
              <a:rPr lang="en-US" altLang="zh-CN" sz="3000" baseline="-25000" dirty="0">
                <a:sym typeface="Wingdings" pitchFamily="2" charset="2"/>
              </a:rPr>
              <a:t>4</a:t>
            </a:r>
            <a:r>
              <a:rPr lang="en-US" altLang="zh-CN" sz="3000" dirty="0">
                <a:sym typeface="Wingdings" pitchFamily="2" charset="2"/>
              </a:rPr>
              <a:t>Cl(</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a:t>
            </a:r>
            <a:r>
              <a:rPr lang="en-US" altLang="zh-CN" sz="3000" dirty="0" err="1">
                <a:sym typeface="Wingdings" pitchFamily="2" charset="2"/>
              </a:rPr>
              <a:t>Cl</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O (l)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endParaRPr lang="en-US" altLang="zh-CN" sz="3000" dirty="0">
              <a:sym typeface="Wingdings" pitchFamily="2" charset="2"/>
            </a:endParaRPr>
          </a:p>
          <a:p>
            <a:pPr>
              <a:buNone/>
            </a:pPr>
            <a:r>
              <a:rPr lang="en-US" altLang="zh-CN" sz="3000" dirty="0">
                <a:sym typeface="Wingdings" pitchFamily="2" charset="2"/>
              </a:rPr>
              <a:t>				 NH</a:t>
            </a:r>
            <a:r>
              <a:rPr lang="en-US" altLang="zh-CN" sz="3000" baseline="-25000" dirty="0">
                <a:sym typeface="Wingdings" pitchFamily="2" charset="2"/>
              </a:rPr>
              <a:t>3</a:t>
            </a:r>
            <a:r>
              <a:rPr lang="en-US" altLang="zh-CN" sz="3000" dirty="0">
                <a:sym typeface="Wingdings" pitchFamily="2" charset="2"/>
              </a:rPr>
              <a:t> </a:t>
            </a:r>
            <a:r>
              <a:rPr lang="en-US" altLang="zh-CN" sz="3000" dirty="0">
                <a:latin typeface="Arial"/>
                <a:cs typeface="Arial"/>
                <a:sym typeface="Wingdings" pitchFamily="2" charset="2"/>
              </a:rPr>
              <a:t>· </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a:latin typeface="Arial"/>
                <a:cs typeface="Arial"/>
                <a:sym typeface="Wingdings" pitchFamily="2" charset="2"/>
              </a:rPr>
              <a:t>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buNone/>
            </a:pPr>
            <a:r>
              <a:rPr lang="zh-CN" altLang="en-US" sz="3000" dirty="0">
                <a:sym typeface="Wingdings" pitchFamily="2" charset="2"/>
              </a:rPr>
              <a:t>离子方程式：</a:t>
            </a:r>
            <a:endParaRPr lang="en-US" altLang="zh-CN" sz="3000" dirty="0">
              <a:sym typeface="Wingdings" pitchFamily="2" charset="2"/>
            </a:endParaRPr>
          </a:p>
          <a:p>
            <a:pPr>
              <a:buNone/>
            </a:pP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 (l)             NH</a:t>
            </a:r>
            <a:r>
              <a:rPr lang="en-US" altLang="zh-CN" sz="3000" baseline="-25000" dirty="0">
                <a:sym typeface="Wingdings" pitchFamily="2" charset="2"/>
              </a:rPr>
              <a:t>3</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减小，促使水电离平衡向右移，</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增加。</a:t>
            </a:r>
            <a:endParaRPr lang="en-US" altLang="zh-CN" sz="3000" dirty="0">
              <a:sym typeface="Wingdings" pitchFamily="2" charset="2"/>
            </a:endParaRPr>
          </a:p>
          <a:p>
            <a:pPr>
              <a:spcAft>
                <a:spcPts val="600"/>
              </a:spcAft>
              <a:buNone/>
            </a:pP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&gt; [OH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溶液呈酸性。</a:t>
            </a: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p>
        </p:txBody>
      </p:sp>
      <p:grpSp>
        <p:nvGrpSpPr>
          <p:cNvPr id="5" name="Group 11"/>
          <p:cNvGrpSpPr/>
          <p:nvPr/>
        </p:nvGrpSpPr>
        <p:grpSpPr>
          <a:xfrm>
            <a:off x="2987040" y="2362201"/>
            <a:ext cx="822960" cy="76199"/>
            <a:chOff x="2895600" y="6324600"/>
            <a:chExt cx="2133600" cy="76199"/>
          </a:xfrm>
        </p:grpSpPr>
        <p:cxnSp>
          <p:nvCxnSpPr>
            <p:cNvPr id="11" name="Straight Arrow Connector 10"/>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Group 11"/>
          <p:cNvGrpSpPr/>
          <p:nvPr/>
        </p:nvGrpSpPr>
        <p:grpSpPr>
          <a:xfrm rot="5400000">
            <a:off x="3909060" y="2918460"/>
            <a:ext cx="640080" cy="76199"/>
            <a:chOff x="2895600" y="6324600"/>
            <a:chExt cx="2133600" cy="76199"/>
          </a:xfrm>
        </p:grpSpPr>
        <p:cxnSp>
          <p:nvCxnSpPr>
            <p:cNvPr id="14" name="Straight Arrow Connector 13"/>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3962400" y="1808202"/>
            <a:ext cx="377026" cy="553998"/>
          </a:xfrm>
          <a:prstGeom prst="rect">
            <a:avLst/>
          </a:prstGeom>
          <a:noFill/>
        </p:spPr>
        <p:txBody>
          <a:bodyPr wrap="none" rtlCol="0">
            <a:spAutoFit/>
          </a:bodyPr>
          <a:lstStyle/>
          <a:p>
            <a:r>
              <a:rPr lang="en-US" sz="3000" dirty="0"/>
              <a:t>+</a:t>
            </a:r>
          </a:p>
        </p:txBody>
      </p:sp>
      <p:grpSp>
        <p:nvGrpSpPr>
          <p:cNvPr id="13" name="Group 11"/>
          <p:cNvGrpSpPr/>
          <p:nvPr/>
        </p:nvGrpSpPr>
        <p:grpSpPr>
          <a:xfrm>
            <a:off x="3657600" y="4495800"/>
            <a:ext cx="822960" cy="76199"/>
            <a:chOff x="2895600" y="6324600"/>
            <a:chExt cx="2133600" cy="76199"/>
          </a:xfrm>
        </p:grpSpPr>
        <p:cxnSp>
          <p:nvCxnSpPr>
            <p:cNvPr id="16" name="Straight Arrow Connector 15"/>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linds(horizontal)">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linds(horizontal)">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blinds(horizontal)">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blinds(horizontal)">
                                      <p:cBhvr>
                                        <p:cTn id="45" dur="500"/>
                                        <p:tgtEl>
                                          <p:spTgt spid="3">
                                            <p:txEl>
                                              <p:pRg st="6" end="6"/>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blinds(horizontal)">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blinds(horizontal)">
                                      <p:cBhvr>
                                        <p:cTn id="53" dur="500"/>
                                        <p:tgtEl>
                                          <p:spTgt spid="3">
                                            <p:txEl>
                                              <p:pRg st="7" end="7"/>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animEffect transition="in" filter="blinds(horizontal)">
                                      <p:cBhvr>
                                        <p:cTn id="5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7" grpId="0" uiExpand="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23.5.3</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弱酸弱碱盐的水解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None/>
            </a:pPr>
            <a:r>
              <a:rPr lang="zh-CN" altLang="en-US" sz="3000" u="sng" dirty="0">
                <a:solidFill>
                  <a:srgbClr val="002060"/>
                </a:solidFill>
                <a:sym typeface="Wingdings" pitchFamily="2" charset="2"/>
              </a:rPr>
              <a:t>弱酸弱碱盐的水解</a:t>
            </a:r>
            <a:endParaRPr lang="en-US" altLang="zh-CN" sz="3000" u="sng" dirty="0">
              <a:solidFill>
                <a:srgbClr val="002060"/>
              </a:solidFill>
              <a:sym typeface="Wingdings" pitchFamily="2" charset="2"/>
            </a:endParaRPr>
          </a:p>
          <a:p>
            <a:pPr>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COONH</a:t>
            </a:r>
            <a:r>
              <a:rPr lang="en-US" altLang="zh-CN" sz="3000" baseline="-25000" dirty="0">
                <a:sym typeface="Wingdings" pitchFamily="2" charset="2"/>
              </a:rPr>
              <a:t>4</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CH</a:t>
            </a:r>
            <a:r>
              <a:rPr lang="en-US" altLang="zh-CN" sz="3000" baseline="-25000" dirty="0">
                <a:sym typeface="Wingdings" pitchFamily="2" charset="2"/>
              </a:rPr>
              <a:t>3</a:t>
            </a:r>
            <a:r>
              <a:rPr lang="en-US" altLang="zh-CN" sz="3000" dirty="0">
                <a:sym typeface="Wingdings" pitchFamily="2" charset="2"/>
              </a:rPr>
              <a:t>COO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O (l)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endParaRPr lang="en-US" altLang="zh-CN" sz="3000" dirty="0">
              <a:sym typeface="Wingdings" pitchFamily="2" charset="2"/>
            </a:endParaRPr>
          </a:p>
          <a:p>
            <a:pPr>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COOH(</a:t>
            </a:r>
            <a:r>
              <a:rPr lang="en-US" altLang="zh-CN" sz="3000" dirty="0" err="1">
                <a:sym typeface="Wingdings" pitchFamily="2" charset="2"/>
              </a:rPr>
              <a:t>aq</a:t>
            </a:r>
            <a:r>
              <a:rPr lang="en-US" altLang="zh-CN" sz="3000" dirty="0">
                <a:sym typeface="Wingdings" pitchFamily="2" charset="2"/>
              </a:rPr>
              <a:t>)	 NH</a:t>
            </a:r>
            <a:r>
              <a:rPr lang="en-US" altLang="zh-CN" sz="3000" baseline="-25000" dirty="0">
                <a:sym typeface="Wingdings" pitchFamily="2" charset="2"/>
              </a:rPr>
              <a:t>3</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a:latin typeface="Arial"/>
                <a:cs typeface="Arial"/>
                <a:sym typeface="Wingdings" pitchFamily="2" charset="2"/>
              </a:rPr>
              <a:t>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zh-CN" altLang="en-US" sz="3000" dirty="0">
                <a:sym typeface="Wingdings" pitchFamily="2" charset="2"/>
              </a:rPr>
              <a:t>离子方程式：</a:t>
            </a:r>
            <a:r>
              <a:rPr lang="en-US" altLang="zh-CN" sz="3000" dirty="0">
                <a:sym typeface="Wingdings" pitchFamily="2" charset="2"/>
              </a:rPr>
              <a:t>CH</a:t>
            </a:r>
            <a:r>
              <a:rPr lang="en-US" altLang="zh-CN" sz="3000" baseline="-25000" dirty="0">
                <a:sym typeface="Wingdings" pitchFamily="2" charset="2"/>
              </a:rPr>
              <a:t>3</a:t>
            </a:r>
            <a:r>
              <a:rPr lang="en-US" altLang="zh-CN" sz="3000" dirty="0">
                <a:sym typeface="Wingdings" pitchFamily="2" charset="2"/>
              </a:rPr>
              <a:t>COO</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O (l)</a:t>
            </a:r>
          </a:p>
          <a:p>
            <a:pPr>
              <a:spcBef>
                <a:spcPts val="0"/>
              </a:spcBef>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COOH(</a:t>
            </a:r>
            <a:r>
              <a:rPr lang="en-US" altLang="zh-CN" sz="3000" dirty="0" err="1">
                <a:sym typeface="Wingdings" pitchFamily="2" charset="2"/>
              </a:rPr>
              <a:t>aq</a:t>
            </a:r>
            <a:r>
              <a:rPr lang="en-US" altLang="zh-CN" sz="3000" dirty="0">
                <a:sym typeface="Wingdings" pitchFamily="2" charset="2"/>
              </a:rPr>
              <a:t>)+ NH</a:t>
            </a:r>
            <a:r>
              <a:rPr lang="en-US" altLang="zh-CN" sz="3000" baseline="-25000" dirty="0">
                <a:sym typeface="Wingdings" pitchFamily="2" charset="2"/>
              </a:rPr>
              <a:t>3</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a:latin typeface="Arial"/>
                <a:cs typeface="Arial"/>
                <a:sym typeface="Wingdings" pitchFamily="2" charset="2"/>
              </a:rPr>
              <a:t> </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a:t>
            </a:r>
            <a:r>
              <a:rPr lang="zh-CN" altLang="en-US" sz="3000" dirty="0">
                <a:sym typeface="Wingdings" pitchFamily="2" charset="2"/>
              </a:rPr>
              <a:t>和 </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a:t>
            </a:r>
            <a:r>
              <a:rPr lang="zh-CN" altLang="en-US" sz="3000" dirty="0">
                <a:sym typeface="Wingdings" pitchFamily="2" charset="2"/>
              </a:rPr>
              <a:t>都</a:t>
            </a:r>
            <a:r>
              <a:rPr lang="en-US" altLang="zh-CN" sz="3000" dirty="0">
                <a:sym typeface="Wingdings" pitchFamily="2" charset="2"/>
              </a:rPr>
              <a:t> </a:t>
            </a:r>
            <a:r>
              <a:rPr lang="zh-CN" altLang="en-US" sz="3000" dirty="0">
                <a:sym typeface="Wingdings" pitchFamily="2" charset="2"/>
              </a:rPr>
              <a:t>减小，水电离平衡向右移。</a:t>
            </a:r>
            <a:endParaRPr lang="en-US" altLang="zh-CN" sz="3000" dirty="0">
              <a:sym typeface="Wingdings" pitchFamily="2" charset="2"/>
            </a:endParaRPr>
          </a:p>
          <a:p>
            <a:pPr>
              <a:spcBef>
                <a:spcPts val="0"/>
              </a:spcBef>
              <a:spcAft>
                <a:spcPts val="600"/>
              </a:spcAft>
              <a:buNone/>
            </a:pPr>
            <a:r>
              <a:rPr lang="zh-CN" altLang="en-US" sz="3000" dirty="0">
                <a:sym typeface="Wingdings" pitchFamily="2" charset="2"/>
              </a:rPr>
              <a:t>若</a:t>
            </a:r>
            <a:r>
              <a:rPr lang="en-US" altLang="zh-CN" sz="3000" dirty="0">
                <a:sym typeface="Wingdings" pitchFamily="2" charset="2"/>
              </a:rPr>
              <a:t>K</a:t>
            </a:r>
            <a:r>
              <a:rPr lang="en-US" altLang="zh-CN" sz="3000" baseline="-25000" dirty="0">
                <a:sym typeface="Wingdings" pitchFamily="2" charset="2"/>
              </a:rPr>
              <a:t>a</a:t>
            </a:r>
            <a:r>
              <a:rPr lang="en-US" altLang="zh-CN" sz="3000" dirty="0">
                <a:sym typeface="Wingdings" pitchFamily="2" charset="2"/>
              </a:rPr>
              <a:t> &gt;  K</a:t>
            </a:r>
            <a:r>
              <a:rPr lang="en-US" altLang="zh-CN" sz="3000" baseline="-25000" dirty="0">
                <a:sym typeface="Wingdings" pitchFamily="2" charset="2"/>
              </a:rPr>
              <a:t>b</a:t>
            </a:r>
            <a:r>
              <a:rPr lang="en-US" altLang="zh-CN" sz="3000" dirty="0">
                <a:sym typeface="Wingdings" pitchFamily="2" charset="2"/>
              </a:rPr>
              <a:t> </a:t>
            </a:r>
            <a:r>
              <a:rPr lang="zh-CN" altLang="en-US" sz="3000" dirty="0">
                <a:sym typeface="Wingdings" pitchFamily="2" charset="2"/>
              </a:rPr>
              <a:t>，溶液呈酸性</a:t>
            </a:r>
            <a:endParaRPr lang="en-US" altLang="zh-CN" sz="3000" dirty="0">
              <a:sym typeface="Wingdings" pitchFamily="2" charset="2"/>
            </a:endParaRPr>
          </a:p>
          <a:p>
            <a:pPr>
              <a:spcBef>
                <a:spcPts val="0"/>
              </a:spcBef>
              <a:buNone/>
            </a:pPr>
            <a:r>
              <a:rPr lang="zh-CN" altLang="en-US" sz="3000" dirty="0">
                <a:sym typeface="Wingdings" pitchFamily="2" charset="2"/>
              </a:rPr>
              <a:t>若</a:t>
            </a:r>
            <a:r>
              <a:rPr lang="en-US" altLang="zh-CN" sz="3000" dirty="0">
                <a:sym typeface="Wingdings" pitchFamily="2" charset="2"/>
              </a:rPr>
              <a:t>K</a:t>
            </a:r>
            <a:r>
              <a:rPr lang="en-US" altLang="zh-CN" sz="3000" baseline="-25000" dirty="0">
                <a:sym typeface="Wingdings" pitchFamily="2" charset="2"/>
              </a:rPr>
              <a:t>b</a:t>
            </a:r>
            <a:r>
              <a:rPr lang="en-US" altLang="zh-CN" sz="3000" dirty="0">
                <a:sym typeface="Wingdings" pitchFamily="2" charset="2"/>
              </a:rPr>
              <a:t> &gt;  K</a:t>
            </a:r>
            <a:r>
              <a:rPr lang="en-US" altLang="zh-CN" sz="3000" baseline="-25000" dirty="0">
                <a:sym typeface="Wingdings" pitchFamily="2" charset="2"/>
              </a:rPr>
              <a:t>a</a:t>
            </a:r>
            <a:r>
              <a:rPr lang="en-US" altLang="zh-CN" sz="3000" dirty="0">
                <a:sym typeface="Wingdings" pitchFamily="2" charset="2"/>
              </a:rPr>
              <a:t> </a:t>
            </a:r>
            <a:r>
              <a:rPr lang="zh-CN" altLang="en-US" sz="3000" dirty="0">
                <a:sym typeface="Wingdings" pitchFamily="2" charset="2"/>
              </a:rPr>
              <a:t>，溶液呈碱性</a:t>
            </a:r>
            <a:endParaRPr lang="en-US" altLang="zh-CN" sz="3000" dirty="0">
              <a:sym typeface="Wingdings" pitchFamily="2" charset="2"/>
            </a:endParaRPr>
          </a:p>
          <a:p>
            <a:pPr>
              <a:spcBef>
                <a:spcPts val="0"/>
              </a:spcBef>
              <a:buNone/>
            </a:pPr>
            <a:r>
              <a:rPr lang="zh-CN" altLang="en-US" sz="3000" dirty="0">
                <a:sym typeface="Wingdings" pitchFamily="2" charset="2"/>
              </a:rPr>
              <a:t>若</a:t>
            </a:r>
            <a:r>
              <a:rPr lang="en-US" altLang="zh-CN" sz="3000" dirty="0">
                <a:sym typeface="Wingdings" pitchFamily="2" charset="2"/>
              </a:rPr>
              <a:t>K</a:t>
            </a:r>
            <a:r>
              <a:rPr lang="en-US" altLang="zh-CN" sz="3000" baseline="-25000" dirty="0">
                <a:sym typeface="Wingdings" pitchFamily="2" charset="2"/>
              </a:rPr>
              <a:t>a</a:t>
            </a:r>
            <a:r>
              <a:rPr lang="en-US" altLang="zh-CN" sz="3000" dirty="0">
                <a:sym typeface="Wingdings" pitchFamily="2" charset="2"/>
              </a:rPr>
              <a:t> =  K</a:t>
            </a:r>
            <a:r>
              <a:rPr lang="en-US" altLang="zh-CN" sz="3000" baseline="-25000" dirty="0">
                <a:sym typeface="Wingdings" pitchFamily="2" charset="2"/>
              </a:rPr>
              <a:t>b</a:t>
            </a:r>
            <a:r>
              <a:rPr lang="en-US" altLang="zh-CN" sz="3000" dirty="0">
                <a:sym typeface="Wingdings" pitchFamily="2" charset="2"/>
              </a:rPr>
              <a:t> </a:t>
            </a:r>
            <a:r>
              <a:rPr lang="zh-CN" altLang="en-US" sz="3000" dirty="0">
                <a:sym typeface="Wingdings" pitchFamily="2" charset="2"/>
              </a:rPr>
              <a:t>，溶液呈中性</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buNone/>
            </a:pPr>
            <a:endParaRPr lang="en-US" altLang="zh-CN" sz="3000" dirty="0"/>
          </a:p>
        </p:txBody>
      </p:sp>
      <p:grpSp>
        <p:nvGrpSpPr>
          <p:cNvPr id="5" name="Group 11"/>
          <p:cNvGrpSpPr/>
          <p:nvPr/>
        </p:nvGrpSpPr>
        <p:grpSpPr>
          <a:xfrm>
            <a:off x="2987040" y="2362201"/>
            <a:ext cx="822960" cy="76199"/>
            <a:chOff x="2895600" y="6324600"/>
            <a:chExt cx="2133600" cy="76199"/>
          </a:xfrm>
        </p:grpSpPr>
        <p:cxnSp>
          <p:nvCxnSpPr>
            <p:cNvPr id="11" name="Straight Arrow Connector 10"/>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Group 11"/>
          <p:cNvGrpSpPr/>
          <p:nvPr/>
        </p:nvGrpSpPr>
        <p:grpSpPr>
          <a:xfrm rot="5400000">
            <a:off x="4213860" y="2918460"/>
            <a:ext cx="640080" cy="76199"/>
            <a:chOff x="2895600" y="6324600"/>
            <a:chExt cx="2133600" cy="76199"/>
          </a:xfrm>
        </p:grpSpPr>
        <p:cxnSp>
          <p:nvCxnSpPr>
            <p:cNvPr id="14" name="Straight Arrow Connector 13"/>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 name="Group 11"/>
          <p:cNvGrpSpPr/>
          <p:nvPr/>
        </p:nvGrpSpPr>
        <p:grpSpPr>
          <a:xfrm rot="5400000">
            <a:off x="6423660" y="2918460"/>
            <a:ext cx="640080" cy="76199"/>
            <a:chOff x="2895600" y="6324600"/>
            <a:chExt cx="2133600" cy="76199"/>
          </a:xfrm>
        </p:grpSpPr>
        <p:cxnSp>
          <p:nvCxnSpPr>
            <p:cNvPr id="16" name="Straight Arrow Connector 15"/>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8" name="Rounded Rectangle 17"/>
          <p:cNvSpPr/>
          <p:nvPr/>
        </p:nvSpPr>
        <p:spPr>
          <a:xfrm>
            <a:off x="3733800" y="50292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9" name="Rounded Rectangle 18"/>
          <p:cNvSpPr/>
          <p:nvPr/>
        </p:nvSpPr>
        <p:spPr>
          <a:xfrm>
            <a:off x="3733800" y="55626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Rounded Rectangle 19"/>
          <p:cNvSpPr/>
          <p:nvPr/>
        </p:nvSpPr>
        <p:spPr>
          <a:xfrm>
            <a:off x="3733800" y="60960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1" name="TextBox 20"/>
          <p:cNvSpPr txBox="1"/>
          <p:nvPr/>
        </p:nvSpPr>
        <p:spPr>
          <a:xfrm>
            <a:off x="4114800" y="1808202"/>
            <a:ext cx="377026" cy="553998"/>
          </a:xfrm>
          <a:prstGeom prst="rect">
            <a:avLst/>
          </a:prstGeom>
          <a:noFill/>
        </p:spPr>
        <p:txBody>
          <a:bodyPr wrap="none" rtlCol="0">
            <a:spAutoFit/>
          </a:bodyPr>
          <a:lstStyle/>
          <a:p>
            <a:r>
              <a:rPr lang="en-US" sz="3000" dirty="0"/>
              <a:t>+</a:t>
            </a:r>
          </a:p>
        </p:txBody>
      </p:sp>
      <p:sp>
        <p:nvSpPr>
          <p:cNvPr id="22" name="TextBox 21"/>
          <p:cNvSpPr txBox="1"/>
          <p:nvPr/>
        </p:nvSpPr>
        <p:spPr>
          <a:xfrm>
            <a:off x="6480974" y="1828800"/>
            <a:ext cx="377026" cy="553998"/>
          </a:xfrm>
          <a:prstGeom prst="rect">
            <a:avLst/>
          </a:prstGeom>
          <a:noFill/>
        </p:spPr>
        <p:txBody>
          <a:bodyPr wrap="none" rtlCol="0">
            <a:spAutoFit/>
          </a:bodyPr>
          <a:lstStyle/>
          <a:p>
            <a:r>
              <a:rPr lang="en-US" sz="3000" dirty="0"/>
              <a:t>+</a:t>
            </a:r>
          </a:p>
        </p:txBody>
      </p:sp>
      <p:grpSp>
        <p:nvGrpSpPr>
          <p:cNvPr id="23" name="Group 11"/>
          <p:cNvGrpSpPr/>
          <p:nvPr/>
        </p:nvGrpSpPr>
        <p:grpSpPr>
          <a:xfrm>
            <a:off x="3215640" y="4343400"/>
            <a:ext cx="822960" cy="76199"/>
            <a:chOff x="2895600" y="6324600"/>
            <a:chExt cx="2133600" cy="76199"/>
          </a:xfrm>
        </p:grpSpPr>
        <p:cxnSp>
          <p:nvCxnSpPr>
            <p:cNvPr id="24" name="Straight Arrow Connector 23"/>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linds(horizontal)">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linds(horizontal)">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blinds(horizontal)">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linds(horizontal)">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blinds(horizontal)">
                                      <p:cBhvr>
                                        <p:cTn id="45" dur="500"/>
                                        <p:tgtEl>
                                          <p:spTgt spid="3">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Effect transition="in" filter="blinds(horizontal)">
                                      <p:cBhvr>
                                        <p:cTn id="50" dur="500"/>
                                        <p:tgtEl>
                                          <p:spTgt spid="3">
                                            <p:txEl>
                                              <p:pRg st="5" end="5"/>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blinds(horizontal)">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6" end="6"/>
                                            </p:txEl>
                                          </p:spTgt>
                                        </p:tgtEl>
                                        <p:attrNameLst>
                                          <p:attrName>style.visibility</p:attrName>
                                        </p:attrNameLst>
                                      </p:cBhvr>
                                      <p:to>
                                        <p:strVal val="visible"/>
                                      </p:to>
                                    </p:set>
                                    <p:animEffect transition="in" filter="blinds(horizontal)">
                                      <p:cBhvr>
                                        <p:cTn id="58" dur="500"/>
                                        <p:tgtEl>
                                          <p:spTgt spid="3">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blinds(horizontal)">
                                      <p:cBhvr>
                                        <p:cTn id="63" dur="500"/>
                                        <p:tgtEl>
                                          <p:spTgt spid="3">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1" nodeType="clickEffect">
                                  <p:stCondLst>
                                    <p:cond delay="0"/>
                                  </p:stCondLst>
                                  <p:childTnLst>
                                    <p:set>
                                      <p:cBhvr>
                                        <p:cTn id="67" dur="1" fill="hold">
                                          <p:stCondLst>
                                            <p:cond delay="0"/>
                                          </p:stCondLst>
                                        </p:cTn>
                                        <p:tgtEl>
                                          <p:spTgt spid="3">
                                            <p:txEl>
                                              <p:pRg st="8" end="8"/>
                                            </p:txEl>
                                          </p:spTgt>
                                        </p:tgtEl>
                                        <p:attrNameLst>
                                          <p:attrName>style.visibility</p:attrName>
                                        </p:attrNameLst>
                                      </p:cBhvr>
                                      <p:to>
                                        <p:strVal val="visible"/>
                                      </p:to>
                                    </p:set>
                                    <p:animEffect transition="in" filter="blinds(horizontal)">
                                      <p:cBhvr>
                                        <p:cTn id="68" dur="500"/>
                                        <p:tgtEl>
                                          <p:spTgt spid="3">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0" nodeType="clickEffect">
                                  <p:stCondLst>
                                    <p:cond delay="0"/>
                                  </p:stCondLst>
                                  <p:childTnLst>
                                    <p:anim calcmode="lin" valueType="num">
                                      <p:cBhvr additive="base">
                                        <p:cTn id="72" dur="500"/>
                                        <p:tgtEl>
                                          <p:spTgt spid="18"/>
                                        </p:tgtEl>
                                        <p:attrNameLst>
                                          <p:attrName>ppt_x</p:attrName>
                                        </p:attrNameLst>
                                      </p:cBhvr>
                                      <p:tavLst>
                                        <p:tav tm="0">
                                          <p:val>
                                            <p:strVal val="ppt_x"/>
                                          </p:val>
                                        </p:tav>
                                        <p:tav tm="100000">
                                          <p:val>
                                            <p:strVal val="ppt_x"/>
                                          </p:val>
                                        </p:tav>
                                      </p:tavLst>
                                    </p:anim>
                                    <p:anim calcmode="lin" valueType="num">
                                      <p:cBhvr additive="base">
                                        <p:cTn id="73" dur="500"/>
                                        <p:tgtEl>
                                          <p:spTgt spid="18"/>
                                        </p:tgtEl>
                                        <p:attrNameLst>
                                          <p:attrName>ppt_y</p:attrName>
                                        </p:attrNameLst>
                                      </p:cBhvr>
                                      <p:tavLst>
                                        <p:tav tm="0">
                                          <p:val>
                                            <p:strVal val="ppt_y"/>
                                          </p:val>
                                        </p:tav>
                                        <p:tav tm="100000">
                                          <p:val>
                                            <p:strVal val="1+ppt_h/2"/>
                                          </p:val>
                                        </p:tav>
                                      </p:tavLst>
                                    </p:anim>
                                    <p:set>
                                      <p:cBhvr>
                                        <p:cTn id="74" dur="1" fill="hold">
                                          <p:stCondLst>
                                            <p:cond delay="499"/>
                                          </p:stCondLst>
                                        </p:cTn>
                                        <p:tgtEl>
                                          <p:spTgt spid="1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1" nodeType="clickEffect">
                                  <p:stCondLst>
                                    <p:cond delay="0"/>
                                  </p:stCondLst>
                                  <p:childTnLst>
                                    <p:set>
                                      <p:cBhvr>
                                        <p:cTn id="78" dur="1" fill="hold">
                                          <p:stCondLst>
                                            <p:cond delay="0"/>
                                          </p:stCondLst>
                                        </p:cTn>
                                        <p:tgtEl>
                                          <p:spTgt spid="3">
                                            <p:txEl>
                                              <p:pRg st="9" end="9"/>
                                            </p:txEl>
                                          </p:spTgt>
                                        </p:tgtEl>
                                        <p:attrNameLst>
                                          <p:attrName>style.visibility</p:attrName>
                                        </p:attrNameLst>
                                      </p:cBhvr>
                                      <p:to>
                                        <p:strVal val="visible"/>
                                      </p:to>
                                    </p:set>
                                    <p:animEffect transition="in" filter="blinds(horizontal)">
                                      <p:cBhvr>
                                        <p:cTn id="79" dur="500"/>
                                        <p:tgtEl>
                                          <p:spTgt spid="3">
                                            <p:txEl>
                                              <p:pRg st="9" end="9"/>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xit" presetSubtype="4" fill="hold" grpId="0" nodeType="clickEffect">
                                  <p:stCondLst>
                                    <p:cond delay="0"/>
                                  </p:stCondLst>
                                  <p:childTnLst>
                                    <p:anim calcmode="lin" valueType="num">
                                      <p:cBhvr additive="base">
                                        <p:cTn id="83" dur="500"/>
                                        <p:tgtEl>
                                          <p:spTgt spid="19"/>
                                        </p:tgtEl>
                                        <p:attrNameLst>
                                          <p:attrName>ppt_x</p:attrName>
                                        </p:attrNameLst>
                                      </p:cBhvr>
                                      <p:tavLst>
                                        <p:tav tm="0">
                                          <p:val>
                                            <p:strVal val="ppt_x"/>
                                          </p:val>
                                        </p:tav>
                                        <p:tav tm="100000">
                                          <p:val>
                                            <p:strVal val="ppt_x"/>
                                          </p:val>
                                        </p:tav>
                                      </p:tavLst>
                                    </p:anim>
                                    <p:anim calcmode="lin" valueType="num">
                                      <p:cBhvr additive="base">
                                        <p:cTn id="84" dur="500"/>
                                        <p:tgtEl>
                                          <p:spTgt spid="19"/>
                                        </p:tgtEl>
                                        <p:attrNameLst>
                                          <p:attrName>ppt_y</p:attrName>
                                        </p:attrNameLst>
                                      </p:cBhvr>
                                      <p:tavLst>
                                        <p:tav tm="0">
                                          <p:val>
                                            <p:strVal val="ppt_y"/>
                                          </p:val>
                                        </p:tav>
                                        <p:tav tm="100000">
                                          <p:val>
                                            <p:strVal val="1+ppt_h/2"/>
                                          </p:val>
                                        </p:tav>
                                      </p:tavLst>
                                    </p:anim>
                                    <p:set>
                                      <p:cBhvr>
                                        <p:cTn id="85" dur="1" fill="hold">
                                          <p:stCondLst>
                                            <p:cond delay="499"/>
                                          </p:stCondLst>
                                        </p:cTn>
                                        <p:tgtEl>
                                          <p:spTgt spid="19"/>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1" nodeType="clickEffect">
                                  <p:stCondLst>
                                    <p:cond delay="0"/>
                                  </p:stCondLst>
                                  <p:childTnLst>
                                    <p:set>
                                      <p:cBhvr>
                                        <p:cTn id="89" dur="1" fill="hold">
                                          <p:stCondLst>
                                            <p:cond delay="0"/>
                                          </p:stCondLst>
                                        </p:cTn>
                                        <p:tgtEl>
                                          <p:spTgt spid="3">
                                            <p:txEl>
                                              <p:pRg st="10" end="10"/>
                                            </p:txEl>
                                          </p:spTgt>
                                        </p:tgtEl>
                                        <p:attrNameLst>
                                          <p:attrName>style.visibility</p:attrName>
                                        </p:attrNameLst>
                                      </p:cBhvr>
                                      <p:to>
                                        <p:strVal val="visible"/>
                                      </p:to>
                                    </p:set>
                                    <p:animEffect transition="in" filter="blinds(horizontal)">
                                      <p:cBhvr>
                                        <p:cTn id="90" dur="500"/>
                                        <p:tgtEl>
                                          <p:spTgt spid="3">
                                            <p:txEl>
                                              <p:pRg st="10" end="1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xit" presetSubtype="4" fill="hold" grpId="0" nodeType="clickEffect">
                                  <p:stCondLst>
                                    <p:cond delay="0"/>
                                  </p:stCondLst>
                                  <p:childTnLst>
                                    <p:anim calcmode="lin" valueType="num">
                                      <p:cBhvr additive="base">
                                        <p:cTn id="94" dur="500"/>
                                        <p:tgtEl>
                                          <p:spTgt spid="20"/>
                                        </p:tgtEl>
                                        <p:attrNameLst>
                                          <p:attrName>ppt_x</p:attrName>
                                        </p:attrNameLst>
                                      </p:cBhvr>
                                      <p:tavLst>
                                        <p:tav tm="0">
                                          <p:val>
                                            <p:strVal val="ppt_x"/>
                                          </p:val>
                                        </p:tav>
                                        <p:tav tm="100000">
                                          <p:val>
                                            <p:strVal val="ppt_x"/>
                                          </p:val>
                                        </p:tav>
                                      </p:tavLst>
                                    </p:anim>
                                    <p:anim calcmode="lin" valueType="num">
                                      <p:cBhvr additive="base">
                                        <p:cTn id="95" dur="500"/>
                                        <p:tgtEl>
                                          <p:spTgt spid="20"/>
                                        </p:tgtEl>
                                        <p:attrNameLst>
                                          <p:attrName>ppt_y</p:attrName>
                                        </p:attrNameLst>
                                      </p:cBhvr>
                                      <p:tavLst>
                                        <p:tav tm="0">
                                          <p:val>
                                            <p:strVal val="ppt_y"/>
                                          </p:val>
                                        </p:tav>
                                        <p:tav tm="100000">
                                          <p:val>
                                            <p:strVal val="1+ppt_h/2"/>
                                          </p:val>
                                        </p:tav>
                                      </p:tavLst>
                                    </p:anim>
                                    <p:set>
                                      <p:cBhvr>
                                        <p:cTn id="96"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18" grpId="0" animBg="1"/>
      <p:bldP spid="19" grpId="0" animBg="1"/>
      <p:bldP spid="20" grpId="0" animBg="1"/>
      <p:bldP spid="21" grpId="0"/>
      <p:bldP spid="2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None/>
            </a:pPr>
            <a:r>
              <a:rPr lang="zh-CN" altLang="en-US" sz="3000" u="sng" dirty="0">
                <a:solidFill>
                  <a:srgbClr val="002060"/>
                </a:solidFill>
                <a:sym typeface="Wingdings" pitchFamily="2" charset="2"/>
              </a:rPr>
              <a:t>强酸强碱所生成的盐</a:t>
            </a:r>
            <a:endParaRPr lang="en-US" altLang="zh-CN" sz="3000" u="sng" dirty="0">
              <a:solidFill>
                <a:srgbClr val="002060"/>
              </a:solidFill>
              <a:sym typeface="Wingdings" pitchFamily="2" charset="2"/>
            </a:endParaRPr>
          </a:p>
          <a:p>
            <a:pPr>
              <a:buNone/>
            </a:pPr>
            <a:r>
              <a:rPr lang="en-US" altLang="zh-CN" sz="3000" dirty="0">
                <a:sym typeface="Wingdings" pitchFamily="2" charset="2"/>
              </a:rPr>
              <a:t>		</a:t>
            </a:r>
            <a:r>
              <a:rPr lang="en-US" altLang="zh-CN" sz="3000" dirty="0" err="1">
                <a:sym typeface="Wingdings" pitchFamily="2" charset="2"/>
              </a:rPr>
              <a:t>NaCl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Na</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a:t>
            </a:r>
            <a:r>
              <a:rPr lang="en-US" altLang="zh-CN" sz="3000" dirty="0" err="1">
                <a:sym typeface="Wingdings" pitchFamily="2" charset="2"/>
              </a:rPr>
              <a:t>Cl</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O (l)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zh-CN" altLang="en-US" sz="3000" dirty="0">
                <a:sym typeface="Wingdings" pitchFamily="2" charset="2"/>
              </a:rPr>
              <a:t>电离出的阴、阳离子没有与</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或</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结合生成弱电解质，</a:t>
            </a:r>
            <a:endParaRPr lang="en-US" altLang="zh-CN" sz="3000" dirty="0">
              <a:sym typeface="Wingdings" pitchFamily="2" charset="2"/>
            </a:endParaRPr>
          </a:p>
          <a:p>
            <a:pPr>
              <a:buNone/>
            </a:pP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a:t>
            </a:r>
            <a:r>
              <a:rPr lang="zh-CN" altLang="en-US" sz="3000" dirty="0">
                <a:sym typeface="Wingdings" pitchFamily="2" charset="2"/>
              </a:rPr>
              <a:t>与</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a:t>
            </a:r>
            <a:r>
              <a:rPr lang="zh-CN" altLang="en-US" sz="3000" dirty="0">
                <a:sym typeface="Wingdings" pitchFamily="2" charset="2"/>
              </a:rPr>
              <a:t>不变，水的电离平衡没有被破坏，</a:t>
            </a:r>
            <a:endParaRPr lang="en-US" altLang="zh-CN" sz="3000" dirty="0">
              <a:sym typeface="Wingdings" pitchFamily="2" charset="2"/>
            </a:endParaRPr>
          </a:p>
          <a:p>
            <a:pPr>
              <a:buNone/>
            </a:pPr>
            <a:r>
              <a:rPr lang="zh-CN" altLang="en-US" sz="3000" dirty="0">
                <a:sym typeface="Wingdings" pitchFamily="2" charset="2"/>
              </a:rPr>
              <a:t>溶液呈中性。</a:t>
            </a:r>
            <a:endParaRPr lang="en-US" altLang="zh-CN" sz="3000" dirty="0">
              <a:sym typeface="Wingdings" pitchFamily="2" charset="2"/>
            </a:endParaRPr>
          </a:p>
          <a:p>
            <a:pPr>
              <a:buNone/>
            </a:pPr>
            <a:r>
              <a:rPr lang="zh-CN" altLang="en-US" sz="3000" b="1" dirty="0">
                <a:solidFill>
                  <a:srgbClr val="002060"/>
                </a:solidFill>
                <a:effectLst>
                  <a:outerShdw blurRad="38100" dist="38100" dir="2700000" algn="tl">
                    <a:srgbClr val="000000">
                      <a:alpha val="43137"/>
                    </a:srgbClr>
                  </a:outerShdw>
                </a:effectLst>
                <a:sym typeface="Wingdings" pitchFamily="2" charset="2"/>
              </a:rPr>
              <a:t>强酸强碱所生成的盐不发生水解反应。</a:t>
            </a:r>
            <a:endParaRPr lang="en-US" altLang="zh-CN" sz="3000" b="1" dirty="0">
              <a:solidFill>
                <a:srgbClr val="002060"/>
              </a:solidFill>
              <a:effectLst>
                <a:outerShdw blurRad="38100" dist="38100" dir="2700000" algn="tl">
                  <a:srgbClr val="000000">
                    <a:alpha val="43137"/>
                  </a:srgbClr>
                </a:outerShdw>
              </a:effectLst>
              <a:sym typeface="Wingdings" pitchFamily="2" charset="2"/>
            </a:endParaRPr>
          </a:p>
          <a:p>
            <a:pPr>
              <a:buNone/>
            </a:pPr>
            <a:r>
              <a:rPr lang="zh-CN" altLang="en-US" sz="3000" b="1" dirty="0">
                <a:solidFill>
                  <a:srgbClr val="7030A0"/>
                </a:solidFill>
                <a:effectLst>
                  <a:outerShdw blurRad="38100" dist="38100" dir="2700000" algn="tl">
                    <a:srgbClr val="000000">
                      <a:alpha val="43137"/>
                    </a:srgbClr>
                  </a:outerShdw>
                </a:effectLst>
                <a:sym typeface="Wingdings" pitchFamily="2" charset="2"/>
              </a:rPr>
              <a:t>口诀：“</a:t>
            </a:r>
            <a:r>
              <a:rPr lang="zh-CN" altLang="en-US" sz="3000" b="1" dirty="0">
                <a:solidFill>
                  <a:srgbClr val="7030A0"/>
                </a:solidFill>
                <a:effectLst>
                  <a:outerShdw blurRad="38100" dist="38100" dir="2700000" algn="tl">
                    <a:srgbClr val="000000">
                      <a:alpha val="43137"/>
                    </a:srgbClr>
                  </a:outerShdw>
                </a:effectLst>
              </a:rPr>
              <a:t>见弱就水解，谁强显谁性</a:t>
            </a:r>
            <a:r>
              <a:rPr lang="zh-CN" altLang="en-US" sz="3000" b="1" dirty="0">
                <a:solidFill>
                  <a:srgbClr val="7030A0"/>
                </a:solidFill>
                <a:effectLst>
                  <a:outerShdw blurRad="38100" dist="38100" dir="2700000" algn="tl">
                    <a:srgbClr val="000000">
                      <a:alpha val="43137"/>
                    </a:srgbClr>
                  </a:outerShdw>
                </a:effectLst>
                <a:sym typeface="Wingdings" pitchFamily="2" charset="2"/>
              </a:rPr>
              <a:t>”</a:t>
            </a:r>
            <a:endParaRPr lang="en-US" altLang="zh-CN" sz="3000" b="1" dirty="0">
              <a:solidFill>
                <a:srgbClr val="7030A0"/>
              </a:solidFill>
              <a:effectLst>
                <a:outerShdw blurRad="38100" dist="38100" dir="2700000" algn="tl">
                  <a:srgbClr val="000000">
                    <a:alpha val="43137"/>
                  </a:srgbClr>
                </a:outerShdw>
              </a:effectLst>
              <a:sym typeface="Wingdings" pitchFamily="2" charset="2"/>
            </a:endParaRPr>
          </a:p>
          <a:p>
            <a:pPr>
              <a:buNone/>
            </a:pPr>
            <a:endParaRPr lang="en-US" altLang="zh-CN" sz="3000" dirty="0">
              <a:sym typeface="Wingdings" pitchFamily="2" charset="2"/>
            </a:endParaRPr>
          </a:p>
        </p:txBody>
      </p:sp>
      <p:grpSp>
        <p:nvGrpSpPr>
          <p:cNvPr id="5" name="Group 11"/>
          <p:cNvGrpSpPr/>
          <p:nvPr/>
        </p:nvGrpSpPr>
        <p:grpSpPr>
          <a:xfrm>
            <a:off x="2987040" y="2362201"/>
            <a:ext cx="822960" cy="76199"/>
            <a:chOff x="2895600" y="6324600"/>
            <a:chExt cx="2133600" cy="76199"/>
          </a:xfrm>
        </p:grpSpPr>
        <p:cxnSp>
          <p:nvCxnSpPr>
            <p:cNvPr id="11" name="Straight Arrow Connector 10"/>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blinds(horizontal)">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linds(horizontal)">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blinds(horizontal)">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blinds(horizontal)">
                                      <p:cBhvr>
                                        <p:cTn id="40" dur="5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blinds(horizontal)">
                                      <p:cBhvr>
                                        <p:cTn id="4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None/>
            </a:pPr>
            <a:r>
              <a:rPr lang="zh-CN" altLang="en-US" sz="3000" u="sng" dirty="0">
                <a:solidFill>
                  <a:srgbClr val="002060"/>
                </a:solidFill>
                <a:sym typeface="Wingdings" pitchFamily="2" charset="2"/>
              </a:rPr>
              <a:t>练习</a:t>
            </a:r>
            <a:endParaRPr lang="en-US" altLang="zh-CN" sz="3000" u="sng" dirty="0">
              <a:solidFill>
                <a:srgbClr val="002060"/>
              </a:solidFill>
              <a:sym typeface="Wingdings" pitchFamily="2" charset="2"/>
            </a:endParaRPr>
          </a:p>
          <a:p>
            <a:pPr>
              <a:buNone/>
            </a:pPr>
            <a:r>
              <a:rPr lang="en-US" altLang="zh-CN" sz="3000" dirty="0">
                <a:sym typeface="Wingdings" pitchFamily="2" charset="2"/>
              </a:rPr>
              <a:t>1.</a:t>
            </a:r>
            <a:r>
              <a:rPr lang="zh-CN" altLang="en-US" sz="3000" dirty="0">
                <a:sym typeface="Wingdings" pitchFamily="2" charset="2"/>
              </a:rPr>
              <a:t>试以反应式加以说明硝酸铁</a:t>
            </a:r>
            <a:r>
              <a:rPr lang="en-US" altLang="zh-CN" sz="3000" dirty="0">
                <a:sym typeface="Wingdings" pitchFamily="2" charset="2"/>
              </a:rPr>
              <a:t>(III)</a:t>
            </a:r>
            <a:r>
              <a:rPr lang="zh-CN" altLang="en-US" sz="3000" dirty="0">
                <a:sym typeface="Wingdings" pitchFamily="2" charset="2"/>
              </a:rPr>
              <a:t> 溶液的酸碱性。</a:t>
            </a:r>
            <a:endParaRPr lang="en-US" altLang="zh-CN" sz="3000" dirty="0">
              <a:sym typeface="Wingdings" pitchFamily="2" charset="2"/>
            </a:endParaRPr>
          </a:p>
          <a:p>
            <a:pPr>
              <a:buNone/>
            </a:pPr>
            <a:r>
              <a:rPr lang="zh-CN" altLang="en-US" sz="3000" dirty="0">
                <a:sym typeface="Wingdings" pitchFamily="2" charset="2"/>
              </a:rPr>
              <a:t>解</a:t>
            </a:r>
            <a:r>
              <a:rPr lang="en-US" altLang="zh-CN" sz="3000" dirty="0">
                <a:sym typeface="Wingdings" pitchFamily="2" charset="2"/>
              </a:rPr>
              <a:t>	Fe(NO</a:t>
            </a:r>
            <a:r>
              <a:rPr lang="en-US" altLang="zh-CN" sz="3000" baseline="-25000" dirty="0">
                <a:sym typeface="Wingdings" pitchFamily="2" charset="2"/>
              </a:rPr>
              <a:t>3</a:t>
            </a:r>
            <a:r>
              <a:rPr lang="en-US" altLang="zh-CN" sz="3000" dirty="0">
                <a:sym typeface="Wingdings" pitchFamily="2" charset="2"/>
              </a:rPr>
              <a:t>)</a:t>
            </a:r>
            <a:r>
              <a:rPr lang="en-US" altLang="zh-CN" sz="3000" baseline="-25000" dirty="0">
                <a:sym typeface="Wingdings" pitchFamily="2" charset="2"/>
              </a:rPr>
              <a:t>3</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Fe</a:t>
            </a:r>
            <a:r>
              <a:rPr lang="en-US" altLang="zh-CN" sz="3000" baseline="30000" dirty="0">
                <a:sym typeface="Wingdings" pitchFamily="2" charset="2"/>
              </a:rPr>
              <a:t>3+</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3 NO</a:t>
            </a:r>
            <a:r>
              <a:rPr lang="en-US" altLang="zh-CN" sz="3000" baseline="-25000" dirty="0">
                <a:sym typeface="Wingdings" pitchFamily="2" charset="2"/>
              </a:rPr>
              <a:t>3</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O (l)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endParaRPr lang="en-US" altLang="zh-CN" sz="3000" dirty="0">
              <a:sym typeface="Wingdings" pitchFamily="2" charset="2"/>
            </a:endParaRPr>
          </a:p>
          <a:p>
            <a:pPr>
              <a:buNone/>
            </a:pPr>
            <a:r>
              <a:rPr lang="en-US" altLang="zh-CN" sz="3000" dirty="0">
                <a:sym typeface="Wingdings" pitchFamily="2" charset="2"/>
              </a:rPr>
              <a:t>				   Fe(OH)</a:t>
            </a:r>
            <a:r>
              <a:rPr lang="en-US" altLang="zh-CN" sz="3000" baseline="-25000" dirty="0">
                <a:sym typeface="Wingdings" pitchFamily="2" charset="2"/>
              </a:rPr>
              <a:t>3</a:t>
            </a:r>
            <a:r>
              <a:rPr lang="en-US" altLang="zh-CN" sz="3000" dirty="0">
                <a:latin typeface="Arial"/>
                <a:cs typeface="Arial"/>
                <a:sym typeface="Wingdings" pitchFamily="2" charset="2"/>
              </a:rPr>
              <a:t> </a:t>
            </a:r>
            <a:r>
              <a:rPr lang="en-US" altLang="zh-CN" sz="3000" dirty="0">
                <a:sym typeface="Wingdings" pitchFamily="2" charset="2"/>
              </a:rPr>
              <a:t>(s)</a:t>
            </a:r>
          </a:p>
          <a:p>
            <a:pPr>
              <a:buNone/>
            </a:pPr>
            <a:r>
              <a:rPr lang="zh-CN" altLang="en-US" sz="3000" dirty="0">
                <a:sym typeface="Wingdings" pitchFamily="2" charset="2"/>
              </a:rPr>
              <a:t>离子方程式：</a:t>
            </a:r>
            <a:endParaRPr lang="en-US" altLang="zh-CN" sz="3000" dirty="0">
              <a:sym typeface="Wingdings" pitchFamily="2" charset="2"/>
            </a:endParaRPr>
          </a:p>
          <a:p>
            <a:pPr>
              <a:buNone/>
            </a:pPr>
            <a:r>
              <a:rPr lang="en-US" altLang="zh-CN" sz="3000" dirty="0">
                <a:sym typeface="Wingdings" pitchFamily="2" charset="2"/>
              </a:rPr>
              <a:t>Fe</a:t>
            </a:r>
            <a:r>
              <a:rPr lang="en-US" altLang="zh-CN" sz="3000" baseline="30000" dirty="0">
                <a:sym typeface="Wingdings" pitchFamily="2" charset="2"/>
              </a:rPr>
              <a:t>3+</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+ 3 H</a:t>
            </a:r>
            <a:r>
              <a:rPr lang="en-US" altLang="zh-CN" sz="3000" baseline="-25000" dirty="0">
                <a:sym typeface="Wingdings" pitchFamily="2" charset="2"/>
              </a:rPr>
              <a:t>2</a:t>
            </a:r>
            <a:r>
              <a:rPr lang="en-US" altLang="zh-CN" sz="3000" dirty="0">
                <a:sym typeface="Wingdings" pitchFamily="2" charset="2"/>
              </a:rPr>
              <a:t>O (l) 	      Fe(OH)</a:t>
            </a:r>
            <a:r>
              <a:rPr lang="en-US" altLang="zh-CN" sz="3000" baseline="-25000" dirty="0">
                <a:sym typeface="Wingdings" pitchFamily="2" charset="2"/>
              </a:rPr>
              <a:t>3</a:t>
            </a:r>
            <a:r>
              <a:rPr lang="en-US" altLang="zh-CN" sz="3000" dirty="0">
                <a:latin typeface="Arial"/>
                <a:cs typeface="Arial"/>
                <a:sym typeface="Wingdings" pitchFamily="2" charset="2"/>
              </a:rPr>
              <a:t> </a:t>
            </a:r>
            <a:r>
              <a:rPr lang="en-US" altLang="zh-CN" sz="3000" dirty="0">
                <a:sym typeface="Wingdings" pitchFamily="2" charset="2"/>
              </a:rPr>
              <a:t>(s)+ 3 H</a:t>
            </a:r>
            <a:r>
              <a:rPr lang="en-US" altLang="zh-CN" sz="3000" baseline="30000" dirty="0">
                <a:sym typeface="Wingdings" pitchFamily="2" charset="2"/>
              </a:rPr>
              <a:t>+</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减小，水电离平衡向右移，</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增加。</a:t>
            </a:r>
            <a:endParaRPr lang="en-US" altLang="zh-CN" sz="3000" dirty="0">
              <a:sym typeface="Wingdings" pitchFamily="2" charset="2"/>
            </a:endParaRPr>
          </a:p>
          <a:p>
            <a:pPr>
              <a:spcAft>
                <a:spcPts val="600"/>
              </a:spcAft>
              <a:buNone/>
            </a:pP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 ] &gt; [OH</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溶液呈酸性。</a:t>
            </a: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p>
        </p:txBody>
      </p:sp>
      <p:grpSp>
        <p:nvGrpSpPr>
          <p:cNvPr id="5" name="Group 11"/>
          <p:cNvGrpSpPr/>
          <p:nvPr/>
        </p:nvGrpSpPr>
        <p:grpSpPr>
          <a:xfrm>
            <a:off x="2987040" y="2916199"/>
            <a:ext cx="822960" cy="76199"/>
            <a:chOff x="2895600" y="6324600"/>
            <a:chExt cx="2133600" cy="76199"/>
          </a:xfrm>
        </p:grpSpPr>
        <p:cxnSp>
          <p:nvCxnSpPr>
            <p:cNvPr id="11" name="Straight Arrow Connector 10"/>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Group 11"/>
          <p:cNvGrpSpPr/>
          <p:nvPr/>
        </p:nvGrpSpPr>
        <p:grpSpPr>
          <a:xfrm rot="5400000">
            <a:off x="4061460" y="3472458"/>
            <a:ext cx="640080" cy="76199"/>
            <a:chOff x="2895600" y="6324600"/>
            <a:chExt cx="2133600" cy="76199"/>
          </a:xfrm>
        </p:grpSpPr>
        <p:cxnSp>
          <p:nvCxnSpPr>
            <p:cNvPr id="14" name="Straight Arrow Connector 13"/>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3810000" y="2611398"/>
            <a:ext cx="380232" cy="553998"/>
          </a:xfrm>
          <a:prstGeom prst="rect">
            <a:avLst/>
          </a:prstGeom>
          <a:noFill/>
        </p:spPr>
        <p:txBody>
          <a:bodyPr wrap="none" rtlCol="0">
            <a:spAutoFit/>
          </a:bodyPr>
          <a:lstStyle/>
          <a:p>
            <a:r>
              <a:rPr lang="en-US" sz="3000" dirty="0">
                <a:solidFill>
                  <a:srgbClr val="C00000"/>
                </a:solidFill>
              </a:rPr>
              <a:t>3</a:t>
            </a:r>
          </a:p>
        </p:txBody>
      </p:sp>
      <p:sp>
        <p:nvSpPr>
          <p:cNvPr id="16" name="TextBox 15"/>
          <p:cNvSpPr txBox="1"/>
          <p:nvPr/>
        </p:nvSpPr>
        <p:spPr>
          <a:xfrm>
            <a:off x="1143000" y="2611398"/>
            <a:ext cx="380232" cy="553998"/>
          </a:xfrm>
          <a:prstGeom prst="rect">
            <a:avLst/>
          </a:prstGeom>
          <a:noFill/>
        </p:spPr>
        <p:txBody>
          <a:bodyPr wrap="none" rtlCol="0">
            <a:spAutoFit/>
          </a:bodyPr>
          <a:lstStyle/>
          <a:p>
            <a:r>
              <a:rPr lang="en-US" sz="3000" dirty="0">
                <a:solidFill>
                  <a:srgbClr val="C00000"/>
                </a:solidFill>
              </a:rPr>
              <a:t>3</a:t>
            </a:r>
          </a:p>
        </p:txBody>
      </p:sp>
      <p:sp>
        <p:nvSpPr>
          <p:cNvPr id="17" name="TextBox 16"/>
          <p:cNvSpPr txBox="1"/>
          <p:nvPr/>
        </p:nvSpPr>
        <p:spPr>
          <a:xfrm>
            <a:off x="5868168" y="2611398"/>
            <a:ext cx="380232" cy="553998"/>
          </a:xfrm>
          <a:prstGeom prst="rect">
            <a:avLst/>
          </a:prstGeom>
          <a:noFill/>
        </p:spPr>
        <p:txBody>
          <a:bodyPr wrap="none" rtlCol="0">
            <a:spAutoFit/>
          </a:bodyPr>
          <a:lstStyle/>
          <a:p>
            <a:r>
              <a:rPr lang="en-US" sz="3000" dirty="0">
                <a:solidFill>
                  <a:srgbClr val="C00000"/>
                </a:solidFill>
              </a:rPr>
              <a:t>3</a:t>
            </a:r>
          </a:p>
        </p:txBody>
      </p:sp>
      <p:sp>
        <p:nvSpPr>
          <p:cNvPr id="18" name="TextBox 17"/>
          <p:cNvSpPr txBox="1"/>
          <p:nvPr/>
        </p:nvSpPr>
        <p:spPr>
          <a:xfrm>
            <a:off x="4114800" y="2362200"/>
            <a:ext cx="377026" cy="553998"/>
          </a:xfrm>
          <a:prstGeom prst="rect">
            <a:avLst/>
          </a:prstGeom>
          <a:noFill/>
        </p:spPr>
        <p:txBody>
          <a:bodyPr wrap="none" rtlCol="0">
            <a:spAutoFit/>
          </a:bodyPr>
          <a:lstStyle/>
          <a:p>
            <a:r>
              <a:rPr lang="en-US" sz="3000" dirty="0"/>
              <a:t>+</a:t>
            </a:r>
          </a:p>
        </p:txBody>
      </p:sp>
      <p:grpSp>
        <p:nvGrpSpPr>
          <p:cNvPr id="19" name="Group 11"/>
          <p:cNvGrpSpPr/>
          <p:nvPr/>
        </p:nvGrpSpPr>
        <p:grpSpPr>
          <a:xfrm>
            <a:off x="3733800" y="5029200"/>
            <a:ext cx="822960" cy="76199"/>
            <a:chOff x="2895600" y="6324600"/>
            <a:chExt cx="2133600" cy="76199"/>
          </a:xfrm>
        </p:grpSpPr>
        <p:cxnSp>
          <p:nvCxnSpPr>
            <p:cNvPr id="20" name="Straight Arrow Connector 19"/>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linds(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linds(horizontal)">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linds(horizontal)">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blinds(horizontal)">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blinds(horizontal)">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blinds(horizontal)">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linds(horizontal)">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
                                            <p:txEl>
                                              <p:pRg st="6" end="6"/>
                                            </p:txEl>
                                          </p:spTgt>
                                        </p:tgtEl>
                                        <p:attrNameLst>
                                          <p:attrName>style.visibility</p:attrName>
                                        </p:attrNameLst>
                                      </p:cBhvr>
                                      <p:to>
                                        <p:strVal val="visible"/>
                                      </p:to>
                                    </p:set>
                                    <p:animEffect transition="in" filter="blinds(horizontal)">
                                      <p:cBhvr>
                                        <p:cTn id="60" dur="500"/>
                                        <p:tgtEl>
                                          <p:spTgt spid="3">
                                            <p:txEl>
                                              <p:pRg st="6" end="6"/>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
                                            <p:txEl>
                                              <p:pRg st="7" end="7"/>
                                            </p:txEl>
                                          </p:spTgt>
                                        </p:tgtEl>
                                        <p:attrNameLst>
                                          <p:attrName>style.visibility</p:attrName>
                                        </p:attrNameLst>
                                      </p:cBhvr>
                                      <p:to>
                                        <p:strVal val="visible"/>
                                      </p:to>
                                    </p:set>
                                    <p:animEffect transition="in" filter="blinds(horizontal)">
                                      <p:cBhvr>
                                        <p:cTn id="65" dur="500"/>
                                        <p:tgtEl>
                                          <p:spTgt spid="3">
                                            <p:txEl>
                                              <p:pRg st="7" end="7"/>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blinds(horizontal)">
                                      <p:cBhvr>
                                        <p:cTn id="68" dur="500"/>
                                        <p:tgtEl>
                                          <p:spTgt spid="19"/>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
                                            <p:txEl>
                                              <p:pRg st="8" end="8"/>
                                            </p:txEl>
                                          </p:spTgt>
                                        </p:tgtEl>
                                        <p:attrNameLst>
                                          <p:attrName>style.visibility</p:attrName>
                                        </p:attrNameLst>
                                      </p:cBhvr>
                                      <p:to>
                                        <p:strVal val="visible"/>
                                      </p:to>
                                    </p:set>
                                    <p:animEffect transition="in" filter="blinds(horizontal)">
                                      <p:cBhvr>
                                        <p:cTn id="73" dur="500"/>
                                        <p:tgtEl>
                                          <p:spTgt spid="3">
                                            <p:txEl>
                                              <p:pRg st="8" end="8"/>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3">
                                            <p:txEl>
                                              <p:pRg st="9" end="9"/>
                                            </p:txEl>
                                          </p:spTgt>
                                        </p:tgtEl>
                                        <p:attrNameLst>
                                          <p:attrName>style.visibility</p:attrName>
                                        </p:attrNameLst>
                                      </p:cBhvr>
                                      <p:to>
                                        <p:strVal val="visible"/>
                                      </p:to>
                                    </p:set>
                                    <p:animEffect transition="in" filter="blinds(horizontal)">
                                      <p:cBhvr>
                                        <p:cTn id="7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p:bldP spid="16" grpId="0"/>
      <p:bldP spid="17" grpId="0"/>
      <p:bldP spid="1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81000" y="990600"/>
            <a:ext cx="8458200" cy="5486400"/>
          </a:xfrm>
        </p:spPr>
        <p:txBody>
          <a:bodyPr>
            <a:noAutofit/>
          </a:bodyPr>
          <a:lstStyle/>
          <a:p>
            <a:pPr>
              <a:buNone/>
            </a:pPr>
            <a:r>
              <a:rPr lang="en-US" altLang="zh-CN" sz="2800" dirty="0"/>
              <a:t>2. </a:t>
            </a:r>
            <a:r>
              <a:rPr lang="zh-CN" altLang="en-US" sz="2800" dirty="0"/>
              <a:t>判断下列盐溶液的酸碱性，若该盐能水解，写出其水解反应的离子方程式。 </a:t>
            </a:r>
            <a:endParaRPr lang="en-US" altLang="zh-CN" sz="2800" dirty="0"/>
          </a:p>
          <a:p>
            <a:pPr>
              <a:buNone/>
            </a:pPr>
            <a:r>
              <a:rPr lang="zh-CN" altLang="en-US" sz="2800" dirty="0"/>
              <a:t>（</a:t>
            </a:r>
            <a:r>
              <a:rPr lang="en-US" altLang="zh-CN" sz="2800" dirty="0"/>
              <a:t>1</a:t>
            </a:r>
            <a:r>
              <a:rPr lang="zh-CN" altLang="en-US" sz="2800" dirty="0"/>
              <a:t>）</a:t>
            </a:r>
            <a:r>
              <a:rPr lang="en-US" altLang="zh-CN" sz="2800" dirty="0"/>
              <a:t>KF</a:t>
            </a:r>
            <a:r>
              <a:rPr lang="zh-CN" altLang="en-US" sz="2800" dirty="0"/>
              <a:t>　（</a:t>
            </a:r>
            <a:r>
              <a:rPr lang="en-US" altLang="zh-CN" sz="2800" dirty="0"/>
              <a:t>2</a:t>
            </a:r>
            <a:r>
              <a:rPr lang="zh-CN" altLang="en-US" sz="2800" dirty="0"/>
              <a:t>）</a:t>
            </a:r>
            <a:r>
              <a:rPr lang="en-US" altLang="zh-CN" sz="2800" dirty="0"/>
              <a:t>NH</a:t>
            </a:r>
            <a:r>
              <a:rPr lang="en-US" altLang="zh-CN" sz="2800" baseline="-25000" dirty="0"/>
              <a:t>4</a:t>
            </a:r>
            <a:r>
              <a:rPr lang="en-US" altLang="zh-CN" sz="2800" dirty="0"/>
              <a:t>NO</a:t>
            </a:r>
            <a:r>
              <a:rPr lang="en-US" altLang="zh-CN" sz="2800" baseline="-25000" dirty="0"/>
              <a:t>3</a:t>
            </a:r>
            <a:r>
              <a:rPr lang="zh-CN" altLang="en-US" sz="2800" dirty="0"/>
              <a:t> 　（</a:t>
            </a:r>
            <a:r>
              <a:rPr lang="en-US" altLang="zh-CN" sz="2800" dirty="0"/>
              <a:t>3</a:t>
            </a:r>
            <a:r>
              <a:rPr lang="zh-CN" altLang="en-US" sz="2800" dirty="0"/>
              <a:t>）</a:t>
            </a:r>
            <a:r>
              <a:rPr lang="en-US" altLang="zh-CN" sz="2800" dirty="0"/>
              <a:t>Na</a:t>
            </a:r>
            <a:r>
              <a:rPr lang="en-US" altLang="zh-CN" sz="2800" baseline="-25000" dirty="0"/>
              <a:t>2</a:t>
            </a:r>
            <a:r>
              <a:rPr lang="en-US" altLang="zh-CN" sz="2800" dirty="0"/>
              <a:t>SO</a:t>
            </a:r>
            <a:r>
              <a:rPr lang="en-US" altLang="zh-CN" sz="2800" baseline="-25000" dirty="0"/>
              <a:t>4</a:t>
            </a:r>
            <a:r>
              <a:rPr lang="zh-CN" altLang="en-US" sz="2800" dirty="0"/>
              <a:t> 　（</a:t>
            </a:r>
            <a:r>
              <a:rPr lang="en-US" altLang="zh-CN" sz="2800" dirty="0"/>
              <a:t>4</a:t>
            </a:r>
            <a:r>
              <a:rPr lang="zh-CN" altLang="en-US" sz="2800" dirty="0"/>
              <a:t>）</a:t>
            </a:r>
            <a:r>
              <a:rPr lang="en-US" altLang="zh-CN" sz="2800" dirty="0"/>
              <a:t>CuSO</a:t>
            </a:r>
            <a:r>
              <a:rPr lang="en-US" altLang="zh-CN" sz="2800" baseline="-25000" dirty="0"/>
              <a:t>4</a:t>
            </a:r>
            <a:endParaRPr lang="en-US" altLang="zh-CN" sz="2800" dirty="0"/>
          </a:p>
          <a:p>
            <a:pPr>
              <a:buNone/>
            </a:pPr>
            <a:r>
              <a:rPr lang="en-US" altLang="zh-CN" sz="2800" dirty="0"/>
              <a:t>3. </a:t>
            </a:r>
            <a:r>
              <a:rPr lang="zh-CN" altLang="en-US" sz="2800" dirty="0"/>
              <a:t>在</a:t>
            </a:r>
            <a:r>
              <a:rPr lang="en-US" altLang="zh-CN" sz="2800" dirty="0"/>
              <a:t>Na</a:t>
            </a:r>
            <a:r>
              <a:rPr lang="en-US" altLang="zh-CN" sz="2800" baseline="-25000" dirty="0"/>
              <a:t>2</a:t>
            </a:r>
            <a:r>
              <a:rPr lang="en-US" altLang="zh-CN" sz="2800" dirty="0"/>
              <a:t>CO</a:t>
            </a:r>
            <a:r>
              <a:rPr lang="en-US" altLang="zh-CN" sz="2800" baseline="-25000" dirty="0"/>
              <a:t>3</a:t>
            </a:r>
            <a:r>
              <a:rPr lang="zh-CN" altLang="en-US" sz="2800" dirty="0"/>
              <a:t>溶液中，有关离子浓度的关系正确的是</a:t>
            </a:r>
            <a:r>
              <a:rPr lang="en-US" altLang="zh-CN" sz="2800" dirty="0"/>
              <a:t>?</a:t>
            </a:r>
          </a:p>
          <a:p>
            <a:pPr marL="514350" indent="-514350">
              <a:buAutoNum type="alphaUcPeriod"/>
            </a:pPr>
            <a:r>
              <a:rPr lang="en-US" altLang="zh-CN" sz="2800" dirty="0"/>
              <a:t>[Na</a:t>
            </a:r>
            <a:r>
              <a:rPr lang="en-US" altLang="zh-CN" sz="2800" baseline="30000" dirty="0"/>
              <a:t>+</a:t>
            </a:r>
            <a:r>
              <a:rPr lang="en-US" altLang="zh-CN" sz="2800" dirty="0"/>
              <a:t>]=2[CO</a:t>
            </a:r>
            <a:r>
              <a:rPr lang="en-US" altLang="zh-CN" sz="2800" baseline="-25000" dirty="0"/>
              <a:t>3</a:t>
            </a:r>
            <a:r>
              <a:rPr lang="en-US" altLang="zh-CN" sz="2800" baseline="30000" dirty="0"/>
              <a:t>2-</a:t>
            </a:r>
            <a:r>
              <a:rPr lang="en-US" altLang="zh-CN" sz="2800" dirty="0"/>
              <a:t>]</a:t>
            </a:r>
            <a:r>
              <a:rPr lang="zh-CN" altLang="en-US" sz="2800" dirty="0"/>
              <a:t>　　　</a:t>
            </a:r>
            <a:r>
              <a:rPr lang="en-US" altLang="zh-CN" sz="2800" dirty="0"/>
              <a:t>	B.[H</a:t>
            </a:r>
            <a:r>
              <a:rPr lang="en-US" altLang="zh-CN" sz="2800" baseline="30000" dirty="0"/>
              <a:t>+</a:t>
            </a:r>
            <a:r>
              <a:rPr lang="en-US" altLang="zh-CN" sz="2800" dirty="0"/>
              <a:t>] &gt; [OH</a:t>
            </a:r>
            <a:r>
              <a:rPr lang="en-US" altLang="zh-CN" sz="2800" baseline="30000" dirty="0"/>
              <a:t>-</a:t>
            </a:r>
            <a:r>
              <a:rPr lang="en-US" altLang="zh-CN" sz="2800" dirty="0"/>
              <a:t>] </a:t>
            </a:r>
          </a:p>
          <a:p>
            <a:pPr marL="514350" indent="-514350">
              <a:buNone/>
            </a:pPr>
            <a:r>
              <a:rPr lang="en-US" altLang="zh-CN" sz="2800" dirty="0"/>
              <a:t>C. [CO</a:t>
            </a:r>
            <a:r>
              <a:rPr lang="en-US" altLang="zh-CN" sz="2800" baseline="-25000" dirty="0"/>
              <a:t>3</a:t>
            </a:r>
            <a:r>
              <a:rPr lang="en-US" altLang="zh-CN" sz="2800" baseline="30000" dirty="0"/>
              <a:t>2-</a:t>
            </a:r>
            <a:r>
              <a:rPr lang="en-US" altLang="zh-CN" sz="2800" dirty="0"/>
              <a:t>] &gt; [HCO</a:t>
            </a:r>
            <a:r>
              <a:rPr lang="en-US" altLang="zh-CN" sz="2800" baseline="-25000" dirty="0"/>
              <a:t>3</a:t>
            </a:r>
            <a:r>
              <a:rPr lang="en-US" altLang="zh-CN" sz="2800" baseline="30000" dirty="0"/>
              <a:t>-</a:t>
            </a:r>
            <a:r>
              <a:rPr lang="en-US" altLang="zh-CN" sz="2800" dirty="0"/>
              <a:t>] 	D. [HCO</a:t>
            </a:r>
            <a:r>
              <a:rPr lang="en-US" altLang="zh-CN" sz="2800" baseline="-25000" dirty="0"/>
              <a:t>3</a:t>
            </a:r>
            <a:r>
              <a:rPr lang="en-US" altLang="zh-CN" sz="2800" baseline="30000" dirty="0"/>
              <a:t>-</a:t>
            </a:r>
            <a:r>
              <a:rPr lang="en-US" altLang="zh-CN" sz="2800" dirty="0"/>
              <a:t>] &gt; [OH</a:t>
            </a:r>
            <a:r>
              <a:rPr lang="en-US" altLang="zh-CN" sz="2800" baseline="30000" dirty="0"/>
              <a:t>-</a:t>
            </a:r>
            <a:r>
              <a:rPr lang="en-US" altLang="zh-CN" sz="2800" dirty="0"/>
              <a:t>] </a:t>
            </a:r>
            <a:endParaRPr lang="zh-CN" altLang="en-US" sz="2800" dirty="0"/>
          </a:p>
          <a:p>
            <a:pPr>
              <a:buNone/>
            </a:pPr>
            <a:r>
              <a:rPr lang="en-US" altLang="zh-CN" sz="3000" dirty="0">
                <a:solidFill>
                  <a:srgbClr val="002060"/>
                </a:solidFill>
                <a:sym typeface="Wingdings" pitchFamily="2" charset="2"/>
              </a:rPr>
              <a:t>2(1) F</a:t>
            </a:r>
            <a:r>
              <a:rPr lang="en-US" altLang="zh-CN" sz="3000" baseline="30000" dirty="0">
                <a:solidFill>
                  <a:srgbClr val="002060"/>
                </a:solidFill>
                <a:sym typeface="Wingdings" pitchFamily="2" charset="2"/>
              </a:rPr>
              <a:t>-</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aq</a:t>
            </a:r>
            <a:r>
              <a:rPr lang="en-US" altLang="zh-CN" sz="3000" dirty="0">
                <a:solidFill>
                  <a:srgbClr val="002060"/>
                </a:solidFill>
                <a:sym typeface="Wingdings" pitchFamily="2" charset="2"/>
              </a:rPr>
              <a:t>) + H</a:t>
            </a:r>
            <a:r>
              <a:rPr lang="en-US" altLang="zh-CN" sz="3000" baseline="-25000" dirty="0">
                <a:solidFill>
                  <a:srgbClr val="002060"/>
                </a:solidFill>
                <a:sym typeface="Wingdings" pitchFamily="2" charset="2"/>
              </a:rPr>
              <a:t>2</a:t>
            </a:r>
            <a:r>
              <a:rPr lang="en-US" altLang="zh-CN" sz="3000" dirty="0">
                <a:solidFill>
                  <a:srgbClr val="002060"/>
                </a:solidFill>
                <a:sym typeface="Wingdings" pitchFamily="2" charset="2"/>
              </a:rPr>
              <a:t>O(l) &lt;--&gt; HF(</a:t>
            </a:r>
            <a:r>
              <a:rPr lang="en-US" altLang="zh-CN" sz="3000" dirty="0" err="1">
                <a:solidFill>
                  <a:srgbClr val="002060"/>
                </a:solidFill>
                <a:sym typeface="Wingdings" pitchFamily="2" charset="2"/>
              </a:rPr>
              <a:t>aq</a:t>
            </a:r>
            <a:r>
              <a:rPr lang="en-US" altLang="zh-CN" sz="3000" dirty="0">
                <a:solidFill>
                  <a:srgbClr val="002060"/>
                </a:solidFill>
                <a:sym typeface="Wingdings" pitchFamily="2" charset="2"/>
              </a:rPr>
              <a:t>) + OH</a:t>
            </a:r>
            <a:r>
              <a:rPr lang="en-US" altLang="zh-CN" sz="3000" baseline="30000" dirty="0">
                <a:solidFill>
                  <a:srgbClr val="002060"/>
                </a:solidFill>
                <a:sym typeface="Wingdings" pitchFamily="2" charset="2"/>
              </a:rPr>
              <a:t>-</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aq</a:t>
            </a:r>
            <a:r>
              <a:rPr lang="en-US" altLang="zh-CN" sz="3000" dirty="0">
                <a:solidFill>
                  <a:srgbClr val="002060"/>
                </a:solidFill>
                <a:sym typeface="Wingdings" pitchFamily="2" charset="2"/>
              </a:rPr>
              <a:t>)</a:t>
            </a:r>
          </a:p>
          <a:p>
            <a:pPr>
              <a:buNone/>
            </a:pPr>
            <a:r>
              <a:rPr lang="en-US" altLang="zh-CN" sz="3000" dirty="0">
                <a:solidFill>
                  <a:srgbClr val="002060"/>
                </a:solidFill>
                <a:sym typeface="Wingdings" pitchFamily="2" charset="2"/>
              </a:rPr>
              <a:t>2(2) NH</a:t>
            </a:r>
            <a:r>
              <a:rPr lang="en-US" altLang="zh-CN" sz="3000" baseline="-25000" dirty="0">
                <a:solidFill>
                  <a:srgbClr val="002060"/>
                </a:solidFill>
                <a:sym typeface="Wingdings" pitchFamily="2" charset="2"/>
              </a:rPr>
              <a:t>4</a:t>
            </a:r>
            <a:r>
              <a:rPr lang="en-US" altLang="zh-CN" sz="3000" baseline="30000" dirty="0">
                <a:solidFill>
                  <a:srgbClr val="002060"/>
                </a:solidFill>
                <a:sym typeface="Wingdings" pitchFamily="2" charset="2"/>
              </a:rPr>
              <a:t>+</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aq</a:t>
            </a:r>
            <a:r>
              <a:rPr lang="en-US" altLang="zh-CN" sz="3000" dirty="0">
                <a:solidFill>
                  <a:srgbClr val="002060"/>
                </a:solidFill>
                <a:sym typeface="Wingdings" pitchFamily="2" charset="2"/>
              </a:rPr>
              <a:t>) + H</a:t>
            </a:r>
            <a:r>
              <a:rPr lang="en-US" altLang="zh-CN" sz="3000" baseline="-25000" dirty="0">
                <a:solidFill>
                  <a:srgbClr val="002060"/>
                </a:solidFill>
                <a:sym typeface="Wingdings" pitchFamily="2" charset="2"/>
              </a:rPr>
              <a:t>2</a:t>
            </a:r>
            <a:r>
              <a:rPr lang="en-US" altLang="zh-CN" sz="3000" dirty="0">
                <a:solidFill>
                  <a:srgbClr val="002060"/>
                </a:solidFill>
                <a:sym typeface="Wingdings" pitchFamily="2" charset="2"/>
              </a:rPr>
              <a:t>O (l) &lt;--&gt;  NH</a:t>
            </a:r>
            <a:r>
              <a:rPr lang="en-US" altLang="zh-CN" sz="3000" baseline="-25000" dirty="0">
                <a:solidFill>
                  <a:srgbClr val="002060"/>
                </a:solidFill>
                <a:sym typeface="Wingdings" pitchFamily="2" charset="2"/>
              </a:rPr>
              <a:t>3</a:t>
            </a:r>
            <a:r>
              <a:rPr lang="en-US" altLang="zh-CN" sz="3000" dirty="0">
                <a:solidFill>
                  <a:srgbClr val="002060"/>
                </a:solidFill>
                <a:latin typeface="Arial"/>
                <a:cs typeface="Arial"/>
                <a:sym typeface="Wingdings" pitchFamily="2" charset="2"/>
              </a:rPr>
              <a:t>·</a:t>
            </a:r>
            <a:r>
              <a:rPr lang="en-US" altLang="zh-CN" sz="3000" dirty="0">
                <a:solidFill>
                  <a:srgbClr val="002060"/>
                </a:solidFill>
                <a:sym typeface="Wingdings" pitchFamily="2" charset="2"/>
              </a:rPr>
              <a:t>H</a:t>
            </a:r>
            <a:r>
              <a:rPr lang="en-US" altLang="zh-CN" sz="3000" baseline="-25000" dirty="0">
                <a:solidFill>
                  <a:srgbClr val="002060"/>
                </a:solidFill>
                <a:sym typeface="Wingdings" pitchFamily="2" charset="2"/>
              </a:rPr>
              <a:t>2</a:t>
            </a:r>
            <a:r>
              <a:rPr lang="en-US" altLang="zh-CN" sz="3000" dirty="0">
                <a:solidFill>
                  <a:srgbClr val="002060"/>
                </a:solidFill>
                <a:sym typeface="Wingdings" pitchFamily="2" charset="2"/>
              </a:rPr>
              <a:t>O(</a:t>
            </a:r>
            <a:r>
              <a:rPr lang="en-US" altLang="zh-CN" sz="3000" dirty="0" err="1">
                <a:solidFill>
                  <a:srgbClr val="002060"/>
                </a:solidFill>
                <a:sym typeface="Wingdings" pitchFamily="2" charset="2"/>
              </a:rPr>
              <a:t>aq</a:t>
            </a:r>
            <a:r>
              <a:rPr lang="en-US" altLang="zh-CN" sz="3000" dirty="0">
                <a:solidFill>
                  <a:srgbClr val="002060"/>
                </a:solidFill>
                <a:sym typeface="Wingdings" pitchFamily="2" charset="2"/>
              </a:rPr>
              <a:t>) + H</a:t>
            </a:r>
            <a:r>
              <a:rPr lang="en-US" altLang="zh-CN" sz="3000" baseline="30000" dirty="0">
                <a:solidFill>
                  <a:srgbClr val="002060"/>
                </a:solidFill>
                <a:sym typeface="Wingdings" pitchFamily="2" charset="2"/>
              </a:rPr>
              <a:t>+</a:t>
            </a:r>
            <a:r>
              <a:rPr lang="en-US" altLang="zh-CN" sz="3000" dirty="0">
                <a:solidFill>
                  <a:srgbClr val="002060"/>
                </a:solidFill>
                <a:sym typeface="Wingdings" pitchFamily="2" charset="2"/>
              </a:rPr>
              <a:t>(</a:t>
            </a:r>
            <a:r>
              <a:rPr lang="en-US" altLang="zh-CN" sz="3000" dirty="0" err="1">
                <a:solidFill>
                  <a:srgbClr val="002060"/>
                </a:solidFill>
                <a:sym typeface="Wingdings" pitchFamily="2" charset="2"/>
              </a:rPr>
              <a:t>aq</a:t>
            </a:r>
            <a:r>
              <a:rPr lang="en-US" altLang="zh-CN" sz="3000" dirty="0">
                <a:solidFill>
                  <a:srgbClr val="002060"/>
                </a:solidFill>
                <a:sym typeface="Wingdings" pitchFamily="2" charset="2"/>
              </a:rPr>
              <a:t>)</a:t>
            </a:r>
          </a:p>
          <a:p>
            <a:pPr>
              <a:buNone/>
            </a:pPr>
            <a:r>
              <a:rPr lang="en-US" altLang="zh-CN" sz="3000" dirty="0">
                <a:solidFill>
                  <a:srgbClr val="002060"/>
                </a:solidFill>
                <a:sym typeface="Wingdings" pitchFamily="2" charset="2"/>
              </a:rPr>
              <a:t>2(3)</a:t>
            </a:r>
            <a:r>
              <a:rPr lang="zh-CN" altLang="en-US" sz="3000" dirty="0">
                <a:solidFill>
                  <a:srgbClr val="002060"/>
                </a:solidFill>
                <a:sym typeface="Wingdings" pitchFamily="2" charset="2"/>
              </a:rPr>
              <a:t>不水解</a:t>
            </a:r>
            <a:endParaRPr lang="en-US" altLang="zh-CN" sz="3000" dirty="0">
              <a:solidFill>
                <a:srgbClr val="002060"/>
              </a:solidFill>
              <a:sym typeface="Wingdings" pitchFamily="2" charset="2"/>
            </a:endParaRPr>
          </a:p>
          <a:p>
            <a:pPr>
              <a:buNone/>
            </a:pPr>
            <a:r>
              <a:rPr lang="en-US" altLang="zh-CN" sz="3000" dirty="0">
                <a:solidFill>
                  <a:srgbClr val="002060"/>
                </a:solidFill>
                <a:sym typeface="Wingdings" pitchFamily="2" charset="2"/>
              </a:rPr>
              <a:t>2(4) Cu</a:t>
            </a:r>
            <a:r>
              <a:rPr lang="en-US" altLang="zh-CN" sz="3000" baseline="30000" dirty="0">
                <a:solidFill>
                  <a:srgbClr val="002060"/>
                </a:solidFill>
                <a:sym typeface="Wingdings" pitchFamily="2" charset="2"/>
              </a:rPr>
              <a:t>2+</a:t>
            </a:r>
            <a:r>
              <a:rPr lang="en-US" altLang="zh-CN" sz="3000" dirty="0">
                <a:solidFill>
                  <a:srgbClr val="002060"/>
                </a:solidFill>
                <a:sym typeface="Wingdings" pitchFamily="2" charset="2"/>
              </a:rPr>
              <a:t> (</a:t>
            </a:r>
            <a:r>
              <a:rPr lang="en-US" altLang="zh-CN" sz="3000" dirty="0" err="1">
                <a:solidFill>
                  <a:srgbClr val="002060"/>
                </a:solidFill>
                <a:sym typeface="Wingdings" pitchFamily="2" charset="2"/>
              </a:rPr>
              <a:t>aq</a:t>
            </a:r>
            <a:r>
              <a:rPr lang="en-US" altLang="zh-CN" sz="3000" dirty="0">
                <a:solidFill>
                  <a:srgbClr val="002060"/>
                </a:solidFill>
                <a:sym typeface="Wingdings" pitchFamily="2" charset="2"/>
              </a:rPr>
              <a:t>) + 2H</a:t>
            </a:r>
            <a:r>
              <a:rPr lang="en-US" altLang="zh-CN" sz="3000" baseline="-25000" dirty="0">
                <a:solidFill>
                  <a:srgbClr val="002060"/>
                </a:solidFill>
                <a:sym typeface="Wingdings" pitchFamily="2" charset="2"/>
              </a:rPr>
              <a:t>2</a:t>
            </a:r>
            <a:r>
              <a:rPr lang="en-US" altLang="zh-CN" sz="3000" dirty="0">
                <a:solidFill>
                  <a:srgbClr val="002060"/>
                </a:solidFill>
                <a:sym typeface="Wingdings" pitchFamily="2" charset="2"/>
              </a:rPr>
              <a:t>O (l) &lt;--&gt; Cu(OH)</a:t>
            </a:r>
            <a:r>
              <a:rPr lang="en-US" altLang="zh-CN" sz="3000" baseline="-25000" dirty="0">
                <a:solidFill>
                  <a:srgbClr val="002060"/>
                </a:solidFill>
                <a:sym typeface="Wingdings" pitchFamily="2" charset="2"/>
              </a:rPr>
              <a:t>2</a:t>
            </a:r>
            <a:r>
              <a:rPr lang="en-US" altLang="zh-CN" sz="3000" dirty="0">
                <a:solidFill>
                  <a:srgbClr val="002060"/>
                </a:solidFill>
                <a:sym typeface="Wingdings" pitchFamily="2" charset="2"/>
              </a:rPr>
              <a:t> (s) + 2H</a:t>
            </a:r>
            <a:r>
              <a:rPr lang="en-US" altLang="zh-CN" sz="3000" baseline="30000" dirty="0">
                <a:solidFill>
                  <a:srgbClr val="002060"/>
                </a:solidFill>
                <a:sym typeface="Wingdings" pitchFamily="2" charset="2"/>
              </a:rPr>
              <a:t>+</a:t>
            </a:r>
            <a:r>
              <a:rPr lang="en-US" altLang="zh-CN" sz="3000" dirty="0">
                <a:solidFill>
                  <a:srgbClr val="002060"/>
                </a:solidFill>
                <a:sym typeface="Wingdings" pitchFamily="2" charset="2"/>
              </a:rPr>
              <a:t>(</a:t>
            </a:r>
            <a:r>
              <a:rPr lang="en-US" altLang="zh-CN" sz="3000" dirty="0" err="1">
                <a:solidFill>
                  <a:srgbClr val="002060"/>
                </a:solidFill>
                <a:sym typeface="Wingdings" pitchFamily="2" charset="2"/>
              </a:rPr>
              <a:t>aq</a:t>
            </a:r>
            <a:r>
              <a:rPr lang="en-US" altLang="zh-CN" sz="3000" dirty="0">
                <a:solidFill>
                  <a:srgbClr val="002060"/>
                </a:solidFill>
                <a:sym typeface="Wingdings" pitchFamily="2" charset="2"/>
              </a:rPr>
              <a:t>)</a:t>
            </a:r>
          </a:p>
          <a:p>
            <a:pPr>
              <a:buNone/>
            </a:pPr>
            <a:r>
              <a:rPr lang="en-US" altLang="zh-CN" sz="3000" dirty="0">
                <a:solidFill>
                  <a:srgbClr val="002060"/>
                </a:solidFill>
                <a:sym typeface="Wingdings" pitchFamily="2" charset="2"/>
              </a:rPr>
              <a:t>3. </a:t>
            </a:r>
            <a:r>
              <a:rPr lang="en-US" altLang="zh-CN" sz="3000" dirty="0" err="1">
                <a:solidFill>
                  <a:srgbClr val="002060"/>
                </a:solidFill>
                <a:sym typeface="Wingdings" pitchFamily="2" charset="2"/>
              </a:rPr>
              <a:t>Ans:C</a:t>
            </a:r>
            <a:r>
              <a:rPr lang="zh-CN" altLang="en-US" sz="2800" dirty="0"/>
              <a:t>在</a:t>
            </a:r>
            <a:r>
              <a:rPr lang="en-US" sz="2800" dirty="0"/>
              <a:t>Na</a:t>
            </a:r>
            <a:r>
              <a:rPr lang="en-US" sz="2800" baseline="-25000" dirty="0"/>
              <a:t>2</a:t>
            </a:r>
            <a:r>
              <a:rPr lang="en-US" sz="2800" dirty="0"/>
              <a:t>CO</a:t>
            </a:r>
            <a:r>
              <a:rPr lang="en-US" sz="2800" baseline="-25000" dirty="0"/>
              <a:t>3</a:t>
            </a:r>
            <a:r>
              <a:rPr lang="en-US" sz="2800" dirty="0"/>
              <a:t> </a:t>
            </a:r>
            <a:r>
              <a:rPr lang="zh-CN" altLang="en-US" sz="2800" dirty="0"/>
              <a:t>溶液中：</a:t>
            </a:r>
            <a:r>
              <a:rPr lang="en-US" altLang="zh-CN" sz="2800" dirty="0"/>
              <a:t> [CO</a:t>
            </a:r>
            <a:r>
              <a:rPr lang="en-US" altLang="zh-CN" sz="2800" baseline="-25000" dirty="0"/>
              <a:t>3</a:t>
            </a:r>
            <a:r>
              <a:rPr lang="en-US" altLang="zh-CN" sz="2800" baseline="30000" dirty="0"/>
              <a:t>2-</a:t>
            </a:r>
            <a:r>
              <a:rPr lang="en-US" altLang="zh-CN" sz="2800" dirty="0"/>
              <a:t>] &gt; [HCO</a:t>
            </a:r>
            <a:r>
              <a:rPr lang="en-US" altLang="zh-CN" sz="2800" baseline="-25000" dirty="0"/>
              <a:t>3</a:t>
            </a:r>
            <a:r>
              <a:rPr lang="en-US" altLang="zh-CN" sz="2800" baseline="30000" dirty="0"/>
              <a:t>-</a:t>
            </a:r>
            <a:r>
              <a:rPr lang="en-US" altLang="zh-CN" sz="2800" dirty="0"/>
              <a:t>] &gt; [H</a:t>
            </a:r>
            <a:r>
              <a:rPr lang="en-US" altLang="zh-CN" sz="2800" baseline="-25000" dirty="0"/>
              <a:t>2</a:t>
            </a:r>
            <a:r>
              <a:rPr lang="en-US" altLang="zh-CN" sz="2800" dirty="0"/>
              <a:t>CO</a:t>
            </a:r>
            <a:r>
              <a:rPr lang="en-US" altLang="zh-CN" sz="2800" baseline="-25000" dirty="0"/>
              <a:t>3</a:t>
            </a:r>
            <a:r>
              <a:rPr lang="en-US" altLang="zh-CN" sz="2800" dirty="0"/>
              <a:t>] </a:t>
            </a:r>
            <a:endParaRPr lang="en-US" altLang="zh-CN" sz="3000" dirty="0">
              <a:solidFill>
                <a:srgbClr val="002060"/>
              </a:solidFill>
              <a:sym typeface="Wingdings" pitchFamily="2" charset="2"/>
            </a:endParaRPr>
          </a:p>
          <a:p>
            <a:pPr>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blinds(horizontal)">
                                      <p:cBhvr>
                                        <p:cTn id="12" dur="500"/>
                                        <p:tgtEl>
                                          <p:spTgt spid="3">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blinds(horizontal)">
                                      <p:cBhvr>
                                        <p:cTn id="17" dur="500"/>
                                        <p:tgtEl>
                                          <p:spTgt spid="3">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linds(horizontal)">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blinds(horizontal)">
                                      <p:cBhvr>
                                        <p:cTn id="2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3000" u="sng" dirty="0">
                <a:sym typeface="Wingdings" pitchFamily="2" charset="2"/>
              </a:rPr>
              <a:t>补充题</a:t>
            </a:r>
            <a:endParaRPr lang="en-US" altLang="zh-CN" sz="3000" u="sng" dirty="0">
              <a:sym typeface="Wingdings" pitchFamily="2" charset="2"/>
            </a:endParaRPr>
          </a:p>
          <a:p>
            <a:pPr>
              <a:spcBef>
                <a:spcPts val="0"/>
              </a:spcBef>
              <a:buNone/>
            </a:pPr>
            <a:r>
              <a:rPr lang="zh-CN" altLang="en-US" sz="3000" dirty="0">
                <a:sym typeface="Wingdings" pitchFamily="2" charset="2"/>
              </a:rPr>
              <a:t>下列离子能否水解，能否电离？</a:t>
            </a:r>
            <a:endParaRPr lang="en-US" altLang="zh-CN" sz="3000" dirty="0">
              <a:sym typeface="Wingdings" pitchFamily="2" charset="2"/>
            </a:endParaRPr>
          </a:p>
          <a:p>
            <a:pPr>
              <a:spcBef>
                <a:spcPts val="0"/>
              </a:spcBef>
              <a:buNone/>
            </a:pPr>
            <a:r>
              <a:rPr lang="en-US" altLang="zh-CN" sz="3000" dirty="0">
                <a:sym typeface="Wingdings" pitchFamily="2" charset="2"/>
              </a:rPr>
              <a:t>				</a:t>
            </a:r>
            <a:r>
              <a:rPr lang="zh-CN" altLang="en-US" sz="3000" dirty="0">
                <a:sym typeface="Wingdings" pitchFamily="2" charset="2"/>
              </a:rPr>
              <a:t>水解</a:t>
            </a:r>
            <a:r>
              <a:rPr lang="en-US" altLang="zh-CN" sz="3000" dirty="0">
                <a:sym typeface="Wingdings" pitchFamily="2" charset="2"/>
              </a:rPr>
              <a:t>		</a:t>
            </a:r>
            <a:r>
              <a:rPr lang="zh-CN" altLang="en-US" sz="3000" dirty="0">
                <a:sym typeface="Wingdings" pitchFamily="2" charset="2"/>
              </a:rPr>
              <a:t>电离</a:t>
            </a:r>
            <a:r>
              <a:rPr lang="en-US" altLang="zh-CN" sz="3000" dirty="0">
                <a:sym typeface="Wingdings" pitchFamily="2" charset="2"/>
              </a:rPr>
              <a:t>		</a:t>
            </a:r>
          </a:p>
          <a:p>
            <a:pPr>
              <a:spcBef>
                <a:spcPts val="0"/>
              </a:spcBef>
              <a:buNone/>
            </a:pPr>
            <a:r>
              <a:rPr lang="en-US" altLang="zh-CN" sz="3000" dirty="0">
                <a:sym typeface="Wingdings" pitchFamily="2" charset="2"/>
              </a:rPr>
              <a:t>CO</a:t>
            </a:r>
            <a:r>
              <a:rPr lang="en-US" altLang="zh-CN" sz="3000" baseline="-25000" dirty="0">
                <a:sym typeface="Wingdings" pitchFamily="2" charset="2"/>
              </a:rPr>
              <a:t>3</a:t>
            </a:r>
            <a:r>
              <a:rPr lang="en-US" altLang="zh-CN" sz="3000" baseline="30000" dirty="0">
                <a:sym typeface="Wingdings" pitchFamily="2" charset="2"/>
              </a:rPr>
              <a:t>2-</a:t>
            </a:r>
          </a:p>
          <a:p>
            <a:pPr>
              <a:spcBef>
                <a:spcPts val="0"/>
              </a:spcBef>
              <a:buNone/>
            </a:pPr>
            <a:r>
              <a:rPr lang="en-US" altLang="zh-CN" sz="3000" dirty="0">
                <a:sym typeface="Wingdings" pitchFamily="2" charset="2"/>
              </a:rPr>
              <a:t>HCO</a:t>
            </a:r>
            <a:r>
              <a:rPr lang="en-US" altLang="zh-CN" sz="3000" baseline="-25000" dirty="0">
                <a:sym typeface="Wingdings" pitchFamily="2" charset="2"/>
              </a:rPr>
              <a:t>3</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dirty="0">
                <a:sym typeface="Wingdings" pitchFamily="2" charset="2"/>
              </a:rPr>
              <a:t>HSO</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dirty="0">
                <a:sym typeface="Wingdings" pitchFamily="2" charset="2"/>
              </a:rPr>
              <a:t>NO</a:t>
            </a:r>
            <a:r>
              <a:rPr lang="en-US" altLang="zh-CN" sz="3000" baseline="-25000" dirty="0">
                <a:sym typeface="Wingdings" pitchFamily="2" charset="2"/>
              </a:rPr>
              <a:t>3</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PO</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p>
          <a:p>
            <a:pPr>
              <a:spcBef>
                <a:spcPts val="0"/>
              </a:spcBef>
              <a:buNone/>
            </a:pPr>
            <a:r>
              <a:rPr lang="en-US" altLang="zh-CN" sz="3000" dirty="0">
                <a:sym typeface="Wingdings" pitchFamily="2" charset="2"/>
              </a:rPr>
              <a:t>HPO</a:t>
            </a:r>
            <a:r>
              <a:rPr lang="en-US" altLang="zh-CN" sz="3000" baseline="-25000" dirty="0">
                <a:sym typeface="Wingdings" pitchFamily="2" charset="2"/>
              </a:rPr>
              <a:t>4</a:t>
            </a:r>
            <a:r>
              <a:rPr lang="en-US" altLang="zh-CN" sz="3000" baseline="30000" dirty="0">
                <a:sym typeface="Wingdings" pitchFamily="2" charset="2"/>
              </a:rPr>
              <a:t>2-</a:t>
            </a:r>
          </a:p>
          <a:p>
            <a:pPr>
              <a:spcBef>
                <a:spcPts val="0"/>
              </a:spcBef>
              <a:buNone/>
            </a:pPr>
            <a:r>
              <a:rPr lang="en-US" altLang="zh-CN" sz="3000" dirty="0">
                <a:sym typeface="Wingdings" pitchFamily="2" charset="2"/>
              </a:rPr>
              <a:t>PO</a:t>
            </a:r>
            <a:r>
              <a:rPr lang="en-US" altLang="zh-CN" sz="3000" baseline="-25000" dirty="0">
                <a:sym typeface="Wingdings" pitchFamily="2" charset="2"/>
              </a:rPr>
              <a:t>4</a:t>
            </a:r>
            <a:r>
              <a:rPr lang="en-US" altLang="zh-CN" sz="3000" baseline="30000" dirty="0">
                <a:sym typeface="Wingdings" pitchFamily="2" charset="2"/>
              </a:rPr>
              <a:t>3-</a:t>
            </a:r>
            <a:r>
              <a:rPr lang="en-US" altLang="zh-CN" sz="3000" dirty="0">
                <a:sym typeface="Wingdings" pitchFamily="2" charset="2"/>
              </a:rPr>
              <a:t> </a:t>
            </a:r>
          </a:p>
          <a:p>
            <a:pPr>
              <a:spcBef>
                <a:spcPts val="0"/>
              </a:spcBef>
              <a:buNone/>
            </a:pP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p>
          <a:p>
            <a:pPr>
              <a:spcBef>
                <a:spcPts val="0"/>
              </a:spcBef>
              <a:buNone/>
            </a:pPr>
            <a:endParaRPr lang="en-US" altLang="zh-CN" sz="3000" dirty="0">
              <a:sym typeface="Wingdings" pitchFamily="2" charset="2"/>
            </a:endParaRPr>
          </a:p>
        </p:txBody>
      </p:sp>
      <p:sp>
        <p:nvSpPr>
          <p:cNvPr id="5" name="TextBox 4"/>
          <p:cNvSpPr txBox="1"/>
          <p:nvPr/>
        </p:nvSpPr>
        <p:spPr>
          <a:xfrm>
            <a:off x="3200400" y="2296180"/>
            <a:ext cx="543739" cy="523220"/>
          </a:xfrm>
          <a:prstGeom prst="rect">
            <a:avLst/>
          </a:prstGeom>
          <a:noFill/>
        </p:spPr>
        <p:txBody>
          <a:bodyPr wrap="none" rtlCol="0">
            <a:spAutoFit/>
          </a:bodyPr>
          <a:lstStyle/>
          <a:p>
            <a:r>
              <a:rPr lang="zh-CN" altLang="en-US" sz="2800" dirty="0"/>
              <a:t>能</a:t>
            </a:r>
            <a:endParaRPr lang="en-US" sz="2800" dirty="0"/>
          </a:p>
        </p:txBody>
      </p:sp>
      <p:sp>
        <p:nvSpPr>
          <p:cNvPr id="6" name="TextBox 5"/>
          <p:cNvSpPr txBox="1"/>
          <p:nvPr/>
        </p:nvSpPr>
        <p:spPr>
          <a:xfrm>
            <a:off x="5029200" y="2286000"/>
            <a:ext cx="543739" cy="523220"/>
          </a:xfrm>
          <a:prstGeom prst="rect">
            <a:avLst/>
          </a:prstGeom>
          <a:noFill/>
        </p:spPr>
        <p:txBody>
          <a:bodyPr wrap="none" rtlCol="0">
            <a:spAutoFit/>
          </a:bodyPr>
          <a:lstStyle/>
          <a:p>
            <a:r>
              <a:rPr lang="zh-CN" altLang="en-US" sz="2800" dirty="0"/>
              <a:t>否</a:t>
            </a:r>
            <a:endParaRPr lang="en-US" sz="2800" dirty="0"/>
          </a:p>
        </p:txBody>
      </p:sp>
      <p:sp>
        <p:nvSpPr>
          <p:cNvPr id="7" name="TextBox 6"/>
          <p:cNvSpPr txBox="1"/>
          <p:nvPr/>
        </p:nvSpPr>
        <p:spPr>
          <a:xfrm>
            <a:off x="3200400" y="2753380"/>
            <a:ext cx="543739" cy="523220"/>
          </a:xfrm>
          <a:prstGeom prst="rect">
            <a:avLst/>
          </a:prstGeom>
          <a:noFill/>
        </p:spPr>
        <p:txBody>
          <a:bodyPr wrap="none" rtlCol="0">
            <a:spAutoFit/>
          </a:bodyPr>
          <a:lstStyle/>
          <a:p>
            <a:r>
              <a:rPr lang="zh-CN" altLang="en-US" sz="2800" dirty="0"/>
              <a:t>能</a:t>
            </a:r>
            <a:endParaRPr lang="en-US" sz="2800" dirty="0"/>
          </a:p>
        </p:txBody>
      </p:sp>
      <p:sp>
        <p:nvSpPr>
          <p:cNvPr id="8" name="TextBox 7"/>
          <p:cNvSpPr txBox="1"/>
          <p:nvPr/>
        </p:nvSpPr>
        <p:spPr>
          <a:xfrm>
            <a:off x="5029200" y="2743200"/>
            <a:ext cx="543739" cy="523220"/>
          </a:xfrm>
          <a:prstGeom prst="rect">
            <a:avLst/>
          </a:prstGeom>
          <a:noFill/>
        </p:spPr>
        <p:txBody>
          <a:bodyPr wrap="none" rtlCol="0">
            <a:spAutoFit/>
          </a:bodyPr>
          <a:lstStyle/>
          <a:p>
            <a:r>
              <a:rPr lang="zh-CN" altLang="en-US" sz="2800" dirty="0"/>
              <a:t>能</a:t>
            </a:r>
            <a:endParaRPr lang="en-US" sz="2800" dirty="0"/>
          </a:p>
        </p:txBody>
      </p:sp>
      <p:sp>
        <p:nvSpPr>
          <p:cNvPr id="9" name="TextBox 8"/>
          <p:cNvSpPr txBox="1"/>
          <p:nvPr/>
        </p:nvSpPr>
        <p:spPr>
          <a:xfrm>
            <a:off x="3200400" y="3210580"/>
            <a:ext cx="543739" cy="523220"/>
          </a:xfrm>
          <a:prstGeom prst="rect">
            <a:avLst/>
          </a:prstGeom>
          <a:noFill/>
        </p:spPr>
        <p:txBody>
          <a:bodyPr wrap="none" rtlCol="0">
            <a:spAutoFit/>
          </a:bodyPr>
          <a:lstStyle/>
          <a:p>
            <a:r>
              <a:rPr lang="zh-CN" altLang="en-US" sz="2800" dirty="0"/>
              <a:t>否</a:t>
            </a:r>
            <a:endParaRPr lang="en-US" sz="2800" dirty="0"/>
          </a:p>
        </p:txBody>
      </p:sp>
      <p:sp>
        <p:nvSpPr>
          <p:cNvPr id="10" name="TextBox 9"/>
          <p:cNvSpPr txBox="1"/>
          <p:nvPr/>
        </p:nvSpPr>
        <p:spPr>
          <a:xfrm>
            <a:off x="5029200" y="3200400"/>
            <a:ext cx="543739" cy="523220"/>
          </a:xfrm>
          <a:prstGeom prst="rect">
            <a:avLst/>
          </a:prstGeom>
          <a:noFill/>
        </p:spPr>
        <p:txBody>
          <a:bodyPr wrap="none" rtlCol="0">
            <a:spAutoFit/>
          </a:bodyPr>
          <a:lstStyle/>
          <a:p>
            <a:r>
              <a:rPr lang="zh-CN" altLang="en-US" sz="2800" dirty="0"/>
              <a:t>能</a:t>
            </a:r>
            <a:endParaRPr lang="en-US" sz="2800" dirty="0"/>
          </a:p>
        </p:txBody>
      </p:sp>
      <p:sp>
        <p:nvSpPr>
          <p:cNvPr id="11" name="TextBox 10"/>
          <p:cNvSpPr txBox="1"/>
          <p:nvPr/>
        </p:nvSpPr>
        <p:spPr>
          <a:xfrm>
            <a:off x="3200400" y="3743980"/>
            <a:ext cx="543739" cy="523220"/>
          </a:xfrm>
          <a:prstGeom prst="rect">
            <a:avLst/>
          </a:prstGeom>
          <a:noFill/>
        </p:spPr>
        <p:txBody>
          <a:bodyPr wrap="none" rtlCol="0">
            <a:spAutoFit/>
          </a:bodyPr>
          <a:lstStyle/>
          <a:p>
            <a:r>
              <a:rPr lang="zh-CN" altLang="en-US" sz="2800" dirty="0"/>
              <a:t>否</a:t>
            </a:r>
            <a:endParaRPr lang="en-US" sz="2800" dirty="0"/>
          </a:p>
        </p:txBody>
      </p:sp>
      <p:sp>
        <p:nvSpPr>
          <p:cNvPr id="12" name="TextBox 11"/>
          <p:cNvSpPr txBox="1"/>
          <p:nvPr/>
        </p:nvSpPr>
        <p:spPr>
          <a:xfrm>
            <a:off x="5029200" y="3733800"/>
            <a:ext cx="543739" cy="523220"/>
          </a:xfrm>
          <a:prstGeom prst="rect">
            <a:avLst/>
          </a:prstGeom>
          <a:noFill/>
        </p:spPr>
        <p:txBody>
          <a:bodyPr wrap="none" rtlCol="0">
            <a:spAutoFit/>
          </a:bodyPr>
          <a:lstStyle/>
          <a:p>
            <a:r>
              <a:rPr lang="zh-CN" altLang="en-US" sz="2800" dirty="0"/>
              <a:t>否</a:t>
            </a:r>
            <a:endParaRPr lang="en-US" sz="2800" dirty="0"/>
          </a:p>
        </p:txBody>
      </p:sp>
      <p:sp>
        <p:nvSpPr>
          <p:cNvPr id="13" name="TextBox 12"/>
          <p:cNvSpPr txBox="1"/>
          <p:nvPr/>
        </p:nvSpPr>
        <p:spPr>
          <a:xfrm>
            <a:off x="3190061" y="4201180"/>
            <a:ext cx="543739" cy="523220"/>
          </a:xfrm>
          <a:prstGeom prst="rect">
            <a:avLst/>
          </a:prstGeom>
          <a:noFill/>
        </p:spPr>
        <p:txBody>
          <a:bodyPr wrap="none" rtlCol="0">
            <a:spAutoFit/>
          </a:bodyPr>
          <a:lstStyle/>
          <a:p>
            <a:r>
              <a:rPr lang="zh-CN" altLang="en-US" sz="2800" dirty="0"/>
              <a:t>能</a:t>
            </a:r>
            <a:endParaRPr lang="en-US" sz="2800" dirty="0"/>
          </a:p>
        </p:txBody>
      </p:sp>
      <p:sp>
        <p:nvSpPr>
          <p:cNvPr id="14" name="TextBox 13"/>
          <p:cNvSpPr txBox="1"/>
          <p:nvPr/>
        </p:nvSpPr>
        <p:spPr>
          <a:xfrm>
            <a:off x="5018861" y="4191000"/>
            <a:ext cx="543739" cy="523220"/>
          </a:xfrm>
          <a:prstGeom prst="rect">
            <a:avLst/>
          </a:prstGeom>
          <a:noFill/>
        </p:spPr>
        <p:txBody>
          <a:bodyPr wrap="none" rtlCol="0">
            <a:spAutoFit/>
          </a:bodyPr>
          <a:lstStyle/>
          <a:p>
            <a:r>
              <a:rPr lang="zh-CN" altLang="en-US" sz="2800" dirty="0"/>
              <a:t>能</a:t>
            </a:r>
            <a:endParaRPr lang="en-US" sz="2800" dirty="0"/>
          </a:p>
        </p:txBody>
      </p:sp>
      <p:sp>
        <p:nvSpPr>
          <p:cNvPr id="15" name="TextBox 14"/>
          <p:cNvSpPr txBox="1"/>
          <p:nvPr/>
        </p:nvSpPr>
        <p:spPr>
          <a:xfrm>
            <a:off x="3200400" y="4658380"/>
            <a:ext cx="543739" cy="523220"/>
          </a:xfrm>
          <a:prstGeom prst="rect">
            <a:avLst/>
          </a:prstGeom>
          <a:noFill/>
        </p:spPr>
        <p:txBody>
          <a:bodyPr wrap="none" rtlCol="0">
            <a:spAutoFit/>
          </a:bodyPr>
          <a:lstStyle/>
          <a:p>
            <a:r>
              <a:rPr lang="zh-CN" altLang="en-US" sz="2800" dirty="0"/>
              <a:t>能</a:t>
            </a:r>
            <a:endParaRPr lang="en-US" sz="2800" dirty="0"/>
          </a:p>
        </p:txBody>
      </p:sp>
      <p:sp>
        <p:nvSpPr>
          <p:cNvPr id="16" name="TextBox 15"/>
          <p:cNvSpPr txBox="1"/>
          <p:nvPr/>
        </p:nvSpPr>
        <p:spPr>
          <a:xfrm>
            <a:off x="5029200" y="4648200"/>
            <a:ext cx="543739" cy="523220"/>
          </a:xfrm>
          <a:prstGeom prst="rect">
            <a:avLst/>
          </a:prstGeom>
          <a:noFill/>
        </p:spPr>
        <p:txBody>
          <a:bodyPr wrap="none" rtlCol="0">
            <a:spAutoFit/>
          </a:bodyPr>
          <a:lstStyle/>
          <a:p>
            <a:r>
              <a:rPr lang="zh-CN" altLang="en-US" sz="2800" dirty="0"/>
              <a:t>能</a:t>
            </a:r>
            <a:endParaRPr lang="en-US" sz="2800" dirty="0"/>
          </a:p>
        </p:txBody>
      </p:sp>
      <p:sp>
        <p:nvSpPr>
          <p:cNvPr id="17" name="TextBox 16"/>
          <p:cNvSpPr txBox="1"/>
          <p:nvPr/>
        </p:nvSpPr>
        <p:spPr>
          <a:xfrm>
            <a:off x="3190061" y="5115580"/>
            <a:ext cx="543739" cy="523220"/>
          </a:xfrm>
          <a:prstGeom prst="rect">
            <a:avLst/>
          </a:prstGeom>
          <a:noFill/>
        </p:spPr>
        <p:txBody>
          <a:bodyPr wrap="none" rtlCol="0">
            <a:spAutoFit/>
          </a:bodyPr>
          <a:lstStyle/>
          <a:p>
            <a:r>
              <a:rPr lang="zh-CN" altLang="en-US" sz="2800" dirty="0"/>
              <a:t>能</a:t>
            </a:r>
            <a:endParaRPr lang="en-US" sz="2800" dirty="0"/>
          </a:p>
        </p:txBody>
      </p:sp>
      <p:sp>
        <p:nvSpPr>
          <p:cNvPr id="18" name="TextBox 17"/>
          <p:cNvSpPr txBox="1"/>
          <p:nvPr/>
        </p:nvSpPr>
        <p:spPr>
          <a:xfrm>
            <a:off x="5018861" y="5105400"/>
            <a:ext cx="543739" cy="523220"/>
          </a:xfrm>
          <a:prstGeom prst="rect">
            <a:avLst/>
          </a:prstGeom>
          <a:noFill/>
        </p:spPr>
        <p:txBody>
          <a:bodyPr wrap="none" rtlCol="0">
            <a:spAutoFit/>
          </a:bodyPr>
          <a:lstStyle/>
          <a:p>
            <a:r>
              <a:rPr lang="zh-CN" altLang="en-US" sz="2800" dirty="0"/>
              <a:t>否</a:t>
            </a:r>
            <a:endParaRPr lang="en-US" sz="2800" dirty="0"/>
          </a:p>
        </p:txBody>
      </p:sp>
      <p:sp>
        <p:nvSpPr>
          <p:cNvPr id="19" name="TextBox 18"/>
          <p:cNvSpPr txBox="1"/>
          <p:nvPr/>
        </p:nvSpPr>
        <p:spPr>
          <a:xfrm>
            <a:off x="3200400" y="5572780"/>
            <a:ext cx="543739" cy="523220"/>
          </a:xfrm>
          <a:prstGeom prst="rect">
            <a:avLst/>
          </a:prstGeom>
          <a:noFill/>
        </p:spPr>
        <p:txBody>
          <a:bodyPr wrap="none" rtlCol="0">
            <a:spAutoFit/>
          </a:bodyPr>
          <a:lstStyle/>
          <a:p>
            <a:r>
              <a:rPr lang="zh-CN" altLang="en-US" sz="2800" dirty="0"/>
              <a:t>能</a:t>
            </a:r>
            <a:endParaRPr lang="en-US" sz="2800" dirty="0"/>
          </a:p>
        </p:txBody>
      </p:sp>
      <p:sp>
        <p:nvSpPr>
          <p:cNvPr id="20" name="TextBox 19"/>
          <p:cNvSpPr txBox="1"/>
          <p:nvPr/>
        </p:nvSpPr>
        <p:spPr>
          <a:xfrm>
            <a:off x="5029200" y="5562600"/>
            <a:ext cx="543739" cy="523220"/>
          </a:xfrm>
          <a:prstGeom prst="rect">
            <a:avLst/>
          </a:prstGeom>
          <a:noFill/>
        </p:spPr>
        <p:txBody>
          <a:bodyPr wrap="none" rtlCol="0">
            <a:spAutoFit/>
          </a:bodyPr>
          <a:lstStyle/>
          <a:p>
            <a:r>
              <a:rPr lang="zh-CN" altLang="en-US" sz="2800" dirty="0"/>
              <a:t>否</a:t>
            </a:r>
            <a:endParaRPr lang="en-US" sz="28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blinds(horizontal)">
                                      <p:cBhvr>
                                        <p:cTn id="35" dur="500"/>
                                        <p:tgtEl>
                                          <p:spTgt spid="3">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blinds(horizontal)">
                                      <p:cBhvr>
                                        <p:cTn id="38" dur="500"/>
                                        <p:tgtEl>
                                          <p:spTgt spid="3">
                                            <p:txEl>
                                              <p:pRg st="9" end="9"/>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blinds(horizontal)">
                                      <p:cBhvr>
                                        <p:cTn id="41" dur="500"/>
                                        <p:tgtEl>
                                          <p:spTgt spid="3">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blinds(horizontal)">
                                      <p:cBhvr>
                                        <p:cTn id="46"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blinds(horizontal)">
                                      <p:cBhvr>
                                        <p:cTn id="51" dur="5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blinds(horizontal)">
                                      <p:cBhvr>
                                        <p:cTn id="56" dur="500"/>
                                        <p:tgtEl>
                                          <p:spTgt spid="7"/>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blinds(horizontal)">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blinds(horizontal)">
                                      <p:cBhvr>
                                        <p:cTn id="66" dur="500"/>
                                        <p:tgtEl>
                                          <p:spTgt spid="9"/>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blinds(horizontal)">
                                      <p:cBhvr>
                                        <p:cTn id="71" dur="500"/>
                                        <p:tgtEl>
                                          <p:spTgt spid="10"/>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blinds(horizontal)">
                                      <p:cBhvr>
                                        <p:cTn id="76" dur="500"/>
                                        <p:tgtEl>
                                          <p:spTgt spid="11"/>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blinds(horizontal)">
                                      <p:cBhvr>
                                        <p:cTn id="81" dur="500"/>
                                        <p:tgtEl>
                                          <p:spTgt spid="12"/>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blinds(horizontal)">
                                      <p:cBhvr>
                                        <p:cTn id="86" dur="500"/>
                                        <p:tgtEl>
                                          <p:spTgt spid="13"/>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blinds(horizontal)">
                                      <p:cBhvr>
                                        <p:cTn id="91" dur="500"/>
                                        <p:tgtEl>
                                          <p:spTgt spid="14"/>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blinds(horizontal)">
                                      <p:cBhvr>
                                        <p:cTn id="96" dur="500"/>
                                        <p:tgtEl>
                                          <p:spTgt spid="15"/>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16"/>
                                        </p:tgtEl>
                                        <p:attrNameLst>
                                          <p:attrName>style.visibility</p:attrName>
                                        </p:attrNameLst>
                                      </p:cBhvr>
                                      <p:to>
                                        <p:strVal val="visible"/>
                                      </p:to>
                                    </p:set>
                                    <p:animEffect transition="in" filter="blinds(horizontal)">
                                      <p:cBhvr>
                                        <p:cTn id="101" dur="500"/>
                                        <p:tgtEl>
                                          <p:spTgt spid="16"/>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blinds(horizontal)">
                                      <p:cBhvr>
                                        <p:cTn id="106" dur="500"/>
                                        <p:tgtEl>
                                          <p:spTgt spid="17"/>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18"/>
                                        </p:tgtEl>
                                        <p:attrNameLst>
                                          <p:attrName>style.visibility</p:attrName>
                                        </p:attrNameLst>
                                      </p:cBhvr>
                                      <p:to>
                                        <p:strVal val="visible"/>
                                      </p:to>
                                    </p:set>
                                    <p:animEffect transition="in" filter="blinds(horizontal)">
                                      <p:cBhvr>
                                        <p:cTn id="111" dur="500"/>
                                        <p:tgtEl>
                                          <p:spTgt spid="18"/>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19"/>
                                        </p:tgtEl>
                                        <p:attrNameLst>
                                          <p:attrName>style.visibility</p:attrName>
                                        </p:attrNameLst>
                                      </p:cBhvr>
                                      <p:to>
                                        <p:strVal val="visible"/>
                                      </p:to>
                                    </p:set>
                                    <p:animEffect transition="in" filter="blinds(horizontal)">
                                      <p:cBhvr>
                                        <p:cTn id="116" dur="500"/>
                                        <p:tgtEl>
                                          <p:spTgt spid="19"/>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20"/>
                                        </p:tgtEl>
                                        <p:attrNameLst>
                                          <p:attrName>style.visibility</p:attrName>
                                        </p:attrNameLst>
                                      </p:cBhvr>
                                      <p:to>
                                        <p:strVal val="visible"/>
                                      </p:to>
                                    </p:set>
                                    <p:animEffect transition="in" filter="blinds(horizontal)">
                                      <p:cBhvr>
                                        <p:cTn id="12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None/>
            </a:pPr>
            <a:r>
              <a:rPr lang="zh-CN" altLang="en-US" sz="3000" dirty="0">
                <a:sym typeface="Wingdings" pitchFamily="2" charset="2"/>
              </a:rPr>
              <a:t>问题解决</a:t>
            </a:r>
            <a:r>
              <a:rPr lang="en-US" altLang="zh-CN" sz="3000" dirty="0">
                <a:sym typeface="Wingdings" pitchFamily="2" charset="2"/>
              </a:rPr>
              <a:t>pg275</a:t>
            </a:r>
          </a:p>
          <a:p>
            <a:pPr>
              <a:buNone/>
            </a:pPr>
            <a:r>
              <a:rPr lang="en-US" altLang="zh-CN" sz="3000" dirty="0">
                <a:sym typeface="Wingdings" pitchFamily="2" charset="2"/>
              </a:rPr>
              <a:t>1.</a:t>
            </a:r>
            <a:r>
              <a:rPr lang="zh-CN" altLang="en-US" sz="2800" dirty="0"/>
              <a:t>硫酸铜（</a:t>
            </a:r>
            <a:r>
              <a:rPr lang="en-US" altLang="zh-CN" sz="2800" dirty="0"/>
              <a:t>Ⅱ</a:t>
            </a:r>
            <a:r>
              <a:rPr lang="zh-CN" altLang="en-US" sz="2800" dirty="0"/>
              <a:t>）是强酸弱碱盐，显酸性。</a:t>
            </a:r>
            <a:endParaRPr lang="en-US" altLang="zh-CN" sz="3000" dirty="0">
              <a:sym typeface="Wingdings" pitchFamily="2" charset="2"/>
            </a:endParaRPr>
          </a:p>
          <a:p>
            <a:pPr>
              <a:buNone/>
            </a:pPr>
            <a:r>
              <a:rPr lang="en-US" altLang="zh-CN" sz="3000" dirty="0">
                <a:sym typeface="Wingdings" pitchFamily="2" charset="2"/>
              </a:rPr>
              <a:t>CuSO</a:t>
            </a:r>
            <a:r>
              <a:rPr lang="en-US" altLang="zh-CN" sz="3000" baseline="-25000" dirty="0">
                <a:sym typeface="Wingdings" pitchFamily="2" charset="2"/>
              </a:rPr>
              <a:t>4</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+ 2H</a:t>
            </a:r>
            <a:r>
              <a:rPr lang="en-US" altLang="zh-CN" sz="3000" baseline="-25000" dirty="0">
                <a:sym typeface="Wingdings" pitchFamily="2" charset="2"/>
              </a:rPr>
              <a:t>2</a:t>
            </a:r>
            <a:r>
              <a:rPr lang="en-US" altLang="zh-CN" sz="3000" dirty="0">
                <a:sym typeface="Wingdings" pitchFamily="2" charset="2"/>
              </a:rPr>
              <a:t>O (l) &lt;--&gt; Cu(OH)</a:t>
            </a:r>
            <a:r>
              <a:rPr lang="en-US" altLang="zh-CN" sz="3000" baseline="-25000" dirty="0">
                <a:sym typeface="Wingdings" pitchFamily="2" charset="2"/>
              </a:rPr>
              <a:t>2</a:t>
            </a:r>
            <a:r>
              <a:rPr lang="en-US" altLang="zh-CN" sz="3000" dirty="0">
                <a:sym typeface="Wingdings" pitchFamily="2" charset="2"/>
              </a:rPr>
              <a:t> (s) + H</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 Cu</a:t>
            </a:r>
            <a:r>
              <a:rPr lang="en-US" altLang="zh-CN" sz="3000" baseline="30000" dirty="0">
                <a:sym typeface="Wingdings" pitchFamily="2" charset="2"/>
              </a:rPr>
              <a:t>2+</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+ 2H</a:t>
            </a:r>
            <a:r>
              <a:rPr lang="en-US" altLang="zh-CN" sz="3000" baseline="-25000" dirty="0">
                <a:sym typeface="Wingdings" pitchFamily="2" charset="2"/>
              </a:rPr>
              <a:t>2</a:t>
            </a:r>
            <a:r>
              <a:rPr lang="en-US" altLang="zh-CN" sz="3000" dirty="0">
                <a:sym typeface="Wingdings" pitchFamily="2" charset="2"/>
              </a:rPr>
              <a:t>O (l) &lt;--&gt; Cu(OH)</a:t>
            </a:r>
            <a:r>
              <a:rPr lang="en-US" altLang="zh-CN" sz="3000" baseline="-25000" dirty="0">
                <a:sym typeface="Wingdings" pitchFamily="2" charset="2"/>
              </a:rPr>
              <a:t>2</a:t>
            </a:r>
            <a:r>
              <a:rPr lang="en-US" altLang="zh-CN" sz="3000" dirty="0">
                <a:sym typeface="Wingdings" pitchFamily="2" charset="2"/>
              </a:rPr>
              <a:t> (s) + 2H</a:t>
            </a:r>
            <a:r>
              <a:rPr lang="en-US" altLang="zh-CN" sz="3000" baseline="30000" dirty="0">
                <a:sym typeface="Wingdings" pitchFamily="2" charset="2"/>
              </a:rPr>
              <a:t>+</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buNone/>
            </a:pPr>
            <a:r>
              <a:rPr lang="zh-CN" altLang="en-US" sz="2800" dirty="0"/>
              <a:t>氟化钠是强碱弱酸盐，显碱性。</a:t>
            </a:r>
            <a:endParaRPr lang="en-US" altLang="zh-CN" sz="3000" dirty="0">
              <a:sym typeface="Wingdings" pitchFamily="2" charset="2"/>
            </a:endParaRPr>
          </a:p>
          <a:p>
            <a:pPr>
              <a:buNone/>
            </a:pPr>
            <a:r>
              <a:rPr lang="en-US" altLang="zh-CN" sz="3000" dirty="0" err="1">
                <a:sym typeface="Wingdings" pitchFamily="2" charset="2"/>
              </a:rPr>
              <a:t>NaF</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O(l) &lt;--&gt; HF(</a:t>
            </a:r>
            <a:r>
              <a:rPr lang="en-US" altLang="zh-CN" sz="3000" dirty="0" err="1">
                <a:sym typeface="Wingdings" pitchFamily="2" charset="2"/>
              </a:rPr>
              <a:t>aq</a:t>
            </a:r>
            <a:r>
              <a:rPr lang="en-US" altLang="zh-CN" sz="3000" dirty="0">
                <a:sym typeface="Wingdings" pitchFamily="2" charset="2"/>
              </a:rPr>
              <a:t>) + </a:t>
            </a:r>
            <a:r>
              <a:rPr lang="en-US" altLang="zh-CN" sz="3000" dirty="0" err="1">
                <a:sym typeface="Wingdings" pitchFamily="2" charset="2"/>
              </a:rPr>
              <a:t>NaOH</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a:p>
            <a:pPr>
              <a:buNone/>
            </a:pPr>
            <a:r>
              <a:rPr lang="en-US" altLang="zh-CN" sz="3000" dirty="0">
                <a:sym typeface="Wingdings" pitchFamily="2" charset="2"/>
              </a:rPr>
              <a:t>F</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O(l) &lt;--&gt; HF(</a:t>
            </a:r>
            <a:r>
              <a:rPr lang="en-US" altLang="zh-CN" sz="3000" dirty="0" err="1">
                <a:sym typeface="Wingdings" pitchFamily="2" charset="2"/>
              </a:rPr>
              <a:t>aq</a:t>
            </a:r>
            <a:r>
              <a:rPr lang="en-US" altLang="zh-CN" sz="3000" dirty="0">
                <a:sym typeface="Wingdings" pitchFamily="2" charset="2"/>
              </a:rPr>
              <a:t>) + OH</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None/>
            </a:pPr>
            <a:r>
              <a:rPr lang="zh-CN" altLang="en-US" sz="3000" dirty="0">
                <a:sym typeface="Wingdings" pitchFamily="2" charset="2"/>
              </a:rPr>
              <a:t>问题解决</a:t>
            </a:r>
            <a:r>
              <a:rPr lang="en-US" altLang="zh-CN" sz="3000" dirty="0">
                <a:sym typeface="Wingdings" pitchFamily="2" charset="2"/>
              </a:rPr>
              <a:t>pg275</a:t>
            </a:r>
          </a:p>
          <a:p>
            <a:pPr>
              <a:buNone/>
            </a:pPr>
            <a:r>
              <a:rPr lang="en-US" altLang="zh-CN" sz="3000" dirty="0">
                <a:sym typeface="Wingdings" pitchFamily="2" charset="2"/>
              </a:rPr>
              <a:t>2.</a:t>
            </a:r>
            <a:r>
              <a:rPr lang="zh-CN" altLang="en-US" sz="2800" dirty="0"/>
              <a:t>溶液中存在水解平衡：</a:t>
            </a:r>
            <a:r>
              <a:rPr lang="en-US" altLang="zh-CN" sz="2800" dirty="0"/>
              <a:t> </a:t>
            </a:r>
          </a:p>
          <a:p>
            <a:pPr>
              <a:buNone/>
            </a:pPr>
            <a:r>
              <a:rPr lang="en-US" altLang="zh-CN" sz="2800" dirty="0"/>
              <a:t>		HCO</a:t>
            </a:r>
            <a:r>
              <a:rPr lang="en-US" altLang="zh-CN" sz="2800" baseline="-25000" dirty="0"/>
              <a:t>3</a:t>
            </a:r>
            <a:r>
              <a:rPr lang="en-US" altLang="zh-CN" sz="2800" baseline="30000" dirty="0"/>
              <a:t>-  </a:t>
            </a:r>
            <a:r>
              <a:rPr lang="en-US" altLang="zh-CN" sz="2800" dirty="0"/>
              <a:t>(</a:t>
            </a:r>
            <a:r>
              <a:rPr lang="en-US" altLang="zh-CN" sz="2800" dirty="0" err="1"/>
              <a:t>aq</a:t>
            </a:r>
            <a:r>
              <a:rPr lang="en-US" altLang="zh-CN" sz="2800" dirty="0"/>
              <a:t>) + </a:t>
            </a:r>
            <a:r>
              <a:rPr lang="en-US" sz="2800" dirty="0"/>
              <a:t>H</a:t>
            </a:r>
            <a:r>
              <a:rPr lang="en-US" sz="2800" baseline="-25000" dirty="0"/>
              <a:t>2</a:t>
            </a:r>
            <a:r>
              <a:rPr lang="en-US" sz="2800" dirty="0"/>
              <a:t>O(l) &lt;--&gt;</a:t>
            </a:r>
            <a:r>
              <a:rPr lang="en-US" altLang="zh-CN" sz="2800" dirty="0"/>
              <a:t> H</a:t>
            </a:r>
            <a:r>
              <a:rPr lang="en-US" altLang="zh-CN" sz="2800" baseline="-25000" dirty="0"/>
              <a:t>2</a:t>
            </a:r>
            <a:r>
              <a:rPr lang="en-US" altLang="zh-CN" sz="2800" dirty="0"/>
              <a:t>CO</a:t>
            </a:r>
            <a:r>
              <a:rPr lang="en-US" altLang="zh-CN" sz="2800" baseline="-25000" dirty="0"/>
              <a:t>3 </a:t>
            </a:r>
            <a:r>
              <a:rPr lang="en-US" altLang="zh-CN" sz="2800" dirty="0"/>
              <a:t>(</a:t>
            </a:r>
            <a:r>
              <a:rPr lang="en-US" sz="2800" dirty="0" err="1"/>
              <a:t>aq</a:t>
            </a:r>
            <a:r>
              <a:rPr lang="en-US" sz="2800" dirty="0"/>
              <a:t>) + OH</a:t>
            </a:r>
            <a:r>
              <a:rPr lang="en-US" sz="2800" baseline="30000" dirty="0"/>
              <a:t>-</a:t>
            </a:r>
            <a:r>
              <a:rPr lang="en-US" sz="2800" dirty="0"/>
              <a:t> (</a:t>
            </a:r>
            <a:r>
              <a:rPr lang="en-US" sz="2800" dirty="0" err="1"/>
              <a:t>aq</a:t>
            </a:r>
            <a:r>
              <a:rPr lang="en-US" sz="2800" dirty="0"/>
              <a:t>)</a:t>
            </a:r>
          </a:p>
          <a:p>
            <a:pPr>
              <a:buNone/>
            </a:pPr>
            <a:r>
              <a:rPr lang="en-US" sz="2800" dirty="0"/>
              <a:t> </a:t>
            </a:r>
            <a:r>
              <a:rPr lang="zh-CN" altLang="en-US" sz="2800" dirty="0"/>
              <a:t>电离平衡：</a:t>
            </a:r>
            <a:r>
              <a:rPr lang="en-US" altLang="zh-CN" sz="2800" dirty="0"/>
              <a:t>HCO</a:t>
            </a:r>
            <a:r>
              <a:rPr lang="en-US" altLang="zh-CN" sz="2800" baseline="-25000" dirty="0"/>
              <a:t>3</a:t>
            </a:r>
            <a:r>
              <a:rPr lang="en-US" altLang="zh-CN" sz="2800" baseline="30000" dirty="0"/>
              <a:t>-  </a:t>
            </a:r>
            <a:r>
              <a:rPr lang="en-US" altLang="zh-CN" sz="2800" dirty="0"/>
              <a:t>(</a:t>
            </a:r>
            <a:r>
              <a:rPr lang="en-US" altLang="zh-CN" sz="2800" dirty="0" err="1"/>
              <a:t>aq</a:t>
            </a:r>
            <a:r>
              <a:rPr lang="en-US" altLang="zh-CN" sz="2800" dirty="0"/>
              <a:t>) </a:t>
            </a:r>
            <a:r>
              <a:rPr lang="en-US" sz="2800" dirty="0"/>
              <a:t>&lt;--&gt; H</a:t>
            </a:r>
            <a:r>
              <a:rPr lang="en-US" sz="2800" baseline="30000" dirty="0"/>
              <a:t>+</a:t>
            </a:r>
            <a:r>
              <a:rPr lang="en-US" sz="2800" dirty="0"/>
              <a:t> (</a:t>
            </a:r>
            <a:r>
              <a:rPr lang="en-US" sz="2800" dirty="0" err="1"/>
              <a:t>aq</a:t>
            </a:r>
            <a:r>
              <a:rPr lang="en-US" sz="2800" dirty="0"/>
              <a:t>) + </a:t>
            </a:r>
            <a:r>
              <a:rPr lang="en-US" altLang="zh-CN" sz="2800" dirty="0"/>
              <a:t>CO</a:t>
            </a:r>
            <a:r>
              <a:rPr lang="en-US" altLang="zh-CN" sz="2800" baseline="-25000" dirty="0"/>
              <a:t>3</a:t>
            </a:r>
            <a:r>
              <a:rPr lang="en-US" altLang="zh-CN" sz="2800" baseline="30000" dirty="0"/>
              <a:t>2-</a:t>
            </a:r>
            <a:r>
              <a:rPr lang="en-US" altLang="zh-CN" sz="2800" dirty="0"/>
              <a:t> (</a:t>
            </a:r>
            <a:r>
              <a:rPr lang="en-US" altLang="zh-CN" sz="2800" dirty="0" err="1"/>
              <a:t>aq</a:t>
            </a:r>
            <a:r>
              <a:rPr lang="en-US" altLang="zh-CN" sz="2800" dirty="0"/>
              <a:t>)</a:t>
            </a:r>
          </a:p>
          <a:p>
            <a:pPr>
              <a:buNone/>
            </a:pPr>
            <a:r>
              <a:rPr lang="zh-CN" altLang="en-US" sz="2800" dirty="0"/>
              <a:t>溶液显碱性，因为</a:t>
            </a:r>
            <a:r>
              <a:rPr lang="en-US" altLang="zh-CN" sz="2800" dirty="0"/>
              <a:t>HCO</a:t>
            </a:r>
            <a:r>
              <a:rPr lang="en-US" altLang="zh-CN" sz="2800" baseline="-25000" dirty="0"/>
              <a:t>3</a:t>
            </a:r>
            <a:r>
              <a:rPr lang="en-US" altLang="zh-CN" sz="2800" baseline="30000" dirty="0"/>
              <a:t>-</a:t>
            </a:r>
            <a:r>
              <a:rPr lang="zh-CN" altLang="en-US" sz="2800" dirty="0"/>
              <a:t>的水解程度大于电离程度。</a:t>
            </a:r>
            <a:endParaRPr lang="en-US" altLang="zh-CN" sz="3000" dirty="0">
              <a:sym typeface="Wingdings" pitchFamily="2" charset="2"/>
            </a:endParaRPr>
          </a:p>
          <a:p>
            <a:pPr>
              <a:buNone/>
            </a:pPr>
            <a:r>
              <a:rPr lang="zh-CN" altLang="en-US" sz="2800" dirty="0">
                <a:solidFill>
                  <a:srgbClr val="002060"/>
                </a:solidFill>
              </a:rPr>
              <a:t>补充：</a:t>
            </a:r>
            <a:endParaRPr lang="en-US" altLang="zh-CN" sz="2800" dirty="0">
              <a:solidFill>
                <a:srgbClr val="002060"/>
              </a:solidFill>
            </a:endParaRPr>
          </a:p>
          <a:p>
            <a:pPr>
              <a:buNone/>
            </a:pPr>
            <a:r>
              <a:rPr lang="zh-CN" altLang="en-US" sz="2800" dirty="0">
                <a:solidFill>
                  <a:srgbClr val="002060"/>
                </a:solidFill>
              </a:rPr>
              <a:t>酸式盐在水溶液中既能电离也能水解。其水溶液的酸碱性取决于电离和水解的相对强弱。</a:t>
            </a:r>
            <a:endParaRPr lang="en-US" altLang="zh-CN" sz="2800" dirty="0">
              <a:solidFill>
                <a:srgbClr val="002060"/>
              </a:solidFill>
            </a:endParaRPr>
          </a:p>
          <a:p>
            <a:pPr>
              <a:buNone/>
            </a:pPr>
            <a:r>
              <a:rPr lang="zh-CN" altLang="en-US" sz="2800" dirty="0">
                <a:solidFill>
                  <a:srgbClr val="002060"/>
                </a:solidFill>
              </a:rPr>
              <a:t>例如，</a:t>
            </a:r>
            <a:r>
              <a:rPr lang="en-US" sz="2800" dirty="0">
                <a:solidFill>
                  <a:srgbClr val="002060"/>
                </a:solidFill>
              </a:rPr>
              <a:t>NaH</a:t>
            </a:r>
            <a:r>
              <a:rPr lang="en-US" altLang="zh-CN" sz="2800" baseline="-25000" dirty="0">
                <a:solidFill>
                  <a:srgbClr val="002060"/>
                </a:solidFill>
              </a:rPr>
              <a:t>2</a:t>
            </a:r>
            <a:r>
              <a:rPr lang="en-US" sz="2800" dirty="0">
                <a:solidFill>
                  <a:srgbClr val="002060"/>
                </a:solidFill>
              </a:rPr>
              <a:t>PO</a:t>
            </a:r>
            <a:r>
              <a:rPr lang="en-US" altLang="zh-CN" sz="2800" baseline="-25000" dirty="0">
                <a:solidFill>
                  <a:srgbClr val="002060"/>
                </a:solidFill>
              </a:rPr>
              <a:t>4</a:t>
            </a:r>
            <a:r>
              <a:rPr lang="zh-CN" altLang="en-US" sz="2800" dirty="0">
                <a:solidFill>
                  <a:srgbClr val="002060"/>
                </a:solidFill>
              </a:rPr>
              <a:t>的水溶液中，</a:t>
            </a:r>
            <a:r>
              <a:rPr lang="en-US" sz="2800" dirty="0">
                <a:solidFill>
                  <a:srgbClr val="002060"/>
                </a:solidFill>
              </a:rPr>
              <a:t>H</a:t>
            </a:r>
            <a:r>
              <a:rPr lang="en-US" altLang="zh-CN" sz="2800" baseline="-25000" dirty="0">
                <a:solidFill>
                  <a:srgbClr val="002060"/>
                </a:solidFill>
              </a:rPr>
              <a:t>2</a:t>
            </a:r>
            <a:r>
              <a:rPr lang="en-US" sz="2800" dirty="0">
                <a:solidFill>
                  <a:srgbClr val="002060"/>
                </a:solidFill>
              </a:rPr>
              <a:t>PO</a:t>
            </a:r>
            <a:r>
              <a:rPr lang="en-US" altLang="zh-CN" sz="2800" baseline="-25000" dirty="0">
                <a:solidFill>
                  <a:srgbClr val="002060"/>
                </a:solidFill>
              </a:rPr>
              <a:t>4</a:t>
            </a:r>
            <a:r>
              <a:rPr lang="en-US" altLang="zh-CN" sz="2800" baseline="30000" dirty="0">
                <a:solidFill>
                  <a:srgbClr val="002060"/>
                </a:solidFill>
              </a:rPr>
              <a:t>-</a:t>
            </a:r>
            <a:r>
              <a:rPr lang="zh-CN" altLang="en-US" sz="2800" dirty="0">
                <a:solidFill>
                  <a:srgbClr val="002060"/>
                </a:solidFill>
              </a:rPr>
              <a:t>电离的常数为</a:t>
            </a:r>
            <a:r>
              <a:rPr lang="en-US" altLang="zh-CN" sz="2800" dirty="0">
                <a:solidFill>
                  <a:srgbClr val="002060"/>
                </a:solidFill>
              </a:rPr>
              <a:t>6.23x10</a:t>
            </a:r>
            <a:r>
              <a:rPr lang="en-US" altLang="zh-CN" sz="2800" baseline="30000" dirty="0">
                <a:solidFill>
                  <a:srgbClr val="002060"/>
                </a:solidFill>
              </a:rPr>
              <a:t>-8</a:t>
            </a:r>
            <a:r>
              <a:rPr lang="zh-CN" altLang="en-US" sz="2800" dirty="0">
                <a:solidFill>
                  <a:srgbClr val="002060"/>
                </a:solidFill>
              </a:rPr>
              <a:t>，而</a:t>
            </a:r>
            <a:r>
              <a:rPr lang="en-US" sz="2800" dirty="0">
                <a:solidFill>
                  <a:srgbClr val="002060"/>
                </a:solidFill>
              </a:rPr>
              <a:t>H</a:t>
            </a:r>
            <a:r>
              <a:rPr lang="en-US" altLang="zh-CN" sz="2800" baseline="-25000" dirty="0">
                <a:solidFill>
                  <a:srgbClr val="002060"/>
                </a:solidFill>
              </a:rPr>
              <a:t>2</a:t>
            </a:r>
            <a:r>
              <a:rPr lang="en-US" sz="2800" dirty="0">
                <a:solidFill>
                  <a:srgbClr val="002060"/>
                </a:solidFill>
              </a:rPr>
              <a:t>PO</a:t>
            </a:r>
            <a:r>
              <a:rPr lang="en-US" altLang="zh-CN" sz="2800" baseline="-25000" dirty="0">
                <a:solidFill>
                  <a:srgbClr val="002060"/>
                </a:solidFill>
              </a:rPr>
              <a:t>4</a:t>
            </a:r>
            <a:r>
              <a:rPr lang="en-US" altLang="zh-CN" sz="2800" baseline="30000" dirty="0">
                <a:solidFill>
                  <a:srgbClr val="002060"/>
                </a:solidFill>
              </a:rPr>
              <a:t>- </a:t>
            </a:r>
            <a:r>
              <a:rPr lang="zh-CN" altLang="en-US" sz="2800" dirty="0">
                <a:solidFill>
                  <a:srgbClr val="002060"/>
                </a:solidFill>
              </a:rPr>
              <a:t>水解的常数为</a:t>
            </a:r>
            <a:r>
              <a:rPr lang="en-US" altLang="zh-CN" sz="2800" dirty="0">
                <a:solidFill>
                  <a:srgbClr val="002060"/>
                </a:solidFill>
              </a:rPr>
              <a:t>3x10</a:t>
            </a:r>
            <a:r>
              <a:rPr lang="en-US" altLang="zh-CN" sz="2800" baseline="30000" dirty="0">
                <a:solidFill>
                  <a:srgbClr val="002060"/>
                </a:solidFill>
              </a:rPr>
              <a:t>-12</a:t>
            </a:r>
            <a:r>
              <a:rPr lang="zh-CN" altLang="en-US" sz="2800" dirty="0">
                <a:solidFill>
                  <a:srgbClr val="002060"/>
                </a:solidFill>
              </a:rPr>
              <a:t>，</a:t>
            </a:r>
            <a:endParaRPr lang="en-US" altLang="zh-CN" sz="2800" dirty="0">
              <a:solidFill>
                <a:srgbClr val="002060"/>
              </a:solidFill>
            </a:endParaRPr>
          </a:p>
          <a:p>
            <a:pPr>
              <a:buNone/>
            </a:pPr>
            <a:r>
              <a:rPr lang="zh-CN" altLang="en-US" sz="2800" dirty="0">
                <a:solidFill>
                  <a:srgbClr val="002060"/>
                </a:solidFill>
              </a:rPr>
              <a:t>因此</a:t>
            </a:r>
            <a:r>
              <a:rPr lang="en-US" sz="2800" dirty="0">
                <a:solidFill>
                  <a:srgbClr val="002060"/>
                </a:solidFill>
              </a:rPr>
              <a:t>H</a:t>
            </a:r>
            <a:r>
              <a:rPr lang="en-US" altLang="zh-CN" sz="2800" baseline="-25000" dirty="0">
                <a:solidFill>
                  <a:srgbClr val="002060"/>
                </a:solidFill>
              </a:rPr>
              <a:t>2</a:t>
            </a:r>
            <a:r>
              <a:rPr lang="en-US" sz="2800" dirty="0">
                <a:solidFill>
                  <a:srgbClr val="002060"/>
                </a:solidFill>
              </a:rPr>
              <a:t>PO</a:t>
            </a:r>
            <a:r>
              <a:rPr lang="en-US" altLang="zh-CN" sz="2800" baseline="-25000" dirty="0">
                <a:solidFill>
                  <a:srgbClr val="002060"/>
                </a:solidFill>
              </a:rPr>
              <a:t>4</a:t>
            </a:r>
            <a:r>
              <a:rPr lang="en-US" altLang="zh-CN" sz="2800" baseline="30000" dirty="0">
                <a:solidFill>
                  <a:srgbClr val="002060"/>
                </a:solidFill>
              </a:rPr>
              <a:t>-</a:t>
            </a:r>
            <a:r>
              <a:rPr lang="zh-CN" altLang="en-US" sz="2800" dirty="0">
                <a:solidFill>
                  <a:srgbClr val="002060"/>
                </a:solidFill>
              </a:rPr>
              <a:t>以电离为主，溶液显酸性。</a:t>
            </a:r>
            <a:r>
              <a:rPr lang="en-US" altLang="zh-CN" sz="3000" dirty="0">
                <a:solidFill>
                  <a:srgbClr val="002060"/>
                </a:solidFill>
                <a:sym typeface="Wingdings" pitchFamily="2" charset="2"/>
              </a:rPr>
              <a:t>  </a:t>
            </a:r>
          </a:p>
          <a:p>
            <a:pPr>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盐类的水解</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None/>
            </a:pPr>
            <a:r>
              <a:rPr lang="zh-CN" altLang="en-US" sz="3000" dirty="0">
                <a:sym typeface="Wingdings" pitchFamily="2" charset="2"/>
              </a:rPr>
              <a:t>问题解决</a:t>
            </a:r>
            <a:r>
              <a:rPr lang="en-US" altLang="zh-CN" sz="3000" dirty="0">
                <a:sym typeface="Wingdings" pitchFamily="2" charset="2"/>
              </a:rPr>
              <a:t>pg275</a:t>
            </a:r>
          </a:p>
          <a:p>
            <a:pPr>
              <a:buNone/>
            </a:pPr>
            <a:r>
              <a:rPr lang="en-US" altLang="zh-CN" sz="3000" dirty="0">
                <a:sym typeface="Wingdings" pitchFamily="2" charset="2"/>
              </a:rPr>
              <a:t>3. </a:t>
            </a:r>
          </a:p>
        </p:txBody>
      </p:sp>
      <p:graphicFrame>
        <p:nvGraphicFramePr>
          <p:cNvPr id="5" name="Table 4"/>
          <p:cNvGraphicFramePr>
            <a:graphicFrameLocks noGrp="1"/>
          </p:cNvGraphicFramePr>
          <p:nvPr/>
        </p:nvGraphicFramePr>
        <p:xfrm>
          <a:off x="1066800" y="1630680"/>
          <a:ext cx="7772401" cy="3947160"/>
        </p:xfrm>
        <a:graphic>
          <a:graphicData uri="http://schemas.openxmlformats.org/drawingml/2006/table">
            <a:tbl>
              <a:tblPr firstRow="1" bandRow="1">
                <a:tableStyleId>{5C22544A-7EE6-4342-B048-85BDC9FD1C3A}</a:tableStyleId>
              </a:tblPr>
              <a:tblGrid>
                <a:gridCol w="2397667">
                  <a:extLst>
                    <a:ext uri="{9D8B030D-6E8A-4147-A177-3AD203B41FA5}">
                      <a16:colId xmlns:a16="http://schemas.microsoft.com/office/drawing/2014/main" val="20000"/>
                    </a:ext>
                  </a:extLst>
                </a:gridCol>
                <a:gridCol w="2855635">
                  <a:extLst>
                    <a:ext uri="{9D8B030D-6E8A-4147-A177-3AD203B41FA5}">
                      <a16:colId xmlns:a16="http://schemas.microsoft.com/office/drawing/2014/main" val="20001"/>
                    </a:ext>
                  </a:extLst>
                </a:gridCol>
                <a:gridCol w="2519099">
                  <a:extLst>
                    <a:ext uri="{9D8B030D-6E8A-4147-A177-3AD203B41FA5}">
                      <a16:colId xmlns:a16="http://schemas.microsoft.com/office/drawing/2014/main" val="20002"/>
                    </a:ext>
                  </a:extLst>
                </a:gridCol>
              </a:tblGrid>
              <a:tr h="486150">
                <a:tc>
                  <a:txBody>
                    <a:bodyPr/>
                    <a:lstStyle/>
                    <a:p>
                      <a:r>
                        <a:rPr lang="zh-CN" altLang="en-US" sz="2800" dirty="0"/>
                        <a:t>盐的种类</a:t>
                      </a:r>
                      <a:endParaRPr lang="en-US" sz="2800" dirty="0"/>
                    </a:p>
                  </a:txBody>
                  <a:tcPr/>
                </a:tc>
                <a:tc>
                  <a:txBody>
                    <a:bodyPr/>
                    <a:lstStyle/>
                    <a:p>
                      <a:r>
                        <a:rPr lang="zh-CN" altLang="en-US" sz="2800" dirty="0"/>
                        <a:t>发生水解的离子</a:t>
                      </a:r>
                      <a:endParaRPr lang="en-US" sz="2800" dirty="0"/>
                    </a:p>
                  </a:txBody>
                  <a:tcPr/>
                </a:tc>
                <a:tc>
                  <a:txBody>
                    <a:bodyPr/>
                    <a:lstStyle/>
                    <a:p>
                      <a:r>
                        <a:rPr lang="zh-CN" altLang="en-US" sz="2800" dirty="0"/>
                        <a:t>溶液</a:t>
                      </a:r>
                      <a:r>
                        <a:rPr lang="en-US" altLang="zh-CN" sz="2800" dirty="0"/>
                        <a:t>pH</a:t>
                      </a:r>
                      <a:r>
                        <a:rPr lang="zh-CN" altLang="en-US" sz="2800" dirty="0"/>
                        <a:t>值</a:t>
                      </a:r>
                      <a:endParaRPr lang="en-US" sz="2800" dirty="0"/>
                    </a:p>
                  </a:txBody>
                  <a:tcPr/>
                </a:tc>
                <a:extLst>
                  <a:ext uri="{0D108BD9-81ED-4DB2-BD59-A6C34878D82A}">
                    <a16:rowId xmlns:a16="http://schemas.microsoft.com/office/drawing/2014/main" val="10000"/>
                  </a:ext>
                </a:extLst>
              </a:tr>
              <a:tr h="486150">
                <a:tc>
                  <a:txBody>
                    <a:bodyPr/>
                    <a:lstStyle/>
                    <a:p>
                      <a:r>
                        <a:rPr lang="zh-CN" altLang="en-US" sz="2800" dirty="0"/>
                        <a:t>强酸强碱盐</a:t>
                      </a:r>
                      <a:endParaRPr lang="en-US" sz="2800" dirty="0"/>
                    </a:p>
                  </a:txBody>
                  <a:tcPr/>
                </a:tc>
                <a:tc>
                  <a:txBody>
                    <a:bodyPr/>
                    <a:lstStyle/>
                    <a:p>
                      <a:r>
                        <a:rPr lang="zh-CN" altLang="en-US" sz="2800" dirty="0"/>
                        <a:t>无</a:t>
                      </a:r>
                      <a:endParaRPr lang="en-US" sz="2800" dirty="0"/>
                    </a:p>
                  </a:txBody>
                  <a:tcPr/>
                </a:tc>
                <a:tc>
                  <a:txBody>
                    <a:bodyPr/>
                    <a:lstStyle/>
                    <a:p>
                      <a:r>
                        <a:rPr lang="en-US" altLang="zh-CN" sz="2800" dirty="0"/>
                        <a:t>pH=7</a:t>
                      </a:r>
                      <a:endParaRPr lang="en-US" sz="2800" dirty="0"/>
                    </a:p>
                  </a:txBody>
                  <a:tcPr/>
                </a:tc>
                <a:extLst>
                  <a:ext uri="{0D108BD9-81ED-4DB2-BD59-A6C34878D82A}">
                    <a16:rowId xmlns:a16="http://schemas.microsoft.com/office/drawing/2014/main" val="10001"/>
                  </a:ext>
                </a:extLst>
              </a:tr>
              <a:tr h="4861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强酸弱碱盐</a:t>
                      </a:r>
                      <a:endParaRPr lang="en-US" sz="2800" dirty="0"/>
                    </a:p>
                  </a:txBody>
                  <a:tcPr/>
                </a:tc>
                <a:tc>
                  <a:txBody>
                    <a:bodyPr/>
                    <a:lstStyle/>
                    <a:p>
                      <a:r>
                        <a:rPr lang="zh-CN" altLang="en-US" sz="2800" dirty="0"/>
                        <a:t>阳离子</a:t>
                      </a:r>
                      <a:endParaRPr lang="en-US" sz="2800" dirty="0"/>
                    </a:p>
                  </a:txBody>
                  <a:tcPr/>
                </a:tc>
                <a:tc>
                  <a:txBody>
                    <a:bodyPr/>
                    <a:lstStyle/>
                    <a:p>
                      <a:r>
                        <a:rPr lang="en-US" altLang="zh-CN" sz="2800" dirty="0"/>
                        <a:t>pH</a:t>
                      </a:r>
                      <a:r>
                        <a:rPr lang="en-US" sz="2800" dirty="0"/>
                        <a:t>&lt;7</a:t>
                      </a:r>
                    </a:p>
                  </a:txBody>
                  <a:tcPr/>
                </a:tc>
                <a:extLst>
                  <a:ext uri="{0D108BD9-81ED-4DB2-BD59-A6C34878D82A}">
                    <a16:rowId xmlns:a16="http://schemas.microsoft.com/office/drawing/2014/main" val="10002"/>
                  </a:ext>
                </a:extLst>
              </a:tr>
              <a:tr h="4861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弱酸强碱盐</a:t>
                      </a:r>
                      <a:endParaRPr lang="en-US" sz="2800" dirty="0"/>
                    </a:p>
                  </a:txBody>
                  <a:tcPr/>
                </a:tc>
                <a:tc>
                  <a:txBody>
                    <a:bodyPr/>
                    <a:lstStyle/>
                    <a:p>
                      <a:r>
                        <a:rPr lang="zh-CN" altLang="en-US" sz="2800" dirty="0"/>
                        <a:t>阴离子</a:t>
                      </a:r>
                      <a:endParaRPr lang="en-US" sz="2800" dirty="0"/>
                    </a:p>
                  </a:txBody>
                  <a:tcPr/>
                </a:tc>
                <a:tc>
                  <a:txBody>
                    <a:bodyPr/>
                    <a:lstStyle/>
                    <a:p>
                      <a:r>
                        <a:rPr lang="en-US" altLang="zh-CN" sz="2800" dirty="0"/>
                        <a:t>pH</a:t>
                      </a:r>
                      <a:r>
                        <a:rPr lang="en-US" sz="2800" dirty="0"/>
                        <a:t>&gt;7</a:t>
                      </a:r>
                    </a:p>
                  </a:txBody>
                  <a:tcPr/>
                </a:tc>
                <a:extLst>
                  <a:ext uri="{0D108BD9-81ED-4DB2-BD59-A6C34878D82A}">
                    <a16:rowId xmlns:a16="http://schemas.microsoft.com/office/drawing/2014/main" val="10003"/>
                  </a:ext>
                </a:extLst>
              </a:tr>
              <a:tr h="17587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弱酸弱碱盐</a:t>
                      </a:r>
                      <a:endParaRPr lang="en-US" sz="2800" dirty="0"/>
                    </a:p>
                  </a:txBody>
                  <a:tcPr/>
                </a:tc>
                <a:tc>
                  <a:txBody>
                    <a:bodyPr/>
                    <a:lstStyle/>
                    <a:p>
                      <a:r>
                        <a:rPr lang="zh-CN" altLang="en-US" sz="2800" dirty="0"/>
                        <a:t>阴、阳离子</a:t>
                      </a:r>
                      <a:endParaRPr lang="en-US" sz="2800" dirty="0"/>
                    </a:p>
                  </a:txBody>
                  <a:tcPr/>
                </a:tc>
                <a:tc>
                  <a:txBody>
                    <a:bodyPr/>
                    <a:lstStyle/>
                    <a:p>
                      <a:pPr>
                        <a:spcBef>
                          <a:spcPts val="0"/>
                        </a:spcBef>
                        <a:spcAft>
                          <a:spcPts val="600"/>
                        </a:spcAft>
                        <a:buNone/>
                      </a:pPr>
                      <a:r>
                        <a:rPr lang="en-US" altLang="zh-CN" sz="2800" dirty="0">
                          <a:sym typeface="Wingdings" pitchFamily="2" charset="2"/>
                        </a:rPr>
                        <a:t>K</a:t>
                      </a:r>
                      <a:r>
                        <a:rPr lang="en-US" altLang="zh-CN" sz="2800" baseline="-25000" dirty="0">
                          <a:sym typeface="Wingdings" pitchFamily="2" charset="2"/>
                        </a:rPr>
                        <a:t>a</a:t>
                      </a:r>
                      <a:r>
                        <a:rPr lang="en-US" altLang="zh-CN" sz="2800" dirty="0">
                          <a:sym typeface="Wingdings" pitchFamily="2" charset="2"/>
                        </a:rPr>
                        <a:t> &gt;  K</a:t>
                      </a:r>
                      <a:r>
                        <a:rPr lang="en-US" altLang="zh-CN" sz="2800" baseline="-25000" dirty="0">
                          <a:sym typeface="Wingdings" pitchFamily="2" charset="2"/>
                        </a:rPr>
                        <a:t>b</a:t>
                      </a:r>
                      <a:r>
                        <a:rPr lang="en-US" altLang="zh-CN" sz="2800" dirty="0">
                          <a:sym typeface="Wingdings" pitchFamily="2" charset="2"/>
                        </a:rPr>
                        <a:t> </a:t>
                      </a:r>
                      <a:r>
                        <a:rPr lang="zh-CN" altLang="en-US" sz="2800" dirty="0">
                          <a:sym typeface="Wingdings" pitchFamily="2" charset="2"/>
                        </a:rPr>
                        <a:t>，</a:t>
                      </a:r>
                      <a:r>
                        <a:rPr lang="en-US" altLang="zh-CN" sz="2800" dirty="0">
                          <a:sym typeface="Wingdings" pitchFamily="2" charset="2"/>
                        </a:rPr>
                        <a:t>pH&lt;7</a:t>
                      </a:r>
                    </a:p>
                    <a:p>
                      <a:pPr>
                        <a:spcBef>
                          <a:spcPts val="0"/>
                        </a:spcBef>
                        <a:buNone/>
                      </a:pPr>
                      <a:r>
                        <a:rPr lang="en-US" altLang="zh-CN" sz="2800" dirty="0">
                          <a:sym typeface="Wingdings" pitchFamily="2" charset="2"/>
                        </a:rPr>
                        <a:t>K</a:t>
                      </a:r>
                      <a:r>
                        <a:rPr lang="en-US" altLang="zh-CN" sz="2800" baseline="-25000" dirty="0">
                          <a:sym typeface="Wingdings" pitchFamily="2" charset="2"/>
                        </a:rPr>
                        <a:t>a</a:t>
                      </a:r>
                      <a:r>
                        <a:rPr lang="en-US" altLang="zh-CN" sz="2800" dirty="0">
                          <a:sym typeface="Wingdings" pitchFamily="2" charset="2"/>
                        </a:rPr>
                        <a:t> =  K</a:t>
                      </a:r>
                      <a:r>
                        <a:rPr lang="en-US" altLang="zh-CN" sz="2800" baseline="-25000" dirty="0">
                          <a:sym typeface="Wingdings" pitchFamily="2" charset="2"/>
                        </a:rPr>
                        <a:t>b</a:t>
                      </a:r>
                      <a:r>
                        <a:rPr lang="en-US" altLang="zh-CN" sz="2800" dirty="0">
                          <a:sym typeface="Wingdings" pitchFamily="2" charset="2"/>
                        </a:rPr>
                        <a:t> </a:t>
                      </a:r>
                      <a:r>
                        <a:rPr lang="zh-CN" altLang="en-US" sz="2800" dirty="0">
                          <a:sym typeface="Wingdings" pitchFamily="2" charset="2"/>
                        </a:rPr>
                        <a:t>，</a:t>
                      </a:r>
                      <a:r>
                        <a:rPr lang="en-US" altLang="zh-CN" sz="2800" dirty="0">
                          <a:sym typeface="Wingdings" pitchFamily="2" charset="2"/>
                        </a:rPr>
                        <a:t>pH=7</a:t>
                      </a:r>
                    </a:p>
                    <a:p>
                      <a:pPr>
                        <a:spcBef>
                          <a:spcPts val="0"/>
                        </a:spcBef>
                        <a:buNone/>
                      </a:pPr>
                      <a:r>
                        <a:rPr lang="en-US" altLang="zh-CN" sz="2800" dirty="0">
                          <a:sym typeface="Wingdings" pitchFamily="2" charset="2"/>
                        </a:rPr>
                        <a:t>K</a:t>
                      </a:r>
                      <a:r>
                        <a:rPr lang="en-US" altLang="zh-CN" sz="2800" baseline="-25000" dirty="0">
                          <a:sym typeface="Wingdings" pitchFamily="2" charset="2"/>
                        </a:rPr>
                        <a:t>a</a:t>
                      </a:r>
                      <a:r>
                        <a:rPr lang="en-US" altLang="zh-CN" sz="2800" dirty="0">
                          <a:sym typeface="Wingdings" pitchFamily="2" charset="2"/>
                        </a:rPr>
                        <a:t> &lt;  K</a:t>
                      </a:r>
                      <a:r>
                        <a:rPr lang="en-US" altLang="zh-CN" sz="2800" baseline="-25000" dirty="0">
                          <a:sym typeface="Wingdings" pitchFamily="2" charset="2"/>
                        </a:rPr>
                        <a:t>b</a:t>
                      </a:r>
                      <a:r>
                        <a:rPr lang="en-US" altLang="zh-CN" sz="2800" dirty="0">
                          <a:sym typeface="Wingdings" pitchFamily="2" charset="2"/>
                        </a:rPr>
                        <a:t> </a:t>
                      </a:r>
                      <a:r>
                        <a:rPr lang="zh-CN" altLang="en-US" sz="2800" dirty="0">
                          <a:sym typeface="Wingdings" pitchFamily="2" charset="2"/>
                        </a:rPr>
                        <a:t>，</a:t>
                      </a:r>
                      <a:r>
                        <a:rPr lang="en-US" altLang="zh-CN" sz="2800" dirty="0">
                          <a:sym typeface="Wingdings" pitchFamily="2" charset="2"/>
                        </a:rPr>
                        <a:t>pH&gt;7</a:t>
                      </a:r>
                    </a:p>
                    <a:p>
                      <a:endParaRPr lang="en-US" sz="28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23.5.4</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影响盐类水解的因素</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382000" cy="5486400"/>
          </a:xfrm>
        </p:spPr>
        <p:txBody>
          <a:bodyPr>
            <a:noAutofit/>
          </a:bodyPr>
          <a:lstStyle/>
          <a:p>
            <a:pPr>
              <a:buNone/>
            </a:pPr>
            <a:r>
              <a:rPr lang="en-US" altLang="zh-CN" sz="3000" dirty="0">
                <a:sym typeface="Wingdings" pitchFamily="2" charset="2"/>
              </a:rPr>
              <a:t>1. </a:t>
            </a:r>
            <a:r>
              <a:rPr lang="zh-CN" altLang="en-US" sz="3000" dirty="0">
                <a:sym typeface="Wingdings" pitchFamily="2" charset="2"/>
              </a:rPr>
              <a:t>浓度</a:t>
            </a: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盐溶液浓度越小，水解程度越大</a:t>
            </a:r>
            <a:endParaRPr lang="en-US" altLang="zh-CN" sz="3000" dirty="0">
              <a:sym typeface="Wingdings" pitchFamily="2" charset="2"/>
            </a:endParaRPr>
          </a:p>
          <a:p>
            <a:pPr>
              <a:buNone/>
            </a:pPr>
            <a:r>
              <a:rPr lang="en-US" altLang="zh-CN" sz="3000" dirty="0">
                <a:sym typeface="Wingdings" pitchFamily="2" charset="2"/>
              </a:rPr>
              <a:t>2. </a:t>
            </a:r>
            <a:r>
              <a:rPr lang="zh-CN" altLang="en-US" sz="3000" dirty="0">
                <a:sym typeface="Wingdings" pitchFamily="2" charset="2"/>
              </a:rPr>
              <a:t>温度</a:t>
            </a: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水解是一个吸热过程，温度高，水解程度越大</a:t>
            </a:r>
            <a:endParaRPr lang="en-US" altLang="zh-CN" sz="3000" dirty="0">
              <a:sym typeface="Wingdings" pitchFamily="2" charset="2"/>
            </a:endParaRPr>
          </a:p>
          <a:p>
            <a:pPr>
              <a:buNone/>
            </a:pPr>
            <a:r>
              <a:rPr lang="en-US" altLang="zh-CN" sz="3000" dirty="0">
                <a:sym typeface="Wingdings" pitchFamily="2" charset="2"/>
              </a:rPr>
              <a:t>3.</a:t>
            </a:r>
            <a:r>
              <a:rPr lang="zh-CN" altLang="en-US" sz="3000" dirty="0">
                <a:sym typeface="Wingdings" pitchFamily="2" charset="2"/>
              </a:rPr>
              <a:t>溶液的酸碱性</a:t>
            </a: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酸性溶液抑制强酸弱碱盐的水解</a:t>
            </a: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碱性溶液抑制弱酸强碱盐的水解</a:t>
            </a:r>
            <a:endParaRPr lang="en-US" altLang="zh-CN" sz="3000" dirty="0">
              <a:sym typeface="Wingdings" pitchFamily="2" charset="2"/>
            </a:endParaRPr>
          </a:p>
          <a:p>
            <a:pPr>
              <a:buFont typeface="Wingdings" pitchFamily="2" charset="2"/>
              <a:buChar char="v"/>
            </a:pPr>
            <a:endParaRPr lang="en-US" altLang="zh-CN" sz="3000" dirty="0">
              <a:sym typeface="Wingdings" pitchFamily="2" charset="2"/>
            </a:endParaRPr>
          </a:p>
          <a:p>
            <a:pPr>
              <a:buFont typeface="Wingdings" pitchFamily="2" charset="2"/>
              <a:buChar char="v"/>
            </a:pPr>
            <a:r>
              <a:rPr lang="zh-CN" altLang="en-US" sz="3000" dirty="0">
                <a:sym typeface="Wingdings" pitchFamily="2" charset="2"/>
              </a:rPr>
              <a:t>越难电离，则越易水解。</a:t>
            </a: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该弱酸难电离，则该弱酸盐越易水解</a:t>
            </a:r>
            <a:endParaRPr lang="en-US" altLang="zh-CN" sz="3000" dirty="0">
              <a:sym typeface="Wingdings" pitchFamily="2" charset="2"/>
            </a:endParaRPr>
          </a:p>
          <a:p>
            <a:pPr>
              <a:buFont typeface="Wingdings" pitchFamily="2" charset="2"/>
              <a:buChar char="Ø"/>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23.5.4</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影响盐类水解的因素</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None/>
            </a:pPr>
            <a:r>
              <a:rPr lang="zh-CN" altLang="en-US" sz="3000" dirty="0">
                <a:sym typeface="Wingdings" pitchFamily="2" charset="2"/>
              </a:rPr>
              <a:t>问题解决</a:t>
            </a:r>
            <a:r>
              <a:rPr lang="en-US" altLang="zh-CN" sz="3000" dirty="0">
                <a:sym typeface="Wingdings" pitchFamily="2" charset="2"/>
              </a:rPr>
              <a:t>pg277</a:t>
            </a:r>
          </a:p>
          <a:p>
            <a:pPr marL="514350" indent="-514350">
              <a:buAutoNum type="arabicPeriod"/>
            </a:pPr>
            <a:r>
              <a:rPr lang="zh-CN" altLang="en-US" sz="2800" dirty="0"/>
              <a:t>碳酸钠溶液的碱性更强，因为碳酸钠水解生成的碳酸氢根比碳酸氢钠水解生成的碳酸更难电离，故碳酸钠的水解程度更大，碱性更强。</a:t>
            </a:r>
            <a:endParaRPr lang="en-US" altLang="zh-CN" sz="2800" dirty="0"/>
          </a:p>
          <a:p>
            <a:pPr marL="514350" indent="-514350">
              <a:buAutoNum type="arabicPeriod"/>
            </a:pPr>
            <a:r>
              <a:rPr lang="zh-CN" altLang="en-US" sz="2800" dirty="0"/>
              <a:t> </a:t>
            </a:r>
            <a:r>
              <a:rPr lang="en-US" altLang="zh-CN" sz="2800" dirty="0"/>
              <a:t>CuSO</a:t>
            </a:r>
            <a:r>
              <a:rPr lang="en-US" altLang="zh-CN" sz="2800" baseline="-25000" dirty="0"/>
              <a:t>4</a:t>
            </a:r>
            <a:r>
              <a:rPr lang="en-US" altLang="zh-CN" sz="2800" dirty="0"/>
              <a:t> </a:t>
            </a:r>
            <a:r>
              <a:rPr lang="zh-CN" altLang="en-US" sz="2800" dirty="0"/>
              <a:t>的水解是吸热反应，用热水配制会促进其水解，产生氢氧化铜</a:t>
            </a:r>
            <a:r>
              <a:rPr lang="en-US" altLang="zh-CN" sz="2800" dirty="0"/>
              <a:t>(II)</a:t>
            </a:r>
            <a:r>
              <a:rPr lang="zh-CN" altLang="en-US" sz="2800" dirty="0"/>
              <a:t>沉淀， 可以加适量稀硫酸抑制其水解，配得澄清的</a:t>
            </a:r>
            <a:r>
              <a:rPr lang="en-US" altLang="zh-CN" sz="2800" dirty="0"/>
              <a:t>CuSO</a:t>
            </a:r>
            <a:r>
              <a:rPr lang="en-US" altLang="zh-CN" sz="2800" baseline="-25000" dirty="0"/>
              <a:t>4</a:t>
            </a:r>
            <a:r>
              <a:rPr lang="zh-CN" altLang="en-US" sz="2800" dirty="0"/>
              <a:t>溶液。</a:t>
            </a:r>
            <a:endParaRPr lang="en-US" altLang="zh-CN" sz="2800" dirty="0"/>
          </a:p>
          <a:p>
            <a:pPr marL="514350" indent="-514350">
              <a:buAutoNum type="arabicPeriod"/>
            </a:pPr>
            <a:r>
              <a:rPr lang="zh-CN" altLang="en-US" sz="2800" dirty="0"/>
              <a:t> 因为纯碱水解显碱性，油污的主要成分是酯类化合物，而酯在碱性溶液中可以水解，所以可以用纯碱溶液来去除油污。加热纯碱溶液，可以增强去污效果。</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23.5.5</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盐类水解的应用</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90600"/>
            <a:ext cx="8077200" cy="5486400"/>
          </a:xfrm>
        </p:spPr>
        <p:txBody>
          <a:bodyPr>
            <a:noAutofit/>
          </a:bodyPr>
          <a:lstStyle/>
          <a:p>
            <a:pPr>
              <a:buFont typeface="Wingdings" pitchFamily="2" charset="2"/>
              <a:buChar char="Ø"/>
            </a:pPr>
            <a:r>
              <a:rPr lang="zh-CN" altLang="en-US" sz="3000" dirty="0">
                <a:sym typeface="Wingdings" pitchFamily="2" charset="2"/>
              </a:rPr>
              <a:t>明矾</a:t>
            </a:r>
            <a:r>
              <a:rPr lang="en-US" altLang="zh-CN" sz="3000" dirty="0">
                <a:sym typeface="Wingdings" pitchFamily="2" charset="2"/>
              </a:rPr>
              <a:t>--</a:t>
            </a:r>
            <a:r>
              <a:rPr lang="zh-CN" altLang="en-US" sz="3000" dirty="0">
                <a:sym typeface="Wingdings" pitchFamily="2" charset="2"/>
              </a:rPr>
              <a:t>净水剂</a:t>
            </a: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热</a:t>
            </a:r>
            <a:r>
              <a:rPr lang="en-US" altLang="zh-CN" sz="3000" dirty="0">
                <a:sym typeface="Wingdings" pitchFamily="2" charset="2"/>
              </a:rPr>
              <a:t>Na</a:t>
            </a:r>
            <a:r>
              <a:rPr lang="en-US" altLang="zh-CN" sz="3000" baseline="-25000" dirty="0">
                <a:sym typeface="Wingdings" pitchFamily="2" charset="2"/>
              </a:rPr>
              <a:t>2</a:t>
            </a:r>
            <a:r>
              <a:rPr lang="en-US" altLang="zh-CN" sz="3000" dirty="0">
                <a:sym typeface="Wingdings" pitchFamily="2" charset="2"/>
              </a:rPr>
              <a:t> CO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清洗油污</a:t>
            </a: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配制</a:t>
            </a:r>
            <a:r>
              <a:rPr lang="en-US" altLang="zh-CN" sz="3000" dirty="0">
                <a:sym typeface="Wingdings" pitchFamily="2" charset="2"/>
              </a:rPr>
              <a:t>FeCl</a:t>
            </a:r>
            <a:r>
              <a:rPr lang="en-US" altLang="zh-CN" sz="3000" baseline="-25000" dirty="0">
                <a:sym typeface="Wingdings" pitchFamily="2" charset="2"/>
              </a:rPr>
              <a:t>3</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a:t>
            </a:r>
            <a:r>
              <a:rPr lang="zh-CN" altLang="en-US" sz="3000" dirty="0">
                <a:sym typeface="Wingdings" pitchFamily="2" charset="2"/>
              </a:rPr>
              <a:t>时加入盐酸，抑制</a:t>
            </a:r>
            <a:r>
              <a:rPr lang="en-US" altLang="zh-CN" sz="3000" dirty="0">
                <a:sym typeface="Wingdings" pitchFamily="2" charset="2"/>
              </a:rPr>
              <a:t>Fe</a:t>
            </a:r>
            <a:r>
              <a:rPr lang="en-US" altLang="zh-CN" sz="3000" baseline="30000" dirty="0">
                <a:sym typeface="Wingdings" pitchFamily="2" charset="2"/>
              </a:rPr>
              <a:t>3+ </a:t>
            </a:r>
            <a:r>
              <a:rPr lang="en-US" altLang="zh-CN" sz="3000" dirty="0">
                <a:sym typeface="Wingdings" pitchFamily="2" charset="2"/>
              </a:rPr>
              <a:t> </a:t>
            </a:r>
            <a:r>
              <a:rPr lang="zh-CN" altLang="en-US" sz="3000" dirty="0">
                <a:sym typeface="Wingdings" pitchFamily="2" charset="2"/>
              </a:rPr>
              <a:t>的水解。</a:t>
            </a:r>
            <a:endParaRPr lang="en-US" altLang="zh-CN" sz="3000" dirty="0">
              <a:sym typeface="Wingdings" pitchFamily="2" charset="2"/>
            </a:endParaRPr>
          </a:p>
          <a:p>
            <a:pPr>
              <a:buNone/>
            </a:pPr>
            <a:r>
              <a:rPr lang="zh-CN" altLang="en-US" sz="3000" dirty="0">
                <a:sym typeface="Wingdings" pitchFamily="2" charset="2"/>
              </a:rPr>
              <a:t>思考题</a:t>
            </a:r>
            <a:r>
              <a:rPr lang="en-US" altLang="zh-CN" sz="3000" dirty="0">
                <a:sym typeface="Wingdings" pitchFamily="2" charset="2"/>
              </a:rPr>
              <a:t>23f</a:t>
            </a:r>
          </a:p>
          <a:p>
            <a:pPr marL="514350" indent="-514350">
              <a:spcBef>
                <a:spcPts val="0"/>
              </a:spcBef>
              <a:buNone/>
            </a:pPr>
            <a:r>
              <a:rPr lang="en-US" altLang="zh-CN" sz="3000" dirty="0">
                <a:sym typeface="Wingdings" pitchFamily="2" charset="2"/>
              </a:rPr>
              <a:t>1.</a:t>
            </a:r>
            <a:r>
              <a:rPr lang="zh-CN" altLang="en-US" sz="2800" dirty="0"/>
              <a:t>草木灰的主要成分碳酸钾水解生成氢氧根离子，</a:t>
            </a:r>
            <a:endParaRPr lang="en-US" altLang="zh-CN" sz="2800" dirty="0"/>
          </a:p>
          <a:p>
            <a:pPr marL="514350" indent="-514350">
              <a:spcBef>
                <a:spcPts val="0"/>
              </a:spcBef>
              <a:buNone/>
            </a:pPr>
            <a:r>
              <a:rPr lang="zh-CN" altLang="en-US" sz="2800" dirty="0"/>
              <a:t>铵态氮肥含有铵根离子，两者会发生反应放出氨气，</a:t>
            </a:r>
            <a:endParaRPr lang="en-US" altLang="zh-CN" sz="2800" dirty="0"/>
          </a:p>
          <a:p>
            <a:pPr marL="514350" indent="-514350">
              <a:spcBef>
                <a:spcPts val="0"/>
              </a:spcBef>
              <a:buNone/>
            </a:pPr>
            <a:r>
              <a:rPr lang="zh-CN" altLang="en-US" sz="2800" dirty="0"/>
              <a:t>降低肥效。</a:t>
            </a:r>
            <a:r>
              <a:rPr lang="en-US" altLang="zh-CN" sz="3000" dirty="0">
                <a:sym typeface="Wingdings" pitchFamily="2" charset="2"/>
              </a:rPr>
              <a:t> </a:t>
            </a:r>
          </a:p>
          <a:p>
            <a:pPr marL="514350" indent="-514350">
              <a:spcBef>
                <a:spcPts val="0"/>
              </a:spcBef>
              <a:buNone/>
            </a:pPr>
            <a:r>
              <a:rPr lang="en-US" altLang="zh-CN" sz="3000" dirty="0">
                <a:sym typeface="Wingdings" pitchFamily="2" charset="2"/>
              </a:rPr>
              <a:t>	K</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+ 2 H</a:t>
            </a:r>
            <a:r>
              <a:rPr lang="en-US" altLang="zh-CN" sz="3000" baseline="-25000" dirty="0">
                <a:sym typeface="Wingdings" pitchFamily="2" charset="2"/>
              </a:rPr>
              <a:t>2</a:t>
            </a:r>
            <a:r>
              <a:rPr lang="en-US" altLang="zh-CN" sz="3000" dirty="0">
                <a:sym typeface="Wingdings" pitchFamily="2" charset="2"/>
              </a:rPr>
              <a:t>O  &lt;--&gt;   2 KOH  + H</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a:t>
            </a:r>
          </a:p>
          <a:p>
            <a:pPr marL="514350" indent="-514350">
              <a:spcBef>
                <a:spcPts val="0"/>
              </a:spcBef>
              <a:buNone/>
            </a:pPr>
            <a:r>
              <a:rPr lang="en-US" altLang="zh-CN" sz="3000" dirty="0">
                <a:sym typeface="Wingdings" pitchFamily="2" charset="2"/>
              </a:rPr>
              <a:t>	KOH (</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NH</a:t>
            </a:r>
            <a:r>
              <a:rPr lang="en-US" altLang="zh-CN" sz="3000" baseline="-25000" dirty="0">
                <a:sym typeface="Wingdings" pitchFamily="2" charset="2"/>
              </a:rPr>
              <a:t>3</a:t>
            </a:r>
            <a:r>
              <a:rPr lang="en-US" altLang="zh-CN" sz="3000" dirty="0">
                <a:sym typeface="Wingdings" pitchFamily="2" charset="2"/>
              </a:rPr>
              <a:t> (g) + K</a:t>
            </a:r>
            <a:r>
              <a:rPr lang="en-US" altLang="zh-CN" sz="3000" baseline="30000" dirty="0">
                <a:sym typeface="Wingdings" pitchFamily="2" charset="2"/>
              </a:rPr>
              <a:t>+</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O(l)</a:t>
            </a:r>
          </a:p>
          <a:p>
            <a:pPr>
              <a:buNone/>
            </a:pPr>
            <a:r>
              <a:rPr lang="en-US" altLang="zh-CN" sz="3000" dirty="0">
                <a:sym typeface="Wingdings" pitchFamily="2" charset="2"/>
              </a:rPr>
              <a:t>2.</a:t>
            </a:r>
            <a:r>
              <a:rPr lang="en-US" sz="2800" dirty="0"/>
              <a:t>Na</a:t>
            </a:r>
            <a:r>
              <a:rPr lang="en-US" sz="2800" baseline="-25000" dirty="0"/>
              <a:t>2</a:t>
            </a:r>
            <a:r>
              <a:rPr lang="en-US" sz="2800" dirty="0"/>
              <a:t>CO</a:t>
            </a:r>
            <a:r>
              <a:rPr lang="en-US" sz="2800" baseline="-25000" dirty="0"/>
              <a:t>3</a:t>
            </a:r>
            <a:r>
              <a:rPr lang="en-US" sz="2800" dirty="0"/>
              <a:t> (</a:t>
            </a:r>
            <a:r>
              <a:rPr lang="en-US" sz="2800" dirty="0" err="1"/>
              <a:t>aq</a:t>
            </a:r>
            <a:r>
              <a:rPr lang="en-US" sz="2800" dirty="0"/>
              <a:t>) +  H</a:t>
            </a:r>
            <a:r>
              <a:rPr lang="en-US" sz="2800" baseline="-25000" dirty="0"/>
              <a:t>2</a:t>
            </a:r>
            <a:r>
              <a:rPr lang="en-US" sz="2800" dirty="0"/>
              <a:t>O (l) &lt;--&gt; NaHCO</a:t>
            </a:r>
            <a:r>
              <a:rPr lang="en-US" sz="2800" baseline="-25000" dirty="0"/>
              <a:t>3</a:t>
            </a:r>
            <a:r>
              <a:rPr lang="en-US" sz="2800" dirty="0"/>
              <a:t> (</a:t>
            </a:r>
            <a:r>
              <a:rPr lang="en-US" sz="2800" dirty="0" err="1"/>
              <a:t>aq</a:t>
            </a:r>
            <a:r>
              <a:rPr lang="en-US" sz="2800" dirty="0"/>
              <a:t>) +  </a:t>
            </a:r>
            <a:r>
              <a:rPr lang="en-US" sz="2800" dirty="0" err="1"/>
              <a:t>NaOH</a:t>
            </a:r>
            <a:r>
              <a:rPr lang="en-US" sz="2800" dirty="0"/>
              <a:t> (</a:t>
            </a:r>
            <a:r>
              <a:rPr lang="en-US" sz="2800" dirty="0" err="1"/>
              <a:t>aq</a:t>
            </a:r>
            <a:r>
              <a:rPr lang="en-US" sz="2800" dirty="0"/>
              <a:t>)</a:t>
            </a:r>
          </a:p>
          <a:p>
            <a:pPr>
              <a:buNone/>
            </a:pPr>
            <a:r>
              <a:rPr lang="en-US" sz="2800" dirty="0"/>
              <a:t>Na</a:t>
            </a:r>
            <a:r>
              <a:rPr lang="en-US" sz="2800" baseline="-25000" dirty="0"/>
              <a:t>2</a:t>
            </a:r>
            <a:r>
              <a:rPr lang="en-US" sz="2800" dirty="0"/>
              <a:t>CO</a:t>
            </a:r>
            <a:r>
              <a:rPr lang="en-US" sz="2800" baseline="-25000" dirty="0"/>
              <a:t>3</a:t>
            </a:r>
            <a:r>
              <a:rPr lang="en-US" sz="2800" dirty="0"/>
              <a:t> (</a:t>
            </a:r>
            <a:r>
              <a:rPr lang="en-US" sz="2800" dirty="0" err="1"/>
              <a:t>aq</a:t>
            </a:r>
            <a:r>
              <a:rPr lang="en-US" sz="2800" dirty="0"/>
              <a:t>)+  CaSO</a:t>
            </a:r>
            <a:r>
              <a:rPr lang="en-US" sz="2800" baseline="-25000" dirty="0"/>
              <a:t>4</a:t>
            </a:r>
            <a:r>
              <a:rPr lang="en-US" sz="2800" dirty="0"/>
              <a:t> (s) </a:t>
            </a:r>
            <a:r>
              <a:rPr lang="en-US" sz="2800" dirty="0">
                <a:sym typeface="Wingdings" pitchFamily="2" charset="2"/>
              </a:rPr>
              <a:t></a:t>
            </a:r>
            <a:r>
              <a:rPr lang="en-US" sz="2800" dirty="0"/>
              <a:t> Na</a:t>
            </a:r>
            <a:r>
              <a:rPr lang="en-US" sz="2800" baseline="-25000" dirty="0"/>
              <a:t>2</a:t>
            </a:r>
            <a:r>
              <a:rPr lang="en-US" sz="2800" dirty="0"/>
              <a:t>SO</a:t>
            </a:r>
            <a:r>
              <a:rPr lang="en-US" sz="2800" baseline="-25000" dirty="0"/>
              <a:t>4</a:t>
            </a:r>
            <a:r>
              <a:rPr lang="en-US" sz="2800" dirty="0"/>
              <a:t> (</a:t>
            </a:r>
            <a:r>
              <a:rPr lang="en-US" sz="2800" dirty="0" err="1"/>
              <a:t>aq</a:t>
            </a:r>
            <a:r>
              <a:rPr lang="en-US" sz="2800" dirty="0"/>
              <a:t>) +  CaCO</a:t>
            </a:r>
            <a:r>
              <a:rPr lang="en-US" sz="2800" baseline="-25000" dirty="0"/>
              <a:t>3</a:t>
            </a:r>
            <a:r>
              <a:rPr lang="en-US" sz="2800" dirty="0"/>
              <a:t> (s)</a:t>
            </a:r>
          </a:p>
          <a:p>
            <a:pPr>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23.6</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缓冲溶液</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buNone/>
            </a:pPr>
            <a:r>
              <a:rPr lang="zh-CN" altLang="en-US" sz="3000" dirty="0">
                <a:sym typeface="Wingdings" pitchFamily="2" charset="2"/>
              </a:rPr>
              <a:t>在纯水中加一滴</a:t>
            </a:r>
            <a:r>
              <a:rPr lang="en-US" altLang="zh-CN" sz="3000" dirty="0">
                <a:sym typeface="Wingdings" pitchFamily="2" charset="2"/>
              </a:rPr>
              <a:t>10M </a:t>
            </a: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r>
              <a:rPr lang="zh-CN" altLang="en-US" sz="3000" dirty="0">
                <a:sym typeface="Wingdings" pitchFamily="2" charset="2"/>
              </a:rPr>
              <a:t>，</a:t>
            </a:r>
            <a:r>
              <a:rPr lang="en-US" altLang="zh-CN" sz="3000" dirty="0">
                <a:sym typeface="Wingdings" pitchFamily="2" charset="2"/>
              </a:rPr>
              <a:t>pH</a:t>
            </a:r>
            <a:r>
              <a:rPr lang="zh-CN" altLang="en-US" sz="3000" dirty="0">
                <a:sym typeface="Wingdings" pitchFamily="2" charset="2"/>
              </a:rPr>
              <a:t>值</a:t>
            </a:r>
            <a:r>
              <a:rPr lang="en-US" altLang="zh-CN" sz="3000" dirty="0">
                <a:sym typeface="Wingdings" pitchFamily="2" charset="2"/>
              </a:rPr>
              <a:t>7pH3</a:t>
            </a:r>
          </a:p>
          <a:p>
            <a:pPr>
              <a:buNone/>
            </a:pPr>
            <a:r>
              <a:rPr lang="zh-CN" altLang="en-US" sz="3000" dirty="0">
                <a:sym typeface="Wingdings" pitchFamily="2" charset="2"/>
              </a:rPr>
              <a:t>在纯水中加一滴</a:t>
            </a:r>
            <a:r>
              <a:rPr lang="en-US" altLang="zh-CN" sz="3000" dirty="0">
                <a:sym typeface="Wingdings" pitchFamily="2" charset="2"/>
              </a:rPr>
              <a:t>10M </a:t>
            </a:r>
            <a:r>
              <a:rPr lang="en-US" altLang="zh-CN" sz="3000" dirty="0" err="1">
                <a:sym typeface="Wingdings" pitchFamily="2" charset="2"/>
              </a:rPr>
              <a:t>NaOH</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r>
              <a:rPr lang="zh-CN" altLang="en-US" sz="3000" dirty="0">
                <a:sym typeface="Wingdings" pitchFamily="2" charset="2"/>
              </a:rPr>
              <a:t>，</a:t>
            </a:r>
            <a:r>
              <a:rPr lang="en-US" altLang="zh-CN" sz="3000" dirty="0">
                <a:sym typeface="Wingdings" pitchFamily="2" charset="2"/>
              </a:rPr>
              <a:t>pH</a:t>
            </a:r>
            <a:r>
              <a:rPr lang="zh-CN" altLang="en-US" sz="3000" dirty="0">
                <a:sym typeface="Wingdings" pitchFamily="2" charset="2"/>
              </a:rPr>
              <a:t>值</a:t>
            </a:r>
            <a:r>
              <a:rPr lang="en-US" altLang="zh-CN" sz="3000" dirty="0">
                <a:sym typeface="Wingdings" pitchFamily="2" charset="2"/>
              </a:rPr>
              <a:t>7pH11</a:t>
            </a:r>
          </a:p>
          <a:p>
            <a:pPr>
              <a:buNone/>
            </a:pP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在缓冲溶液加少量酸、碱或稀释，</a:t>
            </a:r>
            <a:r>
              <a:rPr lang="en-US" altLang="zh-CN" sz="3000" dirty="0">
                <a:sym typeface="Wingdings" pitchFamily="2" charset="2"/>
              </a:rPr>
              <a:t>pH</a:t>
            </a:r>
            <a:r>
              <a:rPr lang="zh-CN" altLang="en-US" sz="3000" dirty="0">
                <a:sym typeface="Wingdings" pitchFamily="2" charset="2"/>
              </a:rPr>
              <a:t>值没显著变化。</a:t>
            </a:r>
            <a:endParaRPr lang="en-US" altLang="zh-CN" sz="3000" dirty="0">
              <a:sym typeface="Wingdings" pitchFamily="2" charset="2"/>
            </a:endParaRPr>
          </a:p>
          <a:p>
            <a:pPr>
              <a:buFont typeface="Wingdings" pitchFamily="2" charset="2"/>
              <a:buChar char="Ø"/>
            </a:pPr>
            <a:r>
              <a:rPr lang="zh-CN" altLang="en-US" sz="3000" b="1" dirty="0">
                <a:sym typeface="Wingdings" pitchFamily="2" charset="2"/>
              </a:rPr>
              <a:t>能抵消外加少量酸、碱或稀释的影响，而其</a:t>
            </a:r>
            <a:r>
              <a:rPr lang="en-US" altLang="zh-CN" sz="3000" b="1" dirty="0">
                <a:sym typeface="Wingdings" pitchFamily="2" charset="2"/>
              </a:rPr>
              <a:t>pH</a:t>
            </a:r>
            <a:r>
              <a:rPr lang="zh-CN" altLang="en-US" sz="3000" b="1" dirty="0">
                <a:sym typeface="Wingdings" pitchFamily="2" charset="2"/>
              </a:rPr>
              <a:t>值不发生显著变化的作用叫缓冲作用。</a:t>
            </a:r>
            <a:endParaRPr lang="en-US" altLang="zh-CN" sz="3000" b="1" dirty="0">
              <a:sym typeface="Wingdings" pitchFamily="2" charset="2"/>
            </a:endParaRPr>
          </a:p>
          <a:p>
            <a:pPr>
              <a:buFont typeface="Wingdings" pitchFamily="2" charset="2"/>
              <a:buChar char="Ø"/>
            </a:pPr>
            <a:r>
              <a:rPr lang="zh-CN" altLang="en-US" sz="3000" b="1" dirty="0">
                <a:sym typeface="Wingdings" pitchFamily="2" charset="2"/>
              </a:rPr>
              <a:t>具有缓冲作用的溶液称缓冲溶液。</a:t>
            </a:r>
            <a:endParaRPr lang="en-US" altLang="zh-CN" sz="3000" b="1" dirty="0">
              <a:sym typeface="Wingdings" pitchFamily="2" charset="2"/>
            </a:endParaRPr>
          </a:p>
          <a:p>
            <a:pPr>
              <a:buFont typeface="Wingdings" pitchFamily="2" charset="2"/>
              <a:buChar char="Ø"/>
            </a:pPr>
            <a:r>
              <a:rPr lang="zh-CN" altLang="en-US" sz="3000" b="1" dirty="0">
                <a:solidFill>
                  <a:srgbClr val="002060"/>
                </a:solidFill>
                <a:sym typeface="Wingdings" pitchFamily="2" charset="2"/>
              </a:rPr>
              <a:t>缓冲溶液：含有抗酸成分和抗碱成分</a:t>
            </a:r>
            <a:endParaRPr lang="en-US" altLang="zh-CN" sz="3000" dirty="0">
              <a:solidFill>
                <a:srgbClr val="002060"/>
              </a:solidFill>
              <a:sym typeface="Wingdings" pitchFamily="2" charset="2"/>
            </a:endParaRPr>
          </a:p>
          <a:p>
            <a:pPr>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23.6.1</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缓冲溶液的组成</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marL="514350" indent="-514350">
              <a:buAutoNum type="arabicPeriod"/>
            </a:pPr>
            <a:r>
              <a:rPr lang="zh-CN" altLang="en-US" sz="3000" dirty="0">
                <a:sym typeface="Wingdings" pitchFamily="2" charset="2"/>
              </a:rPr>
              <a:t>由</a:t>
            </a:r>
            <a:r>
              <a:rPr lang="zh-CN" altLang="en-US" sz="3000" b="1" dirty="0">
                <a:solidFill>
                  <a:srgbClr val="7030A0"/>
                </a:solidFill>
                <a:sym typeface="Wingdings" pitchFamily="2" charset="2"/>
              </a:rPr>
              <a:t>弱酸</a:t>
            </a:r>
            <a:r>
              <a:rPr lang="zh-CN" altLang="en-US" sz="3000" dirty="0">
                <a:sym typeface="Wingdings" pitchFamily="2" charset="2"/>
              </a:rPr>
              <a:t>和</a:t>
            </a:r>
            <a:r>
              <a:rPr lang="zh-CN" altLang="en-US" sz="3000" b="1" dirty="0">
                <a:solidFill>
                  <a:schemeClr val="accent5">
                    <a:lumMod val="50000"/>
                  </a:schemeClr>
                </a:solidFill>
                <a:sym typeface="Wingdings" pitchFamily="2" charset="2"/>
              </a:rPr>
              <a:t>该弱酸与强碱反应生成的盐</a:t>
            </a:r>
            <a:r>
              <a:rPr lang="zh-CN" altLang="en-US" sz="3000" dirty="0">
                <a:sym typeface="Wingdings" pitchFamily="2" charset="2"/>
              </a:rPr>
              <a:t>所组成</a:t>
            </a:r>
            <a:endParaRPr lang="en-US" altLang="zh-CN" sz="3000" dirty="0">
              <a:sym typeface="Wingdings" pitchFamily="2" charset="2"/>
            </a:endParaRPr>
          </a:p>
          <a:p>
            <a:pPr marL="514350" indent="-514350">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COOH </a:t>
            </a:r>
            <a:r>
              <a:rPr lang="zh-CN" altLang="en-US" sz="3000" dirty="0">
                <a:sym typeface="Wingdings" pitchFamily="2" charset="2"/>
              </a:rPr>
              <a:t>和</a:t>
            </a:r>
            <a:r>
              <a:rPr lang="en-US" altLang="zh-CN" sz="3000" dirty="0">
                <a:sym typeface="Wingdings" pitchFamily="2" charset="2"/>
              </a:rPr>
              <a:t>CH</a:t>
            </a:r>
            <a:r>
              <a:rPr lang="en-US" altLang="zh-CN" sz="3000" baseline="-25000" dirty="0">
                <a:sym typeface="Wingdings" pitchFamily="2" charset="2"/>
              </a:rPr>
              <a:t>3</a:t>
            </a:r>
            <a:r>
              <a:rPr lang="en-US" altLang="zh-CN" sz="3000" dirty="0">
                <a:sym typeface="Wingdings" pitchFamily="2" charset="2"/>
              </a:rPr>
              <a:t>COONa</a:t>
            </a:r>
          </a:p>
          <a:p>
            <a:pPr marL="514350" indent="-514350">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和 </a:t>
            </a:r>
            <a:r>
              <a:rPr lang="en-US" altLang="zh-CN" sz="3000" dirty="0">
                <a:sym typeface="Wingdings" pitchFamily="2" charset="2"/>
              </a:rPr>
              <a:t>K</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r>
              <a:rPr lang="en-US" altLang="zh-CN" sz="3000" dirty="0">
                <a:sym typeface="Wingdings" pitchFamily="2" charset="2"/>
              </a:rPr>
              <a:t> </a:t>
            </a:r>
          </a:p>
          <a:p>
            <a:pPr marL="514350" indent="-514350">
              <a:buNone/>
            </a:pPr>
            <a:r>
              <a:rPr lang="en-US" altLang="zh-CN" sz="3000" dirty="0">
                <a:sym typeface="Wingdings" pitchFamily="2" charset="2"/>
              </a:rPr>
              <a:t>	HCN </a:t>
            </a:r>
            <a:r>
              <a:rPr lang="zh-CN" altLang="en-US" sz="3000" dirty="0">
                <a:sym typeface="Wingdings" pitchFamily="2" charset="2"/>
              </a:rPr>
              <a:t>和 </a:t>
            </a:r>
            <a:r>
              <a:rPr lang="en-US" altLang="zh-CN" sz="3000" dirty="0" err="1">
                <a:sym typeface="Wingdings" pitchFamily="2" charset="2"/>
              </a:rPr>
              <a:t>NaCN</a:t>
            </a:r>
            <a:endParaRPr lang="en-US" altLang="zh-CN" sz="3000" dirty="0">
              <a:sym typeface="Wingdings" pitchFamily="2" charset="2"/>
            </a:endParaRPr>
          </a:p>
          <a:p>
            <a:pPr marL="514350" indent="-514350">
              <a:buAutoNum type="arabicPeriod" startAt="2"/>
            </a:pPr>
            <a:r>
              <a:rPr lang="zh-CN" altLang="en-US" sz="3000" dirty="0">
                <a:sym typeface="Wingdings" pitchFamily="2" charset="2"/>
              </a:rPr>
              <a:t>由</a:t>
            </a:r>
            <a:r>
              <a:rPr lang="zh-CN" altLang="en-US" sz="3000" b="1" dirty="0">
                <a:solidFill>
                  <a:srgbClr val="7030A0"/>
                </a:solidFill>
                <a:sym typeface="Wingdings" pitchFamily="2" charset="2"/>
              </a:rPr>
              <a:t>弱碱</a:t>
            </a:r>
            <a:r>
              <a:rPr lang="zh-CN" altLang="en-US" sz="3000" dirty="0">
                <a:sym typeface="Wingdings" pitchFamily="2" charset="2"/>
              </a:rPr>
              <a:t>和</a:t>
            </a:r>
            <a:r>
              <a:rPr lang="zh-CN" altLang="en-US" sz="3000" b="1" dirty="0">
                <a:solidFill>
                  <a:schemeClr val="accent5">
                    <a:lumMod val="50000"/>
                  </a:schemeClr>
                </a:solidFill>
                <a:sym typeface="Wingdings" pitchFamily="2" charset="2"/>
              </a:rPr>
              <a:t>该弱碱与强酸反应生成的盐</a:t>
            </a:r>
            <a:r>
              <a:rPr lang="zh-CN" altLang="en-US" sz="3000" dirty="0">
                <a:sym typeface="Wingdings" pitchFamily="2" charset="2"/>
              </a:rPr>
              <a:t>所组成</a:t>
            </a:r>
            <a:endParaRPr lang="en-US" altLang="zh-CN" sz="3000" dirty="0">
              <a:sym typeface="Wingdings" pitchFamily="2" charset="2"/>
            </a:endParaRPr>
          </a:p>
          <a:p>
            <a:pPr marL="514350" indent="-514350">
              <a:buNone/>
            </a:pPr>
            <a:r>
              <a:rPr lang="en-US" altLang="zh-CN" sz="3000" dirty="0">
                <a:sym typeface="Wingdings" pitchFamily="2" charset="2"/>
              </a:rPr>
              <a:t>	 NH</a:t>
            </a:r>
            <a:r>
              <a:rPr lang="en-US" altLang="zh-CN" sz="3000" baseline="-25000" dirty="0">
                <a:sym typeface="Wingdings" pitchFamily="2" charset="2"/>
              </a:rPr>
              <a:t>3</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 </a:t>
            </a:r>
            <a:r>
              <a:rPr lang="zh-CN" altLang="en-US" sz="3000" dirty="0">
                <a:sym typeface="Wingdings" pitchFamily="2" charset="2"/>
              </a:rPr>
              <a:t>和 </a:t>
            </a:r>
            <a:r>
              <a:rPr lang="en-US" altLang="zh-CN" sz="3000" dirty="0">
                <a:sym typeface="Wingdings" pitchFamily="2" charset="2"/>
              </a:rPr>
              <a:t>NH</a:t>
            </a:r>
            <a:r>
              <a:rPr lang="en-US" altLang="zh-CN" sz="3000" baseline="-25000" dirty="0">
                <a:sym typeface="Wingdings" pitchFamily="2" charset="2"/>
              </a:rPr>
              <a:t>4</a:t>
            </a:r>
            <a:r>
              <a:rPr lang="en-US" altLang="zh-CN" sz="3000" dirty="0">
                <a:sym typeface="Wingdings" pitchFamily="2" charset="2"/>
              </a:rPr>
              <a:t>Cl</a:t>
            </a:r>
          </a:p>
          <a:p>
            <a:pPr marL="514350" indent="-514350">
              <a:buNone/>
            </a:pPr>
            <a:r>
              <a:rPr lang="en-US" altLang="zh-CN" sz="3000" dirty="0">
                <a:sym typeface="Wingdings" pitchFamily="2" charset="2"/>
              </a:rPr>
              <a:t>3. </a:t>
            </a:r>
            <a:r>
              <a:rPr lang="zh-CN" altLang="en-US" sz="3000" b="1" dirty="0">
                <a:solidFill>
                  <a:srgbClr val="7030A0"/>
                </a:solidFill>
                <a:sym typeface="Wingdings" pitchFamily="2" charset="2"/>
              </a:rPr>
              <a:t>多元酸的酸式盐</a:t>
            </a:r>
            <a:r>
              <a:rPr lang="zh-CN" altLang="en-US" sz="3000" dirty="0">
                <a:sym typeface="Wingdings" pitchFamily="2" charset="2"/>
              </a:rPr>
              <a:t>和</a:t>
            </a:r>
            <a:r>
              <a:rPr lang="zh-CN" altLang="en-US" sz="3000" b="1" dirty="0">
                <a:solidFill>
                  <a:schemeClr val="accent5">
                    <a:lumMod val="50000"/>
                  </a:schemeClr>
                </a:solidFill>
                <a:sym typeface="Wingdings" pitchFamily="2" charset="2"/>
              </a:rPr>
              <a:t>其对应的次级盐</a:t>
            </a:r>
            <a:r>
              <a:rPr lang="zh-CN" altLang="en-US" sz="3000" dirty="0">
                <a:sym typeface="Wingdings" pitchFamily="2" charset="2"/>
              </a:rPr>
              <a:t>组成</a:t>
            </a:r>
            <a:endParaRPr lang="en-US" altLang="zh-CN" sz="3000" dirty="0">
              <a:sym typeface="Wingdings" pitchFamily="2" charset="2"/>
            </a:endParaRPr>
          </a:p>
          <a:p>
            <a:pPr marL="514350" indent="-514350">
              <a:buNone/>
            </a:pPr>
            <a:r>
              <a:rPr lang="en-US" altLang="zh-CN" sz="3000" dirty="0">
                <a:sym typeface="Wingdings" pitchFamily="2" charset="2"/>
              </a:rPr>
              <a:t>	NaH</a:t>
            </a:r>
            <a:r>
              <a:rPr lang="en-US" altLang="zh-CN" sz="3000" baseline="-25000" dirty="0">
                <a:sym typeface="Wingdings" pitchFamily="2" charset="2"/>
              </a:rPr>
              <a:t>2</a:t>
            </a:r>
            <a:r>
              <a:rPr lang="en-US" altLang="zh-CN" sz="3000" dirty="0">
                <a:sym typeface="Wingdings" pitchFamily="2" charset="2"/>
              </a:rPr>
              <a:t>PO</a:t>
            </a:r>
            <a:r>
              <a:rPr lang="en-US" altLang="zh-CN" sz="3000" baseline="-25000" dirty="0">
                <a:sym typeface="Wingdings" pitchFamily="2" charset="2"/>
              </a:rPr>
              <a:t>4</a:t>
            </a:r>
            <a:r>
              <a:rPr lang="en-US" altLang="zh-CN" sz="3000" dirty="0">
                <a:sym typeface="Wingdings" pitchFamily="2" charset="2"/>
              </a:rPr>
              <a:t> </a:t>
            </a:r>
            <a:r>
              <a:rPr lang="zh-CN" altLang="en-US" sz="3000" dirty="0">
                <a:sym typeface="Wingdings" pitchFamily="2" charset="2"/>
              </a:rPr>
              <a:t>和</a:t>
            </a:r>
            <a:r>
              <a:rPr lang="en-US" altLang="zh-CN" sz="3000" dirty="0">
                <a:sym typeface="Wingdings" pitchFamily="2" charset="2"/>
              </a:rPr>
              <a:t>Na</a:t>
            </a:r>
            <a:r>
              <a:rPr lang="en-US" altLang="zh-CN" sz="3000" baseline="-25000" dirty="0">
                <a:sym typeface="Wingdings" pitchFamily="2" charset="2"/>
              </a:rPr>
              <a:t>2</a:t>
            </a:r>
            <a:r>
              <a:rPr lang="en-US" altLang="zh-CN" sz="3000" dirty="0">
                <a:sym typeface="Wingdings" pitchFamily="2" charset="2"/>
              </a:rPr>
              <a:t>HPO</a:t>
            </a:r>
            <a:r>
              <a:rPr lang="en-US" altLang="zh-CN" sz="3000" baseline="-25000" dirty="0">
                <a:sym typeface="Wingdings" pitchFamily="2" charset="2"/>
              </a:rPr>
              <a:t>4</a:t>
            </a:r>
            <a:endParaRPr lang="en-US" altLang="zh-CN" sz="3000" dirty="0">
              <a:sym typeface="Wingdings" pitchFamily="2" charset="2"/>
            </a:endParaRPr>
          </a:p>
          <a:p>
            <a:pPr>
              <a:buNone/>
            </a:pPr>
            <a:r>
              <a:rPr lang="en-US" altLang="zh-CN" sz="3000" dirty="0">
                <a:sym typeface="Wingdings" pitchFamily="2" charset="2"/>
              </a:rPr>
              <a:t> </a:t>
            </a:r>
          </a:p>
          <a:p>
            <a:pPr>
              <a:buNone/>
            </a:pPr>
            <a:endParaRPr lang="en-US" altLang="zh-CN" sz="3000" dirty="0">
              <a:sym typeface="Wingdings" pitchFamily="2" charset="2"/>
            </a:endParaRPr>
          </a:p>
        </p:txBody>
      </p:sp>
      <p:sp>
        <p:nvSpPr>
          <p:cNvPr id="5" name="Rounded Rectangle 4"/>
          <p:cNvSpPr/>
          <p:nvPr/>
        </p:nvSpPr>
        <p:spPr>
          <a:xfrm>
            <a:off x="2362200" y="21336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 name="Rounded Rectangle 5"/>
          <p:cNvSpPr/>
          <p:nvPr/>
        </p:nvSpPr>
        <p:spPr>
          <a:xfrm>
            <a:off x="2133600" y="2667000"/>
            <a:ext cx="1066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xit" presetSubtype="4" fill="hold" grpId="0" nodeType="clickEffect">
                                  <p:stCondLst>
                                    <p:cond delay="0"/>
                                  </p:stCondLst>
                                  <p:childTnLst>
                                    <p:anim calcmode="lin" valueType="num">
                                      <p:cBhvr additive="base">
                                        <p:cTn id="21" dur="500"/>
                                        <p:tgtEl>
                                          <p:spTgt spid="5"/>
                                        </p:tgtEl>
                                        <p:attrNameLst>
                                          <p:attrName>ppt_x</p:attrName>
                                        </p:attrNameLst>
                                      </p:cBhvr>
                                      <p:tavLst>
                                        <p:tav tm="0">
                                          <p:val>
                                            <p:strVal val="ppt_x"/>
                                          </p:val>
                                        </p:tav>
                                        <p:tav tm="100000">
                                          <p:val>
                                            <p:strVal val="ppt_x"/>
                                          </p:val>
                                        </p:tav>
                                      </p:tavLst>
                                    </p:anim>
                                    <p:anim calcmode="lin" valueType="num">
                                      <p:cBhvr additive="base">
                                        <p:cTn id="22" dur="500"/>
                                        <p:tgtEl>
                                          <p:spTgt spid="5"/>
                                        </p:tgtEl>
                                        <p:attrNameLst>
                                          <p:attrName>ppt_y</p:attrName>
                                        </p:attrNameLst>
                                      </p:cBhvr>
                                      <p:tavLst>
                                        <p:tav tm="0">
                                          <p:val>
                                            <p:strVal val="ppt_y"/>
                                          </p:val>
                                        </p:tav>
                                        <p:tav tm="100000">
                                          <p:val>
                                            <p:strVal val="1+ppt_h/2"/>
                                          </p:val>
                                        </p:tav>
                                      </p:tavLst>
                                    </p:anim>
                                    <p:set>
                                      <p:cBhvr>
                                        <p:cTn id="23" dur="1" fill="hold">
                                          <p:stCondLst>
                                            <p:cond delay="499"/>
                                          </p:stCondLst>
                                        </p:cTn>
                                        <p:tgtEl>
                                          <p:spTgt spid="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blinds(horizontal)">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0" nodeType="clickEffect">
                                  <p:stCondLst>
                                    <p:cond delay="0"/>
                                  </p:stCondLst>
                                  <p:childTnLst>
                                    <p:anim calcmode="lin" valueType="num">
                                      <p:cBhvr additive="base">
                                        <p:cTn id="32" dur="500"/>
                                        <p:tgtEl>
                                          <p:spTgt spid="6"/>
                                        </p:tgtEl>
                                        <p:attrNameLst>
                                          <p:attrName>ppt_x</p:attrName>
                                        </p:attrNameLst>
                                      </p:cBhvr>
                                      <p:tavLst>
                                        <p:tav tm="0">
                                          <p:val>
                                            <p:strVal val="ppt_x"/>
                                          </p:val>
                                        </p:tav>
                                        <p:tav tm="100000">
                                          <p:val>
                                            <p:strVal val="ppt_x"/>
                                          </p:val>
                                        </p:tav>
                                      </p:tavLst>
                                    </p:anim>
                                    <p:anim calcmode="lin" valueType="num">
                                      <p:cBhvr additive="base">
                                        <p:cTn id="33" dur="500"/>
                                        <p:tgtEl>
                                          <p:spTgt spid="6"/>
                                        </p:tgtEl>
                                        <p:attrNameLst>
                                          <p:attrName>ppt_y</p:attrName>
                                        </p:attrNameLst>
                                      </p:cBhvr>
                                      <p:tavLst>
                                        <p:tav tm="0">
                                          <p:val>
                                            <p:strVal val="ppt_y"/>
                                          </p:val>
                                        </p:tav>
                                        <p:tav tm="100000">
                                          <p:val>
                                            <p:strVal val="1+ppt_h/2"/>
                                          </p:val>
                                        </p:tav>
                                      </p:tavLst>
                                    </p:anim>
                                    <p:set>
                                      <p:cBhvr>
                                        <p:cTn id="34" dur="1" fill="hold">
                                          <p:stCondLst>
                                            <p:cond delay="499"/>
                                          </p:stCondLst>
                                        </p:cTn>
                                        <p:tgtEl>
                                          <p:spTgt spid="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blinds(horizontal)">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blinds(horizontal)">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blinds(horizontal)">
                                      <p:cBhvr>
                                        <p:cTn id="49" dur="500"/>
                                        <p:tgtEl>
                                          <p:spTgt spid="3">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blinds(horizontal)">
                                      <p:cBhvr>
                                        <p:cTn id="54" dur="500"/>
                                        <p:tgtEl>
                                          <p:spTgt spid="3">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blinds(horizontal)">
                                      <p:cBhvr>
                                        <p:cTn id="5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23.6.1</a:t>
            </a: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缓冲溶液的组成</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buNone/>
            </a:pPr>
            <a:r>
              <a:rPr lang="zh-CN" altLang="en-US" sz="3000" dirty="0">
                <a:sym typeface="Wingdings" pitchFamily="2" charset="2"/>
              </a:rPr>
              <a:t>问题解决</a:t>
            </a:r>
            <a:r>
              <a:rPr lang="en-US" altLang="zh-CN" sz="3000" dirty="0">
                <a:sym typeface="Wingdings" pitchFamily="2" charset="2"/>
              </a:rPr>
              <a:t>pg280</a:t>
            </a:r>
          </a:p>
          <a:p>
            <a:pPr>
              <a:buNone/>
            </a:pPr>
            <a:r>
              <a:rPr lang="zh-CN" altLang="en-US" sz="2800" dirty="0"/>
              <a:t>当向</a:t>
            </a:r>
            <a:r>
              <a:rPr lang="en-US" altLang="zh-CN" sz="2800" dirty="0"/>
              <a:t>NH</a:t>
            </a:r>
            <a:r>
              <a:rPr lang="en-US" altLang="zh-CN" sz="2800" baseline="-25000" dirty="0"/>
              <a:t>3</a:t>
            </a:r>
            <a:r>
              <a:rPr lang="en-US" altLang="zh-CN" sz="2800" dirty="0"/>
              <a:t>·H</a:t>
            </a:r>
            <a:r>
              <a:rPr lang="en-US" altLang="zh-CN" sz="2800" baseline="-25000" dirty="0"/>
              <a:t>2</a:t>
            </a:r>
            <a:r>
              <a:rPr lang="en-US" altLang="zh-CN" sz="2800" dirty="0"/>
              <a:t>O </a:t>
            </a:r>
            <a:r>
              <a:rPr lang="zh-CN" altLang="en-US" sz="2800" dirty="0"/>
              <a:t>和</a:t>
            </a:r>
            <a:r>
              <a:rPr lang="en-US" altLang="zh-CN" sz="2800" dirty="0"/>
              <a:t>NH</a:t>
            </a:r>
            <a:r>
              <a:rPr lang="en-US" altLang="zh-CN" sz="2800" baseline="-25000" dirty="0"/>
              <a:t>4</a:t>
            </a:r>
            <a:r>
              <a:rPr lang="en-US" altLang="zh-CN" sz="2800" dirty="0"/>
              <a:t>Cl </a:t>
            </a:r>
            <a:r>
              <a:rPr lang="zh-CN" altLang="en-US" sz="2800" dirty="0"/>
              <a:t>缓冲溶液中加入少量强酸时，</a:t>
            </a:r>
            <a:r>
              <a:rPr lang="en-US" altLang="zh-CN" sz="2800" dirty="0"/>
              <a:t>H</a:t>
            </a:r>
            <a:r>
              <a:rPr lang="en-US" altLang="zh-CN" sz="2800" baseline="30000" dirty="0"/>
              <a:t>+</a:t>
            </a:r>
            <a:r>
              <a:rPr lang="en-US" altLang="zh-CN" sz="2800" dirty="0"/>
              <a:t> </a:t>
            </a:r>
            <a:r>
              <a:rPr lang="zh-CN" altLang="en-US" sz="2800" dirty="0"/>
              <a:t>基本上被</a:t>
            </a:r>
            <a:r>
              <a:rPr lang="en-US" altLang="zh-CN" sz="2800" dirty="0"/>
              <a:t>NH</a:t>
            </a:r>
            <a:r>
              <a:rPr lang="en-US" altLang="zh-CN" sz="2800" baseline="-25000" dirty="0"/>
              <a:t>3</a:t>
            </a:r>
            <a:r>
              <a:rPr lang="en-US" altLang="zh-CN" sz="2800" dirty="0"/>
              <a:t> ·H</a:t>
            </a:r>
            <a:r>
              <a:rPr lang="en-US" altLang="zh-CN" sz="2800" baseline="-25000" dirty="0"/>
              <a:t>2</a:t>
            </a:r>
            <a:r>
              <a:rPr lang="en-US" altLang="zh-CN" sz="2800" dirty="0"/>
              <a:t>O </a:t>
            </a:r>
            <a:r>
              <a:rPr lang="zh-CN" altLang="en-US" sz="2800" dirty="0"/>
              <a:t>消耗，所以溶液的</a:t>
            </a:r>
            <a:r>
              <a:rPr lang="en-US" altLang="zh-CN" sz="2800" dirty="0"/>
              <a:t>pH </a:t>
            </a:r>
            <a:r>
              <a:rPr lang="zh-CN" altLang="en-US" sz="2800" dirty="0"/>
              <a:t>值几乎不变；当加入少量强碱时，溶液中的</a:t>
            </a:r>
            <a:r>
              <a:rPr lang="en-US" altLang="zh-CN" sz="2800" dirty="0"/>
              <a:t>NH</a:t>
            </a:r>
            <a:r>
              <a:rPr lang="en-US" altLang="zh-CN" sz="2800" baseline="-25000" dirty="0"/>
              <a:t>4</a:t>
            </a:r>
            <a:r>
              <a:rPr lang="en-US" altLang="zh-CN" sz="2800" baseline="30000" dirty="0"/>
              <a:t>+</a:t>
            </a:r>
            <a:r>
              <a:rPr lang="zh-CN" altLang="en-US" sz="2800" dirty="0"/>
              <a:t>消耗</a:t>
            </a:r>
            <a:r>
              <a:rPr lang="en-US" altLang="zh-CN" sz="2800" dirty="0"/>
              <a:t>OH</a:t>
            </a:r>
            <a:r>
              <a:rPr lang="en-US" altLang="zh-CN" sz="2800" baseline="30000" dirty="0"/>
              <a:t>-</a:t>
            </a:r>
            <a:r>
              <a:rPr lang="zh-CN" altLang="en-US" sz="2800" dirty="0"/>
              <a:t>而阻碍了</a:t>
            </a:r>
            <a:r>
              <a:rPr lang="en-US" altLang="zh-CN" sz="2800" dirty="0"/>
              <a:t>pH </a:t>
            </a:r>
            <a:r>
              <a:rPr lang="zh-CN" altLang="en-US" sz="2800" dirty="0"/>
              <a:t>值的变化，故具有缓冲作用。</a:t>
            </a:r>
            <a:endParaRPr lang="en-US" altLang="zh-CN" sz="2800" dirty="0"/>
          </a:p>
          <a:p>
            <a:pPr>
              <a:buNone/>
            </a:pPr>
            <a:r>
              <a:rPr lang="zh-CN" altLang="en-US" sz="2800" dirty="0"/>
              <a:t>当向</a:t>
            </a:r>
            <a:r>
              <a:rPr lang="en-US" altLang="zh-CN" sz="2800" dirty="0"/>
              <a:t>NaH</a:t>
            </a:r>
            <a:r>
              <a:rPr lang="en-US" altLang="zh-CN" sz="2800" baseline="-25000" dirty="0"/>
              <a:t>2</a:t>
            </a:r>
            <a:r>
              <a:rPr lang="en-US" altLang="zh-CN" sz="2800" dirty="0"/>
              <a:t>PO</a:t>
            </a:r>
            <a:r>
              <a:rPr lang="en-US" altLang="zh-CN" sz="2800" baseline="-25000" dirty="0"/>
              <a:t>4</a:t>
            </a:r>
            <a:r>
              <a:rPr lang="en-US" altLang="zh-CN" sz="2800" dirty="0"/>
              <a:t> </a:t>
            </a:r>
            <a:r>
              <a:rPr lang="zh-CN" altLang="en-US" sz="2800" dirty="0"/>
              <a:t>和</a:t>
            </a:r>
            <a:r>
              <a:rPr lang="en-US" altLang="zh-CN" sz="2800" dirty="0"/>
              <a:t>Na</a:t>
            </a:r>
            <a:r>
              <a:rPr lang="en-US" altLang="zh-CN" sz="2800" baseline="-25000" dirty="0"/>
              <a:t>2</a:t>
            </a:r>
            <a:r>
              <a:rPr lang="en-US" altLang="zh-CN" sz="2800" dirty="0"/>
              <a:t>HPO</a:t>
            </a:r>
            <a:r>
              <a:rPr lang="en-US" altLang="zh-CN" sz="2800" baseline="-25000" dirty="0"/>
              <a:t>4</a:t>
            </a:r>
            <a:r>
              <a:rPr lang="en-US" altLang="zh-CN" sz="2800" dirty="0"/>
              <a:t> </a:t>
            </a:r>
            <a:r>
              <a:rPr lang="zh-CN" altLang="en-US" sz="2800" dirty="0"/>
              <a:t>缓冲溶液中加入少量强酸时，</a:t>
            </a:r>
            <a:r>
              <a:rPr lang="en-US" altLang="zh-CN" sz="2800" dirty="0"/>
              <a:t>H</a:t>
            </a:r>
            <a:r>
              <a:rPr lang="en-US" altLang="zh-CN" sz="2800" baseline="30000" dirty="0"/>
              <a:t>+</a:t>
            </a:r>
            <a:r>
              <a:rPr lang="zh-CN" altLang="en-US" sz="2800" dirty="0"/>
              <a:t>基本上被</a:t>
            </a:r>
            <a:r>
              <a:rPr lang="en-US" altLang="zh-CN" sz="2800" dirty="0"/>
              <a:t>HPO</a:t>
            </a:r>
            <a:r>
              <a:rPr lang="en-US" altLang="zh-CN" sz="2800" baseline="-25000" dirty="0"/>
              <a:t>4</a:t>
            </a:r>
            <a:r>
              <a:rPr lang="en-US" altLang="zh-CN" sz="2800" baseline="30000" dirty="0"/>
              <a:t>2-</a:t>
            </a:r>
            <a:r>
              <a:rPr lang="zh-CN" altLang="en-US" sz="2800" dirty="0"/>
              <a:t>消耗； 当加入少量强碱时，溶液中的</a:t>
            </a:r>
            <a:r>
              <a:rPr lang="en-US" altLang="zh-CN" sz="2800" dirty="0"/>
              <a:t>H</a:t>
            </a:r>
            <a:r>
              <a:rPr lang="en-US" altLang="zh-CN" sz="2800" baseline="-25000" dirty="0"/>
              <a:t>2</a:t>
            </a:r>
            <a:r>
              <a:rPr lang="en-US" altLang="zh-CN" sz="2800" dirty="0"/>
              <a:t>PO</a:t>
            </a:r>
            <a:r>
              <a:rPr lang="en-US" altLang="zh-CN" sz="2800" baseline="-25000" dirty="0"/>
              <a:t>4</a:t>
            </a:r>
            <a:r>
              <a:rPr lang="en-US" altLang="zh-CN" sz="2800" baseline="30000" dirty="0"/>
              <a:t>-</a:t>
            </a:r>
            <a:r>
              <a:rPr lang="zh-CN" altLang="en-US" sz="2800" dirty="0"/>
              <a:t>消耗</a:t>
            </a:r>
            <a:r>
              <a:rPr lang="en-US" altLang="zh-CN" sz="2800" dirty="0"/>
              <a:t>OH</a:t>
            </a:r>
            <a:r>
              <a:rPr lang="en-US" altLang="zh-CN" sz="2800" baseline="30000" dirty="0"/>
              <a:t>-</a:t>
            </a:r>
            <a:r>
              <a:rPr lang="zh-CN" altLang="en-US" sz="2800" dirty="0"/>
              <a:t>而阻碍了</a:t>
            </a:r>
            <a:r>
              <a:rPr lang="en-US" altLang="zh-CN" sz="2800" dirty="0"/>
              <a:t>pH</a:t>
            </a:r>
            <a:r>
              <a:rPr lang="zh-CN" altLang="en-US" sz="2800" dirty="0"/>
              <a:t>值的变化，故具有缓冲作用。</a:t>
            </a:r>
          </a:p>
          <a:p>
            <a:pPr>
              <a:buNone/>
            </a:pPr>
            <a:endParaRPr lang="en-US" altLang="zh-CN" sz="3000" dirty="0">
              <a:sym typeface="Wingdings" pitchFamily="2" charset="2"/>
            </a:endParaRPr>
          </a:p>
          <a:p>
            <a:pPr>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23.6.2 </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缓冲溶液的重要意义</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lnSpc>
                <a:spcPct val="150000"/>
              </a:lnSpc>
              <a:buNone/>
            </a:pPr>
            <a:r>
              <a:rPr lang="en-US" altLang="zh-CN" sz="3000" dirty="0">
                <a:sym typeface="Wingdings" pitchFamily="2" charset="2"/>
              </a:rPr>
              <a:t> </a:t>
            </a:r>
            <a:r>
              <a:rPr lang="zh-CN" altLang="en-US" sz="3000" dirty="0">
                <a:sym typeface="Wingdings" pitchFamily="2" charset="2"/>
              </a:rPr>
              <a:t>有些反应必须在一定的</a:t>
            </a:r>
            <a:r>
              <a:rPr lang="en-US" altLang="zh-CN" sz="3000" dirty="0">
                <a:sym typeface="Wingdings" pitchFamily="2" charset="2"/>
              </a:rPr>
              <a:t>pH</a:t>
            </a:r>
            <a:r>
              <a:rPr lang="zh-CN" altLang="en-US" sz="3000" dirty="0">
                <a:sym typeface="Wingdings" pitchFamily="2" charset="2"/>
              </a:rPr>
              <a:t>值范围里才能顺利进行。</a:t>
            </a:r>
            <a:endParaRPr lang="en-US" altLang="zh-CN" sz="3000" dirty="0">
              <a:sym typeface="Wingdings" pitchFamily="2" charset="2"/>
            </a:endParaRPr>
          </a:p>
          <a:p>
            <a:pPr>
              <a:buNone/>
            </a:pPr>
            <a:r>
              <a:rPr lang="zh-CN" altLang="en-US" sz="3000" dirty="0">
                <a:sym typeface="Wingdings" pitchFamily="2" charset="2"/>
              </a:rPr>
              <a:t>缓冲溶液的例子：</a:t>
            </a:r>
            <a:endParaRPr lang="en-US" altLang="zh-CN" sz="3000" dirty="0">
              <a:sym typeface="Wingdings" pitchFamily="2" charset="2"/>
            </a:endParaRPr>
          </a:p>
          <a:p>
            <a:r>
              <a:rPr lang="zh-CN" altLang="en-US" sz="3000" dirty="0">
                <a:sym typeface="Wingdings" pitchFamily="2" charset="2"/>
              </a:rPr>
              <a:t>土壤溶液</a:t>
            </a:r>
            <a:endParaRPr lang="en-US" altLang="zh-CN" sz="3000" dirty="0">
              <a:sym typeface="Wingdings" pitchFamily="2" charset="2"/>
            </a:endParaRPr>
          </a:p>
          <a:p>
            <a:r>
              <a:rPr lang="zh-CN" altLang="en-US" sz="3000" dirty="0">
                <a:sym typeface="Wingdings" pitchFamily="2" charset="2"/>
              </a:rPr>
              <a:t>血液</a:t>
            </a:r>
            <a:endParaRPr lang="en-US" altLang="zh-CN" sz="3000" dirty="0">
              <a:sym typeface="Wingdings" pitchFamily="2" charset="2"/>
            </a:endParaRPr>
          </a:p>
          <a:p>
            <a:pPr>
              <a:buNone/>
            </a:pPr>
            <a:r>
              <a:rPr lang="zh-CN" altLang="en-US" sz="3000" dirty="0">
                <a:sym typeface="Wingdings" pitchFamily="2" charset="2"/>
              </a:rPr>
              <a:t>思考题</a:t>
            </a:r>
            <a:r>
              <a:rPr lang="en-US" altLang="zh-CN" sz="3000" dirty="0">
                <a:sym typeface="Wingdings" pitchFamily="2" charset="2"/>
              </a:rPr>
              <a:t>23g</a:t>
            </a:r>
            <a:endParaRPr lang="en-US" sz="2800" dirty="0"/>
          </a:p>
          <a:p>
            <a:pPr>
              <a:buNone/>
            </a:pPr>
            <a:r>
              <a:rPr lang="zh-CN" altLang="en-US" sz="2800" dirty="0"/>
              <a:t>例：用氢氧化物沉淀法分离</a:t>
            </a:r>
            <a:r>
              <a:rPr lang="en-US" altLang="zh-CN" sz="2800" dirty="0"/>
              <a:t>Al</a:t>
            </a:r>
            <a:r>
              <a:rPr lang="en-US" altLang="zh-CN" sz="2800" baseline="30000" dirty="0"/>
              <a:t>3+</a:t>
            </a:r>
            <a:r>
              <a:rPr lang="zh-CN" altLang="en-US" sz="2800" dirty="0"/>
              <a:t>与</a:t>
            </a:r>
            <a:r>
              <a:rPr lang="en-US" altLang="zh-CN" sz="2800" dirty="0"/>
              <a:t>Mg</a:t>
            </a:r>
            <a:r>
              <a:rPr lang="en-US" altLang="zh-CN" sz="2800" baseline="30000" dirty="0"/>
              <a:t>2+</a:t>
            </a:r>
            <a:r>
              <a:rPr lang="zh-CN" altLang="en-US" sz="2800" dirty="0"/>
              <a:t>时，用氨水和氯化铵的混合溶液作为缓冲溶液，保持溶液的</a:t>
            </a:r>
            <a:r>
              <a:rPr lang="en-US" altLang="zh-CN" sz="2800" dirty="0"/>
              <a:t>pH </a:t>
            </a:r>
            <a:r>
              <a:rPr lang="zh-CN" altLang="en-US" sz="2800" dirty="0"/>
              <a:t>值在</a:t>
            </a:r>
            <a:r>
              <a:rPr lang="en-US" altLang="zh-CN" sz="2800" dirty="0"/>
              <a:t>9 </a:t>
            </a:r>
            <a:r>
              <a:rPr lang="zh-CN" altLang="en-US" sz="2800" dirty="0"/>
              <a:t>左右就能使</a:t>
            </a:r>
            <a:r>
              <a:rPr lang="en-US" altLang="zh-CN" sz="2800" dirty="0"/>
              <a:t>Al</a:t>
            </a:r>
            <a:r>
              <a:rPr lang="en-US" altLang="zh-CN" sz="2800" baseline="30000" dirty="0"/>
              <a:t>3+</a:t>
            </a:r>
            <a:r>
              <a:rPr lang="zh-CN" altLang="en-US" sz="2800" dirty="0"/>
              <a:t>完全沉淀而与</a:t>
            </a:r>
            <a:r>
              <a:rPr lang="en-US" altLang="zh-CN" sz="2800" dirty="0"/>
              <a:t>Mg</a:t>
            </a:r>
            <a:r>
              <a:rPr lang="en-US" altLang="zh-CN" sz="2800" baseline="30000" dirty="0"/>
              <a:t>2+</a:t>
            </a:r>
            <a:r>
              <a:rPr lang="zh-CN" altLang="en-US" sz="2800" dirty="0"/>
              <a:t>分离。</a:t>
            </a: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缓冲溶液的原理</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762000"/>
            <a:ext cx="8839200" cy="5486400"/>
          </a:xfrm>
        </p:spPr>
        <p:txBody>
          <a:bodyPr>
            <a:noAutofit/>
          </a:bodyPr>
          <a:lstStyle/>
          <a:p>
            <a:pPr>
              <a:lnSpc>
                <a:spcPct val="150000"/>
              </a:lnSpc>
              <a:buNone/>
            </a:pP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COOH </a:t>
            </a:r>
            <a:r>
              <a:rPr lang="zh-CN" altLang="en-US" sz="2800" dirty="0">
                <a:sym typeface="Wingdings" pitchFamily="2" charset="2"/>
              </a:rPr>
              <a:t>和</a:t>
            </a: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COONa</a:t>
            </a:r>
          </a:p>
          <a:p>
            <a:pPr>
              <a:buNone/>
            </a:pP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COONa (</a:t>
            </a:r>
            <a:r>
              <a:rPr lang="en-US" altLang="zh-CN" sz="2800" dirty="0" err="1">
                <a:sym typeface="Wingdings" pitchFamily="2" charset="2"/>
              </a:rPr>
              <a:t>aq</a:t>
            </a:r>
            <a:r>
              <a:rPr lang="en-US" altLang="zh-CN" sz="2800" dirty="0">
                <a:sym typeface="Wingdings" pitchFamily="2" charset="2"/>
              </a:rPr>
              <a:t>)	 	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Na</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COOH (</a:t>
            </a:r>
            <a:r>
              <a:rPr lang="en-US" altLang="zh-CN" sz="2800" dirty="0" err="1">
                <a:sym typeface="Wingdings" pitchFamily="2" charset="2"/>
              </a:rPr>
              <a:t>aq</a:t>
            </a:r>
            <a:r>
              <a:rPr lang="en-US" altLang="zh-CN" sz="2800" dirty="0">
                <a:sym typeface="Wingdings" pitchFamily="2" charset="2"/>
              </a:rPr>
              <a:t>)		 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r>
              <a:rPr lang="zh-CN" altLang="en-US" sz="2800" dirty="0">
                <a:sym typeface="Wingdings" pitchFamily="2" charset="2"/>
              </a:rPr>
              <a:t>由于同离子效应，平衡向左移，</a:t>
            </a:r>
            <a:endParaRPr lang="en-US" altLang="zh-CN" sz="2800" dirty="0">
              <a:sym typeface="Wingdings" pitchFamily="2" charset="2"/>
            </a:endParaRPr>
          </a:p>
          <a:p>
            <a:pPr>
              <a:spcBef>
                <a:spcPts val="0"/>
              </a:spcBef>
              <a:buNone/>
            </a:pP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小于溶液中只有醋酸时的</a:t>
            </a: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a:t>
            </a:r>
            <a:r>
              <a:rPr lang="zh-CN" altLang="en-US" sz="2800" dirty="0">
                <a:sym typeface="Wingdings" pitchFamily="2" charset="2"/>
              </a:rPr>
              <a:t>。</a:t>
            </a:r>
            <a:endParaRPr lang="en-US" altLang="zh-CN" sz="2800" dirty="0">
              <a:sym typeface="Wingdings" pitchFamily="2" charset="2"/>
            </a:endParaRPr>
          </a:p>
          <a:p>
            <a:pPr>
              <a:spcBef>
                <a:spcPts val="0"/>
              </a:spcBef>
              <a:buNone/>
            </a:pP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COOH</a:t>
            </a:r>
            <a:r>
              <a:rPr lang="zh-CN" altLang="en-US" sz="2800" dirty="0">
                <a:sym typeface="Wingdings" pitchFamily="2" charset="2"/>
              </a:rPr>
              <a:t>后备酸，抗碱成分。</a:t>
            </a:r>
            <a:endParaRPr lang="en-US" altLang="zh-CN" sz="2800" dirty="0">
              <a:sym typeface="Wingdings" pitchFamily="2" charset="2"/>
            </a:endParaRPr>
          </a:p>
          <a:p>
            <a:pPr>
              <a:spcBef>
                <a:spcPts val="0"/>
              </a:spcBef>
              <a:buNone/>
            </a:pPr>
            <a:r>
              <a:rPr lang="zh-CN" altLang="en-US" sz="2800" dirty="0">
                <a:sym typeface="Wingdings" pitchFamily="2" charset="2"/>
              </a:rPr>
              <a:t>加入</a:t>
            </a:r>
            <a:r>
              <a:rPr lang="zh-CN" altLang="en-US" sz="2800" b="1" dirty="0">
                <a:sym typeface="Wingdings" pitchFamily="2" charset="2"/>
              </a:rPr>
              <a:t>少量</a:t>
            </a:r>
            <a:r>
              <a:rPr lang="en-US" altLang="zh-CN" sz="2800" dirty="0" err="1">
                <a:sym typeface="Wingdings" pitchFamily="2" charset="2"/>
              </a:rPr>
              <a:t>NaOH</a:t>
            </a:r>
            <a:r>
              <a:rPr lang="en-US" altLang="zh-CN" sz="2800" dirty="0">
                <a:sym typeface="Wingdings" pitchFamily="2" charset="2"/>
              </a:rPr>
              <a:t>(</a:t>
            </a:r>
            <a:r>
              <a:rPr lang="en-US" altLang="zh-CN" sz="2800" dirty="0" err="1">
                <a:sym typeface="Wingdings" pitchFamily="2" charset="2"/>
              </a:rPr>
              <a:t>aq</a:t>
            </a:r>
            <a:r>
              <a:rPr lang="en-US" altLang="zh-CN" sz="2800" dirty="0">
                <a:sym typeface="Wingdings" pitchFamily="2" charset="2"/>
              </a:rPr>
              <a:t>)</a:t>
            </a:r>
            <a:r>
              <a:rPr lang="zh-CN" altLang="en-US" sz="2800" dirty="0">
                <a:sym typeface="Wingdings" pitchFamily="2" charset="2"/>
              </a:rPr>
              <a:t>时</a:t>
            </a:r>
            <a:endParaRPr lang="en-US" altLang="zh-CN" sz="2800" dirty="0">
              <a:sym typeface="Wingdings" pitchFamily="2" charset="2"/>
            </a:endParaRPr>
          </a:p>
          <a:p>
            <a:pPr>
              <a:spcBef>
                <a:spcPts val="0"/>
              </a:spcBef>
              <a:buNone/>
            </a:pP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COOH (</a:t>
            </a:r>
            <a:r>
              <a:rPr lang="en-US" altLang="zh-CN" sz="2800" dirty="0" err="1">
                <a:sym typeface="Wingdings" pitchFamily="2" charset="2"/>
              </a:rPr>
              <a:t>aq</a:t>
            </a:r>
            <a:r>
              <a:rPr lang="en-US" altLang="zh-CN" sz="2800" dirty="0">
                <a:sym typeface="Wingdings" pitchFamily="2" charset="2"/>
              </a:rPr>
              <a:t>)		 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spcBef>
                <a:spcPts val="0"/>
              </a:spcBef>
              <a:buNone/>
            </a:pPr>
            <a:r>
              <a:rPr lang="en-US" altLang="zh-CN" sz="2800" dirty="0">
                <a:sym typeface="Wingdings" pitchFamily="2" charset="2"/>
              </a:rPr>
              <a:t>		</a:t>
            </a:r>
            <a:r>
              <a:rPr lang="en-US" altLang="zh-CN" sz="2800" dirty="0" err="1">
                <a:sym typeface="Wingdings" pitchFamily="2" charset="2"/>
              </a:rPr>
              <a:t>NaOH</a:t>
            </a:r>
            <a:r>
              <a:rPr lang="en-US" altLang="zh-CN" sz="2800" dirty="0">
                <a:sym typeface="Wingdings" pitchFamily="2" charset="2"/>
              </a:rPr>
              <a:t>(</a:t>
            </a:r>
            <a:r>
              <a:rPr lang="en-US" altLang="zh-CN" sz="2800" dirty="0" err="1">
                <a:sym typeface="Wingdings" pitchFamily="2" charset="2"/>
              </a:rPr>
              <a:t>aq</a:t>
            </a:r>
            <a:r>
              <a:rPr lang="en-US" altLang="zh-CN" sz="2800" dirty="0">
                <a:sym typeface="Wingdings" pitchFamily="2" charset="2"/>
              </a:rPr>
              <a:t>)	 	Na</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OH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buNone/>
            </a:pPr>
            <a:endParaRPr lang="en-US" altLang="zh-CN" sz="2800" b="1" dirty="0">
              <a:sym typeface="Wingdings" pitchFamily="2" charset="2"/>
            </a:endParaRPr>
          </a:p>
          <a:p>
            <a:pPr>
              <a:spcBef>
                <a:spcPts val="0"/>
              </a:spcBef>
              <a:buNone/>
            </a:pPr>
            <a:r>
              <a:rPr lang="en-US" altLang="zh-CN" sz="2800" b="1" dirty="0">
                <a:sym typeface="Wingdings" pitchFamily="2" charset="2"/>
              </a:rPr>
              <a:t>							     </a:t>
            </a:r>
            <a:r>
              <a:rPr lang="en-US" altLang="zh-CN" sz="2800" dirty="0">
                <a:sym typeface="Wingdings" pitchFamily="2" charset="2"/>
              </a:rPr>
              <a:t>H</a:t>
            </a:r>
            <a:r>
              <a:rPr lang="en-US" altLang="zh-CN" sz="2800" baseline="-25000" dirty="0">
                <a:sym typeface="Wingdings" pitchFamily="2" charset="2"/>
              </a:rPr>
              <a:t>2</a:t>
            </a:r>
            <a:r>
              <a:rPr lang="en-US" altLang="zh-CN" sz="2800" dirty="0">
                <a:sym typeface="Wingdings" pitchFamily="2" charset="2"/>
              </a:rPr>
              <a:t>O </a:t>
            </a:r>
          </a:p>
          <a:p>
            <a:pPr>
              <a:spcBef>
                <a:spcPts val="0"/>
              </a:spcBef>
              <a:buNone/>
            </a:pP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降低，醋酸电离平衡向右移，补充减少的</a:t>
            </a: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 </a:t>
            </a:r>
          </a:p>
          <a:p>
            <a:pPr>
              <a:buNone/>
            </a:pPr>
            <a:endParaRPr lang="en-US" altLang="zh-CN" sz="2800" dirty="0">
              <a:sym typeface="Wingdings" pitchFamily="2" charset="2"/>
            </a:endParaRPr>
          </a:p>
        </p:txBody>
      </p:sp>
      <p:grpSp>
        <p:nvGrpSpPr>
          <p:cNvPr id="5" name="Group 11"/>
          <p:cNvGrpSpPr/>
          <p:nvPr/>
        </p:nvGrpSpPr>
        <p:grpSpPr>
          <a:xfrm>
            <a:off x="2971800" y="2133600"/>
            <a:ext cx="822960" cy="76199"/>
            <a:chOff x="2895600" y="6324600"/>
            <a:chExt cx="2133600" cy="76199"/>
          </a:xfrm>
        </p:grpSpPr>
        <p:cxnSp>
          <p:nvCxnSpPr>
            <p:cNvPr id="6" name="Straight Arrow Connector 5"/>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8" name="TextBox 7"/>
          <p:cNvSpPr txBox="1"/>
          <p:nvPr/>
        </p:nvSpPr>
        <p:spPr>
          <a:xfrm>
            <a:off x="4038600" y="1447800"/>
            <a:ext cx="2057400" cy="1015663"/>
          </a:xfrm>
          <a:prstGeom prst="rect">
            <a:avLst/>
          </a:prstGeom>
          <a:noFill/>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sz="1200" dirty="0"/>
          </a:p>
          <a:p>
            <a:endParaRPr lang="en-US" sz="1200" dirty="0"/>
          </a:p>
          <a:p>
            <a:endParaRPr lang="en-US" sz="1200" dirty="0"/>
          </a:p>
          <a:p>
            <a:endParaRPr lang="en-US" sz="1200" dirty="0"/>
          </a:p>
          <a:p>
            <a:endParaRPr lang="en-US" sz="1200" dirty="0"/>
          </a:p>
        </p:txBody>
      </p:sp>
      <p:grpSp>
        <p:nvGrpSpPr>
          <p:cNvPr id="9" name="Group 11"/>
          <p:cNvGrpSpPr/>
          <p:nvPr/>
        </p:nvGrpSpPr>
        <p:grpSpPr>
          <a:xfrm>
            <a:off x="3048000" y="4419600"/>
            <a:ext cx="822960" cy="76199"/>
            <a:chOff x="2895600" y="6324600"/>
            <a:chExt cx="2133600" cy="76199"/>
          </a:xfrm>
        </p:grpSpPr>
        <p:cxnSp>
          <p:nvCxnSpPr>
            <p:cNvPr id="10" name="Straight Arrow Connector 9"/>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rot="5400000">
            <a:off x="6282690" y="5299711"/>
            <a:ext cx="533401" cy="144780"/>
            <a:chOff x="2895600" y="6324600"/>
            <a:chExt cx="2133600" cy="76199"/>
          </a:xfrm>
        </p:grpSpPr>
        <p:cxnSp>
          <p:nvCxnSpPr>
            <p:cNvPr id="13" name="Straight Arrow Connector 12"/>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6328574" y="4419600"/>
            <a:ext cx="377026" cy="553998"/>
          </a:xfrm>
          <a:prstGeom prst="rect">
            <a:avLst/>
          </a:prstGeom>
          <a:noFill/>
        </p:spPr>
        <p:txBody>
          <a:bodyPr wrap="none" rtlCol="0">
            <a:spAutoFit/>
          </a:bodyPr>
          <a:lstStyle/>
          <a:p>
            <a:r>
              <a:rPr lang="en-US" sz="3000" dirty="0"/>
              <a:t>+</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blinds(horizontal)">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blinds(horizontal)">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blinds(horizontal)">
                                      <p:cBhvr>
                                        <p:cTn id="45" dur="50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blinds(horizontal)">
                                      <p:cBhvr>
                                        <p:cTn id="50" dur="500"/>
                                        <p:tgtEl>
                                          <p:spTgt spid="3">
                                            <p:txEl>
                                              <p:pRg st="7" end="7"/>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blinds(horizontal)">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animEffect transition="in" filter="blinds(horizontal)">
                                      <p:cBhvr>
                                        <p:cTn id="58" dur="500"/>
                                        <p:tgtEl>
                                          <p:spTgt spid="3">
                                            <p:txEl>
                                              <p:pRg st="8" end="8"/>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blinds(horizontal)">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blinds(horizontal)">
                                      <p:cBhvr>
                                        <p:cTn id="68" dur="500"/>
                                        <p:tgtEl>
                                          <p:spTgt spid="12"/>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
                                            <p:txEl>
                                              <p:pRg st="10" end="10"/>
                                            </p:txEl>
                                          </p:spTgt>
                                        </p:tgtEl>
                                        <p:attrNameLst>
                                          <p:attrName>style.visibility</p:attrName>
                                        </p:attrNameLst>
                                      </p:cBhvr>
                                      <p:to>
                                        <p:strVal val="visible"/>
                                      </p:to>
                                    </p:set>
                                    <p:animEffect transition="in" filter="blinds(horizontal)">
                                      <p:cBhvr>
                                        <p:cTn id="73" dur="500"/>
                                        <p:tgtEl>
                                          <p:spTgt spid="3">
                                            <p:txEl>
                                              <p:pRg st="10" end="1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3">
                                            <p:txEl>
                                              <p:pRg st="11" end="11"/>
                                            </p:txEl>
                                          </p:spTgt>
                                        </p:tgtEl>
                                        <p:attrNameLst>
                                          <p:attrName>style.visibility</p:attrName>
                                        </p:attrNameLst>
                                      </p:cBhvr>
                                      <p:to>
                                        <p:strVal val="visible"/>
                                      </p:to>
                                    </p:set>
                                    <p:animEffect transition="in" filter="blinds(horizontal)">
                                      <p:cBhvr>
                                        <p:cTn id="7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1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缓冲溶液的原理</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zh-CN" altLang="en-US" sz="2800" dirty="0">
                <a:sym typeface="Wingdings" pitchFamily="2" charset="2"/>
              </a:rPr>
              <a:t>加入</a:t>
            </a:r>
            <a:r>
              <a:rPr lang="zh-CN" altLang="en-US" sz="2800" b="1" dirty="0">
                <a:sym typeface="Wingdings" pitchFamily="2" charset="2"/>
              </a:rPr>
              <a:t>少量</a:t>
            </a:r>
            <a:r>
              <a:rPr lang="en-US" altLang="zh-CN" sz="2800" dirty="0" err="1">
                <a:sym typeface="Wingdings" pitchFamily="2" charset="2"/>
              </a:rPr>
              <a:t>HCl</a:t>
            </a:r>
            <a:r>
              <a:rPr lang="en-US" altLang="zh-CN" sz="2800" dirty="0">
                <a:sym typeface="Wingdings" pitchFamily="2" charset="2"/>
              </a:rPr>
              <a:t>(</a:t>
            </a:r>
            <a:r>
              <a:rPr lang="en-US" altLang="zh-CN" sz="2800" dirty="0" err="1">
                <a:sym typeface="Wingdings" pitchFamily="2" charset="2"/>
              </a:rPr>
              <a:t>aq</a:t>
            </a:r>
            <a:r>
              <a:rPr lang="en-US" altLang="zh-CN" sz="2800" dirty="0">
                <a:sym typeface="Wingdings" pitchFamily="2" charset="2"/>
              </a:rPr>
              <a:t>)</a:t>
            </a:r>
            <a:r>
              <a:rPr lang="zh-CN" altLang="en-US" sz="2800" dirty="0">
                <a:sym typeface="Wingdings" pitchFamily="2" charset="2"/>
              </a:rPr>
              <a:t>时</a:t>
            </a:r>
            <a:endParaRPr lang="en-US" altLang="zh-CN" sz="2800" dirty="0">
              <a:sym typeface="Wingdings" pitchFamily="2" charset="2"/>
            </a:endParaRPr>
          </a:p>
          <a:p>
            <a:pPr>
              <a:spcBef>
                <a:spcPts val="0"/>
              </a:spcBef>
              <a:buNone/>
            </a:pP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COOH (</a:t>
            </a:r>
            <a:r>
              <a:rPr lang="en-US" altLang="zh-CN" sz="2800" dirty="0" err="1">
                <a:sym typeface="Wingdings" pitchFamily="2" charset="2"/>
              </a:rPr>
              <a:t>aq</a:t>
            </a:r>
            <a:r>
              <a:rPr lang="en-US" altLang="zh-CN" sz="2800" dirty="0">
                <a:sym typeface="Wingdings" pitchFamily="2" charset="2"/>
              </a:rPr>
              <a:t>)		 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spcBef>
                <a:spcPts val="0"/>
              </a:spcBef>
              <a:buNone/>
            </a:pPr>
            <a:r>
              <a:rPr lang="en-US" altLang="zh-CN" sz="2800" dirty="0">
                <a:sym typeface="Wingdings" pitchFamily="2" charset="2"/>
              </a:rPr>
              <a:t>		</a:t>
            </a:r>
            <a:r>
              <a:rPr lang="en-US" altLang="zh-CN" sz="2800" dirty="0" err="1">
                <a:sym typeface="Wingdings" pitchFamily="2" charset="2"/>
              </a:rPr>
              <a:t>HCl</a:t>
            </a:r>
            <a:r>
              <a:rPr lang="en-US" altLang="zh-CN" sz="2800" dirty="0">
                <a:sym typeface="Wingdings" pitchFamily="2" charset="2"/>
              </a:rPr>
              <a:t>(</a:t>
            </a:r>
            <a:r>
              <a:rPr lang="en-US" altLang="zh-CN" sz="2800" dirty="0" err="1">
                <a:sym typeface="Wingdings" pitchFamily="2" charset="2"/>
              </a:rPr>
              <a:t>aq</a:t>
            </a:r>
            <a:r>
              <a:rPr lang="en-US" altLang="zh-CN" sz="2800" dirty="0">
                <a:sym typeface="Wingdings" pitchFamily="2" charset="2"/>
              </a:rPr>
              <a:t>)	 	</a:t>
            </a:r>
            <a:r>
              <a:rPr lang="en-US" altLang="zh-CN" sz="2800" dirty="0" err="1">
                <a:sym typeface="Wingdings" pitchFamily="2" charset="2"/>
              </a:rPr>
              <a:t>Cl</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  + 	     H</a:t>
            </a:r>
            <a:r>
              <a:rPr lang="en-US" altLang="zh-CN" sz="2800" baseline="30000" dirty="0">
                <a:sym typeface="Wingdings" pitchFamily="2" charset="2"/>
              </a:rPr>
              <a:t>+</a:t>
            </a:r>
            <a:r>
              <a:rPr lang="en-US" altLang="zh-CN" sz="2800" dirty="0">
                <a:sym typeface="Wingdings" pitchFamily="2" charset="2"/>
              </a:rPr>
              <a:t> (</a:t>
            </a:r>
            <a:r>
              <a:rPr lang="en-US" altLang="zh-CN" sz="2800" dirty="0" err="1">
                <a:sym typeface="Wingdings" pitchFamily="2" charset="2"/>
              </a:rPr>
              <a:t>aq</a:t>
            </a:r>
            <a:r>
              <a:rPr lang="en-US" altLang="zh-CN" sz="2800" dirty="0">
                <a:sym typeface="Wingdings" pitchFamily="2" charset="2"/>
              </a:rPr>
              <a:t>)</a:t>
            </a:r>
          </a:p>
          <a:p>
            <a:pPr>
              <a:spcBef>
                <a:spcPts val="0"/>
              </a:spcBef>
              <a:buNone/>
            </a:pP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升高，醋酸电离平衡向左移（溶液中有大量的</a:t>
            </a: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，因为有</a:t>
            </a: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COONa</a:t>
            </a:r>
            <a:r>
              <a:rPr lang="zh-CN" altLang="en-US" sz="2800" dirty="0">
                <a:sym typeface="Wingdings" pitchFamily="2" charset="2"/>
              </a:rPr>
              <a:t> ），</a:t>
            </a: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几乎没有升高。</a:t>
            </a:r>
            <a:endParaRPr lang="en-US" altLang="zh-CN" sz="2800" dirty="0">
              <a:sym typeface="Wingdings" pitchFamily="2" charset="2"/>
            </a:endParaRPr>
          </a:p>
          <a:p>
            <a:pPr>
              <a:spcBef>
                <a:spcPts val="0"/>
              </a:spcBef>
              <a:buNone/>
            </a:pP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即</a:t>
            </a: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COONa </a:t>
            </a:r>
            <a:r>
              <a:rPr lang="zh-CN" altLang="en-US" sz="2800" dirty="0">
                <a:sym typeface="Wingdings" pitchFamily="2" charset="2"/>
              </a:rPr>
              <a:t>为抗酸成分。</a:t>
            </a:r>
            <a:endParaRPr lang="en-US" altLang="zh-CN" sz="2800" dirty="0">
              <a:sym typeface="Wingdings" pitchFamily="2" charset="2"/>
            </a:endParaRPr>
          </a:p>
          <a:p>
            <a:pPr>
              <a:spcBef>
                <a:spcPts val="0"/>
              </a:spcBef>
              <a:buNone/>
            </a:pPr>
            <a:endParaRPr lang="en-US" altLang="zh-CN" sz="2800" dirty="0">
              <a:sym typeface="Wingdings" pitchFamily="2" charset="2"/>
            </a:endParaRPr>
          </a:p>
          <a:p>
            <a:pPr>
              <a:spcBef>
                <a:spcPts val="0"/>
              </a:spcBef>
              <a:buNone/>
            </a:pPr>
            <a:r>
              <a:rPr lang="zh-CN" altLang="en-US" sz="2800" dirty="0">
                <a:sym typeface="Wingdings" pitchFamily="2" charset="2"/>
              </a:rPr>
              <a:t>稀释时，</a:t>
            </a:r>
            <a:endParaRPr lang="en-US" altLang="zh-CN" sz="2800" dirty="0">
              <a:sym typeface="Wingdings" pitchFamily="2" charset="2"/>
            </a:endParaRPr>
          </a:p>
          <a:p>
            <a:pPr>
              <a:spcBef>
                <a:spcPts val="0"/>
              </a:spcBef>
              <a:buNone/>
            </a:pP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a:t>
            </a:r>
            <a:r>
              <a:rPr lang="zh-CN" altLang="en-US" sz="2800" dirty="0">
                <a:sym typeface="Wingdings" pitchFamily="2" charset="2"/>
              </a:rPr>
              <a:t>降低，</a:t>
            </a:r>
            <a:r>
              <a:rPr lang="en-US" altLang="zh-CN" sz="2800" dirty="0">
                <a:sym typeface="Wingdings" pitchFamily="2" charset="2"/>
              </a:rPr>
              <a:t> [CH</a:t>
            </a:r>
            <a:r>
              <a:rPr lang="en-US" altLang="zh-CN" sz="2800" baseline="-25000" dirty="0">
                <a:sym typeface="Wingdings" pitchFamily="2" charset="2"/>
              </a:rPr>
              <a:t>3</a:t>
            </a:r>
            <a:r>
              <a:rPr lang="en-US" altLang="zh-CN" sz="2800" dirty="0">
                <a:sym typeface="Wingdings" pitchFamily="2" charset="2"/>
              </a:rPr>
              <a:t>COO</a:t>
            </a:r>
            <a:r>
              <a:rPr lang="en-US" altLang="zh-CN" sz="2800" baseline="30000" dirty="0">
                <a:sym typeface="Wingdings" pitchFamily="2" charset="2"/>
              </a:rPr>
              <a:t>-</a:t>
            </a:r>
            <a:r>
              <a:rPr lang="en-US" altLang="zh-CN" sz="2800" dirty="0">
                <a:sym typeface="Wingdings" pitchFamily="2" charset="2"/>
              </a:rPr>
              <a:t> ]</a:t>
            </a:r>
            <a:r>
              <a:rPr lang="zh-CN" altLang="en-US" sz="2800" dirty="0">
                <a:sym typeface="Wingdings" pitchFamily="2" charset="2"/>
              </a:rPr>
              <a:t>也低，但</a:t>
            </a:r>
            <a:r>
              <a:rPr lang="en-US" altLang="zh-CN" sz="2800" dirty="0">
                <a:sym typeface="Wingdings" pitchFamily="2" charset="2"/>
              </a:rPr>
              <a:t>CH</a:t>
            </a:r>
            <a:r>
              <a:rPr lang="en-US" altLang="zh-CN" sz="2800" baseline="-25000" dirty="0">
                <a:sym typeface="Wingdings" pitchFamily="2" charset="2"/>
              </a:rPr>
              <a:t>3</a:t>
            </a:r>
            <a:r>
              <a:rPr lang="en-US" altLang="zh-CN" sz="2800" dirty="0">
                <a:sym typeface="Wingdings" pitchFamily="2" charset="2"/>
              </a:rPr>
              <a:t>COOH</a:t>
            </a:r>
            <a:r>
              <a:rPr lang="zh-CN" altLang="en-US" sz="2800" dirty="0">
                <a:sym typeface="Wingdings" pitchFamily="2" charset="2"/>
              </a:rPr>
              <a:t>电离度增加，</a:t>
            </a:r>
            <a:r>
              <a:rPr lang="en-US" altLang="zh-CN" sz="2800" dirty="0">
                <a:sym typeface="Wingdings" pitchFamily="2" charset="2"/>
              </a:rPr>
              <a:t>pH</a:t>
            </a:r>
            <a:r>
              <a:rPr lang="zh-CN" altLang="en-US" sz="2800" dirty="0">
                <a:sym typeface="Wingdings" pitchFamily="2" charset="2"/>
              </a:rPr>
              <a:t>值基本不变。</a:t>
            </a:r>
            <a:endParaRPr lang="en-US" altLang="zh-CN" sz="2800" dirty="0">
              <a:sym typeface="Wingdings" pitchFamily="2" charset="2"/>
            </a:endParaRPr>
          </a:p>
          <a:p>
            <a:pPr>
              <a:spcBef>
                <a:spcPts val="0"/>
              </a:spcBef>
              <a:buNone/>
            </a:pPr>
            <a:endParaRPr lang="en-US" altLang="zh-CN" sz="2800" dirty="0">
              <a:sym typeface="Wingdings" pitchFamily="2" charset="2"/>
            </a:endParaRPr>
          </a:p>
          <a:p>
            <a:pPr>
              <a:buNone/>
            </a:pPr>
            <a:r>
              <a:rPr lang="zh-CN" altLang="en-US" sz="3000" b="1" dirty="0">
                <a:sym typeface="Wingdings" pitchFamily="2" charset="2"/>
              </a:rPr>
              <a:t>缓冲溶液的缓冲能力是有一定限度的，抗酸或抗碱成分消耗完，它会失去缓冲作用。</a:t>
            </a:r>
            <a:endParaRPr lang="en-US" altLang="zh-CN" sz="3000" b="1"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p:txBody>
      </p:sp>
      <p:grpSp>
        <p:nvGrpSpPr>
          <p:cNvPr id="5" name="Group 11"/>
          <p:cNvGrpSpPr/>
          <p:nvPr/>
        </p:nvGrpSpPr>
        <p:grpSpPr>
          <a:xfrm>
            <a:off x="3048000" y="1600200"/>
            <a:ext cx="822960" cy="76199"/>
            <a:chOff x="2895600" y="6324600"/>
            <a:chExt cx="2133600" cy="76199"/>
          </a:xfrm>
        </p:grpSpPr>
        <p:cxnSp>
          <p:nvCxnSpPr>
            <p:cNvPr id="6" name="Straight Arrow Connector 5"/>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blinds(horizontal)">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linds(horizontal)">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linds(horizontal)">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blinds(horizontal)">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blinds(horizontal)">
                                      <p:cBhvr>
                                        <p:cTn id="4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marL="514350" indent="-514350">
              <a:spcBef>
                <a:spcPts val="0"/>
              </a:spcBef>
              <a:buAutoNum type="arabicPeriod"/>
            </a:pPr>
            <a:r>
              <a:rPr lang="en-US" altLang="zh-CN" sz="3000" dirty="0">
                <a:sym typeface="Wingdings" pitchFamily="2" charset="2"/>
              </a:rPr>
              <a:t>A </a:t>
            </a:r>
            <a:r>
              <a:rPr lang="zh-CN" altLang="en-US" sz="3000" dirty="0">
                <a:sym typeface="Wingdings" pitchFamily="2" charset="2"/>
              </a:rPr>
              <a:t>不是电解质也不是非电解质</a:t>
            </a:r>
            <a:endParaRPr lang="en-US" altLang="zh-CN" sz="3000" dirty="0">
              <a:sym typeface="Wingdings" pitchFamily="2" charset="2"/>
            </a:endParaRPr>
          </a:p>
          <a:p>
            <a:pPr marL="514350" indent="-514350">
              <a:spcBef>
                <a:spcPts val="0"/>
              </a:spcBef>
              <a:buNone/>
            </a:pPr>
            <a:r>
              <a:rPr lang="en-US" altLang="zh-CN" sz="3000" dirty="0">
                <a:sym typeface="Wingdings" pitchFamily="2" charset="2"/>
              </a:rPr>
              <a:t>	B </a:t>
            </a:r>
            <a:r>
              <a:rPr lang="zh-CN" altLang="en-US" sz="3000" dirty="0">
                <a:sym typeface="Wingdings" pitchFamily="2" charset="2"/>
              </a:rPr>
              <a:t>弱酸</a:t>
            </a:r>
            <a:r>
              <a:rPr lang="en-US" altLang="zh-CN" sz="3000" dirty="0">
                <a:sym typeface="Wingdings" pitchFamily="2" charset="2"/>
              </a:rPr>
              <a:t>-</a:t>
            </a:r>
            <a:r>
              <a:rPr lang="zh-CN" altLang="en-US" sz="3000" dirty="0">
                <a:sym typeface="Wingdings" pitchFamily="2" charset="2"/>
              </a:rPr>
              <a:t>弱电解质</a:t>
            </a:r>
            <a:endParaRPr lang="en-US" altLang="zh-CN" sz="3000" dirty="0">
              <a:sym typeface="Wingdings" pitchFamily="2" charset="2"/>
            </a:endParaRPr>
          </a:p>
          <a:p>
            <a:pPr marL="514350" indent="-514350">
              <a:spcBef>
                <a:spcPts val="0"/>
              </a:spcBef>
              <a:buNone/>
            </a:pPr>
            <a:r>
              <a:rPr lang="en-US" altLang="zh-CN" sz="3000" dirty="0">
                <a:sym typeface="Wingdings" pitchFamily="2" charset="2"/>
              </a:rPr>
              <a:t>	C </a:t>
            </a:r>
            <a:r>
              <a:rPr lang="zh-CN" altLang="en-US" sz="3000" dirty="0">
                <a:sym typeface="Wingdings" pitchFamily="2" charset="2"/>
              </a:rPr>
              <a:t>难溶电解质</a:t>
            </a:r>
            <a:endParaRPr lang="en-US" altLang="zh-CN" sz="3000" dirty="0">
              <a:sym typeface="Wingdings" pitchFamily="2" charset="2"/>
            </a:endParaRPr>
          </a:p>
          <a:p>
            <a:pPr marL="514350" indent="-514350">
              <a:spcBef>
                <a:spcPts val="0"/>
              </a:spcBef>
              <a:buNone/>
            </a:pPr>
            <a:r>
              <a:rPr lang="en-US" altLang="zh-CN" sz="3000" dirty="0">
                <a:sym typeface="Wingdings" pitchFamily="2" charset="2"/>
              </a:rPr>
              <a:t>	</a:t>
            </a:r>
            <a:r>
              <a:rPr lang="en-US" altLang="zh-CN" sz="3000" dirty="0" err="1">
                <a:sym typeface="Wingdings" pitchFamily="2" charset="2"/>
              </a:rPr>
              <a:t>Ans</a:t>
            </a:r>
            <a:r>
              <a:rPr lang="en-US" altLang="zh-CN" sz="3000" dirty="0">
                <a:sym typeface="Wingdings" pitchFamily="2" charset="2"/>
              </a:rPr>
              <a:t>: D </a:t>
            </a:r>
          </a:p>
          <a:p>
            <a:pPr marL="514350" indent="-514350">
              <a:spcBef>
                <a:spcPts val="0"/>
              </a:spcBef>
              <a:buNone/>
            </a:pPr>
            <a:r>
              <a:rPr lang="en-US" altLang="zh-CN" sz="3000" dirty="0">
                <a:sym typeface="Wingdings" pitchFamily="2" charset="2"/>
              </a:rPr>
              <a:t>2. C </a:t>
            </a:r>
          </a:p>
          <a:p>
            <a:pPr marL="514350" indent="-514350">
              <a:spcBef>
                <a:spcPts val="0"/>
              </a:spcBef>
              <a:buAutoNum type="arabicPeriod" startAt="3"/>
            </a:pPr>
            <a:r>
              <a:rPr lang="en-US" altLang="zh-CN" sz="3000" dirty="0">
                <a:sym typeface="Wingdings" pitchFamily="2" charset="2"/>
              </a:rPr>
              <a:t> 		A</a:t>
            </a:r>
            <a:r>
              <a:rPr lang="en-US" altLang="zh-CN" sz="3000" baseline="-25000" dirty="0">
                <a:sym typeface="Wingdings" pitchFamily="2" charset="2"/>
              </a:rPr>
              <a:t>2</a:t>
            </a:r>
            <a:r>
              <a:rPr lang="en-US" altLang="zh-CN" sz="3000" dirty="0">
                <a:sym typeface="Wingdings" pitchFamily="2" charset="2"/>
              </a:rPr>
              <a:t> X</a:t>
            </a:r>
            <a:r>
              <a:rPr lang="en-US" altLang="zh-CN" sz="3000" baseline="-25000" dirty="0">
                <a:sym typeface="Wingdings" pitchFamily="2" charset="2"/>
              </a:rPr>
              <a:t>3</a:t>
            </a:r>
            <a:r>
              <a:rPr lang="en-US" altLang="zh-CN" sz="3000" dirty="0">
                <a:sym typeface="Wingdings" pitchFamily="2" charset="2"/>
              </a:rPr>
              <a:t> &lt;--&gt; 2 A</a:t>
            </a:r>
            <a:r>
              <a:rPr lang="en-US" altLang="zh-CN" sz="3000" baseline="30000" dirty="0">
                <a:sym typeface="Wingdings" pitchFamily="2" charset="2"/>
              </a:rPr>
              <a:t>3+ </a:t>
            </a:r>
            <a:r>
              <a:rPr lang="en-US" altLang="zh-CN" sz="3000" dirty="0">
                <a:sym typeface="Wingdings" pitchFamily="2" charset="2"/>
              </a:rPr>
              <a:t> + 3 X</a:t>
            </a:r>
            <a:r>
              <a:rPr lang="en-US" altLang="zh-CN" sz="3000" baseline="30000" dirty="0">
                <a:sym typeface="Wingdings" pitchFamily="2" charset="2"/>
              </a:rPr>
              <a:t>2-</a:t>
            </a:r>
          </a:p>
          <a:p>
            <a:pPr marL="514350" indent="-514350">
              <a:spcBef>
                <a:spcPts val="0"/>
              </a:spcBef>
              <a:buNone/>
            </a:pPr>
            <a:r>
              <a:rPr lang="en-US" altLang="zh-CN" sz="3000" dirty="0">
                <a:sym typeface="Wingdings" pitchFamily="2" charset="2"/>
              </a:rPr>
              <a:t>[</a:t>
            </a:r>
            <a:r>
              <a:rPr lang="zh-CN" altLang="en-US" sz="3000" dirty="0">
                <a:sym typeface="Wingdings" pitchFamily="2" charset="2"/>
              </a:rPr>
              <a:t>开始</a:t>
            </a:r>
            <a:r>
              <a:rPr lang="en-US" altLang="zh-CN" sz="3000" dirty="0">
                <a:sym typeface="Wingdings" pitchFamily="2" charset="2"/>
              </a:rPr>
              <a:t>]M	2		0	0</a:t>
            </a:r>
          </a:p>
          <a:p>
            <a:pPr marL="514350" indent="-514350">
              <a:spcBef>
                <a:spcPts val="0"/>
              </a:spcBef>
              <a:buNone/>
            </a:pPr>
            <a:r>
              <a:rPr lang="en-US" altLang="zh-CN" sz="3000" dirty="0">
                <a:sym typeface="Wingdings" pitchFamily="2" charset="2"/>
              </a:rPr>
              <a:t>[</a:t>
            </a:r>
            <a:r>
              <a:rPr lang="zh-CN" altLang="en-US" sz="3000" dirty="0">
                <a:sym typeface="Wingdings" pitchFamily="2" charset="2"/>
              </a:rPr>
              <a:t>电离</a:t>
            </a:r>
            <a:r>
              <a:rPr lang="en-US" altLang="zh-CN" sz="3000" dirty="0">
                <a:sym typeface="Wingdings" pitchFamily="2" charset="2"/>
              </a:rPr>
              <a:t>]M	1		2	3		</a:t>
            </a:r>
            <a:r>
              <a:rPr lang="en-US" altLang="zh-CN" sz="3000" dirty="0" err="1">
                <a:sym typeface="Wingdings" pitchFamily="2" charset="2"/>
              </a:rPr>
              <a:t>Ans</a:t>
            </a:r>
            <a:r>
              <a:rPr lang="zh-CN" altLang="en-US" sz="3000" dirty="0">
                <a:sym typeface="Wingdings" pitchFamily="2" charset="2"/>
              </a:rPr>
              <a:t>： </a:t>
            </a:r>
            <a:r>
              <a:rPr lang="en-US" altLang="zh-CN" sz="3000" dirty="0">
                <a:sym typeface="Wingdings" pitchFamily="2" charset="2"/>
              </a:rPr>
              <a:t>C</a:t>
            </a:r>
          </a:p>
          <a:p>
            <a:pPr marL="514350" indent="-514350">
              <a:spcBef>
                <a:spcPts val="0"/>
              </a:spcBef>
              <a:buNone/>
            </a:pPr>
            <a:r>
              <a:rPr lang="en-US" altLang="zh-CN" sz="3000" dirty="0">
                <a:sym typeface="Wingdings" pitchFamily="2" charset="2"/>
              </a:rPr>
              <a:t>4. D</a:t>
            </a:r>
          </a:p>
          <a:p>
            <a:pPr marL="514350" indent="-514350">
              <a:spcBef>
                <a:spcPts val="0"/>
              </a:spcBef>
              <a:buNone/>
            </a:pPr>
            <a:r>
              <a:rPr lang="en-US" altLang="zh-CN" sz="2800" dirty="0" err="1"/>
              <a:t>HCl</a:t>
            </a:r>
            <a:r>
              <a:rPr lang="en-US" altLang="zh-CN" sz="2800" dirty="0"/>
              <a:t> </a:t>
            </a:r>
            <a:r>
              <a:rPr lang="zh-CN" altLang="en-US" sz="2800" dirty="0"/>
              <a:t>为强酸，在水溶液中完全电离。</a:t>
            </a:r>
            <a:r>
              <a:rPr lang="en-US" altLang="zh-CN" sz="2800" dirty="0"/>
              <a:t>[H</a:t>
            </a:r>
            <a:r>
              <a:rPr lang="en-US" altLang="zh-CN" sz="2800" baseline="30000" dirty="0"/>
              <a:t>+</a:t>
            </a:r>
            <a:r>
              <a:rPr lang="en-US" altLang="zh-CN" sz="2800" dirty="0"/>
              <a:t>]=0.1 </a:t>
            </a:r>
            <a:r>
              <a:rPr lang="zh-CN" altLang="en-US" sz="2800" dirty="0"/>
              <a:t>，</a:t>
            </a:r>
            <a:r>
              <a:rPr lang="en-US" altLang="zh-CN" sz="2800" dirty="0"/>
              <a:t>pH=1</a:t>
            </a:r>
          </a:p>
          <a:p>
            <a:pPr marL="514350" indent="-514350">
              <a:spcBef>
                <a:spcPts val="0"/>
              </a:spcBef>
              <a:buNone/>
            </a:pPr>
            <a:r>
              <a:rPr lang="en-US" altLang="zh-CN" sz="2800" dirty="0"/>
              <a:t>CH3COOH</a:t>
            </a:r>
            <a:r>
              <a:rPr lang="zh-CN" altLang="en-US" sz="2800" dirty="0"/>
              <a:t>是弱酸，在水溶液中不能完全电离。</a:t>
            </a:r>
            <a:r>
              <a:rPr lang="en-US" altLang="zh-CN" sz="2800" dirty="0"/>
              <a:t> </a:t>
            </a:r>
          </a:p>
          <a:p>
            <a:pPr marL="514350" indent="-514350">
              <a:spcBef>
                <a:spcPts val="0"/>
              </a:spcBef>
              <a:buNone/>
            </a:pPr>
            <a:r>
              <a:rPr lang="en-US" altLang="zh-CN" sz="2800" dirty="0"/>
              <a:t>[H</a:t>
            </a:r>
            <a:r>
              <a:rPr lang="en-US" altLang="zh-CN" sz="2800" baseline="30000" dirty="0"/>
              <a:t>+</a:t>
            </a:r>
            <a:r>
              <a:rPr lang="en-US" altLang="zh-CN" sz="2800" dirty="0"/>
              <a:t>]&lt;0.1 </a:t>
            </a:r>
            <a:r>
              <a:rPr lang="zh-CN" altLang="en-US" sz="2800" dirty="0"/>
              <a:t>，</a:t>
            </a:r>
            <a:r>
              <a:rPr lang="en-US" altLang="zh-CN" sz="2800" dirty="0"/>
              <a:t>pH&gt;1</a:t>
            </a: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en-US" altLang="zh-CN" sz="3000" dirty="0">
                <a:sym typeface="Wingdings" pitchFamily="2" charset="2"/>
              </a:rPr>
              <a:t>5. </a:t>
            </a:r>
            <a:r>
              <a:rPr lang="en-US" sz="2800" dirty="0"/>
              <a:t>NH</a:t>
            </a:r>
            <a:r>
              <a:rPr lang="en-US" sz="2800" baseline="-25000" dirty="0"/>
              <a:t>3</a:t>
            </a:r>
            <a:r>
              <a:rPr lang="en-US" sz="2800" dirty="0"/>
              <a:t>·H</a:t>
            </a:r>
            <a:r>
              <a:rPr lang="en-US" sz="2800" baseline="-25000" dirty="0"/>
              <a:t>2</a:t>
            </a:r>
            <a:r>
              <a:rPr lang="en-US" sz="2800" dirty="0"/>
              <a:t>O </a:t>
            </a:r>
            <a:r>
              <a:rPr lang="zh-CN" altLang="en-US" sz="2800" dirty="0"/>
              <a:t>与</a:t>
            </a:r>
            <a:r>
              <a:rPr lang="en-US" sz="2800" dirty="0" err="1"/>
              <a:t>HCl</a:t>
            </a:r>
            <a:r>
              <a:rPr lang="en-US" sz="2800" dirty="0"/>
              <a:t> </a:t>
            </a:r>
            <a:r>
              <a:rPr lang="zh-CN" altLang="en-US" sz="2800" dirty="0"/>
              <a:t>溶液混合后发生中和反应，</a:t>
            </a:r>
            <a:endParaRPr lang="en-US" altLang="zh-CN" sz="2800" dirty="0"/>
          </a:p>
          <a:p>
            <a:pPr>
              <a:spcBef>
                <a:spcPts val="0"/>
              </a:spcBef>
              <a:buNone/>
            </a:pPr>
            <a:r>
              <a:rPr lang="en-US" altLang="zh-CN" sz="2800" dirty="0"/>
              <a:t>		</a:t>
            </a:r>
            <a:r>
              <a:rPr lang="zh-CN" altLang="en-US" sz="2800" dirty="0"/>
              <a:t> </a:t>
            </a:r>
            <a:r>
              <a:rPr lang="en-US" sz="2800" dirty="0"/>
              <a:t>NH</a:t>
            </a:r>
            <a:r>
              <a:rPr lang="en-US" sz="2800" baseline="-25000" dirty="0"/>
              <a:t>3</a:t>
            </a:r>
            <a:r>
              <a:rPr lang="en-US" sz="2800" dirty="0"/>
              <a:t>·H</a:t>
            </a:r>
            <a:r>
              <a:rPr lang="en-US" sz="2800" baseline="-25000" dirty="0"/>
              <a:t>2</a:t>
            </a:r>
            <a:r>
              <a:rPr lang="en-US" sz="2800" dirty="0"/>
              <a:t>O </a:t>
            </a:r>
            <a:r>
              <a:rPr lang="en-US" altLang="zh-CN" sz="2800" dirty="0"/>
              <a:t>+ </a:t>
            </a:r>
            <a:r>
              <a:rPr lang="en-US" altLang="zh-CN" sz="2800" dirty="0" err="1"/>
              <a:t>HCl</a:t>
            </a:r>
            <a:r>
              <a:rPr lang="en-US" altLang="zh-CN" sz="2800" dirty="0"/>
              <a:t> </a:t>
            </a:r>
            <a:r>
              <a:rPr lang="en-US" altLang="zh-CN" sz="2800" dirty="0">
                <a:sym typeface="Wingdings" pitchFamily="2" charset="2"/>
              </a:rPr>
              <a:t></a:t>
            </a:r>
            <a:r>
              <a:rPr lang="en-US" sz="2800" dirty="0"/>
              <a:t> NH</a:t>
            </a:r>
            <a:r>
              <a:rPr lang="en-US" sz="2800" baseline="-25000" dirty="0"/>
              <a:t>4</a:t>
            </a:r>
            <a:r>
              <a:rPr lang="en-US" sz="2800" dirty="0"/>
              <a:t>Cl +  H</a:t>
            </a:r>
            <a:r>
              <a:rPr lang="en-US" sz="2800" baseline="-25000" dirty="0"/>
              <a:t>2</a:t>
            </a:r>
            <a:r>
              <a:rPr lang="en-US" sz="2800" dirty="0"/>
              <a:t>O </a:t>
            </a:r>
          </a:p>
          <a:p>
            <a:pPr>
              <a:spcBef>
                <a:spcPts val="0"/>
              </a:spcBef>
              <a:buNone/>
            </a:pPr>
            <a:r>
              <a:rPr lang="en-US" altLang="zh-CN" sz="2800" dirty="0"/>
              <a:t>	</a:t>
            </a:r>
            <a:r>
              <a:rPr lang="zh-CN" altLang="en-US" sz="2800" dirty="0"/>
              <a:t>由于酸过量，反应后的溶液呈酸性，可以忽略水解的影响。</a:t>
            </a:r>
            <a:endParaRPr lang="en-US" altLang="zh-CN" sz="2800" dirty="0"/>
          </a:p>
          <a:p>
            <a:pPr>
              <a:spcBef>
                <a:spcPts val="0"/>
              </a:spcBef>
              <a:buNone/>
            </a:pPr>
            <a:r>
              <a:rPr lang="en-US" altLang="zh-CN" sz="2800" dirty="0"/>
              <a:t>	</a:t>
            </a:r>
            <a:r>
              <a:rPr lang="zh-CN" altLang="en-US" sz="2800" dirty="0"/>
              <a:t>则</a:t>
            </a:r>
            <a:r>
              <a:rPr lang="en-US" altLang="zh-CN" sz="2800" dirty="0"/>
              <a:t>[</a:t>
            </a:r>
            <a:r>
              <a:rPr lang="en-US" altLang="zh-CN" sz="2800" dirty="0" err="1"/>
              <a:t>Cl</a:t>
            </a:r>
            <a:r>
              <a:rPr lang="en-US" altLang="zh-CN" sz="2800" baseline="30000" dirty="0"/>
              <a:t>-</a:t>
            </a:r>
            <a:r>
              <a:rPr lang="en-US" altLang="zh-CN" sz="2800" dirty="0"/>
              <a:t>]</a:t>
            </a:r>
            <a:r>
              <a:rPr lang="zh-CN" altLang="en-US" sz="2800" dirty="0"/>
              <a:t> </a:t>
            </a:r>
            <a:r>
              <a:rPr lang="en-US" altLang="zh-CN" sz="2800" dirty="0"/>
              <a:t>&gt; [NH</a:t>
            </a:r>
            <a:r>
              <a:rPr lang="en-US" altLang="zh-CN" sz="2800" baseline="-25000" dirty="0"/>
              <a:t>4</a:t>
            </a:r>
            <a:r>
              <a:rPr lang="en-US" altLang="zh-CN" sz="2800" baseline="30000" dirty="0"/>
              <a:t>+</a:t>
            </a:r>
            <a:r>
              <a:rPr lang="en-US" altLang="zh-CN" sz="2800" dirty="0"/>
              <a:t>]&gt; [H</a:t>
            </a:r>
            <a:r>
              <a:rPr lang="en-US" altLang="zh-CN" sz="2800" baseline="30000" dirty="0"/>
              <a:t>+</a:t>
            </a:r>
            <a:r>
              <a:rPr lang="en-US" altLang="zh-CN" sz="2800" dirty="0"/>
              <a:t>] &gt; [OH</a:t>
            </a:r>
            <a:r>
              <a:rPr lang="en-US" altLang="zh-CN" sz="2800" baseline="30000" dirty="0"/>
              <a:t>-</a:t>
            </a:r>
            <a:r>
              <a:rPr lang="en-US" altLang="zh-CN" sz="2800" dirty="0"/>
              <a:t>]</a:t>
            </a:r>
          </a:p>
          <a:p>
            <a:pPr>
              <a:spcBef>
                <a:spcPts val="0"/>
              </a:spcBef>
              <a:buNone/>
            </a:pPr>
            <a:r>
              <a:rPr lang="en-US" sz="2800" dirty="0"/>
              <a:t>	</a:t>
            </a:r>
            <a:r>
              <a:rPr lang="en-US" sz="2800" dirty="0" err="1"/>
              <a:t>Ans</a:t>
            </a:r>
            <a:r>
              <a:rPr lang="en-US" sz="2800" dirty="0"/>
              <a:t>: B</a:t>
            </a:r>
          </a:p>
          <a:p>
            <a:pPr>
              <a:spcBef>
                <a:spcPts val="0"/>
              </a:spcBef>
              <a:buNone/>
            </a:pPr>
            <a:endParaRPr lang="en-US" altLang="zh-CN" sz="2800" dirty="0">
              <a:sym typeface="Wingdings" pitchFamily="2" charset="2"/>
            </a:endParaRPr>
          </a:p>
          <a:p>
            <a:pPr>
              <a:spcBef>
                <a:spcPts val="0"/>
              </a:spcBef>
              <a:buNone/>
            </a:pPr>
            <a:r>
              <a:rPr lang="zh-CN" altLang="en-US" sz="2800" dirty="0">
                <a:sym typeface="Wingdings" pitchFamily="2" charset="2"/>
              </a:rPr>
              <a:t>若将题目改为</a:t>
            </a:r>
            <a:r>
              <a:rPr lang="en-US" altLang="zh-CN" sz="2800" dirty="0">
                <a:sym typeface="Wingdings" pitchFamily="2" charset="2"/>
              </a:rPr>
              <a:t>10mL </a:t>
            </a:r>
            <a:r>
              <a:rPr lang="en-US" altLang="zh-CN" sz="2800" dirty="0" err="1">
                <a:sym typeface="Wingdings" pitchFamily="2" charset="2"/>
              </a:rPr>
              <a:t>HCl</a:t>
            </a:r>
            <a:r>
              <a:rPr lang="zh-CN" altLang="en-US" sz="2800" dirty="0">
                <a:sym typeface="Wingdings" pitchFamily="2" charset="2"/>
              </a:rPr>
              <a:t>，则各离子物质的量浓度排列</a:t>
            </a:r>
            <a:r>
              <a:rPr lang="en-US" altLang="zh-CN" sz="2800" dirty="0">
                <a:sym typeface="Wingdings" pitchFamily="2" charset="2"/>
              </a:rPr>
              <a:t>=</a:t>
            </a:r>
            <a:r>
              <a:rPr lang="zh-CN" altLang="en-US" sz="2800" dirty="0">
                <a:sym typeface="Wingdings" pitchFamily="2" charset="2"/>
              </a:rPr>
              <a:t>？</a:t>
            </a:r>
            <a:endParaRPr lang="en-US" altLang="zh-CN" sz="2800" dirty="0">
              <a:sym typeface="Wingdings" pitchFamily="2" charset="2"/>
            </a:endParaRPr>
          </a:p>
          <a:p>
            <a:pPr>
              <a:spcBef>
                <a:spcPts val="0"/>
              </a:spcBef>
              <a:buNone/>
            </a:pPr>
            <a:r>
              <a:rPr lang="zh-CN" altLang="en-US" sz="2800" dirty="0">
                <a:sym typeface="Wingdings" pitchFamily="2" charset="2"/>
              </a:rPr>
              <a:t>两溶液完全反应，生成的</a:t>
            </a:r>
            <a:r>
              <a:rPr lang="en-US" altLang="zh-CN" sz="2800" dirty="0">
                <a:sym typeface="Wingdings" pitchFamily="2" charset="2"/>
              </a:rPr>
              <a:t>NH</a:t>
            </a:r>
            <a:r>
              <a:rPr lang="en-US" altLang="zh-CN" sz="2800" baseline="-25000" dirty="0">
                <a:sym typeface="Wingdings" pitchFamily="2" charset="2"/>
              </a:rPr>
              <a:t>4</a:t>
            </a:r>
            <a:r>
              <a:rPr lang="en-US" altLang="zh-CN" sz="2800" dirty="0">
                <a:sym typeface="Wingdings" pitchFamily="2" charset="2"/>
              </a:rPr>
              <a:t>Cl</a:t>
            </a:r>
            <a:r>
              <a:rPr lang="zh-CN" altLang="en-US" sz="2800" dirty="0">
                <a:sym typeface="Wingdings" pitchFamily="2" charset="2"/>
              </a:rPr>
              <a:t>会</a:t>
            </a:r>
            <a:r>
              <a:rPr lang="en-US" altLang="zh-CN" sz="2800" dirty="0">
                <a:sym typeface="Wingdings" pitchFamily="2" charset="2"/>
              </a:rPr>
              <a:t> </a:t>
            </a:r>
            <a:r>
              <a:rPr lang="zh-CN" altLang="en-US" sz="2800" dirty="0">
                <a:sym typeface="Wingdings" pitchFamily="2" charset="2"/>
              </a:rPr>
              <a:t>水解，</a:t>
            </a:r>
            <a:endParaRPr lang="en-US" altLang="zh-CN" sz="2800" dirty="0">
              <a:sym typeface="Wingdings" pitchFamily="2" charset="2"/>
            </a:endParaRPr>
          </a:p>
          <a:p>
            <a:pPr>
              <a:spcBef>
                <a:spcPts val="0"/>
              </a:spcBef>
              <a:buNone/>
            </a:pP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en-US" altLang="zh-CN" sz="3000" dirty="0" err="1">
                <a:sym typeface="Wingdings" pitchFamily="2" charset="2"/>
              </a:rPr>
              <a:t>aq</a:t>
            </a:r>
            <a:r>
              <a:rPr lang="en-US" altLang="zh-CN" sz="3000" dirty="0">
                <a:sym typeface="Wingdings" pitchFamily="2" charset="2"/>
              </a:rPr>
              <a:t>) + H</a:t>
            </a:r>
            <a:r>
              <a:rPr lang="en-US" altLang="zh-CN" sz="3000" baseline="-25000" dirty="0">
                <a:sym typeface="Wingdings" pitchFamily="2" charset="2"/>
              </a:rPr>
              <a:t>2</a:t>
            </a:r>
            <a:r>
              <a:rPr lang="en-US" altLang="zh-CN" sz="3000" dirty="0">
                <a:sym typeface="Wingdings" pitchFamily="2" charset="2"/>
              </a:rPr>
              <a:t>O (l) &lt;--&gt; NH</a:t>
            </a:r>
            <a:r>
              <a:rPr lang="en-US" altLang="zh-CN" sz="3000" baseline="-25000" dirty="0">
                <a:sym typeface="Wingdings" pitchFamily="2" charset="2"/>
              </a:rPr>
              <a:t>3</a:t>
            </a:r>
            <a:r>
              <a:rPr lang="en-US" altLang="zh-CN" sz="3000" dirty="0">
                <a:latin typeface="Arial"/>
                <a:cs typeface="Arial"/>
                <a:sym typeface="Wingdings" pitchFamily="2" charset="2"/>
              </a:rPr>
              <a:t>·</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a:t>
            </a:r>
            <a:r>
              <a:rPr lang="en-US" altLang="zh-CN" sz="3000" dirty="0" err="1">
                <a:sym typeface="Wingdings" pitchFamily="2" charset="2"/>
              </a:rPr>
              <a:t>aq</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a:t>
            </a:r>
            <a:r>
              <a:rPr lang="en-US" altLang="zh-CN" sz="3000" dirty="0" err="1">
                <a:sym typeface="Wingdings" pitchFamily="2" charset="2"/>
              </a:rPr>
              <a:t>aq</a:t>
            </a:r>
            <a:r>
              <a:rPr lang="en-US" altLang="zh-CN" sz="3000" dirty="0">
                <a:sym typeface="Wingdings" pitchFamily="2" charset="2"/>
              </a:rPr>
              <a:t>)</a:t>
            </a:r>
          </a:p>
          <a:p>
            <a:pPr>
              <a:spcBef>
                <a:spcPts val="0"/>
              </a:spcBef>
              <a:buNone/>
            </a:pPr>
            <a:r>
              <a:rPr lang="zh-CN" altLang="en-US" sz="3000" dirty="0">
                <a:sym typeface="Wingdings" pitchFamily="2" charset="2"/>
              </a:rPr>
              <a:t>因此溶液呈酸性，</a:t>
            </a:r>
            <a:r>
              <a:rPr lang="en-US" altLang="zh-CN" sz="3000" dirty="0" err="1">
                <a:sym typeface="Wingdings" pitchFamily="2" charset="2"/>
              </a:rPr>
              <a:t>Cl</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量不变，</a:t>
            </a:r>
            <a:r>
              <a:rPr lang="en-US" altLang="zh-CN" sz="3000" dirty="0">
                <a:sym typeface="Wingdings" pitchFamily="2" charset="2"/>
              </a:rPr>
              <a:t>NH</a:t>
            </a:r>
            <a:r>
              <a:rPr lang="en-US" altLang="zh-CN" sz="3000" baseline="-25000" dirty="0">
                <a:sym typeface="Wingdings" pitchFamily="2" charset="2"/>
              </a:rPr>
              <a:t>4</a:t>
            </a:r>
            <a:r>
              <a:rPr lang="en-US" altLang="zh-CN" sz="3000" baseline="30000" dirty="0">
                <a:sym typeface="Wingdings" pitchFamily="2" charset="2"/>
              </a:rPr>
              <a:t>+</a:t>
            </a:r>
            <a:r>
              <a:rPr lang="en-US" altLang="zh-CN" sz="3000" dirty="0">
                <a:sym typeface="Wingdings" pitchFamily="2" charset="2"/>
              </a:rPr>
              <a:t> </a:t>
            </a:r>
            <a:r>
              <a:rPr lang="zh-CN" altLang="en-US" sz="3000" dirty="0">
                <a:sym typeface="Wingdings" pitchFamily="2" charset="2"/>
              </a:rPr>
              <a:t>减少</a:t>
            </a:r>
            <a:endParaRPr lang="en-US" altLang="zh-CN" sz="3000" dirty="0">
              <a:sym typeface="Wingdings" pitchFamily="2" charset="2"/>
            </a:endParaRPr>
          </a:p>
          <a:p>
            <a:pPr>
              <a:spcBef>
                <a:spcPts val="0"/>
              </a:spcBef>
              <a:buNone/>
            </a:pPr>
            <a:r>
              <a:rPr lang="en-US" sz="2800" dirty="0"/>
              <a:t>	</a:t>
            </a:r>
            <a:r>
              <a:rPr lang="en-US" sz="2800" dirty="0" err="1"/>
              <a:t>Ans</a:t>
            </a:r>
            <a:r>
              <a:rPr lang="en-US" sz="2800" dirty="0"/>
              <a:t>:  B</a:t>
            </a:r>
            <a:r>
              <a:rPr lang="en-US" altLang="zh-CN" sz="2800" dirty="0"/>
              <a:t> [</a:t>
            </a:r>
            <a:r>
              <a:rPr lang="en-US" altLang="zh-CN" sz="2800" dirty="0" err="1"/>
              <a:t>Cl</a:t>
            </a:r>
            <a:r>
              <a:rPr lang="en-US" altLang="zh-CN" sz="2800" baseline="30000" dirty="0"/>
              <a:t>-</a:t>
            </a:r>
            <a:r>
              <a:rPr lang="en-US" altLang="zh-CN" sz="2800" dirty="0"/>
              <a:t>]</a:t>
            </a:r>
            <a:r>
              <a:rPr lang="zh-CN" altLang="en-US" sz="2800" dirty="0"/>
              <a:t> </a:t>
            </a:r>
            <a:r>
              <a:rPr lang="en-US" altLang="zh-CN" sz="2800" dirty="0"/>
              <a:t>&gt; [NH</a:t>
            </a:r>
            <a:r>
              <a:rPr lang="en-US" altLang="zh-CN" sz="2800" baseline="-25000" dirty="0"/>
              <a:t>4</a:t>
            </a:r>
            <a:r>
              <a:rPr lang="en-US" altLang="zh-CN" sz="2800" baseline="30000" dirty="0"/>
              <a:t>+</a:t>
            </a:r>
            <a:r>
              <a:rPr lang="en-US" altLang="zh-CN" sz="2800" dirty="0"/>
              <a:t>]&gt; [H</a:t>
            </a:r>
            <a:r>
              <a:rPr lang="en-US" altLang="zh-CN" sz="2800" baseline="30000" dirty="0"/>
              <a:t>+</a:t>
            </a:r>
            <a:r>
              <a:rPr lang="en-US" altLang="zh-CN" sz="2800" dirty="0"/>
              <a:t>] &gt; [OH</a:t>
            </a:r>
            <a:r>
              <a:rPr lang="en-US" altLang="zh-CN" sz="2800" baseline="30000" dirty="0"/>
              <a:t>-</a:t>
            </a:r>
            <a:r>
              <a:rPr lang="en-US" altLang="zh-CN" sz="2800" dirty="0"/>
              <a:t>]</a:t>
            </a:r>
            <a:endParaRPr lang="en-US" altLang="zh-CN" sz="3000" dirty="0">
              <a:sym typeface="Wingdings" pitchFamily="2" charset="2"/>
            </a:endParaRPr>
          </a:p>
          <a:p>
            <a:pPr>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blinds(horizontal)">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en-US" altLang="zh-CN" sz="3000" dirty="0">
                <a:sym typeface="Wingdings" pitchFamily="2" charset="2"/>
              </a:rPr>
              <a:t>6. </a:t>
            </a:r>
            <a:r>
              <a:rPr lang="en-US" sz="2800" dirty="0"/>
              <a:t>HNO</a:t>
            </a:r>
            <a:r>
              <a:rPr lang="en-US" altLang="zh-CN" sz="2800" baseline="-25000" dirty="0"/>
              <a:t>3</a:t>
            </a:r>
            <a:r>
              <a:rPr lang="en-US" sz="2800" dirty="0"/>
              <a:t> </a:t>
            </a:r>
            <a:r>
              <a:rPr lang="en-US" altLang="zh-CN" sz="2800" dirty="0"/>
              <a:t>+ </a:t>
            </a:r>
            <a:r>
              <a:rPr lang="en-US" sz="2800" dirty="0"/>
              <a:t> KOH </a:t>
            </a:r>
            <a:r>
              <a:rPr lang="en-US" altLang="zh-CN" sz="2800" dirty="0">
                <a:sym typeface="Wingdings" pitchFamily="2" charset="2"/>
              </a:rPr>
              <a:t> </a:t>
            </a:r>
            <a:r>
              <a:rPr lang="en-US" sz="2800" dirty="0"/>
              <a:t>KNO</a:t>
            </a:r>
            <a:r>
              <a:rPr lang="en-US" sz="2800" baseline="-25000" dirty="0"/>
              <a:t>3</a:t>
            </a:r>
            <a:r>
              <a:rPr lang="en-US" sz="2800" dirty="0"/>
              <a:t> +  H</a:t>
            </a:r>
            <a:r>
              <a:rPr lang="en-US" sz="2800" baseline="-25000" dirty="0"/>
              <a:t>2</a:t>
            </a:r>
            <a:r>
              <a:rPr lang="en-US" sz="2800" dirty="0"/>
              <a:t>O</a:t>
            </a:r>
          </a:p>
          <a:p>
            <a:pPr>
              <a:spcBef>
                <a:spcPts val="0"/>
              </a:spcBef>
              <a:buNone/>
            </a:pPr>
            <a:r>
              <a:rPr lang="en-US" sz="2800" dirty="0"/>
              <a:t>	n(HNO</a:t>
            </a:r>
            <a:r>
              <a:rPr lang="en-US" altLang="zh-CN" sz="2800" baseline="-25000" dirty="0"/>
              <a:t>3</a:t>
            </a:r>
            <a:r>
              <a:rPr lang="en-US" sz="2800" dirty="0"/>
              <a:t>) </a:t>
            </a:r>
            <a:r>
              <a:rPr lang="en-US" altLang="zh-CN" sz="2800" dirty="0"/>
              <a:t>=</a:t>
            </a:r>
            <a:r>
              <a:rPr lang="zh-CN" altLang="en-US" sz="2800" dirty="0"/>
              <a:t> </a:t>
            </a:r>
            <a:r>
              <a:rPr lang="en-US" altLang="zh-CN" sz="2800" dirty="0"/>
              <a:t>n(</a:t>
            </a:r>
            <a:r>
              <a:rPr lang="en-US" sz="2800" dirty="0"/>
              <a:t>KOH)</a:t>
            </a:r>
          </a:p>
          <a:p>
            <a:pPr>
              <a:spcBef>
                <a:spcPts val="0"/>
              </a:spcBef>
              <a:buNone/>
            </a:pPr>
            <a:r>
              <a:rPr lang="en-US" altLang="zh-CN" sz="2800" dirty="0"/>
              <a:t>	</a:t>
            </a:r>
            <a:r>
              <a:rPr lang="zh-CN" altLang="en-US" sz="2800" dirty="0"/>
              <a:t>恰好中和</a:t>
            </a:r>
            <a:endParaRPr lang="en-US" altLang="zh-CN" sz="2800" dirty="0"/>
          </a:p>
          <a:p>
            <a:pPr>
              <a:spcBef>
                <a:spcPts val="0"/>
              </a:spcBef>
              <a:buNone/>
            </a:pPr>
            <a:r>
              <a:rPr lang="en-US" altLang="zh-CN" sz="2800" dirty="0"/>
              <a:t>	KNO</a:t>
            </a:r>
            <a:r>
              <a:rPr lang="en-US" altLang="zh-CN" sz="2800" baseline="-25000" dirty="0"/>
              <a:t>3</a:t>
            </a:r>
            <a:r>
              <a:rPr lang="en-US" altLang="zh-CN" sz="2800" dirty="0"/>
              <a:t> </a:t>
            </a:r>
            <a:r>
              <a:rPr lang="zh-CN" altLang="en-US" sz="2800" dirty="0"/>
              <a:t>为强酸强碱盐不水解，溶液呈中性。</a:t>
            </a:r>
            <a:endParaRPr lang="en-US" sz="2800" dirty="0"/>
          </a:p>
          <a:p>
            <a:pPr>
              <a:spcBef>
                <a:spcPts val="0"/>
              </a:spcBef>
              <a:buNone/>
            </a:pPr>
            <a:r>
              <a:rPr lang="en-US" sz="2800" dirty="0" err="1"/>
              <a:t>Ans</a:t>
            </a:r>
            <a:r>
              <a:rPr lang="en-US" sz="2800" dirty="0"/>
              <a:t>: D</a:t>
            </a:r>
          </a:p>
          <a:p>
            <a:pPr>
              <a:spcBef>
                <a:spcPts val="0"/>
              </a:spcBef>
              <a:buNone/>
            </a:pPr>
            <a:endParaRPr lang="en-US" altLang="zh-CN" sz="2800" dirty="0">
              <a:sym typeface="Wingdings" pitchFamily="2" charset="2"/>
            </a:endParaRPr>
          </a:p>
          <a:p>
            <a:pPr>
              <a:spcBef>
                <a:spcPts val="0"/>
              </a:spcBef>
              <a:buNone/>
            </a:pPr>
            <a:r>
              <a:rPr lang="en-US" altLang="zh-CN" sz="2800" dirty="0">
                <a:sym typeface="Wingdings" pitchFamily="2" charset="2"/>
              </a:rPr>
              <a:t>7. </a:t>
            </a:r>
            <a:r>
              <a:rPr lang="en-US" altLang="zh-CN" sz="2800" dirty="0"/>
              <a:t>A</a:t>
            </a:r>
            <a:r>
              <a:rPr lang="zh-CN" altLang="en-US" sz="2800" dirty="0"/>
              <a:t> 　碳酸钠溶液水解呈碱性，加热能促进盐类的水解，碱性会增强，</a:t>
            </a:r>
            <a:r>
              <a:rPr lang="en-US" altLang="zh-CN" sz="2800" dirty="0"/>
              <a:t>pH </a:t>
            </a:r>
            <a:r>
              <a:rPr lang="zh-CN" altLang="en-US" sz="2800" dirty="0"/>
              <a:t>值增大。</a:t>
            </a:r>
            <a:endParaRPr lang="en-US" altLang="zh-CN" sz="2800" dirty="0"/>
          </a:p>
          <a:p>
            <a:pPr>
              <a:spcBef>
                <a:spcPts val="0"/>
              </a:spcBef>
              <a:buNone/>
            </a:pPr>
            <a:r>
              <a:rPr lang="en-US" altLang="zh-CN" sz="2800" dirty="0"/>
              <a:t>	C 	</a:t>
            </a:r>
            <a:r>
              <a:rPr lang="zh-CN" altLang="en-US" sz="2800" dirty="0"/>
              <a:t>硫酸钠溶液不水解。</a:t>
            </a:r>
            <a:endParaRPr lang="en-US" altLang="zh-CN" sz="2800" dirty="0"/>
          </a:p>
          <a:p>
            <a:pPr>
              <a:spcBef>
                <a:spcPts val="0"/>
              </a:spcBef>
              <a:buNone/>
            </a:pPr>
            <a:r>
              <a:rPr lang="en-US" altLang="zh-CN" sz="2800" dirty="0"/>
              <a:t>	D</a:t>
            </a:r>
            <a:r>
              <a:rPr lang="zh-CN" altLang="en-US" sz="2800" dirty="0"/>
              <a:t> </a:t>
            </a:r>
            <a:r>
              <a:rPr lang="en-US" altLang="zh-CN" sz="2800" dirty="0"/>
              <a:t>	</a:t>
            </a:r>
            <a:r>
              <a:rPr lang="zh-CN" altLang="en-US" sz="2800" dirty="0"/>
              <a:t>硫酸铝溶液水解呈酸性，加热能促进盐类的水解，酸性会增强，</a:t>
            </a:r>
            <a:r>
              <a:rPr lang="en-US" altLang="zh-CN" sz="2800" dirty="0"/>
              <a:t>pH </a:t>
            </a:r>
            <a:r>
              <a:rPr lang="zh-CN" altLang="en-US" sz="2800" dirty="0"/>
              <a:t>值减小。</a:t>
            </a:r>
            <a:endParaRPr lang="en-US" altLang="zh-CN" sz="2800" dirty="0"/>
          </a:p>
          <a:p>
            <a:pPr>
              <a:spcBef>
                <a:spcPts val="0"/>
              </a:spcBef>
              <a:buNone/>
            </a:pPr>
            <a:r>
              <a:rPr lang="en-US" sz="2800" dirty="0" err="1"/>
              <a:t>Ans</a:t>
            </a:r>
            <a:r>
              <a:rPr lang="en-US" sz="2800" dirty="0"/>
              <a:t>: </a:t>
            </a:r>
            <a:r>
              <a:rPr lang="en-US" altLang="zh-CN" sz="2800" dirty="0"/>
              <a:t>A</a:t>
            </a:r>
            <a:endParaRPr lang="en-US" sz="2800" dirty="0"/>
          </a:p>
          <a:p>
            <a:pPr>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600"/>
              </a:spcBef>
              <a:buNone/>
            </a:pPr>
            <a:r>
              <a:rPr lang="en-US" altLang="zh-CN" sz="3000" dirty="0">
                <a:sym typeface="Wingdings" pitchFamily="2" charset="2"/>
              </a:rPr>
              <a:t>8. 	</a:t>
            </a:r>
            <a:r>
              <a:rPr lang="en-US" altLang="zh-CN" sz="3000" dirty="0" err="1">
                <a:sym typeface="Wingdings" pitchFamily="2" charset="2"/>
              </a:rPr>
              <a:t>K</a:t>
            </a:r>
            <a:r>
              <a:rPr lang="en-US" altLang="zh-CN" sz="3000" baseline="-25000" dirty="0" err="1">
                <a:sym typeface="Wingdings" pitchFamily="2" charset="2"/>
              </a:rPr>
              <a:t>w</a:t>
            </a:r>
            <a:r>
              <a:rPr lang="en-US" altLang="zh-CN" sz="3000" baseline="-25000" dirty="0">
                <a:sym typeface="Wingdings" pitchFamily="2" charset="2"/>
              </a:rPr>
              <a:t> </a:t>
            </a:r>
            <a:r>
              <a:rPr lang="en-US" altLang="zh-CN" sz="3000" dirty="0">
                <a:sym typeface="Wingdings" pitchFamily="2" charset="2"/>
              </a:rPr>
              <a:t> = [H</a:t>
            </a:r>
            <a:r>
              <a:rPr lang="en-US" altLang="zh-CN" sz="3000" baseline="30000" dirty="0">
                <a:sym typeface="Wingdings" pitchFamily="2" charset="2"/>
              </a:rPr>
              <a:t>+</a:t>
            </a:r>
            <a:r>
              <a:rPr lang="en-US" altLang="zh-CN" sz="3000" dirty="0">
                <a:sym typeface="Wingdings" pitchFamily="2" charset="2"/>
              </a:rPr>
              <a:t>][OH</a:t>
            </a:r>
            <a:r>
              <a:rPr lang="en-US" altLang="zh-CN" sz="3000" baseline="30000" dirty="0">
                <a:sym typeface="Wingdings" pitchFamily="2" charset="2"/>
              </a:rPr>
              <a:t>-</a:t>
            </a:r>
            <a:r>
              <a:rPr lang="en-US" altLang="zh-CN" sz="3000" dirty="0">
                <a:sym typeface="Wingdings" pitchFamily="2" charset="2"/>
              </a:rPr>
              <a:t>]</a:t>
            </a:r>
          </a:p>
          <a:p>
            <a:pPr>
              <a:spcBef>
                <a:spcPts val="600"/>
              </a:spcBef>
              <a:buNone/>
            </a:pPr>
            <a:r>
              <a:rPr lang="zh-CN" altLang="en-US" sz="2800" dirty="0"/>
              <a:t>纯水</a:t>
            </a: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]=[OH</a:t>
            </a:r>
            <a:r>
              <a:rPr lang="en-US" altLang="zh-CN" sz="2800" baseline="30000" dirty="0">
                <a:sym typeface="Wingdings" pitchFamily="2" charset="2"/>
              </a:rPr>
              <a:t>-</a:t>
            </a:r>
            <a:r>
              <a:rPr lang="en-US" altLang="zh-CN" sz="2800" dirty="0">
                <a:sym typeface="Wingdings" pitchFamily="2" charset="2"/>
              </a:rPr>
              <a:t>]</a:t>
            </a:r>
          </a:p>
          <a:p>
            <a:pPr>
              <a:spcBef>
                <a:spcPts val="600"/>
              </a:spcBef>
              <a:buNone/>
            </a:pPr>
            <a:r>
              <a:rPr lang="en-US" sz="2800" dirty="0">
                <a:sym typeface="Wingdings" pitchFamily="2" charset="2"/>
              </a:rPr>
              <a:t>		</a:t>
            </a:r>
            <a:r>
              <a:rPr lang="en-US" altLang="zh-CN" sz="2800" dirty="0">
                <a:sym typeface="Wingdings" pitchFamily="2" charset="2"/>
              </a:rPr>
              <a:t> [H</a:t>
            </a:r>
            <a:r>
              <a:rPr lang="en-US" altLang="zh-CN" sz="2800" baseline="30000" dirty="0">
                <a:sym typeface="Wingdings" pitchFamily="2" charset="2"/>
              </a:rPr>
              <a:t>+</a:t>
            </a:r>
            <a:r>
              <a:rPr lang="en-US" altLang="zh-CN" sz="2800" dirty="0">
                <a:sym typeface="Wingdings" pitchFamily="2" charset="2"/>
              </a:rPr>
              <a:t>]=</a:t>
            </a:r>
          </a:p>
          <a:p>
            <a:pPr>
              <a:spcBef>
                <a:spcPts val="600"/>
              </a:spcBef>
              <a:buNone/>
            </a:pPr>
            <a:r>
              <a:rPr lang="en-US" altLang="zh-CN" sz="2800" dirty="0">
                <a:sym typeface="Wingdings" pitchFamily="2" charset="2"/>
              </a:rPr>
              <a:t>		        = </a:t>
            </a:r>
          </a:p>
          <a:p>
            <a:pPr>
              <a:spcBef>
                <a:spcPts val="600"/>
              </a:spcBef>
              <a:buNone/>
            </a:pPr>
            <a:r>
              <a:rPr lang="en-US" altLang="zh-CN" sz="2800" dirty="0">
                <a:sym typeface="Wingdings" pitchFamily="2" charset="2"/>
              </a:rPr>
              <a:t>		        = 6.16x10</a:t>
            </a:r>
            <a:r>
              <a:rPr lang="en-US" altLang="zh-CN" sz="2800" baseline="30000" dirty="0">
                <a:sym typeface="Wingdings" pitchFamily="2" charset="2"/>
              </a:rPr>
              <a:t>-7</a:t>
            </a:r>
          </a:p>
          <a:p>
            <a:pPr>
              <a:spcBef>
                <a:spcPts val="600"/>
              </a:spcBef>
              <a:buNone/>
            </a:pPr>
            <a:r>
              <a:rPr lang="en-US" altLang="zh-CN" sz="2800" baseline="30000" dirty="0">
                <a:sym typeface="Wingdings" pitchFamily="2" charset="2"/>
              </a:rPr>
              <a:t> </a:t>
            </a:r>
            <a:r>
              <a:rPr lang="en-US" altLang="zh-CN" sz="2800" dirty="0">
                <a:sym typeface="Wingdings" pitchFamily="2" charset="2"/>
              </a:rPr>
              <a:t> pH = -log  (6.16x10</a:t>
            </a:r>
            <a:r>
              <a:rPr lang="en-US" altLang="zh-CN" sz="2800" baseline="30000" dirty="0">
                <a:sym typeface="Wingdings" pitchFamily="2" charset="2"/>
              </a:rPr>
              <a:t>-7</a:t>
            </a:r>
            <a:r>
              <a:rPr lang="en-US" altLang="zh-CN" sz="2800" dirty="0">
                <a:sym typeface="Wingdings" pitchFamily="2" charset="2"/>
              </a:rPr>
              <a:t> )</a:t>
            </a:r>
          </a:p>
          <a:p>
            <a:pPr>
              <a:spcBef>
                <a:spcPts val="600"/>
              </a:spcBef>
              <a:buNone/>
            </a:pPr>
            <a:r>
              <a:rPr lang="en-US" sz="2800" dirty="0">
                <a:sym typeface="Wingdings" pitchFamily="2" charset="2"/>
              </a:rPr>
              <a:t> 	    = 6.21</a:t>
            </a:r>
          </a:p>
          <a:p>
            <a:pPr>
              <a:spcBef>
                <a:spcPts val="600"/>
              </a:spcBef>
              <a:buNone/>
            </a:pPr>
            <a:r>
              <a:rPr lang="en-US" sz="2800" dirty="0" err="1">
                <a:sym typeface="Wingdings" pitchFamily="2" charset="2"/>
              </a:rPr>
              <a:t>Ans</a:t>
            </a:r>
            <a:r>
              <a:rPr lang="en-US" sz="2800" dirty="0">
                <a:sym typeface="Wingdings" pitchFamily="2" charset="2"/>
              </a:rPr>
              <a:t>: A </a:t>
            </a:r>
          </a:p>
          <a:p>
            <a:pPr>
              <a:spcBef>
                <a:spcPts val="600"/>
              </a:spcBef>
              <a:buNone/>
            </a:pPr>
            <a:r>
              <a:rPr lang="zh-CN" altLang="en-US" sz="2800" dirty="0">
                <a:sym typeface="Wingdings" pitchFamily="2" charset="2"/>
              </a:rPr>
              <a:t>或 高温，更多水分子电离，</a:t>
            </a:r>
            <a:r>
              <a:rPr lang="en-US" altLang="zh-CN" sz="2800" dirty="0">
                <a:sym typeface="Wingdings" pitchFamily="2" charset="2"/>
              </a:rPr>
              <a:t>[H</a:t>
            </a:r>
            <a:r>
              <a:rPr lang="en-US" altLang="zh-CN" sz="2800" baseline="30000" dirty="0">
                <a:sym typeface="Wingdings" pitchFamily="2" charset="2"/>
              </a:rPr>
              <a:t>+</a:t>
            </a:r>
            <a:r>
              <a:rPr lang="en-US" altLang="zh-CN" sz="2800" dirty="0">
                <a:sym typeface="Wingdings" pitchFamily="2" charset="2"/>
              </a:rPr>
              <a:t>]</a:t>
            </a:r>
            <a:r>
              <a:rPr lang="zh-CN" altLang="en-US" sz="2800" dirty="0">
                <a:sym typeface="Wingdings" pitchFamily="2" charset="2"/>
              </a:rPr>
              <a:t>增加，</a:t>
            </a:r>
            <a:r>
              <a:rPr lang="en-US" altLang="zh-CN" sz="2800" dirty="0">
                <a:sym typeface="Wingdings" pitchFamily="2" charset="2"/>
              </a:rPr>
              <a:t>pH</a:t>
            </a:r>
            <a:r>
              <a:rPr lang="zh-CN" altLang="en-US" sz="2800" dirty="0">
                <a:sym typeface="Wingdings" pitchFamily="2" charset="2"/>
              </a:rPr>
              <a:t>减小。</a:t>
            </a:r>
            <a:endParaRPr lang="en-US" sz="2800" dirty="0"/>
          </a:p>
        </p:txBody>
      </p:sp>
      <p:graphicFrame>
        <p:nvGraphicFramePr>
          <p:cNvPr id="5" name="Object 4"/>
          <p:cNvGraphicFramePr>
            <a:graphicFrameLocks noChangeAspect="1"/>
          </p:cNvGraphicFramePr>
          <p:nvPr/>
        </p:nvGraphicFramePr>
        <p:xfrm>
          <a:off x="2133600" y="1981200"/>
          <a:ext cx="815522" cy="590550"/>
        </p:xfrm>
        <a:graphic>
          <a:graphicData uri="http://schemas.openxmlformats.org/presentationml/2006/ole">
            <mc:AlternateContent xmlns:mc="http://schemas.openxmlformats.org/markup-compatibility/2006">
              <mc:Choice xmlns:v="urn:schemas-microsoft-com:vml" Requires="v">
                <p:oleObj spid="_x0000_s72706" name="Equation" r:id="rId3" imgW="368280" imgH="266400" progId="Equation.3">
                  <p:embed/>
                </p:oleObj>
              </mc:Choice>
              <mc:Fallback>
                <p:oleObj name="Equation" r:id="rId3" imgW="368280" imgH="266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981200"/>
                        <a:ext cx="815522"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2133600" y="2514600"/>
          <a:ext cx="1752600" cy="584200"/>
        </p:xfrm>
        <a:graphic>
          <a:graphicData uri="http://schemas.openxmlformats.org/presentationml/2006/ole">
            <mc:AlternateContent xmlns:mc="http://schemas.openxmlformats.org/markup-compatibility/2006">
              <mc:Choice xmlns:v="urn:schemas-microsoft-com:vml" Requires="v">
                <p:oleObj spid="_x0000_s72707" name="Equation" r:id="rId5" imgW="761760" imgH="253800" progId="Equation.3">
                  <p:embed/>
                </p:oleObj>
              </mc:Choice>
              <mc:Fallback>
                <p:oleObj name="Equation" r:id="rId5" imgW="761760" imgH="2538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2514600"/>
                        <a:ext cx="17526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blinds(horizontal)">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blinds(horizontal)">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blinds(horizontal)">
                                      <p:cBhvr>
                                        <p:cTn id="5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600"/>
              </a:spcBef>
              <a:buNone/>
            </a:pPr>
            <a:r>
              <a:rPr lang="en-US" altLang="zh-CN" sz="3000" dirty="0">
                <a:sym typeface="Wingdings" pitchFamily="2" charset="2"/>
              </a:rPr>
              <a:t>9. D </a:t>
            </a:r>
            <a:r>
              <a:rPr lang="zh-CN" altLang="en-US" sz="3000" dirty="0">
                <a:sym typeface="Wingdings" pitchFamily="2" charset="2"/>
              </a:rPr>
              <a:t>不知酸碱的强弱</a:t>
            </a:r>
            <a:endParaRPr lang="en-US" altLang="zh-CN" sz="3000" dirty="0">
              <a:sym typeface="Wingdings" pitchFamily="2" charset="2"/>
            </a:endParaRPr>
          </a:p>
          <a:p>
            <a:pPr marL="514350" indent="-514350">
              <a:spcBef>
                <a:spcPts val="600"/>
              </a:spcBef>
              <a:buAutoNum type="arabicPeriod" startAt="10"/>
            </a:pPr>
            <a:r>
              <a:rPr lang="zh-CN" altLang="en-US" sz="3000" dirty="0">
                <a:sym typeface="Wingdings" pitchFamily="2" charset="2"/>
              </a:rPr>
              <a:t>设</a:t>
            </a:r>
            <a:r>
              <a:rPr lang="en-US" altLang="zh-CN" sz="3000" dirty="0">
                <a:sym typeface="Wingdings" pitchFamily="2" charset="2"/>
              </a:rPr>
              <a:t>[</a:t>
            </a:r>
            <a:r>
              <a:rPr lang="en-US" altLang="zh-CN" sz="3000" dirty="0" err="1">
                <a:sym typeface="Wingdings" pitchFamily="2" charset="2"/>
              </a:rPr>
              <a:t>HCl</a:t>
            </a:r>
            <a:r>
              <a:rPr lang="en-US" altLang="zh-CN" sz="3000" dirty="0">
                <a:sym typeface="Wingdings" pitchFamily="2" charset="2"/>
              </a:rPr>
              <a:t>]=[</a:t>
            </a:r>
            <a:r>
              <a:rPr lang="en-US" altLang="zh-CN" sz="3000" dirty="0" err="1">
                <a:sym typeface="Wingdings" pitchFamily="2" charset="2"/>
              </a:rPr>
              <a:t>NaOH</a:t>
            </a:r>
            <a:r>
              <a:rPr lang="en-US" altLang="zh-CN" sz="3000" dirty="0">
                <a:sym typeface="Wingdings" pitchFamily="2" charset="2"/>
              </a:rPr>
              <a:t>]= x </a:t>
            </a:r>
          </a:p>
          <a:p>
            <a:pPr marL="514350" indent="-514350">
              <a:spcBef>
                <a:spcPts val="600"/>
              </a:spcBef>
              <a:buNone/>
            </a:pPr>
            <a:r>
              <a:rPr lang="en-US" sz="3000" dirty="0">
                <a:sym typeface="Wingdings" pitchFamily="2" charset="2"/>
              </a:rPr>
              <a:t>	</a:t>
            </a:r>
            <a:r>
              <a:rPr lang="zh-CN" altLang="en-US" sz="3000" dirty="0">
                <a:sym typeface="Wingdings" pitchFamily="2" charset="2"/>
              </a:rPr>
              <a:t>混合后溶液</a:t>
            </a:r>
            <a:r>
              <a:rPr lang="en-US" altLang="zh-CN" sz="3000" dirty="0">
                <a:sym typeface="Wingdings" pitchFamily="2" charset="2"/>
              </a:rPr>
              <a:t>pH12</a:t>
            </a:r>
            <a:r>
              <a:rPr lang="zh-CN" altLang="en-US" sz="3000" dirty="0">
                <a:sym typeface="Wingdings" pitchFamily="2" charset="2"/>
              </a:rPr>
              <a:t>，即</a:t>
            </a:r>
            <a:r>
              <a:rPr lang="en-US" altLang="zh-CN" sz="3000" dirty="0" err="1">
                <a:sym typeface="Wingdings" pitchFamily="2" charset="2"/>
              </a:rPr>
              <a:t>NaOH</a:t>
            </a:r>
            <a:r>
              <a:rPr lang="zh-CN" altLang="en-US" sz="3000" dirty="0">
                <a:sym typeface="Wingdings" pitchFamily="2" charset="2"/>
              </a:rPr>
              <a:t>过量</a:t>
            </a:r>
            <a:endParaRPr lang="en-US" altLang="zh-CN" sz="2800" dirty="0">
              <a:sym typeface="Wingdings" pitchFamily="2" charset="2"/>
            </a:endParaRPr>
          </a:p>
          <a:p>
            <a:pPr marL="514350" indent="-514350">
              <a:spcBef>
                <a:spcPts val="600"/>
              </a:spcBef>
              <a:buNone/>
            </a:pPr>
            <a:r>
              <a:rPr lang="en-US" altLang="zh-CN" sz="2800" dirty="0">
                <a:sym typeface="Wingdings" pitchFamily="2" charset="2"/>
              </a:rPr>
              <a:t>	pH12</a:t>
            </a:r>
            <a:r>
              <a:rPr lang="zh-CN" altLang="en-US" sz="2800" dirty="0">
                <a:sym typeface="Wingdings" pitchFamily="2" charset="2"/>
              </a:rPr>
              <a:t>，</a:t>
            </a:r>
            <a:r>
              <a:rPr lang="en-US" altLang="zh-CN" sz="2800" dirty="0" err="1">
                <a:sym typeface="Wingdings" pitchFamily="2" charset="2"/>
              </a:rPr>
              <a:t>pOH</a:t>
            </a:r>
            <a:r>
              <a:rPr lang="en-US" altLang="zh-CN" sz="2800" dirty="0">
                <a:sym typeface="Wingdings" pitchFamily="2" charset="2"/>
              </a:rPr>
              <a:t>=2 </a:t>
            </a:r>
            <a:r>
              <a:rPr lang="zh-CN" altLang="en-US" sz="2800" dirty="0">
                <a:sym typeface="Wingdings" pitchFamily="2" charset="2"/>
              </a:rPr>
              <a:t>， </a:t>
            </a:r>
            <a:r>
              <a:rPr lang="en-US" altLang="zh-CN" sz="2800" dirty="0">
                <a:sym typeface="Wingdings" pitchFamily="2" charset="2"/>
              </a:rPr>
              <a:t>[OH</a:t>
            </a:r>
            <a:r>
              <a:rPr lang="en-US" altLang="zh-CN" sz="2800" baseline="30000" dirty="0">
                <a:sym typeface="Wingdings" pitchFamily="2" charset="2"/>
              </a:rPr>
              <a:t>-</a:t>
            </a:r>
            <a:r>
              <a:rPr lang="en-US" altLang="zh-CN" sz="2800" dirty="0">
                <a:sym typeface="Wingdings" pitchFamily="2" charset="2"/>
              </a:rPr>
              <a:t>] = 10</a:t>
            </a:r>
            <a:r>
              <a:rPr lang="en-US" altLang="zh-CN" sz="2800" baseline="30000" dirty="0">
                <a:sym typeface="Wingdings" pitchFamily="2" charset="2"/>
              </a:rPr>
              <a:t>-2</a:t>
            </a:r>
            <a:r>
              <a:rPr lang="en-US" altLang="zh-CN" sz="2800" dirty="0">
                <a:sym typeface="Wingdings" pitchFamily="2" charset="2"/>
              </a:rPr>
              <a:t> M</a:t>
            </a:r>
          </a:p>
          <a:p>
            <a:pPr marL="514350" indent="-514350">
              <a:lnSpc>
                <a:spcPct val="150000"/>
              </a:lnSpc>
              <a:spcBef>
                <a:spcPts val="600"/>
              </a:spcBef>
              <a:buNone/>
            </a:pPr>
            <a:r>
              <a:rPr lang="en-US" altLang="zh-CN" sz="2800" dirty="0">
                <a:sym typeface="Wingdings" pitchFamily="2" charset="2"/>
              </a:rPr>
              <a:t>					     = 10</a:t>
            </a:r>
            <a:r>
              <a:rPr lang="en-US" altLang="zh-CN" sz="2800" baseline="30000" dirty="0">
                <a:sym typeface="Wingdings" pitchFamily="2" charset="2"/>
              </a:rPr>
              <a:t>-2</a:t>
            </a:r>
            <a:r>
              <a:rPr lang="en-US" altLang="zh-CN" sz="2800" dirty="0">
                <a:sym typeface="Wingdings" pitchFamily="2" charset="2"/>
              </a:rPr>
              <a:t> M</a:t>
            </a:r>
          </a:p>
          <a:p>
            <a:pPr marL="514350" indent="-514350">
              <a:lnSpc>
                <a:spcPct val="150000"/>
              </a:lnSpc>
              <a:spcBef>
                <a:spcPts val="600"/>
              </a:spcBef>
              <a:buNone/>
            </a:pPr>
            <a:r>
              <a:rPr lang="en-US" altLang="zh-CN" sz="3000" dirty="0">
                <a:sym typeface="Wingdings" pitchFamily="2" charset="2"/>
              </a:rPr>
              <a:t>					x  = 0.1 M</a:t>
            </a:r>
          </a:p>
          <a:p>
            <a:pPr marL="514350" indent="-514350">
              <a:lnSpc>
                <a:spcPct val="150000"/>
              </a:lnSpc>
              <a:spcBef>
                <a:spcPts val="600"/>
              </a:spcBef>
              <a:buNone/>
            </a:pPr>
            <a:r>
              <a:rPr lang="en-US" sz="2800" dirty="0" err="1">
                <a:sym typeface="Wingdings" pitchFamily="2" charset="2"/>
              </a:rPr>
              <a:t>Ans</a:t>
            </a:r>
            <a:r>
              <a:rPr lang="en-US" sz="2800" dirty="0">
                <a:sym typeface="Wingdings" pitchFamily="2" charset="2"/>
              </a:rPr>
              <a:t>: C</a:t>
            </a:r>
            <a:endParaRPr lang="en-US" altLang="zh-CN" sz="3000" dirty="0">
              <a:sym typeface="Wingdings" pitchFamily="2" charset="2"/>
            </a:endParaRPr>
          </a:p>
          <a:p>
            <a:pPr marL="514350" indent="-514350">
              <a:lnSpc>
                <a:spcPct val="150000"/>
              </a:lnSpc>
              <a:spcBef>
                <a:spcPts val="600"/>
              </a:spcBef>
              <a:buNone/>
            </a:pPr>
            <a:endParaRPr lang="en-US" altLang="zh-CN" sz="3000" dirty="0">
              <a:sym typeface="Wingdings" pitchFamily="2" charset="2"/>
            </a:endParaRPr>
          </a:p>
        </p:txBody>
      </p:sp>
      <p:graphicFrame>
        <p:nvGraphicFramePr>
          <p:cNvPr id="5" name="Object 4"/>
          <p:cNvGraphicFramePr>
            <a:graphicFrameLocks noChangeAspect="1"/>
          </p:cNvGraphicFramePr>
          <p:nvPr/>
        </p:nvGraphicFramePr>
        <p:xfrm>
          <a:off x="2700338" y="3048000"/>
          <a:ext cx="1516062" cy="958850"/>
        </p:xfrm>
        <a:graphic>
          <a:graphicData uri="http://schemas.openxmlformats.org/presentationml/2006/ole">
            <mc:AlternateContent xmlns:mc="http://schemas.openxmlformats.org/markup-compatibility/2006">
              <mc:Choice xmlns:v="urn:schemas-microsoft-com:vml" Requires="v">
                <p:oleObj spid="_x0000_s73730" name="Equation" r:id="rId3" imgW="622080" imgH="393480" progId="Equation.3">
                  <p:embed/>
                </p:oleObj>
              </mc:Choice>
              <mc:Fallback>
                <p:oleObj name="Equation" r:id="rId3" imgW="62208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3048000"/>
                        <a:ext cx="1516062"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en-US" altLang="zh-CN" sz="3000" dirty="0">
                <a:sym typeface="Wingdings" pitchFamily="2" charset="2"/>
              </a:rPr>
              <a:t>11. 	H</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 	</a:t>
            </a:r>
            <a:r>
              <a:rPr lang="zh-CN" altLang="en-US" sz="3000" dirty="0">
                <a:sym typeface="Wingdings" pitchFamily="2" charset="2"/>
              </a:rPr>
              <a:t>二元强酸</a:t>
            </a:r>
            <a:endParaRPr lang="en-US" altLang="zh-CN" sz="3000" dirty="0">
              <a:sym typeface="Wingdings" pitchFamily="2" charset="2"/>
            </a:endParaRPr>
          </a:p>
          <a:p>
            <a:pPr>
              <a:spcBef>
                <a:spcPts val="0"/>
              </a:spcBef>
              <a:buNone/>
            </a:pPr>
            <a:r>
              <a:rPr lang="en-US" altLang="zh-CN" sz="3000" dirty="0">
                <a:sym typeface="Wingdings" pitchFamily="2" charset="2"/>
              </a:rPr>
              <a:t>	   	NaHCO</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强碱弱酸形成的酸式盐</a:t>
            </a:r>
            <a:endParaRPr lang="en-US" altLang="zh-CN" sz="3000" dirty="0">
              <a:sym typeface="Wingdings" pitchFamily="2" charset="2"/>
            </a:endParaRPr>
          </a:p>
          <a:p>
            <a:pPr>
              <a:spcBef>
                <a:spcPts val="0"/>
              </a:spcBef>
              <a:buNone/>
            </a:pPr>
            <a:r>
              <a:rPr lang="en-US" altLang="zh-CN" sz="3000" dirty="0">
                <a:sym typeface="Wingdings" pitchFamily="2" charset="2"/>
              </a:rPr>
              <a:t>		NH</a:t>
            </a:r>
            <a:r>
              <a:rPr lang="en-US" altLang="zh-CN" sz="3000" baseline="-25000" dirty="0">
                <a:sym typeface="Wingdings" pitchFamily="2" charset="2"/>
              </a:rPr>
              <a:t>4</a:t>
            </a:r>
            <a:r>
              <a:rPr lang="en-US" altLang="zh-CN" sz="3000" dirty="0">
                <a:sym typeface="Wingdings" pitchFamily="2" charset="2"/>
              </a:rPr>
              <a:t>Cl		</a:t>
            </a:r>
            <a:r>
              <a:rPr lang="zh-CN" altLang="en-US" sz="3000" dirty="0">
                <a:sym typeface="Wingdings" pitchFamily="2" charset="2"/>
              </a:rPr>
              <a:t>强酸弱碱盐</a:t>
            </a: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dirty="0" err="1">
                <a:sym typeface="Wingdings" pitchFamily="2" charset="2"/>
              </a:rPr>
              <a:t>NaCl</a:t>
            </a:r>
            <a:r>
              <a:rPr lang="en-US" altLang="zh-CN" sz="3000" dirty="0">
                <a:sym typeface="Wingdings" pitchFamily="2" charset="2"/>
              </a:rPr>
              <a:t>		</a:t>
            </a:r>
            <a:r>
              <a:rPr lang="zh-CN" altLang="en-US" sz="3000" dirty="0">
                <a:sym typeface="Wingdings" pitchFamily="2" charset="2"/>
              </a:rPr>
              <a:t>强酸强碱盐</a:t>
            </a: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dirty="0" err="1">
                <a:sym typeface="Wingdings" pitchFamily="2" charset="2"/>
              </a:rPr>
              <a:t>HCl</a:t>
            </a:r>
            <a:r>
              <a:rPr lang="en-US" altLang="zh-CN" sz="3000" dirty="0">
                <a:sym typeface="Wingdings" pitchFamily="2" charset="2"/>
              </a:rPr>
              <a:t>		</a:t>
            </a:r>
            <a:r>
              <a:rPr lang="zh-CN" altLang="en-US" sz="3000" dirty="0">
                <a:sym typeface="Wingdings" pitchFamily="2" charset="2"/>
              </a:rPr>
              <a:t>一元强酸</a:t>
            </a: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dirty="0" err="1">
                <a:sym typeface="Wingdings" pitchFamily="2" charset="2"/>
              </a:rPr>
              <a:t>NaOH</a:t>
            </a:r>
            <a:r>
              <a:rPr lang="en-US" altLang="zh-CN" sz="3000" dirty="0">
                <a:sym typeface="Wingdings" pitchFamily="2" charset="2"/>
              </a:rPr>
              <a:t> 	</a:t>
            </a:r>
            <a:r>
              <a:rPr lang="zh-CN" altLang="en-US" sz="3000" dirty="0">
                <a:sym typeface="Wingdings" pitchFamily="2" charset="2"/>
              </a:rPr>
              <a:t>一元强碱</a:t>
            </a: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dirty="0" err="1">
                <a:sym typeface="Wingdings" pitchFamily="2" charset="2"/>
              </a:rPr>
              <a:t>Ans</a:t>
            </a:r>
            <a:r>
              <a:rPr lang="en-US" altLang="zh-CN" sz="3000" dirty="0">
                <a:sym typeface="Wingdings" pitchFamily="2" charset="2"/>
              </a:rPr>
              <a:t>: B</a:t>
            </a:r>
          </a:p>
          <a:p>
            <a:pPr>
              <a:spcBef>
                <a:spcPts val="0"/>
              </a:spcBef>
              <a:buNone/>
            </a:pPr>
            <a:r>
              <a:rPr lang="en-US" altLang="zh-CN" sz="3000" dirty="0">
                <a:sym typeface="Wingdings" pitchFamily="2" charset="2"/>
              </a:rPr>
              <a:t>12. A  Na</a:t>
            </a:r>
            <a:r>
              <a:rPr lang="en-US" altLang="zh-CN" sz="3000" baseline="-25000" dirty="0">
                <a:sym typeface="Wingdings" pitchFamily="2" charset="2"/>
              </a:rPr>
              <a:t>3</a:t>
            </a:r>
            <a:r>
              <a:rPr lang="en-US" altLang="zh-CN" sz="3000" dirty="0">
                <a:sym typeface="Wingdings" pitchFamily="2" charset="2"/>
              </a:rPr>
              <a:t>PO</a:t>
            </a:r>
            <a:r>
              <a:rPr lang="en-US" altLang="zh-CN" sz="3000" baseline="-25000" dirty="0">
                <a:sym typeface="Wingdings" pitchFamily="2" charset="2"/>
              </a:rPr>
              <a:t>4</a:t>
            </a:r>
            <a:r>
              <a:rPr lang="en-US" altLang="zh-CN" sz="3000" dirty="0">
                <a:sym typeface="Wingdings" pitchFamily="2" charset="2"/>
              </a:rPr>
              <a:t> </a:t>
            </a:r>
            <a:r>
              <a:rPr lang="zh-CN" altLang="en-US" sz="3000" dirty="0">
                <a:sym typeface="Wingdings" pitchFamily="2" charset="2"/>
              </a:rPr>
              <a:t>会水解</a:t>
            </a:r>
            <a:endParaRPr lang="en-US" altLang="zh-CN" sz="3000" dirty="0">
              <a:sym typeface="Wingdings" pitchFamily="2" charset="2"/>
            </a:endParaRPr>
          </a:p>
          <a:p>
            <a:pPr>
              <a:spcBef>
                <a:spcPts val="0"/>
              </a:spcBef>
              <a:buNone/>
            </a:pPr>
            <a:r>
              <a:rPr lang="en-US" altLang="zh-CN" sz="3000" dirty="0">
                <a:sym typeface="Wingdings" pitchFamily="2" charset="2"/>
              </a:rPr>
              <a:t>	   B pH3</a:t>
            </a:r>
            <a:r>
              <a:rPr lang="zh-CN" altLang="en-US" sz="3000" dirty="0">
                <a:sym typeface="Wingdings" pitchFamily="2" charset="2"/>
              </a:rPr>
              <a:t>，</a:t>
            </a: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 10</a:t>
            </a:r>
            <a:r>
              <a:rPr lang="en-US" altLang="zh-CN" sz="3000" baseline="30000" dirty="0">
                <a:sym typeface="Wingdings" pitchFamily="2" charset="2"/>
              </a:rPr>
              <a:t>-3</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pH1</a:t>
            </a:r>
            <a:r>
              <a:rPr lang="zh-CN" altLang="en-US" sz="3000" dirty="0">
                <a:sym typeface="Wingdings" pitchFamily="2" charset="2"/>
              </a:rPr>
              <a:t>，</a:t>
            </a:r>
            <a:r>
              <a:rPr lang="en-US" altLang="zh-CN" sz="3000" dirty="0">
                <a:sym typeface="Wingdings" pitchFamily="2" charset="2"/>
              </a:rPr>
              <a:t> [H</a:t>
            </a:r>
            <a:r>
              <a:rPr lang="en-US" altLang="zh-CN" sz="3000" baseline="30000" dirty="0">
                <a:sym typeface="Wingdings" pitchFamily="2" charset="2"/>
              </a:rPr>
              <a:t>+</a:t>
            </a:r>
            <a:r>
              <a:rPr lang="en-US" altLang="zh-CN" sz="3000" dirty="0">
                <a:sym typeface="Wingdings" pitchFamily="2" charset="2"/>
              </a:rPr>
              <a:t>]=10</a:t>
            </a:r>
            <a:r>
              <a:rPr lang="en-US" altLang="zh-CN" sz="3000" baseline="30000" dirty="0">
                <a:sym typeface="Wingdings" pitchFamily="2" charset="2"/>
              </a:rPr>
              <a:t>-1</a:t>
            </a:r>
            <a:r>
              <a:rPr lang="en-US" altLang="zh-CN" sz="3000" dirty="0">
                <a:sym typeface="Wingdings" pitchFamily="2" charset="2"/>
              </a:rPr>
              <a:t>  </a:t>
            </a:r>
          </a:p>
          <a:p>
            <a:pPr>
              <a:spcBef>
                <a:spcPts val="0"/>
              </a:spcBef>
              <a:buNone/>
            </a:pPr>
            <a:r>
              <a:rPr lang="en-US" altLang="zh-CN" sz="3000" dirty="0">
                <a:sym typeface="Wingdings" pitchFamily="2" charset="2"/>
              </a:rPr>
              <a:t>		</a:t>
            </a:r>
            <a:r>
              <a:rPr lang="zh-CN" altLang="en-US" sz="3000" dirty="0">
                <a:sym typeface="Wingdings" pitchFamily="2" charset="2"/>
              </a:rPr>
              <a:t>百分之一</a:t>
            </a:r>
            <a:endParaRPr lang="en-US" altLang="zh-CN" sz="3000" dirty="0">
              <a:sym typeface="Wingdings" pitchFamily="2" charset="2"/>
            </a:endParaRPr>
          </a:p>
          <a:p>
            <a:pPr>
              <a:spcBef>
                <a:spcPts val="0"/>
              </a:spcBef>
              <a:buNone/>
            </a:pPr>
            <a:r>
              <a:rPr lang="en-US" altLang="zh-CN" sz="3000" dirty="0">
                <a:sym typeface="Wingdings" pitchFamily="2" charset="2"/>
              </a:rPr>
              <a:t>	   C  </a:t>
            </a:r>
            <a:r>
              <a:rPr lang="zh-CN" altLang="en-US" sz="3000" dirty="0">
                <a:sym typeface="Wingdings" pitchFamily="2" charset="2"/>
              </a:rPr>
              <a:t>氨水的弱碱没有完全解离</a:t>
            </a:r>
            <a:endParaRPr lang="en-US" altLang="zh-CN" sz="3000" dirty="0">
              <a:sym typeface="Wingdings" pitchFamily="2" charset="2"/>
            </a:endParaRPr>
          </a:p>
          <a:p>
            <a:pPr>
              <a:spcBef>
                <a:spcPts val="0"/>
              </a:spcBef>
              <a:buNone/>
            </a:pPr>
            <a:r>
              <a:rPr lang="en-US" altLang="zh-CN" sz="3000" dirty="0">
                <a:sym typeface="Wingdings" pitchFamily="2" charset="2"/>
              </a:rPr>
              <a:t>	</a:t>
            </a:r>
            <a:r>
              <a:rPr lang="en-US" altLang="zh-CN" sz="3000" dirty="0" err="1">
                <a:sym typeface="Wingdings" pitchFamily="2" charset="2"/>
              </a:rPr>
              <a:t>Ans:D</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a:t>
            </a:r>
            <a:endParaRPr lang="en-US" sz="28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blinds(horizontal)">
                                      <p:cBhvr>
                                        <p:cTn id="67"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spcBef>
                <a:spcPts val="0"/>
              </a:spcBef>
              <a:buNone/>
            </a:pPr>
            <a:r>
              <a:rPr lang="en-US" altLang="zh-CN" sz="3000" dirty="0">
                <a:sym typeface="Wingdings" pitchFamily="2" charset="2"/>
              </a:rPr>
              <a:t>13. C</a:t>
            </a:r>
          </a:p>
          <a:p>
            <a:pPr>
              <a:spcBef>
                <a:spcPts val="0"/>
              </a:spcBef>
              <a:buNone/>
            </a:pPr>
            <a:endParaRPr lang="en-US" altLang="zh-CN" sz="3000" dirty="0">
              <a:sym typeface="Wingdings" pitchFamily="2" charset="2"/>
            </a:endParaRPr>
          </a:p>
          <a:p>
            <a:pPr>
              <a:spcBef>
                <a:spcPts val="0"/>
              </a:spcBef>
              <a:buNone/>
            </a:pPr>
            <a:r>
              <a:rPr lang="zh-CN" altLang="en-US" sz="3000" dirty="0">
                <a:sym typeface="Wingdings" pitchFamily="2" charset="2"/>
              </a:rPr>
              <a:t>补充题</a:t>
            </a:r>
            <a:endParaRPr lang="en-US" altLang="zh-CN" sz="3000" dirty="0">
              <a:sym typeface="Wingdings" pitchFamily="2" charset="2"/>
            </a:endParaRPr>
          </a:p>
          <a:p>
            <a:pPr>
              <a:spcBef>
                <a:spcPts val="0"/>
              </a:spcBef>
              <a:buNone/>
            </a:pPr>
            <a:r>
              <a:rPr lang="zh-CN" altLang="en-US" sz="3000" dirty="0">
                <a:sym typeface="Wingdings" pitchFamily="2" charset="2"/>
              </a:rPr>
              <a:t>下列组合是否能组成缓冲溶液？</a:t>
            </a:r>
            <a:endParaRPr lang="en-US" altLang="zh-CN" sz="3000" dirty="0">
              <a:sym typeface="Wingdings" pitchFamily="2" charset="2"/>
            </a:endParaRPr>
          </a:p>
          <a:p>
            <a:pPr>
              <a:spcBef>
                <a:spcPts val="0"/>
              </a:spcBef>
              <a:buNone/>
            </a:pPr>
            <a:r>
              <a:rPr lang="en-US" altLang="zh-CN" sz="3000" dirty="0">
                <a:sym typeface="Wingdings" pitchFamily="2" charset="2"/>
              </a:rPr>
              <a:t>1.) 0.1M 100mL</a:t>
            </a:r>
            <a:r>
              <a:rPr lang="zh-CN" altLang="en-US" sz="3000" dirty="0">
                <a:sym typeface="Wingdings" pitchFamily="2" charset="2"/>
              </a:rPr>
              <a:t>醋酸 </a:t>
            </a:r>
            <a:r>
              <a:rPr lang="en-US" altLang="zh-CN" sz="3000" dirty="0">
                <a:sym typeface="Wingdings" pitchFamily="2" charset="2"/>
              </a:rPr>
              <a:t>+  0.1M 80mL </a:t>
            </a:r>
            <a:r>
              <a:rPr lang="en-US" altLang="zh-CN" sz="3000" dirty="0" err="1">
                <a:sym typeface="Wingdings" pitchFamily="2" charset="2"/>
              </a:rPr>
              <a:t>NaOH</a:t>
            </a:r>
            <a:endParaRPr lang="en-US" altLang="zh-CN" sz="3000" dirty="0">
              <a:sym typeface="Wingdings" pitchFamily="2" charset="2"/>
            </a:endParaRPr>
          </a:p>
          <a:p>
            <a:pPr>
              <a:spcBef>
                <a:spcPts val="0"/>
              </a:spcBef>
              <a:buNone/>
            </a:pPr>
            <a:r>
              <a:rPr lang="en-US" altLang="zh-CN" sz="3000" dirty="0">
                <a:sym typeface="Wingdings" pitchFamily="2" charset="2"/>
              </a:rPr>
              <a:t>2.) 0.1M 100mL</a:t>
            </a:r>
            <a:r>
              <a:rPr lang="zh-CN" altLang="en-US" sz="3000" dirty="0">
                <a:sym typeface="Wingdings" pitchFamily="2" charset="2"/>
              </a:rPr>
              <a:t>盐酸 </a:t>
            </a:r>
            <a:r>
              <a:rPr lang="en-US" altLang="zh-CN" sz="3000" dirty="0">
                <a:sym typeface="Wingdings" pitchFamily="2" charset="2"/>
              </a:rPr>
              <a:t>+  0.1M 80mL </a:t>
            </a:r>
            <a:r>
              <a:rPr lang="zh-CN" altLang="en-US" sz="3000" dirty="0">
                <a:sym typeface="Wingdings" pitchFamily="2" charset="2"/>
              </a:rPr>
              <a:t>氨水</a:t>
            </a:r>
            <a:endParaRPr lang="en-US" altLang="zh-CN" sz="3000" dirty="0">
              <a:sym typeface="Wingdings" pitchFamily="2" charset="2"/>
            </a:endParaRPr>
          </a:p>
          <a:p>
            <a:pPr>
              <a:spcBef>
                <a:spcPts val="0"/>
              </a:spcBef>
              <a:buNone/>
            </a:pPr>
            <a:r>
              <a:rPr lang="en-US" altLang="zh-CN" sz="3000" dirty="0">
                <a:sym typeface="Wingdings" pitchFamily="2" charset="2"/>
              </a:rPr>
              <a:t>3.) 0.1M 100mL</a:t>
            </a:r>
            <a:r>
              <a:rPr lang="zh-CN" altLang="en-US" sz="3000" dirty="0">
                <a:sym typeface="Wingdings" pitchFamily="2" charset="2"/>
              </a:rPr>
              <a:t>硝酸 </a:t>
            </a:r>
            <a:r>
              <a:rPr lang="en-US" altLang="zh-CN" sz="3000" dirty="0">
                <a:sym typeface="Wingdings" pitchFamily="2" charset="2"/>
              </a:rPr>
              <a:t>+  0.1M 150mL </a:t>
            </a:r>
            <a:r>
              <a:rPr lang="zh-CN" altLang="en-US" sz="3000" dirty="0">
                <a:sym typeface="Wingdings" pitchFamily="2" charset="2"/>
              </a:rPr>
              <a:t>氨水</a:t>
            </a:r>
            <a:endParaRPr lang="en-US" altLang="zh-CN" sz="3000" dirty="0">
              <a:sym typeface="Wingdings" pitchFamily="2" charset="2"/>
            </a:endParaRPr>
          </a:p>
          <a:p>
            <a:pPr>
              <a:spcBef>
                <a:spcPts val="0"/>
              </a:spcBef>
              <a:buNone/>
            </a:pPr>
            <a:r>
              <a:rPr lang="en-US" altLang="zh-CN" sz="3000" dirty="0">
                <a:sym typeface="Wingdings" pitchFamily="2" charset="2"/>
              </a:rPr>
              <a:t>4.) 0.1M 100mL</a:t>
            </a:r>
            <a:r>
              <a:rPr lang="zh-CN" altLang="en-US" sz="3000" dirty="0">
                <a:sym typeface="Wingdings" pitchFamily="2" charset="2"/>
              </a:rPr>
              <a:t>醋酸 </a:t>
            </a:r>
            <a:r>
              <a:rPr lang="en-US" altLang="zh-CN" sz="3000" dirty="0">
                <a:sym typeface="Wingdings" pitchFamily="2" charset="2"/>
              </a:rPr>
              <a:t>+  0.1M 150mL </a:t>
            </a:r>
            <a:r>
              <a:rPr lang="zh-CN" altLang="en-US" sz="3000" dirty="0">
                <a:sym typeface="Wingdings" pitchFamily="2" charset="2"/>
              </a:rPr>
              <a:t>氨水</a:t>
            </a:r>
            <a:endParaRPr lang="en-US" altLang="zh-CN" sz="3000" dirty="0">
              <a:sym typeface="Wingdings" pitchFamily="2" charset="2"/>
            </a:endParaRPr>
          </a:p>
          <a:p>
            <a:pPr>
              <a:spcBef>
                <a:spcPts val="0"/>
              </a:spcBef>
              <a:buFont typeface="Wingdings" pitchFamily="2" charset="2"/>
              <a:buChar char="v"/>
            </a:pPr>
            <a:r>
              <a:rPr lang="zh-CN" altLang="en-US" sz="3000" dirty="0">
                <a:sym typeface="Wingdings" pitchFamily="2" charset="2"/>
              </a:rPr>
              <a:t>需一强一弱，且弱的要过量</a:t>
            </a:r>
            <a:endParaRPr lang="en-US" altLang="zh-CN" sz="3000" dirty="0">
              <a:sym typeface="Wingdings" pitchFamily="2" charset="2"/>
            </a:endParaRPr>
          </a:p>
          <a:p>
            <a:pPr>
              <a:spcBef>
                <a:spcPts val="0"/>
              </a:spcBef>
              <a:buNone/>
            </a:pPr>
            <a:r>
              <a:rPr lang="en-US" altLang="zh-CN" sz="3000" dirty="0">
                <a:sym typeface="Wingdings" pitchFamily="2" charset="2"/>
              </a:rPr>
              <a:t>1 </a:t>
            </a:r>
            <a:r>
              <a:rPr lang="zh-CN" altLang="en-US" sz="3000" dirty="0">
                <a:sym typeface="Wingdings" pitchFamily="2" charset="2"/>
              </a:rPr>
              <a:t>能</a:t>
            </a:r>
            <a:r>
              <a:rPr lang="en-US" altLang="zh-CN" sz="3000" dirty="0">
                <a:sym typeface="Wingdings" pitchFamily="2" charset="2"/>
              </a:rPr>
              <a:t>	2 </a:t>
            </a:r>
            <a:r>
              <a:rPr lang="zh-CN" altLang="en-US" sz="3000" dirty="0">
                <a:sym typeface="Wingdings" pitchFamily="2" charset="2"/>
              </a:rPr>
              <a:t>不能  </a:t>
            </a:r>
            <a:r>
              <a:rPr lang="en-US" altLang="zh-CN" sz="3000" dirty="0">
                <a:sym typeface="Wingdings" pitchFamily="2" charset="2"/>
              </a:rPr>
              <a:t>3 </a:t>
            </a:r>
            <a:r>
              <a:rPr lang="zh-CN" altLang="en-US" sz="3000" dirty="0">
                <a:sym typeface="Wingdings" pitchFamily="2" charset="2"/>
              </a:rPr>
              <a:t>能</a:t>
            </a:r>
            <a:r>
              <a:rPr lang="en-US" altLang="zh-CN" sz="3000" dirty="0">
                <a:sym typeface="Wingdings" pitchFamily="2" charset="2"/>
              </a:rPr>
              <a:t> 4 </a:t>
            </a:r>
            <a:r>
              <a:rPr lang="zh-CN" altLang="en-US" sz="3000" dirty="0">
                <a:sym typeface="Wingdings" pitchFamily="2" charset="2"/>
              </a:rPr>
              <a:t>不能</a:t>
            </a: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a:t>
            </a:r>
            <a:endParaRPr lang="en-US" sz="28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blinds(horizontal)">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作答题（</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4</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6</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8</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9</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10</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r>
              <a:rPr lang="en-US" altLang="zh-CN"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11</a:t>
            </a:r>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486400"/>
          </a:xfrm>
        </p:spPr>
        <p:txBody>
          <a:bodyPr>
            <a:noAutofit/>
          </a:bodyPr>
          <a:lstStyle/>
          <a:p>
            <a:pPr>
              <a:lnSpc>
                <a:spcPct val="150000"/>
              </a:lnSpc>
              <a:buNone/>
            </a:pPr>
            <a:r>
              <a:rPr lang="en-US" altLang="zh-CN" sz="3000" dirty="0">
                <a:sym typeface="Wingdings" pitchFamily="2" charset="2"/>
              </a:rPr>
              <a:t>1.</a:t>
            </a:r>
            <a:r>
              <a:rPr lang="zh-CN" altLang="en-US" sz="2800" dirty="0"/>
              <a:t>因为醋酸与氨水都属于弱电解质，其水溶液中离子浓度小，导电性弱，灯泡暗； 两者混合后生成强电解质，其水溶液中离子浓度增大，导电性强，灯泡变亮。</a:t>
            </a:r>
          </a:p>
          <a:p>
            <a:pPr>
              <a:lnSpc>
                <a:spcPct val="150000"/>
              </a:lnSpc>
              <a:spcBef>
                <a:spcPts val="0"/>
              </a:spcBef>
              <a:buNone/>
            </a:pPr>
            <a:r>
              <a:rPr lang="en-US" altLang="zh-CN" sz="3000" dirty="0">
                <a:sym typeface="Wingdings" pitchFamily="2" charset="2"/>
              </a:rPr>
              <a:t>2.</a:t>
            </a:r>
          </a:p>
          <a:p>
            <a:pPr>
              <a:lnSpc>
                <a:spcPct val="150000"/>
              </a:lnSpc>
              <a:spcBef>
                <a:spcPts val="0"/>
              </a:spcBef>
              <a:buNone/>
            </a:pPr>
            <a:endParaRPr lang="en-US" altLang="zh-CN" sz="3000" dirty="0">
              <a:sym typeface="Wingdings" pitchFamily="2" charset="2"/>
            </a:endParaRPr>
          </a:p>
          <a:p>
            <a:pPr>
              <a:lnSpc>
                <a:spcPct val="150000"/>
              </a:lnSpc>
              <a:spcBef>
                <a:spcPts val="0"/>
              </a:spcBef>
              <a:buNone/>
            </a:pPr>
            <a:endParaRPr lang="en-US" altLang="zh-CN" sz="3000" dirty="0">
              <a:sym typeface="Wingdings" pitchFamily="2" charset="2"/>
            </a:endParaRPr>
          </a:p>
          <a:p>
            <a:pPr>
              <a:lnSpc>
                <a:spcPct val="150000"/>
              </a:lnSpc>
              <a:spcBef>
                <a:spcPts val="0"/>
              </a:spcBef>
              <a:buNone/>
            </a:pPr>
            <a:endParaRPr lang="en-US" altLang="zh-CN" sz="3000" dirty="0">
              <a:sym typeface="Wingdings" pitchFamily="2" charset="2"/>
            </a:endParaRPr>
          </a:p>
          <a:p>
            <a:pPr>
              <a:lnSpc>
                <a:spcPct val="150000"/>
              </a:lnSpc>
              <a:spcBef>
                <a:spcPts val="0"/>
              </a:spcBef>
              <a:buNone/>
            </a:pPr>
            <a:endParaRPr lang="en-US" altLang="zh-CN" sz="3000" dirty="0">
              <a:sym typeface="Wingdings" pitchFamily="2" charset="2"/>
            </a:endParaRPr>
          </a:p>
          <a:p>
            <a:pPr>
              <a:lnSpc>
                <a:spcPct val="150000"/>
              </a:lnSpc>
              <a:spcBef>
                <a:spcPts val="0"/>
              </a:spcBef>
              <a:buNone/>
            </a:pPr>
            <a:endParaRPr lang="en-US" altLang="zh-CN" sz="3000" dirty="0">
              <a:sym typeface="Wingdings" pitchFamily="2" charset="2"/>
            </a:endParaRPr>
          </a:p>
          <a:p>
            <a:pPr>
              <a:spcBef>
                <a:spcPts val="0"/>
              </a:spcBef>
              <a:buNone/>
            </a:pPr>
            <a:endParaRPr lang="en-US" altLang="zh-CN" sz="3000" dirty="0">
              <a:sym typeface="Wingdings" pitchFamily="2" charset="2"/>
            </a:endParaRPr>
          </a:p>
          <a:p>
            <a:pPr>
              <a:spcBef>
                <a:spcPts val="0"/>
              </a:spcBef>
              <a:buNone/>
            </a:pPr>
            <a:r>
              <a:rPr lang="en-US" altLang="zh-CN" sz="3000" dirty="0">
                <a:sym typeface="Wingdings" pitchFamily="2" charset="2"/>
              </a:rPr>
              <a:t> </a:t>
            </a:r>
            <a:endParaRPr lang="en-US" sz="2800" dirty="0"/>
          </a:p>
        </p:txBody>
      </p:sp>
      <p:graphicFrame>
        <p:nvGraphicFramePr>
          <p:cNvPr id="5" name="Table 4"/>
          <p:cNvGraphicFramePr>
            <a:graphicFrameLocks noGrp="1"/>
          </p:cNvGraphicFramePr>
          <p:nvPr/>
        </p:nvGraphicFramePr>
        <p:xfrm>
          <a:off x="1144903" y="3378429"/>
          <a:ext cx="6703697" cy="2107971"/>
        </p:xfrm>
        <a:graphic>
          <a:graphicData uri="http://schemas.openxmlformats.org/drawingml/2006/table">
            <a:tbl>
              <a:tblPr firstRow="1" bandRow="1">
                <a:tableStyleId>{5C22544A-7EE6-4342-B048-85BDC9FD1C3A}</a:tableStyleId>
              </a:tblPr>
              <a:tblGrid>
                <a:gridCol w="2397443">
                  <a:extLst>
                    <a:ext uri="{9D8B030D-6E8A-4147-A177-3AD203B41FA5}">
                      <a16:colId xmlns:a16="http://schemas.microsoft.com/office/drawing/2014/main" val="20000"/>
                    </a:ext>
                  </a:extLst>
                </a:gridCol>
                <a:gridCol w="975043">
                  <a:extLst>
                    <a:ext uri="{9D8B030D-6E8A-4147-A177-3AD203B41FA5}">
                      <a16:colId xmlns:a16="http://schemas.microsoft.com/office/drawing/2014/main" val="20001"/>
                    </a:ext>
                  </a:extLst>
                </a:gridCol>
                <a:gridCol w="1022668">
                  <a:extLst>
                    <a:ext uri="{9D8B030D-6E8A-4147-A177-3AD203B41FA5}">
                      <a16:colId xmlns:a16="http://schemas.microsoft.com/office/drawing/2014/main" val="20002"/>
                    </a:ext>
                  </a:extLst>
                </a:gridCol>
                <a:gridCol w="2308543">
                  <a:extLst>
                    <a:ext uri="{9D8B030D-6E8A-4147-A177-3AD203B41FA5}">
                      <a16:colId xmlns:a16="http://schemas.microsoft.com/office/drawing/2014/main" val="20003"/>
                    </a:ext>
                  </a:extLst>
                </a:gridCol>
              </a:tblGrid>
              <a:tr h="533401">
                <a:tc>
                  <a:txBody>
                    <a:bodyPr/>
                    <a:lstStyle/>
                    <a:p>
                      <a:endParaRPr lang="en-US" sz="2800" dirty="0"/>
                    </a:p>
                  </a:txBody>
                  <a:tcPr/>
                </a:tc>
                <a:tc>
                  <a:txBody>
                    <a:bodyPr/>
                    <a:lstStyle/>
                    <a:p>
                      <a:r>
                        <a:rPr lang="en-US" sz="2800" dirty="0"/>
                        <a:t>+</a:t>
                      </a:r>
                      <a:r>
                        <a:rPr lang="zh-CN" altLang="en-US" sz="2800" dirty="0"/>
                        <a:t>水</a:t>
                      </a:r>
                      <a:endParaRPr lang="en-US" sz="2800" dirty="0"/>
                    </a:p>
                  </a:txBody>
                  <a:tcPr/>
                </a:tc>
                <a:tc>
                  <a:txBody>
                    <a:bodyPr/>
                    <a:lstStyle/>
                    <a:p>
                      <a:r>
                        <a:rPr lang="en-US" altLang="zh-CN" sz="2800" dirty="0"/>
                        <a:t>+ </a:t>
                      </a:r>
                      <a:r>
                        <a:rPr lang="en-US" altLang="zh-CN" sz="2800" dirty="0" err="1"/>
                        <a:t>HCl</a:t>
                      </a:r>
                      <a:endParaRPr lang="en-US" sz="2800" dirty="0"/>
                    </a:p>
                  </a:txBody>
                  <a:tcPr/>
                </a:tc>
                <a:tc>
                  <a:txBody>
                    <a:bodyPr/>
                    <a:lstStyle/>
                    <a:p>
                      <a:r>
                        <a:rPr lang="en-US" altLang="zh-CN" sz="2800" dirty="0"/>
                        <a:t>+ </a:t>
                      </a:r>
                      <a:r>
                        <a:rPr lang="zh-CN" altLang="en-US" sz="2800" dirty="0"/>
                        <a:t>醋酸钠固体</a:t>
                      </a:r>
                      <a:endParaRPr lang="en-US" sz="2800" dirty="0"/>
                    </a:p>
                  </a:txBody>
                  <a:tcPr/>
                </a:tc>
                <a:extLst>
                  <a:ext uri="{0D108BD9-81ED-4DB2-BD59-A6C34878D82A}">
                    <a16:rowId xmlns:a16="http://schemas.microsoft.com/office/drawing/2014/main" val="10000"/>
                  </a:ext>
                </a:extLst>
              </a:tr>
              <a:tr h="538250">
                <a:tc>
                  <a:txBody>
                    <a:bodyPr/>
                    <a:lstStyle/>
                    <a:p>
                      <a:r>
                        <a:rPr lang="zh-CN" altLang="en-US" sz="2800" dirty="0"/>
                        <a:t>醋酸的电离度</a:t>
                      </a:r>
                      <a:endParaRPr lang="en-US" sz="2800" dirty="0"/>
                    </a:p>
                  </a:txBody>
                  <a:tcPr/>
                </a:tc>
                <a:tc>
                  <a:txBody>
                    <a:bodyPr/>
                    <a:lstStyle/>
                    <a:p>
                      <a:r>
                        <a:rPr lang="zh-CN" altLang="en-US" sz="2800" dirty="0"/>
                        <a:t>增大</a:t>
                      </a:r>
                      <a:endParaRPr lang="en-US" sz="2800" dirty="0"/>
                    </a:p>
                  </a:txBody>
                  <a:tcPr/>
                </a:tc>
                <a:tc>
                  <a:txBody>
                    <a:bodyPr/>
                    <a:lstStyle/>
                    <a:p>
                      <a:r>
                        <a:rPr lang="zh-CN" altLang="en-US" sz="2800" dirty="0"/>
                        <a:t>减小</a:t>
                      </a:r>
                      <a:endParaRPr lang="en-US"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减小</a:t>
                      </a:r>
                      <a:endParaRPr lang="en-US" sz="2800" dirty="0"/>
                    </a:p>
                  </a:txBody>
                  <a:tcPr/>
                </a:tc>
                <a:extLst>
                  <a:ext uri="{0D108BD9-81ED-4DB2-BD59-A6C34878D82A}">
                    <a16:rowId xmlns:a16="http://schemas.microsoft.com/office/drawing/2014/main" val="10001"/>
                  </a:ext>
                </a:extLst>
              </a:tr>
              <a:tr h="457200">
                <a:tc>
                  <a:txBody>
                    <a:bodyPr/>
                    <a:lstStyle/>
                    <a:p>
                      <a:r>
                        <a:rPr lang="zh-CN" altLang="en-US" sz="2800" dirty="0"/>
                        <a:t>醋酸的</a:t>
                      </a:r>
                      <a:r>
                        <a:rPr lang="en-US" altLang="zh-CN" sz="2800" dirty="0"/>
                        <a:t>K</a:t>
                      </a:r>
                      <a:r>
                        <a:rPr lang="en-US" altLang="zh-CN" sz="2800" baseline="-25000" dirty="0"/>
                        <a:t>a</a:t>
                      </a:r>
                      <a:endParaRPr lang="en-US" sz="2800" dirty="0"/>
                    </a:p>
                  </a:txBody>
                  <a:tcPr/>
                </a:tc>
                <a:tc>
                  <a:txBody>
                    <a:bodyPr/>
                    <a:lstStyle/>
                    <a:p>
                      <a:r>
                        <a:rPr lang="zh-CN" altLang="en-US" sz="2800" dirty="0"/>
                        <a:t>不变</a:t>
                      </a:r>
                      <a:endParaRPr lang="en-US"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不变</a:t>
                      </a:r>
                      <a:endParaRPr lang="en-US"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不变</a:t>
                      </a:r>
                      <a:endParaRPr lang="en-US" sz="2800" dirty="0"/>
                    </a:p>
                  </a:txBody>
                  <a:tcPr/>
                </a:tc>
                <a:extLst>
                  <a:ext uri="{0D108BD9-81ED-4DB2-BD59-A6C34878D82A}">
                    <a16:rowId xmlns:a16="http://schemas.microsoft.com/office/drawing/2014/main" val="10002"/>
                  </a:ext>
                </a:extLst>
              </a:tr>
              <a:tr h="467590">
                <a:tc>
                  <a:txBody>
                    <a:bodyPr/>
                    <a:lstStyle/>
                    <a:p>
                      <a:r>
                        <a:rPr lang="en-US" sz="2800" dirty="0"/>
                        <a:t>[H</a:t>
                      </a:r>
                      <a:r>
                        <a:rPr lang="en-US" sz="2800" baseline="30000" dirty="0"/>
                        <a:t>+</a:t>
                      </a:r>
                      <a:r>
                        <a:rPr lang="en-US" sz="28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减小</a:t>
                      </a:r>
                      <a:endParaRPr lang="en-US"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增大</a:t>
                      </a:r>
                      <a:endParaRPr lang="en-US"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dirty="0"/>
                        <a:t>减小</a:t>
                      </a:r>
                      <a:endParaRPr lang="en-US" sz="2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0" y="990600"/>
            <a:ext cx="9144000" cy="5029200"/>
          </a:xfrm>
        </p:spPr>
        <p:txBody>
          <a:bodyPr>
            <a:noAutofit/>
          </a:bodyPr>
          <a:lstStyle/>
          <a:p>
            <a:pPr>
              <a:spcBef>
                <a:spcPts val="600"/>
              </a:spcBef>
              <a:buNone/>
            </a:pPr>
            <a:r>
              <a:rPr lang="en-US" altLang="zh-CN" sz="3000" dirty="0">
                <a:sym typeface="Wingdings" pitchFamily="2" charset="2"/>
              </a:rPr>
              <a:t>3. </a:t>
            </a:r>
            <a:r>
              <a:rPr lang="el-GR" altLang="zh-CN" sz="3000" dirty="0">
                <a:sym typeface="Wingdings" pitchFamily="2" charset="2"/>
              </a:rPr>
              <a:t>α</a:t>
            </a:r>
            <a:r>
              <a:rPr lang="en-US" altLang="zh-CN" sz="3000" dirty="0">
                <a:sym typeface="Wingdings" pitchFamily="2" charset="2"/>
              </a:rPr>
              <a:t>=0.0222%</a:t>
            </a:r>
          </a:p>
          <a:p>
            <a:pPr>
              <a:spcBef>
                <a:spcPts val="600"/>
              </a:spcBef>
              <a:buNone/>
            </a:pPr>
            <a:r>
              <a:rPr lang="en-US" altLang="zh-CN" sz="3000" dirty="0">
                <a:sym typeface="Wingdings" pitchFamily="2" charset="2"/>
              </a:rPr>
              <a:t>4. K</a:t>
            </a:r>
            <a:r>
              <a:rPr lang="en-US" altLang="zh-CN" sz="3000" baseline="-25000" dirty="0">
                <a:sym typeface="Wingdings" pitchFamily="2" charset="2"/>
              </a:rPr>
              <a:t>a</a:t>
            </a:r>
            <a:r>
              <a:rPr lang="en-US" altLang="zh-CN" sz="3000" dirty="0">
                <a:sym typeface="Wingdings" pitchFamily="2" charset="2"/>
              </a:rPr>
              <a:t> = 1.74x10</a:t>
            </a:r>
            <a:r>
              <a:rPr lang="en-US" altLang="zh-CN" sz="3000" baseline="30000" dirty="0">
                <a:sym typeface="Wingdings" pitchFamily="2" charset="2"/>
              </a:rPr>
              <a:t>-5 </a:t>
            </a:r>
            <a:r>
              <a:rPr lang="en-US" altLang="zh-CN" sz="3000" dirty="0">
                <a:sym typeface="Wingdings" pitchFamily="2" charset="2"/>
              </a:rPr>
              <a:t> </a:t>
            </a:r>
            <a:r>
              <a:rPr lang="zh-CN" altLang="en-US" sz="3000" dirty="0">
                <a:sym typeface="Wingdings" pitchFamily="2" charset="2"/>
              </a:rPr>
              <a:t>或</a:t>
            </a:r>
            <a:r>
              <a:rPr lang="en-US" altLang="zh-CN" sz="3000" dirty="0">
                <a:sym typeface="Wingdings" pitchFamily="2" charset="2"/>
              </a:rPr>
              <a:t>1.77x10</a:t>
            </a:r>
            <a:r>
              <a:rPr lang="en-US" altLang="zh-CN" sz="3000" baseline="30000" dirty="0">
                <a:sym typeface="Wingdings" pitchFamily="2" charset="2"/>
              </a:rPr>
              <a:t>-5</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[H</a:t>
            </a:r>
            <a:r>
              <a:rPr lang="en-US" altLang="zh-CN" sz="3000" baseline="30000" dirty="0">
                <a:sym typeface="Wingdings" pitchFamily="2" charset="2"/>
              </a:rPr>
              <a:t>+</a:t>
            </a:r>
            <a:r>
              <a:rPr lang="en-US" altLang="zh-CN" sz="3000" dirty="0">
                <a:sym typeface="Wingdings" pitchFamily="2" charset="2"/>
              </a:rPr>
              <a:t>]=1.32x10</a:t>
            </a:r>
            <a:r>
              <a:rPr lang="en-US" altLang="zh-CN" sz="3000" baseline="30000" dirty="0">
                <a:sym typeface="Wingdings" pitchFamily="2" charset="2"/>
              </a:rPr>
              <a:t>-3</a:t>
            </a:r>
            <a:r>
              <a:rPr lang="en-US" altLang="zh-CN" sz="3000" dirty="0">
                <a:sym typeface="Wingdings" pitchFamily="2" charset="2"/>
              </a:rPr>
              <a:t>  M</a:t>
            </a:r>
          </a:p>
          <a:p>
            <a:pPr>
              <a:spcBef>
                <a:spcPts val="600"/>
              </a:spcBef>
              <a:buNone/>
            </a:pPr>
            <a:r>
              <a:rPr lang="en-US" altLang="zh-CN" sz="3000" dirty="0">
                <a:sym typeface="Wingdings" pitchFamily="2" charset="2"/>
              </a:rPr>
              <a:t>5. </a:t>
            </a:r>
            <a:r>
              <a:rPr lang="en-US" sz="2800" dirty="0"/>
              <a:t>0.109 </a:t>
            </a:r>
            <a:r>
              <a:rPr lang="en-US" altLang="zh-CN" sz="2800" dirty="0"/>
              <a:t>M</a:t>
            </a:r>
            <a:r>
              <a:rPr lang="en-US" sz="2800" dirty="0"/>
              <a:t> 　　</a:t>
            </a:r>
          </a:p>
          <a:p>
            <a:pPr>
              <a:spcBef>
                <a:spcPts val="600"/>
              </a:spcBef>
              <a:buNone/>
            </a:pPr>
            <a:r>
              <a:rPr lang="en-US" sz="2800" dirty="0"/>
              <a:t>6. 0.22 </a:t>
            </a:r>
            <a:r>
              <a:rPr lang="en-US" altLang="zh-CN" sz="2800" dirty="0"/>
              <a:t>M</a:t>
            </a:r>
            <a:endParaRPr lang="en-US" sz="2800" dirty="0"/>
          </a:p>
          <a:p>
            <a:pPr marL="514350" indent="-514350">
              <a:spcBef>
                <a:spcPts val="600"/>
              </a:spcBef>
              <a:buNone/>
            </a:pPr>
            <a:r>
              <a:rPr lang="en-US" altLang="zh-CN" sz="3000" dirty="0">
                <a:sym typeface="Wingdings" pitchFamily="2" charset="2"/>
              </a:rPr>
              <a:t>7. </a:t>
            </a:r>
            <a:r>
              <a:rPr lang="zh-CN" altLang="en-US" sz="3000" dirty="0">
                <a:sym typeface="Wingdings" pitchFamily="2" charset="2"/>
              </a:rPr>
              <a:t>分别加入石蕊液，石蕊液呈红色的是</a:t>
            </a:r>
            <a:r>
              <a:rPr lang="en-US" altLang="zh-CN" sz="3000" dirty="0">
                <a:sym typeface="Wingdings" pitchFamily="2" charset="2"/>
              </a:rPr>
              <a:t>NH</a:t>
            </a:r>
            <a:r>
              <a:rPr lang="en-US" altLang="zh-CN" sz="3000" baseline="-25000" dirty="0">
                <a:sym typeface="Wingdings" pitchFamily="2" charset="2"/>
              </a:rPr>
              <a:t>4</a:t>
            </a:r>
            <a:r>
              <a:rPr lang="en-US" altLang="zh-CN" sz="3000" dirty="0">
                <a:sym typeface="Wingdings" pitchFamily="2" charset="2"/>
              </a:rPr>
              <a:t>Cl</a:t>
            </a:r>
            <a:r>
              <a:rPr lang="zh-CN" altLang="en-US" sz="3000" dirty="0">
                <a:sym typeface="Wingdings" pitchFamily="2" charset="2"/>
              </a:rPr>
              <a:t>，</a:t>
            </a:r>
            <a:endParaRPr lang="en-US" altLang="zh-CN" sz="3000" dirty="0">
              <a:sym typeface="Wingdings" pitchFamily="2" charset="2"/>
            </a:endParaRPr>
          </a:p>
          <a:p>
            <a:pPr marL="514350" indent="-514350">
              <a:spcBef>
                <a:spcPts val="600"/>
              </a:spcBef>
              <a:buNone/>
            </a:pPr>
            <a:r>
              <a:rPr lang="en-US" altLang="zh-CN" sz="3000" dirty="0">
                <a:sym typeface="Wingdings" pitchFamily="2" charset="2"/>
              </a:rPr>
              <a:t>	</a:t>
            </a:r>
            <a:r>
              <a:rPr lang="zh-CN" altLang="en-US" sz="3000" dirty="0">
                <a:sym typeface="Wingdings" pitchFamily="2" charset="2"/>
              </a:rPr>
              <a:t>石蕊液呈紫色的是</a:t>
            </a:r>
            <a:r>
              <a:rPr lang="en-US" altLang="zh-CN" sz="3000" dirty="0" err="1">
                <a:sym typeface="Wingdings" pitchFamily="2" charset="2"/>
              </a:rPr>
              <a:t>NaCl</a:t>
            </a:r>
            <a:r>
              <a:rPr lang="zh-CN" altLang="en-US" sz="3000" dirty="0">
                <a:sym typeface="Wingdings" pitchFamily="2" charset="2"/>
              </a:rPr>
              <a:t>，石蕊液呈蓝色的是</a:t>
            </a:r>
            <a:r>
              <a:rPr lang="en-US" altLang="zh-CN" sz="3000" dirty="0">
                <a:sym typeface="Wingdings" pitchFamily="2" charset="2"/>
              </a:rPr>
              <a:t>Na</a:t>
            </a:r>
            <a:r>
              <a:rPr lang="en-US" altLang="zh-CN" sz="3000" baseline="-25000" dirty="0">
                <a:sym typeface="Wingdings" pitchFamily="2" charset="2"/>
              </a:rPr>
              <a:t>2</a:t>
            </a:r>
            <a:r>
              <a:rPr lang="en-US" altLang="zh-CN" sz="3000" dirty="0">
                <a:sym typeface="Wingdings" pitchFamily="2" charset="2"/>
              </a:rPr>
              <a:t>CO</a:t>
            </a:r>
            <a:r>
              <a:rPr lang="en-US" altLang="zh-CN" sz="3000" baseline="-25000" dirty="0">
                <a:sym typeface="Wingdings" pitchFamily="2" charset="2"/>
              </a:rPr>
              <a:t>3</a:t>
            </a:r>
          </a:p>
          <a:p>
            <a:pPr>
              <a:spcBef>
                <a:spcPts val="600"/>
              </a:spcBef>
              <a:buNone/>
            </a:pPr>
            <a:r>
              <a:rPr lang="en-US" altLang="zh-CN" sz="3000" dirty="0">
                <a:sym typeface="Wingdings" pitchFamily="2" charset="2"/>
              </a:rPr>
              <a:t>8. </a:t>
            </a:r>
            <a:r>
              <a:rPr lang="zh-CN" altLang="en-US" sz="2800" dirty="0"/>
              <a:t>升高溶液的温度、加水稀释、加入碱性物质如</a:t>
            </a:r>
            <a:r>
              <a:rPr lang="en-US" altLang="zh-CN" sz="2800" dirty="0" err="1"/>
              <a:t>NaOH</a:t>
            </a:r>
            <a:r>
              <a:rPr lang="en-US" altLang="zh-CN" sz="2800" dirty="0"/>
              <a:t> </a:t>
            </a:r>
            <a:r>
              <a:rPr lang="zh-CN" altLang="en-US" sz="2800" dirty="0"/>
              <a:t>等。</a:t>
            </a:r>
            <a:endParaRPr lang="en-US" altLang="zh-CN" sz="2800" dirty="0"/>
          </a:p>
          <a:p>
            <a:pPr>
              <a:spcBef>
                <a:spcPts val="600"/>
              </a:spcBef>
              <a:buNone/>
            </a:pPr>
            <a:r>
              <a:rPr lang="en-US" altLang="zh-CN" sz="2800" dirty="0">
                <a:sym typeface="Wingdings" pitchFamily="2" charset="2"/>
              </a:rPr>
              <a:t>9. (4) </a:t>
            </a:r>
            <a:r>
              <a:rPr lang="zh-CN" altLang="en-US" sz="2800" dirty="0">
                <a:sym typeface="Wingdings" pitchFamily="2" charset="2"/>
              </a:rPr>
              <a:t>查</a:t>
            </a:r>
            <a:r>
              <a:rPr lang="en-US" altLang="zh-CN" sz="2800" dirty="0">
                <a:sym typeface="Wingdings" pitchFamily="2" charset="2"/>
              </a:rPr>
              <a:t>pg248</a:t>
            </a:r>
            <a:r>
              <a:rPr lang="zh-CN" altLang="en-US" sz="2800" dirty="0">
                <a:sym typeface="Wingdings" pitchFamily="2" charset="2"/>
              </a:rPr>
              <a:t>比较</a:t>
            </a:r>
            <a:r>
              <a:rPr lang="en-US" altLang="zh-CN" sz="2800" dirty="0">
                <a:sym typeface="Wingdings" pitchFamily="2" charset="2"/>
              </a:rPr>
              <a:t>K</a:t>
            </a:r>
            <a:r>
              <a:rPr lang="en-US" altLang="zh-CN" sz="2800" baseline="-25000" dirty="0">
                <a:sym typeface="Wingdings" pitchFamily="2" charset="2"/>
              </a:rPr>
              <a:t>a</a:t>
            </a:r>
            <a:r>
              <a:rPr lang="en-US" altLang="zh-CN" sz="2800" dirty="0">
                <a:sym typeface="Wingdings" pitchFamily="2" charset="2"/>
              </a:rPr>
              <a:t> </a:t>
            </a:r>
            <a:r>
              <a:rPr lang="zh-CN" altLang="en-US" sz="2800" dirty="0">
                <a:sym typeface="Wingdings" pitchFamily="2" charset="2"/>
              </a:rPr>
              <a:t>与</a:t>
            </a:r>
            <a:r>
              <a:rPr lang="en-US" altLang="zh-CN" sz="2800" dirty="0">
                <a:sym typeface="Wingdings" pitchFamily="2" charset="2"/>
              </a:rPr>
              <a:t>K</a:t>
            </a:r>
            <a:r>
              <a:rPr lang="en-US" altLang="zh-CN" sz="2800" baseline="-25000" dirty="0">
                <a:sym typeface="Wingdings" pitchFamily="2" charset="2"/>
              </a:rPr>
              <a:t>b</a:t>
            </a:r>
            <a:r>
              <a:rPr lang="en-US" altLang="zh-CN" sz="2800" dirty="0">
                <a:sym typeface="Wingdings" pitchFamily="2" charset="2"/>
              </a:rPr>
              <a:t> </a:t>
            </a:r>
            <a:r>
              <a:rPr lang="zh-CN" altLang="en-US" sz="2800" dirty="0">
                <a:sym typeface="Wingdings" pitchFamily="2" charset="2"/>
              </a:rPr>
              <a:t>的值</a:t>
            </a:r>
            <a:endParaRPr lang="en-US" altLang="zh-CN" sz="3000" dirty="0">
              <a:sym typeface="Wingdings" pitchFamily="2" charset="2"/>
            </a:endParaRPr>
          </a:p>
          <a:p>
            <a:pPr marL="514350" indent="-514350">
              <a:spcBef>
                <a:spcPts val="0"/>
              </a:spcBef>
              <a:buNone/>
            </a:pPr>
            <a:endParaRPr lang="en-US" altLang="zh-CN" sz="3000" dirty="0">
              <a:sym typeface="Wingdings" pitchFamily="2" charset="2"/>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381000" y="0"/>
            <a:ext cx="7696200" cy="1202485"/>
          </a:xfrm>
        </p:spPr>
        <p:txBody>
          <a:bodyPr>
            <a:normAutofit/>
          </a:bodyPr>
          <a:lstStyle/>
          <a:p>
            <a:pPr algn="l"/>
            <a:r>
              <a:rPr lang="zh-CN" alt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0" y="990600"/>
            <a:ext cx="9144000" cy="5486400"/>
          </a:xfrm>
        </p:spPr>
        <p:txBody>
          <a:bodyPr>
            <a:noAutofit/>
          </a:bodyPr>
          <a:lstStyle/>
          <a:p>
            <a:pPr>
              <a:buNone/>
            </a:pPr>
            <a:r>
              <a:rPr lang="en-US" altLang="zh-CN" sz="3000" dirty="0">
                <a:sym typeface="Wingdings" pitchFamily="2" charset="2"/>
              </a:rPr>
              <a:t>10.  Al</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会水解产生</a:t>
            </a:r>
            <a:r>
              <a:rPr lang="en-US" altLang="zh-CN" sz="3000" dirty="0">
                <a:sym typeface="Wingdings" pitchFamily="2" charset="2"/>
              </a:rPr>
              <a:t>Al(OH)</a:t>
            </a:r>
            <a:r>
              <a:rPr lang="en-US" altLang="zh-CN" sz="3000" baseline="-25000" dirty="0">
                <a:sym typeface="Wingdings" pitchFamily="2" charset="2"/>
              </a:rPr>
              <a:t>3</a:t>
            </a:r>
            <a:r>
              <a:rPr lang="en-US" altLang="zh-CN" sz="3000" dirty="0">
                <a:sym typeface="Wingdings" pitchFamily="2" charset="2"/>
              </a:rPr>
              <a:t> </a:t>
            </a:r>
            <a:r>
              <a:rPr lang="zh-CN" altLang="en-US" sz="3000" dirty="0">
                <a:sym typeface="Wingdings" pitchFamily="2" charset="2"/>
              </a:rPr>
              <a:t>和</a:t>
            </a: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 </a:t>
            </a:r>
            <a:r>
              <a:rPr lang="zh-CN" altLang="en-US" sz="3000" dirty="0">
                <a:sym typeface="Wingdings" pitchFamily="2" charset="2"/>
              </a:rPr>
              <a:t>，</a:t>
            </a:r>
            <a:r>
              <a:rPr lang="en-US" altLang="zh-CN" sz="2800" dirty="0">
                <a:sym typeface="Wingdings" pitchFamily="2" charset="2"/>
              </a:rPr>
              <a:t>Al(OH)</a:t>
            </a:r>
            <a:r>
              <a:rPr lang="en-US" altLang="zh-CN" sz="2800" baseline="-25000" dirty="0">
                <a:sym typeface="Wingdings" pitchFamily="2" charset="2"/>
              </a:rPr>
              <a:t>3</a:t>
            </a:r>
            <a:r>
              <a:rPr lang="zh-CN" altLang="en-US" sz="2800" dirty="0"/>
              <a:t>覆盖在燃烧物表面，</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 </a:t>
            </a:r>
            <a:r>
              <a:rPr lang="zh-CN" altLang="en-US" sz="3000" dirty="0">
                <a:sym typeface="Wingdings" pitchFamily="2" charset="2"/>
              </a:rPr>
              <a:t>会与</a:t>
            </a:r>
            <a:r>
              <a:rPr lang="en-US" altLang="zh-CN" sz="3000" dirty="0">
                <a:sym typeface="Wingdings" pitchFamily="2" charset="2"/>
              </a:rPr>
              <a:t>NaHCO</a:t>
            </a:r>
            <a:r>
              <a:rPr lang="en-US" altLang="zh-CN" sz="3000" baseline="-25000" dirty="0">
                <a:sym typeface="Wingdings" pitchFamily="2" charset="2"/>
              </a:rPr>
              <a:t>3</a:t>
            </a:r>
            <a:r>
              <a:rPr lang="zh-CN" altLang="en-US" sz="3000" dirty="0">
                <a:sym typeface="Wingdings" pitchFamily="2" charset="2"/>
              </a:rPr>
              <a:t>反应生成</a:t>
            </a:r>
            <a:r>
              <a:rPr lang="en-US" altLang="zh-CN" sz="3000" dirty="0">
                <a:sym typeface="Wingdings" pitchFamily="2" charset="2"/>
              </a:rPr>
              <a:t>CO</a:t>
            </a:r>
            <a:r>
              <a:rPr lang="en-US" altLang="zh-CN" sz="3000" baseline="-25000" dirty="0">
                <a:sym typeface="Wingdings" pitchFamily="2" charset="2"/>
              </a:rPr>
              <a:t>2</a:t>
            </a:r>
            <a:r>
              <a:rPr lang="en-US" altLang="zh-CN" sz="3000" dirty="0">
                <a:sym typeface="Wingdings" pitchFamily="2" charset="2"/>
              </a:rPr>
              <a:t> </a:t>
            </a:r>
            <a:r>
              <a:rPr lang="zh-CN" altLang="en-US" sz="3000" dirty="0">
                <a:sym typeface="Wingdings" pitchFamily="2" charset="2"/>
              </a:rPr>
              <a:t>和水，所以能灭火。</a:t>
            </a:r>
            <a:endParaRPr lang="en-US" altLang="zh-CN" sz="3000" dirty="0">
              <a:sym typeface="Wingdings" pitchFamily="2" charset="2"/>
            </a:endParaRPr>
          </a:p>
          <a:p>
            <a:pPr marL="514350" indent="-514350">
              <a:spcBef>
                <a:spcPts val="0"/>
              </a:spcBef>
              <a:buNone/>
            </a:pPr>
            <a:r>
              <a:rPr lang="en-US" altLang="zh-CN" sz="3000" dirty="0">
                <a:sym typeface="Wingdings" pitchFamily="2" charset="2"/>
              </a:rPr>
              <a:t>	Al</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a:t>
            </a:r>
            <a:r>
              <a:rPr lang="en-US" altLang="zh-CN" sz="3000" baseline="-25000" dirty="0">
                <a:sym typeface="Wingdings" pitchFamily="2" charset="2"/>
              </a:rPr>
              <a:t>3</a:t>
            </a:r>
            <a:r>
              <a:rPr lang="en-US" altLang="zh-CN" sz="3000" dirty="0">
                <a:sym typeface="Wingdings" pitchFamily="2" charset="2"/>
              </a:rPr>
              <a:t> + 3 H</a:t>
            </a:r>
            <a:r>
              <a:rPr lang="en-US" altLang="zh-CN" sz="3000" baseline="-25000" dirty="0">
                <a:sym typeface="Wingdings" pitchFamily="2" charset="2"/>
              </a:rPr>
              <a:t>2</a:t>
            </a:r>
            <a:r>
              <a:rPr lang="en-US" altLang="zh-CN" sz="3000" dirty="0">
                <a:sym typeface="Wingdings" pitchFamily="2" charset="2"/>
              </a:rPr>
              <a:t>O  	   2 Al(OH)</a:t>
            </a:r>
            <a:r>
              <a:rPr lang="en-US" altLang="zh-CN" sz="3000" baseline="-25000" dirty="0">
                <a:sym typeface="Wingdings" pitchFamily="2" charset="2"/>
              </a:rPr>
              <a:t>3</a:t>
            </a:r>
            <a:r>
              <a:rPr lang="en-US" altLang="zh-CN" sz="3000" dirty="0">
                <a:sym typeface="Wingdings" pitchFamily="2" charset="2"/>
              </a:rPr>
              <a:t> + 3 H</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 </a:t>
            </a:r>
          </a:p>
          <a:p>
            <a:pPr marL="514350" indent="-514350">
              <a:spcBef>
                <a:spcPts val="0"/>
              </a:spcBef>
              <a:buNone/>
            </a:pPr>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 </a:t>
            </a:r>
            <a:r>
              <a:rPr lang="en-US" altLang="zh-CN" sz="3000" dirty="0">
                <a:sym typeface="Wingdings" pitchFamily="2" charset="2"/>
              </a:rPr>
              <a:t> + 2 NaHCO</a:t>
            </a:r>
            <a:r>
              <a:rPr lang="en-US" altLang="zh-CN" sz="3000" baseline="-25000" dirty="0">
                <a:sym typeface="Wingdings" pitchFamily="2" charset="2"/>
              </a:rPr>
              <a:t>3</a:t>
            </a:r>
            <a:r>
              <a:rPr lang="en-US" altLang="zh-CN" sz="3000" dirty="0">
                <a:sym typeface="Wingdings" pitchFamily="2" charset="2"/>
              </a:rPr>
              <a:t>  Na</a:t>
            </a:r>
            <a:r>
              <a:rPr lang="en-US" altLang="zh-CN" sz="3000" baseline="-25000" dirty="0">
                <a:sym typeface="Wingdings" pitchFamily="2" charset="2"/>
              </a:rPr>
              <a:t>2</a:t>
            </a:r>
            <a:r>
              <a:rPr lang="en-US" altLang="zh-CN" sz="3000" dirty="0">
                <a:sym typeface="Wingdings" pitchFamily="2" charset="2"/>
              </a:rPr>
              <a:t>SO</a:t>
            </a:r>
            <a:r>
              <a:rPr lang="en-US" altLang="zh-CN" sz="3000" baseline="-25000" dirty="0">
                <a:sym typeface="Wingdings" pitchFamily="2" charset="2"/>
              </a:rPr>
              <a:t>4</a:t>
            </a:r>
            <a:r>
              <a:rPr lang="en-US" altLang="zh-CN" sz="3000" dirty="0">
                <a:sym typeface="Wingdings" pitchFamily="2" charset="2"/>
              </a:rPr>
              <a:t> + 2 CO</a:t>
            </a:r>
            <a:r>
              <a:rPr lang="en-US" altLang="zh-CN" sz="3000" baseline="-25000" dirty="0">
                <a:sym typeface="Wingdings" pitchFamily="2" charset="2"/>
              </a:rPr>
              <a:t>2</a:t>
            </a:r>
            <a:r>
              <a:rPr lang="en-US" altLang="zh-CN" sz="3000" dirty="0">
                <a:sym typeface="Wingdings" pitchFamily="2" charset="2"/>
              </a:rPr>
              <a:t> + 2 H</a:t>
            </a:r>
            <a:r>
              <a:rPr lang="en-US" altLang="zh-CN" sz="3000" baseline="-25000" dirty="0">
                <a:sym typeface="Wingdings" pitchFamily="2" charset="2"/>
              </a:rPr>
              <a:t>2</a:t>
            </a:r>
            <a:r>
              <a:rPr lang="en-US" altLang="zh-CN" sz="3000" dirty="0">
                <a:sym typeface="Wingdings" pitchFamily="2" charset="2"/>
              </a:rPr>
              <a:t>O </a:t>
            </a:r>
          </a:p>
          <a:p>
            <a:pPr marL="514350" indent="-514350">
              <a:spcBef>
                <a:spcPts val="0"/>
              </a:spcBef>
              <a:buNone/>
            </a:pPr>
            <a:endParaRPr lang="en-US" altLang="zh-CN" sz="3000" dirty="0">
              <a:sym typeface="Wingdings" pitchFamily="2" charset="2"/>
            </a:endParaRPr>
          </a:p>
          <a:p>
            <a:pPr marL="514350" indent="-514350">
              <a:spcBef>
                <a:spcPts val="0"/>
              </a:spcBef>
              <a:buNone/>
            </a:pPr>
            <a:r>
              <a:rPr lang="en-US" altLang="zh-CN" sz="3000" dirty="0">
                <a:sym typeface="Wingdings" pitchFamily="2" charset="2"/>
              </a:rPr>
              <a:t>11. </a:t>
            </a:r>
            <a:r>
              <a:rPr lang="en-US" altLang="zh-CN" sz="3000" dirty="0" err="1">
                <a:sym typeface="Wingdings" pitchFamily="2" charset="2"/>
              </a:rPr>
              <a:t>NaCl</a:t>
            </a:r>
            <a:r>
              <a:rPr lang="zh-CN" altLang="en-US" sz="3000" dirty="0">
                <a:sym typeface="Wingdings" pitchFamily="2" charset="2"/>
              </a:rPr>
              <a:t>是强酸强碱所生成的盐，不发生水解反应，溶液呈中性。</a:t>
            </a:r>
            <a:endParaRPr lang="en-US" altLang="zh-CN" sz="3000" dirty="0">
              <a:sym typeface="Wingdings" pitchFamily="2" charset="2"/>
            </a:endParaRPr>
          </a:p>
          <a:p>
            <a:pPr marL="514350" indent="-514350">
              <a:spcBef>
                <a:spcPts val="0"/>
              </a:spcBef>
              <a:buNone/>
            </a:pPr>
            <a:r>
              <a:rPr lang="en-US" altLang="zh-CN" sz="3000" dirty="0">
                <a:sym typeface="Wingdings" pitchFamily="2" charset="2"/>
              </a:rPr>
              <a:t>	CH</a:t>
            </a:r>
            <a:r>
              <a:rPr lang="en-US" altLang="zh-CN" sz="3000" baseline="-25000" dirty="0">
                <a:sym typeface="Wingdings" pitchFamily="2" charset="2"/>
              </a:rPr>
              <a:t>3</a:t>
            </a:r>
            <a:r>
              <a:rPr lang="en-US" altLang="zh-CN" sz="3000" dirty="0">
                <a:sym typeface="Wingdings" pitchFamily="2" charset="2"/>
              </a:rPr>
              <a:t>COONH</a:t>
            </a:r>
            <a:r>
              <a:rPr lang="en-US" altLang="zh-CN" sz="3000" baseline="-25000" dirty="0">
                <a:sym typeface="Wingdings" pitchFamily="2" charset="2"/>
              </a:rPr>
              <a:t>4</a:t>
            </a:r>
            <a:r>
              <a:rPr lang="en-US" altLang="zh-CN" sz="3000" dirty="0">
                <a:sym typeface="Wingdings" pitchFamily="2" charset="2"/>
              </a:rPr>
              <a:t>  </a:t>
            </a:r>
            <a:r>
              <a:rPr lang="zh-CN" altLang="en-US" sz="3000" dirty="0">
                <a:sym typeface="Wingdings" pitchFamily="2" charset="2"/>
              </a:rPr>
              <a:t>是弱酸弱碱所生成的盐，会发生水解反应，水解后生成的醋酸和氨水的电离常数几乎相等，所以溶液呈中性。</a:t>
            </a:r>
            <a:endParaRPr lang="en-US" altLang="zh-CN" sz="3000" dirty="0">
              <a:sym typeface="Wingdings" pitchFamily="2" charset="2"/>
            </a:endParaRPr>
          </a:p>
        </p:txBody>
      </p:sp>
      <p:grpSp>
        <p:nvGrpSpPr>
          <p:cNvPr id="5" name="Group 11"/>
          <p:cNvGrpSpPr/>
          <p:nvPr/>
        </p:nvGrpSpPr>
        <p:grpSpPr>
          <a:xfrm>
            <a:off x="3200400" y="2590801"/>
            <a:ext cx="822960" cy="76199"/>
            <a:chOff x="2895600" y="6324600"/>
            <a:chExt cx="2133600" cy="76199"/>
          </a:xfrm>
        </p:grpSpPr>
        <p:cxnSp>
          <p:nvCxnSpPr>
            <p:cNvPr id="6" name="Straight Arrow Connector 5"/>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linds(horizontal)">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blinds(horizontal)">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3145</TotalTime>
  <Words>10879</Words>
  <Application>Microsoft Office PowerPoint</Application>
  <PresentationFormat>On-screen Show (4:3)</PresentationFormat>
  <Paragraphs>1143</Paragraphs>
  <Slides>95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95</vt:i4>
      </vt:variant>
    </vt:vector>
  </HeadingPairs>
  <TitlesOfParts>
    <vt:vector size="101" baseType="lpstr">
      <vt:lpstr>宋体</vt:lpstr>
      <vt:lpstr>Arial</vt:lpstr>
      <vt:lpstr>Calibri</vt:lpstr>
      <vt:lpstr>Wingdings</vt:lpstr>
      <vt:lpstr>Office Theme</vt:lpstr>
      <vt:lpstr>Equation</vt:lpstr>
      <vt:lpstr>第23章</vt:lpstr>
      <vt:lpstr>23.1 酸碱的基本理论</vt:lpstr>
      <vt:lpstr>23.1.1 阿仑尼乌斯酸碱理论—电离理论</vt:lpstr>
      <vt:lpstr>23.1.1 阿仑尼乌斯酸碱理论—电离理论</vt:lpstr>
      <vt:lpstr>23.1.1 阿仑尼乌斯酸碱理论—电离理论</vt:lpstr>
      <vt:lpstr>23.1.2 布朗斯特—劳莱的酸碱理论   质子理论</vt:lpstr>
      <vt:lpstr>23.1.2 布朗斯特—劳莱的酸碱理论   质子理论</vt:lpstr>
      <vt:lpstr>23.1.2 布朗斯特—劳莱的酸碱理论   质子理论</vt:lpstr>
      <vt:lpstr>23.1.2 布朗斯特—劳莱的酸碱理论   质子理论</vt:lpstr>
      <vt:lpstr>23.1 .3 路易斯酸碱理论—电子理论</vt:lpstr>
      <vt:lpstr>思考题23a</vt:lpstr>
      <vt:lpstr>思考题23a</vt:lpstr>
      <vt:lpstr>23.2 电离度和电离常数</vt:lpstr>
      <vt:lpstr>23.2 电离度和电离常数</vt:lpstr>
      <vt:lpstr>23.2.1 弱电解质的电离平衡</vt:lpstr>
      <vt:lpstr>23.2.1 弱电解质的电离平衡</vt:lpstr>
      <vt:lpstr>23.2.1 弱电解质的电离平衡</vt:lpstr>
      <vt:lpstr>23.2.2 电离度和电离常数</vt:lpstr>
      <vt:lpstr>23.2.2 电离度和电离常数</vt:lpstr>
      <vt:lpstr>23.2.2 电离度和电离常数</vt:lpstr>
      <vt:lpstr>23.2.2 电离度和电离常数</vt:lpstr>
      <vt:lpstr>思考题 23b</vt:lpstr>
      <vt:lpstr>思考题23b</vt:lpstr>
      <vt:lpstr>思考题23b</vt:lpstr>
      <vt:lpstr>23.2.3 电离常数的计算</vt:lpstr>
      <vt:lpstr>23.2.3 电离常数的计算</vt:lpstr>
      <vt:lpstr>23.2.3 电离常数的计算</vt:lpstr>
      <vt:lpstr>23.2.3 电离常数的计算</vt:lpstr>
      <vt:lpstr>23.2.3 电离常数的计算</vt:lpstr>
      <vt:lpstr>思考题23c</vt:lpstr>
      <vt:lpstr>思考题23c</vt:lpstr>
      <vt:lpstr>23.3 水的电离和溶液的pH值</vt:lpstr>
      <vt:lpstr>23.3.2 pH值</vt:lpstr>
      <vt:lpstr>23.3.2 pH值</vt:lpstr>
      <vt:lpstr>23.3.2 pH值</vt:lpstr>
      <vt:lpstr>23.3.2 pH值</vt:lpstr>
      <vt:lpstr>23.3.2 pH值</vt:lpstr>
      <vt:lpstr>23.3.2 pH值</vt:lpstr>
      <vt:lpstr>23.3.2 pH值</vt:lpstr>
      <vt:lpstr>23.3.2 pH值</vt:lpstr>
      <vt:lpstr>23.3.2 pH值</vt:lpstr>
      <vt:lpstr>23.3.2 pH值</vt:lpstr>
      <vt:lpstr>思考题23d</vt:lpstr>
      <vt:lpstr>思考题23d</vt:lpstr>
      <vt:lpstr>补充题</vt:lpstr>
      <vt:lpstr>补充题</vt:lpstr>
      <vt:lpstr> 补充题</vt:lpstr>
      <vt:lpstr> 补充题</vt:lpstr>
      <vt:lpstr>补充题</vt:lpstr>
      <vt:lpstr>23.4 酸碱中和滴定</vt:lpstr>
      <vt:lpstr>23.4 酸碱中和滴定</vt:lpstr>
      <vt:lpstr>23.4 酸碱中和滴定</vt:lpstr>
      <vt:lpstr>23.4 酸碱中和滴定</vt:lpstr>
      <vt:lpstr>23.4.1 酸碱指示剂的变色原理</vt:lpstr>
      <vt:lpstr>23.4.1 酸碱指示剂的变色原理</vt:lpstr>
      <vt:lpstr>23.4.2 滴定曲线</vt:lpstr>
      <vt:lpstr>23.4.2 滴定曲线</vt:lpstr>
      <vt:lpstr>23.4.2 滴定曲线</vt:lpstr>
      <vt:lpstr>23.4.2 滴定曲线</vt:lpstr>
      <vt:lpstr>23.4.2 滴定曲线</vt:lpstr>
      <vt:lpstr>23.4.2 滴定曲线</vt:lpstr>
      <vt:lpstr>思考题 23e</vt:lpstr>
      <vt:lpstr>补充题</vt:lpstr>
      <vt:lpstr>补充题</vt:lpstr>
      <vt:lpstr>23.5 盐类的水解</vt:lpstr>
      <vt:lpstr>23.5.1 强酸弱碱盐的水解</vt:lpstr>
      <vt:lpstr>23.5.1 强酸弱碱盐的水解</vt:lpstr>
      <vt:lpstr>23.5.2 强酸弱碱盐的水解</vt:lpstr>
      <vt:lpstr>23.5.3 弱酸弱碱盐的水解</vt:lpstr>
      <vt:lpstr>23.5 盐类的水解</vt:lpstr>
      <vt:lpstr>23.5 盐类的水解</vt:lpstr>
      <vt:lpstr>23.5 盐类的水解</vt:lpstr>
      <vt:lpstr>23.5 盐类的水解</vt:lpstr>
      <vt:lpstr>23.5 盐类的水解</vt:lpstr>
      <vt:lpstr>23.5 盐类的水解</vt:lpstr>
      <vt:lpstr>23.5 盐类的水解</vt:lpstr>
      <vt:lpstr>23.5.4 影响盐类水解的因素</vt:lpstr>
      <vt:lpstr>23.5.4 影响盐类水解的因素</vt:lpstr>
      <vt:lpstr>23.5.5 盐类水解的应用</vt:lpstr>
      <vt:lpstr>23.6 缓冲溶液</vt:lpstr>
      <vt:lpstr>23.6.1 缓冲溶液的组成</vt:lpstr>
      <vt:lpstr>23.6.1 缓冲溶液的组成</vt:lpstr>
      <vt:lpstr>23.6.2 缓冲溶液的重要意义</vt:lpstr>
      <vt:lpstr>缓冲溶液的原理</vt:lpstr>
      <vt:lpstr>缓冲溶液的原理</vt:lpstr>
      <vt:lpstr>选择题</vt:lpstr>
      <vt:lpstr>选择题</vt:lpstr>
      <vt:lpstr>选择题</vt:lpstr>
      <vt:lpstr>选择题</vt:lpstr>
      <vt:lpstr>选择题</vt:lpstr>
      <vt:lpstr>选择题</vt:lpstr>
      <vt:lpstr>选择题</vt:lpstr>
      <vt:lpstr>作答题（4，6，8，9，10，11）</vt:lpstr>
      <vt:lpstr>作答题</vt:lpstr>
      <vt:lpstr>作答题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白波 白波</cp:lastModifiedBy>
  <cp:revision>326</cp:revision>
  <dcterms:created xsi:type="dcterms:W3CDTF">2018-09-03T09:52:37Z</dcterms:created>
  <dcterms:modified xsi:type="dcterms:W3CDTF">2025-09-14T09:48:49Z</dcterms:modified>
</cp:coreProperties>
</file>