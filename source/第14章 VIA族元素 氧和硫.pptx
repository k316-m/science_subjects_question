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83" r:id="rId3"/>
    <p:sldId id="258" r:id="rId4"/>
    <p:sldId id="313" r:id="rId5"/>
    <p:sldId id="314" r:id="rId6"/>
    <p:sldId id="284" r:id="rId7"/>
    <p:sldId id="315" r:id="rId8"/>
    <p:sldId id="280" r:id="rId9"/>
    <p:sldId id="279" r:id="rId10"/>
    <p:sldId id="292" r:id="rId11"/>
    <p:sldId id="316" r:id="rId12"/>
    <p:sldId id="261" r:id="rId13"/>
    <p:sldId id="317" r:id="rId14"/>
    <p:sldId id="285" r:id="rId15"/>
    <p:sldId id="265" r:id="rId16"/>
    <p:sldId id="291" r:id="rId17"/>
    <p:sldId id="286" r:id="rId18"/>
    <p:sldId id="318" r:id="rId19"/>
    <p:sldId id="287" r:id="rId20"/>
    <p:sldId id="319" r:id="rId21"/>
    <p:sldId id="288" r:id="rId22"/>
    <p:sldId id="293" r:id="rId23"/>
    <p:sldId id="320" r:id="rId24"/>
    <p:sldId id="289" r:id="rId25"/>
    <p:sldId id="322" r:id="rId26"/>
    <p:sldId id="290" r:id="rId27"/>
    <p:sldId id="321" r:id="rId28"/>
    <p:sldId id="264" r:id="rId29"/>
    <p:sldId id="295" r:id="rId30"/>
    <p:sldId id="260" r:id="rId31"/>
    <p:sldId id="323" r:id="rId32"/>
    <p:sldId id="296" r:id="rId33"/>
    <p:sldId id="297" r:id="rId34"/>
    <p:sldId id="294" r:id="rId35"/>
    <p:sldId id="267" r:id="rId36"/>
    <p:sldId id="273" r:id="rId37"/>
    <p:sldId id="324" r:id="rId38"/>
    <p:sldId id="298" r:id="rId39"/>
    <p:sldId id="299" r:id="rId40"/>
    <p:sldId id="275" r:id="rId41"/>
    <p:sldId id="325" r:id="rId42"/>
    <p:sldId id="274" r:id="rId43"/>
    <p:sldId id="300" r:id="rId44"/>
    <p:sldId id="326" r:id="rId45"/>
    <p:sldId id="327" r:id="rId46"/>
    <p:sldId id="276" r:id="rId47"/>
    <p:sldId id="302" r:id="rId48"/>
    <p:sldId id="328" r:id="rId49"/>
    <p:sldId id="301" r:id="rId50"/>
    <p:sldId id="329" r:id="rId51"/>
    <p:sldId id="330" r:id="rId52"/>
    <p:sldId id="303" r:id="rId53"/>
    <p:sldId id="331" r:id="rId54"/>
    <p:sldId id="306" r:id="rId55"/>
    <p:sldId id="332" r:id="rId56"/>
    <p:sldId id="307" r:id="rId57"/>
    <p:sldId id="333" r:id="rId58"/>
    <p:sldId id="312" r:id="rId59"/>
    <p:sldId id="308" r:id="rId60"/>
    <p:sldId id="278" r:id="rId61"/>
    <p:sldId id="304" r:id="rId62"/>
    <p:sldId id="305" r:id="rId63"/>
    <p:sldId id="309" r:id="rId64"/>
    <p:sldId id="310" r:id="rId65"/>
    <p:sldId id="311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E611-1A7D-4616-B7C1-C1A07F4BF38D}" type="datetimeFigureOut">
              <a:rPr lang="en-US" smtClean="0"/>
              <a:pPr/>
              <a:t>2/28/2020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5A16D-F4BF-44CA-85CE-C0ED6702F5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1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639DB-C7C3-48FD-803B-D4024EDAA7AF}" type="slidenum">
              <a:rPr lang="en-MY" smtClean="0"/>
              <a:pPr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0219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horzBrick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2020/2/28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38174" y="926592"/>
            <a:ext cx="7920609" cy="3284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第</a:t>
            </a:r>
            <a:r>
              <a:rPr lang="en-US" altLang="zh-CN" sz="8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14</a:t>
            </a:r>
            <a:r>
              <a:rPr lang="zh-CN" altLang="en-US" sz="8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章</a:t>
            </a:r>
            <a:endParaRPr lang="en-US" altLang="zh-CN" sz="80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VIA</a:t>
            </a:r>
            <a:r>
              <a:rPr lang="zh-CN" altLang="en-US" sz="8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族元素：</a:t>
            </a:r>
            <a:endParaRPr lang="en-US" altLang="zh-CN" sz="800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氧 </a:t>
            </a:r>
            <a:r>
              <a:rPr lang="zh-CN" altLang="en-US" sz="8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和 硫</a:t>
            </a:r>
            <a:endParaRPr kumimoji="0" lang="en-US" altLang="zh-CN" sz="8000" b="0" i="0" u="none" strike="noStrike" kern="1200" cap="none" spc="0" normalizeH="0" baseline="-25000" noProof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61111"/>
            <a:ext cx="7886700" cy="4915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200" dirty="0"/>
              <a:t>氧</a:t>
            </a:r>
            <a:r>
              <a:rPr lang="en-US" altLang="zh-CN" sz="3200" dirty="0"/>
              <a:t>	O		-2</a:t>
            </a:r>
          </a:p>
          <a:p>
            <a:pPr marL="0" indent="0">
              <a:buNone/>
            </a:pPr>
            <a:r>
              <a:rPr lang="zh-CN" altLang="en-US" sz="3200" dirty="0"/>
              <a:t>硫</a:t>
            </a:r>
            <a:r>
              <a:rPr lang="en-US" altLang="zh-CN" sz="3200" dirty="0"/>
              <a:t>	S		-2</a:t>
            </a:r>
            <a:r>
              <a:rPr lang="zh-CN" altLang="en-US" sz="3200" dirty="0"/>
              <a:t>、</a:t>
            </a:r>
            <a:r>
              <a:rPr lang="en-US" altLang="zh-CN" sz="3200" dirty="0"/>
              <a:t>+4</a:t>
            </a:r>
            <a:r>
              <a:rPr lang="zh-CN" altLang="en-US" sz="3200" dirty="0"/>
              <a:t>、</a:t>
            </a:r>
            <a:r>
              <a:rPr lang="en-US" altLang="zh-CN" sz="3200" dirty="0"/>
              <a:t>+6</a:t>
            </a:r>
          </a:p>
          <a:p>
            <a:pPr marL="0" indent="0">
              <a:buNone/>
            </a:pPr>
            <a:r>
              <a:rPr lang="zh-CN" altLang="en-US" sz="3200" dirty="0"/>
              <a:t>硒</a:t>
            </a:r>
            <a:r>
              <a:rPr lang="en-US" altLang="zh-CN" sz="3200" dirty="0"/>
              <a:t>	Se</a:t>
            </a:r>
          </a:p>
          <a:p>
            <a:pPr marL="0" indent="0">
              <a:buNone/>
            </a:pPr>
            <a:r>
              <a:rPr lang="zh-CN" altLang="en-US" sz="3200" dirty="0"/>
              <a:t>碲</a:t>
            </a:r>
            <a:r>
              <a:rPr lang="en-US" altLang="zh-CN" sz="3200" dirty="0"/>
              <a:t>	</a:t>
            </a:r>
            <a:r>
              <a:rPr lang="en-US" altLang="zh-CN" sz="3200" dirty="0" err="1"/>
              <a:t>Te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sz="3200" dirty="0"/>
              <a:t>钋</a:t>
            </a:r>
            <a:r>
              <a:rPr lang="en-US" altLang="zh-CN" sz="3200" dirty="0"/>
              <a:t>	Po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200" dirty="0"/>
              <a:t>最外层电子排布：</a:t>
            </a:r>
            <a:r>
              <a:rPr lang="en-US" altLang="zh-CN" sz="3200" dirty="0"/>
              <a:t>ns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  np</a:t>
            </a:r>
            <a:r>
              <a:rPr lang="en-US" altLang="zh-CN" sz="3200" baseline="30000" dirty="0"/>
              <a:t>4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200" dirty="0"/>
              <a:t>电负性、非金属性递减</a:t>
            </a:r>
            <a:endParaRPr lang="en-US" altLang="zh-CN" sz="3200" dirty="0"/>
          </a:p>
          <a:p>
            <a:pPr>
              <a:buFont typeface="Wingdings" pitchFamily="2" charset="2"/>
              <a:buChar char="Ø"/>
            </a:pPr>
            <a:r>
              <a:rPr lang="zh-CN" altLang="en-US" sz="3200" dirty="0"/>
              <a:t>熔点、沸点递增（除了钋）</a:t>
            </a:r>
            <a:endParaRPr lang="en-US" altLang="zh-CN" sz="3200" dirty="0"/>
          </a:p>
          <a:p>
            <a:pPr>
              <a:buFont typeface="Wingdings" pitchFamily="2" charset="2"/>
              <a:buChar char="Ø"/>
            </a:pPr>
            <a:r>
              <a:rPr lang="zh-CN" altLang="en-US" sz="3200" dirty="0"/>
              <a:t>密度递增</a:t>
            </a:r>
            <a:endParaRPr lang="en-US" sz="3200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26156" y="390526"/>
            <a:ext cx="3392051" cy="870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氧族元素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725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4335" y="390526"/>
            <a:ext cx="2516289" cy="87058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氧 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63640" y="1339403"/>
            <a:ext cx="8268236" cy="506139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dirty="0"/>
              <a:t>感知生活</a:t>
            </a:r>
            <a:endParaRPr lang="en-US" altLang="zh-CN" sz="3200" dirty="0"/>
          </a:p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>
                <a:sym typeface="+mn-ea"/>
              </a:rPr>
              <a:t>在地壳中含量最多的元素是氧。</a:t>
            </a:r>
            <a:endParaRPr lang="zh-CN" altLang="en-US" sz="3200" dirty="0"/>
          </a:p>
          <a:p>
            <a:pPr marL="342900" indent="-342900" algn="l">
              <a:lnSpc>
                <a:spcPct val="150000"/>
              </a:lnSpc>
              <a:buFont typeface="Wingdings" charset="0"/>
              <a:buChar char="Ø"/>
            </a:pPr>
            <a:r>
              <a:rPr lang="zh-CN" altLang="en-US" sz="3200" dirty="0">
                <a:sym typeface="+mn-ea"/>
              </a:rPr>
              <a:t>以单质形式存在于空气中，</a:t>
            </a:r>
            <a:endParaRPr lang="en-US" altLang="zh-CN" sz="3200" dirty="0">
              <a:sym typeface="+mn-ea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altLang="zh-CN" sz="3200" dirty="0">
                <a:sym typeface="+mn-ea"/>
              </a:rPr>
              <a:t>	</a:t>
            </a:r>
            <a:r>
              <a:rPr lang="zh-CN" altLang="en-US" sz="3200" dirty="0">
                <a:sym typeface="+mn-ea"/>
              </a:rPr>
              <a:t>大部分以化合态存在。</a:t>
            </a:r>
            <a:endParaRPr lang="zh-CN" altLang="en-US" sz="32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marL="342900" indent="-342900" algn="l">
              <a:lnSpc>
                <a:spcPct val="150000"/>
              </a:lnSpc>
            </a:pPr>
            <a:endParaRPr lang="zh-CN" alt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图片 4" descr="153px-Electron_shell_008_Oxygen_-_no_label.svg"/>
          <p:cNvPicPr>
            <a:picLocks noChangeAspect="1"/>
          </p:cNvPicPr>
          <p:nvPr/>
        </p:nvPicPr>
        <p:blipFill>
          <a:blip r:embed="rId2">
            <a:lum bright="-24000" contrast="42000"/>
          </a:blip>
          <a:srcRect/>
          <a:stretch>
            <a:fillRect/>
          </a:stretch>
        </p:blipFill>
        <p:spPr>
          <a:xfrm>
            <a:off x="5675448" y="3855350"/>
            <a:ext cx="2077633" cy="2770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8989" y="1146220"/>
            <a:ext cx="8611827" cy="5035639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</a:pPr>
            <a:r>
              <a:rPr lang="zh-CN" altLang="en-US" sz="3200" dirty="0">
                <a:sym typeface="+mn-ea"/>
              </a:rPr>
              <a:t>物理性质</a:t>
            </a:r>
            <a:endParaRPr lang="en-US" altLang="zh-CN" sz="3200" dirty="0"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/>
              <a:t>无色、无味</a:t>
            </a:r>
            <a:endParaRPr lang="en-US" altLang="zh-CN" sz="3200" dirty="0"/>
          </a:p>
          <a:p>
            <a:pPr marL="514350" indent="-51435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>
                <a:sym typeface="+mn-ea"/>
              </a:rPr>
              <a:t>密度比空气大</a:t>
            </a:r>
            <a:endParaRPr lang="en-US" altLang="zh-CN" sz="3200" dirty="0"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>
                <a:sym typeface="+mn-ea"/>
              </a:rPr>
              <a:t>略溶于水</a:t>
            </a:r>
            <a:endParaRPr lang="en-US" altLang="zh-CN" sz="3200" dirty="0"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>
                <a:sym typeface="+mn-ea"/>
              </a:rPr>
              <a:t>液态氧和固态氧呈蓝色</a:t>
            </a:r>
            <a:endParaRPr lang="en-US" altLang="zh-CN" sz="3200" dirty="0"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3200" dirty="0">
              <a:sym typeface="+mn-ea"/>
            </a:endParaRPr>
          </a:p>
          <a:p>
            <a:pPr marL="971550" lvl="1" indent="-514350" algn="l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3200" dirty="0"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3200" dirty="0"/>
          </a:p>
          <a:p>
            <a:pPr marL="514350" indent="-51435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32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541161" y="256890"/>
            <a:ext cx="6606614" cy="87058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</a:rPr>
              <a:t>14.1.1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</a:rPr>
              <a:t>氧气的性质 </a:t>
            </a:r>
            <a:endParaRPr lang="en-US" altLang="zh-CN" sz="44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7" name="Picture 1" descr="C:\Users\user\Desktop\q.jpg"/>
          <p:cNvPicPr>
            <a:picLocks noChangeAspect="1" noChangeArrowheads="1"/>
          </p:cNvPicPr>
          <p:nvPr/>
        </p:nvPicPr>
        <p:blipFill>
          <a:blip r:embed="rId2"/>
          <a:srcRect l="20961" t="18077" r="20727" b="16347"/>
          <a:stretch>
            <a:fillRect/>
          </a:stretch>
        </p:blipFill>
        <p:spPr bwMode="auto">
          <a:xfrm>
            <a:off x="6194744" y="608983"/>
            <a:ext cx="2356834" cy="16834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771" y="978791"/>
            <a:ext cx="7886700" cy="5640949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1</a:t>
            </a:r>
          </a:p>
          <a:p>
            <a:pPr>
              <a:buNone/>
            </a:pPr>
            <a:r>
              <a:rPr lang="zh-CN" altLang="en-US" dirty="0"/>
              <a:t>在空气中加热铁丝时，铁丝只出现红热现象。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在氧气中点燃铁丝，可剧烈燃烧，火星四射，生成黑色固体。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3Fe + 2O</a:t>
            </a:r>
            <a:r>
              <a:rPr lang="en-US" altLang="zh-CN" baseline="-25000" dirty="0"/>
              <a:t>2</a:t>
            </a:r>
            <a:r>
              <a:rPr lang="en-US" altLang="zh-CN" dirty="0"/>
              <a:t>  		</a:t>
            </a:r>
          </a:p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2</a:t>
            </a:r>
            <a:endParaRPr lang="en-US" dirty="0"/>
          </a:p>
          <a:p>
            <a:pPr>
              <a:buNone/>
            </a:pPr>
            <a:r>
              <a:rPr lang="zh-CN" altLang="en-US" dirty="0"/>
              <a:t>硫在空气中燃烧，发出淡蓝色火焰，生成有刺激性气味的气体，并放出大量的热。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硫在氧气中燃烧，发出蓝紫色火焰，生成有刺激性气味的气体，并放出大量的热。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S + 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标题 3"/>
          <p:cNvSpPr txBox="1">
            <a:spLocks/>
          </p:cNvSpPr>
          <p:nvPr/>
        </p:nvSpPr>
        <p:spPr>
          <a:xfrm>
            <a:off x="541161" y="256890"/>
            <a:ext cx="6606614" cy="870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14.1.1 </a:t>
            </a:r>
            <a:r>
              <a:rPr kumimoji="0" lang="zh-CN" altLang="en-US" sz="44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氧气的性质 </a:t>
            </a:r>
            <a:endParaRPr kumimoji="0" lang="en-US" altLang="zh-CN" sz="4400" b="0" i="0" u="none" strike="noStrike" kern="1200" cap="none" spc="0" normalizeH="0" baseline="-2500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397616" y="2878664"/>
            <a:ext cx="838200" cy="307777"/>
            <a:chOff x="2819400" y="5867400"/>
            <a:chExt cx="838200" cy="30777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313991" y="2958361"/>
            <a:ext cx="20938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Fe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4</a:t>
            </a:r>
            <a:r>
              <a:rPr lang="en-US" sz="2600" dirty="0"/>
              <a:t>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815920" y="5684112"/>
            <a:ext cx="838200" cy="307777"/>
            <a:chOff x="2819400" y="5867400"/>
            <a:chExt cx="838200" cy="307777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796689" y="5686536"/>
            <a:ext cx="20938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SO</a:t>
            </a:r>
            <a:r>
              <a:rPr lang="en-US" altLang="zh-CN" sz="2600" baseline="-25000" dirty="0"/>
              <a:t>2</a:t>
            </a:r>
            <a:r>
              <a:rPr lang="en-US" sz="26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 descr="C:\Users\user\Desktop\q.jpg"/>
          <p:cNvPicPr>
            <a:picLocks noChangeAspect="1" noChangeArrowheads="1"/>
          </p:cNvPicPr>
          <p:nvPr/>
        </p:nvPicPr>
        <p:blipFill>
          <a:blip r:embed="rId2"/>
          <a:srcRect l="20961" t="18077" r="20727" b="16347"/>
          <a:stretch>
            <a:fillRect/>
          </a:stretch>
        </p:blipFill>
        <p:spPr bwMode="auto">
          <a:xfrm>
            <a:off x="6194744" y="608983"/>
            <a:ext cx="2356834" cy="168345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7280"/>
            <a:ext cx="7886700" cy="5425440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化学性质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金属 </a:t>
            </a:r>
            <a:r>
              <a:rPr lang="en-US" altLang="zh-CN" dirty="0"/>
              <a:t>+ </a:t>
            </a:r>
            <a:r>
              <a:rPr lang="zh-CN" altLang="en-US" dirty="0"/>
              <a:t>氧气 </a:t>
            </a:r>
            <a:r>
              <a:rPr lang="en-US" altLang="zh-CN" dirty="0">
                <a:sym typeface="Wingdings" pitchFamily="2" charset="2"/>
              </a:rPr>
              <a:t> </a:t>
            </a:r>
            <a:r>
              <a:rPr lang="zh-CN" altLang="en-US" dirty="0">
                <a:sym typeface="Wingdings" pitchFamily="2" charset="2"/>
              </a:rPr>
              <a:t>金属氧化物</a:t>
            </a:r>
            <a:endParaRPr lang="en-US" altLang="zh-CN" dirty="0">
              <a:sym typeface="Wingdings" pitchFamily="2" charset="2"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ym typeface="Wingdings" pitchFamily="2" charset="2"/>
              </a:rPr>
              <a:t>常温下缓慢进行</a:t>
            </a:r>
            <a:endParaRPr lang="en-US" altLang="zh-CN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sym typeface="Wingdings" pitchFamily="2" charset="2"/>
              </a:rPr>
              <a:t>加热时较活泼的金属会发生燃烧</a:t>
            </a:r>
            <a:endParaRPr lang="en-US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非金属 </a:t>
            </a:r>
            <a:r>
              <a:rPr lang="en-US" altLang="zh-CN" dirty="0"/>
              <a:t>+ </a:t>
            </a:r>
            <a:r>
              <a:rPr lang="zh-CN" altLang="en-US" dirty="0"/>
              <a:t>氧气 </a:t>
            </a:r>
            <a:r>
              <a:rPr lang="en-US" altLang="zh-CN" dirty="0">
                <a:sym typeface="Wingdings" pitchFamily="2" charset="2"/>
              </a:rPr>
              <a:t> </a:t>
            </a:r>
            <a:r>
              <a:rPr lang="zh-CN" altLang="en-US" dirty="0">
                <a:sym typeface="Wingdings" pitchFamily="2" charset="2"/>
              </a:rPr>
              <a:t>非金属氧化物</a:t>
            </a:r>
            <a:endParaRPr lang="en-US" dirty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>
                <a:sym typeface="Wingdings" pitchFamily="2" charset="2"/>
              </a:rPr>
              <a:t>如果氧气能跟某种非金属单质直接化合，则氧气就能跟含有这种元素的化合物反应</a:t>
            </a:r>
            <a:endParaRPr lang="en-MY" dirty="0"/>
          </a:p>
          <a:p>
            <a:pPr lvl="1">
              <a:buFont typeface="Wingdings" pitchFamily="2" charset="2"/>
              <a:buChar char="Ø"/>
            </a:pPr>
            <a:r>
              <a:rPr lang="en-MY" dirty="0"/>
              <a:t> </a:t>
            </a:r>
            <a:r>
              <a:rPr lang="en-US" altLang="zh-CN" sz="2600" dirty="0"/>
              <a:t>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 + 3 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600" dirty="0">
                <a:sym typeface="Wingdings" pitchFamily="2" charset="2"/>
              </a:rPr>
              <a:t>CH</a:t>
            </a:r>
            <a:r>
              <a:rPr lang="en-US" sz="2600" baseline="-25000" dirty="0">
                <a:sym typeface="Wingdings" pitchFamily="2" charset="2"/>
              </a:rPr>
              <a:t>4</a:t>
            </a:r>
            <a:r>
              <a:rPr lang="en-US" sz="2600" dirty="0">
                <a:sym typeface="Wingdings" pitchFamily="2" charset="2"/>
              </a:rPr>
              <a:t> + 2 O</a:t>
            </a:r>
            <a:r>
              <a:rPr lang="en-US" sz="2600" baseline="-25000" dirty="0">
                <a:sym typeface="Wingdings" pitchFamily="2" charset="2"/>
              </a:rPr>
              <a:t>2</a:t>
            </a:r>
            <a:r>
              <a:rPr lang="en-US" sz="2600" dirty="0">
                <a:sym typeface="Wingdings" pitchFamily="2" charset="2"/>
              </a:rPr>
              <a:t>   </a:t>
            </a:r>
          </a:p>
          <a:p>
            <a:pPr lvl="1">
              <a:buFont typeface="Wingdings" pitchFamily="2" charset="2"/>
              <a:buChar char="Ø"/>
            </a:pPr>
            <a:r>
              <a:rPr lang="en-MY" sz="2600" dirty="0"/>
              <a:t>4 NH</a:t>
            </a:r>
            <a:r>
              <a:rPr lang="en-MY" sz="2600" baseline="-25000" dirty="0"/>
              <a:t>3</a:t>
            </a:r>
            <a:r>
              <a:rPr lang="en-MY" sz="2600" dirty="0"/>
              <a:t> + 5 O</a:t>
            </a:r>
            <a:r>
              <a:rPr lang="en-MY" sz="2600" baseline="-25000" dirty="0"/>
              <a:t>2 </a:t>
            </a:r>
            <a:r>
              <a:rPr lang="en-MY" sz="2600" dirty="0"/>
              <a:t> </a:t>
            </a:r>
            <a:r>
              <a:rPr lang="en-MY" sz="2600" dirty="0">
                <a:sym typeface="Wingdings" pitchFamily="2" charset="2"/>
              </a:rPr>
              <a:t> </a:t>
            </a:r>
            <a:endParaRPr lang="en-MY" sz="2600" dirty="0"/>
          </a:p>
          <a:p>
            <a:pPr>
              <a:buFont typeface="Wingdings" pitchFamily="2" charset="2"/>
              <a:buChar char="Ø"/>
            </a:pPr>
            <a:endParaRPr lang="en-MY" sz="2600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394336" y="329566"/>
            <a:ext cx="7461777" cy="870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14.1.1 </a:t>
            </a:r>
            <a:r>
              <a:rPr lang="zh-CN" altLang="en-US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氧气的性质 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32181" y="4684137"/>
            <a:ext cx="20938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 SO</a:t>
            </a:r>
            <a:r>
              <a:rPr lang="en-US" sz="2600" baseline="-25000" dirty="0"/>
              <a:t>2</a:t>
            </a:r>
            <a:r>
              <a:rPr lang="en-US" sz="2600" dirty="0"/>
              <a:t> + 2 H</a:t>
            </a:r>
            <a:r>
              <a:rPr lang="en-US" sz="2600" baseline="-25000" dirty="0"/>
              <a:t>2</a:t>
            </a:r>
            <a:r>
              <a:rPr lang="en-US" sz="2600" dirty="0"/>
              <a:t>O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5812" y="5080377"/>
            <a:ext cx="20938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CO</a:t>
            </a:r>
            <a:r>
              <a:rPr lang="en-US" sz="2600" baseline="-25000" dirty="0"/>
              <a:t>2</a:t>
            </a:r>
            <a:r>
              <a:rPr lang="en-US" sz="2600" dirty="0"/>
              <a:t> + 2 H</a:t>
            </a:r>
            <a:r>
              <a:rPr lang="en-US" sz="2600" baseline="-25000" dirty="0"/>
              <a:t>2</a:t>
            </a:r>
            <a:r>
              <a:rPr lang="en-US" sz="2600" dirty="0"/>
              <a:t>O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9575" y="5549769"/>
            <a:ext cx="20938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 NO + 6 H</a:t>
            </a:r>
            <a:r>
              <a:rPr lang="en-US" sz="2600" baseline="-25000" dirty="0"/>
              <a:t>2</a:t>
            </a:r>
            <a:r>
              <a:rPr lang="en-US" sz="2600" dirty="0"/>
              <a:t>O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105954" y="4720346"/>
            <a:ext cx="838200" cy="307777"/>
            <a:chOff x="2819400" y="5867400"/>
            <a:chExt cx="838200" cy="307777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819400" y="6133480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923500" y="5130326"/>
            <a:ext cx="838200" cy="307777"/>
            <a:chOff x="2819400" y="5867400"/>
            <a:chExt cx="838200" cy="307777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2819400" y="6133480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115611" y="5534939"/>
            <a:ext cx="760500" cy="572866"/>
            <a:chOff x="2790420" y="5880279"/>
            <a:chExt cx="760500" cy="572866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2819400" y="6172117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790420" y="6145368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催化剂</a:t>
              </a:r>
              <a:endParaRPr lang="en-US" sz="14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44084" y="58802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3705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013" y="1094702"/>
            <a:ext cx="7886700" cy="4275789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3</a:t>
            </a:r>
          </a:p>
          <a:p>
            <a:pPr>
              <a:buNone/>
            </a:pPr>
            <a:r>
              <a:rPr lang="zh-CN" altLang="en-US" dirty="0"/>
              <a:t>余烬的木枝复燃。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</a:t>
            </a:r>
          </a:p>
          <a:p>
            <a:pPr>
              <a:buNone/>
            </a:pPr>
            <a:r>
              <a:rPr lang="zh-CN" altLang="en-US" dirty="0"/>
              <a:t>活动</a:t>
            </a:r>
            <a:r>
              <a:rPr lang="en-US" altLang="zh-CN" dirty="0"/>
              <a:t>4</a:t>
            </a:r>
            <a:endParaRPr lang="en-US" dirty="0"/>
          </a:p>
          <a:p>
            <a:pPr>
              <a:buNone/>
            </a:pPr>
            <a:r>
              <a:rPr lang="zh-CN" altLang="en-US" dirty="0"/>
              <a:t>锥形瓶中剧烈反应，有大量气泡产生。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标题 3"/>
          <p:cNvSpPr txBox="1">
            <a:spLocks/>
          </p:cNvSpPr>
          <p:nvPr/>
        </p:nvSpPr>
        <p:spPr>
          <a:xfrm>
            <a:off x="541161" y="256890"/>
            <a:ext cx="6606614" cy="870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14.1.2 </a:t>
            </a:r>
            <a:r>
              <a:rPr kumimoji="0" lang="zh-CN" altLang="en-US" sz="44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氧气的制取</a:t>
            </a:r>
            <a:endParaRPr kumimoji="0" lang="en-US" altLang="zh-CN" sz="4400" b="0" i="0" u="none" strike="noStrike" kern="1200" cap="none" spc="0" normalizeH="0" baseline="-2500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458" y="1280160"/>
            <a:ext cx="7886700" cy="5352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加热高锰酸钾</a:t>
            </a:r>
            <a:r>
              <a:rPr lang="en-US" altLang="zh-CN" dirty="0"/>
              <a:t>.</a:t>
            </a:r>
            <a:r>
              <a:rPr lang="en-MY" dirty="0"/>
              <a:t> </a:t>
            </a:r>
          </a:p>
          <a:p>
            <a:pPr marL="0" indent="0">
              <a:buNone/>
            </a:pPr>
            <a:r>
              <a:rPr lang="en-MY" dirty="0"/>
              <a:t>	2KMnO</a:t>
            </a:r>
            <a:r>
              <a:rPr lang="en-MY" baseline="-25000" dirty="0"/>
              <a:t>4</a:t>
            </a:r>
            <a:r>
              <a:rPr lang="en-MY" dirty="0"/>
              <a:t>        	K</a:t>
            </a:r>
            <a:r>
              <a:rPr lang="en-MY" baseline="-25000" dirty="0"/>
              <a:t>2</a:t>
            </a:r>
            <a:r>
              <a:rPr lang="en-MY" dirty="0"/>
              <a:t>MnO</a:t>
            </a:r>
            <a:r>
              <a:rPr lang="en-MY" baseline="-25000" dirty="0"/>
              <a:t>4</a:t>
            </a:r>
            <a:r>
              <a:rPr lang="en-MY" dirty="0"/>
              <a:t> + MnO</a:t>
            </a:r>
            <a:r>
              <a:rPr lang="en-MY" baseline="-25000" dirty="0"/>
              <a:t>2</a:t>
            </a:r>
            <a:r>
              <a:rPr lang="en-MY" dirty="0"/>
              <a:t> + O</a:t>
            </a:r>
            <a:r>
              <a:rPr lang="en-MY" baseline="-25000" dirty="0"/>
              <a:t>2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氯酸钾与二氧化锰共热</a:t>
            </a:r>
            <a:r>
              <a:rPr lang="en-US" altLang="zh-CN" dirty="0"/>
              <a:t>.</a:t>
            </a:r>
            <a:r>
              <a:rPr lang="en-MY" dirty="0"/>
              <a:t> </a:t>
            </a:r>
          </a:p>
          <a:p>
            <a:pPr marL="0" indent="0">
              <a:buNone/>
            </a:pPr>
            <a:r>
              <a:rPr lang="en-MY" dirty="0"/>
              <a:t>      2KClO</a:t>
            </a:r>
            <a:r>
              <a:rPr lang="en-MY" baseline="-25000" dirty="0"/>
              <a:t>3 		</a:t>
            </a:r>
            <a:r>
              <a:rPr lang="en-MY" dirty="0"/>
              <a:t>2KCl+3O</a:t>
            </a:r>
            <a:r>
              <a:rPr lang="en-MY" baseline="-25000" dirty="0"/>
              <a:t>2</a:t>
            </a:r>
            <a:r>
              <a:rPr lang="en-MY" dirty="0"/>
              <a:t>↑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双氧水加入二氧化锰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MY" dirty="0"/>
              <a:t> 2H</a:t>
            </a:r>
            <a:r>
              <a:rPr lang="en-MY" baseline="-25000" dirty="0"/>
              <a:t>2</a:t>
            </a:r>
            <a:r>
              <a:rPr lang="en-MY" dirty="0"/>
              <a:t>O</a:t>
            </a:r>
            <a:r>
              <a:rPr lang="en-MY" baseline="-25000" dirty="0"/>
              <a:t>2</a:t>
            </a:r>
            <a:r>
              <a:rPr lang="en-MY" dirty="0"/>
              <a:t>		2H</a:t>
            </a:r>
            <a:r>
              <a:rPr lang="en-MY" baseline="-25000" dirty="0"/>
              <a:t>2</a:t>
            </a:r>
            <a:r>
              <a:rPr lang="en-MY" dirty="0"/>
              <a:t>O+O</a:t>
            </a:r>
            <a:r>
              <a:rPr lang="en-MY" baseline="-25000" dirty="0"/>
              <a:t>2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4.</a:t>
            </a:r>
            <a:r>
              <a:rPr lang="zh-CN" altLang="en-US" dirty="0"/>
              <a:t>过氧化物（或超氧化物）</a:t>
            </a:r>
            <a:r>
              <a:rPr lang="en-US" altLang="zh-CN" dirty="0"/>
              <a:t>+ </a:t>
            </a:r>
            <a:r>
              <a:rPr lang="zh-CN" altLang="en-US" dirty="0"/>
              <a:t>水 </a:t>
            </a:r>
            <a:r>
              <a:rPr lang="en-US" altLang="zh-CN" dirty="0">
                <a:sym typeface="Wingdings" pitchFamily="2" charset="2"/>
              </a:rPr>
              <a:t> </a:t>
            </a:r>
            <a:r>
              <a:rPr lang="zh-CN" altLang="en-US" dirty="0">
                <a:sym typeface="Wingdings" pitchFamily="2" charset="2"/>
              </a:rPr>
              <a:t>碱 </a:t>
            </a:r>
            <a:r>
              <a:rPr lang="en-US" altLang="zh-CN" dirty="0">
                <a:sym typeface="Wingdings" pitchFamily="2" charset="2"/>
              </a:rPr>
              <a:t>+ </a:t>
            </a:r>
            <a:r>
              <a:rPr lang="zh-CN" altLang="en-US" dirty="0">
                <a:sym typeface="Wingdings" pitchFamily="2" charset="2"/>
              </a:rPr>
              <a:t>氧气</a:t>
            </a:r>
            <a:endParaRPr lang="en-US" altLang="zh-CN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	</a:t>
            </a:r>
            <a:r>
              <a:rPr lang="en-US" altLang="zh-CN" dirty="0">
                <a:sym typeface="Wingdings" pitchFamily="2" charset="2"/>
              </a:rPr>
              <a:t>2 Na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+ 2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  4NaOH + 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endParaRPr lang="en-MY" dirty="0"/>
          </a:p>
          <a:p>
            <a:pPr marL="0" indent="0">
              <a:buNone/>
            </a:pPr>
            <a:endParaRPr lang="en-MY" altLang="zh-CN" dirty="0"/>
          </a:p>
          <a:p>
            <a:pPr marL="0" indent="0">
              <a:buNone/>
            </a:pPr>
            <a:r>
              <a:rPr lang="zh-CN" altLang="en-US" dirty="0"/>
              <a:t>因氧气难溶于水，一般上以排水集气法收集。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5" name="标题 3"/>
          <p:cNvSpPr txBox="1">
            <a:spLocks/>
          </p:cNvSpPr>
          <p:nvPr/>
        </p:nvSpPr>
        <p:spPr>
          <a:xfrm>
            <a:off x="325278" y="295276"/>
            <a:ext cx="7014305" cy="114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14.1.2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氧气的制取</a:t>
            </a:r>
            <a:endParaRPr kumimoji="0" lang="en-US" altLang="zh-CN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272760" y="2676532"/>
            <a:ext cx="1384839" cy="707152"/>
            <a:chOff x="2492216" y="2487295"/>
            <a:chExt cx="1384839" cy="707152"/>
          </a:xfrm>
        </p:grpSpPr>
        <p:grpSp>
          <p:nvGrpSpPr>
            <p:cNvPr id="13" name="Group 10"/>
            <p:cNvGrpSpPr/>
            <p:nvPr/>
          </p:nvGrpSpPr>
          <p:grpSpPr>
            <a:xfrm>
              <a:off x="2492216" y="2487295"/>
              <a:ext cx="1384839" cy="707152"/>
              <a:chOff x="2492216" y="2487295"/>
              <a:chExt cx="1384839" cy="707152"/>
            </a:xfrm>
          </p:grpSpPr>
          <p:cxnSp>
            <p:nvCxnSpPr>
              <p:cNvPr id="15" name="直接箭头连接符 1"/>
              <p:cNvCxnSpPr/>
              <p:nvPr/>
            </p:nvCxnSpPr>
            <p:spPr>
              <a:xfrm>
                <a:off x="2492216" y="2839720"/>
                <a:ext cx="1128713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文本框 5"/>
              <p:cNvSpPr txBox="1"/>
              <p:nvPr/>
            </p:nvSpPr>
            <p:spPr>
              <a:xfrm>
                <a:off x="2749390" y="2487295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MnO</a:t>
                </a:r>
                <a:r>
                  <a:rPr lang="en-US" altLang="zh-CN" baseline="-25000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2</a:t>
                </a:r>
              </a:p>
            </p:txBody>
          </p:sp>
          <p:sp>
            <p:nvSpPr>
              <p:cNvPr id="17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4" name="Isosceles Triangle 13"/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10"/>
          <p:cNvGrpSpPr/>
          <p:nvPr/>
        </p:nvGrpSpPr>
        <p:grpSpPr>
          <a:xfrm>
            <a:off x="2760020" y="3691805"/>
            <a:ext cx="1384839" cy="707152"/>
            <a:chOff x="2492216" y="2487295"/>
            <a:chExt cx="1384839" cy="707152"/>
          </a:xfrm>
        </p:grpSpPr>
        <p:cxnSp>
          <p:nvCxnSpPr>
            <p:cNvPr id="28" name="直接箭头连接符 1"/>
            <p:cNvCxnSpPr/>
            <p:nvPr/>
          </p:nvCxnSpPr>
          <p:spPr>
            <a:xfrm>
              <a:off x="2492216" y="2839720"/>
              <a:ext cx="112871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本框 5"/>
            <p:cNvSpPr txBox="1"/>
            <p:nvPr/>
          </p:nvSpPr>
          <p:spPr>
            <a:xfrm>
              <a:off x="2749390" y="2487295"/>
              <a:ext cx="1127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MnO</a:t>
              </a:r>
              <a:r>
                <a: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rPr>
                <a:t>2</a:t>
              </a:r>
            </a:p>
          </p:txBody>
        </p:sp>
        <p:sp>
          <p:nvSpPr>
            <p:cNvPr id="30" name="文本框 6"/>
            <p:cNvSpPr txBox="1"/>
            <p:nvPr/>
          </p:nvSpPr>
          <p:spPr>
            <a:xfrm>
              <a:off x="2740342" y="2825115"/>
              <a:ext cx="1014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dirty="0">
                <a:ln w="10160">
                  <a:solidFill>
                    <a:schemeClr val="tx1"/>
                  </a:solidFill>
                  <a:prstDash val="solid"/>
                </a:ln>
                <a:latin typeface="SimSun" charset="0"/>
                <a:cs typeface="SimSun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131712" y="1876580"/>
            <a:ext cx="838200" cy="153988"/>
            <a:chOff x="2590800" y="1979612"/>
            <a:chExt cx="838200" cy="153988"/>
          </a:xfrm>
        </p:grpSpPr>
        <p:cxnSp>
          <p:nvCxnSpPr>
            <p:cNvPr id="32" name="Straight Arrow Connector 31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Isosceles Triangle 32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4255395" y="1779430"/>
            <a:ext cx="3407535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454758" y="2807594"/>
            <a:ext cx="1941490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4045040" y="3797121"/>
            <a:ext cx="1941490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4403502" y="4838163"/>
            <a:ext cx="1941490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6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4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4665" y="1469551"/>
            <a:ext cx="3456384" cy="720080"/>
          </a:xfrm>
        </p:spPr>
        <p:txBody>
          <a:bodyPr/>
          <a:lstStyle/>
          <a:p>
            <a:r>
              <a:rPr lang="en-US" altLang="zh-CN" sz="2800" b="0" dirty="0">
                <a:latin typeface="宋体" pitchFamily="2" charset="-122"/>
                <a:ea typeface="宋体" pitchFamily="2" charset="-122"/>
              </a:rPr>
              <a:t>1.</a:t>
            </a:r>
            <a:r>
              <a:rPr lang="zh-CN" altLang="en-US" sz="2800" b="0" dirty="0">
                <a:latin typeface="宋体" pitchFamily="2" charset="-122"/>
                <a:ea typeface="宋体" pitchFamily="2" charset="-122"/>
              </a:rPr>
              <a:t>空气分馏法</a:t>
            </a:r>
            <a:endParaRPr lang="en-MY" sz="2800" b="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7544" y="4233394"/>
            <a:ext cx="8676456" cy="2276873"/>
          </a:xfrm>
        </p:spPr>
        <p:txBody>
          <a:bodyPr>
            <a:normAutofit/>
          </a:bodyPr>
          <a:lstStyle/>
          <a:p>
            <a:r>
              <a:rPr lang="en-US" sz="2800" b="0" dirty="0">
                <a:latin typeface="宋体" pitchFamily="2" charset="-122"/>
                <a:ea typeface="宋体" pitchFamily="2" charset="-122"/>
              </a:rPr>
              <a:t>2.</a:t>
            </a:r>
            <a:r>
              <a:rPr lang="zh-TW" altLang="en-US" sz="2800" b="0" dirty="0">
                <a:latin typeface="宋体" pitchFamily="2" charset="-122"/>
                <a:ea typeface="宋体" pitchFamily="2" charset="-122"/>
              </a:rPr>
              <a:t> 电解</a:t>
            </a:r>
            <a:r>
              <a:rPr lang="zh-CN" altLang="en-US" sz="2800" b="0" dirty="0">
                <a:latin typeface="宋体" pitchFamily="2" charset="-122"/>
                <a:ea typeface="宋体" pitchFamily="2" charset="-122"/>
              </a:rPr>
              <a:t>：氧气是副产品</a:t>
            </a:r>
            <a:endParaRPr lang="zh-TW" altLang="en-US" sz="2800" b="0" dirty="0">
              <a:latin typeface="宋体" pitchFamily="2" charset="-122"/>
              <a:ea typeface="宋体" pitchFamily="2" charset="-122"/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800" b="0" dirty="0">
                <a:latin typeface="宋体" pitchFamily="2" charset="-122"/>
                <a:ea typeface="宋体" pitchFamily="2" charset="-122"/>
              </a:rPr>
              <a:t>电解水</a:t>
            </a:r>
            <a:r>
              <a:rPr lang="zh-TW" altLang="en-US" sz="2800" b="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TW" sz="2800" b="0" dirty="0">
                <a:latin typeface="宋体" pitchFamily="2" charset="-122"/>
                <a:ea typeface="宋体" pitchFamily="2" charset="-122"/>
              </a:rPr>
              <a:t>			2 </a:t>
            </a:r>
            <a:r>
              <a:rPr lang="en-MY" sz="2800" b="0" dirty="0">
                <a:latin typeface="宋体" pitchFamily="2" charset="-122"/>
                <a:ea typeface="宋体" pitchFamily="2" charset="-122"/>
              </a:rPr>
              <a:t>H</a:t>
            </a:r>
            <a:r>
              <a:rPr lang="en-MY" sz="2800" b="0" baseline="-25000" dirty="0">
                <a:latin typeface="宋体" pitchFamily="2" charset="-122"/>
                <a:ea typeface="宋体" pitchFamily="2" charset="-122"/>
              </a:rPr>
              <a:t>2</a:t>
            </a:r>
            <a:r>
              <a:rPr lang="en-MY" sz="2800" b="0" dirty="0">
                <a:latin typeface="宋体" pitchFamily="2" charset="-122"/>
                <a:ea typeface="宋体" pitchFamily="2" charset="-122"/>
              </a:rPr>
              <a:t>O  </a:t>
            </a:r>
            <a:r>
              <a:rPr lang="en-US" altLang="zh-CN" sz="2800" b="0" dirty="0">
                <a:latin typeface="宋体" pitchFamily="2" charset="-122"/>
                <a:ea typeface="宋体" pitchFamily="2" charset="-122"/>
                <a:sym typeface="Wingdings" pitchFamily="2" charset="2"/>
              </a:rPr>
              <a:t>   </a:t>
            </a:r>
            <a:r>
              <a:rPr lang="en-MY" sz="2800" b="0" dirty="0">
                <a:latin typeface="宋体" pitchFamily="2" charset="-122"/>
                <a:ea typeface="宋体" pitchFamily="2" charset="-122"/>
              </a:rPr>
              <a:t>2 H</a:t>
            </a:r>
            <a:r>
              <a:rPr lang="en-MY" sz="2800" b="0" baseline="-25000" dirty="0">
                <a:latin typeface="宋体" pitchFamily="2" charset="-122"/>
                <a:ea typeface="宋体" pitchFamily="2" charset="-122"/>
              </a:rPr>
              <a:t>2</a:t>
            </a:r>
            <a:r>
              <a:rPr lang="en-MY" sz="2800" b="0" dirty="0">
                <a:latin typeface="宋体" pitchFamily="2" charset="-122"/>
                <a:ea typeface="宋体" pitchFamily="2" charset="-122"/>
              </a:rPr>
              <a:t>↑+O</a:t>
            </a:r>
            <a:r>
              <a:rPr lang="en-MY" sz="2800" b="0" baseline="-25000" dirty="0">
                <a:latin typeface="宋体" pitchFamily="2" charset="-122"/>
                <a:ea typeface="宋体" pitchFamily="2" charset="-122"/>
              </a:rPr>
              <a:t>2</a:t>
            </a:r>
            <a:r>
              <a:rPr lang="en-MY" sz="2800" b="0" dirty="0">
                <a:latin typeface="宋体" pitchFamily="2" charset="-122"/>
                <a:ea typeface="宋体" pitchFamily="2" charset="-122"/>
              </a:rPr>
              <a:t>↑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800" b="0" dirty="0">
                <a:latin typeface="宋体" pitchFamily="2" charset="-122"/>
                <a:ea typeface="宋体" pitchFamily="2" charset="-122"/>
              </a:rPr>
              <a:t>电解熔融的氢氧化钠 </a:t>
            </a:r>
            <a:r>
              <a:rPr lang="en-US" altLang="zh-CN" sz="2800" b="0" dirty="0">
                <a:latin typeface="宋体" pitchFamily="2" charset="-122"/>
                <a:ea typeface="宋体" pitchFamily="2" charset="-122"/>
              </a:rPr>
              <a:t>	</a:t>
            </a:r>
          </a:p>
          <a:p>
            <a:r>
              <a:rPr lang="en-US" altLang="zh-CN" sz="2800" b="0" dirty="0">
                <a:latin typeface="宋体" pitchFamily="2" charset="-122"/>
                <a:ea typeface="宋体" pitchFamily="2" charset="-122"/>
              </a:rPr>
              <a:t>	2 </a:t>
            </a:r>
            <a:r>
              <a:rPr lang="en-US" altLang="zh-CN" sz="2800" b="0" dirty="0" err="1">
                <a:latin typeface="宋体" pitchFamily="2" charset="-122"/>
                <a:ea typeface="宋体" pitchFamily="2" charset="-122"/>
              </a:rPr>
              <a:t>NaOH</a:t>
            </a:r>
            <a:r>
              <a:rPr lang="en-US" altLang="zh-CN" sz="2800" b="0" baseline="-25000" dirty="0">
                <a:latin typeface="宋体" pitchFamily="2" charset="-122"/>
                <a:ea typeface="宋体" pitchFamily="2" charset="-122"/>
              </a:rPr>
              <a:t>(l) </a:t>
            </a:r>
            <a:r>
              <a:rPr lang="en-US" altLang="zh-CN" sz="2800" b="0" dirty="0">
                <a:latin typeface="宋体" pitchFamily="2" charset="-122"/>
                <a:ea typeface="宋体" pitchFamily="2" charset="-122"/>
                <a:sym typeface="Wingdings" pitchFamily="2" charset="2"/>
              </a:rPr>
              <a:t>    2Na</a:t>
            </a:r>
            <a:r>
              <a:rPr lang="en-US" altLang="zh-CN" sz="2800" b="0" baseline="-25000" dirty="0">
                <a:latin typeface="宋体" pitchFamily="2" charset="-122"/>
                <a:ea typeface="宋体" pitchFamily="2" charset="-122"/>
                <a:sym typeface="Wingdings" pitchFamily="2" charset="2"/>
              </a:rPr>
              <a:t>(s)</a:t>
            </a:r>
            <a:r>
              <a:rPr lang="en-US" altLang="zh-CN" sz="2800" b="0" dirty="0">
                <a:latin typeface="宋体" pitchFamily="2" charset="-122"/>
                <a:ea typeface="宋体" pitchFamily="2" charset="-122"/>
                <a:sym typeface="Wingdings" pitchFamily="2" charset="2"/>
              </a:rPr>
              <a:t>+ H</a:t>
            </a:r>
            <a:r>
              <a:rPr lang="en-US" altLang="zh-CN" sz="2800" b="0" baseline="-25000" dirty="0">
                <a:latin typeface="宋体" pitchFamily="2" charset="-122"/>
                <a:ea typeface="宋体" pitchFamily="2" charset="-122"/>
                <a:sym typeface="Wingdings" pitchFamily="2" charset="2"/>
              </a:rPr>
              <a:t>2(g)</a:t>
            </a:r>
            <a:r>
              <a:rPr lang="en-US" altLang="zh-CN" sz="2800" b="0" dirty="0">
                <a:latin typeface="宋体" pitchFamily="2" charset="-122"/>
                <a:ea typeface="宋体" pitchFamily="2" charset="-122"/>
                <a:sym typeface="Wingdings" pitchFamily="2" charset="2"/>
              </a:rPr>
              <a:t>+O</a:t>
            </a:r>
            <a:r>
              <a:rPr lang="en-US" altLang="zh-CN" sz="2800" b="0" baseline="-25000" dirty="0">
                <a:latin typeface="宋体" pitchFamily="2" charset="-122"/>
                <a:ea typeface="宋体" pitchFamily="2" charset="-122"/>
                <a:sym typeface="Wingdings" pitchFamily="2" charset="2"/>
              </a:rPr>
              <a:t>2(g)</a:t>
            </a:r>
            <a:endParaRPr lang="en-MY" sz="2800" b="0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41" b="9677"/>
          <a:stretch>
            <a:fillRect/>
          </a:stretch>
        </p:blipFill>
        <p:spPr bwMode="auto">
          <a:xfrm>
            <a:off x="526673" y="2329016"/>
            <a:ext cx="7668277" cy="2048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3"/>
          <p:cNvSpPr txBox="1">
            <a:spLocks/>
          </p:cNvSpPr>
          <p:nvPr/>
        </p:nvSpPr>
        <p:spPr>
          <a:xfrm>
            <a:off x="325278" y="295276"/>
            <a:ext cx="7014305" cy="114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14.1.2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氧气的制取</a:t>
            </a:r>
            <a:endParaRPr kumimoji="0" lang="en-US" altLang="zh-CN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78135" y="5050666"/>
            <a:ext cx="1849189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699456" y="6091709"/>
            <a:ext cx="2817253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5190187" y="5014418"/>
            <a:ext cx="555544" cy="307777"/>
            <a:chOff x="2883795" y="5893158"/>
            <a:chExt cx="555544" cy="307777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883795" y="6172117"/>
              <a:ext cx="54864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895600" y="589315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947119" y="6055463"/>
            <a:ext cx="555544" cy="307777"/>
            <a:chOff x="2883795" y="5893158"/>
            <a:chExt cx="555544" cy="307777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883795" y="6172117"/>
              <a:ext cx="54864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895600" y="589315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  <p:sp>
        <p:nvSpPr>
          <p:cNvPr id="15" name="Text Placeholder 3"/>
          <p:cNvSpPr txBox="1">
            <a:spLocks/>
          </p:cNvSpPr>
          <p:nvPr/>
        </p:nvSpPr>
        <p:spPr>
          <a:xfrm>
            <a:off x="439640" y="900733"/>
            <a:ext cx="3456384" cy="720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2800" noProof="0" dirty="0">
                <a:latin typeface="宋体" pitchFamily="2" charset="-122"/>
                <a:ea typeface="宋体" pitchFamily="2" charset="-122"/>
              </a:rPr>
              <a:t>工业制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法</a:t>
            </a:r>
            <a:endParaRPr kumimoji="0" lang="en-MY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19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uiExpand="1" build="p"/>
      <p:bldP spid="6" grpId="0" animBg="1"/>
      <p:bldP spid="8" grpId="0" animBg="1"/>
      <p:bldP spid="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530097"/>
            <a:ext cx="7920038" cy="4093845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00000"/>
              </a:lnSpc>
            </a:pPr>
            <a:r>
              <a:rPr lang="zh-CN" altLang="en-US" sz="2800" dirty="0"/>
              <a:t>氧气的用途：</a:t>
            </a:r>
            <a:endParaRPr lang="en-US" altLang="zh-CN" sz="2800" dirty="0"/>
          </a:p>
          <a:p>
            <a:pPr marL="514350" indent="-51435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800" dirty="0"/>
              <a:t>供给呼吸</a:t>
            </a:r>
            <a:endParaRPr lang="en-US" altLang="zh-CN" sz="2800" dirty="0"/>
          </a:p>
          <a:p>
            <a:pPr marL="514350" indent="-51435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800" dirty="0"/>
              <a:t>可助燃</a:t>
            </a:r>
            <a:endParaRPr lang="en-US" altLang="zh-CN" sz="2800" dirty="0"/>
          </a:p>
          <a:p>
            <a:pPr marL="971550" lvl="1" indent="-51435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600" dirty="0"/>
              <a:t>冶炼钢铁需要氧气</a:t>
            </a:r>
            <a:endParaRPr lang="en-US" altLang="zh-CN" sz="2600" dirty="0"/>
          </a:p>
          <a:p>
            <a:pPr marL="971550" lvl="1" indent="-51435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600" dirty="0"/>
              <a:t>氢氧焰、氧炔焰焊接金属</a:t>
            </a:r>
            <a:endParaRPr lang="en-US" altLang="zh-CN" sz="2600" dirty="0"/>
          </a:p>
          <a:p>
            <a:pPr marL="971550" lvl="1" indent="-51435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600" dirty="0"/>
              <a:t>火箭燃料的氧化剂</a:t>
            </a:r>
            <a:endParaRPr lang="en-US" altLang="zh-CN" sz="2600" dirty="0"/>
          </a:p>
          <a:p>
            <a:pPr marL="971550" lvl="1" indent="-514350" algn="l"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600" dirty="0"/>
              <a:t>化工原料</a:t>
            </a:r>
            <a:endParaRPr lang="en-US" altLang="zh-CN" sz="2600" dirty="0"/>
          </a:p>
          <a:p>
            <a:pPr algn="l">
              <a:lnSpc>
                <a:spcPct val="100000"/>
              </a:lnSpc>
            </a:pPr>
            <a:endParaRPr lang="zh-CN" altLang="en-US" sz="2800" dirty="0"/>
          </a:p>
          <a:p>
            <a:pPr marL="342900" indent="-342900" algn="l">
              <a:lnSpc>
                <a:spcPct val="100000"/>
              </a:lnSpc>
              <a:buFont typeface="Wingdings" pitchFamily="2" charset="2"/>
              <a:buChar char="Ø"/>
            </a:pP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Font typeface="Wingdings" pitchFamily="2" charset="2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lnSpc>
                <a:spcPct val="100000"/>
              </a:lnSpc>
              <a:buClrTx/>
              <a:buSzPct val="100000"/>
              <a:buFont typeface="Wingdings" pitchFamily="2" charset="2"/>
              <a:buChar char="Ø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643255"/>
            <a:ext cx="5884922" cy="68961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14.1.2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氧气的制取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530097"/>
            <a:ext cx="7920038" cy="4093845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zh-CN" sz="2800" dirty="0"/>
              <a:t>D </a:t>
            </a:r>
            <a:r>
              <a:rPr lang="zh-CN" altLang="en-US" sz="2800" dirty="0"/>
              <a:t>产生白烟</a:t>
            </a:r>
            <a:endParaRPr lang="en-US" altLang="zh-CN" sz="2800" dirty="0"/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dirty="0"/>
              <a:t>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 </a:t>
            </a:r>
            <a:r>
              <a:rPr lang="zh-CN" altLang="en-US" sz="2800" dirty="0"/>
              <a:t>固体颗粒</a:t>
            </a:r>
            <a:endParaRPr lang="en-US" altLang="zh-CN" sz="2800" dirty="0"/>
          </a:p>
          <a:p>
            <a:pPr marL="514350" indent="-514350" algn="l">
              <a:lnSpc>
                <a:spcPct val="150000"/>
              </a:lnSpc>
              <a:buAutoNum type="arabicPeriod" startAt="2"/>
            </a:pPr>
            <a:r>
              <a:rPr lang="zh-CN" altLang="en-US" sz="2800" dirty="0"/>
              <a:t>分解双氧水，加入</a:t>
            </a:r>
            <a:r>
              <a:rPr lang="en-US" altLang="zh-CN" sz="2800" dirty="0"/>
              <a:t>MnO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，不需加热较简单。</a:t>
            </a:r>
            <a:endParaRPr lang="en-US" altLang="zh-CN" sz="2800" dirty="0"/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dirty="0"/>
              <a:t>	C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Pct val="100000"/>
              <a:buFont typeface="Wingdings" pitchFamily="2" charset="2"/>
              <a:buChar char="Ø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643255"/>
            <a:ext cx="5884922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思考题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14a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9" y="1367410"/>
            <a:ext cx="7920038" cy="415861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00000"/>
              </a:lnSpc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臭氧和氧气是氧元素的同素异形体。</a:t>
            </a:r>
          </a:p>
          <a:p>
            <a:pPr marL="342900" indent="-342900" algn="l">
              <a:lnSpc>
                <a:spcPct val="100000"/>
              </a:lnSpc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淡蓝色，有刺激性臭味</a:t>
            </a:r>
          </a:p>
          <a:p>
            <a:pPr marL="342900" indent="-342900" algn="l">
              <a:lnSpc>
                <a:spcPct val="100000"/>
              </a:lnSpc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密度比氧气大</a:t>
            </a: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比氧气易溶于水</a:t>
            </a: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液态臭氧呈深蓝色，沸点</a:t>
            </a:r>
            <a:r>
              <a:rPr lang="en-US" altLang="zh-CN" sz="2800" dirty="0"/>
              <a:t>-112.4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</a:p>
          <a:p>
            <a:pPr marL="342900" indent="-342900" algn="l">
              <a:lnSpc>
                <a:spcPct val="100000"/>
              </a:lnSpc>
              <a:buSzPct val="100000"/>
              <a:buFont typeface="Wingdings" charset="0"/>
              <a:buChar char="Ø"/>
            </a:pPr>
            <a:r>
              <a:rPr lang="zh-CN" altLang="en-US" sz="2800" dirty="0"/>
              <a:t>固态臭氧呈紫黑色，熔点</a:t>
            </a:r>
            <a:r>
              <a:rPr lang="en-US" altLang="zh-CN" sz="2800" dirty="0"/>
              <a:t>-251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</a:p>
          <a:p>
            <a:pPr marL="342900" indent="-342900" algn="l">
              <a:lnSpc>
                <a:spcPct val="100000"/>
              </a:lnSpc>
              <a:buSzPct val="100000"/>
              <a:buFont typeface="Wingdings" charset="0"/>
              <a:buChar char="Ø"/>
            </a:pPr>
            <a:r>
              <a:rPr lang="zh-CN" altLang="en-US" sz="2800" dirty="0"/>
              <a:t>闪电时，少量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可转化成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 </a:t>
            </a:r>
          </a:p>
          <a:p>
            <a:pPr marL="342900" indent="-342900" algn="l">
              <a:lnSpc>
                <a:spcPct val="100000"/>
              </a:lnSpc>
              <a:buSzPct val="100000"/>
              <a:buFont typeface="Wingdings" charset="0"/>
              <a:buChar char="Ø"/>
            </a:pPr>
            <a:r>
              <a:rPr lang="zh-CN" altLang="en-US" sz="2800" dirty="0"/>
              <a:t>实验室，臭氧发生器 利用高压放电来制取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ClrTx/>
              <a:buSzPct val="100000"/>
              <a:buFont typeface="Wingdings" charset="0"/>
              <a:buChar char="Ø"/>
            </a:pP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ClrTx/>
              <a:buSzPct val="100000"/>
              <a:buFont typeface="Wingdings" charset="0"/>
              <a:buChar char="Ø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375032"/>
            <a:ext cx="4159628" cy="870585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臭氧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</a:t>
            </a:r>
            <a:r>
              <a:rPr lang="en-US" altLang="zh-CN" sz="4400" baseline="-25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</a:rPr>
              <a:t>3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5" name="图片 4" descr="121px-Ozone-CRC-MW-3D-ball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58005" y="491696"/>
            <a:ext cx="1243489" cy="958850"/>
          </a:xfrm>
          <a:prstGeom prst="rect">
            <a:avLst/>
          </a:prstGeom>
        </p:spPr>
      </p:pic>
      <p:pic>
        <p:nvPicPr>
          <p:cNvPr id="21505" name="Picture 1" descr="C:\Users\user\Desktop\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8334" y="2388680"/>
            <a:ext cx="1990725" cy="14954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9" y="1367410"/>
            <a:ext cx="7920038" cy="526521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臭氧能刺激中枢神经，加速血液循环。使人产生爽快和振奋的感觉。</a:t>
            </a:r>
            <a:endParaRPr lang="en-US" altLang="zh-CN" sz="2800" dirty="0"/>
          </a:p>
          <a:p>
            <a:pPr marL="342900" indent="-342900" algn="l">
              <a:lnSpc>
                <a:spcPct val="150000"/>
              </a:lnSpc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吸入过量臭氧对人体健康有一定危害。它主要是刺激和损害深部呼吸道，并可损害中枢神经系统，对眼睛有轻度的刺激作用。</a:t>
            </a: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375032"/>
            <a:ext cx="4159628" cy="870585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臭氧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</a:t>
            </a:r>
            <a:r>
              <a:rPr lang="en-US" altLang="zh-CN" sz="4400" baseline="-25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</a:rPr>
              <a:t>3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5" name="图片 4" descr="121px-Ozone-CRC-MW-3D-ball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70884" y="594722"/>
            <a:ext cx="1243489" cy="958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8" y="1367410"/>
            <a:ext cx="8254079" cy="5033390"/>
          </a:xfrm>
        </p:spPr>
        <p:txBody>
          <a:bodyPr>
            <a:noAutofit/>
          </a:bodyPr>
          <a:lstStyle/>
          <a:p>
            <a:pPr marL="342900" indent="-342900" algn="l">
              <a:buClrTx/>
              <a:buSzPct val="100000"/>
            </a:pPr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不稳定，常温下慢慢分解，受热时迅速分解。</a:t>
            </a:r>
            <a:endParaRPr lang="en-US" altLang="zh-CN" sz="2800" dirty="0"/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en-US" altLang="zh-CN" sz="2800" dirty="0">
                <a:latin typeface="Bodoni MT" pitchFamily="18" charset="0"/>
              </a:rPr>
              <a:t> 2 O</a:t>
            </a:r>
            <a:r>
              <a:rPr lang="en-US" altLang="zh-CN" sz="2800" baseline="-25000" dirty="0">
                <a:latin typeface="Bodoni MT" pitchFamily="18" charset="0"/>
              </a:rPr>
              <a:t>3</a:t>
            </a:r>
            <a:r>
              <a:rPr lang="en-US" altLang="zh-CN" sz="2800" dirty="0">
                <a:latin typeface="Bodoni MT" pitchFamily="18" charset="0"/>
              </a:rPr>
              <a:t>  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		 3 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+ </a:t>
            </a:r>
            <a:r>
              <a:rPr lang="zh-CN" altLang="en-US" sz="2800" dirty="0">
                <a:latin typeface="Bodoni MT" pitchFamily="18" charset="0"/>
                <a:sym typeface="Wingdings" pitchFamily="2" charset="2"/>
              </a:rPr>
              <a:t>热量</a:t>
            </a:r>
            <a:endParaRPr lang="zh-CN" altLang="en-US" sz="2800" dirty="0">
              <a:latin typeface="Bodoni MT" pitchFamily="18" charset="0"/>
            </a:endParaRPr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endParaRPr lang="en-US" altLang="zh-CN" sz="2800" dirty="0">
              <a:latin typeface="Bodoni MT" pitchFamily="18" charset="0"/>
            </a:endParaRPr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r>
              <a:rPr lang="zh-CN" altLang="en-US" sz="2800" dirty="0">
                <a:latin typeface="Bodoni MT" pitchFamily="18" charset="0"/>
              </a:rPr>
              <a:t>强氧化性</a:t>
            </a:r>
            <a:endParaRPr lang="en-US" altLang="zh-CN" sz="2800" dirty="0">
              <a:latin typeface="Bodoni MT" pitchFamily="18" charset="0"/>
            </a:endParaRPr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en-US" altLang="zh-CN" sz="2800" dirty="0" err="1">
                <a:latin typeface="Bodoni MT" pitchFamily="18" charset="0"/>
              </a:rPr>
              <a:t>PbS</a:t>
            </a:r>
            <a:r>
              <a:rPr lang="en-US" altLang="zh-CN" sz="2800" dirty="0">
                <a:latin typeface="Bodoni MT" pitchFamily="18" charset="0"/>
              </a:rPr>
              <a:t> + 2 O</a:t>
            </a:r>
            <a:r>
              <a:rPr lang="en-US" altLang="zh-CN" sz="2800" baseline="-25000" dirty="0">
                <a:latin typeface="Bodoni MT" pitchFamily="18" charset="0"/>
              </a:rPr>
              <a:t>3</a:t>
            </a:r>
            <a:r>
              <a:rPr lang="en-US" altLang="zh-CN" sz="2800" dirty="0">
                <a:latin typeface="Bodoni MT" pitchFamily="18" charset="0"/>
              </a:rPr>
              <a:t> 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 PbSO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4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+ 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</a:t>
            </a:r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2 Ag + 2 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3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 Ag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+ 2 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 </a:t>
            </a:r>
            <a:endParaRPr lang="zh-CN" altLang="en-US" sz="2800" dirty="0">
              <a:latin typeface="Bodoni MT" pitchFamily="18" charset="0"/>
            </a:endParaRPr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endParaRPr lang="en-US" altLang="zh-CN" sz="2800" dirty="0">
              <a:latin typeface="Bodoni MT" pitchFamily="18" charset="0"/>
            </a:endParaRPr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r>
              <a:rPr lang="zh-CN" altLang="en-US" sz="2800" dirty="0">
                <a:latin typeface="Bodoni MT" pitchFamily="18" charset="0"/>
              </a:rPr>
              <a:t>臭氧的检验</a:t>
            </a:r>
            <a:endParaRPr lang="en-US" altLang="zh-CN" sz="2800" dirty="0">
              <a:latin typeface="Bodoni MT" pitchFamily="18" charset="0"/>
            </a:endParaRPr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en-US" altLang="zh-CN" sz="2800" dirty="0">
                <a:latin typeface="Bodoni MT" pitchFamily="18" charset="0"/>
              </a:rPr>
              <a:t>2 KI + H</a:t>
            </a:r>
            <a:r>
              <a:rPr lang="en-US" altLang="zh-CN" sz="2800" baseline="-25000" dirty="0">
                <a:latin typeface="Bodoni MT" pitchFamily="18" charset="0"/>
              </a:rPr>
              <a:t>2</a:t>
            </a:r>
            <a:r>
              <a:rPr lang="en-US" altLang="zh-CN" sz="2800" dirty="0">
                <a:latin typeface="Bodoni MT" pitchFamily="18" charset="0"/>
              </a:rPr>
              <a:t>SO</a:t>
            </a:r>
            <a:r>
              <a:rPr lang="en-US" altLang="zh-CN" sz="2800" baseline="-25000" dirty="0">
                <a:latin typeface="Bodoni MT" pitchFamily="18" charset="0"/>
              </a:rPr>
              <a:t>4</a:t>
            </a:r>
            <a:r>
              <a:rPr lang="en-US" altLang="zh-CN" sz="2800" dirty="0">
                <a:latin typeface="Bodoni MT" pitchFamily="18" charset="0"/>
              </a:rPr>
              <a:t> + O</a:t>
            </a:r>
            <a:r>
              <a:rPr lang="en-US" altLang="zh-CN" sz="2800" baseline="-25000" dirty="0">
                <a:latin typeface="Bodoni MT" pitchFamily="18" charset="0"/>
              </a:rPr>
              <a:t>3</a:t>
            </a:r>
            <a:r>
              <a:rPr lang="en-US" altLang="zh-CN" sz="2800" dirty="0">
                <a:latin typeface="Bodoni MT" pitchFamily="18" charset="0"/>
              </a:rPr>
              <a:t> 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 I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+ 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+ K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SO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4 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 + H</a:t>
            </a:r>
            <a:r>
              <a:rPr lang="en-US" altLang="zh-CN" sz="2800" baseline="-25000" dirty="0">
                <a:latin typeface="Bodoni MT" pitchFamily="18" charset="0"/>
                <a:sym typeface="Wingdings" pitchFamily="2" charset="2"/>
              </a:rPr>
              <a:t>2</a:t>
            </a:r>
            <a:r>
              <a:rPr lang="en-US" altLang="zh-CN" sz="2800" dirty="0">
                <a:latin typeface="Bodoni MT" pitchFamily="18" charset="0"/>
                <a:sym typeface="Wingdings" pitchFamily="2" charset="2"/>
              </a:rPr>
              <a:t>O</a:t>
            </a:r>
            <a:endParaRPr lang="zh-CN" altLang="en-US" sz="2800" dirty="0">
              <a:latin typeface="Bodoni MT" pitchFamily="18" charset="0"/>
            </a:endParaRPr>
          </a:p>
          <a:p>
            <a:pPr marL="342900" indent="-342900" algn="l">
              <a:buClrTx/>
              <a:buSzPct val="10000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375032"/>
            <a:ext cx="4706207" cy="87058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臭氧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</a:t>
            </a:r>
            <a:r>
              <a:rPr lang="en-US" altLang="zh-CN" sz="4400" baseline="-25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268827" y="2404614"/>
            <a:ext cx="838200" cy="153988"/>
            <a:chOff x="2590800" y="1979612"/>
            <a:chExt cx="838200" cy="153988"/>
          </a:xfrm>
        </p:grpSpPr>
        <p:cxnSp>
          <p:nvCxnSpPr>
            <p:cNvPr id="6" name="Straight Arrow Connector 5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sosceles Triangle 6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1482" y="1438021"/>
            <a:ext cx="7920038" cy="2687320"/>
          </a:xfrm>
        </p:spPr>
        <p:txBody>
          <a:bodyPr>
            <a:noAutofit/>
          </a:bodyPr>
          <a:lstStyle/>
          <a:p>
            <a:pPr marL="342900" indent="-342900" algn="l">
              <a:buClrTx/>
              <a:buSzPct val="100000"/>
            </a:pPr>
            <a:r>
              <a:rPr lang="zh-CN" altLang="en-US" sz="2800" dirty="0"/>
              <a:t>交流分享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臭氧可用于净化空气、杀菌，处理废水和作为漂白剂。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以臭氧取代氯气给饮用水消毒，杀菌力强、净化速度快、不会有异味、水中不会含有毒的有机氯化物。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96703" y="476250"/>
            <a:ext cx="3438169" cy="63754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臭氧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4400" baseline="-25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9126" y="4634635"/>
            <a:ext cx="1772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臭氧的灭菌原理：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44604" y="4633365"/>
            <a:ext cx="56411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灭菌过程属生物化学氧化反应。臭氧是一种强氧化剂，能对细菌的细胞体直接氧化，即破坏其DNA而达到抑制的效果，对病毒的RNA亦有破坏作用；对各种毒素具有一定的氧化作用，降低其毒性。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68310" y="1208122"/>
            <a:ext cx="7920038" cy="5649878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zh-CN" sz="2800" dirty="0"/>
              <a:t>3O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  2O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altLang="zh-CN" sz="2800" dirty="0"/>
              <a:t>C	</a:t>
            </a:r>
            <a:r>
              <a:rPr lang="zh-CN" altLang="en-US" sz="2800" dirty="0"/>
              <a:t>臭氧能吸收太阳辐射出的紫外线</a:t>
            </a:r>
            <a:endParaRPr lang="en-US" altLang="zh-CN" sz="2800" dirty="0"/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dirty="0"/>
              <a:t>		</a:t>
            </a:r>
            <a:r>
              <a:rPr lang="zh-CN" altLang="en-US" sz="2800" dirty="0"/>
              <a:t>臭氧能处理饮用水、净化空气、处理废水</a:t>
            </a:r>
            <a:endParaRPr lang="en-US" altLang="zh-CN" sz="2800" dirty="0"/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dirty="0"/>
              <a:t>3.  NO + 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NO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+ 2O</a:t>
            </a: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dirty="0"/>
              <a:t>	NO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+ O </a:t>
            </a:r>
            <a:r>
              <a:rPr lang="en-US" altLang="zh-CN" sz="2800" dirty="0">
                <a:sym typeface="Wingdings" pitchFamily="2" charset="2"/>
              </a:rPr>
              <a:t> NO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/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dirty="0"/>
              <a:t>	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	 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O</a:t>
            </a: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dirty="0"/>
              <a:t>NO</a:t>
            </a:r>
            <a:r>
              <a:rPr lang="zh-CN" altLang="en-US" sz="2800" dirty="0"/>
              <a:t>作为还原剂及催化剂</a:t>
            </a:r>
            <a:endParaRPr lang="en-US" altLang="zh-CN" dirty="0"/>
          </a:p>
          <a:p>
            <a:pPr marL="342900" indent="-342900" algn="l">
              <a:lnSpc>
                <a:spcPct val="150000"/>
              </a:lnSpc>
              <a:buFont typeface="Wingdings" charset="0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643255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思考题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14b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700010" y="1356816"/>
            <a:ext cx="838200" cy="307777"/>
            <a:chOff x="2819400" y="5893158"/>
            <a:chExt cx="838200" cy="30777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95600" y="589315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放电</a:t>
              </a:r>
              <a:endParaRPr lang="en-US" sz="14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672102" y="5166814"/>
            <a:ext cx="838200" cy="369332"/>
            <a:chOff x="2819400" y="5854521"/>
            <a:chExt cx="838200" cy="369332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959995" y="5854521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</a:t>
              </a:r>
            </a:p>
          </p:txBody>
        </p:sp>
      </p:grpSp>
      <p:cxnSp>
        <p:nvCxnSpPr>
          <p:cNvPr id="12" name="Straight Connector 11"/>
          <p:cNvCxnSpPr/>
          <p:nvPr/>
        </p:nvCxnSpPr>
        <p:spPr>
          <a:xfrm rot="10800000" flipV="1">
            <a:off x="982658" y="3716840"/>
            <a:ext cx="640080" cy="365760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V="1">
            <a:off x="2847951" y="4500305"/>
            <a:ext cx="640080" cy="365760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1081399" y="4536795"/>
            <a:ext cx="640080" cy="3657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 flipV="1">
            <a:off x="2753506" y="3736158"/>
            <a:ext cx="640080" cy="365760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0800000" flipV="1">
            <a:off x="1939991" y="4468108"/>
            <a:ext cx="640080" cy="365760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3524305" y="3784028"/>
            <a:ext cx="388514" cy="264440"/>
          </a:xfrm>
          <a:prstGeom prst="line">
            <a:avLst/>
          </a:prstGeom>
          <a:ln w="25400" cmpd="sng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8642" y="3335628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+2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86507" y="3346361"/>
            <a:ext cx="54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+4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9" y="1196722"/>
            <a:ext cx="7920038" cy="5362574"/>
          </a:xfrm>
        </p:spPr>
        <p:txBody>
          <a:bodyPr>
            <a:noAutofit/>
          </a:bodyPr>
          <a:lstStyle/>
          <a:p>
            <a:pPr marL="342900" indent="-342900" algn="l">
              <a:buClrTx/>
              <a:buSzPct val="100000"/>
            </a:pPr>
            <a:r>
              <a:rPr lang="en-US" altLang="zh-CN" sz="2800" dirty="0"/>
              <a:t>14.3.1 </a:t>
            </a:r>
            <a:r>
              <a:rPr lang="zh-CN" altLang="en-US" sz="2800" dirty="0"/>
              <a:t>氧化物的分类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按氧化数分类</a:t>
            </a:r>
            <a:endParaRPr lang="en-US" altLang="zh-CN" sz="2800" dirty="0"/>
          </a:p>
          <a:p>
            <a:pPr marL="800100" lvl="1" indent="-342900" algn="l">
              <a:buSzPct val="100000"/>
              <a:buFont typeface="Wingdings" pitchFamily="2" charset="2"/>
              <a:buChar char="Ø"/>
            </a:pPr>
            <a:r>
              <a:rPr lang="zh-CN" altLang="en-US" sz="2600" dirty="0"/>
              <a:t>普通氧化物：</a:t>
            </a:r>
            <a:r>
              <a:rPr lang="en-US" altLang="zh-CN" sz="2600" dirty="0" err="1"/>
              <a:t>CaO</a:t>
            </a:r>
            <a:r>
              <a:rPr lang="zh-CN" altLang="en-US" sz="2600" dirty="0"/>
              <a:t>、</a:t>
            </a:r>
            <a:r>
              <a:rPr lang="en-US" altLang="zh-CN" sz="2600" dirty="0"/>
              <a:t>K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O</a:t>
            </a:r>
            <a:r>
              <a:rPr lang="zh-CN" altLang="en-US" sz="2600" dirty="0"/>
              <a:t>、</a:t>
            </a:r>
            <a:r>
              <a:rPr lang="en-US" altLang="zh-CN" sz="2600" dirty="0"/>
              <a:t>CO</a:t>
            </a:r>
            <a:r>
              <a:rPr lang="zh-CN" altLang="en-US" sz="2600" dirty="0"/>
              <a:t>、</a:t>
            </a:r>
            <a:r>
              <a:rPr lang="en-US" altLang="zh-CN" sz="2600" dirty="0"/>
              <a:t>P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5</a:t>
            </a:r>
            <a:endParaRPr lang="en-US" altLang="zh-CN" sz="2600" dirty="0"/>
          </a:p>
          <a:p>
            <a:pPr marL="800100" lvl="1" indent="-342900" algn="l">
              <a:buSzPct val="100000"/>
              <a:buFont typeface="Wingdings" pitchFamily="2" charset="2"/>
              <a:buChar char="Ø"/>
            </a:pPr>
            <a:r>
              <a:rPr lang="zh-CN" altLang="en-US" sz="2600" dirty="0"/>
              <a:t>过氧化物；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2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 、</a:t>
            </a:r>
            <a:r>
              <a:rPr lang="en-US" altLang="zh-CN" sz="2600" dirty="0"/>
              <a:t> K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2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 、</a:t>
            </a:r>
            <a:r>
              <a:rPr lang="en-US" altLang="zh-CN" sz="2600" dirty="0"/>
              <a:t> Na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2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 、</a:t>
            </a:r>
            <a:r>
              <a:rPr lang="en-US" altLang="zh-CN" sz="2600" dirty="0"/>
              <a:t> BaO</a:t>
            </a:r>
            <a:r>
              <a:rPr lang="en-US" altLang="zh-CN" sz="2600" baseline="-25000" dirty="0"/>
              <a:t>2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pPr marL="800100" lvl="1" indent="-342900" algn="l">
              <a:buSzPct val="100000"/>
              <a:buFont typeface="Wingdings" pitchFamily="2" charset="2"/>
              <a:buChar char="Ø"/>
            </a:pPr>
            <a:r>
              <a:rPr lang="zh-CN" altLang="en-US" sz="2600" dirty="0"/>
              <a:t>超氧化物：</a:t>
            </a:r>
            <a:r>
              <a:rPr lang="en-US" altLang="zh-CN" sz="2600" dirty="0"/>
              <a:t>KO</a:t>
            </a:r>
            <a:r>
              <a:rPr lang="en-US" altLang="zh-CN" sz="2600" baseline="-25000" dirty="0"/>
              <a:t>2</a:t>
            </a:r>
            <a:endParaRPr lang="en-US" altLang="zh-CN" sz="2600" dirty="0"/>
          </a:p>
          <a:p>
            <a:pPr marL="800100" lvl="1" indent="-342900" algn="l">
              <a:buSzPct val="100000"/>
              <a:buFont typeface="Wingdings" pitchFamily="2" charset="2"/>
              <a:buChar char="Ø"/>
            </a:pPr>
            <a:r>
              <a:rPr lang="zh-CN" altLang="en-US" sz="2600" dirty="0"/>
              <a:t>复合氧化物：</a:t>
            </a:r>
            <a:r>
              <a:rPr lang="en-US" altLang="zh-CN" sz="2600" dirty="0"/>
              <a:t>Fe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4 </a:t>
            </a:r>
            <a:r>
              <a:rPr lang="en-US" altLang="zh-CN" sz="2600" dirty="0"/>
              <a:t> (</a:t>
            </a:r>
            <a:r>
              <a:rPr lang="en-US" altLang="zh-CN" sz="2600" dirty="0" err="1"/>
              <a:t>FeO</a:t>
            </a:r>
            <a:r>
              <a:rPr lang="en-US" altLang="zh-CN" sz="2600" dirty="0"/>
              <a:t> · Fe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)</a:t>
            </a:r>
            <a:endParaRPr lang="zh-CN" altLang="en-US" sz="2800" dirty="0"/>
          </a:p>
          <a:p>
            <a:pPr marL="342900" indent="-342900" algn="l">
              <a:buClrTx/>
              <a:buSzPct val="100000"/>
              <a:buFont typeface="Wingdings" charset="0"/>
              <a:buChar char="Ø"/>
            </a:pPr>
            <a:r>
              <a:rPr lang="zh-CN" altLang="en-US" sz="2800" dirty="0"/>
              <a:t>按化学性质分类</a:t>
            </a:r>
            <a:endParaRPr lang="en-US" altLang="zh-CN" sz="2800" dirty="0"/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zh-CN" altLang="en-US" sz="2600" dirty="0"/>
              <a:t>碱性氧化物：大部分金属氧化物</a:t>
            </a:r>
            <a:endParaRPr lang="en-US" altLang="zh-CN" sz="2600" dirty="0"/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zh-CN" altLang="en-US" sz="2600" dirty="0"/>
              <a:t>酸性氧化物：大部分非金属氧化物</a:t>
            </a:r>
            <a:endParaRPr lang="en-US" altLang="zh-CN" sz="2600" dirty="0"/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zh-CN" altLang="en-US" sz="2600" dirty="0"/>
              <a:t>两性氧化物：</a:t>
            </a:r>
            <a:r>
              <a:rPr lang="en-US" altLang="zh-CN" sz="2600" dirty="0" err="1"/>
              <a:t>ZnO</a:t>
            </a:r>
            <a:r>
              <a:rPr lang="zh-CN" altLang="en-US" sz="2600" dirty="0"/>
              <a:t>、</a:t>
            </a:r>
            <a:r>
              <a:rPr lang="en-US" altLang="zh-CN" sz="2600" dirty="0"/>
              <a:t>Al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3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、</a:t>
            </a:r>
            <a:r>
              <a:rPr lang="en-US" altLang="zh-CN" sz="2600" dirty="0"/>
              <a:t>SnO</a:t>
            </a:r>
            <a:r>
              <a:rPr lang="en-US" altLang="zh-CN" sz="2600" baseline="-25000" dirty="0"/>
              <a:t>2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、</a:t>
            </a:r>
            <a:r>
              <a:rPr lang="en-US" altLang="zh-CN" sz="2600" dirty="0" err="1"/>
              <a:t>PbO</a:t>
            </a:r>
            <a:endParaRPr lang="zh-CN" altLang="en-US" sz="2600" dirty="0"/>
          </a:p>
          <a:p>
            <a:pPr marL="800100" lvl="1" indent="-342900" algn="l">
              <a:buSzPct val="100000"/>
              <a:buFont typeface="Wingdings" charset="0"/>
              <a:buChar char="Ø"/>
            </a:pPr>
            <a:r>
              <a:rPr lang="zh-CN" altLang="en-US" sz="2600" dirty="0"/>
              <a:t>中性氧化物：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r>
              <a:rPr lang="zh-CN" altLang="en-US" sz="2600" dirty="0"/>
              <a:t>、</a:t>
            </a:r>
            <a:r>
              <a:rPr lang="en-US" altLang="zh-CN" sz="2600" dirty="0"/>
              <a:t>CO</a:t>
            </a:r>
            <a:r>
              <a:rPr lang="zh-CN" altLang="en-US" sz="2600" dirty="0"/>
              <a:t>、</a:t>
            </a:r>
            <a:r>
              <a:rPr lang="en-US" altLang="zh-CN" sz="2600" dirty="0"/>
              <a:t>NO</a:t>
            </a:r>
            <a:r>
              <a:rPr lang="zh-CN" altLang="en-US" sz="2600" dirty="0"/>
              <a:t>、</a:t>
            </a:r>
            <a:r>
              <a:rPr lang="en-US" altLang="zh-CN" sz="2600" dirty="0"/>
              <a:t>N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204344"/>
            <a:ext cx="3401663" cy="87058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14.3 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氧化物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27325" y="1983347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-2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12299" y="2483477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-1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35910" y="2944968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-1/2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3530" y="3406460"/>
            <a:ext cx="2717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</a:rPr>
              <a:t>不同氧化态的同种金属元素的氧化物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9" y="1170964"/>
            <a:ext cx="7920038" cy="5362574"/>
          </a:xfrm>
        </p:spPr>
        <p:txBody>
          <a:bodyPr>
            <a:noAutofit/>
          </a:bodyPr>
          <a:lstStyle/>
          <a:p>
            <a:pPr marL="342900" indent="-342900" algn="l">
              <a:buClrTx/>
              <a:buSzPct val="100000"/>
            </a:pPr>
            <a:r>
              <a:rPr lang="zh-CN" altLang="en-US" sz="2800" u="sng" dirty="0"/>
              <a:t>活动</a:t>
            </a:r>
            <a:r>
              <a:rPr lang="en-US" altLang="zh-CN" sz="2800" u="sng" dirty="0"/>
              <a:t>5</a:t>
            </a:r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红棕色粉末溶解，溶液变黄色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800" dirty="0"/>
              <a:t>Fe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+ 6HCl </a:t>
            </a:r>
            <a:r>
              <a:rPr lang="en-US" altLang="zh-CN" sz="2800" dirty="0">
                <a:sym typeface="Wingdings" pitchFamily="2" charset="2"/>
              </a:rPr>
              <a:t></a:t>
            </a:r>
            <a:endParaRPr lang="en-US" altLang="zh-CN" sz="2800" dirty="0"/>
          </a:p>
          <a:p>
            <a:pPr marL="342900" indent="-342900" algn="l">
              <a:buClrTx/>
              <a:buSzPct val="100000"/>
            </a:pPr>
            <a:r>
              <a:rPr lang="zh-CN" altLang="en-US" sz="2800" u="sng" dirty="0"/>
              <a:t>活动</a:t>
            </a:r>
            <a:r>
              <a:rPr lang="en-US" altLang="zh-CN" sz="2800" u="sng" dirty="0"/>
              <a:t>6</a:t>
            </a:r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无明显现象，不发生反应</a:t>
            </a:r>
            <a:endParaRPr lang="en-US" altLang="zh-CN" sz="2800" dirty="0"/>
          </a:p>
          <a:p>
            <a:pPr marL="342900" indent="-342900" algn="l">
              <a:buSzPct val="100000"/>
            </a:pPr>
            <a:r>
              <a:rPr lang="zh-CN" altLang="en-US" sz="2800" u="sng" dirty="0"/>
              <a:t>活动</a:t>
            </a:r>
            <a:r>
              <a:rPr lang="en-US" altLang="zh-CN" sz="2800" u="sng" dirty="0"/>
              <a:t>7&amp;</a:t>
            </a:r>
            <a:r>
              <a:rPr lang="zh-CN" altLang="en-US" sz="2800" u="sng" dirty="0"/>
              <a:t>活动</a:t>
            </a:r>
            <a:r>
              <a:rPr lang="en-US" altLang="zh-CN" sz="2800" u="sng" dirty="0"/>
              <a:t>8</a:t>
            </a:r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白色固体逐渐溶解</a:t>
            </a:r>
            <a:endParaRPr lang="en-US" altLang="zh-CN" sz="2800" dirty="0"/>
          </a:p>
          <a:p>
            <a:pPr marL="342900" indent="-342900" algn="l">
              <a:buSzPct val="100000"/>
              <a:buFont typeface="Wingdings" pitchFamily="2" charset="2"/>
              <a:buChar char="Ø"/>
            </a:pPr>
            <a:r>
              <a:rPr lang="en-US" altLang="zh-CN" sz="2800" dirty="0"/>
              <a:t>Al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+ 6HCl </a:t>
            </a:r>
            <a:r>
              <a:rPr lang="en-US" altLang="zh-CN" sz="2800" dirty="0">
                <a:sym typeface="Wingdings" pitchFamily="2" charset="2"/>
              </a:rPr>
              <a:t>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800" dirty="0"/>
              <a:t>Al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+2 </a:t>
            </a:r>
            <a:r>
              <a:rPr lang="en-US" altLang="zh-CN" sz="2800" dirty="0" err="1"/>
              <a:t>NaOH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204344"/>
            <a:ext cx="3401663" cy="87058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14.3 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氧化物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9597" y="2134120"/>
            <a:ext cx="27004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 </a:t>
            </a:r>
            <a:r>
              <a:rPr lang="en-US" altLang="zh-CN" sz="2600" dirty="0"/>
              <a:t>FeCl</a:t>
            </a:r>
            <a:r>
              <a:rPr lang="en-US" altLang="zh-CN" sz="2600" baseline="-25000" dirty="0"/>
              <a:t>3</a:t>
            </a:r>
            <a:r>
              <a:rPr lang="en-US" sz="2600" dirty="0"/>
              <a:t>  + </a:t>
            </a:r>
            <a:r>
              <a:rPr lang="en-US" altLang="zh-CN" sz="2600" dirty="0"/>
              <a:t>3</a:t>
            </a:r>
            <a:r>
              <a:rPr lang="en-US" sz="2600" dirty="0"/>
              <a:t> H</a:t>
            </a:r>
            <a:r>
              <a:rPr lang="en-US" sz="2600" baseline="-25000" dirty="0"/>
              <a:t>2</a:t>
            </a:r>
            <a:r>
              <a:rPr lang="en-US" sz="2600" dirty="0"/>
              <a:t>O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7298" y="4681990"/>
            <a:ext cx="27004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 </a:t>
            </a:r>
            <a:r>
              <a:rPr lang="en-US" altLang="zh-CN" sz="2600" dirty="0"/>
              <a:t>AlCl</a:t>
            </a:r>
            <a:r>
              <a:rPr lang="en-US" altLang="zh-CN" sz="2600" baseline="-25000" dirty="0"/>
              <a:t>3</a:t>
            </a:r>
            <a:r>
              <a:rPr lang="en-US" sz="2600" dirty="0"/>
              <a:t>  + </a:t>
            </a:r>
            <a:r>
              <a:rPr lang="en-US" altLang="zh-CN" sz="2600" dirty="0"/>
              <a:t>3</a:t>
            </a:r>
            <a:r>
              <a:rPr lang="en-US" sz="2600" dirty="0"/>
              <a:t> H</a:t>
            </a:r>
            <a:r>
              <a:rPr lang="en-US" sz="2600" baseline="-25000" dirty="0"/>
              <a:t>2</a:t>
            </a:r>
            <a:r>
              <a:rPr lang="en-US" sz="2600" dirty="0"/>
              <a:t>O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638" y="5298029"/>
            <a:ext cx="27004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 </a:t>
            </a:r>
            <a:r>
              <a:rPr lang="en-US" altLang="zh-CN" sz="2600" dirty="0"/>
              <a:t>NaAlO</a:t>
            </a:r>
            <a:r>
              <a:rPr lang="en-US" altLang="zh-CN" sz="2600" baseline="-25000" dirty="0"/>
              <a:t>2</a:t>
            </a:r>
            <a:r>
              <a:rPr lang="en-US" sz="2600" dirty="0"/>
              <a:t>  +  H</a:t>
            </a:r>
            <a:r>
              <a:rPr lang="en-US" sz="2600" baseline="-25000" dirty="0"/>
              <a:t>2</a:t>
            </a:r>
            <a:r>
              <a:rPr lang="en-US" sz="2600" dirty="0"/>
              <a:t>O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user\Desktop\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22848" y="722376"/>
            <a:ext cx="2157984" cy="2157984"/>
          </a:xfrm>
          <a:prstGeom prst="rect">
            <a:avLst/>
          </a:prstGeom>
          <a:noFill/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9" y="1196722"/>
            <a:ext cx="7920038" cy="5362574"/>
          </a:xfrm>
        </p:spPr>
        <p:txBody>
          <a:bodyPr>
            <a:noAutofit/>
          </a:bodyPr>
          <a:lstStyle/>
          <a:p>
            <a:pPr marL="342900" indent="-342900" algn="l">
              <a:buClrTx/>
              <a:buSzPct val="100000"/>
            </a:pPr>
            <a:r>
              <a:rPr lang="zh-CN" altLang="en-US" sz="2800" dirty="0"/>
              <a:t>过氧化氢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无色粘稠液体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挥发性比水小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密度比水大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分子间有较强的氢键，沸点比水高</a:t>
            </a:r>
            <a:endParaRPr lang="en-US" altLang="zh-CN" sz="2800" dirty="0"/>
          </a:p>
          <a:p>
            <a:pPr marL="342900" indent="-342900" algn="l"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水溶液称双氧水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用途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 ：消毒杀菌剂、漂白剂</a:t>
            </a: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204344"/>
            <a:ext cx="7229951" cy="87058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14.3.2 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过氧化物和超氧化物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1026" name="Picture 2" descr="C:\Users\user\Desktop\h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42432" y="4772560"/>
            <a:ext cx="2415540" cy="1364780"/>
          </a:xfrm>
          <a:prstGeom prst="rect">
            <a:avLst/>
          </a:prstGeom>
          <a:noFill/>
        </p:spPr>
      </p:pic>
      <p:sp>
        <p:nvSpPr>
          <p:cNvPr id="1028" name="AutoShape 4" descr="Image result for 过氧化氢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9" y="1196722"/>
            <a:ext cx="7920038" cy="5362574"/>
          </a:xfrm>
        </p:spPr>
        <p:txBody>
          <a:bodyPr>
            <a:noAutofit/>
          </a:bodyPr>
          <a:lstStyle/>
          <a:p>
            <a:pPr marL="342900" indent="-342900" algn="l">
              <a:buClrTx/>
              <a:buSzPct val="100000"/>
            </a:pPr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342900" indent="-342900" algn="l"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水溶液呈弱酸性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不稳定易分解  </a:t>
            </a:r>
            <a:endParaRPr lang="en-US" altLang="zh-CN" sz="2800" dirty="0"/>
          </a:p>
          <a:p>
            <a:pPr marL="800100" lvl="1" indent="-342900" algn="l">
              <a:buSzPct val="100000"/>
              <a:buFont typeface="Wingdings" pitchFamily="2" charset="2"/>
              <a:buChar char="Ø"/>
            </a:pPr>
            <a:r>
              <a:rPr lang="zh-CN" altLang="en-US" sz="2400" dirty="0"/>
              <a:t>见光，遇碱、多数金属氧化物时分解较快</a:t>
            </a:r>
            <a:endParaRPr lang="en-US" altLang="zh-CN" sz="2400" dirty="0"/>
          </a:p>
          <a:p>
            <a:pPr marL="342900" indent="-342900" algn="l">
              <a:buClrTx/>
              <a:buSzPct val="100000"/>
            </a:pPr>
            <a:r>
              <a:rPr lang="en-US" altLang="zh-CN" sz="2800" dirty="0"/>
              <a:t>	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 	      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保存：棕色瓶、塑料瓶、阴凉处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具氧化性：被还原为水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具还原性：被氧化为氧气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25758"/>
            <a:ext cx="7229951" cy="87058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过氧化氢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1026" name="Picture 2" descr="C:\Users\user\Desktop\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42432" y="4772560"/>
            <a:ext cx="2415540" cy="1364780"/>
          </a:xfrm>
          <a:prstGeom prst="rect">
            <a:avLst/>
          </a:prstGeom>
          <a:noFill/>
        </p:spPr>
      </p:pic>
      <p:sp>
        <p:nvSpPr>
          <p:cNvPr id="1028" name="AutoShape 4" descr="Image result for 过氧化氢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011251" y="3110490"/>
            <a:ext cx="838200" cy="307777"/>
            <a:chOff x="2819400" y="5867400"/>
            <a:chExt cx="838200" cy="3077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172117"/>
              <a:ext cx="838200" cy="3060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光照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8" y="745957"/>
            <a:ext cx="8692992" cy="5362574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ClrTx/>
              <a:buSzPct val="100000"/>
            </a:pPr>
            <a:r>
              <a:rPr lang="en-US" altLang="zh-CN" sz="2800" dirty="0"/>
              <a:t>		</a:t>
            </a:r>
            <a:r>
              <a:rPr lang="en-US" altLang="zh-CN" sz="2000" dirty="0"/>
              <a:t>	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-1	           -2		  -2</a:t>
            </a:r>
            <a:endParaRPr lang="en-US" altLang="zh-CN" sz="2000" b="1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800" dirty="0" err="1"/>
              <a:t>PbS</a:t>
            </a:r>
            <a:r>
              <a:rPr lang="en-US" altLang="zh-CN" sz="2800" dirty="0"/>
              <a:t> + 4 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 4</a:t>
            </a:r>
            <a:r>
              <a:rPr lang="en-US" altLang="zh-CN" sz="2800" dirty="0"/>
              <a:t>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</a:p>
          <a:p>
            <a:pPr marL="342900" indent="-342900" algn="l">
              <a:buClrTx/>
              <a:buSzPct val="100000"/>
            </a:pPr>
            <a:r>
              <a:rPr lang="zh-CN" altLang="en-US" sz="2800" dirty="0"/>
              <a:t>氧化数下降，过氧化氢被还原为水，作为氧化剂。</a:t>
            </a:r>
            <a:endParaRPr lang="en-US" altLang="zh-CN" sz="2800" dirty="0"/>
          </a:p>
          <a:p>
            <a:pPr marL="342900" indent="-342900" algn="l">
              <a:buClrTx/>
              <a:buSzPct val="100000"/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				             -1	                                       0</a:t>
            </a:r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600" dirty="0"/>
              <a:t>2KMnO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 + 3H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+ 5H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r>
              <a:rPr lang="en-US" altLang="zh-CN" sz="2600" dirty="0">
                <a:sym typeface="Wingdings" pitchFamily="2" charset="2"/>
              </a:rPr>
              <a:t> </a:t>
            </a:r>
            <a:r>
              <a:rPr lang="en-US" altLang="zh-CN" sz="2600" dirty="0"/>
              <a:t>K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+2MnSO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+ 5O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+ 8H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 </a:t>
            </a:r>
          </a:p>
          <a:p>
            <a:pPr marL="342900" indent="-342900" algn="l">
              <a:buClrTx/>
              <a:buSzPct val="100000"/>
            </a:pPr>
            <a:r>
              <a:rPr lang="zh-CN" altLang="en-US" sz="2800" dirty="0"/>
              <a:t>氧化数上升，过氧化氢被氧化为氧气，作为还原剂。</a:t>
            </a:r>
            <a:endParaRPr lang="en-US" altLang="zh-CN" sz="2600" dirty="0"/>
          </a:p>
          <a:p>
            <a:pPr marL="342900" indent="-342900" algn="l">
              <a:buClrTx/>
              <a:buSzPct val="100000"/>
            </a:pP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800" dirty="0"/>
              <a:t>Ag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2 Ag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800" dirty="0"/>
              <a:t>K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7 </a:t>
            </a:r>
            <a:r>
              <a:rPr lang="en-US" altLang="zh-CN" sz="2800" dirty="0"/>
              <a:t>+ 4H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+3H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K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+Cr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+ 7H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O+ 3O</a:t>
            </a:r>
            <a:r>
              <a:rPr lang="en-US" altLang="zh-CN" sz="2800" baseline="-25000" dirty="0"/>
              <a:t>2  </a:t>
            </a:r>
            <a:r>
              <a:rPr lang="en-US" altLang="zh-CN" sz="2800" dirty="0"/>
              <a:t> </a:t>
            </a:r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过氧化氢作为</a:t>
            </a:r>
            <a:r>
              <a:rPr lang="zh-CN" altLang="en-US" sz="2800" u="sng" dirty="0"/>
              <a:t>            </a:t>
            </a:r>
            <a:r>
              <a:rPr lang="zh-CN" altLang="en-US" sz="2800" dirty="0"/>
              <a:t>剂。</a:t>
            </a:r>
            <a:endParaRPr lang="en-US" altLang="zh-CN" sz="2800" baseline="-25000" dirty="0"/>
          </a:p>
          <a:p>
            <a:pPr marL="342900" indent="-342900" algn="l">
              <a:buClrTx/>
              <a:buSzPct val="100000"/>
            </a:pPr>
            <a:endParaRPr lang="en-US" altLang="zh-CN" sz="2800" baseline="-25000" dirty="0"/>
          </a:p>
          <a:p>
            <a:pPr marL="342900" indent="-342900" algn="l">
              <a:buClrTx/>
              <a:buSzPct val="100000"/>
            </a:pP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90153"/>
            <a:ext cx="7229951" cy="87058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过氧化氢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14282" y="514571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还原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47812" y="4200659"/>
            <a:ext cx="2467377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807040" y="4726546"/>
            <a:ext cx="4118019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779136" y="2676659"/>
            <a:ext cx="3939861" cy="457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47730" y="991673"/>
            <a:ext cx="8577329" cy="5666704"/>
          </a:xfrm>
        </p:spPr>
        <p:txBody>
          <a:bodyPr>
            <a:normAutofit lnSpcReduction="10000"/>
          </a:bodyPr>
          <a:lstStyle/>
          <a:p>
            <a:pPr algn="l"/>
            <a:r>
              <a:rPr lang="zh-CN" altLang="en-US" sz="2800" u="sng" dirty="0"/>
              <a:t>活动</a:t>
            </a:r>
            <a:r>
              <a:rPr lang="en-US" altLang="zh-CN" sz="2800" u="sng" dirty="0"/>
              <a:t>9</a:t>
            </a:r>
          </a:p>
          <a:p>
            <a:pPr algn="l">
              <a:buFont typeface="Wingdings" pitchFamily="2" charset="2"/>
              <a:buChar char="Ø"/>
            </a:pPr>
            <a:r>
              <a:rPr lang="zh-CN" altLang="en-US" sz="2800" dirty="0"/>
              <a:t>溶液由浅绿色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/>
              <a:t>黄色。</a:t>
            </a:r>
            <a:endParaRPr lang="en-US" altLang="zh-CN" sz="2800" dirty="0"/>
          </a:p>
          <a:p>
            <a:pPr algn="l">
              <a:buFont typeface="Wingdings" pitchFamily="2" charset="2"/>
              <a:buChar char="Ø"/>
            </a:pPr>
            <a:r>
              <a:rPr lang="zh-CN" altLang="en-US" sz="2800" dirty="0"/>
              <a:t>说明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有氧化性。</a:t>
            </a:r>
            <a:endParaRPr lang="en-US" altLang="zh-CN" sz="2800" dirty="0"/>
          </a:p>
          <a:p>
            <a:pPr algn="l">
              <a:buFont typeface="Wingdings" pitchFamily="2" charset="2"/>
              <a:buChar char="Ø"/>
            </a:pPr>
            <a:r>
              <a:rPr lang="en-US" altLang="zh-CN" sz="2800" dirty="0"/>
              <a:t>     FeSO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 + 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     </a:t>
            </a:r>
            <a:r>
              <a:rPr lang="en-US" altLang="zh-CN" sz="2800" dirty="0">
                <a:sym typeface="Wingdings" pitchFamily="2" charset="2"/>
              </a:rPr>
              <a:t>    Fe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 +   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</a:p>
          <a:p>
            <a:pPr algn="l"/>
            <a:r>
              <a:rPr lang="zh-CN" altLang="en-US" sz="2800" u="sng" dirty="0"/>
              <a:t>活动</a:t>
            </a:r>
            <a:r>
              <a:rPr lang="en-US" altLang="zh-CN" sz="2800" u="sng" dirty="0"/>
              <a:t>10</a:t>
            </a:r>
          </a:p>
          <a:p>
            <a:pPr algn="l">
              <a:buFont typeface="Wingdings" pitchFamily="2" charset="2"/>
              <a:buChar char="Ø"/>
            </a:pPr>
            <a:r>
              <a:rPr lang="en-US" altLang="zh-CN" sz="2800" dirty="0"/>
              <a:t>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COO)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 err="1"/>
              <a:t>Pb</a:t>
            </a:r>
            <a:r>
              <a:rPr lang="en-US" altLang="zh-CN" sz="2800" dirty="0"/>
              <a:t> + 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b="1" dirty="0" err="1">
                <a:sym typeface="Wingdings" pitchFamily="2" charset="2"/>
              </a:rPr>
              <a:t>PbS</a:t>
            </a:r>
            <a:r>
              <a:rPr lang="en-US" altLang="zh-CN" sz="2800" b="1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+ 2 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COONa</a:t>
            </a:r>
          </a:p>
          <a:p>
            <a:pPr algn="l"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有黑色沉淀生成，滴入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后，黑色沉淀变成白色。</a:t>
            </a:r>
            <a:endParaRPr lang="en-US" altLang="zh-CN" sz="2800" dirty="0"/>
          </a:p>
          <a:p>
            <a:pPr algn="l">
              <a:buFont typeface="Wingdings" pitchFamily="2" charset="2"/>
              <a:buChar char="Ø"/>
            </a:pPr>
            <a:r>
              <a:rPr lang="zh-CN" altLang="en-US" sz="2800" dirty="0"/>
              <a:t>说明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有氧化性。</a:t>
            </a:r>
            <a:endParaRPr lang="en-US" altLang="zh-CN" sz="2800" dirty="0"/>
          </a:p>
          <a:p>
            <a:pPr algn="l">
              <a:buFont typeface="Wingdings" pitchFamily="2" charset="2"/>
              <a:buChar char="Ø"/>
            </a:pPr>
            <a:r>
              <a:rPr lang="en-US" altLang="zh-CN" sz="2800" dirty="0" err="1"/>
              <a:t>PbS</a:t>
            </a:r>
            <a:r>
              <a:rPr lang="en-US" altLang="zh-CN" sz="2800" dirty="0"/>
              <a:t> + 4 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 4</a:t>
            </a:r>
            <a:r>
              <a:rPr lang="en-US" altLang="zh-CN" sz="2800" dirty="0"/>
              <a:t>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</a:p>
          <a:p>
            <a:pPr algn="l"/>
            <a:r>
              <a:rPr lang="zh-CN" altLang="en-US" sz="2800" u="sng" dirty="0"/>
              <a:t>活动</a:t>
            </a:r>
            <a:r>
              <a:rPr lang="en-US" altLang="zh-CN" sz="2800" u="sng" dirty="0"/>
              <a:t>11</a:t>
            </a:r>
          </a:p>
          <a:p>
            <a:pPr marL="342900" indent="-342900" algn="l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dirty="0">
                <a:sym typeface="+mn-ea"/>
              </a:rPr>
              <a:t>紫色溶液褪色（紫色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无色</a:t>
            </a:r>
            <a:r>
              <a:rPr lang="zh-CN" altLang="en-US" sz="2800" dirty="0">
                <a:sym typeface="+mn-ea"/>
              </a:rPr>
              <a:t>），有少量气泡生成</a:t>
            </a:r>
            <a:endParaRPr lang="en-US" altLang="zh-CN" sz="2800" dirty="0">
              <a:sym typeface="+mn-ea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>
                <a:sym typeface="+mn-ea"/>
              </a:rPr>
              <a:t>说明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有还原性。</a:t>
            </a:r>
            <a:endParaRPr lang="en-US" altLang="zh-CN" sz="2800" baseline="30000" dirty="0">
              <a:sym typeface="+mn-ea"/>
            </a:endParaRPr>
          </a:p>
          <a:p>
            <a:pPr algn="l">
              <a:buClrTx/>
              <a:buSzPct val="100000"/>
              <a:buFont typeface="Wingdings" pitchFamily="2" charset="2"/>
              <a:buChar char="Ø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321283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过氧化氢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39329" y="2317053"/>
            <a:ext cx="13981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+ H</a:t>
            </a:r>
            <a:r>
              <a:rPr lang="en-US" altLang="zh-CN" sz="28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sz="2800" b="1" dirty="0">
                <a:solidFill>
                  <a:srgbClr val="7030A0"/>
                </a:solidFill>
              </a:rPr>
              <a:t>SO</a:t>
            </a:r>
            <a:r>
              <a:rPr lang="en-US" altLang="zh-CN" sz="2800" b="1" baseline="-25000" dirty="0">
                <a:solidFill>
                  <a:srgbClr val="7030A0"/>
                </a:solidFill>
              </a:rPr>
              <a:t>4</a:t>
            </a:r>
            <a:r>
              <a:rPr lang="en-US" altLang="zh-CN" sz="2800" b="1" dirty="0">
                <a:solidFill>
                  <a:srgbClr val="7030A0"/>
                </a:solidFill>
              </a:rPr>
              <a:t> 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0203" y="2327784"/>
            <a:ext cx="4491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2 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92655" y="2325636"/>
            <a:ext cx="4491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2 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236373"/>
            <a:ext cx="7920038" cy="5422004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/>
              <a:t>交流分享</a:t>
            </a:r>
            <a:endParaRPr lang="en-US" altLang="zh-CN" sz="2800" dirty="0"/>
          </a:p>
          <a:p>
            <a:pPr algn="l"/>
            <a:r>
              <a:rPr lang="zh-CN" altLang="en-US" sz="2800" dirty="0"/>
              <a:t>气泡是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分解产生的氧气。伤口处的生物酶可能对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的分解起到催化作用。</a:t>
            </a:r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r>
              <a:rPr lang="zh-CN" altLang="en-US" sz="2800" dirty="0"/>
              <a:t>实验室制取</a:t>
            </a:r>
            <a:endParaRPr lang="en-US" altLang="zh-CN" sz="2800" dirty="0"/>
          </a:p>
          <a:p>
            <a:pPr algn="l"/>
            <a:r>
              <a:rPr lang="en-US" altLang="zh-CN" sz="2800" dirty="0"/>
              <a:t>BaO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BaSO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</a:p>
          <a:p>
            <a:pPr algn="l"/>
            <a:endParaRPr lang="en-US" altLang="zh-CN" sz="2800" dirty="0"/>
          </a:p>
          <a:p>
            <a:pPr algn="l"/>
            <a:r>
              <a:rPr lang="zh-CN" altLang="en-US" sz="2800" dirty="0"/>
              <a:t>工业制取</a:t>
            </a:r>
            <a:endParaRPr lang="en-US" altLang="zh-CN" sz="2800" dirty="0"/>
          </a:p>
          <a:p>
            <a:pPr algn="l"/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8</a:t>
            </a:r>
            <a:r>
              <a:rPr lang="en-US" altLang="zh-CN" sz="2800" dirty="0"/>
              <a:t> 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</a:t>
            </a:r>
            <a:r>
              <a:rPr lang="en-US" altLang="zh-CN" sz="2800" dirty="0">
                <a:sym typeface="Wingdings" pitchFamily="2" charset="2"/>
              </a:rPr>
              <a:t>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321283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过氧化氢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8" y="1440562"/>
            <a:ext cx="8424767" cy="5362574"/>
          </a:xfrm>
        </p:spPr>
        <p:txBody>
          <a:bodyPr>
            <a:noAutofit/>
          </a:bodyPr>
          <a:lstStyle/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浅黄色粉末、腐蚀性、与易燃物接触会引起火灾或爆炸。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过氧化物</a:t>
            </a:r>
            <a:r>
              <a:rPr lang="en-US" altLang="zh-CN" sz="2800" dirty="0"/>
              <a:t>/</a:t>
            </a:r>
            <a:r>
              <a:rPr lang="zh-CN" altLang="en-US" sz="2800" dirty="0"/>
              <a:t>超氧化物 </a:t>
            </a:r>
            <a:r>
              <a:rPr lang="en-US" altLang="zh-CN" sz="2800" dirty="0"/>
              <a:t>+ </a:t>
            </a:r>
            <a:r>
              <a:rPr lang="zh-CN" altLang="en-US" sz="2800" dirty="0"/>
              <a:t>水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碱 </a:t>
            </a:r>
            <a:r>
              <a:rPr lang="en-US" altLang="zh-CN" sz="2800" dirty="0">
                <a:sym typeface="Wingdings" pitchFamily="2" charset="2"/>
              </a:rPr>
              <a:t>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800100" lvl="1" indent="-342900" algn="l">
              <a:buSzPct val="100000"/>
              <a:buFont typeface="Wingdings" pitchFamily="2" charset="2"/>
              <a:buChar char="Ø"/>
            </a:pPr>
            <a:r>
              <a:rPr lang="en-US" altLang="zh-CN" sz="2600" dirty="0">
                <a:sym typeface="Wingdings" pitchFamily="2" charset="2"/>
              </a:rPr>
              <a:t>2 Na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 + 2</a:t>
            </a:r>
            <a:r>
              <a:rPr lang="en-US" altLang="zh-CN" sz="2600" dirty="0"/>
              <a:t>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 </a:t>
            </a:r>
            <a:r>
              <a:rPr lang="en-US" altLang="zh-CN" sz="2600" dirty="0">
                <a:sym typeface="Wingdings" pitchFamily="2" charset="2"/>
              </a:rPr>
              <a:t> 4 </a:t>
            </a:r>
            <a:r>
              <a:rPr lang="en-US" altLang="zh-CN" sz="2600" dirty="0" err="1">
                <a:sym typeface="Wingdings" pitchFamily="2" charset="2"/>
              </a:rPr>
              <a:t>NaOH</a:t>
            </a:r>
            <a:r>
              <a:rPr lang="en-US" altLang="zh-CN" sz="2600" dirty="0">
                <a:sym typeface="Wingdings" pitchFamily="2" charset="2"/>
              </a:rPr>
              <a:t> +  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2</a:t>
            </a:r>
            <a:endParaRPr lang="en-US" altLang="zh-CN" dirty="0">
              <a:sym typeface="Wingdings" pitchFamily="2" charset="2"/>
            </a:endParaRPr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过氧化物</a:t>
            </a:r>
            <a:r>
              <a:rPr lang="en-US" altLang="zh-CN" sz="2800" dirty="0">
                <a:sym typeface="Wingdings" pitchFamily="2" charset="2"/>
              </a:rPr>
              <a:t>/</a:t>
            </a:r>
            <a:r>
              <a:rPr lang="zh-CN" altLang="en-US" sz="2800" dirty="0">
                <a:sym typeface="Wingdings" pitchFamily="2" charset="2"/>
              </a:rPr>
              <a:t>超氧化物 </a:t>
            </a:r>
            <a:r>
              <a:rPr lang="en-US" altLang="zh-CN" sz="2800" dirty="0">
                <a:sym typeface="Wingdings" pitchFamily="2" charset="2"/>
              </a:rPr>
              <a:t>+ CO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 </a:t>
            </a:r>
            <a:r>
              <a:rPr lang="zh-CN" altLang="en-US" sz="2800" dirty="0">
                <a:sym typeface="Wingdings" pitchFamily="2" charset="2"/>
              </a:rPr>
              <a:t>碳酸盐 </a:t>
            </a:r>
            <a:r>
              <a:rPr lang="en-US" altLang="zh-CN" sz="2800" dirty="0">
                <a:sym typeface="Wingdings" pitchFamily="2" charset="2"/>
              </a:rPr>
              <a:t>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800100" lvl="2" indent="-342900" algn="l">
              <a:spcBef>
                <a:spcPts val="1000"/>
              </a:spcBef>
              <a:buSzPct val="100000"/>
              <a:buFont typeface="Wingdings" pitchFamily="2" charset="2"/>
              <a:buChar char="Ø"/>
            </a:pPr>
            <a:r>
              <a:rPr lang="en-US" altLang="zh-CN" sz="2600" dirty="0">
                <a:sym typeface="Wingdings" pitchFamily="2" charset="2"/>
              </a:rPr>
              <a:t>2 Na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 + 2</a:t>
            </a:r>
            <a:r>
              <a:rPr lang="en-US" altLang="zh-CN" sz="2600" dirty="0"/>
              <a:t> CO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r>
              <a:rPr lang="en-US" altLang="zh-CN" sz="2600" dirty="0">
                <a:sym typeface="Wingdings" pitchFamily="2" charset="2"/>
              </a:rPr>
              <a:t> 2 Na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CO</a:t>
            </a:r>
            <a:r>
              <a:rPr lang="en-US" altLang="zh-CN" sz="2600" baseline="-25000" dirty="0">
                <a:sym typeface="Wingdings" pitchFamily="2" charset="2"/>
              </a:rPr>
              <a:t>3</a:t>
            </a:r>
            <a:r>
              <a:rPr lang="en-US" altLang="zh-CN" sz="2600" dirty="0">
                <a:sym typeface="Wingdings" pitchFamily="2" charset="2"/>
              </a:rPr>
              <a:t> +  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800" dirty="0"/>
              <a:t> </a:t>
            </a:r>
            <a:r>
              <a:rPr lang="zh-CN" altLang="en-US" sz="2800" dirty="0"/>
              <a:t>用途：密闭环境中的氧气发生剂</a:t>
            </a:r>
            <a:endParaRPr lang="en-US" altLang="zh-CN" sz="2800" dirty="0"/>
          </a:p>
          <a:p>
            <a:pPr marL="342900" indent="-342900" algn="l">
              <a:buClrTx/>
              <a:buSzPct val="100000"/>
            </a:pPr>
            <a:endParaRPr lang="en-US" altLang="zh-CN" sz="2800" baseline="-25000" dirty="0"/>
          </a:p>
          <a:p>
            <a:pPr marL="342900" indent="-342900" algn="l">
              <a:buClrTx/>
              <a:buSzPct val="100000"/>
            </a:pPr>
            <a:endParaRPr lang="en-US" altLang="zh-CN" sz="2800" baseline="-250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en-US" altLang="zh-CN" sz="2800" baseline="-25000" dirty="0"/>
              <a:t>  </a:t>
            </a:r>
            <a:r>
              <a:rPr lang="en-US" altLang="zh-CN" sz="2800" dirty="0"/>
              <a:t> </a:t>
            </a:r>
            <a:r>
              <a:rPr lang="zh-CN" altLang="en-US" sz="2800" dirty="0"/>
              <a:t>过氧化钠着火是否可用水扑灭？为什么？</a:t>
            </a: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204344"/>
            <a:ext cx="7229951" cy="87058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过氧化钠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6145" name="Picture 1" descr="C:\Users\user\Desktop\z.jpg"/>
          <p:cNvPicPr>
            <a:picLocks noChangeAspect="1" noChangeArrowheads="1"/>
          </p:cNvPicPr>
          <p:nvPr/>
        </p:nvPicPr>
        <p:blipFill>
          <a:blip r:embed="rId2"/>
          <a:srcRect t="57171"/>
          <a:stretch>
            <a:fillRect/>
          </a:stretch>
        </p:blipFill>
        <p:spPr bwMode="auto">
          <a:xfrm>
            <a:off x="3656076" y="243840"/>
            <a:ext cx="3733800" cy="1219772"/>
          </a:xfrm>
          <a:prstGeom prst="rect">
            <a:avLst/>
          </a:prstGeom>
          <a:noFill/>
        </p:spPr>
      </p:pic>
      <p:sp>
        <p:nvSpPr>
          <p:cNvPr id="5" name="Rounded Rectangle 4"/>
          <p:cNvSpPr/>
          <p:nvPr/>
        </p:nvSpPr>
        <p:spPr>
          <a:xfrm>
            <a:off x="4036454" y="2758225"/>
            <a:ext cx="1939344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008550" y="3760630"/>
            <a:ext cx="1939344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0304" y="1236373"/>
            <a:ext cx="8398197" cy="5422004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u="sng" dirty="0"/>
              <a:t>活动</a:t>
            </a:r>
            <a:r>
              <a:rPr lang="en-US" altLang="zh-CN" sz="2800" u="sng" dirty="0"/>
              <a:t>12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dirty="0"/>
              <a:t>剧烈反应，放热，有大量气泡，带余烬的木枝复燃。</a:t>
            </a:r>
            <a:endParaRPr lang="en-US" altLang="zh-CN" sz="2800" dirty="0"/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altLang="zh-CN" sz="2800" dirty="0">
                <a:sym typeface="Wingdings" pitchFamily="2" charset="2"/>
              </a:rPr>
              <a:t>2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</a:t>
            </a:r>
            <a:r>
              <a:rPr lang="en-US" altLang="zh-CN" sz="2800" dirty="0"/>
              <a:t>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</a:t>
            </a:r>
            <a:r>
              <a:rPr lang="en-US" altLang="zh-CN" sz="2800" dirty="0">
                <a:sym typeface="Wingdings" pitchFamily="2" charset="2"/>
              </a:rPr>
              <a:t> 4 </a:t>
            </a:r>
            <a:r>
              <a:rPr lang="en-US" altLang="zh-CN" sz="2800" dirty="0" err="1">
                <a:sym typeface="Wingdings" pitchFamily="2" charset="2"/>
              </a:rPr>
              <a:t>NaOH</a:t>
            </a:r>
            <a:r>
              <a:rPr lang="en-US" altLang="zh-CN" sz="2800" dirty="0">
                <a:sym typeface="Wingdings" pitchFamily="2" charset="2"/>
              </a:rPr>
              <a:t> +  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altLang="zh-CN" sz="2800" dirty="0"/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u="sng" dirty="0"/>
              <a:t>活动</a:t>
            </a:r>
            <a:r>
              <a:rPr lang="en-US" altLang="zh-CN" sz="2800" u="sng" dirty="0"/>
              <a:t>13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黄色粉末逐渐变成白色，</a:t>
            </a:r>
            <a:r>
              <a:rPr lang="zh-CN" altLang="en-US" sz="2800" dirty="0"/>
              <a:t>带余烬的木枝复燃。</a:t>
            </a:r>
            <a:endParaRPr lang="en-US" altLang="zh-CN" sz="2800" dirty="0">
              <a:sym typeface="Wingdings" pitchFamily="2" charset="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altLang="zh-CN" sz="2600" dirty="0">
                <a:sym typeface="Wingdings" pitchFamily="2" charset="2"/>
              </a:rPr>
              <a:t>2 Na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 + 2</a:t>
            </a:r>
            <a:r>
              <a:rPr lang="en-US" altLang="zh-CN" sz="2600" dirty="0"/>
              <a:t> CO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r>
              <a:rPr lang="en-US" altLang="zh-CN" sz="2600" dirty="0">
                <a:sym typeface="Wingdings" pitchFamily="2" charset="2"/>
              </a:rPr>
              <a:t> 2 Na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CO</a:t>
            </a:r>
            <a:r>
              <a:rPr lang="en-US" altLang="zh-CN" sz="2600" baseline="-25000" dirty="0">
                <a:sym typeface="Wingdings" pitchFamily="2" charset="2"/>
              </a:rPr>
              <a:t>3</a:t>
            </a:r>
            <a:r>
              <a:rPr lang="en-US" altLang="zh-CN" sz="2600" dirty="0">
                <a:sym typeface="Wingdings" pitchFamily="2" charset="2"/>
              </a:rPr>
              <a:t> +  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endParaRPr lang="en-US" altLang="zh-CN" sz="2800" dirty="0"/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US" altLang="zh-CN" sz="2800" baseline="30000" dirty="0"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Tx/>
              <a:buSzPct val="100000"/>
              <a:buFont typeface="Wingdings" pitchFamily="2" charset="2"/>
              <a:buChar char="Ø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321283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过氧化钠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1008" y="1891666"/>
            <a:ext cx="8424767" cy="4167758"/>
          </a:xfrm>
        </p:spPr>
        <p:txBody>
          <a:bodyPr>
            <a:noAutofit/>
          </a:bodyPr>
          <a:lstStyle/>
          <a:p>
            <a:pPr marL="342900" indent="-342900" algn="l"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制取：钾在过量氧气中燃烧 </a:t>
            </a:r>
            <a:r>
              <a:rPr lang="en-US" altLang="zh-CN" sz="2800" dirty="0"/>
              <a:t>K+ O</a:t>
            </a:r>
            <a:r>
              <a:rPr lang="en-US" altLang="zh-CN" sz="2800" baseline="-25000" dirty="0"/>
              <a:t>2 (</a:t>
            </a:r>
            <a:r>
              <a:rPr lang="zh-CN" altLang="en-US" sz="2800" baseline="-25000" dirty="0"/>
              <a:t>过量</a:t>
            </a:r>
            <a:r>
              <a:rPr lang="en-US" altLang="zh-CN" sz="2800" baseline="-25000" dirty="0"/>
              <a:t>)</a:t>
            </a:r>
            <a:r>
              <a:rPr lang="en-US" altLang="zh-CN" sz="2800" dirty="0">
                <a:sym typeface="Wingdings" pitchFamily="2" charset="2"/>
              </a:rPr>
              <a:t> KO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黄色晶体、、与易燃物接触会引起火灾或爆炸。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吸湿性强</a:t>
            </a:r>
            <a:r>
              <a:rPr lang="en-US" altLang="zh-CN" sz="2800" dirty="0"/>
              <a:t>	  </a:t>
            </a:r>
            <a:r>
              <a:rPr lang="en-US" altLang="zh-CN" sz="2800" dirty="0">
                <a:sym typeface="Wingdings" pitchFamily="2" charset="2"/>
              </a:rPr>
              <a:t>4 KO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</a:t>
            </a:r>
            <a:r>
              <a:rPr lang="en-US" altLang="zh-CN" sz="2800" dirty="0"/>
              <a:t>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</a:t>
            </a:r>
            <a:r>
              <a:rPr lang="en-US" altLang="zh-CN" sz="2800" dirty="0">
                <a:sym typeface="Wingdings" pitchFamily="2" charset="2"/>
              </a:rPr>
              <a:t> 4 KOH +  3 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 marL="342900" indent="-342900" algn="l">
              <a:buSzPct val="100000"/>
              <a:buFont typeface="Wingdings" pitchFamily="2" charset="2"/>
              <a:buChar char="Ø"/>
            </a:pPr>
            <a:r>
              <a:rPr lang="zh-CN" altLang="en-US" sz="2800" dirty="0"/>
              <a:t>用途：防毒面罩</a:t>
            </a:r>
            <a:endParaRPr lang="en-US" altLang="zh-CN" sz="2600" baseline="-25000" dirty="0"/>
          </a:p>
          <a:p>
            <a:pPr marL="342900" indent="-342900"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600" dirty="0">
                <a:sym typeface="Wingdings" pitchFamily="2" charset="2"/>
              </a:rPr>
              <a:t>产生的</a:t>
            </a:r>
            <a:r>
              <a:rPr lang="en-US" altLang="zh-CN" sz="2600" dirty="0">
                <a:sym typeface="Wingdings" pitchFamily="2" charset="2"/>
              </a:rPr>
              <a:t>KOH</a:t>
            </a:r>
            <a:r>
              <a:rPr lang="zh-CN" altLang="en-US" sz="2600" dirty="0">
                <a:sym typeface="Wingdings" pitchFamily="2" charset="2"/>
              </a:rPr>
              <a:t>能吸收呼出的</a:t>
            </a:r>
            <a:r>
              <a:rPr lang="en-US" altLang="zh-CN" sz="2600" dirty="0">
                <a:sym typeface="Wingdings" pitchFamily="2" charset="2"/>
              </a:rPr>
              <a:t>CO</a:t>
            </a:r>
            <a:r>
              <a:rPr lang="en-US" altLang="zh-CN" sz="2600" baseline="-25000" dirty="0">
                <a:sym typeface="Wingdings" pitchFamily="2" charset="2"/>
              </a:rPr>
              <a:t>2 </a:t>
            </a:r>
            <a:endParaRPr lang="en-US" altLang="zh-CN" sz="2600" dirty="0">
              <a:sym typeface="Wingdings" pitchFamily="2" charset="2"/>
            </a:endParaRPr>
          </a:p>
          <a:p>
            <a:pPr marL="342900" indent="-342900" algn="l">
              <a:buClrTx/>
              <a:buSzPct val="100000"/>
            </a:pPr>
            <a:r>
              <a:rPr lang="en-US" altLang="zh-CN" sz="2600" dirty="0">
                <a:sym typeface="Wingdings" pitchFamily="2" charset="2"/>
              </a:rPr>
              <a:t>		KOH  + </a:t>
            </a:r>
            <a:r>
              <a:rPr lang="en-US" altLang="zh-CN" sz="2600" dirty="0"/>
              <a:t>CO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r>
              <a:rPr lang="en-US" altLang="zh-CN" sz="2600" dirty="0">
                <a:sym typeface="Wingdings" pitchFamily="2" charset="2"/>
              </a:rPr>
              <a:t> KHCO</a:t>
            </a:r>
            <a:r>
              <a:rPr lang="en-US" altLang="zh-CN" sz="2600" baseline="-25000" dirty="0">
                <a:sym typeface="Wingdings" pitchFamily="2" charset="2"/>
              </a:rPr>
              <a:t>3</a:t>
            </a:r>
            <a:r>
              <a:rPr lang="en-US" altLang="zh-CN" sz="2600" dirty="0">
                <a:sym typeface="Wingdings" pitchFamily="2" charset="2"/>
              </a:rPr>
              <a:t> </a:t>
            </a: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009" y="204344"/>
            <a:ext cx="7229951" cy="87058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超氧化钾</a:t>
            </a:r>
            <a:endParaRPr lang="en-US" altLang="zh-CN" sz="28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5121" name="Picture 1" descr="C:\Users\user\Desktop\c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09084" y="205867"/>
            <a:ext cx="2742692" cy="1686756"/>
          </a:xfrm>
          <a:prstGeom prst="rect">
            <a:avLst/>
          </a:prstGeom>
          <a:noFill/>
        </p:spPr>
      </p:pic>
      <p:pic>
        <p:nvPicPr>
          <p:cNvPr id="5122" name="Picture 2" descr="C:\Users\user\Desktop\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67107" y="3820431"/>
            <a:ext cx="1666875" cy="2743200"/>
          </a:xfrm>
          <a:prstGeom prst="rect">
            <a:avLst/>
          </a:prstGeom>
          <a:noFill/>
        </p:spPr>
      </p:pic>
      <p:sp>
        <p:nvSpPr>
          <p:cNvPr id="6" name="Rounded Rectangle 5"/>
          <p:cNvSpPr/>
          <p:nvPr/>
        </p:nvSpPr>
        <p:spPr>
          <a:xfrm>
            <a:off x="5053886" y="2925650"/>
            <a:ext cx="2042373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68310" y="1014937"/>
            <a:ext cx="7920038" cy="5649878"/>
          </a:xfrm>
        </p:spPr>
        <p:txBody>
          <a:bodyPr>
            <a:normAutofit lnSpcReduction="10000"/>
          </a:bodyPr>
          <a:lstStyle/>
          <a:p>
            <a:pPr marL="514350" indent="-514350" algn="l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altLang="zh-CN" sz="2800" dirty="0"/>
              <a:t>A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的水溶液是弱酸</a:t>
            </a:r>
            <a:endParaRPr lang="en-US" altLang="zh-CN" sz="2800" dirty="0"/>
          </a:p>
          <a:p>
            <a:pPr marL="514350" indent="-51435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/>
              <a:t>	B </a:t>
            </a:r>
            <a:r>
              <a:rPr lang="zh-CN" altLang="en-US" sz="2800" dirty="0"/>
              <a:t>是共价化合物</a:t>
            </a:r>
            <a:endParaRPr lang="en-US" altLang="zh-CN" sz="2800" dirty="0"/>
          </a:p>
          <a:p>
            <a:pPr marL="514350" indent="-51435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/>
              <a:t>	D </a:t>
            </a:r>
            <a:r>
              <a:rPr lang="zh-CN" altLang="en-US" sz="2800" dirty="0"/>
              <a:t>使</a:t>
            </a:r>
            <a:r>
              <a:rPr lang="en-US" altLang="zh-CN" sz="2800" dirty="0"/>
              <a:t>KMnO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zh-CN" altLang="en-US" sz="2800" dirty="0"/>
              <a:t>褪色是表现出其还原性</a:t>
            </a:r>
            <a:endParaRPr lang="en-US" altLang="zh-CN" sz="2800" dirty="0"/>
          </a:p>
          <a:p>
            <a:pPr marL="514350" indent="-51435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/>
              <a:t>	</a:t>
            </a:r>
            <a:r>
              <a:rPr lang="en-US" altLang="zh-CN" sz="2800" dirty="0" err="1"/>
              <a:t>Ans:C</a:t>
            </a:r>
            <a:endParaRPr lang="en-US" altLang="zh-CN" sz="2800" dirty="0"/>
          </a:p>
          <a:p>
            <a:pPr marL="514350" indent="-51435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/>
              <a:t>2. 	A MnO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加速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分解</a:t>
            </a:r>
            <a:endParaRPr lang="en-US" altLang="zh-CN" sz="2800" dirty="0"/>
          </a:p>
          <a:p>
            <a:pPr marL="514350" indent="-51435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/>
              <a:t>	BC </a:t>
            </a:r>
            <a:r>
              <a:rPr lang="zh-CN" altLang="en-US" sz="2800" dirty="0"/>
              <a:t>碳酸盐</a:t>
            </a:r>
            <a:r>
              <a:rPr lang="en-US" altLang="zh-CN" sz="2800" dirty="0"/>
              <a:t>+</a:t>
            </a:r>
            <a:r>
              <a:rPr lang="zh-CN" altLang="en-US" sz="2800" dirty="0"/>
              <a:t>酸</a:t>
            </a:r>
            <a:endParaRPr lang="en-US" altLang="zh-CN" sz="2800" dirty="0"/>
          </a:p>
          <a:p>
            <a:pPr marL="514350" indent="-51435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/>
              <a:t>	</a:t>
            </a:r>
            <a:r>
              <a:rPr lang="en-US" altLang="zh-CN" sz="2800" dirty="0" err="1"/>
              <a:t>Ans:D</a:t>
            </a:r>
            <a:endParaRPr lang="en-US" altLang="zh-CN" sz="2800" dirty="0"/>
          </a:p>
          <a:p>
            <a:pPr marL="514350" indent="-51435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dirty="0"/>
              <a:t>3. </a:t>
            </a:r>
            <a:r>
              <a:rPr lang="en-US" altLang="zh-CN" sz="2800" dirty="0">
                <a:sym typeface="Wingdings" pitchFamily="2" charset="2"/>
              </a:rPr>
              <a:t>2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</a:t>
            </a:r>
            <a:r>
              <a:rPr lang="en-US" altLang="zh-CN" sz="2800" dirty="0"/>
              <a:t> CO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2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CO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+  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342900" indent="-342900" algn="l">
              <a:lnSpc>
                <a:spcPct val="110000"/>
              </a:lnSpc>
              <a:spcBef>
                <a:spcPts val="0"/>
              </a:spcBef>
            </a:pPr>
            <a:r>
              <a:rPr lang="en-US" altLang="zh-CN" sz="2800" baseline="300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	</a:t>
            </a:r>
            <a:r>
              <a:rPr lang="en-US" altLang="zh-CN" sz="2800" dirty="0">
                <a:sym typeface="+mn-ea"/>
              </a:rPr>
              <a:t>    2(78)	   2(44)	2(106)</a:t>
            </a:r>
            <a:endParaRPr lang="en-US" altLang="zh-CN" sz="2800" baseline="30000" dirty="0"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buClrTx/>
              <a:buSzPct val="100000"/>
              <a:buFont typeface="Wingdings" charset="0"/>
            </a:pPr>
            <a:r>
              <a:rPr lang="en-US" altLang="zh-CN" sz="2800" dirty="0"/>
              <a:t>	x	    4.4		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ClrTx/>
              <a:buSzPct val="100000"/>
              <a:buFont typeface="Wingdings" charset="0"/>
            </a:pPr>
            <a:r>
              <a:rPr lang="en-US" altLang="zh-CN" sz="2800" dirty="0"/>
              <a:t>	x= 7.8 	y=10.6	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ClrTx/>
              <a:buSzPct val="100000"/>
              <a:buFont typeface="Wingdings" charset="0"/>
            </a:pPr>
            <a:r>
              <a:rPr lang="en-US" altLang="zh-CN" sz="2800" dirty="0"/>
              <a:t>	y-x= 2.8</a:t>
            </a: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450070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思考题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14c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45606" y="14918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</a:rPr>
              <a:t>极性分子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530097"/>
            <a:ext cx="7920038" cy="4907279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>
                <a:sym typeface="+mn-ea"/>
              </a:rPr>
              <a:t>硫（</a:t>
            </a:r>
            <a:r>
              <a:rPr lang="en-US" altLang="zh-CN" sz="2800" dirty="0">
                <a:sym typeface="+mn-ea"/>
              </a:rPr>
              <a:t>Sulfur</a:t>
            </a:r>
            <a:r>
              <a:rPr lang="zh-CN" altLang="en-US" sz="2800" dirty="0">
                <a:sym typeface="+mn-ea"/>
              </a:rPr>
              <a:t>）</a:t>
            </a:r>
            <a:endParaRPr lang="zh-CN" altLang="en-US" sz="2800" dirty="0"/>
          </a:p>
          <a:p>
            <a:pPr marL="342900" indent="-342900" algn="l">
              <a:buFont typeface="Wingdings" charset="0"/>
              <a:buChar char="Ø"/>
            </a:pPr>
            <a:r>
              <a:rPr lang="zh-CN" altLang="en-US" sz="2800" dirty="0"/>
              <a:t>在自然界中以游离态及化合态形式存在。</a:t>
            </a:r>
            <a:endParaRPr lang="en-US" altLang="zh-CN" sz="2800" dirty="0"/>
          </a:p>
          <a:p>
            <a:pPr marL="342900" indent="-342900" algn="l">
              <a:buFont typeface="Wingdings" charset="0"/>
              <a:buChar char="Ø"/>
            </a:pPr>
            <a:r>
              <a:rPr lang="zh-CN" altLang="en-US" sz="2800" dirty="0"/>
              <a:t>火山地区常有丰富的硫矿藏。</a:t>
            </a:r>
            <a:endParaRPr lang="en-US" altLang="zh-CN" sz="2800" dirty="0"/>
          </a:p>
          <a:p>
            <a:pPr marL="342900" indent="-342900" algn="l">
              <a:buFont typeface="Wingdings" charset="0"/>
              <a:buChar char="Ø"/>
            </a:pPr>
            <a:r>
              <a:rPr lang="zh-CN" altLang="en-US" sz="2800" dirty="0"/>
              <a:t>常见的氧化数：</a:t>
            </a:r>
            <a:r>
              <a:rPr lang="en-US" altLang="zh-CN" sz="2800" dirty="0"/>
              <a:t>-2</a:t>
            </a:r>
            <a:r>
              <a:rPr lang="zh-CN" altLang="en-US" sz="2800" dirty="0"/>
              <a:t>，</a:t>
            </a:r>
            <a:r>
              <a:rPr lang="en-US" altLang="zh-CN" sz="2800" dirty="0"/>
              <a:t>0</a:t>
            </a:r>
            <a:r>
              <a:rPr lang="zh-CN" altLang="en-US" sz="2800" dirty="0"/>
              <a:t>，</a:t>
            </a:r>
            <a:r>
              <a:rPr lang="en-US" altLang="zh-CN" sz="2800" dirty="0"/>
              <a:t>+4</a:t>
            </a:r>
            <a:r>
              <a:rPr lang="zh-CN" altLang="en-US" sz="2800" dirty="0"/>
              <a:t>，</a:t>
            </a:r>
            <a:r>
              <a:rPr lang="en-US" altLang="zh-CN" sz="2800" dirty="0"/>
              <a:t>+6</a:t>
            </a:r>
          </a:p>
          <a:p>
            <a:pPr marL="342900" indent="-342900" algn="l"/>
            <a:endParaRPr lang="en-US" altLang="zh-CN" sz="2800" dirty="0"/>
          </a:p>
          <a:p>
            <a:pPr marL="342900" indent="-342900" algn="l">
              <a:lnSpc>
                <a:spcPct val="90000"/>
              </a:lnSpc>
              <a:buFont typeface="Wingdings" charset="0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5" y="643255"/>
            <a:ext cx="2589848" cy="68961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</a:rPr>
              <a:t>14.4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</a:rPr>
              <a:t>硫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/>
              </a:rPr>
              <a:t>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22306" y="3953813"/>
            <a:ext cx="3627722" cy="2717442"/>
            <a:chOff x="1639737" y="3155324"/>
            <a:chExt cx="3627722" cy="2717442"/>
          </a:xfrm>
        </p:grpSpPr>
        <p:pic>
          <p:nvPicPr>
            <p:cNvPr id="5" name="Picture 4" descr="mm.jpg"/>
            <p:cNvPicPr>
              <a:picLocks noChangeAspect="1"/>
            </p:cNvPicPr>
            <p:nvPr/>
          </p:nvPicPr>
          <p:blipFill>
            <a:blip r:embed="rId2"/>
            <a:srcRect l="7225" t="15647" r="4102" b="2755"/>
            <a:stretch>
              <a:fillRect/>
            </a:stretch>
          </p:blipFill>
          <p:spPr>
            <a:xfrm>
              <a:off x="1648496" y="3155324"/>
              <a:ext cx="3618963" cy="2717442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639737" y="3164430"/>
              <a:ext cx="326711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芒硝</a:t>
              </a:r>
              <a:r>
                <a:rPr lang="en-US" altLang="zh-CN" sz="2600" dirty="0"/>
                <a:t>Na</a:t>
              </a:r>
              <a:r>
                <a:rPr lang="en-US" altLang="zh-CN" sz="2600" baseline="-25000" dirty="0"/>
                <a:t>2 </a:t>
              </a:r>
              <a:r>
                <a:rPr lang="en-US" altLang="zh-CN" sz="2600" dirty="0"/>
                <a:t>S</a:t>
              </a:r>
              <a:r>
                <a:rPr lang="en-US" sz="2600" dirty="0"/>
                <a:t>O</a:t>
              </a:r>
              <a:r>
                <a:rPr lang="en-US" altLang="zh-CN" sz="2600" baseline="-25000" dirty="0"/>
                <a:t>4 </a:t>
              </a:r>
              <a:r>
                <a:rPr lang="en-US" altLang="zh-CN" sz="2600" dirty="0">
                  <a:latin typeface="Arial"/>
                  <a:cs typeface="Arial"/>
                </a:rPr>
                <a:t>·</a:t>
              </a:r>
              <a:r>
                <a:rPr lang="en-US" altLang="zh-CN" sz="2600" dirty="0"/>
                <a:t>10</a:t>
              </a:r>
              <a:r>
                <a:rPr lang="en-US" sz="2600" dirty="0"/>
                <a:t> H</a:t>
              </a:r>
              <a:r>
                <a:rPr lang="en-US" sz="2600" baseline="-25000" dirty="0"/>
                <a:t>2</a:t>
              </a:r>
              <a:r>
                <a:rPr lang="en-US" sz="2600" dirty="0"/>
                <a:t>O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778061" y="3920008"/>
            <a:ext cx="3760631" cy="2764127"/>
            <a:chOff x="4752304" y="3366217"/>
            <a:chExt cx="3760631" cy="2764127"/>
          </a:xfrm>
        </p:grpSpPr>
        <p:pic>
          <p:nvPicPr>
            <p:cNvPr id="9" name="Picture 8" descr="zns.jpg"/>
            <p:cNvPicPr>
              <a:picLocks noChangeAspect="1"/>
            </p:cNvPicPr>
            <p:nvPr/>
          </p:nvPicPr>
          <p:blipFill>
            <a:blip r:embed="rId3"/>
            <a:srcRect r="2053" b="12349"/>
            <a:stretch>
              <a:fillRect/>
            </a:stretch>
          </p:blipFill>
          <p:spPr>
            <a:xfrm>
              <a:off x="4752304" y="3366217"/>
              <a:ext cx="3760631" cy="2764127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805794" y="3381223"/>
              <a:ext cx="326711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b="1" dirty="0">
                  <a:solidFill>
                    <a:srgbClr val="FFC000"/>
                  </a:solidFill>
                </a:rPr>
                <a:t>闪锌矿 </a:t>
              </a:r>
              <a:r>
                <a:rPr lang="en-US" altLang="zh-CN" sz="2600" b="1" dirty="0" err="1">
                  <a:solidFill>
                    <a:srgbClr val="FFC000"/>
                  </a:solidFill>
                </a:rPr>
                <a:t>ZnS</a:t>
              </a:r>
              <a:endParaRPr lang="en-US" sz="2600" b="1" dirty="0">
                <a:solidFill>
                  <a:srgbClr val="FFC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3" descr="C:\Users\user\Desktop\l.png"/>
          <p:cNvPicPr>
            <a:picLocks noChangeAspect="1" noChangeArrowheads="1"/>
          </p:cNvPicPr>
          <p:nvPr/>
        </p:nvPicPr>
        <p:blipFill>
          <a:blip r:embed="rId2"/>
          <a:srcRect l="11641" r="12162"/>
          <a:stretch>
            <a:fillRect/>
          </a:stretch>
        </p:blipFill>
        <p:spPr bwMode="auto">
          <a:xfrm>
            <a:off x="6541609" y="0"/>
            <a:ext cx="2133600" cy="1524000"/>
          </a:xfrm>
          <a:prstGeom prst="rect">
            <a:avLst/>
          </a:prstGeom>
          <a:noFill/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61495" y="1192156"/>
            <a:ext cx="7920038" cy="5370575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dirty="0"/>
              <a:t>物理性质</a:t>
            </a:r>
            <a:endParaRPr lang="en-US" altLang="zh-CN" sz="2800" dirty="0"/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淡黄色脆性固体</a:t>
            </a:r>
            <a:endParaRPr lang="en-US" altLang="zh-CN" sz="2800" dirty="0"/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不易导热，不导电。</a:t>
            </a:r>
            <a:endParaRPr lang="en-US" altLang="zh-CN" sz="2800" dirty="0"/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不溶于水，可溶于</a:t>
            </a:r>
            <a:r>
              <a:rPr lang="en-US" altLang="zh-CN" sz="2800" dirty="0"/>
              <a:t>CS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同素异形体</a:t>
            </a:r>
            <a:endParaRPr lang="en-US" altLang="zh-CN" sz="2800" dirty="0"/>
          </a:p>
          <a:p>
            <a:pPr lvl="1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菱形硫、单斜硫、弹性硫</a:t>
            </a:r>
            <a:endParaRPr lang="en-US" altLang="zh-CN" sz="2800" dirty="0"/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硫分子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8</a:t>
            </a:r>
            <a:r>
              <a:rPr lang="en-US" altLang="zh-CN" sz="2800" dirty="0"/>
              <a:t>  </a:t>
            </a:r>
            <a:r>
              <a:rPr lang="zh-CN" altLang="en-US" sz="2800" dirty="0"/>
              <a:t>皱折冠状环</a:t>
            </a:r>
            <a:endParaRPr lang="en-US" altLang="zh-CN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algn="l">
              <a:lnSpc>
                <a:spcPct val="120000"/>
              </a:lnSpc>
            </a:pPr>
            <a:r>
              <a:rPr lang="en-US" altLang="zh-CN" sz="2800" dirty="0"/>
              <a:t>				</a:t>
            </a:r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algn="l">
              <a:lnSpc>
                <a:spcPct val="120000"/>
              </a:lnSpc>
            </a:pPr>
            <a:r>
              <a:rPr lang="en-US" altLang="zh-CN" sz="2800" dirty="0"/>
              <a:t>				</a:t>
            </a:r>
            <a:endParaRPr lang="zh-CN" altLang="en-US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  <a:buFont typeface="Wingdings" charset="0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lnSpc>
                <a:spcPct val="120000"/>
              </a:lnSpc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240919"/>
            <a:ext cx="6309924" cy="68961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14.4.1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硫的性质和用途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5" name="图片 6" descr="f15666e3de2c92d7b0e58b00bfb0628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41677" y="1538964"/>
            <a:ext cx="2730151" cy="2925162"/>
          </a:xfrm>
          <a:prstGeom prst="rect">
            <a:avLst/>
          </a:prstGeom>
        </p:spPr>
      </p:pic>
      <p:pic>
        <p:nvPicPr>
          <p:cNvPr id="45058" name="Picture 2" descr="C:\Users\user\Desktop\j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86185" y="4532701"/>
            <a:ext cx="3176016" cy="23224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264286"/>
            <a:ext cx="8337233" cy="5197474"/>
          </a:xfrm>
        </p:spPr>
        <p:txBody>
          <a:bodyPr>
            <a:normAutofit/>
          </a:bodyPr>
          <a:lstStyle/>
          <a:p>
            <a:pPr marL="342900" indent="-342900" algn="l"/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342900" indent="-342900" algn="l">
              <a:buFont typeface="Wingdings" charset="0"/>
              <a:buChar char="Ø"/>
            </a:pPr>
            <a:r>
              <a:rPr lang="en-US" altLang="zh-CN" sz="2800" dirty="0"/>
              <a:t>S +2e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S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   		</a:t>
            </a:r>
            <a:r>
              <a:rPr lang="zh-CN" altLang="en-US" sz="2800" dirty="0">
                <a:sym typeface="Wingdings" pitchFamily="2" charset="2"/>
              </a:rPr>
              <a:t>显出硫的氧化性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S </a:t>
            </a:r>
            <a:r>
              <a:rPr lang="en-US" altLang="zh-CN" sz="2800" baseline="30000" dirty="0">
                <a:sym typeface="Wingdings" pitchFamily="2" charset="2"/>
              </a:rPr>
              <a:t>       </a:t>
            </a:r>
            <a:r>
              <a:rPr lang="en-US" altLang="zh-CN" sz="2800" dirty="0">
                <a:sym typeface="Wingdings" pitchFamily="2" charset="2"/>
              </a:rPr>
              <a:t>	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C + 2 S   	CS</a:t>
            </a:r>
            <a:r>
              <a:rPr lang="en-US" altLang="zh-CN" sz="2800" baseline="-25000" dirty="0">
                <a:sym typeface="Wingdings" pitchFamily="2" charset="2"/>
              </a:rPr>
              <a:t>2	</a:t>
            </a:r>
            <a:r>
              <a:rPr lang="en-US" altLang="zh-CN" sz="2800" dirty="0">
                <a:sym typeface="Wingdings" pitchFamily="2" charset="2"/>
              </a:rPr>
              <a:t>     </a:t>
            </a:r>
            <a:r>
              <a:rPr lang="zh-CN" altLang="en-US" sz="2800" dirty="0">
                <a:sym typeface="Wingdings" pitchFamily="2" charset="2"/>
              </a:rPr>
              <a:t>溶剂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baseline="-25000" dirty="0">
                <a:sym typeface="Wingdings" pitchFamily="2" charset="2"/>
              </a:rPr>
              <a:t>	  </a:t>
            </a:r>
            <a:r>
              <a:rPr lang="en-US" altLang="zh-CN" sz="2800" dirty="0">
                <a:sym typeface="Wingdings" pitchFamily="2" charset="2"/>
              </a:rPr>
              <a:t>  	Fe +S 		</a:t>
            </a:r>
            <a:r>
              <a:rPr lang="en-US" altLang="zh-CN" sz="2800" dirty="0" err="1">
                <a:sym typeface="Wingdings" pitchFamily="2" charset="2"/>
              </a:rPr>
              <a:t>FeS</a:t>
            </a:r>
            <a:endParaRPr lang="en-US" altLang="zh-CN" sz="2800" baseline="-250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baseline="-25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		Zn + S  	</a:t>
            </a:r>
            <a:r>
              <a:rPr lang="en-US" altLang="zh-CN" sz="2800" dirty="0" err="1">
                <a:sym typeface="Wingdings" pitchFamily="2" charset="2"/>
              </a:rPr>
              <a:t>ZnS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2 Ag + S  	  Ag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	     </a:t>
            </a:r>
            <a:r>
              <a:rPr lang="zh-CN" altLang="en-US" sz="2800" dirty="0">
                <a:sym typeface="Wingdings" pitchFamily="2" charset="2"/>
              </a:rPr>
              <a:t>银器变黑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</a:t>
            </a:r>
            <a:endParaRPr lang="en-US" altLang="zh-CN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</p:txBody>
      </p:sp>
      <p:sp>
        <p:nvSpPr>
          <p:cNvPr id="9" name="标题 3"/>
          <p:cNvSpPr txBox="1">
            <a:spLocks/>
          </p:cNvSpPr>
          <p:nvPr/>
        </p:nvSpPr>
        <p:spPr>
          <a:xfrm>
            <a:off x="451484" y="460375"/>
            <a:ext cx="5884922" cy="6896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14.4.1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硫的性质和用途</a:t>
            </a:r>
            <a:endParaRPr kumimoji="0" lang="en-US" altLang="zh-CN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图片 6" descr="153px-Electron_shell_016_Sulfur_-_no_label.svg"/>
          <p:cNvPicPr>
            <a:picLocks noChangeAspect="1"/>
          </p:cNvPicPr>
          <p:nvPr/>
        </p:nvPicPr>
        <p:blipFill>
          <a:blip r:embed="rId2">
            <a:lum bright="-18000" contrast="72000"/>
          </a:blip>
          <a:srcRect/>
          <a:stretch>
            <a:fillRect/>
          </a:stretch>
        </p:blipFill>
        <p:spPr>
          <a:xfrm>
            <a:off x="6721756" y="3219717"/>
            <a:ext cx="2139131" cy="285217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2259841" y="2755005"/>
            <a:ext cx="856639" cy="380916"/>
            <a:chOff x="2785726" y="5867400"/>
            <a:chExt cx="856639" cy="380916"/>
          </a:xfrm>
        </p:grpSpPr>
        <p:grpSp>
          <p:nvGrpSpPr>
            <p:cNvPr id="7" name="Group 11"/>
            <p:cNvGrpSpPr/>
            <p:nvPr/>
          </p:nvGrpSpPr>
          <p:grpSpPr>
            <a:xfrm>
              <a:off x="2785726" y="6172117"/>
              <a:ext cx="856639" cy="76199"/>
              <a:chOff x="2836662" y="6324600"/>
              <a:chExt cx="1499118" cy="76199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 rot="10800000">
                <a:off x="2836662" y="6399210"/>
                <a:ext cx="1440180" cy="1589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2895600" y="6324600"/>
                <a:ext cx="144018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/>
            <p:cNvSpPr txBox="1"/>
            <p:nvPr/>
          </p:nvSpPr>
          <p:spPr>
            <a:xfrm>
              <a:off x="2895600" y="586740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243069" y="3383409"/>
            <a:ext cx="731520" cy="166867"/>
            <a:chOff x="2590800" y="1966733"/>
            <a:chExt cx="731520" cy="166867"/>
          </a:xfrm>
        </p:grpSpPr>
        <p:cxnSp>
          <p:nvCxnSpPr>
            <p:cNvPr id="14" name="Straight Arrow Connector 13"/>
            <p:cNvCxnSpPr/>
            <p:nvPr/>
          </p:nvCxnSpPr>
          <p:spPr bwMode="auto">
            <a:xfrm>
              <a:off x="2590800" y="21320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Isosceles Triangle 14"/>
            <p:cNvSpPr/>
            <p:nvPr/>
          </p:nvSpPr>
          <p:spPr bwMode="auto">
            <a:xfrm>
              <a:off x="2805447" y="1966733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40921" y="3870663"/>
            <a:ext cx="731520" cy="166867"/>
            <a:chOff x="2590800" y="1966733"/>
            <a:chExt cx="731520" cy="166867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>
              <a:off x="2590800" y="21320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Isosceles Triangle 17"/>
            <p:cNvSpPr/>
            <p:nvPr/>
          </p:nvSpPr>
          <p:spPr bwMode="auto">
            <a:xfrm>
              <a:off x="2805447" y="1966733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64531" y="4435191"/>
            <a:ext cx="731520" cy="166867"/>
            <a:chOff x="2590800" y="1966733"/>
            <a:chExt cx="731520" cy="166867"/>
          </a:xfrm>
        </p:grpSpPr>
        <p:cxnSp>
          <p:nvCxnSpPr>
            <p:cNvPr id="20" name="Straight Arrow Connector 19"/>
            <p:cNvCxnSpPr/>
            <p:nvPr/>
          </p:nvCxnSpPr>
          <p:spPr bwMode="auto">
            <a:xfrm>
              <a:off x="2590800" y="21320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Isosceles Triangle 20"/>
            <p:cNvSpPr/>
            <p:nvPr/>
          </p:nvSpPr>
          <p:spPr bwMode="auto">
            <a:xfrm>
              <a:off x="2805447" y="1966733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391173" y="4973961"/>
            <a:ext cx="731520" cy="166867"/>
            <a:chOff x="2590800" y="1966733"/>
            <a:chExt cx="731520" cy="166867"/>
          </a:xfrm>
        </p:grpSpPr>
        <p:cxnSp>
          <p:nvCxnSpPr>
            <p:cNvPr id="23" name="Straight Arrow Connector 22"/>
            <p:cNvCxnSpPr/>
            <p:nvPr/>
          </p:nvCxnSpPr>
          <p:spPr bwMode="auto">
            <a:xfrm>
              <a:off x="2590800" y="21320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Isosceles Triangle 23"/>
            <p:cNvSpPr/>
            <p:nvPr/>
          </p:nvSpPr>
          <p:spPr bwMode="auto">
            <a:xfrm>
              <a:off x="2805447" y="1966733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40913" y="1264286"/>
            <a:ext cx="7984901" cy="5197474"/>
          </a:xfrm>
        </p:spPr>
        <p:txBody>
          <a:bodyPr>
            <a:normAutofit/>
          </a:bodyPr>
          <a:lstStyle/>
          <a:p>
            <a:pPr marL="342900" indent="-342900" algn="l"/>
            <a:r>
              <a:rPr lang="zh-CN" altLang="en-US" sz="2800" dirty="0"/>
              <a:t>活动</a:t>
            </a:r>
            <a:r>
              <a:rPr lang="en-US" altLang="zh-CN" sz="2800" dirty="0"/>
              <a:t>14</a:t>
            </a:r>
          </a:p>
          <a:p>
            <a:pPr marL="342900" indent="-342900" algn="l">
              <a:buFont typeface="Wingdings" charset="0"/>
              <a:buChar char="Ø"/>
            </a:pPr>
            <a:r>
              <a:rPr lang="zh-CN" altLang="en-US" sz="2800" dirty="0">
                <a:sym typeface="Wingdings" pitchFamily="2" charset="2"/>
              </a:rPr>
              <a:t>混合物发光发热，有刺激性气味气体和黑色物质生成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S+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</a:t>
            </a:r>
            <a:r>
              <a:rPr lang="en-US" altLang="zh-CN" sz="2800" baseline="30000" dirty="0">
                <a:sym typeface="Wingdings" pitchFamily="2" charset="2"/>
              </a:rPr>
              <a:t>       </a:t>
            </a:r>
            <a:r>
              <a:rPr lang="en-US" altLang="zh-CN" sz="2800" dirty="0">
                <a:sym typeface="Wingdings" pitchFamily="2" charset="2"/>
              </a:rPr>
              <a:t>	 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  	Fe +S 		</a:t>
            </a:r>
            <a:r>
              <a:rPr lang="en-US" altLang="zh-CN" sz="2800" dirty="0" err="1">
                <a:sym typeface="Wingdings" pitchFamily="2" charset="2"/>
              </a:rPr>
              <a:t>FeS</a:t>
            </a:r>
            <a:r>
              <a:rPr lang="en-US" altLang="zh-CN" sz="2800" dirty="0">
                <a:sym typeface="Wingdings" pitchFamily="2" charset="2"/>
              </a:rPr>
              <a:t>   </a:t>
            </a:r>
          </a:p>
          <a:p>
            <a:pPr marL="342900" indent="-342900" algn="l"/>
            <a:r>
              <a:rPr lang="zh-CN" altLang="en-US" sz="2800" dirty="0">
                <a:sym typeface="Wingdings" pitchFamily="2" charset="2"/>
              </a:rPr>
              <a:t>问题解决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(1) Hg + S  </a:t>
            </a:r>
            <a:r>
              <a:rPr lang="en-US" altLang="zh-CN" sz="2800" dirty="0" err="1">
                <a:sym typeface="Wingdings" pitchFamily="2" charset="2"/>
              </a:rPr>
              <a:t>HgS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(2) 6NaOH  + 3S 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</a:t>
            </a:r>
            <a:endParaRPr lang="en-US" altLang="zh-CN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</p:txBody>
      </p:sp>
      <p:sp>
        <p:nvSpPr>
          <p:cNvPr id="9" name="标题 3"/>
          <p:cNvSpPr txBox="1">
            <a:spLocks/>
          </p:cNvSpPr>
          <p:nvPr/>
        </p:nvSpPr>
        <p:spPr>
          <a:xfrm>
            <a:off x="451484" y="460375"/>
            <a:ext cx="5884922" cy="6896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14.4.1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硫的性质和用途</a:t>
            </a:r>
            <a:endParaRPr kumimoji="0" lang="en-US" altLang="zh-CN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409430" y="2626216"/>
            <a:ext cx="822960" cy="307777"/>
            <a:chOff x="2819405" y="5880279"/>
            <a:chExt cx="822960" cy="307777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819405" y="6172117"/>
              <a:ext cx="8229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802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grpSp>
        <p:nvGrpSpPr>
          <p:cNvPr id="6" name="Group 12"/>
          <p:cNvGrpSpPr/>
          <p:nvPr/>
        </p:nvGrpSpPr>
        <p:grpSpPr>
          <a:xfrm>
            <a:off x="2436252" y="3241741"/>
            <a:ext cx="731520" cy="166867"/>
            <a:chOff x="2590800" y="1966733"/>
            <a:chExt cx="731520" cy="166867"/>
          </a:xfrm>
        </p:grpSpPr>
        <p:cxnSp>
          <p:nvCxnSpPr>
            <p:cNvPr id="14" name="Straight Arrow Connector 13"/>
            <p:cNvCxnSpPr/>
            <p:nvPr/>
          </p:nvCxnSpPr>
          <p:spPr bwMode="auto">
            <a:xfrm>
              <a:off x="2590800" y="21320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Isosceles Triangle 14"/>
            <p:cNvSpPr/>
            <p:nvPr/>
          </p:nvSpPr>
          <p:spPr bwMode="auto">
            <a:xfrm>
              <a:off x="2805447" y="1966733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12"/>
          <p:cNvGrpSpPr/>
          <p:nvPr/>
        </p:nvGrpSpPr>
        <p:grpSpPr>
          <a:xfrm>
            <a:off x="2975019" y="4810817"/>
            <a:ext cx="731520" cy="166867"/>
            <a:chOff x="2590800" y="1966733"/>
            <a:chExt cx="731520" cy="166867"/>
          </a:xfrm>
        </p:grpSpPr>
        <p:cxnSp>
          <p:nvCxnSpPr>
            <p:cNvPr id="25" name="Straight Arrow Connector 24"/>
            <p:cNvCxnSpPr/>
            <p:nvPr/>
          </p:nvCxnSpPr>
          <p:spPr bwMode="auto">
            <a:xfrm>
              <a:off x="2590800" y="21320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Isosceles Triangle 25"/>
            <p:cNvSpPr/>
            <p:nvPr/>
          </p:nvSpPr>
          <p:spPr bwMode="auto">
            <a:xfrm>
              <a:off x="2805447" y="1966733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728091" y="4672884"/>
            <a:ext cx="372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Wingdings" pitchFamily="2" charset="2"/>
              </a:rPr>
              <a:t>2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 +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+ 3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264286"/>
            <a:ext cx="8337233" cy="5197474"/>
          </a:xfrm>
        </p:spPr>
        <p:txBody>
          <a:bodyPr>
            <a:normAutofit/>
          </a:bodyPr>
          <a:lstStyle/>
          <a:p>
            <a:pPr marL="342900" indent="-342900" algn="l"/>
            <a:r>
              <a:rPr lang="zh-CN" altLang="en-US" sz="2800" dirty="0">
                <a:sym typeface="Wingdings" pitchFamily="2" charset="2"/>
              </a:rPr>
              <a:t>化学性质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>
              <a:buFont typeface="Wingdings" charset="0"/>
              <a:buChar char="Ø"/>
            </a:pPr>
            <a:r>
              <a:rPr lang="en-US" altLang="zh-CN" sz="2800" dirty="0">
                <a:sym typeface="Wingdings" pitchFamily="2" charset="2"/>
              </a:rPr>
              <a:t>S  S</a:t>
            </a:r>
            <a:r>
              <a:rPr lang="en-US" altLang="zh-CN" sz="2800" baseline="30000" dirty="0">
                <a:sym typeface="Wingdings" pitchFamily="2" charset="2"/>
              </a:rPr>
              <a:t>4+</a:t>
            </a:r>
            <a:r>
              <a:rPr lang="en-US" altLang="zh-CN" sz="2800" dirty="0">
                <a:sym typeface="Wingdings" pitchFamily="2" charset="2"/>
              </a:rPr>
              <a:t> + 4e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342900" indent="-342900" algn="l">
              <a:buFont typeface="Wingdings" charset="0"/>
              <a:buChar char="Ø"/>
            </a:pPr>
            <a:r>
              <a:rPr lang="en-US" altLang="zh-CN" sz="2800" dirty="0">
                <a:sym typeface="Wingdings" pitchFamily="2" charset="2"/>
              </a:rPr>
              <a:t>S  S</a:t>
            </a:r>
            <a:r>
              <a:rPr lang="en-US" altLang="zh-CN" sz="2800" baseline="30000" dirty="0">
                <a:sym typeface="Wingdings" pitchFamily="2" charset="2"/>
              </a:rPr>
              <a:t>6+</a:t>
            </a:r>
            <a:r>
              <a:rPr lang="en-US" altLang="zh-CN" sz="2800" dirty="0">
                <a:sym typeface="Wingdings" pitchFamily="2" charset="2"/>
              </a:rPr>
              <a:t> + 6e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	</a:t>
            </a:r>
          </a:p>
          <a:p>
            <a:pPr marL="342900" indent="-342900" algn="l"/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S + 3 F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</a:t>
            </a:r>
          </a:p>
          <a:p>
            <a:pPr marL="342900" indent="-342900" algn="l"/>
            <a:r>
              <a:rPr lang="en-US" altLang="zh-CN" sz="2800" dirty="0"/>
              <a:t>		S 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4(</a:t>
            </a:r>
            <a:r>
              <a:rPr lang="zh-CN" altLang="en-US" sz="2800" baseline="-25000" dirty="0"/>
              <a:t>浓</a:t>
            </a:r>
            <a:r>
              <a:rPr lang="en-US" altLang="zh-CN" sz="2800" baseline="-25000" dirty="0"/>
              <a:t>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</a:p>
          <a:p>
            <a:pPr marL="342900" indent="-342900" algn="l"/>
            <a:r>
              <a:rPr lang="en-US" altLang="zh-CN" sz="2800" dirty="0"/>
              <a:t>		S + 6 HNO</a:t>
            </a:r>
            <a:r>
              <a:rPr lang="en-US" altLang="zh-CN" sz="2800" baseline="-25000" dirty="0"/>
              <a:t>3 (</a:t>
            </a:r>
            <a:r>
              <a:rPr lang="zh-CN" altLang="en-US" sz="2800" baseline="-25000" dirty="0"/>
              <a:t>浓</a:t>
            </a:r>
            <a:r>
              <a:rPr lang="en-US" altLang="zh-CN" sz="2800" baseline="-25000" dirty="0"/>
              <a:t>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  <a:endParaRPr lang="en-US" altLang="zh-CN" sz="2800" dirty="0"/>
          </a:p>
          <a:p>
            <a:pPr marL="342900" indent="-342900" algn="l"/>
            <a:endParaRPr lang="zh-CN" altLang="en-US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  <a:p>
            <a:pPr marL="342900" indent="-342900" algn="l">
              <a:buFont typeface="Wingdings" charset="0"/>
              <a:buChar char="Ø"/>
            </a:pPr>
            <a:endParaRPr lang="zh-CN" altLang="en-US" sz="2800" dirty="0"/>
          </a:p>
        </p:txBody>
      </p:sp>
      <p:pic>
        <p:nvPicPr>
          <p:cNvPr id="18433" name="Picture 1" descr="C:\Users\user\Desktop\v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85241" y="1860600"/>
            <a:ext cx="2095500" cy="20955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800210" y="199984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ym typeface="Wingdings" pitchFamily="2" charset="2"/>
              </a:rPr>
              <a:t>显出硫的还原性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883408" y="3264456"/>
            <a:ext cx="636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Wingdings" pitchFamily="2" charset="2"/>
              </a:rPr>
              <a:t>SF</a:t>
            </a:r>
            <a:r>
              <a:rPr lang="en-US" altLang="zh-CN" sz="2800" baseline="-25000" dirty="0">
                <a:sym typeface="Wingdings" pitchFamily="2" charset="2"/>
              </a:rPr>
              <a:t>6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730752" y="3746040"/>
            <a:ext cx="21643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Wingdings" pitchFamily="2" charset="2"/>
              </a:rPr>
              <a:t>3 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663696" y="4325160"/>
            <a:ext cx="3445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+ 6 NO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endParaRPr lang="en-US" sz="2800" b="1" dirty="0"/>
          </a:p>
        </p:txBody>
      </p:sp>
      <p:sp>
        <p:nvSpPr>
          <p:cNvPr id="10" name="标题 3"/>
          <p:cNvSpPr txBox="1">
            <a:spLocks/>
          </p:cNvSpPr>
          <p:nvPr/>
        </p:nvSpPr>
        <p:spPr>
          <a:xfrm>
            <a:off x="399971" y="447497"/>
            <a:ext cx="5884922" cy="6896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14.4.1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硫的性质和用途</a:t>
            </a:r>
            <a:endParaRPr kumimoji="0" lang="en-US" altLang="zh-CN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530097"/>
            <a:ext cx="7920038" cy="409384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/>
              <a:t>用途</a:t>
            </a:r>
            <a:endParaRPr lang="en-US" altLang="zh-CN" sz="2800" dirty="0"/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2800" dirty="0"/>
              <a:t>制造硫酸</a:t>
            </a:r>
            <a:endParaRPr lang="en-US" altLang="zh-CN" sz="2800" dirty="0"/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2800" dirty="0"/>
              <a:t>增强橡胶弹性</a:t>
            </a:r>
            <a:endParaRPr lang="en-US" altLang="zh-CN" sz="2800" dirty="0"/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2800" dirty="0"/>
              <a:t>黑火药、火柴、烟火的成分</a:t>
            </a:r>
            <a:endParaRPr lang="en-US" altLang="zh-CN" sz="2800" dirty="0"/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2800" dirty="0"/>
              <a:t>制造农药、医药的原料</a:t>
            </a:r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endParaRPr lang="en-US" altLang="zh-CN" sz="2800" dirty="0"/>
          </a:p>
          <a:p>
            <a:pPr marL="342900" indent="-342900" algn="l">
              <a:lnSpc>
                <a:spcPct val="90000"/>
              </a:lnSpc>
              <a:buFont typeface="Wingdings" charset="0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5" name="标题 3"/>
          <p:cNvSpPr txBox="1">
            <a:spLocks/>
          </p:cNvSpPr>
          <p:nvPr/>
        </p:nvSpPr>
        <p:spPr>
          <a:xfrm>
            <a:off x="399971" y="447497"/>
            <a:ext cx="5884922" cy="6896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14.4.1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硫的性质和用途</a:t>
            </a:r>
            <a:endParaRPr kumimoji="0" lang="en-US" altLang="zh-CN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530097"/>
            <a:ext cx="7920038" cy="4093845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zh-CN" altLang="en-US" sz="2800" dirty="0"/>
              <a:t>天然硫矿床</a:t>
            </a:r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endParaRPr lang="en-US" altLang="zh-CN" sz="2800" dirty="0"/>
          </a:p>
          <a:p>
            <a:pPr algn="l">
              <a:buFont typeface="Wingdings" pitchFamily="2" charset="2"/>
              <a:buChar char="Ø"/>
            </a:pPr>
            <a:r>
              <a:rPr lang="zh-CN" altLang="en-US" sz="2800" dirty="0"/>
              <a:t>硫化物</a:t>
            </a:r>
            <a:endParaRPr lang="en-US" altLang="zh-CN" sz="2800" dirty="0"/>
          </a:p>
          <a:p>
            <a:pPr algn="l"/>
            <a:r>
              <a:rPr lang="en-US" altLang="zh-CN" sz="2800" dirty="0"/>
              <a:t>3 FeS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+ 12C +8O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algn="l"/>
            <a:endParaRPr lang="en-US" altLang="zh-CN" sz="2800" dirty="0"/>
          </a:p>
          <a:p>
            <a:pPr marL="342900" indent="-342900" algn="l">
              <a:lnSpc>
                <a:spcPct val="90000"/>
              </a:lnSpc>
              <a:buFont typeface="Wingdings" charset="0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643255"/>
            <a:ext cx="6477350" cy="68961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14.4.2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硫单质的制取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5" name="Picture 4" descr="ss.jpg"/>
          <p:cNvPicPr>
            <a:picLocks noChangeAspect="1"/>
          </p:cNvPicPr>
          <p:nvPr/>
        </p:nvPicPr>
        <p:blipFill>
          <a:blip r:embed="rId2"/>
          <a:srcRect b="9671"/>
          <a:stretch>
            <a:fillRect/>
          </a:stretch>
        </p:blipFill>
        <p:spPr>
          <a:xfrm>
            <a:off x="4285408" y="477732"/>
            <a:ext cx="4665306" cy="619473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388225" y="3540616"/>
            <a:ext cx="822960" cy="307777"/>
            <a:chOff x="2819405" y="5880279"/>
            <a:chExt cx="82296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5" y="6172117"/>
              <a:ext cx="8229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802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384913" y="3526664"/>
            <a:ext cx="2827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+ 12CO+ 6S 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8127" y="1329691"/>
            <a:ext cx="8337233" cy="5083301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800" dirty="0"/>
              <a:t>D 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800" dirty="0"/>
              <a:t>B</a:t>
            </a:r>
          </a:p>
          <a:p>
            <a:pPr marL="342900" indent="-342900" algn="l">
              <a:lnSpc>
                <a:spcPct val="150000"/>
              </a:lnSpc>
            </a:pPr>
            <a:r>
              <a:rPr lang="en-US" altLang="zh-CN" sz="2800" dirty="0">
                <a:sym typeface="Wingdings" pitchFamily="2" charset="2"/>
              </a:rPr>
              <a:t>3. 	S+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</a:t>
            </a:r>
            <a:r>
              <a:rPr lang="en-US" altLang="zh-CN" sz="2800" baseline="30000" dirty="0">
                <a:sym typeface="Wingdings" pitchFamily="2" charset="2"/>
              </a:rPr>
              <a:t>       </a:t>
            </a:r>
            <a:r>
              <a:rPr lang="en-US" altLang="zh-CN" sz="2800" dirty="0">
                <a:sym typeface="Wingdings" pitchFamily="2" charset="2"/>
              </a:rPr>
              <a:t>	 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altLang="zh-CN" sz="2800" dirty="0">
                <a:sym typeface="Wingdings" pitchFamily="2" charset="2"/>
              </a:rPr>
              <a:t>	  	Fe +S 		</a:t>
            </a:r>
            <a:r>
              <a:rPr lang="en-US" altLang="zh-CN" sz="2800" dirty="0" err="1">
                <a:sym typeface="Wingdings" pitchFamily="2" charset="2"/>
              </a:rPr>
              <a:t>FeS</a:t>
            </a:r>
            <a:r>
              <a:rPr lang="en-US" altLang="zh-CN" sz="2800" dirty="0">
                <a:sym typeface="Wingdings" pitchFamily="2" charset="2"/>
              </a:rPr>
              <a:t>   </a:t>
            </a:r>
          </a:p>
          <a:p>
            <a:pPr marL="457200" indent="-457200" algn="l">
              <a:lnSpc>
                <a:spcPct val="150000"/>
              </a:lnSpc>
            </a:pPr>
            <a:r>
              <a:rPr lang="en-US" altLang="zh-CN" sz="2800" dirty="0"/>
              <a:t> 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278" y="295276"/>
            <a:ext cx="3283553" cy="87058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思考题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29126" y="3038340"/>
            <a:ext cx="822960" cy="307777"/>
            <a:chOff x="2819405" y="5880279"/>
            <a:chExt cx="82296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5" y="6172117"/>
              <a:ext cx="8229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8027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grpSp>
        <p:nvGrpSpPr>
          <p:cNvPr id="9" name="Group 12"/>
          <p:cNvGrpSpPr/>
          <p:nvPr/>
        </p:nvGrpSpPr>
        <p:grpSpPr>
          <a:xfrm>
            <a:off x="2217311" y="3962958"/>
            <a:ext cx="731520" cy="166867"/>
            <a:chOff x="2590800" y="1966733"/>
            <a:chExt cx="731520" cy="166867"/>
          </a:xfrm>
        </p:grpSpPr>
        <p:cxnSp>
          <p:nvCxnSpPr>
            <p:cNvPr id="10" name="Straight Arrow Connector 9"/>
            <p:cNvCxnSpPr/>
            <p:nvPr/>
          </p:nvCxnSpPr>
          <p:spPr bwMode="auto">
            <a:xfrm>
              <a:off x="2590800" y="21320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 bwMode="auto">
            <a:xfrm>
              <a:off x="2805447" y="1966733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810a19d8bc3eb1350801f298a51ea8d3fc1f44ca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73513" y="4696354"/>
            <a:ext cx="1785938" cy="1914525"/>
          </a:xfrm>
          <a:prstGeom prst="rect">
            <a:avLst/>
          </a:prstGeom>
        </p:spPr>
      </p:pic>
      <p:pic>
        <p:nvPicPr>
          <p:cNvPr id="7" name="图片 6" descr="4a36acaf2edda3cc32c2a74d01e93901213f92bc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28807" y="521971"/>
            <a:ext cx="2429351" cy="197675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173991"/>
            <a:ext cx="4439427" cy="857885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14.5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硫化氢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</a:t>
            </a:r>
            <a:r>
              <a:rPr lang="en-US" altLang="zh-CN" sz="4400" baseline="-25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33172" y="1324610"/>
            <a:ext cx="7438549" cy="37084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00000"/>
              </a:lnSpc>
            </a:pPr>
            <a:r>
              <a:rPr lang="en-US" altLang="zh-CN" sz="2800" dirty="0"/>
              <a:t>14.5.1 </a:t>
            </a:r>
            <a:r>
              <a:rPr lang="zh-CN" altLang="en-US" sz="2800" dirty="0"/>
              <a:t>硫化氢的性质</a:t>
            </a:r>
            <a:endParaRPr lang="en-US" altLang="zh-CN" sz="2800" dirty="0"/>
          </a:p>
          <a:p>
            <a:pPr marL="342900" indent="-342900" algn="l">
              <a:lnSpc>
                <a:spcPct val="100000"/>
              </a:lnSpc>
            </a:pPr>
            <a:r>
              <a:rPr lang="zh-CN" altLang="en-US" sz="2800" dirty="0"/>
              <a:t>物理性质</a:t>
            </a: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/>
              <a:t>无色、臭蛋气味的气体</a:t>
            </a:r>
          </a:p>
          <a:p>
            <a:pPr marL="342900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/>
              <a:t>密度比空气略大</a:t>
            </a:r>
          </a:p>
          <a:p>
            <a:pPr marL="342900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>
                <a:sym typeface="+mn-ea"/>
              </a:rPr>
              <a:t>有剧毒。</a:t>
            </a:r>
            <a:endParaRPr lang="zh-CN" altLang="en-US" sz="2800" dirty="0"/>
          </a:p>
          <a:p>
            <a:pPr marL="342900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/>
              <a:t>空气里含有微量的硫化氢，就会使人感到头痛、头晕和恶心。吸入较多的硫化氢，会使人昏迷甚至死亡。</a:t>
            </a:r>
          </a:p>
          <a:p>
            <a:pPr marL="342900" indent="-342900" algn="l">
              <a:lnSpc>
                <a:spcPct val="100000"/>
              </a:lnSpc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a36acaf2edda3cc32c2a74d01e93901213f92bc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28807" y="521971"/>
            <a:ext cx="2429351" cy="197675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173991"/>
            <a:ext cx="5469738" cy="857885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14.5.1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硫化氢的性质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33172" y="1324610"/>
            <a:ext cx="7438549" cy="37084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00000"/>
              </a:lnSpc>
            </a:pPr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/>
              <a:t>能溶于水</a:t>
            </a:r>
            <a:endParaRPr lang="en-US" altLang="zh-CN" sz="2800" dirty="0"/>
          </a:p>
          <a:p>
            <a:pPr marL="342900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/>
              <a:t>水溶液称氢硫酸</a:t>
            </a:r>
            <a:endParaRPr lang="en-US" altLang="zh-CN" sz="2800" dirty="0"/>
          </a:p>
          <a:p>
            <a:pPr marL="800100" lvl="1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>
                <a:sym typeface="Wingdings" pitchFamily="2" charset="2"/>
              </a:rPr>
              <a:t>二元</a:t>
            </a:r>
            <a:r>
              <a:rPr lang="zh-CN" altLang="en-US" sz="2800" dirty="0"/>
              <a:t>弱酸</a:t>
            </a:r>
            <a:endParaRPr lang="en-US" altLang="zh-CN" sz="2800" dirty="0"/>
          </a:p>
          <a:p>
            <a:pPr marL="800100" lvl="1" indent="-342900" algn="l">
              <a:lnSpc>
                <a:spcPct val="100000"/>
              </a:lnSpc>
              <a:buFont typeface="Wingdings" charset="0"/>
              <a:buChar char="Ø"/>
            </a:pPr>
            <a:r>
              <a:rPr lang="zh-CN" altLang="en-US" sz="2800" dirty="0"/>
              <a:t>具有酸的通性</a:t>
            </a:r>
            <a:endParaRPr lang="en-US" altLang="zh-CN" sz="2800" dirty="0">
              <a:sym typeface="Wingdings" pitchFamily="2" charset="2"/>
            </a:endParaRPr>
          </a:p>
          <a:p>
            <a:pPr marL="800100" lvl="1" indent="-342900" algn="l"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受热时溶解度下降，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</a:t>
            </a:r>
            <a:r>
              <a:rPr lang="zh-CN" altLang="en-US" sz="2800" dirty="0">
                <a:sym typeface="Wingdings" pitchFamily="2" charset="2"/>
              </a:rPr>
              <a:t>又从水里逸出</a:t>
            </a:r>
            <a:endParaRPr lang="zh-CN" altLang="en-US" sz="2800" dirty="0"/>
          </a:p>
        </p:txBody>
      </p:sp>
      <p:pic>
        <p:nvPicPr>
          <p:cNvPr id="8" name="图片 7" descr="810a19d8bc3eb1350801f298a51ea8d3fc1f44ca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99270" y="4737413"/>
            <a:ext cx="1785938" cy="1914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01566" y="1800895"/>
            <a:ext cx="3504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活动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15 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气体体积减小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3215" y="2919220"/>
            <a:ext cx="4374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活动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15 H</a:t>
            </a:r>
            <a:r>
              <a:rPr lang="en-US" altLang="zh-CN" sz="2800" baseline="-250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S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的水溶液呈酸性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30622" y="3406474"/>
            <a:ext cx="3863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活动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16 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紫色石蕊液变红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10298" y="4460399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活动</a:t>
            </a:r>
            <a:r>
              <a:rPr lang="en-US" altLang="zh-CN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16 </a:t>
            </a:r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加热后，红色变浅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/>
      <p:bldP spid="10" grpId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algn="l">
              <a:buFont typeface="Wingdings" charset="0"/>
            </a:pPr>
            <a:r>
              <a:rPr lang="en-US" altLang="zh-CN" sz="2600" dirty="0">
                <a:sym typeface="Wingdings" pitchFamily="2" charset="2"/>
              </a:rPr>
              <a:t>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 + 2 HNO</a:t>
            </a:r>
            <a:r>
              <a:rPr lang="en-US" altLang="zh-CN" sz="2600" baseline="-25000" dirty="0">
                <a:sym typeface="Wingdings" pitchFamily="2" charset="2"/>
              </a:rPr>
              <a:t>3</a:t>
            </a:r>
            <a:r>
              <a:rPr lang="en-US" altLang="zh-CN" sz="2600" dirty="0">
                <a:sym typeface="Wingdings" pitchFamily="2" charset="2"/>
              </a:rPr>
              <a:t> </a:t>
            </a:r>
            <a:r>
              <a:rPr lang="en-US" altLang="zh-CN" sz="2600" baseline="-25000" dirty="0">
                <a:sym typeface="Wingdings" pitchFamily="2" charset="2"/>
              </a:rPr>
              <a:t>(</a:t>
            </a:r>
            <a:r>
              <a:rPr lang="zh-CN" altLang="en-US" sz="2600" baseline="-25000" dirty="0">
                <a:sym typeface="Wingdings" pitchFamily="2" charset="2"/>
              </a:rPr>
              <a:t>稀</a:t>
            </a:r>
            <a:r>
              <a:rPr lang="en-US" altLang="zh-CN" sz="2600" baseline="-25000" dirty="0">
                <a:sym typeface="Wingdings" pitchFamily="2" charset="2"/>
              </a:rPr>
              <a:t>)</a:t>
            </a:r>
            <a:r>
              <a:rPr lang="en-US" altLang="zh-CN" sz="2600" dirty="0">
                <a:sym typeface="Wingdings" pitchFamily="2" charset="2"/>
              </a:rPr>
              <a:t> </a:t>
            </a:r>
          </a:p>
          <a:p>
            <a:pPr algn="l">
              <a:buFont typeface="Wingdings" charset="0"/>
            </a:pPr>
            <a:endParaRPr lang="en-US" altLang="zh-CN" sz="2600" dirty="0">
              <a:sym typeface="Wingdings" pitchFamily="2" charset="2"/>
            </a:endParaRPr>
          </a:p>
          <a:p>
            <a:pPr algn="l">
              <a:buFont typeface="Wingdings" charset="0"/>
            </a:pPr>
            <a:r>
              <a:rPr lang="en-US" altLang="zh-CN" sz="2600" dirty="0">
                <a:sym typeface="Wingdings" pitchFamily="2" charset="2"/>
              </a:rPr>
              <a:t>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 + 8 HNO</a:t>
            </a:r>
            <a:r>
              <a:rPr lang="en-US" altLang="zh-CN" sz="2600" baseline="-25000" dirty="0">
                <a:sym typeface="Wingdings" pitchFamily="2" charset="2"/>
              </a:rPr>
              <a:t>3</a:t>
            </a:r>
            <a:r>
              <a:rPr lang="en-US" altLang="zh-CN" sz="2600" dirty="0">
                <a:sym typeface="Wingdings" pitchFamily="2" charset="2"/>
              </a:rPr>
              <a:t> </a:t>
            </a:r>
            <a:r>
              <a:rPr lang="en-US" altLang="zh-CN" sz="2600" baseline="-25000" dirty="0">
                <a:sym typeface="Wingdings" pitchFamily="2" charset="2"/>
              </a:rPr>
              <a:t>(</a:t>
            </a:r>
            <a:r>
              <a:rPr lang="zh-CN" altLang="en-US" sz="2600" baseline="-25000" dirty="0">
                <a:sym typeface="Wingdings" pitchFamily="2" charset="2"/>
              </a:rPr>
              <a:t>浓</a:t>
            </a:r>
            <a:r>
              <a:rPr lang="en-US" altLang="zh-CN" sz="2600" baseline="-25000" dirty="0">
                <a:sym typeface="Wingdings" pitchFamily="2" charset="2"/>
              </a:rPr>
              <a:t>)</a:t>
            </a:r>
            <a:r>
              <a:rPr lang="en-US" altLang="zh-CN" sz="2600" dirty="0">
                <a:sym typeface="Wingdings" pitchFamily="2" charset="2"/>
              </a:rPr>
              <a:t> </a:t>
            </a:r>
          </a:p>
          <a:p>
            <a:pPr algn="l">
              <a:buFont typeface="Wingdings" charset="0"/>
            </a:pPr>
            <a:endParaRPr lang="en-US" altLang="zh-CN" sz="2600" dirty="0">
              <a:sym typeface="Wingdings" pitchFamily="2" charset="2"/>
            </a:endParaRPr>
          </a:p>
          <a:p>
            <a:pPr algn="l">
              <a:buFont typeface="Wingdings" charset="0"/>
            </a:pPr>
            <a:r>
              <a:rPr lang="en-US" altLang="zh-CN" sz="2600" dirty="0">
                <a:sym typeface="Wingdings" pitchFamily="2" charset="2"/>
              </a:rPr>
              <a:t>3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 + 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SO</a:t>
            </a:r>
            <a:r>
              <a:rPr lang="en-US" altLang="zh-CN" sz="2600" baseline="-25000" dirty="0">
                <a:sym typeface="Wingdings" pitchFamily="2" charset="2"/>
              </a:rPr>
              <a:t>4</a:t>
            </a:r>
            <a:r>
              <a:rPr lang="en-US" altLang="zh-CN" sz="2600" dirty="0">
                <a:sym typeface="Wingdings" pitchFamily="2" charset="2"/>
              </a:rPr>
              <a:t> </a:t>
            </a:r>
            <a:r>
              <a:rPr lang="en-US" altLang="zh-CN" sz="2600" baseline="-25000" dirty="0">
                <a:sym typeface="Wingdings" pitchFamily="2" charset="2"/>
              </a:rPr>
              <a:t>(</a:t>
            </a:r>
            <a:r>
              <a:rPr lang="zh-CN" altLang="en-US" sz="2600" baseline="-25000" dirty="0">
                <a:sym typeface="Wingdings" pitchFamily="2" charset="2"/>
              </a:rPr>
              <a:t>浓</a:t>
            </a:r>
            <a:r>
              <a:rPr lang="en-US" altLang="zh-CN" sz="2600" baseline="-25000" dirty="0">
                <a:sym typeface="Wingdings" pitchFamily="2" charset="2"/>
              </a:rPr>
              <a:t>)</a:t>
            </a:r>
            <a:r>
              <a:rPr lang="en-US" altLang="zh-CN" sz="2600" dirty="0">
                <a:sym typeface="Wingdings" pitchFamily="2" charset="2"/>
              </a:rPr>
              <a:t> </a:t>
            </a:r>
          </a:p>
          <a:p>
            <a:pPr algn="l">
              <a:buFont typeface="Wingdings" charset="0"/>
            </a:pPr>
            <a:endParaRPr lang="en-US" altLang="zh-CN" sz="2600" dirty="0">
              <a:sym typeface="Wingdings" pitchFamily="2" charset="2"/>
            </a:endParaRPr>
          </a:p>
          <a:p>
            <a:pPr algn="l">
              <a:buFont typeface="Wingdings" charset="0"/>
            </a:pPr>
            <a:r>
              <a:rPr lang="en-US" altLang="zh-CN" sz="2600" dirty="0">
                <a:sym typeface="Wingdings" pitchFamily="2" charset="2"/>
              </a:rPr>
              <a:t>2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 +  SO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 </a:t>
            </a:r>
          </a:p>
          <a:p>
            <a:pPr marL="342900" indent="-342900" algn="l"/>
            <a:endParaRPr lang="zh-CN" altLang="en-US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3066288" y="1127760"/>
            <a:ext cx="39356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S + 2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O+ 2NO</a:t>
            </a:r>
            <a:r>
              <a:rPr lang="en-US" altLang="zh-CN" sz="2600" baseline="-25000" dirty="0"/>
              <a:t>2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5644896" y="1133856"/>
            <a:ext cx="3935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altLang="zh-CN" sz="2000" b="1" i="1" dirty="0" err="1">
                <a:solidFill>
                  <a:schemeClr val="accent2">
                    <a:lumMod val="75000"/>
                  </a:schemeClr>
                </a:solidFill>
              </a:rPr>
              <a:t>aq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</a:rPr>
              <a:t>澄清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混浊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,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棕色气体产生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23617" y="2084832"/>
            <a:ext cx="31821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 + 4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O+ 8 NO</a:t>
            </a:r>
            <a:r>
              <a:rPr lang="en-US" altLang="zh-CN" sz="2600" baseline="-25000" dirty="0"/>
              <a:t>2</a:t>
            </a:r>
            <a:endParaRPr lang="en-US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6076697" y="2104136"/>
            <a:ext cx="2546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有棕色气体产生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29789" y="3067812"/>
            <a:ext cx="19756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4 S + 4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endParaRPr lang="en-US" sz="2600" dirty="0"/>
          </a:p>
        </p:txBody>
      </p:sp>
      <p:sp>
        <p:nvSpPr>
          <p:cNvPr id="12" name="TextBox 11"/>
          <p:cNvSpPr txBox="1"/>
          <p:nvPr/>
        </p:nvSpPr>
        <p:spPr>
          <a:xfrm>
            <a:off x="5035297" y="3110484"/>
            <a:ext cx="2178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altLang="zh-CN" sz="2000" b="1" i="1" dirty="0" err="1">
                <a:solidFill>
                  <a:schemeClr val="accent2">
                    <a:lumMod val="75000"/>
                  </a:schemeClr>
                </a:solidFill>
              </a:rPr>
              <a:t>aq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</a:rPr>
              <a:t>澄清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混浊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3641" y="3992986"/>
            <a:ext cx="19756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 + 3 S</a:t>
            </a:r>
            <a:endParaRPr lang="en-US" sz="2600" dirty="0"/>
          </a:p>
        </p:txBody>
      </p:sp>
      <p:sp>
        <p:nvSpPr>
          <p:cNvPr id="15" name="TextBox 14"/>
          <p:cNvSpPr txBox="1"/>
          <p:nvPr/>
        </p:nvSpPr>
        <p:spPr>
          <a:xfrm>
            <a:off x="4584700" y="3986890"/>
            <a:ext cx="4559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</a:rPr>
              <a:t>活动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</a:rPr>
              <a:t>17 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</a:rPr>
              <a:t>产生黄色沉淀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标题 3"/>
          <p:cNvSpPr txBox="1">
            <a:spLocks/>
          </p:cNvSpPr>
          <p:nvPr/>
        </p:nvSpPr>
        <p:spPr>
          <a:xfrm>
            <a:off x="325755" y="296546"/>
            <a:ext cx="7890966" cy="715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1. </a:t>
            </a:r>
            <a:r>
              <a:rPr lang="zh-CN" altLang="en-US" sz="4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还原</a:t>
            </a:r>
            <a:r>
              <a:rPr kumimoji="0" lang="zh-CN" altLang="en-US" sz="40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性 </a:t>
            </a:r>
            <a:r>
              <a:rPr kumimoji="0" lang="en-US" altLang="zh-CN" sz="40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</a:t>
            </a:r>
            <a:r>
              <a:rPr kumimoji="0" lang="en-US" altLang="zh-CN" sz="4000" b="0" i="0" u="none" strike="noStrike" kern="1200" cap="none" spc="0" normalizeH="0" baseline="3000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2-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 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S</a:t>
            </a:r>
            <a:r>
              <a:rPr kumimoji="0" lang="en-US" altLang="zh-CN" sz="4000" b="0" i="0" u="none" strike="noStrike" kern="1200" cap="none" spc="0" normalizeH="0" baseline="3000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0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  S</a:t>
            </a:r>
            <a:r>
              <a:rPr kumimoji="0" lang="en-US" altLang="zh-CN" sz="4000" b="0" i="0" u="none" strike="noStrike" kern="1200" cap="none" spc="0" normalizeH="0" baseline="3000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4+</a:t>
            </a:r>
            <a:r>
              <a:rPr lang="en-US" altLang="zh-CN" sz="4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Wingdings" pitchFamily="2" charset="2"/>
              </a:rPr>
              <a:t>  S</a:t>
            </a:r>
            <a:r>
              <a:rPr lang="en-US" altLang="zh-CN" sz="4000" baseline="30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Wingdings" pitchFamily="2" charset="2"/>
              </a:rPr>
              <a:t>6+ </a:t>
            </a:r>
            <a:endParaRPr kumimoji="0" lang="en-US" altLang="zh-CN" sz="40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0" grpId="0"/>
      <p:bldP spid="12" grpId="0"/>
      <p:bldP spid="14" grpId="0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2997" y="854475"/>
            <a:ext cx="8337233" cy="5874259"/>
          </a:xfrm>
        </p:spPr>
        <p:txBody>
          <a:bodyPr>
            <a:noAutofit/>
          </a:bodyPr>
          <a:lstStyle/>
          <a:p>
            <a:pPr marL="342900" indent="-342900" algn="l"/>
            <a:endParaRPr lang="en-US" altLang="zh-CN" sz="26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600" dirty="0">
                <a:sym typeface="Wingdings" pitchFamily="2" charset="2"/>
              </a:rPr>
              <a:t>2 KMnO</a:t>
            </a:r>
            <a:r>
              <a:rPr lang="en-US" altLang="zh-CN" sz="2600" baseline="-25000" dirty="0">
                <a:sym typeface="Wingdings" pitchFamily="2" charset="2"/>
              </a:rPr>
              <a:t>4</a:t>
            </a:r>
            <a:r>
              <a:rPr lang="en-US" altLang="zh-CN" sz="2600" dirty="0">
                <a:sym typeface="Wingdings" pitchFamily="2" charset="2"/>
              </a:rPr>
              <a:t> + 5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 + 3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SO</a:t>
            </a:r>
            <a:r>
              <a:rPr lang="en-US" altLang="zh-CN" sz="2600" baseline="-25000" dirty="0">
                <a:sym typeface="Wingdings" pitchFamily="2" charset="2"/>
              </a:rPr>
              <a:t>4</a:t>
            </a:r>
            <a:r>
              <a:rPr lang="en-US" altLang="zh-CN" sz="2600" dirty="0">
                <a:sym typeface="Wingdings" pitchFamily="2" charset="2"/>
              </a:rPr>
              <a:t>  </a:t>
            </a:r>
            <a:endParaRPr lang="zh-CN" altLang="en-US" sz="2600" dirty="0"/>
          </a:p>
          <a:p>
            <a:pPr marL="342900" indent="-342900" algn="l"/>
            <a:endParaRPr lang="en-US" altLang="zh-CN" sz="2600" dirty="0"/>
          </a:p>
          <a:p>
            <a:pPr marL="342900" indent="-342900" algn="l"/>
            <a:r>
              <a:rPr lang="en-US" altLang="zh-CN" sz="2600" dirty="0"/>
              <a:t>K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Cr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7 </a:t>
            </a:r>
            <a:r>
              <a:rPr lang="en-US" altLang="zh-CN" sz="2600" dirty="0"/>
              <a:t>+ 4H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+ 3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 </a:t>
            </a:r>
            <a:r>
              <a:rPr lang="en-US" altLang="zh-CN" sz="2600" dirty="0">
                <a:sym typeface="Wingdings" pitchFamily="2" charset="2"/>
              </a:rPr>
              <a:t></a:t>
            </a:r>
          </a:p>
          <a:p>
            <a:pPr marL="342900" indent="-342900" algn="l"/>
            <a:endParaRPr lang="en-US" altLang="zh-CN" sz="26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600" dirty="0">
                <a:sym typeface="Wingdings" pitchFamily="2" charset="2"/>
              </a:rPr>
              <a:t>2 FeCl</a:t>
            </a:r>
            <a:r>
              <a:rPr lang="en-US" altLang="zh-CN" sz="2600" baseline="-25000" dirty="0">
                <a:sym typeface="Wingdings" pitchFamily="2" charset="2"/>
              </a:rPr>
              <a:t>3</a:t>
            </a:r>
            <a:r>
              <a:rPr lang="en-US" altLang="zh-CN" sz="2600" dirty="0">
                <a:sym typeface="Wingdings" pitchFamily="2" charset="2"/>
              </a:rPr>
              <a:t> +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  </a:t>
            </a:r>
          </a:p>
          <a:p>
            <a:pPr marL="342900" indent="-342900" algn="l"/>
            <a:endParaRPr lang="en-US" altLang="zh-CN" sz="26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600" dirty="0">
                <a:sym typeface="Wingdings" pitchFamily="2" charset="2"/>
              </a:rPr>
              <a:t>Cl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 + H</a:t>
            </a:r>
            <a:r>
              <a:rPr lang="en-US" altLang="zh-CN" sz="2600" baseline="-25000" dirty="0">
                <a:sym typeface="Wingdings" pitchFamily="2" charset="2"/>
              </a:rPr>
              <a:t>2</a:t>
            </a:r>
            <a:r>
              <a:rPr lang="en-US" altLang="zh-CN" sz="2600" dirty="0">
                <a:sym typeface="Wingdings" pitchFamily="2" charset="2"/>
              </a:rPr>
              <a:t>S  </a:t>
            </a:r>
            <a:endParaRPr lang="en-US" altLang="zh-CN" sz="2600" baseline="-25000" dirty="0"/>
          </a:p>
          <a:p>
            <a:pPr marL="342900" indent="-342900" algn="l">
              <a:buFont typeface="Wingdings" charset="0"/>
              <a:buChar char="Ø"/>
            </a:pPr>
            <a:endParaRPr lang="en-US" altLang="zh-CN" sz="2600" dirty="0"/>
          </a:p>
          <a:p>
            <a:pPr marL="342900" indent="-342900" algn="l"/>
            <a:endParaRPr lang="zh-CN" altLang="en-US" sz="26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4429131" y="1294403"/>
            <a:ext cx="45516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K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+ 2 MnSO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+ 8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O+ 5 S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1329823" y="1831867"/>
            <a:ext cx="4559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dirty="0" err="1">
                <a:solidFill>
                  <a:schemeClr val="accent2">
                    <a:lumMod val="75000"/>
                  </a:schemeClr>
                </a:solidFill>
              </a:rPr>
              <a:t>aq</a:t>
            </a:r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</a:rPr>
              <a:t>澄清的紫色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无色且混浊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75563" y="2271287"/>
            <a:ext cx="45989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K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+ Cr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(SO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)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+ 7H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O+ 3 S</a:t>
            </a:r>
            <a:endParaRPr lang="en-US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1360303" y="2727979"/>
            <a:ext cx="4559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dirty="0" err="1">
                <a:solidFill>
                  <a:schemeClr val="accent2">
                    <a:lumMod val="75000"/>
                  </a:schemeClr>
                </a:solidFill>
              </a:rPr>
              <a:t>aq</a:t>
            </a:r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</a:rPr>
              <a:t>澄清的橙色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墨绿色且混浊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45467" y="3252743"/>
            <a:ext cx="300532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2 FeCl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+ S + 2 </a:t>
            </a:r>
            <a:r>
              <a:rPr lang="en-US" altLang="zh-CN" sz="2600" dirty="0" err="1"/>
              <a:t>HCl</a:t>
            </a:r>
            <a:endParaRPr lang="en-US" sz="2600" dirty="0"/>
          </a:p>
        </p:txBody>
      </p:sp>
      <p:sp>
        <p:nvSpPr>
          <p:cNvPr id="11" name="TextBox 10"/>
          <p:cNvSpPr txBox="1"/>
          <p:nvPr/>
        </p:nvSpPr>
        <p:spPr>
          <a:xfrm>
            <a:off x="1451743" y="3721627"/>
            <a:ext cx="4559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dirty="0" err="1">
                <a:solidFill>
                  <a:schemeClr val="accent2">
                    <a:lumMod val="75000"/>
                  </a:schemeClr>
                </a:solidFill>
              </a:rPr>
              <a:t>aq</a:t>
            </a:r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</a:rPr>
              <a:t>澄清</a:t>
            </a:r>
            <a:r>
              <a:rPr lang="en-US" altLang="zh-CN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zh-CN" altLang="en-US" sz="20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混浊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88267" y="4173239"/>
            <a:ext cx="16703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2 </a:t>
            </a:r>
            <a:r>
              <a:rPr lang="en-US" altLang="zh-CN" sz="2600" dirty="0" err="1"/>
              <a:t>HCl</a:t>
            </a:r>
            <a:r>
              <a:rPr lang="en-US" altLang="zh-CN" sz="2600" dirty="0"/>
              <a:t> + S</a:t>
            </a:r>
            <a:endParaRPr lang="en-US" sz="2600" dirty="0"/>
          </a:p>
        </p:txBody>
      </p:sp>
      <p:sp>
        <p:nvSpPr>
          <p:cNvPr id="16" name="标题 3"/>
          <p:cNvSpPr txBox="1">
            <a:spLocks/>
          </p:cNvSpPr>
          <p:nvPr/>
        </p:nvSpPr>
        <p:spPr>
          <a:xfrm>
            <a:off x="325755" y="296546"/>
            <a:ext cx="7890966" cy="715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1. </a:t>
            </a:r>
            <a:r>
              <a:rPr lang="zh-CN" altLang="en-US" sz="4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还原</a:t>
            </a:r>
            <a:r>
              <a:rPr kumimoji="0" lang="zh-CN" altLang="en-US" sz="40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性 </a:t>
            </a:r>
            <a:r>
              <a:rPr kumimoji="0" lang="en-US" altLang="zh-CN" sz="4000" b="0" i="0" u="none" strike="noStrike" kern="120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</a:t>
            </a:r>
            <a:r>
              <a:rPr kumimoji="0" lang="en-US" altLang="zh-CN" sz="4000" b="0" i="0" u="none" strike="noStrike" kern="1200" cap="none" spc="0" normalizeH="0" baseline="3000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2-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 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S</a:t>
            </a:r>
            <a:r>
              <a:rPr kumimoji="0" lang="en-US" altLang="zh-CN" sz="4000" b="0" i="0" u="none" strike="noStrike" kern="1200" cap="none" spc="0" normalizeH="0" baseline="3000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0</a:t>
            </a:r>
            <a:r>
              <a:rPr kumimoji="0" lang="en-US" altLang="zh-CN" sz="4000" b="0" i="0" u="none" strike="noStrike" kern="1200" cap="none" spc="0" normalizeH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  S</a:t>
            </a:r>
            <a:r>
              <a:rPr kumimoji="0" lang="en-US" altLang="zh-CN" sz="4000" b="0" i="0" u="none" strike="noStrike" kern="1200" cap="none" spc="0" normalizeH="0" baseline="3000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Wingdings" pitchFamily="2" charset="2"/>
              </a:rPr>
              <a:t>4+</a:t>
            </a:r>
            <a:r>
              <a:rPr lang="en-US" altLang="zh-CN" sz="4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Wingdings" pitchFamily="2" charset="2"/>
              </a:rPr>
              <a:t>  S</a:t>
            </a:r>
            <a:r>
              <a:rPr lang="en-US" altLang="zh-CN" sz="4000" baseline="30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Wingdings" pitchFamily="2" charset="2"/>
              </a:rPr>
              <a:t>6+ </a:t>
            </a:r>
            <a:endParaRPr kumimoji="0" lang="en-US" altLang="zh-CN" sz="40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</a:t>
            </a:r>
            <a:r>
              <a:rPr lang="zh-CN" altLang="en-US" sz="2800" dirty="0"/>
              <a:t>是可燃性气体</a:t>
            </a:r>
            <a:endParaRPr lang="en-US" altLang="zh-CN" sz="2800" dirty="0"/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经</a:t>
            </a:r>
            <a:r>
              <a:rPr lang="en-US" altLang="zh-CN" sz="2800" dirty="0" err="1"/>
              <a:t>点火</a:t>
            </a:r>
            <a:r>
              <a:rPr lang="zh-CN" altLang="en-US" sz="2800" dirty="0"/>
              <a:t>，硫化氢</a:t>
            </a:r>
            <a:r>
              <a:rPr lang="en-US" altLang="zh-CN" sz="2800" dirty="0" err="1"/>
              <a:t>能在空气中燃烧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800" dirty="0" err="1"/>
              <a:t>燃烧时产生蓝色火焰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algn="l">
              <a:lnSpc>
                <a:spcPct val="120000"/>
              </a:lnSpc>
            </a:pPr>
            <a:r>
              <a:rPr lang="zh-CN" altLang="en-US" sz="2800" dirty="0"/>
              <a:t>完全燃烧：</a:t>
            </a:r>
            <a:r>
              <a:rPr lang="en-US" altLang="zh-CN" sz="2800" dirty="0"/>
              <a:t>	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+ 3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		 2</a:t>
            </a:r>
            <a:r>
              <a:rPr lang="en-US" altLang="zh-CN" sz="2800" dirty="0"/>
              <a:t> SO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</a:p>
          <a:p>
            <a:pPr algn="l">
              <a:lnSpc>
                <a:spcPct val="120000"/>
              </a:lnSpc>
            </a:pPr>
            <a:r>
              <a:rPr lang="zh-CN" altLang="en-US" sz="2800" dirty="0"/>
              <a:t>不完全燃烧：</a:t>
            </a:r>
            <a:r>
              <a:rPr lang="en-US" altLang="zh-CN" sz="2800" dirty="0"/>
              <a:t>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+ 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	 2</a:t>
            </a:r>
            <a:r>
              <a:rPr lang="en-US" altLang="zh-CN" sz="2800" dirty="0"/>
              <a:t> S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5559890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可燃性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57927" y="3180008"/>
            <a:ext cx="822960" cy="307777"/>
            <a:chOff x="2819405" y="5893158"/>
            <a:chExt cx="822960" cy="30777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5" y="6172117"/>
              <a:ext cx="8229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95600" y="589315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094417" y="3770293"/>
            <a:ext cx="822960" cy="307777"/>
            <a:chOff x="2819405" y="5893158"/>
            <a:chExt cx="822960" cy="307777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819405" y="6172117"/>
              <a:ext cx="8229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895600" y="589315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点燃</a:t>
              </a:r>
              <a:endParaRPr lang="en-US" sz="1400" dirty="0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4925096" y="3183228"/>
            <a:ext cx="2042374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976611" y="3827172"/>
            <a:ext cx="1939344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84856"/>
            <a:ext cx="8337233" cy="541508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/>
              <a:t>在温度较高时，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</a:t>
            </a:r>
            <a:r>
              <a:rPr lang="zh-CN" altLang="en-US" sz="2800" dirty="0"/>
              <a:t>分解成氢气和硫。</a:t>
            </a:r>
            <a:endParaRPr lang="en-US" altLang="zh-CN" sz="2800" dirty="0"/>
          </a:p>
          <a:p>
            <a:pPr algn="l">
              <a:lnSpc>
                <a:spcPct val="150000"/>
              </a:lnSpc>
              <a:buFont typeface="Wingdings" charset="0"/>
            </a:pPr>
            <a:r>
              <a:rPr lang="en-US" altLang="zh-CN" sz="2800" dirty="0"/>
              <a:t>		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</a:t>
            </a:r>
            <a:r>
              <a:rPr lang="en-US" altLang="zh-CN" sz="2800" dirty="0">
                <a:sym typeface="Wingdings" pitchFamily="2" charset="2"/>
              </a:rPr>
              <a:t>		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S </a:t>
            </a:r>
            <a:endParaRPr lang="zh-CN" altLang="en-US" sz="2800" dirty="0"/>
          </a:p>
          <a:p>
            <a:pPr marL="342900" indent="-342900" algn="l"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16" name="标题 3"/>
          <p:cNvSpPr txBox="1">
            <a:spLocks/>
          </p:cNvSpPr>
          <p:nvPr/>
        </p:nvSpPr>
        <p:spPr>
          <a:xfrm>
            <a:off x="325755" y="296546"/>
            <a:ext cx="7890966" cy="715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Wingdings" pitchFamily="2" charset="2"/>
              </a:rPr>
              <a:t>3.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Wingdings" pitchFamily="2" charset="2"/>
              </a:rPr>
              <a:t>热分解</a:t>
            </a:r>
            <a:r>
              <a:rPr lang="en-US" altLang="zh-CN" sz="4400" baseline="30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Wingdings" pitchFamily="2" charset="2"/>
              </a:rPr>
              <a:t> </a:t>
            </a:r>
            <a:endParaRPr kumimoji="0" lang="en-US" altLang="zh-CN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911708" y="2123940"/>
            <a:ext cx="822960" cy="307777"/>
            <a:chOff x="2819405" y="5893158"/>
            <a:chExt cx="822960" cy="307777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2819405" y="6172117"/>
              <a:ext cx="8229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895600" y="589315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高温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8127" y="1329691"/>
            <a:ext cx="8337233" cy="4936997"/>
          </a:xfrm>
        </p:spPr>
        <p:txBody>
          <a:bodyPr>
            <a:normAutofit/>
          </a:bodyPr>
          <a:lstStyle/>
          <a:p>
            <a:pPr marL="342900" indent="-342900" algn="l">
              <a:buFont typeface="Wingdings" charset="0"/>
              <a:buChar char="Ø"/>
            </a:pPr>
            <a:r>
              <a:rPr lang="zh-CN" altLang="en-US" sz="2800" b="1" dirty="0">
                <a:solidFill>
                  <a:srgbClr val="C00000"/>
                </a:solidFill>
              </a:rPr>
              <a:t>金属硫化物</a:t>
            </a:r>
            <a:r>
              <a:rPr lang="en-US" altLang="zh-CN" sz="2800" b="1" dirty="0">
                <a:solidFill>
                  <a:srgbClr val="C00000"/>
                </a:solidFill>
              </a:rPr>
              <a:t>+ </a:t>
            </a:r>
            <a:r>
              <a:rPr lang="zh-CN" altLang="en-US" sz="2800" b="1" dirty="0">
                <a:solidFill>
                  <a:srgbClr val="C00000"/>
                </a:solidFill>
              </a:rPr>
              <a:t>酸 </a:t>
            </a:r>
            <a:r>
              <a:rPr lang="en-US" altLang="zh-CN" sz="2800" b="1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C00000"/>
                </a:solidFill>
                <a:sym typeface="Wingdings" pitchFamily="2" charset="2"/>
              </a:rPr>
              <a:t>盐 </a:t>
            </a:r>
            <a:r>
              <a:rPr lang="en-US" altLang="zh-CN" sz="2800" b="1" dirty="0">
                <a:solidFill>
                  <a:srgbClr val="C00000"/>
                </a:solidFill>
                <a:sym typeface="Wingdings" pitchFamily="2" charset="2"/>
              </a:rPr>
              <a:t>+ H</a:t>
            </a:r>
            <a:r>
              <a:rPr lang="en-US" altLang="zh-CN" sz="2800" b="1" baseline="-25000" dirty="0">
                <a:solidFill>
                  <a:srgbClr val="C0000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C00000"/>
                </a:solidFill>
                <a:sym typeface="Wingdings" pitchFamily="2" charset="2"/>
              </a:rPr>
              <a:t>S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algn="l">
              <a:buFont typeface="Wingdings" charset="0"/>
            </a:pPr>
            <a:r>
              <a:rPr lang="en-US" altLang="zh-CN" sz="2800" dirty="0"/>
              <a:t>	</a:t>
            </a:r>
            <a:r>
              <a:rPr lang="en-US" altLang="zh-CN" sz="2800" dirty="0" err="1"/>
              <a:t>FeS</a:t>
            </a:r>
            <a:r>
              <a:rPr lang="en-US" altLang="zh-CN" sz="2800" dirty="0"/>
              <a:t> + 2HCl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/>
              <a:t>FeCl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</a:t>
            </a:r>
            <a:r>
              <a:rPr lang="zh-CN" altLang="en-US" sz="2800" dirty="0"/>
              <a:t>↑</a:t>
            </a:r>
          </a:p>
          <a:p>
            <a:pPr algn="l">
              <a:buFont typeface="Wingdings" charset="0"/>
            </a:pPr>
            <a:r>
              <a:rPr lang="en-US" altLang="zh-CN" sz="2800" dirty="0"/>
              <a:t>	</a:t>
            </a:r>
            <a:r>
              <a:rPr lang="en-US" altLang="zh-CN" sz="2800" dirty="0" err="1"/>
              <a:t>FeS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 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/>
              <a:t>FeSO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</a:t>
            </a:r>
            <a:r>
              <a:rPr lang="zh-CN" altLang="en-US" sz="2800" dirty="0"/>
              <a:t>↑</a:t>
            </a:r>
          </a:p>
          <a:p>
            <a:pPr algn="l">
              <a:buFont typeface="Wingdings" charset="0"/>
            </a:pPr>
            <a:endParaRPr lang="zh-CN" altLang="en-US" sz="2800" dirty="0"/>
          </a:p>
          <a:p>
            <a:pPr algn="l">
              <a:buFont typeface="Wingdings" charset="0"/>
            </a:pPr>
            <a:r>
              <a:rPr lang="zh-CN" altLang="en-US" sz="2800" dirty="0"/>
              <a:t>干燥剂：无水氯化钙，</a:t>
            </a:r>
            <a:endParaRPr lang="en-US" altLang="zh-CN" sz="2800" dirty="0"/>
          </a:p>
          <a:p>
            <a:pPr algn="l">
              <a:buFont typeface="Wingdings" charset="0"/>
            </a:pPr>
            <a:r>
              <a:rPr lang="zh-CN" altLang="en-US" sz="2800" dirty="0"/>
              <a:t>收集方法：向上排气法收集。</a:t>
            </a:r>
            <a:endParaRPr lang="en-US" altLang="zh-CN" sz="2800" dirty="0"/>
          </a:p>
          <a:p>
            <a:pPr algn="l">
              <a:buFont typeface="Wingdings" charset="0"/>
            </a:pPr>
            <a:endParaRPr lang="en-US" altLang="zh-CN" sz="2800" dirty="0"/>
          </a:p>
          <a:p>
            <a:pPr algn="l">
              <a:buFont typeface="Wingdings" charset="0"/>
            </a:pPr>
            <a:r>
              <a:rPr lang="zh-CN" altLang="en-US" sz="2800" dirty="0"/>
              <a:t>交流分享</a:t>
            </a:r>
            <a:endParaRPr lang="en-US" altLang="zh-CN" sz="2800" dirty="0"/>
          </a:p>
          <a:p>
            <a:pPr algn="l">
              <a:buFont typeface="Wingdings" charset="0"/>
            </a:pPr>
            <a:r>
              <a:rPr lang="zh-CN" altLang="en-US" sz="2800" dirty="0"/>
              <a:t>（气体的发生、净化、收集、尾气处理）</a:t>
            </a: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6707" y="297181"/>
            <a:ext cx="6318791" cy="702945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14.5.2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硫化氢的制取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061321" y="737223"/>
            <a:ext cx="3082679" cy="4600302"/>
            <a:chOff x="5703280" y="582676"/>
            <a:chExt cx="3082679" cy="4600302"/>
          </a:xfrm>
        </p:grpSpPr>
        <p:pic>
          <p:nvPicPr>
            <p:cNvPr id="7" name="图片 6" descr="15-53-19-75-49932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703280" y="582676"/>
              <a:ext cx="3033195" cy="4600302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266721" y="4716921"/>
              <a:ext cx="1519238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启普发生器</a:t>
              </a:r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3263722" y="1843825"/>
            <a:ext cx="1939344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508419" y="2333222"/>
            <a:ext cx="2081011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956622"/>
            <a:ext cx="8337233" cy="5089525"/>
          </a:xfrm>
        </p:spPr>
        <p:txBody>
          <a:bodyPr>
            <a:noAutofit/>
          </a:bodyPr>
          <a:lstStyle/>
          <a:p>
            <a:pPr marL="342900" indent="-342900" algn="l"/>
            <a:endParaRPr lang="en-US" altLang="zh-CN" sz="2800" dirty="0"/>
          </a:p>
          <a:p>
            <a:pPr marL="342900" indent="-342900" algn="l"/>
            <a:r>
              <a:rPr lang="en-US" altLang="zh-CN" sz="2800" dirty="0"/>
              <a:t>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Pb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dirty="0" err="1"/>
              <a:t>S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+ 2 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COOH </a:t>
            </a:r>
          </a:p>
          <a:p>
            <a:pPr marL="342900" indent="-342900" algn="l"/>
            <a:r>
              <a:rPr lang="en-US" altLang="zh-CN" sz="2800" dirty="0" err="1"/>
              <a:t>Pb</a:t>
            </a:r>
            <a:r>
              <a:rPr lang="en-US" altLang="zh-CN" sz="2800" dirty="0"/>
              <a:t>(NO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dirty="0" err="1"/>
              <a:t>S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+ 2 HNO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</a:p>
          <a:p>
            <a:pPr marL="342900" indent="-342900" algn="l"/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b="1" dirty="0"/>
              <a:t>无色</a:t>
            </a:r>
            <a:r>
              <a:rPr lang="zh-CN" altLang="en-US" sz="2800" dirty="0"/>
              <a:t>醋酸铅溶液与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</a:t>
            </a:r>
            <a:r>
              <a:rPr lang="zh-CN" altLang="en-US" sz="2800" dirty="0"/>
              <a:t>反应后，</a:t>
            </a:r>
            <a:endParaRPr lang="en-US" altLang="zh-CN" sz="2800" dirty="0"/>
          </a:p>
          <a:p>
            <a:pPr marL="342900" indent="-342900" algn="l"/>
            <a:r>
              <a:rPr lang="zh-CN" altLang="en-US" sz="2800" dirty="0"/>
              <a:t>生成深棕色或</a:t>
            </a:r>
            <a:r>
              <a:rPr lang="zh-CN" altLang="en-US" sz="2800" dirty="0">
                <a:sym typeface="Wingdings" pitchFamily="2" charset="2"/>
              </a:rPr>
              <a:t>黑色沉淀。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endParaRPr lang="en-US" altLang="zh-CN" sz="2800" dirty="0">
              <a:sym typeface="Wingdings" pitchFamily="2" charset="2"/>
            </a:endParaRP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醋酸铅试纸滤纸遇到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</a:t>
            </a:r>
            <a:r>
              <a:rPr lang="zh-CN" altLang="en-US" sz="2800" dirty="0">
                <a:sym typeface="Wingdings" pitchFamily="2" charset="2"/>
              </a:rPr>
              <a:t>后，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zh-CN" altLang="en-US" sz="2800" dirty="0"/>
              <a:t>从</a:t>
            </a:r>
            <a:r>
              <a:rPr lang="zh-CN" altLang="en-US" sz="2800" b="1" dirty="0">
                <a:solidFill>
                  <a:srgbClr val="FF0000"/>
                </a:solidFill>
              </a:rPr>
              <a:t>白色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黄色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茶色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褐色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黑色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endParaRPr lang="en-US" altLang="zh-CN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9011428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14.5.3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硫化氢气体的检验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954629" y="1972613"/>
            <a:ext cx="1939344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249251"/>
            <a:ext cx="8337233" cy="4796896"/>
          </a:xfrm>
        </p:spPr>
        <p:txBody>
          <a:bodyPr>
            <a:noAutofit/>
          </a:bodyPr>
          <a:lstStyle/>
          <a:p>
            <a:pPr marL="514350" indent="-514350" algn="l"/>
            <a:r>
              <a:rPr lang="en-US" altLang="zh-CN" sz="2800" dirty="0"/>
              <a:t>1. A	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 + 2 HNO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2800" baseline="-25000" dirty="0">
                <a:sym typeface="Wingdings" pitchFamily="2" charset="2"/>
              </a:rPr>
              <a:t>(</a:t>
            </a:r>
            <a:r>
              <a:rPr lang="zh-CN" altLang="en-US" sz="2800" baseline="-25000" dirty="0">
                <a:sym typeface="Wingdings" pitchFamily="2" charset="2"/>
              </a:rPr>
              <a:t>稀</a:t>
            </a:r>
            <a:r>
              <a:rPr lang="en-US" altLang="zh-CN" sz="2800" baseline="-25000" dirty="0">
                <a:sym typeface="Wingdings" pitchFamily="2" charset="2"/>
              </a:rPr>
              <a:t>)</a:t>
            </a:r>
            <a:r>
              <a:rPr lang="en-US" altLang="zh-CN" sz="2800" dirty="0">
                <a:sym typeface="Wingdings" pitchFamily="2" charset="2"/>
              </a:rPr>
              <a:t>  </a:t>
            </a:r>
          </a:p>
          <a:p>
            <a:pPr algn="l">
              <a:buFont typeface="Wingdings" charset="0"/>
            </a:pPr>
            <a:r>
              <a:rPr lang="en-US" altLang="zh-CN" sz="2800" dirty="0">
                <a:sym typeface="Wingdings" pitchFamily="2" charset="2"/>
              </a:rPr>
              <a:t>    B 	3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 +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2800" baseline="-25000" dirty="0">
                <a:sym typeface="Wingdings" pitchFamily="2" charset="2"/>
              </a:rPr>
              <a:t>(</a:t>
            </a:r>
            <a:r>
              <a:rPr lang="zh-CN" altLang="en-US" sz="2800" baseline="-25000" dirty="0">
                <a:sym typeface="Wingdings" pitchFamily="2" charset="2"/>
              </a:rPr>
              <a:t>浓</a:t>
            </a:r>
            <a:r>
              <a:rPr lang="en-US" altLang="zh-CN" sz="2800" baseline="-25000" dirty="0">
                <a:sym typeface="Wingdings" pitchFamily="2" charset="2"/>
              </a:rPr>
              <a:t>)</a:t>
            </a:r>
            <a:r>
              <a:rPr lang="en-US" altLang="zh-CN" sz="2800" dirty="0">
                <a:sym typeface="Wingdings" pitchFamily="2" charset="2"/>
              </a:rPr>
              <a:t> </a:t>
            </a:r>
          </a:p>
          <a:p>
            <a:pPr marL="342900" indent="-342900" algn="l"/>
            <a:r>
              <a:rPr lang="en-US" altLang="zh-CN" sz="2800" dirty="0"/>
              <a:t>    D	Br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</a:t>
            </a:r>
            <a:r>
              <a:rPr lang="en-US" altLang="zh-CN" sz="2800" dirty="0">
                <a:sym typeface="Wingdings" pitchFamily="2" charset="2"/>
              </a:rPr>
              <a:t> </a:t>
            </a:r>
            <a:endParaRPr lang="en-US" altLang="zh-CN" sz="2800" dirty="0"/>
          </a:p>
          <a:p>
            <a:pPr marL="342900" indent="-342900" algn="l"/>
            <a:r>
              <a:rPr lang="en-US" altLang="zh-CN" sz="2800" dirty="0" err="1">
                <a:sym typeface="Wingdings" pitchFamily="2" charset="2"/>
              </a:rPr>
              <a:t>Ans:C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2. 	Z </a:t>
            </a:r>
            <a:r>
              <a:rPr lang="zh-CN" altLang="en-US" sz="2800" dirty="0">
                <a:sym typeface="Wingdings" pitchFamily="2" charset="2"/>
              </a:rPr>
              <a:t>：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X :</a:t>
            </a:r>
            <a:r>
              <a:rPr lang="zh-CN" altLang="en-US" sz="2800" dirty="0">
                <a:sym typeface="Wingdings" pitchFamily="2" charset="2"/>
              </a:rPr>
              <a:t>金属硫化物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	Y</a:t>
            </a:r>
            <a:r>
              <a:rPr lang="zh-CN" altLang="en-US" sz="2800" dirty="0">
                <a:sym typeface="Wingdings" pitchFamily="2" charset="2"/>
              </a:rPr>
              <a:t>： 酸</a:t>
            </a:r>
            <a:endParaRPr lang="en-US" altLang="zh-CN" sz="2800" dirty="0">
              <a:sym typeface="Wingdings" pitchFamily="2" charset="2"/>
            </a:endParaRPr>
          </a:p>
          <a:p>
            <a:pPr marL="342900" indent="-342900" algn="l"/>
            <a:r>
              <a:rPr lang="en-US" altLang="zh-CN" sz="2800" dirty="0">
                <a:sym typeface="Wingdings" pitchFamily="2" charset="2"/>
              </a:rPr>
              <a:t>	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 + 2NaOH 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</a:t>
            </a:r>
          </a:p>
          <a:p>
            <a:pPr marL="342900" indent="-342900" algn="l"/>
            <a:r>
              <a:rPr lang="en-US" altLang="zh-CN" sz="2800" dirty="0" err="1">
                <a:sym typeface="Wingdings" pitchFamily="2" charset="2"/>
              </a:rPr>
              <a:t>Ans</a:t>
            </a:r>
            <a:r>
              <a:rPr lang="en-US" altLang="zh-CN" sz="2800" dirty="0">
                <a:sym typeface="Wingdings" pitchFamily="2" charset="2"/>
              </a:rPr>
              <a:t>: A </a:t>
            </a:r>
            <a:endParaRPr lang="en-US" altLang="zh-CN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9011428" cy="71564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思考题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3719" y="1192150"/>
            <a:ext cx="39356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S + 2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O+ 2NO</a:t>
            </a:r>
            <a:r>
              <a:rPr lang="en-US" altLang="zh-CN" sz="2600" baseline="-25000" dirty="0"/>
              <a:t>2</a:t>
            </a:r>
            <a:endParaRPr lang="en-US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4417676" y="1715525"/>
            <a:ext cx="19756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4 S + 4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3166279" y="2241412"/>
            <a:ext cx="19756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 S + 2 </a:t>
            </a:r>
            <a:r>
              <a:rPr lang="en-US" altLang="zh-CN" sz="2600" dirty="0" err="1"/>
              <a:t>HBr</a:t>
            </a:r>
            <a:endParaRPr lang="en-US" sz="2600" dirty="0"/>
          </a:p>
        </p:txBody>
      </p:sp>
      <p:sp>
        <p:nvSpPr>
          <p:cNvPr id="8" name="TextBox 7"/>
          <p:cNvSpPr txBox="1"/>
          <p:nvPr/>
        </p:nvSpPr>
        <p:spPr>
          <a:xfrm>
            <a:off x="2378520" y="4274128"/>
            <a:ext cx="1317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 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SO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06683" y="3731069"/>
            <a:ext cx="1317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 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Na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S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895398" cy="5089525"/>
          </a:xfrm>
        </p:spPr>
        <p:txBody>
          <a:bodyPr>
            <a:noAutofit/>
          </a:bodyPr>
          <a:lstStyle/>
          <a:p>
            <a:pPr marL="342900" indent="-342900" algn="l"/>
            <a:r>
              <a:rPr lang="en-US" altLang="zh-CN" sz="2800" dirty="0"/>
              <a:t>14.6.1 </a:t>
            </a:r>
            <a:r>
              <a:rPr lang="zh-CN" altLang="en-US" sz="2800" dirty="0"/>
              <a:t>二氧化硫的性质</a:t>
            </a:r>
            <a:endParaRPr lang="en-US" altLang="zh-CN" sz="2800" dirty="0"/>
          </a:p>
          <a:p>
            <a:pPr marL="342900" indent="-342900" algn="l"/>
            <a:r>
              <a:rPr lang="zh-CN" altLang="en-US" sz="2800" dirty="0"/>
              <a:t>感知生活</a:t>
            </a:r>
            <a:endParaRPr lang="en-US" altLang="zh-CN" sz="2800" dirty="0"/>
          </a:p>
          <a:p>
            <a:pPr marL="342900" indent="-342900" algn="l"/>
            <a:r>
              <a:rPr lang="zh-CN" altLang="en-US" sz="2800" dirty="0"/>
              <a:t>主要来源：</a:t>
            </a:r>
            <a:endParaRPr lang="en-US" altLang="zh-CN" sz="2800" dirty="0"/>
          </a:p>
          <a:p>
            <a:pPr marL="342900" indent="-342900" algn="l"/>
            <a:r>
              <a:rPr lang="zh-CN" altLang="en-US" sz="2800" dirty="0"/>
              <a:t>煤、石油、硫燃烧；金属矿物中的硫或硫化物冶炼时。</a:t>
            </a:r>
            <a:endParaRPr lang="en-US" altLang="zh-CN" sz="2800" dirty="0"/>
          </a:p>
          <a:p>
            <a:pPr marL="342900" indent="-342900" algn="l"/>
            <a:r>
              <a:rPr lang="zh-CN" altLang="en-US" sz="2800" dirty="0"/>
              <a:t>危害：</a:t>
            </a:r>
            <a:endParaRPr lang="en-US" altLang="zh-CN" sz="2800" dirty="0"/>
          </a:p>
          <a:p>
            <a:pPr marL="342900" indent="-342900" algn="l"/>
            <a:r>
              <a:rPr lang="zh-CN" altLang="en-US" sz="2800" dirty="0"/>
              <a:t>有毒、引起呼吸道疾病，严重时会致死。</a:t>
            </a:r>
            <a:endParaRPr lang="en-US" altLang="zh-CN" sz="2800" dirty="0"/>
          </a:p>
          <a:p>
            <a:pPr marL="342900" indent="-342900" algn="l"/>
            <a:r>
              <a:rPr lang="zh-CN" altLang="en-US" sz="2800" dirty="0"/>
              <a:t>酸雨，破坏生态环境。</a:t>
            </a:r>
            <a:endParaRPr lang="zh-CN" altLang="en-US" sz="2400" dirty="0"/>
          </a:p>
          <a:p>
            <a:pPr marL="914400" lvl="1" indent="-457200" algn="l">
              <a:buFont typeface="+mj-ea"/>
              <a:buAutoNum type="circleNumDbPlain"/>
            </a:pPr>
            <a:endParaRPr lang="zh-CN" altLang="en-US" sz="24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5173524" cy="715645"/>
          </a:xfrm>
        </p:spPr>
        <p:txBody>
          <a:bodyPr>
            <a:normAutofit/>
          </a:bodyPr>
          <a:lstStyle/>
          <a:p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14.6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二氧化硫  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SO</a:t>
            </a:r>
            <a:r>
              <a:rPr lang="en-US" altLang="zh-CN" sz="4400" baseline="-25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</a:p>
        </p:txBody>
      </p:sp>
      <p:pic>
        <p:nvPicPr>
          <p:cNvPr id="2" name="图片 1" descr="38dbb6fd5266d01674e6f5e6952bd40734fa35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80" y="4172897"/>
            <a:ext cx="4056845" cy="2580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085412"/>
            <a:ext cx="8337233" cy="5089525"/>
          </a:xfrm>
        </p:spPr>
        <p:txBody>
          <a:bodyPr>
            <a:noAutofit/>
          </a:bodyPr>
          <a:lstStyle/>
          <a:p>
            <a:pPr marL="342900" indent="-342900" algn="l"/>
            <a:r>
              <a:rPr lang="zh-CN" altLang="en-US" sz="2800" dirty="0"/>
              <a:t>物理性质</a:t>
            </a:r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无色、有刺激气味</a:t>
            </a:r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有毒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密度比空气大</a:t>
            </a:r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容易液化</a:t>
            </a:r>
            <a:r>
              <a:rPr lang="en-US" altLang="zh-CN" sz="2800" dirty="0"/>
              <a:t>(</a:t>
            </a:r>
            <a:r>
              <a:rPr lang="zh-CN" altLang="en-US" sz="2800" dirty="0"/>
              <a:t>沸点</a:t>
            </a:r>
            <a:r>
              <a:rPr lang="en-US" altLang="zh-CN" sz="2800" dirty="0"/>
              <a:t>-10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 )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易溶于水。</a:t>
            </a:r>
          </a:p>
          <a:p>
            <a:pPr marL="342900" indent="-342900" algn="l"/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酸性</a:t>
            </a:r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氧化性</a:t>
            </a:r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还原性</a:t>
            </a:r>
            <a:endParaRPr lang="en-US" altLang="zh-CN" sz="2800" dirty="0"/>
          </a:p>
          <a:p>
            <a:pPr marL="342900" indent="-342900" algn="l">
              <a:buFont typeface="Wingdings" pitchFamily="2" charset="2"/>
              <a:buChar char="Ø"/>
            </a:pPr>
            <a:r>
              <a:rPr lang="zh-CN" altLang="en-US" sz="2800" dirty="0"/>
              <a:t>漂白作用</a:t>
            </a:r>
          </a:p>
          <a:p>
            <a:pPr marL="914400" lvl="1" indent="-457200" algn="l">
              <a:buFont typeface="Wingdings" pitchFamily="2" charset="2"/>
              <a:buChar char="Ø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4" y="296546"/>
            <a:ext cx="8431879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14.6.1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二氧化硫的性质</a:t>
            </a:r>
            <a:endParaRPr lang="en-US" altLang="zh-CN" sz="4400" baseline="-250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图片 1" descr="38dbb6fd5266d01674e6f5e6952bd40734fa3504"/>
          <p:cNvPicPr>
            <a:picLocks noChangeAspect="1"/>
          </p:cNvPicPr>
          <p:nvPr/>
        </p:nvPicPr>
        <p:blipFill>
          <a:blip r:embed="rId2" cstate="print"/>
          <a:srcRect l="1795" t="1688" r="1774" b="3377"/>
          <a:stretch>
            <a:fillRect/>
          </a:stretch>
        </p:blipFill>
        <p:spPr>
          <a:xfrm>
            <a:off x="6208402" y="3298718"/>
            <a:ext cx="1799273" cy="1868805"/>
          </a:xfrm>
          <a:prstGeom prst="rect">
            <a:avLst/>
          </a:prstGeom>
        </p:spPr>
      </p:pic>
      <p:pic>
        <p:nvPicPr>
          <p:cNvPr id="5" name="图片 4" descr="1b4c510fd9f9d72a899641d3d62a2834359bbb0a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066299" y="1172033"/>
            <a:ext cx="2355056" cy="1492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800" dirty="0"/>
              <a:t>SO</a:t>
            </a:r>
            <a:r>
              <a:rPr lang="en-US" altLang="zh-CN" sz="2800" baseline="-25000" dirty="0"/>
              <a:t>2 </a:t>
            </a:r>
            <a:r>
              <a:rPr lang="zh-CN" altLang="en-US" sz="2800" dirty="0"/>
              <a:t>酸性氧化物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溶于水生成亚硫酸，故称为亚硫酸酐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亚硫酸不稳定，易分解成二氧化硫和水。</a:t>
            </a:r>
            <a:endParaRPr lang="en-US" altLang="zh-CN" sz="2800" dirty="0"/>
          </a:p>
          <a:p>
            <a:pPr algn="l">
              <a:lnSpc>
                <a:spcPct val="120000"/>
              </a:lnSpc>
            </a:pPr>
            <a:r>
              <a:rPr lang="en-US" altLang="zh-CN" sz="2800" dirty="0"/>
              <a:t>	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</a:t>
            </a:r>
            <a:r>
              <a:rPr lang="en-US" altLang="zh-CN" sz="2800" dirty="0">
                <a:sym typeface="Wingdings" pitchFamily="2" charset="2"/>
              </a:rPr>
              <a:t>             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 </a:t>
            </a:r>
            <a:r>
              <a:rPr lang="en-US" altLang="zh-CN" sz="2800" dirty="0"/>
              <a:t> </a:t>
            </a:r>
          </a:p>
          <a:p>
            <a:pPr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 亚硫酸易被氧化成硫酸</a:t>
            </a:r>
            <a:r>
              <a:rPr lang="en-US" altLang="zh-CN" sz="2800" dirty="0"/>
              <a:t>(S</a:t>
            </a:r>
            <a:r>
              <a:rPr lang="en-US" altLang="zh-CN" sz="2800" baseline="30000" dirty="0"/>
              <a:t>4+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S</a:t>
            </a:r>
            <a:r>
              <a:rPr lang="en-US" altLang="zh-CN" sz="2800" baseline="30000" dirty="0">
                <a:sym typeface="Wingdings" pitchFamily="2" charset="2"/>
              </a:rPr>
              <a:t>6+ </a:t>
            </a:r>
            <a:r>
              <a:rPr lang="en-US" altLang="zh-CN" sz="2800" dirty="0">
                <a:sym typeface="Wingdings" pitchFamily="2" charset="2"/>
              </a:rPr>
              <a:t>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</a:t>
            </a:r>
            <a:r>
              <a:rPr lang="en-US" altLang="zh-CN" sz="2800" dirty="0"/>
              <a:t> )</a:t>
            </a:r>
          </a:p>
          <a:p>
            <a:pPr algn="l">
              <a:lnSpc>
                <a:spcPct val="120000"/>
              </a:lnSpc>
            </a:pPr>
            <a:r>
              <a:rPr lang="en-US" altLang="zh-CN" sz="2800" dirty="0"/>
              <a:t>	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O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2 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</a:p>
          <a:p>
            <a:pPr algn="l">
              <a:lnSpc>
                <a:spcPct val="120000"/>
              </a:lnSpc>
            </a:pPr>
            <a:r>
              <a:rPr lang="en-US" altLang="zh-CN" sz="2800" dirty="0"/>
              <a:t>	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zh-CN" altLang="en-US" sz="2800" baseline="-25000" dirty="0"/>
              <a:t> </a:t>
            </a:r>
            <a:r>
              <a:rPr lang="en-US" altLang="zh-CN" sz="2800" dirty="0"/>
              <a:t>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  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dirty="0">
                <a:sym typeface="Wingdings" pitchFamily="2" charset="2"/>
              </a:rPr>
              <a:t>	</a:t>
            </a:r>
            <a:endParaRPr lang="en-US" altLang="zh-CN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7105355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1.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酸性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8" name="Group 11"/>
          <p:cNvGrpSpPr/>
          <p:nvPr/>
        </p:nvGrpSpPr>
        <p:grpSpPr>
          <a:xfrm>
            <a:off x="2885942" y="3374266"/>
            <a:ext cx="838200" cy="76116"/>
            <a:chOff x="2895600" y="6324600"/>
            <a:chExt cx="2133600" cy="76199"/>
          </a:xfrm>
        </p:grpSpPr>
        <p:cxnSp>
          <p:nvCxnSpPr>
            <p:cNvPr id="19" name="Straight Arrow Connector 18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dirty="0"/>
              <a:t> S</a:t>
            </a:r>
            <a:r>
              <a:rPr lang="en-US" altLang="zh-CN" sz="2800" baseline="30000" dirty="0"/>
              <a:t>4+</a:t>
            </a:r>
            <a:r>
              <a:rPr lang="en-US" altLang="zh-CN" sz="2800" dirty="0"/>
              <a:t> + 4e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S</a:t>
            </a:r>
            <a:r>
              <a:rPr lang="en-US" altLang="zh-CN" sz="2800" baseline="30000" dirty="0">
                <a:sym typeface="Wingdings" pitchFamily="2" charset="2"/>
              </a:rPr>
              <a:t>0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lang="en-US" altLang="zh-CN" sz="2800" dirty="0">
                <a:sym typeface="Wingdings" pitchFamily="2" charset="2"/>
              </a:rPr>
              <a:t>	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CO</a:t>
            </a:r>
          </a:p>
          <a:p>
            <a:pPr algn="l">
              <a:lnSpc>
                <a:spcPct val="120000"/>
              </a:lnSpc>
            </a:pPr>
            <a:r>
              <a:rPr lang="zh-CN" altLang="en-US" sz="2800" dirty="0">
                <a:sym typeface="Wingdings" pitchFamily="2" charset="2"/>
              </a:rPr>
              <a:t>回收废气中的硫</a:t>
            </a:r>
            <a:r>
              <a:rPr lang="en-US" altLang="zh-CN" sz="2800" dirty="0">
                <a:sym typeface="Wingdings" pitchFamily="2" charset="2"/>
              </a:rPr>
              <a:t> 	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           </a:t>
            </a:r>
          </a:p>
          <a:p>
            <a:pPr algn="l">
              <a:lnSpc>
                <a:spcPct val="120000"/>
              </a:lnSpc>
            </a:pP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与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S</a:t>
            </a:r>
            <a:r>
              <a:rPr lang="zh-CN" altLang="en-US" sz="2800" dirty="0">
                <a:sym typeface="Wingdings" pitchFamily="2" charset="2"/>
              </a:rPr>
              <a:t>的反应中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亦表现出氧化性</a:t>
            </a:r>
            <a:endParaRPr lang="en-US" altLang="zh-CN" sz="2800" dirty="0">
              <a:sym typeface="Wingdings" pitchFamily="2" charset="2"/>
            </a:endParaRPr>
          </a:p>
          <a:p>
            <a:pPr algn="l">
              <a:lnSpc>
                <a:spcPct val="120000"/>
              </a:lnSpc>
            </a:pP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  </a:t>
            </a:r>
            <a:endParaRPr lang="en-US" altLang="zh-CN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algn="l">
              <a:lnSpc>
                <a:spcPct val="120000"/>
              </a:lnSpc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7105355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氧化性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818413" y="1712532"/>
            <a:ext cx="1384839" cy="707152"/>
            <a:chOff x="2728261" y="4764825"/>
            <a:chExt cx="1384839" cy="707152"/>
          </a:xfrm>
        </p:grpSpPr>
        <p:grpSp>
          <p:nvGrpSpPr>
            <p:cNvPr id="2" name="Group 16"/>
            <p:cNvGrpSpPr/>
            <p:nvPr/>
          </p:nvGrpSpPr>
          <p:grpSpPr>
            <a:xfrm>
              <a:off x="2728261" y="4764825"/>
              <a:ext cx="1384839" cy="707152"/>
              <a:chOff x="2728261" y="4726188"/>
              <a:chExt cx="1384839" cy="707152"/>
            </a:xfrm>
          </p:grpSpPr>
          <p:cxnSp>
            <p:nvCxnSpPr>
              <p:cNvPr id="11" name="直接箭头连接符 1"/>
              <p:cNvCxnSpPr/>
              <p:nvPr/>
            </p:nvCxnSpPr>
            <p:spPr>
              <a:xfrm>
                <a:off x="2728261" y="5078613"/>
                <a:ext cx="112871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5"/>
              <p:cNvSpPr txBox="1"/>
              <p:nvPr/>
            </p:nvSpPr>
            <p:spPr>
              <a:xfrm>
                <a:off x="2985435" y="4726188"/>
                <a:ext cx="1127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高温</a:t>
                </a:r>
                <a:endParaRPr lang="en-US" altLang="zh-CN" baseline="-25000" dirty="0"/>
              </a:p>
            </p:txBody>
          </p:sp>
          <p:sp>
            <p:nvSpPr>
              <p:cNvPr id="13" name="文本框 6"/>
              <p:cNvSpPr txBox="1"/>
              <p:nvPr/>
            </p:nvSpPr>
            <p:spPr>
              <a:xfrm>
                <a:off x="2976387" y="5064008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4" name="文本框 5"/>
            <p:cNvSpPr txBox="1"/>
            <p:nvPr/>
          </p:nvSpPr>
          <p:spPr>
            <a:xfrm>
              <a:off x="2906187" y="5073660"/>
              <a:ext cx="1127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催化剂</a:t>
              </a:r>
              <a:endParaRPr lang="en-US" altLang="zh-CN" baseline="-25000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521470" y="3754056"/>
            <a:ext cx="1975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+ 3 S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4061010" y="1811149"/>
            <a:ext cx="1975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S + 2 CO</a:t>
            </a:r>
            <a:r>
              <a:rPr lang="en-US" altLang="zh-CN" sz="2800" baseline="-25000" dirty="0"/>
              <a:t>2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6" grpId="0" uiExpan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56875"/>
            <a:ext cx="8337233" cy="5166652"/>
          </a:xfrm>
        </p:spPr>
        <p:txBody>
          <a:bodyPr>
            <a:noAutofit/>
          </a:bodyPr>
          <a:lstStyle/>
          <a:p>
            <a:pPr marL="342900" indent="-342900" algn="l"/>
            <a:r>
              <a:rPr lang="en-US" altLang="zh-CN" sz="2800" dirty="0"/>
              <a:t> S</a:t>
            </a:r>
            <a:r>
              <a:rPr lang="en-US" altLang="zh-CN" sz="2800" baseline="30000" dirty="0"/>
              <a:t>4+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S</a:t>
            </a:r>
            <a:r>
              <a:rPr lang="en-US" altLang="zh-CN" sz="2800" baseline="30000" dirty="0">
                <a:sym typeface="Wingdings" pitchFamily="2" charset="2"/>
              </a:rPr>
              <a:t>6+</a:t>
            </a:r>
            <a:r>
              <a:rPr lang="en-US" altLang="zh-CN" sz="2800" dirty="0"/>
              <a:t> + 2e</a:t>
            </a:r>
            <a:r>
              <a:rPr lang="en-US" altLang="zh-CN" sz="2800" baseline="30000" dirty="0"/>
              <a:t>-</a:t>
            </a:r>
            <a:endParaRPr lang="en-US" altLang="zh-CN" sz="2800" dirty="0"/>
          </a:p>
          <a:p>
            <a:pPr algn="l">
              <a:buFont typeface="Wingdings" charset="0"/>
            </a:pPr>
            <a:r>
              <a:rPr lang="en-US" altLang="zh-CN" sz="2800" dirty="0">
                <a:sym typeface="Wingdings" pitchFamily="2" charset="2"/>
              </a:rPr>
              <a:t>	2 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</a:t>
            </a:r>
          </a:p>
          <a:p>
            <a:pPr algn="l">
              <a:buFont typeface="Wingdings" charset="0"/>
            </a:pPr>
            <a:endParaRPr lang="en-US" altLang="zh-CN" sz="2800" dirty="0">
              <a:sym typeface="Wingdings" pitchFamily="2" charset="2"/>
            </a:endParaRPr>
          </a:p>
          <a:p>
            <a:pPr algn="l">
              <a:buFont typeface="Wingdings" charset="0"/>
            </a:pPr>
            <a:r>
              <a:rPr lang="en-US" altLang="zh-CN" sz="2800" dirty="0">
                <a:sym typeface="Wingdings" pitchFamily="2" charset="2"/>
              </a:rPr>
              <a:t>	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HNO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2800" baseline="-25000" dirty="0">
                <a:sym typeface="Wingdings" pitchFamily="2" charset="2"/>
              </a:rPr>
              <a:t>(</a:t>
            </a:r>
            <a:r>
              <a:rPr lang="zh-CN" altLang="en-US" sz="2800" baseline="-25000" dirty="0">
                <a:sym typeface="Wingdings" pitchFamily="2" charset="2"/>
              </a:rPr>
              <a:t>浓</a:t>
            </a:r>
            <a:r>
              <a:rPr lang="en-US" altLang="zh-CN" sz="2800" baseline="-25000" dirty="0">
                <a:sym typeface="Wingdings" pitchFamily="2" charset="2"/>
              </a:rPr>
              <a:t>)</a:t>
            </a:r>
            <a:r>
              <a:rPr lang="en-US" altLang="zh-CN" sz="2800" dirty="0">
                <a:sym typeface="Wingdings" pitchFamily="2" charset="2"/>
              </a:rPr>
              <a:t>  </a:t>
            </a:r>
          </a:p>
          <a:p>
            <a:pPr algn="l">
              <a:buFont typeface="Wingdings" charset="0"/>
            </a:pPr>
            <a:endParaRPr lang="en-US" altLang="zh-CN" sz="2800" dirty="0">
              <a:sym typeface="Wingdings" pitchFamily="2" charset="2"/>
            </a:endParaRPr>
          </a:p>
          <a:p>
            <a:pPr algn="l">
              <a:buFont typeface="Wingdings" charset="0"/>
            </a:pPr>
            <a:r>
              <a:rPr lang="en-US" altLang="zh-CN" sz="2800" dirty="0">
                <a:sym typeface="Wingdings" pitchFamily="2" charset="2"/>
              </a:rPr>
              <a:t>2 KMnO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+ 5 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 </a:t>
            </a:r>
            <a:endParaRPr lang="zh-CN" altLang="en-US" sz="2800" dirty="0"/>
          </a:p>
          <a:p>
            <a:pPr marL="342900" indent="-342900" algn="l"/>
            <a:endParaRPr lang="en-US" altLang="zh-CN" sz="2800" dirty="0"/>
          </a:p>
          <a:p>
            <a:pPr marL="342900" indent="-342900" algn="l"/>
            <a:r>
              <a:rPr lang="en-US" altLang="zh-CN" sz="2800" dirty="0"/>
              <a:t>K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7 </a:t>
            </a:r>
            <a:r>
              <a:rPr lang="en-US" altLang="zh-CN" sz="2800" dirty="0"/>
              <a:t>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+ 3 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  <a:endParaRPr lang="en-US" altLang="zh-CN" sz="2800" baseline="-25000" dirty="0"/>
          </a:p>
          <a:p>
            <a:pPr marL="342900" indent="-342900" algn="l">
              <a:buFont typeface="Wingdings" charset="0"/>
              <a:buChar char="Ø"/>
            </a:pPr>
            <a:endParaRPr lang="en-US" altLang="zh-CN" sz="2600" dirty="0"/>
          </a:p>
          <a:p>
            <a:pPr marL="342900" indent="-342900" algn="l"/>
            <a:r>
              <a:rPr lang="en-US" altLang="zh-CN" sz="2600" dirty="0">
                <a:sym typeface="Wingdings" pitchFamily="2" charset="2"/>
              </a:rPr>
              <a:t> </a:t>
            </a:r>
            <a:endParaRPr lang="zh-CN" altLang="en-US" sz="26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4270635" y="3638363"/>
            <a:ext cx="4551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K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+ 2 MnSO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+ 2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728468" y="4099927"/>
            <a:ext cx="2732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2">
                    <a:lumMod val="75000"/>
                  </a:schemeClr>
                </a:solidFill>
              </a:rPr>
              <a:t>aq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CN" altLang="en-US" sz="2400" b="1" i="1" dirty="0">
                <a:solidFill>
                  <a:schemeClr val="accent2">
                    <a:lumMod val="75000"/>
                  </a:schemeClr>
                </a:solidFill>
              </a:rPr>
              <a:t>紫色</a:t>
            </a:r>
            <a:r>
              <a:rPr lang="en-US" altLang="zh-CN" sz="24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zh-CN" altLang="en-US" sz="24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无色</a:t>
            </a:r>
            <a:endParaRPr lang="en-US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11168" y="4679642"/>
            <a:ext cx="3572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K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+ Cr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685796" y="5132899"/>
            <a:ext cx="316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2">
                    <a:lumMod val="75000"/>
                  </a:schemeClr>
                </a:solidFill>
              </a:rPr>
              <a:t>aq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zh-CN" altLang="en-US" sz="2400" b="1" i="1" dirty="0">
                <a:solidFill>
                  <a:schemeClr val="accent2">
                    <a:lumMod val="75000"/>
                  </a:schemeClr>
                </a:solidFill>
              </a:rPr>
              <a:t>橙色</a:t>
            </a:r>
            <a:r>
              <a:rPr lang="en-US" altLang="zh-CN" sz="24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zh-CN" altLang="en-US" sz="2400" b="1" i="1" dirty="0">
                <a:solidFill>
                  <a:schemeClr val="accent2">
                    <a:lumMod val="75000"/>
                  </a:schemeClr>
                </a:solidFill>
                <a:sym typeface="Wingdings" pitchFamily="2" charset="2"/>
              </a:rPr>
              <a:t>墨绿色</a:t>
            </a:r>
            <a:endParaRPr lang="en-US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05657" y="1629823"/>
            <a:ext cx="1975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2 SO</a:t>
            </a:r>
            <a:r>
              <a:rPr lang="en-US" altLang="zh-CN" sz="2800" baseline="-25000" dirty="0"/>
              <a:t>3</a:t>
            </a:r>
            <a:endParaRPr lang="en-US" sz="2800" dirty="0"/>
          </a:p>
        </p:txBody>
      </p:sp>
      <p:sp>
        <p:nvSpPr>
          <p:cNvPr id="28" name="TextBox 27"/>
          <p:cNvSpPr txBox="1"/>
          <p:nvPr/>
        </p:nvSpPr>
        <p:spPr>
          <a:xfrm>
            <a:off x="3977640" y="2616088"/>
            <a:ext cx="3227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+  2 NO</a:t>
            </a:r>
            <a:r>
              <a:rPr lang="en-US" altLang="zh-CN" sz="2800" baseline="-25000" dirty="0"/>
              <a:t>2</a:t>
            </a:r>
            <a:endParaRPr lang="en-US" sz="28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2806507" y="1447947"/>
            <a:ext cx="1294147" cy="713994"/>
            <a:chOff x="2060734" y="4248150"/>
            <a:chExt cx="1294147" cy="701815"/>
          </a:xfrm>
        </p:grpSpPr>
        <p:cxnSp>
          <p:nvCxnSpPr>
            <p:cNvPr id="30" name="直接箭头连接符 6"/>
            <p:cNvCxnSpPr/>
            <p:nvPr/>
          </p:nvCxnSpPr>
          <p:spPr>
            <a:xfrm>
              <a:off x="2143030" y="4629785"/>
              <a:ext cx="103482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7"/>
            <p:cNvCxnSpPr/>
            <p:nvPr/>
          </p:nvCxnSpPr>
          <p:spPr>
            <a:xfrm rot="10800000">
              <a:off x="2060734" y="4733926"/>
              <a:ext cx="975074" cy="87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8"/>
            <p:cNvSpPr txBox="1"/>
            <p:nvPr/>
          </p:nvSpPr>
          <p:spPr>
            <a:xfrm>
              <a:off x="2293048" y="4248150"/>
              <a:ext cx="730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2">
                      <a:lumMod val="75000"/>
                    </a:schemeClr>
                  </a:solidFill>
                </a:rPr>
                <a:t>V</a:t>
              </a:r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r>
                <a:rPr lang="en-US" altLang="zh-CN" dirty="0">
                  <a:solidFill>
                    <a:schemeClr val="accent2">
                      <a:lumMod val="75000"/>
                    </a:schemeClr>
                  </a:solidFill>
                </a:rPr>
                <a:t>O</a:t>
              </a:r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33" name="文本框 9"/>
            <p:cNvSpPr txBox="1"/>
            <p:nvPr/>
          </p:nvSpPr>
          <p:spPr>
            <a:xfrm>
              <a:off x="2194465" y="4672966"/>
              <a:ext cx="1160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</a:rPr>
                <a:t>400</a:t>
              </a:r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  <a:cs typeface="SimSun" charset="0"/>
                </a:rPr>
                <a:t>℃~500℃</a:t>
              </a:r>
            </a:p>
          </p:txBody>
        </p:sp>
      </p:grpSp>
      <p:sp>
        <p:nvSpPr>
          <p:cNvPr id="15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7105355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3.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还原性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/>
      <p:bldP spid="7" grpId="0" uiExpand="1"/>
      <p:bldP spid="8" grpId="0" uiExpand="1"/>
      <p:bldP spid="9" grpId="0" uiExpand="1"/>
      <p:bldP spid="27" grpId="0"/>
      <p:bldP spid="2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20462"/>
            <a:ext cx="8337233" cy="544158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/>
              <a:t>二氧化硫能和一些有机色素化合生成无色化合物。</a:t>
            </a:r>
            <a:endParaRPr lang="en-US" altLang="zh-CN" sz="2800" dirty="0"/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/>
              <a:t>生成的无色化合物不稳定，时间久了或受热，便会分解恢复原来的颜色。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能使品红溶液褪色，加热后又能恢复至原色。</a:t>
            </a:r>
            <a:endParaRPr lang="zh-CN" altLang="en-US" sz="2800" dirty="0"/>
          </a:p>
          <a:p>
            <a:pPr marL="342900" indent="-342900" algn="l"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15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7105355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4.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漂白性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530097"/>
            <a:ext cx="7920038" cy="4724399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/>
              <a:t>过氧化氢：利用其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氧化性</a:t>
            </a:r>
            <a:r>
              <a:rPr lang="zh-CN" altLang="en-US" sz="2800" dirty="0"/>
              <a:t>将有色物质氧化为无色物质，是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永久</a:t>
            </a:r>
            <a:r>
              <a:rPr lang="zh-CN" altLang="en-US" sz="2800" dirty="0"/>
              <a:t>漂白。</a:t>
            </a:r>
            <a:endParaRPr lang="en-US" altLang="zh-CN" sz="2800" dirty="0"/>
          </a:p>
          <a:p>
            <a:pPr algn="l"/>
            <a:r>
              <a:rPr lang="zh-CN" altLang="en-US" sz="2800" dirty="0"/>
              <a:t>二氧化硫：利用其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还原性</a:t>
            </a:r>
            <a:r>
              <a:rPr lang="zh-CN" altLang="en-US" sz="2800" dirty="0"/>
              <a:t>与有机色素结合成不稳定的无色物质，时间久了或受热，便会分解恢复原来的颜色，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非</a:t>
            </a:r>
            <a:r>
              <a:rPr lang="zh-CN" altLang="en-US" sz="2800" dirty="0"/>
              <a:t>永久漂白。</a:t>
            </a:r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r>
              <a:rPr lang="zh-CN" altLang="en-US" sz="2800" dirty="0"/>
              <a:t>利用氧化性永久漂白：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ClO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</a:t>
            </a:r>
          </a:p>
          <a:p>
            <a:pPr algn="l"/>
            <a:r>
              <a:rPr lang="zh-CN" altLang="en-US" sz="2800" dirty="0"/>
              <a:t>物理吸附漂白：活性炭</a:t>
            </a:r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endParaRPr lang="en-US" altLang="zh-CN" sz="2800" dirty="0"/>
          </a:p>
          <a:p>
            <a:pPr marL="342900" indent="-342900" algn="l">
              <a:lnSpc>
                <a:spcPct val="90000"/>
              </a:lnSpc>
              <a:buFont typeface="Wingdings" charset="0"/>
              <a:buChar char="Ø"/>
            </a:pP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643255"/>
            <a:ext cx="4608195" cy="68961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补充</a:t>
            </a:r>
            <a:endParaRPr lang="en-US" altLang="zh-CN" sz="36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9238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249251"/>
            <a:ext cx="7920038" cy="5318974"/>
          </a:xfrm>
        </p:spPr>
        <p:txBody>
          <a:bodyPr>
            <a:normAutofit lnSpcReduction="10000"/>
          </a:bodyPr>
          <a:lstStyle/>
          <a:p>
            <a:pPr algn="l"/>
            <a:r>
              <a:rPr lang="zh-CN" altLang="en-US" sz="2800" dirty="0"/>
              <a:t>酸雨的形成：工厂、汽车排放出的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及氮氧化合物在空气中与氧气和水反应后生成硫酸，硝酸造成酸雨。</a:t>
            </a:r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r>
              <a:rPr lang="zh-CN" altLang="en-US" sz="2800" dirty="0"/>
              <a:t>酸雨的影响：</a:t>
            </a:r>
            <a:endParaRPr lang="en-US" altLang="zh-CN" sz="2800" dirty="0"/>
          </a:p>
          <a:p>
            <a:pPr algn="l"/>
            <a:r>
              <a:rPr lang="zh-CN" altLang="en-US" sz="2800" dirty="0"/>
              <a:t>土壤肥力下降，并逐渐酸化，农作物生长被破坏；</a:t>
            </a:r>
            <a:endParaRPr lang="en-US" altLang="zh-CN" sz="2800" dirty="0"/>
          </a:p>
          <a:p>
            <a:pPr algn="l"/>
            <a:r>
              <a:rPr lang="zh-CN" altLang="en-US" sz="2800" dirty="0"/>
              <a:t>江河湖泊酸化，水生生物死亡；</a:t>
            </a:r>
            <a:endParaRPr lang="en-US" altLang="zh-CN" sz="2800" dirty="0"/>
          </a:p>
          <a:p>
            <a:pPr algn="l"/>
            <a:r>
              <a:rPr lang="zh-CN" altLang="en-US" sz="2800" dirty="0"/>
              <a:t>雕塑、建筑被腐蚀。</a:t>
            </a:r>
            <a:endParaRPr lang="en-US" altLang="zh-CN" sz="2800" dirty="0"/>
          </a:p>
          <a:p>
            <a:pPr algn="l"/>
            <a:endParaRPr lang="en-US" altLang="zh-CN" sz="2800" dirty="0">
              <a:sym typeface="+mn-ea"/>
            </a:endParaRPr>
          </a:p>
          <a:p>
            <a:pPr algn="l"/>
            <a:r>
              <a:rPr lang="zh-CN" altLang="en-US" sz="2800" dirty="0">
                <a:sym typeface="+mn-ea"/>
              </a:rPr>
              <a:t>酸雨的防治：</a:t>
            </a:r>
            <a:endParaRPr lang="en-US" altLang="zh-CN" sz="2800" dirty="0">
              <a:sym typeface="+mn-ea"/>
            </a:endParaRPr>
          </a:p>
          <a:p>
            <a:pPr algn="l"/>
            <a:r>
              <a:rPr lang="zh-CN" altLang="en-US" sz="2800" dirty="0">
                <a:sym typeface="+mn-ea"/>
              </a:rPr>
              <a:t>研发新能源；废气处理；环境执法</a:t>
            </a: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25727" y="334162"/>
            <a:ext cx="7855389" cy="68961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14.6.2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酸雨的形成与防治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249251"/>
            <a:ext cx="7920038" cy="5318974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dirty="0">
                <a:sym typeface="+mn-ea"/>
              </a:rPr>
              <a:t>1. B </a:t>
            </a:r>
            <a:r>
              <a:rPr lang="zh-CN" altLang="en-US" sz="2800" dirty="0">
                <a:sym typeface="+mn-ea"/>
              </a:rPr>
              <a:t>有毒</a:t>
            </a:r>
            <a:endParaRPr lang="en-US" altLang="zh-CN" sz="2800" baseline="30000" dirty="0">
              <a:sym typeface="+mn-ea"/>
            </a:endParaRPr>
          </a:p>
          <a:p>
            <a:pPr algn="l"/>
            <a:endParaRPr lang="en-US" altLang="zh-CN" sz="2800" baseline="30000" dirty="0">
              <a:sym typeface="+mn-ea"/>
            </a:endParaRPr>
          </a:p>
          <a:p>
            <a:pPr algn="l"/>
            <a:r>
              <a:rPr lang="en-US" altLang="zh-CN" sz="2800" dirty="0">
                <a:sym typeface="+mn-ea"/>
              </a:rPr>
              <a:t>2. B </a:t>
            </a:r>
          </a:p>
          <a:p>
            <a:pPr algn="l"/>
            <a:r>
              <a:rPr lang="en-US" altLang="zh-CN" sz="2800" dirty="0">
                <a:sym typeface="+mn-ea"/>
              </a:rPr>
              <a:t>CO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 + Ca(OH)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 </a:t>
            </a:r>
            <a:r>
              <a:rPr lang="en-US" altLang="zh-CN" sz="2800" dirty="0">
                <a:sym typeface="Wingdings" pitchFamily="2" charset="2"/>
              </a:rPr>
              <a:t> </a:t>
            </a:r>
          </a:p>
          <a:p>
            <a:pPr algn="l"/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Ca(OH)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</a:t>
            </a:r>
          </a:p>
          <a:p>
            <a:pPr algn="l"/>
            <a:r>
              <a:rPr lang="en-US" altLang="zh-CN" sz="2800" dirty="0">
                <a:sym typeface="+mn-ea"/>
              </a:rPr>
              <a:t>CO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 + BaCl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 + H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O </a:t>
            </a:r>
            <a:r>
              <a:rPr lang="en-US" altLang="zh-CN" sz="2800" dirty="0">
                <a:sym typeface="Wingdings" pitchFamily="2" charset="2"/>
              </a:rPr>
              <a:t> </a:t>
            </a:r>
          </a:p>
          <a:p>
            <a:pPr algn="l"/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BaCl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+mn-ea"/>
              </a:rPr>
              <a:t>+ H</a:t>
            </a:r>
            <a:r>
              <a:rPr lang="en-US" altLang="zh-CN" sz="2800" baseline="-25000" dirty="0"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O </a:t>
            </a:r>
            <a:r>
              <a:rPr lang="en-US" altLang="zh-CN" sz="2800" dirty="0">
                <a:sym typeface="Wingdings" pitchFamily="2" charset="2"/>
              </a:rPr>
              <a:t></a:t>
            </a:r>
          </a:p>
          <a:p>
            <a:pPr algn="l"/>
            <a:endParaRPr lang="en-US" altLang="zh-CN" sz="2800" dirty="0">
              <a:sym typeface="Wingdings" pitchFamily="2" charset="2"/>
            </a:endParaRPr>
          </a:p>
          <a:p>
            <a:pPr algn="l"/>
            <a:r>
              <a:rPr lang="en-US" altLang="zh-CN" sz="2800" dirty="0">
                <a:sym typeface="Wingdings" pitchFamily="2" charset="2"/>
              </a:rPr>
              <a:t>3. D 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25727" y="334162"/>
            <a:ext cx="7855389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思考题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14f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85206" y="2577451"/>
            <a:ext cx="2088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CaCO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3151236" y="3103342"/>
            <a:ext cx="2088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CaSO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973347" y="3654987"/>
            <a:ext cx="2929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BaCO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+ 2HCl 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893927" y="4142237"/>
            <a:ext cx="2929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BaSO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+ 2HCl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user\Desktop\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7243" y="3721028"/>
            <a:ext cx="3681603" cy="2979530"/>
          </a:xfrm>
          <a:prstGeom prst="rect">
            <a:avLst/>
          </a:prstGeom>
          <a:noFill/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</a:pPr>
            <a:r>
              <a:rPr lang="en-US" altLang="zh-CN" sz="2800" dirty="0"/>
              <a:t>14.7.1 </a:t>
            </a:r>
            <a:r>
              <a:rPr lang="zh-CN" altLang="en-US" sz="2800" dirty="0"/>
              <a:t>硫酸的性质和用途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</a:pPr>
            <a:r>
              <a:rPr lang="zh-CN" altLang="en-US" sz="2800" dirty="0"/>
              <a:t>物理性质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无色、无臭、不挥发的透明油状液体。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密度</a:t>
            </a:r>
            <a:r>
              <a:rPr lang="en-US" altLang="zh-CN" sz="2800" dirty="0"/>
              <a:t>1840kgm</a:t>
            </a:r>
            <a:r>
              <a:rPr lang="en-US" altLang="zh-CN" sz="2800" baseline="30000" dirty="0"/>
              <a:t>-3</a:t>
            </a:r>
            <a:r>
              <a:rPr lang="en-US" altLang="zh-CN" sz="2800" dirty="0"/>
              <a:t> 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沸点</a:t>
            </a:r>
            <a:r>
              <a:rPr lang="en-US" altLang="zh-CN" sz="2800" dirty="0"/>
              <a:t>338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稀释强酸强碱是放热反应。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如何稀释浓硫酸？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</a:pP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4295013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14.7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硫酸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026" name="Picture 2" descr="C:\Users\user\Desktop\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09523" y="157207"/>
            <a:ext cx="2852166" cy="23335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user\Desktop\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2097" y="3244505"/>
            <a:ext cx="3681603" cy="2979530"/>
          </a:xfrm>
          <a:prstGeom prst="rect">
            <a:avLst/>
          </a:prstGeom>
          <a:noFill/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</a:pPr>
            <a:r>
              <a:rPr lang="zh-CN" altLang="en-US" sz="2800" dirty="0"/>
              <a:t>化学性质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</a:pPr>
            <a:r>
              <a:rPr lang="zh-CN" altLang="en-US" sz="2800" dirty="0"/>
              <a:t>交流分享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</a:pP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 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HSO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800" dirty="0"/>
              <a:t>HSO</a:t>
            </a:r>
            <a:r>
              <a:rPr lang="en-US" altLang="zh-CN" sz="2800" baseline="-25000" dirty="0"/>
              <a:t>4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&lt;--&gt;</a:t>
            </a:r>
            <a:r>
              <a:rPr lang="en-US" altLang="zh-CN" sz="2800" dirty="0">
                <a:sym typeface="Wingdings" pitchFamily="2" charset="2"/>
              </a:rPr>
              <a:t> 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稀硫酸的二元强酸</a:t>
            </a:r>
            <a:endParaRPr lang="en-US" altLang="zh-CN" sz="2800" dirty="0"/>
          </a:p>
          <a:p>
            <a:pPr marL="971550" lvl="1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具有酸的通性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浓硫酸是弱酸</a:t>
            </a:r>
            <a:endParaRPr lang="en-US" altLang="zh-CN" sz="2800" dirty="0"/>
          </a:p>
          <a:p>
            <a:pPr marL="971550" lvl="1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因为主要以硫酸分子存在，</a:t>
            </a:r>
            <a:endParaRPr lang="en-US" altLang="zh-CN" sz="2800" dirty="0"/>
          </a:p>
          <a:p>
            <a:pPr marL="971550" lvl="1" indent="-514350" algn="l">
              <a:lnSpc>
                <a:spcPct val="120000"/>
              </a:lnSpc>
            </a:pPr>
            <a:r>
              <a:rPr lang="en-US" altLang="zh-CN" sz="2800" dirty="0"/>
              <a:t>	</a:t>
            </a:r>
            <a:r>
              <a:rPr lang="zh-CN" altLang="en-US" sz="2800" dirty="0"/>
              <a:t>没有完全解离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</a:pP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7259901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14.7.1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硫酸的性质和用途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026" name="Picture 2" descr="C:\Users\user\Desktop\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8007" y="865539"/>
            <a:ext cx="2852166" cy="23335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4698" y="931038"/>
            <a:ext cx="8899301" cy="5725793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</a:pPr>
            <a:r>
              <a:rPr lang="zh-CN" altLang="en-US" sz="2500" u="sng" dirty="0"/>
              <a:t>活动</a:t>
            </a:r>
            <a:r>
              <a:rPr lang="en-US" altLang="zh-CN" sz="2500" u="sng" dirty="0"/>
              <a:t>23</a:t>
            </a:r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dirty="0">
                <a:sym typeface="Wingdings" pitchFamily="2" charset="2"/>
              </a:rPr>
              <a:t>蓝色晶体变成白色粉末。</a:t>
            </a:r>
            <a:endParaRPr lang="en-US" altLang="zh-CN" sz="2500" dirty="0"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dirty="0">
                <a:sym typeface="Wingdings" pitchFamily="2" charset="2"/>
              </a:rPr>
              <a:t>浓硫酸脱去结晶水合物中的水</a:t>
            </a:r>
            <a:endParaRPr lang="en-US" altLang="zh-CN" sz="2500" dirty="0"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u="sng" dirty="0">
                <a:sym typeface="Wingdings" pitchFamily="2" charset="2"/>
              </a:rPr>
              <a:t>活动</a:t>
            </a:r>
            <a:r>
              <a:rPr lang="en-US" altLang="zh-CN" sz="2500" u="sng" dirty="0">
                <a:sym typeface="Wingdings" pitchFamily="2" charset="2"/>
              </a:rPr>
              <a:t>24</a:t>
            </a:r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dirty="0"/>
              <a:t>蔗糖逐渐变黑、体积膨胀、放出大量的热，品红溶液褪色。</a:t>
            </a:r>
            <a:endParaRPr lang="en-US" altLang="zh-CN" sz="2500" dirty="0"/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dirty="0"/>
              <a:t>浓硫酸能使蔗糖炭化</a:t>
            </a:r>
            <a:r>
              <a:rPr lang="en-US" altLang="zh-CN" sz="2500" dirty="0"/>
              <a:t>,</a:t>
            </a:r>
            <a:r>
              <a:rPr lang="zh-CN" altLang="en-US" sz="2500" dirty="0"/>
              <a:t>随后浓硫酸又将碳氧化</a:t>
            </a:r>
            <a:r>
              <a:rPr lang="en-US" altLang="zh-CN" sz="2500" dirty="0"/>
              <a:t>,</a:t>
            </a:r>
            <a:r>
              <a:rPr lang="zh-CN" altLang="en-US" sz="2500" dirty="0"/>
              <a:t>自身被还原为</a:t>
            </a:r>
            <a:r>
              <a:rPr lang="en-US" altLang="zh-CN" sz="2500" dirty="0"/>
              <a:t>SO</a:t>
            </a:r>
            <a:r>
              <a:rPr lang="en-US" altLang="zh-CN" sz="2500" baseline="-25000" dirty="0"/>
              <a:t>2</a:t>
            </a:r>
            <a:r>
              <a:rPr lang="en-US" altLang="zh-CN" sz="2500" dirty="0"/>
              <a:t>.</a:t>
            </a:r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u="sng" dirty="0"/>
              <a:t>活动</a:t>
            </a:r>
            <a:r>
              <a:rPr lang="en-US" altLang="zh-CN" sz="2500" u="sng" dirty="0"/>
              <a:t>25</a:t>
            </a:r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dirty="0"/>
              <a:t>加热条件下，</a:t>
            </a:r>
            <a:r>
              <a:rPr lang="en-US" altLang="zh-CN" sz="2500" dirty="0"/>
              <a:t>Cu</a:t>
            </a:r>
            <a:r>
              <a:rPr lang="zh-CN" altLang="en-US" sz="2500" dirty="0"/>
              <a:t>与浓硫酸反应，</a:t>
            </a:r>
            <a:r>
              <a:rPr lang="en-US" altLang="zh-CN" sz="2500" dirty="0"/>
              <a:t>Cu</a:t>
            </a:r>
            <a:r>
              <a:rPr lang="zh-CN" altLang="en-US" sz="2500" dirty="0"/>
              <a:t>逐渐溶解，并有气泡产生，</a:t>
            </a:r>
            <a:endParaRPr lang="en-US" altLang="zh-CN" sz="2500" dirty="0"/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dirty="0"/>
              <a:t>反应后溶液呈蓝色，放出的气体能使品红溶液褪色。</a:t>
            </a:r>
            <a:endParaRPr lang="en-US" altLang="zh-CN" sz="2500" dirty="0"/>
          </a:p>
          <a:p>
            <a:pPr marL="514350" indent="-514350" algn="l">
              <a:lnSpc>
                <a:spcPct val="120000"/>
              </a:lnSpc>
            </a:pPr>
            <a:r>
              <a:rPr lang="zh-CN" altLang="en-US" sz="2500" dirty="0">
                <a:sym typeface="Wingdings" pitchFamily="2" charset="2"/>
              </a:rPr>
              <a:t>说明浓硫酸具有</a:t>
            </a:r>
            <a:r>
              <a:rPr lang="zh-CN" altLang="en-US" sz="2500" dirty="0">
                <a:solidFill>
                  <a:srgbClr val="C00000"/>
                </a:solidFill>
                <a:sym typeface="Wingdings" pitchFamily="2" charset="2"/>
              </a:rPr>
              <a:t>强氧化性</a:t>
            </a:r>
            <a:endParaRPr lang="en-US" altLang="zh-CN" sz="2500" dirty="0">
              <a:solidFill>
                <a:srgbClr val="C00000"/>
              </a:solidFill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500" dirty="0">
                <a:sym typeface="Wingdings" pitchFamily="2" charset="2"/>
              </a:rPr>
              <a:t>	</a:t>
            </a:r>
            <a:endParaRPr lang="en-US" altLang="zh-CN" sz="25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5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5057614" cy="715645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浓硫酸的化学性质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91662" y="2236164"/>
            <a:ext cx="3769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</a:t>
            </a:r>
            <a:r>
              <a:rPr lang="zh-CN" altLang="en-US" sz="2800" dirty="0"/>
              <a:t>浓硫酸具有</a:t>
            </a:r>
            <a:r>
              <a:rPr lang="zh-CN" altLang="en-US" sz="2800" dirty="0">
                <a:solidFill>
                  <a:srgbClr val="C00000"/>
                </a:solidFill>
              </a:rPr>
              <a:t>脱水性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931038"/>
            <a:ext cx="8337233" cy="5725793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吸水性</a:t>
            </a:r>
            <a:r>
              <a:rPr lang="en-US" altLang="zh-CN" sz="2600" dirty="0"/>
              <a:t>—</a:t>
            </a:r>
            <a:r>
              <a:rPr lang="zh-CN" altLang="en-US" sz="2600" dirty="0"/>
              <a:t>干燥剂</a:t>
            </a:r>
            <a:endParaRPr lang="en-US" altLang="zh-CN" sz="2600" dirty="0"/>
          </a:p>
          <a:p>
            <a:pPr marL="971550" lvl="1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200" dirty="0"/>
              <a:t>不能干燥还原性、碱性气体</a:t>
            </a:r>
            <a:endParaRPr lang="en-US" altLang="zh-CN" sz="22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脱水性</a:t>
            </a:r>
            <a:r>
              <a:rPr lang="en-US" altLang="zh-CN" sz="2600" dirty="0"/>
              <a:t>—</a:t>
            </a:r>
            <a:r>
              <a:rPr lang="zh-CN" altLang="en-US" sz="2600" dirty="0"/>
              <a:t>使之具腐蚀性</a:t>
            </a:r>
            <a:endParaRPr lang="en-US" altLang="zh-CN" sz="26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强氧化性</a:t>
            </a:r>
            <a:endParaRPr lang="en-US" altLang="zh-CN" sz="2600" dirty="0"/>
          </a:p>
          <a:p>
            <a:pPr marL="514350" indent="-514350" algn="l">
              <a:lnSpc>
                <a:spcPct val="120000"/>
              </a:lnSpc>
            </a:pPr>
            <a:r>
              <a:rPr lang="en-US" altLang="zh-CN" sz="2600" dirty="0"/>
              <a:t>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4(</a:t>
            </a:r>
            <a:r>
              <a:rPr lang="zh-CN" altLang="en-US" sz="2600" baseline="-25000" dirty="0"/>
              <a:t>浓</a:t>
            </a:r>
            <a:r>
              <a:rPr lang="en-US" altLang="zh-CN" sz="2600" baseline="-25000" dirty="0"/>
              <a:t>)</a:t>
            </a:r>
            <a:r>
              <a:rPr lang="en-US" altLang="zh-CN" sz="2600" dirty="0"/>
              <a:t> + Cu </a:t>
            </a:r>
            <a:endParaRPr lang="en-US" altLang="zh-CN" sz="2600" dirty="0"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600" dirty="0"/>
              <a:t>6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4(</a:t>
            </a:r>
            <a:r>
              <a:rPr lang="zh-CN" altLang="en-US" sz="2600" baseline="-25000" dirty="0"/>
              <a:t>浓</a:t>
            </a:r>
            <a:r>
              <a:rPr lang="en-US" altLang="zh-CN" sz="2600" baseline="-25000" dirty="0"/>
              <a:t>)</a:t>
            </a:r>
            <a:r>
              <a:rPr lang="en-US" altLang="zh-CN" sz="2600" dirty="0"/>
              <a:t> + 2Fe </a:t>
            </a:r>
            <a:endParaRPr lang="en-US" altLang="zh-CN" sz="2600" dirty="0"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600" dirty="0"/>
              <a:t>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4(</a:t>
            </a:r>
            <a:r>
              <a:rPr lang="zh-CN" altLang="en-US" sz="2600" baseline="-25000" dirty="0"/>
              <a:t>浓</a:t>
            </a:r>
            <a:r>
              <a:rPr lang="en-US" altLang="zh-CN" sz="2600" baseline="-25000" dirty="0"/>
              <a:t>)</a:t>
            </a:r>
            <a:r>
              <a:rPr lang="en-US" altLang="zh-CN" sz="2600" dirty="0"/>
              <a:t> + C </a:t>
            </a:r>
            <a:endParaRPr lang="en-US" altLang="zh-CN" sz="2600" dirty="0"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600" dirty="0"/>
              <a:t>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4(</a:t>
            </a:r>
            <a:r>
              <a:rPr lang="zh-CN" altLang="en-US" sz="2600" baseline="-25000" dirty="0"/>
              <a:t>浓</a:t>
            </a:r>
            <a:r>
              <a:rPr lang="en-US" altLang="zh-CN" sz="2600" baseline="-25000" dirty="0"/>
              <a:t>)</a:t>
            </a:r>
            <a:r>
              <a:rPr lang="en-US" altLang="zh-CN" sz="2600" dirty="0"/>
              <a:t> + S  </a:t>
            </a:r>
            <a:endParaRPr lang="en-US" altLang="zh-CN" sz="2600" dirty="0"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>
                <a:sym typeface="Wingdings" pitchFamily="2" charset="2"/>
              </a:rPr>
              <a:t>钝化作用</a:t>
            </a:r>
            <a:r>
              <a:rPr lang="en-US" altLang="zh-CN" sz="2600" dirty="0">
                <a:sym typeface="Wingdings" pitchFamily="2" charset="2"/>
              </a:rPr>
              <a:t>:</a:t>
            </a:r>
            <a:r>
              <a:rPr lang="zh-CN" altLang="en-US" sz="2600" dirty="0">
                <a:sym typeface="Wingdings" pitchFamily="2" charset="2"/>
              </a:rPr>
              <a:t>常温下，浓硫酸能使铁、铝等金属表面形成致密的氧化膜，防治金属内部与其反应。</a:t>
            </a:r>
            <a:endParaRPr lang="en-US" altLang="zh-CN" sz="2600" dirty="0"/>
          </a:p>
          <a:p>
            <a:pPr marL="514350" indent="-514350" algn="l">
              <a:lnSpc>
                <a:spcPct val="120000"/>
              </a:lnSpc>
            </a:pPr>
            <a:endParaRPr lang="en-US" altLang="zh-CN" sz="2600" dirty="0"/>
          </a:p>
          <a:p>
            <a:pPr marL="514350" indent="-514350" algn="l">
              <a:lnSpc>
                <a:spcPct val="120000"/>
              </a:lnSpc>
            </a:pPr>
            <a:endParaRPr lang="en-US" altLang="zh-CN" sz="26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endParaRPr lang="en-US" altLang="zh-CN" sz="26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6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309425"/>
            <a:ext cx="6075045" cy="715645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浓硫酸的化学性质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1682" y="3274978"/>
            <a:ext cx="32278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 CuSO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 +  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 + SO</a:t>
            </a:r>
            <a:r>
              <a:rPr lang="en-US" altLang="zh-CN" sz="2600" baseline="-25000" dirty="0"/>
              <a:t>2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3461202" y="3841906"/>
            <a:ext cx="50749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 Fe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(SO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)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 +  6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 + 3 SO</a:t>
            </a:r>
            <a:r>
              <a:rPr lang="en-US" altLang="zh-CN" sz="2600" baseline="-25000" dirty="0"/>
              <a:t>2</a:t>
            </a:r>
            <a:endParaRPr lang="en-US" sz="2600" dirty="0"/>
          </a:p>
        </p:txBody>
      </p:sp>
      <p:sp>
        <p:nvSpPr>
          <p:cNvPr id="8" name="TextBox 7"/>
          <p:cNvSpPr txBox="1"/>
          <p:nvPr/>
        </p:nvSpPr>
        <p:spPr>
          <a:xfrm>
            <a:off x="3314898" y="4512466"/>
            <a:ext cx="32278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  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 + 2SO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 + CO</a:t>
            </a:r>
            <a:r>
              <a:rPr lang="en-US" altLang="zh-CN" sz="2600" baseline="-25000" dirty="0"/>
              <a:t>2</a:t>
            </a:r>
            <a:endParaRPr lang="en-US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3186882" y="5079394"/>
            <a:ext cx="32278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  2 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 + 3 SO</a:t>
            </a:r>
            <a:r>
              <a:rPr lang="en-US" altLang="zh-CN" sz="2600" baseline="-25000" dirty="0"/>
              <a:t>2 </a:t>
            </a:r>
            <a:r>
              <a:rPr lang="en-US" altLang="zh-CN" sz="2600" dirty="0"/>
              <a:t> </a:t>
            </a:r>
            <a:endParaRPr lang="en-US" sz="2600" dirty="0"/>
          </a:p>
        </p:txBody>
      </p:sp>
      <p:grpSp>
        <p:nvGrpSpPr>
          <p:cNvPr id="10" name="Group 9"/>
          <p:cNvGrpSpPr/>
          <p:nvPr/>
        </p:nvGrpSpPr>
        <p:grpSpPr>
          <a:xfrm>
            <a:off x="2642315" y="3396288"/>
            <a:ext cx="838200" cy="153988"/>
            <a:chOff x="2590800" y="1979612"/>
            <a:chExt cx="838200" cy="153988"/>
          </a:xfrm>
        </p:grpSpPr>
        <p:cxnSp>
          <p:nvCxnSpPr>
            <p:cNvPr id="11" name="Straight Arrow Connector 10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627289" y="3947933"/>
            <a:ext cx="838200" cy="153988"/>
            <a:chOff x="2590800" y="1979612"/>
            <a:chExt cx="838200" cy="153988"/>
          </a:xfrm>
        </p:grpSpPr>
        <p:cxnSp>
          <p:nvCxnSpPr>
            <p:cNvPr id="14" name="Straight Arrow Connector 13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Isosceles Triangle 14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367565" y="4602609"/>
            <a:ext cx="838200" cy="153988"/>
            <a:chOff x="2590800" y="1979612"/>
            <a:chExt cx="838200" cy="153988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Isosceles Triangle 17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49508" y="5167133"/>
            <a:ext cx="838200" cy="153988"/>
            <a:chOff x="2590800" y="1979612"/>
            <a:chExt cx="838200" cy="153988"/>
          </a:xfrm>
        </p:grpSpPr>
        <p:cxnSp>
          <p:nvCxnSpPr>
            <p:cNvPr id="20" name="Straight Arrow Connector 19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Isosceles Triangle 20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/>
      <p:bldP spid="7" grpId="0" uiExpand="1"/>
      <p:bldP spid="8" grpId="0" uiExpand="1"/>
      <p:bldP spid="9" grpId="0" uiExpan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7264" y="1455295"/>
            <a:ext cx="7559041" cy="3775074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</a:pPr>
            <a:r>
              <a:rPr lang="en-US" altLang="zh-CN" sz="2800" dirty="0"/>
              <a:t>	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4(</a:t>
            </a:r>
            <a:r>
              <a:rPr lang="zh-CN" altLang="en-US" sz="2800" baseline="-25000" dirty="0"/>
              <a:t>稀</a:t>
            </a:r>
            <a:r>
              <a:rPr lang="en-US" altLang="zh-CN" sz="2800" baseline="-25000" dirty="0"/>
              <a:t>)</a:t>
            </a:r>
            <a:r>
              <a:rPr lang="en-US" altLang="zh-CN" sz="2800" dirty="0"/>
              <a:t> + Cu </a:t>
            </a:r>
            <a:r>
              <a:rPr lang="en-US" altLang="zh-CN" sz="2800" dirty="0">
                <a:sym typeface="Wingdings" pitchFamily="2" charset="2"/>
              </a:rPr>
              <a:t></a:t>
            </a: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800" dirty="0"/>
              <a:t>	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4(</a:t>
            </a:r>
            <a:r>
              <a:rPr lang="zh-CN" altLang="en-US" sz="2800" baseline="-25000" dirty="0"/>
              <a:t>稀</a:t>
            </a:r>
            <a:r>
              <a:rPr lang="en-US" altLang="zh-CN" sz="2800" baseline="-25000" dirty="0"/>
              <a:t>)</a:t>
            </a:r>
            <a:r>
              <a:rPr lang="en-US" altLang="zh-CN" sz="2800" dirty="0"/>
              <a:t> + Fe </a:t>
            </a:r>
            <a:r>
              <a:rPr lang="en-US" altLang="zh-CN" sz="2800" dirty="0">
                <a:sym typeface="Wingdings" pitchFamily="2" charset="2"/>
              </a:rPr>
              <a:t></a:t>
            </a: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800" dirty="0"/>
              <a:t> 	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4(</a:t>
            </a:r>
            <a:r>
              <a:rPr lang="zh-CN" altLang="en-US" sz="2800" baseline="-25000" dirty="0"/>
              <a:t>浓</a:t>
            </a:r>
            <a:r>
              <a:rPr lang="en-US" altLang="zh-CN" sz="2800" baseline="-25000" dirty="0"/>
              <a:t>)</a:t>
            </a:r>
            <a:r>
              <a:rPr lang="en-US" altLang="zh-CN" sz="2800" dirty="0"/>
              <a:t> + 2 </a:t>
            </a:r>
            <a:r>
              <a:rPr lang="en-US" altLang="zh-CN" sz="2800" dirty="0" err="1"/>
              <a:t>HBr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</a:p>
          <a:p>
            <a:pPr marL="514350" indent="-514350" algn="l">
              <a:lnSpc>
                <a:spcPct val="120000"/>
              </a:lnSpc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 algn="l">
              <a:lnSpc>
                <a:spcPct val="120000"/>
              </a:lnSpc>
              <a:buFont typeface="+mj-lt"/>
              <a:buAutoNum type="arabicPeriod"/>
            </a:pP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11099" y="308738"/>
            <a:ext cx="4295013" cy="71564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补充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63240" y="1515364"/>
            <a:ext cx="3227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</a:t>
            </a:r>
            <a:r>
              <a:rPr lang="zh-CN" altLang="en-US" sz="2800" dirty="0"/>
              <a:t>无反应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3158802" y="2158192"/>
            <a:ext cx="5074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FeSO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+   H</a:t>
            </a:r>
            <a:r>
              <a:rPr lang="en-US" altLang="zh-CN" sz="2800" baseline="-25000" dirty="0"/>
              <a:t>2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431148" y="2770540"/>
            <a:ext cx="3227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 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 + SO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+ Br</a:t>
            </a:r>
            <a:r>
              <a:rPr lang="en-US" altLang="zh-CN" sz="2800" baseline="-25000" dirty="0"/>
              <a:t>2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化肥、医药、农药的生产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金属矿石的处理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清除金属表面的氧化物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脱水剂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干燥剂</a:t>
            </a: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4295013" cy="715645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硫酸用途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40055" y="1036828"/>
            <a:ext cx="8216265" cy="3937508"/>
          </a:xfrm>
        </p:spPr>
        <p:txBody>
          <a:bodyPr>
            <a:noAutofit/>
          </a:bodyPr>
          <a:lstStyle/>
          <a:p>
            <a:pPr marL="457200" indent="-457200" algn="l"/>
            <a:r>
              <a:rPr lang="en-US" altLang="zh-CN" sz="2800" dirty="0">
                <a:latin typeface="+mn-ea"/>
              </a:rPr>
              <a:t>1. </a:t>
            </a:r>
            <a:r>
              <a:rPr lang="zh-CN" altLang="en-US" sz="2800" dirty="0">
                <a:latin typeface="+mn-ea"/>
              </a:rPr>
              <a:t>二氧化硫的制取</a:t>
            </a:r>
            <a:endParaRPr lang="en-US" altLang="zh-CN" sz="2800" dirty="0">
              <a:latin typeface="+mn-ea"/>
            </a:endParaRPr>
          </a:p>
          <a:p>
            <a:pPr algn="l">
              <a:buFont typeface="Wingdings" pitchFamily="2" charset="2"/>
              <a:buChar char="Ø"/>
            </a:pPr>
            <a:r>
              <a:rPr lang="en-US" altLang="zh-CN" sz="2800" dirty="0">
                <a:latin typeface="+mn-ea"/>
              </a:rPr>
              <a:t>	</a:t>
            </a:r>
            <a:r>
              <a:rPr lang="zh-CN" altLang="en-US" sz="2800" dirty="0">
                <a:latin typeface="+mn-ea"/>
              </a:rPr>
              <a:t>燃烧硫单质或金属硫化物。</a:t>
            </a:r>
            <a:endParaRPr lang="en-US" altLang="zh-CN" sz="2800" dirty="0">
              <a:latin typeface="+mn-ea"/>
            </a:endParaRPr>
          </a:p>
          <a:p>
            <a:pPr algn="l">
              <a:buFont typeface="+mj-ea"/>
            </a:pPr>
            <a:r>
              <a:rPr lang="en-US" altLang="zh-CN" sz="2800" dirty="0">
                <a:latin typeface="+mn-ea"/>
              </a:rPr>
              <a:t>	4FeS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en-US" altLang="zh-CN" sz="2800" dirty="0">
                <a:latin typeface="+mn-ea"/>
              </a:rPr>
              <a:t> + 11O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>
                <a:latin typeface="+mn-ea"/>
                <a:sym typeface="Wingdings" pitchFamily="2" charset="2"/>
              </a:rPr>
              <a:t></a:t>
            </a:r>
            <a:r>
              <a:rPr lang="en-US" altLang="zh-CN" sz="2800" dirty="0">
                <a:latin typeface="+mn-ea"/>
              </a:rPr>
              <a:t>   2Fe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en-US" altLang="zh-CN" sz="2800" dirty="0">
                <a:latin typeface="+mn-ea"/>
              </a:rPr>
              <a:t>O</a:t>
            </a:r>
            <a:r>
              <a:rPr lang="en-US" altLang="zh-CN" sz="2800" baseline="-25000" dirty="0">
                <a:latin typeface="+mn-ea"/>
              </a:rPr>
              <a:t>3</a:t>
            </a:r>
            <a:r>
              <a:rPr lang="en-US" altLang="zh-CN" sz="2800" dirty="0">
                <a:latin typeface="+mn-ea"/>
              </a:rPr>
              <a:t>  +  8SO</a:t>
            </a:r>
            <a:r>
              <a:rPr lang="en-US" altLang="zh-CN" sz="2800" baseline="-250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↑</a:t>
            </a:r>
            <a:endParaRPr lang="en-US" altLang="zh-CN" sz="2800" dirty="0"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altLang="zh-CN" sz="2800" dirty="0">
                <a:latin typeface="+mn-ea"/>
              </a:rPr>
              <a:t>	</a:t>
            </a:r>
            <a:r>
              <a:rPr lang="zh-CN" altLang="en-US" sz="2800" dirty="0">
                <a:latin typeface="+mn-ea"/>
              </a:rPr>
              <a:t>二氧化硫的净化和干燥处理</a:t>
            </a:r>
          </a:p>
          <a:p>
            <a:pPr algn="l">
              <a:buFont typeface="+mj-ea"/>
            </a:pPr>
            <a:r>
              <a:rPr lang="en-US" altLang="zh-CN" sz="2800" dirty="0">
                <a:latin typeface="+mn-ea"/>
              </a:rPr>
              <a:t>	</a:t>
            </a:r>
            <a:r>
              <a:rPr lang="zh-CN" altLang="en-US" sz="2800" dirty="0">
                <a:latin typeface="+mn-ea"/>
                <a:sym typeface="+mn-ea"/>
              </a:rPr>
              <a:t>去除杂质，避免杂质使催化剂</a:t>
            </a:r>
            <a:r>
              <a:rPr lang="en-US" altLang="zh-CN" sz="2800" dirty="0">
                <a:latin typeface="+mn-ea"/>
                <a:sym typeface="+mn-ea"/>
              </a:rPr>
              <a:t>V</a:t>
            </a:r>
            <a:r>
              <a:rPr lang="en-US" altLang="zh-CN" sz="2800" baseline="-25000" dirty="0">
                <a:latin typeface="+mn-ea"/>
                <a:sym typeface="+mn-ea"/>
              </a:rPr>
              <a:t>2</a:t>
            </a:r>
            <a:r>
              <a:rPr lang="en-US" altLang="zh-CN" sz="2800" dirty="0">
                <a:latin typeface="+mn-ea"/>
                <a:sym typeface="+mn-ea"/>
              </a:rPr>
              <a:t>O</a:t>
            </a:r>
            <a:r>
              <a:rPr lang="en-US" altLang="zh-CN" sz="2800" baseline="-25000" dirty="0">
                <a:latin typeface="+mn-ea"/>
                <a:sym typeface="+mn-ea"/>
              </a:rPr>
              <a:t>5</a:t>
            </a:r>
            <a:r>
              <a:rPr lang="zh-CN" altLang="en-US" sz="2800" dirty="0">
                <a:latin typeface="+mn-ea"/>
                <a:sym typeface="+mn-ea"/>
              </a:rPr>
              <a:t>“中毒”</a:t>
            </a:r>
            <a:endParaRPr lang="en-US" altLang="zh-CN" sz="2800" dirty="0">
              <a:latin typeface="+mn-ea"/>
              <a:sym typeface="+mn-ea"/>
            </a:endParaRPr>
          </a:p>
          <a:p>
            <a:pPr algn="l">
              <a:buFont typeface="+mj-ea"/>
            </a:pPr>
            <a:endParaRPr lang="en-US" altLang="zh-CN" sz="2800" dirty="0">
              <a:latin typeface="+mn-ea"/>
              <a:sym typeface="+mn-ea"/>
            </a:endParaRPr>
          </a:p>
          <a:p>
            <a:pPr algn="l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latin typeface="+mn-ea"/>
                <a:sym typeface="+mn-ea"/>
              </a:rPr>
              <a:t>若直接燃烧硫所得的</a:t>
            </a:r>
            <a:endParaRPr lang="en-US" altLang="zh-CN" sz="2800" b="1" dirty="0">
              <a:solidFill>
                <a:srgbClr val="002060"/>
              </a:solidFill>
              <a:latin typeface="+mn-ea"/>
              <a:sym typeface="+mn-ea"/>
            </a:endParaRPr>
          </a:p>
          <a:p>
            <a:pPr algn="l">
              <a:buFont typeface="+mj-ea"/>
            </a:pPr>
            <a:r>
              <a:rPr lang="zh-CN" altLang="en-US" sz="2800" b="1" dirty="0">
                <a:solidFill>
                  <a:srgbClr val="002060"/>
                </a:solidFill>
                <a:latin typeface="+mn-ea"/>
                <a:sym typeface="+mn-ea"/>
              </a:rPr>
              <a:t>二氧化硫就不需净化。</a:t>
            </a:r>
          </a:p>
          <a:p>
            <a:pPr lvl="1" algn="l">
              <a:buFont typeface="+mj-ea"/>
            </a:pPr>
            <a:endParaRPr lang="zh-CN" altLang="en-US" sz="2800" dirty="0">
              <a:latin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80010" y="267843"/>
            <a:ext cx="9063990" cy="715645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14.7.2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硫酸的工业制法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—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接触法</a:t>
            </a:r>
          </a:p>
        </p:txBody>
      </p:sp>
      <p:pic>
        <p:nvPicPr>
          <p:cNvPr id="5" name="图片 4" descr="u=164603487,2311683383&amp;fm=21&amp;gp=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46374" y="3822446"/>
            <a:ext cx="4997626" cy="30355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03479" y="975868"/>
            <a:ext cx="8337233" cy="5059172"/>
          </a:xfrm>
        </p:spPr>
        <p:txBody>
          <a:bodyPr>
            <a:noAutofit/>
          </a:bodyPr>
          <a:lstStyle/>
          <a:p>
            <a:pPr marL="457200" indent="-457200" algn="l"/>
            <a:r>
              <a:rPr lang="en-US" altLang="zh-CN" sz="2600" dirty="0">
                <a:latin typeface="+mn-ea"/>
              </a:rPr>
              <a:t>2. SO</a:t>
            </a:r>
            <a:r>
              <a:rPr lang="en-US" altLang="zh-CN" sz="2600" baseline="-25000" dirty="0">
                <a:latin typeface="+mn-ea"/>
              </a:rPr>
              <a:t>2</a:t>
            </a:r>
            <a:r>
              <a:rPr lang="zh-CN" altLang="en-US" sz="2600" dirty="0">
                <a:latin typeface="+mn-ea"/>
                <a:sym typeface="Wingdings" pitchFamily="2" charset="2"/>
              </a:rPr>
              <a:t>氧化成</a:t>
            </a:r>
            <a:r>
              <a:rPr lang="en-US" altLang="zh-CN" sz="2600" dirty="0">
                <a:latin typeface="+mn-ea"/>
                <a:sym typeface="Wingdings" pitchFamily="2" charset="2"/>
              </a:rPr>
              <a:t>SO</a:t>
            </a:r>
            <a:r>
              <a:rPr lang="en-US" altLang="zh-CN" sz="2600" baseline="-25000" dirty="0">
                <a:latin typeface="+mn-ea"/>
                <a:sym typeface="Wingdings" pitchFamily="2" charset="2"/>
              </a:rPr>
              <a:t>3</a:t>
            </a:r>
            <a:r>
              <a:rPr lang="en-US" altLang="zh-CN" sz="2600" dirty="0">
                <a:latin typeface="+mn-ea"/>
                <a:sym typeface="Wingdings" pitchFamily="2" charset="2"/>
              </a:rPr>
              <a:t> </a:t>
            </a:r>
          </a:p>
          <a:p>
            <a:pPr marL="457200" indent="-457200" algn="l"/>
            <a:r>
              <a:rPr lang="en-US" altLang="zh-CN" sz="2600" dirty="0">
                <a:latin typeface="+mn-ea"/>
                <a:sym typeface="Wingdings" pitchFamily="2" charset="2"/>
              </a:rPr>
              <a:t>  </a:t>
            </a:r>
            <a:r>
              <a:rPr lang="en-US" altLang="zh-CN" sz="2600" dirty="0">
                <a:latin typeface="+mn-ea"/>
              </a:rPr>
              <a:t>2SO</a:t>
            </a:r>
            <a:r>
              <a:rPr lang="en-US" altLang="zh-CN" sz="2600" baseline="-25000" dirty="0">
                <a:latin typeface="+mn-ea"/>
              </a:rPr>
              <a:t>2</a:t>
            </a:r>
            <a:r>
              <a:rPr lang="en-US" altLang="zh-CN" sz="2600" dirty="0">
                <a:latin typeface="+mn-ea"/>
              </a:rPr>
              <a:t> + O</a:t>
            </a:r>
            <a:r>
              <a:rPr lang="en-US" altLang="zh-CN" sz="2600" baseline="-25000" dirty="0">
                <a:latin typeface="+mn-ea"/>
              </a:rPr>
              <a:t>2</a:t>
            </a:r>
            <a:r>
              <a:rPr lang="en-US" altLang="zh-CN" sz="2600" dirty="0">
                <a:latin typeface="+mn-ea"/>
              </a:rPr>
              <a:t>	      2SO</a:t>
            </a:r>
            <a:r>
              <a:rPr lang="en-US" altLang="zh-CN" sz="2600" baseline="-25000" dirty="0">
                <a:latin typeface="+mn-ea"/>
              </a:rPr>
              <a:t>3</a:t>
            </a:r>
            <a:endParaRPr lang="zh-CN" altLang="en-US" sz="2600" dirty="0">
              <a:latin typeface="+mn-ea"/>
            </a:endParaRPr>
          </a:p>
          <a:p>
            <a:pPr marL="457200" indent="-457200" algn="l"/>
            <a:r>
              <a:rPr lang="en-US" altLang="zh-CN" sz="2600" dirty="0">
                <a:latin typeface="+mn-ea"/>
              </a:rPr>
              <a:t>3.SO</a:t>
            </a:r>
            <a:r>
              <a:rPr lang="en-US" altLang="zh-CN" sz="2600" baseline="-25000" dirty="0">
                <a:latin typeface="+mn-ea"/>
              </a:rPr>
              <a:t>3</a:t>
            </a:r>
            <a:r>
              <a:rPr lang="zh-CN" altLang="en-US" sz="2600" dirty="0">
                <a:latin typeface="+mn-ea"/>
              </a:rPr>
              <a:t>的吸收和硫酸的生成</a:t>
            </a:r>
            <a:endParaRPr lang="en-US" altLang="zh-CN" sz="2600" dirty="0">
              <a:latin typeface="+mn-ea"/>
            </a:endParaRPr>
          </a:p>
          <a:p>
            <a:pPr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600" dirty="0"/>
              <a:t>用水吸收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3</a:t>
            </a:r>
            <a:r>
              <a:rPr lang="zh-CN" altLang="en-US" sz="2600" baseline="-25000" dirty="0"/>
              <a:t> </a:t>
            </a:r>
            <a:r>
              <a:rPr lang="zh-CN" altLang="en-US" sz="2600" dirty="0"/>
              <a:t>容易形成酸雾，不利于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3</a:t>
            </a:r>
            <a:r>
              <a:rPr lang="en-US" altLang="zh-CN" sz="2600" dirty="0"/>
              <a:t> </a:t>
            </a:r>
            <a:r>
              <a:rPr lang="zh-CN" altLang="en-US" sz="2600" dirty="0"/>
              <a:t>的继续吸收。</a:t>
            </a:r>
            <a:endParaRPr lang="en-US" altLang="zh-CN" sz="2600" dirty="0"/>
          </a:p>
          <a:p>
            <a:pPr algn="l">
              <a:buClrTx/>
              <a:buSzPct val="100000"/>
              <a:buFont typeface="Wingdings" pitchFamily="2" charset="2"/>
              <a:buChar char="Ø"/>
            </a:pPr>
            <a:r>
              <a:rPr lang="zh-CN" altLang="en-US" sz="2600" dirty="0"/>
              <a:t>浓硫酸液面水蒸气少，它吸收</a:t>
            </a:r>
            <a:r>
              <a:rPr lang="en-US" altLang="zh-CN" sz="2600" dirty="0"/>
              <a:t>SO</a:t>
            </a:r>
            <a:r>
              <a:rPr lang="en-US" altLang="zh-CN" sz="2600" baseline="-25000" dirty="0"/>
              <a:t>3</a:t>
            </a:r>
            <a:r>
              <a:rPr lang="zh-CN" altLang="en-US" sz="2600" dirty="0"/>
              <a:t>时不会形成酸雾。</a:t>
            </a:r>
            <a:endParaRPr lang="en-US" altLang="zh-CN" sz="2600" dirty="0"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600" dirty="0">
                <a:latin typeface="+mn-ea"/>
              </a:rPr>
              <a:t>用浓</a:t>
            </a:r>
            <a:r>
              <a:rPr lang="en-US" altLang="zh-CN" sz="2600" dirty="0">
                <a:latin typeface="+mn-ea"/>
              </a:rPr>
              <a:t>H</a:t>
            </a:r>
            <a:r>
              <a:rPr lang="en-US" altLang="zh-CN" sz="2600" baseline="-25000" dirty="0">
                <a:latin typeface="+mn-ea"/>
              </a:rPr>
              <a:t>2</a:t>
            </a:r>
            <a:r>
              <a:rPr lang="en-US" altLang="zh-CN" sz="2600" dirty="0">
                <a:latin typeface="+mn-ea"/>
              </a:rPr>
              <a:t>SO</a:t>
            </a:r>
            <a:r>
              <a:rPr lang="en-US" altLang="zh-CN" sz="2600" baseline="-25000" dirty="0">
                <a:latin typeface="+mn-ea"/>
              </a:rPr>
              <a:t>4</a:t>
            </a:r>
            <a:r>
              <a:rPr lang="zh-CN" altLang="en-US" sz="2600" dirty="0">
                <a:latin typeface="+mn-ea"/>
              </a:rPr>
              <a:t>吸收经冷却的</a:t>
            </a:r>
            <a:r>
              <a:rPr lang="en-US" altLang="zh-CN" sz="2600" dirty="0">
                <a:latin typeface="+mn-ea"/>
              </a:rPr>
              <a:t>SO</a:t>
            </a:r>
            <a:r>
              <a:rPr lang="en-US" altLang="zh-CN" sz="2600" baseline="-25000" dirty="0">
                <a:latin typeface="+mn-ea"/>
              </a:rPr>
              <a:t>3</a:t>
            </a:r>
            <a:r>
              <a:rPr lang="zh-CN" altLang="en-US" sz="2600" dirty="0">
                <a:latin typeface="+mn-ea"/>
              </a:rPr>
              <a:t>，生成发烟硫酸。</a:t>
            </a:r>
            <a:endParaRPr lang="en-US" altLang="zh-CN" sz="2600" dirty="0"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600" dirty="0">
                <a:latin typeface="+mn-ea"/>
              </a:rPr>
              <a:t>稀释发烟硫酸，可得到任意浓度的硫酸</a:t>
            </a:r>
            <a:endParaRPr lang="en-US" altLang="zh-CN" sz="2600" dirty="0">
              <a:latin typeface="+mn-ea"/>
            </a:endParaRPr>
          </a:p>
          <a:p>
            <a:pPr marL="457200" indent="-457200" algn="l"/>
            <a:r>
              <a:rPr lang="en-US" altLang="zh-CN" sz="2600" dirty="0">
                <a:latin typeface="+mn-ea"/>
              </a:rPr>
              <a:t>	SO</a:t>
            </a:r>
            <a:r>
              <a:rPr lang="en-US" altLang="zh-CN" sz="2600" baseline="-25000" dirty="0">
                <a:latin typeface="+mn-ea"/>
              </a:rPr>
              <a:t>3</a:t>
            </a:r>
            <a:r>
              <a:rPr lang="en-US" altLang="zh-CN" sz="2600" dirty="0">
                <a:latin typeface="+mn-ea"/>
              </a:rPr>
              <a:t> + H</a:t>
            </a:r>
            <a:r>
              <a:rPr lang="en-US" altLang="zh-CN" sz="2600" baseline="-25000" dirty="0">
                <a:latin typeface="+mn-ea"/>
              </a:rPr>
              <a:t>2</a:t>
            </a:r>
            <a:r>
              <a:rPr lang="en-US" altLang="zh-CN" sz="2600" dirty="0">
                <a:latin typeface="+mn-ea"/>
              </a:rPr>
              <a:t>SO</a:t>
            </a:r>
            <a:r>
              <a:rPr lang="en-US" altLang="zh-CN" sz="2600" baseline="-25000" dirty="0">
                <a:latin typeface="+mn-ea"/>
              </a:rPr>
              <a:t>4</a:t>
            </a:r>
            <a:r>
              <a:rPr lang="en-US" altLang="zh-CN" sz="2600" dirty="0">
                <a:latin typeface="+mn-ea"/>
              </a:rPr>
              <a:t>	</a:t>
            </a:r>
            <a:r>
              <a:rPr lang="en-US" altLang="zh-CN" sz="2600" dirty="0">
                <a:latin typeface="+mn-ea"/>
                <a:sym typeface="Wingdings" pitchFamily="2" charset="2"/>
              </a:rPr>
              <a:t></a:t>
            </a:r>
            <a:r>
              <a:rPr lang="en-US" altLang="zh-CN" sz="2600" dirty="0">
                <a:latin typeface="+mn-ea"/>
              </a:rPr>
              <a:t> H</a:t>
            </a:r>
            <a:r>
              <a:rPr lang="en-US" altLang="zh-CN" sz="2600" baseline="-25000" dirty="0">
                <a:latin typeface="+mn-ea"/>
              </a:rPr>
              <a:t>2</a:t>
            </a:r>
            <a:r>
              <a:rPr lang="en-US" altLang="zh-CN" sz="2600" dirty="0">
                <a:latin typeface="+mn-ea"/>
              </a:rPr>
              <a:t>SO</a:t>
            </a:r>
            <a:r>
              <a:rPr lang="en-US" altLang="zh-CN" sz="2600" baseline="-25000" dirty="0">
                <a:latin typeface="+mn-ea"/>
              </a:rPr>
              <a:t>4</a:t>
            </a:r>
            <a:r>
              <a:rPr lang="en-US" altLang="zh-CN" sz="2600" dirty="0">
                <a:latin typeface="+mn-ea"/>
                <a:cs typeface="微软雅黑" charset="0"/>
              </a:rPr>
              <a:t>·SO</a:t>
            </a:r>
            <a:r>
              <a:rPr lang="en-US" altLang="zh-CN" sz="2600" baseline="-25000" dirty="0">
                <a:latin typeface="+mn-ea"/>
                <a:cs typeface="微软雅黑" charset="0"/>
              </a:rPr>
              <a:t>3</a:t>
            </a:r>
          </a:p>
          <a:p>
            <a:pPr marL="457200" indent="-457200" algn="l"/>
            <a:r>
              <a:rPr lang="en-US" altLang="zh-CN" sz="2600" dirty="0">
                <a:latin typeface="+mn-ea"/>
                <a:sym typeface="+mn-ea"/>
              </a:rPr>
              <a:t>	H</a:t>
            </a:r>
            <a:r>
              <a:rPr lang="en-US" altLang="zh-CN" sz="2600" baseline="-25000" dirty="0">
                <a:latin typeface="+mn-ea"/>
                <a:sym typeface="+mn-ea"/>
              </a:rPr>
              <a:t>2</a:t>
            </a:r>
            <a:r>
              <a:rPr lang="en-US" altLang="zh-CN" sz="2600" dirty="0">
                <a:latin typeface="+mn-ea"/>
                <a:sym typeface="+mn-ea"/>
              </a:rPr>
              <a:t>SO</a:t>
            </a:r>
            <a:r>
              <a:rPr lang="en-US" altLang="zh-CN" sz="2600" baseline="-25000" dirty="0">
                <a:latin typeface="+mn-ea"/>
                <a:sym typeface="+mn-ea"/>
              </a:rPr>
              <a:t>4</a:t>
            </a:r>
            <a:r>
              <a:rPr lang="en-US" altLang="zh-CN" sz="2600" dirty="0">
                <a:latin typeface="+mn-ea"/>
                <a:cs typeface="微软雅黑" charset="0"/>
                <a:sym typeface="+mn-ea"/>
              </a:rPr>
              <a:t>·SO</a:t>
            </a:r>
            <a:r>
              <a:rPr lang="en-US" altLang="zh-CN" sz="2600" baseline="-25000" dirty="0">
                <a:latin typeface="+mn-ea"/>
                <a:cs typeface="微软雅黑" charset="0"/>
                <a:sym typeface="+mn-ea"/>
              </a:rPr>
              <a:t>3</a:t>
            </a:r>
            <a:r>
              <a:rPr lang="en-US" altLang="zh-CN" sz="2600" dirty="0">
                <a:latin typeface="+mn-ea"/>
                <a:cs typeface="微软雅黑" charset="0"/>
                <a:sym typeface="+mn-ea"/>
              </a:rPr>
              <a:t> + H</a:t>
            </a:r>
            <a:r>
              <a:rPr lang="en-US" altLang="zh-CN" sz="2600" baseline="-25000" dirty="0">
                <a:latin typeface="+mn-ea"/>
                <a:cs typeface="微软雅黑" charset="0"/>
                <a:sym typeface="+mn-ea"/>
              </a:rPr>
              <a:t>2</a:t>
            </a:r>
            <a:r>
              <a:rPr lang="en-US" altLang="zh-CN" sz="2600" dirty="0">
                <a:latin typeface="+mn-ea"/>
                <a:cs typeface="微软雅黑" charset="0"/>
                <a:sym typeface="+mn-ea"/>
              </a:rPr>
              <a:t>O </a:t>
            </a:r>
            <a:r>
              <a:rPr lang="en-US" altLang="zh-CN" sz="2600" dirty="0">
                <a:latin typeface="+mn-ea"/>
                <a:cs typeface="微软雅黑" charset="0"/>
                <a:sym typeface="Wingdings" pitchFamily="2" charset="2"/>
              </a:rPr>
              <a:t></a:t>
            </a:r>
            <a:r>
              <a:rPr lang="en-US" altLang="zh-CN" sz="2600" dirty="0">
                <a:latin typeface="+mn-ea"/>
                <a:cs typeface="微软雅黑" charset="0"/>
                <a:sym typeface="+mn-ea"/>
              </a:rPr>
              <a:t> 2 H</a:t>
            </a:r>
            <a:r>
              <a:rPr lang="en-US" altLang="zh-CN" sz="2600" baseline="-25000" dirty="0">
                <a:latin typeface="+mn-ea"/>
                <a:cs typeface="微软雅黑" charset="0"/>
                <a:sym typeface="+mn-ea"/>
              </a:rPr>
              <a:t>2</a:t>
            </a:r>
            <a:r>
              <a:rPr lang="en-US" altLang="zh-CN" sz="2600" dirty="0">
                <a:latin typeface="+mn-ea"/>
                <a:cs typeface="微软雅黑" charset="0"/>
                <a:sym typeface="+mn-ea"/>
              </a:rPr>
              <a:t>SO</a:t>
            </a:r>
            <a:r>
              <a:rPr lang="en-US" altLang="zh-CN" sz="2600" baseline="-25000" dirty="0">
                <a:latin typeface="+mn-ea"/>
                <a:cs typeface="微软雅黑" charset="0"/>
                <a:sym typeface="+mn-ea"/>
              </a:rPr>
              <a:t>4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600" dirty="0">
                <a:latin typeface="+mn-ea"/>
              </a:rPr>
              <a:t>尾气会再次通入接触室，最后的尾气再加以净化处理，避免大气污染。</a:t>
            </a:r>
            <a:r>
              <a:rPr lang="en-US" altLang="zh-CN" sz="2600" dirty="0">
                <a:latin typeface="+mn-ea"/>
                <a:cs typeface="微软雅黑" charset="0"/>
                <a:sym typeface="+mn-ea"/>
              </a:rPr>
              <a:t> </a:t>
            </a:r>
            <a:endParaRPr lang="en-US" altLang="zh-CN" sz="2600" baseline="-25000" dirty="0">
              <a:latin typeface="+mn-ea"/>
              <a:cs typeface="微软雅黑" charset="0"/>
              <a:sym typeface="+mn-ea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2156895" y="1298716"/>
            <a:ext cx="1294147" cy="701815"/>
            <a:chOff x="2060734" y="4248150"/>
            <a:chExt cx="1294147" cy="701815"/>
          </a:xfrm>
        </p:grpSpPr>
        <p:cxnSp>
          <p:nvCxnSpPr>
            <p:cNvPr id="7" name="直接箭头连接符 6"/>
            <p:cNvCxnSpPr/>
            <p:nvPr/>
          </p:nvCxnSpPr>
          <p:spPr>
            <a:xfrm>
              <a:off x="2143030" y="4629785"/>
              <a:ext cx="103482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rot="10800000">
              <a:off x="2060734" y="4733926"/>
              <a:ext cx="975074" cy="87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2293048" y="4248150"/>
              <a:ext cx="730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2">
                      <a:lumMod val="75000"/>
                    </a:schemeClr>
                  </a:solidFill>
                </a:rPr>
                <a:t>V</a:t>
              </a:r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r>
                <a:rPr lang="en-US" altLang="zh-CN" dirty="0">
                  <a:solidFill>
                    <a:schemeClr val="accent2">
                      <a:lumMod val="75000"/>
                    </a:schemeClr>
                  </a:solidFill>
                </a:rPr>
                <a:t>O</a:t>
              </a:r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194465" y="4672966"/>
              <a:ext cx="1160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</a:rPr>
                <a:t>400</a:t>
              </a:r>
              <a:r>
                <a:rPr lang="en-US" altLang="zh-CN" baseline="-25000" dirty="0">
                  <a:solidFill>
                    <a:schemeClr val="accent2">
                      <a:lumMod val="75000"/>
                    </a:schemeClr>
                  </a:solidFill>
                  <a:cs typeface="SimSun" charset="0"/>
                </a:rPr>
                <a:t>℃~500℃</a:t>
              </a:r>
            </a:p>
          </p:txBody>
        </p:sp>
      </p:grpSp>
      <p:sp>
        <p:nvSpPr>
          <p:cNvPr id="12" name="标题 3"/>
          <p:cNvSpPr txBox="1">
            <a:spLocks/>
          </p:cNvSpPr>
          <p:nvPr/>
        </p:nvSpPr>
        <p:spPr>
          <a:xfrm>
            <a:off x="80010" y="267843"/>
            <a:ext cx="9063990" cy="7156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14.7.2 </a:t>
            </a:r>
            <a:r>
              <a:rPr kumimoji="0" lang="zh-CN" altLang="en-US" sz="4400" b="0" i="0" u="none" strike="noStrike" kern="1200" cap="none" spc="0" normalizeH="0" baseline="0" noProof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硫酸的工业制法</a:t>
            </a:r>
            <a:r>
              <a:rPr kumimoji="0" lang="en-US" altLang="zh-CN" sz="4400" b="0" i="0" u="none" strike="noStrike" kern="1200" cap="none" spc="0" normalizeH="0" baseline="0" noProof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0" lang="zh-CN" altLang="en-US" sz="4400" b="0" i="0" u="none" strike="noStrike" kern="1200" cap="none" spc="0" normalizeH="0" baseline="0" noProof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接触法</a:t>
            </a:r>
            <a:endParaRPr kumimoji="0" lang="zh-CN" altLang="en-US" sz="4400" b="0" i="0" u="none" strike="noStrike" kern="1200" cap="none" spc="0" normalizeH="0" baseline="0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8463" y="1439944"/>
            <a:ext cx="7920038" cy="4724399"/>
          </a:xfrm>
        </p:spPr>
        <p:txBody>
          <a:bodyPr>
            <a:normAutofit lnSpcReduction="10000"/>
          </a:bodyPr>
          <a:lstStyle/>
          <a:p>
            <a:pPr marL="514350" indent="-514350" algn="l">
              <a:buClrTx/>
              <a:buSzPct val="100000"/>
              <a:buFont typeface="Wingdings" charset="0"/>
              <a:buAutoNum type="arabicPeriod"/>
            </a:pPr>
            <a:r>
              <a:rPr lang="en-US" altLang="zh-CN" sz="2800" dirty="0"/>
              <a:t>A </a:t>
            </a:r>
            <a:r>
              <a:rPr lang="zh-CN" altLang="en-US" sz="2800" dirty="0"/>
              <a:t>氧化性：</a:t>
            </a:r>
            <a:r>
              <a:rPr lang="en-US" altLang="zh-CN" sz="2800" dirty="0"/>
              <a:t>Cu </a:t>
            </a:r>
            <a:r>
              <a:rPr lang="zh-CN" altLang="en-US" sz="2800" dirty="0"/>
              <a:t>被氧化为</a:t>
            </a:r>
            <a:r>
              <a:rPr lang="en-US" altLang="zh-CN" sz="2800" dirty="0"/>
              <a:t>Cu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 S</a:t>
            </a:r>
            <a:r>
              <a:rPr lang="en-US" altLang="zh-CN" sz="2800" baseline="30000" dirty="0"/>
              <a:t>6+</a:t>
            </a:r>
            <a:r>
              <a:rPr lang="en-US" altLang="zh-CN" sz="2800" dirty="0"/>
              <a:t> </a:t>
            </a:r>
            <a:r>
              <a:rPr lang="zh-CN" altLang="en-US" sz="2800" dirty="0"/>
              <a:t>被还原为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4+</a:t>
            </a:r>
            <a:r>
              <a:rPr lang="en-US" altLang="zh-CN" sz="2800" dirty="0"/>
              <a:t> </a:t>
            </a:r>
          </a:p>
          <a:p>
            <a:pPr marL="514350" indent="-514350" algn="l">
              <a:buClrTx/>
              <a:buSzPct val="100000"/>
            </a:pPr>
            <a:r>
              <a:rPr lang="en-US" altLang="zh-CN" sz="2800" dirty="0"/>
              <a:t>		</a:t>
            </a:r>
            <a:r>
              <a:rPr lang="zh-CN" altLang="en-US" sz="2800" dirty="0"/>
              <a:t>酸性： 反应后生成硫酸盐</a:t>
            </a:r>
            <a:endParaRPr lang="en-US" altLang="zh-CN" sz="2800" dirty="0"/>
          </a:p>
          <a:p>
            <a:pPr marL="514350" indent="-514350" algn="l">
              <a:buClrTx/>
              <a:buSzPct val="100000"/>
            </a:pPr>
            <a:r>
              <a:rPr lang="en-US" altLang="zh-CN" sz="2800" dirty="0"/>
              <a:t>	B </a:t>
            </a:r>
            <a:r>
              <a:rPr lang="zh-CN" altLang="en-US" sz="2800" dirty="0"/>
              <a:t>一般生成的气体是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514350" indent="-514350" algn="l">
              <a:buClrTx/>
              <a:buSzPct val="100000"/>
            </a:pPr>
            <a:r>
              <a:rPr lang="en-US" altLang="zh-CN" sz="2800" dirty="0"/>
              <a:t>	C </a:t>
            </a:r>
            <a:r>
              <a:rPr lang="zh-CN" altLang="en-US" sz="2800" dirty="0"/>
              <a:t>钝化作用（反应只发生在表面）</a:t>
            </a:r>
            <a:endParaRPr lang="en-US" altLang="zh-CN" sz="2800" dirty="0"/>
          </a:p>
          <a:p>
            <a:pPr marL="514350" indent="-514350" algn="l">
              <a:buClrTx/>
              <a:buSzPct val="100000"/>
            </a:pPr>
            <a:r>
              <a:rPr lang="en-US" altLang="zh-CN" sz="2800" dirty="0"/>
              <a:t>	D </a:t>
            </a:r>
            <a:r>
              <a:rPr lang="zh-CN" altLang="en-US" sz="2800" dirty="0"/>
              <a:t>浓硫酸会将</a:t>
            </a:r>
            <a:r>
              <a:rPr lang="en-US" altLang="zh-CN" sz="2800" dirty="0"/>
              <a:t>Fe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 </a:t>
            </a:r>
            <a:r>
              <a:rPr lang="zh-CN" altLang="en-US" sz="2800" dirty="0"/>
              <a:t>或 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  <a:r>
              <a:rPr lang="zh-CN" altLang="en-US" sz="2800" dirty="0"/>
              <a:t>氧化，应用稀硫酸</a:t>
            </a:r>
            <a:endParaRPr lang="en-US" altLang="zh-CN" sz="2800" dirty="0"/>
          </a:p>
          <a:p>
            <a:pPr marL="514350" indent="-514350" algn="l">
              <a:buClrTx/>
              <a:buSzPct val="100000"/>
            </a:pPr>
            <a:r>
              <a:rPr lang="en-US" altLang="zh-CN" sz="2800" dirty="0" err="1"/>
              <a:t>Ans</a:t>
            </a:r>
            <a:r>
              <a:rPr lang="en-US" altLang="zh-CN" sz="2800" dirty="0"/>
              <a:t>: A</a:t>
            </a:r>
          </a:p>
          <a:p>
            <a:pPr marL="514350" indent="-514350" algn="l">
              <a:buClrTx/>
              <a:buSzPct val="100000"/>
            </a:pPr>
            <a:r>
              <a:rPr lang="en-US" altLang="zh-CN" sz="2800" dirty="0"/>
              <a:t>2. 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溶于水生成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易被空气中的氧气氧化为强酸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 </a:t>
            </a:r>
            <a:r>
              <a:rPr lang="en-US" altLang="zh-CN" sz="2800" dirty="0"/>
              <a:t> </a:t>
            </a:r>
            <a:r>
              <a:rPr lang="zh-CN" altLang="en-US" sz="2800" dirty="0"/>
              <a:t>，因此溶液酸性增强，且能检测到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  <a:r>
              <a:rPr lang="zh-CN" altLang="en-US" sz="2800" dirty="0"/>
              <a:t>的存在。</a:t>
            </a:r>
            <a:endParaRPr lang="en-US" altLang="zh-CN" sz="2800" dirty="0"/>
          </a:p>
          <a:p>
            <a:pPr marL="514350" indent="-514350" algn="l">
              <a:buClrTx/>
              <a:buSzPct val="100000"/>
            </a:pPr>
            <a:r>
              <a:rPr lang="en-US" altLang="zh-CN" sz="2800" dirty="0"/>
              <a:t>		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2 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565981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思考题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14g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硫酸盐一般易溶于水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微溶：</a:t>
            </a:r>
            <a:r>
              <a:rPr lang="en-US" altLang="zh-CN" sz="2800" dirty="0"/>
              <a:t>Ag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CaSO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SrSO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BaSO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PbSO</a:t>
            </a:r>
            <a:r>
              <a:rPr lang="en-US" altLang="zh-CN" sz="2800" baseline="-25000" dirty="0"/>
              <a:t>4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可溶性硫酸盐从溶液中析出的晶体常带有结晶水</a:t>
            </a: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硫酸盐一般热稳定性高</a:t>
            </a:r>
            <a:endParaRPr lang="en-US" altLang="zh-CN" sz="2800" dirty="0"/>
          </a:p>
          <a:p>
            <a:pPr marL="971550" lvl="1" indent="-514350" algn="l">
              <a:lnSpc>
                <a:spcPct val="120000"/>
              </a:lnSpc>
            </a:pPr>
            <a:endParaRPr lang="en-US" altLang="zh-CN" sz="2800" dirty="0"/>
          </a:p>
          <a:p>
            <a:pPr marL="971550" lvl="1" indent="-514350" algn="l">
              <a:lnSpc>
                <a:spcPct val="120000"/>
              </a:lnSpc>
            </a:pP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4295013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14.8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硫酸盐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337233" cy="5089525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800" dirty="0"/>
              <a:t>Ba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SO</a:t>
            </a:r>
            <a:r>
              <a:rPr lang="en-US" altLang="zh-CN" sz="2800" baseline="-25000" dirty="0"/>
              <a:t>4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 BaSO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(s)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800" dirty="0"/>
              <a:t>Ba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SO</a:t>
            </a:r>
            <a:r>
              <a:rPr lang="en-US" altLang="zh-CN" sz="2800" baseline="-25000" dirty="0"/>
              <a:t>3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 BaSO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(s)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800" dirty="0"/>
              <a:t>Ba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CO</a:t>
            </a:r>
            <a:r>
              <a:rPr lang="en-US" altLang="zh-CN" sz="2800" baseline="-25000" dirty="0"/>
              <a:t>3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 BaCO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(s)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/>
              <a:t>碳酸盐 </a:t>
            </a:r>
            <a:r>
              <a:rPr lang="en-US" altLang="zh-CN" sz="2800" dirty="0"/>
              <a:t>+ </a:t>
            </a:r>
            <a:r>
              <a:rPr lang="zh-CN" altLang="en-US" sz="2800" dirty="0"/>
              <a:t>酸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盐 </a:t>
            </a:r>
            <a:r>
              <a:rPr lang="en-US" altLang="zh-CN" sz="2800" dirty="0">
                <a:sym typeface="Wingdings" pitchFamily="2" charset="2"/>
              </a:rPr>
              <a:t>+ </a:t>
            </a:r>
            <a:r>
              <a:rPr lang="zh-CN" altLang="en-US" sz="2800" dirty="0">
                <a:sym typeface="Wingdings" pitchFamily="2" charset="2"/>
              </a:rPr>
              <a:t>水 </a:t>
            </a:r>
            <a:r>
              <a:rPr lang="en-US" altLang="zh-CN" sz="2800" dirty="0">
                <a:sym typeface="Wingdings" pitchFamily="2" charset="2"/>
              </a:rPr>
              <a:t>+ CO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dirty="0">
                <a:sym typeface="Wingdings" pitchFamily="2" charset="2"/>
              </a:rPr>
              <a:t>亚硫酸盐 </a:t>
            </a:r>
            <a:r>
              <a:rPr lang="en-US" altLang="zh-CN" sz="2800" dirty="0">
                <a:sym typeface="Wingdings" pitchFamily="2" charset="2"/>
              </a:rPr>
              <a:t>+ </a:t>
            </a:r>
            <a:r>
              <a:rPr lang="zh-CN" altLang="en-US" sz="2800" dirty="0">
                <a:sym typeface="Wingdings" pitchFamily="2" charset="2"/>
              </a:rPr>
              <a:t>酸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盐 </a:t>
            </a:r>
            <a:r>
              <a:rPr lang="en-US" altLang="zh-CN" sz="2800" dirty="0">
                <a:sym typeface="Wingdings" pitchFamily="2" charset="2"/>
              </a:rPr>
              <a:t>+ </a:t>
            </a:r>
            <a:r>
              <a:rPr lang="zh-CN" altLang="en-US" sz="2800" dirty="0">
                <a:sym typeface="Wingdings" pitchFamily="2" charset="2"/>
              </a:rPr>
              <a:t>水 </a:t>
            </a:r>
            <a:r>
              <a:rPr lang="en-US" altLang="zh-CN" sz="2800" dirty="0">
                <a:sym typeface="Wingdings" pitchFamily="2" charset="2"/>
              </a:rPr>
              <a:t>+ 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</a:p>
          <a:p>
            <a:pPr marL="514350" indent="-514350" algn="l">
              <a:lnSpc>
                <a:spcPct val="120000"/>
              </a:lnSpc>
              <a:buAutoNum type="arabicPeriod"/>
            </a:pPr>
            <a:r>
              <a:rPr lang="zh-CN" altLang="en-US" sz="2800" dirty="0"/>
              <a:t>先加入盐酸，排除</a:t>
            </a:r>
            <a:r>
              <a:rPr lang="en-US" altLang="zh-CN" sz="2800" dirty="0"/>
              <a:t>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Ag</a:t>
            </a:r>
            <a:r>
              <a:rPr lang="en-US" altLang="zh-CN" sz="2800" baseline="30000" dirty="0"/>
              <a:t>+ </a:t>
            </a:r>
            <a:r>
              <a:rPr lang="en-US" altLang="zh-CN" sz="2800" dirty="0"/>
              <a:t> </a:t>
            </a:r>
          </a:p>
          <a:p>
            <a:pPr marL="514350" indent="-514350" algn="l">
              <a:lnSpc>
                <a:spcPct val="120000"/>
              </a:lnSpc>
              <a:buAutoNum type="arabicPeriod"/>
            </a:pPr>
            <a:r>
              <a:rPr lang="zh-CN" altLang="en-US" sz="2800" dirty="0"/>
              <a:t>加入氯化钡溶液，产生白色沉淀，说明含有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baseline="30000" dirty="0"/>
              <a:t>2-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v"/>
            </a:pPr>
            <a:r>
              <a:rPr lang="zh-CN" altLang="en-US" sz="2800" dirty="0">
                <a:solidFill>
                  <a:srgbClr val="002060"/>
                </a:solidFill>
              </a:rPr>
              <a:t>不能用硝酸，因为硝酸能将</a:t>
            </a:r>
            <a:r>
              <a:rPr lang="en-US" altLang="zh-CN" sz="2800" dirty="0">
                <a:solidFill>
                  <a:srgbClr val="002060"/>
                </a:solidFill>
              </a:rPr>
              <a:t>SO</a:t>
            </a:r>
            <a:r>
              <a:rPr lang="en-US" altLang="zh-CN" sz="2800" baseline="-25000" dirty="0">
                <a:solidFill>
                  <a:srgbClr val="002060"/>
                </a:solidFill>
              </a:rPr>
              <a:t>3</a:t>
            </a:r>
            <a:r>
              <a:rPr lang="en-US" altLang="zh-CN" sz="2800" baseline="30000" dirty="0">
                <a:solidFill>
                  <a:srgbClr val="002060"/>
                </a:solidFill>
              </a:rPr>
              <a:t>2-</a:t>
            </a:r>
            <a:r>
              <a:rPr lang="en-US" altLang="zh-CN" sz="2800" dirty="0">
                <a:solidFill>
                  <a:srgbClr val="002060"/>
                </a:solidFill>
              </a:rPr>
              <a:t> </a:t>
            </a:r>
            <a:r>
              <a:rPr lang="zh-CN" altLang="en-US" sz="2800" dirty="0">
                <a:solidFill>
                  <a:srgbClr val="002060"/>
                </a:solidFill>
              </a:rPr>
              <a:t>氧化成</a:t>
            </a:r>
            <a:r>
              <a:rPr lang="en-US" altLang="zh-CN" sz="2800" dirty="0">
                <a:solidFill>
                  <a:srgbClr val="002060"/>
                </a:solidFill>
              </a:rPr>
              <a:t>SO</a:t>
            </a:r>
            <a:r>
              <a:rPr lang="en-US" altLang="zh-CN" sz="2800" baseline="-25000" dirty="0">
                <a:solidFill>
                  <a:srgbClr val="002060"/>
                </a:solidFill>
              </a:rPr>
              <a:t>4</a:t>
            </a:r>
            <a:r>
              <a:rPr lang="en-US" altLang="zh-CN" sz="2800" baseline="30000" dirty="0">
                <a:solidFill>
                  <a:srgbClr val="002060"/>
                </a:solidFill>
              </a:rPr>
              <a:t>2-</a:t>
            </a:r>
            <a:r>
              <a:rPr lang="en-US" altLang="zh-CN" sz="2800" dirty="0">
                <a:solidFill>
                  <a:srgbClr val="002060"/>
                </a:solidFill>
              </a:rPr>
              <a:t> 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v"/>
            </a:pPr>
            <a:r>
              <a:rPr lang="zh-CN" altLang="en-US" sz="2800" dirty="0">
                <a:solidFill>
                  <a:srgbClr val="002060"/>
                </a:solidFill>
              </a:rPr>
              <a:t>亦不能用硝酸钡</a:t>
            </a:r>
            <a:endParaRPr lang="en-US" altLang="zh-CN" sz="2800" dirty="0">
              <a:solidFill>
                <a:srgbClr val="002060"/>
              </a:solidFill>
            </a:endParaRPr>
          </a:p>
          <a:p>
            <a:pPr marL="514350" indent="-514350" algn="l">
              <a:lnSpc>
                <a:spcPct val="120000"/>
              </a:lnSpc>
            </a:pPr>
            <a:endParaRPr lang="en-US" altLang="zh-CN" sz="28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endParaRPr lang="en-US" altLang="zh-CN" sz="28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6925051" cy="715645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14.8.1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硫酸根的检验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8602" y="1162686"/>
            <a:ext cx="8573426" cy="5089525"/>
          </a:xfrm>
        </p:spPr>
        <p:txBody>
          <a:bodyPr>
            <a:noAutofit/>
          </a:bodyPr>
          <a:lstStyle/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硫酸钙</a:t>
            </a:r>
            <a:r>
              <a:rPr lang="en-US" altLang="zh-CN" sz="2600" dirty="0"/>
              <a:t>pg245,246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硫酸钡</a:t>
            </a:r>
            <a:endParaRPr lang="en-US" altLang="zh-CN" sz="2600" dirty="0"/>
          </a:p>
          <a:p>
            <a:pPr marL="514350" indent="-514350" algn="l">
              <a:lnSpc>
                <a:spcPct val="120000"/>
              </a:lnSpc>
            </a:pPr>
            <a:r>
              <a:rPr lang="en-US" altLang="zh-CN" sz="2600" dirty="0"/>
              <a:t>	</a:t>
            </a:r>
            <a:r>
              <a:rPr lang="zh-CN" altLang="en-US" sz="2600" dirty="0"/>
              <a:t>不易被</a:t>
            </a:r>
            <a:r>
              <a:rPr lang="en-US" altLang="zh-CN" sz="2600" dirty="0"/>
              <a:t>X</a:t>
            </a:r>
            <a:r>
              <a:rPr lang="zh-CN" altLang="en-US" sz="2600" dirty="0"/>
              <a:t>射线透过</a:t>
            </a:r>
            <a:r>
              <a:rPr lang="en-US" altLang="zh-CN" sz="2600" dirty="0"/>
              <a:t>--</a:t>
            </a:r>
            <a:r>
              <a:rPr lang="zh-CN" altLang="en-US" sz="2600" dirty="0"/>
              <a:t>造影剂、白色颜料、制取其它钡盐</a:t>
            </a:r>
            <a:endParaRPr lang="en-US" altLang="zh-CN" sz="26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硫酸铁</a:t>
            </a:r>
            <a:r>
              <a:rPr lang="en-US" altLang="zh-CN" sz="2600" dirty="0"/>
              <a:t>(II)</a:t>
            </a:r>
          </a:p>
          <a:p>
            <a:pPr marL="514350" indent="-514350" algn="l">
              <a:lnSpc>
                <a:spcPct val="120000"/>
              </a:lnSpc>
            </a:pPr>
            <a:r>
              <a:rPr lang="en-US" altLang="zh-CN" sz="2600" dirty="0"/>
              <a:t>	</a:t>
            </a:r>
            <a:r>
              <a:rPr lang="zh-CN" altLang="en-US" sz="2600" dirty="0"/>
              <a:t>绿矾</a:t>
            </a:r>
            <a:r>
              <a:rPr lang="en-US" altLang="zh-CN" sz="2600" dirty="0"/>
              <a:t>-- FeSO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·7H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O; </a:t>
            </a:r>
            <a:r>
              <a:rPr lang="zh-CN" altLang="en-US" sz="2600" dirty="0"/>
              <a:t>补血剂、生产净水剂和</a:t>
            </a:r>
            <a:r>
              <a:rPr lang="en-US" altLang="zh-CN" sz="2600" dirty="0"/>
              <a:t>Fe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  <a:r>
              <a:rPr lang="en-US" altLang="zh-CN" sz="2600" baseline="-25000" dirty="0"/>
              <a:t>3</a:t>
            </a:r>
            <a:r>
              <a:rPr lang="zh-CN" altLang="en-US" sz="2600" dirty="0"/>
              <a:t>的原料</a:t>
            </a:r>
            <a:endParaRPr lang="en-US" altLang="zh-CN" sz="2600" dirty="0"/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皓矾 </a:t>
            </a:r>
            <a:r>
              <a:rPr lang="en-US" altLang="zh-CN" sz="2600" dirty="0"/>
              <a:t>-- ZnSO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·7H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明矾</a:t>
            </a:r>
            <a:r>
              <a:rPr lang="en-US" altLang="zh-CN" sz="2600" dirty="0"/>
              <a:t>-- </a:t>
            </a:r>
            <a:r>
              <a:rPr lang="en-US" altLang="zh-CN" sz="2600" dirty="0" err="1"/>
              <a:t>KAl</a:t>
            </a:r>
            <a:r>
              <a:rPr lang="en-US" altLang="zh-CN" sz="2600" dirty="0"/>
              <a:t>(SO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)·12H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600" dirty="0"/>
              <a:t>胆矾</a:t>
            </a:r>
            <a:r>
              <a:rPr lang="en-US" altLang="zh-CN" sz="2600" dirty="0"/>
              <a:t>-- CuSO</a:t>
            </a:r>
            <a:r>
              <a:rPr lang="en-US" altLang="zh-CN" sz="2600" baseline="-25000" dirty="0"/>
              <a:t>4</a:t>
            </a:r>
            <a:r>
              <a:rPr lang="en-US" altLang="zh-CN" sz="2600" dirty="0"/>
              <a:t>·5H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</a:t>
            </a:r>
          </a:p>
          <a:p>
            <a:pPr marL="514350" indent="-514350" algn="l">
              <a:lnSpc>
                <a:spcPct val="120000"/>
              </a:lnSpc>
              <a:buFont typeface="Wingdings" pitchFamily="2" charset="2"/>
              <a:buChar char="Ø"/>
            </a:pPr>
            <a:endParaRPr lang="en-US" altLang="zh-CN" sz="2600" dirty="0"/>
          </a:p>
          <a:p>
            <a:pPr marL="342900" indent="-342900" algn="l">
              <a:lnSpc>
                <a:spcPct val="120000"/>
              </a:lnSpc>
            </a:pPr>
            <a:endParaRPr lang="zh-CN" altLang="en-US" sz="26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25755" y="296546"/>
            <a:ext cx="8547789" cy="715645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14.8.2 </a:t>
            </a:r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重要硫酸盐的性质与用途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9093" y="1530097"/>
            <a:ext cx="8269408" cy="4724399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en-US" altLang="zh-CN" sz="2800" dirty="0"/>
              <a:t>A </a:t>
            </a:r>
            <a:r>
              <a:rPr lang="zh-CN" altLang="en-US" sz="2800" dirty="0"/>
              <a:t>不能用硝酸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 B </a:t>
            </a:r>
            <a:r>
              <a:rPr lang="zh-CN" altLang="en-US" sz="2800" dirty="0"/>
              <a:t>可能是</a:t>
            </a:r>
            <a:r>
              <a:rPr lang="en-US" altLang="zh-CN" sz="2800" dirty="0"/>
              <a:t>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Ag</a:t>
            </a:r>
            <a:r>
              <a:rPr lang="en-US" altLang="zh-CN" sz="2800" baseline="30000" dirty="0"/>
              <a:t>+ 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 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</a:p>
          <a:p>
            <a:pPr algn="l"/>
            <a:r>
              <a:rPr lang="en-US" altLang="zh-CN" sz="2800" dirty="0"/>
              <a:t>      C </a:t>
            </a:r>
            <a:r>
              <a:rPr lang="zh-CN" altLang="en-US" sz="2800" dirty="0"/>
              <a:t>用盐酸酸化，排除</a:t>
            </a:r>
            <a:r>
              <a:rPr lang="en-US" altLang="zh-CN" sz="2800" dirty="0"/>
              <a:t>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en-US" altLang="zh-CN" sz="2800" baseline="30000" dirty="0"/>
              <a:t>2-</a:t>
            </a:r>
            <a:r>
              <a:rPr lang="zh-CN" altLang="en-US" sz="2800" dirty="0"/>
              <a:t>，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baseline="30000" dirty="0"/>
              <a:t>2-</a:t>
            </a:r>
            <a:r>
              <a:rPr lang="zh-CN" altLang="en-US" sz="2800" dirty="0"/>
              <a:t>，</a:t>
            </a:r>
            <a:r>
              <a:rPr lang="en-US" altLang="zh-CN" sz="2800" dirty="0"/>
              <a:t>Ag</a:t>
            </a:r>
            <a:r>
              <a:rPr lang="en-US" altLang="zh-CN" sz="2800" baseline="30000" dirty="0"/>
              <a:t>+ 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 D </a:t>
            </a:r>
            <a:r>
              <a:rPr lang="zh-CN" altLang="en-US" sz="2800" dirty="0"/>
              <a:t>可能是</a:t>
            </a:r>
            <a:r>
              <a:rPr lang="en-US" altLang="zh-CN" sz="2800" dirty="0"/>
              <a:t>Ag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</a:t>
            </a:r>
            <a:r>
              <a:rPr lang="zh-CN" altLang="en-US" sz="2800" dirty="0"/>
              <a:t>，</a:t>
            </a:r>
            <a:r>
              <a:rPr lang="en-US" altLang="zh-CN" sz="2800" dirty="0"/>
              <a:t> 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</a:t>
            </a:r>
          </a:p>
          <a:p>
            <a:pPr algn="l"/>
            <a:r>
              <a:rPr lang="en-US" altLang="zh-CN" sz="2800" dirty="0" err="1"/>
              <a:t>Ans</a:t>
            </a:r>
            <a:r>
              <a:rPr lang="zh-CN" altLang="en-US" sz="2800" dirty="0"/>
              <a:t>：</a:t>
            </a:r>
            <a:r>
              <a:rPr lang="en-US" altLang="zh-CN" sz="2800" dirty="0"/>
              <a:t>C</a:t>
            </a:r>
          </a:p>
          <a:p>
            <a:pPr algn="l"/>
            <a:r>
              <a:rPr lang="en-US" altLang="zh-CN" sz="2800" dirty="0"/>
              <a:t>2. </a:t>
            </a:r>
            <a:r>
              <a:rPr lang="zh-CN" altLang="en-US" sz="2800" dirty="0"/>
              <a:t>分别加入硝酸有气泡的是碳酸钠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</a:t>
            </a:r>
            <a:r>
              <a:rPr lang="zh-CN" altLang="en-US" sz="2800" dirty="0"/>
              <a:t>剩三个再加入硝酸钡溶液有沉淀的是硫酸钠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</a:t>
            </a:r>
            <a:r>
              <a:rPr lang="zh-CN" altLang="en-US" sz="2800" dirty="0"/>
              <a:t>剩两个再加入硝酸银溶液有沉淀的是氯化钠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</a:t>
            </a:r>
            <a:r>
              <a:rPr lang="zh-CN" altLang="en-US" sz="2800" dirty="0"/>
              <a:t>最后一个是硝酸钠</a:t>
            </a:r>
            <a:endParaRPr lang="en-US" altLang="zh-CN" sz="2800" baseline="30000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algn="l">
              <a:buClrTx/>
              <a:buSzPct val="100000"/>
              <a:buFont typeface="Wingdings" charset="0"/>
            </a:pPr>
            <a:endParaRPr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51484" y="643255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思考题</a:t>
            </a:r>
            <a:r>
              <a:rPr lang="en-US" altLang="zh-CN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14h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9093" y="927279"/>
            <a:ext cx="8269408" cy="5602310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en-US" altLang="zh-CN" sz="2800" dirty="0"/>
              <a:t>A </a:t>
            </a:r>
            <a:r>
              <a:rPr lang="zh-CN" altLang="en-US" sz="2800" dirty="0"/>
              <a:t>氧的氧化数没有</a:t>
            </a:r>
            <a:r>
              <a:rPr lang="en-US" altLang="zh-CN" sz="2800" dirty="0"/>
              <a:t>+6 </a:t>
            </a:r>
            <a:endParaRPr lang="en-US" altLang="zh-CN" dirty="0"/>
          </a:p>
          <a:p>
            <a:pPr marL="514350" indent="-514350" algn="l"/>
            <a:r>
              <a:rPr lang="en-US" altLang="zh-CN" sz="2800" dirty="0"/>
              <a:t>	D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 </a:t>
            </a:r>
            <a:r>
              <a:rPr lang="zh-CN" altLang="en-US" sz="2800" dirty="0"/>
              <a:t>受热会分解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	</a:t>
            </a:r>
            <a:r>
              <a:rPr lang="en-US" altLang="zh-CN" sz="2800" dirty="0" err="1"/>
              <a:t>Ans</a:t>
            </a:r>
            <a:r>
              <a:rPr lang="en-US" altLang="zh-CN" sz="2800" dirty="0"/>
              <a:t>: C</a:t>
            </a:r>
          </a:p>
          <a:p>
            <a:pPr marL="514350" indent="-514350" algn="l">
              <a:buAutoNum type="arabicPeriod" startAt="2"/>
            </a:pPr>
            <a:r>
              <a:rPr lang="en-US" altLang="zh-CN" sz="2800" dirty="0"/>
              <a:t>B </a:t>
            </a:r>
          </a:p>
          <a:p>
            <a:pPr marL="514350" indent="-514350" algn="l">
              <a:buAutoNum type="arabicPeriod" startAt="2"/>
            </a:pPr>
            <a:r>
              <a:rPr lang="zh-CN" altLang="en-US" sz="2800" dirty="0"/>
              <a:t>只能失去电子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	</a:t>
            </a:r>
            <a:r>
              <a:rPr lang="en-US" altLang="zh-CN" sz="2800" dirty="0" err="1"/>
              <a:t>Ans</a:t>
            </a:r>
            <a:r>
              <a:rPr lang="zh-CN" altLang="en-US" sz="2800" dirty="0"/>
              <a:t>：</a:t>
            </a:r>
            <a:r>
              <a:rPr lang="en-US" altLang="zh-CN" sz="2800" dirty="0"/>
              <a:t>B</a:t>
            </a:r>
          </a:p>
          <a:p>
            <a:pPr marL="514350" indent="-514350" algn="l"/>
            <a:r>
              <a:rPr lang="en-US" altLang="zh-CN" sz="2800" dirty="0"/>
              <a:t>4. C 	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溶于水生产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</a:p>
          <a:p>
            <a:pPr marL="514350" indent="-514350" algn="l"/>
            <a:r>
              <a:rPr lang="en-US" altLang="zh-CN" sz="2800" dirty="0"/>
              <a:t>5. C </a:t>
            </a:r>
            <a:r>
              <a:rPr lang="zh-CN" altLang="en-US" sz="2800" dirty="0"/>
              <a:t>活性炭的漂白作用是物理吸附。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6. C</a:t>
            </a:r>
          </a:p>
          <a:p>
            <a:pPr marL="514350" indent="-514350" algn="l"/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77242" y="218252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选择题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9092" y="927279"/>
            <a:ext cx="8680361" cy="560231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dirty="0"/>
              <a:t>7. </a:t>
            </a:r>
          </a:p>
          <a:p>
            <a:pPr marL="514350" indent="-514350" algn="l"/>
            <a:r>
              <a:rPr lang="en-US" altLang="zh-CN" sz="2800" dirty="0"/>
              <a:t>A </a:t>
            </a:r>
            <a:r>
              <a:rPr lang="zh-CN" altLang="en-US" sz="2800" dirty="0"/>
              <a:t>稀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与锌反应表现出氧化性，但是是表现在</a:t>
            </a:r>
            <a:r>
              <a:rPr lang="en-US" altLang="zh-CN" sz="2800" dirty="0"/>
              <a:t>H</a:t>
            </a:r>
            <a:r>
              <a:rPr lang="zh-CN" altLang="en-US" sz="2800" dirty="0"/>
              <a:t>元素。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 err="1"/>
              <a:t>Ans</a:t>
            </a:r>
            <a:r>
              <a:rPr lang="zh-CN" altLang="en-US" sz="2800" dirty="0"/>
              <a:t>： </a:t>
            </a:r>
            <a:r>
              <a:rPr lang="en-US" altLang="zh-CN" sz="2800" dirty="0"/>
              <a:t>C </a:t>
            </a:r>
            <a:r>
              <a:rPr lang="zh-CN" altLang="en-US" sz="2800" dirty="0"/>
              <a:t>浓硫酸的强氧化性是表现在</a:t>
            </a:r>
            <a:r>
              <a:rPr lang="en-US" altLang="zh-CN" sz="2800" dirty="0"/>
              <a:t>S</a:t>
            </a:r>
            <a:r>
              <a:rPr lang="zh-CN" altLang="en-US" sz="2800" dirty="0"/>
              <a:t>元素。</a:t>
            </a:r>
            <a:endParaRPr lang="en-US" altLang="zh-CN" sz="2800" dirty="0"/>
          </a:p>
          <a:p>
            <a:pPr marL="514350" indent="-514350" algn="l"/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8. A</a:t>
            </a:r>
          </a:p>
          <a:p>
            <a:pPr marL="514350" indent="-514350" algn="l"/>
            <a:r>
              <a:rPr lang="en-US" altLang="zh-CN" sz="2800" dirty="0"/>
              <a:t>9. </a:t>
            </a:r>
            <a:r>
              <a:rPr lang="zh-CN" altLang="en-US" sz="2800" dirty="0"/>
              <a:t>即被氧化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	A -2 </a:t>
            </a:r>
            <a:r>
              <a:rPr lang="en-US" altLang="zh-CN" sz="2800" dirty="0">
                <a:sym typeface="Wingdings" pitchFamily="2" charset="2"/>
              </a:rPr>
              <a:t> +4 	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B  +6  +4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C </a:t>
            </a:r>
            <a:r>
              <a:rPr lang="zh-CN" altLang="en-US" sz="2800" dirty="0">
                <a:sym typeface="Wingdings" pitchFamily="2" charset="2"/>
              </a:rPr>
              <a:t>不是氧化还原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D </a:t>
            </a:r>
            <a:r>
              <a:rPr lang="zh-CN" altLang="en-US" sz="2800" dirty="0">
                <a:sym typeface="Wingdings" pitchFamily="2" charset="2"/>
              </a:rPr>
              <a:t>不是氧化还原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 algn="l"/>
            <a:r>
              <a:rPr lang="en-US" altLang="zh-CN" sz="2800" dirty="0" err="1">
                <a:sym typeface="Wingdings" pitchFamily="2" charset="2"/>
              </a:rPr>
              <a:t>Ans</a:t>
            </a:r>
            <a:r>
              <a:rPr lang="en-US" altLang="zh-CN" sz="2800" dirty="0">
                <a:sym typeface="Wingdings" pitchFamily="2" charset="2"/>
              </a:rPr>
              <a:t>: A</a:t>
            </a:r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77242" y="218252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选择题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9093" y="927279"/>
            <a:ext cx="8269408" cy="560231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dirty="0"/>
              <a:t>10. D</a:t>
            </a:r>
          </a:p>
          <a:p>
            <a:pPr marL="514350" indent="-514350" algn="l"/>
            <a:r>
              <a:rPr lang="en-US" altLang="zh-CN" sz="2800" dirty="0"/>
              <a:t>11. C</a:t>
            </a:r>
          </a:p>
          <a:p>
            <a:pPr marL="514350" indent="-514350" algn="l"/>
            <a:r>
              <a:rPr lang="en-US" altLang="zh-CN" sz="2800" dirty="0"/>
              <a:t>12. </a:t>
            </a:r>
          </a:p>
          <a:p>
            <a:pPr marL="514350" indent="-514350" algn="l"/>
            <a:r>
              <a:rPr lang="en-US" altLang="zh-CN" sz="2800" dirty="0"/>
              <a:t>	(1)</a:t>
            </a:r>
            <a:r>
              <a:rPr lang="zh-CN" altLang="en-US" sz="2800" dirty="0"/>
              <a:t>久置的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 </a:t>
            </a:r>
            <a:r>
              <a:rPr lang="zh-CN" altLang="en-US" sz="2800" dirty="0"/>
              <a:t>会被氧化为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</a:t>
            </a:r>
          </a:p>
          <a:p>
            <a:pPr marL="514350" indent="-514350" algn="l"/>
            <a:r>
              <a:rPr lang="en-US" altLang="zh-CN" sz="2800" dirty="0"/>
              <a:t>	(2) </a:t>
            </a:r>
            <a:r>
              <a:rPr lang="zh-CN" altLang="en-US" sz="2800" dirty="0"/>
              <a:t>产生的</a:t>
            </a:r>
            <a:r>
              <a:rPr lang="en-US" altLang="zh-CN" sz="2800" dirty="0"/>
              <a:t>CaCO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会溶于酸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	(3) 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具有氧化性能将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氧化为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</a:p>
          <a:p>
            <a:pPr marL="514350" indent="-514350" algn="l"/>
            <a:r>
              <a:rPr lang="en-US" altLang="zh-CN" sz="2800" dirty="0"/>
              <a:t>	(4) </a:t>
            </a:r>
            <a:r>
              <a:rPr lang="zh-CN" altLang="en-US" sz="2800" dirty="0"/>
              <a:t>硝酸能将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氧化为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</a:p>
          <a:p>
            <a:pPr marL="514350" indent="-514350" algn="l"/>
            <a:r>
              <a:rPr lang="en-US" altLang="zh-CN" sz="2800" baseline="-25000" dirty="0"/>
              <a:t> </a:t>
            </a:r>
            <a:r>
              <a:rPr lang="en-US" altLang="zh-CN" sz="2800" dirty="0"/>
              <a:t> </a:t>
            </a:r>
            <a:r>
              <a:rPr lang="en-US" altLang="zh-CN" sz="2800" dirty="0" err="1"/>
              <a:t>Ans</a:t>
            </a:r>
            <a:r>
              <a:rPr lang="en-US" altLang="zh-CN" sz="2800" dirty="0"/>
              <a:t>: A </a:t>
            </a:r>
          </a:p>
          <a:p>
            <a:pPr marL="514350" indent="-514350" algn="l"/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 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77242" y="218252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选择题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9093" y="927279"/>
            <a:ext cx="8269408" cy="5602310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en-US" altLang="zh-CN" sz="2800" dirty="0"/>
              <a:t>(1) B  </a:t>
            </a:r>
          </a:p>
          <a:p>
            <a:pPr marL="514350" indent="-514350" algn="l"/>
            <a:r>
              <a:rPr lang="en-US" altLang="zh-CN" sz="2800" dirty="0"/>
              <a:t>	(2) C</a:t>
            </a:r>
          </a:p>
          <a:p>
            <a:pPr marL="514350" indent="-514350" algn="l"/>
            <a:r>
              <a:rPr lang="en-US" altLang="zh-CN" sz="2800" dirty="0"/>
              <a:t>	(3) E </a:t>
            </a:r>
          </a:p>
          <a:p>
            <a:pPr marL="514350" indent="-514350" algn="l"/>
            <a:r>
              <a:rPr lang="en-US" altLang="zh-CN" sz="2800" dirty="0"/>
              <a:t>	(4)</a:t>
            </a:r>
            <a:r>
              <a:rPr lang="zh-CN" altLang="en-US" sz="2800" dirty="0"/>
              <a:t> </a:t>
            </a:r>
            <a:r>
              <a:rPr lang="en-US" altLang="zh-CN" sz="2800" dirty="0"/>
              <a:t>E</a:t>
            </a:r>
          </a:p>
          <a:p>
            <a:pPr marL="514350" indent="-514350" algn="l"/>
            <a:r>
              <a:rPr lang="en-US" altLang="zh-CN" sz="2800" dirty="0"/>
              <a:t>	(5) C</a:t>
            </a:r>
          </a:p>
          <a:p>
            <a:pPr marL="514350" indent="-514350" algn="l"/>
            <a:r>
              <a:rPr lang="en-US" altLang="zh-CN" sz="2800" dirty="0"/>
              <a:t>	(6) A</a:t>
            </a:r>
          </a:p>
          <a:p>
            <a:pPr marL="514350" indent="-514350" algn="l"/>
            <a:r>
              <a:rPr lang="en-US" altLang="zh-CN" sz="2800" dirty="0"/>
              <a:t>	(7) BD</a:t>
            </a:r>
          </a:p>
          <a:p>
            <a:pPr marL="514350" indent="-514350" algn="l"/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2. </a:t>
            </a:r>
            <a:r>
              <a:rPr lang="zh-CN" altLang="en-US" sz="2800" dirty="0"/>
              <a:t>消失；</a:t>
            </a:r>
            <a:r>
              <a:rPr lang="en-US" altLang="zh-CN" sz="2800" dirty="0"/>
              <a:t>Cl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与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作用生成了无漂白性的</a:t>
            </a:r>
            <a:r>
              <a:rPr lang="en-US" altLang="zh-CN" sz="2800" dirty="0" err="1"/>
              <a:t>HCl</a:t>
            </a:r>
            <a:r>
              <a:rPr lang="zh-CN" altLang="en-US" sz="2800" dirty="0"/>
              <a:t>与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	2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O + 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+ 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 2HCl</a:t>
            </a:r>
            <a:r>
              <a:rPr lang="zh-CN" altLang="en-US" sz="2800" dirty="0"/>
              <a:t> </a:t>
            </a:r>
            <a:r>
              <a:rPr lang="en-US" altLang="zh-CN" sz="2800" dirty="0"/>
              <a:t>+ 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</a:p>
          <a:p>
            <a:pPr marL="514350" indent="-514350" algn="l"/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77242" y="218252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作答题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47729" y="1081832"/>
            <a:ext cx="8269408" cy="560231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dirty="0"/>
              <a:t>3. </a:t>
            </a:r>
            <a:r>
              <a:rPr lang="zh-CN" altLang="en-US" sz="2800" dirty="0"/>
              <a:t>溶有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的品红溶液，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气体逸出，品红溶液恢复红色。</a:t>
            </a:r>
            <a:endParaRPr lang="en-US" altLang="zh-CN" sz="2800" dirty="0"/>
          </a:p>
          <a:p>
            <a:pPr marL="514350" indent="-514350" algn="l"/>
            <a:endParaRPr lang="en-US" altLang="zh-CN" sz="2800" dirty="0"/>
          </a:p>
          <a:p>
            <a:pPr marL="514350" indent="-514350" algn="l">
              <a:buAutoNum type="arabicPeriod" startAt="4"/>
            </a:pPr>
            <a:r>
              <a:rPr lang="en-US" altLang="zh-CN" sz="2800" dirty="0"/>
              <a:t>(1) </a:t>
            </a:r>
            <a:r>
              <a:rPr lang="zh-CN" altLang="en-US" sz="2800" dirty="0"/>
              <a:t>氧化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	(2) </a:t>
            </a:r>
            <a:r>
              <a:rPr lang="zh-CN" altLang="en-US" sz="2800" dirty="0"/>
              <a:t>还原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	(3) </a:t>
            </a:r>
            <a:r>
              <a:rPr lang="en-US" altLang="zh-CN" sz="2800" dirty="0" err="1"/>
              <a:t>PbS</a:t>
            </a:r>
            <a:r>
              <a:rPr lang="en-US" altLang="zh-CN" sz="2800" dirty="0"/>
              <a:t> + 4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+ 4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</a:p>
          <a:p>
            <a:pPr marL="514350" indent="-514350" algn="l"/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77242" y="218252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作答题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9093" y="927279"/>
            <a:ext cx="8269408" cy="560231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5. (1) 	A: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	B: </a:t>
            </a:r>
            <a:r>
              <a:rPr lang="en-US" altLang="zh-CN" sz="2800" dirty="0" err="1">
                <a:sym typeface="Wingdings" pitchFamily="2" charset="2"/>
              </a:rPr>
              <a:t>FeS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	C: 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	D: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	E: S 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(2)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 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800" dirty="0" err="1">
                <a:sym typeface="Wingdings" pitchFamily="2" charset="2"/>
              </a:rPr>
              <a:t>FeS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 </a:t>
            </a:r>
            <a:r>
              <a:rPr lang="en-US" altLang="zh-CN" sz="2800" dirty="0">
                <a:sym typeface="Wingdings" pitchFamily="2" charset="2"/>
              </a:rPr>
              <a:t>  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SO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  <a:r>
              <a:rPr lang="en-US" altLang="zh-CN" sz="2800" dirty="0">
                <a:sym typeface="Wingdings" pitchFamily="2" charset="2"/>
              </a:rPr>
              <a:t>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   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SO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+ 2NaOH </a:t>
            </a:r>
          </a:p>
          <a:p>
            <a:pPr marL="514350" indent="-514350" algn="l"/>
            <a:r>
              <a:rPr lang="en-US" altLang="zh-CN" sz="2800" dirty="0">
                <a:sym typeface="Wingdings" pitchFamily="2" charset="2"/>
              </a:rPr>
              <a:t>	Fe + S </a:t>
            </a:r>
            <a:endParaRPr lang="en-US" altLang="zh-CN" sz="2800" dirty="0"/>
          </a:p>
          <a:p>
            <a:pPr marL="514350" indent="-514350" algn="l"/>
            <a:r>
              <a:rPr lang="en-US" altLang="zh-CN" sz="2800" dirty="0"/>
              <a:t> 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77242" y="218252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作答题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653862" y="955182"/>
            <a:ext cx="1166611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651715" y="1429554"/>
            <a:ext cx="1166611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636690" y="1981199"/>
            <a:ext cx="1166611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621665" y="2494207"/>
            <a:ext cx="1166611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606639" y="2994336"/>
            <a:ext cx="1166611" cy="4357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946856" y="5624333"/>
            <a:ext cx="838200" cy="153988"/>
            <a:chOff x="2590800" y="1979612"/>
            <a:chExt cx="838200" cy="153988"/>
          </a:xfrm>
        </p:grpSpPr>
        <p:cxnSp>
          <p:nvCxnSpPr>
            <p:cNvPr id="11" name="Straight Arrow Connector 10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584448" y="3422007"/>
            <a:ext cx="3434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</a:t>
            </a:r>
            <a:r>
              <a:rPr lang="en-US" sz="2800" baseline="-25000" dirty="0"/>
              <a:t>2</a:t>
            </a:r>
            <a:r>
              <a:rPr lang="en-US" sz="2800" dirty="0"/>
              <a:t>SO</a:t>
            </a:r>
            <a:r>
              <a:rPr lang="en-US" sz="2800" baseline="-25000" dirty="0"/>
              <a:t>4</a:t>
            </a:r>
            <a:r>
              <a:rPr lang="en-US" sz="2800" dirty="0"/>
              <a:t>  +  H</a:t>
            </a:r>
            <a:r>
              <a:rPr lang="en-US" sz="2800" baseline="-25000" dirty="0"/>
              <a:t>2</a:t>
            </a:r>
            <a:r>
              <a:rPr lang="en-US" sz="2800" dirty="0"/>
              <a:t>O  + SO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260330" y="3973652"/>
            <a:ext cx="3434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FeSO</a:t>
            </a:r>
            <a:r>
              <a:rPr lang="en-US" sz="2800" baseline="-25000" dirty="0"/>
              <a:t>4</a:t>
            </a:r>
            <a:r>
              <a:rPr lang="en-US" sz="2800" dirty="0"/>
              <a:t>  +  H</a:t>
            </a:r>
            <a:r>
              <a:rPr lang="en-US" sz="2800" baseline="-25000" dirty="0"/>
              <a:t>2</a:t>
            </a:r>
            <a:r>
              <a:rPr lang="en-US" sz="2800" dirty="0"/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5000" y="4448024"/>
            <a:ext cx="3434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 S  + 2 H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0329" y="4991083"/>
            <a:ext cx="3434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</a:t>
            </a:r>
            <a:r>
              <a:rPr lang="en-US" sz="2800" baseline="-25000" dirty="0"/>
              <a:t>2</a:t>
            </a:r>
            <a:r>
              <a:rPr lang="en-US" sz="2800" dirty="0"/>
              <a:t>SO</a:t>
            </a:r>
            <a:r>
              <a:rPr lang="en-US" sz="2800" baseline="-25000" dirty="0"/>
              <a:t>3</a:t>
            </a:r>
            <a:r>
              <a:rPr lang="en-US" sz="2800" dirty="0"/>
              <a:t>  +  H</a:t>
            </a:r>
            <a:r>
              <a:rPr lang="en-US" sz="2800" baseline="-25000" dirty="0"/>
              <a:t>2</a:t>
            </a:r>
            <a:r>
              <a:rPr lang="en-US" sz="2800" dirty="0"/>
              <a:t>O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6059" y="5529849"/>
            <a:ext cx="708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FeS</a:t>
            </a:r>
            <a:r>
              <a:rPr lang="en-US" sz="2800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9093" y="927279"/>
            <a:ext cx="8269408" cy="5602310"/>
          </a:xfrm>
        </p:spPr>
        <p:txBody>
          <a:bodyPr>
            <a:normAutofit fontScale="92500" lnSpcReduction="10000"/>
          </a:bodyPr>
          <a:lstStyle/>
          <a:p>
            <a:pPr marL="514350" indent="-514350" algn="l"/>
            <a:r>
              <a:rPr lang="en-US" altLang="zh-CN" sz="2800" dirty="0"/>
              <a:t>6. 	(1) 2H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(</a:t>
            </a:r>
            <a:r>
              <a:rPr lang="zh-CN" altLang="en-US" sz="2800" dirty="0"/>
              <a:t>浓</a:t>
            </a:r>
            <a:r>
              <a:rPr lang="en-US" altLang="zh-CN" sz="2800" dirty="0"/>
              <a:t>)  + C </a:t>
            </a:r>
          </a:p>
          <a:p>
            <a:pPr marL="514350" indent="-514350" algn="l"/>
            <a:r>
              <a:rPr lang="en-US" altLang="zh-CN" sz="2800" dirty="0"/>
              <a:t>    	(2) ④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en-US" altLang="zh-CN" sz="2800" dirty="0">
                <a:latin typeface="Calibri"/>
                <a:cs typeface="Calibri"/>
              </a:rPr>
              <a:t>② </a:t>
            </a:r>
            <a:r>
              <a:rPr lang="en-US" altLang="zh-CN" sz="2800" dirty="0">
                <a:latin typeface="Calibri"/>
                <a:cs typeface="Calibri"/>
                <a:sym typeface="Wingdings" pitchFamily="2" charset="2"/>
              </a:rPr>
              <a:t> </a:t>
            </a:r>
            <a:r>
              <a:rPr lang="en-US" altLang="zh-CN" sz="2800" dirty="0">
                <a:latin typeface="Calibri"/>
                <a:cs typeface="Calibri"/>
              </a:rPr>
              <a:t>① </a:t>
            </a:r>
            <a:r>
              <a:rPr lang="en-US" altLang="zh-CN" sz="2800" dirty="0">
                <a:latin typeface="Calibri"/>
                <a:cs typeface="Calibri"/>
                <a:sym typeface="Wingdings" pitchFamily="2" charset="2"/>
              </a:rPr>
              <a:t> </a:t>
            </a:r>
            <a:r>
              <a:rPr lang="en-US" altLang="zh-CN" sz="2800" dirty="0">
                <a:latin typeface="Calibri"/>
                <a:cs typeface="Calibri"/>
              </a:rPr>
              <a:t>③</a:t>
            </a:r>
          </a:p>
          <a:p>
            <a:pPr marL="514350" indent="-514350" algn="l"/>
            <a:r>
              <a:rPr lang="en-US" altLang="zh-CN" sz="2800" dirty="0">
                <a:latin typeface="Calibri"/>
                <a:cs typeface="Calibri"/>
              </a:rPr>
              <a:t>	(3) </a:t>
            </a:r>
            <a:r>
              <a:rPr lang="zh-CN" altLang="en-US" sz="2800" dirty="0">
                <a:latin typeface="Calibri"/>
                <a:cs typeface="Calibri"/>
              </a:rPr>
              <a:t>品红：检查产物是否有</a:t>
            </a:r>
            <a:r>
              <a:rPr lang="en-US" altLang="zh-CN" sz="2800" dirty="0">
                <a:latin typeface="Calibri"/>
                <a:cs typeface="Calibri"/>
              </a:rPr>
              <a:t>SO</a:t>
            </a:r>
            <a:r>
              <a:rPr lang="en-US" altLang="zh-CN" sz="2800" baseline="-25000" dirty="0">
                <a:latin typeface="Calibri"/>
                <a:cs typeface="Calibri"/>
              </a:rPr>
              <a:t>2</a:t>
            </a:r>
            <a:r>
              <a:rPr lang="en-US" altLang="zh-CN" sz="2800" dirty="0">
                <a:latin typeface="Calibri"/>
                <a:cs typeface="Calibri"/>
              </a:rPr>
              <a:t> </a:t>
            </a:r>
          </a:p>
          <a:p>
            <a:pPr marL="514350" indent="-514350" algn="l"/>
            <a:r>
              <a:rPr lang="en-US" altLang="zh-CN" sz="2800" dirty="0">
                <a:latin typeface="Calibri"/>
                <a:cs typeface="Calibri"/>
              </a:rPr>
              <a:t>		KMnO</a:t>
            </a:r>
            <a:r>
              <a:rPr lang="en-US" altLang="zh-CN" sz="2800" baseline="-25000" dirty="0">
                <a:latin typeface="Calibri"/>
                <a:cs typeface="Calibri"/>
              </a:rPr>
              <a:t>4</a:t>
            </a:r>
            <a:r>
              <a:rPr lang="en-US" altLang="zh-CN" sz="2800" dirty="0">
                <a:latin typeface="Calibri"/>
                <a:cs typeface="Calibri"/>
              </a:rPr>
              <a:t> </a:t>
            </a:r>
            <a:r>
              <a:rPr lang="zh-CN" altLang="en-US" sz="2800" dirty="0">
                <a:latin typeface="Calibri"/>
                <a:cs typeface="Calibri"/>
              </a:rPr>
              <a:t>： 吸收</a:t>
            </a:r>
            <a:r>
              <a:rPr lang="en-US" altLang="zh-CN" sz="2800" dirty="0">
                <a:latin typeface="Calibri"/>
                <a:cs typeface="Calibri"/>
              </a:rPr>
              <a:t>SO</a:t>
            </a:r>
            <a:r>
              <a:rPr lang="en-US" altLang="zh-CN" sz="2800" baseline="-25000" dirty="0">
                <a:latin typeface="Calibri"/>
                <a:cs typeface="Calibri"/>
              </a:rPr>
              <a:t>2</a:t>
            </a:r>
            <a:r>
              <a:rPr lang="en-US" altLang="zh-CN" sz="2800" dirty="0">
                <a:latin typeface="Calibri"/>
                <a:cs typeface="Calibri"/>
              </a:rPr>
              <a:t> </a:t>
            </a:r>
          </a:p>
          <a:p>
            <a:pPr marL="514350" indent="-514350" algn="l"/>
            <a:r>
              <a:rPr lang="en-US" altLang="zh-CN" sz="2800" dirty="0">
                <a:latin typeface="Calibri"/>
                <a:cs typeface="Calibri"/>
              </a:rPr>
              <a:t>		</a:t>
            </a:r>
            <a:r>
              <a:rPr lang="zh-CN" altLang="en-US" sz="2800" dirty="0">
                <a:latin typeface="Calibri"/>
                <a:cs typeface="Calibri"/>
              </a:rPr>
              <a:t>可用：</a:t>
            </a:r>
            <a:r>
              <a:rPr lang="en-US" altLang="zh-CN" sz="2800" dirty="0">
                <a:latin typeface="Calibri"/>
                <a:cs typeface="Calibri"/>
              </a:rPr>
              <a:t>H</a:t>
            </a:r>
            <a:r>
              <a:rPr lang="en-US" altLang="zh-CN" sz="2800" baseline="-25000" dirty="0">
                <a:latin typeface="Calibri"/>
                <a:cs typeface="Calibri"/>
              </a:rPr>
              <a:t>2</a:t>
            </a:r>
            <a:r>
              <a:rPr lang="en-US" altLang="zh-CN" sz="2800" dirty="0">
                <a:latin typeface="Calibri"/>
                <a:cs typeface="Calibri"/>
              </a:rPr>
              <a:t>O</a:t>
            </a:r>
            <a:r>
              <a:rPr lang="en-US" altLang="zh-CN" sz="2800" baseline="-25000" dirty="0">
                <a:latin typeface="Calibri"/>
                <a:cs typeface="Calibri"/>
              </a:rPr>
              <a:t>2</a:t>
            </a:r>
            <a:r>
              <a:rPr lang="en-US" altLang="zh-CN" sz="2800" dirty="0">
                <a:latin typeface="Calibri"/>
                <a:cs typeface="Calibri"/>
              </a:rPr>
              <a:t> </a:t>
            </a:r>
            <a:r>
              <a:rPr lang="zh-CN" altLang="en-US" sz="2800" dirty="0">
                <a:latin typeface="Calibri"/>
                <a:cs typeface="Calibri"/>
              </a:rPr>
              <a:t>取代</a:t>
            </a:r>
            <a:endParaRPr lang="en-US" altLang="zh-CN" sz="2800" dirty="0">
              <a:latin typeface="Calibri"/>
              <a:cs typeface="Calibri"/>
            </a:endParaRPr>
          </a:p>
          <a:p>
            <a:pPr marL="514350" indent="-514350" algn="l"/>
            <a:r>
              <a:rPr lang="en-US" altLang="zh-CN" sz="2800" dirty="0">
                <a:latin typeface="Calibri"/>
                <a:cs typeface="Calibri"/>
              </a:rPr>
              <a:t>		</a:t>
            </a:r>
            <a:r>
              <a:rPr lang="zh-CN" altLang="en-US" sz="2800" dirty="0">
                <a:latin typeface="Calibri"/>
                <a:cs typeface="Calibri"/>
              </a:rPr>
              <a:t>品红：</a:t>
            </a:r>
            <a:r>
              <a:rPr lang="zh-CN" altLang="en-US" sz="2800" dirty="0">
                <a:cs typeface="Calibri"/>
              </a:rPr>
              <a:t>检查</a:t>
            </a:r>
            <a:r>
              <a:rPr lang="en-US" altLang="zh-CN" sz="2800" dirty="0">
                <a:cs typeface="Calibri"/>
              </a:rPr>
              <a:t>SO</a:t>
            </a:r>
            <a:r>
              <a:rPr lang="en-US" altLang="zh-CN" sz="2800" baseline="-25000" dirty="0">
                <a:cs typeface="Calibri"/>
              </a:rPr>
              <a:t>2</a:t>
            </a:r>
            <a:r>
              <a:rPr lang="en-US" altLang="zh-CN" sz="2800" dirty="0">
                <a:cs typeface="Calibri"/>
              </a:rPr>
              <a:t> </a:t>
            </a:r>
            <a:r>
              <a:rPr lang="zh-CN" altLang="en-US" sz="2800" dirty="0">
                <a:cs typeface="Calibri"/>
              </a:rPr>
              <a:t>是否完全除净</a:t>
            </a:r>
            <a:endParaRPr lang="en-US" altLang="zh-CN" sz="2800" dirty="0">
              <a:cs typeface="Calibri"/>
            </a:endParaRPr>
          </a:p>
          <a:p>
            <a:pPr marL="514350" indent="-514350" algn="l"/>
            <a:r>
              <a:rPr lang="en-US" altLang="zh-CN" sz="2800" dirty="0">
                <a:cs typeface="Calibri"/>
              </a:rPr>
              <a:t>	(4) </a:t>
            </a:r>
            <a:r>
              <a:rPr lang="zh-CN" altLang="en-US" sz="2800" dirty="0">
                <a:cs typeface="Calibri"/>
              </a:rPr>
              <a:t>无水硫酸铜；水；</a:t>
            </a:r>
            <a:endParaRPr lang="en-US" altLang="zh-CN" sz="2800" dirty="0">
              <a:cs typeface="Calibri"/>
            </a:endParaRPr>
          </a:p>
          <a:p>
            <a:pPr marL="514350" indent="-514350" algn="l"/>
            <a:r>
              <a:rPr lang="en-US" altLang="zh-CN" sz="2800" dirty="0">
                <a:cs typeface="Calibri"/>
              </a:rPr>
              <a:t>		</a:t>
            </a:r>
            <a:r>
              <a:rPr lang="zh-CN" altLang="en-US" sz="2800" dirty="0">
                <a:cs typeface="Calibri"/>
              </a:rPr>
              <a:t>若在</a:t>
            </a:r>
            <a:r>
              <a:rPr lang="zh-CN" altLang="en-US" sz="2800" dirty="0">
                <a:latin typeface="Calibri"/>
                <a:cs typeface="Calibri"/>
              </a:rPr>
              <a:t>①③后则无法验证水是否为产物</a:t>
            </a:r>
            <a:endParaRPr lang="en-US" altLang="zh-CN" sz="2800" dirty="0">
              <a:latin typeface="Calibri"/>
              <a:cs typeface="Calibri"/>
            </a:endParaRPr>
          </a:p>
          <a:p>
            <a:pPr marL="514350" indent="-514350" algn="l"/>
            <a:r>
              <a:rPr lang="en-US" altLang="zh-CN" sz="2800" dirty="0">
                <a:latin typeface="Calibri"/>
                <a:cs typeface="Calibri"/>
              </a:rPr>
              <a:t>	(5) </a:t>
            </a:r>
            <a:r>
              <a:rPr lang="zh-CN" altLang="en-US" sz="2800" dirty="0">
                <a:latin typeface="Calibri"/>
                <a:cs typeface="Calibri"/>
              </a:rPr>
              <a:t>澄清的石灰水；</a:t>
            </a:r>
            <a:r>
              <a:rPr lang="en-US" altLang="zh-CN" sz="2800" dirty="0">
                <a:latin typeface="Calibri"/>
                <a:cs typeface="Calibri"/>
              </a:rPr>
              <a:t> CO</a:t>
            </a:r>
            <a:r>
              <a:rPr lang="en-US" altLang="zh-CN" sz="2800" baseline="-25000" dirty="0">
                <a:latin typeface="Calibri"/>
                <a:cs typeface="Calibri"/>
              </a:rPr>
              <a:t>2</a:t>
            </a:r>
            <a:r>
              <a:rPr lang="en-US" altLang="zh-CN" sz="2800" dirty="0">
                <a:latin typeface="Calibri"/>
                <a:cs typeface="Calibri"/>
              </a:rPr>
              <a:t> </a:t>
            </a:r>
          </a:p>
          <a:p>
            <a:pPr marL="514350" indent="-514350" algn="l"/>
            <a:r>
              <a:rPr lang="en-US" altLang="zh-CN" sz="2800" dirty="0"/>
              <a:t>	(6)a </a:t>
            </a:r>
            <a:r>
              <a:rPr lang="en-US" sz="2800" dirty="0"/>
              <a:t>SO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  <a:r>
              <a:rPr lang="zh-CN" altLang="en-US" sz="2800" dirty="0"/>
              <a:t>、</a:t>
            </a:r>
            <a:r>
              <a:rPr lang="en-US" sz="2800" dirty="0"/>
              <a:t>CO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  <a:r>
              <a:rPr lang="zh-CN" altLang="en-US" sz="2800" dirty="0"/>
              <a:t>；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O </a:t>
            </a:r>
          </a:p>
          <a:p>
            <a:pPr marL="514350" indent="-514350" algn="l"/>
            <a:r>
              <a:rPr lang="en-US" sz="2800" dirty="0"/>
              <a:t>		</a:t>
            </a:r>
            <a:r>
              <a:rPr lang="en-US" altLang="zh-CN" sz="2800" dirty="0"/>
              <a:t>b 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O </a:t>
            </a:r>
            <a:r>
              <a:rPr lang="zh-CN" altLang="en-US" sz="2800" dirty="0"/>
              <a:t>；</a:t>
            </a:r>
            <a:r>
              <a:rPr lang="en-US" sz="2800" dirty="0"/>
              <a:t>CO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SO</a:t>
            </a:r>
            <a:r>
              <a:rPr lang="en-US" sz="2800" baseline="-25000" dirty="0"/>
              <a:t>2</a:t>
            </a:r>
            <a:endParaRPr lang="en-US" sz="2800" dirty="0"/>
          </a:p>
          <a:p>
            <a:pPr marL="514350" indent="-514350" algn="l"/>
            <a:r>
              <a:rPr lang="en-US" sz="2800" dirty="0"/>
              <a:t>		</a:t>
            </a:r>
            <a:r>
              <a:rPr lang="en-US" altLang="zh-CN" sz="2800" dirty="0"/>
              <a:t>c </a:t>
            </a:r>
            <a:r>
              <a:rPr lang="en-US" sz="2800" dirty="0"/>
              <a:t>SO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  <a:r>
              <a:rPr lang="zh-CN" altLang="en-US" sz="2800" dirty="0"/>
              <a:t>、</a:t>
            </a:r>
            <a:r>
              <a:rPr lang="en-US" sz="2800" dirty="0"/>
              <a:t>CO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  <a:r>
              <a:rPr lang="zh-CN" altLang="en-US" sz="2800" dirty="0"/>
              <a:t>；</a:t>
            </a:r>
            <a:r>
              <a:rPr lang="en-US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O </a:t>
            </a:r>
          </a:p>
          <a:p>
            <a:pPr marL="514350" indent="-514350" algn="l"/>
            <a:endParaRPr lang="en-US" altLang="zh-CN" sz="28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77242" y="218252"/>
            <a:ext cx="4608195" cy="689610"/>
          </a:xfrm>
        </p:spPr>
        <p:txBody>
          <a:bodyPr>
            <a:noAutofit/>
          </a:bodyPr>
          <a:lstStyle/>
          <a:p>
            <a:pPr algn="l"/>
            <a:r>
              <a:rPr lang="zh-CN" altLang="en-US" sz="4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作答题</a:t>
            </a:r>
            <a:endParaRPr lang="en-US" altLang="zh-CN" sz="4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07476" y="987939"/>
            <a:ext cx="838200" cy="153988"/>
            <a:chOff x="2590800" y="1979612"/>
            <a:chExt cx="838200" cy="153988"/>
          </a:xfrm>
        </p:grpSpPr>
        <p:cxnSp>
          <p:nvCxnSpPr>
            <p:cNvPr id="6" name="Straight Arrow Connector 5"/>
            <p:cNvCxnSpPr/>
            <p:nvPr/>
          </p:nvCxnSpPr>
          <p:spPr bwMode="auto">
            <a:xfrm>
              <a:off x="2590800" y="2132012"/>
              <a:ext cx="8382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sosceles Triangle 6"/>
            <p:cNvSpPr/>
            <p:nvPr/>
          </p:nvSpPr>
          <p:spPr bwMode="auto">
            <a:xfrm>
              <a:off x="2895600" y="1979612"/>
              <a:ext cx="228600" cy="1524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908825" y="895601"/>
            <a:ext cx="343453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CO</a:t>
            </a:r>
            <a:r>
              <a:rPr lang="en-US" sz="2600" baseline="-25000" dirty="0"/>
              <a:t>2</a:t>
            </a:r>
            <a:r>
              <a:rPr lang="en-US" sz="2600" dirty="0"/>
              <a:t> +  2SO</a:t>
            </a:r>
            <a:r>
              <a:rPr lang="en-US" sz="2600" baseline="-25000" dirty="0"/>
              <a:t>2</a:t>
            </a:r>
            <a:r>
              <a:rPr lang="en-US" sz="2600" dirty="0"/>
              <a:t>  + 2 H</a:t>
            </a:r>
            <a:r>
              <a:rPr lang="en-US" sz="2600" baseline="-25000" dirty="0"/>
              <a:t>2</a:t>
            </a:r>
            <a:r>
              <a:rPr lang="en-US" sz="2600" dirty="0"/>
              <a:t>O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</TotalTime>
  <Words>6226</Words>
  <Application>Microsoft Office PowerPoint</Application>
  <PresentationFormat>On-screen Show (4:3)</PresentationFormat>
  <Paragraphs>755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宋体</vt:lpstr>
      <vt:lpstr>宋体</vt:lpstr>
      <vt:lpstr>Arial</vt:lpstr>
      <vt:lpstr>Bodoni MT</vt:lpstr>
      <vt:lpstr>Calibri</vt:lpstr>
      <vt:lpstr>Calibri Light</vt:lpstr>
      <vt:lpstr>Wingdings</vt:lpstr>
      <vt:lpstr>Office 主题</vt:lpstr>
      <vt:lpstr>PowerPoint Presentation</vt:lpstr>
      <vt:lpstr>PowerPoint Presentation</vt:lpstr>
      <vt:lpstr>14.1 氧 </vt:lpstr>
      <vt:lpstr>14.1.1 氧气的性质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14.1.2 氧气的制取</vt:lpstr>
      <vt:lpstr>思考题 14a</vt:lpstr>
      <vt:lpstr>14.2 臭氧 O3</vt:lpstr>
      <vt:lpstr>14.2 臭氧 O3</vt:lpstr>
      <vt:lpstr>14.2 臭氧 O3</vt:lpstr>
      <vt:lpstr>14.2 臭氧 O3</vt:lpstr>
      <vt:lpstr>思考题14b</vt:lpstr>
      <vt:lpstr>14.3  氧化物</vt:lpstr>
      <vt:lpstr>14.3  氧化物</vt:lpstr>
      <vt:lpstr>14.3.2  过氧化物和超氧化物</vt:lpstr>
      <vt:lpstr>过氧化氢</vt:lpstr>
      <vt:lpstr>过氧化氢</vt:lpstr>
      <vt:lpstr>过氧化氢</vt:lpstr>
      <vt:lpstr>过氧化氢</vt:lpstr>
      <vt:lpstr>过氧化钠</vt:lpstr>
      <vt:lpstr>过氧化钠</vt:lpstr>
      <vt:lpstr>超氧化钾</vt:lpstr>
      <vt:lpstr>思考题14c</vt:lpstr>
      <vt:lpstr>14.4 硫 S</vt:lpstr>
      <vt:lpstr>14.4.1 硫的性质和用途</vt:lpstr>
      <vt:lpstr>PowerPoint Presentation</vt:lpstr>
      <vt:lpstr>PowerPoint Presentation</vt:lpstr>
      <vt:lpstr>PowerPoint Presentation</vt:lpstr>
      <vt:lpstr>PowerPoint Presentation</vt:lpstr>
      <vt:lpstr>14.4.2 硫单质的制取</vt:lpstr>
      <vt:lpstr>思考题14d</vt:lpstr>
      <vt:lpstr>14.5 硫化氢 H2S</vt:lpstr>
      <vt:lpstr>14.5.1 硫化氢的性质</vt:lpstr>
      <vt:lpstr>PowerPoint Presentation</vt:lpstr>
      <vt:lpstr>PowerPoint Presentation</vt:lpstr>
      <vt:lpstr>2. 可燃性</vt:lpstr>
      <vt:lpstr>PowerPoint Presentation</vt:lpstr>
      <vt:lpstr>14.5.2 硫化氢的制取</vt:lpstr>
      <vt:lpstr>14.5.3 硫化氢气体的检验</vt:lpstr>
      <vt:lpstr>思考题14e</vt:lpstr>
      <vt:lpstr>14.6 二氧化硫  SO2</vt:lpstr>
      <vt:lpstr>14.6.1 二氧化硫的性质</vt:lpstr>
      <vt:lpstr>1. 酸性</vt:lpstr>
      <vt:lpstr>2. 氧化性</vt:lpstr>
      <vt:lpstr>3. 还原性</vt:lpstr>
      <vt:lpstr>4. 漂白性</vt:lpstr>
      <vt:lpstr>补充</vt:lpstr>
      <vt:lpstr>14.6.2 酸雨的形成与防治</vt:lpstr>
      <vt:lpstr>思考题14f</vt:lpstr>
      <vt:lpstr>14.7 硫酸</vt:lpstr>
      <vt:lpstr>14.7.1 硫酸的性质和用途</vt:lpstr>
      <vt:lpstr>浓硫酸的化学性质</vt:lpstr>
      <vt:lpstr>浓硫酸的化学性质</vt:lpstr>
      <vt:lpstr>补充</vt:lpstr>
      <vt:lpstr>硫酸用途</vt:lpstr>
      <vt:lpstr>14.7.2 硫酸的工业制法—接触法</vt:lpstr>
      <vt:lpstr>PowerPoint Presentation</vt:lpstr>
      <vt:lpstr>思考题14g</vt:lpstr>
      <vt:lpstr>14.8 硫酸盐</vt:lpstr>
      <vt:lpstr>14.8.1 硫酸根的检验</vt:lpstr>
      <vt:lpstr>14.8.2 重要硫酸盐的性质与用途</vt:lpstr>
      <vt:lpstr>思考题14h</vt:lpstr>
      <vt:lpstr>选择题</vt:lpstr>
      <vt:lpstr>选择题</vt:lpstr>
      <vt:lpstr>选择题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User</cp:lastModifiedBy>
  <cp:revision>216</cp:revision>
  <dcterms:created xsi:type="dcterms:W3CDTF">2016-01-06T11:38:00Z</dcterms:created>
  <dcterms:modified xsi:type="dcterms:W3CDTF">2020-02-28T11:26:48Z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2052-10.1.0.5399</vt:lpwstr>
  </property>
</Properties>
</file>