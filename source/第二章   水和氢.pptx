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5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43640A0-F4CD-4D79-93FE-4932F4A9253D}" type="datetimeFigureOut">
              <a:rPr lang="en-US" smtClean="0"/>
              <a:pPr/>
              <a:t>11/22/2018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9B6B4878-6169-4866-93F2-EDBC0A6AF2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第二章   水和氢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4800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1.) A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2.)A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3.)A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/>
          </a:bodyPr>
          <a:lstStyle/>
          <a:p>
            <a:r>
              <a:rPr lang="en-US" sz="2600" dirty="0" smtClean="0"/>
              <a:t>4.) C I, IV</a:t>
            </a:r>
          </a:p>
          <a:p>
            <a:r>
              <a:rPr lang="en-US" sz="2600" dirty="0" smtClean="0"/>
              <a:t>I  C(s) + H</a:t>
            </a:r>
            <a:r>
              <a:rPr lang="en-US" sz="2600" baseline="-25000" dirty="0" smtClean="0"/>
              <a:t>2</a:t>
            </a:r>
            <a:r>
              <a:rPr lang="en-US" sz="2600" dirty="0" smtClean="0"/>
              <a:t>O</a:t>
            </a:r>
            <a:r>
              <a:rPr lang="en-US" sz="2600" baseline="-25000" dirty="0" smtClean="0"/>
              <a:t> </a:t>
            </a:r>
            <a:r>
              <a:rPr lang="en-US" sz="2600" dirty="0" smtClean="0"/>
              <a:t>(g) </a:t>
            </a:r>
            <a:r>
              <a:rPr lang="en-US" sz="2600" baseline="30000" dirty="0" smtClean="0"/>
              <a:t> </a:t>
            </a:r>
            <a:r>
              <a:rPr lang="zh-CN" altLang="en-US" sz="2600" baseline="30000" dirty="0" smtClean="0"/>
              <a:t>高温</a:t>
            </a:r>
            <a:r>
              <a:rPr lang="en-US" sz="2600" dirty="0" smtClean="0">
                <a:sym typeface="Wingdings" pitchFamily="2" charset="2"/>
              </a:rPr>
              <a:t>   CO (g)+ H</a:t>
            </a:r>
            <a:r>
              <a:rPr lang="en-US" sz="2600" baseline="-25000" dirty="0" smtClean="0">
                <a:sym typeface="Wingdings" pitchFamily="2" charset="2"/>
              </a:rPr>
              <a:t>2</a:t>
            </a:r>
            <a:r>
              <a:rPr lang="en-US" sz="2600" dirty="0" smtClean="0">
                <a:sym typeface="Wingdings" pitchFamily="2" charset="2"/>
              </a:rPr>
              <a:t> (g)      </a:t>
            </a:r>
          </a:p>
          <a:p>
            <a:endParaRPr lang="en-US" sz="2600" dirty="0" smtClean="0">
              <a:sym typeface="Wingdings" pitchFamily="2" charset="2"/>
            </a:endParaRPr>
          </a:p>
          <a:p>
            <a:r>
              <a:rPr lang="en-US" sz="2600" dirty="0" smtClean="0"/>
              <a:t>II  CO (g) + H</a:t>
            </a:r>
            <a:r>
              <a:rPr lang="en-US" sz="2600" baseline="-25000" dirty="0" smtClean="0"/>
              <a:t>2</a:t>
            </a:r>
            <a:r>
              <a:rPr lang="en-US" sz="2600" dirty="0" smtClean="0"/>
              <a:t>O (g)</a:t>
            </a:r>
            <a:r>
              <a:rPr lang="en-US" sz="2600" baseline="30000" dirty="0" smtClean="0"/>
              <a:t>  </a:t>
            </a:r>
            <a:r>
              <a:rPr lang="zh-CN" altLang="en-US" sz="2600" baseline="30000" dirty="0" smtClean="0"/>
              <a:t>高温、催化剂</a:t>
            </a:r>
            <a:r>
              <a:rPr lang="zh-CN" altLang="en-US" sz="2600" dirty="0" smtClean="0"/>
              <a:t>  </a:t>
            </a:r>
            <a:r>
              <a:rPr lang="en-US" altLang="zh-CN" sz="2600" dirty="0" smtClean="0"/>
              <a:t>CO</a:t>
            </a:r>
            <a:r>
              <a:rPr lang="en-US" altLang="zh-CN" sz="2600" baseline="-25000" dirty="0" smtClean="0"/>
              <a:t>2</a:t>
            </a:r>
            <a:r>
              <a:rPr lang="en-US" altLang="zh-CN" sz="2600" dirty="0" smtClean="0"/>
              <a:t> (g)+ </a:t>
            </a:r>
            <a:r>
              <a:rPr lang="en-US" sz="2600" dirty="0" smtClean="0">
                <a:sym typeface="Wingdings" pitchFamily="2" charset="2"/>
              </a:rPr>
              <a:t>H</a:t>
            </a:r>
            <a:r>
              <a:rPr lang="en-US" sz="2600" baseline="-25000" dirty="0" smtClean="0">
                <a:sym typeface="Wingdings" pitchFamily="2" charset="2"/>
              </a:rPr>
              <a:t>2</a:t>
            </a:r>
            <a:r>
              <a:rPr lang="en-US" sz="2600" dirty="0" smtClean="0">
                <a:sym typeface="Wingdings" pitchFamily="2" charset="2"/>
              </a:rPr>
              <a:t> (g)</a:t>
            </a:r>
          </a:p>
          <a:p>
            <a:endParaRPr lang="en-US" sz="2600" dirty="0" smtClean="0">
              <a:sym typeface="Wingdings" pitchFamily="2" charset="2"/>
            </a:endParaRPr>
          </a:p>
          <a:p>
            <a:r>
              <a:rPr lang="en-US" sz="2600" dirty="0" smtClean="0">
                <a:sym typeface="Wingdings" pitchFamily="2" charset="2"/>
              </a:rPr>
              <a:t>III CO</a:t>
            </a:r>
            <a:r>
              <a:rPr lang="en-US" sz="2600" baseline="-25000" dirty="0" smtClean="0">
                <a:sym typeface="Wingdings" pitchFamily="2" charset="2"/>
              </a:rPr>
              <a:t>2</a:t>
            </a:r>
            <a:r>
              <a:rPr lang="en-US" sz="2600" dirty="0" smtClean="0">
                <a:sym typeface="Wingdings" pitchFamily="2" charset="2"/>
              </a:rPr>
              <a:t> + </a:t>
            </a:r>
            <a:r>
              <a:rPr lang="en-US" sz="2600" dirty="0" smtClean="0"/>
              <a:t> H</a:t>
            </a:r>
            <a:r>
              <a:rPr lang="en-US" sz="2600" baseline="-25000" dirty="0" smtClean="0"/>
              <a:t>2</a:t>
            </a:r>
            <a:r>
              <a:rPr lang="en-US" sz="2600" dirty="0" smtClean="0"/>
              <a:t>O </a:t>
            </a:r>
            <a:r>
              <a:rPr lang="en-US" sz="2600" dirty="0" smtClean="0">
                <a:sym typeface="Wingdings" pitchFamily="2" charset="2"/>
              </a:rPr>
              <a:t> </a:t>
            </a:r>
            <a:r>
              <a:rPr lang="en-US" sz="2600" dirty="0" smtClean="0"/>
              <a:t> H</a:t>
            </a:r>
            <a:r>
              <a:rPr lang="en-US" sz="2600" baseline="-25000" dirty="0" smtClean="0"/>
              <a:t>2</a:t>
            </a:r>
            <a:r>
              <a:rPr lang="en-US" sz="2600" dirty="0" smtClean="0"/>
              <a:t>CO</a:t>
            </a:r>
            <a:r>
              <a:rPr lang="en-US" sz="2600" baseline="-25000" dirty="0" smtClean="0"/>
              <a:t>3</a:t>
            </a:r>
            <a:r>
              <a:rPr lang="en-US" sz="2600" dirty="0" smtClean="0"/>
              <a:t>  </a:t>
            </a:r>
          </a:p>
          <a:p>
            <a:endParaRPr lang="en-US" sz="2600" dirty="0" smtClean="0">
              <a:sym typeface="Wingdings" pitchFamily="2" charset="2"/>
            </a:endParaRPr>
          </a:p>
          <a:p>
            <a:r>
              <a:rPr lang="en-US" sz="2600" dirty="0" smtClean="0">
                <a:sym typeface="Wingdings" pitchFamily="2" charset="2"/>
              </a:rPr>
              <a:t>IV  CH</a:t>
            </a:r>
            <a:r>
              <a:rPr lang="en-US" sz="2600" baseline="-25000" dirty="0" smtClean="0">
                <a:sym typeface="Wingdings" pitchFamily="2" charset="2"/>
              </a:rPr>
              <a:t>4</a:t>
            </a:r>
            <a:r>
              <a:rPr lang="en-US" sz="2600" dirty="0" smtClean="0">
                <a:sym typeface="Wingdings" pitchFamily="2" charset="2"/>
              </a:rPr>
              <a:t> (g) +</a:t>
            </a:r>
            <a:r>
              <a:rPr lang="en-US" sz="2600" dirty="0" smtClean="0"/>
              <a:t> H</a:t>
            </a:r>
            <a:r>
              <a:rPr lang="en-US" sz="2600" baseline="-25000" dirty="0" smtClean="0"/>
              <a:t>2</a:t>
            </a:r>
            <a:r>
              <a:rPr lang="en-US" sz="2600" dirty="0" smtClean="0"/>
              <a:t>O(g) </a:t>
            </a:r>
            <a:r>
              <a:rPr lang="en-US" sz="2600" baseline="30000" dirty="0" smtClean="0"/>
              <a:t>  </a:t>
            </a:r>
            <a:r>
              <a:rPr lang="zh-CN" altLang="en-US" sz="2600" baseline="30000" dirty="0" smtClean="0"/>
              <a:t>高温、催化剂 </a:t>
            </a:r>
            <a:r>
              <a:rPr lang="en-US" sz="2600" dirty="0" smtClean="0">
                <a:sym typeface="Wingdings" pitchFamily="2" charset="2"/>
              </a:rPr>
              <a:t>  CO(g) +  3 H</a:t>
            </a:r>
            <a:r>
              <a:rPr lang="en-US" sz="2600" baseline="-25000" dirty="0" smtClean="0">
                <a:sym typeface="Wingdings" pitchFamily="2" charset="2"/>
              </a:rPr>
              <a:t>2</a:t>
            </a:r>
            <a:r>
              <a:rPr lang="en-US" sz="2600" dirty="0" smtClean="0">
                <a:sym typeface="Wingdings" pitchFamily="2" charset="2"/>
              </a:rPr>
              <a:t> (g)</a:t>
            </a:r>
          </a:p>
          <a:p>
            <a:endParaRPr lang="en-US" sz="2600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4343400" y="3198812"/>
            <a:ext cx="14478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495800" y="5103812"/>
            <a:ext cx="14478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810000" y="2208212"/>
            <a:ext cx="7620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/>
          </a:bodyPr>
          <a:lstStyle/>
          <a:p>
            <a:r>
              <a:rPr lang="en-US" sz="2600" dirty="0" smtClean="0"/>
              <a:t>5.) D</a:t>
            </a:r>
            <a:r>
              <a:rPr lang="en-US" altLang="zh-CN" sz="2600" dirty="0" smtClean="0"/>
              <a:t> </a:t>
            </a:r>
            <a:r>
              <a:rPr lang="zh-CN" altLang="en-US" sz="2600" dirty="0" smtClean="0"/>
              <a:t>密度最小</a:t>
            </a:r>
            <a:endParaRPr lang="en-US" sz="2600" dirty="0" smtClean="0"/>
          </a:p>
          <a:p>
            <a:r>
              <a:rPr lang="en-US" sz="2600" dirty="0" smtClean="0"/>
              <a:t>A </a:t>
            </a:r>
            <a:r>
              <a:rPr lang="zh-CN" altLang="en-US" sz="2600" dirty="0" smtClean="0"/>
              <a:t>无色、无味：氧气，氮气，一氧化碳，稀有气体</a:t>
            </a:r>
            <a:endParaRPr lang="en-US" altLang="zh-CN" sz="2600" dirty="0" smtClean="0"/>
          </a:p>
          <a:p>
            <a:endParaRPr lang="en-US" sz="2600" dirty="0" smtClean="0"/>
          </a:p>
          <a:p>
            <a:r>
              <a:rPr lang="en-US" altLang="zh-CN" sz="2600" dirty="0" smtClean="0"/>
              <a:t>B </a:t>
            </a:r>
            <a:r>
              <a:rPr lang="zh-CN" altLang="en-US" sz="2600" dirty="0" smtClean="0"/>
              <a:t>难溶于水：氧气，氮气，一氧化碳，稀有气体</a:t>
            </a:r>
            <a:endParaRPr lang="en-US" altLang="zh-CN" sz="2600" dirty="0" smtClean="0"/>
          </a:p>
          <a:p>
            <a:endParaRPr lang="en-US" sz="2600" dirty="0" smtClean="0"/>
          </a:p>
          <a:p>
            <a:r>
              <a:rPr lang="en-US" altLang="zh-CN" sz="2600" dirty="0" smtClean="0"/>
              <a:t>C </a:t>
            </a:r>
            <a:r>
              <a:rPr lang="zh-CN" altLang="en-US" sz="2600" dirty="0" smtClean="0"/>
              <a:t>可以燃烧： 一氧化碳，甲烷，乙炔，丁烷</a:t>
            </a:r>
            <a:endParaRPr lang="en-US" altLang="zh-CN" sz="2600" dirty="0" smtClean="0"/>
          </a:p>
          <a:p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00" dirty="0" smtClean="0"/>
              <a:t>6.) B </a:t>
            </a:r>
            <a:r>
              <a:rPr lang="zh-CN" altLang="en-US" sz="2600" dirty="0" smtClean="0"/>
              <a:t>水蒸气通过铜丝</a:t>
            </a:r>
            <a:endParaRPr lang="en-US" altLang="zh-CN" sz="2600" dirty="0" smtClean="0"/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altLang="zh-CN" sz="2600" dirty="0" smtClean="0"/>
              <a:t>A   </a:t>
            </a:r>
            <a:r>
              <a:rPr lang="en-US" altLang="zh-CN" sz="2600" dirty="0" smtClean="0">
                <a:latin typeface="Baskerville Old Face" pitchFamily="18" charset="0"/>
                <a:sym typeface="Wingdings" pitchFamily="2" charset="2"/>
              </a:rPr>
              <a:t>2 H</a:t>
            </a:r>
            <a:r>
              <a:rPr lang="en-US" altLang="zh-CN" sz="2600" baseline="-25000" dirty="0" smtClean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sz="2600" dirty="0" smtClean="0">
                <a:latin typeface="Baskerville Old Face" pitchFamily="18" charset="0"/>
                <a:sym typeface="Wingdings" pitchFamily="2" charset="2"/>
              </a:rPr>
              <a:t>O  </a:t>
            </a:r>
            <a:r>
              <a:rPr lang="zh-CN" altLang="en-US" sz="2600" baseline="30000" dirty="0" smtClean="0">
                <a:latin typeface="Baskerville Old Face" pitchFamily="18" charset="0"/>
                <a:sym typeface="Wingdings" pitchFamily="2" charset="2"/>
              </a:rPr>
              <a:t>电解</a:t>
            </a:r>
            <a:r>
              <a:rPr lang="en-US" altLang="zh-CN" sz="2600" dirty="0" smtClean="0">
                <a:sym typeface="Wingdings" pitchFamily="2" charset="2"/>
              </a:rPr>
              <a:t>   </a:t>
            </a:r>
            <a:r>
              <a:rPr lang="en-US" altLang="zh-CN" sz="2600" dirty="0" smtClean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zh-CN" altLang="en-US" sz="2600" dirty="0" smtClean="0"/>
              <a:t> </a:t>
            </a:r>
            <a:r>
              <a:rPr lang="en-US" altLang="zh-CN" sz="2600" dirty="0" smtClean="0"/>
              <a:t>H</a:t>
            </a:r>
            <a:r>
              <a:rPr lang="en-US" altLang="zh-CN" sz="2600" baseline="-25000" dirty="0" smtClean="0"/>
              <a:t>2</a:t>
            </a:r>
            <a:r>
              <a:rPr lang="en-US" altLang="zh-CN" sz="2600" dirty="0" smtClean="0"/>
              <a:t> + O</a:t>
            </a:r>
            <a:r>
              <a:rPr lang="en-US" altLang="zh-CN" sz="2600" baseline="-25000" dirty="0" smtClean="0"/>
              <a:t>2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altLang="zh-CN" sz="2600" dirty="0" smtClean="0"/>
          </a:p>
          <a:p>
            <a:r>
              <a:rPr lang="en-US" altLang="zh-CN" sz="2600" dirty="0" smtClean="0"/>
              <a:t>B </a:t>
            </a:r>
            <a:r>
              <a:rPr lang="zh-CN" altLang="en-US" sz="2600" dirty="0" smtClean="0"/>
              <a:t>没反应，铜不能置换出氢气</a:t>
            </a:r>
            <a:endParaRPr lang="en-US" altLang="zh-CN" sz="2600" dirty="0" smtClean="0"/>
          </a:p>
          <a:p>
            <a:endParaRPr lang="en-US" altLang="zh-CN" sz="2600" dirty="0" smtClean="0"/>
          </a:p>
          <a:p>
            <a:r>
              <a:rPr lang="en-US" altLang="zh-CN" sz="2600" dirty="0" smtClean="0"/>
              <a:t>C </a:t>
            </a:r>
            <a:r>
              <a:rPr lang="en-US" altLang="zh-CN" sz="2600" dirty="0" smtClean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 Al + </a:t>
            </a:r>
            <a:r>
              <a:rPr lang="en-US" altLang="zh-CN" sz="2600" dirty="0" smtClean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 </a:t>
            </a:r>
            <a:r>
              <a:rPr lang="en-US" altLang="zh-CN" sz="2600" dirty="0" err="1" smtClean="0">
                <a:sym typeface="Wingdings" pitchFamily="2" charset="2"/>
              </a:rPr>
              <a:t>NaOH</a:t>
            </a:r>
            <a:r>
              <a:rPr lang="en-US" altLang="zh-CN" sz="2600" dirty="0" smtClean="0">
                <a:sym typeface="Wingdings" pitchFamily="2" charset="2"/>
              </a:rPr>
              <a:t> +</a:t>
            </a:r>
            <a:r>
              <a:rPr lang="en-US" altLang="zh-CN" sz="2600" dirty="0" smtClean="0">
                <a:latin typeface="Baskerville Old Face" pitchFamily="18" charset="0"/>
                <a:sym typeface="Wingdings" pitchFamily="2" charset="2"/>
              </a:rPr>
              <a:t> 2</a:t>
            </a:r>
            <a:r>
              <a:rPr lang="en-US" altLang="zh-CN" sz="2600" dirty="0" smtClean="0">
                <a:sym typeface="Wingdings" pitchFamily="2" charset="2"/>
              </a:rPr>
              <a:t> H</a:t>
            </a:r>
            <a:r>
              <a:rPr lang="en-US" altLang="zh-CN" sz="2600" baseline="-25000" dirty="0" smtClean="0"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O </a:t>
            </a:r>
            <a:r>
              <a:rPr lang="en-US" altLang="zh-CN" sz="2600" dirty="0" smtClean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 </a:t>
            </a:r>
            <a:r>
              <a:rPr lang="en-US" sz="2600" dirty="0" smtClean="0"/>
              <a:t>NaAlO</a:t>
            </a:r>
            <a:r>
              <a:rPr lang="en-US" sz="2600" baseline="-25000" dirty="0" smtClean="0"/>
              <a:t>2</a:t>
            </a:r>
            <a:r>
              <a:rPr lang="en-US" sz="2600" dirty="0" smtClean="0"/>
              <a:t> +</a:t>
            </a:r>
            <a:r>
              <a:rPr lang="en-US" altLang="zh-CN" sz="2600" dirty="0" smtClean="0">
                <a:latin typeface="Baskerville Old Face" pitchFamily="18" charset="0"/>
                <a:sym typeface="Wingdings" pitchFamily="2" charset="2"/>
              </a:rPr>
              <a:t> 3</a:t>
            </a:r>
            <a:r>
              <a:rPr lang="en-US" sz="2600" dirty="0" smtClean="0"/>
              <a:t> H</a:t>
            </a:r>
            <a:r>
              <a:rPr lang="en-US" sz="2600" baseline="-25000" dirty="0" smtClean="0"/>
              <a:t>2</a:t>
            </a:r>
            <a:r>
              <a:rPr lang="en-US" sz="2600" dirty="0" smtClean="0"/>
              <a:t>   </a:t>
            </a:r>
          </a:p>
          <a:p>
            <a:endParaRPr lang="en-US" sz="2600" dirty="0" smtClean="0"/>
          </a:p>
          <a:p>
            <a:r>
              <a:rPr lang="en-US" altLang="zh-CN" sz="2600" dirty="0" smtClean="0"/>
              <a:t>D </a:t>
            </a:r>
            <a:r>
              <a:rPr lang="en-US" sz="2600" dirty="0" smtClean="0"/>
              <a:t>C(s) + H</a:t>
            </a:r>
            <a:r>
              <a:rPr lang="en-US" sz="2600" baseline="-25000" dirty="0" smtClean="0"/>
              <a:t>2</a:t>
            </a:r>
            <a:r>
              <a:rPr lang="en-US" sz="2600" dirty="0" smtClean="0"/>
              <a:t>O</a:t>
            </a:r>
            <a:r>
              <a:rPr lang="en-US" sz="2600" baseline="-25000" dirty="0" smtClean="0"/>
              <a:t> </a:t>
            </a:r>
            <a:r>
              <a:rPr lang="en-US" sz="2600" dirty="0" smtClean="0"/>
              <a:t>(g) </a:t>
            </a:r>
            <a:r>
              <a:rPr lang="en-US" sz="2600" baseline="30000" dirty="0" smtClean="0"/>
              <a:t> </a:t>
            </a:r>
            <a:r>
              <a:rPr lang="zh-CN" altLang="en-US" sz="2600" baseline="30000" dirty="0" smtClean="0"/>
              <a:t>高温</a:t>
            </a:r>
            <a:r>
              <a:rPr lang="en-US" sz="2600" dirty="0" smtClean="0">
                <a:sym typeface="Wingdings" pitchFamily="2" charset="2"/>
              </a:rPr>
              <a:t>   CO (g)+ H</a:t>
            </a:r>
            <a:r>
              <a:rPr lang="en-US" sz="2600" baseline="-25000" dirty="0" smtClean="0">
                <a:sym typeface="Wingdings" pitchFamily="2" charset="2"/>
              </a:rPr>
              <a:t>2</a:t>
            </a:r>
            <a:r>
              <a:rPr lang="en-US" sz="2600" dirty="0" smtClean="0">
                <a:sym typeface="Wingdings" pitchFamily="2" charset="2"/>
              </a:rPr>
              <a:t> (g) </a:t>
            </a:r>
            <a:endParaRPr lang="en-US" altLang="zh-CN" sz="2600" dirty="0" smtClean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352800" y="2208212"/>
            <a:ext cx="6858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267200" y="5103812"/>
            <a:ext cx="6858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00" dirty="0" smtClean="0"/>
              <a:t>7.) B </a:t>
            </a:r>
            <a:r>
              <a:rPr lang="zh-CN" altLang="en-US" sz="2600" dirty="0" smtClean="0"/>
              <a:t>镁</a:t>
            </a:r>
            <a:endParaRPr lang="en-US" altLang="zh-CN" sz="2600" dirty="0" smtClean="0"/>
          </a:p>
          <a:p>
            <a:r>
              <a:rPr lang="en-US" sz="2600" dirty="0" smtClean="0"/>
              <a:t>Fe + 2 </a:t>
            </a:r>
            <a:r>
              <a:rPr lang="en-US" altLang="zh-CN" sz="2600" dirty="0" err="1" smtClean="0"/>
              <a:t>HCl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ym typeface="Wingdings" pitchFamily="2" charset="2"/>
              </a:rPr>
              <a:t> FeCl</a:t>
            </a:r>
            <a:r>
              <a:rPr lang="en-US" altLang="zh-CN" sz="2600" baseline="-25000" dirty="0" smtClean="0"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 + H</a:t>
            </a:r>
            <a:r>
              <a:rPr lang="en-US" altLang="zh-CN" sz="2600" baseline="-25000" dirty="0" smtClean="0"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 </a:t>
            </a:r>
          </a:p>
          <a:p>
            <a:endParaRPr lang="en-US" altLang="zh-CN" sz="2600" dirty="0" smtClean="0">
              <a:sym typeface="Wingdings" pitchFamily="2" charset="2"/>
            </a:endParaRPr>
          </a:p>
          <a:p>
            <a:r>
              <a:rPr lang="en-US" sz="2600" dirty="0" smtClean="0"/>
              <a:t>Mg + 2 </a:t>
            </a:r>
            <a:r>
              <a:rPr lang="en-US" altLang="zh-CN" sz="2600" dirty="0" err="1" smtClean="0"/>
              <a:t>HCl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ym typeface="Wingdings" pitchFamily="2" charset="2"/>
              </a:rPr>
              <a:t> MgCl</a:t>
            </a:r>
            <a:r>
              <a:rPr lang="en-US" altLang="zh-CN" sz="2600" baseline="-25000" dirty="0" smtClean="0"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 + H</a:t>
            </a:r>
            <a:r>
              <a:rPr lang="en-US" altLang="zh-CN" sz="2600" baseline="-25000" dirty="0" smtClean="0"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 </a:t>
            </a:r>
          </a:p>
          <a:p>
            <a:endParaRPr lang="en-US" altLang="zh-CN" sz="2600" dirty="0" smtClean="0">
              <a:sym typeface="Wingdings" pitchFamily="2" charset="2"/>
            </a:endParaRPr>
          </a:p>
          <a:p>
            <a:r>
              <a:rPr lang="en-US" altLang="zh-CN" sz="2600" dirty="0" smtClean="0">
                <a:sym typeface="Wingdings" pitchFamily="2" charset="2"/>
              </a:rPr>
              <a:t>2Al  + 6 </a:t>
            </a:r>
            <a:r>
              <a:rPr lang="en-US" altLang="zh-CN" sz="2600" dirty="0" err="1" smtClean="0">
                <a:sym typeface="Wingdings" pitchFamily="2" charset="2"/>
              </a:rPr>
              <a:t>HCl</a:t>
            </a:r>
            <a:r>
              <a:rPr lang="en-US" altLang="zh-CN" sz="2600" dirty="0" smtClean="0">
                <a:sym typeface="Wingdings" pitchFamily="2" charset="2"/>
              </a:rPr>
              <a:t>  2 </a:t>
            </a:r>
            <a:r>
              <a:rPr lang="en-US" sz="2600" dirty="0" smtClean="0"/>
              <a:t>AlCl</a:t>
            </a:r>
            <a:r>
              <a:rPr lang="en-US" sz="2600" baseline="-25000" dirty="0" smtClean="0"/>
              <a:t>3</a:t>
            </a:r>
            <a:r>
              <a:rPr lang="en-US" sz="2600" dirty="0" smtClean="0"/>
              <a:t> + 3 H</a:t>
            </a:r>
            <a:r>
              <a:rPr lang="en-US" sz="2600" baseline="-25000" dirty="0" smtClean="0"/>
              <a:t>2</a:t>
            </a:r>
            <a:endParaRPr lang="en-US" sz="2600" dirty="0" smtClean="0"/>
          </a:p>
          <a:p>
            <a:endParaRPr lang="en-US" altLang="zh-CN" sz="2600" dirty="0" smtClean="0">
              <a:sym typeface="Wingdings" pitchFamily="2" charset="2"/>
            </a:endParaRPr>
          </a:p>
          <a:p>
            <a:r>
              <a:rPr lang="en-US" sz="2600" dirty="0" smtClean="0"/>
              <a:t>Zn + 2 </a:t>
            </a:r>
            <a:r>
              <a:rPr lang="en-US" altLang="zh-CN" sz="2600" dirty="0" err="1" smtClean="0"/>
              <a:t>HCl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ym typeface="Wingdings" pitchFamily="2" charset="2"/>
              </a:rPr>
              <a:t> ZnCl</a:t>
            </a:r>
            <a:r>
              <a:rPr lang="en-US" altLang="zh-CN" sz="2600" baseline="-25000" dirty="0" smtClean="0"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 + H</a:t>
            </a:r>
            <a:r>
              <a:rPr lang="en-US" altLang="zh-CN" sz="2600" baseline="-25000" dirty="0" smtClean="0">
                <a:sym typeface="Wingdings" pitchFamily="2" charset="2"/>
              </a:rPr>
              <a:t>2</a:t>
            </a:r>
            <a:r>
              <a:rPr lang="en-US" altLang="zh-CN" sz="2600" dirty="0" smtClean="0">
                <a:sym typeface="Wingdings" pitchFamily="2" charset="2"/>
              </a:rPr>
              <a:t> </a:t>
            </a:r>
          </a:p>
          <a:p>
            <a:endParaRPr lang="en-US" altLang="zh-CN" sz="2600" dirty="0" smtClean="0">
              <a:sym typeface="Wingdings" pitchFamily="2" charset="2"/>
            </a:endParaRPr>
          </a:p>
          <a:p>
            <a:endParaRPr lang="en-US" altLang="zh-CN" sz="2600" dirty="0" smtClean="0">
              <a:sym typeface="Wingdings" pitchFamily="2" charset="2"/>
            </a:endParaRPr>
          </a:p>
          <a:p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85800"/>
            <a:ext cx="7498080" cy="5638800"/>
          </a:xfrm>
        </p:spPr>
        <p:txBody>
          <a:bodyPr>
            <a:normAutofit/>
          </a:bodyPr>
          <a:lstStyle/>
          <a:p>
            <a:r>
              <a:rPr lang="en-US" sz="2600" dirty="0" smtClean="0"/>
              <a:t>8.) D III,</a:t>
            </a:r>
            <a:r>
              <a:rPr lang="en-US" altLang="zh-CN" sz="2600" dirty="0" smtClean="0"/>
              <a:t>IV</a:t>
            </a:r>
          </a:p>
          <a:p>
            <a:pPr>
              <a:buNone/>
            </a:pPr>
            <a:r>
              <a:rPr lang="en-US" altLang="zh-CN" sz="2600" dirty="0" smtClean="0"/>
              <a:t>I </a:t>
            </a:r>
            <a:r>
              <a:rPr lang="zh-CN" altLang="en-US" sz="2600" dirty="0" smtClean="0"/>
              <a:t>没反应，氢气不能还原氧化钙</a:t>
            </a:r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II </a:t>
            </a:r>
            <a:r>
              <a:rPr lang="zh-CN" altLang="en-US" sz="2600" dirty="0" smtClean="0"/>
              <a:t>没反应，氢气不能还原氧化钠</a:t>
            </a:r>
            <a:endParaRPr lang="en-US" altLang="zh-CN" sz="2600" dirty="0" smtClean="0"/>
          </a:p>
          <a:p>
            <a:endParaRPr lang="en-US" altLang="zh-CN" sz="2600" dirty="0" smtClean="0"/>
          </a:p>
          <a:p>
            <a:pPr>
              <a:buNone/>
            </a:pPr>
            <a:r>
              <a:rPr lang="en-US" altLang="zh-CN" sz="2600" dirty="0" smtClean="0"/>
              <a:t>III </a:t>
            </a: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 Fe</a:t>
            </a:r>
            <a:r>
              <a:rPr lang="en-US" sz="2600" baseline="-25000" dirty="0" smtClean="0">
                <a:latin typeface="Century Schoolbook" pitchFamily="18" charset="0"/>
                <a:sym typeface="Wingdings" pitchFamily="2" charset="2"/>
              </a:rPr>
              <a:t>3</a:t>
            </a: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O</a:t>
            </a:r>
            <a:r>
              <a:rPr lang="en-US" sz="2600" baseline="-25000" dirty="0" smtClean="0">
                <a:latin typeface="Century Schoolbook" pitchFamily="18" charset="0"/>
                <a:sym typeface="Wingdings" pitchFamily="2" charset="2"/>
              </a:rPr>
              <a:t>4</a:t>
            </a: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  +  4H</a:t>
            </a:r>
            <a:r>
              <a:rPr lang="en-US" sz="2600" baseline="-25000" dirty="0" smtClean="0">
                <a:latin typeface="Century Schoolbook" pitchFamily="18" charset="0"/>
                <a:sym typeface="Wingdings" pitchFamily="2" charset="2"/>
              </a:rPr>
              <a:t>2</a:t>
            </a: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              </a:t>
            </a:r>
            <a:r>
              <a:rPr lang="en-US" altLang="zh-CN" sz="2600" dirty="0" smtClean="0">
                <a:latin typeface="Century Schoolbook" pitchFamily="18" charset="0"/>
                <a:sym typeface="Wingdings" pitchFamily="2" charset="2"/>
              </a:rPr>
              <a:t>3</a:t>
            </a: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Fe + 4 H</a:t>
            </a:r>
            <a:r>
              <a:rPr lang="en-US" sz="2600" baseline="-25000" dirty="0" smtClean="0">
                <a:latin typeface="Century Schoolbook" pitchFamily="18" charset="0"/>
                <a:sym typeface="Wingdings" pitchFamily="2" charset="2"/>
              </a:rPr>
              <a:t>2</a:t>
            </a: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O</a:t>
            </a:r>
          </a:p>
          <a:p>
            <a:endParaRPr lang="en-US" sz="2600" dirty="0" smtClean="0">
              <a:latin typeface="Century Schoolbook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2600" dirty="0" smtClean="0">
                <a:latin typeface="Century Schoolbook" pitchFamily="18" charset="0"/>
                <a:sym typeface="Wingdings" pitchFamily="2" charset="2"/>
              </a:rPr>
              <a:t>IV </a:t>
            </a:r>
            <a:r>
              <a:rPr lang="en-US" altLang="zh-CN" sz="2600" dirty="0" err="1" smtClean="0">
                <a:latin typeface="Century Schoolbook" pitchFamily="18" charset="0"/>
                <a:sym typeface="Wingdings" pitchFamily="2" charset="2"/>
              </a:rPr>
              <a:t>CuO</a:t>
            </a:r>
            <a:r>
              <a:rPr lang="en-US" altLang="zh-CN" sz="2600" dirty="0" smtClean="0">
                <a:latin typeface="Century Schoolbook" pitchFamily="18" charset="0"/>
                <a:sym typeface="Wingdings" pitchFamily="2" charset="2"/>
              </a:rPr>
              <a:t> + H</a:t>
            </a:r>
            <a:r>
              <a:rPr lang="en-US" altLang="zh-CN" sz="2600" baseline="-25000" dirty="0" smtClean="0">
                <a:latin typeface="Century Schoolbook" pitchFamily="18" charset="0"/>
                <a:sym typeface="Wingdings" pitchFamily="2" charset="2"/>
              </a:rPr>
              <a:t>2</a:t>
            </a:r>
            <a:r>
              <a:rPr lang="en-US" altLang="zh-CN" sz="2600" dirty="0" smtClean="0">
                <a:latin typeface="Century Schoolbook" pitchFamily="18" charset="0"/>
                <a:sym typeface="Wingdings" pitchFamily="2" charset="2"/>
              </a:rPr>
              <a:t>               Cu + </a:t>
            </a: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H</a:t>
            </a:r>
            <a:r>
              <a:rPr lang="en-US" sz="2600" baseline="-25000" dirty="0" smtClean="0">
                <a:latin typeface="Century Schoolbook" pitchFamily="18" charset="0"/>
                <a:sym typeface="Wingdings" pitchFamily="2" charset="2"/>
              </a:rPr>
              <a:t>2</a:t>
            </a: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O</a:t>
            </a:r>
          </a:p>
          <a:p>
            <a:endParaRPr lang="en-US" sz="2600" dirty="0" smtClean="0">
              <a:latin typeface="Century Schoolbook" pitchFamily="18" charset="0"/>
              <a:sym typeface="Wingdings" pitchFamily="2" charset="2"/>
            </a:endParaRPr>
          </a:p>
          <a:p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9.) A</a:t>
            </a:r>
          </a:p>
          <a:p>
            <a:pPr>
              <a:buNone/>
            </a:pP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	B </a:t>
            </a:r>
            <a:r>
              <a:rPr lang="zh-CN" altLang="en-US" sz="2600" dirty="0" smtClean="0">
                <a:latin typeface="Century Schoolbook" pitchFamily="18" charset="0"/>
                <a:sym typeface="Wingdings" pitchFamily="2" charset="2"/>
              </a:rPr>
              <a:t>是指</a:t>
            </a:r>
            <a:r>
              <a:rPr lang="en-US" altLang="zh-CN" sz="2600" dirty="0" smtClean="0">
                <a:latin typeface="Century Schoolbook" pitchFamily="18" charset="0"/>
                <a:sym typeface="Wingdings" pitchFamily="2" charset="2"/>
              </a:rPr>
              <a:t>P</a:t>
            </a:r>
            <a:r>
              <a:rPr lang="zh-CN" altLang="en-US" sz="2600" dirty="0" smtClean="0">
                <a:latin typeface="Century Schoolbook" pitchFamily="18" charset="0"/>
                <a:sym typeface="Wingdings" pitchFamily="2" charset="2"/>
              </a:rPr>
              <a:t>点后直线的意义</a:t>
            </a:r>
            <a:r>
              <a:rPr lang="en-US" sz="2600" dirty="0" smtClean="0">
                <a:latin typeface="Century Schoolbook" pitchFamily="18" charset="0"/>
                <a:sym typeface="Wingdings" pitchFamily="2" charset="2"/>
              </a:rPr>
              <a:t> </a:t>
            </a:r>
          </a:p>
          <a:p>
            <a:endParaRPr lang="en-US" sz="2600" dirty="0"/>
          </a:p>
        </p:txBody>
      </p:sp>
      <p:grpSp>
        <p:nvGrpSpPr>
          <p:cNvPr id="8" name="Group 7"/>
          <p:cNvGrpSpPr/>
          <p:nvPr/>
        </p:nvGrpSpPr>
        <p:grpSpPr>
          <a:xfrm>
            <a:off x="3974592" y="2590800"/>
            <a:ext cx="838200" cy="230188"/>
            <a:chOff x="3974592" y="2590800"/>
            <a:chExt cx="838200" cy="230188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3974592" y="2819400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Isosceles Triangle 4"/>
            <p:cNvSpPr/>
            <p:nvPr/>
          </p:nvSpPr>
          <p:spPr>
            <a:xfrm>
              <a:off x="4279392" y="2590800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517392" y="3581400"/>
            <a:ext cx="838200" cy="230188"/>
            <a:chOff x="3517392" y="3581400"/>
            <a:chExt cx="838200" cy="230188"/>
          </a:xfrm>
        </p:grpSpPr>
        <p:sp>
          <p:nvSpPr>
            <p:cNvPr id="6" name="Isosceles Triangle 5"/>
            <p:cNvSpPr/>
            <p:nvPr/>
          </p:nvSpPr>
          <p:spPr>
            <a:xfrm>
              <a:off x="3822192" y="3581400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3517392" y="3810000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76488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 smtClean="0"/>
              <a:t>2.) </a:t>
            </a:r>
            <a:r>
              <a:rPr lang="zh-CN" altLang="en-US" sz="3000" dirty="0" smtClean="0"/>
              <a:t>记得注明反应条件</a:t>
            </a:r>
            <a:endParaRPr lang="en-US" altLang="zh-CN" sz="3000" dirty="0" smtClean="0"/>
          </a:p>
          <a:p>
            <a:pPr>
              <a:buNone/>
            </a:pPr>
            <a:r>
              <a:rPr lang="en-US" altLang="zh-CN" sz="3000" dirty="0" smtClean="0"/>
              <a:t>3.)</a:t>
            </a:r>
            <a:r>
              <a:rPr lang="zh-CN" altLang="en-US" sz="3000" dirty="0" smtClean="0"/>
              <a:t>记得写上石蕊液的颜色变化</a:t>
            </a:r>
            <a:endParaRPr lang="en-US" altLang="zh-CN" sz="3000" dirty="0" smtClean="0"/>
          </a:p>
          <a:p>
            <a:pPr>
              <a:buNone/>
            </a:pPr>
            <a:endParaRPr lang="en-US" sz="3000" dirty="0" smtClean="0"/>
          </a:p>
          <a:p>
            <a:pPr>
              <a:buNone/>
            </a:pPr>
            <a:r>
              <a:rPr lang="en-US" altLang="zh-CN" sz="3000" dirty="0" smtClean="0"/>
              <a:t>4.)	</a:t>
            </a:r>
            <a:r>
              <a:rPr lang="en-US" altLang="zh-CN" sz="3000" dirty="0" smtClean="0"/>
              <a:t>(1) </a:t>
            </a:r>
            <a:r>
              <a:rPr lang="zh-CN" altLang="en-US" sz="3000" dirty="0" smtClean="0"/>
              <a:t>甲：较简单；乙：便于检验产生的气体</a:t>
            </a:r>
            <a:endParaRPr lang="en-US" altLang="zh-CN" sz="3000" dirty="0" smtClean="0"/>
          </a:p>
          <a:p>
            <a:pPr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smtClean="0"/>
              <a:t>	</a:t>
            </a:r>
            <a:r>
              <a:rPr lang="en-US" altLang="zh-CN" sz="3000" dirty="0" smtClean="0"/>
              <a:t>(</a:t>
            </a:r>
            <a:r>
              <a:rPr lang="en-US" altLang="zh-CN" sz="3000" dirty="0" smtClean="0"/>
              <a:t>2)</a:t>
            </a:r>
            <a:r>
              <a:rPr lang="zh-CN" altLang="en-US" sz="3000" dirty="0" smtClean="0"/>
              <a:t>增</a:t>
            </a:r>
            <a:r>
              <a:rPr lang="zh-CN" altLang="en-US" sz="3000" dirty="0" smtClean="0"/>
              <a:t>强溶液的</a:t>
            </a:r>
            <a:r>
              <a:rPr lang="zh-CN" altLang="en-US" sz="3000" dirty="0" smtClean="0"/>
              <a:t>导电</a:t>
            </a:r>
            <a:r>
              <a:rPr lang="zh-CN" altLang="en-US" sz="3000" dirty="0" smtClean="0"/>
              <a:t>性，以加快电解水的速率</a:t>
            </a:r>
            <a:endParaRPr lang="en-US" altLang="zh-CN" sz="3000" dirty="0" smtClean="0"/>
          </a:p>
          <a:p>
            <a:pPr>
              <a:buNone/>
            </a:pPr>
            <a:r>
              <a:rPr lang="en-US" sz="3000" dirty="0" smtClean="0"/>
              <a:t>		(3)</a:t>
            </a:r>
            <a:r>
              <a:rPr lang="zh-CN" altLang="en-US" sz="3000" dirty="0" smtClean="0"/>
              <a:t>已经进行一段时间</a:t>
            </a:r>
            <a:endParaRPr lang="en-US" altLang="zh-CN" sz="3000" dirty="0" smtClean="0"/>
          </a:p>
          <a:p>
            <a:pPr>
              <a:buNone/>
            </a:pPr>
            <a:r>
              <a:rPr lang="en-US" sz="3000" dirty="0" smtClean="0"/>
              <a:t>		(4)A</a:t>
            </a:r>
            <a:r>
              <a:rPr lang="zh-CN" altLang="en-US" sz="3000" dirty="0" smtClean="0"/>
              <a:t>管：氧气；</a:t>
            </a:r>
            <a:r>
              <a:rPr lang="en-US" altLang="zh-CN" sz="3000" dirty="0" smtClean="0"/>
              <a:t>B</a:t>
            </a:r>
            <a:r>
              <a:rPr lang="zh-CN" altLang="en-US" sz="3000" dirty="0" smtClean="0"/>
              <a:t>管：氢气</a:t>
            </a:r>
            <a:endParaRPr lang="en-US" altLang="zh-CN" sz="3000" dirty="0" smtClean="0"/>
          </a:p>
          <a:p>
            <a:pPr>
              <a:buNone/>
            </a:pPr>
            <a:r>
              <a:rPr lang="en-US" sz="3000" dirty="0" smtClean="0"/>
              <a:t>		(5)</a:t>
            </a:r>
            <a:r>
              <a:rPr lang="zh-CN" altLang="en-US" sz="3000" dirty="0" smtClean="0"/>
              <a:t>燃着的木枝</a:t>
            </a: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552688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ea typeface="+mj-ea"/>
              </a:rPr>
              <a:t>5.) 	(1) 2 H</a:t>
            </a:r>
            <a:r>
              <a:rPr lang="en-US" altLang="zh-CN" baseline="-25000" dirty="0" smtClean="0">
                <a:ea typeface="+mj-ea"/>
              </a:rPr>
              <a:t>2</a:t>
            </a:r>
            <a:r>
              <a:rPr lang="en-US" altLang="zh-CN" dirty="0" smtClean="0">
                <a:ea typeface="+mj-ea"/>
              </a:rPr>
              <a:t>O  </a:t>
            </a:r>
            <a:r>
              <a:rPr lang="zh-CN" altLang="en-US" baseline="30000" dirty="0" smtClean="0">
                <a:ea typeface="+mj-ea"/>
                <a:sym typeface="Wingdings" pitchFamily="2" charset="2"/>
              </a:rPr>
              <a:t>电解</a:t>
            </a:r>
            <a:r>
              <a:rPr lang="zh-CN" altLang="en-US" dirty="0" smtClean="0">
                <a:ea typeface="+mj-ea"/>
                <a:sym typeface="Wingdings" pitchFamily="2" charset="2"/>
              </a:rPr>
              <a:t> </a:t>
            </a:r>
            <a:r>
              <a:rPr lang="en-US" altLang="zh-CN" dirty="0" smtClean="0">
                <a:ea typeface="+mj-ea"/>
                <a:sym typeface="Wingdings" pitchFamily="2" charset="2"/>
              </a:rPr>
              <a:t> 2 H</a:t>
            </a:r>
            <a:r>
              <a:rPr lang="en-US" altLang="zh-CN" baseline="-25000" dirty="0" smtClean="0">
                <a:ea typeface="+mj-ea"/>
                <a:sym typeface="Wingdings" pitchFamily="2" charset="2"/>
              </a:rPr>
              <a:t>2</a:t>
            </a:r>
            <a:r>
              <a:rPr lang="en-US" altLang="zh-CN" dirty="0" smtClean="0">
                <a:ea typeface="+mj-ea"/>
                <a:sym typeface="Wingdings" pitchFamily="2" charset="2"/>
              </a:rPr>
              <a:t>  + O</a:t>
            </a:r>
            <a:r>
              <a:rPr lang="en-US" altLang="zh-CN" baseline="-25000" dirty="0" smtClean="0">
                <a:ea typeface="+mj-ea"/>
                <a:sym typeface="Wingdings" pitchFamily="2" charset="2"/>
              </a:rPr>
              <a:t>2</a:t>
            </a:r>
            <a:r>
              <a:rPr lang="en-US" altLang="zh-CN" dirty="0" smtClean="0">
                <a:ea typeface="+mj-ea"/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ea typeface="+mj-ea"/>
                <a:sym typeface="Wingdings" pitchFamily="2" charset="2"/>
              </a:rPr>
              <a:t>		(2) H</a:t>
            </a:r>
            <a:r>
              <a:rPr lang="en-US" baseline="-25000" dirty="0" smtClean="0">
                <a:ea typeface="+mj-ea"/>
                <a:sym typeface="Wingdings" pitchFamily="2" charset="2"/>
              </a:rPr>
              <a:t>2 </a:t>
            </a:r>
            <a:r>
              <a:rPr lang="en-US" dirty="0" smtClean="0">
                <a:ea typeface="+mj-ea"/>
                <a:sym typeface="Wingdings" pitchFamily="2" charset="2"/>
              </a:rPr>
              <a:t> + Cl</a:t>
            </a:r>
            <a:r>
              <a:rPr lang="en-US" baseline="-25000" dirty="0" smtClean="0">
                <a:ea typeface="+mj-ea"/>
                <a:sym typeface="Wingdings" pitchFamily="2" charset="2"/>
              </a:rPr>
              <a:t>2</a:t>
            </a:r>
            <a:r>
              <a:rPr lang="en-US" dirty="0" smtClean="0">
                <a:ea typeface="+mj-ea"/>
                <a:sym typeface="Wingdings" pitchFamily="2" charset="2"/>
              </a:rPr>
              <a:t> </a:t>
            </a:r>
            <a:r>
              <a:rPr lang="zh-CN" altLang="en-US" baseline="30000" dirty="0" smtClean="0">
                <a:ea typeface="+mj-ea"/>
                <a:sym typeface="Wingdings" pitchFamily="2" charset="2"/>
              </a:rPr>
              <a:t>光照</a:t>
            </a:r>
            <a:r>
              <a:rPr lang="zh-CN" altLang="en-US" dirty="0" smtClean="0">
                <a:ea typeface="+mj-ea"/>
                <a:sym typeface="Wingdings" pitchFamily="2" charset="2"/>
              </a:rPr>
              <a:t> </a:t>
            </a:r>
            <a:r>
              <a:rPr lang="en-US" altLang="zh-CN" dirty="0" smtClean="0">
                <a:ea typeface="+mj-ea"/>
                <a:sym typeface="Wingdings" pitchFamily="2" charset="2"/>
              </a:rPr>
              <a:t>2 </a:t>
            </a:r>
            <a:r>
              <a:rPr lang="en-US" altLang="zh-CN" dirty="0" err="1" smtClean="0">
                <a:ea typeface="+mj-ea"/>
                <a:sym typeface="Wingdings" pitchFamily="2" charset="2"/>
              </a:rPr>
              <a:t>HCl</a:t>
            </a:r>
            <a:endParaRPr lang="en-US" altLang="zh-CN" dirty="0" smtClean="0">
              <a:ea typeface="+mj-ea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ea typeface="+mj-ea"/>
                <a:sym typeface="Wingdings" pitchFamily="2" charset="2"/>
              </a:rPr>
              <a:t>		(3) Zn + 2 </a:t>
            </a:r>
            <a:r>
              <a:rPr lang="en-US" dirty="0" err="1" smtClean="0">
                <a:ea typeface="+mj-ea"/>
                <a:sym typeface="Wingdings" pitchFamily="2" charset="2"/>
              </a:rPr>
              <a:t>HCl</a:t>
            </a:r>
            <a:r>
              <a:rPr lang="en-US" dirty="0" smtClean="0">
                <a:ea typeface="+mj-ea"/>
                <a:sym typeface="Wingdings" pitchFamily="2" charset="2"/>
              </a:rPr>
              <a:t>  ZnCl</a:t>
            </a:r>
            <a:r>
              <a:rPr lang="en-US" baseline="-25000" dirty="0" smtClean="0">
                <a:ea typeface="+mj-ea"/>
                <a:sym typeface="Wingdings" pitchFamily="2" charset="2"/>
              </a:rPr>
              <a:t>2</a:t>
            </a:r>
            <a:r>
              <a:rPr lang="en-US" dirty="0" smtClean="0">
                <a:ea typeface="+mj-ea"/>
                <a:sym typeface="Wingdings" pitchFamily="2" charset="2"/>
              </a:rPr>
              <a:t> + H</a:t>
            </a:r>
            <a:r>
              <a:rPr lang="en-US" baseline="-25000" dirty="0" smtClean="0">
                <a:ea typeface="+mj-ea"/>
                <a:sym typeface="Wingdings" pitchFamily="2" charset="2"/>
              </a:rPr>
              <a:t>2</a:t>
            </a:r>
            <a:r>
              <a:rPr lang="en-US" dirty="0" smtClean="0">
                <a:ea typeface="+mj-ea"/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ea typeface="+mj-ea"/>
                <a:sym typeface="Wingdings" pitchFamily="2" charset="2"/>
              </a:rPr>
              <a:t>		(4) 2 </a:t>
            </a:r>
            <a:r>
              <a:rPr lang="en-US" altLang="zh-CN" dirty="0" smtClean="0"/>
              <a:t>H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+ O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</a:t>
            </a:r>
            <a:r>
              <a:rPr lang="zh-CN" altLang="en-US" baseline="30000" dirty="0" smtClean="0"/>
              <a:t>点燃</a:t>
            </a:r>
            <a:r>
              <a:rPr lang="en-US" altLang="zh-CN" dirty="0" smtClean="0">
                <a:sym typeface="Wingdings" pitchFamily="2" charset="2"/>
              </a:rPr>
              <a:t> </a:t>
            </a:r>
            <a:r>
              <a:rPr lang="en-US" altLang="zh-CN" dirty="0" smtClean="0">
                <a:latin typeface="Baskerville Old Face" pitchFamily="18" charset="0"/>
                <a:sym typeface="Wingdings" pitchFamily="2" charset="2"/>
              </a:rPr>
              <a:t>2 H</a:t>
            </a:r>
            <a:r>
              <a:rPr lang="en-US" altLang="zh-CN" baseline="-25000" dirty="0" smtClean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Baskerville Old Face" pitchFamily="18" charset="0"/>
                <a:sym typeface="Wingdings" pitchFamily="2" charset="2"/>
              </a:rPr>
              <a:t>O</a:t>
            </a:r>
          </a:p>
          <a:p>
            <a:pPr>
              <a:buNone/>
            </a:pPr>
            <a:endParaRPr lang="en-US" altLang="zh-CN" dirty="0" smtClean="0">
              <a:latin typeface="Baskerville Old Face" pitchFamily="18" charset="0"/>
              <a:ea typeface="+mj-ea"/>
              <a:sym typeface="Wingdings" pitchFamily="2" charset="2"/>
            </a:endParaRPr>
          </a:p>
          <a:p>
            <a:pPr>
              <a:buNone/>
            </a:pPr>
            <a:r>
              <a:rPr lang="en-US" altLang="zh-CN" dirty="0" smtClean="0">
                <a:latin typeface="Baskerville Old Face" pitchFamily="18" charset="0"/>
                <a:ea typeface="+mj-ea"/>
                <a:sym typeface="Wingdings" pitchFamily="2" charset="2"/>
              </a:rPr>
              <a:t>6.) (5) </a:t>
            </a:r>
            <a:r>
              <a:rPr lang="zh-CN" altLang="en-US" dirty="0" smtClean="0">
                <a:latin typeface="Baskerville Old Face" pitchFamily="18" charset="0"/>
                <a:ea typeface="+mj-ea"/>
                <a:sym typeface="Wingdings" pitchFamily="2" charset="2"/>
              </a:rPr>
              <a:t>碳 </a:t>
            </a:r>
            <a:r>
              <a:rPr lang="en-US" altLang="zh-CN" dirty="0" smtClean="0">
                <a:latin typeface="Baskerville Old Face" pitchFamily="18" charset="0"/>
                <a:ea typeface="+mj-ea"/>
                <a:sym typeface="Wingdings" pitchFamily="2" charset="2"/>
              </a:rPr>
              <a:t>+ </a:t>
            </a:r>
            <a:r>
              <a:rPr lang="zh-CN" altLang="en-US" dirty="0" smtClean="0">
                <a:latin typeface="Baskerville Old Face" pitchFamily="18" charset="0"/>
                <a:ea typeface="+mj-ea"/>
                <a:sym typeface="Wingdings" pitchFamily="2" charset="2"/>
              </a:rPr>
              <a:t>氢气 </a:t>
            </a:r>
            <a:r>
              <a:rPr lang="en-US" altLang="zh-CN" dirty="0" smtClean="0">
                <a:latin typeface="Baskerville Old Face" pitchFamily="18" charset="0"/>
                <a:ea typeface="+mj-ea"/>
                <a:sym typeface="Wingdings" pitchFamily="2" charset="2"/>
              </a:rPr>
              <a:t></a:t>
            </a:r>
            <a:r>
              <a:rPr lang="zh-CN" altLang="en-US" dirty="0" smtClean="0">
                <a:latin typeface="Baskerville Old Face" pitchFamily="18" charset="0"/>
                <a:ea typeface="+mj-ea"/>
                <a:sym typeface="Wingdings" pitchFamily="2" charset="2"/>
              </a:rPr>
              <a:t>烃</a:t>
            </a:r>
            <a:endParaRPr lang="en-US" altLang="zh-CN" dirty="0" smtClean="0">
              <a:latin typeface="Baskerville Old Face" pitchFamily="18" charset="0"/>
              <a:ea typeface="+mj-ea"/>
              <a:sym typeface="Wingdings" pitchFamily="2" charset="2"/>
            </a:endParaRPr>
          </a:p>
          <a:p>
            <a:pPr>
              <a:buNone/>
            </a:pPr>
            <a:endParaRPr lang="en-US" altLang="zh-CN" dirty="0" smtClean="0">
              <a:latin typeface="Baskerville Old Face" pitchFamily="18" charset="0"/>
              <a:ea typeface="+mj-ea"/>
              <a:sym typeface="Wingdings" pitchFamily="2" charset="2"/>
            </a:endParaRPr>
          </a:p>
          <a:p>
            <a:pPr>
              <a:buNone/>
            </a:pPr>
            <a:r>
              <a:rPr lang="zh-CN" altLang="en-US" dirty="0" smtClean="0">
                <a:latin typeface="Baskerville Old Face" pitchFamily="18" charset="0"/>
                <a:ea typeface="+mj-ea"/>
                <a:sym typeface="Wingdings" pitchFamily="2" charset="2"/>
              </a:rPr>
              <a:t>烃：碳氢化合物，只由碳和氢两种元素组成。</a:t>
            </a:r>
            <a:r>
              <a:rPr lang="zh-CN" altLang="en-US" dirty="0" smtClean="0">
                <a:ea typeface="+mj-ea"/>
                <a:sym typeface="Wingdings" pitchFamily="2" charset="2"/>
              </a:rPr>
              <a:t>可分为烷烃、炔烃、烯烃、芳香烃等。</a:t>
            </a:r>
            <a:endParaRPr lang="en-US" altLang="zh-CN" dirty="0" smtClean="0">
              <a:latin typeface="Baskerville Old Face" pitchFamily="18" charset="0"/>
              <a:ea typeface="+mj-ea"/>
              <a:sym typeface="Wingdings" pitchFamily="2" charset="2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276600" y="990600"/>
            <a:ext cx="6858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505200" y="1524000"/>
            <a:ext cx="6858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657600" y="2665412"/>
            <a:ext cx="6858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8458200" cy="56388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sz="3000" dirty="0" smtClean="0">
                <a:latin typeface="Arial" pitchFamily="34" charset="0"/>
                <a:ea typeface="+mj-ea"/>
                <a:cs typeface="Arial" pitchFamily="34" charset="0"/>
              </a:rPr>
              <a:t>7.) 	(1) 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</a:rPr>
              <a:t>用排水集气法收集</a:t>
            </a:r>
            <a:endParaRPr lang="en-US" altLang="zh-CN" sz="3000" dirty="0" smtClean="0">
              <a:latin typeface="Arial" pitchFamily="34" charset="0"/>
              <a:ea typeface="+mj-ea"/>
              <a:cs typeface="Arial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		(2) 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用于填充飞艇和载人气球</a:t>
            </a:r>
            <a:endParaRPr lang="en-US" altLang="zh-CN" sz="3000" dirty="0" smtClean="0">
              <a:latin typeface="Arial" pitchFamily="34" charset="0"/>
              <a:ea typeface="+mj-ea"/>
              <a:cs typeface="Arial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		(3) 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制备金属</a:t>
            </a:r>
            <a:endParaRPr lang="en-US" sz="3000" dirty="0" smtClean="0">
              <a:latin typeface="Arial" pitchFamily="34" charset="0"/>
              <a:ea typeface="+mj-ea"/>
              <a:cs typeface="Arial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		(4) 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氢能</a:t>
            </a:r>
            <a:endParaRPr lang="en-US" altLang="zh-CN" sz="3000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>
              <a:buNone/>
            </a:pPr>
            <a:endParaRPr lang="en-US" altLang="zh-CN" sz="3000" dirty="0" smtClean="0">
              <a:latin typeface="Arial" pitchFamily="34" charset="0"/>
              <a:ea typeface="+mj-ea"/>
              <a:cs typeface="Arial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8.) </a:t>
            </a:r>
            <a:r>
              <a:rPr lang="en-US" altLang="zh-CN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(</a:t>
            </a:r>
            <a:r>
              <a:rPr lang="en-US" altLang="zh-CN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1) 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纯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水导电能力极弱，故电解速率较慢。加入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稀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硫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酸（或</a:t>
            </a:r>
            <a:r>
              <a:rPr lang="en-US" altLang="zh-CN" sz="3000" dirty="0" err="1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NaOH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）可增强溶液的导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电</a:t>
            </a:r>
            <a:r>
              <a:rPr lang="zh-CN" alt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性，加快反应速率。</a:t>
            </a:r>
            <a:endParaRPr lang="en-US" altLang="zh-CN" sz="3000" dirty="0" smtClean="0">
              <a:latin typeface="Arial" pitchFamily="34" charset="0"/>
              <a:ea typeface="+mj-ea"/>
              <a:cs typeface="Arial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3000" dirty="0" smtClean="0">
                <a:latin typeface="Arial" pitchFamily="34" charset="0"/>
                <a:ea typeface="+mj-ea"/>
                <a:cs typeface="Arial" pitchFamily="34" charset="0"/>
                <a:sym typeface="Wingdings" pitchFamily="2" charset="2"/>
              </a:rPr>
              <a:t>	</a:t>
            </a:r>
            <a:r>
              <a:rPr 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(</a:t>
            </a:r>
            <a:r>
              <a:rPr 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2) </a:t>
            </a:r>
            <a:r>
              <a:rPr lang="zh-CN" alt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刚收集的氢气混有空</a:t>
            </a:r>
            <a:r>
              <a:rPr lang="zh-CN" alt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气</a:t>
            </a:r>
            <a:endParaRPr lang="en-US" altLang="zh-CN" sz="3000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</a:t>
            </a:r>
            <a:r>
              <a:rPr 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(3) </a:t>
            </a:r>
            <a:r>
              <a:rPr lang="zh-CN" alt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空气进入试管将刚被还原出来的灼热铜氧化为黑色的</a:t>
            </a:r>
            <a:r>
              <a:rPr lang="en-US" altLang="zh-CN" sz="3000" dirty="0" err="1" smtClean="0">
                <a:latin typeface="Arial" pitchFamily="34" charset="0"/>
                <a:cs typeface="Arial" pitchFamily="34" charset="0"/>
                <a:sym typeface="Wingdings" pitchFamily="2" charset="2"/>
              </a:rPr>
              <a:t>CuO</a:t>
            </a:r>
            <a:endParaRPr lang="en-US" sz="3000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</a:t>
            </a:r>
            <a:r>
              <a:rPr 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(</a:t>
            </a:r>
            <a:r>
              <a:rPr 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4) </a:t>
            </a:r>
            <a:r>
              <a:rPr lang="zh-CN" alt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氢</a:t>
            </a:r>
            <a:r>
              <a:rPr lang="zh-CN" altLang="en-US" sz="3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气不纯混有较多空气；气泡体积不够大；肥皂泡含水量太大</a:t>
            </a:r>
            <a:endParaRPr lang="en-US" altLang="zh-CN" sz="3000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>
              <a:buNone/>
            </a:pPr>
            <a:endParaRPr lang="en-US" altLang="zh-CN" sz="3000" dirty="0" smtClean="0">
              <a:latin typeface="Arial" pitchFamily="34" charset="0"/>
              <a:ea typeface="+mj-ea"/>
              <a:cs typeface="Arial" pitchFamily="34" charset="0"/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 smtClean="0"/>
              <a:t>10. </a:t>
            </a:r>
            <a:r>
              <a:rPr lang="zh-CN" altLang="en-US" sz="3000" dirty="0" smtClean="0"/>
              <a:t>设计如下图。挤压塑料瓶，让水浸没装有</a:t>
            </a:r>
            <a:r>
              <a:rPr lang="en-US" altLang="zh-CN" sz="3000" dirty="0" smtClean="0"/>
              <a:t>CaH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的塑料袋，即可产生氢气。</a:t>
            </a:r>
            <a:endParaRPr lang="en-US" sz="3000" dirty="0"/>
          </a:p>
        </p:txBody>
      </p:sp>
      <p:pic>
        <p:nvPicPr>
          <p:cNvPr id="4" name="Picture 3" descr="IMG_20181122_150704.jpg"/>
          <p:cNvPicPr>
            <a:picLocks noChangeAspect="1"/>
          </p:cNvPicPr>
          <p:nvPr/>
        </p:nvPicPr>
        <p:blipFill>
          <a:blip r:embed="rId2" cstate="print"/>
          <a:srcRect l="24815" t="48889" r="8519" b="18889"/>
          <a:stretch>
            <a:fillRect/>
          </a:stretch>
        </p:blipFill>
        <p:spPr>
          <a:xfrm>
            <a:off x="2448910" y="2819400"/>
            <a:ext cx="4256690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359</TotalTime>
  <Words>382</Words>
  <Application>Microsoft Office PowerPoint</Application>
  <PresentationFormat>On-screen Show (4:3)</PresentationFormat>
  <Paragraphs>73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Solstice</vt:lpstr>
      <vt:lpstr>第二章   水和氢</vt:lpstr>
      <vt:lpstr>选择题</vt:lpstr>
      <vt:lpstr>Slide 3</vt:lpstr>
      <vt:lpstr>Slide 4</vt:lpstr>
      <vt:lpstr>Slide 5</vt:lpstr>
      <vt:lpstr>Slide 6</vt:lpstr>
      <vt:lpstr>Slide 7</vt:lpstr>
      <vt:lpstr>作答题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 水和氢</dc:title>
  <dc:creator>user</dc:creator>
  <cp:lastModifiedBy>user</cp:lastModifiedBy>
  <cp:revision>30</cp:revision>
  <dcterms:created xsi:type="dcterms:W3CDTF">2016-01-15T08:32:24Z</dcterms:created>
  <dcterms:modified xsi:type="dcterms:W3CDTF">2018-11-22T07:11:41Z</dcterms:modified>
</cp:coreProperties>
</file>