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8" r:id="rId2"/>
    <p:sldId id="259" r:id="rId3"/>
    <p:sldId id="260" r:id="rId4"/>
    <p:sldId id="268" r:id="rId5"/>
    <p:sldId id="269" r:id="rId6"/>
    <p:sldId id="261" r:id="rId7"/>
    <p:sldId id="262" r:id="rId8"/>
    <p:sldId id="270" r:id="rId9"/>
    <p:sldId id="271" r:id="rId10"/>
    <p:sldId id="263" r:id="rId11"/>
    <p:sldId id="265" r:id="rId12"/>
    <p:sldId id="264" r:id="rId13"/>
    <p:sldId id="266" r:id="rId14"/>
    <p:sldId id="274" r:id="rId15"/>
    <p:sldId id="275" r:id="rId16"/>
    <p:sldId id="272" r:id="rId17"/>
    <p:sldId id="273" r:id="rId18"/>
    <p:sldId id="277" r:id="rId19"/>
    <p:sldId id="267" r:id="rId20"/>
    <p:sldId id="276" r:id="rId21"/>
    <p:sldId id="278" r:id="rId22"/>
    <p:sldId id="27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96" autoAdjust="0"/>
    <p:restoredTop sz="94660"/>
  </p:normalViewPr>
  <p:slideViewPr>
    <p:cSldViewPr>
      <p:cViewPr varScale="1">
        <p:scale>
          <a:sx n="68" d="100"/>
          <a:sy n="68" d="100"/>
        </p:scale>
        <p:origin x="132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6D6688-5DD1-44BC-B31A-EC1609157C8F}"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D6688-5DD1-44BC-B31A-EC1609157C8F}"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6D6688-5DD1-44BC-B31A-EC1609157C8F}" type="datetimeFigureOut">
              <a:rPr lang="en-US" smtClean="0"/>
              <a:pPr/>
              <a:t>3/9/2020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6D6688-5DD1-44BC-B31A-EC1609157C8F}" type="datetimeFigureOut">
              <a:rPr lang="en-US" smtClean="0"/>
              <a:pPr/>
              <a:t>3/9/2020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6D6688-5DD1-44BC-B31A-EC1609157C8F}" type="datetimeFigureOut">
              <a:rPr lang="en-US" smtClean="0"/>
              <a:pPr/>
              <a:t>3/9/2020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D6688-5DD1-44BC-B31A-EC1609157C8F}" type="datetimeFigureOut">
              <a:rPr lang="en-US" smtClean="0"/>
              <a:pPr/>
              <a:t>3/9/2020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3/9/2020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D6688-5DD1-44BC-B31A-EC1609157C8F}" type="datetimeFigureOut">
              <a:rPr lang="en-US" smtClean="0"/>
              <a:pPr/>
              <a:t>3/9/2020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6D6688-5DD1-44BC-B31A-EC1609157C8F}" type="datetimeFigureOut">
              <a:rPr lang="en-US" smtClean="0"/>
              <a:pPr/>
              <a:t>3/9/2020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4260CB-55F0-4242-8A56-5BB902E408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6D6688-5DD1-44BC-B31A-EC1609157C8F}" type="datetimeFigureOut">
              <a:rPr lang="en-US" smtClean="0"/>
              <a:pPr/>
              <a:t>3/9/2020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260CB-55F0-4242-8A56-5BB902E408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9144000" cy="6858000"/>
          </a:xfrm>
        </p:spPr>
        <p:txBody>
          <a:bodyPr>
            <a:noAutofit/>
          </a:bodyPr>
          <a:lstStyle/>
          <a:p>
            <a:r>
              <a:rPr lang="zh-CN" alt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第</a:t>
            </a:r>
            <a:r>
              <a:rPr lang="en-US" altLang="zh-CN"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26</a:t>
            </a:r>
            <a:r>
              <a:rPr lang="zh-CN" alt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章 </a:t>
            </a:r>
            <a:br>
              <a:rPr lang="en-US" altLang="zh-CN"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br>
            <a:r>
              <a:rPr lang="zh-CN" alt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t>有机化学</a:t>
            </a:r>
            <a:br>
              <a:rPr lang="en-US" altLang="zh-CN"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ea"/>
              </a:rPr>
            </a:br>
            <a:endParaRPr lang="en-US" sz="88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400143892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26.1</a:t>
            </a:r>
            <a:r>
              <a:rPr lang="zh-CN" altLang="en-US" sz="4800" b="1" dirty="0">
                <a:latin typeface="+mn-ea"/>
              </a:rPr>
              <a:t> 有机化合物</a:t>
            </a:r>
            <a:endParaRPr lang="en-US" sz="4800" b="1" dirty="0"/>
          </a:p>
        </p:txBody>
      </p:sp>
      <p:sp>
        <p:nvSpPr>
          <p:cNvPr id="3" name="Content Placeholder 2"/>
          <p:cNvSpPr>
            <a:spLocks noGrp="1"/>
          </p:cNvSpPr>
          <p:nvPr>
            <p:ph idx="1"/>
          </p:nvPr>
        </p:nvSpPr>
        <p:spPr>
          <a:xfrm>
            <a:off x="304800" y="990600"/>
            <a:ext cx="8686800" cy="5867400"/>
          </a:xfrm>
        </p:spPr>
        <p:txBody>
          <a:bodyPr>
            <a:noAutofit/>
          </a:bodyPr>
          <a:lstStyle/>
          <a:p>
            <a:pPr>
              <a:lnSpc>
                <a:spcPct val="150000"/>
              </a:lnSpc>
              <a:buFont typeface="Wingdings" pitchFamily="2" charset="2"/>
              <a:buChar char="Ø"/>
            </a:pPr>
            <a:r>
              <a:rPr lang="zh-CN" altLang="en-US" sz="2800" dirty="0"/>
              <a:t>有机化学：研究有机化合物的化学</a:t>
            </a:r>
            <a:endParaRPr lang="en-US" altLang="zh-CN" sz="2800" dirty="0"/>
          </a:p>
          <a:p>
            <a:pPr>
              <a:lnSpc>
                <a:spcPct val="150000"/>
              </a:lnSpc>
              <a:buFont typeface="Wingdings" pitchFamily="2" charset="2"/>
              <a:buChar char="Ø"/>
            </a:pPr>
            <a:r>
              <a:rPr lang="zh-CN" altLang="en-US" sz="2800" dirty="0"/>
              <a:t>有机：有生命的机体</a:t>
            </a:r>
            <a:endParaRPr lang="en-US" altLang="zh-CN" sz="2800" dirty="0"/>
          </a:p>
          <a:p>
            <a:pPr>
              <a:lnSpc>
                <a:spcPct val="150000"/>
              </a:lnSpc>
              <a:buFont typeface="Wingdings" pitchFamily="2" charset="2"/>
              <a:buChar char="Ø"/>
            </a:pPr>
            <a:r>
              <a:rPr lang="en-US" altLang="zh-CN" sz="2800" dirty="0"/>
              <a:t>1828</a:t>
            </a:r>
            <a:r>
              <a:rPr lang="zh-CN" altLang="en-US" sz="2800" dirty="0"/>
              <a:t>年，维勒从加热氰酸铵</a:t>
            </a:r>
            <a:r>
              <a:rPr lang="en-US" altLang="zh-CN" sz="2800" dirty="0"/>
              <a:t>(</a:t>
            </a:r>
            <a:r>
              <a:rPr lang="zh-CN" altLang="en-US" sz="2800" dirty="0"/>
              <a:t>无机物</a:t>
            </a:r>
            <a:r>
              <a:rPr lang="en-US" altLang="zh-CN" sz="2800" dirty="0"/>
              <a:t>)</a:t>
            </a:r>
            <a:r>
              <a:rPr lang="zh-CN" altLang="en-US" sz="2800" dirty="0"/>
              <a:t>得到尿素</a:t>
            </a:r>
            <a:r>
              <a:rPr lang="en-US" altLang="zh-CN" sz="2800" dirty="0"/>
              <a:t>(</a:t>
            </a:r>
            <a:r>
              <a:rPr lang="zh-CN" altLang="en-US" sz="2800" dirty="0"/>
              <a:t>有机物</a:t>
            </a:r>
            <a:r>
              <a:rPr lang="en-US" altLang="zh-CN" sz="2800" dirty="0"/>
              <a:t>)</a:t>
            </a:r>
            <a:r>
              <a:rPr lang="zh-CN" altLang="en-US" sz="2800" dirty="0"/>
              <a:t>，打破了有机物必须来自有机体的观念。</a:t>
            </a:r>
            <a:endParaRPr lang="en-US" altLang="zh-CN" sz="2400" dirty="0"/>
          </a:p>
          <a:p>
            <a:pPr>
              <a:lnSpc>
                <a:spcPct val="150000"/>
              </a:lnSpc>
              <a:buFont typeface="Wingdings" pitchFamily="2" charset="2"/>
              <a:buChar char="Ø"/>
            </a:pPr>
            <a:r>
              <a:rPr lang="zh-CN" altLang="en-US" sz="2800" dirty="0"/>
              <a:t>天然物化学：研究从生命体系得到的化合物的化学。</a:t>
            </a:r>
            <a:endParaRPr lang="en-US" altLang="zh-CN" sz="2800" dirty="0"/>
          </a:p>
          <a:p>
            <a:pPr>
              <a:spcBef>
                <a:spcPts val="1200"/>
              </a:spcBef>
              <a:buFont typeface="Wingdings" pitchFamily="2" charset="2"/>
              <a:buChar char="Ø"/>
            </a:pPr>
            <a:r>
              <a:rPr lang="zh-CN" altLang="en-US" sz="2800" dirty="0"/>
              <a:t>何谓有机蔬菜、有机食物、有机肥料？</a:t>
            </a:r>
            <a:endParaRPr lang="en-US" altLang="zh-CN" sz="2800" dirty="0"/>
          </a:p>
          <a:p>
            <a:pPr>
              <a:buFont typeface="Wingdings" pitchFamily="2" charset="2"/>
              <a:buChar char="Ø"/>
            </a:pPr>
            <a:r>
              <a:rPr lang="en-US" altLang="zh-CN" sz="2800" dirty="0"/>
              <a:t>	</a:t>
            </a:r>
            <a:r>
              <a:rPr lang="zh-CN" altLang="en-US" sz="2800" dirty="0"/>
              <a:t>答：是指没经过人工合成而得到的。</a:t>
            </a:r>
            <a:br>
              <a:rPr lang="en-US" altLang="zh-CN" sz="2800" dirty="0"/>
            </a:br>
            <a:endParaRPr lang="en-US" altLang="zh-CN" sz="28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26.1</a:t>
            </a:r>
            <a:r>
              <a:rPr lang="zh-CN" altLang="en-US" sz="4800" b="1" dirty="0">
                <a:latin typeface="+mn-ea"/>
              </a:rPr>
              <a:t> 有机化合物</a:t>
            </a:r>
            <a:endParaRPr lang="en-US" sz="4800" b="1" dirty="0"/>
          </a:p>
        </p:txBody>
      </p:sp>
      <p:sp>
        <p:nvSpPr>
          <p:cNvPr id="3" name="Content Placeholder 2"/>
          <p:cNvSpPr>
            <a:spLocks noGrp="1"/>
          </p:cNvSpPr>
          <p:nvPr>
            <p:ph idx="1"/>
          </p:nvPr>
        </p:nvSpPr>
        <p:spPr>
          <a:xfrm>
            <a:off x="304800" y="990600"/>
            <a:ext cx="8839200" cy="5867400"/>
          </a:xfrm>
        </p:spPr>
        <p:txBody>
          <a:bodyPr>
            <a:noAutofit/>
          </a:bodyPr>
          <a:lstStyle/>
          <a:p>
            <a:pPr>
              <a:buFont typeface="Wingdings" pitchFamily="2" charset="2"/>
              <a:buChar char="Ø"/>
            </a:pPr>
            <a:r>
              <a:rPr lang="zh-CN" altLang="en-US" sz="3000" dirty="0"/>
              <a:t>有机化合物一定含有碳元素。</a:t>
            </a:r>
            <a:endParaRPr lang="en-US" altLang="zh-CN" sz="3000" dirty="0"/>
          </a:p>
          <a:p>
            <a:pPr>
              <a:buFont typeface="Wingdings" pitchFamily="2" charset="2"/>
              <a:buChar char="Ø"/>
            </a:pPr>
            <a:r>
              <a:rPr lang="zh-CN" altLang="en-US" sz="3000" dirty="0"/>
              <a:t>有机物：碳氢化合物（烃）及其衍生物</a:t>
            </a:r>
            <a:endParaRPr lang="en-US" altLang="zh-CN" sz="3000" dirty="0"/>
          </a:p>
          <a:p>
            <a:pPr>
              <a:buFont typeface="Wingdings" pitchFamily="2" charset="2"/>
              <a:buChar char="Ø"/>
            </a:pPr>
            <a:r>
              <a:rPr lang="zh-CN" altLang="en-US" sz="3000" dirty="0"/>
              <a:t>烃的衍生物：烃分子中的氢原子被其他原子或者原子团所取代而生成的一系列化合物。</a:t>
            </a:r>
            <a:endParaRPr lang="en-US" altLang="zh-CN" sz="3000" dirty="0"/>
          </a:p>
          <a:p>
            <a:pPr lvl="1">
              <a:buFont typeface="Wingdings" pitchFamily="2" charset="2"/>
              <a:buChar char="Ø"/>
            </a:pPr>
            <a:r>
              <a:rPr lang="en-US" altLang="zh-CN" sz="2600" dirty="0"/>
              <a:t>CH</a:t>
            </a:r>
            <a:r>
              <a:rPr lang="en-US" altLang="zh-CN" sz="2600" baseline="-25000" dirty="0"/>
              <a:t>3</a:t>
            </a:r>
            <a:r>
              <a:rPr lang="en-US" altLang="zh-CN" sz="2600" dirty="0"/>
              <a:t>Cl </a:t>
            </a:r>
            <a:r>
              <a:rPr lang="zh-CN" altLang="en-US" sz="2600" dirty="0"/>
              <a:t>为</a:t>
            </a:r>
            <a:r>
              <a:rPr lang="en-US" altLang="zh-CN" sz="2600" dirty="0"/>
              <a:t>CH</a:t>
            </a:r>
            <a:r>
              <a:rPr lang="en-US" altLang="zh-CN" sz="2600" baseline="-25000" dirty="0"/>
              <a:t>4</a:t>
            </a:r>
            <a:r>
              <a:rPr lang="en-US" altLang="zh-CN" sz="2600" dirty="0"/>
              <a:t> </a:t>
            </a:r>
            <a:r>
              <a:rPr lang="zh-CN" altLang="en-US" sz="2600" dirty="0"/>
              <a:t>的衍生物</a:t>
            </a:r>
            <a:endParaRPr lang="en-US" altLang="zh-CN" sz="2600" dirty="0"/>
          </a:p>
          <a:p>
            <a:pPr lvl="1">
              <a:buFont typeface="Wingdings" pitchFamily="2" charset="2"/>
              <a:buChar char="Ø"/>
            </a:pPr>
            <a:r>
              <a:rPr lang="en-US" altLang="zh-CN" sz="2600" dirty="0"/>
              <a:t>CH</a:t>
            </a:r>
            <a:r>
              <a:rPr lang="en-US" altLang="zh-CN" sz="2600" baseline="-25000" dirty="0"/>
              <a:t>3</a:t>
            </a:r>
            <a:r>
              <a:rPr lang="en-US" altLang="zh-CN" sz="2600" dirty="0"/>
              <a:t>CH</a:t>
            </a:r>
            <a:r>
              <a:rPr lang="en-US" altLang="zh-CN" sz="2600" baseline="-25000" dirty="0"/>
              <a:t>2</a:t>
            </a:r>
            <a:r>
              <a:rPr lang="en-US" altLang="zh-CN" sz="2600" dirty="0"/>
              <a:t>OH </a:t>
            </a:r>
            <a:r>
              <a:rPr lang="zh-CN" altLang="en-US" sz="2600" dirty="0"/>
              <a:t>为</a:t>
            </a:r>
            <a:r>
              <a:rPr lang="en-US" altLang="zh-CN" sz="2600" dirty="0"/>
              <a:t>CH</a:t>
            </a:r>
            <a:r>
              <a:rPr lang="en-US" altLang="zh-CN" sz="2600" baseline="-25000" dirty="0"/>
              <a:t>3</a:t>
            </a:r>
            <a:r>
              <a:rPr lang="en-US" altLang="zh-CN" sz="2600" dirty="0"/>
              <a:t>CH</a:t>
            </a:r>
            <a:r>
              <a:rPr lang="en-US" altLang="zh-CN" sz="2600" baseline="-25000" dirty="0"/>
              <a:t>3</a:t>
            </a:r>
            <a:r>
              <a:rPr lang="en-US" altLang="zh-CN" sz="2600" dirty="0"/>
              <a:t> </a:t>
            </a:r>
            <a:r>
              <a:rPr lang="zh-CN" altLang="en-US" sz="2600" dirty="0"/>
              <a:t>的衍生物</a:t>
            </a:r>
            <a:endParaRPr lang="en-US" altLang="zh-CN" sz="2600" dirty="0"/>
          </a:p>
          <a:p>
            <a:pPr>
              <a:buFont typeface="Wingdings" pitchFamily="2" charset="2"/>
              <a:buChar char="Ø"/>
            </a:pPr>
            <a:r>
              <a:rPr lang="zh-CN" altLang="en-US" sz="3000" dirty="0"/>
              <a:t>含碳无机物：</a:t>
            </a:r>
            <a:endParaRPr lang="en-US" altLang="zh-CN" sz="3000" dirty="0"/>
          </a:p>
          <a:p>
            <a:pPr>
              <a:buNone/>
            </a:pPr>
            <a:r>
              <a:rPr lang="en-US" altLang="zh-CN" sz="3000" dirty="0"/>
              <a:t>	CO</a:t>
            </a:r>
            <a:r>
              <a:rPr lang="zh-CN" altLang="en-US" sz="3000" dirty="0"/>
              <a:t>，</a:t>
            </a:r>
            <a:r>
              <a:rPr lang="en-US" altLang="zh-CN" sz="3000" dirty="0"/>
              <a:t>CO</a:t>
            </a:r>
            <a:r>
              <a:rPr lang="en-US" altLang="zh-CN" sz="3000" baseline="-25000" dirty="0"/>
              <a:t>2</a:t>
            </a:r>
            <a:r>
              <a:rPr lang="zh-CN" altLang="en-US" sz="3000" baseline="-25000" dirty="0"/>
              <a:t> </a:t>
            </a:r>
            <a:r>
              <a:rPr lang="zh-CN" altLang="en-US" sz="3000" dirty="0"/>
              <a:t>，</a:t>
            </a:r>
            <a:r>
              <a:rPr lang="en-US" altLang="zh-CN" sz="3000" dirty="0"/>
              <a:t>CO</a:t>
            </a:r>
            <a:r>
              <a:rPr lang="en-US" altLang="zh-CN" sz="3000" baseline="-25000" dirty="0"/>
              <a:t>3</a:t>
            </a:r>
            <a:r>
              <a:rPr lang="en-US" altLang="zh-CN" sz="3000" baseline="30000" dirty="0"/>
              <a:t>2-</a:t>
            </a:r>
            <a:r>
              <a:rPr lang="en-US" altLang="zh-CN" sz="3000" dirty="0"/>
              <a:t> </a:t>
            </a:r>
            <a:r>
              <a:rPr lang="zh-CN" altLang="en-US" sz="3000" dirty="0"/>
              <a:t>、</a:t>
            </a:r>
            <a:r>
              <a:rPr lang="en-US" altLang="zh-CN" sz="3000" dirty="0"/>
              <a:t>HCO</a:t>
            </a:r>
            <a:r>
              <a:rPr lang="en-US" altLang="zh-CN" sz="3000" baseline="-25000" dirty="0"/>
              <a:t>3</a:t>
            </a:r>
            <a:r>
              <a:rPr lang="en-US" altLang="zh-CN" sz="3000" baseline="30000" dirty="0"/>
              <a:t>-</a:t>
            </a:r>
            <a:r>
              <a:rPr lang="zh-CN" altLang="en-US" sz="3000" dirty="0"/>
              <a:t>、金属</a:t>
            </a:r>
            <a:r>
              <a:rPr lang="zh-CN" altLang="en-US" sz="3000" b="1" dirty="0">
                <a:solidFill>
                  <a:srgbClr val="7030A0"/>
                </a:solidFill>
                <a:effectLst>
                  <a:outerShdw blurRad="38100" dist="38100" dir="2700000" algn="tl">
                    <a:srgbClr val="000000">
                      <a:alpha val="43137"/>
                    </a:srgbClr>
                  </a:outerShdw>
                </a:effectLst>
              </a:rPr>
              <a:t>氰</a:t>
            </a:r>
            <a:r>
              <a:rPr lang="zh-CN" altLang="en-US" sz="3000" dirty="0"/>
              <a:t>化物</a:t>
            </a:r>
            <a:endParaRPr lang="en-US" altLang="zh-CN" sz="3000" dirty="0"/>
          </a:p>
          <a:p>
            <a:pPr lvl="1">
              <a:buFont typeface="Wingdings" pitchFamily="2" charset="2"/>
              <a:buChar char="Ø"/>
            </a:pPr>
            <a:r>
              <a:rPr lang="zh-CN" altLang="en-US" sz="3000" dirty="0"/>
              <a:t>氰化物：带有氰离子</a:t>
            </a:r>
            <a:r>
              <a:rPr lang="en-US" altLang="zh-CN" sz="3000" dirty="0"/>
              <a:t>(CN</a:t>
            </a:r>
            <a:r>
              <a:rPr lang="zh-CN" altLang="en-US" sz="3000" baseline="30000" dirty="0"/>
              <a:t>−</a:t>
            </a:r>
            <a:r>
              <a:rPr lang="en-US" altLang="zh-CN" sz="3000" dirty="0"/>
              <a:t>)</a:t>
            </a:r>
            <a:r>
              <a:rPr lang="zh-CN" altLang="en-US" sz="3000" dirty="0"/>
              <a:t>或氰基</a:t>
            </a:r>
            <a:r>
              <a:rPr lang="en-US" altLang="zh-CN" sz="3000" dirty="0"/>
              <a:t>(-CN)</a:t>
            </a:r>
            <a:r>
              <a:rPr lang="zh-CN" altLang="en-US" sz="3000" dirty="0"/>
              <a:t>的化合物</a:t>
            </a:r>
            <a:endParaRPr lang="en-US" altLang="zh-CN" sz="3000" dirty="0"/>
          </a:p>
          <a:p>
            <a:pPr lvl="1">
              <a:buFont typeface="Wingdings" pitchFamily="2" charset="2"/>
              <a:buChar char="Ø"/>
            </a:pPr>
            <a:r>
              <a:rPr lang="zh-CN" altLang="en-US" sz="3000" dirty="0"/>
              <a:t>腈：带有</a:t>
            </a:r>
            <a:r>
              <a:rPr lang="en-US" altLang="zh-CN" sz="3000" dirty="0"/>
              <a:t>-CN</a:t>
            </a:r>
            <a:r>
              <a:rPr lang="zh-CN" altLang="en-US" sz="3000" dirty="0"/>
              <a:t>官能团的有机化合物</a:t>
            </a:r>
            <a:endParaRPr lang="en-US" altLang="zh-CN" sz="3000" dirty="0"/>
          </a:p>
        </p:txBody>
      </p:sp>
      <p:sp>
        <p:nvSpPr>
          <p:cNvPr id="6" name="Rounded Rectangle 5"/>
          <p:cNvSpPr/>
          <p:nvPr/>
        </p:nvSpPr>
        <p:spPr>
          <a:xfrm>
            <a:off x="2286000" y="3124200"/>
            <a:ext cx="533400"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7" name="Rounded Rectangle 6"/>
          <p:cNvSpPr/>
          <p:nvPr/>
        </p:nvSpPr>
        <p:spPr>
          <a:xfrm>
            <a:off x="2971800" y="3581400"/>
            <a:ext cx="990600" cy="4572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0" nodeType="clickEffect">
                                  <p:stCondLst>
                                    <p:cond delay="0"/>
                                  </p:stCondLst>
                                  <p:childTnLst>
                                    <p:anim calcmode="lin" valueType="num">
                                      <p:cBhvr additive="base">
                                        <p:cTn id="26" dur="500"/>
                                        <p:tgtEl>
                                          <p:spTgt spid="6"/>
                                        </p:tgtEl>
                                        <p:attrNameLst>
                                          <p:attrName>ppt_x</p:attrName>
                                        </p:attrNameLst>
                                      </p:cBhvr>
                                      <p:tavLst>
                                        <p:tav tm="0">
                                          <p:val>
                                            <p:strVal val="ppt_x"/>
                                          </p:val>
                                        </p:tav>
                                        <p:tav tm="100000">
                                          <p:val>
                                            <p:strVal val="ppt_x"/>
                                          </p:val>
                                        </p:tav>
                                      </p:tavLst>
                                    </p:anim>
                                    <p:anim calcmode="lin" valueType="num">
                                      <p:cBhvr additive="base">
                                        <p:cTn id="27" dur="500"/>
                                        <p:tgtEl>
                                          <p:spTgt spid="6"/>
                                        </p:tgtEl>
                                        <p:attrNameLst>
                                          <p:attrName>ppt_y</p:attrName>
                                        </p:attrNameLst>
                                      </p:cBhvr>
                                      <p:tavLst>
                                        <p:tav tm="0">
                                          <p:val>
                                            <p:strVal val="ppt_y"/>
                                          </p:val>
                                        </p:tav>
                                        <p:tav tm="100000">
                                          <p:val>
                                            <p:strVal val="1+ppt_h/2"/>
                                          </p:val>
                                        </p:tav>
                                      </p:tavLst>
                                    </p:anim>
                                    <p:set>
                                      <p:cBhvr>
                                        <p:cTn id="28" dur="1" fill="hold">
                                          <p:stCondLst>
                                            <p:cond delay="499"/>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xit" presetSubtype="4" fill="hold" grpId="0" nodeType="clickEffect">
                                  <p:stCondLst>
                                    <p:cond delay="0"/>
                                  </p:stCondLst>
                                  <p:childTnLst>
                                    <p:anim calcmode="lin" valueType="num">
                                      <p:cBhvr additive="base">
                                        <p:cTn id="37" dur="500"/>
                                        <p:tgtEl>
                                          <p:spTgt spid="7"/>
                                        </p:tgtEl>
                                        <p:attrNameLst>
                                          <p:attrName>ppt_x</p:attrName>
                                        </p:attrNameLst>
                                      </p:cBhvr>
                                      <p:tavLst>
                                        <p:tav tm="0">
                                          <p:val>
                                            <p:strVal val="ppt_x"/>
                                          </p:val>
                                        </p:tav>
                                        <p:tav tm="100000">
                                          <p:val>
                                            <p:strVal val="ppt_x"/>
                                          </p:val>
                                        </p:tav>
                                      </p:tavLst>
                                    </p:anim>
                                    <p:anim calcmode="lin" valueType="num">
                                      <p:cBhvr additive="base">
                                        <p:cTn id="38" dur="500"/>
                                        <p:tgtEl>
                                          <p:spTgt spid="7"/>
                                        </p:tgtEl>
                                        <p:attrNameLst>
                                          <p:attrName>ppt_y</p:attrName>
                                        </p:attrNameLst>
                                      </p:cBhvr>
                                      <p:tavLst>
                                        <p:tav tm="0">
                                          <p:val>
                                            <p:strVal val="ppt_y"/>
                                          </p:val>
                                        </p:tav>
                                        <p:tav tm="100000">
                                          <p:val>
                                            <p:strVal val="1+ppt_h/2"/>
                                          </p:val>
                                        </p:tav>
                                      </p:tavLst>
                                    </p:anim>
                                    <p:set>
                                      <p:cBhvr>
                                        <p:cTn id="39" dur="1" fill="hold">
                                          <p:stCondLst>
                                            <p:cond delay="499"/>
                                          </p:stCondLst>
                                        </p:cTn>
                                        <p:tgtEl>
                                          <p:spTgt spid="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blinds(horizontal)">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blinds(horizontal)">
                                      <p:cBhvr>
                                        <p:cTn id="49" dur="500"/>
                                        <p:tgtEl>
                                          <p:spTgt spid="3">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blinds(horizontal)">
                                      <p:cBhvr>
                                        <p:cTn id="54" dur="500"/>
                                        <p:tgtEl>
                                          <p:spTgt spid="3">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blinds(horizontal)">
                                      <p:cBhvr>
                                        <p:cTn id="5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26.1 </a:t>
            </a:r>
            <a:r>
              <a:rPr lang="zh-CN" altLang="en-US" sz="4800" b="1" dirty="0">
                <a:latin typeface="+mn-ea"/>
              </a:rPr>
              <a:t>有机化合物</a:t>
            </a:r>
            <a:endParaRPr lang="en-US" sz="4800" b="1" dirty="0"/>
          </a:p>
        </p:txBody>
      </p:sp>
      <p:sp>
        <p:nvSpPr>
          <p:cNvPr id="3" name="Content Placeholder 2"/>
          <p:cNvSpPr>
            <a:spLocks noGrp="1"/>
          </p:cNvSpPr>
          <p:nvPr>
            <p:ph idx="1"/>
          </p:nvPr>
        </p:nvSpPr>
        <p:spPr>
          <a:xfrm>
            <a:off x="304800" y="990600"/>
            <a:ext cx="8382000" cy="5867400"/>
          </a:xfrm>
        </p:spPr>
        <p:txBody>
          <a:bodyPr>
            <a:noAutofit/>
          </a:bodyPr>
          <a:lstStyle/>
          <a:p>
            <a:pPr>
              <a:lnSpc>
                <a:spcPct val="150000"/>
              </a:lnSpc>
              <a:spcBef>
                <a:spcPts val="300"/>
              </a:spcBef>
              <a:buFont typeface="Wingdings" pitchFamily="2" charset="2"/>
              <a:buChar char="Ø"/>
            </a:pPr>
            <a:r>
              <a:rPr lang="zh-CN" altLang="en-US" sz="3000" dirty="0"/>
              <a:t>结构复杂性</a:t>
            </a:r>
            <a:endParaRPr lang="en-US" altLang="zh-CN" sz="3000" dirty="0"/>
          </a:p>
          <a:p>
            <a:pPr lvl="1">
              <a:lnSpc>
                <a:spcPct val="150000"/>
              </a:lnSpc>
              <a:spcBef>
                <a:spcPts val="300"/>
              </a:spcBef>
              <a:buFont typeface="Wingdings" pitchFamily="2" charset="2"/>
              <a:buChar char="Ø"/>
            </a:pPr>
            <a:r>
              <a:rPr lang="zh-CN" altLang="en-US" sz="2600" dirty="0"/>
              <a:t>碳链的长度可长可短、可成链或成环</a:t>
            </a:r>
            <a:endParaRPr lang="en-US" altLang="zh-CN" sz="2600" dirty="0"/>
          </a:p>
          <a:p>
            <a:pPr>
              <a:lnSpc>
                <a:spcPct val="150000"/>
              </a:lnSpc>
              <a:spcBef>
                <a:spcPts val="300"/>
              </a:spcBef>
              <a:buFont typeface="Wingdings" pitchFamily="2" charset="2"/>
              <a:buChar char="Ø"/>
            </a:pPr>
            <a:r>
              <a:rPr lang="zh-CN" altLang="en-US" sz="3000" dirty="0"/>
              <a:t>化学多样性</a:t>
            </a:r>
            <a:endParaRPr lang="en-US" altLang="zh-CN" sz="3000" dirty="0"/>
          </a:p>
          <a:p>
            <a:pPr lvl="1">
              <a:lnSpc>
                <a:spcPct val="150000"/>
              </a:lnSpc>
              <a:spcBef>
                <a:spcPts val="300"/>
              </a:spcBef>
              <a:buFont typeface="Wingdings" pitchFamily="2" charset="2"/>
              <a:buChar char="Ø"/>
            </a:pPr>
            <a:r>
              <a:rPr lang="zh-CN" altLang="en-US" sz="2400" dirty="0"/>
              <a:t>在官能团部位以特有的方式进行反应</a:t>
            </a:r>
            <a:endParaRPr lang="en-US" altLang="zh-CN" sz="2400" dirty="0"/>
          </a:p>
          <a:p>
            <a:pPr lvl="1">
              <a:lnSpc>
                <a:spcPct val="150000"/>
              </a:lnSpc>
              <a:spcBef>
                <a:spcPts val="300"/>
              </a:spcBef>
              <a:buFont typeface="Wingdings" pitchFamily="2" charset="2"/>
              <a:buChar char="Ø"/>
            </a:pPr>
            <a:r>
              <a:rPr lang="zh-CN" altLang="en-US" sz="2400" dirty="0"/>
              <a:t>碳原子间可形成单键、双键或三键</a:t>
            </a:r>
            <a:endParaRPr lang="en-US" altLang="zh-CN" sz="2400" dirty="0"/>
          </a:p>
          <a:p>
            <a:pPr lvl="1">
              <a:lnSpc>
                <a:spcPct val="150000"/>
              </a:lnSpc>
              <a:spcBef>
                <a:spcPts val="300"/>
              </a:spcBef>
              <a:buFont typeface="Wingdings" pitchFamily="2" charset="2"/>
              <a:buChar char="Ø"/>
            </a:pPr>
            <a:r>
              <a:rPr lang="zh-CN" altLang="en-US" sz="2400" dirty="0"/>
              <a:t>有机物种类（千万种） </a:t>
            </a:r>
            <a:r>
              <a:rPr lang="en-US" altLang="zh-CN" sz="2400" dirty="0"/>
              <a:t>&gt; </a:t>
            </a:r>
            <a:r>
              <a:rPr lang="zh-CN" altLang="en-US" sz="2400" dirty="0"/>
              <a:t>无机物种类（十几万种）</a:t>
            </a:r>
            <a:endParaRPr lang="en-US" altLang="zh-CN" sz="2400" dirty="0"/>
          </a:p>
          <a:p>
            <a:pPr lvl="1">
              <a:lnSpc>
                <a:spcPct val="150000"/>
              </a:lnSpc>
              <a:spcBef>
                <a:spcPts val="300"/>
              </a:spcBef>
              <a:buFont typeface="Wingdings" pitchFamily="2" charset="2"/>
              <a:buChar char="Ø"/>
            </a:pPr>
            <a:r>
              <a:rPr lang="zh-CN" altLang="en-US" sz="2400" dirty="0"/>
              <a:t>有机物常有同分异构体（图</a:t>
            </a:r>
            <a:r>
              <a:rPr lang="en-US" altLang="zh-CN" sz="2400" dirty="0"/>
              <a:t>26-8</a:t>
            </a:r>
            <a:r>
              <a:rPr lang="zh-CN" altLang="en-US" sz="2400" dirty="0"/>
              <a:t>）</a:t>
            </a:r>
            <a:endParaRPr lang="en-US" altLang="zh-CN" sz="2400" dirty="0"/>
          </a:p>
          <a:p>
            <a:pPr lvl="1">
              <a:lnSpc>
                <a:spcPct val="150000"/>
              </a:lnSpc>
              <a:spcBef>
                <a:spcPts val="300"/>
              </a:spcBef>
              <a:buFont typeface="Wingdings" pitchFamily="2" charset="2"/>
              <a:buChar char="Ø"/>
            </a:pPr>
            <a:endParaRPr lang="en-US" altLang="zh-CN" sz="26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zh-CN" altLang="en-US" sz="4800" b="1" dirty="0">
                <a:latin typeface="+mn-ea"/>
              </a:rPr>
              <a:t>思考题</a:t>
            </a:r>
            <a:r>
              <a:rPr lang="en-US" altLang="zh-CN" sz="4800" b="1" dirty="0">
                <a:latin typeface="+mn-ea"/>
              </a:rPr>
              <a:t>26a</a:t>
            </a:r>
            <a:endParaRPr lang="en-US" sz="4800" b="1" dirty="0"/>
          </a:p>
        </p:txBody>
      </p:sp>
      <p:sp>
        <p:nvSpPr>
          <p:cNvPr id="3" name="Content Placeholder 2"/>
          <p:cNvSpPr>
            <a:spLocks noGrp="1"/>
          </p:cNvSpPr>
          <p:nvPr>
            <p:ph idx="1"/>
          </p:nvPr>
        </p:nvSpPr>
        <p:spPr>
          <a:xfrm>
            <a:off x="304800" y="990600"/>
            <a:ext cx="8382000" cy="5867400"/>
          </a:xfrm>
        </p:spPr>
        <p:txBody>
          <a:bodyPr>
            <a:noAutofit/>
          </a:bodyPr>
          <a:lstStyle/>
          <a:p>
            <a:pPr marL="971550" lvl="1" indent="-514350">
              <a:lnSpc>
                <a:spcPct val="150000"/>
              </a:lnSpc>
              <a:spcBef>
                <a:spcPts val="300"/>
              </a:spcBef>
              <a:buAutoNum type="arabicPeriod"/>
            </a:pPr>
            <a:r>
              <a:rPr lang="en-US" altLang="zh-CN" dirty="0"/>
              <a:t>C </a:t>
            </a:r>
          </a:p>
          <a:p>
            <a:pPr marL="971550" lvl="1" indent="-514350">
              <a:lnSpc>
                <a:spcPct val="150000"/>
              </a:lnSpc>
              <a:spcBef>
                <a:spcPts val="300"/>
              </a:spcBef>
              <a:buNone/>
            </a:pPr>
            <a:r>
              <a:rPr lang="en-US" altLang="zh-CN" dirty="0"/>
              <a:t>2.  D </a:t>
            </a:r>
          </a:p>
          <a:p>
            <a:pPr marL="971550" lvl="1" indent="-514350">
              <a:lnSpc>
                <a:spcPct val="150000"/>
              </a:lnSpc>
              <a:spcBef>
                <a:spcPts val="300"/>
              </a:spcBef>
              <a:buAutoNum type="arabicPeriod" startAt="3"/>
            </a:pPr>
            <a:r>
              <a:rPr lang="en-US" altLang="zh-CN" dirty="0"/>
              <a:t>D </a:t>
            </a:r>
          </a:p>
          <a:p>
            <a:pPr marL="971550" lvl="1" indent="-514350">
              <a:lnSpc>
                <a:spcPct val="150000"/>
              </a:lnSpc>
              <a:spcBef>
                <a:spcPts val="300"/>
              </a:spcBef>
              <a:buAutoNum type="arabicPeriod" startAt="3"/>
            </a:pPr>
            <a:r>
              <a:rPr lang="zh-CN" altLang="en-US" dirty="0"/>
              <a:t>德国化学家柯尔勃，他用碳、硫、氯气、水、钠等无机物经一连串反应制得乙酸，打开了有机合成之门，打破了有机化学和无机化学的界限。</a:t>
            </a:r>
            <a:r>
              <a:rPr lang="en-US" altLang="zh-CN" dirty="0"/>
              <a:t>Pg3</a:t>
            </a:r>
          </a:p>
          <a:p>
            <a:pPr marL="971550" lvl="1" indent="-514350">
              <a:lnSpc>
                <a:spcPct val="150000"/>
              </a:lnSpc>
              <a:spcBef>
                <a:spcPts val="300"/>
              </a:spcBef>
              <a:buAutoNum type="arabicPeriod" startAt="3"/>
            </a:pPr>
            <a:r>
              <a:rPr lang="zh-CN" altLang="en-US" dirty="0"/>
              <a:t>略</a:t>
            </a:r>
            <a:endParaRPr lang="en-US" altLang="zh-CN"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26.2 </a:t>
            </a:r>
            <a:r>
              <a:rPr lang="zh-CN" altLang="en-US" sz="4800" b="1" dirty="0">
                <a:latin typeface="+mn-ea"/>
              </a:rPr>
              <a:t>有机物的特质</a:t>
            </a:r>
            <a:endParaRPr lang="en-US" sz="4800" b="1" dirty="0"/>
          </a:p>
        </p:txBody>
      </p:sp>
      <p:sp>
        <p:nvSpPr>
          <p:cNvPr id="3" name="Content Placeholder 2"/>
          <p:cNvSpPr>
            <a:spLocks noGrp="1"/>
          </p:cNvSpPr>
          <p:nvPr>
            <p:ph idx="1"/>
          </p:nvPr>
        </p:nvSpPr>
        <p:spPr>
          <a:xfrm>
            <a:off x="304800" y="990600"/>
            <a:ext cx="8382000" cy="5867400"/>
          </a:xfrm>
        </p:spPr>
        <p:txBody>
          <a:bodyPr>
            <a:noAutofit/>
          </a:bodyPr>
          <a:lstStyle/>
          <a:p>
            <a:pPr>
              <a:lnSpc>
                <a:spcPct val="150000"/>
              </a:lnSpc>
              <a:spcBef>
                <a:spcPts val="300"/>
              </a:spcBef>
              <a:buFont typeface="Wingdings" pitchFamily="2" charset="2"/>
              <a:buChar char="Ø"/>
            </a:pPr>
            <a:r>
              <a:rPr lang="zh-CN" altLang="en-US" sz="3000" dirty="0"/>
              <a:t>几乎都是</a:t>
            </a:r>
            <a:r>
              <a:rPr lang="zh-CN" altLang="en-US" sz="3000" b="1" dirty="0">
                <a:solidFill>
                  <a:srgbClr val="002060"/>
                </a:solidFill>
                <a:effectLst>
                  <a:outerShdw blurRad="38100" dist="38100" dir="2700000" algn="tl">
                    <a:srgbClr val="000000">
                      <a:alpha val="43137"/>
                    </a:srgbClr>
                  </a:outerShdw>
                </a:effectLst>
              </a:rPr>
              <a:t>可燃</a:t>
            </a:r>
            <a:r>
              <a:rPr lang="zh-CN" altLang="en-US" sz="3000" dirty="0"/>
              <a:t>的</a:t>
            </a:r>
            <a:endParaRPr lang="en-US" altLang="zh-CN" sz="3000" dirty="0"/>
          </a:p>
          <a:p>
            <a:pPr>
              <a:lnSpc>
                <a:spcPct val="150000"/>
              </a:lnSpc>
              <a:spcBef>
                <a:spcPts val="300"/>
              </a:spcBef>
              <a:buFont typeface="Wingdings" pitchFamily="2" charset="2"/>
              <a:buChar char="Ø"/>
            </a:pPr>
            <a:r>
              <a:rPr lang="zh-CN" altLang="en-US" sz="3000" dirty="0"/>
              <a:t>一般上都是</a:t>
            </a:r>
            <a:r>
              <a:rPr lang="zh-CN" altLang="en-US" sz="3000" b="1" dirty="0">
                <a:solidFill>
                  <a:srgbClr val="002060"/>
                </a:solidFill>
                <a:effectLst>
                  <a:outerShdw blurRad="38100" dist="38100" dir="2700000" algn="tl">
                    <a:srgbClr val="000000">
                      <a:alpha val="43137"/>
                    </a:srgbClr>
                  </a:outerShdw>
                </a:effectLst>
              </a:rPr>
              <a:t>共价化合物</a:t>
            </a:r>
            <a:endParaRPr lang="en-US" altLang="zh-CN" sz="3000" b="1" dirty="0">
              <a:solidFill>
                <a:srgbClr val="002060"/>
              </a:solidFill>
              <a:effectLst>
                <a:outerShdw blurRad="38100" dist="38100" dir="2700000" algn="tl">
                  <a:srgbClr val="000000">
                    <a:alpha val="43137"/>
                  </a:srgbClr>
                </a:outerShdw>
              </a:effectLst>
            </a:endParaRPr>
          </a:p>
          <a:p>
            <a:pPr>
              <a:lnSpc>
                <a:spcPct val="150000"/>
              </a:lnSpc>
              <a:spcBef>
                <a:spcPts val="300"/>
              </a:spcBef>
              <a:buFont typeface="Wingdings" pitchFamily="2" charset="2"/>
              <a:buChar char="Ø"/>
            </a:pPr>
            <a:r>
              <a:rPr lang="zh-CN" altLang="en-US" sz="3000" dirty="0"/>
              <a:t>多属</a:t>
            </a:r>
            <a:r>
              <a:rPr lang="zh-CN" altLang="en-US" sz="3000" b="1" dirty="0">
                <a:solidFill>
                  <a:srgbClr val="002060"/>
                </a:solidFill>
                <a:effectLst>
                  <a:outerShdw blurRad="38100" dist="38100" dir="2700000" algn="tl">
                    <a:srgbClr val="000000">
                      <a:alpha val="43137"/>
                    </a:srgbClr>
                  </a:outerShdw>
                </a:effectLst>
              </a:rPr>
              <a:t>非电解质、不导电</a:t>
            </a:r>
            <a:endParaRPr lang="en-US" altLang="zh-CN" sz="3000" b="1" dirty="0">
              <a:solidFill>
                <a:srgbClr val="002060"/>
              </a:solidFill>
              <a:effectLst>
                <a:outerShdw blurRad="38100" dist="38100" dir="2700000" algn="tl">
                  <a:srgbClr val="000000">
                    <a:alpha val="43137"/>
                  </a:srgbClr>
                </a:outerShdw>
              </a:effectLst>
            </a:endParaRPr>
          </a:p>
          <a:p>
            <a:pPr>
              <a:lnSpc>
                <a:spcPct val="150000"/>
              </a:lnSpc>
              <a:spcBef>
                <a:spcPts val="300"/>
              </a:spcBef>
              <a:buFont typeface="Wingdings" pitchFamily="2" charset="2"/>
              <a:buChar char="Ø"/>
            </a:pPr>
            <a:r>
              <a:rPr lang="zh-CN" altLang="en-US" sz="3000" dirty="0"/>
              <a:t>多</a:t>
            </a:r>
            <a:r>
              <a:rPr lang="zh-CN" altLang="en-US" sz="3000" b="1" dirty="0">
                <a:solidFill>
                  <a:srgbClr val="002060"/>
                </a:solidFill>
                <a:effectLst>
                  <a:outerShdw blurRad="38100" dist="38100" dir="2700000" algn="tl">
                    <a:srgbClr val="000000">
                      <a:alpha val="43137"/>
                    </a:srgbClr>
                  </a:outerShdw>
                </a:effectLst>
              </a:rPr>
              <a:t>溶于非极性有机溶剂</a:t>
            </a:r>
            <a:endParaRPr lang="en-US" altLang="zh-CN" sz="3000" b="1" dirty="0">
              <a:solidFill>
                <a:srgbClr val="002060"/>
              </a:solidFill>
              <a:effectLst>
                <a:outerShdw blurRad="38100" dist="38100" dir="2700000" algn="tl">
                  <a:srgbClr val="000000">
                    <a:alpha val="43137"/>
                  </a:srgbClr>
                </a:outerShdw>
              </a:effectLst>
            </a:endParaRPr>
          </a:p>
          <a:p>
            <a:pPr>
              <a:spcBef>
                <a:spcPts val="300"/>
              </a:spcBef>
              <a:buFont typeface="Wingdings" pitchFamily="2" charset="2"/>
              <a:buChar char="Ø"/>
            </a:pPr>
            <a:r>
              <a:rPr lang="zh-CN" altLang="en-US" sz="3000" dirty="0"/>
              <a:t>有机反应必</a:t>
            </a:r>
            <a:r>
              <a:rPr lang="zh-CN" altLang="en-US" sz="3000" b="1" dirty="0">
                <a:solidFill>
                  <a:srgbClr val="002060"/>
                </a:solidFill>
                <a:effectLst>
                  <a:outerShdw blurRad="38100" dist="38100" dir="2700000" algn="tl">
                    <a:srgbClr val="000000">
                      <a:alpha val="43137"/>
                    </a:srgbClr>
                  </a:outerShdw>
                </a:effectLst>
              </a:rPr>
              <a:t>先</a:t>
            </a:r>
            <a:r>
              <a:rPr lang="zh-CN" altLang="en-US" sz="3000" dirty="0"/>
              <a:t>有一</a:t>
            </a:r>
            <a:r>
              <a:rPr lang="zh-CN" altLang="en-US" sz="3000" b="1" dirty="0">
                <a:solidFill>
                  <a:srgbClr val="002060"/>
                </a:solidFill>
                <a:effectLst>
                  <a:outerShdw blurRad="38100" dist="38100" dir="2700000" algn="tl">
                    <a:srgbClr val="000000">
                      <a:alpha val="43137"/>
                    </a:srgbClr>
                  </a:outerShdw>
                </a:effectLst>
              </a:rPr>
              <a:t>共价键断裂，反应速率慢，反应需条件。</a:t>
            </a:r>
            <a:endParaRPr lang="en-US" altLang="zh-CN" sz="3000" b="1" dirty="0">
              <a:solidFill>
                <a:srgbClr val="002060"/>
              </a:solidFill>
              <a:effectLst>
                <a:outerShdw blurRad="38100" dist="38100" dir="2700000" algn="tl">
                  <a:srgbClr val="000000">
                    <a:alpha val="43137"/>
                  </a:srgbClr>
                </a:outerShdw>
              </a:effectLst>
            </a:endParaRPr>
          </a:p>
          <a:p>
            <a:pPr>
              <a:lnSpc>
                <a:spcPct val="150000"/>
              </a:lnSpc>
              <a:spcBef>
                <a:spcPts val="300"/>
              </a:spcBef>
              <a:buFont typeface="Wingdings" pitchFamily="2" charset="2"/>
              <a:buChar char="Ø"/>
            </a:pPr>
            <a:r>
              <a:rPr lang="zh-CN" altLang="en-US" sz="3000" b="1" dirty="0">
                <a:solidFill>
                  <a:srgbClr val="002060"/>
                </a:solidFill>
                <a:effectLst>
                  <a:outerShdw blurRad="38100" dist="38100" dir="2700000" algn="tl">
                    <a:srgbClr val="000000">
                      <a:alpha val="43137"/>
                    </a:srgbClr>
                  </a:outerShdw>
                </a:effectLst>
              </a:rPr>
              <a:t>反应机理复杂</a:t>
            </a:r>
            <a:r>
              <a:rPr lang="zh-CN" altLang="en-US" sz="3000" dirty="0"/>
              <a:t>，常伴有副反应（有副产品）</a:t>
            </a:r>
            <a:endParaRPr lang="en-US" altLang="zh-CN" sz="3000" dirty="0"/>
          </a:p>
          <a:p>
            <a:pPr>
              <a:lnSpc>
                <a:spcPct val="150000"/>
              </a:lnSpc>
              <a:spcBef>
                <a:spcPts val="300"/>
              </a:spcBef>
              <a:buFont typeface="Wingdings" pitchFamily="2" charset="2"/>
              <a:buChar char="Ø"/>
            </a:pPr>
            <a:r>
              <a:rPr lang="zh-CN" altLang="en-US" sz="3000" b="1" dirty="0">
                <a:solidFill>
                  <a:srgbClr val="002060"/>
                </a:solidFill>
                <a:effectLst>
                  <a:outerShdw blurRad="38100" dist="38100" dir="2700000" algn="tl">
                    <a:srgbClr val="000000">
                      <a:alpha val="43137"/>
                    </a:srgbClr>
                  </a:outerShdw>
                </a:effectLst>
              </a:rPr>
              <a:t>易挥发、熔点较低</a:t>
            </a:r>
            <a:endParaRPr lang="en-US" altLang="zh-CN" sz="3000" b="1" dirty="0">
              <a:solidFill>
                <a:srgbClr val="002060"/>
              </a:solidFill>
              <a:effectLst>
                <a:outerShdw blurRad="38100" dist="38100" dir="2700000" algn="tl">
                  <a:srgbClr val="000000">
                    <a:alpha val="43137"/>
                  </a:srgbClr>
                </a:outerShdw>
              </a:effectLst>
            </a:endParaRPr>
          </a:p>
          <a:p>
            <a:pPr>
              <a:lnSpc>
                <a:spcPct val="150000"/>
              </a:lnSpc>
              <a:spcBef>
                <a:spcPts val="300"/>
              </a:spcBef>
              <a:buFont typeface="Wingdings" pitchFamily="2" charset="2"/>
              <a:buChar char="Ø"/>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24.2 </a:t>
            </a:r>
            <a:r>
              <a:rPr lang="zh-CN" altLang="en-US" sz="4800" b="1" dirty="0">
                <a:latin typeface="+mn-ea"/>
              </a:rPr>
              <a:t>有机物的特质</a:t>
            </a:r>
            <a:endParaRPr lang="en-US" sz="4800" b="1" dirty="0"/>
          </a:p>
        </p:txBody>
      </p:sp>
      <p:pic>
        <p:nvPicPr>
          <p:cNvPr id="6" name="Content Placeholder 5" descr="bj.jpg"/>
          <p:cNvPicPr>
            <a:picLocks noGrp="1" noChangeAspect="1"/>
          </p:cNvPicPr>
          <p:nvPr>
            <p:ph idx="1"/>
          </p:nvPr>
        </p:nvPicPr>
        <p:blipFill>
          <a:blip r:embed="rId3"/>
          <a:stretch>
            <a:fillRect/>
          </a:stretch>
        </p:blipFill>
        <p:spPr>
          <a:xfrm>
            <a:off x="5891" y="1"/>
            <a:ext cx="9144000" cy="6858000"/>
          </a:xfrm>
        </p:spPr>
      </p:pic>
      <p:sp>
        <p:nvSpPr>
          <p:cNvPr id="7" name="TextBox 6"/>
          <p:cNvSpPr txBox="1"/>
          <p:nvPr/>
        </p:nvSpPr>
        <p:spPr>
          <a:xfrm>
            <a:off x="152400" y="3505200"/>
            <a:ext cx="8986756" cy="646331"/>
          </a:xfrm>
          <a:prstGeom prst="rect">
            <a:avLst/>
          </a:prstGeom>
          <a:solidFill>
            <a:srgbClr val="FFC000"/>
          </a:solidFill>
        </p:spPr>
        <p:txBody>
          <a:bodyPr wrap="none" rtlCol="0">
            <a:spAutoFit/>
          </a:bodyPr>
          <a:lstStyle/>
          <a:p>
            <a:pPr>
              <a:spcBef>
                <a:spcPts val="1200"/>
              </a:spcBef>
              <a:spcAft>
                <a:spcPts val="1200"/>
              </a:spcAft>
            </a:pPr>
            <a:r>
              <a:rPr lang="zh-CN" altLang="en-US" sz="3600" b="1" dirty="0">
                <a:solidFill>
                  <a:srgbClr val="002060"/>
                </a:solidFill>
                <a:effectLst>
                  <a:outerShdw blurRad="38100" dist="38100" dir="2700000" algn="tl">
                    <a:srgbClr val="000000">
                      <a:alpha val="43137"/>
                    </a:srgbClr>
                  </a:outerShdw>
                </a:effectLst>
              </a:rPr>
              <a:t>有机物与无机物性质上的区别不是绝对的。</a:t>
            </a:r>
            <a:endParaRPr lang="en-US" altLang="zh-CN" sz="36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26.2 </a:t>
            </a:r>
            <a:r>
              <a:rPr lang="zh-CN" altLang="en-US" sz="4800" b="1" dirty="0">
                <a:latin typeface="+mn-ea"/>
              </a:rPr>
              <a:t>有机物的特质</a:t>
            </a:r>
            <a:endParaRPr lang="en-US" sz="4800" b="1" dirty="0"/>
          </a:p>
        </p:txBody>
      </p:sp>
      <p:sp>
        <p:nvSpPr>
          <p:cNvPr id="3" name="Content Placeholder 2"/>
          <p:cNvSpPr>
            <a:spLocks noGrp="1"/>
          </p:cNvSpPr>
          <p:nvPr>
            <p:ph idx="1"/>
          </p:nvPr>
        </p:nvSpPr>
        <p:spPr>
          <a:xfrm>
            <a:off x="304800" y="990600"/>
            <a:ext cx="8382000" cy="5867400"/>
          </a:xfrm>
        </p:spPr>
        <p:txBody>
          <a:bodyPr>
            <a:noAutofit/>
          </a:bodyPr>
          <a:lstStyle/>
          <a:p>
            <a:pPr>
              <a:lnSpc>
                <a:spcPct val="150000"/>
              </a:lnSpc>
              <a:spcBef>
                <a:spcPts val="300"/>
              </a:spcBef>
              <a:buFont typeface="Wingdings" pitchFamily="2" charset="2"/>
              <a:buChar char="Ø"/>
            </a:pPr>
            <a:r>
              <a:rPr lang="zh-CN" altLang="en-US" sz="3000" dirty="0"/>
              <a:t>交流分享</a:t>
            </a:r>
            <a:r>
              <a:rPr lang="zh-CN" altLang="en-US" sz="2400" dirty="0"/>
              <a:t>答案</a:t>
            </a:r>
            <a:r>
              <a:rPr lang="en-US" altLang="zh-CN" sz="2400" dirty="0"/>
              <a:t>pg7</a:t>
            </a:r>
          </a:p>
          <a:p>
            <a:pPr marL="514350" indent="-514350">
              <a:lnSpc>
                <a:spcPct val="150000"/>
              </a:lnSpc>
              <a:spcBef>
                <a:spcPts val="300"/>
              </a:spcBef>
              <a:buAutoNum type="arabicPeriod"/>
            </a:pPr>
            <a:r>
              <a:rPr lang="en-US" altLang="zh-CN" sz="3000" dirty="0"/>
              <a:t>CCl</a:t>
            </a:r>
            <a:r>
              <a:rPr lang="en-US" altLang="zh-CN" sz="3000" baseline="-25000" dirty="0"/>
              <a:t>4</a:t>
            </a:r>
            <a:r>
              <a:rPr lang="en-US" altLang="zh-CN" sz="3000" dirty="0"/>
              <a:t> </a:t>
            </a:r>
            <a:r>
              <a:rPr lang="zh-CN" altLang="en-US" sz="3000" dirty="0"/>
              <a:t>不可燃，是高效灭火剂</a:t>
            </a:r>
            <a:endParaRPr lang="en-US" altLang="zh-CN" sz="3000" dirty="0"/>
          </a:p>
          <a:p>
            <a:pPr marL="514350" indent="-514350">
              <a:lnSpc>
                <a:spcPct val="150000"/>
              </a:lnSpc>
              <a:spcBef>
                <a:spcPts val="300"/>
              </a:spcBef>
              <a:buAutoNum type="arabicPeriod"/>
            </a:pPr>
            <a:r>
              <a:rPr lang="zh-CN" altLang="en-US" sz="3000" dirty="0"/>
              <a:t>羧酸是电解质</a:t>
            </a:r>
            <a:endParaRPr lang="en-US" altLang="zh-CN" sz="3000" dirty="0"/>
          </a:p>
          <a:p>
            <a:pPr marL="514350" indent="-514350">
              <a:lnSpc>
                <a:spcPct val="150000"/>
              </a:lnSpc>
              <a:spcBef>
                <a:spcPts val="300"/>
              </a:spcBef>
              <a:buAutoNum type="arabicPeriod"/>
            </a:pPr>
            <a:r>
              <a:rPr lang="zh-CN" altLang="en-US" sz="3000" dirty="0"/>
              <a:t>酒精易溶于水、易挥发；</a:t>
            </a:r>
            <a:endParaRPr lang="en-US" altLang="zh-CN" sz="3000" dirty="0"/>
          </a:p>
          <a:p>
            <a:pPr marL="514350" indent="-514350">
              <a:lnSpc>
                <a:spcPct val="150000"/>
              </a:lnSpc>
              <a:spcBef>
                <a:spcPts val="300"/>
              </a:spcBef>
              <a:buNone/>
            </a:pPr>
            <a:r>
              <a:rPr lang="en-US" altLang="zh-CN" sz="3000" dirty="0"/>
              <a:t>	</a:t>
            </a:r>
            <a:r>
              <a:rPr lang="zh-CN" altLang="en-US" sz="3000" dirty="0"/>
              <a:t>淀粉不易溶于水、不易挥发。</a:t>
            </a:r>
            <a:endParaRPr lang="en-US" altLang="zh-CN" sz="3000" dirty="0"/>
          </a:p>
          <a:p>
            <a:pPr marL="514350" indent="-514350">
              <a:lnSpc>
                <a:spcPct val="150000"/>
              </a:lnSpc>
              <a:spcBef>
                <a:spcPts val="300"/>
              </a:spcBef>
              <a:buNone/>
            </a:pPr>
            <a:r>
              <a:rPr lang="en-US" altLang="zh-CN" sz="3000" dirty="0"/>
              <a:t>4. </a:t>
            </a:r>
            <a:r>
              <a:rPr lang="zh-CN" altLang="en-US" sz="3000" dirty="0"/>
              <a:t>乙烯使溴水褪色反应很快。</a:t>
            </a:r>
            <a:endParaRPr lang="en-US" altLang="zh-CN" sz="3000" dirty="0"/>
          </a:p>
          <a:p>
            <a:pPr marL="514350" indent="-514350">
              <a:lnSpc>
                <a:spcPct val="150000"/>
              </a:lnSpc>
              <a:spcBef>
                <a:spcPts val="300"/>
              </a:spcBef>
              <a:buAutoNum type="arabicPeriod"/>
            </a:pPr>
            <a:endParaRPr lang="en-US" altLang="zh-CN" sz="3000" dirty="0"/>
          </a:p>
        </p:txBody>
      </p:sp>
      <p:sp>
        <p:nvSpPr>
          <p:cNvPr id="6" name="TextBox 5"/>
          <p:cNvSpPr txBox="1"/>
          <p:nvPr/>
        </p:nvSpPr>
        <p:spPr>
          <a:xfrm>
            <a:off x="152400" y="5602069"/>
            <a:ext cx="8986756" cy="646331"/>
          </a:xfrm>
          <a:prstGeom prst="rect">
            <a:avLst/>
          </a:prstGeom>
          <a:solidFill>
            <a:srgbClr val="FFC000"/>
          </a:solidFill>
        </p:spPr>
        <p:txBody>
          <a:bodyPr wrap="none" rtlCol="0">
            <a:spAutoFit/>
          </a:bodyPr>
          <a:lstStyle/>
          <a:p>
            <a:pPr>
              <a:spcBef>
                <a:spcPts val="1200"/>
              </a:spcBef>
              <a:spcAft>
                <a:spcPts val="1200"/>
              </a:spcAft>
            </a:pPr>
            <a:r>
              <a:rPr lang="zh-CN" altLang="en-US" sz="3600" b="1" dirty="0">
                <a:solidFill>
                  <a:srgbClr val="002060"/>
                </a:solidFill>
                <a:effectLst>
                  <a:outerShdw blurRad="38100" dist="38100" dir="2700000" algn="tl">
                    <a:srgbClr val="000000">
                      <a:alpha val="43137"/>
                    </a:srgbClr>
                  </a:outerShdw>
                </a:effectLst>
              </a:rPr>
              <a:t>有机物与无机物性质上的区别不是绝对的。</a:t>
            </a:r>
            <a:endParaRPr lang="en-US" altLang="zh-CN" sz="36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zh-CN" altLang="en-US" sz="4800" b="1" dirty="0">
                <a:latin typeface="+mn-ea"/>
              </a:rPr>
              <a:t>思考题 </a:t>
            </a:r>
            <a:r>
              <a:rPr lang="en-US" altLang="zh-CN" sz="4800" b="1" dirty="0">
                <a:latin typeface="+mn-ea"/>
              </a:rPr>
              <a:t>26b</a:t>
            </a:r>
            <a:endParaRPr lang="en-US" sz="4800" b="1" dirty="0"/>
          </a:p>
        </p:txBody>
      </p:sp>
      <p:sp>
        <p:nvSpPr>
          <p:cNvPr id="3" name="Content Placeholder 2"/>
          <p:cNvSpPr>
            <a:spLocks noGrp="1"/>
          </p:cNvSpPr>
          <p:nvPr>
            <p:ph idx="1"/>
          </p:nvPr>
        </p:nvSpPr>
        <p:spPr>
          <a:xfrm>
            <a:off x="304800" y="990600"/>
            <a:ext cx="8382000" cy="5867400"/>
          </a:xfrm>
        </p:spPr>
        <p:txBody>
          <a:bodyPr>
            <a:noAutofit/>
          </a:bodyPr>
          <a:lstStyle/>
          <a:p>
            <a:pPr marL="514350" indent="-514350">
              <a:lnSpc>
                <a:spcPct val="150000"/>
              </a:lnSpc>
              <a:spcBef>
                <a:spcPts val="300"/>
              </a:spcBef>
              <a:buAutoNum type="arabicPeriod"/>
            </a:pPr>
            <a:r>
              <a:rPr lang="en-US" altLang="zh-CN" sz="3000" dirty="0"/>
              <a:t>D</a:t>
            </a:r>
          </a:p>
          <a:p>
            <a:pPr marL="514350" indent="-514350">
              <a:lnSpc>
                <a:spcPct val="150000"/>
              </a:lnSpc>
              <a:spcBef>
                <a:spcPts val="300"/>
              </a:spcBef>
              <a:buAutoNum type="arabicPeriod"/>
            </a:pPr>
            <a:r>
              <a:rPr lang="en-US" altLang="zh-CN" sz="3000" dirty="0"/>
              <a:t>D</a:t>
            </a:r>
          </a:p>
          <a:p>
            <a:pPr marL="514350" indent="-514350">
              <a:lnSpc>
                <a:spcPct val="150000"/>
              </a:lnSpc>
              <a:spcBef>
                <a:spcPts val="300"/>
              </a:spcBef>
              <a:buAutoNum type="arabicPeriod"/>
            </a:pPr>
            <a:r>
              <a:rPr lang="zh-CN" altLang="en-US" sz="3000" dirty="0"/>
              <a:t>导电性由弱变强。</a:t>
            </a:r>
            <a:endParaRPr lang="en-US" altLang="zh-CN" sz="3000" dirty="0"/>
          </a:p>
          <a:p>
            <a:pPr marL="514350" indent="-514350">
              <a:lnSpc>
                <a:spcPct val="150000"/>
              </a:lnSpc>
              <a:spcBef>
                <a:spcPts val="300"/>
              </a:spcBef>
              <a:buNone/>
            </a:pPr>
            <a:r>
              <a:rPr lang="en-US" altLang="zh-CN" sz="3000" dirty="0"/>
              <a:t>	</a:t>
            </a:r>
            <a:r>
              <a:rPr lang="zh-CN" altLang="en-US" sz="3000" dirty="0"/>
              <a:t>醋酸是弱酸</a:t>
            </a:r>
            <a:r>
              <a:rPr lang="en-US" altLang="zh-CN" sz="3000" dirty="0"/>
              <a:t>(</a:t>
            </a:r>
            <a:r>
              <a:rPr lang="zh-CN" altLang="en-US" sz="3000" dirty="0"/>
              <a:t>弱电解质</a:t>
            </a:r>
            <a:r>
              <a:rPr lang="en-US" altLang="zh-CN" sz="3000" dirty="0"/>
              <a:t>)</a:t>
            </a:r>
            <a:r>
              <a:rPr lang="zh-CN" altLang="en-US" sz="3000" dirty="0"/>
              <a:t>，其导电性弱。</a:t>
            </a:r>
            <a:endParaRPr lang="en-US" altLang="zh-CN" sz="3000" dirty="0"/>
          </a:p>
          <a:p>
            <a:pPr marL="514350" indent="-514350">
              <a:lnSpc>
                <a:spcPct val="150000"/>
              </a:lnSpc>
              <a:spcBef>
                <a:spcPts val="300"/>
              </a:spcBef>
              <a:buNone/>
            </a:pPr>
            <a:r>
              <a:rPr lang="en-US" altLang="zh-CN" sz="3000" dirty="0"/>
              <a:t>	</a:t>
            </a:r>
            <a:r>
              <a:rPr lang="zh-CN" altLang="en-US" sz="3000" dirty="0"/>
              <a:t>醋酸与氨水反应后生成醋酸铵。</a:t>
            </a:r>
            <a:endParaRPr lang="en-US" altLang="zh-CN" sz="3000" dirty="0"/>
          </a:p>
          <a:p>
            <a:pPr marL="514350" indent="-514350">
              <a:lnSpc>
                <a:spcPct val="150000"/>
              </a:lnSpc>
              <a:spcBef>
                <a:spcPts val="300"/>
              </a:spcBef>
              <a:buNone/>
            </a:pPr>
            <a:r>
              <a:rPr lang="en-US" altLang="zh-CN" sz="3000" dirty="0"/>
              <a:t>	</a:t>
            </a:r>
            <a:r>
              <a:rPr lang="zh-CN" altLang="en-US" sz="3000" dirty="0"/>
              <a:t>醋酸铵是强电解质，因此导电性变强。</a:t>
            </a: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26.3 </a:t>
            </a:r>
            <a:r>
              <a:rPr lang="zh-CN" altLang="en-US" sz="4800" b="1" dirty="0">
                <a:latin typeface="+mn-ea"/>
              </a:rPr>
              <a:t>有机化合物的分类</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lnSpc>
                <a:spcPct val="150000"/>
              </a:lnSpc>
              <a:buFont typeface="Wingdings" pitchFamily="2" charset="2"/>
              <a:buChar char="Ø"/>
            </a:pPr>
            <a:r>
              <a:rPr lang="zh-CN" altLang="en-US" sz="3000" dirty="0"/>
              <a:t>官能团：凡是由一个或多个原子组成，能显一定反应的原子团。</a:t>
            </a:r>
            <a:endParaRPr lang="en-US" altLang="zh-CN" sz="3000" dirty="0"/>
          </a:p>
          <a:p>
            <a:pPr>
              <a:lnSpc>
                <a:spcPct val="150000"/>
              </a:lnSpc>
              <a:buFont typeface="Wingdings" pitchFamily="2" charset="2"/>
              <a:buChar char="Ø"/>
            </a:pPr>
            <a:r>
              <a:rPr lang="zh-CN" altLang="en-US" sz="3000" dirty="0"/>
              <a:t>烷烃：</a:t>
            </a:r>
            <a:r>
              <a:rPr lang="en-US" altLang="zh-CN" sz="3000" dirty="0"/>
              <a:t>C</a:t>
            </a:r>
            <a:r>
              <a:rPr lang="zh-CN" altLang="en-US" sz="3000" dirty="0"/>
              <a:t>、</a:t>
            </a:r>
            <a:r>
              <a:rPr lang="en-US" altLang="zh-CN" sz="3000" dirty="0"/>
              <a:t>H</a:t>
            </a:r>
            <a:r>
              <a:rPr lang="zh-CN" altLang="en-US" sz="3000" dirty="0"/>
              <a:t>互相由单键联合形成，不含官能团</a:t>
            </a:r>
            <a:endParaRPr lang="en-US" altLang="zh-CN" sz="3000" dirty="0"/>
          </a:p>
          <a:p>
            <a:pPr>
              <a:lnSpc>
                <a:spcPct val="150000"/>
              </a:lnSpc>
              <a:buFont typeface="Wingdings" pitchFamily="2" charset="2"/>
              <a:buChar char="Ø"/>
            </a:pPr>
            <a:r>
              <a:rPr lang="zh-CN" altLang="en-US" sz="3000" dirty="0"/>
              <a:t>烯烃：</a:t>
            </a:r>
            <a:r>
              <a:rPr lang="en-US" altLang="zh-CN" sz="3000" dirty="0"/>
              <a:t>C=C</a:t>
            </a:r>
            <a:r>
              <a:rPr lang="zh-CN" altLang="en-US" sz="3000" dirty="0"/>
              <a:t>双键</a:t>
            </a:r>
            <a:endParaRPr lang="en-US" altLang="zh-CN" sz="3000" dirty="0"/>
          </a:p>
          <a:p>
            <a:pPr>
              <a:lnSpc>
                <a:spcPct val="150000"/>
              </a:lnSpc>
              <a:buFont typeface="Wingdings" pitchFamily="2" charset="2"/>
              <a:buChar char="Ø"/>
            </a:pPr>
            <a:r>
              <a:rPr lang="zh-CN" altLang="en-US" sz="3000" dirty="0"/>
              <a:t>炔烃：</a:t>
            </a:r>
            <a:r>
              <a:rPr lang="en-US" altLang="zh-CN" sz="3000" dirty="0"/>
              <a:t>C≡C</a:t>
            </a:r>
            <a:r>
              <a:rPr lang="zh-CN" altLang="en-US" sz="3000" dirty="0"/>
              <a:t>三键</a:t>
            </a:r>
            <a:endParaRPr lang="en-US" altLang="zh-CN" sz="3000" dirty="0"/>
          </a:p>
          <a:p>
            <a:pPr>
              <a:lnSpc>
                <a:spcPct val="150000"/>
              </a:lnSpc>
              <a:buFont typeface="Wingdings" pitchFamily="2" charset="2"/>
              <a:buChar char="Ø"/>
            </a:pPr>
            <a:r>
              <a:rPr lang="zh-CN" altLang="en-US" sz="3000" dirty="0"/>
              <a:t>醇：羟基 </a:t>
            </a:r>
            <a:r>
              <a:rPr lang="en-US" altLang="zh-CN" sz="3000" dirty="0"/>
              <a:t>–OH</a:t>
            </a:r>
          </a:p>
          <a:p>
            <a:pPr>
              <a:lnSpc>
                <a:spcPct val="150000"/>
              </a:lnSpc>
              <a:buFont typeface="Wingdings" pitchFamily="2" charset="2"/>
              <a:buChar char="Ø"/>
            </a:pPr>
            <a:r>
              <a:rPr lang="zh-CN" altLang="en-US" sz="3000" dirty="0"/>
              <a:t>羧酸：羧基 </a:t>
            </a:r>
            <a:r>
              <a:rPr lang="en-US" altLang="zh-CN" sz="3000" dirty="0"/>
              <a:t>– COOH</a:t>
            </a:r>
          </a:p>
          <a:p>
            <a:pPr>
              <a:lnSpc>
                <a:spcPct val="150000"/>
              </a:lnSpc>
              <a:buNone/>
            </a:pPr>
            <a:endParaRPr lang="en-US" altLang="zh-CN" sz="3000" dirty="0"/>
          </a:p>
          <a:p>
            <a:pPr>
              <a:lnSpc>
                <a:spcPct val="150000"/>
              </a:lnSpc>
              <a:buFont typeface="Wingdings" pitchFamily="2" charset="2"/>
              <a:buChar char="Ø"/>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26.3 </a:t>
            </a:r>
            <a:r>
              <a:rPr lang="zh-CN" altLang="en-US" sz="4800" b="1" dirty="0">
                <a:latin typeface="+mn-ea"/>
              </a:rPr>
              <a:t>有机化合物的分类</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lnSpc>
                <a:spcPct val="150000"/>
              </a:lnSpc>
              <a:buFont typeface="Wingdings" pitchFamily="2" charset="2"/>
              <a:buChar char="Ø"/>
            </a:pPr>
            <a:r>
              <a:rPr lang="zh-CN" altLang="en-US" sz="3000" dirty="0"/>
              <a:t>有机物的归类：</a:t>
            </a:r>
            <a:r>
              <a:rPr lang="zh-CN" altLang="en-US" sz="3000" b="1" dirty="0">
                <a:solidFill>
                  <a:srgbClr val="002060"/>
                </a:solidFill>
                <a:effectLst>
                  <a:outerShdw blurRad="38100" dist="38100" dir="2700000" algn="tl">
                    <a:srgbClr val="000000">
                      <a:alpha val="43137"/>
                    </a:srgbClr>
                  </a:outerShdw>
                </a:effectLst>
              </a:rPr>
              <a:t>官能团</a:t>
            </a:r>
            <a:r>
              <a:rPr lang="en-US" altLang="zh-CN" sz="3000" dirty="0"/>
              <a:t>,</a:t>
            </a:r>
            <a:r>
              <a:rPr lang="zh-CN" altLang="en-US" sz="2800" dirty="0"/>
              <a:t>性质</a:t>
            </a:r>
            <a:r>
              <a:rPr lang="en-US" altLang="zh-CN" sz="2800" dirty="0"/>
              <a:t>,</a:t>
            </a:r>
            <a:r>
              <a:rPr lang="zh-CN" altLang="en-US" sz="2800" dirty="0"/>
              <a:t>来源</a:t>
            </a:r>
            <a:r>
              <a:rPr lang="en-US" altLang="zh-CN" sz="2800" dirty="0"/>
              <a:t>,</a:t>
            </a:r>
            <a:r>
              <a:rPr lang="zh-CN" altLang="en-US" sz="2800" dirty="0"/>
              <a:t>分子大小</a:t>
            </a:r>
            <a:r>
              <a:rPr lang="en-US" altLang="zh-CN" sz="2800" dirty="0"/>
              <a:t>,</a:t>
            </a:r>
            <a:r>
              <a:rPr lang="zh-CN" altLang="en-US" sz="2800" dirty="0"/>
              <a:t>饱和性</a:t>
            </a:r>
            <a:endParaRPr lang="en-US" altLang="zh-CN" sz="3000" dirty="0"/>
          </a:p>
          <a:p>
            <a:pPr>
              <a:lnSpc>
                <a:spcPct val="150000"/>
              </a:lnSpc>
              <a:buFont typeface="Wingdings" pitchFamily="2" charset="2"/>
              <a:buChar char="Ø"/>
            </a:pPr>
            <a:r>
              <a:rPr lang="zh-CN" altLang="en-US" sz="3000" dirty="0"/>
              <a:t>有机物分为：脂肪族、芳香族</a:t>
            </a:r>
            <a:endParaRPr lang="en-US" altLang="zh-CN" sz="3000" dirty="0"/>
          </a:p>
          <a:p>
            <a:pPr lvl="1">
              <a:lnSpc>
                <a:spcPct val="150000"/>
              </a:lnSpc>
              <a:buFont typeface="Wingdings" pitchFamily="2" charset="2"/>
              <a:buChar char="Ø"/>
            </a:pPr>
            <a:r>
              <a:rPr lang="zh-CN" altLang="en-US" dirty="0"/>
              <a:t>脂肪族化合物：结构上不含苯环或其他芳香</a:t>
            </a:r>
            <a:r>
              <a:rPr lang="zh-TW" altLang="en-US" dirty="0"/>
              <a:t>环的</a:t>
            </a:r>
            <a:r>
              <a:rPr lang="zh-CN" altLang="en-US" dirty="0"/>
              <a:t>烃类</a:t>
            </a:r>
            <a:endParaRPr lang="en-US" altLang="zh-CN" dirty="0"/>
          </a:p>
          <a:p>
            <a:pPr lvl="1">
              <a:lnSpc>
                <a:spcPct val="150000"/>
              </a:lnSpc>
              <a:buFont typeface="Wingdings" pitchFamily="2" charset="2"/>
              <a:buChar char="Ø"/>
            </a:pPr>
            <a:r>
              <a:rPr lang="zh-CN" altLang="en-US" dirty="0"/>
              <a:t>芳香族化合物：具有苯环结构的化合物，它们结构稳定，不易分解，且毒性很强，会对环境造成严重的污染，对人体危害极大。</a:t>
            </a:r>
            <a:endParaRPr lang="en-US" altLang="zh-CN" dirty="0"/>
          </a:p>
          <a:p>
            <a:pPr>
              <a:lnSpc>
                <a:spcPct val="150000"/>
              </a:lnSpc>
              <a:buNone/>
            </a:pPr>
            <a:endParaRPr lang="en-US" altLang="zh-CN" sz="3000" dirty="0"/>
          </a:p>
        </p:txBody>
      </p:sp>
      <p:pic>
        <p:nvPicPr>
          <p:cNvPr id="6" name="Picture 5" descr="苯缩写.jpg"/>
          <p:cNvPicPr>
            <a:picLocks noChangeAspect="1"/>
          </p:cNvPicPr>
          <p:nvPr/>
        </p:nvPicPr>
        <p:blipFill>
          <a:blip r:embed="rId3"/>
          <a:stretch>
            <a:fillRect/>
          </a:stretch>
        </p:blipFill>
        <p:spPr>
          <a:xfrm>
            <a:off x="4343400" y="3124200"/>
            <a:ext cx="4025202" cy="2895600"/>
          </a:xfrm>
          <a:prstGeom prst="rect">
            <a:avLst/>
          </a:prstGeom>
        </p:spPr>
      </p:pic>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nodeType="clickEffect">
                                  <p:stCondLst>
                                    <p:cond delay="0"/>
                                  </p:stCondLst>
                                  <p:childTnLst>
                                    <p:animEffect transition="out" filter="blinds(horizontal)">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linds(horizontal)">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26.3 </a:t>
            </a:r>
            <a:r>
              <a:rPr lang="zh-CN" altLang="en-US" sz="4800" b="1" dirty="0">
                <a:latin typeface="+mn-ea"/>
              </a:rPr>
              <a:t>有机化合物的分类</a:t>
            </a:r>
            <a:endParaRPr lang="en-US" sz="4800" b="1" dirty="0"/>
          </a:p>
        </p:txBody>
      </p:sp>
      <p:pic>
        <p:nvPicPr>
          <p:cNvPr id="6" name="Content Placeholder 5" descr="fl.jpg"/>
          <p:cNvPicPr>
            <a:picLocks noGrp="1" noChangeAspect="1"/>
          </p:cNvPicPr>
          <p:nvPr>
            <p:ph idx="1"/>
          </p:nvPr>
        </p:nvPicPr>
        <p:blipFill>
          <a:blip r:embed="rId3"/>
          <a:stretch>
            <a:fillRect/>
          </a:stretch>
        </p:blipFill>
        <p:spPr>
          <a:xfrm>
            <a:off x="76200" y="874776"/>
            <a:ext cx="7791850" cy="5754624"/>
          </a:xfrm>
        </p:spPr>
      </p:pic>
      <p:sp>
        <p:nvSpPr>
          <p:cNvPr id="7" name="TextBox 6"/>
          <p:cNvSpPr txBox="1"/>
          <p:nvPr/>
        </p:nvSpPr>
        <p:spPr>
          <a:xfrm>
            <a:off x="7856468" y="1960602"/>
            <a:ext cx="1287532" cy="553998"/>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z="3000" b="1" dirty="0">
                <a:solidFill>
                  <a:srgbClr val="002060"/>
                </a:solidFill>
                <a:effectLst>
                  <a:outerShdw blurRad="38100" dist="38100" dir="2700000" algn="tl">
                    <a:srgbClr val="000000">
                      <a:alpha val="43137"/>
                    </a:srgbClr>
                  </a:outerShdw>
                </a:effectLst>
              </a:rPr>
              <a:t>C</a:t>
            </a:r>
            <a:r>
              <a:rPr lang="en-US" altLang="zh-CN" sz="3000" b="1" baseline="-25000" dirty="0">
                <a:solidFill>
                  <a:srgbClr val="002060"/>
                </a:solidFill>
                <a:effectLst>
                  <a:outerShdw blurRad="38100" dist="38100" dir="2700000" algn="tl">
                    <a:srgbClr val="000000">
                      <a:alpha val="43137"/>
                    </a:srgbClr>
                  </a:outerShdw>
                </a:effectLst>
              </a:rPr>
              <a:t>n</a:t>
            </a:r>
            <a:r>
              <a:rPr lang="en-US" altLang="zh-CN" sz="3000" b="1" dirty="0">
                <a:solidFill>
                  <a:srgbClr val="002060"/>
                </a:solidFill>
                <a:effectLst>
                  <a:outerShdw blurRad="38100" dist="38100" dir="2700000" algn="tl">
                    <a:srgbClr val="000000">
                      <a:alpha val="43137"/>
                    </a:srgbClr>
                  </a:outerShdw>
                </a:effectLst>
              </a:rPr>
              <a:t>H</a:t>
            </a:r>
            <a:r>
              <a:rPr lang="en-US" altLang="zh-CN" sz="3000" b="1" baseline="-25000" dirty="0">
                <a:solidFill>
                  <a:srgbClr val="002060"/>
                </a:solidFill>
                <a:effectLst>
                  <a:outerShdw blurRad="38100" dist="38100" dir="2700000" algn="tl">
                    <a:srgbClr val="000000">
                      <a:alpha val="43137"/>
                    </a:srgbClr>
                  </a:outerShdw>
                </a:effectLst>
              </a:rPr>
              <a:t>2n+2</a:t>
            </a:r>
            <a:endParaRPr lang="en-US" sz="3000" b="1" dirty="0">
              <a:solidFill>
                <a:srgbClr val="002060"/>
              </a:solidFill>
              <a:effectLst>
                <a:outerShdw blurRad="38100" dist="38100" dir="2700000" algn="tl">
                  <a:srgbClr val="000000">
                    <a:alpha val="43137"/>
                  </a:srgbClr>
                </a:outerShdw>
              </a:effectLst>
            </a:endParaRPr>
          </a:p>
        </p:txBody>
      </p:sp>
      <p:sp>
        <p:nvSpPr>
          <p:cNvPr id="8" name="TextBox 7"/>
          <p:cNvSpPr txBox="1"/>
          <p:nvPr/>
        </p:nvSpPr>
        <p:spPr>
          <a:xfrm>
            <a:off x="7848600" y="2646402"/>
            <a:ext cx="1035861" cy="553998"/>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z="3000" b="1" dirty="0">
                <a:solidFill>
                  <a:srgbClr val="002060"/>
                </a:solidFill>
                <a:effectLst>
                  <a:outerShdw blurRad="38100" dist="38100" dir="2700000" algn="tl">
                    <a:srgbClr val="000000">
                      <a:alpha val="43137"/>
                    </a:srgbClr>
                  </a:outerShdw>
                </a:effectLst>
              </a:rPr>
              <a:t>C</a:t>
            </a:r>
            <a:r>
              <a:rPr lang="en-US" altLang="zh-CN" sz="3000" b="1" baseline="-25000" dirty="0">
                <a:solidFill>
                  <a:srgbClr val="002060"/>
                </a:solidFill>
                <a:effectLst>
                  <a:outerShdw blurRad="38100" dist="38100" dir="2700000" algn="tl">
                    <a:srgbClr val="000000">
                      <a:alpha val="43137"/>
                    </a:srgbClr>
                  </a:outerShdw>
                </a:effectLst>
              </a:rPr>
              <a:t>n</a:t>
            </a:r>
            <a:r>
              <a:rPr lang="en-US" altLang="zh-CN" sz="3000" b="1" dirty="0">
                <a:solidFill>
                  <a:srgbClr val="002060"/>
                </a:solidFill>
                <a:effectLst>
                  <a:outerShdw blurRad="38100" dist="38100" dir="2700000" algn="tl">
                    <a:srgbClr val="000000">
                      <a:alpha val="43137"/>
                    </a:srgbClr>
                  </a:outerShdw>
                </a:effectLst>
              </a:rPr>
              <a:t>H</a:t>
            </a:r>
            <a:r>
              <a:rPr lang="en-US" altLang="zh-CN" sz="3000" b="1" baseline="-25000" dirty="0">
                <a:solidFill>
                  <a:srgbClr val="002060"/>
                </a:solidFill>
                <a:effectLst>
                  <a:outerShdw blurRad="38100" dist="38100" dir="2700000" algn="tl">
                    <a:srgbClr val="000000">
                      <a:alpha val="43137"/>
                    </a:srgbClr>
                  </a:outerShdw>
                </a:effectLst>
              </a:rPr>
              <a:t>2n</a:t>
            </a:r>
            <a:endParaRPr lang="en-US" sz="3000" b="1" dirty="0">
              <a:solidFill>
                <a:srgbClr val="002060"/>
              </a:solidFill>
              <a:effectLst>
                <a:outerShdw blurRad="38100" dist="38100" dir="2700000" algn="tl">
                  <a:srgbClr val="000000">
                    <a:alpha val="43137"/>
                  </a:srgbClr>
                </a:outerShdw>
              </a:effectLst>
            </a:endParaRPr>
          </a:p>
        </p:txBody>
      </p:sp>
      <p:sp>
        <p:nvSpPr>
          <p:cNvPr id="9" name="TextBox 8"/>
          <p:cNvSpPr txBox="1"/>
          <p:nvPr/>
        </p:nvSpPr>
        <p:spPr>
          <a:xfrm>
            <a:off x="7848600" y="3332202"/>
            <a:ext cx="1244251" cy="553998"/>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sz="3000" b="1" dirty="0">
                <a:solidFill>
                  <a:srgbClr val="002060"/>
                </a:solidFill>
                <a:effectLst>
                  <a:outerShdw blurRad="38100" dist="38100" dir="2700000" algn="tl">
                    <a:srgbClr val="000000">
                      <a:alpha val="43137"/>
                    </a:srgbClr>
                  </a:outerShdw>
                </a:effectLst>
              </a:rPr>
              <a:t>C</a:t>
            </a:r>
            <a:r>
              <a:rPr lang="en-US" altLang="zh-CN" sz="3000" b="1" baseline="-25000" dirty="0">
                <a:solidFill>
                  <a:srgbClr val="002060"/>
                </a:solidFill>
                <a:effectLst>
                  <a:outerShdw blurRad="38100" dist="38100" dir="2700000" algn="tl">
                    <a:srgbClr val="000000">
                      <a:alpha val="43137"/>
                    </a:srgbClr>
                  </a:outerShdw>
                </a:effectLst>
              </a:rPr>
              <a:t>n</a:t>
            </a:r>
            <a:r>
              <a:rPr lang="en-US" altLang="zh-CN" sz="3000" b="1" dirty="0">
                <a:solidFill>
                  <a:srgbClr val="002060"/>
                </a:solidFill>
                <a:effectLst>
                  <a:outerShdw blurRad="38100" dist="38100" dir="2700000" algn="tl">
                    <a:srgbClr val="000000">
                      <a:alpha val="43137"/>
                    </a:srgbClr>
                  </a:outerShdw>
                </a:effectLst>
              </a:rPr>
              <a:t>H</a:t>
            </a:r>
            <a:r>
              <a:rPr lang="en-US" altLang="zh-CN" sz="3000" b="1" baseline="-25000" dirty="0">
                <a:solidFill>
                  <a:srgbClr val="002060"/>
                </a:solidFill>
                <a:effectLst>
                  <a:outerShdw blurRad="38100" dist="38100" dir="2700000" algn="tl">
                    <a:srgbClr val="000000">
                      <a:alpha val="43137"/>
                    </a:srgbClr>
                  </a:outerShdw>
                </a:effectLst>
              </a:rPr>
              <a:t>2n-2</a:t>
            </a:r>
            <a:endParaRPr lang="en-US" sz="3000" b="1" dirty="0">
              <a:solidFill>
                <a:srgbClr val="002060"/>
              </a:solidFill>
              <a:effectLst>
                <a:outerShdw blurRad="38100" dist="38100" dir="2700000" algn="tl">
                  <a:srgbClr val="000000">
                    <a:alpha val="43137"/>
                  </a:srgbClr>
                </a:outerShdw>
              </a:effectLst>
            </a:endParaRPr>
          </a:p>
        </p:txBody>
      </p:sp>
      <p:sp>
        <p:nvSpPr>
          <p:cNvPr id="10" name="TextBox 9"/>
          <p:cNvSpPr txBox="1"/>
          <p:nvPr/>
        </p:nvSpPr>
        <p:spPr>
          <a:xfrm>
            <a:off x="2209800" y="3927157"/>
            <a:ext cx="906017" cy="492443"/>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500" b="1" dirty="0">
                <a:solidFill>
                  <a:schemeClr val="tx1"/>
                </a:solidFill>
              </a:rPr>
              <a:t>苯基</a:t>
            </a:r>
            <a:endParaRPr lang="en-US" sz="2500" b="1" dirty="0">
              <a:solidFill>
                <a:schemeClr val="tx1"/>
              </a:solidFill>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24.3 </a:t>
            </a:r>
            <a:r>
              <a:rPr lang="zh-CN" altLang="en-US" sz="4800" b="1" dirty="0">
                <a:latin typeface="+mn-ea"/>
              </a:rPr>
              <a:t>有机化合物的分类</a:t>
            </a:r>
            <a:endParaRPr lang="en-US" sz="4800" b="1" dirty="0"/>
          </a:p>
        </p:txBody>
      </p:sp>
      <p:pic>
        <p:nvPicPr>
          <p:cNvPr id="6" name="Content Placeholder 5" descr="fl.jpg"/>
          <p:cNvPicPr>
            <a:picLocks noGrp="1" noChangeAspect="1"/>
          </p:cNvPicPr>
          <p:nvPr>
            <p:ph idx="1"/>
          </p:nvPr>
        </p:nvPicPr>
        <p:blipFill>
          <a:blip r:embed="rId3"/>
          <a:srcRect t="33792" b="13242"/>
          <a:stretch>
            <a:fillRect/>
          </a:stretch>
        </p:blipFill>
        <p:spPr>
          <a:xfrm>
            <a:off x="889544" y="914400"/>
            <a:ext cx="7035985" cy="4267200"/>
          </a:xfrm>
        </p:spPr>
      </p:pic>
      <p:sp>
        <p:nvSpPr>
          <p:cNvPr id="7" name="TextBox 6"/>
          <p:cNvSpPr txBox="1"/>
          <p:nvPr/>
        </p:nvSpPr>
        <p:spPr>
          <a:xfrm>
            <a:off x="2518574" y="1411069"/>
            <a:ext cx="413896" cy="646331"/>
          </a:xfrm>
          <a:prstGeom prst="rect">
            <a:avLst/>
          </a:prstGeom>
          <a:noFill/>
        </p:spPr>
        <p:txBody>
          <a:bodyPr wrap="none" rtlCol="0">
            <a:spAutoFit/>
          </a:bodyPr>
          <a:lstStyle/>
          <a:p>
            <a:r>
              <a:rPr lang="en-US" altLang="zh-CN" sz="3600" dirty="0"/>
              <a:t>=</a:t>
            </a:r>
            <a:endParaRPr lang="en-US" sz="3600" dirty="0"/>
          </a:p>
        </p:txBody>
      </p:sp>
      <p:sp>
        <p:nvSpPr>
          <p:cNvPr id="8" name="TextBox 7"/>
          <p:cNvSpPr txBox="1"/>
          <p:nvPr/>
        </p:nvSpPr>
        <p:spPr>
          <a:xfrm>
            <a:off x="2514600" y="2173069"/>
            <a:ext cx="413896" cy="646331"/>
          </a:xfrm>
          <a:prstGeom prst="rect">
            <a:avLst/>
          </a:prstGeom>
          <a:noFill/>
        </p:spPr>
        <p:txBody>
          <a:bodyPr wrap="none" rtlCol="0">
            <a:spAutoFit/>
          </a:bodyPr>
          <a:lstStyle/>
          <a:p>
            <a:r>
              <a:rPr lang="en-US" altLang="zh-CN" sz="3600" dirty="0"/>
              <a:t>=</a:t>
            </a:r>
            <a:endParaRPr lang="en-US" sz="3600" dirty="0"/>
          </a:p>
        </p:txBody>
      </p:sp>
      <p:sp>
        <p:nvSpPr>
          <p:cNvPr id="9" name="TextBox 8"/>
          <p:cNvSpPr txBox="1"/>
          <p:nvPr/>
        </p:nvSpPr>
        <p:spPr>
          <a:xfrm rot="5400000">
            <a:off x="2338041" y="3800761"/>
            <a:ext cx="389850" cy="584775"/>
          </a:xfrm>
          <a:prstGeom prst="rect">
            <a:avLst/>
          </a:prstGeom>
          <a:noFill/>
        </p:spPr>
        <p:txBody>
          <a:bodyPr wrap="none" rtlCol="0">
            <a:spAutoFit/>
          </a:bodyPr>
          <a:lstStyle/>
          <a:p>
            <a:r>
              <a:rPr lang="en-US" altLang="zh-CN" sz="3200" dirty="0"/>
              <a:t>=</a:t>
            </a:r>
            <a:endParaRPr lang="en-US" sz="3200" dirty="0"/>
          </a:p>
        </p:txBody>
      </p:sp>
      <p:sp>
        <p:nvSpPr>
          <p:cNvPr id="10" name="TextBox 9"/>
          <p:cNvSpPr txBox="1"/>
          <p:nvPr/>
        </p:nvSpPr>
        <p:spPr>
          <a:xfrm>
            <a:off x="1066800" y="1336357"/>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醛</a:t>
            </a:r>
            <a:endParaRPr lang="en-US" sz="2400" b="1" dirty="0">
              <a:solidFill>
                <a:schemeClr val="tx1"/>
              </a:solidFill>
            </a:endParaRPr>
          </a:p>
        </p:txBody>
      </p:sp>
      <p:sp>
        <p:nvSpPr>
          <p:cNvPr id="11" name="TextBox 10"/>
          <p:cNvSpPr txBox="1"/>
          <p:nvPr/>
        </p:nvSpPr>
        <p:spPr>
          <a:xfrm>
            <a:off x="4504183" y="1295400"/>
            <a:ext cx="8298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醛基</a:t>
            </a:r>
            <a:endParaRPr lang="en-US" sz="2400" b="1" dirty="0">
              <a:solidFill>
                <a:schemeClr val="tx1"/>
              </a:solidFill>
            </a:endParaRPr>
          </a:p>
        </p:txBody>
      </p:sp>
      <p:sp>
        <p:nvSpPr>
          <p:cNvPr id="13" name="TextBox 12"/>
          <p:cNvSpPr txBox="1"/>
          <p:nvPr/>
        </p:nvSpPr>
        <p:spPr>
          <a:xfrm>
            <a:off x="1066800" y="2357735"/>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酮</a:t>
            </a:r>
            <a:endParaRPr lang="en-US" sz="2400" b="1" dirty="0">
              <a:solidFill>
                <a:schemeClr val="tx1"/>
              </a:solidFill>
            </a:endParaRPr>
          </a:p>
        </p:txBody>
      </p:sp>
      <p:sp>
        <p:nvSpPr>
          <p:cNvPr id="14" name="TextBox 13"/>
          <p:cNvSpPr txBox="1"/>
          <p:nvPr/>
        </p:nvSpPr>
        <p:spPr>
          <a:xfrm>
            <a:off x="4504183" y="2316778"/>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酮基</a:t>
            </a:r>
            <a:endParaRPr lang="en-US" sz="2400" b="1" dirty="0">
              <a:solidFill>
                <a:schemeClr val="tx1"/>
              </a:solidFill>
            </a:endParaRPr>
          </a:p>
        </p:txBody>
      </p:sp>
      <p:sp>
        <p:nvSpPr>
          <p:cNvPr id="15" name="TextBox 14"/>
          <p:cNvSpPr txBox="1"/>
          <p:nvPr/>
        </p:nvSpPr>
        <p:spPr>
          <a:xfrm>
            <a:off x="1066800" y="3119735"/>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羧酸</a:t>
            </a:r>
            <a:endParaRPr lang="en-US" sz="2400" b="1" dirty="0">
              <a:solidFill>
                <a:schemeClr val="tx1"/>
              </a:solidFill>
            </a:endParaRPr>
          </a:p>
        </p:txBody>
      </p:sp>
      <p:sp>
        <p:nvSpPr>
          <p:cNvPr id="16" name="TextBox 15"/>
          <p:cNvSpPr txBox="1"/>
          <p:nvPr/>
        </p:nvSpPr>
        <p:spPr>
          <a:xfrm>
            <a:off x="4504183" y="3078778"/>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羧基</a:t>
            </a:r>
            <a:endParaRPr lang="en-US" sz="2400" b="1" dirty="0">
              <a:solidFill>
                <a:schemeClr val="tx1"/>
              </a:solidFill>
            </a:endParaRPr>
          </a:p>
        </p:txBody>
      </p:sp>
      <p:sp>
        <p:nvSpPr>
          <p:cNvPr id="17" name="TextBox 16"/>
          <p:cNvSpPr txBox="1"/>
          <p:nvPr/>
        </p:nvSpPr>
        <p:spPr>
          <a:xfrm>
            <a:off x="1066800" y="3805535"/>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酯</a:t>
            </a:r>
            <a:endParaRPr lang="en-US" sz="2400" b="1" dirty="0">
              <a:solidFill>
                <a:schemeClr val="tx1"/>
              </a:solidFill>
            </a:endParaRPr>
          </a:p>
        </p:txBody>
      </p:sp>
      <p:sp>
        <p:nvSpPr>
          <p:cNvPr id="18" name="TextBox 17"/>
          <p:cNvSpPr txBox="1"/>
          <p:nvPr/>
        </p:nvSpPr>
        <p:spPr>
          <a:xfrm>
            <a:off x="4808983" y="3897868"/>
            <a:ext cx="677417" cy="36933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solidFill>
                  <a:schemeClr val="tx1"/>
                </a:solidFill>
              </a:rPr>
              <a:t>酯基</a:t>
            </a:r>
            <a:endParaRPr lang="en-US" b="1" dirty="0">
              <a:solidFill>
                <a:schemeClr val="tx1"/>
              </a:solidFill>
            </a:endParaRPr>
          </a:p>
        </p:txBody>
      </p:sp>
      <p:sp>
        <p:nvSpPr>
          <p:cNvPr id="19" name="TextBox 18"/>
          <p:cNvSpPr txBox="1"/>
          <p:nvPr/>
        </p:nvSpPr>
        <p:spPr>
          <a:xfrm>
            <a:off x="1143000" y="4643735"/>
            <a:ext cx="906017"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b="1" dirty="0">
                <a:solidFill>
                  <a:schemeClr val="tx1"/>
                </a:solidFill>
              </a:rPr>
              <a:t>胺</a:t>
            </a:r>
            <a:endParaRPr lang="en-US" sz="2400" b="1" dirty="0">
              <a:solidFill>
                <a:schemeClr val="tx1"/>
              </a:solidFill>
            </a:endParaRPr>
          </a:p>
        </p:txBody>
      </p:sp>
      <p:sp>
        <p:nvSpPr>
          <p:cNvPr id="20" name="TextBox 19"/>
          <p:cNvSpPr txBox="1"/>
          <p:nvPr/>
        </p:nvSpPr>
        <p:spPr>
          <a:xfrm>
            <a:off x="3056383" y="4648200"/>
            <a:ext cx="677417" cy="36933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b="1" dirty="0">
                <a:solidFill>
                  <a:schemeClr val="tx1"/>
                </a:solidFill>
              </a:rPr>
              <a:t>胺基</a:t>
            </a:r>
            <a:endParaRPr lang="en-US" b="1" dirty="0">
              <a:solidFill>
                <a:schemeClr val="tx1"/>
              </a:solidFill>
            </a:endParaRPr>
          </a:p>
        </p:txBody>
      </p:sp>
      <p:sp>
        <p:nvSpPr>
          <p:cNvPr id="21" name="TextBox 20"/>
          <p:cNvSpPr txBox="1"/>
          <p:nvPr/>
        </p:nvSpPr>
        <p:spPr>
          <a:xfrm>
            <a:off x="2370583" y="4629090"/>
            <a:ext cx="753617" cy="400110"/>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000" b="1" dirty="0">
                <a:solidFill>
                  <a:schemeClr val="tx1"/>
                </a:solidFill>
              </a:rPr>
              <a:t>NH</a:t>
            </a:r>
            <a:r>
              <a:rPr lang="en-US" altLang="zh-CN" sz="2000" b="1" baseline="-25000" dirty="0">
                <a:solidFill>
                  <a:schemeClr val="tx1"/>
                </a:solidFill>
              </a:rPr>
              <a:t>2</a:t>
            </a:r>
            <a:endParaRPr lang="en-US" sz="2000" b="1" dirty="0">
              <a:solidFill>
                <a:schemeClr val="tx1"/>
              </a:solidFill>
            </a:endParaRPr>
          </a:p>
        </p:txBody>
      </p:sp>
      <p:sp>
        <p:nvSpPr>
          <p:cNvPr id="22" name="TextBox 21"/>
          <p:cNvSpPr txBox="1"/>
          <p:nvPr/>
        </p:nvSpPr>
        <p:spPr>
          <a:xfrm>
            <a:off x="381000" y="5329535"/>
            <a:ext cx="8229600" cy="1015663"/>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000" dirty="0">
                <a:solidFill>
                  <a:schemeClr val="tx1"/>
                </a:solidFill>
              </a:rPr>
              <a:t>-R    : </a:t>
            </a:r>
            <a:r>
              <a:rPr lang="zh-CN" altLang="en-US" sz="3000" dirty="0"/>
              <a:t>烷基是一类仅含有碳、氢两种原子的链状有机官能团。 通式为</a:t>
            </a:r>
            <a:r>
              <a:rPr lang="en-US" altLang="zh-CN" sz="3000" dirty="0"/>
              <a:t>C</a:t>
            </a:r>
            <a:r>
              <a:rPr lang="en-US" altLang="zh-CN" sz="3000" baseline="-25000" dirty="0"/>
              <a:t>n</a:t>
            </a:r>
            <a:r>
              <a:rPr lang="en-US" altLang="zh-CN" sz="3000" dirty="0"/>
              <a:t>H</a:t>
            </a:r>
            <a:r>
              <a:rPr lang="en-US" altLang="zh-CN" sz="3000" baseline="-25000" dirty="0"/>
              <a:t>2n+1</a:t>
            </a:r>
            <a:r>
              <a:rPr lang="zh-CN" altLang="en-US" sz="3000" dirty="0"/>
              <a:t>。</a:t>
            </a:r>
            <a:endParaRPr lang="en-US" sz="3000" dirty="0">
              <a:solidFill>
                <a:schemeClr val="tx1"/>
              </a:solidFill>
            </a:endParaRPr>
          </a:p>
        </p:txBody>
      </p:sp>
    </p:spTree>
    <p:extLst>
      <p:ext uri="{BB962C8B-B14F-4D97-AF65-F5344CB8AC3E}">
        <p14:creationId xmlns:p14="http://schemas.microsoft.com/office/powerpoint/2010/main" val="400143892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26.3 </a:t>
            </a:r>
            <a:r>
              <a:rPr lang="zh-CN" altLang="en-US" sz="4800" b="1" dirty="0">
                <a:latin typeface="+mn-ea"/>
              </a:rPr>
              <a:t>有机化合物的分类</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buNone/>
            </a:pPr>
            <a:r>
              <a:rPr lang="zh-CN" altLang="en-US" sz="3000" dirty="0"/>
              <a:t>交流分享</a:t>
            </a:r>
            <a:endParaRPr lang="en-US" altLang="zh-CN" sz="3000" dirty="0"/>
          </a:p>
          <a:p>
            <a:pPr marL="514350" indent="-514350">
              <a:buNone/>
            </a:pPr>
            <a:r>
              <a:rPr lang="en-US" altLang="zh-CN" sz="3000" dirty="0"/>
              <a:t>1. </a:t>
            </a:r>
            <a:r>
              <a:rPr lang="zh-CN" altLang="en-US" sz="3000" dirty="0"/>
              <a:t>醇</a:t>
            </a:r>
            <a:r>
              <a:rPr lang="en-US" altLang="zh-CN" sz="3000" dirty="0"/>
              <a:t>				2. </a:t>
            </a:r>
            <a:r>
              <a:rPr lang="zh-CN" altLang="en-US" sz="3000" dirty="0"/>
              <a:t>烯</a:t>
            </a:r>
            <a:endParaRPr lang="en-US" altLang="zh-CN" sz="3000" dirty="0"/>
          </a:p>
          <a:p>
            <a:pPr marL="514350" indent="-514350">
              <a:buNone/>
            </a:pPr>
            <a:r>
              <a:rPr lang="en-US" altLang="zh-CN" sz="3000" dirty="0"/>
              <a:t>3. </a:t>
            </a:r>
            <a:r>
              <a:rPr lang="zh-CN" altLang="en-US" sz="3000" dirty="0"/>
              <a:t>卤代烷（烃）</a:t>
            </a:r>
            <a:r>
              <a:rPr lang="en-US" altLang="zh-CN" sz="3000" dirty="0"/>
              <a:t>		4. </a:t>
            </a:r>
            <a:r>
              <a:rPr lang="zh-CN" altLang="en-US" sz="3000" dirty="0"/>
              <a:t>酰卤</a:t>
            </a:r>
            <a:endParaRPr lang="en-US" altLang="zh-CN" sz="3000" dirty="0"/>
          </a:p>
          <a:p>
            <a:pPr marL="514350" indent="-514350">
              <a:buNone/>
            </a:pPr>
            <a:r>
              <a:rPr lang="en-US" altLang="zh-CN" sz="3000" dirty="0"/>
              <a:t>5. </a:t>
            </a:r>
            <a:r>
              <a:rPr lang="zh-CN" altLang="en-US" sz="3000" dirty="0"/>
              <a:t>胺</a:t>
            </a:r>
            <a:r>
              <a:rPr lang="en-US" altLang="zh-CN" sz="3000" dirty="0"/>
              <a:t>				6. </a:t>
            </a:r>
            <a:r>
              <a:rPr lang="zh-CN" altLang="en-US" sz="3000" dirty="0"/>
              <a:t>胺</a:t>
            </a:r>
            <a:endParaRPr lang="en-US" altLang="zh-CN" sz="3000" dirty="0"/>
          </a:p>
          <a:p>
            <a:pPr marL="514350" indent="-514350">
              <a:buNone/>
            </a:pPr>
            <a:r>
              <a:rPr lang="en-US" altLang="zh-CN" sz="3000" dirty="0"/>
              <a:t>7. </a:t>
            </a:r>
            <a:r>
              <a:rPr lang="zh-CN" altLang="en-US" sz="3000" dirty="0"/>
              <a:t>腈</a:t>
            </a:r>
            <a:r>
              <a:rPr lang="en-US" altLang="zh-CN" sz="3000" dirty="0"/>
              <a:t>				8. </a:t>
            </a:r>
            <a:r>
              <a:rPr lang="zh-CN" altLang="en-US" sz="3000" dirty="0"/>
              <a:t>酮</a:t>
            </a:r>
            <a:endParaRPr lang="en-US" altLang="zh-CN" sz="3000" dirty="0"/>
          </a:p>
          <a:p>
            <a:pPr marL="514350" indent="-514350">
              <a:buNone/>
            </a:pPr>
            <a:r>
              <a:rPr lang="en-US" altLang="zh-CN" sz="3000" dirty="0"/>
              <a:t>9. </a:t>
            </a:r>
            <a:r>
              <a:rPr lang="zh-CN" altLang="en-US" sz="3000" dirty="0"/>
              <a:t>醛</a:t>
            </a:r>
            <a:r>
              <a:rPr lang="en-US" altLang="zh-CN" sz="3000" dirty="0"/>
              <a:t>				10. </a:t>
            </a:r>
            <a:r>
              <a:rPr lang="zh-CN" altLang="en-US" sz="3000" dirty="0"/>
              <a:t>卤代芳烃</a:t>
            </a:r>
            <a:endParaRPr lang="en-US" altLang="zh-CN" sz="3000" dirty="0"/>
          </a:p>
          <a:p>
            <a:pPr marL="514350" indent="-514350">
              <a:buNone/>
            </a:pPr>
            <a:r>
              <a:rPr lang="en-US" altLang="zh-CN" sz="3000" dirty="0"/>
              <a:t>11. </a:t>
            </a:r>
            <a:r>
              <a:rPr lang="zh-CN" altLang="en-US" sz="3000" dirty="0"/>
              <a:t>羧酸</a:t>
            </a:r>
            <a:r>
              <a:rPr lang="en-US" altLang="zh-CN" sz="3000" dirty="0"/>
              <a:t>			12. </a:t>
            </a:r>
            <a:r>
              <a:rPr lang="zh-CN" altLang="en-US" sz="3000" dirty="0"/>
              <a:t>酚</a:t>
            </a:r>
            <a:endParaRPr lang="en-US" altLang="zh-CN" sz="3000" dirty="0"/>
          </a:p>
          <a:p>
            <a:pPr marL="514350" indent="-514350">
              <a:buNone/>
            </a:pPr>
            <a:r>
              <a:rPr lang="en-US" altLang="zh-CN" sz="3000" dirty="0"/>
              <a:t>13. </a:t>
            </a:r>
            <a:r>
              <a:rPr lang="zh-CN" altLang="en-US" sz="3000" dirty="0"/>
              <a:t>酰胺</a:t>
            </a:r>
            <a:r>
              <a:rPr lang="en-US" altLang="zh-CN" sz="3000" dirty="0"/>
              <a:t>			14. </a:t>
            </a:r>
            <a:r>
              <a:rPr lang="zh-CN" altLang="en-US" sz="3000" dirty="0"/>
              <a:t>酯</a:t>
            </a:r>
            <a:endParaRPr lang="en-US" altLang="zh-CN" sz="3000" dirty="0"/>
          </a:p>
          <a:p>
            <a:pPr marL="514350" indent="-514350">
              <a:buNone/>
            </a:pPr>
            <a:r>
              <a:rPr lang="en-US" altLang="zh-CN" sz="3000" dirty="0"/>
              <a:t>15. </a:t>
            </a:r>
            <a:r>
              <a:rPr lang="zh-CN" altLang="en-US" sz="3000" dirty="0"/>
              <a:t>醇</a:t>
            </a:r>
            <a:r>
              <a:rPr lang="en-US" altLang="zh-CN" sz="3000" dirty="0"/>
              <a:t>			16. </a:t>
            </a:r>
            <a:r>
              <a:rPr lang="zh-CN" altLang="en-US" sz="3000" dirty="0"/>
              <a:t>酮</a:t>
            </a:r>
            <a:endParaRPr lang="en-US" altLang="zh-CN" sz="3000" dirty="0"/>
          </a:p>
          <a:p>
            <a:pPr marL="514350" indent="-514350">
              <a:buNone/>
            </a:pPr>
            <a:r>
              <a:rPr lang="en-US" altLang="zh-CN" sz="3000" dirty="0"/>
              <a:t>17. </a:t>
            </a:r>
            <a:r>
              <a:rPr lang="zh-CN" altLang="en-US" sz="3000" dirty="0"/>
              <a:t>环烯烃</a:t>
            </a:r>
            <a:r>
              <a:rPr lang="en-US" altLang="zh-CN" sz="3000" dirty="0"/>
              <a:t>			18. </a:t>
            </a:r>
            <a:r>
              <a:rPr lang="zh-CN" altLang="en-US" sz="3000" dirty="0"/>
              <a:t>酐</a:t>
            </a:r>
            <a:endParaRPr lang="en-US" altLang="zh-CN" sz="3000" dirty="0"/>
          </a:p>
          <a:p>
            <a:pPr>
              <a:buNone/>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linds(horizontal)">
                                      <p:cBhvr>
                                        <p:cTn id="30" dur="500"/>
                                        <p:tgtEl>
                                          <p:spTgt spid="3">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blinds(horizontal)">
                                      <p:cBhvr>
                                        <p:cTn id="33" dur="500"/>
                                        <p:tgtEl>
                                          <p:spTgt spid="3">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blinds(horizontal)">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26.3 </a:t>
            </a:r>
            <a:r>
              <a:rPr lang="zh-CN" altLang="en-US" sz="4800" b="1" dirty="0">
                <a:latin typeface="+mn-ea"/>
              </a:rPr>
              <a:t>有机化合物的分类</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buNone/>
            </a:pPr>
            <a:r>
              <a:rPr lang="zh-CN" altLang="en-US" sz="3000" dirty="0"/>
              <a:t>交流分享</a:t>
            </a:r>
            <a:r>
              <a:rPr lang="zh-CN" altLang="en-US" sz="3000" b="1" dirty="0">
                <a:solidFill>
                  <a:srgbClr val="7030A0"/>
                </a:solidFill>
                <a:effectLst>
                  <a:outerShdw blurRad="38100" dist="38100" dir="2700000" algn="tl">
                    <a:srgbClr val="000000">
                      <a:alpha val="43137"/>
                    </a:srgbClr>
                  </a:outerShdw>
                </a:effectLst>
              </a:rPr>
              <a:t>（学完下册后回来命名）</a:t>
            </a:r>
            <a:endParaRPr lang="en-US" altLang="zh-CN" sz="3000" b="1" dirty="0">
              <a:solidFill>
                <a:srgbClr val="7030A0"/>
              </a:solidFill>
              <a:effectLst>
                <a:outerShdw blurRad="38100" dist="38100" dir="2700000" algn="tl">
                  <a:srgbClr val="000000">
                    <a:alpha val="43137"/>
                  </a:srgbClr>
                </a:outerShdw>
              </a:effectLst>
            </a:endParaRPr>
          </a:p>
          <a:p>
            <a:pPr marL="514350" indent="-514350">
              <a:buNone/>
            </a:pPr>
            <a:r>
              <a:rPr lang="en-US" altLang="zh-CN" sz="3000" dirty="0"/>
              <a:t>1. 2-</a:t>
            </a:r>
            <a:r>
              <a:rPr lang="zh-CN" altLang="en-US" sz="3000" dirty="0"/>
              <a:t>丙醇</a:t>
            </a:r>
            <a:r>
              <a:rPr lang="en-US" altLang="zh-CN" sz="3000" dirty="0"/>
              <a:t>			2. 2-</a:t>
            </a:r>
            <a:r>
              <a:rPr lang="zh-CN" altLang="en-US" sz="3000" dirty="0"/>
              <a:t>丁烯</a:t>
            </a:r>
            <a:endParaRPr lang="en-US" altLang="zh-CN" sz="3000" dirty="0"/>
          </a:p>
          <a:p>
            <a:pPr marL="514350" indent="-514350">
              <a:buNone/>
            </a:pPr>
            <a:r>
              <a:rPr lang="en-US" altLang="zh-CN" sz="3000" dirty="0"/>
              <a:t>3. 2-</a:t>
            </a:r>
            <a:r>
              <a:rPr lang="zh-CN" altLang="en-US" sz="3000" dirty="0"/>
              <a:t>氯丙烷</a:t>
            </a:r>
            <a:r>
              <a:rPr lang="en-US" altLang="zh-CN" sz="3000" dirty="0"/>
              <a:t>		4. </a:t>
            </a:r>
            <a:r>
              <a:rPr lang="zh-CN" altLang="en-US" sz="3000" dirty="0"/>
              <a:t>丙酰氯</a:t>
            </a:r>
            <a:endParaRPr lang="en-US" altLang="zh-CN" sz="3000" dirty="0"/>
          </a:p>
          <a:p>
            <a:pPr marL="514350" indent="-514350">
              <a:buNone/>
            </a:pPr>
            <a:r>
              <a:rPr lang="en-US" altLang="zh-CN" sz="3000" dirty="0"/>
              <a:t>5. 1-</a:t>
            </a:r>
            <a:r>
              <a:rPr lang="zh-CN" altLang="en-US" sz="3000" dirty="0"/>
              <a:t>丙胺</a:t>
            </a:r>
            <a:r>
              <a:rPr lang="en-US" altLang="zh-CN" sz="3000" dirty="0"/>
              <a:t>			6. </a:t>
            </a:r>
            <a:r>
              <a:rPr lang="zh-CN" altLang="en-US" sz="3000" dirty="0"/>
              <a:t>苯胺</a:t>
            </a:r>
            <a:r>
              <a:rPr lang="en-US" altLang="zh-CN" sz="3000" dirty="0"/>
              <a:t>/</a:t>
            </a:r>
            <a:r>
              <a:rPr lang="zh-CN" altLang="en-US" sz="3000" dirty="0"/>
              <a:t>胺基苯</a:t>
            </a:r>
            <a:endParaRPr lang="en-US" altLang="zh-CN" sz="3000" dirty="0"/>
          </a:p>
          <a:p>
            <a:pPr marL="514350" indent="-514350">
              <a:buNone/>
            </a:pPr>
            <a:r>
              <a:rPr lang="en-US" altLang="zh-CN" sz="3000" dirty="0"/>
              <a:t>7. </a:t>
            </a:r>
            <a:r>
              <a:rPr lang="zh-CN" altLang="en-US" sz="3000" dirty="0"/>
              <a:t>乙腈</a:t>
            </a:r>
            <a:r>
              <a:rPr lang="en-US" altLang="zh-CN" sz="3000" dirty="0"/>
              <a:t>			8. </a:t>
            </a:r>
            <a:r>
              <a:rPr lang="zh-CN" altLang="en-US" sz="3000" dirty="0"/>
              <a:t>丁酮</a:t>
            </a:r>
            <a:endParaRPr lang="en-US" altLang="zh-CN" sz="3000" dirty="0"/>
          </a:p>
          <a:p>
            <a:pPr marL="514350" indent="-514350">
              <a:buNone/>
            </a:pPr>
            <a:r>
              <a:rPr lang="en-US" altLang="zh-CN" sz="3000" dirty="0"/>
              <a:t>9. </a:t>
            </a:r>
            <a:r>
              <a:rPr lang="zh-CN" altLang="en-US" sz="3000" dirty="0"/>
              <a:t>丙醛</a:t>
            </a:r>
            <a:r>
              <a:rPr lang="en-US" altLang="zh-CN" sz="3000" dirty="0"/>
              <a:t>			10. </a:t>
            </a:r>
            <a:r>
              <a:rPr lang="zh-CN" altLang="en-US" sz="3000" dirty="0"/>
              <a:t>碘苯</a:t>
            </a:r>
            <a:endParaRPr lang="en-US" altLang="zh-CN" sz="3000" dirty="0"/>
          </a:p>
          <a:p>
            <a:pPr marL="514350" indent="-514350">
              <a:buNone/>
            </a:pPr>
            <a:r>
              <a:rPr lang="en-US" altLang="zh-CN" sz="3000" dirty="0"/>
              <a:t>11. </a:t>
            </a:r>
            <a:r>
              <a:rPr lang="zh-CN" altLang="en-US" sz="3000" dirty="0"/>
              <a:t>丁酸</a:t>
            </a:r>
            <a:r>
              <a:rPr lang="en-US" altLang="zh-CN" sz="3000" dirty="0"/>
              <a:t>			12. </a:t>
            </a:r>
            <a:r>
              <a:rPr lang="zh-CN" altLang="en-US" sz="3000" dirty="0"/>
              <a:t>苯酚</a:t>
            </a:r>
            <a:endParaRPr lang="en-US" altLang="zh-CN" sz="3000" dirty="0"/>
          </a:p>
          <a:p>
            <a:pPr marL="514350" indent="-514350">
              <a:buNone/>
            </a:pPr>
            <a:r>
              <a:rPr lang="en-US" altLang="zh-CN" sz="3000" dirty="0"/>
              <a:t>13. </a:t>
            </a:r>
            <a:r>
              <a:rPr lang="zh-CN" altLang="en-US" sz="3000" dirty="0"/>
              <a:t>丙酰胺</a:t>
            </a:r>
            <a:r>
              <a:rPr lang="en-US" altLang="zh-CN" sz="3000" dirty="0"/>
              <a:t>			14. </a:t>
            </a:r>
            <a:r>
              <a:rPr lang="zh-CN" altLang="en-US" sz="3000" dirty="0"/>
              <a:t>乙酸甲酯</a:t>
            </a:r>
            <a:endParaRPr lang="en-US" altLang="zh-CN" sz="3000" dirty="0"/>
          </a:p>
          <a:p>
            <a:pPr marL="514350" indent="-514350">
              <a:buNone/>
            </a:pPr>
            <a:r>
              <a:rPr lang="en-US" altLang="zh-CN" sz="3000" dirty="0"/>
              <a:t>15. </a:t>
            </a:r>
            <a:r>
              <a:rPr lang="zh-CN" altLang="en-US" sz="3000" dirty="0"/>
              <a:t>环戊醇</a:t>
            </a:r>
            <a:r>
              <a:rPr lang="en-US" altLang="zh-CN" sz="3000" dirty="0"/>
              <a:t>			16. </a:t>
            </a:r>
            <a:r>
              <a:rPr lang="zh-CN" altLang="en-US" sz="3000" dirty="0"/>
              <a:t>环己酮</a:t>
            </a:r>
            <a:endParaRPr lang="en-US" altLang="zh-CN" sz="3000" dirty="0"/>
          </a:p>
          <a:p>
            <a:pPr marL="514350" indent="-514350">
              <a:buNone/>
            </a:pPr>
            <a:r>
              <a:rPr lang="en-US" altLang="zh-CN" sz="3000" dirty="0"/>
              <a:t>17. </a:t>
            </a:r>
            <a:r>
              <a:rPr lang="zh-CN" altLang="en-US" sz="3000" dirty="0"/>
              <a:t>环己烯</a:t>
            </a:r>
            <a:r>
              <a:rPr lang="en-US" altLang="zh-CN" sz="3000" dirty="0"/>
              <a:t>			18. </a:t>
            </a:r>
            <a:r>
              <a:rPr lang="zh-CN" altLang="en-US" sz="3000" dirty="0"/>
              <a:t>乙酐</a:t>
            </a:r>
            <a:endParaRPr lang="en-US" altLang="zh-CN" sz="3000" dirty="0"/>
          </a:p>
          <a:p>
            <a:pPr>
              <a:buNone/>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linds(horizontal)">
                                      <p:cBhvr>
                                        <p:cTn id="30" dur="500"/>
                                        <p:tgtEl>
                                          <p:spTgt spid="3">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blinds(horizontal)">
                                      <p:cBhvr>
                                        <p:cTn id="33" dur="500"/>
                                        <p:tgtEl>
                                          <p:spTgt spid="3">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blinds(horizontal)">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26.3 </a:t>
            </a:r>
            <a:r>
              <a:rPr lang="zh-CN" altLang="en-US" sz="4800" b="1" dirty="0">
                <a:latin typeface="+mn-ea"/>
              </a:rPr>
              <a:t>有机化合物的分类</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lnSpc>
                <a:spcPct val="150000"/>
              </a:lnSpc>
              <a:buFont typeface="Wingdings" pitchFamily="2" charset="2"/>
              <a:buChar char="Ø"/>
            </a:pPr>
            <a:r>
              <a:rPr lang="zh-CN" altLang="en-US" sz="3000" dirty="0"/>
              <a:t>官能团是学习和研究化学的关键</a:t>
            </a:r>
            <a:endParaRPr lang="en-US" altLang="zh-CN" sz="3000" dirty="0"/>
          </a:p>
          <a:p>
            <a:pPr lvl="1">
              <a:lnSpc>
                <a:spcPct val="150000"/>
              </a:lnSpc>
              <a:buFont typeface="Wingdings" pitchFamily="2" charset="2"/>
              <a:buChar char="Ø"/>
            </a:pPr>
            <a:r>
              <a:rPr lang="zh-CN" altLang="en-US" dirty="0"/>
              <a:t>根据官能团分类有机化合物</a:t>
            </a:r>
            <a:endParaRPr lang="en-US" altLang="zh-CN" dirty="0"/>
          </a:p>
          <a:p>
            <a:pPr lvl="1">
              <a:lnSpc>
                <a:spcPct val="150000"/>
              </a:lnSpc>
              <a:buFont typeface="Wingdings" pitchFamily="2" charset="2"/>
              <a:buChar char="Ø"/>
            </a:pPr>
            <a:r>
              <a:rPr lang="zh-CN" altLang="en-US" dirty="0"/>
              <a:t>根据官能团命名有机化合物</a:t>
            </a:r>
            <a:endParaRPr lang="en-US" altLang="zh-CN" dirty="0"/>
          </a:p>
          <a:p>
            <a:pPr lvl="1">
              <a:lnSpc>
                <a:spcPct val="150000"/>
              </a:lnSpc>
              <a:buFont typeface="Wingdings" pitchFamily="2" charset="2"/>
              <a:buChar char="Ø"/>
            </a:pPr>
            <a:r>
              <a:rPr lang="zh-CN" altLang="en-US" dirty="0"/>
              <a:t>官能团能参与化学反应</a:t>
            </a:r>
            <a:endParaRPr lang="en-US" altLang="zh-CN" dirty="0"/>
          </a:p>
          <a:p>
            <a:pPr>
              <a:lnSpc>
                <a:spcPct val="150000"/>
              </a:lnSpc>
              <a:buNone/>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zh-CN" altLang="en-US" sz="4800" b="1" dirty="0">
                <a:latin typeface="+mn-ea"/>
              </a:rPr>
              <a:t>思考题 </a:t>
            </a:r>
            <a:r>
              <a:rPr lang="en-US" altLang="zh-CN" sz="4800" b="1" dirty="0">
                <a:latin typeface="+mn-ea"/>
              </a:rPr>
              <a:t>26c</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marL="514350" indent="-514350">
              <a:buAutoNum type="arabicPeriod"/>
            </a:pPr>
            <a:r>
              <a:rPr lang="en-US" altLang="zh-CN" sz="2800" dirty="0"/>
              <a:t>A </a:t>
            </a:r>
          </a:p>
          <a:p>
            <a:pPr marL="514350" indent="-514350">
              <a:buAutoNum type="arabicPeriod"/>
            </a:pPr>
            <a:r>
              <a:rPr lang="en-US" altLang="zh-CN" sz="2800" b="1" dirty="0">
                <a:solidFill>
                  <a:srgbClr val="7030A0"/>
                </a:solidFill>
              </a:rPr>
              <a:t>A</a:t>
            </a:r>
            <a:r>
              <a:rPr lang="zh-CN" altLang="en-US" sz="2800" b="1" dirty="0">
                <a:solidFill>
                  <a:srgbClr val="7030A0"/>
                </a:solidFill>
              </a:rPr>
              <a:t>硝酸根</a:t>
            </a:r>
            <a:r>
              <a:rPr lang="en-US" altLang="zh-CN" sz="2800" b="1" dirty="0">
                <a:solidFill>
                  <a:srgbClr val="7030A0"/>
                </a:solidFill>
              </a:rPr>
              <a:t>	</a:t>
            </a:r>
            <a:r>
              <a:rPr lang="en-US" altLang="zh-CN" sz="2800" dirty="0"/>
              <a:t>	B </a:t>
            </a:r>
            <a:r>
              <a:rPr lang="zh-CN" altLang="en-US" sz="2800" dirty="0"/>
              <a:t>硝基</a:t>
            </a:r>
            <a:r>
              <a:rPr lang="en-US" altLang="zh-CN" sz="2800" dirty="0"/>
              <a:t>		C </a:t>
            </a:r>
            <a:r>
              <a:rPr lang="zh-CN" altLang="en-US" sz="2800" dirty="0"/>
              <a:t>羟基</a:t>
            </a:r>
            <a:r>
              <a:rPr lang="en-US" altLang="zh-CN" sz="2800" dirty="0"/>
              <a:t>	D</a:t>
            </a:r>
            <a:r>
              <a:rPr lang="zh-CN" altLang="en-US" sz="2800" dirty="0"/>
              <a:t>醛基</a:t>
            </a:r>
            <a:endParaRPr lang="en-US" altLang="zh-CN" sz="2800" dirty="0"/>
          </a:p>
          <a:p>
            <a:pPr marL="514350" indent="-514350">
              <a:buNone/>
            </a:pPr>
            <a:r>
              <a:rPr lang="en-US" altLang="zh-CN" sz="2800" dirty="0"/>
              <a:t>3.  C</a:t>
            </a:r>
          </a:p>
          <a:p>
            <a:pPr marL="514350" indent="-514350">
              <a:buNone/>
            </a:pPr>
            <a:r>
              <a:rPr lang="en-US" altLang="zh-CN" sz="2800" dirty="0"/>
              <a:t>4. 	</a:t>
            </a:r>
            <a:r>
              <a:rPr lang="zh-CN" altLang="en-US" sz="2800" dirty="0"/>
              <a:t>（</a:t>
            </a:r>
            <a:r>
              <a:rPr lang="en-US" altLang="zh-CN" sz="2800" dirty="0"/>
              <a:t>1</a:t>
            </a:r>
            <a:r>
              <a:rPr lang="zh-CN" altLang="en-US" sz="2800" dirty="0"/>
              <a:t>）羧酸</a:t>
            </a:r>
            <a:r>
              <a:rPr lang="en-US" altLang="zh-CN" sz="2800" dirty="0"/>
              <a:t>		</a:t>
            </a:r>
            <a:r>
              <a:rPr lang="zh-CN" altLang="en-US" sz="2800" dirty="0"/>
              <a:t>丁酸</a:t>
            </a:r>
            <a:endParaRPr lang="en-US" altLang="zh-CN" sz="2800" dirty="0"/>
          </a:p>
          <a:p>
            <a:pPr marL="514350" indent="-514350">
              <a:buNone/>
            </a:pPr>
            <a:r>
              <a:rPr lang="en-US" altLang="zh-CN" sz="2800" dirty="0"/>
              <a:t>	</a:t>
            </a:r>
            <a:r>
              <a:rPr lang="zh-CN" altLang="en-US" sz="2800" dirty="0"/>
              <a:t>（</a:t>
            </a:r>
            <a:r>
              <a:rPr lang="en-US" altLang="zh-CN" sz="2800" dirty="0"/>
              <a:t>2</a:t>
            </a:r>
            <a:r>
              <a:rPr lang="zh-CN" altLang="en-US" sz="2800" dirty="0"/>
              <a:t>）酚</a:t>
            </a:r>
            <a:r>
              <a:rPr lang="en-US" altLang="zh-CN" sz="2800" dirty="0"/>
              <a:t>			</a:t>
            </a:r>
            <a:r>
              <a:rPr lang="zh-CN" altLang="en-US" sz="2800" dirty="0"/>
              <a:t>对苯二酚</a:t>
            </a:r>
            <a:endParaRPr lang="en-US" altLang="zh-CN" sz="2800" dirty="0"/>
          </a:p>
          <a:p>
            <a:pPr marL="514350" indent="-514350">
              <a:buNone/>
            </a:pPr>
            <a:r>
              <a:rPr lang="en-US" altLang="zh-CN" sz="2800" dirty="0"/>
              <a:t>	</a:t>
            </a:r>
            <a:r>
              <a:rPr lang="zh-CN" altLang="en-US" sz="2800" dirty="0"/>
              <a:t>（</a:t>
            </a:r>
            <a:r>
              <a:rPr lang="en-US" altLang="zh-CN" sz="2800" dirty="0"/>
              <a:t>3</a:t>
            </a:r>
            <a:r>
              <a:rPr lang="zh-CN" altLang="en-US" sz="2800" dirty="0"/>
              <a:t>）芳香烃</a:t>
            </a:r>
            <a:r>
              <a:rPr lang="en-US" altLang="zh-CN" sz="2800" dirty="0"/>
              <a:t>		</a:t>
            </a:r>
            <a:r>
              <a:rPr lang="zh-CN" altLang="en-US" sz="2800" dirty="0"/>
              <a:t>乙苯</a:t>
            </a:r>
            <a:endParaRPr lang="en-US" altLang="zh-CN" sz="2800" dirty="0"/>
          </a:p>
          <a:p>
            <a:pPr marL="514350" indent="-514350">
              <a:buNone/>
            </a:pPr>
            <a:r>
              <a:rPr lang="en-US" altLang="zh-CN" sz="2800" dirty="0"/>
              <a:t>	</a:t>
            </a:r>
            <a:r>
              <a:rPr lang="zh-CN" altLang="en-US" sz="2800" dirty="0"/>
              <a:t>（</a:t>
            </a:r>
            <a:r>
              <a:rPr lang="en-US" altLang="zh-CN" sz="2800" dirty="0"/>
              <a:t>4</a:t>
            </a:r>
            <a:r>
              <a:rPr lang="zh-CN" altLang="en-US" sz="2800" dirty="0"/>
              <a:t>）酯</a:t>
            </a:r>
            <a:r>
              <a:rPr lang="en-US" altLang="zh-CN" sz="2800" dirty="0"/>
              <a:t>			</a:t>
            </a:r>
            <a:r>
              <a:rPr lang="zh-CN" altLang="en-US" sz="2800" dirty="0"/>
              <a:t>甲酸乙酯</a:t>
            </a:r>
            <a:endParaRPr lang="en-US" altLang="zh-CN" sz="2800" dirty="0"/>
          </a:p>
          <a:p>
            <a:pPr marL="514350" indent="-514350">
              <a:buNone/>
            </a:pPr>
            <a:r>
              <a:rPr lang="en-US" altLang="zh-CN" sz="2800" dirty="0"/>
              <a:t>	</a:t>
            </a:r>
            <a:r>
              <a:rPr lang="zh-CN" altLang="en-US" sz="2800" dirty="0"/>
              <a:t>（</a:t>
            </a:r>
            <a:r>
              <a:rPr lang="en-US" altLang="zh-CN" sz="2800" dirty="0"/>
              <a:t>5</a:t>
            </a:r>
            <a:r>
              <a:rPr lang="zh-CN" altLang="en-US" sz="2800" dirty="0"/>
              <a:t>）羧酸</a:t>
            </a:r>
            <a:r>
              <a:rPr lang="en-US" altLang="zh-CN" sz="2800" dirty="0"/>
              <a:t>		</a:t>
            </a:r>
            <a:r>
              <a:rPr lang="zh-CN" altLang="en-US" sz="2800" dirty="0"/>
              <a:t>苯甲酸</a:t>
            </a:r>
            <a:endParaRPr lang="en-US" altLang="zh-CN" sz="2800" dirty="0"/>
          </a:p>
          <a:p>
            <a:pPr marL="514350" indent="-514350">
              <a:buNone/>
            </a:pPr>
            <a:r>
              <a:rPr lang="en-US" altLang="zh-CN" sz="2800" dirty="0"/>
              <a:t>	</a:t>
            </a:r>
            <a:r>
              <a:rPr lang="zh-CN" altLang="en-US" sz="2800" dirty="0"/>
              <a:t>（</a:t>
            </a:r>
            <a:r>
              <a:rPr lang="en-US" altLang="zh-CN" sz="2800" dirty="0"/>
              <a:t>6</a:t>
            </a:r>
            <a:r>
              <a:rPr lang="zh-CN" altLang="en-US" sz="2800" dirty="0"/>
              <a:t>）卤代烃</a:t>
            </a:r>
            <a:r>
              <a:rPr lang="en-US" altLang="zh-CN" sz="2800" dirty="0"/>
              <a:t>		1-</a:t>
            </a:r>
            <a:r>
              <a:rPr lang="zh-CN" altLang="en-US" sz="2800" dirty="0"/>
              <a:t>氯丁烷</a:t>
            </a:r>
            <a:endParaRPr lang="en-US" altLang="zh-CN" sz="2800" dirty="0"/>
          </a:p>
          <a:p>
            <a:pPr marL="514350" indent="-514350">
              <a:buNone/>
            </a:pPr>
            <a:r>
              <a:rPr lang="en-US" altLang="zh-CN" sz="2800" dirty="0"/>
              <a:t>	</a:t>
            </a:r>
            <a:r>
              <a:rPr lang="zh-CN" altLang="en-US" sz="2800" dirty="0"/>
              <a:t>（</a:t>
            </a:r>
            <a:r>
              <a:rPr lang="en-US" altLang="zh-CN" sz="2800" dirty="0"/>
              <a:t>7</a:t>
            </a:r>
            <a:r>
              <a:rPr lang="zh-CN" altLang="en-US" sz="2800" dirty="0"/>
              <a:t>）烯</a:t>
            </a:r>
            <a:r>
              <a:rPr lang="en-US" altLang="zh-CN" sz="2800" dirty="0"/>
              <a:t>			4-</a:t>
            </a:r>
            <a:r>
              <a:rPr lang="zh-CN" altLang="en-US" sz="2800" dirty="0"/>
              <a:t>甲基</a:t>
            </a:r>
            <a:r>
              <a:rPr lang="en-US" altLang="zh-CN" sz="2800" dirty="0"/>
              <a:t>-2-</a:t>
            </a:r>
            <a:r>
              <a:rPr lang="zh-CN" altLang="en-US" sz="2800" dirty="0"/>
              <a:t>戊烯</a:t>
            </a:r>
            <a:endParaRPr lang="en-US" altLang="zh-CN" sz="2800" dirty="0"/>
          </a:p>
          <a:p>
            <a:pPr marL="514350" indent="-514350">
              <a:buNone/>
            </a:pPr>
            <a:r>
              <a:rPr lang="en-US" altLang="zh-CN" sz="2800" dirty="0"/>
              <a:t>	</a:t>
            </a:r>
            <a:r>
              <a:rPr lang="zh-CN" altLang="en-US" sz="2800" dirty="0"/>
              <a:t>（</a:t>
            </a:r>
            <a:r>
              <a:rPr lang="en-US" altLang="zh-CN" sz="2800" dirty="0"/>
              <a:t>8</a:t>
            </a:r>
            <a:r>
              <a:rPr lang="zh-CN" altLang="en-US" sz="2800" dirty="0"/>
              <a:t>）醛</a:t>
            </a:r>
            <a:r>
              <a:rPr lang="en-US" altLang="zh-CN" sz="2800" dirty="0"/>
              <a:t>			</a:t>
            </a:r>
            <a:r>
              <a:rPr lang="zh-CN" altLang="en-US" sz="2800" dirty="0"/>
              <a:t>乙醛</a:t>
            </a:r>
            <a:endParaRPr lang="en-US" altLang="zh-CN" sz="28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26.4 </a:t>
            </a:r>
            <a:r>
              <a:rPr lang="zh-CN" altLang="en-US" sz="4800" b="1" dirty="0">
                <a:latin typeface="+mn-ea"/>
              </a:rPr>
              <a:t>有机化学的学习与研究</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lnSpc>
                <a:spcPct val="150000"/>
              </a:lnSpc>
              <a:buFont typeface="Wingdings" pitchFamily="2" charset="2"/>
              <a:buChar char="Ø"/>
            </a:pPr>
            <a:r>
              <a:rPr lang="zh-CN" altLang="en-US" sz="3000" dirty="0"/>
              <a:t>元素分析仪：确定有机化合物的组成</a:t>
            </a:r>
            <a:r>
              <a:rPr lang="zh-CN" altLang="en-US" sz="3000" b="1" dirty="0">
                <a:solidFill>
                  <a:srgbClr val="002060"/>
                </a:solidFill>
              </a:rPr>
              <a:t>元素</a:t>
            </a:r>
            <a:endParaRPr lang="en-US" altLang="zh-CN" sz="3000" b="1" dirty="0">
              <a:solidFill>
                <a:srgbClr val="002060"/>
              </a:solidFill>
            </a:endParaRPr>
          </a:p>
          <a:p>
            <a:pPr>
              <a:lnSpc>
                <a:spcPct val="150000"/>
              </a:lnSpc>
              <a:buFont typeface="Wingdings" pitchFamily="2" charset="2"/>
              <a:buChar char="Ø"/>
            </a:pPr>
            <a:r>
              <a:rPr lang="zh-CN" altLang="en-US" sz="3000" dirty="0"/>
              <a:t>核磁共振氢谱仪：等效</a:t>
            </a:r>
            <a:r>
              <a:rPr lang="zh-CN" altLang="en-US" sz="3000" b="1" dirty="0">
                <a:solidFill>
                  <a:srgbClr val="002060"/>
                </a:solidFill>
              </a:rPr>
              <a:t>氢</a:t>
            </a:r>
            <a:r>
              <a:rPr lang="zh-CN" altLang="en-US" sz="3000" dirty="0"/>
              <a:t>的种类和个数比</a:t>
            </a:r>
            <a:endParaRPr lang="en-US" altLang="zh-CN" sz="3000" dirty="0"/>
          </a:p>
          <a:p>
            <a:pPr>
              <a:lnSpc>
                <a:spcPct val="150000"/>
              </a:lnSpc>
              <a:buFont typeface="Wingdings" pitchFamily="2" charset="2"/>
              <a:buChar char="Ø"/>
            </a:pPr>
            <a:r>
              <a:rPr lang="zh-CN" altLang="en-US" sz="3000" dirty="0"/>
              <a:t>红外光谱仪：初步判断有机化合物具有的</a:t>
            </a:r>
            <a:r>
              <a:rPr lang="zh-CN" altLang="en-US" sz="3000" b="1" dirty="0">
                <a:solidFill>
                  <a:srgbClr val="002060"/>
                </a:solidFill>
              </a:rPr>
              <a:t>基团</a:t>
            </a:r>
            <a:endParaRPr lang="en-US" altLang="zh-CN" sz="3000" b="1" dirty="0">
              <a:solidFill>
                <a:srgbClr val="002060"/>
              </a:solidFill>
            </a:endParaRPr>
          </a:p>
          <a:p>
            <a:pPr>
              <a:lnSpc>
                <a:spcPct val="150000"/>
              </a:lnSpc>
              <a:buFont typeface="Wingdings" pitchFamily="2" charset="2"/>
              <a:buChar char="Ø"/>
            </a:pPr>
            <a:r>
              <a:rPr lang="zh-CN" altLang="en-US" sz="3000" dirty="0"/>
              <a:t>质谱仪：分析有机物的</a:t>
            </a:r>
            <a:r>
              <a:rPr lang="zh-CN" altLang="en-US" sz="3000" b="1" dirty="0">
                <a:solidFill>
                  <a:srgbClr val="002060"/>
                </a:solidFill>
              </a:rPr>
              <a:t>结构、相对分子质量</a:t>
            </a:r>
            <a:endParaRPr lang="en-US" altLang="zh-CN" sz="3000" b="1" dirty="0">
              <a:solidFill>
                <a:srgbClr val="002060"/>
              </a:solidFill>
            </a:endParaRPr>
          </a:p>
          <a:p>
            <a:pPr>
              <a:lnSpc>
                <a:spcPct val="150000"/>
              </a:lnSpc>
              <a:buFont typeface="Wingdings" pitchFamily="2" charset="2"/>
              <a:buChar char="Ø"/>
            </a:pPr>
            <a:endParaRPr lang="en-US" altLang="zh-CN" sz="3000" b="1" dirty="0">
              <a:solidFill>
                <a:srgbClr val="002060"/>
              </a:solidFill>
            </a:endParaRPr>
          </a:p>
          <a:p>
            <a:pPr>
              <a:lnSpc>
                <a:spcPct val="150000"/>
              </a:lnSpc>
              <a:buFont typeface="Wingdings" pitchFamily="2" charset="2"/>
              <a:buChar char="Ø"/>
            </a:pPr>
            <a:endParaRPr lang="en-US" altLang="zh-CN" sz="3000" b="1" dirty="0">
              <a:solidFill>
                <a:srgbClr val="002060"/>
              </a:solidFill>
            </a:endParaRP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26.4 </a:t>
            </a:r>
            <a:r>
              <a:rPr lang="zh-CN" altLang="en-US" sz="4800" b="1" dirty="0">
                <a:latin typeface="+mn-ea"/>
              </a:rPr>
              <a:t>有机化学的学习与研究</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a:lnSpc>
                <a:spcPct val="150000"/>
              </a:lnSpc>
              <a:buFont typeface="Wingdings" pitchFamily="2" charset="2"/>
              <a:buChar char="Ø"/>
            </a:pPr>
            <a:r>
              <a:rPr lang="zh-CN" altLang="en-US" sz="3000" dirty="0"/>
              <a:t>根据官能团的概念来分类有机物和归纳有机化学反应机理。</a:t>
            </a:r>
            <a:endParaRPr lang="en-US" altLang="zh-CN" sz="3000" dirty="0"/>
          </a:p>
          <a:p>
            <a:pPr>
              <a:lnSpc>
                <a:spcPct val="150000"/>
              </a:lnSpc>
              <a:buFont typeface="Wingdings" pitchFamily="2" charset="2"/>
              <a:buChar char="Ø"/>
            </a:pPr>
            <a:r>
              <a:rPr lang="zh-CN" altLang="en-US" sz="3000" dirty="0"/>
              <a:t>有机化学注重分子结构及反应。</a:t>
            </a:r>
            <a:endParaRPr lang="en-US" altLang="zh-CN" sz="3000" dirty="0"/>
          </a:p>
          <a:p>
            <a:pPr>
              <a:lnSpc>
                <a:spcPct val="150000"/>
              </a:lnSpc>
              <a:buFont typeface="Wingdings" pitchFamily="2" charset="2"/>
              <a:buChar char="Ø"/>
            </a:pPr>
            <a:r>
              <a:rPr lang="zh-CN" altLang="en-US" sz="3000" dirty="0"/>
              <a:t>多记忆、多练习、才会上手。</a:t>
            </a:r>
            <a:endParaRPr lang="en-US" altLang="zh-CN" sz="3000" dirty="0"/>
          </a:p>
          <a:p>
            <a:pPr>
              <a:lnSpc>
                <a:spcPct val="150000"/>
              </a:lnSpc>
              <a:buNone/>
            </a:pPr>
            <a:r>
              <a:rPr lang="zh-CN" altLang="en-US" sz="3000" dirty="0"/>
              <a:t>思考题</a:t>
            </a:r>
            <a:r>
              <a:rPr lang="en-US" altLang="zh-CN" sz="3000" dirty="0"/>
              <a:t>26d</a:t>
            </a:r>
          </a:p>
          <a:p>
            <a:pPr>
              <a:lnSpc>
                <a:spcPct val="150000"/>
              </a:lnSpc>
              <a:buNone/>
            </a:pPr>
            <a:r>
              <a:rPr lang="en-US" altLang="zh-CN" sz="3000" dirty="0"/>
              <a:t>2. B</a:t>
            </a:r>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en-US" altLang="zh-CN" sz="4800" b="1" dirty="0">
                <a:latin typeface="+mn-ea"/>
              </a:rPr>
              <a:t>26.5 </a:t>
            </a:r>
            <a:r>
              <a:rPr lang="zh-CN" altLang="en-US" sz="4800" b="1" dirty="0">
                <a:latin typeface="+mn-ea"/>
              </a:rPr>
              <a:t>有机化学的重要发展</a:t>
            </a:r>
            <a:endParaRPr lang="en-US" sz="4800" dirty="0"/>
          </a:p>
        </p:txBody>
      </p:sp>
      <p:sp>
        <p:nvSpPr>
          <p:cNvPr id="3" name="Content Placeholder 2"/>
          <p:cNvSpPr>
            <a:spLocks noGrp="1"/>
          </p:cNvSpPr>
          <p:nvPr>
            <p:ph idx="1"/>
          </p:nvPr>
        </p:nvSpPr>
        <p:spPr>
          <a:xfrm>
            <a:off x="152400" y="990600"/>
            <a:ext cx="8839200" cy="5867400"/>
          </a:xfrm>
        </p:spPr>
        <p:txBody>
          <a:bodyPr>
            <a:noAutofit/>
          </a:bodyPr>
          <a:lstStyle/>
          <a:p>
            <a:pPr marL="514350" indent="-514350">
              <a:buFont typeface="Wingdings" pitchFamily="2" charset="2"/>
              <a:buChar char="Ø"/>
            </a:pPr>
            <a:r>
              <a:rPr lang="zh-CN" altLang="en-US" sz="3000" dirty="0"/>
              <a:t>动态天然物化学</a:t>
            </a:r>
            <a:endParaRPr lang="en-US" altLang="zh-CN" sz="3000" dirty="0"/>
          </a:p>
          <a:p>
            <a:pPr marL="914400" lvl="1" indent="-514350">
              <a:buFont typeface="Wingdings" pitchFamily="2" charset="2"/>
              <a:buChar char="Ø"/>
            </a:pPr>
            <a:r>
              <a:rPr lang="zh-CN" altLang="en-US" sz="2600" dirty="0"/>
              <a:t>发现新的合成法</a:t>
            </a:r>
            <a:endParaRPr lang="en-US" altLang="zh-CN" sz="2600" dirty="0"/>
          </a:p>
          <a:p>
            <a:pPr marL="914400" lvl="1" indent="-514350">
              <a:buFont typeface="Wingdings" pitchFamily="2" charset="2"/>
              <a:buChar char="Ø"/>
            </a:pPr>
            <a:r>
              <a:rPr lang="zh-CN" altLang="en-US" sz="2600" dirty="0"/>
              <a:t>开发新药物</a:t>
            </a:r>
            <a:endParaRPr lang="en-US" altLang="zh-CN" sz="2600" dirty="0"/>
          </a:p>
          <a:p>
            <a:pPr marL="914400" lvl="1" indent="-514350">
              <a:buFont typeface="Wingdings" pitchFamily="2" charset="2"/>
              <a:buChar char="Ø"/>
            </a:pPr>
            <a:r>
              <a:rPr lang="zh-CN" altLang="en-US" sz="2600" dirty="0"/>
              <a:t>研究有生物活性的有机物</a:t>
            </a:r>
            <a:endParaRPr lang="en-US" altLang="zh-CN" sz="2600" dirty="0"/>
          </a:p>
          <a:p>
            <a:pPr marL="514350" indent="-514350">
              <a:buFont typeface="Wingdings" pitchFamily="2" charset="2"/>
              <a:buChar char="Ø"/>
            </a:pPr>
            <a:r>
              <a:rPr lang="zh-CN" altLang="en-US" sz="3000" dirty="0"/>
              <a:t>碳的新家族</a:t>
            </a:r>
            <a:endParaRPr lang="en-US" altLang="zh-CN" sz="3000" dirty="0"/>
          </a:p>
          <a:p>
            <a:pPr marL="914400" lvl="1" indent="-514350">
              <a:buFont typeface="Wingdings" pitchFamily="2" charset="2"/>
              <a:buChar char="Ø"/>
            </a:pPr>
            <a:r>
              <a:rPr lang="zh-CN" altLang="en-US" sz="2600" dirty="0"/>
              <a:t>富勒烯又称碳原子簇：较活泼、溶于有机溶剂</a:t>
            </a:r>
            <a:endParaRPr lang="en-US" altLang="zh-CN" sz="2600" dirty="0"/>
          </a:p>
          <a:p>
            <a:pPr marL="914400" lvl="1" indent="-514350">
              <a:buFont typeface="Wingdings" pitchFamily="2" charset="2"/>
              <a:buChar char="Ø"/>
            </a:pPr>
            <a:r>
              <a:rPr lang="zh-CN" altLang="en-US" sz="2600" dirty="0"/>
              <a:t>巴基球</a:t>
            </a:r>
            <a:r>
              <a:rPr lang="en-US" altLang="zh-CN" sz="2600" dirty="0"/>
              <a:t>C</a:t>
            </a:r>
            <a:r>
              <a:rPr lang="en-US" altLang="zh-CN" sz="2600" baseline="-25000" dirty="0"/>
              <a:t>60</a:t>
            </a:r>
            <a:r>
              <a:rPr lang="en-US" altLang="zh-CN" sz="2600" dirty="0"/>
              <a:t> </a:t>
            </a:r>
            <a:r>
              <a:rPr lang="zh-CN" altLang="en-US" sz="2600" dirty="0"/>
              <a:t>：碳簇中最稳定的</a:t>
            </a:r>
            <a:endParaRPr lang="en-US" altLang="zh-CN" sz="2600" dirty="0"/>
          </a:p>
          <a:p>
            <a:pPr marL="914400" lvl="1" indent="-514350">
              <a:buFont typeface="Wingdings" pitchFamily="2" charset="2"/>
              <a:buChar char="Ø"/>
            </a:pPr>
            <a:r>
              <a:rPr lang="zh-CN" altLang="en-US" sz="2600" dirty="0"/>
              <a:t>纳米工艺的精密材料</a:t>
            </a:r>
            <a:endParaRPr lang="en-US" altLang="zh-CN" sz="2600" dirty="0"/>
          </a:p>
          <a:p>
            <a:pPr marL="514350" indent="-514350">
              <a:buFont typeface="Wingdings" pitchFamily="2" charset="2"/>
              <a:buChar char="Ø"/>
            </a:pPr>
            <a:r>
              <a:rPr lang="zh-CN" altLang="en-US" sz="3000" dirty="0"/>
              <a:t>有机过渡金属化学</a:t>
            </a:r>
            <a:endParaRPr lang="en-US" altLang="zh-CN" sz="3000" dirty="0"/>
          </a:p>
          <a:p>
            <a:pPr marL="914400" lvl="1" indent="-514350">
              <a:buFont typeface="Wingdings" pitchFamily="2" charset="2"/>
              <a:buChar char="Ø"/>
            </a:pPr>
            <a:r>
              <a:rPr lang="zh-CN" altLang="en-US" sz="2600" dirty="0"/>
              <a:t>有机过渡金属化合物：含</a:t>
            </a:r>
            <a:r>
              <a:rPr lang="zh-CN" altLang="en-US" sz="2600" b="1" dirty="0">
                <a:solidFill>
                  <a:srgbClr val="002060"/>
                </a:solidFill>
              </a:rPr>
              <a:t>过渡金属</a:t>
            </a:r>
            <a:r>
              <a:rPr lang="en-US" altLang="zh-CN" sz="2600" b="1" dirty="0">
                <a:solidFill>
                  <a:srgbClr val="002060"/>
                </a:solidFill>
              </a:rPr>
              <a:t>—</a:t>
            </a:r>
            <a:r>
              <a:rPr lang="zh-CN" altLang="en-US" sz="2600" b="1" dirty="0">
                <a:solidFill>
                  <a:srgbClr val="002060"/>
                </a:solidFill>
              </a:rPr>
              <a:t>碳</a:t>
            </a:r>
            <a:r>
              <a:rPr lang="zh-CN" altLang="en-US" sz="2600" dirty="0"/>
              <a:t>的</a:t>
            </a:r>
            <a:r>
              <a:rPr lang="zh-CN" altLang="en-US" sz="2600" b="1" dirty="0">
                <a:solidFill>
                  <a:srgbClr val="7030A0"/>
                </a:solidFill>
              </a:rPr>
              <a:t>配位键</a:t>
            </a:r>
            <a:endParaRPr lang="en-US" altLang="zh-CN" sz="2600" b="1" dirty="0">
              <a:solidFill>
                <a:srgbClr val="7030A0"/>
              </a:solidFill>
            </a:endParaRPr>
          </a:p>
          <a:p>
            <a:pPr marL="1314450" lvl="2" indent="-514350">
              <a:buFont typeface="Wingdings" pitchFamily="2" charset="2"/>
              <a:buChar char="Ø"/>
            </a:pPr>
            <a:r>
              <a:rPr lang="zh-CN" altLang="en-US" sz="2600" dirty="0"/>
              <a:t>可作为催化剂</a:t>
            </a:r>
            <a:endParaRPr lang="en-US" altLang="zh-CN" sz="2600" dirty="0"/>
          </a:p>
          <a:p>
            <a:pPr marL="914400" lvl="1" indent="-514350">
              <a:buNone/>
            </a:pPr>
            <a:endParaRPr lang="en-US" altLang="zh-CN" sz="26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zh-CN" altLang="en-US" sz="4800" b="1" dirty="0">
                <a:latin typeface="+mn-ea"/>
              </a:rPr>
              <a:t>选择题</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marL="514350" indent="-514350">
              <a:lnSpc>
                <a:spcPct val="150000"/>
              </a:lnSpc>
              <a:buAutoNum type="arabicPeriod"/>
            </a:pPr>
            <a:r>
              <a:rPr lang="en-US" altLang="zh-CN" sz="3000" dirty="0"/>
              <a:t>D</a:t>
            </a:r>
          </a:p>
          <a:p>
            <a:pPr marL="514350" indent="-514350">
              <a:lnSpc>
                <a:spcPct val="150000"/>
              </a:lnSpc>
              <a:buAutoNum type="arabicPeriod"/>
            </a:pPr>
            <a:r>
              <a:rPr lang="en-US" altLang="zh-CN" sz="3000" dirty="0"/>
              <a:t>D </a:t>
            </a:r>
            <a:r>
              <a:rPr lang="zh-CN" altLang="en-US" sz="3000" dirty="0"/>
              <a:t>尿素弱碱性</a:t>
            </a:r>
            <a:endParaRPr lang="en-US" altLang="zh-CN" sz="3000" dirty="0"/>
          </a:p>
          <a:p>
            <a:pPr marL="514350" indent="-514350">
              <a:lnSpc>
                <a:spcPct val="150000"/>
              </a:lnSpc>
              <a:buAutoNum type="arabicPeriod"/>
            </a:pPr>
            <a:r>
              <a:rPr lang="en-US" altLang="zh-CN" sz="3000" dirty="0"/>
              <a:t>B</a:t>
            </a:r>
          </a:p>
          <a:p>
            <a:pPr marL="514350" indent="-514350">
              <a:lnSpc>
                <a:spcPct val="150000"/>
              </a:lnSpc>
              <a:buAutoNum type="arabicPeriod"/>
            </a:pPr>
            <a:r>
              <a:rPr lang="en-US" altLang="zh-CN" sz="3000" dirty="0"/>
              <a:t>A</a:t>
            </a:r>
          </a:p>
          <a:p>
            <a:pPr marL="514350" indent="-514350">
              <a:lnSpc>
                <a:spcPct val="150000"/>
              </a:lnSpc>
              <a:buAutoNum type="arabicPeriod"/>
            </a:pPr>
            <a:r>
              <a:rPr lang="en-US" altLang="zh-CN" sz="3000" dirty="0"/>
              <a:t>C </a:t>
            </a:r>
            <a:r>
              <a:rPr lang="zh-CN" altLang="en-US" sz="3000" dirty="0"/>
              <a:t>有些有机物不能燃烧</a:t>
            </a:r>
            <a:endParaRPr lang="en-US" altLang="zh-CN" sz="3000" dirty="0"/>
          </a:p>
          <a:p>
            <a:pPr marL="514350" indent="-514350">
              <a:lnSpc>
                <a:spcPct val="150000"/>
              </a:lnSpc>
              <a:buAutoNum type="arabicPeriod"/>
            </a:pPr>
            <a:r>
              <a:rPr lang="en-US" altLang="zh-CN" sz="3000" dirty="0"/>
              <a:t>D	CCl</a:t>
            </a:r>
            <a:r>
              <a:rPr lang="en-US" altLang="zh-CN" sz="3000" baseline="-25000" dirty="0"/>
              <a:t>4</a:t>
            </a:r>
            <a:r>
              <a:rPr lang="en-US" altLang="zh-CN" sz="3000" dirty="0"/>
              <a:t> </a:t>
            </a:r>
            <a:r>
              <a:rPr lang="zh-CN" altLang="en-US" sz="3000" dirty="0"/>
              <a:t>与水互不相溶</a:t>
            </a:r>
            <a:endParaRPr lang="en-US" altLang="zh-CN" sz="3000" dirty="0"/>
          </a:p>
          <a:p>
            <a:pPr marL="514350" indent="-514350">
              <a:lnSpc>
                <a:spcPct val="150000"/>
              </a:lnSpc>
              <a:buAutoNum type="arabicPeriod"/>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20.jpg"/>
          <p:cNvPicPr>
            <a:picLocks noChangeAspect="1"/>
          </p:cNvPicPr>
          <p:nvPr/>
        </p:nvPicPr>
        <p:blipFill>
          <a:blip r:embed="rId2"/>
          <a:stretch>
            <a:fillRect/>
          </a:stretch>
        </p:blipFill>
        <p:spPr>
          <a:xfrm>
            <a:off x="0" y="4413"/>
            <a:ext cx="9144000" cy="6849173"/>
          </a:xfrm>
          <a:prstGeom prst="rect">
            <a:avLst/>
          </a:prstGeom>
        </p:spPr>
      </p:pic>
      <p:sp>
        <p:nvSpPr>
          <p:cNvPr id="2" name="Title 1"/>
          <p:cNvSpPr>
            <a:spLocks noGrp="1"/>
          </p:cNvSpPr>
          <p:nvPr>
            <p:ph type="title"/>
          </p:nvPr>
        </p:nvSpPr>
        <p:spPr>
          <a:xfrm>
            <a:off x="0" y="0"/>
            <a:ext cx="8001000" cy="1202485"/>
          </a:xfrm>
        </p:spPr>
        <p:txBody>
          <a:bodyPr>
            <a:noAutofit/>
          </a:bodyPr>
          <a:lstStyle/>
          <a:p>
            <a:pPr algn="l"/>
            <a:r>
              <a:rPr lang="zh-CN" altLang="en-US" sz="4800" b="1" dirty="0">
                <a:latin typeface="+mn-ea"/>
              </a:rPr>
              <a:t>选择题</a:t>
            </a:r>
            <a:endParaRPr lang="en-US" sz="4800" b="1" dirty="0"/>
          </a:p>
        </p:txBody>
      </p:sp>
      <p:sp>
        <p:nvSpPr>
          <p:cNvPr id="3" name="Content Placeholder 2"/>
          <p:cNvSpPr>
            <a:spLocks noGrp="1"/>
          </p:cNvSpPr>
          <p:nvPr>
            <p:ph idx="1"/>
          </p:nvPr>
        </p:nvSpPr>
        <p:spPr>
          <a:xfrm>
            <a:off x="152400" y="990600"/>
            <a:ext cx="8839200" cy="5867400"/>
          </a:xfrm>
        </p:spPr>
        <p:txBody>
          <a:bodyPr>
            <a:noAutofit/>
          </a:bodyPr>
          <a:lstStyle/>
          <a:p>
            <a:pPr marL="514350" indent="-514350">
              <a:lnSpc>
                <a:spcPct val="150000"/>
              </a:lnSpc>
              <a:buNone/>
            </a:pPr>
            <a:r>
              <a:rPr lang="en-US" altLang="zh-CN" sz="3000" dirty="0"/>
              <a:t>7. n(CO</a:t>
            </a:r>
            <a:r>
              <a:rPr lang="en-US" altLang="zh-CN" sz="3000" baseline="-25000" dirty="0"/>
              <a:t>2</a:t>
            </a:r>
            <a:r>
              <a:rPr lang="en-US" altLang="zh-CN" sz="3000" dirty="0"/>
              <a:t>):n(H</a:t>
            </a:r>
            <a:r>
              <a:rPr lang="en-US" altLang="zh-CN" sz="3000" baseline="-25000" dirty="0"/>
              <a:t>2</a:t>
            </a:r>
            <a:r>
              <a:rPr lang="en-US" altLang="zh-CN" sz="3000" dirty="0"/>
              <a:t>O) = 1:1</a:t>
            </a:r>
          </a:p>
          <a:p>
            <a:pPr marL="514350" indent="-514350">
              <a:lnSpc>
                <a:spcPct val="150000"/>
              </a:lnSpc>
              <a:buNone/>
            </a:pPr>
            <a:r>
              <a:rPr lang="en-US" altLang="zh-CN" sz="3000" dirty="0"/>
              <a:t>	</a:t>
            </a:r>
            <a:r>
              <a:rPr lang="en-US" altLang="zh-CN" sz="3000" dirty="0" err="1"/>
              <a:t>n</a:t>
            </a:r>
            <a:r>
              <a:rPr lang="en-US" altLang="zh-CN" sz="3000" baseline="-25000" dirty="0" err="1"/>
              <a:t>c</a:t>
            </a:r>
            <a:r>
              <a:rPr lang="en-US" altLang="zh-CN" sz="3000" dirty="0"/>
              <a:t> : </a:t>
            </a:r>
            <a:r>
              <a:rPr lang="en-US" altLang="zh-CN" sz="3000" dirty="0" err="1"/>
              <a:t>n</a:t>
            </a:r>
            <a:r>
              <a:rPr lang="en-US" altLang="zh-CN" sz="3000" baseline="-25000" dirty="0" err="1"/>
              <a:t>H</a:t>
            </a:r>
            <a:r>
              <a:rPr lang="en-US" altLang="zh-CN" sz="3000" dirty="0"/>
              <a:t> = 1:2 </a:t>
            </a:r>
          </a:p>
          <a:p>
            <a:pPr marL="514350" indent="-514350">
              <a:lnSpc>
                <a:spcPct val="150000"/>
              </a:lnSpc>
              <a:buNone/>
            </a:pPr>
            <a:r>
              <a:rPr lang="en-US" altLang="zh-CN" sz="3000" dirty="0"/>
              <a:t>	B</a:t>
            </a:r>
          </a:p>
          <a:p>
            <a:pPr marL="514350" indent="-514350">
              <a:lnSpc>
                <a:spcPct val="150000"/>
              </a:lnSpc>
              <a:buNone/>
            </a:pPr>
            <a:r>
              <a:rPr lang="en-US" altLang="zh-CN" sz="3000" dirty="0"/>
              <a:t>8. C</a:t>
            </a:r>
          </a:p>
          <a:p>
            <a:pPr marL="514350" indent="-514350">
              <a:lnSpc>
                <a:spcPct val="150000"/>
              </a:lnSpc>
              <a:buNone/>
            </a:pPr>
            <a:r>
              <a:rPr lang="en-US" altLang="zh-CN" sz="3000" dirty="0"/>
              <a:t>9. A </a:t>
            </a:r>
          </a:p>
          <a:p>
            <a:pPr marL="514350" indent="-514350">
              <a:lnSpc>
                <a:spcPct val="150000"/>
              </a:lnSpc>
              <a:buNone/>
            </a:pPr>
            <a:r>
              <a:rPr lang="en-US" altLang="zh-CN" sz="3000" dirty="0"/>
              <a:t>10. A </a:t>
            </a:r>
          </a:p>
          <a:p>
            <a:pPr marL="514350" indent="-514350">
              <a:lnSpc>
                <a:spcPct val="150000"/>
              </a:lnSpc>
              <a:buNone/>
            </a:pPr>
            <a:r>
              <a:rPr lang="en-US" altLang="zh-CN" sz="3000" dirty="0"/>
              <a:t>11. C </a:t>
            </a:r>
          </a:p>
          <a:p>
            <a:pPr marL="514350" indent="-514350">
              <a:lnSpc>
                <a:spcPct val="150000"/>
              </a:lnSpc>
              <a:buNone/>
            </a:pPr>
            <a:endParaRPr lang="en-US" altLang="zh-CN" sz="3000" dirty="0"/>
          </a:p>
        </p:txBody>
      </p:sp>
    </p:spTree>
    <p:extLst>
      <p:ext uri="{BB962C8B-B14F-4D97-AF65-F5344CB8AC3E}">
        <p14:creationId xmlns:p14="http://schemas.microsoft.com/office/powerpoint/2010/main" val="4001438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6138781</TotalTime>
  <Words>1799</Words>
  <Application>Microsoft Office PowerPoint</Application>
  <PresentationFormat>On-screen Show (4:3)</PresentationFormat>
  <Paragraphs>167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宋体</vt:lpstr>
      <vt:lpstr>Arial</vt:lpstr>
      <vt:lpstr>Calibri</vt:lpstr>
      <vt:lpstr>Wingdings</vt:lpstr>
      <vt:lpstr>Office Theme</vt:lpstr>
      <vt:lpstr>第26章  有机化学 </vt:lpstr>
      <vt:lpstr>26.1 有机化合物</vt:lpstr>
      <vt:lpstr>26.1 有机化合物</vt:lpstr>
      <vt:lpstr>26.1 有机化合物</vt:lpstr>
      <vt:lpstr>思考题26a</vt:lpstr>
      <vt:lpstr>26.2 有机物的特质</vt:lpstr>
      <vt:lpstr>24.2 有机物的特质</vt:lpstr>
      <vt:lpstr>26.2 有机物的特质</vt:lpstr>
      <vt:lpstr>思考题 26b</vt:lpstr>
      <vt:lpstr>26.3 有机化合物的分类</vt:lpstr>
      <vt:lpstr>26.3 有机化合物的分类</vt:lpstr>
      <vt:lpstr>26.3 有机化合物的分类</vt:lpstr>
      <vt:lpstr>24.3 有机化合物的分类</vt:lpstr>
      <vt:lpstr>26.3 有机化合物的分类</vt:lpstr>
      <vt:lpstr>26.3 有机化合物的分类</vt:lpstr>
      <vt:lpstr>26.3 有机化合物的分类</vt:lpstr>
      <vt:lpstr>思考题 26c</vt:lpstr>
      <vt:lpstr>26.4 有机化学的学习与研究</vt:lpstr>
      <vt:lpstr>26.4 有机化学的学习与研究</vt:lpstr>
      <vt:lpstr>26.5 有机化学的重要发展</vt:lpstr>
      <vt:lpstr>选择题</vt:lpstr>
      <vt:lpstr>选择题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185</cp:revision>
  <dcterms:created xsi:type="dcterms:W3CDTF">2018-09-03T09:52:37Z</dcterms:created>
  <dcterms:modified xsi:type="dcterms:W3CDTF">2020-03-09T11:55:24Z</dcterms:modified>
</cp:coreProperties>
</file>