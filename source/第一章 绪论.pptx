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7" r:id="rId2"/>
    <p:sldId id="259" r:id="rId3"/>
    <p:sldId id="282" r:id="rId4"/>
    <p:sldId id="258" r:id="rId5"/>
    <p:sldId id="274" r:id="rId6"/>
    <p:sldId id="284" r:id="rId7"/>
    <p:sldId id="273" r:id="rId8"/>
    <p:sldId id="275" r:id="rId9"/>
    <p:sldId id="286" r:id="rId10"/>
    <p:sldId id="285" r:id="rId11"/>
    <p:sldId id="283" r:id="rId12"/>
    <p:sldId id="266" r:id="rId13"/>
    <p:sldId id="287" r:id="rId14"/>
    <p:sldId id="281" r:id="rId15"/>
    <p:sldId id="270" r:id="rId16"/>
    <p:sldId id="271" r:id="rId17"/>
    <p:sldId id="288" r:id="rId18"/>
  </p:sldIdLst>
  <p:sldSz cx="9144000" cy="6858000" type="screen4x3"/>
  <p:notesSz cx="6858000" cy="9144000"/>
  <p:defaultTextStyle>
    <a:defPPr>
      <a:defRPr lang="ms-M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D2CD09"/>
    <a:srgbClr val="B1C957"/>
    <a:srgbClr val="CC99FF"/>
    <a:srgbClr val="9966FF"/>
    <a:srgbClr val="000066"/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118" autoAdjust="0"/>
    <p:restoredTop sz="94660"/>
  </p:normalViewPr>
  <p:slideViewPr>
    <p:cSldViewPr>
      <p:cViewPr varScale="1">
        <p:scale>
          <a:sx n="72" d="100"/>
          <a:sy n="72" d="100"/>
        </p:scale>
        <p:origin x="-11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CFF3A-4EC6-4F1C-8198-B372ADC3F9A7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BA0DF-1C19-4C2C-A5E7-2384D61D70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866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ms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s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310CBD66-8BA6-496C-B693-5E045A57A299}" type="datetimeFigureOut">
              <a:rPr lang="ms-MY" smtClean="0"/>
              <a:pPr/>
              <a:t>22/11/2018</a:t>
            </a:fld>
            <a:endParaRPr lang="ms-MY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ms-MY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C74A9A5-A38C-46A6-97AC-B20AD0D1F974}" type="slidenum">
              <a:rPr lang="ms-MY" smtClean="0"/>
              <a:pPr/>
              <a:t>‹#›</a:t>
            </a:fld>
            <a:endParaRPr lang="ms-MY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2800" y="838200"/>
            <a:ext cx="1046112" cy="5834964"/>
          </a:xfrm>
        </p:spPr>
        <p:txBody>
          <a:bodyPr>
            <a:noAutofit/>
          </a:bodyPr>
          <a:lstStyle/>
          <a:p>
            <a:r>
              <a:rPr lang="zh-CN" altLang="ms-MY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化学是什么</a:t>
            </a:r>
            <a:r>
              <a:rPr lang="ms-MY" altLang="zh-CN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ms-MY" altLang="zh-CN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ms-MY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endParaRPr lang="ms-MY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0"/>
            <a:ext cx="9195197" cy="6858000"/>
          </a:xfr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381000" y="914400"/>
            <a:ext cx="6705600" cy="201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ms-MY" sz="5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第一章</a:t>
            </a:r>
            <a:r>
              <a:rPr lang="ms-MY" altLang="zh-CN" sz="5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</a:t>
            </a:r>
            <a:r>
              <a:rPr kumimoji="0" lang="zh-CN" altLang="ms-MY" sz="5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绪论</a:t>
            </a:r>
            <a:endParaRPr kumimoji="0" lang="ms-MY" sz="5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945324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pPr marL="0" indent="0"/>
            <a:r>
              <a:rPr lang="zh-CN" altLang="ms-MY" sz="3600" dirty="0" smtClean="0">
                <a:solidFill>
                  <a:schemeClr val="bg1"/>
                </a:solidFill>
              </a:rPr>
              <a:t>化学其实就在我们的周围。</a:t>
            </a:r>
            <a:endParaRPr lang="en-US" altLang="zh-CN" sz="36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sz="3600" dirty="0" smtClean="0">
                <a:solidFill>
                  <a:schemeClr val="bg1"/>
                </a:solidFill>
              </a:rPr>
              <a:t>衣食住行</a:t>
            </a:r>
            <a:r>
              <a:rPr lang="zh-CN" altLang="ms-MY" sz="3600" dirty="0" smtClean="0">
                <a:solidFill>
                  <a:schemeClr val="bg1"/>
                </a:solidFill>
              </a:rPr>
              <a:t>无一不和化学有关。</a:t>
            </a:r>
            <a:endParaRPr lang="en-US" altLang="zh-CN" sz="36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ms-MY" sz="3600" dirty="0" smtClean="0">
                <a:solidFill>
                  <a:schemeClr val="bg1"/>
                </a:solidFill>
              </a:rPr>
              <a:t>为了使资源能物尽其用，就必须对组成这些资源的物质有所认识。</a:t>
            </a:r>
            <a:endParaRPr lang="ms-MY" sz="36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298" y="381000"/>
            <a:ext cx="2598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感知生活 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86067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pPr marL="0" indent="0"/>
            <a:r>
              <a:rPr lang="zh-CN" altLang="en-US" sz="3600" dirty="0" smtClean="0">
                <a:solidFill>
                  <a:schemeClr val="bg1"/>
                </a:solidFill>
              </a:rPr>
              <a:t>化学不危险，不懂化学才危险。</a:t>
            </a:r>
            <a:endParaRPr lang="en-US" altLang="zh-CN" sz="3600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sz="3200" dirty="0" smtClean="0">
                <a:solidFill>
                  <a:schemeClr val="bg1"/>
                </a:solidFill>
              </a:rPr>
              <a:t>懂得化学原理和规律后，按照规范去操作，风险是可控制的。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sz="3200" dirty="0" smtClean="0">
                <a:solidFill>
                  <a:schemeClr val="bg1"/>
                </a:solidFill>
              </a:rPr>
              <a:t>化学是人类发展与进步的关键。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sz="3200" dirty="0" smtClean="0">
                <a:solidFill>
                  <a:schemeClr val="bg1"/>
                </a:solidFill>
              </a:rPr>
              <a:t>如果不懂化学原理，违背化学规律行事，就可能造成污染、爆炸或其他事故。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endParaRPr lang="ms-MY" altLang="zh-CN" sz="3400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298" y="381000"/>
            <a:ext cx="2598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交流分享 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68034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52600"/>
            <a:ext cx="8435280" cy="3240435"/>
          </a:xfrm>
        </p:spPr>
        <p:txBody>
          <a:bodyPr>
            <a:normAutofit/>
          </a:bodyPr>
          <a:lstStyle/>
          <a:p>
            <a:pPr marL="0" indent="0"/>
            <a:r>
              <a:rPr lang="zh-CN" altLang="ms-MY" sz="3600" dirty="0" smtClean="0">
                <a:solidFill>
                  <a:schemeClr val="bg1"/>
                </a:solidFill>
              </a:rPr>
              <a:t>变化的学问</a:t>
            </a:r>
            <a:endParaRPr lang="en-US" altLang="zh-CN" sz="36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ms-MY" sz="3600" dirty="0" smtClean="0">
                <a:solidFill>
                  <a:schemeClr val="bg1"/>
                </a:solidFill>
              </a:rPr>
              <a:t>研究的是化学</a:t>
            </a:r>
            <a:r>
              <a:rPr lang="zh-CN" altLang="ms-MY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物质</a:t>
            </a:r>
            <a:r>
              <a:rPr lang="zh-CN" altLang="ms-MY" sz="3600" dirty="0" smtClean="0">
                <a:solidFill>
                  <a:schemeClr val="bg1"/>
                </a:solidFill>
              </a:rPr>
              <a:t>互相作用的科学。</a:t>
            </a:r>
            <a:endParaRPr lang="ms-MY" altLang="zh-CN" sz="36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sz="3600" dirty="0" smtClean="0">
                <a:solidFill>
                  <a:schemeClr val="bg1"/>
                </a:solidFill>
              </a:rPr>
              <a:t>在原子、分子水平上研究物质的</a:t>
            </a:r>
            <a:endParaRPr lang="en-US" altLang="zh-CN" sz="36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zh-CN" altLang="ms-MY" sz="36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组成、结构</a:t>
            </a:r>
            <a:r>
              <a:rPr lang="zh-CN" altLang="en-US" sz="36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ms-MY" sz="36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</a:t>
            </a:r>
            <a:r>
              <a:rPr lang="zh-CN" altLang="en-US" sz="36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ms-MY" sz="36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变化</a:t>
            </a:r>
            <a:r>
              <a:rPr lang="zh-CN" altLang="en-US" sz="36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、制备和应用</a:t>
            </a:r>
            <a:endParaRPr lang="ms-MY" sz="3600" b="1" u="sng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/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sz="3200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2298" y="381000"/>
            <a:ext cx="42338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 </a:t>
            </a:r>
            <a:r>
              <a:rPr lang="en-US" altLang="zh-CN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Chemistry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047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52600"/>
            <a:ext cx="8435280" cy="3240435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altLang="zh-CN" sz="3600" dirty="0" smtClean="0">
                <a:solidFill>
                  <a:schemeClr val="bg1"/>
                </a:solidFill>
              </a:rPr>
              <a:t>Try</a:t>
            </a:r>
          </a:p>
          <a:p>
            <a:pPr marL="0" indent="0"/>
            <a:endParaRPr lang="en-US" altLang="zh-CN" sz="3600" dirty="0" smtClean="0">
              <a:solidFill>
                <a:schemeClr val="bg1"/>
              </a:solidFill>
            </a:endParaRPr>
          </a:p>
          <a:p>
            <a:pPr marL="0" indent="0"/>
            <a:r>
              <a:rPr lang="ms-MY" altLang="zh-CN" sz="3600" dirty="0" smtClean="0">
                <a:solidFill>
                  <a:schemeClr val="bg1"/>
                </a:solidFill>
              </a:rPr>
              <a:t>Miss</a:t>
            </a:r>
          </a:p>
          <a:p>
            <a:pPr marL="0" indent="0"/>
            <a:endParaRPr lang="ms-MY" sz="3600" dirty="0" smtClean="0">
              <a:solidFill>
                <a:schemeClr val="bg1"/>
              </a:solidFill>
            </a:endParaRPr>
          </a:p>
          <a:p>
            <a:pPr marL="0" indent="0"/>
            <a:r>
              <a:rPr lang="ms-MY" sz="3600" dirty="0" smtClean="0">
                <a:solidFill>
                  <a:schemeClr val="bg1"/>
                </a:solidFill>
              </a:rPr>
              <a:t>Check</a:t>
            </a:r>
          </a:p>
          <a:p>
            <a:pPr marL="301752" lvl="1" indent="0"/>
            <a:endParaRPr lang="ms-MY" sz="3200" dirty="0" smtClean="0">
              <a:solidFill>
                <a:schemeClr val="bg1"/>
              </a:solidFill>
            </a:endParaRPr>
          </a:p>
          <a:p>
            <a:pPr marL="0" indent="0"/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sz="3200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2298" y="381000"/>
            <a:ext cx="3102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Chemistry</a:t>
            </a:r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606040" y="1066800"/>
            <a:ext cx="73152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828800" y="1066800"/>
            <a:ext cx="82296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62000" y="1066800"/>
            <a:ext cx="100584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36047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Autofit/>
          </a:bodyPr>
          <a:lstStyle/>
          <a:p>
            <a:pPr marL="301752" lvl="1" indent="0">
              <a:buNone/>
            </a:pPr>
            <a:r>
              <a:rPr lang="zh-CN" altLang="en-US" sz="3000" dirty="0" smtClean="0">
                <a:solidFill>
                  <a:schemeClr val="bg1"/>
                </a:solidFill>
              </a:rPr>
              <a:t>实用性：从自然界获取物质供人类使用</a:t>
            </a: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zh-CN" altLang="en-US" sz="3000" dirty="0" smtClean="0">
                <a:solidFill>
                  <a:schemeClr val="bg1"/>
                </a:solidFill>
              </a:rPr>
              <a:t>创造性：创造自然界本来没有的物质</a:t>
            </a: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zh-CN" altLang="en-US" sz="3000" dirty="0" smtClean="0">
                <a:solidFill>
                  <a:schemeClr val="bg1"/>
                </a:solidFill>
              </a:rPr>
              <a:t>交流分享</a:t>
            </a: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zh-CN" altLang="en-US" sz="3000" dirty="0" smtClean="0">
                <a:solidFill>
                  <a:schemeClr val="bg1"/>
                </a:solidFill>
              </a:rPr>
              <a:t>正面：有趣、神奇</a:t>
            </a: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zh-CN" altLang="en-US" sz="3000" dirty="0" smtClean="0">
                <a:solidFill>
                  <a:schemeClr val="bg1"/>
                </a:solidFill>
              </a:rPr>
              <a:t>负面：爆炸、污染</a:t>
            </a: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zh-CN" altLang="en-US" sz="3000" dirty="0" smtClean="0">
                <a:solidFill>
                  <a:schemeClr val="bg1"/>
                </a:solidFill>
              </a:rPr>
              <a:t>思考题</a:t>
            </a:r>
            <a:r>
              <a:rPr lang="en-US" altLang="zh-CN" sz="3000" dirty="0" smtClean="0">
                <a:solidFill>
                  <a:schemeClr val="bg1"/>
                </a:solidFill>
              </a:rPr>
              <a:t>1a</a:t>
            </a:r>
          </a:p>
          <a:p>
            <a:pPr marL="301752" lvl="1" indent="0">
              <a:buNone/>
            </a:pPr>
            <a:r>
              <a:rPr lang="ms-MY" altLang="zh-CN" sz="3000" dirty="0" smtClean="0">
                <a:solidFill>
                  <a:schemeClr val="bg1"/>
                </a:solidFill>
              </a:rPr>
              <a:t>1.</a:t>
            </a:r>
            <a:r>
              <a:rPr lang="zh-CN" altLang="en-US" sz="3000" dirty="0" smtClean="0">
                <a:solidFill>
                  <a:schemeClr val="bg1"/>
                </a:solidFill>
              </a:rPr>
              <a:t>衣食住行等都离不开化学，例如：</a:t>
            </a:r>
            <a:endParaRPr lang="en-US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r>
              <a:rPr lang="en-US" altLang="zh-CN" sz="3000" dirty="0" smtClean="0">
                <a:solidFill>
                  <a:schemeClr val="bg1"/>
                </a:solidFill>
              </a:rPr>
              <a:t>2. </a:t>
            </a:r>
            <a:r>
              <a:rPr lang="zh-CN" altLang="en-US" sz="3000" dirty="0" smtClean="0">
                <a:solidFill>
                  <a:schemeClr val="bg1"/>
                </a:solidFill>
              </a:rPr>
              <a:t>创造出合金、化肥、除草剂、化学纤维等</a:t>
            </a:r>
            <a:endParaRPr lang="ms-MY" altLang="zh-CN" sz="3000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endParaRPr lang="en-US" altLang="zh-CN" sz="30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20469"/>
            <a:ext cx="787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化学是一门实用的、创造性的科学 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68034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24000"/>
            <a:ext cx="8435280" cy="5029200"/>
          </a:xfrm>
        </p:spPr>
        <p:txBody>
          <a:bodyPr>
            <a:normAutofit/>
          </a:bodyPr>
          <a:lstStyle/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化学</a:t>
            </a:r>
            <a:r>
              <a:rPr lang="en-US" altLang="zh-CN" dirty="0" smtClean="0">
                <a:solidFill>
                  <a:schemeClr val="bg1"/>
                </a:solidFill>
              </a:rPr>
              <a:t>—</a:t>
            </a:r>
            <a:r>
              <a:rPr lang="zh-CN" altLang="en-US" dirty="0" smtClean="0">
                <a:solidFill>
                  <a:schemeClr val="bg1"/>
                </a:solidFill>
              </a:rPr>
              <a:t>人类进步的关键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sz="2600" dirty="0" smtClean="0">
                <a:solidFill>
                  <a:schemeClr val="bg1"/>
                </a:solidFill>
              </a:rPr>
              <a:t>材料、环境、健康、能源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第一阶段：化学的萌芽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dirty="0" smtClean="0">
                <a:solidFill>
                  <a:schemeClr val="bg1"/>
                </a:solidFill>
              </a:rPr>
              <a:t>以实用为主：金属冶炼（青铜时代和铁器时代）、酿造、染色、造纸、火药、陶瓷、玻璃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第二阶段：化学的形成与发展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dirty="0" smtClean="0">
                <a:solidFill>
                  <a:schemeClr val="bg1"/>
                </a:solidFill>
              </a:rPr>
              <a:t>概念、定律、理论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第三阶段：现代化学期</a:t>
            </a:r>
            <a:endParaRPr lang="ms-MY" altLang="zh-CN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dirty="0" smtClean="0">
                <a:solidFill>
                  <a:schemeClr val="bg1"/>
                </a:solidFill>
              </a:rPr>
              <a:t>宏观进入微观；各种仪器与技术</a:t>
            </a:r>
            <a:endParaRPr lang="ms-MY" dirty="0" smtClean="0">
              <a:solidFill>
                <a:schemeClr val="bg1"/>
              </a:solidFill>
            </a:endParaRPr>
          </a:p>
          <a:p>
            <a:pPr marL="0" indent="0"/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sz="3000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2298" y="381000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1.2 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化学发展成为一门中心科学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047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24000"/>
            <a:ext cx="8435280" cy="4495800"/>
          </a:xfrm>
        </p:spPr>
        <p:txBody>
          <a:bodyPr>
            <a:normAutofit/>
          </a:bodyPr>
          <a:lstStyle/>
          <a:p>
            <a:pPr marL="0" indent="0"/>
            <a:r>
              <a:rPr lang="zh-CN" altLang="en-US" sz="3200" dirty="0" smtClean="0">
                <a:solidFill>
                  <a:schemeClr val="bg1"/>
                </a:solidFill>
              </a:rPr>
              <a:t>波义耳</a:t>
            </a:r>
            <a:r>
              <a:rPr lang="en-US" altLang="zh-CN" sz="3200" dirty="0" smtClean="0">
                <a:solidFill>
                  <a:schemeClr val="bg1"/>
                </a:solidFill>
              </a:rPr>
              <a:t>– </a:t>
            </a:r>
            <a:r>
              <a:rPr lang="zh-CN" altLang="en-US" sz="3200" dirty="0" smtClean="0">
                <a:solidFill>
                  <a:schemeClr val="bg1"/>
                </a:solidFill>
              </a:rPr>
              <a:t>元素的定义</a:t>
            </a:r>
            <a:endParaRPr lang="ms-MY" sz="32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ms-MY" sz="3200" dirty="0" smtClean="0">
                <a:solidFill>
                  <a:schemeClr val="bg1"/>
                </a:solidFill>
              </a:rPr>
              <a:t>拉瓦锡</a:t>
            </a:r>
            <a:r>
              <a:rPr lang="en-US" altLang="zh-CN" sz="3200" dirty="0" smtClean="0">
                <a:solidFill>
                  <a:schemeClr val="bg1"/>
                </a:solidFill>
              </a:rPr>
              <a:t> -- </a:t>
            </a:r>
            <a:r>
              <a:rPr lang="zh-CN" altLang="en-US" sz="3200" dirty="0" smtClean="0">
                <a:solidFill>
                  <a:schemeClr val="bg1"/>
                </a:solidFill>
              </a:rPr>
              <a:t>燃烧的氧化学说（推翻</a:t>
            </a:r>
            <a:r>
              <a:rPr lang="zh-CN" altLang="ms-MY" sz="3200" dirty="0" smtClean="0">
                <a:solidFill>
                  <a:schemeClr val="bg1"/>
                </a:solidFill>
              </a:rPr>
              <a:t>燃素说</a:t>
            </a:r>
            <a:r>
              <a:rPr lang="en-US" altLang="zh-CN" sz="3200" dirty="0" smtClean="0">
                <a:solidFill>
                  <a:schemeClr val="bg1"/>
                </a:solidFill>
              </a:rPr>
              <a:t>	</a:t>
            </a:r>
            <a:r>
              <a:rPr lang="zh-CN" altLang="en-US" sz="3200" dirty="0" smtClean="0">
                <a:solidFill>
                  <a:schemeClr val="bg1"/>
                </a:solidFill>
              </a:rPr>
              <a:t>）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ms-MY" sz="3200" dirty="0" smtClean="0">
                <a:solidFill>
                  <a:schemeClr val="bg1"/>
                </a:solidFill>
              </a:rPr>
              <a:t>道尔顿</a:t>
            </a:r>
            <a:r>
              <a:rPr lang="en-US" altLang="zh-CN" sz="3200" dirty="0" smtClean="0">
                <a:solidFill>
                  <a:schemeClr val="bg1"/>
                </a:solidFill>
              </a:rPr>
              <a:t>--</a:t>
            </a:r>
            <a:r>
              <a:rPr lang="zh-CN" altLang="ms-MY" sz="3200" dirty="0" smtClean="0">
                <a:solidFill>
                  <a:schemeClr val="bg1"/>
                </a:solidFill>
              </a:rPr>
              <a:t>原子</a:t>
            </a:r>
            <a:r>
              <a:rPr lang="zh-CN" altLang="en-US" sz="3200" dirty="0" smtClean="0">
                <a:solidFill>
                  <a:schemeClr val="bg1"/>
                </a:solidFill>
              </a:rPr>
              <a:t>学</a:t>
            </a:r>
            <a:r>
              <a:rPr lang="zh-CN" altLang="ms-MY" sz="3200" dirty="0" smtClean="0">
                <a:solidFill>
                  <a:schemeClr val="bg1"/>
                </a:solidFill>
              </a:rPr>
              <a:t>说</a:t>
            </a:r>
            <a:r>
              <a:rPr lang="en-US" altLang="zh-CN" sz="3200" dirty="0" smtClean="0">
                <a:solidFill>
                  <a:schemeClr val="bg1"/>
                </a:solidFill>
              </a:rPr>
              <a:t>			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 marL="0" indent="0"/>
            <a:r>
              <a:rPr lang="zh-CN" altLang="en-US" sz="3200" dirty="0" smtClean="0">
                <a:solidFill>
                  <a:schemeClr val="bg1"/>
                </a:solidFill>
              </a:rPr>
              <a:t>阿伏加德罗</a:t>
            </a:r>
            <a:r>
              <a:rPr lang="en-US" altLang="zh-CN" sz="3200" dirty="0" smtClean="0">
                <a:solidFill>
                  <a:schemeClr val="bg1"/>
                </a:solidFill>
              </a:rPr>
              <a:t>– </a:t>
            </a:r>
            <a:r>
              <a:rPr lang="zh-CN" altLang="en-US" sz="3200" dirty="0" smtClean="0">
                <a:solidFill>
                  <a:schemeClr val="bg1"/>
                </a:solidFill>
              </a:rPr>
              <a:t>分子学</a:t>
            </a:r>
            <a:r>
              <a:rPr lang="zh-CN" altLang="en-US" sz="3200" dirty="0" smtClean="0">
                <a:solidFill>
                  <a:schemeClr val="bg1"/>
                </a:solidFill>
              </a:rPr>
              <a:t>说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sz="3200" dirty="0" smtClean="0">
                <a:solidFill>
                  <a:schemeClr val="bg1"/>
                </a:solidFill>
              </a:rPr>
              <a:t>康尼查</a:t>
            </a:r>
            <a:r>
              <a:rPr lang="zh-CN" altLang="en-US" sz="3200" dirty="0" smtClean="0">
                <a:solidFill>
                  <a:schemeClr val="bg1"/>
                </a:solidFill>
              </a:rPr>
              <a:t>罗</a:t>
            </a:r>
            <a:r>
              <a:rPr lang="en-US" altLang="zh-CN" sz="3200" dirty="0" smtClean="0">
                <a:solidFill>
                  <a:schemeClr val="bg1"/>
                </a:solidFill>
              </a:rPr>
              <a:t>– </a:t>
            </a:r>
            <a:r>
              <a:rPr lang="zh-CN" altLang="en-US" sz="3200" dirty="0" smtClean="0">
                <a:solidFill>
                  <a:schemeClr val="bg1"/>
                </a:solidFill>
              </a:rPr>
              <a:t>原子</a:t>
            </a:r>
            <a:r>
              <a:rPr lang="en-US" altLang="zh-CN" sz="3200" dirty="0" smtClean="0">
                <a:solidFill>
                  <a:schemeClr val="bg1"/>
                </a:solidFill>
              </a:rPr>
              <a:t>—</a:t>
            </a:r>
            <a:r>
              <a:rPr lang="zh-CN" altLang="en-US" sz="3200" dirty="0" smtClean="0">
                <a:solidFill>
                  <a:schemeClr val="bg1"/>
                </a:solidFill>
              </a:rPr>
              <a:t>分子学说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ms-MY" sz="3200" dirty="0" smtClean="0">
                <a:solidFill>
                  <a:schemeClr val="bg1"/>
                </a:solidFill>
              </a:rPr>
              <a:t>门捷列夫</a:t>
            </a:r>
            <a:r>
              <a:rPr lang="en-US" altLang="zh-CN" sz="3200" dirty="0" smtClean="0">
                <a:solidFill>
                  <a:schemeClr val="bg1"/>
                </a:solidFill>
              </a:rPr>
              <a:t>--</a:t>
            </a:r>
            <a:r>
              <a:rPr lang="zh-CN" altLang="ms-MY" sz="3200" dirty="0" smtClean="0">
                <a:solidFill>
                  <a:schemeClr val="bg1"/>
                </a:solidFill>
              </a:rPr>
              <a:t>元素周期</a:t>
            </a:r>
            <a:r>
              <a:rPr lang="zh-CN" altLang="en-US" sz="3200" dirty="0" smtClean="0">
                <a:solidFill>
                  <a:schemeClr val="bg1"/>
                </a:solidFill>
              </a:rPr>
              <a:t>律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sz="32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298" y="304800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1.2 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化学发展成为一门中心科学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047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24000"/>
            <a:ext cx="8435280" cy="4495800"/>
          </a:xfrm>
        </p:spPr>
        <p:txBody>
          <a:bodyPr>
            <a:normAutofit/>
          </a:bodyPr>
          <a:lstStyle/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交流分享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拉瓦锡将化学研究从以前的定性研究发展为定量研究，并提出质量守恒定律。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道尔顿使化学研究有宏观进入微观，将两者的理论研究结合起来，揭示化学现象的本质。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sz="30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298" y="304800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1.2 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化学发展成为一门中心科学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047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936" y="1371600"/>
            <a:ext cx="8596064" cy="4495800"/>
          </a:xfrm>
        </p:spPr>
        <p:txBody>
          <a:bodyPr>
            <a:normAutofit/>
          </a:bodyPr>
          <a:lstStyle/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化学与能源、环境、材料和人类健康的关系密切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人类使用能源的历史：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/>
            <a:r>
              <a:rPr lang="zh-CN" altLang="en-US" sz="2700" dirty="0" smtClean="0">
                <a:solidFill>
                  <a:schemeClr val="bg1"/>
                </a:solidFill>
              </a:rPr>
              <a:t>柴薪、煤炭、石油、核能、氢能、太阳能等</a:t>
            </a:r>
            <a:endParaRPr lang="en-US" altLang="zh-CN" sz="2700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解决环境问题：解决</a:t>
            </a:r>
            <a:r>
              <a:rPr lang="en-US" altLang="zh-CN" dirty="0" smtClean="0">
                <a:solidFill>
                  <a:schemeClr val="bg1"/>
                </a:solidFill>
              </a:rPr>
              <a:t>SO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baseline="-25000" dirty="0" smtClean="0">
                <a:solidFill>
                  <a:schemeClr val="bg1"/>
                </a:solidFill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</a:rPr>
              <a:t>排放、汽车尾气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合成氨气</a:t>
            </a:r>
            <a:r>
              <a:rPr lang="en-US" altLang="zh-CN" dirty="0" smtClean="0">
                <a:solidFill>
                  <a:schemeClr val="bg1"/>
                </a:solidFill>
              </a:rPr>
              <a:t>—</a:t>
            </a:r>
            <a:r>
              <a:rPr lang="zh-CN" altLang="en-US" dirty="0" smtClean="0">
                <a:solidFill>
                  <a:schemeClr val="bg1"/>
                </a:solidFill>
              </a:rPr>
              <a:t>氮肥，增加粮食产量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新药物的研制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/>
            <a:r>
              <a:rPr lang="zh-CN" altLang="en-US" dirty="0" smtClean="0">
                <a:solidFill>
                  <a:schemeClr val="bg1"/>
                </a:solidFill>
              </a:rPr>
              <a:t>食品添加剂、化妆品、塑料、光纤等等。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01752" lvl="1" indent="0">
              <a:buNone/>
            </a:pPr>
            <a:endParaRPr lang="en-US" altLang="zh-CN" sz="28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sz="3200" dirty="0" smtClean="0">
              <a:solidFill>
                <a:schemeClr val="bg1"/>
              </a:solidFill>
            </a:endParaRPr>
          </a:p>
          <a:p>
            <a:pPr marL="301752" lvl="1" indent="0"/>
            <a:endParaRPr lang="en-US" altLang="zh-CN" sz="3200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298" y="304800"/>
            <a:ext cx="7136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1.3 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化学与人类社会发展密切相关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047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1.4 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化学的研究对象</a:t>
            </a:r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-- 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物质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57200" y="1143000"/>
            <a:ext cx="7924800" cy="5715000"/>
          </a:xfrm>
        </p:spPr>
        <p:txBody>
          <a:bodyPr>
            <a:no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物质包括了一切我们看得到摸得到和看不到摸不到的东西。</a:t>
            </a:r>
            <a:endParaRPr lang="en-US" altLang="zh-CN" dirty="0" smtClean="0">
              <a:solidFill>
                <a:schemeClr val="bg1"/>
              </a:solidFill>
              <a:latin typeface="+mn-ea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物质都具有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质量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和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占有空间</a:t>
            </a:r>
            <a:endParaRPr lang="en-US" b="1" dirty="0" smtClean="0">
              <a:solidFill>
                <a:schemeClr val="bg1"/>
              </a:solidFill>
              <a:latin typeface="+mn-ea"/>
            </a:endParaRPr>
          </a:p>
          <a:p>
            <a:pPr>
              <a:buNone/>
            </a:pP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1.4.1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元素</a:t>
            </a:r>
            <a:endParaRPr lang="en-US" altLang="zh-CN" b="1" dirty="0" smtClean="0">
              <a:solidFill>
                <a:schemeClr val="bg1"/>
              </a:solidFill>
              <a:latin typeface="+mn-ea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元素是最简单的物质，不能用化学方法再分解为更简单的物质</a:t>
            </a:r>
            <a:endParaRPr lang="en-US" altLang="zh-CN" dirty="0" smtClean="0">
              <a:solidFill>
                <a:schemeClr val="bg1"/>
              </a:solidFill>
              <a:latin typeface="+mn-ea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共发现了</a:t>
            </a:r>
            <a:r>
              <a:rPr lang="en-US" altLang="zh-CN" dirty="0" smtClean="0">
                <a:solidFill>
                  <a:schemeClr val="bg1"/>
                </a:solidFill>
                <a:latin typeface="+mn-ea"/>
              </a:rPr>
              <a:t>118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种元素，其中少数是人造的</a:t>
            </a:r>
            <a:endParaRPr lang="en-US" altLang="zh-CN" dirty="0" smtClean="0">
              <a:solidFill>
                <a:schemeClr val="bg1"/>
              </a:solidFill>
              <a:latin typeface="+mn-ea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元素符号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碳 </a:t>
            </a:r>
            <a:r>
              <a:rPr lang="en-US" altLang="zh-CN" dirty="0" smtClean="0">
                <a:solidFill>
                  <a:schemeClr val="bg1"/>
                </a:solidFill>
                <a:latin typeface="+mn-ea"/>
              </a:rPr>
              <a:t>(C)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，氧</a:t>
            </a:r>
            <a:r>
              <a:rPr lang="en-US" altLang="zh-CN" dirty="0" smtClean="0">
                <a:solidFill>
                  <a:schemeClr val="bg1"/>
                </a:solidFill>
                <a:latin typeface="+mn-ea"/>
              </a:rPr>
              <a:t>(O)</a:t>
            </a:r>
          </a:p>
          <a:p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元素能够组成</a:t>
            </a:r>
            <a:r>
              <a:rPr lang="zh-CN" alt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单质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也能互相化合组成</a:t>
            </a:r>
            <a:r>
              <a:rPr lang="zh-CN" alt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化合物</a:t>
            </a:r>
            <a:endParaRPr lang="en-US" altLang="zh-CN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endParaRPr lang="en-US" altLang="zh-CN" dirty="0" smtClean="0">
              <a:solidFill>
                <a:schemeClr val="bg1"/>
              </a:solidFill>
              <a:latin typeface="+mn-ea"/>
            </a:endParaRPr>
          </a:p>
          <a:p>
            <a:endParaRPr lang="en-US" dirty="0"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65392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1.4.2 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</a:t>
            </a:r>
            <a:r>
              <a:rPr lang="zh-CN" altLang="ms-MY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质的分类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Content Placeholder 16" descr="142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291" y="1219200"/>
            <a:ext cx="8801309" cy="5105400"/>
          </a:xfrm>
        </p:spPr>
      </p:pic>
      <p:sp>
        <p:nvSpPr>
          <p:cNvPr id="18" name="TextBox 17"/>
          <p:cNvSpPr txBox="1"/>
          <p:nvPr/>
        </p:nvSpPr>
        <p:spPr>
          <a:xfrm>
            <a:off x="5410200" y="4719935"/>
            <a:ext cx="272222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 smtClean="0"/>
              <a:t>sfsdggkdjfigjidjgifjij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0165392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1.4.2 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</a:t>
            </a:r>
            <a:r>
              <a:rPr lang="zh-CN" altLang="ms-MY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质的分类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1066800"/>
            <a:ext cx="7467600" cy="4525963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>
                <a:solidFill>
                  <a:schemeClr val="bg1"/>
                </a:solidFill>
              </a:rPr>
              <a:t>问题解决</a:t>
            </a:r>
          </a:p>
          <a:p>
            <a:pPr>
              <a:buNone/>
            </a:pPr>
            <a:endParaRPr lang="en-US" altLang="zh-CN" dirty="0" smtClean="0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288413465"/>
              </p:ext>
            </p:extLst>
          </p:nvPr>
        </p:nvGraphicFramePr>
        <p:xfrm>
          <a:off x="457200" y="1752600"/>
          <a:ext cx="8229600" cy="34747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空气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混合物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石墨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单质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乙醇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化合物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硫酸铵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化合物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水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化合物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碘酒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混合物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铜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单质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碘</a:t>
                      </a:r>
                      <a:endParaRPr lang="en-MY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单质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氧气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单质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氢氧化钠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化合物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食盐水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混合物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稀硫酸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混合物</a:t>
                      </a:r>
                      <a:endParaRPr lang="en-MY" sz="32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90800" y="2362200"/>
            <a:ext cx="1905000" cy="5334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590800" y="1828800"/>
            <a:ext cx="1905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590800" y="2971800"/>
            <a:ext cx="1905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590800" y="3505200"/>
            <a:ext cx="1905000" cy="5334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590800" y="4114800"/>
            <a:ext cx="1905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590800" y="4724400"/>
            <a:ext cx="1905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705600" y="1828800"/>
            <a:ext cx="1905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705600" y="2362200"/>
            <a:ext cx="1905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705600" y="2971800"/>
            <a:ext cx="1905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705600" y="3581400"/>
            <a:ext cx="1905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6705600" y="4114800"/>
            <a:ext cx="1905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705600" y="4724400"/>
            <a:ext cx="1905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65392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1.4.3 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质三态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19200"/>
            <a:ext cx="8496944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 smtClean="0">
                <a:solidFill>
                  <a:schemeClr val="bg1"/>
                </a:solidFill>
              </a:rPr>
              <a:t>物质的状态与外界条件</a:t>
            </a:r>
            <a:r>
              <a:rPr lang="en-US" altLang="zh-CN" dirty="0" smtClean="0">
                <a:solidFill>
                  <a:schemeClr val="bg1"/>
                </a:solidFill>
              </a:rPr>
              <a:t>(</a:t>
            </a:r>
            <a:r>
              <a:rPr lang="zh-CN" altLang="en-US" dirty="0" smtClean="0">
                <a:solidFill>
                  <a:schemeClr val="bg1"/>
                </a:solidFill>
              </a:rPr>
              <a:t>如温度、压强</a:t>
            </a:r>
            <a:r>
              <a:rPr lang="en-US" altLang="zh-CN" dirty="0" smtClean="0">
                <a:solidFill>
                  <a:schemeClr val="bg1"/>
                </a:solidFill>
              </a:rPr>
              <a:t>)</a:t>
            </a:r>
            <a:r>
              <a:rPr lang="zh-CN" altLang="en-US" dirty="0" smtClean="0">
                <a:solidFill>
                  <a:schemeClr val="bg1"/>
                </a:solidFill>
              </a:rPr>
              <a:t>有关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bg1"/>
                </a:solidFill>
              </a:rPr>
              <a:t>固态：粒子排列整齐而且紧密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</a:rPr>
              <a:t>液态：粒子</a:t>
            </a:r>
            <a:r>
              <a:rPr lang="zh-CN" altLang="en-US" dirty="0" smtClean="0">
                <a:solidFill>
                  <a:schemeClr val="bg1"/>
                </a:solidFill>
              </a:rPr>
              <a:t>排列凌乱但仍紧密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bg1"/>
                </a:solidFill>
              </a:rPr>
              <a:t>气</a:t>
            </a:r>
            <a:r>
              <a:rPr lang="zh-CN" altLang="en-US" dirty="0">
                <a:solidFill>
                  <a:schemeClr val="bg1"/>
                </a:solidFill>
              </a:rPr>
              <a:t>态：粒子</a:t>
            </a:r>
            <a:r>
              <a:rPr lang="zh-CN" altLang="en-US" dirty="0" smtClean="0">
                <a:solidFill>
                  <a:schemeClr val="bg1"/>
                </a:solidFill>
              </a:rPr>
              <a:t>排列凌乱且疏松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bg1"/>
                </a:solidFill>
              </a:rPr>
              <a:t>哪个可被压缩？为什么？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bg1"/>
                </a:solidFill>
              </a:rPr>
              <a:t>哪个扩散较快？为什么？</a:t>
            </a:r>
            <a:endParaRPr lang="ms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677420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1.4.4 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</a:t>
            </a:r>
            <a:r>
              <a:rPr lang="zh-CN" altLang="ms-MY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化学性质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496944" cy="4844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ms-MY" dirty="0" smtClean="0">
                <a:solidFill>
                  <a:schemeClr val="bg1"/>
                </a:solidFill>
              </a:rPr>
              <a:t>物理性质</a:t>
            </a:r>
            <a:r>
              <a:rPr lang="zh-CN" altLang="en-US" dirty="0" smtClean="0">
                <a:solidFill>
                  <a:schemeClr val="bg1"/>
                </a:solidFill>
              </a:rPr>
              <a:t>：</a:t>
            </a:r>
            <a:r>
              <a:rPr lang="zh-CN" altLang="ms-MY" dirty="0" smtClean="0">
                <a:solidFill>
                  <a:schemeClr val="bg1"/>
                </a:solidFill>
              </a:rPr>
              <a:t>物质不需要发生化学变化就表现出来的性质，例如：</a:t>
            </a:r>
          </a:p>
          <a:p>
            <a:r>
              <a:rPr lang="zh-CN" altLang="ms-MY" dirty="0" smtClean="0">
                <a:solidFill>
                  <a:schemeClr val="bg1"/>
                </a:solidFill>
              </a:rPr>
              <a:t>颜色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气味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密度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熔点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热导率</a:t>
            </a:r>
            <a:r>
              <a:rPr lang="zh-CN" altLang="en-US" dirty="0" smtClean="0">
                <a:solidFill>
                  <a:schemeClr val="bg1"/>
                </a:solidFill>
              </a:rPr>
              <a:t>、硬度</a:t>
            </a:r>
            <a:endParaRPr lang="ms-MY" altLang="zh-CN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ms-MY" dirty="0" smtClean="0">
                <a:solidFill>
                  <a:schemeClr val="bg1"/>
                </a:solidFill>
              </a:rPr>
              <a:t>化学性质</a:t>
            </a:r>
            <a:r>
              <a:rPr lang="zh-CN" altLang="en-US" dirty="0" smtClean="0">
                <a:solidFill>
                  <a:schemeClr val="bg1"/>
                </a:solidFill>
              </a:rPr>
              <a:t>：</a:t>
            </a:r>
            <a:r>
              <a:rPr lang="zh-CN" altLang="ms-MY" dirty="0" smtClean="0">
                <a:solidFill>
                  <a:schemeClr val="bg1"/>
                </a:solidFill>
              </a:rPr>
              <a:t>物质在化学反应中表现出来的特征及性质。</a:t>
            </a:r>
            <a:endParaRPr lang="ms-MY" altLang="zh-CN" dirty="0" smtClean="0">
              <a:solidFill>
                <a:schemeClr val="bg1"/>
              </a:solidFill>
            </a:endParaRPr>
          </a:p>
          <a:p>
            <a:r>
              <a:rPr lang="zh-CN" altLang="ms-MY" dirty="0" smtClean="0">
                <a:solidFill>
                  <a:schemeClr val="bg1"/>
                </a:solidFill>
              </a:rPr>
              <a:t>酸性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碱性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可燃性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氧化性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还原性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热稳定性</a:t>
            </a:r>
            <a:r>
              <a:rPr lang="zh-CN" altLang="en-US" dirty="0" smtClean="0">
                <a:solidFill>
                  <a:schemeClr val="bg1"/>
                </a:solidFill>
              </a:rPr>
              <a:t>、</a:t>
            </a:r>
            <a:r>
              <a:rPr lang="zh-CN" altLang="ms-MY" dirty="0" smtClean="0">
                <a:solidFill>
                  <a:schemeClr val="bg1"/>
                </a:solidFill>
              </a:rPr>
              <a:t>助燃性</a:t>
            </a:r>
            <a:endParaRPr lang="ms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21695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1.4.4 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性质与</a:t>
            </a:r>
            <a:r>
              <a:rPr lang="zh-CN" altLang="ms-MY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ms-MY" dirty="0" smtClean="0">
                <a:solidFill>
                  <a:schemeClr val="bg1"/>
                </a:solidFill>
              </a:rPr>
              <a:t>物理变化：物理变化的过程中，原有的分子并未分解，也没有新的分子产生。只是分子间的距离改变了。 </a:t>
            </a:r>
            <a:endParaRPr lang="ms-MY" altLang="zh-CN" dirty="0" smtClean="0">
              <a:solidFill>
                <a:schemeClr val="bg1"/>
              </a:solidFill>
            </a:endParaRPr>
          </a:p>
          <a:p>
            <a:r>
              <a:rPr lang="zh-CN" altLang="ms-MY" dirty="0" smtClean="0">
                <a:solidFill>
                  <a:schemeClr val="bg1"/>
                </a:solidFill>
              </a:rPr>
              <a:t>化学变化：化学变化的过程中，原有的分子分解，原子重新组合成新的分子</a:t>
            </a:r>
            <a:r>
              <a:rPr lang="zh-CN" altLang="en-US" dirty="0" smtClean="0">
                <a:solidFill>
                  <a:schemeClr val="bg1"/>
                </a:solidFill>
              </a:rPr>
              <a:t>，同时伴随着能量的吸收或放出。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ms-MY" dirty="0" smtClean="0">
                <a:solidFill>
                  <a:schemeClr val="bg1"/>
                </a:solidFill>
              </a:rPr>
              <a:t> </a:t>
            </a:r>
            <a:endParaRPr lang="ms-MY" altLang="zh-CN" dirty="0" smtClean="0">
              <a:solidFill>
                <a:schemeClr val="bg1"/>
              </a:solidFill>
            </a:endParaRPr>
          </a:p>
          <a:p>
            <a:r>
              <a:rPr lang="zh-CN" altLang="ms-MY" dirty="0" smtClean="0">
                <a:solidFill>
                  <a:schemeClr val="bg1"/>
                </a:solidFill>
              </a:rPr>
              <a:t>区别： 物理变化－并</a:t>
            </a:r>
            <a:r>
              <a:rPr lang="zh-CN" altLang="ms-MY" b="1" dirty="0" smtClean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没有</a:t>
            </a:r>
            <a:r>
              <a:rPr lang="zh-CN" altLang="ms-MY" dirty="0" smtClean="0">
                <a:solidFill>
                  <a:schemeClr val="bg1"/>
                </a:solidFill>
              </a:rPr>
              <a:t>产生新的分子。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dirty="0" smtClean="0">
                <a:solidFill>
                  <a:schemeClr val="bg1"/>
                </a:solidFill>
              </a:rPr>
              <a:t>		       </a:t>
            </a:r>
            <a:r>
              <a:rPr lang="zh-CN" altLang="ms-MY" dirty="0" smtClean="0">
                <a:solidFill>
                  <a:schemeClr val="bg1"/>
                </a:solidFill>
              </a:rPr>
              <a:t>化学变化－</a:t>
            </a:r>
            <a:r>
              <a:rPr lang="zh-CN" altLang="ms-MY" b="1" dirty="0" smtClean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产生</a:t>
            </a:r>
            <a:r>
              <a:rPr lang="zh-CN" altLang="ms-MY" dirty="0" smtClean="0">
                <a:solidFill>
                  <a:schemeClr val="bg1"/>
                </a:solidFill>
              </a:rPr>
              <a:t>新的分子。 </a:t>
            </a:r>
            <a:endParaRPr lang="ms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60288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51197" y="0"/>
            <a:ext cx="919519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1d</a:t>
            </a:r>
            <a:endParaRPr lang="ms-MY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288413465"/>
              </p:ext>
            </p:extLst>
          </p:nvPr>
        </p:nvGraphicFramePr>
        <p:xfrm>
          <a:off x="457200" y="1508760"/>
          <a:ext cx="8229600" cy="4053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819400"/>
                <a:gridCol w="1447800"/>
                <a:gridCol w="2590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镁有光泽</a:t>
                      </a:r>
                      <a:endParaRPr lang="en-US" altLang="zh-CN" sz="32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酒精挥发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200" b="1" dirty="0" smtClean="0"/>
                        <a:t> </a:t>
                      </a:r>
                      <a:r>
                        <a:rPr lang="zh-CN" altLang="en-US" sz="3200" b="1" dirty="0" smtClean="0"/>
                        <a:t>物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天然气可燃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葡萄酿成酒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200" b="1" dirty="0" smtClean="0"/>
                        <a:t> </a:t>
                      </a:r>
                      <a:r>
                        <a:rPr lang="zh-CN" altLang="en-US" sz="3200" b="1" dirty="0" smtClean="0"/>
                        <a:t>化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水能被电解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森林着火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200" b="1" dirty="0" smtClean="0"/>
                        <a:t> </a:t>
                      </a:r>
                      <a:r>
                        <a:rPr lang="zh-CN" altLang="en-US" sz="3200" b="1" dirty="0" smtClean="0"/>
                        <a:t>化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碘易升华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湿衣服晾干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200" b="1" dirty="0" smtClean="0"/>
                        <a:t> </a:t>
                      </a:r>
                      <a:r>
                        <a:rPr lang="zh-CN" altLang="en-US" sz="3200" b="1" dirty="0" smtClean="0"/>
                        <a:t>物</a:t>
                      </a:r>
                      <a:endParaRPr lang="en-MY" sz="3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灯泡发亮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火药爆炸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 smtClean="0"/>
                        <a:t> </a:t>
                      </a:r>
                      <a:r>
                        <a:rPr lang="zh-CN" altLang="en-US" sz="3200" b="1" dirty="0" smtClean="0"/>
                        <a:t>化</a:t>
                      </a:r>
                      <a:endParaRPr lang="en-US" altLang="zh-CN" sz="3200" b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铁生锈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化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海水晒盐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 smtClean="0"/>
                        <a:t> </a:t>
                      </a:r>
                      <a:r>
                        <a:rPr lang="zh-CN" altLang="en-US" sz="3200" b="1" dirty="0" smtClean="0"/>
                        <a:t>物</a:t>
                      </a:r>
                      <a:endParaRPr lang="en-US" altLang="zh-CN" sz="3200" b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冰融化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物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点燃煤气</a:t>
                      </a:r>
                      <a:endParaRPr lang="en-MY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/>
                        <a:t> 化</a:t>
                      </a:r>
                      <a:endParaRPr lang="en-US" altLang="zh-CN" sz="3200" b="1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352800" y="2133600"/>
            <a:ext cx="1143000" cy="533400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19050"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352800" y="1600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352800" y="2743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352800" y="3276600"/>
            <a:ext cx="1143000" cy="533400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19050"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352800" y="3886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352800" y="4495800"/>
            <a:ext cx="1143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19050"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7467600" y="1600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467600" y="2133600"/>
            <a:ext cx="1143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19050"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7467600" y="2743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467600" y="3352800"/>
            <a:ext cx="1143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19050"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7467600" y="3886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7467600" y="4495800"/>
            <a:ext cx="1143000" cy="457200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19050">
            <a:solidFill>
              <a:srgbClr val="D4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7467600" y="5029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3352800" y="5029200"/>
            <a:ext cx="1143000" cy="4572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1905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65392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8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599</TotalTime>
  <Words>1304</Words>
  <Application>Microsoft Office PowerPoint</Application>
  <PresentationFormat>On-screen Show (4:3)</PresentationFormat>
  <Paragraphs>148</Paragraphs>
  <Slides>17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Technic</vt:lpstr>
      <vt:lpstr>化学是什么 ？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1.4 化学的研究对象-- 物质</vt:lpstr>
      <vt:lpstr>1.4.2 物质的分类</vt:lpstr>
      <vt:lpstr>1.4.2 物质的分类</vt:lpstr>
      <vt:lpstr>1.4.3 物质三态</vt:lpstr>
      <vt:lpstr>1.4.4 物理性质与化学性质</vt:lpstr>
      <vt:lpstr>1.4.4 物理性质与化学性质</vt:lpstr>
      <vt:lpstr>思考题1d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Shuan</dc:creator>
  <cp:lastModifiedBy>user</cp:lastModifiedBy>
  <cp:revision>78</cp:revision>
  <dcterms:created xsi:type="dcterms:W3CDTF">2016-03-14T05:05:08Z</dcterms:created>
  <dcterms:modified xsi:type="dcterms:W3CDTF">2018-11-22T07:37:38Z</dcterms:modified>
</cp:coreProperties>
</file>