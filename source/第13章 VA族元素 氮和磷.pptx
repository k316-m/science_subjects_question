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gif" ContentType="image/gif"/>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82" r:id="rId14"/>
    <p:sldId id="300" r:id="rId15"/>
    <p:sldId id="283" r:id="rId16"/>
    <p:sldId id="268" r:id="rId17"/>
    <p:sldId id="274" r:id="rId18"/>
    <p:sldId id="275" r:id="rId19"/>
    <p:sldId id="276" r:id="rId20"/>
    <p:sldId id="277" r:id="rId21"/>
    <p:sldId id="284" r:id="rId22"/>
    <p:sldId id="278" r:id="rId23"/>
    <p:sldId id="285" r:id="rId24"/>
    <p:sldId id="279" r:id="rId25"/>
    <p:sldId id="280" r:id="rId26"/>
    <p:sldId id="286" r:id="rId27"/>
    <p:sldId id="287" r:id="rId28"/>
    <p:sldId id="288" r:id="rId29"/>
    <p:sldId id="273" r:id="rId30"/>
    <p:sldId id="281" r:id="rId31"/>
    <p:sldId id="301" r:id="rId32"/>
    <p:sldId id="304" r:id="rId33"/>
    <p:sldId id="305" r:id="rId34"/>
    <p:sldId id="306" r:id="rId35"/>
    <p:sldId id="307" r:id="rId36"/>
    <p:sldId id="302" r:id="rId37"/>
    <p:sldId id="308" r:id="rId38"/>
    <p:sldId id="309" r:id="rId39"/>
    <p:sldId id="310" r:id="rId40"/>
    <p:sldId id="303" r:id="rId41"/>
    <p:sldId id="311" r:id="rId42"/>
    <p:sldId id="312" r:id="rId43"/>
    <p:sldId id="313" r:id="rId44"/>
    <p:sldId id="314" r:id="rId45"/>
    <p:sldId id="291" r:id="rId46"/>
    <p:sldId id="292" r:id="rId47"/>
    <p:sldId id="315" r:id="rId48"/>
    <p:sldId id="271" r:id="rId49"/>
    <p:sldId id="289" r:id="rId50"/>
    <p:sldId id="290" r:id="rId51"/>
    <p:sldId id="293" r:id="rId52"/>
    <p:sldId id="294" r:id="rId53"/>
    <p:sldId id="270" r:id="rId54"/>
    <p:sldId id="295" r:id="rId55"/>
    <p:sldId id="296" r:id="rId56"/>
    <p:sldId id="297" r:id="rId57"/>
    <p:sldId id="298" r:id="rId58"/>
    <p:sldId id="316" r:id="rId59"/>
    <p:sldId id="299" r:id="rId60"/>
    <p:sldId id="317" r:id="rId61"/>
    <p:sldId id="318" r:id="rId6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085" autoAdjust="0"/>
    <p:restoredTop sz="94660"/>
  </p:normalViewPr>
  <p:slideViewPr>
    <p:cSldViewPr>
      <p:cViewPr varScale="1">
        <p:scale>
          <a:sx n="69" d="100"/>
          <a:sy n="69" d="100"/>
        </p:scale>
        <p:origin x="-654" y="-10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B139ADF-033D-45F9-8F5E-E84BEC284252}" type="datetimeFigureOut">
              <a:rPr lang="en-US" smtClean="0"/>
              <a:pPr/>
              <a:t>1/14/2019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91B932-DAA0-4EE1-ABBD-1FF485329CF3}"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B139ADF-033D-45F9-8F5E-E84BEC284252}" type="datetimeFigureOut">
              <a:rPr lang="en-US" smtClean="0"/>
              <a:pPr/>
              <a:t>1/14/2019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91B932-DAA0-4EE1-ABBD-1FF485329CF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B139ADF-033D-45F9-8F5E-E84BEC284252}" type="datetimeFigureOut">
              <a:rPr lang="en-US" smtClean="0"/>
              <a:pPr/>
              <a:t>1/14/2019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91B932-DAA0-4EE1-ABBD-1FF485329CF3}"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B139ADF-033D-45F9-8F5E-E84BEC284252}" type="datetimeFigureOut">
              <a:rPr lang="en-US" smtClean="0"/>
              <a:pPr/>
              <a:t>1/14/2019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91B932-DAA0-4EE1-ABBD-1FF485329CF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B139ADF-033D-45F9-8F5E-E84BEC284252}" type="datetimeFigureOut">
              <a:rPr lang="en-US" smtClean="0"/>
              <a:pPr/>
              <a:t>1/14/2019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691B932-DAA0-4EE1-ABBD-1FF485329CF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B139ADF-033D-45F9-8F5E-E84BEC284252}" type="datetimeFigureOut">
              <a:rPr lang="en-US" smtClean="0"/>
              <a:pPr/>
              <a:t>1/14/2019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691B932-DAA0-4EE1-ABBD-1FF485329CF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B139ADF-033D-45F9-8F5E-E84BEC284252}" type="datetimeFigureOut">
              <a:rPr lang="en-US" smtClean="0"/>
              <a:pPr/>
              <a:t>1/14/2019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691B932-DAA0-4EE1-ABBD-1FF485329CF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B139ADF-033D-45F9-8F5E-E84BEC284252}" type="datetimeFigureOut">
              <a:rPr lang="en-US" smtClean="0"/>
              <a:pPr/>
              <a:t>1/14/2019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91B932-DAA0-4EE1-ABBD-1FF485329CF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B139ADF-033D-45F9-8F5E-E84BEC284252}" type="datetimeFigureOut">
              <a:rPr lang="en-US" smtClean="0"/>
              <a:pPr/>
              <a:t>1/14/2019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91B932-DAA0-4EE1-ABBD-1FF485329CF3}"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B139ADF-033D-45F9-8F5E-E84BEC284252}" type="datetimeFigureOut">
              <a:rPr lang="en-US" smtClean="0"/>
              <a:pPr/>
              <a:t>1/14/2019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91B932-DAA0-4EE1-ABBD-1FF485329CF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B139ADF-033D-45F9-8F5E-E84BEC284252}" type="datetimeFigureOut">
              <a:rPr lang="en-US" smtClean="0"/>
              <a:pPr/>
              <a:t>1/14/2019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91B932-DAA0-4EE1-ABBD-1FF485329CF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139ADF-033D-45F9-8F5E-E84BEC284252}" type="datetimeFigureOut">
              <a:rPr lang="en-US" smtClean="0"/>
              <a:pPr/>
              <a:t>1/14/2019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91B932-DAA0-4EE1-ABBD-1FF485329CF3}"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4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22.jpeg"/><Relationship Id="rId5" Type="http://schemas.openxmlformats.org/officeDocument/2006/relationships/image" Target="../media/image21.jpeg"/><Relationship Id="rId4" Type="http://schemas.openxmlformats.org/officeDocument/2006/relationships/image" Target="../media/image20.png"/></Relationships>
</file>

<file path=ppt/slides/_rels/slide4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ctrTitle"/>
          </p:nvPr>
        </p:nvSpPr>
        <p:spPr>
          <a:xfrm>
            <a:off x="685800" y="838201"/>
            <a:ext cx="7772400" cy="2762250"/>
          </a:xfrm>
        </p:spPr>
        <p:txBody>
          <a:bodyPr>
            <a:noAutofit/>
          </a:bodyPr>
          <a:lstStyle/>
          <a:p>
            <a:r>
              <a:rPr lang="zh-CN" altLang="en-US" sz="6000" dirty="0" smtClean="0"/>
              <a:t>第</a:t>
            </a:r>
            <a:r>
              <a:rPr lang="en-US" altLang="zh-CN" sz="6000" dirty="0" smtClean="0"/>
              <a:t>13</a:t>
            </a:r>
            <a:r>
              <a:rPr lang="zh-CN" altLang="en-US" sz="6000" dirty="0" smtClean="0"/>
              <a:t>章</a:t>
            </a:r>
            <a:r>
              <a:rPr lang="en-US" altLang="zh-CN" sz="6000" dirty="0" smtClean="0"/>
              <a:t/>
            </a:r>
            <a:br>
              <a:rPr lang="en-US" altLang="zh-CN" sz="6000" dirty="0" smtClean="0"/>
            </a:br>
            <a:r>
              <a:rPr lang="en-US" altLang="zh-CN" sz="6000" dirty="0" smtClean="0"/>
              <a:t>VA</a:t>
            </a:r>
            <a:r>
              <a:rPr lang="zh-CN" altLang="en-US" sz="6000" dirty="0" smtClean="0"/>
              <a:t>族元素：</a:t>
            </a:r>
            <a:r>
              <a:rPr lang="en-US" altLang="zh-CN" sz="6000" dirty="0" smtClean="0"/>
              <a:t/>
            </a:r>
            <a:br>
              <a:rPr lang="en-US" altLang="zh-CN" sz="6000" dirty="0" smtClean="0"/>
            </a:br>
            <a:r>
              <a:rPr lang="zh-CN" altLang="en-US" sz="6000" dirty="0" smtClean="0"/>
              <a:t>氮和磷</a:t>
            </a:r>
            <a:endParaRPr lang="en-US" sz="6000" dirty="0"/>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152400"/>
            <a:ext cx="8229600" cy="1143000"/>
          </a:xfrm>
        </p:spPr>
        <p:txBody>
          <a:bodyPr/>
          <a:lstStyle/>
          <a:p>
            <a:r>
              <a:rPr lang="zh-CN" altLang="en-US" dirty="0" smtClean="0"/>
              <a:t>氮族元素</a:t>
            </a:r>
            <a:endParaRPr lang="en-US" dirty="0"/>
          </a:p>
        </p:txBody>
      </p:sp>
      <p:sp>
        <p:nvSpPr>
          <p:cNvPr id="5" name="Content Placeholder 2"/>
          <p:cNvSpPr txBox="1">
            <a:spLocks/>
          </p:cNvSpPr>
          <p:nvPr/>
        </p:nvSpPr>
        <p:spPr>
          <a:xfrm>
            <a:off x="567690" y="953428"/>
            <a:ext cx="7886700" cy="4351338"/>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Ø"/>
              <a:tabLst/>
              <a:defRPr/>
            </a:pPr>
            <a:r>
              <a:rPr kumimoji="0" lang="zh-CN" altLang="en-US" sz="3200" b="0" i="0" u="none" strike="noStrike" kern="1200" cap="none" spc="0" normalizeH="0" baseline="0" noProof="0" dirty="0" smtClean="0">
                <a:ln>
                  <a:noFill/>
                </a:ln>
                <a:effectLst/>
                <a:uLnTx/>
                <a:uFillTx/>
                <a:latin typeface="+mn-lt"/>
                <a:ea typeface="+mn-ea"/>
                <a:cs typeface="+mn-cs"/>
              </a:rPr>
              <a:t>氮</a:t>
            </a:r>
            <a:r>
              <a:rPr kumimoji="0" lang="en-US" altLang="zh-CN" sz="3200" b="0" i="0" u="none" strike="noStrike" kern="1200" cap="none" spc="0" normalizeH="0" baseline="0" noProof="0" dirty="0" smtClean="0">
                <a:ln>
                  <a:noFill/>
                </a:ln>
                <a:effectLst/>
                <a:uLnTx/>
                <a:uFillTx/>
                <a:latin typeface="+mn-lt"/>
                <a:ea typeface="+mn-ea"/>
                <a:cs typeface="+mn-cs"/>
              </a:rPr>
              <a:t>N</a:t>
            </a:r>
            <a:r>
              <a:rPr kumimoji="0" lang="zh-CN" altLang="en-US" sz="3200" b="0" i="0" u="none" strike="noStrike" kern="1200" cap="none" spc="0" normalizeH="0" baseline="0" noProof="0" dirty="0" smtClean="0">
                <a:ln>
                  <a:noFill/>
                </a:ln>
                <a:effectLst/>
                <a:uLnTx/>
                <a:uFillTx/>
                <a:latin typeface="+mn-lt"/>
                <a:ea typeface="+mn-ea"/>
                <a:cs typeface="+mn-cs"/>
              </a:rPr>
              <a:t>、磷</a:t>
            </a:r>
            <a:r>
              <a:rPr kumimoji="0" lang="en-US" altLang="zh-CN" sz="3200" b="0" i="0" u="none" strike="noStrike" kern="1200" cap="none" spc="0" normalizeH="0" baseline="0" noProof="0" dirty="0" smtClean="0">
                <a:ln>
                  <a:noFill/>
                </a:ln>
                <a:effectLst/>
                <a:uLnTx/>
                <a:uFillTx/>
                <a:latin typeface="+mn-lt"/>
                <a:ea typeface="+mn-ea"/>
                <a:cs typeface="+mn-cs"/>
              </a:rPr>
              <a:t>P</a:t>
            </a:r>
            <a:r>
              <a:rPr kumimoji="0" lang="zh-CN" altLang="en-US" sz="3200" b="0" i="0" u="none" strike="noStrike" kern="1200" cap="none" spc="0" normalizeH="0" baseline="0" noProof="0" dirty="0" smtClean="0">
                <a:ln>
                  <a:noFill/>
                </a:ln>
                <a:effectLst/>
                <a:uLnTx/>
                <a:uFillTx/>
                <a:latin typeface="+mn-lt"/>
                <a:ea typeface="+mn-ea"/>
                <a:cs typeface="+mn-cs"/>
              </a:rPr>
              <a:t>、砷</a:t>
            </a:r>
            <a:r>
              <a:rPr kumimoji="0" lang="en-US" altLang="zh-CN" sz="3200" b="0" i="0" u="none" strike="noStrike" kern="1200" cap="none" spc="0" normalizeH="0" baseline="0" noProof="0" dirty="0" smtClean="0">
                <a:ln>
                  <a:noFill/>
                </a:ln>
                <a:effectLst/>
                <a:uLnTx/>
                <a:uFillTx/>
                <a:latin typeface="+mn-lt"/>
                <a:ea typeface="+mn-ea"/>
                <a:cs typeface="+mn-cs"/>
              </a:rPr>
              <a:t>As</a:t>
            </a:r>
            <a:r>
              <a:rPr kumimoji="0" lang="zh-CN" altLang="en-US" sz="3200" b="0" i="0" u="none" strike="noStrike" kern="1200" cap="none" spc="0" normalizeH="0" baseline="0" noProof="0" dirty="0" smtClean="0">
                <a:ln>
                  <a:noFill/>
                </a:ln>
                <a:effectLst/>
                <a:uLnTx/>
                <a:uFillTx/>
                <a:latin typeface="+mn-lt"/>
                <a:ea typeface="+mn-ea"/>
                <a:cs typeface="+mn-cs"/>
              </a:rPr>
              <a:t>、锑</a:t>
            </a:r>
            <a:r>
              <a:rPr kumimoji="0" lang="en-US" altLang="zh-CN" sz="3200" b="0" i="0" u="none" strike="noStrike" kern="1200" cap="none" spc="0" normalizeH="0" baseline="0" noProof="0" dirty="0" err="1" smtClean="0">
                <a:ln>
                  <a:noFill/>
                </a:ln>
                <a:effectLst/>
                <a:uLnTx/>
                <a:uFillTx/>
                <a:latin typeface="+mn-lt"/>
                <a:ea typeface="+mn-ea"/>
                <a:cs typeface="+mn-cs"/>
              </a:rPr>
              <a:t>Sb</a:t>
            </a:r>
            <a:r>
              <a:rPr kumimoji="0" lang="zh-CN" altLang="en-US" sz="3200" b="0" i="0" u="none" strike="noStrike" kern="1200" cap="none" spc="0" normalizeH="0" baseline="0" noProof="0" dirty="0" smtClean="0">
                <a:ln>
                  <a:noFill/>
                </a:ln>
                <a:effectLst/>
                <a:uLnTx/>
                <a:uFillTx/>
                <a:latin typeface="+mn-lt"/>
                <a:ea typeface="+mn-ea"/>
                <a:cs typeface="+mn-cs"/>
              </a:rPr>
              <a:t>、铋</a:t>
            </a:r>
            <a:r>
              <a:rPr kumimoji="0" lang="en-US" altLang="zh-CN" sz="3200" b="0" i="0" u="none" strike="noStrike" kern="1200" cap="none" spc="0" normalizeH="0" baseline="0" noProof="0" dirty="0" smtClean="0">
                <a:ln>
                  <a:noFill/>
                </a:ln>
                <a:effectLst/>
                <a:uLnTx/>
                <a:uFillTx/>
                <a:latin typeface="+mn-lt"/>
                <a:ea typeface="+mn-ea"/>
                <a:cs typeface="+mn-cs"/>
              </a:rPr>
              <a:t>Bi</a:t>
            </a:r>
            <a:r>
              <a:rPr lang="zh-CN" altLang="en-US" sz="3200" dirty="0" smtClean="0"/>
              <a:t>、镆</a:t>
            </a:r>
            <a:r>
              <a:rPr lang="en-US" altLang="zh-CN" sz="3200" dirty="0" smtClean="0"/>
              <a:t>Mc</a:t>
            </a:r>
            <a:endParaRPr kumimoji="0" lang="en-US" altLang="zh-CN" sz="3200" b="0"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graphicFrame>
        <p:nvGraphicFramePr>
          <p:cNvPr id="6" name="Table 5"/>
          <p:cNvGraphicFramePr>
            <a:graphicFrameLocks noGrp="1"/>
          </p:cNvGraphicFramePr>
          <p:nvPr>
            <p:extLst>
              <p:ext uri="{D42A27DB-BD31-4B8C-83A1-F6EECF244321}">
                <p14:modId xmlns="" xmlns:p14="http://schemas.microsoft.com/office/powerpoint/2010/main" val="3082146355"/>
              </p:ext>
            </p:extLst>
          </p:nvPr>
        </p:nvGraphicFramePr>
        <p:xfrm>
          <a:off x="357411" y="1878884"/>
          <a:ext cx="8653624" cy="4695296"/>
        </p:xfrm>
        <a:graphic>
          <a:graphicData uri="http://schemas.openxmlformats.org/drawingml/2006/table">
            <a:tbl>
              <a:tblPr firstRow="1" bandRow="1">
                <a:tableStyleId>{5C22544A-7EE6-4342-B048-85BDC9FD1C3A}</a:tableStyleId>
              </a:tblPr>
              <a:tblGrid>
                <a:gridCol w="605757"/>
                <a:gridCol w="658368"/>
                <a:gridCol w="731520"/>
                <a:gridCol w="1498654"/>
                <a:gridCol w="1122626"/>
                <a:gridCol w="1207951"/>
                <a:gridCol w="942916"/>
                <a:gridCol w="942916"/>
                <a:gridCol w="942916"/>
              </a:tblGrid>
              <a:tr h="640080">
                <a:tc>
                  <a:txBody>
                    <a:bodyPr/>
                    <a:lstStyle/>
                    <a:p>
                      <a:pPr algn="ctr"/>
                      <a:r>
                        <a:rPr lang="zh-CN" altLang="en-US" dirty="0" smtClean="0"/>
                        <a:t>元素名称</a:t>
                      </a:r>
                      <a:endParaRPr lang="en-US" dirty="0"/>
                    </a:p>
                  </a:txBody>
                  <a:tcPr marL="68580" marR="68580"/>
                </a:tc>
                <a:tc>
                  <a:txBody>
                    <a:bodyPr/>
                    <a:lstStyle/>
                    <a:p>
                      <a:pPr algn="ctr"/>
                      <a:r>
                        <a:rPr lang="zh-CN" altLang="en-US" dirty="0" smtClean="0"/>
                        <a:t>元素符号</a:t>
                      </a:r>
                      <a:endParaRPr lang="en-US" dirty="0"/>
                    </a:p>
                  </a:txBody>
                  <a:tcPr marL="68580" marR="68580"/>
                </a:tc>
                <a:tc>
                  <a:txBody>
                    <a:bodyPr/>
                    <a:lstStyle/>
                    <a:p>
                      <a:pPr algn="ctr"/>
                      <a:r>
                        <a:rPr lang="zh-CN" altLang="en-US" dirty="0" smtClean="0"/>
                        <a:t>原子序数</a:t>
                      </a:r>
                      <a:endParaRPr lang="en-US" dirty="0"/>
                    </a:p>
                  </a:txBody>
                  <a:tcPr marL="68580" marR="6858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dirty="0" smtClean="0"/>
                        <a:t>最外层电子排布</a:t>
                      </a:r>
                      <a:endParaRPr lang="en-US" dirty="0" smtClean="0"/>
                    </a:p>
                  </a:txBody>
                  <a:tcPr marL="68580" marR="6858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dirty="0" smtClean="0"/>
                        <a:t>主要氧化素</a:t>
                      </a:r>
                      <a:endParaRPr lang="en-US" dirty="0" smtClean="0"/>
                    </a:p>
                  </a:txBody>
                  <a:tcPr marL="68580" marR="6858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dirty="0" smtClean="0"/>
                        <a:t>颜色和状态</a:t>
                      </a:r>
                      <a:endParaRPr lang="en-US" dirty="0" smtClean="0"/>
                    </a:p>
                  </a:txBody>
                  <a:tcPr marL="68580" marR="68580" anchor="ctr"/>
                </a:tc>
                <a:tc>
                  <a:txBody>
                    <a:bodyPr/>
                    <a:lstStyle/>
                    <a:p>
                      <a:endParaRPr lang="en-US" dirty="0"/>
                    </a:p>
                  </a:txBody>
                  <a:tcPr marL="68580" marR="68580">
                    <a:blipFill rotWithShape="0">
                      <a:blip r:embed="rId3"/>
                      <a:stretch>
                        <a:fillRect l="-601456" t="-7619" r="-202427" b="-489524"/>
                      </a:stretch>
                    </a:blip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dirty="0" smtClean="0"/>
                        <a:t>熔点</a:t>
                      </a:r>
                      <a:r>
                        <a:rPr lang="en-US" altLang="zh-CN" dirty="0" smtClean="0"/>
                        <a:t>/ ⁰C</a:t>
                      </a:r>
                      <a:endParaRPr lang="en-US" dirty="0" smtClean="0"/>
                    </a:p>
                    <a:p>
                      <a:pPr algn="ctr"/>
                      <a:endParaRPr lang="en-US" dirty="0"/>
                    </a:p>
                  </a:txBody>
                  <a:tcPr marL="68580" marR="68580"/>
                </a:tc>
                <a:tc>
                  <a:txBody>
                    <a:bodyPr/>
                    <a:lstStyle/>
                    <a:p>
                      <a:pPr algn="ctr"/>
                      <a:r>
                        <a:rPr lang="zh-CN" altLang="en-US" dirty="0" smtClean="0"/>
                        <a:t>沸点</a:t>
                      </a:r>
                      <a:r>
                        <a:rPr lang="en-US" altLang="zh-CN" dirty="0" smtClean="0"/>
                        <a:t>/ ⁰C</a:t>
                      </a:r>
                      <a:endParaRPr lang="en-US" dirty="0"/>
                    </a:p>
                  </a:txBody>
                  <a:tcPr marL="68580" marR="68580"/>
                </a:tc>
              </a:tr>
              <a:tr h="640080">
                <a:tc>
                  <a:txBody>
                    <a:bodyPr/>
                    <a:lstStyle/>
                    <a:p>
                      <a:pPr algn="ctr"/>
                      <a:r>
                        <a:rPr lang="zh-CN" altLang="en-US" dirty="0" smtClean="0"/>
                        <a:t>氮</a:t>
                      </a:r>
                      <a:endParaRPr lang="en-US" dirty="0"/>
                    </a:p>
                  </a:txBody>
                  <a:tcPr marL="68580" marR="68580" anchor="ctr"/>
                </a:tc>
                <a:tc>
                  <a:txBody>
                    <a:bodyPr/>
                    <a:lstStyle/>
                    <a:p>
                      <a:pPr algn="ctr"/>
                      <a:r>
                        <a:rPr lang="en-US" altLang="zh-CN" dirty="0" smtClean="0"/>
                        <a:t>N</a:t>
                      </a:r>
                      <a:endParaRPr lang="en-US" dirty="0"/>
                    </a:p>
                  </a:txBody>
                  <a:tcPr marL="68580" marR="6858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kern="1200" smtClean="0">
                          <a:solidFill>
                            <a:schemeClr val="dk1"/>
                          </a:solidFill>
                          <a:effectLst/>
                          <a:latin typeface="+mn-lt"/>
                          <a:ea typeface="+mn-ea"/>
                          <a:cs typeface="+mn-cs"/>
                        </a:rPr>
                        <a:t>7</a:t>
                      </a:r>
                      <a:endParaRPr lang="en-US" sz="1800" kern="1200" dirty="0">
                        <a:solidFill>
                          <a:schemeClr val="dk1"/>
                        </a:solidFill>
                        <a:effectLst/>
                        <a:latin typeface="+mn-lt"/>
                        <a:ea typeface="+mn-ea"/>
                        <a:cs typeface="+mn-cs"/>
                      </a:endParaRPr>
                    </a:p>
                  </a:txBody>
                  <a:tcPr marL="68580" marR="68580" anchor="ctr"/>
                </a:tc>
                <a:tc>
                  <a:txBody>
                    <a:bodyPr/>
                    <a:lstStyle/>
                    <a:p>
                      <a:endParaRPr lang="en-US" dirty="0"/>
                    </a:p>
                  </a:txBody>
                  <a:tcPr marL="68580" marR="68580" anchor="ctr">
                    <a:blipFill rotWithShape="0">
                      <a:blip r:embed="rId3"/>
                      <a:stretch>
                        <a:fillRect l="-212876" t="-107619" r="-486266" b="-389524"/>
                      </a:stretch>
                    </a:blipFill>
                  </a:tcPr>
                </a:tc>
                <a:tc>
                  <a:txBody>
                    <a:bodyPr/>
                    <a:lstStyle/>
                    <a:p>
                      <a:pPr algn="ctr"/>
                      <a:r>
                        <a:rPr lang="en-US" dirty="0" smtClean="0"/>
                        <a:t>-3,+1,+2,</a:t>
                      </a:r>
                    </a:p>
                    <a:p>
                      <a:pPr algn="ctr"/>
                      <a:r>
                        <a:rPr lang="en-US" dirty="0" smtClean="0"/>
                        <a:t>+3,+4,+5</a:t>
                      </a:r>
                      <a:endParaRPr lang="en-US" dirty="0"/>
                    </a:p>
                  </a:txBody>
                  <a:tcPr marL="68580" marR="68580" anchor="ctr"/>
                </a:tc>
                <a:tc>
                  <a:txBody>
                    <a:bodyPr/>
                    <a:lstStyle/>
                    <a:p>
                      <a:pPr algn="ctr"/>
                      <a:r>
                        <a:rPr lang="zh-CN" altLang="en-US" sz="1400" dirty="0" smtClean="0"/>
                        <a:t>无色气体</a:t>
                      </a:r>
                      <a:endParaRPr lang="en-US" sz="1400" dirty="0"/>
                    </a:p>
                  </a:txBody>
                  <a:tcPr marL="68580" marR="68580" anchor="ctr"/>
                </a:tc>
                <a:tc>
                  <a:txBody>
                    <a:bodyPr/>
                    <a:lstStyle/>
                    <a:p>
                      <a:pPr algn="ctr"/>
                      <a:r>
                        <a:rPr lang="en-US" altLang="zh-CN" sz="1600" dirty="0" smtClean="0"/>
                        <a:t>1.25</a:t>
                      </a:r>
                      <a:endParaRPr lang="en-US" sz="1600" dirty="0"/>
                    </a:p>
                  </a:txBody>
                  <a:tcPr marL="68580" marR="68580" anchor="ctr"/>
                </a:tc>
                <a:tc>
                  <a:txBody>
                    <a:bodyPr/>
                    <a:lstStyle/>
                    <a:p>
                      <a:pPr algn="ctr"/>
                      <a:r>
                        <a:rPr lang="en-US" altLang="zh-CN" sz="1600" dirty="0" smtClean="0"/>
                        <a:t>-210</a:t>
                      </a:r>
                      <a:endParaRPr lang="en-US" sz="1600" dirty="0"/>
                    </a:p>
                  </a:txBody>
                  <a:tcPr marL="68580" marR="68580" anchor="ctr"/>
                </a:tc>
                <a:tc>
                  <a:txBody>
                    <a:bodyPr/>
                    <a:lstStyle/>
                    <a:p>
                      <a:pPr algn="ctr"/>
                      <a:r>
                        <a:rPr lang="en-US" altLang="zh-CN" sz="1600" dirty="0" smtClean="0"/>
                        <a:t>-196</a:t>
                      </a:r>
                      <a:endParaRPr lang="en-US" sz="1600" dirty="0"/>
                    </a:p>
                  </a:txBody>
                  <a:tcPr marL="68580" marR="68580" anchor="ctr"/>
                </a:tc>
              </a:tr>
              <a:tr h="731520">
                <a:tc>
                  <a:txBody>
                    <a:bodyPr/>
                    <a:lstStyle/>
                    <a:p>
                      <a:pPr algn="ctr"/>
                      <a:r>
                        <a:rPr lang="zh-CN" altLang="en-US" dirty="0" smtClean="0"/>
                        <a:t>磷</a:t>
                      </a:r>
                      <a:endParaRPr lang="en-US" dirty="0"/>
                    </a:p>
                  </a:txBody>
                  <a:tcPr marL="68580" marR="68580" anchor="ctr"/>
                </a:tc>
                <a:tc>
                  <a:txBody>
                    <a:bodyPr/>
                    <a:lstStyle/>
                    <a:p>
                      <a:pPr algn="ctr"/>
                      <a:r>
                        <a:rPr lang="en-US" altLang="zh-CN" dirty="0" smtClean="0"/>
                        <a:t>P</a:t>
                      </a:r>
                      <a:endParaRPr lang="en-US" dirty="0"/>
                    </a:p>
                  </a:txBody>
                  <a:tcPr marL="68580" marR="68580" anchor="ctr"/>
                </a:tc>
                <a:tc>
                  <a:txBody>
                    <a:bodyPr/>
                    <a:lstStyle/>
                    <a:p>
                      <a:pPr algn="ctr"/>
                      <a:r>
                        <a:rPr lang="en-US" dirty="0" smtClean="0"/>
                        <a:t>15</a:t>
                      </a:r>
                      <a:endParaRPr lang="en-US" dirty="0"/>
                    </a:p>
                  </a:txBody>
                  <a:tcPr marL="68580" marR="68580" anchor="ctr"/>
                </a:tc>
                <a:tc>
                  <a:txBody>
                    <a:bodyPr/>
                    <a:lstStyle/>
                    <a:p>
                      <a:endParaRPr lang="en-US"/>
                    </a:p>
                  </a:txBody>
                  <a:tcPr marL="68580" marR="68580" anchor="ctr">
                    <a:blipFill rotWithShape="0">
                      <a:blip r:embed="rId3"/>
                      <a:stretch>
                        <a:fillRect l="-212876" t="-181667" r="-486266" b="-240833"/>
                      </a:stretch>
                    </a:blipFill>
                  </a:tcPr>
                </a:tc>
                <a:tc>
                  <a:txBody>
                    <a:bodyPr/>
                    <a:lstStyle/>
                    <a:p>
                      <a:pPr algn="ctr"/>
                      <a:r>
                        <a:rPr lang="en-US" dirty="0" smtClean="0"/>
                        <a:t>-3,+3,+5</a:t>
                      </a:r>
                      <a:endParaRPr lang="en-US" dirty="0"/>
                    </a:p>
                  </a:txBody>
                  <a:tcPr marL="68580" marR="68580" anchor="ctr"/>
                </a:tc>
                <a:tc>
                  <a:txBody>
                    <a:bodyPr/>
                    <a:lstStyle/>
                    <a:p>
                      <a:pPr algn="ctr"/>
                      <a:r>
                        <a:rPr lang="zh-CN" altLang="en-US" sz="1400" dirty="0" smtClean="0"/>
                        <a:t>白磷：白色或黄色固体</a:t>
                      </a:r>
                      <a:endParaRPr lang="en-US" altLang="zh-CN" sz="1400" dirty="0" smtClean="0"/>
                    </a:p>
                    <a:p>
                      <a:pPr algn="ctr"/>
                      <a:r>
                        <a:rPr lang="zh-CN" altLang="en-US" sz="1400" dirty="0" smtClean="0"/>
                        <a:t>红磷：暗红色粉末</a:t>
                      </a:r>
                      <a:endParaRPr lang="en-US" altLang="zh-CN" sz="1400" dirty="0" smtClean="0"/>
                    </a:p>
                    <a:p>
                      <a:pPr algn="ctr"/>
                      <a:endParaRPr lang="en-US" sz="1400" dirty="0"/>
                    </a:p>
                  </a:txBody>
                  <a:tcPr marL="68580" marR="68580" anchor="ctr"/>
                </a:tc>
                <a:tc>
                  <a:txBody>
                    <a:bodyPr/>
                    <a:lstStyle/>
                    <a:p>
                      <a:pPr algn="ctr"/>
                      <a:r>
                        <a:rPr lang="en-US" altLang="zh-CN" sz="1600" dirty="0" smtClean="0"/>
                        <a:t>1830</a:t>
                      </a:r>
                      <a:r>
                        <a:rPr lang="zh-CN" altLang="en-US" sz="1600" dirty="0" smtClean="0"/>
                        <a:t>（红磷）</a:t>
                      </a:r>
                      <a:endParaRPr lang="en-US" altLang="zh-CN" sz="1600" dirty="0" smtClean="0"/>
                    </a:p>
                    <a:p>
                      <a:pPr algn="ctr"/>
                      <a:r>
                        <a:rPr lang="en-US" altLang="zh-CN" sz="1600" dirty="0" smtClean="0"/>
                        <a:t>2340</a:t>
                      </a:r>
                      <a:r>
                        <a:rPr lang="zh-CN" altLang="en-US" sz="1600" dirty="0" smtClean="0"/>
                        <a:t>（白磷）</a:t>
                      </a:r>
                      <a:endParaRPr lang="en-US" sz="1600" dirty="0"/>
                    </a:p>
                  </a:txBody>
                  <a:tcPr marL="68580" marR="68580" anchor="ctr"/>
                </a:tc>
                <a:tc>
                  <a:txBody>
                    <a:bodyPr/>
                    <a:lstStyle/>
                    <a:p>
                      <a:pPr algn="ctr"/>
                      <a:r>
                        <a:rPr lang="en-US" altLang="zh-CN" sz="1600" dirty="0" smtClean="0"/>
                        <a:t>44</a:t>
                      </a:r>
                    </a:p>
                    <a:p>
                      <a:pPr algn="ctr"/>
                      <a:r>
                        <a:rPr lang="zh-CN" altLang="en-US" sz="1600" dirty="0" smtClean="0"/>
                        <a:t>（白磷）</a:t>
                      </a:r>
                      <a:endParaRPr lang="en-US" sz="1600" dirty="0"/>
                    </a:p>
                  </a:txBody>
                  <a:tcPr marL="68580" marR="6858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t>280</a:t>
                      </a:r>
                    </a:p>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600" dirty="0" smtClean="0"/>
                        <a:t>（白磷）</a:t>
                      </a:r>
                      <a:endParaRPr lang="en-US" sz="1600" dirty="0" smtClean="0"/>
                    </a:p>
                  </a:txBody>
                  <a:tcPr marL="68580" marR="68580" anchor="ctr"/>
                </a:tc>
              </a:tr>
              <a:tr h="579808">
                <a:tc>
                  <a:txBody>
                    <a:bodyPr/>
                    <a:lstStyle/>
                    <a:p>
                      <a:pPr algn="ctr"/>
                      <a:r>
                        <a:rPr lang="zh-CN" altLang="en-US" dirty="0" smtClean="0"/>
                        <a:t>砷</a:t>
                      </a:r>
                      <a:endParaRPr lang="en-US" dirty="0"/>
                    </a:p>
                  </a:txBody>
                  <a:tcPr marL="68580" marR="68580" anchor="ctr"/>
                </a:tc>
                <a:tc>
                  <a:txBody>
                    <a:bodyPr/>
                    <a:lstStyle/>
                    <a:p>
                      <a:pPr algn="ctr"/>
                      <a:r>
                        <a:rPr lang="en-US" altLang="zh-CN" dirty="0" smtClean="0"/>
                        <a:t>As</a:t>
                      </a:r>
                      <a:endParaRPr lang="en-US" dirty="0"/>
                    </a:p>
                  </a:txBody>
                  <a:tcPr marL="68580" marR="68580" anchor="ctr"/>
                </a:tc>
                <a:tc>
                  <a:txBody>
                    <a:bodyPr/>
                    <a:lstStyle/>
                    <a:p>
                      <a:pPr algn="ctr"/>
                      <a:r>
                        <a:rPr lang="en-US" dirty="0" smtClean="0"/>
                        <a:t>33</a:t>
                      </a:r>
                      <a:endParaRPr lang="en-US" dirty="0"/>
                    </a:p>
                  </a:txBody>
                  <a:tcPr marL="68580" marR="68580" anchor="ctr"/>
                </a:tc>
                <a:tc>
                  <a:txBody>
                    <a:bodyPr/>
                    <a:lstStyle/>
                    <a:p>
                      <a:endParaRPr lang="en-US"/>
                    </a:p>
                  </a:txBody>
                  <a:tcPr marL="68580" marR="68580" anchor="ctr">
                    <a:blipFill rotWithShape="0">
                      <a:blip r:embed="rId3"/>
                      <a:stretch>
                        <a:fillRect l="-212876" t="-352083" r="-486266" b="-201042"/>
                      </a:stretch>
                    </a:blipFill>
                  </a:tcPr>
                </a:tc>
                <a:tc>
                  <a:txBody>
                    <a:bodyPr/>
                    <a:lstStyle/>
                    <a:p>
                      <a:pPr algn="ctr"/>
                      <a:r>
                        <a:rPr lang="en-US" dirty="0" smtClean="0"/>
                        <a:t>-3,+3,+5</a:t>
                      </a:r>
                      <a:endParaRPr lang="en-US" dirty="0"/>
                    </a:p>
                  </a:txBody>
                  <a:tcPr marL="68580" marR="68580" anchor="ctr"/>
                </a:tc>
                <a:tc>
                  <a:txBody>
                    <a:bodyPr/>
                    <a:lstStyle/>
                    <a:p>
                      <a:pPr algn="ctr"/>
                      <a:r>
                        <a:rPr lang="zh-CN" altLang="en-US" sz="1400" dirty="0" smtClean="0"/>
                        <a:t>灰砷：灰色固体</a:t>
                      </a:r>
                      <a:endParaRPr lang="en-US" sz="1400" dirty="0"/>
                    </a:p>
                  </a:txBody>
                  <a:tcPr marL="68580" marR="68580" anchor="ctr"/>
                </a:tc>
                <a:tc>
                  <a:txBody>
                    <a:bodyPr/>
                    <a:lstStyle/>
                    <a:p>
                      <a:pPr algn="ctr"/>
                      <a:r>
                        <a:rPr lang="en-US" altLang="zh-CN" sz="1600" dirty="0" smtClean="0"/>
                        <a:t>5727</a:t>
                      </a:r>
                      <a:r>
                        <a:rPr lang="zh-CN" altLang="en-US" sz="1600" dirty="0" smtClean="0"/>
                        <a:t>（灰砷）</a:t>
                      </a:r>
                      <a:endParaRPr lang="en-US" sz="1600" dirty="0"/>
                    </a:p>
                  </a:txBody>
                  <a:tcPr marL="68580" marR="68580" anchor="ctr"/>
                </a:tc>
                <a:tc>
                  <a:txBody>
                    <a:bodyPr/>
                    <a:lstStyle/>
                    <a:p>
                      <a:pPr algn="ctr"/>
                      <a:r>
                        <a:rPr lang="en-US" altLang="zh-CN" sz="1600" dirty="0" smtClean="0"/>
                        <a:t>818</a:t>
                      </a:r>
                    </a:p>
                    <a:p>
                      <a:pPr algn="ctr"/>
                      <a:r>
                        <a:rPr lang="zh-CN" altLang="en-US" sz="1600" dirty="0" smtClean="0"/>
                        <a:t>（灰砷）</a:t>
                      </a:r>
                      <a:endParaRPr lang="en-US" sz="1600" dirty="0"/>
                    </a:p>
                  </a:txBody>
                  <a:tcPr marL="68580" marR="68580" anchor="ctr"/>
                </a:tc>
                <a:tc>
                  <a:txBody>
                    <a:bodyPr/>
                    <a:lstStyle/>
                    <a:p>
                      <a:pPr algn="ctr"/>
                      <a:r>
                        <a:rPr lang="en-US" altLang="zh-CN" sz="1600" dirty="0" smtClean="0"/>
                        <a:t>615</a:t>
                      </a:r>
                    </a:p>
                    <a:p>
                      <a:pPr algn="ctr"/>
                      <a:r>
                        <a:rPr lang="zh-CN" altLang="en-US" sz="1600" dirty="0" smtClean="0"/>
                        <a:t>（升华）</a:t>
                      </a:r>
                      <a:endParaRPr lang="en-US" altLang="zh-CN" sz="1600" dirty="0" smtClean="0"/>
                    </a:p>
                    <a:p>
                      <a:pPr algn="ctr"/>
                      <a:r>
                        <a:rPr lang="zh-CN" altLang="en-US" sz="1600" dirty="0" smtClean="0"/>
                        <a:t>（灰砷）</a:t>
                      </a:r>
                      <a:endParaRPr lang="en-US" sz="1600" dirty="0"/>
                    </a:p>
                  </a:txBody>
                  <a:tcPr marL="68580" marR="68580" anchor="ctr"/>
                </a:tc>
              </a:tr>
              <a:tr h="579808">
                <a:tc>
                  <a:txBody>
                    <a:bodyPr/>
                    <a:lstStyle/>
                    <a:p>
                      <a:pPr algn="ctr"/>
                      <a:r>
                        <a:rPr lang="zh-CN" altLang="en-US" dirty="0" smtClean="0"/>
                        <a:t>锑</a:t>
                      </a:r>
                      <a:endParaRPr lang="en-US" dirty="0"/>
                    </a:p>
                  </a:txBody>
                  <a:tcPr marL="68580" marR="68580" anchor="ctr"/>
                </a:tc>
                <a:tc>
                  <a:txBody>
                    <a:bodyPr/>
                    <a:lstStyle/>
                    <a:p>
                      <a:pPr algn="ctr"/>
                      <a:r>
                        <a:rPr lang="en-US" dirty="0" err="1" smtClean="0"/>
                        <a:t>Sb</a:t>
                      </a:r>
                      <a:endParaRPr lang="en-US" dirty="0"/>
                    </a:p>
                  </a:txBody>
                  <a:tcPr marL="68580" marR="68580" anchor="ctr"/>
                </a:tc>
                <a:tc>
                  <a:txBody>
                    <a:bodyPr/>
                    <a:lstStyle/>
                    <a:p>
                      <a:pPr algn="ctr"/>
                      <a:r>
                        <a:rPr lang="en-US" dirty="0" smtClean="0"/>
                        <a:t>51</a:t>
                      </a:r>
                      <a:endParaRPr lang="en-US" dirty="0"/>
                    </a:p>
                  </a:txBody>
                  <a:tcPr marL="68580" marR="68580" anchor="ctr"/>
                </a:tc>
                <a:tc>
                  <a:txBody>
                    <a:bodyPr/>
                    <a:lstStyle/>
                    <a:p>
                      <a:endParaRPr lang="en-US"/>
                    </a:p>
                  </a:txBody>
                  <a:tcPr marL="68580" marR="68580" anchor="ctr">
                    <a:blipFill rotWithShape="0">
                      <a:blip r:embed="rId3"/>
                      <a:stretch>
                        <a:fillRect l="-212876" t="-456842" r="-486266" b="-103158"/>
                      </a:stretch>
                    </a:blipFill>
                  </a:tcPr>
                </a:tc>
                <a:tc>
                  <a:txBody>
                    <a:bodyPr/>
                    <a:lstStyle/>
                    <a:p>
                      <a:pPr algn="ctr"/>
                      <a:r>
                        <a:rPr lang="en-US" dirty="0" smtClean="0"/>
                        <a:t>+3,+5</a:t>
                      </a:r>
                      <a:endParaRPr lang="en-US" dirty="0"/>
                    </a:p>
                  </a:txBody>
                  <a:tcPr marL="68580" marR="68580" anchor="ctr"/>
                </a:tc>
                <a:tc>
                  <a:txBody>
                    <a:bodyPr/>
                    <a:lstStyle/>
                    <a:p>
                      <a:pPr algn="ctr"/>
                      <a:r>
                        <a:rPr lang="zh-CN" altLang="en-US" sz="1400" dirty="0" smtClean="0"/>
                        <a:t>银白色金属</a:t>
                      </a:r>
                      <a:endParaRPr lang="en-US" sz="1400" dirty="0"/>
                    </a:p>
                  </a:txBody>
                  <a:tcPr marL="68580" marR="68580" anchor="ctr"/>
                </a:tc>
                <a:tc>
                  <a:txBody>
                    <a:bodyPr/>
                    <a:lstStyle/>
                    <a:p>
                      <a:pPr algn="ctr"/>
                      <a:r>
                        <a:rPr lang="en-US" altLang="zh-CN" sz="1600" dirty="0" smtClean="0"/>
                        <a:t>6680</a:t>
                      </a:r>
                      <a:endParaRPr lang="en-US" sz="1600" dirty="0"/>
                    </a:p>
                  </a:txBody>
                  <a:tcPr marL="68580" marR="68580" anchor="ctr"/>
                </a:tc>
                <a:tc>
                  <a:txBody>
                    <a:bodyPr/>
                    <a:lstStyle/>
                    <a:p>
                      <a:pPr algn="ctr"/>
                      <a:r>
                        <a:rPr lang="en-US" altLang="zh-CN" sz="1600" dirty="0" smtClean="0"/>
                        <a:t>630</a:t>
                      </a:r>
                      <a:endParaRPr lang="en-US" sz="1600" dirty="0"/>
                    </a:p>
                  </a:txBody>
                  <a:tcPr marL="68580" marR="68580" anchor="ctr"/>
                </a:tc>
                <a:tc>
                  <a:txBody>
                    <a:bodyPr/>
                    <a:lstStyle/>
                    <a:p>
                      <a:pPr algn="ctr"/>
                      <a:r>
                        <a:rPr lang="en-US" altLang="zh-CN" sz="1600" dirty="0" smtClean="0"/>
                        <a:t>1635</a:t>
                      </a:r>
                      <a:endParaRPr lang="en-US" sz="1600" dirty="0"/>
                    </a:p>
                  </a:txBody>
                  <a:tcPr marL="68580" marR="68580" anchor="ctr"/>
                </a:tc>
              </a:tr>
              <a:tr h="579808">
                <a:tc>
                  <a:txBody>
                    <a:bodyPr/>
                    <a:lstStyle/>
                    <a:p>
                      <a:pPr algn="ctr"/>
                      <a:r>
                        <a:rPr lang="zh-CN" altLang="en-US" dirty="0" smtClean="0"/>
                        <a:t>铋</a:t>
                      </a:r>
                      <a:endParaRPr lang="en-US" dirty="0"/>
                    </a:p>
                  </a:txBody>
                  <a:tcPr marL="68580" marR="68580" anchor="ctr"/>
                </a:tc>
                <a:tc>
                  <a:txBody>
                    <a:bodyPr/>
                    <a:lstStyle/>
                    <a:p>
                      <a:pPr algn="ctr"/>
                      <a:r>
                        <a:rPr lang="en-US" dirty="0" smtClean="0"/>
                        <a:t>Bi</a:t>
                      </a:r>
                      <a:endParaRPr lang="en-US" dirty="0"/>
                    </a:p>
                  </a:txBody>
                  <a:tcPr marL="68580" marR="68580" anchor="ctr"/>
                </a:tc>
                <a:tc>
                  <a:txBody>
                    <a:bodyPr/>
                    <a:lstStyle/>
                    <a:p>
                      <a:pPr algn="ctr"/>
                      <a:r>
                        <a:rPr lang="en-US" dirty="0" smtClean="0"/>
                        <a:t>83</a:t>
                      </a:r>
                      <a:endParaRPr lang="en-US" dirty="0"/>
                    </a:p>
                  </a:txBody>
                  <a:tcPr marL="68580" marR="68580" anchor="ctr"/>
                </a:tc>
                <a:tc>
                  <a:txBody>
                    <a:bodyPr/>
                    <a:lstStyle/>
                    <a:p>
                      <a:endParaRPr lang="en-US"/>
                    </a:p>
                  </a:txBody>
                  <a:tcPr marL="68580" marR="68580" anchor="ctr">
                    <a:blipFill rotWithShape="0">
                      <a:blip r:embed="rId3"/>
                      <a:stretch>
                        <a:fillRect l="-212876" t="-556842" r="-486266" b="-3158"/>
                      </a:stretch>
                    </a:blipFill>
                  </a:tcPr>
                </a:tc>
                <a:tc>
                  <a:txBody>
                    <a:bodyPr/>
                    <a:lstStyle/>
                    <a:p>
                      <a:pPr algn="ctr"/>
                      <a:r>
                        <a:rPr lang="en-US" dirty="0" smtClean="0"/>
                        <a:t>+3,+5</a:t>
                      </a:r>
                      <a:endParaRPr lang="en-US" dirty="0"/>
                    </a:p>
                  </a:txBody>
                  <a:tcPr marL="68580" marR="68580" anchor="ctr"/>
                </a:tc>
                <a:tc>
                  <a:txBody>
                    <a:bodyPr/>
                    <a:lstStyle/>
                    <a:p>
                      <a:pPr algn="ctr"/>
                      <a:r>
                        <a:rPr lang="zh-CN" altLang="en-US" sz="1400" dirty="0" smtClean="0"/>
                        <a:t>银白色金属或</a:t>
                      </a:r>
                      <a:endParaRPr lang="en-US" altLang="zh-CN" sz="1400" dirty="0" smtClean="0"/>
                    </a:p>
                    <a:p>
                      <a:pPr algn="ctr"/>
                      <a:r>
                        <a:rPr lang="zh-CN" altLang="en-US" sz="1400" dirty="0" smtClean="0"/>
                        <a:t>显红色金属</a:t>
                      </a:r>
                      <a:endParaRPr lang="en-US" sz="1400" dirty="0"/>
                    </a:p>
                  </a:txBody>
                  <a:tcPr marL="68580" marR="68580" anchor="ctr"/>
                </a:tc>
                <a:tc>
                  <a:txBody>
                    <a:bodyPr/>
                    <a:lstStyle/>
                    <a:p>
                      <a:pPr algn="ctr"/>
                      <a:r>
                        <a:rPr lang="en-US" altLang="zh-CN" sz="1600" dirty="0" smtClean="0"/>
                        <a:t>9780</a:t>
                      </a:r>
                      <a:endParaRPr lang="en-US" sz="1600" dirty="0"/>
                    </a:p>
                  </a:txBody>
                  <a:tcPr marL="68580" marR="68580" anchor="ctr"/>
                </a:tc>
                <a:tc>
                  <a:txBody>
                    <a:bodyPr/>
                    <a:lstStyle/>
                    <a:p>
                      <a:pPr algn="ctr"/>
                      <a:r>
                        <a:rPr lang="en-US" altLang="zh-CN" sz="1600" dirty="0" smtClean="0"/>
                        <a:t>271</a:t>
                      </a:r>
                      <a:endParaRPr lang="en-US" sz="1600" dirty="0"/>
                    </a:p>
                  </a:txBody>
                  <a:tcPr marL="68580" marR="68580" anchor="ctr"/>
                </a:tc>
                <a:tc>
                  <a:txBody>
                    <a:bodyPr/>
                    <a:lstStyle/>
                    <a:p>
                      <a:pPr algn="ctr"/>
                      <a:r>
                        <a:rPr lang="en-US" altLang="zh-CN" sz="1600" dirty="0" smtClean="0"/>
                        <a:t>1420</a:t>
                      </a:r>
                      <a:endParaRPr lang="en-US" sz="1600" dirty="0"/>
                    </a:p>
                  </a:txBody>
                  <a:tcPr marL="68580" marR="68580" anchor="ctr"/>
                </a:tc>
              </a:tr>
            </a:tbl>
          </a:graphicData>
        </a:graphic>
      </p:graphicFrame>
    </p:spTree>
  </p:cSld>
  <p:clrMapOvr>
    <a:masterClrMapping/>
  </p:clrMapOvr>
  <p:transition advClick="0"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p:txBody>
          <a:bodyPr/>
          <a:lstStyle/>
          <a:p>
            <a:r>
              <a:rPr lang="en-US" altLang="zh-CN" dirty="0" smtClean="0"/>
              <a:t>13.1 </a:t>
            </a:r>
            <a:r>
              <a:rPr lang="zh-CN" altLang="en-US" dirty="0" smtClean="0"/>
              <a:t>氮气</a:t>
            </a:r>
            <a:endParaRPr lang="en-US" dirty="0"/>
          </a:p>
        </p:txBody>
      </p:sp>
      <p:sp>
        <p:nvSpPr>
          <p:cNvPr id="3" name="Content Placeholder 2"/>
          <p:cNvSpPr>
            <a:spLocks noGrp="1"/>
          </p:cNvSpPr>
          <p:nvPr>
            <p:ph idx="1"/>
          </p:nvPr>
        </p:nvSpPr>
        <p:spPr/>
        <p:txBody>
          <a:bodyPr/>
          <a:lstStyle/>
          <a:p>
            <a:pPr>
              <a:lnSpc>
                <a:spcPct val="150000"/>
              </a:lnSpc>
              <a:buFont typeface="Wingdings" pitchFamily="2" charset="2"/>
              <a:buChar char="Ø"/>
            </a:pPr>
            <a:r>
              <a:rPr lang="zh-CN" altLang="en-US" dirty="0" smtClean="0"/>
              <a:t>感知生活</a:t>
            </a:r>
            <a:endParaRPr lang="en-US" altLang="zh-CN" dirty="0" smtClean="0"/>
          </a:p>
          <a:p>
            <a:pPr>
              <a:lnSpc>
                <a:spcPct val="150000"/>
              </a:lnSpc>
              <a:buFont typeface="Wingdings" pitchFamily="2" charset="2"/>
              <a:buChar char="Ø"/>
            </a:pPr>
            <a:r>
              <a:rPr lang="zh-CN" altLang="en-US" dirty="0" smtClean="0"/>
              <a:t>氮分子结构稳定，性质不活泼。</a:t>
            </a:r>
            <a:endParaRPr lang="en-US" altLang="zh-CN" dirty="0" smtClean="0"/>
          </a:p>
          <a:p>
            <a:pPr>
              <a:lnSpc>
                <a:spcPct val="150000"/>
              </a:lnSpc>
              <a:buFont typeface="Wingdings" pitchFamily="2" charset="2"/>
              <a:buChar char="Ø"/>
            </a:pPr>
            <a:r>
              <a:rPr lang="zh-CN" altLang="en-US" dirty="0" smtClean="0"/>
              <a:t>工业上制得氮单质后再加工制成氮肥、硝酸盐等植物能吸收、人们能使用的物质。</a:t>
            </a:r>
            <a:endParaRPr lang="en-US" altLang="zh-CN" dirty="0" smtClean="0"/>
          </a:p>
          <a:p>
            <a:pPr>
              <a:lnSpc>
                <a:spcPct val="150000"/>
              </a:lnSpc>
              <a:buFont typeface="Wingdings" pitchFamily="2" charset="2"/>
              <a:buChar char="Ø"/>
            </a:pPr>
            <a:endParaRPr lang="en-US" dirty="0"/>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p:txBody>
          <a:bodyPr/>
          <a:lstStyle/>
          <a:p>
            <a:r>
              <a:rPr lang="en-US" altLang="zh-CN" dirty="0" smtClean="0"/>
              <a:t>13.1.1 </a:t>
            </a:r>
            <a:r>
              <a:rPr lang="zh-CN" altLang="en-US" dirty="0" smtClean="0"/>
              <a:t>氮气的性质</a:t>
            </a:r>
            <a:endParaRPr lang="en-US" dirty="0"/>
          </a:p>
        </p:txBody>
      </p:sp>
      <p:sp>
        <p:nvSpPr>
          <p:cNvPr id="3" name="Content Placeholder 2"/>
          <p:cNvSpPr>
            <a:spLocks noGrp="1"/>
          </p:cNvSpPr>
          <p:nvPr>
            <p:ph idx="1"/>
          </p:nvPr>
        </p:nvSpPr>
        <p:spPr/>
        <p:txBody>
          <a:bodyPr/>
          <a:lstStyle/>
          <a:p>
            <a:pPr>
              <a:lnSpc>
                <a:spcPct val="150000"/>
              </a:lnSpc>
              <a:buNone/>
            </a:pPr>
            <a:r>
              <a:rPr lang="zh-CN" altLang="en-US" dirty="0" smtClean="0"/>
              <a:t>物理性质</a:t>
            </a:r>
            <a:endParaRPr lang="en-US" altLang="zh-CN" dirty="0" smtClean="0"/>
          </a:p>
          <a:p>
            <a:pPr>
              <a:lnSpc>
                <a:spcPct val="150000"/>
              </a:lnSpc>
              <a:buFont typeface="Wingdings" pitchFamily="2" charset="2"/>
              <a:buChar char="Ø"/>
            </a:pPr>
            <a:r>
              <a:rPr lang="zh-CN" altLang="en-US" dirty="0" smtClean="0"/>
              <a:t>无色、无味</a:t>
            </a:r>
            <a:endParaRPr lang="en-US" altLang="zh-CN" dirty="0" smtClean="0"/>
          </a:p>
          <a:p>
            <a:pPr>
              <a:lnSpc>
                <a:spcPct val="150000"/>
              </a:lnSpc>
              <a:buFont typeface="Wingdings" pitchFamily="2" charset="2"/>
              <a:buChar char="Ø"/>
            </a:pPr>
            <a:r>
              <a:rPr lang="zh-CN" altLang="en-US" dirty="0" smtClean="0"/>
              <a:t>密度比空气小</a:t>
            </a:r>
            <a:endParaRPr lang="en-US" altLang="zh-CN" dirty="0" smtClean="0"/>
          </a:p>
          <a:p>
            <a:pPr>
              <a:lnSpc>
                <a:spcPct val="150000"/>
              </a:lnSpc>
              <a:buFont typeface="Wingdings" pitchFamily="2" charset="2"/>
              <a:buChar char="Ø"/>
            </a:pPr>
            <a:r>
              <a:rPr lang="zh-CN" altLang="en-US" dirty="0" smtClean="0"/>
              <a:t>难溶于水</a:t>
            </a:r>
            <a:endParaRPr lang="en-US" altLang="zh-CN" dirty="0" smtClean="0"/>
          </a:p>
          <a:p>
            <a:pPr>
              <a:lnSpc>
                <a:spcPct val="150000"/>
              </a:lnSpc>
              <a:buFont typeface="Wingdings" pitchFamily="2" charset="2"/>
              <a:buChar char="Ø"/>
            </a:pPr>
            <a:r>
              <a:rPr lang="zh-CN" altLang="en-US" dirty="0" smtClean="0"/>
              <a:t>低沸点</a:t>
            </a:r>
            <a:r>
              <a:rPr lang="en-US" altLang="zh-CN" dirty="0" smtClean="0"/>
              <a:t>-196</a:t>
            </a:r>
            <a:r>
              <a:rPr lang="en-US" altLang="zh-CN" baseline="30000" dirty="0" smtClean="0"/>
              <a:t>o</a:t>
            </a:r>
            <a:r>
              <a:rPr lang="en-US" altLang="zh-CN" dirty="0" smtClean="0"/>
              <a:t>C</a:t>
            </a:r>
            <a:r>
              <a:rPr lang="zh-CN" altLang="en-US" dirty="0" smtClean="0"/>
              <a:t>、低熔点</a:t>
            </a:r>
            <a:r>
              <a:rPr lang="en-US" altLang="zh-CN" dirty="0" smtClean="0"/>
              <a:t>-210</a:t>
            </a:r>
            <a:r>
              <a:rPr lang="en-US" altLang="zh-CN" baseline="30000" dirty="0" smtClean="0"/>
              <a:t>o</a:t>
            </a:r>
            <a:r>
              <a:rPr lang="en-US" altLang="zh-CN" dirty="0" smtClean="0"/>
              <a:t>C</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en-US" altLang="zh-CN" dirty="0" smtClean="0"/>
              <a:t>13.1.1 </a:t>
            </a:r>
            <a:r>
              <a:rPr lang="zh-CN" altLang="en-US" dirty="0" smtClean="0"/>
              <a:t>氮气的性质</a:t>
            </a:r>
            <a:endParaRPr lang="en-US" dirty="0"/>
          </a:p>
        </p:txBody>
      </p:sp>
      <p:sp>
        <p:nvSpPr>
          <p:cNvPr id="3" name="Content Placeholder 2"/>
          <p:cNvSpPr>
            <a:spLocks noGrp="1"/>
          </p:cNvSpPr>
          <p:nvPr>
            <p:ph idx="1"/>
          </p:nvPr>
        </p:nvSpPr>
        <p:spPr>
          <a:xfrm>
            <a:off x="457200" y="838200"/>
            <a:ext cx="8229600" cy="6019800"/>
          </a:xfrm>
        </p:spPr>
        <p:txBody>
          <a:bodyPr>
            <a:normAutofit/>
          </a:bodyPr>
          <a:lstStyle/>
          <a:p>
            <a:pPr>
              <a:buNone/>
            </a:pPr>
            <a:r>
              <a:rPr lang="zh-CN" altLang="en-US" dirty="0" smtClean="0"/>
              <a:t>化学性质</a:t>
            </a:r>
            <a:endParaRPr lang="en-US" altLang="zh-CN" dirty="0" smtClean="0"/>
          </a:p>
          <a:p>
            <a:pPr>
              <a:buFont typeface="Wingdings" pitchFamily="2" charset="2"/>
              <a:buChar char="Ø"/>
            </a:pPr>
            <a:r>
              <a:rPr lang="zh-CN" altLang="en-US" dirty="0" smtClean="0"/>
              <a:t>结构稳定。</a:t>
            </a:r>
            <a:endParaRPr lang="en-US" altLang="zh-CN" dirty="0" smtClean="0"/>
          </a:p>
          <a:p>
            <a:pPr>
              <a:buFont typeface="Wingdings" pitchFamily="2" charset="2"/>
              <a:buChar char="Ø"/>
            </a:pPr>
            <a:r>
              <a:rPr lang="zh-CN" altLang="en-US" dirty="0" smtClean="0"/>
              <a:t>通常情况下，化学性质不活泼。</a:t>
            </a:r>
            <a:endParaRPr lang="en-US" altLang="zh-CN" dirty="0" smtClean="0"/>
          </a:p>
          <a:p>
            <a:pPr>
              <a:lnSpc>
                <a:spcPct val="150000"/>
              </a:lnSpc>
              <a:buFont typeface="Wingdings" pitchFamily="2" charset="2"/>
              <a:buChar char="Ø"/>
            </a:pPr>
            <a:r>
              <a:rPr lang="zh-CN" altLang="en-US" dirty="0" smtClean="0"/>
              <a:t>一定条件下，能和氢气、氧气等反应。</a:t>
            </a:r>
            <a:endParaRPr lang="en-US" altLang="zh-CN" dirty="0" smtClean="0"/>
          </a:p>
          <a:p>
            <a:pPr>
              <a:lnSpc>
                <a:spcPct val="150000"/>
              </a:lnSpc>
              <a:buNone/>
            </a:pPr>
            <a:r>
              <a:rPr lang="en-US" dirty="0" smtClean="0"/>
              <a:t>	</a:t>
            </a:r>
            <a:r>
              <a:rPr lang="en-US" altLang="zh-CN" dirty="0" smtClean="0"/>
              <a:t>N</a:t>
            </a:r>
            <a:r>
              <a:rPr lang="en-US" altLang="zh-CN" baseline="-25000" dirty="0" smtClean="0"/>
              <a:t>2</a:t>
            </a:r>
            <a:r>
              <a:rPr lang="en-US" altLang="zh-CN" dirty="0" smtClean="0"/>
              <a:t> + 3 H</a:t>
            </a:r>
            <a:r>
              <a:rPr lang="en-US" altLang="zh-CN" baseline="-25000" dirty="0" smtClean="0"/>
              <a:t>2</a:t>
            </a:r>
            <a:r>
              <a:rPr lang="en-US" altLang="zh-CN" dirty="0" smtClean="0"/>
              <a:t> 	      2NH</a:t>
            </a:r>
            <a:r>
              <a:rPr lang="en-US" altLang="zh-CN" baseline="-25000" dirty="0" smtClean="0"/>
              <a:t>3</a:t>
            </a:r>
          </a:p>
          <a:p>
            <a:pPr>
              <a:lnSpc>
                <a:spcPct val="150000"/>
              </a:lnSpc>
              <a:buNone/>
            </a:pPr>
            <a:r>
              <a:rPr lang="en-US" baseline="-25000" dirty="0" smtClean="0"/>
              <a:t>	</a:t>
            </a:r>
            <a:r>
              <a:rPr lang="en-US" dirty="0" smtClean="0"/>
              <a:t>N</a:t>
            </a:r>
            <a:r>
              <a:rPr lang="en-US" baseline="-25000" dirty="0" smtClean="0"/>
              <a:t>2</a:t>
            </a:r>
            <a:r>
              <a:rPr lang="en-US" dirty="0" smtClean="0"/>
              <a:t> + O</a:t>
            </a:r>
            <a:r>
              <a:rPr lang="en-US" baseline="-25000" dirty="0" smtClean="0"/>
              <a:t>2</a:t>
            </a:r>
            <a:r>
              <a:rPr lang="en-US" dirty="0" smtClean="0"/>
              <a:t> 		      2 NO</a:t>
            </a:r>
          </a:p>
          <a:p>
            <a:pPr>
              <a:buFont typeface="Wingdings" pitchFamily="2" charset="2"/>
              <a:buChar char="Ø"/>
            </a:pPr>
            <a:r>
              <a:rPr lang="zh-CN" altLang="en-US" dirty="0" smtClean="0"/>
              <a:t>镁条能在氮气中燃烧</a:t>
            </a:r>
            <a:endParaRPr lang="en-US" altLang="zh-CN" dirty="0" smtClean="0"/>
          </a:p>
          <a:p>
            <a:pPr>
              <a:buNone/>
            </a:pPr>
            <a:r>
              <a:rPr lang="en-US" dirty="0" smtClean="0"/>
              <a:t>	</a:t>
            </a:r>
            <a:r>
              <a:rPr lang="en-US" altLang="zh-CN" dirty="0" smtClean="0"/>
              <a:t>3Mg + N</a:t>
            </a:r>
            <a:r>
              <a:rPr lang="en-US" altLang="zh-CN" baseline="-25000" dirty="0" smtClean="0"/>
              <a:t>2</a:t>
            </a:r>
            <a:r>
              <a:rPr lang="en-US" altLang="zh-CN" dirty="0" smtClean="0"/>
              <a:t> 	   Mg</a:t>
            </a:r>
            <a:r>
              <a:rPr lang="en-US" altLang="zh-CN" baseline="-25000" dirty="0" smtClean="0"/>
              <a:t>3</a:t>
            </a:r>
            <a:r>
              <a:rPr lang="en-US" altLang="zh-CN" dirty="0" smtClean="0"/>
              <a:t>N</a:t>
            </a:r>
            <a:r>
              <a:rPr lang="en-US" altLang="zh-CN" baseline="-25000" dirty="0" smtClean="0"/>
              <a:t>2</a:t>
            </a:r>
            <a:endParaRPr lang="en-US" dirty="0"/>
          </a:p>
        </p:txBody>
      </p:sp>
      <p:grpSp>
        <p:nvGrpSpPr>
          <p:cNvPr id="5" name="Group 4"/>
          <p:cNvGrpSpPr/>
          <p:nvPr/>
        </p:nvGrpSpPr>
        <p:grpSpPr>
          <a:xfrm>
            <a:off x="2514600" y="3581400"/>
            <a:ext cx="1219200" cy="688777"/>
            <a:chOff x="2819400" y="5867400"/>
            <a:chExt cx="1219200" cy="688777"/>
          </a:xfrm>
        </p:grpSpPr>
        <p:grpSp>
          <p:nvGrpSpPr>
            <p:cNvPr id="6" name="Group 11"/>
            <p:cNvGrpSpPr/>
            <p:nvPr/>
          </p:nvGrpSpPr>
          <p:grpSpPr>
            <a:xfrm>
              <a:off x="2819400" y="6172117"/>
              <a:ext cx="1219200" cy="76199"/>
              <a:chOff x="2895600" y="6324600"/>
              <a:chExt cx="2133600" cy="76199"/>
            </a:xfrm>
          </p:grpSpPr>
          <p:cxnSp>
            <p:nvCxnSpPr>
              <p:cNvPr id="9" name="Straight Arrow Connector 8"/>
              <p:cNvCxnSpPr/>
              <p:nvPr/>
            </p:nvCxnSpPr>
            <p:spPr>
              <a:xfrm rot="10800000">
                <a:off x="2895600" y="6399210"/>
                <a:ext cx="2057400" cy="1589"/>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2895600" y="6324600"/>
                <a:ext cx="21336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grpSp>
        <p:sp>
          <p:nvSpPr>
            <p:cNvPr id="7" name="TextBox 6"/>
            <p:cNvSpPr txBox="1"/>
            <p:nvPr/>
          </p:nvSpPr>
          <p:spPr>
            <a:xfrm>
              <a:off x="3048000" y="6248400"/>
              <a:ext cx="723275" cy="307777"/>
            </a:xfrm>
            <a:prstGeom prst="rect">
              <a:avLst/>
            </a:prstGeom>
            <a:noFill/>
          </p:spPr>
          <p:txBody>
            <a:bodyPr wrap="square" rtlCol="0">
              <a:spAutoFit/>
            </a:bodyPr>
            <a:lstStyle/>
            <a:p>
              <a:r>
                <a:rPr lang="zh-CN" altLang="en-US" sz="1400" dirty="0" smtClean="0"/>
                <a:t>催化剂</a:t>
              </a:r>
              <a:endParaRPr lang="en-US" sz="1400" dirty="0"/>
            </a:p>
          </p:txBody>
        </p:sp>
        <p:sp>
          <p:nvSpPr>
            <p:cNvPr id="8" name="TextBox 7"/>
            <p:cNvSpPr txBox="1"/>
            <p:nvPr/>
          </p:nvSpPr>
          <p:spPr>
            <a:xfrm>
              <a:off x="2895600" y="5867400"/>
              <a:ext cx="1082348" cy="307777"/>
            </a:xfrm>
            <a:prstGeom prst="rect">
              <a:avLst/>
            </a:prstGeom>
            <a:noFill/>
          </p:spPr>
          <p:txBody>
            <a:bodyPr wrap="none" rtlCol="0">
              <a:spAutoFit/>
            </a:bodyPr>
            <a:lstStyle/>
            <a:p>
              <a:r>
                <a:rPr lang="zh-CN" altLang="en-US" sz="1400" dirty="0" smtClean="0"/>
                <a:t>高温、高压</a:t>
              </a:r>
              <a:endParaRPr lang="en-US" sz="1400" dirty="0"/>
            </a:p>
          </p:txBody>
        </p:sp>
      </p:grpSp>
      <p:pic>
        <p:nvPicPr>
          <p:cNvPr id="11" name="Picture 10"/>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6172200" y="838200"/>
            <a:ext cx="2514600" cy="1362075"/>
          </a:xfrm>
          <a:prstGeom prst="rect">
            <a:avLst/>
          </a:prstGeom>
        </p:spPr>
      </p:pic>
      <p:grpSp>
        <p:nvGrpSpPr>
          <p:cNvPr id="13" name="Group 12"/>
          <p:cNvGrpSpPr/>
          <p:nvPr/>
        </p:nvGrpSpPr>
        <p:grpSpPr>
          <a:xfrm>
            <a:off x="2438400" y="4416623"/>
            <a:ext cx="1219200" cy="688777"/>
            <a:chOff x="2819400" y="5867400"/>
            <a:chExt cx="1219200" cy="688777"/>
          </a:xfrm>
        </p:grpSpPr>
        <p:cxnSp>
          <p:nvCxnSpPr>
            <p:cNvPr id="18" name="Straight Arrow Connector 17"/>
            <p:cNvCxnSpPr/>
            <p:nvPr/>
          </p:nvCxnSpPr>
          <p:spPr>
            <a:xfrm>
              <a:off x="2819400" y="6172117"/>
              <a:ext cx="12192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3048000" y="6248400"/>
              <a:ext cx="723275" cy="307777"/>
            </a:xfrm>
            <a:prstGeom prst="rect">
              <a:avLst/>
            </a:prstGeom>
            <a:noFill/>
          </p:spPr>
          <p:txBody>
            <a:bodyPr wrap="square" rtlCol="0">
              <a:spAutoFit/>
            </a:bodyPr>
            <a:lstStyle/>
            <a:p>
              <a:r>
                <a:rPr lang="zh-CN" altLang="en-US" sz="1400" dirty="0" smtClean="0"/>
                <a:t>放电</a:t>
              </a:r>
              <a:endParaRPr lang="en-US" sz="1400" dirty="0"/>
            </a:p>
          </p:txBody>
        </p:sp>
        <p:sp>
          <p:nvSpPr>
            <p:cNvPr id="16" name="TextBox 15"/>
            <p:cNvSpPr txBox="1"/>
            <p:nvPr/>
          </p:nvSpPr>
          <p:spPr>
            <a:xfrm>
              <a:off x="2895600" y="5867400"/>
              <a:ext cx="1082348" cy="307777"/>
            </a:xfrm>
            <a:prstGeom prst="rect">
              <a:avLst/>
            </a:prstGeom>
            <a:noFill/>
          </p:spPr>
          <p:txBody>
            <a:bodyPr wrap="none" rtlCol="0">
              <a:spAutoFit/>
            </a:bodyPr>
            <a:lstStyle/>
            <a:p>
              <a:r>
                <a:rPr lang="zh-CN" altLang="en-US" sz="1400" dirty="0" smtClean="0"/>
                <a:t>高温、高压</a:t>
              </a:r>
              <a:endParaRPr lang="en-US" sz="1400" dirty="0"/>
            </a:p>
          </p:txBody>
        </p:sp>
      </p:grpSp>
      <p:grpSp>
        <p:nvGrpSpPr>
          <p:cNvPr id="19" name="Group 18"/>
          <p:cNvGrpSpPr/>
          <p:nvPr/>
        </p:nvGrpSpPr>
        <p:grpSpPr>
          <a:xfrm>
            <a:off x="2590800" y="5712023"/>
            <a:ext cx="838200" cy="307777"/>
            <a:chOff x="2819400" y="5867400"/>
            <a:chExt cx="838200" cy="307777"/>
          </a:xfrm>
        </p:grpSpPr>
        <p:cxnSp>
          <p:nvCxnSpPr>
            <p:cNvPr id="20" name="Straight Arrow Connector 19"/>
            <p:cNvCxnSpPr/>
            <p:nvPr/>
          </p:nvCxnSpPr>
          <p:spPr>
            <a:xfrm>
              <a:off x="2819400" y="6172117"/>
              <a:ext cx="838200" cy="3060"/>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2895600" y="5867400"/>
              <a:ext cx="543739" cy="307777"/>
            </a:xfrm>
            <a:prstGeom prst="rect">
              <a:avLst/>
            </a:prstGeom>
            <a:noFill/>
          </p:spPr>
          <p:txBody>
            <a:bodyPr wrap="none" rtlCol="0">
              <a:spAutoFit/>
            </a:bodyPr>
            <a:lstStyle/>
            <a:p>
              <a:r>
                <a:rPr lang="zh-CN" altLang="en-US" sz="1400" dirty="0" smtClean="0"/>
                <a:t>点燃</a:t>
              </a:r>
              <a:endParaRPr lang="en-US" sz="1400" dirty="0"/>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linds(horizontal)">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blinds(horizontal)">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blinds(horizontal)">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blinds(horizontal)">
                                      <p:cBhvr>
                                        <p:cTn id="32" dur="500"/>
                                        <p:tgtEl>
                                          <p:spTgt spid="3">
                                            <p:txEl>
                                              <p:pRg st="4" end="4"/>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blinds(horizontal)">
                                      <p:cBhvr>
                                        <p:cTn id="35" dur="500"/>
                                        <p:tgtEl>
                                          <p:spTgt spid="5"/>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3">
                                            <p:txEl>
                                              <p:pRg st="5" end="5"/>
                                            </p:txEl>
                                          </p:spTgt>
                                        </p:tgtEl>
                                        <p:attrNameLst>
                                          <p:attrName>style.visibility</p:attrName>
                                        </p:attrNameLst>
                                      </p:cBhvr>
                                      <p:to>
                                        <p:strVal val="visible"/>
                                      </p:to>
                                    </p:set>
                                    <p:animEffect transition="in" filter="blinds(horizontal)">
                                      <p:cBhvr>
                                        <p:cTn id="40" dur="500"/>
                                        <p:tgtEl>
                                          <p:spTgt spid="3">
                                            <p:txEl>
                                              <p:pRg st="5" end="5"/>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3">
                                            <p:txEl>
                                              <p:pRg st="6" end="6"/>
                                            </p:txEl>
                                          </p:spTgt>
                                        </p:tgtEl>
                                        <p:attrNameLst>
                                          <p:attrName>style.visibility</p:attrName>
                                        </p:attrNameLst>
                                      </p:cBhvr>
                                      <p:to>
                                        <p:strVal val="visible"/>
                                      </p:to>
                                    </p:set>
                                    <p:animEffect transition="in" filter="blinds(horizontal)">
                                      <p:cBhvr>
                                        <p:cTn id="45" dur="500"/>
                                        <p:tgtEl>
                                          <p:spTgt spid="3">
                                            <p:txEl>
                                              <p:pRg st="6" end="6"/>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3">
                                            <p:txEl>
                                              <p:pRg st="7" end="7"/>
                                            </p:txEl>
                                          </p:spTgt>
                                        </p:tgtEl>
                                        <p:attrNameLst>
                                          <p:attrName>style.visibility</p:attrName>
                                        </p:attrNameLst>
                                      </p:cBhvr>
                                      <p:to>
                                        <p:strVal val="visible"/>
                                      </p:to>
                                    </p:set>
                                    <p:animEffect transition="in" filter="blinds(horizontal)">
                                      <p:cBhvr>
                                        <p:cTn id="50" dur="500"/>
                                        <p:tgtEl>
                                          <p:spTgt spid="3">
                                            <p:txEl>
                                              <p:pRg st="7" end="7"/>
                                            </p:txEl>
                                          </p:spTgt>
                                        </p:tgtEl>
                                      </p:cBhvr>
                                    </p:animEffect>
                                  </p:childTnLst>
                                </p:cTn>
                              </p:par>
                              <p:par>
                                <p:cTn id="51" presetID="3" presetClass="entr" presetSubtype="10" fill="hold" nodeType="with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blinds(horizontal)">
                                      <p:cBhvr>
                                        <p:cTn id="53" dur="500"/>
                                        <p:tgtEl>
                                          <p:spTgt spid="13"/>
                                        </p:tgtEl>
                                      </p:cBhvr>
                                    </p:animEffect>
                                  </p:childTnLst>
                                </p:cTn>
                              </p:par>
                              <p:par>
                                <p:cTn id="54" presetID="3" presetClass="entr" presetSubtype="10" fill="hold"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blinds(horizontal)">
                                      <p:cBhvr>
                                        <p:cTn id="5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p:txBody>
          <a:bodyPr/>
          <a:lstStyle/>
          <a:p>
            <a:r>
              <a:rPr lang="zh-CN" altLang="en-US" dirty="0" smtClean="0"/>
              <a:t>问题解决</a:t>
            </a:r>
            <a:endParaRPr lang="en-US" dirty="0"/>
          </a:p>
        </p:txBody>
      </p:sp>
      <p:sp>
        <p:nvSpPr>
          <p:cNvPr id="3" name="Content Placeholder 2"/>
          <p:cNvSpPr>
            <a:spLocks noGrp="1"/>
          </p:cNvSpPr>
          <p:nvPr>
            <p:ph idx="1"/>
          </p:nvPr>
        </p:nvSpPr>
        <p:spPr/>
        <p:txBody>
          <a:bodyPr/>
          <a:lstStyle/>
          <a:p>
            <a:pPr>
              <a:lnSpc>
                <a:spcPct val="150000"/>
              </a:lnSpc>
              <a:buNone/>
            </a:pPr>
            <a:r>
              <a:rPr lang="zh-CN" altLang="en-US" dirty="0" smtClean="0"/>
              <a:t>锂与镁有相似的化学性质</a:t>
            </a:r>
            <a:endParaRPr lang="en-US" altLang="zh-CN" dirty="0" smtClean="0"/>
          </a:p>
          <a:p>
            <a:pPr>
              <a:lnSpc>
                <a:spcPct val="150000"/>
              </a:lnSpc>
              <a:buNone/>
            </a:pPr>
            <a:r>
              <a:rPr lang="en-US" altLang="zh-CN" dirty="0" smtClean="0"/>
              <a:t>6Li + N</a:t>
            </a:r>
            <a:r>
              <a:rPr lang="en-US" altLang="zh-CN" baseline="-25000" dirty="0" smtClean="0"/>
              <a:t>2 	</a:t>
            </a:r>
            <a:r>
              <a:rPr lang="en-US" altLang="zh-CN" dirty="0" smtClean="0"/>
              <a:t>      2Li</a:t>
            </a:r>
            <a:r>
              <a:rPr lang="en-US" altLang="zh-CN" baseline="-25000" dirty="0" smtClean="0"/>
              <a:t>3</a:t>
            </a:r>
            <a:r>
              <a:rPr lang="en-US" altLang="zh-CN" dirty="0" smtClean="0"/>
              <a:t>N </a:t>
            </a:r>
            <a:endParaRPr lang="en-US" dirty="0"/>
          </a:p>
        </p:txBody>
      </p:sp>
      <p:grpSp>
        <p:nvGrpSpPr>
          <p:cNvPr id="9" name="Group 8"/>
          <p:cNvGrpSpPr/>
          <p:nvPr/>
        </p:nvGrpSpPr>
        <p:grpSpPr>
          <a:xfrm>
            <a:off x="1905000" y="2590800"/>
            <a:ext cx="838200" cy="307777"/>
            <a:chOff x="2819400" y="5867400"/>
            <a:chExt cx="838200" cy="307777"/>
          </a:xfrm>
        </p:grpSpPr>
        <p:cxnSp>
          <p:nvCxnSpPr>
            <p:cNvPr id="10" name="Straight Arrow Connector 9"/>
            <p:cNvCxnSpPr/>
            <p:nvPr/>
          </p:nvCxnSpPr>
          <p:spPr>
            <a:xfrm>
              <a:off x="2819400" y="6172117"/>
              <a:ext cx="838200" cy="3060"/>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2895600" y="5867400"/>
              <a:ext cx="543739" cy="307777"/>
            </a:xfrm>
            <a:prstGeom prst="rect">
              <a:avLst/>
            </a:prstGeom>
            <a:noFill/>
          </p:spPr>
          <p:txBody>
            <a:bodyPr wrap="none" rtlCol="0">
              <a:spAutoFit/>
            </a:bodyPr>
            <a:lstStyle/>
            <a:p>
              <a:r>
                <a:rPr lang="zh-CN" altLang="en-US" sz="1400" dirty="0" smtClean="0"/>
                <a:t>点燃</a:t>
              </a:r>
              <a:endParaRPr lang="en-US" sz="1400" dirty="0"/>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blinds(horizontal)">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en-US" altLang="zh-CN" dirty="0" smtClean="0"/>
              <a:t>13.1.2 </a:t>
            </a:r>
            <a:r>
              <a:rPr lang="zh-CN" altLang="en-US" dirty="0" smtClean="0"/>
              <a:t>氮气的制取</a:t>
            </a:r>
            <a:endParaRPr lang="en-US" dirty="0"/>
          </a:p>
        </p:txBody>
      </p:sp>
      <p:sp>
        <p:nvSpPr>
          <p:cNvPr id="3" name="Content Placeholder 2"/>
          <p:cNvSpPr>
            <a:spLocks noGrp="1"/>
          </p:cNvSpPr>
          <p:nvPr>
            <p:ph idx="1"/>
          </p:nvPr>
        </p:nvSpPr>
        <p:spPr>
          <a:xfrm>
            <a:off x="457200" y="1219200"/>
            <a:ext cx="8229600" cy="5486400"/>
          </a:xfrm>
        </p:spPr>
        <p:txBody>
          <a:bodyPr/>
          <a:lstStyle/>
          <a:p>
            <a:pPr>
              <a:buNone/>
            </a:pPr>
            <a:r>
              <a:rPr lang="zh-CN" altLang="en-US" dirty="0" smtClean="0"/>
              <a:t>工业制取法</a:t>
            </a:r>
            <a:endParaRPr lang="en-US" altLang="zh-CN" dirty="0" smtClean="0"/>
          </a:p>
          <a:p>
            <a:pPr>
              <a:buFont typeface="Wingdings" pitchFamily="2" charset="2"/>
              <a:buChar char="Ø"/>
            </a:pPr>
            <a:r>
              <a:rPr lang="zh-CN" altLang="en-US" dirty="0" smtClean="0"/>
              <a:t>分馏液态空气</a:t>
            </a:r>
            <a:endParaRPr lang="en-US" altLang="zh-CN" dirty="0" smtClean="0"/>
          </a:p>
        </p:txBody>
      </p:sp>
      <p:pic>
        <p:nvPicPr>
          <p:cNvPr id="5" name="Picture 4" descr="NN.jpg"/>
          <p:cNvPicPr>
            <a:picLocks noChangeAspect="1"/>
          </p:cNvPicPr>
          <p:nvPr/>
        </p:nvPicPr>
        <p:blipFill>
          <a:blip r:embed="rId3"/>
          <a:stretch>
            <a:fillRect/>
          </a:stretch>
        </p:blipFill>
        <p:spPr>
          <a:xfrm>
            <a:off x="3810000" y="1295400"/>
            <a:ext cx="4972396" cy="4927600"/>
          </a:xfrm>
          <a:prstGeom prst="rect">
            <a:avLst/>
          </a:prstGeom>
        </p:spPr>
      </p:pic>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en-US" altLang="zh-CN" dirty="0" smtClean="0"/>
              <a:t>13.1.2 </a:t>
            </a:r>
            <a:r>
              <a:rPr lang="zh-CN" altLang="en-US" dirty="0" smtClean="0"/>
              <a:t>氮气的制取</a:t>
            </a:r>
            <a:endParaRPr lang="en-US" dirty="0"/>
          </a:p>
        </p:txBody>
      </p:sp>
      <p:sp>
        <p:nvSpPr>
          <p:cNvPr id="3" name="Content Placeholder 2"/>
          <p:cNvSpPr>
            <a:spLocks noGrp="1"/>
          </p:cNvSpPr>
          <p:nvPr>
            <p:ph idx="1"/>
          </p:nvPr>
        </p:nvSpPr>
        <p:spPr>
          <a:xfrm>
            <a:off x="457200" y="1219200"/>
            <a:ext cx="8229600" cy="5486400"/>
          </a:xfrm>
        </p:spPr>
        <p:txBody>
          <a:bodyPr/>
          <a:lstStyle/>
          <a:p>
            <a:pPr>
              <a:lnSpc>
                <a:spcPct val="150000"/>
              </a:lnSpc>
              <a:buNone/>
            </a:pPr>
            <a:r>
              <a:rPr lang="zh-CN" altLang="en-US" dirty="0" smtClean="0"/>
              <a:t>实验室制取法</a:t>
            </a:r>
            <a:endParaRPr lang="en-US" altLang="zh-CN" dirty="0" smtClean="0"/>
          </a:p>
          <a:p>
            <a:pPr marL="514350" indent="-514350">
              <a:lnSpc>
                <a:spcPct val="150000"/>
              </a:lnSpc>
              <a:buAutoNum type="arabicPeriod"/>
            </a:pPr>
            <a:r>
              <a:rPr lang="en-US" altLang="zh-CN" dirty="0" smtClean="0"/>
              <a:t>NaNO</a:t>
            </a:r>
            <a:r>
              <a:rPr lang="en-US" altLang="zh-CN" baseline="-25000" dirty="0" smtClean="0"/>
              <a:t>2</a:t>
            </a:r>
            <a:r>
              <a:rPr lang="en-US" altLang="zh-CN" dirty="0" smtClean="0"/>
              <a:t> + NH</a:t>
            </a:r>
            <a:r>
              <a:rPr lang="en-US" altLang="zh-CN" baseline="-25000" dirty="0" smtClean="0"/>
              <a:t>4</a:t>
            </a:r>
            <a:r>
              <a:rPr lang="en-US" altLang="zh-CN" dirty="0" smtClean="0"/>
              <a:t> </a:t>
            </a:r>
            <a:r>
              <a:rPr lang="en-US" altLang="zh-CN" dirty="0" err="1" smtClean="0"/>
              <a:t>Cl</a:t>
            </a:r>
            <a:r>
              <a:rPr lang="en-US" altLang="zh-CN" dirty="0" smtClean="0"/>
              <a:t> 	      </a:t>
            </a:r>
            <a:r>
              <a:rPr lang="en-US" altLang="zh-CN" dirty="0" err="1" smtClean="0"/>
              <a:t>NaCl</a:t>
            </a:r>
            <a:r>
              <a:rPr lang="en-US" altLang="zh-CN" dirty="0" smtClean="0"/>
              <a:t> + N</a:t>
            </a:r>
            <a:r>
              <a:rPr lang="en-US" altLang="zh-CN" baseline="-25000" dirty="0" smtClean="0"/>
              <a:t>2</a:t>
            </a:r>
            <a:r>
              <a:rPr lang="en-US" altLang="zh-CN" dirty="0" smtClean="0"/>
              <a:t> + 2H</a:t>
            </a:r>
            <a:r>
              <a:rPr lang="en-US" altLang="zh-CN" baseline="-25000" dirty="0" smtClean="0"/>
              <a:t>2</a:t>
            </a:r>
            <a:r>
              <a:rPr lang="en-US" altLang="zh-CN" dirty="0" smtClean="0"/>
              <a:t>O</a:t>
            </a:r>
          </a:p>
          <a:p>
            <a:pPr marL="514350" indent="-514350">
              <a:lnSpc>
                <a:spcPct val="150000"/>
              </a:lnSpc>
              <a:buAutoNum type="arabicPeriod"/>
            </a:pPr>
            <a:r>
              <a:rPr lang="en-US" altLang="zh-CN" dirty="0" smtClean="0"/>
              <a:t>3CuO + 2NH</a:t>
            </a:r>
            <a:r>
              <a:rPr lang="en-US" altLang="zh-CN" baseline="-25000" dirty="0" smtClean="0"/>
              <a:t>3		 </a:t>
            </a:r>
            <a:r>
              <a:rPr lang="en-US" altLang="zh-CN" dirty="0" smtClean="0"/>
              <a:t>  3Cu + N</a:t>
            </a:r>
            <a:r>
              <a:rPr lang="en-US" altLang="zh-CN" baseline="-25000" dirty="0" smtClean="0"/>
              <a:t>2</a:t>
            </a:r>
            <a:r>
              <a:rPr lang="en-US" altLang="zh-CN" dirty="0" smtClean="0"/>
              <a:t> + 3H</a:t>
            </a:r>
            <a:r>
              <a:rPr lang="en-US" altLang="zh-CN" baseline="-25000" dirty="0" smtClean="0"/>
              <a:t>2</a:t>
            </a:r>
            <a:r>
              <a:rPr lang="en-US" altLang="zh-CN" dirty="0" smtClean="0"/>
              <a:t>O </a:t>
            </a:r>
          </a:p>
          <a:p>
            <a:pPr marL="514350" indent="-514350">
              <a:lnSpc>
                <a:spcPct val="150000"/>
              </a:lnSpc>
              <a:buFont typeface="Wingdings" pitchFamily="2" charset="2"/>
              <a:buChar char="v"/>
            </a:pPr>
            <a:r>
              <a:rPr lang="en-US" altLang="zh-CN" dirty="0" err="1" smtClean="0"/>
              <a:t>CuO</a:t>
            </a:r>
            <a:r>
              <a:rPr lang="zh-CN" altLang="en-US" dirty="0" smtClean="0"/>
              <a:t>能被哪些物质还原为</a:t>
            </a:r>
            <a:r>
              <a:rPr lang="en-US" altLang="zh-CN" dirty="0" smtClean="0"/>
              <a:t>Cu</a:t>
            </a:r>
            <a:r>
              <a:rPr lang="zh-CN" altLang="en-US" dirty="0" smtClean="0"/>
              <a:t>？</a:t>
            </a:r>
            <a:endParaRPr lang="en-US" altLang="zh-CN" dirty="0" smtClean="0"/>
          </a:p>
          <a:p>
            <a:pPr marL="514350" indent="-514350">
              <a:lnSpc>
                <a:spcPct val="150000"/>
              </a:lnSpc>
              <a:buFont typeface="Wingdings" pitchFamily="2" charset="2"/>
              <a:buChar char="v"/>
            </a:pPr>
            <a:r>
              <a:rPr lang="en-US" altLang="zh-CN" dirty="0" smtClean="0"/>
              <a:t>H</a:t>
            </a:r>
            <a:r>
              <a:rPr lang="en-US" altLang="zh-CN" baseline="-25000" dirty="0" smtClean="0"/>
              <a:t>2</a:t>
            </a:r>
            <a:r>
              <a:rPr lang="en-US" altLang="zh-CN" dirty="0" smtClean="0"/>
              <a:t> </a:t>
            </a:r>
            <a:r>
              <a:rPr lang="zh-CN" altLang="en-US" dirty="0" smtClean="0"/>
              <a:t>、 </a:t>
            </a:r>
            <a:r>
              <a:rPr lang="en-US" altLang="zh-CN" dirty="0" smtClean="0"/>
              <a:t>NH</a:t>
            </a:r>
            <a:r>
              <a:rPr lang="en-US" altLang="zh-CN" baseline="-25000" dirty="0" smtClean="0"/>
              <a:t>3</a:t>
            </a:r>
            <a:r>
              <a:rPr lang="en-US" altLang="zh-CN" dirty="0" smtClean="0"/>
              <a:t> </a:t>
            </a:r>
            <a:r>
              <a:rPr lang="zh-CN" altLang="en-US" dirty="0" smtClean="0"/>
              <a:t>、</a:t>
            </a:r>
            <a:r>
              <a:rPr lang="en-US" altLang="zh-CN" dirty="0" smtClean="0"/>
              <a:t>C</a:t>
            </a:r>
            <a:r>
              <a:rPr lang="zh-CN" altLang="en-US" dirty="0" smtClean="0"/>
              <a:t>、</a:t>
            </a:r>
            <a:r>
              <a:rPr lang="en-US" altLang="zh-CN" dirty="0" smtClean="0"/>
              <a:t>CO</a:t>
            </a:r>
            <a:r>
              <a:rPr lang="zh-CN" altLang="en-US" dirty="0" smtClean="0"/>
              <a:t>、较</a:t>
            </a:r>
            <a:r>
              <a:rPr lang="en-US" altLang="zh-CN" dirty="0" smtClean="0"/>
              <a:t>Cu</a:t>
            </a:r>
            <a:r>
              <a:rPr lang="zh-CN" altLang="en-US" dirty="0" smtClean="0"/>
              <a:t>活泼的金属单质</a:t>
            </a:r>
            <a:endParaRPr lang="en-US" dirty="0"/>
          </a:p>
        </p:txBody>
      </p:sp>
      <p:cxnSp>
        <p:nvCxnSpPr>
          <p:cNvPr id="5" name="Straight Arrow Connector 4"/>
          <p:cNvCxnSpPr/>
          <p:nvPr/>
        </p:nvCxnSpPr>
        <p:spPr bwMode="auto">
          <a:xfrm>
            <a:off x="3810000" y="2513012"/>
            <a:ext cx="8382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6" name="Isosceles Triangle 5"/>
          <p:cNvSpPr/>
          <p:nvPr/>
        </p:nvSpPr>
        <p:spPr bwMode="auto">
          <a:xfrm>
            <a:off x="4114800" y="2360612"/>
            <a:ext cx="228600" cy="152400"/>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cxnSp>
        <p:nvCxnSpPr>
          <p:cNvPr id="7" name="Straight Arrow Connector 6"/>
          <p:cNvCxnSpPr/>
          <p:nvPr/>
        </p:nvCxnSpPr>
        <p:spPr bwMode="auto">
          <a:xfrm>
            <a:off x="3429000" y="3351212"/>
            <a:ext cx="8382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8" name="Isosceles Triangle 7"/>
          <p:cNvSpPr/>
          <p:nvPr/>
        </p:nvSpPr>
        <p:spPr bwMode="auto">
          <a:xfrm>
            <a:off x="3733800" y="3198812"/>
            <a:ext cx="228600" cy="152400"/>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sp>
        <p:nvSpPr>
          <p:cNvPr id="9" name="Rounded Rectangle 8"/>
          <p:cNvSpPr/>
          <p:nvPr/>
        </p:nvSpPr>
        <p:spPr>
          <a:xfrm>
            <a:off x="4724400" y="2286000"/>
            <a:ext cx="33528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
        <p:nvSpPr>
          <p:cNvPr id="10" name="Rounded Rectangle 9"/>
          <p:cNvSpPr/>
          <p:nvPr/>
        </p:nvSpPr>
        <p:spPr>
          <a:xfrm>
            <a:off x="4419600" y="3124200"/>
            <a:ext cx="33528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linds(horizontal)">
                                      <p:cBhvr>
                                        <p:cTn id="15" dur="500"/>
                                        <p:tgtEl>
                                          <p:spTgt spid="5"/>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blinds(horizontal)">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xit" presetSubtype="10" fill="hold" grpId="0" nodeType="clickEffect">
                                  <p:stCondLst>
                                    <p:cond delay="0"/>
                                  </p:stCondLst>
                                  <p:childTnLst>
                                    <p:animEffect transition="out" filter="blinds(horizontal)">
                                      <p:cBhvr>
                                        <p:cTn id="22" dur="500"/>
                                        <p:tgtEl>
                                          <p:spTgt spid="9"/>
                                        </p:tgtEl>
                                      </p:cBhvr>
                                    </p:animEffect>
                                    <p:set>
                                      <p:cBhvr>
                                        <p:cTn id="23" dur="1" fill="hold">
                                          <p:stCondLst>
                                            <p:cond delay="499"/>
                                          </p:stCondLst>
                                        </p:cTn>
                                        <p:tgtEl>
                                          <p:spTgt spid="9"/>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blinds(horizontal)">
                                      <p:cBhvr>
                                        <p:cTn id="28" dur="500"/>
                                        <p:tgtEl>
                                          <p:spTgt spid="3">
                                            <p:txEl>
                                              <p:pRg st="2" end="2"/>
                                            </p:txEl>
                                          </p:spTgt>
                                        </p:tgtEl>
                                      </p:cBhvr>
                                    </p:animEffect>
                                  </p:childTnLst>
                                </p:cTn>
                              </p:par>
                              <p:par>
                                <p:cTn id="29" presetID="3" presetClass="entr" presetSubtype="10" fill="hold"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blinds(horizontal)">
                                      <p:cBhvr>
                                        <p:cTn id="31" dur="500"/>
                                        <p:tgtEl>
                                          <p:spTgt spid="7"/>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blinds(horizontal)">
                                      <p:cBhvr>
                                        <p:cTn id="34" dur="500"/>
                                        <p:tgtEl>
                                          <p:spTgt spid="8"/>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xit" presetSubtype="10" fill="hold" grpId="0" nodeType="clickEffect">
                                  <p:stCondLst>
                                    <p:cond delay="0"/>
                                  </p:stCondLst>
                                  <p:childTnLst>
                                    <p:animEffect transition="out" filter="blinds(horizontal)">
                                      <p:cBhvr>
                                        <p:cTn id="38" dur="500"/>
                                        <p:tgtEl>
                                          <p:spTgt spid="10"/>
                                        </p:tgtEl>
                                      </p:cBhvr>
                                    </p:animEffect>
                                    <p:set>
                                      <p:cBhvr>
                                        <p:cTn id="39" dur="1" fill="hold">
                                          <p:stCondLst>
                                            <p:cond delay="499"/>
                                          </p:stCondLst>
                                        </p:cTn>
                                        <p:tgtEl>
                                          <p:spTgt spid="10"/>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3">
                                            <p:txEl>
                                              <p:pRg st="3" end="3"/>
                                            </p:txEl>
                                          </p:spTgt>
                                        </p:tgtEl>
                                        <p:attrNameLst>
                                          <p:attrName>style.visibility</p:attrName>
                                        </p:attrNameLst>
                                      </p:cBhvr>
                                      <p:to>
                                        <p:strVal val="visible"/>
                                      </p:to>
                                    </p:set>
                                    <p:animEffect transition="in" filter="blinds(horizontal)">
                                      <p:cBhvr>
                                        <p:cTn id="44" dur="500"/>
                                        <p:tgtEl>
                                          <p:spTgt spid="3">
                                            <p:txEl>
                                              <p:pRg st="3" end="3"/>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3">
                                            <p:txEl>
                                              <p:pRg st="4" end="4"/>
                                            </p:txEl>
                                          </p:spTgt>
                                        </p:tgtEl>
                                        <p:attrNameLst>
                                          <p:attrName>style.visibility</p:attrName>
                                        </p:attrNameLst>
                                      </p:cBhvr>
                                      <p:to>
                                        <p:strVal val="visible"/>
                                      </p:to>
                                    </p:set>
                                    <p:animEffect transition="in" filter="blinds(horizontal)">
                                      <p:cBhvr>
                                        <p:cTn id="4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animBg="1"/>
      <p:bldP spid="8" grpId="0" animBg="1"/>
      <p:bldP spid="9" grpId="0" animBg="1"/>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en-US" altLang="zh-CN" dirty="0" smtClean="0"/>
              <a:t>13.1.3 </a:t>
            </a:r>
            <a:r>
              <a:rPr lang="zh-CN" altLang="en-US" dirty="0" smtClean="0"/>
              <a:t>氮气的用途</a:t>
            </a:r>
            <a:endParaRPr lang="en-US" dirty="0"/>
          </a:p>
        </p:txBody>
      </p:sp>
      <p:sp>
        <p:nvSpPr>
          <p:cNvPr id="3" name="Content Placeholder 2"/>
          <p:cNvSpPr>
            <a:spLocks noGrp="1"/>
          </p:cNvSpPr>
          <p:nvPr>
            <p:ph idx="1"/>
          </p:nvPr>
        </p:nvSpPr>
        <p:spPr>
          <a:xfrm>
            <a:off x="457200" y="914400"/>
            <a:ext cx="8229600" cy="5486400"/>
          </a:xfrm>
        </p:spPr>
        <p:txBody>
          <a:bodyPr/>
          <a:lstStyle/>
          <a:p>
            <a:pPr>
              <a:buFont typeface="Wingdings" pitchFamily="2" charset="2"/>
              <a:buChar char="Ø"/>
            </a:pPr>
            <a:r>
              <a:rPr lang="zh-CN" altLang="en-US" dirty="0" smtClean="0"/>
              <a:t>合成氨和硝酸的原料</a:t>
            </a:r>
            <a:endParaRPr lang="en-US" altLang="zh-CN" dirty="0" smtClean="0"/>
          </a:p>
          <a:p>
            <a:pPr>
              <a:buFont typeface="Wingdings" pitchFamily="2" charset="2"/>
              <a:buChar char="Ø"/>
            </a:pPr>
            <a:r>
              <a:rPr lang="zh-CN" altLang="en-US" dirty="0" smtClean="0"/>
              <a:t>液态氮：制造低温环境、作冷冻剂</a:t>
            </a:r>
            <a:endParaRPr lang="en-US" dirty="0" smtClean="0"/>
          </a:p>
          <a:p>
            <a:pPr>
              <a:buNone/>
            </a:pPr>
            <a:r>
              <a:rPr lang="zh-CN" altLang="en-US" dirty="0" smtClean="0"/>
              <a:t>交流分享</a:t>
            </a:r>
            <a:endParaRPr lang="en-US" altLang="zh-CN" dirty="0" smtClean="0"/>
          </a:p>
          <a:p>
            <a:pPr>
              <a:buFont typeface="Wingdings" pitchFamily="2" charset="2"/>
              <a:buChar char="Ø"/>
            </a:pPr>
            <a:r>
              <a:rPr lang="zh-CN" altLang="en-US" dirty="0" smtClean="0"/>
              <a:t>保护气</a:t>
            </a:r>
            <a:endParaRPr lang="en-US" altLang="zh-CN" dirty="0" smtClean="0"/>
          </a:p>
          <a:p>
            <a:pPr lvl="1"/>
            <a:r>
              <a:rPr lang="zh-CN" altLang="en-US" dirty="0" smtClean="0"/>
              <a:t>焊接金属时的保护气</a:t>
            </a:r>
            <a:endParaRPr lang="en-US" altLang="zh-CN" dirty="0" smtClean="0"/>
          </a:p>
          <a:p>
            <a:pPr lvl="1"/>
            <a:r>
              <a:rPr lang="zh-CN" altLang="en-US" dirty="0" smtClean="0"/>
              <a:t>填充灯泡防止钨丝被氧化和挥发</a:t>
            </a:r>
            <a:endParaRPr lang="en-US" altLang="zh-CN" dirty="0" smtClean="0"/>
          </a:p>
          <a:p>
            <a:pPr lvl="1"/>
            <a:r>
              <a:rPr lang="zh-CN" altLang="en-US" dirty="0" smtClean="0"/>
              <a:t>防止食物腐烂</a:t>
            </a:r>
            <a:endParaRPr lang="en-US" altLang="zh-CN" dirty="0" smtClean="0"/>
          </a:p>
        </p:txBody>
      </p:sp>
      <p:pic>
        <p:nvPicPr>
          <p:cNvPr id="5" name="Picture 4"/>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4038600" y="4319453"/>
            <a:ext cx="2551632" cy="2538547"/>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xmlns="" val="0"/>
              </a:ext>
            </a:extLst>
          </a:blip>
          <a:stretch>
            <a:fillRect/>
          </a:stretch>
        </p:blipFill>
        <p:spPr>
          <a:xfrm>
            <a:off x="6636827" y="4495800"/>
            <a:ext cx="2507173" cy="207611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par>
                                <p:cTn id="33" presetID="2" presetClass="entr" presetSubtype="4" fill="hold" nodeType="withEffect">
                                  <p:stCondLst>
                                    <p:cond delay="0"/>
                                  </p:stCondLst>
                                  <p:childTnLst>
                                    <p:set>
                                      <p:cBhvr>
                                        <p:cTn id="34" dur="1" fill="hold">
                                          <p:stCondLst>
                                            <p:cond delay="0"/>
                                          </p:stCondLst>
                                        </p:cTn>
                                        <p:tgtEl>
                                          <p:spTgt spid="5"/>
                                        </p:tgtEl>
                                        <p:attrNameLst>
                                          <p:attrName>style.visibility</p:attrName>
                                        </p:attrNameLst>
                                      </p:cBhvr>
                                      <p:to>
                                        <p:strVal val="visible"/>
                                      </p:to>
                                    </p:set>
                                    <p:anim calcmode="lin" valueType="num">
                                      <p:cBhvr additive="base">
                                        <p:cTn id="35" dur="500" fill="hold"/>
                                        <p:tgtEl>
                                          <p:spTgt spid="5"/>
                                        </p:tgtEl>
                                        <p:attrNameLst>
                                          <p:attrName>ppt_x</p:attrName>
                                        </p:attrNameLst>
                                      </p:cBhvr>
                                      <p:tavLst>
                                        <p:tav tm="0">
                                          <p:val>
                                            <p:strVal val="#ppt_x"/>
                                          </p:val>
                                        </p:tav>
                                        <p:tav tm="100000">
                                          <p:val>
                                            <p:strVal val="#ppt_x"/>
                                          </p:val>
                                        </p:tav>
                                      </p:tavLst>
                                    </p:anim>
                                    <p:anim calcmode="lin" valueType="num">
                                      <p:cBhvr additive="base">
                                        <p:cTn id="3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Effect transition="in" filter="blinds(horizontal)">
                                      <p:cBhvr>
                                        <p:cTn id="41" dur="500"/>
                                        <p:tgtEl>
                                          <p:spTgt spid="3">
                                            <p:txEl>
                                              <p:pRg st="6" end="6"/>
                                            </p:txEl>
                                          </p:spTgt>
                                        </p:tgtEl>
                                      </p:cBhvr>
                                    </p:animEffect>
                                  </p:childTnLst>
                                </p:cTn>
                              </p:par>
                              <p:par>
                                <p:cTn id="42" presetID="2" presetClass="entr" presetSubtype="4" fill="hold" nodeType="withEffect">
                                  <p:stCondLst>
                                    <p:cond delay="0"/>
                                  </p:stCondLst>
                                  <p:childTnLst>
                                    <p:set>
                                      <p:cBhvr>
                                        <p:cTn id="43" dur="1" fill="hold">
                                          <p:stCondLst>
                                            <p:cond delay="0"/>
                                          </p:stCondLst>
                                        </p:cTn>
                                        <p:tgtEl>
                                          <p:spTgt spid="6"/>
                                        </p:tgtEl>
                                        <p:attrNameLst>
                                          <p:attrName>style.visibility</p:attrName>
                                        </p:attrNameLst>
                                      </p:cBhvr>
                                      <p:to>
                                        <p:strVal val="visible"/>
                                      </p:to>
                                    </p:set>
                                    <p:anim calcmode="lin" valueType="num">
                                      <p:cBhvr additive="base">
                                        <p:cTn id="44" dur="500" fill="hold"/>
                                        <p:tgtEl>
                                          <p:spTgt spid="6"/>
                                        </p:tgtEl>
                                        <p:attrNameLst>
                                          <p:attrName>ppt_x</p:attrName>
                                        </p:attrNameLst>
                                      </p:cBhvr>
                                      <p:tavLst>
                                        <p:tav tm="0">
                                          <p:val>
                                            <p:strVal val="#ppt_x"/>
                                          </p:val>
                                        </p:tav>
                                        <p:tav tm="100000">
                                          <p:val>
                                            <p:strVal val="#ppt_x"/>
                                          </p:val>
                                        </p:tav>
                                      </p:tavLst>
                                    </p:anim>
                                    <p:anim calcmode="lin" valueType="num">
                                      <p:cBhvr additive="base">
                                        <p:cTn id="4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zh-CN" altLang="en-US" dirty="0" smtClean="0"/>
              <a:t>思考题</a:t>
            </a:r>
            <a:r>
              <a:rPr lang="en-US" altLang="zh-CN" dirty="0" smtClean="0"/>
              <a:t>13a</a:t>
            </a:r>
            <a:endParaRPr lang="en-US" dirty="0"/>
          </a:p>
        </p:txBody>
      </p:sp>
      <p:sp>
        <p:nvSpPr>
          <p:cNvPr id="3" name="Content Placeholder 2"/>
          <p:cNvSpPr>
            <a:spLocks noGrp="1"/>
          </p:cNvSpPr>
          <p:nvPr>
            <p:ph idx="1"/>
          </p:nvPr>
        </p:nvSpPr>
        <p:spPr>
          <a:xfrm>
            <a:off x="457200" y="1219200"/>
            <a:ext cx="8229600" cy="5486400"/>
          </a:xfrm>
        </p:spPr>
        <p:txBody>
          <a:bodyPr/>
          <a:lstStyle/>
          <a:p>
            <a:pPr marL="514350" indent="-514350">
              <a:buAutoNum type="arabicPeriod"/>
            </a:pPr>
            <a:r>
              <a:rPr lang="en-US" dirty="0" smtClean="0"/>
              <a:t> 	VA</a:t>
            </a:r>
            <a:r>
              <a:rPr lang="zh-CN" altLang="en-US" dirty="0" smtClean="0"/>
              <a:t>族</a:t>
            </a:r>
            <a:r>
              <a:rPr lang="en-US" dirty="0" smtClean="0"/>
              <a:t> </a:t>
            </a:r>
            <a:r>
              <a:rPr lang="zh-CN" altLang="en-US" dirty="0" smtClean="0"/>
              <a:t>；</a:t>
            </a:r>
            <a:endParaRPr lang="en-US" altLang="zh-CN" dirty="0" smtClean="0"/>
          </a:p>
          <a:p>
            <a:pPr marL="514350" indent="-514350">
              <a:buNone/>
            </a:pPr>
            <a:r>
              <a:rPr lang="en-US" altLang="zh-CN" dirty="0" smtClean="0"/>
              <a:t>		6</a:t>
            </a:r>
            <a:r>
              <a:rPr lang="zh-CN" altLang="en-US" dirty="0" smtClean="0"/>
              <a:t>种元素；</a:t>
            </a:r>
            <a:endParaRPr lang="en-US" altLang="zh-CN" dirty="0" smtClean="0"/>
          </a:p>
          <a:p>
            <a:pPr marL="514350" indent="-514350">
              <a:buNone/>
            </a:pPr>
            <a:r>
              <a:rPr lang="en-US" altLang="zh-CN" dirty="0" smtClean="0"/>
              <a:t>		5</a:t>
            </a:r>
            <a:r>
              <a:rPr lang="zh-CN" altLang="en-US" dirty="0" smtClean="0"/>
              <a:t>个价电子；</a:t>
            </a:r>
            <a:endParaRPr lang="en-US" altLang="zh-CN" dirty="0" smtClean="0"/>
          </a:p>
          <a:p>
            <a:pPr marL="514350" indent="-514350">
              <a:buNone/>
            </a:pPr>
            <a:r>
              <a:rPr lang="en-US" altLang="zh-CN" dirty="0" smtClean="0"/>
              <a:t>		</a:t>
            </a:r>
            <a:r>
              <a:rPr lang="zh-CN" altLang="en-US" dirty="0" smtClean="0"/>
              <a:t>原子半径逐渐增大；</a:t>
            </a:r>
            <a:endParaRPr lang="en-US" altLang="zh-CN" dirty="0" smtClean="0"/>
          </a:p>
          <a:p>
            <a:pPr marL="514350" indent="-514350">
              <a:buNone/>
            </a:pPr>
            <a:r>
              <a:rPr lang="en-US" altLang="zh-CN" dirty="0" smtClean="0"/>
              <a:t>		</a:t>
            </a:r>
            <a:r>
              <a:rPr lang="zh-CN" altLang="en-US" dirty="0" smtClean="0"/>
              <a:t>得电子能力减弱；</a:t>
            </a:r>
            <a:endParaRPr lang="en-US" altLang="zh-CN" dirty="0" smtClean="0"/>
          </a:p>
          <a:p>
            <a:pPr marL="514350" indent="-514350">
              <a:buNone/>
            </a:pPr>
            <a:r>
              <a:rPr lang="en-US" altLang="zh-CN" dirty="0" smtClean="0"/>
              <a:t>		</a:t>
            </a:r>
            <a:r>
              <a:rPr lang="zh-CN" altLang="en-US" dirty="0" smtClean="0"/>
              <a:t>非金属性减弱。</a:t>
            </a:r>
            <a:endParaRPr lang="en-US" altLang="zh-CN" dirty="0" smtClean="0"/>
          </a:p>
          <a:p>
            <a:pPr marL="514350" indent="-514350">
              <a:buNone/>
            </a:pPr>
            <a:r>
              <a:rPr lang="en-US" altLang="zh-CN" dirty="0" smtClean="0"/>
              <a:t>2. 	B </a:t>
            </a:r>
            <a:r>
              <a:rPr lang="zh-CN" altLang="en-US" dirty="0" smtClean="0"/>
              <a:t>氮气在高温高压放电的情况下才能与氧气化合生成</a:t>
            </a:r>
            <a:r>
              <a:rPr lang="en-US" altLang="zh-CN" dirty="0" smtClean="0"/>
              <a:t>NO</a:t>
            </a:r>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en-US" altLang="zh-CN" dirty="0" smtClean="0"/>
              <a:t>13.2 </a:t>
            </a:r>
            <a:r>
              <a:rPr lang="zh-CN" altLang="en-US" dirty="0" smtClean="0"/>
              <a:t>氮的氧化物</a:t>
            </a:r>
            <a:endParaRPr lang="en-US" dirty="0"/>
          </a:p>
        </p:txBody>
      </p:sp>
      <p:sp>
        <p:nvSpPr>
          <p:cNvPr id="3" name="Content Placeholder 2"/>
          <p:cNvSpPr>
            <a:spLocks noGrp="1"/>
          </p:cNvSpPr>
          <p:nvPr>
            <p:ph idx="1"/>
          </p:nvPr>
        </p:nvSpPr>
        <p:spPr>
          <a:xfrm>
            <a:off x="457200" y="1219200"/>
            <a:ext cx="8229600" cy="5486400"/>
          </a:xfrm>
        </p:spPr>
        <p:txBody>
          <a:bodyPr>
            <a:normAutofit/>
          </a:bodyPr>
          <a:lstStyle/>
          <a:p>
            <a:pPr>
              <a:buNone/>
            </a:pPr>
            <a:r>
              <a:rPr lang="zh-CN" altLang="en-US" dirty="0" smtClean="0"/>
              <a:t>感知生活</a:t>
            </a:r>
            <a:endParaRPr lang="en-US" altLang="zh-CN" dirty="0" smtClean="0"/>
          </a:p>
          <a:p>
            <a:pPr>
              <a:buFont typeface="Wingdings" pitchFamily="2" charset="2"/>
              <a:buChar char="Ø"/>
            </a:pPr>
            <a:r>
              <a:rPr lang="en-US" altLang="zh-CN" dirty="0" smtClean="0"/>
              <a:t>NO</a:t>
            </a:r>
            <a:r>
              <a:rPr lang="zh-CN" altLang="en-US" dirty="0" smtClean="0"/>
              <a:t>能使血管扩张。</a:t>
            </a:r>
            <a:r>
              <a:rPr lang="en-US" altLang="zh-CN" dirty="0" smtClean="0"/>
              <a:t>pg303</a:t>
            </a:r>
          </a:p>
          <a:p>
            <a:pPr>
              <a:buNone/>
            </a:pPr>
            <a:endParaRPr lang="en-US" altLang="zh-CN" dirty="0" smtClean="0"/>
          </a:p>
          <a:p>
            <a:pPr>
              <a:buNone/>
            </a:pPr>
            <a:r>
              <a:rPr lang="zh-CN" altLang="en-US" dirty="0" smtClean="0"/>
              <a:t>氮氧化合物有：</a:t>
            </a:r>
            <a:endParaRPr lang="en-US" altLang="zh-CN" dirty="0" smtClean="0"/>
          </a:p>
          <a:p>
            <a:pPr>
              <a:buFont typeface="Wingdings" pitchFamily="2" charset="2"/>
              <a:buChar char="Ø"/>
            </a:pPr>
            <a:r>
              <a:rPr lang="en-US" altLang="zh-CN" dirty="0" smtClean="0"/>
              <a:t>N</a:t>
            </a:r>
            <a:r>
              <a:rPr lang="en-US" altLang="zh-CN" baseline="-25000" dirty="0" smtClean="0"/>
              <a:t>2</a:t>
            </a:r>
            <a:r>
              <a:rPr lang="en-US" altLang="zh-CN" dirty="0" smtClean="0"/>
              <a:t>O</a:t>
            </a:r>
            <a:r>
              <a:rPr lang="zh-CN" altLang="en-US" dirty="0" smtClean="0"/>
              <a:t>、</a:t>
            </a:r>
            <a:r>
              <a:rPr lang="en-US" altLang="zh-CN" dirty="0" smtClean="0"/>
              <a:t>NO</a:t>
            </a:r>
            <a:r>
              <a:rPr lang="zh-CN" altLang="en-US" dirty="0" smtClean="0"/>
              <a:t>、</a:t>
            </a:r>
            <a:r>
              <a:rPr lang="en-US" altLang="zh-CN" dirty="0" smtClean="0"/>
              <a:t>N</a:t>
            </a:r>
            <a:r>
              <a:rPr lang="en-US" altLang="zh-CN" baseline="-25000" dirty="0" smtClean="0"/>
              <a:t>2</a:t>
            </a:r>
            <a:r>
              <a:rPr lang="en-US" altLang="zh-CN" dirty="0" smtClean="0"/>
              <a:t>O</a:t>
            </a:r>
            <a:r>
              <a:rPr lang="en-US" altLang="zh-CN" baseline="-25000" dirty="0" smtClean="0"/>
              <a:t>3</a:t>
            </a:r>
            <a:r>
              <a:rPr lang="zh-CN" altLang="en-US" baseline="-25000" dirty="0" smtClean="0"/>
              <a:t>、</a:t>
            </a:r>
            <a:r>
              <a:rPr lang="en-US" altLang="zh-CN" dirty="0" smtClean="0"/>
              <a:t>NO</a:t>
            </a:r>
            <a:r>
              <a:rPr lang="en-US" altLang="zh-CN" baseline="-25000" dirty="0" smtClean="0"/>
              <a:t>2</a:t>
            </a:r>
            <a:r>
              <a:rPr lang="zh-CN" altLang="en-US" baseline="-25000" dirty="0" smtClean="0"/>
              <a:t>、</a:t>
            </a:r>
            <a:r>
              <a:rPr lang="en-US" altLang="zh-CN" dirty="0" smtClean="0"/>
              <a:t>N</a:t>
            </a:r>
            <a:r>
              <a:rPr lang="en-US" altLang="zh-CN" baseline="-25000" dirty="0" smtClean="0"/>
              <a:t>2</a:t>
            </a:r>
            <a:r>
              <a:rPr lang="en-US" altLang="zh-CN" dirty="0" smtClean="0"/>
              <a:t>O</a:t>
            </a:r>
            <a:r>
              <a:rPr lang="en-US" altLang="zh-CN" baseline="-25000" dirty="0" smtClean="0"/>
              <a:t>4</a:t>
            </a:r>
            <a:r>
              <a:rPr lang="zh-CN" altLang="en-US" baseline="-25000" dirty="0" smtClean="0"/>
              <a:t>、</a:t>
            </a:r>
            <a:r>
              <a:rPr lang="en-US" altLang="zh-CN" dirty="0" smtClean="0"/>
              <a:t>N</a:t>
            </a:r>
            <a:r>
              <a:rPr lang="en-US" altLang="zh-CN" baseline="-25000" dirty="0" smtClean="0"/>
              <a:t>2</a:t>
            </a:r>
            <a:r>
              <a:rPr lang="en-US" altLang="zh-CN" dirty="0" smtClean="0"/>
              <a:t>O</a:t>
            </a:r>
            <a:r>
              <a:rPr lang="en-US" altLang="zh-CN" baseline="-25000" dirty="0" smtClean="0"/>
              <a:t>5</a:t>
            </a:r>
            <a:endParaRPr lang="en-US" dirty="0"/>
          </a:p>
        </p:txBody>
      </p:sp>
      <p:sp>
        <p:nvSpPr>
          <p:cNvPr id="5" name="TextBox 4"/>
          <p:cNvSpPr txBox="1"/>
          <p:nvPr/>
        </p:nvSpPr>
        <p:spPr>
          <a:xfrm>
            <a:off x="914400" y="4063425"/>
            <a:ext cx="598241" cy="584775"/>
          </a:xfrm>
          <a:prstGeom prst="rect">
            <a:avLst/>
          </a:prstGeom>
          <a:noFill/>
        </p:spPr>
        <p:txBody>
          <a:bodyPr wrap="none" rtlCol="0">
            <a:spAutoFit/>
          </a:bodyPr>
          <a:lstStyle/>
          <a:p>
            <a:r>
              <a:rPr lang="en-US" altLang="zh-CN" sz="3200" dirty="0" smtClean="0">
                <a:solidFill>
                  <a:srgbClr val="002060"/>
                </a:solidFill>
              </a:rPr>
              <a:t>+1</a:t>
            </a:r>
            <a:endParaRPr lang="en-US" sz="3200" dirty="0">
              <a:solidFill>
                <a:srgbClr val="002060"/>
              </a:solidFill>
            </a:endParaRPr>
          </a:p>
        </p:txBody>
      </p:sp>
      <p:sp>
        <p:nvSpPr>
          <p:cNvPr id="6" name="TextBox 5"/>
          <p:cNvSpPr txBox="1"/>
          <p:nvPr/>
        </p:nvSpPr>
        <p:spPr>
          <a:xfrm>
            <a:off x="1905000" y="4063425"/>
            <a:ext cx="598241" cy="584775"/>
          </a:xfrm>
          <a:prstGeom prst="rect">
            <a:avLst/>
          </a:prstGeom>
          <a:noFill/>
        </p:spPr>
        <p:txBody>
          <a:bodyPr wrap="none" rtlCol="0">
            <a:spAutoFit/>
          </a:bodyPr>
          <a:lstStyle/>
          <a:p>
            <a:r>
              <a:rPr lang="en-US" altLang="zh-CN" sz="3200" dirty="0" smtClean="0">
                <a:solidFill>
                  <a:srgbClr val="002060"/>
                </a:solidFill>
              </a:rPr>
              <a:t>+2</a:t>
            </a:r>
            <a:endParaRPr lang="en-US" sz="3200" dirty="0">
              <a:solidFill>
                <a:srgbClr val="002060"/>
              </a:solidFill>
            </a:endParaRPr>
          </a:p>
        </p:txBody>
      </p:sp>
      <p:sp>
        <p:nvSpPr>
          <p:cNvPr id="7" name="TextBox 6"/>
          <p:cNvSpPr txBox="1"/>
          <p:nvPr/>
        </p:nvSpPr>
        <p:spPr>
          <a:xfrm>
            <a:off x="2983159" y="4038600"/>
            <a:ext cx="598241" cy="584775"/>
          </a:xfrm>
          <a:prstGeom prst="rect">
            <a:avLst/>
          </a:prstGeom>
          <a:noFill/>
        </p:spPr>
        <p:txBody>
          <a:bodyPr wrap="none" rtlCol="0">
            <a:spAutoFit/>
          </a:bodyPr>
          <a:lstStyle/>
          <a:p>
            <a:r>
              <a:rPr lang="en-US" altLang="zh-CN" sz="3200" dirty="0" smtClean="0">
                <a:solidFill>
                  <a:srgbClr val="002060"/>
                </a:solidFill>
              </a:rPr>
              <a:t>+3</a:t>
            </a:r>
            <a:endParaRPr lang="en-US" sz="3200" dirty="0">
              <a:solidFill>
                <a:srgbClr val="002060"/>
              </a:solidFill>
            </a:endParaRPr>
          </a:p>
        </p:txBody>
      </p:sp>
      <p:sp>
        <p:nvSpPr>
          <p:cNvPr id="8" name="TextBox 7"/>
          <p:cNvSpPr txBox="1"/>
          <p:nvPr/>
        </p:nvSpPr>
        <p:spPr>
          <a:xfrm>
            <a:off x="3897559" y="4063425"/>
            <a:ext cx="598241" cy="584775"/>
          </a:xfrm>
          <a:prstGeom prst="rect">
            <a:avLst/>
          </a:prstGeom>
          <a:noFill/>
        </p:spPr>
        <p:txBody>
          <a:bodyPr wrap="none" rtlCol="0">
            <a:spAutoFit/>
          </a:bodyPr>
          <a:lstStyle/>
          <a:p>
            <a:r>
              <a:rPr lang="en-US" altLang="zh-CN" sz="3200" dirty="0" smtClean="0">
                <a:solidFill>
                  <a:srgbClr val="002060"/>
                </a:solidFill>
              </a:rPr>
              <a:t>+4</a:t>
            </a:r>
            <a:endParaRPr lang="en-US" sz="3200" dirty="0">
              <a:solidFill>
                <a:srgbClr val="002060"/>
              </a:solidFill>
            </a:endParaRPr>
          </a:p>
        </p:txBody>
      </p:sp>
      <p:sp>
        <p:nvSpPr>
          <p:cNvPr id="9" name="TextBox 8"/>
          <p:cNvSpPr txBox="1"/>
          <p:nvPr/>
        </p:nvSpPr>
        <p:spPr>
          <a:xfrm>
            <a:off x="5040559" y="4063425"/>
            <a:ext cx="598241" cy="584775"/>
          </a:xfrm>
          <a:prstGeom prst="rect">
            <a:avLst/>
          </a:prstGeom>
          <a:noFill/>
        </p:spPr>
        <p:txBody>
          <a:bodyPr wrap="none" rtlCol="0">
            <a:spAutoFit/>
          </a:bodyPr>
          <a:lstStyle/>
          <a:p>
            <a:r>
              <a:rPr lang="en-US" altLang="zh-CN" sz="3200" dirty="0" smtClean="0">
                <a:solidFill>
                  <a:srgbClr val="002060"/>
                </a:solidFill>
              </a:rPr>
              <a:t>+4</a:t>
            </a:r>
            <a:endParaRPr lang="en-US" sz="3200" dirty="0">
              <a:solidFill>
                <a:srgbClr val="002060"/>
              </a:solidFill>
            </a:endParaRPr>
          </a:p>
        </p:txBody>
      </p:sp>
      <p:sp>
        <p:nvSpPr>
          <p:cNvPr id="10" name="TextBox 9"/>
          <p:cNvSpPr txBox="1"/>
          <p:nvPr/>
        </p:nvSpPr>
        <p:spPr>
          <a:xfrm>
            <a:off x="6107359" y="4038600"/>
            <a:ext cx="598241" cy="584775"/>
          </a:xfrm>
          <a:prstGeom prst="rect">
            <a:avLst/>
          </a:prstGeom>
          <a:noFill/>
        </p:spPr>
        <p:txBody>
          <a:bodyPr wrap="none" rtlCol="0">
            <a:spAutoFit/>
          </a:bodyPr>
          <a:lstStyle/>
          <a:p>
            <a:r>
              <a:rPr lang="en-US" altLang="zh-CN" sz="3200" dirty="0" smtClean="0">
                <a:solidFill>
                  <a:srgbClr val="002060"/>
                </a:solidFill>
              </a:rPr>
              <a:t>+5</a:t>
            </a:r>
            <a:endParaRPr lang="en-US" sz="3200" dirty="0">
              <a:solidFill>
                <a:srgbClr val="00206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blinds(horizontal)">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blinds(horizontal)">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blinds(horizontal)">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blinds(horizontal)">
                                      <p:cBhvr>
                                        <p:cTn id="42" dur="500"/>
                                        <p:tgtEl>
                                          <p:spTgt spid="8"/>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blinds(horizontal)">
                                      <p:cBhvr>
                                        <p:cTn id="47" dur="500"/>
                                        <p:tgtEl>
                                          <p:spTgt spid="9"/>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blinds(horizontal)">
                                      <p:cBhvr>
                                        <p:cTn id="5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P spid="6" grpId="0"/>
      <p:bldP spid="7" grpId="0"/>
      <p:bldP spid="8" grpId="0"/>
      <p:bldP spid="9" grpId="0"/>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zh-CN" altLang="en-US" dirty="0" smtClean="0"/>
              <a:t>一氧化氮</a:t>
            </a:r>
            <a:endParaRPr lang="en-US" dirty="0"/>
          </a:p>
        </p:txBody>
      </p:sp>
      <p:sp>
        <p:nvSpPr>
          <p:cNvPr id="3" name="Content Placeholder 2"/>
          <p:cNvSpPr>
            <a:spLocks noGrp="1"/>
          </p:cNvSpPr>
          <p:nvPr>
            <p:ph idx="1"/>
          </p:nvPr>
        </p:nvSpPr>
        <p:spPr>
          <a:xfrm>
            <a:off x="457200" y="990600"/>
            <a:ext cx="8458200" cy="5486400"/>
          </a:xfrm>
        </p:spPr>
        <p:txBody>
          <a:bodyPr/>
          <a:lstStyle/>
          <a:p>
            <a:pPr>
              <a:buFont typeface="Wingdings" pitchFamily="2" charset="2"/>
              <a:buChar char="Ø"/>
            </a:pPr>
            <a:r>
              <a:rPr lang="zh-CN" altLang="en-US" dirty="0" smtClean="0">
                <a:sym typeface="Wingdings" pitchFamily="2" charset="2"/>
              </a:rPr>
              <a:t>实验室制取：</a:t>
            </a:r>
            <a:endParaRPr lang="en-US" altLang="zh-CN" dirty="0" smtClean="0">
              <a:sym typeface="Wingdings" pitchFamily="2" charset="2"/>
            </a:endParaRPr>
          </a:p>
          <a:p>
            <a:pPr>
              <a:buNone/>
            </a:pPr>
            <a:r>
              <a:rPr lang="en-US" dirty="0" smtClean="0">
                <a:sym typeface="Wingdings" pitchFamily="2" charset="2"/>
              </a:rPr>
              <a:t>3</a:t>
            </a:r>
            <a:r>
              <a:rPr lang="en-US" altLang="zh-CN" dirty="0" smtClean="0">
                <a:sym typeface="Wingdings" pitchFamily="2" charset="2"/>
              </a:rPr>
              <a:t>Cu + 8HNO</a:t>
            </a:r>
            <a:r>
              <a:rPr lang="en-US" altLang="zh-CN" baseline="-25000" dirty="0" smtClean="0">
                <a:sym typeface="Wingdings" pitchFamily="2" charset="2"/>
              </a:rPr>
              <a:t>3</a:t>
            </a:r>
            <a:r>
              <a:rPr lang="en-US" altLang="zh-CN" dirty="0" smtClean="0">
                <a:sym typeface="Wingdings" pitchFamily="2" charset="2"/>
              </a:rPr>
              <a:t>(</a:t>
            </a:r>
            <a:r>
              <a:rPr lang="zh-CN" altLang="en-US" dirty="0" smtClean="0">
                <a:sym typeface="Wingdings" pitchFamily="2" charset="2"/>
              </a:rPr>
              <a:t>稀</a:t>
            </a:r>
            <a:r>
              <a:rPr lang="en-US" altLang="zh-CN" dirty="0" smtClean="0">
                <a:sym typeface="Wingdings" pitchFamily="2" charset="2"/>
              </a:rPr>
              <a:t>) 	    3Cu(NO</a:t>
            </a:r>
            <a:r>
              <a:rPr lang="en-US" altLang="zh-CN" baseline="-25000" dirty="0" smtClean="0">
                <a:sym typeface="Wingdings" pitchFamily="2" charset="2"/>
              </a:rPr>
              <a:t>3</a:t>
            </a:r>
            <a:r>
              <a:rPr lang="en-US" altLang="zh-CN" dirty="0" smtClean="0">
                <a:sym typeface="Wingdings" pitchFamily="2" charset="2"/>
              </a:rPr>
              <a:t>)</a:t>
            </a:r>
            <a:r>
              <a:rPr lang="en-US" altLang="zh-CN" baseline="-25000" dirty="0" smtClean="0">
                <a:sym typeface="Wingdings" pitchFamily="2" charset="2"/>
              </a:rPr>
              <a:t>2</a:t>
            </a:r>
            <a:r>
              <a:rPr lang="en-US" altLang="zh-CN" dirty="0" smtClean="0">
                <a:sym typeface="Wingdings" pitchFamily="2" charset="2"/>
              </a:rPr>
              <a:t> + 4H</a:t>
            </a:r>
            <a:r>
              <a:rPr lang="en-US" altLang="zh-CN" baseline="-25000" dirty="0" smtClean="0">
                <a:sym typeface="Wingdings" pitchFamily="2" charset="2"/>
              </a:rPr>
              <a:t>2</a:t>
            </a:r>
            <a:r>
              <a:rPr lang="en-US" altLang="zh-CN" dirty="0" smtClean="0">
                <a:sym typeface="Wingdings" pitchFamily="2" charset="2"/>
              </a:rPr>
              <a:t>O + 2NO </a:t>
            </a:r>
            <a:endParaRPr lang="en-US" dirty="0" smtClean="0"/>
          </a:p>
          <a:p>
            <a:pPr>
              <a:buFont typeface="Wingdings" pitchFamily="2" charset="2"/>
              <a:buChar char="Ø"/>
            </a:pPr>
            <a:r>
              <a:rPr lang="zh-CN" altLang="en-US" dirty="0" smtClean="0"/>
              <a:t>无色、无味、有毒气体</a:t>
            </a:r>
            <a:endParaRPr lang="en-US" altLang="zh-CN" dirty="0" smtClean="0"/>
          </a:p>
          <a:p>
            <a:pPr>
              <a:buFont typeface="Wingdings" pitchFamily="2" charset="2"/>
              <a:buChar char="Ø"/>
            </a:pPr>
            <a:r>
              <a:rPr lang="zh-CN" altLang="en-US" dirty="0" smtClean="0"/>
              <a:t>密度比空气大</a:t>
            </a:r>
            <a:endParaRPr lang="en-US" altLang="zh-CN" dirty="0" smtClean="0"/>
          </a:p>
          <a:p>
            <a:pPr>
              <a:buFont typeface="Wingdings" pitchFamily="2" charset="2"/>
              <a:buChar char="Ø"/>
            </a:pPr>
            <a:r>
              <a:rPr lang="zh-CN" altLang="en-US" dirty="0" smtClean="0"/>
              <a:t>难溶于水</a:t>
            </a:r>
            <a:endParaRPr lang="en-US" altLang="zh-CN" dirty="0" smtClean="0"/>
          </a:p>
          <a:p>
            <a:pPr>
              <a:buFont typeface="Wingdings" pitchFamily="2" charset="2"/>
              <a:buChar char="Ø"/>
            </a:pPr>
            <a:r>
              <a:rPr lang="zh-CN" altLang="en-US" dirty="0" smtClean="0"/>
              <a:t>不稳定，常温下易与</a:t>
            </a:r>
            <a:r>
              <a:rPr lang="en-US" altLang="zh-CN" dirty="0" smtClean="0"/>
              <a:t>O</a:t>
            </a:r>
            <a:r>
              <a:rPr lang="en-US" altLang="zh-CN" baseline="-25000" dirty="0" smtClean="0"/>
              <a:t>2</a:t>
            </a:r>
            <a:r>
              <a:rPr lang="en-US" altLang="zh-CN" dirty="0" smtClean="0"/>
              <a:t> </a:t>
            </a:r>
            <a:r>
              <a:rPr lang="zh-CN" altLang="en-US" dirty="0" smtClean="0"/>
              <a:t>化合</a:t>
            </a:r>
            <a:endParaRPr lang="en-US" altLang="zh-CN" dirty="0" smtClean="0"/>
          </a:p>
          <a:p>
            <a:pPr>
              <a:buNone/>
            </a:pPr>
            <a:r>
              <a:rPr lang="en-US" dirty="0" smtClean="0"/>
              <a:t>	</a:t>
            </a:r>
            <a:r>
              <a:rPr lang="en-US" altLang="zh-CN" dirty="0" smtClean="0"/>
              <a:t>2NO + O</a:t>
            </a:r>
            <a:r>
              <a:rPr lang="en-US" altLang="zh-CN" baseline="-25000" dirty="0" smtClean="0"/>
              <a:t>2</a:t>
            </a:r>
            <a:r>
              <a:rPr lang="en-US" altLang="zh-CN" dirty="0" smtClean="0"/>
              <a:t> </a:t>
            </a:r>
            <a:r>
              <a:rPr lang="en-US" altLang="zh-CN" dirty="0" smtClean="0">
                <a:sym typeface="Wingdings" pitchFamily="2" charset="2"/>
              </a:rPr>
              <a:t> 2NO</a:t>
            </a:r>
            <a:r>
              <a:rPr lang="en-US" altLang="zh-CN" baseline="-25000" dirty="0" smtClean="0">
                <a:sym typeface="Wingdings" pitchFamily="2" charset="2"/>
              </a:rPr>
              <a:t>2</a:t>
            </a:r>
          </a:p>
          <a:p>
            <a:pPr>
              <a:buFont typeface="Wingdings" pitchFamily="2" charset="2"/>
              <a:buChar char="Ø"/>
            </a:pPr>
            <a:r>
              <a:rPr lang="zh-CN" altLang="en-US" b="1" dirty="0" smtClean="0">
                <a:solidFill>
                  <a:srgbClr val="002060"/>
                </a:solidFill>
                <a:effectLst>
                  <a:outerShdw blurRad="38100" dist="38100" dir="2700000" algn="tl">
                    <a:srgbClr val="000000">
                      <a:alpha val="43137"/>
                    </a:srgbClr>
                  </a:outerShdw>
                </a:effectLst>
              </a:rPr>
              <a:t>只能用排水集气法收集</a:t>
            </a:r>
            <a:endParaRPr lang="en-US" b="1" dirty="0" smtClean="0">
              <a:solidFill>
                <a:srgbClr val="002060"/>
              </a:solidFill>
              <a:effectLst>
                <a:outerShdw blurRad="38100" dist="38100" dir="2700000" algn="tl">
                  <a:srgbClr val="000000">
                    <a:alpha val="43137"/>
                  </a:srgbClr>
                </a:outerShdw>
              </a:effectLst>
            </a:endParaRPr>
          </a:p>
          <a:p>
            <a:pPr>
              <a:buNone/>
            </a:pPr>
            <a:r>
              <a:rPr lang="en-US" altLang="zh-CN" baseline="-25000" dirty="0" smtClean="0">
                <a:sym typeface="Wingdings" pitchFamily="2" charset="2"/>
              </a:rPr>
              <a:t> </a:t>
            </a:r>
          </a:p>
        </p:txBody>
      </p:sp>
      <p:pic>
        <p:nvPicPr>
          <p:cNvPr id="5" name="Picture 4"/>
          <p:cNvPicPr>
            <a:picLocks noChangeAspect="1"/>
          </p:cNvPicPr>
          <p:nvPr/>
        </p:nvPicPr>
        <p:blipFill>
          <a:blip r:embed="rId3">
            <a:extLst>
              <a:ext uri="{28A0092B-C50C-407E-A947-70E740481C1C}">
                <a14:useLocalDpi xmlns="" xmlns:a14="http://schemas.microsoft.com/office/drawing/2010/main" val="0"/>
              </a:ext>
            </a:extLst>
          </a:blip>
          <a:stretch>
            <a:fillRect/>
          </a:stretch>
        </p:blipFill>
        <p:spPr>
          <a:xfrm>
            <a:off x="5715000" y="5067434"/>
            <a:ext cx="2799857" cy="1790566"/>
          </a:xfrm>
          <a:prstGeom prst="rect">
            <a:avLst/>
          </a:prstGeom>
        </p:spPr>
      </p:pic>
      <p:pic>
        <p:nvPicPr>
          <p:cNvPr id="6" name="Picture 5"/>
          <p:cNvPicPr>
            <a:picLocks noChangeAspect="1"/>
          </p:cNvPicPr>
          <p:nvPr/>
        </p:nvPicPr>
        <p:blipFill>
          <a:blip r:embed="rId4">
            <a:extLst>
              <a:ext uri="{28A0092B-C50C-407E-A947-70E740481C1C}">
                <a14:useLocalDpi xmlns="" xmlns:a14="http://schemas.microsoft.com/office/drawing/2010/main" val="0"/>
              </a:ext>
            </a:extLst>
          </a:blip>
          <a:stretch>
            <a:fillRect/>
          </a:stretch>
        </p:blipFill>
        <p:spPr>
          <a:xfrm>
            <a:off x="7391400" y="2286000"/>
            <a:ext cx="1364456" cy="2514600"/>
          </a:xfrm>
          <a:prstGeom prst="rect">
            <a:avLst/>
          </a:prstGeom>
        </p:spPr>
      </p:pic>
      <p:grpSp>
        <p:nvGrpSpPr>
          <p:cNvPr id="10" name="Group 9"/>
          <p:cNvGrpSpPr/>
          <p:nvPr/>
        </p:nvGrpSpPr>
        <p:grpSpPr>
          <a:xfrm>
            <a:off x="3581400" y="1752600"/>
            <a:ext cx="838200" cy="152400"/>
            <a:chOff x="3581400" y="1752600"/>
            <a:chExt cx="838200" cy="152400"/>
          </a:xfrm>
        </p:grpSpPr>
        <p:cxnSp>
          <p:nvCxnSpPr>
            <p:cNvPr id="7" name="Straight Arrow Connector 6"/>
            <p:cNvCxnSpPr/>
            <p:nvPr/>
          </p:nvCxnSpPr>
          <p:spPr bwMode="auto">
            <a:xfrm>
              <a:off x="3581400" y="1903412"/>
              <a:ext cx="8382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8" name="Isosceles Triangle 7"/>
            <p:cNvSpPr/>
            <p:nvPr/>
          </p:nvSpPr>
          <p:spPr bwMode="auto">
            <a:xfrm>
              <a:off x="3886200" y="1752600"/>
              <a:ext cx="228600" cy="152400"/>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grpSp>
      <p:sp>
        <p:nvSpPr>
          <p:cNvPr id="11" name="Rounded Rectangle 10"/>
          <p:cNvSpPr/>
          <p:nvPr/>
        </p:nvSpPr>
        <p:spPr>
          <a:xfrm>
            <a:off x="4572000" y="1676400"/>
            <a:ext cx="43434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blinds(horizontal)">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xit" presetSubtype="10" fill="hold" grpId="0" nodeType="clickEffect">
                                  <p:stCondLst>
                                    <p:cond delay="0"/>
                                  </p:stCondLst>
                                  <p:childTnLst>
                                    <p:animEffect transition="out" filter="blinds(horizontal)">
                                      <p:cBhvr>
                                        <p:cTn id="19" dur="500"/>
                                        <p:tgtEl>
                                          <p:spTgt spid="11"/>
                                        </p:tgtEl>
                                      </p:cBhvr>
                                    </p:animEffect>
                                    <p:set>
                                      <p:cBhvr>
                                        <p:cTn id="20" dur="1" fill="hold">
                                          <p:stCondLst>
                                            <p:cond delay="499"/>
                                          </p:stCondLst>
                                        </p:cTn>
                                        <p:tgtEl>
                                          <p:spTgt spid="11"/>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blinds(horizontal)">
                                      <p:cBhvr>
                                        <p:cTn id="25" dur="500"/>
                                        <p:tgtEl>
                                          <p:spTgt spid="3">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Effect transition="in" filter="blinds(horizontal)">
                                      <p:cBhvr>
                                        <p:cTn id="30" dur="500"/>
                                        <p:tgtEl>
                                          <p:spTgt spid="3">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blinds(horizontal)">
                                      <p:cBhvr>
                                        <p:cTn id="35" dur="500"/>
                                        <p:tgtEl>
                                          <p:spTgt spid="3">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3">
                                            <p:txEl>
                                              <p:pRg st="5" end="5"/>
                                            </p:txEl>
                                          </p:spTgt>
                                        </p:tgtEl>
                                        <p:attrNameLst>
                                          <p:attrName>style.visibility</p:attrName>
                                        </p:attrNameLst>
                                      </p:cBhvr>
                                      <p:to>
                                        <p:strVal val="visible"/>
                                      </p:to>
                                    </p:set>
                                    <p:animEffect transition="in" filter="blinds(horizontal)">
                                      <p:cBhvr>
                                        <p:cTn id="40" dur="500"/>
                                        <p:tgtEl>
                                          <p:spTgt spid="3">
                                            <p:txEl>
                                              <p:pRg st="5" end="5"/>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3">
                                            <p:txEl>
                                              <p:pRg st="6" end="6"/>
                                            </p:txEl>
                                          </p:spTgt>
                                        </p:tgtEl>
                                        <p:attrNameLst>
                                          <p:attrName>style.visibility</p:attrName>
                                        </p:attrNameLst>
                                      </p:cBhvr>
                                      <p:to>
                                        <p:strVal val="visible"/>
                                      </p:to>
                                    </p:set>
                                    <p:animEffect transition="in" filter="blinds(horizontal)">
                                      <p:cBhvr>
                                        <p:cTn id="45" dur="500"/>
                                        <p:tgtEl>
                                          <p:spTgt spid="3">
                                            <p:txEl>
                                              <p:pRg st="6" end="6"/>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3">
                                            <p:txEl>
                                              <p:pRg st="7" end="7"/>
                                            </p:txEl>
                                          </p:spTgt>
                                        </p:tgtEl>
                                        <p:attrNameLst>
                                          <p:attrName>style.visibility</p:attrName>
                                        </p:attrNameLst>
                                      </p:cBhvr>
                                      <p:to>
                                        <p:strVal val="visible"/>
                                      </p:to>
                                    </p:set>
                                    <p:animEffect transition="in" filter="blinds(horizontal)">
                                      <p:cBhvr>
                                        <p:cTn id="50" dur="500"/>
                                        <p:tgtEl>
                                          <p:spTgt spid="3">
                                            <p:txEl>
                                              <p:pRg st="7" end="7"/>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Effect transition="in" filter="blinds(horizontal)">
                                      <p:cBhvr>
                                        <p:cTn id="55"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zh-CN" altLang="en-US" dirty="0" smtClean="0"/>
              <a:t>二氧化氮</a:t>
            </a:r>
            <a:endParaRPr lang="en-US" dirty="0"/>
          </a:p>
        </p:txBody>
      </p:sp>
      <p:sp>
        <p:nvSpPr>
          <p:cNvPr id="3" name="Content Placeholder 2"/>
          <p:cNvSpPr>
            <a:spLocks noGrp="1"/>
          </p:cNvSpPr>
          <p:nvPr>
            <p:ph idx="1"/>
          </p:nvPr>
        </p:nvSpPr>
        <p:spPr>
          <a:xfrm>
            <a:off x="457200" y="1066800"/>
            <a:ext cx="8229600" cy="5867400"/>
          </a:xfrm>
        </p:spPr>
        <p:txBody>
          <a:bodyPr>
            <a:normAutofit/>
          </a:bodyPr>
          <a:lstStyle/>
          <a:p>
            <a:pPr>
              <a:buFont typeface="Wingdings" pitchFamily="2" charset="2"/>
              <a:buChar char="Ø"/>
            </a:pPr>
            <a:r>
              <a:rPr lang="zh-CN" altLang="en-US" dirty="0" smtClean="0">
                <a:sym typeface="Wingdings" pitchFamily="2" charset="2"/>
              </a:rPr>
              <a:t>实验室制取：</a:t>
            </a:r>
            <a:endParaRPr lang="en-US" altLang="zh-CN" dirty="0" smtClean="0">
              <a:sym typeface="Wingdings" pitchFamily="2" charset="2"/>
            </a:endParaRPr>
          </a:p>
          <a:p>
            <a:pPr>
              <a:lnSpc>
                <a:spcPct val="150000"/>
              </a:lnSpc>
              <a:buNone/>
            </a:pPr>
            <a:r>
              <a:rPr lang="en-US" dirty="0" smtClean="0">
                <a:sym typeface="Wingdings" pitchFamily="2" charset="2"/>
              </a:rPr>
              <a:t>	</a:t>
            </a:r>
            <a:r>
              <a:rPr lang="en-US" altLang="zh-CN" dirty="0" smtClean="0">
                <a:sym typeface="Wingdings" pitchFamily="2" charset="2"/>
              </a:rPr>
              <a:t>Cu + 4HNO</a:t>
            </a:r>
            <a:r>
              <a:rPr lang="en-US" altLang="zh-CN" baseline="-25000" dirty="0" smtClean="0">
                <a:sym typeface="Wingdings" pitchFamily="2" charset="2"/>
              </a:rPr>
              <a:t>3</a:t>
            </a:r>
            <a:r>
              <a:rPr lang="en-US" altLang="zh-CN" dirty="0" smtClean="0">
                <a:sym typeface="Wingdings" pitchFamily="2" charset="2"/>
              </a:rPr>
              <a:t>(</a:t>
            </a:r>
            <a:r>
              <a:rPr lang="zh-CN" altLang="en-US" dirty="0" smtClean="0">
                <a:sym typeface="Wingdings" pitchFamily="2" charset="2"/>
              </a:rPr>
              <a:t>浓</a:t>
            </a:r>
            <a:r>
              <a:rPr lang="en-US" altLang="zh-CN" dirty="0" smtClean="0">
                <a:sym typeface="Wingdings" pitchFamily="2" charset="2"/>
              </a:rPr>
              <a:t>)  Cu(NO</a:t>
            </a:r>
            <a:r>
              <a:rPr lang="en-US" altLang="zh-CN" baseline="-25000" dirty="0" smtClean="0">
                <a:sym typeface="Wingdings" pitchFamily="2" charset="2"/>
              </a:rPr>
              <a:t>3</a:t>
            </a:r>
            <a:r>
              <a:rPr lang="en-US" altLang="zh-CN" dirty="0" smtClean="0">
                <a:sym typeface="Wingdings" pitchFamily="2" charset="2"/>
              </a:rPr>
              <a:t>)</a:t>
            </a:r>
            <a:r>
              <a:rPr lang="en-US" altLang="zh-CN" baseline="-25000" dirty="0" smtClean="0">
                <a:sym typeface="Wingdings" pitchFamily="2" charset="2"/>
              </a:rPr>
              <a:t>2</a:t>
            </a:r>
            <a:r>
              <a:rPr lang="en-US" altLang="zh-CN" dirty="0" smtClean="0">
                <a:sym typeface="Wingdings" pitchFamily="2" charset="2"/>
              </a:rPr>
              <a:t> + 2H</a:t>
            </a:r>
            <a:r>
              <a:rPr lang="en-US" altLang="zh-CN" baseline="-25000" dirty="0" smtClean="0">
                <a:sym typeface="Wingdings" pitchFamily="2" charset="2"/>
              </a:rPr>
              <a:t>2</a:t>
            </a:r>
            <a:r>
              <a:rPr lang="en-US" altLang="zh-CN" dirty="0" smtClean="0">
                <a:sym typeface="Wingdings" pitchFamily="2" charset="2"/>
              </a:rPr>
              <a:t>O + 2NO</a:t>
            </a:r>
            <a:r>
              <a:rPr lang="en-US" altLang="zh-CN" baseline="-25000" dirty="0" smtClean="0">
                <a:sym typeface="Wingdings" pitchFamily="2" charset="2"/>
              </a:rPr>
              <a:t>2</a:t>
            </a:r>
            <a:r>
              <a:rPr lang="en-US" altLang="zh-CN" dirty="0" smtClean="0">
                <a:sym typeface="Wingdings" pitchFamily="2" charset="2"/>
              </a:rPr>
              <a:t> </a:t>
            </a:r>
            <a:endParaRPr lang="en-US" dirty="0" smtClean="0"/>
          </a:p>
          <a:p>
            <a:pPr>
              <a:lnSpc>
                <a:spcPct val="110000"/>
              </a:lnSpc>
              <a:buFont typeface="Wingdings" pitchFamily="2" charset="2"/>
              <a:buChar char="Ø"/>
            </a:pPr>
            <a:r>
              <a:rPr lang="zh-CN" altLang="en-US" dirty="0" smtClean="0"/>
              <a:t>红棕色、刺激性气味、有毒</a:t>
            </a:r>
            <a:endParaRPr lang="en-US" altLang="zh-CN" dirty="0" smtClean="0"/>
          </a:p>
          <a:p>
            <a:pPr>
              <a:lnSpc>
                <a:spcPct val="110000"/>
              </a:lnSpc>
              <a:buFont typeface="Wingdings" pitchFamily="2" charset="2"/>
              <a:buChar char="Ø"/>
            </a:pPr>
            <a:r>
              <a:rPr lang="zh-CN" altLang="en-US" dirty="0" smtClean="0"/>
              <a:t>密度比空气大</a:t>
            </a:r>
            <a:endParaRPr lang="en-US" altLang="zh-CN" dirty="0" smtClean="0"/>
          </a:p>
          <a:p>
            <a:pPr>
              <a:lnSpc>
                <a:spcPct val="110000"/>
              </a:lnSpc>
              <a:buFont typeface="Wingdings" pitchFamily="2" charset="2"/>
              <a:buChar char="Ø"/>
            </a:pPr>
            <a:r>
              <a:rPr lang="zh-CN" altLang="en-US" dirty="0" smtClean="0"/>
              <a:t>易溶于水</a:t>
            </a:r>
            <a:endParaRPr lang="en-US" altLang="zh-CN" dirty="0" smtClean="0">
              <a:sym typeface="Wingdings" pitchFamily="2" charset="2"/>
            </a:endParaRPr>
          </a:p>
          <a:p>
            <a:pPr>
              <a:lnSpc>
                <a:spcPct val="110000"/>
              </a:lnSpc>
              <a:buFont typeface="Wingdings" pitchFamily="2" charset="2"/>
              <a:buChar char="Ø"/>
            </a:pPr>
            <a:r>
              <a:rPr lang="zh-CN" altLang="en-US" dirty="0" smtClean="0">
                <a:sym typeface="Wingdings" pitchFamily="2" charset="2"/>
              </a:rPr>
              <a:t>冷却法收集</a:t>
            </a:r>
            <a:endParaRPr lang="en-US" altLang="zh-CN" dirty="0" smtClean="0">
              <a:sym typeface="Wingdings" pitchFamily="2" charset="2"/>
            </a:endParaRPr>
          </a:p>
          <a:p>
            <a:pPr>
              <a:lnSpc>
                <a:spcPct val="150000"/>
              </a:lnSpc>
              <a:buFont typeface="Wingdings" pitchFamily="2" charset="2"/>
              <a:buChar char="Ø"/>
            </a:pPr>
            <a:r>
              <a:rPr lang="en-US" altLang="zh-CN" dirty="0" smtClean="0">
                <a:sym typeface="Wingdings" pitchFamily="2" charset="2"/>
              </a:rPr>
              <a:t>NO</a:t>
            </a:r>
            <a:r>
              <a:rPr lang="en-US" altLang="zh-CN" baseline="-25000" dirty="0" smtClean="0">
                <a:sym typeface="Wingdings" pitchFamily="2" charset="2"/>
              </a:rPr>
              <a:t>2</a:t>
            </a:r>
            <a:r>
              <a:rPr lang="en-US" altLang="zh-CN" dirty="0" smtClean="0">
                <a:sym typeface="Wingdings" pitchFamily="2" charset="2"/>
              </a:rPr>
              <a:t> </a:t>
            </a:r>
            <a:r>
              <a:rPr lang="zh-CN" altLang="en-US" dirty="0" smtClean="0">
                <a:sym typeface="Wingdings" pitchFamily="2" charset="2"/>
              </a:rPr>
              <a:t>在低温时会聚合成无色的</a:t>
            </a:r>
            <a:r>
              <a:rPr lang="en-US" altLang="zh-CN" dirty="0" smtClean="0">
                <a:sym typeface="Wingdings" pitchFamily="2" charset="2"/>
              </a:rPr>
              <a:t>N</a:t>
            </a:r>
            <a:r>
              <a:rPr lang="en-US" altLang="zh-CN" baseline="-25000" dirty="0" smtClean="0">
                <a:sym typeface="Wingdings" pitchFamily="2" charset="2"/>
              </a:rPr>
              <a:t>2</a:t>
            </a:r>
            <a:r>
              <a:rPr lang="en-US" altLang="zh-CN" dirty="0" smtClean="0">
                <a:sym typeface="Wingdings" pitchFamily="2" charset="2"/>
              </a:rPr>
              <a:t>O</a:t>
            </a:r>
            <a:r>
              <a:rPr lang="en-US" altLang="zh-CN" baseline="-25000" dirty="0" smtClean="0">
                <a:sym typeface="Wingdings" pitchFamily="2" charset="2"/>
              </a:rPr>
              <a:t>4</a:t>
            </a:r>
          </a:p>
          <a:p>
            <a:pPr>
              <a:buNone/>
            </a:pPr>
            <a:r>
              <a:rPr lang="en-US" altLang="zh-CN" dirty="0" smtClean="0">
                <a:sym typeface="Wingdings" pitchFamily="2" charset="2"/>
              </a:rPr>
              <a:t>		2NO</a:t>
            </a:r>
            <a:r>
              <a:rPr lang="en-US" altLang="zh-CN" baseline="-25000" dirty="0" smtClean="0">
                <a:sym typeface="Wingdings" pitchFamily="2" charset="2"/>
              </a:rPr>
              <a:t>2  </a:t>
            </a:r>
            <a:r>
              <a:rPr lang="en-US" altLang="zh-CN" dirty="0" smtClean="0">
                <a:sym typeface="Wingdings" pitchFamily="2" charset="2"/>
              </a:rPr>
              <a:t>   	      N</a:t>
            </a:r>
            <a:r>
              <a:rPr lang="en-US" altLang="zh-CN" baseline="-25000" dirty="0" smtClean="0">
                <a:sym typeface="Wingdings" pitchFamily="2" charset="2"/>
              </a:rPr>
              <a:t>2</a:t>
            </a:r>
            <a:r>
              <a:rPr lang="en-US" altLang="zh-CN" dirty="0" smtClean="0">
                <a:sym typeface="Wingdings" pitchFamily="2" charset="2"/>
              </a:rPr>
              <a:t>O</a:t>
            </a:r>
            <a:r>
              <a:rPr lang="en-US" altLang="zh-CN" baseline="-25000" dirty="0" smtClean="0">
                <a:sym typeface="Wingdings" pitchFamily="2" charset="2"/>
              </a:rPr>
              <a:t>4</a:t>
            </a:r>
          </a:p>
          <a:p>
            <a:pPr>
              <a:lnSpc>
                <a:spcPct val="150000"/>
              </a:lnSpc>
              <a:buNone/>
            </a:pPr>
            <a:endParaRPr lang="en-US" altLang="zh-CN" baseline="-25000" dirty="0" smtClean="0">
              <a:sym typeface="Wingdings" pitchFamily="2" charset="2"/>
            </a:endParaRPr>
          </a:p>
        </p:txBody>
      </p:sp>
      <p:pic>
        <p:nvPicPr>
          <p:cNvPr id="5" name="Picture 4"/>
          <p:cNvPicPr>
            <a:picLocks noChangeAspect="1"/>
          </p:cNvPicPr>
          <p:nvPr/>
        </p:nvPicPr>
        <p:blipFill>
          <a:blip r:embed="rId3"/>
          <a:srcRect t="16279"/>
          <a:stretch>
            <a:fillRect/>
          </a:stretch>
        </p:blipFill>
        <p:spPr>
          <a:xfrm>
            <a:off x="5931649" y="2514600"/>
            <a:ext cx="3212351" cy="2743200"/>
          </a:xfrm>
          <a:prstGeom prst="rect">
            <a:avLst/>
          </a:prstGeom>
        </p:spPr>
      </p:pic>
      <p:grpSp>
        <p:nvGrpSpPr>
          <p:cNvPr id="7" name="Group 6"/>
          <p:cNvGrpSpPr/>
          <p:nvPr/>
        </p:nvGrpSpPr>
        <p:grpSpPr>
          <a:xfrm>
            <a:off x="2514600" y="5791200"/>
            <a:ext cx="1219200" cy="688777"/>
            <a:chOff x="2819400" y="5867400"/>
            <a:chExt cx="1219200" cy="688777"/>
          </a:xfrm>
        </p:grpSpPr>
        <p:grpSp>
          <p:nvGrpSpPr>
            <p:cNvPr id="8" name="Group 11"/>
            <p:cNvGrpSpPr/>
            <p:nvPr/>
          </p:nvGrpSpPr>
          <p:grpSpPr>
            <a:xfrm>
              <a:off x="2819400" y="6172117"/>
              <a:ext cx="1219200" cy="76199"/>
              <a:chOff x="2895600" y="6324600"/>
              <a:chExt cx="2133600" cy="76199"/>
            </a:xfrm>
          </p:grpSpPr>
          <p:cxnSp>
            <p:nvCxnSpPr>
              <p:cNvPr id="11" name="Straight Arrow Connector 10"/>
              <p:cNvCxnSpPr/>
              <p:nvPr/>
            </p:nvCxnSpPr>
            <p:spPr>
              <a:xfrm rot="10800000">
                <a:off x="2895600" y="6399210"/>
                <a:ext cx="2057400" cy="1589"/>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2895600" y="6324600"/>
                <a:ext cx="21336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grpSp>
        <p:sp>
          <p:nvSpPr>
            <p:cNvPr id="9" name="TextBox 8"/>
            <p:cNvSpPr txBox="1"/>
            <p:nvPr/>
          </p:nvSpPr>
          <p:spPr>
            <a:xfrm>
              <a:off x="3086725" y="6248400"/>
              <a:ext cx="723275" cy="307777"/>
            </a:xfrm>
            <a:prstGeom prst="rect">
              <a:avLst/>
            </a:prstGeom>
            <a:noFill/>
          </p:spPr>
          <p:txBody>
            <a:bodyPr wrap="square" rtlCol="0">
              <a:spAutoFit/>
            </a:bodyPr>
            <a:lstStyle/>
            <a:p>
              <a:r>
                <a:rPr lang="zh-CN" altLang="en-US" sz="1400" dirty="0" smtClean="0"/>
                <a:t>加热</a:t>
              </a:r>
              <a:endParaRPr lang="en-US" sz="1400" dirty="0"/>
            </a:p>
          </p:txBody>
        </p:sp>
        <p:sp>
          <p:nvSpPr>
            <p:cNvPr id="10" name="TextBox 9"/>
            <p:cNvSpPr txBox="1"/>
            <p:nvPr/>
          </p:nvSpPr>
          <p:spPr>
            <a:xfrm>
              <a:off x="3113861" y="5867400"/>
              <a:ext cx="543739" cy="307777"/>
            </a:xfrm>
            <a:prstGeom prst="rect">
              <a:avLst/>
            </a:prstGeom>
            <a:noFill/>
          </p:spPr>
          <p:txBody>
            <a:bodyPr wrap="none" rtlCol="0">
              <a:spAutoFit/>
            </a:bodyPr>
            <a:lstStyle/>
            <a:p>
              <a:r>
                <a:rPr lang="zh-CN" altLang="en-US" sz="1400" dirty="0" smtClean="0"/>
                <a:t>冷却</a:t>
              </a:r>
              <a:endParaRPr lang="en-US" sz="1400" dirty="0"/>
            </a:p>
          </p:txBody>
        </p:sp>
      </p:grpSp>
      <p:sp>
        <p:nvSpPr>
          <p:cNvPr id="13" name="Rounded Rectangle 12"/>
          <p:cNvSpPr/>
          <p:nvPr/>
        </p:nvSpPr>
        <p:spPr>
          <a:xfrm>
            <a:off x="3962400" y="1905000"/>
            <a:ext cx="41148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xit" presetSubtype="10" fill="hold" grpId="0" nodeType="clickEffect">
                                  <p:stCondLst>
                                    <p:cond delay="0"/>
                                  </p:stCondLst>
                                  <p:childTnLst>
                                    <p:animEffect transition="out" filter="blinds(horizontal)">
                                      <p:cBhvr>
                                        <p:cTn id="16" dur="500"/>
                                        <p:tgtEl>
                                          <p:spTgt spid="13"/>
                                        </p:tgtEl>
                                      </p:cBhvr>
                                    </p:animEffect>
                                    <p:set>
                                      <p:cBhvr>
                                        <p:cTn id="17" dur="1" fill="hold">
                                          <p:stCondLst>
                                            <p:cond delay="499"/>
                                          </p:stCondLst>
                                        </p:cTn>
                                        <p:tgtEl>
                                          <p:spTgt spid="13"/>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blinds(horizontal)">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blinds(horizontal)">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Effect transition="in" filter="blinds(horizontal)">
                                      <p:cBhvr>
                                        <p:cTn id="32" dur="500"/>
                                        <p:tgtEl>
                                          <p:spTgt spid="3">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blinds(horizontal)">
                                      <p:cBhvr>
                                        <p:cTn id="37" dur="5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blinds(horizontal)">
                                      <p:cBhvr>
                                        <p:cTn id="42" dur="500"/>
                                        <p:tgtEl>
                                          <p:spTgt spid="3">
                                            <p:txEl>
                                              <p:pRg st="5" end="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animEffect transition="in" filter="blinds(horizontal)">
                                      <p:cBhvr>
                                        <p:cTn id="47" dur="500"/>
                                        <p:tgtEl>
                                          <p:spTgt spid="3">
                                            <p:txEl>
                                              <p:pRg st="6" end="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7" end="7"/>
                                            </p:txEl>
                                          </p:spTgt>
                                        </p:tgtEl>
                                        <p:attrNameLst>
                                          <p:attrName>style.visibility</p:attrName>
                                        </p:attrNameLst>
                                      </p:cBhvr>
                                      <p:to>
                                        <p:strVal val="visible"/>
                                      </p:to>
                                    </p:set>
                                    <p:animEffect transition="in" filter="blinds(horizontal)">
                                      <p:cBhvr>
                                        <p:cTn id="52" dur="500"/>
                                        <p:tgtEl>
                                          <p:spTgt spid="3">
                                            <p:txEl>
                                              <p:pRg st="7" end="7"/>
                                            </p:txEl>
                                          </p:spTgt>
                                        </p:tgtEl>
                                      </p:cBhvr>
                                    </p:animEffect>
                                  </p:childTnLst>
                                </p:cTn>
                              </p:par>
                              <p:par>
                                <p:cTn id="53" presetID="3" presetClass="entr" presetSubtype="10" fill="hold" nodeType="withEffect">
                                  <p:stCondLst>
                                    <p:cond delay="0"/>
                                  </p:stCondLst>
                                  <p:childTnLst>
                                    <p:set>
                                      <p:cBhvr>
                                        <p:cTn id="54" dur="1" fill="hold">
                                          <p:stCondLst>
                                            <p:cond delay="0"/>
                                          </p:stCondLst>
                                        </p:cTn>
                                        <p:tgtEl>
                                          <p:spTgt spid="7"/>
                                        </p:tgtEl>
                                        <p:attrNameLst>
                                          <p:attrName>style.visibility</p:attrName>
                                        </p:attrNameLst>
                                      </p:cBhvr>
                                      <p:to>
                                        <p:strVal val="visible"/>
                                      </p:to>
                                    </p:set>
                                    <p:animEffect transition="in" filter="blinds(horizontal)">
                                      <p:cBhvr>
                                        <p:cTn id="5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en-US" altLang="zh-CN" dirty="0" smtClean="0"/>
              <a:t>13.4.1 </a:t>
            </a:r>
            <a:r>
              <a:rPr lang="zh-CN" altLang="en-US" dirty="0" smtClean="0"/>
              <a:t>硝酸盐的通性</a:t>
            </a:r>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xmlns="" val="1823391342"/>
              </p:ext>
            </p:extLst>
          </p:nvPr>
        </p:nvGraphicFramePr>
        <p:xfrm>
          <a:off x="123422" y="1047051"/>
          <a:ext cx="8944378" cy="5734749"/>
        </p:xfrm>
        <a:graphic>
          <a:graphicData uri="http://schemas.openxmlformats.org/drawingml/2006/table">
            <a:tbl>
              <a:tblPr firstRow="1" bandRow="1">
                <a:tableStyleId>{5C22544A-7EE6-4342-B048-85BDC9FD1C3A}</a:tableStyleId>
              </a:tblPr>
              <a:tblGrid>
                <a:gridCol w="2924578"/>
                <a:gridCol w="1828800"/>
                <a:gridCol w="4191000"/>
              </a:tblGrid>
              <a:tr h="881526">
                <a:tc>
                  <a:txBody>
                    <a:bodyPr/>
                    <a:lstStyle/>
                    <a:p>
                      <a:pPr algn="ctr"/>
                      <a:r>
                        <a:rPr lang="zh-CN" altLang="en-US" sz="2400" dirty="0" smtClean="0"/>
                        <a:t>硝酸盐</a:t>
                      </a:r>
                      <a:endParaRPr lang="en-US" sz="2400" dirty="0"/>
                    </a:p>
                  </a:txBody>
                  <a:tcPr marL="68580" marR="68580" anchor="ctr"/>
                </a:tc>
                <a:tc>
                  <a:txBody>
                    <a:bodyPr/>
                    <a:lstStyle/>
                    <a:p>
                      <a:pPr algn="ctr"/>
                      <a:r>
                        <a:rPr lang="zh-CN" altLang="en-US" sz="2400" dirty="0" smtClean="0"/>
                        <a:t>受热分解后生成物</a:t>
                      </a:r>
                      <a:endParaRPr lang="en-US" sz="2400" dirty="0"/>
                    </a:p>
                  </a:txBody>
                  <a:tcPr marL="68580" marR="68580" anchor="ctr"/>
                </a:tc>
                <a:tc>
                  <a:txBody>
                    <a:bodyPr/>
                    <a:lstStyle/>
                    <a:p>
                      <a:pPr algn="ctr"/>
                      <a:r>
                        <a:rPr lang="zh-CN" altLang="en-US" sz="2400" dirty="0" smtClean="0"/>
                        <a:t>例子</a:t>
                      </a:r>
                      <a:endParaRPr lang="en-US" sz="2400" dirty="0"/>
                    </a:p>
                  </a:txBody>
                  <a:tcPr marL="68580" marR="68580" anchor="ctr"/>
                </a:tc>
              </a:tr>
              <a:tr h="1046509">
                <a:tc>
                  <a:txBody>
                    <a:bodyPr/>
                    <a:lstStyle/>
                    <a:p>
                      <a:pPr algn="ctr"/>
                      <a:r>
                        <a:rPr lang="zh-CN" altLang="en-US" sz="2400" dirty="0" smtClean="0"/>
                        <a:t>活泼金属的硝酸盐：</a:t>
                      </a:r>
                      <a:endParaRPr lang="en-US" altLang="zh-CN" sz="2400" dirty="0" smtClean="0"/>
                    </a:p>
                    <a:p>
                      <a:pPr algn="ctr"/>
                      <a:r>
                        <a:rPr lang="en-US" altLang="zh-CN" sz="2400" dirty="0" smtClean="0">
                          <a:solidFill>
                            <a:srgbClr val="FF0000"/>
                          </a:solidFill>
                        </a:rPr>
                        <a:t>KNO₃, </a:t>
                      </a:r>
                      <a:r>
                        <a:rPr lang="en-US" altLang="zh-CN" sz="2400" dirty="0" err="1" smtClean="0">
                          <a:solidFill>
                            <a:srgbClr val="FF0000"/>
                          </a:solidFill>
                        </a:rPr>
                        <a:t>NaNO</a:t>
                      </a:r>
                      <a:r>
                        <a:rPr lang="en-US" altLang="zh-CN" sz="2400" dirty="0" smtClean="0">
                          <a:solidFill>
                            <a:srgbClr val="FF0000"/>
                          </a:solidFill>
                        </a:rPr>
                        <a:t>₃</a:t>
                      </a:r>
                      <a:endParaRPr lang="en-US" sz="2400" dirty="0">
                        <a:solidFill>
                          <a:srgbClr val="FF0000"/>
                        </a:solidFill>
                      </a:endParaRPr>
                    </a:p>
                  </a:txBody>
                  <a:tcPr marL="68580" marR="68580" anchor="ctr"/>
                </a:tc>
                <a:tc>
                  <a:txBody>
                    <a:bodyPr/>
                    <a:lstStyle/>
                    <a:p>
                      <a:pPr algn="ctr"/>
                      <a:r>
                        <a:rPr lang="zh-CN" altLang="en-US" sz="2400" dirty="0" smtClean="0"/>
                        <a:t>亚硝酸盐</a:t>
                      </a:r>
                      <a:endParaRPr lang="en-US" altLang="zh-CN" sz="2400" dirty="0" smtClean="0"/>
                    </a:p>
                    <a:p>
                      <a:pPr algn="ctr"/>
                      <a:r>
                        <a:rPr lang="en-US" altLang="zh-CN" sz="2400" dirty="0" smtClean="0"/>
                        <a:t>+</a:t>
                      </a:r>
                      <a:r>
                        <a:rPr lang="zh-CN" altLang="en-US" sz="2400" dirty="0" smtClean="0"/>
                        <a:t>氧气</a:t>
                      </a:r>
                      <a:endParaRPr lang="en-US" sz="2400" dirty="0"/>
                    </a:p>
                  </a:txBody>
                  <a:tcPr marL="68580" marR="68580" anchor="ctr"/>
                </a:tc>
                <a:tc>
                  <a:txBody>
                    <a:bodyPr/>
                    <a:lstStyle/>
                    <a:p>
                      <a:endParaRPr lang="en-US" sz="2400"/>
                    </a:p>
                  </a:txBody>
                  <a:tcPr marL="68580" marR="68580" anchor="ctr">
                    <a:blipFill rotWithShape="1">
                      <a:blip r:embed="rId3"/>
                      <a:stretch>
                        <a:fillRect l="-97526" t="-70000" r="-103" b="-314615"/>
                      </a:stretch>
                    </a:blipFill>
                  </a:tcPr>
                </a:tc>
              </a:tr>
              <a:tr h="2448684">
                <a:tc>
                  <a:txBody>
                    <a:bodyPr/>
                    <a:lstStyle/>
                    <a:p>
                      <a:pPr algn="ctr"/>
                      <a:r>
                        <a:rPr lang="zh-CN" altLang="en-US" sz="2400" dirty="0" smtClean="0"/>
                        <a:t>较不活泼金属的硝酸盐：</a:t>
                      </a:r>
                      <a:r>
                        <a:rPr lang="en-US" sz="2400" dirty="0" smtClean="0">
                          <a:solidFill>
                            <a:srgbClr val="FF0000"/>
                          </a:solidFill>
                        </a:rPr>
                        <a:t>Mg(NO</a:t>
                      </a:r>
                      <a:r>
                        <a:rPr lang="en-US" altLang="zh-CN" sz="2400" dirty="0" smtClean="0">
                          <a:solidFill>
                            <a:srgbClr val="FF0000"/>
                          </a:solidFill>
                        </a:rPr>
                        <a:t>₃</a:t>
                      </a:r>
                      <a:r>
                        <a:rPr lang="en-US" sz="2400" dirty="0" smtClean="0">
                          <a:solidFill>
                            <a:srgbClr val="FF0000"/>
                          </a:solidFill>
                        </a:rPr>
                        <a:t>)</a:t>
                      </a:r>
                      <a:r>
                        <a:rPr lang="en-US" altLang="zh-CN" sz="2400" dirty="0" smtClean="0">
                          <a:solidFill>
                            <a:srgbClr val="FF0000"/>
                          </a:solidFill>
                        </a:rPr>
                        <a:t>₂</a:t>
                      </a:r>
                      <a:r>
                        <a:rPr lang="en-US" sz="2400" dirty="0" smtClean="0">
                          <a:solidFill>
                            <a:srgbClr val="FF0000"/>
                          </a:solidFill>
                        </a:rPr>
                        <a:t>,</a:t>
                      </a:r>
                      <a:r>
                        <a:rPr lang="en-US" sz="2400" baseline="0" dirty="0" smtClean="0">
                          <a:solidFill>
                            <a:srgbClr val="FF0000"/>
                          </a:solidFill>
                        </a:rPr>
                        <a:t> </a:t>
                      </a:r>
                      <a:r>
                        <a:rPr lang="en-US" sz="2400" dirty="0" smtClean="0">
                          <a:solidFill>
                            <a:srgbClr val="FF0000"/>
                          </a:solidFill>
                        </a:rPr>
                        <a:t>Al(NO</a:t>
                      </a:r>
                      <a:r>
                        <a:rPr lang="en-US" altLang="zh-CN" sz="2400" dirty="0" smtClean="0">
                          <a:solidFill>
                            <a:srgbClr val="FF0000"/>
                          </a:solidFill>
                        </a:rPr>
                        <a:t>₃)</a:t>
                      </a:r>
                      <a:r>
                        <a:rPr lang="en-US" altLang="zh-CN" sz="2400" baseline="-25000" dirty="0" smtClean="0">
                          <a:solidFill>
                            <a:srgbClr val="FF0000"/>
                          </a:solidFill>
                        </a:rPr>
                        <a:t>3</a:t>
                      </a:r>
                      <a:r>
                        <a:rPr lang="en-US" altLang="zh-CN" sz="2400" dirty="0" smtClean="0">
                          <a:solidFill>
                            <a:srgbClr val="FF0000"/>
                          </a:solidFill>
                        </a:rPr>
                        <a:t>,Zn(NO₃)₂, </a:t>
                      </a:r>
                      <a:r>
                        <a:rPr lang="en-US" sz="2400" dirty="0" smtClean="0">
                          <a:solidFill>
                            <a:srgbClr val="FF0000"/>
                          </a:solidFill>
                        </a:rPr>
                        <a:t>Fe(NO</a:t>
                      </a:r>
                      <a:r>
                        <a:rPr lang="en-US" altLang="zh-CN" sz="2400" dirty="0" smtClean="0">
                          <a:solidFill>
                            <a:srgbClr val="FF0000"/>
                          </a:solidFill>
                        </a:rPr>
                        <a:t>₃)₂,</a:t>
                      </a:r>
                      <a:r>
                        <a:rPr lang="en-US" sz="2400" dirty="0" smtClean="0">
                          <a:solidFill>
                            <a:srgbClr val="FF0000"/>
                          </a:solidFill>
                        </a:rPr>
                        <a:t> Fe(NO</a:t>
                      </a:r>
                      <a:r>
                        <a:rPr lang="en-US" altLang="zh-CN" sz="2400" dirty="0" smtClean="0">
                          <a:solidFill>
                            <a:srgbClr val="FF0000"/>
                          </a:solidFill>
                        </a:rPr>
                        <a:t>₃)₃,</a:t>
                      </a:r>
                      <a:r>
                        <a:rPr lang="en-US" altLang="zh-CN" sz="2400" baseline="0" dirty="0" smtClean="0">
                          <a:solidFill>
                            <a:srgbClr val="FF0000"/>
                          </a:solidFill>
                        </a:rPr>
                        <a:t> </a:t>
                      </a:r>
                      <a:r>
                        <a:rPr lang="en-US" altLang="zh-CN" sz="2400" dirty="0" err="1" smtClean="0">
                          <a:solidFill>
                            <a:srgbClr val="FF0000"/>
                          </a:solidFill>
                        </a:rPr>
                        <a:t>Pb</a:t>
                      </a:r>
                      <a:r>
                        <a:rPr lang="en-US" sz="2400" dirty="0" smtClean="0">
                          <a:solidFill>
                            <a:srgbClr val="FF0000"/>
                          </a:solidFill>
                        </a:rPr>
                        <a:t>(NO</a:t>
                      </a:r>
                      <a:r>
                        <a:rPr lang="en-US" altLang="zh-CN" sz="2400" dirty="0" smtClean="0">
                          <a:solidFill>
                            <a:srgbClr val="FF0000"/>
                          </a:solidFill>
                        </a:rPr>
                        <a:t>₃)₂, Cu</a:t>
                      </a:r>
                      <a:r>
                        <a:rPr lang="en-US" sz="2400" dirty="0" smtClean="0">
                          <a:solidFill>
                            <a:srgbClr val="FF0000"/>
                          </a:solidFill>
                        </a:rPr>
                        <a:t>(NO</a:t>
                      </a:r>
                      <a:r>
                        <a:rPr lang="en-US" altLang="zh-CN" sz="2400" dirty="0" smtClean="0">
                          <a:solidFill>
                            <a:srgbClr val="FF0000"/>
                          </a:solidFill>
                        </a:rPr>
                        <a:t>₃)₂</a:t>
                      </a:r>
                      <a:endParaRPr lang="en-US" sz="2400" dirty="0">
                        <a:solidFill>
                          <a:srgbClr val="FF0000"/>
                        </a:solidFill>
                      </a:endParaRPr>
                    </a:p>
                  </a:txBody>
                  <a:tcPr marL="68580" marR="68580" anchor="ctr"/>
                </a:tc>
                <a:tc>
                  <a:txBody>
                    <a:bodyPr/>
                    <a:lstStyle/>
                    <a:p>
                      <a:pPr algn="ctr"/>
                      <a:r>
                        <a:rPr lang="zh-CN" altLang="en-US" sz="2400" dirty="0" smtClean="0"/>
                        <a:t>金属氧化物</a:t>
                      </a:r>
                      <a:endParaRPr lang="en-US" altLang="zh-CN" sz="2400" dirty="0" smtClean="0"/>
                    </a:p>
                    <a:p>
                      <a:pPr algn="ctr"/>
                      <a:r>
                        <a:rPr lang="en-US" altLang="zh-CN" sz="2400" dirty="0" smtClean="0"/>
                        <a:t>+</a:t>
                      </a:r>
                      <a:r>
                        <a:rPr lang="zh-CN" altLang="en-US" sz="2400" dirty="0" smtClean="0"/>
                        <a:t>二氧化氮</a:t>
                      </a:r>
                      <a:endParaRPr lang="en-US" altLang="zh-CN" sz="2400" dirty="0" smtClean="0"/>
                    </a:p>
                    <a:p>
                      <a:pPr algn="ctr"/>
                      <a:r>
                        <a:rPr lang="en-US" altLang="zh-CN" sz="2400" dirty="0" smtClean="0"/>
                        <a:t>+</a:t>
                      </a:r>
                      <a:r>
                        <a:rPr lang="zh-CN" altLang="en-US" sz="2400" dirty="0" smtClean="0"/>
                        <a:t>氧气</a:t>
                      </a:r>
                      <a:endParaRPr lang="en-US" sz="2400" dirty="0"/>
                    </a:p>
                  </a:txBody>
                  <a:tcPr marL="68580" marR="68580" anchor="ctr"/>
                </a:tc>
                <a:tc>
                  <a:txBody>
                    <a:bodyPr/>
                    <a:lstStyle/>
                    <a:p>
                      <a:endParaRPr lang="en-US" sz="2400" dirty="0"/>
                    </a:p>
                  </a:txBody>
                  <a:tcPr marL="68580" marR="68580" anchor="ctr">
                    <a:blipFill rotWithShape="1">
                      <a:blip r:embed="rId3"/>
                      <a:stretch>
                        <a:fillRect l="-97526" t="-92083" r="-103" b="-70417"/>
                      </a:stretch>
                    </a:blipFill>
                  </a:tcPr>
                </a:tc>
              </a:tr>
              <a:tr h="1358030">
                <a:tc>
                  <a:txBody>
                    <a:bodyPr/>
                    <a:lstStyle/>
                    <a:p>
                      <a:pPr algn="ctr"/>
                      <a:r>
                        <a:rPr lang="zh-CN" altLang="en-US" sz="2400" dirty="0" smtClean="0"/>
                        <a:t>不活泼金属的硝酸盐：</a:t>
                      </a:r>
                      <a:r>
                        <a:rPr lang="en-US" altLang="zh-CN" sz="2400" dirty="0" smtClean="0">
                          <a:solidFill>
                            <a:srgbClr val="FF0000"/>
                          </a:solidFill>
                        </a:rPr>
                        <a:t>Hg(NO₃)₂,</a:t>
                      </a:r>
                      <a:r>
                        <a:rPr lang="en-US" altLang="zh-CN" sz="2400" dirty="0" err="1" smtClean="0">
                          <a:solidFill>
                            <a:srgbClr val="FF0000"/>
                          </a:solidFill>
                        </a:rPr>
                        <a:t>AgNO</a:t>
                      </a:r>
                      <a:r>
                        <a:rPr lang="en-US" altLang="zh-CN" sz="2400" dirty="0" smtClean="0">
                          <a:solidFill>
                            <a:srgbClr val="FF0000"/>
                          </a:solidFill>
                        </a:rPr>
                        <a:t>₃</a:t>
                      </a:r>
                      <a:endParaRPr lang="en-US" sz="2400" dirty="0">
                        <a:solidFill>
                          <a:srgbClr val="FF0000"/>
                        </a:solidFill>
                      </a:endParaRPr>
                    </a:p>
                  </a:txBody>
                  <a:tcPr marL="68580" marR="68580" anchor="ctr"/>
                </a:tc>
                <a:tc>
                  <a:txBody>
                    <a:bodyPr/>
                    <a:lstStyle/>
                    <a:p>
                      <a:pPr algn="ctr"/>
                      <a:r>
                        <a:rPr lang="zh-CN" altLang="en-US" sz="2400" dirty="0" smtClean="0"/>
                        <a:t>金属</a:t>
                      </a:r>
                      <a:endParaRPr lang="en-US" altLang="zh-CN" sz="2400" dirty="0" smtClean="0"/>
                    </a:p>
                    <a:p>
                      <a:pPr algn="ctr"/>
                      <a:r>
                        <a:rPr lang="en-US" altLang="zh-CN" sz="2400" dirty="0" smtClean="0"/>
                        <a:t>+</a:t>
                      </a:r>
                      <a:r>
                        <a:rPr lang="zh-CN" altLang="en-US" sz="2400" dirty="0" smtClean="0"/>
                        <a:t>二氧化氮</a:t>
                      </a:r>
                      <a:endParaRPr lang="en-US" altLang="zh-CN" sz="2400" dirty="0" smtClean="0"/>
                    </a:p>
                    <a:p>
                      <a:pPr algn="ctr"/>
                      <a:r>
                        <a:rPr lang="en-US" altLang="zh-CN" sz="2400" dirty="0" smtClean="0"/>
                        <a:t>+</a:t>
                      </a:r>
                      <a:r>
                        <a:rPr lang="zh-CN" altLang="en-US" sz="2400" dirty="0" smtClean="0"/>
                        <a:t>氧气</a:t>
                      </a:r>
                      <a:endParaRPr lang="en-US" sz="2400" dirty="0"/>
                    </a:p>
                  </a:txBody>
                  <a:tcPr marL="68580" marR="68580" anchor="ctr"/>
                </a:tc>
                <a:tc>
                  <a:txBody>
                    <a:bodyPr/>
                    <a:lstStyle/>
                    <a:p>
                      <a:endParaRPr lang="en-US" sz="2400" dirty="0"/>
                    </a:p>
                  </a:txBody>
                  <a:tcPr marL="68580" marR="68580" anchor="ctr">
                    <a:blipFill rotWithShape="1">
                      <a:blip r:embed="rId3"/>
                      <a:stretch>
                        <a:fillRect l="-97526" t="-272781" r="-103"/>
                      </a:stretch>
                    </a:blipFill>
                  </a:tcPr>
                </a:tc>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zh-CN" altLang="en-US" dirty="0" smtClean="0"/>
              <a:t>二氧化氮</a:t>
            </a:r>
            <a:endParaRPr lang="en-US" dirty="0"/>
          </a:p>
        </p:txBody>
      </p:sp>
      <p:sp>
        <p:nvSpPr>
          <p:cNvPr id="3" name="Content Placeholder 2"/>
          <p:cNvSpPr>
            <a:spLocks noGrp="1"/>
          </p:cNvSpPr>
          <p:nvPr>
            <p:ph idx="1"/>
          </p:nvPr>
        </p:nvSpPr>
        <p:spPr>
          <a:xfrm>
            <a:off x="457200" y="990600"/>
            <a:ext cx="8229600" cy="5486400"/>
          </a:xfrm>
        </p:spPr>
        <p:txBody>
          <a:bodyPr/>
          <a:lstStyle/>
          <a:p>
            <a:pPr>
              <a:buFont typeface="Wingdings" pitchFamily="2" charset="2"/>
              <a:buChar char="Ø"/>
            </a:pPr>
            <a:r>
              <a:rPr lang="en-US" altLang="zh-CN" dirty="0" smtClean="0">
                <a:sym typeface="Wingdings" pitchFamily="2" charset="2"/>
              </a:rPr>
              <a:t>NO</a:t>
            </a:r>
            <a:r>
              <a:rPr lang="en-US" altLang="zh-CN" baseline="-25000" dirty="0" smtClean="0">
                <a:sym typeface="Wingdings" pitchFamily="2" charset="2"/>
              </a:rPr>
              <a:t>2</a:t>
            </a:r>
            <a:r>
              <a:rPr lang="en-US" altLang="zh-CN" dirty="0" smtClean="0">
                <a:sym typeface="Wingdings" pitchFamily="2" charset="2"/>
              </a:rPr>
              <a:t> </a:t>
            </a:r>
            <a:r>
              <a:rPr lang="zh-CN" altLang="en-US" dirty="0" smtClean="0">
                <a:sym typeface="Wingdings" pitchFamily="2" charset="2"/>
              </a:rPr>
              <a:t>与水反应产生两种酸</a:t>
            </a:r>
            <a:endParaRPr lang="en-US" altLang="zh-CN" dirty="0" smtClean="0">
              <a:sym typeface="Wingdings" pitchFamily="2" charset="2"/>
            </a:endParaRPr>
          </a:p>
          <a:p>
            <a:pPr>
              <a:buNone/>
            </a:pPr>
            <a:r>
              <a:rPr lang="en-US" altLang="zh-CN" dirty="0" smtClean="0"/>
              <a:t>	2NO</a:t>
            </a:r>
            <a:r>
              <a:rPr lang="en-US" altLang="zh-CN" baseline="-25000" dirty="0" smtClean="0"/>
              <a:t>2</a:t>
            </a:r>
            <a:r>
              <a:rPr lang="en-US" altLang="zh-CN" dirty="0" smtClean="0"/>
              <a:t> + H</a:t>
            </a:r>
            <a:r>
              <a:rPr lang="en-US" altLang="zh-CN" baseline="-25000" dirty="0" smtClean="0"/>
              <a:t>2</a:t>
            </a:r>
            <a:r>
              <a:rPr lang="en-US" altLang="zh-CN" dirty="0" smtClean="0"/>
              <a:t>O</a:t>
            </a:r>
            <a:r>
              <a:rPr lang="en-US" altLang="zh-CN" dirty="0" smtClean="0">
                <a:sym typeface="Wingdings" pitchFamily="2" charset="2"/>
              </a:rPr>
              <a:t> HNO</a:t>
            </a:r>
            <a:r>
              <a:rPr lang="en-US" altLang="zh-CN" baseline="-25000" dirty="0" smtClean="0">
                <a:sym typeface="Wingdings" pitchFamily="2" charset="2"/>
              </a:rPr>
              <a:t>3</a:t>
            </a:r>
            <a:r>
              <a:rPr lang="en-US" altLang="zh-CN" dirty="0" smtClean="0">
                <a:sym typeface="Wingdings" pitchFamily="2" charset="2"/>
              </a:rPr>
              <a:t> + HNO</a:t>
            </a:r>
            <a:r>
              <a:rPr lang="en-US" altLang="zh-CN" baseline="-25000" dirty="0" smtClean="0">
                <a:sym typeface="Wingdings" pitchFamily="2" charset="2"/>
              </a:rPr>
              <a:t>2 </a:t>
            </a:r>
            <a:r>
              <a:rPr lang="en-US" altLang="zh-CN" dirty="0" smtClean="0">
                <a:sym typeface="Wingdings" pitchFamily="2" charset="2"/>
              </a:rPr>
              <a:t> </a:t>
            </a:r>
          </a:p>
          <a:p>
            <a:pPr>
              <a:buFont typeface="Wingdings" pitchFamily="2" charset="2"/>
              <a:buChar char="Ø"/>
            </a:pPr>
            <a:r>
              <a:rPr lang="en-US" altLang="zh-CN" dirty="0" smtClean="0">
                <a:sym typeface="Wingdings" pitchFamily="2" charset="2"/>
              </a:rPr>
              <a:t>NO</a:t>
            </a:r>
            <a:r>
              <a:rPr lang="en-US" altLang="zh-CN" baseline="-25000" dirty="0" smtClean="0">
                <a:sym typeface="Wingdings" pitchFamily="2" charset="2"/>
              </a:rPr>
              <a:t>2</a:t>
            </a:r>
            <a:r>
              <a:rPr lang="en-US" altLang="zh-CN" dirty="0" smtClean="0">
                <a:sym typeface="Wingdings" pitchFamily="2" charset="2"/>
              </a:rPr>
              <a:t> </a:t>
            </a:r>
            <a:r>
              <a:rPr lang="zh-CN" altLang="en-US" dirty="0" smtClean="0">
                <a:sym typeface="Wingdings" pitchFamily="2" charset="2"/>
              </a:rPr>
              <a:t>与碱反应产生两种盐</a:t>
            </a:r>
            <a:endParaRPr lang="en-US" altLang="zh-CN" dirty="0" smtClean="0">
              <a:sym typeface="Wingdings" pitchFamily="2" charset="2"/>
            </a:endParaRPr>
          </a:p>
          <a:p>
            <a:pPr>
              <a:buNone/>
            </a:pPr>
            <a:r>
              <a:rPr lang="en-US" altLang="zh-CN" dirty="0" smtClean="0">
                <a:sym typeface="Wingdings" pitchFamily="2" charset="2"/>
              </a:rPr>
              <a:t>	2NO</a:t>
            </a:r>
            <a:r>
              <a:rPr lang="en-US" altLang="zh-CN" baseline="-25000" dirty="0" smtClean="0">
                <a:sym typeface="Wingdings" pitchFamily="2" charset="2"/>
              </a:rPr>
              <a:t>2 </a:t>
            </a:r>
            <a:r>
              <a:rPr lang="en-US" altLang="zh-CN" dirty="0" smtClean="0">
                <a:sym typeface="Wingdings" pitchFamily="2" charset="2"/>
              </a:rPr>
              <a:t> + 2NaOH  NaNO</a:t>
            </a:r>
            <a:r>
              <a:rPr lang="en-US" altLang="zh-CN" baseline="-25000" dirty="0" smtClean="0">
                <a:sym typeface="Wingdings" pitchFamily="2" charset="2"/>
              </a:rPr>
              <a:t>3</a:t>
            </a:r>
            <a:r>
              <a:rPr lang="en-US" altLang="zh-CN" dirty="0" smtClean="0">
                <a:sym typeface="Wingdings" pitchFamily="2" charset="2"/>
              </a:rPr>
              <a:t> + NaNO</a:t>
            </a:r>
            <a:r>
              <a:rPr lang="en-US" altLang="zh-CN" baseline="-25000" dirty="0" smtClean="0">
                <a:sym typeface="Wingdings" pitchFamily="2" charset="2"/>
              </a:rPr>
              <a:t>2</a:t>
            </a:r>
            <a:r>
              <a:rPr lang="en-US" altLang="zh-CN" dirty="0" smtClean="0">
                <a:sym typeface="Wingdings" pitchFamily="2" charset="2"/>
              </a:rPr>
              <a:t> + H</a:t>
            </a:r>
            <a:r>
              <a:rPr lang="en-US" altLang="zh-CN" baseline="-25000" dirty="0" smtClean="0">
                <a:sym typeface="Wingdings" pitchFamily="2" charset="2"/>
              </a:rPr>
              <a:t>2</a:t>
            </a:r>
            <a:r>
              <a:rPr lang="en-US" altLang="zh-CN" dirty="0" smtClean="0">
                <a:sym typeface="Wingdings" pitchFamily="2" charset="2"/>
              </a:rPr>
              <a:t>O</a:t>
            </a:r>
          </a:p>
          <a:p>
            <a:pPr>
              <a:buNone/>
            </a:pPr>
            <a:endParaRPr lang="en-US" altLang="zh-CN" dirty="0" smtClean="0">
              <a:sym typeface="Wingdings" pitchFamily="2" charset="2"/>
            </a:endParaRPr>
          </a:p>
        </p:txBody>
      </p:sp>
      <p:pic>
        <p:nvPicPr>
          <p:cNvPr id="5" name="Picture 4"/>
          <p:cNvPicPr>
            <a:picLocks noChangeAspect="1"/>
          </p:cNvPicPr>
          <p:nvPr/>
        </p:nvPicPr>
        <p:blipFill>
          <a:blip r:embed="rId3"/>
          <a:stretch>
            <a:fillRect/>
          </a:stretch>
        </p:blipFill>
        <p:spPr>
          <a:xfrm>
            <a:off x="5931649" y="3581400"/>
            <a:ext cx="3212351" cy="3276600"/>
          </a:xfrm>
          <a:prstGeom prst="rect">
            <a:avLst/>
          </a:prstGeom>
        </p:spPr>
      </p:pic>
      <p:sp>
        <p:nvSpPr>
          <p:cNvPr id="7" name="Rounded Rectangle 6"/>
          <p:cNvSpPr/>
          <p:nvPr/>
        </p:nvSpPr>
        <p:spPr>
          <a:xfrm>
            <a:off x="3276600" y="1676400"/>
            <a:ext cx="22860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
        <p:nvSpPr>
          <p:cNvPr id="8" name="Rounded Rectangle 7"/>
          <p:cNvSpPr/>
          <p:nvPr/>
        </p:nvSpPr>
        <p:spPr>
          <a:xfrm>
            <a:off x="3962400" y="2819400"/>
            <a:ext cx="38100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xit" presetSubtype="10" fill="hold" grpId="0" nodeType="clickEffect">
                                  <p:stCondLst>
                                    <p:cond delay="0"/>
                                  </p:stCondLst>
                                  <p:childTnLst>
                                    <p:animEffect transition="out" filter="blinds(horizontal)">
                                      <p:cBhvr>
                                        <p:cTn id="16" dur="500"/>
                                        <p:tgtEl>
                                          <p:spTgt spid="7"/>
                                        </p:tgtEl>
                                      </p:cBhvr>
                                    </p:animEffect>
                                    <p:set>
                                      <p:cBhvr>
                                        <p:cTn id="17" dur="1" fill="hold">
                                          <p:stCondLst>
                                            <p:cond delay="499"/>
                                          </p:stCondLst>
                                        </p:cTn>
                                        <p:tgtEl>
                                          <p:spTgt spid="7"/>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blinds(horizontal)">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blinds(horizontal)">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xit" presetSubtype="10" fill="hold" grpId="0" nodeType="clickEffect">
                                  <p:stCondLst>
                                    <p:cond delay="0"/>
                                  </p:stCondLst>
                                  <p:childTnLst>
                                    <p:animEffect transition="out" filter="blinds(horizontal)">
                                      <p:cBhvr>
                                        <p:cTn id="31" dur="500"/>
                                        <p:tgtEl>
                                          <p:spTgt spid="8"/>
                                        </p:tgtEl>
                                      </p:cBhvr>
                                    </p:animEffect>
                                    <p:set>
                                      <p:cBhvr>
                                        <p:cTn id="32"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animBg="1"/>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zh-CN" altLang="en-US" dirty="0" smtClean="0"/>
              <a:t>一氧化二氮</a:t>
            </a:r>
            <a:endParaRPr lang="en-US" dirty="0"/>
          </a:p>
        </p:txBody>
      </p:sp>
      <p:sp>
        <p:nvSpPr>
          <p:cNvPr id="3" name="Content Placeholder 2"/>
          <p:cNvSpPr>
            <a:spLocks noGrp="1"/>
          </p:cNvSpPr>
          <p:nvPr>
            <p:ph idx="1"/>
          </p:nvPr>
        </p:nvSpPr>
        <p:spPr>
          <a:xfrm>
            <a:off x="457200" y="1219200"/>
            <a:ext cx="8229600" cy="5486400"/>
          </a:xfrm>
        </p:spPr>
        <p:txBody>
          <a:bodyPr/>
          <a:lstStyle/>
          <a:p>
            <a:pPr>
              <a:buFont typeface="Wingdings" pitchFamily="2" charset="2"/>
              <a:buChar char="Ø"/>
            </a:pPr>
            <a:r>
              <a:rPr lang="zh-CN" altLang="en-US" dirty="0" smtClean="0"/>
              <a:t>实验室制取：</a:t>
            </a:r>
            <a:endParaRPr lang="en-US" altLang="zh-CN" dirty="0" smtClean="0"/>
          </a:p>
          <a:p>
            <a:pPr>
              <a:buNone/>
            </a:pPr>
            <a:r>
              <a:rPr lang="en-US" altLang="zh-CN" dirty="0" smtClean="0"/>
              <a:t>	NH</a:t>
            </a:r>
            <a:r>
              <a:rPr lang="en-US" altLang="zh-CN" baseline="-25000" dirty="0" smtClean="0"/>
              <a:t>4</a:t>
            </a:r>
            <a:r>
              <a:rPr lang="en-US" altLang="zh-CN" dirty="0" smtClean="0"/>
              <a:t> NO</a:t>
            </a:r>
            <a:r>
              <a:rPr lang="en-US" altLang="zh-CN" baseline="-25000" dirty="0" smtClean="0"/>
              <a:t>3</a:t>
            </a:r>
            <a:r>
              <a:rPr lang="en-US" altLang="zh-CN" dirty="0" smtClean="0"/>
              <a:t> 	   N</a:t>
            </a:r>
            <a:r>
              <a:rPr lang="en-US" altLang="zh-CN" baseline="-25000" dirty="0" smtClean="0"/>
              <a:t>2</a:t>
            </a:r>
            <a:r>
              <a:rPr lang="en-US" altLang="zh-CN" dirty="0" smtClean="0"/>
              <a:t>O  + 2 H</a:t>
            </a:r>
            <a:r>
              <a:rPr lang="en-US" altLang="zh-CN" baseline="-25000" dirty="0" smtClean="0"/>
              <a:t>2</a:t>
            </a:r>
            <a:r>
              <a:rPr lang="en-US" altLang="zh-CN" dirty="0" smtClean="0"/>
              <a:t>O</a:t>
            </a:r>
          </a:p>
          <a:p>
            <a:pPr>
              <a:buFont typeface="Wingdings" pitchFamily="2" charset="2"/>
              <a:buChar char="Ø"/>
            </a:pPr>
            <a:r>
              <a:rPr lang="zh-CN" altLang="en-US" dirty="0" smtClean="0"/>
              <a:t>无色、有微甜味、不活泼的气体</a:t>
            </a:r>
            <a:endParaRPr lang="en-US" altLang="zh-CN" dirty="0" smtClean="0"/>
          </a:p>
          <a:p>
            <a:pPr>
              <a:buFont typeface="Wingdings" pitchFamily="2" charset="2"/>
              <a:buChar char="Ø"/>
            </a:pPr>
            <a:r>
              <a:rPr lang="zh-CN" altLang="en-US" dirty="0" smtClean="0"/>
              <a:t>微溶于水</a:t>
            </a:r>
            <a:endParaRPr lang="en-US" altLang="zh-CN" dirty="0" smtClean="0"/>
          </a:p>
          <a:p>
            <a:pPr>
              <a:buFont typeface="Wingdings" pitchFamily="2" charset="2"/>
              <a:buChar char="Ø"/>
            </a:pPr>
            <a:r>
              <a:rPr lang="zh-CN" altLang="en-US" dirty="0" smtClean="0"/>
              <a:t>高温时，会分解，能助燃。</a:t>
            </a:r>
            <a:endParaRPr lang="en-US" altLang="zh-CN" dirty="0" smtClean="0"/>
          </a:p>
          <a:p>
            <a:pPr>
              <a:buNone/>
            </a:pPr>
            <a:r>
              <a:rPr lang="en-US" altLang="zh-CN" dirty="0" smtClean="0"/>
              <a:t>	2 N</a:t>
            </a:r>
            <a:r>
              <a:rPr lang="en-US" altLang="zh-CN" baseline="-25000" dirty="0" smtClean="0"/>
              <a:t>2</a:t>
            </a:r>
            <a:r>
              <a:rPr lang="en-US" altLang="zh-CN" dirty="0" smtClean="0"/>
              <a:t>O 		2N</a:t>
            </a:r>
            <a:r>
              <a:rPr lang="en-US" altLang="zh-CN" baseline="-25000" dirty="0" smtClean="0"/>
              <a:t>2</a:t>
            </a:r>
            <a:r>
              <a:rPr lang="en-US" altLang="zh-CN" dirty="0" smtClean="0"/>
              <a:t> + O</a:t>
            </a:r>
            <a:r>
              <a:rPr lang="en-US" altLang="zh-CN" baseline="-25000" dirty="0" smtClean="0"/>
              <a:t>2</a:t>
            </a:r>
            <a:r>
              <a:rPr lang="en-US" altLang="zh-CN" dirty="0" smtClean="0"/>
              <a:t> </a:t>
            </a:r>
          </a:p>
          <a:p>
            <a:pPr>
              <a:buFont typeface="Wingdings" pitchFamily="2" charset="2"/>
              <a:buChar char="Ø"/>
            </a:pPr>
            <a:r>
              <a:rPr lang="zh-CN" altLang="en-US" dirty="0" smtClean="0"/>
              <a:t>用途：麻醉剂</a:t>
            </a:r>
            <a:endParaRPr lang="en-US" altLang="zh-CN" dirty="0" smtClean="0"/>
          </a:p>
          <a:p>
            <a:pPr>
              <a:buFont typeface="Wingdings" pitchFamily="2" charset="2"/>
              <a:buChar char="Ø"/>
            </a:pPr>
            <a:r>
              <a:rPr lang="zh-CN" altLang="en-US" dirty="0" smtClean="0"/>
              <a:t>俗称：笑气</a:t>
            </a:r>
            <a:endParaRPr lang="en-US" altLang="zh-CN" dirty="0" smtClean="0"/>
          </a:p>
        </p:txBody>
      </p:sp>
      <p:grpSp>
        <p:nvGrpSpPr>
          <p:cNvPr id="13" name="Group 12"/>
          <p:cNvGrpSpPr/>
          <p:nvPr/>
        </p:nvGrpSpPr>
        <p:grpSpPr>
          <a:xfrm>
            <a:off x="2590800" y="1979612"/>
            <a:ext cx="838200" cy="153988"/>
            <a:chOff x="2590800" y="1979612"/>
            <a:chExt cx="838200" cy="153988"/>
          </a:xfrm>
        </p:grpSpPr>
        <p:cxnSp>
          <p:nvCxnSpPr>
            <p:cNvPr id="5" name="Straight Arrow Connector 4"/>
            <p:cNvCxnSpPr/>
            <p:nvPr/>
          </p:nvCxnSpPr>
          <p:spPr bwMode="auto">
            <a:xfrm>
              <a:off x="2590800" y="2132012"/>
              <a:ext cx="8382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6" name="Isosceles Triangle 5"/>
            <p:cNvSpPr/>
            <p:nvPr/>
          </p:nvSpPr>
          <p:spPr bwMode="auto">
            <a:xfrm>
              <a:off x="2895600" y="1979612"/>
              <a:ext cx="228600" cy="152400"/>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grpSp>
      <p:grpSp>
        <p:nvGrpSpPr>
          <p:cNvPr id="7" name="Group 6"/>
          <p:cNvGrpSpPr/>
          <p:nvPr/>
        </p:nvGrpSpPr>
        <p:grpSpPr>
          <a:xfrm>
            <a:off x="1981200" y="4191000"/>
            <a:ext cx="990600" cy="307777"/>
            <a:chOff x="2819400" y="5867400"/>
            <a:chExt cx="990600" cy="307777"/>
          </a:xfrm>
        </p:grpSpPr>
        <p:cxnSp>
          <p:nvCxnSpPr>
            <p:cNvPr id="12" name="Straight Arrow Connector 11"/>
            <p:cNvCxnSpPr/>
            <p:nvPr/>
          </p:nvCxnSpPr>
          <p:spPr>
            <a:xfrm>
              <a:off x="2819400" y="6172117"/>
              <a:ext cx="990600" cy="83"/>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2971800" y="5867400"/>
              <a:ext cx="543739" cy="307777"/>
            </a:xfrm>
            <a:prstGeom prst="rect">
              <a:avLst/>
            </a:prstGeom>
            <a:noFill/>
          </p:spPr>
          <p:txBody>
            <a:bodyPr wrap="none" rtlCol="0">
              <a:spAutoFit/>
            </a:bodyPr>
            <a:lstStyle/>
            <a:p>
              <a:r>
                <a:rPr lang="zh-CN" altLang="en-US" sz="1400" dirty="0" smtClean="0"/>
                <a:t>高温</a:t>
              </a:r>
              <a:endParaRPr lang="en-US" sz="1400" dirty="0"/>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blinds(horizontal)">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blinds(horizontal)">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blinds(horizontal)">
                                      <p:cBhvr>
                                        <p:cTn id="25" dur="5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blinds(horizontal)">
                                      <p:cBhvr>
                                        <p:cTn id="30" dur="500"/>
                                        <p:tgtEl>
                                          <p:spTgt spid="3">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blinds(horizontal)">
                                      <p:cBhvr>
                                        <p:cTn id="35" dur="500"/>
                                        <p:tgtEl>
                                          <p:spTgt spid="3">
                                            <p:txEl>
                                              <p:pRg st="5" end="5"/>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blinds(horizontal)">
                                      <p:cBhvr>
                                        <p:cTn id="38" dur="500"/>
                                        <p:tgtEl>
                                          <p:spTgt spid="7"/>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Effect transition="in" filter="blinds(horizontal)">
                                      <p:cBhvr>
                                        <p:cTn id="43" dur="500"/>
                                        <p:tgtEl>
                                          <p:spTgt spid="3">
                                            <p:txEl>
                                              <p:pRg st="6" end="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3">
                                            <p:txEl>
                                              <p:pRg st="7" end="7"/>
                                            </p:txEl>
                                          </p:spTgt>
                                        </p:tgtEl>
                                        <p:attrNameLst>
                                          <p:attrName>style.visibility</p:attrName>
                                        </p:attrNameLst>
                                      </p:cBhvr>
                                      <p:to>
                                        <p:strVal val="visible"/>
                                      </p:to>
                                    </p:set>
                                    <p:animEffect transition="in" filter="blinds(horizontal)">
                                      <p:cBhvr>
                                        <p:cTn id="4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en-US" dirty="0" smtClean="0"/>
              <a:t>13.2 </a:t>
            </a:r>
            <a:r>
              <a:rPr lang="zh-CN" altLang="en-US" dirty="0" smtClean="0"/>
              <a:t>氮氧化合物</a:t>
            </a:r>
            <a:endParaRPr lang="en-US" dirty="0"/>
          </a:p>
        </p:txBody>
      </p:sp>
      <p:sp>
        <p:nvSpPr>
          <p:cNvPr id="3" name="Content Placeholder 2"/>
          <p:cNvSpPr>
            <a:spLocks noGrp="1"/>
          </p:cNvSpPr>
          <p:nvPr>
            <p:ph idx="1"/>
          </p:nvPr>
        </p:nvSpPr>
        <p:spPr>
          <a:xfrm>
            <a:off x="457200" y="1219200"/>
            <a:ext cx="8229600" cy="5486400"/>
          </a:xfrm>
        </p:spPr>
        <p:txBody>
          <a:bodyPr>
            <a:normAutofit lnSpcReduction="10000"/>
          </a:bodyPr>
          <a:lstStyle/>
          <a:p>
            <a:pPr>
              <a:buNone/>
            </a:pPr>
            <a:r>
              <a:rPr lang="zh-CN" altLang="en-US" dirty="0" smtClean="0"/>
              <a:t>光化学烟雾</a:t>
            </a:r>
            <a:endParaRPr lang="en-US" altLang="zh-CN" dirty="0" smtClean="0"/>
          </a:p>
          <a:p>
            <a:pPr>
              <a:buFont typeface="Wingdings" pitchFamily="2" charset="2"/>
              <a:buChar char="Ø"/>
            </a:pPr>
            <a:r>
              <a:rPr lang="zh-CN" altLang="en-US" b="1" dirty="0" smtClean="0">
                <a:solidFill>
                  <a:srgbClr val="002060"/>
                </a:solidFill>
              </a:rPr>
              <a:t>氮氧化合物、碳氢化合物</a:t>
            </a:r>
            <a:r>
              <a:rPr lang="zh-CN" altLang="en-US" dirty="0" smtClean="0"/>
              <a:t>经阳光照射发生复杂的化学变化产生对生物有害的烟雾。</a:t>
            </a:r>
            <a:endParaRPr lang="en-US" altLang="zh-CN" dirty="0" smtClean="0"/>
          </a:p>
          <a:p>
            <a:pPr>
              <a:buNone/>
            </a:pPr>
            <a:r>
              <a:rPr lang="zh-CN" altLang="en-US" dirty="0" smtClean="0"/>
              <a:t>酸雨</a:t>
            </a:r>
            <a:endParaRPr lang="en-US" altLang="zh-CN" dirty="0" smtClean="0"/>
          </a:p>
          <a:p>
            <a:pPr>
              <a:buFont typeface="Wingdings" pitchFamily="2" charset="2"/>
              <a:buChar char="Ø"/>
            </a:pPr>
            <a:r>
              <a:rPr lang="zh-CN" altLang="en-US" dirty="0" smtClean="0"/>
              <a:t>氮氧化合物与水反应生成硝酸和亚硝酸。</a:t>
            </a:r>
            <a:endParaRPr lang="en-US" altLang="zh-CN" dirty="0" smtClean="0"/>
          </a:p>
          <a:p>
            <a:pPr>
              <a:buFont typeface="Wingdings" pitchFamily="2" charset="2"/>
              <a:buChar char="Ø"/>
            </a:pPr>
            <a:endParaRPr lang="en-US" altLang="zh-CN" dirty="0" smtClean="0"/>
          </a:p>
          <a:p>
            <a:pPr>
              <a:buFont typeface="Wingdings" pitchFamily="2" charset="2"/>
              <a:buChar char="Ø"/>
            </a:pPr>
            <a:r>
              <a:rPr lang="zh-CN" altLang="en-US" dirty="0" smtClean="0"/>
              <a:t>化肥生产、金属冶炼、汽车废气等都会排放氮氧化合物。</a:t>
            </a:r>
            <a:endParaRPr lang="en-US" altLang="zh-CN" dirty="0" smtClean="0"/>
          </a:p>
          <a:p>
            <a:pPr>
              <a:buFont typeface="Wingdings" pitchFamily="2" charset="2"/>
              <a:buChar char="Ø"/>
            </a:pPr>
            <a:r>
              <a:rPr lang="zh-CN" altLang="en-US" dirty="0" smtClean="0"/>
              <a:t>使用洁净能源、安装尾气转化装置以减少空气污染。</a:t>
            </a:r>
            <a:endParaRPr lang="en-US" altLang="zh-CN" dirty="0" smtClean="0"/>
          </a:p>
          <a:p>
            <a:pPr>
              <a:buNone/>
            </a:pPr>
            <a:endParaRPr lang="en-US" altLang="zh-CN" dirty="0" smtClean="0"/>
          </a:p>
          <a:p>
            <a:pPr>
              <a:buFont typeface="Wingdings" pitchFamily="2" charset="2"/>
              <a:buChar char="Ø"/>
            </a:pPr>
            <a:endParaRPr lang="en-US" dirty="0" smtClean="0"/>
          </a:p>
          <a:p>
            <a:pPr>
              <a:buFont typeface="Wingdings" pitchFamily="2" charset="2"/>
              <a:buChar char="Ø"/>
            </a:pPr>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blinds(horizontal)">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zh-CN" altLang="en-US" dirty="0" smtClean="0"/>
              <a:t>思考题</a:t>
            </a:r>
            <a:r>
              <a:rPr lang="en-US" altLang="zh-CN" dirty="0" smtClean="0"/>
              <a:t>13b</a:t>
            </a:r>
            <a:endParaRPr lang="en-US" dirty="0"/>
          </a:p>
        </p:txBody>
      </p:sp>
      <p:sp>
        <p:nvSpPr>
          <p:cNvPr id="3" name="Content Placeholder 2"/>
          <p:cNvSpPr>
            <a:spLocks noGrp="1"/>
          </p:cNvSpPr>
          <p:nvPr>
            <p:ph idx="1"/>
          </p:nvPr>
        </p:nvSpPr>
        <p:spPr>
          <a:xfrm>
            <a:off x="457200" y="1219200"/>
            <a:ext cx="8229600" cy="5486400"/>
          </a:xfrm>
        </p:spPr>
        <p:txBody>
          <a:bodyPr/>
          <a:lstStyle/>
          <a:p>
            <a:pPr marL="514350" indent="-514350">
              <a:buAutoNum type="arabicPeriod"/>
            </a:pPr>
            <a:r>
              <a:rPr lang="en-US" dirty="0" smtClean="0"/>
              <a:t>A</a:t>
            </a:r>
          </a:p>
          <a:p>
            <a:pPr marL="514350" indent="-514350">
              <a:buAutoNum type="arabicPeriod"/>
            </a:pPr>
            <a:r>
              <a:rPr lang="en-US" dirty="0" smtClean="0"/>
              <a:t>B </a:t>
            </a:r>
          </a:p>
          <a:p>
            <a:pPr marL="514350" indent="-514350">
              <a:buAutoNum type="arabicPeriod"/>
            </a:pPr>
            <a:endParaRPr lang="en-US" dirty="0" smtClean="0"/>
          </a:p>
          <a:p>
            <a:pPr marL="514350" indent="-514350">
              <a:buAutoNum type="arabicPeriod"/>
            </a:pPr>
            <a:r>
              <a:rPr lang="en-US" dirty="0" smtClean="0"/>
              <a:t>2NO</a:t>
            </a:r>
            <a:r>
              <a:rPr lang="en-US" baseline="-25000" dirty="0" smtClean="0"/>
              <a:t>2 </a:t>
            </a:r>
            <a:r>
              <a:rPr lang="en-US" dirty="0" smtClean="0"/>
              <a:t> + H</a:t>
            </a:r>
            <a:r>
              <a:rPr lang="en-US" baseline="-25000" dirty="0" smtClean="0"/>
              <a:t>2</a:t>
            </a:r>
            <a:r>
              <a:rPr lang="en-US" dirty="0" smtClean="0"/>
              <a:t>O  </a:t>
            </a:r>
            <a:r>
              <a:rPr lang="en-US" dirty="0" smtClean="0">
                <a:sym typeface="Wingdings" pitchFamily="2" charset="2"/>
              </a:rPr>
              <a:t> HNO</a:t>
            </a:r>
            <a:r>
              <a:rPr lang="en-US" baseline="-25000" dirty="0" smtClean="0">
                <a:sym typeface="Wingdings" pitchFamily="2" charset="2"/>
              </a:rPr>
              <a:t>3</a:t>
            </a:r>
            <a:r>
              <a:rPr lang="en-US" dirty="0" smtClean="0">
                <a:sym typeface="Wingdings" pitchFamily="2" charset="2"/>
              </a:rPr>
              <a:t> + HNO</a:t>
            </a:r>
            <a:r>
              <a:rPr lang="en-US" baseline="-25000" dirty="0" smtClean="0">
                <a:sym typeface="Wingdings" pitchFamily="2" charset="2"/>
              </a:rPr>
              <a:t>2</a:t>
            </a:r>
            <a:r>
              <a:rPr lang="en-US" dirty="0" smtClean="0">
                <a:sym typeface="Wingdings" pitchFamily="2" charset="2"/>
              </a:rPr>
              <a:t> </a:t>
            </a:r>
          </a:p>
          <a:p>
            <a:pPr marL="514350" indent="-514350">
              <a:buNone/>
            </a:pPr>
            <a:r>
              <a:rPr lang="en-US" dirty="0" smtClean="0">
                <a:sym typeface="Wingdings" pitchFamily="2" charset="2"/>
              </a:rPr>
              <a:t>	NO</a:t>
            </a:r>
            <a:r>
              <a:rPr lang="en-US" baseline="-25000" dirty="0" smtClean="0">
                <a:sym typeface="Wingdings" pitchFamily="2" charset="2"/>
              </a:rPr>
              <a:t>2</a:t>
            </a:r>
            <a:r>
              <a:rPr lang="en-US" dirty="0" smtClean="0">
                <a:sym typeface="Wingdings" pitchFamily="2" charset="2"/>
              </a:rPr>
              <a:t> </a:t>
            </a:r>
            <a:r>
              <a:rPr lang="zh-CN" altLang="en-US" dirty="0" smtClean="0">
                <a:sym typeface="Wingdings" pitchFamily="2" charset="2"/>
              </a:rPr>
              <a:t>是氧化剂亦是还原剂</a:t>
            </a:r>
            <a:endParaRPr lang="en-US" dirty="0"/>
          </a:p>
        </p:txBody>
      </p:sp>
      <p:sp>
        <p:nvSpPr>
          <p:cNvPr id="5" name="TextBox 4"/>
          <p:cNvSpPr txBox="1"/>
          <p:nvPr/>
        </p:nvSpPr>
        <p:spPr>
          <a:xfrm>
            <a:off x="1066800" y="2590800"/>
            <a:ext cx="598241" cy="584775"/>
          </a:xfrm>
          <a:prstGeom prst="rect">
            <a:avLst/>
          </a:prstGeom>
          <a:noFill/>
        </p:spPr>
        <p:txBody>
          <a:bodyPr wrap="none" rtlCol="0">
            <a:spAutoFit/>
          </a:bodyPr>
          <a:lstStyle/>
          <a:p>
            <a:r>
              <a:rPr lang="en-US" altLang="zh-CN" sz="3200" dirty="0" smtClean="0">
                <a:solidFill>
                  <a:srgbClr val="002060"/>
                </a:solidFill>
              </a:rPr>
              <a:t>+4</a:t>
            </a:r>
            <a:endParaRPr lang="en-US" sz="3200" dirty="0">
              <a:solidFill>
                <a:srgbClr val="002060"/>
              </a:solidFill>
            </a:endParaRPr>
          </a:p>
        </p:txBody>
      </p:sp>
      <p:sp>
        <p:nvSpPr>
          <p:cNvPr id="6" name="TextBox 5"/>
          <p:cNvSpPr txBox="1"/>
          <p:nvPr/>
        </p:nvSpPr>
        <p:spPr>
          <a:xfrm>
            <a:off x="3733800" y="2590800"/>
            <a:ext cx="598241" cy="584775"/>
          </a:xfrm>
          <a:prstGeom prst="rect">
            <a:avLst/>
          </a:prstGeom>
          <a:noFill/>
        </p:spPr>
        <p:txBody>
          <a:bodyPr wrap="none" rtlCol="0">
            <a:spAutoFit/>
          </a:bodyPr>
          <a:lstStyle/>
          <a:p>
            <a:r>
              <a:rPr lang="en-US" altLang="zh-CN" sz="3200" dirty="0" smtClean="0">
                <a:solidFill>
                  <a:srgbClr val="002060"/>
                </a:solidFill>
              </a:rPr>
              <a:t>+5</a:t>
            </a:r>
            <a:endParaRPr lang="en-US" sz="3200" dirty="0">
              <a:solidFill>
                <a:srgbClr val="002060"/>
              </a:solidFill>
            </a:endParaRPr>
          </a:p>
        </p:txBody>
      </p:sp>
      <p:sp>
        <p:nvSpPr>
          <p:cNvPr id="7" name="TextBox 6"/>
          <p:cNvSpPr txBox="1"/>
          <p:nvPr/>
        </p:nvSpPr>
        <p:spPr>
          <a:xfrm>
            <a:off x="5105400" y="2539425"/>
            <a:ext cx="598241" cy="584775"/>
          </a:xfrm>
          <a:prstGeom prst="rect">
            <a:avLst/>
          </a:prstGeom>
          <a:noFill/>
        </p:spPr>
        <p:txBody>
          <a:bodyPr wrap="none" rtlCol="0">
            <a:spAutoFit/>
          </a:bodyPr>
          <a:lstStyle/>
          <a:p>
            <a:r>
              <a:rPr lang="en-US" altLang="zh-CN" sz="3200" dirty="0" smtClean="0">
                <a:solidFill>
                  <a:srgbClr val="002060"/>
                </a:solidFill>
              </a:rPr>
              <a:t>+3</a:t>
            </a:r>
            <a:endParaRPr lang="en-US" sz="3200" dirty="0">
              <a:solidFill>
                <a:srgbClr val="002060"/>
              </a:solidFill>
            </a:endParaRPr>
          </a:p>
        </p:txBody>
      </p:sp>
      <p:sp>
        <p:nvSpPr>
          <p:cNvPr id="8" name="Rounded Rectangle 7"/>
          <p:cNvSpPr/>
          <p:nvPr/>
        </p:nvSpPr>
        <p:spPr>
          <a:xfrm>
            <a:off x="3733800" y="3048000"/>
            <a:ext cx="23622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xit" presetSubtype="10" fill="hold" grpId="0" nodeType="clickEffect">
                                  <p:stCondLst>
                                    <p:cond delay="0"/>
                                  </p:stCondLst>
                                  <p:childTnLst>
                                    <p:animEffect transition="out" filter="blinds(horizontal)">
                                      <p:cBhvr>
                                        <p:cTn id="21" dur="500"/>
                                        <p:tgtEl>
                                          <p:spTgt spid="8"/>
                                        </p:tgtEl>
                                      </p:cBhvr>
                                    </p:animEffect>
                                    <p:set>
                                      <p:cBhvr>
                                        <p:cTn id="22" dur="1" fill="hold">
                                          <p:stCondLst>
                                            <p:cond delay="499"/>
                                          </p:stCondLst>
                                        </p:cTn>
                                        <p:tgtEl>
                                          <p:spTgt spid="8"/>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blinds(horizontal)">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blinds(horizontal)">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blinds(horizontal)">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blinds(horizontal)">
                                      <p:cBhvr>
                                        <p:cTn id="4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P spid="6" grpId="0"/>
      <p:bldP spid="7" grpId="0"/>
      <p:bldP spid="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en-US" altLang="zh-CN" dirty="0" smtClean="0"/>
              <a:t>13.3 </a:t>
            </a:r>
            <a:r>
              <a:rPr lang="zh-CN" altLang="en-US" dirty="0" smtClean="0"/>
              <a:t>硝酸</a:t>
            </a:r>
            <a:endParaRPr lang="en-US" dirty="0"/>
          </a:p>
        </p:txBody>
      </p:sp>
      <p:sp>
        <p:nvSpPr>
          <p:cNvPr id="3" name="Content Placeholder 2"/>
          <p:cNvSpPr>
            <a:spLocks noGrp="1"/>
          </p:cNvSpPr>
          <p:nvPr>
            <p:ph idx="1"/>
          </p:nvPr>
        </p:nvSpPr>
        <p:spPr>
          <a:xfrm>
            <a:off x="457200" y="1219200"/>
            <a:ext cx="8229600" cy="5486400"/>
          </a:xfrm>
        </p:spPr>
        <p:txBody>
          <a:bodyPr/>
          <a:lstStyle/>
          <a:p>
            <a:pPr>
              <a:buNone/>
            </a:pPr>
            <a:r>
              <a:rPr lang="zh-CN" altLang="en-US" dirty="0" smtClean="0"/>
              <a:t>感知生活</a:t>
            </a:r>
            <a:endParaRPr lang="en-US" altLang="zh-CN" dirty="0" smtClean="0"/>
          </a:p>
          <a:p>
            <a:pPr>
              <a:buNone/>
            </a:pPr>
            <a:r>
              <a:rPr lang="zh-CN" altLang="en-US" dirty="0" smtClean="0"/>
              <a:t>常温下，铝和浓硝酸会发生钝化作用。</a:t>
            </a:r>
            <a:endParaRPr lang="en-US" altLang="zh-CN" dirty="0" smtClean="0"/>
          </a:p>
          <a:p>
            <a:pPr>
              <a:buNone/>
            </a:pPr>
            <a:endParaRPr lang="en-US" dirty="0" smtClean="0"/>
          </a:p>
          <a:p>
            <a:pPr>
              <a:buNone/>
            </a:pPr>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en-US" altLang="zh-CN" dirty="0" smtClean="0"/>
              <a:t>13.3.1 </a:t>
            </a:r>
            <a:r>
              <a:rPr lang="zh-CN" altLang="en-US" dirty="0" smtClean="0"/>
              <a:t>硝酸的性质</a:t>
            </a:r>
            <a:endParaRPr lang="en-US" dirty="0"/>
          </a:p>
        </p:txBody>
      </p:sp>
      <p:sp>
        <p:nvSpPr>
          <p:cNvPr id="3" name="Content Placeholder 2"/>
          <p:cNvSpPr>
            <a:spLocks noGrp="1"/>
          </p:cNvSpPr>
          <p:nvPr>
            <p:ph idx="1"/>
          </p:nvPr>
        </p:nvSpPr>
        <p:spPr>
          <a:xfrm>
            <a:off x="457200" y="1219200"/>
            <a:ext cx="8686800" cy="5486400"/>
          </a:xfrm>
        </p:spPr>
        <p:txBody>
          <a:bodyPr>
            <a:normAutofit/>
          </a:bodyPr>
          <a:lstStyle/>
          <a:p>
            <a:pPr>
              <a:buFont typeface="Wingdings" pitchFamily="2" charset="2"/>
              <a:buChar char="Ø"/>
            </a:pPr>
            <a:r>
              <a:rPr lang="zh-CN" altLang="en-US" sz="3000" dirty="0" smtClean="0"/>
              <a:t>无色、易挥发</a:t>
            </a:r>
            <a:endParaRPr lang="en-US" altLang="zh-CN" sz="3000" dirty="0" smtClean="0"/>
          </a:p>
          <a:p>
            <a:pPr>
              <a:buFont typeface="Wingdings" pitchFamily="2" charset="2"/>
              <a:buChar char="Ø"/>
            </a:pPr>
            <a:r>
              <a:rPr lang="zh-CN" altLang="en-US" sz="3000" dirty="0" smtClean="0"/>
              <a:t>有刺激性气味的液态</a:t>
            </a:r>
            <a:endParaRPr lang="en-US" altLang="zh-CN" sz="3000" dirty="0" smtClean="0"/>
          </a:p>
          <a:p>
            <a:pPr>
              <a:buFont typeface="Wingdings" pitchFamily="2" charset="2"/>
              <a:buChar char="Ø"/>
            </a:pPr>
            <a:endParaRPr lang="en-US" altLang="zh-CN" sz="3000" dirty="0" smtClean="0"/>
          </a:p>
          <a:p>
            <a:pPr>
              <a:buNone/>
            </a:pPr>
            <a:r>
              <a:rPr lang="zh-CN" altLang="en-US" sz="3000" dirty="0" smtClean="0"/>
              <a:t>活动</a:t>
            </a:r>
            <a:r>
              <a:rPr lang="en-US" altLang="zh-CN" sz="3000" dirty="0" smtClean="0"/>
              <a:t>1</a:t>
            </a:r>
          </a:p>
          <a:p>
            <a:pPr>
              <a:buNone/>
            </a:pPr>
            <a:r>
              <a:rPr lang="en-US" altLang="zh-CN" sz="3000" dirty="0" smtClean="0"/>
              <a:t>1. </a:t>
            </a:r>
            <a:r>
              <a:rPr lang="zh-CN" altLang="en-US" sz="3000" dirty="0" smtClean="0"/>
              <a:t>浓硝酸见光会分解，应该用棕色试剂瓶盛放。</a:t>
            </a:r>
            <a:endParaRPr lang="en-US" altLang="zh-CN" sz="3000" dirty="0" smtClean="0"/>
          </a:p>
          <a:p>
            <a:pPr>
              <a:buNone/>
            </a:pPr>
            <a:r>
              <a:rPr lang="en-US" sz="3000" dirty="0" smtClean="0"/>
              <a:t>		</a:t>
            </a:r>
            <a:r>
              <a:rPr lang="en-US" altLang="zh-CN" sz="3000" dirty="0" smtClean="0"/>
              <a:t>4HNO</a:t>
            </a:r>
            <a:r>
              <a:rPr lang="en-US" altLang="zh-CN" sz="3000" baseline="-25000" dirty="0" smtClean="0"/>
              <a:t>3</a:t>
            </a:r>
            <a:r>
              <a:rPr lang="en-US" altLang="zh-CN" sz="3000" dirty="0" smtClean="0"/>
              <a:t>  	</a:t>
            </a:r>
            <a:r>
              <a:rPr lang="en-US" altLang="zh-CN" sz="3000" dirty="0" smtClean="0">
                <a:sym typeface="Wingdings" pitchFamily="2" charset="2"/>
              </a:rPr>
              <a:t>      2 H</a:t>
            </a:r>
            <a:r>
              <a:rPr lang="en-US" altLang="zh-CN" sz="3000" baseline="-25000" dirty="0" smtClean="0">
                <a:sym typeface="Wingdings" pitchFamily="2" charset="2"/>
              </a:rPr>
              <a:t>2</a:t>
            </a:r>
            <a:r>
              <a:rPr lang="en-US" altLang="zh-CN" sz="3000" dirty="0" smtClean="0">
                <a:sym typeface="Wingdings" pitchFamily="2" charset="2"/>
              </a:rPr>
              <a:t>O + 4 NO</a:t>
            </a:r>
            <a:r>
              <a:rPr lang="en-US" altLang="zh-CN" sz="3000" baseline="-25000" dirty="0" smtClean="0">
                <a:sym typeface="Wingdings" pitchFamily="2" charset="2"/>
              </a:rPr>
              <a:t>2</a:t>
            </a:r>
            <a:r>
              <a:rPr lang="en-US" altLang="zh-CN" sz="3000" dirty="0" smtClean="0">
                <a:sym typeface="Wingdings" pitchFamily="2" charset="2"/>
              </a:rPr>
              <a:t> + O</a:t>
            </a:r>
            <a:r>
              <a:rPr lang="en-US" altLang="zh-CN" sz="3000" baseline="-25000" dirty="0" smtClean="0">
                <a:sym typeface="Wingdings" pitchFamily="2" charset="2"/>
              </a:rPr>
              <a:t>2</a:t>
            </a:r>
            <a:r>
              <a:rPr lang="en-US" altLang="zh-CN" sz="3000" dirty="0" smtClean="0">
                <a:sym typeface="Wingdings" pitchFamily="2" charset="2"/>
              </a:rPr>
              <a:t> </a:t>
            </a:r>
          </a:p>
          <a:p>
            <a:pPr>
              <a:buNone/>
            </a:pPr>
            <a:endParaRPr lang="en-US" altLang="zh-CN" sz="3000" dirty="0" smtClean="0">
              <a:sym typeface="Wingdings" pitchFamily="2" charset="2"/>
            </a:endParaRPr>
          </a:p>
          <a:p>
            <a:pPr>
              <a:buNone/>
            </a:pPr>
            <a:r>
              <a:rPr lang="en-US" altLang="zh-CN" sz="3000" dirty="0" smtClean="0"/>
              <a:t>2. </a:t>
            </a:r>
            <a:r>
              <a:rPr lang="zh-CN" altLang="en-US" sz="3000" dirty="0" smtClean="0"/>
              <a:t>纯硝酸无色，但实验室的浓硝酸常呈黄色，因为硝酸易分解，通常溶有</a:t>
            </a:r>
            <a:r>
              <a:rPr lang="en-US" altLang="zh-CN" sz="3000" dirty="0" smtClean="0"/>
              <a:t>NO</a:t>
            </a:r>
            <a:r>
              <a:rPr lang="en-US" altLang="zh-CN" sz="3000" baseline="-25000" dirty="0" smtClean="0"/>
              <a:t>2</a:t>
            </a:r>
            <a:r>
              <a:rPr lang="zh-CN" altLang="en-US" sz="3000" dirty="0" smtClean="0"/>
              <a:t>。</a:t>
            </a:r>
            <a:endParaRPr lang="en-US" sz="3000" dirty="0"/>
          </a:p>
        </p:txBody>
      </p:sp>
      <p:grpSp>
        <p:nvGrpSpPr>
          <p:cNvPr id="5" name="Group 4"/>
          <p:cNvGrpSpPr/>
          <p:nvPr/>
        </p:nvGrpSpPr>
        <p:grpSpPr>
          <a:xfrm>
            <a:off x="2667000" y="3962400"/>
            <a:ext cx="990600" cy="307777"/>
            <a:chOff x="2819400" y="5867400"/>
            <a:chExt cx="990600" cy="307777"/>
          </a:xfrm>
        </p:grpSpPr>
        <p:cxnSp>
          <p:nvCxnSpPr>
            <p:cNvPr id="6" name="Straight Arrow Connector 5"/>
            <p:cNvCxnSpPr/>
            <p:nvPr/>
          </p:nvCxnSpPr>
          <p:spPr>
            <a:xfrm>
              <a:off x="2819400" y="6172117"/>
              <a:ext cx="990600" cy="83"/>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2971800" y="5867400"/>
              <a:ext cx="543739" cy="307777"/>
            </a:xfrm>
            <a:prstGeom prst="rect">
              <a:avLst/>
            </a:prstGeom>
            <a:noFill/>
          </p:spPr>
          <p:txBody>
            <a:bodyPr wrap="none" rtlCol="0">
              <a:spAutoFit/>
            </a:bodyPr>
            <a:lstStyle/>
            <a:p>
              <a:r>
                <a:rPr lang="zh-CN" altLang="en-US" sz="1400" dirty="0" smtClean="0"/>
                <a:t>光照</a:t>
              </a:r>
              <a:endParaRPr lang="en-US" sz="1400" dirty="0"/>
            </a:p>
          </p:txBody>
        </p:sp>
      </p:grpSp>
      <p:sp>
        <p:nvSpPr>
          <p:cNvPr id="8" name="Rounded Rectangle 7"/>
          <p:cNvSpPr/>
          <p:nvPr/>
        </p:nvSpPr>
        <p:spPr>
          <a:xfrm>
            <a:off x="3733800" y="4038600"/>
            <a:ext cx="32766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blinds(horizontal)">
                                      <p:cBhvr>
                                        <p:cTn id="30" dur="5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xit" presetSubtype="10" fill="hold" grpId="0" nodeType="clickEffect">
                                  <p:stCondLst>
                                    <p:cond delay="0"/>
                                  </p:stCondLst>
                                  <p:childTnLst>
                                    <p:animEffect transition="out" filter="blinds(horizontal)">
                                      <p:cBhvr>
                                        <p:cTn id="34" dur="500"/>
                                        <p:tgtEl>
                                          <p:spTgt spid="8"/>
                                        </p:tgtEl>
                                      </p:cBhvr>
                                    </p:animEffect>
                                    <p:set>
                                      <p:cBhvr>
                                        <p:cTn id="35" dur="1" fill="hold">
                                          <p:stCondLst>
                                            <p:cond delay="499"/>
                                          </p:stCondLst>
                                        </p:cTn>
                                        <p:tgtEl>
                                          <p:spTgt spid="8"/>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blinds(horizontal)">
                                      <p:cBhvr>
                                        <p:cTn id="40"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en-US" altLang="zh-CN" dirty="0" smtClean="0"/>
              <a:t>13.3.1 </a:t>
            </a:r>
            <a:r>
              <a:rPr lang="zh-CN" altLang="en-US" dirty="0" smtClean="0"/>
              <a:t>硝酸的性质</a:t>
            </a:r>
            <a:endParaRPr lang="en-US" dirty="0"/>
          </a:p>
        </p:txBody>
      </p:sp>
      <p:sp>
        <p:nvSpPr>
          <p:cNvPr id="3" name="Content Placeholder 2"/>
          <p:cNvSpPr>
            <a:spLocks noGrp="1"/>
          </p:cNvSpPr>
          <p:nvPr>
            <p:ph idx="1"/>
          </p:nvPr>
        </p:nvSpPr>
        <p:spPr>
          <a:xfrm>
            <a:off x="457200" y="1219200"/>
            <a:ext cx="8686800" cy="5486400"/>
          </a:xfrm>
        </p:spPr>
        <p:txBody>
          <a:bodyPr>
            <a:normAutofit/>
          </a:bodyPr>
          <a:lstStyle/>
          <a:p>
            <a:pPr>
              <a:buNone/>
            </a:pPr>
            <a:r>
              <a:rPr lang="zh-CN" altLang="en-US" sz="3000" dirty="0" smtClean="0"/>
              <a:t>交流分享</a:t>
            </a:r>
            <a:endParaRPr lang="en-US" altLang="zh-CN" sz="3000" dirty="0" smtClean="0"/>
          </a:p>
          <a:p>
            <a:pPr>
              <a:buNone/>
            </a:pPr>
            <a:r>
              <a:rPr lang="en-US" altLang="zh-CN" sz="3000" dirty="0" smtClean="0"/>
              <a:t>1. </a:t>
            </a:r>
            <a:r>
              <a:rPr lang="zh-CN" altLang="en-US" sz="3000" dirty="0" smtClean="0"/>
              <a:t>酸溶于水后都会电离</a:t>
            </a:r>
            <a:r>
              <a:rPr lang="en-US" altLang="zh-CN" sz="3000" dirty="0" smtClean="0"/>
              <a:t>(</a:t>
            </a:r>
            <a:r>
              <a:rPr lang="zh-CN" altLang="en-US" sz="3000" dirty="0" smtClean="0"/>
              <a:t>解离</a:t>
            </a:r>
            <a:r>
              <a:rPr lang="en-US" altLang="zh-CN" sz="3000" dirty="0" smtClean="0"/>
              <a:t>)</a:t>
            </a:r>
            <a:r>
              <a:rPr lang="zh-CN" altLang="en-US" sz="3000" dirty="0" smtClean="0"/>
              <a:t>出</a:t>
            </a:r>
            <a:r>
              <a:rPr lang="en-US" altLang="zh-CN" sz="3000" dirty="0" smtClean="0"/>
              <a:t>H</a:t>
            </a:r>
            <a:r>
              <a:rPr lang="en-US" altLang="zh-CN" sz="3000" baseline="30000" dirty="0" smtClean="0"/>
              <a:t>+</a:t>
            </a:r>
            <a:r>
              <a:rPr lang="en-US" altLang="zh-CN" sz="3000" dirty="0" smtClean="0"/>
              <a:t> </a:t>
            </a:r>
          </a:p>
          <a:p>
            <a:pPr marL="514350" indent="-514350">
              <a:buNone/>
            </a:pPr>
            <a:r>
              <a:rPr lang="en-US" altLang="zh-CN" sz="3000" dirty="0" smtClean="0"/>
              <a:t>	HNO</a:t>
            </a:r>
            <a:r>
              <a:rPr lang="en-US" altLang="zh-CN" sz="3000" baseline="-25000" dirty="0" smtClean="0"/>
              <a:t>3</a:t>
            </a:r>
            <a:r>
              <a:rPr lang="en-US" altLang="zh-CN" sz="3000" dirty="0" smtClean="0"/>
              <a:t> (</a:t>
            </a:r>
            <a:r>
              <a:rPr lang="en-US" altLang="zh-CN" sz="3000" dirty="0" err="1" smtClean="0"/>
              <a:t>aq</a:t>
            </a:r>
            <a:r>
              <a:rPr lang="en-US" altLang="zh-CN" sz="3000" dirty="0" smtClean="0"/>
              <a:t>) </a:t>
            </a:r>
            <a:r>
              <a:rPr lang="en-US" altLang="zh-CN" sz="3000" dirty="0" smtClean="0">
                <a:sym typeface="Wingdings" pitchFamily="2" charset="2"/>
              </a:rPr>
              <a:t> H</a:t>
            </a:r>
            <a:r>
              <a:rPr lang="en-US" altLang="zh-CN" sz="3000" baseline="30000" dirty="0" smtClean="0">
                <a:sym typeface="Wingdings" pitchFamily="2" charset="2"/>
              </a:rPr>
              <a:t>+</a:t>
            </a:r>
            <a:r>
              <a:rPr lang="en-US" altLang="zh-CN" sz="3000" dirty="0" smtClean="0">
                <a:sym typeface="Wingdings" pitchFamily="2" charset="2"/>
              </a:rPr>
              <a:t> (</a:t>
            </a:r>
            <a:r>
              <a:rPr lang="en-US" altLang="zh-CN" sz="3000" dirty="0" err="1" smtClean="0">
                <a:sym typeface="Wingdings" pitchFamily="2" charset="2"/>
              </a:rPr>
              <a:t>aq</a:t>
            </a:r>
            <a:r>
              <a:rPr lang="en-US" altLang="zh-CN" sz="3000" dirty="0" smtClean="0">
                <a:sym typeface="Wingdings" pitchFamily="2" charset="2"/>
              </a:rPr>
              <a:t>) + NO</a:t>
            </a:r>
            <a:r>
              <a:rPr lang="en-US" altLang="zh-CN" sz="3000" baseline="-25000" dirty="0" smtClean="0">
                <a:sym typeface="Wingdings" pitchFamily="2" charset="2"/>
              </a:rPr>
              <a:t>3</a:t>
            </a:r>
            <a:r>
              <a:rPr lang="en-US" altLang="zh-CN" sz="3000" baseline="30000" dirty="0" smtClean="0">
                <a:sym typeface="Wingdings" pitchFamily="2" charset="2"/>
              </a:rPr>
              <a:t>-</a:t>
            </a:r>
            <a:r>
              <a:rPr lang="en-US" altLang="zh-CN" sz="3000" dirty="0" smtClean="0">
                <a:sym typeface="Wingdings" pitchFamily="2" charset="2"/>
              </a:rPr>
              <a:t> (</a:t>
            </a:r>
            <a:r>
              <a:rPr lang="en-US" altLang="zh-CN" sz="3000" dirty="0" err="1" smtClean="0">
                <a:sym typeface="Wingdings" pitchFamily="2" charset="2"/>
              </a:rPr>
              <a:t>aq</a:t>
            </a:r>
            <a:r>
              <a:rPr lang="en-US" altLang="zh-CN" sz="3000" dirty="0" smtClean="0">
                <a:sym typeface="Wingdings" pitchFamily="2" charset="2"/>
              </a:rPr>
              <a:t>)</a:t>
            </a:r>
          </a:p>
          <a:p>
            <a:pPr marL="514350" indent="-514350">
              <a:buNone/>
            </a:pPr>
            <a:r>
              <a:rPr lang="en-US" altLang="zh-CN" sz="3000" dirty="0" smtClean="0"/>
              <a:t>	</a:t>
            </a:r>
            <a:r>
              <a:rPr lang="en-US" altLang="zh-CN" sz="3000" dirty="0" err="1" smtClean="0"/>
              <a:t>HCl</a:t>
            </a:r>
            <a:r>
              <a:rPr lang="en-US" altLang="zh-CN" sz="3000" dirty="0" smtClean="0"/>
              <a:t> (</a:t>
            </a:r>
            <a:r>
              <a:rPr lang="en-US" altLang="zh-CN" sz="3000" dirty="0" err="1" smtClean="0"/>
              <a:t>aq</a:t>
            </a:r>
            <a:r>
              <a:rPr lang="en-US" altLang="zh-CN" sz="3000" dirty="0" smtClean="0"/>
              <a:t>) </a:t>
            </a:r>
            <a:r>
              <a:rPr lang="en-US" altLang="zh-CN" sz="3000" dirty="0" smtClean="0">
                <a:sym typeface="Wingdings" pitchFamily="2" charset="2"/>
              </a:rPr>
              <a:t> H</a:t>
            </a:r>
            <a:r>
              <a:rPr lang="en-US" altLang="zh-CN" sz="3000" baseline="30000" dirty="0" smtClean="0">
                <a:sym typeface="Wingdings" pitchFamily="2" charset="2"/>
              </a:rPr>
              <a:t>+</a:t>
            </a:r>
            <a:r>
              <a:rPr lang="en-US" altLang="zh-CN" sz="3000" dirty="0" smtClean="0">
                <a:sym typeface="Wingdings" pitchFamily="2" charset="2"/>
              </a:rPr>
              <a:t> (</a:t>
            </a:r>
            <a:r>
              <a:rPr lang="en-US" altLang="zh-CN" sz="3000" dirty="0" err="1" smtClean="0">
                <a:sym typeface="Wingdings" pitchFamily="2" charset="2"/>
              </a:rPr>
              <a:t>aq</a:t>
            </a:r>
            <a:r>
              <a:rPr lang="en-US" altLang="zh-CN" sz="3000" dirty="0" smtClean="0">
                <a:sym typeface="Wingdings" pitchFamily="2" charset="2"/>
              </a:rPr>
              <a:t>) + </a:t>
            </a:r>
            <a:r>
              <a:rPr lang="en-US" altLang="zh-CN" sz="3000" dirty="0" err="1" smtClean="0">
                <a:sym typeface="Wingdings" pitchFamily="2" charset="2"/>
              </a:rPr>
              <a:t>Cl</a:t>
            </a:r>
            <a:r>
              <a:rPr lang="en-US" altLang="zh-CN" sz="3000" baseline="30000" dirty="0" smtClean="0">
                <a:sym typeface="Wingdings" pitchFamily="2" charset="2"/>
              </a:rPr>
              <a:t>-</a:t>
            </a:r>
            <a:r>
              <a:rPr lang="en-US" altLang="zh-CN" sz="3000" dirty="0" smtClean="0">
                <a:sym typeface="Wingdings" pitchFamily="2" charset="2"/>
              </a:rPr>
              <a:t> (</a:t>
            </a:r>
            <a:r>
              <a:rPr lang="en-US" altLang="zh-CN" sz="3000" dirty="0" err="1" smtClean="0">
                <a:sym typeface="Wingdings" pitchFamily="2" charset="2"/>
              </a:rPr>
              <a:t>aq</a:t>
            </a:r>
            <a:r>
              <a:rPr lang="en-US" altLang="zh-CN" sz="3000" dirty="0" smtClean="0">
                <a:sym typeface="Wingdings" pitchFamily="2" charset="2"/>
              </a:rPr>
              <a:t>)</a:t>
            </a:r>
          </a:p>
          <a:p>
            <a:pPr marL="514350" indent="-514350">
              <a:buNone/>
            </a:pPr>
            <a:endParaRPr lang="en-US" altLang="zh-CN" sz="3000" dirty="0" smtClean="0"/>
          </a:p>
          <a:p>
            <a:pPr>
              <a:buNone/>
            </a:pPr>
            <a:r>
              <a:rPr lang="en-US" altLang="zh-CN" sz="3000" dirty="0" smtClean="0"/>
              <a:t>2. </a:t>
            </a:r>
            <a:r>
              <a:rPr lang="zh-CN" altLang="en-US" sz="3000" dirty="0" smtClean="0"/>
              <a:t>硝酸与金属反应不置换出</a:t>
            </a:r>
            <a:r>
              <a:rPr lang="en-US" altLang="zh-CN" sz="3000" dirty="0" smtClean="0"/>
              <a:t>H</a:t>
            </a:r>
            <a:r>
              <a:rPr lang="en-US" altLang="zh-CN" sz="3000" baseline="-25000" dirty="0" smtClean="0"/>
              <a:t>2</a:t>
            </a:r>
            <a:r>
              <a:rPr lang="en-US" altLang="zh-CN" sz="3000" dirty="0" smtClean="0"/>
              <a:t> </a:t>
            </a:r>
            <a:r>
              <a:rPr lang="zh-CN" altLang="en-US" sz="3000" dirty="0" smtClean="0"/>
              <a:t>，而是被还原为氮氧化合物。</a:t>
            </a:r>
            <a:endParaRPr lang="en-US" altLang="zh-CN" sz="3000" dirty="0" smtClean="0"/>
          </a:p>
          <a:p>
            <a:pPr>
              <a:buNone/>
            </a:pPr>
            <a:r>
              <a:rPr lang="en-US" altLang="zh-CN" sz="3000" dirty="0" smtClean="0"/>
              <a:t>	</a:t>
            </a:r>
            <a:r>
              <a:rPr lang="zh-CN" altLang="en-US" sz="3000" dirty="0" smtClean="0"/>
              <a:t>硝酸的氧化性表现在</a:t>
            </a:r>
            <a:r>
              <a:rPr lang="en-US" altLang="zh-CN" sz="3000" dirty="0" smtClean="0"/>
              <a:t>N</a:t>
            </a:r>
            <a:r>
              <a:rPr lang="zh-CN" altLang="en-US" sz="3000" dirty="0" smtClean="0"/>
              <a:t>元素，反应后</a:t>
            </a:r>
            <a:r>
              <a:rPr lang="en-US" altLang="zh-CN" sz="3000" dirty="0" smtClean="0"/>
              <a:t>N</a:t>
            </a:r>
            <a:r>
              <a:rPr lang="en-US" altLang="zh-CN" sz="3000" baseline="30000" dirty="0" smtClean="0"/>
              <a:t>5+</a:t>
            </a:r>
            <a:r>
              <a:rPr lang="en-US" altLang="zh-CN" sz="3000" dirty="0" smtClean="0"/>
              <a:t> </a:t>
            </a:r>
            <a:r>
              <a:rPr lang="zh-CN" altLang="en-US" sz="3000" dirty="0" smtClean="0"/>
              <a:t>被还原。</a:t>
            </a:r>
            <a:endParaRPr lang="en-US" altLang="zh-CN" sz="3000" dirty="0" smtClean="0"/>
          </a:p>
          <a:p>
            <a:pPr>
              <a:buNone/>
            </a:pPr>
            <a:endParaRPr lang="en-US" altLang="zh-CN" sz="3000" dirty="0"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blinds(horizontal)">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en-US" altLang="zh-CN" dirty="0" smtClean="0"/>
              <a:t>13.3.1 </a:t>
            </a:r>
            <a:r>
              <a:rPr lang="zh-CN" altLang="en-US" dirty="0" smtClean="0"/>
              <a:t>硝酸的性质</a:t>
            </a:r>
            <a:endParaRPr lang="en-US" dirty="0"/>
          </a:p>
        </p:txBody>
      </p:sp>
      <p:sp>
        <p:nvSpPr>
          <p:cNvPr id="3" name="Content Placeholder 2"/>
          <p:cNvSpPr>
            <a:spLocks noGrp="1"/>
          </p:cNvSpPr>
          <p:nvPr>
            <p:ph idx="1"/>
          </p:nvPr>
        </p:nvSpPr>
        <p:spPr>
          <a:xfrm>
            <a:off x="457200" y="1219200"/>
            <a:ext cx="8229600" cy="5486400"/>
          </a:xfrm>
        </p:spPr>
        <p:txBody>
          <a:bodyPr/>
          <a:lstStyle/>
          <a:p>
            <a:pPr>
              <a:lnSpc>
                <a:spcPct val="150000"/>
              </a:lnSpc>
              <a:buFont typeface="Wingdings" pitchFamily="2" charset="2"/>
              <a:buChar char="Ø"/>
            </a:pPr>
            <a:r>
              <a:rPr lang="zh-CN" altLang="en-US" dirty="0" smtClean="0"/>
              <a:t>一元强酸</a:t>
            </a:r>
            <a:endParaRPr lang="en-US" altLang="zh-CN" dirty="0" smtClean="0"/>
          </a:p>
          <a:p>
            <a:pPr>
              <a:buFont typeface="Wingdings" pitchFamily="2" charset="2"/>
              <a:buChar char="Ø"/>
            </a:pPr>
            <a:r>
              <a:rPr lang="zh-CN" altLang="en-US" dirty="0" smtClean="0"/>
              <a:t>具有酸的通性</a:t>
            </a:r>
            <a:endParaRPr lang="en-US" altLang="zh-CN" dirty="0" smtClean="0"/>
          </a:p>
          <a:p>
            <a:pPr lvl="1">
              <a:buFont typeface="Wingdings" pitchFamily="2" charset="2"/>
              <a:buChar char="Ø"/>
            </a:pPr>
            <a:r>
              <a:rPr lang="zh-CN" altLang="en-US" dirty="0" smtClean="0"/>
              <a:t>使蓝色石蕊试纸变红</a:t>
            </a:r>
            <a:endParaRPr lang="en-US" altLang="zh-CN" dirty="0" smtClean="0"/>
          </a:p>
          <a:p>
            <a:pPr lvl="1">
              <a:buFont typeface="Wingdings" pitchFamily="2" charset="2"/>
              <a:buChar char="Ø"/>
            </a:pPr>
            <a:r>
              <a:rPr lang="zh-CN" altLang="en-US" dirty="0" smtClean="0"/>
              <a:t>酸碱中和</a:t>
            </a:r>
            <a:r>
              <a:rPr lang="en-US" altLang="zh-CN" dirty="0" smtClean="0">
                <a:sym typeface="Wingdings" pitchFamily="2" charset="2"/>
              </a:rPr>
              <a:t> </a:t>
            </a:r>
            <a:r>
              <a:rPr lang="zh-CN" altLang="en-US" dirty="0" smtClean="0"/>
              <a:t>盐 </a:t>
            </a:r>
            <a:r>
              <a:rPr lang="en-US" altLang="zh-CN" dirty="0" smtClean="0"/>
              <a:t>+ </a:t>
            </a:r>
            <a:r>
              <a:rPr lang="zh-CN" altLang="en-US" dirty="0" smtClean="0"/>
              <a:t>水</a:t>
            </a:r>
            <a:endParaRPr lang="en-US" altLang="zh-CN" dirty="0" smtClean="0"/>
          </a:p>
          <a:p>
            <a:pPr lvl="1">
              <a:buFont typeface="Wingdings" pitchFamily="2" charset="2"/>
              <a:buChar char="Ø"/>
            </a:pPr>
            <a:r>
              <a:rPr lang="zh-CN" altLang="en-US" dirty="0" smtClean="0"/>
              <a:t>碳酸盐 </a:t>
            </a:r>
            <a:r>
              <a:rPr lang="en-US" altLang="zh-CN" dirty="0" smtClean="0"/>
              <a:t>+ </a:t>
            </a:r>
            <a:r>
              <a:rPr lang="zh-CN" altLang="en-US" dirty="0" smtClean="0"/>
              <a:t>酸</a:t>
            </a:r>
            <a:r>
              <a:rPr lang="en-US" altLang="zh-CN" dirty="0" smtClean="0">
                <a:sym typeface="Wingdings" pitchFamily="2" charset="2"/>
              </a:rPr>
              <a:t> </a:t>
            </a:r>
            <a:r>
              <a:rPr lang="zh-CN" altLang="en-US" dirty="0" smtClean="0">
                <a:sym typeface="Wingdings" pitchFamily="2" charset="2"/>
              </a:rPr>
              <a:t>盐 </a:t>
            </a:r>
            <a:r>
              <a:rPr lang="en-US" altLang="zh-CN" dirty="0" smtClean="0">
                <a:sym typeface="Wingdings" pitchFamily="2" charset="2"/>
              </a:rPr>
              <a:t>+ </a:t>
            </a:r>
            <a:r>
              <a:rPr lang="zh-CN" altLang="en-US" dirty="0" smtClean="0">
                <a:sym typeface="Wingdings" pitchFamily="2" charset="2"/>
              </a:rPr>
              <a:t>水 </a:t>
            </a:r>
            <a:r>
              <a:rPr lang="en-US" altLang="zh-CN" dirty="0" smtClean="0">
                <a:sym typeface="Wingdings" pitchFamily="2" charset="2"/>
              </a:rPr>
              <a:t>+ CO</a:t>
            </a:r>
            <a:r>
              <a:rPr lang="en-US" altLang="zh-CN" baseline="-25000" dirty="0" smtClean="0">
                <a:sym typeface="Wingdings" pitchFamily="2" charset="2"/>
              </a:rPr>
              <a:t>2</a:t>
            </a:r>
            <a:endParaRPr lang="en-US" altLang="zh-CN" dirty="0" smtClean="0"/>
          </a:p>
          <a:p>
            <a:pPr>
              <a:buFont typeface="Wingdings" pitchFamily="2" charset="2"/>
              <a:buChar char="Ø"/>
            </a:pPr>
            <a:r>
              <a:rPr lang="zh-CN" altLang="en-US" dirty="0" smtClean="0"/>
              <a:t>王水：浓硝酸与浓盐酸体积比</a:t>
            </a:r>
            <a:r>
              <a:rPr lang="en-US" altLang="zh-CN" dirty="0" smtClean="0"/>
              <a:t>=1:3</a:t>
            </a:r>
          </a:p>
          <a:p>
            <a:pPr lvl="1">
              <a:buFont typeface="Wingdings" pitchFamily="2" charset="2"/>
              <a:buChar char="Ø"/>
            </a:pPr>
            <a:r>
              <a:rPr lang="zh-CN" altLang="en-US" dirty="0" smtClean="0"/>
              <a:t>氧化性比硝酸强，能溶解金、铂。</a:t>
            </a:r>
            <a:endParaRPr lang="en-US" altLang="zh-CN" dirty="0" smtClean="0"/>
          </a:p>
          <a:p>
            <a:pPr>
              <a:lnSpc>
                <a:spcPct val="150000"/>
              </a:lnSpc>
              <a:buNone/>
            </a:pPr>
            <a:endParaRPr lang="en-US" altLang="zh-CN" dirty="0" smtClean="0"/>
          </a:p>
          <a:p>
            <a:pPr lvl="1">
              <a:lnSpc>
                <a:spcPct val="150000"/>
              </a:lnSpc>
              <a:buNone/>
            </a:pPr>
            <a:endParaRPr lang="en-US" altLang="zh-CN" baseline="-25000" dirty="0" smtClean="0">
              <a:sym typeface="Wingdings" pitchFamily="2" charset="2"/>
            </a:endParaRPr>
          </a:p>
          <a:p>
            <a:pPr lvl="1">
              <a:lnSpc>
                <a:spcPct val="150000"/>
              </a:lnSpc>
              <a:buNone/>
            </a:pPr>
            <a:endParaRPr lang="en-US" altLang="zh-CN" dirty="0" smtClean="0"/>
          </a:p>
          <a:p>
            <a:pPr lvl="1">
              <a:lnSpc>
                <a:spcPct val="150000"/>
              </a:lnSpc>
              <a:buFont typeface="Wingdings" pitchFamily="2" charset="2"/>
              <a:buChar char="Ø"/>
            </a:pPr>
            <a:endParaRPr lang="en-US" dirty="0"/>
          </a:p>
        </p:txBody>
      </p:sp>
      <p:sp>
        <p:nvSpPr>
          <p:cNvPr id="5" name="Rounded Rectangle 4"/>
          <p:cNvSpPr/>
          <p:nvPr/>
        </p:nvSpPr>
        <p:spPr>
          <a:xfrm>
            <a:off x="3124200" y="3200400"/>
            <a:ext cx="21336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
        <p:nvSpPr>
          <p:cNvPr id="6" name="Rounded Rectangle 5"/>
          <p:cNvSpPr/>
          <p:nvPr/>
        </p:nvSpPr>
        <p:spPr>
          <a:xfrm>
            <a:off x="3505200" y="3657600"/>
            <a:ext cx="21336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xit" presetSubtype="10" fill="hold" grpId="0" nodeType="clickEffect">
                                  <p:stCondLst>
                                    <p:cond delay="0"/>
                                  </p:stCondLst>
                                  <p:childTnLst>
                                    <p:animEffect transition="out" filter="blinds(horizontal)">
                                      <p:cBhvr>
                                        <p:cTn id="26" dur="500"/>
                                        <p:tgtEl>
                                          <p:spTgt spid="5"/>
                                        </p:tgtEl>
                                      </p:cBhvr>
                                    </p:animEffect>
                                    <p:set>
                                      <p:cBhvr>
                                        <p:cTn id="27" dur="1" fill="hold">
                                          <p:stCondLst>
                                            <p:cond delay="499"/>
                                          </p:stCondLst>
                                        </p:cTn>
                                        <p:tgtEl>
                                          <p:spTgt spid="5"/>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blinds(horizontal)">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xit" presetSubtype="10" fill="hold" grpId="0" nodeType="clickEffect">
                                  <p:stCondLst>
                                    <p:cond delay="0"/>
                                  </p:stCondLst>
                                  <p:childTnLst>
                                    <p:animEffect transition="out" filter="blinds(horizontal)">
                                      <p:cBhvr>
                                        <p:cTn id="36" dur="500"/>
                                        <p:tgtEl>
                                          <p:spTgt spid="6"/>
                                        </p:tgtEl>
                                      </p:cBhvr>
                                    </p:animEffect>
                                    <p:set>
                                      <p:cBhvr>
                                        <p:cTn id="37" dur="1" fill="hold">
                                          <p:stCondLst>
                                            <p:cond delay="499"/>
                                          </p:stCondLst>
                                        </p:cTn>
                                        <p:tgtEl>
                                          <p:spTgt spid="6"/>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blinds(horizontal)">
                                      <p:cBhvr>
                                        <p:cTn id="42" dur="500"/>
                                        <p:tgtEl>
                                          <p:spTgt spid="3">
                                            <p:txEl>
                                              <p:pRg st="5" end="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animEffect transition="in" filter="blinds(horizontal)">
                                      <p:cBhvr>
                                        <p:cTn id="4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en-US" altLang="zh-CN" dirty="0" smtClean="0"/>
              <a:t>13.3.1 </a:t>
            </a:r>
            <a:r>
              <a:rPr lang="zh-CN" altLang="en-US" dirty="0" smtClean="0"/>
              <a:t>硝酸的性质</a:t>
            </a:r>
            <a:endParaRPr lang="en-US" dirty="0"/>
          </a:p>
        </p:txBody>
      </p:sp>
      <p:sp>
        <p:nvSpPr>
          <p:cNvPr id="3" name="Content Placeholder 2"/>
          <p:cNvSpPr>
            <a:spLocks noGrp="1"/>
          </p:cNvSpPr>
          <p:nvPr>
            <p:ph idx="1"/>
          </p:nvPr>
        </p:nvSpPr>
        <p:spPr>
          <a:xfrm>
            <a:off x="304800" y="1066800"/>
            <a:ext cx="8458200" cy="5791200"/>
          </a:xfrm>
        </p:spPr>
        <p:txBody>
          <a:bodyPr>
            <a:normAutofit/>
          </a:bodyPr>
          <a:lstStyle/>
          <a:p>
            <a:pPr>
              <a:buFont typeface="Wingdings" pitchFamily="2" charset="2"/>
              <a:buChar char="Ø"/>
            </a:pPr>
            <a:r>
              <a:rPr lang="zh-CN" altLang="en-US" sz="3000" dirty="0" smtClean="0"/>
              <a:t>强氧化性</a:t>
            </a:r>
            <a:endParaRPr lang="en-US" altLang="zh-CN" sz="3000" dirty="0" smtClean="0"/>
          </a:p>
          <a:p>
            <a:pPr>
              <a:buNone/>
            </a:pPr>
            <a:r>
              <a:rPr lang="en-US" altLang="zh-CN" sz="3000" dirty="0" smtClean="0"/>
              <a:t>3Cu + </a:t>
            </a:r>
            <a:r>
              <a:rPr lang="en-US" altLang="zh-CN" sz="3000" dirty="0" smtClean="0">
                <a:sym typeface="Wingdings" pitchFamily="2" charset="2"/>
              </a:rPr>
              <a:t>+ 8HNO</a:t>
            </a:r>
            <a:r>
              <a:rPr lang="en-US" altLang="zh-CN" sz="3000" baseline="-25000" dirty="0" smtClean="0">
                <a:sym typeface="Wingdings" pitchFamily="2" charset="2"/>
              </a:rPr>
              <a:t>3</a:t>
            </a:r>
            <a:r>
              <a:rPr lang="en-US" altLang="zh-CN" sz="3000" dirty="0" smtClean="0">
                <a:sym typeface="Wingdings" pitchFamily="2" charset="2"/>
              </a:rPr>
              <a:t>(</a:t>
            </a:r>
            <a:r>
              <a:rPr lang="zh-CN" altLang="en-US" sz="3000" dirty="0" smtClean="0">
                <a:sym typeface="Wingdings" pitchFamily="2" charset="2"/>
              </a:rPr>
              <a:t>稀</a:t>
            </a:r>
            <a:r>
              <a:rPr lang="en-US" altLang="zh-CN" sz="3000" dirty="0" smtClean="0">
                <a:sym typeface="Wingdings" pitchFamily="2" charset="2"/>
              </a:rPr>
              <a:t>) 	     3Cu(NO</a:t>
            </a:r>
            <a:r>
              <a:rPr lang="en-US" altLang="zh-CN" sz="3000" baseline="-25000" dirty="0" smtClean="0">
                <a:sym typeface="Wingdings" pitchFamily="2" charset="2"/>
              </a:rPr>
              <a:t>3</a:t>
            </a:r>
            <a:r>
              <a:rPr lang="en-US" altLang="zh-CN" sz="3000" dirty="0" smtClean="0">
                <a:sym typeface="Wingdings" pitchFamily="2" charset="2"/>
              </a:rPr>
              <a:t>)</a:t>
            </a:r>
            <a:r>
              <a:rPr lang="en-US" altLang="zh-CN" sz="3000" baseline="-25000" dirty="0" smtClean="0">
                <a:sym typeface="Wingdings" pitchFamily="2" charset="2"/>
              </a:rPr>
              <a:t>2</a:t>
            </a:r>
            <a:r>
              <a:rPr lang="en-US" altLang="zh-CN" sz="3000" dirty="0" smtClean="0">
                <a:sym typeface="Wingdings" pitchFamily="2" charset="2"/>
              </a:rPr>
              <a:t> + 4H</a:t>
            </a:r>
            <a:r>
              <a:rPr lang="en-US" altLang="zh-CN" sz="3000" baseline="-25000" dirty="0" smtClean="0">
                <a:sym typeface="Wingdings" pitchFamily="2" charset="2"/>
              </a:rPr>
              <a:t>2</a:t>
            </a:r>
            <a:r>
              <a:rPr lang="en-US" altLang="zh-CN" sz="3000" dirty="0" smtClean="0">
                <a:sym typeface="Wingdings" pitchFamily="2" charset="2"/>
              </a:rPr>
              <a:t>O + 2NO </a:t>
            </a:r>
            <a:endParaRPr lang="en-US" altLang="zh-CN" sz="3000" baseline="-25000" dirty="0" smtClean="0"/>
          </a:p>
          <a:p>
            <a:pPr>
              <a:buNone/>
            </a:pPr>
            <a:r>
              <a:rPr lang="en-US" altLang="zh-CN" sz="3000" dirty="0" smtClean="0">
                <a:sym typeface="Wingdings" pitchFamily="2" charset="2"/>
              </a:rPr>
              <a:t>Cu + 4HNO</a:t>
            </a:r>
            <a:r>
              <a:rPr lang="en-US" altLang="zh-CN" sz="3000" baseline="-25000" dirty="0" smtClean="0">
                <a:sym typeface="Wingdings" pitchFamily="2" charset="2"/>
              </a:rPr>
              <a:t>3</a:t>
            </a:r>
            <a:r>
              <a:rPr lang="en-US" altLang="zh-CN" sz="3000" dirty="0" smtClean="0">
                <a:sym typeface="Wingdings" pitchFamily="2" charset="2"/>
              </a:rPr>
              <a:t>(</a:t>
            </a:r>
            <a:r>
              <a:rPr lang="zh-CN" altLang="en-US" sz="3000" dirty="0" smtClean="0">
                <a:sym typeface="Wingdings" pitchFamily="2" charset="2"/>
              </a:rPr>
              <a:t>浓</a:t>
            </a:r>
            <a:r>
              <a:rPr lang="en-US" altLang="zh-CN" sz="3000" dirty="0" smtClean="0">
                <a:sym typeface="Wingdings" pitchFamily="2" charset="2"/>
              </a:rPr>
              <a:t>)  Cu(NO</a:t>
            </a:r>
            <a:r>
              <a:rPr lang="en-US" altLang="zh-CN" sz="3000" baseline="-25000" dirty="0" smtClean="0">
                <a:sym typeface="Wingdings" pitchFamily="2" charset="2"/>
              </a:rPr>
              <a:t>3</a:t>
            </a:r>
            <a:r>
              <a:rPr lang="en-US" altLang="zh-CN" sz="3000" dirty="0" smtClean="0">
                <a:sym typeface="Wingdings" pitchFamily="2" charset="2"/>
              </a:rPr>
              <a:t>)</a:t>
            </a:r>
            <a:r>
              <a:rPr lang="en-US" altLang="zh-CN" sz="3000" baseline="-25000" dirty="0" smtClean="0">
                <a:sym typeface="Wingdings" pitchFamily="2" charset="2"/>
              </a:rPr>
              <a:t>2</a:t>
            </a:r>
            <a:r>
              <a:rPr lang="en-US" altLang="zh-CN" sz="3000" dirty="0" smtClean="0">
                <a:sym typeface="Wingdings" pitchFamily="2" charset="2"/>
              </a:rPr>
              <a:t> + 2H</a:t>
            </a:r>
            <a:r>
              <a:rPr lang="en-US" altLang="zh-CN" sz="3000" baseline="-25000" dirty="0" smtClean="0">
                <a:sym typeface="Wingdings" pitchFamily="2" charset="2"/>
              </a:rPr>
              <a:t>2</a:t>
            </a:r>
            <a:r>
              <a:rPr lang="en-US" altLang="zh-CN" sz="3000" dirty="0" smtClean="0">
                <a:sym typeface="Wingdings" pitchFamily="2" charset="2"/>
              </a:rPr>
              <a:t>O + 2NO</a:t>
            </a:r>
            <a:r>
              <a:rPr lang="en-US" altLang="zh-CN" sz="3000" baseline="-25000" dirty="0" smtClean="0">
                <a:sym typeface="Wingdings" pitchFamily="2" charset="2"/>
              </a:rPr>
              <a:t>2</a:t>
            </a:r>
            <a:r>
              <a:rPr lang="en-US" altLang="zh-CN" sz="3000" dirty="0" smtClean="0"/>
              <a:t> </a:t>
            </a:r>
          </a:p>
          <a:p>
            <a:pPr>
              <a:buNone/>
            </a:pPr>
            <a:r>
              <a:rPr lang="en-US" altLang="zh-CN" sz="3000" dirty="0" smtClean="0"/>
              <a:t>4HNO</a:t>
            </a:r>
            <a:r>
              <a:rPr lang="en-US" altLang="zh-CN" sz="3000" baseline="-25000" dirty="0" smtClean="0"/>
              <a:t>3</a:t>
            </a:r>
            <a:r>
              <a:rPr lang="en-US" altLang="zh-CN" sz="3000" dirty="0" smtClean="0"/>
              <a:t> + C </a:t>
            </a:r>
            <a:r>
              <a:rPr lang="en-US" altLang="zh-CN" sz="3000" dirty="0" smtClean="0">
                <a:sym typeface="Wingdings" pitchFamily="2" charset="2"/>
              </a:rPr>
              <a:t> 2H</a:t>
            </a:r>
            <a:r>
              <a:rPr lang="en-US" altLang="zh-CN" sz="3000" baseline="-25000" dirty="0" smtClean="0">
                <a:sym typeface="Wingdings" pitchFamily="2" charset="2"/>
              </a:rPr>
              <a:t>2</a:t>
            </a:r>
            <a:r>
              <a:rPr lang="en-US" altLang="zh-CN" sz="3000" dirty="0" smtClean="0">
                <a:sym typeface="Wingdings" pitchFamily="2" charset="2"/>
              </a:rPr>
              <a:t>O + 2NO</a:t>
            </a:r>
            <a:r>
              <a:rPr lang="en-US" altLang="zh-CN" sz="3000" baseline="-25000" dirty="0" smtClean="0">
                <a:sym typeface="Wingdings" pitchFamily="2" charset="2"/>
              </a:rPr>
              <a:t>2 </a:t>
            </a:r>
            <a:r>
              <a:rPr lang="en-US" altLang="zh-CN" sz="3000" dirty="0" smtClean="0">
                <a:sym typeface="Wingdings" pitchFamily="2" charset="2"/>
              </a:rPr>
              <a:t>+ CO</a:t>
            </a:r>
            <a:r>
              <a:rPr lang="en-US" altLang="zh-CN" sz="3000" baseline="-25000" dirty="0" smtClean="0">
                <a:sym typeface="Wingdings" pitchFamily="2" charset="2"/>
              </a:rPr>
              <a:t>2</a:t>
            </a:r>
            <a:endParaRPr lang="en-US" altLang="zh-CN" sz="3000" dirty="0" smtClean="0"/>
          </a:p>
          <a:p>
            <a:pPr>
              <a:buNone/>
            </a:pPr>
            <a:endParaRPr lang="en-US" altLang="zh-CN" sz="3000" dirty="0" smtClean="0"/>
          </a:p>
          <a:p>
            <a:pPr>
              <a:buNone/>
            </a:pPr>
            <a:r>
              <a:rPr lang="en-US" altLang="zh-CN" sz="3000" dirty="0" smtClean="0"/>
              <a:t>HNO</a:t>
            </a:r>
            <a:r>
              <a:rPr lang="en-US" altLang="zh-CN" sz="3000" baseline="-25000" dirty="0" smtClean="0"/>
              <a:t>3</a:t>
            </a:r>
            <a:r>
              <a:rPr lang="en-US" altLang="zh-CN" sz="3000" dirty="0" smtClean="0"/>
              <a:t> </a:t>
            </a:r>
            <a:r>
              <a:rPr lang="en-US" altLang="zh-CN" sz="3000" dirty="0" smtClean="0">
                <a:sym typeface="Wingdings" pitchFamily="2" charset="2"/>
              </a:rPr>
              <a:t> NO</a:t>
            </a:r>
            <a:r>
              <a:rPr lang="en-US" altLang="zh-CN" sz="3000" baseline="-25000" dirty="0" smtClean="0">
                <a:sym typeface="Wingdings" pitchFamily="2" charset="2"/>
              </a:rPr>
              <a:t>2</a:t>
            </a:r>
            <a:r>
              <a:rPr lang="en-US" altLang="zh-CN" sz="3000" dirty="0" smtClean="0">
                <a:sym typeface="Wingdings" pitchFamily="2" charset="2"/>
              </a:rPr>
              <a:t>  HNO</a:t>
            </a:r>
            <a:r>
              <a:rPr lang="en-US" altLang="zh-CN" sz="3000" baseline="-25000" dirty="0" smtClean="0">
                <a:sym typeface="Wingdings" pitchFamily="2" charset="2"/>
              </a:rPr>
              <a:t>2</a:t>
            </a:r>
            <a:r>
              <a:rPr lang="en-US" altLang="zh-CN" sz="3000" dirty="0" smtClean="0">
                <a:sym typeface="Wingdings" pitchFamily="2" charset="2"/>
              </a:rPr>
              <a:t>  NO  N</a:t>
            </a:r>
            <a:r>
              <a:rPr lang="en-US" altLang="zh-CN" sz="3000" baseline="-25000" dirty="0" smtClean="0">
                <a:sym typeface="Wingdings" pitchFamily="2" charset="2"/>
              </a:rPr>
              <a:t>2</a:t>
            </a:r>
            <a:r>
              <a:rPr lang="en-US" altLang="zh-CN" sz="3000" dirty="0" smtClean="0">
                <a:sym typeface="Wingdings" pitchFamily="2" charset="2"/>
              </a:rPr>
              <a:t>O  N</a:t>
            </a:r>
            <a:r>
              <a:rPr lang="en-US" altLang="zh-CN" sz="3000" baseline="-25000" dirty="0" smtClean="0">
                <a:sym typeface="Wingdings" pitchFamily="2" charset="2"/>
              </a:rPr>
              <a:t>2</a:t>
            </a:r>
            <a:r>
              <a:rPr lang="en-US" altLang="zh-CN" sz="3000" dirty="0" smtClean="0">
                <a:sym typeface="Wingdings" pitchFamily="2" charset="2"/>
              </a:rPr>
              <a:t>  NH</a:t>
            </a:r>
            <a:r>
              <a:rPr lang="en-US" altLang="zh-CN" sz="3000" baseline="-25000" dirty="0" smtClean="0">
                <a:sym typeface="Wingdings" pitchFamily="2" charset="2"/>
              </a:rPr>
              <a:t>3</a:t>
            </a:r>
          </a:p>
          <a:p>
            <a:pPr>
              <a:buFont typeface="Wingdings" pitchFamily="2" charset="2"/>
              <a:buChar char="Ø"/>
            </a:pPr>
            <a:r>
              <a:rPr lang="en-US" altLang="zh-CN" sz="3000" baseline="-25000" dirty="0" smtClean="0">
                <a:sym typeface="Wingdings" pitchFamily="2" charset="2"/>
              </a:rPr>
              <a:t> </a:t>
            </a:r>
            <a:r>
              <a:rPr lang="en-US" altLang="zh-CN" sz="3000" dirty="0" smtClean="0">
                <a:sym typeface="Wingdings" pitchFamily="2" charset="2"/>
              </a:rPr>
              <a:t> </a:t>
            </a:r>
            <a:r>
              <a:rPr lang="zh-CN" altLang="en-US" sz="3000" dirty="0" smtClean="0">
                <a:sym typeface="Wingdings" pitchFamily="2" charset="2"/>
              </a:rPr>
              <a:t>一般来说。硝酸越</a:t>
            </a:r>
            <a:r>
              <a:rPr lang="zh-CN" altLang="en-US" sz="3000" b="1" dirty="0" smtClean="0">
                <a:solidFill>
                  <a:srgbClr val="002060"/>
                </a:solidFill>
                <a:effectLst>
                  <a:outerShdw blurRad="38100" dist="38100" dir="2700000" algn="tl">
                    <a:srgbClr val="000000">
                      <a:alpha val="43137"/>
                    </a:srgbClr>
                  </a:outerShdw>
                </a:effectLst>
                <a:sym typeface="Wingdings" pitchFamily="2" charset="2"/>
              </a:rPr>
              <a:t>稀</a:t>
            </a:r>
            <a:r>
              <a:rPr lang="zh-CN" altLang="en-US" sz="3000" dirty="0" smtClean="0">
                <a:sym typeface="Wingdings" pitchFamily="2" charset="2"/>
              </a:rPr>
              <a:t>，金属越</a:t>
            </a:r>
            <a:r>
              <a:rPr lang="zh-CN" altLang="en-US" sz="3000" b="1" dirty="0" smtClean="0">
                <a:solidFill>
                  <a:srgbClr val="002060"/>
                </a:solidFill>
                <a:effectLst>
                  <a:outerShdw blurRad="38100" dist="38100" dir="2700000" algn="tl">
                    <a:srgbClr val="000000">
                      <a:alpha val="43137"/>
                    </a:srgbClr>
                  </a:outerShdw>
                </a:effectLst>
                <a:sym typeface="Wingdings" pitchFamily="2" charset="2"/>
              </a:rPr>
              <a:t>活泼</a:t>
            </a:r>
            <a:r>
              <a:rPr lang="zh-CN" altLang="en-US" sz="3000" dirty="0" smtClean="0">
                <a:sym typeface="Wingdings" pitchFamily="2" charset="2"/>
              </a:rPr>
              <a:t>，硝酸被还原后的</a:t>
            </a:r>
            <a:r>
              <a:rPr lang="zh-CN" altLang="en-US" sz="3000" b="1" dirty="0" smtClean="0">
                <a:solidFill>
                  <a:srgbClr val="002060"/>
                </a:solidFill>
                <a:effectLst>
                  <a:outerShdw blurRad="38100" dist="38100" dir="2700000" algn="tl">
                    <a:srgbClr val="000000">
                      <a:alpha val="43137"/>
                    </a:srgbClr>
                  </a:outerShdw>
                </a:effectLst>
                <a:sym typeface="Wingdings" pitchFamily="2" charset="2"/>
              </a:rPr>
              <a:t>氮</a:t>
            </a:r>
            <a:r>
              <a:rPr lang="zh-CN" altLang="en-US" sz="3000" dirty="0" smtClean="0">
                <a:sym typeface="Wingdings" pitchFamily="2" charset="2"/>
              </a:rPr>
              <a:t>的氧化数越</a:t>
            </a:r>
            <a:r>
              <a:rPr lang="zh-CN" altLang="en-US" sz="3000" b="1" dirty="0" smtClean="0">
                <a:solidFill>
                  <a:srgbClr val="002060"/>
                </a:solidFill>
                <a:effectLst>
                  <a:outerShdw blurRad="38100" dist="38100" dir="2700000" algn="tl">
                    <a:srgbClr val="000000">
                      <a:alpha val="43137"/>
                    </a:srgbClr>
                  </a:outerShdw>
                </a:effectLst>
                <a:sym typeface="Wingdings" pitchFamily="2" charset="2"/>
              </a:rPr>
              <a:t>低</a:t>
            </a:r>
            <a:r>
              <a:rPr lang="zh-CN" altLang="en-US" sz="3000" dirty="0" smtClean="0">
                <a:sym typeface="Wingdings" pitchFamily="2" charset="2"/>
              </a:rPr>
              <a:t>。</a:t>
            </a:r>
            <a:endParaRPr lang="en-US" altLang="zh-CN" sz="3000" dirty="0" smtClean="0">
              <a:sym typeface="Wingdings" pitchFamily="2" charset="2"/>
            </a:endParaRPr>
          </a:p>
          <a:p>
            <a:pPr>
              <a:buFont typeface="Wingdings" pitchFamily="2" charset="2"/>
              <a:buChar char="Ø"/>
            </a:pPr>
            <a:r>
              <a:rPr lang="zh-CN" altLang="en-US" sz="3000" dirty="0" smtClean="0">
                <a:sym typeface="Wingdings" pitchFamily="2" charset="2"/>
              </a:rPr>
              <a:t>钝化作用：常温下，浓硝酸能使铁或铝表面形成致密的氧化膜，阻止内部金属被氧化。</a:t>
            </a:r>
            <a:endParaRPr lang="en-US" altLang="zh-CN" sz="3000" dirty="0" smtClean="0">
              <a:sym typeface="Wingdings" pitchFamily="2" charset="2"/>
            </a:endParaRPr>
          </a:p>
          <a:p>
            <a:pPr>
              <a:buFont typeface="Wingdings" pitchFamily="2" charset="2"/>
              <a:buChar char="Ø"/>
            </a:pPr>
            <a:endParaRPr lang="en-US" altLang="zh-CN" sz="3000" dirty="0" smtClean="0"/>
          </a:p>
          <a:p>
            <a:pPr lvl="1">
              <a:buNone/>
            </a:pPr>
            <a:endParaRPr lang="en-US" altLang="zh-CN" sz="3000" baseline="-25000" dirty="0" smtClean="0">
              <a:sym typeface="Wingdings" pitchFamily="2" charset="2"/>
            </a:endParaRPr>
          </a:p>
          <a:p>
            <a:pPr lvl="1">
              <a:buNone/>
            </a:pPr>
            <a:endParaRPr lang="en-US" altLang="zh-CN" sz="3000" dirty="0" smtClean="0"/>
          </a:p>
          <a:p>
            <a:pPr lvl="1">
              <a:buFont typeface="Wingdings" pitchFamily="2" charset="2"/>
              <a:buChar char="Ø"/>
            </a:pPr>
            <a:endParaRPr lang="en-US" sz="3000" dirty="0"/>
          </a:p>
        </p:txBody>
      </p:sp>
      <p:sp>
        <p:nvSpPr>
          <p:cNvPr id="5" name="TextBox 4"/>
          <p:cNvSpPr txBox="1"/>
          <p:nvPr/>
        </p:nvSpPr>
        <p:spPr>
          <a:xfrm>
            <a:off x="533400" y="3377625"/>
            <a:ext cx="572593" cy="553998"/>
          </a:xfrm>
          <a:prstGeom prst="rect">
            <a:avLst/>
          </a:prstGeom>
          <a:noFill/>
        </p:spPr>
        <p:txBody>
          <a:bodyPr wrap="none" rtlCol="0">
            <a:spAutoFit/>
          </a:bodyPr>
          <a:lstStyle/>
          <a:p>
            <a:r>
              <a:rPr lang="en-US" altLang="zh-CN" sz="3000" dirty="0" smtClean="0">
                <a:solidFill>
                  <a:srgbClr val="002060"/>
                </a:solidFill>
              </a:rPr>
              <a:t>+5</a:t>
            </a:r>
            <a:endParaRPr lang="en-US" sz="3000" dirty="0">
              <a:solidFill>
                <a:srgbClr val="002060"/>
              </a:solidFill>
            </a:endParaRPr>
          </a:p>
        </p:txBody>
      </p:sp>
      <p:sp>
        <p:nvSpPr>
          <p:cNvPr id="6" name="TextBox 5"/>
          <p:cNvSpPr txBox="1"/>
          <p:nvPr/>
        </p:nvSpPr>
        <p:spPr>
          <a:xfrm>
            <a:off x="1687759" y="3377625"/>
            <a:ext cx="572593" cy="553998"/>
          </a:xfrm>
          <a:prstGeom prst="rect">
            <a:avLst/>
          </a:prstGeom>
          <a:noFill/>
        </p:spPr>
        <p:txBody>
          <a:bodyPr wrap="none" rtlCol="0">
            <a:spAutoFit/>
          </a:bodyPr>
          <a:lstStyle/>
          <a:p>
            <a:r>
              <a:rPr lang="en-US" altLang="zh-CN" sz="3000" dirty="0" smtClean="0">
                <a:solidFill>
                  <a:srgbClr val="002060"/>
                </a:solidFill>
              </a:rPr>
              <a:t>+4</a:t>
            </a:r>
            <a:endParaRPr lang="en-US" sz="3000" dirty="0">
              <a:solidFill>
                <a:srgbClr val="002060"/>
              </a:solidFill>
            </a:endParaRPr>
          </a:p>
        </p:txBody>
      </p:sp>
      <p:sp>
        <p:nvSpPr>
          <p:cNvPr id="7" name="TextBox 6"/>
          <p:cNvSpPr txBox="1"/>
          <p:nvPr/>
        </p:nvSpPr>
        <p:spPr>
          <a:xfrm>
            <a:off x="3048000" y="3377625"/>
            <a:ext cx="572593" cy="553998"/>
          </a:xfrm>
          <a:prstGeom prst="rect">
            <a:avLst/>
          </a:prstGeom>
          <a:noFill/>
        </p:spPr>
        <p:txBody>
          <a:bodyPr wrap="none" rtlCol="0">
            <a:spAutoFit/>
          </a:bodyPr>
          <a:lstStyle/>
          <a:p>
            <a:r>
              <a:rPr lang="en-US" altLang="zh-CN" sz="3000" dirty="0" smtClean="0">
                <a:solidFill>
                  <a:srgbClr val="002060"/>
                </a:solidFill>
              </a:rPr>
              <a:t>+3</a:t>
            </a:r>
            <a:endParaRPr lang="en-US" sz="3000" dirty="0">
              <a:solidFill>
                <a:srgbClr val="002060"/>
              </a:solidFill>
            </a:endParaRPr>
          </a:p>
        </p:txBody>
      </p:sp>
      <p:sp>
        <p:nvSpPr>
          <p:cNvPr id="8" name="TextBox 7"/>
          <p:cNvSpPr txBox="1"/>
          <p:nvPr/>
        </p:nvSpPr>
        <p:spPr>
          <a:xfrm>
            <a:off x="4267200" y="3377625"/>
            <a:ext cx="572593" cy="553998"/>
          </a:xfrm>
          <a:prstGeom prst="rect">
            <a:avLst/>
          </a:prstGeom>
          <a:noFill/>
        </p:spPr>
        <p:txBody>
          <a:bodyPr wrap="none" rtlCol="0">
            <a:spAutoFit/>
          </a:bodyPr>
          <a:lstStyle/>
          <a:p>
            <a:r>
              <a:rPr lang="en-US" altLang="zh-CN" sz="3000" dirty="0" smtClean="0">
                <a:solidFill>
                  <a:srgbClr val="002060"/>
                </a:solidFill>
              </a:rPr>
              <a:t>+2</a:t>
            </a:r>
            <a:endParaRPr lang="en-US" sz="3000" dirty="0">
              <a:solidFill>
                <a:srgbClr val="002060"/>
              </a:solidFill>
            </a:endParaRPr>
          </a:p>
        </p:txBody>
      </p:sp>
      <p:sp>
        <p:nvSpPr>
          <p:cNvPr id="9" name="TextBox 8"/>
          <p:cNvSpPr txBox="1"/>
          <p:nvPr/>
        </p:nvSpPr>
        <p:spPr>
          <a:xfrm>
            <a:off x="5334000" y="3377625"/>
            <a:ext cx="572593" cy="553998"/>
          </a:xfrm>
          <a:prstGeom prst="rect">
            <a:avLst/>
          </a:prstGeom>
          <a:noFill/>
        </p:spPr>
        <p:txBody>
          <a:bodyPr wrap="none" rtlCol="0">
            <a:spAutoFit/>
          </a:bodyPr>
          <a:lstStyle/>
          <a:p>
            <a:r>
              <a:rPr lang="en-US" altLang="zh-CN" sz="3000" dirty="0" smtClean="0">
                <a:solidFill>
                  <a:srgbClr val="002060"/>
                </a:solidFill>
              </a:rPr>
              <a:t>+1</a:t>
            </a:r>
            <a:endParaRPr lang="en-US" sz="3000" dirty="0">
              <a:solidFill>
                <a:srgbClr val="002060"/>
              </a:solidFill>
            </a:endParaRPr>
          </a:p>
        </p:txBody>
      </p:sp>
      <p:sp>
        <p:nvSpPr>
          <p:cNvPr id="10" name="TextBox 9"/>
          <p:cNvSpPr txBox="1"/>
          <p:nvPr/>
        </p:nvSpPr>
        <p:spPr>
          <a:xfrm>
            <a:off x="6477000" y="3377625"/>
            <a:ext cx="380232" cy="553998"/>
          </a:xfrm>
          <a:prstGeom prst="rect">
            <a:avLst/>
          </a:prstGeom>
          <a:noFill/>
        </p:spPr>
        <p:txBody>
          <a:bodyPr wrap="none" rtlCol="0">
            <a:spAutoFit/>
          </a:bodyPr>
          <a:lstStyle/>
          <a:p>
            <a:r>
              <a:rPr lang="en-US" sz="3000" dirty="0" smtClean="0">
                <a:solidFill>
                  <a:srgbClr val="002060"/>
                </a:solidFill>
              </a:rPr>
              <a:t>0</a:t>
            </a:r>
            <a:endParaRPr lang="en-US" sz="3000" dirty="0">
              <a:solidFill>
                <a:srgbClr val="002060"/>
              </a:solidFill>
            </a:endParaRPr>
          </a:p>
        </p:txBody>
      </p:sp>
      <p:sp>
        <p:nvSpPr>
          <p:cNvPr id="11" name="TextBox 10"/>
          <p:cNvSpPr txBox="1"/>
          <p:nvPr/>
        </p:nvSpPr>
        <p:spPr>
          <a:xfrm>
            <a:off x="7315200" y="3377625"/>
            <a:ext cx="497252" cy="553998"/>
          </a:xfrm>
          <a:prstGeom prst="rect">
            <a:avLst/>
          </a:prstGeom>
          <a:noFill/>
        </p:spPr>
        <p:txBody>
          <a:bodyPr wrap="none" rtlCol="0">
            <a:spAutoFit/>
          </a:bodyPr>
          <a:lstStyle/>
          <a:p>
            <a:r>
              <a:rPr lang="en-US" sz="3000" dirty="0" smtClean="0">
                <a:solidFill>
                  <a:srgbClr val="002060"/>
                </a:solidFill>
              </a:rPr>
              <a:t>-3</a:t>
            </a:r>
            <a:endParaRPr lang="en-US" sz="3000" dirty="0">
              <a:solidFill>
                <a:srgbClr val="002060"/>
              </a:solidFill>
            </a:endParaRPr>
          </a:p>
        </p:txBody>
      </p:sp>
      <p:grpSp>
        <p:nvGrpSpPr>
          <p:cNvPr id="12" name="Group 11"/>
          <p:cNvGrpSpPr/>
          <p:nvPr/>
        </p:nvGrpSpPr>
        <p:grpSpPr>
          <a:xfrm>
            <a:off x="3581400" y="1752600"/>
            <a:ext cx="838200" cy="152400"/>
            <a:chOff x="3581400" y="1752600"/>
            <a:chExt cx="838200" cy="152400"/>
          </a:xfrm>
        </p:grpSpPr>
        <p:cxnSp>
          <p:nvCxnSpPr>
            <p:cNvPr id="13" name="Straight Arrow Connector 12"/>
            <p:cNvCxnSpPr/>
            <p:nvPr/>
          </p:nvCxnSpPr>
          <p:spPr bwMode="auto">
            <a:xfrm>
              <a:off x="3581400" y="1903412"/>
              <a:ext cx="8382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14" name="Isosceles Triangle 13"/>
            <p:cNvSpPr/>
            <p:nvPr/>
          </p:nvSpPr>
          <p:spPr bwMode="auto">
            <a:xfrm>
              <a:off x="3886200" y="1752600"/>
              <a:ext cx="228600" cy="152400"/>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3000" dirty="0">
                <a:solidFill>
                  <a:schemeClr val="tx1"/>
                </a:solidFill>
              </a:endParaRPr>
            </a:p>
          </p:txBody>
        </p:sp>
      </p:grpSp>
      <p:sp>
        <p:nvSpPr>
          <p:cNvPr id="15" name="Rounded Rectangle 14"/>
          <p:cNvSpPr/>
          <p:nvPr/>
        </p:nvSpPr>
        <p:spPr>
          <a:xfrm>
            <a:off x="4495800" y="1676400"/>
            <a:ext cx="41148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
        <p:nvSpPr>
          <p:cNvPr id="16" name="Rounded Rectangle 15"/>
          <p:cNvSpPr/>
          <p:nvPr/>
        </p:nvSpPr>
        <p:spPr>
          <a:xfrm>
            <a:off x="3276600" y="2209800"/>
            <a:ext cx="41148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
        <p:nvSpPr>
          <p:cNvPr id="17" name="Rounded Rectangle 16"/>
          <p:cNvSpPr/>
          <p:nvPr/>
        </p:nvSpPr>
        <p:spPr>
          <a:xfrm>
            <a:off x="2514600" y="2743200"/>
            <a:ext cx="37338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linds(horizontal)">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xit" presetSubtype="10" fill="hold" grpId="0" nodeType="clickEffect">
                                  <p:stCondLst>
                                    <p:cond delay="0"/>
                                  </p:stCondLst>
                                  <p:childTnLst>
                                    <p:animEffect transition="out" filter="blinds(horizontal)">
                                      <p:cBhvr>
                                        <p:cTn id="19" dur="500"/>
                                        <p:tgtEl>
                                          <p:spTgt spid="15"/>
                                        </p:tgtEl>
                                      </p:cBhvr>
                                    </p:animEffect>
                                    <p:set>
                                      <p:cBhvr>
                                        <p:cTn id="20" dur="1" fill="hold">
                                          <p:stCondLst>
                                            <p:cond delay="499"/>
                                          </p:stCondLst>
                                        </p:cTn>
                                        <p:tgtEl>
                                          <p:spTgt spid="15"/>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blinds(horizontal)">
                                      <p:cBhvr>
                                        <p:cTn id="25" dur="500"/>
                                        <p:tgtEl>
                                          <p:spTgt spid="3">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xit" presetSubtype="10" fill="hold" grpId="0" nodeType="clickEffect">
                                  <p:stCondLst>
                                    <p:cond delay="0"/>
                                  </p:stCondLst>
                                  <p:childTnLst>
                                    <p:animEffect transition="out" filter="blinds(horizontal)">
                                      <p:cBhvr>
                                        <p:cTn id="29" dur="500"/>
                                        <p:tgtEl>
                                          <p:spTgt spid="16"/>
                                        </p:tgtEl>
                                      </p:cBhvr>
                                    </p:animEffect>
                                    <p:set>
                                      <p:cBhvr>
                                        <p:cTn id="30" dur="1" fill="hold">
                                          <p:stCondLst>
                                            <p:cond delay="499"/>
                                          </p:stCondLst>
                                        </p:cTn>
                                        <p:tgtEl>
                                          <p:spTgt spid="16"/>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blinds(horizontal)">
                                      <p:cBhvr>
                                        <p:cTn id="35" dur="500"/>
                                        <p:tgtEl>
                                          <p:spTgt spid="3">
                                            <p:txEl>
                                              <p:pRg st="3" end="3"/>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xit" presetSubtype="10" fill="hold" grpId="0" nodeType="clickEffect">
                                  <p:stCondLst>
                                    <p:cond delay="0"/>
                                  </p:stCondLst>
                                  <p:childTnLst>
                                    <p:animEffect transition="out" filter="blinds(horizontal)">
                                      <p:cBhvr>
                                        <p:cTn id="39" dur="500"/>
                                        <p:tgtEl>
                                          <p:spTgt spid="17"/>
                                        </p:tgtEl>
                                      </p:cBhvr>
                                    </p:animEffect>
                                    <p:set>
                                      <p:cBhvr>
                                        <p:cTn id="40" dur="1" fill="hold">
                                          <p:stCondLst>
                                            <p:cond delay="499"/>
                                          </p:stCondLst>
                                        </p:cTn>
                                        <p:tgtEl>
                                          <p:spTgt spid="17"/>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3">
                                            <p:txEl>
                                              <p:pRg st="5" end="5"/>
                                            </p:txEl>
                                          </p:spTgt>
                                        </p:tgtEl>
                                        <p:attrNameLst>
                                          <p:attrName>style.visibility</p:attrName>
                                        </p:attrNameLst>
                                      </p:cBhvr>
                                      <p:to>
                                        <p:strVal val="visible"/>
                                      </p:to>
                                    </p:set>
                                    <p:animEffect transition="in" filter="blinds(horizontal)">
                                      <p:cBhvr>
                                        <p:cTn id="45" dur="500"/>
                                        <p:tgtEl>
                                          <p:spTgt spid="3">
                                            <p:txEl>
                                              <p:pRg st="5" end="5"/>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5"/>
                                        </p:tgtEl>
                                        <p:attrNameLst>
                                          <p:attrName>style.visibility</p:attrName>
                                        </p:attrNameLst>
                                      </p:cBhvr>
                                      <p:to>
                                        <p:strVal val="visible"/>
                                      </p:to>
                                    </p:set>
                                    <p:animEffect transition="in" filter="blinds(horizontal)">
                                      <p:cBhvr>
                                        <p:cTn id="50" dur="500"/>
                                        <p:tgtEl>
                                          <p:spTgt spid="5"/>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6"/>
                                        </p:tgtEl>
                                        <p:attrNameLst>
                                          <p:attrName>style.visibility</p:attrName>
                                        </p:attrNameLst>
                                      </p:cBhvr>
                                      <p:to>
                                        <p:strVal val="visible"/>
                                      </p:to>
                                    </p:set>
                                    <p:animEffect transition="in" filter="blinds(horizontal)">
                                      <p:cBhvr>
                                        <p:cTn id="55" dur="500"/>
                                        <p:tgtEl>
                                          <p:spTgt spid="6"/>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7"/>
                                        </p:tgtEl>
                                        <p:attrNameLst>
                                          <p:attrName>style.visibility</p:attrName>
                                        </p:attrNameLst>
                                      </p:cBhvr>
                                      <p:to>
                                        <p:strVal val="visible"/>
                                      </p:to>
                                    </p:set>
                                    <p:animEffect transition="in" filter="blinds(horizontal)">
                                      <p:cBhvr>
                                        <p:cTn id="60" dur="500"/>
                                        <p:tgtEl>
                                          <p:spTgt spid="7"/>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grpId="0" nodeType="clickEffect">
                                  <p:stCondLst>
                                    <p:cond delay="0"/>
                                  </p:stCondLst>
                                  <p:childTnLst>
                                    <p:set>
                                      <p:cBhvr>
                                        <p:cTn id="64" dur="1" fill="hold">
                                          <p:stCondLst>
                                            <p:cond delay="0"/>
                                          </p:stCondLst>
                                        </p:cTn>
                                        <p:tgtEl>
                                          <p:spTgt spid="8"/>
                                        </p:tgtEl>
                                        <p:attrNameLst>
                                          <p:attrName>style.visibility</p:attrName>
                                        </p:attrNameLst>
                                      </p:cBhvr>
                                      <p:to>
                                        <p:strVal val="visible"/>
                                      </p:to>
                                    </p:set>
                                    <p:animEffect transition="in" filter="blinds(horizontal)">
                                      <p:cBhvr>
                                        <p:cTn id="65" dur="500"/>
                                        <p:tgtEl>
                                          <p:spTgt spid="8"/>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grpId="0" nodeType="clickEffect">
                                  <p:stCondLst>
                                    <p:cond delay="0"/>
                                  </p:stCondLst>
                                  <p:childTnLst>
                                    <p:set>
                                      <p:cBhvr>
                                        <p:cTn id="69" dur="1" fill="hold">
                                          <p:stCondLst>
                                            <p:cond delay="0"/>
                                          </p:stCondLst>
                                        </p:cTn>
                                        <p:tgtEl>
                                          <p:spTgt spid="9"/>
                                        </p:tgtEl>
                                        <p:attrNameLst>
                                          <p:attrName>style.visibility</p:attrName>
                                        </p:attrNameLst>
                                      </p:cBhvr>
                                      <p:to>
                                        <p:strVal val="visible"/>
                                      </p:to>
                                    </p:set>
                                    <p:animEffect transition="in" filter="blinds(horizontal)">
                                      <p:cBhvr>
                                        <p:cTn id="70" dur="500"/>
                                        <p:tgtEl>
                                          <p:spTgt spid="9"/>
                                        </p:tgtEl>
                                      </p:cBhvr>
                                    </p:animEffect>
                                  </p:childTnLst>
                                </p:cTn>
                              </p:par>
                            </p:childTnLst>
                          </p:cTn>
                        </p:par>
                      </p:childTnLst>
                    </p:cTn>
                  </p:par>
                  <p:par>
                    <p:cTn id="71" fill="hold">
                      <p:stCondLst>
                        <p:cond delay="indefinite"/>
                      </p:stCondLst>
                      <p:childTnLst>
                        <p:par>
                          <p:cTn id="72" fill="hold">
                            <p:stCondLst>
                              <p:cond delay="0"/>
                            </p:stCondLst>
                            <p:childTnLst>
                              <p:par>
                                <p:cTn id="73" presetID="3" presetClass="entr" presetSubtype="10" fill="hold" grpId="0" nodeType="clickEffect">
                                  <p:stCondLst>
                                    <p:cond delay="0"/>
                                  </p:stCondLst>
                                  <p:childTnLst>
                                    <p:set>
                                      <p:cBhvr>
                                        <p:cTn id="74" dur="1" fill="hold">
                                          <p:stCondLst>
                                            <p:cond delay="0"/>
                                          </p:stCondLst>
                                        </p:cTn>
                                        <p:tgtEl>
                                          <p:spTgt spid="10"/>
                                        </p:tgtEl>
                                        <p:attrNameLst>
                                          <p:attrName>style.visibility</p:attrName>
                                        </p:attrNameLst>
                                      </p:cBhvr>
                                      <p:to>
                                        <p:strVal val="visible"/>
                                      </p:to>
                                    </p:set>
                                    <p:animEffect transition="in" filter="blinds(horizontal)">
                                      <p:cBhvr>
                                        <p:cTn id="75" dur="500"/>
                                        <p:tgtEl>
                                          <p:spTgt spid="10"/>
                                        </p:tgtEl>
                                      </p:cBhvr>
                                    </p:animEffect>
                                  </p:childTnLst>
                                </p:cTn>
                              </p:par>
                            </p:childTnLst>
                          </p:cTn>
                        </p:par>
                      </p:childTnLst>
                    </p:cTn>
                  </p:par>
                  <p:par>
                    <p:cTn id="76" fill="hold">
                      <p:stCondLst>
                        <p:cond delay="indefinite"/>
                      </p:stCondLst>
                      <p:childTnLst>
                        <p:par>
                          <p:cTn id="77" fill="hold">
                            <p:stCondLst>
                              <p:cond delay="0"/>
                            </p:stCondLst>
                            <p:childTnLst>
                              <p:par>
                                <p:cTn id="78" presetID="3" presetClass="entr" presetSubtype="10" fill="hold" grpId="0" nodeType="clickEffect">
                                  <p:stCondLst>
                                    <p:cond delay="0"/>
                                  </p:stCondLst>
                                  <p:childTnLst>
                                    <p:set>
                                      <p:cBhvr>
                                        <p:cTn id="79" dur="1" fill="hold">
                                          <p:stCondLst>
                                            <p:cond delay="0"/>
                                          </p:stCondLst>
                                        </p:cTn>
                                        <p:tgtEl>
                                          <p:spTgt spid="11"/>
                                        </p:tgtEl>
                                        <p:attrNameLst>
                                          <p:attrName>style.visibility</p:attrName>
                                        </p:attrNameLst>
                                      </p:cBhvr>
                                      <p:to>
                                        <p:strVal val="visible"/>
                                      </p:to>
                                    </p:set>
                                    <p:animEffect transition="in" filter="blinds(horizontal)">
                                      <p:cBhvr>
                                        <p:cTn id="80" dur="500"/>
                                        <p:tgtEl>
                                          <p:spTgt spid="11"/>
                                        </p:tgtEl>
                                      </p:cBhvr>
                                    </p:animEffect>
                                  </p:childTnLst>
                                </p:cTn>
                              </p:par>
                            </p:childTnLst>
                          </p:cTn>
                        </p:par>
                      </p:childTnLst>
                    </p:cTn>
                  </p:par>
                  <p:par>
                    <p:cTn id="81" fill="hold">
                      <p:stCondLst>
                        <p:cond delay="indefinite"/>
                      </p:stCondLst>
                      <p:childTnLst>
                        <p:par>
                          <p:cTn id="82" fill="hold">
                            <p:stCondLst>
                              <p:cond delay="0"/>
                            </p:stCondLst>
                            <p:childTnLst>
                              <p:par>
                                <p:cTn id="83" presetID="3" presetClass="entr" presetSubtype="10" fill="hold" grpId="0" nodeType="clickEffect">
                                  <p:stCondLst>
                                    <p:cond delay="0"/>
                                  </p:stCondLst>
                                  <p:childTnLst>
                                    <p:set>
                                      <p:cBhvr>
                                        <p:cTn id="84" dur="1" fill="hold">
                                          <p:stCondLst>
                                            <p:cond delay="0"/>
                                          </p:stCondLst>
                                        </p:cTn>
                                        <p:tgtEl>
                                          <p:spTgt spid="3">
                                            <p:txEl>
                                              <p:pRg st="6" end="6"/>
                                            </p:txEl>
                                          </p:spTgt>
                                        </p:tgtEl>
                                        <p:attrNameLst>
                                          <p:attrName>style.visibility</p:attrName>
                                        </p:attrNameLst>
                                      </p:cBhvr>
                                      <p:to>
                                        <p:strVal val="visible"/>
                                      </p:to>
                                    </p:set>
                                    <p:animEffect transition="in" filter="blinds(horizontal)">
                                      <p:cBhvr>
                                        <p:cTn id="85" dur="500"/>
                                        <p:tgtEl>
                                          <p:spTgt spid="3">
                                            <p:txEl>
                                              <p:pRg st="6" end="6"/>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3" presetClass="entr" presetSubtype="10" fill="hold" grpId="0" nodeType="clickEffect">
                                  <p:stCondLst>
                                    <p:cond delay="0"/>
                                  </p:stCondLst>
                                  <p:childTnLst>
                                    <p:set>
                                      <p:cBhvr>
                                        <p:cTn id="89" dur="1" fill="hold">
                                          <p:stCondLst>
                                            <p:cond delay="0"/>
                                          </p:stCondLst>
                                        </p:cTn>
                                        <p:tgtEl>
                                          <p:spTgt spid="3">
                                            <p:txEl>
                                              <p:pRg st="7" end="7"/>
                                            </p:txEl>
                                          </p:spTgt>
                                        </p:tgtEl>
                                        <p:attrNameLst>
                                          <p:attrName>style.visibility</p:attrName>
                                        </p:attrNameLst>
                                      </p:cBhvr>
                                      <p:to>
                                        <p:strVal val="visible"/>
                                      </p:to>
                                    </p:set>
                                    <p:animEffect transition="in" filter="blinds(horizontal)">
                                      <p:cBhvr>
                                        <p:cTn id="90"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P spid="6" grpId="0"/>
      <p:bldP spid="7" grpId="0"/>
      <p:bldP spid="8" grpId="0"/>
      <p:bldP spid="9" grpId="0"/>
      <p:bldP spid="10" grpId="0"/>
      <p:bldP spid="11" grpId="0"/>
      <p:bldP spid="15" grpId="0" animBg="1"/>
      <p:bldP spid="16" grpId="0" animBg="1"/>
      <p:bldP spid="1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en-US" altLang="zh-CN" dirty="0" smtClean="0"/>
              <a:t>13.3.2 </a:t>
            </a:r>
            <a:r>
              <a:rPr lang="zh-CN" altLang="en-US" dirty="0" smtClean="0"/>
              <a:t>硝酸的制法</a:t>
            </a:r>
            <a:endParaRPr lang="en-US" dirty="0"/>
          </a:p>
        </p:txBody>
      </p:sp>
      <p:sp>
        <p:nvSpPr>
          <p:cNvPr id="3" name="Content Placeholder 2"/>
          <p:cNvSpPr>
            <a:spLocks noGrp="1"/>
          </p:cNvSpPr>
          <p:nvPr>
            <p:ph idx="1"/>
          </p:nvPr>
        </p:nvSpPr>
        <p:spPr>
          <a:xfrm>
            <a:off x="457200" y="1219200"/>
            <a:ext cx="8229600" cy="5486400"/>
          </a:xfrm>
        </p:spPr>
        <p:txBody>
          <a:bodyPr/>
          <a:lstStyle/>
          <a:p>
            <a:pPr>
              <a:buNone/>
            </a:pPr>
            <a:r>
              <a:rPr lang="zh-CN" altLang="en-US" dirty="0" smtClean="0"/>
              <a:t>实验室制法：</a:t>
            </a:r>
            <a:endParaRPr lang="en-US" altLang="zh-CN" dirty="0" smtClean="0"/>
          </a:p>
          <a:p>
            <a:pPr>
              <a:buNone/>
            </a:pPr>
            <a:r>
              <a:rPr lang="en-US" altLang="zh-CN" dirty="0" smtClean="0"/>
              <a:t>NaNO</a:t>
            </a:r>
            <a:r>
              <a:rPr lang="en-US" altLang="zh-CN" baseline="-25000" dirty="0" smtClean="0"/>
              <a:t>3</a:t>
            </a:r>
            <a:r>
              <a:rPr lang="en-US" altLang="zh-CN" dirty="0" smtClean="0"/>
              <a:t> + H</a:t>
            </a:r>
            <a:r>
              <a:rPr lang="en-US" altLang="zh-CN" baseline="-25000" dirty="0" smtClean="0"/>
              <a:t>2</a:t>
            </a:r>
            <a:r>
              <a:rPr lang="en-US" altLang="zh-CN" dirty="0" smtClean="0"/>
              <a:t>SO</a:t>
            </a:r>
            <a:r>
              <a:rPr lang="en-US" altLang="zh-CN" baseline="-25000" dirty="0" smtClean="0"/>
              <a:t>4</a:t>
            </a:r>
            <a:r>
              <a:rPr lang="en-US" altLang="zh-CN" dirty="0" smtClean="0"/>
              <a:t> (</a:t>
            </a:r>
            <a:r>
              <a:rPr lang="zh-CN" altLang="en-US" dirty="0" smtClean="0"/>
              <a:t>浓</a:t>
            </a:r>
            <a:r>
              <a:rPr lang="en-US" altLang="zh-CN" dirty="0" smtClean="0"/>
              <a:t>) 		NaHSO</a:t>
            </a:r>
            <a:r>
              <a:rPr lang="en-US" altLang="zh-CN" baseline="-25000" dirty="0" smtClean="0"/>
              <a:t>4</a:t>
            </a:r>
            <a:r>
              <a:rPr lang="en-US" altLang="zh-CN" dirty="0" smtClean="0"/>
              <a:t> + HNO</a:t>
            </a:r>
            <a:r>
              <a:rPr lang="en-US" altLang="zh-CN" baseline="-25000" dirty="0" smtClean="0"/>
              <a:t>3</a:t>
            </a:r>
            <a:r>
              <a:rPr lang="en-US" altLang="zh-CN" dirty="0" smtClean="0"/>
              <a:t> </a:t>
            </a:r>
          </a:p>
          <a:p>
            <a:pPr>
              <a:buNone/>
            </a:pPr>
            <a:endParaRPr lang="en-US" altLang="zh-CN" dirty="0" smtClean="0"/>
          </a:p>
          <a:p>
            <a:pPr>
              <a:buNone/>
            </a:pPr>
            <a:endParaRPr lang="en-US" altLang="zh-CN" dirty="0" smtClean="0"/>
          </a:p>
          <a:p>
            <a:pPr>
              <a:buNone/>
            </a:pPr>
            <a:endParaRPr lang="en-US" dirty="0"/>
          </a:p>
        </p:txBody>
      </p:sp>
      <p:grpSp>
        <p:nvGrpSpPr>
          <p:cNvPr id="5" name="Group 4"/>
          <p:cNvGrpSpPr/>
          <p:nvPr/>
        </p:nvGrpSpPr>
        <p:grpSpPr>
          <a:xfrm>
            <a:off x="4114800" y="1981200"/>
            <a:ext cx="838200" cy="152400"/>
            <a:chOff x="3581400" y="1752600"/>
            <a:chExt cx="838200" cy="152400"/>
          </a:xfrm>
        </p:grpSpPr>
        <p:cxnSp>
          <p:nvCxnSpPr>
            <p:cNvPr id="6" name="Straight Arrow Connector 5"/>
            <p:cNvCxnSpPr/>
            <p:nvPr/>
          </p:nvCxnSpPr>
          <p:spPr bwMode="auto">
            <a:xfrm>
              <a:off x="3581400" y="1903412"/>
              <a:ext cx="8382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7" name="Isosceles Triangle 6"/>
            <p:cNvSpPr/>
            <p:nvPr/>
          </p:nvSpPr>
          <p:spPr bwMode="auto">
            <a:xfrm>
              <a:off x="3886200" y="1752600"/>
              <a:ext cx="228600" cy="152400"/>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3000" dirty="0">
                <a:solidFill>
                  <a:schemeClr val="tx1"/>
                </a:solidFill>
              </a:endParaRPr>
            </a:p>
          </p:txBody>
        </p:sp>
      </p:grpSp>
      <p:pic>
        <p:nvPicPr>
          <p:cNvPr id="8" name="Picture 7" descr="111.gif"/>
          <p:cNvPicPr>
            <a:picLocks noChangeAspect="1"/>
          </p:cNvPicPr>
          <p:nvPr/>
        </p:nvPicPr>
        <p:blipFill>
          <a:blip r:embed="rId3"/>
          <a:stretch>
            <a:fillRect/>
          </a:stretch>
        </p:blipFill>
        <p:spPr>
          <a:xfrm>
            <a:off x="1905000" y="2743200"/>
            <a:ext cx="5044439" cy="340042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linds(horizontal)">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blinds(horizontal)">
                                      <p:cBhvr>
                                        <p:cTn id="2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en-US" altLang="zh-CN" dirty="0" smtClean="0"/>
              <a:t>13.3.2 </a:t>
            </a:r>
            <a:r>
              <a:rPr lang="zh-CN" altLang="en-US" dirty="0" smtClean="0"/>
              <a:t>硝酸的制法</a:t>
            </a:r>
            <a:endParaRPr lang="en-US" dirty="0"/>
          </a:p>
        </p:txBody>
      </p:sp>
      <p:sp>
        <p:nvSpPr>
          <p:cNvPr id="3" name="Content Placeholder 2"/>
          <p:cNvSpPr>
            <a:spLocks noGrp="1"/>
          </p:cNvSpPr>
          <p:nvPr>
            <p:ph idx="1"/>
          </p:nvPr>
        </p:nvSpPr>
        <p:spPr>
          <a:xfrm>
            <a:off x="457200" y="838200"/>
            <a:ext cx="8229600" cy="5486400"/>
          </a:xfrm>
        </p:spPr>
        <p:txBody>
          <a:bodyPr>
            <a:normAutofit/>
          </a:bodyPr>
          <a:lstStyle/>
          <a:p>
            <a:pPr>
              <a:buNone/>
            </a:pPr>
            <a:r>
              <a:rPr lang="zh-CN" altLang="en-US" dirty="0" smtClean="0"/>
              <a:t>工业制法：</a:t>
            </a:r>
            <a:endParaRPr lang="en-US" altLang="zh-CN" dirty="0" smtClean="0"/>
          </a:p>
          <a:p>
            <a:pPr>
              <a:buNone/>
            </a:pPr>
            <a:r>
              <a:rPr lang="zh-CN" altLang="en-US" dirty="0" smtClean="0"/>
              <a:t>氨的催化氧化法</a:t>
            </a:r>
            <a:endParaRPr lang="en-US" altLang="zh-CN" dirty="0" smtClean="0"/>
          </a:p>
          <a:p>
            <a:pPr>
              <a:lnSpc>
                <a:spcPct val="150000"/>
              </a:lnSpc>
              <a:buNone/>
            </a:pPr>
            <a:r>
              <a:rPr lang="en-US" altLang="zh-CN" dirty="0" smtClean="0"/>
              <a:t>4NH</a:t>
            </a:r>
            <a:r>
              <a:rPr lang="en-US" altLang="zh-CN" baseline="-25000" dirty="0" smtClean="0"/>
              <a:t>3</a:t>
            </a:r>
            <a:r>
              <a:rPr lang="en-US" altLang="zh-CN" dirty="0" smtClean="0"/>
              <a:t> + 5O</a:t>
            </a:r>
            <a:r>
              <a:rPr lang="en-US" altLang="zh-CN" baseline="-25000" dirty="0" smtClean="0"/>
              <a:t>2 	</a:t>
            </a:r>
            <a:r>
              <a:rPr lang="en-US" altLang="zh-CN" dirty="0" smtClean="0"/>
              <a:t>    4NO + 6H</a:t>
            </a:r>
            <a:r>
              <a:rPr lang="en-US" altLang="zh-CN" baseline="-25000" dirty="0" smtClean="0"/>
              <a:t>2</a:t>
            </a:r>
            <a:r>
              <a:rPr lang="en-US" altLang="zh-CN" dirty="0" smtClean="0"/>
              <a:t>O</a:t>
            </a:r>
          </a:p>
          <a:p>
            <a:pPr>
              <a:lnSpc>
                <a:spcPct val="150000"/>
              </a:lnSpc>
              <a:buNone/>
            </a:pPr>
            <a:r>
              <a:rPr lang="en-US" altLang="zh-CN" dirty="0" smtClean="0"/>
              <a:t>2NO + O</a:t>
            </a:r>
            <a:r>
              <a:rPr lang="en-US" altLang="zh-CN" baseline="-25000" dirty="0" smtClean="0"/>
              <a:t>2</a:t>
            </a:r>
            <a:r>
              <a:rPr lang="en-US" altLang="zh-CN" dirty="0" smtClean="0"/>
              <a:t> </a:t>
            </a:r>
            <a:r>
              <a:rPr lang="en-US" altLang="zh-CN" dirty="0" smtClean="0">
                <a:sym typeface="Wingdings" pitchFamily="2" charset="2"/>
              </a:rPr>
              <a:t> 2NO</a:t>
            </a:r>
            <a:r>
              <a:rPr lang="en-US" altLang="zh-CN" baseline="-25000" dirty="0" smtClean="0">
                <a:sym typeface="Wingdings" pitchFamily="2" charset="2"/>
              </a:rPr>
              <a:t>2</a:t>
            </a:r>
            <a:r>
              <a:rPr lang="en-US" altLang="zh-CN" dirty="0" smtClean="0">
                <a:sym typeface="Wingdings" pitchFamily="2" charset="2"/>
              </a:rPr>
              <a:t> </a:t>
            </a:r>
          </a:p>
          <a:p>
            <a:pPr>
              <a:lnSpc>
                <a:spcPct val="150000"/>
              </a:lnSpc>
              <a:buNone/>
            </a:pPr>
            <a:r>
              <a:rPr lang="en-US" altLang="zh-CN" dirty="0" smtClean="0">
                <a:sym typeface="Wingdings" pitchFamily="2" charset="2"/>
              </a:rPr>
              <a:t>2NO</a:t>
            </a:r>
            <a:r>
              <a:rPr lang="en-US" altLang="zh-CN" baseline="-25000" dirty="0" smtClean="0">
                <a:sym typeface="Wingdings" pitchFamily="2" charset="2"/>
              </a:rPr>
              <a:t>2</a:t>
            </a:r>
            <a:r>
              <a:rPr lang="en-US" altLang="zh-CN" dirty="0" smtClean="0">
                <a:sym typeface="Wingdings" pitchFamily="2" charset="2"/>
              </a:rPr>
              <a:t> + H</a:t>
            </a:r>
            <a:r>
              <a:rPr lang="en-US" altLang="zh-CN" baseline="-25000" dirty="0" smtClean="0">
                <a:sym typeface="Wingdings" pitchFamily="2" charset="2"/>
              </a:rPr>
              <a:t>2</a:t>
            </a:r>
            <a:r>
              <a:rPr lang="en-US" altLang="zh-CN" dirty="0" smtClean="0">
                <a:sym typeface="Wingdings" pitchFamily="2" charset="2"/>
              </a:rPr>
              <a:t>O</a:t>
            </a:r>
            <a:r>
              <a:rPr lang="en-US" altLang="zh-CN" dirty="0" smtClean="0"/>
              <a:t> </a:t>
            </a:r>
            <a:r>
              <a:rPr lang="en-US" altLang="zh-CN" dirty="0" smtClean="0">
                <a:sym typeface="Wingdings" pitchFamily="2" charset="2"/>
              </a:rPr>
              <a:t> HNO</a:t>
            </a:r>
            <a:r>
              <a:rPr lang="en-US" altLang="zh-CN" baseline="-25000" dirty="0" smtClean="0">
                <a:sym typeface="Wingdings" pitchFamily="2" charset="2"/>
              </a:rPr>
              <a:t>3</a:t>
            </a:r>
            <a:r>
              <a:rPr lang="en-US" altLang="zh-CN" dirty="0" smtClean="0">
                <a:sym typeface="Wingdings" pitchFamily="2" charset="2"/>
              </a:rPr>
              <a:t> + HNO</a:t>
            </a:r>
            <a:r>
              <a:rPr lang="en-US" altLang="zh-CN" baseline="-25000" dirty="0" smtClean="0">
                <a:sym typeface="Wingdings" pitchFamily="2" charset="2"/>
              </a:rPr>
              <a:t>2</a:t>
            </a:r>
          </a:p>
          <a:p>
            <a:pPr>
              <a:lnSpc>
                <a:spcPct val="150000"/>
              </a:lnSpc>
              <a:buNone/>
            </a:pPr>
            <a:r>
              <a:rPr lang="en-US" altLang="zh-CN" dirty="0" smtClean="0">
                <a:sym typeface="Wingdings" pitchFamily="2" charset="2"/>
              </a:rPr>
              <a:t>3HNO</a:t>
            </a:r>
            <a:r>
              <a:rPr lang="en-US" altLang="zh-CN" baseline="-25000" dirty="0" smtClean="0">
                <a:sym typeface="Wingdings" pitchFamily="2" charset="2"/>
              </a:rPr>
              <a:t>2</a:t>
            </a:r>
            <a:r>
              <a:rPr lang="en-US" altLang="zh-CN" dirty="0" smtClean="0">
                <a:sym typeface="Wingdings" pitchFamily="2" charset="2"/>
              </a:rPr>
              <a:t>  2NO + HNO</a:t>
            </a:r>
            <a:r>
              <a:rPr lang="en-US" altLang="zh-CN" baseline="-25000" dirty="0" smtClean="0">
                <a:sym typeface="Wingdings" pitchFamily="2" charset="2"/>
              </a:rPr>
              <a:t>3</a:t>
            </a:r>
            <a:r>
              <a:rPr lang="en-US" altLang="zh-CN" dirty="0" smtClean="0">
                <a:sym typeface="Wingdings" pitchFamily="2" charset="2"/>
              </a:rPr>
              <a:t> + H</a:t>
            </a:r>
            <a:r>
              <a:rPr lang="en-US" altLang="zh-CN" baseline="-25000" dirty="0" smtClean="0">
                <a:sym typeface="Wingdings" pitchFamily="2" charset="2"/>
              </a:rPr>
              <a:t>2</a:t>
            </a:r>
            <a:r>
              <a:rPr lang="en-US" altLang="zh-CN" dirty="0" smtClean="0">
                <a:sym typeface="Wingdings" pitchFamily="2" charset="2"/>
              </a:rPr>
              <a:t>O</a:t>
            </a:r>
            <a:endParaRPr lang="en-US" altLang="zh-CN" dirty="0" smtClean="0"/>
          </a:p>
          <a:p>
            <a:pPr>
              <a:lnSpc>
                <a:spcPct val="150000"/>
              </a:lnSpc>
              <a:buNone/>
            </a:pPr>
            <a:endParaRPr lang="en-US" dirty="0"/>
          </a:p>
        </p:txBody>
      </p:sp>
      <p:grpSp>
        <p:nvGrpSpPr>
          <p:cNvPr id="6" name="Group 5"/>
          <p:cNvGrpSpPr/>
          <p:nvPr/>
        </p:nvGrpSpPr>
        <p:grpSpPr>
          <a:xfrm>
            <a:off x="2590800" y="2133600"/>
            <a:ext cx="914400" cy="688777"/>
            <a:chOff x="2819400" y="5867400"/>
            <a:chExt cx="914400" cy="688777"/>
          </a:xfrm>
        </p:grpSpPr>
        <p:cxnSp>
          <p:nvCxnSpPr>
            <p:cNvPr id="7" name="Straight Arrow Connector 6"/>
            <p:cNvCxnSpPr/>
            <p:nvPr/>
          </p:nvCxnSpPr>
          <p:spPr>
            <a:xfrm>
              <a:off x="2819400" y="6172117"/>
              <a:ext cx="914400" cy="83"/>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2819400" y="6248400"/>
              <a:ext cx="723275" cy="307777"/>
            </a:xfrm>
            <a:prstGeom prst="rect">
              <a:avLst/>
            </a:prstGeom>
            <a:noFill/>
          </p:spPr>
          <p:txBody>
            <a:bodyPr wrap="square" rtlCol="0">
              <a:spAutoFit/>
            </a:bodyPr>
            <a:lstStyle/>
            <a:p>
              <a:r>
                <a:rPr lang="zh-CN" altLang="en-US" sz="1400" dirty="0" smtClean="0"/>
                <a:t>催化剂</a:t>
              </a:r>
              <a:endParaRPr lang="en-US" sz="1400" dirty="0"/>
            </a:p>
          </p:txBody>
        </p:sp>
        <p:sp>
          <p:nvSpPr>
            <p:cNvPr id="9" name="TextBox 8"/>
            <p:cNvSpPr txBox="1"/>
            <p:nvPr/>
          </p:nvSpPr>
          <p:spPr>
            <a:xfrm>
              <a:off x="2885261" y="5867400"/>
              <a:ext cx="543739" cy="307777"/>
            </a:xfrm>
            <a:prstGeom prst="rect">
              <a:avLst/>
            </a:prstGeom>
            <a:noFill/>
          </p:spPr>
          <p:txBody>
            <a:bodyPr wrap="none" rtlCol="0">
              <a:spAutoFit/>
            </a:bodyPr>
            <a:lstStyle/>
            <a:p>
              <a:r>
                <a:rPr lang="zh-CN" altLang="en-US" sz="1400" dirty="0" smtClean="0"/>
                <a:t>高温</a:t>
              </a:r>
              <a:endParaRPr lang="en-US" sz="1400" dirty="0"/>
            </a:p>
          </p:txBody>
        </p:sp>
      </p:grpSp>
      <p:sp>
        <p:nvSpPr>
          <p:cNvPr id="11" name="Right Brace 10"/>
          <p:cNvSpPr/>
          <p:nvPr/>
        </p:nvSpPr>
        <p:spPr>
          <a:xfrm>
            <a:off x="5486400" y="4114800"/>
            <a:ext cx="304800" cy="914400"/>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12" name="TextBox 11"/>
          <p:cNvSpPr txBox="1"/>
          <p:nvPr/>
        </p:nvSpPr>
        <p:spPr>
          <a:xfrm>
            <a:off x="2362200" y="5206425"/>
            <a:ext cx="6521337" cy="584775"/>
          </a:xfrm>
          <a:prstGeom prst="rect">
            <a:avLst/>
          </a:prstGeom>
          <a:noFill/>
        </p:spPr>
        <p:txBody>
          <a:bodyPr wrap="none" rtlCol="0">
            <a:spAutoFit/>
          </a:bodyPr>
          <a:lstStyle/>
          <a:p>
            <a:r>
              <a:rPr lang="zh-CN" altLang="en-US" sz="3200" dirty="0" smtClean="0"/>
              <a:t>总反应：</a:t>
            </a:r>
            <a:r>
              <a:rPr lang="en-US" sz="3200" dirty="0" smtClean="0"/>
              <a:t>3NO</a:t>
            </a:r>
            <a:r>
              <a:rPr lang="en-US" sz="3200" baseline="-25000" dirty="0" smtClean="0"/>
              <a:t>2</a:t>
            </a:r>
            <a:r>
              <a:rPr lang="en-US" sz="3200" dirty="0" smtClean="0"/>
              <a:t>  + H</a:t>
            </a:r>
            <a:r>
              <a:rPr lang="en-US" sz="3200" baseline="-25000" dirty="0" smtClean="0"/>
              <a:t>2</a:t>
            </a:r>
            <a:r>
              <a:rPr lang="en-US" sz="3200" dirty="0" smtClean="0"/>
              <a:t>O </a:t>
            </a:r>
            <a:r>
              <a:rPr lang="en-US" sz="3200" dirty="0" smtClean="0">
                <a:sym typeface="Wingdings" pitchFamily="2" charset="2"/>
              </a:rPr>
              <a:t> 2HNO</a:t>
            </a:r>
            <a:r>
              <a:rPr lang="en-US" sz="3200" baseline="-25000" dirty="0" smtClean="0">
                <a:sym typeface="Wingdings" pitchFamily="2" charset="2"/>
              </a:rPr>
              <a:t>3</a:t>
            </a:r>
            <a:r>
              <a:rPr lang="en-US" sz="3200" dirty="0" smtClean="0">
                <a:sym typeface="Wingdings" pitchFamily="2" charset="2"/>
              </a:rPr>
              <a:t> </a:t>
            </a:r>
            <a:r>
              <a:rPr lang="en-US" altLang="zh-CN" sz="3200" dirty="0" smtClean="0">
                <a:sym typeface="Wingdings" pitchFamily="2" charset="2"/>
              </a:rPr>
              <a:t>+ NO</a:t>
            </a:r>
            <a:endParaRPr lang="en-US" sz="3200" dirty="0"/>
          </a:p>
        </p:txBody>
      </p:sp>
      <p:sp>
        <p:nvSpPr>
          <p:cNvPr id="13" name="TextBox 12"/>
          <p:cNvSpPr txBox="1"/>
          <p:nvPr/>
        </p:nvSpPr>
        <p:spPr>
          <a:xfrm>
            <a:off x="533400" y="5892225"/>
            <a:ext cx="7047122" cy="584775"/>
          </a:xfrm>
          <a:prstGeom prst="rect">
            <a:avLst/>
          </a:prstGeom>
          <a:noFill/>
        </p:spPr>
        <p:txBody>
          <a:bodyPr wrap="none" rtlCol="0">
            <a:spAutoFit/>
          </a:bodyPr>
          <a:lstStyle/>
          <a:p>
            <a:r>
              <a:rPr lang="en-US" altLang="zh-CN" sz="3200" dirty="0" smtClean="0"/>
              <a:t>NO</a:t>
            </a:r>
            <a:r>
              <a:rPr lang="zh-CN" altLang="en-US" sz="3200" dirty="0" smtClean="0"/>
              <a:t>尾气处理：将尾气通入</a:t>
            </a:r>
            <a:r>
              <a:rPr lang="en-US" altLang="zh-CN" sz="3200" dirty="0" err="1" smtClean="0"/>
              <a:t>NaOH</a:t>
            </a:r>
            <a:r>
              <a:rPr lang="zh-CN" altLang="en-US" sz="3200" dirty="0" smtClean="0"/>
              <a:t>溶液中</a:t>
            </a:r>
            <a:endParaRPr lang="en-US" sz="3200" dirty="0"/>
          </a:p>
        </p:txBody>
      </p:sp>
      <p:sp>
        <p:nvSpPr>
          <p:cNvPr id="14" name="Rounded Rectangle 13"/>
          <p:cNvSpPr/>
          <p:nvPr/>
        </p:nvSpPr>
        <p:spPr>
          <a:xfrm>
            <a:off x="3581400" y="2209800"/>
            <a:ext cx="25908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
        <p:nvSpPr>
          <p:cNvPr id="15" name="Rounded Rectangle 14"/>
          <p:cNvSpPr/>
          <p:nvPr/>
        </p:nvSpPr>
        <p:spPr>
          <a:xfrm>
            <a:off x="2590800" y="3048000"/>
            <a:ext cx="15240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
        <p:nvSpPr>
          <p:cNvPr id="16" name="Rounded Rectangle 15"/>
          <p:cNvSpPr/>
          <p:nvPr/>
        </p:nvSpPr>
        <p:spPr>
          <a:xfrm>
            <a:off x="2971800" y="3886200"/>
            <a:ext cx="25146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xit" presetSubtype="10" fill="hold" grpId="0" nodeType="clickEffect">
                                  <p:stCondLst>
                                    <p:cond delay="0"/>
                                  </p:stCondLst>
                                  <p:childTnLst>
                                    <p:animEffect transition="out" filter="blinds(horizontal)">
                                      <p:cBhvr>
                                        <p:cTn id="21" dur="500"/>
                                        <p:tgtEl>
                                          <p:spTgt spid="14"/>
                                        </p:tgtEl>
                                      </p:cBhvr>
                                    </p:animEffect>
                                    <p:set>
                                      <p:cBhvr>
                                        <p:cTn id="22" dur="1" fill="hold">
                                          <p:stCondLst>
                                            <p:cond delay="499"/>
                                          </p:stCondLst>
                                        </p:cTn>
                                        <p:tgtEl>
                                          <p:spTgt spid="14"/>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blinds(horizontal)">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xit" presetSubtype="10" fill="hold" grpId="0" nodeType="clickEffect">
                                  <p:stCondLst>
                                    <p:cond delay="0"/>
                                  </p:stCondLst>
                                  <p:childTnLst>
                                    <p:animEffect transition="out" filter="blinds(horizontal)">
                                      <p:cBhvr>
                                        <p:cTn id="31" dur="500"/>
                                        <p:tgtEl>
                                          <p:spTgt spid="15"/>
                                        </p:tgtEl>
                                      </p:cBhvr>
                                    </p:animEffect>
                                    <p:set>
                                      <p:cBhvr>
                                        <p:cTn id="32" dur="1" fill="hold">
                                          <p:stCondLst>
                                            <p:cond delay="499"/>
                                          </p:stCondLst>
                                        </p:cTn>
                                        <p:tgtEl>
                                          <p:spTgt spid="15"/>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blinds(horizontal)">
                                      <p:cBhvr>
                                        <p:cTn id="37" dur="5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xit" presetSubtype="10" fill="hold" grpId="0" nodeType="clickEffect">
                                  <p:stCondLst>
                                    <p:cond delay="0"/>
                                  </p:stCondLst>
                                  <p:childTnLst>
                                    <p:animEffect transition="out" filter="blinds(horizontal)">
                                      <p:cBhvr>
                                        <p:cTn id="41" dur="500"/>
                                        <p:tgtEl>
                                          <p:spTgt spid="16"/>
                                        </p:tgtEl>
                                      </p:cBhvr>
                                    </p:animEffect>
                                    <p:set>
                                      <p:cBhvr>
                                        <p:cTn id="42" dur="1" fill="hold">
                                          <p:stCondLst>
                                            <p:cond delay="499"/>
                                          </p:stCondLst>
                                        </p:cTn>
                                        <p:tgtEl>
                                          <p:spTgt spid="16"/>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5" end="5"/>
                                            </p:txEl>
                                          </p:spTgt>
                                        </p:tgtEl>
                                        <p:attrNameLst>
                                          <p:attrName>style.visibility</p:attrName>
                                        </p:attrNameLst>
                                      </p:cBhvr>
                                      <p:to>
                                        <p:strVal val="visible"/>
                                      </p:to>
                                    </p:set>
                                    <p:animEffect transition="in" filter="blinds(horizontal)">
                                      <p:cBhvr>
                                        <p:cTn id="47" dur="500"/>
                                        <p:tgtEl>
                                          <p:spTgt spid="3">
                                            <p:txEl>
                                              <p:pRg st="5" end="5"/>
                                            </p:txEl>
                                          </p:spTgt>
                                        </p:tgtEl>
                                      </p:cBhvr>
                                    </p:animEffect>
                                  </p:childTnLst>
                                </p:cTn>
                              </p:par>
                              <p:par>
                                <p:cTn id="48" presetID="3" presetClass="entr" presetSubtype="10" fill="hold" nodeType="withEffect">
                                  <p:stCondLst>
                                    <p:cond delay="0"/>
                                  </p:stCondLst>
                                  <p:childTnLst>
                                    <p:set>
                                      <p:cBhvr>
                                        <p:cTn id="49" dur="1" fill="hold">
                                          <p:stCondLst>
                                            <p:cond delay="0"/>
                                          </p:stCondLst>
                                        </p:cTn>
                                        <p:tgtEl>
                                          <p:spTgt spid="6"/>
                                        </p:tgtEl>
                                        <p:attrNameLst>
                                          <p:attrName>style.visibility</p:attrName>
                                        </p:attrNameLst>
                                      </p:cBhvr>
                                      <p:to>
                                        <p:strVal val="visible"/>
                                      </p:to>
                                    </p:set>
                                    <p:animEffect transition="in" filter="blinds(horizontal)">
                                      <p:cBhvr>
                                        <p:cTn id="50" dur="500"/>
                                        <p:tgtEl>
                                          <p:spTgt spid="6"/>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11"/>
                                        </p:tgtEl>
                                        <p:attrNameLst>
                                          <p:attrName>style.visibility</p:attrName>
                                        </p:attrNameLst>
                                      </p:cBhvr>
                                      <p:to>
                                        <p:strVal val="visible"/>
                                      </p:to>
                                    </p:set>
                                    <p:animEffect transition="in" filter="blinds(horizontal)">
                                      <p:cBhvr>
                                        <p:cTn id="55" dur="500"/>
                                        <p:tgtEl>
                                          <p:spTgt spid="11"/>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12"/>
                                        </p:tgtEl>
                                        <p:attrNameLst>
                                          <p:attrName>style.visibility</p:attrName>
                                        </p:attrNameLst>
                                      </p:cBhvr>
                                      <p:to>
                                        <p:strVal val="visible"/>
                                      </p:to>
                                    </p:set>
                                    <p:animEffect transition="in" filter="blinds(horizontal)">
                                      <p:cBhvr>
                                        <p:cTn id="60" dur="500"/>
                                        <p:tgtEl>
                                          <p:spTgt spid="12"/>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grpId="0" nodeType="clickEffect">
                                  <p:stCondLst>
                                    <p:cond delay="0"/>
                                  </p:stCondLst>
                                  <p:childTnLst>
                                    <p:set>
                                      <p:cBhvr>
                                        <p:cTn id="64" dur="1" fill="hold">
                                          <p:stCondLst>
                                            <p:cond delay="0"/>
                                          </p:stCondLst>
                                        </p:cTn>
                                        <p:tgtEl>
                                          <p:spTgt spid="13"/>
                                        </p:tgtEl>
                                        <p:attrNameLst>
                                          <p:attrName>style.visibility</p:attrName>
                                        </p:attrNameLst>
                                      </p:cBhvr>
                                      <p:to>
                                        <p:strVal val="visible"/>
                                      </p:to>
                                    </p:set>
                                    <p:animEffect transition="in" filter="blinds(horizontal)">
                                      <p:cBhvr>
                                        <p:cTn id="6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1" grpId="0" animBg="1"/>
      <p:bldP spid="12" grpId="0"/>
      <p:bldP spid="13" grpId="0"/>
      <p:bldP spid="14" grpId="0" animBg="1"/>
      <p:bldP spid="15" grpId="0" animBg="1"/>
      <p:bldP spid="1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zh-CN" altLang="en-US" dirty="0" smtClean="0"/>
              <a:t>思考题</a:t>
            </a:r>
            <a:r>
              <a:rPr lang="en-US" altLang="zh-CN" dirty="0" smtClean="0"/>
              <a:t>13c</a:t>
            </a:r>
            <a:endParaRPr lang="en-US" dirty="0"/>
          </a:p>
        </p:txBody>
      </p:sp>
      <p:sp>
        <p:nvSpPr>
          <p:cNvPr id="3" name="Content Placeholder 2"/>
          <p:cNvSpPr>
            <a:spLocks noGrp="1"/>
          </p:cNvSpPr>
          <p:nvPr>
            <p:ph idx="1"/>
          </p:nvPr>
        </p:nvSpPr>
        <p:spPr>
          <a:xfrm>
            <a:off x="457200" y="1219200"/>
            <a:ext cx="8229600" cy="5486400"/>
          </a:xfrm>
        </p:spPr>
        <p:txBody>
          <a:bodyPr/>
          <a:lstStyle/>
          <a:p>
            <a:pPr marL="514350" indent="-514350">
              <a:buAutoNum type="arabicPeriod"/>
            </a:pPr>
            <a:r>
              <a:rPr lang="en-US" dirty="0" smtClean="0"/>
              <a:t>B </a:t>
            </a:r>
          </a:p>
          <a:p>
            <a:pPr marL="514350" indent="-514350">
              <a:buAutoNum type="arabicPeriod"/>
            </a:pPr>
            <a:r>
              <a:rPr lang="en-US" dirty="0" smtClean="0"/>
              <a:t>A </a:t>
            </a:r>
            <a:r>
              <a:rPr lang="zh-CN" altLang="en-US" dirty="0" smtClean="0"/>
              <a:t>浓稀硝酸都是强酸</a:t>
            </a:r>
            <a:endParaRPr lang="en-US" altLang="zh-CN" dirty="0" smtClean="0"/>
          </a:p>
          <a:p>
            <a:pPr marL="514350" indent="-514350">
              <a:buNone/>
            </a:pPr>
            <a:r>
              <a:rPr lang="en-US" dirty="0" smtClean="0"/>
              <a:t>	</a:t>
            </a:r>
            <a:r>
              <a:rPr lang="en-US" altLang="zh-CN" dirty="0" smtClean="0"/>
              <a:t>B </a:t>
            </a:r>
            <a:r>
              <a:rPr lang="zh-CN" altLang="en-US" dirty="0" smtClean="0"/>
              <a:t>铜与稀硝酸反应生成</a:t>
            </a:r>
            <a:r>
              <a:rPr lang="en-US" altLang="zh-CN" dirty="0" smtClean="0"/>
              <a:t>NO</a:t>
            </a:r>
          </a:p>
          <a:p>
            <a:pPr marL="514350" indent="-514350">
              <a:buNone/>
            </a:pPr>
            <a:r>
              <a:rPr lang="en-US" dirty="0" smtClean="0"/>
              <a:t>	</a:t>
            </a:r>
            <a:r>
              <a:rPr lang="en-US" altLang="zh-CN" dirty="0" smtClean="0"/>
              <a:t>C </a:t>
            </a:r>
            <a:r>
              <a:rPr lang="zh-CN" altLang="en-US" dirty="0" smtClean="0"/>
              <a:t>对</a:t>
            </a:r>
            <a:endParaRPr lang="en-US" altLang="zh-CN" dirty="0" smtClean="0"/>
          </a:p>
          <a:p>
            <a:pPr marL="514350" indent="-514350">
              <a:buNone/>
            </a:pPr>
            <a:r>
              <a:rPr lang="en-US" dirty="0" smtClean="0"/>
              <a:t>	</a:t>
            </a:r>
            <a:r>
              <a:rPr lang="en-US" altLang="zh-CN" dirty="0" smtClean="0"/>
              <a:t>D </a:t>
            </a:r>
            <a:r>
              <a:rPr lang="zh-CN" altLang="en-US" dirty="0" smtClean="0"/>
              <a:t>浓稀硝酸与金属反应都不产生</a:t>
            </a:r>
            <a:r>
              <a:rPr lang="en-US" altLang="zh-CN" dirty="0" smtClean="0"/>
              <a:t>H</a:t>
            </a:r>
            <a:r>
              <a:rPr lang="en-US" altLang="zh-CN" baseline="-25000" dirty="0" smtClean="0"/>
              <a:t>2</a:t>
            </a:r>
            <a:r>
              <a:rPr lang="en-US" altLang="zh-CN" dirty="0" smtClean="0"/>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en-US" altLang="zh-CN" dirty="0" smtClean="0"/>
              <a:t>13.4 </a:t>
            </a:r>
            <a:r>
              <a:rPr lang="zh-CN" altLang="en-US" dirty="0" smtClean="0"/>
              <a:t>硝酸盐</a:t>
            </a:r>
            <a:endParaRPr lang="en-US" dirty="0"/>
          </a:p>
        </p:txBody>
      </p:sp>
      <p:sp>
        <p:nvSpPr>
          <p:cNvPr id="3" name="Content Placeholder 2"/>
          <p:cNvSpPr>
            <a:spLocks noGrp="1"/>
          </p:cNvSpPr>
          <p:nvPr>
            <p:ph idx="1"/>
          </p:nvPr>
        </p:nvSpPr>
        <p:spPr>
          <a:xfrm>
            <a:off x="457200" y="1219200"/>
            <a:ext cx="8229600" cy="5486400"/>
          </a:xfrm>
        </p:spPr>
        <p:txBody>
          <a:bodyPr/>
          <a:lstStyle/>
          <a:p>
            <a:pPr>
              <a:buNone/>
            </a:pPr>
            <a:r>
              <a:rPr lang="zh-CN" altLang="en-US" dirty="0" smtClean="0"/>
              <a:t>感知生活（</a:t>
            </a:r>
            <a:r>
              <a:rPr lang="en-US" altLang="zh-CN" dirty="0" smtClean="0"/>
              <a:t>13.4.1</a:t>
            </a:r>
            <a:r>
              <a:rPr lang="zh-CN" altLang="en-US" dirty="0" smtClean="0"/>
              <a:t>硝酸盐的通性）</a:t>
            </a:r>
            <a:endParaRPr lang="en-US" altLang="zh-CN" dirty="0" smtClean="0"/>
          </a:p>
          <a:p>
            <a:pPr>
              <a:buFont typeface="Wingdings" pitchFamily="2" charset="2"/>
              <a:buChar char="Ø"/>
            </a:pPr>
            <a:r>
              <a:rPr lang="zh-CN" altLang="en-US" dirty="0" smtClean="0"/>
              <a:t>极易溶于水</a:t>
            </a:r>
            <a:endParaRPr lang="en-US" altLang="zh-CN" dirty="0" smtClean="0"/>
          </a:p>
          <a:p>
            <a:pPr>
              <a:buFont typeface="Wingdings" pitchFamily="2" charset="2"/>
              <a:buChar char="Ø"/>
            </a:pPr>
            <a:r>
              <a:rPr lang="zh-CN" altLang="en-US" dirty="0" smtClean="0"/>
              <a:t>多数具有潮解性</a:t>
            </a:r>
            <a:endParaRPr lang="en-US" altLang="zh-CN" dirty="0" smtClean="0"/>
          </a:p>
          <a:p>
            <a:pPr>
              <a:buFont typeface="Wingdings" pitchFamily="2" charset="2"/>
              <a:buChar char="Ø"/>
            </a:pPr>
            <a:r>
              <a:rPr lang="zh-CN" altLang="en-US" dirty="0" smtClean="0"/>
              <a:t>不稳定，受热易分解</a:t>
            </a:r>
            <a:endParaRPr lang="en-US" altLang="zh-CN" dirty="0" smtClean="0"/>
          </a:p>
          <a:p>
            <a:pPr>
              <a:buFont typeface="Wingdings" pitchFamily="2" charset="2"/>
              <a:buChar char="Ø"/>
            </a:pPr>
            <a:r>
              <a:rPr lang="zh-CN" altLang="en-US" dirty="0" smtClean="0"/>
              <a:t>硝酸盐受热分解一般放出氧气，因此硝酸盐在高温时是强氧化剂。</a:t>
            </a:r>
            <a:endParaRPr lang="en-US" altLang="zh-CN" dirty="0" smtClean="0"/>
          </a:p>
          <a:p>
            <a:pPr>
              <a:buNone/>
            </a:pPr>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en-US" altLang="zh-CN" dirty="0" smtClean="0"/>
              <a:t>13.4.1 </a:t>
            </a:r>
            <a:r>
              <a:rPr lang="zh-CN" altLang="en-US" dirty="0" smtClean="0"/>
              <a:t>硝酸盐的通性</a:t>
            </a:r>
            <a:endParaRPr lang="en-US" dirty="0"/>
          </a:p>
        </p:txBody>
      </p:sp>
      <p:sp>
        <p:nvSpPr>
          <p:cNvPr id="3" name="Content Placeholder 2"/>
          <p:cNvSpPr>
            <a:spLocks noGrp="1"/>
          </p:cNvSpPr>
          <p:nvPr>
            <p:ph idx="1"/>
          </p:nvPr>
        </p:nvSpPr>
        <p:spPr>
          <a:xfrm>
            <a:off x="457200" y="1219200"/>
            <a:ext cx="8229600" cy="5486400"/>
          </a:xfrm>
        </p:spPr>
        <p:txBody>
          <a:bodyPr/>
          <a:lstStyle/>
          <a:p>
            <a:pPr>
              <a:buNone/>
            </a:pPr>
            <a:r>
              <a:rPr lang="zh-CN" altLang="en-US" dirty="0" smtClean="0"/>
              <a:t>活动</a:t>
            </a:r>
            <a:r>
              <a:rPr lang="en-US" altLang="zh-CN" dirty="0" smtClean="0"/>
              <a:t>3</a:t>
            </a:r>
          </a:p>
          <a:p>
            <a:pPr>
              <a:buNone/>
            </a:pPr>
            <a:r>
              <a:rPr lang="zh-CN" altLang="en-US" dirty="0" smtClean="0"/>
              <a:t>现象：蓝色固体变成黑色，</a:t>
            </a:r>
            <a:r>
              <a:rPr lang="en-US" altLang="zh-CN" dirty="0" smtClean="0"/>
              <a:t>U</a:t>
            </a:r>
            <a:r>
              <a:rPr lang="zh-CN" altLang="en-US" dirty="0" smtClean="0"/>
              <a:t>形管内有淡黄色液体，余烬的木枝复燃。</a:t>
            </a:r>
            <a:endParaRPr lang="en-US" altLang="zh-CN" dirty="0" smtClean="0"/>
          </a:p>
          <a:p>
            <a:pPr>
              <a:buNone/>
            </a:pPr>
            <a:r>
              <a:rPr lang="en-US" altLang="zh-CN" dirty="0" smtClean="0"/>
              <a:t>2Cu(NO</a:t>
            </a:r>
            <a:r>
              <a:rPr lang="en-US" altLang="zh-CN" baseline="-25000" dirty="0" smtClean="0"/>
              <a:t>3</a:t>
            </a:r>
            <a:r>
              <a:rPr lang="en-US" altLang="zh-CN" dirty="0" smtClean="0"/>
              <a:t>)</a:t>
            </a:r>
            <a:r>
              <a:rPr lang="en-US" altLang="zh-CN" baseline="-25000" dirty="0" smtClean="0"/>
              <a:t>2</a:t>
            </a:r>
            <a:r>
              <a:rPr lang="en-US" altLang="zh-CN" dirty="0" smtClean="0"/>
              <a:t> 		 2CuO + 4 NO</a:t>
            </a:r>
            <a:r>
              <a:rPr lang="en-US" altLang="zh-CN" baseline="-25000" dirty="0" smtClean="0"/>
              <a:t>2</a:t>
            </a:r>
            <a:r>
              <a:rPr lang="en-US" altLang="zh-CN" dirty="0" smtClean="0"/>
              <a:t> + O</a:t>
            </a:r>
            <a:r>
              <a:rPr lang="en-US" altLang="zh-CN" baseline="-25000" dirty="0" smtClean="0"/>
              <a:t>2</a:t>
            </a:r>
            <a:r>
              <a:rPr lang="en-US" altLang="zh-CN" dirty="0" smtClean="0"/>
              <a:t> </a:t>
            </a:r>
          </a:p>
          <a:p>
            <a:pPr>
              <a:buNone/>
            </a:pPr>
            <a:endParaRPr lang="en-US" dirty="0" smtClean="0"/>
          </a:p>
          <a:p>
            <a:pPr>
              <a:buNone/>
            </a:pPr>
            <a:r>
              <a:rPr lang="zh-CN" altLang="en-US" dirty="0" smtClean="0"/>
              <a:t>活动</a:t>
            </a:r>
            <a:r>
              <a:rPr lang="en-US" altLang="zh-CN" dirty="0" smtClean="0"/>
              <a:t>4</a:t>
            </a:r>
          </a:p>
          <a:p>
            <a:pPr>
              <a:buNone/>
            </a:pPr>
            <a:r>
              <a:rPr lang="zh-CN" altLang="en-US" dirty="0" smtClean="0"/>
              <a:t>现象：无色固体变成银色，</a:t>
            </a:r>
            <a:r>
              <a:rPr lang="en-US" altLang="zh-CN" dirty="0" smtClean="0"/>
              <a:t>U</a:t>
            </a:r>
            <a:r>
              <a:rPr lang="zh-CN" altLang="en-US" dirty="0" smtClean="0"/>
              <a:t>形管内有淡黄色液体，余烬的木枝复燃。</a:t>
            </a:r>
            <a:endParaRPr lang="en-US" altLang="zh-CN" dirty="0" smtClean="0"/>
          </a:p>
          <a:p>
            <a:pPr>
              <a:buNone/>
            </a:pPr>
            <a:r>
              <a:rPr lang="en-US" altLang="zh-CN" dirty="0" smtClean="0"/>
              <a:t>    2AgNO</a:t>
            </a:r>
            <a:r>
              <a:rPr lang="en-US" altLang="zh-CN" baseline="-25000" dirty="0" smtClean="0"/>
              <a:t>3</a:t>
            </a:r>
            <a:r>
              <a:rPr lang="en-US" altLang="zh-CN" dirty="0" smtClean="0"/>
              <a:t> 		 2Ag + 2 NO</a:t>
            </a:r>
            <a:r>
              <a:rPr lang="en-US" altLang="zh-CN" baseline="-25000" dirty="0" smtClean="0"/>
              <a:t>2</a:t>
            </a:r>
            <a:r>
              <a:rPr lang="en-US" altLang="zh-CN" dirty="0" smtClean="0"/>
              <a:t> + O</a:t>
            </a:r>
            <a:r>
              <a:rPr lang="en-US" altLang="zh-CN" baseline="-25000" dirty="0" smtClean="0"/>
              <a:t>2</a:t>
            </a:r>
            <a:r>
              <a:rPr lang="en-US" altLang="zh-CN" dirty="0" smtClean="0"/>
              <a:t> </a:t>
            </a:r>
          </a:p>
          <a:p>
            <a:pPr>
              <a:buNone/>
            </a:pPr>
            <a:endParaRPr lang="en-US" dirty="0"/>
          </a:p>
        </p:txBody>
      </p:sp>
      <p:grpSp>
        <p:nvGrpSpPr>
          <p:cNvPr id="5" name="Group 4"/>
          <p:cNvGrpSpPr/>
          <p:nvPr/>
        </p:nvGrpSpPr>
        <p:grpSpPr>
          <a:xfrm>
            <a:off x="2438400" y="3048000"/>
            <a:ext cx="838200" cy="152400"/>
            <a:chOff x="3581400" y="1752600"/>
            <a:chExt cx="838200" cy="152400"/>
          </a:xfrm>
        </p:grpSpPr>
        <p:cxnSp>
          <p:nvCxnSpPr>
            <p:cNvPr id="6" name="Straight Arrow Connector 5"/>
            <p:cNvCxnSpPr/>
            <p:nvPr/>
          </p:nvCxnSpPr>
          <p:spPr bwMode="auto">
            <a:xfrm>
              <a:off x="3581400" y="1903412"/>
              <a:ext cx="8382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7" name="Isosceles Triangle 6"/>
            <p:cNvSpPr/>
            <p:nvPr/>
          </p:nvSpPr>
          <p:spPr bwMode="auto">
            <a:xfrm>
              <a:off x="3886200" y="1752600"/>
              <a:ext cx="228600" cy="152400"/>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3000" dirty="0">
                <a:solidFill>
                  <a:schemeClr val="tx1"/>
                </a:solidFill>
              </a:endParaRPr>
            </a:p>
          </p:txBody>
        </p:sp>
      </p:grpSp>
      <p:grpSp>
        <p:nvGrpSpPr>
          <p:cNvPr id="8" name="Group 7"/>
          <p:cNvGrpSpPr/>
          <p:nvPr/>
        </p:nvGrpSpPr>
        <p:grpSpPr>
          <a:xfrm>
            <a:off x="2438400" y="5867400"/>
            <a:ext cx="838200" cy="152400"/>
            <a:chOff x="3581400" y="1752600"/>
            <a:chExt cx="838200" cy="152400"/>
          </a:xfrm>
        </p:grpSpPr>
        <p:cxnSp>
          <p:nvCxnSpPr>
            <p:cNvPr id="9" name="Straight Arrow Connector 8"/>
            <p:cNvCxnSpPr/>
            <p:nvPr/>
          </p:nvCxnSpPr>
          <p:spPr bwMode="auto">
            <a:xfrm>
              <a:off x="3581400" y="1903412"/>
              <a:ext cx="8382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10" name="Isosceles Triangle 9"/>
            <p:cNvSpPr/>
            <p:nvPr/>
          </p:nvSpPr>
          <p:spPr bwMode="auto">
            <a:xfrm>
              <a:off x="3886200" y="1752600"/>
              <a:ext cx="228600" cy="152400"/>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3000" dirty="0">
                <a:solidFill>
                  <a:schemeClr val="tx1"/>
                </a:solidFill>
              </a:endParaRPr>
            </a:p>
          </p:txBody>
        </p:sp>
      </p:grpSp>
      <p:sp>
        <p:nvSpPr>
          <p:cNvPr id="11" name="Rounded Rectangle 10"/>
          <p:cNvSpPr/>
          <p:nvPr/>
        </p:nvSpPr>
        <p:spPr>
          <a:xfrm>
            <a:off x="3276600" y="2971800"/>
            <a:ext cx="32766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
        <p:nvSpPr>
          <p:cNvPr id="12" name="Rounded Rectangle 11"/>
          <p:cNvSpPr/>
          <p:nvPr/>
        </p:nvSpPr>
        <p:spPr>
          <a:xfrm>
            <a:off x="3276600" y="5791200"/>
            <a:ext cx="32766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blinds(horizontal)">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xit" presetSubtype="10" fill="hold" grpId="0" nodeType="clickEffect">
                                  <p:stCondLst>
                                    <p:cond delay="0"/>
                                  </p:stCondLst>
                                  <p:childTnLst>
                                    <p:animEffect transition="out" filter="blinds(horizontal)">
                                      <p:cBhvr>
                                        <p:cTn id="24" dur="500"/>
                                        <p:tgtEl>
                                          <p:spTgt spid="11"/>
                                        </p:tgtEl>
                                      </p:cBhvr>
                                    </p:animEffect>
                                    <p:set>
                                      <p:cBhvr>
                                        <p:cTn id="25" dur="1" fill="hold">
                                          <p:stCondLst>
                                            <p:cond delay="499"/>
                                          </p:stCondLst>
                                        </p:cTn>
                                        <p:tgtEl>
                                          <p:spTgt spid="11"/>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blinds(horizontal)">
                                      <p:cBhvr>
                                        <p:cTn id="30" dur="500"/>
                                        <p:tgtEl>
                                          <p:spTgt spid="3">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blinds(horizontal)">
                                      <p:cBhvr>
                                        <p:cTn id="35" dur="500"/>
                                        <p:tgtEl>
                                          <p:spTgt spid="3">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3">
                                            <p:txEl>
                                              <p:pRg st="6" end="6"/>
                                            </p:txEl>
                                          </p:spTgt>
                                        </p:tgtEl>
                                        <p:attrNameLst>
                                          <p:attrName>style.visibility</p:attrName>
                                        </p:attrNameLst>
                                      </p:cBhvr>
                                      <p:to>
                                        <p:strVal val="visible"/>
                                      </p:to>
                                    </p:set>
                                    <p:animEffect transition="in" filter="blinds(horizontal)">
                                      <p:cBhvr>
                                        <p:cTn id="40" dur="500"/>
                                        <p:tgtEl>
                                          <p:spTgt spid="3">
                                            <p:txEl>
                                              <p:pRg st="6" end="6"/>
                                            </p:txEl>
                                          </p:spTgt>
                                        </p:tgtEl>
                                      </p:cBhvr>
                                    </p:animEffect>
                                  </p:childTnLst>
                                </p:cTn>
                              </p:par>
                              <p:par>
                                <p:cTn id="41" presetID="3" presetClass="entr" presetSubtype="10" fill="hold" nodeType="with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blinds(horizontal)">
                                      <p:cBhvr>
                                        <p:cTn id="43" dur="500"/>
                                        <p:tgtEl>
                                          <p:spTgt spid="8"/>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xit" presetSubtype="10" fill="hold" grpId="0" nodeType="clickEffect">
                                  <p:stCondLst>
                                    <p:cond delay="0"/>
                                  </p:stCondLst>
                                  <p:childTnLst>
                                    <p:animEffect transition="out" filter="blinds(horizontal)">
                                      <p:cBhvr>
                                        <p:cTn id="47" dur="500"/>
                                        <p:tgtEl>
                                          <p:spTgt spid="12"/>
                                        </p:tgtEl>
                                      </p:cBhvr>
                                    </p:animEffect>
                                    <p:set>
                                      <p:cBhvr>
                                        <p:cTn id="48"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1" grpId="0" animBg="1"/>
      <p:bldP spid="1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en-US" altLang="zh-CN" dirty="0" smtClean="0"/>
              <a:t>13.4.1 </a:t>
            </a:r>
            <a:r>
              <a:rPr lang="zh-CN" altLang="en-US" dirty="0" smtClean="0"/>
              <a:t>硝酸盐的通性</a:t>
            </a:r>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xmlns="" val="1823391342"/>
              </p:ext>
            </p:extLst>
          </p:nvPr>
        </p:nvGraphicFramePr>
        <p:xfrm>
          <a:off x="123422" y="1047051"/>
          <a:ext cx="8944378" cy="5734749"/>
        </p:xfrm>
        <a:graphic>
          <a:graphicData uri="http://schemas.openxmlformats.org/drawingml/2006/table">
            <a:tbl>
              <a:tblPr firstRow="1" bandRow="1">
                <a:tableStyleId>{5C22544A-7EE6-4342-B048-85BDC9FD1C3A}</a:tableStyleId>
              </a:tblPr>
              <a:tblGrid>
                <a:gridCol w="2924578"/>
                <a:gridCol w="1828800"/>
                <a:gridCol w="4191000"/>
              </a:tblGrid>
              <a:tr h="881526">
                <a:tc>
                  <a:txBody>
                    <a:bodyPr/>
                    <a:lstStyle/>
                    <a:p>
                      <a:pPr algn="ctr"/>
                      <a:r>
                        <a:rPr lang="zh-CN" altLang="en-US" sz="2400" dirty="0" smtClean="0"/>
                        <a:t>硝酸盐</a:t>
                      </a:r>
                      <a:endParaRPr lang="en-US" sz="2400" dirty="0"/>
                    </a:p>
                  </a:txBody>
                  <a:tcPr marL="68580" marR="68580" anchor="ctr"/>
                </a:tc>
                <a:tc>
                  <a:txBody>
                    <a:bodyPr/>
                    <a:lstStyle/>
                    <a:p>
                      <a:pPr algn="ctr"/>
                      <a:r>
                        <a:rPr lang="zh-CN" altLang="en-US" sz="2400" dirty="0" smtClean="0"/>
                        <a:t>受热分解后生成物</a:t>
                      </a:r>
                      <a:endParaRPr lang="en-US" sz="2400" dirty="0"/>
                    </a:p>
                  </a:txBody>
                  <a:tcPr marL="68580" marR="68580" anchor="ctr"/>
                </a:tc>
                <a:tc>
                  <a:txBody>
                    <a:bodyPr/>
                    <a:lstStyle/>
                    <a:p>
                      <a:pPr algn="ctr"/>
                      <a:r>
                        <a:rPr lang="zh-CN" altLang="en-US" sz="2400" dirty="0" smtClean="0"/>
                        <a:t>例子</a:t>
                      </a:r>
                      <a:endParaRPr lang="en-US" sz="2400" dirty="0"/>
                    </a:p>
                  </a:txBody>
                  <a:tcPr marL="68580" marR="68580" anchor="ctr"/>
                </a:tc>
              </a:tr>
              <a:tr h="1046509">
                <a:tc>
                  <a:txBody>
                    <a:bodyPr/>
                    <a:lstStyle/>
                    <a:p>
                      <a:pPr algn="ctr"/>
                      <a:r>
                        <a:rPr lang="zh-CN" altLang="en-US" sz="2400" dirty="0" smtClean="0"/>
                        <a:t>活泼金属的硝酸盐：</a:t>
                      </a:r>
                      <a:endParaRPr lang="en-US" altLang="zh-CN" sz="2400" dirty="0" smtClean="0"/>
                    </a:p>
                    <a:p>
                      <a:pPr algn="ctr"/>
                      <a:r>
                        <a:rPr lang="en-US" altLang="zh-CN" sz="2400" dirty="0" smtClean="0">
                          <a:solidFill>
                            <a:srgbClr val="FF0000"/>
                          </a:solidFill>
                        </a:rPr>
                        <a:t>KNO₃, </a:t>
                      </a:r>
                      <a:r>
                        <a:rPr lang="en-US" altLang="zh-CN" sz="2400" dirty="0" err="1" smtClean="0">
                          <a:solidFill>
                            <a:srgbClr val="FF0000"/>
                          </a:solidFill>
                        </a:rPr>
                        <a:t>NaNO</a:t>
                      </a:r>
                      <a:r>
                        <a:rPr lang="en-US" altLang="zh-CN" sz="2400" dirty="0" smtClean="0">
                          <a:solidFill>
                            <a:srgbClr val="FF0000"/>
                          </a:solidFill>
                        </a:rPr>
                        <a:t>₃</a:t>
                      </a:r>
                      <a:endParaRPr lang="en-US" sz="2400" dirty="0">
                        <a:solidFill>
                          <a:srgbClr val="FF0000"/>
                        </a:solidFill>
                      </a:endParaRPr>
                    </a:p>
                  </a:txBody>
                  <a:tcPr marL="68580" marR="68580" anchor="ctr"/>
                </a:tc>
                <a:tc>
                  <a:txBody>
                    <a:bodyPr/>
                    <a:lstStyle/>
                    <a:p>
                      <a:pPr algn="ctr"/>
                      <a:r>
                        <a:rPr lang="zh-CN" altLang="en-US" sz="2400" dirty="0" smtClean="0"/>
                        <a:t>亚硝酸盐</a:t>
                      </a:r>
                      <a:endParaRPr lang="en-US" altLang="zh-CN" sz="2400" dirty="0" smtClean="0"/>
                    </a:p>
                    <a:p>
                      <a:pPr algn="ctr"/>
                      <a:r>
                        <a:rPr lang="en-US" altLang="zh-CN" sz="2400" dirty="0" smtClean="0"/>
                        <a:t>+</a:t>
                      </a:r>
                      <a:r>
                        <a:rPr lang="zh-CN" altLang="en-US" sz="2400" dirty="0" smtClean="0"/>
                        <a:t>氧气</a:t>
                      </a:r>
                      <a:endParaRPr lang="en-US" sz="2400" dirty="0"/>
                    </a:p>
                  </a:txBody>
                  <a:tcPr marL="68580" marR="68580" anchor="ctr"/>
                </a:tc>
                <a:tc>
                  <a:txBody>
                    <a:bodyPr/>
                    <a:lstStyle/>
                    <a:p>
                      <a:endParaRPr lang="en-US" sz="2400"/>
                    </a:p>
                  </a:txBody>
                  <a:tcPr marL="68580" marR="68580" anchor="ctr">
                    <a:blipFill rotWithShape="1">
                      <a:blip r:embed="rId3"/>
                      <a:stretch>
                        <a:fillRect l="-97526" t="-70000" r="-103" b="-314615"/>
                      </a:stretch>
                    </a:blipFill>
                  </a:tcPr>
                </a:tc>
              </a:tr>
              <a:tr h="2448684">
                <a:tc>
                  <a:txBody>
                    <a:bodyPr/>
                    <a:lstStyle/>
                    <a:p>
                      <a:pPr algn="ctr"/>
                      <a:r>
                        <a:rPr lang="zh-CN" altLang="en-US" sz="2400" dirty="0" smtClean="0"/>
                        <a:t>较不活泼金属的硝酸盐：</a:t>
                      </a:r>
                      <a:r>
                        <a:rPr lang="en-US" sz="2400" dirty="0" smtClean="0">
                          <a:solidFill>
                            <a:srgbClr val="FF0000"/>
                          </a:solidFill>
                        </a:rPr>
                        <a:t>Mg(NO</a:t>
                      </a:r>
                      <a:r>
                        <a:rPr lang="en-US" altLang="zh-CN" sz="2400" dirty="0" smtClean="0">
                          <a:solidFill>
                            <a:srgbClr val="FF0000"/>
                          </a:solidFill>
                        </a:rPr>
                        <a:t>₃</a:t>
                      </a:r>
                      <a:r>
                        <a:rPr lang="en-US" sz="2400" dirty="0" smtClean="0">
                          <a:solidFill>
                            <a:srgbClr val="FF0000"/>
                          </a:solidFill>
                        </a:rPr>
                        <a:t>)</a:t>
                      </a:r>
                      <a:r>
                        <a:rPr lang="en-US" altLang="zh-CN" sz="2400" dirty="0" smtClean="0">
                          <a:solidFill>
                            <a:srgbClr val="FF0000"/>
                          </a:solidFill>
                        </a:rPr>
                        <a:t>₂</a:t>
                      </a:r>
                      <a:r>
                        <a:rPr lang="en-US" sz="2400" dirty="0" smtClean="0">
                          <a:solidFill>
                            <a:srgbClr val="FF0000"/>
                          </a:solidFill>
                        </a:rPr>
                        <a:t>,</a:t>
                      </a:r>
                      <a:r>
                        <a:rPr lang="en-US" sz="2400" baseline="0" dirty="0" smtClean="0">
                          <a:solidFill>
                            <a:srgbClr val="FF0000"/>
                          </a:solidFill>
                        </a:rPr>
                        <a:t> </a:t>
                      </a:r>
                      <a:r>
                        <a:rPr lang="en-US" sz="2400" dirty="0" smtClean="0">
                          <a:solidFill>
                            <a:srgbClr val="FF0000"/>
                          </a:solidFill>
                        </a:rPr>
                        <a:t>Al(NO</a:t>
                      </a:r>
                      <a:r>
                        <a:rPr lang="en-US" altLang="zh-CN" sz="2400" dirty="0" smtClean="0">
                          <a:solidFill>
                            <a:srgbClr val="FF0000"/>
                          </a:solidFill>
                        </a:rPr>
                        <a:t>₃)</a:t>
                      </a:r>
                      <a:r>
                        <a:rPr lang="en-US" altLang="zh-CN" sz="2400" baseline="-25000" dirty="0" smtClean="0">
                          <a:solidFill>
                            <a:srgbClr val="FF0000"/>
                          </a:solidFill>
                        </a:rPr>
                        <a:t>3</a:t>
                      </a:r>
                      <a:r>
                        <a:rPr lang="en-US" altLang="zh-CN" sz="2400" dirty="0" smtClean="0">
                          <a:solidFill>
                            <a:srgbClr val="FF0000"/>
                          </a:solidFill>
                        </a:rPr>
                        <a:t>,Zn(NO₃)₂, </a:t>
                      </a:r>
                      <a:r>
                        <a:rPr lang="en-US" sz="2400" dirty="0" smtClean="0">
                          <a:solidFill>
                            <a:srgbClr val="FF0000"/>
                          </a:solidFill>
                        </a:rPr>
                        <a:t>Fe(NO</a:t>
                      </a:r>
                      <a:r>
                        <a:rPr lang="en-US" altLang="zh-CN" sz="2400" dirty="0" smtClean="0">
                          <a:solidFill>
                            <a:srgbClr val="FF0000"/>
                          </a:solidFill>
                        </a:rPr>
                        <a:t>₃)₂,</a:t>
                      </a:r>
                      <a:r>
                        <a:rPr lang="en-US" sz="2400" dirty="0" smtClean="0">
                          <a:solidFill>
                            <a:srgbClr val="FF0000"/>
                          </a:solidFill>
                        </a:rPr>
                        <a:t> Fe(NO</a:t>
                      </a:r>
                      <a:r>
                        <a:rPr lang="en-US" altLang="zh-CN" sz="2400" dirty="0" smtClean="0">
                          <a:solidFill>
                            <a:srgbClr val="FF0000"/>
                          </a:solidFill>
                        </a:rPr>
                        <a:t>₃)₃,</a:t>
                      </a:r>
                      <a:r>
                        <a:rPr lang="en-US" altLang="zh-CN" sz="2400" baseline="0" dirty="0" smtClean="0">
                          <a:solidFill>
                            <a:srgbClr val="FF0000"/>
                          </a:solidFill>
                        </a:rPr>
                        <a:t> </a:t>
                      </a:r>
                      <a:r>
                        <a:rPr lang="en-US" altLang="zh-CN" sz="2400" dirty="0" err="1" smtClean="0">
                          <a:solidFill>
                            <a:srgbClr val="FF0000"/>
                          </a:solidFill>
                        </a:rPr>
                        <a:t>Pb</a:t>
                      </a:r>
                      <a:r>
                        <a:rPr lang="en-US" sz="2400" dirty="0" smtClean="0">
                          <a:solidFill>
                            <a:srgbClr val="FF0000"/>
                          </a:solidFill>
                        </a:rPr>
                        <a:t>(NO</a:t>
                      </a:r>
                      <a:r>
                        <a:rPr lang="en-US" altLang="zh-CN" sz="2400" dirty="0" smtClean="0">
                          <a:solidFill>
                            <a:srgbClr val="FF0000"/>
                          </a:solidFill>
                        </a:rPr>
                        <a:t>₃)₂, Cu</a:t>
                      </a:r>
                      <a:r>
                        <a:rPr lang="en-US" sz="2400" dirty="0" smtClean="0">
                          <a:solidFill>
                            <a:srgbClr val="FF0000"/>
                          </a:solidFill>
                        </a:rPr>
                        <a:t>(NO</a:t>
                      </a:r>
                      <a:r>
                        <a:rPr lang="en-US" altLang="zh-CN" sz="2400" dirty="0" smtClean="0">
                          <a:solidFill>
                            <a:srgbClr val="FF0000"/>
                          </a:solidFill>
                        </a:rPr>
                        <a:t>₃)₂</a:t>
                      </a:r>
                      <a:endParaRPr lang="en-US" sz="2400" dirty="0">
                        <a:solidFill>
                          <a:srgbClr val="FF0000"/>
                        </a:solidFill>
                      </a:endParaRPr>
                    </a:p>
                  </a:txBody>
                  <a:tcPr marL="68580" marR="68580" anchor="ctr"/>
                </a:tc>
                <a:tc>
                  <a:txBody>
                    <a:bodyPr/>
                    <a:lstStyle/>
                    <a:p>
                      <a:pPr algn="ctr"/>
                      <a:r>
                        <a:rPr lang="zh-CN" altLang="en-US" sz="2400" dirty="0" smtClean="0"/>
                        <a:t>金属氧化物</a:t>
                      </a:r>
                      <a:endParaRPr lang="en-US" altLang="zh-CN" sz="2400" dirty="0" smtClean="0"/>
                    </a:p>
                    <a:p>
                      <a:pPr algn="ctr"/>
                      <a:r>
                        <a:rPr lang="en-US" altLang="zh-CN" sz="2400" dirty="0" smtClean="0"/>
                        <a:t>+</a:t>
                      </a:r>
                      <a:r>
                        <a:rPr lang="zh-CN" altLang="en-US" sz="2400" dirty="0" smtClean="0"/>
                        <a:t>二氧化氮</a:t>
                      </a:r>
                      <a:endParaRPr lang="en-US" altLang="zh-CN" sz="2400" dirty="0" smtClean="0"/>
                    </a:p>
                    <a:p>
                      <a:pPr algn="ctr"/>
                      <a:r>
                        <a:rPr lang="en-US" altLang="zh-CN" sz="2400" dirty="0" smtClean="0"/>
                        <a:t>+</a:t>
                      </a:r>
                      <a:r>
                        <a:rPr lang="zh-CN" altLang="en-US" sz="2400" dirty="0" smtClean="0"/>
                        <a:t>氧气</a:t>
                      </a:r>
                      <a:endParaRPr lang="en-US" sz="2400" dirty="0"/>
                    </a:p>
                  </a:txBody>
                  <a:tcPr marL="68580" marR="68580" anchor="ctr"/>
                </a:tc>
                <a:tc>
                  <a:txBody>
                    <a:bodyPr/>
                    <a:lstStyle/>
                    <a:p>
                      <a:endParaRPr lang="en-US" sz="2400" dirty="0"/>
                    </a:p>
                  </a:txBody>
                  <a:tcPr marL="68580" marR="68580" anchor="ctr">
                    <a:blipFill rotWithShape="1">
                      <a:blip r:embed="rId3"/>
                      <a:stretch>
                        <a:fillRect l="-97526" t="-92083" r="-103" b="-70417"/>
                      </a:stretch>
                    </a:blipFill>
                  </a:tcPr>
                </a:tc>
              </a:tr>
              <a:tr h="1358030">
                <a:tc>
                  <a:txBody>
                    <a:bodyPr/>
                    <a:lstStyle/>
                    <a:p>
                      <a:pPr algn="ctr"/>
                      <a:r>
                        <a:rPr lang="zh-CN" altLang="en-US" sz="2400" dirty="0" smtClean="0"/>
                        <a:t>不活泼金属的硝酸盐：</a:t>
                      </a:r>
                      <a:r>
                        <a:rPr lang="en-US" altLang="zh-CN" sz="2400" dirty="0" smtClean="0">
                          <a:solidFill>
                            <a:srgbClr val="FF0000"/>
                          </a:solidFill>
                        </a:rPr>
                        <a:t>Hg(NO₃)₂,</a:t>
                      </a:r>
                      <a:r>
                        <a:rPr lang="en-US" altLang="zh-CN" sz="2400" dirty="0" err="1" smtClean="0">
                          <a:solidFill>
                            <a:srgbClr val="FF0000"/>
                          </a:solidFill>
                        </a:rPr>
                        <a:t>AgNO</a:t>
                      </a:r>
                      <a:r>
                        <a:rPr lang="en-US" altLang="zh-CN" sz="2400" dirty="0" smtClean="0">
                          <a:solidFill>
                            <a:srgbClr val="FF0000"/>
                          </a:solidFill>
                        </a:rPr>
                        <a:t>₃</a:t>
                      </a:r>
                      <a:endParaRPr lang="en-US" sz="2400" dirty="0">
                        <a:solidFill>
                          <a:srgbClr val="FF0000"/>
                        </a:solidFill>
                      </a:endParaRPr>
                    </a:p>
                  </a:txBody>
                  <a:tcPr marL="68580" marR="68580" anchor="ctr"/>
                </a:tc>
                <a:tc>
                  <a:txBody>
                    <a:bodyPr/>
                    <a:lstStyle/>
                    <a:p>
                      <a:pPr algn="ctr"/>
                      <a:r>
                        <a:rPr lang="zh-CN" altLang="en-US" sz="2400" dirty="0" smtClean="0"/>
                        <a:t>金属</a:t>
                      </a:r>
                      <a:endParaRPr lang="en-US" altLang="zh-CN" sz="2400" dirty="0" smtClean="0"/>
                    </a:p>
                    <a:p>
                      <a:pPr algn="ctr"/>
                      <a:r>
                        <a:rPr lang="en-US" altLang="zh-CN" sz="2400" dirty="0" smtClean="0"/>
                        <a:t>+</a:t>
                      </a:r>
                      <a:r>
                        <a:rPr lang="zh-CN" altLang="en-US" sz="2400" dirty="0" smtClean="0"/>
                        <a:t>二氧化氮</a:t>
                      </a:r>
                      <a:endParaRPr lang="en-US" altLang="zh-CN" sz="2400" dirty="0" smtClean="0"/>
                    </a:p>
                    <a:p>
                      <a:pPr algn="ctr"/>
                      <a:r>
                        <a:rPr lang="en-US" altLang="zh-CN" sz="2400" dirty="0" smtClean="0"/>
                        <a:t>+</a:t>
                      </a:r>
                      <a:r>
                        <a:rPr lang="zh-CN" altLang="en-US" sz="2400" dirty="0" smtClean="0"/>
                        <a:t>氧气</a:t>
                      </a:r>
                      <a:endParaRPr lang="en-US" sz="2400" dirty="0"/>
                    </a:p>
                  </a:txBody>
                  <a:tcPr marL="68580" marR="68580" anchor="ctr"/>
                </a:tc>
                <a:tc>
                  <a:txBody>
                    <a:bodyPr/>
                    <a:lstStyle/>
                    <a:p>
                      <a:endParaRPr lang="en-US" sz="2400" dirty="0"/>
                    </a:p>
                  </a:txBody>
                  <a:tcPr marL="68580" marR="68580" anchor="ctr">
                    <a:blipFill rotWithShape="1">
                      <a:blip r:embed="rId3"/>
                      <a:stretch>
                        <a:fillRect l="-97526" t="-272781" r="-103"/>
                      </a:stretch>
                    </a:blipFill>
                  </a:tcPr>
                </a:tc>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zh-CN" altLang="en-US" dirty="0" smtClean="0"/>
              <a:t>思考</a:t>
            </a:r>
            <a:endParaRPr lang="en-US" dirty="0"/>
          </a:p>
        </p:txBody>
      </p:sp>
      <p:sp>
        <p:nvSpPr>
          <p:cNvPr id="5" name="Content Placeholder 2"/>
          <p:cNvSpPr txBox="1">
            <a:spLocks/>
          </p:cNvSpPr>
          <p:nvPr/>
        </p:nvSpPr>
        <p:spPr>
          <a:xfrm>
            <a:off x="628650" y="1447800"/>
            <a:ext cx="7886700" cy="47291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Ø"/>
              <a:tabLst/>
              <a:defRPr/>
            </a:pPr>
            <a:r>
              <a:rPr kumimoji="0" lang="zh-CN" altLang="en-US" sz="3200" b="0" i="0" u="none" strike="noStrike" kern="1200" cap="none" spc="0" normalizeH="0" baseline="0" noProof="0" dirty="0" smtClean="0">
                <a:ln>
                  <a:noFill/>
                </a:ln>
                <a:solidFill>
                  <a:schemeClr val="tx1"/>
                </a:solidFill>
                <a:effectLst/>
                <a:uLnTx/>
                <a:uFillTx/>
                <a:latin typeface="+mn-lt"/>
                <a:ea typeface="+mn-ea"/>
                <a:cs typeface="+mn-cs"/>
                <a:sym typeface="Wingdings" pitchFamily="2" charset="2"/>
              </a:rPr>
              <a:t>硝酸盐受热分解一般放出氧气</a:t>
            </a:r>
            <a:endParaRPr kumimoji="0" lang="en-US" altLang="zh-CN" sz="3200" b="0" i="0" u="none" strike="noStrike" kern="1200" cap="none" spc="0" normalizeH="0" baseline="0" noProof="0" dirty="0" smtClean="0">
              <a:ln>
                <a:noFill/>
              </a:ln>
              <a:solidFill>
                <a:schemeClr val="tx1"/>
              </a:solidFill>
              <a:effectLst/>
              <a:uLnTx/>
              <a:uFillTx/>
              <a:latin typeface="+mn-lt"/>
              <a:ea typeface="+mn-ea"/>
              <a:cs typeface="+mn-cs"/>
              <a:sym typeface="Wingdings" pitchFamily="2" charset="2"/>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Ø"/>
              <a:tabLst/>
              <a:defRPr/>
            </a:pPr>
            <a:r>
              <a:rPr kumimoji="0" lang="zh-CN" altLang="en-US" sz="3200" b="0" i="0" u="none" strike="noStrike" kern="1200" cap="none" spc="0" normalizeH="0" baseline="0" noProof="0" dirty="0" smtClean="0">
                <a:ln>
                  <a:noFill/>
                </a:ln>
                <a:solidFill>
                  <a:schemeClr val="tx1"/>
                </a:solidFill>
                <a:effectLst/>
                <a:uLnTx/>
                <a:uFillTx/>
                <a:latin typeface="+mn-lt"/>
                <a:ea typeface="+mn-ea"/>
                <a:cs typeface="+mn-cs"/>
                <a:sym typeface="Wingdings" pitchFamily="2" charset="2"/>
              </a:rPr>
              <a:t>铵盐受热分解一般放出氨气</a:t>
            </a:r>
            <a:endParaRPr kumimoji="0" lang="en-US" altLang="zh-CN" sz="3200" b="0" i="0" u="none" strike="noStrike" kern="1200" cap="none" spc="0" normalizeH="0" baseline="0" noProof="0" dirty="0" smtClean="0">
              <a:ln>
                <a:noFill/>
              </a:ln>
              <a:solidFill>
                <a:schemeClr val="tx1"/>
              </a:solidFill>
              <a:effectLst/>
              <a:uLnTx/>
              <a:uFillTx/>
              <a:latin typeface="+mn-lt"/>
              <a:ea typeface="+mn-ea"/>
              <a:cs typeface="+mn-cs"/>
              <a:sym typeface="Wingdings" pitchFamily="2" charset="2"/>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altLang="zh-CN" sz="3200" b="0" i="0" u="none" strike="noStrike" kern="1200" cap="none" spc="0" normalizeH="0" baseline="0" noProof="0" dirty="0" smtClean="0">
              <a:ln>
                <a:noFill/>
              </a:ln>
              <a:solidFill>
                <a:schemeClr val="tx1"/>
              </a:solidFill>
              <a:effectLst/>
              <a:uLnTx/>
              <a:uFillTx/>
              <a:latin typeface="+mn-lt"/>
              <a:ea typeface="+mn-ea"/>
              <a:cs typeface="+mn-cs"/>
              <a:sym typeface="Wingdings" pitchFamily="2" charset="2"/>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Ø"/>
              <a:tabLst/>
              <a:defRPr/>
            </a:pPr>
            <a:r>
              <a:rPr kumimoji="0" lang="zh-CN" altLang="en-US" sz="3200" b="0" i="0" u="none" strike="noStrike" kern="1200" cap="none" spc="0" normalizeH="0" baseline="0" noProof="0" dirty="0" smtClean="0">
                <a:ln>
                  <a:noFill/>
                </a:ln>
                <a:solidFill>
                  <a:schemeClr val="tx1"/>
                </a:solidFill>
                <a:effectLst/>
                <a:uLnTx/>
                <a:uFillTx/>
                <a:latin typeface="+mn-lt"/>
                <a:ea typeface="+mn-ea"/>
                <a:cs typeface="+mn-cs"/>
              </a:rPr>
              <a:t>硝酸铵受热分解产生？</a:t>
            </a:r>
            <a:endParaRPr kumimoji="0" lang="en-US" altLang="zh-CN" sz="3200" b="0"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altLang="zh-CN" sz="3200" b="0" i="0" u="none" strike="noStrike" kern="1200" cap="none" spc="0" normalizeH="0" baseline="0" noProof="0" dirty="0" smtClean="0">
                <a:ln>
                  <a:noFill/>
                </a:ln>
                <a:solidFill>
                  <a:schemeClr val="tx1"/>
                </a:solidFill>
                <a:effectLst/>
                <a:uLnTx/>
                <a:uFillTx/>
                <a:latin typeface="+mn-lt"/>
                <a:ea typeface="+mn-ea"/>
                <a:cs typeface="+mn-cs"/>
              </a:rPr>
              <a:t>	NH</a:t>
            </a:r>
            <a:r>
              <a:rPr kumimoji="0" lang="en-US" altLang="zh-CN" sz="3200" b="0" i="0" u="none" strike="noStrike" kern="1200" cap="none" spc="0" normalizeH="0" baseline="-25000" noProof="0" dirty="0" smtClean="0">
                <a:ln>
                  <a:noFill/>
                </a:ln>
                <a:solidFill>
                  <a:schemeClr val="tx1"/>
                </a:solidFill>
                <a:effectLst/>
                <a:uLnTx/>
                <a:uFillTx/>
                <a:latin typeface="+mn-lt"/>
                <a:ea typeface="+mn-ea"/>
                <a:cs typeface="+mn-cs"/>
              </a:rPr>
              <a:t>4</a:t>
            </a:r>
            <a:r>
              <a:rPr kumimoji="0" lang="en-US" altLang="zh-CN" sz="3200" b="0" i="0" u="none" strike="noStrike" kern="1200" cap="none" spc="0" normalizeH="0" baseline="0" noProof="0" dirty="0" smtClean="0">
                <a:ln>
                  <a:noFill/>
                </a:ln>
                <a:solidFill>
                  <a:schemeClr val="tx1"/>
                </a:solidFill>
                <a:effectLst/>
                <a:uLnTx/>
                <a:uFillTx/>
                <a:latin typeface="+mn-lt"/>
                <a:ea typeface="+mn-ea"/>
                <a:cs typeface="+mn-cs"/>
              </a:rPr>
              <a:t>NO</a:t>
            </a:r>
            <a:r>
              <a:rPr kumimoji="0" lang="en-US" altLang="zh-CN" sz="3200" b="0" i="0" u="none" strike="noStrike" kern="1200" cap="none" spc="0" normalizeH="0" baseline="-25000" noProof="0" dirty="0" smtClean="0">
                <a:ln>
                  <a:noFill/>
                </a:ln>
                <a:solidFill>
                  <a:schemeClr val="tx1"/>
                </a:solidFill>
                <a:effectLst/>
                <a:uLnTx/>
                <a:uFillTx/>
                <a:latin typeface="+mn-lt"/>
                <a:ea typeface="+mn-ea"/>
                <a:cs typeface="+mn-cs"/>
              </a:rPr>
              <a:t>3 </a:t>
            </a:r>
            <a:r>
              <a:rPr kumimoji="0" lang="en-US" altLang="zh-CN" sz="3200" b="0" i="0" u="none" strike="noStrike" kern="1200" cap="none" spc="0" normalizeH="0" baseline="0" noProof="0" dirty="0" smtClean="0">
                <a:ln>
                  <a:noFill/>
                </a:ln>
                <a:solidFill>
                  <a:schemeClr val="tx1"/>
                </a:solidFill>
                <a:effectLst/>
                <a:uLnTx/>
                <a:uFillTx/>
                <a:latin typeface="+mn-lt"/>
                <a:ea typeface="+mn-ea"/>
                <a:cs typeface="+mn-cs"/>
              </a:rPr>
              <a:t>  </a:t>
            </a:r>
            <a:r>
              <a:rPr lang="en-US" altLang="zh-CN" sz="3200" dirty="0" smtClean="0">
                <a:sym typeface="Wingdings" pitchFamily="2" charset="2"/>
              </a:rPr>
              <a:t> 		</a:t>
            </a:r>
            <a:r>
              <a:rPr kumimoji="0" lang="en-US" altLang="zh-CN" sz="3200" b="0" i="0" u="none" strike="noStrike" kern="1200" cap="none" spc="0" normalizeH="0" baseline="0" noProof="0" dirty="0" smtClean="0">
                <a:ln>
                  <a:noFill/>
                </a:ln>
                <a:solidFill>
                  <a:schemeClr val="tx1"/>
                </a:solidFill>
                <a:effectLst/>
                <a:uLnTx/>
                <a:uFillTx/>
                <a:latin typeface="+mn-lt"/>
                <a:ea typeface="+mn-ea"/>
                <a:cs typeface="+mn-cs"/>
                <a:sym typeface="Wingdings" pitchFamily="2" charset="2"/>
              </a:rPr>
              <a:t>N</a:t>
            </a:r>
            <a:r>
              <a:rPr kumimoji="0" lang="en-US" altLang="zh-CN" sz="3200" b="0" i="0" u="none" strike="noStrike" kern="1200" cap="none" spc="0" normalizeH="0" baseline="-25000" noProof="0" dirty="0" smtClean="0">
                <a:ln>
                  <a:noFill/>
                </a:ln>
                <a:solidFill>
                  <a:schemeClr val="tx1"/>
                </a:solidFill>
                <a:effectLst/>
                <a:uLnTx/>
                <a:uFillTx/>
                <a:latin typeface="+mn-lt"/>
                <a:ea typeface="+mn-ea"/>
                <a:cs typeface="+mn-cs"/>
                <a:sym typeface="Wingdings" pitchFamily="2" charset="2"/>
              </a:rPr>
              <a:t>2</a:t>
            </a:r>
            <a:r>
              <a:rPr kumimoji="0" lang="en-US" altLang="zh-CN" sz="3200" b="0" i="0" u="none" strike="noStrike" kern="1200" cap="none" spc="0" normalizeH="0" baseline="0" noProof="0" dirty="0" smtClean="0">
                <a:ln>
                  <a:noFill/>
                </a:ln>
                <a:solidFill>
                  <a:schemeClr val="tx1"/>
                </a:solidFill>
                <a:effectLst/>
                <a:uLnTx/>
                <a:uFillTx/>
                <a:latin typeface="+mn-lt"/>
                <a:ea typeface="+mn-ea"/>
                <a:cs typeface="+mn-cs"/>
                <a:sym typeface="Wingdings" pitchFamily="2" charset="2"/>
              </a:rPr>
              <a:t>O  + 2 H</a:t>
            </a:r>
            <a:r>
              <a:rPr kumimoji="0" lang="en-US" altLang="zh-CN" sz="3200" b="0" i="0" u="none" strike="noStrike" kern="1200" cap="none" spc="0" normalizeH="0" baseline="-25000" noProof="0" dirty="0" smtClean="0">
                <a:ln>
                  <a:noFill/>
                </a:ln>
                <a:solidFill>
                  <a:schemeClr val="tx1"/>
                </a:solidFill>
                <a:effectLst/>
                <a:uLnTx/>
                <a:uFillTx/>
                <a:latin typeface="+mn-lt"/>
                <a:ea typeface="+mn-ea"/>
                <a:cs typeface="+mn-cs"/>
                <a:sym typeface="Wingdings" pitchFamily="2" charset="2"/>
              </a:rPr>
              <a:t>2</a:t>
            </a:r>
            <a:r>
              <a:rPr kumimoji="0" lang="en-US" altLang="zh-CN" sz="3200" b="0" i="0" u="none" strike="noStrike" kern="1200" cap="none" spc="0" normalizeH="0" baseline="0" noProof="0" dirty="0" smtClean="0">
                <a:ln>
                  <a:noFill/>
                </a:ln>
                <a:solidFill>
                  <a:schemeClr val="tx1"/>
                </a:solidFill>
                <a:effectLst/>
                <a:uLnTx/>
                <a:uFillTx/>
                <a:latin typeface="+mn-lt"/>
                <a:ea typeface="+mn-ea"/>
                <a:cs typeface="+mn-cs"/>
                <a:sym typeface="Wingdings" pitchFamily="2" charset="2"/>
              </a:rPr>
              <a:t>O</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grpSp>
        <p:nvGrpSpPr>
          <p:cNvPr id="6" name="Group 5"/>
          <p:cNvGrpSpPr/>
          <p:nvPr/>
        </p:nvGrpSpPr>
        <p:grpSpPr>
          <a:xfrm>
            <a:off x="3276600" y="3962400"/>
            <a:ext cx="838200" cy="152400"/>
            <a:chOff x="3581400" y="1752600"/>
            <a:chExt cx="838200" cy="152400"/>
          </a:xfrm>
        </p:grpSpPr>
        <p:cxnSp>
          <p:nvCxnSpPr>
            <p:cNvPr id="7" name="Straight Arrow Connector 6"/>
            <p:cNvCxnSpPr/>
            <p:nvPr/>
          </p:nvCxnSpPr>
          <p:spPr bwMode="auto">
            <a:xfrm>
              <a:off x="3581400" y="1903412"/>
              <a:ext cx="8382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8" name="Isosceles Triangle 7"/>
            <p:cNvSpPr/>
            <p:nvPr/>
          </p:nvSpPr>
          <p:spPr bwMode="auto">
            <a:xfrm>
              <a:off x="3886200" y="1752600"/>
              <a:ext cx="228600" cy="152400"/>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3000" dirty="0">
                <a:solidFill>
                  <a:schemeClr val="tx1"/>
                </a:solidFill>
              </a:endParaRPr>
            </a:p>
          </p:txBody>
        </p:sp>
      </p:grpSp>
      <p:sp>
        <p:nvSpPr>
          <p:cNvPr id="9" name="Rounded Rectangle 8"/>
          <p:cNvSpPr/>
          <p:nvPr/>
        </p:nvSpPr>
        <p:spPr>
          <a:xfrm>
            <a:off x="4267200" y="3886200"/>
            <a:ext cx="25146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 calcmode="lin" valueType="num">
                                      <p:cBhvr additive="base">
                                        <p:cTn id="19"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anim calcmode="lin" valueType="num">
                                      <p:cBhvr additive="base">
                                        <p:cTn id="25"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4" end="4"/>
                                            </p:txEl>
                                          </p:spTgt>
                                        </p:tgtEl>
                                        <p:attrNameLst>
                                          <p:attrName>ppt_y</p:attrName>
                                        </p:attrNameLst>
                                      </p:cBhvr>
                                      <p:tavLst>
                                        <p:tav tm="0">
                                          <p:val>
                                            <p:strVal val="1+#ppt_h/2"/>
                                          </p:val>
                                        </p:tav>
                                        <p:tav tm="100000">
                                          <p:val>
                                            <p:strVal val="#ppt_y"/>
                                          </p:val>
                                        </p:tav>
                                      </p:tavLst>
                                    </p:anim>
                                  </p:childTnLst>
                                </p:cTn>
                              </p:par>
                              <p:par>
                                <p:cTn id="27" presetID="3" presetClass="entr" presetSubtype="1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blinds(horizontal)">
                                      <p:cBhvr>
                                        <p:cTn id="29" dur="500"/>
                                        <p:tgtEl>
                                          <p:spTgt spid="6"/>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xit" presetSubtype="10" fill="hold" grpId="0" nodeType="clickEffect">
                                  <p:stCondLst>
                                    <p:cond delay="0"/>
                                  </p:stCondLst>
                                  <p:childTnLst>
                                    <p:animEffect transition="out" filter="blinds(horizontal)">
                                      <p:cBhvr>
                                        <p:cTn id="33" dur="500"/>
                                        <p:tgtEl>
                                          <p:spTgt spid="9"/>
                                        </p:tgtEl>
                                      </p:cBhvr>
                                    </p:animEffect>
                                    <p:set>
                                      <p:cBhvr>
                                        <p:cTn id="34"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9"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en-US" altLang="zh-CN" dirty="0" smtClean="0"/>
              <a:t>13.4.2 </a:t>
            </a:r>
            <a:r>
              <a:rPr lang="zh-CN" altLang="en-US" dirty="0" smtClean="0"/>
              <a:t>几种重要的硝酸盐</a:t>
            </a:r>
            <a:endParaRPr lang="en-US" dirty="0"/>
          </a:p>
        </p:txBody>
      </p:sp>
      <p:sp>
        <p:nvSpPr>
          <p:cNvPr id="3" name="Content Placeholder 2"/>
          <p:cNvSpPr>
            <a:spLocks noGrp="1"/>
          </p:cNvSpPr>
          <p:nvPr>
            <p:ph idx="1"/>
          </p:nvPr>
        </p:nvSpPr>
        <p:spPr>
          <a:xfrm>
            <a:off x="457200" y="533400"/>
            <a:ext cx="8229600" cy="5486400"/>
          </a:xfrm>
        </p:spPr>
        <p:txBody>
          <a:bodyPr/>
          <a:lstStyle/>
          <a:p>
            <a:pPr>
              <a:buNone/>
            </a:pPr>
            <a:endParaRPr lang="en-US" altLang="zh-CN" dirty="0" smtClean="0"/>
          </a:p>
          <a:p>
            <a:pPr>
              <a:buNone/>
            </a:pPr>
            <a:r>
              <a:rPr lang="zh-CN" altLang="en-US" dirty="0" smtClean="0"/>
              <a:t>硝酸钾</a:t>
            </a:r>
            <a:endParaRPr lang="en-US" altLang="zh-CN" dirty="0" smtClean="0"/>
          </a:p>
          <a:p>
            <a:pPr>
              <a:buFont typeface="Wingdings" pitchFamily="2" charset="2"/>
              <a:buChar char="Ø"/>
            </a:pPr>
            <a:r>
              <a:rPr lang="zh-CN" altLang="en-US" dirty="0" smtClean="0"/>
              <a:t>黑火药：</a:t>
            </a:r>
            <a:r>
              <a:rPr lang="en-US" altLang="zh-CN" dirty="0" smtClean="0"/>
              <a:t>75%KNO</a:t>
            </a:r>
            <a:r>
              <a:rPr lang="en-US" altLang="zh-CN" baseline="-25000" dirty="0" smtClean="0"/>
              <a:t>3</a:t>
            </a:r>
            <a:r>
              <a:rPr lang="zh-CN" altLang="en-US" baseline="-25000" dirty="0" smtClean="0"/>
              <a:t> </a:t>
            </a:r>
            <a:r>
              <a:rPr lang="zh-CN" altLang="en-US" dirty="0" smtClean="0"/>
              <a:t>、</a:t>
            </a:r>
            <a:r>
              <a:rPr lang="en-US" altLang="zh-CN" dirty="0" smtClean="0"/>
              <a:t>10% S </a:t>
            </a:r>
            <a:r>
              <a:rPr lang="zh-CN" altLang="en-US" dirty="0" smtClean="0"/>
              <a:t>、</a:t>
            </a:r>
            <a:r>
              <a:rPr lang="en-US" altLang="zh-CN" dirty="0" smtClean="0"/>
              <a:t>15% C</a:t>
            </a:r>
          </a:p>
          <a:p>
            <a:pPr>
              <a:buNone/>
            </a:pPr>
            <a:r>
              <a:rPr lang="en-US" dirty="0" smtClean="0"/>
              <a:t>	</a:t>
            </a:r>
            <a:r>
              <a:rPr lang="en-US" altLang="zh-CN" dirty="0" smtClean="0"/>
              <a:t>2KNO</a:t>
            </a:r>
            <a:r>
              <a:rPr lang="en-US" altLang="zh-CN" baseline="-25000" dirty="0" smtClean="0"/>
              <a:t>3</a:t>
            </a:r>
            <a:r>
              <a:rPr lang="en-US" altLang="zh-CN" dirty="0" smtClean="0"/>
              <a:t> + 3C + S 	    K</a:t>
            </a:r>
            <a:r>
              <a:rPr lang="en-US" altLang="zh-CN" baseline="-25000" dirty="0" smtClean="0"/>
              <a:t>2</a:t>
            </a:r>
            <a:r>
              <a:rPr lang="en-US" altLang="zh-CN" dirty="0" smtClean="0"/>
              <a:t>S + N</a:t>
            </a:r>
            <a:r>
              <a:rPr lang="en-US" altLang="zh-CN" baseline="-25000" dirty="0" smtClean="0"/>
              <a:t>2</a:t>
            </a:r>
            <a:r>
              <a:rPr lang="en-US" altLang="zh-CN" dirty="0" smtClean="0"/>
              <a:t> + 3CO</a:t>
            </a:r>
            <a:r>
              <a:rPr lang="en-US" altLang="zh-CN" baseline="-25000" dirty="0" smtClean="0"/>
              <a:t>2</a:t>
            </a:r>
            <a:endParaRPr lang="en-US" altLang="zh-CN" dirty="0"/>
          </a:p>
          <a:p>
            <a:pPr>
              <a:buFont typeface="Wingdings" pitchFamily="2" charset="2"/>
              <a:buChar char="Ø"/>
            </a:pPr>
            <a:r>
              <a:rPr lang="zh-CN" altLang="en-US" dirty="0" smtClean="0"/>
              <a:t>复合肥</a:t>
            </a:r>
            <a:endParaRPr lang="en-US" altLang="zh-CN" dirty="0" smtClean="0"/>
          </a:p>
          <a:p>
            <a:pPr>
              <a:buNone/>
            </a:pPr>
            <a:r>
              <a:rPr lang="en-US" altLang="zh-CN" dirty="0" smtClean="0"/>
              <a:t> </a:t>
            </a:r>
          </a:p>
          <a:p>
            <a:pPr>
              <a:buNone/>
            </a:pPr>
            <a:r>
              <a:rPr lang="zh-CN" altLang="en-US" dirty="0" smtClean="0"/>
              <a:t>硝酸铵</a:t>
            </a:r>
            <a:endParaRPr lang="en-US" altLang="zh-CN" dirty="0" smtClean="0"/>
          </a:p>
          <a:p>
            <a:pPr>
              <a:buFont typeface="Wingdings" pitchFamily="2" charset="2"/>
              <a:buChar char="Ø"/>
            </a:pPr>
            <a:r>
              <a:rPr lang="en-US" altLang="zh-CN" dirty="0" smtClean="0"/>
              <a:t> </a:t>
            </a:r>
            <a:r>
              <a:rPr lang="zh-CN" altLang="en-US" dirty="0" smtClean="0"/>
              <a:t>用途：作为氮肥、</a:t>
            </a:r>
            <a:endParaRPr lang="en-US" altLang="zh-CN" dirty="0" smtClean="0"/>
          </a:p>
          <a:p>
            <a:pPr>
              <a:buNone/>
            </a:pPr>
            <a:r>
              <a:rPr lang="en-US" altLang="zh-CN" dirty="0" smtClean="0"/>
              <a:t>		        </a:t>
            </a:r>
            <a:r>
              <a:rPr lang="zh-CN" altLang="en-US" dirty="0" smtClean="0"/>
              <a:t>制造笑气</a:t>
            </a:r>
            <a:r>
              <a:rPr lang="zh-CN" altLang="en-US" baseline="-25000" dirty="0" smtClean="0"/>
              <a:t> </a:t>
            </a:r>
            <a:r>
              <a:rPr lang="zh-CN" altLang="en-US" dirty="0" smtClean="0"/>
              <a:t> 、医用维生素</a:t>
            </a:r>
            <a:r>
              <a:rPr lang="en-US" altLang="zh-CN" dirty="0" smtClean="0"/>
              <a:t>B</a:t>
            </a:r>
          </a:p>
        </p:txBody>
      </p:sp>
      <p:grpSp>
        <p:nvGrpSpPr>
          <p:cNvPr id="5" name="Group 4"/>
          <p:cNvGrpSpPr/>
          <p:nvPr/>
        </p:nvGrpSpPr>
        <p:grpSpPr>
          <a:xfrm>
            <a:off x="3505200" y="2359223"/>
            <a:ext cx="914400" cy="307777"/>
            <a:chOff x="2819400" y="5867400"/>
            <a:chExt cx="914400" cy="307777"/>
          </a:xfrm>
        </p:grpSpPr>
        <p:cxnSp>
          <p:nvCxnSpPr>
            <p:cNvPr id="6" name="Straight Arrow Connector 5"/>
            <p:cNvCxnSpPr/>
            <p:nvPr/>
          </p:nvCxnSpPr>
          <p:spPr>
            <a:xfrm>
              <a:off x="2819400" y="6098977"/>
              <a:ext cx="914400" cy="83"/>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2885261" y="5867400"/>
              <a:ext cx="543739" cy="307777"/>
            </a:xfrm>
            <a:prstGeom prst="rect">
              <a:avLst/>
            </a:prstGeom>
            <a:noFill/>
          </p:spPr>
          <p:txBody>
            <a:bodyPr wrap="none" rtlCol="0">
              <a:spAutoFit/>
            </a:bodyPr>
            <a:lstStyle/>
            <a:p>
              <a:r>
                <a:rPr lang="zh-CN" altLang="en-US" sz="1400" dirty="0" smtClean="0"/>
                <a:t>点燃</a:t>
              </a:r>
              <a:endParaRPr lang="en-US" sz="1400" dirty="0"/>
            </a:p>
          </p:txBody>
        </p:sp>
      </p:grpSp>
      <p:sp>
        <p:nvSpPr>
          <p:cNvPr id="9" name="Rounded Rectangle 8"/>
          <p:cNvSpPr/>
          <p:nvPr/>
        </p:nvSpPr>
        <p:spPr>
          <a:xfrm>
            <a:off x="4495800" y="2362200"/>
            <a:ext cx="26670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blinds(horizontal)">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blinds(horizontal)">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blinds(horizontal)">
                                      <p:cBhvr>
                                        <p:cTn id="42" dur="500"/>
                                        <p:tgtEl>
                                          <p:spTgt spid="3">
                                            <p:txEl>
                                              <p:pRg st="8" end="8"/>
                                            </p:txEl>
                                          </p:spTgt>
                                        </p:tgtEl>
                                      </p:cBhvr>
                                    </p:animEffect>
                                  </p:childTnLst>
                                </p:cTn>
                              </p:par>
                              <p:par>
                                <p:cTn id="43" presetID="3" presetClass="entr" presetSubtype="10" fill="hold" nodeType="withEffect">
                                  <p:stCondLst>
                                    <p:cond delay="0"/>
                                  </p:stCondLst>
                                  <p:childTnLst>
                                    <p:set>
                                      <p:cBhvr>
                                        <p:cTn id="44" dur="1" fill="hold">
                                          <p:stCondLst>
                                            <p:cond delay="0"/>
                                          </p:stCondLst>
                                        </p:cTn>
                                        <p:tgtEl>
                                          <p:spTgt spid="5"/>
                                        </p:tgtEl>
                                        <p:attrNameLst>
                                          <p:attrName>style.visibility</p:attrName>
                                        </p:attrNameLst>
                                      </p:cBhvr>
                                      <p:to>
                                        <p:strVal val="visible"/>
                                      </p:to>
                                    </p:set>
                                    <p:animEffect transition="in" filter="blinds(horizontal)">
                                      <p:cBhvr>
                                        <p:cTn id="45" dur="500"/>
                                        <p:tgtEl>
                                          <p:spTgt spid="5"/>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xit" presetSubtype="10" fill="hold" grpId="0" nodeType="clickEffect">
                                  <p:stCondLst>
                                    <p:cond delay="0"/>
                                  </p:stCondLst>
                                  <p:childTnLst>
                                    <p:animEffect transition="out" filter="blinds(horizontal)">
                                      <p:cBhvr>
                                        <p:cTn id="49" dur="500"/>
                                        <p:tgtEl>
                                          <p:spTgt spid="9"/>
                                        </p:tgtEl>
                                      </p:cBhvr>
                                    </p:animEffect>
                                    <p:set>
                                      <p:cBhvr>
                                        <p:cTn id="50"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en-US" altLang="zh-CN" dirty="0" smtClean="0"/>
              <a:t>13.4.3 </a:t>
            </a:r>
            <a:r>
              <a:rPr lang="zh-CN" altLang="en-US" dirty="0" smtClean="0"/>
              <a:t>硝酸根的检验</a:t>
            </a:r>
            <a:endParaRPr lang="en-US" dirty="0"/>
          </a:p>
        </p:txBody>
      </p:sp>
      <p:sp>
        <p:nvSpPr>
          <p:cNvPr id="3" name="Content Placeholder 2"/>
          <p:cNvSpPr>
            <a:spLocks noGrp="1"/>
          </p:cNvSpPr>
          <p:nvPr>
            <p:ph idx="1"/>
          </p:nvPr>
        </p:nvSpPr>
        <p:spPr>
          <a:xfrm>
            <a:off x="228600" y="838200"/>
            <a:ext cx="8686800" cy="5486400"/>
          </a:xfrm>
        </p:spPr>
        <p:txBody>
          <a:bodyPr>
            <a:normAutofit/>
          </a:bodyPr>
          <a:lstStyle/>
          <a:p>
            <a:pPr>
              <a:buNone/>
            </a:pPr>
            <a:r>
              <a:rPr lang="zh-CN" altLang="en-US" dirty="0" smtClean="0"/>
              <a:t>棕色环实验</a:t>
            </a:r>
            <a:endParaRPr lang="en-US" altLang="zh-CN" dirty="0" smtClean="0"/>
          </a:p>
          <a:p>
            <a:pPr marL="514350" indent="-514350">
              <a:buAutoNum type="arabicPeriod"/>
            </a:pPr>
            <a:r>
              <a:rPr lang="zh-CN" altLang="en-US" dirty="0" smtClean="0"/>
              <a:t>加水，使其溶解</a:t>
            </a:r>
            <a:endParaRPr lang="en-US" altLang="zh-CN" dirty="0" smtClean="0"/>
          </a:p>
          <a:p>
            <a:pPr marL="514350" indent="-514350">
              <a:buAutoNum type="arabicPeriod"/>
            </a:pPr>
            <a:r>
              <a:rPr lang="zh-CN" altLang="en-US" dirty="0" smtClean="0"/>
              <a:t>加入新制备的</a:t>
            </a:r>
            <a:r>
              <a:rPr lang="en-US" altLang="zh-CN" dirty="0" smtClean="0"/>
              <a:t>FeSO</a:t>
            </a:r>
            <a:r>
              <a:rPr lang="en-US" altLang="zh-CN" baseline="-25000" dirty="0" smtClean="0"/>
              <a:t>4</a:t>
            </a:r>
            <a:r>
              <a:rPr lang="en-US" altLang="zh-CN" dirty="0" smtClean="0"/>
              <a:t> </a:t>
            </a:r>
            <a:r>
              <a:rPr lang="zh-CN" altLang="en-US" dirty="0" smtClean="0"/>
              <a:t>溶液</a:t>
            </a:r>
            <a:endParaRPr lang="en-US" altLang="zh-CN" dirty="0" smtClean="0"/>
          </a:p>
          <a:p>
            <a:pPr marL="514350" indent="-514350">
              <a:buAutoNum type="arabicPeriod"/>
            </a:pPr>
            <a:r>
              <a:rPr lang="zh-CN" altLang="en-US" dirty="0" smtClean="0"/>
              <a:t>沿试管壁慢慢加入浓硫酸</a:t>
            </a:r>
            <a:endParaRPr lang="en-US" altLang="zh-CN" dirty="0" smtClean="0"/>
          </a:p>
          <a:p>
            <a:pPr marL="514350" indent="-514350">
              <a:buNone/>
            </a:pPr>
            <a:r>
              <a:rPr lang="zh-CN" altLang="en-US" dirty="0" smtClean="0"/>
              <a:t>现象：浓硫酸密度较大会沉入试管底部，两层液体间产生一棕色的环。</a:t>
            </a:r>
            <a:endParaRPr lang="en-US" altLang="zh-CN" dirty="0" smtClean="0"/>
          </a:p>
          <a:p>
            <a:pPr marL="514350" indent="-514350">
              <a:buNone/>
            </a:pPr>
            <a:r>
              <a:rPr lang="en-US" altLang="zh-CN" dirty="0" smtClean="0"/>
              <a:t>	</a:t>
            </a:r>
            <a:r>
              <a:rPr lang="en-US" altLang="zh-CN" dirty="0" smtClean="0">
                <a:solidFill>
                  <a:srgbClr val="C00000"/>
                </a:solidFill>
              </a:rPr>
              <a:t>NO</a:t>
            </a:r>
            <a:r>
              <a:rPr lang="en-US" altLang="zh-CN" baseline="-25000" dirty="0" smtClean="0">
                <a:solidFill>
                  <a:srgbClr val="C00000"/>
                </a:solidFill>
              </a:rPr>
              <a:t>3</a:t>
            </a:r>
            <a:r>
              <a:rPr lang="en-US" altLang="zh-CN" baseline="30000" dirty="0" smtClean="0">
                <a:solidFill>
                  <a:srgbClr val="C00000"/>
                </a:solidFill>
              </a:rPr>
              <a:t>-</a:t>
            </a:r>
            <a:r>
              <a:rPr lang="en-US" altLang="zh-CN" dirty="0" smtClean="0"/>
              <a:t> (</a:t>
            </a:r>
            <a:r>
              <a:rPr lang="en-US" altLang="zh-CN" dirty="0" err="1" smtClean="0"/>
              <a:t>aq</a:t>
            </a:r>
            <a:r>
              <a:rPr lang="en-US" altLang="zh-CN" dirty="0" smtClean="0"/>
              <a:t>) + H</a:t>
            </a:r>
            <a:r>
              <a:rPr lang="en-US" altLang="zh-CN" baseline="-25000" dirty="0" smtClean="0"/>
              <a:t>2</a:t>
            </a:r>
            <a:r>
              <a:rPr lang="en-US" altLang="zh-CN" dirty="0" smtClean="0"/>
              <a:t>SO</a:t>
            </a:r>
            <a:r>
              <a:rPr lang="en-US" altLang="zh-CN" baseline="-25000" dirty="0" smtClean="0"/>
              <a:t>4</a:t>
            </a:r>
            <a:r>
              <a:rPr lang="en-US" altLang="zh-CN" dirty="0" smtClean="0"/>
              <a:t>(</a:t>
            </a:r>
            <a:r>
              <a:rPr lang="en-US" altLang="zh-CN" dirty="0" err="1" smtClean="0"/>
              <a:t>aq</a:t>
            </a:r>
            <a:r>
              <a:rPr lang="zh-CN" altLang="en-US" dirty="0" smtClean="0"/>
              <a:t>浓</a:t>
            </a:r>
            <a:r>
              <a:rPr lang="en-US" altLang="zh-CN" dirty="0" smtClean="0"/>
              <a:t>) </a:t>
            </a:r>
            <a:r>
              <a:rPr lang="en-US" altLang="zh-CN" dirty="0" smtClean="0">
                <a:sym typeface="Wingdings" pitchFamily="2" charset="2"/>
              </a:rPr>
              <a:t> HSO</a:t>
            </a:r>
            <a:r>
              <a:rPr lang="en-US" altLang="zh-CN" baseline="-25000" dirty="0" smtClean="0">
                <a:sym typeface="Wingdings" pitchFamily="2" charset="2"/>
              </a:rPr>
              <a:t>4</a:t>
            </a:r>
            <a:r>
              <a:rPr lang="en-US" altLang="zh-CN" baseline="30000" dirty="0" smtClean="0">
                <a:sym typeface="Wingdings" pitchFamily="2" charset="2"/>
              </a:rPr>
              <a:t>-</a:t>
            </a:r>
            <a:r>
              <a:rPr lang="en-US" altLang="zh-CN" dirty="0" smtClean="0">
                <a:sym typeface="Wingdings" pitchFamily="2" charset="2"/>
              </a:rPr>
              <a:t>(</a:t>
            </a:r>
            <a:r>
              <a:rPr lang="en-US" altLang="zh-CN" dirty="0" err="1" smtClean="0">
                <a:sym typeface="Wingdings" pitchFamily="2" charset="2"/>
              </a:rPr>
              <a:t>aq</a:t>
            </a:r>
            <a:r>
              <a:rPr lang="en-US" altLang="zh-CN" dirty="0" smtClean="0">
                <a:sym typeface="Wingdings" pitchFamily="2" charset="2"/>
              </a:rPr>
              <a:t>) + </a:t>
            </a:r>
            <a:r>
              <a:rPr lang="en-US" altLang="zh-CN" dirty="0" smtClean="0">
                <a:solidFill>
                  <a:srgbClr val="C00000"/>
                </a:solidFill>
                <a:sym typeface="Wingdings" pitchFamily="2" charset="2"/>
              </a:rPr>
              <a:t>HNO</a:t>
            </a:r>
            <a:r>
              <a:rPr lang="en-US" altLang="zh-CN" baseline="-25000" dirty="0" smtClean="0">
                <a:solidFill>
                  <a:srgbClr val="C00000"/>
                </a:solidFill>
                <a:sym typeface="Wingdings" pitchFamily="2" charset="2"/>
              </a:rPr>
              <a:t>3</a:t>
            </a:r>
            <a:r>
              <a:rPr lang="en-US" altLang="zh-CN" dirty="0" smtClean="0">
                <a:sym typeface="Wingdings" pitchFamily="2" charset="2"/>
              </a:rPr>
              <a:t>(</a:t>
            </a:r>
            <a:r>
              <a:rPr lang="en-US" altLang="zh-CN" dirty="0" err="1" smtClean="0">
                <a:sym typeface="Wingdings" pitchFamily="2" charset="2"/>
              </a:rPr>
              <a:t>aq</a:t>
            </a:r>
            <a:r>
              <a:rPr lang="en-US" altLang="zh-CN" dirty="0" smtClean="0">
                <a:sym typeface="Wingdings" pitchFamily="2" charset="2"/>
              </a:rPr>
              <a:t>)</a:t>
            </a:r>
            <a:endParaRPr lang="en-US" altLang="zh-CN" baseline="-25000" dirty="0" smtClean="0">
              <a:sym typeface="Wingdings" pitchFamily="2" charset="2"/>
            </a:endParaRPr>
          </a:p>
          <a:p>
            <a:pPr marL="514350" indent="-514350">
              <a:buNone/>
            </a:pPr>
            <a:r>
              <a:rPr lang="en-US" altLang="zh-CN" dirty="0" smtClean="0">
                <a:solidFill>
                  <a:srgbClr val="C00000"/>
                </a:solidFill>
                <a:sym typeface="Wingdings" pitchFamily="2" charset="2"/>
              </a:rPr>
              <a:t>2HNO</a:t>
            </a:r>
            <a:r>
              <a:rPr lang="en-US" altLang="zh-CN" baseline="-25000" dirty="0" smtClean="0">
                <a:solidFill>
                  <a:srgbClr val="C00000"/>
                </a:solidFill>
                <a:sym typeface="Wingdings" pitchFamily="2" charset="2"/>
              </a:rPr>
              <a:t>3 </a:t>
            </a:r>
            <a:r>
              <a:rPr lang="en-US" altLang="zh-CN" dirty="0" smtClean="0">
                <a:sym typeface="Wingdings" pitchFamily="2" charset="2"/>
              </a:rPr>
              <a:t>+6FeSO</a:t>
            </a:r>
            <a:r>
              <a:rPr lang="en-US" altLang="zh-CN" baseline="-25000" dirty="0" smtClean="0">
                <a:sym typeface="Wingdings" pitchFamily="2" charset="2"/>
              </a:rPr>
              <a:t>4</a:t>
            </a:r>
            <a:r>
              <a:rPr lang="en-US" altLang="zh-CN" dirty="0" smtClean="0">
                <a:sym typeface="Wingdings" pitchFamily="2" charset="2"/>
              </a:rPr>
              <a:t>+ 3H</a:t>
            </a:r>
            <a:r>
              <a:rPr lang="en-US" altLang="zh-CN" baseline="-25000" dirty="0" smtClean="0">
                <a:sym typeface="Wingdings" pitchFamily="2" charset="2"/>
              </a:rPr>
              <a:t>2</a:t>
            </a:r>
            <a:r>
              <a:rPr lang="en-US" altLang="zh-CN" dirty="0" smtClean="0">
                <a:sym typeface="Wingdings" pitchFamily="2" charset="2"/>
              </a:rPr>
              <a:t>SO</a:t>
            </a:r>
            <a:r>
              <a:rPr lang="en-US" altLang="zh-CN" baseline="-25000" dirty="0" smtClean="0">
                <a:sym typeface="Wingdings" pitchFamily="2" charset="2"/>
              </a:rPr>
              <a:t>4</a:t>
            </a:r>
            <a:r>
              <a:rPr lang="en-US" altLang="zh-CN" dirty="0" smtClean="0">
                <a:sym typeface="Wingdings" pitchFamily="2" charset="2"/>
              </a:rPr>
              <a:t> 3Fe</a:t>
            </a:r>
            <a:r>
              <a:rPr lang="en-US" altLang="zh-CN" baseline="-25000" dirty="0" smtClean="0">
                <a:sym typeface="Wingdings" pitchFamily="2" charset="2"/>
              </a:rPr>
              <a:t>2</a:t>
            </a:r>
            <a:r>
              <a:rPr lang="en-US" altLang="zh-CN" dirty="0" smtClean="0">
                <a:sym typeface="Wingdings" pitchFamily="2" charset="2"/>
              </a:rPr>
              <a:t>(SO</a:t>
            </a:r>
            <a:r>
              <a:rPr lang="en-US" altLang="zh-CN" baseline="-25000" dirty="0" smtClean="0">
                <a:sym typeface="Wingdings" pitchFamily="2" charset="2"/>
              </a:rPr>
              <a:t>4</a:t>
            </a:r>
            <a:r>
              <a:rPr lang="en-US" altLang="zh-CN" dirty="0" smtClean="0">
                <a:sym typeface="Wingdings" pitchFamily="2" charset="2"/>
              </a:rPr>
              <a:t>)</a:t>
            </a:r>
            <a:r>
              <a:rPr lang="en-US" altLang="zh-CN" baseline="-25000" dirty="0" smtClean="0">
                <a:sym typeface="Wingdings" pitchFamily="2" charset="2"/>
              </a:rPr>
              <a:t>3</a:t>
            </a:r>
            <a:r>
              <a:rPr lang="en-US" altLang="zh-CN" dirty="0" smtClean="0">
                <a:sym typeface="Wingdings" pitchFamily="2" charset="2"/>
              </a:rPr>
              <a:t>+4H</a:t>
            </a:r>
            <a:r>
              <a:rPr lang="en-US" altLang="zh-CN" baseline="-25000" dirty="0" smtClean="0">
                <a:sym typeface="Wingdings" pitchFamily="2" charset="2"/>
              </a:rPr>
              <a:t>2</a:t>
            </a:r>
            <a:r>
              <a:rPr lang="en-US" altLang="zh-CN" dirty="0" smtClean="0">
                <a:sym typeface="Wingdings" pitchFamily="2" charset="2"/>
              </a:rPr>
              <a:t>O+</a:t>
            </a:r>
            <a:r>
              <a:rPr lang="en-US" altLang="zh-CN" dirty="0" smtClean="0">
                <a:solidFill>
                  <a:srgbClr val="C00000"/>
                </a:solidFill>
                <a:sym typeface="Wingdings" pitchFamily="2" charset="2"/>
              </a:rPr>
              <a:t>2NO</a:t>
            </a:r>
          </a:p>
          <a:p>
            <a:pPr marL="514350" indent="-514350">
              <a:buNone/>
            </a:pPr>
            <a:r>
              <a:rPr lang="en-US" altLang="zh-CN" dirty="0" smtClean="0">
                <a:sym typeface="Wingdings" pitchFamily="2" charset="2"/>
              </a:rPr>
              <a:t>			FeSO</a:t>
            </a:r>
            <a:r>
              <a:rPr lang="en-US" altLang="zh-CN" baseline="-25000" dirty="0" smtClean="0">
                <a:sym typeface="Wingdings" pitchFamily="2" charset="2"/>
              </a:rPr>
              <a:t>4</a:t>
            </a:r>
            <a:r>
              <a:rPr lang="en-US" altLang="zh-CN" dirty="0" smtClean="0">
                <a:sym typeface="Wingdings" pitchFamily="2" charset="2"/>
              </a:rPr>
              <a:t> + </a:t>
            </a:r>
            <a:r>
              <a:rPr lang="en-US" altLang="zh-CN" dirty="0" smtClean="0">
                <a:solidFill>
                  <a:srgbClr val="C00000"/>
                </a:solidFill>
                <a:sym typeface="Wingdings" pitchFamily="2" charset="2"/>
              </a:rPr>
              <a:t>NO </a:t>
            </a:r>
            <a:r>
              <a:rPr lang="en-US" altLang="zh-CN" dirty="0" smtClean="0">
                <a:sym typeface="Wingdings" pitchFamily="2" charset="2"/>
              </a:rPr>
              <a:t> FeSO</a:t>
            </a:r>
            <a:r>
              <a:rPr lang="en-US" altLang="zh-CN" baseline="-25000" dirty="0" smtClean="0">
                <a:sym typeface="Wingdings" pitchFamily="2" charset="2"/>
              </a:rPr>
              <a:t>4</a:t>
            </a:r>
            <a:r>
              <a:rPr lang="en-US" altLang="zh-CN" dirty="0" smtClean="0">
                <a:sym typeface="Wingdings" pitchFamily="2" charset="2"/>
              </a:rPr>
              <a:t> </a:t>
            </a:r>
            <a:r>
              <a:rPr lang="en-US" altLang="zh-CN" dirty="0" smtClean="0">
                <a:latin typeface="Arial"/>
                <a:cs typeface="Arial"/>
                <a:sym typeface="Wingdings" pitchFamily="2" charset="2"/>
              </a:rPr>
              <a:t>· </a:t>
            </a:r>
            <a:r>
              <a:rPr lang="en-US" altLang="zh-CN" dirty="0" smtClean="0">
                <a:sym typeface="Wingdings" pitchFamily="2" charset="2"/>
              </a:rPr>
              <a:t>NO	</a:t>
            </a:r>
            <a:r>
              <a:rPr lang="en-US" altLang="zh-CN" dirty="0" smtClean="0">
                <a:solidFill>
                  <a:srgbClr val="002060"/>
                </a:solidFill>
                <a:sym typeface="Wingdings" pitchFamily="2" charset="2"/>
              </a:rPr>
              <a:t>(</a:t>
            </a:r>
            <a:r>
              <a:rPr lang="zh-CN" altLang="en-US" dirty="0" smtClean="0">
                <a:solidFill>
                  <a:srgbClr val="002060"/>
                </a:solidFill>
                <a:sym typeface="Wingdings" pitchFamily="2" charset="2"/>
              </a:rPr>
              <a:t>棕色环</a:t>
            </a:r>
            <a:r>
              <a:rPr lang="en-US" altLang="zh-CN" dirty="0" smtClean="0">
                <a:solidFill>
                  <a:srgbClr val="002060"/>
                </a:solidFill>
                <a:sym typeface="Wingdings" pitchFamily="2" charset="2"/>
              </a:rPr>
              <a:t>)</a:t>
            </a:r>
            <a:endParaRPr lang="en-US" altLang="zh-CN" dirty="0" smtClean="0">
              <a:solidFill>
                <a:srgbClr val="002060"/>
              </a:solidFill>
            </a:endParaRPr>
          </a:p>
          <a:p>
            <a:pPr marL="514350" indent="-514350">
              <a:buAutoNum type="arabicPeriod"/>
            </a:pPr>
            <a:endParaRPr lang="en-US" dirty="0"/>
          </a:p>
        </p:txBody>
      </p:sp>
      <p:pic>
        <p:nvPicPr>
          <p:cNvPr id="5" name="Picture 4" descr="zzz.JPG"/>
          <p:cNvPicPr>
            <a:picLocks noChangeAspect="1"/>
          </p:cNvPicPr>
          <p:nvPr/>
        </p:nvPicPr>
        <p:blipFill>
          <a:blip r:embed="rId3"/>
          <a:srcRect l="23333" r="26667" b="11667"/>
          <a:stretch>
            <a:fillRect/>
          </a:stretch>
        </p:blipFill>
        <p:spPr>
          <a:xfrm>
            <a:off x="7086600" y="642620"/>
            <a:ext cx="1447800" cy="255778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blinds(horizontal)">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blinds(horizontal)">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blinds(horizontal)">
                                      <p:cBhvr>
                                        <p:cTn id="42" dur="5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blinds(horizontal)">
                                      <p:cBhvr>
                                        <p:cTn id="4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en-US" altLang="zh-CN" dirty="0" smtClean="0"/>
              <a:t>13.3.3 </a:t>
            </a:r>
            <a:r>
              <a:rPr lang="zh-CN" altLang="en-US" dirty="0" smtClean="0"/>
              <a:t>氮的循环</a:t>
            </a:r>
            <a:endParaRPr lang="en-US" dirty="0"/>
          </a:p>
        </p:txBody>
      </p:sp>
      <p:pic>
        <p:nvPicPr>
          <p:cNvPr id="5" name="Content Placeholder 4" descr="123.jpg"/>
          <p:cNvPicPr>
            <a:picLocks noGrp="1" noChangeAspect="1"/>
          </p:cNvPicPr>
          <p:nvPr>
            <p:ph idx="1"/>
          </p:nvPr>
        </p:nvPicPr>
        <p:blipFill>
          <a:blip r:embed="rId3"/>
          <a:stretch>
            <a:fillRect/>
          </a:stretch>
        </p:blipFill>
        <p:spPr>
          <a:xfrm>
            <a:off x="609600" y="1143000"/>
            <a:ext cx="7840980" cy="5486400"/>
          </a:xfrm>
        </p:spPr>
      </p:pic>
      <p:sp>
        <p:nvSpPr>
          <p:cNvPr id="6" name="TextBox 5"/>
          <p:cNvSpPr txBox="1"/>
          <p:nvPr/>
        </p:nvSpPr>
        <p:spPr>
          <a:xfrm>
            <a:off x="2347397" y="2209800"/>
            <a:ext cx="1005403" cy="584775"/>
          </a:xfrm>
          <a:prstGeom prst="rect">
            <a:avLst/>
          </a:prstGeom>
          <a:noFill/>
        </p:spPr>
        <p:txBody>
          <a:bodyPr wrap="none" rtlCol="0">
            <a:spAutoFit/>
          </a:bodyPr>
          <a:lstStyle/>
          <a:p>
            <a:r>
              <a:rPr lang="zh-CN" altLang="en-US" sz="3200" b="1" dirty="0" smtClean="0">
                <a:solidFill>
                  <a:srgbClr val="002060"/>
                </a:solidFill>
                <a:effectLst>
                  <a:outerShdw blurRad="38100" dist="38100" dir="2700000" algn="tl">
                    <a:srgbClr val="000000">
                      <a:alpha val="43137"/>
                    </a:srgbClr>
                  </a:outerShdw>
                </a:effectLst>
              </a:rPr>
              <a:t>固氮</a:t>
            </a:r>
            <a:endParaRPr lang="en-US" sz="3200" b="1" dirty="0">
              <a:solidFill>
                <a:srgbClr val="002060"/>
              </a:solidFill>
              <a:effectLst>
                <a:outerShdw blurRad="38100" dist="38100" dir="2700000" algn="tl">
                  <a:srgbClr val="000000">
                    <a:alpha val="43137"/>
                  </a:srgbClr>
                </a:outerShdw>
              </a:effectLst>
            </a:endParaRPr>
          </a:p>
        </p:txBody>
      </p:sp>
      <p:sp>
        <p:nvSpPr>
          <p:cNvPr id="7" name="TextBox 6"/>
          <p:cNvSpPr txBox="1"/>
          <p:nvPr/>
        </p:nvSpPr>
        <p:spPr>
          <a:xfrm>
            <a:off x="4633397" y="2234625"/>
            <a:ext cx="1005403" cy="584775"/>
          </a:xfrm>
          <a:prstGeom prst="rect">
            <a:avLst/>
          </a:prstGeom>
          <a:noFill/>
        </p:spPr>
        <p:txBody>
          <a:bodyPr wrap="none" rtlCol="0">
            <a:spAutoFit/>
          </a:bodyPr>
          <a:lstStyle/>
          <a:p>
            <a:r>
              <a:rPr lang="zh-CN" altLang="en-US" sz="3200" b="1" dirty="0" smtClean="0">
                <a:solidFill>
                  <a:srgbClr val="002060"/>
                </a:solidFill>
                <a:effectLst>
                  <a:outerShdw blurRad="38100" dist="38100" dir="2700000" algn="tl">
                    <a:srgbClr val="000000">
                      <a:alpha val="43137"/>
                    </a:srgbClr>
                  </a:outerShdw>
                </a:effectLst>
              </a:rPr>
              <a:t>固氮</a:t>
            </a:r>
            <a:endParaRPr lang="en-US" sz="3200" b="1" dirty="0">
              <a:solidFill>
                <a:srgbClr val="002060"/>
              </a:solidFill>
              <a:effectLst>
                <a:outerShdw blurRad="38100" dist="38100" dir="2700000" algn="tl">
                  <a:srgbClr val="000000">
                    <a:alpha val="43137"/>
                  </a:srgbClr>
                </a:outerShdw>
              </a:effectLst>
            </a:endParaRPr>
          </a:p>
        </p:txBody>
      </p:sp>
      <p:sp>
        <p:nvSpPr>
          <p:cNvPr id="8" name="TextBox 7"/>
          <p:cNvSpPr txBox="1"/>
          <p:nvPr/>
        </p:nvSpPr>
        <p:spPr>
          <a:xfrm>
            <a:off x="6462197" y="1548825"/>
            <a:ext cx="1005403" cy="584775"/>
          </a:xfrm>
          <a:prstGeom prst="rect">
            <a:avLst/>
          </a:prstGeom>
          <a:noFill/>
        </p:spPr>
        <p:txBody>
          <a:bodyPr wrap="none" rtlCol="0">
            <a:spAutoFit/>
          </a:bodyPr>
          <a:lstStyle/>
          <a:p>
            <a:r>
              <a:rPr lang="zh-CN" altLang="en-US" sz="3200" b="1" dirty="0" smtClean="0">
                <a:solidFill>
                  <a:srgbClr val="002060"/>
                </a:solidFill>
                <a:effectLst>
                  <a:outerShdw blurRad="38100" dist="38100" dir="2700000" algn="tl">
                    <a:srgbClr val="000000">
                      <a:alpha val="43137"/>
                    </a:srgbClr>
                  </a:outerShdw>
                </a:effectLst>
              </a:rPr>
              <a:t>固氮</a:t>
            </a:r>
            <a:endParaRPr lang="en-US" sz="3200" b="1" dirty="0">
              <a:solidFill>
                <a:srgbClr val="002060"/>
              </a:solidFill>
              <a:effectLst>
                <a:outerShdw blurRad="38100" dist="38100" dir="2700000" algn="tl">
                  <a:srgbClr val="000000">
                    <a:alpha val="43137"/>
                  </a:srgbClr>
                </a:outerShdw>
              </a:effectLst>
            </a:endParaRPr>
          </a:p>
        </p:txBody>
      </p:sp>
      <p:sp>
        <p:nvSpPr>
          <p:cNvPr id="9" name="TextBox 8"/>
          <p:cNvSpPr txBox="1"/>
          <p:nvPr/>
        </p:nvSpPr>
        <p:spPr>
          <a:xfrm>
            <a:off x="228600" y="1676400"/>
            <a:ext cx="1005403" cy="584775"/>
          </a:xfrm>
          <a:prstGeom prst="rect">
            <a:avLst/>
          </a:prstGeom>
          <a:noFill/>
        </p:spPr>
        <p:txBody>
          <a:bodyPr wrap="none" rtlCol="0">
            <a:spAutoFit/>
          </a:bodyPr>
          <a:lstStyle/>
          <a:p>
            <a:r>
              <a:rPr lang="zh-CN" altLang="en-US" sz="3200" b="1" dirty="0" smtClean="0">
                <a:solidFill>
                  <a:srgbClr val="002060"/>
                </a:solidFill>
                <a:effectLst>
                  <a:outerShdw blurRad="38100" dist="38100" dir="2700000" algn="tl">
                    <a:srgbClr val="000000">
                      <a:alpha val="43137"/>
                    </a:srgbClr>
                  </a:outerShdw>
                </a:effectLst>
              </a:rPr>
              <a:t>脱氮</a:t>
            </a:r>
            <a:endParaRPr lang="en-US" sz="3200" b="1" dirty="0">
              <a:solidFill>
                <a:srgbClr val="002060"/>
              </a:solidFill>
              <a:effectLst>
                <a:outerShdw blurRad="38100" dist="38100" dir="2700000" algn="tl">
                  <a:srgbClr val="000000">
                    <a:alpha val="43137"/>
                  </a:srgbClr>
                </a:outerShdw>
              </a:effectLs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linds(horizont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zh-CN" altLang="en-US" dirty="0" smtClean="0"/>
              <a:t>思考题</a:t>
            </a:r>
            <a:r>
              <a:rPr lang="en-US" altLang="zh-CN" dirty="0" smtClean="0"/>
              <a:t>13d</a:t>
            </a:r>
            <a:endParaRPr lang="en-US" dirty="0"/>
          </a:p>
        </p:txBody>
      </p:sp>
      <p:sp>
        <p:nvSpPr>
          <p:cNvPr id="3" name="Content Placeholder 2"/>
          <p:cNvSpPr>
            <a:spLocks noGrp="1"/>
          </p:cNvSpPr>
          <p:nvPr>
            <p:ph idx="1"/>
          </p:nvPr>
        </p:nvSpPr>
        <p:spPr>
          <a:xfrm>
            <a:off x="457200" y="1219200"/>
            <a:ext cx="8229600" cy="5486400"/>
          </a:xfrm>
        </p:spPr>
        <p:txBody>
          <a:bodyPr/>
          <a:lstStyle/>
          <a:p>
            <a:pPr marL="514350" indent="-514350">
              <a:buAutoNum type="arabicPeriod"/>
            </a:pPr>
            <a:r>
              <a:rPr lang="zh-CN" altLang="en-US" dirty="0" smtClean="0"/>
              <a:t>产生的</a:t>
            </a:r>
            <a:r>
              <a:rPr lang="en-US" altLang="zh-CN" dirty="0" smtClean="0"/>
              <a:t>NO</a:t>
            </a:r>
            <a:r>
              <a:rPr lang="en-US" altLang="zh-CN" baseline="-25000" dirty="0" smtClean="0"/>
              <a:t>2</a:t>
            </a:r>
            <a:r>
              <a:rPr lang="en-US" altLang="zh-CN" dirty="0" smtClean="0"/>
              <a:t> </a:t>
            </a:r>
            <a:r>
              <a:rPr lang="zh-CN" altLang="en-US" dirty="0" smtClean="0"/>
              <a:t>与</a:t>
            </a:r>
            <a:r>
              <a:rPr lang="en-US" altLang="zh-CN" dirty="0" smtClean="0"/>
              <a:t>O</a:t>
            </a:r>
            <a:r>
              <a:rPr lang="en-US" altLang="zh-CN" baseline="-25000" dirty="0" smtClean="0"/>
              <a:t>2</a:t>
            </a:r>
            <a:r>
              <a:rPr lang="en-US" altLang="zh-CN" dirty="0" smtClean="0"/>
              <a:t> </a:t>
            </a:r>
            <a:r>
              <a:rPr lang="zh-CN" altLang="en-US" dirty="0" smtClean="0"/>
              <a:t>物质的量之比</a:t>
            </a:r>
            <a:r>
              <a:rPr lang="en-US" altLang="zh-CN" dirty="0" smtClean="0"/>
              <a:t>=2:1</a:t>
            </a:r>
          </a:p>
          <a:p>
            <a:pPr marL="514350" indent="-514350">
              <a:buNone/>
            </a:pPr>
            <a:r>
              <a:rPr lang="en-US" dirty="0" smtClean="0"/>
              <a:t>	</a:t>
            </a:r>
            <a:r>
              <a:rPr lang="zh-CN" altLang="en-US" dirty="0" smtClean="0"/>
              <a:t>即为不活泼的金属硝酸盐</a:t>
            </a:r>
            <a:endParaRPr lang="en-US" altLang="zh-CN" dirty="0" smtClean="0"/>
          </a:p>
          <a:p>
            <a:pPr marL="514350" indent="-514350">
              <a:buNone/>
            </a:pPr>
            <a:r>
              <a:rPr lang="en-US" dirty="0" smtClean="0"/>
              <a:t>	</a:t>
            </a:r>
            <a:r>
              <a:rPr lang="zh-CN" altLang="en-US" dirty="0" smtClean="0"/>
              <a:t>分解后生成金属单质</a:t>
            </a:r>
            <a:r>
              <a:rPr lang="en-US" altLang="zh-CN" dirty="0" smtClean="0"/>
              <a:t>+NO</a:t>
            </a:r>
            <a:r>
              <a:rPr lang="en-US" altLang="zh-CN" baseline="-25000" dirty="0" smtClean="0"/>
              <a:t>2</a:t>
            </a:r>
            <a:r>
              <a:rPr lang="en-US" altLang="zh-CN" dirty="0" smtClean="0"/>
              <a:t> + O</a:t>
            </a:r>
            <a:r>
              <a:rPr lang="en-US" altLang="zh-CN" baseline="-25000" dirty="0" smtClean="0"/>
              <a:t>2</a:t>
            </a:r>
          </a:p>
          <a:p>
            <a:pPr marL="514350" indent="-514350">
              <a:buNone/>
            </a:pPr>
            <a:r>
              <a:rPr lang="en-US" baseline="-25000" dirty="0" smtClean="0"/>
              <a:t> </a:t>
            </a:r>
            <a:r>
              <a:rPr lang="en-US" dirty="0" smtClean="0"/>
              <a:t> 	</a:t>
            </a:r>
            <a:r>
              <a:rPr lang="en-US" dirty="0" err="1" smtClean="0"/>
              <a:t>Ans</a:t>
            </a:r>
            <a:r>
              <a:rPr lang="en-US" dirty="0" smtClean="0"/>
              <a:t>: A </a:t>
            </a:r>
          </a:p>
          <a:p>
            <a:pPr marL="514350" indent="-514350">
              <a:buNone/>
            </a:pPr>
            <a:r>
              <a:rPr lang="en-US" altLang="zh-CN" dirty="0" smtClean="0"/>
              <a:t>2. A</a:t>
            </a:r>
          </a:p>
          <a:p>
            <a:pPr marL="514350" indent="-514350">
              <a:buNone/>
            </a:pPr>
            <a:r>
              <a:rPr lang="en-US" altLang="zh-CN" dirty="0" smtClean="0"/>
              <a:t>3. A </a:t>
            </a:r>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en-US" altLang="zh-CN" dirty="0" smtClean="0"/>
              <a:t>13.5 </a:t>
            </a:r>
            <a:r>
              <a:rPr lang="zh-CN" altLang="en-US" dirty="0" smtClean="0"/>
              <a:t>氨</a:t>
            </a:r>
            <a:endParaRPr lang="en-US" dirty="0"/>
          </a:p>
        </p:txBody>
      </p:sp>
      <p:sp>
        <p:nvSpPr>
          <p:cNvPr id="3" name="Content Placeholder 2"/>
          <p:cNvSpPr>
            <a:spLocks noGrp="1"/>
          </p:cNvSpPr>
          <p:nvPr>
            <p:ph idx="1"/>
          </p:nvPr>
        </p:nvSpPr>
        <p:spPr>
          <a:xfrm>
            <a:off x="457200" y="1219200"/>
            <a:ext cx="8229600" cy="5486400"/>
          </a:xfrm>
        </p:spPr>
        <p:txBody>
          <a:bodyPr/>
          <a:lstStyle/>
          <a:p>
            <a:pPr>
              <a:buNone/>
            </a:pPr>
            <a:r>
              <a:rPr lang="zh-CN" altLang="en-US" dirty="0" smtClean="0"/>
              <a:t>感知生活</a:t>
            </a:r>
            <a:endParaRPr lang="en-US" altLang="zh-CN" dirty="0" smtClean="0"/>
          </a:p>
          <a:p>
            <a:pPr>
              <a:buNone/>
            </a:pPr>
            <a:r>
              <a:rPr lang="zh-CN" altLang="en-US" dirty="0" smtClean="0"/>
              <a:t>液氨汽化时会吸收大量热能。</a:t>
            </a:r>
            <a:endParaRPr lang="en-US" altLang="zh-CN" dirty="0" smtClean="0"/>
          </a:p>
          <a:p>
            <a:pPr>
              <a:buNone/>
            </a:pPr>
            <a:endParaRPr lang="en-US" altLang="zh-CN" dirty="0" smtClean="0"/>
          </a:p>
          <a:p>
            <a:pPr>
              <a:buFont typeface="Wingdings" pitchFamily="2" charset="2"/>
              <a:buChar char="Ø"/>
            </a:pPr>
            <a:r>
              <a:rPr lang="zh-CN" altLang="en-US" dirty="0" smtClean="0"/>
              <a:t>自然界的氨气主要由蛋白质、尿素等分解形成。</a:t>
            </a:r>
            <a:endParaRPr lang="en-US" altLang="zh-CN" dirty="0" smtClean="0"/>
          </a:p>
          <a:p>
            <a:pPr>
              <a:buFont typeface="Wingdings" pitchFamily="2" charset="2"/>
              <a:buChar char="Ø"/>
            </a:pPr>
            <a:r>
              <a:rPr lang="zh-CN" altLang="en-US" dirty="0" smtClean="0"/>
              <a:t>用途：氮肥工业基础；制造硝酸、铵盐、纯碱、有机合成工业等的原料；冷冻剂；溶剂。</a:t>
            </a:r>
            <a:endParaRPr lang="en-US" altLang="zh-CN" dirty="0" smtClean="0"/>
          </a:p>
          <a:p>
            <a:pPr>
              <a:buNone/>
            </a:pPr>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en-US" altLang="zh-CN" dirty="0" smtClean="0"/>
              <a:t>13.5.1 </a:t>
            </a:r>
            <a:r>
              <a:rPr lang="zh-CN" altLang="en-US" dirty="0" smtClean="0"/>
              <a:t>氨的性质</a:t>
            </a:r>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6096325" y="1066800"/>
            <a:ext cx="2895275" cy="3276600"/>
          </a:xfrm>
          <a:prstGeom prst="rect">
            <a:avLst/>
          </a:prstGeom>
        </p:spPr>
      </p:pic>
      <p:sp>
        <p:nvSpPr>
          <p:cNvPr id="3" name="Content Placeholder 2"/>
          <p:cNvSpPr>
            <a:spLocks noGrp="1"/>
          </p:cNvSpPr>
          <p:nvPr>
            <p:ph idx="1"/>
          </p:nvPr>
        </p:nvSpPr>
        <p:spPr>
          <a:xfrm>
            <a:off x="457200" y="1219200"/>
            <a:ext cx="8229600" cy="5486400"/>
          </a:xfrm>
        </p:spPr>
        <p:txBody>
          <a:bodyPr/>
          <a:lstStyle/>
          <a:p>
            <a:pPr>
              <a:lnSpc>
                <a:spcPct val="150000"/>
              </a:lnSpc>
              <a:buNone/>
            </a:pPr>
            <a:r>
              <a:rPr lang="zh-CN" altLang="en-US" dirty="0" smtClean="0"/>
              <a:t>物理性质</a:t>
            </a:r>
            <a:endParaRPr lang="en-US" altLang="zh-CN" dirty="0" smtClean="0"/>
          </a:p>
          <a:p>
            <a:pPr>
              <a:lnSpc>
                <a:spcPct val="150000"/>
              </a:lnSpc>
              <a:buFont typeface="Wingdings" pitchFamily="2" charset="2"/>
              <a:buChar char="Ø"/>
            </a:pPr>
            <a:r>
              <a:rPr lang="zh-CN" altLang="en-US" dirty="0" smtClean="0"/>
              <a:t>无色、有刺激性臭味</a:t>
            </a:r>
            <a:endParaRPr lang="en-US" altLang="zh-CN" dirty="0" smtClean="0"/>
          </a:p>
          <a:p>
            <a:pPr>
              <a:lnSpc>
                <a:spcPct val="150000"/>
              </a:lnSpc>
              <a:buFont typeface="Wingdings" pitchFamily="2" charset="2"/>
              <a:buChar char="Ø"/>
            </a:pPr>
            <a:r>
              <a:rPr lang="zh-CN" altLang="en-US" dirty="0" smtClean="0"/>
              <a:t>密度比空气小</a:t>
            </a:r>
            <a:endParaRPr lang="en-US" altLang="zh-CN" dirty="0" smtClean="0"/>
          </a:p>
          <a:p>
            <a:pPr>
              <a:lnSpc>
                <a:spcPct val="150000"/>
              </a:lnSpc>
              <a:buFont typeface="Wingdings" pitchFamily="2" charset="2"/>
              <a:buChar char="Ø"/>
            </a:pPr>
            <a:r>
              <a:rPr lang="zh-CN" altLang="en-US" dirty="0" smtClean="0"/>
              <a:t>易液化：氨分子间可形成氢键，</a:t>
            </a:r>
            <a:endParaRPr lang="en-US" altLang="zh-CN" dirty="0" smtClean="0"/>
          </a:p>
          <a:p>
            <a:pPr>
              <a:lnSpc>
                <a:spcPct val="150000"/>
              </a:lnSpc>
              <a:buNone/>
            </a:pPr>
            <a:r>
              <a:rPr lang="en-US" altLang="zh-CN" dirty="0" smtClean="0"/>
              <a:t>			  </a:t>
            </a:r>
            <a:r>
              <a:rPr lang="zh-CN" altLang="en-US" dirty="0" smtClean="0"/>
              <a:t>沸点比其他气体高。</a:t>
            </a:r>
            <a:endParaRPr lang="en-US" altLang="zh-CN" dirty="0" smtClean="0"/>
          </a:p>
          <a:p>
            <a:pPr>
              <a:lnSpc>
                <a:spcPct val="150000"/>
              </a:lnSpc>
              <a:buFont typeface="Wingdings" pitchFamily="2" charset="2"/>
              <a:buChar char="Ø"/>
            </a:pPr>
            <a:r>
              <a:rPr lang="zh-CN" altLang="en-US" dirty="0" smtClean="0"/>
              <a:t>液氨作制冷剂。</a:t>
            </a:r>
            <a:endParaRPr lang="en-US" altLang="zh-CN" dirty="0"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en-US" altLang="zh-CN" dirty="0" smtClean="0"/>
              <a:t>13.5.1 </a:t>
            </a:r>
            <a:r>
              <a:rPr lang="zh-CN" altLang="en-US" dirty="0" smtClean="0"/>
              <a:t>氨的性质</a:t>
            </a:r>
            <a:endParaRPr lang="en-US" dirty="0"/>
          </a:p>
        </p:txBody>
      </p:sp>
      <p:pic>
        <p:nvPicPr>
          <p:cNvPr id="5" name="Picture 4"/>
          <p:cNvPicPr>
            <a:picLocks noChangeAspect="1"/>
          </p:cNvPicPr>
          <p:nvPr/>
        </p:nvPicPr>
        <p:blipFill>
          <a:blip r:embed="rId3"/>
          <a:srcRect b="8791"/>
          <a:stretch>
            <a:fillRect/>
          </a:stretch>
        </p:blipFill>
        <p:spPr>
          <a:xfrm>
            <a:off x="6324600" y="923750"/>
            <a:ext cx="2667000" cy="4486450"/>
          </a:xfrm>
          <a:prstGeom prst="rect">
            <a:avLst/>
          </a:prstGeom>
        </p:spPr>
      </p:pic>
      <p:sp>
        <p:nvSpPr>
          <p:cNvPr id="3" name="Content Placeholder 2"/>
          <p:cNvSpPr>
            <a:spLocks noGrp="1"/>
          </p:cNvSpPr>
          <p:nvPr>
            <p:ph idx="1"/>
          </p:nvPr>
        </p:nvSpPr>
        <p:spPr>
          <a:xfrm>
            <a:off x="457200" y="914400"/>
            <a:ext cx="8229600" cy="5486400"/>
          </a:xfrm>
        </p:spPr>
        <p:txBody>
          <a:bodyPr>
            <a:normAutofit lnSpcReduction="10000"/>
          </a:bodyPr>
          <a:lstStyle/>
          <a:p>
            <a:pPr>
              <a:buNone/>
            </a:pPr>
            <a:r>
              <a:rPr lang="zh-CN" altLang="en-US" dirty="0" smtClean="0"/>
              <a:t>化学性质</a:t>
            </a:r>
            <a:endParaRPr lang="en-US" altLang="zh-CN" dirty="0" smtClean="0"/>
          </a:p>
          <a:p>
            <a:pPr>
              <a:buNone/>
            </a:pPr>
            <a:r>
              <a:rPr lang="zh-CN" altLang="en-US" dirty="0" smtClean="0"/>
              <a:t>活动</a:t>
            </a:r>
            <a:r>
              <a:rPr lang="en-US" altLang="zh-CN" dirty="0" smtClean="0"/>
              <a:t>6</a:t>
            </a:r>
          </a:p>
          <a:p>
            <a:pPr>
              <a:buFont typeface="Wingdings" pitchFamily="2" charset="2"/>
              <a:buChar char="Ø"/>
            </a:pPr>
            <a:r>
              <a:rPr lang="zh-CN" altLang="en-US" dirty="0" smtClean="0"/>
              <a:t>现象：烧杯中的水被挤入烧瓶，</a:t>
            </a:r>
            <a:endParaRPr lang="en-US" altLang="zh-CN" dirty="0" smtClean="0"/>
          </a:p>
          <a:p>
            <a:pPr>
              <a:buNone/>
            </a:pPr>
            <a:r>
              <a:rPr lang="en-US" altLang="zh-CN" dirty="0" smtClean="0"/>
              <a:t>		      </a:t>
            </a:r>
            <a:r>
              <a:rPr lang="zh-CN" altLang="en-US" dirty="0" smtClean="0"/>
              <a:t>形成红色的喷泉。</a:t>
            </a:r>
            <a:endParaRPr lang="en-US" altLang="zh-CN" dirty="0" smtClean="0"/>
          </a:p>
          <a:p>
            <a:pPr>
              <a:buFont typeface="Wingdings" pitchFamily="2" charset="2"/>
              <a:buChar char="Ø"/>
            </a:pPr>
            <a:r>
              <a:rPr lang="zh-CN" altLang="en-US" dirty="0" smtClean="0"/>
              <a:t>结论：氨气极易溶于水，</a:t>
            </a:r>
            <a:endParaRPr lang="en-US" altLang="zh-CN" dirty="0" smtClean="0"/>
          </a:p>
          <a:p>
            <a:pPr>
              <a:buNone/>
            </a:pPr>
            <a:r>
              <a:rPr lang="en-US" altLang="zh-CN" dirty="0" smtClean="0"/>
              <a:t>		     </a:t>
            </a:r>
            <a:r>
              <a:rPr lang="zh-CN" altLang="en-US" dirty="0" smtClean="0"/>
              <a:t>溶于水后生成碱性溶液。</a:t>
            </a:r>
            <a:endParaRPr lang="en-US" altLang="zh-CN" dirty="0" smtClean="0"/>
          </a:p>
          <a:p>
            <a:pPr>
              <a:buNone/>
            </a:pPr>
            <a:r>
              <a:rPr lang="zh-CN" altLang="en-US" dirty="0" smtClean="0"/>
              <a:t>活动</a:t>
            </a:r>
            <a:r>
              <a:rPr lang="en-US" altLang="zh-CN" dirty="0" smtClean="0"/>
              <a:t>7</a:t>
            </a:r>
          </a:p>
          <a:p>
            <a:pPr>
              <a:buFont typeface="Wingdings" pitchFamily="2" charset="2"/>
              <a:buChar char="Ø"/>
            </a:pPr>
            <a:r>
              <a:rPr lang="zh-CN" altLang="en-US" dirty="0" smtClean="0"/>
              <a:t>现象：有白烟生成</a:t>
            </a:r>
            <a:endParaRPr lang="en-US" altLang="zh-CN" dirty="0" smtClean="0"/>
          </a:p>
          <a:p>
            <a:pPr>
              <a:buFont typeface="Wingdings" pitchFamily="2" charset="2"/>
              <a:buChar char="Ø"/>
            </a:pPr>
            <a:r>
              <a:rPr lang="zh-CN" altLang="en-US" dirty="0" smtClean="0"/>
              <a:t>结论：浓氨水挥发出的氨气与浓盐酸挥发出的氯化氢气体化合生产氯化铵晶体</a:t>
            </a:r>
            <a:r>
              <a:rPr lang="en-US" altLang="zh-CN" dirty="0" smtClean="0"/>
              <a:t>·</a:t>
            </a:r>
          </a:p>
          <a:p>
            <a:pPr>
              <a:buFont typeface="Wingdings" pitchFamily="2" charset="2"/>
              <a:buChar char="Ø"/>
            </a:pPr>
            <a:endParaRPr lang="en-US" altLang="zh-CN" dirty="0"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en-US" altLang="zh-CN" dirty="0" smtClean="0"/>
              <a:t>13.5.1 </a:t>
            </a:r>
            <a:r>
              <a:rPr lang="zh-CN" altLang="en-US" dirty="0" smtClean="0"/>
              <a:t>氨的性质</a:t>
            </a:r>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6248725" y="685800"/>
            <a:ext cx="2895275" cy="3276600"/>
          </a:xfrm>
          <a:prstGeom prst="rect">
            <a:avLst/>
          </a:prstGeom>
        </p:spPr>
      </p:pic>
      <p:sp>
        <p:nvSpPr>
          <p:cNvPr id="3" name="Content Placeholder 2"/>
          <p:cNvSpPr>
            <a:spLocks noGrp="1"/>
          </p:cNvSpPr>
          <p:nvPr>
            <p:ph idx="1"/>
          </p:nvPr>
        </p:nvSpPr>
        <p:spPr>
          <a:xfrm>
            <a:off x="457200" y="914400"/>
            <a:ext cx="8229600" cy="5486400"/>
          </a:xfrm>
        </p:spPr>
        <p:txBody>
          <a:bodyPr>
            <a:normAutofit lnSpcReduction="10000"/>
          </a:bodyPr>
          <a:lstStyle/>
          <a:p>
            <a:pPr>
              <a:lnSpc>
                <a:spcPct val="150000"/>
              </a:lnSpc>
              <a:buNone/>
            </a:pPr>
            <a:r>
              <a:rPr lang="zh-CN" altLang="en-US" dirty="0" smtClean="0"/>
              <a:t>化学性质</a:t>
            </a:r>
            <a:endParaRPr lang="en-US" altLang="zh-CN" dirty="0" smtClean="0"/>
          </a:p>
          <a:p>
            <a:pPr>
              <a:lnSpc>
                <a:spcPct val="150000"/>
              </a:lnSpc>
              <a:buFont typeface="Wingdings" pitchFamily="2" charset="2"/>
              <a:buChar char="Ø"/>
            </a:pPr>
            <a:r>
              <a:rPr lang="zh-CN" altLang="en-US" dirty="0" smtClean="0"/>
              <a:t>氨气极易溶于水</a:t>
            </a:r>
            <a:endParaRPr lang="en-US" altLang="zh-CN" dirty="0" smtClean="0"/>
          </a:p>
          <a:p>
            <a:pPr>
              <a:lnSpc>
                <a:spcPct val="150000"/>
              </a:lnSpc>
              <a:buFont typeface="Wingdings" pitchFamily="2" charset="2"/>
              <a:buChar char="Ø"/>
            </a:pPr>
            <a:r>
              <a:rPr lang="zh-CN" altLang="en-US" dirty="0" smtClean="0"/>
              <a:t>大部分氨分子与水分子以氢键结合</a:t>
            </a:r>
            <a:r>
              <a:rPr lang="zh-CN" altLang="en-US" dirty="0" smtClean="0">
                <a:cs typeface="Arial"/>
              </a:rPr>
              <a:t>。</a:t>
            </a:r>
            <a:endParaRPr lang="en-US" altLang="zh-CN" dirty="0" smtClean="0">
              <a:cs typeface="Arial"/>
            </a:endParaRPr>
          </a:p>
          <a:p>
            <a:pPr>
              <a:lnSpc>
                <a:spcPct val="150000"/>
              </a:lnSpc>
              <a:buNone/>
            </a:pPr>
            <a:r>
              <a:rPr lang="en-US" altLang="zh-CN" dirty="0" smtClean="0">
                <a:cs typeface="Arial"/>
              </a:rPr>
              <a:t>	NH</a:t>
            </a:r>
            <a:r>
              <a:rPr lang="en-US" altLang="zh-CN" baseline="-25000" dirty="0" smtClean="0">
                <a:cs typeface="Arial"/>
              </a:rPr>
              <a:t>3</a:t>
            </a:r>
            <a:r>
              <a:rPr lang="en-US" altLang="zh-CN" dirty="0" smtClean="0">
                <a:cs typeface="Arial"/>
              </a:rPr>
              <a:t> + H</a:t>
            </a:r>
            <a:r>
              <a:rPr lang="en-US" altLang="zh-CN" baseline="-25000" dirty="0" smtClean="0">
                <a:cs typeface="Arial"/>
              </a:rPr>
              <a:t>2</a:t>
            </a:r>
            <a:r>
              <a:rPr lang="en-US" altLang="zh-CN" dirty="0" smtClean="0">
                <a:cs typeface="Arial"/>
              </a:rPr>
              <a:t>O 	   </a:t>
            </a:r>
            <a:r>
              <a:rPr lang="en-US" altLang="zh-CN" dirty="0" smtClean="0"/>
              <a:t>NH</a:t>
            </a:r>
            <a:r>
              <a:rPr lang="en-US" altLang="zh-CN" baseline="-25000" dirty="0" smtClean="0"/>
              <a:t>3</a:t>
            </a:r>
            <a:r>
              <a:rPr lang="en-US" altLang="zh-CN" dirty="0" smtClean="0"/>
              <a:t> </a:t>
            </a:r>
            <a:r>
              <a:rPr lang="en-US" altLang="zh-CN" dirty="0" smtClean="0">
                <a:cs typeface="Arial"/>
              </a:rPr>
              <a:t>·H</a:t>
            </a:r>
            <a:r>
              <a:rPr lang="en-US" altLang="zh-CN" baseline="-25000" dirty="0" smtClean="0">
                <a:cs typeface="Arial"/>
              </a:rPr>
              <a:t>2</a:t>
            </a:r>
            <a:r>
              <a:rPr lang="en-US" altLang="zh-CN" dirty="0" smtClean="0">
                <a:cs typeface="Arial"/>
              </a:rPr>
              <a:t>O</a:t>
            </a:r>
          </a:p>
          <a:p>
            <a:pPr>
              <a:lnSpc>
                <a:spcPct val="150000"/>
              </a:lnSpc>
              <a:buFont typeface="Wingdings" pitchFamily="2" charset="2"/>
              <a:buChar char="Ø"/>
            </a:pPr>
            <a:r>
              <a:rPr lang="en-US" altLang="zh-CN" dirty="0" smtClean="0"/>
              <a:t>NH</a:t>
            </a:r>
            <a:r>
              <a:rPr lang="en-US" altLang="zh-CN" baseline="-25000" dirty="0" smtClean="0"/>
              <a:t>3</a:t>
            </a:r>
            <a:r>
              <a:rPr lang="en-US" altLang="zh-CN" dirty="0" smtClean="0"/>
              <a:t> </a:t>
            </a:r>
            <a:r>
              <a:rPr lang="en-US" altLang="zh-CN" dirty="0" smtClean="0">
                <a:cs typeface="Arial"/>
              </a:rPr>
              <a:t>·H</a:t>
            </a:r>
            <a:r>
              <a:rPr lang="en-US" altLang="zh-CN" baseline="-25000" dirty="0" smtClean="0">
                <a:cs typeface="Arial"/>
              </a:rPr>
              <a:t>2</a:t>
            </a:r>
            <a:r>
              <a:rPr lang="en-US" altLang="zh-CN" dirty="0" smtClean="0">
                <a:cs typeface="Arial"/>
              </a:rPr>
              <a:t>O</a:t>
            </a:r>
            <a:r>
              <a:rPr lang="zh-CN" altLang="en-US" dirty="0" smtClean="0">
                <a:cs typeface="Arial"/>
              </a:rPr>
              <a:t>小部分电离</a:t>
            </a:r>
            <a:r>
              <a:rPr lang="en-US" altLang="zh-CN" dirty="0" smtClean="0">
                <a:cs typeface="Arial"/>
              </a:rPr>
              <a:t>(</a:t>
            </a:r>
            <a:r>
              <a:rPr lang="zh-CN" altLang="en-US" dirty="0" smtClean="0">
                <a:cs typeface="Arial"/>
              </a:rPr>
              <a:t>解离</a:t>
            </a:r>
            <a:r>
              <a:rPr lang="en-US" altLang="zh-CN" dirty="0" smtClean="0">
                <a:cs typeface="Arial"/>
              </a:rPr>
              <a:t>)</a:t>
            </a:r>
            <a:r>
              <a:rPr lang="zh-CN" altLang="en-US" dirty="0" smtClean="0">
                <a:cs typeface="Arial"/>
              </a:rPr>
              <a:t>。</a:t>
            </a:r>
            <a:endParaRPr lang="en-US" altLang="zh-CN" dirty="0" smtClean="0">
              <a:cs typeface="Arial"/>
            </a:endParaRPr>
          </a:p>
          <a:p>
            <a:pPr>
              <a:lnSpc>
                <a:spcPct val="150000"/>
              </a:lnSpc>
              <a:buNone/>
            </a:pPr>
            <a:r>
              <a:rPr lang="en-US" altLang="zh-CN" dirty="0" smtClean="0">
                <a:cs typeface="Arial"/>
              </a:rPr>
              <a:t>	</a:t>
            </a:r>
            <a:r>
              <a:rPr lang="en-US" altLang="zh-CN" dirty="0" smtClean="0"/>
              <a:t> NH</a:t>
            </a:r>
            <a:r>
              <a:rPr lang="en-US" altLang="zh-CN" baseline="-25000" dirty="0" smtClean="0"/>
              <a:t>3</a:t>
            </a:r>
            <a:r>
              <a:rPr lang="en-US" altLang="zh-CN" dirty="0" smtClean="0"/>
              <a:t> </a:t>
            </a:r>
            <a:r>
              <a:rPr lang="en-US" altLang="zh-CN" dirty="0" smtClean="0">
                <a:cs typeface="Arial"/>
              </a:rPr>
              <a:t>·H</a:t>
            </a:r>
            <a:r>
              <a:rPr lang="en-US" altLang="zh-CN" baseline="-25000" dirty="0" smtClean="0">
                <a:cs typeface="Arial"/>
              </a:rPr>
              <a:t>2</a:t>
            </a:r>
            <a:r>
              <a:rPr lang="en-US" altLang="zh-CN" dirty="0" smtClean="0">
                <a:cs typeface="Arial"/>
              </a:rPr>
              <a:t>O(</a:t>
            </a:r>
            <a:r>
              <a:rPr lang="en-US" altLang="zh-CN" dirty="0" err="1" smtClean="0">
                <a:cs typeface="Arial"/>
              </a:rPr>
              <a:t>aq</a:t>
            </a:r>
            <a:r>
              <a:rPr lang="en-US" altLang="zh-CN" dirty="0" smtClean="0">
                <a:cs typeface="Arial"/>
              </a:rPr>
              <a:t>)	 	NH</a:t>
            </a:r>
            <a:r>
              <a:rPr lang="en-US" altLang="zh-CN" baseline="-25000" dirty="0" smtClean="0">
                <a:cs typeface="Arial"/>
              </a:rPr>
              <a:t>4</a:t>
            </a:r>
            <a:r>
              <a:rPr lang="en-US" altLang="zh-CN" baseline="30000" dirty="0" smtClean="0">
                <a:cs typeface="Arial"/>
              </a:rPr>
              <a:t>+</a:t>
            </a:r>
            <a:r>
              <a:rPr lang="en-US" altLang="zh-CN" dirty="0" smtClean="0">
                <a:cs typeface="Arial"/>
              </a:rPr>
              <a:t> (</a:t>
            </a:r>
            <a:r>
              <a:rPr lang="en-US" altLang="zh-CN" dirty="0" err="1" smtClean="0">
                <a:cs typeface="Arial"/>
              </a:rPr>
              <a:t>aq</a:t>
            </a:r>
            <a:r>
              <a:rPr lang="en-US" altLang="zh-CN" dirty="0" smtClean="0">
                <a:cs typeface="Arial"/>
              </a:rPr>
              <a:t>) + OH</a:t>
            </a:r>
            <a:r>
              <a:rPr lang="en-US" altLang="zh-CN" baseline="30000" dirty="0" smtClean="0">
                <a:cs typeface="Arial"/>
              </a:rPr>
              <a:t>-</a:t>
            </a:r>
            <a:r>
              <a:rPr lang="en-US" altLang="zh-CN" dirty="0" smtClean="0">
                <a:cs typeface="Arial"/>
              </a:rPr>
              <a:t> (</a:t>
            </a:r>
            <a:r>
              <a:rPr lang="en-US" altLang="zh-CN" dirty="0" err="1" smtClean="0">
                <a:cs typeface="Arial"/>
              </a:rPr>
              <a:t>aq</a:t>
            </a:r>
            <a:r>
              <a:rPr lang="en-US" altLang="zh-CN" dirty="0" smtClean="0">
                <a:cs typeface="Arial"/>
              </a:rPr>
              <a:t>)</a:t>
            </a:r>
          </a:p>
          <a:p>
            <a:pPr>
              <a:lnSpc>
                <a:spcPct val="150000"/>
              </a:lnSpc>
              <a:buFont typeface="Wingdings" pitchFamily="2" charset="2"/>
              <a:buChar char="Ø"/>
            </a:pPr>
            <a:r>
              <a:rPr lang="zh-CN" altLang="en-US" dirty="0" smtClean="0">
                <a:cs typeface="Arial"/>
              </a:rPr>
              <a:t>氨水显弱碱性</a:t>
            </a:r>
            <a:endParaRPr lang="en-US" altLang="zh-CN" dirty="0" smtClean="0">
              <a:cs typeface="Arial"/>
            </a:endParaRPr>
          </a:p>
          <a:p>
            <a:pPr>
              <a:lnSpc>
                <a:spcPct val="150000"/>
              </a:lnSpc>
              <a:buNone/>
            </a:pPr>
            <a:endParaRPr lang="en-US" altLang="zh-CN" dirty="0" smtClean="0"/>
          </a:p>
        </p:txBody>
      </p:sp>
      <p:grpSp>
        <p:nvGrpSpPr>
          <p:cNvPr id="7" name="Group 11"/>
          <p:cNvGrpSpPr/>
          <p:nvPr/>
        </p:nvGrpSpPr>
        <p:grpSpPr>
          <a:xfrm>
            <a:off x="2667000" y="3657600"/>
            <a:ext cx="838200" cy="76116"/>
            <a:chOff x="2895600" y="6324600"/>
            <a:chExt cx="2133600" cy="76199"/>
          </a:xfrm>
        </p:grpSpPr>
        <p:cxnSp>
          <p:nvCxnSpPr>
            <p:cNvPr id="10" name="Straight Arrow Connector 9"/>
            <p:cNvCxnSpPr/>
            <p:nvPr/>
          </p:nvCxnSpPr>
          <p:spPr>
            <a:xfrm rot="10800000">
              <a:off x="2895600" y="6399210"/>
              <a:ext cx="2057400" cy="1589"/>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2895600" y="6324600"/>
              <a:ext cx="21336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12" name="Group 11"/>
          <p:cNvGrpSpPr/>
          <p:nvPr/>
        </p:nvGrpSpPr>
        <p:grpSpPr>
          <a:xfrm>
            <a:off x="3276600" y="5181600"/>
            <a:ext cx="838200" cy="76116"/>
            <a:chOff x="2895600" y="6324600"/>
            <a:chExt cx="2133600" cy="76199"/>
          </a:xfrm>
        </p:grpSpPr>
        <p:cxnSp>
          <p:nvCxnSpPr>
            <p:cNvPr id="13" name="Straight Arrow Connector 12"/>
            <p:cNvCxnSpPr/>
            <p:nvPr/>
          </p:nvCxnSpPr>
          <p:spPr>
            <a:xfrm rot="10800000">
              <a:off x="2895600" y="6399210"/>
              <a:ext cx="2057400" cy="1589"/>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2895600" y="6324600"/>
              <a:ext cx="21336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blinds(horizontal)">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blinds(horizontal)">
                                      <p:cBhvr>
                                        <p:cTn id="30" dur="500"/>
                                        <p:tgtEl>
                                          <p:spTgt spid="3">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blinds(horizontal)">
                                      <p:cBhvr>
                                        <p:cTn id="35" dur="500"/>
                                        <p:tgtEl>
                                          <p:spTgt spid="3">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3">
                                            <p:txEl>
                                              <p:pRg st="6" end="6"/>
                                            </p:txEl>
                                          </p:spTgt>
                                        </p:tgtEl>
                                        <p:attrNameLst>
                                          <p:attrName>style.visibility</p:attrName>
                                        </p:attrNameLst>
                                      </p:cBhvr>
                                      <p:to>
                                        <p:strVal val="visible"/>
                                      </p:to>
                                    </p:set>
                                    <p:animEffect transition="in" filter="blinds(horizontal)">
                                      <p:cBhvr>
                                        <p:cTn id="40" dur="500"/>
                                        <p:tgtEl>
                                          <p:spTgt spid="3">
                                            <p:txEl>
                                              <p:pRg st="6" end="6"/>
                                            </p:txEl>
                                          </p:spTgt>
                                        </p:tgtEl>
                                      </p:cBhvr>
                                    </p:animEffect>
                                  </p:childTnLst>
                                </p:cTn>
                              </p:par>
                              <p:par>
                                <p:cTn id="41" presetID="3" presetClass="entr" presetSubtype="10" fill="hold"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blinds(horizontal)">
                                      <p:cBhvr>
                                        <p:cTn id="4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en-US" altLang="zh-CN" dirty="0" smtClean="0"/>
              <a:t>13.5.1 </a:t>
            </a:r>
            <a:r>
              <a:rPr lang="zh-CN" altLang="en-US" dirty="0" smtClean="0"/>
              <a:t>氨的性质</a:t>
            </a:r>
            <a:endParaRPr lang="en-US" dirty="0"/>
          </a:p>
        </p:txBody>
      </p:sp>
      <p:sp>
        <p:nvSpPr>
          <p:cNvPr id="3" name="Content Placeholder 2"/>
          <p:cNvSpPr>
            <a:spLocks noGrp="1"/>
          </p:cNvSpPr>
          <p:nvPr>
            <p:ph idx="1"/>
          </p:nvPr>
        </p:nvSpPr>
        <p:spPr>
          <a:xfrm>
            <a:off x="457200" y="914400"/>
            <a:ext cx="8229600" cy="5486400"/>
          </a:xfrm>
        </p:spPr>
        <p:txBody>
          <a:bodyPr>
            <a:normAutofit/>
          </a:bodyPr>
          <a:lstStyle/>
          <a:p>
            <a:pPr>
              <a:buNone/>
            </a:pPr>
            <a:r>
              <a:rPr lang="zh-CN" altLang="en-US" dirty="0" smtClean="0"/>
              <a:t>化学性质</a:t>
            </a:r>
            <a:endParaRPr lang="en-US" altLang="zh-CN" dirty="0" smtClean="0"/>
          </a:p>
          <a:p>
            <a:pPr>
              <a:buFont typeface="Wingdings" pitchFamily="2" charset="2"/>
              <a:buChar char="Ø"/>
            </a:pPr>
            <a:r>
              <a:rPr lang="zh-CN" altLang="en-US" dirty="0" smtClean="0"/>
              <a:t>氨气能与酸反应。</a:t>
            </a:r>
            <a:endParaRPr lang="en-US" altLang="zh-CN" dirty="0" smtClean="0"/>
          </a:p>
          <a:p>
            <a:pPr>
              <a:buNone/>
            </a:pPr>
            <a:r>
              <a:rPr lang="en-US" altLang="zh-CN" dirty="0" smtClean="0"/>
              <a:t>	NH</a:t>
            </a:r>
            <a:r>
              <a:rPr lang="en-US" altLang="zh-CN" baseline="-25000" dirty="0" smtClean="0"/>
              <a:t>3</a:t>
            </a:r>
            <a:r>
              <a:rPr lang="en-US" altLang="zh-CN" dirty="0" smtClean="0"/>
              <a:t> + </a:t>
            </a:r>
            <a:r>
              <a:rPr lang="en-US" altLang="zh-CN" dirty="0" err="1" smtClean="0"/>
              <a:t>HCl</a:t>
            </a:r>
            <a:r>
              <a:rPr lang="en-US" altLang="zh-CN" dirty="0" smtClean="0"/>
              <a:t> </a:t>
            </a:r>
            <a:r>
              <a:rPr lang="en-US" altLang="zh-CN" dirty="0" smtClean="0">
                <a:sym typeface="Wingdings" pitchFamily="2" charset="2"/>
              </a:rPr>
              <a:t> NH</a:t>
            </a:r>
            <a:r>
              <a:rPr lang="en-US" altLang="zh-CN" baseline="-25000" dirty="0" smtClean="0">
                <a:sym typeface="Wingdings" pitchFamily="2" charset="2"/>
              </a:rPr>
              <a:t>4</a:t>
            </a:r>
            <a:r>
              <a:rPr lang="en-US" altLang="zh-CN" dirty="0" smtClean="0">
                <a:sym typeface="Wingdings" pitchFamily="2" charset="2"/>
              </a:rPr>
              <a:t>Cl</a:t>
            </a:r>
          </a:p>
          <a:p>
            <a:pPr>
              <a:buNone/>
            </a:pPr>
            <a:r>
              <a:rPr lang="en-US" altLang="zh-CN" dirty="0" smtClean="0">
                <a:sym typeface="Wingdings" pitchFamily="2" charset="2"/>
              </a:rPr>
              <a:t>	NH</a:t>
            </a:r>
            <a:r>
              <a:rPr lang="en-US" altLang="zh-CN" baseline="-25000" dirty="0" smtClean="0">
                <a:sym typeface="Wingdings" pitchFamily="2" charset="2"/>
              </a:rPr>
              <a:t>3</a:t>
            </a:r>
            <a:r>
              <a:rPr lang="en-US" altLang="zh-CN" dirty="0" smtClean="0">
                <a:sym typeface="Wingdings" pitchFamily="2" charset="2"/>
              </a:rPr>
              <a:t> + HNO</a:t>
            </a:r>
            <a:r>
              <a:rPr lang="en-US" altLang="zh-CN" baseline="-25000" dirty="0" smtClean="0">
                <a:sym typeface="Wingdings" pitchFamily="2" charset="2"/>
              </a:rPr>
              <a:t>3</a:t>
            </a:r>
            <a:r>
              <a:rPr lang="en-US" altLang="zh-CN" dirty="0" smtClean="0">
                <a:sym typeface="Wingdings" pitchFamily="2" charset="2"/>
              </a:rPr>
              <a:t>  NH</a:t>
            </a:r>
            <a:r>
              <a:rPr lang="en-US" altLang="zh-CN" baseline="-25000" dirty="0" smtClean="0">
                <a:sym typeface="Wingdings" pitchFamily="2" charset="2"/>
              </a:rPr>
              <a:t>4</a:t>
            </a:r>
            <a:r>
              <a:rPr lang="en-US" altLang="zh-CN" dirty="0" smtClean="0">
                <a:sym typeface="Wingdings" pitchFamily="2" charset="2"/>
              </a:rPr>
              <a:t>NO</a:t>
            </a:r>
            <a:r>
              <a:rPr lang="en-US" altLang="zh-CN" baseline="-25000" dirty="0" smtClean="0">
                <a:sym typeface="Wingdings" pitchFamily="2" charset="2"/>
              </a:rPr>
              <a:t>3</a:t>
            </a:r>
          </a:p>
          <a:p>
            <a:pPr>
              <a:buNone/>
            </a:pPr>
            <a:r>
              <a:rPr lang="en-US" altLang="zh-CN" baseline="-25000" dirty="0" smtClean="0">
                <a:sym typeface="Wingdings" pitchFamily="2" charset="2"/>
              </a:rPr>
              <a:t> 	</a:t>
            </a:r>
            <a:r>
              <a:rPr lang="en-US" altLang="zh-CN" dirty="0" smtClean="0">
                <a:sym typeface="Wingdings" pitchFamily="2" charset="2"/>
              </a:rPr>
              <a:t>2NH</a:t>
            </a:r>
            <a:r>
              <a:rPr lang="en-US" altLang="zh-CN" baseline="-25000" dirty="0" smtClean="0">
                <a:sym typeface="Wingdings" pitchFamily="2" charset="2"/>
              </a:rPr>
              <a:t>3</a:t>
            </a:r>
            <a:r>
              <a:rPr lang="en-US" altLang="zh-CN" dirty="0" smtClean="0">
                <a:sym typeface="Wingdings" pitchFamily="2" charset="2"/>
              </a:rPr>
              <a:t>  + H</a:t>
            </a:r>
            <a:r>
              <a:rPr lang="en-US" altLang="zh-CN" baseline="-25000" dirty="0" smtClean="0">
                <a:sym typeface="Wingdings" pitchFamily="2" charset="2"/>
              </a:rPr>
              <a:t>2</a:t>
            </a:r>
            <a:r>
              <a:rPr lang="en-US" altLang="zh-CN" dirty="0" smtClean="0">
                <a:sym typeface="Wingdings" pitchFamily="2" charset="2"/>
              </a:rPr>
              <a:t>SO</a:t>
            </a:r>
            <a:r>
              <a:rPr lang="en-US" altLang="zh-CN" baseline="-25000" dirty="0" smtClean="0">
                <a:sym typeface="Wingdings" pitchFamily="2" charset="2"/>
              </a:rPr>
              <a:t>4</a:t>
            </a:r>
            <a:r>
              <a:rPr lang="en-US" altLang="zh-CN" dirty="0" smtClean="0">
                <a:sym typeface="Wingdings" pitchFamily="2" charset="2"/>
              </a:rPr>
              <a:t>  (NH</a:t>
            </a:r>
            <a:r>
              <a:rPr lang="en-US" altLang="zh-CN" baseline="-25000" dirty="0" smtClean="0">
                <a:sym typeface="Wingdings" pitchFamily="2" charset="2"/>
              </a:rPr>
              <a:t>4</a:t>
            </a:r>
            <a:r>
              <a:rPr lang="en-US" altLang="zh-CN" dirty="0" smtClean="0">
                <a:sym typeface="Wingdings" pitchFamily="2" charset="2"/>
              </a:rPr>
              <a:t> )</a:t>
            </a:r>
            <a:r>
              <a:rPr lang="en-US" altLang="zh-CN" baseline="-25000" dirty="0" smtClean="0">
                <a:sym typeface="Wingdings" pitchFamily="2" charset="2"/>
              </a:rPr>
              <a:t>2</a:t>
            </a:r>
            <a:r>
              <a:rPr lang="en-US" altLang="zh-CN" dirty="0" smtClean="0">
                <a:sym typeface="Wingdings" pitchFamily="2" charset="2"/>
              </a:rPr>
              <a:t>SO</a:t>
            </a:r>
            <a:r>
              <a:rPr lang="en-US" altLang="zh-CN" baseline="-25000" dirty="0" smtClean="0">
                <a:sym typeface="Wingdings" pitchFamily="2" charset="2"/>
              </a:rPr>
              <a:t>4</a:t>
            </a:r>
            <a:r>
              <a:rPr lang="en-US" altLang="zh-CN" dirty="0" smtClean="0">
                <a:sym typeface="Wingdings" pitchFamily="2" charset="2"/>
              </a:rPr>
              <a:t> </a:t>
            </a:r>
          </a:p>
          <a:p>
            <a:pPr>
              <a:buNone/>
            </a:pPr>
            <a:endParaRPr lang="en-US" altLang="zh-CN" dirty="0" smtClean="0">
              <a:sym typeface="Wingdings" pitchFamily="2" charset="2"/>
            </a:endParaRPr>
          </a:p>
          <a:p>
            <a:pPr>
              <a:buFont typeface="Wingdings" pitchFamily="2" charset="2"/>
              <a:buChar char="Ø"/>
            </a:pPr>
            <a:r>
              <a:rPr lang="zh-CN" altLang="en-US" dirty="0" smtClean="0">
                <a:sym typeface="Wingdings" pitchFamily="2" charset="2"/>
              </a:rPr>
              <a:t>氨气具有还原性</a:t>
            </a:r>
            <a:endParaRPr lang="en-US" altLang="zh-CN" dirty="0" smtClean="0">
              <a:sym typeface="Wingdings" pitchFamily="2" charset="2"/>
            </a:endParaRPr>
          </a:p>
          <a:p>
            <a:pPr>
              <a:buNone/>
            </a:pPr>
            <a:r>
              <a:rPr lang="en-US" altLang="zh-CN" dirty="0" smtClean="0">
                <a:sym typeface="Wingdings" pitchFamily="2" charset="2"/>
              </a:rPr>
              <a:t>	4NH</a:t>
            </a:r>
            <a:r>
              <a:rPr lang="en-US" altLang="zh-CN" baseline="-25000" dirty="0" smtClean="0">
                <a:sym typeface="Wingdings" pitchFamily="2" charset="2"/>
              </a:rPr>
              <a:t>3</a:t>
            </a:r>
            <a:r>
              <a:rPr lang="en-US" altLang="zh-CN" dirty="0" smtClean="0">
                <a:sym typeface="Wingdings" pitchFamily="2" charset="2"/>
              </a:rPr>
              <a:t> + 5 O</a:t>
            </a:r>
            <a:r>
              <a:rPr lang="en-US" altLang="zh-CN" baseline="-25000" dirty="0" smtClean="0">
                <a:sym typeface="Wingdings" pitchFamily="2" charset="2"/>
              </a:rPr>
              <a:t>2</a:t>
            </a:r>
            <a:r>
              <a:rPr lang="en-US" altLang="zh-CN" dirty="0" smtClean="0">
                <a:sym typeface="Wingdings" pitchFamily="2" charset="2"/>
              </a:rPr>
              <a:t> 		4NO + 6 H</a:t>
            </a:r>
            <a:r>
              <a:rPr lang="en-US" altLang="zh-CN" baseline="-25000" dirty="0" smtClean="0">
                <a:sym typeface="Wingdings" pitchFamily="2" charset="2"/>
              </a:rPr>
              <a:t>2</a:t>
            </a:r>
            <a:r>
              <a:rPr lang="en-US" altLang="zh-CN" dirty="0" smtClean="0">
                <a:sym typeface="Wingdings" pitchFamily="2" charset="2"/>
              </a:rPr>
              <a:t>O</a:t>
            </a:r>
          </a:p>
          <a:p>
            <a:pPr>
              <a:buNone/>
            </a:pPr>
            <a:r>
              <a:rPr lang="en-US" altLang="zh-CN" dirty="0" smtClean="0">
                <a:sym typeface="Wingdings" pitchFamily="2" charset="2"/>
              </a:rPr>
              <a:t>	3CuO + 2NH</a:t>
            </a:r>
            <a:r>
              <a:rPr lang="en-US" altLang="zh-CN" baseline="-25000" dirty="0" smtClean="0">
                <a:sym typeface="Wingdings" pitchFamily="2" charset="2"/>
              </a:rPr>
              <a:t>3</a:t>
            </a:r>
            <a:r>
              <a:rPr lang="en-US" altLang="zh-CN" dirty="0" smtClean="0">
                <a:sym typeface="Wingdings" pitchFamily="2" charset="2"/>
              </a:rPr>
              <a:t> 		3Cu + N</a:t>
            </a:r>
            <a:r>
              <a:rPr lang="en-US" altLang="zh-CN" baseline="-25000" dirty="0" smtClean="0">
                <a:sym typeface="Wingdings" pitchFamily="2" charset="2"/>
              </a:rPr>
              <a:t>2</a:t>
            </a:r>
            <a:r>
              <a:rPr lang="en-US" altLang="zh-CN" dirty="0" smtClean="0">
                <a:sym typeface="Wingdings" pitchFamily="2" charset="2"/>
              </a:rPr>
              <a:t> + 3 H</a:t>
            </a:r>
            <a:r>
              <a:rPr lang="en-US" altLang="zh-CN" baseline="-25000" dirty="0" smtClean="0">
                <a:sym typeface="Wingdings" pitchFamily="2" charset="2"/>
              </a:rPr>
              <a:t>2</a:t>
            </a:r>
            <a:r>
              <a:rPr lang="en-US" altLang="zh-CN" dirty="0" smtClean="0">
                <a:sym typeface="Wingdings" pitchFamily="2" charset="2"/>
              </a:rPr>
              <a:t>O</a:t>
            </a:r>
            <a:endParaRPr lang="en-US" altLang="zh-CN" dirty="0" smtClean="0"/>
          </a:p>
        </p:txBody>
      </p:sp>
      <p:grpSp>
        <p:nvGrpSpPr>
          <p:cNvPr id="6" name="Group 5"/>
          <p:cNvGrpSpPr/>
          <p:nvPr/>
        </p:nvGrpSpPr>
        <p:grpSpPr>
          <a:xfrm>
            <a:off x="3048000" y="5026223"/>
            <a:ext cx="914400" cy="688777"/>
            <a:chOff x="2819400" y="5867400"/>
            <a:chExt cx="914400" cy="688777"/>
          </a:xfrm>
        </p:grpSpPr>
        <p:cxnSp>
          <p:nvCxnSpPr>
            <p:cNvPr id="7" name="Straight Arrow Connector 6"/>
            <p:cNvCxnSpPr/>
            <p:nvPr/>
          </p:nvCxnSpPr>
          <p:spPr>
            <a:xfrm>
              <a:off x="2819400" y="6172117"/>
              <a:ext cx="914400" cy="83"/>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2819400" y="6248400"/>
              <a:ext cx="723275" cy="307777"/>
            </a:xfrm>
            <a:prstGeom prst="rect">
              <a:avLst/>
            </a:prstGeom>
            <a:noFill/>
          </p:spPr>
          <p:txBody>
            <a:bodyPr wrap="square" rtlCol="0">
              <a:spAutoFit/>
            </a:bodyPr>
            <a:lstStyle/>
            <a:p>
              <a:r>
                <a:rPr lang="zh-CN" altLang="en-US" sz="1400" dirty="0" smtClean="0"/>
                <a:t>催化剂</a:t>
              </a:r>
              <a:endParaRPr lang="en-US" sz="1400" dirty="0"/>
            </a:p>
          </p:txBody>
        </p:sp>
        <p:sp>
          <p:nvSpPr>
            <p:cNvPr id="9" name="TextBox 8"/>
            <p:cNvSpPr txBox="1"/>
            <p:nvPr/>
          </p:nvSpPr>
          <p:spPr>
            <a:xfrm>
              <a:off x="2885261" y="5867400"/>
              <a:ext cx="543739" cy="307777"/>
            </a:xfrm>
            <a:prstGeom prst="rect">
              <a:avLst/>
            </a:prstGeom>
            <a:noFill/>
          </p:spPr>
          <p:txBody>
            <a:bodyPr wrap="none" rtlCol="0">
              <a:spAutoFit/>
            </a:bodyPr>
            <a:lstStyle/>
            <a:p>
              <a:r>
                <a:rPr lang="zh-CN" altLang="en-US" sz="1400" dirty="0" smtClean="0"/>
                <a:t>高温</a:t>
              </a:r>
              <a:endParaRPr lang="en-US" sz="1400" dirty="0"/>
            </a:p>
          </p:txBody>
        </p:sp>
      </p:grpSp>
      <p:grpSp>
        <p:nvGrpSpPr>
          <p:cNvPr id="16" name="Group 15"/>
          <p:cNvGrpSpPr/>
          <p:nvPr/>
        </p:nvGrpSpPr>
        <p:grpSpPr>
          <a:xfrm>
            <a:off x="3276600" y="5789612"/>
            <a:ext cx="838200" cy="153988"/>
            <a:chOff x="3429000" y="3198812"/>
            <a:chExt cx="838200" cy="153988"/>
          </a:xfrm>
        </p:grpSpPr>
        <p:cxnSp>
          <p:nvCxnSpPr>
            <p:cNvPr id="14" name="Straight Arrow Connector 13"/>
            <p:cNvCxnSpPr/>
            <p:nvPr/>
          </p:nvCxnSpPr>
          <p:spPr bwMode="auto">
            <a:xfrm>
              <a:off x="3429000" y="3351212"/>
              <a:ext cx="8382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15" name="Isosceles Triangle 14"/>
            <p:cNvSpPr/>
            <p:nvPr/>
          </p:nvSpPr>
          <p:spPr bwMode="auto">
            <a:xfrm>
              <a:off x="3733800" y="3198812"/>
              <a:ext cx="228600" cy="152400"/>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grpSp>
      <p:sp>
        <p:nvSpPr>
          <p:cNvPr id="17" name="Rounded Rectangle 16"/>
          <p:cNvSpPr/>
          <p:nvPr/>
        </p:nvSpPr>
        <p:spPr>
          <a:xfrm>
            <a:off x="3048000" y="2133600"/>
            <a:ext cx="16764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
        <p:nvSpPr>
          <p:cNvPr id="18" name="Rounded Rectangle 17"/>
          <p:cNvSpPr/>
          <p:nvPr/>
        </p:nvSpPr>
        <p:spPr>
          <a:xfrm>
            <a:off x="3352800" y="2743200"/>
            <a:ext cx="16764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
        <p:nvSpPr>
          <p:cNvPr id="19" name="Rounded Rectangle 18"/>
          <p:cNvSpPr/>
          <p:nvPr/>
        </p:nvSpPr>
        <p:spPr>
          <a:xfrm>
            <a:off x="3733800" y="3352800"/>
            <a:ext cx="19050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
        <p:nvSpPr>
          <p:cNvPr id="20" name="Rounded Rectangle 19"/>
          <p:cNvSpPr/>
          <p:nvPr/>
        </p:nvSpPr>
        <p:spPr>
          <a:xfrm>
            <a:off x="4114800" y="5105400"/>
            <a:ext cx="22860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
        <p:nvSpPr>
          <p:cNvPr id="21" name="Rounded Rectangle 20"/>
          <p:cNvSpPr/>
          <p:nvPr/>
        </p:nvSpPr>
        <p:spPr>
          <a:xfrm>
            <a:off x="4114800" y="5638800"/>
            <a:ext cx="29718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blinds(horizontal)">
                                      <p:cBhvr>
                                        <p:cTn id="20" dur="500"/>
                                        <p:tgtEl>
                                          <p:spTgt spid="3">
                                            <p:txEl>
                                              <p:pRg st="3" end="3"/>
                                            </p:txEl>
                                          </p:spTgt>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blinds(horizontal)">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xit" presetSubtype="10" fill="hold" grpId="0" nodeType="clickEffect">
                                  <p:stCondLst>
                                    <p:cond delay="0"/>
                                  </p:stCondLst>
                                  <p:childTnLst>
                                    <p:animEffect transition="out" filter="blinds(horizontal)">
                                      <p:cBhvr>
                                        <p:cTn id="27" dur="500"/>
                                        <p:tgtEl>
                                          <p:spTgt spid="17"/>
                                        </p:tgtEl>
                                      </p:cBhvr>
                                    </p:animEffect>
                                    <p:set>
                                      <p:cBhvr>
                                        <p:cTn id="28" dur="1" fill="hold">
                                          <p:stCondLst>
                                            <p:cond delay="499"/>
                                          </p:stCondLst>
                                        </p:cTn>
                                        <p:tgtEl>
                                          <p:spTgt spid="17"/>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3" presetClass="exit" presetSubtype="10" fill="hold" grpId="0" nodeType="clickEffect">
                                  <p:stCondLst>
                                    <p:cond delay="0"/>
                                  </p:stCondLst>
                                  <p:childTnLst>
                                    <p:animEffect transition="out" filter="blinds(horizontal)">
                                      <p:cBhvr>
                                        <p:cTn id="32" dur="500"/>
                                        <p:tgtEl>
                                          <p:spTgt spid="18"/>
                                        </p:tgtEl>
                                      </p:cBhvr>
                                    </p:animEffect>
                                    <p:set>
                                      <p:cBhvr>
                                        <p:cTn id="33" dur="1" fill="hold">
                                          <p:stCondLst>
                                            <p:cond delay="499"/>
                                          </p:stCondLst>
                                        </p:cTn>
                                        <p:tgtEl>
                                          <p:spTgt spid="18"/>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3" presetClass="exit" presetSubtype="10" fill="hold" grpId="0" nodeType="clickEffect">
                                  <p:stCondLst>
                                    <p:cond delay="0"/>
                                  </p:stCondLst>
                                  <p:childTnLst>
                                    <p:animEffect transition="out" filter="blinds(horizontal)">
                                      <p:cBhvr>
                                        <p:cTn id="37" dur="500"/>
                                        <p:tgtEl>
                                          <p:spTgt spid="19"/>
                                        </p:tgtEl>
                                      </p:cBhvr>
                                    </p:animEffect>
                                    <p:set>
                                      <p:cBhvr>
                                        <p:cTn id="38" dur="1" fill="hold">
                                          <p:stCondLst>
                                            <p:cond delay="499"/>
                                          </p:stCondLst>
                                        </p:cTn>
                                        <p:tgtEl>
                                          <p:spTgt spid="19"/>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Effect transition="in" filter="blinds(horizontal)">
                                      <p:cBhvr>
                                        <p:cTn id="43" dur="500"/>
                                        <p:tgtEl>
                                          <p:spTgt spid="3">
                                            <p:txEl>
                                              <p:pRg st="6" end="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3">
                                            <p:txEl>
                                              <p:pRg st="7" end="7"/>
                                            </p:txEl>
                                          </p:spTgt>
                                        </p:tgtEl>
                                        <p:attrNameLst>
                                          <p:attrName>style.visibility</p:attrName>
                                        </p:attrNameLst>
                                      </p:cBhvr>
                                      <p:to>
                                        <p:strVal val="visible"/>
                                      </p:to>
                                    </p:set>
                                    <p:animEffect transition="in" filter="blinds(horizontal)">
                                      <p:cBhvr>
                                        <p:cTn id="48" dur="500"/>
                                        <p:tgtEl>
                                          <p:spTgt spid="3">
                                            <p:txEl>
                                              <p:pRg st="7" end="7"/>
                                            </p:txEl>
                                          </p:spTgt>
                                        </p:tgtEl>
                                      </p:cBhvr>
                                    </p:animEffect>
                                  </p:childTnLst>
                                </p:cTn>
                              </p:par>
                              <p:par>
                                <p:cTn id="49" presetID="3" presetClass="entr" presetSubtype="10" fill="hold" nodeType="withEffect">
                                  <p:stCondLst>
                                    <p:cond delay="0"/>
                                  </p:stCondLst>
                                  <p:childTnLst>
                                    <p:set>
                                      <p:cBhvr>
                                        <p:cTn id="50" dur="1" fill="hold">
                                          <p:stCondLst>
                                            <p:cond delay="0"/>
                                          </p:stCondLst>
                                        </p:cTn>
                                        <p:tgtEl>
                                          <p:spTgt spid="6"/>
                                        </p:tgtEl>
                                        <p:attrNameLst>
                                          <p:attrName>style.visibility</p:attrName>
                                        </p:attrNameLst>
                                      </p:cBhvr>
                                      <p:to>
                                        <p:strVal val="visible"/>
                                      </p:to>
                                    </p:set>
                                    <p:animEffect transition="in" filter="blinds(horizontal)">
                                      <p:cBhvr>
                                        <p:cTn id="51" dur="500"/>
                                        <p:tgtEl>
                                          <p:spTgt spid="6"/>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xit" presetSubtype="10" fill="hold" grpId="0" nodeType="clickEffect">
                                  <p:stCondLst>
                                    <p:cond delay="0"/>
                                  </p:stCondLst>
                                  <p:childTnLst>
                                    <p:animEffect transition="out" filter="blinds(horizontal)">
                                      <p:cBhvr>
                                        <p:cTn id="55" dur="500"/>
                                        <p:tgtEl>
                                          <p:spTgt spid="20"/>
                                        </p:tgtEl>
                                      </p:cBhvr>
                                    </p:animEffect>
                                    <p:set>
                                      <p:cBhvr>
                                        <p:cTn id="56" dur="1" fill="hold">
                                          <p:stCondLst>
                                            <p:cond delay="499"/>
                                          </p:stCondLst>
                                        </p:cTn>
                                        <p:tgtEl>
                                          <p:spTgt spid="20"/>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3">
                                            <p:txEl>
                                              <p:pRg st="8" end="8"/>
                                            </p:txEl>
                                          </p:spTgt>
                                        </p:tgtEl>
                                        <p:attrNameLst>
                                          <p:attrName>style.visibility</p:attrName>
                                        </p:attrNameLst>
                                      </p:cBhvr>
                                      <p:to>
                                        <p:strVal val="visible"/>
                                      </p:to>
                                    </p:set>
                                    <p:animEffect transition="in" filter="blinds(horizontal)">
                                      <p:cBhvr>
                                        <p:cTn id="61" dur="500"/>
                                        <p:tgtEl>
                                          <p:spTgt spid="3">
                                            <p:txEl>
                                              <p:pRg st="8" end="8"/>
                                            </p:txEl>
                                          </p:spTgt>
                                        </p:tgtEl>
                                      </p:cBhvr>
                                    </p:animEffect>
                                  </p:childTnLst>
                                </p:cTn>
                              </p:par>
                              <p:par>
                                <p:cTn id="62" presetID="3" presetClass="entr" presetSubtype="10" fill="hold" nodeType="withEffect">
                                  <p:stCondLst>
                                    <p:cond delay="0"/>
                                  </p:stCondLst>
                                  <p:childTnLst>
                                    <p:set>
                                      <p:cBhvr>
                                        <p:cTn id="63" dur="1" fill="hold">
                                          <p:stCondLst>
                                            <p:cond delay="0"/>
                                          </p:stCondLst>
                                        </p:cTn>
                                        <p:tgtEl>
                                          <p:spTgt spid="16"/>
                                        </p:tgtEl>
                                        <p:attrNameLst>
                                          <p:attrName>style.visibility</p:attrName>
                                        </p:attrNameLst>
                                      </p:cBhvr>
                                      <p:to>
                                        <p:strVal val="visible"/>
                                      </p:to>
                                    </p:set>
                                    <p:animEffect transition="in" filter="blinds(horizontal)">
                                      <p:cBhvr>
                                        <p:cTn id="64" dur="500"/>
                                        <p:tgtEl>
                                          <p:spTgt spid="16"/>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xit" presetSubtype="10" fill="hold" grpId="0" nodeType="clickEffect">
                                  <p:stCondLst>
                                    <p:cond delay="0"/>
                                  </p:stCondLst>
                                  <p:childTnLst>
                                    <p:animEffect transition="out" filter="blinds(horizontal)">
                                      <p:cBhvr>
                                        <p:cTn id="68" dur="500"/>
                                        <p:tgtEl>
                                          <p:spTgt spid="21"/>
                                        </p:tgtEl>
                                      </p:cBhvr>
                                    </p:animEffect>
                                    <p:set>
                                      <p:cBhvr>
                                        <p:cTn id="69" dur="1" fill="hold">
                                          <p:stCondLst>
                                            <p:cond delay="499"/>
                                          </p:stCondLst>
                                        </p:cTn>
                                        <p:tgtEl>
                                          <p:spTgt spid="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7" grpId="0" animBg="1"/>
      <p:bldP spid="18" grpId="0" animBg="1"/>
      <p:bldP spid="19" grpId="0" animBg="1"/>
      <p:bldP spid="20" grpId="0" animBg="1"/>
      <p:bldP spid="21"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en-US" dirty="0" smtClean="0"/>
              <a:t>13.5.2 </a:t>
            </a:r>
            <a:r>
              <a:rPr lang="zh-CN" altLang="en-US" dirty="0" smtClean="0"/>
              <a:t>氨的制取</a:t>
            </a:r>
            <a:endParaRPr lang="en-US" dirty="0"/>
          </a:p>
        </p:txBody>
      </p:sp>
      <p:sp>
        <p:nvSpPr>
          <p:cNvPr id="3" name="Content Placeholder 2"/>
          <p:cNvSpPr>
            <a:spLocks noGrp="1"/>
          </p:cNvSpPr>
          <p:nvPr>
            <p:ph idx="1"/>
          </p:nvPr>
        </p:nvSpPr>
        <p:spPr>
          <a:xfrm>
            <a:off x="457200" y="914400"/>
            <a:ext cx="8229600" cy="5791200"/>
          </a:xfrm>
        </p:spPr>
        <p:txBody>
          <a:bodyPr/>
          <a:lstStyle/>
          <a:p>
            <a:pPr>
              <a:buNone/>
            </a:pPr>
            <a:r>
              <a:rPr lang="zh-CN" altLang="en-US" dirty="0" smtClean="0"/>
              <a:t>活动</a:t>
            </a:r>
            <a:r>
              <a:rPr lang="en-US" altLang="zh-CN" dirty="0" smtClean="0"/>
              <a:t>8</a:t>
            </a:r>
          </a:p>
          <a:p>
            <a:pPr>
              <a:buNone/>
            </a:pPr>
            <a:r>
              <a:rPr lang="zh-CN" altLang="en-US" dirty="0" smtClean="0"/>
              <a:t>现象：潮湿的红色石蕊试纸变蓝</a:t>
            </a:r>
            <a:endParaRPr lang="en-US" altLang="zh-CN" dirty="0" smtClean="0"/>
          </a:p>
          <a:p>
            <a:pPr>
              <a:buNone/>
            </a:pPr>
            <a:r>
              <a:rPr lang="en-US" altLang="zh-CN" dirty="0" smtClean="0"/>
              <a:t>2NH</a:t>
            </a:r>
            <a:r>
              <a:rPr lang="en-US" altLang="zh-CN" baseline="-25000" dirty="0" smtClean="0"/>
              <a:t>4</a:t>
            </a:r>
            <a:r>
              <a:rPr lang="en-US" altLang="zh-CN" dirty="0" smtClean="0"/>
              <a:t>Cl + Ca(OH)</a:t>
            </a:r>
            <a:r>
              <a:rPr lang="en-US" altLang="zh-CN" baseline="-25000" dirty="0" smtClean="0"/>
              <a:t>2</a:t>
            </a:r>
            <a:r>
              <a:rPr lang="en-US" altLang="zh-CN" dirty="0" smtClean="0"/>
              <a:t> 	   CaCl</a:t>
            </a:r>
            <a:r>
              <a:rPr lang="en-US" altLang="zh-CN" baseline="-25000" dirty="0" smtClean="0"/>
              <a:t>2</a:t>
            </a:r>
            <a:r>
              <a:rPr lang="en-US" altLang="zh-CN" dirty="0" smtClean="0"/>
              <a:t> + 2NH</a:t>
            </a:r>
            <a:r>
              <a:rPr lang="en-US" altLang="zh-CN" baseline="-25000" dirty="0" smtClean="0"/>
              <a:t>3</a:t>
            </a:r>
            <a:r>
              <a:rPr lang="en-US" altLang="zh-CN" dirty="0" smtClean="0"/>
              <a:t> + 2H</a:t>
            </a:r>
            <a:r>
              <a:rPr lang="en-US" altLang="zh-CN" baseline="-25000" dirty="0" smtClean="0"/>
              <a:t>2</a:t>
            </a:r>
            <a:r>
              <a:rPr lang="en-US" altLang="zh-CN" dirty="0" smtClean="0"/>
              <a:t>O</a:t>
            </a:r>
          </a:p>
          <a:p>
            <a:pPr>
              <a:buNone/>
            </a:pPr>
            <a:r>
              <a:rPr lang="zh-CN" altLang="en-US" b="1" dirty="0" smtClean="0">
                <a:solidFill>
                  <a:srgbClr val="002060"/>
                </a:solidFill>
                <a:effectLst>
                  <a:outerShdw blurRad="38100" dist="38100" dir="2700000" algn="tl">
                    <a:srgbClr val="000000">
                      <a:alpha val="43137"/>
                    </a:srgbClr>
                  </a:outerShdw>
                </a:effectLst>
              </a:rPr>
              <a:t>铵盐</a:t>
            </a:r>
            <a:r>
              <a:rPr lang="en-US" altLang="zh-CN" b="1" dirty="0" smtClean="0">
                <a:solidFill>
                  <a:srgbClr val="002060"/>
                </a:solidFill>
                <a:effectLst>
                  <a:outerShdw blurRad="38100" dist="38100" dir="2700000" algn="tl">
                    <a:srgbClr val="000000">
                      <a:alpha val="43137"/>
                    </a:srgbClr>
                  </a:outerShdw>
                </a:effectLst>
              </a:rPr>
              <a:t>+ </a:t>
            </a:r>
            <a:r>
              <a:rPr lang="zh-CN" altLang="en-US" b="1" dirty="0" smtClean="0">
                <a:solidFill>
                  <a:srgbClr val="002060"/>
                </a:solidFill>
                <a:effectLst>
                  <a:outerShdw blurRad="38100" dist="38100" dir="2700000" algn="tl">
                    <a:srgbClr val="000000">
                      <a:alpha val="43137"/>
                    </a:srgbClr>
                  </a:outerShdw>
                </a:effectLst>
              </a:rPr>
              <a:t>碱 </a:t>
            </a:r>
            <a:r>
              <a:rPr lang="en-US" altLang="zh-CN" b="1" dirty="0" smtClean="0">
                <a:solidFill>
                  <a:srgbClr val="002060"/>
                </a:solidFill>
                <a:effectLst>
                  <a:outerShdw blurRad="38100" dist="38100" dir="2700000" algn="tl">
                    <a:srgbClr val="000000">
                      <a:alpha val="43137"/>
                    </a:srgbClr>
                  </a:outerShdw>
                </a:effectLst>
                <a:sym typeface="Wingdings" pitchFamily="2" charset="2"/>
              </a:rPr>
              <a:t> </a:t>
            </a:r>
            <a:r>
              <a:rPr lang="zh-CN" altLang="en-US" b="1" dirty="0" smtClean="0">
                <a:solidFill>
                  <a:srgbClr val="002060"/>
                </a:solidFill>
                <a:effectLst>
                  <a:outerShdw blurRad="38100" dist="38100" dir="2700000" algn="tl">
                    <a:srgbClr val="000000">
                      <a:alpha val="43137"/>
                    </a:srgbClr>
                  </a:outerShdw>
                </a:effectLst>
                <a:sym typeface="Wingdings" pitchFamily="2" charset="2"/>
              </a:rPr>
              <a:t>盐 </a:t>
            </a:r>
            <a:r>
              <a:rPr lang="en-US" altLang="zh-CN" b="1" dirty="0" smtClean="0">
                <a:solidFill>
                  <a:srgbClr val="002060"/>
                </a:solidFill>
                <a:effectLst>
                  <a:outerShdw blurRad="38100" dist="38100" dir="2700000" algn="tl">
                    <a:srgbClr val="000000">
                      <a:alpha val="43137"/>
                    </a:srgbClr>
                  </a:outerShdw>
                </a:effectLst>
                <a:sym typeface="Wingdings" pitchFamily="2" charset="2"/>
              </a:rPr>
              <a:t>+ </a:t>
            </a:r>
            <a:r>
              <a:rPr lang="zh-CN" altLang="en-US" b="1" dirty="0" smtClean="0">
                <a:solidFill>
                  <a:srgbClr val="002060"/>
                </a:solidFill>
                <a:effectLst>
                  <a:outerShdw blurRad="38100" dist="38100" dir="2700000" algn="tl">
                    <a:srgbClr val="000000">
                      <a:alpha val="43137"/>
                    </a:srgbClr>
                  </a:outerShdw>
                </a:effectLst>
                <a:sym typeface="Wingdings" pitchFamily="2" charset="2"/>
              </a:rPr>
              <a:t>水 </a:t>
            </a:r>
            <a:r>
              <a:rPr lang="en-US" altLang="zh-CN" b="1" dirty="0" smtClean="0">
                <a:solidFill>
                  <a:srgbClr val="002060"/>
                </a:solidFill>
                <a:effectLst>
                  <a:outerShdw blurRad="38100" dist="38100" dir="2700000" algn="tl">
                    <a:srgbClr val="000000">
                      <a:alpha val="43137"/>
                    </a:srgbClr>
                  </a:outerShdw>
                </a:effectLst>
                <a:sym typeface="Wingdings" pitchFamily="2" charset="2"/>
              </a:rPr>
              <a:t>+ NH</a:t>
            </a:r>
            <a:r>
              <a:rPr lang="en-US" altLang="zh-CN" b="1" baseline="-25000" dirty="0" smtClean="0">
                <a:solidFill>
                  <a:srgbClr val="002060"/>
                </a:solidFill>
                <a:effectLst>
                  <a:outerShdw blurRad="38100" dist="38100" dir="2700000" algn="tl">
                    <a:srgbClr val="000000">
                      <a:alpha val="43137"/>
                    </a:srgbClr>
                  </a:outerShdw>
                </a:effectLst>
                <a:sym typeface="Wingdings" pitchFamily="2" charset="2"/>
              </a:rPr>
              <a:t>3</a:t>
            </a:r>
            <a:r>
              <a:rPr lang="en-US" altLang="zh-CN" b="1" dirty="0" smtClean="0">
                <a:solidFill>
                  <a:srgbClr val="002060"/>
                </a:solidFill>
                <a:effectLst>
                  <a:outerShdw blurRad="38100" dist="38100" dir="2700000" algn="tl">
                    <a:srgbClr val="000000">
                      <a:alpha val="43137"/>
                    </a:srgbClr>
                  </a:outerShdw>
                </a:effectLst>
                <a:sym typeface="Wingdings" pitchFamily="2" charset="2"/>
              </a:rPr>
              <a:t> </a:t>
            </a:r>
            <a:endParaRPr lang="en-US" altLang="zh-CN" b="1" dirty="0" smtClean="0">
              <a:solidFill>
                <a:srgbClr val="002060"/>
              </a:solidFill>
              <a:effectLst>
                <a:outerShdw blurRad="38100" dist="38100" dir="2700000" algn="tl">
                  <a:srgbClr val="000000">
                    <a:alpha val="43137"/>
                  </a:srgbClr>
                </a:outerShdw>
              </a:effectLst>
            </a:endParaRPr>
          </a:p>
          <a:p>
            <a:pPr marL="514350" indent="-514350">
              <a:buAutoNum type="arabicPeriod"/>
            </a:pPr>
            <a:r>
              <a:rPr lang="zh-CN" altLang="en-US" dirty="0" smtClean="0"/>
              <a:t>不能，因为氨气极易溶于水</a:t>
            </a:r>
            <a:endParaRPr lang="en-US" altLang="zh-CN" dirty="0" smtClean="0"/>
          </a:p>
          <a:p>
            <a:pPr marL="514350" indent="-514350">
              <a:buAutoNum type="arabicPeriod"/>
            </a:pPr>
            <a:r>
              <a:rPr lang="zh-CN" altLang="en-US" dirty="0" smtClean="0"/>
              <a:t>都不能，因为它们会与氨气发生反应。</a:t>
            </a:r>
            <a:endParaRPr lang="en-US" altLang="zh-CN" dirty="0" smtClean="0"/>
          </a:p>
          <a:p>
            <a:pPr marL="514350" indent="-514350">
              <a:buNone/>
            </a:pPr>
            <a:r>
              <a:rPr lang="en-US" altLang="zh-CN" dirty="0" smtClean="0">
                <a:sym typeface="Wingdings" pitchFamily="2" charset="2"/>
              </a:rPr>
              <a:t>	2NH</a:t>
            </a:r>
            <a:r>
              <a:rPr lang="en-US" altLang="zh-CN" baseline="-25000" dirty="0" smtClean="0">
                <a:sym typeface="Wingdings" pitchFamily="2" charset="2"/>
              </a:rPr>
              <a:t>3</a:t>
            </a:r>
            <a:r>
              <a:rPr lang="en-US" altLang="zh-CN" dirty="0" smtClean="0">
                <a:sym typeface="Wingdings" pitchFamily="2" charset="2"/>
              </a:rPr>
              <a:t>  + H</a:t>
            </a:r>
            <a:r>
              <a:rPr lang="en-US" altLang="zh-CN" baseline="-25000" dirty="0" smtClean="0">
                <a:sym typeface="Wingdings" pitchFamily="2" charset="2"/>
              </a:rPr>
              <a:t>2</a:t>
            </a:r>
            <a:r>
              <a:rPr lang="en-US" altLang="zh-CN" dirty="0" smtClean="0">
                <a:sym typeface="Wingdings" pitchFamily="2" charset="2"/>
              </a:rPr>
              <a:t>SO</a:t>
            </a:r>
            <a:r>
              <a:rPr lang="en-US" altLang="zh-CN" baseline="-25000" dirty="0" smtClean="0">
                <a:sym typeface="Wingdings" pitchFamily="2" charset="2"/>
              </a:rPr>
              <a:t>4</a:t>
            </a:r>
            <a:r>
              <a:rPr lang="en-US" altLang="zh-CN" dirty="0" smtClean="0">
                <a:sym typeface="Wingdings" pitchFamily="2" charset="2"/>
              </a:rPr>
              <a:t>  (NH</a:t>
            </a:r>
            <a:r>
              <a:rPr lang="en-US" altLang="zh-CN" baseline="-25000" dirty="0" smtClean="0">
                <a:sym typeface="Wingdings" pitchFamily="2" charset="2"/>
              </a:rPr>
              <a:t>4</a:t>
            </a:r>
            <a:r>
              <a:rPr lang="en-US" altLang="zh-CN" dirty="0" smtClean="0">
                <a:sym typeface="Wingdings" pitchFamily="2" charset="2"/>
              </a:rPr>
              <a:t> )</a:t>
            </a:r>
            <a:r>
              <a:rPr lang="en-US" altLang="zh-CN" baseline="-25000" dirty="0" smtClean="0">
                <a:sym typeface="Wingdings" pitchFamily="2" charset="2"/>
              </a:rPr>
              <a:t>2</a:t>
            </a:r>
            <a:r>
              <a:rPr lang="en-US" altLang="zh-CN" dirty="0" smtClean="0">
                <a:sym typeface="Wingdings" pitchFamily="2" charset="2"/>
              </a:rPr>
              <a:t>SO</a:t>
            </a:r>
            <a:r>
              <a:rPr lang="en-US" altLang="zh-CN" baseline="-25000" dirty="0" smtClean="0">
                <a:sym typeface="Wingdings" pitchFamily="2" charset="2"/>
              </a:rPr>
              <a:t>4</a:t>
            </a:r>
            <a:r>
              <a:rPr lang="en-US" altLang="zh-CN" dirty="0" smtClean="0">
                <a:sym typeface="Wingdings" pitchFamily="2" charset="2"/>
              </a:rPr>
              <a:t> </a:t>
            </a:r>
            <a:r>
              <a:rPr lang="en-US" dirty="0" smtClean="0"/>
              <a:t>	</a:t>
            </a:r>
          </a:p>
          <a:p>
            <a:pPr marL="514350" indent="-514350">
              <a:buNone/>
            </a:pPr>
            <a:r>
              <a:rPr lang="en-US" altLang="zh-CN" dirty="0" smtClean="0"/>
              <a:t>	CaCl</a:t>
            </a:r>
            <a:r>
              <a:rPr lang="en-US" altLang="zh-CN" baseline="-25000" dirty="0" smtClean="0"/>
              <a:t>2</a:t>
            </a:r>
            <a:r>
              <a:rPr lang="en-US" altLang="zh-CN" dirty="0" smtClean="0"/>
              <a:t> + 8NH</a:t>
            </a:r>
            <a:r>
              <a:rPr lang="en-US" altLang="zh-CN" baseline="-25000" dirty="0" smtClean="0"/>
              <a:t>3</a:t>
            </a:r>
            <a:r>
              <a:rPr lang="en-US" altLang="zh-CN" dirty="0" smtClean="0"/>
              <a:t> </a:t>
            </a:r>
            <a:r>
              <a:rPr lang="en-US" altLang="zh-CN" dirty="0" smtClean="0">
                <a:sym typeface="Wingdings" pitchFamily="2" charset="2"/>
              </a:rPr>
              <a:t> </a:t>
            </a:r>
            <a:r>
              <a:rPr lang="en-US" altLang="zh-CN" dirty="0" smtClean="0"/>
              <a:t>CaCl</a:t>
            </a:r>
            <a:r>
              <a:rPr lang="en-US" altLang="zh-CN" baseline="-25000" dirty="0" smtClean="0"/>
              <a:t>2</a:t>
            </a:r>
            <a:r>
              <a:rPr lang="en-US" altLang="zh-CN" dirty="0" smtClean="0"/>
              <a:t> </a:t>
            </a:r>
            <a:r>
              <a:rPr lang="en-US" altLang="zh-CN" dirty="0" smtClean="0">
                <a:latin typeface="Arial"/>
                <a:cs typeface="Arial"/>
              </a:rPr>
              <a:t>·</a:t>
            </a:r>
            <a:r>
              <a:rPr lang="en-US" altLang="zh-CN" dirty="0" smtClean="0"/>
              <a:t> 8NH</a:t>
            </a:r>
            <a:r>
              <a:rPr lang="en-US" altLang="zh-CN" baseline="-25000" dirty="0" smtClean="0"/>
              <a:t>3</a:t>
            </a:r>
            <a:r>
              <a:rPr lang="en-US" altLang="zh-CN" dirty="0" smtClean="0"/>
              <a:t> </a:t>
            </a:r>
          </a:p>
          <a:p>
            <a:pPr marL="514350" indent="-514350">
              <a:buNone/>
            </a:pPr>
            <a:r>
              <a:rPr lang="en-US" dirty="0" smtClean="0"/>
              <a:t>3. </a:t>
            </a:r>
            <a:endParaRPr lang="en-US" dirty="0"/>
          </a:p>
        </p:txBody>
      </p:sp>
      <p:grpSp>
        <p:nvGrpSpPr>
          <p:cNvPr id="10" name="Group 9"/>
          <p:cNvGrpSpPr/>
          <p:nvPr/>
        </p:nvGrpSpPr>
        <p:grpSpPr>
          <a:xfrm>
            <a:off x="3505200" y="2284412"/>
            <a:ext cx="838200" cy="153988"/>
            <a:chOff x="3429000" y="3198812"/>
            <a:chExt cx="838200" cy="153988"/>
          </a:xfrm>
        </p:grpSpPr>
        <p:cxnSp>
          <p:nvCxnSpPr>
            <p:cNvPr id="11" name="Straight Arrow Connector 10"/>
            <p:cNvCxnSpPr/>
            <p:nvPr/>
          </p:nvCxnSpPr>
          <p:spPr bwMode="auto">
            <a:xfrm>
              <a:off x="3429000" y="3351212"/>
              <a:ext cx="8382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12" name="Isosceles Triangle 11"/>
            <p:cNvSpPr/>
            <p:nvPr/>
          </p:nvSpPr>
          <p:spPr bwMode="auto">
            <a:xfrm>
              <a:off x="3733800" y="3198812"/>
              <a:ext cx="228600" cy="152400"/>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grpSp>
      <p:sp>
        <p:nvSpPr>
          <p:cNvPr id="13" name="Rounded Rectangle 12"/>
          <p:cNvSpPr/>
          <p:nvPr/>
        </p:nvSpPr>
        <p:spPr>
          <a:xfrm>
            <a:off x="2590800" y="2743200"/>
            <a:ext cx="24384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
        <p:nvSpPr>
          <p:cNvPr id="14" name="Rounded Rectangle 13"/>
          <p:cNvSpPr/>
          <p:nvPr/>
        </p:nvSpPr>
        <p:spPr>
          <a:xfrm>
            <a:off x="3886200" y="4495800"/>
            <a:ext cx="21336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
        <p:nvSpPr>
          <p:cNvPr id="15" name="Rounded Rectangle 14"/>
          <p:cNvSpPr/>
          <p:nvPr/>
        </p:nvSpPr>
        <p:spPr>
          <a:xfrm>
            <a:off x="3733800" y="5105400"/>
            <a:ext cx="21336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pic>
        <p:nvPicPr>
          <p:cNvPr id="5" name="Picture 4" descr="IMG_20181128_113756.jpg"/>
          <p:cNvPicPr>
            <a:picLocks noChangeAspect="1"/>
          </p:cNvPicPr>
          <p:nvPr/>
        </p:nvPicPr>
        <p:blipFill>
          <a:blip r:embed="rId3" cstate="print"/>
          <a:srcRect/>
          <a:stretch>
            <a:fillRect/>
          </a:stretch>
        </p:blipFill>
        <p:spPr>
          <a:xfrm rot="16200000">
            <a:off x="1923289" y="1313688"/>
            <a:ext cx="5678424" cy="525780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blinds(horizontal)">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blinds(horizontal)">
                                      <p:cBhvr>
                                        <p:cTn id="25" dur="5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xit" presetSubtype="10" fill="hold" grpId="0" nodeType="clickEffect">
                                  <p:stCondLst>
                                    <p:cond delay="0"/>
                                  </p:stCondLst>
                                  <p:childTnLst>
                                    <p:animEffect transition="out" filter="blinds(horizontal)">
                                      <p:cBhvr>
                                        <p:cTn id="29" dur="500"/>
                                        <p:tgtEl>
                                          <p:spTgt spid="13"/>
                                        </p:tgtEl>
                                      </p:cBhvr>
                                    </p:animEffect>
                                    <p:set>
                                      <p:cBhvr>
                                        <p:cTn id="30" dur="1" fill="hold">
                                          <p:stCondLst>
                                            <p:cond delay="499"/>
                                          </p:stCondLst>
                                        </p:cTn>
                                        <p:tgtEl>
                                          <p:spTgt spid="13"/>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blinds(horizontal)">
                                      <p:cBhvr>
                                        <p:cTn id="35" dur="500"/>
                                        <p:tgtEl>
                                          <p:spTgt spid="3">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3">
                                            <p:txEl>
                                              <p:pRg st="5" end="5"/>
                                            </p:txEl>
                                          </p:spTgt>
                                        </p:tgtEl>
                                        <p:attrNameLst>
                                          <p:attrName>style.visibility</p:attrName>
                                        </p:attrNameLst>
                                      </p:cBhvr>
                                      <p:to>
                                        <p:strVal val="visible"/>
                                      </p:to>
                                    </p:set>
                                    <p:animEffect transition="in" filter="blinds(horizontal)">
                                      <p:cBhvr>
                                        <p:cTn id="40" dur="500"/>
                                        <p:tgtEl>
                                          <p:spTgt spid="3">
                                            <p:txEl>
                                              <p:pRg st="5" end="5"/>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3">
                                            <p:txEl>
                                              <p:pRg st="6" end="6"/>
                                            </p:txEl>
                                          </p:spTgt>
                                        </p:tgtEl>
                                        <p:attrNameLst>
                                          <p:attrName>style.visibility</p:attrName>
                                        </p:attrNameLst>
                                      </p:cBhvr>
                                      <p:to>
                                        <p:strVal val="visible"/>
                                      </p:to>
                                    </p:set>
                                    <p:animEffect transition="in" filter="blinds(horizontal)">
                                      <p:cBhvr>
                                        <p:cTn id="45" dur="500"/>
                                        <p:tgtEl>
                                          <p:spTgt spid="3">
                                            <p:txEl>
                                              <p:pRg st="6" end="6"/>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3">
                                            <p:txEl>
                                              <p:pRg st="7" end="7"/>
                                            </p:txEl>
                                          </p:spTgt>
                                        </p:tgtEl>
                                        <p:attrNameLst>
                                          <p:attrName>style.visibility</p:attrName>
                                        </p:attrNameLst>
                                      </p:cBhvr>
                                      <p:to>
                                        <p:strVal val="visible"/>
                                      </p:to>
                                    </p:set>
                                    <p:animEffect transition="in" filter="blinds(horizontal)">
                                      <p:cBhvr>
                                        <p:cTn id="50" dur="500"/>
                                        <p:tgtEl>
                                          <p:spTgt spid="3">
                                            <p:txEl>
                                              <p:pRg st="7" end="7"/>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xit" presetSubtype="10" fill="hold" grpId="0" nodeType="clickEffect">
                                  <p:stCondLst>
                                    <p:cond delay="0"/>
                                  </p:stCondLst>
                                  <p:childTnLst>
                                    <p:animEffect transition="out" filter="blinds(horizontal)">
                                      <p:cBhvr>
                                        <p:cTn id="54" dur="500"/>
                                        <p:tgtEl>
                                          <p:spTgt spid="14"/>
                                        </p:tgtEl>
                                      </p:cBhvr>
                                    </p:animEffect>
                                    <p:set>
                                      <p:cBhvr>
                                        <p:cTn id="55" dur="1" fill="hold">
                                          <p:stCondLst>
                                            <p:cond delay="499"/>
                                          </p:stCondLst>
                                        </p:cTn>
                                        <p:tgtEl>
                                          <p:spTgt spid="14"/>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3" presetClass="exit" presetSubtype="10" fill="hold" grpId="0" nodeType="clickEffect">
                                  <p:stCondLst>
                                    <p:cond delay="0"/>
                                  </p:stCondLst>
                                  <p:childTnLst>
                                    <p:animEffect transition="out" filter="blinds(horizontal)">
                                      <p:cBhvr>
                                        <p:cTn id="59" dur="500"/>
                                        <p:tgtEl>
                                          <p:spTgt spid="15"/>
                                        </p:tgtEl>
                                      </p:cBhvr>
                                    </p:animEffect>
                                    <p:set>
                                      <p:cBhvr>
                                        <p:cTn id="60" dur="1" fill="hold">
                                          <p:stCondLst>
                                            <p:cond delay="499"/>
                                          </p:stCondLst>
                                        </p:cTn>
                                        <p:tgtEl>
                                          <p:spTgt spid="15"/>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grpId="0" nodeType="clickEffect">
                                  <p:stCondLst>
                                    <p:cond delay="0"/>
                                  </p:stCondLst>
                                  <p:childTnLst>
                                    <p:set>
                                      <p:cBhvr>
                                        <p:cTn id="64" dur="1" fill="hold">
                                          <p:stCondLst>
                                            <p:cond delay="0"/>
                                          </p:stCondLst>
                                        </p:cTn>
                                        <p:tgtEl>
                                          <p:spTgt spid="3">
                                            <p:txEl>
                                              <p:pRg st="8" end="8"/>
                                            </p:txEl>
                                          </p:spTgt>
                                        </p:tgtEl>
                                        <p:attrNameLst>
                                          <p:attrName>style.visibility</p:attrName>
                                        </p:attrNameLst>
                                      </p:cBhvr>
                                      <p:to>
                                        <p:strVal val="visible"/>
                                      </p:to>
                                    </p:set>
                                    <p:animEffect transition="in" filter="blinds(horizontal)">
                                      <p:cBhvr>
                                        <p:cTn id="65" dur="500"/>
                                        <p:tgtEl>
                                          <p:spTgt spid="3">
                                            <p:txEl>
                                              <p:pRg st="8" end="8"/>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nodeType="clickEffect">
                                  <p:stCondLst>
                                    <p:cond delay="0"/>
                                  </p:stCondLst>
                                  <p:childTnLst>
                                    <p:set>
                                      <p:cBhvr>
                                        <p:cTn id="69" dur="1" fill="hold">
                                          <p:stCondLst>
                                            <p:cond delay="0"/>
                                          </p:stCondLst>
                                        </p:cTn>
                                        <p:tgtEl>
                                          <p:spTgt spid="5"/>
                                        </p:tgtEl>
                                        <p:attrNameLst>
                                          <p:attrName>style.visibility</p:attrName>
                                        </p:attrNameLst>
                                      </p:cBhvr>
                                      <p:to>
                                        <p:strVal val="visible"/>
                                      </p:to>
                                    </p:set>
                                    <p:animEffect transition="in" filter="blinds(horizontal)">
                                      <p:cBhvr>
                                        <p:cTn id="7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3" grpId="0" animBg="1"/>
      <p:bldP spid="14" grpId="0" animBg="1"/>
      <p:bldP spid="1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en-US" altLang="zh-CN" dirty="0" smtClean="0"/>
              <a:t>13.5.2 </a:t>
            </a:r>
            <a:r>
              <a:rPr lang="zh-CN" altLang="en-US" dirty="0" smtClean="0"/>
              <a:t>氨的制取</a:t>
            </a:r>
            <a:endParaRPr lang="en-US" dirty="0"/>
          </a:p>
        </p:txBody>
      </p:sp>
      <p:sp>
        <p:nvSpPr>
          <p:cNvPr id="3" name="Content Placeholder 2"/>
          <p:cNvSpPr>
            <a:spLocks noGrp="1"/>
          </p:cNvSpPr>
          <p:nvPr>
            <p:ph idx="1"/>
          </p:nvPr>
        </p:nvSpPr>
        <p:spPr>
          <a:xfrm>
            <a:off x="457200" y="1219200"/>
            <a:ext cx="8229600" cy="5486400"/>
          </a:xfrm>
        </p:spPr>
        <p:txBody>
          <a:bodyPr/>
          <a:lstStyle/>
          <a:p>
            <a:pPr>
              <a:buNone/>
            </a:pPr>
            <a:r>
              <a:rPr lang="zh-CN" altLang="en-US" dirty="0" smtClean="0"/>
              <a:t>工业制法</a:t>
            </a:r>
            <a:endParaRPr lang="en-US" altLang="zh-CN" dirty="0" smtClean="0"/>
          </a:p>
          <a:p>
            <a:pPr>
              <a:buFont typeface="Wingdings" pitchFamily="2" charset="2"/>
              <a:buChar char="Ø"/>
            </a:pPr>
            <a:r>
              <a:rPr lang="zh-CN" altLang="en-US" dirty="0" smtClean="0"/>
              <a:t>哈伯法</a:t>
            </a:r>
            <a:endParaRPr lang="en-US" altLang="zh-CN" dirty="0" smtClean="0"/>
          </a:p>
          <a:p>
            <a:pPr>
              <a:buNone/>
            </a:pPr>
            <a:r>
              <a:rPr lang="en-US" altLang="zh-CN" dirty="0" smtClean="0"/>
              <a:t>	N</a:t>
            </a:r>
            <a:r>
              <a:rPr lang="en-US" altLang="zh-CN" baseline="-25000" dirty="0" smtClean="0"/>
              <a:t>2</a:t>
            </a:r>
            <a:r>
              <a:rPr lang="en-US" altLang="zh-CN" dirty="0" smtClean="0"/>
              <a:t> + 3H</a:t>
            </a:r>
            <a:r>
              <a:rPr lang="en-US" altLang="zh-CN" baseline="-25000" dirty="0" smtClean="0"/>
              <a:t>2</a:t>
            </a:r>
            <a:r>
              <a:rPr lang="en-US" altLang="zh-CN" dirty="0" smtClean="0"/>
              <a:t> 	 	    2 NH</a:t>
            </a:r>
            <a:r>
              <a:rPr lang="en-US" altLang="zh-CN" baseline="-25000" dirty="0" smtClean="0"/>
              <a:t>3</a:t>
            </a:r>
            <a:r>
              <a:rPr lang="en-US" altLang="zh-CN" dirty="0" smtClean="0"/>
              <a:t> </a:t>
            </a:r>
          </a:p>
          <a:p>
            <a:pPr>
              <a:buNone/>
            </a:pPr>
            <a:endParaRPr lang="en-US" altLang="zh-CN" dirty="0" smtClean="0"/>
          </a:p>
          <a:p>
            <a:pPr>
              <a:buNone/>
            </a:pPr>
            <a:endParaRPr lang="en-US" altLang="zh-CN" dirty="0" smtClean="0"/>
          </a:p>
          <a:p>
            <a:pPr>
              <a:buNone/>
            </a:pPr>
            <a:endParaRPr lang="en-US" dirty="0"/>
          </a:p>
        </p:txBody>
      </p:sp>
      <p:grpSp>
        <p:nvGrpSpPr>
          <p:cNvPr id="5" name="Group 4"/>
          <p:cNvGrpSpPr/>
          <p:nvPr/>
        </p:nvGrpSpPr>
        <p:grpSpPr>
          <a:xfrm>
            <a:off x="2362200" y="2362200"/>
            <a:ext cx="1219200" cy="688777"/>
            <a:chOff x="2819400" y="5867400"/>
            <a:chExt cx="1219200" cy="688777"/>
          </a:xfrm>
        </p:grpSpPr>
        <p:grpSp>
          <p:nvGrpSpPr>
            <p:cNvPr id="6" name="Group 11"/>
            <p:cNvGrpSpPr/>
            <p:nvPr/>
          </p:nvGrpSpPr>
          <p:grpSpPr>
            <a:xfrm>
              <a:off x="2819400" y="6172117"/>
              <a:ext cx="1219200" cy="76199"/>
              <a:chOff x="2895600" y="6324600"/>
              <a:chExt cx="2133600" cy="76199"/>
            </a:xfrm>
          </p:grpSpPr>
          <p:cxnSp>
            <p:nvCxnSpPr>
              <p:cNvPr id="9" name="Straight Arrow Connector 8"/>
              <p:cNvCxnSpPr/>
              <p:nvPr/>
            </p:nvCxnSpPr>
            <p:spPr>
              <a:xfrm rot="10800000">
                <a:off x="2895600" y="6399210"/>
                <a:ext cx="2057400" cy="1589"/>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2895600" y="6324600"/>
                <a:ext cx="21336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grpSp>
        <p:sp>
          <p:nvSpPr>
            <p:cNvPr id="7" name="TextBox 6"/>
            <p:cNvSpPr txBox="1"/>
            <p:nvPr/>
          </p:nvSpPr>
          <p:spPr>
            <a:xfrm>
              <a:off x="3048000" y="6248400"/>
              <a:ext cx="723275" cy="307777"/>
            </a:xfrm>
            <a:prstGeom prst="rect">
              <a:avLst/>
            </a:prstGeom>
            <a:noFill/>
          </p:spPr>
          <p:txBody>
            <a:bodyPr wrap="square" rtlCol="0">
              <a:spAutoFit/>
            </a:bodyPr>
            <a:lstStyle/>
            <a:p>
              <a:r>
                <a:rPr lang="zh-CN" altLang="en-US" sz="1400" dirty="0" smtClean="0"/>
                <a:t>催化剂</a:t>
              </a:r>
              <a:endParaRPr lang="en-US" sz="1400" dirty="0"/>
            </a:p>
          </p:txBody>
        </p:sp>
        <p:sp>
          <p:nvSpPr>
            <p:cNvPr id="8" name="TextBox 7"/>
            <p:cNvSpPr txBox="1"/>
            <p:nvPr/>
          </p:nvSpPr>
          <p:spPr>
            <a:xfrm>
              <a:off x="2895600" y="5867400"/>
              <a:ext cx="1082348" cy="307777"/>
            </a:xfrm>
            <a:prstGeom prst="rect">
              <a:avLst/>
            </a:prstGeom>
            <a:noFill/>
          </p:spPr>
          <p:txBody>
            <a:bodyPr wrap="none" rtlCol="0">
              <a:spAutoFit/>
            </a:bodyPr>
            <a:lstStyle/>
            <a:p>
              <a:r>
                <a:rPr lang="zh-CN" altLang="en-US" sz="1400" dirty="0" smtClean="0"/>
                <a:t>高温、高压</a:t>
              </a:r>
              <a:endParaRPr lang="en-US" sz="1400" dirty="0"/>
            </a:p>
          </p:txBody>
        </p:sp>
      </p:grpSp>
      <p:pic>
        <p:nvPicPr>
          <p:cNvPr id="12" name="Picture 11" descr="IMG_20181128_115640_1.jpg"/>
          <p:cNvPicPr>
            <a:picLocks noChangeAspect="1"/>
          </p:cNvPicPr>
          <p:nvPr/>
        </p:nvPicPr>
        <p:blipFill>
          <a:blip r:embed="rId3" cstate="print"/>
          <a:srcRect l="7631" r="4016"/>
          <a:stretch>
            <a:fillRect/>
          </a:stretch>
        </p:blipFill>
        <p:spPr>
          <a:xfrm rot="16200000">
            <a:off x="2019300" y="1714500"/>
            <a:ext cx="3352800" cy="6324600"/>
          </a:xfrm>
          <a:prstGeom prst="rect">
            <a:avLst/>
          </a:prstGeom>
        </p:spPr>
      </p:pic>
      <p:pic>
        <p:nvPicPr>
          <p:cNvPr id="11" name="Content Placeholder 6"/>
          <p:cNvPicPr>
            <a:picLocks noChangeAspect="1"/>
          </p:cNvPicPr>
          <p:nvPr/>
        </p:nvPicPr>
        <p:blipFill>
          <a:blip r:embed="rId4">
            <a:extLst>
              <a:ext uri="{28A0092B-C50C-407E-A947-70E740481C1C}">
                <a14:useLocalDpi xmlns:a14="http://schemas.microsoft.com/office/drawing/2010/main" xmlns="" val="0"/>
              </a:ext>
            </a:extLst>
          </a:blip>
          <a:stretch>
            <a:fillRect/>
          </a:stretch>
        </p:blipFill>
        <p:spPr>
          <a:xfrm>
            <a:off x="6477000" y="916819"/>
            <a:ext cx="2209800" cy="3121781"/>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linds(horizontal)">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blinds(horizontal)">
                                      <p:cBhvr>
                                        <p:cTn id="22" dur="500"/>
                                        <p:tgtEl>
                                          <p:spTgt spid="3">
                                            <p:txEl>
                                              <p:pRg st="2" end="2"/>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blinds(horizontal)">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blinds(horizontal)">
                                      <p:cBhvr>
                                        <p:cTn id="3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zh-CN" altLang="en-US" dirty="0" smtClean="0"/>
              <a:t>思考题</a:t>
            </a:r>
            <a:r>
              <a:rPr lang="en-US" altLang="zh-CN" dirty="0" smtClean="0"/>
              <a:t>13e</a:t>
            </a:r>
            <a:endParaRPr lang="en-US" dirty="0"/>
          </a:p>
        </p:txBody>
      </p:sp>
      <p:sp>
        <p:nvSpPr>
          <p:cNvPr id="3" name="Content Placeholder 2"/>
          <p:cNvSpPr>
            <a:spLocks noGrp="1"/>
          </p:cNvSpPr>
          <p:nvPr>
            <p:ph idx="1"/>
          </p:nvPr>
        </p:nvSpPr>
        <p:spPr>
          <a:xfrm>
            <a:off x="457200" y="1219200"/>
            <a:ext cx="8229600" cy="5486400"/>
          </a:xfrm>
        </p:spPr>
        <p:txBody>
          <a:bodyPr/>
          <a:lstStyle/>
          <a:p>
            <a:pPr marL="514350" indent="-514350">
              <a:buAutoNum type="arabicPeriod"/>
            </a:pPr>
            <a:r>
              <a:rPr lang="zh-CN" altLang="en-US" dirty="0" smtClean="0"/>
              <a:t>无；刺激；小；吸收；制冷剂</a:t>
            </a:r>
            <a:endParaRPr lang="en-US" altLang="zh-CN" dirty="0" smtClean="0"/>
          </a:p>
          <a:p>
            <a:pPr marL="514350" indent="-514350">
              <a:buAutoNum type="arabicPeriod"/>
            </a:pPr>
            <a:r>
              <a:rPr lang="en-US" altLang="zh-CN" dirty="0" smtClean="0"/>
              <a:t>A</a:t>
            </a:r>
          </a:p>
          <a:p>
            <a:pPr marL="514350" indent="-514350">
              <a:buNone/>
            </a:pPr>
            <a:r>
              <a:rPr lang="en-US" dirty="0" smtClean="0"/>
              <a:t>	</a:t>
            </a:r>
            <a:r>
              <a:rPr lang="en-US" altLang="zh-CN" dirty="0" smtClean="0"/>
              <a:t>B NO</a:t>
            </a:r>
            <a:r>
              <a:rPr lang="zh-CN" altLang="en-US" dirty="0" smtClean="0"/>
              <a:t>与</a:t>
            </a:r>
            <a:r>
              <a:rPr lang="en-US" altLang="zh-CN" dirty="0" smtClean="0"/>
              <a:t>O</a:t>
            </a:r>
            <a:r>
              <a:rPr lang="en-US" altLang="zh-CN" baseline="-25000" dirty="0" smtClean="0"/>
              <a:t>2</a:t>
            </a:r>
            <a:r>
              <a:rPr lang="en-US" altLang="zh-CN" dirty="0" smtClean="0"/>
              <a:t> </a:t>
            </a:r>
            <a:r>
              <a:rPr lang="zh-CN" altLang="en-US" dirty="0" smtClean="0"/>
              <a:t>不能共存</a:t>
            </a:r>
            <a:endParaRPr lang="en-US" altLang="zh-CN" dirty="0" smtClean="0"/>
          </a:p>
          <a:p>
            <a:pPr marL="514350" indent="-514350">
              <a:buNone/>
            </a:pPr>
            <a:r>
              <a:rPr lang="en-US" dirty="0" smtClean="0"/>
              <a:t>	</a:t>
            </a:r>
            <a:r>
              <a:rPr lang="en-US" altLang="zh-CN" dirty="0" smtClean="0"/>
              <a:t>CD </a:t>
            </a:r>
            <a:r>
              <a:rPr lang="zh-CN" altLang="en-US" dirty="0" smtClean="0"/>
              <a:t>氨气不能用浓硫酸干燥</a:t>
            </a:r>
            <a:endParaRPr lang="en-US" altLang="zh-CN" dirty="0" smtClean="0"/>
          </a:p>
          <a:p>
            <a:pPr marL="514350" indent="-514350">
              <a:buNone/>
            </a:pPr>
            <a:r>
              <a:rPr lang="en-US" altLang="zh-CN" dirty="0" smtClean="0"/>
              <a:t>3. C</a:t>
            </a:r>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en-US" altLang="zh-CN" dirty="0" smtClean="0"/>
              <a:t>13.6 </a:t>
            </a:r>
            <a:r>
              <a:rPr lang="zh-CN" altLang="en-US" dirty="0" smtClean="0"/>
              <a:t>铵盐</a:t>
            </a:r>
            <a:endParaRPr lang="en-US" dirty="0"/>
          </a:p>
        </p:txBody>
      </p:sp>
      <p:sp>
        <p:nvSpPr>
          <p:cNvPr id="3" name="Content Placeholder 2"/>
          <p:cNvSpPr>
            <a:spLocks noGrp="1"/>
          </p:cNvSpPr>
          <p:nvPr>
            <p:ph idx="1"/>
          </p:nvPr>
        </p:nvSpPr>
        <p:spPr>
          <a:xfrm>
            <a:off x="457200" y="838200"/>
            <a:ext cx="8229600" cy="5486400"/>
          </a:xfrm>
        </p:spPr>
        <p:txBody>
          <a:bodyPr>
            <a:normAutofit/>
          </a:bodyPr>
          <a:lstStyle/>
          <a:p>
            <a:pPr>
              <a:buFont typeface="Wingdings" pitchFamily="2" charset="2"/>
              <a:buChar char="Ø"/>
            </a:pPr>
            <a:r>
              <a:rPr lang="zh-CN" altLang="en-US" dirty="0" smtClean="0"/>
              <a:t>白色、易溶于水晶体</a:t>
            </a:r>
            <a:endParaRPr lang="en-US" altLang="zh-CN" dirty="0" smtClean="0"/>
          </a:p>
          <a:p>
            <a:pPr>
              <a:buNone/>
            </a:pPr>
            <a:r>
              <a:rPr lang="zh-CN" altLang="en-US" dirty="0" smtClean="0"/>
              <a:t>活动</a:t>
            </a:r>
            <a:r>
              <a:rPr lang="en-US" altLang="zh-CN" dirty="0" smtClean="0"/>
              <a:t>9</a:t>
            </a:r>
          </a:p>
          <a:p>
            <a:pPr>
              <a:buFont typeface="Wingdings" pitchFamily="2" charset="2"/>
              <a:buChar char="Ø"/>
            </a:pPr>
            <a:r>
              <a:rPr lang="zh-CN" altLang="en-US" dirty="0" smtClean="0"/>
              <a:t>现象：试管底部固体减少，试管口出现白烟又化合成晶体附于试管壁。</a:t>
            </a:r>
            <a:endParaRPr lang="en-US" altLang="zh-CN" dirty="0" smtClean="0"/>
          </a:p>
          <a:p>
            <a:pPr>
              <a:buFont typeface="Wingdings" pitchFamily="2" charset="2"/>
              <a:buChar char="Ø"/>
            </a:pPr>
            <a:r>
              <a:rPr lang="zh-CN" altLang="en-US" dirty="0" smtClean="0"/>
              <a:t>反应式</a:t>
            </a:r>
            <a:r>
              <a:rPr lang="en-US" altLang="zh-CN" dirty="0" smtClean="0"/>
              <a:t>:	NH</a:t>
            </a:r>
            <a:r>
              <a:rPr lang="en-US" altLang="zh-CN" baseline="-25000" dirty="0" smtClean="0"/>
              <a:t>4</a:t>
            </a:r>
            <a:r>
              <a:rPr lang="en-US" altLang="zh-CN" dirty="0" smtClean="0"/>
              <a:t> </a:t>
            </a:r>
            <a:r>
              <a:rPr lang="en-US" altLang="zh-CN" dirty="0" err="1" smtClean="0"/>
              <a:t>Cl</a:t>
            </a:r>
            <a:r>
              <a:rPr lang="en-US" altLang="zh-CN" dirty="0" smtClean="0"/>
              <a:t> 	     NH</a:t>
            </a:r>
            <a:r>
              <a:rPr lang="en-US" altLang="zh-CN" baseline="-25000" dirty="0" smtClean="0"/>
              <a:t>3</a:t>
            </a:r>
            <a:r>
              <a:rPr lang="en-US" altLang="zh-CN" dirty="0" smtClean="0"/>
              <a:t> + </a:t>
            </a:r>
            <a:r>
              <a:rPr lang="en-US" altLang="zh-CN" dirty="0" err="1" smtClean="0"/>
              <a:t>HCl</a:t>
            </a:r>
            <a:endParaRPr lang="en-US" altLang="zh-CN" dirty="0" smtClean="0"/>
          </a:p>
          <a:p>
            <a:pPr>
              <a:buNone/>
            </a:pPr>
            <a:r>
              <a:rPr lang="en-US" altLang="zh-CN" dirty="0" smtClean="0"/>
              <a:t>			NH</a:t>
            </a:r>
            <a:r>
              <a:rPr lang="en-US" altLang="zh-CN" baseline="-25000" dirty="0" smtClean="0"/>
              <a:t>3</a:t>
            </a:r>
            <a:r>
              <a:rPr lang="en-US" altLang="zh-CN" dirty="0" smtClean="0"/>
              <a:t> + </a:t>
            </a:r>
            <a:r>
              <a:rPr lang="en-US" altLang="zh-CN" dirty="0" err="1" smtClean="0"/>
              <a:t>HCl</a:t>
            </a:r>
            <a:r>
              <a:rPr lang="en-US" altLang="zh-CN" dirty="0" smtClean="0">
                <a:sym typeface="Wingdings" pitchFamily="2" charset="2"/>
              </a:rPr>
              <a:t> </a:t>
            </a:r>
            <a:r>
              <a:rPr lang="en-US" altLang="zh-CN" dirty="0" smtClean="0"/>
              <a:t>NH</a:t>
            </a:r>
            <a:r>
              <a:rPr lang="en-US" altLang="zh-CN" baseline="-25000" dirty="0" smtClean="0"/>
              <a:t>4</a:t>
            </a:r>
            <a:r>
              <a:rPr lang="en-US" altLang="zh-CN" dirty="0" smtClean="0"/>
              <a:t> </a:t>
            </a:r>
            <a:r>
              <a:rPr lang="en-US" altLang="zh-CN" dirty="0" err="1" smtClean="0"/>
              <a:t>Cl</a:t>
            </a:r>
            <a:endParaRPr lang="en-US" altLang="zh-CN" dirty="0" smtClean="0"/>
          </a:p>
          <a:p>
            <a:pPr>
              <a:buNone/>
            </a:pPr>
            <a:r>
              <a:rPr lang="zh-CN" altLang="en-US" dirty="0" smtClean="0"/>
              <a:t>活动</a:t>
            </a:r>
            <a:r>
              <a:rPr lang="en-US" altLang="zh-CN" dirty="0" smtClean="0"/>
              <a:t>10</a:t>
            </a:r>
          </a:p>
          <a:p>
            <a:pPr>
              <a:buFont typeface="Wingdings" pitchFamily="2" charset="2"/>
              <a:buChar char="Ø"/>
            </a:pPr>
            <a:r>
              <a:rPr lang="zh-CN" altLang="en-US" dirty="0" smtClean="0"/>
              <a:t>现象</a:t>
            </a:r>
            <a:r>
              <a:rPr lang="en-US" altLang="zh-CN" dirty="0" smtClean="0"/>
              <a:t>: </a:t>
            </a:r>
            <a:r>
              <a:rPr lang="zh-CN" altLang="en-US" dirty="0" smtClean="0"/>
              <a:t>潮湿的红色石蕊试纸变蓝</a:t>
            </a:r>
            <a:endParaRPr lang="en-US" altLang="zh-CN" dirty="0" smtClean="0"/>
          </a:p>
          <a:p>
            <a:pPr>
              <a:buFont typeface="Wingdings" pitchFamily="2" charset="2"/>
              <a:buChar char="Ø"/>
            </a:pPr>
            <a:r>
              <a:rPr lang="zh-CN" altLang="en-US" dirty="0" smtClean="0"/>
              <a:t>反应式：</a:t>
            </a:r>
            <a:r>
              <a:rPr lang="zh-CN" altLang="en-US" b="1" dirty="0" smtClean="0">
                <a:solidFill>
                  <a:srgbClr val="002060"/>
                </a:solidFill>
                <a:effectLst>
                  <a:outerShdw blurRad="38100" dist="38100" dir="2700000" algn="tl">
                    <a:srgbClr val="000000">
                      <a:alpha val="43137"/>
                    </a:srgbClr>
                  </a:outerShdw>
                </a:effectLst>
              </a:rPr>
              <a:t>铵盐</a:t>
            </a:r>
            <a:r>
              <a:rPr lang="en-US" altLang="zh-CN" b="1" dirty="0" smtClean="0">
                <a:solidFill>
                  <a:srgbClr val="002060"/>
                </a:solidFill>
                <a:effectLst>
                  <a:outerShdw blurRad="38100" dist="38100" dir="2700000" algn="tl">
                    <a:srgbClr val="000000">
                      <a:alpha val="43137"/>
                    </a:srgbClr>
                  </a:outerShdw>
                </a:effectLst>
              </a:rPr>
              <a:t>+ </a:t>
            </a:r>
            <a:r>
              <a:rPr lang="zh-CN" altLang="en-US" b="1" dirty="0" smtClean="0">
                <a:solidFill>
                  <a:srgbClr val="002060"/>
                </a:solidFill>
                <a:effectLst>
                  <a:outerShdw blurRad="38100" dist="38100" dir="2700000" algn="tl">
                    <a:srgbClr val="000000">
                      <a:alpha val="43137"/>
                    </a:srgbClr>
                  </a:outerShdw>
                </a:effectLst>
              </a:rPr>
              <a:t>碱 </a:t>
            </a:r>
            <a:r>
              <a:rPr lang="en-US" altLang="zh-CN" b="1" dirty="0" smtClean="0">
                <a:solidFill>
                  <a:srgbClr val="002060"/>
                </a:solidFill>
                <a:effectLst>
                  <a:outerShdw blurRad="38100" dist="38100" dir="2700000" algn="tl">
                    <a:srgbClr val="000000">
                      <a:alpha val="43137"/>
                    </a:srgbClr>
                  </a:outerShdw>
                </a:effectLst>
                <a:sym typeface="Wingdings" pitchFamily="2" charset="2"/>
              </a:rPr>
              <a:t> </a:t>
            </a:r>
            <a:r>
              <a:rPr lang="zh-CN" altLang="en-US" b="1" dirty="0" smtClean="0">
                <a:solidFill>
                  <a:srgbClr val="002060"/>
                </a:solidFill>
                <a:effectLst>
                  <a:outerShdw blurRad="38100" dist="38100" dir="2700000" algn="tl">
                    <a:srgbClr val="000000">
                      <a:alpha val="43137"/>
                    </a:srgbClr>
                  </a:outerShdw>
                </a:effectLst>
                <a:sym typeface="Wingdings" pitchFamily="2" charset="2"/>
              </a:rPr>
              <a:t>盐 </a:t>
            </a:r>
            <a:r>
              <a:rPr lang="en-US" altLang="zh-CN" b="1" dirty="0" smtClean="0">
                <a:solidFill>
                  <a:srgbClr val="002060"/>
                </a:solidFill>
                <a:effectLst>
                  <a:outerShdw blurRad="38100" dist="38100" dir="2700000" algn="tl">
                    <a:srgbClr val="000000">
                      <a:alpha val="43137"/>
                    </a:srgbClr>
                  </a:outerShdw>
                </a:effectLst>
                <a:sym typeface="Wingdings" pitchFamily="2" charset="2"/>
              </a:rPr>
              <a:t>+ </a:t>
            </a:r>
            <a:r>
              <a:rPr lang="zh-CN" altLang="en-US" b="1" dirty="0" smtClean="0">
                <a:solidFill>
                  <a:srgbClr val="002060"/>
                </a:solidFill>
                <a:effectLst>
                  <a:outerShdw blurRad="38100" dist="38100" dir="2700000" algn="tl">
                    <a:srgbClr val="000000">
                      <a:alpha val="43137"/>
                    </a:srgbClr>
                  </a:outerShdw>
                </a:effectLst>
                <a:sym typeface="Wingdings" pitchFamily="2" charset="2"/>
              </a:rPr>
              <a:t>水 </a:t>
            </a:r>
            <a:r>
              <a:rPr lang="en-US" altLang="zh-CN" b="1" dirty="0" smtClean="0">
                <a:solidFill>
                  <a:srgbClr val="002060"/>
                </a:solidFill>
                <a:effectLst>
                  <a:outerShdw blurRad="38100" dist="38100" dir="2700000" algn="tl">
                    <a:srgbClr val="000000">
                      <a:alpha val="43137"/>
                    </a:srgbClr>
                  </a:outerShdw>
                </a:effectLst>
                <a:sym typeface="Wingdings" pitchFamily="2" charset="2"/>
              </a:rPr>
              <a:t>+ NH</a:t>
            </a:r>
            <a:r>
              <a:rPr lang="en-US" altLang="zh-CN" b="1" baseline="-25000" dirty="0" smtClean="0">
                <a:solidFill>
                  <a:srgbClr val="002060"/>
                </a:solidFill>
                <a:effectLst>
                  <a:outerShdw blurRad="38100" dist="38100" dir="2700000" algn="tl">
                    <a:srgbClr val="000000">
                      <a:alpha val="43137"/>
                    </a:srgbClr>
                  </a:outerShdw>
                </a:effectLst>
                <a:sym typeface="Wingdings" pitchFamily="2" charset="2"/>
              </a:rPr>
              <a:t>3</a:t>
            </a:r>
            <a:r>
              <a:rPr lang="en-US" altLang="zh-CN" b="1" dirty="0" smtClean="0">
                <a:solidFill>
                  <a:srgbClr val="002060"/>
                </a:solidFill>
                <a:effectLst>
                  <a:outerShdw blurRad="38100" dist="38100" dir="2700000" algn="tl">
                    <a:srgbClr val="000000">
                      <a:alpha val="43137"/>
                    </a:srgbClr>
                  </a:outerShdw>
                </a:effectLst>
                <a:sym typeface="Wingdings" pitchFamily="2" charset="2"/>
              </a:rPr>
              <a:t> </a:t>
            </a:r>
            <a:endParaRPr lang="en-US" altLang="zh-CN" b="1" dirty="0" smtClean="0">
              <a:solidFill>
                <a:srgbClr val="002060"/>
              </a:solidFill>
              <a:effectLst>
                <a:outerShdw blurRad="38100" dist="38100" dir="2700000" algn="tl">
                  <a:srgbClr val="000000">
                    <a:alpha val="43137"/>
                  </a:srgbClr>
                </a:outerShdw>
              </a:effectLst>
            </a:endParaRPr>
          </a:p>
          <a:p>
            <a:pPr>
              <a:buFont typeface="Wingdings" pitchFamily="2" charset="2"/>
              <a:buChar char="Ø"/>
            </a:pPr>
            <a:endParaRPr lang="en-US" altLang="zh-CN" dirty="0" smtClean="0"/>
          </a:p>
          <a:p>
            <a:pPr>
              <a:buNone/>
            </a:pPr>
            <a:endParaRPr lang="en-US" dirty="0"/>
          </a:p>
        </p:txBody>
      </p:sp>
      <p:grpSp>
        <p:nvGrpSpPr>
          <p:cNvPr id="5" name="Group 4"/>
          <p:cNvGrpSpPr/>
          <p:nvPr/>
        </p:nvGrpSpPr>
        <p:grpSpPr>
          <a:xfrm>
            <a:off x="3657600" y="3200400"/>
            <a:ext cx="838200" cy="153988"/>
            <a:chOff x="3429000" y="3198812"/>
            <a:chExt cx="838200" cy="153988"/>
          </a:xfrm>
        </p:grpSpPr>
        <p:cxnSp>
          <p:nvCxnSpPr>
            <p:cNvPr id="6" name="Straight Arrow Connector 5"/>
            <p:cNvCxnSpPr/>
            <p:nvPr/>
          </p:nvCxnSpPr>
          <p:spPr bwMode="auto">
            <a:xfrm>
              <a:off x="3429000" y="3351212"/>
              <a:ext cx="8382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7" name="Isosceles Triangle 6"/>
            <p:cNvSpPr/>
            <p:nvPr/>
          </p:nvSpPr>
          <p:spPr bwMode="auto">
            <a:xfrm>
              <a:off x="3733800" y="3198812"/>
              <a:ext cx="228600" cy="152400"/>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grpSp>
      <p:sp>
        <p:nvSpPr>
          <p:cNvPr id="8" name="Rounded Rectangle 7"/>
          <p:cNvSpPr/>
          <p:nvPr/>
        </p:nvSpPr>
        <p:spPr>
          <a:xfrm>
            <a:off x="4572000" y="3124200"/>
            <a:ext cx="17526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
        <p:nvSpPr>
          <p:cNvPr id="9" name="Rounded Rectangle 8"/>
          <p:cNvSpPr/>
          <p:nvPr/>
        </p:nvSpPr>
        <p:spPr>
          <a:xfrm>
            <a:off x="4419600" y="3733800"/>
            <a:ext cx="17526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blinds(horizontal)">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xit" presetSubtype="10" fill="hold" grpId="0" nodeType="clickEffect">
                                  <p:stCondLst>
                                    <p:cond delay="0"/>
                                  </p:stCondLst>
                                  <p:childTnLst>
                                    <p:animEffect transition="out" filter="blinds(horizontal)">
                                      <p:cBhvr>
                                        <p:cTn id="29" dur="500"/>
                                        <p:tgtEl>
                                          <p:spTgt spid="8"/>
                                        </p:tgtEl>
                                      </p:cBhvr>
                                    </p:animEffect>
                                    <p:set>
                                      <p:cBhvr>
                                        <p:cTn id="30" dur="1" fill="hold">
                                          <p:stCondLst>
                                            <p:cond delay="499"/>
                                          </p:stCondLst>
                                        </p:cTn>
                                        <p:tgtEl>
                                          <p:spTgt spid="8"/>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blinds(horizontal)">
                                      <p:cBhvr>
                                        <p:cTn id="35" dur="500"/>
                                        <p:tgtEl>
                                          <p:spTgt spid="3">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xit" presetSubtype="10" fill="hold" grpId="0" nodeType="clickEffect">
                                  <p:stCondLst>
                                    <p:cond delay="0"/>
                                  </p:stCondLst>
                                  <p:childTnLst>
                                    <p:animEffect transition="out" filter="blinds(horizontal)">
                                      <p:cBhvr>
                                        <p:cTn id="39" dur="500"/>
                                        <p:tgtEl>
                                          <p:spTgt spid="9"/>
                                        </p:tgtEl>
                                      </p:cBhvr>
                                    </p:animEffect>
                                    <p:set>
                                      <p:cBhvr>
                                        <p:cTn id="40" dur="1" fill="hold">
                                          <p:stCondLst>
                                            <p:cond delay="499"/>
                                          </p:stCondLst>
                                        </p:cTn>
                                        <p:tgtEl>
                                          <p:spTgt spid="9"/>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3">
                                            <p:txEl>
                                              <p:pRg st="5" end="5"/>
                                            </p:txEl>
                                          </p:spTgt>
                                        </p:tgtEl>
                                        <p:attrNameLst>
                                          <p:attrName>style.visibility</p:attrName>
                                        </p:attrNameLst>
                                      </p:cBhvr>
                                      <p:to>
                                        <p:strVal val="visible"/>
                                      </p:to>
                                    </p:set>
                                    <p:animEffect transition="in" filter="blinds(horizontal)">
                                      <p:cBhvr>
                                        <p:cTn id="45" dur="500"/>
                                        <p:tgtEl>
                                          <p:spTgt spid="3">
                                            <p:txEl>
                                              <p:pRg st="5" end="5"/>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3">
                                            <p:txEl>
                                              <p:pRg st="6" end="6"/>
                                            </p:txEl>
                                          </p:spTgt>
                                        </p:tgtEl>
                                        <p:attrNameLst>
                                          <p:attrName>style.visibility</p:attrName>
                                        </p:attrNameLst>
                                      </p:cBhvr>
                                      <p:to>
                                        <p:strVal val="visible"/>
                                      </p:to>
                                    </p:set>
                                    <p:animEffect transition="in" filter="blinds(horizontal)">
                                      <p:cBhvr>
                                        <p:cTn id="50" dur="500"/>
                                        <p:tgtEl>
                                          <p:spTgt spid="3">
                                            <p:txEl>
                                              <p:pRg st="6" end="6"/>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3">
                                            <p:txEl>
                                              <p:pRg st="7" end="7"/>
                                            </p:txEl>
                                          </p:spTgt>
                                        </p:tgtEl>
                                        <p:attrNameLst>
                                          <p:attrName>style.visibility</p:attrName>
                                        </p:attrNameLst>
                                      </p:cBhvr>
                                      <p:to>
                                        <p:strVal val="visible"/>
                                      </p:to>
                                    </p:set>
                                    <p:animEffect transition="in" filter="blinds(horizontal)">
                                      <p:cBhvr>
                                        <p:cTn id="55"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8" grpId="0" animBg="1"/>
      <p:bldP spid="9"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en-US" altLang="zh-CN" dirty="0" smtClean="0"/>
              <a:t>13.6 </a:t>
            </a:r>
            <a:r>
              <a:rPr lang="zh-CN" altLang="en-US" dirty="0" smtClean="0"/>
              <a:t>铵盐</a:t>
            </a:r>
            <a:endParaRPr lang="en-US" dirty="0"/>
          </a:p>
        </p:txBody>
      </p:sp>
      <p:sp>
        <p:nvSpPr>
          <p:cNvPr id="3" name="Content Placeholder 2"/>
          <p:cNvSpPr>
            <a:spLocks noGrp="1"/>
          </p:cNvSpPr>
          <p:nvPr>
            <p:ph idx="1"/>
          </p:nvPr>
        </p:nvSpPr>
        <p:spPr>
          <a:xfrm>
            <a:off x="457200" y="1219200"/>
            <a:ext cx="8229600" cy="5486400"/>
          </a:xfrm>
        </p:spPr>
        <p:txBody>
          <a:bodyPr/>
          <a:lstStyle/>
          <a:p>
            <a:pPr>
              <a:buFont typeface="Wingdings" pitchFamily="2" charset="2"/>
              <a:buChar char="Ø"/>
            </a:pPr>
            <a:r>
              <a:rPr lang="zh-CN" altLang="en-US" dirty="0" smtClean="0"/>
              <a:t>铵盐受热分解，一般放出氨气</a:t>
            </a:r>
            <a:endParaRPr lang="en-US" altLang="zh-CN" dirty="0" smtClean="0"/>
          </a:p>
          <a:p>
            <a:pPr>
              <a:buNone/>
            </a:pPr>
            <a:r>
              <a:rPr lang="en-US" altLang="zh-CN" dirty="0" smtClean="0"/>
              <a:t>		NH</a:t>
            </a:r>
            <a:r>
              <a:rPr lang="en-US" altLang="zh-CN" baseline="-25000" dirty="0" smtClean="0"/>
              <a:t>4</a:t>
            </a:r>
            <a:r>
              <a:rPr lang="en-US" altLang="zh-CN" dirty="0" smtClean="0"/>
              <a:t> </a:t>
            </a:r>
            <a:r>
              <a:rPr lang="en-US" altLang="zh-CN" dirty="0" err="1" smtClean="0"/>
              <a:t>Cl</a:t>
            </a:r>
            <a:r>
              <a:rPr lang="en-US" altLang="zh-CN" dirty="0" smtClean="0"/>
              <a:t> 	     NH</a:t>
            </a:r>
            <a:r>
              <a:rPr lang="en-US" altLang="zh-CN" baseline="-25000" dirty="0" smtClean="0"/>
              <a:t>3</a:t>
            </a:r>
            <a:r>
              <a:rPr lang="en-US" altLang="zh-CN" dirty="0" smtClean="0"/>
              <a:t> + </a:t>
            </a:r>
            <a:r>
              <a:rPr lang="en-US" altLang="zh-CN" dirty="0" err="1" smtClean="0"/>
              <a:t>HCl</a:t>
            </a:r>
            <a:endParaRPr lang="en-US" altLang="zh-CN" dirty="0" smtClean="0"/>
          </a:p>
          <a:p>
            <a:pPr>
              <a:buNone/>
            </a:pPr>
            <a:r>
              <a:rPr lang="en-US" altLang="zh-CN" dirty="0" smtClean="0"/>
              <a:t>		 (NH</a:t>
            </a:r>
            <a:r>
              <a:rPr lang="en-US" altLang="zh-CN" baseline="-25000" dirty="0" smtClean="0"/>
              <a:t>4</a:t>
            </a:r>
            <a:r>
              <a:rPr lang="en-US" altLang="zh-CN" dirty="0" smtClean="0"/>
              <a:t> )</a:t>
            </a:r>
            <a:r>
              <a:rPr lang="en-US" altLang="zh-CN" baseline="-25000" dirty="0" smtClean="0"/>
              <a:t>2</a:t>
            </a:r>
            <a:r>
              <a:rPr lang="en-US" altLang="zh-CN" dirty="0" smtClean="0"/>
              <a:t>CO</a:t>
            </a:r>
            <a:r>
              <a:rPr lang="en-US" altLang="zh-CN" baseline="-25000" dirty="0" smtClean="0"/>
              <a:t>3</a:t>
            </a:r>
            <a:r>
              <a:rPr lang="en-US" altLang="zh-CN" dirty="0" smtClean="0"/>
              <a:t> 	</a:t>
            </a:r>
            <a:r>
              <a:rPr lang="en-US" altLang="zh-CN" dirty="0" smtClean="0">
                <a:sym typeface="Wingdings" pitchFamily="2" charset="2"/>
              </a:rPr>
              <a:t> 2NH</a:t>
            </a:r>
            <a:r>
              <a:rPr lang="en-US" altLang="zh-CN" baseline="-25000" dirty="0" smtClean="0">
                <a:sym typeface="Wingdings" pitchFamily="2" charset="2"/>
              </a:rPr>
              <a:t>3</a:t>
            </a:r>
            <a:r>
              <a:rPr lang="en-US" altLang="zh-CN" dirty="0" smtClean="0">
                <a:sym typeface="Wingdings" pitchFamily="2" charset="2"/>
              </a:rPr>
              <a:t> + H</a:t>
            </a:r>
            <a:r>
              <a:rPr lang="en-US" altLang="zh-CN" baseline="-25000" dirty="0" smtClean="0">
                <a:sym typeface="Wingdings" pitchFamily="2" charset="2"/>
              </a:rPr>
              <a:t>2</a:t>
            </a:r>
            <a:r>
              <a:rPr lang="en-US" altLang="zh-CN" dirty="0" smtClean="0">
                <a:sym typeface="Wingdings" pitchFamily="2" charset="2"/>
              </a:rPr>
              <a:t>O + CO</a:t>
            </a:r>
            <a:r>
              <a:rPr lang="en-US" altLang="zh-CN" baseline="-25000" dirty="0" smtClean="0">
                <a:sym typeface="Wingdings" pitchFamily="2" charset="2"/>
              </a:rPr>
              <a:t>2</a:t>
            </a:r>
            <a:endParaRPr lang="en-US" altLang="zh-CN" dirty="0" smtClean="0"/>
          </a:p>
          <a:p>
            <a:pPr>
              <a:buNone/>
            </a:pPr>
            <a:r>
              <a:rPr lang="en-US" altLang="zh-CN" dirty="0" smtClean="0"/>
              <a:t>		NH</a:t>
            </a:r>
            <a:r>
              <a:rPr lang="en-US" altLang="zh-CN" baseline="-25000" dirty="0" smtClean="0"/>
              <a:t>4</a:t>
            </a:r>
            <a:r>
              <a:rPr lang="en-US" altLang="zh-CN" dirty="0" smtClean="0"/>
              <a:t> HCO</a:t>
            </a:r>
            <a:r>
              <a:rPr lang="en-US" altLang="zh-CN" baseline="-25000" dirty="0" smtClean="0"/>
              <a:t>3</a:t>
            </a:r>
            <a:r>
              <a:rPr lang="en-US" altLang="zh-CN" dirty="0" smtClean="0"/>
              <a:t> </a:t>
            </a:r>
            <a:r>
              <a:rPr lang="en-US" altLang="zh-CN" dirty="0" smtClean="0">
                <a:sym typeface="Wingdings" pitchFamily="2" charset="2"/>
              </a:rPr>
              <a:t> 		NH</a:t>
            </a:r>
            <a:r>
              <a:rPr lang="en-US" altLang="zh-CN" baseline="-25000" dirty="0" smtClean="0">
                <a:sym typeface="Wingdings" pitchFamily="2" charset="2"/>
              </a:rPr>
              <a:t>3</a:t>
            </a:r>
            <a:r>
              <a:rPr lang="en-US" altLang="zh-CN" dirty="0" smtClean="0">
                <a:sym typeface="Wingdings" pitchFamily="2" charset="2"/>
              </a:rPr>
              <a:t> + H</a:t>
            </a:r>
            <a:r>
              <a:rPr lang="en-US" altLang="zh-CN" baseline="-25000" dirty="0" smtClean="0">
                <a:sym typeface="Wingdings" pitchFamily="2" charset="2"/>
              </a:rPr>
              <a:t>2</a:t>
            </a:r>
            <a:r>
              <a:rPr lang="en-US" altLang="zh-CN" dirty="0" smtClean="0">
                <a:sym typeface="Wingdings" pitchFamily="2" charset="2"/>
              </a:rPr>
              <a:t>O + CO</a:t>
            </a:r>
            <a:r>
              <a:rPr lang="en-US" altLang="zh-CN" baseline="-25000" dirty="0" smtClean="0">
                <a:sym typeface="Wingdings" pitchFamily="2" charset="2"/>
              </a:rPr>
              <a:t>2</a:t>
            </a:r>
            <a:endParaRPr lang="en-US" altLang="zh-CN" dirty="0" smtClean="0"/>
          </a:p>
          <a:p>
            <a:pPr>
              <a:buFont typeface="Wingdings" pitchFamily="2" charset="2"/>
              <a:buChar char="Ø"/>
            </a:pPr>
            <a:r>
              <a:rPr lang="zh-CN" altLang="en-US" dirty="0" smtClean="0"/>
              <a:t>铵盐受热分解一般不是氧化还原反应</a:t>
            </a:r>
            <a:endParaRPr lang="en-US" altLang="zh-CN" dirty="0" smtClean="0"/>
          </a:p>
          <a:p>
            <a:pPr>
              <a:buFont typeface="Wingdings" pitchFamily="2" charset="2"/>
              <a:buChar char="Ø"/>
            </a:pPr>
            <a:r>
              <a:rPr lang="zh-CN" altLang="en-US" dirty="0" smtClean="0"/>
              <a:t>哪一种铵盐受热分解不产生氨气？</a:t>
            </a:r>
            <a:endParaRPr lang="en-US" altLang="zh-CN" dirty="0" smtClean="0"/>
          </a:p>
          <a:p>
            <a:pPr>
              <a:buNone/>
            </a:pPr>
            <a:r>
              <a:rPr lang="en-US" dirty="0" smtClean="0"/>
              <a:t>	</a:t>
            </a:r>
            <a:r>
              <a:rPr lang="en-US" altLang="zh-CN" dirty="0" smtClean="0"/>
              <a:t>NH</a:t>
            </a:r>
            <a:r>
              <a:rPr lang="en-US" altLang="zh-CN" baseline="-25000" dirty="0" smtClean="0"/>
              <a:t>4</a:t>
            </a:r>
            <a:r>
              <a:rPr lang="en-US" altLang="zh-CN" dirty="0" smtClean="0"/>
              <a:t>NO</a:t>
            </a:r>
            <a:r>
              <a:rPr lang="en-US" altLang="zh-CN" baseline="-25000" dirty="0" smtClean="0"/>
              <a:t>3		</a:t>
            </a:r>
            <a:r>
              <a:rPr lang="en-US" altLang="zh-CN" dirty="0" smtClean="0"/>
              <a:t> N</a:t>
            </a:r>
            <a:r>
              <a:rPr lang="en-US" altLang="zh-CN" baseline="-25000" dirty="0" smtClean="0"/>
              <a:t>2</a:t>
            </a:r>
            <a:r>
              <a:rPr lang="en-US" altLang="zh-CN" dirty="0" smtClean="0"/>
              <a:t>O + 2 H</a:t>
            </a:r>
            <a:r>
              <a:rPr lang="en-US" altLang="zh-CN" baseline="-25000" dirty="0" smtClean="0"/>
              <a:t>2</a:t>
            </a:r>
            <a:r>
              <a:rPr lang="en-US" altLang="zh-CN" dirty="0" smtClean="0"/>
              <a:t>O</a:t>
            </a:r>
          </a:p>
          <a:p>
            <a:pPr>
              <a:buNone/>
            </a:pPr>
            <a:r>
              <a:rPr lang="en-US" dirty="0" smtClean="0"/>
              <a:t>	</a:t>
            </a:r>
            <a:r>
              <a:rPr lang="zh-CN" altLang="en-US" dirty="0" smtClean="0"/>
              <a:t>是氧化还原反应</a:t>
            </a:r>
            <a:endParaRPr lang="en-US" dirty="0"/>
          </a:p>
        </p:txBody>
      </p:sp>
      <p:grpSp>
        <p:nvGrpSpPr>
          <p:cNvPr id="6" name="Group 5"/>
          <p:cNvGrpSpPr/>
          <p:nvPr/>
        </p:nvGrpSpPr>
        <p:grpSpPr>
          <a:xfrm>
            <a:off x="2819400" y="1981200"/>
            <a:ext cx="838200" cy="153988"/>
            <a:chOff x="3429000" y="3198812"/>
            <a:chExt cx="838200" cy="153988"/>
          </a:xfrm>
        </p:grpSpPr>
        <p:cxnSp>
          <p:nvCxnSpPr>
            <p:cNvPr id="7" name="Straight Arrow Connector 6"/>
            <p:cNvCxnSpPr/>
            <p:nvPr/>
          </p:nvCxnSpPr>
          <p:spPr bwMode="auto">
            <a:xfrm>
              <a:off x="3429000" y="3351212"/>
              <a:ext cx="8382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8" name="Isosceles Triangle 7"/>
            <p:cNvSpPr/>
            <p:nvPr/>
          </p:nvSpPr>
          <p:spPr bwMode="auto">
            <a:xfrm>
              <a:off x="3733800" y="3198812"/>
              <a:ext cx="228600" cy="152400"/>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grpSp>
      <p:grpSp>
        <p:nvGrpSpPr>
          <p:cNvPr id="9" name="Group 8"/>
          <p:cNvGrpSpPr/>
          <p:nvPr/>
        </p:nvGrpSpPr>
        <p:grpSpPr>
          <a:xfrm>
            <a:off x="3352800" y="2589212"/>
            <a:ext cx="838200" cy="153988"/>
            <a:chOff x="3429000" y="3198812"/>
            <a:chExt cx="838200" cy="153988"/>
          </a:xfrm>
        </p:grpSpPr>
        <p:cxnSp>
          <p:nvCxnSpPr>
            <p:cNvPr id="10" name="Straight Arrow Connector 9"/>
            <p:cNvCxnSpPr/>
            <p:nvPr/>
          </p:nvCxnSpPr>
          <p:spPr bwMode="auto">
            <a:xfrm>
              <a:off x="3429000" y="3351212"/>
              <a:ext cx="8382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11" name="Isosceles Triangle 10"/>
            <p:cNvSpPr/>
            <p:nvPr/>
          </p:nvSpPr>
          <p:spPr bwMode="auto">
            <a:xfrm>
              <a:off x="3733800" y="3198812"/>
              <a:ext cx="228600" cy="152400"/>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grpSp>
      <p:grpSp>
        <p:nvGrpSpPr>
          <p:cNvPr id="12" name="Group 11"/>
          <p:cNvGrpSpPr/>
          <p:nvPr/>
        </p:nvGrpSpPr>
        <p:grpSpPr>
          <a:xfrm>
            <a:off x="3200400" y="3122612"/>
            <a:ext cx="838200" cy="153988"/>
            <a:chOff x="3429000" y="3198812"/>
            <a:chExt cx="838200" cy="153988"/>
          </a:xfrm>
        </p:grpSpPr>
        <p:cxnSp>
          <p:nvCxnSpPr>
            <p:cNvPr id="13" name="Straight Arrow Connector 12"/>
            <p:cNvCxnSpPr/>
            <p:nvPr/>
          </p:nvCxnSpPr>
          <p:spPr bwMode="auto">
            <a:xfrm>
              <a:off x="3429000" y="3351212"/>
              <a:ext cx="8382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14" name="Isosceles Triangle 13"/>
            <p:cNvSpPr/>
            <p:nvPr/>
          </p:nvSpPr>
          <p:spPr bwMode="auto">
            <a:xfrm>
              <a:off x="3733800" y="3198812"/>
              <a:ext cx="228600" cy="152400"/>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grpSp>
      <p:sp>
        <p:nvSpPr>
          <p:cNvPr id="15" name="Rounded Rectangle 14"/>
          <p:cNvSpPr/>
          <p:nvPr/>
        </p:nvSpPr>
        <p:spPr>
          <a:xfrm>
            <a:off x="3657600" y="1905000"/>
            <a:ext cx="19050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
        <p:nvSpPr>
          <p:cNvPr id="16" name="Rounded Rectangle 15"/>
          <p:cNvSpPr/>
          <p:nvPr/>
        </p:nvSpPr>
        <p:spPr>
          <a:xfrm>
            <a:off x="4267200" y="2438400"/>
            <a:ext cx="30480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
        <p:nvSpPr>
          <p:cNvPr id="17" name="Rounded Rectangle 16"/>
          <p:cNvSpPr/>
          <p:nvPr/>
        </p:nvSpPr>
        <p:spPr>
          <a:xfrm>
            <a:off x="4191000" y="3048000"/>
            <a:ext cx="30480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grpSp>
        <p:nvGrpSpPr>
          <p:cNvPr id="18" name="Group 17"/>
          <p:cNvGrpSpPr/>
          <p:nvPr/>
        </p:nvGrpSpPr>
        <p:grpSpPr>
          <a:xfrm>
            <a:off x="2286000" y="4876800"/>
            <a:ext cx="838200" cy="153988"/>
            <a:chOff x="3429000" y="3198812"/>
            <a:chExt cx="838200" cy="153988"/>
          </a:xfrm>
        </p:grpSpPr>
        <p:cxnSp>
          <p:nvCxnSpPr>
            <p:cNvPr id="19" name="Straight Arrow Connector 18"/>
            <p:cNvCxnSpPr/>
            <p:nvPr/>
          </p:nvCxnSpPr>
          <p:spPr bwMode="auto">
            <a:xfrm>
              <a:off x="3429000" y="3351212"/>
              <a:ext cx="8382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20" name="Isosceles Triangle 19"/>
            <p:cNvSpPr/>
            <p:nvPr/>
          </p:nvSpPr>
          <p:spPr bwMode="auto">
            <a:xfrm>
              <a:off x="3733800" y="3198812"/>
              <a:ext cx="228600" cy="152400"/>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grpSp>
      <p:sp>
        <p:nvSpPr>
          <p:cNvPr id="21" name="Rounded Rectangle 20"/>
          <p:cNvSpPr/>
          <p:nvPr/>
        </p:nvSpPr>
        <p:spPr>
          <a:xfrm>
            <a:off x="3276600" y="4800600"/>
            <a:ext cx="22098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linds(horizontal)">
                                      <p:cBhvr>
                                        <p:cTn id="15" dur="500"/>
                                        <p:tgtEl>
                                          <p:spTgt spid="6"/>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blinds(horizontal)">
                                      <p:cBhvr>
                                        <p:cTn id="18" dur="500"/>
                                        <p:tgtEl>
                                          <p:spTgt spid="3">
                                            <p:txEl>
                                              <p:pRg st="2" end="2"/>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blinds(horizontal)">
                                      <p:cBhvr>
                                        <p:cTn id="21" dur="500"/>
                                        <p:tgtEl>
                                          <p:spTgt spid="9"/>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blinds(horizontal)">
                                      <p:cBhvr>
                                        <p:cTn id="24" dur="500"/>
                                        <p:tgtEl>
                                          <p:spTgt spid="3">
                                            <p:txEl>
                                              <p:pRg st="3" end="3"/>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blinds(horizontal)">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xit" presetSubtype="10" fill="hold" grpId="0" nodeType="clickEffect">
                                  <p:stCondLst>
                                    <p:cond delay="0"/>
                                  </p:stCondLst>
                                  <p:childTnLst>
                                    <p:animEffect transition="out" filter="blinds(horizontal)">
                                      <p:cBhvr>
                                        <p:cTn id="31" dur="500"/>
                                        <p:tgtEl>
                                          <p:spTgt spid="15"/>
                                        </p:tgtEl>
                                      </p:cBhvr>
                                    </p:animEffect>
                                    <p:set>
                                      <p:cBhvr>
                                        <p:cTn id="32" dur="1" fill="hold">
                                          <p:stCondLst>
                                            <p:cond delay="499"/>
                                          </p:stCondLst>
                                        </p:cTn>
                                        <p:tgtEl>
                                          <p:spTgt spid="15"/>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3" presetClass="exit" presetSubtype="10" fill="hold" grpId="0" nodeType="clickEffect">
                                  <p:stCondLst>
                                    <p:cond delay="0"/>
                                  </p:stCondLst>
                                  <p:childTnLst>
                                    <p:animEffect transition="out" filter="blinds(horizontal)">
                                      <p:cBhvr>
                                        <p:cTn id="36" dur="500"/>
                                        <p:tgtEl>
                                          <p:spTgt spid="16"/>
                                        </p:tgtEl>
                                      </p:cBhvr>
                                    </p:animEffect>
                                    <p:set>
                                      <p:cBhvr>
                                        <p:cTn id="37" dur="1" fill="hold">
                                          <p:stCondLst>
                                            <p:cond delay="499"/>
                                          </p:stCondLst>
                                        </p:cTn>
                                        <p:tgtEl>
                                          <p:spTgt spid="16"/>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3" presetClass="exit" presetSubtype="10" fill="hold" grpId="0" nodeType="clickEffect">
                                  <p:stCondLst>
                                    <p:cond delay="0"/>
                                  </p:stCondLst>
                                  <p:childTnLst>
                                    <p:animEffect transition="out" filter="blinds(horizontal)">
                                      <p:cBhvr>
                                        <p:cTn id="41" dur="500"/>
                                        <p:tgtEl>
                                          <p:spTgt spid="17"/>
                                        </p:tgtEl>
                                      </p:cBhvr>
                                    </p:animEffect>
                                    <p:set>
                                      <p:cBhvr>
                                        <p:cTn id="42" dur="1" fill="hold">
                                          <p:stCondLst>
                                            <p:cond delay="499"/>
                                          </p:stCondLst>
                                        </p:cTn>
                                        <p:tgtEl>
                                          <p:spTgt spid="17"/>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4" end="4"/>
                                            </p:txEl>
                                          </p:spTgt>
                                        </p:tgtEl>
                                        <p:attrNameLst>
                                          <p:attrName>style.visibility</p:attrName>
                                        </p:attrNameLst>
                                      </p:cBhvr>
                                      <p:to>
                                        <p:strVal val="visible"/>
                                      </p:to>
                                    </p:set>
                                    <p:animEffect transition="in" filter="blinds(horizontal)">
                                      <p:cBhvr>
                                        <p:cTn id="47" dur="500"/>
                                        <p:tgtEl>
                                          <p:spTgt spid="3">
                                            <p:txEl>
                                              <p:pRg st="4" end="4"/>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5" end="5"/>
                                            </p:txEl>
                                          </p:spTgt>
                                        </p:tgtEl>
                                        <p:attrNameLst>
                                          <p:attrName>style.visibility</p:attrName>
                                        </p:attrNameLst>
                                      </p:cBhvr>
                                      <p:to>
                                        <p:strVal val="visible"/>
                                      </p:to>
                                    </p:set>
                                    <p:animEffect transition="in" filter="blinds(horizontal)">
                                      <p:cBhvr>
                                        <p:cTn id="52" dur="500"/>
                                        <p:tgtEl>
                                          <p:spTgt spid="3">
                                            <p:txEl>
                                              <p:pRg st="5" end="5"/>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
                                            <p:txEl>
                                              <p:pRg st="6" end="6"/>
                                            </p:txEl>
                                          </p:spTgt>
                                        </p:tgtEl>
                                        <p:attrNameLst>
                                          <p:attrName>style.visibility</p:attrName>
                                        </p:attrNameLst>
                                      </p:cBhvr>
                                      <p:to>
                                        <p:strVal val="visible"/>
                                      </p:to>
                                    </p:set>
                                    <p:animEffect transition="in" filter="blinds(horizontal)">
                                      <p:cBhvr>
                                        <p:cTn id="57" dur="500"/>
                                        <p:tgtEl>
                                          <p:spTgt spid="3">
                                            <p:txEl>
                                              <p:pRg st="6" end="6"/>
                                            </p:txEl>
                                          </p:spTgt>
                                        </p:tgtEl>
                                      </p:cBhvr>
                                    </p:animEffect>
                                  </p:childTnLst>
                                </p:cTn>
                              </p:par>
                              <p:par>
                                <p:cTn id="58" presetID="3" presetClass="entr" presetSubtype="10" fill="hold" nodeType="withEffect">
                                  <p:stCondLst>
                                    <p:cond delay="0"/>
                                  </p:stCondLst>
                                  <p:childTnLst>
                                    <p:set>
                                      <p:cBhvr>
                                        <p:cTn id="59" dur="1" fill="hold">
                                          <p:stCondLst>
                                            <p:cond delay="0"/>
                                          </p:stCondLst>
                                        </p:cTn>
                                        <p:tgtEl>
                                          <p:spTgt spid="18"/>
                                        </p:tgtEl>
                                        <p:attrNameLst>
                                          <p:attrName>style.visibility</p:attrName>
                                        </p:attrNameLst>
                                      </p:cBhvr>
                                      <p:to>
                                        <p:strVal val="visible"/>
                                      </p:to>
                                    </p:set>
                                    <p:animEffect transition="in" filter="blinds(horizontal)">
                                      <p:cBhvr>
                                        <p:cTn id="60" dur="500"/>
                                        <p:tgtEl>
                                          <p:spTgt spid="18"/>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xit" presetSubtype="10" fill="hold" grpId="0" nodeType="clickEffect">
                                  <p:stCondLst>
                                    <p:cond delay="0"/>
                                  </p:stCondLst>
                                  <p:childTnLst>
                                    <p:animEffect transition="out" filter="blinds(horizontal)">
                                      <p:cBhvr>
                                        <p:cTn id="64" dur="500"/>
                                        <p:tgtEl>
                                          <p:spTgt spid="21"/>
                                        </p:tgtEl>
                                      </p:cBhvr>
                                    </p:animEffect>
                                    <p:set>
                                      <p:cBhvr>
                                        <p:cTn id="65" dur="1" fill="hold">
                                          <p:stCondLst>
                                            <p:cond delay="499"/>
                                          </p:stCondLst>
                                        </p:cTn>
                                        <p:tgtEl>
                                          <p:spTgt spid="21"/>
                                        </p:tgtEl>
                                        <p:attrNameLst>
                                          <p:attrName>style.visibility</p:attrName>
                                        </p:attrNameLst>
                                      </p:cBhvr>
                                      <p:to>
                                        <p:strVal val="hidden"/>
                                      </p:to>
                                    </p:se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grpId="0" nodeType="clickEffect">
                                  <p:stCondLst>
                                    <p:cond delay="0"/>
                                  </p:stCondLst>
                                  <p:childTnLst>
                                    <p:set>
                                      <p:cBhvr>
                                        <p:cTn id="69" dur="1" fill="hold">
                                          <p:stCondLst>
                                            <p:cond delay="0"/>
                                          </p:stCondLst>
                                        </p:cTn>
                                        <p:tgtEl>
                                          <p:spTgt spid="3">
                                            <p:txEl>
                                              <p:pRg st="7" end="7"/>
                                            </p:txEl>
                                          </p:spTgt>
                                        </p:tgtEl>
                                        <p:attrNameLst>
                                          <p:attrName>style.visibility</p:attrName>
                                        </p:attrNameLst>
                                      </p:cBhvr>
                                      <p:to>
                                        <p:strVal val="visible"/>
                                      </p:to>
                                    </p:set>
                                    <p:animEffect transition="in" filter="blinds(horizontal)">
                                      <p:cBhvr>
                                        <p:cTn id="70"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5" grpId="0" animBg="1"/>
      <p:bldP spid="16" grpId="0" animBg="1"/>
      <p:bldP spid="17" grpId="0" animBg="1"/>
      <p:bldP spid="21"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en-US" altLang="zh-CN" dirty="0" smtClean="0"/>
              <a:t>13.6 </a:t>
            </a:r>
            <a:r>
              <a:rPr lang="zh-CN" altLang="en-US" dirty="0" smtClean="0"/>
              <a:t>铵盐</a:t>
            </a:r>
            <a:endParaRPr lang="en-US" dirty="0"/>
          </a:p>
        </p:txBody>
      </p:sp>
      <p:sp>
        <p:nvSpPr>
          <p:cNvPr id="3" name="Content Placeholder 2"/>
          <p:cNvSpPr>
            <a:spLocks noGrp="1"/>
          </p:cNvSpPr>
          <p:nvPr>
            <p:ph idx="1"/>
          </p:nvPr>
        </p:nvSpPr>
        <p:spPr>
          <a:xfrm>
            <a:off x="457200" y="1219200"/>
            <a:ext cx="8229600" cy="5486400"/>
          </a:xfrm>
        </p:spPr>
        <p:txBody>
          <a:bodyPr>
            <a:normAutofit/>
          </a:bodyPr>
          <a:lstStyle/>
          <a:p>
            <a:pPr>
              <a:lnSpc>
                <a:spcPct val="150000"/>
              </a:lnSpc>
              <a:buNone/>
            </a:pPr>
            <a:r>
              <a:rPr lang="zh-CN" altLang="en-US" sz="3000" b="1" dirty="0" smtClean="0">
                <a:solidFill>
                  <a:srgbClr val="002060"/>
                </a:solidFill>
                <a:effectLst>
                  <a:outerShdw blurRad="38100" dist="38100" dir="2700000" algn="tl">
                    <a:srgbClr val="000000">
                      <a:alpha val="43137"/>
                    </a:srgbClr>
                  </a:outerShdw>
                </a:effectLst>
              </a:rPr>
              <a:t>铵盐</a:t>
            </a:r>
            <a:r>
              <a:rPr lang="en-US" altLang="zh-CN" sz="3000" b="1" dirty="0" smtClean="0">
                <a:solidFill>
                  <a:srgbClr val="002060"/>
                </a:solidFill>
                <a:effectLst>
                  <a:outerShdw blurRad="38100" dist="38100" dir="2700000" algn="tl">
                    <a:srgbClr val="000000">
                      <a:alpha val="43137"/>
                    </a:srgbClr>
                  </a:outerShdw>
                </a:effectLst>
              </a:rPr>
              <a:t>+ </a:t>
            </a:r>
            <a:r>
              <a:rPr lang="zh-CN" altLang="en-US" sz="3000" b="1" dirty="0" smtClean="0">
                <a:solidFill>
                  <a:srgbClr val="002060"/>
                </a:solidFill>
                <a:effectLst>
                  <a:outerShdw blurRad="38100" dist="38100" dir="2700000" algn="tl">
                    <a:srgbClr val="000000">
                      <a:alpha val="43137"/>
                    </a:srgbClr>
                  </a:outerShdw>
                </a:effectLst>
              </a:rPr>
              <a:t>碱 </a:t>
            </a:r>
            <a:r>
              <a:rPr lang="en-US" altLang="zh-CN" sz="3000" b="1" dirty="0" smtClean="0">
                <a:solidFill>
                  <a:srgbClr val="002060"/>
                </a:solidFill>
                <a:effectLst>
                  <a:outerShdw blurRad="38100" dist="38100" dir="2700000" algn="tl">
                    <a:srgbClr val="000000">
                      <a:alpha val="43137"/>
                    </a:srgbClr>
                  </a:outerShdw>
                </a:effectLst>
                <a:sym typeface="Wingdings" pitchFamily="2" charset="2"/>
              </a:rPr>
              <a:t> </a:t>
            </a:r>
            <a:r>
              <a:rPr lang="zh-CN" altLang="en-US" sz="3000" b="1" dirty="0" smtClean="0">
                <a:solidFill>
                  <a:srgbClr val="002060"/>
                </a:solidFill>
                <a:effectLst>
                  <a:outerShdw blurRad="38100" dist="38100" dir="2700000" algn="tl">
                    <a:srgbClr val="000000">
                      <a:alpha val="43137"/>
                    </a:srgbClr>
                  </a:outerShdw>
                </a:effectLst>
                <a:sym typeface="Wingdings" pitchFamily="2" charset="2"/>
              </a:rPr>
              <a:t>盐 </a:t>
            </a:r>
            <a:r>
              <a:rPr lang="en-US" altLang="zh-CN" sz="3000" b="1" dirty="0" smtClean="0">
                <a:solidFill>
                  <a:srgbClr val="002060"/>
                </a:solidFill>
                <a:effectLst>
                  <a:outerShdw blurRad="38100" dist="38100" dir="2700000" algn="tl">
                    <a:srgbClr val="000000">
                      <a:alpha val="43137"/>
                    </a:srgbClr>
                  </a:outerShdw>
                </a:effectLst>
                <a:sym typeface="Wingdings" pitchFamily="2" charset="2"/>
              </a:rPr>
              <a:t>+ </a:t>
            </a:r>
            <a:r>
              <a:rPr lang="zh-CN" altLang="en-US" sz="3000" b="1" dirty="0" smtClean="0">
                <a:solidFill>
                  <a:srgbClr val="002060"/>
                </a:solidFill>
                <a:effectLst>
                  <a:outerShdw blurRad="38100" dist="38100" dir="2700000" algn="tl">
                    <a:srgbClr val="000000">
                      <a:alpha val="43137"/>
                    </a:srgbClr>
                  </a:outerShdw>
                </a:effectLst>
                <a:sym typeface="Wingdings" pitchFamily="2" charset="2"/>
              </a:rPr>
              <a:t>水 </a:t>
            </a:r>
            <a:r>
              <a:rPr lang="en-US" altLang="zh-CN" sz="3000" b="1" dirty="0" smtClean="0">
                <a:solidFill>
                  <a:srgbClr val="002060"/>
                </a:solidFill>
                <a:effectLst>
                  <a:outerShdw blurRad="38100" dist="38100" dir="2700000" algn="tl">
                    <a:srgbClr val="000000">
                      <a:alpha val="43137"/>
                    </a:srgbClr>
                  </a:outerShdw>
                </a:effectLst>
                <a:sym typeface="Wingdings" pitchFamily="2" charset="2"/>
              </a:rPr>
              <a:t>+ NH</a:t>
            </a:r>
            <a:r>
              <a:rPr lang="en-US" altLang="zh-CN" sz="3000" b="1" baseline="-25000" dirty="0" smtClean="0">
                <a:solidFill>
                  <a:srgbClr val="002060"/>
                </a:solidFill>
                <a:effectLst>
                  <a:outerShdw blurRad="38100" dist="38100" dir="2700000" algn="tl">
                    <a:srgbClr val="000000">
                      <a:alpha val="43137"/>
                    </a:srgbClr>
                  </a:outerShdw>
                </a:effectLst>
                <a:sym typeface="Wingdings" pitchFamily="2" charset="2"/>
              </a:rPr>
              <a:t>3</a:t>
            </a:r>
            <a:r>
              <a:rPr lang="en-US" altLang="zh-CN" sz="3000" b="1" dirty="0" smtClean="0">
                <a:solidFill>
                  <a:srgbClr val="002060"/>
                </a:solidFill>
                <a:effectLst>
                  <a:outerShdw blurRad="38100" dist="38100" dir="2700000" algn="tl">
                    <a:srgbClr val="000000">
                      <a:alpha val="43137"/>
                    </a:srgbClr>
                  </a:outerShdw>
                </a:effectLst>
                <a:sym typeface="Wingdings" pitchFamily="2" charset="2"/>
              </a:rPr>
              <a:t> </a:t>
            </a:r>
          </a:p>
          <a:p>
            <a:pPr>
              <a:lnSpc>
                <a:spcPct val="150000"/>
              </a:lnSpc>
              <a:buFont typeface="Wingdings" pitchFamily="2" charset="2"/>
              <a:buChar char="Ø"/>
            </a:pPr>
            <a:r>
              <a:rPr lang="zh-CN" altLang="en-US" sz="3000" dirty="0" smtClean="0">
                <a:effectLst>
                  <a:outerShdw blurRad="38100" dist="38100" dir="2700000" algn="tl">
                    <a:srgbClr val="000000">
                      <a:alpha val="43137"/>
                    </a:srgbClr>
                  </a:outerShdw>
                </a:effectLst>
                <a:sym typeface="Wingdings" pitchFamily="2" charset="2"/>
              </a:rPr>
              <a:t>实验室制取氨气的方法</a:t>
            </a:r>
            <a:endParaRPr lang="en-US" altLang="zh-CN" sz="3000" dirty="0" smtClean="0">
              <a:effectLst>
                <a:outerShdw blurRad="38100" dist="38100" dir="2700000" algn="tl">
                  <a:srgbClr val="000000">
                    <a:alpha val="43137"/>
                  </a:srgbClr>
                </a:outerShdw>
              </a:effectLst>
              <a:sym typeface="Wingdings" pitchFamily="2" charset="2"/>
            </a:endParaRPr>
          </a:p>
          <a:p>
            <a:pPr>
              <a:lnSpc>
                <a:spcPct val="150000"/>
              </a:lnSpc>
              <a:buFont typeface="Wingdings" pitchFamily="2" charset="2"/>
              <a:buChar char="Ø"/>
            </a:pPr>
            <a:r>
              <a:rPr lang="zh-CN" altLang="en-US" sz="3000" smtClean="0">
                <a:effectLst>
                  <a:outerShdw blurRad="38100" dist="38100" dir="2700000" algn="tl">
                    <a:srgbClr val="000000">
                      <a:alpha val="43137"/>
                    </a:srgbClr>
                  </a:outerShdw>
                </a:effectLst>
                <a:sym typeface="Wingdings" pitchFamily="2" charset="2"/>
              </a:rPr>
              <a:t>检验铵根</a:t>
            </a:r>
            <a:r>
              <a:rPr lang="zh-CN" altLang="en-US" sz="3000" dirty="0" smtClean="0">
                <a:effectLst>
                  <a:outerShdw blurRad="38100" dist="38100" dir="2700000" algn="tl">
                    <a:srgbClr val="000000">
                      <a:alpha val="43137"/>
                    </a:srgbClr>
                  </a:outerShdw>
                </a:effectLst>
                <a:sym typeface="Wingdings" pitchFamily="2" charset="2"/>
              </a:rPr>
              <a:t>的方法</a:t>
            </a:r>
            <a:endParaRPr lang="en-US" altLang="zh-CN" sz="3000" dirty="0" smtClean="0"/>
          </a:p>
          <a:p>
            <a:pPr>
              <a:lnSpc>
                <a:spcPct val="150000"/>
              </a:lnSpc>
              <a:buNone/>
            </a:pPr>
            <a:r>
              <a:rPr lang="zh-CN" altLang="en-US" sz="3000" dirty="0" smtClean="0"/>
              <a:t>交流分享</a:t>
            </a:r>
            <a:endParaRPr lang="en-US" altLang="zh-CN" sz="3000" dirty="0" smtClean="0"/>
          </a:p>
          <a:p>
            <a:pPr>
              <a:lnSpc>
                <a:spcPct val="150000"/>
              </a:lnSpc>
              <a:buFont typeface="Wingdings" pitchFamily="2" charset="2"/>
              <a:buChar char="Ø"/>
            </a:pPr>
            <a:r>
              <a:rPr lang="zh-CN" altLang="en-US" sz="3000" dirty="0" smtClean="0"/>
              <a:t>铵盐受热易分解，应保存在阴凉处。</a:t>
            </a:r>
            <a:endParaRPr lang="en-US" altLang="zh-CN" sz="3000" dirty="0" smtClean="0"/>
          </a:p>
          <a:p>
            <a:pPr>
              <a:lnSpc>
                <a:spcPct val="150000"/>
              </a:lnSpc>
              <a:buFont typeface="Wingdings" pitchFamily="2" charset="2"/>
              <a:buChar char="Ø"/>
            </a:pPr>
            <a:r>
              <a:rPr lang="zh-CN" altLang="en-US" sz="3000" dirty="0" smtClean="0"/>
              <a:t>铵盐与碱反应生成氨气，应避免与碱性肥料混合施用。</a:t>
            </a:r>
            <a:endParaRPr lang="en-US" sz="30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zh-CN" altLang="en-US" dirty="0" smtClean="0"/>
              <a:t>思考题</a:t>
            </a:r>
            <a:r>
              <a:rPr lang="en-US" altLang="zh-CN" dirty="0" smtClean="0"/>
              <a:t>13f</a:t>
            </a:r>
            <a:endParaRPr lang="en-US" dirty="0"/>
          </a:p>
        </p:txBody>
      </p:sp>
      <p:sp>
        <p:nvSpPr>
          <p:cNvPr id="3" name="Content Placeholder 2"/>
          <p:cNvSpPr>
            <a:spLocks noGrp="1"/>
          </p:cNvSpPr>
          <p:nvPr>
            <p:ph idx="1"/>
          </p:nvPr>
        </p:nvSpPr>
        <p:spPr>
          <a:xfrm>
            <a:off x="304800" y="685800"/>
            <a:ext cx="8686800" cy="6019800"/>
          </a:xfrm>
        </p:spPr>
        <p:txBody>
          <a:bodyPr>
            <a:normAutofit lnSpcReduction="10000"/>
          </a:bodyPr>
          <a:lstStyle/>
          <a:p>
            <a:pPr marL="514350" indent="-514350">
              <a:buAutoNum type="arabicPeriod"/>
            </a:pPr>
            <a:r>
              <a:rPr lang="en-US" sz="2800" dirty="0" smtClean="0"/>
              <a:t>D </a:t>
            </a:r>
          </a:p>
          <a:p>
            <a:pPr marL="514350" indent="-514350">
              <a:buNone/>
            </a:pPr>
            <a:r>
              <a:rPr lang="en-US" sz="2800" dirty="0" smtClean="0"/>
              <a:t>	Na</a:t>
            </a:r>
            <a:r>
              <a:rPr lang="en-US" sz="2800" baseline="-25000" dirty="0" smtClean="0"/>
              <a:t>2</a:t>
            </a:r>
            <a:r>
              <a:rPr lang="en-US" sz="2800" dirty="0" smtClean="0"/>
              <a:t> SO</a:t>
            </a:r>
            <a:r>
              <a:rPr lang="en-US" sz="2800" baseline="-25000" dirty="0" smtClean="0"/>
              <a:t>4</a:t>
            </a:r>
            <a:r>
              <a:rPr lang="en-US" sz="2800" dirty="0" smtClean="0"/>
              <a:t> + </a:t>
            </a:r>
            <a:r>
              <a:rPr lang="en-US" sz="2800" dirty="0" err="1" smtClean="0"/>
              <a:t>Ba</a:t>
            </a:r>
            <a:r>
              <a:rPr lang="en-US" sz="2800" dirty="0" smtClean="0"/>
              <a:t>(OH)</a:t>
            </a:r>
            <a:r>
              <a:rPr lang="en-US" sz="2800" baseline="-25000" dirty="0" smtClean="0"/>
              <a:t>2</a:t>
            </a:r>
            <a:r>
              <a:rPr lang="en-US" sz="2800" dirty="0" smtClean="0"/>
              <a:t> </a:t>
            </a:r>
            <a:r>
              <a:rPr lang="en-US" sz="2800" dirty="0" smtClean="0">
                <a:sym typeface="Wingdings" pitchFamily="2" charset="2"/>
              </a:rPr>
              <a:t> BaSO</a:t>
            </a:r>
            <a:r>
              <a:rPr lang="en-US" sz="2800" baseline="-25000" dirty="0" smtClean="0">
                <a:sym typeface="Wingdings" pitchFamily="2" charset="2"/>
              </a:rPr>
              <a:t>4</a:t>
            </a:r>
            <a:r>
              <a:rPr lang="en-US" sz="2800" dirty="0" smtClean="0">
                <a:sym typeface="Wingdings" pitchFamily="2" charset="2"/>
              </a:rPr>
              <a:t> + 2NaOH</a:t>
            </a:r>
          </a:p>
          <a:p>
            <a:pPr marL="514350" indent="-514350">
              <a:buNone/>
            </a:pPr>
            <a:r>
              <a:rPr lang="en-US" sz="2800" dirty="0" smtClean="0">
                <a:sym typeface="Wingdings" pitchFamily="2" charset="2"/>
              </a:rPr>
              <a:t>	</a:t>
            </a:r>
            <a:r>
              <a:rPr lang="en-US" sz="2800" dirty="0" err="1" smtClean="0">
                <a:sym typeface="Wingdings" pitchFamily="2" charset="2"/>
              </a:rPr>
              <a:t>NaCl</a:t>
            </a:r>
            <a:r>
              <a:rPr lang="en-US" sz="2800" dirty="0" smtClean="0">
                <a:sym typeface="Wingdings" pitchFamily="2" charset="2"/>
              </a:rPr>
              <a:t> +</a:t>
            </a:r>
            <a:r>
              <a:rPr lang="en-US" sz="2800" dirty="0" smtClean="0"/>
              <a:t> </a:t>
            </a:r>
            <a:r>
              <a:rPr lang="en-US" sz="2800" dirty="0" err="1" smtClean="0"/>
              <a:t>Ba</a:t>
            </a:r>
            <a:r>
              <a:rPr lang="en-US" sz="2800" dirty="0" smtClean="0"/>
              <a:t>(OH)</a:t>
            </a:r>
            <a:r>
              <a:rPr lang="en-US" sz="2800" baseline="-25000" dirty="0" smtClean="0"/>
              <a:t>2</a:t>
            </a:r>
            <a:r>
              <a:rPr lang="en-US" sz="2800" dirty="0" smtClean="0"/>
              <a:t> </a:t>
            </a:r>
            <a:r>
              <a:rPr lang="en-US" sz="2800" dirty="0" smtClean="0">
                <a:sym typeface="Wingdings" pitchFamily="2" charset="2"/>
              </a:rPr>
              <a:t> </a:t>
            </a:r>
            <a:r>
              <a:rPr lang="zh-CN" altLang="en-US" sz="2800" dirty="0" smtClean="0">
                <a:sym typeface="Wingdings" pitchFamily="2" charset="2"/>
              </a:rPr>
              <a:t>无反应</a:t>
            </a:r>
            <a:endParaRPr lang="en-US" altLang="zh-CN" sz="2800" dirty="0" smtClean="0">
              <a:sym typeface="Wingdings" pitchFamily="2" charset="2"/>
            </a:endParaRPr>
          </a:p>
          <a:p>
            <a:pPr marL="514350" indent="-514350">
              <a:buNone/>
            </a:pPr>
            <a:r>
              <a:rPr lang="en-US" sz="2800" dirty="0" smtClean="0">
                <a:sym typeface="Wingdings" pitchFamily="2" charset="2"/>
              </a:rPr>
              <a:t>	(NH</a:t>
            </a:r>
            <a:r>
              <a:rPr lang="en-US" sz="2800" baseline="-25000" dirty="0" smtClean="0">
                <a:sym typeface="Wingdings" pitchFamily="2" charset="2"/>
              </a:rPr>
              <a:t>4</a:t>
            </a:r>
            <a:r>
              <a:rPr lang="en-US" sz="2800" dirty="0" smtClean="0">
                <a:sym typeface="Wingdings" pitchFamily="2" charset="2"/>
              </a:rPr>
              <a:t>)</a:t>
            </a:r>
            <a:r>
              <a:rPr lang="en-US" sz="2800" baseline="-25000" dirty="0" smtClean="0">
                <a:sym typeface="Wingdings" pitchFamily="2" charset="2"/>
              </a:rPr>
              <a:t>2</a:t>
            </a:r>
            <a:r>
              <a:rPr lang="en-US" sz="2800" dirty="0" smtClean="0">
                <a:sym typeface="Wingdings" pitchFamily="2" charset="2"/>
              </a:rPr>
              <a:t> SO</a:t>
            </a:r>
            <a:r>
              <a:rPr lang="en-US" sz="2800" baseline="-25000" dirty="0" smtClean="0">
                <a:sym typeface="Wingdings" pitchFamily="2" charset="2"/>
              </a:rPr>
              <a:t>4</a:t>
            </a:r>
            <a:r>
              <a:rPr lang="en-US" sz="2800" dirty="0" smtClean="0">
                <a:sym typeface="Wingdings" pitchFamily="2" charset="2"/>
              </a:rPr>
              <a:t> + </a:t>
            </a:r>
            <a:r>
              <a:rPr lang="en-US" sz="2800" dirty="0" err="1" smtClean="0"/>
              <a:t>Ba</a:t>
            </a:r>
            <a:r>
              <a:rPr lang="en-US" sz="2800" dirty="0" smtClean="0"/>
              <a:t>(OH)</a:t>
            </a:r>
            <a:r>
              <a:rPr lang="en-US" sz="2800" baseline="-25000" dirty="0" smtClean="0"/>
              <a:t>2</a:t>
            </a:r>
            <a:r>
              <a:rPr lang="en-US" sz="2800" dirty="0" smtClean="0"/>
              <a:t> 	  	  </a:t>
            </a:r>
            <a:r>
              <a:rPr lang="en-US" altLang="zh-CN" sz="2800" dirty="0" smtClean="0"/>
              <a:t>BaSO</a:t>
            </a:r>
            <a:r>
              <a:rPr lang="en-US" altLang="zh-CN" sz="2800" baseline="-25000" dirty="0" smtClean="0"/>
              <a:t>4</a:t>
            </a:r>
            <a:r>
              <a:rPr lang="en-US" altLang="zh-CN" sz="2800" dirty="0" smtClean="0"/>
              <a:t> + 2 H</a:t>
            </a:r>
            <a:r>
              <a:rPr lang="en-US" altLang="zh-CN" sz="2800" baseline="-25000" dirty="0" smtClean="0"/>
              <a:t>2</a:t>
            </a:r>
            <a:r>
              <a:rPr lang="en-US" altLang="zh-CN" sz="2800" dirty="0" smtClean="0"/>
              <a:t>O + 2 NH</a:t>
            </a:r>
            <a:r>
              <a:rPr lang="en-US" altLang="zh-CN" sz="2800" baseline="-25000" dirty="0" smtClean="0"/>
              <a:t>3</a:t>
            </a:r>
            <a:endParaRPr lang="en-US" sz="2800" dirty="0" smtClean="0">
              <a:sym typeface="Wingdings" pitchFamily="2" charset="2"/>
            </a:endParaRPr>
          </a:p>
          <a:p>
            <a:pPr marL="514350" indent="-514350">
              <a:buNone/>
            </a:pPr>
            <a:r>
              <a:rPr lang="en-US" sz="2800" dirty="0" smtClean="0">
                <a:sym typeface="Wingdings" pitchFamily="2" charset="2"/>
              </a:rPr>
              <a:t>	2NH</a:t>
            </a:r>
            <a:r>
              <a:rPr lang="en-US" sz="2800" baseline="-25000" dirty="0" smtClean="0">
                <a:sym typeface="Wingdings" pitchFamily="2" charset="2"/>
              </a:rPr>
              <a:t>4</a:t>
            </a:r>
            <a:r>
              <a:rPr lang="en-US" sz="2800" dirty="0" smtClean="0">
                <a:sym typeface="Wingdings" pitchFamily="2" charset="2"/>
              </a:rPr>
              <a:t>Cl + </a:t>
            </a:r>
            <a:r>
              <a:rPr lang="en-US" sz="2800" dirty="0" err="1" smtClean="0"/>
              <a:t>Ba</a:t>
            </a:r>
            <a:r>
              <a:rPr lang="en-US" sz="2800" dirty="0" smtClean="0"/>
              <a:t>(OH)</a:t>
            </a:r>
            <a:r>
              <a:rPr lang="en-US" sz="2800" baseline="-25000" dirty="0" smtClean="0"/>
              <a:t>2</a:t>
            </a:r>
            <a:r>
              <a:rPr lang="en-US" sz="2800" dirty="0" smtClean="0"/>
              <a:t> 		BaCl</a:t>
            </a:r>
            <a:r>
              <a:rPr lang="en-US" sz="2800" baseline="-25000" dirty="0" smtClean="0"/>
              <a:t>2</a:t>
            </a:r>
            <a:r>
              <a:rPr lang="en-US" sz="2800" dirty="0" smtClean="0"/>
              <a:t> + 2</a:t>
            </a:r>
            <a:r>
              <a:rPr lang="en-US" altLang="zh-CN" sz="2800" dirty="0" smtClean="0"/>
              <a:t>H</a:t>
            </a:r>
            <a:r>
              <a:rPr lang="en-US" altLang="zh-CN" sz="2800" baseline="-25000" dirty="0" smtClean="0"/>
              <a:t>2</a:t>
            </a:r>
            <a:r>
              <a:rPr lang="en-US" altLang="zh-CN" sz="2800" dirty="0" smtClean="0"/>
              <a:t>O + 2 NH</a:t>
            </a:r>
            <a:r>
              <a:rPr lang="en-US" altLang="zh-CN" sz="2800" baseline="-25000" dirty="0" smtClean="0"/>
              <a:t>3</a:t>
            </a:r>
          </a:p>
          <a:p>
            <a:pPr>
              <a:buNone/>
            </a:pPr>
            <a:r>
              <a:rPr lang="en-US" sz="2800" dirty="0" smtClean="0">
                <a:sym typeface="Wingdings" pitchFamily="2" charset="2"/>
              </a:rPr>
              <a:t>2. </a:t>
            </a:r>
            <a:r>
              <a:rPr lang="zh-CN" altLang="en-US" sz="2800" dirty="0" smtClean="0">
                <a:sym typeface="Wingdings" pitchFamily="2" charset="2"/>
              </a:rPr>
              <a:t>不相同。</a:t>
            </a:r>
            <a:endParaRPr lang="en-US" altLang="zh-CN" sz="2800" dirty="0" smtClean="0">
              <a:sym typeface="Wingdings" pitchFamily="2" charset="2"/>
            </a:endParaRPr>
          </a:p>
          <a:p>
            <a:pPr>
              <a:buNone/>
            </a:pPr>
            <a:r>
              <a:rPr lang="en-US" altLang="zh-CN" sz="2800" dirty="0" smtClean="0">
                <a:sym typeface="Wingdings" pitchFamily="2" charset="2"/>
              </a:rPr>
              <a:t>	</a:t>
            </a:r>
            <a:r>
              <a:rPr lang="en-US" altLang="zh-CN" sz="2800" dirty="0" smtClean="0"/>
              <a:t>NH</a:t>
            </a:r>
            <a:r>
              <a:rPr lang="en-US" altLang="zh-CN" sz="2800" baseline="-25000" dirty="0" smtClean="0"/>
              <a:t>4</a:t>
            </a:r>
            <a:r>
              <a:rPr lang="en-US" altLang="zh-CN" sz="2800" dirty="0" smtClean="0"/>
              <a:t>Cl </a:t>
            </a:r>
            <a:r>
              <a:rPr lang="zh-CN" altLang="en-US" sz="2800" dirty="0" smtClean="0"/>
              <a:t>受热分解生成</a:t>
            </a:r>
            <a:r>
              <a:rPr lang="en-US" altLang="zh-CN" sz="2800" dirty="0" smtClean="0"/>
              <a:t>NH</a:t>
            </a:r>
            <a:r>
              <a:rPr lang="en-US" altLang="zh-CN" sz="2800" baseline="-25000" dirty="0" smtClean="0"/>
              <a:t>3</a:t>
            </a:r>
            <a:r>
              <a:rPr lang="zh-CN" altLang="en-US" sz="2800" dirty="0" smtClean="0"/>
              <a:t>和</a:t>
            </a:r>
            <a:r>
              <a:rPr lang="en-US" altLang="zh-CN" sz="2800" dirty="0" err="1" smtClean="0"/>
              <a:t>HCl</a:t>
            </a:r>
            <a:r>
              <a:rPr lang="zh-CN" altLang="en-US" sz="2800" dirty="0" smtClean="0"/>
              <a:t>。</a:t>
            </a:r>
            <a:r>
              <a:rPr lang="en-US" altLang="zh-CN" sz="2800" dirty="0" smtClean="0"/>
              <a:t>NH</a:t>
            </a:r>
            <a:r>
              <a:rPr lang="en-US" altLang="zh-CN" sz="2800" baseline="-25000" dirty="0" smtClean="0"/>
              <a:t>3</a:t>
            </a:r>
            <a:r>
              <a:rPr lang="zh-CN" altLang="en-US" sz="2800" dirty="0" smtClean="0"/>
              <a:t>和</a:t>
            </a:r>
            <a:r>
              <a:rPr lang="en-US" altLang="zh-CN" sz="2800" dirty="0" err="1" smtClean="0"/>
              <a:t>HCl</a:t>
            </a:r>
            <a:r>
              <a:rPr lang="zh-CN" altLang="en-US" sz="2800" dirty="0" smtClean="0"/>
              <a:t>遇冷</a:t>
            </a:r>
            <a:r>
              <a:rPr lang="zh-CN" altLang="en-US" sz="2800" dirty="0" smtClean="0">
                <a:sym typeface="Wingdings" pitchFamily="2" charset="2"/>
              </a:rPr>
              <a:t>又化合成</a:t>
            </a:r>
            <a:r>
              <a:rPr lang="en-US" altLang="zh-CN" sz="2800" dirty="0" smtClean="0"/>
              <a:t>NH</a:t>
            </a:r>
            <a:r>
              <a:rPr lang="en-US" altLang="zh-CN" sz="2800" baseline="-25000" dirty="0" smtClean="0"/>
              <a:t>4</a:t>
            </a:r>
            <a:r>
              <a:rPr lang="en-US" altLang="zh-CN" sz="2800" dirty="0" smtClean="0"/>
              <a:t> </a:t>
            </a:r>
            <a:r>
              <a:rPr lang="en-US" altLang="zh-CN" sz="2800" dirty="0" err="1" smtClean="0"/>
              <a:t>Cl</a:t>
            </a:r>
            <a:r>
              <a:rPr lang="zh-CN" altLang="en-US" sz="2800" dirty="0" smtClean="0"/>
              <a:t>是化学变化。</a:t>
            </a:r>
            <a:endParaRPr lang="en-US" altLang="zh-CN" sz="2800" dirty="0" smtClean="0"/>
          </a:p>
          <a:p>
            <a:pPr>
              <a:buNone/>
            </a:pPr>
            <a:r>
              <a:rPr lang="en-US" altLang="zh-CN" sz="2800" dirty="0" smtClean="0"/>
              <a:t>	</a:t>
            </a:r>
            <a:r>
              <a:rPr lang="zh-CN" altLang="en-US" sz="2800" dirty="0" smtClean="0"/>
              <a:t>固态碘受热升华成碘蒸气，碘蒸气凝华成固态碘是物理变化。</a:t>
            </a:r>
            <a:endParaRPr lang="en-US" altLang="zh-CN" sz="2800" dirty="0" smtClean="0"/>
          </a:p>
          <a:p>
            <a:pPr marL="514350" indent="-514350">
              <a:buNone/>
            </a:pPr>
            <a:r>
              <a:rPr lang="en-US" sz="2800" dirty="0" smtClean="0">
                <a:sym typeface="Wingdings" pitchFamily="2" charset="2"/>
              </a:rPr>
              <a:t> </a:t>
            </a:r>
            <a:r>
              <a:rPr lang="en-US" altLang="zh-CN" sz="2800" dirty="0" smtClean="0">
                <a:sym typeface="Wingdings" pitchFamily="2" charset="2"/>
              </a:rPr>
              <a:t>3. NH</a:t>
            </a:r>
            <a:r>
              <a:rPr lang="en-US" altLang="zh-CN" sz="2800" baseline="-25000" dirty="0" smtClean="0">
                <a:sym typeface="Wingdings" pitchFamily="2" charset="2"/>
              </a:rPr>
              <a:t>4</a:t>
            </a:r>
            <a:r>
              <a:rPr lang="en-US" altLang="zh-CN" sz="2800" dirty="0" smtClean="0">
                <a:sym typeface="Wingdings" pitchFamily="2" charset="2"/>
              </a:rPr>
              <a:t>Cl</a:t>
            </a:r>
          </a:p>
          <a:p>
            <a:pPr marL="514350" indent="-514350">
              <a:buNone/>
            </a:pPr>
            <a:r>
              <a:rPr lang="en-US" altLang="zh-CN" sz="2800" dirty="0" smtClean="0">
                <a:sym typeface="Wingdings" pitchFamily="2" charset="2"/>
              </a:rPr>
              <a:t>NH</a:t>
            </a:r>
            <a:r>
              <a:rPr lang="en-US" altLang="zh-CN" sz="2800" baseline="-25000" dirty="0" smtClean="0">
                <a:sym typeface="Wingdings" pitchFamily="2" charset="2"/>
              </a:rPr>
              <a:t>4</a:t>
            </a:r>
            <a:r>
              <a:rPr lang="en-US" altLang="zh-CN" sz="2800" dirty="0" smtClean="0">
                <a:sym typeface="Wingdings" pitchFamily="2" charset="2"/>
              </a:rPr>
              <a:t>Cl+ AgNO</a:t>
            </a:r>
            <a:r>
              <a:rPr lang="en-US" altLang="zh-CN" sz="2800" baseline="-25000" dirty="0" smtClean="0">
                <a:sym typeface="Wingdings" pitchFamily="2" charset="2"/>
              </a:rPr>
              <a:t>3</a:t>
            </a:r>
            <a:r>
              <a:rPr lang="en-US" altLang="zh-CN" sz="2800" dirty="0" smtClean="0">
                <a:sym typeface="Wingdings" pitchFamily="2" charset="2"/>
              </a:rPr>
              <a:t>  </a:t>
            </a:r>
            <a:r>
              <a:rPr lang="en-US" altLang="zh-CN" sz="2800" dirty="0" err="1" smtClean="0">
                <a:sym typeface="Wingdings" pitchFamily="2" charset="2"/>
              </a:rPr>
              <a:t>AgCl</a:t>
            </a:r>
            <a:r>
              <a:rPr lang="en-US" altLang="zh-CN" sz="2800" dirty="0" smtClean="0">
                <a:sym typeface="Wingdings" pitchFamily="2" charset="2"/>
              </a:rPr>
              <a:t> + NH</a:t>
            </a:r>
            <a:r>
              <a:rPr lang="en-US" altLang="zh-CN" sz="2800" baseline="-25000" dirty="0" smtClean="0">
                <a:sym typeface="Wingdings" pitchFamily="2" charset="2"/>
              </a:rPr>
              <a:t>4</a:t>
            </a:r>
            <a:r>
              <a:rPr lang="en-US" altLang="zh-CN" sz="2800" dirty="0" smtClean="0">
                <a:sym typeface="Wingdings" pitchFamily="2" charset="2"/>
              </a:rPr>
              <a:t>NO</a:t>
            </a:r>
            <a:r>
              <a:rPr lang="en-US" altLang="zh-CN" sz="2800" baseline="-25000" dirty="0" smtClean="0">
                <a:sym typeface="Wingdings" pitchFamily="2" charset="2"/>
              </a:rPr>
              <a:t>3</a:t>
            </a:r>
            <a:endParaRPr lang="en-US" altLang="zh-CN" sz="2800" dirty="0" smtClean="0">
              <a:sym typeface="Wingdings" pitchFamily="2" charset="2"/>
            </a:endParaRPr>
          </a:p>
          <a:p>
            <a:pPr marL="514350" indent="-514350">
              <a:buNone/>
            </a:pPr>
            <a:r>
              <a:rPr lang="en-US" sz="2800" dirty="0" smtClean="0">
                <a:sym typeface="Wingdings" pitchFamily="2" charset="2"/>
              </a:rPr>
              <a:t>NH</a:t>
            </a:r>
            <a:r>
              <a:rPr lang="en-US" sz="2800" baseline="-25000" dirty="0" smtClean="0">
                <a:sym typeface="Wingdings" pitchFamily="2" charset="2"/>
              </a:rPr>
              <a:t>4</a:t>
            </a:r>
            <a:r>
              <a:rPr lang="en-US" sz="2800" dirty="0" smtClean="0">
                <a:sym typeface="Wingdings" pitchFamily="2" charset="2"/>
              </a:rPr>
              <a:t>Cl + </a:t>
            </a:r>
            <a:r>
              <a:rPr lang="en-US" sz="2800" dirty="0" err="1" smtClean="0">
                <a:sym typeface="Wingdings" pitchFamily="2" charset="2"/>
              </a:rPr>
              <a:t>N</a:t>
            </a:r>
            <a:r>
              <a:rPr lang="en-US" sz="2800" dirty="0" err="1" smtClean="0"/>
              <a:t>aOH</a:t>
            </a:r>
            <a:r>
              <a:rPr lang="en-US" sz="2800" dirty="0" smtClean="0"/>
              <a:t> 		</a:t>
            </a:r>
            <a:r>
              <a:rPr lang="en-US" sz="2800" dirty="0" err="1" smtClean="0"/>
              <a:t>NaCl</a:t>
            </a:r>
            <a:r>
              <a:rPr lang="en-US" sz="2800" dirty="0" smtClean="0"/>
              <a:t> + </a:t>
            </a:r>
            <a:r>
              <a:rPr lang="en-US" altLang="zh-CN" sz="2800" dirty="0" smtClean="0"/>
              <a:t>H</a:t>
            </a:r>
            <a:r>
              <a:rPr lang="en-US" altLang="zh-CN" sz="2800" baseline="-25000" dirty="0" smtClean="0"/>
              <a:t>2</a:t>
            </a:r>
            <a:r>
              <a:rPr lang="en-US" altLang="zh-CN" sz="2800" dirty="0" smtClean="0"/>
              <a:t>O +  NH</a:t>
            </a:r>
            <a:r>
              <a:rPr lang="en-US" altLang="zh-CN" sz="2800" baseline="-25000" dirty="0" smtClean="0"/>
              <a:t>3</a:t>
            </a:r>
            <a:endParaRPr lang="en-US" sz="2800" dirty="0" smtClean="0">
              <a:sym typeface="Wingdings" pitchFamily="2" charset="2"/>
            </a:endParaRPr>
          </a:p>
        </p:txBody>
      </p:sp>
      <p:grpSp>
        <p:nvGrpSpPr>
          <p:cNvPr id="5" name="Group 4"/>
          <p:cNvGrpSpPr/>
          <p:nvPr/>
        </p:nvGrpSpPr>
        <p:grpSpPr>
          <a:xfrm>
            <a:off x="3962400" y="2209800"/>
            <a:ext cx="838200" cy="153988"/>
            <a:chOff x="3429000" y="3198812"/>
            <a:chExt cx="838200" cy="153988"/>
          </a:xfrm>
        </p:grpSpPr>
        <p:cxnSp>
          <p:nvCxnSpPr>
            <p:cNvPr id="6" name="Straight Arrow Connector 5"/>
            <p:cNvCxnSpPr/>
            <p:nvPr/>
          </p:nvCxnSpPr>
          <p:spPr bwMode="auto">
            <a:xfrm>
              <a:off x="3429000" y="3351212"/>
              <a:ext cx="8382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7" name="Isosceles Triangle 6"/>
            <p:cNvSpPr/>
            <p:nvPr/>
          </p:nvSpPr>
          <p:spPr bwMode="auto">
            <a:xfrm>
              <a:off x="3733800" y="3198812"/>
              <a:ext cx="228600" cy="152400"/>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grpSp>
      <p:grpSp>
        <p:nvGrpSpPr>
          <p:cNvPr id="8" name="Group 7"/>
          <p:cNvGrpSpPr/>
          <p:nvPr/>
        </p:nvGrpSpPr>
        <p:grpSpPr>
          <a:xfrm>
            <a:off x="3505200" y="2667000"/>
            <a:ext cx="838200" cy="153988"/>
            <a:chOff x="3429000" y="3198812"/>
            <a:chExt cx="838200" cy="153988"/>
          </a:xfrm>
        </p:grpSpPr>
        <p:cxnSp>
          <p:nvCxnSpPr>
            <p:cNvPr id="9" name="Straight Arrow Connector 8"/>
            <p:cNvCxnSpPr/>
            <p:nvPr/>
          </p:nvCxnSpPr>
          <p:spPr bwMode="auto">
            <a:xfrm>
              <a:off x="3429000" y="3351212"/>
              <a:ext cx="8382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10" name="Isosceles Triangle 9"/>
            <p:cNvSpPr/>
            <p:nvPr/>
          </p:nvSpPr>
          <p:spPr bwMode="auto">
            <a:xfrm>
              <a:off x="3733800" y="3198812"/>
              <a:ext cx="228600" cy="152400"/>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grpSp>
      <p:sp>
        <p:nvSpPr>
          <p:cNvPr id="11" name="Rounded Rectangle 10"/>
          <p:cNvSpPr/>
          <p:nvPr/>
        </p:nvSpPr>
        <p:spPr>
          <a:xfrm>
            <a:off x="3962400" y="1219200"/>
            <a:ext cx="2983149" cy="3810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
        <p:nvSpPr>
          <p:cNvPr id="12" name="Rounded Rectangle 11"/>
          <p:cNvSpPr/>
          <p:nvPr/>
        </p:nvSpPr>
        <p:spPr>
          <a:xfrm>
            <a:off x="3505200" y="1676400"/>
            <a:ext cx="2983149" cy="3810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
        <p:nvSpPr>
          <p:cNvPr id="13" name="Rounded Rectangle 12"/>
          <p:cNvSpPr/>
          <p:nvPr/>
        </p:nvSpPr>
        <p:spPr>
          <a:xfrm>
            <a:off x="4953000" y="2133600"/>
            <a:ext cx="3505200" cy="3810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
        <p:nvSpPr>
          <p:cNvPr id="14" name="Rounded Rectangle 13"/>
          <p:cNvSpPr/>
          <p:nvPr/>
        </p:nvSpPr>
        <p:spPr>
          <a:xfrm>
            <a:off x="4648200" y="2590800"/>
            <a:ext cx="3505200" cy="3810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grpSp>
        <p:nvGrpSpPr>
          <p:cNvPr id="15" name="Group 14"/>
          <p:cNvGrpSpPr/>
          <p:nvPr/>
        </p:nvGrpSpPr>
        <p:grpSpPr>
          <a:xfrm>
            <a:off x="2819400" y="6246812"/>
            <a:ext cx="838200" cy="153988"/>
            <a:chOff x="3429000" y="3198812"/>
            <a:chExt cx="838200" cy="153988"/>
          </a:xfrm>
        </p:grpSpPr>
        <p:cxnSp>
          <p:nvCxnSpPr>
            <p:cNvPr id="16" name="Straight Arrow Connector 15"/>
            <p:cNvCxnSpPr/>
            <p:nvPr/>
          </p:nvCxnSpPr>
          <p:spPr bwMode="auto">
            <a:xfrm>
              <a:off x="3429000" y="3351212"/>
              <a:ext cx="8382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17" name="Isosceles Triangle 16"/>
            <p:cNvSpPr/>
            <p:nvPr/>
          </p:nvSpPr>
          <p:spPr bwMode="auto">
            <a:xfrm>
              <a:off x="3733800" y="3198812"/>
              <a:ext cx="228600" cy="152400"/>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grpSp>
      <p:sp>
        <p:nvSpPr>
          <p:cNvPr id="18" name="Rounded Rectangle 17"/>
          <p:cNvSpPr/>
          <p:nvPr/>
        </p:nvSpPr>
        <p:spPr>
          <a:xfrm>
            <a:off x="2895600" y="5715000"/>
            <a:ext cx="2514600" cy="3810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
        <p:nvSpPr>
          <p:cNvPr id="19" name="Rounded Rectangle 18"/>
          <p:cNvSpPr/>
          <p:nvPr/>
        </p:nvSpPr>
        <p:spPr>
          <a:xfrm>
            <a:off x="3962400" y="6172200"/>
            <a:ext cx="2743200" cy="3810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linds(horizontal)">
                                      <p:cBhvr>
                                        <p:cTn id="10" dur="500"/>
                                        <p:tgtEl>
                                          <p:spTgt spid="3">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linds(horizontal)">
                                      <p:cBhvr>
                                        <p:cTn id="13" dur="500"/>
                                        <p:tgtEl>
                                          <p:spTgt spid="3">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blinds(horizontal)">
                                      <p:cBhvr>
                                        <p:cTn id="16" dur="500"/>
                                        <p:tgtEl>
                                          <p:spTgt spid="3">
                                            <p:txEl>
                                              <p:pRg st="3" end="3"/>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blinds(horizontal)">
                                      <p:cBhvr>
                                        <p:cTn id="19" dur="500"/>
                                        <p:tgtEl>
                                          <p:spTgt spid="8"/>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blinds(horizontal)">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xit" presetSubtype="10" fill="hold" grpId="0" nodeType="clickEffect">
                                  <p:stCondLst>
                                    <p:cond delay="0"/>
                                  </p:stCondLst>
                                  <p:childTnLst>
                                    <p:animEffect transition="out" filter="blinds(horizontal)">
                                      <p:cBhvr>
                                        <p:cTn id="29" dur="500"/>
                                        <p:tgtEl>
                                          <p:spTgt spid="11"/>
                                        </p:tgtEl>
                                      </p:cBhvr>
                                    </p:animEffect>
                                    <p:set>
                                      <p:cBhvr>
                                        <p:cTn id="30" dur="1" fill="hold">
                                          <p:stCondLst>
                                            <p:cond delay="499"/>
                                          </p:stCondLst>
                                        </p:cTn>
                                        <p:tgtEl>
                                          <p:spTgt spid="11"/>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3" presetClass="exit" presetSubtype="10" fill="hold" grpId="0" nodeType="clickEffect">
                                  <p:stCondLst>
                                    <p:cond delay="0"/>
                                  </p:stCondLst>
                                  <p:childTnLst>
                                    <p:animEffect transition="out" filter="blinds(horizontal)">
                                      <p:cBhvr>
                                        <p:cTn id="34" dur="500"/>
                                        <p:tgtEl>
                                          <p:spTgt spid="12"/>
                                        </p:tgtEl>
                                      </p:cBhvr>
                                    </p:animEffect>
                                    <p:set>
                                      <p:cBhvr>
                                        <p:cTn id="35" dur="1" fill="hold">
                                          <p:stCondLst>
                                            <p:cond delay="499"/>
                                          </p:stCondLst>
                                        </p:cTn>
                                        <p:tgtEl>
                                          <p:spTgt spid="12"/>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3" presetClass="exit" presetSubtype="10" fill="hold" grpId="0" nodeType="clickEffect">
                                  <p:stCondLst>
                                    <p:cond delay="0"/>
                                  </p:stCondLst>
                                  <p:childTnLst>
                                    <p:animEffect transition="out" filter="blinds(horizontal)">
                                      <p:cBhvr>
                                        <p:cTn id="39" dur="500"/>
                                        <p:tgtEl>
                                          <p:spTgt spid="13"/>
                                        </p:tgtEl>
                                      </p:cBhvr>
                                    </p:animEffect>
                                    <p:set>
                                      <p:cBhvr>
                                        <p:cTn id="40" dur="1" fill="hold">
                                          <p:stCondLst>
                                            <p:cond delay="499"/>
                                          </p:stCondLst>
                                        </p:cTn>
                                        <p:tgtEl>
                                          <p:spTgt spid="13"/>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3" presetClass="exit" presetSubtype="10" fill="hold" grpId="0" nodeType="clickEffect">
                                  <p:stCondLst>
                                    <p:cond delay="0"/>
                                  </p:stCondLst>
                                  <p:childTnLst>
                                    <p:animEffect transition="out" filter="blinds(horizontal)">
                                      <p:cBhvr>
                                        <p:cTn id="44" dur="500"/>
                                        <p:tgtEl>
                                          <p:spTgt spid="14"/>
                                        </p:tgtEl>
                                      </p:cBhvr>
                                    </p:animEffect>
                                    <p:set>
                                      <p:cBhvr>
                                        <p:cTn id="45" dur="1" fill="hold">
                                          <p:stCondLst>
                                            <p:cond delay="499"/>
                                          </p:stCondLst>
                                        </p:cTn>
                                        <p:tgtEl>
                                          <p:spTgt spid="14"/>
                                        </p:tgtEl>
                                        <p:attrNameLst>
                                          <p:attrName>style.visibility</p:attrName>
                                        </p:attrNameLst>
                                      </p:cBhvr>
                                      <p:to>
                                        <p:strVal val="hidden"/>
                                      </p:to>
                                    </p:se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3">
                                            <p:txEl>
                                              <p:pRg st="5" end="5"/>
                                            </p:txEl>
                                          </p:spTgt>
                                        </p:tgtEl>
                                        <p:attrNameLst>
                                          <p:attrName>style.visibility</p:attrName>
                                        </p:attrNameLst>
                                      </p:cBhvr>
                                      <p:to>
                                        <p:strVal val="visible"/>
                                      </p:to>
                                    </p:set>
                                    <p:animEffect transition="in" filter="blinds(horizontal)">
                                      <p:cBhvr>
                                        <p:cTn id="50" dur="500"/>
                                        <p:tgtEl>
                                          <p:spTgt spid="3">
                                            <p:txEl>
                                              <p:pRg st="5" end="5"/>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3">
                                            <p:txEl>
                                              <p:pRg st="6" end="6"/>
                                            </p:txEl>
                                          </p:spTgt>
                                        </p:tgtEl>
                                        <p:attrNameLst>
                                          <p:attrName>style.visibility</p:attrName>
                                        </p:attrNameLst>
                                      </p:cBhvr>
                                      <p:to>
                                        <p:strVal val="visible"/>
                                      </p:to>
                                    </p:set>
                                    <p:animEffect transition="in" filter="blinds(horizontal)">
                                      <p:cBhvr>
                                        <p:cTn id="55" dur="500"/>
                                        <p:tgtEl>
                                          <p:spTgt spid="3">
                                            <p:txEl>
                                              <p:pRg st="6" end="6"/>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3">
                                            <p:txEl>
                                              <p:pRg st="7" end="7"/>
                                            </p:txEl>
                                          </p:spTgt>
                                        </p:tgtEl>
                                        <p:attrNameLst>
                                          <p:attrName>style.visibility</p:attrName>
                                        </p:attrNameLst>
                                      </p:cBhvr>
                                      <p:to>
                                        <p:strVal val="visible"/>
                                      </p:to>
                                    </p:set>
                                    <p:animEffect transition="in" filter="blinds(horizontal)">
                                      <p:cBhvr>
                                        <p:cTn id="60" dur="500"/>
                                        <p:tgtEl>
                                          <p:spTgt spid="3">
                                            <p:txEl>
                                              <p:pRg st="7" end="7"/>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grpId="0" nodeType="clickEffect">
                                  <p:stCondLst>
                                    <p:cond delay="0"/>
                                  </p:stCondLst>
                                  <p:childTnLst>
                                    <p:set>
                                      <p:cBhvr>
                                        <p:cTn id="64" dur="1" fill="hold">
                                          <p:stCondLst>
                                            <p:cond delay="0"/>
                                          </p:stCondLst>
                                        </p:cTn>
                                        <p:tgtEl>
                                          <p:spTgt spid="3">
                                            <p:txEl>
                                              <p:pRg st="8" end="8"/>
                                            </p:txEl>
                                          </p:spTgt>
                                        </p:tgtEl>
                                        <p:attrNameLst>
                                          <p:attrName>style.visibility</p:attrName>
                                        </p:attrNameLst>
                                      </p:cBhvr>
                                      <p:to>
                                        <p:strVal val="visible"/>
                                      </p:to>
                                    </p:set>
                                    <p:animEffect transition="in" filter="blinds(horizontal)">
                                      <p:cBhvr>
                                        <p:cTn id="65" dur="500"/>
                                        <p:tgtEl>
                                          <p:spTgt spid="3">
                                            <p:txEl>
                                              <p:pRg st="8" end="8"/>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grpId="0"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Effect transition="in" filter="blinds(horizontal)">
                                      <p:cBhvr>
                                        <p:cTn id="70" dur="500"/>
                                        <p:tgtEl>
                                          <p:spTgt spid="3">
                                            <p:txEl>
                                              <p:pRg st="9" end="9"/>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3" presetClass="entr" presetSubtype="10" fill="hold" grpId="0" nodeType="clickEffect">
                                  <p:stCondLst>
                                    <p:cond delay="0"/>
                                  </p:stCondLst>
                                  <p:childTnLst>
                                    <p:set>
                                      <p:cBhvr>
                                        <p:cTn id="74" dur="1" fill="hold">
                                          <p:stCondLst>
                                            <p:cond delay="0"/>
                                          </p:stCondLst>
                                        </p:cTn>
                                        <p:tgtEl>
                                          <p:spTgt spid="3">
                                            <p:txEl>
                                              <p:pRg st="10" end="10"/>
                                            </p:txEl>
                                          </p:spTgt>
                                        </p:tgtEl>
                                        <p:attrNameLst>
                                          <p:attrName>style.visibility</p:attrName>
                                        </p:attrNameLst>
                                      </p:cBhvr>
                                      <p:to>
                                        <p:strVal val="visible"/>
                                      </p:to>
                                    </p:set>
                                    <p:animEffect transition="in" filter="blinds(horizontal)">
                                      <p:cBhvr>
                                        <p:cTn id="75" dur="500"/>
                                        <p:tgtEl>
                                          <p:spTgt spid="3">
                                            <p:txEl>
                                              <p:pRg st="10" end="10"/>
                                            </p:txEl>
                                          </p:spTgt>
                                        </p:tgtEl>
                                      </p:cBhvr>
                                    </p:animEffect>
                                  </p:childTnLst>
                                </p:cTn>
                              </p:par>
                              <p:par>
                                <p:cTn id="76" presetID="3" presetClass="entr" presetSubtype="10" fill="hold" nodeType="withEffect">
                                  <p:stCondLst>
                                    <p:cond delay="0"/>
                                  </p:stCondLst>
                                  <p:childTnLst>
                                    <p:set>
                                      <p:cBhvr>
                                        <p:cTn id="77" dur="1" fill="hold">
                                          <p:stCondLst>
                                            <p:cond delay="0"/>
                                          </p:stCondLst>
                                        </p:cTn>
                                        <p:tgtEl>
                                          <p:spTgt spid="15"/>
                                        </p:tgtEl>
                                        <p:attrNameLst>
                                          <p:attrName>style.visibility</p:attrName>
                                        </p:attrNameLst>
                                      </p:cBhvr>
                                      <p:to>
                                        <p:strVal val="visible"/>
                                      </p:to>
                                    </p:set>
                                    <p:animEffect transition="in" filter="blinds(horizontal)">
                                      <p:cBhvr>
                                        <p:cTn id="78" dur="500"/>
                                        <p:tgtEl>
                                          <p:spTgt spid="15"/>
                                        </p:tgtEl>
                                      </p:cBhvr>
                                    </p:animEffect>
                                  </p:childTnLst>
                                </p:cTn>
                              </p:par>
                            </p:childTnLst>
                          </p:cTn>
                        </p:par>
                      </p:childTnLst>
                    </p:cTn>
                  </p:par>
                  <p:par>
                    <p:cTn id="79" fill="hold">
                      <p:stCondLst>
                        <p:cond delay="indefinite"/>
                      </p:stCondLst>
                      <p:childTnLst>
                        <p:par>
                          <p:cTn id="80" fill="hold">
                            <p:stCondLst>
                              <p:cond delay="0"/>
                            </p:stCondLst>
                            <p:childTnLst>
                              <p:par>
                                <p:cTn id="81" presetID="3" presetClass="exit" presetSubtype="10" fill="hold" grpId="0" nodeType="clickEffect">
                                  <p:stCondLst>
                                    <p:cond delay="0"/>
                                  </p:stCondLst>
                                  <p:childTnLst>
                                    <p:animEffect transition="out" filter="blinds(horizontal)">
                                      <p:cBhvr>
                                        <p:cTn id="82" dur="500"/>
                                        <p:tgtEl>
                                          <p:spTgt spid="18"/>
                                        </p:tgtEl>
                                      </p:cBhvr>
                                    </p:animEffect>
                                    <p:set>
                                      <p:cBhvr>
                                        <p:cTn id="83" dur="1" fill="hold">
                                          <p:stCondLst>
                                            <p:cond delay="499"/>
                                          </p:stCondLst>
                                        </p:cTn>
                                        <p:tgtEl>
                                          <p:spTgt spid="18"/>
                                        </p:tgtEl>
                                        <p:attrNameLst>
                                          <p:attrName>style.visibility</p:attrName>
                                        </p:attrNameLst>
                                      </p:cBhvr>
                                      <p:to>
                                        <p:strVal val="hidden"/>
                                      </p:to>
                                    </p:set>
                                  </p:childTnLst>
                                </p:cTn>
                              </p:par>
                            </p:childTnLst>
                          </p:cTn>
                        </p:par>
                      </p:childTnLst>
                    </p:cTn>
                  </p:par>
                  <p:par>
                    <p:cTn id="84" fill="hold">
                      <p:stCondLst>
                        <p:cond delay="indefinite"/>
                      </p:stCondLst>
                      <p:childTnLst>
                        <p:par>
                          <p:cTn id="85" fill="hold">
                            <p:stCondLst>
                              <p:cond delay="0"/>
                            </p:stCondLst>
                            <p:childTnLst>
                              <p:par>
                                <p:cTn id="86" presetID="3" presetClass="exit" presetSubtype="10" fill="hold" grpId="0" nodeType="clickEffect">
                                  <p:stCondLst>
                                    <p:cond delay="0"/>
                                  </p:stCondLst>
                                  <p:childTnLst>
                                    <p:animEffect transition="out" filter="blinds(horizontal)">
                                      <p:cBhvr>
                                        <p:cTn id="87" dur="500"/>
                                        <p:tgtEl>
                                          <p:spTgt spid="19"/>
                                        </p:tgtEl>
                                      </p:cBhvr>
                                    </p:animEffect>
                                    <p:set>
                                      <p:cBhvr>
                                        <p:cTn id="88"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1" grpId="0" animBg="1"/>
      <p:bldP spid="12" grpId="0" animBg="1"/>
      <p:bldP spid="13" grpId="0" animBg="1"/>
      <p:bldP spid="14" grpId="0" animBg="1"/>
      <p:bldP spid="18" grpId="0" animBg="1"/>
      <p:bldP spid="19"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en-US" altLang="zh-CN" dirty="0" smtClean="0"/>
              <a:t>13.7 </a:t>
            </a:r>
            <a:r>
              <a:rPr lang="zh-CN" altLang="en-US" dirty="0" smtClean="0"/>
              <a:t>磷及其重要化合物</a:t>
            </a:r>
            <a:endParaRPr lang="en-US" dirty="0"/>
          </a:p>
        </p:txBody>
      </p:sp>
      <p:sp>
        <p:nvSpPr>
          <p:cNvPr id="3" name="Content Placeholder 2"/>
          <p:cNvSpPr>
            <a:spLocks noGrp="1"/>
          </p:cNvSpPr>
          <p:nvPr>
            <p:ph idx="1"/>
          </p:nvPr>
        </p:nvSpPr>
        <p:spPr>
          <a:xfrm>
            <a:off x="457200" y="1219200"/>
            <a:ext cx="8229600" cy="5486400"/>
          </a:xfrm>
        </p:spPr>
        <p:txBody>
          <a:bodyPr/>
          <a:lstStyle/>
          <a:p>
            <a:pPr>
              <a:buNone/>
            </a:pPr>
            <a:r>
              <a:rPr lang="en-US" altLang="zh-CN" dirty="0" smtClean="0"/>
              <a:t>13.7.1 </a:t>
            </a:r>
            <a:r>
              <a:rPr lang="zh-CN" altLang="en-US" dirty="0" smtClean="0"/>
              <a:t>磷</a:t>
            </a:r>
            <a:endParaRPr lang="en-US" altLang="zh-CN" dirty="0" smtClean="0"/>
          </a:p>
          <a:p>
            <a:pPr>
              <a:buFont typeface="Wingdings" pitchFamily="2" charset="2"/>
              <a:buChar char="Ø"/>
            </a:pPr>
            <a:r>
              <a:rPr lang="zh-CN" altLang="en-US" dirty="0" smtClean="0"/>
              <a:t>在地壳中主要以磷酸盐的形式存在。</a:t>
            </a:r>
            <a:endParaRPr lang="en-US" altLang="zh-CN" dirty="0" smtClean="0"/>
          </a:p>
          <a:p>
            <a:pPr>
              <a:buFont typeface="Wingdings" pitchFamily="2" charset="2"/>
              <a:buChar char="Ø"/>
            </a:pPr>
            <a:r>
              <a:rPr lang="zh-CN" altLang="en-US" dirty="0" smtClean="0"/>
              <a:t>在生物圈分布也很广。</a:t>
            </a:r>
            <a:endParaRPr lang="en-US" altLang="zh-CN" dirty="0" smtClean="0"/>
          </a:p>
          <a:p>
            <a:pPr>
              <a:buFont typeface="Wingdings" pitchFamily="2" charset="2"/>
              <a:buChar char="Ø"/>
            </a:pPr>
            <a:r>
              <a:rPr lang="zh-CN" altLang="en-US" dirty="0" smtClean="0"/>
              <a:t>磷的同素异形体有：</a:t>
            </a:r>
            <a:endParaRPr lang="en-US" altLang="zh-CN" dirty="0" smtClean="0"/>
          </a:p>
          <a:p>
            <a:pPr>
              <a:buNone/>
            </a:pPr>
            <a:r>
              <a:rPr lang="en-US" altLang="zh-CN" dirty="0" smtClean="0"/>
              <a:t>	</a:t>
            </a:r>
            <a:r>
              <a:rPr lang="zh-CN" altLang="en-US" dirty="0" smtClean="0"/>
              <a:t>白磷</a:t>
            </a:r>
            <a:r>
              <a:rPr lang="en-US" altLang="zh-CN" dirty="0" smtClean="0"/>
              <a:t>(</a:t>
            </a:r>
            <a:r>
              <a:rPr lang="zh-CN" altLang="en-US" dirty="0" smtClean="0"/>
              <a:t>黄磷</a:t>
            </a:r>
            <a:r>
              <a:rPr lang="en-US" altLang="zh-CN" dirty="0" smtClean="0"/>
              <a:t>)</a:t>
            </a:r>
            <a:r>
              <a:rPr lang="zh-CN" altLang="en-US" dirty="0" smtClean="0"/>
              <a:t>、红磷</a:t>
            </a:r>
            <a:r>
              <a:rPr lang="en-US" altLang="zh-CN" dirty="0" smtClean="0"/>
              <a:t>(</a:t>
            </a:r>
            <a:r>
              <a:rPr lang="zh-CN" altLang="en-US" dirty="0" smtClean="0"/>
              <a:t>赤磷</a:t>
            </a:r>
            <a:r>
              <a:rPr lang="en-US" altLang="zh-CN" dirty="0" smtClean="0"/>
              <a:t>)</a:t>
            </a:r>
            <a:r>
              <a:rPr lang="zh-CN" altLang="en-US" dirty="0" smtClean="0"/>
              <a:t>、黑磷、紫磷</a:t>
            </a:r>
            <a:endParaRPr lang="en-US" altLang="zh-CN" dirty="0" smtClean="0"/>
          </a:p>
          <a:p>
            <a:pPr>
              <a:buNone/>
            </a:pPr>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885261" y="4398672"/>
            <a:ext cx="2257184" cy="2149699"/>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xmlns="" val="0"/>
              </a:ext>
            </a:extLst>
          </a:blip>
          <a:stretch>
            <a:fillRect/>
          </a:stretch>
        </p:blipFill>
        <p:spPr>
          <a:xfrm>
            <a:off x="4561252" y="4241441"/>
            <a:ext cx="3245759" cy="2464159"/>
          </a:xfrm>
          <a:prstGeom prst="rect">
            <a:avLst/>
          </a:prstGeom>
        </p:spPr>
      </p:pic>
      <p:pic>
        <p:nvPicPr>
          <p:cNvPr id="7" name="Picture 6" descr="bb.jpeg"/>
          <p:cNvPicPr>
            <a:picLocks noChangeAspect="1"/>
          </p:cNvPicPr>
          <p:nvPr/>
        </p:nvPicPr>
        <p:blipFill>
          <a:blip r:embed="rId5"/>
          <a:srcRect l="11134" t="18772" r="5979" b="9159"/>
          <a:stretch>
            <a:fillRect/>
          </a:stretch>
        </p:blipFill>
        <p:spPr>
          <a:xfrm>
            <a:off x="533400" y="914400"/>
            <a:ext cx="3429000" cy="3048000"/>
          </a:xfrm>
          <a:prstGeom prst="rect">
            <a:avLst/>
          </a:prstGeom>
        </p:spPr>
      </p:pic>
      <p:pic>
        <p:nvPicPr>
          <p:cNvPr id="8" name="Picture 7" descr="hh.jpg"/>
          <p:cNvPicPr>
            <a:picLocks noChangeAspect="1"/>
          </p:cNvPicPr>
          <p:nvPr/>
        </p:nvPicPr>
        <p:blipFill>
          <a:blip r:embed="rId6"/>
          <a:stretch>
            <a:fillRect/>
          </a:stretch>
        </p:blipFill>
        <p:spPr>
          <a:xfrm>
            <a:off x="4329300" y="914400"/>
            <a:ext cx="3521681" cy="297180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1000"/>
                                        <p:tgtEl>
                                          <p:spTgt spid="5"/>
                                        </p:tgtEl>
                                      </p:cBhvr>
                                    </p:animEffect>
                                    <p:anim calcmode="lin" valueType="num">
                                      <p:cBhvr>
                                        <p:cTn id="33" dur="1000" fill="hold"/>
                                        <p:tgtEl>
                                          <p:spTgt spid="5"/>
                                        </p:tgtEl>
                                        <p:attrNameLst>
                                          <p:attrName>ppt_x</p:attrName>
                                        </p:attrNameLst>
                                      </p:cBhvr>
                                      <p:tavLst>
                                        <p:tav tm="0">
                                          <p:val>
                                            <p:strVal val="#ppt_x"/>
                                          </p:val>
                                        </p:tav>
                                        <p:tav tm="100000">
                                          <p:val>
                                            <p:strVal val="#ppt_x"/>
                                          </p:val>
                                        </p:tav>
                                      </p:tavLst>
                                    </p:anim>
                                    <p:anim calcmode="lin" valueType="num">
                                      <p:cBhvr>
                                        <p:cTn id="3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nodeType="click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barn(inVertical)">
                                      <p:cBhvr>
                                        <p:cTn id="39" dur="500"/>
                                        <p:tgtEl>
                                          <p:spTgt spid="6"/>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nodeType="click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blinds(horizontal)">
                                      <p:cBhvr>
                                        <p:cTn id="44" dur="500"/>
                                        <p:tgtEl>
                                          <p:spTgt spid="7"/>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nodeType="click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blinds(horizontal)">
                                      <p:cBhvr>
                                        <p:cTn id="4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zh-CN" altLang="en-US" dirty="0" smtClean="0"/>
              <a:t>表</a:t>
            </a:r>
            <a:r>
              <a:rPr lang="en-US" altLang="zh-CN" dirty="0" smtClean="0"/>
              <a:t>13-8</a:t>
            </a:r>
            <a:endParaRPr lang="en-US" dirty="0"/>
          </a:p>
        </p:txBody>
      </p:sp>
      <p:sp>
        <p:nvSpPr>
          <p:cNvPr id="3" name="Content Placeholder 2"/>
          <p:cNvSpPr>
            <a:spLocks noGrp="1"/>
          </p:cNvSpPr>
          <p:nvPr>
            <p:ph idx="1"/>
          </p:nvPr>
        </p:nvSpPr>
        <p:spPr>
          <a:xfrm>
            <a:off x="457200" y="1219200"/>
            <a:ext cx="8229600" cy="5486400"/>
          </a:xfrm>
        </p:spPr>
        <p:txBody>
          <a:bodyPr/>
          <a:lstStyle/>
          <a:p>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xmlns="" val="1073861494"/>
              </p:ext>
            </p:extLst>
          </p:nvPr>
        </p:nvGraphicFramePr>
        <p:xfrm>
          <a:off x="304800" y="914399"/>
          <a:ext cx="8686800" cy="5638800"/>
        </p:xfrm>
        <a:graphic>
          <a:graphicData uri="http://schemas.openxmlformats.org/drawingml/2006/table">
            <a:tbl>
              <a:tblPr firstRow="1" bandRow="1">
                <a:tableStyleId>{5C22544A-7EE6-4342-B048-85BDC9FD1C3A}</a:tableStyleId>
              </a:tblPr>
              <a:tblGrid>
                <a:gridCol w="1508815"/>
                <a:gridCol w="3984907"/>
                <a:gridCol w="3193078"/>
              </a:tblGrid>
              <a:tr h="508057">
                <a:tc>
                  <a:txBody>
                    <a:bodyPr/>
                    <a:lstStyle/>
                    <a:p>
                      <a:pPr algn="ctr"/>
                      <a:r>
                        <a:rPr lang="zh-CN" altLang="en-US" sz="2300" b="1" dirty="0" smtClean="0"/>
                        <a:t>性质</a:t>
                      </a:r>
                      <a:endParaRPr lang="en-US" sz="2300" b="1" dirty="0"/>
                    </a:p>
                  </a:txBody>
                  <a:tcPr marL="68580" marR="68580"/>
                </a:tc>
                <a:tc>
                  <a:txBody>
                    <a:bodyPr/>
                    <a:lstStyle/>
                    <a:p>
                      <a:pPr algn="ctr"/>
                      <a:r>
                        <a:rPr lang="zh-CN" altLang="en-US" sz="2300" b="1" dirty="0" smtClean="0"/>
                        <a:t>白磷</a:t>
                      </a:r>
                      <a:endParaRPr lang="en-US" sz="2300" b="1" dirty="0"/>
                    </a:p>
                  </a:txBody>
                  <a:tcPr marL="68580" marR="68580"/>
                </a:tc>
                <a:tc>
                  <a:txBody>
                    <a:bodyPr/>
                    <a:lstStyle/>
                    <a:p>
                      <a:pPr algn="ctr"/>
                      <a:r>
                        <a:rPr lang="zh-CN" altLang="en-US" sz="2300" b="1" dirty="0" smtClean="0"/>
                        <a:t>红磷</a:t>
                      </a:r>
                      <a:endParaRPr lang="en-US" sz="2300" b="1" dirty="0"/>
                    </a:p>
                  </a:txBody>
                  <a:tcPr marL="68580" marR="68580"/>
                </a:tc>
              </a:tr>
              <a:tr h="558230">
                <a:tc>
                  <a:txBody>
                    <a:bodyPr/>
                    <a:lstStyle/>
                    <a:p>
                      <a:pPr algn="ctr"/>
                      <a:r>
                        <a:rPr lang="zh-CN" altLang="en-US" sz="2300" b="1" dirty="0" smtClean="0">
                          <a:solidFill>
                            <a:schemeClr val="tx1"/>
                          </a:solidFill>
                        </a:rPr>
                        <a:t>颜色状态</a:t>
                      </a:r>
                      <a:endParaRPr lang="en-US" sz="2300" b="1" dirty="0">
                        <a:solidFill>
                          <a:schemeClr val="tx1"/>
                        </a:solidFill>
                      </a:endParaRPr>
                    </a:p>
                  </a:txBody>
                  <a:tcPr marL="68580" marR="68580"/>
                </a:tc>
                <a:tc>
                  <a:txBody>
                    <a:bodyPr/>
                    <a:lstStyle/>
                    <a:p>
                      <a:pPr algn="ctr"/>
                      <a:r>
                        <a:rPr lang="zh-CN" altLang="en-US" sz="2300" b="1" dirty="0" smtClean="0">
                          <a:solidFill>
                            <a:schemeClr val="tx1"/>
                          </a:solidFill>
                        </a:rPr>
                        <a:t>无色（厚层是淡黄色）蜡状物</a:t>
                      </a:r>
                      <a:endParaRPr lang="en-US" sz="2300" b="1" dirty="0">
                        <a:solidFill>
                          <a:schemeClr val="tx1"/>
                        </a:solidFill>
                      </a:endParaRPr>
                    </a:p>
                  </a:txBody>
                  <a:tcPr marL="68580" marR="68580"/>
                </a:tc>
                <a:tc>
                  <a:txBody>
                    <a:bodyPr/>
                    <a:lstStyle/>
                    <a:p>
                      <a:pPr algn="ctr"/>
                      <a:r>
                        <a:rPr lang="zh-CN" altLang="en-US" sz="2300" b="1" dirty="0" smtClean="0">
                          <a:solidFill>
                            <a:schemeClr val="tx1"/>
                          </a:solidFill>
                        </a:rPr>
                        <a:t>深红色粉末</a:t>
                      </a:r>
                      <a:endParaRPr lang="en-US" sz="2300" b="1" dirty="0">
                        <a:solidFill>
                          <a:schemeClr val="tx1"/>
                        </a:solidFill>
                      </a:endParaRPr>
                    </a:p>
                  </a:txBody>
                  <a:tcPr marL="68580" marR="68580"/>
                </a:tc>
              </a:tr>
              <a:tr h="508057">
                <a:tc>
                  <a:txBody>
                    <a:bodyPr/>
                    <a:lstStyle/>
                    <a:p>
                      <a:pPr algn="ctr"/>
                      <a:r>
                        <a:rPr lang="zh-CN" altLang="en-US" sz="2300" b="1" dirty="0" smtClean="0">
                          <a:solidFill>
                            <a:schemeClr val="tx1"/>
                          </a:solidFill>
                        </a:rPr>
                        <a:t>气味</a:t>
                      </a:r>
                      <a:endParaRPr lang="en-US" sz="2300" b="1" dirty="0">
                        <a:solidFill>
                          <a:schemeClr val="tx1"/>
                        </a:solidFill>
                      </a:endParaRPr>
                    </a:p>
                  </a:txBody>
                  <a:tcPr marL="68580" marR="68580"/>
                </a:tc>
                <a:tc>
                  <a:txBody>
                    <a:bodyPr/>
                    <a:lstStyle/>
                    <a:p>
                      <a:pPr algn="ctr"/>
                      <a:r>
                        <a:rPr lang="zh-CN" altLang="en-US" sz="2300" b="1" dirty="0" smtClean="0">
                          <a:solidFill>
                            <a:schemeClr val="tx1"/>
                          </a:solidFill>
                        </a:rPr>
                        <a:t>具有蒜臭</a:t>
                      </a:r>
                      <a:endParaRPr lang="en-US" sz="2300" b="1" dirty="0">
                        <a:solidFill>
                          <a:schemeClr val="tx1"/>
                        </a:solidFill>
                      </a:endParaRPr>
                    </a:p>
                  </a:txBody>
                  <a:tcPr marL="68580" marR="68580"/>
                </a:tc>
                <a:tc>
                  <a:txBody>
                    <a:bodyPr/>
                    <a:lstStyle/>
                    <a:p>
                      <a:pPr algn="ctr"/>
                      <a:r>
                        <a:rPr lang="zh-CN" altLang="en-US" sz="2300" b="1" dirty="0" smtClean="0">
                          <a:solidFill>
                            <a:schemeClr val="tx1"/>
                          </a:solidFill>
                        </a:rPr>
                        <a:t>无臭</a:t>
                      </a:r>
                      <a:endParaRPr lang="en-US" sz="2300" b="1" dirty="0">
                        <a:solidFill>
                          <a:schemeClr val="tx1"/>
                        </a:solidFill>
                      </a:endParaRPr>
                    </a:p>
                  </a:txBody>
                  <a:tcPr marL="68580" marR="68580"/>
                </a:tc>
              </a:tr>
              <a:tr h="508057">
                <a:tc>
                  <a:txBody>
                    <a:bodyPr/>
                    <a:lstStyle/>
                    <a:p>
                      <a:pPr algn="ctr"/>
                      <a:r>
                        <a:rPr lang="zh-CN" altLang="en-US" sz="2300" b="1" dirty="0" smtClean="0">
                          <a:solidFill>
                            <a:srgbClr val="FF0000"/>
                          </a:solidFill>
                        </a:rPr>
                        <a:t>溶解性</a:t>
                      </a:r>
                      <a:endParaRPr lang="en-US" sz="2300" b="1" dirty="0">
                        <a:solidFill>
                          <a:srgbClr val="FF0000"/>
                        </a:solidFill>
                      </a:endParaRPr>
                    </a:p>
                  </a:txBody>
                  <a:tcPr marL="68580" marR="68580"/>
                </a:tc>
                <a:tc>
                  <a:txBody>
                    <a:bodyPr/>
                    <a:lstStyle/>
                    <a:p>
                      <a:pPr algn="ctr"/>
                      <a:r>
                        <a:rPr lang="zh-CN" altLang="en-US" sz="2300" b="1" dirty="0" smtClean="0">
                          <a:solidFill>
                            <a:schemeClr val="tx1"/>
                          </a:solidFill>
                        </a:rPr>
                        <a:t>不溶于水，易溶于</a:t>
                      </a:r>
                      <a:r>
                        <a:rPr lang="en-US" altLang="zh-CN" sz="2300" b="1" dirty="0" smtClean="0">
                          <a:solidFill>
                            <a:schemeClr val="tx1"/>
                          </a:solidFill>
                        </a:rPr>
                        <a:t>CS₂</a:t>
                      </a:r>
                      <a:endParaRPr lang="en-US" sz="2300" b="1" dirty="0">
                        <a:solidFill>
                          <a:schemeClr val="tx1"/>
                        </a:solidFill>
                      </a:endParaRPr>
                    </a:p>
                  </a:txBody>
                  <a:tcPr marL="68580" marR="68580"/>
                </a:tc>
                <a:tc>
                  <a:txBody>
                    <a:bodyPr/>
                    <a:lstStyle/>
                    <a:p>
                      <a:pPr algn="ctr"/>
                      <a:r>
                        <a:rPr lang="zh-CN" altLang="en-US" sz="2300" b="1" dirty="0" smtClean="0">
                          <a:solidFill>
                            <a:schemeClr val="tx1"/>
                          </a:solidFill>
                        </a:rPr>
                        <a:t>不溶于水，也不溶于</a:t>
                      </a:r>
                      <a:r>
                        <a:rPr lang="en-US" altLang="zh-CN" sz="2300" b="1" dirty="0" smtClean="0">
                          <a:solidFill>
                            <a:schemeClr val="tx1"/>
                          </a:solidFill>
                        </a:rPr>
                        <a:t>CS₂</a:t>
                      </a:r>
                      <a:endParaRPr lang="en-US" sz="2300" b="1" dirty="0">
                        <a:solidFill>
                          <a:schemeClr val="tx1"/>
                        </a:solidFill>
                      </a:endParaRPr>
                    </a:p>
                  </a:txBody>
                  <a:tcPr marL="68580" marR="68580"/>
                </a:tc>
              </a:tr>
              <a:tr h="508057">
                <a:tc>
                  <a:txBody>
                    <a:bodyPr/>
                    <a:lstStyle/>
                    <a:p>
                      <a:pPr algn="ctr"/>
                      <a:r>
                        <a:rPr lang="zh-CN" altLang="en-US" sz="2300" b="1" dirty="0" smtClean="0">
                          <a:solidFill>
                            <a:schemeClr val="tx1"/>
                          </a:solidFill>
                        </a:rPr>
                        <a:t>熔点</a:t>
                      </a:r>
                      <a:endParaRPr lang="en-US" sz="2300" b="1" dirty="0">
                        <a:solidFill>
                          <a:schemeClr val="tx1"/>
                        </a:solidFill>
                      </a:endParaRPr>
                    </a:p>
                  </a:txBody>
                  <a:tcPr marL="68580" marR="6858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300" b="1" dirty="0" smtClean="0">
                          <a:solidFill>
                            <a:schemeClr val="tx1"/>
                          </a:solidFill>
                        </a:rPr>
                        <a:t>44</a:t>
                      </a:r>
                      <a:r>
                        <a:rPr lang="en-US" altLang="zh-CN" sz="2300" b="1" dirty="0" smtClean="0"/>
                        <a:t>⁰C</a:t>
                      </a:r>
                      <a:endParaRPr lang="en-US" sz="2300" b="1" dirty="0" smtClean="0"/>
                    </a:p>
                  </a:txBody>
                  <a:tcPr marL="68580" marR="68580"/>
                </a:tc>
                <a:tc>
                  <a:txBody>
                    <a:bodyPr/>
                    <a:lstStyle/>
                    <a:p>
                      <a:pPr algn="ctr"/>
                      <a:r>
                        <a:rPr lang="en-US" altLang="zh-CN" sz="2300" b="1" dirty="0" smtClean="0">
                          <a:solidFill>
                            <a:schemeClr val="tx1"/>
                          </a:solidFill>
                        </a:rPr>
                        <a:t>-</a:t>
                      </a:r>
                      <a:endParaRPr lang="en-US" sz="2300" b="1" dirty="0">
                        <a:solidFill>
                          <a:schemeClr val="tx1"/>
                        </a:solidFill>
                      </a:endParaRPr>
                    </a:p>
                  </a:txBody>
                  <a:tcPr marL="68580" marR="68580"/>
                </a:tc>
              </a:tr>
              <a:tr h="508057">
                <a:tc>
                  <a:txBody>
                    <a:bodyPr/>
                    <a:lstStyle/>
                    <a:p>
                      <a:pPr algn="ctr"/>
                      <a:r>
                        <a:rPr lang="zh-CN" altLang="en-US" sz="2300" b="1" dirty="0" smtClean="0">
                          <a:solidFill>
                            <a:schemeClr val="tx1"/>
                          </a:solidFill>
                        </a:rPr>
                        <a:t>沸点</a:t>
                      </a:r>
                      <a:endParaRPr lang="en-US" sz="2300" b="1" dirty="0">
                        <a:solidFill>
                          <a:schemeClr val="tx1"/>
                        </a:solidFill>
                      </a:endParaRPr>
                    </a:p>
                  </a:txBody>
                  <a:tcPr marL="68580" marR="6858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300" b="1" dirty="0" smtClean="0">
                          <a:solidFill>
                            <a:schemeClr val="tx1"/>
                          </a:solidFill>
                        </a:rPr>
                        <a:t>281</a:t>
                      </a:r>
                      <a:r>
                        <a:rPr lang="en-US" altLang="zh-CN" sz="2300" b="1" dirty="0" smtClean="0"/>
                        <a:t>⁰C</a:t>
                      </a:r>
                    </a:p>
                  </a:txBody>
                  <a:tcPr marL="68580" marR="6858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300" b="1" dirty="0" smtClean="0">
                          <a:solidFill>
                            <a:schemeClr val="tx1"/>
                          </a:solidFill>
                        </a:rPr>
                        <a:t>416</a:t>
                      </a:r>
                      <a:r>
                        <a:rPr lang="en-US" altLang="zh-CN" sz="2300" b="1" dirty="0" smtClean="0"/>
                        <a:t>⁰C</a:t>
                      </a:r>
                      <a:r>
                        <a:rPr lang="zh-CN" altLang="en-US" sz="2300" b="1" dirty="0" smtClean="0">
                          <a:solidFill>
                            <a:schemeClr val="tx1"/>
                          </a:solidFill>
                        </a:rPr>
                        <a:t>升华</a:t>
                      </a:r>
                      <a:endParaRPr lang="en-US" sz="2300" b="1" dirty="0">
                        <a:solidFill>
                          <a:schemeClr val="tx1"/>
                        </a:solidFill>
                      </a:endParaRPr>
                    </a:p>
                  </a:txBody>
                  <a:tcPr marL="68580" marR="68580"/>
                </a:tc>
              </a:tr>
              <a:tr h="508057">
                <a:tc>
                  <a:txBody>
                    <a:bodyPr/>
                    <a:lstStyle/>
                    <a:p>
                      <a:pPr algn="ctr"/>
                      <a:r>
                        <a:rPr lang="zh-CN" altLang="en-US" sz="2300" b="1" dirty="0" smtClean="0">
                          <a:solidFill>
                            <a:srgbClr val="FF0000"/>
                          </a:solidFill>
                        </a:rPr>
                        <a:t>着火点</a:t>
                      </a:r>
                      <a:endParaRPr lang="en-US" sz="2300" b="1" dirty="0">
                        <a:solidFill>
                          <a:srgbClr val="FF0000"/>
                        </a:solidFill>
                      </a:endParaRPr>
                    </a:p>
                  </a:txBody>
                  <a:tcPr marL="68580" marR="6858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300" b="1" dirty="0" smtClean="0">
                          <a:solidFill>
                            <a:schemeClr val="tx1"/>
                          </a:solidFill>
                        </a:rPr>
                        <a:t>40</a:t>
                      </a:r>
                      <a:r>
                        <a:rPr lang="en-US" altLang="zh-CN" sz="2300" b="1" dirty="0" smtClean="0"/>
                        <a:t>⁰C</a:t>
                      </a:r>
                      <a:r>
                        <a:rPr lang="zh-CN" altLang="en-US" sz="2300" b="1" dirty="0" smtClean="0">
                          <a:solidFill>
                            <a:schemeClr val="tx1"/>
                          </a:solidFill>
                        </a:rPr>
                        <a:t>即燃烧</a:t>
                      </a:r>
                      <a:endParaRPr lang="en-US" sz="2300" b="1" dirty="0">
                        <a:solidFill>
                          <a:schemeClr val="tx1"/>
                        </a:solidFill>
                      </a:endParaRPr>
                    </a:p>
                  </a:txBody>
                  <a:tcPr marL="68580" marR="6858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300" b="1" dirty="0" smtClean="0">
                          <a:solidFill>
                            <a:schemeClr val="tx1"/>
                          </a:solidFill>
                        </a:rPr>
                        <a:t>240</a:t>
                      </a:r>
                      <a:r>
                        <a:rPr lang="en-US" altLang="zh-CN" sz="2300" b="1" dirty="0" smtClean="0"/>
                        <a:t>⁰C</a:t>
                      </a:r>
                      <a:r>
                        <a:rPr lang="zh-CN" altLang="en-US" sz="2300" b="1" dirty="0" smtClean="0">
                          <a:solidFill>
                            <a:schemeClr val="tx1"/>
                          </a:solidFill>
                        </a:rPr>
                        <a:t>才着火</a:t>
                      </a:r>
                      <a:endParaRPr lang="en-US" sz="2300" b="1" dirty="0">
                        <a:solidFill>
                          <a:schemeClr val="tx1"/>
                        </a:solidFill>
                      </a:endParaRPr>
                    </a:p>
                  </a:txBody>
                  <a:tcPr marL="68580" marR="68580"/>
                </a:tc>
              </a:tr>
              <a:tr h="508057">
                <a:tc>
                  <a:txBody>
                    <a:bodyPr/>
                    <a:lstStyle/>
                    <a:p>
                      <a:pPr algn="ctr"/>
                      <a:r>
                        <a:rPr lang="zh-CN" altLang="en-US" sz="2300" b="1" dirty="0" smtClean="0">
                          <a:solidFill>
                            <a:srgbClr val="FF0000"/>
                          </a:solidFill>
                        </a:rPr>
                        <a:t>贮存方式</a:t>
                      </a:r>
                      <a:endParaRPr lang="en-US" sz="2300" b="1" dirty="0">
                        <a:solidFill>
                          <a:srgbClr val="FF0000"/>
                        </a:solidFill>
                      </a:endParaRPr>
                    </a:p>
                  </a:txBody>
                  <a:tcPr marL="68580" marR="68580"/>
                </a:tc>
                <a:tc>
                  <a:txBody>
                    <a:bodyPr/>
                    <a:lstStyle/>
                    <a:p>
                      <a:pPr algn="ctr"/>
                      <a:r>
                        <a:rPr lang="zh-CN" altLang="en-US" sz="2300" b="1" dirty="0" smtClean="0">
                          <a:solidFill>
                            <a:schemeClr val="tx1"/>
                          </a:solidFill>
                        </a:rPr>
                        <a:t>应隔绝空气保存于水中</a:t>
                      </a:r>
                      <a:endParaRPr lang="en-US" sz="2300" b="1" dirty="0">
                        <a:solidFill>
                          <a:schemeClr val="tx1"/>
                        </a:solidFill>
                      </a:endParaRPr>
                    </a:p>
                  </a:txBody>
                  <a:tcPr marL="68580" marR="68580"/>
                </a:tc>
                <a:tc>
                  <a:txBody>
                    <a:bodyPr/>
                    <a:lstStyle/>
                    <a:p>
                      <a:pPr algn="ctr"/>
                      <a:r>
                        <a:rPr lang="zh-CN" altLang="en-US" sz="2300" b="1" dirty="0" smtClean="0">
                          <a:solidFill>
                            <a:schemeClr val="tx1"/>
                          </a:solidFill>
                        </a:rPr>
                        <a:t>可放置于空气中</a:t>
                      </a:r>
                      <a:endParaRPr lang="en-US" sz="2300" b="1" dirty="0">
                        <a:solidFill>
                          <a:schemeClr val="tx1"/>
                        </a:solidFill>
                      </a:endParaRPr>
                    </a:p>
                  </a:txBody>
                  <a:tcPr marL="68580" marR="68580"/>
                </a:tc>
              </a:tr>
              <a:tr h="508057">
                <a:tc>
                  <a:txBody>
                    <a:bodyPr/>
                    <a:lstStyle/>
                    <a:p>
                      <a:pPr algn="ctr"/>
                      <a:r>
                        <a:rPr lang="zh-CN" altLang="en-US" sz="2300" b="1" dirty="0" smtClean="0">
                          <a:solidFill>
                            <a:schemeClr val="tx1"/>
                          </a:solidFill>
                        </a:rPr>
                        <a:t>还原性</a:t>
                      </a:r>
                      <a:endParaRPr lang="en-US" sz="2300" b="1" dirty="0">
                        <a:solidFill>
                          <a:schemeClr val="tx1"/>
                        </a:solidFill>
                      </a:endParaRPr>
                    </a:p>
                  </a:txBody>
                  <a:tcPr marL="68580" marR="68580"/>
                </a:tc>
                <a:tc>
                  <a:txBody>
                    <a:bodyPr/>
                    <a:lstStyle/>
                    <a:p>
                      <a:pPr algn="ctr"/>
                      <a:r>
                        <a:rPr lang="zh-CN" altLang="en-US" sz="2300" b="1" dirty="0" smtClean="0">
                          <a:solidFill>
                            <a:schemeClr val="tx1"/>
                          </a:solidFill>
                        </a:rPr>
                        <a:t>露置空气中</a:t>
                      </a:r>
                      <a:r>
                        <a:rPr lang="en-US" altLang="zh-CN" sz="2300" b="1" dirty="0" smtClean="0">
                          <a:solidFill>
                            <a:schemeClr val="tx1"/>
                          </a:solidFill>
                        </a:rPr>
                        <a:t>,</a:t>
                      </a:r>
                      <a:r>
                        <a:rPr lang="zh-CN" altLang="en-US" sz="2300" b="1" dirty="0" smtClean="0">
                          <a:solidFill>
                            <a:schemeClr val="tx1"/>
                          </a:solidFill>
                        </a:rPr>
                        <a:t>低温也易被氧化</a:t>
                      </a:r>
                      <a:endParaRPr lang="en-US" sz="2300" b="1" dirty="0">
                        <a:solidFill>
                          <a:schemeClr val="tx1"/>
                        </a:solidFill>
                      </a:endParaRPr>
                    </a:p>
                  </a:txBody>
                  <a:tcPr marL="68580" marR="68580"/>
                </a:tc>
                <a:tc>
                  <a:txBody>
                    <a:bodyPr/>
                    <a:lstStyle/>
                    <a:p>
                      <a:pPr algn="ctr"/>
                      <a:r>
                        <a:rPr lang="zh-CN" altLang="en-US" sz="2300" b="1" dirty="0" smtClean="0">
                          <a:solidFill>
                            <a:schemeClr val="tx1"/>
                          </a:solidFill>
                        </a:rPr>
                        <a:t>较难被氧化</a:t>
                      </a:r>
                      <a:endParaRPr lang="en-US" sz="2300" b="1" dirty="0">
                        <a:solidFill>
                          <a:schemeClr val="tx1"/>
                        </a:solidFill>
                      </a:endParaRPr>
                    </a:p>
                  </a:txBody>
                  <a:tcPr marL="68580" marR="68580"/>
                </a:tc>
              </a:tr>
              <a:tr h="508057">
                <a:tc>
                  <a:txBody>
                    <a:bodyPr/>
                    <a:lstStyle/>
                    <a:p>
                      <a:pPr algn="ctr"/>
                      <a:r>
                        <a:rPr lang="zh-CN" altLang="en-US" sz="2300" b="1" dirty="0" smtClean="0">
                          <a:solidFill>
                            <a:schemeClr val="tx1"/>
                          </a:solidFill>
                        </a:rPr>
                        <a:t>发光性</a:t>
                      </a:r>
                      <a:endParaRPr lang="en-US" sz="2300" b="1" dirty="0">
                        <a:solidFill>
                          <a:schemeClr val="tx1"/>
                        </a:solidFill>
                      </a:endParaRPr>
                    </a:p>
                  </a:txBody>
                  <a:tcPr marL="68580" marR="68580"/>
                </a:tc>
                <a:tc>
                  <a:txBody>
                    <a:bodyPr/>
                    <a:lstStyle/>
                    <a:p>
                      <a:pPr algn="ctr"/>
                      <a:r>
                        <a:rPr lang="zh-CN" altLang="en-US" sz="2300" b="1" dirty="0" smtClean="0">
                          <a:solidFill>
                            <a:schemeClr val="tx1"/>
                          </a:solidFill>
                        </a:rPr>
                        <a:t>在暗处发光</a:t>
                      </a:r>
                      <a:endParaRPr lang="en-US" sz="2300" b="1" dirty="0">
                        <a:solidFill>
                          <a:schemeClr val="tx1"/>
                        </a:solidFill>
                      </a:endParaRPr>
                    </a:p>
                  </a:txBody>
                  <a:tcPr marL="68580" marR="68580"/>
                </a:tc>
                <a:tc>
                  <a:txBody>
                    <a:bodyPr/>
                    <a:lstStyle/>
                    <a:p>
                      <a:pPr algn="ctr"/>
                      <a:r>
                        <a:rPr lang="zh-CN" altLang="en-US" sz="2300" b="1" dirty="0" smtClean="0">
                          <a:solidFill>
                            <a:schemeClr val="tx1"/>
                          </a:solidFill>
                        </a:rPr>
                        <a:t>不发光</a:t>
                      </a:r>
                      <a:endParaRPr lang="en-US" sz="2300" b="1" dirty="0">
                        <a:solidFill>
                          <a:schemeClr val="tx1"/>
                        </a:solidFill>
                      </a:endParaRPr>
                    </a:p>
                  </a:txBody>
                  <a:tcPr marL="68580" marR="68580"/>
                </a:tc>
              </a:tr>
              <a:tr h="508057">
                <a:tc>
                  <a:txBody>
                    <a:bodyPr/>
                    <a:lstStyle/>
                    <a:p>
                      <a:pPr algn="ctr"/>
                      <a:r>
                        <a:rPr lang="zh-CN" altLang="en-US" sz="2300" b="1" dirty="0" smtClean="0">
                          <a:solidFill>
                            <a:srgbClr val="FF0000"/>
                          </a:solidFill>
                        </a:rPr>
                        <a:t>毒性</a:t>
                      </a:r>
                      <a:endParaRPr lang="en-US" sz="2300" b="1" dirty="0">
                        <a:solidFill>
                          <a:srgbClr val="FF0000"/>
                        </a:solidFill>
                      </a:endParaRPr>
                    </a:p>
                  </a:txBody>
                  <a:tcPr marL="68580" marR="68580"/>
                </a:tc>
                <a:tc>
                  <a:txBody>
                    <a:bodyPr/>
                    <a:lstStyle/>
                    <a:p>
                      <a:pPr algn="ctr"/>
                      <a:r>
                        <a:rPr lang="zh-CN" altLang="en-US" sz="2300" b="1" dirty="0" smtClean="0">
                          <a:solidFill>
                            <a:schemeClr val="tx1"/>
                          </a:solidFill>
                        </a:rPr>
                        <a:t>剧毒</a:t>
                      </a:r>
                      <a:r>
                        <a:rPr lang="en-US" altLang="zh-CN" sz="2300" b="1" dirty="0" smtClean="0">
                          <a:solidFill>
                            <a:schemeClr val="tx1"/>
                          </a:solidFill>
                        </a:rPr>
                        <a:t>,</a:t>
                      </a:r>
                      <a:r>
                        <a:rPr lang="zh-CN" altLang="en-US" sz="2300" b="1" dirty="0" smtClean="0">
                          <a:solidFill>
                            <a:schemeClr val="tx1"/>
                          </a:solidFill>
                        </a:rPr>
                        <a:t>服</a:t>
                      </a:r>
                      <a:r>
                        <a:rPr lang="en-US" altLang="zh-CN" sz="2300" b="1" dirty="0" smtClean="0">
                          <a:solidFill>
                            <a:schemeClr val="tx1"/>
                          </a:solidFill>
                        </a:rPr>
                        <a:t>0.1g</a:t>
                      </a:r>
                      <a:r>
                        <a:rPr lang="zh-CN" altLang="en-US" sz="2300" b="1" dirty="0" smtClean="0">
                          <a:solidFill>
                            <a:schemeClr val="tx1"/>
                          </a:solidFill>
                        </a:rPr>
                        <a:t>致死</a:t>
                      </a:r>
                      <a:endParaRPr lang="en-US" sz="2300" b="1" dirty="0">
                        <a:solidFill>
                          <a:schemeClr val="tx1"/>
                        </a:solidFill>
                      </a:endParaRPr>
                    </a:p>
                  </a:txBody>
                  <a:tcPr marL="68580" marR="68580"/>
                </a:tc>
                <a:tc>
                  <a:txBody>
                    <a:bodyPr/>
                    <a:lstStyle/>
                    <a:p>
                      <a:pPr algn="ctr"/>
                      <a:r>
                        <a:rPr lang="zh-CN" altLang="en-US" sz="2300" b="1" dirty="0" smtClean="0">
                          <a:solidFill>
                            <a:schemeClr val="tx1"/>
                          </a:solidFill>
                        </a:rPr>
                        <a:t>无毒</a:t>
                      </a:r>
                      <a:endParaRPr lang="en-US" sz="2300" b="1" dirty="0">
                        <a:solidFill>
                          <a:schemeClr val="tx1"/>
                        </a:solidFill>
                      </a:endParaRPr>
                    </a:p>
                  </a:txBody>
                  <a:tcPr marL="68580" marR="68580"/>
                </a:tc>
              </a:tr>
            </a:tbl>
          </a:graphicData>
        </a:graphic>
      </p:graphicFrame>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en-US" altLang="zh-CN" dirty="0" smtClean="0"/>
              <a:t>13.7.1 </a:t>
            </a:r>
            <a:r>
              <a:rPr lang="zh-CN" altLang="en-US" dirty="0" smtClean="0"/>
              <a:t>磷</a:t>
            </a:r>
            <a:endParaRPr lang="en-US" dirty="0"/>
          </a:p>
        </p:txBody>
      </p:sp>
      <p:sp>
        <p:nvSpPr>
          <p:cNvPr id="3" name="Content Placeholder 2"/>
          <p:cNvSpPr>
            <a:spLocks noGrp="1"/>
          </p:cNvSpPr>
          <p:nvPr>
            <p:ph idx="1"/>
          </p:nvPr>
        </p:nvSpPr>
        <p:spPr>
          <a:xfrm>
            <a:off x="457200" y="1219200"/>
            <a:ext cx="8229600" cy="5486400"/>
          </a:xfrm>
        </p:spPr>
        <p:txBody>
          <a:bodyPr/>
          <a:lstStyle/>
          <a:p>
            <a:pPr>
              <a:buNone/>
            </a:pPr>
            <a:r>
              <a:rPr lang="zh-CN" altLang="en-US" dirty="0" smtClean="0"/>
              <a:t>活动</a:t>
            </a:r>
            <a:r>
              <a:rPr lang="en-US" altLang="zh-CN" dirty="0" smtClean="0"/>
              <a:t>11&amp;12</a:t>
            </a:r>
          </a:p>
          <a:p>
            <a:pPr>
              <a:buNone/>
            </a:pPr>
            <a:r>
              <a:rPr lang="zh-CN" altLang="en-US" dirty="0" smtClean="0"/>
              <a:t>现象：剧烈燃烧，发出白光，放出大量热，生成大量白烟。</a:t>
            </a:r>
            <a:endParaRPr lang="en-US" altLang="zh-CN" dirty="0" smtClean="0"/>
          </a:p>
          <a:p>
            <a:pPr>
              <a:buNone/>
            </a:pPr>
            <a:r>
              <a:rPr lang="zh-CN" altLang="en-US" dirty="0" smtClean="0"/>
              <a:t>反应式：</a:t>
            </a:r>
            <a:r>
              <a:rPr lang="en-US" altLang="zh-CN" dirty="0" smtClean="0"/>
              <a:t>	4P + 5O</a:t>
            </a:r>
            <a:r>
              <a:rPr lang="en-US" altLang="zh-CN" baseline="-25000" dirty="0" smtClean="0"/>
              <a:t>2</a:t>
            </a:r>
            <a:r>
              <a:rPr lang="en-US" altLang="zh-CN" dirty="0" smtClean="0"/>
              <a:t> 	      2 P</a:t>
            </a:r>
            <a:r>
              <a:rPr lang="en-US" altLang="zh-CN" baseline="-25000" dirty="0" smtClean="0"/>
              <a:t>2</a:t>
            </a:r>
            <a:r>
              <a:rPr lang="en-US" altLang="zh-CN" dirty="0" smtClean="0"/>
              <a:t>O</a:t>
            </a:r>
            <a:r>
              <a:rPr lang="en-US" altLang="zh-CN" baseline="-25000" dirty="0" smtClean="0"/>
              <a:t>5</a:t>
            </a:r>
            <a:r>
              <a:rPr lang="en-US" altLang="zh-CN" dirty="0" smtClean="0"/>
              <a:t> </a:t>
            </a:r>
          </a:p>
          <a:p>
            <a:pPr>
              <a:buNone/>
            </a:pPr>
            <a:r>
              <a:rPr lang="en-US" altLang="zh-CN" dirty="0" smtClean="0"/>
              <a:t>		 	2P + 5Cl</a:t>
            </a:r>
            <a:r>
              <a:rPr lang="en-US" altLang="zh-CN" baseline="-25000" dirty="0" smtClean="0"/>
              <a:t>2</a:t>
            </a:r>
            <a:r>
              <a:rPr lang="en-US" altLang="zh-CN" dirty="0" smtClean="0"/>
              <a:t> 	      2 PCl</a:t>
            </a:r>
            <a:r>
              <a:rPr lang="en-US" altLang="zh-CN" baseline="-25000" dirty="0" smtClean="0"/>
              <a:t>5</a:t>
            </a:r>
            <a:endParaRPr lang="en-US" altLang="zh-CN" dirty="0" smtClean="0"/>
          </a:p>
          <a:p>
            <a:pPr>
              <a:buNone/>
            </a:pPr>
            <a:endParaRPr lang="en-US" altLang="zh-CN" dirty="0" smtClean="0"/>
          </a:p>
        </p:txBody>
      </p:sp>
      <p:grpSp>
        <p:nvGrpSpPr>
          <p:cNvPr id="5" name="Group 4"/>
          <p:cNvGrpSpPr/>
          <p:nvPr/>
        </p:nvGrpSpPr>
        <p:grpSpPr>
          <a:xfrm>
            <a:off x="3810000" y="2971800"/>
            <a:ext cx="914400" cy="307777"/>
            <a:chOff x="2819400" y="5943600"/>
            <a:chExt cx="914400" cy="307777"/>
          </a:xfrm>
        </p:grpSpPr>
        <p:cxnSp>
          <p:nvCxnSpPr>
            <p:cNvPr id="6" name="Straight Arrow Connector 5"/>
            <p:cNvCxnSpPr/>
            <p:nvPr/>
          </p:nvCxnSpPr>
          <p:spPr>
            <a:xfrm>
              <a:off x="2819400" y="6172117"/>
              <a:ext cx="914400" cy="83"/>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2961461" y="5943600"/>
              <a:ext cx="543739" cy="307777"/>
            </a:xfrm>
            <a:prstGeom prst="rect">
              <a:avLst/>
            </a:prstGeom>
            <a:noFill/>
          </p:spPr>
          <p:txBody>
            <a:bodyPr wrap="none" rtlCol="0">
              <a:spAutoFit/>
            </a:bodyPr>
            <a:lstStyle/>
            <a:p>
              <a:r>
                <a:rPr lang="zh-CN" altLang="en-US" sz="1400" dirty="0" smtClean="0"/>
                <a:t>点燃</a:t>
              </a:r>
              <a:endParaRPr lang="en-US" sz="1400" dirty="0"/>
            </a:p>
          </p:txBody>
        </p:sp>
      </p:grpSp>
      <p:grpSp>
        <p:nvGrpSpPr>
          <p:cNvPr id="9" name="Group 8"/>
          <p:cNvGrpSpPr/>
          <p:nvPr/>
        </p:nvGrpSpPr>
        <p:grpSpPr>
          <a:xfrm>
            <a:off x="3810000" y="3502223"/>
            <a:ext cx="914400" cy="307777"/>
            <a:chOff x="2819400" y="5943600"/>
            <a:chExt cx="914400" cy="307777"/>
          </a:xfrm>
        </p:grpSpPr>
        <p:cxnSp>
          <p:nvCxnSpPr>
            <p:cNvPr id="10" name="Straight Arrow Connector 9"/>
            <p:cNvCxnSpPr/>
            <p:nvPr/>
          </p:nvCxnSpPr>
          <p:spPr>
            <a:xfrm>
              <a:off x="2819400" y="6172117"/>
              <a:ext cx="914400" cy="83"/>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2961461" y="5943600"/>
              <a:ext cx="543739" cy="307777"/>
            </a:xfrm>
            <a:prstGeom prst="rect">
              <a:avLst/>
            </a:prstGeom>
            <a:noFill/>
          </p:spPr>
          <p:txBody>
            <a:bodyPr wrap="none" rtlCol="0">
              <a:spAutoFit/>
            </a:bodyPr>
            <a:lstStyle/>
            <a:p>
              <a:r>
                <a:rPr lang="zh-CN" altLang="en-US" sz="1400" dirty="0" smtClean="0"/>
                <a:t>点燃</a:t>
              </a:r>
              <a:endParaRPr lang="en-US" sz="1400" dirty="0"/>
            </a:p>
          </p:txBody>
        </p:sp>
      </p:grpSp>
      <p:sp>
        <p:nvSpPr>
          <p:cNvPr id="12" name="Rounded Rectangle 11"/>
          <p:cNvSpPr/>
          <p:nvPr/>
        </p:nvSpPr>
        <p:spPr>
          <a:xfrm>
            <a:off x="4724400" y="2971800"/>
            <a:ext cx="12192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
        <p:nvSpPr>
          <p:cNvPr id="13" name="Rounded Rectangle 12"/>
          <p:cNvSpPr/>
          <p:nvPr/>
        </p:nvSpPr>
        <p:spPr>
          <a:xfrm>
            <a:off x="4724400" y="3505200"/>
            <a:ext cx="12192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blinds(horizontal)">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xit" presetSubtype="10" fill="hold" grpId="0" nodeType="clickEffect">
                                  <p:stCondLst>
                                    <p:cond delay="0"/>
                                  </p:stCondLst>
                                  <p:childTnLst>
                                    <p:animEffect transition="out" filter="blinds(horizontal)">
                                      <p:cBhvr>
                                        <p:cTn id="24" dur="500"/>
                                        <p:tgtEl>
                                          <p:spTgt spid="12"/>
                                        </p:tgtEl>
                                      </p:cBhvr>
                                    </p:animEffect>
                                    <p:set>
                                      <p:cBhvr>
                                        <p:cTn id="25" dur="1" fill="hold">
                                          <p:stCondLst>
                                            <p:cond delay="499"/>
                                          </p:stCondLst>
                                        </p:cTn>
                                        <p:tgtEl>
                                          <p:spTgt spid="12"/>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Effect transition="in" filter="blinds(horizontal)">
                                      <p:cBhvr>
                                        <p:cTn id="30" dur="500"/>
                                        <p:tgtEl>
                                          <p:spTgt spid="3">
                                            <p:txEl>
                                              <p:pRg st="3" end="3"/>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blinds(horizontal)">
                                      <p:cBhvr>
                                        <p:cTn id="33" dur="500"/>
                                        <p:tgtEl>
                                          <p:spTgt spid="9"/>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xit" presetSubtype="10" fill="hold" grpId="0" nodeType="clickEffect">
                                  <p:stCondLst>
                                    <p:cond delay="0"/>
                                  </p:stCondLst>
                                  <p:childTnLst>
                                    <p:animEffect transition="out" filter="blinds(horizontal)">
                                      <p:cBhvr>
                                        <p:cTn id="37" dur="500"/>
                                        <p:tgtEl>
                                          <p:spTgt spid="13"/>
                                        </p:tgtEl>
                                      </p:cBhvr>
                                    </p:animEffect>
                                    <p:set>
                                      <p:cBhvr>
                                        <p:cTn id="38"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2" grpId="0" animBg="1"/>
      <p:bldP spid="13"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en-US" altLang="zh-CN" dirty="0" smtClean="0"/>
              <a:t>13.7 </a:t>
            </a:r>
            <a:r>
              <a:rPr lang="zh-CN" altLang="en-US" dirty="0" smtClean="0"/>
              <a:t>磷</a:t>
            </a:r>
            <a:endParaRPr lang="en-US" dirty="0"/>
          </a:p>
        </p:txBody>
      </p:sp>
      <p:sp>
        <p:nvSpPr>
          <p:cNvPr id="3" name="Content Placeholder 2"/>
          <p:cNvSpPr>
            <a:spLocks noGrp="1"/>
          </p:cNvSpPr>
          <p:nvPr>
            <p:ph idx="1"/>
          </p:nvPr>
        </p:nvSpPr>
        <p:spPr>
          <a:xfrm>
            <a:off x="304800" y="990600"/>
            <a:ext cx="8382000" cy="5715000"/>
          </a:xfrm>
        </p:spPr>
        <p:txBody>
          <a:bodyPr/>
          <a:lstStyle/>
          <a:p>
            <a:pPr>
              <a:lnSpc>
                <a:spcPct val="150000"/>
              </a:lnSpc>
              <a:buFont typeface="Wingdings" pitchFamily="2" charset="2"/>
              <a:buChar char="Ø"/>
            </a:pPr>
            <a:r>
              <a:rPr lang="zh-CN" altLang="en-US" dirty="0" smtClean="0"/>
              <a:t>性质活泼的非金属</a:t>
            </a:r>
            <a:endParaRPr lang="en-US" altLang="zh-CN" dirty="0" smtClean="0"/>
          </a:p>
          <a:p>
            <a:pPr>
              <a:lnSpc>
                <a:spcPct val="150000"/>
              </a:lnSpc>
              <a:buFont typeface="Wingdings" pitchFamily="2" charset="2"/>
              <a:buChar char="Ø"/>
            </a:pPr>
            <a:r>
              <a:rPr lang="zh-CN" altLang="en-US" dirty="0" smtClean="0"/>
              <a:t>氧气</a:t>
            </a:r>
            <a:r>
              <a:rPr lang="en-US" altLang="zh-CN" dirty="0" smtClean="0"/>
              <a:t>/</a:t>
            </a:r>
            <a:r>
              <a:rPr lang="zh-CN" altLang="en-US" dirty="0" smtClean="0"/>
              <a:t>氯气充足时，完全燃烧，被氧化成</a:t>
            </a:r>
            <a:r>
              <a:rPr lang="en-US" altLang="zh-CN" dirty="0" smtClean="0"/>
              <a:t>P</a:t>
            </a:r>
            <a:r>
              <a:rPr lang="en-US" altLang="zh-CN" baseline="30000" dirty="0" smtClean="0"/>
              <a:t>5+</a:t>
            </a:r>
            <a:r>
              <a:rPr lang="en-US" altLang="zh-CN" dirty="0" smtClean="0"/>
              <a:t> </a:t>
            </a:r>
          </a:p>
          <a:p>
            <a:pPr>
              <a:lnSpc>
                <a:spcPct val="150000"/>
              </a:lnSpc>
              <a:buFont typeface="Wingdings" pitchFamily="2" charset="2"/>
              <a:buChar char="Ø"/>
            </a:pPr>
            <a:r>
              <a:rPr lang="zh-CN" altLang="en-US" dirty="0" smtClean="0"/>
              <a:t>氧气</a:t>
            </a:r>
            <a:r>
              <a:rPr lang="en-US" altLang="zh-CN" dirty="0" smtClean="0"/>
              <a:t>/</a:t>
            </a:r>
            <a:r>
              <a:rPr lang="zh-CN" altLang="en-US" dirty="0" smtClean="0"/>
              <a:t>氯气不充足时，不完全燃烧，被氧化成</a:t>
            </a:r>
            <a:r>
              <a:rPr lang="en-US" altLang="zh-CN" dirty="0" smtClean="0"/>
              <a:t>P</a:t>
            </a:r>
            <a:r>
              <a:rPr lang="en-US" altLang="zh-CN" baseline="30000" dirty="0" smtClean="0"/>
              <a:t>3+</a:t>
            </a:r>
            <a:r>
              <a:rPr lang="en-US" altLang="zh-CN" dirty="0" smtClean="0"/>
              <a:t> </a:t>
            </a:r>
            <a:r>
              <a:rPr lang="zh-CN" altLang="en-US" dirty="0" smtClean="0"/>
              <a:t>。</a:t>
            </a:r>
            <a:endParaRPr lang="en-US" altLang="zh-CN" dirty="0" smtClean="0"/>
          </a:p>
          <a:p>
            <a:pPr>
              <a:lnSpc>
                <a:spcPct val="150000"/>
              </a:lnSpc>
              <a:buNone/>
            </a:pPr>
            <a:endParaRPr lang="en-US" altLang="zh-CN" dirty="0" smtClean="0"/>
          </a:p>
          <a:p>
            <a:pPr>
              <a:lnSpc>
                <a:spcPct val="150000"/>
              </a:lnSpc>
              <a:buFont typeface="Wingdings" pitchFamily="2" charset="2"/>
              <a:buChar char="Ø"/>
            </a:pPr>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en-US" altLang="zh-CN" dirty="0" smtClean="0"/>
              <a:t>13.7.2 </a:t>
            </a:r>
            <a:r>
              <a:rPr lang="zh-CN" altLang="en-US" dirty="0" smtClean="0"/>
              <a:t>磷酸</a:t>
            </a:r>
            <a:endParaRPr lang="en-US" dirty="0"/>
          </a:p>
        </p:txBody>
      </p:sp>
      <p:sp>
        <p:nvSpPr>
          <p:cNvPr id="3" name="Content Placeholder 2"/>
          <p:cNvSpPr>
            <a:spLocks noGrp="1"/>
          </p:cNvSpPr>
          <p:nvPr>
            <p:ph idx="1"/>
          </p:nvPr>
        </p:nvSpPr>
        <p:spPr>
          <a:xfrm>
            <a:off x="457200" y="838200"/>
            <a:ext cx="8229600" cy="6019800"/>
          </a:xfrm>
        </p:spPr>
        <p:txBody>
          <a:bodyPr>
            <a:normAutofit fontScale="92500"/>
          </a:bodyPr>
          <a:lstStyle/>
          <a:p>
            <a:pPr>
              <a:buFont typeface="Wingdings" pitchFamily="2" charset="2"/>
              <a:buChar char="Ø"/>
            </a:pPr>
            <a:r>
              <a:rPr lang="zh-CN" altLang="en-US" dirty="0" smtClean="0"/>
              <a:t>纯磷酸是无色晶体</a:t>
            </a:r>
            <a:endParaRPr lang="en-US" altLang="zh-CN" dirty="0" smtClean="0"/>
          </a:p>
          <a:p>
            <a:pPr>
              <a:buFont typeface="Wingdings" pitchFamily="2" charset="2"/>
              <a:buChar char="Ø"/>
            </a:pPr>
            <a:r>
              <a:rPr lang="zh-CN" altLang="en-US" dirty="0" smtClean="0"/>
              <a:t>熔点低，无沸点</a:t>
            </a:r>
            <a:endParaRPr lang="en-US" altLang="zh-CN" dirty="0" smtClean="0"/>
          </a:p>
          <a:p>
            <a:pPr>
              <a:buFont typeface="Wingdings" pitchFamily="2" charset="2"/>
              <a:buChar char="Ø"/>
            </a:pPr>
            <a:r>
              <a:rPr lang="zh-CN" altLang="en-US" dirty="0" smtClean="0"/>
              <a:t>吸湿性</a:t>
            </a:r>
            <a:endParaRPr lang="en-US" altLang="zh-CN" dirty="0" smtClean="0"/>
          </a:p>
          <a:p>
            <a:pPr>
              <a:buNone/>
            </a:pPr>
            <a:r>
              <a:rPr lang="zh-CN" altLang="en-US" dirty="0" smtClean="0"/>
              <a:t>问题解决</a:t>
            </a:r>
            <a:endParaRPr lang="en-US" altLang="zh-CN" dirty="0" smtClean="0"/>
          </a:p>
          <a:p>
            <a:pPr>
              <a:buNone/>
            </a:pPr>
            <a:r>
              <a:rPr lang="en-US" altLang="zh-CN" dirty="0" smtClean="0"/>
              <a:t>1. 	H</a:t>
            </a:r>
            <a:r>
              <a:rPr lang="en-US" altLang="zh-CN" baseline="-25000" dirty="0" smtClean="0"/>
              <a:t>3</a:t>
            </a:r>
            <a:r>
              <a:rPr lang="en-US" altLang="zh-CN" dirty="0" smtClean="0"/>
              <a:t>PO</a:t>
            </a:r>
            <a:r>
              <a:rPr lang="en-US" altLang="zh-CN" baseline="-25000" dirty="0" smtClean="0"/>
              <a:t>4</a:t>
            </a:r>
            <a:r>
              <a:rPr lang="en-US" altLang="zh-CN" dirty="0" smtClean="0"/>
              <a:t> (</a:t>
            </a:r>
            <a:r>
              <a:rPr lang="en-US" altLang="zh-CN" dirty="0" err="1" smtClean="0"/>
              <a:t>aq</a:t>
            </a:r>
            <a:r>
              <a:rPr lang="en-US" altLang="zh-CN" dirty="0" smtClean="0"/>
              <a:t>) </a:t>
            </a:r>
            <a:r>
              <a:rPr lang="en-US" altLang="zh-CN" dirty="0" smtClean="0">
                <a:sym typeface="Wingdings" pitchFamily="2" charset="2"/>
              </a:rPr>
              <a:t> H</a:t>
            </a:r>
            <a:r>
              <a:rPr lang="en-US" altLang="zh-CN" baseline="30000" dirty="0" smtClean="0">
                <a:sym typeface="Wingdings" pitchFamily="2" charset="2"/>
              </a:rPr>
              <a:t>+</a:t>
            </a:r>
            <a:r>
              <a:rPr lang="en-US" altLang="zh-CN" dirty="0" smtClean="0">
                <a:sym typeface="Wingdings" pitchFamily="2" charset="2"/>
              </a:rPr>
              <a:t> (</a:t>
            </a:r>
            <a:r>
              <a:rPr lang="en-US" altLang="zh-CN" dirty="0" err="1" smtClean="0">
                <a:sym typeface="Wingdings" pitchFamily="2" charset="2"/>
              </a:rPr>
              <a:t>aq</a:t>
            </a:r>
            <a:r>
              <a:rPr lang="en-US" altLang="zh-CN" dirty="0" smtClean="0">
                <a:sym typeface="Wingdings" pitchFamily="2" charset="2"/>
              </a:rPr>
              <a:t>) + H</a:t>
            </a:r>
            <a:r>
              <a:rPr lang="en-US" altLang="zh-CN" baseline="-25000" dirty="0" smtClean="0">
                <a:sym typeface="Wingdings" pitchFamily="2" charset="2"/>
              </a:rPr>
              <a:t>2</a:t>
            </a:r>
            <a:r>
              <a:rPr lang="en-US" altLang="zh-CN" dirty="0" smtClean="0">
                <a:sym typeface="Wingdings" pitchFamily="2" charset="2"/>
              </a:rPr>
              <a:t>PO</a:t>
            </a:r>
            <a:r>
              <a:rPr lang="en-US" altLang="zh-CN" baseline="-25000" dirty="0" smtClean="0">
                <a:sym typeface="Wingdings" pitchFamily="2" charset="2"/>
              </a:rPr>
              <a:t>4</a:t>
            </a:r>
            <a:r>
              <a:rPr lang="en-US" altLang="zh-CN" baseline="30000" dirty="0" smtClean="0">
                <a:sym typeface="Wingdings" pitchFamily="2" charset="2"/>
              </a:rPr>
              <a:t>-</a:t>
            </a:r>
            <a:r>
              <a:rPr lang="en-US" altLang="zh-CN" dirty="0" smtClean="0">
                <a:sym typeface="Wingdings" pitchFamily="2" charset="2"/>
              </a:rPr>
              <a:t> (</a:t>
            </a:r>
            <a:r>
              <a:rPr lang="en-US" altLang="zh-CN" dirty="0" err="1" smtClean="0">
                <a:sym typeface="Wingdings" pitchFamily="2" charset="2"/>
              </a:rPr>
              <a:t>aq</a:t>
            </a:r>
            <a:r>
              <a:rPr lang="en-US" altLang="zh-CN" dirty="0" smtClean="0">
                <a:sym typeface="Wingdings" pitchFamily="2" charset="2"/>
              </a:rPr>
              <a:t>)</a:t>
            </a:r>
          </a:p>
          <a:p>
            <a:pPr>
              <a:buNone/>
            </a:pPr>
            <a:r>
              <a:rPr lang="en-US" altLang="zh-CN" dirty="0" smtClean="0"/>
              <a:t>		H</a:t>
            </a:r>
            <a:r>
              <a:rPr lang="en-US" altLang="zh-CN" baseline="-25000" dirty="0" smtClean="0"/>
              <a:t>2</a:t>
            </a:r>
            <a:r>
              <a:rPr lang="en-US" altLang="zh-CN" dirty="0" smtClean="0"/>
              <a:t>PO</a:t>
            </a:r>
            <a:r>
              <a:rPr lang="en-US" altLang="zh-CN" baseline="-25000" dirty="0" smtClean="0"/>
              <a:t>4</a:t>
            </a:r>
            <a:r>
              <a:rPr lang="en-US" altLang="zh-CN" dirty="0" smtClean="0"/>
              <a:t> </a:t>
            </a:r>
            <a:r>
              <a:rPr lang="en-US" altLang="zh-CN" baseline="30000" dirty="0" smtClean="0"/>
              <a:t>-</a:t>
            </a:r>
            <a:r>
              <a:rPr lang="en-US" altLang="zh-CN" dirty="0" smtClean="0"/>
              <a:t>(</a:t>
            </a:r>
            <a:r>
              <a:rPr lang="en-US" altLang="zh-CN" dirty="0" err="1" smtClean="0"/>
              <a:t>aq</a:t>
            </a:r>
            <a:r>
              <a:rPr lang="en-US" altLang="zh-CN" dirty="0" smtClean="0"/>
              <a:t>) </a:t>
            </a:r>
            <a:r>
              <a:rPr lang="en-US" altLang="zh-CN" dirty="0" smtClean="0">
                <a:sym typeface="Wingdings" pitchFamily="2" charset="2"/>
              </a:rPr>
              <a:t> H</a:t>
            </a:r>
            <a:r>
              <a:rPr lang="en-US" altLang="zh-CN" baseline="30000" dirty="0" smtClean="0">
                <a:sym typeface="Wingdings" pitchFamily="2" charset="2"/>
              </a:rPr>
              <a:t>+</a:t>
            </a:r>
            <a:r>
              <a:rPr lang="en-US" altLang="zh-CN" dirty="0" smtClean="0">
                <a:sym typeface="Wingdings" pitchFamily="2" charset="2"/>
              </a:rPr>
              <a:t> (</a:t>
            </a:r>
            <a:r>
              <a:rPr lang="en-US" altLang="zh-CN" dirty="0" err="1" smtClean="0">
                <a:sym typeface="Wingdings" pitchFamily="2" charset="2"/>
              </a:rPr>
              <a:t>aq</a:t>
            </a:r>
            <a:r>
              <a:rPr lang="en-US" altLang="zh-CN" dirty="0" smtClean="0">
                <a:sym typeface="Wingdings" pitchFamily="2" charset="2"/>
              </a:rPr>
              <a:t>) + HPO</a:t>
            </a:r>
            <a:r>
              <a:rPr lang="en-US" altLang="zh-CN" baseline="-25000" dirty="0" smtClean="0">
                <a:sym typeface="Wingdings" pitchFamily="2" charset="2"/>
              </a:rPr>
              <a:t>4</a:t>
            </a:r>
            <a:r>
              <a:rPr lang="en-US" altLang="zh-CN" baseline="30000" dirty="0" smtClean="0">
                <a:sym typeface="Wingdings" pitchFamily="2" charset="2"/>
              </a:rPr>
              <a:t>2-</a:t>
            </a:r>
            <a:r>
              <a:rPr lang="en-US" altLang="zh-CN" dirty="0" smtClean="0">
                <a:sym typeface="Wingdings" pitchFamily="2" charset="2"/>
              </a:rPr>
              <a:t> (</a:t>
            </a:r>
            <a:r>
              <a:rPr lang="en-US" altLang="zh-CN" dirty="0" err="1" smtClean="0">
                <a:sym typeface="Wingdings" pitchFamily="2" charset="2"/>
              </a:rPr>
              <a:t>aq</a:t>
            </a:r>
            <a:r>
              <a:rPr lang="en-US" altLang="zh-CN" dirty="0" smtClean="0">
                <a:sym typeface="Wingdings" pitchFamily="2" charset="2"/>
              </a:rPr>
              <a:t>)</a:t>
            </a:r>
            <a:endParaRPr lang="en-US" dirty="0" smtClean="0"/>
          </a:p>
          <a:p>
            <a:pPr>
              <a:buNone/>
            </a:pPr>
            <a:r>
              <a:rPr lang="en-US" altLang="zh-CN" dirty="0" smtClean="0"/>
              <a:t>		HPO</a:t>
            </a:r>
            <a:r>
              <a:rPr lang="en-US" altLang="zh-CN" baseline="-25000" dirty="0" smtClean="0"/>
              <a:t>4</a:t>
            </a:r>
            <a:r>
              <a:rPr lang="en-US" altLang="zh-CN" baseline="30000" dirty="0" smtClean="0"/>
              <a:t>2-</a:t>
            </a:r>
            <a:r>
              <a:rPr lang="en-US" altLang="zh-CN" dirty="0" smtClean="0"/>
              <a:t> (</a:t>
            </a:r>
            <a:r>
              <a:rPr lang="en-US" altLang="zh-CN" dirty="0" err="1" smtClean="0"/>
              <a:t>aq</a:t>
            </a:r>
            <a:r>
              <a:rPr lang="en-US" altLang="zh-CN" dirty="0" smtClean="0"/>
              <a:t>) </a:t>
            </a:r>
            <a:r>
              <a:rPr lang="en-US" altLang="zh-CN" dirty="0" smtClean="0">
                <a:sym typeface="Wingdings" pitchFamily="2" charset="2"/>
              </a:rPr>
              <a:t> H</a:t>
            </a:r>
            <a:r>
              <a:rPr lang="en-US" altLang="zh-CN" baseline="30000" dirty="0" smtClean="0">
                <a:sym typeface="Wingdings" pitchFamily="2" charset="2"/>
              </a:rPr>
              <a:t>+</a:t>
            </a:r>
            <a:r>
              <a:rPr lang="en-US" altLang="zh-CN" dirty="0" smtClean="0">
                <a:sym typeface="Wingdings" pitchFamily="2" charset="2"/>
              </a:rPr>
              <a:t> (</a:t>
            </a:r>
            <a:r>
              <a:rPr lang="en-US" altLang="zh-CN" dirty="0" err="1" smtClean="0">
                <a:sym typeface="Wingdings" pitchFamily="2" charset="2"/>
              </a:rPr>
              <a:t>aq</a:t>
            </a:r>
            <a:r>
              <a:rPr lang="en-US" altLang="zh-CN" dirty="0" smtClean="0">
                <a:sym typeface="Wingdings" pitchFamily="2" charset="2"/>
              </a:rPr>
              <a:t>) + PO</a:t>
            </a:r>
            <a:r>
              <a:rPr lang="en-US" altLang="zh-CN" baseline="-25000" dirty="0" smtClean="0">
                <a:sym typeface="Wingdings" pitchFamily="2" charset="2"/>
              </a:rPr>
              <a:t>4 </a:t>
            </a:r>
            <a:r>
              <a:rPr lang="en-US" altLang="zh-CN" baseline="30000" dirty="0" smtClean="0">
                <a:sym typeface="Wingdings" pitchFamily="2" charset="2"/>
              </a:rPr>
              <a:t>3-</a:t>
            </a:r>
            <a:r>
              <a:rPr lang="en-US" altLang="zh-CN" dirty="0" smtClean="0">
                <a:sym typeface="Wingdings" pitchFamily="2" charset="2"/>
              </a:rPr>
              <a:t> (</a:t>
            </a:r>
            <a:r>
              <a:rPr lang="en-US" altLang="zh-CN" dirty="0" err="1" smtClean="0">
                <a:sym typeface="Wingdings" pitchFamily="2" charset="2"/>
              </a:rPr>
              <a:t>aq</a:t>
            </a:r>
            <a:r>
              <a:rPr lang="en-US" altLang="zh-CN" dirty="0" smtClean="0">
                <a:sym typeface="Wingdings" pitchFamily="2" charset="2"/>
              </a:rPr>
              <a:t>)</a:t>
            </a:r>
          </a:p>
          <a:p>
            <a:pPr>
              <a:buNone/>
            </a:pPr>
            <a:r>
              <a:rPr lang="zh-CN" altLang="en-US" dirty="0" smtClean="0"/>
              <a:t>总电离方程式：</a:t>
            </a:r>
            <a:r>
              <a:rPr lang="en-US" altLang="zh-CN" dirty="0" smtClean="0"/>
              <a:t>H</a:t>
            </a:r>
            <a:r>
              <a:rPr lang="en-US" altLang="zh-CN" baseline="-25000" dirty="0" smtClean="0"/>
              <a:t>3</a:t>
            </a:r>
            <a:r>
              <a:rPr lang="en-US" altLang="zh-CN" dirty="0" smtClean="0"/>
              <a:t>PO</a:t>
            </a:r>
            <a:r>
              <a:rPr lang="en-US" altLang="zh-CN" baseline="-25000" dirty="0" smtClean="0"/>
              <a:t>4</a:t>
            </a:r>
            <a:r>
              <a:rPr lang="en-US" altLang="zh-CN" dirty="0" smtClean="0"/>
              <a:t> (</a:t>
            </a:r>
            <a:r>
              <a:rPr lang="en-US" altLang="zh-CN" dirty="0" err="1" smtClean="0"/>
              <a:t>aq</a:t>
            </a:r>
            <a:r>
              <a:rPr lang="en-US" altLang="zh-CN" dirty="0" smtClean="0"/>
              <a:t>) </a:t>
            </a:r>
            <a:r>
              <a:rPr lang="en-US" altLang="zh-CN" dirty="0" smtClean="0">
                <a:sym typeface="Wingdings" pitchFamily="2" charset="2"/>
              </a:rPr>
              <a:t> 3 H</a:t>
            </a:r>
            <a:r>
              <a:rPr lang="en-US" altLang="zh-CN" baseline="30000" dirty="0" smtClean="0">
                <a:sym typeface="Wingdings" pitchFamily="2" charset="2"/>
              </a:rPr>
              <a:t>+</a:t>
            </a:r>
            <a:r>
              <a:rPr lang="en-US" altLang="zh-CN" dirty="0" smtClean="0">
                <a:sym typeface="Wingdings" pitchFamily="2" charset="2"/>
              </a:rPr>
              <a:t> (</a:t>
            </a:r>
            <a:r>
              <a:rPr lang="en-US" altLang="zh-CN" dirty="0" err="1" smtClean="0">
                <a:sym typeface="Wingdings" pitchFamily="2" charset="2"/>
              </a:rPr>
              <a:t>aq</a:t>
            </a:r>
            <a:r>
              <a:rPr lang="en-US" altLang="zh-CN" dirty="0" smtClean="0">
                <a:sym typeface="Wingdings" pitchFamily="2" charset="2"/>
              </a:rPr>
              <a:t>) + PO</a:t>
            </a:r>
            <a:r>
              <a:rPr lang="en-US" altLang="zh-CN" baseline="-25000" dirty="0" smtClean="0">
                <a:sym typeface="Wingdings" pitchFamily="2" charset="2"/>
              </a:rPr>
              <a:t>4</a:t>
            </a:r>
            <a:r>
              <a:rPr lang="en-US" altLang="zh-CN" baseline="30000" dirty="0" smtClean="0">
                <a:sym typeface="Wingdings" pitchFamily="2" charset="2"/>
              </a:rPr>
              <a:t>3-</a:t>
            </a:r>
            <a:r>
              <a:rPr lang="en-US" altLang="zh-CN" dirty="0" smtClean="0">
                <a:sym typeface="Wingdings" pitchFamily="2" charset="2"/>
              </a:rPr>
              <a:t> (</a:t>
            </a:r>
            <a:r>
              <a:rPr lang="en-US" altLang="zh-CN" dirty="0" err="1" smtClean="0">
                <a:sym typeface="Wingdings" pitchFamily="2" charset="2"/>
              </a:rPr>
              <a:t>aq</a:t>
            </a:r>
            <a:r>
              <a:rPr lang="en-US" altLang="zh-CN" dirty="0" smtClean="0">
                <a:sym typeface="Wingdings" pitchFamily="2" charset="2"/>
              </a:rPr>
              <a:t>)</a:t>
            </a:r>
            <a:endParaRPr lang="en-US" dirty="0" smtClean="0"/>
          </a:p>
          <a:p>
            <a:pPr>
              <a:buNone/>
            </a:pPr>
            <a:r>
              <a:rPr lang="en-US" dirty="0" smtClean="0"/>
              <a:t>2. </a:t>
            </a:r>
            <a:r>
              <a:rPr lang="zh-CN" altLang="en-US" dirty="0" smtClean="0"/>
              <a:t>具有酸的通性</a:t>
            </a:r>
            <a:r>
              <a:rPr lang="zh-CN" altLang="en-US" dirty="0" smtClean="0"/>
              <a:t>：使石</a:t>
            </a:r>
            <a:r>
              <a:rPr lang="zh-CN" altLang="en-US" dirty="0" smtClean="0"/>
              <a:t>蕊试纸变红、与金属反应产生氢气、与碱反应、与碳酸盐反应</a:t>
            </a:r>
            <a:endParaRPr lang="en-US" altLang="zh-CN" dirty="0" smtClean="0"/>
          </a:p>
          <a:p>
            <a:pPr>
              <a:buNone/>
            </a:pPr>
            <a:r>
              <a:rPr lang="en-US" altLang="zh-CN" dirty="0" smtClean="0"/>
              <a:t>3. P</a:t>
            </a:r>
            <a:r>
              <a:rPr lang="en-US" altLang="zh-CN" baseline="-25000" dirty="0" smtClean="0"/>
              <a:t>2</a:t>
            </a:r>
            <a:r>
              <a:rPr lang="en-US" altLang="zh-CN" dirty="0" smtClean="0"/>
              <a:t>O</a:t>
            </a:r>
            <a:r>
              <a:rPr lang="en-US" altLang="zh-CN" baseline="-25000" dirty="0" smtClean="0"/>
              <a:t>5</a:t>
            </a:r>
            <a:r>
              <a:rPr lang="en-US" altLang="zh-CN" dirty="0" smtClean="0"/>
              <a:t>  </a:t>
            </a:r>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linds(horizontal)">
                                      <p:cBhvr>
                                        <p:cTn id="5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en-US" altLang="zh-CN" dirty="0" smtClean="0"/>
              <a:t>13.7.2 </a:t>
            </a:r>
            <a:r>
              <a:rPr lang="zh-CN" altLang="en-US" dirty="0" smtClean="0"/>
              <a:t>磷酸</a:t>
            </a:r>
            <a:endParaRPr lang="en-US" dirty="0"/>
          </a:p>
        </p:txBody>
      </p:sp>
      <p:sp>
        <p:nvSpPr>
          <p:cNvPr id="3" name="Content Placeholder 2"/>
          <p:cNvSpPr>
            <a:spLocks noGrp="1"/>
          </p:cNvSpPr>
          <p:nvPr>
            <p:ph idx="1"/>
          </p:nvPr>
        </p:nvSpPr>
        <p:spPr>
          <a:xfrm>
            <a:off x="457200" y="1219200"/>
            <a:ext cx="8229600" cy="5486400"/>
          </a:xfrm>
        </p:spPr>
        <p:txBody>
          <a:bodyPr/>
          <a:lstStyle/>
          <a:p>
            <a:pPr>
              <a:buFont typeface="Wingdings" pitchFamily="2" charset="2"/>
              <a:buChar char="Ø"/>
            </a:pPr>
            <a:r>
              <a:rPr lang="en-US" altLang="zh-CN" dirty="0" smtClean="0"/>
              <a:t>P</a:t>
            </a:r>
            <a:r>
              <a:rPr lang="en-US" altLang="zh-CN" baseline="-25000" dirty="0" smtClean="0"/>
              <a:t>2</a:t>
            </a:r>
            <a:r>
              <a:rPr lang="en-US" altLang="zh-CN" dirty="0" smtClean="0"/>
              <a:t>O</a:t>
            </a:r>
            <a:r>
              <a:rPr lang="en-US" altLang="zh-CN" baseline="-25000" dirty="0" smtClean="0"/>
              <a:t>5</a:t>
            </a:r>
            <a:r>
              <a:rPr lang="en-US" altLang="zh-CN" dirty="0" smtClean="0"/>
              <a:t> + H</a:t>
            </a:r>
            <a:r>
              <a:rPr lang="en-US" altLang="zh-CN" baseline="-25000" dirty="0" smtClean="0"/>
              <a:t>2</a:t>
            </a:r>
            <a:r>
              <a:rPr lang="en-US" altLang="zh-CN" dirty="0" smtClean="0"/>
              <a:t>O  (</a:t>
            </a:r>
            <a:r>
              <a:rPr lang="zh-CN" altLang="en-US" dirty="0" smtClean="0"/>
              <a:t>冷水</a:t>
            </a:r>
            <a:r>
              <a:rPr lang="en-US" altLang="zh-CN" dirty="0" smtClean="0"/>
              <a:t>) </a:t>
            </a:r>
            <a:r>
              <a:rPr lang="en-US" altLang="zh-CN" dirty="0" smtClean="0">
                <a:sym typeface="Wingdings" pitchFamily="2" charset="2"/>
              </a:rPr>
              <a:t> 2 HPO</a:t>
            </a:r>
            <a:r>
              <a:rPr lang="en-US" altLang="zh-CN" baseline="-25000" dirty="0" smtClean="0">
                <a:sym typeface="Wingdings" pitchFamily="2" charset="2"/>
              </a:rPr>
              <a:t>3</a:t>
            </a:r>
            <a:r>
              <a:rPr lang="en-US" altLang="zh-CN" dirty="0" smtClean="0">
                <a:sym typeface="Wingdings" pitchFamily="2" charset="2"/>
              </a:rPr>
              <a:t>  </a:t>
            </a:r>
            <a:r>
              <a:rPr lang="zh-CN" altLang="en-US" dirty="0" smtClean="0">
                <a:solidFill>
                  <a:srgbClr val="FF0000"/>
                </a:solidFill>
                <a:sym typeface="Wingdings" pitchFamily="2" charset="2"/>
              </a:rPr>
              <a:t>偏磷酸有毒</a:t>
            </a:r>
            <a:endParaRPr lang="en-US" altLang="zh-CN" dirty="0" smtClean="0">
              <a:solidFill>
                <a:srgbClr val="FF0000"/>
              </a:solidFill>
              <a:sym typeface="Wingdings" pitchFamily="2" charset="2"/>
            </a:endParaRPr>
          </a:p>
          <a:p>
            <a:pPr>
              <a:buFont typeface="Wingdings" pitchFamily="2" charset="2"/>
              <a:buChar char="Ø"/>
            </a:pPr>
            <a:r>
              <a:rPr lang="en-US" altLang="zh-CN" dirty="0" smtClean="0"/>
              <a:t>P</a:t>
            </a:r>
            <a:r>
              <a:rPr lang="en-US" altLang="zh-CN" baseline="-25000" dirty="0" smtClean="0"/>
              <a:t>2</a:t>
            </a:r>
            <a:r>
              <a:rPr lang="en-US" altLang="zh-CN" dirty="0" smtClean="0"/>
              <a:t>O</a:t>
            </a:r>
            <a:r>
              <a:rPr lang="en-US" altLang="zh-CN" baseline="-25000" dirty="0" smtClean="0"/>
              <a:t>5</a:t>
            </a:r>
            <a:r>
              <a:rPr lang="en-US" altLang="zh-CN" dirty="0" smtClean="0"/>
              <a:t> + 3H</a:t>
            </a:r>
            <a:r>
              <a:rPr lang="en-US" altLang="zh-CN" baseline="-25000" dirty="0" smtClean="0"/>
              <a:t>2</a:t>
            </a:r>
            <a:r>
              <a:rPr lang="en-US" altLang="zh-CN" dirty="0" smtClean="0"/>
              <a:t>O (</a:t>
            </a:r>
            <a:r>
              <a:rPr lang="zh-CN" altLang="en-US" dirty="0" smtClean="0"/>
              <a:t>热水</a:t>
            </a:r>
            <a:r>
              <a:rPr lang="en-US" altLang="zh-CN" dirty="0" smtClean="0"/>
              <a:t>) </a:t>
            </a:r>
            <a:r>
              <a:rPr lang="en-US" altLang="zh-CN" dirty="0" smtClean="0">
                <a:sym typeface="Wingdings" pitchFamily="2" charset="2"/>
              </a:rPr>
              <a:t> 2 H</a:t>
            </a:r>
            <a:r>
              <a:rPr lang="en-US" altLang="zh-CN" baseline="-25000" dirty="0" smtClean="0">
                <a:sym typeface="Wingdings" pitchFamily="2" charset="2"/>
              </a:rPr>
              <a:t>3</a:t>
            </a:r>
            <a:r>
              <a:rPr lang="en-US" altLang="zh-CN" dirty="0" smtClean="0">
                <a:sym typeface="Wingdings" pitchFamily="2" charset="2"/>
              </a:rPr>
              <a:t>PO</a:t>
            </a:r>
            <a:r>
              <a:rPr lang="en-US" altLang="zh-CN" baseline="-25000" dirty="0" smtClean="0">
                <a:sym typeface="Wingdings" pitchFamily="2" charset="2"/>
              </a:rPr>
              <a:t>4</a:t>
            </a:r>
            <a:r>
              <a:rPr lang="en-US" altLang="zh-CN" dirty="0" smtClean="0">
                <a:sym typeface="Wingdings" pitchFamily="2" charset="2"/>
              </a:rPr>
              <a:t>  </a:t>
            </a:r>
            <a:r>
              <a:rPr lang="zh-CN" altLang="en-US" dirty="0" smtClean="0">
                <a:solidFill>
                  <a:srgbClr val="FF0000"/>
                </a:solidFill>
                <a:sym typeface="Wingdings" pitchFamily="2" charset="2"/>
              </a:rPr>
              <a:t>正磷酸无毒</a:t>
            </a:r>
            <a:endParaRPr lang="en-US" altLang="zh-CN" dirty="0" smtClean="0">
              <a:solidFill>
                <a:srgbClr val="FF0000"/>
              </a:solidFill>
              <a:sym typeface="Wingdings" pitchFamily="2" charset="2"/>
            </a:endParaRPr>
          </a:p>
          <a:p>
            <a:pPr>
              <a:buFont typeface="Wingdings" pitchFamily="2" charset="2"/>
              <a:buChar char="Ø"/>
            </a:pPr>
            <a:endParaRPr lang="en-US" dirty="0" smtClean="0">
              <a:solidFill>
                <a:srgbClr val="FF0000"/>
              </a:solidFill>
              <a:sym typeface="Wingdings" pitchFamily="2" charset="2"/>
            </a:endParaRPr>
          </a:p>
          <a:p>
            <a:pPr>
              <a:buFont typeface="Wingdings" pitchFamily="2" charset="2"/>
              <a:buChar char="Ø"/>
            </a:pPr>
            <a:r>
              <a:rPr lang="zh-CN" altLang="en-US" dirty="0" smtClean="0">
                <a:sym typeface="Wingdings" pitchFamily="2" charset="2"/>
              </a:rPr>
              <a:t>制取：</a:t>
            </a:r>
            <a:endParaRPr lang="en-US" altLang="zh-CN" dirty="0" smtClean="0">
              <a:sym typeface="Wingdings" pitchFamily="2" charset="2"/>
            </a:endParaRPr>
          </a:p>
          <a:p>
            <a:pPr>
              <a:buNone/>
            </a:pPr>
            <a:r>
              <a:rPr lang="en-US" altLang="zh-CN" dirty="0" smtClean="0">
                <a:sym typeface="Wingdings" pitchFamily="2" charset="2"/>
              </a:rPr>
              <a:t>Ca</a:t>
            </a:r>
            <a:r>
              <a:rPr lang="en-US" altLang="zh-CN" baseline="-25000" dirty="0" smtClean="0">
                <a:sym typeface="Wingdings" pitchFamily="2" charset="2"/>
              </a:rPr>
              <a:t>3</a:t>
            </a:r>
            <a:r>
              <a:rPr lang="en-US" altLang="zh-CN" dirty="0" smtClean="0">
                <a:sym typeface="Wingdings" pitchFamily="2" charset="2"/>
              </a:rPr>
              <a:t>(PO</a:t>
            </a:r>
            <a:r>
              <a:rPr lang="en-US" altLang="zh-CN" baseline="-25000" dirty="0" smtClean="0">
                <a:sym typeface="Wingdings" pitchFamily="2" charset="2"/>
              </a:rPr>
              <a:t>4</a:t>
            </a:r>
            <a:r>
              <a:rPr lang="en-US" altLang="zh-CN" dirty="0" smtClean="0">
                <a:sym typeface="Wingdings" pitchFamily="2" charset="2"/>
              </a:rPr>
              <a:t>)</a:t>
            </a:r>
            <a:r>
              <a:rPr lang="en-US" altLang="zh-CN" baseline="-25000" dirty="0" smtClean="0">
                <a:sym typeface="Wingdings" pitchFamily="2" charset="2"/>
              </a:rPr>
              <a:t>2</a:t>
            </a:r>
            <a:r>
              <a:rPr lang="en-US" altLang="zh-CN" dirty="0" smtClean="0">
                <a:sym typeface="Wingdings" pitchFamily="2" charset="2"/>
              </a:rPr>
              <a:t> + 3H</a:t>
            </a:r>
            <a:r>
              <a:rPr lang="en-US" altLang="zh-CN" baseline="-25000" dirty="0" smtClean="0">
                <a:sym typeface="Wingdings" pitchFamily="2" charset="2"/>
              </a:rPr>
              <a:t>2</a:t>
            </a:r>
            <a:r>
              <a:rPr lang="en-US" altLang="zh-CN" dirty="0" smtClean="0">
                <a:sym typeface="Wingdings" pitchFamily="2" charset="2"/>
              </a:rPr>
              <a:t>SO</a:t>
            </a:r>
            <a:r>
              <a:rPr lang="en-US" altLang="zh-CN" baseline="-25000" dirty="0" smtClean="0">
                <a:sym typeface="Wingdings" pitchFamily="2" charset="2"/>
              </a:rPr>
              <a:t>4 </a:t>
            </a:r>
            <a:r>
              <a:rPr lang="en-US" altLang="zh-CN" dirty="0" smtClean="0">
                <a:sym typeface="Wingdings" pitchFamily="2" charset="2"/>
              </a:rPr>
              <a:t>  3 CaSO</a:t>
            </a:r>
            <a:r>
              <a:rPr lang="en-US" altLang="zh-CN" baseline="-25000" dirty="0" smtClean="0">
                <a:sym typeface="Wingdings" pitchFamily="2" charset="2"/>
              </a:rPr>
              <a:t>4</a:t>
            </a:r>
            <a:r>
              <a:rPr lang="en-US" altLang="zh-CN" dirty="0" smtClean="0">
                <a:sym typeface="Wingdings" pitchFamily="2" charset="2"/>
              </a:rPr>
              <a:t> + 2 H</a:t>
            </a:r>
            <a:r>
              <a:rPr lang="en-US" altLang="zh-CN" baseline="-25000" dirty="0" smtClean="0">
                <a:sym typeface="Wingdings" pitchFamily="2" charset="2"/>
              </a:rPr>
              <a:t>3</a:t>
            </a:r>
            <a:r>
              <a:rPr lang="en-US" altLang="zh-CN" dirty="0" smtClean="0">
                <a:sym typeface="Wingdings" pitchFamily="2" charset="2"/>
              </a:rPr>
              <a:t>PO</a:t>
            </a:r>
            <a:r>
              <a:rPr lang="en-US" altLang="zh-CN" baseline="-25000" dirty="0" smtClean="0">
                <a:sym typeface="Wingdings" pitchFamily="2" charset="2"/>
              </a:rPr>
              <a:t>4</a:t>
            </a:r>
            <a:r>
              <a:rPr lang="en-US" altLang="zh-CN" dirty="0" smtClean="0">
                <a:sym typeface="Wingdings" pitchFamily="2" charset="2"/>
              </a:rPr>
              <a:t> </a:t>
            </a:r>
          </a:p>
          <a:p>
            <a:pPr>
              <a:buNone/>
            </a:pPr>
            <a:endParaRPr lang="en-US" dirty="0" smtClean="0">
              <a:sym typeface="Wingdings" pitchFamily="2" charset="2"/>
            </a:endParaRPr>
          </a:p>
          <a:p>
            <a:pPr>
              <a:buFont typeface="Wingdings" pitchFamily="2" charset="2"/>
              <a:buChar char="Ø"/>
            </a:pPr>
            <a:r>
              <a:rPr lang="zh-CN" altLang="en-US" dirty="0" smtClean="0">
                <a:sym typeface="Wingdings" pitchFamily="2" charset="2"/>
              </a:rPr>
              <a:t>用途：</a:t>
            </a:r>
            <a:endParaRPr lang="en-US" altLang="zh-CN" dirty="0" smtClean="0">
              <a:sym typeface="Wingdings" pitchFamily="2" charset="2"/>
            </a:endParaRPr>
          </a:p>
          <a:p>
            <a:pPr>
              <a:buNone/>
            </a:pPr>
            <a:r>
              <a:rPr lang="zh-CN" altLang="en-US" dirty="0" smtClean="0">
                <a:sym typeface="Wingdings" pitchFamily="2" charset="2"/>
              </a:rPr>
              <a:t>制磷肥、处理金属表面</a:t>
            </a:r>
            <a:r>
              <a:rPr lang="en-US" altLang="zh-CN" dirty="0" smtClean="0">
                <a:sym typeface="Wingdings" pitchFamily="2" charset="2"/>
              </a:rPr>
              <a:t>(</a:t>
            </a:r>
            <a:r>
              <a:rPr lang="zh-CN" altLang="en-US" dirty="0" smtClean="0">
                <a:sym typeface="Wingdings" pitchFamily="2" charset="2"/>
              </a:rPr>
              <a:t>生成磷酸盐薄膜</a:t>
            </a:r>
            <a:r>
              <a:rPr lang="en-US" altLang="zh-CN" dirty="0" smtClean="0">
                <a:sym typeface="Wingdings" pitchFamily="2" charset="2"/>
              </a:rPr>
              <a:t>)</a:t>
            </a:r>
            <a:r>
              <a:rPr lang="zh-CN" altLang="en-US" dirty="0" smtClean="0">
                <a:sym typeface="Wingdings" pitchFamily="2" charset="2"/>
              </a:rPr>
              <a:t>、</a:t>
            </a:r>
            <a:endParaRPr lang="en-US" altLang="zh-CN" dirty="0" smtClean="0">
              <a:sym typeface="Wingdings" pitchFamily="2" charset="2"/>
            </a:endParaRPr>
          </a:p>
          <a:p>
            <a:pPr>
              <a:buNone/>
            </a:pPr>
            <a:r>
              <a:rPr lang="zh-CN" altLang="en-US" dirty="0" smtClean="0">
                <a:sym typeface="Wingdings" pitchFamily="2" charset="2"/>
              </a:rPr>
              <a:t>磷酸</a:t>
            </a:r>
            <a:r>
              <a:rPr lang="en-US" altLang="zh-CN" dirty="0" smtClean="0">
                <a:sym typeface="Wingdings" pitchFamily="2" charset="2"/>
              </a:rPr>
              <a:t>+</a:t>
            </a:r>
            <a:r>
              <a:rPr lang="zh-CN" altLang="en-US" dirty="0" smtClean="0">
                <a:sym typeface="Wingdings" pitchFamily="2" charset="2"/>
              </a:rPr>
              <a:t>硝酸制作化学抛光剂。</a:t>
            </a:r>
            <a:endParaRPr lang="en-US" altLang="zh-CN" dirty="0" smtClean="0">
              <a:sym typeface="Wingdings" pitchFamily="2" charset="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blinds(horizontal)">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blinds(horizontal)">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blinds(horizontal)">
                                      <p:cBhvr>
                                        <p:cTn id="3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en-US" altLang="zh-CN" dirty="0" smtClean="0"/>
              <a:t>13.7.3 </a:t>
            </a:r>
            <a:r>
              <a:rPr lang="zh-CN" altLang="en-US" dirty="0" smtClean="0"/>
              <a:t>磷酸盐</a:t>
            </a:r>
            <a:endParaRPr lang="en-US" dirty="0"/>
          </a:p>
        </p:txBody>
      </p:sp>
      <p:sp>
        <p:nvSpPr>
          <p:cNvPr id="3" name="Content Placeholder 2"/>
          <p:cNvSpPr>
            <a:spLocks noGrp="1"/>
          </p:cNvSpPr>
          <p:nvPr>
            <p:ph idx="1"/>
          </p:nvPr>
        </p:nvSpPr>
        <p:spPr>
          <a:xfrm>
            <a:off x="457200" y="990600"/>
            <a:ext cx="8229600" cy="5715000"/>
          </a:xfrm>
        </p:spPr>
        <p:txBody>
          <a:bodyPr>
            <a:normAutofit/>
          </a:bodyPr>
          <a:lstStyle/>
          <a:p>
            <a:pPr lvl="0">
              <a:lnSpc>
                <a:spcPct val="150000"/>
              </a:lnSpc>
              <a:buFont typeface="Wingdings" pitchFamily="2" charset="2"/>
              <a:buChar char="Ø"/>
              <a:defRPr/>
            </a:pPr>
            <a:r>
              <a:rPr lang="zh-CN" altLang="en-US" dirty="0" smtClean="0"/>
              <a:t>磷酸是三元酸，能形成三种盐。 </a:t>
            </a:r>
            <a:endParaRPr lang="en-US" altLang="zh-CN" dirty="0" smtClean="0"/>
          </a:p>
          <a:p>
            <a:pPr lvl="0">
              <a:lnSpc>
                <a:spcPct val="150000"/>
              </a:lnSpc>
              <a:buFont typeface="Wingdings" pitchFamily="2" charset="2"/>
              <a:buChar char="Ø"/>
              <a:defRPr/>
            </a:pPr>
            <a:r>
              <a:rPr lang="zh-CN" altLang="en-US" dirty="0" smtClean="0"/>
              <a:t>磷酸盐</a:t>
            </a:r>
            <a:r>
              <a:rPr lang="en-US" altLang="zh-CN" dirty="0" smtClean="0"/>
              <a:t>		PO</a:t>
            </a:r>
            <a:r>
              <a:rPr lang="en-US" altLang="zh-CN" baseline="-25000" dirty="0" smtClean="0"/>
              <a:t>4</a:t>
            </a:r>
            <a:r>
              <a:rPr lang="en-US" altLang="zh-CN" baseline="30000" dirty="0" smtClean="0"/>
              <a:t>3- </a:t>
            </a:r>
            <a:r>
              <a:rPr lang="en-US" altLang="zh-CN" dirty="0" smtClean="0"/>
              <a:t> 	</a:t>
            </a:r>
            <a:r>
              <a:rPr lang="zh-CN" altLang="en-US" b="1" dirty="0" smtClean="0">
                <a:solidFill>
                  <a:srgbClr val="7030A0"/>
                </a:solidFill>
                <a:effectLst>
                  <a:outerShdw blurRad="38100" dist="38100" dir="2700000" algn="tl">
                    <a:srgbClr val="000000">
                      <a:alpha val="43137"/>
                    </a:srgbClr>
                  </a:outerShdw>
                </a:effectLst>
              </a:rPr>
              <a:t>正盐</a:t>
            </a:r>
            <a:endParaRPr lang="en-US" altLang="zh-CN" b="1" dirty="0" smtClean="0">
              <a:solidFill>
                <a:srgbClr val="7030A0"/>
              </a:solidFill>
              <a:effectLst>
                <a:outerShdw blurRad="38100" dist="38100" dir="2700000" algn="tl">
                  <a:srgbClr val="000000">
                    <a:alpha val="43137"/>
                  </a:srgbClr>
                </a:outerShdw>
              </a:effectLst>
            </a:endParaRPr>
          </a:p>
          <a:p>
            <a:pPr lvl="0">
              <a:lnSpc>
                <a:spcPct val="150000"/>
              </a:lnSpc>
              <a:buFont typeface="Wingdings" pitchFamily="2" charset="2"/>
              <a:buChar char="Ø"/>
              <a:defRPr/>
            </a:pPr>
            <a:r>
              <a:rPr lang="zh-CN" altLang="en-US" dirty="0" smtClean="0"/>
              <a:t>磷酸氢盐</a:t>
            </a:r>
            <a:r>
              <a:rPr lang="en-US" altLang="zh-CN" dirty="0" smtClean="0"/>
              <a:t>	HPO</a:t>
            </a:r>
            <a:r>
              <a:rPr lang="en-US" altLang="zh-CN" baseline="-25000" dirty="0" smtClean="0"/>
              <a:t>4</a:t>
            </a:r>
            <a:r>
              <a:rPr lang="en-US" altLang="zh-CN" baseline="30000" dirty="0" smtClean="0"/>
              <a:t>2-</a:t>
            </a:r>
            <a:r>
              <a:rPr lang="en-US" altLang="zh-CN" dirty="0" smtClean="0"/>
              <a:t>  	</a:t>
            </a:r>
            <a:r>
              <a:rPr lang="zh-CN" altLang="en-US" b="1" dirty="0" smtClean="0">
                <a:solidFill>
                  <a:srgbClr val="7030A0"/>
                </a:solidFill>
                <a:effectLst>
                  <a:outerShdw blurRad="38100" dist="38100" dir="2700000" algn="tl">
                    <a:srgbClr val="000000">
                      <a:alpha val="43137"/>
                    </a:srgbClr>
                  </a:outerShdw>
                </a:effectLst>
              </a:rPr>
              <a:t>酸式盐</a:t>
            </a:r>
            <a:endParaRPr lang="en-US" altLang="zh-CN" b="1" dirty="0" smtClean="0">
              <a:solidFill>
                <a:srgbClr val="7030A0"/>
              </a:solidFill>
              <a:effectLst>
                <a:outerShdw blurRad="38100" dist="38100" dir="2700000" algn="tl">
                  <a:srgbClr val="000000">
                    <a:alpha val="43137"/>
                  </a:srgbClr>
                </a:outerShdw>
              </a:effectLst>
            </a:endParaRPr>
          </a:p>
          <a:p>
            <a:pPr lvl="0">
              <a:lnSpc>
                <a:spcPct val="150000"/>
              </a:lnSpc>
              <a:buFont typeface="Wingdings" pitchFamily="2" charset="2"/>
              <a:buChar char="Ø"/>
              <a:defRPr/>
            </a:pPr>
            <a:r>
              <a:rPr lang="zh-CN" altLang="en-US" dirty="0" smtClean="0"/>
              <a:t>磷酸二氢盐</a:t>
            </a:r>
            <a:r>
              <a:rPr lang="en-US" altLang="zh-CN" dirty="0" smtClean="0"/>
              <a:t>	H</a:t>
            </a:r>
            <a:r>
              <a:rPr lang="en-US" altLang="zh-CN" baseline="-25000" dirty="0" smtClean="0"/>
              <a:t>2</a:t>
            </a:r>
            <a:r>
              <a:rPr lang="en-US" altLang="zh-CN" dirty="0" smtClean="0"/>
              <a:t>PO</a:t>
            </a:r>
            <a:r>
              <a:rPr lang="en-US" altLang="zh-CN" baseline="-25000" dirty="0" smtClean="0"/>
              <a:t>4</a:t>
            </a:r>
            <a:r>
              <a:rPr lang="en-US" altLang="zh-CN" baseline="30000" dirty="0" smtClean="0"/>
              <a:t>- </a:t>
            </a:r>
            <a:r>
              <a:rPr lang="en-US" altLang="zh-CN" dirty="0" smtClean="0"/>
              <a:t> 	</a:t>
            </a:r>
            <a:r>
              <a:rPr lang="zh-CN" altLang="en-US" b="1" dirty="0" smtClean="0">
                <a:solidFill>
                  <a:srgbClr val="7030A0"/>
                </a:solidFill>
                <a:effectLst>
                  <a:outerShdw blurRad="38100" dist="38100" dir="2700000" algn="tl">
                    <a:srgbClr val="000000">
                      <a:alpha val="43137"/>
                    </a:srgbClr>
                  </a:outerShdw>
                </a:effectLst>
              </a:rPr>
              <a:t>酸式盐</a:t>
            </a:r>
            <a:endParaRPr lang="en-US" altLang="zh-CN" dirty="0" smtClean="0"/>
          </a:p>
          <a:p>
            <a:pPr lvl="0">
              <a:lnSpc>
                <a:spcPct val="150000"/>
              </a:lnSpc>
              <a:buFont typeface="Wingdings" pitchFamily="2" charset="2"/>
              <a:buChar char="Ø"/>
              <a:defRPr/>
            </a:pPr>
            <a:r>
              <a:rPr lang="zh-CN" altLang="en-US" b="1" dirty="0" smtClean="0">
                <a:solidFill>
                  <a:srgbClr val="FF0000"/>
                </a:solidFill>
              </a:rPr>
              <a:t>磷酸二氢盐都易溶于水</a:t>
            </a:r>
            <a:r>
              <a:rPr lang="zh-CN" altLang="en-US" dirty="0" smtClean="0"/>
              <a:t>，磷酸氢盐</a:t>
            </a:r>
            <a:r>
              <a:rPr lang="en-US" altLang="zh-CN" dirty="0" smtClean="0"/>
              <a:t> </a:t>
            </a:r>
            <a:r>
              <a:rPr lang="zh-CN" altLang="en-US" dirty="0" smtClean="0"/>
              <a:t>和磷酸盐除钾、钠、铵盐外，几乎都不溶于水。</a:t>
            </a:r>
            <a:r>
              <a:rPr lang="en-US" altLang="zh-CN" dirty="0" smtClean="0"/>
              <a:t> </a:t>
            </a:r>
            <a:endParaRPr lang="en-US" altLang="zh-CN" dirty="0"/>
          </a:p>
          <a:p>
            <a:pPr lvl="0">
              <a:lnSpc>
                <a:spcPct val="150000"/>
              </a:lnSpc>
              <a:buFont typeface="Wingdings" pitchFamily="2" charset="2"/>
              <a:buChar char="Ø"/>
              <a:defRPr/>
            </a:pPr>
            <a:r>
              <a:rPr lang="zh-CN" altLang="en-US" dirty="0" smtClean="0"/>
              <a:t>用途：用于农业、食品加工</a:t>
            </a:r>
            <a:endParaRPr lang="en-US" altLang="zh-CN" dirty="0" smtClean="0"/>
          </a:p>
        </p:txBody>
      </p:sp>
      <p:sp>
        <p:nvSpPr>
          <p:cNvPr id="5" name="Content Placeholder 2"/>
          <p:cNvSpPr txBox="1">
            <a:spLocks/>
          </p:cNvSpPr>
          <p:nvPr/>
        </p:nvSpPr>
        <p:spPr>
          <a:xfrm>
            <a:off x="628650" y="1825624"/>
            <a:ext cx="7886700" cy="4420629"/>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altLang="zh-CN" sz="3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altLang="zh-CN" sz="2800" b="1" i="0" u="none" strike="noStrike" kern="1200" cap="none" spc="0" normalizeH="0" baseline="0" noProof="0" dirty="0" smtClean="0">
              <a:ln>
                <a:noFill/>
              </a:ln>
              <a:solidFill>
                <a:srgbClr val="7030A0"/>
              </a:solidFill>
              <a:effectLst>
                <a:outerShdw blurRad="38100" dist="38100" dir="2700000" algn="tl">
                  <a:srgbClr val="000000">
                    <a:alpha val="43137"/>
                  </a:srgbClr>
                </a:outerShdw>
              </a:effectLst>
              <a:uLnTx/>
              <a:uFillTx/>
              <a:latin typeface="+mn-lt"/>
              <a:ea typeface="+mn-ea"/>
              <a:cs typeface="+mn-cs"/>
            </a:endParaRPr>
          </a:p>
          <a:p>
            <a:pPr marL="457200" marR="0" lvl="1"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altLang="zh-CN" sz="2800" b="1"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mn-lt"/>
              <a:ea typeface="+mn-ea"/>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zh-CN" altLang="en-US" dirty="0" smtClean="0"/>
              <a:t>思考题</a:t>
            </a:r>
            <a:r>
              <a:rPr lang="en-US" altLang="zh-CN" dirty="0" smtClean="0"/>
              <a:t>13g</a:t>
            </a:r>
            <a:endParaRPr lang="en-US" dirty="0"/>
          </a:p>
        </p:txBody>
      </p:sp>
      <p:sp>
        <p:nvSpPr>
          <p:cNvPr id="3" name="Content Placeholder 2"/>
          <p:cNvSpPr>
            <a:spLocks noGrp="1"/>
          </p:cNvSpPr>
          <p:nvPr>
            <p:ph idx="1"/>
          </p:nvPr>
        </p:nvSpPr>
        <p:spPr>
          <a:xfrm>
            <a:off x="457200" y="990600"/>
            <a:ext cx="8229600" cy="5486400"/>
          </a:xfrm>
        </p:spPr>
        <p:txBody>
          <a:bodyPr>
            <a:normAutofit/>
          </a:bodyPr>
          <a:lstStyle/>
          <a:p>
            <a:pPr marL="514350" indent="-514350">
              <a:buAutoNum type="arabicPeriod"/>
            </a:pPr>
            <a:r>
              <a:rPr lang="zh-CN" altLang="en-US" dirty="0" smtClean="0"/>
              <a:t>磷原子序数</a:t>
            </a:r>
            <a:r>
              <a:rPr lang="en-US" dirty="0" smtClean="0"/>
              <a:t>15</a:t>
            </a:r>
            <a:r>
              <a:rPr lang="zh-CN" altLang="en-US" dirty="0" smtClean="0"/>
              <a:t>，原子核外有</a:t>
            </a:r>
            <a:r>
              <a:rPr lang="en-US" altLang="zh-CN" b="1" dirty="0" smtClean="0">
                <a:solidFill>
                  <a:srgbClr val="002060"/>
                </a:solidFill>
                <a:effectLst>
                  <a:outerShdw blurRad="38100" dist="38100" dir="2700000" algn="tl">
                    <a:srgbClr val="000000">
                      <a:alpha val="43137"/>
                    </a:srgbClr>
                  </a:outerShdw>
                </a:effectLst>
              </a:rPr>
              <a:t>15</a:t>
            </a:r>
            <a:r>
              <a:rPr lang="zh-CN" altLang="en-US" dirty="0" smtClean="0"/>
              <a:t>个电子。</a:t>
            </a:r>
            <a:endParaRPr lang="en-US" altLang="zh-CN" dirty="0" smtClean="0"/>
          </a:p>
          <a:p>
            <a:pPr marL="514350" indent="-514350">
              <a:buNone/>
            </a:pPr>
            <a:r>
              <a:rPr lang="en-US" dirty="0" smtClean="0"/>
              <a:t>	</a:t>
            </a:r>
            <a:r>
              <a:rPr lang="zh-CN" altLang="en-US" dirty="0" smtClean="0"/>
              <a:t>白磷燃点低，易</a:t>
            </a:r>
            <a:r>
              <a:rPr lang="zh-CN" altLang="en-US" b="1" dirty="0" smtClean="0">
                <a:solidFill>
                  <a:srgbClr val="002060"/>
                </a:solidFill>
                <a:effectLst>
                  <a:outerShdw blurRad="38100" dist="38100" dir="2700000" algn="tl">
                    <a:srgbClr val="000000">
                      <a:alpha val="43137"/>
                    </a:srgbClr>
                  </a:outerShdw>
                </a:effectLst>
              </a:rPr>
              <a:t>自燃</a:t>
            </a:r>
            <a:r>
              <a:rPr lang="zh-CN" altLang="en-US" dirty="0" smtClean="0"/>
              <a:t>，保存在</a:t>
            </a:r>
            <a:r>
              <a:rPr lang="zh-CN" altLang="en-US" b="1" dirty="0" smtClean="0">
                <a:solidFill>
                  <a:srgbClr val="002060"/>
                </a:solidFill>
                <a:effectLst>
                  <a:outerShdw blurRad="38100" dist="38100" dir="2700000" algn="tl">
                    <a:srgbClr val="000000">
                      <a:alpha val="43137"/>
                    </a:srgbClr>
                  </a:outerShdw>
                </a:effectLst>
              </a:rPr>
              <a:t>水中</a:t>
            </a:r>
            <a:r>
              <a:rPr lang="zh-CN" altLang="en-US" dirty="0" smtClean="0"/>
              <a:t>。</a:t>
            </a:r>
            <a:endParaRPr lang="en-US" dirty="0" smtClean="0"/>
          </a:p>
          <a:p>
            <a:pPr marL="514350" indent="-514350">
              <a:buNone/>
            </a:pPr>
            <a:r>
              <a:rPr lang="en-US" altLang="zh-CN" dirty="0" smtClean="0"/>
              <a:t>2. 	</a:t>
            </a:r>
            <a:r>
              <a:rPr lang="en-US" altLang="zh-CN" dirty="0" smtClean="0"/>
              <a:t>A		NH</a:t>
            </a:r>
            <a:r>
              <a:rPr lang="en-US" altLang="zh-CN" baseline="-25000" dirty="0" smtClean="0"/>
              <a:t>4</a:t>
            </a:r>
            <a:r>
              <a:rPr lang="en-US" altLang="zh-CN" dirty="0" smtClean="0"/>
              <a:t>Cl </a:t>
            </a:r>
            <a:r>
              <a:rPr lang="zh-CN" altLang="en-US" dirty="0" smtClean="0"/>
              <a:t>是离子化合物</a:t>
            </a:r>
            <a:endParaRPr lang="en-US" altLang="zh-CN" dirty="0" smtClean="0"/>
          </a:p>
          <a:p>
            <a:pPr marL="514350" indent="-514350">
              <a:buNone/>
            </a:pPr>
            <a:r>
              <a:rPr lang="en-US" altLang="zh-CN" dirty="0" smtClean="0"/>
              <a:t>	</a:t>
            </a:r>
            <a:r>
              <a:rPr lang="en-US" altLang="zh-CN" dirty="0" smtClean="0"/>
              <a:t>B		NH</a:t>
            </a:r>
            <a:r>
              <a:rPr lang="en-US" altLang="zh-CN" baseline="-25000" dirty="0" smtClean="0"/>
              <a:t>4</a:t>
            </a:r>
            <a:r>
              <a:rPr lang="en-US" altLang="zh-CN" dirty="0" smtClean="0"/>
              <a:t>Cl 	   NH</a:t>
            </a:r>
            <a:r>
              <a:rPr lang="en-US" altLang="zh-CN" baseline="-25000" dirty="0" smtClean="0"/>
              <a:t>3</a:t>
            </a:r>
            <a:r>
              <a:rPr lang="en-US" altLang="zh-CN" dirty="0" smtClean="0"/>
              <a:t> </a:t>
            </a:r>
            <a:r>
              <a:rPr lang="en-US" altLang="zh-CN" dirty="0" smtClean="0"/>
              <a:t>+ </a:t>
            </a:r>
            <a:r>
              <a:rPr lang="en-US" altLang="zh-CN" dirty="0" err="1" smtClean="0"/>
              <a:t>HCl</a:t>
            </a:r>
            <a:endParaRPr lang="en-US" altLang="zh-CN" dirty="0" smtClean="0"/>
          </a:p>
          <a:p>
            <a:pPr marL="514350" indent="-514350">
              <a:buNone/>
            </a:pPr>
            <a:r>
              <a:rPr lang="en-US" altLang="zh-CN" dirty="0" smtClean="0">
                <a:sym typeface="Wingdings" pitchFamily="2" charset="2"/>
              </a:rPr>
              <a:t>	</a:t>
            </a:r>
            <a:r>
              <a:rPr lang="en-US" altLang="zh-CN" dirty="0" smtClean="0">
                <a:sym typeface="Wingdings" pitchFamily="2" charset="2"/>
              </a:rPr>
              <a:t>		PH</a:t>
            </a:r>
            <a:r>
              <a:rPr lang="en-US" altLang="zh-CN" baseline="-25000" dirty="0" smtClean="0">
                <a:sym typeface="Wingdings" pitchFamily="2" charset="2"/>
              </a:rPr>
              <a:t>4</a:t>
            </a:r>
            <a:r>
              <a:rPr lang="en-US" altLang="zh-CN" dirty="0" smtClean="0">
                <a:sym typeface="Wingdings" pitchFamily="2" charset="2"/>
              </a:rPr>
              <a:t>I</a:t>
            </a:r>
            <a:r>
              <a:rPr lang="en-US" altLang="zh-CN" dirty="0" smtClean="0">
                <a:sym typeface="Wingdings" pitchFamily="2" charset="2"/>
              </a:rPr>
              <a:t>	</a:t>
            </a:r>
            <a:r>
              <a:rPr lang="en-US" altLang="zh-CN" dirty="0" smtClean="0">
                <a:sym typeface="Wingdings" pitchFamily="2" charset="2"/>
              </a:rPr>
              <a:t>	</a:t>
            </a:r>
            <a:r>
              <a:rPr lang="en-US" dirty="0" smtClean="0">
                <a:sym typeface="Wingdings" pitchFamily="2" charset="2"/>
              </a:rPr>
              <a:t>PH</a:t>
            </a:r>
            <a:r>
              <a:rPr lang="en-US" baseline="-25000" dirty="0" smtClean="0">
                <a:sym typeface="Wingdings" pitchFamily="2" charset="2"/>
              </a:rPr>
              <a:t>3</a:t>
            </a:r>
            <a:r>
              <a:rPr lang="en-US" dirty="0" smtClean="0">
                <a:sym typeface="Wingdings" pitchFamily="2" charset="2"/>
              </a:rPr>
              <a:t> </a:t>
            </a:r>
            <a:r>
              <a:rPr lang="en-US" dirty="0" smtClean="0">
                <a:sym typeface="Wingdings" pitchFamily="2" charset="2"/>
              </a:rPr>
              <a:t>+ HI </a:t>
            </a:r>
            <a:r>
              <a:rPr lang="zh-CN" altLang="en-US" dirty="0" smtClean="0">
                <a:sym typeface="Wingdings" pitchFamily="2" charset="2"/>
              </a:rPr>
              <a:t>。</a:t>
            </a:r>
            <a:endParaRPr lang="en-US" altLang="zh-CN" dirty="0" smtClean="0">
              <a:sym typeface="Wingdings" pitchFamily="2" charset="2"/>
            </a:endParaRPr>
          </a:p>
          <a:p>
            <a:pPr marL="514350" indent="-514350">
              <a:buNone/>
            </a:pPr>
            <a:r>
              <a:rPr lang="en-US" altLang="zh-CN" dirty="0" smtClean="0">
                <a:sym typeface="Wingdings" pitchFamily="2" charset="2"/>
              </a:rPr>
              <a:t>	</a:t>
            </a:r>
            <a:r>
              <a:rPr lang="en-US" altLang="zh-CN" dirty="0" smtClean="0">
                <a:sym typeface="Wingdings" pitchFamily="2" charset="2"/>
              </a:rPr>
              <a:t>		2 HI		H</a:t>
            </a:r>
            <a:r>
              <a:rPr lang="en-US" altLang="zh-CN" baseline="-25000" dirty="0" smtClean="0">
                <a:sym typeface="Wingdings" pitchFamily="2" charset="2"/>
              </a:rPr>
              <a:t>2</a:t>
            </a:r>
            <a:r>
              <a:rPr lang="en-US" altLang="zh-CN" dirty="0" smtClean="0">
                <a:sym typeface="Wingdings" pitchFamily="2" charset="2"/>
              </a:rPr>
              <a:t> </a:t>
            </a:r>
            <a:r>
              <a:rPr lang="en-US" altLang="zh-CN" dirty="0" smtClean="0">
                <a:sym typeface="Wingdings" pitchFamily="2" charset="2"/>
              </a:rPr>
              <a:t>+ I</a:t>
            </a:r>
            <a:r>
              <a:rPr lang="en-US" altLang="zh-CN" baseline="-25000" dirty="0" smtClean="0">
                <a:sym typeface="Wingdings" pitchFamily="2" charset="2"/>
              </a:rPr>
              <a:t>2</a:t>
            </a:r>
            <a:r>
              <a:rPr lang="en-US" altLang="zh-CN" dirty="0" smtClean="0">
                <a:sym typeface="Wingdings" pitchFamily="2" charset="2"/>
              </a:rPr>
              <a:t> </a:t>
            </a:r>
          </a:p>
          <a:p>
            <a:pPr marL="514350" indent="-514350">
              <a:buNone/>
            </a:pPr>
            <a:r>
              <a:rPr lang="en-US" altLang="zh-CN" dirty="0" smtClean="0"/>
              <a:t>	D		NH</a:t>
            </a:r>
            <a:r>
              <a:rPr lang="en-US" altLang="zh-CN" baseline="-25000" dirty="0" smtClean="0"/>
              <a:t>3</a:t>
            </a:r>
            <a:r>
              <a:rPr lang="en-US" altLang="zh-CN" dirty="0" smtClean="0"/>
              <a:t> </a:t>
            </a:r>
            <a:r>
              <a:rPr lang="en-US" altLang="zh-CN" dirty="0" smtClean="0"/>
              <a:t>+ </a:t>
            </a:r>
            <a:r>
              <a:rPr lang="en-US" altLang="zh-CN" dirty="0" err="1" smtClean="0"/>
              <a:t>HCl</a:t>
            </a:r>
            <a:r>
              <a:rPr lang="en-US" altLang="zh-CN" dirty="0" smtClean="0"/>
              <a:t> </a:t>
            </a:r>
            <a:r>
              <a:rPr lang="en-US" altLang="zh-CN" dirty="0" smtClean="0">
                <a:sym typeface="Wingdings" pitchFamily="2" charset="2"/>
              </a:rPr>
              <a:t> </a:t>
            </a:r>
            <a:r>
              <a:rPr lang="en-US" altLang="zh-CN" dirty="0" smtClean="0">
                <a:sym typeface="Wingdings" pitchFamily="2" charset="2"/>
              </a:rPr>
              <a:t>NH</a:t>
            </a:r>
            <a:r>
              <a:rPr lang="en-US" altLang="zh-CN" baseline="-25000" dirty="0" smtClean="0">
                <a:sym typeface="Wingdings" pitchFamily="2" charset="2"/>
              </a:rPr>
              <a:t>4</a:t>
            </a:r>
            <a:r>
              <a:rPr lang="en-US" altLang="zh-CN" dirty="0" smtClean="0">
                <a:sym typeface="Wingdings" pitchFamily="2" charset="2"/>
              </a:rPr>
              <a:t>CI </a:t>
            </a:r>
            <a:endParaRPr lang="en-US" altLang="zh-CN" dirty="0" smtClean="0">
              <a:sym typeface="Wingdings" pitchFamily="2" charset="2"/>
            </a:endParaRPr>
          </a:p>
          <a:p>
            <a:pPr marL="514350" indent="-514350">
              <a:buNone/>
            </a:pPr>
            <a:r>
              <a:rPr lang="en-US" dirty="0" smtClean="0">
                <a:sym typeface="Wingdings" pitchFamily="2" charset="2"/>
              </a:rPr>
              <a:t>	</a:t>
            </a:r>
            <a:r>
              <a:rPr lang="en-US" dirty="0" smtClean="0">
                <a:sym typeface="Wingdings" pitchFamily="2" charset="2"/>
              </a:rPr>
              <a:t>		PH</a:t>
            </a:r>
            <a:r>
              <a:rPr lang="en-US" baseline="-25000" dirty="0" smtClean="0">
                <a:sym typeface="Wingdings" pitchFamily="2" charset="2"/>
              </a:rPr>
              <a:t>3</a:t>
            </a:r>
            <a:r>
              <a:rPr lang="en-US" dirty="0" smtClean="0">
                <a:sym typeface="Wingdings" pitchFamily="2" charset="2"/>
              </a:rPr>
              <a:t> </a:t>
            </a:r>
            <a:r>
              <a:rPr lang="en-US" dirty="0" smtClean="0">
                <a:sym typeface="Wingdings" pitchFamily="2" charset="2"/>
              </a:rPr>
              <a:t>+ HI  </a:t>
            </a:r>
            <a:r>
              <a:rPr lang="en-US" altLang="zh-CN" dirty="0" smtClean="0">
                <a:sym typeface="Wingdings" pitchFamily="2" charset="2"/>
              </a:rPr>
              <a:t>PH</a:t>
            </a:r>
            <a:r>
              <a:rPr lang="en-US" altLang="zh-CN" baseline="-25000" dirty="0" smtClean="0">
                <a:sym typeface="Wingdings" pitchFamily="2" charset="2"/>
              </a:rPr>
              <a:t>4</a:t>
            </a:r>
            <a:r>
              <a:rPr lang="en-US" altLang="zh-CN" dirty="0" smtClean="0">
                <a:sym typeface="Wingdings" pitchFamily="2" charset="2"/>
              </a:rPr>
              <a:t>I</a:t>
            </a:r>
          </a:p>
          <a:p>
            <a:pPr marL="514350" indent="-514350">
              <a:buNone/>
            </a:pPr>
            <a:r>
              <a:rPr lang="en-US" altLang="zh-CN" dirty="0" smtClean="0">
                <a:sym typeface="Wingdings" pitchFamily="2" charset="2"/>
              </a:rPr>
              <a:t>		</a:t>
            </a:r>
            <a:r>
              <a:rPr lang="en-US" altLang="zh-CN" dirty="0" err="1" smtClean="0">
                <a:sym typeface="Wingdings" pitchFamily="2" charset="2"/>
              </a:rPr>
              <a:t>Ans</a:t>
            </a:r>
            <a:r>
              <a:rPr lang="en-US" altLang="zh-CN" dirty="0" smtClean="0">
                <a:sym typeface="Wingdings" pitchFamily="2" charset="2"/>
              </a:rPr>
              <a:t>: A</a:t>
            </a:r>
            <a:r>
              <a:rPr lang="zh-CN" altLang="en-US" dirty="0" smtClean="0">
                <a:sym typeface="Wingdings" pitchFamily="2" charset="2"/>
              </a:rPr>
              <a:t>和</a:t>
            </a:r>
            <a:r>
              <a:rPr lang="en-US" altLang="zh-CN" dirty="0" smtClean="0">
                <a:sym typeface="Wingdings" pitchFamily="2" charset="2"/>
              </a:rPr>
              <a:t>B</a:t>
            </a:r>
            <a:r>
              <a:rPr lang="en-US" dirty="0" smtClean="0">
                <a:sym typeface="Wingdings" pitchFamily="2" charset="2"/>
              </a:rPr>
              <a:t>	</a:t>
            </a:r>
            <a:endParaRPr lang="en-US" dirty="0"/>
          </a:p>
        </p:txBody>
      </p:sp>
      <p:grpSp>
        <p:nvGrpSpPr>
          <p:cNvPr id="5" name="Group 4"/>
          <p:cNvGrpSpPr/>
          <p:nvPr/>
        </p:nvGrpSpPr>
        <p:grpSpPr>
          <a:xfrm>
            <a:off x="3505200" y="2894012"/>
            <a:ext cx="838200" cy="153988"/>
            <a:chOff x="3429000" y="3198812"/>
            <a:chExt cx="838200" cy="153988"/>
          </a:xfrm>
        </p:grpSpPr>
        <p:cxnSp>
          <p:nvCxnSpPr>
            <p:cNvPr id="6" name="Straight Arrow Connector 5"/>
            <p:cNvCxnSpPr/>
            <p:nvPr/>
          </p:nvCxnSpPr>
          <p:spPr bwMode="auto">
            <a:xfrm>
              <a:off x="3429000" y="3351212"/>
              <a:ext cx="8382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7" name="Isosceles Triangle 6"/>
            <p:cNvSpPr/>
            <p:nvPr/>
          </p:nvSpPr>
          <p:spPr bwMode="auto">
            <a:xfrm>
              <a:off x="3733800" y="3198812"/>
              <a:ext cx="228600" cy="152400"/>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grpSp>
      <p:grpSp>
        <p:nvGrpSpPr>
          <p:cNvPr id="8" name="Group 7"/>
          <p:cNvGrpSpPr/>
          <p:nvPr/>
        </p:nvGrpSpPr>
        <p:grpSpPr>
          <a:xfrm>
            <a:off x="3276600" y="3503612"/>
            <a:ext cx="838200" cy="153988"/>
            <a:chOff x="3429000" y="3198812"/>
            <a:chExt cx="838200" cy="153988"/>
          </a:xfrm>
        </p:grpSpPr>
        <p:cxnSp>
          <p:nvCxnSpPr>
            <p:cNvPr id="9" name="Straight Arrow Connector 8"/>
            <p:cNvCxnSpPr/>
            <p:nvPr/>
          </p:nvCxnSpPr>
          <p:spPr bwMode="auto">
            <a:xfrm>
              <a:off x="3429000" y="3351212"/>
              <a:ext cx="8382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10" name="Isosceles Triangle 9"/>
            <p:cNvSpPr/>
            <p:nvPr/>
          </p:nvSpPr>
          <p:spPr bwMode="auto">
            <a:xfrm>
              <a:off x="3733800" y="3198812"/>
              <a:ext cx="228600" cy="152400"/>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grpSp>
      <p:grpSp>
        <p:nvGrpSpPr>
          <p:cNvPr id="11" name="Group 10"/>
          <p:cNvGrpSpPr/>
          <p:nvPr/>
        </p:nvGrpSpPr>
        <p:grpSpPr>
          <a:xfrm>
            <a:off x="3276600" y="4038600"/>
            <a:ext cx="838200" cy="153988"/>
            <a:chOff x="3429000" y="3198812"/>
            <a:chExt cx="838200" cy="153988"/>
          </a:xfrm>
        </p:grpSpPr>
        <p:cxnSp>
          <p:nvCxnSpPr>
            <p:cNvPr id="12" name="Straight Arrow Connector 11"/>
            <p:cNvCxnSpPr/>
            <p:nvPr/>
          </p:nvCxnSpPr>
          <p:spPr bwMode="auto">
            <a:xfrm>
              <a:off x="3429000" y="3351212"/>
              <a:ext cx="8382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13" name="Isosceles Triangle 12"/>
            <p:cNvSpPr/>
            <p:nvPr/>
          </p:nvSpPr>
          <p:spPr bwMode="auto">
            <a:xfrm>
              <a:off x="3733800" y="3198812"/>
              <a:ext cx="228600" cy="152400"/>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blinds(horizontal)">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blinds(horizontal)">
                                      <p:cBhvr>
                                        <p:cTn id="30" dur="500"/>
                                        <p:tgtEl>
                                          <p:spTgt spid="3">
                                            <p:txEl>
                                              <p:pRg st="4" end="4"/>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blinds(horizontal)">
                                      <p:cBhvr>
                                        <p:cTn id="33" dur="500"/>
                                        <p:tgtEl>
                                          <p:spTgt spid="8"/>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animEffect transition="in" filter="blinds(horizontal)">
                                      <p:cBhvr>
                                        <p:cTn id="38" dur="500"/>
                                        <p:tgtEl>
                                          <p:spTgt spid="3">
                                            <p:txEl>
                                              <p:pRg st="5" end="5"/>
                                            </p:txEl>
                                          </p:spTgt>
                                        </p:tgtEl>
                                      </p:cBhvr>
                                    </p:animEffect>
                                  </p:childTnLst>
                                </p:cTn>
                              </p:par>
                              <p:par>
                                <p:cTn id="39" presetID="3" presetClass="entr" presetSubtype="10" fill="hold"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blinds(horizontal)">
                                      <p:cBhvr>
                                        <p:cTn id="41" dur="500"/>
                                        <p:tgtEl>
                                          <p:spTgt spid="11"/>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3">
                                            <p:txEl>
                                              <p:pRg st="6" end="6"/>
                                            </p:txEl>
                                          </p:spTgt>
                                        </p:tgtEl>
                                        <p:attrNameLst>
                                          <p:attrName>style.visibility</p:attrName>
                                        </p:attrNameLst>
                                      </p:cBhvr>
                                      <p:to>
                                        <p:strVal val="visible"/>
                                      </p:to>
                                    </p:set>
                                    <p:animEffect transition="in" filter="blinds(horizontal)">
                                      <p:cBhvr>
                                        <p:cTn id="46" dur="500"/>
                                        <p:tgtEl>
                                          <p:spTgt spid="3">
                                            <p:txEl>
                                              <p:pRg st="6" end="6"/>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3">
                                            <p:txEl>
                                              <p:pRg st="7" end="7"/>
                                            </p:txEl>
                                          </p:spTgt>
                                        </p:tgtEl>
                                        <p:attrNameLst>
                                          <p:attrName>style.visibility</p:attrName>
                                        </p:attrNameLst>
                                      </p:cBhvr>
                                      <p:to>
                                        <p:strVal val="visible"/>
                                      </p:to>
                                    </p:set>
                                    <p:animEffect transition="in" filter="blinds(horizontal)">
                                      <p:cBhvr>
                                        <p:cTn id="51" dur="500"/>
                                        <p:tgtEl>
                                          <p:spTgt spid="3">
                                            <p:txEl>
                                              <p:pRg st="7" end="7"/>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3">
                                            <p:txEl>
                                              <p:pRg st="8" end="8"/>
                                            </p:txEl>
                                          </p:spTgt>
                                        </p:tgtEl>
                                        <p:attrNameLst>
                                          <p:attrName>style.visibility</p:attrName>
                                        </p:attrNameLst>
                                      </p:cBhvr>
                                      <p:to>
                                        <p:strVal val="visible"/>
                                      </p:to>
                                    </p:set>
                                    <p:animEffect transition="in" filter="blinds(horizontal)">
                                      <p:cBhvr>
                                        <p:cTn id="56"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zh-CN" altLang="en-US" dirty="0" smtClean="0"/>
              <a:t>选择题</a:t>
            </a:r>
            <a:endParaRPr lang="en-US" dirty="0"/>
          </a:p>
        </p:txBody>
      </p:sp>
      <p:sp>
        <p:nvSpPr>
          <p:cNvPr id="3" name="Content Placeholder 2"/>
          <p:cNvSpPr>
            <a:spLocks noGrp="1"/>
          </p:cNvSpPr>
          <p:nvPr>
            <p:ph idx="1"/>
          </p:nvPr>
        </p:nvSpPr>
        <p:spPr>
          <a:xfrm>
            <a:off x="457200" y="1219200"/>
            <a:ext cx="8229600" cy="5486400"/>
          </a:xfrm>
        </p:spPr>
        <p:txBody>
          <a:bodyPr/>
          <a:lstStyle/>
          <a:p>
            <a:pPr marL="514350" indent="-514350">
              <a:buAutoNum type="arabicPeriod"/>
            </a:pPr>
            <a:r>
              <a:rPr lang="en-US" altLang="zh-CN" dirty="0" smtClean="0"/>
              <a:t>C </a:t>
            </a:r>
          </a:p>
          <a:p>
            <a:pPr marL="514350" indent="-514350">
              <a:buAutoNum type="arabicPeriod"/>
            </a:pPr>
            <a:r>
              <a:rPr lang="en-US" altLang="zh-CN" dirty="0" smtClean="0"/>
              <a:t>B</a:t>
            </a:r>
          </a:p>
          <a:p>
            <a:pPr marL="514350" indent="-514350">
              <a:buNone/>
            </a:pPr>
            <a:r>
              <a:rPr lang="en-US" dirty="0" smtClean="0"/>
              <a:t>	</a:t>
            </a:r>
            <a:r>
              <a:rPr lang="en-US" altLang="zh-CN" dirty="0" smtClean="0"/>
              <a:t>A</a:t>
            </a:r>
            <a:r>
              <a:rPr lang="zh-CN" altLang="en-US" dirty="0" smtClean="0"/>
              <a:t>是同位素</a:t>
            </a:r>
            <a:endParaRPr lang="en-US" altLang="zh-CN" dirty="0" smtClean="0"/>
          </a:p>
          <a:p>
            <a:pPr marL="514350" indent="-514350">
              <a:buAutoNum type="arabicPeriod" startAt="3"/>
            </a:pPr>
            <a:r>
              <a:rPr lang="en-US" altLang="zh-CN" dirty="0" smtClean="0"/>
              <a:t>N</a:t>
            </a:r>
            <a:r>
              <a:rPr lang="zh-CN" altLang="en-US" dirty="0" smtClean="0"/>
              <a:t>与</a:t>
            </a:r>
            <a:r>
              <a:rPr lang="en-US" altLang="zh-CN" dirty="0" smtClean="0"/>
              <a:t>O</a:t>
            </a:r>
            <a:r>
              <a:rPr lang="zh-CN" altLang="en-US" dirty="0" smtClean="0"/>
              <a:t>原子个数比</a:t>
            </a:r>
            <a:endParaRPr lang="en-US" altLang="zh-CN" dirty="0" smtClean="0"/>
          </a:p>
          <a:p>
            <a:pPr marL="514350" indent="-514350">
              <a:buNone/>
            </a:pPr>
            <a:r>
              <a:rPr lang="en-US" altLang="zh-CN" dirty="0" smtClean="0"/>
              <a:t>	= 		:</a:t>
            </a:r>
          </a:p>
          <a:p>
            <a:pPr marL="514350" indent="-514350">
              <a:buNone/>
            </a:pPr>
            <a:r>
              <a:rPr lang="en-US" altLang="zh-CN" dirty="0" smtClean="0"/>
              <a:t>	= 2:1</a:t>
            </a:r>
          </a:p>
          <a:p>
            <a:pPr marL="514350" indent="-514350">
              <a:buNone/>
            </a:pPr>
            <a:r>
              <a:rPr lang="en-US" altLang="zh-CN" dirty="0" smtClean="0"/>
              <a:t> 	N</a:t>
            </a:r>
            <a:r>
              <a:rPr lang="en-US" altLang="zh-CN" baseline="-25000" dirty="0" smtClean="0"/>
              <a:t>2</a:t>
            </a:r>
            <a:r>
              <a:rPr lang="en-US" altLang="zh-CN" dirty="0" smtClean="0"/>
              <a:t>O </a:t>
            </a:r>
          </a:p>
          <a:p>
            <a:pPr marL="514350" indent="-514350">
              <a:buNone/>
            </a:pPr>
            <a:r>
              <a:rPr lang="en-US" altLang="zh-CN" dirty="0" smtClean="0"/>
              <a:t>	</a:t>
            </a:r>
            <a:r>
              <a:rPr lang="en-US" altLang="zh-CN" dirty="0" err="1" smtClean="0"/>
              <a:t>Ans:A</a:t>
            </a:r>
            <a:r>
              <a:rPr lang="en-US" altLang="zh-CN" dirty="0" smtClean="0"/>
              <a:t>  </a:t>
            </a:r>
          </a:p>
          <a:p>
            <a:pPr marL="514350" indent="-514350">
              <a:buNone/>
            </a:pPr>
            <a:endParaRPr lang="en-US" dirty="0"/>
          </a:p>
        </p:txBody>
      </p:sp>
      <p:cxnSp>
        <p:nvCxnSpPr>
          <p:cNvPr id="5" name="Straight Connector 4"/>
          <p:cNvCxnSpPr/>
          <p:nvPr/>
        </p:nvCxnSpPr>
        <p:spPr>
          <a:xfrm>
            <a:off x="1661160" y="3850957"/>
            <a:ext cx="54864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2667000" y="3850957"/>
            <a:ext cx="54864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704418" y="3393757"/>
            <a:ext cx="352982" cy="492443"/>
          </a:xfrm>
          <a:prstGeom prst="rect">
            <a:avLst/>
          </a:prstGeom>
          <a:noFill/>
        </p:spPr>
        <p:txBody>
          <a:bodyPr wrap="none" rtlCol="0">
            <a:spAutoFit/>
          </a:bodyPr>
          <a:lstStyle/>
          <a:p>
            <a:r>
              <a:rPr lang="en-US" altLang="zh-CN" sz="2600" dirty="0" smtClean="0"/>
              <a:t>7</a:t>
            </a:r>
            <a:endParaRPr lang="en-US" sz="2600" dirty="0"/>
          </a:p>
        </p:txBody>
      </p:sp>
      <p:sp>
        <p:nvSpPr>
          <p:cNvPr id="8" name="TextBox 7"/>
          <p:cNvSpPr txBox="1"/>
          <p:nvPr/>
        </p:nvSpPr>
        <p:spPr>
          <a:xfrm>
            <a:off x="1612303" y="3774757"/>
            <a:ext cx="521297" cy="492443"/>
          </a:xfrm>
          <a:prstGeom prst="rect">
            <a:avLst/>
          </a:prstGeom>
          <a:noFill/>
        </p:spPr>
        <p:txBody>
          <a:bodyPr wrap="none" rtlCol="0">
            <a:spAutoFit/>
          </a:bodyPr>
          <a:lstStyle/>
          <a:p>
            <a:r>
              <a:rPr lang="en-US" sz="2600" dirty="0" smtClean="0"/>
              <a:t>14</a:t>
            </a:r>
            <a:endParaRPr lang="en-US" sz="2600" dirty="0"/>
          </a:p>
        </p:txBody>
      </p:sp>
      <p:sp>
        <p:nvSpPr>
          <p:cNvPr id="9" name="TextBox 8"/>
          <p:cNvSpPr txBox="1"/>
          <p:nvPr/>
        </p:nvSpPr>
        <p:spPr>
          <a:xfrm>
            <a:off x="2731097" y="3434714"/>
            <a:ext cx="352982" cy="492443"/>
          </a:xfrm>
          <a:prstGeom prst="rect">
            <a:avLst/>
          </a:prstGeom>
          <a:noFill/>
        </p:spPr>
        <p:txBody>
          <a:bodyPr wrap="none" rtlCol="0">
            <a:spAutoFit/>
          </a:bodyPr>
          <a:lstStyle/>
          <a:p>
            <a:r>
              <a:rPr lang="en-US" altLang="zh-CN" sz="2600" dirty="0" smtClean="0"/>
              <a:t>4</a:t>
            </a:r>
            <a:endParaRPr lang="en-US" sz="2600" dirty="0"/>
          </a:p>
        </p:txBody>
      </p:sp>
      <p:sp>
        <p:nvSpPr>
          <p:cNvPr id="10" name="TextBox 9"/>
          <p:cNvSpPr txBox="1"/>
          <p:nvPr/>
        </p:nvSpPr>
        <p:spPr>
          <a:xfrm>
            <a:off x="2667000" y="3810000"/>
            <a:ext cx="521297" cy="492443"/>
          </a:xfrm>
          <a:prstGeom prst="rect">
            <a:avLst/>
          </a:prstGeom>
          <a:noFill/>
        </p:spPr>
        <p:txBody>
          <a:bodyPr wrap="none" rtlCol="0">
            <a:spAutoFit/>
          </a:bodyPr>
          <a:lstStyle/>
          <a:p>
            <a:r>
              <a:rPr lang="en-US" sz="2600" dirty="0" smtClean="0"/>
              <a:t>16</a:t>
            </a:r>
            <a:endParaRPr lang="en-US" sz="26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500" fill="hold"/>
                                        <p:tgtEl>
                                          <p:spTgt spid="7"/>
                                        </p:tgtEl>
                                        <p:attrNameLst>
                                          <p:attrName>ppt_x</p:attrName>
                                        </p:attrNameLst>
                                      </p:cBhvr>
                                      <p:tavLst>
                                        <p:tav tm="0">
                                          <p:val>
                                            <p:strVal val="#ppt_x"/>
                                          </p:val>
                                        </p:tav>
                                        <p:tav tm="100000">
                                          <p:val>
                                            <p:strVal val="#ppt_x"/>
                                          </p:val>
                                        </p:tav>
                                      </p:tavLst>
                                    </p:anim>
                                    <p:anim calcmode="lin" valueType="num">
                                      <p:cBhvr additive="base">
                                        <p:cTn id="3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8"/>
                                        </p:tgtEl>
                                        <p:attrNameLst>
                                          <p:attrName>style.visibility</p:attrName>
                                        </p:attrNameLst>
                                      </p:cBhvr>
                                      <p:to>
                                        <p:strVal val="visible"/>
                                      </p:to>
                                    </p:set>
                                    <p:anim calcmode="lin" valueType="num">
                                      <p:cBhvr additive="base">
                                        <p:cTn id="38" dur="500" fill="hold"/>
                                        <p:tgtEl>
                                          <p:spTgt spid="8"/>
                                        </p:tgtEl>
                                        <p:attrNameLst>
                                          <p:attrName>ppt_x</p:attrName>
                                        </p:attrNameLst>
                                      </p:cBhvr>
                                      <p:tavLst>
                                        <p:tav tm="0">
                                          <p:val>
                                            <p:strVal val="#ppt_x"/>
                                          </p:val>
                                        </p:tav>
                                        <p:tav tm="100000">
                                          <p:val>
                                            <p:strVal val="#ppt_x"/>
                                          </p:val>
                                        </p:tav>
                                      </p:tavLst>
                                    </p:anim>
                                    <p:anim calcmode="lin" valueType="num">
                                      <p:cBhvr additive="base">
                                        <p:cTn id="39"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9"/>
                                        </p:tgtEl>
                                        <p:attrNameLst>
                                          <p:attrName>style.visibility</p:attrName>
                                        </p:attrNameLst>
                                      </p:cBhvr>
                                      <p:to>
                                        <p:strVal val="visible"/>
                                      </p:to>
                                    </p:set>
                                    <p:anim calcmode="lin" valueType="num">
                                      <p:cBhvr additive="base">
                                        <p:cTn id="44" dur="500" fill="hold"/>
                                        <p:tgtEl>
                                          <p:spTgt spid="9"/>
                                        </p:tgtEl>
                                        <p:attrNameLst>
                                          <p:attrName>ppt_x</p:attrName>
                                        </p:attrNameLst>
                                      </p:cBhvr>
                                      <p:tavLst>
                                        <p:tav tm="0">
                                          <p:val>
                                            <p:strVal val="#ppt_x"/>
                                          </p:val>
                                        </p:tav>
                                        <p:tav tm="100000">
                                          <p:val>
                                            <p:strVal val="#ppt_x"/>
                                          </p:val>
                                        </p:tav>
                                      </p:tavLst>
                                    </p:anim>
                                    <p:anim calcmode="lin" valueType="num">
                                      <p:cBhvr additive="base">
                                        <p:cTn id="45"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10"/>
                                        </p:tgtEl>
                                        <p:attrNameLst>
                                          <p:attrName>style.visibility</p:attrName>
                                        </p:attrNameLst>
                                      </p:cBhvr>
                                      <p:to>
                                        <p:strVal val="visible"/>
                                      </p:to>
                                    </p:set>
                                    <p:anim calcmode="lin" valueType="num">
                                      <p:cBhvr additive="base">
                                        <p:cTn id="50" dur="500" fill="hold"/>
                                        <p:tgtEl>
                                          <p:spTgt spid="10"/>
                                        </p:tgtEl>
                                        <p:attrNameLst>
                                          <p:attrName>ppt_x</p:attrName>
                                        </p:attrNameLst>
                                      </p:cBhvr>
                                      <p:tavLst>
                                        <p:tav tm="0">
                                          <p:val>
                                            <p:strVal val="#ppt_x"/>
                                          </p:val>
                                        </p:tav>
                                        <p:tav tm="100000">
                                          <p:val>
                                            <p:strVal val="#ppt_x"/>
                                          </p:val>
                                        </p:tav>
                                      </p:tavLst>
                                    </p:anim>
                                    <p:anim calcmode="lin" valueType="num">
                                      <p:cBhvr additive="base">
                                        <p:cTn id="51"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3">
                                            <p:txEl>
                                              <p:pRg st="5" end="5"/>
                                            </p:txEl>
                                          </p:spTgt>
                                        </p:tgtEl>
                                        <p:attrNameLst>
                                          <p:attrName>style.visibility</p:attrName>
                                        </p:attrNameLst>
                                      </p:cBhvr>
                                      <p:to>
                                        <p:strVal val="visible"/>
                                      </p:to>
                                    </p:set>
                                    <p:animEffect transition="in" filter="blinds(horizontal)">
                                      <p:cBhvr>
                                        <p:cTn id="56" dur="500"/>
                                        <p:tgtEl>
                                          <p:spTgt spid="3">
                                            <p:txEl>
                                              <p:pRg st="5" end="5"/>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3">
                                            <p:txEl>
                                              <p:pRg st="6" end="6"/>
                                            </p:txEl>
                                          </p:spTgt>
                                        </p:tgtEl>
                                        <p:attrNameLst>
                                          <p:attrName>style.visibility</p:attrName>
                                        </p:attrNameLst>
                                      </p:cBhvr>
                                      <p:to>
                                        <p:strVal val="visible"/>
                                      </p:to>
                                    </p:set>
                                    <p:animEffect transition="in" filter="blinds(horizontal)">
                                      <p:cBhvr>
                                        <p:cTn id="61" dur="500"/>
                                        <p:tgtEl>
                                          <p:spTgt spid="3">
                                            <p:txEl>
                                              <p:pRg st="6" end="6"/>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3">
                                            <p:txEl>
                                              <p:pRg st="7" end="7"/>
                                            </p:txEl>
                                          </p:spTgt>
                                        </p:tgtEl>
                                        <p:attrNameLst>
                                          <p:attrName>style.visibility</p:attrName>
                                        </p:attrNameLst>
                                      </p:cBhvr>
                                      <p:to>
                                        <p:strVal val="visible"/>
                                      </p:to>
                                    </p:set>
                                    <p:animEffect transition="in" filter="blinds(horizontal)">
                                      <p:cBhvr>
                                        <p:cTn id="66"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p:bldP spid="8" grpId="0"/>
      <p:bldP spid="9" grpId="0"/>
      <p:bldP spid="10"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zh-CN" altLang="en-US" dirty="0" smtClean="0"/>
              <a:t>选择题</a:t>
            </a:r>
            <a:endParaRPr lang="en-US" dirty="0"/>
          </a:p>
        </p:txBody>
      </p:sp>
      <p:sp>
        <p:nvSpPr>
          <p:cNvPr id="3" name="Content Placeholder 2"/>
          <p:cNvSpPr>
            <a:spLocks noGrp="1"/>
          </p:cNvSpPr>
          <p:nvPr>
            <p:ph idx="1"/>
          </p:nvPr>
        </p:nvSpPr>
        <p:spPr>
          <a:xfrm>
            <a:off x="457200" y="838200"/>
            <a:ext cx="8229600" cy="6019800"/>
          </a:xfrm>
        </p:spPr>
        <p:txBody>
          <a:bodyPr>
            <a:normAutofit fontScale="92500" lnSpcReduction="20000"/>
          </a:bodyPr>
          <a:lstStyle/>
          <a:p>
            <a:pPr>
              <a:buNone/>
            </a:pPr>
            <a:r>
              <a:rPr lang="en-US" altLang="zh-CN" dirty="0" smtClean="0"/>
              <a:t>4.	</a:t>
            </a:r>
            <a:r>
              <a:rPr lang="en-US" altLang="zh-CN" dirty="0" smtClean="0">
                <a:latin typeface="Calibri"/>
                <a:cs typeface="Calibri"/>
              </a:rPr>
              <a:t>(1)</a:t>
            </a:r>
            <a:r>
              <a:rPr lang="zh-CN" altLang="en-US" dirty="0" smtClean="0"/>
              <a:t>红磷与白磷是不同的物质，</a:t>
            </a:r>
            <a:endParaRPr lang="en-US" altLang="zh-CN" dirty="0" smtClean="0"/>
          </a:p>
          <a:p>
            <a:pPr>
              <a:buNone/>
            </a:pPr>
            <a:r>
              <a:rPr lang="en-US" altLang="zh-CN" dirty="0" smtClean="0"/>
              <a:t>		</a:t>
            </a:r>
            <a:r>
              <a:rPr lang="zh-CN" altLang="en-US" dirty="0" smtClean="0"/>
              <a:t>它们的相互转化是化学变化</a:t>
            </a:r>
            <a:endParaRPr lang="en-US" altLang="zh-CN" dirty="0" smtClean="0"/>
          </a:p>
          <a:p>
            <a:pPr>
              <a:buNone/>
            </a:pPr>
            <a:r>
              <a:rPr lang="en-US" altLang="zh-CN" dirty="0" smtClean="0"/>
              <a:t>	</a:t>
            </a:r>
            <a:r>
              <a:rPr lang="en-US" altLang="zh-CN" dirty="0" smtClean="0">
                <a:latin typeface="Calibri"/>
                <a:cs typeface="Calibri"/>
              </a:rPr>
              <a:t>(2) NH</a:t>
            </a:r>
            <a:r>
              <a:rPr lang="en-US" altLang="zh-CN" baseline="-25000" dirty="0" smtClean="0">
                <a:latin typeface="Calibri"/>
                <a:cs typeface="Calibri"/>
              </a:rPr>
              <a:t>4</a:t>
            </a:r>
            <a:r>
              <a:rPr lang="en-US" altLang="zh-CN" dirty="0" smtClean="0">
                <a:latin typeface="Calibri"/>
                <a:cs typeface="Calibri"/>
              </a:rPr>
              <a:t>Cl</a:t>
            </a:r>
            <a:r>
              <a:rPr lang="zh-CN" altLang="en-US" dirty="0" smtClean="0">
                <a:latin typeface="Calibri"/>
                <a:cs typeface="Calibri"/>
              </a:rPr>
              <a:t>受热分解是化学变化</a:t>
            </a:r>
            <a:endParaRPr lang="en-US" altLang="zh-CN" dirty="0" smtClean="0">
              <a:latin typeface="Calibri"/>
              <a:cs typeface="Calibri"/>
            </a:endParaRPr>
          </a:p>
          <a:p>
            <a:pPr>
              <a:buNone/>
            </a:pPr>
            <a:r>
              <a:rPr lang="en-US" altLang="zh-CN" dirty="0" smtClean="0"/>
              <a:t>	(5) </a:t>
            </a:r>
            <a:r>
              <a:rPr lang="zh-CN" altLang="en-US" dirty="0" smtClean="0"/>
              <a:t>浓硝酸见光分解</a:t>
            </a:r>
            <a:r>
              <a:rPr lang="zh-CN" altLang="en-US" dirty="0" smtClean="0">
                <a:cs typeface="Calibri"/>
              </a:rPr>
              <a:t>是化学变化</a:t>
            </a:r>
            <a:endParaRPr lang="en-US" altLang="zh-CN" dirty="0" smtClean="0"/>
          </a:p>
          <a:p>
            <a:pPr>
              <a:buNone/>
            </a:pPr>
            <a:r>
              <a:rPr lang="en-US" altLang="zh-CN" dirty="0" smtClean="0"/>
              <a:t>	</a:t>
            </a:r>
            <a:r>
              <a:rPr lang="en-US" altLang="zh-CN" dirty="0" err="1" smtClean="0"/>
              <a:t>Ans</a:t>
            </a:r>
            <a:r>
              <a:rPr lang="zh-CN" altLang="en-US" dirty="0" smtClean="0"/>
              <a:t>：</a:t>
            </a:r>
            <a:r>
              <a:rPr lang="en-US" altLang="zh-CN" dirty="0" smtClean="0"/>
              <a:t>B</a:t>
            </a:r>
          </a:p>
          <a:p>
            <a:pPr>
              <a:buNone/>
            </a:pPr>
            <a:r>
              <a:rPr lang="en-US" altLang="zh-CN" dirty="0" smtClean="0"/>
              <a:t>5. C</a:t>
            </a:r>
          </a:p>
          <a:p>
            <a:pPr>
              <a:buNone/>
            </a:pPr>
            <a:r>
              <a:rPr lang="en-US" altLang="zh-CN" dirty="0" smtClean="0"/>
              <a:t>6. A </a:t>
            </a:r>
            <a:r>
              <a:rPr lang="zh-CN" altLang="en-US" dirty="0" smtClean="0"/>
              <a:t>游离态</a:t>
            </a:r>
            <a:r>
              <a:rPr lang="en-US" altLang="zh-CN" dirty="0" smtClean="0"/>
              <a:t>=</a:t>
            </a:r>
            <a:r>
              <a:rPr lang="zh-CN" altLang="en-US" dirty="0" smtClean="0"/>
              <a:t>单质</a:t>
            </a:r>
            <a:endParaRPr lang="en-US" altLang="zh-CN" dirty="0" smtClean="0"/>
          </a:p>
          <a:p>
            <a:pPr>
              <a:buNone/>
            </a:pPr>
            <a:r>
              <a:rPr lang="en-US" altLang="zh-CN" dirty="0" smtClean="0"/>
              <a:t>7. B </a:t>
            </a:r>
            <a:r>
              <a:rPr lang="zh-CN" altLang="en-US" dirty="0" smtClean="0"/>
              <a:t>在空气中加热会燃烧生成</a:t>
            </a:r>
            <a:r>
              <a:rPr lang="en-US" altLang="zh-CN" dirty="0" smtClean="0"/>
              <a:t>P</a:t>
            </a:r>
            <a:r>
              <a:rPr lang="en-US" altLang="zh-CN" baseline="-25000" dirty="0" smtClean="0"/>
              <a:t>2</a:t>
            </a:r>
            <a:r>
              <a:rPr lang="en-US" altLang="zh-CN" dirty="0" smtClean="0"/>
              <a:t>O</a:t>
            </a:r>
            <a:r>
              <a:rPr lang="en-US" altLang="zh-CN" baseline="-25000" dirty="0" smtClean="0"/>
              <a:t>5</a:t>
            </a:r>
            <a:endParaRPr lang="en-US" altLang="zh-CN" dirty="0" smtClean="0"/>
          </a:p>
          <a:p>
            <a:pPr>
              <a:buNone/>
            </a:pPr>
            <a:r>
              <a:rPr lang="en-US" altLang="zh-CN" dirty="0" smtClean="0"/>
              <a:t>	C </a:t>
            </a:r>
            <a:r>
              <a:rPr lang="zh-CN" altLang="en-US" dirty="0" smtClean="0"/>
              <a:t>红磷制安全火柴盒</a:t>
            </a:r>
            <a:endParaRPr lang="en-US" altLang="zh-CN" dirty="0" smtClean="0"/>
          </a:p>
          <a:p>
            <a:pPr>
              <a:buNone/>
            </a:pPr>
            <a:r>
              <a:rPr lang="en-US" altLang="zh-CN" dirty="0" err="1" smtClean="0"/>
              <a:t>Ans:AD</a:t>
            </a:r>
            <a:endParaRPr lang="en-US" altLang="zh-CN" dirty="0" smtClean="0"/>
          </a:p>
          <a:p>
            <a:pPr>
              <a:buNone/>
            </a:pPr>
            <a:r>
              <a:rPr lang="en-US" altLang="zh-CN" dirty="0" smtClean="0"/>
              <a:t>8. </a:t>
            </a:r>
            <a:r>
              <a:rPr lang="zh-CN" altLang="en-US" dirty="0" smtClean="0"/>
              <a:t>用</a:t>
            </a:r>
            <a:r>
              <a:rPr lang="en-US" altLang="zh-CN" dirty="0" smtClean="0"/>
              <a:t>Cu</a:t>
            </a:r>
            <a:r>
              <a:rPr lang="zh-CN" altLang="en-US" dirty="0" smtClean="0"/>
              <a:t>算得</a:t>
            </a:r>
            <a:r>
              <a:rPr lang="en-US" altLang="zh-CN" dirty="0" smtClean="0"/>
              <a:t>0.24mol</a:t>
            </a:r>
          </a:p>
          <a:p>
            <a:pPr>
              <a:buNone/>
            </a:pPr>
            <a:r>
              <a:rPr lang="en-US" dirty="0" smtClean="0"/>
              <a:t>	</a:t>
            </a:r>
            <a:r>
              <a:rPr lang="zh-CN" altLang="en-US" dirty="0" smtClean="0"/>
              <a:t>用</a:t>
            </a:r>
            <a:r>
              <a:rPr lang="en-US" altLang="zh-CN" dirty="0" smtClean="0"/>
              <a:t>NO</a:t>
            </a:r>
            <a:r>
              <a:rPr lang="en-US" altLang="zh-CN" baseline="-25000" dirty="0" smtClean="0"/>
              <a:t>2</a:t>
            </a:r>
            <a:r>
              <a:rPr lang="en-US" altLang="zh-CN" dirty="0" smtClean="0"/>
              <a:t> </a:t>
            </a:r>
            <a:r>
              <a:rPr lang="zh-CN" altLang="en-US" dirty="0" smtClean="0"/>
              <a:t>算得</a:t>
            </a:r>
            <a:r>
              <a:rPr lang="en-US" altLang="zh-CN" dirty="0" smtClean="0"/>
              <a:t>0.2mol </a:t>
            </a:r>
          </a:p>
          <a:p>
            <a:pPr>
              <a:buNone/>
            </a:pPr>
            <a:r>
              <a:rPr lang="en-US" altLang="zh-CN" dirty="0" smtClean="0"/>
              <a:t>	</a:t>
            </a:r>
            <a:r>
              <a:rPr lang="zh-CN" altLang="en-US" dirty="0" smtClean="0"/>
              <a:t>题目有问题。</a:t>
            </a:r>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linds(horizontal)">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blinds(horizontal)">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blinds(horizontal)">
                                      <p:cBhvr>
                                        <p:cTn id="62" dur="5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blinds(horizontal)">
                                      <p:cBhvr>
                                        <p:cTn id="67"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zh-CN" altLang="en-US" dirty="0" smtClean="0"/>
              <a:t>作答题</a:t>
            </a:r>
            <a:endParaRPr lang="en-US" dirty="0"/>
          </a:p>
        </p:txBody>
      </p:sp>
      <p:sp>
        <p:nvSpPr>
          <p:cNvPr id="3" name="Content Placeholder 2"/>
          <p:cNvSpPr>
            <a:spLocks noGrp="1"/>
          </p:cNvSpPr>
          <p:nvPr>
            <p:ph idx="1"/>
          </p:nvPr>
        </p:nvSpPr>
        <p:spPr>
          <a:xfrm>
            <a:off x="457200" y="838200"/>
            <a:ext cx="8229600" cy="5486400"/>
          </a:xfrm>
        </p:spPr>
        <p:txBody>
          <a:bodyPr>
            <a:normAutofit/>
          </a:bodyPr>
          <a:lstStyle/>
          <a:p>
            <a:pPr marL="514350" indent="-514350">
              <a:buAutoNum type="arabicPeriod"/>
            </a:pPr>
            <a:r>
              <a:rPr lang="en-US" altLang="zh-CN" dirty="0" smtClean="0"/>
              <a:t>P</a:t>
            </a:r>
            <a:r>
              <a:rPr lang="en-US" altLang="zh-CN" baseline="-25000" dirty="0" smtClean="0"/>
              <a:t>2</a:t>
            </a:r>
            <a:r>
              <a:rPr lang="en-US" altLang="zh-CN" dirty="0" smtClean="0"/>
              <a:t>O</a:t>
            </a:r>
            <a:r>
              <a:rPr lang="en-US" altLang="zh-CN" baseline="-25000" dirty="0" smtClean="0"/>
              <a:t>5</a:t>
            </a:r>
            <a:r>
              <a:rPr lang="en-US" altLang="zh-CN" dirty="0" smtClean="0"/>
              <a:t> </a:t>
            </a:r>
            <a:r>
              <a:rPr lang="zh-CN" altLang="en-US" dirty="0" smtClean="0"/>
              <a:t>； </a:t>
            </a:r>
            <a:endParaRPr lang="en-US" altLang="zh-CN" baseline="-25000" dirty="0" smtClean="0"/>
          </a:p>
          <a:p>
            <a:pPr marL="514350" indent="-514350">
              <a:buNone/>
            </a:pPr>
            <a:r>
              <a:rPr lang="en-US" baseline="-25000" dirty="0" smtClean="0"/>
              <a:t>	</a:t>
            </a:r>
            <a:r>
              <a:rPr lang="en-US" altLang="zh-CN" dirty="0" smtClean="0"/>
              <a:t>PH</a:t>
            </a:r>
            <a:r>
              <a:rPr lang="en-US" altLang="zh-CN" baseline="-25000" dirty="0" smtClean="0"/>
              <a:t>3</a:t>
            </a:r>
            <a:r>
              <a:rPr lang="zh-CN" altLang="en-US" baseline="-25000" dirty="0" smtClean="0"/>
              <a:t> </a:t>
            </a:r>
            <a:r>
              <a:rPr lang="zh-CN" altLang="en-US" dirty="0" smtClean="0"/>
              <a:t> ；</a:t>
            </a:r>
            <a:endParaRPr lang="en-US" altLang="zh-CN" dirty="0" smtClean="0"/>
          </a:p>
          <a:p>
            <a:pPr marL="514350" indent="-514350">
              <a:buNone/>
            </a:pPr>
            <a:r>
              <a:rPr lang="en-US" dirty="0" smtClean="0"/>
              <a:t>	</a:t>
            </a:r>
            <a:endParaRPr lang="en-US" dirty="0" smtClean="0"/>
          </a:p>
          <a:p>
            <a:pPr marL="514350" indent="-514350">
              <a:lnSpc>
                <a:spcPct val="150000"/>
              </a:lnSpc>
              <a:buNone/>
            </a:pPr>
            <a:r>
              <a:rPr lang="en-US" altLang="zh-CN" dirty="0" smtClean="0"/>
              <a:t>				x 100%  = 43.7%</a:t>
            </a:r>
          </a:p>
          <a:p>
            <a:pPr marL="514350" indent="-514350">
              <a:lnSpc>
                <a:spcPct val="150000"/>
              </a:lnSpc>
              <a:buNone/>
            </a:pPr>
            <a:r>
              <a:rPr lang="en-US" altLang="zh-CN" dirty="0" smtClean="0"/>
              <a:t>	</a:t>
            </a:r>
            <a:r>
              <a:rPr lang="en-US" altLang="zh-CN" dirty="0" smtClean="0"/>
              <a:t>				     </a:t>
            </a:r>
            <a:r>
              <a:rPr lang="en-US" altLang="zh-CN" dirty="0" smtClean="0"/>
              <a:t>= </a:t>
            </a:r>
            <a:r>
              <a:rPr lang="en-US" altLang="zh-CN" dirty="0" smtClean="0"/>
              <a:t>0.437</a:t>
            </a:r>
          </a:p>
          <a:p>
            <a:pPr marL="514350" indent="-514350">
              <a:buNone/>
            </a:pPr>
            <a:r>
              <a:rPr lang="en-US" altLang="zh-CN" dirty="0" smtClean="0"/>
              <a:t>				</a:t>
            </a:r>
            <a:r>
              <a:rPr lang="en-US" altLang="zh-CN" dirty="0" smtClean="0"/>
              <a:t> </a:t>
            </a:r>
            <a:r>
              <a:rPr lang="en-US" altLang="zh-CN" dirty="0" smtClean="0"/>
              <a:t> 	</a:t>
            </a:r>
            <a:r>
              <a:rPr lang="en-US" altLang="zh-CN" dirty="0" smtClean="0"/>
              <a:t>2p =</a:t>
            </a:r>
            <a:r>
              <a:rPr lang="en-US" altLang="zh-CN" dirty="0" smtClean="0"/>
              <a:t> 0.874p + 34.96</a:t>
            </a:r>
            <a:endParaRPr lang="en-US" altLang="zh-CN" dirty="0" smtClean="0"/>
          </a:p>
          <a:p>
            <a:pPr marL="514350" indent="-514350">
              <a:buNone/>
            </a:pPr>
            <a:r>
              <a:rPr lang="en-US" dirty="0" smtClean="0"/>
              <a:t>				1.126p   = 34.96</a:t>
            </a:r>
          </a:p>
          <a:p>
            <a:pPr marL="514350" indent="-514350">
              <a:buNone/>
            </a:pPr>
            <a:r>
              <a:rPr lang="en-US" dirty="0" smtClean="0"/>
              <a:t>	</a:t>
            </a:r>
            <a:r>
              <a:rPr lang="en-US" dirty="0" smtClean="0"/>
              <a:t>				p   = 31.05</a:t>
            </a:r>
            <a:endParaRPr lang="en-US" dirty="0"/>
          </a:p>
        </p:txBody>
      </p:sp>
      <p:cxnSp>
        <p:nvCxnSpPr>
          <p:cNvPr id="5" name="Straight Connector 4"/>
          <p:cNvCxnSpPr/>
          <p:nvPr/>
        </p:nvCxnSpPr>
        <p:spPr>
          <a:xfrm>
            <a:off x="1295400" y="3046412"/>
            <a:ext cx="164592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704418" y="2524780"/>
            <a:ext cx="556563" cy="523220"/>
          </a:xfrm>
          <a:prstGeom prst="rect">
            <a:avLst/>
          </a:prstGeom>
          <a:noFill/>
        </p:spPr>
        <p:txBody>
          <a:bodyPr wrap="none" rtlCol="0">
            <a:spAutoFit/>
          </a:bodyPr>
          <a:lstStyle/>
          <a:p>
            <a:r>
              <a:rPr lang="en-US" sz="2800" dirty="0" smtClean="0"/>
              <a:t>2p</a:t>
            </a:r>
            <a:endParaRPr lang="en-US" sz="2800" dirty="0"/>
          </a:p>
        </p:txBody>
      </p:sp>
      <p:sp>
        <p:nvSpPr>
          <p:cNvPr id="7" name="TextBox 6"/>
          <p:cNvSpPr txBox="1"/>
          <p:nvPr/>
        </p:nvSpPr>
        <p:spPr>
          <a:xfrm>
            <a:off x="1219200" y="3048000"/>
            <a:ext cx="1766830" cy="523220"/>
          </a:xfrm>
          <a:prstGeom prst="rect">
            <a:avLst/>
          </a:prstGeom>
          <a:noFill/>
        </p:spPr>
        <p:txBody>
          <a:bodyPr wrap="none" rtlCol="0">
            <a:spAutoFit/>
          </a:bodyPr>
          <a:lstStyle/>
          <a:p>
            <a:r>
              <a:rPr lang="en-US" sz="2800" dirty="0" smtClean="0"/>
              <a:t>2p + 16 x 5</a:t>
            </a:r>
            <a:endParaRPr lang="en-US" sz="2800" dirty="0"/>
          </a:p>
        </p:txBody>
      </p:sp>
      <p:sp>
        <p:nvSpPr>
          <p:cNvPr id="8" name="TextBox 7"/>
          <p:cNvSpPr txBox="1"/>
          <p:nvPr/>
        </p:nvSpPr>
        <p:spPr>
          <a:xfrm>
            <a:off x="2925910" y="3820180"/>
            <a:ext cx="1265090" cy="523220"/>
          </a:xfrm>
          <a:prstGeom prst="rect">
            <a:avLst/>
          </a:prstGeom>
          <a:noFill/>
        </p:spPr>
        <p:txBody>
          <a:bodyPr wrap="none" rtlCol="0">
            <a:spAutoFit/>
          </a:bodyPr>
          <a:lstStyle/>
          <a:p>
            <a:r>
              <a:rPr lang="en-US" sz="2800" dirty="0" smtClean="0"/>
              <a:t>2p + </a:t>
            </a:r>
            <a:r>
              <a:rPr lang="en-US" altLang="zh-CN" sz="2800" dirty="0" smtClean="0"/>
              <a:t>80</a:t>
            </a:r>
            <a:endParaRPr lang="en-US" sz="2800" dirty="0"/>
          </a:p>
        </p:txBody>
      </p:sp>
      <p:sp>
        <p:nvSpPr>
          <p:cNvPr id="9" name="TextBox 8"/>
          <p:cNvSpPr txBox="1"/>
          <p:nvPr/>
        </p:nvSpPr>
        <p:spPr>
          <a:xfrm>
            <a:off x="3329637" y="3362980"/>
            <a:ext cx="556563" cy="523220"/>
          </a:xfrm>
          <a:prstGeom prst="rect">
            <a:avLst/>
          </a:prstGeom>
          <a:noFill/>
        </p:spPr>
        <p:txBody>
          <a:bodyPr wrap="none" rtlCol="0">
            <a:spAutoFit/>
          </a:bodyPr>
          <a:lstStyle/>
          <a:p>
            <a:r>
              <a:rPr lang="en-US" sz="2800" dirty="0" smtClean="0"/>
              <a:t>2p</a:t>
            </a:r>
            <a:endParaRPr lang="en-US" sz="2800" dirty="0"/>
          </a:p>
        </p:txBody>
      </p:sp>
      <p:cxnSp>
        <p:nvCxnSpPr>
          <p:cNvPr id="10" name="Straight Connector 9"/>
          <p:cNvCxnSpPr/>
          <p:nvPr/>
        </p:nvCxnSpPr>
        <p:spPr>
          <a:xfrm>
            <a:off x="2743200" y="3884612"/>
            <a:ext cx="164592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ppt_x"/>
                                          </p:val>
                                        </p:tav>
                                        <p:tav tm="100000">
                                          <p:val>
                                            <p:strVal val="#ppt_x"/>
                                          </p:val>
                                        </p:tav>
                                      </p:tavLst>
                                    </p:anim>
                                    <p:anim calcmode="lin" valueType="num">
                                      <p:cBhvr additive="base">
                                        <p:cTn id="2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Effect transition="in" filter="blinds(horizontal)">
                                      <p:cBhvr>
                                        <p:cTn id="29" dur="500"/>
                                        <p:tgtEl>
                                          <p:spTgt spid="3">
                                            <p:txEl>
                                              <p:pRg st="3" end="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additive="base">
                                        <p:cTn id="34" dur="500" fill="hold"/>
                                        <p:tgtEl>
                                          <p:spTgt spid="9"/>
                                        </p:tgtEl>
                                        <p:attrNameLst>
                                          <p:attrName>ppt_x</p:attrName>
                                        </p:attrNameLst>
                                      </p:cBhvr>
                                      <p:tavLst>
                                        <p:tav tm="0">
                                          <p:val>
                                            <p:strVal val="#ppt_x"/>
                                          </p:val>
                                        </p:tav>
                                        <p:tav tm="100000">
                                          <p:val>
                                            <p:strVal val="#ppt_x"/>
                                          </p:val>
                                        </p:tav>
                                      </p:tavLst>
                                    </p:anim>
                                    <p:anim calcmode="lin" valueType="num">
                                      <p:cBhvr additive="base">
                                        <p:cTn id="35"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8"/>
                                        </p:tgtEl>
                                        <p:attrNameLst>
                                          <p:attrName>style.visibility</p:attrName>
                                        </p:attrNameLst>
                                      </p:cBhvr>
                                      <p:to>
                                        <p:strVal val="visible"/>
                                      </p:to>
                                    </p:set>
                                    <p:anim calcmode="lin" valueType="num">
                                      <p:cBhvr additive="base">
                                        <p:cTn id="40" dur="500" fill="hold"/>
                                        <p:tgtEl>
                                          <p:spTgt spid="8"/>
                                        </p:tgtEl>
                                        <p:attrNameLst>
                                          <p:attrName>ppt_x</p:attrName>
                                        </p:attrNameLst>
                                      </p:cBhvr>
                                      <p:tavLst>
                                        <p:tav tm="0">
                                          <p:val>
                                            <p:strVal val="#ppt_x"/>
                                          </p:val>
                                        </p:tav>
                                        <p:tav tm="100000">
                                          <p:val>
                                            <p:strVal val="#ppt_x"/>
                                          </p:val>
                                        </p:tav>
                                      </p:tavLst>
                                    </p:anim>
                                    <p:anim calcmode="lin" valueType="num">
                                      <p:cBhvr additive="base">
                                        <p:cTn id="41"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3">
                                            <p:txEl>
                                              <p:pRg st="4" end="4"/>
                                            </p:txEl>
                                          </p:spTgt>
                                        </p:tgtEl>
                                        <p:attrNameLst>
                                          <p:attrName>style.visibility</p:attrName>
                                        </p:attrNameLst>
                                      </p:cBhvr>
                                      <p:to>
                                        <p:strVal val="visible"/>
                                      </p:to>
                                    </p:set>
                                    <p:animEffect transition="in" filter="blinds(horizontal)">
                                      <p:cBhvr>
                                        <p:cTn id="46" dur="500"/>
                                        <p:tgtEl>
                                          <p:spTgt spid="3">
                                            <p:txEl>
                                              <p:pRg st="4" end="4"/>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3">
                                            <p:txEl>
                                              <p:pRg st="5" end="5"/>
                                            </p:txEl>
                                          </p:spTgt>
                                        </p:tgtEl>
                                        <p:attrNameLst>
                                          <p:attrName>style.visibility</p:attrName>
                                        </p:attrNameLst>
                                      </p:cBhvr>
                                      <p:to>
                                        <p:strVal val="visible"/>
                                      </p:to>
                                    </p:set>
                                    <p:animEffect transition="in" filter="blinds(horizontal)">
                                      <p:cBhvr>
                                        <p:cTn id="51" dur="500"/>
                                        <p:tgtEl>
                                          <p:spTgt spid="3">
                                            <p:txEl>
                                              <p:pRg st="5" end="5"/>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3">
                                            <p:txEl>
                                              <p:pRg st="6" end="6"/>
                                            </p:txEl>
                                          </p:spTgt>
                                        </p:tgtEl>
                                        <p:attrNameLst>
                                          <p:attrName>style.visibility</p:attrName>
                                        </p:attrNameLst>
                                      </p:cBhvr>
                                      <p:to>
                                        <p:strVal val="visible"/>
                                      </p:to>
                                    </p:set>
                                    <p:animEffect transition="in" filter="blinds(horizontal)">
                                      <p:cBhvr>
                                        <p:cTn id="56" dur="500"/>
                                        <p:tgtEl>
                                          <p:spTgt spid="3">
                                            <p:txEl>
                                              <p:pRg st="6" end="6"/>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3">
                                            <p:txEl>
                                              <p:pRg st="7" end="7"/>
                                            </p:txEl>
                                          </p:spTgt>
                                        </p:tgtEl>
                                        <p:attrNameLst>
                                          <p:attrName>style.visibility</p:attrName>
                                        </p:attrNameLst>
                                      </p:cBhvr>
                                      <p:to>
                                        <p:strVal val="visible"/>
                                      </p:to>
                                    </p:set>
                                    <p:animEffect transition="in" filter="blinds(horizontal)">
                                      <p:cBhvr>
                                        <p:cTn id="61"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p:bldP spid="7" grpId="0"/>
      <p:bldP spid="8" grpId="0"/>
      <p:bldP spid="9"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zh-CN" altLang="en-US" dirty="0" smtClean="0"/>
              <a:t>作答题</a:t>
            </a:r>
            <a:endParaRPr lang="en-US" dirty="0"/>
          </a:p>
        </p:txBody>
      </p:sp>
      <p:sp>
        <p:nvSpPr>
          <p:cNvPr id="3" name="Content Placeholder 2"/>
          <p:cNvSpPr>
            <a:spLocks noGrp="1"/>
          </p:cNvSpPr>
          <p:nvPr>
            <p:ph idx="1"/>
          </p:nvPr>
        </p:nvSpPr>
        <p:spPr>
          <a:xfrm>
            <a:off x="457200" y="838200"/>
            <a:ext cx="8229600" cy="5486400"/>
          </a:xfrm>
        </p:spPr>
        <p:txBody>
          <a:bodyPr>
            <a:normAutofit/>
          </a:bodyPr>
          <a:lstStyle/>
          <a:p>
            <a:pPr marL="514350" indent="-514350">
              <a:buNone/>
            </a:pPr>
            <a:r>
              <a:rPr lang="en-US" altLang="zh-CN" dirty="0" smtClean="0"/>
              <a:t>2. 	(1) F: NH</a:t>
            </a:r>
            <a:r>
              <a:rPr lang="en-US" altLang="zh-CN" baseline="-25000" dirty="0" smtClean="0"/>
              <a:t>3 </a:t>
            </a:r>
            <a:r>
              <a:rPr lang="en-US" altLang="zh-CN" dirty="0" smtClean="0"/>
              <a:t> 		A: NO</a:t>
            </a:r>
            <a:r>
              <a:rPr lang="en-US" altLang="zh-CN" baseline="-25000" dirty="0" smtClean="0"/>
              <a:t>2</a:t>
            </a:r>
            <a:r>
              <a:rPr lang="en-US" altLang="zh-CN" dirty="0" smtClean="0"/>
              <a:t> 		B:  NO</a:t>
            </a:r>
            <a:endParaRPr lang="en-US" altLang="zh-CN" baseline="-25000" dirty="0" smtClean="0"/>
          </a:p>
          <a:p>
            <a:pPr marL="514350" indent="-514350">
              <a:buNone/>
            </a:pPr>
            <a:r>
              <a:rPr lang="en-US" altLang="zh-CN" baseline="-25000" dirty="0" smtClean="0"/>
              <a:t> </a:t>
            </a:r>
            <a:r>
              <a:rPr lang="en-US" altLang="zh-CN" dirty="0" smtClean="0"/>
              <a:t> 	C : HNO</a:t>
            </a:r>
            <a:r>
              <a:rPr lang="en-US" altLang="zh-CN" baseline="-25000" dirty="0" smtClean="0"/>
              <a:t>3</a:t>
            </a:r>
            <a:r>
              <a:rPr lang="en-US" altLang="zh-CN" dirty="0" smtClean="0"/>
              <a:t> 	D : NH</a:t>
            </a:r>
            <a:r>
              <a:rPr lang="en-US" altLang="zh-CN" baseline="-25000" dirty="0" smtClean="0"/>
              <a:t>4</a:t>
            </a:r>
            <a:r>
              <a:rPr lang="en-US" altLang="zh-CN" dirty="0" smtClean="0"/>
              <a:t>NO</a:t>
            </a:r>
            <a:r>
              <a:rPr lang="en-US" altLang="zh-CN" baseline="-25000" dirty="0" smtClean="0"/>
              <a:t>3	</a:t>
            </a:r>
            <a:r>
              <a:rPr lang="en-US" altLang="zh-CN" dirty="0" smtClean="0"/>
              <a:t>E : NaNO</a:t>
            </a:r>
            <a:r>
              <a:rPr lang="en-US" altLang="zh-CN" baseline="-25000" dirty="0" smtClean="0"/>
              <a:t>3</a:t>
            </a:r>
            <a:r>
              <a:rPr lang="en-US" altLang="zh-CN" dirty="0" smtClean="0"/>
              <a:t>   </a:t>
            </a:r>
          </a:p>
          <a:p>
            <a:pPr marL="514350" indent="-514350">
              <a:buNone/>
            </a:pPr>
            <a:endParaRPr lang="en-US" altLang="zh-CN" dirty="0" smtClean="0"/>
          </a:p>
          <a:p>
            <a:pPr marL="514350" indent="-514350">
              <a:buNone/>
            </a:pPr>
            <a:r>
              <a:rPr lang="en-US" altLang="zh-CN" dirty="0" smtClean="0">
                <a:latin typeface="Calibri"/>
                <a:cs typeface="Calibri"/>
              </a:rPr>
              <a:t>(2)	①</a:t>
            </a:r>
            <a:r>
              <a:rPr lang="en-US" altLang="zh-CN" dirty="0" smtClean="0"/>
              <a:t>3NO</a:t>
            </a:r>
            <a:r>
              <a:rPr lang="en-US" altLang="zh-CN" baseline="-25000" dirty="0" smtClean="0"/>
              <a:t>2</a:t>
            </a:r>
            <a:r>
              <a:rPr lang="en-US" altLang="zh-CN" dirty="0" smtClean="0"/>
              <a:t> + H</a:t>
            </a:r>
            <a:r>
              <a:rPr lang="en-US" altLang="zh-CN" baseline="-25000" dirty="0" smtClean="0"/>
              <a:t>2</a:t>
            </a:r>
            <a:r>
              <a:rPr lang="en-US" altLang="zh-CN" dirty="0" smtClean="0"/>
              <a:t>O </a:t>
            </a:r>
            <a:r>
              <a:rPr lang="en-US" altLang="zh-CN" dirty="0" smtClean="0">
                <a:sym typeface="Wingdings" pitchFamily="2" charset="2"/>
              </a:rPr>
              <a:t> NO + 2 HNO</a:t>
            </a:r>
            <a:r>
              <a:rPr lang="en-US" altLang="zh-CN" baseline="-25000" dirty="0" smtClean="0">
                <a:sym typeface="Wingdings" pitchFamily="2" charset="2"/>
              </a:rPr>
              <a:t>3</a:t>
            </a:r>
          </a:p>
          <a:p>
            <a:pPr marL="514350" indent="-514350">
              <a:buNone/>
            </a:pPr>
            <a:r>
              <a:rPr lang="en-US" altLang="zh-CN" baseline="-25000" dirty="0" smtClean="0">
                <a:sym typeface="Wingdings" pitchFamily="2" charset="2"/>
              </a:rPr>
              <a:t>		</a:t>
            </a:r>
            <a:r>
              <a:rPr lang="en-US" altLang="zh-CN" dirty="0" smtClean="0">
                <a:sym typeface="Wingdings" pitchFamily="2" charset="2"/>
              </a:rPr>
              <a:t>NO</a:t>
            </a:r>
            <a:r>
              <a:rPr lang="en-US" altLang="zh-CN" baseline="-25000" dirty="0" smtClean="0">
                <a:sym typeface="Wingdings" pitchFamily="2" charset="2"/>
              </a:rPr>
              <a:t>2</a:t>
            </a:r>
            <a:r>
              <a:rPr lang="en-US" altLang="zh-CN" dirty="0" smtClean="0">
                <a:sym typeface="Wingdings" pitchFamily="2" charset="2"/>
              </a:rPr>
              <a:t> </a:t>
            </a:r>
            <a:r>
              <a:rPr lang="zh-CN" altLang="en-US" dirty="0" smtClean="0">
                <a:sym typeface="Wingdings" pitchFamily="2" charset="2"/>
              </a:rPr>
              <a:t>是氧化剂也是还原剂</a:t>
            </a:r>
            <a:endParaRPr lang="en-US" altLang="zh-CN" dirty="0" smtClean="0">
              <a:sym typeface="Wingdings" pitchFamily="2" charset="2"/>
            </a:endParaRPr>
          </a:p>
          <a:p>
            <a:pPr marL="514350" indent="-514350">
              <a:buNone/>
            </a:pPr>
            <a:r>
              <a:rPr lang="en-US" altLang="zh-CN" dirty="0" smtClean="0">
                <a:latin typeface="Calibri"/>
                <a:cs typeface="Calibri"/>
                <a:sym typeface="Wingdings" pitchFamily="2" charset="2"/>
              </a:rPr>
              <a:t>	②</a:t>
            </a:r>
            <a:r>
              <a:rPr lang="en-US" altLang="zh-CN" dirty="0" smtClean="0">
                <a:sym typeface="Wingdings" pitchFamily="2" charset="2"/>
              </a:rPr>
              <a:t>HNO</a:t>
            </a:r>
            <a:r>
              <a:rPr lang="en-US" altLang="zh-CN" baseline="-25000" dirty="0" smtClean="0">
                <a:sym typeface="Wingdings" pitchFamily="2" charset="2"/>
              </a:rPr>
              <a:t>3 </a:t>
            </a:r>
            <a:r>
              <a:rPr lang="en-US" altLang="zh-CN" dirty="0" smtClean="0">
                <a:sym typeface="Wingdings" pitchFamily="2" charset="2"/>
              </a:rPr>
              <a:t> + NH</a:t>
            </a:r>
            <a:r>
              <a:rPr lang="en-US" altLang="zh-CN" baseline="-25000" dirty="0" smtClean="0">
                <a:sym typeface="Wingdings" pitchFamily="2" charset="2"/>
              </a:rPr>
              <a:t>3</a:t>
            </a:r>
            <a:r>
              <a:rPr lang="en-US" altLang="zh-CN" dirty="0" smtClean="0">
                <a:sym typeface="Wingdings" pitchFamily="2" charset="2"/>
              </a:rPr>
              <a:t>  NH</a:t>
            </a:r>
            <a:r>
              <a:rPr lang="en-US" altLang="zh-CN" baseline="-25000" dirty="0" smtClean="0">
                <a:sym typeface="Wingdings" pitchFamily="2" charset="2"/>
              </a:rPr>
              <a:t>4</a:t>
            </a:r>
            <a:r>
              <a:rPr lang="en-US" altLang="zh-CN" dirty="0" smtClean="0">
                <a:sym typeface="Wingdings" pitchFamily="2" charset="2"/>
              </a:rPr>
              <a:t>NO</a:t>
            </a:r>
            <a:r>
              <a:rPr lang="en-US" altLang="zh-CN" baseline="-25000" dirty="0" smtClean="0">
                <a:sym typeface="Wingdings" pitchFamily="2" charset="2"/>
              </a:rPr>
              <a:t>3</a:t>
            </a:r>
          </a:p>
          <a:p>
            <a:pPr marL="514350" indent="-514350">
              <a:buNone/>
            </a:pPr>
            <a:r>
              <a:rPr lang="en-US" altLang="zh-CN" dirty="0" smtClean="0">
                <a:sym typeface="Wingdings" pitchFamily="2" charset="2"/>
              </a:rPr>
              <a:t>	③ NH</a:t>
            </a:r>
            <a:r>
              <a:rPr lang="en-US" altLang="zh-CN" baseline="-25000" dirty="0" smtClean="0">
                <a:sym typeface="Wingdings" pitchFamily="2" charset="2"/>
              </a:rPr>
              <a:t>4</a:t>
            </a:r>
            <a:r>
              <a:rPr lang="en-US" altLang="zh-CN" dirty="0" smtClean="0">
                <a:sym typeface="Wingdings" pitchFamily="2" charset="2"/>
              </a:rPr>
              <a:t>NO</a:t>
            </a:r>
            <a:r>
              <a:rPr lang="en-US" altLang="zh-CN" baseline="-25000" dirty="0" smtClean="0">
                <a:sym typeface="Wingdings" pitchFamily="2" charset="2"/>
              </a:rPr>
              <a:t>3 </a:t>
            </a:r>
            <a:r>
              <a:rPr lang="en-US" altLang="zh-CN" dirty="0" smtClean="0">
                <a:sym typeface="Wingdings" pitchFamily="2" charset="2"/>
              </a:rPr>
              <a:t> + </a:t>
            </a:r>
            <a:r>
              <a:rPr lang="en-US" altLang="zh-CN" dirty="0" err="1" smtClean="0">
                <a:sym typeface="Wingdings" pitchFamily="2" charset="2"/>
              </a:rPr>
              <a:t>NaOH</a:t>
            </a:r>
            <a:r>
              <a:rPr lang="en-US" altLang="zh-CN" dirty="0" smtClean="0">
                <a:sym typeface="Wingdings" pitchFamily="2" charset="2"/>
              </a:rPr>
              <a:t>  NaNO</a:t>
            </a:r>
            <a:r>
              <a:rPr lang="en-US" altLang="zh-CN" baseline="-25000" dirty="0" smtClean="0">
                <a:sym typeface="Wingdings" pitchFamily="2" charset="2"/>
              </a:rPr>
              <a:t>3</a:t>
            </a:r>
            <a:r>
              <a:rPr lang="en-US" altLang="zh-CN" dirty="0" smtClean="0">
                <a:sym typeface="Wingdings" pitchFamily="2" charset="2"/>
              </a:rPr>
              <a:t> + NH</a:t>
            </a:r>
            <a:r>
              <a:rPr lang="en-US" altLang="zh-CN" baseline="-25000" dirty="0" smtClean="0">
                <a:sym typeface="Wingdings" pitchFamily="2" charset="2"/>
              </a:rPr>
              <a:t>3</a:t>
            </a:r>
            <a:r>
              <a:rPr lang="en-US" altLang="zh-CN" dirty="0" smtClean="0">
                <a:sym typeface="Wingdings" pitchFamily="2" charset="2"/>
              </a:rPr>
              <a:t> + H</a:t>
            </a:r>
            <a:r>
              <a:rPr lang="en-US" altLang="zh-CN" baseline="-25000" dirty="0" smtClean="0">
                <a:sym typeface="Wingdings" pitchFamily="2" charset="2"/>
              </a:rPr>
              <a:t>2</a:t>
            </a:r>
            <a:r>
              <a:rPr lang="en-US" altLang="zh-CN" dirty="0" smtClean="0">
                <a:sym typeface="Wingdings" pitchFamily="2" charset="2"/>
              </a:rPr>
              <a:t>O </a:t>
            </a:r>
          </a:p>
          <a:p>
            <a:pPr marL="514350" indent="-514350">
              <a:buNone/>
            </a:pPr>
            <a:r>
              <a:rPr lang="en-US" altLang="zh-CN" dirty="0" smtClean="0">
                <a:sym typeface="Wingdings" pitchFamily="2" charset="2"/>
              </a:rPr>
              <a:t>(3)  4 NH</a:t>
            </a:r>
            <a:r>
              <a:rPr lang="en-US" altLang="zh-CN" baseline="-25000" dirty="0" smtClean="0">
                <a:sym typeface="Wingdings" pitchFamily="2" charset="2"/>
              </a:rPr>
              <a:t>3</a:t>
            </a:r>
            <a:r>
              <a:rPr lang="en-US" altLang="zh-CN" dirty="0" smtClean="0">
                <a:sym typeface="Wingdings" pitchFamily="2" charset="2"/>
              </a:rPr>
              <a:t>  + 5 O</a:t>
            </a:r>
            <a:r>
              <a:rPr lang="en-US" altLang="zh-CN" baseline="-25000" dirty="0" smtClean="0">
                <a:sym typeface="Wingdings" pitchFamily="2" charset="2"/>
              </a:rPr>
              <a:t>2</a:t>
            </a:r>
            <a:r>
              <a:rPr lang="en-US" altLang="zh-CN" dirty="0" smtClean="0">
                <a:sym typeface="Wingdings" pitchFamily="2" charset="2"/>
              </a:rPr>
              <a:t> 	    4NO + 6H</a:t>
            </a:r>
            <a:r>
              <a:rPr lang="en-US" altLang="zh-CN" baseline="-25000" dirty="0" smtClean="0">
                <a:sym typeface="Wingdings" pitchFamily="2" charset="2"/>
              </a:rPr>
              <a:t>2</a:t>
            </a:r>
            <a:r>
              <a:rPr lang="en-US" altLang="zh-CN" dirty="0" smtClean="0">
                <a:sym typeface="Wingdings" pitchFamily="2" charset="2"/>
              </a:rPr>
              <a:t>O</a:t>
            </a:r>
            <a:endParaRPr lang="en-US" altLang="zh-CN" dirty="0" smtClean="0"/>
          </a:p>
          <a:p>
            <a:pPr marL="514350" indent="-514350">
              <a:buNone/>
            </a:pPr>
            <a:endParaRPr lang="en-US" dirty="0"/>
          </a:p>
        </p:txBody>
      </p:sp>
      <p:sp>
        <p:nvSpPr>
          <p:cNvPr id="5" name="Rounded Rectangle 4"/>
          <p:cNvSpPr/>
          <p:nvPr/>
        </p:nvSpPr>
        <p:spPr>
          <a:xfrm>
            <a:off x="1981200" y="914400"/>
            <a:ext cx="12192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
        <p:nvSpPr>
          <p:cNvPr id="6" name="Rounded Rectangle 5"/>
          <p:cNvSpPr/>
          <p:nvPr/>
        </p:nvSpPr>
        <p:spPr>
          <a:xfrm>
            <a:off x="4648200" y="914400"/>
            <a:ext cx="12192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
        <p:nvSpPr>
          <p:cNvPr id="7" name="Rounded Rectangle 6"/>
          <p:cNvSpPr/>
          <p:nvPr/>
        </p:nvSpPr>
        <p:spPr>
          <a:xfrm>
            <a:off x="7391400" y="914400"/>
            <a:ext cx="12192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
        <p:nvSpPr>
          <p:cNvPr id="8" name="Rounded Rectangle 7"/>
          <p:cNvSpPr/>
          <p:nvPr/>
        </p:nvSpPr>
        <p:spPr>
          <a:xfrm>
            <a:off x="1524000" y="1524000"/>
            <a:ext cx="12192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
        <p:nvSpPr>
          <p:cNvPr id="9" name="Rounded Rectangle 8"/>
          <p:cNvSpPr/>
          <p:nvPr/>
        </p:nvSpPr>
        <p:spPr>
          <a:xfrm>
            <a:off x="3810000" y="1524000"/>
            <a:ext cx="13716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
        <p:nvSpPr>
          <p:cNvPr id="10" name="Rounded Rectangle 9"/>
          <p:cNvSpPr/>
          <p:nvPr/>
        </p:nvSpPr>
        <p:spPr>
          <a:xfrm>
            <a:off x="6477000" y="1524000"/>
            <a:ext cx="13716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grpSp>
        <p:nvGrpSpPr>
          <p:cNvPr id="11" name="Group 10"/>
          <p:cNvGrpSpPr/>
          <p:nvPr/>
        </p:nvGrpSpPr>
        <p:grpSpPr>
          <a:xfrm>
            <a:off x="3429000" y="4950023"/>
            <a:ext cx="914400" cy="688777"/>
            <a:chOff x="2819400" y="5867400"/>
            <a:chExt cx="914400" cy="688777"/>
          </a:xfrm>
        </p:grpSpPr>
        <p:cxnSp>
          <p:nvCxnSpPr>
            <p:cNvPr id="12" name="Straight Arrow Connector 11"/>
            <p:cNvCxnSpPr/>
            <p:nvPr/>
          </p:nvCxnSpPr>
          <p:spPr>
            <a:xfrm>
              <a:off x="2819400" y="6172117"/>
              <a:ext cx="914400" cy="83"/>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2819400" y="6248400"/>
              <a:ext cx="723275" cy="307777"/>
            </a:xfrm>
            <a:prstGeom prst="rect">
              <a:avLst/>
            </a:prstGeom>
            <a:noFill/>
          </p:spPr>
          <p:txBody>
            <a:bodyPr wrap="square" rtlCol="0">
              <a:spAutoFit/>
            </a:bodyPr>
            <a:lstStyle/>
            <a:p>
              <a:r>
                <a:rPr lang="zh-CN" altLang="en-US" sz="1400" dirty="0" smtClean="0"/>
                <a:t>催化剂</a:t>
              </a:r>
              <a:endParaRPr lang="en-US" sz="1400" dirty="0"/>
            </a:p>
          </p:txBody>
        </p:sp>
        <p:sp>
          <p:nvSpPr>
            <p:cNvPr id="14" name="TextBox 13"/>
            <p:cNvSpPr txBox="1"/>
            <p:nvPr/>
          </p:nvSpPr>
          <p:spPr>
            <a:xfrm>
              <a:off x="2885261" y="5867400"/>
              <a:ext cx="543739" cy="307777"/>
            </a:xfrm>
            <a:prstGeom prst="rect">
              <a:avLst/>
            </a:prstGeom>
            <a:noFill/>
          </p:spPr>
          <p:txBody>
            <a:bodyPr wrap="none" rtlCol="0">
              <a:spAutoFit/>
            </a:bodyPr>
            <a:lstStyle/>
            <a:p>
              <a:r>
                <a:rPr lang="zh-CN" altLang="en-US" sz="1400" dirty="0" smtClean="0"/>
                <a:t>高温</a:t>
              </a:r>
              <a:endParaRPr lang="en-US" sz="1400" dirty="0"/>
            </a:p>
          </p:txBody>
        </p:sp>
      </p:grpSp>
      <p:sp>
        <p:nvSpPr>
          <p:cNvPr id="15" name="Rounded Rectangle 14"/>
          <p:cNvSpPr/>
          <p:nvPr/>
        </p:nvSpPr>
        <p:spPr>
          <a:xfrm>
            <a:off x="3886200" y="2667000"/>
            <a:ext cx="25146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
        <p:nvSpPr>
          <p:cNvPr id="16" name="Rounded Rectangle 15"/>
          <p:cNvSpPr/>
          <p:nvPr/>
        </p:nvSpPr>
        <p:spPr>
          <a:xfrm>
            <a:off x="4038600" y="3810000"/>
            <a:ext cx="20574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
        <p:nvSpPr>
          <p:cNvPr id="17" name="Rounded Rectangle 16"/>
          <p:cNvSpPr/>
          <p:nvPr/>
        </p:nvSpPr>
        <p:spPr>
          <a:xfrm>
            <a:off x="4876800" y="4419600"/>
            <a:ext cx="32766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
        <p:nvSpPr>
          <p:cNvPr id="18" name="Rounded Rectangle 17"/>
          <p:cNvSpPr/>
          <p:nvPr/>
        </p:nvSpPr>
        <p:spPr>
          <a:xfrm>
            <a:off x="4495800" y="5029200"/>
            <a:ext cx="32766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grpId="0" nodeType="clickEffect">
                                  <p:stCondLst>
                                    <p:cond delay="0"/>
                                  </p:stCondLst>
                                  <p:childTnLst>
                                    <p:animEffect transition="out" filter="blinds(horizontal)">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grpId="0" nodeType="clickEffect">
                                  <p:stCondLst>
                                    <p:cond delay="0"/>
                                  </p:stCondLst>
                                  <p:childTnLst>
                                    <p:animEffect transition="out" filter="blinds(horizontal)">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animEffect transition="in" filter="blinds(horizontal)">
                                      <p:cBhvr>
                                        <p:cTn id="17" dur="500"/>
                                        <p:tgtEl>
                                          <p:spTgt spid="3">
                                            <p:txEl>
                                              <p:pRg st="7" end="7"/>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blinds(horizontal)">
                                      <p:cBhvr>
                                        <p:cTn id="20" dur="50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xit" presetSubtype="10" fill="hold" grpId="0" nodeType="clickEffect">
                                  <p:stCondLst>
                                    <p:cond delay="0"/>
                                  </p:stCondLst>
                                  <p:childTnLst>
                                    <p:animEffect transition="out" filter="blinds(horizontal)">
                                      <p:cBhvr>
                                        <p:cTn id="24" dur="500"/>
                                        <p:tgtEl>
                                          <p:spTgt spid="18"/>
                                        </p:tgtEl>
                                      </p:cBhvr>
                                    </p:animEffect>
                                    <p:set>
                                      <p:cBhvr>
                                        <p:cTn id="25" dur="1" fill="hold">
                                          <p:stCondLst>
                                            <p:cond delay="499"/>
                                          </p:stCondLst>
                                        </p:cTn>
                                        <p:tgtEl>
                                          <p:spTgt spid="18"/>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Effect transition="in" filter="blinds(horizontal)">
                                      <p:cBhvr>
                                        <p:cTn id="30" dur="500"/>
                                        <p:tgtEl>
                                          <p:spTgt spid="3">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xit" presetSubtype="10" fill="hold" grpId="0" nodeType="clickEffect">
                                  <p:stCondLst>
                                    <p:cond delay="0"/>
                                  </p:stCondLst>
                                  <p:childTnLst>
                                    <p:animEffect transition="out" filter="blinds(horizontal)">
                                      <p:cBhvr>
                                        <p:cTn id="34" dur="500"/>
                                        <p:tgtEl>
                                          <p:spTgt spid="15"/>
                                        </p:tgtEl>
                                      </p:cBhvr>
                                    </p:animEffect>
                                    <p:set>
                                      <p:cBhvr>
                                        <p:cTn id="35" dur="1" fill="hold">
                                          <p:stCondLst>
                                            <p:cond delay="499"/>
                                          </p:stCondLst>
                                        </p:cTn>
                                        <p:tgtEl>
                                          <p:spTgt spid="15"/>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3" presetClass="exit" presetSubtype="10" fill="hold" grpId="0" nodeType="clickEffect">
                                  <p:stCondLst>
                                    <p:cond delay="0"/>
                                  </p:stCondLst>
                                  <p:childTnLst>
                                    <p:animEffect transition="out" filter="blinds(horizontal)">
                                      <p:cBhvr>
                                        <p:cTn id="39" dur="500"/>
                                        <p:tgtEl>
                                          <p:spTgt spid="7"/>
                                        </p:tgtEl>
                                      </p:cBhvr>
                                    </p:animEffect>
                                    <p:set>
                                      <p:cBhvr>
                                        <p:cTn id="40" dur="1" fill="hold">
                                          <p:stCondLst>
                                            <p:cond delay="499"/>
                                          </p:stCondLst>
                                        </p:cTn>
                                        <p:tgtEl>
                                          <p:spTgt spid="7"/>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3" presetClass="exit" presetSubtype="10" fill="hold" grpId="0" nodeType="clickEffect">
                                  <p:stCondLst>
                                    <p:cond delay="0"/>
                                  </p:stCondLst>
                                  <p:childTnLst>
                                    <p:animEffect transition="out" filter="blinds(horizontal)">
                                      <p:cBhvr>
                                        <p:cTn id="44" dur="500"/>
                                        <p:tgtEl>
                                          <p:spTgt spid="8"/>
                                        </p:tgtEl>
                                      </p:cBhvr>
                                    </p:animEffect>
                                    <p:set>
                                      <p:cBhvr>
                                        <p:cTn id="45" dur="1" fill="hold">
                                          <p:stCondLst>
                                            <p:cond delay="499"/>
                                          </p:stCondLst>
                                        </p:cTn>
                                        <p:tgtEl>
                                          <p:spTgt spid="8"/>
                                        </p:tgtEl>
                                        <p:attrNameLst>
                                          <p:attrName>style.visibility</p:attrName>
                                        </p:attrNameLst>
                                      </p:cBhvr>
                                      <p:to>
                                        <p:strVal val="hidden"/>
                                      </p:to>
                                    </p:se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3">
                                            <p:txEl>
                                              <p:pRg st="5" end="5"/>
                                            </p:txEl>
                                          </p:spTgt>
                                        </p:tgtEl>
                                        <p:attrNameLst>
                                          <p:attrName>style.visibility</p:attrName>
                                        </p:attrNameLst>
                                      </p:cBhvr>
                                      <p:to>
                                        <p:strVal val="visible"/>
                                      </p:to>
                                    </p:set>
                                    <p:animEffect transition="in" filter="blinds(horizontal)">
                                      <p:cBhvr>
                                        <p:cTn id="50" dur="500"/>
                                        <p:tgtEl>
                                          <p:spTgt spid="3">
                                            <p:txEl>
                                              <p:pRg st="5" end="5"/>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xit" presetSubtype="10" fill="hold" grpId="0" nodeType="clickEffect">
                                  <p:stCondLst>
                                    <p:cond delay="0"/>
                                  </p:stCondLst>
                                  <p:childTnLst>
                                    <p:animEffect transition="out" filter="blinds(horizontal)">
                                      <p:cBhvr>
                                        <p:cTn id="54" dur="500"/>
                                        <p:tgtEl>
                                          <p:spTgt spid="16"/>
                                        </p:tgtEl>
                                      </p:cBhvr>
                                    </p:animEffect>
                                    <p:set>
                                      <p:cBhvr>
                                        <p:cTn id="55" dur="1" fill="hold">
                                          <p:stCondLst>
                                            <p:cond delay="499"/>
                                          </p:stCondLst>
                                        </p:cTn>
                                        <p:tgtEl>
                                          <p:spTgt spid="16"/>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3" presetClass="exit" presetSubtype="10" fill="hold" grpId="0" nodeType="clickEffect">
                                  <p:stCondLst>
                                    <p:cond delay="0"/>
                                  </p:stCondLst>
                                  <p:childTnLst>
                                    <p:animEffect transition="out" filter="blinds(horizontal)">
                                      <p:cBhvr>
                                        <p:cTn id="59" dur="500"/>
                                        <p:tgtEl>
                                          <p:spTgt spid="9"/>
                                        </p:tgtEl>
                                      </p:cBhvr>
                                    </p:animEffect>
                                    <p:set>
                                      <p:cBhvr>
                                        <p:cTn id="60" dur="1" fill="hold">
                                          <p:stCondLst>
                                            <p:cond delay="499"/>
                                          </p:stCondLst>
                                        </p:cTn>
                                        <p:tgtEl>
                                          <p:spTgt spid="9"/>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grpId="0" nodeType="clickEffect">
                                  <p:stCondLst>
                                    <p:cond delay="0"/>
                                  </p:stCondLst>
                                  <p:childTnLst>
                                    <p:set>
                                      <p:cBhvr>
                                        <p:cTn id="64" dur="1" fill="hold">
                                          <p:stCondLst>
                                            <p:cond delay="0"/>
                                          </p:stCondLst>
                                        </p:cTn>
                                        <p:tgtEl>
                                          <p:spTgt spid="3">
                                            <p:txEl>
                                              <p:pRg st="6" end="6"/>
                                            </p:txEl>
                                          </p:spTgt>
                                        </p:tgtEl>
                                        <p:attrNameLst>
                                          <p:attrName>style.visibility</p:attrName>
                                        </p:attrNameLst>
                                      </p:cBhvr>
                                      <p:to>
                                        <p:strVal val="visible"/>
                                      </p:to>
                                    </p:set>
                                    <p:animEffect transition="in" filter="blinds(horizontal)">
                                      <p:cBhvr>
                                        <p:cTn id="65" dur="500"/>
                                        <p:tgtEl>
                                          <p:spTgt spid="3">
                                            <p:txEl>
                                              <p:pRg st="6" end="6"/>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xit" presetSubtype="10" fill="hold" grpId="0" nodeType="clickEffect">
                                  <p:stCondLst>
                                    <p:cond delay="0"/>
                                  </p:stCondLst>
                                  <p:childTnLst>
                                    <p:animEffect transition="out" filter="blinds(horizontal)">
                                      <p:cBhvr>
                                        <p:cTn id="69" dur="500"/>
                                        <p:tgtEl>
                                          <p:spTgt spid="17"/>
                                        </p:tgtEl>
                                      </p:cBhvr>
                                    </p:animEffect>
                                    <p:set>
                                      <p:cBhvr>
                                        <p:cTn id="70" dur="1" fill="hold">
                                          <p:stCondLst>
                                            <p:cond delay="499"/>
                                          </p:stCondLst>
                                        </p:cTn>
                                        <p:tgtEl>
                                          <p:spTgt spid="17"/>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3" presetClass="exit" presetSubtype="10" fill="hold" nodeType="clickEffect">
                                  <p:stCondLst>
                                    <p:cond delay="0"/>
                                  </p:stCondLst>
                                  <p:childTnLst>
                                    <p:animEffect transition="out" filter="blinds(horizontal)">
                                      <p:cBhvr>
                                        <p:cTn id="74" dur="500"/>
                                        <p:tgtEl>
                                          <p:spTgt spid="10"/>
                                        </p:tgtEl>
                                      </p:cBhvr>
                                    </p:animEffect>
                                    <p:set>
                                      <p:cBhvr>
                                        <p:cTn id="75" dur="1" fill="hold">
                                          <p:stCondLst>
                                            <p:cond delay="499"/>
                                          </p:stCondLst>
                                        </p:cTn>
                                        <p:tgtEl>
                                          <p:spTgt spid="10"/>
                                        </p:tgtEl>
                                        <p:attrNameLst>
                                          <p:attrName>style.visibility</p:attrName>
                                        </p:attrNameLst>
                                      </p:cBhvr>
                                      <p:to>
                                        <p:strVal val="hidden"/>
                                      </p:to>
                                    </p:set>
                                  </p:childTnLst>
                                </p:cTn>
                              </p:par>
                            </p:childTnLst>
                          </p:cTn>
                        </p:par>
                      </p:childTnLst>
                    </p:cTn>
                  </p:par>
                  <p:par>
                    <p:cTn id="76" fill="hold">
                      <p:stCondLst>
                        <p:cond delay="indefinite"/>
                      </p:stCondLst>
                      <p:childTnLst>
                        <p:par>
                          <p:cTn id="77" fill="hold">
                            <p:stCondLst>
                              <p:cond delay="0"/>
                            </p:stCondLst>
                            <p:childTnLst>
                              <p:par>
                                <p:cTn id="78" presetID="3" presetClass="entr" presetSubtype="10" fill="hold" grpId="0" nodeType="clickEffect">
                                  <p:stCondLst>
                                    <p:cond delay="0"/>
                                  </p:stCondLst>
                                  <p:childTnLst>
                                    <p:set>
                                      <p:cBhvr>
                                        <p:cTn id="79" dur="1" fill="hold">
                                          <p:stCondLst>
                                            <p:cond delay="0"/>
                                          </p:stCondLst>
                                        </p:cTn>
                                        <p:tgtEl>
                                          <p:spTgt spid="3">
                                            <p:txEl>
                                              <p:pRg st="4" end="4"/>
                                            </p:txEl>
                                          </p:spTgt>
                                        </p:tgtEl>
                                        <p:attrNameLst>
                                          <p:attrName>style.visibility</p:attrName>
                                        </p:attrNameLst>
                                      </p:cBhvr>
                                      <p:to>
                                        <p:strVal val="visible"/>
                                      </p:to>
                                    </p:set>
                                    <p:animEffect transition="in" filter="blinds(horizontal)">
                                      <p:cBhvr>
                                        <p:cTn id="8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6" grpId="0" animBg="1"/>
      <p:bldP spid="7" grpId="0" animBg="1"/>
      <p:bldP spid="8" grpId="0" animBg="1"/>
      <p:bldP spid="9" grpId="0" animBg="1"/>
      <p:bldP spid="15" grpId="0" animBg="1"/>
      <p:bldP spid="16" grpId="0" animBg="1"/>
      <p:bldP spid="17" grpId="0" animBg="1"/>
      <p:bldP spid="18"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zh-CN" altLang="en-US" dirty="0" smtClean="0"/>
              <a:t>作答题</a:t>
            </a:r>
            <a:endParaRPr lang="en-US" dirty="0"/>
          </a:p>
        </p:txBody>
      </p:sp>
      <p:sp>
        <p:nvSpPr>
          <p:cNvPr id="3" name="Content Placeholder 2"/>
          <p:cNvSpPr>
            <a:spLocks noGrp="1"/>
          </p:cNvSpPr>
          <p:nvPr>
            <p:ph idx="1"/>
          </p:nvPr>
        </p:nvSpPr>
        <p:spPr>
          <a:xfrm>
            <a:off x="457200" y="838200"/>
            <a:ext cx="8229600" cy="5867400"/>
          </a:xfrm>
        </p:spPr>
        <p:txBody>
          <a:bodyPr/>
          <a:lstStyle/>
          <a:p>
            <a:pPr>
              <a:buNone/>
            </a:pPr>
            <a:r>
              <a:rPr lang="en-US" altLang="zh-CN" dirty="0" smtClean="0"/>
              <a:t>3.(1) CD</a:t>
            </a:r>
          </a:p>
          <a:p>
            <a:pPr>
              <a:buNone/>
            </a:pPr>
            <a:r>
              <a:rPr lang="en-US" altLang="zh-CN" dirty="0" smtClean="0"/>
              <a:t>	(2) Cu</a:t>
            </a:r>
            <a:r>
              <a:rPr lang="en-US" altLang="zh-CN" baseline="30000" dirty="0" smtClean="0"/>
              <a:t>+</a:t>
            </a:r>
            <a:r>
              <a:rPr lang="en-US" altLang="zh-CN" dirty="0" smtClean="0"/>
              <a:t> (</a:t>
            </a:r>
            <a:r>
              <a:rPr lang="en-US" altLang="zh-CN" dirty="0" err="1" smtClean="0"/>
              <a:t>aq</a:t>
            </a:r>
            <a:r>
              <a:rPr lang="en-US" altLang="zh-CN" dirty="0" smtClean="0"/>
              <a:t>) + NO</a:t>
            </a:r>
            <a:r>
              <a:rPr lang="en-US" altLang="zh-CN" baseline="-25000" dirty="0" smtClean="0"/>
              <a:t>2 </a:t>
            </a:r>
            <a:r>
              <a:rPr lang="en-US" altLang="zh-CN" baseline="30000" dirty="0" smtClean="0"/>
              <a:t>–</a:t>
            </a:r>
            <a:r>
              <a:rPr lang="en-US" altLang="zh-CN" dirty="0" smtClean="0"/>
              <a:t> (</a:t>
            </a:r>
            <a:r>
              <a:rPr lang="en-US" altLang="zh-CN" dirty="0" err="1" smtClean="0"/>
              <a:t>aq</a:t>
            </a:r>
            <a:r>
              <a:rPr lang="en-US" altLang="zh-CN" dirty="0" smtClean="0"/>
              <a:t>) + 2 H </a:t>
            </a:r>
            <a:r>
              <a:rPr lang="en-US" altLang="zh-CN" baseline="30000" dirty="0" smtClean="0"/>
              <a:t>+</a:t>
            </a:r>
            <a:r>
              <a:rPr lang="en-US" altLang="zh-CN" dirty="0" smtClean="0"/>
              <a:t> (</a:t>
            </a:r>
            <a:r>
              <a:rPr lang="en-US" altLang="zh-CN" dirty="0" err="1" smtClean="0"/>
              <a:t>aq</a:t>
            </a:r>
            <a:r>
              <a:rPr lang="en-US" altLang="zh-CN" dirty="0" smtClean="0"/>
              <a:t>) </a:t>
            </a:r>
          </a:p>
          <a:p>
            <a:pPr>
              <a:buNone/>
            </a:pPr>
            <a:r>
              <a:rPr lang="en-US" altLang="zh-CN" dirty="0" smtClean="0"/>
              <a:t>			</a:t>
            </a:r>
            <a:r>
              <a:rPr lang="en-US" altLang="zh-CN" dirty="0" smtClean="0">
                <a:sym typeface="Wingdings" pitchFamily="2" charset="2"/>
              </a:rPr>
              <a:t> Cu</a:t>
            </a:r>
            <a:r>
              <a:rPr lang="en-US" altLang="zh-CN" baseline="30000" dirty="0" smtClean="0">
                <a:sym typeface="Wingdings" pitchFamily="2" charset="2"/>
              </a:rPr>
              <a:t>2+</a:t>
            </a:r>
            <a:r>
              <a:rPr lang="en-US" altLang="zh-CN" dirty="0" smtClean="0">
                <a:sym typeface="Wingdings" pitchFamily="2" charset="2"/>
              </a:rPr>
              <a:t> (</a:t>
            </a:r>
            <a:r>
              <a:rPr lang="en-US" altLang="zh-CN" dirty="0" err="1" smtClean="0">
                <a:sym typeface="Wingdings" pitchFamily="2" charset="2"/>
              </a:rPr>
              <a:t>aq</a:t>
            </a:r>
            <a:r>
              <a:rPr lang="en-US" altLang="zh-CN" dirty="0" smtClean="0">
                <a:sym typeface="Wingdings" pitchFamily="2" charset="2"/>
              </a:rPr>
              <a:t>) + NO (g) + H</a:t>
            </a:r>
            <a:r>
              <a:rPr lang="en-US" altLang="zh-CN" baseline="-25000" dirty="0" smtClean="0">
                <a:sym typeface="Wingdings" pitchFamily="2" charset="2"/>
              </a:rPr>
              <a:t>2</a:t>
            </a:r>
            <a:r>
              <a:rPr lang="en-US" altLang="zh-CN" dirty="0" smtClean="0">
                <a:sym typeface="Wingdings" pitchFamily="2" charset="2"/>
              </a:rPr>
              <a:t> O(l)</a:t>
            </a:r>
            <a:endParaRPr lang="en-US" altLang="zh-CN" dirty="0" smtClean="0"/>
          </a:p>
          <a:p>
            <a:pPr>
              <a:buNone/>
            </a:pPr>
            <a:endParaRPr lang="en-US" altLang="zh-CN" dirty="0" smtClean="0"/>
          </a:p>
          <a:p>
            <a:pPr>
              <a:buNone/>
            </a:pPr>
            <a:r>
              <a:rPr lang="en-US" altLang="zh-CN" dirty="0" smtClean="0"/>
              <a:t> 4.(1)  4P + 5O</a:t>
            </a:r>
            <a:r>
              <a:rPr lang="en-US" altLang="zh-CN" baseline="-25000" dirty="0" smtClean="0"/>
              <a:t>2</a:t>
            </a:r>
            <a:r>
              <a:rPr lang="en-US" altLang="zh-CN" dirty="0" smtClean="0"/>
              <a:t>  	  	2 P</a:t>
            </a:r>
            <a:r>
              <a:rPr lang="en-US" altLang="zh-CN" baseline="-25000" dirty="0" smtClean="0"/>
              <a:t>2</a:t>
            </a:r>
            <a:r>
              <a:rPr lang="en-US" altLang="zh-CN" dirty="0" smtClean="0"/>
              <a:t>O</a:t>
            </a:r>
            <a:r>
              <a:rPr lang="en-US" altLang="zh-CN" baseline="-25000" dirty="0" smtClean="0"/>
              <a:t>5</a:t>
            </a:r>
            <a:r>
              <a:rPr lang="en-US" altLang="zh-CN" dirty="0" smtClean="0"/>
              <a:t> </a:t>
            </a:r>
          </a:p>
          <a:p>
            <a:pPr>
              <a:buNone/>
            </a:pPr>
            <a:r>
              <a:rPr lang="en-US" altLang="zh-CN" dirty="0" smtClean="0"/>
              <a:t>  	(2)  </a:t>
            </a:r>
            <a:r>
              <a:rPr lang="zh-CN" altLang="en-US" dirty="0" smtClean="0"/>
              <a:t>例 </a:t>
            </a:r>
            <a:r>
              <a:rPr lang="en-US" altLang="zh-CN" dirty="0" smtClean="0"/>
              <a:t>SiCl</a:t>
            </a:r>
            <a:r>
              <a:rPr lang="en-US" altLang="zh-CN" baseline="-25000" dirty="0" smtClean="0"/>
              <a:t>4</a:t>
            </a:r>
            <a:r>
              <a:rPr lang="en-US" altLang="zh-CN" dirty="0" smtClean="0"/>
              <a:t> + 3H</a:t>
            </a:r>
            <a:r>
              <a:rPr lang="en-US" altLang="zh-CN" baseline="-25000" dirty="0" smtClean="0"/>
              <a:t>2</a:t>
            </a:r>
            <a:r>
              <a:rPr lang="en-US" altLang="zh-CN" dirty="0" smtClean="0"/>
              <a:t> O </a:t>
            </a:r>
            <a:r>
              <a:rPr lang="en-US" altLang="zh-CN" dirty="0" smtClean="0">
                <a:sym typeface="Wingdings" pitchFamily="2" charset="2"/>
              </a:rPr>
              <a:t> H</a:t>
            </a:r>
            <a:r>
              <a:rPr lang="en-US" altLang="zh-CN" baseline="-25000" dirty="0" smtClean="0">
                <a:sym typeface="Wingdings" pitchFamily="2" charset="2"/>
              </a:rPr>
              <a:t>2</a:t>
            </a:r>
            <a:r>
              <a:rPr lang="en-US" altLang="zh-CN" dirty="0" smtClean="0">
                <a:sym typeface="Wingdings" pitchFamily="2" charset="2"/>
              </a:rPr>
              <a:t>SiO</a:t>
            </a:r>
            <a:r>
              <a:rPr lang="en-US" altLang="zh-CN" baseline="-25000" dirty="0" smtClean="0">
                <a:sym typeface="Wingdings" pitchFamily="2" charset="2"/>
              </a:rPr>
              <a:t>3</a:t>
            </a:r>
            <a:r>
              <a:rPr lang="en-US" altLang="zh-CN" dirty="0" smtClean="0">
                <a:sym typeface="Wingdings" pitchFamily="2" charset="2"/>
              </a:rPr>
              <a:t> + 4HCl </a:t>
            </a:r>
            <a:endParaRPr lang="en-US" altLang="zh-CN" dirty="0" smtClean="0"/>
          </a:p>
          <a:p>
            <a:pPr>
              <a:buNone/>
            </a:pPr>
            <a:r>
              <a:rPr lang="en-US" altLang="zh-CN" dirty="0" smtClean="0"/>
              <a:t>	PCl</a:t>
            </a:r>
            <a:r>
              <a:rPr lang="en-US" altLang="zh-CN" baseline="-25000" dirty="0" smtClean="0"/>
              <a:t>5</a:t>
            </a:r>
            <a:r>
              <a:rPr lang="en-US" altLang="zh-CN" dirty="0" smtClean="0"/>
              <a:t> + 4H</a:t>
            </a:r>
            <a:r>
              <a:rPr lang="en-US" altLang="zh-CN" baseline="-25000" dirty="0" smtClean="0"/>
              <a:t>2</a:t>
            </a:r>
            <a:r>
              <a:rPr lang="en-US" altLang="zh-CN" dirty="0" smtClean="0"/>
              <a:t>O  </a:t>
            </a:r>
            <a:r>
              <a:rPr lang="en-US" altLang="zh-CN" dirty="0" smtClean="0">
                <a:sym typeface="Wingdings" pitchFamily="2" charset="2"/>
              </a:rPr>
              <a:t> H</a:t>
            </a:r>
            <a:r>
              <a:rPr lang="en-US" altLang="zh-CN" baseline="-25000" dirty="0" smtClean="0">
                <a:sym typeface="Wingdings" pitchFamily="2" charset="2"/>
              </a:rPr>
              <a:t>3</a:t>
            </a:r>
            <a:r>
              <a:rPr lang="en-US" altLang="zh-CN" dirty="0" smtClean="0">
                <a:sym typeface="Wingdings" pitchFamily="2" charset="2"/>
              </a:rPr>
              <a:t>PO</a:t>
            </a:r>
            <a:r>
              <a:rPr lang="en-US" altLang="zh-CN" baseline="-25000" dirty="0" smtClean="0">
                <a:sym typeface="Wingdings" pitchFamily="2" charset="2"/>
              </a:rPr>
              <a:t>4</a:t>
            </a:r>
            <a:r>
              <a:rPr lang="en-US" altLang="zh-CN" dirty="0" smtClean="0">
                <a:sym typeface="Wingdings" pitchFamily="2" charset="2"/>
              </a:rPr>
              <a:t> + 5HCl</a:t>
            </a:r>
          </a:p>
          <a:p>
            <a:pPr>
              <a:buNone/>
            </a:pPr>
            <a:endParaRPr lang="en-US" altLang="zh-CN" dirty="0" smtClean="0"/>
          </a:p>
          <a:p>
            <a:pPr>
              <a:buNone/>
            </a:pPr>
            <a:endParaRPr lang="en-US" altLang="zh-CN" dirty="0" smtClean="0"/>
          </a:p>
          <a:p>
            <a:pPr>
              <a:buNone/>
            </a:pPr>
            <a:endParaRPr lang="en-US" dirty="0"/>
          </a:p>
        </p:txBody>
      </p:sp>
      <p:sp>
        <p:nvSpPr>
          <p:cNvPr id="5" name="Rounded Rectangle 4"/>
          <p:cNvSpPr/>
          <p:nvPr/>
        </p:nvSpPr>
        <p:spPr>
          <a:xfrm>
            <a:off x="5867400" y="2057400"/>
            <a:ext cx="14478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
        <p:nvSpPr>
          <p:cNvPr id="6" name="Rounded Rectangle 5"/>
          <p:cNvSpPr/>
          <p:nvPr/>
        </p:nvSpPr>
        <p:spPr>
          <a:xfrm>
            <a:off x="4800600" y="1524000"/>
            <a:ext cx="18288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grpSp>
        <p:nvGrpSpPr>
          <p:cNvPr id="7" name="Group 6"/>
          <p:cNvGrpSpPr/>
          <p:nvPr/>
        </p:nvGrpSpPr>
        <p:grpSpPr>
          <a:xfrm>
            <a:off x="3276600" y="3273623"/>
            <a:ext cx="914400" cy="307777"/>
            <a:chOff x="2819400" y="5943600"/>
            <a:chExt cx="914400" cy="307777"/>
          </a:xfrm>
        </p:grpSpPr>
        <p:cxnSp>
          <p:nvCxnSpPr>
            <p:cNvPr id="8" name="Straight Arrow Connector 7"/>
            <p:cNvCxnSpPr/>
            <p:nvPr/>
          </p:nvCxnSpPr>
          <p:spPr>
            <a:xfrm>
              <a:off x="2819400" y="6172117"/>
              <a:ext cx="914400" cy="83"/>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2961461" y="5943600"/>
              <a:ext cx="543739" cy="307777"/>
            </a:xfrm>
            <a:prstGeom prst="rect">
              <a:avLst/>
            </a:prstGeom>
            <a:noFill/>
          </p:spPr>
          <p:txBody>
            <a:bodyPr wrap="none" rtlCol="0">
              <a:spAutoFit/>
            </a:bodyPr>
            <a:lstStyle/>
            <a:p>
              <a:r>
                <a:rPr lang="zh-CN" altLang="en-US" sz="1400" dirty="0" smtClean="0"/>
                <a:t>点燃</a:t>
              </a:r>
              <a:endParaRPr lang="en-US" sz="1400" dirty="0"/>
            </a:p>
          </p:txBody>
        </p:sp>
      </p:grpSp>
      <p:sp>
        <p:nvSpPr>
          <p:cNvPr id="11" name="Rounded Rectangle 10"/>
          <p:cNvSpPr/>
          <p:nvPr/>
        </p:nvSpPr>
        <p:spPr>
          <a:xfrm>
            <a:off x="3429000" y="4419600"/>
            <a:ext cx="22098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xit" presetSubtype="10" fill="hold" grpId="0" nodeType="clickEffect">
                                  <p:stCondLst>
                                    <p:cond delay="0"/>
                                  </p:stCondLst>
                                  <p:childTnLst>
                                    <p:animEffect transition="out" filter="blinds(horizontal)">
                                      <p:cBhvr>
                                        <p:cTn id="21" dur="500"/>
                                        <p:tgtEl>
                                          <p:spTgt spid="5"/>
                                        </p:tgtEl>
                                      </p:cBhvr>
                                    </p:animEffect>
                                    <p:set>
                                      <p:cBhvr>
                                        <p:cTn id="22" dur="1" fill="hold">
                                          <p:stCondLst>
                                            <p:cond delay="499"/>
                                          </p:stCondLst>
                                        </p:cTn>
                                        <p:tgtEl>
                                          <p:spTgt spid="5"/>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3" presetClass="exit" presetSubtype="10" fill="hold" grpId="0" nodeType="clickEffect">
                                  <p:stCondLst>
                                    <p:cond delay="0"/>
                                  </p:stCondLst>
                                  <p:childTnLst>
                                    <p:animEffect transition="out" filter="blinds(horizontal)">
                                      <p:cBhvr>
                                        <p:cTn id="26" dur="500"/>
                                        <p:tgtEl>
                                          <p:spTgt spid="6"/>
                                        </p:tgtEl>
                                      </p:cBhvr>
                                    </p:animEffect>
                                    <p:set>
                                      <p:cBhvr>
                                        <p:cTn id="27" dur="1" fill="hold">
                                          <p:stCondLst>
                                            <p:cond delay="499"/>
                                          </p:stCondLst>
                                        </p:cTn>
                                        <p:tgtEl>
                                          <p:spTgt spid="6"/>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blinds(horizontal)">
                                      <p:cBhvr>
                                        <p:cTn id="32" dur="500"/>
                                        <p:tgtEl>
                                          <p:spTgt spid="3">
                                            <p:txEl>
                                              <p:pRg st="4" end="4"/>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blinds(horizontal)">
                                      <p:cBhvr>
                                        <p:cTn id="35" dur="500"/>
                                        <p:tgtEl>
                                          <p:spTgt spid="7"/>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3">
                                            <p:txEl>
                                              <p:pRg st="5" end="5"/>
                                            </p:txEl>
                                          </p:spTgt>
                                        </p:tgtEl>
                                        <p:attrNameLst>
                                          <p:attrName>style.visibility</p:attrName>
                                        </p:attrNameLst>
                                      </p:cBhvr>
                                      <p:to>
                                        <p:strVal val="visible"/>
                                      </p:to>
                                    </p:set>
                                    <p:animEffect transition="in" filter="blinds(horizontal)">
                                      <p:cBhvr>
                                        <p:cTn id="40" dur="500"/>
                                        <p:tgtEl>
                                          <p:spTgt spid="3">
                                            <p:txEl>
                                              <p:pRg st="5" end="5"/>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3">
                                            <p:txEl>
                                              <p:pRg st="6" end="6"/>
                                            </p:txEl>
                                          </p:spTgt>
                                        </p:tgtEl>
                                        <p:attrNameLst>
                                          <p:attrName>style.visibility</p:attrName>
                                        </p:attrNameLst>
                                      </p:cBhvr>
                                      <p:to>
                                        <p:strVal val="visible"/>
                                      </p:to>
                                    </p:set>
                                    <p:animEffect transition="in" filter="blinds(horizontal)">
                                      <p:cBhvr>
                                        <p:cTn id="45" dur="500"/>
                                        <p:tgtEl>
                                          <p:spTgt spid="3">
                                            <p:txEl>
                                              <p:pRg st="6" end="6"/>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xit" presetSubtype="10" fill="hold" grpId="0" nodeType="clickEffect">
                                  <p:stCondLst>
                                    <p:cond delay="0"/>
                                  </p:stCondLst>
                                  <p:childTnLst>
                                    <p:animEffect transition="out" filter="blinds(horizontal)">
                                      <p:cBhvr>
                                        <p:cTn id="49" dur="500"/>
                                        <p:tgtEl>
                                          <p:spTgt spid="11"/>
                                        </p:tgtEl>
                                      </p:cBhvr>
                                    </p:animEffect>
                                    <p:set>
                                      <p:cBhvr>
                                        <p:cTn id="50"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6" grpId="0" animBg="1"/>
      <p:bldP spid="11"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zh-CN" altLang="en-US" dirty="0" smtClean="0"/>
              <a:t>作答题</a:t>
            </a:r>
            <a:endParaRPr lang="en-US" dirty="0"/>
          </a:p>
        </p:txBody>
      </p:sp>
      <p:sp>
        <p:nvSpPr>
          <p:cNvPr id="3" name="Content Placeholder 2"/>
          <p:cNvSpPr>
            <a:spLocks noGrp="1"/>
          </p:cNvSpPr>
          <p:nvPr>
            <p:ph idx="1"/>
          </p:nvPr>
        </p:nvSpPr>
        <p:spPr>
          <a:xfrm>
            <a:off x="457200" y="838200"/>
            <a:ext cx="8229600" cy="5867400"/>
          </a:xfrm>
        </p:spPr>
        <p:txBody>
          <a:bodyPr/>
          <a:lstStyle/>
          <a:p>
            <a:pPr>
              <a:buNone/>
            </a:pPr>
            <a:r>
              <a:rPr lang="en-US" altLang="zh-CN" dirty="0" smtClean="0"/>
              <a:t>5. (1) </a:t>
            </a:r>
            <a:r>
              <a:rPr lang="zh-CN" altLang="en-US" dirty="0" smtClean="0"/>
              <a:t>根瘤菌将游离态的氮转化为化合态的氮，满足豆科植物的营养需要。</a:t>
            </a:r>
            <a:endParaRPr lang="en-US" altLang="zh-CN" dirty="0" smtClean="0"/>
          </a:p>
          <a:p>
            <a:pPr>
              <a:buNone/>
            </a:pPr>
            <a:r>
              <a:rPr lang="en-US" altLang="zh-CN" dirty="0" smtClean="0"/>
              <a:t>	(2)	N</a:t>
            </a:r>
            <a:r>
              <a:rPr lang="en-US" altLang="zh-CN" baseline="-25000" dirty="0" smtClean="0"/>
              <a:t>2</a:t>
            </a:r>
            <a:r>
              <a:rPr lang="en-US" altLang="zh-CN" dirty="0" smtClean="0"/>
              <a:t> + 3H</a:t>
            </a:r>
            <a:r>
              <a:rPr lang="en-US" altLang="zh-CN" baseline="-25000" dirty="0" smtClean="0"/>
              <a:t>2</a:t>
            </a:r>
            <a:r>
              <a:rPr lang="en-US" altLang="zh-CN" dirty="0" smtClean="0"/>
              <a:t>   	          2NH</a:t>
            </a:r>
            <a:r>
              <a:rPr lang="en-US" altLang="zh-CN" baseline="-25000" dirty="0" smtClean="0"/>
              <a:t>3</a:t>
            </a:r>
            <a:r>
              <a:rPr lang="en-US" altLang="zh-CN" dirty="0" smtClean="0"/>
              <a:t> </a:t>
            </a:r>
          </a:p>
          <a:p>
            <a:pPr>
              <a:buNone/>
            </a:pPr>
            <a:r>
              <a:rPr lang="en-US" dirty="0" smtClean="0"/>
              <a:t>	(3) N</a:t>
            </a:r>
            <a:r>
              <a:rPr lang="en-US" baseline="-25000" dirty="0" smtClean="0"/>
              <a:t>2</a:t>
            </a:r>
            <a:r>
              <a:rPr lang="en-US" dirty="0" smtClean="0"/>
              <a:t> + O</a:t>
            </a:r>
            <a:r>
              <a:rPr lang="en-US" baseline="-25000" dirty="0" smtClean="0"/>
              <a:t>2  </a:t>
            </a:r>
            <a:r>
              <a:rPr lang="en-US" dirty="0" smtClean="0"/>
              <a:t>  	      2NO </a:t>
            </a:r>
          </a:p>
          <a:p>
            <a:pPr>
              <a:buNone/>
            </a:pPr>
            <a:r>
              <a:rPr lang="en-US" dirty="0" smtClean="0"/>
              <a:t>		2NO + O</a:t>
            </a:r>
            <a:r>
              <a:rPr lang="en-US" baseline="-25000" dirty="0" smtClean="0"/>
              <a:t>2</a:t>
            </a:r>
            <a:r>
              <a:rPr lang="en-US" dirty="0" smtClean="0"/>
              <a:t> </a:t>
            </a:r>
            <a:r>
              <a:rPr lang="en-US" dirty="0" smtClean="0">
                <a:sym typeface="Wingdings" pitchFamily="2" charset="2"/>
              </a:rPr>
              <a:t> </a:t>
            </a:r>
            <a:r>
              <a:rPr lang="en-US" altLang="zh-CN" dirty="0" smtClean="0">
                <a:sym typeface="Wingdings" pitchFamily="2" charset="2"/>
              </a:rPr>
              <a:t>2NO</a:t>
            </a:r>
            <a:r>
              <a:rPr lang="en-US" altLang="zh-CN" baseline="-25000" dirty="0" smtClean="0">
                <a:sym typeface="Wingdings" pitchFamily="2" charset="2"/>
              </a:rPr>
              <a:t>2 </a:t>
            </a:r>
          </a:p>
          <a:p>
            <a:pPr>
              <a:buNone/>
            </a:pPr>
            <a:r>
              <a:rPr lang="en-US" baseline="-25000" dirty="0" smtClean="0">
                <a:sym typeface="Wingdings" pitchFamily="2" charset="2"/>
              </a:rPr>
              <a:t>	 	</a:t>
            </a:r>
            <a:r>
              <a:rPr lang="en-US" dirty="0" smtClean="0">
                <a:sym typeface="Wingdings" pitchFamily="2" charset="2"/>
              </a:rPr>
              <a:t> </a:t>
            </a:r>
            <a:r>
              <a:rPr lang="en-US" altLang="zh-CN" dirty="0" smtClean="0">
                <a:sym typeface="Wingdings" pitchFamily="2" charset="2"/>
              </a:rPr>
              <a:t>2NO</a:t>
            </a:r>
            <a:r>
              <a:rPr lang="en-US" altLang="zh-CN" baseline="-25000" dirty="0" smtClean="0">
                <a:sym typeface="Wingdings" pitchFamily="2" charset="2"/>
              </a:rPr>
              <a:t>2</a:t>
            </a:r>
            <a:r>
              <a:rPr lang="en-US" altLang="zh-CN" dirty="0" smtClean="0">
                <a:sym typeface="Wingdings" pitchFamily="2" charset="2"/>
              </a:rPr>
              <a:t> + H</a:t>
            </a:r>
            <a:r>
              <a:rPr lang="en-US" altLang="zh-CN" baseline="-25000" dirty="0" smtClean="0">
                <a:sym typeface="Wingdings" pitchFamily="2" charset="2"/>
              </a:rPr>
              <a:t>2</a:t>
            </a:r>
            <a:r>
              <a:rPr lang="en-US" altLang="zh-CN" dirty="0" smtClean="0">
                <a:sym typeface="Wingdings" pitchFamily="2" charset="2"/>
              </a:rPr>
              <a:t>O  HNO</a:t>
            </a:r>
            <a:r>
              <a:rPr lang="en-US" altLang="zh-CN" baseline="-25000" dirty="0" smtClean="0">
                <a:sym typeface="Wingdings" pitchFamily="2" charset="2"/>
              </a:rPr>
              <a:t>3</a:t>
            </a:r>
            <a:r>
              <a:rPr lang="en-US" altLang="zh-CN" dirty="0" smtClean="0">
                <a:sym typeface="Wingdings" pitchFamily="2" charset="2"/>
              </a:rPr>
              <a:t> + HNO</a:t>
            </a:r>
            <a:r>
              <a:rPr lang="en-US" altLang="zh-CN" baseline="-25000" dirty="0" smtClean="0">
                <a:sym typeface="Wingdings" pitchFamily="2" charset="2"/>
              </a:rPr>
              <a:t>2</a:t>
            </a:r>
            <a:r>
              <a:rPr lang="en-US" altLang="zh-CN" dirty="0" smtClean="0">
                <a:sym typeface="Wingdings" pitchFamily="2" charset="2"/>
              </a:rPr>
              <a:t> </a:t>
            </a:r>
          </a:p>
          <a:p>
            <a:pPr>
              <a:buNone/>
            </a:pPr>
            <a:r>
              <a:rPr lang="en-US" dirty="0" smtClean="0">
                <a:sym typeface="Wingdings" pitchFamily="2" charset="2"/>
              </a:rPr>
              <a:t>	</a:t>
            </a:r>
            <a:r>
              <a:rPr lang="zh-CN" altLang="en-US" dirty="0" smtClean="0">
                <a:sym typeface="Wingdings" pitchFamily="2" charset="2"/>
              </a:rPr>
              <a:t>或 </a:t>
            </a:r>
            <a:r>
              <a:rPr lang="en-US" altLang="zh-CN" dirty="0" smtClean="0">
                <a:sym typeface="Wingdings" pitchFamily="2" charset="2"/>
              </a:rPr>
              <a:t>3NO</a:t>
            </a:r>
            <a:r>
              <a:rPr lang="en-US" altLang="zh-CN" baseline="-25000" dirty="0" smtClean="0">
                <a:sym typeface="Wingdings" pitchFamily="2" charset="2"/>
              </a:rPr>
              <a:t>2</a:t>
            </a:r>
            <a:r>
              <a:rPr lang="en-US" altLang="zh-CN" dirty="0" smtClean="0">
                <a:sym typeface="Wingdings" pitchFamily="2" charset="2"/>
              </a:rPr>
              <a:t> + H</a:t>
            </a:r>
            <a:r>
              <a:rPr lang="en-US" altLang="zh-CN" baseline="-25000" dirty="0" smtClean="0">
                <a:sym typeface="Wingdings" pitchFamily="2" charset="2"/>
              </a:rPr>
              <a:t>2</a:t>
            </a:r>
            <a:r>
              <a:rPr lang="en-US" altLang="zh-CN" dirty="0" smtClean="0">
                <a:sym typeface="Wingdings" pitchFamily="2" charset="2"/>
              </a:rPr>
              <a:t>O  NO + 2HNO</a:t>
            </a:r>
            <a:r>
              <a:rPr lang="en-US" altLang="zh-CN" baseline="-25000" dirty="0" smtClean="0">
                <a:sym typeface="Wingdings" pitchFamily="2" charset="2"/>
              </a:rPr>
              <a:t>3</a:t>
            </a:r>
            <a:r>
              <a:rPr lang="en-US" altLang="zh-CN" dirty="0" smtClean="0">
                <a:sym typeface="Wingdings" pitchFamily="2" charset="2"/>
              </a:rPr>
              <a:t> </a:t>
            </a:r>
          </a:p>
          <a:p>
            <a:pPr>
              <a:buNone/>
            </a:pPr>
            <a:r>
              <a:rPr lang="en-US" dirty="0" smtClean="0">
                <a:sym typeface="Wingdings" pitchFamily="2" charset="2"/>
              </a:rPr>
              <a:t> 	(4) 2NH</a:t>
            </a:r>
            <a:r>
              <a:rPr lang="en-US" baseline="-25000" dirty="0" smtClean="0">
                <a:sym typeface="Wingdings" pitchFamily="2" charset="2"/>
              </a:rPr>
              <a:t>3</a:t>
            </a:r>
            <a:r>
              <a:rPr lang="en-US" dirty="0" smtClean="0">
                <a:sym typeface="Wingdings" pitchFamily="2" charset="2"/>
              </a:rPr>
              <a:t> + 3O</a:t>
            </a:r>
            <a:r>
              <a:rPr lang="en-US" baseline="-25000" dirty="0" smtClean="0">
                <a:sym typeface="Wingdings" pitchFamily="2" charset="2"/>
              </a:rPr>
              <a:t>2</a:t>
            </a:r>
            <a:r>
              <a:rPr lang="en-US" dirty="0" smtClean="0">
                <a:sym typeface="Wingdings" pitchFamily="2" charset="2"/>
              </a:rPr>
              <a:t> 	 2HNO</a:t>
            </a:r>
            <a:r>
              <a:rPr lang="en-US" baseline="-25000" dirty="0" smtClean="0">
                <a:sym typeface="Wingdings" pitchFamily="2" charset="2"/>
              </a:rPr>
              <a:t>2</a:t>
            </a:r>
            <a:r>
              <a:rPr lang="en-US" dirty="0" smtClean="0">
                <a:sym typeface="Wingdings" pitchFamily="2" charset="2"/>
              </a:rPr>
              <a:t> + 2H</a:t>
            </a:r>
            <a:r>
              <a:rPr lang="en-US" baseline="-25000" dirty="0" smtClean="0">
                <a:sym typeface="Wingdings" pitchFamily="2" charset="2"/>
              </a:rPr>
              <a:t>2</a:t>
            </a:r>
            <a:r>
              <a:rPr lang="en-US" dirty="0" smtClean="0">
                <a:sym typeface="Wingdings" pitchFamily="2" charset="2"/>
              </a:rPr>
              <a:t>O</a:t>
            </a:r>
          </a:p>
          <a:p>
            <a:pPr>
              <a:buNone/>
            </a:pPr>
            <a:r>
              <a:rPr lang="en-US" dirty="0" smtClean="0">
                <a:sym typeface="Wingdings" pitchFamily="2" charset="2"/>
              </a:rPr>
              <a:t>		2HNO</a:t>
            </a:r>
            <a:r>
              <a:rPr lang="en-US" baseline="-25000" dirty="0" smtClean="0">
                <a:sym typeface="Wingdings" pitchFamily="2" charset="2"/>
              </a:rPr>
              <a:t>2</a:t>
            </a:r>
            <a:r>
              <a:rPr lang="en-US" dirty="0" smtClean="0">
                <a:sym typeface="Wingdings" pitchFamily="2" charset="2"/>
              </a:rPr>
              <a:t> + O</a:t>
            </a:r>
            <a:r>
              <a:rPr lang="en-US" baseline="-25000" dirty="0" smtClean="0">
                <a:sym typeface="Wingdings" pitchFamily="2" charset="2"/>
              </a:rPr>
              <a:t>2</a:t>
            </a:r>
            <a:r>
              <a:rPr lang="en-US" dirty="0" smtClean="0">
                <a:sym typeface="Wingdings" pitchFamily="2" charset="2"/>
              </a:rPr>
              <a:t> 	   2HNO</a:t>
            </a:r>
            <a:r>
              <a:rPr lang="en-US" baseline="-25000" dirty="0" smtClean="0">
                <a:sym typeface="Wingdings" pitchFamily="2" charset="2"/>
              </a:rPr>
              <a:t>3</a:t>
            </a:r>
            <a:endParaRPr lang="en-US" dirty="0"/>
          </a:p>
        </p:txBody>
      </p:sp>
      <p:grpSp>
        <p:nvGrpSpPr>
          <p:cNvPr id="5" name="Group 4"/>
          <p:cNvGrpSpPr/>
          <p:nvPr/>
        </p:nvGrpSpPr>
        <p:grpSpPr>
          <a:xfrm>
            <a:off x="2651452" y="2587823"/>
            <a:ext cx="1082348" cy="612577"/>
            <a:chOff x="2667000" y="5867400"/>
            <a:chExt cx="1082348" cy="612577"/>
          </a:xfrm>
        </p:grpSpPr>
        <p:cxnSp>
          <p:nvCxnSpPr>
            <p:cNvPr id="6" name="Straight Arrow Connector 5"/>
            <p:cNvCxnSpPr/>
            <p:nvPr/>
          </p:nvCxnSpPr>
          <p:spPr>
            <a:xfrm>
              <a:off x="2819400" y="6172117"/>
              <a:ext cx="914400" cy="83"/>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2819400" y="6172200"/>
              <a:ext cx="723275" cy="307777"/>
            </a:xfrm>
            <a:prstGeom prst="rect">
              <a:avLst/>
            </a:prstGeom>
            <a:noFill/>
          </p:spPr>
          <p:txBody>
            <a:bodyPr wrap="square" rtlCol="0">
              <a:spAutoFit/>
            </a:bodyPr>
            <a:lstStyle/>
            <a:p>
              <a:r>
                <a:rPr lang="zh-CN" altLang="en-US" sz="1400" dirty="0" smtClean="0"/>
                <a:t>放电</a:t>
              </a:r>
              <a:endParaRPr lang="en-US" sz="1400" dirty="0"/>
            </a:p>
          </p:txBody>
        </p:sp>
        <p:sp>
          <p:nvSpPr>
            <p:cNvPr id="8" name="TextBox 7"/>
            <p:cNvSpPr txBox="1"/>
            <p:nvPr/>
          </p:nvSpPr>
          <p:spPr>
            <a:xfrm>
              <a:off x="2667000" y="5867400"/>
              <a:ext cx="1082348" cy="307777"/>
            </a:xfrm>
            <a:prstGeom prst="rect">
              <a:avLst/>
            </a:prstGeom>
            <a:noFill/>
          </p:spPr>
          <p:txBody>
            <a:bodyPr wrap="none" rtlCol="0">
              <a:spAutoFit/>
            </a:bodyPr>
            <a:lstStyle/>
            <a:p>
              <a:r>
                <a:rPr lang="zh-CN" altLang="en-US" sz="1400" dirty="0" smtClean="0"/>
                <a:t>高温、高压</a:t>
              </a:r>
              <a:endParaRPr lang="en-US" sz="1400" dirty="0"/>
            </a:p>
          </p:txBody>
        </p:sp>
      </p:grpSp>
      <p:grpSp>
        <p:nvGrpSpPr>
          <p:cNvPr id="9" name="Group 8"/>
          <p:cNvGrpSpPr/>
          <p:nvPr/>
        </p:nvGrpSpPr>
        <p:grpSpPr>
          <a:xfrm>
            <a:off x="3184852" y="4873823"/>
            <a:ext cx="1066800" cy="307777"/>
            <a:chOff x="2667000" y="5867400"/>
            <a:chExt cx="1066800" cy="307777"/>
          </a:xfrm>
        </p:grpSpPr>
        <p:cxnSp>
          <p:nvCxnSpPr>
            <p:cNvPr id="10" name="Straight Arrow Connector 9"/>
            <p:cNvCxnSpPr/>
            <p:nvPr/>
          </p:nvCxnSpPr>
          <p:spPr>
            <a:xfrm>
              <a:off x="2819400" y="6172117"/>
              <a:ext cx="914400" cy="83"/>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2667000" y="5867400"/>
              <a:ext cx="902811" cy="307777"/>
            </a:xfrm>
            <a:prstGeom prst="rect">
              <a:avLst/>
            </a:prstGeom>
            <a:noFill/>
          </p:spPr>
          <p:txBody>
            <a:bodyPr wrap="none" rtlCol="0">
              <a:spAutoFit/>
            </a:bodyPr>
            <a:lstStyle/>
            <a:p>
              <a:r>
                <a:rPr lang="zh-CN" altLang="en-US" sz="1400" dirty="0" smtClean="0"/>
                <a:t>硝化细菌</a:t>
              </a:r>
              <a:endParaRPr lang="en-US" sz="1400" dirty="0"/>
            </a:p>
          </p:txBody>
        </p:sp>
      </p:grpSp>
      <p:grpSp>
        <p:nvGrpSpPr>
          <p:cNvPr id="13" name="Group 12"/>
          <p:cNvGrpSpPr/>
          <p:nvPr/>
        </p:nvGrpSpPr>
        <p:grpSpPr>
          <a:xfrm>
            <a:off x="3276600" y="5483423"/>
            <a:ext cx="1066800" cy="307777"/>
            <a:chOff x="2667000" y="5867400"/>
            <a:chExt cx="1066800" cy="307777"/>
          </a:xfrm>
        </p:grpSpPr>
        <p:cxnSp>
          <p:nvCxnSpPr>
            <p:cNvPr id="14" name="Straight Arrow Connector 13"/>
            <p:cNvCxnSpPr/>
            <p:nvPr/>
          </p:nvCxnSpPr>
          <p:spPr>
            <a:xfrm>
              <a:off x="2819400" y="6172117"/>
              <a:ext cx="914400" cy="83"/>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2667000" y="5867400"/>
              <a:ext cx="902811" cy="307777"/>
            </a:xfrm>
            <a:prstGeom prst="rect">
              <a:avLst/>
            </a:prstGeom>
            <a:noFill/>
          </p:spPr>
          <p:txBody>
            <a:bodyPr wrap="none" rtlCol="0">
              <a:spAutoFit/>
            </a:bodyPr>
            <a:lstStyle/>
            <a:p>
              <a:r>
                <a:rPr lang="zh-CN" altLang="en-US" sz="1400" dirty="0" smtClean="0"/>
                <a:t>硝化细菌</a:t>
              </a:r>
              <a:endParaRPr lang="en-US" sz="1400" dirty="0"/>
            </a:p>
          </p:txBody>
        </p:sp>
      </p:grpSp>
      <p:grpSp>
        <p:nvGrpSpPr>
          <p:cNvPr id="16" name="Group 15"/>
          <p:cNvGrpSpPr/>
          <p:nvPr/>
        </p:nvGrpSpPr>
        <p:grpSpPr>
          <a:xfrm>
            <a:off x="2895600" y="1905000"/>
            <a:ext cx="1219200" cy="688777"/>
            <a:chOff x="2819400" y="5867400"/>
            <a:chExt cx="1219200" cy="688777"/>
          </a:xfrm>
        </p:grpSpPr>
        <p:grpSp>
          <p:nvGrpSpPr>
            <p:cNvPr id="17" name="Group 11"/>
            <p:cNvGrpSpPr/>
            <p:nvPr/>
          </p:nvGrpSpPr>
          <p:grpSpPr>
            <a:xfrm>
              <a:off x="2819400" y="6172117"/>
              <a:ext cx="1219200" cy="76199"/>
              <a:chOff x="2895600" y="6324600"/>
              <a:chExt cx="2133600" cy="76199"/>
            </a:xfrm>
          </p:grpSpPr>
          <p:cxnSp>
            <p:nvCxnSpPr>
              <p:cNvPr id="20" name="Straight Arrow Connector 19"/>
              <p:cNvCxnSpPr/>
              <p:nvPr/>
            </p:nvCxnSpPr>
            <p:spPr>
              <a:xfrm rot="10800000">
                <a:off x="2895600" y="6399210"/>
                <a:ext cx="2057400" cy="1589"/>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2895600" y="6324600"/>
                <a:ext cx="21336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grpSp>
        <p:sp>
          <p:nvSpPr>
            <p:cNvPr id="18" name="TextBox 17"/>
            <p:cNvSpPr txBox="1"/>
            <p:nvPr/>
          </p:nvSpPr>
          <p:spPr>
            <a:xfrm>
              <a:off x="3048000" y="6248400"/>
              <a:ext cx="723275" cy="307777"/>
            </a:xfrm>
            <a:prstGeom prst="rect">
              <a:avLst/>
            </a:prstGeom>
            <a:noFill/>
          </p:spPr>
          <p:txBody>
            <a:bodyPr wrap="square" rtlCol="0">
              <a:spAutoFit/>
            </a:bodyPr>
            <a:lstStyle/>
            <a:p>
              <a:r>
                <a:rPr lang="zh-CN" altLang="en-US" sz="1400" dirty="0" smtClean="0"/>
                <a:t>催化剂</a:t>
              </a:r>
              <a:endParaRPr lang="en-US" sz="1400" dirty="0"/>
            </a:p>
          </p:txBody>
        </p:sp>
        <p:sp>
          <p:nvSpPr>
            <p:cNvPr id="19" name="TextBox 18"/>
            <p:cNvSpPr txBox="1"/>
            <p:nvPr/>
          </p:nvSpPr>
          <p:spPr>
            <a:xfrm>
              <a:off x="2895600" y="5867400"/>
              <a:ext cx="1082348" cy="307777"/>
            </a:xfrm>
            <a:prstGeom prst="rect">
              <a:avLst/>
            </a:prstGeom>
            <a:noFill/>
          </p:spPr>
          <p:txBody>
            <a:bodyPr wrap="none" rtlCol="0">
              <a:spAutoFit/>
            </a:bodyPr>
            <a:lstStyle/>
            <a:p>
              <a:r>
                <a:rPr lang="zh-CN" altLang="en-US" sz="1400" dirty="0" smtClean="0"/>
                <a:t>高温、高压</a:t>
              </a:r>
              <a:endParaRPr lang="en-US" sz="1400" dirty="0"/>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blinds(horizontal)">
                                      <p:cBhvr>
                                        <p:cTn id="15" dur="5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blinds(horizontal)">
                                      <p:cBhvr>
                                        <p:cTn id="20" dur="500"/>
                                        <p:tgtEl>
                                          <p:spTgt spid="3">
                                            <p:txEl>
                                              <p:pRg st="2" end="2"/>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blinds(horizontal)">
                                      <p:cBhvr>
                                        <p:cTn id="23" dur="5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blinds(horizontal)">
                                      <p:cBhvr>
                                        <p:cTn id="28" dur="500"/>
                                        <p:tgtEl>
                                          <p:spTgt spid="3">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blinds(horizontal)">
                                      <p:cBhvr>
                                        <p:cTn id="33" dur="500"/>
                                        <p:tgtEl>
                                          <p:spTgt spid="3">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animEffect transition="in" filter="blinds(horizontal)">
                                      <p:cBhvr>
                                        <p:cTn id="38" dur="500"/>
                                        <p:tgtEl>
                                          <p:spTgt spid="3">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Effect transition="in" filter="blinds(horizontal)">
                                      <p:cBhvr>
                                        <p:cTn id="43" dur="500"/>
                                        <p:tgtEl>
                                          <p:spTgt spid="3">
                                            <p:txEl>
                                              <p:pRg st="6" end="6"/>
                                            </p:txEl>
                                          </p:spTgt>
                                        </p:tgtEl>
                                      </p:cBhvr>
                                    </p:animEffect>
                                  </p:childTnLst>
                                </p:cTn>
                              </p:par>
                              <p:par>
                                <p:cTn id="44" presetID="3" presetClass="entr" presetSubtype="10" fill="hold"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blinds(horizontal)">
                                      <p:cBhvr>
                                        <p:cTn id="46" dur="500"/>
                                        <p:tgtEl>
                                          <p:spTgt spid="9"/>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3">
                                            <p:txEl>
                                              <p:pRg st="7" end="7"/>
                                            </p:txEl>
                                          </p:spTgt>
                                        </p:tgtEl>
                                        <p:attrNameLst>
                                          <p:attrName>style.visibility</p:attrName>
                                        </p:attrNameLst>
                                      </p:cBhvr>
                                      <p:to>
                                        <p:strVal val="visible"/>
                                      </p:to>
                                    </p:set>
                                    <p:animEffect transition="in" filter="blinds(horizontal)">
                                      <p:cBhvr>
                                        <p:cTn id="51" dur="500"/>
                                        <p:tgtEl>
                                          <p:spTgt spid="3">
                                            <p:txEl>
                                              <p:pRg st="7" end="7"/>
                                            </p:txEl>
                                          </p:spTgt>
                                        </p:tgtEl>
                                      </p:cBhvr>
                                    </p:animEffect>
                                  </p:childTnLst>
                                </p:cTn>
                              </p:par>
                              <p:par>
                                <p:cTn id="52" presetID="3" presetClass="entr" presetSubtype="10" fill="hold" nodeType="with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blinds(horizontal)">
                                      <p:cBhvr>
                                        <p:cTn id="5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70000" contrast="-70000"/>
            <a:extLst>
              <a:ext uri="{28A0092B-C50C-407E-A947-70E740481C1C}">
                <a14:useLocalDpi xmlns="" xmlns:a14="http://schemas.microsoft.com/office/drawing/2010/main" val="0"/>
              </a:ext>
            </a:extLst>
          </a:blip>
          <a:stretch>
            <a:fillRect/>
          </a:stretch>
        </p:blipFill>
        <p:spPr>
          <a:xfrm>
            <a:off x="0" y="-88839"/>
            <a:ext cx="9144000" cy="6946839"/>
          </a:xfrm>
          <a:prstGeom prst="rect">
            <a:avLst/>
          </a:prstGeom>
        </p:spPr>
      </p:pic>
      <p:sp>
        <p:nvSpPr>
          <p:cNvPr id="2" name="Title 1"/>
          <p:cNvSpPr>
            <a:spLocks noGrp="1"/>
          </p:cNvSpPr>
          <p:nvPr>
            <p:ph type="title"/>
          </p:nvPr>
        </p:nvSpPr>
        <p:spPr>
          <a:xfrm>
            <a:off x="457200" y="-76200"/>
            <a:ext cx="8229600" cy="1143000"/>
          </a:xfrm>
        </p:spPr>
        <p:txBody>
          <a:bodyPr/>
          <a:lstStyle/>
          <a:p>
            <a:r>
              <a:rPr lang="zh-CN" altLang="en-US" dirty="0" smtClean="0"/>
              <a:t>作答题</a:t>
            </a:r>
            <a:endParaRPr lang="en-US" dirty="0"/>
          </a:p>
        </p:txBody>
      </p:sp>
      <p:sp>
        <p:nvSpPr>
          <p:cNvPr id="5" name="Content Placeholder 2"/>
          <p:cNvSpPr txBox="1">
            <a:spLocks/>
          </p:cNvSpPr>
          <p:nvPr/>
        </p:nvSpPr>
        <p:spPr>
          <a:xfrm>
            <a:off x="304800" y="914400"/>
            <a:ext cx="8686800" cy="57912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10000"/>
              </a:lnSpc>
              <a:spcBef>
                <a:spcPct val="20000"/>
              </a:spcBef>
              <a:spcAft>
                <a:spcPts val="0"/>
              </a:spcAft>
              <a:buClrTx/>
              <a:buSzTx/>
              <a:buFont typeface="Arial" pitchFamily="34" charset="0"/>
              <a:buNone/>
              <a:tabLst/>
              <a:defRPr/>
            </a:pPr>
            <a:r>
              <a:rPr lang="en-US" altLang="zh-CN" sz="3200" dirty="0" smtClean="0"/>
              <a:t>6. (1) </a:t>
            </a:r>
            <a:r>
              <a:rPr kumimoji="0" lang="en-US" altLang="zh-CN" sz="3200" b="0" i="0" u="none" strike="noStrike" kern="1200" cap="none" spc="0" normalizeH="0" baseline="0" noProof="0" dirty="0" smtClean="0">
                <a:ln>
                  <a:noFill/>
                </a:ln>
                <a:solidFill>
                  <a:schemeClr val="tx1"/>
                </a:solidFill>
                <a:effectLst/>
                <a:uLnTx/>
                <a:uFillTx/>
                <a:latin typeface="+mn-lt"/>
                <a:ea typeface="+mn-ea"/>
                <a:cs typeface="+mn-cs"/>
              </a:rPr>
              <a:t>2NH</a:t>
            </a:r>
            <a:r>
              <a:rPr kumimoji="0" lang="en-US" altLang="zh-CN" sz="3200" b="0" i="0" u="none" strike="noStrike" kern="1200" cap="none" spc="0" normalizeH="0" baseline="-25000" noProof="0" dirty="0" smtClean="0">
                <a:ln>
                  <a:noFill/>
                </a:ln>
                <a:solidFill>
                  <a:schemeClr val="tx1"/>
                </a:solidFill>
                <a:effectLst/>
                <a:uLnTx/>
                <a:uFillTx/>
                <a:latin typeface="+mn-lt"/>
                <a:ea typeface="+mn-ea"/>
                <a:cs typeface="+mn-cs"/>
              </a:rPr>
              <a:t>4</a:t>
            </a:r>
            <a:r>
              <a:rPr kumimoji="0" lang="en-US" altLang="zh-CN" sz="3200" b="0" i="0" u="none" strike="noStrike" kern="1200" cap="none" spc="0" normalizeH="0" baseline="0" noProof="0" dirty="0" smtClean="0">
                <a:ln>
                  <a:noFill/>
                </a:ln>
                <a:solidFill>
                  <a:schemeClr val="tx1"/>
                </a:solidFill>
                <a:effectLst/>
                <a:uLnTx/>
                <a:uFillTx/>
                <a:latin typeface="+mn-lt"/>
                <a:ea typeface="+mn-ea"/>
                <a:cs typeface="+mn-cs"/>
              </a:rPr>
              <a:t>Cl + Ca(OH)</a:t>
            </a:r>
            <a:r>
              <a:rPr kumimoji="0" lang="en-US" altLang="zh-CN" sz="3200" b="0" i="0" u="none" strike="noStrike" kern="1200" cap="none" spc="0" normalizeH="0" baseline="-25000" noProof="0" dirty="0" smtClean="0">
                <a:ln>
                  <a:noFill/>
                </a:ln>
                <a:solidFill>
                  <a:schemeClr val="tx1"/>
                </a:solidFill>
                <a:effectLst/>
                <a:uLnTx/>
                <a:uFillTx/>
                <a:latin typeface="+mn-lt"/>
                <a:ea typeface="+mn-ea"/>
                <a:cs typeface="+mn-cs"/>
              </a:rPr>
              <a:t>2</a:t>
            </a:r>
            <a:r>
              <a:rPr kumimoji="0" lang="en-US" altLang="zh-CN" sz="3200" b="0" i="0" u="none" strike="noStrike" kern="1200" cap="none" spc="0" normalizeH="0" baseline="0" noProof="0" dirty="0" smtClean="0">
                <a:ln>
                  <a:noFill/>
                </a:ln>
                <a:solidFill>
                  <a:schemeClr val="tx1"/>
                </a:solidFill>
                <a:effectLst/>
                <a:uLnTx/>
                <a:uFillTx/>
                <a:latin typeface="+mn-lt"/>
                <a:ea typeface="+mn-ea"/>
                <a:cs typeface="+mn-cs"/>
              </a:rPr>
              <a:t> 	   CaCl</a:t>
            </a:r>
            <a:r>
              <a:rPr kumimoji="0" lang="en-US" altLang="zh-CN" sz="3200" b="0" i="0" u="none" strike="noStrike" kern="1200" cap="none" spc="0" normalizeH="0" baseline="-25000" noProof="0" dirty="0" smtClean="0">
                <a:ln>
                  <a:noFill/>
                </a:ln>
                <a:solidFill>
                  <a:schemeClr val="tx1"/>
                </a:solidFill>
                <a:effectLst/>
                <a:uLnTx/>
                <a:uFillTx/>
                <a:latin typeface="+mn-lt"/>
                <a:ea typeface="+mn-ea"/>
                <a:cs typeface="+mn-cs"/>
              </a:rPr>
              <a:t>2</a:t>
            </a:r>
            <a:r>
              <a:rPr kumimoji="0" lang="en-US" altLang="zh-CN" sz="3200" b="0" i="0" u="none" strike="noStrike" kern="1200" cap="none" spc="0" normalizeH="0" baseline="0" noProof="0" dirty="0" smtClean="0">
                <a:ln>
                  <a:noFill/>
                </a:ln>
                <a:solidFill>
                  <a:schemeClr val="tx1"/>
                </a:solidFill>
                <a:effectLst/>
                <a:uLnTx/>
                <a:uFillTx/>
                <a:latin typeface="+mn-lt"/>
                <a:ea typeface="+mn-ea"/>
                <a:cs typeface="+mn-cs"/>
              </a:rPr>
              <a:t>+ 2NH</a:t>
            </a:r>
            <a:r>
              <a:rPr kumimoji="0" lang="en-US" altLang="zh-CN" sz="3200" b="0" i="0" u="none" strike="noStrike" kern="1200" cap="none" spc="0" normalizeH="0" baseline="-25000" noProof="0" dirty="0" smtClean="0">
                <a:ln>
                  <a:noFill/>
                </a:ln>
                <a:solidFill>
                  <a:schemeClr val="tx1"/>
                </a:solidFill>
                <a:effectLst/>
                <a:uLnTx/>
                <a:uFillTx/>
                <a:latin typeface="+mn-lt"/>
                <a:ea typeface="+mn-ea"/>
                <a:cs typeface="+mn-cs"/>
              </a:rPr>
              <a:t>3</a:t>
            </a:r>
            <a:r>
              <a:rPr kumimoji="0" lang="en-US" altLang="zh-CN" sz="3200" b="0" i="0" u="none" strike="noStrike" kern="1200" cap="none" spc="0" normalizeH="0" baseline="0" noProof="0" dirty="0" smtClean="0">
                <a:ln>
                  <a:noFill/>
                </a:ln>
                <a:solidFill>
                  <a:schemeClr val="tx1"/>
                </a:solidFill>
                <a:effectLst/>
                <a:uLnTx/>
                <a:uFillTx/>
                <a:latin typeface="+mn-lt"/>
                <a:ea typeface="+mn-ea"/>
                <a:cs typeface="+mn-cs"/>
              </a:rPr>
              <a:t>+ 2H</a:t>
            </a:r>
            <a:r>
              <a:rPr kumimoji="0" lang="en-US" altLang="zh-CN" sz="3200" b="0" i="0" u="none" strike="noStrike" kern="1200" cap="none" spc="0" normalizeH="0" baseline="-25000" noProof="0" dirty="0" smtClean="0">
                <a:ln>
                  <a:noFill/>
                </a:ln>
                <a:solidFill>
                  <a:schemeClr val="tx1"/>
                </a:solidFill>
                <a:effectLst/>
                <a:uLnTx/>
                <a:uFillTx/>
                <a:latin typeface="+mn-lt"/>
                <a:ea typeface="+mn-ea"/>
                <a:cs typeface="+mn-cs"/>
              </a:rPr>
              <a:t>2</a:t>
            </a:r>
            <a:r>
              <a:rPr kumimoji="0" lang="en-US" altLang="zh-CN" sz="3200" b="0" i="0" u="none" strike="noStrike" kern="1200" cap="none" spc="0" normalizeH="0" baseline="0" noProof="0" dirty="0" smtClean="0">
                <a:ln>
                  <a:noFill/>
                </a:ln>
                <a:solidFill>
                  <a:schemeClr val="tx1"/>
                </a:solidFill>
                <a:effectLst/>
                <a:uLnTx/>
                <a:uFillTx/>
                <a:latin typeface="+mn-lt"/>
                <a:ea typeface="+mn-ea"/>
                <a:cs typeface="+mn-cs"/>
              </a:rPr>
              <a:t>O</a:t>
            </a:r>
            <a:endParaRPr kumimoji="0" lang="en-US" altLang="zh-CN" sz="3200" b="1" i="0" u="none" strike="noStrike" kern="1200" cap="none" spc="0" normalizeH="0" baseline="0" noProof="0" dirty="0" smtClean="0">
              <a:ln>
                <a:noFill/>
              </a:ln>
              <a:solidFill>
                <a:srgbClr val="002060"/>
              </a:solidFill>
              <a:effectLst>
                <a:outerShdw blurRad="38100" dist="38100" dir="2700000" algn="tl">
                  <a:srgbClr val="000000">
                    <a:alpha val="43137"/>
                  </a:srgbClr>
                </a:outerShdw>
              </a:effectLst>
              <a:uLnTx/>
              <a:uFillTx/>
              <a:latin typeface="+mn-lt"/>
              <a:ea typeface="+mn-ea"/>
              <a:cs typeface="+mn-cs"/>
            </a:endParaRPr>
          </a:p>
          <a:p>
            <a:pPr marL="514350" marR="0" lvl="0" indent="-514350" algn="l" defTabSz="914400" rtl="0" eaLnBrk="1" fontAlgn="auto" latinLnBrk="0" hangingPunct="1">
              <a:lnSpc>
                <a:spcPct val="110000"/>
              </a:lnSpc>
              <a:spcBef>
                <a:spcPct val="20000"/>
              </a:spcBef>
              <a:spcAft>
                <a:spcPts val="0"/>
              </a:spcAft>
              <a:buClrTx/>
              <a:buSzTx/>
              <a:buFont typeface="Arial" pitchFamily="34" charset="0"/>
              <a:buNone/>
              <a:tabLst/>
              <a:defRPr/>
            </a:pPr>
            <a:r>
              <a:rPr lang="en-US" altLang="zh-CN" sz="3200" dirty="0" smtClean="0">
                <a:sym typeface="Wingdings" pitchFamily="2" charset="2"/>
              </a:rPr>
              <a:t> </a:t>
            </a:r>
            <a:r>
              <a:rPr kumimoji="0" lang="en-US" altLang="zh-CN" sz="3200" b="0" i="0" u="none" strike="noStrike" kern="1200" cap="none" spc="0" normalizeH="0" baseline="0" noProof="0" dirty="0" smtClean="0">
                <a:ln>
                  <a:noFill/>
                </a:ln>
                <a:solidFill>
                  <a:schemeClr val="tx1"/>
                </a:solidFill>
                <a:effectLst/>
                <a:uLnTx/>
                <a:uFillTx/>
                <a:latin typeface="+mn-lt"/>
                <a:ea typeface="+mn-ea"/>
                <a:cs typeface="+mn-cs"/>
                <a:sym typeface="Wingdings" pitchFamily="2" charset="2"/>
              </a:rPr>
              <a:t>(2) 3CuO + 2NH</a:t>
            </a:r>
            <a:r>
              <a:rPr kumimoji="0" lang="en-US" altLang="zh-CN" sz="3200" b="0" i="0" u="none" strike="noStrike" kern="1200" cap="none" spc="0" normalizeH="0" baseline="-25000" noProof="0" dirty="0" smtClean="0">
                <a:ln>
                  <a:noFill/>
                </a:ln>
                <a:solidFill>
                  <a:schemeClr val="tx1"/>
                </a:solidFill>
                <a:effectLst/>
                <a:uLnTx/>
                <a:uFillTx/>
                <a:latin typeface="+mn-lt"/>
                <a:ea typeface="+mn-ea"/>
                <a:cs typeface="+mn-cs"/>
                <a:sym typeface="Wingdings" pitchFamily="2" charset="2"/>
              </a:rPr>
              <a:t>3</a:t>
            </a:r>
            <a:r>
              <a:rPr kumimoji="0" lang="en-US" altLang="zh-CN" sz="3200" b="0" i="0" u="none" strike="noStrike" kern="1200" cap="none" spc="0" normalizeH="0" baseline="0" noProof="0" dirty="0" smtClean="0">
                <a:ln>
                  <a:noFill/>
                </a:ln>
                <a:solidFill>
                  <a:schemeClr val="tx1"/>
                </a:solidFill>
                <a:effectLst/>
                <a:uLnTx/>
                <a:uFillTx/>
                <a:latin typeface="+mn-lt"/>
                <a:ea typeface="+mn-ea"/>
                <a:cs typeface="+mn-cs"/>
                <a:sym typeface="Wingdings" pitchFamily="2" charset="2"/>
              </a:rPr>
              <a:t>  	</a:t>
            </a:r>
            <a:r>
              <a:rPr kumimoji="0" lang="en-US" altLang="zh-CN" sz="3200" b="0" i="0" u="none" strike="noStrike" kern="1200" cap="none" spc="0" normalizeH="0" noProof="0" dirty="0" smtClean="0">
                <a:ln>
                  <a:noFill/>
                </a:ln>
                <a:solidFill>
                  <a:schemeClr val="tx1"/>
                </a:solidFill>
                <a:effectLst/>
                <a:uLnTx/>
                <a:uFillTx/>
                <a:latin typeface="+mn-lt"/>
                <a:ea typeface="+mn-ea"/>
                <a:cs typeface="+mn-cs"/>
                <a:sym typeface="Wingdings" pitchFamily="2" charset="2"/>
              </a:rPr>
              <a:t> </a:t>
            </a:r>
            <a:r>
              <a:rPr kumimoji="0" lang="en-US" altLang="zh-CN" sz="3200" b="0" i="0" u="none" strike="noStrike" kern="1200" cap="none" spc="0" normalizeH="0" baseline="0" noProof="0" dirty="0" smtClean="0">
                <a:ln>
                  <a:noFill/>
                </a:ln>
                <a:solidFill>
                  <a:schemeClr val="tx1"/>
                </a:solidFill>
                <a:effectLst/>
                <a:uLnTx/>
                <a:uFillTx/>
                <a:latin typeface="+mn-lt"/>
                <a:ea typeface="+mn-ea"/>
                <a:cs typeface="+mn-cs"/>
                <a:sym typeface="Wingdings" pitchFamily="2" charset="2"/>
              </a:rPr>
              <a:t>3Cu + N</a:t>
            </a:r>
            <a:r>
              <a:rPr kumimoji="0" lang="en-US" altLang="zh-CN" sz="3200" b="0" i="0" u="none" strike="noStrike" kern="1200" cap="none" spc="0" normalizeH="0" baseline="-25000" noProof="0" dirty="0" smtClean="0">
                <a:ln>
                  <a:noFill/>
                </a:ln>
                <a:solidFill>
                  <a:schemeClr val="tx1"/>
                </a:solidFill>
                <a:effectLst/>
                <a:uLnTx/>
                <a:uFillTx/>
                <a:latin typeface="+mn-lt"/>
                <a:ea typeface="+mn-ea"/>
                <a:cs typeface="+mn-cs"/>
                <a:sym typeface="Wingdings" pitchFamily="2" charset="2"/>
              </a:rPr>
              <a:t>2 </a:t>
            </a:r>
            <a:r>
              <a:rPr kumimoji="0" lang="en-US" altLang="zh-CN" sz="3200" b="0" i="0" u="none" strike="noStrike" kern="1200" cap="none" spc="0" normalizeH="0" noProof="0" dirty="0" smtClean="0">
                <a:ln>
                  <a:noFill/>
                </a:ln>
                <a:solidFill>
                  <a:schemeClr val="tx1"/>
                </a:solidFill>
                <a:effectLst/>
                <a:uLnTx/>
                <a:uFillTx/>
                <a:latin typeface="+mn-lt"/>
                <a:ea typeface="+mn-ea"/>
                <a:cs typeface="+mn-cs"/>
                <a:sym typeface="Wingdings" pitchFamily="2" charset="2"/>
              </a:rPr>
              <a:t> +3 H</a:t>
            </a:r>
            <a:r>
              <a:rPr kumimoji="0" lang="en-US" altLang="zh-CN" sz="3200" b="0" i="0" u="none" strike="noStrike" kern="1200" cap="none" spc="0" normalizeH="0" baseline="-25000" noProof="0" dirty="0" smtClean="0">
                <a:ln>
                  <a:noFill/>
                </a:ln>
                <a:solidFill>
                  <a:schemeClr val="tx1"/>
                </a:solidFill>
                <a:effectLst/>
                <a:uLnTx/>
                <a:uFillTx/>
                <a:latin typeface="+mn-lt"/>
                <a:ea typeface="+mn-ea"/>
                <a:cs typeface="+mn-cs"/>
                <a:sym typeface="Wingdings" pitchFamily="2" charset="2"/>
              </a:rPr>
              <a:t>2</a:t>
            </a:r>
            <a:r>
              <a:rPr kumimoji="0" lang="en-US" altLang="zh-CN" sz="3200" b="0" i="0" u="none" strike="noStrike" kern="1200" cap="none" spc="0" normalizeH="0" noProof="0" dirty="0" smtClean="0">
                <a:ln>
                  <a:noFill/>
                </a:ln>
                <a:solidFill>
                  <a:schemeClr val="tx1"/>
                </a:solidFill>
                <a:effectLst/>
                <a:uLnTx/>
                <a:uFillTx/>
                <a:latin typeface="+mn-lt"/>
                <a:ea typeface="+mn-ea"/>
                <a:cs typeface="+mn-cs"/>
                <a:sym typeface="Wingdings" pitchFamily="2" charset="2"/>
              </a:rPr>
              <a:t> O </a:t>
            </a:r>
            <a:r>
              <a:rPr kumimoji="0" lang="en-US" altLang="zh-CN" sz="3200" b="0" i="0" u="none" strike="noStrike" kern="1200" cap="none" spc="0" normalizeH="0" baseline="0" noProof="0" dirty="0" smtClean="0">
                <a:ln>
                  <a:noFill/>
                </a:ln>
                <a:solidFill>
                  <a:schemeClr val="tx1"/>
                </a:solidFill>
                <a:effectLst/>
                <a:uLnTx/>
                <a:uFillTx/>
                <a:latin typeface="+mn-lt"/>
                <a:ea typeface="+mn-ea"/>
                <a:cs typeface="+mn-cs"/>
                <a:sym typeface="Wingdings" pitchFamily="2" charset="2"/>
              </a:rPr>
              <a:t> </a:t>
            </a:r>
          </a:p>
          <a:p>
            <a:pPr marL="514350" marR="0" lvl="0" indent="-514350" algn="l" defTabSz="914400" rtl="0" eaLnBrk="1" fontAlgn="auto" latinLnBrk="0" hangingPunct="1">
              <a:lnSpc>
                <a:spcPct val="110000"/>
              </a:lnSpc>
              <a:spcBef>
                <a:spcPct val="20000"/>
              </a:spcBef>
              <a:spcAft>
                <a:spcPts val="0"/>
              </a:spcAft>
              <a:buClrTx/>
              <a:buSzTx/>
              <a:buFont typeface="Arial" pitchFamily="34" charset="0"/>
              <a:buNone/>
              <a:tabLst/>
              <a:defRPr/>
            </a:pPr>
            <a:r>
              <a:rPr lang="zh-CN" altLang="en-US" sz="3200" noProof="0" dirty="0" smtClean="0">
                <a:sym typeface="Wingdings" pitchFamily="2" charset="2"/>
              </a:rPr>
              <a:t>氨气具有还原性</a:t>
            </a:r>
            <a:endParaRPr lang="en-US" altLang="zh-CN" sz="3200" noProof="0" dirty="0" smtClean="0">
              <a:sym typeface="Wingdings" pitchFamily="2" charset="2"/>
            </a:endParaRPr>
          </a:p>
          <a:p>
            <a:pPr marL="514350" marR="0" lvl="0" indent="-514350" algn="l" defTabSz="914400" rtl="0" eaLnBrk="1" fontAlgn="auto" latinLnBrk="0" hangingPunct="1">
              <a:lnSpc>
                <a:spcPct val="110000"/>
              </a:lnSpc>
              <a:spcBef>
                <a:spcPct val="20000"/>
              </a:spcBef>
              <a:spcAft>
                <a:spcPts val="0"/>
              </a:spcAft>
              <a:buClrTx/>
              <a:buSzTx/>
              <a:buFont typeface="Arial" pitchFamily="34" charset="0"/>
              <a:buAutoNum type="arabicParenBoth" startAt="3"/>
              <a:tabLst/>
              <a:defRPr/>
            </a:pPr>
            <a:r>
              <a:rPr kumimoji="0" lang="zh-CN" altLang="en-US" sz="3200" b="0" i="0" u="none" strike="noStrike" kern="1200" cap="none" spc="0" normalizeH="0" baseline="0" noProof="0" dirty="0" smtClean="0">
                <a:ln>
                  <a:noFill/>
                </a:ln>
                <a:solidFill>
                  <a:schemeClr val="tx1"/>
                </a:solidFill>
                <a:effectLst/>
                <a:uLnTx/>
                <a:uFillTx/>
                <a:latin typeface="+mn-lt"/>
                <a:ea typeface="+mn-ea"/>
                <a:cs typeface="+mn-cs"/>
              </a:rPr>
              <a:t>吸</a:t>
            </a:r>
            <a:r>
              <a:rPr kumimoji="0" lang="zh-CN" altLang="en-US" sz="3200" b="0" i="0" u="none" strike="noStrike" kern="1200" cap="none" spc="0" normalizeH="0" baseline="0" noProof="0" dirty="0" smtClean="0">
                <a:ln>
                  <a:noFill/>
                </a:ln>
                <a:solidFill>
                  <a:schemeClr val="tx1"/>
                </a:solidFill>
                <a:effectLst/>
                <a:uLnTx/>
                <a:uFillTx/>
                <a:latin typeface="+mn-lt"/>
                <a:ea typeface="+mn-ea"/>
                <a:cs typeface="+mn-cs"/>
              </a:rPr>
              <a:t>收</a:t>
            </a:r>
            <a:r>
              <a:rPr lang="zh-CN" altLang="en-US" sz="3200" dirty="0" smtClean="0"/>
              <a:t>未反应完的</a:t>
            </a:r>
            <a:r>
              <a:rPr kumimoji="0" lang="zh-CN" altLang="en-US" sz="3200" b="0" i="0" u="none" strike="noStrike" kern="1200" cap="none" spc="0" normalizeH="0" baseline="0" noProof="0" smtClean="0">
                <a:ln>
                  <a:noFill/>
                </a:ln>
                <a:solidFill>
                  <a:schemeClr val="tx1"/>
                </a:solidFill>
                <a:effectLst/>
                <a:uLnTx/>
                <a:uFillTx/>
                <a:latin typeface="+mn-lt"/>
                <a:ea typeface="+mn-ea"/>
                <a:cs typeface="+mn-cs"/>
              </a:rPr>
              <a:t>氨</a:t>
            </a:r>
            <a:r>
              <a:rPr kumimoji="0" lang="zh-CN" altLang="en-US" sz="3200" b="0" i="0" u="none" strike="noStrike" kern="1200" cap="none" spc="0" normalizeH="0" baseline="0" noProof="0" dirty="0" smtClean="0">
                <a:ln>
                  <a:noFill/>
                </a:ln>
                <a:solidFill>
                  <a:schemeClr val="tx1"/>
                </a:solidFill>
                <a:effectLst/>
                <a:uLnTx/>
                <a:uFillTx/>
                <a:latin typeface="+mn-lt"/>
                <a:ea typeface="+mn-ea"/>
                <a:cs typeface="+mn-cs"/>
              </a:rPr>
              <a:t>气，防止空气</a:t>
            </a:r>
            <a:r>
              <a:rPr kumimoji="0" lang="zh-CN" altLang="en-US" sz="3200" b="0" i="0" u="none" strike="noStrike" kern="1200" cap="none" spc="0" normalizeH="0" baseline="0" noProof="0" smtClean="0">
                <a:ln>
                  <a:noFill/>
                </a:ln>
                <a:solidFill>
                  <a:schemeClr val="tx1"/>
                </a:solidFill>
                <a:effectLst/>
                <a:uLnTx/>
                <a:uFillTx/>
                <a:latin typeface="+mn-lt"/>
                <a:ea typeface="+mn-ea"/>
                <a:cs typeface="+mn-cs"/>
              </a:rPr>
              <a:t>污</a:t>
            </a:r>
            <a:r>
              <a:rPr kumimoji="0" lang="zh-CN" altLang="en-US" sz="3200" b="0" i="0" u="none" strike="noStrike" kern="1200" cap="none" spc="0" normalizeH="0" baseline="0" noProof="0" smtClean="0">
                <a:ln>
                  <a:noFill/>
                </a:ln>
                <a:solidFill>
                  <a:schemeClr val="tx1"/>
                </a:solidFill>
                <a:effectLst/>
                <a:uLnTx/>
                <a:uFillTx/>
                <a:latin typeface="+mn-lt"/>
                <a:ea typeface="+mn-ea"/>
                <a:cs typeface="+mn-cs"/>
              </a:rPr>
              <a:t>染。</a:t>
            </a:r>
            <a:endParaRPr kumimoji="0" lang="en-US" altLang="zh-CN" sz="3200" b="0"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10000"/>
              </a:lnSpc>
              <a:spcBef>
                <a:spcPct val="20000"/>
              </a:spcBef>
              <a:spcAft>
                <a:spcPts val="0"/>
              </a:spcAft>
              <a:buClrTx/>
              <a:buSzTx/>
              <a:tabLst/>
              <a:defRPr/>
            </a:pPr>
            <a:r>
              <a:rPr lang="en-US" sz="3200" noProof="0" dirty="0" smtClean="0"/>
              <a:t>(4) C </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10000"/>
              </a:lnSpc>
              <a:spcBef>
                <a:spcPct val="20000"/>
              </a:spcBef>
              <a:spcAft>
                <a:spcPts val="0"/>
              </a:spcAft>
              <a:buClrTx/>
              <a:buSzTx/>
              <a:buFont typeface="Arial" pitchFamily="34" charset="0"/>
              <a:buNone/>
              <a:tabLst/>
              <a:defRPr/>
            </a:pPr>
            <a:r>
              <a:rPr kumimoji="0" lang="en-US" altLang="zh-CN" sz="3200" b="0" i="0" u="none" strike="noStrike" kern="1200" cap="none" spc="0" normalizeH="0" baseline="0" noProof="0" dirty="0" smtClean="0">
                <a:ln>
                  <a:noFill/>
                </a:ln>
                <a:solidFill>
                  <a:schemeClr val="tx1"/>
                </a:solidFill>
                <a:effectLst/>
                <a:uLnTx/>
                <a:uFillTx/>
                <a:latin typeface="+mn-lt"/>
                <a:ea typeface="+mn-ea"/>
                <a:cs typeface="+mn-cs"/>
              </a:rPr>
              <a:t>(5)A</a:t>
            </a:r>
            <a:r>
              <a:rPr kumimoji="0" lang="zh-CN" altLang="en-US" sz="3200" b="0" i="0" u="none" strike="noStrike" kern="1200" cap="none" spc="0" normalizeH="0" baseline="0" noProof="0" dirty="0" smtClean="0">
                <a:ln>
                  <a:noFill/>
                </a:ln>
                <a:solidFill>
                  <a:schemeClr val="tx1"/>
                </a:solidFill>
                <a:effectLst/>
                <a:uLnTx/>
                <a:uFillTx/>
                <a:latin typeface="+mn-lt"/>
                <a:ea typeface="+mn-ea"/>
                <a:cs typeface="+mn-cs"/>
              </a:rPr>
              <a:t>：将</a:t>
            </a:r>
            <a:r>
              <a:rPr kumimoji="0" lang="en-US" altLang="zh-CN" sz="3200" b="0" i="0" u="none" strike="noStrike" kern="1200" cap="none" spc="0" normalizeH="0" baseline="0" noProof="0" dirty="0" smtClean="0">
                <a:ln>
                  <a:noFill/>
                </a:ln>
                <a:solidFill>
                  <a:schemeClr val="tx1"/>
                </a:solidFill>
                <a:effectLst/>
                <a:uLnTx/>
                <a:uFillTx/>
                <a:latin typeface="+mn-lt"/>
                <a:ea typeface="+mn-ea"/>
                <a:cs typeface="+mn-cs"/>
              </a:rPr>
              <a:t>NH</a:t>
            </a:r>
            <a:r>
              <a:rPr kumimoji="0" lang="en-US" altLang="zh-CN" sz="3200" b="0" i="0" u="none" strike="noStrike" kern="1200" cap="none" spc="0" normalizeH="0" baseline="-25000" noProof="0" dirty="0" smtClean="0">
                <a:ln>
                  <a:noFill/>
                </a:ln>
                <a:solidFill>
                  <a:schemeClr val="tx1"/>
                </a:solidFill>
                <a:effectLst/>
                <a:uLnTx/>
                <a:uFillTx/>
                <a:latin typeface="+mn-lt"/>
                <a:ea typeface="+mn-ea"/>
                <a:cs typeface="+mn-cs"/>
              </a:rPr>
              <a:t>3</a:t>
            </a:r>
            <a:r>
              <a:rPr kumimoji="0" lang="zh-CN" altLang="en-US" sz="3200" b="0" i="0" u="none" strike="noStrike" kern="1200" cap="none" spc="0" normalizeH="0" baseline="0" noProof="0" dirty="0" smtClean="0">
                <a:ln>
                  <a:noFill/>
                </a:ln>
                <a:solidFill>
                  <a:schemeClr val="tx1"/>
                </a:solidFill>
                <a:effectLst/>
                <a:uLnTx/>
                <a:uFillTx/>
                <a:latin typeface="+mn-lt"/>
                <a:ea typeface="+mn-ea"/>
                <a:cs typeface="+mn-cs"/>
              </a:rPr>
              <a:t>干燥，</a:t>
            </a:r>
            <a:r>
              <a:rPr kumimoji="0" lang="zh-CN" altLang="en-US" sz="3200" b="0" i="0" u="none" strike="noStrike" kern="1200" cap="none" spc="0" normalizeH="0" baseline="0" noProof="0" dirty="0" smtClean="0">
                <a:ln>
                  <a:noFill/>
                </a:ln>
                <a:solidFill>
                  <a:schemeClr val="tx1"/>
                </a:solidFill>
                <a:effectLst/>
                <a:uLnTx/>
                <a:uFillTx/>
                <a:latin typeface="+mn-lt"/>
                <a:ea typeface="+mn-ea"/>
                <a:cs typeface="+mn-cs"/>
              </a:rPr>
              <a:t>避免影响后续的实验</a:t>
            </a:r>
            <a:endParaRPr kumimoji="0" lang="en-US" altLang="zh-CN" sz="3200" b="0"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10000"/>
              </a:lnSpc>
              <a:spcBef>
                <a:spcPct val="20000"/>
              </a:spcBef>
              <a:spcAft>
                <a:spcPts val="0"/>
              </a:spcAft>
              <a:buClrTx/>
              <a:buSzTx/>
              <a:buFont typeface="Arial" pitchFamily="34" charset="0"/>
              <a:buNone/>
              <a:tabLst/>
              <a:defRPr/>
            </a:pPr>
            <a:r>
              <a:rPr lang="en-US" altLang="zh-CN" sz="3200" dirty="0" smtClean="0"/>
              <a:t>	B</a:t>
            </a:r>
            <a:r>
              <a:rPr lang="zh-CN" altLang="en-US" sz="3200" dirty="0" smtClean="0"/>
              <a:t>： 验证反</a:t>
            </a:r>
            <a:r>
              <a:rPr lang="zh-CN" altLang="en-US" sz="3200" dirty="0" smtClean="0"/>
              <a:t>应后生</a:t>
            </a:r>
            <a:r>
              <a:rPr lang="zh-CN" altLang="en-US" sz="3200" dirty="0" smtClean="0"/>
              <a:t>成了水</a:t>
            </a:r>
            <a:endParaRPr kumimoji="0" lang="en-US" altLang="zh-CN" sz="3200" b="0"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10000"/>
              </a:lnSpc>
              <a:spcBef>
                <a:spcPct val="20000"/>
              </a:spcBef>
              <a:spcAft>
                <a:spcPts val="0"/>
              </a:spcAft>
              <a:buClrTx/>
              <a:buSzTx/>
              <a:buFont typeface="Arial" pitchFamily="34" charset="0"/>
              <a:buNone/>
              <a:tabLst/>
              <a:defRPr/>
            </a:pP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grpSp>
        <p:nvGrpSpPr>
          <p:cNvPr id="6" name="Group 5"/>
          <p:cNvGrpSpPr/>
          <p:nvPr/>
        </p:nvGrpSpPr>
        <p:grpSpPr>
          <a:xfrm>
            <a:off x="4343400" y="1143000"/>
            <a:ext cx="838200" cy="153988"/>
            <a:chOff x="3429000" y="3198812"/>
            <a:chExt cx="838200" cy="153988"/>
          </a:xfrm>
        </p:grpSpPr>
        <p:cxnSp>
          <p:nvCxnSpPr>
            <p:cNvPr id="7" name="Straight Arrow Connector 6"/>
            <p:cNvCxnSpPr/>
            <p:nvPr/>
          </p:nvCxnSpPr>
          <p:spPr bwMode="auto">
            <a:xfrm>
              <a:off x="3429000" y="3351212"/>
              <a:ext cx="8382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8" name="Isosceles Triangle 7"/>
            <p:cNvSpPr/>
            <p:nvPr/>
          </p:nvSpPr>
          <p:spPr bwMode="auto">
            <a:xfrm>
              <a:off x="3733800" y="3198812"/>
              <a:ext cx="228600" cy="152400"/>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grpSp>
      <p:grpSp>
        <p:nvGrpSpPr>
          <p:cNvPr id="10" name="Group 9"/>
          <p:cNvGrpSpPr/>
          <p:nvPr/>
        </p:nvGrpSpPr>
        <p:grpSpPr>
          <a:xfrm>
            <a:off x="3276600" y="1752600"/>
            <a:ext cx="838200" cy="153988"/>
            <a:chOff x="3429000" y="3198812"/>
            <a:chExt cx="838200" cy="153988"/>
          </a:xfrm>
        </p:grpSpPr>
        <p:cxnSp>
          <p:nvCxnSpPr>
            <p:cNvPr id="11" name="Straight Arrow Connector 10"/>
            <p:cNvCxnSpPr/>
            <p:nvPr/>
          </p:nvCxnSpPr>
          <p:spPr bwMode="auto">
            <a:xfrm>
              <a:off x="3429000" y="3351212"/>
              <a:ext cx="8382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12" name="Isosceles Triangle 11"/>
            <p:cNvSpPr/>
            <p:nvPr/>
          </p:nvSpPr>
          <p:spPr bwMode="auto">
            <a:xfrm>
              <a:off x="3733800" y="3198812"/>
              <a:ext cx="228600" cy="152400"/>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grpSp>
      <p:sp>
        <p:nvSpPr>
          <p:cNvPr id="13" name="Rounded Rectangle 12"/>
          <p:cNvSpPr/>
          <p:nvPr/>
        </p:nvSpPr>
        <p:spPr>
          <a:xfrm>
            <a:off x="5181600" y="990600"/>
            <a:ext cx="35814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
        <p:nvSpPr>
          <p:cNvPr id="14" name="Rounded Rectangle 13"/>
          <p:cNvSpPr/>
          <p:nvPr/>
        </p:nvSpPr>
        <p:spPr>
          <a:xfrm>
            <a:off x="4114800" y="1676400"/>
            <a:ext cx="3581400" cy="457200"/>
          </a:xfrm>
          <a:prstGeom prst="roundRect">
            <a:avLst/>
          </a:prstGeom>
        </p:spPr>
        <p:style>
          <a:lnRef idx="1">
            <a:schemeClr val="accent3"/>
          </a:lnRef>
          <a:fillRef idx="1002">
            <a:schemeClr val="lt2"/>
          </a:fillRef>
          <a:effectRef idx="1">
            <a:schemeClr val="accent3"/>
          </a:effectRef>
          <a:fontRef idx="minor">
            <a:schemeClr val="dk1"/>
          </a:fontRef>
        </p:style>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xit" presetSubtype="10" fill="hold" grpId="0" nodeType="clickEffect">
                                  <p:stCondLst>
                                    <p:cond delay="0"/>
                                  </p:stCondLst>
                                  <p:childTnLst>
                                    <p:animEffect transition="out" filter="blinds(horizontal)">
                                      <p:cBhvr>
                                        <p:cTn id="14" dur="500"/>
                                        <p:tgtEl>
                                          <p:spTgt spid="13"/>
                                        </p:tgtEl>
                                      </p:cBhvr>
                                    </p:animEffect>
                                    <p:set>
                                      <p:cBhvr>
                                        <p:cTn id="15" dur="1" fill="hold">
                                          <p:stCondLst>
                                            <p:cond delay="499"/>
                                          </p:stCondLst>
                                        </p:cTn>
                                        <p:tgtEl>
                                          <p:spTgt spid="13"/>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5">
                                            <p:txEl>
                                              <p:pRg st="1" end="1"/>
                                            </p:txEl>
                                          </p:spTgt>
                                        </p:tgtEl>
                                        <p:attrNameLst>
                                          <p:attrName>style.visibility</p:attrName>
                                        </p:attrNameLst>
                                      </p:cBhvr>
                                      <p:to>
                                        <p:strVal val="visible"/>
                                      </p:to>
                                    </p:set>
                                    <p:animEffect transition="in" filter="blinds(horizontal)">
                                      <p:cBhvr>
                                        <p:cTn id="20" dur="500"/>
                                        <p:tgtEl>
                                          <p:spTgt spid="5">
                                            <p:txEl>
                                              <p:pRg st="1" end="1"/>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blinds(horizontal)">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xit" presetSubtype="10" fill="hold" grpId="0" nodeType="clickEffect">
                                  <p:stCondLst>
                                    <p:cond delay="0"/>
                                  </p:stCondLst>
                                  <p:childTnLst>
                                    <p:animEffect transition="out" filter="blinds(horizontal)">
                                      <p:cBhvr>
                                        <p:cTn id="27" dur="500"/>
                                        <p:tgtEl>
                                          <p:spTgt spid="14"/>
                                        </p:tgtEl>
                                      </p:cBhvr>
                                    </p:animEffect>
                                    <p:set>
                                      <p:cBhvr>
                                        <p:cTn id="28" dur="1" fill="hold">
                                          <p:stCondLst>
                                            <p:cond delay="499"/>
                                          </p:stCondLst>
                                        </p:cTn>
                                        <p:tgtEl>
                                          <p:spTgt spid="14"/>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5">
                                            <p:txEl>
                                              <p:pRg st="2" end="2"/>
                                            </p:txEl>
                                          </p:spTgt>
                                        </p:tgtEl>
                                        <p:attrNameLst>
                                          <p:attrName>style.visibility</p:attrName>
                                        </p:attrNameLst>
                                      </p:cBhvr>
                                      <p:to>
                                        <p:strVal val="visible"/>
                                      </p:to>
                                    </p:set>
                                    <p:animEffect transition="in" filter="blinds(horizontal)">
                                      <p:cBhvr>
                                        <p:cTn id="33" dur="500"/>
                                        <p:tgtEl>
                                          <p:spTgt spid="5">
                                            <p:txEl>
                                              <p:pRg st="2" end="2"/>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5">
                                            <p:txEl>
                                              <p:pRg st="3" end="3"/>
                                            </p:txEl>
                                          </p:spTgt>
                                        </p:tgtEl>
                                        <p:attrNameLst>
                                          <p:attrName>style.visibility</p:attrName>
                                        </p:attrNameLst>
                                      </p:cBhvr>
                                      <p:to>
                                        <p:strVal val="visible"/>
                                      </p:to>
                                    </p:set>
                                    <p:animEffect transition="in" filter="blinds(horizontal)">
                                      <p:cBhvr>
                                        <p:cTn id="38" dur="500"/>
                                        <p:tgtEl>
                                          <p:spTgt spid="5">
                                            <p:txEl>
                                              <p:pRg st="3" end="3"/>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5">
                                            <p:txEl>
                                              <p:pRg st="4" end="4"/>
                                            </p:txEl>
                                          </p:spTgt>
                                        </p:tgtEl>
                                        <p:attrNameLst>
                                          <p:attrName>style.visibility</p:attrName>
                                        </p:attrNameLst>
                                      </p:cBhvr>
                                      <p:to>
                                        <p:strVal val="visible"/>
                                      </p:to>
                                    </p:set>
                                    <p:animEffect transition="in" filter="blinds(horizontal)">
                                      <p:cBhvr>
                                        <p:cTn id="43" dur="500"/>
                                        <p:tgtEl>
                                          <p:spTgt spid="5">
                                            <p:txEl>
                                              <p:pRg st="4" end="4"/>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5">
                                            <p:txEl>
                                              <p:pRg st="5" end="5"/>
                                            </p:txEl>
                                          </p:spTgt>
                                        </p:tgtEl>
                                        <p:attrNameLst>
                                          <p:attrName>style.visibility</p:attrName>
                                        </p:attrNameLst>
                                      </p:cBhvr>
                                      <p:to>
                                        <p:strVal val="visible"/>
                                      </p:to>
                                    </p:set>
                                    <p:animEffect transition="in" filter="blinds(horizontal)">
                                      <p:cBhvr>
                                        <p:cTn id="48" dur="500"/>
                                        <p:tgtEl>
                                          <p:spTgt spid="5">
                                            <p:txEl>
                                              <p:pRg st="5" end="5"/>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5">
                                            <p:txEl>
                                              <p:pRg st="6" end="6"/>
                                            </p:txEl>
                                          </p:spTgt>
                                        </p:tgtEl>
                                        <p:attrNameLst>
                                          <p:attrName>style.visibility</p:attrName>
                                        </p:attrNameLst>
                                      </p:cBhvr>
                                      <p:to>
                                        <p:strVal val="visible"/>
                                      </p:to>
                                    </p:set>
                                    <p:animEffect transition="in" filter="blinds(horizontal)">
                                      <p:cBhvr>
                                        <p:cTn id="53"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13" grpId="0" animBg="1"/>
      <p:bldP spid="14"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1043</TotalTime>
  <Words>2507</Words>
  <Application>Microsoft Office PowerPoint</Application>
  <PresentationFormat>On-screen Show (4:3)</PresentationFormat>
  <Paragraphs>610</Paragraphs>
  <Slides>61</Slides>
  <Notes>0</Notes>
  <HiddenSlides>1</HiddenSlides>
  <MMClips>0</MMClips>
  <ScaleCrop>false</ScaleCrop>
  <HeadingPairs>
    <vt:vector size="4" baseType="variant">
      <vt:variant>
        <vt:lpstr>Theme</vt:lpstr>
      </vt:variant>
      <vt:variant>
        <vt:i4>1</vt:i4>
      </vt:variant>
      <vt:variant>
        <vt:lpstr>Slide Titles</vt:lpstr>
      </vt:variant>
      <vt:variant>
        <vt:i4>61</vt:i4>
      </vt:variant>
    </vt:vector>
  </HeadingPairs>
  <TitlesOfParts>
    <vt:vector size="62" baseType="lpstr">
      <vt:lpstr>Office Theme</vt:lpstr>
      <vt:lpstr>第13章 VA族元素： 氮和磷</vt:lpstr>
      <vt:lpstr>氮族元素</vt:lpstr>
      <vt:lpstr>13.1 氮气</vt:lpstr>
      <vt:lpstr>13.1.1 氮气的性质</vt:lpstr>
      <vt:lpstr>13.1.1 氮气的性质</vt:lpstr>
      <vt:lpstr>问题解决</vt:lpstr>
      <vt:lpstr>13.1.2 氮气的制取</vt:lpstr>
      <vt:lpstr>13.1.2 氮气的制取</vt:lpstr>
      <vt:lpstr>13.1.3 氮气的用途</vt:lpstr>
      <vt:lpstr>思考题13a</vt:lpstr>
      <vt:lpstr>13.2 氮的氧化物</vt:lpstr>
      <vt:lpstr>一氧化氮</vt:lpstr>
      <vt:lpstr>二氧化氮</vt:lpstr>
      <vt:lpstr>13.4.1 硝酸盐的通性</vt:lpstr>
      <vt:lpstr>二氧化氮</vt:lpstr>
      <vt:lpstr>一氧化二氮</vt:lpstr>
      <vt:lpstr>13.2 氮氧化合物</vt:lpstr>
      <vt:lpstr>思考题13b</vt:lpstr>
      <vt:lpstr>13.3 硝酸</vt:lpstr>
      <vt:lpstr>13.3.1 硝酸的性质</vt:lpstr>
      <vt:lpstr>13.3.1 硝酸的性质</vt:lpstr>
      <vt:lpstr>13.3.1 硝酸的性质</vt:lpstr>
      <vt:lpstr>13.3.1 硝酸的性质</vt:lpstr>
      <vt:lpstr>13.3.2 硝酸的制法</vt:lpstr>
      <vt:lpstr>13.3.2 硝酸的制法</vt:lpstr>
      <vt:lpstr>思考题13c</vt:lpstr>
      <vt:lpstr>13.4 硝酸盐</vt:lpstr>
      <vt:lpstr>13.4.1 硝酸盐的通性</vt:lpstr>
      <vt:lpstr>13.4.1 硝酸盐的通性</vt:lpstr>
      <vt:lpstr>思考</vt:lpstr>
      <vt:lpstr>13.4.2 几种重要的硝酸盐</vt:lpstr>
      <vt:lpstr>13.4.3 硝酸根的检验</vt:lpstr>
      <vt:lpstr>13.3.3 氮的循环</vt:lpstr>
      <vt:lpstr>思考题13d</vt:lpstr>
      <vt:lpstr>13.5 氨</vt:lpstr>
      <vt:lpstr>13.5.1 氨的性质</vt:lpstr>
      <vt:lpstr>13.5.1 氨的性质</vt:lpstr>
      <vt:lpstr>13.5.1 氨的性质</vt:lpstr>
      <vt:lpstr>13.5.1 氨的性质</vt:lpstr>
      <vt:lpstr>13.5.2 氨的制取</vt:lpstr>
      <vt:lpstr>13.5.2 氨的制取</vt:lpstr>
      <vt:lpstr>思考题13e</vt:lpstr>
      <vt:lpstr>13.6 铵盐</vt:lpstr>
      <vt:lpstr>13.6 铵盐</vt:lpstr>
      <vt:lpstr>13.6 铵盐</vt:lpstr>
      <vt:lpstr>思考题13f</vt:lpstr>
      <vt:lpstr>13.7 磷及其重要化合物</vt:lpstr>
      <vt:lpstr>表13-8</vt:lpstr>
      <vt:lpstr>13.7.1 磷</vt:lpstr>
      <vt:lpstr>13.7 磷</vt:lpstr>
      <vt:lpstr>13.7.2 磷酸</vt:lpstr>
      <vt:lpstr>13.7.2 磷酸</vt:lpstr>
      <vt:lpstr>13.7.3 磷酸盐</vt:lpstr>
      <vt:lpstr>思考题13g</vt:lpstr>
      <vt:lpstr>选择题</vt:lpstr>
      <vt:lpstr>选择题</vt:lpstr>
      <vt:lpstr>作答题</vt:lpstr>
      <vt:lpstr>作答题</vt:lpstr>
      <vt:lpstr>作答题</vt:lpstr>
      <vt:lpstr>作答题</vt:lpstr>
      <vt:lpstr>作答题</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第13章 VA族元素： 氮和磷</dc:title>
  <dc:creator>user</dc:creator>
  <cp:lastModifiedBy>user</cp:lastModifiedBy>
  <cp:revision>114</cp:revision>
  <dcterms:created xsi:type="dcterms:W3CDTF">2018-11-27T05:06:42Z</dcterms:created>
  <dcterms:modified xsi:type="dcterms:W3CDTF">2019-01-14T07:50:17Z</dcterms:modified>
</cp:coreProperties>
</file>