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60" r:id="rId2"/>
    <p:sldId id="261" r:id="rId3"/>
    <p:sldId id="262" r:id="rId4"/>
    <p:sldId id="269" r:id="rId5"/>
    <p:sldId id="270" r:id="rId6"/>
    <p:sldId id="300" r:id="rId7"/>
    <p:sldId id="297" r:id="rId8"/>
    <p:sldId id="257" r:id="rId9"/>
    <p:sldId id="258" r:id="rId10"/>
    <p:sldId id="298" r:id="rId11"/>
    <p:sldId id="267" r:id="rId12"/>
    <p:sldId id="301" r:id="rId13"/>
    <p:sldId id="302" r:id="rId14"/>
    <p:sldId id="263" r:id="rId15"/>
    <p:sldId id="305" r:id="rId16"/>
    <p:sldId id="304" r:id="rId17"/>
    <p:sldId id="303" r:id="rId18"/>
    <p:sldId id="271" r:id="rId19"/>
    <p:sldId id="308" r:id="rId20"/>
    <p:sldId id="306" r:id="rId21"/>
    <p:sldId id="307" r:id="rId22"/>
    <p:sldId id="265" r:id="rId23"/>
    <p:sldId id="299" r:id="rId24"/>
    <p:sldId id="272" r:id="rId25"/>
    <p:sldId id="309" r:id="rId26"/>
    <p:sldId id="277" r:id="rId27"/>
    <p:sldId id="276" r:id="rId28"/>
    <p:sldId id="274" r:id="rId29"/>
    <p:sldId id="275" r:id="rId30"/>
    <p:sldId id="310" r:id="rId31"/>
    <p:sldId id="296" r:id="rId32"/>
    <p:sldId id="311" r:id="rId33"/>
    <p:sldId id="312" r:id="rId34"/>
    <p:sldId id="313" r:id="rId35"/>
    <p:sldId id="335" r:id="rId36"/>
    <p:sldId id="278" r:id="rId37"/>
    <p:sldId id="266" r:id="rId38"/>
    <p:sldId id="279" r:id="rId39"/>
    <p:sldId id="280" r:id="rId40"/>
    <p:sldId id="318" r:id="rId41"/>
    <p:sldId id="282" r:id="rId42"/>
    <p:sldId id="319" r:id="rId43"/>
    <p:sldId id="281" r:id="rId44"/>
    <p:sldId id="320" r:id="rId45"/>
    <p:sldId id="283" r:id="rId46"/>
    <p:sldId id="321" r:id="rId47"/>
    <p:sldId id="284" r:id="rId48"/>
    <p:sldId id="322" r:id="rId49"/>
    <p:sldId id="323" r:id="rId50"/>
    <p:sldId id="324" r:id="rId51"/>
    <p:sldId id="325" r:id="rId52"/>
    <p:sldId id="326" r:id="rId53"/>
    <p:sldId id="314" r:id="rId54"/>
    <p:sldId id="315" r:id="rId55"/>
    <p:sldId id="293" r:id="rId56"/>
    <p:sldId id="294" r:id="rId57"/>
    <p:sldId id="286" r:id="rId58"/>
    <p:sldId id="287" r:id="rId59"/>
    <p:sldId id="316" r:id="rId60"/>
    <p:sldId id="317" r:id="rId61"/>
    <p:sldId id="327" r:id="rId62"/>
    <p:sldId id="330" r:id="rId63"/>
    <p:sldId id="289" r:id="rId64"/>
    <p:sldId id="329" r:id="rId65"/>
    <p:sldId id="331" r:id="rId66"/>
    <p:sldId id="332" r:id="rId67"/>
    <p:sldId id="333" r:id="rId68"/>
    <p:sldId id="334" r:id="rId69"/>
    <p:sldId id="328" r:id="rId70"/>
    <p:sldId id="295" r:id="rId7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660066"/>
    <a:srgbClr val="9966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750" autoAdjust="0"/>
    <p:restoredTop sz="94660"/>
  </p:normalViewPr>
  <p:slideViewPr>
    <p:cSldViewPr>
      <p:cViewPr varScale="1">
        <p:scale>
          <a:sx n="72" d="100"/>
          <a:sy n="72" d="100"/>
        </p:scale>
        <p:origin x="-109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CAAE-79B7-47EE-860A-E079B6F79745}" type="datetimeFigureOut">
              <a:rPr lang="en-MY" smtClean="0"/>
              <a:pPr/>
              <a:t>22/11/2018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7711E-E9D8-48AE-97C6-8B909F0FA940}" type="slidenum">
              <a:rPr lang="en-MY" smtClean="0"/>
              <a:pPr/>
              <a:t>‹#›</a:t>
            </a:fld>
            <a:endParaRPr lang="en-MY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CAAE-79B7-47EE-860A-E079B6F79745}" type="datetimeFigureOut">
              <a:rPr lang="en-MY" smtClean="0"/>
              <a:pPr/>
              <a:t>22/11/2018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7711E-E9D8-48AE-97C6-8B909F0FA94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CAAE-79B7-47EE-860A-E079B6F79745}" type="datetimeFigureOut">
              <a:rPr lang="en-MY" smtClean="0"/>
              <a:pPr/>
              <a:t>22/11/2018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7711E-E9D8-48AE-97C6-8B909F0FA94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CAAE-79B7-47EE-860A-E079B6F79745}" type="datetimeFigureOut">
              <a:rPr lang="en-MY" smtClean="0"/>
              <a:pPr/>
              <a:t>22/11/2018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7711E-E9D8-48AE-97C6-8B909F0FA94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CAAE-79B7-47EE-860A-E079B6F79745}" type="datetimeFigureOut">
              <a:rPr lang="en-MY" smtClean="0"/>
              <a:pPr/>
              <a:t>22/11/2018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7711E-E9D8-48AE-97C6-8B909F0FA94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CAAE-79B7-47EE-860A-E079B6F79745}" type="datetimeFigureOut">
              <a:rPr lang="en-MY" smtClean="0"/>
              <a:pPr/>
              <a:t>22/11/2018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7711E-E9D8-48AE-97C6-8B909F0FA94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CAAE-79B7-47EE-860A-E079B6F79745}" type="datetimeFigureOut">
              <a:rPr lang="en-MY" smtClean="0"/>
              <a:pPr/>
              <a:t>22/11/2018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7711E-E9D8-48AE-97C6-8B909F0FA94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CAAE-79B7-47EE-860A-E079B6F79745}" type="datetimeFigureOut">
              <a:rPr lang="en-MY" smtClean="0"/>
              <a:pPr/>
              <a:t>22/11/2018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7711E-E9D8-48AE-97C6-8B909F0FA940}" type="slidenum">
              <a:rPr lang="en-MY" smtClean="0"/>
              <a:pPr/>
              <a:t>‹#›</a:t>
            </a:fld>
            <a:endParaRPr lang="en-MY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1EB2CAAE-79B7-47EE-860A-E079B6F79745}" type="datetimeFigureOut">
              <a:rPr lang="en-MY" smtClean="0"/>
              <a:pPr/>
              <a:t>22/11/2018</a:t>
            </a:fld>
            <a:endParaRPr lang="en-MY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11C7711E-E9D8-48AE-97C6-8B909F0FA94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CAAE-79B7-47EE-860A-E079B6F79745}" type="datetimeFigureOut">
              <a:rPr lang="en-MY" smtClean="0"/>
              <a:pPr/>
              <a:t>22/11/2018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7711E-E9D8-48AE-97C6-8B909F0FA94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2CAAE-79B7-47EE-860A-E079B6F79745}" type="datetimeFigureOut">
              <a:rPr lang="en-MY" smtClean="0"/>
              <a:pPr/>
              <a:t>22/11/2018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7711E-E9D8-48AE-97C6-8B909F0FA94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1EB2CAAE-79B7-47EE-860A-E079B6F79745}" type="datetimeFigureOut">
              <a:rPr lang="en-MY" smtClean="0"/>
              <a:pPr/>
              <a:t>22/11/2018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11C7711E-E9D8-48AE-97C6-8B909F0FA940}" type="slidenum">
              <a:rPr lang="en-MY" smtClean="0"/>
              <a:pPr/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Arial Narrow" pitchFamily="34" charset="0"/>
              </a:rPr>
              <a:t>8.2</a:t>
            </a:r>
            <a:r>
              <a:rPr lang="zh-CN" altLang="en-US" dirty="0" smtClean="0">
                <a:latin typeface="Arial Narrow" pitchFamily="34" charset="0"/>
              </a:rPr>
              <a:t>氧化数</a:t>
            </a:r>
            <a:endParaRPr lang="en-MY" dirty="0">
              <a:latin typeface="Arial Narrow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498080" cy="4419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 smtClean="0"/>
              <a:t>	</a:t>
            </a:r>
            <a:r>
              <a:rPr lang="en-US" altLang="zh-CN" sz="2800" dirty="0" err="1" smtClean="0"/>
              <a:t>NaCl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	H    </a:t>
            </a:r>
            <a:r>
              <a:rPr lang="en-US" altLang="zh-CN" sz="2800" dirty="0" err="1" smtClean="0"/>
              <a:t>Cl</a:t>
            </a:r>
            <a:endParaRPr lang="en-US" altLang="zh-CN" sz="2800" dirty="0" smtClean="0"/>
          </a:p>
          <a:p>
            <a:pPr>
              <a:buNone/>
            </a:pP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	O </a:t>
            </a:r>
            <a:r>
              <a:rPr lang="en-US" altLang="zh-CN" sz="2800" b="1" dirty="0" smtClean="0"/>
              <a:t>=</a:t>
            </a:r>
            <a:r>
              <a:rPr lang="en-US" altLang="zh-CN" sz="2800" dirty="0" smtClean="0"/>
              <a:t> C </a:t>
            </a:r>
            <a:r>
              <a:rPr lang="en-US" altLang="zh-CN" sz="2800" b="1" dirty="0" smtClean="0"/>
              <a:t>=</a:t>
            </a:r>
            <a:r>
              <a:rPr lang="en-US" altLang="zh-CN" sz="2800" dirty="0" smtClean="0"/>
              <a:t> O</a:t>
            </a:r>
          </a:p>
          <a:p>
            <a:pPr>
              <a:buNone/>
            </a:pPr>
            <a:endParaRPr lang="en-US" altLang="zh-CN" sz="2800" dirty="0" smtClean="0"/>
          </a:p>
          <a:p>
            <a:r>
              <a:rPr lang="zh-CN" altLang="en-US" sz="2800" dirty="0" smtClean="0"/>
              <a:t>为了解释化学反应，人们“想象”出各原子的电荷数。这种电荷数，叫做</a:t>
            </a:r>
            <a:r>
              <a:rPr lang="zh-CN" altLang="en-US" sz="3000" dirty="0" smtClean="0">
                <a:solidFill>
                  <a:srgbClr val="00B0F0"/>
                </a:solidFill>
              </a:rPr>
              <a:t>氧化数</a:t>
            </a:r>
            <a:r>
              <a:rPr lang="zh-CN" altLang="en-US" sz="2800" dirty="0" smtClean="0"/>
              <a:t>，也叫氧化态。</a:t>
            </a:r>
            <a:endParaRPr lang="en-US" altLang="zh-CN" sz="2800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005840" y="1447800"/>
            <a:ext cx="813816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47800" y="27432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8.2.1</a:t>
            </a:r>
            <a:r>
              <a:rPr lang="zh-CN" altLang="en-US" dirty="0" smtClean="0"/>
              <a:t>计算氧化数的一般规则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209800"/>
            <a:ext cx="8229600" cy="3733800"/>
          </a:xfrm>
        </p:spPr>
        <p:txBody>
          <a:bodyPr>
            <a:normAutofit/>
          </a:bodyPr>
          <a:lstStyle/>
          <a:p>
            <a:r>
              <a:rPr lang="zh-CN" altLang="en-US" sz="2800" dirty="0" smtClean="0"/>
              <a:t>同一种元素在不同的化合物中，可以有不同的氧化数，氧化数可谓正数，负数或分数。</a:t>
            </a:r>
            <a:endParaRPr lang="en-US" altLang="zh-CN" sz="2800" dirty="0" smtClean="0"/>
          </a:p>
          <a:p>
            <a:endParaRPr lang="en-US" altLang="zh-CN" sz="28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zh-CN" altLang="en-US" sz="2800" dirty="0" smtClean="0">
                <a:solidFill>
                  <a:srgbClr val="002060"/>
                </a:solidFill>
              </a:rPr>
              <a:t>思考</a:t>
            </a:r>
            <a:endParaRPr lang="en-US" altLang="zh-CN" sz="28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zh-CN" sz="2800" dirty="0" smtClean="0">
                <a:solidFill>
                  <a:srgbClr val="002060"/>
                </a:solidFill>
              </a:rPr>
              <a:t>	</a:t>
            </a:r>
            <a:r>
              <a:rPr lang="zh-CN" altLang="en-US" sz="2800" dirty="0" smtClean="0">
                <a:solidFill>
                  <a:srgbClr val="002060"/>
                </a:solidFill>
              </a:rPr>
              <a:t>两种元素化合时如何判断哪个元素带正电荷、哪个元素带负电荷？</a:t>
            </a:r>
            <a:endParaRPr lang="en-US" altLang="zh-CN" sz="28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altLang="zh-CN" sz="28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zh-CN" sz="2800" dirty="0" smtClean="0">
                <a:solidFill>
                  <a:srgbClr val="002060"/>
                </a:solidFill>
              </a:rPr>
              <a:t>	</a:t>
            </a:r>
            <a:r>
              <a:rPr lang="zh-CN" altLang="en-US" sz="2800" dirty="0" smtClean="0">
                <a:solidFill>
                  <a:srgbClr val="002060"/>
                </a:solidFill>
              </a:rPr>
              <a:t>电负性较大的带负电荷。</a:t>
            </a:r>
            <a:endParaRPr lang="en-US" altLang="zh-CN" sz="2800" dirty="0" smtClean="0">
              <a:solidFill>
                <a:srgbClr val="002060"/>
              </a:solidFill>
            </a:endParaRPr>
          </a:p>
          <a:p>
            <a:endParaRPr lang="en-US" sz="2800" kern="600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005840" y="1524000"/>
            <a:ext cx="813816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氧化数的计算规则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8564880" cy="5181600"/>
          </a:xfrm>
        </p:spPr>
        <p:txBody>
          <a:bodyPr>
            <a:normAutofit lnSpcReduction="10000"/>
          </a:bodyPr>
          <a:lstStyle/>
          <a:p>
            <a:pPr marL="576072" indent="-457200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zh-CN" altLang="en-US" sz="2400" dirty="0" smtClean="0">
                <a:latin typeface="Arial Rounded MT Bold" pitchFamily="34" charset="0"/>
              </a:rPr>
              <a:t>单质元素氧化数皆为零</a:t>
            </a:r>
            <a:endParaRPr lang="en-US" altLang="zh-CN" sz="2400" dirty="0" smtClean="0">
              <a:latin typeface="Arial Rounded MT Bold" pitchFamily="34" charset="0"/>
            </a:endParaRPr>
          </a:p>
          <a:p>
            <a:pPr marL="576072" indent="-457200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en-MY" sz="2400" dirty="0" err="1" smtClean="0">
                <a:latin typeface="Arial Rounded MT Bold" pitchFamily="34" charset="0"/>
              </a:rPr>
              <a:t>ⅠA</a:t>
            </a:r>
            <a:r>
              <a:rPr lang="zh-CN" altLang="en-US" sz="2400" dirty="0" smtClean="0">
                <a:latin typeface="Arial Rounded MT Bold" pitchFamily="34" charset="0"/>
              </a:rPr>
              <a:t>族的金属元素在化合物中的氧化数</a:t>
            </a:r>
            <a:r>
              <a:rPr lang="zh-CN" altLang="en-US" sz="2400" dirty="0" smtClean="0">
                <a:solidFill>
                  <a:srgbClr val="00B0F0"/>
                </a:solidFill>
                <a:latin typeface="Arial Rounded MT Bold" pitchFamily="34" charset="0"/>
              </a:rPr>
              <a:t>永远</a:t>
            </a:r>
            <a:r>
              <a:rPr lang="zh-CN" altLang="en-US" sz="2400" dirty="0" smtClean="0">
                <a:latin typeface="Arial Rounded MT Bold" pitchFamily="34" charset="0"/>
              </a:rPr>
              <a:t>是</a:t>
            </a:r>
            <a:r>
              <a:rPr lang="en-US" altLang="zh-CN" sz="2400" dirty="0" smtClean="0">
                <a:latin typeface="Arial Rounded MT Bold" pitchFamily="34" charset="0"/>
              </a:rPr>
              <a:t>+1</a:t>
            </a:r>
          </a:p>
          <a:p>
            <a:pPr marL="576072" indent="-457200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en-MY" sz="2400" dirty="0" err="1" smtClean="0">
                <a:latin typeface="Arial Rounded MT Bold" pitchFamily="34" charset="0"/>
              </a:rPr>
              <a:t>ⅡA</a:t>
            </a:r>
            <a:r>
              <a:rPr lang="zh-CN" altLang="en-US" sz="2400" dirty="0" smtClean="0">
                <a:latin typeface="Arial Rounded MT Bold" pitchFamily="34" charset="0"/>
              </a:rPr>
              <a:t>族元素在化合物中的氧化数</a:t>
            </a:r>
            <a:r>
              <a:rPr lang="zh-CN" altLang="en-US" sz="2400" dirty="0" smtClean="0">
                <a:solidFill>
                  <a:srgbClr val="00B0F0"/>
                </a:solidFill>
                <a:latin typeface="Arial Rounded MT Bold" pitchFamily="34" charset="0"/>
              </a:rPr>
              <a:t>永远</a:t>
            </a:r>
            <a:r>
              <a:rPr lang="zh-CN" altLang="en-US" sz="2400" dirty="0" smtClean="0">
                <a:latin typeface="Arial Rounded MT Bold" pitchFamily="34" charset="0"/>
              </a:rPr>
              <a:t>是</a:t>
            </a:r>
            <a:r>
              <a:rPr lang="en-US" altLang="zh-CN" sz="2400" dirty="0" smtClean="0">
                <a:latin typeface="Arial Rounded MT Bold" pitchFamily="34" charset="0"/>
              </a:rPr>
              <a:t>+2</a:t>
            </a:r>
          </a:p>
          <a:p>
            <a:pPr marL="576072" indent="-457200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zh-CN" altLang="en-US" sz="2400" dirty="0" smtClean="0">
                <a:latin typeface="Arial Rounded MT Bold" pitchFamily="34" charset="0"/>
              </a:rPr>
              <a:t>卤素在卤化物中的氧化数</a:t>
            </a:r>
            <a:r>
              <a:rPr lang="zh-CN" altLang="en-US" sz="2400" dirty="0" smtClean="0">
                <a:solidFill>
                  <a:srgbClr val="00B0F0"/>
                </a:solidFill>
                <a:latin typeface="Arial Rounded MT Bold" pitchFamily="34" charset="0"/>
              </a:rPr>
              <a:t>一般</a:t>
            </a:r>
            <a:r>
              <a:rPr lang="zh-CN" altLang="en-US" sz="2400" dirty="0" smtClean="0">
                <a:latin typeface="Arial Rounded MT Bold" pitchFamily="34" charset="0"/>
              </a:rPr>
              <a:t>是 </a:t>
            </a:r>
            <a:r>
              <a:rPr lang="en-US" altLang="zh-CN" sz="2400" dirty="0" smtClean="0">
                <a:latin typeface="Arial Rounded MT Bold" pitchFamily="34" charset="0"/>
              </a:rPr>
              <a:t>-1</a:t>
            </a:r>
          </a:p>
          <a:p>
            <a:pPr marL="576072" indent="-457200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>
                <a:latin typeface="Arial Rounded MT Bold" pitchFamily="34" charset="0"/>
              </a:rPr>
              <a:t>F</a:t>
            </a:r>
            <a:r>
              <a:rPr lang="zh-CN" altLang="en-US" sz="2400" dirty="0" smtClean="0">
                <a:latin typeface="Arial Rounded MT Bold" pitchFamily="34" charset="0"/>
              </a:rPr>
              <a:t>是电负性最强的元素，在化合物中氧化数</a:t>
            </a:r>
            <a:r>
              <a:rPr lang="zh-CN" altLang="en-US" sz="2400" dirty="0" smtClean="0">
                <a:solidFill>
                  <a:srgbClr val="00B0F0"/>
                </a:solidFill>
                <a:latin typeface="Arial Rounded MT Bold" pitchFamily="34" charset="0"/>
              </a:rPr>
              <a:t>永远</a:t>
            </a:r>
            <a:r>
              <a:rPr lang="zh-CN" altLang="en-US" sz="2400" dirty="0" smtClean="0">
                <a:latin typeface="Arial Rounded MT Bold" pitchFamily="34" charset="0"/>
              </a:rPr>
              <a:t>是 </a:t>
            </a:r>
            <a:r>
              <a:rPr lang="en-US" altLang="zh-CN" sz="2400" dirty="0" smtClean="0">
                <a:latin typeface="Arial Rounded MT Bold" pitchFamily="34" charset="0"/>
              </a:rPr>
              <a:t>-1</a:t>
            </a:r>
          </a:p>
          <a:p>
            <a:pPr marL="576072" indent="-457200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>
                <a:latin typeface="Arial Rounded MT Bold" pitchFamily="34" charset="0"/>
              </a:rPr>
              <a:t>H</a:t>
            </a:r>
            <a:r>
              <a:rPr lang="zh-CN" altLang="en-US" sz="2400" dirty="0" smtClean="0">
                <a:latin typeface="Arial Rounded MT Bold" pitchFamily="34" charset="0"/>
              </a:rPr>
              <a:t>在化合物中的氧化数</a:t>
            </a:r>
            <a:r>
              <a:rPr lang="zh-CN" altLang="en-US" sz="2400" dirty="0" smtClean="0">
                <a:solidFill>
                  <a:srgbClr val="00B0F0"/>
                </a:solidFill>
                <a:latin typeface="Arial Rounded MT Bold" pitchFamily="34" charset="0"/>
              </a:rPr>
              <a:t>一般</a:t>
            </a:r>
            <a:r>
              <a:rPr lang="zh-CN" altLang="en-US" sz="2400" dirty="0" smtClean="0">
                <a:latin typeface="Arial Rounded MT Bold" pitchFamily="34" charset="0"/>
              </a:rPr>
              <a:t>是</a:t>
            </a:r>
            <a:r>
              <a:rPr lang="en-US" altLang="zh-CN" sz="2400" dirty="0" smtClean="0">
                <a:latin typeface="Arial Rounded MT Bold" pitchFamily="34" charset="0"/>
              </a:rPr>
              <a:t>+1</a:t>
            </a:r>
            <a:r>
              <a:rPr lang="zh-CN" altLang="en-US" sz="2400" dirty="0" smtClean="0">
                <a:latin typeface="Arial Rounded MT Bold" pitchFamily="34" charset="0"/>
              </a:rPr>
              <a:t>，在活泼金属的</a:t>
            </a:r>
            <a:r>
              <a:rPr lang="zh-CN" altLang="en-US" sz="2400" dirty="0" smtClean="0">
                <a:solidFill>
                  <a:srgbClr val="002060"/>
                </a:solidFill>
                <a:latin typeface="Arial Rounded MT Bold" pitchFamily="34" charset="0"/>
              </a:rPr>
              <a:t>氢化物中，</a:t>
            </a:r>
            <a:r>
              <a:rPr lang="en-US" altLang="zh-CN" sz="2400" dirty="0" smtClean="0">
                <a:solidFill>
                  <a:srgbClr val="002060"/>
                </a:solidFill>
                <a:latin typeface="Arial Rounded MT Bold" pitchFamily="34" charset="0"/>
              </a:rPr>
              <a:t>H</a:t>
            </a:r>
            <a:r>
              <a:rPr lang="zh-CN" altLang="en-US" sz="2400" dirty="0" smtClean="0">
                <a:solidFill>
                  <a:srgbClr val="002060"/>
                </a:solidFill>
                <a:latin typeface="Arial Rounded MT Bold" pitchFamily="34" charset="0"/>
              </a:rPr>
              <a:t>的氧化数是</a:t>
            </a:r>
            <a:r>
              <a:rPr lang="en-US" altLang="zh-CN" sz="2400" dirty="0" smtClean="0">
                <a:solidFill>
                  <a:srgbClr val="002060"/>
                </a:solidFill>
                <a:latin typeface="Arial Rounded MT Bold" pitchFamily="34" charset="0"/>
              </a:rPr>
              <a:t>-1</a:t>
            </a:r>
          </a:p>
          <a:p>
            <a:pPr marL="576072" indent="-457200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en-US" sz="2400" dirty="0" smtClean="0">
                <a:latin typeface="Arial Rounded MT Bold" pitchFamily="34" charset="0"/>
              </a:rPr>
              <a:t>O</a:t>
            </a:r>
            <a:r>
              <a:rPr lang="zh-CN" altLang="en-US" sz="2400" dirty="0" smtClean="0">
                <a:latin typeface="Arial Rounded MT Bold" pitchFamily="34" charset="0"/>
              </a:rPr>
              <a:t>在化合物中的氧化数</a:t>
            </a:r>
            <a:r>
              <a:rPr lang="zh-CN" altLang="en-US" sz="2400" dirty="0" smtClean="0">
                <a:solidFill>
                  <a:srgbClr val="00B0F0"/>
                </a:solidFill>
                <a:latin typeface="Arial Rounded MT Bold" pitchFamily="34" charset="0"/>
              </a:rPr>
              <a:t>一般</a:t>
            </a:r>
            <a:r>
              <a:rPr lang="zh-CN" altLang="en-US" sz="2400" dirty="0" smtClean="0">
                <a:latin typeface="Arial Rounded MT Bold" pitchFamily="34" charset="0"/>
              </a:rPr>
              <a:t>是</a:t>
            </a:r>
            <a:r>
              <a:rPr lang="en-US" altLang="zh-CN" sz="2400" dirty="0" smtClean="0">
                <a:latin typeface="Arial Rounded MT Bold" pitchFamily="34" charset="0"/>
              </a:rPr>
              <a:t>-2</a:t>
            </a:r>
            <a:r>
              <a:rPr lang="zh-CN" altLang="en-US" sz="2400" dirty="0" smtClean="0">
                <a:latin typeface="Arial Rounded MT Bold" pitchFamily="34" charset="0"/>
              </a:rPr>
              <a:t>，</a:t>
            </a:r>
            <a:r>
              <a:rPr lang="zh-CN" altLang="en-US" sz="2400" dirty="0" smtClean="0">
                <a:solidFill>
                  <a:srgbClr val="002060"/>
                </a:solidFill>
                <a:latin typeface="Arial Rounded MT Bold" pitchFamily="34" charset="0"/>
              </a:rPr>
              <a:t>在</a:t>
            </a:r>
            <a:r>
              <a:rPr lang="en-US" altLang="zh-CN" sz="2400" dirty="0" smtClean="0">
                <a:solidFill>
                  <a:srgbClr val="002060"/>
                </a:solidFill>
                <a:latin typeface="Arial Rounded MT Bold" pitchFamily="34" charset="0"/>
              </a:rPr>
              <a:t>OF</a:t>
            </a:r>
            <a:r>
              <a:rPr lang="en-US" altLang="zh-CN" sz="2400" baseline="-25000" dirty="0" smtClean="0">
                <a:solidFill>
                  <a:srgbClr val="002060"/>
                </a:solidFill>
                <a:latin typeface="Arial Rounded MT Bold" pitchFamily="34" charset="0"/>
              </a:rPr>
              <a:t>2</a:t>
            </a:r>
            <a:r>
              <a:rPr lang="zh-CN" altLang="en-US" sz="2400" dirty="0" smtClean="0">
                <a:solidFill>
                  <a:srgbClr val="002060"/>
                </a:solidFill>
                <a:latin typeface="Arial Rounded MT Bold" pitchFamily="34" charset="0"/>
              </a:rPr>
              <a:t>中</a:t>
            </a:r>
            <a:r>
              <a:rPr lang="en-US" altLang="zh-CN" sz="2400" dirty="0" smtClean="0">
                <a:solidFill>
                  <a:srgbClr val="002060"/>
                </a:solidFill>
                <a:latin typeface="Arial Rounded MT Bold" pitchFamily="34" charset="0"/>
              </a:rPr>
              <a:t>O</a:t>
            </a:r>
            <a:r>
              <a:rPr lang="zh-CN" altLang="en-US" sz="2400" dirty="0" smtClean="0">
                <a:solidFill>
                  <a:srgbClr val="002060"/>
                </a:solidFill>
                <a:latin typeface="Arial Rounded MT Bold" pitchFamily="34" charset="0"/>
              </a:rPr>
              <a:t>的氧化数是</a:t>
            </a:r>
            <a:r>
              <a:rPr lang="en-US" altLang="zh-CN" sz="2400" dirty="0" smtClean="0">
                <a:solidFill>
                  <a:srgbClr val="002060"/>
                </a:solidFill>
                <a:latin typeface="Arial Rounded MT Bold" pitchFamily="34" charset="0"/>
              </a:rPr>
              <a:t>+2</a:t>
            </a:r>
            <a:r>
              <a:rPr lang="zh-CN" altLang="en-US" sz="2400" dirty="0" smtClean="0">
                <a:solidFill>
                  <a:srgbClr val="002060"/>
                </a:solidFill>
                <a:latin typeface="Arial Rounded MT Bold" pitchFamily="34" charset="0"/>
              </a:rPr>
              <a:t>；过氧化物中是</a:t>
            </a:r>
            <a:r>
              <a:rPr lang="en-US" altLang="zh-CN" sz="2400" dirty="0" smtClean="0">
                <a:solidFill>
                  <a:srgbClr val="002060"/>
                </a:solidFill>
                <a:latin typeface="Arial Rounded MT Bold" pitchFamily="34" charset="0"/>
              </a:rPr>
              <a:t>-1</a:t>
            </a:r>
            <a:r>
              <a:rPr lang="zh-CN" altLang="en-US" sz="2400" dirty="0" smtClean="0">
                <a:solidFill>
                  <a:srgbClr val="002060"/>
                </a:solidFill>
                <a:latin typeface="Arial Rounded MT Bold" pitchFamily="34" charset="0"/>
              </a:rPr>
              <a:t>；超氧化物中是</a:t>
            </a:r>
            <a:r>
              <a:rPr lang="en-US" altLang="zh-CN" sz="2400" dirty="0" smtClean="0">
                <a:solidFill>
                  <a:srgbClr val="002060"/>
                </a:solidFill>
                <a:latin typeface="Arial Rounded MT Bold" pitchFamily="34" charset="0"/>
              </a:rPr>
              <a:t>-½</a:t>
            </a:r>
            <a:r>
              <a:rPr lang="zh-CN" altLang="en-US" sz="2400" dirty="0" smtClean="0">
                <a:solidFill>
                  <a:srgbClr val="002060"/>
                </a:solidFill>
                <a:latin typeface="Arial Rounded MT Bold" pitchFamily="34" charset="0"/>
              </a:rPr>
              <a:t>。</a:t>
            </a:r>
            <a:endParaRPr lang="en-US" altLang="zh-CN" sz="2400" dirty="0" smtClean="0">
              <a:solidFill>
                <a:srgbClr val="002060"/>
              </a:solidFill>
              <a:latin typeface="Arial Rounded MT Bold" pitchFamily="34" charset="0"/>
            </a:endParaRPr>
          </a:p>
          <a:p>
            <a:pPr marL="576072" indent="-457200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zh-CN" altLang="en-US" sz="2400" dirty="0" smtClean="0">
                <a:latin typeface="Arial Rounded MT Bold" pitchFamily="34" charset="0"/>
              </a:rPr>
              <a:t>在</a:t>
            </a:r>
            <a:r>
              <a:rPr lang="zh-CN" altLang="en-US" sz="2400" dirty="0" smtClean="0">
                <a:solidFill>
                  <a:srgbClr val="00B0F0"/>
                </a:solidFill>
                <a:latin typeface="Arial Rounded MT Bold" pitchFamily="34" charset="0"/>
              </a:rPr>
              <a:t>化合物</a:t>
            </a:r>
            <a:r>
              <a:rPr lang="zh-CN" altLang="en-US" sz="2400" dirty="0" smtClean="0">
                <a:latin typeface="Arial Rounded MT Bold" pitchFamily="34" charset="0"/>
              </a:rPr>
              <a:t>中各元素的氧化数的</a:t>
            </a:r>
            <a:r>
              <a:rPr lang="zh-CN" altLang="en-US" sz="2400" dirty="0" smtClean="0">
                <a:solidFill>
                  <a:srgbClr val="00B0F0"/>
                </a:solidFill>
                <a:latin typeface="Arial Rounded MT Bold" pitchFamily="34" charset="0"/>
              </a:rPr>
              <a:t>代数和为零</a:t>
            </a:r>
            <a:r>
              <a:rPr lang="zh-CN" altLang="en-US" sz="2400" dirty="0" smtClean="0">
                <a:latin typeface="Arial Rounded MT Bold" pitchFamily="34" charset="0"/>
              </a:rPr>
              <a:t>，在</a:t>
            </a:r>
            <a:r>
              <a:rPr lang="zh-CN" altLang="en-US" sz="2400" dirty="0" smtClean="0">
                <a:solidFill>
                  <a:srgbClr val="002060"/>
                </a:solidFill>
                <a:latin typeface="Arial Rounded MT Bold" pitchFamily="34" charset="0"/>
              </a:rPr>
              <a:t>离子中</a:t>
            </a:r>
            <a:r>
              <a:rPr lang="zh-CN" altLang="en-US" sz="2400" dirty="0" smtClean="0">
                <a:latin typeface="Arial Rounded MT Bold" pitchFamily="34" charset="0"/>
              </a:rPr>
              <a:t>各元素的氧化数</a:t>
            </a:r>
            <a:r>
              <a:rPr lang="zh-CN" altLang="en-US" sz="2400" dirty="0" smtClean="0">
                <a:solidFill>
                  <a:srgbClr val="002060"/>
                </a:solidFill>
                <a:latin typeface="Arial Rounded MT Bold" pitchFamily="34" charset="0"/>
              </a:rPr>
              <a:t>代数和等于该离子所带电荷数目</a:t>
            </a:r>
            <a:r>
              <a:rPr lang="zh-CN" altLang="en-US" sz="2400" dirty="0" smtClean="0">
                <a:latin typeface="Arial Rounded MT Bold" pitchFamily="34" charset="0"/>
              </a:rPr>
              <a:t>。</a:t>
            </a:r>
            <a:endParaRPr lang="en-MY" sz="2400" dirty="0" smtClean="0">
              <a:latin typeface="Arial Rounded MT Bold" pitchFamily="34" charset="0"/>
            </a:endParaRPr>
          </a:p>
          <a:p>
            <a:pPr>
              <a:buClr>
                <a:srgbClr val="C00000"/>
              </a:buClr>
            </a:pPr>
            <a:endParaRPr lang="en-MY" sz="2400" dirty="0">
              <a:latin typeface="Arial Rounded MT Bold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005840" y="1524000"/>
            <a:ext cx="813816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计算氧化数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 Rounded MT Bold" pitchFamily="34" charset="0"/>
              </a:rPr>
              <a:t>H</a:t>
            </a:r>
            <a:r>
              <a:rPr lang="en-US" dirty="0" smtClean="0">
                <a:solidFill>
                  <a:srgbClr val="00B0F0"/>
                </a:solidFill>
                <a:latin typeface="Arial Rounded MT Bold" pitchFamily="34" charset="0"/>
              </a:rPr>
              <a:t>Cl</a:t>
            </a:r>
            <a:r>
              <a:rPr lang="en-US" dirty="0" smtClean="0">
                <a:latin typeface="Arial Rounded MT Bold" pitchFamily="34" charset="0"/>
              </a:rPr>
              <a:t>O</a:t>
            </a:r>
            <a:r>
              <a:rPr lang="en-US" baseline="-25000" dirty="0" smtClean="0">
                <a:latin typeface="Arial Rounded MT Bold" pitchFamily="34" charset="0"/>
              </a:rPr>
              <a:t>4</a:t>
            </a:r>
            <a:r>
              <a:rPr lang="en-US" dirty="0" smtClean="0">
                <a:latin typeface="Arial Rounded MT Bold" pitchFamily="34" charset="0"/>
              </a:rPr>
              <a:t> </a:t>
            </a:r>
          </a:p>
          <a:p>
            <a:pPr>
              <a:buNone/>
            </a:pPr>
            <a:r>
              <a:rPr lang="en-US" dirty="0" smtClean="0">
                <a:latin typeface="Arial Rounded MT Bold" pitchFamily="34" charset="0"/>
              </a:rPr>
              <a:t>	1+x-8=0</a:t>
            </a:r>
          </a:p>
          <a:p>
            <a:pPr>
              <a:buNone/>
            </a:pPr>
            <a:r>
              <a:rPr lang="en-US" dirty="0" smtClean="0">
                <a:latin typeface="Arial Rounded MT Bold" pitchFamily="34" charset="0"/>
              </a:rPr>
              <a:t>		    x=+7</a:t>
            </a:r>
          </a:p>
          <a:p>
            <a:pPr>
              <a:buNone/>
            </a:pPr>
            <a:endParaRPr lang="en-US" dirty="0" smtClean="0">
              <a:latin typeface="Arial Rounded MT Bold" pitchFamily="34" charset="0"/>
            </a:endParaRPr>
          </a:p>
          <a:p>
            <a:r>
              <a:rPr lang="en-US" dirty="0" smtClean="0">
                <a:solidFill>
                  <a:srgbClr val="00B0F0"/>
                </a:solidFill>
                <a:latin typeface="Arial Rounded MT Bold" pitchFamily="34" charset="0"/>
              </a:rPr>
              <a:t>Cr</a:t>
            </a:r>
            <a:r>
              <a:rPr lang="en-US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O</a:t>
            </a:r>
            <a:r>
              <a:rPr lang="en-US" baseline="-25000" dirty="0" smtClean="0">
                <a:latin typeface="Arial Rounded MT Bold" pitchFamily="34" charset="0"/>
              </a:rPr>
              <a:t>7</a:t>
            </a:r>
            <a:r>
              <a:rPr lang="en-US" baseline="30000" dirty="0" smtClean="0">
                <a:latin typeface="Arial Rounded MT Bold" pitchFamily="34" charset="0"/>
              </a:rPr>
              <a:t>2-</a:t>
            </a:r>
            <a:r>
              <a:rPr lang="en-US" dirty="0" smtClean="0">
                <a:latin typeface="Arial Rounded MT Bold" pitchFamily="34" charset="0"/>
              </a:rPr>
              <a:t>  </a:t>
            </a:r>
          </a:p>
          <a:p>
            <a:pPr>
              <a:buNone/>
            </a:pPr>
            <a:r>
              <a:rPr lang="en-US" altLang="zh-CN" dirty="0" smtClean="0">
                <a:latin typeface="Arial Rounded MT Bold" pitchFamily="34" charset="0"/>
              </a:rPr>
              <a:t>	2x -14 =-2</a:t>
            </a:r>
            <a:endParaRPr lang="en-US" altLang="zh-CN" baseline="30000" dirty="0" smtClean="0">
              <a:latin typeface="Arial Rounded MT Bold" pitchFamily="34" charset="0"/>
            </a:endParaRPr>
          </a:p>
          <a:p>
            <a:pPr>
              <a:buNone/>
            </a:pPr>
            <a:r>
              <a:rPr lang="en-US" altLang="zh-CN" baseline="30000" dirty="0" smtClean="0">
                <a:latin typeface="Arial Rounded MT Bold" pitchFamily="34" charset="0"/>
              </a:rPr>
              <a:t> </a:t>
            </a:r>
            <a:r>
              <a:rPr lang="en-US" altLang="zh-CN" dirty="0" smtClean="0">
                <a:latin typeface="Arial Rounded MT Bold" pitchFamily="34" charset="0"/>
              </a:rPr>
              <a:t>  		  2x = 12</a:t>
            </a:r>
          </a:p>
          <a:p>
            <a:pPr>
              <a:buNone/>
            </a:pPr>
            <a:r>
              <a:rPr lang="en-US" altLang="zh-CN" dirty="0" smtClean="0">
                <a:latin typeface="Arial Rounded MT Bold" pitchFamily="34" charset="0"/>
              </a:rPr>
              <a:t>		    x = +6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0020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x</a:t>
            </a:r>
            <a:endParaRPr lang="en-MY" sz="2000" b="1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+</a:t>
            </a:r>
            <a:endParaRPr lang="en-MY" sz="2000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-2</a:t>
            </a:r>
            <a:endParaRPr lang="en-MY" sz="2000" b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6800" y="3562290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x</a:t>
            </a:r>
            <a:endParaRPr lang="en-MY" sz="2000" b="1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52600" y="356229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</a:rPr>
              <a:t>-2</a:t>
            </a:r>
            <a:endParaRPr lang="en-MY" sz="2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4" grpId="0"/>
      <p:bldP spid="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标出下列各个元素的氧化数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927591"/>
            <a:ext cx="7315200" cy="4625609"/>
          </a:xfrm>
        </p:spPr>
        <p:txBody>
          <a:bodyPr/>
          <a:lstStyle/>
          <a:p>
            <a:pPr>
              <a:buNone/>
            </a:pPr>
            <a:r>
              <a:rPr lang="en-US" altLang="zh-CN" dirty="0" smtClean="0">
                <a:latin typeface="Arial Rounded MT Bold" pitchFamily="34" charset="0"/>
              </a:rPr>
              <a:t>Na</a:t>
            </a:r>
            <a:r>
              <a:rPr lang="en-US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O</a:t>
            </a:r>
            <a:r>
              <a:rPr lang="en-US" altLang="zh-CN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					</a:t>
            </a:r>
            <a:r>
              <a:rPr lang="en-US" dirty="0" err="1" smtClean="0">
                <a:latin typeface="Arial Rounded MT Bold" pitchFamily="34" charset="0"/>
              </a:rPr>
              <a:t>H</a:t>
            </a:r>
            <a:r>
              <a:rPr lang="en-US" altLang="zh-CN" dirty="0" err="1" smtClean="0">
                <a:latin typeface="Arial Rounded MT Bold" pitchFamily="34" charset="0"/>
              </a:rPr>
              <a:t>ClO</a:t>
            </a:r>
            <a:r>
              <a:rPr lang="en-US" dirty="0" smtClean="0">
                <a:latin typeface="Arial Rounded MT Bold" pitchFamily="34" charset="0"/>
              </a:rPr>
              <a:t>  </a:t>
            </a:r>
          </a:p>
          <a:p>
            <a:pPr>
              <a:buNone/>
            </a:pPr>
            <a:endParaRPr lang="en-US" dirty="0" smtClean="0">
              <a:latin typeface="Arial Rounded MT Bold" pitchFamily="34" charset="0"/>
            </a:endParaRPr>
          </a:p>
          <a:p>
            <a:pPr>
              <a:buNone/>
            </a:pPr>
            <a:r>
              <a:rPr lang="en-US" dirty="0" smtClean="0">
                <a:latin typeface="Arial Rounded MT Bold" pitchFamily="34" charset="0"/>
              </a:rPr>
              <a:t>SO</a:t>
            </a:r>
            <a:r>
              <a:rPr lang="en-US" baseline="-25000" dirty="0" smtClean="0">
                <a:latin typeface="Arial Rounded MT Bold" pitchFamily="34" charset="0"/>
              </a:rPr>
              <a:t>4</a:t>
            </a:r>
            <a:r>
              <a:rPr lang="en-US" baseline="30000" dirty="0" smtClean="0">
                <a:latin typeface="Arial Rounded MT Bold" pitchFamily="34" charset="0"/>
              </a:rPr>
              <a:t>2-</a:t>
            </a:r>
            <a:r>
              <a:rPr lang="en-US" dirty="0" smtClean="0">
                <a:latin typeface="Arial Rounded MT Bold" pitchFamily="34" charset="0"/>
              </a:rPr>
              <a:t> 	 </a:t>
            </a:r>
            <a:r>
              <a:rPr lang="en-US" altLang="zh-CN" dirty="0" smtClean="0">
                <a:latin typeface="Arial Rounded MT Bold" pitchFamily="34" charset="0"/>
              </a:rPr>
              <a:t>NH</a:t>
            </a:r>
            <a:r>
              <a:rPr lang="en-US" altLang="zh-CN" baseline="-25000" dirty="0" smtClean="0">
                <a:latin typeface="Arial Rounded MT Bold" pitchFamily="34" charset="0"/>
              </a:rPr>
              <a:t>4 </a:t>
            </a:r>
            <a:r>
              <a:rPr lang="en-US" altLang="zh-CN" baseline="30000" dirty="0" smtClean="0">
                <a:latin typeface="Arial Rounded MT Bold" pitchFamily="34" charset="0"/>
              </a:rPr>
              <a:t>+</a:t>
            </a:r>
            <a:r>
              <a:rPr lang="en-US" altLang="zh-CN" dirty="0" smtClean="0">
                <a:latin typeface="Arial Rounded MT Bold" pitchFamily="34" charset="0"/>
              </a:rPr>
              <a:t> 	</a:t>
            </a:r>
            <a:r>
              <a:rPr lang="en-US" dirty="0" smtClean="0">
                <a:latin typeface="Arial Rounded MT Bold" pitchFamily="34" charset="0"/>
              </a:rPr>
              <a:t> (NH</a:t>
            </a:r>
            <a:r>
              <a:rPr lang="en-US" baseline="-25000" dirty="0" smtClean="0">
                <a:latin typeface="Arial Rounded MT Bold" pitchFamily="34" charset="0"/>
              </a:rPr>
              <a:t>4</a:t>
            </a:r>
            <a:r>
              <a:rPr lang="en-US" dirty="0" smtClean="0">
                <a:latin typeface="Arial Rounded MT Bold" pitchFamily="34" charset="0"/>
              </a:rPr>
              <a:t>)</a:t>
            </a:r>
            <a:r>
              <a:rPr lang="en-US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SO</a:t>
            </a:r>
            <a:r>
              <a:rPr lang="en-US" baseline="-25000" dirty="0" smtClean="0">
                <a:latin typeface="Arial Rounded MT Bold" pitchFamily="34" charset="0"/>
              </a:rPr>
              <a:t>4</a:t>
            </a:r>
            <a:r>
              <a:rPr lang="en-US" dirty="0" smtClean="0">
                <a:latin typeface="Arial Rounded MT Bold" pitchFamily="34" charset="0"/>
              </a:rPr>
              <a:t>	</a:t>
            </a:r>
          </a:p>
          <a:p>
            <a:pPr>
              <a:buNone/>
            </a:pPr>
            <a:endParaRPr lang="en-US" altLang="zh-CN" dirty="0" smtClean="0">
              <a:latin typeface="Arial Rounded MT Bold" pitchFamily="34" charset="0"/>
            </a:endParaRPr>
          </a:p>
          <a:p>
            <a:pPr>
              <a:buNone/>
            </a:pPr>
            <a:r>
              <a:rPr lang="en-US" altLang="zh-CN" dirty="0" smtClean="0">
                <a:latin typeface="Arial Rounded MT Bold" pitchFamily="34" charset="0"/>
              </a:rPr>
              <a:t>KN</a:t>
            </a:r>
            <a:r>
              <a:rPr lang="en-US" dirty="0" smtClean="0">
                <a:latin typeface="Arial Rounded MT Bold" pitchFamily="34" charset="0"/>
              </a:rPr>
              <a:t>O</a:t>
            </a:r>
            <a:r>
              <a:rPr lang="en-US" altLang="zh-CN" baseline="-25000" dirty="0" smtClean="0">
                <a:latin typeface="Arial Rounded MT Bold" pitchFamily="34" charset="0"/>
              </a:rPr>
              <a:t>3</a:t>
            </a:r>
            <a:r>
              <a:rPr lang="en-US" baseline="30000" dirty="0" smtClean="0">
                <a:latin typeface="Arial Rounded MT Bold" pitchFamily="34" charset="0"/>
              </a:rPr>
              <a:t>	</a:t>
            </a:r>
            <a:r>
              <a:rPr lang="en-US" altLang="zh-CN" dirty="0" smtClean="0">
                <a:latin typeface="Arial Rounded MT Bold" pitchFamily="34" charset="0"/>
              </a:rPr>
              <a:t>Mn</a:t>
            </a:r>
            <a:r>
              <a:rPr lang="en-US" dirty="0" smtClean="0">
                <a:latin typeface="Arial Rounded MT Bold" pitchFamily="34" charset="0"/>
              </a:rPr>
              <a:t>O</a:t>
            </a:r>
            <a:r>
              <a:rPr lang="en-US" altLang="zh-CN" baseline="-25000" dirty="0" smtClean="0">
                <a:latin typeface="Arial Rounded MT Bold" pitchFamily="34" charset="0"/>
              </a:rPr>
              <a:t>4</a:t>
            </a:r>
            <a:r>
              <a:rPr lang="en-US" altLang="zh-CN" baseline="30000" dirty="0" smtClean="0">
                <a:latin typeface="Arial Rounded MT Bold" pitchFamily="34" charset="0"/>
              </a:rPr>
              <a:t>-</a:t>
            </a:r>
            <a:r>
              <a:rPr lang="en-US" dirty="0" smtClean="0">
                <a:latin typeface="Arial Rounded MT Bold" pitchFamily="34" charset="0"/>
              </a:rPr>
              <a:t>	     </a:t>
            </a:r>
            <a:r>
              <a:rPr lang="en-US" altLang="zh-CN" dirty="0" smtClean="0">
                <a:latin typeface="Arial Rounded MT Bold" pitchFamily="34" charset="0"/>
              </a:rPr>
              <a:t>K</a:t>
            </a:r>
            <a:r>
              <a:rPr lang="en-US" altLang="zh-CN" baseline="-25000" dirty="0" smtClean="0">
                <a:latin typeface="Arial Rounded MT Bold" pitchFamily="34" charset="0"/>
              </a:rPr>
              <a:t>2</a:t>
            </a:r>
            <a:r>
              <a:rPr lang="en-US" altLang="zh-CN" dirty="0" smtClean="0">
                <a:latin typeface="Arial Rounded MT Bold" pitchFamily="34" charset="0"/>
              </a:rPr>
              <a:t>Cr</a:t>
            </a:r>
            <a:r>
              <a:rPr lang="en-US" altLang="zh-CN" baseline="-25000" dirty="0" smtClean="0">
                <a:latin typeface="Arial Rounded MT Bold" pitchFamily="34" charset="0"/>
              </a:rPr>
              <a:t>2</a:t>
            </a:r>
            <a:r>
              <a:rPr lang="en-US" altLang="zh-CN" dirty="0" smtClean="0">
                <a:latin typeface="Arial Rounded MT Bold" pitchFamily="34" charset="0"/>
              </a:rPr>
              <a:t>O</a:t>
            </a:r>
            <a:r>
              <a:rPr lang="en-US" altLang="zh-CN" baseline="-25000" dirty="0" smtClean="0">
                <a:latin typeface="Arial Rounded MT Bold" pitchFamily="34" charset="0"/>
              </a:rPr>
              <a:t>7</a:t>
            </a:r>
            <a:endParaRPr lang="en-US" dirty="0">
              <a:latin typeface="Arial Rounded MT Bold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19200" y="17526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17526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</a:t>
            </a:r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7000" y="17526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0" y="17526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</a:t>
            </a:r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272409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+6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00200" y="2743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71800" y="2743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-3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52800" y="2743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47800" y="37338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+5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05000" y="37338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71800" y="371469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</a:t>
            </a:r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7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81400" y="37338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81600" y="37338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66800" y="37338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91200" y="37338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+6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76800" y="2743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-3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57800" y="2743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0" y="2743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+6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24600" y="2743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0" y="17526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77000" y="371469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4123" t="11579"/>
          <a:stretch>
            <a:fillRect/>
          </a:stretch>
        </p:blipFill>
        <p:spPr>
          <a:xfrm>
            <a:off x="2250472" y="4495800"/>
            <a:ext cx="2854928" cy="2133600"/>
          </a:xfrm>
          <a:prstGeom prst="rect">
            <a:avLst/>
          </a:prstGeom>
        </p:spPr>
      </p:pic>
      <p:grpSp>
        <p:nvGrpSpPr>
          <p:cNvPr id="34" name="Group 33"/>
          <p:cNvGrpSpPr/>
          <p:nvPr/>
        </p:nvGrpSpPr>
        <p:grpSpPr>
          <a:xfrm>
            <a:off x="2667000" y="1371600"/>
            <a:ext cx="3733800" cy="1372172"/>
            <a:chOff x="4572000" y="1295400"/>
            <a:chExt cx="3733800" cy="1372172"/>
          </a:xfrm>
        </p:grpSpPr>
        <p:pic>
          <p:nvPicPr>
            <p:cNvPr id="30" name="Picture 1" descr="C:\Users\user\Desktop\z.jpg"/>
            <p:cNvPicPr>
              <a:picLocks noChangeAspect="1" noChangeArrowheads="1"/>
            </p:cNvPicPr>
            <p:nvPr/>
          </p:nvPicPr>
          <p:blipFill>
            <a:blip r:embed="rId3"/>
            <a:srcRect t="57171"/>
            <a:stretch>
              <a:fillRect/>
            </a:stretch>
          </p:blipFill>
          <p:spPr bwMode="auto">
            <a:xfrm>
              <a:off x="4572000" y="1447800"/>
              <a:ext cx="3733800" cy="1219772"/>
            </a:xfrm>
            <a:prstGeom prst="rect">
              <a:avLst/>
            </a:prstGeom>
            <a:noFill/>
          </p:spPr>
        </p:pic>
        <p:sp>
          <p:nvSpPr>
            <p:cNvPr id="31" name="TextBox 30"/>
            <p:cNvSpPr txBox="1"/>
            <p:nvPr/>
          </p:nvSpPr>
          <p:spPr>
            <a:xfrm>
              <a:off x="5410200" y="1295400"/>
              <a:ext cx="5334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5400" b="1" dirty="0" smtClean="0">
                  <a:solidFill>
                    <a:srgbClr val="FF0000"/>
                  </a:solidFill>
                  <a:latin typeface="Arial Rounded MT Bold" pitchFamily="34" charset="0"/>
                </a:rPr>
                <a:t>.</a:t>
              </a:r>
              <a:endParaRPr lang="en-MY" sz="5400" b="1" dirty="0">
                <a:solidFill>
                  <a:srgbClr val="FF0000"/>
                </a:solidFill>
                <a:latin typeface="Arial Rounded MT Bold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629400" y="1362670"/>
              <a:ext cx="6096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5400" b="1" dirty="0" smtClean="0">
                  <a:solidFill>
                    <a:srgbClr val="FF0000"/>
                  </a:solidFill>
                  <a:latin typeface="Arial Rounded MT Bold" pitchFamily="34" charset="0"/>
                </a:rPr>
                <a:t>.</a:t>
              </a:r>
              <a:endParaRPr lang="en-MY" sz="5400" b="1" dirty="0">
                <a:solidFill>
                  <a:srgbClr val="FF0000"/>
                </a:solidFill>
                <a:latin typeface="Arial Rounded MT Bold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观察思考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3222" indent="-514350">
              <a:lnSpc>
                <a:spcPct val="150000"/>
              </a:lnSpc>
              <a:buAutoNum type="arabicPeriod"/>
            </a:pPr>
            <a:r>
              <a:rPr lang="zh-CN" altLang="en-US" dirty="0" smtClean="0">
                <a:latin typeface="Arial Rounded MT Bold" pitchFamily="34" charset="0"/>
              </a:rPr>
              <a:t>主族元素的最高氧化数等于其族序数。</a:t>
            </a:r>
            <a:endParaRPr lang="en-US" altLang="zh-CN" dirty="0" smtClean="0">
              <a:latin typeface="Arial Rounded MT Bold" pitchFamily="34" charset="0"/>
            </a:endParaRPr>
          </a:p>
          <a:p>
            <a:pPr marL="633222" indent="-514350">
              <a:lnSpc>
                <a:spcPct val="150000"/>
              </a:lnSpc>
              <a:buNone/>
            </a:pPr>
            <a:r>
              <a:rPr lang="en-US" dirty="0" smtClean="0">
                <a:latin typeface="Arial Rounded MT Bold" pitchFamily="34" charset="0"/>
              </a:rPr>
              <a:t>	*</a:t>
            </a:r>
            <a:r>
              <a:rPr lang="zh-CN" altLang="en-US" dirty="0" smtClean="0">
                <a:latin typeface="Arial Rounded MT Bold" pitchFamily="34" charset="0"/>
              </a:rPr>
              <a:t>除了稀有气体</a:t>
            </a:r>
            <a:r>
              <a:rPr lang="en-US" altLang="zh-CN" dirty="0" smtClean="0">
                <a:latin typeface="Arial Rounded MT Bold" pitchFamily="34" charset="0"/>
              </a:rPr>
              <a:t>,F ,O </a:t>
            </a:r>
          </a:p>
          <a:p>
            <a:pPr marL="633222" indent="-514350">
              <a:lnSpc>
                <a:spcPct val="150000"/>
              </a:lnSpc>
              <a:buNone/>
            </a:pPr>
            <a:endParaRPr lang="en-US" altLang="zh-CN" dirty="0" smtClean="0">
              <a:latin typeface="Arial Rounded MT Bold" pitchFamily="34" charset="0"/>
            </a:endParaRPr>
          </a:p>
          <a:p>
            <a:pPr marL="633222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dirty="0" smtClean="0">
                <a:latin typeface="Arial Rounded MT Bold" pitchFamily="34" charset="0"/>
              </a:rPr>
              <a:t>主族元素的最低氧化数</a:t>
            </a:r>
            <a:r>
              <a:rPr lang="en-US" altLang="zh-CN" dirty="0" smtClean="0">
                <a:latin typeface="Arial Rounded MT Bold" pitchFamily="34" charset="0"/>
              </a:rPr>
              <a:t>=</a:t>
            </a:r>
            <a:r>
              <a:rPr lang="zh-CN" altLang="en-US" dirty="0" smtClean="0">
                <a:latin typeface="Arial Rounded MT Bold" pitchFamily="34" charset="0"/>
              </a:rPr>
              <a:t>族序数</a:t>
            </a:r>
            <a:r>
              <a:rPr lang="en-US" altLang="zh-CN" dirty="0" smtClean="0">
                <a:latin typeface="Arial Rounded MT Bold" pitchFamily="34" charset="0"/>
              </a:rPr>
              <a:t>-8</a:t>
            </a:r>
          </a:p>
          <a:p>
            <a:pPr marL="633222" indent="-514350">
              <a:lnSpc>
                <a:spcPct val="150000"/>
              </a:lnSpc>
              <a:buNone/>
            </a:pPr>
            <a:r>
              <a:rPr lang="en-US" dirty="0" smtClean="0">
                <a:latin typeface="Arial Rounded MT Bold" pitchFamily="34" charset="0"/>
              </a:rPr>
              <a:t>	*</a:t>
            </a:r>
            <a:r>
              <a:rPr lang="zh-CN" altLang="en-US" dirty="0" smtClean="0">
                <a:latin typeface="Arial Rounded MT Bold" pitchFamily="34" charset="0"/>
              </a:rPr>
              <a:t>金属元素的氧化数只有正，没有负。</a:t>
            </a:r>
            <a:endParaRPr lang="en-US" dirty="0" smtClean="0">
              <a:latin typeface="Arial Rounded MT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2728"/>
          </a:xfrm>
        </p:spPr>
        <p:txBody>
          <a:bodyPr>
            <a:normAutofit fontScale="90000"/>
          </a:bodyPr>
          <a:lstStyle/>
          <a:p>
            <a:r>
              <a:rPr lang="zh-CN" altLang="en-US" sz="4400" dirty="0" smtClean="0"/>
              <a:t>第八章</a:t>
            </a:r>
            <a:r>
              <a:rPr lang="en-US" altLang="zh-CN" sz="4400" dirty="0" smtClean="0"/>
              <a:t>	</a:t>
            </a:r>
            <a:r>
              <a:rPr lang="en-US" sz="4400" dirty="0" smtClean="0"/>
              <a:t> </a:t>
            </a:r>
            <a:br>
              <a:rPr lang="en-US" sz="4400" dirty="0" smtClean="0"/>
            </a:br>
            <a:r>
              <a:rPr lang="en-US" altLang="zh-CN" sz="4400" dirty="0" smtClean="0"/>
              <a:t>8.1	</a:t>
            </a:r>
            <a:r>
              <a:rPr lang="zh-CN" altLang="en-US" sz="4400" dirty="0" smtClean="0"/>
              <a:t>氧化还原反应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6576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zh-CN" altLang="en-US" dirty="0" smtClean="0">
                <a:latin typeface="+mj-ea"/>
              </a:rPr>
              <a:t>氧化和还原这两个相反的过程是在一个反应中</a:t>
            </a:r>
            <a:r>
              <a:rPr lang="zh-CN" altLang="en-US" b="1" dirty="0" smtClean="0">
                <a:solidFill>
                  <a:srgbClr val="00B0F0"/>
                </a:solidFill>
                <a:latin typeface="+mj-ea"/>
              </a:rPr>
              <a:t>同时</a:t>
            </a:r>
            <a:r>
              <a:rPr lang="zh-CN" altLang="en-US" dirty="0" smtClean="0">
                <a:latin typeface="+mj-ea"/>
              </a:rPr>
              <a:t>发生的。</a:t>
            </a:r>
            <a:endParaRPr lang="en-US" altLang="zh-CN" dirty="0" smtClean="0">
              <a:latin typeface="+mj-ea"/>
            </a:endParaRPr>
          </a:p>
          <a:p>
            <a:pPr>
              <a:buFont typeface="Arial" pitchFamily="34" charset="0"/>
              <a:buChar char="•"/>
            </a:pPr>
            <a:r>
              <a:rPr lang="zh-CN" altLang="en-US" dirty="0" smtClean="0">
                <a:latin typeface="+mj-ea"/>
              </a:rPr>
              <a:t>一种物质被氧化，必然有另一种物质被还原。</a:t>
            </a:r>
            <a:endParaRPr lang="en-US" altLang="zh-CN" dirty="0" smtClean="0">
              <a:latin typeface="+mj-ea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以</a:t>
            </a:r>
            <a:r>
              <a:rPr lang="zh-CN" altLang="en-US" dirty="0" smtClean="0">
                <a:solidFill>
                  <a:srgbClr val="00B0F0"/>
                </a:solidFill>
              </a:rPr>
              <a:t>氧的得失</a:t>
            </a:r>
            <a:r>
              <a:rPr lang="zh-CN" altLang="en-US" dirty="0" smtClean="0"/>
              <a:t>解释反应</a:t>
            </a:r>
            <a:endParaRPr lang="en-MY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76400" y="2971800"/>
            <a:ext cx="3657600" cy="68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latin typeface="Arial Rounded MT Bold" pitchFamily="34" charset="0"/>
              </a:rPr>
              <a:t>CuO+H</a:t>
            </a:r>
            <a:r>
              <a:rPr lang="en-US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		</a:t>
            </a:r>
            <a:endParaRPr lang="en-MY" dirty="0">
              <a:latin typeface="Arial Rounded MT Bold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886200" y="32766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62600" y="2971800"/>
            <a:ext cx="182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Arial Rounded MT Bold" pitchFamily="34" charset="0"/>
              </a:rPr>
              <a:t>Cu+H</a:t>
            </a:r>
            <a:r>
              <a:rPr lang="en-US" sz="3000" baseline="-25000" dirty="0" smtClean="0">
                <a:latin typeface="Arial Rounded MT Bold" pitchFamily="34" charset="0"/>
              </a:rPr>
              <a:t>2</a:t>
            </a:r>
            <a:r>
              <a:rPr lang="en-US" sz="3000" dirty="0" smtClean="0">
                <a:latin typeface="Arial Rounded MT Bold" pitchFamily="34" charset="0"/>
              </a:rPr>
              <a:t>O</a:t>
            </a:r>
            <a:endParaRPr lang="en-MY" sz="3000" dirty="0">
              <a:latin typeface="Arial Rounded MT Bold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2286000" y="2438400"/>
            <a:ext cx="34290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3200400" y="3505200"/>
            <a:ext cx="34290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2667000" y="190500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</a:rPr>
              <a:t>失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</a:rPr>
              <a:t>去氧，被还原</a:t>
            </a:r>
            <a:endParaRPr lang="en-MY" sz="2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857893" y="4343400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</a:rPr>
              <a:t>得到氧，被氧化</a:t>
            </a:r>
            <a:endParaRPr lang="en-MY" sz="2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91200" y="27240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718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600" y="2743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5" grpId="0"/>
      <p:bldP spid="37" grpId="0"/>
      <p:bldP spid="38" grpId="0"/>
      <p:bldP spid="14" grpId="0"/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以</a:t>
            </a:r>
            <a:r>
              <a:rPr lang="zh-CN" altLang="en-US" dirty="0" smtClean="0">
                <a:solidFill>
                  <a:srgbClr val="00B0F0"/>
                </a:solidFill>
              </a:rPr>
              <a:t>氢的得失</a:t>
            </a:r>
            <a:r>
              <a:rPr lang="zh-CN" altLang="en-US" dirty="0" smtClean="0"/>
              <a:t>解释反应</a:t>
            </a:r>
            <a:endParaRPr lang="en-MY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76400" y="2971800"/>
            <a:ext cx="3657600" cy="68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 smtClean="0">
                <a:latin typeface="Arial Rounded MT Bold" pitchFamily="34" charset="0"/>
              </a:rPr>
              <a:t>2 </a:t>
            </a:r>
            <a:r>
              <a:rPr lang="en-US" dirty="0" smtClean="0">
                <a:latin typeface="Arial Rounded MT Bold" pitchFamily="34" charset="0"/>
              </a:rPr>
              <a:t>H</a:t>
            </a:r>
            <a:r>
              <a:rPr lang="en-US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S+O</a:t>
            </a:r>
            <a:r>
              <a:rPr lang="en-US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	</a:t>
            </a:r>
            <a:endParaRPr lang="en-MY" dirty="0">
              <a:latin typeface="Arial Rounded MT Bold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886200" y="32766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0" y="2971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Arial Rounded MT Bold" pitchFamily="34" charset="0"/>
              </a:rPr>
              <a:t>2 S + 2H</a:t>
            </a:r>
            <a:r>
              <a:rPr lang="en-US" sz="3000" baseline="-25000" dirty="0" smtClean="0">
                <a:latin typeface="Arial Rounded MT Bold" pitchFamily="34" charset="0"/>
              </a:rPr>
              <a:t>2</a:t>
            </a:r>
            <a:r>
              <a:rPr lang="en-US" sz="3000" dirty="0" smtClean="0">
                <a:latin typeface="Arial Rounded MT Bold" pitchFamily="34" charset="0"/>
              </a:rPr>
              <a:t>O</a:t>
            </a:r>
            <a:endParaRPr lang="en-MY" sz="3000" dirty="0">
              <a:latin typeface="Arial Rounded MT Bold" pitchFamily="34" charset="0"/>
            </a:endParaRPr>
          </a:p>
        </p:txBody>
      </p:sp>
      <p:grpSp>
        <p:nvGrpSpPr>
          <p:cNvPr id="4" name="Group 34"/>
          <p:cNvGrpSpPr/>
          <p:nvPr/>
        </p:nvGrpSpPr>
        <p:grpSpPr>
          <a:xfrm>
            <a:off x="2819400" y="2438400"/>
            <a:ext cx="32004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35"/>
          <p:cNvGrpSpPr/>
          <p:nvPr/>
        </p:nvGrpSpPr>
        <p:grpSpPr>
          <a:xfrm>
            <a:off x="3352800" y="3429000"/>
            <a:ext cx="40386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3000107" y="190500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</a:rPr>
              <a:t>失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</a:rPr>
              <a:t>去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</a:rPr>
              <a:t>氢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</a:rPr>
              <a:t>，被氧化</a:t>
            </a:r>
            <a:endParaRPr lang="en-MY" sz="2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191000" y="4343400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</a:rPr>
              <a:t>得到氢，被还原</a:t>
            </a:r>
            <a:endParaRPr lang="en-MY" sz="2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432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198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528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628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5" grpId="0"/>
      <p:bldP spid="37" grpId="0"/>
      <p:bldP spid="38" grpId="0"/>
      <p:bldP spid="14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以</a:t>
            </a:r>
            <a:r>
              <a:rPr lang="zh-CN" altLang="en-US" dirty="0" smtClean="0">
                <a:solidFill>
                  <a:srgbClr val="00B0F0"/>
                </a:solidFill>
              </a:rPr>
              <a:t>电子的得失</a:t>
            </a:r>
            <a:r>
              <a:rPr lang="zh-CN" altLang="en-US" dirty="0" smtClean="0"/>
              <a:t>解释反应</a:t>
            </a:r>
            <a:endParaRPr lang="en-MY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76400" y="2971800"/>
            <a:ext cx="3657600" cy="68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 smtClean="0">
                <a:latin typeface="Arial Rounded MT Bold" pitchFamily="34" charset="0"/>
              </a:rPr>
              <a:t>2Na+Cl</a:t>
            </a:r>
            <a:r>
              <a:rPr lang="en-US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	</a:t>
            </a:r>
            <a:endParaRPr lang="en-MY" dirty="0">
              <a:latin typeface="Arial Rounded MT Bold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886200" y="32766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62600" y="2971800"/>
            <a:ext cx="182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Arial Rounded MT Bold" pitchFamily="34" charset="0"/>
              </a:rPr>
              <a:t>2NaCl</a:t>
            </a:r>
            <a:endParaRPr lang="en-MY" sz="3000" dirty="0">
              <a:latin typeface="Arial Rounded MT Bold" pitchFamily="34" charset="0"/>
            </a:endParaRPr>
          </a:p>
        </p:txBody>
      </p:sp>
      <p:grpSp>
        <p:nvGrpSpPr>
          <p:cNvPr id="4" name="Group 34"/>
          <p:cNvGrpSpPr/>
          <p:nvPr/>
        </p:nvGrpSpPr>
        <p:grpSpPr>
          <a:xfrm>
            <a:off x="2362200" y="2438400"/>
            <a:ext cx="36576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35"/>
          <p:cNvGrpSpPr/>
          <p:nvPr/>
        </p:nvGrpSpPr>
        <p:grpSpPr>
          <a:xfrm>
            <a:off x="3200400" y="3505200"/>
            <a:ext cx="34290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2667000" y="1828800"/>
            <a:ext cx="2845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失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去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2e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，被氧化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857893" y="4267200"/>
            <a:ext cx="28456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得到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2e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，被还原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62200" y="5181600"/>
            <a:ext cx="5029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物质失去电子的反应就是氧化反应，</a:t>
            </a:r>
            <a:endParaRPr lang="en-US" altLang="zh-CN" sz="2400" dirty="0" smtClean="0"/>
          </a:p>
          <a:p>
            <a:r>
              <a:rPr lang="en-US" altLang="zh-CN" sz="2400" dirty="0" smtClean="0"/>
              <a:t>        </a:t>
            </a:r>
            <a:r>
              <a:rPr lang="zh-CN" altLang="en-US" sz="2400" dirty="0" smtClean="0"/>
              <a:t>得到电子的反应就是还原反应。</a:t>
            </a:r>
            <a:endParaRPr lang="en-MY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22860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198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480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532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-</a:t>
            </a:r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5" grpId="0"/>
      <p:bldP spid="37" grpId="0"/>
      <p:bldP spid="38" grpId="0"/>
      <p:bldP spid="14" grpId="0"/>
      <p:bldP spid="16" grpId="0"/>
      <p:bldP spid="17" grpId="0"/>
      <p:bldP spid="18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j-ea"/>
              </a:rPr>
              <a:t>氧化和还原这两个相反的过程是在一个反应中</a:t>
            </a:r>
            <a:r>
              <a:rPr lang="zh-CN" altLang="en-US" b="1" dirty="0" smtClean="0">
                <a:solidFill>
                  <a:srgbClr val="00B0F0"/>
                </a:solidFill>
                <a:latin typeface="+mj-ea"/>
              </a:rPr>
              <a:t>同时</a:t>
            </a:r>
            <a:r>
              <a:rPr lang="zh-CN" altLang="en-US" dirty="0" smtClean="0">
                <a:latin typeface="+mj-ea"/>
              </a:rPr>
              <a:t>发生的。</a:t>
            </a:r>
            <a:endParaRPr lang="en-US" altLang="zh-CN" dirty="0" smtClean="0">
              <a:latin typeface="+mj-ea"/>
            </a:endParaRPr>
          </a:p>
          <a:p>
            <a:pPr lvl="1"/>
            <a:r>
              <a:rPr lang="zh-CN" altLang="en-US" sz="3200" dirty="0" smtClean="0">
                <a:latin typeface="+mj-ea"/>
              </a:rPr>
              <a:t>被氧化：</a:t>
            </a:r>
            <a:endParaRPr lang="en-US" altLang="zh-CN" sz="3200" dirty="0" smtClean="0">
              <a:latin typeface="+mj-ea"/>
            </a:endParaRPr>
          </a:p>
          <a:p>
            <a:pPr lvl="2"/>
            <a:r>
              <a:rPr lang="zh-CN" altLang="en-US" sz="2800" dirty="0" smtClean="0">
                <a:latin typeface="+mj-ea"/>
              </a:rPr>
              <a:t>得氧</a:t>
            </a:r>
            <a:endParaRPr lang="en-US" altLang="zh-CN" sz="2800" dirty="0" smtClean="0">
              <a:latin typeface="+mj-ea"/>
            </a:endParaRPr>
          </a:p>
          <a:p>
            <a:pPr lvl="2"/>
            <a:r>
              <a:rPr lang="zh-CN" altLang="en-US" sz="2800" dirty="0" smtClean="0">
                <a:latin typeface="+mj-ea"/>
              </a:rPr>
              <a:t>失氢</a:t>
            </a:r>
            <a:endParaRPr lang="en-US" altLang="zh-CN" sz="2800" dirty="0" smtClean="0">
              <a:latin typeface="+mj-ea"/>
            </a:endParaRPr>
          </a:p>
          <a:p>
            <a:pPr lvl="2"/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**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失去电子</a:t>
            </a:r>
            <a:endParaRPr lang="en-US" altLang="zh-CN" sz="28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  <a:p>
            <a:pPr lvl="2"/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**</a:t>
            </a:r>
            <a:r>
              <a:rPr lang="zh-CN" altLang="en-US" sz="2800" b="1" dirty="0" smtClean="0">
                <a:solidFill>
                  <a:srgbClr val="FF0000"/>
                </a:solidFill>
                <a:latin typeface="+mj-ea"/>
              </a:rPr>
              <a:t>氧化数上升</a:t>
            </a:r>
            <a:endParaRPr lang="en-US" altLang="zh-CN" b="1" dirty="0" smtClean="0">
              <a:solidFill>
                <a:srgbClr val="FF0000"/>
              </a:solidFill>
              <a:latin typeface="+mj-ea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问题解决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775191"/>
            <a:ext cx="8229600" cy="40922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marL="633222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en-US" altLang="zh-CN" sz="3200" dirty="0" smtClean="0">
                <a:latin typeface="Arial Narrow" pitchFamily="34" charset="0"/>
              </a:rPr>
              <a:t>2CuO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+ C 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 2</a:t>
            </a:r>
            <a:r>
              <a:rPr kumimoji="0" lang="en-US" altLang="zh-CN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Cu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+  CO</a:t>
            </a:r>
            <a:r>
              <a:rPr kumimoji="0" lang="en-US" altLang="zh-CN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</a:t>
            </a:r>
          </a:p>
          <a:p>
            <a:pPr marL="633222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lt"/>
              <a:buAutoNum type="arabicPeriod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  <a:sym typeface="Wingdings" pitchFamily="2" charset="2"/>
            </a:endParaRPr>
          </a:p>
          <a:p>
            <a:pPr marL="633222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lt"/>
              <a:buAutoNum type="arabicPeriod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  <a:sym typeface="Wingdings" pitchFamily="2" charset="2"/>
            </a:endParaRPr>
          </a:p>
          <a:p>
            <a:pPr marL="633222" indent="-514350">
              <a:buClr>
                <a:schemeClr val="accent1"/>
              </a:buClr>
              <a:buSzPct val="80000"/>
              <a:buFont typeface="+mj-lt"/>
              <a:buAutoNum type="arabicPeriod"/>
            </a:pPr>
            <a:r>
              <a:rPr lang="en-US" sz="3200" dirty="0" smtClean="0">
                <a:latin typeface="Arial Narrow" pitchFamily="34" charset="0"/>
                <a:sym typeface="Wingdings" pitchFamily="2" charset="2"/>
              </a:rPr>
              <a:t>Zn +  2 </a:t>
            </a:r>
            <a:r>
              <a:rPr lang="en-US" sz="3200" dirty="0" err="1" smtClean="0">
                <a:latin typeface="Arial Narrow" pitchFamily="34" charset="0"/>
                <a:sym typeface="Wingdings" pitchFamily="2" charset="2"/>
              </a:rPr>
              <a:t>HCl</a:t>
            </a:r>
            <a:r>
              <a:rPr lang="en-US" sz="3200" dirty="0" smtClean="0">
                <a:latin typeface="Arial Narrow" pitchFamily="34" charset="0"/>
                <a:sym typeface="Wingdings" pitchFamily="2" charset="2"/>
              </a:rPr>
              <a:t>    ZnCl</a:t>
            </a:r>
            <a:r>
              <a:rPr lang="en-US" sz="3200" baseline="-25000" dirty="0" smtClean="0">
                <a:latin typeface="Arial Narrow" pitchFamily="34" charset="0"/>
                <a:sym typeface="Wingdings" pitchFamily="2" charset="2"/>
              </a:rPr>
              <a:t>2 </a:t>
            </a:r>
            <a:r>
              <a:rPr lang="en-US" sz="32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+   H</a:t>
            </a:r>
            <a:r>
              <a:rPr lang="en-US" altLang="zh-CN" sz="3200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endParaRPr lang="en-US" sz="3200" dirty="0" smtClean="0">
              <a:latin typeface="Arial Narrow" pitchFamily="34" charset="0"/>
            </a:endParaRPr>
          </a:p>
          <a:p>
            <a:pPr marL="633222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lt"/>
              <a:buAutoNum type="arabicPeriod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  <a:sym typeface="Wingdings" pitchFamily="2" charset="2"/>
            </a:endParaRPr>
          </a:p>
          <a:p>
            <a:pPr marL="633222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lt"/>
              <a:buAutoNum type="arabicPeriod"/>
              <a:tabLst/>
              <a:defRPr/>
            </a:pPr>
            <a:endParaRPr lang="en-US" sz="3200" dirty="0" smtClean="0">
              <a:latin typeface="Arial Narrow" pitchFamily="34" charset="0"/>
              <a:sym typeface="Wingdings" pitchFamily="2" charset="2"/>
            </a:endParaRPr>
          </a:p>
          <a:p>
            <a:pPr marL="633222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lt"/>
              <a:buAutoNum type="arabicPeriod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2Fe + 3 Cl</a:t>
            </a:r>
            <a:r>
              <a:rPr kumimoji="0" lang="en-US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2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 2 FeCl</a:t>
            </a:r>
            <a:r>
              <a:rPr kumimoji="0" lang="en-US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3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  <a:sym typeface="Wingdings" pitchFamily="2" charset="2"/>
            </a:endParaRPr>
          </a:p>
          <a:p>
            <a:pPr marL="633222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+mj-lt"/>
              <a:buAutoNum type="arabicPeriod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  <a:sym typeface="Wingdings" pitchFamily="2" charset="2"/>
            </a:endParaRPr>
          </a:p>
          <a:p>
            <a:pPr marL="633222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764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574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670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100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482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+4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4552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19400" y="4552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38600" y="453378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+3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0" y="453378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76400" y="3028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764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100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670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667000" y="3028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71800" y="3028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10200" y="3028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86200" y="3028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419600" y="300978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76400" y="3028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886200" y="3028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667000" y="3028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10200" y="3028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6482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+4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6800" y="5562600"/>
            <a:ext cx="7772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3200" dirty="0" smtClean="0"/>
              <a:t>都</a:t>
            </a:r>
            <a:r>
              <a:rPr lang="zh-CN" altLang="en-US" sz="3200" dirty="0" smtClean="0">
                <a:latin typeface="Arial Narrow" pitchFamily="34" charset="0"/>
                <a:sym typeface="Wingdings" pitchFamily="2" charset="2"/>
              </a:rPr>
              <a:t>是氧化还原反应，都发生了电子转移</a:t>
            </a:r>
            <a:endParaRPr lang="en-US" sz="3200" dirty="0" smtClean="0">
              <a:latin typeface="Arial Narrow" pitchFamily="34" charset="0"/>
              <a:sym typeface="Wingdings" pitchFamily="2" charset="2"/>
            </a:endParaRPr>
          </a:p>
          <a:p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15" grpId="0"/>
      <p:bldP spid="16" grpId="0"/>
      <p:bldP spid="17" grpId="0"/>
      <p:bldP spid="18" grpId="0"/>
      <p:bldP spid="21" grpId="0"/>
      <p:bldP spid="22" grpId="0"/>
      <p:bldP spid="23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4" grpId="0"/>
      <p:bldP spid="35" grpId="0"/>
      <p:bldP spid="36" grpId="0"/>
      <p:bldP spid="40" grpId="0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思考题</a:t>
            </a:r>
            <a:r>
              <a:rPr lang="en-US" altLang="zh-CN" dirty="0" smtClean="0"/>
              <a:t>8a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33222" indent="-514350">
              <a:buNone/>
            </a:pPr>
            <a:r>
              <a:rPr lang="en-US" dirty="0" err="1" smtClean="0"/>
              <a:t>Fe+S</a:t>
            </a:r>
            <a:r>
              <a:rPr lang="en-US" dirty="0" err="1" smtClean="0">
                <a:sym typeface="Wingdings" pitchFamily="2" charset="2"/>
              </a:rPr>
              <a:t>FeS</a:t>
            </a:r>
            <a:endParaRPr lang="en-US" dirty="0" smtClean="0">
              <a:sym typeface="Wingdings" pitchFamily="2" charset="2"/>
            </a:endParaRPr>
          </a:p>
          <a:p>
            <a:pPr marL="633222" indent="-514350">
              <a:buNone/>
            </a:pPr>
            <a:r>
              <a:rPr lang="en-US" dirty="0" smtClean="0">
                <a:sym typeface="Wingdings" pitchFamily="2" charset="2"/>
              </a:rPr>
              <a:t>NH</a:t>
            </a:r>
            <a:r>
              <a:rPr lang="en-US" baseline="-25000" dirty="0" smtClean="0">
                <a:sym typeface="Wingdings" pitchFamily="2" charset="2"/>
              </a:rPr>
              <a:t>3</a:t>
            </a:r>
            <a:r>
              <a:rPr lang="en-US" dirty="0" smtClean="0">
                <a:sym typeface="Wingdings" pitchFamily="2" charset="2"/>
              </a:rPr>
              <a:t> + </a:t>
            </a:r>
            <a:r>
              <a:rPr lang="en-US" dirty="0" err="1" smtClean="0">
                <a:sym typeface="Wingdings" pitchFamily="2" charset="2"/>
              </a:rPr>
              <a:t>HCl</a:t>
            </a:r>
            <a:r>
              <a:rPr lang="en-US" dirty="0" smtClean="0">
                <a:sym typeface="Wingdings" pitchFamily="2" charset="2"/>
              </a:rPr>
              <a:t> NH</a:t>
            </a:r>
            <a:r>
              <a:rPr lang="en-US" baseline="-25000" dirty="0" smtClean="0">
                <a:sym typeface="Wingdings" pitchFamily="2" charset="2"/>
              </a:rPr>
              <a:t>4</a:t>
            </a:r>
            <a:r>
              <a:rPr lang="en-US" dirty="0" smtClean="0">
                <a:sym typeface="Wingdings" pitchFamily="2" charset="2"/>
              </a:rPr>
              <a:t>Cl</a:t>
            </a:r>
            <a:endParaRPr lang="en-US" dirty="0" smtClean="0"/>
          </a:p>
          <a:p>
            <a:pPr marL="633222" indent="-514350">
              <a:buNone/>
            </a:pPr>
            <a:r>
              <a:rPr lang="en-US" dirty="0" smtClean="0"/>
              <a:t>CaCO</a:t>
            </a:r>
            <a:r>
              <a:rPr lang="en-US" baseline="-25000" dirty="0" smtClean="0"/>
              <a:t>3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err="1" smtClean="0">
                <a:sym typeface="Wingdings" pitchFamily="2" charset="2"/>
              </a:rPr>
              <a:t>CaO</a:t>
            </a:r>
            <a:r>
              <a:rPr lang="en-US" dirty="0" smtClean="0">
                <a:sym typeface="Wingdings" pitchFamily="2" charset="2"/>
              </a:rPr>
              <a:t> + CO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</a:t>
            </a:r>
          </a:p>
          <a:p>
            <a:pPr marL="633222" indent="-514350">
              <a:buNone/>
            </a:pPr>
            <a:r>
              <a:rPr lang="en-US" dirty="0" smtClean="0">
                <a:sym typeface="Wingdings" pitchFamily="2" charset="2"/>
              </a:rPr>
              <a:t>2KClO</a:t>
            </a:r>
            <a:r>
              <a:rPr lang="en-US" baseline="-25000" dirty="0" smtClean="0">
                <a:sym typeface="Wingdings" pitchFamily="2" charset="2"/>
              </a:rPr>
              <a:t>3 </a:t>
            </a:r>
            <a:r>
              <a:rPr lang="en-US" dirty="0" smtClean="0">
                <a:sym typeface="Wingdings" pitchFamily="2" charset="2"/>
              </a:rPr>
              <a:t>  2KCl + 3O</a:t>
            </a:r>
            <a:r>
              <a:rPr lang="en-US" baseline="-25000" dirty="0" smtClean="0">
                <a:sym typeface="Wingdings" pitchFamily="2" charset="2"/>
              </a:rPr>
              <a:t>2 </a:t>
            </a:r>
            <a:endParaRPr lang="en-US" altLang="zh-CN" dirty="0" smtClean="0"/>
          </a:p>
          <a:p>
            <a:pPr marL="633222" indent="-514350">
              <a:buNone/>
            </a:pPr>
            <a:r>
              <a:rPr lang="en-US" altLang="zh-CN" dirty="0" smtClean="0"/>
              <a:t>A + BC </a:t>
            </a:r>
            <a:r>
              <a:rPr lang="en-US" altLang="zh-CN" dirty="0" smtClean="0">
                <a:sym typeface="Wingdings" pitchFamily="2" charset="2"/>
              </a:rPr>
              <a:t> AC + B 	</a:t>
            </a:r>
          </a:p>
          <a:p>
            <a:pPr marL="633222" indent="-514350">
              <a:buNone/>
            </a:pPr>
            <a:r>
              <a:rPr lang="en-US" altLang="zh-CN" dirty="0" smtClean="0">
                <a:sym typeface="Wingdings" pitchFamily="2" charset="2"/>
              </a:rPr>
              <a:t>AB+CD  AD + CB</a:t>
            </a:r>
            <a:endParaRPr lang="en-US" altLang="zh-CN" dirty="0" smtClean="0"/>
          </a:p>
          <a:p>
            <a:pPr marL="633222" indent="-514350">
              <a:buFont typeface="+mj-lt"/>
              <a:buAutoNum type="arabicPeriod" startAt="2"/>
            </a:pPr>
            <a:r>
              <a:rPr lang="zh-CN" altLang="en-US" dirty="0" smtClean="0"/>
              <a:t>氧化还原反应的本质是电子转移。</a:t>
            </a:r>
            <a:endParaRPr lang="en-US" altLang="zh-CN" dirty="0" smtClean="0"/>
          </a:p>
          <a:p>
            <a:pPr marL="633222" indent="-514350"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置换反应一定是氧化还原反应。</a:t>
            </a:r>
            <a:endParaRPr lang="en-US" altLang="zh-CN" dirty="0" smtClean="0"/>
          </a:p>
          <a:p>
            <a:pPr marL="633222" indent="-514350">
              <a:buFont typeface="+mj-lt"/>
              <a:buAutoNum type="arabicPeriod" startAt="2"/>
            </a:pPr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4221481" y="1981200"/>
            <a:ext cx="274319" cy="685800"/>
          </a:xfrm>
          <a:prstGeom prst="righ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/>
          <p:cNvSpPr/>
          <p:nvPr/>
        </p:nvSpPr>
        <p:spPr>
          <a:xfrm>
            <a:off x="4221481" y="2971800"/>
            <a:ext cx="274319" cy="685800"/>
          </a:xfrm>
          <a:prstGeom prst="righ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648200" y="198120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化合反应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4648200" y="305818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分解反应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4627443" y="382018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置换反应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4648200" y="427738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复分解反应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6532443" y="1905000"/>
            <a:ext cx="827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</a:rPr>
              <a:t>C/D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53200" y="2996625"/>
            <a:ext cx="827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</a:rPr>
              <a:t>C/D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9400" y="3758625"/>
            <a:ext cx="453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</a:rPr>
              <a:t>A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9400" y="4201180"/>
            <a:ext cx="441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</a:rPr>
              <a:t>B</a:t>
            </a:r>
            <a:endParaRPr lang="en-US" sz="3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8.2.2 </a:t>
            </a:r>
            <a:r>
              <a:rPr lang="zh-CN" altLang="en-US" dirty="0" smtClean="0"/>
              <a:t>氧化数与氧化还原的关系</a:t>
            </a:r>
            <a:endParaRPr lang="en-MY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005840" y="1524000"/>
            <a:ext cx="813816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71800" y="2514600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0</a:t>
            </a:r>
            <a:endParaRPr lang="en-MY" sz="2000" dirty="0">
              <a:solidFill>
                <a:srgbClr val="FF0000"/>
              </a:solidFill>
            </a:endParaRPr>
          </a:p>
        </p:txBody>
      </p:sp>
      <p:sp>
        <p:nvSpPr>
          <p:cNvPr id="47" name="Content Placeholder 1"/>
          <p:cNvSpPr txBox="1">
            <a:spLocks/>
          </p:cNvSpPr>
          <p:nvPr/>
        </p:nvSpPr>
        <p:spPr>
          <a:xfrm>
            <a:off x="1752600" y="2743200"/>
            <a:ext cx="3657600" cy="685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CuO+H</a:t>
            </a:r>
            <a:r>
              <a:rPr kumimoji="0" lang="en-US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endParaRPr kumimoji="0" lang="en-MY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3962400" y="3059668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38800" y="2754868"/>
            <a:ext cx="182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/>
              <a:t>Cu+H</a:t>
            </a:r>
            <a:r>
              <a:rPr lang="en-US" sz="3000" baseline="-25000" dirty="0" smtClean="0"/>
              <a:t>2</a:t>
            </a:r>
            <a:r>
              <a:rPr lang="en-US" sz="3000" dirty="0" smtClean="0"/>
              <a:t>O</a:t>
            </a:r>
            <a:endParaRPr lang="en-MY" sz="3000" dirty="0"/>
          </a:p>
        </p:txBody>
      </p:sp>
      <p:grpSp>
        <p:nvGrpSpPr>
          <p:cNvPr id="50" name="Group 49"/>
          <p:cNvGrpSpPr/>
          <p:nvPr/>
        </p:nvGrpSpPr>
        <p:grpSpPr>
          <a:xfrm>
            <a:off x="2286000" y="2145268"/>
            <a:ext cx="3733800" cy="685800"/>
            <a:chOff x="2286000" y="1752600"/>
            <a:chExt cx="3429000" cy="685800"/>
          </a:xfrm>
        </p:grpSpPr>
        <p:cxnSp>
          <p:nvCxnSpPr>
            <p:cNvPr id="51" name="Elbow Connector 50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2971800" y="3124200"/>
            <a:ext cx="3581400" cy="685800"/>
            <a:chOff x="3048000" y="2971800"/>
            <a:chExt cx="3429000" cy="685800"/>
          </a:xfrm>
        </p:grpSpPr>
        <p:cxnSp>
          <p:nvCxnSpPr>
            <p:cNvPr id="54" name="Elbow Connector 53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/>
          <p:cNvSpPr txBox="1"/>
          <p:nvPr/>
        </p:nvSpPr>
        <p:spPr>
          <a:xfrm>
            <a:off x="2209800" y="1688068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</a:rPr>
              <a:t>得电子，氧</a:t>
            </a:r>
            <a:r>
              <a:rPr lang="zh-CN" altLang="en-US" sz="2800" b="1" dirty="0">
                <a:solidFill>
                  <a:srgbClr val="0070C0"/>
                </a:solidFill>
              </a:rPr>
              <a:t>化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数下降，被还原</a:t>
            </a:r>
            <a:endParaRPr lang="en-MY" sz="2800" b="1" dirty="0">
              <a:solidFill>
                <a:srgbClr val="0070C0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971800" y="3886200"/>
            <a:ext cx="4852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</a:rPr>
              <a:t>失电子，氧</a:t>
            </a:r>
            <a:r>
              <a:rPr lang="zh-CN" altLang="en-US" sz="2800" b="1" dirty="0">
                <a:solidFill>
                  <a:srgbClr val="0070C0"/>
                </a:solidFill>
              </a:rPr>
              <a:t>化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数上升，被氧化</a:t>
            </a:r>
            <a:endParaRPr lang="en-MY" sz="2800" b="1" dirty="0">
              <a:solidFill>
                <a:srgbClr val="0070C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715000" y="2526268"/>
            <a:ext cx="22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0</a:t>
            </a:r>
            <a:endParaRPr lang="en-MY" sz="2000" dirty="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828800" y="25146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+2</a:t>
            </a:r>
            <a:endParaRPr lang="en-MY" sz="2000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00800" y="2537936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+1</a:t>
            </a:r>
            <a:endParaRPr lang="en-MY" sz="2000" dirty="0">
              <a:solidFill>
                <a:srgbClr val="FF0000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2622829" y="4648200"/>
            <a:ext cx="3429000" cy="609600"/>
            <a:chOff x="1295401" y="4724400"/>
            <a:chExt cx="3048001" cy="609600"/>
          </a:xfrm>
        </p:grpSpPr>
        <p:sp>
          <p:nvSpPr>
            <p:cNvPr id="22" name="Content Placeholder 1"/>
            <p:cNvSpPr txBox="1">
              <a:spLocks/>
            </p:cNvSpPr>
            <p:nvPr/>
          </p:nvSpPr>
          <p:spPr>
            <a:xfrm>
              <a:off x="1295401" y="4836858"/>
              <a:ext cx="1529398" cy="497142"/>
            </a:xfrm>
            <a:prstGeom prst="rect">
              <a:avLst/>
            </a:prstGeom>
          </p:spPr>
          <p:txBody>
            <a:bodyPr>
              <a:normAutofit fontScale="92500" lnSpcReduction="20000"/>
            </a:bodyPr>
            <a:lstStyle/>
            <a:p>
              <a:pPr marL="365760" lvl="0" indent="-283464">
                <a:spcBef>
                  <a:spcPts val="600"/>
                </a:spcBef>
                <a:buClr>
                  <a:schemeClr val="accent1"/>
                </a:buClr>
                <a:buSzPct val="80000"/>
              </a:pPr>
              <a:r>
                <a:rPr lang="en-US" sz="3200" dirty="0" smtClean="0">
                  <a:latin typeface="Arial Rounded MT Bold" pitchFamily="34" charset="0"/>
                </a:rPr>
                <a:t>H</a:t>
              </a:r>
              <a:r>
                <a:rPr lang="en-US" sz="3200" baseline="-25000" dirty="0" smtClean="0">
                  <a:latin typeface="Arial Rounded MT Bold" pitchFamily="34" charset="0"/>
                </a:rPr>
                <a:t>2 </a:t>
              </a:r>
              <a:r>
                <a:rPr kumimoji="0" lang="en-US" sz="32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 Rounded MT Bold" pitchFamily="34" charset="0"/>
                </a:rPr>
                <a:t>	</a:t>
              </a:r>
              <a:endParaRPr kumimoji="0" lang="en-MY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</a:endParaRP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2079731" y="5029200"/>
              <a:ext cx="533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621598" y="4724400"/>
              <a:ext cx="172180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dirty="0" smtClean="0">
                  <a:latin typeface="Arial Rounded MT Bold" pitchFamily="34" charset="0"/>
                </a:rPr>
                <a:t>2H</a:t>
              </a:r>
              <a:r>
                <a:rPr lang="en-US" sz="3000" baseline="30000" dirty="0" smtClean="0">
                  <a:latin typeface="Arial Rounded MT Bold" pitchFamily="34" charset="0"/>
                </a:rPr>
                <a:t>+</a:t>
              </a:r>
              <a:r>
                <a:rPr lang="en-US" sz="2800" dirty="0" smtClean="0">
                  <a:latin typeface="Arial Rounded MT Bold" pitchFamily="34" charset="0"/>
                </a:rPr>
                <a:t> +</a:t>
              </a:r>
              <a:r>
                <a:rPr lang="en-US" altLang="zh-CN" sz="2800" dirty="0" smtClean="0">
                  <a:latin typeface="Arial Rounded MT Bold" pitchFamily="34" charset="0"/>
                </a:rPr>
                <a:t> 2e</a:t>
              </a:r>
              <a:r>
                <a:rPr lang="en-US" altLang="zh-CN" sz="2800" b="1" baseline="30000" dirty="0" smtClean="0">
                  <a:latin typeface="Arial Rounded MT Bold" pitchFamily="34" charset="0"/>
                </a:rPr>
                <a:t>-</a:t>
              </a:r>
              <a:endParaRPr lang="en-MY" sz="3000" baseline="30000" dirty="0">
                <a:latin typeface="Arial Rounded MT Bold" pitchFamily="34" charset="0"/>
              </a:endParaRPr>
            </a:p>
          </p:txBody>
        </p:sp>
      </p:grpSp>
      <p:sp>
        <p:nvSpPr>
          <p:cNvPr id="25" name="Rectangle 24"/>
          <p:cNvSpPr/>
          <p:nvPr/>
        </p:nvSpPr>
        <p:spPr>
          <a:xfrm>
            <a:off x="6204228" y="464820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氧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化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反应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2394228" y="5410200"/>
            <a:ext cx="3429000" cy="609600"/>
            <a:chOff x="1295400" y="4724400"/>
            <a:chExt cx="3429000" cy="609600"/>
          </a:xfrm>
        </p:grpSpPr>
        <p:sp>
          <p:nvSpPr>
            <p:cNvPr id="27" name="Content Placeholder 1"/>
            <p:cNvSpPr txBox="1">
              <a:spLocks/>
            </p:cNvSpPr>
            <p:nvPr/>
          </p:nvSpPr>
          <p:spPr>
            <a:xfrm>
              <a:off x="1295400" y="4836858"/>
              <a:ext cx="2133600" cy="497142"/>
            </a:xfrm>
            <a:prstGeom prst="rect">
              <a:avLst/>
            </a:prstGeom>
          </p:spPr>
          <p:txBody>
            <a:bodyPr>
              <a:normAutofit fontScale="92500" lnSpcReduction="20000"/>
            </a:bodyPr>
            <a:lstStyle/>
            <a:p>
              <a:pPr marL="365760" lvl="0" indent="-283464">
                <a:spcBef>
                  <a:spcPts val="600"/>
                </a:spcBef>
                <a:buClr>
                  <a:schemeClr val="accent1"/>
                </a:buClr>
                <a:buSzPct val="80000"/>
              </a:pPr>
              <a:r>
                <a:rPr lang="en-US" sz="3200" dirty="0" smtClean="0">
                  <a:latin typeface="Arial Rounded MT Bold" pitchFamily="34" charset="0"/>
                </a:rPr>
                <a:t>Cu</a:t>
              </a:r>
              <a:r>
                <a:rPr lang="en-US" sz="3200" baseline="30000" dirty="0" smtClean="0">
                  <a:latin typeface="Arial Rounded MT Bold" pitchFamily="34" charset="0"/>
                </a:rPr>
                <a:t>+2</a:t>
              </a:r>
              <a:r>
                <a:rPr lang="en-US" sz="3200" baseline="-25000" dirty="0" smtClean="0">
                  <a:latin typeface="Arial Rounded MT Bold" pitchFamily="34" charset="0"/>
                </a:rPr>
                <a:t> </a:t>
              </a:r>
              <a:r>
                <a:rPr lang="en-US" sz="3200" dirty="0">
                  <a:latin typeface="Arial Rounded MT Bold" pitchFamily="34" charset="0"/>
                </a:rPr>
                <a:t>+</a:t>
              </a:r>
              <a:r>
                <a:rPr lang="en-US" altLang="zh-CN" sz="3200" dirty="0" smtClean="0">
                  <a:latin typeface="Arial Rounded MT Bold" pitchFamily="34" charset="0"/>
                </a:rPr>
                <a:t> 2e</a:t>
              </a:r>
              <a:r>
                <a:rPr lang="en-US" altLang="zh-CN" sz="3200" b="1" baseline="30000" dirty="0" smtClean="0">
                  <a:latin typeface="Arial Rounded MT Bold" pitchFamily="34" charset="0"/>
                </a:rPr>
                <a:t>-</a:t>
              </a:r>
              <a:r>
                <a:rPr kumimoji="0" lang="en-US" sz="32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 Rounded MT Bold" pitchFamily="34" charset="0"/>
                </a:rPr>
                <a:t>	</a:t>
              </a:r>
              <a:endParaRPr kumimoji="0" lang="en-MY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</a:endParaRP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3276600" y="5029200"/>
              <a:ext cx="533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3886200" y="4724400"/>
              <a:ext cx="8382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dirty="0" smtClean="0">
                  <a:latin typeface="Arial Rounded MT Bold" pitchFamily="34" charset="0"/>
                </a:rPr>
                <a:t> Cu</a:t>
              </a:r>
              <a:endParaRPr lang="en-MY" sz="3000" baseline="30000" dirty="0">
                <a:latin typeface="Arial Rounded MT Bold" pitchFamily="34" charset="0"/>
              </a:endParaRPr>
            </a:p>
          </p:txBody>
        </p:sp>
      </p:grpSp>
      <p:sp>
        <p:nvSpPr>
          <p:cNvPr id="30" name="Rectangle 29"/>
          <p:cNvSpPr/>
          <p:nvPr/>
        </p:nvSpPr>
        <p:spPr>
          <a:xfrm>
            <a:off x="6204228" y="541020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还原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反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应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81000" y="46482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7030A0"/>
                </a:solidFill>
                <a:latin typeface="Arial Rounded MT Bold" pitchFamily="34" charset="0"/>
              </a:rPr>
              <a:t>半反应式</a:t>
            </a:r>
            <a:endParaRPr lang="en-MY" sz="32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9" grpId="0"/>
      <p:bldP spid="56" grpId="0"/>
      <p:bldP spid="57" grpId="0"/>
      <p:bldP spid="58" grpId="0"/>
      <p:bldP spid="59" grpId="0"/>
      <p:bldP spid="60" grpId="0"/>
      <p:bldP spid="25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 smtClean="0"/>
              <a:t>用箭号表示电子得失与氧化数的变化</a:t>
            </a:r>
            <a:endParaRPr lang="en-MY" sz="36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95400" y="2971800"/>
            <a:ext cx="3657600" cy="68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 smtClean="0">
                <a:latin typeface="Arial Rounded MT Bold" pitchFamily="34" charset="0"/>
              </a:rPr>
              <a:t>Zn + H</a:t>
            </a:r>
            <a:r>
              <a:rPr lang="en-US" altLang="zh-CN" baseline="-25000" dirty="0" smtClean="0">
                <a:latin typeface="Arial Rounded MT Bold" pitchFamily="34" charset="0"/>
              </a:rPr>
              <a:t>2</a:t>
            </a:r>
            <a:r>
              <a:rPr lang="en-US" altLang="zh-CN" dirty="0" smtClean="0">
                <a:latin typeface="Arial Rounded MT Bold" pitchFamily="34" charset="0"/>
              </a:rPr>
              <a:t> SO</a:t>
            </a:r>
            <a:r>
              <a:rPr lang="en-US" altLang="zh-CN" baseline="-25000" dirty="0" smtClean="0">
                <a:latin typeface="Arial Rounded MT Bold" pitchFamily="34" charset="0"/>
              </a:rPr>
              <a:t>4</a:t>
            </a:r>
            <a:r>
              <a:rPr lang="en-US" altLang="zh-CN" dirty="0" smtClean="0">
                <a:latin typeface="Arial Rounded MT Bold" pitchFamily="34" charset="0"/>
              </a:rPr>
              <a:t> </a:t>
            </a:r>
            <a:r>
              <a:rPr lang="en-US" dirty="0" smtClean="0">
                <a:latin typeface="Arial Rounded MT Bold" pitchFamily="34" charset="0"/>
              </a:rPr>
              <a:t>	</a:t>
            </a:r>
            <a:endParaRPr lang="en-MY" dirty="0">
              <a:latin typeface="Arial Rounded MT Bold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886200" y="32766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62600" y="2971800"/>
            <a:ext cx="289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Arial Rounded MT Bold" pitchFamily="34" charset="0"/>
                <a:sym typeface="Wingdings" pitchFamily="2" charset="2"/>
              </a:rPr>
              <a:t>ZnSO</a:t>
            </a:r>
            <a:r>
              <a:rPr lang="en-US" altLang="zh-CN" sz="3200" baseline="-25000" dirty="0" smtClean="0">
                <a:latin typeface="Arial Rounded MT Bold" pitchFamily="34" charset="0"/>
                <a:sym typeface="Wingdings" pitchFamily="2" charset="2"/>
              </a:rPr>
              <a:t>4</a:t>
            </a:r>
            <a:r>
              <a:rPr lang="en-US" altLang="zh-CN" sz="3200" dirty="0" smtClean="0">
                <a:latin typeface="Arial Rounded MT Bold" pitchFamily="34" charset="0"/>
                <a:sym typeface="Wingdings" pitchFamily="2" charset="2"/>
              </a:rPr>
              <a:t> +  H</a:t>
            </a:r>
            <a:r>
              <a:rPr lang="en-US" altLang="zh-CN" sz="3200" baseline="-25000" dirty="0" smtClean="0">
                <a:latin typeface="Arial Rounded MT Bold" pitchFamily="34" charset="0"/>
                <a:sym typeface="Wingdings" pitchFamily="2" charset="2"/>
              </a:rPr>
              <a:t>2</a:t>
            </a:r>
            <a:endParaRPr lang="en-MY" sz="3000" dirty="0">
              <a:latin typeface="Arial Rounded MT Bold" pitchFamily="34" charset="0"/>
            </a:endParaRPr>
          </a:p>
        </p:txBody>
      </p:sp>
      <p:grpSp>
        <p:nvGrpSpPr>
          <p:cNvPr id="4" name="Group 34"/>
          <p:cNvGrpSpPr/>
          <p:nvPr/>
        </p:nvGrpSpPr>
        <p:grpSpPr>
          <a:xfrm>
            <a:off x="1676400" y="2438400"/>
            <a:ext cx="40386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35"/>
          <p:cNvGrpSpPr/>
          <p:nvPr/>
        </p:nvGrpSpPr>
        <p:grpSpPr>
          <a:xfrm>
            <a:off x="2590800" y="3429000"/>
            <a:ext cx="49530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1828800" y="1828800"/>
            <a:ext cx="5000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失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去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2e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，氧化数上升，被氧化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43200" y="4277380"/>
            <a:ext cx="50000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得到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2e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，氧化数下降，被还原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002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150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384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676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5" grpId="0"/>
      <p:bldP spid="37" grpId="0"/>
      <p:bldP spid="38" grpId="0"/>
      <p:bldP spid="16" grpId="0"/>
      <p:bldP spid="17" grpId="0"/>
      <p:bldP spid="18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 smtClean="0"/>
              <a:t>用箭号表示电子得失与氧化数的变化</a:t>
            </a:r>
            <a:endParaRPr lang="en-MY" sz="36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76400" y="2971800"/>
            <a:ext cx="3657600" cy="68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 smtClean="0">
                <a:latin typeface="Arial Rounded MT Bold" pitchFamily="34" charset="0"/>
              </a:rPr>
              <a:t>2Fe+3Cl</a:t>
            </a:r>
            <a:r>
              <a:rPr lang="en-US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	</a:t>
            </a:r>
            <a:endParaRPr lang="en-MY" dirty="0">
              <a:latin typeface="Arial Rounded MT Bold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886200" y="32766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62600" y="2971800"/>
            <a:ext cx="182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Arial Rounded MT Bold" pitchFamily="34" charset="0"/>
              </a:rPr>
              <a:t>2</a:t>
            </a:r>
            <a:r>
              <a:rPr lang="en-US" altLang="zh-CN" sz="3000" dirty="0" smtClean="0">
                <a:latin typeface="Arial Rounded MT Bold" pitchFamily="34" charset="0"/>
              </a:rPr>
              <a:t>Fe</a:t>
            </a:r>
            <a:r>
              <a:rPr lang="en-US" sz="3000" dirty="0" smtClean="0">
                <a:latin typeface="Arial Rounded MT Bold" pitchFamily="34" charset="0"/>
              </a:rPr>
              <a:t>Cl</a:t>
            </a:r>
            <a:r>
              <a:rPr lang="en-US" altLang="zh-CN" sz="3000" baseline="-25000" dirty="0" smtClean="0">
                <a:latin typeface="Arial Rounded MT Bold" pitchFamily="34" charset="0"/>
              </a:rPr>
              <a:t>3</a:t>
            </a:r>
            <a:endParaRPr lang="en-MY" sz="3000" dirty="0">
              <a:latin typeface="Arial Rounded MT Bold" pitchFamily="34" charset="0"/>
            </a:endParaRPr>
          </a:p>
        </p:txBody>
      </p:sp>
      <p:grpSp>
        <p:nvGrpSpPr>
          <p:cNvPr id="4" name="Group 34"/>
          <p:cNvGrpSpPr/>
          <p:nvPr/>
        </p:nvGrpSpPr>
        <p:grpSpPr>
          <a:xfrm>
            <a:off x="2362200" y="2438400"/>
            <a:ext cx="36576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35"/>
          <p:cNvGrpSpPr/>
          <p:nvPr/>
        </p:nvGrpSpPr>
        <p:grpSpPr>
          <a:xfrm>
            <a:off x="3200400" y="3505200"/>
            <a:ext cx="34290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1828800" y="1828800"/>
            <a:ext cx="5000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失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去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6e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，氧化数上升，被氧化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43200" y="4277380"/>
            <a:ext cx="50000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得到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6e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，氧化数下降，被还原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860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198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+3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480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532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-</a:t>
            </a:r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5" grpId="0"/>
      <p:bldP spid="37" grpId="0"/>
      <p:bldP spid="38" grpId="0"/>
      <p:bldP spid="16" grpId="0"/>
      <p:bldP spid="17" grpId="0"/>
      <p:bldP spid="18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 smtClean="0"/>
              <a:t>用箭号表示电子得失与氧化数的变化</a:t>
            </a:r>
            <a:endParaRPr lang="en-MY" sz="36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971800"/>
            <a:ext cx="3657600" cy="68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 smtClean="0">
                <a:latin typeface="Arial Rounded MT Bold" pitchFamily="34" charset="0"/>
              </a:rPr>
              <a:t>Cu + 2AgNO</a:t>
            </a:r>
            <a:r>
              <a:rPr lang="en-US" altLang="zh-CN" baseline="-25000" dirty="0" smtClean="0">
                <a:latin typeface="Arial Rounded MT Bold" pitchFamily="34" charset="0"/>
              </a:rPr>
              <a:t>3</a:t>
            </a:r>
            <a:r>
              <a:rPr lang="en-US" dirty="0" smtClean="0">
                <a:latin typeface="Arial Rounded MT Bold" pitchFamily="34" charset="0"/>
              </a:rPr>
              <a:t>	</a:t>
            </a:r>
            <a:endParaRPr lang="en-MY" dirty="0">
              <a:latin typeface="Arial Rounded MT Bold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886200" y="32766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0" y="3027402"/>
            <a:ext cx="335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Arial Rounded MT Bold" pitchFamily="34" charset="0"/>
              </a:rPr>
              <a:t>Cu(NO</a:t>
            </a:r>
            <a:r>
              <a:rPr lang="en-US" sz="3000" baseline="-25000" dirty="0" smtClean="0">
                <a:latin typeface="Arial Rounded MT Bold" pitchFamily="34" charset="0"/>
              </a:rPr>
              <a:t>3</a:t>
            </a:r>
            <a:r>
              <a:rPr lang="en-US" sz="3000" dirty="0" smtClean="0">
                <a:latin typeface="Arial Rounded MT Bold" pitchFamily="34" charset="0"/>
              </a:rPr>
              <a:t>)</a:t>
            </a:r>
            <a:r>
              <a:rPr lang="en-US" sz="3000" baseline="-25000" dirty="0" smtClean="0">
                <a:latin typeface="Arial Rounded MT Bold" pitchFamily="34" charset="0"/>
              </a:rPr>
              <a:t>2</a:t>
            </a:r>
            <a:r>
              <a:rPr lang="en-US" sz="3000" dirty="0" smtClean="0">
                <a:latin typeface="Arial Rounded MT Bold" pitchFamily="34" charset="0"/>
              </a:rPr>
              <a:t> + 2Ag</a:t>
            </a:r>
            <a:endParaRPr lang="en-MY" sz="3000" dirty="0">
              <a:latin typeface="Arial Rounded MT Bold" pitchFamily="34" charset="0"/>
            </a:endParaRPr>
          </a:p>
        </p:txBody>
      </p:sp>
      <p:grpSp>
        <p:nvGrpSpPr>
          <p:cNvPr id="4" name="Group 34"/>
          <p:cNvGrpSpPr/>
          <p:nvPr/>
        </p:nvGrpSpPr>
        <p:grpSpPr>
          <a:xfrm>
            <a:off x="1447800" y="2438400"/>
            <a:ext cx="45720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35"/>
          <p:cNvGrpSpPr/>
          <p:nvPr/>
        </p:nvGrpSpPr>
        <p:grpSpPr>
          <a:xfrm>
            <a:off x="2667000" y="3505200"/>
            <a:ext cx="53340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1828800" y="1828800"/>
            <a:ext cx="5000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失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去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2e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，氧化数上升，被氧化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43200" y="4277380"/>
            <a:ext cx="50000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得到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2e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，氧化数下降，被还原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68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626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384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010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5" grpId="0"/>
      <p:bldP spid="37" grpId="0"/>
      <p:bldP spid="38" grpId="0"/>
      <p:bldP spid="16" grpId="0"/>
      <p:bldP spid="17" grpId="0"/>
      <p:bldP spid="18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写出下列反应的半反应式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3222" indent="-514350">
              <a:buFont typeface="+mj-lt"/>
              <a:buAutoNum type="arabicPeriod"/>
            </a:pPr>
            <a:r>
              <a:rPr lang="en-US" altLang="zh-CN" dirty="0" smtClean="0">
                <a:latin typeface="Arial Narrow" pitchFamily="34" charset="0"/>
              </a:rPr>
              <a:t>Zn + H</a:t>
            </a:r>
            <a:r>
              <a:rPr lang="en-US" altLang="zh-CN" baseline="-25000" dirty="0" smtClean="0">
                <a:latin typeface="Arial Narrow" pitchFamily="34" charset="0"/>
              </a:rPr>
              <a:t>2</a:t>
            </a:r>
            <a:r>
              <a:rPr lang="en-US" altLang="zh-CN" dirty="0" smtClean="0">
                <a:latin typeface="Arial Narrow" pitchFamily="34" charset="0"/>
              </a:rPr>
              <a:t> SO</a:t>
            </a:r>
            <a:r>
              <a:rPr lang="en-US" altLang="zh-CN" baseline="-25000" dirty="0" smtClean="0">
                <a:latin typeface="Arial Narrow" pitchFamily="34" charset="0"/>
              </a:rPr>
              <a:t>4</a:t>
            </a:r>
            <a:r>
              <a:rPr lang="en-US" altLang="zh-CN" dirty="0" smtClean="0">
                <a:latin typeface="Arial Narrow" pitchFamily="34" charset="0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ZnSO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</a:t>
            </a:r>
          </a:p>
          <a:p>
            <a:pPr marL="633222" indent="-514350">
              <a:buFont typeface="+mj-lt"/>
              <a:buAutoNum type="arabicPeriod"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Fe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Cl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2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Fe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Cl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Cu +  2 AgNO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  2Ag  + Cu (NO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54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+6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908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290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100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+6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910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95400" y="2286000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Zn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Zn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+2e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        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氧化反应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95400" y="2667000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2H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+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 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H</a:t>
            </a:r>
            <a:r>
              <a:rPr lang="en-US" altLang="zh-CN" sz="2400" b="1" baseline="-25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	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还原反应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47800" y="3124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09800" y="3124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05200" y="31050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</a:t>
            </a:r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3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62400" y="31050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95400" y="3729335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2Fe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2Fe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3+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6e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        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氧化反应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95400" y="4038600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3Cl</a:t>
            </a:r>
            <a:r>
              <a:rPr lang="en-US" altLang="zh-CN" sz="2400" b="1" baseline="-25000" dirty="0" smtClean="0">
                <a:solidFill>
                  <a:srgbClr val="002060"/>
                </a:solidFill>
                <a:latin typeface="Arial Narrow" pitchFamily="34" charset="0"/>
              </a:rPr>
              <a:t>2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+6e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6 </a:t>
            </a:r>
            <a:r>
              <a:rPr lang="en-US" altLang="zh-CN" sz="2400" b="1" dirty="0" err="1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Cl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         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还原反应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954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954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290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288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860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908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+5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718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672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816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38800" y="4552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+5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0" y="4552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954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816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860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2672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95400" y="5253335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Cu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Cu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+2e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        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氧化反应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19200" y="5634335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2Ag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+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 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2Ag	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还原反应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26336" y="6107668"/>
            <a:ext cx="8084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化学方程式</a:t>
            </a:r>
            <a:r>
              <a:rPr lang="zh-CN" altLang="en-US" sz="2800" dirty="0" smtClean="0">
                <a:solidFill>
                  <a:srgbClr val="C00000"/>
                </a:solidFill>
              </a:rPr>
              <a:t>已配平</a:t>
            </a:r>
            <a:r>
              <a:rPr lang="zh-CN" altLang="en-US" sz="2800" dirty="0" smtClean="0"/>
              <a:t>，半反应式中</a:t>
            </a:r>
            <a:r>
              <a:rPr lang="zh-CN" altLang="en-US" sz="2800" dirty="0" smtClean="0">
                <a:solidFill>
                  <a:srgbClr val="C00000"/>
                </a:solidFill>
              </a:rPr>
              <a:t>电子得失</a:t>
            </a:r>
            <a:r>
              <a:rPr lang="zh-CN" altLang="en-US" sz="2800" dirty="0" smtClean="0"/>
              <a:t>必然</a:t>
            </a:r>
            <a:r>
              <a:rPr lang="zh-CN" altLang="en-US" sz="2800" dirty="0" smtClean="0">
                <a:solidFill>
                  <a:srgbClr val="C00000"/>
                </a:solidFill>
              </a:rPr>
              <a:t>相同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7" grpId="0"/>
      <p:bldP spid="38" grpId="0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思考题</a:t>
            </a:r>
            <a:r>
              <a:rPr lang="en-US" altLang="zh-CN" dirty="0" smtClean="0"/>
              <a:t>8b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是否有氧化数改变。</a:t>
            </a:r>
            <a:endParaRPr lang="en-US" altLang="zh-CN" dirty="0" smtClean="0"/>
          </a:p>
          <a:p>
            <a:r>
              <a:rPr lang="zh-CN" altLang="en-US" dirty="0" smtClean="0"/>
              <a:t>失电子，氧化数上升，被氧化。</a:t>
            </a:r>
            <a:endParaRPr lang="en-US" altLang="zh-CN" dirty="0" smtClean="0"/>
          </a:p>
          <a:p>
            <a:r>
              <a:rPr lang="zh-CN" altLang="en-US" dirty="0" smtClean="0"/>
              <a:t>得电子，氧化数下降，被还原。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76400" y="2971800"/>
            <a:ext cx="3657600" cy="68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latin typeface="Arial Rounded MT Bold" pitchFamily="34" charset="0"/>
              </a:rPr>
              <a:t>CuO+H</a:t>
            </a:r>
            <a:r>
              <a:rPr lang="en-US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		</a:t>
            </a:r>
            <a:endParaRPr lang="en-MY" dirty="0">
              <a:latin typeface="Arial Rounded MT Bold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886200" y="32766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62600" y="2971800"/>
            <a:ext cx="182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Arial Rounded MT Bold" pitchFamily="34" charset="0"/>
              </a:rPr>
              <a:t>Cu+H</a:t>
            </a:r>
            <a:r>
              <a:rPr lang="en-US" sz="3000" baseline="-25000" dirty="0" smtClean="0">
                <a:latin typeface="Arial Rounded MT Bold" pitchFamily="34" charset="0"/>
              </a:rPr>
              <a:t>2</a:t>
            </a:r>
            <a:r>
              <a:rPr lang="en-US" sz="3000" dirty="0" smtClean="0">
                <a:latin typeface="Arial Rounded MT Bold" pitchFamily="34" charset="0"/>
              </a:rPr>
              <a:t>O</a:t>
            </a:r>
            <a:endParaRPr lang="en-MY" sz="3000" dirty="0">
              <a:latin typeface="Arial Rounded MT Bold" pitchFamily="34" charset="0"/>
            </a:endParaRPr>
          </a:p>
        </p:txBody>
      </p:sp>
      <p:grpSp>
        <p:nvGrpSpPr>
          <p:cNvPr id="4" name="Group 34"/>
          <p:cNvGrpSpPr/>
          <p:nvPr/>
        </p:nvGrpSpPr>
        <p:grpSpPr>
          <a:xfrm>
            <a:off x="2286000" y="2438400"/>
            <a:ext cx="34290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35"/>
          <p:cNvGrpSpPr/>
          <p:nvPr/>
        </p:nvGrpSpPr>
        <p:grpSpPr>
          <a:xfrm>
            <a:off x="3124200" y="3505200"/>
            <a:ext cx="34290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1828800" y="1905000"/>
            <a:ext cx="4937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</a:rPr>
              <a:t>得到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</a:rPr>
              <a:t>2e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</a:rPr>
              <a:t>-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</a:rPr>
              <a:t>，氧化数下降，被还原</a:t>
            </a:r>
            <a:endParaRPr lang="en-MY" sz="2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895600" y="4191000"/>
            <a:ext cx="49375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</a:rPr>
              <a:t>失去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</a:rPr>
              <a:t>2e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</a:rPr>
              <a:t>-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</a:rPr>
              <a:t>，氧化数上升，被氧化</a:t>
            </a:r>
            <a:endParaRPr lang="en-MY" sz="2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91200" y="27240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718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600" y="2743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en-US" altLang="zh-CN" dirty="0" smtClean="0"/>
              <a:t>8.3 </a:t>
            </a:r>
            <a:r>
              <a:rPr lang="zh-CN" altLang="en-US" dirty="0" smtClean="0"/>
              <a:t>氧化剂与还原剂</a:t>
            </a:r>
            <a:endParaRPr lang="en-MY" dirty="0"/>
          </a:p>
        </p:txBody>
      </p:sp>
      <p:sp>
        <p:nvSpPr>
          <p:cNvPr id="22" name="Rectangle 21"/>
          <p:cNvSpPr/>
          <p:nvPr/>
        </p:nvSpPr>
        <p:spPr>
          <a:xfrm>
            <a:off x="609600" y="4886980"/>
            <a:ext cx="84529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/>
              <a:t>氢气在此反应中，作为还原剂，</a:t>
            </a:r>
            <a:r>
              <a:rPr lang="en-US" altLang="zh-CN" sz="2800" b="1" dirty="0" smtClean="0"/>
              <a:t>H</a:t>
            </a:r>
            <a:r>
              <a:rPr lang="en-US" altLang="zh-CN" sz="2800" b="1" baseline="-25000" dirty="0" smtClean="0"/>
              <a:t>2</a:t>
            </a:r>
            <a:r>
              <a:rPr lang="zh-CN" altLang="en-US" sz="2800" b="1" dirty="0" smtClean="0"/>
              <a:t>将</a:t>
            </a:r>
            <a:r>
              <a:rPr lang="en-US" altLang="zh-CN" sz="2800" b="1" dirty="0" smtClean="0"/>
              <a:t>Cu</a:t>
            </a:r>
            <a:r>
              <a:rPr lang="en-US" altLang="zh-CN" sz="2800" b="1" baseline="30000" dirty="0" smtClean="0"/>
              <a:t>2+</a:t>
            </a:r>
            <a:r>
              <a:rPr lang="en-US" altLang="zh-CN" sz="2800" b="1" dirty="0" smtClean="0"/>
              <a:t> </a:t>
            </a:r>
            <a:r>
              <a:rPr lang="zh-CN" altLang="en-US" sz="2800" b="1" dirty="0" smtClean="0"/>
              <a:t>还原为</a:t>
            </a:r>
            <a:r>
              <a:rPr lang="en-US" altLang="zh-CN" sz="2800" b="1" dirty="0" smtClean="0"/>
              <a:t>Cu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76400" y="2971800"/>
            <a:ext cx="3657600" cy="68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 smtClean="0">
                <a:latin typeface="Arial Rounded MT Bold" pitchFamily="34" charset="0"/>
              </a:rPr>
              <a:t>2Na+H</a:t>
            </a:r>
            <a:r>
              <a:rPr lang="en-US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	</a:t>
            </a:r>
            <a:endParaRPr lang="en-MY" dirty="0">
              <a:latin typeface="Arial Rounded MT Bold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886200" y="32766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62600" y="2971800"/>
            <a:ext cx="182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Arial Rounded MT Bold" pitchFamily="34" charset="0"/>
              </a:rPr>
              <a:t>2Na</a:t>
            </a:r>
            <a:r>
              <a:rPr lang="en-US" altLang="zh-CN" sz="3000" dirty="0" smtClean="0">
                <a:latin typeface="Arial Rounded MT Bold" pitchFamily="34" charset="0"/>
              </a:rPr>
              <a:t>H</a:t>
            </a:r>
            <a:endParaRPr lang="en-MY" sz="3000" dirty="0">
              <a:latin typeface="Arial Rounded MT Bold" pitchFamily="34" charset="0"/>
            </a:endParaRPr>
          </a:p>
        </p:txBody>
      </p:sp>
      <p:grpSp>
        <p:nvGrpSpPr>
          <p:cNvPr id="4" name="Group 34"/>
          <p:cNvGrpSpPr/>
          <p:nvPr/>
        </p:nvGrpSpPr>
        <p:grpSpPr>
          <a:xfrm>
            <a:off x="2362200" y="2438400"/>
            <a:ext cx="36576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35"/>
          <p:cNvGrpSpPr/>
          <p:nvPr/>
        </p:nvGrpSpPr>
        <p:grpSpPr>
          <a:xfrm>
            <a:off x="3200400" y="3505200"/>
            <a:ext cx="34290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1905000" y="1828800"/>
            <a:ext cx="5000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失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去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2e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，氧化数上升，被氧化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895600" y="4267200"/>
            <a:ext cx="50000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得到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2e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r>
              <a:rPr lang="zh-CN" altLang="en-US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，氧化数下降，被还原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860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198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480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532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-</a:t>
            </a:r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609600" y="152400"/>
            <a:ext cx="8229600" cy="1252728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satMod val="1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8.3 </a:t>
            </a:r>
            <a:r>
              <a:rPr kumimoji="0" lang="zh-CN" altLang="en-US" sz="45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satMod val="1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氧化剂与还原剂</a:t>
            </a:r>
            <a:endParaRPr kumimoji="0" lang="en-MY" sz="45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satMod val="15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84317" y="5039380"/>
            <a:ext cx="84577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/>
              <a:t>氢气在此反应中，作为氧化剂，它将</a:t>
            </a:r>
            <a:r>
              <a:rPr lang="en-US" altLang="zh-CN" sz="2800" b="1" dirty="0" smtClean="0"/>
              <a:t>Na</a:t>
            </a:r>
            <a:r>
              <a:rPr lang="zh-CN" altLang="en-US" sz="2800" b="1" dirty="0" smtClean="0"/>
              <a:t>氧化为</a:t>
            </a:r>
            <a:r>
              <a:rPr lang="en-US" altLang="zh-CN" sz="2800" b="1" dirty="0" smtClean="0"/>
              <a:t>Na</a:t>
            </a:r>
            <a:r>
              <a:rPr lang="en-US" altLang="zh-CN" sz="2800" b="1" baseline="30000" dirty="0" smtClean="0"/>
              <a:t>+</a:t>
            </a:r>
            <a:r>
              <a:rPr lang="en-US" altLang="zh-CN" sz="2800" b="1" dirty="0" smtClean="0"/>
              <a:t> 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8.3 </a:t>
            </a:r>
            <a:r>
              <a:rPr lang="zh-CN" altLang="en-US" dirty="0" smtClean="0"/>
              <a:t>氧化剂与还原剂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76400"/>
            <a:ext cx="8229600" cy="4495800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zh-CN" altLang="en-US" dirty="0" smtClean="0">
                <a:solidFill>
                  <a:srgbClr val="7030A0"/>
                </a:solidFill>
              </a:rPr>
              <a:t>失去电子，本身被氧化的物质就是还原剂。         </a:t>
            </a:r>
            <a:endParaRPr lang="en-US" altLang="zh-CN" dirty="0" smtClean="0">
              <a:solidFill>
                <a:srgbClr val="7030A0"/>
              </a:solidFill>
            </a:endParaRPr>
          </a:p>
          <a:p>
            <a:pPr>
              <a:spcAft>
                <a:spcPts val="1200"/>
              </a:spcAft>
              <a:buNone/>
            </a:pPr>
            <a:r>
              <a:rPr lang="en-US" altLang="zh-CN" dirty="0" smtClean="0">
                <a:solidFill>
                  <a:srgbClr val="7030A0"/>
                </a:solidFill>
              </a:rPr>
              <a:t>	</a:t>
            </a:r>
            <a:r>
              <a:rPr lang="zh-CN" altLang="en-US" dirty="0" smtClean="0">
                <a:solidFill>
                  <a:srgbClr val="7030A0"/>
                </a:solidFill>
              </a:rPr>
              <a:t>还原剂中某元素的氧化数升高。</a:t>
            </a:r>
            <a:endParaRPr lang="en-US" altLang="zh-CN" dirty="0" smtClean="0">
              <a:solidFill>
                <a:srgbClr val="7030A0"/>
              </a:solidFill>
            </a:endParaRPr>
          </a:p>
          <a:p>
            <a:pPr>
              <a:spcAft>
                <a:spcPts val="1200"/>
              </a:spcAft>
              <a:buNone/>
            </a:pPr>
            <a:endParaRPr lang="en-US" dirty="0" smtClean="0">
              <a:solidFill>
                <a:srgbClr val="7030A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dirty="0" smtClean="0">
                <a:solidFill>
                  <a:srgbClr val="002060"/>
                </a:solidFill>
              </a:rPr>
              <a:t>得到电子、本身被还原的物质就是氧化剂。</a:t>
            </a:r>
            <a:r>
              <a:rPr lang="en-US" altLang="zh-CN" dirty="0" smtClean="0">
                <a:solidFill>
                  <a:srgbClr val="002060"/>
                </a:solidFill>
              </a:rPr>
              <a:t>          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dirty="0" smtClean="0">
                <a:solidFill>
                  <a:srgbClr val="002060"/>
                </a:solidFill>
              </a:rPr>
              <a:t>	</a:t>
            </a:r>
            <a:r>
              <a:rPr lang="zh-CN" altLang="en-US" dirty="0" smtClean="0">
                <a:solidFill>
                  <a:srgbClr val="002060"/>
                </a:solidFill>
              </a:rPr>
              <a:t>氧化剂中某元素的氧化数降低。</a:t>
            </a:r>
            <a:endParaRPr lang="en-US" altLang="zh-CN" dirty="0" smtClean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altLang="zh-CN" dirty="0" smtClean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dirty="0" smtClean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一种物质是还原剂还是氧化剂，不是绝对的，要依它在某一反应中所起的作用而定。</a:t>
            </a:r>
            <a:endParaRPr lang="en-US" altLang="zh-CN" dirty="0" smtClean="0">
              <a:solidFill>
                <a:srgbClr val="00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005840" y="1524000"/>
            <a:ext cx="813816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 Narrow" pitchFamily="34" charset="0"/>
              </a:rPr>
              <a:t>注意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5257800"/>
          </a:xfrm>
        </p:spPr>
        <p:txBody>
          <a:bodyPr>
            <a:noAutofit/>
          </a:bodyPr>
          <a:lstStyle/>
          <a:p>
            <a:r>
              <a:rPr lang="zh-CN" altLang="en-US" sz="2800" dirty="0" smtClean="0">
                <a:latin typeface="+mn-ea"/>
              </a:rPr>
              <a:t>某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原子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离子</a:t>
            </a:r>
            <a:r>
              <a:rPr lang="zh-CN" altLang="en-US" sz="2800" dirty="0" smtClean="0">
                <a:latin typeface="+mn-ea"/>
              </a:rPr>
              <a:t>被氧化</a:t>
            </a:r>
            <a:r>
              <a:rPr lang="en-US" altLang="zh-CN" sz="2800" dirty="0" smtClean="0">
                <a:latin typeface="+mn-ea"/>
              </a:rPr>
              <a:t>/</a:t>
            </a:r>
            <a:r>
              <a:rPr lang="zh-CN" altLang="en-US" sz="2800" dirty="0" smtClean="0">
                <a:latin typeface="+mn-ea"/>
              </a:rPr>
              <a:t>被还原。</a:t>
            </a:r>
            <a:endParaRPr lang="en-US" altLang="zh-CN" sz="2800" dirty="0" smtClean="0">
              <a:latin typeface="+mn-ea"/>
            </a:endParaRPr>
          </a:p>
          <a:p>
            <a:pPr>
              <a:buNone/>
            </a:pPr>
            <a:endParaRPr lang="en-US" altLang="zh-CN" sz="2800" dirty="0" smtClean="0">
              <a:latin typeface="+mn-ea"/>
            </a:endParaRPr>
          </a:p>
          <a:p>
            <a:r>
              <a:rPr lang="zh-CN" altLang="en-US" sz="2800" dirty="0" smtClean="0">
                <a:solidFill>
                  <a:srgbClr val="7030A0"/>
                </a:solidFill>
                <a:latin typeface="+mn-ea"/>
              </a:rPr>
              <a:t>反应物中</a:t>
            </a:r>
            <a:r>
              <a:rPr lang="zh-CN" altLang="en-US" sz="2800" dirty="0" smtClean="0">
                <a:latin typeface="+mn-ea"/>
              </a:rPr>
              <a:t>的某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物质</a:t>
            </a:r>
            <a:r>
              <a:rPr lang="zh-CN" altLang="en-US" sz="2800" dirty="0" smtClean="0">
                <a:latin typeface="+mn-ea"/>
              </a:rPr>
              <a:t>作为还原剂</a:t>
            </a:r>
            <a:r>
              <a:rPr lang="en-US" altLang="zh-CN" sz="2800" dirty="0" smtClean="0">
                <a:latin typeface="+mn-ea"/>
              </a:rPr>
              <a:t>/</a:t>
            </a:r>
            <a:r>
              <a:rPr lang="zh-CN" altLang="en-US" sz="2800" dirty="0" smtClean="0">
                <a:latin typeface="+mn-ea"/>
              </a:rPr>
              <a:t>氧化剂。</a:t>
            </a:r>
            <a:endParaRPr lang="en-US" altLang="zh-CN" sz="2800" dirty="0" smtClean="0">
              <a:latin typeface="+mn-ea"/>
            </a:endParaRPr>
          </a:p>
          <a:p>
            <a:endParaRPr lang="en-US" sz="2800" dirty="0" smtClean="0">
              <a:latin typeface="+mn-ea"/>
            </a:endParaRPr>
          </a:p>
          <a:p>
            <a:pPr>
              <a:buNone/>
            </a:pPr>
            <a:r>
              <a:rPr lang="zh-CN" altLang="en-US" sz="2800" dirty="0" smtClean="0">
                <a:latin typeface="+mn-ea"/>
              </a:rPr>
              <a:t>例</a:t>
            </a:r>
            <a:r>
              <a:rPr lang="en-US" altLang="zh-CN" sz="2800" dirty="0" smtClean="0">
                <a:latin typeface="+mn-ea"/>
              </a:rPr>
              <a:t>1</a:t>
            </a:r>
            <a:r>
              <a:rPr lang="zh-CN" altLang="en-US" sz="2800" dirty="0" smtClean="0">
                <a:latin typeface="+mn-ea"/>
              </a:rPr>
              <a:t>：  </a:t>
            </a:r>
            <a:r>
              <a:rPr lang="en-US" altLang="zh-CN" sz="2800" dirty="0" err="1" smtClean="0">
                <a:latin typeface="+mn-ea"/>
              </a:rPr>
              <a:t>CuO</a:t>
            </a:r>
            <a:r>
              <a:rPr lang="en-US" altLang="zh-CN" sz="2800" dirty="0" smtClean="0">
                <a:latin typeface="+mn-ea"/>
              </a:rPr>
              <a:t> + H</a:t>
            </a:r>
            <a:r>
              <a:rPr lang="en-US" altLang="zh-CN" sz="2800" baseline="-25000" dirty="0" smtClean="0">
                <a:latin typeface="+mn-ea"/>
              </a:rPr>
              <a:t>2</a:t>
            </a:r>
            <a:r>
              <a:rPr lang="en-US" altLang="zh-CN" sz="2800" dirty="0" smtClean="0">
                <a:latin typeface="+mn-ea"/>
              </a:rPr>
              <a:t>  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  Cu + H</a:t>
            </a:r>
            <a:r>
              <a:rPr lang="en-US" altLang="zh-CN" sz="2800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O</a:t>
            </a:r>
          </a:p>
          <a:p>
            <a:pPr>
              <a:buNone/>
            </a:pPr>
            <a:r>
              <a:rPr lang="en-US" sz="2800" dirty="0" smtClean="0">
                <a:latin typeface="+mn-ea"/>
                <a:sym typeface="Wingdings" pitchFamily="2" charset="2"/>
              </a:rPr>
              <a:t>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氢气是</a:t>
            </a:r>
            <a:r>
              <a:rPr lang="zh-CN" altLang="en-US" sz="2800" u="sng" dirty="0" smtClean="0">
                <a:latin typeface="+mn-ea"/>
                <a:sym typeface="Wingdings" pitchFamily="2" charset="2"/>
              </a:rPr>
              <a:t>            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，它将</a:t>
            </a:r>
            <a:r>
              <a:rPr lang="zh-CN" altLang="en-US" sz="2800" u="sng" dirty="0" smtClean="0">
                <a:latin typeface="+mn-ea"/>
                <a:sym typeface="Wingdings" pitchFamily="2" charset="2"/>
              </a:rPr>
              <a:t>        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还原为</a:t>
            </a:r>
            <a:r>
              <a:rPr lang="en-US" altLang="zh-CN" sz="2800" u="sng" dirty="0" smtClean="0">
                <a:latin typeface="+mn-ea"/>
                <a:sym typeface="Wingdings" pitchFamily="2" charset="2"/>
              </a:rPr>
              <a:t>     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。</a:t>
            </a:r>
            <a:endParaRPr lang="en-US" altLang="zh-CN" sz="2800" dirty="0" smtClean="0">
              <a:latin typeface="+mn-ea"/>
              <a:sym typeface="Wingdings" pitchFamily="2" charset="2"/>
            </a:endParaRPr>
          </a:p>
          <a:p>
            <a:pPr>
              <a:buNone/>
            </a:pPr>
            <a:r>
              <a:rPr lang="en-US" sz="2800" dirty="0" smtClean="0">
                <a:latin typeface="+mn-ea"/>
                <a:sym typeface="Wingdings" pitchFamily="2" charset="2"/>
              </a:rPr>
              <a:t>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氧化剂是</a:t>
            </a:r>
            <a:r>
              <a:rPr lang="en-US" altLang="zh-CN" sz="2800" u="sng" dirty="0" smtClean="0">
                <a:latin typeface="+mn-ea"/>
                <a:sym typeface="Wingdings" pitchFamily="2" charset="2"/>
              </a:rPr>
              <a:t>		  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，它将</a:t>
            </a:r>
            <a:r>
              <a:rPr lang="en-US" altLang="zh-CN" sz="2800" u="sng" baseline="-25000" dirty="0" smtClean="0">
                <a:latin typeface="+mn-ea"/>
                <a:sym typeface="Wingdings" pitchFamily="2" charset="2"/>
              </a:rPr>
              <a:t> </a:t>
            </a:r>
            <a:r>
              <a:rPr lang="en-US" altLang="zh-CN" sz="2800" u="sng" dirty="0" smtClean="0">
                <a:latin typeface="+mn-ea"/>
                <a:sym typeface="Wingdings" pitchFamily="2" charset="2"/>
              </a:rPr>
              <a:t>       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氧化为</a:t>
            </a:r>
            <a:r>
              <a:rPr lang="zh-CN" altLang="en-US" sz="2800" u="sng" dirty="0" smtClean="0">
                <a:latin typeface="+mn-ea"/>
                <a:sym typeface="Wingdings" pitchFamily="2" charset="2"/>
              </a:rPr>
              <a:t>        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。</a:t>
            </a:r>
            <a:endParaRPr lang="en-US" altLang="zh-CN" sz="2800" dirty="0" smtClean="0">
              <a:latin typeface="+mn-ea"/>
              <a:sym typeface="Wingdings" pitchFamily="2" charset="2"/>
            </a:endParaRPr>
          </a:p>
          <a:p>
            <a:pPr>
              <a:buNone/>
            </a:pPr>
            <a:endParaRPr lang="en-US" altLang="zh-CN" sz="2800" dirty="0" smtClean="0">
              <a:latin typeface="+mn-ea"/>
            </a:endParaRPr>
          </a:p>
          <a:p>
            <a:pPr>
              <a:buNone/>
            </a:pPr>
            <a:r>
              <a:rPr lang="zh-CN" altLang="en-US" sz="2800" dirty="0" smtClean="0">
                <a:latin typeface="+mn-ea"/>
              </a:rPr>
              <a:t>例</a:t>
            </a:r>
            <a:r>
              <a:rPr lang="en-US" altLang="zh-CN" sz="2800" dirty="0" smtClean="0">
                <a:latin typeface="+mn-ea"/>
              </a:rPr>
              <a:t>2</a:t>
            </a:r>
            <a:r>
              <a:rPr lang="zh-CN" altLang="en-US" sz="2800" dirty="0" smtClean="0">
                <a:latin typeface="+mn-ea"/>
              </a:rPr>
              <a:t>：</a:t>
            </a:r>
            <a:r>
              <a:rPr lang="en-US" altLang="zh-CN" sz="2800" dirty="0" smtClean="0">
                <a:latin typeface="+mn-ea"/>
              </a:rPr>
              <a:t>Zn+ 2 </a:t>
            </a:r>
            <a:r>
              <a:rPr lang="en-US" altLang="zh-CN" sz="2800" dirty="0" err="1" smtClean="0">
                <a:latin typeface="+mn-ea"/>
              </a:rPr>
              <a:t>HCl</a:t>
            </a:r>
            <a:r>
              <a:rPr lang="en-US" altLang="zh-CN" sz="2800" dirty="0" smtClean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 ZnCl</a:t>
            </a:r>
            <a:r>
              <a:rPr lang="en-US" altLang="zh-CN" sz="2800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 + H</a:t>
            </a:r>
            <a:r>
              <a:rPr lang="en-US" altLang="zh-CN" sz="2800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2800" dirty="0">
                <a:latin typeface="+mn-ea"/>
                <a:sym typeface="Wingdings" pitchFamily="2" charset="2"/>
              </a:rPr>
              <a:t> 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2800" dirty="0" smtClean="0">
                <a:latin typeface="+mn-ea"/>
                <a:sym typeface="Wingdings" pitchFamily="2" charset="2"/>
              </a:rPr>
              <a:t>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锌是</a:t>
            </a:r>
            <a:r>
              <a:rPr lang="en-US" altLang="zh-CN" sz="2800" u="sng" dirty="0" smtClean="0">
                <a:latin typeface="+mn-ea"/>
                <a:sym typeface="Wingdings" pitchFamily="2" charset="2"/>
              </a:rPr>
              <a:t>	  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，它将</a:t>
            </a:r>
            <a:r>
              <a:rPr lang="zh-CN" altLang="en-US" sz="2800" u="sng" dirty="0" smtClean="0">
                <a:latin typeface="+mn-ea"/>
                <a:sym typeface="Wingdings" pitchFamily="2" charset="2"/>
              </a:rPr>
              <a:t>          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还原为</a:t>
            </a:r>
            <a:r>
              <a:rPr lang="en-US" altLang="zh-CN" sz="2800" u="sng" dirty="0" smtClean="0">
                <a:latin typeface="+mn-ea"/>
                <a:sym typeface="Wingdings" pitchFamily="2" charset="2"/>
              </a:rPr>
              <a:t>         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。</a:t>
            </a:r>
            <a:endParaRPr lang="en-US" altLang="zh-CN" sz="2800" baseline="-25000" dirty="0" smtClean="0">
              <a:latin typeface="+mn-ea"/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baseline="-25000" dirty="0" smtClean="0">
                <a:latin typeface="+mn-ea"/>
                <a:sym typeface="Wingdings" pitchFamily="2" charset="2"/>
              </a:rPr>
              <a:t>  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氧化剂是</a:t>
            </a:r>
            <a:r>
              <a:rPr lang="zh-CN" altLang="en-US" sz="2800" u="sng" dirty="0" smtClean="0">
                <a:latin typeface="+mn-ea"/>
                <a:sym typeface="Wingdings" pitchFamily="2" charset="2"/>
              </a:rPr>
              <a:t>  </a:t>
            </a:r>
            <a:r>
              <a:rPr lang="en-US" altLang="zh-CN" sz="2800" u="sng" dirty="0" smtClean="0">
                <a:latin typeface="+mn-ea"/>
                <a:sym typeface="Wingdings" pitchFamily="2" charset="2"/>
              </a:rPr>
              <a:t>	 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，它将</a:t>
            </a:r>
            <a:r>
              <a:rPr lang="en-US" altLang="zh-CN" sz="2800" u="sng" baseline="-25000" dirty="0" smtClean="0">
                <a:latin typeface="+mn-ea"/>
                <a:sym typeface="Wingdings" pitchFamily="2" charset="2"/>
              </a:rPr>
              <a:t> </a:t>
            </a:r>
            <a:r>
              <a:rPr lang="en-US" altLang="zh-CN" sz="2800" u="sng" dirty="0" smtClean="0">
                <a:latin typeface="+mn-ea"/>
                <a:sym typeface="Wingdings" pitchFamily="2" charset="2"/>
              </a:rPr>
              <a:t>       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氧化为</a:t>
            </a:r>
            <a:r>
              <a:rPr lang="zh-CN" altLang="en-US" sz="2800" u="sng" dirty="0" smtClean="0">
                <a:latin typeface="+mn-ea"/>
                <a:sym typeface="Wingdings" pitchFamily="2" charset="2"/>
              </a:rPr>
              <a:t>           </a:t>
            </a:r>
            <a:r>
              <a:rPr lang="zh-CN" altLang="en-US" sz="2800" dirty="0" smtClean="0">
                <a:latin typeface="+mn-ea"/>
                <a:sym typeface="Wingdings" pitchFamily="2" charset="2"/>
              </a:rPr>
              <a:t>。</a:t>
            </a:r>
            <a:endParaRPr lang="en-US" altLang="zh-CN" sz="2800" baseline="-25000" dirty="0" smtClean="0">
              <a:latin typeface="+mn-ea"/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baseline="-25000" dirty="0" smtClean="0">
                <a:latin typeface="+mn-ea"/>
                <a:sym typeface="Wingdings" pitchFamily="2" charset="2"/>
              </a:rPr>
              <a:t> 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3600" y="393980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B050"/>
                </a:solidFill>
              </a:rPr>
              <a:t>氧化铜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67200" y="3482609"/>
            <a:ext cx="8819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 smtClean="0">
                <a:solidFill>
                  <a:srgbClr val="00B050"/>
                </a:solidFill>
              </a:rPr>
              <a:t>Cu</a:t>
            </a:r>
            <a:r>
              <a:rPr lang="en-US" altLang="zh-CN" sz="3000" b="1" baseline="30000" dirty="0" smtClean="0">
                <a:solidFill>
                  <a:srgbClr val="00B050"/>
                </a:solidFill>
              </a:rPr>
              <a:t>2+</a:t>
            </a:r>
            <a:endParaRPr lang="en-US" sz="3000" b="1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350520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B050"/>
                </a:solidFill>
              </a:rPr>
              <a:t>还原剂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04627" y="3484602"/>
            <a:ext cx="61908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 smtClean="0">
                <a:solidFill>
                  <a:srgbClr val="00B050"/>
                </a:solidFill>
              </a:rPr>
              <a:t>Cu</a:t>
            </a:r>
            <a:endParaRPr lang="en-US" sz="3000" b="1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24400" y="3886200"/>
            <a:ext cx="5822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B050"/>
                </a:solidFill>
              </a:rPr>
              <a:t>H</a:t>
            </a:r>
            <a:r>
              <a:rPr lang="en-US" sz="3000" b="1" baseline="-25000" dirty="0" smtClean="0">
                <a:solidFill>
                  <a:srgbClr val="00B050"/>
                </a:solidFill>
              </a:rPr>
              <a:t>2</a:t>
            </a:r>
            <a:endParaRPr lang="en-US" sz="3000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5627" y="3941802"/>
            <a:ext cx="58862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 smtClean="0">
                <a:solidFill>
                  <a:srgbClr val="00B050"/>
                </a:solidFill>
              </a:rPr>
              <a:t>H</a:t>
            </a:r>
            <a:r>
              <a:rPr lang="en-US" altLang="zh-CN" sz="3000" b="1" baseline="30000" dirty="0" smtClean="0">
                <a:solidFill>
                  <a:srgbClr val="00B050"/>
                </a:solidFill>
              </a:rPr>
              <a:t>+</a:t>
            </a:r>
            <a:endParaRPr lang="en-US" sz="3000" b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97589" y="56388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B050"/>
                </a:solidFill>
              </a:rPr>
              <a:t>盐酸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86200" y="5181600"/>
            <a:ext cx="58862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 smtClean="0">
                <a:solidFill>
                  <a:srgbClr val="00B050"/>
                </a:solidFill>
              </a:rPr>
              <a:t>H</a:t>
            </a:r>
            <a:r>
              <a:rPr lang="en-US" altLang="zh-CN" sz="3000" b="1" baseline="30000" dirty="0" smtClean="0">
                <a:solidFill>
                  <a:srgbClr val="00B050"/>
                </a:solidFill>
              </a:rPr>
              <a:t>+</a:t>
            </a:r>
            <a:endParaRPr lang="en-US" sz="3000" b="1" dirty="0">
              <a:solidFill>
                <a:srgbClr val="00B05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5204191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B050"/>
                </a:solidFill>
              </a:rPr>
              <a:t>还原剂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76027" y="5105400"/>
            <a:ext cx="5822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 smtClean="0">
                <a:solidFill>
                  <a:srgbClr val="00B050"/>
                </a:solidFill>
              </a:rPr>
              <a:t>H</a:t>
            </a:r>
            <a:r>
              <a:rPr lang="en-US" altLang="zh-CN" sz="3000" b="1" baseline="-25000" dirty="0" smtClean="0">
                <a:solidFill>
                  <a:srgbClr val="00B050"/>
                </a:solidFill>
              </a:rPr>
              <a:t>2</a:t>
            </a:r>
            <a:endParaRPr lang="en-US" sz="3000" b="1" dirty="0">
              <a:solidFill>
                <a:srgbClr val="00B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95800" y="5585191"/>
            <a:ext cx="6286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 smtClean="0">
                <a:solidFill>
                  <a:srgbClr val="00B050"/>
                </a:solidFill>
              </a:rPr>
              <a:t>Zn</a:t>
            </a:r>
            <a:endParaRPr lang="en-US" sz="3000" b="1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57027" y="5640793"/>
            <a:ext cx="89159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 smtClean="0">
                <a:solidFill>
                  <a:srgbClr val="00B050"/>
                </a:solidFill>
              </a:rPr>
              <a:t>Zn</a:t>
            </a:r>
            <a:r>
              <a:rPr lang="en-US" altLang="zh-CN" sz="3000" b="1" baseline="30000" dirty="0" smtClean="0">
                <a:solidFill>
                  <a:srgbClr val="00B050"/>
                </a:solidFill>
              </a:rPr>
              <a:t>2+</a:t>
            </a:r>
            <a:endParaRPr lang="en-US" sz="30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口诀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25609"/>
          </a:xfrm>
        </p:spPr>
        <p:txBody>
          <a:bodyPr>
            <a:normAutofit/>
          </a:bodyPr>
          <a:lstStyle/>
          <a:p>
            <a:r>
              <a:rPr lang="zh-CN" altLang="en-US" sz="4400" dirty="0" smtClean="0">
                <a:solidFill>
                  <a:srgbClr val="660066"/>
                </a:solidFill>
              </a:rPr>
              <a:t>失电子，氧化数上升，被氧化，作为还原剂，具有还原性。</a:t>
            </a:r>
            <a:endParaRPr lang="en-US" altLang="zh-CN" sz="4400" dirty="0" smtClean="0">
              <a:solidFill>
                <a:srgbClr val="660066"/>
              </a:solidFill>
            </a:endParaRPr>
          </a:p>
          <a:p>
            <a:pPr>
              <a:buNone/>
            </a:pPr>
            <a:endParaRPr lang="en-US" altLang="zh-CN" sz="4400" dirty="0" smtClean="0"/>
          </a:p>
          <a:p>
            <a:r>
              <a:rPr lang="zh-CN" altLang="en-US" sz="4400" dirty="0" smtClean="0">
                <a:solidFill>
                  <a:srgbClr val="002060"/>
                </a:solidFill>
              </a:rPr>
              <a:t>得电子，氧化数下降，被还原，作为氧化剂，具有氧化性。</a:t>
            </a:r>
            <a:endParaRPr lang="en-US" sz="4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问题解决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3222" indent="-514350">
              <a:buFont typeface="+mj-lt"/>
              <a:buAutoNum type="arabicPeriod"/>
            </a:pPr>
            <a:r>
              <a:rPr lang="en-US" altLang="zh-CN" dirty="0" smtClean="0">
                <a:latin typeface="Arial Narrow" pitchFamily="34" charset="0"/>
              </a:rPr>
              <a:t>Zn + H</a:t>
            </a:r>
            <a:r>
              <a:rPr lang="en-US" altLang="zh-CN" baseline="-25000" dirty="0" smtClean="0">
                <a:latin typeface="Arial Narrow" pitchFamily="34" charset="0"/>
              </a:rPr>
              <a:t>2</a:t>
            </a:r>
            <a:r>
              <a:rPr lang="en-US" altLang="zh-CN" dirty="0" smtClean="0">
                <a:latin typeface="Arial Narrow" pitchFamily="34" charset="0"/>
              </a:rPr>
              <a:t> SO</a:t>
            </a:r>
            <a:r>
              <a:rPr lang="en-US" altLang="zh-CN" baseline="-25000" dirty="0" smtClean="0">
                <a:latin typeface="Arial Narrow" pitchFamily="34" charset="0"/>
              </a:rPr>
              <a:t>4</a:t>
            </a:r>
            <a:r>
              <a:rPr lang="en-US" altLang="zh-CN" dirty="0" smtClean="0">
                <a:latin typeface="Arial Narrow" pitchFamily="34" charset="0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ZnSO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</a:t>
            </a:r>
          </a:p>
          <a:p>
            <a:pPr marL="633222" indent="-514350">
              <a:buFont typeface="+mj-lt"/>
              <a:buAutoNum type="arabicPeriod"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Fe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C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2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Fe + 3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C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MnO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4 </a:t>
            </a:r>
            <a:r>
              <a:rPr lang="en-US" altLang="zh-CN" dirty="0" err="1" smtClean="0">
                <a:latin typeface="Arial Narrow" pitchFamily="34" charset="0"/>
                <a:sym typeface="Wingdings" pitchFamily="2" charset="2"/>
              </a:rPr>
              <a:t>HCl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MnCl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Cl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+ 2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54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290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95400" y="2286000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Zn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Zn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+2e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        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氧化反应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95400" y="2667000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2H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+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 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H</a:t>
            </a:r>
            <a:r>
              <a:rPr lang="en-US" altLang="zh-CN" sz="2400" b="1" baseline="-25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	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还原反应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3000" y="3124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+3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38400" y="3124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38600" y="31050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76800" y="31050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+4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95400" y="3729335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2Fe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3+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+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6e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2Fe         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还原反应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95400" y="4038600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3C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2+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3 C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4+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6e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        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氧化反应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30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+4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718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862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81600" y="4552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95400" y="5253335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Mn</a:t>
            </a:r>
            <a:r>
              <a:rPr lang="en-US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4+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+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Mn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       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还原反应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19200" y="5634335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 </a:t>
            </a:r>
            <a:r>
              <a:rPr lang="en-US" altLang="zh-CN" sz="2400" b="1" dirty="0" err="1" smtClean="0">
                <a:solidFill>
                  <a:srgbClr val="002060"/>
                </a:solidFill>
                <a:latin typeface="Arial Narrow" pitchFamily="34" charset="0"/>
              </a:rPr>
              <a:t>Cl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Cl</a:t>
            </a:r>
            <a:r>
              <a:rPr lang="en-US" altLang="zh-CN" sz="2400" b="1" baseline="-25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	  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氧化反应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76716" y="2286000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  <a:latin typeface="+mn-ea"/>
              </a:rPr>
              <a:t>还原剂：</a:t>
            </a:r>
            <a:r>
              <a:rPr lang="en-US" altLang="zh-CN" sz="2400" b="1" dirty="0" smtClean="0">
                <a:solidFill>
                  <a:srgbClr val="7030A0"/>
                </a:solidFill>
                <a:latin typeface="+mn-ea"/>
              </a:rPr>
              <a:t>Zn</a:t>
            </a:r>
            <a:endParaRPr lang="en-US" sz="24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57480" y="2662535"/>
            <a:ext cx="2451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  <a:latin typeface="+mn-ea"/>
              </a:rPr>
              <a:t>氧化剂：</a:t>
            </a:r>
            <a:r>
              <a:rPr lang="en-US" altLang="zh-CN" sz="2400" b="1" dirty="0" smtClean="0">
                <a:solidFill>
                  <a:srgbClr val="7030A0"/>
                </a:solidFill>
                <a:latin typeface="+mn-ea"/>
              </a:rPr>
              <a:t>H</a:t>
            </a:r>
            <a:r>
              <a:rPr lang="en-US" altLang="zh-CN" sz="2400" b="1" baseline="-25000" dirty="0" smtClean="0">
                <a:solidFill>
                  <a:srgbClr val="7030A0"/>
                </a:solidFill>
                <a:latin typeface="+mn-ea"/>
              </a:rPr>
              <a:t>2</a:t>
            </a:r>
            <a:r>
              <a:rPr lang="en-US" altLang="zh-CN" sz="2400" b="1" dirty="0" smtClean="0">
                <a:solidFill>
                  <a:srgbClr val="7030A0"/>
                </a:solidFill>
                <a:latin typeface="+mn-ea"/>
              </a:rPr>
              <a:t>SO</a:t>
            </a:r>
            <a:r>
              <a:rPr lang="en-US" altLang="zh-CN" sz="2400" b="1" baseline="-25000" dirty="0" smtClean="0">
                <a:solidFill>
                  <a:srgbClr val="7030A0"/>
                </a:solidFill>
                <a:latin typeface="+mn-ea"/>
              </a:rPr>
              <a:t>4</a:t>
            </a:r>
            <a:endParaRPr lang="en-US" sz="24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886636" y="3733800"/>
            <a:ext cx="2271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  <a:latin typeface="+mn-ea"/>
              </a:rPr>
              <a:t>氧化剂：</a:t>
            </a:r>
            <a:r>
              <a:rPr lang="en-US" altLang="zh-CN" sz="2400" b="1" dirty="0" smtClean="0">
                <a:solidFill>
                  <a:srgbClr val="7030A0"/>
                </a:solidFill>
                <a:latin typeface="+mn-ea"/>
              </a:rPr>
              <a:t>Fe</a:t>
            </a:r>
            <a:r>
              <a:rPr lang="en-US" altLang="zh-CN" sz="2400" b="1" baseline="-25000" dirty="0" smtClean="0">
                <a:solidFill>
                  <a:srgbClr val="7030A0"/>
                </a:solidFill>
                <a:latin typeface="+mn-ea"/>
              </a:rPr>
              <a:t>2</a:t>
            </a:r>
            <a:r>
              <a:rPr lang="en-US" altLang="zh-CN" sz="2400" b="1" dirty="0" smtClean="0">
                <a:solidFill>
                  <a:srgbClr val="7030A0"/>
                </a:solidFill>
                <a:latin typeface="+mn-ea"/>
              </a:rPr>
              <a:t>O</a:t>
            </a:r>
            <a:r>
              <a:rPr lang="en-US" altLang="zh-CN" sz="2400" b="1" baseline="-25000" dirty="0" smtClean="0">
                <a:solidFill>
                  <a:srgbClr val="7030A0"/>
                </a:solidFill>
                <a:latin typeface="+mn-ea"/>
              </a:rPr>
              <a:t>3</a:t>
            </a:r>
            <a:endParaRPr lang="en-US" sz="24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867400" y="4110335"/>
            <a:ext cx="1870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  <a:latin typeface="+mn-ea"/>
              </a:rPr>
              <a:t>还原剂：</a:t>
            </a:r>
            <a:r>
              <a:rPr lang="en-US" altLang="zh-CN" sz="2400" b="1" dirty="0" smtClean="0">
                <a:solidFill>
                  <a:srgbClr val="7030A0"/>
                </a:solidFill>
                <a:latin typeface="+mn-ea"/>
              </a:rPr>
              <a:t>CO</a:t>
            </a:r>
            <a:endParaRPr lang="en-US" sz="24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62836" y="5257800"/>
            <a:ext cx="2308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  <a:latin typeface="+mn-ea"/>
              </a:rPr>
              <a:t>氧化剂：</a:t>
            </a:r>
            <a:r>
              <a:rPr lang="en-US" altLang="zh-CN" sz="2400" b="1" dirty="0" smtClean="0">
                <a:solidFill>
                  <a:srgbClr val="7030A0"/>
                </a:solidFill>
                <a:latin typeface="+mn-ea"/>
              </a:rPr>
              <a:t>MnO</a:t>
            </a:r>
            <a:r>
              <a:rPr lang="en-US" altLang="zh-CN" sz="2400" b="1" baseline="-25000" dirty="0" smtClean="0">
                <a:solidFill>
                  <a:srgbClr val="7030A0"/>
                </a:solidFill>
                <a:latin typeface="+mn-ea"/>
              </a:rPr>
              <a:t>2</a:t>
            </a:r>
            <a:endParaRPr lang="en-US" sz="24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43600" y="5634335"/>
            <a:ext cx="1967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  <a:latin typeface="+mn-ea"/>
              </a:rPr>
              <a:t>还原剂：</a:t>
            </a:r>
            <a:r>
              <a:rPr lang="en-US" altLang="zh-CN" sz="2400" b="1" dirty="0" err="1" smtClean="0">
                <a:solidFill>
                  <a:srgbClr val="7030A0"/>
                </a:solidFill>
                <a:latin typeface="+mn-ea"/>
              </a:rPr>
              <a:t>HCl</a:t>
            </a:r>
            <a:endParaRPr lang="en-US" sz="2400" b="1" dirty="0">
              <a:solidFill>
                <a:srgbClr val="7030A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5" grpId="0"/>
      <p:bldP spid="29" grpId="0"/>
      <p:bldP spid="30" grpId="0"/>
      <p:bldP spid="37" grpId="0"/>
      <p:bldP spid="38" grpId="0"/>
      <p:bldP spid="39" grpId="0"/>
      <p:bldP spid="40" grpId="0"/>
      <p:bldP spid="42" grpId="0"/>
      <p:bldP spid="43" grpId="0"/>
      <p:bldP spid="44" grpId="0"/>
      <p:bldP spid="4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 Narrow" pitchFamily="34" charset="0"/>
              </a:rPr>
              <a:t>交流分享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 Narrow" pitchFamily="34" charset="0"/>
              </a:rPr>
              <a:t>2 F</a:t>
            </a:r>
            <a:r>
              <a:rPr lang="en-US" baseline="-25000" dirty="0" smtClean="0">
                <a:latin typeface="Arial Narrow" pitchFamily="34" charset="0"/>
              </a:rPr>
              <a:t>2</a:t>
            </a:r>
            <a:r>
              <a:rPr lang="en-US" dirty="0" smtClean="0">
                <a:latin typeface="Arial Narrow" pitchFamily="34" charset="0"/>
              </a:rPr>
              <a:t> + 2 H</a:t>
            </a:r>
            <a:r>
              <a:rPr lang="en-US" baseline="-25000" dirty="0" smtClean="0">
                <a:latin typeface="Arial Narrow" pitchFamily="34" charset="0"/>
              </a:rPr>
              <a:t>2</a:t>
            </a:r>
            <a:r>
              <a:rPr lang="en-US" dirty="0" smtClean="0">
                <a:latin typeface="Arial Narrow" pitchFamily="34" charset="0"/>
              </a:rPr>
              <a:t>O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 4HF + 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</a:p>
          <a:p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r>
              <a:rPr lang="en-US" dirty="0" smtClean="0">
                <a:latin typeface="Arial Narrow" pitchFamily="34" charset="0"/>
                <a:sym typeface="Wingdings" pitchFamily="2" charset="2"/>
              </a:rPr>
              <a:t>2 Na + 2 H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O  2 </a:t>
            </a:r>
            <a:r>
              <a:rPr lang="en-US" dirty="0" err="1" smtClean="0">
                <a:latin typeface="Arial Narrow" pitchFamily="34" charset="0"/>
                <a:sym typeface="Wingdings" pitchFamily="2" charset="2"/>
              </a:rPr>
              <a:t>NaOH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H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 </a:t>
            </a:r>
          </a:p>
          <a:p>
            <a:pPr>
              <a:buNone/>
            </a:pP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endParaRPr lang="en-US" baseline="-25000" dirty="0" smtClean="0">
              <a:latin typeface="Arial Narrow" pitchFamily="34" charset="0"/>
              <a:sym typeface="Wingdings" pitchFamily="2" charset="2"/>
            </a:endParaRPr>
          </a:p>
          <a:p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err="1" smtClean="0">
                <a:latin typeface="Arial Narrow" pitchFamily="34" charset="0"/>
                <a:sym typeface="Wingdings" pitchFamily="2" charset="2"/>
              </a:rPr>
              <a:t>CaO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H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O  Ca(OH)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</a:p>
          <a:p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endParaRPr lang="en-US" dirty="0">
              <a:latin typeface="Arial Narrow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33600" y="15810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46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52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958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95400" y="306711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09800" y="3048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67000" y="306711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0" y="306711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19600" y="3048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14800" y="306711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05400" y="3048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4552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33600" y="453378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14600" y="4552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05200" y="4552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</a:t>
            </a:r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10000" y="4552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0" y="4552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47800" y="4552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146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958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9371" y="2438400"/>
            <a:ext cx="19287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660066"/>
                </a:solidFill>
              </a:rPr>
              <a:t>F</a:t>
            </a:r>
            <a:r>
              <a:rPr lang="en-US" altLang="zh-CN" sz="2800" b="1" baseline="-25000" dirty="0" smtClean="0">
                <a:solidFill>
                  <a:srgbClr val="660066"/>
                </a:solidFill>
              </a:rPr>
              <a:t>2</a:t>
            </a:r>
            <a:r>
              <a:rPr lang="zh-CN" altLang="en-US" sz="2800" b="1" dirty="0" smtClean="0">
                <a:solidFill>
                  <a:srgbClr val="660066"/>
                </a:solidFill>
              </a:rPr>
              <a:t>为氧化剂</a:t>
            </a:r>
            <a:endParaRPr lang="en-US" sz="2800" b="1" dirty="0">
              <a:solidFill>
                <a:srgbClr val="660066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09800" y="3048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05400" y="3048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8200" y="3820180"/>
            <a:ext cx="2066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660066"/>
                </a:solidFill>
              </a:rPr>
              <a:t>Na</a:t>
            </a:r>
            <a:r>
              <a:rPr lang="zh-CN" altLang="en-US" sz="2800" b="1" dirty="0" smtClean="0">
                <a:solidFill>
                  <a:srgbClr val="660066"/>
                </a:solidFill>
              </a:rPr>
              <a:t>为还原剂</a:t>
            </a:r>
            <a:endParaRPr lang="en-US" sz="2800" b="1" dirty="0">
              <a:solidFill>
                <a:srgbClr val="660066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8200" y="534418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660066"/>
                </a:solidFill>
              </a:rPr>
              <a:t>不是氧化还原反应</a:t>
            </a:r>
            <a:endParaRPr lang="en-US" sz="2800" b="1" dirty="0">
              <a:solidFill>
                <a:srgbClr val="660066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49171" y="243840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660066"/>
                </a:solidFill>
              </a:rPr>
              <a:t>水为还原剂</a:t>
            </a:r>
            <a:endParaRPr lang="en-US" sz="2800" b="1" dirty="0">
              <a:solidFill>
                <a:srgbClr val="66006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72971" y="381000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660066"/>
                </a:solidFill>
              </a:rPr>
              <a:t>水为氧化剂</a:t>
            </a:r>
            <a:endParaRPr lang="en-US" sz="2800" b="1" dirty="0">
              <a:solidFill>
                <a:srgbClr val="66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30" grpId="0"/>
      <p:bldP spid="31" grpId="0"/>
      <p:bldP spid="32" grpId="0"/>
      <p:bldP spid="33" grpId="0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交流分享</a:t>
            </a:r>
            <a:endParaRPr lang="en-US" dirty="0">
              <a:latin typeface="+mn-ea"/>
              <a:ea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2791"/>
            <a:ext cx="8229600" cy="462560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Arial Narrow" pitchFamily="34" charset="0"/>
              </a:rPr>
              <a:t>2 H</a:t>
            </a:r>
            <a:r>
              <a:rPr lang="en-US" baseline="-25000" dirty="0" smtClean="0">
                <a:latin typeface="Arial Narrow" pitchFamily="34" charset="0"/>
              </a:rPr>
              <a:t>2</a:t>
            </a:r>
            <a:r>
              <a:rPr lang="en-US" dirty="0" smtClean="0">
                <a:latin typeface="Arial Narrow" pitchFamily="34" charset="0"/>
              </a:rPr>
              <a:t>O</a:t>
            </a:r>
            <a:r>
              <a:rPr lang="en-US" baseline="-25000" dirty="0" smtClean="0">
                <a:latin typeface="Arial Narrow" pitchFamily="34" charset="0"/>
              </a:rPr>
              <a:t>2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 2 H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O + 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</a:p>
          <a:p>
            <a:endParaRPr lang="en-US" baseline="-250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 2 O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 + 2e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2 O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2-</a:t>
            </a:r>
          </a:p>
          <a:p>
            <a:pPr>
              <a:buNone/>
            </a:pP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   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2 O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  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+2e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endParaRPr lang="en-US" altLang="zh-CN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  </a:t>
            </a: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zh-CN" altLang="en-US" dirty="0" smtClean="0">
                <a:latin typeface="Arial Narrow" pitchFamily="34" charset="0"/>
                <a:sym typeface="Wingdings" pitchFamily="2" charset="2"/>
              </a:rPr>
              <a:t>还原剂：</a:t>
            </a:r>
            <a:r>
              <a:rPr lang="en-US" dirty="0" smtClean="0">
                <a:latin typeface="Arial Narrow" pitchFamily="34" charset="0"/>
              </a:rPr>
              <a:t> H</a:t>
            </a:r>
            <a:r>
              <a:rPr lang="en-US" baseline="-25000" dirty="0" smtClean="0">
                <a:latin typeface="Arial Narrow" pitchFamily="34" charset="0"/>
              </a:rPr>
              <a:t>2</a:t>
            </a:r>
            <a:r>
              <a:rPr lang="en-US" dirty="0" smtClean="0">
                <a:latin typeface="Arial Narrow" pitchFamily="34" charset="0"/>
              </a:rPr>
              <a:t>O</a:t>
            </a:r>
            <a:r>
              <a:rPr lang="en-US" baseline="-25000" dirty="0" smtClean="0">
                <a:latin typeface="Arial Narrow" pitchFamily="34" charset="0"/>
              </a:rPr>
              <a:t>2</a:t>
            </a:r>
            <a:r>
              <a:rPr lang="en-US" dirty="0" smtClean="0">
                <a:latin typeface="Arial Narrow" pitchFamily="34" charset="0"/>
              </a:rPr>
              <a:t> </a:t>
            </a: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zh-CN" altLang="en-US" dirty="0" smtClean="0">
                <a:latin typeface="Arial Narrow" pitchFamily="34" charset="0"/>
                <a:sym typeface="Wingdings" pitchFamily="2" charset="2"/>
              </a:rPr>
              <a:t>氧化剂：</a:t>
            </a:r>
            <a:r>
              <a:rPr lang="en-US" dirty="0" smtClean="0">
                <a:latin typeface="Arial Narrow" pitchFamily="34" charset="0"/>
              </a:rPr>
              <a:t> H</a:t>
            </a:r>
            <a:r>
              <a:rPr lang="en-US" baseline="-25000" dirty="0" smtClean="0">
                <a:latin typeface="Arial Narrow" pitchFamily="34" charset="0"/>
              </a:rPr>
              <a:t>2</a:t>
            </a:r>
            <a:r>
              <a:rPr lang="en-US" dirty="0" smtClean="0">
                <a:latin typeface="Arial Narrow" pitchFamily="34" charset="0"/>
              </a:rPr>
              <a:t>O</a:t>
            </a:r>
            <a:r>
              <a:rPr lang="en-US" baseline="-25000" dirty="0" smtClean="0">
                <a:latin typeface="Arial Narrow" pitchFamily="34" charset="0"/>
              </a:rPr>
              <a:t>2</a:t>
            </a:r>
            <a:r>
              <a:rPr lang="en-US" dirty="0" smtClean="0">
                <a:latin typeface="Arial Narrow" pitchFamily="34" charset="0"/>
              </a:rPr>
              <a:t> </a:t>
            </a: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zh-CN" altLang="en-US" dirty="0" smtClean="0">
                <a:solidFill>
                  <a:schemeClr val="accent3">
                    <a:lumMod val="50000"/>
                  </a:schemeClr>
                </a:solidFill>
                <a:latin typeface="Arial Narrow" pitchFamily="34" charset="0"/>
                <a:sym typeface="Wingdings" pitchFamily="2" charset="2"/>
              </a:rPr>
              <a:t>自身氧化还原反应</a:t>
            </a:r>
            <a:endParaRPr lang="en-US" baseline="-25000" dirty="0" smtClean="0">
              <a:solidFill>
                <a:schemeClr val="accent3">
                  <a:lumMod val="50000"/>
                </a:schemeClr>
              </a:solidFill>
              <a:latin typeface="Arial Narrow" pitchFamily="34" charset="0"/>
              <a:sym typeface="Wingdings" pitchFamily="2" charset="2"/>
            </a:endParaRPr>
          </a:p>
          <a:p>
            <a:endParaRPr lang="en-US" baseline="-25000" dirty="0" smtClean="0">
              <a:latin typeface="Arial Narrow" pitchFamily="34" charset="0"/>
              <a:sym typeface="Wingdings" pitchFamily="2" charset="2"/>
            </a:endParaRPr>
          </a:p>
          <a:p>
            <a:r>
              <a:rPr lang="en-US" altLang="zh-CN" dirty="0" smtClean="0">
                <a:latin typeface="Arial Narrow" pitchFamily="34" charset="0"/>
              </a:rPr>
              <a:t>A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6800" y="14478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00200" y="14478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00206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14478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0" y="14478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00206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86200" y="14478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00200" y="14478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0" y="14478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86200" y="14478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14800" y="25146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还原反应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800" y="30480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氧化反应</a:t>
            </a:r>
            <a:endParaRPr lang="en-US" sz="3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7" grpId="0"/>
      <p:bldP spid="8" grpId="0"/>
      <p:bldP spid="9" grpId="0"/>
      <p:bldP spid="10" grpId="1"/>
      <p:bldP spid="11" grpId="1"/>
      <p:bldP spid="12" grpId="1"/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常见的氧化剂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5191"/>
            <a:ext cx="8229600" cy="4778009"/>
          </a:xfrm>
        </p:spPr>
        <p:txBody>
          <a:bodyPr>
            <a:normAutofit/>
          </a:bodyPr>
          <a:lstStyle/>
          <a:p>
            <a:r>
              <a:rPr lang="zh-CN" altLang="en-US" sz="28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易得电子，氧化数下降</a:t>
            </a:r>
            <a:r>
              <a:rPr lang="zh-CN" altLang="en-US" sz="2800" dirty="0" smtClean="0">
                <a:latin typeface="Arial Narrow" pitchFamily="34" charset="0"/>
              </a:rPr>
              <a:t>。</a:t>
            </a:r>
            <a:endParaRPr lang="en-US" altLang="zh-CN" sz="2800" dirty="0" smtClean="0">
              <a:latin typeface="Arial Narrow" pitchFamily="34" charset="0"/>
            </a:endParaRPr>
          </a:p>
          <a:p>
            <a:r>
              <a:rPr lang="zh-CN" altLang="en-US" sz="2800" dirty="0" smtClean="0">
                <a:latin typeface="Arial Narrow" pitchFamily="34" charset="0"/>
              </a:rPr>
              <a:t>活泼非金属单质，如</a:t>
            </a:r>
            <a:r>
              <a:rPr lang="zh-CN" altLang="en-US" sz="2800" dirty="0" smtClean="0">
                <a:solidFill>
                  <a:srgbClr val="002060"/>
                </a:solidFill>
                <a:latin typeface="Arial Narrow" pitchFamily="34" charset="0"/>
              </a:rPr>
              <a:t>卤素单质、氧气</a:t>
            </a:r>
            <a:endParaRPr lang="en-US" altLang="zh-CN" sz="2800" dirty="0" smtClean="0">
              <a:solidFill>
                <a:srgbClr val="002060"/>
              </a:solidFill>
              <a:latin typeface="Arial Narrow" pitchFamily="34" charset="0"/>
            </a:endParaRPr>
          </a:p>
          <a:p>
            <a:r>
              <a:rPr lang="zh-CN" altLang="en-US" sz="2800" dirty="0" smtClean="0">
                <a:latin typeface="Arial Narrow" pitchFamily="34" charset="0"/>
              </a:rPr>
              <a:t>含最高氧化数的金属阳离子的化合物，如</a:t>
            </a:r>
            <a:r>
              <a:rPr lang="en-US" altLang="zh-CN" sz="2800" dirty="0" smtClean="0">
                <a:solidFill>
                  <a:srgbClr val="002060"/>
                </a:solidFill>
                <a:latin typeface="Arial Narrow" pitchFamily="34" charset="0"/>
              </a:rPr>
              <a:t>FeCl</a:t>
            </a:r>
            <a:r>
              <a:rPr lang="en-US" altLang="zh-CN" sz="2800" baseline="-25000" dirty="0" smtClean="0">
                <a:solidFill>
                  <a:srgbClr val="002060"/>
                </a:solidFill>
                <a:latin typeface="Arial Narrow" pitchFamily="34" charset="0"/>
              </a:rPr>
              <a:t>3</a:t>
            </a:r>
            <a:r>
              <a:rPr lang="en-US" altLang="zh-CN" sz="2800" baseline="-25000" dirty="0" smtClean="0">
                <a:latin typeface="Arial Narrow" pitchFamily="34" charset="0"/>
              </a:rPr>
              <a:t>.</a:t>
            </a:r>
          </a:p>
          <a:p>
            <a:r>
              <a:rPr lang="zh-CN" altLang="en-US" sz="2800" dirty="0" smtClean="0">
                <a:latin typeface="Arial Narrow" pitchFamily="34" charset="0"/>
              </a:rPr>
              <a:t>含某些元素较高氧化数的化合物</a:t>
            </a:r>
            <a:r>
              <a:rPr lang="en-US" altLang="zh-CN" sz="2800" dirty="0" smtClean="0">
                <a:latin typeface="Arial Narrow" pitchFamily="34" charset="0"/>
              </a:rPr>
              <a:t> </a:t>
            </a:r>
          </a:p>
          <a:p>
            <a:pPr lvl="1"/>
            <a:r>
              <a:rPr lang="zh-CN" altLang="en-US" dirty="0" smtClean="0">
                <a:latin typeface="Arial Narrow" pitchFamily="34" charset="0"/>
              </a:rPr>
              <a:t>浓硫酸</a:t>
            </a:r>
            <a:endParaRPr lang="en-US" altLang="zh-CN" dirty="0" smtClean="0">
              <a:solidFill>
                <a:srgbClr val="002060"/>
              </a:solidFill>
              <a:latin typeface="Arial Narrow" pitchFamily="34" charset="0"/>
            </a:endParaRPr>
          </a:p>
          <a:p>
            <a:pPr lvl="1"/>
            <a:r>
              <a:rPr lang="zh-CN" altLang="en-US" dirty="0" smtClean="0">
                <a:latin typeface="Arial Narrow" pitchFamily="34" charset="0"/>
              </a:rPr>
              <a:t>硝酸</a:t>
            </a:r>
            <a:endParaRPr lang="en-US" dirty="0" smtClean="0">
              <a:solidFill>
                <a:srgbClr val="002060"/>
              </a:solidFill>
              <a:latin typeface="Arial Narrow" pitchFamily="34" charset="0"/>
            </a:endParaRPr>
          </a:p>
          <a:p>
            <a:pPr lvl="1"/>
            <a:r>
              <a:rPr lang="en-US" altLang="zh-CN" dirty="0" smtClean="0">
                <a:latin typeface="Arial Narrow" pitchFamily="34" charset="0"/>
              </a:rPr>
              <a:t>KMnO</a:t>
            </a:r>
            <a:r>
              <a:rPr lang="en-US" altLang="zh-CN" baseline="-25000" dirty="0" smtClean="0">
                <a:latin typeface="Arial Narrow" pitchFamily="34" charset="0"/>
              </a:rPr>
              <a:t>4</a:t>
            </a:r>
            <a:endParaRPr lang="en-US" altLang="zh-CN" baseline="-25000" dirty="0" smtClean="0">
              <a:solidFill>
                <a:srgbClr val="002060"/>
              </a:solidFill>
              <a:latin typeface="Arial Narrow" pitchFamily="34" charset="0"/>
            </a:endParaRPr>
          </a:p>
          <a:p>
            <a:pPr lvl="1"/>
            <a:r>
              <a:rPr lang="en-US" altLang="zh-CN" dirty="0" smtClean="0">
                <a:latin typeface="Arial Narrow" pitchFamily="34" charset="0"/>
              </a:rPr>
              <a:t>K</a:t>
            </a:r>
            <a:r>
              <a:rPr lang="en-US" altLang="zh-CN" baseline="-25000" dirty="0" smtClean="0">
                <a:latin typeface="Arial Narrow" pitchFamily="34" charset="0"/>
              </a:rPr>
              <a:t>2</a:t>
            </a:r>
            <a:r>
              <a:rPr lang="en-US" altLang="zh-CN" dirty="0" smtClean="0">
                <a:latin typeface="Arial Narrow" pitchFamily="34" charset="0"/>
              </a:rPr>
              <a:t>Cr</a:t>
            </a:r>
            <a:r>
              <a:rPr lang="en-US" altLang="zh-CN" baseline="-25000" dirty="0" smtClean="0">
                <a:latin typeface="Arial Narrow" pitchFamily="34" charset="0"/>
              </a:rPr>
              <a:t>2</a:t>
            </a:r>
            <a:r>
              <a:rPr lang="en-US" altLang="zh-CN" dirty="0" smtClean="0">
                <a:latin typeface="Arial Narrow" pitchFamily="34" charset="0"/>
              </a:rPr>
              <a:t>O</a:t>
            </a:r>
            <a:r>
              <a:rPr lang="en-US" altLang="zh-CN" baseline="-25000" dirty="0" smtClean="0">
                <a:latin typeface="Arial Narrow" pitchFamily="34" charset="0"/>
              </a:rPr>
              <a:t>7</a:t>
            </a:r>
            <a:endParaRPr lang="en-US" altLang="zh-CN" sz="2800" dirty="0" smtClean="0">
              <a:latin typeface="Arial Narrow" pitchFamily="34" charset="0"/>
            </a:endParaRPr>
          </a:p>
          <a:p>
            <a:r>
              <a:rPr lang="zh-CN" altLang="en-US" sz="2800" dirty="0" smtClean="0">
                <a:latin typeface="Arial Narrow" pitchFamily="34" charset="0"/>
              </a:rPr>
              <a:t>过氧化物 </a:t>
            </a:r>
            <a:endParaRPr lang="en-US" altLang="zh-CN" sz="2800" dirty="0" smtClean="0"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4600" y="4668560"/>
            <a:ext cx="1999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</a:rPr>
              <a:t>Mn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</a:rPr>
              <a:t>7+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</a:rPr>
              <a:t> 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Mn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2+</a:t>
            </a:r>
            <a:endParaRPr 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530027" y="5125760"/>
            <a:ext cx="1967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</a:rPr>
              <a:t>Cr 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</a:rPr>
              <a:t>6+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</a:rPr>
              <a:t> 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Cr 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3+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590800" y="3667780"/>
            <a:ext cx="3304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</a:rPr>
              <a:t>S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</a:rPr>
              <a:t>6+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</a:rPr>
              <a:t> 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S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4+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 S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0 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 S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2-</a:t>
            </a:r>
            <a:endParaRPr 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549325" y="4124980"/>
            <a:ext cx="6061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</a:rPr>
              <a:t>N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</a:rPr>
              <a:t>5+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</a:rPr>
              <a:t> 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N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4+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 N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3+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 N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 N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+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 N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0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 N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3-</a:t>
            </a:r>
            <a:endParaRPr lang="en-US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682427" y="5572780"/>
            <a:ext cx="1481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</a:rPr>
              <a:t>O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O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2-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9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常见的还原剂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229600" cy="4625609"/>
          </a:xfrm>
        </p:spPr>
        <p:txBody>
          <a:bodyPr>
            <a:noAutofit/>
          </a:bodyPr>
          <a:lstStyle/>
          <a:p>
            <a:r>
              <a:rPr lang="zh-CN" altLang="en-US" sz="3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</a:rPr>
              <a:t>易失电子，氧化数上升</a:t>
            </a:r>
            <a:endParaRPr lang="en-US" altLang="zh-CN" sz="30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</a:endParaRPr>
          </a:p>
          <a:p>
            <a:r>
              <a:rPr lang="zh-CN" altLang="en-US" sz="3000" dirty="0" smtClean="0">
                <a:latin typeface="Arial Narrow" pitchFamily="34" charset="0"/>
              </a:rPr>
              <a:t>活泼金属单质</a:t>
            </a:r>
            <a:r>
              <a:rPr lang="en-US" altLang="zh-CN" sz="3000" dirty="0" smtClean="0">
                <a:latin typeface="Arial Narrow" pitchFamily="34" charset="0"/>
              </a:rPr>
              <a:t>,</a:t>
            </a:r>
            <a:r>
              <a:rPr lang="zh-CN" altLang="en-US" sz="3000" dirty="0" smtClean="0">
                <a:latin typeface="Arial Narrow" pitchFamily="34" charset="0"/>
              </a:rPr>
              <a:t>如钾、钙、锌、铁等</a:t>
            </a:r>
            <a:endParaRPr lang="en-US" altLang="zh-CN" sz="3000" dirty="0" smtClean="0">
              <a:latin typeface="Arial Narrow" pitchFamily="34" charset="0"/>
            </a:endParaRPr>
          </a:p>
          <a:p>
            <a:r>
              <a:rPr lang="zh-CN" altLang="en-US" sz="3000" dirty="0" smtClean="0">
                <a:latin typeface="Arial Narrow" pitchFamily="34" charset="0"/>
              </a:rPr>
              <a:t>含较低氧化数的金属阳离子的化合物，如</a:t>
            </a:r>
            <a:r>
              <a:rPr lang="en-US" altLang="zh-CN" sz="3000" dirty="0" smtClean="0">
                <a:latin typeface="Arial Narrow" pitchFamily="34" charset="0"/>
              </a:rPr>
              <a:t>FeCl</a:t>
            </a:r>
            <a:r>
              <a:rPr lang="en-US" altLang="zh-CN" sz="3000" baseline="-25000" dirty="0" smtClean="0">
                <a:latin typeface="Arial Narrow" pitchFamily="34" charset="0"/>
              </a:rPr>
              <a:t>2 </a:t>
            </a:r>
            <a:endParaRPr lang="en-US" altLang="zh-CN" sz="3000" dirty="0" smtClean="0">
              <a:latin typeface="Arial Narrow" pitchFamily="34" charset="0"/>
            </a:endParaRPr>
          </a:p>
          <a:p>
            <a:r>
              <a:rPr lang="zh-CN" altLang="en-US" sz="3000" dirty="0" smtClean="0">
                <a:latin typeface="Arial Narrow" pitchFamily="34" charset="0"/>
              </a:rPr>
              <a:t>某些非金属单质，如</a:t>
            </a:r>
            <a:r>
              <a:rPr lang="en-US" altLang="zh-CN" sz="3000" dirty="0" smtClean="0">
                <a:latin typeface="Arial Narrow" pitchFamily="34" charset="0"/>
              </a:rPr>
              <a:t>H</a:t>
            </a:r>
            <a:r>
              <a:rPr lang="en-US" altLang="zh-CN" sz="3000" baseline="-25000" dirty="0" smtClean="0">
                <a:latin typeface="Arial Narrow" pitchFamily="34" charset="0"/>
              </a:rPr>
              <a:t>2 </a:t>
            </a:r>
            <a:r>
              <a:rPr lang="zh-CN" altLang="en-US" sz="3000" baseline="-25000" dirty="0" smtClean="0">
                <a:latin typeface="Arial Narrow" pitchFamily="34" charset="0"/>
              </a:rPr>
              <a:t>、</a:t>
            </a:r>
            <a:r>
              <a:rPr lang="en-US" altLang="zh-CN" sz="3000" dirty="0" smtClean="0">
                <a:latin typeface="Arial Narrow" pitchFamily="34" charset="0"/>
              </a:rPr>
              <a:t>C</a:t>
            </a:r>
            <a:r>
              <a:rPr lang="zh-CN" altLang="en-US" sz="3000" dirty="0" smtClean="0">
                <a:latin typeface="Arial Narrow" pitchFamily="34" charset="0"/>
              </a:rPr>
              <a:t>。</a:t>
            </a:r>
            <a:endParaRPr lang="en-US" altLang="zh-CN" sz="3000" dirty="0" smtClean="0">
              <a:latin typeface="Arial Narrow" pitchFamily="34" charset="0"/>
            </a:endParaRPr>
          </a:p>
          <a:p>
            <a:r>
              <a:rPr lang="zh-CN" altLang="en-US" sz="3000" dirty="0" smtClean="0">
                <a:latin typeface="Arial Narrow" pitchFamily="34" charset="0"/>
              </a:rPr>
              <a:t>含某些元素较低氧化数的化合物：</a:t>
            </a:r>
            <a:endParaRPr lang="en-US" altLang="zh-CN" sz="3000" dirty="0" smtClean="0">
              <a:latin typeface="Arial Narrow" pitchFamily="34" charset="0"/>
            </a:endParaRPr>
          </a:p>
          <a:p>
            <a:pPr lvl="1"/>
            <a:r>
              <a:rPr lang="en-US" altLang="zh-CN" sz="3000" dirty="0" smtClean="0">
                <a:latin typeface="Arial Narrow" pitchFamily="34" charset="0"/>
              </a:rPr>
              <a:t>CO</a:t>
            </a:r>
          </a:p>
          <a:p>
            <a:pPr lvl="1"/>
            <a:r>
              <a:rPr lang="en-US" altLang="zh-CN" sz="3000" dirty="0" smtClean="0">
                <a:latin typeface="Arial Narrow" pitchFamily="34" charset="0"/>
              </a:rPr>
              <a:t>SO</a:t>
            </a:r>
            <a:r>
              <a:rPr lang="en-US" altLang="zh-CN" sz="3000" baseline="-25000" dirty="0" smtClean="0">
                <a:latin typeface="Arial Narrow" pitchFamily="34" charset="0"/>
              </a:rPr>
              <a:t>2</a:t>
            </a:r>
            <a:endParaRPr lang="en-US" altLang="zh-CN" sz="3000" dirty="0" smtClean="0">
              <a:latin typeface="Arial Narrow" pitchFamily="34" charset="0"/>
            </a:endParaRPr>
          </a:p>
          <a:p>
            <a:pPr lvl="1"/>
            <a:r>
              <a:rPr lang="en-US" altLang="zh-CN" sz="3000" dirty="0" smtClean="0">
                <a:latin typeface="Arial Narrow" pitchFamily="34" charset="0"/>
              </a:rPr>
              <a:t>H</a:t>
            </a:r>
            <a:r>
              <a:rPr lang="en-US" altLang="zh-CN" sz="3000" baseline="-25000" dirty="0" smtClean="0">
                <a:latin typeface="Arial Narrow" pitchFamily="34" charset="0"/>
              </a:rPr>
              <a:t>2</a:t>
            </a:r>
            <a:r>
              <a:rPr lang="en-US" altLang="zh-CN" sz="3000" dirty="0" smtClean="0">
                <a:latin typeface="Arial Narrow" pitchFamily="34" charset="0"/>
              </a:rPr>
              <a:t>S</a:t>
            </a:r>
          </a:p>
          <a:p>
            <a:pPr lvl="1"/>
            <a:r>
              <a:rPr lang="en-US" altLang="zh-CN" sz="3000" dirty="0" smtClean="0">
                <a:latin typeface="Arial Narrow" pitchFamily="34" charset="0"/>
              </a:rPr>
              <a:t>Na</a:t>
            </a:r>
            <a:r>
              <a:rPr lang="en-US" altLang="zh-CN" sz="3000" baseline="-25000" dirty="0" smtClean="0">
                <a:latin typeface="Arial Narrow" pitchFamily="34" charset="0"/>
              </a:rPr>
              <a:t>2</a:t>
            </a:r>
            <a:r>
              <a:rPr lang="en-US" altLang="zh-CN" sz="3000" dirty="0" smtClean="0">
                <a:latin typeface="Arial Narrow" pitchFamily="34" charset="0"/>
              </a:rPr>
              <a:t>S</a:t>
            </a:r>
            <a:r>
              <a:rPr lang="en-US" altLang="zh-CN" sz="3000" baseline="-25000" dirty="0" smtClean="0">
                <a:latin typeface="Arial Narrow" pitchFamily="34" charset="0"/>
              </a:rPr>
              <a:t>2</a:t>
            </a:r>
            <a:r>
              <a:rPr lang="en-US" altLang="zh-CN" sz="3000" dirty="0" smtClean="0">
                <a:latin typeface="Arial Narrow" pitchFamily="34" charset="0"/>
              </a:rPr>
              <a:t>O</a:t>
            </a:r>
            <a:r>
              <a:rPr lang="en-US" altLang="zh-CN" sz="3000" baseline="-25000" dirty="0" smtClean="0">
                <a:latin typeface="Arial Narrow" pitchFamily="34" charset="0"/>
              </a:rPr>
              <a:t>3</a:t>
            </a:r>
          </a:p>
          <a:p>
            <a:pPr lvl="1"/>
            <a:r>
              <a:rPr lang="en-US" sz="3000" baseline="-25000" dirty="0" smtClean="0">
                <a:latin typeface="Arial Narrow" pitchFamily="34" charset="0"/>
              </a:rPr>
              <a:t> </a:t>
            </a:r>
            <a:r>
              <a:rPr lang="en-US" altLang="zh-CN" sz="3000" dirty="0" smtClean="0">
                <a:latin typeface="Arial Narrow" pitchFamily="34" charset="0"/>
              </a:rPr>
              <a:t>HI</a:t>
            </a:r>
            <a:endParaRPr lang="en-US" sz="3000" dirty="0"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04246" y="4124980"/>
            <a:ext cx="2686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 C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0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 C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 C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4+ </a:t>
            </a:r>
            <a:endParaRPr 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080775" y="5039380"/>
            <a:ext cx="3472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 S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2-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 S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0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 S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4+</a:t>
            </a:r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 S</a:t>
            </a:r>
            <a:r>
              <a:rPr lang="en-US" altLang="zh-CN" sz="28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6+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氧化剂与还原剂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8382000" cy="4800600"/>
          </a:xfrm>
        </p:spPr>
        <p:txBody>
          <a:bodyPr/>
          <a:lstStyle/>
          <a:p>
            <a:pPr marL="633222" indent="-514350">
              <a:buFont typeface="+mj-lt"/>
              <a:buAutoNum type="arabicPeriod"/>
            </a:pPr>
            <a:r>
              <a:rPr lang="zh-CN" altLang="en-US" dirty="0" smtClean="0"/>
              <a:t>将</a:t>
            </a:r>
            <a:r>
              <a:rPr lang="en-US" altLang="zh-CN" dirty="0" smtClean="0"/>
              <a:t>F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Cl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</a:t>
            </a:r>
            <a:r>
              <a:rPr lang="en-US" altLang="zh-CN" dirty="0" smtClean="0"/>
              <a:t>Br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</a:t>
            </a:r>
            <a:r>
              <a:rPr lang="en-US" altLang="zh-CN" dirty="0" smtClean="0"/>
              <a:t>I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</a:t>
            </a:r>
            <a:r>
              <a:rPr lang="zh-CN" altLang="en-US" dirty="0" smtClean="0"/>
              <a:t>按氧化性强至弱排列。</a:t>
            </a:r>
            <a:endParaRPr lang="en-US" altLang="zh-CN" dirty="0" smtClean="0"/>
          </a:p>
          <a:p>
            <a:pPr marL="633222" indent="-514350"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氧化性： </a:t>
            </a:r>
            <a:r>
              <a:rPr lang="en-US" altLang="zh-CN" dirty="0" smtClean="0"/>
              <a:t>F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&gt;Cl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&gt;Br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&gt;I</a:t>
            </a:r>
            <a:r>
              <a:rPr lang="en-US" altLang="zh-CN" baseline="-25000" dirty="0" smtClean="0"/>
              <a:t>2</a:t>
            </a:r>
          </a:p>
          <a:p>
            <a:pPr marL="633222" indent="-514350">
              <a:buNone/>
            </a:pPr>
            <a:endParaRPr lang="en-US" altLang="zh-CN" dirty="0" smtClean="0"/>
          </a:p>
          <a:p>
            <a:pPr marL="633222" indent="-514350">
              <a:buFont typeface="+mj-lt"/>
              <a:buAutoNum type="arabicPeriod" startAt="2"/>
            </a:pPr>
            <a:r>
              <a:rPr lang="zh-CN" altLang="en-US" dirty="0" smtClean="0"/>
              <a:t>将</a:t>
            </a:r>
            <a:r>
              <a:rPr lang="en-US" altLang="zh-CN" dirty="0" err="1" smtClean="0"/>
              <a:t>Li,Na,K,Rb,Cs</a:t>
            </a:r>
            <a:r>
              <a:rPr lang="zh-CN" altLang="en-US" dirty="0" smtClean="0"/>
              <a:t>按还原性强至弱排列。</a:t>
            </a:r>
            <a:endParaRPr lang="en-US" altLang="zh-CN" dirty="0" smtClean="0"/>
          </a:p>
          <a:p>
            <a:pPr marL="633222" indent="-514350"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还原性： </a:t>
            </a:r>
            <a:r>
              <a:rPr lang="en-US" altLang="zh-CN" dirty="0" smtClean="0"/>
              <a:t>Cs&gt; </a:t>
            </a:r>
            <a:r>
              <a:rPr lang="en-US" altLang="zh-CN" dirty="0" err="1" smtClean="0"/>
              <a:t>Rb</a:t>
            </a:r>
            <a:r>
              <a:rPr lang="en-US" altLang="zh-CN" dirty="0" smtClean="0"/>
              <a:t> &gt; K &gt; Na&gt;Li</a:t>
            </a:r>
          </a:p>
          <a:p>
            <a:pPr marL="633222" indent="-514350">
              <a:buNone/>
            </a:pPr>
            <a:endParaRPr lang="en-US" altLang="zh-CN" dirty="0" smtClean="0"/>
          </a:p>
          <a:p>
            <a:pPr marL="633222" indent="-514350">
              <a:buFont typeface="+mj-lt"/>
              <a:buAutoNum type="arabicPeriod" startAt="3"/>
            </a:pPr>
            <a:r>
              <a:rPr lang="zh-CN" altLang="en-US" dirty="0" smtClean="0"/>
              <a:t>将</a:t>
            </a:r>
            <a:r>
              <a:rPr lang="en-US" altLang="zh-CN" dirty="0" err="1" smtClean="0"/>
              <a:t>Ca,Cu,Fe,Zn,Hg</a:t>
            </a:r>
            <a:r>
              <a:rPr lang="zh-CN" altLang="en-US" dirty="0" smtClean="0"/>
              <a:t>按还原性强至弱排列</a:t>
            </a:r>
            <a:endParaRPr lang="en-US" altLang="zh-CN" dirty="0" smtClean="0"/>
          </a:p>
          <a:p>
            <a:pPr marL="633222" indent="-514350"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还原性： </a:t>
            </a:r>
            <a:r>
              <a:rPr lang="en-US" altLang="zh-CN" dirty="0" smtClean="0"/>
              <a:t>Ca&gt; Zn &gt; Fe &gt; Cu&gt; Hg</a:t>
            </a:r>
          </a:p>
          <a:p>
            <a:pPr marL="633222" indent="-514350">
              <a:buNone/>
            </a:pPr>
            <a:endParaRPr lang="en-US" altLang="zh-CN" dirty="0" smtClean="0"/>
          </a:p>
          <a:p>
            <a:pPr marL="633222" indent="-514350">
              <a:buNone/>
            </a:pPr>
            <a:endParaRPr lang="en-US" altLang="zh-CN" dirty="0" smtClean="0"/>
          </a:p>
          <a:p>
            <a:pPr marL="633222" indent="-514350">
              <a:buNone/>
            </a:pPr>
            <a:endParaRPr lang="en-US" altLang="zh-CN" dirty="0" smtClean="0"/>
          </a:p>
          <a:p>
            <a:pPr marL="633222" indent="-514350">
              <a:buNone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 Narrow" pitchFamily="34" charset="0"/>
              </a:rPr>
              <a:t>交流分享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>
                <a:latin typeface="Arial Narrow" pitchFamily="34" charset="0"/>
              </a:rPr>
              <a:t>还原性强弱：易失电子（被氧化）</a:t>
            </a:r>
            <a:endParaRPr lang="en-US" altLang="zh-CN" dirty="0" smtClean="0">
              <a:latin typeface="Arial Narrow" pitchFamily="34" charset="0"/>
            </a:endParaRPr>
          </a:p>
          <a:p>
            <a:pPr marL="633222" indent="-514350">
              <a:buNone/>
            </a:pPr>
            <a:r>
              <a:rPr lang="en-US" altLang="zh-CN" dirty="0" smtClean="0">
                <a:latin typeface="Arial Narrow" pitchFamily="34" charset="0"/>
              </a:rPr>
              <a:t>1</a:t>
            </a:r>
            <a:r>
              <a:rPr lang="zh-CN" altLang="en-US" dirty="0" smtClean="0">
                <a:latin typeface="Arial Narrow" pitchFamily="34" charset="0"/>
              </a:rPr>
              <a:t>碳的还原性比</a:t>
            </a:r>
            <a:r>
              <a:rPr lang="en-US" altLang="zh-CN" dirty="0" smtClean="0">
                <a:latin typeface="Arial Narrow" pitchFamily="34" charset="0"/>
              </a:rPr>
              <a:t>_____</a:t>
            </a:r>
            <a:r>
              <a:rPr lang="zh-CN" altLang="en-US" dirty="0" smtClean="0">
                <a:latin typeface="Arial Narrow" pitchFamily="34" charset="0"/>
              </a:rPr>
              <a:t>、</a:t>
            </a:r>
            <a:r>
              <a:rPr lang="en-US" altLang="zh-CN" dirty="0" smtClean="0">
                <a:latin typeface="Arial Narrow" pitchFamily="34" charset="0"/>
              </a:rPr>
              <a:t>_______</a:t>
            </a:r>
            <a:r>
              <a:rPr lang="zh-CN" altLang="en-US" dirty="0" smtClean="0">
                <a:latin typeface="Arial Narrow" pitchFamily="34" charset="0"/>
              </a:rPr>
              <a:t>强；</a:t>
            </a:r>
            <a:endParaRPr lang="en-US" altLang="zh-CN" dirty="0" smtClean="0">
              <a:latin typeface="Arial Narrow" pitchFamily="34" charset="0"/>
            </a:endParaRPr>
          </a:p>
          <a:p>
            <a:pPr marL="633222" indent="-514350">
              <a:buNone/>
            </a:pPr>
            <a:r>
              <a:rPr lang="en-US" altLang="zh-CN" dirty="0" smtClean="0">
                <a:latin typeface="Arial Narrow" pitchFamily="34" charset="0"/>
              </a:rPr>
              <a:t>			   </a:t>
            </a:r>
            <a:r>
              <a:rPr lang="zh-CN" altLang="en-US" dirty="0" smtClean="0">
                <a:latin typeface="Arial Narrow" pitchFamily="34" charset="0"/>
              </a:rPr>
              <a:t>比</a:t>
            </a:r>
            <a:r>
              <a:rPr lang="en-US" altLang="zh-CN" dirty="0" smtClean="0">
                <a:latin typeface="Arial Narrow" pitchFamily="34" charset="0"/>
              </a:rPr>
              <a:t>_____</a:t>
            </a:r>
            <a:r>
              <a:rPr lang="zh-CN" altLang="en-US" dirty="0" smtClean="0">
                <a:latin typeface="Arial Narrow" pitchFamily="34" charset="0"/>
              </a:rPr>
              <a:t>、</a:t>
            </a:r>
            <a:r>
              <a:rPr lang="en-US" altLang="zh-CN" dirty="0" smtClean="0">
                <a:latin typeface="Arial Narrow" pitchFamily="34" charset="0"/>
              </a:rPr>
              <a:t>_______</a:t>
            </a:r>
            <a:r>
              <a:rPr lang="zh-CN" altLang="en-US" dirty="0" smtClean="0">
                <a:latin typeface="Arial Narrow" pitchFamily="34" charset="0"/>
              </a:rPr>
              <a:t>弱。</a:t>
            </a:r>
            <a:endParaRPr lang="en-US" altLang="zh-CN" dirty="0" smtClean="0">
              <a:latin typeface="Arial Narrow" pitchFamily="34" charset="0"/>
            </a:endParaRPr>
          </a:p>
          <a:p>
            <a:pPr marL="633222" indent="-514350">
              <a:buNone/>
            </a:pPr>
            <a:endParaRPr lang="en-US" altLang="zh-CN" dirty="0" smtClean="0">
              <a:latin typeface="Arial Narrow" pitchFamily="34" charset="0"/>
            </a:endParaRPr>
          </a:p>
          <a:p>
            <a:pPr marL="633222" indent="-514350">
              <a:buNone/>
            </a:pPr>
            <a:r>
              <a:rPr lang="en-US" altLang="zh-CN" dirty="0" smtClean="0">
                <a:latin typeface="Arial Narrow" pitchFamily="34" charset="0"/>
              </a:rPr>
              <a:t>2</a:t>
            </a:r>
            <a:r>
              <a:rPr lang="zh-CN" altLang="en-US" dirty="0" smtClean="0">
                <a:latin typeface="Arial Narrow" pitchFamily="34" charset="0"/>
              </a:rPr>
              <a:t>四种金属中</a:t>
            </a:r>
            <a:r>
              <a:rPr lang="en-US" altLang="zh-CN" dirty="0" smtClean="0">
                <a:latin typeface="Arial Narrow" pitchFamily="34" charset="0"/>
              </a:rPr>
              <a:t>_______</a:t>
            </a:r>
            <a:r>
              <a:rPr lang="zh-CN" altLang="en-US" dirty="0" smtClean="0">
                <a:latin typeface="Arial Narrow" pitchFamily="34" charset="0"/>
              </a:rPr>
              <a:t>最活泼（易失电子）。</a:t>
            </a:r>
            <a:endParaRPr lang="en-US" altLang="zh-CN" dirty="0" smtClean="0">
              <a:latin typeface="Arial Narrow" pitchFamily="34" charset="0"/>
            </a:endParaRPr>
          </a:p>
          <a:p>
            <a:pPr marL="633222" indent="-514350">
              <a:buNone/>
            </a:pPr>
            <a:endParaRPr lang="en-US" altLang="zh-CN" dirty="0" smtClean="0">
              <a:latin typeface="Arial Narrow" pitchFamily="34" charset="0"/>
            </a:endParaRPr>
          </a:p>
          <a:p>
            <a:pPr marL="633222" indent="-514350">
              <a:buNone/>
            </a:pPr>
            <a:r>
              <a:rPr lang="en-US" altLang="zh-CN" dirty="0" smtClean="0">
                <a:latin typeface="Arial Narrow" pitchFamily="34" charset="0"/>
              </a:rPr>
              <a:t>3</a:t>
            </a:r>
            <a:r>
              <a:rPr lang="zh-CN" altLang="en-US" dirty="0" smtClean="0">
                <a:latin typeface="Arial Narrow" pitchFamily="34" charset="0"/>
              </a:rPr>
              <a:t>四种金属中</a:t>
            </a:r>
            <a:r>
              <a:rPr lang="en-US" altLang="zh-CN" dirty="0" smtClean="0">
                <a:latin typeface="Arial Narrow" pitchFamily="34" charset="0"/>
              </a:rPr>
              <a:t>_______</a:t>
            </a:r>
            <a:r>
              <a:rPr lang="zh-CN" altLang="en-US" dirty="0" smtClean="0">
                <a:latin typeface="Arial Narrow" pitchFamily="34" charset="0"/>
              </a:rPr>
              <a:t>最稳定（不易失电子）。</a:t>
            </a:r>
            <a:endParaRPr lang="en-US" altLang="zh-CN" dirty="0" smtClean="0">
              <a:latin typeface="Arial Narrow" pitchFamily="34" charset="0"/>
            </a:endParaRPr>
          </a:p>
          <a:p>
            <a:pPr marL="633222" indent="-514350">
              <a:buNone/>
            </a:pPr>
            <a:endParaRPr lang="en-US" altLang="zh-CN" dirty="0" smtClean="0">
              <a:latin typeface="Arial Narrow" pitchFamily="34" charset="0"/>
            </a:endParaRPr>
          </a:p>
          <a:p>
            <a:pPr marL="633222" indent="-514350">
              <a:buNone/>
            </a:pPr>
            <a:r>
              <a:rPr lang="zh-CN" altLang="en-US" dirty="0" smtClean="0">
                <a:solidFill>
                  <a:srgbClr val="660066"/>
                </a:solidFill>
                <a:latin typeface="Arial Narrow" pitchFamily="34" charset="0"/>
              </a:rPr>
              <a:t>还原性</a:t>
            </a:r>
            <a:r>
              <a:rPr lang="en-US" altLang="zh-CN" dirty="0" smtClean="0">
                <a:solidFill>
                  <a:srgbClr val="660066"/>
                </a:solidFill>
                <a:latin typeface="Arial Narrow" pitchFamily="34" charset="0"/>
              </a:rPr>
              <a:t>:  Z &gt; Y &gt; W &gt; X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3908" y="2286000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</a:rPr>
              <a:t>X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5508" y="228600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</a:rPr>
              <a:t>W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76600" y="2829580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Y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8200" y="2829580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Z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76600" y="3743980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Z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00400" y="4734580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C00000"/>
                </a:solidFill>
              </a:rPr>
              <a:t>X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9" grpId="0"/>
      <p:bldP spid="10" grpId="0"/>
      <p:bldP spid="11" grpId="0"/>
      <p:bldP spid="12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资料链接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47800"/>
            <a:ext cx="8686800" cy="5410200"/>
          </a:xfrm>
        </p:spPr>
        <p:txBody>
          <a:bodyPr>
            <a:normAutofit/>
          </a:bodyPr>
          <a:lstStyle/>
          <a:p>
            <a:pPr marL="633222" indent="-514350">
              <a:buFont typeface="+mj-lt"/>
              <a:buAutoNum type="arabicPeriod"/>
            </a:pPr>
            <a:r>
              <a:rPr lang="en-US" altLang="zh-CN" sz="2800" dirty="0" smtClean="0"/>
              <a:t>H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S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H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SO</a:t>
            </a:r>
            <a:r>
              <a:rPr lang="en-US" altLang="zh-CN" sz="2800" baseline="-25000" dirty="0" smtClean="0"/>
              <a:t>4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SO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哪些有还原性，哪些有氧化性，孰强孰弱？</a:t>
            </a:r>
            <a:endParaRPr lang="en-US" altLang="zh-CN" sz="2800" dirty="0" smtClean="0"/>
          </a:p>
          <a:p>
            <a:pPr marL="633222" indent="-514350">
              <a:buNone/>
            </a:pPr>
            <a:r>
              <a:rPr lang="en-US" altLang="zh-CN" sz="2800" dirty="0" smtClean="0"/>
              <a:t>	</a:t>
            </a:r>
            <a:r>
              <a:rPr lang="zh-CN" altLang="en-US" sz="2800" dirty="0" smtClean="0"/>
              <a:t>还原性：</a:t>
            </a:r>
            <a:r>
              <a:rPr lang="en-US" altLang="zh-CN" sz="2800" dirty="0" smtClean="0"/>
              <a:t> H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S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SO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；</a:t>
            </a:r>
            <a:r>
              <a:rPr lang="en-US" altLang="zh-CN" sz="2800" dirty="0" smtClean="0"/>
              <a:t> H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S</a:t>
            </a:r>
            <a:r>
              <a:rPr lang="zh-CN" altLang="en-US" sz="2800" dirty="0" smtClean="0"/>
              <a:t>的还原性较强。</a:t>
            </a:r>
            <a:endParaRPr lang="en-US" altLang="zh-CN" sz="2800" dirty="0" smtClean="0"/>
          </a:p>
          <a:p>
            <a:pPr marL="633222" indent="-514350">
              <a:buNone/>
            </a:pPr>
            <a:r>
              <a:rPr lang="en-US" altLang="zh-CN" sz="2800" dirty="0" smtClean="0"/>
              <a:t>	</a:t>
            </a:r>
            <a:r>
              <a:rPr lang="zh-CN" altLang="en-US" sz="2800" dirty="0" smtClean="0"/>
              <a:t>氧化性：</a:t>
            </a:r>
            <a:r>
              <a:rPr lang="en-US" altLang="zh-CN" sz="2800" dirty="0" smtClean="0"/>
              <a:t> SO</a:t>
            </a:r>
            <a:r>
              <a:rPr lang="en-US" altLang="zh-CN" sz="2800" baseline="-25000" dirty="0" smtClean="0"/>
              <a:t>2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H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SO</a:t>
            </a:r>
            <a:r>
              <a:rPr lang="en-US" altLang="zh-CN" sz="2800" baseline="-25000" dirty="0" smtClean="0"/>
              <a:t>4</a:t>
            </a:r>
            <a:r>
              <a:rPr lang="zh-CN" altLang="en-US" sz="2800" dirty="0" smtClean="0"/>
              <a:t>；</a:t>
            </a:r>
            <a:r>
              <a:rPr lang="en-US" altLang="zh-CN" sz="2800" dirty="0" smtClean="0"/>
              <a:t> H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SO</a:t>
            </a:r>
            <a:r>
              <a:rPr lang="en-US" altLang="zh-CN" sz="2800" baseline="-25000" dirty="0" smtClean="0"/>
              <a:t>4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的氧化性较强。</a:t>
            </a:r>
            <a:r>
              <a:rPr lang="en-US" altLang="zh-CN" sz="2800" dirty="0" smtClean="0"/>
              <a:t> </a:t>
            </a:r>
          </a:p>
          <a:p>
            <a:pPr marL="633222" indent="-514350">
              <a:buFont typeface="+mj-lt"/>
              <a:buAutoNum type="arabicPeriod" startAt="2"/>
            </a:pPr>
            <a:r>
              <a:rPr lang="zh-CN" altLang="en-US" sz="2800" dirty="0" smtClean="0"/>
              <a:t>单质活泼，离子稳定。</a:t>
            </a:r>
            <a:endParaRPr lang="en-US" altLang="zh-CN" sz="2800" dirty="0" smtClean="0"/>
          </a:p>
          <a:p>
            <a:pPr marL="633222" indent="-514350">
              <a:buFont typeface="+mj-lt"/>
              <a:buAutoNum type="arabicPeriod" startAt="2"/>
            </a:pPr>
            <a:r>
              <a:rPr lang="zh-CN" altLang="en-US" sz="2800" dirty="0" smtClean="0"/>
              <a:t>在氧化还原反应中，</a:t>
            </a:r>
            <a:endParaRPr lang="en-US" altLang="zh-CN" sz="2800" dirty="0" smtClean="0"/>
          </a:p>
          <a:p>
            <a:pPr marL="633222" indent="-514350">
              <a:buNone/>
            </a:pPr>
            <a:r>
              <a:rPr lang="en-US" altLang="zh-CN" sz="2800" dirty="0" smtClean="0"/>
              <a:t>	Cl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 + 2NaBr </a:t>
            </a:r>
            <a:r>
              <a:rPr lang="en-US" altLang="zh-CN" sz="2800" dirty="0" smtClean="0">
                <a:sym typeface="Wingdings" pitchFamily="2" charset="2"/>
              </a:rPr>
              <a:t> 2NaCl + Br</a:t>
            </a:r>
            <a:r>
              <a:rPr lang="en-US" altLang="zh-CN" sz="2800" baseline="-25000" dirty="0" smtClean="0">
                <a:sym typeface="Wingdings" pitchFamily="2" charset="2"/>
              </a:rPr>
              <a:t>2</a:t>
            </a:r>
          </a:p>
          <a:p>
            <a:pPr marL="633222" indent="-514350">
              <a:buNone/>
            </a:pPr>
            <a:r>
              <a:rPr lang="en-US" altLang="zh-CN" sz="2800" baseline="-25000" dirty="0" smtClean="0">
                <a:sym typeface="Wingdings" pitchFamily="2" charset="2"/>
              </a:rPr>
              <a:t>	</a:t>
            </a:r>
            <a:r>
              <a:rPr lang="zh-CN" altLang="en-US" sz="2800" dirty="0" smtClean="0"/>
              <a:t>氧化性：</a:t>
            </a:r>
            <a:r>
              <a:rPr lang="en-US" altLang="zh-CN" sz="2800" dirty="0" smtClean="0"/>
              <a:t>Cl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&gt;Br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 </a:t>
            </a:r>
            <a:endParaRPr lang="en-US" altLang="zh-CN" sz="2800" dirty="0" smtClean="0">
              <a:solidFill>
                <a:srgbClr val="7030A0"/>
              </a:solidFill>
            </a:endParaRPr>
          </a:p>
          <a:p>
            <a:pPr marL="633222" indent="-514350">
              <a:buNone/>
            </a:pPr>
            <a:r>
              <a:rPr lang="en-US" altLang="zh-CN" sz="2800" dirty="0" smtClean="0"/>
              <a:t>	</a:t>
            </a:r>
            <a:r>
              <a:rPr lang="zh-CN" altLang="en-US" sz="2800" dirty="0" smtClean="0"/>
              <a:t>还原性：</a:t>
            </a:r>
            <a:r>
              <a:rPr lang="en-US" altLang="zh-CN" sz="2800" dirty="0" smtClean="0"/>
              <a:t>Br</a:t>
            </a:r>
            <a:r>
              <a:rPr lang="en-US" altLang="zh-CN" sz="2800" baseline="30000" dirty="0" smtClean="0"/>
              <a:t>-</a:t>
            </a:r>
            <a:r>
              <a:rPr lang="en-US" altLang="zh-CN" sz="2800" dirty="0" smtClean="0"/>
              <a:t> &gt;</a:t>
            </a:r>
            <a:r>
              <a:rPr lang="en-US" altLang="zh-CN" sz="2800" dirty="0" err="1" smtClean="0"/>
              <a:t>Cl</a:t>
            </a:r>
            <a:r>
              <a:rPr lang="en-US" altLang="zh-CN" sz="2800" baseline="30000" dirty="0" smtClean="0"/>
              <a:t>-</a:t>
            </a:r>
            <a:r>
              <a:rPr lang="en-US" altLang="zh-CN" sz="2800" dirty="0" smtClean="0"/>
              <a:t> </a:t>
            </a:r>
          </a:p>
          <a:p>
            <a:pPr marL="633222" indent="-514350">
              <a:buFont typeface="+mj-lt"/>
              <a:buAutoNum type="arabicPeriod" startAt="4"/>
            </a:pPr>
            <a:r>
              <a:rPr lang="zh-CN" altLang="en-US" sz="2800" dirty="0" smtClean="0"/>
              <a:t>浓硝酸与浓硫酸何者氧化性较强？</a:t>
            </a:r>
            <a:endParaRPr lang="en-US" altLang="zh-CN" sz="2800" dirty="0" smtClean="0"/>
          </a:p>
          <a:p>
            <a:pPr marL="633222" indent="-514350">
              <a:buNone/>
            </a:pPr>
            <a:r>
              <a:rPr lang="en-US" altLang="zh-CN" sz="2800" dirty="0" smtClean="0"/>
              <a:t>	</a:t>
            </a:r>
            <a:r>
              <a:rPr lang="zh-CN" altLang="en-US" sz="2800" dirty="0" smtClean="0"/>
              <a:t>铜片分别与浓硝酸和浓硫酸反应，前者不需加热，表示氧化性浓硝酸</a:t>
            </a:r>
            <a:r>
              <a:rPr lang="en-US" altLang="zh-CN" sz="2800" dirty="0" smtClean="0"/>
              <a:t>&gt; </a:t>
            </a:r>
            <a:r>
              <a:rPr lang="zh-CN" altLang="en-US" sz="2800" dirty="0" smtClean="0"/>
              <a:t>浓硫酸。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思考题</a:t>
            </a:r>
            <a:r>
              <a:rPr lang="en-US" altLang="zh-CN" dirty="0" smtClean="0"/>
              <a:t>8c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smtClean="0"/>
              <a:t>1a	</a:t>
            </a:r>
            <a:r>
              <a:rPr lang="zh-CN" altLang="en-US" dirty="0" smtClean="0"/>
              <a:t>错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Fe</a:t>
            </a:r>
            <a:r>
              <a:rPr lang="en-US" baseline="30000" dirty="0" smtClean="0"/>
              <a:t>2</a:t>
            </a:r>
            <a:r>
              <a:rPr lang="en-US" altLang="zh-CN" baseline="30000" dirty="0" smtClean="0"/>
              <a:t>+</a:t>
            </a:r>
            <a:r>
              <a:rPr lang="en-US" altLang="zh-CN" dirty="0" smtClean="0"/>
              <a:t> </a:t>
            </a:r>
            <a:r>
              <a:rPr lang="en-US" dirty="0" smtClean="0"/>
              <a:t> </a:t>
            </a:r>
            <a:r>
              <a:rPr lang="zh-CN" altLang="en-US" dirty="0" smtClean="0"/>
              <a:t>氧化数能上升也能下降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1b	</a:t>
            </a:r>
            <a:r>
              <a:rPr lang="zh-CN" altLang="en-US" dirty="0" smtClean="0"/>
              <a:t>对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1c	</a:t>
            </a:r>
            <a:r>
              <a:rPr lang="zh-CN" altLang="en-US" dirty="0" smtClean="0"/>
              <a:t>错</a:t>
            </a:r>
            <a:endParaRPr lang="en-US" altLang="zh-CN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altLang="zh-CN" sz="2800" dirty="0" smtClean="0"/>
              <a:t>2</a:t>
            </a:r>
            <a:r>
              <a:rPr lang="en-US" altLang="zh-CN" sz="2800" dirty="0" smtClean="0">
                <a:latin typeface="Arial Narrow" pitchFamily="34" charset="0"/>
              </a:rPr>
              <a:t>HNO</a:t>
            </a:r>
            <a:r>
              <a:rPr lang="en-US" altLang="zh-CN" sz="2800" baseline="-25000" dirty="0" smtClean="0">
                <a:latin typeface="Arial Narrow" pitchFamily="34" charset="0"/>
              </a:rPr>
              <a:t>3</a:t>
            </a:r>
            <a:r>
              <a:rPr lang="en-US" altLang="zh-CN" sz="2800" dirty="0" smtClean="0">
                <a:latin typeface="Arial Narrow" pitchFamily="34" charset="0"/>
              </a:rPr>
              <a:t> + 6 FeSO</a:t>
            </a:r>
            <a:r>
              <a:rPr lang="en-US" altLang="zh-CN" sz="2800" baseline="-25000" dirty="0" smtClean="0">
                <a:latin typeface="Arial Narrow" pitchFamily="34" charset="0"/>
              </a:rPr>
              <a:t>4</a:t>
            </a:r>
            <a:r>
              <a:rPr lang="en-US" altLang="zh-CN" sz="2800" dirty="0" smtClean="0">
                <a:latin typeface="Arial Narrow" pitchFamily="34" charset="0"/>
              </a:rPr>
              <a:t> + 3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sym typeface="Wingdings" pitchFamily="2" charset="2"/>
              </a:rPr>
              <a:t>H</a:t>
            </a:r>
            <a:r>
              <a:rPr lang="en-US" altLang="zh-CN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sym typeface="Wingdings" pitchFamily="2" charset="2"/>
              </a:rPr>
              <a:t>SO</a:t>
            </a:r>
            <a:r>
              <a:rPr lang="en-US" altLang="zh-CN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  3Fe</a:t>
            </a:r>
            <a:r>
              <a:rPr lang="en-US" altLang="zh-CN" sz="2800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(SO</a:t>
            </a:r>
            <a:r>
              <a:rPr lang="en-US" altLang="zh-CN" sz="2800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sz="2800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 + 4H</a:t>
            </a:r>
            <a:r>
              <a:rPr lang="en-US" altLang="zh-CN" sz="2800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O+ 2NO</a:t>
            </a:r>
            <a:endParaRPr lang="en-US" altLang="zh-CN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dirty="0" smtClean="0"/>
              <a:t>1d	</a:t>
            </a:r>
            <a:r>
              <a:rPr lang="zh-CN" altLang="en-US" dirty="0" smtClean="0"/>
              <a:t>对</a:t>
            </a:r>
            <a:endParaRPr lang="en-US" altLang="zh-CN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zh-CN" altLang="en-US" dirty="0" smtClean="0"/>
              <a:t>游离态：单质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1e	</a:t>
            </a:r>
            <a:r>
              <a:rPr lang="zh-CN" altLang="en-US" dirty="0" smtClean="0"/>
              <a:t>错</a:t>
            </a:r>
            <a:endParaRPr lang="en-US" altLang="zh-CN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altLang="zh-CN" dirty="0" smtClean="0"/>
              <a:t>C</a:t>
            </a:r>
            <a:r>
              <a:rPr lang="en-US" altLang="zh-CN" baseline="30000" dirty="0" smtClean="0"/>
              <a:t>4+</a:t>
            </a:r>
            <a:r>
              <a:rPr lang="en-US" altLang="zh-CN" dirty="0" smtClean="0"/>
              <a:t> </a:t>
            </a:r>
            <a:r>
              <a:rPr lang="zh-CN" altLang="en-US" dirty="0" smtClean="0"/>
              <a:t>最高氧化态，只能被还原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思考题</a:t>
            </a:r>
            <a:r>
              <a:rPr lang="en-US" altLang="zh-CN" dirty="0" smtClean="0"/>
              <a:t>8c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6227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 lnSpcReduction="10000"/>
          </a:bodyPr>
          <a:lstStyle/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2 N</a:t>
            </a:r>
            <a:r>
              <a:rPr kumimoji="0" lang="en-US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2</a:t>
            </a:r>
            <a:r>
              <a:rPr lang="en-US" sz="3200" dirty="0" smtClean="0">
                <a:latin typeface="Arial Narrow" pitchFamily="34" charset="0"/>
              </a:rPr>
              <a:t>H</a:t>
            </a:r>
            <a:r>
              <a:rPr lang="en-US" sz="3200" baseline="-25000" dirty="0" smtClean="0">
                <a:latin typeface="Arial Narrow" pitchFamily="34" charset="0"/>
              </a:rPr>
              <a:t>4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+ N</a:t>
            </a:r>
            <a:r>
              <a:rPr kumimoji="0" lang="en-US" altLang="zh-CN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2</a:t>
            </a:r>
            <a:r>
              <a:rPr kumimoji="0" lang="en-US" altLang="zh-CN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O</a:t>
            </a:r>
            <a:r>
              <a:rPr kumimoji="0" lang="en-US" altLang="zh-CN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4</a:t>
            </a:r>
            <a:r>
              <a:rPr kumimoji="0" lang="en-US" altLang="zh-CN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3 N</a:t>
            </a:r>
            <a:r>
              <a:rPr kumimoji="0" lang="en-US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+ 4 H</a:t>
            </a:r>
            <a:r>
              <a:rPr kumimoji="0" lang="en-US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O </a:t>
            </a:r>
            <a:endParaRPr kumimoji="0" lang="en-US" sz="3200" b="0" i="0" u="none" strike="noStrike" kern="1200" cap="none" spc="0" normalizeH="0" baseline="-2500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  <a:sym typeface="Wingdings" pitchFamily="2" charset="2"/>
            </a:endParaRP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endParaRPr kumimoji="0" lang="en-US" sz="3200" b="0" i="0" u="none" strike="noStrike" kern="1200" cap="none" spc="0" normalizeH="0" baseline="-2500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  <a:sym typeface="Wingdings" pitchFamily="2" charset="2"/>
            </a:endParaRPr>
          </a:p>
          <a:p>
            <a:pPr marL="438912" lvl="0" indent="-320040">
              <a:buClr>
                <a:schemeClr val="accent1"/>
              </a:buClr>
              <a:buSzPct val="80000"/>
              <a:defRPr/>
            </a:pPr>
            <a:r>
              <a:rPr kumimoji="0" lang="en-US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 4 </a:t>
            </a:r>
            <a:r>
              <a:rPr lang="en-US" sz="3200" dirty="0" smtClean="0">
                <a:latin typeface="Arial Narrow" pitchFamily="34" charset="0"/>
                <a:sym typeface="Wingdings" pitchFamily="2" charset="2"/>
              </a:rPr>
              <a:t>N</a:t>
            </a:r>
            <a:r>
              <a:rPr kumimoji="0" lang="en-US" sz="32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2-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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2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N</a:t>
            </a:r>
            <a:r>
              <a:rPr kumimoji="0" lang="en-US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lang="en-US" sz="3200" noProof="0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sz="32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sz="3200" dirty="0" smtClean="0">
                <a:latin typeface="Arial Narrow" pitchFamily="34" charset="0"/>
                <a:sym typeface="Wingdings" pitchFamily="2" charset="2"/>
              </a:rPr>
              <a:t>8e</a:t>
            </a:r>
            <a:r>
              <a:rPr lang="en-US" sz="3200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sz="3200" dirty="0" smtClean="0">
                <a:latin typeface="Arial Narrow" pitchFamily="34" charset="0"/>
                <a:sym typeface="Wingdings" pitchFamily="2" charset="2"/>
              </a:rPr>
              <a:t> </a:t>
            </a:r>
            <a:endParaRPr kumimoji="0" lang="en-US" sz="3200" b="0" i="0" u="none" strike="noStrike" kern="1200" cap="none" spc="0" normalizeH="0" baseline="3000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  <a:sym typeface="Wingdings" pitchFamily="2" charset="2"/>
            </a:endParaRP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   </a:t>
            </a:r>
            <a:r>
              <a:rPr lang="en-US" sz="3200" noProof="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lang="en-US" sz="3200" dirty="0" smtClean="0">
                <a:latin typeface="Arial Narrow" pitchFamily="34" charset="0"/>
                <a:sym typeface="Wingdings" pitchFamily="2" charset="2"/>
              </a:rPr>
              <a:t>N</a:t>
            </a:r>
            <a:r>
              <a:rPr lang="en-US" sz="3200" baseline="30000" dirty="0" smtClean="0">
                <a:latin typeface="Arial Narrow" pitchFamily="34" charset="0"/>
                <a:sym typeface="Wingdings" pitchFamily="2" charset="2"/>
              </a:rPr>
              <a:t>4+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 +8e</a:t>
            </a:r>
            <a:r>
              <a:rPr kumimoji="0" lang="en-US" sz="32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-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  N</a:t>
            </a:r>
            <a:r>
              <a:rPr kumimoji="0" lang="en-US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2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  <a:sym typeface="Wingdings" pitchFamily="2" charset="2"/>
            </a:endParaRP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 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还原剂：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N</a:t>
            </a:r>
            <a:r>
              <a:rPr kumimoji="0" lang="en-US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2</a:t>
            </a:r>
            <a:r>
              <a:rPr lang="en-US" sz="3200" dirty="0" smtClean="0">
                <a:latin typeface="Arial Narrow" pitchFamily="34" charset="0"/>
              </a:rPr>
              <a:t>H</a:t>
            </a:r>
            <a:r>
              <a:rPr lang="en-US" sz="3200" baseline="-25000" dirty="0" smtClean="0">
                <a:latin typeface="Arial Narrow" pitchFamily="34" charset="0"/>
              </a:rPr>
              <a:t>4</a:t>
            </a:r>
            <a:r>
              <a:rPr lang="en-US" sz="3200" dirty="0" smtClean="0">
                <a:latin typeface="Arial Narrow" pitchFamily="34" charset="0"/>
              </a:rPr>
              <a:t> 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氧化剂：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N</a:t>
            </a:r>
            <a:r>
              <a:rPr kumimoji="0" lang="en-US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O</a:t>
            </a:r>
            <a:r>
              <a:rPr lang="en-US" sz="3200" baseline="-25000" dirty="0" smtClean="0">
                <a:latin typeface="Arial Narrow" pitchFamily="34" charset="0"/>
              </a:rPr>
              <a:t>4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Ans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: </a:t>
            </a:r>
            <a:r>
              <a:rPr lang="en-US" sz="3200" noProof="0" dirty="0" smtClean="0">
                <a:latin typeface="Arial Narrow" pitchFamily="34" charset="0"/>
                <a:sym typeface="Wingdings" pitchFamily="2" charset="2"/>
              </a:rPr>
              <a:t>D 	</a:t>
            </a:r>
            <a:r>
              <a:rPr lang="zh-CN" altLang="en-US" sz="3200" noProof="0" dirty="0" smtClean="0">
                <a:latin typeface="Arial Narrow" pitchFamily="34" charset="0"/>
                <a:sym typeface="Wingdings" pitchFamily="2" charset="2"/>
              </a:rPr>
              <a:t>被还原后的产物：还原产物；</a:t>
            </a:r>
            <a:endParaRPr lang="en-US" altLang="zh-CN" sz="3200" noProof="0" dirty="0" smtClean="0">
              <a:latin typeface="Arial Narrow" pitchFamily="34" charset="0"/>
              <a:sym typeface="Wingdings" pitchFamily="2" charset="2"/>
            </a:endParaRP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			</a:t>
            </a:r>
            <a:r>
              <a:rPr lang="zh-CN" altLang="en-US" sz="3200" noProof="0" dirty="0" smtClean="0">
                <a:latin typeface="Arial Narrow" pitchFamily="34" charset="0"/>
                <a:sym typeface="Wingdings" pitchFamily="2" charset="2"/>
              </a:rPr>
              <a:t>被氧化后的产物：氧化产物</a:t>
            </a:r>
            <a:endParaRPr lang="en-US" altLang="zh-CN" sz="3200" noProof="0" dirty="0" smtClean="0"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800" y="14478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002060"/>
                </a:solidFill>
                <a:latin typeface="Arial Narrow" pitchFamily="34" charset="0"/>
              </a:rPr>
              <a:t> -2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57400" y="14286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002060"/>
                </a:solidFill>
                <a:latin typeface="Arial Narrow" pitchFamily="34" charset="0"/>
              </a:rPr>
              <a:t>+4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0" y="14478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62400" y="2996625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还原反应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62400" y="2387025"/>
            <a:ext cx="18261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氧化反应</a:t>
            </a:r>
            <a:endParaRPr lang="en-US" sz="3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7" grpId="0"/>
      <p:bldP spid="9" grpId="0"/>
      <p:bldP spid="13" grpId="0" uiExpand="1"/>
      <p:bldP spid="14" grpId="0" uiExpan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问题解决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3222" indent="-514350">
              <a:buFont typeface="+mj-lt"/>
              <a:buAutoNum type="arabicPeriod"/>
            </a:pPr>
            <a:r>
              <a:rPr lang="en-US" altLang="zh-CN" dirty="0" smtClean="0">
                <a:latin typeface="Arial Narrow" pitchFamily="34" charset="0"/>
              </a:rPr>
              <a:t>Zn + H</a:t>
            </a:r>
            <a:r>
              <a:rPr lang="en-US" altLang="zh-CN" baseline="-25000" dirty="0" smtClean="0">
                <a:latin typeface="Arial Narrow" pitchFamily="34" charset="0"/>
              </a:rPr>
              <a:t>2</a:t>
            </a:r>
            <a:r>
              <a:rPr lang="en-US" altLang="zh-CN" dirty="0" smtClean="0">
                <a:latin typeface="Arial Narrow" pitchFamily="34" charset="0"/>
              </a:rPr>
              <a:t> SO</a:t>
            </a:r>
            <a:r>
              <a:rPr lang="en-US" altLang="zh-CN" baseline="-25000" dirty="0" smtClean="0">
                <a:latin typeface="Arial Narrow" pitchFamily="34" charset="0"/>
              </a:rPr>
              <a:t>4</a:t>
            </a:r>
            <a:r>
              <a:rPr lang="en-US" altLang="zh-CN" dirty="0" smtClean="0">
                <a:latin typeface="Arial Narrow" pitchFamily="34" charset="0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ZnSO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</a:t>
            </a:r>
          </a:p>
          <a:p>
            <a:pPr marL="633222" indent="-514350">
              <a:buFont typeface="+mj-lt"/>
              <a:buAutoNum type="arabicPeriod"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Fe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C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2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Fe + 3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C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 marL="633222" indent="-514350">
              <a:buFont typeface="+mj-lt"/>
              <a:buAutoNum type="arabicPeriod"/>
            </a:pP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MnO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4 </a:t>
            </a:r>
            <a:r>
              <a:rPr lang="en-US" altLang="zh-CN" dirty="0" err="1" smtClean="0">
                <a:latin typeface="Arial Narrow" pitchFamily="34" charset="0"/>
                <a:sym typeface="Wingdings" pitchFamily="2" charset="2"/>
              </a:rPr>
              <a:t>HCl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MnCl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Cl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+ 2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54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290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0" y="1600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95400" y="2286000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Zn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Zn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+2e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          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氧化反应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95400" y="2667000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2H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+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 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H</a:t>
            </a:r>
            <a:r>
              <a:rPr lang="en-US" altLang="zh-CN" sz="2400" b="1" baseline="-25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	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还原反应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43000" y="3124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+3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38400" y="3124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38600" y="31050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76800" y="31050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+4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95400" y="3729335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2Fe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3+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+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6e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2Fe         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还原反应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95400" y="4038600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3C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2+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3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C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4+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+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6e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         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氧化反应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30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+4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718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86200" y="4572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81600" y="4552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95400" y="5253335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Mn</a:t>
            </a:r>
            <a:r>
              <a:rPr lang="en-US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4+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+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Mn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       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还原反应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19200" y="5634335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2 </a:t>
            </a:r>
            <a:r>
              <a:rPr lang="en-US" altLang="zh-CN" sz="2400" b="1" dirty="0" err="1" smtClean="0">
                <a:solidFill>
                  <a:srgbClr val="002060"/>
                </a:solidFill>
                <a:latin typeface="Arial Narrow" pitchFamily="34" charset="0"/>
              </a:rPr>
              <a:t>Cl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sz="2400" b="1" dirty="0" smtClean="0">
                <a:solidFill>
                  <a:srgbClr val="002060"/>
                </a:solidFill>
                <a:latin typeface="Arial Narrow" pitchFamily="34" charset="0"/>
              </a:rPr>
              <a:t> 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  Cl</a:t>
            </a:r>
            <a:r>
              <a:rPr lang="en-US" altLang="zh-CN" sz="2400" b="1" baseline="-25000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 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</a:rPr>
              <a:t>+2e</a:t>
            </a:r>
            <a:r>
              <a:rPr lang="en-US" altLang="zh-CN" sz="2400" b="1" baseline="30000" dirty="0" smtClean="0">
                <a:solidFill>
                  <a:srgbClr val="002060"/>
                </a:solidFill>
                <a:latin typeface="Arial Narrow" pitchFamily="34" charset="0"/>
              </a:rPr>
              <a:t>-</a:t>
            </a:r>
            <a:r>
              <a:rPr lang="en-US" altLang="zh-CN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 	 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Narrow" pitchFamily="34" charset="0"/>
                <a:sym typeface="Wingdings" pitchFamily="2" charset="2"/>
              </a:rPr>
              <a:t>氧化反应</a:t>
            </a:r>
            <a:endParaRPr lang="en-US" altLang="zh-CN" sz="2400" b="1" dirty="0" smtClean="0">
              <a:solidFill>
                <a:srgbClr val="002060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76716" y="2286000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  <a:latin typeface="+mn-ea"/>
              </a:rPr>
              <a:t>还原剂：</a:t>
            </a:r>
            <a:r>
              <a:rPr lang="en-US" altLang="zh-CN" sz="2400" b="1" dirty="0" smtClean="0">
                <a:solidFill>
                  <a:srgbClr val="7030A0"/>
                </a:solidFill>
                <a:latin typeface="+mn-ea"/>
              </a:rPr>
              <a:t>Zn</a:t>
            </a:r>
            <a:endParaRPr lang="en-US" sz="24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57480" y="2662535"/>
            <a:ext cx="2451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  <a:latin typeface="+mn-ea"/>
              </a:rPr>
              <a:t>氧化剂：</a:t>
            </a:r>
            <a:r>
              <a:rPr lang="en-US" altLang="zh-CN" sz="2400" b="1" dirty="0" smtClean="0">
                <a:solidFill>
                  <a:srgbClr val="7030A0"/>
                </a:solidFill>
                <a:latin typeface="+mn-ea"/>
              </a:rPr>
              <a:t>H</a:t>
            </a:r>
            <a:r>
              <a:rPr lang="en-US" altLang="zh-CN" sz="2400" b="1" baseline="-25000" dirty="0" smtClean="0">
                <a:solidFill>
                  <a:srgbClr val="7030A0"/>
                </a:solidFill>
                <a:latin typeface="+mn-ea"/>
              </a:rPr>
              <a:t>2</a:t>
            </a:r>
            <a:r>
              <a:rPr lang="en-US" altLang="zh-CN" sz="2400" b="1" dirty="0" smtClean="0">
                <a:solidFill>
                  <a:srgbClr val="7030A0"/>
                </a:solidFill>
                <a:latin typeface="+mn-ea"/>
              </a:rPr>
              <a:t>SO</a:t>
            </a:r>
            <a:r>
              <a:rPr lang="en-US" altLang="zh-CN" sz="2400" b="1" baseline="-25000" dirty="0" smtClean="0">
                <a:solidFill>
                  <a:srgbClr val="7030A0"/>
                </a:solidFill>
                <a:latin typeface="+mn-ea"/>
              </a:rPr>
              <a:t>4</a:t>
            </a:r>
            <a:endParaRPr lang="en-US" sz="24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886636" y="3733800"/>
            <a:ext cx="2271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  <a:latin typeface="+mn-ea"/>
              </a:rPr>
              <a:t>氧化剂：</a:t>
            </a:r>
            <a:r>
              <a:rPr lang="en-US" altLang="zh-CN" sz="2400" b="1" dirty="0" smtClean="0">
                <a:solidFill>
                  <a:srgbClr val="7030A0"/>
                </a:solidFill>
                <a:latin typeface="+mn-ea"/>
              </a:rPr>
              <a:t>Fe</a:t>
            </a:r>
            <a:r>
              <a:rPr lang="en-US" altLang="zh-CN" sz="2400" b="1" baseline="-25000" dirty="0" smtClean="0">
                <a:solidFill>
                  <a:srgbClr val="7030A0"/>
                </a:solidFill>
                <a:latin typeface="+mn-ea"/>
              </a:rPr>
              <a:t>2</a:t>
            </a:r>
            <a:r>
              <a:rPr lang="en-US" altLang="zh-CN" sz="2400" b="1" dirty="0" smtClean="0">
                <a:solidFill>
                  <a:srgbClr val="7030A0"/>
                </a:solidFill>
                <a:latin typeface="+mn-ea"/>
              </a:rPr>
              <a:t>O</a:t>
            </a:r>
            <a:r>
              <a:rPr lang="en-US" altLang="zh-CN" sz="2400" b="1" baseline="-25000" dirty="0" smtClean="0">
                <a:solidFill>
                  <a:srgbClr val="7030A0"/>
                </a:solidFill>
                <a:latin typeface="+mn-ea"/>
              </a:rPr>
              <a:t>3</a:t>
            </a:r>
            <a:endParaRPr lang="en-US" sz="24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867400" y="4110335"/>
            <a:ext cx="1870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  <a:latin typeface="+mn-ea"/>
              </a:rPr>
              <a:t>还原剂：</a:t>
            </a:r>
            <a:r>
              <a:rPr lang="en-US" altLang="zh-CN" sz="2400" b="1" dirty="0" smtClean="0">
                <a:solidFill>
                  <a:srgbClr val="7030A0"/>
                </a:solidFill>
                <a:latin typeface="+mn-ea"/>
              </a:rPr>
              <a:t>CO</a:t>
            </a:r>
            <a:endParaRPr lang="en-US" sz="24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62836" y="5257800"/>
            <a:ext cx="2308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  <a:latin typeface="+mn-ea"/>
              </a:rPr>
              <a:t>氧化剂：</a:t>
            </a:r>
            <a:r>
              <a:rPr lang="en-US" altLang="zh-CN" sz="2400" b="1" dirty="0" smtClean="0">
                <a:solidFill>
                  <a:srgbClr val="7030A0"/>
                </a:solidFill>
                <a:latin typeface="+mn-ea"/>
              </a:rPr>
              <a:t>MnO</a:t>
            </a:r>
            <a:r>
              <a:rPr lang="en-US" altLang="zh-CN" sz="2400" b="1" baseline="-25000" dirty="0" smtClean="0">
                <a:solidFill>
                  <a:srgbClr val="7030A0"/>
                </a:solidFill>
                <a:latin typeface="+mn-ea"/>
              </a:rPr>
              <a:t>2</a:t>
            </a:r>
            <a:endParaRPr lang="en-US" sz="24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43600" y="5634335"/>
            <a:ext cx="1967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7030A0"/>
                </a:solidFill>
                <a:latin typeface="+mn-ea"/>
              </a:rPr>
              <a:t>还原剂：</a:t>
            </a:r>
            <a:r>
              <a:rPr lang="en-US" altLang="zh-CN" sz="2400" b="1" dirty="0" err="1" smtClean="0">
                <a:solidFill>
                  <a:srgbClr val="7030A0"/>
                </a:solidFill>
                <a:latin typeface="+mn-ea"/>
              </a:rPr>
              <a:t>HCl</a:t>
            </a:r>
            <a:endParaRPr lang="en-US" sz="2400" b="1" dirty="0">
              <a:solidFill>
                <a:srgbClr val="7030A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8.4</a:t>
            </a:r>
            <a:r>
              <a:rPr lang="zh-CN" altLang="en-US" dirty="0" smtClean="0"/>
              <a:t>氧化还原反应方程式的配平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5191"/>
            <a:ext cx="8458200" cy="4625609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latin typeface="Arial Narrow" pitchFamily="34" charset="0"/>
              </a:rPr>
              <a:t>   </a:t>
            </a:r>
            <a:r>
              <a:rPr lang="en-US" altLang="zh-CN" baseline="-25000" dirty="0" smtClean="0">
                <a:latin typeface="Arial Narrow" pitchFamily="34" charset="0"/>
              </a:rPr>
              <a:t> </a:t>
            </a:r>
            <a:r>
              <a:rPr lang="en-US" altLang="zh-CN" dirty="0" smtClean="0">
                <a:latin typeface="Arial Narrow" pitchFamily="34" charset="0"/>
              </a:rPr>
              <a:t> S  +     KOH</a:t>
            </a:r>
            <a:r>
              <a:rPr lang="en-US" altLang="zh-CN" baseline="-25000" dirty="0" smtClean="0">
                <a:latin typeface="Arial Narrow" pitchFamily="34" charset="0"/>
              </a:rPr>
              <a:t>(</a:t>
            </a:r>
            <a:r>
              <a:rPr lang="zh-CN" altLang="en-US" baseline="-25000" dirty="0" smtClean="0">
                <a:latin typeface="Arial Narrow" pitchFamily="34" charset="0"/>
              </a:rPr>
              <a:t>浓</a:t>
            </a:r>
            <a:r>
              <a:rPr lang="en-US" altLang="zh-CN" baseline="-25000" dirty="0" smtClean="0">
                <a:latin typeface="Arial Narrow" pitchFamily="34" charset="0"/>
              </a:rPr>
              <a:t>)</a:t>
            </a:r>
            <a:r>
              <a:rPr lang="en-US" altLang="zh-CN" dirty="0" smtClean="0">
                <a:latin typeface="Arial Narrow" pitchFamily="34" charset="0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   K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S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   K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  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</a:p>
          <a:p>
            <a:endParaRPr lang="en-US" altLang="zh-CN" dirty="0" smtClean="0">
              <a:latin typeface="Arial Narrow" pitchFamily="34" charset="0"/>
              <a:sym typeface="Wingdings" pitchFamily="2" charset="2"/>
            </a:endParaRPr>
          </a:p>
          <a:p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 ClO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- 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(</a:t>
            </a:r>
            <a:r>
              <a:rPr lang="en-US" altLang="zh-CN" baseline="-25000" dirty="0" err="1" smtClean="0">
                <a:latin typeface="Arial Narrow" pitchFamily="34" charset="0"/>
                <a:sym typeface="Wingdings" pitchFamily="2" charset="2"/>
              </a:rPr>
              <a:t>aq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 Fe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(</a:t>
            </a:r>
            <a:r>
              <a:rPr lang="en-US" altLang="zh-CN" baseline="-25000" dirty="0" err="1" smtClean="0">
                <a:latin typeface="Arial Narrow" pitchFamily="34" charset="0"/>
                <a:sym typeface="Wingdings" pitchFamily="2" charset="2"/>
              </a:rPr>
              <a:t>aq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		 </a:t>
            </a:r>
            <a:r>
              <a:rPr lang="en-US" altLang="zh-CN" dirty="0" err="1" smtClean="0">
                <a:latin typeface="Arial Narrow" pitchFamily="34" charset="0"/>
                <a:sym typeface="Wingdings" pitchFamily="2" charset="2"/>
              </a:rPr>
              <a:t>Cl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(</a:t>
            </a:r>
            <a:r>
              <a:rPr lang="en-US" altLang="zh-CN" baseline="-25000" dirty="0" err="1" smtClean="0">
                <a:latin typeface="Arial Narrow" pitchFamily="34" charset="0"/>
                <a:sym typeface="Wingdings" pitchFamily="2" charset="2"/>
              </a:rPr>
              <a:t>aq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  Fe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3+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(</a:t>
            </a:r>
            <a:r>
              <a:rPr lang="en-US" altLang="zh-CN" baseline="-25000" dirty="0" err="1" smtClean="0">
                <a:latin typeface="Arial Narrow" pitchFamily="34" charset="0"/>
                <a:sym typeface="Wingdings" pitchFamily="2" charset="2"/>
              </a:rPr>
              <a:t>aq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</a:t>
            </a:r>
          </a:p>
          <a:p>
            <a:endParaRPr lang="en-US" altLang="zh-CN" dirty="0" smtClean="0">
              <a:latin typeface="Arial Narrow" pitchFamily="34" charset="0"/>
              <a:sym typeface="Wingdings" pitchFamily="2" charset="2"/>
            </a:endParaRPr>
          </a:p>
          <a:p>
            <a:r>
              <a:rPr lang="zh-CN" altLang="en-US" dirty="0" smtClean="0">
                <a:latin typeface="Arial Narrow" pitchFamily="34" charset="0"/>
                <a:sym typeface="Wingdings" pitchFamily="2" charset="2"/>
              </a:rPr>
              <a:t>答案：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	</a:t>
            </a: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	</a:t>
            </a:r>
            <a:r>
              <a:rPr lang="en-US" altLang="zh-CN" dirty="0" smtClean="0">
                <a:solidFill>
                  <a:srgbClr val="FF0000"/>
                </a:solidFill>
                <a:latin typeface="Arial Narrow" pitchFamily="34" charset="0"/>
              </a:rPr>
              <a:t>3</a:t>
            </a:r>
            <a:r>
              <a:rPr lang="en-US" altLang="zh-CN" dirty="0" smtClean="0">
                <a:latin typeface="Arial Narrow" pitchFamily="34" charset="0"/>
              </a:rPr>
              <a:t>S  +  </a:t>
            </a:r>
            <a:r>
              <a:rPr lang="en-US" altLang="zh-CN" dirty="0" smtClean="0">
                <a:solidFill>
                  <a:srgbClr val="FF0000"/>
                </a:solidFill>
                <a:latin typeface="Arial Narrow" pitchFamily="34" charset="0"/>
              </a:rPr>
              <a:t>6</a:t>
            </a:r>
            <a:r>
              <a:rPr lang="en-US" altLang="zh-CN" dirty="0" smtClean="0">
                <a:latin typeface="Arial Narrow" pitchFamily="34" charset="0"/>
              </a:rPr>
              <a:t> KOH</a:t>
            </a:r>
            <a:r>
              <a:rPr lang="en-US" altLang="zh-CN" baseline="-25000" dirty="0" smtClean="0">
                <a:latin typeface="Arial Narrow" pitchFamily="34" charset="0"/>
              </a:rPr>
              <a:t>(</a:t>
            </a:r>
            <a:r>
              <a:rPr lang="zh-CN" altLang="en-US" baseline="-25000" dirty="0" smtClean="0">
                <a:latin typeface="Arial Narrow" pitchFamily="34" charset="0"/>
              </a:rPr>
              <a:t>浓</a:t>
            </a:r>
            <a:r>
              <a:rPr lang="en-US" altLang="zh-CN" baseline="-25000" dirty="0" smtClean="0">
                <a:latin typeface="Arial Narrow" pitchFamily="34" charset="0"/>
              </a:rPr>
              <a:t>)</a:t>
            </a:r>
            <a:r>
              <a:rPr lang="en-US" altLang="zh-CN" dirty="0" smtClean="0">
                <a:latin typeface="Arial Narrow" pitchFamily="34" charset="0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</a:t>
            </a:r>
            <a:r>
              <a:rPr lang="en-US" altLang="zh-CN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K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S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  </a:t>
            </a:r>
            <a:r>
              <a:rPr lang="en-US" altLang="zh-CN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1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K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</a:t>
            </a:r>
            <a:r>
              <a:rPr lang="en-US" altLang="zh-CN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3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</a:p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1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ClO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- 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(</a:t>
            </a:r>
            <a:r>
              <a:rPr lang="en-US" altLang="zh-CN" baseline="-25000" dirty="0" err="1" smtClean="0">
                <a:latin typeface="Arial Narrow" pitchFamily="34" charset="0"/>
                <a:sym typeface="Wingdings" pitchFamily="2" charset="2"/>
              </a:rPr>
              <a:t>aq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 </a:t>
            </a:r>
            <a:r>
              <a:rPr lang="en-US" altLang="zh-CN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6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Fe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(</a:t>
            </a:r>
            <a:r>
              <a:rPr lang="en-US" altLang="zh-CN" baseline="-25000" dirty="0" err="1" smtClean="0">
                <a:latin typeface="Arial Narrow" pitchFamily="34" charset="0"/>
                <a:sym typeface="Wingdings" pitchFamily="2" charset="2"/>
              </a:rPr>
              <a:t>aq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altLang="zh-CN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6H</a:t>
            </a:r>
            <a:r>
              <a:rPr lang="en-US" altLang="zh-CN" baseline="30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+</a:t>
            </a:r>
            <a:r>
              <a:rPr lang="en-US" altLang="zh-CN" baseline="-25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(</a:t>
            </a:r>
            <a:r>
              <a:rPr lang="en-US" altLang="zh-CN" baseline="-25000" dirty="0" err="1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aq</a:t>
            </a:r>
            <a:r>
              <a:rPr lang="en-US" altLang="zh-CN" baseline="-25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</a:t>
            </a:r>
            <a:r>
              <a:rPr lang="en-US" altLang="zh-CN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1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Cl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(</a:t>
            </a:r>
            <a:r>
              <a:rPr lang="en-US" altLang="zh-CN" baseline="-25000" dirty="0" err="1" smtClean="0">
                <a:latin typeface="Arial Narrow" pitchFamily="34" charset="0"/>
                <a:sym typeface="Wingdings" pitchFamily="2" charset="2"/>
              </a:rPr>
              <a:t>aq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altLang="zh-CN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6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Fe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3+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(</a:t>
            </a:r>
            <a:r>
              <a:rPr lang="en-US" altLang="zh-CN" baseline="-25000" dirty="0" err="1" smtClean="0">
                <a:latin typeface="Arial Narrow" pitchFamily="34" charset="0"/>
                <a:sym typeface="Wingdings" pitchFamily="2" charset="2"/>
              </a:rPr>
              <a:t>aq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 </a:t>
            </a:r>
            <a:r>
              <a:rPr lang="en-US" altLang="zh-CN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3H</a:t>
            </a:r>
            <a:r>
              <a:rPr lang="en-US" altLang="zh-CN" baseline="-25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O</a:t>
            </a:r>
            <a:r>
              <a:rPr lang="en-US" altLang="zh-CN" baseline="-25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(l)</a:t>
            </a:r>
            <a:endParaRPr lang="en-US" altLang="zh-CN" dirty="0" smtClean="0">
              <a:latin typeface="Arial Narrow" pitchFamily="34" charset="0"/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8.4.1</a:t>
            </a:r>
            <a:r>
              <a:rPr lang="zh-CN" altLang="en-US" dirty="0" smtClean="0"/>
              <a:t>氧化数法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981200"/>
            <a:ext cx="8564880" cy="3886200"/>
          </a:xfrm>
        </p:spPr>
        <p:txBody>
          <a:bodyPr>
            <a:normAutofit/>
          </a:bodyPr>
          <a:lstStyle/>
          <a:p>
            <a:pPr marL="916686" lvl="1" indent="-514350">
              <a:buFont typeface="+mj-lt"/>
              <a:buAutoNum type="arabicPeriod"/>
            </a:pPr>
            <a:r>
              <a:rPr lang="zh-CN" altLang="en-US" sz="3200" dirty="0" smtClean="0">
                <a:latin typeface="Arial Narrow" pitchFamily="34" charset="0"/>
              </a:rPr>
              <a:t>找出氧化数改变的元素</a:t>
            </a:r>
            <a:endParaRPr lang="en-US" altLang="zh-CN" sz="3200" dirty="0" smtClean="0">
              <a:latin typeface="Arial Narrow" pitchFamily="34" charset="0"/>
            </a:endParaRPr>
          </a:p>
          <a:p>
            <a:pPr marL="916686" lvl="1" indent="-514350">
              <a:buFont typeface="+mj-lt"/>
              <a:buAutoNum type="arabicPeriod"/>
            </a:pPr>
            <a:r>
              <a:rPr lang="zh-CN" altLang="en-US" sz="3200" dirty="0" smtClean="0">
                <a:latin typeface="Arial Narrow" pitchFamily="34" charset="0"/>
              </a:rPr>
              <a:t>写出半反应式</a:t>
            </a:r>
            <a:endParaRPr lang="en-US" altLang="zh-CN" sz="3200" dirty="0" smtClean="0">
              <a:latin typeface="Arial Narrow" pitchFamily="34" charset="0"/>
            </a:endParaRPr>
          </a:p>
          <a:p>
            <a:pPr marL="916686" lvl="1" indent="-514350">
              <a:buFont typeface="+mj-lt"/>
              <a:buAutoNum type="arabicPeriod"/>
            </a:pPr>
            <a:r>
              <a:rPr lang="zh-CN" altLang="en-US" sz="3200" dirty="0" smtClean="0">
                <a:latin typeface="Arial Narrow" pitchFamily="34" charset="0"/>
              </a:rPr>
              <a:t>使电子的得失相等</a:t>
            </a:r>
            <a:endParaRPr lang="en-US" altLang="zh-CN" sz="3200" dirty="0" smtClean="0">
              <a:latin typeface="Arial Narrow" pitchFamily="34" charset="0"/>
            </a:endParaRPr>
          </a:p>
          <a:p>
            <a:pPr marL="916686" lvl="1" indent="-514350">
              <a:buFont typeface="+mj-lt"/>
              <a:buAutoNum type="arabicPeriod"/>
            </a:pPr>
            <a:r>
              <a:rPr lang="zh-CN" altLang="en-US" sz="3200" dirty="0" smtClean="0">
                <a:latin typeface="Arial Narrow" pitchFamily="34" charset="0"/>
              </a:rPr>
              <a:t>确定各化学式的系数</a:t>
            </a:r>
            <a:endParaRPr lang="en-US" altLang="zh-CN" sz="3200" dirty="0" smtClean="0">
              <a:latin typeface="Arial Narrow" pitchFamily="34" charset="0"/>
            </a:endParaRPr>
          </a:p>
          <a:p>
            <a:pPr marL="916686" lvl="1" indent="-514350">
              <a:buFont typeface="+mj-lt"/>
              <a:buAutoNum type="arabicPeriod"/>
            </a:pPr>
            <a:r>
              <a:rPr lang="zh-CN" altLang="en-US" sz="3200" dirty="0" smtClean="0">
                <a:latin typeface="Arial Narrow" pitchFamily="34" charset="0"/>
              </a:rPr>
              <a:t>观察法</a:t>
            </a:r>
            <a:endParaRPr lang="en-MY" sz="3200" dirty="0">
              <a:latin typeface="Arial Narrow" pitchFamily="34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005840" y="1524000"/>
            <a:ext cx="813816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 Narrow" pitchFamily="34" charset="0"/>
              </a:rPr>
              <a:t>例题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1"/>
            <a:ext cx="8229600" cy="4724400"/>
          </a:xfrm>
        </p:spPr>
        <p:txBody>
          <a:bodyPr/>
          <a:lstStyle/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FeCl</a:t>
            </a:r>
            <a:r>
              <a:rPr lang="en-US" altLang="zh-CN" baseline="-25000" dirty="0" smtClean="0">
                <a:latin typeface="Arial Narrow" pitchFamily="34" charset="0"/>
              </a:rPr>
              <a:t>3</a:t>
            </a:r>
            <a:r>
              <a:rPr lang="en-US" altLang="zh-CN" dirty="0" smtClean="0">
                <a:latin typeface="Arial Narrow" pitchFamily="34" charset="0"/>
              </a:rPr>
              <a:t> +     H</a:t>
            </a:r>
            <a:r>
              <a:rPr lang="en-US" altLang="zh-CN" baseline="-25000" dirty="0" smtClean="0">
                <a:latin typeface="Arial Narrow" pitchFamily="34" charset="0"/>
              </a:rPr>
              <a:t>2</a:t>
            </a:r>
            <a:r>
              <a:rPr lang="en-US" altLang="zh-CN" dirty="0" smtClean="0">
                <a:latin typeface="Arial Narrow" pitchFamily="34" charset="0"/>
              </a:rPr>
              <a:t>S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  FeCl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    </a:t>
            </a:r>
            <a:r>
              <a:rPr lang="en-US" altLang="zh-CN" dirty="0" err="1" smtClean="0">
                <a:latin typeface="Arial Narrow" pitchFamily="34" charset="0"/>
                <a:sym typeface="Wingdings" pitchFamily="2" charset="2"/>
              </a:rPr>
              <a:t>HCl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   S</a:t>
            </a:r>
          </a:p>
          <a:p>
            <a:pPr>
              <a:buNone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		Fe</a:t>
            </a:r>
            <a:r>
              <a:rPr lang="en-US" baseline="30000" dirty="0" smtClean="0">
                <a:latin typeface="Arial Narrow" pitchFamily="34" charset="0"/>
              </a:rPr>
              <a:t>3+</a:t>
            </a:r>
            <a:r>
              <a:rPr lang="en-US" dirty="0" smtClean="0">
                <a:latin typeface="Arial Narrow" pitchFamily="34" charset="0"/>
              </a:rPr>
              <a:t>  + e</a:t>
            </a:r>
            <a:r>
              <a:rPr lang="en-US" baseline="30000" dirty="0" smtClean="0">
                <a:latin typeface="Arial Narrow" pitchFamily="34" charset="0"/>
              </a:rPr>
              <a:t>-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  Fe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2+ </a:t>
            </a:r>
          </a:p>
          <a:p>
            <a:pPr>
              <a:buNone/>
            </a:pP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		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S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2-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 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S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0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+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2e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</a:rPr>
              <a:t>Fe</a:t>
            </a:r>
            <a:r>
              <a:rPr lang="en-US" baseline="30000" dirty="0" smtClean="0">
                <a:latin typeface="Arial Narrow" pitchFamily="34" charset="0"/>
              </a:rPr>
              <a:t>3+</a:t>
            </a:r>
            <a:r>
              <a:rPr lang="en-US" dirty="0" smtClean="0">
                <a:latin typeface="Arial Narrow" pitchFamily="34" charset="0"/>
              </a:rPr>
              <a:t>  +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S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2-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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Fe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2+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S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0</a:t>
            </a:r>
          </a:p>
          <a:p>
            <a:pPr>
              <a:buNone/>
            </a:pPr>
            <a:r>
              <a:rPr lang="en-US" baseline="30000" dirty="0" smtClean="0">
                <a:solidFill>
                  <a:srgbClr val="003300"/>
                </a:solidFill>
                <a:latin typeface="Arial Narrow" pitchFamily="34" charset="0"/>
                <a:sym typeface="Wingdings" pitchFamily="2" charset="2"/>
              </a:rPr>
              <a:t>	</a:t>
            </a:r>
            <a:endParaRPr lang="en-US" dirty="0" smtClean="0">
              <a:solidFill>
                <a:srgbClr val="003300"/>
              </a:solidFill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2 FeCl</a:t>
            </a:r>
            <a:r>
              <a:rPr lang="en-US" altLang="zh-CN" baseline="-25000" dirty="0" smtClean="0">
                <a:latin typeface="Arial Narrow" pitchFamily="34" charset="0"/>
              </a:rPr>
              <a:t>3</a:t>
            </a:r>
            <a:r>
              <a:rPr lang="en-US" altLang="zh-CN" dirty="0" smtClean="0">
                <a:latin typeface="Arial Narrow" pitchFamily="34" charset="0"/>
              </a:rPr>
              <a:t> +  H</a:t>
            </a:r>
            <a:r>
              <a:rPr lang="en-US" altLang="zh-CN" baseline="-25000" dirty="0" smtClean="0">
                <a:latin typeface="Arial Narrow" pitchFamily="34" charset="0"/>
              </a:rPr>
              <a:t>2</a:t>
            </a:r>
            <a:r>
              <a:rPr lang="en-US" altLang="zh-CN" dirty="0" smtClean="0">
                <a:latin typeface="Arial Narrow" pitchFamily="34" charset="0"/>
              </a:rPr>
              <a:t>S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 2 FeCl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   2 </a:t>
            </a:r>
            <a:r>
              <a:rPr lang="en-US" altLang="zh-CN" dirty="0" err="1" smtClean="0">
                <a:latin typeface="Arial Narrow" pitchFamily="34" charset="0"/>
                <a:sym typeface="Wingdings" pitchFamily="2" charset="2"/>
              </a:rPr>
              <a:t>HCl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S</a:t>
            </a:r>
          </a:p>
          <a:p>
            <a:pPr>
              <a:buNone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504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+3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33600" y="148578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4600" y="1504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0" y="1504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+</a:t>
            </a:r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2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38600" y="1504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0" y="1504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6800" y="1504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10200" y="1524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1524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1504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+3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0" y="1504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</a:t>
            </a:r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14600" y="15048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15240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67200" y="266700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Narrow" pitchFamily="34" charset="0"/>
              </a:rPr>
              <a:t>x2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609600" y="3733800"/>
            <a:ext cx="533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4800" y="176278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05000" y="176278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660066"/>
                </a:solidFill>
                <a:latin typeface="Arial Narrow" pitchFamily="34" charset="0"/>
              </a:rPr>
              <a:t>1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76600" y="17526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660066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19800" y="17526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660066"/>
                </a:solidFill>
                <a:latin typeface="Arial Narrow" pitchFamily="34" charset="0"/>
              </a:rPr>
              <a:t>1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24400" y="17526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3300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22" grpId="0"/>
      <p:bldP spid="23" grpId="0"/>
      <p:bldP spid="24" grpId="0"/>
      <p:bldP spid="25" grpId="0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 Narrow" pitchFamily="34" charset="0"/>
              </a:rPr>
              <a:t>问题解决（</a:t>
            </a:r>
            <a:r>
              <a:rPr lang="en-US" altLang="zh-CN" dirty="0" smtClean="0">
                <a:latin typeface="Arial Narrow" pitchFamily="34" charset="0"/>
              </a:rPr>
              <a:t>1</a:t>
            </a:r>
            <a:r>
              <a:rPr lang="zh-CN" altLang="en-US" dirty="0" smtClean="0">
                <a:latin typeface="Arial Narrow" pitchFamily="34" charset="0"/>
              </a:rPr>
              <a:t>）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75191"/>
            <a:ext cx="8534400" cy="4625609"/>
          </a:xfrm>
        </p:spPr>
        <p:txBody>
          <a:bodyPr/>
          <a:lstStyle/>
          <a:p>
            <a:pPr>
              <a:buNone/>
            </a:pP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KMnO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    </a:t>
            </a:r>
            <a:r>
              <a:rPr lang="en-US" altLang="zh-CN" dirty="0" err="1" smtClean="0">
                <a:latin typeface="Arial Narrow" pitchFamily="34" charset="0"/>
                <a:sym typeface="Wingdings" pitchFamily="2" charset="2"/>
              </a:rPr>
              <a:t>HCl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   </a:t>
            </a:r>
            <a:r>
              <a:rPr lang="en-US" altLang="zh-CN" dirty="0" err="1" smtClean="0">
                <a:latin typeface="Arial Narrow" pitchFamily="34" charset="0"/>
                <a:sym typeface="Wingdings" pitchFamily="2" charset="2"/>
              </a:rPr>
              <a:t>KCl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 MnCl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 Cl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</a:p>
          <a:p>
            <a:pPr>
              <a:buNone/>
            </a:pPr>
            <a:endParaRPr lang="en-US" dirty="0" smtClean="0">
              <a:latin typeface="Arial Narrow" pitchFamily="34" charset="0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		</a:t>
            </a:r>
            <a:r>
              <a:rPr lang="en-US" altLang="zh-CN" dirty="0" smtClean="0">
                <a:latin typeface="Arial Narrow" pitchFamily="34" charset="0"/>
              </a:rPr>
              <a:t>Mn</a:t>
            </a:r>
            <a:r>
              <a:rPr lang="en-US" altLang="zh-CN" baseline="30000" dirty="0" smtClean="0">
                <a:latin typeface="Arial Narrow" pitchFamily="34" charset="0"/>
              </a:rPr>
              <a:t>7+</a:t>
            </a:r>
            <a:r>
              <a:rPr lang="en-US" altLang="zh-CN" dirty="0" smtClean="0">
                <a:latin typeface="Arial Narrow" pitchFamily="34" charset="0"/>
              </a:rPr>
              <a:t>  + 5e</a:t>
            </a:r>
            <a:r>
              <a:rPr lang="en-US" altLang="zh-CN" baseline="30000" dirty="0" smtClean="0">
                <a:latin typeface="Arial Narrow" pitchFamily="34" charset="0"/>
              </a:rPr>
              <a:t>-</a:t>
            </a:r>
            <a:r>
              <a:rPr lang="en-US" altLang="zh-CN" dirty="0" smtClean="0">
                <a:latin typeface="Arial Narrow" pitchFamily="34" charset="0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Mn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 </a:t>
            </a: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        2 </a:t>
            </a:r>
            <a:r>
              <a:rPr lang="en-US" dirty="0" err="1" smtClean="0">
                <a:latin typeface="Arial Narrow" pitchFamily="34" charset="0"/>
                <a:sym typeface="Wingdings" pitchFamily="2" charset="2"/>
              </a:rPr>
              <a:t>Cl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 Cl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 </a:t>
            </a:r>
            <a:r>
              <a:rPr lang="en-US" dirty="0" smtClean="0">
                <a:latin typeface="Arial Narrow" pitchFamily="34" charset="0"/>
              </a:rPr>
              <a:t>+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2e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endParaRPr lang="en-US" dirty="0" smtClean="0">
              <a:latin typeface="Arial Narrow" pitchFamily="34" charset="0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	2 </a:t>
            </a:r>
            <a:r>
              <a:rPr lang="en-US" altLang="zh-CN" dirty="0" smtClean="0">
                <a:latin typeface="Arial Narrow" pitchFamily="34" charset="0"/>
              </a:rPr>
              <a:t>Mn</a:t>
            </a:r>
            <a:r>
              <a:rPr lang="en-US" altLang="zh-CN" baseline="30000" dirty="0" smtClean="0">
                <a:latin typeface="Arial Narrow" pitchFamily="34" charset="0"/>
              </a:rPr>
              <a:t>7+</a:t>
            </a:r>
            <a:r>
              <a:rPr lang="en-US" altLang="zh-CN" dirty="0" smtClean="0">
                <a:latin typeface="Arial Narrow" pitchFamily="34" charset="0"/>
              </a:rPr>
              <a:t>  +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10 </a:t>
            </a:r>
            <a:r>
              <a:rPr lang="en-US" dirty="0" err="1" smtClean="0">
                <a:latin typeface="Arial Narrow" pitchFamily="34" charset="0"/>
                <a:sym typeface="Wingdings" pitchFamily="2" charset="2"/>
              </a:rPr>
              <a:t>Cl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2 Mn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5 Cl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endParaRPr lang="en-US" altLang="zh-CN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endParaRPr lang="en-US" altLang="zh-CN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2 KMnO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16 </a:t>
            </a:r>
            <a:r>
              <a:rPr lang="en-US" altLang="zh-CN" dirty="0" err="1" smtClean="0">
                <a:latin typeface="Arial Narrow" pitchFamily="34" charset="0"/>
                <a:sym typeface="Wingdings" pitchFamily="2" charset="2"/>
              </a:rPr>
              <a:t>HCl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 2 </a:t>
            </a:r>
            <a:r>
              <a:rPr lang="en-US" altLang="zh-CN" dirty="0" err="1" smtClean="0">
                <a:latin typeface="Arial Narrow" pitchFamily="34" charset="0"/>
                <a:sym typeface="Wingdings" pitchFamily="2" charset="2"/>
              </a:rPr>
              <a:t>KCl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+ 2 MnCl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+ 5 Cl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+ 8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58109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+7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6800" y="158109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336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46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528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100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82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05400" y="161931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104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676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9600" y="158109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Rounded MT Bold" pitchFamily="34" charset="0"/>
              </a:rPr>
              <a:t>+7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482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Rounded MT Bold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146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Rounded MT Bold" pitchFamily="34" charset="0"/>
              </a:rPr>
              <a:t>-1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960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Rounded MT Bold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10000" y="158109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  <a:latin typeface="Arial Rounded MT Bold" pitchFamily="34" charset="0"/>
              </a:rPr>
              <a:t>-1</a:t>
            </a:r>
            <a:endParaRPr lang="en-MY" sz="20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054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7030A0"/>
                </a:solidFill>
                <a:latin typeface="Arial Rounded MT Bold" pitchFamily="34" charset="0"/>
              </a:rPr>
              <a:t>-1</a:t>
            </a:r>
            <a:endParaRPr lang="en-MY" sz="20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28800" y="1447800"/>
            <a:ext cx="30480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828800" y="2362200"/>
            <a:ext cx="30480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191000" y="282958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Narrow" pitchFamily="34" charset="0"/>
              </a:rPr>
              <a:t>x2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91000" y="328678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Narrow" pitchFamily="34" charset="0"/>
              </a:rPr>
              <a:t>x5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609600" y="3810000"/>
            <a:ext cx="533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752600" y="1371600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660066"/>
                </a:solidFill>
                <a:latin typeface="Arial Narrow" pitchFamily="34" charset="0"/>
              </a:rPr>
              <a:t>10</a:t>
            </a:r>
            <a:endParaRPr lang="en-MY" sz="20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3434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867400" y="183898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5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766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3300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828800" y="2286000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3300"/>
                </a:solidFill>
                <a:latin typeface="Arial Narrow" pitchFamily="34" charset="0"/>
              </a:rPr>
              <a:t>6</a:t>
            </a:r>
            <a:endParaRPr lang="en-MY" sz="24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752600" y="18288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3300"/>
                </a:solidFill>
                <a:latin typeface="Arial Narrow" pitchFamily="34" charset="0"/>
              </a:rPr>
              <a:t>16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580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3300"/>
                </a:solidFill>
                <a:latin typeface="Arial Narrow" pitchFamily="34" charset="0"/>
              </a:rPr>
              <a:t>8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 animBg="1"/>
      <p:bldP spid="29" grpId="0" uiExpand="1"/>
      <p:bldP spid="30" grpId="0" uiExpand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3048000"/>
            <a:ext cx="2971800" cy="68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000" dirty="0" smtClean="0">
                <a:latin typeface="Arial Rounded MT Bold" pitchFamily="34" charset="0"/>
                <a:sym typeface="Wingdings" pitchFamily="2" charset="2"/>
              </a:rPr>
              <a:t>KMnO</a:t>
            </a:r>
            <a:r>
              <a:rPr lang="en-US" altLang="zh-CN" sz="3000" baseline="-25000" dirty="0" smtClean="0">
                <a:latin typeface="Arial Rounded MT Bold" pitchFamily="34" charset="0"/>
                <a:sym typeface="Wingdings" pitchFamily="2" charset="2"/>
              </a:rPr>
              <a:t>4</a:t>
            </a:r>
            <a:r>
              <a:rPr lang="en-US" altLang="zh-CN" sz="3000" dirty="0" smtClean="0">
                <a:latin typeface="Arial Rounded MT Bold" pitchFamily="34" charset="0"/>
                <a:sym typeface="Wingdings" pitchFamily="2" charset="2"/>
              </a:rPr>
              <a:t>+     </a:t>
            </a:r>
            <a:r>
              <a:rPr lang="en-US" altLang="zh-CN" sz="3000" dirty="0" err="1" smtClean="0">
                <a:latin typeface="Arial Rounded MT Bold" pitchFamily="34" charset="0"/>
                <a:sym typeface="Wingdings" pitchFamily="2" charset="2"/>
              </a:rPr>
              <a:t>HCl</a:t>
            </a:r>
            <a:endParaRPr lang="en-US" altLang="zh-CN" sz="3000" dirty="0" smtClean="0">
              <a:latin typeface="Arial Rounded MT Bold" pitchFamily="34" charset="0"/>
              <a:sym typeface="Wingdings" pitchFamily="2" charset="2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154680" y="3352800"/>
            <a:ext cx="73152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38600" y="3072825"/>
            <a:ext cx="525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 smtClean="0">
                <a:latin typeface="Arial Rounded MT Bold" pitchFamily="34" charset="0"/>
                <a:sym typeface="Wingdings" pitchFamily="2" charset="2"/>
              </a:rPr>
              <a:t>KCl</a:t>
            </a:r>
            <a:r>
              <a:rPr lang="en-US" altLang="zh-CN" sz="3200" dirty="0" smtClean="0">
                <a:latin typeface="Arial Rounded MT Bold" pitchFamily="34" charset="0"/>
                <a:sym typeface="Wingdings" pitchFamily="2" charset="2"/>
              </a:rPr>
              <a:t> +   MnCl</a:t>
            </a:r>
            <a:r>
              <a:rPr lang="en-US" altLang="zh-CN" sz="3200" baseline="-25000" dirty="0" smtClean="0">
                <a:latin typeface="Arial Rounded MT Bold" pitchFamily="34" charset="0"/>
                <a:sym typeface="Wingdings" pitchFamily="2" charset="2"/>
              </a:rPr>
              <a:t>2</a:t>
            </a:r>
            <a:r>
              <a:rPr lang="en-US" altLang="zh-CN" sz="3200" dirty="0" smtClean="0">
                <a:latin typeface="Arial Rounded MT Bold" pitchFamily="34" charset="0"/>
                <a:sym typeface="Wingdings" pitchFamily="2" charset="2"/>
              </a:rPr>
              <a:t>+   Cl</a:t>
            </a:r>
            <a:r>
              <a:rPr lang="en-US" altLang="zh-CN" sz="3200" baseline="-25000" dirty="0" smtClean="0">
                <a:latin typeface="Arial Rounded MT Bold" pitchFamily="34" charset="0"/>
                <a:sym typeface="Wingdings" pitchFamily="2" charset="2"/>
              </a:rPr>
              <a:t>2</a:t>
            </a:r>
            <a:r>
              <a:rPr lang="en-US" altLang="zh-CN" sz="3200" dirty="0" smtClean="0">
                <a:latin typeface="Arial Rounded MT Bold" pitchFamily="34" charset="0"/>
                <a:sym typeface="Wingdings" pitchFamily="2" charset="2"/>
              </a:rPr>
              <a:t>+  H</a:t>
            </a:r>
            <a:r>
              <a:rPr lang="en-US" altLang="zh-CN" sz="3200" baseline="-25000" dirty="0" smtClean="0">
                <a:latin typeface="Arial Rounded MT Bold" pitchFamily="34" charset="0"/>
                <a:sym typeface="Wingdings" pitchFamily="2" charset="2"/>
              </a:rPr>
              <a:t>2</a:t>
            </a:r>
            <a:r>
              <a:rPr lang="en-US" altLang="zh-CN" sz="3200" dirty="0" smtClean="0">
                <a:latin typeface="Arial Rounded MT Bold" pitchFamily="34" charset="0"/>
                <a:sym typeface="Wingdings" pitchFamily="2" charset="2"/>
              </a:rPr>
              <a:t>O</a:t>
            </a:r>
            <a:endParaRPr lang="en-MY" sz="3000" dirty="0">
              <a:latin typeface="Arial Rounded MT Bold" pitchFamily="34" charset="0"/>
            </a:endParaRPr>
          </a:p>
        </p:txBody>
      </p:sp>
      <p:grpSp>
        <p:nvGrpSpPr>
          <p:cNvPr id="4" name="Group 34"/>
          <p:cNvGrpSpPr/>
          <p:nvPr/>
        </p:nvGrpSpPr>
        <p:grpSpPr>
          <a:xfrm>
            <a:off x="1143000" y="2438400"/>
            <a:ext cx="44196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35"/>
          <p:cNvGrpSpPr/>
          <p:nvPr/>
        </p:nvGrpSpPr>
        <p:grpSpPr>
          <a:xfrm>
            <a:off x="2971800" y="3505200"/>
            <a:ext cx="43434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1828800" y="1828800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+5e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118750" y="4277380"/>
            <a:ext cx="8114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-2e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+7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626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39000" y="28764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08791" y="182880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X2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72129" y="427738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X5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2400" y="313438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2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05400" y="313438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2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41134" y="313438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  <a:latin typeface="Arial Rounded MT Bold" pitchFamily="34" charset="0"/>
              </a:rPr>
              <a:t>5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93134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B050"/>
                </a:solidFill>
                <a:latin typeface="Arial Rounded MT Bold" pitchFamily="34" charset="0"/>
              </a:rPr>
              <a:t>2</a:t>
            </a:r>
            <a:endParaRPr lang="en-MY" sz="2800" b="1" dirty="0">
              <a:solidFill>
                <a:srgbClr val="00B050"/>
              </a:solidFill>
              <a:latin typeface="Arial Rounded MT Bold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71475" y="3134380"/>
            <a:ext cx="64312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B050"/>
                </a:solidFill>
                <a:latin typeface="Arial Rounded MT Bold" pitchFamily="34" charset="0"/>
              </a:rPr>
              <a:t>16</a:t>
            </a:r>
            <a:endParaRPr lang="en-MY" sz="3000" b="1" dirty="0">
              <a:solidFill>
                <a:srgbClr val="00B050"/>
              </a:solidFill>
              <a:latin typeface="Arial Rounded MT Bold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31734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Rounded MT Bold" pitchFamily="34" charset="0"/>
              </a:rPr>
              <a:t>8</a:t>
            </a:r>
            <a:endParaRPr lang="en-MY" sz="2800" b="1" dirty="0">
              <a:solidFill>
                <a:srgbClr val="00B050"/>
              </a:solidFill>
              <a:latin typeface="Arial Rounded MT Bold" pitchFamily="34" charset="0"/>
            </a:endParaRPr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zh-CN" altLang="en-US" dirty="0" smtClean="0">
                <a:latin typeface="Arial Narrow" pitchFamily="34" charset="0"/>
              </a:rPr>
              <a:t>问题解决（</a:t>
            </a:r>
            <a:r>
              <a:rPr lang="en-US" altLang="zh-CN" dirty="0" smtClean="0">
                <a:latin typeface="Arial Narrow" pitchFamily="34" charset="0"/>
              </a:rPr>
              <a:t>1</a:t>
            </a:r>
            <a:r>
              <a:rPr lang="zh-CN" altLang="en-US" dirty="0" smtClean="0">
                <a:latin typeface="Arial Narrow" pitchFamily="34" charset="0"/>
              </a:rPr>
              <a:t>）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958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0198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16" grpId="0"/>
      <p:bldP spid="17" grpId="0"/>
      <p:bldP spid="18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5" grpId="0"/>
      <p:bldP spid="3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75191"/>
            <a:ext cx="8991600" cy="462560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latin typeface="Arial Narrow" pitchFamily="34" charset="0"/>
              </a:rPr>
              <a:t>  K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Cr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O</a:t>
            </a:r>
            <a:r>
              <a:rPr lang="en-US" sz="2800" b="1" baseline="-25000" dirty="0" smtClean="0">
                <a:latin typeface="Arial Narrow" pitchFamily="34" charset="0"/>
              </a:rPr>
              <a:t>7</a:t>
            </a:r>
            <a:r>
              <a:rPr lang="en-US" sz="2800" b="1" dirty="0" smtClean="0">
                <a:latin typeface="Arial Narrow" pitchFamily="34" charset="0"/>
              </a:rPr>
              <a:t> +   H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O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 +   H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SO</a:t>
            </a:r>
            <a:r>
              <a:rPr lang="en-US" sz="2800" b="1" baseline="-25000" dirty="0" smtClean="0">
                <a:latin typeface="Arial Narrow" pitchFamily="34" charset="0"/>
              </a:rPr>
              <a:t>4</a:t>
            </a:r>
            <a:r>
              <a:rPr lang="en-US" sz="2800" b="1" dirty="0" smtClean="0">
                <a:latin typeface="Arial Narrow" pitchFamily="34" charset="0"/>
              </a:rPr>
              <a:t> 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   K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 +   Cr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 +   H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O +   O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</a:p>
          <a:p>
            <a:pPr>
              <a:buNone/>
            </a:pPr>
            <a:endParaRPr lang="en-US" sz="2800" b="1" baseline="-250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 smtClean="0">
                <a:latin typeface="Arial Narrow" pitchFamily="34" charset="0"/>
              </a:rPr>
              <a:t>	     2 Cr </a:t>
            </a:r>
            <a:r>
              <a:rPr lang="en-US" altLang="zh-CN" sz="2800" baseline="30000" dirty="0" smtClean="0">
                <a:latin typeface="Arial Narrow" pitchFamily="34" charset="0"/>
              </a:rPr>
              <a:t>6+</a:t>
            </a:r>
            <a:r>
              <a:rPr lang="en-US" altLang="zh-CN" sz="2800" dirty="0" smtClean="0">
                <a:latin typeface="Arial Narrow" pitchFamily="34" charset="0"/>
              </a:rPr>
              <a:t>  + 6</a:t>
            </a:r>
            <a:r>
              <a:rPr lang="zh-CN" altLang="en-US" sz="2800" baseline="30000" dirty="0" smtClean="0">
                <a:latin typeface="Arial Narrow" pitchFamily="34" charset="0"/>
              </a:rPr>
              <a:t> </a:t>
            </a:r>
            <a:r>
              <a:rPr lang="en-US" altLang="zh-CN" sz="2800" dirty="0" smtClean="0">
                <a:latin typeface="Arial Narrow" pitchFamily="34" charset="0"/>
              </a:rPr>
              <a:t>e</a:t>
            </a:r>
            <a:r>
              <a:rPr lang="en-US" altLang="zh-CN" sz="2800" baseline="30000" dirty="0" smtClean="0">
                <a:latin typeface="Arial Narrow" pitchFamily="34" charset="0"/>
              </a:rPr>
              <a:t>- </a:t>
            </a:r>
            <a:r>
              <a:rPr lang="en-US" altLang="zh-CN" sz="2800" dirty="0" smtClean="0">
                <a:latin typeface="Arial Narrow" pitchFamily="34" charset="0"/>
              </a:rPr>
              <a:t> 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 2 Cr </a:t>
            </a:r>
            <a:r>
              <a:rPr lang="en-US" altLang="zh-CN" sz="2800" baseline="30000" dirty="0" smtClean="0">
                <a:latin typeface="Arial Narrow" pitchFamily="34" charset="0"/>
                <a:sym typeface="Wingdings" pitchFamily="2" charset="2"/>
              </a:rPr>
              <a:t>3+</a:t>
            </a:r>
          </a:p>
          <a:p>
            <a:pPr>
              <a:buNone/>
            </a:pPr>
            <a:r>
              <a:rPr lang="en-US" sz="2800" baseline="30000" dirty="0" smtClean="0">
                <a:latin typeface="Arial Narrow" pitchFamily="34" charset="0"/>
                <a:sym typeface="Wingdings" pitchFamily="2" charset="2"/>
              </a:rPr>
              <a:t> 		</a:t>
            </a:r>
            <a:r>
              <a:rPr lang="en-US" sz="28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2 O</a:t>
            </a:r>
            <a:r>
              <a:rPr lang="en-US" altLang="zh-CN" sz="2800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  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 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altLang="zh-CN" sz="2800" baseline="-25000" dirty="0" smtClean="0">
                <a:latin typeface="Arial Narrow" pitchFamily="34" charset="0"/>
                <a:sym typeface="Wingdings" pitchFamily="2" charset="2"/>
              </a:rPr>
              <a:t>2 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+2 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e</a:t>
            </a:r>
            <a:r>
              <a:rPr lang="en-US" altLang="zh-CN" sz="2800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 </a:t>
            </a:r>
            <a:endParaRPr lang="en-US" altLang="zh-CN" sz="28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	2 </a:t>
            </a:r>
            <a:r>
              <a:rPr lang="en-US" altLang="zh-CN" sz="2800" dirty="0" smtClean="0">
                <a:latin typeface="Arial Narrow" pitchFamily="34" charset="0"/>
              </a:rPr>
              <a:t>Cr </a:t>
            </a:r>
            <a:r>
              <a:rPr lang="en-US" altLang="zh-CN" sz="2800" baseline="30000" dirty="0" smtClean="0">
                <a:latin typeface="Arial Narrow" pitchFamily="34" charset="0"/>
              </a:rPr>
              <a:t>6+</a:t>
            </a:r>
            <a:r>
              <a:rPr lang="en-US" altLang="zh-CN" sz="2800" dirty="0" smtClean="0">
                <a:latin typeface="Arial Narrow" pitchFamily="34" charset="0"/>
              </a:rPr>
              <a:t>  +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6 O</a:t>
            </a:r>
            <a:r>
              <a:rPr lang="en-US" altLang="zh-CN" sz="2800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2800" dirty="0" smtClean="0">
                <a:latin typeface="Arial Narrow" pitchFamily="34" charset="0"/>
              </a:rPr>
              <a:t> 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 2 Cr </a:t>
            </a:r>
            <a:r>
              <a:rPr lang="en-US" altLang="zh-CN" sz="2800" baseline="30000" dirty="0" smtClean="0">
                <a:latin typeface="Arial Narrow" pitchFamily="34" charset="0"/>
                <a:sym typeface="Wingdings" pitchFamily="2" charset="2"/>
              </a:rPr>
              <a:t>3+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 + 3 O</a:t>
            </a:r>
            <a:r>
              <a:rPr lang="en-US" altLang="zh-CN" sz="2800" baseline="-25000" dirty="0" smtClean="0">
                <a:latin typeface="Arial Narrow" pitchFamily="34" charset="0"/>
                <a:sym typeface="Wingdings" pitchFamily="2" charset="2"/>
              </a:rPr>
              <a:t>2 </a:t>
            </a:r>
            <a:endParaRPr lang="en-US" altLang="zh-CN" sz="2800" baseline="300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sz="2800" baseline="30000" dirty="0" smtClean="0">
                <a:latin typeface="Arial Narrow" pitchFamily="34" charset="0"/>
                <a:sym typeface="Wingdings" pitchFamily="2" charset="2"/>
              </a:rPr>
              <a:t> 		</a:t>
            </a:r>
            <a:endParaRPr lang="en-US" altLang="zh-CN" sz="28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sz="2800" b="1" dirty="0" smtClean="0">
                <a:latin typeface="Arial Narrow" pitchFamily="34" charset="0"/>
              </a:rPr>
              <a:t>K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Cr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O</a:t>
            </a:r>
            <a:r>
              <a:rPr lang="en-US" sz="2800" b="1" baseline="-25000" dirty="0" smtClean="0">
                <a:latin typeface="Arial Narrow" pitchFamily="34" charset="0"/>
              </a:rPr>
              <a:t>7</a:t>
            </a:r>
            <a:r>
              <a:rPr lang="en-US" sz="2800" b="1" dirty="0" smtClean="0">
                <a:latin typeface="Arial Narrow" pitchFamily="34" charset="0"/>
              </a:rPr>
              <a:t> +  3 H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O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 +  H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SO</a:t>
            </a:r>
            <a:r>
              <a:rPr lang="en-US" sz="2800" b="1" baseline="-25000" dirty="0" smtClean="0">
                <a:latin typeface="Arial Narrow" pitchFamily="34" charset="0"/>
              </a:rPr>
              <a:t>4</a:t>
            </a:r>
            <a:r>
              <a:rPr lang="en-US" sz="2800" b="1" dirty="0" smtClean="0">
                <a:latin typeface="Arial Narrow" pitchFamily="34" charset="0"/>
              </a:rPr>
              <a:t> 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  K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 + Cr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 + 4 H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O + 3 O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endParaRPr lang="en-US" altLang="zh-CN" sz="28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b="1" dirty="0">
              <a:latin typeface="Arial Narrow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问题解决（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Arial Rounded MT Bold" pitchFamily="34" charset="0"/>
              </a:rPr>
              <a:t>+</a:t>
            </a:r>
            <a:r>
              <a:rPr lang="en-US" altLang="zh-CN" b="1" dirty="0" smtClean="0">
                <a:solidFill>
                  <a:srgbClr val="002060"/>
                </a:solidFill>
                <a:latin typeface="Arial Rounded MT Bold" pitchFamily="34" charset="0"/>
              </a:rPr>
              <a:t>6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192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622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Arial Rounded MT Bold" pitchFamily="34" charset="0"/>
              </a:rPr>
              <a:t>-</a:t>
            </a:r>
            <a:r>
              <a:rPr lang="en-US" altLang="zh-CN" b="1" dirty="0" smtClean="0">
                <a:solidFill>
                  <a:srgbClr val="002060"/>
                </a:solidFill>
                <a:latin typeface="Arial Rounded MT Bold" pitchFamily="34" charset="0"/>
              </a:rPr>
              <a:t>1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718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528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002060"/>
                </a:solidFill>
                <a:latin typeface="Arial Rounded MT Bold" pitchFamily="34" charset="0"/>
              </a:rPr>
              <a:t>+6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338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76800" y="16118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Arial Rounded MT Bold" pitchFamily="34" charset="0"/>
              </a:rPr>
              <a:t>+6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81600" y="16118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Arial Rounded MT Bold" pitchFamily="34" charset="0"/>
              </a:rPr>
              <a:t>+3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62800" y="16118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20000" y="161931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05800" y="161931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Arial Rounded MT Bold" pitchFamily="34" charset="0"/>
              </a:rPr>
              <a:t>0</a:t>
            </a:r>
            <a:endParaRPr lang="en-MY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pitchFamily="34" charset="0"/>
              </a:rPr>
              <a:t>+</a:t>
            </a:r>
            <a:r>
              <a:rPr lang="en-US" altLang="zh-CN" b="1" dirty="0" smtClean="0">
                <a:solidFill>
                  <a:srgbClr val="FF0000"/>
                </a:solidFill>
                <a:latin typeface="Arial Rounded MT Bold" pitchFamily="34" charset="0"/>
              </a:rPr>
              <a:t>6</a:t>
            </a:r>
            <a:endParaRPr lang="en-MY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pitchFamily="34" charset="0"/>
              </a:rPr>
              <a:t>+3</a:t>
            </a:r>
            <a:endParaRPr lang="en-MY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3622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pitchFamily="34" charset="0"/>
              </a:rPr>
              <a:t>-</a:t>
            </a:r>
            <a:r>
              <a:rPr lang="en-US" altLang="zh-CN" b="1" dirty="0" smtClean="0">
                <a:solidFill>
                  <a:srgbClr val="FF0000"/>
                </a:solidFill>
                <a:latin typeface="Arial Rounded MT Bold" pitchFamily="34" charset="0"/>
              </a:rPr>
              <a:t>1</a:t>
            </a:r>
            <a:endParaRPr lang="en-MY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05800" y="161931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pitchFamily="34" charset="0"/>
              </a:rPr>
              <a:t>0</a:t>
            </a:r>
            <a:endParaRPr lang="en-MY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91000" y="289560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Narrow" pitchFamily="34" charset="0"/>
              </a:rPr>
              <a:t>x3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609600" y="3429000"/>
            <a:ext cx="533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86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1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52600" y="183898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3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912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660066"/>
                </a:solidFill>
                <a:latin typeface="Arial Narrow" pitchFamily="34" charset="0"/>
              </a:rPr>
              <a:t>1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077200" y="183898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3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19600" y="183898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3300"/>
                </a:solidFill>
                <a:latin typeface="Arial Narrow" pitchFamily="34" charset="0"/>
              </a:rPr>
              <a:t>1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956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3300"/>
                </a:solidFill>
                <a:latin typeface="Arial Narrow" pitchFamily="34" charset="0"/>
              </a:rPr>
              <a:t>1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866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b="1" dirty="0" smtClean="0">
                <a:solidFill>
                  <a:srgbClr val="003300"/>
                </a:solidFill>
                <a:latin typeface="Arial Narrow" pitchFamily="34" charset="0"/>
              </a:rPr>
              <a:t>4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3" grpId="0"/>
      <p:bldP spid="24" grpId="1"/>
      <p:bldP spid="25" grpId="1"/>
      <p:bldP spid="27" grpId="0"/>
      <p:bldP spid="30" grpId="0"/>
      <p:bldP spid="31" grpId="0"/>
      <p:bldP spid="33" grpId="0"/>
      <p:bldP spid="34" grpId="0"/>
      <p:bldP spid="35" grpId="0"/>
      <p:bldP spid="36" grpId="0"/>
      <p:bldP spid="3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04800" y="3072825"/>
            <a:ext cx="929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rial Narrow" pitchFamily="34" charset="0"/>
              </a:rPr>
              <a:t>K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Cr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O</a:t>
            </a:r>
            <a:r>
              <a:rPr lang="en-US" sz="2800" b="1" baseline="-25000" dirty="0" smtClean="0">
                <a:latin typeface="Arial Narrow" pitchFamily="34" charset="0"/>
              </a:rPr>
              <a:t>7</a:t>
            </a:r>
            <a:r>
              <a:rPr lang="en-US" sz="2800" b="1" dirty="0" smtClean="0">
                <a:latin typeface="Arial Narrow" pitchFamily="34" charset="0"/>
              </a:rPr>
              <a:t> +   H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O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 +   H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SO</a:t>
            </a:r>
            <a:r>
              <a:rPr lang="en-US" sz="2800" b="1" baseline="-25000" dirty="0" smtClean="0">
                <a:latin typeface="Arial Narrow" pitchFamily="34" charset="0"/>
              </a:rPr>
              <a:t>4</a:t>
            </a:r>
            <a:r>
              <a:rPr lang="en-US" sz="2800" b="1" dirty="0" smtClean="0">
                <a:latin typeface="Arial Narrow" pitchFamily="34" charset="0"/>
              </a:rPr>
              <a:t> 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   K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 +   Cr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 +   H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O+    O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endParaRPr lang="en-MY" sz="2800" dirty="0">
              <a:latin typeface="Arial Rounded MT Bold" pitchFamily="34" charset="0"/>
            </a:endParaRPr>
          </a:p>
        </p:txBody>
      </p:sp>
      <p:grpSp>
        <p:nvGrpSpPr>
          <p:cNvPr id="4" name="Group 34"/>
          <p:cNvGrpSpPr/>
          <p:nvPr/>
        </p:nvGrpSpPr>
        <p:grpSpPr>
          <a:xfrm>
            <a:off x="838200" y="2286000"/>
            <a:ext cx="53340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35"/>
          <p:cNvGrpSpPr/>
          <p:nvPr/>
        </p:nvGrpSpPr>
        <p:grpSpPr>
          <a:xfrm>
            <a:off x="2438400" y="3581400"/>
            <a:ext cx="58674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1752600" y="1828800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+6e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585350" y="4353580"/>
            <a:ext cx="8114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-2e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9600" y="28956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+6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0" y="28956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+3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53400" y="28764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32591" y="182880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X1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38729" y="435358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X3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00" y="30480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1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21934" y="30480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1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59534" y="30480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3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43400" y="30480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B050"/>
                </a:solidFill>
                <a:latin typeface="Arial Rounded MT Bold" pitchFamily="34" charset="0"/>
              </a:rPr>
              <a:t>1</a:t>
            </a:r>
            <a:endParaRPr lang="en-MY" sz="2800" b="1" dirty="0">
              <a:solidFill>
                <a:srgbClr val="00B050"/>
              </a:solidFill>
              <a:latin typeface="Arial Rounded MT Bold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86504" y="3048000"/>
            <a:ext cx="4138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 smtClean="0">
                <a:solidFill>
                  <a:srgbClr val="00B050"/>
                </a:solidFill>
                <a:latin typeface="Arial Rounded MT Bold" pitchFamily="34" charset="0"/>
              </a:rPr>
              <a:t>1</a:t>
            </a:r>
            <a:endParaRPr lang="en-MY" sz="3000" b="1" dirty="0">
              <a:solidFill>
                <a:srgbClr val="00B050"/>
              </a:solidFill>
              <a:latin typeface="Arial Rounded MT Bold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34200" y="30480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B050"/>
                </a:solidFill>
                <a:latin typeface="Arial Rounded MT Bold" pitchFamily="34" charset="0"/>
              </a:rPr>
              <a:t>4</a:t>
            </a:r>
            <a:endParaRPr lang="en-MY" sz="2800" b="1" dirty="0">
              <a:solidFill>
                <a:srgbClr val="00B050"/>
              </a:solidFill>
              <a:latin typeface="Arial Rounded MT Bold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907934" y="30480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3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zh-CN" altLang="en-US" dirty="0" smtClean="0"/>
              <a:t>问题解决（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16" grpId="0"/>
      <p:bldP spid="17" grpId="0"/>
      <p:bldP spid="18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问题解决（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75191"/>
            <a:ext cx="8382000" cy="4625609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   </a:t>
            </a:r>
            <a:r>
              <a:rPr lang="en-US" altLang="zh-CN" dirty="0" smtClean="0">
                <a:latin typeface="Arial Narrow" pitchFamily="34" charset="0"/>
              </a:rPr>
              <a:t>Ag +     HNO</a:t>
            </a:r>
            <a:r>
              <a:rPr lang="en-US" altLang="zh-CN" baseline="-25000" dirty="0" smtClean="0">
                <a:latin typeface="Arial Narrow" pitchFamily="34" charset="0"/>
              </a:rPr>
              <a:t>3</a:t>
            </a:r>
            <a:r>
              <a:rPr lang="en-US" altLang="zh-CN" dirty="0" smtClean="0">
                <a:latin typeface="Arial Narrow" pitchFamily="34" charset="0"/>
              </a:rPr>
              <a:t> 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    AgNO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  NO +  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</a:p>
          <a:p>
            <a:pPr>
              <a:buNone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		Ag 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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Ag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dirty="0" smtClean="0">
                <a:latin typeface="Arial Narrow" pitchFamily="34" charset="0"/>
              </a:rPr>
              <a:t>e</a:t>
            </a:r>
            <a:r>
              <a:rPr lang="en-US" baseline="30000" dirty="0" smtClean="0">
                <a:latin typeface="Arial Narrow" pitchFamily="34" charset="0"/>
              </a:rPr>
              <a:t>-</a:t>
            </a:r>
            <a:r>
              <a:rPr lang="en-US" dirty="0" smtClean="0">
                <a:latin typeface="Arial Narrow" pitchFamily="34" charset="0"/>
              </a:rPr>
              <a:t> </a:t>
            </a: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		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5+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+3e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	3 Ag  +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5+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3Ag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		</a:t>
            </a: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3 Ag + 4 HNO</a:t>
            </a:r>
            <a:r>
              <a:rPr lang="en-US" altLang="zh-CN" baseline="-25000" dirty="0" smtClean="0">
                <a:latin typeface="Arial Narrow" pitchFamily="34" charset="0"/>
              </a:rPr>
              <a:t>3</a:t>
            </a:r>
            <a:r>
              <a:rPr lang="en-US" altLang="zh-CN" dirty="0" smtClean="0">
                <a:latin typeface="Arial Narrow" pitchFamily="34" charset="0"/>
              </a:rPr>
              <a:t> 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3 AgNO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1 NO +  2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Arial Rounded MT Bold" pitchFamily="34" charset="0"/>
              </a:rPr>
              <a:t>0</a:t>
            </a:r>
            <a:endParaRPr lang="en-MY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26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574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Arial Rounded MT Bold" pitchFamily="34" charset="0"/>
              </a:rPr>
              <a:t>+5</a:t>
            </a:r>
            <a:endParaRPr lang="en-MY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622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338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Arial Rounded MT Bold" pitchFamily="34" charset="0"/>
              </a:rPr>
              <a:t>+5</a:t>
            </a:r>
            <a:endParaRPr lang="en-MY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196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57800" y="159275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Arial Rounded MT Bold" pitchFamily="34" charset="0"/>
              </a:rPr>
              <a:t>+2</a:t>
            </a:r>
            <a:endParaRPr lang="en-MY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0" y="16118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770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Arial Rounded MT Bold" pitchFamily="34" charset="0"/>
              </a:rPr>
              <a:t>0</a:t>
            </a:r>
            <a:endParaRPr lang="en-MY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338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Arial Rounded MT Bold" pitchFamily="34" charset="0"/>
              </a:rPr>
              <a:t>+1</a:t>
            </a:r>
            <a:endParaRPr lang="en-MY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57400" y="160764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Arial Rounded MT Bold" pitchFamily="34" charset="0"/>
              </a:rPr>
              <a:t>+5</a:t>
            </a:r>
            <a:endParaRPr lang="en-MY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578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Arial Rounded MT Bold" pitchFamily="34" charset="0"/>
              </a:rPr>
              <a:t>+2</a:t>
            </a:r>
            <a:endParaRPr lang="en-MY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148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  <a:latin typeface="Arial Rounded MT Bold" pitchFamily="34" charset="0"/>
              </a:rPr>
              <a:t>+5</a:t>
            </a:r>
            <a:endParaRPr lang="en-MY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24000" y="1447800"/>
            <a:ext cx="30480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524000" y="2221468"/>
            <a:ext cx="30480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609600" y="3810000"/>
            <a:ext cx="533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10000" y="281940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Narrow" pitchFamily="34" charset="0"/>
              </a:rPr>
              <a:t>x3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10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3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24000" y="1428690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660066"/>
                </a:solidFill>
                <a:latin typeface="Arial Narrow" pitchFamily="34" charset="0"/>
              </a:rPr>
              <a:t>1</a:t>
            </a:r>
            <a:endParaRPr lang="en-MY" sz="20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290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3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105400" y="183898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1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24000" y="2205335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 smtClean="0">
                <a:solidFill>
                  <a:srgbClr val="003300"/>
                </a:solidFill>
                <a:latin typeface="Arial Narrow" pitchFamily="34" charset="0"/>
              </a:rPr>
              <a:t>3</a:t>
            </a:r>
            <a:endParaRPr lang="en-MY" sz="24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5240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3300"/>
                </a:solidFill>
                <a:latin typeface="Arial Narrow" pitchFamily="34" charset="0"/>
              </a:rPr>
              <a:t>4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484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b="1" dirty="0" smtClean="0">
                <a:solidFill>
                  <a:srgbClr val="003300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21" grpId="0"/>
      <p:bldP spid="22" grpId="0"/>
      <p:bldP spid="23" grpId="0"/>
      <p:bldP spid="24" grpId="0"/>
      <p:bldP spid="25" grpId="0"/>
      <p:bldP spid="26" grpId="0" animBg="1"/>
      <p:bldP spid="27" grpId="0" animBg="1"/>
      <p:bldP spid="31" grpId="0"/>
      <p:bldP spid="32" grpId="0"/>
      <p:bldP spid="33" grpId="0"/>
      <p:bldP spid="34" grpId="0"/>
      <p:bldP spid="35" grpId="0"/>
      <p:bldP spid="37" grpId="0"/>
      <p:bldP spid="38" grpId="0"/>
      <p:bldP spid="4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1371600" y="3072825"/>
            <a:ext cx="701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latin typeface="Arial Narrow" pitchFamily="34" charset="0"/>
              </a:rPr>
              <a:t>Ag +     HNO</a:t>
            </a:r>
            <a:r>
              <a:rPr lang="en-US" altLang="zh-CN" sz="3200" baseline="-25000" dirty="0" smtClean="0">
                <a:latin typeface="Arial Narrow" pitchFamily="34" charset="0"/>
              </a:rPr>
              <a:t>3</a:t>
            </a:r>
            <a:r>
              <a:rPr lang="en-US" altLang="zh-CN" sz="3200" dirty="0" smtClean="0">
                <a:latin typeface="Arial Narrow" pitchFamily="34" charset="0"/>
              </a:rPr>
              <a:t>  </a:t>
            </a: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     AgNO</a:t>
            </a:r>
            <a:r>
              <a:rPr lang="en-US" altLang="zh-CN" sz="3200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 +    NO +   H</a:t>
            </a:r>
            <a:r>
              <a:rPr lang="en-US" altLang="zh-CN" sz="3200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O</a:t>
            </a:r>
            <a:endParaRPr lang="en-MY" sz="3200" dirty="0">
              <a:latin typeface="Arial Rounded MT Bold" pitchFamily="34" charset="0"/>
            </a:endParaRPr>
          </a:p>
        </p:txBody>
      </p:sp>
      <p:grpSp>
        <p:nvGrpSpPr>
          <p:cNvPr id="2" name="Group 34"/>
          <p:cNvGrpSpPr/>
          <p:nvPr/>
        </p:nvGrpSpPr>
        <p:grpSpPr>
          <a:xfrm>
            <a:off x="1676400" y="2209800"/>
            <a:ext cx="31242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35"/>
          <p:cNvGrpSpPr/>
          <p:nvPr/>
        </p:nvGrpSpPr>
        <p:grpSpPr>
          <a:xfrm>
            <a:off x="2971800" y="3505200"/>
            <a:ext cx="33528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2115738" y="1752600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-1e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737750" y="4114800"/>
            <a:ext cx="9012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+3e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24000" y="28764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95800" y="28764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+5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960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95729" y="175260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X3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43529" y="411480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X1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6134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3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14800" y="30480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3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50534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1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09800" y="313438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B050"/>
                </a:solidFill>
                <a:latin typeface="Arial Rounded MT Bold" pitchFamily="34" charset="0"/>
              </a:rPr>
              <a:t>4</a:t>
            </a:r>
            <a:endParaRPr lang="en-MY" sz="2800" b="1" dirty="0">
              <a:solidFill>
                <a:srgbClr val="00B050"/>
              </a:solidFill>
              <a:latin typeface="Arial Rounded MT Bold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34200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B050"/>
                </a:solidFill>
                <a:latin typeface="Arial Rounded MT Bold" pitchFamily="34" charset="0"/>
              </a:rPr>
              <a:t>2</a:t>
            </a:r>
            <a:endParaRPr lang="en-MY" sz="2800" b="1" dirty="0">
              <a:solidFill>
                <a:srgbClr val="00B050"/>
              </a:solidFill>
              <a:latin typeface="Arial Rounded MT Bold" pitchFamily="34" charset="0"/>
            </a:endParaRPr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zh-CN" altLang="en-US" dirty="0" smtClean="0"/>
              <a:t>问题解决（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800600" y="28764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+5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16" grpId="0"/>
      <p:bldP spid="17" grpId="0"/>
      <p:bldP spid="18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9" grpId="0"/>
      <p:bldP spid="3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问题解决（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76400"/>
            <a:ext cx="8229600" cy="4625609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IO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   I 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+    H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   I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+    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O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	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</a:t>
            </a:r>
            <a:r>
              <a:rPr lang="en-US" altLang="zh-CN" baseline="30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5+ 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+5 e</a:t>
            </a:r>
            <a:r>
              <a:rPr lang="en-US" altLang="zh-CN" baseline="30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-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 ½ I</a:t>
            </a:r>
            <a:r>
              <a:rPr lang="en-US" altLang="zh-CN" baseline="-25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</a:t>
            </a:r>
          </a:p>
          <a:p>
            <a:pPr>
              <a:buNone/>
            </a:pPr>
            <a:r>
              <a:rPr lang="en-US" altLang="zh-CN" baseline="-25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	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 I</a:t>
            </a:r>
            <a:r>
              <a:rPr lang="en-US" altLang="zh-CN" baseline="30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-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½ I</a:t>
            </a:r>
            <a:r>
              <a:rPr lang="en-US" altLang="zh-CN" baseline="-25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</a:t>
            </a:r>
            <a:r>
              <a:rPr lang="en-US" altLang="zh-CN" baseline="30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-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	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</a:t>
            </a:r>
            <a:r>
              <a:rPr lang="en-US" altLang="zh-CN" baseline="30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5+  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+5 I</a:t>
            </a:r>
            <a:r>
              <a:rPr lang="en-US" altLang="zh-CN" baseline="30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-</a:t>
            </a:r>
            <a:r>
              <a:rPr lang="en-US" altLang="zh-CN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 3 I</a:t>
            </a:r>
            <a:r>
              <a:rPr lang="en-US" altLang="zh-CN" baseline="-25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IO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 </a:t>
            </a:r>
            <a:r>
              <a:rPr lang="en-US" altLang="zh-CN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I 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+   </a:t>
            </a:r>
            <a:r>
              <a:rPr lang="en-US" altLang="zh-CN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 </a:t>
            </a:r>
            <a:r>
              <a:rPr lang="en-US" altLang="zh-CN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I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+   </a:t>
            </a:r>
            <a:r>
              <a:rPr lang="en-US" altLang="zh-CN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O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002060"/>
                </a:solidFill>
                <a:latin typeface="Arial Rounded MT Bold" pitchFamily="34" charset="0"/>
              </a:rPr>
              <a:t>+5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622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814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768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198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70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Rounded MT Bold" pitchFamily="34" charset="0"/>
              </a:rPr>
              <a:t>+5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Rounded MT Bold" pitchFamily="34" charset="0"/>
              </a:rPr>
              <a:t>-1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768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Rounded MT Bold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95800" y="320040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Narrow" pitchFamily="34" charset="0"/>
              </a:rPr>
              <a:t>x5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914400" y="3723620"/>
            <a:ext cx="533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17526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660066"/>
                </a:solidFill>
                <a:latin typeface="Arial Narrow" pitchFamily="34" charset="0"/>
              </a:rPr>
              <a:t>1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09800" y="175260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660066"/>
                </a:solidFill>
                <a:latin typeface="Arial Narrow" pitchFamily="34" charset="0"/>
              </a:rPr>
              <a:t>5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48200" y="176278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660066"/>
                </a:solidFill>
                <a:latin typeface="Arial Narrow" pitchFamily="34" charset="0"/>
              </a:rPr>
              <a:t>3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91200" y="17526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3300"/>
                </a:solidFill>
                <a:latin typeface="Arial Narrow" pitchFamily="34" charset="0"/>
              </a:rPr>
              <a:t>3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52800" y="176278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3300"/>
                </a:solidFill>
                <a:latin typeface="Arial Narrow" pitchFamily="34" charset="0"/>
              </a:rPr>
              <a:t>6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4" grpId="0"/>
      <p:bldP spid="15" grpId="0"/>
      <p:bldP spid="16" grpId="0"/>
      <p:bldP spid="17" grpId="0"/>
      <p:bldP spid="20" grpId="0"/>
      <p:bldP spid="21" grpId="0"/>
      <p:bldP spid="22" grpId="0"/>
      <p:bldP spid="23" grpId="0"/>
      <p:bldP spid="2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1143000" y="3072825"/>
            <a:ext cx="701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IO</a:t>
            </a:r>
            <a:r>
              <a:rPr lang="en-US" sz="32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aseline="30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+    I </a:t>
            </a:r>
            <a:r>
              <a:rPr lang="en-US" sz="3200" baseline="30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+    H</a:t>
            </a:r>
            <a:r>
              <a:rPr lang="en-US" sz="3200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   I</a:t>
            </a:r>
            <a:r>
              <a:rPr lang="en-US" sz="3200" baseline="-25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+    H</a:t>
            </a:r>
            <a:r>
              <a:rPr lang="en-US" sz="3200" baseline="-25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2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O</a:t>
            </a:r>
            <a:endParaRPr lang="en-MY" sz="3200" dirty="0">
              <a:latin typeface="Arial Rounded MT Bold" pitchFamily="34" charset="0"/>
            </a:endParaRPr>
          </a:p>
        </p:txBody>
      </p:sp>
      <p:grpSp>
        <p:nvGrpSpPr>
          <p:cNvPr id="2" name="Group 34"/>
          <p:cNvGrpSpPr/>
          <p:nvPr/>
        </p:nvGrpSpPr>
        <p:grpSpPr>
          <a:xfrm>
            <a:off x="1295400" y="2362200"/>
            <a:ext cx="40386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35"/>
          <p:cNvGrpSpPr/>
          <p:nvPr/>
        </p:nvGrpSpPr>
        <p:grpSpPr>
          <a:xfrm>
            <a:off x="2819400" y="3657600"/>
            <a:ext cx="25146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2268138" y="1905000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+5e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429000" y="4267200"/>
            <a:ext cx="8114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-1e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6800" y="28956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+5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81600" y="28956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908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48129" y="190500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X1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34779" y="426720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X5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8200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  <a:latin typeface="Arial Rounded MT Bold" pitchFamily="34" charset="0"/>
              </a:rPr>
              <a:t>1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86000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  <a:latin typeface="Arial Rounded MT Bold" pitchFamily="34" charset="0"/>
              </a:rPr>
              <a:t>5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76800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  <a:latin typeface="Arial Rounded MT Bold" pitchFamily="34" charset="0"/>
              </a:rPr>
              <a:t>3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26734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Rounded MT Bold" pitchFamily="34" charset="0"/>
              </a:rPr>
              <a:t>3</a:t>
            </a:r>
            <a:endParaRPr lang="en-MY" sz="2800" b="1" dirty="0">
              <a:solidFill>
                <a:srgbClr val="00B050"/>
              </a:solidFill>
              <a:latin typeface="Arial Rounded MT Bold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05200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Rounded MT Bold" pitchFamily="34" charset="0"/>
              </a:rPr>
              <a:t>6</a:t>
            </a:r>
            <a:endParaRPr lang="en-MY" sz="2800" b="1" dirty="0">
              <a:solidFill>
                <a:srgbClr val="00B050"/>
              </a:solidFill>
              <a:latin typeface="Arial Rounded MT Bold" pitchFamily="34" charset="0"/>
            </a:endParaRPr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zh-CN" altLang="en-US" dirty="0" smtClean="0"/>
              <a:t>问题解决（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16" grpId="0"/>
      <p:bldP spid="17" grpId="0"/>
      <p:bldP spid="18" grpId="0"/>
      <p:bldP spid="22" grpId="0"/>
      <p:bldP spid="23" grpId="0"/>
      <p:bldP spid="24" grpId="0"/>
      <p:bldP spid="25" grpId="0"/>
      <p:bldP spid="26" grpId="0"/>
      <p:bldP spid="27" grpId="0"/>
      <p:bldP spid="2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问题解决（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 MnO</a:t>
            </a:r>
            <a:r>
              <a:rPr lang="en-US" baseline="-25000" dirty="0" smtClean="0">
                <a:latin typeface="Arial Narrow" pitchFamily="34" charset="0"/>
              </a:rPr>
              <a:t>4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baseline="30000" dirty="0" smtClean="0">
                <a:latin typeface="Arial Narrow" pitchFamily="34" charset="0"/>
              </a:rPr>
              <a:t>-</a:t>
            </a:r>
            <a:r>
              <a:rPr lang="en-US" dirty="0" smtClean="0">
                <a:latin typeface="Arial Narrow" pitchFamily="34" charset="0"/>
              </a:rPr>
              <a:t> +     </a:t>
            </a:r>
            <a:r>
              <a:rPr lang="en-US" altLang="zh-CN" dirty="0" smtClean="0">
                <a:latin typeface="Arial Narrow" pitchFamily="34" charset="0"/>
              </a:rPr>
              <a:t>Fe</a:t>
            </a:r>
            <a:r>
              <a:rPr lang="en-US" altLang="zh-CN" baseline="30000" dirty="0" smtClean="0">
                <a:latin typeface="Arial Narrow" pitchFamily="34" charset="0"/>
              </a:rPr>
              <a:t>2+</a:t>
            </a:r>
            <a:r>
              <a:rPr lang="en-US" altLang="zh-CN" dirty="0" smtClean="0">
                <a:latin typeface="Arial Narrow" pitchFamily="34" charset="0"/>
              </a:rPr>
              <a:t> +    H</a:t>
            </a:r>
            <a:r>
              <a:rPr lang="en-US" altLang="zh-CN" baseline="30000" dirty="0" smtClean="0">
                <a:latin typeface="Arial Narrow" pitchFamily="34" charset="0"/>
              </a:rPr>
              <a:t>+</a:t>
            </a:r>
            <a:r>
              <a:rPr lang="en-US" altLang="zh-CN" dirty="0" smtClean="0">
                <a:latin typeface="Arial Narrow" pitchFamily="34" charset="0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   Mn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 Fe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3+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  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</a:p>
          <a:p>
            <a:pPr>
              <a:buNone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			Mn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7+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+ 5e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Mn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2+ </a:t>
            </a:r>
          </a:p>
          <a:p>
            <a:pPr>
              <a:buNone/>
            </a:pP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	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 		Fe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 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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Fe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endParaRPr lang="en-US" dirty="0" smtClean="0">
              <a:latin typeface="Arial Narrow" pitchFamily="34" charset="0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		Mn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7+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 5 Fe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Mn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2+ 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+ 5Fe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3+</a:t>
            </a:r>
          </a:p>
          <a:p>
            <a:pPr>
              <a:buNone/>
            </a:pP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	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 		</a:t>
            </a:r>
            <a:endParaRPr lang="en-US" dirty="0" smtClean="0">
              <a:latin typeface="Arial Narrow" pitchFamily="34" charset="0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MnO</a:t>
            </a:r>
            <a:r>
              <a:rPr lang="en-US" baseline="-25000" dirty="0" smtClean="0">
                <a:latin typeface="Arial Narrow" pitchFamily="34" charset="0"/>
              </a:rPr>
              <a:t>4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baseline="30000" dirty="0" smtClean="0">
                <a:latin typeface="Arial Narrow" pitchFamily="34" charset="0"/>
              </a:rPr>
              <a:t>-</a:t>
            </a:r>
            <a:r>
              <a:rPr lang="en-US" dirty="0" smtClean="0">
                <a:latin typeface="Arial Narrow" pitchFamily="34" charset="0"/>
              </a:rPr>
              <a:t> +  </a:t>
            </a:r>
            <a:r>
              <a:rPr lang="en-US" altLang="zh-CN" dirty="0" smtClean="0">
                <a:latin typeface="Arial Narrow" pitchFamily="34" charset="0"/>
              </a:rPr>
              <a:t>5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altLang="zh-CN" dirty="0" smtClean="0">
                <a:latin typeface="Arial Narrow" pitchFamily="34" charset="0"/>
              </a:rPr>
              <a:t>Fe</a:t>
            </a:r>
            <a:r>
              <a:rPr lang="en-US" altLang="zh-CN" baseline="30000" dirty="0" smtClean="0">
                <a:latin typeface="Arial Narrow" pitchFamily="34" charset="0"/>
              </a:rPr>
              <a:t>2+</a:t>
            </a:r>
            <a:r>
              <a:rPr lang="en-US" altLang="zh-CN" dirty="0" smtClean="0">
                <a:latin typeface="Arial Narrow" pitchFamily="34" charset="0"/>
              </a:rPr>
              <a:t> + 8 H</a:t>
            </a:r>
            <a:r>
              <a:rPr lang="en-US" altLang="zh-CN" baseline="30000" dirty="0" smtClean="0">
                <a:latin typeface="Arial Narrow" pitchFamily="34" charset="0"/>
              </a:rPr>
              <a:t>+</a:t>
            </a:r>
            <a:r>
              <a:rPr lang="en-US" altLang="zh-CN" dirty="0" smtClean="0">
                <a:latin typeface="Arial Narrow" pitchFamily="34" charset="0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Mn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+ 5 Fe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3+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+ 4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+7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8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908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338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054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</a:t>
            </a:r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246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</a:t>
            </a:r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3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914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</a:t>
            </a:r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Rounded MT Bold" pitchFamily="34" charset="0"/>
              </a:rPr>
              <a:t>+7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054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Rounded MT Bold" pitchFamily="34" charset="0"/>
              </a:rPr>
              <a:t>+</a:t>
            </a:r>
            <a:r>
              <a:rPr lang="en-US" sz="2000" b="1" dirty="0" smtClean="0">
                <a:solidFill>
                  <a:srgbClr val="FF0000"/>
                </a:solidFill>
                <a:latin typeface="Arial Rounded MT Bold" pitchFamily="34" charset="0"/>
              </a:rPr>
              <a:t>2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908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Rounded MT Bold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246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Rounded MT Bold" pitchFamily="34" charset="0"/>
              </a:rPr>
              <a:t>+</a:t>
            </a:r>
            <a:r>
              <a:rPr lang="en-US" altLang="zh-CN" sz="2000" b="1" dirty="0" smtClean="0">
                <a:solidFill>
                  <a:srgbClr val="FF0000"/>
                </a:solidFill>
                <a:latin typeface="Arial Rounded MT Bold" pitchFamily="34" charset="0"/>
              </a:rPr>
              <a:t>3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57800" y="328678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Narrow" pitchFamily="34" charset="0"/>
              </a:rPr>
              <a:t>x5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1447800" y="3810000"/>
            <a:ext cx="533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10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1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336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5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482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660066"/>
                </a:solidFill>
                <a:latin typeface="Arial Narrow" pitchFamily="34" charset="0"/>
              </a:rPr>
              <a:t>1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0" y="183898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5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866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3300"/>
                </a:solidFill>
                <a:latin typeface="Arial Narrow" pitchFamily="34" charset="0"/>
              </a:rPr>
              <a:t>4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29000" y="183898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3300"/>
                </a:solidFill>
                <a:latin typeface="Arial Narrow" pitchFamily="34" charset="0"/>
              </a:rPr>
              <a:t>8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1066800" y="3072825"/>
            <a:ext cx="762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Arial Narrow" pitchFamily="34" charset="0"/>
              </a:rPr>
              <a:t>MnO</a:t>
            </a:r>
            <a:r>
              <a:rPr lang="en-US" sz="3200" baseline="-25000" dirty="0" smtClean="0">
                <a:latin typeface="Arial Narrow" pitchFamily="34" charset="0"/>
              </a:rPr>
              <a:t>4</a:t>
            </a:r>
            <a:r>
              <a:rPr lang="en-US" sz="3200" dirty="0" smtClean="0">
                <a:latin typeface="Arial Narrow" pitchFamily="34" charset="0"/>
              </a:rPr>
              <a:t> </a:t>
            </a:r>
            <a:r>
              <a:rPr lang="en-US" sz="3200" baseline="30000" dirty="0" smtClean="0">
                <a:latin typeface="Arial Narrow" pitchFamily="34" charset="0"/>
              </a:rPr>
              <a:t>-</a:t>
            </a:r>
            <a:r>
              <a:rPr lang="en-US" sz="3200" dirty="0" smtClean="0">
                <a:latin typeface="Arial Narrow" pitchFamily="34" charset="0"/>
              </a:rPr>
              <a:t> +     </a:t>
            </a:r>
            <a:r>
              <a:rPr lang="en-US" altLang="zh-CN" sz="3200" dirty="0" smtClean="0">
                <a:latin typeface="Arial Narrow" pitchFamily="34" charset="0"/>
              </a:rPr>
              <a:t>Fe</a:t>
            </a:r>
            <a:r>
              <a:rPr lang="en-US" altLang="zh-CN" sz="3200" baseline="30000" dirty="0" smtClean="0">
                <a:latin typeface="Arial Narrow" pitchFamily="34" charset="0"/>
              </a:rPr>
              <a:t>2+</a:t>
            </a:r>
            <a:r>
              <a:rPr lang="en-US" altLang="zh-CN" sz="3200" dirty="0" smtClean="0">
                <a:latin typeface="Arial Narrow" pitchFamily="34" charset="0"/>
              </a:rPr>
              <a:t> +    H</a:t>
            </a:r>
            <a:r>
              <a:rPr lang="en-US" altLang="zh-CN" sz="3200" baseline="30000" dirty="0" smtClean="0">
                <a:latin typeface="Arial Narrow" pitchFamily="34" charset="0"/>
              </a:rPr>
              <a:t>+</a:t>
            </a:r>
            <a:r>
              <a:rPr lang="en-US" altLang="zh-CN" sz="3200" dirty="0" smtClean="0">
                <a:latin typeface="Arial Narrow" pitchFamily="34" charset="0"/>
              </a:rPr>
              <a:t> </a:t>
            </a: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    Mn</a:t>
            </a:r>
            <a:r>
              <a:rPr lang="en-US" altLang="zh-CN" sz="3200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 +   Fe</a:t>
            </a:r>
            <a:r>
              <a:rPr lang="en-US" altLang="zh-CN" sz="3200" baseline="30000" dirty="0" smtClean="0">
                <a:latin typeface="Arial Narrow" pitchFamily="34" charset="0"/>
                <a:sym typeface="Wingdings" pitchFamily="2" charset="2"/>
              </a:rPr>
              <a:t>3+</a:t>
            </a: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+   H</a:t>
            </a:r>
            <a:r>
              <a:rPr lang="en-US" altLang="zh-CN" sz="3200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O</a:t>
            </a:r>
            <a:endParaRPr lang="en-MY" sz="3200" dirty="0">
              <a:latin typeface="Arial Rounded MT Bold" pitchFamily="34" charset="0"/>
            </a:endParaRPr>
          </a:p>
        </p:txBody>
      </p:sp>
      <p:grpSp>
        <p:nvGrpSpPr>
          <p:cNvPr id="2" name="Group 34"/>
          <p:cNvGrpSpPr/>
          <p:nvPr/>
        </p:nvGrpSpPr>
        <p:grpSpPr>
          <a:xfrm>
            <a:off x="1295400" y="2286000"/>
            <a:ext cx="43434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35"/>
          <p:cNvGrpSpPr/>
          <p:nvPr/>
        </p:nvGrpSpPr>
        <p:grpSpPr>
          <a:xfrm>
            <a:off x="3124200" y="3581400"/>
            <a:ext cx="37338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2268138" y="1828800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+5e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966350" y="4267200"/>
            <a:ext cx="8114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-1e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6800" y="28956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</a:t>
            </a:r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7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056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+3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19400" y="28956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48129" y="182880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X1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72129" y="426720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X5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000" y="313438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  <a:latin typeface="Arial Rounded MT Bold" pitchFamily="34" charset="0"/>
              </a:rPr>
              <a:t>1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88534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  <a:latin typeface="Arial Rounded MT Bold" pitchFamily="34" charset="0"/>
              </a:rPr>
              <a:t>1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90800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5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26934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B050"/>
                </a:solidFill>
                <a:latin typeface="Arial Rounded MT Bold" pitchFamily="34" charset="0"/>
              </a:rPr>
              <a:t>4</a:t>
            </a:r>
            <a:endParaRPr lang="en-MY" sz="2800" b="1" dirty="0">
              <a:solidFill>
                <a:srgbClr val="00B050"/>
              </a:solidFill>
              <a:latin typeface="Arial Rounded MT Bold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69334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B050"/>
                </a:solidFill>
                <a:latin typeface="Arial Rounded MT Bold" pitchFamily="34" charset="0"/>
              </a:rPr>
              <a:t>8</a:t>
            </a:r>
            <a:endParaRPr lang="en-MY" sz="2800" b="1" dirty="0">
              <a:solidFill>
                <a:srgbClr val="00B050"/>
              </a:solidFill>
              <a:latin typeface="Arial Rounded MT Bold" pitchFamily="34" charset="0"/>
            </a:endParaRPr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zh-CN" altLang="en-US" dirty="0" smtClean="0"/>
              <a:t>问题解决（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4102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83934" y="313438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5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16" grpId="0"/>
      <p:bldP spid="17" grpId="0"/>
      <p:bldP spid="18" grpId="0"/>
      <p:bldP spid="22" grpId="0"/>
      <p:bldP spid="23" grpId="0"/>
      <p:bldP spid="24" grpId="0"/>
      <p:bldP spid="25" grpId="0"/>
      <p:bldP spid="26" grpId="0"/>
      <p:bldP spid="27" grpId="0"/>
      <p:bldP spid="29" grpId="0"/>
      <p:bldP spid="28" grpId="0"/>
      <p:bldP spid="3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问题解决（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 MnO</a:t>
            </a:r>
            <a:r>
              <a:rPr lang="en-US" baseline="-25000" dirty="0" smtClean="0">
                <a:latin typeface="Arial Narrow" pitchFamily="34" charset="0"/>
              </a:rPr>
              <a:t>4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baseline="30000" dirty="0" smtClean="0">
                <a:latin typeface="Arial Narrow" pitchFamily="34" charset="0"/>
              </a:rPr>
              <a:t>-</a:t>
            </a:r>
            <a:r>
              <a:rPr lang="en-US" dirty="0" smtClean="0">
                <a:latin typeface="Arial Narrow" pitchFamily="34" charset="0"/>
              </a:rPr>
              <a:t> +    SO</a:t>
            </a:r>
            <a:r>
              <a:rPr lang="en-US" baseline="-25000" dirty="0" smtClean="0">
                <a:latin typeface="Arial Narrow" pitchFamily="34" charset="0"/>
              </a:rPr>
              <a:t>2</a:t>
            </a:r>
            <a:r>
              <a:rPr lang="en-US" altLang="zh-CN" dirty="0" smtClean="0">
                <a:latin typeface="Arial Narrow" pitchFamily="34" charset="0"/>
              </a:rPr>
              <a:t> 	 	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   Mn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    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2-</a:t>
            </a:r>
            <a:endParaRPr lang="en-US" altLang="zh-CN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			Mn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7+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+ 5e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Mn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2+ </a:t>
            </a:r>
          </a:p>
          <a:p>
            <a:pPr>
              <a:buNone/>
            </a:pP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	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 		S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4+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 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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S 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6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+ 2e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endParaRPr lang="en-US" dirty="0" smtClean="0">
              <a:latin typeface="Arial Narrow" pitchFamily="34" charset="0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		2 Mn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7+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 5 S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4+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2 Mn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2+ 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+ 5 S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6+</a:t>
            </a:r>
          </a:p>
          <a:p>
            <a:pPr>
              <a:buNone/>
            </a:pPr>
            <a:endParaRPr lang="en-US" baseline="300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endParaRPr lang="en-US" baseline="300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zh-CN" altLang="en-US" dirty="0" smtClean="0">
                <a:latin typeface="Arial Narrow" pitchFamily="34" charset="0"/>
                <a:sym typeface="Wingdings" pitchFamily="2" charset="2"/>
              </a:rPr>
              <a:t>在酸性溶液中：</a:t>
            </a:r>
            <a:endParaRPr lang="en-US" altLang="zh-CN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zh-CN" altLang="en-US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要配平</a:t>
            </a:r>
            <a:r>
              <a:rPr lang="en-US" altLang="zh-CN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O </a:t>
            </a:r>
            <a:r>
              <a:rPr lang="zh-CN" altLang="en-US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可加</a:t>
            </a:r>
            <a:r>
              <a:rPr lang="en-US" altLang="zh-CN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H</a:t>
            </a:r>
            <a:r>
              <a:rPr lang="en-US" altLang="zh-CN" baseline="-25000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O </a:t>
            </a:r>
            <a:r>
              <a:rPr lang="zh-CN" altLang="en-US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，要配平</a:t>
            </a:r>
            <a:r>
              <a:rPr lang="en-US" altLang="zh-CN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H</a:t>
            </a:r>
            <a:r>
              <a:rPr lang="zh-CN" altLang="en-US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可加</a:t>
            </a:r>
            <a:r>
              <a:rPr lang="en-US" altLang="zh-CN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H</a:t>
            </a:r>
            <a:r>
              <a:rPr lang="en-US" altLang="zh-CN" baseline="30000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+</a:t>
            </a:r>
            <a:endParaRPr lang="en-US" dirty="0" smtClean="0">
              <a:latin typeface="Arial Narrow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+7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8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+4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670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768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</a:t>
            </a:r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198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+6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Rounded MT Bold" pitchFamily="34" charset="0"/>
              </a:rPr>
              <a:t>+7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68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Rounded MT Bold" pitchFamily="34" charset="0"/>
              </a:rPr>
              <a:t>+</a:t>
            </a:r>
            <a:r>
              <a:rPr lang="en-US" sz="2000" b="1" dirty="0" smtClean="0">
                <a:solidFill>
                  <a:srgbClr val="FF0000"/>
                </a:solidFill>
                <a:latin typeface="Arial Rounded MT Bold" pitchFamily="34" charset="0"/>
              </a:rPr>
              <a:t>2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Rounded MT Bold" pitchFamily="34" charset="0"/>
              </a:rPr>
              <a:t>+4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198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Rounded MT Bold" pitchFamily="34" charset="0"/>
              </a:rPr>
              <a:t>+6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57800" y="328678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Narrow" pitchFamily="34" charset="0"/>
              </a:rPr>
              <a:t>x5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1447800" y="3810000"/>
            <a:ext cx="533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10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336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5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67400" y="183898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5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57800" y="281940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Narrow" pitchFamily="34" charset="0"/>
              </a:rPr>
              <a:t>x2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48000" y="1838980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3300"/>
                </a:solidFill>
                <a:latin typeface="Arial Narrow" pitchFamily="34" charset="0"/>
              </a:rPr>
              <a:t>+ 2 H</a:t>
            </a:r>
            <a:r>
              <a:rPr lang="en-US" altLang="zh-CN" sz="2800" b="1" baseline="-25000" dirty="0" smtClean="0">
                <a:solidFill>
                  <a:srgbClr val="003300"/>
                </a:solidFill>
                <a:latin typeface="Arial Narrow" pitchFamily="34" charset="0"/>
              </a:rPr>
              <a:t>2</a:t>
            </a:r>
            <a:r>
              <a:rPr lang="en-US" altLang="zh-CN" sz="2800" b="1" dirty="0" smtClean="0">
                <a:solidFill>
                  <a:srgbClr val="003300"/>
                </a:solidFill>
                <a:latin typeface="Arial Narrow" pitchFamily="34" charset="0"/>
              </a:rPr>
              <a:t>O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86600" y="1828800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3300"/>
                </a:solidFill>
                <a:latin typeface="Arial Narrow" pitchFamily="34" charset="0"/>
              </a:rPr>
              <a:t>+ 4 H</a:t>
            </a:r>
            <a:r>
              <a:rPr lang="en-US" altLang="zh-CN" sz="2800" b="1" baseline="30000" dirty="0" smtClean="0">
                <a:solidFill>
                  <a:srgbClr val="003300"/>
                </a:solidFill>
                <a:latin typeface="Arial Narrow" pitchFamily="34" charset="0"/>
              </a:rPr>
              <a:t>+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 uiExpand="1"/>
      <p:bldP spid="19" grpId="0"/>
      <p:bldP spid="20" grpId="0"/>
      <p:bldP spid="21" grpId="0"/>
      <p:bldP spid="22" grpId="0"/>
      <p:bldP spid="25" grpId="0"/>
      <p:bldP spid="26" grpId="0"/>
      <p:bldP spid="2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9600" y="3072825"/>
            <a:ext cx="762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Arial Narrow" pitchFamily="34" charset="0"/>
              </a:rPr>
              <a:t>MnO</a:t>
            </a:r>
            <a:r>
              <a:rPr lang="en-US" sz="3200" baseline="-25000" dirty="0" smtClean="0">
                <a:latin typeface="Arial Narrow" pitchFamily="34" charset="0"/>
              </a:rPr>
              <a:t>4</a:t>
            </a:r>
            <a:r>
              <a:rPr lang="en-US" sz="3200" dirty="0" smtClean="0">
                <a:latin typeface="Arial Narrow" pitchFamily="34" charset="0"/>
              </a:rPr>
              <a:t> </a:t>
            </a:r>
            <a:r>
              <a:rPr lang="en-US" sz="3200" baseline="30000" dirty="0" smtClean="0">
                <a:latin typeface="Arial Narrow" pitchFamily="34" charset="0"/>
              </a:rPr>
              <a:t>-</a:t>
            </a:r>
            <a:r>
              <a:rPr lang="en-US" sz="3200" dirty="0" smtClean="0">
                <a:latin typeface="Arial Narrow" pitchFamily="34" charset="0"/>
              </a:rPr>
              <a:t> +     </a:t>
            </a:r>
            <a:r>
              <a:rPr lang="en-US" altLang="zh-CN" sz="3200" dirty="0" smtClean="0">
                <a:latin typeface="Arial Narrow" pitchFamily="34" charset="0"/>
              </a:rPr>
              <a:t>SO</a:t>
            </a:r>
            <a:r>
              <a:rPr lang="en-US" altLang="zh-CN" sz="3200" baseline="-25000" dirty="0" smtClean="0">
                <a:latin typeface="Arial Narrow" pitchFamily="34" charset="0"/>
              </a:rPr>
              <a:t>2</a:t>
            </a:r>
            <a:r>
              <a:rPr lang="en-US" altLang="zh-CN" sz="3200" dirty="0" smtClean="0">
                <a:latin typeface="Arial Narrow" pitchFamily="34" charset="0"/>
              </a:rPr>
              <a:t> 	   	  </a:t>
            </a: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   Mn</a:t>
            </a:r>
            <a:r>
              <a:rPr lang="en-US" altLang="zh-CN" sz="3200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+    SO</a:t>
            </a:r>
            <a:r>
              <a:rPr lang="en-US" altLang="zh-CN" sz="3200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sz="3200" baseline="30000" dirty="0" smtClean="0">
                <a:latin typeface="Arial Narrow" pitchFamily="34" charset="0"/>
                <a:sym typeface="Wingdings" pitchFamily="2" charset="2"/>
              </a:rPr>
              <a:t>2-</a:t>
            </a: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   </a:t>
            </a:r>
            <a:endParaRPr lang="en-MY" sz="3200" dirty="0">
              <a:latin typeface="Arial Rounded MT Bold" pitchFamily="34" charset="0"/>
            </a:endParaRPr>
          </a:p>
        </p:txBody>
      </p:sp>
      <p:grpSp>
        <p:nvGrpSpPr>
          <p:cNvPr id="2" name="Group 34"/>
          <p:cNvGrpSpPr/>
          <p:nvPr/>
        </p:nvGrpSpPr>
        <p:grpSpPr>
          <a:xfrm>
            <a:off x="990600" y="2286000"/>
            <a:ext cx="43434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35"/>
          <p:cNvGrpSpPr/>
          <p:nvPr/>
        </p:nvGrpSpPr>
        <p:grpSpPr>
          <a:xfrm>
            <a:off x="2590800" y="3505200"/>
            <a:ext cx="40386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2268138" y="1828800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+5e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585350" y="4191000"/>
            <a:ext cx="8114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-2e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28956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</a:t>
            </a:r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7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+6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62200" y="291471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+4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48129" y="182880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X2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91129" y="419100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X5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1000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  <a:latin typeface="Arial Rounded MT Bold" pitchFamily="34" charset="0"/>
              </a:rPr>
              <a:t>2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00600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  <a:latin typeface="Arial Rounded MT Bold" pitchFamily="34" charset="0"/>
              </a:rPr>
              <a:t>2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33600" y="313438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5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72401" y="3048000"/>
            <a:ext cx="12234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+ 4H</a:t>
            </a:r>
            <a:r>
              <a:rPr lang="en-US" altLang="zh-CN" sz="3200" b="1" baseline="300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+</a:t>
            </a:r>
            <a:endParaRPr lang="en-MY" sz="3200" b="1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24200" y="3048000"/>
            <a:ext cx="15343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+ 2H</a:t>
            </a:r>
            <a:r>
              <a:rPr lang="en-US" sz="3200" b="1" baseline="-250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z="32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O</a:t>
            </a:r>
            <a:endParaRPr lang="en-MY" sz="3200" b="1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zh-CN" altLang="en-US" dirty="0" smtClean="0"/>
              <a:t>问题解决（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1054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96000" y="313438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5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16" grpId="0"/>
      <p:bldP spid="17" grpId="0"/>
      <p:bldP spid="18" grpId="0"/>
      <p:bldP spid="22" grpId="0"/>
      <p:bldP spid="23" grpId="0"/>
      <p:bldP spid="24" grpId="0"/>
      <p:bldP spid="25" grpId="0"/>
      <p:bldP spid="26" grpId="0"/>
      <p:bldP spid="27" grpId="0"/>
      <p:bldP spid="29" grpId="0"/>
      <p:bldP spid="28" grpId="0"/>
      <p:bldP spid="3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8991600" cy="462560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latin typeface="Arial Narrow" pitchFamily="34" charset="0"/>
              </a:rPr>
              <a:t> K</a:t>
            </a:r>
            <a:r>
              <a:rPr lang="en-US" altLang="zh-CN" sz="2800" b="1" dirty="0" smtClean="0">
                <a:latin typeface="Arial Narrow" pitchFamily="34" charset="0"/>
              </a:rPr>
              <a:t>Mn</a:t>
            </a:r>
            <a:r>
              <a:rPr lang="en-US" sz="2800" b="1" dirty="0" smtClean="0">
                <a:latin typeface="Arial Narrow" pitchFamily="34" charset="0"/>
              </a:rPr>
              <a:t>O</a:t>
            </a:r>
            <a:r>
              <a:rPr lang="en-US" altLang="zh-CN" sz="2800" b="1" baseline="-25000" dirty="0" smtClean="0">
                <a:latin typeface="Arial Narrow" pitchFamily="34" charset="0"/>
              </a:rPr>
              <a:t>4</a:t>
            </a:r>
            <a:r>
              <a:rPr lang="en-US" sz="2800" b="1" dirty="0" smtClean="0">
                <a:latin typeface="Arial Narrow" pitchFamily="34" charset="0"/>
              </a:rPr>
              <a:t>+   </a:t>
            </a:r>
            <a:r>
              <a:rPr lang="en-US" altLang="zh-CN" sz="2800" b="1" dirty="0" smtClean="0">
                <a:latin typeface="Arial Narrow" pitchFamily="34" charset="0"/>
              </a:rPr>
              <a:t>FeS</a:t>
            </a:r>
            <a:r>
              <a:rPr lang="en-US" sz="2800" b="1" dirty="0" smtClean="0">
                <a:latin typeface="Arial Narrow" pitchFamily="34" charset="0"/>
              </a:rPr>
              <a:t>O</a:t>
            </a:r>
            <a:r>
              <a:rPr lang="en-US" altLang="zh-CN" sz="2800" b="1" baseline="-25000" dirty="0" smtClean="0">
                <a:latin typeface="Arial Narrow" pitchFamily="34" charset="0"/>
              </a:rPr>
              <a:t>4</a:t>
            </a:r>
            <a:r>
              <a:rPr lang="en-US" sz="2800" b="1" dirty="0" smtClean="0">
                <a:latin typeface="Arial Narrow" pitchFamily="34" charset="0"/>
              </a:rPr>
              <a:t>+  H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SO</a:t>
            </a:r>
            <a:r>
              <a:rPr lang="en-US" sz="2800" b="1" baseline="-25000" dirty="0" smtClean="0">
                <a:latin typeface="Arial Narrow" pitchFamily="34" charset="0"/>
              </a:rPr>
              <a:t>4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 K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+   </a:t>
            </a:r>
            <a:r>
              <a:rPr lang="en-US" altLang="zh-CN" sz="2800" b="1" dirty="0" smtClean="0">
                <a:latin typeface="Arial Narrow" pitchFamily="34" charset="0"/>
                <a:sym typeface="Wingdings" pitchFamily="2" charset="2"/>
              </a:rPr>
              <a:t>MnS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altLang="zh-CN" sz="2800" b="1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+   </a:t>
            </a:r>
            <a:r>
              <a:rPr lang="en-US" altLang="zh-CN" sz="2800" b="1" dirty="0" smtClean="0">
                <a:latin typeface="Arial Narrow" pitchFamily="34" charset="0"/>
                <a:sym typeface="Wingdings" pitchFamily="2" charset="2"/>
              </a:rPr>
              <a:t>Fe</a:t>
            </a:r>
            <a:r>
              <a:rPr lang="en-US" altLang="zh-CN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2800" b="1" dirty="0" smtClean="0">
                <a:latin typeface="Arial Narrow" pitchFamily="34" charset="0"/>
                <a:sym typeface="Wingdings" pitchFamily="2" charset="2"/>
              </a:rPr>
              <a:t>(SO</a:t>
            </a:r>
            <a:r>
              <a:rPr lang="en-US" altLang="zh-CN" sz="2800" b="1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sz="2800" b="1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sz="2800" b="1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+  H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O </a:t>
            </a:r>
            <a:endParaRPr lang="en-US" sz="2800" b="1" baseline="-250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endParaRPr lang="en-US" sz="2800" b="1" baseline="-250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 smtClean="0">
                <a:latin typeface="Arial Narrow" pitchFamily="34" charset="0"/>
              </a:rPr>
              <a:t>	      </a:t>
            </a:r>
            <a:r>
              <a:rPr lang="en-US" altLang="zh-CN" sz="2800" dirty="0" err="1" smtClean="0">
                <a:latin typeface="Arial Narrow" pitchFamily="34" charset="0"/>
              </a:rPr>
              <a:t>Mn</a:t>
            </a:r>
            <a:r>
              <a:rPr lang="en-US" altLang="zh-CN" sz="2800" dirty="0" smtClean="0">
                <a:latin typeface="Arial Narrow" pitchFamily="34" charset="0"/>
              </a:rPr>
              <a:t> </a:t>
            </a:r>
            <a:r>
              <a:rPr lang="en-US" altLang="zh-CN" sz="2800" baseline="30000" dirty="0" smtClean="0">
                <a:latin typeface="Arial Narrow" pitchFamily="34" charset="0"/>
              </a:rPr>
              <a:t>7+</a:t>
            </a:r>
            <a:r>
              <a:rPr lang="en-US" altLang="zh-CN" sz="2800" dirty="0" smtClean="0">
                <a:latin typeface="Arial Narrow" pitchFamily="34" charset="0"/>
              </a:rPr>
              <a:t>  + 5</a:t>
            </a:r>
            <a:r>
              <a:rPr lang="zh-CN" altLang="en-US" sz="2800" baseline="30000" dirty="0" smtClean="0">
                <a:latin typeface="Arial Narrow" pitchFamily="34" charset="0"/>
              </a:rPr>
              <a:t> </a:t>
            </a:r>
            <a:r>
              <a:rPr lang="en-US" altLang="zh-CN" sz="2800" dirty="0" smtClean="0">
                <a:latin typeface="Arial Narrow" pitchFamily="34" charset="0"/>
              </a:rPr>
              <a:t>e</a:t>
            </a:r>
            <a:r>
              <a:rPr lang="en-US" altLang="zh-CN" sz="2800" baseline="30000" dirty="0" smtClean="0">
                <a:latin typeface="Arial Narrow" pitchFamily="34" charset="0"/>
              </a:rPr>
              <a:t>- </a:t>
            </a:r>
            <a:r>
              <a:rPr lang="en-US" altLang="zh-CN" sz="2800" dirty="0" smtClean="0">
                <a:latin typeface="Arial Narrow" pitchFamily="34" charset="0"/>
              </a:rPr>
              <a:t> 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 </a:t>
            </a:r>
            <a:r>
              <a:rPr lang="en-US" altLang="zh-CN" sz="2800" dirty="0" err="1" smtClean="0">
                <a:latin typeface="Arial Narrow" pitchFamily="34" charset="0"/>
                <a:sym typeface="Wingdings" pitchFamily="2" charset="2"/>
              </a:rPr>
              <a:t>Mn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2800" baseline="30000" dirty="0" smtClean="0">
                <a:latin typeface="Arial Narrow" pitchFamily="34" charset="0"/>
                <a:sym typeface="Wingdings" pitchFamily="2" charset="2"/>
              </a:rPr>
              <a:t>2+</a:t>
            </a:r>
          </a:p>
          <a:p>
            <a:pPr>
              <a:buNone/>
            </a:pPr>
            <a:r>
              <a:rPr lang="en-US" sz="2800" baseline="30000" dirty="0" smtClean="0">
                <a:latin typeface="Arial Narrow" pitchFamily="34" charset="0"/>
                <a:sym typeface="Wingdings" pitchFamily="2" charset="2"/>
              </a:rPr>
              <a:t> 		</a:t>
            </a:r>
            <a:r>
              <a:rPr lang="en-US" sz="28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Fe</a:t>
            </a:r>
            <a:r>
              <a:rPr lang="en-US" altLang="zh-CN" sz="2800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  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  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2 Fe</a:t>
            </a:r>
            <a:r>
              <a:rPr lang="en-US" altLang="zh-CN" sz="2800" baseline="30000" dirty="0" smtClean="0">
                <a:latin typeface="Arial Narrow" pitchFamily="34" charset="0"/>
                <a:sym typeface="Wingdings" pitchFamily="2" charset="2"/>
              </a:rPr>
              <a:t>3+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     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e</a:t>
            </a:r>
            <a:r>
              <a:rPr lang="en-US" altLang="zh-CN" sz="2800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 </a:t>
            </a:r>
            <a:endParaRPr lang="en-US" altLang="zh-CN" sz="28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	2 </a:t>
            </a:r>
            <a:r>
              <a:rPr lang="en-US" altLang="zh-CN" sz="2800" dirty="0" err="1" smtClean="0">
                <a:latin typeface="Arial Narrow" pitchFamily="34" charset="0"/>
                <a:sym typeface="Wingdings" pitchFamily="2" charset="2"/>
              </a:rPr>
              <a:t>Mn</a:t>
            </a:r>
            <a:r>
              <a:rPr lang="en-US" altLang="zh-CN" sz="2800" dirty="0" smtClean="0">
                <a:latin typeface="Arial Narrow" pitchFamily="34" charset="0"/>
              </a:rPr>
              <a:t> </a:t>
            </a:r>
            <a:r>
              <a:rPr lang="en-US" altLang="zh-CN" sz="2800" baseline="30000" dirty="0" smtClean="0">
                <a:latin typeface="Arial Narrow" pitchFamily="34" charset="0"/>
              </a:rPr>
              <a:t>7+</a:t>
            </a:r>
            <a:r>
              <a:rPr lang="en-US" altLang="zh-CN" sz="2800" dirty="0" smtClean="0">
                <a:latin typeface="Arial Narrow" pitchFamily="34" charset="0"/>
              </a:rPr>
              <a:t>  +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10 Fe</a:t>
            </a:r>
            <a:r>
              <a:rPr lang="en-US" altLang="zh-CN" sz="2800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   2 </a:t>
            </a:r>
            <a:r>
              <a:rPr lang="en-US" altLang="zh-CN" sz="2800" dirty="0" err="1" smtClean="0">
                <a:latin typeface="Arial Narrow" pitchFamily="34" charset="0"/>
                <a:sym typeface="Wingdings" pitchFamily="2" charset="2"/>
              </a:rPr>
              <a:t>Mn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2800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sz="2800" dirty="0" smtClean="0">
                <a:latin typeface="Arial Narrow" pitchFamily="34" charset="0"/>
                <a:sym typeface="Wingdings" pitchFamily="2" charset="2"/>
              </a:rPr>
              <a:t> + 10 Fe</a:t>
            </a:r>
            <a:r>
              <a:rPr lang="en-US" altLang="zh-CN" sz="2800" baseline="30000" dirty="0" smtClean="0">
                <a:latin typeface="Arial Narrow" pitchFamily="34" charset="0"/>
                <a:sym typeface="Wingdings" pitchFamily="2" charset="2"/>
              </a:rPr>
              <a:t>3+</a:t>
            </a:r>
            <a:r>
              <a:rPr lang="en-US" altLang="zh-CN" sz="2800" baseline="-25000" dirty="0" smtClean="0">
                <a:latin typeface="Arial Narrow" pitchFamily="34" charset="0"/>
                <a:sym typeface="Wingdings" pitchFamily="2" charset="2"/>
              </a:rPr>
              <a:t> </a:t>
            </a:r>
            <a:endParaRPr lang="en-US" altLang="zh-CN" sz="2800" baseline="300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sz="2800" baseline="30000" dirty="0" smtClean="0">
                <a:latin typeface="Arial Narrow" pitchFamily="34" charset="0"/>
                <a:sym typeface="Wingdings" pitchFamily="2" charset="2"/>
              </a:rPr>
              <a:t> 		</a:t>
            </a:r>
            <a:endParaRPr lang="en-US" altLang="zh-CN" sz="28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sz="2800" b="1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K</a:t>
            </a:r>
            <a:r>
              <a:rPr lang="en-US" altLang="zh-CN" sz="2800" b="1" dirty="0" smtClean="0">
                <a:latin typeface="Arial Narrow" pitchFamily="34" charset="0"/>
              </a:rPr>
              <a:t>Mn</a:t>
            </a:r>
            <a:r>
              <a:rPr lang="en-US" sz="2800" b="1" dirty="0" smtClean="0">
                <a:latin typeface="Arial Narrow" pitchFamily="34" charset="0"/>
              </a:rPr>
              <a:t>O</a:t>
            </a:r>
            <a:r>
              <a:rPr lang="en-US" altLang="zh-CN" sz="2800" b="1" baseline="-25000" dirty="0" smtClean="0">
                <a:latin typeface="Arial Narrow" pitchFamily="34" charset="0"/>
              </a:rPr>
              <a:t>4</a:t>
            </a:r>
            <a:r>
              <a:rPr lang="en-US" sz="2800" b="1" dirty="0" smtClean="0">
                <a:latin typeface="Arial Narrow" pitchFamily="34" charset="0"/>
              </a:rPr>
              <a:t>+</a:t>
            </a:r>
            <a:r>
              <a:rPr lang="en-US" altLang="zh-CN" sz="2800" b="1" dirty="0" smtClean="0">
                <a:latin typeface="Arial Narrow" pitchFamily="34" charset="0"/>
              </a:rPr>
              <a:t>10FeS</a:t>
            </a:r>
            <a:r>
              <a:rPr lang="en-US" sz="2800" b="1" dirty="0" smtClean="0">
                <a:latin typeface="Arial Narrow" pitchFamily="34" charset="0"/>
              </a:rPr>
              <a:t>O</a:t>
            </a:r>
            <a:r>
              <a:rPr lang="en-US" altLang="zh-CN" sz="2800" b="1" baseline="-25000" dirty="0" smtClean="0">
                <a:latin typeface="Arial Narrow" pitchFamily="34" charset="0"/>
              </a:rPr>
              <a:t>4</a:t>
            </a:r>
            <a:r>
              <a:rPr lang="en-US" sz="2800" b="1" dirty="0" smtClean="0">
                <a:latin typeface="Arial Narrow" pitchFamily="34" charset="0"/>
              </a:rPr>
              <a:t>+</a:t>
            </a:r>
            <a:r>
              <a:rPr lang="en-US" altLang="zh-CN" sz="2800" b="1" dirty="0" smtClean="0">
                <a:latin typeface="Arial Narrow" pitchFamily="34" charset="0"/>
              </a:rPr>
              <a:t>8</a:t>
            </a:r>
            <a:r>
              <a:rPr lang="en-US" sz="2800" b="1" dirty="0" smtClean="0">
                <a:latin typeface="Arial Narrow" pitchFamily="34" charset="0"/>
              </a:rPr>
              <a:t>H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SO</a:t>
            </a:r>
            <a:r>
              <a:rPr lang="en-US" sz="2800" b="1" baseline="-25000" dirty="0" smtClean="0">
                <a:latin typeface="Arial Narrow" pitchFamily="34" charset="0"/>
              </a:rPr>
              <a:t>4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K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+ </a:t>
            </a:r>
            <a:r>
              <a:rPr lang="en-US" altLang="zh-CN" sz="2800" b="1" dirty="0" smtClean="0">
                <a:latin typeface="Arial Narrow" pitchFamily="34" charset="0"/>
                <a:sym typeface="Wingdings" pitchFamily="2" charset="2"/>
              </a:rPr>
              <a:t>2MnS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altLang="zh-CN" sz="2800" b="1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altLang="zh-CN" sz="2800" b="1" dirty="0" smtClean="0">
                <a:latin typeface="Arial Narrow" pitchFamily="34" charset="0"/>
                <a:sym typeface="Wingdings" pitchFamily="2" charset="2"/>
              </a:rPr>
              <a:t>5Fe</a:t>
            </a:r>
            <a:r>
              <a:rPr lang="en-US" altLang="zh-CN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2800" b="1" dirty="0" smtClean="0">
                <a:latin typeface="Arial Narrow" pitchFamily="34" charset="0"/>
                <a:sym typeface="Wingdings" pitchFamily="2" charset="2"/>
              </a:rPr>
              <a:t>(SO</a:t>
            </a:r>
            <a:r>
              <a:rPr lang="en-US" altLang="zh-CN" sz="2800" b="1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sz="2800" b="1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sz="2800" b="1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altLang="zh-CN" sz="2800" b="1" dirty="0" smtClean="0">
                <a:latin typeface="Arial Narrow" pitchFamily="34" charset="0"/>
                <a:sym typeface="Wingdings" pitchFamily="2" charset="2"/>
              </a:rPr>
              <a:t>8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H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O</a:t>
            </a:r>
            <a:endParaRPr lang="en-US" altLang="zh-CN" sz="28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b="1" dirty="0">
              <a:latin typeface="Arial Narrow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问题解决（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334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pitchFamily="34" charset="0"/>
              </a:rPr>
              <a:t>+7</a:t>
            </a:r>
            <a:endParaRPr lang="en-MY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10200" y="1600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pitchFamily="34" charset="0"/>
              </a:rPr>
              <a:t>+2</a:t>
            </a:r>
            <a:endParaRPr lang="en-MY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76400" y="16118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pitchFamily="34" charset="0"/>
              </a:rPr>
              <a:t>+2</a:t>
            </a:r>
            <a:endParaRPr lang="en-MY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81800" y="16118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pitchFamily="34" charset="0"/>
              </a:rPr>
              <a:t>+3</a:t>
            </a:r>
            <a:endParaRPr lang="en-MY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91000" y="289560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Narrow" pitchFamily="34" charset="0"/>
              </a:rPr>
              <a:t>x</a:t>
            </a:r>
            <a:r>
              <a:rPr lang="en-US" altLang="zh-CN" sz="2800" b="1" dirty="0" smtClean="0">
                <a:solidFill>
                  <a:srgbClr val="00B050"/>
                </a:solidFill>
                <a:latin typeface="Arial Narrow" pitchFamily="34" charset="0"/>
              </a:rPr>
              <a:t>5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609600" y="3429000"/>
            <a:ext cx="533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524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47800" y="183898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660066"/>
                </a:solidFill>
                <a:latin typeface="Arial Narrow" pitchFamily="34" charset="0"/>
              </a:rPr>
              <a:t>10</a:t>
            </a:r>
            <a:endParaRPr lang="en-MY" sz="24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578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294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5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38600" y="17526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3300"/>
                </a:solidFill>
                <a:latin typeface="Arial Narrow" pitchFamily="34" charset="0"/>
              </a:rPr>
              <a:t>1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432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3300"/>
                </a:solidFill>
                <a:latin typeface="Arial Narrow" pitchFamily="34" charset="0"/>
              </a:rPr>
              <a:t>8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296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b="1" dirty="0" smtClean="0">
                <a:solidFill>
                  <a:srgbClr val="003300"/>
                </a:solidFill>
                <a:latin typeface="Arial Narrow" pitchFamily="34" charset="0"/>
              </a:rPr>
              <a:t>8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8200" y="290578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581400" y="298198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2060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191000" y="252478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Narrow" pitchFamily="34" charset="0"/>
              </a:rPr>
              <a:t>x</a:t>
            </a:r>
            <a:r>
              <a:rPr lang="en-US" altLang="zh-CN" sz="2800" b="1" dirty="0" smtClean="0">
                <a:solidFill>
                  <a:srgbClr val="00B050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22" grpId="0"/>
      <p:bldP spid="23" grpId="0"/>
      <p:bldP spid="24" grpId="0"/>
      <p:bldP spid="25" grpId="0"/>
      <p:bldP spid="27" grpId="0" uiExpand="1"/>
      <p:bldP spid="30" grpId="0"/>
      <p:bldP spid="31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28600" y="3072825"/>
            <a:ext cx="937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rial Narrow" pitchFamily="34" charset="0"/>
              </a:rPr>
              <a:t>K</a:t>
            </a:r>
            <a:r>
              <a:rPr lang="en-US" altLang="zh-CN" sz="2800" b="1" dirty="0" smtClean="0">
                <a:latin typeface="Arial Narrow" pitchFamily="34" charset="0"/>
              </a:rPr>
              <a:t>Mn</a:t>
            </a:r>
            <a:r>
              <a:rPr lang="en-US" sz="2800" b="1" dirty="0" smtClean="0">
                <a:latin typeface="Arial Narrow" pitchFamily="34" charset="0"/>
              </a:rPr>
              <a:t>O</a:t>
            </a:r>
            <a:r>
              <a:rPr lang="en-US" altLang="zh-CN" sz="2800" b="1" baseline="-25000" dirty="0" smtClean="0">
                <a:latin typeface="Arial Narrow" pitchFamily="34" charset="0"/>
              </a:rPr>
              <a:t>4</a:t>
            </a:r>
            <a:r>
              <a:rPr lang="en-US" sz="2800" b="1" dirty="0" smtClean="0">
                <a:latin typeface="Arial Narrow" pitchFamily="34" charset="0"/>
              </a:rPr>
              <a:t>+      </a:t>
            </a:r>
            <a:r>
              <a:rPr lang="en-US" altLang="zh-CN" sz="2800" b="1" dirty="0" smtClean="0">
                <a:latin typeface="Arial Narrow" pitchFamily="34" charset="0"/>
              </a:rPr>
              <a:t>FeS</a:t>
            </a:r>
            <a:r>
              <a:rPr lang="en-US" sz="2800" b="1" dirty="0" smtClean="0">
                <a:latin typeface="Arial Narrow" pitchFamily="34" charset="0"/>
              </a:rPr>
              <a:t>O</a:t>
            </a:r>
            <a:r>
              <a:rPr lang="en-US" altLang="zh-CN" sz="2800" b="1" baseline="-25000" dirty="0" smtClean="0">
                <a:latin typeface="Arial Narrow" pitchFamily="34" charset="0"/>
              </a:rPr>
              <a:t>4</a:t>
            </a:r>
            <a:r>
              <a:rPr lang="en-US" sz="2800" b="1" dirty="0" smtClean="0">
                <a:latin typeface="Arial Narrow" pitchFamily="34" charset="0"/>
              </a:rPr>
              <a:t>+  H</a:t>
            </a:r>
            <a:r>
              <a:rPr lang="en-US" sz="2800" b="1" baseline="-25000" dirty="0" smtClean="0">
                <a:latin typeface="Arial Narrow" pitchFamily="34" charset="0"/>
              </a:rPr>
              <a:t>2</a:t>
            </a:r>
            <a:r>
              <a:rPr lang="en-US" sz="2800" b="1" dirty="0" smtClean="0">
                <a:latin typeface="Arial Narrow" pitchFamily="34" charset="0"/>
              </a:rPr>
              <a:t>SO</a:t>
            </a:r>
            <a:r>
              <a:rPr lang="en-US" sz="2800" b="1" baseline="-25000" dirty="0" smtClean="0">
                <a:latin typeface="Arial Narrow" pitchFamily="34" charset="0"/>
              </a:rPr>
              <a:t>4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 K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+   </a:t>
            </a:r>
            <a:r>
              <a:rPr lang="en-US" altLang="zh-CN" sz="2800" b="1" dirty="0" smtClean="0">
                <a:latin typeface="Arial Narrow" pitchFamily="34" charset="0"/>
                <a:sym typeface="Wingdings" pitchFamily="2" charset="2"/>
              </a:rPr>
              <a:t>MnS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altLang="zh-CN" sz="2800" b="1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+   </a:t>
            </a:r>
            <a:r>
              <a:rPr lang="en-US" altLang="zh-CN" sz="2800" b="1" dirty="0" smtClean="0">
                <a:latin typeface="Arial Narrow" pitchFamily="34" charset="0"/>
                <a:sym typeface="Wingdings" pitchFamily="2" charset="2"/>
              </a:rPr>
              <a:t>Fe</a:t>
            </a:r>
            <a:r>
              <a:rPr lang="en-US" altLang="zh-CN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2800" b="1" dirty="0" smtClean="0">
                <a:latin typeface="Arial Narrow" pitchFamily="34" charset="0"/>
                <a:sym typeface="Wingdings" pitchFamily="2" charset="2"/>
              </a:rPr>
              <a:t>(SO</a:t>
            </a:r>
            <a:r>
              <a:rPr lang="en-US" altLang="zh-CN" sz="2800" b="1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sz="2800" b="1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sz="2800" b="1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+  H</a:t>
            </a:r>
            <a:r>
              <a:rPr lang="en-US" sz="2800" b="1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sz="2800" b="1" dirty="0" smtClean="0">
                <a:latin typeface="Arial Narrow" pitchFamily="34" charset="0"/>
                <a:sym typeface="Wingdings" pitchFamily="2" charset="2"/>
              </a:rPr>
              <a:t>O</a:t>
            </a:r>
            <a:endParaRPr lang="en-MY" sz="2800" dirty="0">
              <a:latin typeface="Arial Rounded MT Bold" pitchFamily="34" charset="0"/>
            </a:endParaRPr>
          </a:p>
        </p:txBody>
      </p:sp>
      <p:grpSp>
        <p:nvGrpSpPr>
          <p:cNvPr id="2" name="Group 34"/>
          <p:cNvGrpSpPr/>
          <p:nvPr/>
        </p:nvGrpSpPr>
        <p:grpSpPr>
          <a:xfrm>
            <a:off x="685800" y="2209800"/>
            <a:ext cx="51054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35"/>
          <p:cNvGrpSpPr/>
          <p:nvPr/>
        </p:nvGrpSpPr>
        <p:grpSpPr>
          <a:xfrm>
            <a:off x="2057400" y="3505200"/>
            <a:ext cx="52578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1752600" y="1752600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+5e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585350" y="4114800"/>
            <a:ext cx="8114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-2e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34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+7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388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288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342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+3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32591" y="175260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X2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38729" y="411480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X5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694" y="304800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66828" y="304800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91000" y="304800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B050"/>
                </a:solidFill>
                <a:latin typeface="Arial Narrow" pitchFamily="34" charset="0"/>
              </a:rPr>
              <a:t>1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895600" y="3048000"/>
            <a:ext cx="3593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 smtClean="0">
                <a:solidFill>
                  <a:srgbClr val="00B050"/>
                </a:solidFill>
                <a:latin typeface="Arial Narrow" pitchFamily="34" charset="0"/>
              </a:rPr>
              <a:t>8</a:t>
            </a:r>
            <a:endParaRPr lang="en-MY" sz="30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14828" y="304800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00B050"/>
                </a:solidFill>
                <a:latin typeface="Arial Narrow" pitchFamily="34" charset="0"/>
              </a:rPr>
              <a:t>8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38428" y="304800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Narrow" pitchFamily="34" charset="0"/>
              </a:rPr>
              <a:t>5</a:t>
            </a:r>
            <a:endParaRPr lang="en-MY" sz="28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zh-CN" altLang="en-US" dirty="0" smtClean="0"/>
              <a:t>问题解决（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414904" y="3048000"/>
            <a:ext cx="4138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 smtClean="0">
                <a:solidFill>
                  <a:srgbClr val="002060"/>
                </a:solidFill>
                <a:latin typeface="Arial Rounded MT Bold" pitchFamily="34" charset="0"/>
              </a:rPr>
              <a:t>2</a:t>
            </a:r>
            <a:endParaRPr lang="en-MY" sz="3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38206" y="3105090"/>
            <a:ext cx="46679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7030A0"/>
                </a:solidFill>
                <a:latin typeface="Arial Narrow" pitchFamily="34" charset="0"/>
              </a:rPr>
              <a:t>10</a:t>
            </a:r>
            <a:endParaRPr lang="en-MY" sz="2400" b="1" dirty="0">
              <a:solidFill>
                <a:srgbClr val="7030A0"/>
              </a:solidFill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16" grpId="0"/>
      <p:bldP spid="17" grpId="0"/>
      <p:bldP spid="18" grpId="0"/>
      <p:bldP spid="20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2" grpId="0"/>
      <p:bldP spid="31" grpId="0"/>
      <p:bldP spid="2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思考题</a:t>
            </a:r>
            <a:r>
              <a:rPr lang="en-US" altLang="zh-CN" dirty="0" smtClean="0"/>
              <a:t>8d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625609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zh-CN" altLang="en-US" dirty="0" smtClean="0"/>
              <a:t>观</a:t>
            </a:r>
            <a:r>
              <a:rPr lang="en-US" dirty="0" smtClean="0"/>
              <a:t>1. NH</a:t>
            </a:r>
            <a:r>
              <a:rPr lang="en-US" baseline="-25000" dirty="0" smtClean="0"/>
              <a:t>3</a:t>
            </a:r>
            <a:r>
              <a:rPr lang="en-US" dirty="0" smtClean="0"/>
              <a:t> + </a:t>
            </a:r>
            <a:r>
              <a:rPr lang="en-US" dirty="0" err="1" smtClean="0"/>
              <a:t>CuO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 Cu + N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altLang="zh-CN" dirty="0" smtClean="0">
                <a:sym typeface="Wingdings" pitchFamily="2" charset="2"/>
              </a:rPr>
              <a:t>+ H</a:t>
            </a:r>
            <a:r>
              <a:rPr lang="en-US" altLang="zh-CN" baseline="-25000" dirty="0" smtClean="0">
                <a:sym typeface="Wingdings" pitchFamily="2" charset="2"/>
              </a:rPr>
              <a:t>2</a:t>
            </a:r>
            <a:r>
              <a:rPr lang="en-US" altLang="zh-CN" dirty="0" smtClean="0">
                <a:sym typeface="Wingdings" pitchFamily="2" charset="2"/>
              </a:rPr>
              <a:t>O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dirty="0" smtClean="0">
                <a:sym typeface="Wingdings" pitchFamily="2" charset="2"/>
              </a:rPr>
              <a:t>观</a:t>
            </a:r>
            <a:r>
              <a:rPr lang="en-US" altLang="zh-CN" dirty="0" smtClean="0">
                <a:sym typeface="Wingdings" pitchFamily="2" charset="2"/>
              </a:rPr>
              <a:t>2. HNO</a:t>
            </a:r>
            <a:r>
              <a:rPr lang="en-US" altLang="zh-CN" baseline="-25000" dirty="0" smtClean="0">
                <a:sym typeface="Wingdings" pitchFamily="2" charset="2"/>
              </a:rPr>
              <a:t>3(</a:t>
            </a:r>
            <a:r>
              <a:rPr lang="zh-CN" altLang="en-US" baseline="-25000" dirty="0" smtClean="0">
                <a:sym typeface="Wingdings" pitchFamily="2" charset="2"/>
              </a:rPr>
              <a:t>浓</a:t>
            </a:r>
            <a:r>
              <a:rPr lang="en-US" altLang="zh-CN" baseline="-25000" dirty="0" smtClean="0">
                <a:sym typeface="Wingdings" pitchFamily="2" charset="2"/>
              </a:rPr>
              <a:t>)</a:t>
            </a:r>
            <a:r>
              <a:rPr lang="en-US" altLang="zh-CN" dirty="0" smtClean="0">
                <a:sym typeface="Wingdings" pitchFamily="2" charset="2"/>
              </a:rPr>
              <a:t> + Ag  AgNO</a:t>
            </a:r>
            <a:r>
              <a:rPr lang="en-US" altLang="zh-CN" baseline="-25000" dirty="0" smtClean="0">
                <a:sym typeface="Wingdings" pitchFamily="2" charset="2"/>
              </a:rPr>
              <a:t>3</a:t>
            </a:r>
            <a:r>
              <a:rPr lang="en-US" altLang="zh-CN" dirty="0" smtClean="0">
                <a:sym typeface="Wingdings" pitchFamily="2" charset="2"/>
              </a:rPr>
              <a:t> + NO</a:t>
            </a:r>
            <a:r>
              <a:rPr lang="en-US" altLang="zh-CN" baseline="-25000" dirty="0" smtClean="0">
                <a:sym typeface="Wingdings" pitchFamily="2" charset="2"/>
              </a:rPr>
              <a:t>2</a:t>
            </a:r>
            <a:r>
              <a:rPr lang="en-US" altLang="zh-CN" dirty="0" smtClean="0">
                <a:sym typeface="Wingdings" pitchFamily="2" charset="2"/>
              </a:rPr>
              <a:t> + H</a:t>
            </a:r>
            <a:r>
              <a:rPr lang="en-US" altLang="zh-CN" baseline="-25000" dirty="0" smtClean="0">
                <a:sym typeface="Wingdings" pitchFamily="2" charset="2"/>
              </a:rPr>
              <a:t>2</a:t>
            </a:r>
            <a:r>
              <a:rPr lang="en-US" altLang="zh-CN" dirty="0" smtClean="0">
                <a:sym typeface="Wingdings" pitchFamily="2" charset="2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3. KIO</a:t>
            </a:r>
            <a:r>
              <a:rPr lang="en-US" baseline="-25000" dirty="0" smtClean="0"/>
              <a:t>3 </a:t>
            </a:r>
            <a:r>
              <a:rPr lang="en-US" dirty="0" smtClean="0"/>
              <a:t> + H</a:t>
            </a:r>
            <a:r>
              <a:rPr lang="en-US" baseline="-25000" dirty="0" smtClean="0"/>
              <a:t>2</a:t>
            </a:r>
            <a:r>
              <a:rPr lang="en-US" dirty="0" smtClean="0"/>
              <a:t>SO</a:t>
            </a:r>
            <a:r>
              <a:rPr lang="en-US" baseline="-25000" dirty="0" smtClean="0"/>
              <a:t>4 </a:t>
            </a:r>
            <a:r>
              <a:rPr lang="en-US" dirty="0" smtClean="0"/>
              <a:t> + KI </a:t>
            </a:r>
            <a:r>
              <a:rPr lang="en-US" dirty="0" smtClean="0">
                <a:sym typeface="Wingdings" pitchFamily="2" charset="2"/>
              </a:rPr>
              <a:t> I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+ K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SO</a:t>
            </a:r>
            <a:r>
              <a:rPr lang="en-US" baseline="-25000" dirty="0" smtClean="0">
                <a:sym typeface="Wingdings" pitchFamily="2" charset="2"/>
              </a:rPr>
              <a:t>4</a:t>
            </a:r>
            <a:r>
              <a:rPr lang="en-US" dirty="0" smtClean="0">
                <a:sym typeface="Wingdings" pitchFamily="2" charset="2"/>
              </a:rPr>
              <a:t> + H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ym typeface="Wingdings" pitchFamily="2" charset="2"/>
              </a:rPr>
              <a:t>4. </a:t>
            </a:r>
            <a:r>
              <a:rPr lang="en-US" dirty="0" err="1" smtClean="0">
                <a:sym typeface="Wingdings" pitchFamily="2" charset="2"/>
              </a:rPr>
              <a:t>NaOH</a:t>
            </a:r>
            <a:r>
              <a:rPr lang="en-US" dirty="0" smtClean="0">
                <a:sym typeface="Wingdings" pitchFamily="2" charset="2"/>
              </a:rPr>
              <a:t> + Cl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+ </a:t>
            </a:r>
            <a:r>
              <a:rPr lang="en-US" dirty="0" err="1" smtClean="0">
                <a:sym typeface="Wingdings" pitchFamily="2" charset="2"/>
              </a:rPr>
              <a:t>NaI</a:t>
            </a:r>
            <a:r>
              <a:rPr lang="en-US" dirty="0" smtClean="0">
                <a:sym typeface="Wingdings" pitchFamily="2" charset="2"/>
              </a:rPr>
              <a:t>  NaIO</a:t>
            </a:r>
            <a:r>
              <a:rPr lang="en-US" baseline="-25000" dirty="0" smtClean="0">
                <a:sym typeface="Wingdings" pitchFamily="2" charset="2"/>
              </a:rPr>
              <a:t>3</a:t>
            </a:r>
            <a:r>
              <a:rPr lang="en-US" dirty="0" smtClean="0">
                <a:sym typeface="Wingdings" pitchFamily="2" charset="2"/>
              </a:rPr>
              <a:t> + </a:t>
            </a:r>
            <a:r>
              <a:rPr lang="en-US" dirty="0" err="1" smtClean="0">
                <a:sym typeface="Wingdings" pitchFamily="2" charset="2"/>
              </a:rPr>
              <a:t>NaCl</a:t>
            </a:r>
            <a:r>
              <a:rPr lang="en-US" dirty="0" smtClean="0">
                <a:sym typeface="Wingdings" pitchFamily="2" charset="2"/>
              </a:rPr>
              <a:t> + H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O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dirty="0" smtClean="0">
                <a:sym typeface="Wingdings" pitchFamily="2" charset="2"/>
              </a:rPr>
              <a:t>观</a:t>
            </a:r>
            <a:r>
              <a:rPr lang="en-US" dirty="0" smtClean="0">
                <a:sym typeface="Wingdings" pitchFamily="2" charset="2"/>
              </a:rPr>
              <a:t>5. FeBr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+ Cl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 FeCl</a:t>
            </a:r>
            <a:r>
              <a:rPr lang="en-US" baseline="-25000" dirty="0" smtClean="0">
                <a:sym typeface="Wingdings" pitchFamily="2" charset="2"/>
              </a:rPr>
              <a:t>3</a:t>
            </a:r>
            <a:r>
              <a:rPr lang="en-US" dirty="0" smtClean="0">
                <a:sym typeface="Wingdings" pitchFamily="2" charset="2"/>
              </a:rPr>
              <a:t> + Br</a:t>
            </a:r>
            <a:r>
              <a:rPr lang="en-US" baseline="-25000" dirty="0" smtClean="0">
                <a:sym typeface="Wingdings" pitchFamily="2" charset="2"/>
              </a:rPr>
              <a:t>2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295400" y="2057400"/>
            <a:ext cx="990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133600" y="1981200"/>
            <a:ext cx="990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200400" y="1981200"/>
            <a:ext cx="1219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419600" y="1981200"/>
            <a:ext cx="7620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181600" y="1981200"/>
            <a:ext cx="838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371600" y="2743200"/>
            <a:ext cx="16764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3048000" y="2743200"/>
            <a:ext cx="10668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191000" y="2743200"/>
            <a:ext cx="14478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5715000" y="2743200"/>
            <a:ext cx="990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6705600" y="2743200"/>
            <a:ext cx="990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1295400" y="3505200"/>
            <a:ext cx="11430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2514600" y="3505200"/>
            <a:ext cx="1371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3962400" y="3505200"/>
            <a:ext cx="838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4800600" y="3505200"/>
            <a:ext cx="609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5486400" y="3505200"/>
            <a:ext cx="1371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6858000" y="3505200"/>
            <a:ext cx="7620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1295400" y="4191000"/>
            <a:ext cx="1371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2667000" y="4191000"/>
            <a:ext cx="838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3581400" y="4191000"/>
            <a:ext cx="10668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4724400" y="4267200"/>
            <a:ext cx="12954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6096000" y="4191000"/>
            <a:ext cx="11430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315200" y="4191000"/>
            <a:ext cx="11430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1295400" y="4953000"/>
            <a:ext cx="1219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2514600" y="4953000"/>
            <a:ext cx="10668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3581400" y="5029200"/>
            <a:ext cx="12954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4800600" y="5029200"/>
            <a:ext cx="11430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思考题</a:t>
            </a:r>
            <a:r>
              <a:rPr lang="en-US" altLang="zh-CN" dirty="0" smtClean="0"/>
              <a:t>8d</a:t>
            </a:r>
            <a:r>
              <a:rPr lang="zh-CN" altLang="en-US" dirty="0" smtClean="0"/>
              <a:t>答案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3222" indent="-514350">
              <a:buAutoNum type="arabicPeriod"/>
            </a:pPr>
            <a:r>
              <a:rPr lang="en-US" altLang="zh-CN" dirty="0" smtClean="0"/>
              <a:t>23313</a:t>
            </a:r>
          </a:p>
          <a:p>
            <a:pPr marL="633222" indent="-514350">
              <a:buAutoNum type="arabicPeriod"/>
            </a:pPr>
            <a:r>
              <a:rPr lang="en-US" altLang="zh-CN" dirty="0" smtClean="0"/>
              <a:t>21111</a:t>
            </a:r>
          </a:p>
          <a:p>
            <a:pPr marL="633222" indent="-514350">
              <a:buAutoNum type="arabicPeriod"/>
            </a:pPr>
            <a:r>
              <a:rPr lang="en-US" altLang="zh-CN" dirty="0" smtClean="0"/>
              <a:t>135333</a:t>
            </a:r>
          </a:p>
          <a:p>
            <a:pPr marL="633222" indent="-514350">
              <a:buAutoNum type="arabicPeriod"/>
            </a:pPr>
            <a:r>
              <a:rPr lang="en-US" altLang="zh-CN" dirty="0" smtClean="0"/>
              <a:t>631163</a:t>
            </a:r>
          </a:p>
          <a:p>
            <a:pPr marL="633222" indent="-514350">
              <a:buAutoNum type="arabicPeriod"/>
            </a:pPr>
            <a:r>
              <a:rPr lang="en-US" altLang="zh-CN" dirty="0" smtClean="0"/>
              <a:t>2322</a:t>
            </a:r>
          </a:p>
          <a:p>
            <a:pPr marL="633222" indent="-514350">
              <a:buAutoNum type="arabicPeriod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 Narrow" pitchFamily="34" charset="0"/>
              </a:rPr>
              <a:t>补</a:t>
            </a:r>
            <a:r>
              <a:rPr lang="zh-CN" altLang="en-US" dirty="0" smtClean="0">
                <a:latin typeface="Arial Narrow" pitchFamily="34" charset="0"/>
              </a:rPr>
              <a:t>充题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75191"/>
            <a:ext cx="8382000" cy="4625609"/>
          </a:xfrm>
        </p:spPr>
        <p:txBody>
          <a:bodyPr/>
          <a:lstStyle/>
          <a:p>
            <a:pPr marL="118872" indent="0">
              <a:buNone/>
            </a:pPr>
            <a:r>
              <a:rPr lang="en-US" altLang="zh-CN" dirty="0" smtClean="0">
                <a:latin typeface="Arial Narrow" pitchFamily="34" charset="0"/>
              </a:rPr>
              <a:t>Cu + HNO</a:t>
            </a:r>
            <a:r>
              <a:rPr lang="en-US" altLang="zh-CN" baseline="-25000" dirty="0" smtClean="0">
                <a:latin typeface="Arial Narrow" pitchFamily="34" charset="0"/>
              </a:rPr>
              <a:t>3</a:t>
            </a:r>
            <a:r>
              <a:rPr lang="zh-CN" altLang="en-US" dirty="0" smtClean="0">
                <a:latin typeface="Arial Narrow" pitchFamily="34" charset="0"/>
              </a:rPr>
              <a:t> </a:t>
            </a:r>
            <a:r>
              <a:rPr lang="zh-CN" altLang="en-US" baseline="-25000" dirty="0" smtClean="0">
                <a:latin typeface="Arial Narrow" pitchFamily="34" charset="0"/>
              </a:rPr>
              <a:t>（稀）</a:t>
            </a:r>
            <a:r>
              <a:rPr lang="zh-CN" altLang="en-US" dirty="0" smtClean="0">
                <a:latin typeface="Arial Narrow" pitchFamily="34" charset="0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Cu(NO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 + NO +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</a:p>
          <a:p>
            <a:pPr marL="118872" indent="0">
              <a:buNone/>
            </a:pPr>
            <a:r>
              <a:rPr lang="en-US" altLang="zh-CN" dirty="0" smtClean="0">
                <a:latin typeface="Arial Narrow" pitchFamily="34" charset="0"/>
              </a:rPr>
              <a:t>Cu </a:t>
            </a:r>
            <a:r>
              <a:rPr lang="en-US" altLang="zh-CN" dirty="0">
                <a:latin typeface="Arial Narrow" pitchFamily="34" charset="0"/>
              </a:rPr>
              <a:t>+ HNO</a:t>
            </a:r>
            <a:r>
              <a:rPr lang="en-US" altLang="zh-CN" baseline="-25000" dirty="0">
                <a:latin typeface="Arial Narrow" pitchFamily="34" charset="0"/>
              </a:rPr>
              <a:t>3</a:t>
            </a:r>
            <a:r>
              <a:rPr lang="zh-CN" altLang="en-US" dirty="0">
                <a:latin typeface="Arial Narrow" pitchFamily="34" charset="0"/>
              </a:rPr>
              <a:t> </a:t>
            </a:r>
            <a:r>
              <a:rPr lang="zh-CN" altLang="en-US" baseline="-25000" dirty="0" smtClean="0">
                <a:latin typeface="Arial Narrow" pitchFamily="34" charset="0"/>
              </a:rPr>
              <a:t>（浓）</a:t>
            </a:r>
            <a:r>
              <a:rPr lang="zh-CN" altLang="en-US" dirty="0" smtClean="0">
                <a:latin typeface="Arial Narrow" pitchFamily="34" charset="0"/>
              </a:rPr>
              <a:t> </a:t>
            </a:r>
            <a:r>
              <a:rPr lang="en-US" altLang="zh-CN" dirty="0">
                <a:latin typeface="Arial Narrow" pitchFamily="34" charset="0"/>
                <a:sym typeface="Wingdings" pitchFamily="2" charset="2"/>
              </a:rPr>
              <a:t> Cu(NO</a:t>
            </a:r>
            <a:r>
              <a:rPr lang="en-US" altLang="zh-CN" baseline="-25000" dirty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altLang="zh-CN" dirty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baseline="-25000" dirty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>
                <a:latin typeface="Arial Narrow" pitchFamily="34" charset="0"/>
                <a:sym typeface="Wingdings" pitchFamily="2" charset="2"/>
              </a:rPr>
              <a:t>  +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NO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dirty="0">
                <a:latin typeface="Arial Narrow" pitchFamily="34" charset="0"/>
                <a:sym typeface="Wingdings" pitchFamily="2" charset="2"/>
              </a:rPr>
              <a:t>+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endParaRPr lang="en-US" altLang="zh-CN" dirty="0">
              <a:latin typeface="Arial Narrow" pitchFamily="34" charset="0"/>
              <a:sym typeface="Wingdings" pitchFamily="2" charset="2"/>
            </a:endParaRPr>
          </a:p>
          <a:p>
            <a:pPr marL="118872" indent="0">
              <a:buNone/>
            </a:pP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NH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 +  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  NO +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endParaRPr lang="en-US" altLang="zh-CN" dirty="0">
              <a:latin typeface="Arial Narrow" pitchFamily="34" charset="0"/>
              <a:sym typeface="Wingdings" pitchFamily="2" charset="2"/>
            </a:endParaRPr>
          </a:p>
          <a:p>
            <a:pPr marL="118872" indent="0">
              <a:buNone/>
            </a:pPr>
            <a:r>
              <a:rPr lang="en-US" altLang="zh-CN" dirty="0" smtClean="0">
                <a:latin typeface="Arial Narrow" pitchFamily="34" charset="0"/>
              </a:rPr>
              <a:t>HNO</a:t>
            </a:r>
            <a:r>
              <a:rPr lang="en-US" altLang="zh-CN" baseline="-25000" dirty="0" smtClean="0">
                <a:latin typeface="Arial Narrow" pitchFamily="34" charset="0"/>
              </a:rPr>
              <a:t>3</a:t>
            </a:r>
            <a:r>
              <a:rPr lang="en-US" altLang="zh-CN" dirty="0" smtClean="0">
                <a:latin typeface="Arial Narrow" pitchFamily="34" charset="0"/>
              </a:rPr>
              <a:t> +  FeSO</a:t>
            </a:r>
            <a:r>
              <a:rPr lang="en-US" altLang="zh-CN" baseline="-25000" dirty="0" smtClean="0">
                <a:latin typeface="Arial Narrow" pitchFamily="34" charset="0"/>
              </a:rPr>
              <a:t>4</a:t>
            </a:r>
            <a:r>
              <a:rPr lang="en-US" altLang="zh-CN" dirty="0" smtClean="0">
                <a:latin typeface="Arial Narrow" pitchFamily="34" charset="0"/>
              </a:rPr>
              <a:t> +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 </a:t>
            </a:r>
            <a:r>
              <a:rPr lang="en-US" altLang="zh-CN" dirty="0">
                <a:latin typeface="Arial Narrow" pitchFamily="34" charset="0"/>
                <a:sym typeface="Wingdings" pitchFamily="2" charset="2"/>
              </a:rPr>
              <a:t>Fe</a:t>
            </a:r>
            <a:r>
              <a:rPr lang="en-US" altLang="zh-CN" baseline="-25000" dirty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>
                <a:latin typeface="Arial Narrow" pitchFamily="34" charset="0"/>
                <a:sym typeface="Wingdings" pitchFamily="2" charset="2"/>
              </a:rPr>
              <a:t>(SO</a:t>
            </a:r>
            <a:r>
              <a:rPr lang="en-US" altLang="zh-CN" baseline="-25000" dirty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baseline="-25000" dirty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altLang="zh-CN" dirty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O+ NO</a:t>
            </a:r>
          </a:p>
          <a:p>
            <a:pPr marL="118872" indent="0">
              <a:buNone/>
            </a:pP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Fe   Fe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(SO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endParaRPr lang="en-US" altLang="zh-CN" dirty="0">
              <a:latin typeface="Arial Narrow" pitchFamily="34" charset="0"/>
              <a:sym typeface="Wingdings" pitchFamily="2" charset="2"/>
            </a:endParaRPr>
          </a:p>
          <a:p>
            <a:pPr marL="118872" indent="0">
              <a:buNone/>
            </a:pPr>
            <a:r>
              <a:rPr lang="en-US" dirty="0" smtClean="0">
                <a:latin typeface="Arial Narrow" pitchFamily="34" charset="0"/>
              </a:rPr>
              <a:t>KMnO</a:t>
            </a:r>
            <a:r>
              <a:rPr lang="en-US" baseline="-25000" dirty="0" smtClean="0">
                <a:latin typeface="Arial Narrow" pitchFamily="34" charset="0"/>
              </a:rPr>
              <a:t>4</a:t>
            </a:r>
            <a:r>
              <a:rPr lang="en-US" dirty="0" smtClean="0">
                <a:latin typeface="Arial Narrow" pitchFamily="34" charset="0"/>
              </a:rPr>
              <a:t> + H</a:t>
            </a:r>
            <a:r>
              <a:rPr lang="en-US" baseline="-25000" dirty="0" smtClean="0">
                <a:latin typeface="Arial Narrow" pitchFamily="34" charset="0"/>
              </a:rPr>
              <a:t>2</a:t>
            </a:r>
            <a:r>
              <a:rPr lang="en-US" dirty="0" smtClean="0">
                <a:latin typeface="Arial Narrow" pitchFamily="34" charset="0"/>
              </a:rPr>
              <a:t>S +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K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MnSO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O+ S</a:t>
            </a:r>
          </a:p>
          <a:p>
            <a:pPr marL="118872" indent="0"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H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S + </a:t>
            </a:r>
            <a:r>
              <a:rPr lang="en-US" altLang="zh-CN" dirty="0" smtClean="0">
                <a:latin typeface="Arial Narrow" pitchFamily="34" charset="0"/>
              </a:rPr>
              <a:t>HNO</a:t>
            </a:r>
            <a:r>
              <a:rPr lang="en-US" altLang="zh-CN" baseline="-25000" dirty="0" smtClean="0">
                <a:latin typeface="Arial Narrow" pitchFamily="34" charset="0"/>
              </a:rPr>
              <a:t>3</a:t>
            </a:r>
            <a:r>
              <a:rPr lang="en-US" altLang="zh-CN" dirty="0" smtClean="0">
                <a:latin typeface="Arial Narrow" pitchFamily="34" charset="0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</a:t>
            </a:r>
            <a:r>
              <a:rPr lang="en-US" dirty="0" smtClean="0">
                <a:latin typeface="Arial Narrow" pitchFamily="34" charset="0"/>
              </a:rPr>
              <a:t> 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NO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endParaRPr lang="en-US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4661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 Narrow" pitchFamily="34" charset="0"/>
              </a:rPr>
              <a:t>补充题答案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38324</a:t>
            </a: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14122</a:t>
            </a: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4546</a:t>
            </a: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263342</a:t>
            </a: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62136</a:t>
            </a: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2531285</a:t>
            </a: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18184</a:t>
            </a:r>
          </a:p>
          <a:p>
            <a:pPr>
              <a:buNone/>
            </a:pPr>
            <a:endParaRPr lang="en-US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  <a:ea typeface="+mn-ea"/>
              </a:rPr>
              <a:t>选择题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5410200"/>
          </a:xfrm>
        </p:spPr>
        <p:txBody>
          <a:bodyPr>
            <a:normAutofit fontScale="92500" lnSpcReduction="10000"/>
          </a:bodyPr>
          <a:lstStyle/>
          <a:p>
            <a:pPr marL="633222" indent="-514350"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</a:rPr>
              <a:t>1. 	B </a:t>
            </a:r>
            <a:r>
              <a:rPr lang="zh-CN" altLang="en-US" sz="3000" dirty="0" smtClean="0">
                <a:latin typeface="+mn-ea"/>
              </a:rPr>
              <a:t>氧化剂被还原</a:t>
            </a:r>
            <a:endParaRPr lang="en-US" altLang="zh-CN" sz="3000" dirty="0" smtClean="0">
              <a:latin typeface="+mn-ea"/>
            </a:endParaRPr>
          </a:p>
          <a:p>
            <a:pPr marL="633222" indent="-514350"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</a:rPr>
              <a:t>	C </a:t>
            </a:r>
            <a:r>
              <a:rPr lang="zh-CN" altLang="en-US" sz="3000" dirty="0" smtClean="0">
                <a:latin typeface="+mn-ea"/>
              </a:rPr>
              <a:t>氧化和还原是</a:t>
            </a:r>
            <a:r>
              <a:rPr lang="zh-CN" altLang="en-US" sz="3000" dirty="0" smtClean="0">
                <a:solidFill>
                  <a:srgbClr val="FF0000"/>
                </a:solidFill>
                <a:latin typeface="+mn-ea"/>
              </a:rPr>
              <a:t>同时</a:t>
            </a:r>
            <a:r>
              <a:rPr lang="zh-CN" altLang="en-US" sz="3000" dirty="0" smtClean="0">
                <a:latin typeface="+mn-ea"/>
              </a:rPr>
              <a:t>发生的</a:t>
            </a:r>
            <a:endParaRPr lang="en-US" altLang="zh-CN" sz="3000" dirty="0" smtClean="0">
              <a:latin typeface="+mn-ea"/>
            </a:endParaRPr>
          </a:p>
          <a:p>
            <a:pPr marL="633222" indent="-514350"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</a:rPr>
              <a:t>	</a:t>
            </a:r>
            <a:r>
              <a:rPr lang="en-US" altLang="zh-CN" sz="3000" dirty="0" err="1" smtClean="0">
                <a:latin typeface="+mn-ea"/>
              </a:rPr>
              <a:t>Ans</a:t>
            </a:r>
            <a:r>
              <a:rPr lang="zh-CN" altLang="en-US" sz="3000" dirty="0" smtClean="0">
                <a:latin typeface="+mn-ea"/>
              </a:rPr>
              <a:t>：</a:t>
            </a:r>
            <a:r>
              <a:rPr lang="en-US" altLang="zh-CN" sz="3000" dirty="0" smtClean="0">
                <a:latin typeface="+mn-ea"/>
              </a:rPr>
              <a:t>D</a:t>
            </a:r>
          </a:p>
          <a:p>
            <a:pPr marL="633222" indent="-514350"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</a:rPr>
              <a:t>2. C</a:t>
            </a:r>
          </a:p>
          <a:p>
            <a:pPr marL="633222" indent="-514350"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</a:rPr>
              <a:t>3. C</a:t>
            </a:r>
          </a:p>
          <a:p>
            <a:pPr marL="633222" indent="-514350"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</a:rPr>
              <a:t>4. </a:t>
            </a:r>
            <a:r>
              <a:rPr lang="en-US" altLang="zh-CN" sz="3000" dirty="0" err="1" smtClean="0">
                <a:latin typeface="+mn-ea"/>
              </a:rPr>
              <a:t>HCl</a:t>
            </a:r>
            <a:r>
              <a:rPr lang="zh-CN" altLang="en-US" sz="3000" dirty="0" smtClean="0">
                <a:latin typeface="+mn-ea"/>
              </a:rPr>
              <a:t>做还原剂，被氧化</a:t>
            </a:r>
            <a:endParaRPr lang="en-US" altLang="zh-CN" sz="3000" dirty="0" smtClean="0">
              <a:latin typeface="+mn-ea"/>
            </a:endParaRPr>
          </a:p>
          <a:p>
            <a:pPr marL="633222" indent="-514350"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</a:rPr>
              <a:t>	H</a:t>
            </a:r>
            <a:r>
              <a:rPr lang="en-US" altLang="zh-CN" sz="3000" baseline="30000" dirty="0" smtClean="0">
                <a:latin typeface="+mn-ea"/>
              </a:rPr>
              <a:t>+</a:t>
            </a:r>
            <a:r>
              <a:rPr lang="en-US" altLang="zh-CN" sz="3000" dirty="0" smtClean="0">
                <a:latin typeface="+mn-ea"/>
              </a:rPr>
              <a:t> </a:t>
            </a:r>
            <a:r>
              <a:rPr lang="zh-CN" altLang="en-US" sz="3000" dirty="0" smtClean="0">
                <a:latin typeface="+mn-ea"/>
              </a:rPr>
              <a:t>能被氧化？ </a:t>
            </a:r>
            <a:r>
              <a:rPr lang="en-US" altLang="zh-CN" sz="3000" dirty="0" err="1" smtClean="0">
                <a:latin typeface="+mn-ea"/>
              </a:rPr>
              <a:t>Cl</a:t>
            </a:r>
            <a:r>
              <a:rPr lang="en-US" altLang="zh-CN" sz="3000" baseline="30000" dirty="0" smtClean="0">
                <a:latin typeface="+mn-ea"/>
              </a:rPr>
              <a:t>-</a:t>
            </a:r>
            <a:r>
              <a:rPr lang="en-US" altLang="zh-CN" sz="3000" dirty="0" smtClean="0">
                <a:latin typeface="+mn-ea"/>
              </a:rPr>
              <a:t> </a:t>
            </a:r>
            <a:r>
              <a:rPr lang="zh-CN" altLang="en-US" sz="3000" dirty="0" smtClean="0">
                <a:latin typeface="+mn-ea"/>
              </a:rPr>
              <a:t>能被氧化？</a:t>
            </a:r>
            <a:endParaRPr lang="en-US" altLang="zh-CN" sz="3000" dirty="0" smtClean="0">
              <a:latin typeface="+mn-ea"/>
            </a:endParaRPr>
          </a:p>
          <a:p>
            <a:pPr marL="633222" indent="-514350"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</a:rPr>
              <a:t>	2Cl</a:t>
            </a:r>
            <a:r>
              <a:rPr lang="en-US" altLang="zh-CN" sz="3000" baseline="30000" dirty="0" smtClean="0">
                <a:latin typeface="+mn-ea"/>
              </a:rPr>
              <a:t>-</a:t>
            </a:r>
            <a:r>
              <a:rPr lang="en-US" altLang="zh-CN" sz="3000" dirty="0" smtClean="0">
                <a:latin typeface="+mn-ea"/>
              </a:rPr>
              <a:t> </a:t>
            </a:r>
            <a:r>
              <a:rPr lang="en-US" altLang="zh-CN" sz="3000" dirty="0" smtClean="0">
                <a:latin typeface="+mn-ea"/>
                <a:sym typeface="Wingdings" pitchFamily="2" charset="2"/>
              </a:rPr>
              <a:t> </a:t>
            </a:r>
            <a:r>
              <a:rPr lang="en-US" altLang="zh-CN" sz="3000" dirty="0" smtClean="0">
                <a:latin typeface="+mn-ea"/>
                <a:sym typeface="Wingdings" pitchFamily="2" charset="2"/>
              </a:rPr>
              <a:t>Cl</a:t>
            </a:r>
            <a:r>
              <a:rPr lang="en-US" altLang="zh-CN" sz="3000" baseline="-25000" dirty="0" smtClean="0">
                <a:latin typeface="+mn-ea"/>
                <a:sym typeface="Wingdings" pitchFamily="2" charset="2"/>
              </a:rPr>
              <a:t>2 </a:t>
            </a:r>
            <a:r>
              <a:rPr lang="en-US" altLang="zh-CN" sz="3000" dirty="0" smtClean="0">
                <a:latin typeface="+mn-ea"/>
                <a:sym typeface="Wingdings" pitchFamily="2" charset="2"/>
              </a:rPr>
              <a:t>+</a:t>
            </a:r>
            <a:r>
              <a:rPr lang="en-US" altLang="zh-CN" sz="3000" dirty="0" smtClean="0">
                <a:latin typeface="+mn-ea"/>
              </a:rPr>
              <a:t> </a:t>
            </a:r>
            <a:r>
              <a:rPr lang="en-US" altLang="zh-CN" sz="3000" dirty="0" smtClean="0">
                <a:latin typeface="+mn-ea"/>
              </a:rPr>
              <a:t>2e</a:t>
            </a:r>
            <a:r>
              <a:rPr lang="en-US" altLang="zh-CN" sz="3000" baseline="30000" dirty="0" smtClean="0">
                <a:latin typeface="+mn-ea"/>
              </a:rPr>
              <a:t>- </a:t>
            </a:r>
            <a:endParaRPr lang="en-US" altLang="zh-CN" sz="3000" dirty="0" smtClean="0">
              <a:latin typeface="+mn-ea"/>
            </a:endParaRPr>
          </a:p>
          <a:p>
            <a:pPr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</a:rPr>
              <a:t>	</a:t>
            </a:r>
            <a:r>
              <a:rPr lang="en-US" altLang="zh-CN" sz="3000" dirty="0" err="1" smtClean="0">
                <a:latin typeface="+mn-ea"/>
              </a:rPr>
              <a:t>Ans</a:t>
            </a:r>
            <a:r>
              <a:rPr lang="en-US" altLang="zh-CN" sz="3000" dirty="0" smtClean="0">
                <a:latin typeface="+mn-ea"/>
              </a:rPr>
              <a:t>: C </a:t>
            </a:r>
          </a:p>
          <a:p>
            <a:pPr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</a:rPr>
              <a:t>	A</a:t>
            </a:r>
            <a:r>
              <a:rPr lang="zh-CN" altLang="en-US" sz="3000" dirty="0" smtClean="0">
                <a:latin typeface="+mn-ea"/>
              </a:rPr>
              <a:t>、</a:t>
            </a:r>
            <a:r>
              <a:rPr lang="en-US" altLang="zh-CN" sz="3000" dirty="0" smtClean="0">
                <a:latin typeface="+mn-ea"/>
              </a:rPr>
              <a:t>D</a:t>
            </a:r>
            <a:r>
              <a:rPr lang="zh-CN" altLang="en-US" sz="3000" dirty="0" smtClean="0">
                <a:latin typeface="+mn-ea"/>
              </a:rPr>
              <a:t>不是氧化还原反应</a:t>
            </a:r>
            <a:endParaRPr lang="en-US" altLang="zh-CN" sz="3000" dirty="0" smtClean="0">
              <a:latin typeface="+mn-ea"/>
            </a:endParaRPr>
          </a:p>
          <a:p>
            <a:pPr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</a:rPr>
              <a:t>	</a:t>
            </a:r>
            <a:r>
              <a:rPr lang="en-US" altLang="zh-CN" sz="3000" dirty="0" err="1" smtClean="0">
                <a:latin typeface="+mn-ea"/>
              </a:rPr>
              <a:t>BHCl</a:t>
            </a:r>
            <a:r>
              <a:rPr lang="zh-CN" altLang="en-US" sz="3000" dirty="0" smtClean="0">
                <a:latin typeface="+mn-ea"/>
              </a:rPr>
              <a:t>作为氧化剂</a:t>
            </a:r>
            <a:endParaRPr lang="zh-CN" altLang="en-US" sz="30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5191"/>
            <a:ext cx="8229600" cy="508280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</a:rPr>
              <a:t>5. </a:t>
            </a:r>
            <a:r>
              <a:rPr lang="zh-CN" altLang="en-US" sz="3000" dirty="0" smtClean="0">
                <a:latin typeface="+mn-ea"/>
              </a:rPr>
              <a:t>铁（金属单质）只能失电子，氧化数上升，被氧化，作为还原剂。</a:t>
            </a:r>
            <a:endParaRPr lang="en-US" altLang="zh-CN" sz="3000" dirty="0" smtClean="0">
              <a:latin typeface="+mn-ea"/>
            </a:endParaRPr>
          </a:p>
          <a:p>
            <a:pPr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</a:rPr>
              <a:t> </a:t>
            </a:r>
            <a:r>
              <a:rPr lang="en-US" altLang="zh-CN" sz="3000" baseline="30000" dirty="0" smtClean="0">
                <a:latin typeface="+mn-ea"/>
              </a:rPr>
              <a:t> </a:t>
            </a:r>
            <a:r>
              <a:rPr lang="en-US" altLang="zh-CN" sz="3000" dirty="0" smtClean="0">
                <a:latin typeface="+mn-ea"/>
              </a:rPr>
              <a:t> </a:t>
            </a:r>
          </a:p>
          <a:p>
            <a:pPr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</a:rPr>
              <a:t>6.  </a:t>
            </a:r>
            <a:r>
              <a:rPr lang="en-US" altLang="zh-CN" sz="3000" dirty="0" err="1" smtClean="0">
                <a:latin typeface="+mn-ea"/>
              </a:rPr>
              <a:t>NaH</a:t>
            </a:r>
            <a:r>
              <a:rPr lang="en-US" altLang="zh-CN" sz="3000" dirty="0" smtClean="0">
                <a:latin typeface="+mn-ea"/>
              </a:rPr>
              <a:t> + H</a:t>
            </a:r>
            <a:r>
              <a:rPr lang="en-US" altLang="zh-CN" sz="3000" baseline="-25000" dirty="0" smtClean="0">
                <a:latin typeface="+mn-ea"/>
              </a:rPr>
              <a:t>2</a:t>
            </a:r>
            <a:r>
              <a:rPr lang="en-US" altLang="zh-CN" sz="3000" dirty="0" smtClean="0">
                <a:latin typeface="+mn-ea"/>
              </a:rPr>
              <a:t>O </a:t>
            </a:r>
            <a:r>
              <a:rPr lang="en-US" altLang="zh-CN" sz="3000" dirty="0" smtClean="0">
                <a:latin typeface="+mn-ea"/>
                <a:sym typeface="Wingdings" pitchFamily="2" charset="2"/>
              </a:rPr>
              <a:t> </a:t>
            </a:r>
            <a:r>
              <a:rPr lang="en-US" altLang="zh-CN" sz="3000" dirty="0" err="1" smtClean="0">
                <a:latin typeface="+mn-ea"/>
                <a:sym typeface="Wingdings" pitchFamily="2" charset="2"/>
              </a:rPr>
              <a:t>NaOH</a:t>
            </a:r>
            <a:r>
              <a:rPr lang="en-US" altLang="zh-CN" sz="3000" dirty="0" smtClean="0">
                <a:latin typeface="+mn-ea"/>
                <a:sym typeface="Wingdings" pitchFamily="2" charset="2"/>
              </a:rPr>
              <a:t> + H</a:t>
            </a:r>
            <a:r>
              <a:rPr lang="en-US" altLang="zh-CN" sz="3000" baseline="-25000" dirty="0" smtClean="0">
                <a:latin typeface="+mn-ea"/>
                <a:sym typeface="Wingdings" pitchFamily="2" charset="2"/>
              </a:rPr>
              <a:t>2</a:t>
            </a:r>
            <a:r>
              <a:rPr lang="zh-CN" altLang="en-US" sz="3000" baseline="30000" dirty="0" smtClean="0">
                <a:latin typeface="+mn-ea"/>
                <a:sym typeface="Wingdings" pitchFamily="2" charset="2"/>
              </a:rPr>
              <a:t> </a:t>
            </a:r>
            <a:endParaRPr lang="en-US" altLang="zh-CN" sz="3000" baseline="30000" dirty="0" smtClean="0">
              <a:latin typeface="+mn-ea"/>
              <a:sym typeface="Wingdings" pitchFamily="2" charset="2"/>
            </a:endParaRPr>
          </a:p>
          <a:p>
            <a:pPr>
              <a:spcAft>
                <a:spcPts val="600"/>
              </a:spcAft>
              <a:buNone/>
            </a:pPr>
            <a:r>
              <a:rPr lang="en-US" altLang="zh-CN" sz="3000" baseline="30000" dirty="0" smtClean="0">
                <a:latin typeface="+mn-ea"/>
                <a:sym typeface="Wingdings" pitchFamily="2" charset="2"/>
              </a:rPr>
              <a:t> </a:t>
            </a:r>
            <a:r>
              <a:rPr lang="en-US" altLang="zh-CN" sz="3000" dirty="0" smtClean="0">
                <a:latin typeface="+mn-ea"/>
                <a:sym typeface="Wingdings" pitchFamily="2" charset="2"/>
              </a:rPr>
              <a:t>  +1  0 </a:t>
            </a:r>
            <a:r>
              <a:rPr lang="zh-CN" altLang="en-US" sz="3000" dirty="0" smtClean="0">
                <a:latin typeface="+mn-ea"/>
                <a:sym typeface="Wingdings" pitchFamily="2" charset="2"/>
              </a:rPr>
              <a:t>氧化数下降，被还原，作为氧化剂</a:t>
            </a:r>
            <a:endParaRPr lang="en-US" altLang="zh-CN" sz="3000" dirty="0" smtClean="0">
              <a:latin typeface="+mn-ea"/>
              <a:sym typeface="Wingdings" pitchFamily="2" charset="2"/>
            </a:endParaRPr>
          </a:p>
          <a:p>
            <a:pPr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  <a:sym typeface="Wingdings" pitchFamily="2" charset="2"/>
              </a:rPr>
              <a:t>7. C </a:t>
            </a:r>
          </a:p>
          <a:p>
            <a:pPr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  <a:sym typeface="Wingdings" pitchFamily="2" charset="2"/>
              </a:rPr>
              <a:t>8.</a:t>
            </a:r>
            <a:r>
              <a:rPr lang="zh-CN" altLang="en-US" sz="3000" dirty="0" smtClean="0">
                <a:latin typeface="+mn-ea"/>
                <a:sym typeface="Wingdings" pitchFamily="2" charset="2"/>
              </a:rPr>
              <a:t>氧化剂使“</a:t>
            </a:r>
            <a:r>
              <a:rPr lang="zh-CN" altLang="en-US" sz="3000" dirty="0" smtClean="0">
                <a:solidFill>
                  <a:srgbClr val="FF0000"/>
                </a:solidFill>
                <a:latin typeface="+mn-ea"/>
                <a:sym typeface="Wingdings" pitchFamily="2" charset="2"/>
              </a:rPr>
              <a:t>人家”</a:t>
            </a:r>
            <a:r>
              <a:rPr lang="zh-CN" altLang="en-US" sz="3000" dirty="0" smtClean="0">
                <a:latin typeface="+mn-ea"/>
                <a:sym typeface="Wingdings" pitchFamily="2" charset="2"/>
              </a:rPr>
              <a:t>被氧化</a:t>
            </a:r>
            <a:r>
              <a:rPr lang="en-US" altLang="zh-CN" sz="3000" baseline="-25000" dirty="0" smtClean="0">
                <a:latin typeface="+mn-ea"/>
                <a:sym typeface="Wingdings" pitchFamily="2" charset="2"/>
              </a:rPr>
              <a:t> </a:t>
            </a:r>
            <a:r>
              <a:rPr lang="en-US" altLang="zh-CN" sz="3000" dirty="0" smtClean="0">
                <a:latin typeface="+mn-ea"/>
                <a:sym typeface="Wingdings" pitchFamily="2" charset="2"/>
              </a:rPr>
              <a:t> </a:t>
            </a:r>
          </a:p>
          <a:p>
            <a:pPr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  <a:sym typeface="Wingdings" pitchFamily="2" charset="2"/>
              </a:rPr>
              <a:t> A</a:t>
            </a:r>
            <a:r>
              <a:rPr lang="zh-CN" altLang="en-US" sz="3000" dirty="0" smtClean="0">
                <a:latin typeface="+mn-ea"/>
                <a:sym typeface="Wingdings" pitchFamily="2" charset="2"/>
              </a:rPr>
              <a:t> </a:t>
            </a:r>
            <a:r>
              <a:rPr lang="en-US" altLang="zh-CN" sz="3000" dirty="0" smtClean="0">
                <a:latin typeface="+mn-ea"/>
                <a:sym typeface="Wingdings" pitchFamily="2" charset="2"/>
              </a:rPr>
              <a:t>P</a:t>
            </a:r>
            <a:r>
              <a:rPr lang="en-US" altLang="zh-CN" sz="3000" baseline="30000" dirty="0" smtClean="0">
                <a:latin typeface="+mn-ea"/>
                <a:sym typeface="Wingdings" pitchFamily="2" charset="2"/>
              </a:rPr>
              <a:t>3+</a:t>
            </a:r>
            <a:r>
              <a:rPr lang="en-US" altLang="zh-CN" sz="3000" dirty="0" smtClean="0">
                <a:latin typeface="+mn-ea"/>
                <a:sym typeface="Wingdings" pitchFamily="2" charset="2"/>
              </a:rPr>
              <a:t>  P</a:t>
            </a:r>
            <a:r>
              <a:rPr lang="en-US" altLang="zh-CN" sz="3000" baseline="30000" dirty="0" smtClean="0">
                <a:latin typeface="+mn-ea"/>
                <a:sym typeface="Wingdings" pitchFamily="2" charset="2"/>
              </a:rPr>
              <a:t>5+</a:t>
            </a:r>
            <a:r>
              <a:rPr lang="en-US" altLang="zh-CN" sz="3000" dirty="0" smtClean="0">
                <a:latin typeface="+mn-ea"/>
                <a:sym typeface="Wingdings" pitchFamily="2" charset="2"/>
              </a:rPr>
              <a:t>		B Mn</a:t>
            </a:r>
            <a:r>
              <a:rPr lang="en-US" altLang="zh-CN" sz="3000" baseline="30000" dirty="0" smtClean="0">
                <a:latin typeface="+mn-ea"/>
                <a:sym typeface="Wingdings" pitchFamily="2" charset="2"/>
              </a:rPr>
              <a:t>7+</a:t>
            </a:r>
            <a:r>
              <a:rPr lang="en-US" altLang="zh-CN" sz="3000" dirty="0" smtClean="0">
                <a:latin typeface="+mn-ea"/>
                <a:sym typeface="Wingdings" pitchFamily="2" charset="2"/>
              </a:rPr>
              <a:t>  Mn</a:t>
            </a:r>
            <a:r>
              <a:rPr lang="en-US" altLang="zh-CN" sz="3000" baseline="30000" dirty="0" smtClean="0">
                <a:latin typeface="+mn-ea"/>
                <a:sym typeface="Wingdings" pitchFamily="2" charset="2"/>
              </a:rPr>
              <a:t>2+</a:t>
            </a:r>
            <a:endParaRPr lang="en-US" altLang="zh-CN" sz="3000" dirty="0" smtClean="0">
              <a:latin typeface="+mn-ea"/>
              <a:sym typeface="Wingdings" pitchFamily="2" charset="2"/>
            </a:endParaRPr>
          </a:p>
          <a:p>
            <a:pPr>
              <a:spcAft>
                <a:spcPts val="600"/>
              </a:spcAft>
              <a:buNone/>
            </a:pPr>
            <a:r>
              <a:rPr lang="en-US" altLang="zh-CN" sz="3000" dirty="0" smtClean="0">
                <a:latin typeface="+mn-ea"/>
                <a:sym typeface="Wingdings" pitchFamily="2" charset="2"/>
              </a:rPr>
              <a:t> C S</a:t>
            </a:r>
            <a:r>
              <a:rPr lang="en-US" altLang="zh-CN" sz="3000" baseline="30000" dirty="0" smtClean="0">
                <a:latin typeface="+mn-ea"/>
                <a:sym typeface="Wingdings" pitchFamily="2" charset="2"/>
              </a:rPr>
              <a:t>4+</a:t>
            </a:r>
            <a:r>
              <a:rPr lang="en-US" altLang="zh-CN" sz="3000" dirty="0" smtClean="0">
                <a:latin typeface="+mn-ea"/>
                <a:sym typeface="Wingdings" pitchFamily="2" charset="2"/>
              </a:rPr>
              <a:t> </a:t>
            </a:r>
            <a:r>
              <a:rPr lang="zh-CN" altLang="en-US" sz="3000" dirty="0" smtClean="0">
                <a:latin typeface="+mn-ea"/>
                <a:sym typeface="Wingdings" pitchFamily="2" charset="2"/>
              </a:rPr>
              <a:t>没变</a:t>
            </a:r>
            <a:r>
              <a:rPr lang="en-US" altLang="zh-CN" sz="3000" dirty="0" smtClean="0">
                <a:latin typeface="+mn-ea"/>
                <a:sym typeface="Wingdings" pitchFamily="2" charset="2"/>
              </a:rPr>
              <a:t>		D Fe</a:t>
            </a:r>
            <a:r>
              <a:rPr lang="en-US" altLang="zh-CN" sz="3000" baseline="30000" dirty="0" smtClean="0">
                <a:latin typeface="+mn-ea"/>
                <a:sym typeface="Wingdings" pitchFamily="2" charset="2"/>
              </a:rPr>
              <a:t>3+</a:t>
            </a:r>
            <a:r>
              <a:rPr lang="en-US" altLang="zh-CN" sz="3000" dirty="0" smtClean="0">
                <a:latin typeface="+mn-ea"/>
                <a:sym typeface="Wingdings" pitchFamily="2" charset="2"/>
              </a:rPr>
              <a:t>  Fe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选择题</a:t>
            </a:r>
            <a:endParaRPr lang="zh-CN" alt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4495800" y="1828800"/>
            <a:ext cx="14478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019800" y="1828800"/>
            <a:ext cx="22098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838200" y="2362200"/>
            <a:ext cx="1371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209800" y="2362200"/>
            <a:ext cx="2362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00200" y="31050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 -</a:t>
            </a:r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38400" y="308598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+</a:t>
            </a:r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0" y="31050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31050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 smtClean="0">
                <a:solidFill>
                  <a:srgbClr val="002060"/>
                </a:solidFill>
                <a:latin typeface="Arial Narrow" pitchFamily="34" charset="0"/>
              </a:rPr>
              <a:t>+</a:t>
            </a:r>
            <a:r>
              <a:rPr lang="en-US" altLang="zh-CN" sz="2000" b="1" dirty="0" smtClean="0">
                <a:solidFill>
                  <a:srgbClr val="002060"/>
                </a:solidFill>
                <a:latin typeface="Arial Narrow" pitchFamily="34" charset="0"/>
              </a:rPr>
              <a:t>1</a:t>
            </a:r>
            <a:endParaRPr lang="en-MY" sz="20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2000" y="3886200"/>
            <a:ext cx="15240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2286000" y="3886200"/>
            <a:ext cx="22098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4572000" y="3886200"/>
            <a:ext cx="1371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5943600" y="3886200"/>
            <a:ext cx="2362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743200" y="4876800"/>
            <a:ext cx="25908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685800" y="5486400"/>
            <a:ext cx="25908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191000" y="5410200"/>
            <a:ext cx="2895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533400" y="6019800"/>
            <a:ext cx="2895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4038600" y="5943600"/>
            <a:ext cx="2895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选择题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5191"/>
            <a:ext cx="8229600" cy="4854209"/>
          </a:xfrm>
        </p:spPr>
        <p:txBody>
          <a:bodyPr/>
          <a:lstStyle/>
          <a:p>
            <a:pPr>
              <a:spcAft>
                <a:spcPts val="600"/>
              </a:spcAft>
              <a:buNone/>
            </a:pPr>
            <a:r>
              <a:rPr lang="en-US" altLang="zh-CN" dirty="0" smtClean="0"/>
              <a:t>9. </a:t>
            </a:r>
            <a:r>
              <a:rPr lang="zh-CN" altLang="en-US" dirty="0" smtClean="0"/>
              <a:t>被还原，氧化数下降</a:t>
            </a:r>
            <a:endParaRPr lang="en-US" altLang="zh-CN" dirty="0" smtClean="0"/>
          </a:p>
          <a:p>
            <a:pPr>
              <a:spcAft>
                <a:spcPts val="600"/>
              </a:spcAft>
              <a:buNone/>
            </a:pPr>
            <a:r>
              <a:rPr lang="en-US" dirty="0" smtClean="0"/>
              <a:t>	</a:t>
            </a:r>
            <a:r>
              <a:rPr lang="en-US" dirty="0" err="1" smtClean="0"/>
              <a:t>Ans</a:t>
            </a:r>
            <a:r>
              <a:rPr lang="en-US" dirty="0" smtClean="0"/>
              <a:t>: C </a:t>
            </a:r>
          </a:p>
          <a:p>
            <a:pPr>
              <a:spcAft>
                <a:spcPts val="600"/>
              </a:spcAft>
              <a:buNone/>
            </a:pPr>
            <a:r>
              <a:rPr lang="en-US" dirty="0" smtClean="0"/>
              <a:t>10. </a:t>
            </a:r>
            <a:r>
              <a:rPr lang="zh-CN" altLang="en-US" dirty="0" smtClean="0"/>
              <a:t>被氧化，氧化数上升 ，</a:t>
            </a:r>
            <a:r>
              <a:rPr lang="en-US" altLang="zh-CN" dirty="0" smtClean="0"/>
              <a:t>S </a:t>
            </a:r>
            <a:r>
              <a:rPr lang="en-US" altLang="zh-CN" dirty="0" smtClean="0">
                <a:sym typeface="Wingdings" pitchFamily="2" charset="2"/>
              </a:rPr>
              <a:t> S</a:t>
            </a:r>
            <a:r>
              <a:rPr lang="en-US" altLang="zh-CN" baseline="30000" dirty="0" smtClean="0">
                <a:sym typeface="Wingdings" pitchFamily="2" charset="2"/>
              </a:rPr>
              <a:t>4+</a:t>
            </a:r>
            <a:r>
              <a:rPr lang="en-US" altLang="zh-CN" dirty="0" smtClean="0">
                <a:sym typeface="Wingdings" pitchFamily="2" charset="2"/>
              </a:rPr>
              <a:t> , ,1</a:t>
            </a:r>
            <a:r>
              <a:rPr lang="zh-CN" altLang="en-US" dirty="0" smtClean="0">
                <a:sym typeface="Wingdings" pitchFamily="2" charset="2"/>
              </a:rPr>
              <a:t>个</a:t>
            </a:r>
            <a:endParaRPr lang="en-US" altLang="zh-CN" baseline="30000" dirty="0" smtClean="0">
              <a:sym typeface="Wingdings" pitchFamily="2" charset="2"/>
            </a:endParaRPr>
          </a:p>
          <a:p>
            <a:pPr>
              <a:spcAft>
                <a:spcPts val="600"/>
              </a:spcAft>
              <a:buNone/>
            </a:pPr>
            <a:r>
              <a:rPr lang="en-US" baseline="30000" dirty="0" smtClean="0">
                <a:sym typeface="Wingdings" pitchFamily="2" charset="2"/>
              </a:rPr>
              <a:t>	 </a:t>
            </a:r>
            <a:r>
              <a:rPr lang="en-US" dirty="0" smtClean="0">
                <a:sym typeface="Wingdings" pitchFamily="2" charset="2"/>
              </a:rPr>
              <a:t>  </a:t>
            </a:r>
            <a:r>
              <a:rPr lang="zh-CN" altLang="en-US" dirty="0" smtClean="0">
                <a:sym typeface="Wingdings" pitchFamily="2" charset="2"/>
              </a:rPr>
              <a:t>被还原，氧化数下降，</a:t>
            </a:r>
            <a:r>
              <a:rPr lang="en-US" altLang="zh-CN" dirty="0" smtClean="0">
                <a:sym typeface="Wingdings" pitchFamily="2" charset="2"/>
              </a:rPr>
              <a:t> S  S</a:t>
            </a:r>
            <a:r>
              <a:rPr lang="en-US" altLang="zh-CN" baseline="30000" dirty="0" smtClean="0">
                <a:sym typeface="Wingdings" pitchFamily="2" charset="2"/>
              </a:rPr>
              <a:t>2-</a:t>
            </a:r>
            <a:r>
              <a:rPr lang="en-US" altLang="zh-CN" dirty="0" smtClean="0">
                <a:sym typeface="Wingdings" pitchFamily="2" charset="2"/>
              </a:rPr>
              <a:t> </a:t>
            </a:r>
            <a:r>
              <a:rPr lang="zh-CN" altLang="en-US" dirty="0" smtClean="0">
                <a:sym typeface="Wingdings" pitchFamily="2" charset="2"/>
              </a:rPr>
              <a:t>， </a:t>
            </a:r>
            <a:r>
              <a:rPr lang="en-US" altLang="zh-CN" dirty="0" smtClean="0">
                <a:sym typeface="Wingdings" pitchFamily="2" charset="2"/>
              </a:rPr>
              <a:t>2</a:t>
            </a:r>
            <a:r>
              <a:rPr lang="zh-CN" altLang="en-US" dirty="0" smtClean="0">
                <a:sym typeface="Wingdings" pitchFamily="2" charset="2"/>
              </a:rPr>
              <a:t>个</a:t>
            </a:r>
            <a:endParaRPr lang="en-US" altLang="zh-CN" dirty="0" smtClean="0">
              <a:sym typeface="Wingdings" pitchFamily="2" charset="2"/>
            </a:endParaRPr>
          </a:p>
          <a:p>
            <a:pPr>
              <a:spcAft>
                <a:spcPts val="600"/>
              </a:spcAft>
              <a:buNone/>
            </a:pPr>
            <a:r>
              <a:rPr lang="en-US" dirty="0" smtClean="0">
                <a:sym typeface="Wingdings" pitchFamily="2" charset="2"/>
              </a:rPr>
              <a:t>	</a:t>
            </a:r>
            <a:r>
              <a:rPr lang="en-US" dirty="0" err="1" smtClean="0">
                <a:sym typeface="Wingdings" pitchFamily="2" charset="2"/>
              </a:rPr>
              <a:t>Ans</a:t>
            </a:r>
            <a:r>
              <a:rPr lang="en-US" dirty="0" smtClean="0">
                <a:sym typeface="Wingdings" pitchFamily="2" charset="2"/>
              </a:rPr>
              <a:t>: A </a:t>
            </a:r>
          </a:p>
          <a:p>
            <a:pPr>
              <a:spcAft>
                <a:spcPts val="600"/>
              </a:spcAft>
              <a:buNone/>
            </a:pPr>
            <a:r>
              <a:rPr lang="en-US" dirty="0" smtClean="0">
                <a:sym typeface="Wingdings" pitchFamily="2" charset="2"/>
              </a:rPr>
              <a:t>11. 2 XO</a:t>
            </a:r>
            <a:r>
              <a:rPr lang="en-US" baseline="-25000" dirty="0" smtClean="0">
                <a:sym typeface="Wingdings" pitchFamily="2" charset="2"/>
              </a:rPr>
              <a:t>4</a:t>
            </a:r>
            <a:r>
              <a:rPr lang="en-US" baseline="30000" dirty="0" smtClean="0">
                <a:sym typeface="Wingdings" pitchFamily="2" charset="2"/>
              </a:rPr>
              <a:t>-</a:t>
            </a:r>
            <a:r>
              <a:rPr lang="en-US" dirty="0" smtClean="0">
                <a:sym typeface="Wingdings" pitchFamily="2" charset="2"/>
              </a:rPr>
              <a:t> + 5 H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O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 5   O</a:t>
            </a:r>
            <a:r>
              <a:rPr lang="en-US" baseline="-25000" dirty="0" smtClean="0">
                <a:sym typeface="Wingdings" pitchFamily="2" charset="2"/>
              </a:rPr>
              <a:t>2 </a:t>
            </a:r>
            <a:r>
              <a:rPr lang="en-US" dirty="0" smtClean="0">
                <a:sym typeface="Wingdings" pitchFamily="2" charset="2"/>
              </a:rPr>
              <a:t>  + ?</a:t>
            </a:r>
          </a:p>
          <a:p>
            <a:pPr>
              <a:spcAft>
                <a:spcPts val="600"/>
              </a:spcAft>
              <a:buNone/>
            </a:pPr>
            <a:r>
              <a:rPr lang="en-US" dirty="0" smtClean="0">
                <a:sym typeface="Wingdings" pitchFamily="2" charset="2"/>
              </a:rPr>
              <a:t>		</a:t>
            </a:r>
            <a:r>
              <a:rPr lang="en-US" altLang="zh-CN" dirty="0" smtClean="0">
                <a:sym typeface="Wingdings" pitchFamily="2" charset="2"/>
              </a:rPr>
              <a:t>10 O</a:t>
            </a:r>
            <a:r>
              <a:rPr lang="en-US" altLang="zh-CN" baseline="30000" dirty="0" smtClean="0">
                <a:sym typeface="Wingdings" pitchFamily="2" charset="2"/>
              </a:rPr>
              <a:t>-</a:t>
            </a:r>
            <a:r>
              <a:rPr lang="en-US" altLang="zh-CN" dirty="0" smtClean="0">
                <a:sym typeface="Wingdings" pitchFamily="2" charset="2"/>
              </a:rPr>
              <a:t>   - 10e</a:t>
            </a:r>
            <a:r>
              <a:rPr lang="en-US" altLang="zh-CN" baseline="30000" dirty="0" smtClean="0">
                <a:sym typeface="Wingdings" pitchFamily="2" charset="2"/>
              </a:rPr>
              <a:t>-</a:t>
            </a:r>
            <a:r>
              <a:rPr lang="en-US" altLang="zh-CN" dirty="0" smtClean="0">
                <a:sym typeface="Wingdings" pitchFamily="2" charset="2"/>
              </a:rPr>
              <a:t>  5 O</a:t>
            </a:r>
            <a:r>
              <a:rPr lang="en-US" altLang="zh-CN" baseline="-25000" dirty="0" smtClean="0">
                <a:sym typeface="Wingdings" pitchFamily="2" charset="2"/>
              </a:rPr>
              <a:t>2</a:t>
            </a:r>
            <a:r>
              <a:rPr lang="en-US" altLang="zh-CN" dirty="0" smtClean="0">
                <a:sym typeface="Wingdings" pitchFamily="2" charset="2"/>
              </a:rPr>
              <a:t> </a:t>
            </a:r>
          </a:p>
          <a:p>
            <a:pPr>
              <a:spcAft>
                <a:spcPts val="600"/>
              </a:spcAft>
              <a:buNone/>
            </a:pPr>
            <a:r>
              <a:rPr lang="en-US" altLang="zh-CN" dirty="0" smtClean="0">
                <a:sym typeface="Wingdings" pitchFamily="2" charset="2"/>
              </a:rPr>
              <a:t>		2 X</a:t>
            </a:r>
            <a:r>
              <a:rPr lang="en-US" altLang="zh-CN" baseline="30000" dirty="0" smtClean="0">
                <a:sym typeface="Wingdings" pitchFamily="2" charset="2"/>
              </a:rPr>
              <a:t>7+</a:t>
            </a:r>
            <a:r>
              <a:rPr lang="en-US" altLang="zh-CN" dirty="0" smtClean="0">
                <a:sym typeface="Wingdings" pitchFamily="2" charset="2"/>
              </a:rPr>
              <a:t>  + 10e</a:t>
            </a:r>
            <a:r>
              <a:rPr lang="en-US" altLang="zh-CN" baseline="30000" dirty="0" smtClean="0">
                <a:sym typeface="Wingdings" pitchFamily="2" charset="2"/>
              </a:rPr>
              <a:t>-</a:t>
            </a:r>
            <a:r>
              <a:rPr lang="en-US" altLang="zh-CN" dirty="0" smtClean="0">
                <a:sym typeface="Wingdings" pitchFamily="2" charset="2"/>
              </a:rPr>
              <a:t>  2 X</a:t>
            </a:r>
            <a:r>
              <a:rPr lang="en-US" altLang="zh-CN" baseline="30000" dirty="0" smtClean="0">
                <a:sym typeface="Wingdings" pitchFamily="2" charset="2"/>
              </a:rPr>
              <a:t>2+</a:t>
            </a:r>
            <a:r>
              <a:rPr lang="en-US" altLang="zh-CN" dirty="0" smtClean="0">
                <a:sym typeface="Wingdings" pitchFamily="2" charset="2"/>
              </a:rPr>
              <a:t> 		</a:t>
            </a:r>
            <a:r>
              <a:rPr lang="en-US" altLang="zh-CN" dirty="0" err="1" smtClean="0">
                <a:sym typeface="Wingdings" pitchFamily="2" charset="2"/>
              </a:rPr>
              <a:t>Ans</a:t>
            </a:r>
            <a:r>
              <a:rPr lang="en-US" altLang="zh-CN" dirty="0" smtClean="0">
                <a:sym typeface="Wingdings" pitchFamily="2" charset="2"/>
              </a:rPr>
              <a:t>: B 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667000" y="1828800"/>
            <a:ext cx="25908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743200" y="2895600"/>
            <a:ext cx="25908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105400" y="2895600"/>
            <a:ext cx="19050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934200" y="2895600"/>
            <a:ext cx="838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743200" y="3505200"/>
            <a:ext cx="25908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181600" y="3505200"/>
            <a:ext cx="19050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010400" y="3505200"/>
            <a:ext cx="838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4648200" y="4724400"/>
            <a:ext cx="15240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4267200" y="4724400"/>
            <a:ext cx="3810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1371600" y="5257800"/>
            <a:ext cx="990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2514600" y="5257800"/>
            <a:ext cx="1371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3962400" y="5257800"/>
            <a:ext cx="990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1295400" y="5867400"/>
            <a:ext cx="990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2362200" y="5791200"/>
            <a:ext cx="14478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3810000" y="5791200"/>
            <a:ext cx="990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943600" y="5791200"/>
            <a:ext cx="1219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作答题（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5191"/>
            <a:ext cx="8382000" cy="4625609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latin typeface="Arial Rounded MT Bold" pitchFamily="34" charset="0"/>
              </a:rPr>
              <a:t>H</a:t>
            </a:r>
            <a:r>
              <a:rPr lang="en-US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 		</a:t>
            </a:r>
            <a:r>
              <a:rPr lang="en-US" dirty="0" err="1" smtClean="0">
                <a:latin typeface="Arial Rounded MT Bold" pitchFamily="34" charset="0"/>
              </a:rPr>
              <a:t>CuO</a:t>
            </a:r>
            <a:r>
              <a:rPr lang="en-US" dirty="0" smtClean="0">
                <a:latin typeface="Arial Rounded MT Bold" pitchFamily="34" charset="0"/>
              </a:rPr>
              <a:t>		</a:t>
            </a:r>
            <a:r>
              <a:rPr lang="en-US" altLang="zh-CN" dirty="0" smtClean="0">
                <a:latin typeface="Arial Rounded MT Bold" pitchFamily="34" charset="0"/>
              </a:rPr>
              <a:t>H</a:t>
            </a:r>
            <a:r>
              <a:rPr lang="en-US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O		H</a:t>
            </a:r>
            <a:r>
              <a:rPr lang="en-US" altLang="zh-CN" baseline="-25000" dirty="0" smtClean="0">
                <a:latin typeface="Arial Rounded MT Bold" pitchFamily="34" charset="0"/>
              </a:rPr>
              <a:t>2</a:t>
            </a:r>
            <a:r>
              <a:rPr lang="en-US" altLang="zh-CN" dirty="0" smtClean="0">
                <a:latin typeface="Arial Rounded MT Bold" pitchFamily="34" charset="0"/>
              </a:rPr>
              <a:t>O</a:t>
            </a:r>
            <a:r>
              <a:rPr lang="en-US" altLang="zh-CN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 </a:t>
            </a:r>
          </a:p>
          <a:p>
            <a:pPr>
              <a:buNone/>
            </a:pPr>
            <a:endParaRPr lang="en-US" dirty="0" smtClean="0">
              <a:latin typeface="Arial Rounded MT Bold" pitchFamily="34" charset="0"/>
            </a:endParaRPr>
          </a:p>
          <a:p>
            <a:pPr>
              <a:buNone/>
            </a:pPr>
            <a:r>
              <a:rPr lang="en-US" dirty="0" smtClean="0">
                <a:latin typeface="Arial Rounded MT Bold" pitchFamily="34" charset="0"/>
              </a:rPr>
              <a:t>SO</a:t>
            </a:r>
            <a:r>
              <a:rPr lang="en-US" baseline="-25000" dirty="0" smtClean="0">
                <a:latin typeface="Arial Rounded MT Bold" pitchFamily="34" charset="0"/>
              </a:rPr>
              <a:t>4</a:t>
            </a:r>
            <a:r>
              <a:rPr lang="en-US" baseline="30000" dirty="0" smtClean="0">
                <a:latin typeface="Arial Rounded MT Bold" pitchFamily="34" charset="0"/>
              </a:rPr>
              <a:t>2-</a:t>
            </a:r>
            <a:r>
              <a:rPr lang="en-US" dirty="0" smtClean="0">
                <a:latin typeface="Arial Rounded MT Bold" pitchFamily="34" charset="0"/>
              </a:rPr>
              <a:t> 		 </a:t>
            </a:r>
            <a:r>
              <a:rPr lang="en-US" altLang="zh-CN" dirty="0" err="1" smtClean="0">
                <a:latin typeface="Arial Rounded MT Bold" pitchFamily="34" charset="0"/>
              </a:rPr>
              <a:t>ClO</a:t>
            </a:r>
            <a:r>
              <a:rPr lang="en-US" altLang="zh-CN" baseline="30000" dirty="0" smtClean="0">
                <a:latin typeface="Arial Rounded MT Bold" pitchFamily="34" charset="0"/>
              </a:rPr>
              <a:t>-</a:t>
            </a:r>
            <a:r>
              <a:rPr lang="en-US" altLang="zh-CN" dirty="0" smtClean="0">
                <a:latin typeface="Arial Rounded MT Bold" pitchFamily="34" charset="0"/>
              </a:rPr>
              <a:t> 	ClO</a:t>
            </a:r>
            <a:r>
              <a:rPr lang="en-US" altLang="zh-CN" baseline="-25000" dirty="0" smtClean="0">
                <a:latin typeface="Arial Rounded MT Bold" pitchFamily="34" charset="0"/>
              </a:rPr>
              <a:t>4</a:t>
            </a:r>
            <a:r>
              <a:rPr lang="en-US" altLang="zh-CN" baseline="30000" dirty="0" smtClean="0">
                <a:latin typeface="Arial Rounded MT Bold" pitchFamily="34" charset="0"/>
              </a:rPr>
              <a:t>-</a:t>
            </a:r>
            <a:r>
              <a:rPr lang="en-US" altLang="zh-CN" dirty="0" smtClean="0">
                <a:latin typeface="Arial Rounded MT Bold" pitchFamily="34" charset="0"/>
              </a:rPr>
              <a:t>	</a:t>
            </a:r>
            <a:r>
              <a:rPr lang="en-US" dirty="0" smtClean="0">
                <a:latin typeface="Arial Rounded MT Bold" pitchFamily="34" charset="0"/>
              </a:rPr>
              <a:t> 	</a:t>
            </a:r>
          </a:p>
          <a:p>
            <a:pPr>
              <a:buNone/>
            </a:pPr>
            <a:endParaRPr lang="en-US" altLang="zh-CN" dirty="0" smtClean="0">
              <a:latin typeface="Arial Rounded MT Bold" pitchFamily="34" charset="0"/>
            </a:endParaRPr>
          </a:p>
          <a:p>
            <a:pPr>
              <a:buNone/>
            </a:pPr>
            <a:r>
              <a:rPr lang="en-US" altLang="zh-CN" dirty="0" smtClean="0">
                <a:latin typeface="Arial Rounded MT Bold" pitchFamily="34" charset="0"/>
              </a:rPr>
              <a:t>Ca(OH)</a:t>
            </a:r>
            <a:r>
              <a:rPr lang="en-US" altLang="zh-CN" baseline="-25000" dirty="0" smtClean="0">
                <a:latin typeface="Arial Rounded MT Bold" pitchFamily="34" charset="0"/>
              </a:rPr>
              <a:t>2	</a:t>
            </a:r>
            <a:r>
              <a:rPr lang="en-US" altLang="zh-CN" dirty="0" smtClean="0">
                <a:latin typeface="Arial Rounded MT Bold" pitchFamily="34" charset="0"/>
              </a:rPr>
              <a:t> 	</a:t>
            </a:r>
            <a:r>
              <a:rPr lang="en-US" altLang="zh-CN" dirty="0" err="1" smtClean="0">
                <a:latin typeface="Arial Rounded MT Bold" pitchFamily="34" charset="0"/>
              </a:rPr>
              <a:t>NaCl</a:t>
            </a:r>
            <a:r>
              <a:rPr lang="en-US" altLang="zh-CN" dirty="0" smtClean="0">
                <a:latin typeface="Arial Rounded MT Bold" pitchFamily="34" charset="0"/>
              </a:rPr>
              <a:t>	</a:t>
            </a:r>
            <a:r>
              <a:rPr lang="en-US" dirty="0" smtClean="0">
                <a:latin typeface="Arial Rounded MT Bold" pitchFamily="34" charset="0"/>
              </a:rPr>
              <a:t>(NH</a:t>
            </a:r>
            <a:r>
              <a:rPr lang="en-US" baseline="-25000" dirty="0" smtClean="0">
                <a:latin typeface="Arial Rounded MT Bold" pitchFamily="34" charset="0"/>
              </a:rPr>
              <a:t>4</a:t>
            </a:r>
            <a:r>
              <a:rPr lang="en-US" dirty="0" smtClean="0">
                <a:latin typeface="Arial Rounded MT Bold" pitchFamily="34" charset="0"/>
              </a:rPr>
              <a:t>)</a:t>
            </a:r>
            <a:r>
              <a:rPr lang="en-US" baseline="-25000" dirty="0" smtClean="0">
                <a:latin typeface="Arial Rounded MT Bold" pitchFamily="34" charset="0"/>
              </a:rPr>
              <a:t>2</a:t>
            </a:r>
            <a:r>
              <a:rPr lang="en-US" dirty="0" smtClean="0">
                <a:latin typeface="Arial Rounded MT Bold" pitchFamily="34" charset="0"/>
              </a:rPr>
              <a:t>SO</a:t>
            </a:r>
            <a:r>
              <a:rPr lang="en-US" baseline="-25000" dirty="0" smtClean="0">
                <a:latin typeface="Arial Rounded MT Bold" pitchFamily="34" charset="0"/>
              </a:rPr>
              <a:t>4</a:t>
            </a:r>
            <a:endParaRPr lang="en-US" dirty="0">
              <a:latin typeface="Arial Rounded MT Bold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0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384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718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48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244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</a:t>
            </a:r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" y="257169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+6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0600" y="25908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52800" y="25908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33800" y="25908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95400" y="35814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00200" y="35814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00400" y="356229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</a:t>
            </a:r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0000" y="35814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</a:t>
            </a:r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81600" y="35814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-3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3400" y="35814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62600" y="35814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0" y="25908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+7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0" y="25908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532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002060"/>
                </a:solidFill>
                <a:latin typeface="Arial Rounded MT Bold" pitchFamily="34" charset="0"/>
              </a:rPr>
              <a:t>-1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96000" y="356229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+6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53200" y="356229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2060"/>
                </a:solidFill>
                <a:latin typeface="Arial Rounded MT Bold" pitchFamily="34" charset="0"/>
              </a:rPr>
              <a:t>-2</a:t>
            </a:r>
            <a:endParaRPr lang="en-MY" sz="2000" b="1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pic>
        <p:nvPicPr>
          <p:cNvPr id="29" name="Picture 5" descr="C:\Users\user\Desktop\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4700016"/>
            <a:ext cx="2157984" cy="21579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4" grpId="0"/>
      <p:bldP spid="25" grpId="0"/>
      <p:bldP spid="26" grpId="0"/>
      <p:bldP spid="27" grpId="0"/>
      <p:bldP spid="2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作答题（</a:t>
            </a:r>
            <a:r>
              <a:rPr lang="en-US" altLang="zh-CN" dirty="0" smtClean="0"/>
              <a:t>2a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1143000" y="2971800"/>
            <a:ext cx="4724400" cy="685800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altLang="zh-CN" sz="3200" dirty="0" smtClean="0">
                <a:latin typeface="Arial Rounded MT Bold" pitchFamily="34" charset="0"/>
              </a:rPr>
              <a:t>3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H</a:t>
            </a:r>
            <a:r>
              <a:rPr kumimoji="0" lang="en-US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2 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+ Fe</a:t>
            </a:r>
            <a:r>
              <a:rPr kumimoji="0" lang="en-US" altLang="zh-CN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2</a:t>
            </a:r>
            <a:r>
              <a:rPr kumimoji="0" lang="en-US" altLang="zh-CN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 O</a:t>
            </a:r>
            <a:r>
              <a:rPr kumimoji="0" lang="en-US" altLang="zh-CN" sz="32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3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		</a:t>
            </a:r>
            <a:endParaRPr kumimoji="0" lang="en-MY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886200" y="32766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62600" y="2971800"/>
            <a:ext cx="304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 smtClean="0">
                <a:latin typeface="Arial Rounded MT Bold" pitchFamily="34" charset="0"/>
              </a:rPr>
              <a:t>3</a:t>
            </a:r>
            <a:r>
              <a:rPr lang="en-US" sz="3000" dirty="0" smtClean="0">
                <a:latin typeface="Arial Rounded MT Bold" pitchFamily="34" charset="0"/>
              </a:rPr>
              <a:t>H</a:t>
            </a:r>
            <a:r>
              <a:rPr lang="en-US" sz="3000" baseline="-25000" dirty="0" smtClean="0">
                <a:latin typeface="Arial Rounded MT Bold" pitchFamily="34" charset="0"/>
              </a:rPr>
              <a:t>2</a:t>
            </a:r>
            <a:r>
              <a:rPr lang="en-US" sz="3000" dirty="0" smtClean="0">
                <a:latin typeface="Arial Rounded MT Bold" pitchFamily="34" charset="0"/>
              </a:rPr>
              <a:t>O </a:t>
            </a:r>
            <a:r>
              <a:rPr lang="en-US" altLang="zh-CN" sz="3000" dirty="0" smtClean="0">
                <a:latin typeface="Arial Rounded MT Bold" pitchFamily="34" charset="0"/>
              </a:rPr>
              <a:t>+ 2 Fe</a:t>
            </a:r>
            <a:endParaRPr lang="en-MY" sz="3000" dirty="0">
              <a:latin typeface="Arial Rounded MT Bold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676400" y="2057400"/>
            <a:ext cx="4419600" cy="685800"/>
            <a:chOff x="2286000" y="1752600"/>
            <a:chExt cx="3429000" cy="685800"/>
          </a:xfrm>
        </p:grpSpPr>
        <p:cxnSp>
          <p:nvCxnSpPr>
            <p:cNvPr id="8" name="Elbow Connector 7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2819400" y="3505200"/>
            <a:ext cx="4724400" cy="685800"/>
            <a:chOff x="3048000" y="2971800"/>
            <a:chExt cx="3429000" cy="685800"/>
          </a:xfrm>
        </p:grpSpPr>
        <p:cxnSp>
          <p:nvCxnSpPr>
            <p:cNvPr id="11" name="Elbow Connector 10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3662777" y="1524000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</a:rPr>
              <a:t>-6e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</a:rPr>
              <a:t>-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en-MY" sz="2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57893" y="4343400"/>
            <a:ext cx="8354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</a:rPr>
              <a:t>+</a:t>
            </a:r>
            <a:r>
              <a:rPr lang="en-US" sz="2800" b="1" dirty="0" smtClean="0">
                <a:solidFill>
                  <a:schemeClr val="bg2">
                    <a:lumMod val="25000"/>
                  </a:schemeClr>
                </a:solidFill>
              </a:rPr>
              <a:t>6e</a:t>
            </a:r>
            <a:r>
              <a:rPr lang="en-US" sz="2800" b="1" baseline="30000" dirty="0" smtClean="0">
                <a:solidFill>
                  <a:schemeClr val="bg2">
                    <a:lumMod val="25000"/>
                  </a:schemeClr>
                </a:solidFill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240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91200" y="27240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908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+3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91400" y="2743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9843" y="4648200"/>
            <a:ext cx="2492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 Narrow" pitchFamily="34" charset="0"/>
              </a:rPr>
              <a:t>氧化剂：</a:t>
            </a:r>
            <a:r>
              <a:rPr lang="en-US" altLang="zh-CN" sz="2800" dirty="0" smtClean="0">
                <a:latin typeface="Arial Narrow" pitchFamily="34" charset="0"/>
              </a:rPr>
              <a:t>Fe</a:t>
            </a:r>
            <a:r>
              <a:rPr lang="en-US" altLang="zh-CN" sz="2800" baseline="-25000" dirty="0" smtClean="0">
                <a:latin typeface="Arial Narrow" pitchFamily="34" charset="0"/>
              </a:rPr>
              <a:t>2</a:t>
            </a:r>
            <a:r>
              <a:rPr lang="en-US" altLang="zh-CN" sz="2800" dirty="0" smtClean="0">
                <a:latin typeface="Arial Narrow" pitchFamily="34" charset="0"/>
              </a:rPr>
              <a:t>O</a:t>
            </a:r>
            <a:r>
              <a:rPr lang="en-US" altLang="zh-CN" sz="2800" baseline="-25000" dirty="0" smtClean="0">
                <a:latin typeface="Arial Narrow" pitchFamily="34" charset="0"/>
              </a:rPr>
              <a:t>3</a:t>
            </a:r>
            <a:endParaRPr lang="zh-CN" altLang="en-US" sz="2800" dirty="0"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5267980"/>
            <a:ext cx="19431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 Narrow" pitchFamily="34" charset="0"/>
              </a:rPr>
              <a:t>还原剂：</a:t>
            </a:r>
            <a:r>
              <a:rPr lang="en-US" altLang="zh-CN" sz="2800" dirty="0" smtClean="0">
                <a:latin typeface="Arial Narrow" pitchFamily="34" charset="0"/>
              </a:rPr>
              <a:t>H</a:t>
            </a:r>
            <a:r>
              <a:rPr lang="en-US" altLang="zh-CN" sz="2800" baseline="-25000" dirty="0" smtClean="0">
                <a:latin typeface="Arial Narrow" pitchFamily="34" charset="0"/>
              </a:rPr>
              <a:t>2</a:t>
            </a:r>
            <a:endParaRPr lang="zh-CN" altLang="en-US" sz="2800" dirty="0">
              <a:latin typeface="Arial Narrow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99162" y="4648200"/>
            <a:ext cx="2531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 Narrow" pitchFamily="34" charset="0"/>
              </a:rPr>
              <a:t>氧化产物：</a:t>
            </a:r>
            <a:r>
              <a:rPr lang="en-US" altLang="zh-CN" sz="2800" dirty="0" smtClean="0">
                <a:latin typeface="Arial Narrow" pitchFamily="34" charset="0"/>
              </a:rPr>
              <a:t>H</a:t>
            </a:r>
            <a:r>
              <a:rPr lang="en-US" altLang="zh-CN" sz="2800" baseline="-25000" dirty="0" smtClean="0">
                <a:latin typeface="Arial Narrow" pitchFamily="34" charset="0"/>
              </a:rPr>
              <a:t>2</a:t>
            </a:r>
            <a:r>
              <a:rPr lang="en-US" altLang="zh-CN" sz="2800" dirty="0" smtClean="0">
                <a:latin typeface="Arial Narrow" pitchFamily="34" charset="0"/>
              </a:rPr>
              <a:t>O</a:t>
            </a:r>
            <a:endParaRPr lang="zh-CN" altLang="en-US" sz="2800" dirty="0"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0" y="5267980"/>
            <a:ext cx="2323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 Narrow" pitchFamily="34" charset="0"/>
              </a:rPr>
              <a:t>还原产物：</a:t>
            </a:r>
            <a:r>
              <a:rPr lang="en-US" altLang="zh-CN" sz="2800" dirty="0" smtClean="0">
                <a:latin typeface="Arial Narrow" pitchFamily="34" charset="0"/>
              </a:rPr>
              <a:t>Fe</a:t>
            </a:r>
            <a:endParaRPr lang="zh-CN" altLang="en-US" sz="2800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作答题（</a:t>
            </a:r>
            <a:r>
              <a:rPr lang="en-US" altLang="zh-CN" dirty="0" smtClean="0"/>
              <a:t>2a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1676400" y="2971800"/>
            <a:ext cx="3657600" cy="685800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sz="3200" dirty="0" smtClean="0">
                <a:latin typeface="Arial Rounded MT Bold" pitchFamily="34" charset="0"/>
              </a:rPr>
              <a:t>2 KClO</a:t>
            </a:r>
            <a:r>
              <a:rPr lang="en-US" sz="3200" baseline="-25000" dirty="0" smtClean="0">
                <a:latin typeface="Arial Rounded MT Bold" pitchFamily="34" charset="0"/>
              </a:rPr>
              <a:t>3</a:t>
            </a:r>
            <a:endParaRPr kumimoji="0" lang="en-MY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886200" y="32766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562600" y="2971800"/>
            <a:ext cx="2362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Arial Rounded MT Bold" pitchFamily="34" charset="0"/>
              </a:rPr>
              <a:t>2KCl + 3 O</a:t>
            </a:r>
            <a:r>
              <a:rPr lang="en-US" sz="3000" baseline="-25000" dirty="0" smtClean="0">
                <a:latin typeface="Arial Rounded MT Bold" pitchFamily="34" charset="0"/>
              </a:rPr>
              <a:t>2</a:t>
            </a:r>
            <a:endParaRPr lang="en-MY" sz="3000" dirty="0">
              <a:latin typeface="Arial Rounded MT Bold" pitchFamily="34" charset="0"/>
            </a:endParaRPr>
          </a:p>
        </p:txBody>
      </p:sp>
      <p:grpSp>
        <p:nvGrpSpPr>
          <p:cNvPr id="3" name="Group 6"/>
          <p:cNvGrpSpPr/>
          <p:nvPr/>
        </p:nvGrpSpPr>
        <p:grpSpPr>
          <a:xfrm>
            <a:off x="2743200" y="2057400"/>
            <a:ext cx="3657600" cy="685800"/>
            <a:chOff x="2286000" y="1752600"/>
            <a:chExt cx="3429000" cy="685800"/>
          </a:xfrm>
        </p:grpSpPr>
        <p:cxnSp>
          <p:nvCxnSpPr>
            <p:cNvPr id="8" name="Elbow Connector 7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9"/>
          <p:cNvGrpSpPr/>
          <p:nvPr/>
        </p:nvGrpSpPr>
        <p:grpSpPr>
          <a:xfrm>
            <a:off x="3048000" y="3429000"/>
            <a:ext cx="4419600" cy="685800"/>
            <a:chOff x="3048000" y="2971800"/>
            <a:chExt cx="3429000" cy="685800"/>
          </a:xfrm>
        </p:grpSpPr>
        <p:cxnSp>
          <p:nvCxnSpPr>
            <p:cNvPr id="11" name="Elbow Connector 10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2940625" y="1524000"/>
            <a:ext cx="995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25000"/>
                  </a:schemeClr>
                </a:solidFill>
              </a:rPr>
              <a:t>+12e</a:t>
            </a:r>
            <a:r>
              <a:rPr lang="en-US" sz="2800" b="1" baseline="30000" dirty="0" smtClean="0">
                <a:solidFill>
                  <a:schemeClr val="bg2">
                    <a:lumMod val="25000"/>
                  </a:schemeClr>
                </a:solidFill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57893" y="4343400"/>
            <a:ext cx="9252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25000"/>
                  </a:schemeClr>
                </a:solidFill>
              </a:rPr>
              <a:t>-12e</a:t>
            </a:r>
            <a:r>
              <a:rPr lang="en-US" sz="2800" b="1" baseline="30000" dirty="0" smtClean="0">
                <a:solidFill>
                  <a:schemeClr val="bg2">
                    <a:lumMod val="25000"/>
                  </a:schemeClr>
                </a:solidFill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384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+5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27240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71800" y="280029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-2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39000" y="27432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0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9843" y="4800600"/>
            <a:ext cx="2435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 Narrow" pitchFamily="34" charset="0"/>
              </a:rPr>
              <a:t>氧化剂：</a:t>
            </a:r>
            <a:r>
              <a:rPr lang="en-US" altLang="zh-CN" sz="2800" dirty="0" smtClean="0">
                <a:latin typeface="Arial Narrow" pitchFamily="34" charset="0"/>
              </a:rPr>
              <a:t>KClO</a:t>
            </a:r>
            <a:r>
              <a:rPr lang="en-US" altLang="zh-CN" sz="2800" baseline="-25000" dirty="0" smtClean="0">
                <a:latin typeface="Arial Narrow" pitchFamily="34" charset="0"/>
              </a:rPr>
              <a:t>3</a:t>
            </a:r>
            <a:endParaRPr lang="zh-CN" altLang="en-US" sz="2800" dirty="0"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5420380"/>
            <a:ext cx="2435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 Narrow" pitchFamily="34" charset="0"/>
              </a:rPr>
              <a:t>还原剂：</a:t>
            </a:r>
            <a:r>
              <a:rPr lang="en-US" altLang="zh-CN" sz="2800" dirty="0" smtClean="0">
                <a:latin typeface="Arial Narrow" pitchFamily="34" charset="0"/>
              </a:rPr>
              <a:t>KClO</a:t>
            </a:r>
            <a:r>
              <a:rPr lang="en-US" altLang="zh-CN" sz="2800" baseline="-25000" dirty="0" smtClean="0">
                <a:latin typeface="Arial Narrow" pitchFamily="34" charset="0"/>
              </a:rPr>
              <a:t>3</a:t>
            </a:r>
            <a:endParaRPr lang="zh-CN" altLang="en-US" sz="2800" dirty="0">
              <a:latin typeface="Arial Narrow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99162" y="4800600"/>
            <a:ext cx="2318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 Narrow" pitchFamily="34" charset="0"/>
              </a:rPr>
              <a:t>氧化产物：</a:t>
            </a:r>
            <a:r>
              <a:rPr lang="en-US" altLang="zh-CN" sz="2800" dirty="0" smtClean="0">
                <a:latin typeface="Arial Narrow" pitchFamily="34" charset="0"/>
              </a:rPr>
              <a:t>O</a:t>
            </a:r>
            <a:r>
              <a:rPr lang="en-US" altLang="zh-CN" sz="2800" baseline="-25000" dirty="0" smtClean="0">
                <a:latin typeface="Arial Narrow" pitchFamily="34" charset="0"/>
              </a:rPr>
              <a:t>2</a:t>
            </a:r>
            <a:endParaRPr lang="zh-CN" altLang="en-US" sz="2800" dirty="0"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0" y="5420380"/>
            <a:ext cx="24561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 Narrow" pitchFamily="34" charset="0"/>
              </a:rPr>
              <a:t>还原产物：</a:t>
            </a:r>
            <a:r>
              <a:rPr lang="en-US" altLang="zh-CN" sz="2800" dirty="0" err="1" smtClean="0">
                <a:latin typeface="Arial Narrow" pitchFamily="34" charset="0"/>
              </a:rPr>
              <a:t>KCl</a:t>
            </a:r>
            <a:endParaRPr lang="zh-CN" altLang="en-US" sz="2800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 Narrow" pitchFamily="34" charset="0"/>
                <a:ea typeface="+mn-ea"/>
              </a:rPr>
              <a:t>作答题（</a:t>
            </a:r>
            <a:r>
              <a:rPr lang="en-US" altLang="zh-CN" dirty="0" smtClean="0">
                <a:latin typeface="Arial Narrow" pitchFamily="34" charset="0"/>
                <a:ea typeface="+mn-ea"/>
              </a:rPr>
              <a:t>2c</a:t>
            </a:r>
            <a:r>
              <a:rPr lang="zh-CN" altLang="en-US" dirty="0" smtClean="0">
                <a:latin typeface="Arial Narrow" pitchFamily="34" charset="0"/>
                <a:ea typeface="+mn-ea"/>
              </a:rPr>
              <a:t>）</a:t>
            </a:r>
            <a:endParaRPr lang="zh-CN" altLang="en-US" dirty="0">
              <a:latin typeface="Arial Narrow" pitchFamily="34" charset="0"/>
              <a:ea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75191"/>
            <a:ext cx="8382000" cy="462560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	SO</a:t>
            </a:r>
            <a:r>
              <a:rPr lang="en-US" altLang="zh-CN" sz="3000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  + 2 H</a:t>
            </a:r>
            <a:r>
              <a:rPr lang="en-US" altLang="zh-CN" sz="3000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S  3 S  + 2 H</a:t>
            </a:r>
            <a:r>
              <a:rPr lang="en-US" altLang="zh-CN" sz="3000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O</a:t>
            </a:r>
          </a:p>
          <a:p>
            <a:pPr>
              <a:buNone/>
            </a:pPr>
            <a:r>
              <a:rPr lang="en-US" altLang="zh-CN" sz="3000" dirty="0" smtClean="0">
                <a:latin typeface="Arial Narrow" pitchFamily="34" charset="0"/>
              </a:rPr>
              <a:t>	</a:t>
            </a:r>
          </a:p>
          <a:p>
            <a:pPr>
              <a:buNone/>
            </a:pPr>
            <a:r>
              <a:rPr lang="en-US" altLang="zh-CN" sz="3000" dirty="0" smtClean="0">
                <a:latin typeface="Arial Narrow" pitchFamily="34" charset="0"/>
              </a:rPr>
              <a:t>		S</a:t>
            </a:r>
            <a:r>
              <a:rPr lang="en-US" altLang="zh-CN" sz="3000" baseline="30000" dirty="0" smtClean="0">
                <a:latin typeface="Arial Narrow" pitchFamily="34" charset="0"/>
              </a:rPr>
              <a:t>4+</a:t>
            </a:r>
            <a:r>
              <a:rPr lang="en-US" altLang="zh-CN" sz="3000" dirty="0" smtClean="0">
                <a:latin typeface="Arial Narrow" pitchFamily="34" charset="0"/>
              </a:rPr>
              <a:t>       	   </a:t>
            </a: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  S</a:t>
            </a:r>
            <a:r>
              <a:rPr lang="en-US" altLang="zh-CN" sz="3000" baseline="30000" dirty="0" smtClean="0">
                <a:latin typeface="Arial Narrow" pitchFamily="34" charset="0"/>
                <a:sym typeface="Wingdings" pitchFamily="2" charset="2"/>
              </a:rPr>
              <a:t>0</a:t>
            </a:r>
            <a:endParaRPr lang="en-US" altLang="zh-CN" sz="30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		2 S</a:t>
            </a:r>
            <a:r>
              <a:rPr lang="en-US" altLang="zh-CN" sz="3000" baseline="30000" dirty="0" smtClean="0">
                <a:latin typeface="Arial Narrow" pitchFamily="34" charset="0"/>
                <a:sym typeface="Wingdings" pitchFamily="2" charset="2"/>
              </a:rPr>
              <a:t>2-</a:t>
            </a: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     </a:t>
            </a: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2 </a:t>
            </a: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S</a:t>
            </a:r>
            <a:r>
              <a:rPr lang="en-US" altLang="zh-CN" sz="3000" baseline="30000" dirty="0" smtClean="0">
                <a:latin typeface="Arial Narrow" pitchFamily="34" charset="0"/>
                <a:sym typeface="Wingdings" pitchFamily="2" charset="2"/>
              </a:rPr>
              <a:t>0</a:t>
            </a:r>
            <a:endParaRPr lang="en-US" altLang="zh-CN" sz="3000" baseline="300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 smtClean="0">
                <a:latin typeface="Arial Narrow" pitchFamily="34" charset="0"/>
                <a:sym typeface="Wingdings" pitchFamily="2" charset="2"/>
              </a:rPr>
              <a:t>氧化剂： </a:t>
            </a: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altLang="zh-CN" sz="3000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endParaRPr lang="en-US" altLang="zh-CN" sz="30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zh-CN" altLang="en-US" sz="3000" dirty="0" smtClean="0">
                <a:latin typeface="Arial Narrow" pitchFamily="34" charset="0"/>
                <a:sym typeface="Wingdings" pitchFamily="2" charset="2"/>
              </a:rPr>
              <a:t>还原剂：</a:t>
            </a: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H</a:t>
            </a:r>
            <a:r>
              <a:rPr lang="en-US" altLang="zh-CN" sz="3000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S</a:t>
            </a:r>
          </a:p>
          <a:p>
            <a:pPr>
              <a:buNone/>
            </a:pPr>
            <a:r>
              <a:rPr lang="zh-CN" altLang="en-US" sz="3000" dirty="0" smtClean="0">
                <a:latin typeface="Arial Narrow" pitchFamily="34" charset="0"/>
                <a:sym typeface="Wingdings" pitchFamily="2" charset="2"/>
              </a:rPr>
              <a:t>氧化产物：</a:t>
            </a: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S</a:t>
            </a:r>
          </a:p>
          <a:p>
            <a:pPr>
              <a:buNone/>
            </a:pPr>
            <a:r>
              <a:rPr lang="zh-CN" altLang="en-US" sz="3000" dirty="0" smtClean="0">
                <a:latin typeface="Arial Narrow" pitchFamily="34" charset="0"/>
                <a:sym typeface="Wingdings" pitchFamily="2" charset="2"/>
              </a:rPr>
              <a:t>还原产物：</a:t>
            </a:r>
            <a:r>
              <a:rPr lang="en-US" altLang="zh-CN" sz="3000" dirty="0" smtClean="0">
                <a:latin typeface="Arial Narrow" pitchFamily="34" charset="0"/>
                <a:sym typeface="Wingdings" pitchFamily="2" charset="2"/>
              </a:rPr>
              <a:t>S</a:t>
            </a:r>
            <a:endParaRPr lang="zh-CN" altLang="en-US" sz="3000" dirty="0">
              <a:latin typeface="Arial Narrow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48794" y="2722602"/>
            <a:ext cx="912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Arial Narrow" pitchFamily="34" charset="0"/>
              </a:rPr>
              <a:t>+ 4 e</a:t>
            </a:r>
            <a:r>
              <a:rPr lang="en-US" altLang="zh-CN" sz="2800" baseline="30000" dirty="0" smtClean="0">
                <a:latin typeface="Arial Narrow" pitchFamily="34" charset="0"/>
              </a:rPr>
              <a:t>-</a:t>
            </a:r>
            <a:endParaRPr lang="zh-CN" altLang="en-US" sz="2800" dirty="0">
              <a:latin typeface="Arial Narrow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29000" y="3210580"/>
            <a:ext cx="830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Arial Narrow" pitchFamily="34" charset="0"/>
              </a:rPr>
              <a:t>+4 </a:t>
            </a:r>
            <a:r>
              <a:rPr lang="en-US" altLang="zh-CN" sz="2800" dirty="0" smtClean="0">
                <a:latin typeface="Arial Narrow" pitchFamily="34" charset="0"/>
              </a:rPr>
              <a:t>e</a:t>
            </a:r>
            <a:r>
              <a:rPr lang="en-US" altLang="zh-CN" sz="2800" baseline="30000" dirty="0" smtClean="0">
                <a:latin typeface="Arial Narrow" pitchFamily="34" charset="0"/>
              </a:rPr>
              <a:t>-</a:t>
            </a:r>
            <a:endParaRPr lang="zh-CN" altLang="en-US" sz="2800" dirty="0">
              <a:latin typeface="Arial Narrow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03643" y="274320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 Narrow" pitchFamily="34" charset="0"/>
              </a:rPr>
              <a:t>还原反应</a:t>
            </a:r>
            <a:endParaRPr lang="zh-CN" altLang="en-US" sz="2800" dirty="0">
              <a:latin typeface="Arial Narrow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03643" y="321058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Arial Narrow" pitchFamily="34" charset="0"/>
              </a:rPr>
              <a:t>氧化反应</a:t>
            </a:r>
            <a:endParaRPr lang="zh-CN" altLang="en-US" sz="2800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1" grpId="0"/>
      <p:bldP spid="12" grpId="0"/>
      <p:bldP spid="1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rial Narrow" pitchFamily="34" charset="0"/>
              </a:rPr>
              <a:t>作答题（</a:t>
            </a:r>
            <a:r>
              <a:rPr lang="en-US" altLang="zh-CN" dirty="0" smtClean="0">
                <a:latin typeface="Arial Narrow" pitchFamily="34" charset="0"/>
              </a:rPr>
              <a:t>2d</a:t>
            </a:r>
            <a:r>
              <a:rPr lang="zh-CN" altLang="en-US" dirty="0" smtClean="0">
                <a:latin typeface="Arial Narrow" pitchFamily="34" charset="0"/>
              </a:rPr>
              <a:t>）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75191"/>
            <a:ext cx="8534400" cy="4625609"/>
          </a:xfrm>
        </p:spPr>
        <p:txBody>
          <a:bodyPr/>
          <a:lstStyle/>
          <a:p>
            <a:pPr>
              <a:buNone/>
            </a:pP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2KMnO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16HCl  2 </a:t>
            </a:r>
            <a:r>
              <a:rPr lang="en-US" altLang="zh-CN" dirty="0" err="1" smtClean="0">
                <a:latin typeface="Arial Narrow" pitchFamily="34" charset="0"/>
                <a:sym typeface="Wingdings" pitchFamily="2" charset="2"/>
              </a:rPr>
              <a:t>KCl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+ 2 MnCl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+ 5Cl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 8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</a:p>
          <a:p>
            <a:pPr>
              <a:buNone/>
            </a:pPr>
            <a:endParaRPr lang="en-US" dirty="0" smtClean="0">
              <a:latin typeface="Arial Narrow" pitchFamily="34" charset="0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		</a:t>
            </a:r>
            <a:r>
              <a:rPr lang="en-US" altLang="zh-CN" dirty="0" smtClean="0">
                <a:latin typeface="Arial Narrow" pitchFamily="34" charset="0"/>
              </a:rPr>
              <a:t>2 Mn</a:t>
            </a:r>
            <a:r>
              <a:rPr lang="en-US" altLang="zh-CN" baseline="30000" dirty="0" smtClean="0">
                <a:latin typeface="Arial Narrow" pitchFamily="34" charset="0"/>
              </a:rPr>
              <a:t>7+</a:t>
            </a:r>
            <a:r>
              <a:rPr lang="en-US" altLang="zh-CN" dirty="0" smtClean="0">
                <a:latin typeface="Arial Narrow" pitchFamily="34" charset="0"/>
              </a:rPr>
              <a:t>  + 10e</a:t>
            </a:r>
            <a:r>
              <a:rPr lang="en-US" altLang="zh-CN" baseline="30000" dirty="0" smtClean="0">
                <a:latin typeface="Arial Narrow" pitchFamily="34" charset="0"/>
              </a:rPr>
              <a:t>-</a:t>
            </a:r>
            <a:r>
              <a:rPr lang="en-US" altLang="zh-CN" dirty="0" smtClean="0">
                <a:latin typeface="Arial Narrow" pitchFamily="34" charset="0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2 Mn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 </a:t>
            </a: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        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10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err="1" smtClean="0">
                <a:latin typeface="Arial Narrow" pitchFamily="34" charset="0"/>
                <a:sym typeface="Wingdings" pitchFamily="2" charset="2"/>
              </a:rPr>
              <a:t>Cl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 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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5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 Cl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</a:rPr>
              <a:t>	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10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endParaRPr lang="en-US" dirty="0" smtClean="0">
              <a:latin typeface="Arial Narrow" pitchFamily="34" charset="0"/>
            </a:endParaRPr>
          </a:p>
          <a:p>
            <a:pPr>
              <a:buNone/>
            </a:pPr>
            <a:r>
              <a:rPr lang="zh-CN" altLang="en-US" dirty="0" smtClean="0">
                <a:latin typeface="Arial Narrow" pitchFamily="34" charset="0"/>
              </a:rPr>
              <a:t>氧化剂： </a:t>
            </a:r>
            <a:r>
              <a:rPr lang="en-US" altLang="zh-CN" dirty="0" smtClean="0">
                <a:latin typeface="Arial Narrow" pitchFamily="34" charset="0"/>
              </a:rPr>
              <a:t>KMnO</a:t>
            </a:r>
            <a:r>
              <a:rPr lang="en-US" altLang="zh-CN" baseline="-25000" dirty="0" smtClean="0">
                <a:latin typeface="Arial Narrow" pitchFamily="34" charset="0"/>
              </a:rPr>
              <a:t>4</a:t>
            </a:r>
          </a:p>
          <a:p>
            <a:pPr>
              <a:buNone/>
            </a:pPr>
            <a:r>
              <a:rPr lang="zh-CN" altLang="en-US" dirty="0" smtClean="0">
                <a:latin typeface="Arial Narrow" pitchFamily="34" charset="0"/>
              </a:rPr>
              <a:t>还原剂： </a:t>
            </a:r>
            <a:r>
              <a:rPr lang="en-US" altLang="zh-CN" dirty="0" err="1" smtClean="0">
                <a:latin typeface="Arial Narrow" pitchFamily="34" charset="0"/>
              </a:rPr>
              <a:t>HCl</a:t>
            </a:r>
            <a:endParaRPr lang="en-US" altLang="zh-CN" dirty="0" smtClean="0">
              <a:latin typeface="Arial Narrow" pitchFamily="34" charset="0"/>
            </a:endParaRPr>
          </a:p>
          <a:p>
            <a:pPr>
              <a:buNone/>
            </a:pPr>
            <a:r>
              <a:rPr lang="zh-CN" altLang="en-US" dirty="0" smtClean="0">
                <a:latin typeface="Arial Narrow" pitchFamily="34" charset="0"/>
              </a:rPr>
              <a:t>氧化产物：</a:t>
            </a:r>
            <a:r>
              <a:rPr lang="en-US" altLang="zh-CN" dirty="0" smtClean="0">
                <a:latin typeface="Arial Narrow" pitchFamily="34" charset="0"/>
              </a:rPr>
              <a:t>Cl</a:t>
            </a:r>
            <a:r>
              <a:rPr lang="en-US" altLang="zh-CN" baseline="-25000" dirty="0" smtClean="0">
                <a:latin typeface="Arial Narrow" pitchFamily="34" charset="0"/>
              </a:rPr>
              <a:t>2</a:t>
            </a:r>
          </a:p>
          <a:p>
            <a:pPr>
              <a:buNone/>
            </a:pPr>
            <a:r>
              <a:rPr lang="zh-CN" altLang="en-US" dirty="0" smtClean="0">
                <a:latin typeface="Arial Narrow" pitchFamily="34" charset="0"/>
              </a:rPr>
              <a:t>还原产物： </a:t>
            </a:r>
            <a:r>
              <a:rPr lang="en-US" altLang="zh-CN" dirty="0" smtClean="0">
                <a:latin typeface="Arial Narrow" pitchFamily="34" charset="0"/>
              </a:rPr>
              <a:t>MnCl</a:t>
            </a:r>
            <a:r>
              <a:rPr lang="en-US" altLang="zh-CN" baseline="-25000" dirty="0" smtClean="0">
                <a:latin typeface="Arial Narrow" pitchFamily="34" charset="0"/>
              </a:rPr>
              <a:t>2</a:t>
            </a:r>
            <a:endParaRPr lang="en-US" dirty="0" smtClean="0">
              <a:latin typeface="Arial Narrow" pitchFamily="34" charset="0"/>
            </a:endParaRPr>
          </a:p>
          <a:p>
            <a:pPr>
              <a:buNone/>
            </a:pPr>
            <a:endParaRPr lang="en-US" altLang="zh-CN" dirty="0" smtClean="0"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62600" y="2829580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Arial Narrow" pitchFamily="34" charset="0"/>
              </a:rPr>
              <a:t>还原反应</a:t>
            </a:r>
            <a:endParaRPr lang="en-MY" sz="2800" dirty="0">
              <a:latin typeface="Arial Narrow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62600" y="3286780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Arial Narrow" pitchFamily="34" charset="0"/>
              </a:rPr>
              <a:t>氧化反应</a:t>
            </a:r>
            <a:endParaRPr lang="en-MY" sz="2800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9" grpId="0"/>
      <p:bldP spid="4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作答题（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buNone/>
            </a:pPr>
            <a:r>
              <a:rPr lang="en-US" altLang="zh-CN" dirty="0" smtClean="0"/>
              <a:t>			</a:t>
            </a:r>
            <a:r>
              <a:rPr lang="zh-CN" altLang="en-US" dirty="0" smtClean="0"/>
              <a:t>氧化数能</a:t>
            </a:r>
            <a:endParaRPr lang="en-US" altLang="zh-CN" dirty="0" smtClean="0"/>
          </a:p>
          <a:p>
            <a:pPr>
              <a:spcAft>
                <a:spcPts val="600"/>
              </a:spcAft>
              <a:buNone/>
            </a:pPr>
            <a:r>
              <a:rPr lang="en-US" altLang="zh-CN" dirty="0" smtClean="0"/>
              <a:t>Fe</a:t>
            </a:r>
            <a:r>
              <a:rPr lang="en-US" altLang="zh-CN" baseline="30000" dirty="0" smtClean="0"/>
              <a:t>2+</a:t>
            </a:r>
            <a:r>
              <a:rPr lang="en-US" altLang="zh-CN" dirty="0" smtClean="0"/>
              <a:t> </a:t>
            </a:r>
            <a:r>
              <a:rPr lang="zh-CN" altLang="en-US" dirty="0" smtClean="0"/>
              <a:t>： </a:t>
            </a:r>
            <a:r>
              <a:rPr lang="en-US" altLang="zh-CN" dirty="0" smtClean="0"/>
              <a:t>	</a:t>
            </a:r>
            <a:r>
              <a:rPr lang="zh-CN" altLang="en-US" dirty="0" smtClean="0"/>
              <a:t>上</a:t>
            </a:r>
            <a:r>
              <a:rPr lang="en-US" altLang="zh-CN" dirty="0" smtClean="0"/>
              <a:t>/</a:t>
            </a:r>
            <a:r>
              <a:rPr lang="zh-CN" altLang="en-US" dirty="0" smtClean="0"/>
              <a:t>下</a:t>
            </a:r>
            <a:r>
              <a:rPr lang="en-US" altLang="zh-CN" dirty="0" smtClean="0"/>
              <a:t>	</a:t>
            </a:r>
            <a:r>
              <a:rPr lang="zh-CN" altLang="en-US" dirty="0" smtClean="0"/>
              <a:t>有氧化性又有还原性</a:t>
            </a:r>
            <a:endParaRPr lang="en-US" altLang="zh-CN" dirty="0" smtClean="0"/>
          </a:p>
          <a:p>
            <a:pPr>
              <a:spcAft>
                <a:spcPts val="600"/>
              </a:spcAft>
              <a:buNone/>
            </a:pPr>
            <a:r>
              <a:rPr lang="en-US" altLang="zh-CN" dirty="0" smtClean="0"/>
              <a:t>Fe</a:t>
            </a:r>
            <a:r>
              <a:rPr lang="en-US" altLang="zh-CN" baseline="30000" dirty="0" smtClean="0"/>
              <a:t>3+</a:t>
            </a:r>
            <a:r>
              <a:rPr lang="en-US" altLang="zh-CN" dirty="0" smtClean="0"/>
              <a:t> </a:t>
            </a:r>
            <a:r>
              <a:rPr lang="zh-CN" altLang="en-US" dirty="0" smtClean="0"/>
              <a:t>： </a:t>
            </a:r>
            <a:r>
              <a:rPr lang="en-US" altLang="zh-CN" dirty="0" smtClean="0"/>
              <a:t>	</a:t>
            </a:r>
            <a:r>
              <a:rPr lang="zh-CN" altLang="en-US" dirty="0" smtClean="0"/>
              <a:t>下</a:t>
            </a:r>
            <a:r>
              <a:rPr lang="en-US" altLang="zh-CN" dirty="0" smtClean="0"/>
              <a:t>		</a:t>
            </a:r>
            <a:r>
              <a:rPr lang="zh-CN" altLang="en-US" dirty="0" smtClean="0"/>
              <a:t>只有氧化性</a:t>
            </a:r>
            <a:endParaRPr lang="en-US" altLang="zh-CN" dirty="0" smtClean="0"/>
          </a:p>
          <a:p>
            <a:pPr>
              <a:spcAft>
                <a:spcPts val="600"/>
              </a:spcAft>
              <a:buNone/>
            </a:pPr>
            <a:r>
              <a:rPr lang="en-US" altLang="zh-CN" dirty="0" smtClean="0"/>
              <a:t>Mg</a:t>
            </a:r>
            <a:r>
              <a:rPr lang="en-US" altLang="zh-CN" baseline="30000" dirty="0" smtClean="0"/>
              <a:t>2+</a:t>
            </a:r>
            <a:r>
              <a:rPr lang="en-US" altLang="zh-CN" dirty="0" smtClean="0"/>
              <a:t> </a:t>
            </a:r>
            <a:r>
              <a:rPr lang="zh-CN" altLang="en-US" dirty="0" smtClean="0"/>
              <a:t>： </a:t>
            </a:r>
            <a:r>
              <a:rPr lang="en-US" altLang="zh-CN" dirty="0" smtClean="0"/>
              <a:t>	</a:t>
            </a:r>
            <a:r>
              <a:rPr lang="zh-CN" altLang="en-US" dirty="0" smtClean="0"/>
              <a:t>下</a:t>
            </a:r>
            <a:r>
              <a:rPr lang="en-US" altLang="zh-CN" dirty="0" smtClean="0"/>
              <a:t>		</a:t>
            </a:r>
            <a:r>
              <a:rPr lang="zh-CN" altLang="en-US" dirty="0" smtClean="0"/>
              <a:t>只有氧化性</a:t>
            </a:r>
            <a:endParaRPr lang="en-US" altLang="zh-CN" dirty="0" smtClean="0"/>
          </a:p>
          <a:p>
            <a:pPr>
              <a:spcAft>
                <a:spcPts val="600"/>
              </a:spcAft>
              <a:buNone/>
            </a:pPr>
            <a:r>
              <a:rPr lang="en-US" altLang="zh-CN" dirty="0" smtClean="0"/>
              <a:t>S</a:t>
            </a:r>
            <a:r>
              <a:rPr lang="zh-CN" altLang="en-US" dirty="0" smtClean="0"/>
              <a:t>：</a:t>
            </a:r>
            <a:r>
              <a:rPr lang="en-US" altLang="zh-CN" dirty="0" smtClean="0"/>
              <a:t>		</a:t>
            </a:r>
            <a:r>
              <a:rPr lang="zh-CN" altLang="en-US" dirty="0" smtClean="0"/>
              <a:t>上</a:t>
            </a:r>
            <a:r>
              <a:rPr lang="en-US" altLang="zh-CN" dirty="0" smtClean="0"/>
              <a:t>/</a:t>
            </a:r>
            <a:r>
              <a:rPr lang="zh-CN" altLang="en-US" dirty="0" smtClean="0"/>
              <a:t>下</a:t>
            </a:r>
            <a:r>
              <a:rPr lang="en-US" altLang="zh-CN" dirty="0" smtClean="0"/>
              <a:t>	</a:t>
            </a:r>
            <a:r>
              <a:rPr lang="zh-CN" altLang="en-US" dirty="0" smtClean="0"/>
              <a:t>有氧化性又有还原性</a:t>
            </a:r>
            <a:endParaRPr lang="en-US" altLang="zh-CN" dirty="0" smtClean="0"/>
          </a:p>
          <a:p>
            <a:pPr>
              <a:spcAft>
                <a:spcPts val="600"/>
              </a:spcAft>
              <a:buNone/>
            </a:pPr>
            <a:r>
              <a:rPr lang="en-US" altLang="zh-CN" dirty="0" smtClean="0"/>
              <a:t>I</a:t>
            </a:r>
            <a:r>
              <a:rPr lang="en-US" altLang="zh-CN" baseline="30000" dirty="0" smtClean="0"/>
              <a:t>-</a:t>
            </a:r>
            <a:r>
              <a:rPr lang="en-US" altLang="zh-CN" dirty="0" smtClean="0"/>
              <a:t> </a:t>
            </a:r>
            <a:r>
              <a:rPr lang="zh-CN" altLang="en-US" dirty="0" smtClean="0"/>
              <a:t>：</a:t>
            </a:r>
            <a:r>
              <a:rPr lang="en-US" altLang="zh-CN" dirty="0" smtClean="0"/>
              <a:t>		</a:t>
            </a:r>
            <a:r>
              <a:rPr lang="zh-CN" altLang="en-US" dirty="0" smtClean="0"/>
              <a:t>上</a:t>
            </a:r>
            <a:r>
              <a:rPr lang="en-US" altLang="zh-CN" dirty="0" smtClean="0"/>
              <a:t>		</a:t>
            </a:r>
            <a:r>
              <a:rPr lang="zh-CN" altLang="en-US" dirty="0" smtClean="0"/>
              <a:t>只有还原性</a:t>
            </a:r>
            <a:endParaRPr lang="en-US" altLang="zh-CN" dirty="0" smtClean="0"/>
          </a:p>
          <a:p>
            <a:pPr>
              <a:spcAft>
                <a:spcPts val="600"/>
              </a:spcAft>
              <a:buNone/>
            </a:pPr>
            <a:r>
              <a:rPr lang="en-US" altLang="zh-CN" dirty="0" smtClean="0"/>
              <a:t>H</a:t>
            </a:r>
            <a:r>
              <a:rPr lang="en-US" altLang="zh-CN" baseline="30000" dirty="0" smtClean="0"/>
              <a:t>+</a:t>
            </a:r>
            <a:r>
              <a:rPr lang="en-US" altLang="zh-CN" dirty="0" smtClean="0"/>
              <a:t> </a:t>
            </a:r>
            <a:r>
              <a:rPr lang="zh-CN" altLang="en-US" dirty="0" smtClean="0"/>
              <a:t>：</a:t>
            </a:r>
            <a:r>
              <a:rPr lang="en-US" altLang="zh-CN" dirty="0" smtClean="0"/>
              <a:t>	</a:t>
            </a:r>
            <a:r>
              <a:rPr lang="zh-CN" altLang="en-US" dirty="0" smtClean="0"/>
              <a:t>下</a:t>
            </a:r>
            <a:r>
              <a:rPr lang="en-US" altLang="zh-CN" dirty="0" smtClean="0"/>
              <a:t>		</a:t>
            </a:r>
            <a:r>
              <a:rPr lang="zh-CN" altLang="en-US" dirty="0" smtClean="0"/>
              <a:t>只用氧化性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4114800" y="2362200"/>
            <a:ext cx="3886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286000" y="2362200"/>
            <a:ext cx="1371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4038600" y="2971800"/>
            <a:ext cx="3886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209800" y="2971800"/>
            <a:ext cx="1371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962400" y="3505200"/>
            <a:ext cx="3886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133600" y="3505200"/>
            <a:ext cx="1371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3962400" y="4114800"/>
            <a:ext cx="3886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2133600" y="4114800"/>
            <a:ext cx="1371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3962400" y="4648200"/>
            <a:ext cx="3886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2133600" y="4648200"/>
            <a:ext cx="1371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3962400" y="5181600"/>
            <a:ext cx="38862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2133600" y="5181600"/>
            <a:ext cx="1371600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作答题（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3222" indent="-514350">
              <a:buAutoNum type="arabicPlain"/>
            </a:pPr>
            <a:r>
              <a:rPr lang="zh-CN" altLang="en-US" dirty="0" smtClean="0"/>
              <a:t>酸性</a:t>
            </a:r>
            <a:endParaRPr lang="en-US" altLang="zh-CN" dirty="0" smtClean="0"/>
          </a:p>
          <a:p>
            <a:pPr marL="633222" indent="-514350">
              <a:buAutoNum type="arabicPlain"/>
            </a:pPr>
            <a:r>
              <a:rPr lang="zh-CN" altLang="en-US" dirty="0" smtClean="0"/>
              <a:t>氧化性</a:t>
            </a:r>
            <a:endParaRPr lang="en-US" altLang="zh-CN" dirty="0" smtClean="0"/>
          </a:p>
          <a:p>
            <a:pPr marL="633222" indent="-514350">
              <a:buAutoNum type="arabicPlain"/>
            </a:pPr>
            <a:r>
              <a:rPr lang="zh-CN" altLang="en-US" dirty="0" smtClean="0"/>
              <a:t>还原性，酸性</a:t>
            </a:r>
            <a:endParaRPr lang="en-US" altLang="zh-CN" dirty="0" smtClean="0"/>
          </a:p>
          <a:p>
            <a:pPr marL="633222" indent="-514350">
              <a:buAutoNum type="arabicPlain"/>
            </a:pPr>
            <a:r>
              <a:rPr lang="zh-CN" altLang="en-US" dirty="0" smtClean="0"/>
              <a:t>氧化性，酸性</a:t>
            </a:r>
            <a:endParaRPr lang="en-US" altLang="zh-CN" dirty="0" smtClean="0"/>
          </a:p>
          <a:p>
            <a:pPr marL="633222" indent="-514350">
              <a:buAutoNum type="arabicPlain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作答题（</a:t>
            </a:r>
            <a:r>
              <a:rPr lang="en-US" altLang="zh-CN" dirty="0" smtClean="0"/>
              <a:t>5a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latin typeface="Arial Narrow" pitchFamily="34" charset="0"/>
              </a:rPr>
              <a:t> MnO</a:t>
            </a:r>
            <a:r>
              <a:rPr lang="en-US" baseline="-25000" dirty="0" smtClean="0">
                <a:latin typeface="Arial Narrow" pitchFamily="34" charset="0"/>
              </a:rPr>
              <a:t>4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baseline="30000" dirty="0" smtClean="0">
                <a:latin typeface="Arial Narrow" pitchFamily="34" charset="0"/>
              </a:rPr>
              <a:t>-</a:t>
            </a:r>
            <a:r>
              <a:rPr lang="en-US" dirty="0" smtClean="0">
                <a:latin typeface="Arial Narrow" pitchFamily="34" charset="0"/>
              </a:rPr>
              <a:t> +    C</a:t>
            </a:r>
            <a:r>
              <a:rPr lang="en-US" baseline="-25000" dirty="0" smtClean="0">
                <a:latin typeface="Arial Narrow" pitchFamily="34" charset="0"/>
              </a:rPr>
              <a:t>2</a:t>
            </a:r>
            <a:r>
              <a:rPr lang="en-US" dirty="0" smtClean="0">
                <a:latin typeface="Arial Narrow" pitchFamily="34" charset="0"/>
              </a:rPr>
              <a:t>O</a:t>
            </a:r>
            <a:r>
              <a:rPr lang="en-US" baseline="-25000" dirty="0" smtClean="0">
                <a:latin typeface="Arial Narrow" pitchFamily="34" charset="0"/>
              </a:rPr>
              <a:t>4</a:t>
            </a:r>
            <a:r>
              <a:rPr lang="en-US" baseline="30000" dirty="0" smtClean="0">
                <a:latin typeface="Arial Narrow" pitchFamily="34" charset="0"/>
              </a:rPr>
              <a:t>2-</a:t>
            </a:r>
            <a:r>
              <a:rPr lang="en-US" altLang="zh-CN" dirty="0" smtClean="0">
                <a:latin typeface="Arial Narrow" pitchFamily="34" charset="0"/>
              </a:rPr>
              <a:t> 	 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   Mn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2+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+     CO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endParaRPr lang="en-US" altLang="zh-CN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endParaRPr lang="en-US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			Mn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7+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+ 5e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Mn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2+ </a:t>
            </a:r>
          </a:p>
          <a:p>
            <a:pPr>
              <a:buNone/>
            </a:pP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	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 	       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C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3+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 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C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+ 2e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endParaRPr lang="en-US" dirty="0" smtClean="0">
              <a:latin typeface="Arial Narrow" pitchFamily="34" charset="0"/>
            </a:endParaRPr>
          </a:p>
          <a:p>
            <a:pPr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		2 Mn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7+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10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C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2 Mn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2+ 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10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C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+</a:t>
            </a:r>
          </a:p>
          <a:p>
            <a:pPr>
              <a:buNone/>
            </a:pPr>
            <a:endParaRPr lang="en-US" baseline="300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endParaRPr lang="en-US" baseline="30000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</a:t>
            </a:r>
            <a:r>
              <a:rPr lang="zh-CN" altLang="en-US" dirty="0" smtClean="0">
                <a:latin typeface="Arial Narrow" pitchFamily="34" charset="0"/>
                <a:sym typeface="Wingdings" pitchFamily="2" charset="2"/>
              </a:rPr>
              <a:t>在酸性溶液中：</a:t>
            </a:r>
            <a:endParaRPr lang="en-US" altLang="zh-CN" dirty="0" smtClean="0">
              <a:latin typeface="Arial Narrow" pitchFamily="34" charset="0"/>
              <a:sym typeface="Wingdings" pitchFamily="2" charset="2"/>
            </a:endParaRPr>
          </a:p>
          <a:p>
            <a:pPr>
              <a:buNone/>
            </a:pPr>
            <a:r>
              <a:rPr lang="zh-CN" altLang="en-US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要配平</a:t>
            </a:r>
            <a:r>
              <a:rPr lang="en-US" altLang="zh-CN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O </a:t>
            </a:r>
            <a:r>
              <a:rPr lang="zh-CN" altLang="en-US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可加</a:t>
            </a:r>
            <a:r>
              <a:rPr lang="en-US" altLang="zh-CN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H</a:t>
            </a:r>
            <a:r>
              <a:rPr lang="en-US" altLang="zh-CN" baseline="-25000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O </a:t>
            </a:r>
            <a:r>
              <a:rPr lang="zh-CN" altLang="en-US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，要配平</a:t>
            </a:r>
            <a:r>
              <a:rPr lang="en-US" altLang="zh-CN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H</a:t>
            </a:r>
            <a:r>
              <a:rPr lang="zh-CN" altLang="en-US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可加</a:t>
            </a:r>
            <a:r>
              <a:rPr lang="en-US" altLang="zh-CN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H</a:t>
            </a:r>
            <a:r>
              <a:rPr lang="en-US" altLang="zh-CN" baseline="30000" dirty="0" smtClean="0">
                <a:solidFill>
                  <a:srgbClr val="003300"/>
                </a:solidFill>
                <a:latin typeface="+mn-ea"/>
                <a:sym typeface="Wingdings" pitchFamily="2" charset="2"/>
              </a:rPr>
              <a:t>+</a:t>
            </a:r>
            <a:endParaRPr lang="en-US" dirty="0" smtClean="0">
              <a:latin typeface="Arial Narrow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15240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Rounded MT Bold" pitchFamily="34" charset="0"/>
              </a:rPr>
              <a:t>+7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53000" y="158109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Rounded MT Bold" pitchFamily="34" charset="0"/>
              </a:rPr>
              <a:t>+</a:t>
            </a:r>
            <a:r>
              <a:rPr lang="en-US" sz="2000" b="1" dirty="0" smtClean="0">
                <a:solidFill>
                  <a:srgbClr val="FF0000"/>
                </a:solidFill>
                <a:latin typeface="Arial Rounded MT Bold" pitchFamily="34" charset="0"/>
              </a:rPr>
              <a:t>2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158109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Rounded MT Bold" pitchFamily="34" charset="0"/>
              </a:rPr>
              <a:t>+3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24600" y="16002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Rounded MT Bold" pitchFamily="34" charset="0"/>
              </a:rPr>
              <a:t>+4</a:t>
            </a:r>
            <a:endParaRPr lang="en-MY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62600" y="328678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Narrow" pitchFamily="34" charset="0"/>
              </a:rPr>
              <a:t>x5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1447800" y="3810000"/>
            <a:ext cx="533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10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574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5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24400" y="1828800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19800" y="1828800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660066"/>
                </a:solidFill>
                <a:latin typeface="Arial Narrow" pitchFamily="34" charset="0"/>
              </a:rPr>
              <a:t>10</a:t>
            </a:r>
            <a:endParaRPr lang="en-MY" sz="2800" b="1" dirty="0">
              <a:solidFill>
                <a:srgbClr val="660066"/>
              </a:solidFill>
              <a:latin typeface="Arial Narrow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62600" y="281940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Arial Narrow" pitchFamily="34" charset="0"/>
              </a:rPr>
              <a:t>x2</a:t>
            </a:r>
            <a:endParaRPr lang="en-MY" sz="2800" b="1" dirty="0">
              <a:solidFill>
                <a:srgbClr val="00B050"/>
              </a:solidFill>
              <a:latin typeface="Arial Narrow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76600" y="1838980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3300"/>
                </a:solidFill>
                <a:latin typeface="Arial Narrow" pitchFamily="34" charset="0"/>
              </a:rPr>
              <a:t>+ 16 H</a:t>
            </a:r>
            <a:r>
              <a:rPr lang="en-US" altLang="zh-CN" sz="2800" b="1" baseline="30000" dirty="0" smtClean="0">
                <a:solidFill>
                  <a:srgbClr val="003300"/>
                </a:solidFill>
                <a:latin typeface="Arial Narrow" pitchFamily="34" charset="0"/>
              </a:rPr>
              <a:t>+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86600" y="1828800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3300"/>
                </a:solidFill>
                <a:latin typeface="Arial Narrow" pitchFamily="34" charset="0"/>
              </a:rPr>
              <a:t>+ 8 H</a:t>
            </a:r>
            <a:r>
              <a:rPr lang="en-US" altLang="zh-CN" sz="2800" b="1" baseline="-25000" dirty="0" smtClean="0">
                <a:solidFill>
                  <a:srgbClr val="003300"/>
                </a:solidFill>
                <a:latin typeface="Arial Narrow" pitchFamily="34" charset="0"/>
              </a:rPr>
              <a:t>2</a:t>
            </a:r>
            <a:r>
              <a:rPr lang="en-US" altLang="zh-CN" sz="2800" b="1" dirty="0" smtClean="0">
                <a:solidFill>
                  <a:srgbClr val="003300"/>
                </a:solidFill>
                <a:latin typeface="Arial Narrow" pitchFamily="34" charset="0"/>
              </a:rPr>
              <a:t>O</a:t>
            </a:r>
            <a:endParaRPr lang="en-MY" sz="2800" b="1" dirty="0">
              <a:solidFill>
                <a:srgbClr val="003300"/>
              </a:solidFill>
              <a:latin typeface="Arial Narrow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52800" y="3276600"/>
            <a:ext cx="106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2060"/>
                </a:solidFill>
                <a:latin typeface="Arial Narrow" pitchFamily="34" charset="0"/>
              </a:rPr>
              <a:t>2</a:t>
            </a:r>
            <a:endParaRPr lang="en-MY" sz="2800" b="1" dirty="0">
              <a:solidFill>
                <a:srgbClr val="002060"/>
              </a:solidFill>
              <a:latin typeface="Arial Narrow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191000" y="3352800"/>
            <a:ext cx="914400" cy="3810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  <p:bldP spid="13" grpId="0"/>
      <p:bldP spid="14" grpId="0"/>
      <p:bldP spid="15" grpId="0"/>
      <p:bldP spid="16" grpId="0" uiExpand="1"/>
      <p:bldP spid="19" grpId="0" uiExpand="1"/>
      <p:bldP spid="20" grpId="0" uiExpand="1"/>
      <p:bldP spid="21" grpId="0" uiExpand="1"/>
      <p:bldP spid="22" grpId="0" uiExpand="1"/>
      <p:bldP spid="25" grpId="0" uiExpand="1"/>
      <p:bldP spid="26" grpId="0"/>
      <p:bldP spid="27" grpId="0"/>
      <p:bldP spid="24" grpId="0"/>
      <p:bldP spid="2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09600" y="3072825"/>
            <a:ext cx="762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Arial Narrow" pitchFamily="34" charset="0"/>
              </a:rPr>
              <a:t>  ClO</a:t>
            </a:r>
            <a:r>
              <a:rPr lang="en-US" altLang="zh-CN" sz="3200" baseline="-25000" dirty="0" smtClean="0">
                <a:latin typeface="Arial Narrow" pitchFamily="34" charset="0"/>
              </a:rPr>
              <a:t>3</a:t>
            </a:r>
            <a:r>
              <a:rPr lang="en-US" sz="3200" dirty="0" smtClean="0">
                <a:latin typeface="Arial Narrow" pitchFamily="34" charset="0"/>
              </a:rPr>
              <a:t> </a:t>
            </a:r>
            <a:r>
              <a:rPr lang="en-US" sz="3200" baseline="30000" dirty="0" smtClean="0">
                <a:latin typeface="Arial Narrow" pitchFamily="34" charset="0"/>
              </a:rPr>
              <a:t>-</a:t>
            </a:r>
            <a:r>
              <a:rPr lang="en-US" sz="3200" dirty="0" smtClean="0">
                <a:latin typeface="Arial Narrow" pitchFamily="34" charset="0"/>
              </a:rPr>
              <a:t> +     Fe</a:t>
            </a:r>
            <a:r>
              <a:rPr lang="en-US" sz="3200" baseline="30000" dirty="0" smtClean="0">
                <a:latin typeface="Arial Narrow" pitchFamily="34" charset="0"/>
              </a:rPr>
              <a:t>2+</a:t>
            </a:r>
            <a:r>
              <a:rPr lang="en-US" altLang="zh-CN" sz="3200" dirty="0" smtClean="0">
                <a:latin typeface="Arial Narrow" pitchFamily="34" charset="0"/>
              </a:rPr>
              <a:t> 	   	  </a:t>
            </a: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    </a:t>
            </a:r>
            <a:r>
              <a:rPr lang="en-US" altLang="zh-CN" sz="3200" dirty="0" err="1" smtClean="0">
                <a:latin typeface="Arial Narrow" pitchFamily="34" charset="0"/>
                <a:sym typeface="Wingdings" pitchFamily="2" charset="2"/>
              </a:rPr>
              <a:t>Cl</a:t>
            </a:r>
            <a:r>
              <a:rPr lang="en-US" altLang="zh-CN" sz="3200" baseline="30000" dirty="0" smtClean="0">
                <a:latin typeface="Arial Narrow" pitchFamily="34" charset="0"/>
                <a:sym typeface="Wingdings" pitchFamily="2" charset="2"/>
              </a:rPr>
              <a:t>- </a:t>
            </a: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+      Fe</a:t>
            </a:r>
            <a:r>
              <a:rPr lang="en-US" altLang="zh-CN" sz="3200" baseline="30000" dirty="0" smtClean="0">
                <a:latin typeface="Arial Narrow" pitchFamily="34" charset="0"/>
                <a:sym typeface="Wingdings" pitchFamily="2" charset="2"/>
              </a:rPr>
              <a:t>3+</a:t>
            </a:r>
            <a:r>
              <a:rPr lang="en-US" altLang="zh-CN" sz="3200" dirty="0" smtClean="0">
                <a:latin typeface="Arial Narrow" pitchFamily="34" charset="0"/>
                <a:sym typeface="Wingdings" pitchFamily="2" charset="2"/>
              </a:rPr>
              <a:t> </a:t>
            </a:r>
            <a:endParaRPr lang="en-MY" sz="3200" dirty="0">
              <a:latin typeface="Arial Rounded MT Bold" pitchFamily="34" charset="0"/>
            </a:endParaRPr>
          </a:p>
        </p:txBody>
      </p:sp>
      <p:grpSp>
        <p:nvGrpSpPr>
          <p:cNvPr id="2" name="Group 34"/>
          <p:cNvGrpSpPr/>
          <p:nvPr/>
        </p:nvGrpSpPr>
        <p:grpSpPr>
          <a:xfrm>
            <a:off x="1066800" y="2286000"/>
            <a:ext cx="4343400" cy="685800"/>
            <a:chOff x="2286000" y="1752600"/>
            <a:chExt cx="3429000" cy="685800"/>
          </a:xfrm>
        </p:grpSpPr>
        <p:cxnSp>
          <p:nvCxnSpPr>
            <p:cNvPr id="19" name="Elbow Connector 18"/>
            <p:cNvCxnSpPr/>
            <p:nvPr/>
          </p:nvCxnSpPr>
          <p:spPr>
            <a:xfrm flipV="1">
              <a:off x="2286000" y="17526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5715000" y="17526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35"/>
          <p:cNvGrpSpPr/>
          <p:nvPr/>
        </p:nvGrpSpPr>
        <p:grpSpPr>
          <a:xfrm>
            <a:off x="2590800" y="3505200"/>
            <a:ext cx="4038600" cy="685800"/>
            <a:chOff x="3048000" y="2971800"/>
            <a:chExt cx="3429000" cy="685800"/>
          </a:xfrm>
        </p:grpSpPr>
        <p:cxnSp>
          <p:nvCxnSpPr>
            <p:cNvPr id="33" name="Elbow Connector 32"/>
            <p:cNvCxnSpPr/>
            <p:nvPr/>
          </p:nvCxnSpPr>
          <p:spPr>
            <a:xfrm rot="10800000" flipH="1" flipV="1">
              <a:off x="3048000" y="3048000"/>
              <a:ext cx="3429000" cy="609600"/>
            </a:xfrm>
            <a:prstGeom prst="bentConnector3">
              <a:avLst>
                <a:gd name="adj1" fmla="val -46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 flipH="1">
              <a:off x="6477000" y="2971800"/>
              <a:ext cx="0" cy="685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2268138" y="1828800"/>
            <a:ext cx="901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+6e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585350" y="4191000"/>
            <a:ext cx="5982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-e</a:t>
            </a:r>
            <a:r>
              <a:rPr lang="en-US" altLang="zh-CN" sz="2800" b="1" baseline="30000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-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28956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+</a:t>
            </a:r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5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+3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62200" y="291471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+2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48129" y="182880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X1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91129" y="4191000"/>
            <a:ext cx="6142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Arial Rounded MT Bold" pitchFamily="34" charset="0"/>
              </a:rPr>
              <a:t>X6</a:t>
            </a:r>
            <a:endParaRPr lang="en-MY" sz="2800" b="1" dirty="0">
              <a:solidFill>
                <a:schemeClr val="bg2">
                  <a:lumMod val="2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1000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1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00600" y="312420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1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33600" y="313438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6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72401" y="3048000"/>
            <a:ext cx="15343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+ 3H</a:t>
            </a:r>
            <a:r>
              <a:rPr lang="en-US" altLang="zh-CN" sz="3200" b="1" baseline="-250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z="32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O</a:t>
            </a:r>
            <a:endParaRPr lang="en-MY" sz="3200" b="1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24200" y="3048000"/>
            <a:ext cx="12234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+ </a:t>
            </a:r>
            <a:r>
              <a:rPr lang="en-US" altLang="zh-CN" sz="3200" b="1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6H</a:t>
            </a:r>
            <a:r>
              <a:rPr lang="en-US" altLang="zh-CN" sz="3200" b="1" baseline="30000" dirty="0" smtClean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+</a:t>
            </a:r>
            <a:endParaRPr lang="en-MY" sz="3200" b="1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lang="zh-CN" altLang="en-US" dirty="0" smtClean="0"/>
              <a:t>作答题（</a:t>
            </a:r>
            <a:r>
              <a:rPr lang="en-US" altLang="zh-CN" dirty="0" smtClean="0"/>
              <a:t>5b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334000" y="28194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Arial Narrow" pitchFamily="34" charset="0"/>
              </a:rPr>
              <a:t>-1</a:t>
            </a:r>
            <a:endParaRPr lang="en-MY" sz="20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96000" y="3134380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  <a:latin typeface="Arial Rounded MT Bold" pitchFamily="34" charset="0"/>
              </a:rPr>
              <a:t>6</a:t>
            </a:r>
            <a:endParaRPr lang="en-MY" sz="2800" b="1" dirty="0">
              <a:solidFill>
                <a:srgbClr val="7030A0"/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16" grpId="0"/>
      <p:bldP spid="17" grpId="0"/>
      <p:bldP spid="18" grpId="0"/>
      <p:bldP spid="22" grpId="0"/>
      <p:bldP spid="23" grpId="0"/>
      <p:bldP spid="24" grpId="0"/>
      <p:bldP spid="25" grpId="0"/>
      <p:bldP spid="26" grpId="0"/>
      <p:bldP spid="27" grpId="0"/>
      <p:bldP spid="29" grpId="0"/>
      <p:bldP spid="28" grpId="0"/>
      <p:bldP spid="3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旧课本问答题（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76401"/>
            <a:ext cx="8991600" cy="4724400"/>
          </a:xfrm>
        </p:spPr>
        <p:txBody>
          <a:bodyPr/>
          <a:lstStyle/>
          <a:p>
            <a:pPr marL="633222" indent="-514350">
              <a:spcAft>
                <a:spcPts val="600"/>
              </a:spcAft>
              <a:buAutoNum type="arabicPeriod"/>
            </a:pPr>
            <a:r>
              <a:rPr lang="en-US" altLang="zh-CN" dirty="0" smtClean="0">
                <a:latin typeface="Arial Narrow" pitchFamily="34" charset="0"/>
              </a:rPr>
              <a:t>Cu + H</a:t>
            </a:r>
            <a:r>
              <a:rPr lang="en-US" altLang="zh-CN" baseline="-25000" dirty="0" smtClean="0">
                <a:latin typeface="Arial Narrow" pitchFamily="34" charset="0"/>
              </a:rPr>
              <a:t>2</a:t>
            </a:r>
            <a:r>
              <a:rPr lang="en-US" altLang="zh-CN" dirty="0" smtClean="0">
                <a:latin typeface="Arial Narrow" pitchFamily="34" charset="0"/>
              </a:rPr>
              <a:t>SO</a:t>
            </a:r>
            <a:r>
              <a:rPr lang="en-US" altLang="zh-CN" baseline="-25000" dirty="0" smtClean="0">
                <a:latin typeface="Arial Narrow" pitchFamily="34" charset="0"/>
              </a:rPr>
              <a:t>4(</a:t>
            </a:r>
            <a:r>
              <a:rPr lang="zh-CN" altLang="en-US" baseline="-25000" dirty="0" smtClean="0">
                <a:latin typeface="Arial Narrow" pitchFamily="34" charset="0"/>
              </a:rPr>
              <a:t>浓</a:t>
            </a:r>
            <a:r>
              <a:rPr lang="en-US" altLang="zh-CN" baseline="-25000" dirty="0" smtClean="0">
                <a:latin typeface="Arial Narrow" pitchFamily="34" charset="0"/>
              </a:rPr>
              <a:t>)</a:t>
            </a:r>
            <a:r>
              <a:rPr lang="en-US" altLang="zh-CN" dirty="0" smtClean="0">
                <a:latin typeface="Arial Narrow" pitchFamily="34" charset="0"/>
              </a:rPr>
              <a:t>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 CuSO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SO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</a:p>
          <a:p>
            <a:pPr marL="633222" indent="-514350">
              <a:spcAft>
                <a:spcPts val="600"/>
              </a:spcAft>
              <a:buAutoNum type="arabicPeriod"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Mg + HNO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3 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Mg(NO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NH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NO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H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O</a:t>
            </a:r>
          </a:p>
          <a:p>
            <a:pPr marL="633222" indent="-514350">
              <a:spcAft>
                <a:spcPts val="600"/>
              </a:spcAft>
              <a:buAutoNum type="arabicPeriod"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HNO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H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S   NO + S + H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</a:p>
          <a:p>
            <a:pPr marL="633222" indent="-514350">
              <a:spcAft>
                <a:spcPts val="600"/>
              </a:spcAft>
              <a:buAutoNum type="arabicPeriod"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K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Cr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7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</a:t>
            </a:r>
            <a:r>
              <a:rPr lang="en-US" dirty="0" err="1" smtClean="0">
                <a:latin typeface="Arial Narrow" pitchFamily="34" charset="0"/>
                <a:sym typeface="Wingdings" pitchFamily="2" charset="2"/>
              </a:rPr>
              <a:t>HCl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CrCl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</a:t>
            </a:r>
            <a:r>
              <a:rPr lang="en-US" dirty="0" err="1" smtClean="0">
                <a:latin typeface="Arial Narrow" pitchFamily="34" charset="0"/>
                <a:sym typeface="Wingdings" pitchFamily="2" charset="2"/>
              </a:rPr>
              <a:t>KCl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Cl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H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O</a:t>
            </a:r>
          </a:p>
          <a:p>
            <a:pPr marL="633222" indent="-514350">
              <a:spcAft>
                <a:spcPts val="600"/>
              </a:spcAft>
              <a:buAutoNum type="arabicPeriod"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K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Cr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7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FeSO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H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 Cr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(SO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Fe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(SO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)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3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</a:t>
            </a:r>
          </a:p>
          <a:p>
            <a:pPr marL="633222" indent="-514350">
              <a:spcAft>
                <a:spcPts val="600"/>
              </a:spcAft>
              <a:buNone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							 K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SO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H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O</a:t>
            </a:r>
          </a:p>
          <a:p>
            <a:pPr marL="633222" indent="-514350">
              <a:spcAft>
                <a:spcPts val="600"/>
              </a:spcAft>
              <a:buFont typeface="+mj-lt"/>
              <a:buAutoNum type="arabicPeriod" startAt="6"/>
            </a:pPr>
            <a:r>
              <a:rPr lang="en-US" dirty="0" smtClean="0">
                <a:latin typeface="Arial Narrow" pitchFamily="34" charset="0"/>
                <a:sym typeface="Wingdings" pitchFamily="2" charset="2"/>
              </a:rPr>
              <a:t>MnO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4</a:t>
            </a:r>
            <a:r>
              <a:rPr lang="en-US" baseline="30000" dirty="0" smtClean="0">
                <a:latin typeface="Arial Narrow" pitchFamily="34" charset="0"/>
                <a:sym typeface="Wingdings" pitchFamily="2" charset="2"/>
              </a:rPr>
              <a:t>-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H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O</a:t>
            </a:r>
            <a:r>
              <a:rPr lang="en-US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dirty="0" smtClean="0">
                <a:latin typeface="Arial Narrow" pitchFamily="34" charset="0"/>
                <a:sym typeface="Wingdings" pitchFamily="2" charset="2"/>
              </a:rPr>
              <a:t> + H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+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 Mn</a:t>
            </a:r>
            <a:r>
              <a:rPr lang="en-US" altLang="zh-CN" baseline="30000" dirty="0" smtClean="0">
                <a:latin typeface="Arial Narrow" pitchFamily="34" charset="0"/>
                <a:sym typeface="Wingdings" pitchFamily="2" charset="2"/>
              </a:rPr>
              <a:t>2+ 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O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 + H</a:t>
            </a:r>
            <a:r>
              <a:rPr lang="en-US" altLang="zh-CN" baseline="-25000" dirty="0" smtClean="0">
                <a:latin typeface="Arial Narrow" pitchFamily="34" charset="0"/>
                <a:sym typeface="Wingdings" pitchFamily="2" charset="2"/>
              </a:rPr>
              <a:t>2</a:t>
            </a:r>
            <a:r>
              <a:rPr lang="en-US" altLang="zh-CN" dirty="0" smtClean="0">
                <a:latin typeface="Arial Narrow" pitchFamily="34" charset="0"/>
                <a:sym typeface="Wingdings" pitchFamily="2" charset="2"/>
              </a:rPr>
              <a:t>O</a:t>
            </a:r>
            <a:endParaRPr lang="en-US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12112</a:t>
            </a: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4</a:t>
            </a:r>
            <a:r>
              <a:rPr lang="en-US" altLang="zh-CN" dirty="0" smtClean="0">
                <a:solidFill>
                  <a:srgbClr val="C00000"/>
                </a:solidFill>
                <a:latin typeface="Arial Narrow" pitchFamily="34" charset="0"/>
              </a:rPr>
              <a:t>10</a:t>
            </a:r>
            <a:r>
              <a:rPr lang="en-US" altLang="zh-CN" dirty="0" smtClean="0">
                <a:latin typeface="Arial Narrow" pitchFamily="34" charset="0"/>
              </a:rPr>
              <a:t>413</a:t>
            </a: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23234</a:t>
            </a: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1</a:t>
            </a:r>
            <a:r>
              <a:rPr lang="en-US" altLang="zh-CN" dirty="0" smtClean="0">
                <a:solidFill>
                  <a:srgbClr val="C00000"/>
                </a:solidFill>
                <a:latin typeface="Arial Narrow" pitchFamily="34" charset="0"/>
              </a:rPr>
              <a:t>14</a:t>
            </a:r>
            <a:r>
              <a:rPr lang="en-US" altLang="zh-CN" dirty="0" smtClean="0">
                <a:latin typeface="Arial Narrow" pitchFamily="34" charset="0"/>
              </a:rPr>
              <a:t>2237</a:t>
            </a: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1671317</a:t>
            </a:r>
          </a:p>
          <a:p>
            <a:pPr>
              <a:buNone/>
            </a:pPr>
            <a:r>
              <a:rPr lang="en-US" altLang="zh-CN" dirty="0" smtClean="0">
                <a:latin typeface="Arial Narrow" pitchFamily="34" charset="0"/>
              </a:rPr>
              <a:t>256258</a:t>
            </a:r>
            <a:endParaRPr lang="en-US" dirty="0">
              <a:latin typeface="Arial Narrow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 Narrow" pitchFamily="34" charset="0"/>
              </a:rPr>
              <a:t>问答</a:t>
            </a:r>
            <a:r>
              <a:rPr lang="zh-CN" altLang="en-US" dirty="0" smtClean="0">
                <a:latin typeface="Arial Narrow" pitchFamily="34" charset="0"/>
              </a:rPr>
              <a:t>题（</a:t>
            </a:r>
            <a:r>
              <a:rPr lang="en-US" altLang="zh-CN" dirty="0" smtClean="0">
                <a:latin typeface="Arial Narrow" pitchFamily="34" charset="0"/>
              </a:rPr>
              <a:t>2</a:t>
            </a:r>
            <a:r>
              <a:rPr lang="zh-CN" altLang="en-US" dirty="0" smtClean="0">
                <a:latin typeface="Arial Narrow" pitchFamily="34" charset="0"/>
              </a:rPr>
              <a:t>）答案</a:t>
            </a:r>
            <a:endParaRPr lang="en-US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1488</TotalTime>
  <Words>3665</Words>
  <Application>Microsoft Office PowerPoint</Application>
  <PresentationFormat>On-screen Show (4:3)</PresentationFormat>
  <Paragraphs>1095</Paragraphs>
  <Slides>70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Module</vt:lpstr>
      <vt:lpstr>8.2氧化数</vt:lpstr>
      <vt:lpstr>8.2.1计算氧化数的一般规则</vt:lpstr>
      <vt:lpstr>氧化数的计算规则</vt:lpstr>
      <vt:lpstr>计算氧化数</vt:lpstr>
      <vt:lpstr>标出下列各个元素的氧化数</vt:lpstr>
      <vt:lpstr>观察思考</vt:lpstr>
      <vt:lpstr>第八章   8.1 氧化还原反应</vt:lpstr>
      <vt:lpstr>以氧的得失解释反应</vt:lpstr>
      <vt:lpstr>以氢的得失解释反应</vt:lpstr>
      <vt:lpstr>以电子的得失解释反应</vt:lpstr>
      <vt:lpstr>总结：</vt:lpstr>
      <vt:lpstr>问题解决</vt:lpstr>
      <vt:lpstr>思考题8a</vt:lpstr>
      <vt:lpstr>8.2.2 氧化数与氧化还原的关系</vt:lpstr>
      <vt:lpstr>用箭号表示电子得失与氧化数的变化</vt:lpstr>
      <vt:lpstr>用箭号表示电子得失与氧化数的变化</vt:lpstr>
      <vt:lpstr>用箭号表示电子得失与氧化数的变化</vt:lpstr>
      <vt:lpstr>写出下列反应的半反应式</vt:lpstr>
      <vt:lpstr>思考题8b</vt:lpstr>
      <vt:lpstr>8.3 氧化剂与还原剂</vt:lpstr>
      <vt:lpstr>Slide 21</vt:lpstr>
      <vt:lpstr>8.3 氧化剂与还原剂</vt:lpstr>
      <vt:lpstr>注意</vt:lpstr>
      <vt:lpstr>口诀</vt:lpstr>
      <vt:lpstr>问题解决</vt:lpstr>
      <vt:lpstr>交流分享</vt:lpstr>
      <vt:lpstr>交流分享</vt:lpstr>
      <vt:lpstr>常见的氧化剂</vt:lpstr>
      <vt:lpstr>常见的还原剂</vt:lpstr>
      <vt:lpstr>氧化剂与还原剂</vt:lpstr>
      <vt:lpstr>交流分享</vt:lpstr>
      <vt:lpstr>资料链接</vt:lpstr>
      <vt:lpstr>思考题8c</vt:lpstr>
      <vt:lpstr>思考题8c</vt:lpstr>
      <vt:lpstr>问题解决</vt:lpstr>
      <vt:lpstr>8.4氧化还原反应方程式的配平</vt:lpstr>
      <vt:lpstr>8.4.1氧化数法</vt:lpstr>
      <vt:lpstr>例题</vt:lpstr>
      <vt:lpstr>问题解决（1）</vt:lpstr>
      <vt:lpstr>问题解决（1）</vt:lpstr>
      <vt:lpstr>问题解决（2）</vt:lpstr>
      <vt:lpstr>问题解决（2）</vt:lpstr>
      <vt:lpstr>问题解决（3）</vt:lpstr>
      <vt:lpstr>问题解决（3）</vt:lpstr>
      <vt:lpstr>问题解决（4）</vt:lpstr>
      <vt:lpstr>问题解决（4）</vt:lpstr>
      <vt:lpstr>问题解决（5）</vt:lpstr>
      <vt:lpstr>问题解决（5）</vt:lpstr>
      <vt:lpstr>问题解决（1）</vt:lpstr>
      <vt:lpstr>问题解决（1）</vt:lpstr>
      <vt:lpstr>问题解决（2）</vt:lpstr>
      <vt:lpstr>问题解决（2）</vt:lpstr>
      <vt:lpstr>思考题8d</vt:lpstr>
      <vt:lpstr>思考题8d答案</vt:lpstr>
      <vt:lpstr>补充题</vt:lpstr>
      <vt:lpstr>补充题答案</vt:lpstr>
      <vt:lpstr>选择题</vt:lpstr>
      <vt:lpstr>选择题</vt:lpstr>
      <vt:lpstr>选择题</vt:lpstr>
      <vt:lpstr>作答题（1）</vt:lpstr>
      <vt:lpstr>作答题（2a）</vt:lpstr>
      <vt:lpstr>作答题（2a）</vt:lpstr>
      <vt:lpstr>作答题（2c）</vt:lpstr>
      <vt:lpstr>作答题（2d）</vt:lpstr>
      <vt:lpstr>作答题（3）</vt:lpstr>
      <vt:lpstr>作答题（4）</vt:lpstr>
      <vt:lpstr>作答题（5a）</vt:lpstr>
      <vt:lpstr>作答题（5b）</vt:lpstr>
      <vt:lpstr>旧课本问答题（2）</vt:lpstr>
      <vt:lpstr>问答题（2）答案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 氧化还原反应</dc:title>
  <dc:creator>lim</dc:creator>
  <cp:lastModifiedBy>user</cp:lastModifiedBy>
  <cp:revision>165</cp:revision>
  <dcterms:created xsi:type="dcterms:W3CDTF">2016-03-18T11:35:44Z</dcterms:created>
  <dcterms:modified xsi:type="dcterms:W3CDTF">2018-11-22T15:14:45Z</dcterms:modified>
</cp:coreProperties>
</file>